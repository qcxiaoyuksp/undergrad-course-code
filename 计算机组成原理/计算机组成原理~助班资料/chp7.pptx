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308" r:id="rId3"/>
    <p:sldId id="310" r:id="rId4"/>
    <p:sldId id="312" r:id="rId5"/>
    <p:sldId id="313" r:id="rId6"/>
    <p:sldId id="314" r:id="rId7"/>
    <p:sldId id="355" r:id="rId8"/>
    <p:sldId id="315" r:id="rId9"/>
    <p:sldId id="356" r:id="rId10"/>
    <p:sldId id="317" r:id="rId11"/>
    <p:sldId id="318" r:id="rId12"/>
    <p:sldId id="358" r:id="rId13"/>
    <p:sldId id="359" r:id="rId14"/>
    <p:sldId id="360" r:id="rId15"/>
    <p:sldId id="361" r:id="rId16"/>
    <p:sldId id="362" r:id="rId17"/>
    <p:sldId id="363" r:id="rId18"/>
    <p:sldId id="364" r:id="rId19"/>
    <p:sldId id="325" r:id="rId20"/>
    <p:sldId id="366" r:id="rId21"/>
    <p:sldId id="425" r:id="rId22"/>
    <p:sldId id="426" r:id="rId23"/>
    <p:sldId id="427" r:id="rId24"/>
    <p:sldId id="328" r:id="rId25"/>
    <p:sldId id="429" r:id="rId26"/>
    <p:sldId id="330" r:id="rId27"/>
    <p:sldId id="331" r:id="rId28"/>
    <p:sldId id="332" r:id="rId29"/>
    <p:sldId id="333" r:id="rId30"/>
    <p:sldId id="335" r:id="rId31"/>
    <p:sldId id="336" r:id="rId32"/>
    <p:sldId id="367" r:id="rId33"/>
    <p:sldId id="337" r:id="rId34"/>
    <p:sldId id="338" r:id="rId35"/>
    <p:sldId id="368" r:id="rId36"/>
    <p:sldId id="339" r:id="rId37"/>
    <p:sldId id="344" r:id="rId38"/>
    <p:sldId id="343" r:id="rId39"/>
    <p:sldId id="340" r:id="rId40"/>
    <p:sldId id="341" r:id="rId41"/>
    <p:sldId id="369" r:id="rId42"/>
    <p:sldId id="371" r:id="rId43"/>
    <p:sldId id="372" r:id="rId44"/>
    <p:sldId id="373" r:id="rId45"/>
    <p:sldId id="374" r:id="rId46"/>
    <p:sldId id="375" r:id="rId47"/>
    <p:sldId id="376" r:id="rId48"/>
    <p:sldId id="377" r:id="rId49"/>
    <p:sldId id="378" r:id="rId50"/>
    <p:sldId id="379" r:id="rId51"/>
    <p:sldId id="380" r:id="rId52"/>
    <p:sldId id="381" r:id="rId53"/>
    <p:sldId id="382" r:id="rId54"/>
    <p:sldId id="422" r:id="rId55"/>
    <p:sldId id="423" r:id="rId56"/>
    <p:sldId id="424" r:id="rId57"/>
    <p:sldId id="416" r:id="rId58"/>
    <p:sldId id="428" r:id="rId59"/>
    <p:sldId id="383" r:id="rId60"/>
    <p:sldId id="384" r:id="rId6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33" autoAdjust="0"/>
    <p:restoredTop sz="94660"/>
  </p:normalViewPr>
  <p:slideViewPr>
    <p:cSldViewPr>
      <p:cViewPr varScale="1">
        <p:scale>
          <a:sx n="104" d="100"/>
          <a:sy n="104" d="100"/>
        </p:scale>
        <p:origin x="-213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charset="0"/>
              </a:defRPr>
            </a:lvl1pPr>
          </a:lstStyle>
          <a:p>
            <a:pPr>
              <a:defRPr/>
            </a:pPr>
            <a:endParaRPr lang="en-US" altLang="zh-CN"/>
          </a:p>
        </p:txBody>
      </p:sp>
      <p:sp>
        <p:nvSpPr>
          <p:cNvPr id="727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charset="0"/>
              </a:defRPr>
            </a:lvl1pPr>
          </a:lstStyle>
          <a:p>
            <a:pPr>
              <a:defRPr/>
            </a:pPr>
            <a:fld id="{6BFC13FA-8171-4BE5-B2B4-15BACF04374A}" type="slidenum">
              <a:rPr lang="en-US" altLang="zh-CN"/>
              <a:pPr>
                <a:defRPr/>
              </a:pPr>
              <a:t>‹#›</a:t>
            </a:fld>
            <a:endParaRPr lang="en-US" altLang="zh-CN"/>
          </a:p>
        </p:txBody>
      </p:sp>
    </p:spTree>
    <p:extLst>
      <p:ext uri="{BB962C8B-B14F-4D97-AF65-F5344CB8AC3E}">
        <p14:creationId xmlns:p14="http://schemas.microsoft.com/office/powerpoint/2010/main" val="33682513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BFC13FA-8171-4BE5-B2B4-15BACF04374A}" type="slidenum">
              <a:rPr lang="en-US" altLang="zh-CN" smtClean="0"/>
              <a:pPr>
                <a:defRPr/>
              </a:pPr>
              <a:t>41</a:t>
            </a:fld>
            <a:endParaRPr lang="en-US" altLang="zh-CN"/>
          </a:p>
        </p:txBody>
      </p:sp>
    </p:spTree>
    <p:extLst>
      <p:ext uri="{BB962C8B-B14F-4D97-AF65-F5344CB8AC3E}">
        <p14:creationId xmlns:p14="http://schemas.microsoft.com/office/powerpoint/2010/main" val="1963972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p:spPr>
        <p:txBody>
          <a:bodyPr/>
          <a:lstStyle/>
          <a:p>
            <a:pPr>
              <a:defRPr/>
            </a:pPr>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p:spPr>
          <p:txBody>
            <a:bodyPr wrap="none" anchor="ctr"/>
            <a:lstStyle/>
            <a:p>
              <a:pPr>
                <a:defRPr/>
              </a:pPr>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p:spPr>
          <p:txBody>
            <a:bodyPr wrap="none" anchor="ctr"/>
            <a:lstStyle/>
            <a:p>
              <a:pPr>
                <a:defRPr/>
              </a:pPr>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p:spPr>
          <p:txBody>
            <a:bodyPr wrap="none" anchor="ctr"/>
            <a:lstStyle/>
            <a:p>
              <a:pPr>
                <a:defRPr/>
              </a:pPr>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p:spPr>
          <p:txBody>
            <a:bodyPr wrap="none" anchor="ctr"/>
            <a:lstStyle/>
            <a:p>
              <a:pPr>
                <a:defRPr/>
              </a:pPr>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p:spPr>
          <p:txBody>
            <a:bodyPr wrap="none" anchor="ctr"/>
            <a:lstStyle/>
            <a:p>
              <a:pPr>
                <a:defRPr/>
              </a:pPr>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p:spPr>
          <p:txBody>
            <a:bodyPr wrap="none" anchor="ctr"/>
            <a:lstStyle/>
            <a:p>
              <a:pPr>
                <a:defRPr/>
              </a:pPr>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p:spPr>
          <p:txBody>
            <a:bodyPr wrap="none" anchor="ctr"/>
            <a:lstStyle/>
            <a:p>
              <a:pPr>
                <a:defRPr/>
              </a:pPr>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p:spPr>
          <p:txBody>
            <a:bodyPr wrap="none" anchor="ctr"/>
            <a:lstStyle/>
            <a:p>
              <a:pPr>
                <a:defRPr/>
              </a:pPr>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p:spPr>
          <p:txBody>
            <a:bodyPr wrap="none" anchor="ctr"/>
            <a:lstStyle/>
            <a:p>
              <a:pPr>
                <a:defRPr/>
              </a:pPr>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p:spPr>
          <p:txBody>
            <a:bodyPr wrap="none" anchor="ctr"/>
            <a:lstStyle/>
            <a:p>
              <a:pPr>
                <a:defRPr/>
              </a:pPr>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p:spPr>
          <p:txBody>
            <a:bodyPr wrap="none" anchor="ctr"/>
            <a:lstStyle/>
            <a:p>
              <a:pPr>
                <a:defRPr/>
              </a:pPr>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p:spPr>
          <p:txBody>
            <a:bodyPr wrap="none" anchor="ctr"/>
            <a:lstStyle/>
            <a:p>
              <a:pPr>
                <a:defRPr/>
              </a:pPr>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p:spPr>
          <p:txBody>
            <a:bodyPr wrap="none" anchor="ctr"/>
            <a:lstStyle/>
            <a:p>
              <a:pPr>
                <a:defRPr/>
              </a:pPr>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p:spPr>
          <p:txBody>
            <a:bodyPr wrap="none" anchor="ctr"/>
            <a:lstStyle/>
            <a:p>
              <a:pPr>
                <a:defRPr/>
              </a:pPr>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p:spPr>
          <p:txBody>
            <a:bodyPr wrap="none" anchor="ctr"/>
            <a:lstStyle/>
            <a:p>
              <a:pPr>
                <a:defRPr/>
              </a:pPr>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p:spPr>
          <p:txBody>
            <a:bodyPr wrap="none" anchor="ctr"/>
            <a:lstStyle/>
            <a:p>
              <a:pPr>
                <a:defRPr/>
              </a:pPr>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p:spPr>
          <p:txBody>
            <a:bodyPr wrap="none" anchor="ctr"/>
            <a:lstStyle/>
            <a:p>
              <a:pPr>
                <a:defRPr/>
              </a:pPr>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p:spPr>
          <p:txBody>
            <a:bodyPr wrap="none" anchor="ctr"/>
            <a:lstStyle/>
            <a:p>
              <a:pPr>
                <a:defRPr/>
              </a:pPr>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p:spPr>
          <p:txBody>
            <a:bodyPr wrap="none" anchor="ctr"/>
            <a:lstStyle/>
            <a:p>
              <a:pPr>
                <a:defRPr/>
              </a:pPr>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p:spPr>
          <p:txBody>
            <a:bodyPr wrap="none" anchor="ctr"/>
            <a:lstStyle/>
            <a:p>
              <a:pPr>
                <a:defRPr/>
              </a:pPr>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p:spPr>
          <p:txBody>
            <a:bodyPr wrap="none" anchor="ctr"/>
            <a:lstStyle/>
            <a:p>
              <a:pPr>
                <a:defRPr/>
              </a:pPr>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p:spPr>
          <p:txBody>
            <a:bodyPr wrap="none" anchor="ctr"/>
            <a:lstStyle/>
            <a:p>
              <a:pPr>
                <a:defRPr/>
              </a:pPr>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p:spPr>
          <p:txBody>
            <a:bodyPr wrap="none" anchor="ctr"/>
            <a:lstStyle/>
            <a:p>
              <a:pPr>
                <a:defRPr/>
              </a:pPr>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p:spPr>
          <p:txBody>
            <a:bodyPr wrap="none" anchor="ctr"/>
            <a:lstStyle/>
            <a:p>
              <a:pPr>
                <a:defRPr/>
              </a:pPr>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p:spPr>
        <p:txBody>
          <a:bodyPr/>
          <a:lstStyle/>
          <a:p>
            <a:pPr>
              <a:defRPr/>
            </a:pPr>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EB42E556-F340-4CD4-83AE-02AE4AF40ED2}"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608B3467-1473-4E61-84E9-B5B549C24C3B}"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4F9A0525-9C15-4CAC-9459-C48E11443F52}"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11A9AB12-9C90-43A1-BC84-8B092601C7C6}"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B3344DCA-E167-4EB6-B6F7-67A0FD9FE0F3}"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A360B251-7A2E-45E5-BC15-FF781F376575}"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1E45917D-9F7B-420C-AA2A-FC4ECA202B7D}"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F4379CF3-ED5C-4BDC-AAC5-1C809BCDE789}"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666230D3-A0B2-48FD-A2D7-551A73CAE04D}"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A2E4A7FC-CEAC-4013-B7B0-7150DB4EC9D0}"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2FEAE675-5F8A-48B0-9808-FEED62D204B1}"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p:spPr>
        <p:txBody>
          <a:bodyPr/>
          <a:lstStyle/>
          <a:p>
            <a:pPr>
              <a:defRPr/>
            </a:pPr>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CF53AA3A-766C-4D93-8789-77DF561CBD36}" type="slidenum">
              <a:rPr lang="en-US" altLang="zh-CN"/>
              <a:pPr>
                <a:defRPr/>
              </a:pPr>
              <a:t>‹#›</a:t>
            </a:fld>
            <a:endParaRPr lang="en-US" altLang="zh-CN"/>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headEnd/>
              <a:tailEnd/>
            </a:ln>
          </p:spPr>
          <p:txBody>
            <a:bodyPr wrap="none" anchor="ctr"/>
            <a:lstStyle/>
            <a:p>
              <a:pPr>
                <a:defRPr/>
              </a:pPr>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headEnd/>
              <a:tailEnd/>
            </a:ln>
          </p:spPr>
          <p:txBody>
            <a:bodyPr wrap="none" anchor="ctr"/>
            <a:lstStyle/>
            <a:p>
              <a:pPr>
                <a:defRPr/>
              </a:pPr>
              <a:endParaRPr lang="zh-CN" altLang="en-US"/>
            </a:p>
          </p:txBody>
        </p:sp>
        <p:sp>
          <p:nvSpPr>
            <p:cNvPr id="1035" name="Oval 11"/>
            <p:cNvSpPr>
              <a:spLocks noChangeArrowheads="1"/>
            </p:cNvSpPr>
            <p:nvPr/>
          </p:nvSpPr>
          <p:spPr bwMode="auto">
            <a:xfrm>
              <a:off x="5360" y="960"/>
              <a:ext cx="78" cy="80"/>
            </a:xfrm>
            <a:prstGeom prst="ellipse">
              <a:avLst/>
            </a:prstGeom>
            <a:solidFill>
              <a:schemeClr val="tx2"/>
            </a:solidFill>
            <a:ln w="9525">
              <a:noFill/>
              <a:round/>
              <a:headEnd/>
              <a:tailEnd/>
            </a:ln>
          </p:spPr>
          <p:txBody>
            <a:bodyPr wrap="none" anchor="ctr"/>
            <a:lstStyle/>
            <a:p>
              <a:pPr>
                <a:defRPr/>
              </a:pPr>
              <a:endParaRPr lang="zh-CN" altLang="en-US"/>
            </a:p>
          </p:txBody>
        </p:sp>
        <p:sp>
          <p:nvSpPr>
            <p:cNvPr id="1036" name="Oval 12"/>
            <p:cNvSpPr>
              <a:spLocks noChangeArrowheads="1"/>
            </p:cNvSpPr>
            <p:nvPr/>
          </p:nvSpPr>
          <p:spPr bwMode="auto">
            <a:xfrm>
              <a:off x="5136" y="1072"/>
              <a:ext cx="80" cy="78"/>
            </a:xfrm>
            <a:prstGeom prst="ellipse">
              <a:avLst/>
            </a:prstGeom>
            <a:solidFill>
              <a:schemeClr val="tx2"/>
            </a:solidFill>
            <a:ln w="9525">
              <a:noFill/>
              <a:round/>
              <a:headEnd/>
              <a:tailEnd/>
            </a:ln>
          </p:spPr>
          <p:txBody>
            <a:bodyPr wrap="none" anchor="ctr"/>
            <a:lstStyle/>
            <a:p>
              <a:pPr>
                <a:defRPr/>
              </a:pPr>
              <a:endParaRPr lang="zh-CN" altLang="en-US"/>
            </a:p>
          </p:txBody>
        </p:sp>
        <p:sp>
          <p:nvSpPr>
            <p:cNvPr id="1037" name="Oval 13"/>
            <p:cNvSpPr>
              <a:spLocks noChangeArrowheads="1"/>
            </p:cNvSpPr>
            <p:nvPr/>
          </p:nvSpPr>
          <p:spPr bwMode="auto">
            <a:xfrm>
              <a:off x="5248" y="1072"/>
              <a:ext cx="79" cy="78"/>
            </a:xfrm>
            <a:prstGeom prst="ellipse">
              <a:avLst/>
            </a:prstGeom>
            <a:solidFill>
              <a:schemeClr val="tx2"/>
            </a:solidFill>
            <a:ln w="9525">
              <a:noFill/>
              <a:round/>
              <a:headEnd/>
              <a:tailEnd/>
            </a:ln>
          </p:spPr>
          <p:txBody>
            <a:bodyPr wrap="none" anchor="ctr"/>
            <a:lstStyle/>
            <a:p>
              <a:pPr>
                <a:defRPr/>
              </a:pPr>
              <a:endParaRPr lang="zh-CN" altLang="en-US"/>
            </a:p>
          </p:txBody>
        </p:sp>
        <p:sp>
          <p:nvSpPr>
            <p:cNvPr id="1038" name="Oval 14"/>
            <p:cNvSpPr>
              <a:spLocks noChangeArrowheads="1"/>
            </p:cNvSpPr>
            <p:nvPr/>
          </p:nvSpPr>
          <p:spPr bwMode="auto">
            <a:xfrm>
              <a:off x="5360" y="1072"/>
              <a:ext cx="78" cy="78"/>
            </a:xfrm>
            <a:prstGeom prst="ellipse">
              <a:avLst/>
            </a:prstGeom>
            <a:solidFill>
              <a:schemeClr val="tx2"/>
            </a:solidFill>
            <a:ln w="9525">
              <a:noFill/>
              <a:round/>
              <a:headEnd/>
              <a:tailEnd/>
            </a:ln>
          </p:spPr>
          <p:txBody>
            <a:bodyPr wrap="none" anchor="ctr"/>
            <a:lstStyle/>
            <a:p>
              <a:pPr>
                <a:defRPr/>
              </a:pPr>
              <a:endParaRPr lang="zh-CN" altLang="en-US"/>
            </a:p>
          </p:txBody>
        </p:sp>
        <p:sp>
          <p:nvSpPr>
            <p:cNvPr id="1039" name="Oval 15"/>
            <p:cNvSpPr>
              <a:spLocks noChangeArrowheads="1"/>
            </p:cNvSpPr>
            <p:nvPr/>
          </p:nvSpPr>
          <p:spPr bwMode="auto">
            <a:xfrm>
              <a:off x="5472" y="1072"/>
              <a:ext cx="78" cy="78"/>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40" name="Oval 16"/>
            <p:cNvSpPr>
              <a:spLocks noChangeArrowheads="1"/>
            </p:cNvSpPr>
            <p:nvPr/>
          </p:nvSpPr>
          <p:spPr bwMode="auto">
            <a:xfrm>
              <a:off x="5136" y="1184"/>
              <a:ext cx="80" cy="78"/>
            </a:xfrm>
            <a:prstGeom prst="ellipse">
              <a:avLst/>
            </a:prstGeom>
            <a:solidFill>
              <a:schemeClr val="tx2"/>
            </a:solidFill>
            <a:ln w="9525">
              <a:noFill/>
              <a:round/>
              <a:headEnd/>
              <a:tailEnd/>
            </a:ln>
          </p:spPr>
          <p:txBody>
            <a:bodyPr wrap="none" anchor="ctr"/>
            <a:lstStyle/>
            <a:p>
              <a:pPr>
                <a:defRPr/>
              </a:pPr>
              <a:endParaRPr lang="zh-CN" altLang="en-US"/>
            </a:p>
          </p:txBody>
        </p:sp>
        <p:sp>
          <p:nvSpPr>
            <p:cNvPr id="1041" name="Oval 17"/>
            <p:cNvSpPr>
              <a:spLocks noChangeArrowheads="1"/>
            </p:cNvSpPr>
            <p:nvPr/>
          </p:nvSpPr>
          <p:spPr bwMode="auto">
            <a:xfrm>
              <a:off x="5248" y="1184"/>
              <a:ext cx="79" cy="78"/>
            </a:xfrm>
            <a:prstGeom prst="ellipse">
              <a:avLst/>
            </a:prstGeom>
            <a:solidFill>
              <a:schemeClr val="tx2"/>
            </a:solidFill>
            <a:ln w="9525">
              <a:noFill/>
              <a:round/>
              <a:headEnd/>
              <a:tailEnd/>
            </a:ln>
          </p:spPr>
          <p:txBody>
            <a:bodyPr wrap="none" anchor="ctr"/>
            <a:lstStyle/>
            <a:p>
              <a:pPr>
                <a:defRPr/>
              </a:pPr>
              <a:endParaRPr lang="zh-CN" altLang="en-US"/>
            </a:p>
          </p:txBody>
        </p:sp>
        <p:sp>
          <p:nvSpPr>
            <p:cNvPr id="1042" name="Oval 18"/>
            <p:cNvSpPr>
              <a:spLocks noChangeArrowheads="1"/>
            </p:cNvSpPr>
            <p:nvPr/>
          </p:nvSpPr>
          <p:spPr bwMode="auto">
            <a:xfrm>
              <a:off x="5360" y="1184"/>
              <a:ext cx="78" cy="78"/>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43" name="Oval 19"/>
            <p:cNvSpPr>
              <a:spLocks noChangeArrowheads="1"/>
            </p:cNvSpPr>
            <p:nvPr/>
          </p:nvSpPr>
          <p:spPr bwMode="auto">
            <a:xfrm>
              <a:off x="5472" y="1184"/>
              <a:ext cx="78" cy="78"/>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44" name="Oval 20"/>
            <p:cNvSpPr>
              <a:spLocks noChangeArrowheads="1"/>
            </p:cNvSpPr>
            <p:nvPr/>
          </p:nvSpPr>
          <p:spPr bwMode="auto">
            <a:xfrm>
              <a:off x="5584" y="1184"/>
              <a:ext cx="80" cy="78"/>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headEnd/>
              <a:tailEnd/>
            </a:ln>
          </p:spPr>
          <p:txBody>
            <a:bodyPr wrap="none" anchor="ctr"/>
            <a:lstStyle/>
            <a:p>
              <a:pPr>
                <a:defRPr/>
              </a:pPr>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47" name="Oval 23"/>
            <p:cNvSpPr>
              <a:spLocks noChangeArrowheads="1"/>
            </p:cNvSpPr>
            <p:nvPr/>
          </p:nvSpPr>
          <p:spPr bwMode="auto">
            <a:xfrm>
              <a:off x="5360" y="1296"/>
              <a:ext cx="78" cy="80"/>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48" name="Oval 24"/>
            <p:cNvSpPr>
              <a:spLocks noChangeArrowheads="1"/>
            </p:cNvSpPr>
            <p:nvPr/>
          </p:nvSpPr>
          <p:spPr bwMode="auto">
            <a:xfrm>
              <a:off x="5472" y="1296"/>
              <a:ext cx="78" cy="80"/>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51" name="Oval 27"/>
            <p:cNvSpPr>
              <a:spLocks noChangeArrowheads="1"/>
            </p:cNvSpPr>
            <p:nvPr/>
          </p:nvSpPr>
          <p:spPr bwMode="auto">
            <a:xfrm>
              <a:off x="5360" y="1408"/>
              <a:ext cx="78" cy="80"/>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52" name="Oval 28"/>
            <p:cNvSpPr>
              <a:spLocks noChangeArrowheads="1"/>
            </p:cNvSpPr>
            <p:nvPr/>
          </p:nvSpPr>
          <p:spPr bwMode="auto">
            <a:xfrm>
              <a:off x="5472" y="1408"/>
              <a:ext cx="78" cy="80"/>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headEnd/>
              <a:tailEnd/>
            </a:ln>
          </p:spPr>
          <p:txBody>
            <a:bodyPr wrap="none" anchor="ctr"/>
            <a:lstStyle/>
            <a:p>
              <a:pPr>
                <a:defRPr/>
              </a:pPr>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headEnd/>
              <a:tailEnd/>
            </a:ln>
          </p:spPr>
          <p:txBody>
            <a:bodyPr wrap="none" anchor="ctr"/>
            <a:lstStyle/>
            <a:p>
              <a:pPr>
                <a:defRPr/>
              </a:pPr>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56" name="Oval 32"/>
            <p:cNvSpPr>
              <a:spLocks noChangeArrowheads="1"/>
            </p:cNvSpPr>
            <p:nvPr/>
          </p:nvSpPr>
          <p:spPr bwMode="auto">
            <a:xfrm>
              <a:off x="5360" y="1520"/>
              <a:ext cx="78" cy="79"/>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57" name="Oval 33"/>
            <p:cNvSpPr>
              <a:spLocks noChangeArrowheads="1"/>
            </p:cNvSpPr>
            <p:nvPr/>
          </p:nvSpPr>
          <p:spPr bwMode="auto">
            <a:xfrm>
              <a:off x="5472" y="1520"/>
              <a:ext cx="78" cy="79"/>
            </a:xfrm>
            <a:prstGeom prst="ellipse">
              <a:avLst/>
            </a:prstGeom>
            <a:solidFill>
              <a:schemeClr val="folHlink"/>
            </a:solidFill>
            <a:ln w="9525">
              <a:noFill/>
              <a:round/>
              <a:headEnd/>
              <a:tailEnd/>
            </a:ln>
          </p:spPr>
          <p:txBody>
            <a:bodyPr wrap="none" anchor="ctr"/>
            <a:lstStyle/>
            <a:p>
              <a:pPr>
                <a:defRPr/>
              </a:pPr>
              <a:endParaRPr lang="zh-CN" altLang="en-US"/>
            </a:p>
          </p:txBody>
        </p:sp>
        <p:sp>
          <p:nvSpPr>
            <p:cNvPr id="1058" name="Oval 34"/>
            <p:cNvSpPr>
              <a:spLocks noChangeArrowheads="1"/>
            </p:cNvSpPr>
            <p:nvPr/>
          </p:nvSpPr>
          <p:spPr bwMode="auto">
            <a:xfrm>
              <a:off x="5136" y="1632"/>
              <a:ext cx="80" cy="78"/>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59" name="Oval 35"/>
            <p:cNvSpPr>
              <a:spLocks noChangeArrowheads="1"/>
            </p:cNvSpPr>
            <p:nvPr/>
          </p:nvSpPr>
          <p:spPr bwMode="auto">
            <a:xfrm>
              <a:off x="5248" y="1632"/>
              <a:ext cx="79" cy="78"/>
            </a:xfrm>
            <a:prstGeom prst="ellipse">
              <a:avLst/>
            </a:prstGeom>
            <a:solidFill>
              <a:schemeClr val="accent1"/>
            </a:solidFill>
            <a:ln w="9525">
              <a:noFill/>
              <a:round/>
              <a:headEnd/>
              <a:tailEnd/>
            </a:ln>
          </p:spPr>
          <p:txBody>
            <a:bodyPr wrap="none" anchor="ctr"/>
            <a:lstStyle/>
            <a:p>
              <a:pPr>
                <a:defRPr/>
              </a:pPr>
              <a:endParaRPr lang="zh-CN" altLang="en-US"/>
            </a:p>
          </p:txBody>
        </p:sp>
        <p:sp>
          <p:nvSpPr>
            <p:cNvPr id="1060" name="Oval 36"/>
            <p:cNvSpPr>
              <a:spLocks noChangeArrowheads="1"/>
            </p:cNvSpPr>
            <p:nvPr/>
          </p:nvSpPr>
          <p:spPr bwMode="auto">
            <a:xfrm>
              <a:off x="5360" y="1632"/>
              <a:ext cx="78" cy="78"/>
            </a:xfrm>
            <a:prstGeom prst="ellipse">
              <a:avLst/>
            </a:prstGeom>
            <a:solidFill>
              <a:schemeClr val="folHlink"/>
            </a:solidFill>
            <a:ln w="9525">
              <a:noFill/>
              <a:round/>
              <a:headEnd/>
              <a:tailEnd/>
            </a:ln>
          </p:spPr>
          <p:txBody>
            <a:bodyPr wrap="none" anchor="ctr"/>
            <a:lstStyle/>
            <a:p>
              <a:pPr>
                <a:defRPr/>
              </a:pPr>
              <a:endParaRPr lang="zh-CN" altLang="en-US"/>
            </a:p>
          </p:txBody>
        </p:sp>
        <p:sp>
          <p:nvSpPr>
            <p:cNvPr id="1061" name="Oval 37"/>
            <p:cNvSpPr>
              <a:spLocks noChangeArrowheads="1"/>
            </p:cNvSpPr>
            <p:nvPr/>
          </p:nvSpPr>
          <p:spPr bwMode="auto">
            <a:xfrm>
              <a:off x="5472" y="1632"/>
              <a:ext cx="78" cy="78"/>
            </a:xfrm>
            <a:prstGeom prst="ellipse">
              <a:avLst/>
            </a:prstGeom>
            <a:solidFill>
              <a:schemeClr val="folHlink"/>
            </a:solidFill>
            <a:ln w="9525">
              <a:noFill/>
              <a:round/>
              <a:headEnd/>
              <a:tailEnd/>
            </a:ln>
          </p:spPr>
          <p:txBody>
            <a:bodyPr wrap="none" anchor="ctr"/>
            <a:lstStyle/>
            <a:p>
              <a:pPr>
                <a:defRPr/>
              </a:pPr>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headEnd/>
              <a:tailEnd/>
            </a:ln>
          </p:spPr>
          <p:txBody>
            <a:bodyPr wrap="none" anchor="ctr"/>
            <a:lstStyle/>
            <a:p>
              <a:pPr>
                <a:defRPr/>
              </a:pPr>
              <a:endParaRPr lang="zh-CN" altLang="en-US"/>
            </a:p>
          </p:txBody>
        </p:sp>
        <p:sp>
          <p:nvSpPr>
            <p:cNvPr id="1063" name="Oval 39"/>
            <p:cNvSpPr>
              <a:spLocks noChangeArrowheads="1"/>
            </p:cNvSpPr>
            <p:nvPr/>
          </p:nvSpPr>
          <p:spPr bwMode="auto">
            <a:xfrm>
              <a:off x="5472" y="1744"/>
              <a:ext cx="78" cy="80"/>
            </a:xfrm>
            <a:prstGeom prst="ellipse">
              <a:avLst/>
            </a:prstGeom>
            <a:solidFill>
              <a:schemeClr val="folHlink"/>
            </a:solidFill>
            <a:ln w="9525">
              <a:noFill/>
              <a:round/>
              <a:headEnd/>
              <a:tailEnd/>
            </a:ln>
          </p:spPr>
          <p:txBody>
            <a:bodyPr wrap="none" anchor="ctr"/>
            <a:lstStyle/>
            <a:p>
              <a:pPr>
                <a:defRPr/>
              </a:pPr>
              <a:endParaRPr lang="zh-CN" altLang="en-US"/>
            </a:p>
          </p:txBody>
        </p:sp>
      </p:grpSp>
    </p:spTree>
  </p:cSld>
  <p:clrMap bg1="lt1" tx1="dk1" bg2="lt2" tx2="dk2" accent1="accent1" accent2="accent2" accent3="accent3" accent4="accent4" accent5="accent5" accent6="accent6" hlink="hlink" folHlink="folHlink"/>
  <p:sldLayoutIdLst>
    <p:sldLayoutId id="2147483695"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ea typeface="宋体" pitchFamily="2" charset="-122"/>
        </a:defRPr>
      </a:lvl2pPr>
      <a:lvl3pPr algn="l" rtl="0" eaLnBrk="0" fontAlgn="base" hangingPunct="0">
        <a:spcBef>
          <a:spcPct val="0"/>
        </a:spcBef>
        <a:spcAft>
          <a:spcPct val="0"/>
        </a:spcAft>
        <a:defRPr sz="3900" b="1">
          <a:solidFill>
            <a:schemeClr val="tx2"/>
          </a:solidFill>
          <a:latin typeface="Arial" charset="0"/>
          <a:ea typeface="宋体" pitchFamily="2" charset="-122"/>
        </a:defRPr>
      </a:lvl3pPr>
      <a:lvl4pPr algn="l" rtl="0" eaLnBrk="0" fontAlgn="base" hangingPunct="0">
        <a:spcBef>
          <a:spcPct val="0"/>
        </a:spcBef>
        <a:spcAft>
          <a:spcPct val="0"/>
        </a:spcAft>
        <a:defRPr sz="3900" b="1">
          <a:solidFill>
            <a:schemeClr val="tx2"/>
          </a:solidFill>
          <a:latin typeface="Arial" charset="0"/>
          <a:ea typeface="宋体" pitchFamily="2" charset="-122"/>
        </a:defRPr>
      </a:lvl4pPr>
      <a:lvl5pPr algn="l" rtl="0" eaLnBrk="0" fontAlgn="base" hangingPunct="0">
        <a:spcBef>
          <a:spcPct val="0"/>
        </a:spcBef>
        <a:spcAft>
          <a:spcPct val="0"/>
        </a:spcAft>
        <a:defRPr sz="3900" b="1">
          <a:solidFill>
            <a:schemeClr val="tx2"/>
          </a:solidFill>
          <a:latin typeface="Arial" charset="0"/>
          <a:ea typeface="宋体" pitchFamily="2" charset="-122"/>
        </a:defRPr>
      </a:lvl5pPr>
      <a:lvl6pPr marL="457200" algn="l" rtl="0" fontAlgn="base">
        <a:spcBef>
          <a:spcPct val="0"/>
        </a:spcBef>
        <a:spcAft>
          <a:spcPct val="0"/>
        </a:spcAft>
        <a:defRPr sz="3900" b="1">
          <a:solidFill>
            <a:schemeClr val="tx2"/>
          </a:solidFill>
          <a:latin typeface="Arial" charset="0"/>
          <a:ea typeface="宋体" pitchFamily="2" charset="-122"/>
        </a:defRPr>
      </a:lvl6pPr>
      <a:lvl7pPr marL="914400" algn="l" rtl="0" fontAlgn="base">
        <a:spcBef>
          <a:spcPct val="0"/>
        </a:spcBef>
        <a:spcAft>
          <a:spcPct val="0"/>
        </a:spcAft>
        <a:defRPr sz="3900" b="1">
          <a:solidFill>
            <a:schemeClr val="tx2"/>
          </a:solidFill>
          <a:latin typeface="Arial" charset="0"/>
          <a:ea typeface="宋体" pitchFamily="2" charset="-122"/>
        </a:defRPr>
      </a:lvl7pPr>
      <a:lvl8pPr marL="1371600" algn="l" rtl="0" fontAlgn="base">
        <a:spcBef>
          <a:spcPct val="0"/>
        </a:spcBef>
        <a:spcAft>
          <a:spcPct val="0"/>
        </a:spcAft>
        <a:defRPr sz="3900" b="1">
          <a:solidFill>
            <a:schemeClr val="tx2"/>
          </a:solidFill>
          <a:latin typeface="Arial" charset="0"/>
          <a:ea typeface="宋体" pitchFamily="2" charset="-122"/>
        </a:defRPr>
      </a:lvl8pPr>
      <a:lvl9pPr marL="1828800" algn="l" rtl="0" fontAlgn="base">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7.1.swf"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hyperlink" Target="&#30828;&#30424;&#32467;&#26500;.flv"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7.2.swf"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7.5.swf" TargetMode="External"/><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30828;&#30424;&#32467;&#26500;.flv"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30828;&#30424;&#32467;&#26500;1.flv"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7.10.swf" TargetMode="Externa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7.12.swf" TargetMode="Externa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7.13.swf"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imgsrc.baidu.com/baike/pic/item/5beeba0ffc5bddfeab645790.jpg"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7.14.swf" TargetMode="Externa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7.18.swf" TargetMode="External"/><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28608;&#20809;&#25171;&#21360;&#26426;&#24037;&#20316;&#21407;&#29702;.flv"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12"/>
          </p:nvPr>
        </p:nvSpPr>
        <p:spPr>
          <a:noFill/>
        </p:spPr>
        <p:txBody>
          <a:bodyPr/>
          <a:lstStyle/>
          <a:p>
            <a:fld id="{9CED17F8-11B3-4A20-83BD-6058E6772F9D}" type="slidenum">
              <a:rPr lang="en-US" altLang="zh-CN" smtClean="0"/>
              <a:pPr/>
              <a:t>1</a:t>
            </a:fld>
            <a:endParaRPr lang="en-US" altLang="zh-CN" smtClean="0"/>
          </a:p>
        </p:txBody>
      </p:sp>
      <p:sp>
        <p:nvSpPr>
          <p:cNvPr id="3075" name="Rectangle 2"/>
          <p:cNvSpPr>
            <a:spLocks noGrp="1" noChangeArrowheads="1"/>
          </p:cNvSpPr>
          <p:nvPr>
            <p:ph type="ctrTitle"/>
          </p:nvPr>
        </p:nvSpPr>
        <p:spPr>
          <a:xfrm>
            <a:off x="1042988" y="1484313"/>
            <a:ext cx="5834062" cy="1143000"/>
          </a:xfrm>
        </p:spPr>
        <p:txBody>
          <a:bodyPr/>
          <a:lstStyle/>
          <a:p>
            <a:pPr eaLnBrk="1" hangingPunct="1"/>
            <a:r>
              <a:rPr lang="zh-CN" altLang="en-US" smtClean="0"/>
              <a:t>第七章   外围设备</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p>
            <a:fld id="{F1EEB673-94CA-4431-9406-4E7C965936F0}" type="slidenum">
              <a:rPr lang="en-US" altLang="zh-CN" smtClean="0"/>
              <a:pPr/>
              <a:t>2</a:t>
            </a:fld>
            <a:endParaRPr lang="en-US" altLang="zh-CN" smtClean="0"/>
          </a:p>
        </p:txBody>
      </p:sp>
      <p:sp>
        <p:nvSpPr>
          <p:cNvPr id="4099" name="Rectangle 2"/>
          <p:cNvSpPr>
            <a:spLocks noGrp="1" noChangeArrowheads="1"/>
          </p:cNvSpPr>
          <p:nvPr>
            <p:ph type="title"/>
          </p:nvPr>
        </p:nvSpPr>
        <p:spPr>
          <a:xfrm>
            <a:off x="323850" y="115888"/>
            <a:ext cx="7543800" cy="858837"/>
          </a:xfrm>
        </p:spPr>
        <p:txBody>
          <a:bodyPr/>
          <a:lstStyle/>
          <a:p>
            <a:pPr eaLnBrk="1" hangingPunct="1"/>
            <a:r>
              <a:rPr lang="en-US" altLang="zh-CN" smtClean="0">
                <a:cs typeface="Arial" charset="0"/>
              </a:rPr>
              <a:t>7.1 </a:t>
            </a:r>
            <a:r>
              <a:rPr lang="zh-CN" altLang="en-US" smtClean="0"/>
              <a:t>外围设备概述</a:t>
            </a:r>
          </a:p>
        </p:txBody>
      </p:sp>
      <p:sp>
        <p:nvSpPr>
          <p:cNvPr id="4100" name="Rectangle 4"/>
          <p:cNvSpPr>
            <a:spLocks noChangeArrowheads="1"/>
          </p:cNvSpPr>
          <p:nvPr/>
        </p:nvSpPr>
        <p:spPr bwMode="auto">
          <a:xfrm>
            <a:off x="179388" y="950913"/>
            <a:ext cx="8713787" cy="5694362"/>
          </a:xfrm>
          <a:prstGeom prst="rect">
            <a:avLst/>
          </a:prstGeom>
          <a:noFill/>
          <a:ln w="9525">
            <a:noFill/>
            <a:miter lim="800000"/>
            <a:headEnd/>
            <a:tailEnd/>
          </a:ln>
        </p:spPr>
        <p:txBody>
          <a:bodyPr anchor="ctr">
            <a:spAutoFit/>
          </a:bodyPr>
          <a:lstStyle/>
          <a:p>
            <a:r>
              <a:rPr lang="en-US" altLang="zh-CN" sz="2800">
                <a:latin typeface="宋体" pitchFamily="2" charset="-122"/>
              </a:rPr>
              <a:t>7.1.1 </a:t>
            </a:r>
            <a:r>
              <a:rPr lang="zh-CN" altLang="en-US" sz="2800">
                <a:latin typeface="宋体" pitchFamily="2" charset="-122"/>
              </a:rPr>
              <a:t>外围设备的一般功能</a:t>
            </a:r>
            <a:r>
              <a:rPr lang="zh-CN" altLang="en-US" sz="2400">
                <a:latin typeface="宋体" pitchFamily="2" charset="-122"/>
              </a:rPr>
              <a:t>　 　 　　　</a:t>
            </a:r>
          </a:p>
          <a:p>
            <a:r>
              <a:rPr lang="zh-CN" altLang="en-US" sz="2400" b="1">
                <a:latin typeface="宋体" pitchFamily="2" charset="-122"/>
              </a:rPr>
              <a:t>    外围设备的定义：</a:t>
            </a:r>
          </a:p>
          <a:p>
            <a:r>
              <a:rPr lang="zh-CN" altLang="en-US" sz="2400">
                <a:latin typeface="宋体" pitchFamily="2" charset="-122"/>
              </a:rPr>
              <a:t>　　这个术语涉及到相当广泛的计算机部件。除了</a:t>
            </a:r>
            <a:r>
              <a:rPr lang="en-US" altLang="zh-CN" sz="2400">
                <a:latin typeface="宋体" pitchFamily="2" charset="-122"/>
              </a:rPr>
              <a:t>CPU</a:t>
            </a:r>
            <a:r>
              <a:rPr lang="zh-CN" altLang="en-US" sz="2400">
                <a:latin typeface="宋体" pitchFamily="2" charset="-122"/>
              </a:rPr>
              <a:t>和主存外，计算机系统的每一部分都可作为一个外围设备来看待。</a:t>
            </a:r>
          </a:p>
          <a:p>
            <a:r>
              <a:rPr lang="zh-CN" altLang="en-US" sz="2400" b="1">
                <a:latin typeface="宋体" pitchFamily="2" charset="-122"/>
              </a:rPr>
              <a:t>    外围设备的功能：</a:t>
            </a:r>
          </a:p>
          <a:p>
            <a:r>
              <a:rPr lang="zh-CN" altLang="en-US" sz="2400">
                <a:latin typeface="宋体" pitchFamily="2" charset="-122"/>
              </a:rPr>
              <a:t>在计算机和其他机器之间，以及计算机与用户之间提供联系。</a:t>
            </a:r>
          </a:p>
          <a:p>
            <a:r>
              <a:rPr lang="zh-CN" altLang="en-US" sz="2400" b="1">
                <a:latin typeface="宋体" pitchFamily="2" charset="-122"/>
              </a:rPr>
              <a:t>    通常外围设备由三个基本部分组成：</a:t>
            </a:r>
          </a:p>
          <a:p>
            <a:r>
              <a:rPr lang="zh-CN" altLang="en-US" sz="2400">
                <a:latin typeface="宋体" pitchFamily="2" charset="-122"/>
              </a:rPr>
              <a:t>    </a:t>
            </a:r>
            <a:r>
              <a:rPr lang="en-US" altLang="zh-CN" sz="2400">
                <a:latin typeface="宋体" pitchFamily="2" charset="-122"/>
              </a:rPr>
              <a:t>(1) </a:t>
            </a:r>
            <a:r>
              <a:rPr lang="zh-CN" altLang="en-US" sz="2400">
                <a:latin typeface="宋体" pitchFamily="2" charset="-122"/>
              </a:rPr>
              <a:t>存储介质，它具有保存信息的物理特征。例如磁盘就是一个存储介质的例子，它是用记录在盘上的磁化元表示信息。      </a:t>
            </a:r>
          </a:p>
          <a:p>
            <a:r>
              <a:rPr lang="zh-CN" altLang="en-US" sz="2400">
                <a:latin typeface="宋体" pitchFamily="2" charset="-122"/>
              </a:rPr>
              <a:t>    </a:t>
            </a:r>
            <a:r>
              <a:rPr lang="en-US" altLang="zh-CN" sz="2400">
                <a:latin typeface="宋体" pitchFamily="2" charset="-122"/>
              </a:rPr>
              <a:t>(2) </a:t>
            </a:r>
            <a:r>
              <a:rPr lang="zh-CN" altLang="en-US" sz="2400">
                <a:latin typeface="宋体" pitchFamily="2" charset="-122"/>
              </a:rPr>
              <a:t>驱动装置，它用于移动存储介质。例如，磁盘设备中，驱动装置用于转动磁盘并进行定位。</a:t>
            </a:r>
          </a:p>
          <a:p>
            <a:r>
              <a:rPr lang="zh-CN" altLang="en-US" sz="2400">
                <a:latin typeface="宋体" pitchFamily="2" charset="-122"/>
              </a:rPr>
              <a:t>    </a:t>
            </a:r>
            <a:r>
              <a:rPr lang="en-US" altLang="zh-CN" sz="2400">
                <a:latin typeface="宋体" pitchFamily="2" charset="-122"/>
              </a:rPr>
              <a:t>(3)</a:t>
            </a:r>
            <a:r>
              <a:rPr lang="zh-CN" altLang="en-US" sz="2400">
                <a:latin typeface="宋体" pitchFamily="2" charset="-122"/>
              </a:rPr>
              <a:t>控制电路，它向存储介质发送数据或从存储介质接受数据。例如，磁盘读出时，控制电路把盘上用磁化元形式表示的信息转换成计算机所需要的电信号，并把这些信号用电缆送给计算机主机。</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p>
            <a:fld id="{037BA676-B2EA-46DB-8A56-A9E5BC0921EE}" type="slidenum">
              <a:rPr lang="en-US" altLang="zh-CN" smtClean="0"/>
              <a:pPr/>
              <a:t>3</a:t>
            </a:fld>
            <a:endParaRPr lang="en-US" altLang="zh-CN" smtClean="0"/>
          </a:p>
        </p:txBody>
      </p:sp>
      <p:sp>
        <p:nvSpPr>
          <p:cNvPr id="5123" name="Rectangle 5"/>
          <p:cNvSpPr>
            <a:spLocks noChangeArrowheads="1"/>
          </p:cNvSpPr>
          <p:nvPr/>
        </p:nvSpPr>
        <p:spPr bwMode="auto">
          <a:xfrm>
            <a:off x="250825" y="188913"/>
            <a:ext cx="7634288" cy="1552575"/>
          </a:xfrm>
          <a:prstGeom prst="rect">
            <a:avLst/>
          </a:prstGeom>
          <a:noFill/>
          <a:ln w="9525">
            <a:noFill/>
            <a:miter lim="800000"/>
            <a:headEnd/>
            <a:tailEnd/>
          </a:ln>
        </p:spPr>
        <p:txBody>
          <a:bodyPr>
            <a:spAutoFit/>
          </a:bodyPr>
          <a:lstStyle/>
          <a:p>
            <a:r>
              <a:rPr lang="en-US" altLang="zh-CN" sz="2400">
                <a:latin typeface="宋体" pitchFamily="2" charset="-122"/>
              </a:rPr>
              <a:t>7.1.2 </a:t>
            </a:r>
            <a:r>
              <a:rPr lang="zh-CN" altLang="en-US" sz="2400">
                <a:latin typeface="宋体" pitchFamily="2" charset="-122"/>
              </a:rPr>
              <a:t>外围设备的分类</a:t>
            </a:r>
          </a:p>
          <a:p>
            <a:r>
              <a:rPr lang="zh-CN" altLang="en-US" sz="2400">
                <a:latin typeface="宋体" pitchFamily="2" charset="-122"/>
              </a:rPr>
              <a:t>    一个计算机系统配备什么样的外围设备，是根据实际需要来决定的。如下图所示出了计算机的五大类外围设备，这只是一个典型化了的计算机环境。</a:t>
            </a:r>
          </a:p>
        </p:txBody>
      </p:sp>
      <p:pic>
        <p:nvPicPr>
          <p:cNvPr id="5124" name="Picture 7">
            <a:hlinkClick r:id="rId2" action="ppaction://hlinkfile"/>
          </p:cNvPr>
          <p:cNvPicPr>
            <a:picLocks noChangeAspect="1" noChangeArrowheads="1"/>
          </p:cNvPicPr>
          <p:nvPr/>
        </p:nvPicPr>
        <p:blipFill>
          <a:blip r:embed="rId3"/>
          <a:srcRect/>
          <a:stretch>
            <a:fillRect/>
          </a:stretch>
        </p:blipFill>
        <p:spPr bwMode="auto">
          <a:xfrm>
            <a:off x="5940425" y="6165850"/>
            <a:ext cx="409575" cy="381000"/>
          </a:xfrm>
          <a:prstGeom prst="rect">
            <a:avLst/>
          </a:prstGeom>
          <a:noFill/>
          <a:ln w="9525">
            <a:noFill/>
            <a:miter lim="800000"/>
            <a:headEnd/>
            <a:tailEnd/>
          </a:ln>
        </p:spPr>
      </p:pic>
      <p:sp>
        <p:nvSpPr>
          <p:cNvPr id="8200" name="Rectangle 8"/>
          <p:cNvSpPr>
            <a:spLocks noChangeArrowheads="1"/>
          </p:cNvSpPr>
          <p:nvPr/>
        </p:nvSpPr>
        <p:spPr bwMode="auto">
          <a:xfrm>
            <a:off x="6443663" y="1989138"/>
            <a:ext cx="1944687" cy="4108450"/>
          </a:xfrm>
          <a:prstGeom prst="rect">
            <a:avLst/>
          </a:prstGeom>
          <a:noFill/>
          <a:ln w="9525">
            <a:noFill/>
            <a:miter lim="800000"/>
            <a:headEnd/>
            <a:tailEnd/>
          </a:ln>
        </p:spPr>
        <p:txBody>
          <a:bodyPr>
            <a:spAutoFit/>
          </a:bodyPr>
          <a:lstStyle/>
          <a:p>
            <a:r>
              <a:rPr lang="zh-CN" altLang="en-US" sz="2400">
                <a:latin typeface="宋体" pitchFamily="2" charset="-122"/>
              </a:rPr>
              <a:t>中央部分是</a:t>
            </a:r>
            <a:r>
              <a:rPr lang="en-US" altLang="zh-CN" sz="2400">
                <a:latin typeface="宋体" pitchFamily="2" charset="-122"/>
              </a:rPr>
              <a:t>CPU</a:t>
            </a:r>
            <a:r>
              <a:rPr lang="zh-CN" altLang="en-US" sz="2400">
                <a:latin typeface="宋体" pitchFamily="2" charset="-122"/>
              </a:rPr>
              <a:t>和主存，通过总线与第二层的适配器</a:t>
            </a:r>
            <a:r>
              <a:rPr lang="en-US" altLang="zh-CN" sz="2400">
                <a:latin typeface="宋体" pitchFamily="2" charset="-122"/>
              </a:rPr>
              <a:t>(</a:t>
            </a:r>
            <a:r>
              <a:rPr lang="zh-CN" altLang="en-US" sz="2400">
                <a:latin typeface="宋体" pitchFamily="2" charset="-122"/>
              </a:rPr>
              <a:t>接口</a:t>
            </a:r>
            <a:r>
              <a:rPr lang="en-US" altLang="zh-CN" sz="2400">
                <a:latin typeface="宋体" pitchFamily="2" charset="-122"/>
              </a:rPr>
              <a:t>)</a:t>
            </a:r>
            <a:r>
              <a:rPr lang="zh-CN" altLang="en-US" sz="2400">
                <a:latin typeface="宋体" pitchFamily="2" charset="-122"/>
              </a:rPr>
              <a:t>部件相连，第三层是各种外围设备控制器，最外层则是外围设备</a:t>
            </a:r>
          </a:p>
        </p:txBody>
      </p:sp>
      <p:sp>
        <p:nvSpPr>
          <p:cNvPr id="8201" name="Rectangle 9"/>
          <p:cNvSpPr>
            <a:spLocks noChangeArrowheads="1"/>
          </p:cNvSpPr>
          <p:nvPr/>
        </p:nvSpPr>
        <p:spPr bwMode="auto">
          <a:xfrm>
            <a:off x="6372225" y="1989138"/>
            <a:ext cx="1728788" cy="4108450"/>
          </a:xfrm>
          <a:prstGeom prst="rect">
            <a:avLst/>
          </a:prstGeom>
          <a:noFill/>
          <a:ln w="9525">
            <a:noFill/>
            <a:miter lim="800000"/>
            <a:headEnd/>
            <a:tailEnd/>
          </a:ln>
        </p:spPr>
        <p:txBody>
          <a:bodyPr>
            <a:spAutoFit/>
          </a:bodyPr>
          <a:lstStyle/>
          <a:p>
            <a:r>
              <a:rPr lang="zh-CN" altLang="en-US" sz="2400">
                <a:latin typeface="宋体" pitchFamily="2" charset="-122"/>
              </a:rPr>
              <a:t>每一种外围设备，都是在它自己的设备控制器控制下进行工作，而设备控制器则通过适配器和主机连接，并受主机控制。 </a:t>
            </a:r>
          </a:p>
        </p:txBody>
      </p:sp>
      <p:sp>
        <p:nvSpPr>
          <p:cNvPr id="8202" name="Rectangle 10"/>
          <p:cNvSpPr>
            <a:spLocks noChangeArrowheads="1"/>
          </p:cNvSpPr>
          <p:nvPr/>
        </p:nvSpPr>
        <p:spPr bwMode="auto">
          <a:xfrm>
            <a:off x="6443663" y="2133600"/>
            <a:ext cx="1655762" cy="3378200"/>
          </a:xfrm>
          <a:prstGeom prst="rect">
            <a:avLst/>
          </a:prstGeom>
          <a:noFill/>
          <a:ln w="9525">
            <a:noFill/>
            <a:miter lim="800000"/>
            <a:headEnd/>
            <a:tailEnd/>
          </a:ln>
        </p:spPr>
        <p:txBody>
          <a:bodyPr>
            <a:spAutoFit/>
          </a:bodyPr>
          <a:lstStyle/>
          <a:p>
            <a:r>
              <a:rPr lang="zh-CN" altLang="en-US" sz="2400">
                <a:latin typeface="宋体" pitchFamily="2" charset="-122"/>
              </a:rPr>
              <a:t>外围设备可分为</a:t>
            </a:r>
          </a:p>
          <a:p>
            <a:r>
              <a:rPr lang="zh-CN" altLang="en-US" sz="2400">
                <a:solidFill>
                  <a:srgbClr val="0000FF"/>
                </a:solidFill>
                <a:latin typeface="宋体" pitchFamily="2" charset="-122"/>
              </a:rPr>
              <a:t>输入设备、输出设备、外存设备、数据通信设备和过程控制设备</a:t>
            </a:r>
            <a:r>
              <a:rPr lang="zh-CN" altLang="en-US" sz="2400">
                <a:latin typeface="宋体" pitchFamily="2" charset="-122"/>
              </a:rPr>
              <a:t>几大类。</a:t>
            </a:r>
          </a:p>
        </p:txBody>
      </p:sp>
      <p:pic>
        <p:nvPicPr>
          <p:cNvPr id="5128" name="Picture 12"/>
          <p:cNvPicPr>
            <a:picLocks noChangeAspect="1" noChangeArrowheads="1"/>
          </p:cNvPicPr>
          <p:nvPr/>
        </p:nvPicPr>
        <p:blipFill>
          <a:blip r:embed="rId4"/>
          <a:srcRect/>
          <a:stretch>
            <a:fillRect/>
          </a:stretch>
        </p:blipFill>
        <p:spPr bwMode="auto">
          <a:xfrm>
            <a:off x="611188" y="1773238"/>
            <a:ext cx="5329237" cy="48577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00"/>
                                        </p:tgtEl>
                                        <p:attrNameLst>
                                          <p:attrName>style.visibility</p:attrName>
                                        </p:attrNameLst>
                                      </p:cBhvr>
                                      <p:to>
                                        <p:strVal val="visible"/>
                                      </p:to>
                                    </p:set>
                                    <p:animEffect transition="in" filter="dissolve">
                                      <p:cBhvr>
                                        <p:cTn id="7" dur="500"/>
                                        <p:tgtEl>
                                          <p:spTgt spid="8200"/>
                                        </p:tgtEl>
                                      </p:cBhvr>
                                    </p:animEffect>
                                  </p:childTnLst>
                                  <p:subTnLst>
                                    <p:set>
                                      <p:cBhvr override="childStyle">
                                        <p:cTn dur="1" fill="hold" display="0" masterRel="nextClick" afterEffect="1"/>
                                        <p:tgtEl>
                                          <p:spTgt spid="820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02"/>
                                        </p:tgtEl>
                                        <p:attrNameLst>
                                          <p:attrName>style.visibility</p:attrName>
                                        </p:attrNameLst>
                                      </p:cBhvr>
                                      <p:to>
                                        <p:strVal val="visible"/>
                                      </p:to>
                                    </p:set>
                                    <p:animEffect transition="in" filter="dissolve">
                                      <p:cBhvr>
                                        <p:cTn id="12" dur="500"/>
                                        <p:tgtEl>
                                          <p:spTgt spid="8202"/>
                                        </p:tgtEl>
                                      </p:cBhvr>
                                    </p:animEffect>
                                  </p:childTnLst>
                                  <p:subTnLst>
                                    <p:set>
                                      <p:cBhvr override="childStyle">
                                        <p:cTn dur="1" fill="hold" display="0" masterRel="nextClick" afterEffect="1"/>
                                        <p:tgtEl>
                                          <p:spTgt spid="820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201"/>
                                        </p:tgtEl>
                                        <p:attrNameLst>
                                          <p:attrName>style.visibility</p:attrName>
                                        </p:attrNameLst>
                                      </p:cBhvr>
                                      <p:to>
                                        <p:strVal val="visible"/>
                                      </p:to>
                                    </p:set>
                                    <p:animEffect transition="in" filter="dissolve">
                                      <p:cBhvr>
                                        <p:cTn id="17" dur="500"/>
                                        <p:tgtEl>
                                          <p:spTgt spid="8201"/>
                                        </p:tgtEl>
                                      </p:cBhvr>
                                    </p:animEffect>
                                  </p:childTnLst>
                                  <p:subTnLst>
                                    <p:set>
                                      <p:cBhvr override="childStyle">
                                        <p:cTn dur="1" fill="hold" display="0" masterRel="nextClick" afterEffect="1"/>
                                        <p:tgtEl>
                                          <p:spTgt spid="820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0" grpId="0" autoUpdateAnimBg="0"/>
      <p:bldP spid="8201" grpId="0" autoUpdateAnimBg="0"/>
      <p:bldP spid="820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p>
            <a:fld id="{3C770AE4-45DE-4EFA-9FB7-3A1611424FD2}" type="slidenum">
              <a:rPr lang="en-US" altLang="zh-CN" smtClean="0"/>
              <a:pPr/>
              <a:t>4</a:t>
            </a:fld>
            <a:endParaRPr lang="en-US" altLang="zh-CN" smtClean="0"/>
          </a:p>
        </p:txBody>
      </p:sp>
      <p:sp>
        <p:nvSpPr>
          <p:cNvPr id="6147" name="Rectangle 2"/>
          <p:cNvSpPr>
            <a:spLocks noGrp="1" noChangeArrowheads="1"/>
          </p:cNvSpPr>
          <p:nvPr>
            <p:ph type="title"/>
          </p:nvPr>
        </p:nvSpPr>
        <p:spPr>
          <a:xfrm>
            <a:off x="468313" y="404813"/>
            <a:ext cx="7543800" cy="714375"/>
          </a:xfrm>
        </p:spPr>
        <p:txBody>
          <a:bodyPr/>
          <a:lstStyle/>
          <a:p>
            <a:pPr eaLnBrk="1" hangingPunct="1"/>
            <a:r>
              <a:rPr lang="en-US" altLang="zh-CN" dirty="0" smtClean="0"/>
              <a:t>7.2 </a:t>
            </a:r>
            <a:r>
              <a:rPr lang="zh-CN" altLang="en-US" dirty="0" smtClean="0">
                <a:hlinkClick r:id="rId2" action="ppaction://hlinkfile"/>
              </a:rPr>
              <a:t>磁盘存储设备</a:t>
            </a:r>
            <a:endParaRPr lang="zh-CN" altLang="en-US" dirty="0" smtClean="0"/>
          </a:p>
        </p:txBody>
      </p:sp>
      <p:sp>
        <p:nvSpPr>
          <p:cNvPr id="6148" name="Rectangle 3"/>
          <p:cNvSpPr>
            <a:spLocks noGrp="1" noChangeArrowheads="1"/>
          </p:cNvSpPr>
          <p:nvPr>
            <p:ph type="body" idx="1"/>
          </p:nvPr>
        </p:nvSpPr>
        <p:spPr>
          <a:xfrm>
            <a:off x="304800" y="1676400"/>
            <a:ext cx="8229600" cy="4824413"/>
          </a:xfrm>
        </p:spPr>
        <p:txBody>
          <a:bodyPr/>
          <a:lstStyle/>
          <a:p>
            <a:pPr eaLnBrk="1" hangingPunct="1">
              <a:lnSpc>
                <a:spcPct val="80000"/>
              </a:lnSpc>
              <a:buFont typeface="Wingdings" pitchFamily="2" charset="2"/>
              <a:buNone/>
            </a:pPr>
            <a:r>
              <a:rPr lang="en-US" altLang="zh-CN" sz="2400" smtClean="0"/>
              <a:t>7.2.1 </a:t>
            </a:r>
            <a:r>
              <a:rPr lang="zh-CN" altLang="en-US" sz="2400" smtClean="0"/>
              <a:t>磁记录原理</a:t>
            </a:r>
          </a:p>
          <a:p>
            <a:pPr eaLnBrk="1" hangingPunct="1">
              <a:lnSpc>
                <a:spcPct val="80000"/>
              </a:lnSpc>
            </a:pPr>
            <a:r>
              <a:rPr lang="zh-CN" altLang="en-US" sz="2400" smtClean="0"/>
              <a:t>计算机的外存储器又称磁表面存储设备。所谓磁表面存储，是用某些磁性材料薄薄地涂在金属铝或塑料表面作载磁体来存储信息。磁盘存储器、磁带存储器均属于磁表面存储器。磁表面存储器的优点：</a:t>
            </a:r>
          </a:p>
          <a:p>
            <a:pPr lvl="1" eaLnBrk="1" hangingPunct="1">
              <a:lnSpc>
                <a:spcPct val="80000"/>
              </a:lnSpc>
              <a:buFont typeface="Wingdings" pitchFamily="2" charset="2"/>
              <a:buNone/>
            </a:pPr>
            <a:r>
              <a:rPr lang="zh-CN" altLang="en-US" sz="2400" smtClean="0"/>
              <a:t>①存储容量大，位价格低；</a:t>
            </a:r>
          </a:p>
          <a:p>
            <a:pPr lvl="1" eaLnBrk="1" hangingPunct="1">
              <a:lnSpc>
                <a:spcPct val="80000"/>
              </a:lnSpc>
              <a:buFont typeface="Wingdings" pitchFamily="2" charset="2"/>
              <a:buNone/>
            </a:pPr>
            <a:r>
              <a:rPr lang="zh-CN" altLang="en-US" sz="2400" smtClean="0"/>
              <a:t>②记录介质可以重复使用；</a:t>
            </a:r>
          </a:p>
          <a:p>
            <a:pPr lvl="1" eaLnBrk="1" hangingPunct="1">
              <a:lnSpc>
                <a:spcPct val="80000"/>
              </a:lnSpc>
              <a:buFont typeface="Wingdings" pitchFamily="2" charset="2"/>
              <a:buNone/>
            </a:pPr>
            <a:r>
              <a:rPr lang="zh-CN" altLang="en-US" sz="2400" smtClean="0"/>
              <a:t>③记录信息可以长期保存而不丢失，甚至可以脱机存档；</a:t>
            </a:r>
          </a:p>
          <a:p>
            <a:pPr lvl="1" eaLnBrk="1" hangingPunct="1">
              <a:lnSpc>
                <a:spcPct val="80000"/>
              </a:lnSpc>
              <a:buFont typeface="Wingdings" pitchFamily="2" charset="2"/>
              <a:buNone/>
            </a:pPr>
            <a:r>
              <a:rPr lang="zh-CN" altLang="en-US" sz="2400" smtClean="0"/>
              <a:t>④非破坏性读出，读出时不需要再生信息。当然，磁表面存储器也有缺点，主要是存取速度较慢，机械结构复杂，对工作环境要求较高。</a:t>
            </a:r>
          </a:p>
          <a:p>
            <a:pPr eaLnBrk="1" hangingPunct="1">
              <a:lnSpc>
                <a:spcPct val="80000"/>
              </a:lnSpc>
            </a:pPr>
            <a:r>
              <a:rPr lang="zh-CN" altLang="en-US" sz="2400" smtClean="0"/>
              <a:t>磁表面存储器由于存储容量大，位成本低，在计算机系统中作为辅助大容量存储器使用，用以存放系统软件、大型文件、数据库等大量程序与数据信息。</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p>
            <a:fld id="{AC88301A-734E-4B38-A070-829E14072981}" type="slidenum">
              <a:rPr lang="en-US" altLang="zh-CN" smtClean="0"/>
              <a:pPr/>
              <a:t>5</a:t>
            </a:fld>
            <a:endParaRPr lang="en-US" altLang="zh-CN" smtClean="0"/>
          </a:p>
        </p:txBody>
      </p:sp>
      <p:sp>
        <p:nvSpPr>
          <p:cNvPr id="7171" name="Rectangle 3"/>
          <p:cNvSpPr>
            <a:spLocks noGrp="1" noChangeArrowheads="1"/>
          </p:cNvSpPr>
          <p:nvPr>
            <p:ph type="body" idx="1"/>
          </p:nvPr>
        </p:nvSpPr>
        <p:spPr>
          <a:xfrm>
            <a:off x="323850" y="333375"/>
            <a:ext cx="4895850" cy="6119813"/>
          </a:xfrm>
        </p:spPr>
        <p:txBody>
          <a:bodyPr/>
          <a:lstStyle/>
          <a:p>
            <a:pPr eaLnBrk="1" hangingPunct="1">
              <a:lnSpc>
                <a:spcPct val="80000"/>
              </a:lnSpc>
              <a:buFont typeface="Wingdings" pitchFamily="2" charset="2"/>
              <a:buNone/>
            </a:pPr>
            <a:r>
              <a:rPr lang="en-US" altLang="zh-CN" sz="2400" smtClean="0">
                <a:latin typeface="宋体" pitchFamily="2" charset="-122"/>
              </a:rPr>
              <a:t>1. </a:t>
            </a:r>
            <a:r>
              <a:rPr lang="zh-CN" altLang="en-US" sz="2400" smtClean="0">
                <a:latin typeface="宋体" pitchFamily="2" charset="-122"/>
              </a:rPr>
              <a:t>磁性材料的物理特性</a:t>
            </a:r>
          </a:p>
          <a:p>
            <a:pPr eaLnBrk="1" hangingPunct="1">
              <a:lnSpc>
                <a:spcPct val="80000"/>
              </a:lnSpc>
              <a:buFont typeface="Wingdings" pitchFamily="2" charset="2"/>
              <a:buNone/>
            </a:pPr>
            <a:r>
              <a:rPr lang="zh-CN" altLang="en-US" sz="2100" smtClean="0"/>
              <a:t>            从磁滞回线可以看出，磁性材料被磁化以后，工作点总是在磁滞回线上。只要外加的正向脉冲电流</a:t>
            </a:r>
            <a:r>
              <a:rPr lang="en-US" altLang="zh-CN" sz="2100" smtClean="0"/>
              <a:t>(</a:t>
            </a:r>
            <a:r>
              <a:rPr lang="zh-CN" altLang="en-US" sz="2100" smtClean="0"/>
              <a:t>即外加磁场</a:t>
            </a:r>
            <a:r>
              <a:rPr lang="en-US" altLang="zh-CN" sz="2100" smtClean="0"/>
              <a:t>)</a:t>
            </a:r>
            <a:r>
              <a:rPr lang="zh-CN" altLang="en-US" sz="2100" smtClean="0"/>
              <a:t>幅度足够大，那么在电流消失后磁感应强度</a:t>
            </a:r>
            <a:r>
              <a:rPr lang="en-US" altLang="zh-CN" sz="2100" smtClean="0"/>
              <a:t>B</a:t>
            </a:r>
            <a:r>
              <a:rPr lang="zh-CN" altLang="en-US" sz="2100" smtClean="0"/>
              <a:t>并不等于零，而是处在</a:t>
            </a:r>
            <a:r>
              <a:rPr lang="en-US" altLang="zh-CN" sz="2100" smtClean="0"/>
              <a:t>+Br</a:t>
            </a:r>
            <a:r>
              <a:rPr lang="zh-CN" altLang="en-US" sz="2100" smtClean="0"/>
              <a:t>状态</a:t>
            </a:r>
            <a:r>
              <a:rPr lang="en-US" altLang="zh-CN" sz="2100" smtClean="0"/>
              <a:t>(</a:t>
            </a:r>
            <a:r>
              <a:rPr lang="zh-CN" altLang="en-US" sz="2100" smtClean="0"/>
              <a:t>正剩磁状态</a:t>
            </a:r>
            <a:r>
              <a:rPr lang="en-US" altLang="zh-CN" sz="2100" smtClean="0"/>
              <a:t>)</a:t>
            </a:r>
            <a:r>
              <a:rPr lang="zh-CN" altLang="en-US" sz="2100" smtClean="0"/>
              <a:t>。反之，当外加负向脉冲电流时，磁感应强度</a:t>
            </a:r>
            <a:r>
              <a:rPr lang="en-US" altLang="zh-CN" sz="2100" smtClean="0"/>
              <a:t>B</a:t>
            </a:r>
            <a:r>
              <a:rPr lang="zh-CN" altLang="en-US" sz="2100" smtClean="0"/>
              <a:t>将处在</a:t>
            </a:r>
            <a:r>
              <a:rPr lang="en-US" altLang="zh-CN" sz="2100" smtClean="0"/>
              <a:t>-Br</a:t>
            </a:r>
            <a:r>
              <a:rPr lang="zh-CN" altLang="en-US" sz="2100" smtClean="0"/>
              <a:t>状态</a:t>
            </a:r>
            <a:r>
              <a:rPr lang="en-US" altLang="zh-CN" sz="2100" smtClean="0"/>
              <a:t>(</a:t>
            </a:r>
            <a:r>
              <a:rPr lang="zh-CN" altLang="en-US" sz="2100" smtClean="0"/>
              <a:t>负剩磁状态</a:t>
            </a:r>
            <a:r>
              <a:rPr lang="en-US" altLang="zh-CN" sz="2100" smtClean="0"/>
              <a:t>)</a:t>
            </a:r>
            <a:r>
              <a:rPr lang="zh-CN" altLang="en-US" sz="2100" smtClean="0"/>
              <a:t>。</a:t>
            </a:r>
          </a:p>
          <a:p>
            <a:pPr eaLnBrk="1" hangingPunct="1">
              <a:lnSpc>
                <a:spcPct val="80000"/>
              </a:lnSpc>
              <a:buFont typeface="Wingdings" pitchFamily="2" charset="2"/>
              <a:buNone/>
            </a:pPr>
            <a:r>
              <a:rPr lang="zh-CN" altLang="en-US" sz="2100" smtClean="0"/>
              <a:t>             当磁性材料被磁化后，会形成两个稳定的剩磁状态，就像触发器电路有两个稳定的状态一样。如果规定用</a:t>
            </a:r>
            <a:r>
              <a:rPr lang="en-US" altLang="zh-CN" sz="2100" smtClean="0"/>
              <a:t>+Br</a:t>
            </a:r>
            <a:r>
              <a:rPr lang="zh-CN" altLang="en-US" sz="2100" smtClean="0"/>
              <a:t>状态表示代码“</a:t>
            </a:r>
            <a:r>
              <a:rPr lang="en-US" altLang="zh-CN" sz="2100" smtClean="0"/>
              <a:t>1”</a:t>
            </a:r>
            <a:r>
              <a:rPr lang="zh-CN" altLang="en-US" sz="2100" smtClean="0"/>
              <a:t>，</a:t>
            </a:r>
            <a:r>
              <a:rPr lang="en-US" altLang="zh-CN" sz="2100" smtClean="0"/>
              <a:t>-Br</a:t>
            </a:r>
            <a:r>
              <a:rPr lang="zh-CN" altLang="en-US" sz="2100" smtClean="0"/>
              <a:t>状态表示代码“</a:t>
            </a:r>
            <a:r>
              <a:rPr lang="en-US" altLang="zh-CN" sz="2100" smtClean="0"/>
              <a:t>0”</a:t>
            </a:r>
            <a:r>
              <a:rPr lang="zh-CN" altLang="en-US" sz="2100" smtClean="0"/>
              <a:t>，那么要使磁性材料记忆“</a:t>
            </a:r>
            <a:r>
              <a:rPr lang="en-US" altLang="zh-CN" sz="2100" smtClean="0"/>
              <a:t>1”</a:t>
            </a:r>
            <a:r>
              <a:rPr lang="zh-CN" altLang="en-US" sz="2100" smtClean="0"/>
              <a:t>，就要加正向脉冲电流，使磁性材料正向磁化；要使磁性材料记忆“</a:t>
            </a:r>
            <a:r>
              <a:rPr lang="en-US" altLang="zh-CN" sz="2100" smtClean="0"/>
              <a:t>0 ”</a:t>
            </a:r>
            <a:r>
              <a:rPr lang="zh-CN" altLang="en-US" sz="2100" smtClean="0"/>
              <a:t>，则要加负向脉冲电流，使磁性材料反向磁化。</a:t>
            </a:r>
          </a:p>
          <a:p>
            <a:pPr eaLnBrk="1" hangingPunct="1">
              <a:lnSpc>
                <a:spcPct val="80000"/>
              </a:lnSpc>
              <a:buFont typeface="Wingdings" pitchFamily="2" charset="2"/>
              <a:buNone/>
            </a:pPr>
            <a:r>
              <a:rPr lang="zh-CN" altLang="en-US" sz="2100" smtClean="0"/>
              <a:t>            磁性材料上呈现剩磁状态的地方形成了一个</a:t>
            </a:r>
            <a:r>
              <a:rPr lang="zh-CN" altLang="en-US" sz="2100" b="1" smtClean="0"/>
              <a:t>磁化元</a:t>
            </a:r>
            <a:r>
              <a:rPr lang="zh-CN" altLang="en-US" sz="2100" smtClean="0"/>
              <a:t>或</a:t>
            </a:r>
            <a:r>
              <a:rPr lang="zh-CN" altLang="en-US" sz="2100" b="1" smtClean="0"/>
              <a:t>存储元</a:t>
            </a:r>
            <a:r>
              <a:rPr lang="zh-CN" altLang="en-US" sz="2100" smtClean="0"/>
              <a:t>，它是记录一个二进制信息位的最小单位。</a:t>
            </a:r>
          </a:p>
        </p:txBody>
      </p:sp>
      <p:pic>
        <p:nvPicPr>
          <p:cNvPr id="7172" name="Picture 4" descr="7a2"/>
          <p:cNvPicPr>
            <a:picLocks noChangeAspect="1" noChangeArrowheads="1"/>
          </p:cNvPicPr>
          <p:nvPr/>
        </p:nvPicPr>
        <p:blipFill>
          <a:blip r:embed="rId2"/>
          <a:srcRect/>
          <a:stretch>
            <a:fillRect/>
          </a:stretch>
        </p:blipFill>
        <p:spPr bwMode="auto">
          <a:xfrm>
            <a:off x="5364163" y="1125538"/>
            <a:ext cx="2749550" cy="4679950"/>
          </a:xfrm>
          <a:prstGeom prst="rect">
            <a:avLst/>
          </a:prstGeom>
          <a:noFill/>
          <a:ln w="9525">
            <a:noFill/>
            <a:miter lim="800000"/>
            <a:headEnd/>
            <a:tailEnd/>
          </a:ln>
        </p:spPr>
      </p:pic>
      <p:pic>
        <p:nvPicPr>
          <p:cNvPr id="7173" name="Picture 6">
            <a:hlinkClick r:id="rId3" action="ppaction://hlinkfile"/>
          </p:cNvPr>
          <p:cNvPicPr>
            <a:picLocks noChangeAspect="1" noChangeArrowheads="1"/>
          </p:cNvPicPr>
          <p:nvPr/>
        </p:nvPicPr>
        <p:blipFill>
          <a:blip r:embed="rId4"/>
          <a:srcRect/>
          <a:stretch>
            <a:fillRect/>
          </a:stretch>
        </p:blipFill>
        <p:spPr bwMode="auto">
          <a:xfrm>
            <a:off x="8172450" y="4076700"/>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p>
            <a:fld id="{22276A20-FD36-4B83-84FA-3A217A2442F7}" type="slidenum">
              <a:rPr lang="en-US" altLang="zh-CN" smtClean="0"/>
              <a:pPr/>
              <a:t>6</a:t>
            </a:fld>
            <a:endParaRPr lang="en-US" altLang="zh-CN" smtClean="0"/>
          </a:p>
        </p:txBody>
      </p:sp>
      <p:sp>
        <p:nvSpPr>
          <p:cNvPr id="8195" name="Rectangle 3"/>
          <p:cNvSpPr>
            <a:spLocks noGrp="1" noChangeArrowheads="1"/>
          </p:cNvSpPr>
          <p:nvPr>
            <p:ph type="body" idx="1"/>
          </p:nvPr>
        </p:nvSpPr>
        <p:spPr>
          <a:xfrm>
            <a:off x="107950" y="115888"/>
            <a:ext cx="7921625" cy="1368425"/>
          </a:xfrm>
        </p:spPr>
        <p:txBody>
          <a:bodyPr/>
          <a:lstStyle/>
          <a:p>
            <a:pPr eaLnBrk="1" hangingPunct="1">
              <a:lnSpc>
                <a:spcPct val="80000"/>
              </a:lnSpc>
              <a:buFont typeface="Wingdings" pitchFamily="2" charset="2"/>
              <a:buNone/>
            </a:pPr>
            <a:r>
              <a:rPr lang="en-US" altLang="zh-CN" sz="2400" smtClean="0">
                <a:latin typeface="宋体" pitchFamily="2" charset="-122"/>
              </a:rPr>
              <a:t>2.</a:t>
            </a:r>
            <a:r>
              <a:rPr lang="zh-CN" altLang="en-US" sz="2400" smtClean="0">
                <a:latin typeface="宋体" pitchFamily="2" charset="-122"/>
              </a:rPr>
              <a:t>磁表面存储器的读写原理</a:t>
            </a:r>
          </a:p>
          <a:p>
            <a:pPr eaLnBrk="1" hangingPunct="1">
              <a:lnSpc>
                <a:spcPct val="80000"/>
              </a:lnSpc>
              <a:buFont typeface="Wingdings" pitchFamily="2" charset="2"/>
              <a:buNone/>
            </a:pPr>
            <a:r>
              <a:rPr lang="zh-CN" altLang="en-US" sz="2400" smtClean="0">
                <a:latin typeface="宋体" pitchFamily="2" charset="-122"/>
              </a:rPr>
              <a:t>      </a:t>
            </a:r>
            <a:r>
              <a:rPr lang="zh-CN" altLang="en-US" sz="2000" smtClean="0">
                <a:latin typeface="宋体" pitchFamily="2" charset="-122"/>
              </a:rPr>
              <a:t>在磁表面存储器中，利用一种称为磁头的装置来形成和判别磁层中的不同磁化状态。磁头实际上是由软磁材料做铁芯绕有读写线圈的电磁铁。</a:t>
            </a:r>
          </a:p>
        </p:txBody>
      </p:sp>
      <p:sp>
        <p:nvSpPr>
          <p:cNvPr id="8196" name="Rectangle 6"/>
          <p:cNvSpPr>
            <a:spLocks noChangeArrowheads="1"/>
          </p:cNvSpPr>
          <p:nvPr/>
        </p:nvSpPr>
        <p:spPr bwMode="auto">
          <a:xfrm>
            <a:off x="179388" y="5084763"/>
            <a:ext cx="8713787" cy="1616075"/>
          </a:xfrm>
          <a:prstGeom prst="rect">
            <a:avLst/>
          </a:prstGeom>
          <a:noFill/>
          <a:ln w="9525">
            <a:noFill/>
            <a:miter lim="800000"/>
            <a:headEnd/>
            <a:tailEnd/>
          </a:ln>
        </p:spPr>
        <p:txBody>
          <a:bodyPr anchor="ctr">
            <a:spAutoFit/>
          </a:bodyPr>
          <a:lstStyle/>
          <a:p>
            <a:pPr eaLnBrk="0" hangingPunct="0"/>
            <a:r>
              <a:rPr lang="en-US" altLang="zh-CN" sz="2000">
                <a:latin typeface="宋体" pitchFamily="2" charset="-122"/>
              </a:rPr>
              <a:t>    </a:t>
            </a:r>
            <a:r>
              <a:rPr lang="zh-CN" altLang="en-US" sz="2000">
                <a:latin typeface="宋体" pitchFamily="2" charset="-122"/>
              </a:rPr>
              <a:t>若在写线圈里通入相反方向的脉冲电流，就可得到相反极性的磁化元。如果我们规定按图中所示电流方向为写“</a:t>
            </a:r>
            <a:r>
              <a:rPr lang="en-US" altLang="zh-CN" sz="2000">
                <a:latin typeface="宋体" pitchFamily="2" charset="-122"/>
              </a:rPr>
              <a:t>1 ”</a:t>
            </a:r>
            <a:r>
              <a:rPr lang="zh-CN" altLang="en-US" sz="2000">
                <a:latin typeface="宋体" pitchFamily="2" charset="-122"/>
              </a:rPr>
              <a:t>，那么写线圈里通以相反方向的电流时即为写“</a:t>
            </a:r>
            <a:r>
              <a:rPr lang="en-US" altLang="zh-CN" sz="2000">
                <a:latin typeface="宋体" pitchFamily="2" charset="-122"/>
              </a:rPr>
              <a:t>0”</a:t>
            </a:r>
            <a:r>
              <a:rPr lang="zh-CN" altLang="en-US" sz="2000">
                <a:latin typeface="宋体" pitchFamily="2" charset="-122"/>
              </a:rPr>
              <a:t>。上述过程称为</a:t>
            </a:r>
            <a:r>
              <a:rPr lang="zh-CN" altLang="en-US" sz="2000" b="1">
                <a:solidFill>
                  <a:srgbClr val="FF0000"/>
                </a:solidFill>
                <a:latin typeface="宋体" pitchFamily="2" charset="-122"/>
              </a:rPr>
              <a:t>写入</a:t>
            </a:r>
            <a:r>
              <a:rPr lang="zh-CN" altLang="en-US" sz="2000">
                <a:latin typeface="宋体" pitchFamily="2" charset="-122"/>
              </a:rPr>
              <a:t>。显然，一个磁化元就是一个存储元，一个磁化元中存储一位二进制信息。当载磁体相对于磁头运动时 ，就可以连续写入一连串的二进制信息。</a:t>
            </a:r>
          </a:p>
        </p:txBody>
      </p:sp>
      <p:sp>
        <p:nvSpPr>
          <p:cNvPr id="8197" name="Rectangle 8"/>
          <p:cNvSpPr>
            <a:spLocks noChangeArrowheads="1"/>
          </p:cNvSpPr>
          <p:nvPr/>
        </p:nvSpPr>
        <p:spPr bwMode="auto">
          <a:xfrm>
            <a:off x="6156325" y="1268413"/>
            <a:ext cx="2736850" cy="3749675"/>
          </a:xfrm>
          <a:prstGeom prst="rect">
            <a:avLst/>
          </a:prstGeom>
          <a:noFill/>
          <a:ln w="9525">
            <a:noFill/>
            <a:miter lim="800000"/>
            <a:headEnd/>
            <a:tailEnd/>
          </a:ln>
        </p:spPr>
        <p:txBody>
          <a:bodyPr anchor="ctr">
            <a:spAutoFit/>
          </a:bodyPr>
          <a:lstStyle/>
          <a:p>
            <a:pPr eaLnBrk="0" hangingPunct="0"/>
            <a:r>
              <a:rPr lang="en-US" altLang="zh-CN" sz="2000" b="1">
                <a:latin typeface="宋体" pitchFamily="2" charset="-122"/>
              </a:rPr>
              <a:t>(1)</a:t>
            </a:r>
            <a:r>
              <a:rPr lang="zh-CN" altLang="en-US" sz="2000" b="1">
                <a:latin typeface="宋体" pitchFamily="2" charset="-122"/>
              </a:rPr>
              <a:t>写操作</a:t>
            </a:r>
            <a:endParaRPr lang="zh-CN" altLang="en-US" sz="2000">
              <a:latin typeface="宋体" pitchFamily="2" charset="-122"/>
            </a:endParaRPr>
          </a:p>
          <a:p>
            <a:pPr eaLnBrk="0" hangingPunct="0"/>
            <a:r>
              <a:rPr lang="zh-CN" altLang="en-US" sz="2000">
                <a:latin typeface="宋体" pitchFamily="2" charset="-122"/>
              </a:rPr>
              <a:t>　　当写线圈中通过一定方向的脉冲电流时，铁芯内就产生一定方向的磁通。由于铁芯是高导磁率材料，而铁芯空隙处为非磁性材料，故在铁芯空隙处集中很强的磁场。在这个磁场作用下，载磁体就被磁化成相应极性的磁化位或磁化元。</a:t>
            </a:r>
          </a:p>
        </p:txBody>
      </p:sp>
      <p:pic>
        <p:nvPicPr>
          <p:cNvPr id="8198" name="Picture 9"/>
          <p:cNvPicPr>
            <a:picLocks noChangeAspect="1" noChangeArrowheads="1"/>
          </p:cNvPicPr>
          <p:nvPr/>
        </p:nvPicPr>
        <p:blipFill>
          <a:blip r:embed="rId2"/>
          <a:srcRect/>
          <a:stretch>
            <a:fillRect/>
          </a:stretch>
        </p:blipFill>
        <p:spPr bwMode="auto">
          <a:xfrm>
            <a:off x="250825" y="1341438"/>
            <a:ext cx="5834063" cy="3641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p:spPr>
        <p:txBody>
          <a:bodyPr/>
          <a:lstStyle/>
          <a:p>
            <a:fld id="{A537B7F3-A77E-4BE1-B547-4919F0D4A23C}" type="slidenum">
              <a:rPr lang="en-US" altLang="zh-CN" smtClean="0"/>
              <a:pPr/>
              <a:t>7</a:t>
            </a:fld>
            <a:endParaRPr lang="en-US" altLang="zh-CN" smtClean="0"/>
          </a:p>
        </p:txBody>
      </p:sp>
      <p:sp>
        <p:nvSpPr>
          <p:cNvPr id="9219" name="Rectangle 4"/>
          <p:cNvSpPr>
            <a:spLocks noChangeArrowheads="1"/>
          </p:cNvSpPr>
          <p:nvPr/>
        </p:nvSpPr>
        <p:spPr bwMode="auto">
          <a:xfrm>
            <a:off x="179388" y="260350"/>
            <a:ext cx="7777162" cy="1981200"/>
          </a:xfrm>
          <a:prstGeom prst="rect">
            <a:avLst/>
          </a:prstGeom>
          <a:noFill/>
          <a:ln w="9525">
            <a:noFill/>
            <a:miter lim="800000"/>
            <a:headEnd/>
            <a:tailEnd/>
          </a:ln>
        </p:spPr>
        <p:txBody>
          <a:bodyPr anchor="ctr">
            <a:spAutoFit/>
          </a:bodyPr>
          <a:lstStyle/>
          <a:p>
            <a:pPr eaLnBrk="0" hangingPunct="0"/>
            <a:r>
              <a:rPr lang="en-US" altLang="zh-CN" sz="2400" b="1">
                <a:latin typeface="宋体" pitchFamily="2" charset="-122"/>
              </a:rPr>
              <a:t>(2)</a:t>
            </a:r>
            <a:r>
              <a:rPr lang="zh-CN" altLang="en-US" sz="2400" b="1">
                <a:latin typeface="宋体" pitchFamily="2" charset="-122"/>
              </a:rPr>
              <a:t>读操作</a:t>
            </a:r>
            <a:r>
              <a:rPr lang="zh-CN" altLang="en-US" sz="2400">
                <a:latin typeface="宋体" pitchFamily="2" charset="-122"/>
              </a:rPr>
              <a:t> </a:t>
            </a:r>
          </a:p>
          <a:p>
            <a:pPr eaLnBrk="0" hangingPunct="0"/>
            <a:r>
              <a:rPr lang="zh-CN" altLang="en-US" sz="2000">
                <a:latin typeface="宋体" pitchFamily="2" charset="-122"/>
              </a:rPr>
              <a:t>　　当磁头经过载磁体的磁化元时，由于磁头铁芯是良好的导磁材料，磁化元的磁力线很容易通过磁头而形成闭合磁通回路。不同极性的磁化元在铁芯里的方向是不同的。当磁头对载磁体作相对运动时，由于磁头铁芯中磁通的变化，使读出线圈中感应出相应的电动势</a:t>
            </a:r>
            <a:r>
              <a:rPr lang="en-US" altLang="zh-CN" sz="2000">
                <a:latin typeface="宋体" pitchFamily="2" charset="-122"/>
              </a:rPr>
              <a:t>e</a:t>
            </a:r>
            <a:r>
              <a:rPr lang="zh-CN" altLang="en-US" sz="2000">
                <a:latin typeface="宋体" pitchFamily="2" charset="-122"/>
              </a:rPr>
              <a:t>，其值为</a:t>
            </a:r>
          </a:p>
        </p:txBody>
      </p:sp>
      <p:pic>
        <p:nvPicPr>
          <p:cNvPr id="9220" name="Picture 5" descr="7"/>
          <p:cNvPicPr>
            <a:picLocks noChangeAspect="1" noChangeArrowheads="1"/>
          </p:cNvPicPr>
          <p:nvPr/>
        </p:nvPicPr>
        <p:blipFill>
          <a:blip r:embed="rId2"/>
          <a:srcRect/>
          <a:stretch>
            <a:fillRect/>
          </a:stretch>
        </p:blipFill>
        <p:spPr bwMode="auto">
          <a:xfrm>
            <a:off x="-4413250" y="1038225"/>
            <a:ext cx="866775" cy="428625"/>
          </a:xfrm>
          <a:prstGeom prst="rect">
            <a:avLst/>
          </a:prstGeom>
          <a:noFill/>
          <a:ln w="9525">
            <a:noFill/>
            <a:miter lim="800000"/>
            <a:headEnd/>
            <a:tailEnd/>
          </a:ln>
        </p:spPr>
      </p:pic>
      <p:sp>
        <p:nvSpPr>
          <p:cNvPr id="9221" name="Rectangle 7"/>
          <p:cNvSpPr>
            <a:spLocks noChangeArrowheads="1"/>
          </p:cNvSpPr>
          <p:nvPr/>
        </p:nvSpPr>
        <p:spPr bwMode="auto">
          <a:xfrm>
            <a:off x="7092950" y="2420938"/>
            <a:ext cx="1728788" cy="3937000"/>
          </a:xfrm>
          <a:prstGeom prst="rect">
            <a:avLst/>
          </a:prstGeom>
          <a:noFill/>
          <a:ln w="9525">
            <a:noFill/>
            <a:miter lim="800000"/>
            <a:headEnd/>
            <a:tailEnd/>
          </a:ln>
        </p:spPr>
        <p:txBody>
          <a:bodyPr>
            <a:spAutoFit/>
          </a:bodyPr>
          <a:lstStyle/>
          <a:p>
            <a:r>
              <a:rPr lang="en-US" altLang="zh-CN"/>
              <a:t> </a:t>
            </a:r>
            <a:r>
              <a:rPr lang="zh-CN" altLang="en-US"/>
              <a:t>　   负号表示感应电势的方向与磁通的变化方向相反。不同的磁化状态，所产生的感应电势方向 不同。这样，不同方向的感应电势经读出放大器放大鉴别，就可判知读出的信息是“</a:t>
            </a:r>
            <a:r>
              <a:rPr lang="en-US" altLang="zh-CN"/>
              <a:t>1”</a:t>
            </a:r>
            <a:r>
              <a:rPr lang="zh-CN" altLang="en-US"/>
              <a:t>还 是“</a:t>
            </a:r>
            <a:r>
              <a:rPr lang="en-US" altLang="zh-CN"/>
              <a:t>0”</a:t>
            </a:r>
            <a:r>
              <a:rPr lang="zh-CN" altLang="en-US"/>
              <a:t>。</a:t>
            </a:r>
          </a:p>
        </p:txBody>
      </p:sp>
      <p:pic>
        <p:nvPicPr>
          <p:cNvPr id="9222" name="Picture 8" descr="7"/>
          <p:cNvPicPr>
            <a:picLocks noChangeAspect="1" noChangeArrowheads="1"/>
          </p:cNvPicPr>
          <p:nvPr/>
        </p:nvPicPr>
        <p:blipFill>
          <a:blip r:embed="rId2"/>
          <a:srcRect/>
          <a:stretch>
            <a:fillRect/>
          </a:stretch>
        </p:blipFill>
        <p:spPr bwMode="auto">
          <a:xfrm>
            <a:off x="1763713" y="1916113"/>
            <a:ext cx="1079500" cy="533400"/>
          </a:xfrm>
          <a:prstGeom prst="rect">
            <a:avLst/>
          </a:prstGeom>
          <a:noFill/>
          <a:ln w="9525">
            <a:noFill/>
            <a:miter lim="800000"/>
            <a:headEnd/>
            <a:tailEnd/>
          </a:ln>
        </p:spPr>
      </p:pic>
      <p:pic>
        <p:nvPicPr>
          <p:cNvPr id="9223" name="Picture 9"/>
          <p:cNvPicPr>
            <a:picLocks noChangeAspect="1" noChangeArrowheads="1"/>
          </p:cNvPicPr>
          <p:nvPr/>
        </p:nvPicPr>
        <p:blipFill>
          <a:blip r:embed="rId3"/>
          <a:srcRect/>
          <a:stretch>
            <a:fillRect/>
          </a:stretch>
        </p:blipFill>
        <p:spPr bwMode="auto">
          <a:xfrm>
            <a:off x="323850" y="2420938"/>
            <a:ext cx="6769100" cy="4032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p>
            <a:fld id="{9951E799-D92D-4C36-ADAE-29A7E78B2565}" type="slidenum">
              <a:rPr lang="en-US" altLang="zh-CN" smtClean="0"/>
              <a:pPr/>
              <a:t>8</a:t>
            </a:fld>
            <a:endParaRPr lang="en-US" altLang="zh-CN" smtClean="0"/>
          </a:p>
        </p:txBody>
      </p:sp>
      <p:sp>
        <p:nvSpPr>
          <p:cNvPr id="10243" name="Rectangle 3"/>
          <p:cNvSpPr>
            <a:spLocks noGrp="1" noChangeArrowheads="1"/>
          </p:cNvSpPr>
          <p:nvPr>
            <p:ph type="body" idx="1"/>
          </p:nvPr>
        </p:nvSpPr>
        <p:spPr>
          <a:xfrm>
            <a:off x="250825" y="260350"/>
            <a:ext cx="4537075" cy="6264275"/>
          </a:xfrm>
        </p:spPr>
        <p:txBody>
          <a:bodyPr/>
          <a:lstStyle/>
          <a:p>
            <a:pPr eaLnBrk="1" hangingPunct="1">
              <a:lnSpc>
                <a:spcPct val="80000"/>
              </a:lnSpc>
              <a:buFont typeface="Wingdings" pitchFamily="2" charset="2"/>
              <a:buNone/>
            </a:pPr>
            <a:r>
              <a:rPr lang="en-US" altLang="zh-CN" sz="2800" b="1" smtClean="0">
                <a:latin typeface="宋体" pitchFamily="2" charset="-122"/>
              </a:rPr>
              <a:t>(3)</a:t>
            </a:r>
            <a:r>
              <a:rPr lang="zh-CN" altLang="en-US" sz="2800" b="1" smtClean="0">
                <a:latin typeface="宋体" pitchFamily="2" charset="-122"/>
              </a:rPr>
              <a:t>记录方式的写读波形图</a:t>
            </a:r>
          </a:p>
          <a:p>
            <a:pPr eaLnBrk="1" hangingPunct="1">
              <a:lnSpc>
                <a:spcPct val="80000"/>
              </a:lnSpc>
              <a:buFont typeface="Wingdings" pitchFamily="2" charset="2"/>
              <a:buNone/>
            </a:pPr>
            <a:endParaRPr lang="zh-CN" altLang="en-US" sz="2800" b="1" smtClean="0">
              <a:latin typeface="宋体" pitchFamily="2" charset="-122"/>
            </a:endParaRPr>
          </a:p>
          <a:p>
            <a:pPr eaLnBrk="1" hangingPunct="1">
              <a:lnSpc>
                <a:spcPct val="80000"/>
              </a:lnSpc>
            </a:pPr>
            <a:r>
              <a:rPr lang="zh-CN" altLang="en-US" sz="2400" smtClean="0">
                <a:latin typeface="宋体" pitchFamily="2" charset="-122"/>
              </a:rPr>
              <a:t>通过电</a:t>
            </a:r>
            <a:r>
              <a:rPr lang="en-US" altLang="zh-CN" sz="2400" smtClean="0">
                <a:latin typeface="宋体" pitchFamily="2" charset="-122"/>
              </a:rPr>
              <a:t>-</a:t>
            </a:r>
            <a:r>
              <a:rPr lang="zh-CN" altLang="en-US" sz="2400" smtClean="0">
                <a:latin typeface="宋体" pitchFamily="2" charset="-122"/>
              </a:rPr>
              <a:t>磁变换，利用磁头写线圈中的脉冲电流，可把一位二进制代码转换成载磁体存储元的不同剩磁状态；反之，通过磁</a:t>
            </a:r>
            <a:r>
              <a:rPr lang="en-US" altLang="zh-CN" sz="2400" smtClean="0">
                <a:latin typeface="宋体" pitchFamily="2" charset="-122"/>
              </a:rPr>
              <a:t>-</a:t>
            </a:r>
            <a:r>
              <a:rPr lang="zh-CN" altLang="en-US" sz="2400" smtClean="0">
                <a:latin typeface="宋体" pitchFamily="2" charset="-122"/>
              </a:rPr>
              <a:t>电变换，利用磁头读出线圈，可将由存储元的不同剩磁状态表示的二进制代码转换成电信号输出。这就是磁表面存储器存取信息的原理。</a:t>
            </a:r>
          </a:p>
          <a:p>
            <a:pPr eaLnBrk="1" hangingPunct="1">
              <a:lnSpc>
                <a:spcPct val="80000"/>
              </a:lnSpc>
            </a:pPr>
            <a:r>
              <a:rPr lang="zh-CN" altLang="en-US" sz="2400" smtClean="0">
                <a:latin typeface="宋体" pitchFamily="2" charset="-122"/>
              </a:rPr>
              <a:t>磁层上的存储元被磁化后，它可以供多次读出而不被破坏。当不需要这批信息时，可通过磁头把磁层上所记录的信息全部抹去，称之为写“</a:t>
            </a:r>
            <a:r>
              <a:rPr lang="en-US" altLang="zh-CN" sz="2400" smtClean="0">
                <a:latin typeface="宋体" pitchFamily="2" charset="-122"/>
              </a:rPr>
              <a:t>0”</a:t>
            </a:r>
            <a:r>
              <a:rPr lang="zh-CN" altLang="en-US" sz="2400" smtClean="0">
                <a:latin typeface="宋体" pitchFamily="2" charset="-122"/>
              </a:rPr>
              <a:t>。通常，写入和读出是合用一个磁头，故称之为读写磁头。每个读写磁头对应着一个信息记录磁道。</a:t>
            </a:r>
          </a:p>
        </p:txBody>
      </p:sp>
      <p:pic>
        <p:nvPicPr>
          <p:cNvPr id="10244" name="Picture 7"/>
          <p:cNvPicPr>
            <a:picLocks noChangeAspect="1" noChangeArrowheads="1"/>
          </p:cNvPicPr>
          <p:nvPr/>
        </p:nvPicPr>
        <p:blipFill>
          <a:blip r:embed="rId2"/>
          <a:srcRect/>
          <a:stretch>
            <a:fillRect/>
          </a:stretch>
        </p:blipFill>
        <p:spPr bwMode="auto">
          <a:xfrm>
            <a:off x="4643438" y="981075"/>
            <a:ext cx="4265612" cy="5184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p:spPr>
        <p:txBody>
          <a:bodyPr/>
          <a:lstStyle/>
          <a:p>
            <a:fld id="{092F8B11-F5FB-4FA9-B30A-F5725E7BD787}" type="slidenum">
              <a:rPr lang="en-US" altLang="zh-CN" smtClean="0"/>
              <a:pPr/>
              <a:t>9</a:t>
            </a:fld>
            <a:endParaRPr lang="en-US" altLang="zh-CN" smtClean="0"/>
          </a:p>
        </p:txBody>
      </p:sp>
      <p:pic>
        <p:nvPicPr>
          <p:cNvPr id="11267" name="Picture 5" descr="7"/>
          <p:cNvPicPr>
            <a:picLocks noChangeAspect="1" noChangeArrowheads="1"/>
          </p:cNvPicPr>
          <p:nvPr/>
        </p:nvPicPr>
        <p:blipFill>
          <a:blip r:embed="rId2"/>
          <a:srcRect/>
          <a:stretch>
            <a:fillRect/>
          </a:stretch>
        </p:blipFill>
        <p:spPr bwMode="auto">
          <a:xfrm>
            <a:off x="395288" y="2771775"/>
            <a:ext cx="7705725" cy="3681413"/>
          </a:xfrm>
          <a:prstGeom prst="rect">
            <a:avLst/>
          </a:prstGeom>
          <a:noFill/>
          <a:ln w="9525">
            <a:noFill/>
            <a:miter lim="800000"/>
            <a:headEnd/>
            <a:tailEnd/>
          </a:ln>
        </p:spPr>
      </p:pic>
      <p:sp>
        <p:nvSpPr>
          <p:cNvPr id="11268" name="Rectangle 6"/>
          <p:cNvSpPr>
            <a:spLocks noChangeArrowheads="1"/>
          </p:cNvSpPr>
          <p:nvPr/>
        </p:nvSpPr>
        <p:spPr bwMode="auto">
          <a:xfrm>
            <a:off x="323850" y="188913"/>
            <a:ext cx="4095750" cy="519112"/>
          </a:xfrm>
          <a:prstGeom prst="rect">
            <a:avLst/>
          </a:prstGeom>
          <a:noFill/>
          <a:ln w="9525">
            <a:noFill/>
            <a:miter lim="800000"/>
            <a:headEnd/>
            <a:tailEnd/>
          </a:ln>
        </p:spPr>
        <p:txBody>
          <a:bodyPr wrap="none">
            <a:spAutoFit/>
          </a:bodyPr>
          <a:lstStyle/>
          <a:p>
            <a:r>
              <a:rPr lang="en-US" altLang="zh-CN" sz="2800">
                <a:latin typeface="宋体" pitchFamily="2" charset="-122"/>
              </a:rPr>
              <a:t>7.2.2 </a:t>
            </a:r>
            <a:r>
              <a:rPr lang="zh-CN" altLang="en-US" sz="2800">
                <a:latin typeface="宋体" pitchFamily="2" charset="-122"/>
              </a:rPr>
              <a:t>磁盘的组成和分类</a:t>
            </a:r>
          </a:p>
        </p:txBody>
      </p:sp>
      <p:sp>
        <p:nvSpPr>
          <p:cNvPr id="11269" name="Rectangle 8"/>
          <p:cNvSpPr>
            <a:spLocks noChangeArrowheads="1"/>
          </p:cNvSpPr>
          <p:nvPr/>
        </p:nvSpPr>
        <p:spPr bwMode="auto">
          <a:xfrm>
            <a:off x="250825" y="692150"/>
            <a:ext cx="8642350" cy="1917700"/>
          </a:xfrm>
          <a:prstGeom prst="rect">
            <a:avLst/>
          </a:prstGeom>
          <a:solidFill>
            <a:srgbClr val="CCFFFF"/>
          </a:solidFill>
          <a:ln w="9525">
            <a:noFill/>
            <a:miter lim="800000"/>
            <a:headEnd/>
            <a:tailEnd/>
          </a:ln>
        </p:spPr>
        <p:txBody>
          <a:bodyPr>
            <a:spAutoFit/>
          </a:bodyPr>
          <a:lstStyle/>
          <a:p>
            <a:r>
              <a:rPr lang="en-US" altLang="zh-CN" sz="2400" b="1">
                <a:solidFill>
                  <a:srgbClr val="FF0000"/>
                </a:solidFill>
                <a:latin typeface="宋体" pitchFamily="2" charset="-122"/>
              </a:rPr>
              <a:t>    </a:t>
            </a:r>
            <a:r>
              <a:rPr lang="zh-CN" altLang="en-US" sz="2400" b="1">
                <a:solidFill>
                  <a:srgbClr val="FF0000"/>
                </a:solidFill>
                <a:latin typeface="宋体" pitchFamily="2" charset="-122"/>
              </a:rPr>
              <a:t>硬磁盘</a:t>
            </a:r>
            <a:r>
              <a:rPr lang="zh-CN" altLang="en-US" sz="2400">
                <a:latin typeface="宋体" pitchFamily="2" charset="-122"/>
              </a:rPr>
              <a:t>是指记录介质为硬质圆形盘片的磁表面存储器。它主要由</a:t>
            </a:r>
            <a:r>
              <a:rPr lang="zh-CN" altLang="en-US" sz="2400" b="1">
                <a:solidFill>
                  <a:srgbClr val="FF0000"/>
                </a:solidFill>
                <a:latin typeface="宋体" pitchFamily="2" charset="-122"/>
              </a:rPr>
              <a:t>磁记录介质、磁盘控制器、磁盘驱动器</a:t>
            </a:r>
            <a:r>
              <a:rPr lang="zh-CN" altLang="en-US" sz="2400">
                <a:latin typeface="宋体" pitchFamily="2" charset="-122"/>
              </a:rPr>
              <a:t>三大部分组成。磁盘控制器包括控制逻辑与时序、数据并</a:t>
            </a:r>
            <a:r>
              <a:rPr lang="en-US" altLang="zh-CN" sz="2400">
                <a:latin typeface="宋体" pitchFamily="2" charset="-122"/>
              </a:rPr>
              <a:t>-</a:t>
            </a:r>
            <a:r>
              <a:rPr lang="zh-CN" altLang="en-US" sz="2400">
                <a:latin typeface="宋体" pitchFamily="2" charset="-122"/>
              </a:rPr>
              <a:t>串变换电路和串</a:t>
            </a:r>
            <a:r>
              <a:rPr lang="en-US" altLang="zh-CN" sz="2400">
                <a:latin typeface="宋体" pitchFamily="2" charset="-122"/>
              </a:rPr>
              <a:t>-</a:t>
            </a:r>
            <a:r>
              <a:rPr lang="zh-CN" altLang="en-US" sz="2400">
                <a:latin typeface="宋体" pitchFamily="2" charset="-122"/>
              </a:rPr>
              <a:t>并变换电路。磁盘驱动器包括写入电路与读出电路、读写转换开关、读写磁头与磁头定位伺服系统等。</a:t>
            </a:r>
          </a:p>
        </p:txBody>
      </p:sp>
      <p:sp>
        <p:nvSpPr>
          <p:cNvPr id="66569" name="Rectangle 9"/>
          <p:cNvSpPr>
            <a:spLocks noChangeArrowheads="1"/>
          </p:cNvSpPr>
          <p:nvPr/>
        </p:nvSpPr>
        <p:spPr bwMode="auto">
          <a:xfrm>
            <a:off x="152400" y="152400"/>
            <a:ext cx="8763000" cy="2654300"/>
          </a:xfrm>
          <a:prstGeom prst="rect">
            <a:avLst/>
          </a:prstGeom>
          <a:solidFill>
            <a:schemeClr val="accent1"/>
          </a:solidFill>
          <a:ln w="9525">
            <a:noFill/>
            <a:miter lim="800000"/>
            <a:headEnd/>
            <a:tailEnd/>
          </a:ln>
        </p:spPr>
        <p:txBody>
          <a:bodyPr anchor="ctr">
            <a:spAutoFit/>
          </a:bodyPr>
          <a:lstStyle/>
          <a:p>
            <a:r>
              <a:rPr lang="zh-CN" altLang="en-US" sz="2800" b="1">
                <a:latin typeface="宋体" pitchFamily="2" charset="-122"/>
              </a:rPr>
              <a:t>　　读出时</a:t>
            </a:r>
            <a:r>
              <a:rPr lang="zh-CN" altLang="en-US" sz="2800">
                <a:latin typeface="宋体" pitchFamily="2" charset="-122"/>
              </a:rPr>
              <a:t>，当记录介质相对磁头运动时，位磁化存储元形成的空间磁场在读磁头线圈中产生感应电势，此读出信息经放大检测就可还原成原来存入的数据。由于数据是一位一位串行读出的，故要送至串</a:t>
            </a:r>
            <a:r>
              <a:rPr lang="en-US" altLang="zh-CN" sz="2800">
                <a:latin typeface="宋体" pitchFamily="2" charset="-122"/>
              </a:rPr>
              <a:t>-</a:t>
            </a:r>
            <a:r>
              <a:rPr lang="zh-CN" altLang="en-US" sz="2800">
                <a:latin typeface="宋体" pitchFamily="2" charset="-122"/>
              </a:rPr>
              <a:t>并变换寄存器变换为并行数据，再并行送至计算机。</a:t>
            </a:r>
          </a:p>
          <a:p>
            <a:endParaRPr lang="en-US" altLang="zh-CN" sz="2800">
              <a:latin typeface="宋体" pitchFamily="2" charset="-122"/>
            </a:endParaRPr>
          </a:p>
        </p:txBody>
      </p:sp>
      <p:sp>
        <p:nvSpPr>
          <p:cNvPr id="66570" name="Rectangle 10"/>
          <p:cNvSpPr>
            <a:spLocks noChangeArrowheads="1"/>
          </p:cNvSpPr>
          <p:nvPr/>
        </p:nvSpPr>
        <p:spPr bwMode="auto">
          <a:xfrm>
            <a:off x="152400" y="152400"/>
            <a:ext cx="8794750" cy="2654300"/>
          </a:xfrm>
          <a:prstGeom prst="rect">
            <a:avLst/>
          </a:prstGeom>
          <a:solidFill>
            <a:schemeClr val="accent1"/>
          </a:solidFill>
          <a:ln w="9525">
            <a:noFill/>
            <a:miter lim="800000"/>
            <a:headEnd/>
            <a:tailEnd/>
          </a:ln>
        </p:spPr>
        <p:txBody>
          <a:bodyPr anchor="ctr">
            <a:spAutoFit/>
          </a:bodyPr>
          <a:lstStyle/>
          <a:p>
            <a:r>
              <a:rPr lang="en-US" altLang="zh-CN" sz="2400" b="1">
                <a:latin typeface="宋体" pitchFamily="2" charset="-122"/>
              </a:rPr>
              <a:t>    </a:t>
            </a:r>
            <a:r>
              <a:rPr lang="zh-CN" altLang="en-US" sz="2800" b="1">
                <a:latin typeface="宋体" pitchFamily="2" charset="-122"/>
              </a:rPr>
              <a:t>写入时</a:t>
            </a:r>
            <a:r>
              <a:rPr lang="zh-CN" altLang="en-US" sz="2800">
                <a:latin typeface="宋体" pitchFamily="2" charset="-122"/>
              </a:rPr>
              <a:t>，将计算机并行送来的数据取至并</a:t>
            </a:r>
            <a:r>
              <a:rPr lang="en-US" altLang="zh-CN" sz="2800">
                <a:latin typeface="宋体" pitchFamily="2" charset="-122"/>
              </a:rPr>
              <a:t>-</a:t>
            </a:r>
            <a:r>
              <a:rPr lang="zh-CN" altLang="en-US" sz="2800">
                <a:latin typeface="宋体" pitchFamily="2" charset="-122"/>
              </a:rPr>
              <a:t>串变换寄存器，变为串行数据，然后一位一位地由写电流驱动器作功率放大并加到写磁头线圈上产生电流，从而在盘片磁层上形成按位的磁化存储元。</a:t>
            </a:r>
          </a:p>
          <a:p>
            <a:endParaRPr lang="zh-CN" altLang="en-US" sz="2800">
              <a:latin typeface="宋体" pitchFamily="2" charset="-122"/>
            </a:endParaRPr>
          </a:p>
          <a:p>
            <a:endParaRPr lang="en-US" altLang="zh-CN" sz="2800">
              <a:latin typeface="宋体" pitchFamily="2" charset="-122"/>
            </a:endParaRPr>
          </a:p>
        </p:txBody>
      </p:sp>
      <p:pic>
        <p:nvPicPr>
          <p:cNvPr id="11272" name="Picture 11">
            <a:hlinkClick r:id="rId3" action="ppaction://hlinkfile"/>
          </p:cNvPr>
          <p:cNvPicPr>
            <a:picLocks noChangeAspect="1" noChangeArrowheads="1"/>
          </p:cNvPicPr>
          <p:nvPr/>
        </p:nvPicPr>
        <p:blipFill>
          <a:blip r:embed="rId4"/>
          <a:srcRect/>
          <a:stretch>
            <a:fillRect/>
          </a:stretch>
        </p:blipFill>
        <p:spPr bwMode="auto">
          <a:xfrm>
            <a:off x="8172450" y="4076700"/>
            <a:ext cx="409575"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570"/>
                                        </p:tgtEl>
                                        <p:attrNameLst>
                                          <p:attrName>style.visibility</p:attrName>
                                        </p:attrNameLst>
                                      </p:cBhvr>
                                      <p:to>
                                        <p:strVal val="visible"/>
                                      </p:to>
                                    </p:set>
                                    <p:animEffect transition="in" filter="dissolve">
                                      <p:cBhvr>
                                        <p:cTn id="7" dur="500"/>
                                        <p:tgtEl>
                                          <p:spTgt spid="66570"/>
                                        </p:tgtEl>
                                      </p:cBhvr>
                                    </p:animEffect>
                                  </p:childTnLst>
                                  <p:subTnLst>
                                    <p:set>
                                      <p:cBhvr override="childStyle">
                                        <p:cTn dur="1" fill="hold" display="0" masterRel="nextClick" afterEffect="1"/>
                                        <p:tgtEl>
                                          <p:spTgt spid="6657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6569"/>
                                        </p:tgtEl>
                                        <p:attrNameLst>
                                          <p:attrName>style.visibility</p:attrName>
                                        </p:attrNameLst>
                                      </p:cBhvr>
                                      <p:to>
                                        <p:strVal val="visible"/>
                                      </p:to>
                                    </p:set>
                                    <p:animEffect transition="in" filter="dissolve">
                                      <p:cBhvr>
                                        <p:cTn id="12" dur="500"/>
                                        <p:tgtEl>
                                          <p:spTgt spid="66569"/>
                                        </p:tgtEl>
                                      </p:cBhvr>
                                    </p:animEffect>
                                  </p:childTnLst>
                                  <p:subTnLst>
                                    <p:set>
                                      <p:cBhvr override="childStyle">
                                        <p:cTn dur="1" fill="hold" display="0" masterRel="nextClick" afterEffect="1"/>
                                        <p:tgtEl>
                                          <p:spTgt spid="6656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9" grpId="0" animBg="1" autoUpdateAnimBg="0"/>
      <p:bldP spid="66570"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p>
            <a:fld id="{FA3B3F3C-7DF6-4F31-8D7A-29A9987A9240}" type="slidenum">
              <a:rPr lang="en-US" altLang="zh-CN" smtClean="0"/>
              <a:pPr/>
              <a:t>10</a:t>
            </a:fld>
            <a:endParaRPr lang="en-US" altLang="zh-CN" smtClean="0"/>
          </a:p>
        </p:txBody>
      </p:sp>
      <p:sp>
        <p:nvSpPr>
          <p:cNvPr id="12291" name="Rectangle 6"/>
          <p:cNvSpPr>
            <a:spLocks noChangeArrowheads="1"/>
          </p:cNvSpPr>
          <p:nvPr/>
        </p:nvSpPr>
        <p:spPr bwMode="auto">
          <a:xfrm>
            <a:off x="96825" y="114808"/>
            <a:ext cx="8949296" cy="6597447"/>
          </a:xfrm>
          <a:prstGeom prst="rect">
            <a:avLst/>
          </a:prstGeom>
          <a:solidFill>
            <a:srgbClr val="CCFFFF"/>
          </a:solidFill>
          <a:ln w="9525">
            <a:noFill/>
            <a:miter lim="800000"/>
            <a:headEnd/>
            <a:tailEnd/>
          </a:ln>
        </p:spPr>
        <p:txBody>
          <a:bodyPr wrap="square" anchor="ctr">
            <a:spAutoFit/>
          </a:bodyPr>
          <a:lstStyle/>
          <a:p>
            <a:pPr>
              <a:lnSpc>
                <a:spcPct val="125000"/>
              </a:lnSpc>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硬磁盘</a:t>
            </a:r>
            <a:r>
              <a:rPr lang="zh-CN" altLang="en-US" sz="2000" dirty="0">
                <a:latin typeface="微软雅黑" panose="020B0503020204020204" pitchFamily="34" charset="-122"/>
                <a:ea typeface="微软雅黑" panose="020B0503020204020204" pitchFamily="34" charset="-122"/>
              </a:rPr>
              <a:t>按盘片结构分成可换盘片式与固定盘片式两种；磁头也分为可移动磁头和固定磁头两种。</a:t>
            </a:r>
          </a:p>
          <a:p>
            <a:pPr>
              <a:lnSpc>
                <a:spcPct val="125000"/>
              </a:lnSpc>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可移动磁头固定盘片的磁盘机</a:t>
            </a:r>
            <a:r>
              <a:rPr lang="zh-CN" altLang="en-US" sz="2000" dirty="0">
                <a:latin typeface="微软雅黑" panose="020B0503020204020204" pitchFamily="34" charset="-122"/>
                <a:ea typeface="微软雅黑" panose="020B0503020204020204" pitchFamily="34" charset="-122"/>
              </a:rPr>
              <a:t> </a:t>
            </a:r>
          </a:p>
          <a:p>
            <a:pPr>
              <a:lnSpc>
                <a:spcPct val="125000"/>
              </a:lnSpc>
            </a:pPr>
            <a:r>
              <a:rPr lang="zh-CN" altLang="en-US" sz="2000" dirty="0">
                <a:latin typeface="微软雅黑" panose="020B0503020204020204" pitchFamily="34" charset="-122"/>
                <a:ea typeface="微软雅黑" panose="020B0503020204020204" pitchFamily="34" charset="-122"/>
              </a:rPr>
              <a:t>    特点是一片或一组盘片固定在主轴上，盘片不可更换。盘片每面只有一个磁头，存取数据时磁头沿盘面径向移动。</a:t>
            </a:r>
          </a:p>
          <a:p>
            <a:pPr>
              <a:lnSpc>
                <a:spcPct val="125000"/>
              </a:lnSpc>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固定磁头磁盘机</a:t>
            </a:r>
          </a:p>
          <a:p>
            <a:pPr>
              <a:lnSpc>
                <a:spcPct val="125000"/>
              </a:lnSpc>
            </a:pPr>
            <a:r>
              <a:rPr lang="zh-CN" altLang="en-US"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 特点是磁头位置固定，磁盘的每一个磁道对应一个磁头，盘片不可更换。优点是存取速度快，省去磁头找道时间，缺点是结构复杂。</a:t>
            </a:r>
          </a:p>
          <a:p>
            <a:pPr>
              <a:lnSpc>
                <a:spcPct val="125000"/>
              </a:lnSpc>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可移动磁头可换盘片的磁盘机</a:t>
            </a:r>
            <a:r>
              <a:rPr lang="zh-CN" altLang="en-US" sz="2000" dirty="0">
                <a:latin typeface="微软雅黑" panose="020B0503020204020204" pitchFamily="34" charset="-122"/>
                <a:ea typeface="微软雅黑" panose="020B0503020204020204" pitchFamily="34" charset="-122"/>
              </a:rPr>
              <a:t> </a:t>
            </a:r>
          </a:p>
          <a:p>
            <a:pPr>
              <a:lnSpc>
                <a:spcPct val="125000"/>
              </a:lnSpc>
            </a:pPr>
            <a:r>
              <a:rPr lang="zh-CN" altLang="en-US" sz="2000" dirty="0">
                <a:latin typeface="微软雅黑" panose="020B0503020204020204" pitchFamily="34" charset="-122"/>
                <a:ea typeface="微软雅黑" panose="020B0503020204020204" pitchFamily="34" charset="-122"/>
              </a:rPr>
              <a:t>    盘片可以更换，磁头可沿盘面径向移动。优点是盘片可以脱机保存，同种型号的盘片具有互换性</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ct val="125000"/>
              </a:lnSpc>
            </a:pPr>
            <a:r>
              <a:rPr lang="en-US" altLang="zh-CN" sz="2000" b="1" dirty="0" smtClean="0">
                <a:latin typeface="微软雅黑" panose="020B0503020204020204" pitchFamily="34" charset="-122"/>
                <a:ea typeface="微软雅黑" panose="020B0503020204020204" pitchFamily="34" charset="-122"/>
              </a:rPr>
              <a:t>(4)</a:t>
            </a:r>
            <a:r>
              <a:rPr lang="zh-CN" altLang="en-US" sz="2000" b="1" dirty="0" smtClean="0">
                <a:latin typeface="微软雅黑" panose="020B0503020204020204" pitchFamily="34" charset="-122"/>
                <a:ea typeface="微软雅黑" panose="020B0503020204020204" pitchFamily="34" charset="-122"/>
              </a:rPr>
              <a:t>温彻斯特磁盘机（简称</a:t>
            </a:r>
            <a:r>
              <a:rPr lang="zh-CN" altLang="en-US" sz="2000" b="1" dirty="0">
                <a:latin typeface="微软雅黑" panose="020B0503020204020204" pitchFamily="34" charset="-122"/>
                <a:ea typeface="微软雅黑" panose="020B0503020204020204" pitchFamily="34" charset="-122"/>
              </a:rPr>
              <a:t>温</a:t>
            </a:r>
            <a:r>
              <a:rPr lang="zh-CN" altLang="en-US" sz="2000" b="1" dirty="0" smtClean="0">
                <a:latin typeface="微软雅黑" panose="020B0503020204020204" pitchFamily="34" charset="-122"/>
                <a:ea typeface="微软雅黑" panose="020B0503020204020204" pitchFamily="34" charset="-122"/>
              </a:rPr>
              <a:t>盘）</a:t>
            </a:r>
            <a:endParaRPr lang="en-US" altLang="zh-CN" sz="2000" b="1" dirty="0" smtClean="0">
              <a:latin typeface="微软雅黑" panose="020B0503020204020204" pitchFamily="34" charset="-122"/>
              <a:ea typeface="微软雅黑" panose="020B0503020204020204" pitchFamily="34" charset="-122"/>
            </a:endParaRPr>
          </a:p>
          <a:p>
            <a:pPr>
              <a:lnSpc>
                <a:spcPct val="125000"/>
              </a:lnSpc>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是</a:t>
            </a:r>
            <a:r>
              <a:rPr lang="zh-CN" altLang="en-US" sz="2000" dirty="0">
                <a:latin typeface="微软雅黑" panose="020B0503020204020204" pitchFamily="34" charset="-122"/>
                <a:ea typeface="微软雅黑" panose="020B0503020204020204" pitchFamily="34" charset="-122"/>
              </a:rPr>
              <a:t>一种采用先进技术研制的可移动磁头固定盘片的磁盘机。它是一种密封组合式的硬磁盘，即磁头、盘片、电机等驱动部件乃至读写电路等组装成一个不可随意拆卸的整体。工作时，高速旋转在盘面上形成的气垫将磁头平稳浮起。优点是防尘性能好，可靠性高，对使用环境要求不高，成为最有代表性的硬磁盘存储器。而普通的硬磁盘要求具有超净环境，只能用于大型计算机中。</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p>
            <a:fld id="{EFE6B12B-D8DF-4FD0-9631-E3DF5E9CE2CA}" type="slidenum">
              <a:rPr lang="en-US" altLang="zh-CN" smtClean="0"/>
              <a:pPr/>
              <a:t>11</a:t>
            </a:fld>
            <a:endParaRPr lang="en-US" altLang="zh-CN" smtClean="0"/>
          </a:p>
        </p:txBody>
      </p:sp>
      <p:sp>
        <p:nvSpPr>
          <p:cNvPr id="14339" name="Rectangle 5"/>
          <p:cNvSpPr>
            <a:spLocks noChangeArrowheads="1"/>
          </p:cNvSpPr>
          <p:nvPr/>
        </p:nvSpPr>
        <p:spPr bwMode="auto">
          <a:xfrm>
            <a:off x="250825" y="333375"/>
            <a:ext cx="8424863" cy="3141663"/>
          </a:xfrm>
          <a:prstGeom prst="rect">
            <a:avLst/>
          </a:prstGeom>
          <a:noFill/>
          <a:ln w="9525">
            <a:noFill/>
            <a:miter lim="800000"/>
            <a:headEnd/>
            <a:tailEnd/>
          </a:ln>
        </p:spPr>
        <p:txBody>
          <a:bodyPr>
            <a:spAutoFit/>
          </a:bodyPr>
          <a:lstStyle/>
          <a:p>
            <a:r>
              <a:rPr lang="en-US" altLang="zh-CN" sz="3200">
                <a:latin typeface="宋体" pitchFamily="2" charset="-122"/>
              </a:rPr>
              <a:t>7.2.3 </a:t>
            </a:r>
            <a:r>
              <a:rPr lang="zh-CN" altLang="en-US" sz="3200">
                <a:latin typeface="宋体" pitchFamily="2" charset="-122"/>
              </a:rPr>
              <a:t>磁盘驱动器和控制器</a:t>
            </a:r>
          </a:p>
          <a:p>
            <a:r>
              <a:rPr lang="en-US" altLang="zh-CN" sz="2800" b="1">
                <a:latin typeface="宋体" pitchFamily="2" charset="-122"/>
              </a:rPr>
              <a:t>1.</a:t>
            </a:r>
            <a:r>
              <a:rPr lang="zh-CN" altLang="en-US" sz="2800" b="1">
                <a:latin typeface="宋体" pitchFamily="2" charset="-122"/>
              </a:rPr>
              <a:t>磁盘驱动器</a:t>
            </a:r>
          </a:p>
          <a:p>
            <a:r>
              <a:rPr lang="zh-CN" altLang="en-US" sz="2800" b="1">
                <a:latin typeface="宋体" pitchFamily="2" charset="-122"/>
              </a:rPr>
              <a:t>    磁盘驱动器</a:t>
            </a:r>
            <a:r>
              <a:rPr lang="zh-CN" altLang="en-US" sz="2800">
                <a:latin typeface="宋体" pitchFamily="2" charset="-122"/>
              </a:rPr>
              <a:t>是一种精密的电子和机械装置，因此各部件的加工安装有严格的技术要求。对温盘驱动器，还要求在超净环境下组装。各类磁盘驱动器的具体结构虽然有差别，但基本结构相同，主要由</a:t>
            </a:r>
            <a:r>
              <a:rPr lang="zh-CN" altLang="en-US" sz="2800" b="1">
                <a:latin typeface="宋体" pitchFamily="2" charset="-122"/>
              </a:rPr>
              <a:t>定位驱动系统、主轴系统和数据转换系统</a:t>
            </a:r>
            <a:r>
              <a:rPr lang="zh-CN" altLang="en-US" sz="2800">
                <a:latin typeface="宋体" pitchFamily="2" charset="-122"/>
              </a:rPr>
              <a:t>组成。 </a:t>
            </a:r>
          </a:p>
        </p:txBody>
      </p:sp>
      <p:pic>
        <p:nvPicPr>
          <p:cNvPr id="14340" name="Picture 6" descr="7a6">
            <a:hlinkClick r:id="rId2"/>
          </p:cNvPr>
          <p:cNvPicPr>
            <a:picLocks noChangeAspect="1" noChangeArrowheads="1"/>
          </p:cNvPicPr>
          <p:nvPr/>
        </p:nvPicPr>
        <p:blipFill>
          <a:blip r:embed="rId3"/>
          <a:srcRect/>
          <a:stretch>
            <a:fillRect/>
          </a:stretch>
        </p:blipFill>
        <p:spPr bwMode="auto">
          <a:xfrm>
            <a:off x="539750" y="3500438"/>
            <a:ext cx="7561263" cy="3168650"/>
          </a:xfrm>
          <a:prstGeom prst="rect">
            <a:avLst/>
          </a:prstGeom>
          <a:noFill/>
          <a:ln w="9525">
            <a:noFill/>
            <a:miter lim="800000"/>
            <a:headEnd/>
            <a:tailEnd/>
          </a:ln>
        </p:spPr>
      </p:pic>
      <p:pic>
        <p:nvPicPr>
          <p:cNvPr id="14341" name="Picture 7">
            <a:hlinkClick r:id="rId4" action="ppaction://hlinkfile"/>
          </p:cNvPr>
          <p:cNvPicPr>
            <a:picLocks noChangeAspect="1" noChangeArrowheads="1"/>
          </p:cNvPicPr>
          <p:nvPr/>
        </p:nvPicPr>
        <p:blipFill>
          <a:blip r:embed="rId5"/>
          <a:srcRect/>
          <a:stretch>
            <a:fillRect/>
          </a:stretch>
        </p:blipFill>
        <p:spPr bwMode="auto">
          <a:xfrm>
            <a:off x="8172450" y="4437063"/>
            <a:ext cx="409575" cy="381000"/>
          </a:xfrm>
          <a:prstGeom prst="rect">
            <a:avLst/>
          </a:prstGeom>
          <a:noFill/>
          <a:ln w="9525">
            <a:noFill/>
            <a:miter lim="800000"/>
            <a:headEnd/>
            <a:tailEnd/>
          </a:ln>
        </p:spPr>
      </p:pic>
      <p:sp>
        <p:nvSpPr>
          <p:cNvPr id="16392" name="Rectangle 8"/>
          <p:cNvSpPr>
            <a:spLocks noChangeArrowheads="1"/>
          </p:cNvSpPr>
          <p:nvPr/>
        </p:nvSpPr>
        <p:spPr bwMode="auto">
          <a:xfrm>
            <a:off x="152400" y="914400"/>
            <a:ext cx="8713788" cy="2647950"/>
          </a:xfrm>
          <a:prstGeom prst="rect">
            <a:avLst/>
          </a:prstGeom>
          <a:solidFill>
            <a:srgbClr val="CCFFFF"/>
          </a:solidFill>
          <a:ln w="9525">
            <a:noFill/>
            <a:miter lim="800000"/>
            <a:headEnd/>
            <a:tailEnd/>
          </a:ln>
        </p:spPr>
        <p:txBody>
          <a:bodyPr anchor="ctr">
            <a:spAutoFit/>
          </a:bodyPr>
          <a:lstStyle/>
          <a:p>
            <a:r>
              <a:rPr lang="zh-CN" altLang="en-US" sz="2400" b="1">
                <a:latin typeface="宋体" pitchFamily="2" charset="-122"/>
              </a:rPr>
              <a:t>磁头</a:t>
            </a:r>
            <a:endParaRPr lang="zh-CN" altLang="en-US" sz="2400">
              <a:latin typeface="宋体" pitchFamily="2" charset="-122"/>
            </a:endParaRPr>
          </a:p>
          <a:p>
            <a:r>
              <a:rPr lang="zh-CN" altLang="en-US" sz="2400" b="1">
                <a:latin typeface="宋体" pitchFamily="2" charset="-122"/>
              </a:rPr>
              <a:t>　　</a:t>
            </a:r>
            <a:r>
              <a:rPr lang="zh-CN" altLang="en-US" sz="2400">
                <a:latin typeface="宋体" pitchFamily="2" charset="-122"/>
              </a:rPr>
              <a:t>温盘的磁头采用接触启停式。所谓接触启停是指在读写操作时磁头浮空，不与盘面记录区相接触，以免划伤记录区。但由于磁头的浮起要依靠盘片高速旋转时产生的气垫浮力，因此在启动前和停止后，磁头将仍与盘面接触。在读写时，磁头与盘面之间的间隙极小，这样，磁头在通以写电流后，盘面的磁化单元很小，记录密度可以大大提高。 </a:t>
            </a:r>
          </a:p>
        </p:txBody>
      </p:sp>
      <p:sp>
        <p:nvSpPr>
          <p:cNvPr id="16393" name="Rectangle 9"/>
          <p:cNvSpPr>
            <a:spLocks noChangeArrowheads="1"/>
          </p:cNvSpPr>
          <p:nvPr/>
        </p:nvSpPr>
        <p:spPr bwMode="auto">
          <a:xfrm>
            <a:off x="152400" y="152400"/>
            <a:ext cx="8713788" cy="3378200"/>
          </a:xfrm>
          <a:prstGeom prst="rect">
            <a:avLst/>
          </a:prstGeom>
          <a:solidFill>
            <a:srgbClr val="CCFFFF"/>
          </a:solidFill>
          <a:ln w="9525">
            <a:noFill/>
            <a:miter lim="800000"/>
            <a:headEnd/>
            <a:tailEnd/>
          </a:ln>
        </p:spPr>
        <p:txBody>
          <a:bodyPr anchor="ctr">
            <a:spAutoFit/>
          </a:bodyPr>
          <a:lstStyle/>
          <a:p>
            <a:r>
              <a:rPr lang="zh-CN" altLang="en-US" sz="2400" b="1">
                <a:latin typeface="宋体" pitchFamily="2" charset="-122"/>
              </a:rPr>
              <a:t>磁头定位系统</a:t>
            </a:r>
            <a:r>
              <a:rPr lang="zh-CN" altLang="en-US" sz="2400">
                <a:latin typeface="宋体" pitchFamily="2" charset="-122"/>
              </a:rPr>
              <a:t/>
            </a:r>
            <a:br>
              <a:rPr lang="zh-CN" altLang="en-US" sz="2400">
                <a:latin typeface="宋体" pitchFamily="2" charset="-122"/>
              </a:rPr>
            </a:br>
            <a:r>
              <a:rPr lang="zh-CN" altLang="en-US" sz="2400" b="1">
                <a:latin typeface="宋体" pitchFamily="2" charset="-122"/>
              </a:rPr>
              <a:t>　　</a:t>
            </a:r>
            <a:r>
              <a:rPr lang="zh-CN" altLang="en-US" sz="2400">
                <a:latin typeface="宋体" pitchFamily="2" charset="-122"/>
              </a:rPr>
              <a:t>磁头定位系统驱动磁头沿盘面径向移动寻道并精确定位。磁头定位系统应包括以下操作：</a:t>
            </a:r>
            <a:br>
              <a:rPr lang="zh-CN" altLang="en-US" sz="2400">
                <a:latin typeface="宋体" pitchFamily="2" charset="-122"/>
              </a:rPr>
            </a:br>
            <a:r>
              <a:rPr lang="zh-CN" altLang="en-US" sz="2400">
                <a:latin typeface="宋体" pitchFamily="2" charset="-122"/>
              </a:rPr>
              <a:t>①硬盘驱动器启动后，或是中途寻道出错后，要使磁头准确地回到</a:t>
            </a:r>
            <a:r>
              <a:rPr lang="en-US" altLang="zh-CN" sz="2400">
                <a:latin typeface="宋体" pitchFamily="2" charset="-122"/>
              </a:rPr>
              <a:t>0</a:t>
            </a:r>
            <a:r>
              <a:rPr lang="zh-CN" altLang="en-US" sz="2400">
                <a:latin typeface="宋体" pitchFamily="2" charset="-122"/>
              </a:rPr>
              <a:t>号磁道，以等待寻道命令。</a:t>
            </a:r>
            <a:br>
              <a:rPr lang="zh-CN" altLang="en-US" sz="2400">
                <a:latin typeface="宋体" pitchFamily="2" charset="-122"/>
              </a:rPr>
            </a:br>
            <a:r>
              <a:rPr lang="zh-CN" altLang="en-US" sz="2400">
                <a:latin typeface="宋体" pitchFamily="2" charset="-122"/>
              </a:rPr>
              <a:t>②要能快速、准确地将磁头移到指定磁道的中心位置。</a:t>
            </a:r>
            <a:br>
              <a:rPr lang="zh-CN" altLang="en-US" sz="2400">
                <a:latin typeface="宋体" pitchFamily="2" charset="-122"/>
              </a:rPr>
            </a:br>
            <a:r>
              <a:rPr lang="zh-CN" altLang="en-US" sz="2400">
                <a:latin typeface="宋体" pitchFamily="2" charset="-122"/>
              </a:rPr>
              <a:t>③当硬盘驱动器发生故障或掉电后，要使磁头迅速退出盘面数据区，以保护盘面免受擦伤。</a:t>
            </a:r>
          </a:p>
          <a:p>
            <a:r>
              <a:rPr lang="zh-CN" altLang="en-US" sz="2400">
                <a:latin typeface="宋体" pitchFamily="2" charset="-122"/>
              </a:rPr>
              <a:t> </a:t>
            </a:r>
          </a:p>
        </p:txBody>
      </p:sp>
      <p:sp>
        <p:nvSpPr>
          <p:cNvPr id="16394" name="Rectangle 10"/>
          <p:cNvSpPr>
            <a:spLocks noChangeArrowheads="1"/>
          </p:cNvSpPr>
          <p:nvPr/>
        </p:nvSpPr>
        <p:spPr bwMode="auto">
          <a:xfrm>
            <a:off x="152400" y="152400"/>
            <a:ext cx="8713788" cy="3378200"/>
          </a:xfrm>
          <a:prstGeom prst="rect">
            <a:avLst/>
          </a:prstGeom>
          <a:solidFill>
            <a:srgbClr val="CCFFFF"/>
          </a:solidFill>
          <a:ln w="9525">
            <a:noFill/>
            <a:miter lim="800000"/>
            <a:headEnd/>
            <a:tailEnd/>
          </a:ln>
        </p:spPr>
        <p:txBody>
          <a:bodyPr anchor="ctr">
            <a:spAutoFit/>
          </a:bodyPr>
          <a:lstStyle/>
          <a:p>
            <a:r>
              <a:rPr lang="zh-CN" altLang="en-US" sz="2400"/>
              <a:t>磁头定位系统有两种类型：</a:t>
            </a:r>
            <a:br>
              <a:rPr lang="zh-CN" altLang="en-US" sz="2400"/>
            </a:br>
            <a:r>
              <a:rPr lang="zh-CN" altLang="en-US" sz="2400"/>
              <a:t>       ⑴步进电机定位机构</a:t>
            </a:r>
            <a:br>
              <a:rPr lang="zh-CN" altLang="en-US" sz="2400"/>
            </a:br>
            <a:r>
              <a:rPr lang="zh-CN" altLang="en-US" sz="2400"/>
              <a:t>       在道密度不是很高的小容量磁盘中，一般采用步进电机驱动。整个定位机构是一个开环系统。步进电机定位机构的结构紧凑、控制简单，但定位精度比较低。</a:t>
            </a:r>
            <a:br>
              <a:rPr lang="zh-CN" altLang="en-US" sz="2400"/>
            </a:br>
            <a:r>
              <a:rPr lang="zh-CN" altLang="en-US" sz="2400"/>
              <a:t>        ⑵音圈电机定位机构</a:t>
            </a:r>
            <a:br>
              <a:rPr lang="zh-CN" altLang="en-US" sz="2400"/>
            </a:br>
            <a:r>
              <a:rPr lang="zh-CN" altLang="en-US" sz="2400"/>
              <a:t>       在道密度较高的磁盘中，多采用音圈电机驱动。整个定位系统是一个带有速度和位置反馈的闭环调节自动控制系统，其特点是寻道速度快，定位精度高。</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92"/>
                                        </p:tgtEl>
                                        <p:attrNameLst>
                                          <p:attrName>style.visibility</p:attrName>
                                        </p:attrNameLst>
                                      </p:cBhvr>
                                      <p:to>
                                        <p:strVal val="visible"/>
                                      </p:to>
                                    </p:set>
                                    <p:animEffect transition="in" filter="dissolve">
                                      <p:cBhvr>
                                        <p:cTn id="7" dur="500"/>
                                        <p:tgtEl>
                                          <p:spTgt spid="16392"/>
                                        </p:tgtEl>
                                      </p:cBhvr>
                                    </p:animEffect>
                                  </p:childTnLst>
                                  <p:subTnLst>
                                    <p:set>
                                      <p:cBhvr override="childStyle">
                                        <p:cTn dur="1" fill="hold" display="0" masterRel="nextClick" afterEffect="1"/>
                                        <p:tgtEl>
                                          <p:spTgt spid="1639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393"/>
                                        </p:tgtEl>
                                        <p:attrNameLst>
                                          <p:attrName>style.visibility</p:attrName>
                                        </p:attrNameLst>
                                      </p:cBhvr>
                                      <p:to>
                                        <p:strVal val="visible"/>
                                      </p:to>
                                    </p:set>
                                    <p:animEffect transition="in" filter="dissolve">
                                      <p:cBhvr>
                                        <p:cTn id="12" dur="500"/>
                                        <p:tgtEl>
                                          <p:spTgt spid="16393"/>
                                        </p:tgtEl>
                                      </p:cBhvr>
                                    </p:animEffect>
                                  </p:childTnLst>
                                  <p:subTnLst>
                                    <p:set>
                                      <p:cBhvr override="childStyle">
                                        <p:cTn dur="1" fill="hold" display="0" masterRel="nextClick" afterEffect="1"/>
                                        <p:tgtEl>
                                          <p:spTgt spid="1639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394"/>
                                        </p:tgtEl>
                                        <p:attrNameLst>
                                          <p:attrName>style.visibility</p:attrName>
                                        </p:attrNameLst>
                                      </p:cBhvr>
                                      <p:to>
                                        <p:strVal val="visible"/>
                                      </p:to>
                                    </p:set>
                                    <p:animEffect transition="in" filter="dissolve">
                                      <p:cBhvr>
                                        <p:cTn id="17" dur="500"/>
                                        <p:tgtEl>
                                          <p:spTgt spid="16394"/>
                                        </p:tgtEl>
                                      </p:cBhvr>
                                    </p:animEffect>
                                  </p:childTnLst>
                                  <p:subTnLst>
                                    <p:set>
                                      <p:cBhvr override="childStyle">
                                        <p:cTn dur="1" fill="hold" display="0" masterRel="nextClick" afterEffect="1"/>
                                        <p:tgtEl>
                                          <p:spTgt spid="1639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2" grpId="0" animBg="1" autoUpdateAnimBg="0"/>
      <p:bldP spid="16393" grpId="0" animBg="1" autoUpdateAnimBg="0"/>
      <p:bldP spid="16394"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p:spPr>
        <p:txBody>
          <a:bodyPr/>
          <a:lstStyle/>
          <a:p>
            <a:fld id="{713CC880-6502-4989-81F0-FACC62F3ECFD}" type="slidenum">
              <a:rPr lang="en-US" altLang="zh-CN" smtClean="0"/>
              <a:pPr/>
              <a:t>12</a:t>
            </a:fld>
            <a:endParaRPr lang="en-US" altLang="zh-CN" smtClean="0"/>
          </a:p>
        </p:txBody>
      </p:sp>
      <p:sp>
        <p:nvSpPr>
          <p:cNvPr id="15363" name="Rectangle 4"/>
          <p:cNvSpPr>
            <a:spLocks noChangeArrowheads="1"/>
          </p:cNvSpPr>
          <p:nvPr/>
        </p:nvSpPr>
        <p:spPr bwMode="auto">
          <a:xfrm>
            <a:off x="179388" y="93663"/>
            <a:ext cx="8785225" cy="3508375"/>
          </a:xfrm>
          <a:prstGeom prst="rect">
            <a:avLst/>
          </a:prstGeom>
          <a:solidFill>
            <a:srgbClr val="CCFFFF"/>
          </a:solidFill>
          <a:ln w="9525">
            <a:noFill/>
            <a:miter lim="800000"/>
            <a:headEnd/>
            <a:tailEnd/>
          </a:ln>
        </p:spPr>
        <p:txBody>
          <a:bodyPr anchor="ctr">
            <a:spAutoFit/>
          </a:bodyPr>
          <a:lstStyle/>
          <a:p>
            <a:r>
              <a:rPr lang="en-US" altLang="zh-CN" sz="2800" b="1">
                <a:latin typeface="宋体" pitchFamily="2" charset="-122"/>
              </a:rPr>
              <a:t>2.</a:t>
            </a:r>
            <a:r>
              <a:rPr lang="zh-CN" altLang="en-US" sz="2800" b="1">
                <a:latin typeface="宋体" pitchFamily="2" charset="-122"/>
              </a:rPr>
              <a:t>磁盘控制器</a:t>
            </a:r>
            <a:r>
              <a:rPr lang="zh-CN" altLang="en-US" sz="2800" b="1" i="1">
                <a:latin typeface="宋体" pitchFamily="2" charset="-122"/>
              </a:rPr>
              <a:t> </a:t>
            </a:r>
            <a:endParaRPr lang="zh-CN" altLang="en-US" sz="2800">
              <a:latin typeface="宋体" pitchFamily="2" charset="-122"/>
            </a:endParaRPr>
          </a:p>
          <a:p>
            <a:r>
              <a:rPr lang="zh-CN" altLang="en-US" sz="2800" b="1">
                <a:latin typeface="宋体" pitchFamily="2" charset="-122"/>
              </a:rPr>
              <a:t>　　磁盘控制器</a:t>
            </a:r>
            <a:r>
              <a:rPr lang="zh-CN" altLang="en-US" sz="2800">
                <a:latin typeface="宋体" pitchFamily="2" charset="-122"/>
              </a:rPr>
              <a:t>是主机与磁盘驱动器之间的接口。由于磁盘存储器是高速外存设备，故与主机之间采用成批交换数据方式。作为主机与驱动器之间的控制器，它需要有两个方面的接口：一个是与主机的接口，控制外存与主机总线之间交换数据；另一个是与设备的接口，根据主机命令控制设备的操作。前者称为</a:t>
            </a:r>
            <a:r>
              <a:rPr lang="zh-CN" altLang="en-US" sz="2800" b="1">
                <a:latin typeface="宋体" pitchFamily="2" charset="-122"/>
              </a:rPr>
              <a:t>系统级接口</a:t>
            </a:r>
            <a:r>
              <a:rPr lang="zh-CN" altLang="en-US" sz="2800">
                <a:latin typeface="宋体" pitchFamily="2" charset="-122"/>
              </a:rPr>
              <a:t>，后者称为</a:t>
            </a:r>
            <a:r>
              <a:rPr lang="zh-CN" altLang="en-US" sz="2800" b="1">
                <a:latin typeface="宋体" pitchFamily="2" charset="-122"/>
              </a:rPr>
              <a:t>设备级接口</a:t>
            </a:r>
            <a:r>
              <a:rPr lang="zh-CN" altLang="en-US" sz="2800">
                <a:latin typeface="宋体" pitchFamily="2" charset="-122"/>
              </a:rPr>
              <a:t>。</a:t>
            </a:r>
          </a:p>
        </p:txBody>
      </p:sp>
      <p:pic>
        <p:nvPicPr>
          <p:cNvPr id="15364" name="Picture 7"/>
          <p:cNvPicPr>
            <a:picLocks noChangeAspect="1" noChangeArrowheads="1"/>
          </p:cNvPicPr>
          <p:nvPr/>
        </p:nvPicPr>
        <p:blipFill>
          <a:blip r:embed="rId2"/>
          <a:srcRect/>
          <a:stretch>
            <a:fillRect/>
          </a:stretch>
        </p:blipFill>
        <p:spPr bwMode="auto">
          <a:xfrm>
            <a:off x="857224" y="3714752"/>
            <a:ext cx="4608513" cy="2919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p>
            <a:fld id="{B9CB8ABA-DCCE-424C-A623-4B40E7E959AD}" type="slidenum">
              <a:rPr lang="en-US" altLang="zh-CN" smtClean="0"/>
              <a:pPr/>
              <a:t>13</a:t>
            </a:fld>
            <a:endParaRPr lang="en-US" altLang="zh-CN" smtClean="0"/>
          </a:p>
        </p:txBody>
      </p:sp>
      <p:sp>
        <p:nvSpPr>
          <p:cNvPr id="16387" name="Rectangle 6"/>
          <p:cNvSpPr>
            <a:spLocks noChangeArrowheads="1"/>
          </p:cNvSpPr>
          <p:nvPr/>
        </p:nvSpPr>
        <p:spPr bwMode="auto">
          <a:xfrm>
            <a:off x="179388" y="95250"/>
            <a:ext cx="8785225" cy="1800225"/>
          </a:xfrm>
          <a:prstGeom prst="rect">
            <a:avLst/>
          </a:prstGeom>
          <a:solidFill>
            <a:srgbClr val="CCFFFF"/>
          </a:solidFill>
          <a:ln w="9525">
            <a:noFill/>
            <a:miter lim="800000"/>
            <a:headEnd/>
            <a:tailEnd/>
          </a:ln>
        </p:spPr>
        <p:txBody>
          <a:bodyPr anchor="ctr">
            <a:spAutoFit/>
          </a:bodyPr>
          <a:lstStyle/>
          <a:p>
            <a:pPr eaLnBrk="0" hangingPunct="0"/>
            <a:r>
              <a:rPr lang="en-US" altLang="zh-CN" sz="2800">
                <a:latin typeface="宋体" pitchFamily="2" charset="-122"/>
              </a:rPr>
              <a:t>    </a:t>
            </a:r>
            <a:r>
              <a:rPr lang="zh-CN" altLang="en-US" sz="2800">
                <a:latin typeface="宋体" pitchFamily="2" charset="-122"/>
              </a:rPr>
              <a:t>磁盘上的信息经读磁头读出以后送读出放大器，然后进行数据与时钟的分离，再进行串</a:t>
            </a:r>
            <a:r>
              <a:rPr lang="en-US" altLang="zh-CN" sz="2800">
                <a:latin typeface="宋体" pitchFamily="2" charset="-122"/>
              </a:rPr>
              <a:t>-</a:t>
            </a:r>
            <a:r>
              <a:rPr lang="zh-CN" altLang="en-US" sz="2800">
                <a:latin typeface="宋体" pitchFamily="2" charset="-122"/>
              </a:rPr>
              <a:t>并变换、格式变换，最后送入数据缓冲器，经</a:t>
            </a:r>
            <a:r>
              <a:rPr lang="en-US" altLang="zh-CN" sz="2800">
                <a:latin typeface="宋体" pitchFamily="2" charset="-122"/>
              </a:rPr>
              <a:t>DMA(</a:t>
            </a:r>
            <a:r>
              <a:rPr lang="zh-CN" altLang="en-US" sz="2800">
                <a:latin typeface="宋体" pitchFamily="2" charset="-122"/>
              </a:rPr>
              <a:t>直接存储器传送</a:t>
            </a:r>
            <a:r>
              <a:rPr lang="en-US" altLang="zh-CN" sz="2800">
                <a:latin typeface="宋体" pitchFamily="2" charset="-122"/>
              </a:rPr>
              <a:t>)</a:t>
            </a:r>
            <a:r>
              <a:rPr lang="zh-CN" altLang="en-US" sz="2800">
                <a:latin typeface="宋体" pitchFamily="2" charset="-122"/>
              </a:rPr>
              <a:t>控制将数据传送到主机总线。</a:t>
            </a:r>
            <a:endParaRPr lang="zh-CN" altLang="en-US"/>
          </a:p>
        </p:txBody>
      </p:sp>
      <p:pic>
        <p:nvPicPr>
          <p:cNvPr id="16388" name="Picture 8"/>
          <p:cNvPicPr>
            <a:picLocks noChangeAspect="1" noChangeArrowheads="1"/>
          </p:cNvPicPr>
          <p:nvPr/>
        </p:nvPicPr>
        <p:blipFill>
          <a:blip r:embed="rId2"/>
          <a:srcRect/>
          <a:stretch>
            <a:fillRect/>
          </a:stretch>
        </p:blipFill>
        <p:spPr bwMode="auto">
          <a:xfrm>
            <a:off x="179388" y="1989138"/>
            <a:ext cx="8640762" cy="47228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p>
            <a:fld id="{220DF58A-C306-4F8D-8306-9E98D01DB126}" type="slidenum">
              <a:rPr lang="en-US" altLang="zh-CN" smtClean="0"/>
              <a:pPr/>
              <a:t>14</a:t>
            </a:fld>
            <a:endParaRPr lang="en-US" altLang="zh-CN" smtClean="0"/>
          </a:p>
        </p:txBody>
      </p:sp>
      <p:sp>
        <p:nvSpPr>
          <p:cNvPr id="17411" name="Rectangle 4"/>
          <p:cNvSpPr>
            <a:spLocks noChangeArrowheads="1"/>
          </p:cNvSpPr>
          <p:nvPr/>
        </p:nvSpPr>
        <p:spPr bwMode="auto">
          <a:xfrm>
            <a:off x="228600" y="152400"/>
            <a:ext cx="8713788" cy="519113"/>
          </a:xfrm>
          <a:prstGeom prst="rect">
            <a:avLst/>
          </a:prstGeom>
          <a:solidFill>
            <a:srgbClr val="CCFFFF"/>
          </a:solidFill>
          <a:ln w="9525">
            <a:noFill/>
            <a:miter lim="800000"/>
            <a:headEnd/>
            <a:tailEnd/>
          </a:ln>
        </p:spPr>
        <p:txBody>
          <a:bodyPr anchor="ctr">
            <a:spAutoFit/>
          </a:bodyPr>
          <a:lstStyle/>
          <a:p>
            <a:pPr eaLnBrk="0" hangingPunct="0"/>
            <a:r>
              <a:rPr lang="en-US" altLang="zh-CN" sz="2800" smtClean="0">
                <a:latin typeface="宋体" pitchFamily="2" charset="-122"/>
              </a:rPr>
              <a:t>7.2.4 </a:t>
            </a:r>
            <a:r>
              <a:rPr lang="zh-CN" altLang="en-US" sz="2800" dirty="0">
                <a:latin typeface="宋体" pitchFamily="2" charset="-122"/>
              </a:rPr>
              <a:t>磁盘上信息的分布</a:t>
            </a:r>
            <a:endParaRPr lang="zh-CN" altLang="en-US" sz="2400" dirty="0">
              <a:latin typeface="宋体" pitchFamily="2" charset="-122"/>
            </a:endParaRPr>
          </a:p>
        </p:txBody>
      </p:sp>
      <p:pic>
        <p:nvPicPr>
          <p:cNvPr id="17412" name="Picture 7"/>
          <p:cNvPicPr>
            <a:picLocks noChangeAspect="1" noChangeArrowheads="1"/>
          </p:cNvPicPr>
          <p:nvPr/>
        </p:nvPicPr>
        <p:blipFill>
          <a:blip r:embed="rId2"/>
          <a:srcRect/>
          <a:stretch>
            <a:fillRect/>
          </a:stretch>
        </p:blipFill>
        <p:spPr bwMode="auto">
          <a:xfrm>
            <a:off x="152400" y="762000"/>
            <a:ext cx="8785225" cy="5867400"/>
          </a:xfrm>
          <a:prstGeom prst="rect">
            <a:avLst/>
          </a:prstGeom>
          <a:noFill/>
          <a:ln w="9525">
            <a:noFill/>
            <a:miter lim="800000"/>
            <a:headEnd/>
            <a:tailEnd/>
          </a:ln>
        </p:spPr>
      </p:pic>
      <p:sp>
        <p:nvSpPr>
          <p:cNvPr id="70664" name="Rectangle 8"/>
          <p:cNvSpPr>
            <a:spLocks noChangeArrowheads="1"/>
          </p:cNvSpPr>
          <p:nvPr/>
        </p:nvSpPr>
        <p:spPr bwMode="auto">
          <a:xfrm>
            <a:off x="228600" y="3776663"/>
            <a:ext cx="8713788" cy="3081337"/>
          </a:xfrm>
          <a:prstGeom prst="rect">
            <a:avLst/>
          </a:prstGeom>
          <a:solidFill>
            <a:srgbClr val="CCFFFF"/>
          </a:solidFill>
          <a:ln w="9525">
            <a:noFill/>
            <a:miter lim="800000"/>
            <a:headEnd/>
            <a:tailEnd/>
          </a:ln>
        </p:spPr>
        <p:txBody>
          <a:bodyPr anchor="ctr">
            <a:spAutoFit/>
          </a:bodyPr>
          <a:lstStyle/>
          <a:p>
            <a:pPr eaLnBrk="0" hangingPunct="0"/>
            <a:r>
              <a:rPr lang="en-US" altLang="zh-CN" sz="2800" b="1">
                <a:latin typeface="宋体" pitchFamily="2" charset="-122"/>
              </a:rPr>
              <a:t>    ⑴ </a:t>
            </a:r>
            <a:r>
              <a:rPr lang="zh-CN" altLang="en-US" sz="2800" b="1">
                <a:latin typeface="宋体" pitchFamily="2" charset="-122"/>
              </a:rPr>
              <a:t>记录面</a:t>
            </a:r>
            <a:r>
              <a:rPr lang="zh-CN" altLang="en-US" sz="2800">
                <a:latin typeface="宋体" pitchFamily="2" charset="-122"/>
              </a:rPr>
              <a:t> 一台硬盘驱动器中有多个盘片，每个盘片有两个记录面。 </a:t>
            </a:r>
            <a:br>
              <a:rPr lang="zh-CN" altLang="en-US" sz="2800">
                <a:latin typeface="宋体" pitchFamily="2" charset="-122"/>
              </a:rPr>
            </a:br>
            <a:r>
              <a:rPr lang="zh-CN" altLang="en-US" sz="2800">
                <a:latin typeface="宋体" pitchFamily="2" charset="-122"/>
              </a:rPr>
              <a:t>    </a:t>
            </a:r>
            <a:r>
              <a:rPr lang="zh-CN" altLang="en-US" sz="2800" b="1">
                <a:latin typeface="宋体" pitchFamily="2" charset="-122"/>
              </a:rPr>
              <a:t>⑵ 磁道 </a:t>
            </a:r>
            <a:r>
              <a:rPr lang="zh-CN" altLang="en-US" sz="2800">
                <a:latin typeface="宋体" pitchFamily="2" charset="-122"/>
              </a:rPr>
              <a:t>在记录面上，一条条磁道形成一组同心圆，最外圈的磁道为</a:t>
            </a:r>
            <a:r>
              <a:rPr lang="en-US" altLang="zh-CN" sz="2800">
                <a:latin typeface="宋体" pitchFamily="2" charset="-122"/>
              </a:rPr>
              <a:t>0</a:t>
            </a:r>
            <a:r>
              <a:rPr lang="zh-CN" altLang="en-US" sz="2800">
                <a:latin typeface="宋体" pitchFamily="2" charset="-122"/>
              </a:rPr>
              <a:t>号，往内则磁道号逐步增加。</a:t>
            </a:r>
          </a:p>
          <a:p>
            <a:pPr eaLnBrk="0" hangingPunct="0"/>
            <a:r>
              <a:rPr lang="zh-CN" altLang="en-US" sz="2800" b="1">
                <a:latin typeface="宋体" pitchFamily="2" charset="-122"/>
              </a:rPr>
              <a:t>    ⑶ 扇区</a:t>
            </a:r>
            <a:r>
              <a:rPr lang="zh-CN" altLang="en-US" sz="2800">
                <a:latin typeface="宋体" pitchFamily="2" charset="-122"/>
              </a:rPr>
              <a:t> 将一条磁道划分为若干个段，每个段称为一个扇区或扇段，每个扇区存放一个定长信息块。</a:t>
            </a:r>
          </a:p>
          <a:p>
            <a:pPr eaLnBrk="0" hangingPunct="0"/>
            <a:endParaRPr lang="en-US" altLang="zh-CN" sz="2800">
              <a:latin typeface="宋体" pitchFamily="2" charset="-122"/>
            </a:endParaRPr>
          </a:p>
        </p:txBody>
      </p:sp>
      <p:sp>
        <p:nvSpPr>
          <p:cNvPr id="70666" name="Rectangle 10"/>
          <p:cNvSpPr>
            <a:spLocks noChangeArrowheads="1"/>
          </p:cNvSpPr>
          <p:nvPr/>
        </p:nvSpPr>
        <p:spPr bwMode="auto">
          <a:xfrm>
            <a:off x="228600" y="685800"/>
            <a:ext cx="8713788" cy="3081338"/>
          </a:xfrm>
          <a:prstGeom prst="rect">
            <a:avLst/>
          </a:prstGeom>
          <a:solidFill>
            <a:srgbClr val="CCFFFF"/>
          </a:solidFill>
          <a:ln w="9525">
            <a:noFill/>
            <a:miter lim="800000"/>
            <a:headEnd/>
            <a:tailEnd/>
          </a:ln>
        </p:spPr>
        <p:txBody>
          <a:bodyPr anchor="ctr">
            <a:spAutoFit/>
          </a:bodyPr>
          <a:lstStyle/>
          <a:p>
            <a:pPr eaLnBrk="0" hangingPunct="0"/>
            <a:r>
              <a:rPr lang="en-US" altLang="zh-CN" sz="2400" b="1">
                <a:latin typeface="宋体" pitchFamily="2" charset="-122"/>
              </a:rPr>
              <a:t>  </a:t>
            </a:r>
            <a:r>
              <a:rPr lang="en-US" altLang="zh-CN" sz="2800">
                <a:latin typeface="宋体" pitchFamily="2" charset="-122"/>
              </a:rPr>
              <a:t>  </a:t>
            </a:r>
            <a:r>
              <a:rPr lang="zh-CN" altLang="en-US" sz="2800">
                <a:latin typeface="宋体" pitchFamily="2" charset="-122"/>
              </a:rPr>
              <a:t>每个记录面对应一个磁头，所以记录面号就是磁头号。所有磁头安装在一个公用的传动设备或支架上，磁头一致地沿盘面径向移动，单个磁头不能单独地移动。</a:t>
            </a:r>
          </a:p>
          <a:p>
            <a:pPr eaLnBrk="0" hangingPunct="0"/>
            <a:r>
              <a:rPr lang="zh-CN" altLang="en-US" sz="2800">
                <a:latin typeface="宋体" pitchFamily="2" charset="-122"/>
              </a:rPr>
              <a:t>    一条磁道划分多少扇区，每个扇区可存放多少字节，一般由操作系统决定。磁道上的扇区编号从</a:t>
            </a:r>
            <a:r>
              <a:rPr lang="en-US" altLang="zh-CN" sz="2800">
                <a:latin typeface="宋体" pitchFamily="2" charset="-122"/>
              </a:rPr>
              <a:t>1</a:t>
            </a:r>
            <a:r>
              <a:rPr lang="zh-CN" altLang="en-US" sz="2800">
                <a:latin typeface="宋体" pitchFamily="2" charset="-122"/>
              </a:rPr>
              <a:t>开始，不像磁头或柱面编号从</a:t>
            </a:r>
            <a:r>
              <a:rPr lang="en-US" altLang="zh-CN" sz="2800">
                <a:latin typeface="宋体" pitchFamily="2" charset="-122"/>
              </a:rPr>
              <a:t>0</a:t>
            </a:r>
            <a:r>
              <a:rPr lang="zh-CN" altLang="en-US" sz="2800">
                <a:latin typeface="宋体" pitchFamily="2" charset="-122"/>
              </a:rPr>
              <a:t>开始。</a:t>
            </a:r>
          </a:p>
        </p:txBody>
      </p:sp>
      <p:sp>
        <p:nvSpPr>
          <p:cNvPr id="70667" name="Rectangle 11"/>
          <p:cNvSpPr>
            <a:spLocks noChangeArrowheads="1"/>
          </p:cNvSpPr>
          <p:nvPr/>
        </p:nvSpPr>
        <p:spPr bwMode="auto">
          <a:xfrm>
            <a:off x="228600" y="685800"/>
            <a:ext cx="8713788" cy="3081338"/>
          </a:xfrm>
          <a:prstGeom prst="rect">
            <a:avLst/>
          </a:prstGeom>
          <a:solidFill>
            <a:srgbClr val="CCFFFF"/>
          </a:solidFill>
          <a:ln w="9525">
            <a:noFill/>
            <a:miter lim="800000"/>
            <a:headEnd/>
            <a:tailEnd/>
          </a:ln>
        </p:spPr>
        <p:txBody>
          <a:bodyPr anchor="ctr">
            <a:spAutoFit/>
          </a:bodyPr>
          <a:lstStyle/>
          <a:p>
            <a:pPr eaLnBrk="0" hangingPunct="0"/>
            <a:r>
              <a:rPr lang="zh-CN" altLang="en-US" sz="2800" b="1" dirty="0">
                <a:latin typeface="宋体" pitchFamily="2" charset="-122"/>
              </a:rPr>
              <a:t>圆柱面</a:t>
            </a:r>
            <a:r>
              <a:rPr lang="zh-CN" altLang="en-US" sz="2800" dirty="0">
                <a:latin typeface="宋体" pitchFamily="2" charset="-122"/>
              </a:rPr>
              <a:t> 在一个盘组中，各记录面上相同编号（位置）的诸磁道构成一个圆柱面。引入圆柱面的概念是为了提高硬盘的存储速度。当主机要存入一个较长的文件时，若一条磁道存不完，就需要存放在同一圆柱面上的不同磁道上。由于各记录面的磁头已同时定位，换道的时间只是磁头选择电路的译码时间，相对于定位操作可以忽略不计。</a:t>
            </a:r>
            <a:r>
              <a:rPr lang="zh-CN" altLang="en-US" sz="2400" dirty="0">
                <a:latin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subTnLst>
                                    <p:set>
                                      <p:cBhvr override="childStyle">
                                        <p:cTn dur="1" fill="hold" display="0" masterRel="nextClick" afterEffect="1"/>
                                        <p:tgtEl>
                                          <p:spTgt spid="7066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66"/>
                                        </p:tgtEl>
                                        <p:attrNameLst>
                                          <p:attrName>style.visibility</p:attrName>
                                        </p:attrNameLst>
                                      </p:cBhvr>
                                      <p:to>
                                        <p:strVal val="visible"/>
                                      </p:to>
                                    </p:set>
                                    <p:animEffect transition="in" filter="blinds(horizontal)">
                                      <p:cBhvr>
                                        <p:cTn id="12" dur="500"/>
                                        <p:tgtEl>
                                          <p:spTgt spid="706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0667"/>
                                        </p:tgtEl>
                                        <p:attrNameLst>
                                          <p:attrName>style.visibility</p:attrName>
                                        </p:attrNameLst>
                                      </p:cBhvr>
                                      <p:to>
                                        <p:strVal val="visible"/>
                                      </p:to>
                                    </p:set>
                                    <p:animEffect transition="in" filter="box(in)">
                                      <p:cBhvr>
                                        <p:cTn id="17" dur="500"/>
                                        <p:tgtEl>
                                          <p:spTgt spid="70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animBg="1" autoUpdateAnimBg="0"/>
      <p:bldP spid="70666" grpId="0" animBg="1" autoUpdateAnimBg="0"/>
      <p:bldP spid="70667"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p:spPr>
        <p:txBody>
          <a:bodyPr/>
          <a:lstStyle/>
          <a:p>
            <a:fld id="{74304155-8952-42E3-80F2-680943A8A979}" type="slidenum">
              <a:rPr lang="en-US" altLang="zh-CN" smtClean="0"/>
              <a:pPr/>
              <a:t>15</a:t>
            </a:fld>
            <a:endParaRPr lang="en-US" altLang="zh-CN" smtClean="0"/>
          </a:p>
        </p:txBody>
      </p:sp>
      <p:sp>
        <p:nvSpPr>
          <p:cNvPr id="18435" name="Rectangle 7"/>
          <p:cNvSpPr>
            <a:spLocks noChangeArrowheads="1"/>
          </p:cNvSpPr>
          <p:nvPr/>
        </p:nvSpPr>
        <p:spPr bwMode="auto">
          <a:xfrm>
            <a:off x="179388" y="5445125"/>
            <a:ext cx="8785225" cy="1187450"/>
          </a:xfrm>
          <a:prstGeom prst="rect">
            <a:avLst/>
          </a:prstGeom>
          <a:solidFill>
            <a:srgbClr val="CCFFFF"/>
          </a:solidFill>
          <a:ln w="9525">
            <a:noFill/>
            <a:miter lim="800000"/>
            <a:headEnd/>
            <a:tailEnd/>
          </a:ln>
        </p:spPr>
        <p:txBody>
          <a:bodyPr anchor="ctr">
            <a:spAutoFit/>
          </a:bodyPr>
          <a:lstStyle/>
          <a:p>
            <a:pPr eaLnBrk="0" hangingPunct="0"/>
            <a:r>
              <a:rPr lang="zh-CN" altLang="en-US" sz="2400" b="1">
                <a:latin typeface="宋体" pitchFamily="2" charset="-122"/>
              </a:rPr>
              <a:t>磁盘地址</a:t>
            </a:r>
            <a:r>
              <a:rPr lang="zh-CN" altLang="en-US" sz="2400">
                <a:latin typeface="宋体" pitchFamily="2" charset="-122"/>
              </a:rPr>
              <a:t> 主机向磁盘控制器送出有关寻址信息，磁盘地址一般表示为：</a:t>
            </a:r>
          </a:p>
          <a:p>
            <a:pPr eaLnBrk="0" hangingPunct="0"/>
            <a:r>
              <a:rPr lang="zh-CN" altLang="en-US" sz="2400">
                <a:latin typeface="宋体" pitchFamily="2" charset="-122"/>
              </a:rPr>
              <a:t>  驱动器号、圆柱面（磁道）号、记录面（磁头）号、扇区号</a:t>
            </a:r>
            <a:r>
              <a:rPr lang="zh-CN" altLang="en-US"/>
              <a:t> </a:t>
            </a:r>
          </a:p>
        </p:txBody>
      </p:sp>
      <p:pic>
        <p:nvPicPr>
          <p:cNvPr id="18436" name="Picture 8"/>
          <p:cNvPicPr>
            <a:picLocks noChangeAspect="1" noChangeArrowheads="1"/>
          </p:cNvPicPr>
          <p:nvPr/>
        </p:nvPicPr>
        <p:blipFill>
          <a:blip r:embed="rId2"/>
          <a:srcRect/>
          <a:stretch>
            <a:fillRect/>
          </a:stretch>
        </p:blipFill>
        <p:spPr bwMode="auto">
          <a:xfrm>
            <a:off x="179388" y="188913"/>
            <a:ext cx="8785225" cy="5111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p:spPr>
        <p:txBody>
          <a:bodyPr/>
          <a:lstStyle/>
          <a:p>
            <a:fld id="{CD25E59D-1155-4ED5-B7E8-5718AE856B15}" type="slidenum">
              <a:rPr lang="en-US" altLang="zh-CN" smtClean="0"/>
              <a:pPr/>
              <a:t>16</a:t>
            </a:fld>
            <a:endParaRPr lang="en-US" altLang="zh-CN" smtClean="0"/>
          </a:p>
        </p:txBody>
      </p:sp>
      <p:sp>
        <p:nvSpPr>
          <p:cNvPr id="19459" name="Rectangle 4"/>
          <p:cNvSpPr>
            <a:spLocks noChangeArrowheads="1"/>
          </p:cNvSpPr>
          <p:nvPr/>
        </p:nvSpPr>
        <p:spPr bwMode="auto">
          <a:xfrm>
            <a:off x="179388" y="173038"/>
            <a:ext cx="8785225" cy="4473575"/>
          </a:xfrm>
          <a:prstGeom prst="rect">
            <a:avLst/>
          </a:prstGeom>
          <a:solidFill>
            <a:srgbClr val="CCFFFF"/>
          </a:solidFill>
          <a:ln w="9525">
            <a:noFill/>
            <a:miter lim="800000"/>
            <a:headEnd/>
            <a:tailEnd/>
          </a:ln>
        </p:spPr>
        <p:txBody>
          <a:bodyPr anchor="ctr">
            <a:spAutoFit/>
          </a:bodyPr>
          <a:lstStyle/>
          <a:p>
            <a:pPr eaLnBrk="0" hangingPunct="0"/>
            <a:r>
              <a:rPr lang="en-US" altLang="zh-CN" sz="2400">
                <a:latin typeface="宋体" pitchFamily="2" charset="-122"/>
              </a:rPr>
              <a:t>    </a:t>
            </a:r>
            <a:r>
              <a:rPr lang="zh-CN" altLang="en-US" sz="2400">
                <a:latin typeface="宋体" pitchFamily="2" charset="-122"/>
              </a:rPr>
              <a:t>通常，主机通过一个硬盘控制器可以连接几台硬盘驱动器，所以需送出驱动器号或台号。调用磁盘常以文件为单位，故寻址信息一般应当给出文件起始位置所在的圆柱面号与记录面号（这就确定了具体磁道）、起始扇区号，并给出扇区数（交换量）。</a:t>
            </a:r>
          </a:p>
          <a:p>
            <a:pPr eaLnBrk="0" hangingPunct="0"/>
            <a:r>
              <a:rPr lang="zh-CN" altLang="en-US" sz="2400">
                <a:latin typeface="宋体" pitchFamily="2" charset="-122"/>
              </a:rPr>
              <a:t>　　在磁道上，信息按区存放的，每个区中存放一定数量的字或字节，各个区存放的字或字节数是相同的。为进行读</a:t>
            </a:r>
            <a:r>
              <a:rPr lang="en-US" altLang="zh-CN" sz="2400">
                <a:latin typeface="宋体" pitchFamily="2" charset="-122"/>
              </a:rPr>
              <a:t>/</a:t>
            </a:r>
            <a:r>
              <a:rPr lang="zh-CN" altLang="en-US" sz="2400">
                <a:latin typeface="宋体" pitchFamily="2" charset="-122"/>
              </a:rPr>
              <a:t>写操作，要求定出磁道的起始位置，这个起始位置称为索引。 索引标志在传感器检索下可产生脉冲信号，再通过磁盘控制器处理，便可定出磁道起始位置 。</a:t>
            </a:r>
          </a:p>
          <a:p>
            <a:pPr eaLnBrk="0" hangingPunct="0"/>
            <a:r>
              <a:rPr lang="zh-CN" altLang="en-US" sz="2400">
                <a:latin typeface="宋体" pitchFamily="2" charset="-122"/>
              </a:rPr>
              <a:t>　　磁盘存储器的每个扇区记录定长数据，因此读</a:t>
            </a:r>
            <a:r>
              <a:rPr lang="en-US" altLang="zh-CN" sz="2400">
                <a:latin typeface="宋体" pitchFamily="2" charset="-122"/>
              </a:rPr>
              <a:t>/</a:t>
            </a:r>
            <a:r>
              <a:rPr lang="zh-CN" altLang="en-US" sz="2400">
                <a:latin typeface="宋体" pitchFamily="2" charset="-122"/>
              </a:rPr>
              <a:t>写操作是以扇区为单位一位一位串行进行的。每一个扇区记录一个记录块。数据在磁盘上的记录格式如下：</a:t>
            </a:r>
          </a:p>
        </p:txBody>
      </p:sp>
      <p:pic>
        <p:nvPicPr>
          <p:cNvPr id="19460" name="Picture 6" descr="7a9"/>
          <p:cNvPicPr>
            <a:picLocks noChangeAspect="1" noChangeArrowheads="1"/>
          </p:cNvPicPr>
          <p:nvPr/>
        </p:nvPicPr>
        <p:blipFill>
          <a:blip r:embed="rId2"/>
          <a:srcRect/>
          <a:stretch>
            <a:fillRect/>
          </a:stretch>
        </p:blipFill>
        <p:spPr bwMode="auto">
          <a:xfrm>
            <a:off x="250825" y="4797425"/>
            <a:ext cx="7777163" cy="1457325"/>
          </a:xfrm>
          <a:prstGeom prst="rect">
            <a:avLst/>
          </a:prstGeom>
          <a:noFill/>
          <a:ln w="9525">
            <a:noFill/>
            <a:miter lim="800000"/>
            <a:headEnd/>
            <a:tailEnd/>
          </a:ln>
        </p:spPr>
      </p:pic>
      <p:sp>
        <p:nvSpPr>
          <p:cNvPr id="72712" name="Rectangle 8"/>
          <p:cNvSpPr>
            <a:spLocks noChangeArrowheads="1"/>
          </p:cNvSpPr>
          <p:nvPr/>
        </p:nvSpPr>
        <p:spPr bwMode="auto">
          <a:xfrm>
            <a:off x="152400" y="2057400"/>
            <a:ext cx="8839200" cy="264795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nchor="ctr">
            <a:spAutoFit/>
          </a:bodyPr>
          <a:lstStyle/>
          <a:p>
            <a:pPr eaLnBrk="0" hangingPunct="0"/>
            <a:r>
              <a:rPr lang="en-US" altLang="zh-CN" sz="2400" dirty="0">
                <a:latin typeface="宋体" pitchFamily="2" charset="-122"/>
              </a:rPr>
              <a:t>    </a:t>
            </a:r>
            <a:r>
              <a:rPr lang="zh-CN" altLang="en-US" sz="2400" dirty="0">
                <a:latin typeface="宋体" pitchFamily="2" charset="-122"/>
              </a:rPr>
              <a:t>每个扇区开始时由磁盘控制器产生一个扇标脉冲。扇标脉冲的出现即标志一个扇区的开始。 两个扇标脉冲之间的一段磁道区域即为一个</a:t>
            </a:r>
            <a:r>
              <a:rPr lang="zh-CN" altLang="en-US" sz="2400" b="1" dirty="0">
                <a:latin typeface="宋体" pitchFamily="2" charset="-122"/>
              </a:rPr>
              <a:t>扇区</a:t>
            </a:r>
            <a:r>
              <a:rPr lang="en-US" altLang="zh-CN" sz="2400" dirty="0">
                <a:latin typeface="宋体" pitchFamily="2" charset="-122"/>
              </a:rPr>
              <a:t>(</a:t>
            </a:r>
            <a:r>
              <a:rPr lang="zh-CN" altLang="en-US" sz="2400" dirty="0">
                <a:latin typeface="宋体" pitchFamily="2" charset="-122"/>
              </a:rPr>
              <a:t>一记录块</a:t>
            </a:r>
            <a:r>
              <a:rPr lang="en-US" altLang="zh-CN" sz="2400" dirty="0">
                <a:latin typeface="宋体" pitchFamily="2" charset="-122"/>
              </a:rPr>
              <a:t>)</a:t>
            </a:r>
            <a:r>
              <a:rPr lang="zh-CN" altLang="en-US" sz="2400" dirty="0">
                <a:latin typeface="宋体" pitchFamily="2" charset="-122"/>
              </a:rPr>
              <a:t>。每个记录块由</a:t>
            </a:r>
            <a:r>
              <a:rPr lang="zh-CN" altLang="en-US" sz="2400" b="1" dirty="0">
                <a:latin typeface="宋体" pitchFamily="2" charset="-122"/>
              </a:rPr>
              <a:t>头部空白段、序标段、数据段、校验字段</a:t>
            </a:r>
            <a:r>
              <a:rPr lang="zh-CN" altLang="en-US" sz="2400" dirty="0">
                <a:latin typeface="宋体" pitchFamily="2" charset="-122"/>
              </a:rPr>
              <a:t>及</a:t>
            </a:r>
            <a:r>
              <a:rPr lang="zh-CN" altLang="en-US" sz="2400" b="1" dirty="0">
                <a:latin typeface="宋体" pitchFamily="2" charset="-122"/>
              </a:rPr>
              <a:t>尾部空白段</a:t>
            </a:r>
            <a:r>
              <a:rPr lang="zh-CN" altLang="en-US" sz="2400" dirty="0">
                <a:latin typeface="宋体" pitchFamily="2" charset="-122"/>
              </a:rPr>
              <a:t>组成。其中空白段用来留出一定的时间作为磁盘控制器的读写准备时间，序标被用来作为磁盘控制器的同步定时信号。序标之后即为本扇区所记录的数据。数据之后是校验字，它用来校验磁盘读出的数据是否正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712"/>
                                        </p:tgtEl>
                                        <p:attrNameLst>
                                          <p:attrName>style.visibility</p:attrName>
                                        </p:attrNameLst>
                                      </p:cBhvr>
                                      <p:to>
                                        <p:strVal val="visible"/>
                                      </p:to>
                                    </p:set>
                                    <p:animEffect transition="in" filter="dissolve">
                                      <p:cBhvr>
                                        <p:cTn id="7" dur="500"/>
                                        <p:tgtEl>
                                          <p:spTgt spid="72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p:spPr>
        <p:txBody>
          <a:bodyPr/>
          <a:lstStyle/>
          <a:p>
            <a:fld id="{052836AB-B7B6-4892-9EC8-22678DF412B3}" type="slidenum">
              <a:rPr lang="en-US" altLang="zh-CN" smtClean="0"/>
              <a:pPr/>
              <a:t>17</a:t>
            </a:fld>
            <a:endParaRPr lang="en-US" altLang="zh-CN" smtClean="0"/>
          </a:p>
        </p:txBody>
      </p:sp>
      <p:sp>
        <p:nvSpPr>
          <p:cNvPr id="20483" name="Rectangle 4"/>
          <p:cNvSpPr>
            <a:spLocks noChangeArrowheads="1"/>
          </p:cNvSpPr>
          <p:nvPr/>
        </p:nvSpPr>
        <p:spPr bwMode="auto">
          <a:xfrm>
            <a:off x="107950" y="115888"/>
            <a:ext cx="8856663" cy="1187450"/>
          </a:xfrm>
          <a:prstGeom prst="rect">
            <a:avLst/>
          </a:prstGeom>
          <a:solidFill>
            <a:srgbClr val="CCFFFF"/>
          </a:solidFill>
          <a:ln w="9525">
            <a:noFill/>
            <a:miter lim="800000"/>
            <a:headEnd/>
            <a:tailEnd/>
          </a:ln>
        </p:spPr>
        <p:txBody>
          <a:bodyPr anchor="ctr">
            <a:spAutoFit/>
          </a:bodyPr>
          <a:lstStyle/>
          <a:p>
            <a:pPr eaLnBrk="0" hangingPunct="0"/>
            <a:r>
              <a:rPr lang="en-US" altLang="zh-CN" sz="2400">
                <a:latin typeface="宋体" pitchFamily="2" charset="-122"/>
              </a:rPr>
              <a:t>    </a:t>
            </a:r>
            <a:r>
              <a:rPr lang="zh-CN" altLang="en-US" sz="2400">
                <a:latin typeface="宋体" pitchFamily="2" charset="-122"/>
              </a:rPr>
              <a:t>数据信息是记录在磁盘上的一个同心的圆周上，将圆周上的这些信息内容，分成一段一段的。各种数据的记录的磁迹位置按图示的格式确定，这样也便于寻找数据所存的位置。</a:t>
            </a:r>
          </a:p>
        </p:txBody>
      </p:sp>
      <p:pic>
        <p:nvPicPr>
          <p:cNvPr id="20484" name="Picture 5"/>
          <p:cNvPicPr>
            <a:picLocks noChangeAspect="1" noChangeArrowheads="1"/>
          </p:cNvPicPr>
          <p:nvPr/>
        </p:nvPicPr>
        <p:blipFill>
          <a:blip r:embed="rId2"/>
          <a:srcRect/>
          <a:stretch>
            <a:fillRect/>
          </a:stretch>
        </p:blipFill>
        <p:spPr bwMode="auto">
          <a:xfrm>
            <a:off x="179388" y="1557338"/>
            <a:ext cx="5184775" cy="4679950"/>
          </a:xfrm>
          <a:prstGeom prst="rect">
            <a:avLst/>
          </a:prstGeom>
          <a:noFill/>
          <a:ln w="9525">
            <a:noFill/>
            <a:miter lim="800000"/>
            <a:headEnd/>
            <a:tailEnd/>
          </a:ln>
        </p:spPr>
      </p:pic>
      <p:sp>
        <p:nvSpPr>
          <p:cNvPr id="20485" name="Rectangle 7"/>
          <p:cNvSpPr>
            <a:spLocks noChangeArrowheads="1"/>
          </p:cNvSpPr>
          <p:nvPr/>
        </p:nvSpPr>
        <p:spPr bwMode="auto">
          <a:xfrm>
            <a:off x="5435600" y="1268413"/>
            <a:ext cx="3529013" cy="5203825"/>
          </a:xfrm>
          <a:prstGeom prst="rect">
            <a:avLst/>
          </a:prstGeom>
          <a:solidFill>
            <a:srgbClr val="CCFFFF"/>
          </a:solidFill>
          <a:ln w="9525">
            <a:noFill/>
            <a:miter lim="800000"/>
            <a:headEnd/>
            <a:tailEnd/>
          </a:ln>
        </p:spPr>
        <p:txBody>
          <a:bodyPr anchor="ctr">
            <a:spAutoFit/>
          </a:bodyPr>
          <a:lstStyle/>
          <a:p>
            <a:pPr eaLnBrk="0" hangingPunct="0"/>
            <a:r>
              <a:rPr lang="en-US" altLang="zh-CN" sz="2400">
                <a:latin typeface="宋体" pitchFamily="2" charset="-122"/>
              </a:rPr>
              <a:t>    </a:t>
            </a:r>
            <a:r>
              <a:rPr lang="zh-CN" altLang="en-US" sz="2400">
                <a:latin typeface="宋体" pitchFamily="2" charset="-122"/>
              </a:rPr>
              <a:t>在外圆有一个文件管理信息区。它通过这个管理信息区，就可以了解到整个盘面上所记录的信息内容。里面可以分成文件</a:t>
            </a:r>
            <a:r>
              <a:rPr lang="en-US" altLang="zh-CN" sz="2400">
                <a:latin typeface="宋体" pitchFamily="2" charset="-122"/>
              </a:rPr>
              <a:t>A</a:t>
            </a:r>
            <a:r>
              <a:rPr lang="zh-CN" altLang="en-US" sz="2400">
                <a:latin typeface="宋体" pitchFamily="2" charset="-122"/>
              </a:rPr>
              <a:t>、文件</a:t>
            </a:r>
            <a:r>
              <a:rPr lang="en-US" altLang="zh-CN" sz="2400">
                <a:latin typeface="宋体" pitchFamily="2" charset="-122"/>
              </a:rPr>
              <a:t>B</a:t>
            </a:r>
            <a:r>
              <a:rPr lang="zh-CN" altLang="en-US" sz="2400">
                <a:latin typeface="宋体" pitchFamily="2" charset="-122"/>
              </a:rPr>
              <a:t>、文件</a:t>
            </a:r>
            <a:r>
              <a:rPr lang="en-US" altLang="zh-CN" sz="2400">
                <a:latin typeface="宋体" pitchFamily="2" charset="-122"/>
              </a:rPr>
              <a:t>C</a:t>
            </a:r>
            <a:r>
              <a:rPr lang="zh-CN" altLang="en-US" sz="2400">
                <a:latin typeface="宋体" pitchFamily="2" charset="-122"/>
              </a:rPr>
              <a:t>等很多的区域。在每一个信息段上，叫做</a:t>
            </a:r>
            <a:r>
              <a:rPr lang="en-US" altLang="zh-CN" sz="2400">
                <a:latin typeface="宋体" pitchFamily="2" charset="-122"/>
              </a:rPr>
              <a:t>1</a:t>
            </a:r>
            <a:r>
              <a:rPr lang="zh-CN" altLang="en-US" sz="2400">
                <a:latin typeface="宋体" pitchFamily="2" charset="-122"/>
              </a:rPr>
              <a:t>组信息。那么，</a:t>
            </a:r>
            <a:r>
              <a:rPr lang="en-US" altLang="zh-CN" sz="2400">
                <a:latin typeface="宋体" pitchFamily="2" charset="-122"/>
              </a:rPr>
              <a:t>1</a:t>
            </a:r>
            <a:r>
              <a:rPr lang="zh-CN" altLang="en-US" sz="2400">
                <a:latin typeface="宋体" pitchFamily="2" charset="-122"/>
              </a:rPr>
              <a:t>组信息又可以分成</a:t>
            </a:r>
            <a:r>
              <a:rPr lang="en-US" altLang="zh-CN" sz="2400">
                <a:latin typeface="宋体" pitchFamily="2" charset="-122"/>
              </a:rPr>
              <a:t>64</a:t>
            </a:r>
            <a:r>
              <a:rPr lang="zh-CN" altLang="en-US" sz="2400">
                <a:latin typeface="宋体" pitchFamily="2" charset="-122"/>
              </a:rPr>
              <a:t>个扇区。</a:t>
            </a:r>
            <a:r>
              <a:rPr lang="zh-CN" altLang="en-US" sz="2400"/>
              <a:t>每一个扇区里，可以存入一定格式的信息内容，这样是为了方便信息的读取和位置的寻找。</a:t>
            </a:r>
            <a:endParaRPr lang="zh-CN" altLang="en-US" sz="2400">
              <a:latin typeface="宋体"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p>
            <a:fld id="{991E572C-C1DB-4D08-9248-65A6CCDA482B}" type="slidenum">
              <a:rPr lang="en-US" altLang="zh-CN" smtClean="0"/>
              <a:pPr/>
              <a:t>18</a:t>
            </a:fld>
            <a:endParaRPr lang="en-US" altLang="zh-CN" smtClean="0"/>
          </a:p>
        </p:txBody>
      </p:sp>
      <p:sp>
        <p:nvSpPr>
          <p:cNvPr id="21507" name="Rectangle 4"/>
          <p:cNvSpPr>
            <a:spLocks noChangeArrowheads="1"/>
          </p:cNvSpPr>
          <p:nvPr/>
        </p:nvSpPr>
        <p:spPr bwMode="auto">
          <a:xfrm>
            <a:off x="179388" y="115888"/>
            <a:ext cx="8785225" cy="2709862"/>
          </a:xfrm>
          <a:prstGeom prst="rect">
            <a:avLst/>
          </a:prstGeom>
          <a:solidFill>
            <a:srgbClr val="CCFFFF"/>
          </a:solidFill>
          <a:ln w="9525">
            <a:noFill/>
            <a:miter lim="800000"/>
            <a:headEnd/>
            <a:tailEnd/>
          </a:ln>
        </p:spPr>
        <p:txBody>
          <a:bodyPr anchor="ctr">
            <a:spAutoFit/>
          </a:bodyPr>
          <a:lstStyle/>
          <a:p>
            <a:pPr eaLnBrk="0" hangingPunct="0"/>
            <a:r>
              <a:rPr lang="zh-CN" altLang="en-US" sz="2800" b="1">
                <a:latin typeface="宋体" pitchFamily="2" charset="-122"/>
              </a:rPr>
              <a:t>硬盘的分区域记录</a:t>
            </a:r>
            <a:r>
              <a:rPr lang="zh-CN" altLang="en-US" sz="2400">
                <a:latin typeface="宋体" pitchFamily="2" charset="-122"/>
              </a:rPr>
              <a:t/>
            </a:r>
            <a:br>
              <a:rPr lang="zh-CN" altLang="en-US" sz="2400">
                <a:latin typeface="宋体" pitchFamily="2" charset="-122"/>
              </a:rPr>
            </a:br>
            <a:r>
              <a:rPr lang="zh-CN" altLang="en-US" sz="2400">
                <a:latin typeface="宋体" pitchFamily="2" charset="-122"/>
              </a:rPr>
              <a:t>　　传统硬盘驱动器的每个磁道上记录的扇区数是相同的，因而存储的信息量也是相同的，这意味着在磁盘上位密度是变化的。因为内圈磁道的周长短，外圈磁道的周长长，所以内圈磁道的位密度高，外圈磁道的位密度低，最内圈磁道的位密度（最大位密度）决定了磁盘驱动器的容量。又因为每个磁道记录的信息量及转速是相同的，所以它们的数据传输率也是相同的。</a:t>
            </a:r>
          </a:p>
        </p:txBody>
      </p:sp>
      <p:sp>
        <p:nvSpPr>
          <p:cNvPr id="74757" name="Rectangle 5"/>
          <p:cNvSpPr>
            <a:spLocks noChangeArrowheads="1"/>
          </p:cNvSpPr>
          <p:nvPr/>
        </p:nvSpPr>
        <p:spPr bwMode="auto">
          <a:xfrm>
            <a:off x="179388" y="620713"/>
            <a:ext cx="8785225" cy="2282825"/>
          </a:xfrm>
          <a:prstGeom prst="rect">
            <a:avLst/>
          </a:prstGeom>
          <a:solidFill>
            <a:srgbClr val="00FFFF"/>
          </a:solidFill>
          <a:ln w="9525">
            <a:noFill/>
            <a:miter lim="800000"/>
            <a:headEnd/>
            <a:tailEnd/>
          </a:ln>
        </p:spPr>
        <p:txBody>
          <a:bodyPr anchor="ctr">
            <a:spAutoFit/>
          </a:bodyPr>
          <a:lstStyle/>
          <a:p>
            <a:pPr eaLnBrk="0" hangingPunct="0"/>
            <a:r>
              <a:rPr lang="zh-CN" altLang="en-US" sz="2400">
                <a:latin typeface="宋体" pitchFamily="2" charset="-122"/>
              </a:rPr>
              <a:t>　由于外圈磁道比内圈磁道长，但存储的信息量却相同，所以外圈磁道上明显地存在着浪费。采用分区域记录技术可以增加硬盘驱动器的容量。分区域记录就是把磁盘柱面分成一系列的组，又称区域。由于外圈磁道有更长的周长，所以外层磁道要比内层磁道包含更多的扇区，即外圈磁道上保存的信息比内圈磁道多。</a:t>
            </a:r>
          </a:p>
          <a:p>
            <a:pPr eaLnBrk="0" hangingPunct="0"/>
            <a:r>
              <a:rPr lang="zh-CN" altLang="en-US" sz="2400">
                <a:latin typeface="宋体" pitchFamily="2" charset="-122"/>
              </a:rPr>
              <a:t> </a:t>
            </a:r>
          </a:p>
        </p:txBody>
      </p:sp>
      <p:pic>
        <p:nvPicPr>
          <p:cNvPr id="21509" name="Picture 7" descr="7"/>
          <p:cNvPicPr>
            <a:picLocks noChangeAspect="1" noChangeArrowheads="1"/>
          </p:cNvPicPr>
          <p:nvPr/>
        </p:nvPicPr>
        <p:blipFill>
          <a:blip r:embed="rId2"/>
          <a:srcRect/>
          <a:stretch>
            <a:fillRect/>
          </a:stretch>
        </p:blipFill>
        <p:spPr bwMode="auto">
          <a:xfrm>
            <a:off x="395288" y="2997200"/>
            <a:ext cx="8064500" cy="3419475"/>
          </a:xfrm>
          <a:prstGeom prst="rect">
            <a:avLst/>
          </a:prstGeom>
          <a:noFill/>
          <a:ln w="9525">
            <a:noFill/>
            <a:miter lim="800000"/>
            <a:headEnd/>
            <a:tailEnd/>
          </a:ln>
        </p:spPr>
      </p:pic>
      <p:sp>
        <p:nvSpPr>
          <p:cNvPr id="74760" name="Rectangle 8"/>
          <p:cNvSpPr>
            <a:spLocks noChangeArrowheads="1"/>
          </p:cNvSpPr>
          <p:nvPr/>
        </p:nvSpPr>
        <p:spPr bwMode="auto">
          <a:xfrm>
            <a:off x="179388" y="115888"/>
            <a:ext cx="8785225" cy="3013075"/>
          </a:xfrm>
          <a:prstGeom prst="rect">
            <a:avLst/>
          </a:prstGeom>
          <a:solidFill>
            <a:srgbClr val="00FFFF"/>
          </a:solidFill>
          <a:ln w="9525">
            <a:noFill/>
            <a:miter lim="800000"/>
            <a:headEnd/>
            <a:tailEnd/>
          </a:ln>
        </p:spPr>
        <p:txBody>
          <a:bodyPr anchor="ctr">
            <a:spAutoFit/>
          </a:bodyPr>
          <a:lstStyle/>
          <a:p>
            <a:pPr eaLnBrk="0" hangingPunct="0"/>
            <a:r>
              <a:rPr lang="en-US" altLang="zh-CN" sz="2400" dirty="0">
                <a:latin typeface="宋体" pitchFamily="2" charset="-122"/>
              </a:rPr>
              <a:t>    </a:t>
            </a:r>
            <a:r>
              <a:rPr lang="zh-CN" altLang="en-US" sz="2400" dirty="0">
                <a:latin typeface="宋体" pitchFamily="2" charset="-122"/>
              </a:rPr>
              <a:t>分区域记录的数据传输率随磁头所处的区域而变化。分区域驱动器还是以恒定速度旋转，可是，由于外层区域每磁道有更多的扇区，所以数据传输速度要更快一些。这就是当今驱动器标注最小和最大连续传输速率的原因，因为传输速率取决于磁头读写的位置。</a:t>
            </a:r>
            <a:br>
              <a:rPr lang="zh-CN" altLang="en-US" sz="2400" dirty="0">
                <a:latin typeface="宋体" pitchFamily="2" charset="-122"/>
              </a:rPr>
            </a:br>
            <a:r>
              <a:rPr lang="zh-CN" altLang="en-US" sz="2400" dirty="0">
                <a:latin typeface="宋体" pitchFamily="2" charset="-122"/>
              </a:rPr>
              <a:t>　　分区域记录技术的使用，大大地提高了硬盘利用率，与采用每磁道固定扇区的硬盘比较，使驱动器增加了</a:t>
            </a:r>
            <a:r>
              <a:rPr lang="en-US" altLang="zh-CN" sz="2400" dirty="0">
                <a:latin typeface="宋体" pitchFamily="2" charset="-122"/>
              </a:rPr>
              <a:t>20</a:t>
            </a:r>
            <a:r>
              <a:rPr lang="zh-CN" altLang="en-US" sz="2400" dirty="0">
                <a:latin typeface="宋体" pitchFamily="2" charset="-122"/>
              </a:rPr>
              <a:t>～</a:t>
            </a:r>
            <a:r>
              <a:rPr lang="en-US" altLang="zh-CN" sz="2400" dirty="0">
                <a:latin typeface="宋体" pitchFamily="2" charset="-122"/>
              </a:rPr>
              <a:t>50</a:t>
            </a:r>
            <a:r>
              <a:rPr lang="zh-CN" altLang="en-US" sz="2400" dirty="0">
                <a:latin typeface="宋体" pitchFamily="2" charset="-122"/>
              </a:rPr>
              <a:t>％的硬盘容量。实际上，现在所有的</a:t>
            </a:r>
            <a:r>
              <a:rPr lang="en-US" altLang="zh-CN" sz="2400" dirty="0">
                <a:latin typeface="宋体" pitchFamily="2" charset="-122"/>
              </a:rPr>
              <a:t>IDE</a:t>
            </a:r>
            <a:r>
              <a:rPr lang="zh-CN" altLang="en-US" sz="2400" dirty="0">
                <a:latin typeface="宋体" pitchFamily="2" charset="-122"/>
              </a:rPr>
              <a:t>和</a:t>
            </a:r>
            <a:r>
              <a:rPr lang="en-US" altLang="zh-CN" sz="2400" dirty="0">
                <a:latin typeface="宋体" pitchFamily="2" charset="-122"/>
              </a:rPr>
              <a:t>SCSI</a:t>
            </a:r>
            <a:r>
              <a:rPr lang="zh-CN" altLang="en-US" sz="2400" dirty="0">
                <a:latin typeface="宋体" pitchFamily="2" charset="-122"/>
              </a:rPr>
              <a:t>硬盘都采用分区域记录。</a:t>
            </a:r>
            <a:endParaRPr lang="zh-CN" altLang="en-US" sz="2400" b="1"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animEffect transition="in" filter="dissolve">
                                      <p:cBhvr>
                                        <p:cTn id="7" dur="500"/>
                                        <p:tgtEl>
                                          <p:spTgt spid="74757"/>
                                        </p:tgtEl>
                                      </p:cBhvr>
                                    </p:animEffect>
                                  </p:childTnLst>
                                  <p:subTnLst>
                                    <p:set>
                                      <p:cBhvr override="childStyle">
                                        <p:cTn dur="1" fill="hold" display="0" masterRel="nextClick" afterEffect="1"/>
                                        <p:tgtEl>
                                          <p:spTgt spid="74757"/>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4760"/>
                                        </p:tgtEl>
                                        <p:attrNameLst>
                                          <p:attrName>style.visibility</p:attrName>
                                        </p:attrNameLst>
                                      </p:cBhvr>
                                      <p:to>
                                        <p:strVal val="visible"/>
                                      </p:to>
                                    </p:set>
                                    <p:animEffect transition="in" filter="dissolve">
                                      <p:cBhvr>
                                        <p:cTn id="12" dur="500"/>
                                        <p:tgtEl>
                                          <p:spTgt spid="74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nimBg="1" autoUpdateAnimBg="0"/>
      <p:bldP spid="74760"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p>
            <a:fld id="{1F5EA199-EF14-48DB-8100-16BEF89A5CC5}" type="slidenum">
              <a:rPr lang="en-US" altLang="zh-CN" smtClean="0"/>
              <a:pPr/>
              <a:t>19</a:t>
            </a:fld>
            <a:endParaRPr lang="en-US" altLang="zh-CN" smtClean="0"/>
          </a:p>
        </p:txBody>
      </p:sp>
      <p:sp>
        <p:nvSpPr>
          <p:cNvPr id="22531" name="Rectangle 3"/>
          <p:cNvSpPr>
            <a:spLocks noGrp="1" noChangeArrowheads="1"/>
          </p:cNvSpPr>
          <p:nvPr>
            <p:ph type="body" idx="1"/>
          </p:nvPr>
        </p:nvSpPr>
        <p:spPr>
          <a:xfrm>
            <a:off x="250825" y="333375"/>
            <a:ext cx="8281988" cy="6335713"/>
          </a:xfrm>
        </p:spPr>
        <p:txBody>
          <a:bodyPr/>
          <a:lstStyle/>
          <a:p>
            <a:pPr eaLnBrk="1" hangingPunct="1">
              <a:buFont typeface="Wingdings" pitchFamily="2" charset="2"/>
              <a:buNone/>
            </a:pPr>
            <a:r>
              <a:rPr lang="en-US" altLang="zh-CN" sz="3600" dirty="0" smtClean="0">
                <a:latin typeface="宋体" pitchFamily="2" charset="-122"/>
              </a:rPr>
              <a:t>7.2.5 </a:t>
            </a:r>
            <a:r>
              <a:rPr lang="zh-CN" altLang="en-US" sz="3600" dirty="0" smtClean="0">
                <a:latin typeface="宋体" pitchFamily="2" charset="-122"/>
              </a:rPr>
              <a:t>磁盘存储器的技术指标</a:t>
            </a:r>
          </a:p>
          <a:p>
            <a:pPr eaLnBrk="1" hangingPunct="1">
              <a:buFont typeface="Wingdings" pitchFamily="2" charset="2"/>
              <a:buNone/>
            </a:pPr>
            <a:r>
              <a:rPr lang="zh-CN" altLang="en-US" sz="2800" dirty="0" smtClean="0">
                <a:latin typeface="宋体" pitchFamily="2" charset="-122"/>
              </a:rPr>
              <a:t> 　 　</a:t>
            </a:r>
          </a:p>
          <a:p>
            <a:pPr eaLnBrk="1" hangingPunct="1"/>
            <a:r>
              <a:rPr lang="zh-CN" altLang="en-US" sz="3200" dirty="0" smtClean="0">
                <a:latin typeface="宋体" pitchFamily="2" charset="-122"/>
              </a:rPr>
              <a:t>存储密度：存储密度分道密度、位密度和面密度。</a:t>
            </a:r>
          </a:p>
          <a:p>
            <a:pPr lvl="1" eaLnBrk="1" hangingPunct="1"/>
            <a:r>
              <a:rPr lang="zh-CN" altLang="en-US" sz="2900" dirty="0" smtClean="0">
                <a:latin typeface="宋体" pitchFamily="2" charset="-122"/>
              </a:rPr>
              <a:t>道密度：沿磁盘半径方向单位长度上的磁道数，单位为道</a:t>
            </a:r>
            <a:r>
              <a:rPr lang="en-US" altLang="zh-CN" sz="2900" dirty="0" smtClean="0">
                <a:latin typeface="宋体" pitchFamily="2" charset="-122"/>
              </a:rPr>
              <a:t>/</a:t>
            </a:r>
            <a:r>
              <a:rPr lang="zh-CN" altLang="en-US" sz="2900" dirty="0" smtClean="0">
                <a:latin typeface="宋体" pitchFamily="2" charset="-122"/>
              </a:rPr>
              <a:t>英寸。</a:t>
            </a:r>
          </a:p>
          <a:p>
            <a:pPr lvl="1" eaLnBrk="1" hangingPunct="1"/>
            <a:r>
              <a:rPr lang="zh-CN" altLang="en-US" sz="2900" dirty="0" smtClean="0">
                <a:latin typeface="宋体" pitchFamily="2" charset="-122"/>
              </a:rPr>
              <a:t>位密度：磁道单位长度上能记录的二进制代码位数，单位为位</a:t>
            </a:r>
            <a:r>
              <a:rPr lang="en-US" altLang="zh-CN" sz="2900" dirty="0" smtClean="0">
                <a:latin typeface="宋体" pitchFamily="2" charset="-122"/>
              </a:rPr>
              <a:t>/</a:t>
            </a:r>
            <a:r>
              <a:rPr lang="zh-CN" altLang="en-US" sz="2900" dirty="0" smtClean="0">
                <a:latin typeface="宋体" pitchFamily="2" charset="-122"/>
              </a:rPr>
              <a:t>英寸。</a:t>
            </a:r>
          </a:p>
          <a:p>
            <a:pPr lvl="1" eaLnBrk="1" hangingPunct="1"/>
            <a:r>
              <a:rPr lang="zh-CN" altLang="en-US" sz="2900" dirty="0" smtClean="0">
                <a:latin typeface="宋体" pitchFamily="2" charset="-122"/>
              </a:rPr>
              <a:t>面密度：位密度和道密度的乘积，单位为位</a:t>
            </a:r>
            <a:r>
              <a:rPr lang="en-US" altLang="zh-CN" sz="2900" dirty="0" smtClean="0">
                <a:latin typeface="宋体" pitchFamily="2" charset="-122"/>
              </a:rPr>
              <a:t>/</a:t>
            </a:r>
            <a:r>
              <a:rPr lang="zh-CN" altLang="en-US" sz="2900" dirty="0" smtClean="0">
                <a:latin typeface="宋体" pitchFamily="2" charset="-122"/>
              </a:rPr>
              <a:t>平方英寸。</a:t>
            </a:r>
            <a:endParaRPr lang="zh-CN" altLang="en-US" sz="3200" dirty="0" smtClean="0">
              <a:latin typeface="宋体"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pPr/>
              <a:t>20</a:t>
            </a:fld>
            <a:endParaRPr lang="en-US" altLang="zh-CN" smtClean="0"/>
          </a:p>
        </p:txBody>
      </p:sp>
      <p:sp>
        <p:nvSpPr>
          <p:cNvPr id="23555" name="Rectangle 5"/>
          <p:cNvSpPr>
            <a:spLocks noChangeArrowheads="1"/>
          </p:cNvSpPr>
          <p:nvPr/>
        </p:nvSpPr>
        <p:spPr bwMode="auto">
          <a:xfrm>
            <a:off x="250825" y="476250"/>
            <a:ext cx="8353425" cy="5976938"/>
          </a:xfrm>
          <a:prstGeom prst="rect">
            <a:avLst/>
          </a:prstGeom>
          <a:noFill/>
          <a:ln w="9525">
            <a:noFill/>
            <a:miter lim="800000"/>
            <a:headEnd/>
            <a:tailEnd/>
          </a:ln>
        </p:spPr>
        <p:txBody>
          <a:bodyPr/>
          <a:lstStyle/>
          <a:p>
            <a:pPr marL="342900" indent="-342900" eaLnBrk="0" hangingPunct="0"/>
            <a:endParaRPr lang="en-US" altLang="zh-CN" sz="3000" dirty="0"/>
          </a:p>
          <a:p>
            <a:pPr marL="342900" indent="-342900">
              <a:lnSpc>
                <a:spcPct val="90000"/>
              </a:lnSpc>
              <a:spcBef>
                <a:spcPct val="20000"/>
              </a:spcBef>
              <a:buClr>
                <a:schemeClr val="tx2"/>
              </a:buClr>
              <a:buSzPct val="70000"/>
              <a:buFont typeface="Wingdings" pitchFamily="2" charset="2"/>
              <a:buChar char="l"/>
            </a:pPr>
            <a:r>
              <a:rPr lang="zh-CN" altLang="en-US" sz="3200" dirty="0">
                <a:latin typeface="宋体" pitchFamily="2" charset="-122"/>
              </a:rPr>
              <a:t>存储</a:t>
            </a:r>
            <a:r>
              <a:rPr lang="zh-CN" altLang="en-US" sz="3200" b="1" dirty="0">
                <a:latin typeface="宋体" pitchFamily="2" charset="-122"/>
              </a:rPr>
              <a:t>容量</a:t>
            </a:r>
          </a:p>
          <a:p>
            <a:pPr marL="342900" indent="-342900">
              <a:lnSpc>
                <a:spcPct val="90000"/>
              </a:lnSpc>
              <a:spcBef>
                <a:spcPct val="20000"/>
              </a:spcBef>
              <a:buClr>
                <a:schemeClr val="tx2"/>
              </a:buClr>
              <a:buSzPct val="70000"/>
              <a:buFont typeface="Wingdings" pitchFamily="2" charset="2"/>
              <a:buNone/>
            </a:pPr>
            <a:r>
              <a:rPr lang="zh-CN" altLang="en-US" sz="2800" dirty="0">
                <a:latin typeface="宋体" pitchFamily="2" charset="-122"/>
              </a:rPr>
              <a:t>      一个磁盘存储器所能存储的字节总数，</a:t>
            </a:r>
          </a:p>
          <a:p>
            <a:pPr marL="342900" indent="-342900">
              <a:lnSpc>
                <a:spcPct val="90000"/>
              </a:lnSpc>
              <a:spcBef>
                <a:spcPct val="20000"/>
              </a:spcBef>
              <a:buClr>
                <a:schemeClr val="tx2"/>
              </a:buClr>
              <a:buSzPct val="70000"/>
              <a:buFont typeface="Wingdings" pitchFamily="2" charset="2"/>
              <a:buNone/>
            </a:pPr>
            <a:r>
              <a:rPr lang="zh-CN" altLang="en-US" sz="2800" dirty="0">
                <a:latin typeface="宋体" pitchFamily="2" charset="-122"/>
              </a:rPr>
              <a:t>  称为磁盘存储器的存储容量。</a:t>
            </a:r>
          </a:p>
          <a:p>
            <a:pPr marL="342900" indent="-342900">
              <a:lnSpc>
                <a:spcPct val="90000"/>
              </a:lnSpc>
              <a:spcBef>
                <a:spcPct val="20000"/>
              </a:spcBef>
              <a:buClr>
                <a:schemeClr val="tx2"/>
              </a:buClr>
              <a:buSzPct val="70000"/>
              <a:buFont typeface="Wingdings" pitchFamily="2" charset="2"/>
              <a:buNone/>
            </a:pPr>
            <a:r>
              <a:rPr lang="zh-CN" altLang="en-US" sz="2800" dirty="0">
                <a:latin typeface="宋体" pitchFamily="2" charset="-122"/>
              </a:rPr>
              <a:t>      存储容量有格式化容量和非格式化容量之分。</a:t>
            </a:r>
          </a:p>
          <a:p>
            <a:pPr marL="342900" indent="-342900">
              <a:lnSpc>
                <a:spcPct val="90000"/>
              </a:lnSpc>
              <a:spcBef>
                <a:spcPct val="20000"/>
              </a:spcBef>
              <a:buClr>
                <a:schemeClr val="tx2"/>
              </a:buClr>
              <a:buSzPct val="70000"/>
              <a:buFont typeface="Wingdings" pitchFamily="2" charset="2"/>
              <a:buNone/>
            </a:pPr>
            <a:r>
              <a:rPr lang="zh-CN" altLang="en-US" sz="2800" dirty="0">
                <a:latin typeface="宋体" pitchFamily="2" charset="-122"/>
              </a:rPr>
              <a:t>      </a:t>
            </a:r>
            <a:r>
              <a:rPr lang="zh-CN" altLang="en-US" sz="2800" b="1" dirty="0">
                <a:latin typeface="宋体" pitchFamily="2" charset="-122"/>
              </a:rPr>
              <a:t>格式化容量：</a:t>
            </a:r>
            <a:r>
              <a:rPr lang="zh-CN" altLang="en-US" sz="2800" dirty="0">
                <a:latin typeface="宋体" pitchFamily="2" charset="-122"/>
              </a:rPr>
              <a:t>指按照某种特定的记录格式所能存储信息的总量，也就是用户可以真正使用的容量。</a:t>
            </a:r>
          </a:p>
          <a:p>
            <a:pPr marL="342900" indent="-342900">
              <a:lnSpc>
                <a:spcPct val="90000"/>
              </a:lnSpc>
              <a:spcBef>
                <a:spcPct val="20000"/>
              </a:spcBef>
              <a:buClr>
                <a:schemeClr val="tx2"/>
              </a:buClr>
              <a:buSzPct val="70000"/>
              <a:buFont typeface="Wingdings" pitchFamily="2" charset="2"/>
              <a:buNone/>
            </a:pPr>
            <a:r>
              <a:rPr lang="zh-CN" altLang="en-US" sz="2800" dirty="0">
                <a:latin typeface="宋体" pitchFamily="2" charset="-122"/>
              </a:rPr>
              <a:t>      </a:t>
            </a:r>
            <a:r>
              <a:rPr lang="zh-CN" altLang="en-US" sz="2800" b="1" dirty="0">
                <a:latin typeface="宋体" pitchFamily="2" charset="-122"/>
              </a:rPr>
              <a:t>非格式化容量：</a:t>
            </a:r>
            <a:r>
              <a:rPr lang="zh-CN" altLang="en-US" sz="2800" dirty="0">
                <a:latin typeface="宋体" pitchFamily="2" charset="-122"/>
              </a:rPr>
              <a:t>磁记录表面可以利用的磁化单元总数。将磁盘存储器用于某计算机系统中，必须首先进行格式化操作，然后才能供用户记录信息。格式化容量一般是非格式化容量的</a:t>
            </a:r>
            <a:r>
              <a:rPr lang="en-US" altLang="zh-CN" sz="2800" dirty="0">
                <a:latin typeface="宋体" pitchFamily="2" charset="-122"/>
              </a:rPr>
              <a:t>60%—70%</a:t>
            </a:r>
            <a:r>
              <a:rPr lang="zh-CN" altLang="en-US" sz="2800" dirty="0">
                <a:latin typeface="宋体" pitchFamily="2" charset="-122"/>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pPr/>
              <a:t>21</a:t>
            </a:fld>
            <a:endParaRPr lang="en-US" altLang="zh-CN" smtClean="0"/>
          </a:p>
        </p:txBody>
      </p:sp>
      <p:sp>
        <p:nvSpPr>
          <p:cNvPr id="23555" name="Rectangle 5"/>
          <p:cNvSpPr>
            <a:spLocks noChangeArrowheads="1"/>
          </p:cNvSpPr>
          <p:nvPr/>
        </p:nvSpPr>
        <p:spPr bwMode="auto">
          <a:xfrm>
            <a:off x="221950" y="293374"/>
            <a:ext cx="8627397" cy="6217712"/>
          </a:xfrm>
          <a:prstGeom prst="rect">
            <a:avLst/>
          </a:prstGeom>
          <a:solidFill>
            <a:schemeClr val="bg1"/>
          </a:solidFill>
          <a:ln w="9525">
            <a:noFill/>
            <a:miter lim="800000"/>
            <a:headEnd/>
            <a:tailEnd/>
          </a:ln>
        </p:spPr>
        <p:txBody>
          <a:bodyPr/>
          <a:lstStyle/>
          <a:p>
            <a:pPr marL="342900" indent="-342900">
              <a:lnSpc>
                <a:spcPct val="130000"/>
              </a:lnSpc>
              <a:spcBef>
                <a:spcPct val="20000"/>
              </a:spcBef>
              <a:buClr>
                <a:schemeClr val="tx2"/>
              </a:buClr>
              <a:buSzPct val="70000"/>
              <a:buFont typeface="Wingdings" pitchFamily="2" charset="2"/>
              <a:buChar char="l"/>
            </a:pPr>
            <a:r>
              <a:rPr lang="zh-CN" altLang="en-US" sz="2800" b="1" dirty="0" smtClean="0">
                <a:latin typeface="宋体" pitchFamily="2" charset="-122"/>
              </a:rPr>
              <a:t>平均</a:t>
            </a:r>
            <a:r>
              <a:rPr lang="zh-CN" altLang="en-US" sz="2800" b="1" dirty="0">
                <a:latin typeface="宋体" pitchFamily="2" charset="-122"/>
              </a:rPr>
              <a:t>寻址时间</a:t>
            </a:r>
          </a:p>
          <a:p>
            <a:pPr lvl="1">
              <a:lnSpc>
                <a:spcPct val="130000"/>
              </a:lnSpc>
              <a:spcBef>
                <a:spcPct val="20000"/>
              </a:spcBef>
              <a:buClr>
                <a:schemeClr val="tx2"/>
              </a:buClr>
              <a:buSzPct val="70000"/>
            </a:pPr>
            <a:r>
              <a:rPr lang="zh-CN" altLang="en-US" sz="2400" dirty="0" smtClean="0">
                <a:latin typeface="宋体" pitchFamily="2" charset="-122"/>
              </a:rPr>
              <a:t>    寻址</a:t>
            </a:r>
            <a:r>
              <a:rPr lang="zh-CN" altLang="en-US" sz="2400" dirty="0">
                <a:latin typeface="宋体" pitchFamily="2" charset="-122"/>
              </a:rPr>
              <a:t>时间是指从读写命令发出后，磁头从某一起始位置移动至新的</a:t>
            </a:r>
            <a:r>
              <a:rPr lang="zh-CN" altLang="en-US" sz="2400" dirty="0" smtClean="0">
                <a:latin typeface="宋体" pitchFamily="2" charset="-122"/>
              </a:rPr>
              <a:t>记录</a:t>
            </a:r>
            <a:r>
              <a:rPr lang="zh-CN" altLang="en-US" sz="2400" dirty="0">
                <a:latin typeface="宋体" pitchFamily="2" charset="-122"/>
              </a:rPr>
              <a:t>位置，再到磁道上需要访问的扇区移动到磁头下方所需的时间</a:t>
            </a:r>
            <a:r>
              <a:rPr lang="zh-CN" altLang="en-US" sz="2400" dirty="0" smtClean="0">
                <a:latin typeface="宋体" pitchFamily="2" charset="-122"/>
              </a:rPr>
              <a:t>。这</a:t>
            </a:r>
            <a:r>
              <a:rPr lang="zh-CN" altLang="en-US" sz="2400" dirty="0">
                <a:latin typeface="宋体" pitchFamily="2" charset="-122"/>
              </a:rPr>
              <a:t>段时间</a:t>
            </a:r>
            <a:r>
              <a:rPr lang="zh-CN" altLang="en-US" sz="2400" b="1" dirty="0">
                <a:latin typeface="宋体" pitchFamily="2" charset="-122"/>
              </a:rPr>
              <a:t>包括</a:t>
            </a:r>
            <a:r>
              <a:rPr lang="zh-CN" altLang="en-US" sz="2400" b="1" dirty="0" smtClean="0">
                <a:latin typeface="宋体" pitchFamily="2" charset="-122"/>
              </a:rPr>
              <a:t>寻道时间</a:t>
            </a:r>
            <a:r>
              <a:rPr lang="zh-CN" altLang="en-US" sz="2400" dirty="0" smtClean="0">
                <a:latin typeface="宋体" pitchFamily="2" charset="-122"/>
              </a:rPr>
              <a:t>和</a:t>
            </a:r>
            <a:r>
              <a:rPr lang="zh-CN" altLang="en-US" sz="2400" b="1" dirty="0">
                <a:latin typeface="宋体" pitchFamily="2" charset="-122"/>
              </a:rPr>
              <a:t>等待时间</a:t>
            </a:r>
            <a:r>
              <a:rPr lang="zh-CN" altLang="en-US" sz="2400" dirty="0" smtClean="0">
                <a:latin typeface="宋体" pitchFamily="2" charset="-122"/>
              </a:rPr>
              <a:t>。</a:t>
            </a:r>
            <a:endParaRPr lang="en-US" altLang="zh-CN" sz="2400" dirty="0" smtClean="0">
              <a:latin typeface="宋体" pitchFamily="2" charset="-122"/>
            </a:endParaRPr>
          </a:p>
          <a:p>
            <a:pPr lvl="1">
              <a:lnSpc>
                <a:spcPct val="130000"/>
              </a:lnSpc>
              <a:spcBef>
                <a:spcPct val="20000"/>
              </a:spcBef>
              <a:buClr>
                <a:schemeClr val="tx2"/>
              </a:buClr>
              <a:buSzPct val="70000"/>
            </a:pPr>
            <a:r>
              <a:rPr lang="en-US" altLang="zh-CN" sz="2400" dirty="0">
                <a:latin typeface="宋体" pitchFamily="2" charset="-122"/>
              </a:rPr>
              <a:t> </a:t>
            </a:r>
            <a:r>
              <a:rPr lang="en-US" altLang="zh-CN" sz="2400" dirty="0" smtClean="0">
                <a:latin typeface="宋体" pitchFamily="2" charset="-122"/>
              </a:rPr>
              <a:t>   </a:t>
            </a:r>
            <a:r>
              <a:rPr lang="zh-CN" altLang="en-US" sz="2400" dirty="0" smtClean="0">
                <a:latin typeface="宋体" pitchFamily="2" charset="-122"/>
              </a:rPr>
              <a:t>磁盘</a:t>
            </a:r>
            <a:r>
              <a:rPr lang="zh-CN" altLang="en-US" sz="2400" dirty="0">
                <a:latin typeface="宋体" pitchFamily="2" charset="-122"/>
              </a:rPr>
              <a:t>接到读</a:t>
            </a:r>
            <a:r>
              <a:rPr lang="en-US" altLang="zh-CN" sz="2400" dirty="0">
                <a:latin typeface="宋体" pitchFamily="2" charset="-122"/>
              </a:rPr>
              <a:t>/</a:t>
            </a:r>
            <a:r>
              <a:rPr lang="zh-CN" altLang="en-US" sz="2400" dirty="0">
                <a:latin typeface="宋体" pitchFamily="2" charset="-122"/>
              </a:rPr>
              <a:t>写指令后将磁头定位至所要访问的磁道上所需的时间，称为</a:t>
            </a:r>
            <a:r>
              <a:rPr lang="zh-CN" altLang="en-US" sz="2400" b="1" dirty="0" smtClean="0">
                <a:latin typeface="宋体" pitchFamily="2" charset="-122"/>
              </a:rPr>
              <a:t>寻道时间</a:t>
            </a:r>
            <a:r>
              <a:rPr lang="zh-CN" altLang="en-US" sz="2400" dirty="0">
                <a:latin typeface="宋体" pitchFamily="2" charset="-122"/>
              </a:rPr>
              <a:t>或</a:t>
            </a:r>
            <a:r>
              <a:rPr lang="zh-CN" altLang="en-US" sz="2400" b="1" dirty="0">
                <a:latin typeface="宋体" pitchFamily="2" charset="-122"/>
              </a:rPr>
              <a:t>找道时间</a:t>
            </a:r>
            <a:r>
              <a:rPr lang="zh-CN" altLang="en-US" sz="2400" dirty="0">
                <a:latin typeface="宋体" pitchFamily="2" charset="-122"/>
              </a:rPr>
              <a:t>、</a:t>
            </a:r>
            <a:r>
              <a:rPr lang="zh-CN" altLang="en-US" sz="2400" b="1" dirty="0">
                <a:latin typeface="宋体" pitchFamily="2" charset="-122"/>
              </a:rPr>
              <a:t>定位时间</a:t>
            </a:r>
            <a:r>
              <a:rPr lang="zh-CN" altLang="en-US" sz="2400" dirty="0" smtClean="0">
                <a:latin typeface="宋体" pitchFamily="2" charset="-122"/>
              </a:rPr>
              <a:t>。</a:t>
            </a:r>
            <a:endParaRPr lang="en-US" altLang="zh-CN" sz="2400" dirty="0" smtClean="0">
              <a:latin typeface="宋体" pitchFamily="2" charset="-122"/>
            </a:endParaRPr>
          </a:p>
          <a:p>
            <a:pPr lvl="1">
              <a:lnSpc>
                <a:spcPct val="130000"/>
              </a:lnSpc>
              <a:spcBef>
                <a:spcPct val="20000"/>
              </a:spcBef>
              <a:buClr>
                <a:schemeClr val="tx2"/>
              </a:buClr>
              <a:buSzPct val="70000"/>
            </a:pPr>
            <a:r>
              <a:rPr lang="en-US" altLang="zh-CN" sz="2400" dirty="0">
                <a:latin typeface="宋体" pitchFamily="2" charset="-122"/>
              </a:rPr>
              <a:t> </a:t>
            </a:r>
            <a:r>
              <a:rPr lang="en-US" altLang="zh-CN" sz="2400" dirty="0" smtClean="0">
                <a:latin typeface="宋体" pitchFamily="2" charset="-122"/>
              </a:rPr>
              <a:t>   </a:t>
            </a:r>
            <a:r>
              <a:rPr lang="zh-CN" altLang="en-US" sz="2400" dirty="0" smtClean="0">
                <a:latin typeface="宋体" pitchFamily="2" charset="-122"/>
              </a:rPr>
              <a:t>寻道</a:t>
            </a:r>
            <a:r>
              <a:rPr lang="zh-CN" altLang="en-US" sz="2400" dirty="0">
                <a:latin typeface="宋体" pitchFamily="2" charset="-122"/>
              </a:rPr>
              <a:t>完成后，磁道上需要访问的扇区移动到磁头下方所需</a:t>
            </a:r>
            <a:r>
              <a:rPr lang="zh-CN" altLang="en-US" sz="2400" dirty="0" smtClean="0">
                <a:latin typeface="宋体" pitchFamily="2" charset="-122"/>
              </a:rPr>
              <a:t>的时间</a:t>
            </a:r>
            <a:r>
              <a:rPr lang="zh-CN" altLang="en-US" sz="2400" dirty="0">
                <a:latin typeface="宋体" pitchFamily="2" charset="-122"/>
              </a:rPr>
              <a:t>，称为</a:t>
            </a:r>
            <a:r>
              <a:rPr lang="zh-CN" altLang="en-US" sz="2400" b="1" dirty="0">
                <a:latin typeface="宋体" pitchFamily="2" charset="-122"/>
              </a:rPr>
              <a:t>等待时间</a:t>
            </a:r>
            <a:r>
              <a:rPr lang="zh-CN" altLang="en-US" sz="2400" dirty="0">
                <a:latin typeface="宋体" pitchFamily="2" charset="-122"/>
              </a:rPr>
              <a:t>或</a:t>
            </a:r>
            <a:r>
              <a:rPr lang="zh-CN" altLang="en-US" sz="2400" b="1" dirty="0">
                <a:latin typeface="宋体" pitchFamily="2" charset="-122"/>
              </a:rPr>
              <a:t>寻区时间</a:t>
            </a:r>
            <a:r>
              <a:rPr lang="zh-CN" altLang="en-US" sz="2400" dirty="0">
                <a:latin typeface="宋体" pitchFamily="2" charset="-122"/>
              </a:rPr>
              <a:t>、</a:t>
            </a:r>
            <a:r>
              <a:rPr lang="zh-CN" altLang="en-US" sz="2400" b="1" dirty="0">
                <a:latin typeface="宋体" pitchFamily="2" charset="-122"/>
              </a:rPr>
              <a:t>潜伏期</a:t>
            </a:r>
            <a:r>
              <a:rPr lang="zh-CN" altLang="en-US" sz="2400" dirty="0">
                <a:latin typeface="宋体" pitchFamily="2" charset="-122"/>
              </a:rPr>
              <a:t>、</a:t>
            </a:r>
            <a:r>
              <a:rPr lang="zh-CN" altLang="en-US" sz="2400" b="1" dirty="0">
                <a:latin typeface="宋体" pitchFamily="2" charset="-122"/>
              </a:rPr>
              <a:t>旋转延迟</a:t>
            </a:r>
            <a:r>
              <a:rPr lang="zh-CN" altLang="en-US" sz="2400" dirty="0" smtClean="0">
                <a:latin typeface="宋体" pitchFamily="2" charset="-122"/>
              </a:rPr>
              <a:t>。</a:t>
            </a:r>
            <a:endParaRPr lang="en-US" altLang="zh-CN" sz="2400" dirty="0" smtClean="0">
              <a:latin typeface="宋体" pitchFamily="2" charset="-122"/>
            </a:endParaRPr>
          </a:p>
          <a:p>
            <a:pPr lvl="1">
              <a:lnSpc>
                <a:spcPct val="130000"/>
              </a:lnSpc>
              <a:spcBef>
                <a:spcPct val="20000"/>
              </a:spcBef>
              <a:buClr>
                <a:schemeClr val="tx2"/>
              </a:buClr>
              <a:buSzPct val="70000"/>
            </a:pPr>
            <a:r>
              <a:rPr lang="en-US" altLang="zh-CN" sz="2400" dirty="0">
                <a:latin typeface="宋体" pitchFamily="2" charset="-122"/>
              </a:rPr>
              <a:t> </a:t>
            </a:r>
            <a:r>
              <a:rPr lang="en-US" altLang="zh-CN" sz="2400" dirty="0" smtClean="0">
                <a:latin typeface="宋体" pitchFamily="2" charset="-122"/>
              </a:rPr>
              <a:t>   </a:t>
            </a:r>
            <a:r>
              <a:rPr lang="zh-CN" altLang="en-US" sz="2400" dirty="0" smtClean="0">
                <a:latin typeface="宋体" pitchFamily="2" charset="-122"/>
              </a:rPr>
              <a:t>这</a:t>
            </a:r>
            <a:r>
              <a:rPr lang="zh-CN" altLang="en-US" sz="2400" dirty="0">
                <a:latin typeface="宋体" pitchFamily="2" charset="-122"/>
              </a:rPr>
              <a:t>两个时间都是随机变化的，</a:t>
            </a:r>
            <a:r>
              <a:rPr lang="zh-CN" altLang="en-US" sz="2400" dirty="0" smtClean="0">
                <a:latin typeface="宋体" pitchFamily="2" charset="-122"/>
              </a:rPr>
              <a:t>因此往往</a:t>
            </a:r>
            <a:r>
              <a:rPr lang="zh-CN" altLang="en-US" sz="2400" dirty="0">
                <a:latin typeface="宋体" pitchFamily="2" charset="-122"/>
              </a:rPr>
              <a:t>使用平均值来表示。平均寻道时间是最大寻道时间与最小寻道时间的平均值</a:t>
            </a:r>
            <a:r>
              <a:rPr lang="zh-CN" altLang="en-US" sz="2400" dirty="0" smtClean="0">
                <a:latin typeface="宋体" pitchFamily="2" charset="-122"/>
              </a:rPr>
              <a:t>，平均</a:t>
            </a:r>
            <a:r>
              <a:rPr lang="zh-CN" altLang="en-US" sz="2400" dirty="0">
                <a:latin typeface="宋体" pitchFamily="2" charset="-122"/>
              </a:rPr>
              <a:t>等待时间和磁盘转速有关，它用</a:t>
            </a:r>
            <a:r>
              <a:rPr lang="zh-CN" altLang="en-US" sz="2400" dirty="0" smtClean="0">
                <a:latin typeface="宋体" pitchFamily="2" charset="-122"/>
              </a:rPr>
              <a:t>磁盘旋转</a:t>
            </a:r>
            <a:r>
              <a:rPr lang="zh-CN" altLang="en-US" sz="2400" dirty="0">
                <a:latin typeface="宋体" pitchFamily="2" charset="-122"/>
              </a:rPr>
              <a:t>一周所需时间的一半来表示</a:t>
            </a:r>
            <a:r>
              <a:rPr lang="zh-CN" altLang="en-US" sz="2400" dirty="0" smtClean="0">
                <a:latin typeface="宋体" pitchFamily="2" charset="-122"/>
              </a:rPr>
              <a:t>。</a:t>
            </a:r>
            <a:endParaRPr lang="zh-CN" altLang="en-US" sz="2400" dirty="0">
              <a:latin typeface="宋体" pitchFamily="2" charset="-122"/>
            </a:endParaRPr>
          </a:p>
        </p:txBody>
      </p:sp>
    </p:spTree>
    <p:extLst>
      <p:ext uri="{BB962C8B-B14F-4D97-AF65-F5344CB8AC3E}">
        <p14:creationId xmlns:p14="http://schemas.microsoft.com/office/powerpoint/2010/main" val="11187753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pPr/>
              <a:t>22</a:t>
            </a:fld>
            <a:endParaRPr lang="en-US" altLang="zh-CN" smtClean="0"/>
          </a:p>
        </p:txBody>
      </p:sp>
      <p:sp>
        <p:nvSpPr>
          <p:cNvPr id="23555" name="Rectangle 5"/>
          <p:cNvSpPr>
            <a:spLocks noChangeArrowheads="1"/>
          </p:cNvSpPr>
          <p:nvPr/>
        </p:nvSpPr>
        <p:spPr bwMode="auto">
          <a:xfrm>
            <a:off x="73637" y="58523"/>
            <a:ext cx="8064896" cy="6721345"/>
          </a:xfrm>
          <a:prstGeom prst="rect">
            <a:avLst/>
          </a:prstGeom>
          <a:noFill/>
          <a:ln w="9525">
            <a:noFill/>
            <a:miter lim="800000"/>
            <a:headEnd/>
            <a:tailEnd/>
          </a:ln>
        </p:spPr>
        <p:txBody>
          <a:bodyPr/>
          <a:lstStyle/>
          <a:p>
            <a:pPr marL="457200" indent="-457200">
              <a:lnSpc>
                <a:spcPct val="110000"/>
              </a:lnSpc>
              <a:spcBef>
                <a:spcPts val="600"/>
              </a:spcBef>
              <a:buClr>
                <a:schemeClr val="tx2"/>
              </a:buClr>
              <a:buSzPct val="70000"/>
              <a:buFont typeface="Wingdings" panose="05000000000000000000" pitchFamily="2" charset="2"/>
              <a:buChar char="l"/>
            </a:pPr>
            <a:r>
              <a:rPr lang="zh-CN" altLang="en-US" sz="3200" dirty="0" smtClean="0">
                <a:latin typeface="宋体" pitchFamily="2" charset="-122"/>
              </a:rPr>
              <a:t>平均</a:t>
            </a:r>
            <a:r>
              <a:rPr lang="zh-CN" altLang="en-US" sz="3200" dirty="0">
                <a:latin typeface="宋体" pitchFamily="2" charset="-122"/>
              </a:rPr>
              <a:t>存取</a:t>
            </a:r>
            <a:r>
              <a:rPr lang="zh-CN" altLang="en-US" sz="3200" dirty="0" smtClean="0">
                <a:latin typeface="宋体" pitchFamily="2" charset="-122"/>
              </a:rPr>
              <a:t>时间</a:t>
            </a:r>
            <a:endParaRPr lang="en-US" altLang="zh-CN" sz="3200" dirty="0" smtClean="0">
              <a:latin typeface="宋体" pitchFamily="2" charset="-122"/>
            </a:endParaRPr>
          </a:p>
          <a:p>
            <a:pPr lvl="1">
              <a:lnSpc>
                <a:spcPct val="110000"/>
              </a:lnSpc>
              <a:spcBef>
                <a:spcPts val="600"/>
              </a:spcBef>
              <a:buClr>
                <a:schemeClr val="tx2"/>
              </a:buClr>
              <a:buSzPct val="70000"/>
            </a:pPr>
            <a:r>
              <a:rPr lang="zh-CN" altLang="en-US" sz="3200" dirty="0" smtClean="0">
                <a:latin typeface="宋体" pitchFamily="2" charset="-122"/>
              </a:rPr>
              <a:t>    存取</a:t>
            </a:r>
            <a:r>
              <a:rPr lang="en-US" altLang="zh-CN" sz="3200" dirty="0">
                <a:latin typeface="宋体" pitchFamily="2" charset="-122"/>
              </a:rPr>
              <a:t>(</a:t>
            </a:r>
            <a:r>
              <a:rPr lang="zh-CN" altLang="en-US" sz="3200" dirty="0">
                <a:latin typeface="宋体" pitchFamily="2" charset="-122"/>
              </a:rPr>
              <a:t>访问</a:t>
            </a:r>
            <a:r>
              <a:rPr lang="en-US" altLang="zh-CN" sz="3200" dirty="0">
                <a:latin typeface="宋体" pitchFamily="2" charset="-122"/>
              </a:rPr>
              <a:t>)</a:t>
            </a:r>
            <a:r>
              <a:rPr lang="zh-CN" altLang="en-US" sz="3200" dirty="0">
                <a:latin typeface="宋体" pitchFamily="2" charset="-122"/>
              </a:rPr>
              <a:t>时间是从读</a:t>
            </a:r>
            <a:r>
              <a:rPr lang="en-US" altLang="zh-CN" sz="3200" dirty="0">
                <a:latin typeface="宋体" pitchFamily="2" charset="-122"/>
              </a:rPr>
              <a:t>/</a:t>
            </a:r>
            <a:r>
              <a:rPr lang="zh-CN" altLang="en-US" sz="3200" dirty="0">
                <a:latin typeface="宋体" pitchFamily="2" charset="-122"/>
              </a:rPr>
              <a:t>写指令发出到开始第一笔数据读</a:t>
            </a:r>
            <a:r>
              <a:rPr lang="en-US" altLang="zh-CN" sz="3200" dirty="0">
                <a:latin typeface="宋体" pitchFamily="2" charset="-122"/>
              </a:rPr>
              <a:t>/</a:t>
            </a:r>
            <a:r>
              <a:rPr lang="zh-CN" altLang="en-US" sz="3200" dirty="0">
                <a:latin typeface="宋体" pitchFamily="2" charset="-122"/>
              </a:rPr>
              <a:t>写时所用</a:t>
            </a:r>
            <a:r>
              <a:rPr lang="zh-CN" altLang="en-US" sz="3200" dirty="0" smtClean="0">
                <a:latin typeface="宋体" pitchFamily="2" charset="-122"/>
              </a:rPr>
              <a:t>的平均</a:t>
            </a:r>
            <a:r>
              <a:rPr lang="zh-CN" altLang="en-US" sz="3200" dirty="0">
                <a:latin typeface="宋体" pitchFamily="2" charset="-122"/>
              </a:rPr>
              <a:t>时间，包括寻道时间、等待时间及相关的内务操作时间。内务操作时间一般很短</a:t>
            </a:r>
            <a:r>
              <a:rPr lang="en-US" altLang="zh-CN" sz="3200" dirty="0">
                <a:latin typeface="宋体" pitchFamily="2" charset="-122"/>
              </a:rPr>
              <a:t>(</a:t>
            </a:r>
            <a:r>
              <a:rPr lang="zh-CN" altLang="en-US" sz="3200" dirty="0" smtClean="0">
                <a:latin typeface="宋体" pitchFamily="2" charset="-122"/>
              </a:rPr>
              <a:t>一般在</a:t>
            </a:r>
            <a:r>
              <a:rPr lang="en-US" altLang="zh-CN" sz="3200" dirty="0" smtClean="0">
                <a:latin typeface="宋体" pitchFamily="2" charset="-122"/>
              </a:rPr>
              <a:t>0.2ms</a:t>
            </a:r>
            <a:r>
              <a:rPr lang="zh-CN" altLang="en-US" sz="3200" dirty="0">
                <a:latin typeface="宋体" pitchFamily="2" charset="-122"/>
              </a:rPr>
              <a:t>左右</a:t>
            </a:r>
            <a:r>
              <a:rPr lang="en-US" altLang="zh-CN" sz="3200" dirty="0">
                <a:latin typeface="宋体" pitchFamily="2" charset="-122"/>
              </a:rPr>
              <a:t>)</a:t>
            </a:r>
            <a:r>
              <a:rPr lang="zh-CN" altLang="en-US" sz="3200" dirty="0">
                <a:latin typeface="宋体" pitchFamily="2" charset="-122"/>
              </a:rPr>
              <a:t>，可忽略不计</a:t>
            </a:r>
            <a:r>
              <a:rPr lang="zh-CN" altLang="en-US" sz="3200" dirty="0" smtClean="0">
                <a:latin typeface="宋体" pitchFamily="2" charset="-122"/>
              </a:rPr>
              <a:t>。故</a:t>
            </a:r>
            <a:r>
              <a:rPr lang="zh-CN" altLang="en-US" sz="3200" dirty="0">
                <a:latin typeface="宋体" pitchFamily="2" charset="-122"/>
              </a:rPr>
              <a:t>平均访问时间近似等于平均寻道时间</a:t>
            </a:r>
            <a:r>
              <a:rPr lang="en-US" altLang="zh-CN" sz="3200" dirty="0">
                <a:latin typeface="宋体" pitchFamily="2" charset="-122"/>
              </a:rPr>
              <a:t>+</a:t>
            </a:r>
            <a:r>
              <a:rPr lang="zh-CN" altLang="en-US" sz="3200" dirty="0">
                <a:latin typeface="宋体" pitchFamily="2" charset="-122"/>
              </a:rPr>
              <a:t>平均等待时间，</a:t>
            </a:r>
            <a:r>
              <a:rPr lang="zh-CN" altLang="en-US" sz="3200" dirty="0" smtClean="0">
                <a:latin typeface="宋体" pitchFamily="2" charset="-122"/>
              </a:rPr>
              <a:t>即平均</a:t>
            </a:r>
            <a:r>
              <a:rPr lang="zh-CN" altLang="en-US" sz="3200" dirty="0">
                <a:latin typeface="宋体" pitchFamily="2" charset="-122"/>
              </a:rPr>
              <a:t>寻址时间。</a:t>
            </a:r>
          </a:p>
          <a:p>
            <a:pPr lvl="1">
              <a:lnSpc>
                <a:spcPct val="110000"/>
              </a:lnSpc>
              <a:spcBef>
                <a:spcPts val="600"/>
              </a:spcBef>
              <a:buClr>
                <a:schemeClr val="tx2"/>
              </a:buClr>
              <a:buSzPct val="70000"/>
            </a:pPr>
            <a:r>
              <a:rPr lang="en-US" altLang="zh-CN" sz="3200" dirty="0" smtClean="0">
                <a:latin typeface="宋体" pitchFamily="2" charset="-122"/>
              </a:rPr>
              <a:t>    Ta=Ts+1/(2r)+b/(</a:t>
            </a:r>
            <a:r>
              <a:rPr lang="en-US" altLang="zh-CN" sz="3200" dirty="0" err="1" smtClean="0">
                <a:latin typeface="宋体" pitchFamily="2" charset="-122"/>
              </a:rPr>
              <a:t>rN</a:t>
            </a:r>
            <a:r>
              <a:rPr lang="en-US" altLang="zh-CN" sz="3200" dirty="0" smtClean="0">
                <a:latin typeface="宋体" pitchFamily="2" charset="-122"/>
              </a:rPr>
              <a:t>)</a:t>
            </a:r>
            <a:endParaRPr lang="en-US" altLang="zh-CN" sz="3200" dirty="0">
              <a:latin typeface="宋体" pitchFamily="2" charset="-122"/>
            </a:endParaRPr>
          </a:p>
          <a:p>
            <a:pPr lvl="1">
              <a:lnSpc>
                <a:spcPct val="110000"/>
              </a:lnSpc>
              <a:spcBef>
                <a:spcPts val="600"/>
              </a:spcBef>
              <a:buClr>
                <a:schemeClr val="tx2"/>
              </a:buClr>
              <a:buSzPct val="70000"/>
            </a:pPr>
            <a:r>
              <a:rPr lang="en-US" altLang="zh-CN" sz="3200" dirty="0" smtClean="0">
                <a:latin typeface="宋体" pitchFamily="2" charset="-122"/>
              </a:rPr>
              <a:t>    </a:t>
            </a:r>
            <a:r>
              <a:rPr lang="en-US" altLang="zh-CN" sz="3200" dirty="0" err="1" smtClean="0">
                <a:latin typeface="宋体" pitchFamily="2" charset="-122"/>
              </a:rPr>
              <a:t>Ts</a:t>
            </a:r>
            <a:r>
              <a:rPr lang="zh-CN" altLang="en-US" sz="3200" dirty="0" smtClean="0">
                <a:latin typeface="宋体" pitchFamily="2" charset="-122"/>
              </a:rPr>
              <a:t>表示</a:t>
            </a:r>
            <a:r>
              <a:rPr lang="zh-CN" altLang="en-US" sz="3200" dirty="0">
                <a:latin typeface="宋体" pitchFamily="2" charset="-122"/>
              </a:rPr>
              <a:t>平均寻道时间，</a:t>
            </a:r>
            <a:r>
              <a:rPr lang="en-US" altLang="zh-CN" sz="3200" dirty="0">
                <a:latin typeface="宋体" pitchFamily="2" charset="-122"/>
              </a:rPr>
              <a:t>b</a:t>
            </a:r>
            <a:r>
              <a:rPr lang="zh-CN" altLang="en-US" sz="3200" dirty="0">
                <a:latin typeface="宋体" pitchFamily="2" charset="-122"/>
              </a:rPr>
              <a:t>表示传送的字节数，</a:t>
            </a:r>
            <a:r>
              <a:rPr lang="en-US" altLang="zh-CN" sz="3200" dirty="0">
                <a:latin typeface="宋体" pitchFamily="2" charset="-122"/>
              </a:rPr>
              <a:t>N</a:t>
            </a:r>
            <a:r>
              <a:rPr lang="zh-CN" altLang="en-US" sz="3200" dirty="0">
                <a:latin typeface="宋体" pitchFamily="2" charset="-122"/>
              </a:rPr>
              <a:t>表示每磁道字节数，</a:t>
            </a:r>
            <a:r>
              <a:rPr lang="en-US" altLang="zh-CN" sz="3200" dirty="0">
                <a:latin typeface="宋体" pitchFamily="2" charset="-122"/>
              </a:rPr>
              <a:t>b/(</a:t>
            </a:r>
            <a:r>
              <a:rPr lang="en-US" altLang="zh-CN" sz="3200" dirty="0" err="1">
                <a:latin typeface="宋体" pitchFamily="2" charset="-122"/>
              </a:rPr>
              <a:t>rN</a:t>
            </a:r>
            <a:r>
              <a:rPr lang="en-US" altLang="zh-CN" sz="3200" dirty="0">
                <a:latin typeface="宋体" pitchFamily="2" charset="-122"/>
              </a:rPr>
              <a:t>)</a:t>
            </a:r>
            <a:r>
              <a:rPr lang="zh-CN" altLang="en-US" sz="3200" dirty="0">
                <a:latin typeface="宋体" pitchFamily="2" charset="-122"/>
              </a:rPr>
              <a:t>表示</a:t>
            </a:r>
            <a:r>
              <a:rPr lang="zh-CN" altLang="en-US" sz="3200" dirty="0" smtClean="0">
                <a:latin typeface="宋体" pitchFamily="2" charset="-122"/>
              </a:rPr>
              <a:t>数据传输</a:t>
            </a:r>
            <a:r>
              <a:rPr lang="zh-CN" altLang="en-US" sz="3200" dirty="0">
                <a:latin typeface="宋体" pitchFamily="2" charset="-122"/>
              </a:rPr>
              <a:t>时间</a:t>
            </a:r>
            <a:r>
              <a:rPr lang="zh-CN" altLang="en-US" sz="3200" dirty="0" smtClean="0">
                <a:latin typeface="宋体" pitchFamily="2" charset="-122"/>
              </a:rPr>
              <a:t>。</a:t>
            </a:r>
            <a:endParaRPr lang="zh-CN" altLang="en-US" sz="3200" dirty="0">
              <a:latin typeface="宋体" pitchFamily="2" charset="-122"/>
            </a:endParaRPr>
          </a:p>
        </p:txBody>
      </p:sp>
    </p:spTree>
    <p:extLst>
      <p:ext uri="{BB962C8B-B14F-4D97-AF65-F5344CB8AC3E}">
        <p14:creationId xmlns:p14="http://schemas.microsoft.com/office/powerpoint/2010/main" val="5671603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pPr/>
              <a:t>23</a:t>
            </a:fld>
            <a:endParaRPr lang="en-US" altLang="zh-CN" smtClean="0"/>
          </a:p>
        </p:txBody>
      </p:sp>
      <p:sp>
        <p:nvSpPr>
          <p:cNvPr id="23555" name="Rectangle 5"/>
          <p:cNvSpPr>
            <a:spLocks noChangeArrowheads="1"/>
          </p:cNvSpPr>
          <p:nvPr/>
        </p:nvSpPr>
        <p:spPr bwMode="auto">
          <a:xfrm>
            <a:off x="194129" y="193273"/>
            <a:ext cx="8712968" cy="6408712"/>
          </a:xfrm>
          <a:prstGeom prst="rect">
            <a:avLst/>
          </a:prstGeom>
          <a:solidFill>
            <a:schemeClr val="bg1"/>
          </a:solidFill>
          <a:ln w="9525">
            <a:noFill/>
            <a:miter lim="800000"/>
            <a:headEnd/>
            <a:tailEnd/>
          </a:ln>
        </p:spPr>
        <p:txBody>
          <a:bodyPr/>
          <a:lstStyle/>
          <a:p>
            <a:pPr marL="342900" indent="-342900">
              <a:lnSpc>
                <a:spcPct val="130000"/>
              </a:lnSpc>
              <a:spcBef>
                <a:spcPts val="0"/>
              </a:spcBef>
              <a:buClr>
                <a:schemeClr val="tx2"/>
              </a:buClr>
              <a:buSzPct val="70000"/>
              <a:buFont typeface="Wingdings" panose="05000000000000000000" pitchFamily="2" charset="2"/>
              <a:buChar char="l"/>
            </a:pPr>
            <a:r>
              <a:rPr lang="zh-CN" altLang="en-US" sz="2800" b="1" dirty="0" smtClean="0">
                <a:latin typeface="+mn-ea"/>
                <a:ea typeface="+mn-ea"/>
              </a:rPr>
              <a:t>数据传输率</a:t>
            </a:r>
            <a:endParaRPr lang="en-US" altLang="zh-CN" sz="2800" b="1" dirty="0" smtClean="0">
              <a:latin typeface="+mn-ea"/>
              <a:ea typeface="+mn-ea"/>
            </a:endParaRPr>
          </a:p>
          <a:p>
            <a:pPr lvl="1">
              <a:lnSpc>
                <a:spcPct val="130000"/>
              </a:lnSpc>
              <a:spcBef>
                <a:spcPts val="0"/>
              </a:spcBef>
              <a:buClr>
                <a:schemeClr val="tx2"/>
              </a:buClr>
              <a:buSzPct val="70000"/>
            </a:pPr>
            <a:r>
              <a:rPr lang="en-US" altLang="zh-CN" sz="2800" dirty="0">
                <a:latin typeface="+mn-ea"/>
                <a:ea typeface="+mn-ea"/>
              </a:rPr>
              <a:t> </a:t>
            </a:r>
            <a:r>
              <a:rPr lang="en-US" altLang="zh-CN" sz="2800" dirty="0" smtClean="0">
                <a:latin typeface="+mn-ea"/>
                <a:ea typeface="+mn-ea"/>
              </a:rPr>
              <a:t>   </a:t>
            </a:r>
            <a:r>
              <a:rPr lang="zh-CN" altLang="en-US" sz="2400" dirty="0" smtClean="0">
                <a:latin typeface="+mn-ea"/>
                <a:ea typeface="+mn-ea"/>
              </a:rPr>
              <a:t>磁盘</a:t>
            </a:r>
            <a:r>
              <a:rPr lang="zh-CN" altLang="en-US" sz="2400" dirty="0">
                <a:latin typeface="+mn-ea"/>
                <a:ea typeface="+mn-ea"/>
              </a:rPr>
              <a:t>存储器在单位时间内向主机传送数据的字节数，称为</a:t>
            </a:r>
            <a:r>
              <a:rPr lang="zh-CN" altLang="en-US" sz="2400" b="1" dirty="0">
                <a:latin typeface="+mn-ea"/>
                <a:ea typeface="+mn-ea"/>
              </a:rPr>
              <a:t>数据</a:t>
            </a:r>
            <a:r>
              <a:rPr lang="zh-CN" altLang="en-US" sz="2400" b="1" dirty="0" smtClean="0">
                <a:latin typeface="+mn-ea"/>
                <a:ea typeface="+mn-ea"/>
              </a:rPr>
              <a:t>传输率</a:t>
            </a:r>
            <a:r>
              <a:rPr lang="zh-CN" altLang="en-US" sz="2400" dirty="0">
                <a:latin typeface="+mn-ea"/>
                <a:ea typeface="+mn-ea"/>
              </a:rPr>
              <a:t>。</a:t>
            </a:r>
          </a:p>
          <a:p>
            <a:pPr lvl="1">
              <a:lnSpc>
                <a:spcPct val="130000"/>
              </a:lnSpc>
              <a:spcBef>
                <a:spcPts val="0"/>
              </a:spcBef>
              <a:buClr>
                <a:schemeClr val="tx2"/>
              </a:buClr>
              <a:buSzPct val="70000"/>
            </a:pPr>
            <a:r>
              <a:rPr lang="zh-CN" altLang="en-US" sz="2400" dirty="0" smtClean="0">
                <a:latin typeface="+mn-ea"/>
                <a:ea typeface="+mn-ea"/>
              </a:rPr>
              <a:t>    现代</a:t>
            </a:r>
            <a:r>
              <a:rPr lang="zh-CN" altLang="en-US" sz="2400" dirty="0">
                <a:latin typeface="+mn-ea"/>
                <a:ea typeface="+mn-ea"/>
              </a:rPr>
              <a:t>磁盘设备通常会配置磁盘</a:t>
            </a:r>
            <a:r>
              <a:rPr lang="en-US" altLang="zh-CN" sz="2400" dirty="0">
                <a:latin typeface="+mn-ea"/>
                <a:ea typeface="+mn-ea"/>
              </a:rPr>
              <a:t>cache</a:t>
            </a:r>
            <a:r>
              <a:rPr lang="zh-CN" altLang="en-US" sz="2400" dirty="0">
                <a:latin typeface="+mn-ea"/>
                <a:ea typeface="+mn-ea"/>
              </a:rPr>
              <a:t>，单位时间内从硬盘</a:t>
            </a:r>
            <a:r>
              <a:rPr lang="en-US" altLang="zh-CN" sz="2400" dirty="0">
                <a:latin typeface="+mn-ea"/>
                <a:ea typeface="+mn-ea"/>
              </a:rPr>
              <a:t>cache</a:t>
            </a:r>
            <a:r>
              <a:rPr lang="zh-CN" altLang="en-US" sz="2400" dirty="0">
                <a:latin typeface="+mn-ea"/>
                <a:ea typeface="+mn-ea"/>
              </a:rPr>
              <a:t>向主机传送的数据信息量</a:t>
            </a:r>
            <a:r>
              <a:rPr lang="zh-CN" altLang="en-US" sz="2400" dirty="0" smtClean="0">
                <a:latin typeface="+mn-ea"/>
                <a:ea typeface="+mn-ea"/>
              </a:rPr>
              <a:t>称为</a:t>
            </a:r>
            <a:r>
              <a:rPr lang="zh-CN" altLang="en-US" sz="2400" b="1" dirty="0">
                <a:latin typeface="+mn-ea"/>
                <a:ea typeface="+mn-ea"/>
              </a:rPr>
              <a:t>外部数据传输率</a:t>
            </a:r>
            <a:r>
              <a:rPr lang="zh-CN" altLang="en-US" sz="2400" dirty="0">
                <a:latin typeface="+mn-ea"/>
                <a:ea typeface="+mn-ea"/>
              </a:rPr>
              <a:t>，与磁盘的接口类型和磁盘缓存大小有关</a:t>
            </a:r>
            <a:r>
              <a:rPr lang="zh-CN" altLang="en-US" sz="2400" dirty="0" smtClean="0">
                <a:latin typeface="+mn-ea"/>
                <a:ea typeface="+mn-ea"/>
              </a:rPr>
              <a:t>。</a:t>
            </a:r>
            <a:endParaRPr lang="en-US" altLang="zh-CN" sz="2400" dirty="0" smtClean="0">
              <a:latin typeface="+mn-ea"/>
              <a:ea typeface="+mn-ea"/>
            </a:endParaRPr>
          </a:p>
          <a:p>
            <a:pPr lvl="1">
              <a:lnSpc>
                <a:spcPct val="130000"/>
              </a:lnSpc>
              <a:spcBef>
                <a:spcPts val="0"/>
              </a:spcBef>
              <a:buClr>
                <a:schemeClr val="tx2"/>
              </a:buClr>
              <a:buSzPct val="70000"/>
            </a:pPr>
            <a:r>
              <a:rPr lang="en-US" altLang="zh-CN" sz="2400" dirty="0">
                <a:latin typeface="+mn-ea"/>
                <a:ea typeface="+mn-ea"/>
              </a:rPr>
              <a:t> </a:t>
            </a:r>
            <a:r>
              <a:rPr lang="en-US" altLang="zh-CN" sz="2400" dirty="0" smtClean="0">
                <a:latin typeface="+mn-ea"/>
                <a:ea typeface="+mn-ea"/>
              </a:rPr>
              <a:t>   </a:t>
            </a:r>
            <a:r>
              <a:rPr lang="zh-CN" altLang="en-US" sz="2400" dirty="0" smtClean="0">
                <a:latin typeface="+mn-ea"/>
                <a:ea typeface="+mn-ea"/>
              </a:rPr>
              <a:t>在</a:t>
            </a:r>
            <a:r>
              <a:rPr lang="zh-CN" altLang="en-US" sz="2400" dirty="0">
                <a:latin typeface="+mn-ea"/>
                <a:ea typeface="+mn-ea"/>
              </a:rPr>
              <a:t>磁盘存储器盘片上读写数据的速率</a:t>
            </a:r>
            <a:r>
              <a:rPr lang="zh-CN" altLang="en-US" sz="2400" dirty="0" smtClean="0">
                <a:latin typeface="+mn-ea"/>
                <a:ea typeface="+mn-ea"/>
              </a:rPr>
              <a:t>则称为</a:t>
            </a:r>
            <a:r>
              <a:rPr lang="zh-CN" altLang="en-US" sz="2400" b="1" dirty="0">
                <a:latin typeface="+mn-ea"/>
                <a:ea typeface="+mn-ea"/>
              </a:rPr>
              <a:t>内部数据传输率</a:t>
            </a:r>
            <a:r>
              <a:rPr lang="zh-CN" altLang="en-US" sz="2400" dirty="0">
                <a:latin typeface="+mn-ea"/>
                <a:ea typeface="+mn-ea"/>
              </a:rPr>
              <a:t>，即磁头找到要访问的位置后，单位时间读</a:t>
            </a:r>
            <a:r>
              <a:rPr lang="en-US" altLang="zh-CN" sz="2400" dirty="0">
                <a:latin typeface="+mn-ea"/>
                <a:ea typeface="+mn-ea"/>
              </a:rPr>
              <a:t>/</a:t>
            </a:r>
            <a:r>
              <a:rPr lang="zh-CN" altLang="en-US" sz="2400" dirty="0">
                <a:latin typeface="+mn-ea"/>
                <a:ea typeface="+mn-ea"/>
              </a:rPr>
              <a:t>写的字节数，等于每个</a:t>
            </a:r>
            <a:r>
              <a:rPr lang="zh-CN" altLang="en-US" sz="2400" dirty="0" smtClean="0">
                <a:latin typeface="+mn-ea"/>
                <a:ea typeface="+mn-ea"/>
              </a:rPr>
              <a:t>磁道</a:t>
            </a:r>
            <a:r>
              <a:rPr lang="zh-CN" altLang="en-US" sz="2400" dirty="0">
                <a:latin typeface="+mn-ea"/>
                <a:ea typeface="+mn-ea"/>
              </a:rPr>
              <a:t>上的字节数</a:t>
            </a:r>
            <a:r>
              <a:rPr lang="en-US" altLang="zh-CN" sz="2400" dirty="0">
                <a:latin typeface="+mn-ea"/>
                <a:ea typeface="+mn-ea"/>
              </a:rPr>
              <a:t>/</a:t>
            </a:r>
            <a:r>
              <a:rPr lang="zh-CN" altLang="en-US" sz="2400" dirty="0">
                <a:latin typeface="+mn-ea"/>
                <a:ea typeface="+mn-ea"/>
              </a:rPr>
              <a:t>磁盘旋转一周的时间</a:t>
            </a:r>
            <a:r>
              <a:rPr lang="zh-CN" altLang="en-US" sz="2400" dirty="0" smtClean="0">
                <a:latin typeface="+mn-ea"/>
                <a:ea typeface="+mn-ea"/>
              </a:rPr>
              <a:t>。</a:t>
            </a:r>
            <a:endParaRPr lang="en-US" altLang="zh-CN" sz="2400" dirty="0" smtClean="0">
              <a:latin typeface="+mn-ea"/>
              <a:ea typeface="+mn-ea"/>
            </a:endParaRPr>
          </a:p>
          <a:p>
            <a:pPr lvl="1">
              <a:lnSpc>
                <a:spcPct val="130000"/>
              </a:lnSpc>
              <a:spcBef>
                <a:spcPts val="0"/>
              </a:spcBef>
              <a:buClr>
                <a:schemeClr val="tx2"/>
              </a:buClr>
              <a:buSzPct val="70000"/>
            </a:pPr>
            <a:r>
              <a:rPr lang="en-US" altLang="zh-CN" sz="2400" dirty="0">
                <a:latin typeface="+mn-ea"/>
                <a:ea typeface="+mn-ea"/>
              </a:rPr>
              <a:t> </a:t>
            </a:r>
            <a:r>
              <a:rPr lang="en-US" altLang="zh-CN" sz="2400" dirty="0" smtClean="0">
                <a:latin typeface="+mn-ea"/>
                <a:ea typeface="+mn-ea"/>
              </a:rPr>
              <a:t>   </a:t>
            </a:r>
            <a:r>
              <a:rPr lang="zh-CN" altLang="en-US" sz="2400" dirty="0" smtClean="0">
                <a:latin typeface="+mn-ea"/>
                <a:ea typeface="+mn-ea"/>
              </a:rPr>
              <a:t>设</a:t>
            </a:r>
            <a:r>
              <a:rPr lang="zh-CN" altLang="en-US" sz="2400" dirty="0">
                <a:latin typeface="+mn-ea"/>
                <a:ea typeface="+mn-ea"/>
              </a:rPr>
              <a:t>磁盘旋转速度为</a:t>
            </a:r>
            <a:r>
              <a:rPr lang="en-US" altLang="zh-CN" sz="2400" dirty="0">
                <a:latin typeface="+mn-ea"/>
                <a:ea typeface="+mn-ea"/>
              </a:rPr>
              <a:t>n</a:t>
            </a:r>
            <a:r>
              <a:rPr lang="zh-CN" altLang="en-US" sz="2400" dirty="0">
                <a:latin typeface="+mn-ea"/>
                <a:ea typeface="+mn-ea"/>
              </a:rPr>
              <a:t>转</a:t>
            </a:r>
            <a:r>
              <a:rPr lang="en-US" altLang="zh-CN" sz="2400" dirty="0">
                <a:latin typeface="+mn-ea"/>
                <a:ea typeface="+mn-ea"/>
              </a:rPr>
              <a:t>/</a:t>
            </a:r>
            <a:r>
              <a:rPr lang="zh-CN" altLang="en-US" sz="2400" dirty="0">
                <a:latin typeface="+mn-ea"/>
                <a:ea typeface="+mn-ea"/>
              </a:rPr>
              <a:t>秒，每条磁道容量为</a:t>
            </a:r>
            <a:r>
              <a:rPr lang="en-US" altLang="zh-CN" sz="2400" dirty="0">
                <a:latin typeface="+mn-ea"/>
                <a:ea typeface="+mn-ea"/>
              </a:rPr>
              <a:t>N</a:t>
            </a:r>
            <a:r>
              <a:rPr lang="zh-CN" altLang="en-US" sz="2400" dirty="0">
                <a:latin typeface="+mn-ea"/>
                <a:ea typeface="+mn-ea"/>
              </a:rPr>
              <a:t>字节</a:t>
            </a:r>
          </a:p>
          <a:p>
            <a:pPr lvl="1">
              <a:lnSpc>
                <a:spcPct val="130000"/>
              </a:lnSpc>
              <a:spcBef>
                <a:spcPts val="0"/>
              </a:spcBef>
            </a:pPr>
            <a:r>
              <a:rPr lang="zh-CN" altLang="en-US" sz="2400" dirty="0">
                <a:latin typeface="+mn-ea"/>
                <a:ea typeface="+mn-ea"/>
              </a:rPr>
              <a:t>则内部数据传输率</a:t>
            </a:r>
            <a:r>
              <a:rPr lang="zh-CN" altLang="en-US" sz="2400" dirty="0" smtClean="0">
                <a:latin typeface="+mn-ea"/>
                <a:ea typeface="+mn-ea"/>
              </a:rPr>
              <a:t>为：</a:t>
            </a:r>
            <a:endParaRPr lang="en-US" altLang="zh-CN" sz="2400" dirty="0" smtClean="0">
              <a:latin typeface="+mn-ea"/>
              <a:ea typeface="+mn-ea"/>
            </a:endParaRPr>
          </a:p>
          <a:p>
            <a:pPr lvl="1">
              <a:lnSpc>
                <a:spcPct val="130000"/>
              </a:lnSpc>
              <a:spcBef>
                <a:spcPts val="0"/>
              </a:spcBef>
            </a:pPr>
            <a:r>
              <a:rPr lang="zh-CN" altLang="en-US" sz="2400" dirty="0" smtClean="0">
                <a:latin typeface="+mn-ea"/>
                <a:ea typeface="+mn-ea"/>
              </a:rPr>
              <a:t>       </a:t>
            </a:r>
            <a:r>
              <a:rPr lang="en-US" altLang="zh-CN" sz="2400" dirty="0" err="1">
                <a:latin typeface="+mn-ea"/>
                <a:ea typeface="+mn-ea"/>
              </a:rPr>
              <a:t>Dr</a:t>
            </a:r>
            <a:r>
              <a:rPr lang="en-US" altLang="zh-CN" sz="2400" dirty="0">
                <a:latin typeface="+mn-ea"/>
                <a:ea typeface="+mn-ea"/>
              </a:rPr>
              <a:t>=</a:t>
            </a:r>
            <a:r>
              <a:rPr lang="en-US" altLang="zh-CN" sz="2400" dirty="0" err="1">
                <a:latin typeface="+mn-ea"/>
                <a:ea typeface="+mn-ea"/>
              </a:rPr>
              <a:t>nN</a:t>
            </a:r>
            <a:r>
              <a:rPr lang="en-US" altLang="zh-CN" sz="2400" dirty="0">
                <a:latin typeface="+mn-ea"/>
                <a:ea typeface="+mn-ea"/>
              </a:rPr>
              <a:t>(</a:t>
            </a:r>
            <a:r>
              <a:rPr lang="zh-CN" altLang="en-US" sz="2400" dirty="0">
                <a:latin typeface="+mn-ea"/>
                <a:ea typeface="+mn-ea"/>
              </a:rPr>
              <a:t>字节</a:t>
            </a:r>
            <a:r>
              <a:rPr lang="en-US" altLang="zh-CN" sz="2400" dirty="0">
                <a:latin typeface="+mn-ea"/>
                <a:ea typeface="+mn-ea"/>
              </a:rPr>
              <a:t>/</a:t>
            </a:r>
            <a:r>
              <a:rPr lang="zh-CN" altLang="en-US" sz="2400" dirty="0">
                <a:latin typeface="+mn-ea"/>
                <a:ea typeface="+mn-ea"/>
              </a:rPr>
              <a:t>秒</a:t>
            </a:r>
            <a:r>
              <a:rPr lang="en-US" altLang="zh-CN" sz="2400" dirty="0" smtClean="0">
                <a:latin typeface="+mn-ea"/>
                <a:ea typeface="+mn-ea"/>
              </a:rPr>
              <a:t>) </a:t>
            </a:r>
            <a:r>
              <a:rPr lang="zh-CN" altLang="en-US" sz="2400" dirty="0" smtClean="0">
                <a:latin typeface="+mn-ea"/>
                <a:ea typeface="+mn-ea"/>
              </a:rPr>
              <a:t>或 </a:t>
            </a:r>
            <a:r>
              <a:rPr lang="en-US" altLang="zh-CN" sz="2400" dirty="0" err="1">
                <a:latin typeface="+mn-ea"/>
                <a:ea typeface="+mn-ea"/>
              </a:rPr>
              <a:t>Dr</a:t>
            </a:r>
            <a:r>
              <a:rPr lang="en-US" altLang="zh-CN" sz="2400" dirty="0">
                <a:latin typeface="+mn-ea"/>
                <a:ea typeface="+mn-ea"/>
              </a:rPr>
              <a:t>=</a:t>
            </a:r>
            <a:r>
              <a:rPr lang="en-US" altLang="zh-CN" sz="2400" dirty="0" err="1">
                <a:latin typeface="+mn-ea"/>
                <a:ea typeface="+mn-ea"/>
              </a:rPr>
              <a:t>D·v</a:t>
            </a:r>
            <a:r>
              <a:rPr lang="en-US" altLang="zh-CN" sz="2400" dirty="0">
                <a:latin typeface="+mn-ea"/>
                <a:ea typeface="+mn-ea"/>
              </a:rPr>
              <a:t>(</a:t>
            </a:r>
            <a:r>
              <a:rPr lang="zh-CN" altLang="en-US" sz="2400" dirty="0">
                <a:latin typeface="+mn-ea"/>
                <a:ea typeface="+mn-ea"/>
              </a:rPr>
              <a:t>字节</a:t>
            </a:r>
            <a:r>
              <a:rPr lang="en-US" altLang="zh-CN" sz="2400" dirty="0">
                <a:latin typeface="+mn-ea"/>
                <a:ea typeface="+mn-ea"/>
              </a:rPr>
              <a:t>/</a:t>
            </a:r>
            <a:r>
              <a:rPr lang="zh-CN" altLang="en-US" sz="2400" dirty="0">
                <a:latin typeface="+mn-ea"/>
                <a:ea typeface="+mn-ea"/>
              </a:rPr>
              <a:t>秒</a:t>
            </a:r>
            <a:r>
              <a:rPr lang="en-US" altLang="zh-CN" sz="2400" dirty="0">
                <a:latin typeface="+mn-ea"/>
                <a:ea typeface="+mn-ea"/>
              </a:rPr>
              <a:t>)</a:t>
            </a:r>
          </a:p>
          <a:p>
            <a:pPr lvl="1">
              <a:lnSpc>
                <a:spcPct val="130000"/>
              </a:lnSpc>
              <a:spcBef>
                <a:spcPts val="0"/>
              </a:spcBef>
              <a:buFont typeface="Wingdings" pitchFamily="2" charset="2"/>
              <a:buNone/>
            </a:pPr>
            <a:r>
              <a:rPr lang="en-US" altLang="zh-CN" sz="2400" dirty="0">
                <a:latin typeface="+mn-ea"/>
                <a:ea typeface="+mn-ea"/>
              </a:rPr>
              <a:t>       </a:t>
            </a:r>
            <a:r>
              <a:rPr lang="en-US" altLang="zh-CN" sz="2400" dirty="0" smtClean="0">
                <a:latin typeface="+mn-ea"/>
                <a:ea typeface="+mn-ea"/>
              </a:rPr>
              <a:t>D</a:t>
            </a:r>
            <a:r>
              <a:rPr lang="zh-CN" altLang="en-US" sz="2400" dirty="0">
                <a:latin typeface="+mn-ea"/>
                <a:ea typeface="+mn-ea"/>
              </a:rPr>
              <a:t>为位密度，</a:t>
            </a:r>
            <a:r>
              <a:rPr lang="en-US" altLang="zh-CN" sz="2400" dirty="0">
                <a:latin typeface="+mn-ea"/>
                <a:ea typeface="+mn-ea"/>
              </a:rPr>
              <a:t>v</a:t>
            </a:r>
            <a:r>
              <a:rPr lang="zh-CN" altLang="en-US" sz="2400" dirty="0">
                <a:latin typeface="+mn-ea"/>
                <a:ea typeface="+mn-ea"/>
              </a:rPr>
              <a:t>为磁盘旋转</a:t>
            </a:r>
            <a:r>
              <a:rPr lang="zh-CN" altLang="en-US" sz="2400" dirty="0" smtClean="0">
                <a:latin typeface="+mn-ea"/>
                <a:ea typeface="+mn-ea"/>
              </a:rPr>
              <a:t>线速度</a:t>
            </a:r>
            <a:endParaRPr lang="zh-CN" altLang="en-US" sz="2400" dirty="0">
              <a:latin typeface="宋体" pitchFamily="2" charset="-122"/>
            </a:endParaRPr>
          </a:p>
        </p:txBody>
      </p:sp>
    </p:spTree>
    <p:extLst>
      <p:ext uri="{BB962C8B-B14F-4D97-AF65-F5344CB8AC3E}">
        <p14:creationId xmlns:p14="http://schemas.microsoft.com/office/powerpoint/2010/main" val="28612539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6E9357B4-C66E-4669-962F-88A036A98AA9}" type="slidenum">
              <a:rPr lang="en-US" altLang="zh-CN" smtClean="0"/>
              <a:pPr/>
              <a:t>24</a:t>
            </a:fld>
            <a:endParaRPr lang="en-US" altLang="zh-CN" smtClean="0"/>
          </a:p>
        </p:txBody>
      </p:sp>
      <p:sp>
        <p:nvSpPr>
          <p:cNvPr id="26627" name="Rectangle 3"/>
          <p:cNvSpPr>
            <a:spLocks noGrp="1" noChangeArrowheads="1"/>
          </p:cNvSpPr>
          <p:nvPr>
            <p:ph type="body" idx="1"/>
          </p:nvPr>
        </p:nvSpPr>
        <p:spPr>
          <a:xfrm>
            <a:off x="323850" y="333375"/>
            <a:ext cx="7488238" cy="4751388"/>
          </a:xfrm>
        </p:spPr>
        <p:txBody>
          <a:bodyPr/>
          <a:lstStyle/>
          <a:p>
            <a:pPr eaLnBrk="1" hangingPunct="1">
              <a:lnSpc>
                <a:spcPct val="80000"/>
              </a:lnSpc>
              <a:buFont typeface="Wingdings" pitchFamily="2" charset="2"/>
              <a:buNone/>
            </a:pPr>
            <a:r>
              <a:rPr lang="en-US" altLang="zh-CN" sz="2400" dirty="0" smtClean="0">
                <a:latin typeface="宋体" pitchFamily="2" charset="-122"/>
              </a:rPr>
              <a:t>【</a:t>
            </a:r>
            <a:r>
              <a:rPr lang="zh-CN" altLang="en-US" sz="2400" dirty="0" smtClean="0">
                <a:latin typeface="宋体" pitchFamily="2" charset="-122"/>
              </a:rPr>
              <a:t>例</a:t>
            </a:r>
            <a:r>
              <a:rPr lang="en-US" altLang="zh-CN" sz="2400" dirty="0" smtClean="0">
                <a:latin typeface="宋体" pitchFamily="2" charset="-122"/>
              </a:rPr>
              <a:t>1】</a:t>
            </a:r>
            <a:r>
              <a:rPr lang="zh-CN" altLang="en-US" sz="2400" dirty="0" smtClean="0">
                <a:latin typeface="宋体" pitchFamily="2" charset="-122"/>
              </a:rPr>
              <a:t>磁盘组有</a:t>
            </a:r>
            <a:r>
              <a:rPr lang="en-US" altLang="zh-CN" sz="2400" dirty="0" smtClean="0">
                <a:latin typeface="宋体" pitchFamily="2" charset="-122"/>
              </a:rPr>
              <a:t>6</a:t>
            </a:r>
            <a:r>
              <a:rPr lang="zh-CN" altLang="en-US" sz="2400" dirty="0" smtClean="0">
                <a:latin typeface="宋体" pitchFamily="2" charset="-122"/>
              </a:rPr>
              <a:t>片磁盘，每片有两个记录面，最上最下两个面不用。存储区域内径</a:t>
            </a:r>
            <a:r>
              <a:rPr lang="en-US" altLang="zh-CN" sz="2400" dirty="0" smtClean="0">
                <a:latin typeface="宋体" pitchFamily="2" charset="-122"/>
              </a:rPr>
              <a:t>22cm</a:t>
            </a:r>
            <a:r>
              <a:rPr lang="zh-CN" altLang="en-US" sz="2400" dirty="0" smtClean="0">
                <a:latin typeface="宋体" pitchFamily="2" charset="-122"/>
              </a:rPr>
              <a:t>，外径</a:t>
            </a:r>
            <a:r>
              <a:rPr lang="en-US" altLang="zh-CN" sz="2400" dirty="0" smtClean="0">
                <a:latin typeface="宋体" pitchFamily="2" charset="-122"/>
              </a:rPr>
              <a:t>33cm</a:t>
            </a:r>
            <a:r>
              <a:rPr lang="zh-CN" altLang="en-US" sz="2400" dirty="0" smtClean="0">
                <a:latin typeface="宋体" pitchFamily="2" charset="-122"/>
              </a:rPr>
              <a:t>，道密度为</a:t>
            </a:r>
            <a:r>
              <a:rPr lang="en-US" altLang="zh-CN" sz="2400" dirty="0" smtClean="0">
                <a:latin typeface="宋体" pitchFamily="2" charset="-122"/>
              </a:rPr>
              <a:t>40</a:t>
            </a:r>
            <a:r>
              <a:rPr lang="zh-CN" altLang="en-US" sz="2400" dirty="0" smtClean="0">
                <a:latin typeface="宋体" pitchFamily="2" charset="-122"/>
              </a:rPr>
              <a:t>道</a:t>
            </a:r>
            <a:r>
              <a:rPr lang="en-US" altLang="zh-CN" sz="2400" dirty="0" smtClean="0">
                <a:latin typeface="宋体" pitchFamily="2" charset="-122"/>
              </a:rPr>
              <a:t>/cm</a:t>
            </a:r>
            <a:r>
              <a:rPr lang="zh-CN" altLang="en-US" sz="2400" dirty="0" smtClean="0">
                <a:latin typeface="宋体" pitchFamily="2" charset="-122"/>
              </a:rPr>
              <a:t>，内层位密度</a:t>
            </a:r>
            <a:r>
              <a:rPr lang="en-US" altLang="zh-CN" sz="2400" dirty="0" smtClean="0">
                <a:latin typeface="宋体" pitchFamily="2" charset="-122"/>
              </a:rPr>
              <a:t>400</a:t>
            </a:r>
            <a:r>
              <a:rPr lang="zh-CN" altLang="en-US" sz="2400" dirty="0" smtClean="0">
                <a:latin typeface="宋体" pitchFamily="2" charset="-122"/>
              </a:rPr>
              <a:t>位</a:t>
            </a:r>
            <a:r>
              <a:rPr lang="en-US" altLang="zh-CN" sz="2400" dirty="0" smtClean="0">
                <a:latin typeface="宋体" pitchFamily="2" charset="-122"/>
              </a:rPr>
              <a:t>/cm</a:t>
            </a:r>
            <a:r>
              <a:rPr lang="zh-CN" altLang="en-US" sz="2400" dirty="0" smtClean="0">
                <a:latin typeface="宋体" pitchFamily="2" charset="-122"/>
              </a:rPr>
              <a:t>，转速</a:t>
            </a:r>
            <a:r>
              <a:rPr lang="en-US" altLang="zh-CN" sz="2400" dirty="0" smtClean="0">
                <a:latin typeface="宋体" pitchFamily="2" charset="-122"/>
              </a:rPr>
              <a:t>6000</a:t>
            </a:r>
            <a:r>
              <a:rPr lang="zh-CN" altLang="en-US" sz="2400" dirty="0" smtClean="0">
                <a:latin typeface="宋体" pitchFamily="2" charset="-122"/>
              </a:rPr>
              <a:t>转</a:t>
            </a:r>
            <a:r>
              <a:rPr lang="en-US" altLang="zh-CN" sz="2400" dirty="0" smtClean="0">
                <a:latin typeface="宋体" pitchFamily="2" charset="-122"/>
              </a:rPr>
              <a:t>/</a:t>
            </a:r>
            <a:r>
              <a:rPr lang="zh-CN" altLang="en-US" sz="2400" dirty="0" smtClean="0">
                <a:latin typeface="宋体" pitchFamily="2" charset="-122"/>
              </a:rPr>
              <a:t>分。问：</a:t>
            </a:r>
          </a:p>
          <a:p>
            <a:pPr eaLnBrk="1" hangingPunct="1">
              <a:lnSpc>
                <a:spcPct val="80000"/>
              </a:lnSpc>
              <a:buFont typeface="Wingdings" pitchFamily="2" charset="2"/>
              <a:buNone/>
            </a:pPr>
            <a:r>
              <a:rPr lang="en-US" altLang="zh-CN" sz="2400" dirty="0" smtClean="0">
                <a:latin typeface="宋体" pitchFamily="2" charset="-122"/>
              </a:rPr>
              <a:t>(1)</a:t>
            </a:r>
            <a:r>
              <a:rPr lang="zh-CN" altLang="en-US" sz="2400" dirty="0" smtClean="0">
                <a:latin typeface="宋体" pitchFamily="2" charset="-122"/>
              </a:rPr>
              <a:t>共有多少柱面</a:t>
            </a:r>
            <a:r>
              <a:rPr lang="en-US" altLang="zh-CN" sz="2400" dirty="0" smtClean="0">
                <a:latin typeface="宋体" pitchFamily="2" charset="-122"/>
              </a:rPr>
              <a:t>?</a:t>
            </a:r>
          </a:p>
          <a:p>
            <a:pPr eaLnBrk="1" hangingPunct="1">
              <a:lnSpc>
                <a:spcPct val="80000"/>
              </a:lnSpc>
              <a:buFont typeface="Wingdings" pitchFamily="2" charset="2"/>
              <a:buNone/>
            </a:pPr>
            <a:r>
              <a:rPr lang="en-US" altLang="zh-CN" sz="2400" dirty="0" smtClean="0">
                <a:latin typeface="宋体" pitchFamily="2" charset="-122"/>
              </a:rPr>
              <a:t>(2)</a:t>
            </a:r>
            <a:r>
              <a:rPr lang="zh-CN" altLang="en-US" sz="2400" dirty="0" smtClean="0">
                <a:latin typeface="宋体" pitchFamily="2" charset="-122"/>
              </a:rPr>
              <a:t>盘组总存储容量是多少</a:t>
            </a:r>
            <a:r>
              <a:rPr lang="en-US" altLang="zh-CN" sz="2400" dirty="0" smtClean="0">
                <a:latin typeface="宋体" pitchFamily="2" charset="-122"/>
              </a:rPr>
              <a:t>?</a:t>
            </a:r>
          </a:p>
          <a:p>
            <a:pPr eaLnBrk="1" hangingPunct="1">
              <a:lnSpc>
                <a:spcPct val="80000"/>
              </a:lnSpc>
              <a:buFont typeface="Wingdings" pitchFamily="2" charset="2"/>
              <a:buNone/>
            </a:pPr>
            <a:r>
              <a:rPr lang="en-US" altLang="zh-CN" sz="2400" dirty="0" smtClean="0">
                <a:latin typeface="宋体" pitchFamily="2" charset="-122"/>
              </a:rPr>
              <a:t>(3)</a:t>
            </a:r>
            <a:r>
              <a:rPr lang="zh-CN" altLang="en-US" sz="2400" dirty="0" smtClean="0">
                <a:latin typeface="宋体" pitchFamily="2" charset="-122"/>
              </a:rPr>
              <a:t>数据传输率多少</a:t>
            </a:r>
            <a:r>
              <a:rPr lang="en-US" altLang="zh-CN" sz="2400" dirty="0" smtClean="0">
                <a:latin typeface="宋体" pitchFamily="2" charset="-122"/>
              </a:rPr>
              <a:t>?</a:t>
            </a:r>
          </a:p>
          <a:p>
            <a:pPr eaLnBrk="1" hangingPunct="1">
              <a:lnSpc>
                <a:spcPct val="80000"/>
              </a:lnSpc>
              <a:buFont typeface="Wingdings" pitchFamily="2" charset="2"/>
              <a:buNone/>
            </a:pPr>
            <a:r>
              <a:rPr lang="en-US" altLang="zh-CN" sz="2400" dirty="0" smtClean="0">
                <a:latin typeface="宋体" pitchFamily="2" charset="-122"/>
              </a:rPr>
              <a:t>(4)</a:t>
            </a:r>
            <a:r>
              <a:rPr lang="zh-CN" altLang="en-US" sz="2400" dirty="0" smtClean="0">
                <a:latin typeface="宋体" pitchFamily="2" charset="-122"/>
              </a:rPr>
              <a:t>采用定长数据块记录格式，直接寻址的最小单位是什么</a:t>
            </a:r>
            <a:r>
              <a:rPr lang="en-US" altLang="zh-CN" sz="2400" dirty="0" smtClean="0">
                <a:latin typeface="宋体" pitchFamily="2" charset="-122"/>
              </a:rPr>
              <a:t>?</a:t>
            </a:r>
            <a:r>
              <a:rPr lang="zh-CN" altLang="en-US" sz="2400" dirty="0" smtClean="0">
                <a:latin typeface="宋体" pitchFamily="2" charset="-122"/>
              </a:rPr>
              <a:t>寻址命令中如何表示磁盘地址</a:t>
            </a:r>
            <a:r>
              <a:rPr lang="en-US" altLang="zh-CN" sz="2400" dirty="0" smtClean="0">
                <a:latin typeface="宋体" pitchFamily="2" charset="-122"/>
              </a:rPr>
              <a:t>?</a:t>
            </a:r>
          </a:p>
          <a:p>
            <a:pPr eaLnBrk="1" hangingPunct="1">
              <a:lnSpc>
                <a:spcPct val="80000"/>
              </a:lnSpc>
              <a:buFont typeface="Wingdings" pitchFamily="2" charset="2"/>
              <a:buNone/>
            </a:pPr>
            <a:r>
              <a:rPr lang="en-US" altLang="zh-CN" sz="2400" dirty="0" smtClean="0">
                <a:latin typeface="宋体" pitchFamily="2" charset="-122"/>
              </a:rPr>
              <a:t>(5)</a:t>
            </a:r>
            <a:r>
              <a:rPr lang="zh-CN" altLang="en-US" sz="2400" dirty="0" smtClean="0">
                <a:latin typeface="宋体" pitchFamily="2" charset="-122"/>
              </a:rPr>
              <a:t>如果某文件长度超过一个磁道的容量，应将它记录在同一个存储面上，还是记录在同一个柱面上</a:t>
            </a:r>
            <a:r>
              <a:rPr lang="en-US" altLang="zh-CN" sz="2400" dirty="0" smtClean="0">
                <a:latin typeface="宋体" pitchFamily="2" charset="-122"/>
              </a:rPr>
              <a:t>?</a:t>
            </a:r>
          </a:p>
        </p:txBody>
      </p:sp>
      <p:sp>
        <p:nvSpPr>
          <p:cNvPr id="26628" name="Rectangle 4"/>
          <p:cNvSpPr>
            <a:spLocks noChangeArrowheads="1"/>
          </p:cNvSpPr>
          <p:nvPr/>
        </p:nvSpPr>
        <p:spPr bwMode="auto">
          <a:xfrm>
            <a:off x="152400" y="4038600"/>
            <a:ext cx="8785225" cy="2647950"/>
          </a:xfrm>
          <a:prstGeom prst="rect">
            <a:avLst/>
          </a:prstGeom>
          <a:solidFill>
            <a:srgbClr val="CCFFFF"/>
          </a:solidFill>
          <a:ln w="9525">
            <a:noFill/>
            <a:miter lim="800000"/>
            <a:headEnd/>
            <a:tailEnd/>
          </a:ln>
        </p:spPr>
        <p:txBody>
          <a:bodyPr>
            <a:spAutoFit/>
          </a:bodyPr>
          <a:lstStyle/>
          <a:p>
            <a:r>
              <a:rPr lang="zh-CN" altLang="en-US" sz="2400">
                <a:latin typeface="宋体" pitchFamily="2" charset="-122"/>
              </a:rPr>
              <a:t>解：</a:t>
            </a:r>
          </a:p>
          <a:p>
            <a:r>
              <a:rPr lang="en-US" altLang="zh-CN" sz="2400">
                <a:latin typeface="宋体" pitchFamily="2" charset="-122"/>
              </a:rPr>
              <a:t>(1)</a:t>
            </a:r>
            <a:r>
              <a:rPr lang="zh-CN" altLang="en-US" sz="2400">
                <a:latin typeface="宋体" pitchFamily="2" charset="-122"/>
              </a:rPr>
              <a:t>有效存储区域</a:t>
            </a:r>
            <a:r>
              <a:rPr lang="en-US" altLang="zh-CN" sz="2400">
                <a:latin typeface="宋体" pitchFamily="2" charset="-122"/>
              </a:rPr>
              <a:t>=16.5-11=5.5(cm)</a:t>
            </a:r>
          </a:p>
          <a:p>
            <a:r>
              <a:rPr lang="en-US" altLang="zh-CN" sz="2400">
                <a:latin typeface="宋体" pitchFamily="2" charset="-122"/>
              </a:rPr>
              <a:t>   </a:t>
            </a:r>
            <a:r>
              <a:rPr lang="zh-CN" altLang="en-US" sz="2400">
                <a:latin typeface="宋体" pitchFamily="2" charset="-122"/>
              </a:rPr>
              <a:t>因为道密度</a:t>
            </a:r>
            <a:r>
              <a:rPr lang="en-US" altLang="zh-CN" sz="2400">
                <a:latin typeface="宋体" pitchFamily="2" charset="-122"/>
              </a:rPr>
              <a:t>=40</a:t>
            </a:r>
            <a:r>
              <a:rPr lang="zh-CN" altLang="en-US" sz="2400">
                <a:latin typeface="宋体" pitchFamily="2" charset="-122"/>
              </a:rPr>
              <a:t>道</a:t>
            </a:r>
            <a:r>
              <a:rPr lang="en-US" altLang="zh-CN" sz="2400">
                <a:latin typeface="宋体" pitchFamily="2" charset="-122"/>
              </a:rPr>
              <a:t>/cm</a:t>
            </a:r>
            <a:r>
              <a:rPr lang="zh-CN" altLang="en-US" sz="2400">
                <a:latin typeface="宋体" pitchFamily="2" charset="-122"/>
              </a:rPr>
              <a:t>，所以</a:t>
            </a:r>
            <a:r>
              <a:rPr lang="en-US" altLang="zh-CN" sz="2400">
                <a:latin typeface="宋体" pitchFamily="2" charset="-122"/>
              </a:rPr>
              <a:t>40×5.5=220</a:t>
            </a:r>
            <a:r>
              <a:rPr lang="zh-CN" altLang="en-US" sz="2400">
                <a:latin typeface="宋体" pitchFamily="2" charset="-122"/>
              </a:rPr>
              <a:t>道，即</a:t>
            </a:r>
            <a:r>
              <a:rPr lang="en-US" altLang="zh-CN" sz="2400">
                <a:latin typeface="宋体" pitchFamily="2" charset="-122"/>
              </a:rPr>
              <a:t>220</a:t>
            </a:r>
            <a:r>
              <a:rPr lang="zh-CN" altLang="en-US" sz="2400">
                <a:latin typeface="宋体" pitchFamily="2" charset="-122"/>
              </a:rPr>
              <a:t>个圆柱面。</a:t>
            </a:r>
          </a:p>
          <a:p>
            <a:r>
              <a:rPr lang="en-US" altLang="zh-CN" sz="2400">
                <a:latin typeface="宋体" pitchFamily="2" charset="-122"/>
              </a:rPr>
              <a:t>(2)</a:t>
            </a:r>
            <a:r>
              <a:rPr lang="zh-CN" altLang="en-US" sz="2400">
                <a:latin typeface="宋体" pitchFamily="2" charset="-122"/>
              </a:rPr>
              <a:t>内层磁道周长为</a:t>
            </a:r>
            <a:r>
              <a:rPr lang="en-US" altLang="zh-CN" sz="2400">
                <a:latin typeface="宋体" pitchFamily="2" charset="-122"/>
              </a:rPr>
              <a:t>2πR=2×3.14×11=69.08(cm)</a:t>
            </a:r>
          </a:p>
          <a:p>
            <a:r>
              <a:rPr lang="en-US" altLang="zh-CN" sz="2400">
                <a:latin typeface="宋体" pitchFamily="2" charset="-122"/>
              </a:rPr>
              <a:t>   </a:t>
            </a:r>
            <a:r>
              <a:rPr lang="zh-CN" altLang="en-US" sz="2400">
                <a:latin typeface="宋体" pitchFamily="2" charset="-122"/>
              </a:rPr>
              <a:t>每道信息量</a:t>
            </a:r>
            <a:r>
              <a:rPr lang="en-US" altLang="zh-CN" sz="2400">
                <a:latin typeface="宋体" pitchFamily="2" charset="-122"/>
              </a:rPr>
              <a:t>=400</a:t>
            </a:r>
            <a:r>
              <a:rPr lang="zh-CN" altLang="en-US" sz="2400">
                <a:latin typeface="宋体" pitchFamily="2" charset="-122"/>
              </a:rPr>
              <a:t>位</a:t>
            </a:r>
            <a:r>
              <a:rPr lang="en-US" altLang="zh-CN" sz="2400">
                <a:latin typeface="宋体" pitchFamily="2" charset="-122"/>
              </a:rPr>
              <a:t>/cm×69.08cm=27632</a:t>
            </a:r>
            <a:r>
              <a:rPr lang="zh-CN" altLang="en-US" sz="2400">
                <a:latin typeface="宋体" pitchFamily="2" charset="-122"/>
              </a:rPr>
              <a:t>位</a:t>
            </a:r>
            <a:r>
              <a:rPr lang="en-US" altLang="zh-CN" sz="2400">
                <a:latin typeface="宋体" pitchFamily="2" charset="-122"/>
              </a:rPr>
              <a:t>=3454B</a:t>
            </a:r>
          </a:p>
          <a:p>
            <a:r>
              <a:rPr lang="en-US" altLang="zh-CN" sz="2400">
                <a:latin typeface="宋体" pitchFamily="2" charset="-122"/>
              </a:rPr>
              <a:t>   </a:t>
            </a:r>
            <a:r>
              <a:rPr lang="zh-CN" altLang="en-US" sz="2400">
                <a:latin typeface="宋体" pitchFamily="2" charset="-122"/>
              </a:rPr>
              <a:t>每面信息量</a:t>
            </a:r>
            <a:r>
              <a:rPr lang="en-US" altLang="zh-CN" sz="2400">
                <a:latin typeface="宋体" pitchFamily="2" charset="-122"/>
              </a:rPr>
              <a:t>=3454B×220=759880B</a:t>
            </a:r>
          </a:p>
          <a:p>
            <a:r>
              <a:rPr lang="en-US" altLang="zh-CN" sz="2400">
                <a:latin typeface="宋体" pitchFamily="2" charset="-122"/>
              </a:rPr>
              <a:t>   </a:t>
            </a:r>
            <a:r>
              <a:rPr lang="zh-CN" altLang="en-US" sz="2400">
                <a:latin typeface="宋体" pitchFamily="2" charset="-122"/>
              </a:rPr>
              <a:t>盘组总容量</a:t>
            </a:r>
            <a:r>
              <a:rPr lang="en-US" altLang="zh-CN" sz="2400">
                <a:latin typeface="宋体" pitchFamily="2" charset="-122"/>
              </a:rPr>
              <a:t>=759880B×10=7598800B</a:t>
            </a:r>
          </a:p>
        </p:txBody>
      </p:sp>
      <p:sp>
        <p:nvSpPr>
          <p:cNvPr id="26629" name="Rectangle 5"/>
          <p:cNvSpPr>
            <a:spLocks noChangeArrowheads="1"/>
          </p:cNvSpPr>
          <p:nvPr/>
        </p:nvSpPr>
        <p:spPr bwMode="auto">
          <a:xfrm>
            <a:off x="152400" y="4114800"/>
            <a:ext cx="8785225" cy="1917700"/>
          </a:xfrm>
          <a:prstGeom prst="rect">
            <a:avLst/>
          </a:prstGeom>
          <a:solidFill>
            <a:srgbClr val="CCFFFF"/>
          </a:solidFill>
          <a:ln w="9525">
            <a:noFill/>
            <a:miter lim="800000"/>
            <a:headEnd/>
            <a:tailEnd/>
          </a:ln>
        </p:spPr>
        <p:txBody>
          <a:bodyPr>
            <a:spAutoFit/>
          </a:bodyPr>
          <a:lstStyle/>
          <a:p>
            <a:r>
              <a:rPr lang="zh-CN" altLang="en-US" sz="2400">
                <a:latin typeface="宋体" pitchFamily="2" charset="-122"/>
              </a:rPr>
              <a:t>解：</a:t>
            </a:r>
          </a:p>
          <a:p>
            <a:r>
              <a:rPr lang="en-US" altLang="zh-CN" sz="2400">
                <a:latin typeface="宋体" pitchFamily="2" charset="-122"/>
              </a:rPr>
              <a:t>(3)</a:t>
            </a:r>
            <a:r>
              <a:rPr lang="zh-CN" altLang="en-US" sz="2400">
                <a:latin typeface="宋体" pitchFamily="2" charset="-122"/>
              </a:rPr>
              <a:t>磁盘数据传输率</a:t>
            </a:r>
            <a:r>
              <a:rPr lang="en-US" altLang="zh-CN" sz="2400">
                <a:latin typeface="宋体" pitchFamily="2" charset="-122"/>
              </a:rPr>
              <a:t>Dr=rN</a:t>
            </a:r>
          </a:p>
          <a:p>
            <a:r>
              <a:rPr lang="en-US" altLang="zh-CN" sz="2400">
                <a:latin typeface="宋体" pitchFamily="2" charset="-122"/>
              </a:rPr>
              <a:t>   N</a:t>
            </a:r>
            <a:r>
              <a:rPr lang="zh-CN" altLang="en-US" sz="2400">
                <a:latin typeface="宋体" pitchFamily="2" charset="-122"/>
              </a:rPr>
              <a:t>为每条磁道容量，</a:t>
            </a:r>
            <a:r>
              <a:rPr lang="en-US" altLang="zh-CN" sz="2400">
                <a:latin typeface="宋体" pitchFamily="2" charset="-122"/>
              </a:rPr>
              <a:t>N=3454B</a:t>
            </a:r>
          </a:p>
          <a:p>
            <a:r>
              <a:rPr lang="en-US" altLang="zh-CN" sz="2400">
                <a:latin typeface="宋体" pitchFamily="2" charset="-122"/>
              </a:rPr>
              <a:t>   r</a:t>
            </a:r>
            <a:r>
              <a:rPr lang="zh-CN" altLang="en-US" sz="2400">
                <a:latin typeface="宋体" pitchFamily="2" charset="-122"/>
              </a:rPr>
              <a:t>为磁盘转速，</a:t>
            </a:r>
            <a:r>
              <a:rPr lang="en-US" altLang="zh-CN" sz="2400">
                <a:latin typeface="宋体" pitchFamily="2" charset="-122"/>
              </a:rPr>
              <a:t>r=6000</a:t>
            </a:r>
            <a:r>
              <a:rPr lang="zh-CN" altLang="en-US" sz="2400">
                <a:latin typeface="宋体" pitchFamily="2" charset="-122"/>
              </a:rPr>
              <a:t>转</a:t>
            </a:r>
            <a:r>
              <a:rPr lang="en-US" altLang="zh-CN" sz="2400">
                <a:latin typeface="宋体" pitchFamily="2" charset="-122"/>
              </a:rPr>
              <a:t>/60</a:t>
            </a:r>
            <a:r>
              <a:rPr lang="zh-CN" altLang="en-US" sz="2400">
                <a:latin typeface="宋体" pitchFamily="2" charset="-122"/>
              </a:rPr>
              <a:t>秒</a:t>
            </a:r>
            <a:r>
              <a:rPr lang="en-US" altLang="zh-CN" sz="2400">
                <a:latin typeface="宋体" pitchFamily="2" charset="-122"/>
              </a:rPr>
              <a:t>=100</a:t>
            </a:r>
            <a:r>
              <a:rPr lang="zh-CN" altLang="en-US" sz="2400">
                <a:latin typeface="宋体" pitchFamily="2" charset="-122"/>
              </a:rPr>
              <a:t>转</a:t>
            </a:r>
            <a:r>
              <a:rPr lang="en-US" altLang="zh-CN" sz="2400">
                <a:latin typeface="宋体" pitchFamily="2" charset="-122"/>
              </a:rPr>
              <a:t>/</a:t>
            </a:r>
            <a:r>
              <a:rPr lang="zh-CN" altLang="en-US" sz="2400">
                <a:latin typeface="宋体" pitchFamily="2" charset="-122"/>
              </a:rPr>
              <a:t>秒</a:t>
            </a:r>
          </a:p>
          <a:p>
            <a:r>
              <a:rPr lang="zh-CN" altLang="en-US" sz="2400">
                <a:latin typeface="宋体" pitchFamily="2" charset="-122"/>
              </a:rPr>
              <a:t>   </a:t>
            </a:r>
            <a:r>
              <a:rPr lang="en-US" altLang="zh-CN" sz="2400">
                <a:latin typeface="宋体" pitchFamily="2" charset="-122"/>
              </a:rPr>
              <a:t>Dr=rN=100×3454B=345400B/s</a:t>
            </a:r>
          </a:p>
        </p:txBody>
      </p:sp>
      <p:sp>
        <p:nvSpPr>
          <p:cNvPr id="26634" name="Rectangle 10"/>
          <p:cNvSpPr>
            <a:spLocks noChangeArrowheads="1"/>
          </p:cNvSpPr>
          <p:nvPr/>
        </p:nvSpPr>
        <p:spPr bwMode="auto">
          <a:xfrm>
            <a:off x="152400" y="4038600"/>
            <a:ext cx="8785225" cy="1041400"/>
          </a:xfrm>
          <a:prstGeom prst="rect">
            <a:avLst/>
          </a:prstGeom>
          <a:solidFill>
            <a:srgbClr val="CCFFFF"/>
          </a:solidFill>
          <a:ln w="9525">
            <a:noFill/>
            <a:miter lim="800000"/>
            <a:headEnd/>
            <a:tailEnd/>
          </a:ln>
        </p:spPr>
        <p:txBody>
          <a:bodyPr>
            <a:spAutoFit/>
          </a:bodyPr>
          <a:lstStyle/>
          <a:p>
            <a:r>
              <a:rPr lang="zh-CN" altLang="en-US" sz="2400">
                <a:latin typeface="宋体" pitchFamily="2" charset="-122"/>
              </a:rPr>
              <a:t>解：</a:t>
            </a:r>
          </a:p>
          <a:p>
            <a:pPr>
              <a:lnSpc>
                <a:spcPct val="80000"/>
              </a:lnSpc>
            </a:pPr>
            <a:r>
              <a:rPr lang="en-US" altLang="zh-CN" sz="2400">
                <a:latin typeface="宋体" pitchFamily="2" charset="-122"/>
              </a:rPr>
              <a:t>(5)</a:t>
            </a:r>
            <a:r>
              <a:rPr lang="zh-CN" altLang="en-US" sz="2400">
                <a:latin typeface="宋体" pitchFamily="2" charset="-122"/>
              </a:rPr>
              <a:t>如果某文件长度超过一个磁道的容量，应将它记录在同一个柱面上，因为不需要重新找道，数据读</a:t>
            </a:r>
            <a:r>
              <a:rPr lang="en-US" altLang="zh-CN" sz="2400">
                <a:latin typeface="宋体" pitchFamily="2" charset="-122"/>
              </a:rPr>
              <a:t>/</a:t>
            </a:r>
            <a:r>
              <a:rPr lang="zh-CN" altLang="en-US" sz="2400">
                <a:latin typeface="宋体" pitchFamily="2" charset="-122"/>
              </a:rPr>
              <a:t>写速度快。</a:t>
            </a:r>
          </a:p>
        </p:txBody>
      </p:sp>
      <p:grpSp>
        <p:nvGrpSpPr>
          <p:cNvPr id="2" name="Group 12"/>
          <p:cNvGrpSpPr>
            <a:grpSpLocks/>
          </p:cNvGrpSpPr>
          <p:nvPr/>
        </p:nvGrpSpPr>
        <p:grpSpPr bwMode="auto">
          <a:xfrm>
            <a:off x="152400" y="3352800"/>
            <a:ext cx="8785225" cy="3013075"/>
            <a:chOff x="113" y="2296"/>
            <a:chExt cx="5534" cy="1898"/>
          </a:xfrm>
        </p:grpSpPr>
        <p:sp>
          <p:nvSpPr>
            <p:cNvPr id="26632" name="Rectangle 6"/>
            <p:cNvSpPr>
              <a:spLocks noChangeArrowheads="1"/>
            </p:cNvSpPr>
            <p:nvPr/>
          </p:nvSpPr>
          <p:spPr bwMode="auto">
            <a:xfrm>
              <a:off x="113" y="2296"/>
              <a:ext cx="5534" cy="1898"/>
            </a:xfrm>
            <a:prstGeom prst="rect">
              <a:avLst/>
            </a:prstGeom>
            <a:solidFill>
              <a:srgbClr val="CCFFFF"/>
            </a:solidFill>
            <a:ln w="9525">
              <a:noFill/>
              <a:miter lim="800000"/>
              <a:headEnd/>
              <a:tailEnd/>
            </a:ln>
          </p:spPr>
          <p:txBody>
            <a:bodyPr>
              <a:spAutoFit/>
            </a:bodyPr>
            <a:lstStyle/>
            <a:p>
              <a:r>
                <a:rPr lang="zh-CN" altLang="en-US" sz="2400">
                  <a:latin typeface="宋体" pitchFamily="2" charset="-122"/>
                </a:rPr>
                <a:t>解：</a:t>
              </a:r>
            </a:p>
            <a:p>
              <a:r>
                <a:rPr lang="en-US" altLang="zh-CN" sz="2400">
                  <a:latin typeface="宋体" pitchFamily="2" charset="-122"/>
                </a:rPr>
                <a:t>(4) </a:t>
              </a:r>
              <a:r>
                <a:rPr lang="zh-CN" altLang="en-US" sz="2400">
                  <a:latin typeface="宋体" pitchFamily="2" charset="-122"/>
                </a:rPr>
                <a:t>采用定长数据块格式，直接寻址的最小单位是一个记录块</a:t>
              </a:r>
              <a:r>
                <a:rPr lang="en-US" altLang="zh-CN" sz="2400">
                  <a:latin typeface="宋体" pitchFamily="2" charset="-122"/>
                </a:rPr>
                <a:t>(</a:t>
              </a:r>
              <a:r>
                <a:rPr lang="zh-CN" altLang="en-US" sz="2400">
                  <a:latin typeface="宋体" pitchFamily="2" charset="-122"/>
                </a:rPr>
                <a:t>一个扇区</a:t>
              </a:r>
              <a:r>
                <a:rPr lang="en-US" altLang="zh-CN" sz="2400">
                  <a:latin typeface="宋体" pitchFamily="2" charset="-122"/>
                </a:rPr>
                <a:t>)</a:t>
              </a:r>
              <a:r>
                <a:rPr lang="zh-CN" altLang="en-US" sz="2400">
                  <a:latin typeface="宋体" pitchFamily="2" charset="-122"/>
                </a:rPr>
                <a:t>，每个记录块记录固定字节数目的信息，在定长记录的数据块中，活动头磁盘组的编址方式可用如下格式：</a:t>
              </a:r>
            </a:p>
            <a:p>
              <a:endParaRPr lang="zh-CN" altLang="en-US" sz="2400">
                <a:latin typeface="宋体" pitchFamily="2" charset="-122"/>
              </a:endParaRPr>
            </a:p>
            <a:p>
              <a:endParaRPr lang="zh-CN" altLang="en-US" sz="2400">
                <a:latin typeface="宋体" pitchFamily="2" charset="-122"/>
              </a:endParaRPr>
            </a:p>
            <a:p>
              <a:r>
                <a:rPr lang="zh-CN" altLang="en-US" sz="2400">
                  <a:latin typeface="宋体" pitchFamily="2" charset="-122"/>
                </a:rPr>
                <a:t>   此地址格式表示有</a:t>
              </a:r>
              <a:r>
                <a:rPr lang="en-US" altLang="zh-CN" sz="2400">
                  <a:latin typeface="宋体" pitchFamily="2" charset="-122"/>
                </a:rPr>
                <a:t>4</a:t>
              </a:r>
              <a:r>
                <a:rPr lang="zh-CN" altLang="en-US" sz="2400">
                  <a:latin typeface="宋体" pitchFamily="2" charset="-122"/>
                </a:rPr>
                <a:t>台磁盘（</a:t>
              </a:r>
              <a:r>
                <a:rPr lang="en-US" altLang="zh-CN" sz="2400">
                  <a:latin typeface="宋体" pitchFamily="2" charset="-122"/>
                </a:rPr>
                <a:t>2</a:t>
              </a:r>
              <a:r>
                <a:rPr lang="zh-CN" altLang="en-US" sz="2400">
                  <a:latin typeface="宋体" pitchFamily="2" charset="-122"/>
                </a:rPr>
                <a:t>位），每台有</a:t>
              </a:r>
              <a:r>
                <a:rPr lang="en-US" altLang="zh-CN" sz="2400">
                  <a:latin typeface="宋体" pitchFamily="2" charset="-122"/>
                </a:rPr>
                <a:t>16</a:t>
              </a:r>
              <a:r>
                <a:rPr lang="zh-CN" altLang="en-US" sz="2400">
                  <a:latin typeface="宋体" pitchFamily="2" charset="-122"/>
                </a:rPr>
                <a:t>个记录面</a:t>
              </a:r>
              <a:r>
                <a:rPr lang="en-US" altLang="zh-CN" sz="2400">
                  <a:latin typeface="宋体" pitchFamily="2" charset="-122"/>
                </a:rPr>
                <a:t>/</a:t>
              </a:r>
              <a:r>
                <a:rPr lang="zh-CN" altLang="en-US" sz="2400">
                  <a:latin typeface="宋体" pitchFamily="2" charset="-122"/>
                </a:rPr>
                <a:t>盘面（</a:t>
              </a:r>
              <a:r>
                <a:rPr lang="en-US" altLang="zh-CN" sz="2400">
                  <a:latin typeface="宋体" pitchFamily="2" charset="-122"/>
                </a:rPr>
                <a:t>4</a:t>
              </a:r>
              <a:r>
                <a:rPr lang="zh-CN" altLang="en-US" sz="2400">
                  <a:latin typeface="宋体" pitchFamily="2" charset="-122"/>
                </a:rPr>
                <a:t>位），每面有</a:t>
              </a:r>
              <a:r>
                <a:rPr lang="en-US" altLang="zh-CN" sz="2400">
                  <a:latin typeface="宋体" pitchFamily="2" charset="-122"/>
                </a:rPr>
                <a:t>256</a:t>
              </a:r>
              <a:r>
                <a:rPr lang="zh-CN" altLang="en-US" sz="2400">
                  <a:latin typeface="宋体" pitchFamily="2" charset="-122"/>
                </a:rPr>
                <a:t>个磁道（</a:t>
              </a:r>
              <a:r>
                <a:rPr lang="en-US" altLang="zh-CN" sz="2400">
                  <a:latin typeface="宋体" pitchFamily="2" charset="-122"/>
                </a:rPr>
                <a:t>8</a:t>
              </a:r>
              <a:r>
                <a:rPr lang="zh-CN" altLang="en-US" sz="2400">
                  <a:latin typeface="宋体" pitchFamily="2" charset="-122"/>
                </a:rPr>
                <a:t>位），每道有</a:t>
              </a:r>
              <a:r>
                <a:rPr lang="en-US" altLang="zh-CN" sz="2400">
                  <a:latin typeface="宋体" pitchFamily="2" charset="-122"/>
                </a:rPr>
                <a:t>16</a:t>
              </a:r>
              <a:r>
                <a:rPr lang="zh-CN" altLang="en-US" sz="2400">
                  <a:latin typeface="宋体" pitchFamily="2" charset="-122"/>
                </a:rPr>
                <a:t>个扇区（</a:t>
              </a:r>
              <a:r>
                <a:rPr lang="en-US" altLang="zh-CN" sz="2400">
                  <a:latin typeface="宋体" pitchFamily="2" charset="-122"/>
                </a:rPr>
                <a:t>4</a:t>
              </a:r>
              <a:r>
                <a:rPr lang="zh-CN" altLang="en-US" sz="2400">
                  <a:latin typeface="宋体" pitchFamily="2" charset="-122"/>
                </a:rPr>
                <a:t>位）。</a:t>
              </a:r>
            </a:p>
          </p:txBody>
        </p:sp>
        <p:pic>
          <p:nvPicPr>
            <p:cNvPr id="26633" name="Picture 11"/>
            <p:cNvPicPr>
              <a:picLocks noChangeAspect="1" noChangeArrowheads="1"/>
            </p:cNvPicPr>
            <p:nvPr/>
          </p:nvPicPr>
          <p:blipFill>
            <a:blip r:embed="rId2"/>
            <a:srcRect/>
            <a:stretch>
              <a:fillRect/>
            </a:stretch>
          </p:blipFill>
          <p:spPr bwMode="auto">
            <a:xfrm>
              <a:off x="476" y="3294"/>
              <a:ext cx="4672" cy="384"/>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dissolve">
                                      <p:cBhvr>
                                        <p:cTn id="7" dur="500"/>
                                        <p:tgtEl>
                                          <p:spTgt spid="26628"/>
                                        </p:tgtEl>
                                      </p:cBhvr>
                                    </p:animEffect>
                                  </p:childTnLst>
                                  <p:subTnLst>
                                    <p:set>
                                      <p:cBhvr override="childStyle">
                                        <p:cTn dur="1" fill="hold" display="0" masterRel="nextClick" afterEffect="1"/>
                                        <p:tgtEl>
                                          <p:spTgt spid="2662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dissolve">
                                      <p:cBhvr>
                                        <p:cTn id="12" dur="500"/>
                                        <p:tgtEl>
                                          <p:spTgt spid="26629"/>
                                        </p:tgtEl>
                                      </p:cBhvr>
                                    </p:animEffect>
                                  </p:childTnLst>
                                  <p:subTnLst>
                                    <p:set>
                                      <p:cBhvr override="childStyle">
                                        <p:cTn dur="1" fill="hold" display="0" masterRel="nextClick" afterEffect="1"/>
                                        <p:tgtEl>
                                          <p:spTgt spid="2662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634"/>
                                        </p:tgtEl>
                                        <p:attrNameLst>
                                          <p:attrName>style.visibility</p:attrName>
                                        </p:attrNameLst>
                                      </p:cBhvr>
                                      <p:to>
                                        <p:strVal val="visible"/>
                                      </p:to>
                                    </p:set>
                                    <p:animEffect transition="in" filter="dissolve">
                                      <p:cBhvr>
                                        <p:cTn id="22" dur="500"/>
                                        <p:tgtEl>
                                          <p:spTgt spid="2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autoUpdateAnimBg="0"/>
      <p:bldP spid="26629" grpId="0" animBg="1" autoUpdateAnimBg="0"/>
      <p:bldP spid="26634"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6E9357B4-C66E-4669-962F-88A036A98AA9}" type="slidenum">
              <a:rPr lang="en-US" altLang="zh-CN" smtClean="0"/>
              <a:pPr/>
              <a:t>25</a:t>
            </a:fld>
            <a:endParaRPr lang="en-US" altLang="zh-CN" smtClean="0"/>
          </a:p>
        </p:txBody>
      </p:sp>
      <p:sp>
        <p:nvSpPr>
          <p:cNvPr id="26627" name="Rectangle 3"/>
          <p:cNvSpPr>
            <a:spLocks noGrp="1" noChangeArrowheads="1"/>
          </p:cNvSpPr>
          <p:nvPr>
            <p:ph type="body" idx="1"/>
          </p:nvPr>
        </p:nvSpPr>
        <p:spPr>
          <a:xfrm>
            <a:off x="323850" y="333375"/>
            <a:ext cx="7560518" cy="1295425"/>
          </a:xfrm>
        </p:spPr>
        <p:txBody>
          <a:bodyPr/>
          <a:lstStyle/>
          <a:p>
            <a:pPr marL="0" indent="0">
              <a:buNone/>
            </a:pPr>
            <a:r>
              <a:rPr lang="en-US" altLang="zh-CN" sz="2400" dirty="0" smtClean="0">
                <a:latin typeface="+mn-ea"/>
              </a:rPr>
              <a:t>【</a:t>
            </a:r>
            <a:r>
              <a:rPr lang="zh-CN" altLang="en-US" sz="2400" dirty="0" smtClean="0">
                <a:latin typeface="+mn-ea"/>
              </a:rPr>
              <a:t>例</a:t>
            </a:r>
            <a:r>
              <a:rPr lang="en-US" altLang="zh-CN" sz="2400" dirty="0" smtClean="0">
                <a:latin typeface="+mn-ea"/>
              </a:rPr>
              <a:t>2】</a:t>
            </a:r>
            <a:r>
              <a:rPr lang="zh-CN" altLang="zh-CN" sz="2400" dirty="0" smtClean="0">
                <a:latin typeface="+mn-ea"/>
              </a:rPr>
              <a:t>某</a:t>
            </a:r>
            <a:r>
              <a:rPr lang="zh-CN" altLang="zh-CN" sz="2400" dirty="0">
                <a:latin typeface="+mn-ea"/>
              </a:rPr>
              <a:t>磁盘平均寻道时间为</a:t>
            </a:r>
            <a:r>
              <a:rPr lang="en-US" altLang="zh-CN" sz="2400" dirty="0">
                <a:latin typeface="+mn-ea"/>
              </a:rPr>
              <a:t>20ms</a:t>
            </a:r>
            <a:r>
              <a:rPr lang="zh-CN" altLang="zh-CN" sz="2400" dirty="0">
                <a:latin typeface="+mn-ea"/>
              </a:rPr>
              <a:t>，数据传输速率</a:t>
            </a:r>
            <a:r>
              <a:rPr lang="zh-CN" altLang="zh-CN" sz="2400" dirty="0" smtClean="0">
                <a:latin typeface="+mn-ea"/>
              </a:rPr>
              <a:t>为</a:t>
            </a:r>
            <a:endParaRPr lang="en-US" altLang="zh-CN" sz="2400" dirty="0" smtClean="0">
              <a:latin typeface="+mn-ea"/>
            </a:endParaRPr>
          </a:p>
          <a:p>
            <a:pPr marL="0" indent="0">
              <a:buNone/>
            </a:pPr>
            <a:r>
              <a:rPr lang="en-US" altLang="zh-CN" sz="2400" dirty="0">
                <a:latin typeface="+mn-ea"/>
              </a:rPr>
              <a:t> </a:t>
            </a:r>
            <a:r>
              <a:rPr lang="en-US" altLang="zh-CN" sz="2400" dirty="0" smtClean="0">
                <a:latin typeface="+mn-ea"/>
              </a:rPr>
              <a:t>      2MB/s</a:t>
            </a:r>
            <a:r>
              <a:rPr lang="zh-CN" altLang="zh-CN" sz="2400" dirty="0">
                <a:latin typeface="+mn-ea"/>
              </a:rPr>
              <a:t>，控制器延迟为</a:t>
            </a:r>
            <a:r>
              <a:rPr lang="en-US" altLang="zh-CN" sz="2400" dirty="0">
                <a:latin typeface="+mn-ea"/>
              </a:rPr>
              <a:t>2ms</a:t>
            </a:r>
            <a:r>
              <a:rPr lang="zh-CN" altLang="zh-CN" sz="2400" dirty="0">
                <a:latin typeface="+mn-ea"/>
              </a:rPr>
              <a:t>，转速为</a:t>
            </a:r>
            <a:r>
              <a:rPr lang="en-US" altLang="zh-CN" sz="2400" dirty="0">
                <a:latin typeface="+mn-ea"/>
              </a:rPr>
              <a:t>5000</a:t>
            </a:r>
            <a:r>
              <a:rPr lang="zh-CN" altLang="zh-CN" sz="2400" dirty="0">
                <a:latin typeface="+mn-ea"/>
              </a:rPr>
              <a:t>转</a:t>
            </a:r>
            <a:r>
              <a:rPr lang="en-US" altLang="zh-CN" sz="2400" dirty="0">
                <a:latin typeface="+mn-ea"/>
              </a:rPr>
              <a:t>/</a:t>
            </a:r>
            <a:r>
              <a:rPr lang="zh-CN" altLang="zh-CN" sz="2400" dirty="0">
                <a:latin typeface="+mn-ea"/>
              </a:rPr>
              <a:t>分</a:t>
            </a:r>
            <a:r>
              <a:rPr lang="zh-CN" altLang="zh-CN" sz="2400" dirty="0" smtClean="0">
                <a:latin typeface="+mn-ea"/>
              </a:rPr>
              <a:t>。</a:t>
            </a:r>
            <a:endParaRPr lang="en-US" altLang="zh-CN" sz="2400" dirty="0" smtClean="0">
              <a:latin typeface="+mn-ea"/>
            </a:endParaRPr>
          </a:p>
          <a:p>
            <a:pPr marL="0" indent="0">
              <a:buNone/>
            </a:pPr>
            <a:r>
              <a:rPr lang="en-US" altLang="zh-CN" sz="2400" dirty="0">
                <a:latin typeface="+mn-ea"/>
              </a:rPr>
              <a:t> </a:t>
            </a:r>
            <a:r>
              <a:rPr lang="en-US" altLang="zh-CN" sz="2400" dirty="0" smtClean="0">
                <a:latin typeface="+mn-ea"/>
              </a:rPr>
              <a:t>      </a:t>
            </a:r>
            <a:r>
              <a:rPr lang="zh-CN" altLang="zh-CN" sz="2400" dirty="0" smtClean="0">
                <a:latin typeface="+mn-ea"/>
              </a:rPr>
              <a:t>试</a:t>
            </a:r>
            <a:r>
              <a:rPr lang="zh-CN" altLang="zh-CN" sz="2400" dirty="0">
                <a:latin typeface="+mn-ea"/>
              </a:rPr>
              <a:t>计算读写一个扇区</a:t>
            </a:r>
            <a:r>
              <a:rPr lang="en-US" altLang="zh-CN" sz="2400" dirty="0">
                <a:latin typeface="+mn-ea"/>
              </a:rPr>
              <a:t>(512</a:t>
            </a:r>
            <a:r>
              <a:rPr lang="zh-CN" altLang="zh-CN" sz="2400" dirty="0">
                <a:latin typeface="+mn-ea"/>
              </a:rPr>
              <a:t>个字节</a:t>
            </a:r>
            <a:r>
              <a:rPr lang="en-US" altLang="zh-CN" sz="2400" dirty="0">
                <a:latin typeface="+mn-ea"/>
              </a:rPr>
              <a:t>)</a:t>
            </a:r>
            <a:r>
              <a:rPr lang="zh-CN" altLang="zh-CN" sz="2400" dirty="0">
                <a:latin typeface="+mn-ea"/>
              </a:rPr>
              <a:t>的平均时间</a:t>
            </a:r>
            <a:r>
              <a:rPr lang="zh-CN" altLang="zh-CN" sz="2400" dirty="0" smtClean="0">
                <a:latin typeface="+mn-ea"/>
              </a:rPr>
              <a:t>。</a:t>
            </a:r>
            <a:endParaRPr lang="en-US" altLang="zh-CN" sz="2400" dirty="0" smtClean="0">
              <a:latin typeface="+mn-ea"/>
            </a:endParaRPr>
          </a:p>
        </p:txBody>
      </p:sp>
      <p:sp>
        <p:nvSpPr>
          <p:cNvPr id="26629" name="Rectangle 5"/>
          <p:cNvSpPr>
            <a:spLocks noChangeArrowheads="1"/>
          </p:cNvSpPr>
          <p:nvPr/>
        </p:nvSpPr>
        <p:spPr bwMode="auto">
          <a:xfrm>
            <a:off x="467544" y="1988840"/>
            <a:ext cx="8271839" cy="2775760"/>
          </a:xfrm>
          <a:prstGeom prst="rect">
            <a:avLst/>
          </a:prstGeom>
          <a:solidFill>
            <a:srgbClr val="CCFFFF"/>
          </a:solidFill>
          <a:ln w="9525">
            <a:noFill/>
            <a:miter lim="800000"/>
            <a:headEnd/>
            <a:tailEnd/>
          </a:ln>
        </p:spPr>
        <p:txBody>
          <a:bodyPr wrap="square">
            <a:spAutoFit/>
          </a:bodyPr>
          <a:lstStyle/>
          <a:p>
            <a:pPr marL="0" indent="0">
              <a:lnSpc>
                <a:spcPct val="150000"/>
              </a:lnSpc>
              <a:buNone/>
            </a:pPr>
            <a:r>
              <a:rPr lang="zh-CN" altLang="en-US" sz="2400" dirty="0">
                <a:latin typeface="+mn-ea"/>
                <a:ea typeface="+mn-ea"/>
              </a:rPr>
              <a:t>解</a:t>
            </a:r>
            <a:r>
              <a:rPr lang="zh-CN" altLang="en-US" sz="2400" dirty="0" smtClean="0">
                <a:latin typeface="+mn-ea"/>
                <a:ea typeface="+mn-ea"/>
              </a:rPr>
              <a:t>：</a:t>
            </a:r>
            <a:r>
              <a:rPr lang="zh-CN" altLang="zh-CN" sz="2400" dirty="0" smtClean="0">
                <a:latin typeface="+mn-ea"/>
                <a:ea typeface="+mn-ea"/>
              </a:rPr>
              <a:t>转速</a:t>
            </a:r>
            <a:r>
              <a:rPr lang="zh-CN" altLang="zh-CN" sz="2400" dirty="0">
                <a:latin typeface="+mn-ea"/>
                <a:ea typeface="+mn-ea"/>
              </a:rPr>
              <a:t>为</a:t>
            </a:r>
            <a:r>
              <a:rPr lang="en-US" altLang="zh-CN" sz="2400" dirty="0">
                <a:latin typeface="+mn-ea"/>
                <a:ea typeface="+mn-ea"/>
              </a:rPr>
              <a:t>5000</a:t>
            </a:r>
            <a:r>
              <a:rPr lang="zh-CN" altLang="zh-CN" sz="2400" dirty="0">
                <a:latin typeface="+mn-ea"/>
                <a:ea typeface="+mn-ea"/>
              </a:rPr>
              <a:t>转</a:t>
            </a:r>
            <a:r>
              <a:rPr lang="en-US" altLang="zh-CN" sz="2400" dirty="0">
                <a:latin typeface="+mn-ea"/>
                <a:ea typeface="+mn-ea"/>
              </a:rPr>
              <a:t>/</a:t>
            </a:r>
            <a:r>
              <a:rPr lang="zh-CN" altLang="zh-CN" sz="2400" dirty="0">
                <a:latin typeface="+mn-ea"/>
                <a:ea typeface="+mn-ea"/>
              </a:rPr>
              <a:t>分，周期为</a:t>
            </a:r>
            <a:r>
              <a:rPr lang="en-US" altLang="zh-CN" sz="2400" dirty="0">
                <a:latin typeface="+mn-ea"/>
                <a:ea typeface="+mn-ea"/>
              </a:rPr>
              <a:t>60*1000/5000=12ms</a:t>
            </a:r>
            <a:r>
              <a:rPr lang="zh-CN" altLang="zh-CN" sz="2400" dirty="0" smtClean="0">
                <a:latin typeface="+mn-ea"/>
                <a:ea typeface="+mn-ea"/>
              </a:rPr>
              <a:t>，</a:t>
            </a:r>
            <a:endParaRPr lang="en-US" altLang="zh-CN" sz="2400" dirty="0" smtClean="0">
              <a:latin typeface="+mn-ea"/>
              <a:ea typeface="+mn-ea"/>
            </a:endParaRPr>
          </a:p>
          <a:p>
            <a:pPr marL="0" indent="0">
              <a:lnSpc>
                <a:spcPct val="150000"/>
              </a:lnSpc>
              <a:buNone/>
            </a:pPr>
            <a:r>
              <a:rPr lang="en-US" altLang="zh-CN" sz="2400" dirty="0">
                <a:latin typeface="+mn-ea"/>
                <a:ea typeface="+mn-ea"/>
              </a:rPr>
              <a:t> </a:t>
            </a:r>
            <a:r>
              <a:rPr lang="en-US" altLang="zh-CN" sz="2400" dirty="0" smtClean="0">
                <a:latin typeface="+mn-ea"/>
                <a:ea typeface="+mn-ea"/>
              </a:rPr>
              <a:t>   </a:t>
            </a:r>
            <a:r>
              <a:rPr lang="zh-CN" altLang="zh-CN" sz="2400" dirty="0" smtClean="0">
                <a:latin typeface="+mn-ea"/>
                <a:ea typeface="+mn-ea"/>
              </a:rPr>
              <a:t>平均</a:t>
            </a:r>
            <a:r>
              <a:rPr lang="zh-CN" altLang="zh-CN" sz="2400" dirty="0">
                <a:latin typeface="+mn-ea"/>
                <a:ea typeface="+mn-ea"/>
              </a:rPr>
              <a:t>等待时间</a:t>
            </a:r>
            <a:r>
              <a:rPr lang="en-US" altLang="zh-CN" sz="2400" dirty="0">
                <a:latin typeface="+mn-ea"/>
                <a:ea typeface="+mn-ea"/>
              </a:rPr>
              <a:t>6ms</a:t>
            </a:r>
            <a:r>
              <a:rPr lang="zh-CN" altLang="zh-CN" sz="2400" dirty="0">
                <a:latin typeface="+mn-ea"/>
                <a:ea typeface="+mn-ea"/>
              </a:rPr>
              <a:t>；</a:t>
            </a:r>
          </a:p>
          <a:p>
            <a:pPr marL="0" indent="0">
              <a:lnSpc>
                <a:spcPct val="150000"/>
              </a:lnSpc>
              <a:buNone/>
            </a:pPr>
            <a:r>
              <a:rPr lang="en-US" altLang="zh-CN" sz="2400" dirty="0" smtClean="0">
                <a:latin typeface="+mn-ea"/>
                <a:ea typeface="+mn-ea"/>
              </a:rPr>
              <a:t>    </a:t>
            </a:r>
            <a:r>
              <a:rPr lang="zh-CN" altLang="zh-CN" sz="2400" dirty="0" smtClean="0">
                <a:latin typeface="+mn-ea"/>
                <a:ea typeface="+mn-ea"/>
              </a:rPr>
              <a:t>数据</a:t>
            </a:r>
            <a:r>
              <a:rPr lang="zh-CN" altLang="zh-CN" sz="2400" dirty="0">
                <a:latin typeface="+mn-ea"/>
                <a:ea typeface="+mn-ea"/>
              </a:rPr>
              <a:t>传输速率为</a:t>
            </a:r>
            <a:r>
              <a:rPr lang="en-US" altLang="zh-CN" sz="2400" dirty="0">
                <a:latin typeface="+mn-ea"/>
                <a:ea typeface="+mn-ea"/>
              </a:rPr>
              <a:t>2MB/s</a:t>
            </a:r>
            <a:r>
              <a:rPr lang="zh-CN" altLang="zh-CN" sz="2400" dirty="0">
                <a:latin typeface="+mn-ea"/>
                <a:ea typeface="+mn-ea"/>
              </a:rPr>
              <a:t>，传输时间</a:t>
            </a:r>
            <a:r>
              <a:rPr lang="en-US" altLang="zh-CN" sz="2400" dirty="0">
                <a:latin typeface="+mn-ea"/>
                <a:ea typeface="+mn-ea"/>
              </a:rPr>
              <a:t>512/(2*2</a:t>
            </a:r>
            <a:r>
              <a:rPr lang="en-US" altLang="zh-CN" sz="2400" baseline="30000" dirty="0">
                <a:latin typeface="+mn-ea"/>
                <a:ea typeface="+mn-ea"/>
              </a:rPr>
              <a:t>20</a:t>
            </a:r>
            <a:r>
              <a:rPr lang="en-US" altLang="zh-CN" sz="2400" dirty="0">
                <a:latin typeface="+mn-ea"/>
                <a:ea typeface="+mn-ea"/>
              </a:rPr>
              <a:t>)s=0.25ms</a:t>
            </a:r>
            <a:r>
              <a:rPr lang="zh-CN" altLang="zh-CN" sz="2400" dirty="0">
                <a:latin typeface="+mn-ea"/>
                <a:ea typeface="+mn-ea"/>
              </a:rPr>
              <a:t>。</a:t>
            </a:r>
          </a:p>
          <a:p>
            <a:pPr marL="0" indent="0">
              <a:lnSpc>
                <a:spcPct val="150000"/>
              </a:lnSpc>
              <a:buNone/>
            </a:pPr>
            <a:r>
              <a:rPr lang="en-US" altLang="zh-CN" sz="2400" dirty="0" smtClean="0">
                <a:latin typeface="+mn-ea"/>
                <a:ea typeface="+mn-ea"/>
              </a:rPr>
              <a:t>    </a:t>
            </a:r>
            <a:r>
              <a:rPr lang="zh-CN" altLang="zh-CN" sz="2400" dirty="0" smtClean="0">
                <a:latin typeface="+mn-ea"/>
                <a:ea typeface="+mn-ea"/>
              </a:rPr>
              <a:t>平均</a:t>
            </a:r>
            <a:r>
              <a:rPr lang="zh-CN" altLang="zh-CN" sz="2400" dirty="0">
                <a:latin typeface="+mn-ea"/>
                <a:ea typeface="+mn-ea"/>
              </a:rPr>
              <a:t>访问时间</a:t>
            </a:r>
            <a:r>
              <a:rPr lang="en-US" altLang="zh-CN" sz="2400" dirty="0">
                <a:latin typeface="+mn-ea"/>
                <a:ea typeface="+mn-ea"/>
              </a:rPr>
              <a:t>=</a:t>
            </a:r>
            <a:r>
              <a:rPr lang="zh-CN" altLang="zh-CN" sz="2400" dirty="0">
                <a:latin typeface="+mn-ea"/>
                <a:ea typeface="+mn-ea"/>
              </a:rPr>
              <a:t>平均寻道时间</a:t>
            </a:r>
            <a:r>
              <a:rPr lang="en-US" altLang="zh-CN" sz="2400" dirty="0">
                <a:latin typeface="+mn-ea"/>
                <a:ea typeface="+mn-ea"/>
              </a:rPr>
              <a:t>+</a:t>
            </a:r>
            <a:r>
              <a:rPr lang="zh-CN" altLang="zh-CN" sz="2400" dirty="0">
                <a:latin typeface="+mn-ea"/>
                <a:ea typeface="+mn-ea"/>
              </a:rPr>
              <a:t>平均等待时间</a:t>
            </a:r>
            <a:r>
              <a:rPr lang="en-US" altLang="zh-CN" sz="2400" dirty="0">
                <a:latin typeface="+mn-ea"/>
                <a:ea typeface="+mn-ea"/>
              </a:rPr>
              <a:t>+</a:t>
            </a:r>
            <a:r>
              <a:rPr lang="zh-CN" altLang="zh-CN" sz="2400" dirty="0">
                <a:latin typeface="+mn-ea"/>
                <a:ea typeface="+mn-ea"/>
              </a:rPr>
              <a:t>传输时间</a:t>
            </a:r>
            <a:r>
              <a:rPr lang="en-US" altLang="zh-CN" sz="2400" dirty="0">
                <a:latin typeface="+mn-ea"/>
                <a:ea typeface="+mn-ea"/>
              </a:rPr>
              <a:t>+</a:t>
            </a:r>
            <a:r>
              <a:rPr lang="zh-CN" altLang="zh-CN" sz="2400" dirty="0">
                <a:latin typeface="+mn-ea"/>
                <a:ea typeface="+mn-ea"/>
              </a:rPr>
              <a:t>控制器</a:t>
            </a:r>
            <a:r>
              <a:rPr lang="zh-CN" altLang="zh-CN" sz="2400" dirty="0" smtClean="0">
                <a:latin typeface="+mn-ea"/>
                <a:ea typeface="+mn-ea"/>
              </a:rPr>
              <a:t>延时</a:t>
            </a:r>
            <a:r>
              <a:rPr lang="en-US" altLang="zh-CN" sz="2400" dirty="0" smtClean="0">
                <a:latin typeface="+mn-ea"/>
                <a:ea typeface="+mn-ea"/>
              </a:rPr>
              <a:t>=</a:t>
            </a:r>
            <a:r>
              <a:rPr lang="en-US" altLang="zh-CN" sz="2400" dirty="0">
                <a:latin typeface="+mn-ea"/>
                <a:ea typeface="+mn-ea"/>
              </a:rPr>
              <a:t>20+6+0.25+2=28.25 </a:t>
            </a:r>
            <a:r>
              <a:rPr lang="en-US" altLang="zh-CN" sz="2400" dirty="0" err="1">
                <a:latin typeface="+mn-ea"/>
                <a:ea typeface="+mn-ea"/>
              </a:rPr>
              <a:t>ms</a:t>
            </a:r>
            <a:r>
              <a:rPr lang="zh-CN" altLang="zh-CN" sz="2400" dirty="0">
                <a:latin typeface="+mn-ea"/>
                <a:ea typeface="+mn-ea"/>
              </a:rPr>
              <a:t>。</a:t>
            </a:r>
            <a:endParaRPr lang="en-US" altLang="zh-CN" sz="2400" dirty="0">
              <a:latin typeface="+mn-ea"/>
              <a:ea typeface="+mn-ea"/>
            </a:endParaRPr>
          </a:p>
        </p:txBody>
      </p:sp>
    </p:spTree>
    <p:extLst>
      <p:ext uri="{BB962C8B-B14F-4D97-AF65-F5344CB8AC3E}">
        <p14:creationId xmlns:p14="http://schemas.microsoft.com/office/powerpoint/2010/main" val="1362128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dissolve">
                                      <p:cBhvr>
                                        <p:cTn id="7" dur="500"/>
                                        <p:tgtEl>
                                          <p:spTgt spid="26629"/>
                                        </p:tgtEl>
                                      </p:cBhvr>
                                    </p:animEffect>
                                  </p:childTnLst>
                                  <p:subTnLst>
                                    <p:set>
                                      <p:cBhvr override="childStyle">
                                        <p:cTn dur="1" fill="hold" display="0" masterRel="nextClick" afterEffect="1"/>
                                        <p:tgtEl>
                                          <p:spTgt spid="266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p>
            <a:fld id="{A707DC27-432A-4014-8DDA-B18813C29B12}" type="slidenum">
              <a:rPr lang="en-US" altLang="zh-CN" smtClean="0"/>
              <a:pPr/>
              <a:t>26</a:t>
            </a:fld>
            <a:endParaRPr lang="en-US" altLang="zh-CN" smtClean="0"/>
          </a:p>
        </p:txBody>
      </p:sp>
      <p:sp>
        <p:nvSpPr>
          <p:cNvPr id="29700" name="Rectangle 3"/>
          <p:cNvSpPr>
            <a:spLocks noGrp="1" noChangeArrowheads="1"/>
          </p:cNvSpPr>
          <p:nvPr>
            <p:ph type="body" idx="1"/>
          </p:nvPr>
        </p:nvSpPr>
        <p:spPr>
          <a:xfrm>
            <a:off x="208387" y="131249"/>
            <a:ext cx="7810372" cy="6451845"/>
          </a:xfrm>
        </p:spPr>
        <p:txBody>
          <a:bodyPr/>
          <a:lstStyle/>
          <a:p>
            <a:pPr eaLnBrk="1" hangingPunct="1">
              <a:lnSpc>
                <a:spcPct val="125000"/>
              </a:lnSpc>
              <a:spcBef>
                <a:spcPts val="0"/>
              </a:spcBef>
              <a:buNone/>
            </a:pPr>
            <a:r>
              <a:rPr lang="en-US" altLang="zh-CN" sz="2800" dirty="0" smtClean="0">
                <a:latin typeface="+mn-ea"/>
              </a:rPr>
              <a:t>7.2.6 </a:t>
            </a:r>
            <a:r>
              <a:rPr lang="zh-CN" altLang="en-US" sz="2800" dirty="0" smtClean="0">
                <a:latin typeface="+mn-ea"/>
              </a:rPr>
              <a:t>磁盘</a:t>
            </a:r>
            <a:r>
              <a:rPr lang="en-US" altLang="zh-CN" sz="2800" dirty="0" smtClean="0">
                <a:latin typeface="+mn-ea"/>
              </a:rPr>
              <a:t>cache</a:t>
            </a:r>
          </a:p>
          <a:p>
            <a:pPr eaLnBrk="1" hangingPunct="1">
              <a:lnSpc>
                <a:spcPct val="125000"/>
              </a:lnSpc>
              <a:spcBef>
                <a:spcPts val="0"/>
              </a:spcBef>
            </a:pPr>
            <a:r>
              <a:rPr lang="zh-CN" altLang="en-US" sz="2800" dirty="0" smtClean="0">
                <a:latin typeface="+mn-ea"/>
              </a:rPr>
              <a:t>磁盘</a:t>
            </a:r>
            <a:r>
              <a:rPr lang="en-US" altLang="zh-CN" sz="2800" dirty="0">
                <a:latin typeface="+mn-ea"/>
              </a:rPr>
              <a:t>cache </a:t>
            </a:r>
            <a:r>
              <a:rPr lang="en-US" altLang="zh-CN" sz="2800" dirty="0" smtClean="0">
                <a:latin typeface="+mn-ea"/>
              </a:rPr>
              <a:t>		</a:t>
            </a:r>
          </a:p>
          <a:p>
            <a:pPr eaLnBrk="1" hangingPunct="1">
              <a:lnSpc>
                <a:spcPct val="125000"/>
              </a:lnSpc>
              <a:spcBef>
                <a:spcPts val="0"/>
              </a:spcBef>
              <a:buNone/>
            </a:pPr>
            <a:r>
              <a:rPr lang="zh-CN" altLang="en-US" sz="2800" dirty="0" smtClean="0">
                <a:latin typeface="+mn-ea"/>
              </a:rPr>
              <a:t>      磁盘驱动器的存取</a:t>
            </a:r>
            <a:r>
              <a:rPr lang="zh-CN" altLang="en-US" sz="2800" dirty="0">
                <a:latin typeface="+mn-ea"/>
              </a:rPr>
              <a:t>时间为毫秒</a:t>
            </a:r>
            <a:r>
              <a:rPr lang="en-US" altLang="zh-CN" sz="2800" dirty="0" smtClean="0">
                <a:latin typeface="+mn-ea"/>
              </a:rPr>
              <a:t>(</a:t>
            </a:r>
            <a:r>
              <a:rPr lang="en-US" altLang="zh-CN" sz="2800" dirty="0" err="1" smtClean="0">
                <a:latin typeface="+mn-ea"/>
              </a:rPr>
              <a:t>ms</a:t>
            </a:r>
            <a:r>
              <a:rPr lang="en-US" altLang="zh-CN" sz="2800" dirty="0" smtClean="0">
                <a:latin typeface="+mn-ea"/>
              </a:rPr>
              <a:t>)</a:t>
            </a:r>
            <a:r>
              <a:rPr lang="zh-CN" altLang="en-US" sz="2800" dirty="0" smtClean="0">
                <a:latin typeface="+mn-ea"/>
              </a:rPr>
              <a:t>级。而主存的存取时间为纳秒</a:t>
            </a:r>
            <a:r>
              <a:rPr lang="en-US" altLang="zh-CN" sz="2800" dirty="0" smtClean="0">
                <a:latin typeface="+mn-ea"/>
              </a:rPr>
              <a:t>(ns)</a:t>
            </a:r>
            <a:r>
              <a:rPr lang="zh-CN" altLang="en-US" sz="2800" dirty="0" smtClean="0">
                <a:latin typeface="+mn-ea"/>
              </a:rPr>
              <a:t>级，两者速度差别十分突出，因此磁盘</a:t>
            </a:r>
            <a:r>
              <a:rPr lang="en-US" altLang="zh-CN" sz="2800" dirty="0" smtClean="0">
                <a:latin typeface="+mn-ea"/>
              </a:rPr>
              <a:t>I/O</a:t>
            </a:r>
            <a:r>
              <a:rPr lang="zh-CN" altLang="en-US" sz="2800" dirty="0" smtClean="0">
                <a:latin typeface="+mn-ea"/>
              </a:rPr>
              <a:t>系统成为整个系统的瓶颈。为了减少存取时间，可采取的措施有：提高磁盘机主轴转速，提高</a:t>
            </a:r>
            <a:r>
              <a:rPr lang="en-US" altLang="zh-CN" sz="2800" dirty="0" smtClean="0">
                <a:latin typeface="+mn-ea"/>
              </a:rPr>
              <a:t>I/O</a:t>
            </a:r>
            <a:r>
              <a:rPr lang="zh-CN" altLang="en-US" sz="2800" dirty="0" smtClean="0">
                <a:latin typeface="+mn-ea"/>
              </a:rPr>
              <a:t>总线速度，采用磁盘</a:t>
            </a:r>
            <a:r>
              <a:rPr lang="en-US" altLang="zh-CN" sz="2800" dirty="0" smtClean="0">
                <a:latin typeface="+mn-ea"/>
              </a:rPr>
              <a:t>cache</a:t>
            </a:r>
            <a:r>
              <a:rPr lang="zh-CN" altLang="en-US" sz="2800" dirty="0" smtClean="0">
                <a:latin typeface="+mn-ea"/>
              </a:rPr>
              <a:t>等。   </a:t>
            </a:r>
          </a:p>
          <a:p>
            <a:pPr eaLnBrk="1" hangingPunct="1">
              <a:lnSpc>
                <a:spcPct val="125000"/>
              </a:lnSpc>
              <a:spcBef>
                <a:spcPts val="0"/>
              </a:spcBef>
              <a:buFont typeface="Wingdings" pitchFamily="2" charset="2"/>
              <a:buNone/>
            </a:pPr>
            <a:r>
              <a:rPr lang="zh-CN" altLang="en-US" sz="2800" dirty="0" smtClean="0">
                <a:latin typeface="+mn-ea"/>
              </a:rPr>
              <a:t>      主存和</a:t>
            </a:r>
            <a:r>
              <a:rPr lang="en-US" altLang="zh-CN" sz="2800" dirty="0" smtClean="0">
                <a:latin typeface="+mn-ea"/>
              </a:rPr>
              <a:t>CPU</a:t>
            </a:r>
            <a:r>
              <a:rPr lang="zh-CN" altLang="en-US" sz="2800" dirty="0" smtClean="0">
                <a:latin typeface="+mn-ea"/>
              </a:rPr>
              <a:t>之间设置高速缓存</a:t>
            </a:r>
            <a:r>
              <a:rPr lang="en-US" altLang="zh-CN" sz="2800" dirty="0" smtClean="0">
                <a:latin typeface="+mn-ea"/>
              </a:rPr>
              <a:t>cache</a:t>
            </a:r>
            <a:r>
              <a:rPr lang="zh-CN" altLang="en-US" sz="2800" dirty="0" smtClean="0">
                <a:latin typeface="+mn-ea"/>
              </a:rPr>
              <a:t>是为了弥补主存和</a:t>
            </a:r>
            <a:r>
              <a:rPr lang="en-US" altLang="zh-CN" sz="2800" dirty="0" smtClean="0">
                <a:latin typeface="+mn-ea"/>
              </a:rPr>
              <a:t>CPU</a:t>
            </a:r>
            <a:r>
              <a:rPr lang="zh-CN" altLang="en-US" sz="2800" dirty="0" smtClean="0">
                <a:latin typeface="+mn-ea"/>
              </a:rPr>
              <a:t>之间速度上的差异。同样，磁盘</a:t>
            </a:r>
            <a:r>
              <a:rPr lang="en-US" altLang="zh-CN" sz="2800" dirty="0" smtClean="0">
                <a:latin typeface="+mn-ea"/>
              </a:rPr>
              <a:t>cache</a:t>
            </a:r>
            <a:r>
              <a:rPr lang="zh-CN" altLang="en-US" sz="2800" dirty="0" smtClean="0">
                <a:latin typeface="+mn-ea"/>
              </a:rPr>
              <a:t>是为了弥补慢速磁盘和主存之间速度上的差异。</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1169398F-2245-465E-99AD-80B0D67ED869}" type="slidenum">
              <a:rPr lang="en-US" altLang="zh-CN" smtClean="0"/>
              <a:pPr/>
              <a:t>27</a:t>
            </a:fld>
            <a:endParaRPr lang="en-US" altLang="zh-CN" smtClean="0"/>
          </a:p>
        </p:txBody>
      </p:sp>
      <p:sp>
        <p:nvSpPr>
          <p:cNvPr id="30724" name="Rectangle 3"/>
          <p:cNvSpPr>
            <a:spLocks noGrp="1" noChangeArrowheads="1"/>
          </p:cNvSpPr>
          <p:nvPr>
            <p:ph type="body" idx="1"/>
          </p:nvPr>
        </p:nvSpPr>
        <p:spPr>
          <a:xfrm>
            <a:off x="184145" y="602515"/>
            <a:ext cx="8229600" cy="5904656"/>
          </a:xfrm>
        </p:spPr>
        <p:txBody>
          <a:bodyPr/>
          <a:lstStyle/>
          <a:p>
            <a:pPr eaLnBrk="1" hangingPunct="1">
              <a:lnSpc>
                <a:spcPct val="120000"/>
              </a:lnSpc>
              <a:spcBef>
                <a:spcPts val="0"/>
              </a:spcBef>
            </a:pPr>
            <a:r>
              <a:rPr lang="zh-CN" altLang="en-US" sz="2400" dirty="0" smtClean="0">
                <a:latin typeface="宋体" pitchFamily="2" charset="-122"/>
              </a:rPr>
              <a:t>磁盘</a:t>
            </a:r>
            <a:r>
              <a:rPr lang="en-US" altLang="zh-CN" sz="2400" dirty="0" smtClean="0">
                <a:latin typeface="宋体" pitchFamily="2" charset="-122"/>
              </a:rPr>
              <a:t>cache</a:t>
            </a:r>
            <a:r>
              <a:rPr lang="zh-CN" altLang="en-US" sz="2400" dirty="0" smtClean="0">
                <a:latin typeface="宋体" pitchFamily="2" charset="-122"/>
              </a:rPr>
              <a:t>的原理</a:t>
            </a:r>
          </a:p>
          <a:p>
            <a:pPr eaLnBrk="1" hangingPunct="1">
              <a:lnSpc>
                <a:spcPct val="120000"/>
              </a:lnSpc>
              <a:spcBef>
                <a:spcPts val="0"/>
              </a:spcBef>
              <a:buFont typeface="Wingdings" pitchFamily="2" charset="2"/>
              <a:buNone/>
            </a:pPr>
            <a:r>
              <a:rPr lang="zh-CN" altLang="en-US" sz="2400" dirty="0" smtClean="0">
                <a:latin typeface="宋体" pitchFamily="2" charset="-122"/>
              </a:rPr>
              <a:t>      在磁盘</a:t>
            </a:r>
            <a:r>
              <a:rPr lang="en-US" altLang="zh-CN" sz="2400" dirty="0" smtClean="0">
                <a:latin typeface="宋体" pitchFamily="2" charset="-122"/>
              </a:rPr>
              <a:t>cache</a:t>
            </a:r>
            <a:r>
              <a:rPr lang="zh-CN" altLang="en-US" sz="2400" dirty="0" smtClean="0">
                <a:latin typeface="宋体" pitchFamily="2" charset="-122"/>
              </a:rPr>
              <a:t>中，由一些数据块组成的一个基本单位称为</a:t>
            </a:r>
            <a:r>
              <a:rPr lang="en-US" altLang="zh-CN" sz="2400" dirty="0" smtClean="0">
                <a:latin typeface="宋体" pitchFamily="2" charset="-122"/>
              </a:rPr>
              <a:t>cache</a:t>
            </a:r>
            <a:r>
              <a:rPr lang="zh-CN" altLang="en-US" sz="2400" dirty="0" smtClean="0">
                <a:latin typeface="宋体" pitchFamily="2" charset="-122"/>
              </a:rPr>
              <a:t>行。当一个</a:t>
            </a:r>
            <a:r>
              <a:rPr lang="en-US" altLang="zh-CN" sz="2400" dirty="0" smtClean="0">
                <a:latin typeface="宋体" pitchFamily="2" charset="-122"/>
              </a:rPr>
              <a:t>I/O</a:t>
            </a:r>
            <a:r>
              <a:rPr lang="zh-CN" altLang="en-US" sz="2400" dirty="0" smtClean="0">
                <a:latin typeface="宋体" pitchFamily="2" charset="-122"/>
              </a:rPr>
              <a:t>请求送到磁盘驱动时，首先搜索驱动器上的高速缓冲行是否已写上数据？如果是读操作，且要读的数据已在</a:t>
            </a:r>
            <a:r>
              <a:rPr lang="en-US" altLang="zh-CN" sz="2400" dirty="0" smtClean="0">
                <a:latin typeface="宋体" pitchFamily="2" charset="-122"/>
              </a:rPr>
              <a:t>cache</a:t>
            </a:r>
            <a:r>
              <a:rPr lang="zh-CN" altLang="en-US" sz="2400" dirty="0" smtClean="0">
                <a:latin typeface="宋体" pitchFamily="2" charset="-122"/>
              </a:rPr>
              <a:t>中，则为命中，可从</a:t>
            </a:r>
            <a:r>
              <a:rPr lang="en-US" altLang="zh-CN" sz="2400" dirty="0" smtClean="0">
                <a:latin typeface="宋体" pitchFamily="2" charset="-122"/>
              </a:rPr>
              <a:t>cache</a:t>
            </a:r>
            <a:r>
              <a:rPr lang="zh-CN" altLang="en-US" sz="2400" dirty="0" smtClean="0">
                <a:latin typeface="宋体" pitchFamily="2" charset="-122"/>
              </a:rPr>
              <a:t>行中读出数据，否则需从磁盘介质上读出。写入操作和</a:t>
            </a:r>
            <a:r>
              <a:rPr lang="en-US" altLang="zh-CN" sz="2400" dirty="0" smtClean="0">
                <a:latin typeface="宋体" pitchFamily="2" charset="-122"/>
              </a:rPr>
              <a:t>CPU</a:t>
            </a:r>
            <a:r>
              <a:rPr lang="zh-CN" altLang="en-US" sz="2400" dirty="0" smtClean="0">
                <a:latin typeface="宋体" pitchFamily="2" charset="-122"/>
              </a:rPr>
              <a:t>中的</a:t>
            </a:r>
            <a:r>
              <a:rPr lang="en-US" altLang="zh-CN" sz="2400" dirty="0" smtClean="0">
                <a:latin typeface="宋体" pitchFamily="2" charset="-122"/>
              </a:rPr>
              <a:t>cache</a:t>
            </a:r>
            <a:r>
              <a:rPr lang="zh-CN" altLang="en-US" sz="2400" dirty="0" smtClean="0">
                <a:latin typeface="宋体" pitchFamily="2" charset="-122"/>
              </a:rPr>
              <a:t>类似，有“直写”和“写回”两种方法。</a:t>
            </a:r>
          </a:p>
          <a:p>
            <a:pPr eaLnBrk="1" hangingPunct="1">
              <a:lnSpc>
                <a:spcPct val="120000"/>
              </a:lnSpc>
              <a:spcBef>
                <a:spcPts val="0"/>
              </a:spcBef>
              <a:buFont typeface="Wingdings" pitchFamily="2" charset="2"/>
              <a:buNone/>
            </a:pPr>
            <a:r>
              <a:rPr lang="zh-CN" altLang="en-US" sz="2400" dirty="0" smtClean="0">
                <a:latin typeface="宋体" pitchFamily="2" charset="-122"/>
              </a:rPr>
              <a:t>      磁盘</a:t>
            </a:r>
            <a:r>
              <a:rPr lang="en-US" altLang="zh-CN" sz="2400" dirty="0" smtClean="0">
                <a:latin typeface="宋体" pitchFamily="2" charset="-122"/>
              </a:rPr>
              <a:t>cache</a:t>
            </a:r>
            <a:r>
              <a:rPr lang="zh-CN" altLang="en-US" sz="2400" dirty="0" smtClean="0">
                <a:latin typeface="宋体" pitchFamily="2" charset="-122"/>
              </a:rPr>
              <a:t>利用了被访问数据的空间局部性和时间局部性原理。空间局部性是指当某些数据被存取时，该数据附近的其他数据可能也将很快被存取；时间局部性是指当一些数据被存取后，不久这些数据还可能再次存取。因此现在大多数磁盘驱动器中都使用了预读策略，而根据局部性原理预取一些不久将可能读入的数据放到磁盘</a:t>
            </a:r>
            <a:r>
              <a:rPr lang="en-US" altLang="zh-CN" sz="2400" dirty="0" smtClean="0">
                <a:latin typeface="宋体" pitchFamily="2" charset="-122"/>
              </a:rPr>
              <a:t>cache</a:t>
            </a:r>
            <a:r>
              <a:rPr lang="zh-CN" altLang="en-US" sz="2400" dirty="0" smtClean="0">
                <a:latin typeface="宋体" pitchFamily="2" charset="-122"/>
              </a:rPr>
              <a:t>中。</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p:spPr>
        <p:txBody>
          <a:bodyPr/>
          <a:lstStyle/>
          <a:p>
            <a:fld id="{9ABA14BC-CBC5-4636-9520-9783F4A46B4A}" type="slidenum">
              <a:rPr lang="en-US" altLang="zh-CN" smtClean="0"/>
              <a:pPr/>
              <a:t>28</a:t>
            </a:fld>
            <a:endParaRPr lang="en-US" altLang="zh-CN" smtClean="0"/>
          </a:p>
        </p:txBody>
      </p:sp>
      <p:sp>
        <p:nvSpPr>
          <p:cNvPr id="31747" name="Rectangle 3"/>
          <p:cNvSpPr>
            <a:spLocks noGrp="1" noChangeArrowheads="1"/>
          </p:cNvSpPr>
          <p:nvPr>
            <p:ph type="body" idx="1"/>
          </p:nvPr>
        </p:nvSpPr>
        <p:spPr>
          <a:xfrm>
            <a:off x="250825" y="423975"/>
            <a:ext cx="7634288" cy="6048375"/>
          </a:xfrm>
        </p:spPr>
        <p:txBody>
          <a:bodyPr/>
          <a:lstStyle/>
          <a:p>
            <a:pPr eaLnBrk="1" hangingPunct="1">
              <a:lnSpc>
                <a:spcPct val="110000"/>
              </a:lnSpc>
              <a:buNone/>
            </a:pPr>
            <a:r>
              <a:rPr lang="en-US" altLang="zh-CN" sz="2400" dirty="0" smtClean="0">
                <a:latin typeface="+mn-ea"/>
              </a:rPr>
              <a:t>7.2.7 </a:t>
            </a:r>
            <a:r>
              <a:rPr lang="zh-CN" altLang="zh-CN" sz="2400" dirty="0">
                <a:latin typeface="+mn-ea"/>
              </a:rPr>
              <a:t>磁盘阵列</a:t>
            </a:r>
            <a:r>
              <a:rPr lang="zh-CN" altLang="zh-CN" sz="2400" dirty="0" smtClean="0">
                <a:latin typeface="+mn-ea"/>
              </a:rPr>
              <a:t>RAID</a:t>
            </a:r>
            <a:endParaRPr lang="en-US" altLang="zh-CN" sz="2400" dirty="0" smtClean="0">
              <a:latin typeface="+mn-ea"/>
            </a:endParaRPr>
          </a:p>
          <a:p>
            <a:pPr eaLnBrk="1" hangingPunct="1">
              <a:lnSpc>
                <a:spcPct val="130000"/>
              </a:lnSpc>
            </a:pPr>
            <a:r>
              <a:rPr lang="en-US" altLang="zh-CN" sz="2000" dirty="0" smtClean="0">
                <a:latin typeface="+mn-ea"/>
              </a:rPr>
              <a:t>RAID</a:t>
            </a:r>
            <a:r>
              <a:rPr lang="zh-CN" altLang="en-US" sz="2000" dirty="0" smtClean="0">
                <a:latin typeface="+mn-ea"/>
              </a:rPr>
              <a:t>称廉价冗余磁盘阵列，它是用多台磁盘存储器组成的大容量外存系统。其构造基础是利用数据分块技术和并行处理技术，在多个磁盘上交错存放数据，使之可以并行存取。在</a:t>
            </a:r>
            <a:r>
              <a:rPr lang="en-US" altLang="zh-CN" sz="2000" dirty="0" smtClean="0">
                <a:latin typeface="+mn-ea"/>
              </a:rPr>
              <a:t>RAID</a:t>
            </a:r>
            <a:r>
              <a:rPr lang="zh-CN" altLang="en-US" sz="2000" dirty="0" smtClean="0">
                <a:latin typeface="+mn-ea"/>
              </a:rPr>
              <a:t>控制器的组织管理下，可实现数据的并行存储、交叉存储、单独存储。由于阵列中的一部分磁盘存有冗余信息，一旦系统中某一磁盘失效，可以利用冗余信息重建用户信息。</a:t>
            </a:r>
          </a:p>
          <a:p>
            <a:pPr eaLnBrk="1" hangingPunct="1">
              <a:lnSpc>
                <a:spcPct val="130000"/>
              </a:lnSpc>
            </a:pPr>
            <a:r>
              <a:rPr lang="en-US" altLang="zh-CN" sz="2000" dirty="0" smtClean="0">
                <a:latin typeface="+mn-ea"/>
              </a:rPr>
              <a:t>RAID</a:t>
            </a:r>
            <a:r>
              <a:rPr lang="zh-CN" altLang="en-US" sz="2000" dirty="0" smtClean="0">
                <a:latin typeface="+mn-ea"/>
              </a:rPr>
              <a:t>是</a:t>
            </a:r>
            <a:r>
              <a:rPr lang="en-US" altLang="zh-CN" sz="2000" dirty="0" smtClean="0">
                <a:latin typeface="+mn-ea"/>
              </a:rPr>
              <a:t>1988</a:t>
            </a:r>
            <a:r>
              <a:rPr lang="zh-CN" altLang="en-US" sz="2000" dirty="0" smtClean="0">
                <a:latin typeface="+mn-ea"/>
              </a:rPr>
              <a:t>年由美国加州大学伯克利分校一个研究小组提出的，它的设计理念是用多个小容量磁盘代替一个大容量磁盘，并用分布数据的方法能够同时从多个磁盘中存取数据，因而改善了</a:t>
            </a:r>
            <a:r>
              <a:rPr lang="en-US" altLang="zh-CN" sz="2000" dirty="0" smtClean="0">
                <a:latin typeface="+mn-ea"/>
              </a:rPr>
              <a:t>I/O</a:t>
            </a:r>
            <a:r>
              <a:rPr lang="zh-CN" altLang="en-US" sz="2000" dirty="0" smtClean="0">
                <a:latin typeface="+mn-ea"/>
              </a:rPr>
              <a:t>性能，增加了存储容量，现已在超级或大型计算机中使用。</a:t>
            </a:r>
          </a:p>
          <a:p>
            <a:pPr eaLnBrk="1" hangingPunct="1">
              <a:lnSpc>
                <a:spcPct val="130000"/>
              </a:lnSpc>
            </a:pPr>
            <a:r>
              <a:rPr lang="zh-CN" altLang="en-US" sz="2000" dirty="0" smtClean="0">
                <a:latin typeface="+mn-ea"/>
              </a:rPr>
              <a:t>工业上制定了一个称为</a:t>
            </a:r>
            <a:r>
              <a:rPr lang="en-US" altLang="zh-CN" sz="2000" dirty="0" smtClean="0">
                <a:latin typeface="+mn-ea"/>
              </a:rPr>
              <a:t>RAID</a:t>
            </a:r>
            <a:r>
              <a:rPr lang="zh-CN" altLang="en-US" sz="2000" dirty="0" smtClean="0">
                <a:latin typeface="+mn-ea"/>
              </a:rPr>
              <a:t>的标准，它分为</a:t>
            </a:r>
            <a:r>
              <a:rPr lang="en-US" altLang="zh-CN" sz="2000" dirty="0" smtClean="0">
                <a:latin typeface="+mn-ea"/>
              </a:rPr>
              <a:t>7</a:t>
            </a:r>
            <a:r>
              <a:rPr lang="zh-CN" altLang="en-US" sz="2000" dirty="0" smtClean="0">
                <a:latin typeface="+mn-ea"/>
              </a:rPr>
              <a:t>级</a:t>
            </a:r>
            <a:r>
              <a:rPr lang="en-US" altLang="zh-CN" sz="2000" dirty="0" smtClean="0">
                <a:latin typeface="+mn-ea"/>
              </a:rPr>
              <a:t>(RAID0</a:t>
            </a:r>
            <a:r>
              <a:rPr lang="zh-CN" altLang="en-US" sz="2000" dirty="0" smtClean="0">
                <a:latin typeface="+mn-ea"/>
              </a:rPr>
              <a:t>～</a:t>
            </a:r>
            <a:r>
              <a:rPr lang="en-US" altLang="zh-CN" sz="2000" dirty="0" smtClean="0">
                <a:latin typeface="+mn-ea"/>
              </a:rPr>
              <a:t>RAID 6)</a:t>
            </a:r>
            <a:r>
              <a:rPr lang="zh-CN" altLang="en-US" sz="2000" dirty="0" smtClean="0">
                <a:latin typeface="+mn-ea"/>
              </a:rPr>
              <a:t>。这些级别不是表示层次关系，而是指出了不同存储容量、可靠性、数据传输能力、</a:t>
            </a:r>
            <a:r>
              <a:rPr lang="en-US" altLang="zh-CN" sz="2000" dirty="0" smtClean="0">
                <a:latin typeface="+mn-ea"/>
              </a:rPr>
              <a:t>I/O</a:t>
            </a:r>
            <a:r>
              <a:rPr lang="zh-CN" altLang="en-US" sz="2000" dirty="0" smtClean="0">
                <a:latin typeface="+mn-ea"/>
              </a:rPr>
              <a:t>请求速率等方面的应用需求。</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p:spPr>
        <p:txBody>
          <a:bodyPr/>
          <a:lstStyle/>
          <a:p>
            <a:fld id="{8DC756C4-016C-4F10-94FE-16E7EFCA1AAC}" type="slidenum">
              <a:rPr lang="en-US" altLang="zh-CN" smtClean="0"/>
              <a:pPr/>
              <a:t>29</a:t>
            </a:fld>
            <a:endParaRPr lang="en-US" altLang="zh-CN" smtClean="0"/>
          </a:p>
        </p:txBody>
      </p:sp>
      <p:sp>
        <p:nvSpPr>
          <p:cNvPr id="32771" name="Rectangle 3"/>
          <p:cNvSpPr>
            <a:spLocks noGrp="1" noChangeArrowheads="1"/>
          </p:cNvSpPr>
          <p:nvPr>
            <p:ph type="body" idx="1"/>
          </p:nvPr>
        </p:nvSpPr>
        <p:spPr>
          <a:xfrm>
            <a:off x="179388" y="333375"/>
            <a:ext cx="7705725" cy="3240088"/>
          </a:xfrm>
        </p:spPr>
        <p:txBody>
          <a:bodyPr/>
          <a:lstStyle/>
          <a:p>
            <a:pPr eaLnBrk="1" hangingPunct="1">
              <a:buFont typeface="Wingdings" pitchFamily="2" charset="2"/>
              <a:buNone/>
            </a:pPr>
            <a:r>
              <a:rPr lang="en-US" altLang="zh-CN" smtClean="0"/>
              <a:t>          </a:t>
            </a:r>
            <a:r>
              <a:rPr lang="zh-CN" altLang="en-US" sz="2400" smtClean="0">
                <a:latin typeface="宋体" pitchFamily="2" charset="-122"/>
              </a:rPr>
              <a:t>下面以</a:t>
            </a:r>
            <a:r>
              <a:rPr lang="en-US" altLang="zh-CN" sz="2400" smtClean="0">
                <a:latin typeface="宋体" pitchFamily="2" charset="-122"/>
              </a:rPr>
              <a:t>RAID 0</a:t>
            </a:r>
            <a:r>
              <a:rPr lang="zh-CN" altLang="en-US" sz="2400" smtClean="0">
                <a:latin typeface="宋体" pitchFamily="2" charset="-122"/>
              </a:rPr>
              <a:t>级为例来说明。考虑到低成本比可靠性更重要，</a:t>
            </a:r>
            <a:r>
              <a:rPr lang="en-US" altLang="zh-CN" sz="2400" smtClean="0">
                <a:latin typeface="宋体" pitchFamily="2" charset="-122"/>
              </a:rPr>
              <a:t>RAID 0</a:t>
            </a:r>
            <a:r>
              <a:rPr lang="zh-CN" altLang="en-US" sz="2400" smtClean="0">
                <a:latin typeface="宋体" pitchFamily="2" charset="-122"/>
              </a:rPr>
              <a:t>未采用奇偶校验等冗余技术。</a:t>
            </a:r>
            <a:r>
              <a:rPr lang="en-US" altLang="zh-CN" sz="2400" smtClean="0">
                <a:latin typeface="宋体" pitchFamily="2" charset="-122"/>
              </a:rPr>
              <a:t>RAID 0</a:t>
            </a:r>
            <a:r>
              <a:rPr lang="zh-CN" altLang="en-US" sz="2400" smtClean="0">
                <a:latin typeface="宋体" pitchFamily="2" charset="-122"/>
              </a:rPr>
              <a:t>用于高速数据传输和高速</a:t>
            </a:r>
            <a:r>
              <a:rPr lang="en-US" altLang="zh-CN" sz="2400" smtClean="0">
                <a:latin typeface="宋体" pitchFamily="2" charset="-122"/>
              </a:rPr>
              <a:t>I/O</a:t>
            </a:r>
            <a:r>
              <a:rPr lang="zh-CN" altLang="en-US" sz="2400" smtClean="0">
                <a:latin typeface="宋体" pitchFamily="2" charset="-122"/>
              </a:rPr>
              <a:t>请求。</a:t>
            </a:r>
          </a:p>
          <a:p>
            <a:pPr eaLnBrk="1" hangingPunct="1">
              <a:buFont typeface="Wingdings" pitchFamily="2" charset="2"/>
              <a:buNone/>
            </a:pPr>
            <a:r>
              <a:rPr lang="zh-CN" altLang="en-US" sz="2400" smtClean="0">
                <a:latin typeface="宋体" pitchFamily="2" charset="-122"/>
              </a:rPr>
              <a:t>      对</a:t>
            </a:r>
            <a:r>
              <a:rPr lang="en-US" altLang="zh-CN" sz="2400" smtClean="0">
                <a:latin typeface="宋体" pitchFamily="2" charset="-122"/>
              </a:rPr>
              <a:t>RAID 0,</a:t>
            </a:r>
            <a:r>
              <a:rPr lang="zh-CN" altLang="en-US" sz="2400" smtClean="0">
                <a:latin typeface="宋体" pitchFamily="2" charset="-122"/>
              </a:rPr>
              <a:t>用户和系统数据分布在阵列中的所有磁盘上。与单个大容量磁盘相比，其优点是：如果两个</a:t>
            </a:r>
            <a:r>
              <a:rPr lang="en-US" altLang="zh-CN" sz="2400" smtClean="0">
                <a:latin typeface="宋体" pitchFamily="2" charset="-122"/>
              </a:rPr>
              <a:t>I/O</a:t>
            </a:r>
            <a:r>
              <a:rPr lang="zh-CN" altLang="en-US" sz="2400" smtClean="0">
                <a:latin typeface="宋体" pitchFamily="2" charset="-122"/>
              </a:rPr>
              <a:t>请求正在等待两个不同的数据块，则被请求的块有可能在不同的盘上。因此，两个请求能够并行发出，减少了</a:t>
            </a:r>
            <a:r>
              <a:rPr lang="en-US" altLang="zh-CN" sz="2400" smtClean="0">
                <a:latin typeface="宋体" pitchFamily="2" charset="-122"/>
              </a:rPr>
              <a:t>I/O</a:t>
            </a:r>
            <a:r>
              <a:rPr lang="zh-CN" altLang="en-US" sz="2400" smtClean="0">
                <a:latin typeface="宋体" pitchFamily="2" charset="-122"/>
              </a:rPr>
              <a:t>排队的时间。见下图。</a:t>
            </a:r>
          </a:p>
        </p:txBody>
      </p:sp>
      <p:pic>
        <p:nvPicPr>
          <p:cNvPr id="32772" name="Picture 4" descr="7a10"/>
          <p:cNvPicPr>
            <a:picLocks noChangeAspect="1" noChangeArrowheads="1"/>
          </p:cNvPicPr>
          <p:nvPr/>
        </p:nvPicPr>
        <p:blipFill>
          <a:blip r:embed="rId2"/>
          <a:srcRect/>
          <a:stretch>
            <a:fillRect/>
          </a:stretch>
        </p:blipFill>
        <p:spPr bwMode="auto">
          <a:xfrm>
            <a:off x="827088" y="3573463"/>
            <a:ext cx="6985000" cy="2665412"/>
          </a:xfrm>
          <a:prstGeom prst="rect">
            <a:avLst/>
          </a:prstGeom>
          <a:noFill/>
          <a:ln w="9525">
            <a:noFill/>
            <a:miter lim="800000"/>
            <a:headEnd/>
            <a:tailEnd/>
          </a:ln>
        </p:spPr>
      </p:pic>
      <p:pic>
        <p:nvPicPr>
          <p:cNvPr id="32773" name="Picture 5">
            <a:hlinkClick r:id="rId3" action="ppaction://hlinkfile"/>
          </p:cNvPr>
          <p:cNvPicPr>
            <a:picLocks noChangeAspect="1" noChangeArrowheads="1"/>
          </p:cNvPicPr>
          <p:nvPr/>
        </p:nvPicPr>
        <p:blipFill>
          <a:blip r:embed="rId4"/>
          <a:srcRect/>
          <a:stretch>
            <a:fillRect/>
          </a:stretch>
        </p:blipFill>
        <p:spPr bwMode="auto">
          <a:xfrm>
            <a:off x="8172450" y="4437063"/>
            <a:ext cx="409575" cy="381000"/>
          </a:xfrm>
          <a:prstGeom prst="rect">
            <a:avLst/>
          </a:prstGeom>
          <a:noFill/>
          <a:ln w="9525">
            <a:noFill/>
            <a:miter lim="800000"/>
            <a:headEnd/>
            <a:tailEnd/>
          </a:ln>
        </p:spPr>
      </p:pic>
      <p:sp>
        <p:nvSpPr>
          <p:cNvPr id="32774" name="Rectangle 6"/>
          <p:cNvSpPr>
            <a:spLocks noChangeArrowheads="1"/>
          </p:cNvSpPr>
          <p:nvPr/>
        </p:nvSpPr>
        <p:spPr bwMode="auto">
          <a:xfrm>
            <a:off x="2195513" y="6165850"/>
            <a:ext cx="3536950" cy="457200"/>
          </a:xfrm>
          <a:prstGeom prst="rect">
            <a:avLst/>
          </a:prstGeom>
          <a:noFill/>
          <a:ln w="9525">
            <a:noFill/>
            <a:miter lim="800000"/>
            <a:headEnd/>
            <a:tailEnd/>
          </a:ln>
        </p:spPr>
        <p:txBody>
          <a:bodyPr wrap="none">
            <a:spAutoFit/>
          </a:bodyPr>
          <a:lstStyle/>
          <a:p>
            <a:pPr>
              <a:spcBef>
                <a:spcPct val="20000"/>
              </a:spcBef>
              <a:buClr>
                <a:schemeClr val="tx2"/>
              </a:buClr>
              <a:buSzPct val="70000"/>
              <a:buFont typeface="Wingdings" pitchFamily="2" charset="2"/>
              <a:buNone/>
            </a:pPr>
            <a:r>
              <a:rPr lang="en-US" altLang="zh-CN" sz="2400">
                <a:latin typeface="宋体" pitchFamily="2" charset="-122"/>
              </a:rPr>
              <a:t>RAID 0</a:t>
            </a:r>
            <a:r>
              <a:rPr lang="zh-CN" altLang="en-US" sz="2400">
                <a:latin typeface="宋体" pitchFamily="2" charset="-122"/>
              </a:rPr>
              <a:t>级阵列的数据映射</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p:spPr>
        <p:txBody>
          <a:bodyPr/>
          <a:lstStyle/>
          <a:p>
            <a:fld id="{020F4EC3-F4E9-42E8-A272-B8783D0C880B}" type="slidenum">
              <a:rPr lang="en-US" altLang="zh-CN" smtClean="0"/>
              <a:pPr/>
              <a:t>30</a:t>
            </a:fld>
            <a:endParaRPr lang="en-US" altLang="zh-CN" smtClean="0"/>
          </a:p>
        </p:txBody>
      </p:sp>
      <p:sp>
        <p:nvSpPr>
          <p:cNvPr id="33795" name="Rectangle 2"/>
          <p:cNvSpPr>
            <a:spLocks noGrp="1" noChangeArrowheads="1"/>
          </p:cNvSpPr>
          <p:nvPr>
            <p:ph type="title"/>
          </p:nvPr>
        </p:nvSpPr>
        <p:spPr>
          <a:xfrm>
            <a:off x="457200" y="122238"/>
            <a:ext cx="7543800" cy="858837"/>
          </a:xfrm>
        </p:spPr>
        <p:txBody>
          <a:bodyPr/>
          <a:lstStyle/>
          <a:p>
            <a:pPr eaLnBrk="1" hangingPunct="1"/>
            <a:r>
              <a:rPr lang="en-US" altLang="zh-CN" dirty="0" smtClean="0"/>
              <a:t>7.3 </a:t>
            </a:r>
            <a:r>
              <a:rPr lang="zh-CN" altLang="en-US" dirty="0" smtClean="0"/>
              <a:t>磁带存储设备</a:t>
            </a:r>
          </a:p>
        </p:txBody>
      </p:sp>
      <p:sp>
        <p:nvSpPr>
          <p:cNvPr id="33796" name="Rectangle 3"/>
          <p:cNvSpPr>
            <a:spLocks noGrp="1" noChangeArrowheads="1"/>
          </p:cNvSpPr>
          <p:nvPr>
            <p:ph type="body" idx="1"/>
          </p:nvPr>
        </p:nvSpPr>
        <p:spPr>
          <a:xfrm>
            <a:off x="323850" y="1052513"/>
            <a:ext cx="7416800" cy="5399087"/>
          </a:xfrm>
        </p:spPr>
        <p:txBody>
          <a:bodyPr/>
          <a:lstStyle/>
          <a:p>
            <a:pPr eaLnBrk="1" hangingPunct="1"/>
            <a:r>
              <a:rPr lang="zh-CN" altLang="en-US" smtClean="0"/>
              <a:t>磁带机的记录原理与磁盘机基本相同，只是它的载磁体是一种带状塑料，叫做磁带。写入时可通过磁头把信息代码记录在磁带上。当记录有代码的磁带在磁头下移动时，就可在磁头线圈上感应出电动势，即读出信息代码。磁带存储设备由磁带机和磁带两部分组成，它通常用作为海量存储设备的数据备份。</a:t>
            </a:r>
          </a:p>
          <a:p>
            <a:pPr eaLnBrk="1" hangingPunct="1"/>
            <a:r>
              <a:rPr lang="zh-CN" altLang="en-US" smtClean="0"/>
              <a:t>磁带速度比磁盘速度慢，原因是磁带上的数据采用顺序访问方式，而磁盘则采用随机访问方式。</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p:spPr>
        <p:txBody>
          <a:bodyPr/>
          <a:lstStyle/>
          <a:p>
            <a:fld id="{AE83A664-6B1B-4650-98AF-A31E0D5D5B33}" type="slidenum">
              <a:rPr lang="en-US" altLang="zh-CN" smtClean="0"/>
              <a:pPr/>
              <a:t>31</a:t>
            </a:fld>
            <a:endParaRPr lang="en-US" altLang="zh-CN" smtClean="0"/>
          </a:p>
        </p:txBody>
      </p:sp>
      <p:sp>
        <p:nvSpPr>
          <p:cNvPr id="34819" name="Rectangle 2"/>
          <p:cNvSpPr>
            <a:spLocks noGrp="1" noChangeArrowheads="1"/>
          </p:cNvSpPr>
          <p:nvPr>
            <p:ph type="title"/>
          </p:nvPr>
        </p:nvSpPr>
        <p:spPr>
          <a:xfrm>
            <a:off x="457200" y="122238"/>
            <a:ext cx="7543800" cy="858837"/>
          </a:xfrm>
        </p:spPr>
        <p:txBody>
          <a:bodyPr/>
          <a:lstStyle/>
          <a:p>
            <a:pPr eaLnBrk="1" hangingPunct="1"/>
            <a:r>
              <a:rPr lang="en-US" altLang="zh-CN" dirty="0" smtClean="0"/>
              <a:t>7.4 </a:t>
            </a:r>
            <a:r>
              <a:rPr lang="zh-CN" altLang="en-US" dirty="0" smtClean="0"/>
              <a:t>光盘和磁光盘存储设备</a:t>
            </a:r>
          </a:p>
        </p:txBody>
      </p:sp>
      <p:sp>
        <p:nvSpPr>
          <p:cNvPr id="34820" name="Rectangle 3"/>
          <p:cNvSpPr>
            <a:spLocks noGrp="1" noChangeArrowheads="1"/>
          </p:cNvSpPr>
          <p:nvPr>
            <p:ph type="body" idx="1"/>
          </p:nvPr>
        </p:nvSpPr>
        <p:spPr>
          <a:xfrm>
            <a:off x="323850" y="1125538"/>
            <a:ext cx="7561263" cy="3382962"/>
          </a:xfrm>
        </p:spPr>
        <p:txBody>
          <a:bodyPr/>
          <a:lstStyle/>
          <a:p>
            <a:pPr eaLnBrk="1" hangingPunct="1">
              <a:lnSpc>
                <a:spcPct val="90000"/>
              </a:lnSpc>
              <a:buFont typeface="Wingdings" pitchFamily="2" charset="2"/>
              <a:buNone/>
            </a:pPr>
            <a:r>
              <a:rPr lang="en-US" altLang="zh-CN" sz="2400" dirty="0" smtClean="0">
                <a:latin typeface="宋体" pitchFamily="2" charset="-122"/>
              </a:rPr>
              <a:t>7.4.1 </a:t>
            </a:r>
            <a:r>
              <a:rPr lang="zh-CN" altLang="en-US" sz="2400" dirty="0" smtClean="0">
                <a:latin typeface="宋体" pitchFamily="2" charset="-122"/>
              </a:rPr>
              <a:t>光盘存储设备</a:t>
            </a:r>
          </a:p>
          <a:p>
            <a:pPr eaLnBrk="1" hangingPunct="1">
              <a:lnSpc>
                <a:spcPct val="90000"/>
              </a:lnSpc>
              <a:buFont typeface="Wingdings" pitchFamily="2" charset="2"/>
              <a:buNone/>
            </a:pPr>
            <a:r>
              <a:rPr lang="zh-CN" altLang="en-US" sz="2400" dirty="0" smtClean="0">
                <a:latin typeface="宋体" pitchFamily="2" charset="-122"/>
              </a:rPr>
              <a:t>     光存储器简称</a:t>
            </a:r>
            <a:r>
              <a:rPr lang="zh-CN" altLang="en-US" sz="2400" b="1" dirty="0" smtClean="0">
                <a:latin typeface="宋体" pitchFamily="2" charset="-122"/>
              </a:rPr>
              <a:t>光盘</a:t>
            </a:r>
            <a:r>
              <a:rPr lang="zh-CN" altLang="en-US" sz="2400" dirty="0" smtClean="0">
                <a:latin typeface="宋体" pitchFamily="2" charset="-122"/>
              </a:rPr>
              <a:t>，是计算机不可缺少的设备。光盘采用聚焦激光束在盘式介质上非接触地记录高密度信息，以介质材料的光学性质的变化来表示所存储信息的“</a:t>
            </a:r>
            <a:r>
              <a:rPr lang="en-US" altLang="zh-CN" sz="2400" dirty="0" smtClean="0">
                <a:latin typeface="宋体" pitchFamily="2" charset="-122"/>
              </a:rPr>
              <a:t>1”</a:t>
            </a:r>
            <a:r>
              <a:rPr lang="zh-CN" altLang="en-US" sz="2400" dirty="0" smtClean="0">
                <a:latin typeface="宋体" pitchFamily="2" charset="-122"/>
              </a:rPr>
              <a:t>或“</a:t>
            </a:r>
            <a:r>
              <a:rPr lang="en-US" altLang="zh-CN" sz="2400" dirty="0" smtClean="0">
                <a:latin typeface="宋体" pitchFamily="2" charset="-122"/>
              </a:rPr>
              <a:t>0”</a:t>
            </a:r>
            <a:r>
              <a:rPr lang="zh-CN" altLang="en-US" sz="2400" dirty="0" smtClean="0">
                <a:latin typeface="宋体" pitchFamily="2" charset="-122"/>
              </a:rPr>
              <a:t>。 目前光盘有</a:t>
            </a:r>
            <a:r>
              <a:rPr lang="en-US" altLang="zh-CN" sz="2400" dirty="0" smtClean="0">
                <a:latin typeface="宋体" pitchFamily="2" charset="-122"/>
              </a:rPr>
              <a:t>CD-ROM</a:t>
            </a:r>
            <a:r>
              <a:rPr lang="zh-CN" altLang="en-US" sz="2400" dirty="0" smtClean="0">
                <a:latin typeface="宋体" pitchFamily="2" charset="-122"/>
              </a:rPr>
              <a:t>、</a:t>
            </a:r>
            <a:r>
              <a:rPr lang="en-US" altLang="zh-CN" sz="2400" dirty="0" smtClean="0">
                <a:latin typeface="宋体" pitchFamily="2" charset="-122"/>
              </a:rPr>
              <a:t>WORM</a:t>
            </a:r>
            <a:r>
              <a:rPr lang="zh-CN" altLang="en-US" sz="2400" dirty="0" smtClean="0">
                <a:latin typeface="宋体" pitchFamily="2" charset="-122"/>
              </a:rPr>
              <a:t>、</a:t>
            </a:r>
            <a:r>
              <a:rPr lang="en-US" altLang="zh-CN" sz="2400" dirty="0" smtClean="0">
                <a:latin typeface="宋体" pitchFamily="2" charset="-122"/>
              </a:rPr>
              <a:t>CD-R</a:t>
            </a:r>
            <a:r>
              <a:rPr lang="zh-CN" altLang="en-US" sz="2400" dirty="0" smtClean="0">
                <a:latin typeface="宋体" pitchFamily="2" charset="-122"/>
              </a:rPr>
              <a:t>、</a:t>
            </a:r>
            <a:r>
              <a:rPr lang="en-US" altLang="zh-CN" sz="2400" dirty="0" smtClean="0">
                <a:latin typeface="宋体" pitchFamily="2" charset="-122"/>
              </a:rPr>
              <a:t>CD-RW</a:t>
            </a:r>
            <a:r>
              <a:rPr lang="zh-CN" altLang="en-US" sz="2400" dirty="0" smtClean="0">
                <a:latin typeface="宋体" pitchFamily="2" charset="-122"/>
              </a:rPr>
              <a:t>、</a:t>
            </a:r>
            <a:r>
              <a:rPr lang="en-US" altLang="zh-CN" sz="2400" dirty="0" smtClean="0">
                <a:latin typeface="宋体" pitchFamily="2" charset="-122"/>
              </a:rPr>
              <a:t>DVD-ROM</a:t>
            </a:r>
            <a:r>
              <a:rPr lang="zh-CN" altLang="en-US" sz="2400" dirty="0" smtClean="0">
                <a:latin typeface="宋体" pitchFamily="2" charset="-122"/>
              </a:rPr>
              <a:t>等类型。</a:t>
            </a:r>
          </a:p>
          <a:p>
            <a:pPr eaLnBrk="1" hangingPunct="1">
              <a:lnSpc>
                <a:spcPct val="90000"/>
              </a:lnSpc>
              <a:buFont typeface="Wingdings" pitchFamily="2" charset="2"/>
              <a:buNone/>
            </a:pPr>
            <a:r>
              <a:rPr lang="zh-CN" altLang="en-US" sz="2400" dirty="0" smtClean="0">
                <a:latin typeface="宋体" pitchFamily="2" charset="-122"/>
              </a:rPr>
              <a:t> </a:t>
            </a:r>
            <a:r>
              <a:rPr lang="zh-CN" altLang="en-US" sz="2400" b="1" dirty="0" smtClean="0">
                <a:latin typeface="宋体" pitchFamily="2" charset="-122"/>
              </a:rPr>
              <a:t>一、</a:t>
            </a:r>
            <a:r>
              <a:rPr lang="en-US" altLang="zh-CN" sz="2400" b="1" dirty="0" smtClean="0">
                <a:latin typeface="宋体" pitchFamily="2" charset="-122"/>
              </a:rPr>
              <a:t>CD-ROM </a:t>
            </a:r>
            <a:r>
              <a:rPr lang="zh-CN" altLang="en-US" sz="2400" b="1" dirty="0" smtClean="0">
                <a:latin typeface="宋体" pitchFamily="2" charset="-122"/>
              </a:rPr>
              <a:t>光盘</a:t>
            </a:r>
          </a:p>
          <a:p>
            <a:pPr eaLnBrk="1" hangingPunct="1">
              <a:lnSpc>
                <a:spcPct val="90000"/>
              </a:lnSpc>
              <a:buFont typeface="Wingdings" pitchFamily="2" charset="2"/>
              <a:buNone/>
            </a:pPr>
            <a:r>
              <a:rPr lang="zh-CN" altLang="en-US" sz="2400" dirty="0" smtClean="0">
                <a:latin typeface="宋体" pitchFamily="2" charset="-122"/>
              </a:rPr>
              <a:t>       只读型光盘，</a:t>
            </a:r>
            <a:r>
              <a:rPr lang="en-US" altLang="zh-CN" sz="2400" dirty="0" smtClean="0">
                <a:latin typeface="宋体" pitchFamily="2" charset="-122"/>
              </a:rPr>
              <a:t>680MB</a:t>
            </a:r>
            <a:r>
              <a:rPr lang="zh-CN" altLang="en-US" sz="2400" dirty="0" smtClean="0">
                <a:latin typeface="宋体" pitchFamily="2" charset="-122"/>
              </a:rPr>
              <a:t>容量、直径为</a:t>
            </a:r>
            <a:r>
              <a:rPr lang="en-US" altLang="zh-CN" sz="2400" dirty="0" smtClean="0">
                <a:latin typeface="宋体" pitchFamily="2" charset="-122"/>
              </a:rPr>
              <a:t>120mm</a:t>
            </a:r>
            <a:r>
              <a:rPr lang="zh-CN" altLang="en-US" sz="2400" dirty="0" smtClean="0">
                <a:latin typeface="宋体" pitchFamily="2" charset="-122"/>
              </a:rPr>
              <a:t>、厚度为</a:t>
            </a:r>
            <a:r>
              <a:rPr lang="en-US" altLang="zh-CN" sz="2400" dirty="0" smtClean="0">
                <a:latin typeface="宋体" pitchFamily="2" charset="-122"/>
              </a:rPr>
              <a:t>1.2mm</a:t>
            </a:r>
            <a:r>
              <a:rPr lang="zh-CN" altLang="en-US" sz="2400" dirty="0" smtClean="0">
                <a:latin typeface="宋体" pitchFamily="2" charset="-122"/>
              </a:rPr>
              <a:t>的单面记录盘片。</a:t>
            </a:r>
            <a:r>
              <a:rPr lang="zh-CN" altLang="en-US" dirty="0" smtClean="0"/>
              <a:t> </a:t>
            </a:r>
          </a:p>
        </p:txBody>
      </p:sp>
      <p:pic>
        <p:nvPicPr>
          <p:cNvPr id="34821" name="Picture 4" descr="7a12"/>
          <p:cNvPicPr>
            <a:picLocks noChangeAspect="1" noChangeArrowheads="1"/>
          </p:cNvPicPr>
          <p:nvPr/>
        </p:nvPicPr>
        <p:blipFill>
          <a:blip r:embed="rId2"/>
          <a:srcRect/>
          <a:stretch>
            <a:fillRect/>
          </a:stretch>
        </p:blipFill>
        <p:spPr bwMode="auto">
          <a:xfrm>
            <a:off x="684213" y="4437063"/>
            <a:ext cx="7200900" cy="2087562"/>
          </a:xfrm>
          <a:prstGeom prst="rect">
            <a:avLst/>
          </a:prstGeom>
          <a:noFill/>
          <a:ln w="9525">
            <a:noFill/>
            <a:miter lim="800000"/>
            <a:headEnd/>
            <a:tailEnd/>
          </a:ln>
        </p:spPr>
      </p:pic>
      <p:pic>
        <p:nvPicPr>
          <p:cNvPr id="34822" name="Picture 5">
            <a:hlinkClick r:id="rId3" action="ppaction://hlinkfile"/>
          </p:cNvPr>
          <p:cNvPicPr>
            <a:picLocks noChangeAspect="1" noChangeArrowheads="1"/>
          </p:cNvPicPr>
          <p:nvPr/>
        </p:nvPicPr>
        <p:blipFill>
          <a:blip r:embed="rId4"/>
          <a:srcRect/>
          <a:stretch>
            <a:fillRect/>
          </a:stretch>
        </p:blipFill>
        <p:spPr bwMode="auto">
          <a:xfrm>
            <a:off x="8172450" y="5084763"/>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p:spPr>
        <p:txBody>
          <a:bodyPr/>
          <a:lstStyle/>
          <a:p>
            <a:fld id="{E663E542-9F09-4789-8938-79C6CD734E71}" type="slidenum">
              <a:rPr lang="en-US" altLang="zh-CN" smtClean="0"/>
              <a:pPr/>
              <a:t>32</a:t>
            </a:fld>
            <a:endParaRPr lang="en-US" altLang="zh-CN" smtClean="0"/>
          </a:p>
        </p:txBody>
      </p:sp>
      <p:sp>
        <p:nvSpPr>
          <p:cNvPr id="35843" name="Rectangle 4"/>
          <p:cNvSpPr>
            <a:spLocks noChangeArrowheads="1"/>
          </p:cNvSpPr>
          <p:nvPr/>
        </p:nvSpPr>
        <p:spPr bwMode="auto">
          <a:xfrm>
            <a:off x="250825" y="333375"/>
            <a:ext cx="7561263" cy="4411663"/>
          </a:xfrm>
          <a:prstGeom prst="rect">
            <a:avLst/>
          </a:prstGeom>
          <a:no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None/>
            </a:pPr>
            <a:r>
              <a:rPr lang="en-US" altLang="zh-CN" sz="2400">
                <a:latin typeface="宋体" pitchFamily="2" charset="-122"/>
              </a:rPr>
              <a:t>             </a:t>
            </a:r>
          </a:p>
        </p:txBody>
      </p:sp>
      <p:sp>
        <p:nvSpPr>
          <p:cNvPr id="35844" name="Rectangle 5"/>
          <p:cNvSpPr>
            <a:spLocks noChangeArrowheads="1"/>
          </p:cNvSpPr>
          <p:nvPr/>
        </p:nvSpPr>
        <p:spPr bwMode="auto">
          <a:xfrm>
            <a:off x="179388" y="2205038"/>
            <a:ext cx="8713787" cy="4524315"/>
          </a:xfrm>
          <a:prstGeom prst="rect">
            <a:avLst/>
          </a:prstGeom>
          <a:noFill/>
          <a:ln w="9525">
            <a:noFill/>
            <a:miter lim="800000"/>
            <a:headEnd/>
            <a:tailEnd/>
          </a:ln>
        </p:spPr>
        <p:txBody>
          <a:bodyPr>
            <a:spAutoFit/>
          </a:bodyPr>
          <a:lstStyle/>
          <a:p>
            <a:r>
              <a:rPr lang="en-US" altLang="zh-CN" sz="2400" dirty="0">
                <a:latin typeface="宋体" pitchFamily="2" charset="-122"/>
              </a:rPr>
              <a:t>    </a:t>
            </a:r>
            <a:r>
              <a:rPr lang="zh-CN" altLang="en-US" sz="2400" dirty="0">
                <a:latin typeface="宋体" pitchFamily="2" charset="-122"/>
              </a:rPr>
              <a:t>只读型光盘系统都基于一个共同原理，即光盘上的信息以坑点形式分布，有坑点表示为“</a:t>
            </a:r>
            <a:r>
              <a:rPr lang="en-US" altLang="zh-CN" sz="2400" dirty="0">
                <a:latin typeface="宋体" pitchFamily="2" charset="-122"/>
              </a:rPr>
              <a:t>1”</a:t>
            </a:r>
            <a:r>
              <a:rPr lang="zh-CN" altLang="en-US" sz="2400" dirty="0">
                <a:latin typeface="宋体" pitchFamily="2" charset="-122"/>
              </a:rPr>
              <a:t>，无坑点表示为“</a:t>
            </a:r>
            <a:r>
              <a:rPr lang="en-US" altLang="zh-CN" sz="2400" dirty="0">
                <a:latin typeface="宋体" pitchFamily="2" charset="-122"/>
              </a:rPr>
              <a:t>0”</a:t>
            </a:r>
            <a:r>
              <a:rPr lang="zh-CN" altLang="en-US" sz="2400" dirty="0">
                <a:latin typeface="宋体" pitchFamily="2" charset="-122"/>
              </a:rPr>
              <a:t>，一系列的坑点</a:t>
            </a:r>
            <a:r>
              <a:rPr lang="en-US" altLang="zh-CN" sz="2400" dirty="0">
                <a:latin typeface="宋体" pitchFamily="2" charset="-122"/>
              </a:rPr>
              <a:t>(</a:t>
            </a:r>
            <a:r>
              <a:rPr lang="zh-CN" altLang="en-US" sz="2400" dirty="0">
                <a:latin typeface="宋体" pitchFamily="2" charset="-122"/>
              </a:rPr>
              <a:t>存储元</a:t>
            </a:r>
            <a:r>
              <a:rPr lang="en-US" altLang="zh-CN" sz="2400" dirty="0">
                <a:latin typeface="宋体" pitchFamily="2" charset="-122"/>
              </a:rPr>
              <a:t>)</a:t>
            </a:r>
            <a:r>
              <a:rPr lang="zh-CN" altLang="en-US" sz="2400" dirty="0">
                <a:latin typeface="宋体" pitchFamily="2" charset="-122"/>
              </a:rPr>
              <a:t>形成信息记录道，见图（</a:t>
            </a:r>
            <a:r>
              <a:rPr lang="en-US" altLang="zh-CN" sz="2400" dirty="0">
                <a:latin typeface="宋体" pitchFamily="2" charset="-122"/>
              </a:rPr>
              <a:t>b</a:t>
            </a:r>
            <a:r>
              <a:rPr lang="zh-CN" altLang="en-US" sz="2400" dirty="0">
                <a:latin typeface="宋体" pitchFamily="2" charset="-122"/>
              </a:rPr>
              <a:t>）。对数据存储用的</a:t>
            </a:r>
            <a:r>
              <a:rPr lang="en-US" altLang="zh-CN" sz="2400" dirty="0">
                <a:latin typeface="宋体" pitchFamily="2" charset="-122"/>
              </a:rPr>
              <a:t>CDROM</a:t>
            </a:r>
            <a:r>
              <a:rPr lang="zh-CN" altLang="en-US" sz="2400" dirty="0">
                <a:latin typeface="宋体" pitchFamily="2" charset="-122"/>
              </a:rPr>
              <a:t>光盘来讲，这种坑点分布作为数字“</a:t>
            </a:r>
            <a:r>
              <a:rPr lang="en-US" altLang="zh-CN" sz="2400" dirty="0">
                <a:latin typeface="宋体" pitchFamily="2" charset="-122"/>
              </a:rPr>
              <a:t>1”</a:t>
            </a:r>
            <a:r>
              <a:rPr lang="zh-CN" altLang="en-US" sz="2400" dirty="0">
                <a:latin typeface="宋体" pitchFamily="2" charset="-122"/>
              </a:rPr>
              <a:t>、“</a:t>
            </a:r>
            <a:r>
              <a:rPr lang="en-US" altLang="zh-CN" sz="2400" dirty="0">
                <a:latin typeface="宋体" pitchFamily="2" charset="-122"/>
              </a:rPr>
              <a:t>0”</a:t>
            </a:r>
            <a:r>
              <a:rPr lang="zh-CN" altLang="en-US" sz="2400" dirty="0">
                <a:latin typeface="宋体" pitchFamily="2" charset="-122"/>
              </a:rPr>
              <a:t>代码的写入或读出标志。为此必须采用激光作为光源，并采用良好的光学系统才能实现。由于只读型光盘是生产厂家制造，为了大量复制，需要制作母盘，为此将存储信息以表面坑点形式记录在母盘上。 </a:t>
            </a:r>
          </a:p>
          <a:p>
            <a:r>
              <a:rPr lang="zh-CN" altLang="en-US" sz="2400" dirty="0">
                <a:latin typeface="宋体" pitchFamily="2" charset="-122"/>
              </a:rPr>
              <a:t>    光盘的记录信息以凹坑方式永久性存储。读出时，当激光束聚焦点照射在凹坑上时将发生衍射，反射率低；而聚焦点照射在凸面上时大部分光将返回。根据反射光的光强变化并进行</a:t>
            </a:r>
            <a:r>
              <a:rPr lang="zh-CN" altLang="en-US" sz="2400" dirty="0" smtClean="0">
                <a:latin typeface="宋体" pitchFamily="2" charset="-122"/>
              </a:rPr>
              <a:t>光电</a:t>
            </a:r>
            <a:r>
              <a:rPr lang="zh-CN" altLang="en-US" sz="2400" dirty="0">
                <a:latin typeface="宋体" pitchFamily="2" charset="-122"/>
              </a:rPr>
              <a:t>转换，即可读出记录信息。</a:t>
            </a:r>
          </a:p>
        </p:txBody>
      </p:sp>
      <p:pic>
        <p:nvPicPr>
          <p:cNvPr id="35845" name="Picture 6" descr="7a12"/>
          <p:cNvPicPr>
            <a:picLocks noChangeAspect="1" noChangeArrowheads="1"/>
          </p:cNvPicPr>
          <p:nvPr/>
        </p:nvPicPr>
        <p:blipFill>
          <a:blip r:embed="rId2"/>
          <a:srcRect/>
          <a:stretch>
            <a:fillRect/>
          </a:stretch>
        </p:blipFill>
        <p:spPr bwMode="auto">
          <a:xfrm>
            <a:off x="323850" y="188913"/>
            <a:ext cx="7200900" cy="2016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p:spPr>
        <p:txBody>
          <a:bodyPr/>
          <a:lstStyle/>
          <a:p>
            <a:fld id="{A2FB3AA3-3BFC-4DE4-81F1-37735FD8A967}" type="slidenum">
              <a:rPr lang="en-US" altLang="zh-CN" smtClean="0"/>
              <a:pPr/>
              <a:t>33</a:t>
            </a:fld>
            <a:endParaRPr lang="en-US" altLang="zh-CN" smtClean="0"/>
          </a:p>
        </p:txBody>
      </p:sp>
      <p:pic>
        <p:nvPicPr>
          <p:cNvPr id="36867" name="Picture 4" descr="7a13">
            <a:hlinkClick r:id="rId2" action="ppaction://hlinkfile"/>
          </p:cNvPr>
          <p:cNvPicPr>
            <a:picLocks noChangeAspect="1" noChangeArrowheads="1"/>
          </p:cNvPicPr>
          <p:nvPr/>
        </p:nvPicPr>
        <p:blipFill>
          <a:blip r:embed="rId3"/>
          <a:srcRect/>
          <a:stretch>
            <a:fillRect/>
          </a:stretch>
        </p:blipFill>
        <p:spPr bwMode="auto">
          <a:xfrm>
            <a:off x="250825" y="476250"/>
            <a:ext cx="7489825" cy="1657350"/>
          </a:xfrm>
          <a:prstGeom prst="rect">
            <a:avLst/>
          </a:prstGeom>
          <a:noFill/>
          <a:ln w="9525">
            <a:noFill/>
            <a:miter lim="800000"/>
            <a:headEnd/>
            <a:tailEnd/>
          </a:ln>
        </p:spPr>
      </p:pic>
      <p:sp>
        <p:nvSpPr>
          <p:cNvPr id="36868" name="Rectangle 6"/>
          <p:cNvSpPr>
            <a:spLocks noChangeArrowheads="1"/>
          </p:cNvSpPr>
          <p:nvPr/>
        </p:nvSpPr>
        <p:spPr bwMode="auto">
          <a:xfrm>
            <a:off x="228600" y="2362200"/>
            <a:ext cx="8642350" cy="3843338"/>
          </a:xfrm>
          <a:prstGeom prst="rect">
            <a:avLst/>
          </a:prstGeom>
          <a:solidFill>
            <a:srgbClr val="CCFFFF"/>
          </a:solidFill>
          <a:ln w="9525">
            <a:noFill/>
            <a:miter lim="800000"/>
            <a:headEnd/>
            <a:tailEnd/>
          </a:ln>
        </p:spPr>
        <p:txBody>
          <a:bodyPr tIns="0" bIns="0" anchor="ctr">
            <a:spAutoFit/>
          </a:bodyPr>
          <a:lstStyle/>
          <a:p>
            <a:pPr eaLnBrk="0" hangingPunct="0"/>
            <a:r>
              <a:rPr lang="en-US" altLang="zh-CN" sz="2800">
                <a:latin typeface="宋体" pitchFamily="2" charset="-122"/>
              </a:rPr>
              <a:t>    </a:t>
            </a:r>
            <a:r>
              <a:rPr lang="zh-CN" altLang="en-US" sz="2800">
                <a:latin typeface="宋体" pitchFamily="2" charset="-122"/>
              </a:rPr>
              <a:t>信息记录的轨迹称为光道。光道上划分出一个个扇区，它是光盘的最小可寻址单位。</a:t>
            </a:r>
          </a:p>
          <a:p>
            <a:pPr eaLnBrk="0" hangingPunct="0"/>
            <a:r>
              <a:rPr lang="zh-CN" altLang="en-US" sz="2800">
                <a:latin typeface="宋体" pitchFamily="2" charset="-122"/>
              </a:rPr>
              <a:t>    光盘扇区分为</a:t>
            </a:r>
            <a:r>
              <a:rPr lang="en-US" altLang="zh-CN" sz="2800">
                <a:latin typeface="宋体" pitchFamily="2" charset="-122"/>
              </a:rPr>
              <a:t>4</a:t>
            </a:r>
            <a:r>
              <a:rPr lang="zh-CN" altLang="en-US" sz="2800">
                <a:latin typeface="宋体" pitchFamily="2" charset="-122"/>
              </a:rPr>
              <a:t>个区域。</a:t>
            </a:r>
            <a:r>
              <a:rPr lang="en-US" altLang="zh-CN" sz="2800">
                <a:latin typeface="宋体" pitchFamily="2" charset="-122"/>
              </a:rPr>
              <a:t>2</a:t>
            </a:r>
            <a:r>
              <a:rPr lang="zh-CN" altLang="en-US" sz="2800">
                <a:latin typeface="宋体" pitchFamily="2" charset="-122"/>
              </a:rPr>
              <a:t>个全</a:t>
            </a:r>
            <a:r>
              <a:rPr lang="en-US" altLang="zh-CN" sz="2800">
                <a:latin typeface="宋体" pitchFamily="2" charset="-122"/>
              </a:rPr>
              <a:t>0</a:t>
            </a:r>
            <a:r>
              <a:rPr lang="zh-CN" altLang="en-US" sz="2800">
                <a:latin typeface="宋体" pitchFamily="2" charset="-122"/>
              </a:rPr>
              <a:t>字节和</a:t>
            </a:r>
            <a:r>
              <a:rPr lang="en-US" altLang="zh-CN" sz="2800">
                <a:latin typeface="宋体" pitchFamily="2" charset="-122"/>
              </a:rPr>
              <a:t>10</a:t>
            </a:r>
            <a:r>
              <a:rPr lang="zh-CN" altLang="en-US" sz="2800">
                <a:latin typeface="宋体" pitchFamily="2" charset="-122"/>
              </a:rPr>
              <a:t>个全</a:t>
            </a:r>
            <a:r>
              <a:rPr lang="en-US" altLang="zh-CN" sz="2800">
                <a:latin typeface="宋体" pitchFamily="2" charset="-122"/>
              </a:rPr>
              <a:t>1</a:t>
            </a:r>
            <a:r>
              <a:rPr lang="zh-CN" altLang="en-US" sz="2800">
                <a:latin typeface="宋体" pitchFamily="2" charset="-122"/>
              </a:rPr>
              <a:t>字节组成同步</a:t>
            </a:r>
            <a:r>
              <a:rPr lang="en-US" altLang="zh-CN" sz="2800">
                <a:latin typeface="宋体" pitchFamily="2" charset="-122"/>
              </a:rPr>
              <a:t>(SYNC)</a:t>
            </a:r>
            <a:r>
              <a:rPr lang="zh-CN" altLang="en-US" sz="2800">
                <a:latin typeface="宋体" pitchFamily="2" charset="-122"/>
              </a:rPr>
              <a:t>区，标志着扇区的开始。</a:t>
            </a:r>
            <a:r>
              <a:rPr lang="en-US" altLang="zh-CN" sz="2800">
                <a:latin typeface="宋体" pitchFamily="2" charset="-122"/>
              </a:rPr>
              <a:t>4</a:t>
            </a:r>
            <a:r>
              <a:rPr lang="zh-CN" altLang="en-US" sz="2800">
                <a:latin typeface="宋体" pitchFamily="2" charset="-122"/>
              </a:rPr>
              <a:t>字节的扇区标识</a:t>
            </a:r>
            <a:r>
              <a:rPr lang="en-US" altLang="zh-CN" sz="2800">
                <a:latin typeface="宋体" pitchFamily="2" charset="-122"/>
              </a:rPr>
              <a:t>(ID)</a:t>
            </a:r>
            <a:r>
              <a:rPr lang="zh-CN" altLang="en-US" sz="2800">
                <a:latin typeface="宋体" pitchFamily="2" charset="-122"/>
              </a:rPr>
              <a:t>区用于说明此扇区的地址和工作模式。光盘的扇区地址编码不同于磁盘，它是以分</a:t>
            </a:r>
            <a:r>
              <a:rPr lang="en-US" altLang="zh-CN" sz="2800">
                <a:latin typeface="宋体" pitchFamily="2" charset="-122"/>
              </a:rPr>
              <a:t>(MN)</a:t>
            </a:r>
            <a:r>
              <a:rPr lang="zh-CN" altLang="en-US" sz="2800">
                <a:latin typeface="宋体" pitchFamily="2" charset="-122"/>
              </a:rPr>
              <a:t>，秒</a:t>
            </a:r>
            <a:r>
              <a:rPr lang="en-US" altLang="zh-CN" sz="2800">
                <a:latin typeface="宋体" pitchFamily="2" charset="-122"/>
              </a:rPr>
              <a:t>(SC)</a:t>
            </a:r>
            <a:r>
              <a:rPr lang="zh-CN" altLang="en-US" sz="2800">
                <a:latin typeface="宋体" pitchFamily="2" charset="-122"/>
              </a:rPr>
              <a:t>和分数秒</a:t>
            </a:r>
            <a:r>
              <a:rPr lang="en-US" altLang="zh-CN" sz="2800">
                <a:latin typeface="宋体" pitchFamily="2" charset="-122"/>
              </a:rPr>
              <a:t>(FR</a:t>
            </a:r>
            <a:r>
              <a:rPr lang="zh-CN" altLang="en-US" sz="2800">
                <a:latin typeface="宋体" pitchFamily="2" charset="-122"/>
              </a:rPr>
              <a:t>，</a:t>
            </a:r>
            <a:r>
              <a:rPr lang="en-US" altLang="zh-CN" sz="2800">
                <a:latin typeface="宋体" pitchFamily="2" charset="-122"/>
              </a:rPr>
              <a:t>1/75s)</a:t>
            </a:r>
            <a:r>
              <a:rPr lang="zh-CN" altLang="en-US" sz="2800">
                <a:latin typeface="宋体" pitchFamily="2" charset="-122"/>
              </a:rPr>
              <a:t>时间值作为地址。由于光盘的恒定线速度是每秒钟读出</a:t>
            </a:r>
            <a:r>
              <a:rPr lang="en-US" altLang="zh-CN" sz="2800">
                <a:latin typeface="宋体" pitchFamily="2" charset="-122"/>
              </a:rPr>
              <a:t>75</a:t>
            </a:r>
            <a:r>
              <a:rPr lang="zh-CN" altLang="en-US" sz="2800">
                <a:latin typeface="宋体" pitchFamily="2" charset="-122"/>
              </a:rPr>
              <a:t>个扇区，故</a:t>
            </a:r>
            <a:r>
              <a:rPr lang="en-US" altLang="zh-CN" sz="2800">
                <a:latin typeface="宋体" pitchFamily="2" charset="-122"/>
              </a:rPr>
              <a:t>FR</a:t>
            </a:r>
            <a:r>
              <a:rPr lang="zh-CN" altLang="en-US" sz="2800">
                <a:latin typeface="宋体" pitchFamily="2" charset="-122"/>
              </a:rPr>
              <a:t>的值实际上就是秒内的扇区号</a:t>
            </a:r>
            <a:r>
              <a:rPr lang="en-US" altLang="zh-CN" sz="2800">
                <a:latin typeface="宋体" pitchFamily="2" charset="-122"/>
              </a:rPr>
              <a:t>(0—74)</a:t>
            </a:r>
            <a:r>
              <a:rPr lang="zh-CN" altLang="en-US" sz="2800">
                <a:latin typeface="宋体" pitchFamily="2" charset="-122"/>
              </a:rPr>
              <a:t>。</a:t>
            </a:r>
          </a:p>
        </p:txBody>
      </p:sp>
      <p:sp>
        <p:nvSpPr>
          <p:cNvPr id="36869" name="Rectangle 9"/>
          <p:cNvSpPr>
            <a:spLocks noChangeArrowheads="1"/>
          </p:cNvSpPr>
          <p:nvPr/>
        </p:nvSpPr>
        <p:spPr bwMode="auto">
          <a:xfrm>
            <a:off x="2484438" y="115888"/>
            <a:ext cx="2622550" cy="457200"/>
          </a:xfrm>
          <a:prstGeom prst="rect">
            <a:avLst/>
          </a:prstGeom>
          <a:noFill/>
          <a:ln w="9525">
            <a:noFill/>
            <a:miter lim="800000"/>
            <a:headEnd/>
            <a:tailEnd/>
          </a:ln>
        </p:spPr>
        <p:txBody>
          <a:bodyPr>
            <a:spAutoFit/>
          </a:bodyPr>
          <a:lstStyle/>
          <a:p>
            <a:r>
              <a:rPr lang="zh-CN" altLang="en-US" sz="2400"/>
              <a:t>光盘扇区数据结构</a:t>
            </a:r>
          </a:p>
        </p:txBody>
      </p:sp>
      <p:sp>
        <p:nvSpPr>
          <p:cNvPr id="35850" name="Rectangle 10"/>
          <p:cNvSpPr>
            <a:spLocks noChangeArrowheads="1"/>
          </p:cNvSpPr>
          <p:nvPr/>
        </p:nvSpPr>
        <p:spPr bwMode="auto">
          <a:xfrm>
            <a:off x="228600" y="2362200"/>
            <a:ext cx="8713788" cy="4270375"/>
          </a:xfrm>
          <a:prstGeom prst="rect">
            <a:avLst/>
          </a:prstGeom>
          <a:solidFill>
            <a:srgbClr val="CCFFFF"/>
          </a:solidFill>
          <a:ln w="9525">
            <a:noFill/>
            <a:miter lim="800000"/>
            <a:headEnd/>
            <a:tailEnd/>
          </a:ln>
        </p:spPr>
        <p:txBody>
          <a:bodyPr tIns="0" bIns="0" anchor="ctr">
            <a:spAutoFit/>
          </a:bodyPr>
          <a:lstStyle/>
          <a:p>
            <a:pPr eaLnBrk="0" hangingPunct="0"/>
            <a:r>
              <a:rPr lang="en-US" altLang="zh-CN" sz="2400" dirty="0">
                <a:latin typeface="宋体" pitchFamily="2" charset="-122"/>
              </a:rPr>
              <a:t>    </a:t>
            </a:r>
            <a:r>
              <a:rPr lang="en-US" altLang="zh-CN" sz="2800" dirty="0">
                <a:latin typeface="宋体" pitchFamily="2" charset="-122"/>
              </a:rPr>
              <a:t>ID</a:t>
            </a:r>
            <a:r>
              <a:rPr lang="zh-CN" altLang="en-US" sz="2800" dirty="0">
                <a:latin typeface="宋体" pitchFamily="2" charset="-122"/>
              </a:rPr>
              <a:t>区的</a:t>
            </a:r>
            <a:r>
              <a:rPr lang="en-US" altLang="zh-CN" sz="2800" dirty="0">
                <a:latin typeface="宋体" pitchFamily="2" charset="-122"/>
              </a:rPr>
              <a:t>MD</a:t>
            </a:r>
            <a:r>
              <a:rPr lang="zh-CN" altLang="en-US" sz="2800" dirty="0">
                <a:latin typeface="宋体" pitchFamily="2" charset="-122"/>
              </a:rPr>
              <a:t>为模式控制，用于控制数据区和校验区的使用。共有三种模式：</a:t>
            </a:r>
            <a:r>
              <a:rPr lang="zh-CN" altLang="en-US" sz="2800" b="1" dirty="0">
                <a:latin typeface="宋体" pitchFamily="2" charset="-122"/>
              </a:rPr>
              <a:t>模式</a:t>
            </a:r>
            <a:r>
              <a:rPr lang="en-US" altLang="zh-CN" sz="2800" b="1" dirty="0">
                <a:latin typeface="宋体" pitchFamily="2" charset="-122"/>
              </a:rPr>
              <a:t>0</a:t>
            </a:r>
            <a:r>
              <a:rPr lang="zh-CN" altLang="en-US" sz="2800" dirty="0">
                <a:latin typeface="宋体" pitchFamily="2" charset="-122"/>
              </a:rPr>
              <a:t>规定数据区和校验区的全部</a:t>
            </a:r>
            <a:r>
              <a:rPr lang="en-US" altLang="zh-CN" sz="2800" dirty="0">
                <a:latin typeface="宋体" pitchFamily="2" charset="-122"/>
              </a:rPr>
              <a:t>2336</a:t>
            </a:r>
            <a:r>
              <a:rPr lang="zh-CN" altLang="en-US" sz="2800" dirty="0">
                <a:latin typeface="宋体" pitchFamily="2" charset="-122"/>
              </a:rPr>
              <a:t>个字节都是</a:t>
            </a:r>
            <a:r>
              <a:rPr lang="en-US" altLang="zh-CN" sz="2800" dirty="0">
                <a:latin typeface="宋体" pitchFamily="2" charset="-122"/>
              </a:rPr>
              <a:t>0</a:t>
            </a:r>
            <a:r>
              <a:rPr lang="zh-CN" altLang="en-US" sz="2800" dirty="0">
                <a:latin typeface="宋体" pitchFamily="2" charset="-122"/>
              </a:rPr>
              <a:t>，这种扇区不用于记录数据，而是用于光盘的导入区和导出区；</a:t>
            </a:r>
            <a:r>
              <a:rPr lang="zh-CN" altLang="en-US" sz="2800" b="1" dirty="0">
                <a:latin typeface="宋体" pitchFamily="2" charset="-122"/>
              </a:rPr>
              <a:t>模式</a:t>
            </a:r>
            <a:r>
              <a:rPr lang="en-US" altLang="zh-CN" sz="2800" b="1" dirty="0">
                <a:latin typeface="宋体" pitchFamily="2" charset="-122"/>
              </a:rPr>
              <a:t>1</a:t>
            </a:r>
            <a:r>
              <a:rPr lang="zh-CN" altLang="en-US" sz="2800" dirty="0">
                <a:latin typeface="宋体" pitchFamily="2" charset="-122"/>
              </a:rPr>
              <a:t>规定</a:t>
            </a:r>
            <a:r>
              <a:rPr lang="en-US" altLang="zh-CN" sz="2800" dirty="0">
                <a:latin typeface="宋体" pitchFamily="2" charset="-122"/>
              </a:rPr>
              <a:t>288</a:t>
            </a:r>
            <a:r>
              <a:rPr lang="zh-CN" altLang="en-US" sz="2800" dirty="0">
                <a:latin typeface="宋体" pitchFamily="2" charset="-122"/>
              </a:rPr>
              <a:t>字节的校验区为</a:t>
            </a:r>
            <a:r>
              <a:rPr lang="en-US" altLang="zh-CN" sz="2800" dirty="0">
                <a:latin typeface="宋体" pitchFamily="2" charset="-122"/>
              </a:rPr>
              <a:t>4</a:t>
            </a:r>
            <a:r>
              <a:rPr lang="zh-CN" altLang="en-US" sz="2800" dirty="0">
                <a:latin typeface="宋体" pitchFamily="2" charset="-122"/>
              </a:rPr>
              <a:t>字节的检测码</a:t>
            </a:r>
            <a:r>
              <a:rPr lang="en-US" altLang="zh-CN" sz="2800" dirty="0">
                <a:latin typeface="宋体" pitchFamily="2" charset="-122"/>
              </a:rPr>
              <a:t>(EDC)</a:t>
            </a:r>
            <a:r>
              <a:rPr lang="zh-CN" altLang="en-US" sz="2800" dirty="0">
                <a:latin typeface="宋体" pitchFamily="2" charset="-122"/>
              </a:rPr>
              <a:t>、</a:t>
            </a:r>
            <a:r>
              <a:rPr lang="en-US" altLang="zh-CN" sz="2800" dirty="0">
                <a:latin typeface="宋体" pitchFamily="2" charset="-122"/>
              </a:rPr>
              <a:t>8</a:t>
            </a:r>
            <a:r>
              <a:rPr lang="zh-CN" altLang="en-US" sz="2800" dirty="0">
                <a:latin typeface="宋体" pitchFamily="2" charset="-122"/>
              </a:rPr>
              <a:t>字节的保留域</a:t>
            </a:r>
            <a:r>
              <a:rPr lang="en-US" altLang="zh-CN" sz="2800" dirty="0">
                <a:latin typeface="宋体" pitchFamily="2" charset="-122"/>
              </a:rPr>
              <a:t>(</a:t>
            </a:r>
            <a:r>
              <a:rPr lang="zh-CN" altLang="en-US" sz="2800" dirty="0">
                <a:latin typeface="宋体" pitchFamily="2" charset="-122"/>
              </a:rPr>
              <a:t>未定义</a:t>
            </a:r>
            <a:r>
              <a:rPr lang="en-US" altLang="zh-CN" sz="2800" dirty="0">
                <a:latin typeface="宋体" pitchFamily="2" charset="-122"/>
              </a:rPr>
              <a:t>)</a:t>
            </a:r>
            <a:r>
              <a:rPr lang="zh-CN" altLang="en-US" sz="2800" dirty="0">
                <a:latin typeface="宋体" pitchFamily="2" charset="-122"/>
              </a:rPr>
              <a:t>和</a:t>
            </a:r>
            <a:r>
              <a:rPr lang="en-US" altLang="zh-CN" sz="2800" dirty="0">
                <a:latin typeface="宋体" pitchFamily="2" charset="-122"/>
              </a:rPr>
              <a:t>276</a:t>
            </a:r>
            <a:r>
              <a:rPr lang="zh-CN" altLang="en-US" sz="2800" dirty="0">
                <a:latin typeface="宋体" pitchFamily="2" charset="-122"/>
              </a:rPr>
              <a:t>字节的纠错码</a:t>
            </a:r>
            <a:r>
              <a:rPr lang="en-US" altLang="zh-CN" sz="2800" dirty="0">
                <a:latin typeface="宋体" pitchFamily="2" charset="-122"/>
              </a:rPr>
              <a:t>(ECC)</a:t>
            </a:r>
            <a:r>
              <a:rPr lang="zh-CN" altLang="en-US" sz="2800" dirty="0">
                <a:latin typeface="宋体" pitchFamily="2" charset="-122"/>
              </a:rPr>
              <a:t>，这种扇区模式有</a:t>
            </a:r>
            <a:r>
              <a:rPr lang="en-US" altLang="zh-CN" sz="2800" dirty="0">
                <a:latin typeface="宋体" pitchFamily="2" charset="-122"/>
              </a:rPr>
              <a:t>2048</a:t>
            </a:r>
            <a:r>
              <a:rPr lang="zh-CN" altLang="en-US" sz="2800" dirty="0">
                <a:latin typeface="宋体" pitchFamily="2" charset="-122"/>
              </a:rPr>
              <a:t>字节的数据并有很强的检测和纠错能力，适合于保存计算机的程序和数据；</a:t>
            </a:r>
            <a:r>
              <a:rPr lang="zh-CN" altLang="en-US" sz="2800" b="1" dirty="0">
                <a:latin typeface="宋体" pitchFamily="2" charset="-122"/>
              </a:rPr>
              <a:t>模式</a:t>
            </a:r>
            <a:r>
              <a:rPr lang="en-US" altLang="zh-CN" sz="2800" b="1" dirty="0">
                <a:latin typeface="宋体" pitchFamily="2" charset="-122"/>
              </a:rPr>
              <a:t>2</a:t>
            </a:r>
            <a:r>
              <a:rPr lang="zh-CN" altLang="en-US" sz="2800" dirty="0">
                <a:latin typeface="宋体" pitchFamily="2" charset="-122"/>
              </a:rPr>
              <a:t>规定</a:t>
            </a:r>
            <a:r>
              <a:rPr lang="en-US" altLang="zh-CN" sz="2800" dirty="0">
                <a:latin typeface="宋体" pitchFamily="2" charset="-122"/>
              </a:rPr>
              <a:t>288</a:t>
            </a:r>
            <a:r>
              <a:rPr lang="zh-CN" altLang="en-US" sz="2800" dirty="0">
                <a:latin typeface="宋体" pitchFamily="2" charset="-122"/>
              </a:rPr>
              <a:t>字节的检验区也用于存放数据，用于保存声音、图像等对误码率要求不高的数据。</a:t>
            </a:r>
            <a:endParaRPr lang="zh-CN" altLang="en-US" sz="24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850"/>
                                        </p:tgtEl>
                                        <p:attrNameLst>
                                          <p:attrName>style.visibility</p:attrName>
                                        </p:attrNameLst>
                                      </p:cBhvr>
                                      <p:to>
                                        <p:strVal val="visible"/>
                                      </p:to>
                                    </p:set>
                                    <p:animEffect transition="in" filter="dissolve">
                                      <p:cBhvr>
                                        <p:cTn id="7" dur="500"/>
                                        <p:tgtEl>
                                          <p:spTgt spid="35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0"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p:spPr>
        <p:txBody>
          <a:bodyPr/>
          <a:lstStyle/>
          <a:p>
            <a:fld id="{E308D66D-D347-473F-BF29-5BF772FD7C5D}" type="slidenum">
              <a:rPr lang="en-US" altLang="zh-CN" smtClean="0"/>
              <a:pPr/>
              <a:t>34</a:t>
            </a:fld>
            <a:endParaRPr lang="en-US" altLang="zh-CN" smtClean="0"/>
          </a:p>
        </p:txBody>
      </p:sp>
      <p:sp>
        <p:nvSpPr>
          <p:cNvPr id="37891" name="Rectangle 3"/>
          <p:cNvSpPr>
            <a:spLocks noGrp="1" noChangeArrowheads="1"/>
          </p:cNvSpPr>
          <p:nvPr>
            <p:ph type="body" idx="1"/>
          </p:nvPr>
        </p:nvSpPr>
        <p:spPr>
          <a:xfrm>
            <a:off x="179388" y="333375"/>
            <a:ext cx="7634287" cy="1655763"/>
          </a:xfrm>
        </p:spPr>
        <p:txBody>
          <a:bodyPr/>
          <a:lstStyle/>
          <a:p>
            <a:pPr eaLnBrk="1" hangingPunct="1">
              <a:lnSpc>
                <a:spcPct val="90000"/>
              </a:lnSpc>
              <a:buFont typeface="Wingdings" pitchFamily="2" charset="2"/>
              <a:buNone/>
            </a:pPr>
            <a:r>
              <a:rPr lang="en-US" altLang="zh-CN" sz="2800" smtClean="0">
                <a:latin typeface="宋体" pitchFamily="2" charset="-122"/>
              </a:rPr>
              <a:t>  </a:t>
            </a:r>
          </a:p>
        </p:txBody>
      </p:sp>
      <p:sp>
        <p:nvSpPr>
          <p:cNvPr id="37892" name="Rectangle 5"/>
          <p:cNvSpPr>
            <a:spLocks noChangeArrowheads="1"/>
          </p:cNvSpPr>
          <p:nvPr/>
        </p:nvSpPr>
        <p:spPr bwMode="auto">
          <a:xfrm>
            <a:off x="323850" y="1989138"/>
            <a:ext cx="8642350" cy="5832475"/>
          </a:xfrm>
          <a:prstGeom prst="rect">
            <a:avLst/>
          </a:prstGeom>
          <a:no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Char char="l"/>
            </a:pPr>
            <a:endParaRPr lang="zh-CN" altLang="zh-CN" sz="2600"/>
          </a:p>
        </p:txBody>
      </p:sp>
      <p:sp>
        <p:nvSpPr>
          <p:cNvPr id="37893" name="Rectangle 6"/>
          <p:cNvSpPr>
            <a:spLocks noChangeArrowheads="1"/>
          </p:cNvSpPr>
          <p:nvPr/>
        </p:nvSpPr>
        <p:spPr bwMode="auto">
          <a:xfrm>
            <a:off x="323850" y="333375"/>
            <a:ext cx="7499350" cy="1800225"/>
          </a:xfrm>
          <a:prstGeom prst="rect">
            <a:avLst/>
          </a:prstGeom>
          <a:noFill/>
          <a:ln w="9525">
            <a:noFill/>
            <a:miter lim="800000"/>
            <a:headEnd/>
            <a:tailEnd/>
          </a:ln>
        </p:spPr>
        <p:txBody>
          <a:bodyPr>
            <a:spAutoFit/>
          </a:bodyPr>
          <a:lstStyle/>
          <a:p>
            <a:r>
              <a:rPr lang="en-US" altLang="zh-CN" sz="2800">
                <a:latin typeface="宋体" pitchFamily="2" charset="-122"/>
              </a:rPr>
              <a:t>【</a:t>
            </a:r>
            <a:r>
              <a:rPr lang="zh-CN" altLang="en-US" sz="2800">
                <a:latin typeface="宋体" pitchFamily="2" charset="-122"/>
              </a:rPr>
              <a:t>例</a:t>
            </a:r>
            <a:r>
              <a:rPr lang="en-US" altLang="zh-CN" sz="2800">
                <a:latin typeface="宋体" pitchFamily="2" charset="-122"/>
              </a:rPr>
              <a:t>2】CDROM</a:t>
            </a:r>
            <a:r>
              <a:rPr lang="zh-CN" altLang="en-US" sz="2800">
                <a:latin typeface="宋体" pitchFamily="2" charset="-122"/>
              </a:rPr>
              <a:t>光盘的外缘有</a:t>
            </a:r>
            <a:r>
              <a:rPr lang="en-US" altLang="zh-CN" sz="2800">
                <a:latin typeface="宋体" pitchFamily="2" charset="-122"/>
              </a:rPr>
              <a:t>5mm</a:t>
            </a:r>
            <a:r>
              <a:rPr lang="zh-CN" altLang="en-US" sz="2800">
                <a:latin typeface="宋体" pitchFamily="2" charset="-122"/>
              </a:rPr>
              <a:t>宽的范围因记录数据困难，一般不使用，故标准的播放时间为</a:t>
            </a:r>
            <a:r>
              <a:rPr lang="en-US" altLang="zh-CN" sz="2800">
                <a:latin typeface="宋体" pitchFamily="2" charset="-122"/>
              </a:rPr>
              <a:t>60</a:t>
            </a:r>
            <a:r>
              <a:rPr lang="zh-CN" altLang="en-US" sz="2800">
                <a:latin typeface="宋体" pitchFamily="2" charset="-122"/>
              </a:rPr>
              <a:t>分钟。计算模式</a:t>
            </a:r>
            <a:r>
              <a:rPr lang="en-US" altLang="zh-CN" sz="2800">
                <a:latin typeface="宋体" pitchFamily="2" charset="-122"/>
              </a:rPr>
              <a:t>1</a:t>
            </a:r>
            <a:r>
              <a:rPr lang="zh-CN" altLang="en-US" sz="2800">
                <a:latin typeface="宋体" pitchFamily="2" charset="-122"/>
              </a:rPr>
              <a:t>和模式</a:t>
            </a:r>
            <a:r>
              <a:rPr lang="en-US" altLang="zh-CN" sz="2800">
                <a:latin typeface="宋体" pitchFamily="2" charset="-122"/>
              </a:rPr>
              <a:t>2</a:t>
            </a:r>
            <a:r>
              <a:rPr lang="zh-CN" altLang="en-US" sz="2800">
                <a:latin typeface="宋体" pitchFamily="2" charset="-122"/>
              </a:rPr>
              <a:t>情况下光盘存储容量是多少</a:t>
            </a:r>
            <a:r>
              <a:rPr lang="en-US" altLang="zh-CN" sz="2800">
                <a:latin typeface="宋体" pitchFamily="2" charset="-122"/>
              </a:rPr>
              <a:t>?</a:t>
            </a:r>
          </a:p>
        </p:txBody>
      </p:sp>
      <p:sp>
        <p:nvSpPr>
          <p:cNvPr id="37894" name="Rectangle 7"/>
          <p:cNvSpPr>
            <a:spLocks noChangeArrowheads="1"/>
          </p:cNvSpPr>
          <p:nvPr/>
        </p:nvSpPr>
        <p:spPr bwMode="auto">
          <a:xfrm>
            <a:off x="179388" y="2276475"/>
            <a:ext cx="8640762" cy="3252788"/>
          </a:xfrm>
          <a:prstGeom prst="rect">
            <a:avLst/>
          </a:prstGeom>
          <a:noFill/>
          <a:ln w="9525">
            <a:noFill/>
            <a:miter lim="800000"/>
            <a:headEnd/>
            <a:tailEnd/>
          </a:ln>
        </p:spPr>
        <p:txBody>
          <a:bodyPr>
            <a:spAutoFit/>
          </a:bodyPr>
          <a:lstStyle/>
          <a:p>
            <a:r>
              <a:rPr lang="zh-CN" altLang="en-US" sz="2800">
                <a:latin typeface="宋体" pitchFamily="2" charset="-122"/>
              </a:rPr>
              <a:t>解：</a:t>
            </a:r>
          </a:p>
          <a:p>
            <a:r>
              <a:rPr lang="zh-CN" altLang="en-US" sz="2800">
                <a:latin typeface="宋体" pitchFamily="2" charset="-122"/>
              </a:rPr>
              <a:t>  扇区总数</a:t>
            </a:r>
            <a:r>
              <a:rPr lang="en-US" altLang="zh-CN" sz="2800">
                <a:latin typeface="宋体" pitchFamily="2" charset="-122"/>
              </a:rPr>
              <a:t>=60</a:t>
            </a:r>
            <a:r>
              <a:rPr lang="zh-CN" altLang="en-US" sz="2800">
                <a:latin typeface="宋体" pitchFamily="2" charset="-122"/>
              </a:rPr>
              <a:t>分</a:t>
            </a:r>
            <a:r>
              <a:rPr lang="en-US" altLang="zh-CN" sz="2800">
                <a:latin typeface="宋体" pitchFamily="2" charset="-122"/>
              </a:rPr>
              <a:t>×60</a:t>
            </a:r>
            <a:r>
              <a:rPr lang="zh-CN" altLang="en-US" sz="2800">
                <a:latin typeface="宋体" pitchFamily="2" charset="-122"/>
              </a:rPr>
              <a:t>秒</a:t>
            </a:r>
            <a:r>
              <a:rPr lang="en-US" altLang="zh-CN" sz="2800">
                <a:latin typeface="宋体" pitchFamily="2" charset="-122"/>
              </a:rPr>
              <a:t>×75</a:t>
            </a:r>
            <a:r>
              <a:rPr lang="zh-CN" altLang="en-US" sz="2800">
                <a:latin typeface="宋体" pitchFamily="2" charset="-122"/>
              </a:rPr>
              <a:t>扇区</a:t>
            </a:r>
            <a:r>
              <a:rPr lang="en-US" altLang="zh-CN" sz="2800">
                <a:latin typeface="宋体" pitchFamily="2" charset="-122"/>
              </a:rPr>
              <a:t>/</a:t>
            </a:r>
            <a:r>
              <a:rPr lang="zh-CN" altLang="en-US" sz="2800">
                <a:latin typeface="宋体" pitchFamily="2" charset="-122"/>
              </a:rPr>
              <a:t>秒</a:t>
            </a:r>
            <a:r>
              <a:rPr lang="en-US" altLang="zh-CN" sz="2800">
                <a:latin typeface="宋体" pitchFamily="2" charset="-122"/>
              </a:rPr>
              <a:t>=270 000(</a:t>
            </a:r>
            <a:r>
              <a:rPr lang="zh-CN" altLang="en-US" sz="2800">
                <a:latin typeface="宋体" pitchFamily="2" charset="-122"/>
              </a:rPr>
              <a:t>扇区</a:t>
            </a:r>
            <a:r>
              <a:rPr lang="en-US" altLang="zh-CN" sz="2800">
                <a:latin typeface="宋体" pitchFamily="2" charset="-122"/>
              </a:rPr>
              <a:t>)</a:t>
            </a:r>
          </a:p>
          <a:p>
            <a:r>
              <a:rPr lang="en-US" altLang="zh-CN" sz="2800">
                <a:latin typeface="宋体" pitchFamily="2" charset="-122"/>
              </a:rPr>
              <a:t>  </a:t>
            </a:r>
            <a:r>
              <a:rPr lang="zh-CN" altLang="en-US" sz="2800">
                <a:latin typeface="宋体" pitchFamily="2" charset="-122"/>
              </a:rPr>
              <a:t>模式</a:t>
            </a:r>
            <a:r>
              <a:rPr lang="en-US" altLang="zh-CN" sz="2800">
                <a:latin typeface="宋体" pitchFamily="2" charset="-122"/>
              </a:rPr>
              <a:t>1</a:t>
            </a:r>
            <a:r>
              <a:rPr lang="zh-CN" altLang="en-US" sz="2800">
                <a:latin typeface="宋体" pitchFamily="2" charset="-122"/>
              </a:rPr>
              <a:t>存放计算机程序和数据，其存储容量为</a:t>
            </a:r>
          </a:p>
          <a:p>
            <a:r>
              <a:rPr lang="zh-CN" altLang="en-US" sz="2800">
                <a:latin typeface="宋体" pitchFamily="2" charset="-122"/>
              </a:rPr>
              <a:t>       </a:t>
            </a:r>
            <a:r>
              <a:rPr lang="en-US" altLang="zh-CN" sz="2800">
                <a:latin typeface="宋体" pitchFamily="2" charset="-122"/>
              </a:rPr>
              <a:t>270 000×2048B/2</a:t>
            </a:r>
            <a:r>
              <a:rPr lang="en-US" altLang="zh-CN" sz="2800" baseline="30000">
                <a:latin typeface="宋体" pitchFamily="2" charset="-122"/>
              </a:rPr>
              <a:t>20</a:t>
            </a:r>
            <a:r>
              <a:rPr lang="en-US" altLang="zh-CN" sz="2800">
                <a:latin typeface="宋体" pitchFamily="2" charset="-122"/>
              </a:rPr>
              <a:t>=527MB</a:t>
            </a:r>
          </a:p>
          <a:p>
            <a:r>
              <a:rPr lang="en-US" altLang="zh-CN" sz="2800">
                <a:latin typeface="宋体" pitchFamily="2" charset="-122"/>
              </a:rPr>
              <a:t>  </a:t>
            </a:r>
            <a:r>
              <a:rPr lang="zh-CN" altLang="en-US" sz="2800">
                <a:latin typeface="宋体" pitchFamily="2" charset="-122"/>
              </a:rPr>
              <a:t>模式</a:t>
            </a:r>
            <a:r>
              <a:rPr lang="en-US" altLang="zh-CN" sz="2800">
                <a:latin typeface="宋体" pitchFamily="2" charset="-122"/>
              </a:rPr>
              <a:t>2</a:t>
            </a:r>
            <a:r>
              <a:rPr lang="zh-CN" altLang="en-US" sz="2800">
                <a:latin typeface="宋体" pitchFamily="2" charset="-122"/>
              </a:rPr>
              <a:t>存放声音、图像等多媒体数据，其存储容量为 </a:t>
            </a:r>
          </a:p>
          <a:p>
            <a:r>
              <a:rPr lang="zh-CN" altLang="en-US" sz="2800">
                <a:latin typeface="宋体" pitchFamily="2" charset="-122"/>
              </a:rPr>
              <a:t>       </a:t>
            </a:r>
            <a:r>
              <a:rPr lang="en-US" altLang="zh-CN" sz="2800">
                <a:latin typeface="宋体" pitchFamily="2" charset="-122"/>
              </a:rPr>
              <a:t>270 000×2336B/2</a:t>
            </a:r>
            <a:r>
              <a:rPr lang="en-US" altLang="zh-CN" sz="2800" baseline="30000">
                <a:latin typeface="宋体" pitchFamily="2" charset="-122"/>
              </a:rPr>
              <a:t>20</a:t>
            </a:r>
            <a:r>
              <a:rPr lang="en-US" altLang="zh-CN" sz="2800">
                <a:latin typeface="宋体" pitchFamily="2" charset="-122"/>
              </a:rPr>
              <a:t>=601MB</a:t>
            </a:r>
          </a:p>
          <a:p>
            <a:pPr>
              <a:lnSpc>
                <a:spcPct val="90000"/>
              </a:lnSpc>
              <a:spcBef>
                <a:spcPct val="50000"/>
              </a:spcBef>
              <a:buClr>
                <a:schemeClr val="tx2"/>
              </a:buClr>
              <a:buSzPct val="70000"/>
              <a:buFont typeface="Wingdings" pitchFamily="2" charset="2"/>
              <a:buChar char="l"/>
            </a:pPr>
            <a:endParaRPr lang="en-US" altLang="zh-CN" sz="2800">
              <a:latin typeface="宋体" pitchFamily="2"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p:spPr>
        <p:txBody>
          <a:bodyPr/>
          <a:lstStyle/>
          <a:p>
            <a:fld id="{91B384EA-CB77-46D8-8748-92ED14F20163}" type="slidenum">
              <a:rPr lang="en-US" altLang="zh-CN" smtClean="0"/>
              <a:pPr/>
              <a:t>35</a:t>
            </a:fld>
            <a:endParaRPr lang="en-US" altLang="zh-CN" smtClean="0"/>
          </a:p>
        </p:txBody>
      </p:sp>
      <p:sp>
        <p:nvSpPr>
          <p:cNvPr id="38915" name="Rectangle 4"/>
          <p:cNvSpPr>
            <a:spLocks noChangeArrowheads="1"/>
          </p:cNvSpPr>
          <p:nvPr/>
        </p:nvSpPr>
        <p:spPr bwMode="auto">
          <a:xfrm>
            <a:off x="250825" y="188913"/>
            <a:ext cx="7777163" cy="1754326"/>
          </a:xfrm>
          <a:prstGeom prst="rect">
            <a:avLst/>
          </a:prstGeom>
          <a:noFill/>
          <a:ln w="9525">
            <a:noFill/>
            <a:miter lim="800000"/>
            <a:headEnd/>
            <a:tailEnd/>
          </a:ln>
        </p:spPr>
        <p:txBody>
          <a:bodyPr>
            <a:spAutoFit/>
          </a:bodyPr>
          <a:lstStyle/>
          <a:p>
            <a:r>
              <a:rPr lang="zh-CN" altLang="en-US" sz="2400" dirty="0">
                <a:latin typeface="宋体" pitchFamily="2" charset="-122"/>
              </a:rPr>
              <a:t>二</a:t>
            </a:r>
            <a:r>
              <a:rPr lang="zh-CN" altLang="en-US" sz="2400" dirty="0" smtClean="0">
                <a:latin typeface="宋体" pitchFamily="2" charset="-122"/>
              </a:rPr>
              <a:t>、</a:t>
            </a:r>
            <a:r>
              <a:rPr lang="en-US" altLang="zh-CN" sz="2400" dirty="0" smtClean="0">
                <a:latin typeface="宋体" pitchFamily="2" charset="-122"/>
              </a:rPr>
              <a:t>WORM</a:t>
            </a:r>
            <a:r>
              <a:rPr lang="zh-CN" altLang="en-US" sz="2400" dirty="0" smtClean="0">
                <a:latin typeface="宋体" pitchFamily="2" charset="-122"/>
              </a:rPr>
              <a:t>、</a:t>
            </a:r>
            <a:r>
              <a:rPr lang="en-US" altLang="zh-CN" sz="2400" dirty="0" smtClean="0">
                <a:latin typeface="宋体" pitchFamily="2" charset="-122"/>
              </a:rPr>
              <a:t>CD-R</a:t>
            </a:r>
            <a:r>
              <a:rPr lang="zh-CN" altLang="en-US" sz="2400" dirty="0">
                <a:latin typeface="宋体" pitchFamily="2" charset="-122"/>
              </a:rPr>
              <a:t>光盘</a:t>
            </a:r>
          </a:p>
          <a:p>
            <a:r>
              <a:rPr lang="zh-CN" altLang="en-US" sz="2400" dirty="0" smtClean="0">
                <a:latin typeface="宋体" pitchFamily="2" charset="-122"/>
              </a:rPr>
              <a:t>三</a:t>
            </a:r>
            <a:r>
              <a:rPr lang="zh-CN" altLang="en-US" sz="2400" dirty="0">
                <a:latin typeface="宋体" pitchFamily="2" charset="-122"/>
              </a:rPr>
              <a:t>、</a:t>
            </a:r>
            <a:r>
              <a:rPr lang="en-US" altLang="zh-CN" sz="2400" dirty="0">
                <a:latin typeface="宋体" pitchFamily="2" charset="-122"/>
              </a:rPr>
              <a:t>CD-RW</a:t>
            </a:r>
            <a:r>
              <a:rPr lang="zh-CN" altLang="en-US" sz="2400" dirty="0">
                <a:latin typeface="宋体" pitchFamily="2" charset="-122"/>
              </a:rPr>
              <a:t>光盘</a:t>
            </a:r>
            <a:r>
              <a:rPr lang="zh-CN" altLang="en-US" sz="2400" dirty="0">
                <a:latin typeface="宋体" pitchFamily="2" charset="-122"/>
                <a:hlinkClick r:id="rId2"/>
              </a:rPr>
              <a:t> </a:t>
            </a:r>
            <a:endParaRPr lang="en-US" altLang="zh-CN" sz="2400" dirty="0" smtClean="0">
              <a:latin typeface="宋体" pitchFamily="2" charset="-122"/>
            </a:endParaRPr>
          </a:p>
          <a:p>
            <a:r>
              <a:rPr lang="zh-CN" altLang="en-US" sz="2400" dirty="0" smtClean="0">
                <a:latin typeface="宋体" pitchFamily="2" charset="-122"/>
              </a:rPr>
              <a:t>四</a:t>
            </a:r>
            <a:r>
              <a:rPr lang="zh-CN" altLang="en-US" sz="2400" dirty="0">
                <a:latin typeface="宋体" pitchFamily="2" charset="-122"/>
              </a:rPr>
              <a:t>、</a:t>
            </a:r>
            <a:r>
              <a:rPr lang="en-US" altLang="zh-CN" sz="2400" dirty="0">
                <a:latin typeface="宋体" pitchFamily="2" charset="-122"/>
              </a:rPr>
              <a:t>DVD-ROM</a:t>
            </a:r>
          </a:p>
          <a:p>
            <a:r>
              <a:rPr lang="en-US" altLang="zh-CN" sz="3600" dirty="0">
                <a:solidFill>
                  <a:srgbClr val="FF0000"/>
                </a:solidFill>
                <a:effectLst>
                  <a:outerShdw blurRad="38100" dist="38100" dir="2700000" algn="tl">
                    <a:srgbClr val="000000">
                      <a:alpha val="43137"/>
                    </a:srgbClr>
                  </a:outerShdw>
                </a:effectLst>
                <a:latin typeface="宋体" pitchFamily="2" charset="-122"/>
              </a:rPr>
              <a:t>    </a:t>
            </a:r>
            <a:r>
              <a:rPr lang="zh-CN" altLang="en-US" sz="3600" dirty="0" smtClean="0">
                <a:solidFill>
                  <a:srgbClr val="FF0000"/>
                </a:solidFill>
                <a:effectLst>
                  <a:outerShdw blurRad="38100" dist="38100" dir="2700000" algn="tl">
                    <a:srgbClr val="000000">
                      <a:alpha val="43137"/>
                    </a:srgbClr>
                  </a:outerShdw>
                </a:effectLst>
                <a:latin typeface="宋体" pitchFamily="2" charset="-122"/>
              </a:rPr>
              <a:t>自学</a:t>
            </a:r>
            <a:endParaRPr lang="zh-CN" altLang="en-US" sz="3600" dirty="0">
              <a:solidFill>
                <a:srgbClr val="FF0000"/>
              </a:solidFill>
              <a:effectLst>
                <a:outerShdw blurRad="38100" dist="38100" dir="2700000" algn="tl">
                  <a:srgbClr val="000000">
                    <a:alpha val="43137"/>
                  </a:srgbClr>
                </a:outerShdw>
              </a:effectLst>
              <a:latin typeface="宋体" pitchFamily="2"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p:spPr>
        <p:txBody>
          <a:bodyPr/>
          <a:lstStyle/>
          <a:p>
            <a:fld id="{D542CFA5-CD3C-4E00-A025-2D329287D7F9}" type="slidenum">
              <a:rPr lang="en-US" altLang="zh-CN" smtClean="0"/>
              <a:pPr/>
              <a:t>36</a:t>
            </a:fld>
            <a:endParaRPr lang="en-US" altLang="zh-CN" smtClean="0"/>
          </a:p>
        </p:txBody>
      </p:sp>
      <p:sp>
        <p:nvSpPr>
          <p:cNvPr id="39939" name="Rectangle 3"/>
          <p:cNvSpPr>
            <a:spLocks noGrp="1" noChangeArrowheads="1"/>
          </p:cNvSpPr>
          <p:nvPr>
            <p:ph type="body" idx="1"/>
          </p:nvPr>
        </p:nvSpPr>
        <p:spPr>
          <a:xfrm>
            <a:off x="395288" y="404813"/>
            <a:ext cx="7416800" cy="6119812"/>
          </a:xfrm>
        </p:spPr>
        <p:txBody>
          <a:bodyPr/>
          <a:lstStyle/>
          <a:p>
            <a:pPr eaLnBrk="1" hangingPunct="1">
              <a:lnSpc>
                <a:spcPct val="90000"/>
              </a:lnSpc>
              <a:buFont typeface="Wingdings" pitchFamily="2" charset="2"/>
              <a:buNone/>
            </a:pPr>
            <a:r>
              <a:rPr lang="en-US" altLang="zh-CN" sz="3600" dirty="0" smtClean="0">
                <a:latin typeface="宋体" pitchFamily="2" charset="-122"/>
              </a:rPr>
              <a:t>7.4.2 </a:t>
            </a:r>
            <a:r>
              <a:rPr lang="zh-CN" altLang="en-US" sz="3600" dirty="0" smtClean="0">
                <a:latin typeface="宋体" pitchFamily="2" charset="-122"/>
              </a:rPr>
              <a:t>磁光盘存储设备 </a:t>
            </a:r>
            <a:endParaRPr lang="zh-CN" altLang="en-US" sz="3600" b="1" dirty="0" smtClean="0">
              <a:latin typeface="宋体" pitchFamily="2" charset="-122"/>
            </a:endParaRPr>
          </a:p>
          <a:p>
            <a:pPr eaLnBrk="1" hangingPunct="1">
              <a:lnSpc>
                <a:spcPct val="90000"/>
              </a:lnSpc>
              <a:buFont typeface="Wingdings" pitchFamily="2" charset="2"/>
              <a:buNone/>
            </a:pPr>
            <a:r>
              <a:rPr lang="zh-CN" altLang="en-US" b="1" dirty="0" smtClean="0">
                <a:latin typeface="宋体" pitchFamily="2" charset="-122"/>
              </a:rPr>
              <a:t>      </a:t>
            </a:r>
            <a:r>
              <a:rPr lang="zh-CN" altLang="en-US" sz="3200" dirty="0" smtClean="0">
                <a:latin typeface="宋体" pitchFamily="2" charset="-122"/>
              </a:rPr>
              <a:t>重写型光盘，用户可对这类光盘进行随机写入、擦除或重写信息。</a:t>
            </a:r>
          </a:p>
          <a:p>
            <a:pPr eaLnBrk="1" hangingPunct="1">
              <a:lnSpc>
                <a:spcPct val="90000"/>
              </a:lnSpc>
              <a:buFont typeface="Wingdings" pitchFamily="2" charset="2"/>
              <a:buNone/>
            </a:pPr>
            <a:r>
              <a:rPr lang="zh-CN" altLang="en-US" sz="3200" dirty="0" smtClean="0">
                <a:latin typeface="宋体" pitchFamily="2" charset="-122"/>
              </a:rPr>
              <a:t>      磁光盘的基本工作原理是：利用热磁效应写入数据：当激光束将磁光介质上的记录点加热到居里点温度以上时，外加磁场作用改变记录点的磁化方向，而不同的磁化方向可表示数字“</a:t>
            </a:r>
            <a:r>
              <a:rPr lang="en-US" altLang="zh-CN" sz="3200" dirty="0" smtClean="0">
                <a:latin typeface="宋体" pitchFamily="2" charset="-122"/>
              </a:rPr>
              <a:t>0”</a:t>
            </a:r>
            <a:r>
              <a:rPr lang="zh-CN" altLang="en-US" sz="3200" dirty="0" smtClean="0">
                <a:latin typeface="宋体" pitchFamily="2" charset="-122"/>
              </a:rPr>
              <a:t>和“</a:t>
            </a:r>
            <a:r>
              <a:rPr lang="en-US" altLang="zh-CN" sz="3200" dirty="0" smtClean="0">
                <a:latin typeface="宋体" pitchFamily="2" charset="-122"/>
              </a:rPr>
              <a:t>1”</a:t>
            </a:r>
            <a:r>
              <a:rPr lang="zh-CN" altLang="en-US" sz="3200" dirty="0" smtClean="0">
                <a:latin typeface="宋体" pitchFamily="2" charset="-122"/>
              </a:rPr>
              <a:t>。利用磁光克尔效应读出数据：当激光束照射到记录点时，记录点的磁化方向不同，会引起反射光的偏振面发生不同结果，从而检测出所记录的数据“</a:t>
            </a:r>
            <a:r>
              <a:rPr lang="en-US" altLang="zh-CN" sz="3200" dirty="0" smtClean="0">
                <a:latin typeface="宋体" pitchFamily="2" charset="-122"/>
              </a:rPr>
              <a:t>1”</a:t>
            </a:r>
            <a:r>
              <a:rPr lang="zh-CN" altLang="en-US" sz="3200" dirty="0" smtClean="0">
                <a:latin typeface="宋体" pitchFamily="2" charset="-122"/>
              </a:rPr>
              <a:t>或“</a:t>
            </a:r>
            <a:r>
              <a:rPr lang="en-US" altLang="zh-CN" sz="3200" dirty="0" smtClean="0">
                <a:latin typeface="宋体" pitchFamily="2" charset="-122"/>
              </a:rPr>
              <a:t>0”</a:t>
            </a:r>
            <a:r>
              <a:rPr lang="zh-CN" altLang="en-US" sz="3200" dirty="0" smtClean="0">
                <a:latin typeface="宋体" pitchFamily="2" charset="-122"/>
              </a:rPr>
              <a: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p:spPr>
        <p:txBody>
          <a:bodyPr/>
          <a:lstStyle/>
          <a:p>
            <a:fld id="{2F5A8271-5F5F-490C-87E9-105ABDFB8108}" type="slidenum">
              <a:rPr lang="en-US" altLang="zh-CN" smtClean="0"/>
              <a:pPr/>
              <a:t>37</a:t>
            </a:fld>
            <a:endParaRPr lang="en-US" altLang="zh-CN" smtClean="0"/>
          </a:p>
        </p:txBody>
      </p:sp>
      <p:pic>
        <p:nvPicPr>
          <p:cNvPr id="40963" name="Picture 2" descr="7a14"/>
          <p:cNvPicPr>
            <a:picLocks noChangeAspect="1" noChangeArrowheads="1"/>
          </p:cNvPicPr>
          <p:nvPr/>
        </p:nvPicPr>
        <p:blipFill>
          <a:blip r:embed="rId2"/>
          <a:srcRect/>
          <a:stretch>
            <a:fillRect/>
          </a:stretch>
        </p:blipFill>
        <p:spPr bwMode="auto">
          <a:xfrm>
            <a:off x="395288" y="188913"/>
            <a:ext cx="7489825" cy="6335712"/>
          </a:xfrm>
          <a:prstGeom prst="rect">
            <a:avLst/>
          </a:prstGeom>
          <a:noFill/>
          <a:ln w="9525">
            <a:noFill/>
            <a:miter lim="800000"/>
            <a:headEnd/>
            <a:tailEnd/>
          </a:ln>
        </p:spPr>
      </p:pic>
      <p:pic>
        <p:nvPicPr>
          <p:cNvPr id="40964" name="Picture 3">
            <a:hlinkClick r:id="rId3" action="ppaction://hlinkfile"/>
          </p:cNvPr>
          <p:cNvPicPr>
            <a:picLocks noChangeAspect="1" noChangeArrowheads="1"/>
          </p:cNvPicPr>
          <p:nvPr/>
        </p:nvPicPr>
        <p:blipFill>
          <a:blip r:embed="rId4"/>
          <a:srcRect/>
          <a:stretch>
            <a:fillRect/>
          </a:stretch>
        </p:blipFill>
        <p:spPr bwMode="auto">
          <a:xfrm>
            <a:off x="8172450" y="4076700"/>
            <a:ext cx="409575" cy="381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p:spPr>
        <p:txBody>
          <a:bodyPr/>
          <a:lstStyle/>
          <a:p>
            <a:fld id="{9F88CD1D-9356-429D-B10B-7B01C50E4A60}" type="slidenum">
              <a:rPr lang="en-US" altLang="zh-CN" smtClean="0"/>
              <a:pPr/>
              <a:t>38</a:t>
            </a:fld>
            <a:endParaRPr lang="en-US" altLang="zh-CN" smtClean="0"/>
          </a:p>
        </p:txBody>
      </p:sp>
      <p:sp>
        <p:nvSpPr>
          <p:cNvPr id="41987" name="Rectangle 3"/>
          <p:cNvSpPr>
            <a:spLocks noGrp="1" noChangeArrowheads="1"/>
          </p:cNvSpPr>
          <p:nvPr>
            <p:ph type="body" idx="1"/>
          </p:nvPr>
        </p:nvSpPr>
        <p:spPr>
          <a:xfrm>
            <a:off x="179388" y="620713"/>
            <a:ext cx="8137525" cy="5472112"/>
          </a:xfrm>
        </p:spPr>
        <p:txBody>
          <a:bodyPr/>
          <a:lstStyle/>
          <a:p>
            <a:pPr eaLnBrk="1" hangingPunct="1">
              <a:lnSpc>
                <a:spcPct val="90000"/>
              </a:lnSpc>
            </a:pPr>
            <a:r>
              <a:rPr lang="zh-CN" altLang="en-US" sz="2800" smtClean="0">
                <a:latin typeface="宋体" pitchFamily="2" charset="-122"/>
              </a:rPr>
              <a:t>磁光盘操作的四种情况：</a:t>
            </a:r>
          </a:p>
          <a:p>
            <a:pPr eaLnBrk="1" hangingPunct="1">
              <a:lnSpc>
                <a:spcPct val="90000"/>
              </a:lnSpc>
              <a:buFont typeface="Wingdings" pitchFamily="2" charset="2"/>
              <a:buNone/>
            </a:pPr>
            <a:endParaRPr lang="zh-CN" altLang="en-US" sz="2800" smtClean="0">
              <a:latin typeface="宋体" pitchFamily="2" charset="-122"/>
            </a:endParaRPr>
          </a:p>
          <a:p>
            <a:pPr lvl="1" eaLnBrk="1" hangingPunct="1">
              <a:lnSpc>
                <a:spcPct val="90000"/>
              </a:lnSpc>
            </a:pPr>
            <a:r>
              <a:rPr lang="zh-CN" altLang="en-US" sz="2400" smtClean="0">
                <a:latin typeface="宋体" pitchFamily="2" charset="-122"/>
              </a:rPr>
              <a:t>图</a:t>
            </a:r>
            <a:r>
              <a:rPr lang="en-US" altLang="zh-CN" sz="2400" smtClean="0">
                <a:latin typeface="宋体" pitchFamily="2" charset="-122"/>
              </a:rPr>
              <a:t>(a)</a:t>
            </a:r>
            <a:r>
              <a:rPr lang="zh-CN" altLang="en-US" sz="2400" smtClean="0">
                <a:latin typeface="宋体" pitchFamily="2" charset="-122"/>
              </a:rPr>
              <a:t>表示未编码的磁盘，例如所有磁化点均存“</a:t>
            </a:r>
            <a:r>
              <a:rPr lang="en-US" altLang="zh-CN" sz="2400" smtClean="0">
                <a:latin typeface="宋体" pitchFamily="2" charset="-122"/>
              </a:rPr>
              <a:t>0”</a:t>
            </a:r>
            <a:r>
              <a:rPr lang="zh-CN" altLang="en-US" sz="2400" smtClean="0">
                <a:latin typeface="宋体" pitchFamily="2" charset="-122"/>
              </a:rPr>
              <a:t>。</a:t>
            </a:r>
          </a:p>
          <a:p>
            <a:pPr lvl="1" eaLnBrk="1" hangingPunct="1">
              <a:lnSpc>
                <a:spcPct val="90000"/>
              </a:lnSpc>
            </a:pPr>
            <a:r>
              <a:rPr lang="zh-CN" altLang="en-US" sz="2400" smtClean="0">
                <a:latin typeface="宋体" pitchFamily="2" charset="-122"/>
              </a:rPr>
              <a:t>图</a:t>
            </a:r>
            <a:r>
              <a:rPr lang="en-US" altLang="zh-CN" sz="2400" smtClean="0">
                <a:latin typeface="宋体" pitchFamily="2" charset="-122"/>
              </a:rPr>
              <a:t>(b)</a:t>
            </a:r>
            <a:r>
              <a:rPr lang="zh-CN" altLang="en-US" sz="2400" smtClean="0">
                <a:latin typeface="宋体" pitchFamily="2" charset="-122"/>
              </a:rPr>
              <a:t>表示写操作：高功率激光束照射加热点（记录点），磁头线圈中外加电流后产生的磁场使其对应的记录点产生相反的磁性微粒，从而写入“</a:t>
            </a:r>
            <a:r>
              <a:rPr lang="en-US" altLang="zh-CN" sz="2400" smtClean="0">
                <a:latin typeface="宋体" pitchFamily="2" charset="-122"/>
              </a:rPr>
              <a:t>1”</a:t>
            </a:r>
            <a:r>
              <a:rPr lang="zh-CN" altLang="en-US" sz="2400" smtClean="0">
                <a:latin typeface="宋体" pitchFamily="2" charset="-122"/>
              </a:rPr>
              <a:t>。</a:t>
            </a:r>
          </a:p>
          <a:p>
            <a:pPr lvl="1" eaLnBrk="1" hangingPunct="1">
              <a:lnSpc>
                <a:spcPct val="90000"/>
              </a:lnSpc>
            </a:pPr>
            <a:r>
              <a:rPr lang="zh-CN" altLang="en-US" sz="2400" smtClean="0">
                <a:latin typeface="宋体" pitchFamily="2" charset="-122"/>
              </a:rPr>
              <a:t>图</a:t>
            </a:r>
            <a:r>
              <a:rPr lang="en-US" altLang="zh-CN" sz="2400" smtClean="0">
                <a:latin typeface="宋体" pitchFamily="2" charset="-122"/>
              </a:rPr>
              <a:t>(c)</a:t>
            </a:r>
            <a:r>
              <a:rPr lang="zh-CN" altLang="en-US" sz="2400" smtClean="0">
                <a:latin typeface="宋体" pitchFamily="2" charset="-122"/>
              </a:rPr>
              <a:t>表示读操作：低功率的激光束反射掉相反极性的磁性粒子且使它的极性变化。如果这些粒子没有被反射掉，则反射激光束的极性是不变化的。</a:t>
            </a:r>
          </a:p>
          <a:p>
            <a:pPr lvl="1" eaLnBrk="1" hangingPunct="1">
              <a:lnSpc>
                <a:spcPct val="90000"/>
              </a:lnSpc>
            </a:pPr>
            <a:r>
              <a:rPr lang="zh-CN" altLang="en-US" sz="2400" smtClean="0">
                <a:latin typeface="宋体" pitchFamily="2" charset="-122"/>
              </a:rPr>
              <a:t>图</a:t>
            </a:r>
            <a:r>
              <a:rPr lang="en-US" altLang="zh-CN" sz="2400" smtClean="0">
                <a:latin typeface="宋体" pitchFamily="2" charset="-122"/>
              </a:rPr>
              <a:t>(d)</a:t>
            </a:r>
            <a:r>
              <a:rPr lang="zh-CN" altLang="en-US" sz="2400" smtClean="0">
                <a:latin typeface="宋体" pitchFamily="2" charset="-122"/>
              </a:rPr>
              <a:t>表示擦除操作：高功率激光束照射记录点，外加磁场改变方向，使磁性粒子恢复到原始极性。</a:t>
            </a:r>
          </a:p>
          <a:p>
            <a:pPr eaLnBrk="1" hangingPunct="1">
              <a:lnSpc>
                <a:spcPct val="90000"/>
              </a:lnSpc>
              <a:buFont typeface="Wingdings" pitchFamily="2" charset="2"/>
              <a:buNone/>
            </a:pPr>
            <a:r>
              <a:rPr lang="zh-CN" altLang="en-US" sz="3200" smtClean="0">
                <a:latin typeface="宋体" pitchFamily="2" charset="-122"/>
              </a:rPr>
              <a:t>     </a:t>
            </a:r>
            <a:r>
              <a:rPr lang="zh-CN" altLang="en-US" sz="2800" smtClean="0">
                <a:latin typeface="宋体" pitchFamily="2" charset="-122"/>
              </a:rPr>
              <a:t>总之，</a:t>
            </a:r>
            <a:r>
              <a:rPr lang="en-US" altLang="zh-CN" sz="2800" smtClean="0">
                <a:latin typeface="宋体" pitchFamily="2" charset="-122"/>
              </a:rPr>
              <a:t>MO</a:t>
            </a:r>
            <a:r>
              <a:rPr lang="zh-CN" altLang="en-US" sz="2800" smtClean="0">
                <a:latin typeface="宋体" pitchFamily="2" charset="-122"/>
              </a:rPr>
              <a:t>盘介质材料发生的物理特性改变是可逆变化，因此信息是可重写的。</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p:spPr>
        <p:txBody>
          <a:bodyPr/>
          <a:lstStyle/>
          <a:p>
            <a:fld id="{1CB98581-098A-4F40-9EDF-667C0B83A7F2}" type="slidenum">
              <a:rPr lang="en-US" altLang="zh-CN" smtClean="0"/>
              <a:pPr/>
              <a:t>39</a:t>
            </a:fld>
            <a:endParaRPr lang="en-US" altLang="zh-CN" smtClean="0"/>
          </a:p>
        </p:txBody>
      </p:sp>
      <p:sp>
        <p:nvSpPr>
          <p:cNvPr id="43011" name="Rectangle 2"/>
          <p:cNvSpPr>
            <a:spLocks noGrp="1" noChangeArrowheads="1"/>
          </p:cNvSpPr>
          <p:nvPr>
            <p:ph type="title"/>
          </p:nvPr>
        </p:nvSpPr>
        <p:spPr>
          <a:xfrm>
            <a:off x="323850" y="188913"/>
            <a:ext cx="7543800" cy="714375"/>
          </a:xfrm>
        </p:spPr>
        <p:txBody>
          <a:bodyPr/>
          <a:lstStyle/>
          <a:p>
            <a:pPr eaLnBrk="1" hangingPunct="1"/>
            <a:r>
              <a:rPr lang="en-US" altLang="zh-CN" dirty="0" smtClean="0"/>
              <a:t>7.5 </a:t>
            </a:r>
            <a:r>
              <a:rPr lang="zh-CN" altLang="en-US" dirty="0" smtClean="0"/>
              <a:t>显 示 设 备</a:t>
            </a:r>
          </a:p>
        </p:txBody>
      </p:sp>
      <p:sp>
        <p:nvSpPr>
          <p:cNvPr id="43012" name="Rectangle 5"/>
          <p:cNvSpPr>
            <a:spLocks noChangeArrowheads="1"/>
          </p:cNvSpPr>
          <p:nvPr/>
        </p:nvSpPr>
        <p:spPr bwMode="auto">
          <a:xfrm>
            <a:off x="250825" y="908050"/>
            <a:ext cx="8497888" cy="5643563"/>
          </a:xfrm>
          <a:prstGeom prst="rect">
            <a:avLst/>
          </a:prstGeom>
          <a:noFill/>
          <a:ln w="9525">
            <a:noFill/>
            <a:miter lim="800000"/>
            <a:headEnd/>
            <a:tailEnd/>
          </a:ln>
        </p:spPr>
        <p:txBody>
          <a:bodyPr anchor="ctr">
            <a:spAutoFit/>
          </a:bodyPr>
          <a:lstStyle/>
          <a:p>
            <a:r>
              <a:rPr lang="en-US" altLang="zh-CN" sz="2800" b="1" dirty="0" smtClean="0">
                <a:latin typeface="宋体" pitchFamily="2" charset="-122"/>
              </a:rPr>
              <a:t>7.5.1 </a:t>
            </a:r>
            <a:r>
              <a:rPr lang="zh-CN" altLang="en-US" sz="2800" b="1" dirty="0">
                <a:latin typeface="宋体" pitchFamily="2" charset="-122"/>
              </a:rPr>
              <a:t>显示设备的分类与有关概念</a:t>
            </a:r>
            <a:r>
              <a:rPr lang="zh-CN" altLang="en-US" sz="2800" b="1" i="1" dirty="0">
                <a:latin typeface="宋体" pitchFamily="2" charset="-122"/>
              </a:rPr>
              <a:t> 　　　</a:t>
            </a:r>
            <a:endParaRPr lang="zh-CN" altLang="en-US" sz="2800" b="1" dirty="0">
              <a:latin typeface="宋体" pitchFamily="2" charset="-122"/>
            </a:endParaRPr>
          </a:p>
          <a:p>
            <a:r>
              <a:rPr lang="zh-CN" altLang="en-US" sz="2800" dirty="0">
                <a:latin typeface="宋体" pitchFamily="2" charset="-122"/>
              </a:rPr>
              <a:t>　　以可见光的形式传递和处理信息的设备叫</a:t>
            </a:r>
            <a:r>
              <a:rPr lang="zh-CN" altLang="en-US" sz="2800" b="1" dirty="0">
                <a:latin typeface="宋体" pitchFamily="2" charset="-122"/>
              </a:rPr>
              <a:t>显示设备</a:t>
            </a:r>
            <a:r>
              <a:rPr lang="zh-CN" altLang="en-US" sz="2800" dirty="0">
                <a:latin typeface="宋体" pitchFamily="2" charset="-122"/>
              </a:rPr>
              <a:t>，是目前计算机系统中应用最广泛的人机界面设备。</a:t>
            </a:r>
          </a:p>
          <a:p>
            <a:r>
              <a:rPr lang="zh-CN" altLang="en-US" sz="2800" dirty="0">
                <a:latin typeface="宋体" pitchFamily="2" charset="-122"/>
              </a:rPr>
              <a:t>　　按显示设备所用的显示器件分类</a:t>
            </a:r>
            <a:r>
              <a:rPr lang="en-US" altLang="zh-CN" sz="2800" dirty="0">
                <a:latin typeface="宋体" pitchFamily="2" charset="-122"/>
              </a:rPr>
              <a:t>: </a:t>
            </a:r>
            <a:r>
              <a:rPr lang="zh-CN" altLang="en-US" sz="2800" dirty="0">
                <a:latin typeface="宋体" pitchFamily="2" charset="-122"/>
              </a:rPr>
              <a:t>有阴极射线管</a:t>
            </a:r>
            <a:r>
              <a:rPr lang="en-US" altLang="zh-CN" sz="2800" dirty="0">
                <a:latin typeface="宋体" pitchFamily="2" charset="-122"/>
              </a:rPr>
              <a:t>(CRT)</a:t>
            </a:r>
            <a:r>
              <a:rPr lang="zh-CN" altLang="en-US" sz="2800" dirty="0">
                <a:latin typeface="宋体" pitchFamily="2" charset="-122"/>
              </a:rPr>
              <a:t>显示器、液晶显示器</a:t>
            </a:r>
            <a:r>
              <a:rPr lang="en-US" altLang="zh-CN" sz="2800" dirty="0">
                <a:latin typeface="宋体" pitchFamily="2" charset="-122"/>
              </a:rPr>
              <a:t>(LCD)</a:t>
            </a:r>
            <a:r>
              <a:rPr lang="zh-CN" altLang="en-US" sz="2800" dirty="0">
                <a:latin typeface="宋体" pitchFamily="2" charset="-122"/>
              </a:rPr>
              <a:t>、等离子显示器等。</a:t>
            </a:r>
          </a:p>
          <a:p>
            <a:r>
              <a:rPr lang="zh-CN" altLang="en-US" sz="2800" dirty="0">
                <a:latin typeface="宋体" pitchFamily="2" charset="-122"/>
              </a:rPr>
              <a:t>　　按所显示的信息内容分类</a:t>
            </a:r>
            <a:r>
              <a:rPr lang="en-US" altLang="zh-CN" sz="2800" dirty="0">
                <a:latin typeface="宋体" pitchFamily="2" charset="-122"/>
              </a:rPr>
              <a:t>: </a:t>
            </a:r>
            <a:r>
              <a:rPr lang="zh-CN" altLang="en-US" sz="2800" dirty="0">
                <a:latin typeface="宋体" pitchFamily="2" charset="-122"/>
              </a:rPr>
              <a:t>有字符</a:t>
            </a:r>
            <a:r>
              <a:rPr lang="en-US" altLang="zh-CN" sz="2800" dirty="0">
                <a:latin typeface="宋体" pitchFamily="2" charset="-122"/>
              </a:rPr>
              <a:t>/</a:t>
            </a:r>
            <a:r>
              <a:rPr lang="zh-CN" altLang="en-US" sz="2800" dirty="0">
                <a:latin typeface="宋体" pitchFamily="2" charset="-122"/>
              </a:rPr>
              <a:t>图形显示器、图像显示器等。</a:t>
            </a:r>
          </a:p>
          <a:p>
            <a:r>
              <a:rPr lang="zh-CN" altLang="en-US" sz="2800" dirty="0">
                <a:latin typeface="宋体" pitchFamily="2" charset="-122"/>
              </a:rPr>
              <a:t>    在</a:t>
            </a:r>
            <a:r>
              <a:rPr lang="en-US" altLang="zh-CN" sz="2800" dirty="0">
                <a:latin typeface="宋体" pitchFamily="2" charset="-122"/>
              </a:rPr>
              <a:t>CRT</a:t>
            </a:r>
            <a:r>
              <a:rPr lang="zh-CN" altLang="en-US" sz="2800" dirty="0">
                <a:latin typeface="宋体" pitchFamily="2" charset="-122"/>
              </a:rPr>
              <a:t>显示设备中以扫描方式不同，分成光栅扫描和随机扫描两种显示器；以分辨率不同，分成高分辨率显示器和低分辨率显示器；以显示的颜色分类，有单色</a:t>
            </a:r>
            <a:r>
              <a:rPr lang="en-US" altLang="zh-CN" sz="2800" dirty="0">
                <a:latin typeface="宋体" pitchFamily="2" charset="-122"/>
              </a:rPr>
              <a:t>(</a:t>
            </a:r>
            <a:r>
              <a:rPr lang="zh-CN" altLang="en-US" sz="2800" dirty="0">
                <a:latin typeface="宋体" pitchFamily="2" charset="-122"/>
              </a:rPr>
              <a:t>黑白</a:t>
            </a:r>
            <a:r>
              <a:rPr lang="en-US" altLang="zh-CN" sz="2800" dirty="0">
                <a:latin typeface="宋体" pitchFamily="2" charset="-122"/>
              </a:rPr>
              <a:t>)</a:t>
            </a:r>
            <a:r>
              <a:rPr lang="zh-CN" altLang="en-US" sz="2800" dirty="0">
                <a:latin typeface="宋体" pitchFamily="2" charset="-122"/>
              </a:rPr>
              <a:t>显示器和彩色显示器。以</a:t>
            </a:r>
            <a:r>
              <a:rPr lang="en-US" altLang="zh-CN" sz="2800" dirty="0">
                <a:latin typeface="宋体" pitchFamily="2" charset="-122"/>
              </a:rPr>
              <a:t>CRT</a:t>
            </a:r>
            <a:r>
              <a:rPr lang="zh-CN" altLang="en-US" sz="2800" dirty="0">
                <a:latin typeface="宋体" pitchFamily="2" charset="-122"/>
              </a:rPr>
              <a:t>荧光屏对角线的长度分类，有</a:t>
            </a:r>
            <a:r>
              <a:rPr lang="en-US" altLang="zh-CN" sz="2800" dirty="0">
                <a:latin typeface="宋体" pitchFamily="2" charset="-122"/>
              </a:rPr>
              <a:t>12</a:t>
            </a:r>
            <a:r>
              <a:rPr lang="zh-CN" altLang="en-US" sz="2800" dirty="0">
                <a:latin typeface="宋体" pitchFamily="2" charset="-122"/>
              </a:rPr>
              <a:t>英寸、</a:t>
            </a:r>
            <a:r>
              <a:rPr lang="en-US" altLang="zh-CN" sz="2800" dirty="0">
                <a:latin typeface="宋体" pitchFamily="2" charset="-122"/>
              </a:rPr>
              <a:t>14</a:t>
            </a:r>
            <a:r>
              <a:rPr lang="zh-CN" altLang="en-US" sz="2800" dirty="0">
                <a:latin typeface="宋体" pitchFamily="2" charset="-122"/>
              </a:rPr>
              <a:t>英寸、</a:t>
            </a:r>
            <a:r>
              <a:rPr lang="en-US" altLang="zh-CN" sz="2800" dirty="0">
                <a:latin typeface="宋体" pitchFamily="2" charset="-122"/>
              </a:rPr>
              <a:t>16</a:t>
            </a:r>
            <a:r>
              <a:rPr lang="zh-CN" altLang="en-US" sz="2800" dirty="0">
                <a:latin typeface="宋体" pitchFamily="2" charset="-122"/>
              </a:rPr>
              <a:t>英寸、</a:t>
            </a:r>
            <a:r>
              <a:rPr lang="en-US" altLang="zh-CN" sz="2800" dirty="0">
                <a:latin typeface="宋体" pitchFamily="2" charset="-122"/>
              </a:rPr>
              <a:t>19</a:t>
            </a:r>
            <a:r>
              <a:rPr lang="zh-CN" altLang="en-US" sz="2800" dirty="0">
                <a:latin typeface="宋体" pitchFamily="2" charset="-122"/>
              </a:rPr>
              <a:t>英寸等多种。</a:t>
            </a:r>
            <a:endParaRPr lang="zh-CN" altLang="en-US" sz="2400" dirty="0">
              <a:latin typeface="宋体"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p:spPr>
        <p:txBody>
          <a:bodyPr/>
          <a:lstStyle/>
          <a:p>
            <a:fld id="{050104F7-9421-4BF7-892B-8B489D3BC5CE}" type="slidenum">
              <a:rPr lang="en-US" altLang="zh-CN" smtClean="0"/>
              <a:pPr/>
              <a:t>40</a:t>
            </a:fld>
            <a:endParaRPr lang="en-US" altLang="zh-CN" smtClean="0"/>
          </a:p>
        </p:txBody>
      </p:sp>
      <p:sp>
        <p:nvSpPr>
          <p:cNvPr id="44035" name="Rectangle 6"/>
          <p:cNvSpPr>
            <a:spLocks noChangeArrowheads="1"/>
          </p:cNvSpPr>
          <p:nvPr/>
        </p:nvSpPr>
        <p:spPr bwMode="auto">
          <a:xfrm>
            <a:off x="250825" y="404813"/>
            <a:ext cx="8642350" cy="6070600"/>
          </a:xfrm>
          <a:prstGeom prst="rect">
            <a:avLst/>
          </a:prstGeom>
          <a:solidFill>
            <a:srgbClr val="CCFFFF"/>
          </a:solidFill>
          <a:ln w="9525">
            <a:noFill/>
            <a:miter lim="800000"/>
            <a:headEnd/>
            <a:tailEnd/>
          </a:ln>
        </p:spPr>
        <p:txBody>
          <a:bodyPr anchor="ctr">
            <a:spAutoFit/>
          </a:bodyPr>
          <a:lstStyle/>
          <a:p>
            <a:r>
              <a:rPr lang="en-US" altLang="zh-CN" sz="2800" b="1">
                <a:latin typeface="宋体" pitchFamily="2" charset="-122"/>
              </a:rPr>
              <a:t>1.</a:t>
            </a:r>
            <a:r>
              <a:rPr lang="zh-CN" altLang="en-US" sz="2800" b="1">
                <a:latin typeface="宋体" pitchFamily="2" charset="-122"/>
              </a:rPr>
              <a:t>分辨率和灰度级</a:t>
            </a:r>
            <a:endParaRPr lang="zh-CN" altLang="en-US" sz="2800">
              <a:latin typeface="宋体" pitchFamily="2" charset="-122"/>
            </a:endParaRPr>
          </a:p>
          <a:p>
            <a:r>
              <a:rPr lang="zh-CN" altLang="en-US" sz="2800" b="1">
                <a:latin typeface="宋体" pitchFamily="2" charset="-122"/>
              </a:rPr>
              <a:t>　　分辨率</a:t>
            </a:r>
            <a:r>
              <a:rPr lang="zh-CN" altLang="en-US" sz="2800">
                <a:latin typeface="宋体" pitchFamily="2" charset="-122"/>
              </a:rPr>
              <a:t>是指显示器所能表示的像素个数。像素越密，分辨率越高，图像越清晰。分辨率取决于显象管荧光粉的粒度、荧光屏的尺寸和</a:t>
            </a:r>
            <a:r>
              <a:rPr lang="en-US" altLang="zh-CN" sz="2800">
                <a:latin typeface="宋体" pitchFamily="2" charset="-122"/>
              </a:rPr>
              <a:t>CRT</a:t>
            </a:r>
            <a:r>
              <a:rPr lang="zh-CN" altLang="en-US" sz="2800">
                <a:latin typeface="宋体" pitchFamily="2" charset="-122"/>
              </a:rPr>
              <a:t>电子束的聚焦能力。同时刷新存储器要有与显示像素数相对应的存储空间，用来存储每个像素的信息。 </a:t>
            </a:r>
          </a:p>
          <a:p>
            <a:r>
              <a:rPr lang="zh-CN" altLang="en-US" sz="2800">
                <a:latin typeface="宋体" pitchFamily="2" charset="-122"/>
              </a:rPr>
              <a:t>    </a:t>
            </a:r>
            <a:r>
              <a:rPr lang="zh-CN" altLang="en-US" sz="2800" b="1">
                <a:latin typeface="宋体" pitchFamily="2" charset="-122"/>
              </a:rPr>
              <a:t>灰度级</a:t>
            </a:r>
            <a:r>
              <a:rPr lang="zh-CN" altLang="en-US" sz="2800">
                <a:latin typeface="宋体" pitchFamily="2" charset="-122"/>
              </a:rPr>
              <a:t>是指黑白显示器中所显示的像素点的亮暗差别，在彩色显示器中则表现为颜色的不同。灰度级越多，图像层次越清楚逼真。灰度级取决于每个像素对应刷新存储器单元的位数和</a:t>
            </a:r>
            <a:r>
              <a:rPr lang="en-US" altLang="zh-CN" sz="2800">
                <a:latin typeface="宋体" pitchFamily="2" charset="-122"/>
              </a:rPr>
              <a:t>CRT</a:t>
            </a:r>
            <a:r>
              <a:rPr lang="zh-CN" altLang="en-US" sz="2800">
                <a:latin typeface="宋体" pitchFamily="2" charset="-122"/>
              </a:rPr>
              <a:t>本身的性能。字符显示器只用“</a:t>
            </a:r>
            <a:r>
              <a:rPr lang="en-US" altLang="zh-CN" sz="2800">
                <a:latin typeface="宋体" pitchFamily="2" charset="-122"/>
              </a:rPr>
              <a:t>0”“1”</a:t>
            </a:r>
            <a:r>
              <a:rPr lang="zh-CN" altLang="en-US" sz="2800">
                <a:latin typeface="宋体" pitchFamily="2" charset="-122"/>
              </a:rPr>
              <a:t>两级灰度表示字符的有无，这种只有两级灰度的显示器称为</a:t>
            </a:r>
            <a:r>
              <a:rPr lang="zh-CN" altLang="en-US" sz="2800" b="1">
                <a:latin typeface="宋体" pitchFamily="2" charset="-122"/>
              </a:rPr>
              <a:t>单色显示器</a:t>
            </a:r>
            <a:r>
              <a:rPr lang="zh-CN" altLang="en-US" sz="2800">
                <a:latin typeface="宋体" pitchFamily="2" charset="-122"/>
              </a:rPr>
              <a:t>。具有多种灰度级的黑白显示器为多灰度级</a:t>
            </a:r>
            <a:r>
              <a:rPr lang="zh-CN" altLang="en-US" sz="2800" b="1">
                <a:latin typeface="宋体" pitchFamily="2" charset="-122"/>
              </a:rPr>
              <a:t>黑白显示器</a:t>
            </a:r>
            <a:r>
              <a:rPr lang="zh-CN" altLang="en-US" sz="2800">
                <a:latin typeface="宋体" pitchFamily="2" charset="-122"/>
              </a:rPr>
              <a:t>。图像显示器的灰度级一般在</a:t>
            </a:r>
            <a:r>
              <a:rPr lang="en-US" altLang="zh-CN" sz="2800">
                <a:latin typeface="宋体" pitchFamily="2" charset="-122"/>
              </a:rPr>
              <a:t>256</a:t>
            </a:r>
            <a:r>
              <a:rPr lang="zh-CN" altLang="en-US" sz="2800">
                <a:latin typeface="宋体" pitchFamily="2" charset="-122"/>
              </a:rPr>
              <a:t>级以上。</a:t>
            </a:r>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p:spPr>
        <p:txBody>
          <a:bodyPr/>
          <a:lstStyle/>
          <a:p>
            <a:fld id="{9E8C15EA-300B-4E66-ABE2-809E4A6B5C53}" type="slidenum">
              <a:rPr lang="en-US" altLang="zh-CN" smtClean="0"/>
              <a:pPr/>
              <a:t>41</a:t>
            </a:fld>
            <a:endParaRPr lang="en-US" altLang="zh-CN" smtClean="0"/>
          </a:p>
        </p:txBody>
      </p:sp>
      <p:sp>
        <p:nvSpPr>
          <p:cNvPr id="45059" name="Rectangle 4"/>
          <p:cNvSpPr>
            <a:spLocks noChangeArrowheads="1"/>
          </p:cNvSpPr>
          <p:nvPr/>
        </p:nvSpPr>
        <p:spPr bwMode="auto">
          <a:xfrm>
            <a:off x="250825" y="527973"/>
            <a:ext cx="8569325" cy="4832092"/>
          </a:xfrm>
          <a:prstGeom prst="rect">
            <a:avLst/>
          </a:prstGeom>
          <a:solidFill>
            <a:srgbClr val="CCFFFF"/>
          </a:solidFill>
          <a:ln w="9525">
            <a:noFill/>
            <a:miter lim="800000"/>
            <a:headEnd/>
            <a:tailEnd/>
          </a:ln>
        </p:spPr>
        <p:txBody>
          <a:bodyPr anchor="ctr">
            <a:spAutoFit/>
          </a:bodyPr>
          <a:lstStyle/>
          <a:p>
            <a:r>
              <a:rPr lang="en-US" altLang="zh-CN" sz="2800" b="1" dirty="0">
                <a:latin typeface="宋体" pitchFamily="2" charset="-122"/>
              </a:rPr>
              <a:t>2.</a:t>
            </a:r>
            <a:r>
              <a:rPr lang="zh-CN" altLang="en-US" sz="2800" b="1" dirty="0">
                <a:latin typeface="宋体" pitchFamily="2" charset="-122"/>
              </a:rPr>
              <a:t>刷新和刷新存储器</a:t>
            </a:r>
          </a:p>
          <a:p>
            <a:r>
              <a:rPr lang="zh-CN" altLang="en-US" sz="2800" dirty="0">
                <a:latin typeface="宋体" pitchFamily="2" charset="-122"/>
              </a:rPr>
              <a:t>   刷新：电子束打在荧光粉上引起的发光只能维持几十毫秒的时间。因此必须让电子束反复不断地扫描整个屏幕，该过程称为刷新。刷新频率越高，显示越没有闪烁</a:t>
            </a:r>
            <a:r>
              <a:rPr lang="zh-CN" altLang="en-US" sz="2800" dirty="0" smtClean="0">
                <a:latin typeface="宋体" pitchFamily="2" charset="-122"/>
              </a:rPr>
              <a:t>。</a:t>
            </a:r>
            <a:endParaRPr lang="en-US" altLang="zh-CN" sz="2800" dirty="0" smtClean="0">
              <a:latin typeface="宋体" pitchFamily="2" charset="-122"/>
            </a:endParaRPr>
          </a:p>
          <a:p>
            <a:r>
              <a:rPr lang="zh-CN" altLang="en-US" sz="2800" dirty="0" smtClean="0">
                <a:latin typeface="宋体" pitchFamily="2" charset="-122"/>
              </a:rPr>
              <a:t>    </a:t>
            </a:r>
            <a:r>
              <a:rPr lang="zh-CN" altLang="en-US" sz="2800" dirty="0">
                <a:latin typeface="宋体" pitchFamily="2" charset="-122"/>
              </a:rPr>
              <a:t>刷新存储器（视频存储器、显存）：为刷新提供信号的存储器。容量取决于分辨率和灰度级。如</a:t>
            </a:r>
            <a:r>
              <a:rPr lang="en-US" altLang="zh-CN" sz="2800" dirty="0">
                <a:latin typeface="宋体" pitchFamily="2" charset="-122"/>
              </a:rPr>
              <a:t>1024*768</a:t>
            </a:r>
            <a:r>
              <a:rPr lang="zh-CN" altLang="en-US" sz="2800" dirty="0">
                <a:latin typeface="宋体" pitchFamily="2" charset="-122"/>
              </a:rPr>
              <a:t>，</a:t>
            </a:r>
            <a:r>
              <a:rPr lang="en-US" altLang="zh-CN" sz="2800" dirty="0">
                <a:latin typeface="宋体" pitchFamily="2" charset="-122"/>
              </a:rPr>
              <a:t>32</a:t>
            </a:r>
            <a:r>
              <a:rPr lang="zh-CN" altLang="en-US" sz="2800" dirty="0">
                <a:latin typeface="宋体" pitchFamily="2" charset="-122"/>
              </a:rPr>
              <a:t>位真彩色，需要</a:t>
            </a:r>
            <a:r>
              <a:rPr lang="en-US" altLang="zh-CN" sz="2800" dirty="0">
                <a:latin typeface="宋体" pitchFamily="2" charset="-122"/>
              </a:rPr>
              <a:t>1024*768*32/8B=3MB</a:t>
            </a:r>
            <a:r>
              <a:rPr lang="zh-CN" altLang="en-US" sz="2800" dirty="0">
                <a:latin typeface="宋体" pitchFamily="2" charset="-122"/>
              </a:rPr>
              <a:t>，其存取周期必须满足刷新频率的要求。设上例中要求刷新频率为</a:t>
            </a:r>
            <a:r>
              <a:rPr lang="en-US" altLang="zh-CN" sz="2800" dirty="0">
                <a:latin typeface="宋体" pitchFamily="2" charset="-122"/>
              </a:rPr>
              <a:t>75Hz</a:t>
            </a:r>
            <a:r>
              <a:rPr lang="zh-CN" altLang="en-US" sz="2800" dirty="0">
                <a:latin typeface="宋体" pitchFamily="2" charset="-122"/>
              </a:rPr>
              <a:t>，则刷新存储器的总带宽为</a:t>
            </a:r>
            <a:r>
              <a:rPr lang="en-US" altLang="zh-CN" sz="2800" dirty="0">
                <a:latin typeface="宋体" pitchFamily="2" charset="-122"/>
              </a:rPr>
              <a:t>75*3MBPS=225BPS</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p:spPr>
        <p:txBody>
          <a:bodyPr/>
          <a:lstStyle/>
          <a:p>
            <a:fld id="{C3A2087B-D270-42C9-8176-69CC9CC01BA4}" type="slidenum">
              <a:rPr lang="en-US" altLang="zh-CN" smtClean="0"/>
              <a:pPr/>
              <a:t>42</a:t>
            </a:fld>
            <a:endParaRPr lang="en-US" altLang="zh-CN" smtClean="0"/>
          </a:p>
        </p:txBody>
      </p:sp>
      <p:sp>
        <p:nvSpPr>
          <p:cNvPr id="46083" name="Rectangle 2"/>
          <p:cNvSpPr>
            <a:spLocks noChangeArrowheads="1"/>
          </p:cNvSpPr>
          <p:nvPr/>
        </p:nvSpPr>
        <p:spPr bwMode="auto">
          <a:xfrm>
            <a:off x="352638" y="141973"/>
            <a:ext cx="8583612" cy="3108543"/>
          </a:xfrm>
          <a:prstGeom prst="rect">
            <a:avLst/>
          </a:prstGeom>
          <a:solidFill>
            <a:srgbClr val="CCFFFF"/>
          </a:solidFill>
          <a:ln w="9525">
            <a:noFill/>
            <a:miter lim="800000"/>
            <a:headEnd/>
            <a:tailEnd/>
          </a:ln>
        </p:spPr>
        <p:txBody>
          <a:bodyPr anchor="ctr">
            <a:spAutoFit/>
          </a:bodyPr>
          <a:lstStyle/>
          <a:p>
            <a:pPr eaLnBrk="0" hangingPunct="0"/>
            <a:r>
              <a:rPr lang="en-US" altLang="zh-CN" sz="2800" b="1" dirty="0" smtClean="0">
                <a:latin typeface="宋体" pitchFamily="2" charset="-122"/>
              </a:rPr>
              <a:t>7.5.2 </a:t>
            </a:r>
            <a:r>
              <a:rPr lang="zh-CN" altLang="en-US" sz="2800" b="1" dirty="0">
                <a:latin typeface="宋体" pitchFamily="2" charset="-122"/>
              </a:rPr>
              <a:t>字符</a:t>
            </a:r>
            <a:r>
              <a:rPr lang="en-US" altLang="zh-CN" sz="2800" b="1" dirty="0">
                <a:latin typeface="宋体" pitchFamily="2" charset="-122"/>
              </a:rPr>
              <a:t>/</a:t>
            </a:r>
            <a:r>
              <a:rPr lang="zh-CN" altLang="en-US" sz="2800" b="1" dirty="0">
                <a:latin typeface="宋体" pitchFamily="2" charset="-122"/>
              </a:rPr>
              <a:t>图形显示器</a:t>
            </a:r>
            <a:r>
              <a:rPr lang="zh-CN" altLang="en-US" sz="2400" dirty="0">
                <a:latin typeface="宋体" pitchFamily="2" charset="-122"/>
              </a:rPr>
              <a:t> 　</a:t>
            </a:r>
            <a:r>
              <a:rPr lang="zh-CN" altLang="en-US" sz="2400" i="1" dirty="0">
                <a:latin typeface="宋体" pitchFamily="2" charset="-122"/>
              </a:rPr>
              <a:t>　　　　</a:t>
            </a:r>
            <a:endParaRPr lang="zh-CN" altLang="en-US" sz="2400" dirty="0">
              <a:latin typeface="宋体" pitchFamily="2" charset="-122"/>
            </a:endParaRPr>
          </a:p>
          <a:p>
            <a:pPr eaLnBrk="0" hangingPunct="0"/>
            <a:r>
              <a:rPr lang="en-US" altLang="zh-CN" sz="2400" dirty="0">
                <a:latin typeface="宋体" pitchFamily="2" charset="-122"/>
              </a:rPr>
              <a:t>1.</a:t>
            </a:r>
            <a:r>
              <a:rPr lang="zh-CN" altLang="en-US" sz="2400" dirty="0">
                <a:latin typeface="宋体" pitchFamily="2" charset="-122"/>
              </a:rPr>
              <a:t>字符显示</a:t>
            </a:r>
          </a:p>
          <a:p>
            <a:pPr eaLnBrk="0" hangingPunct="0"/>
            <a:r>
              <a:rPr lang="zh-CN" altLang="en-US" sz="2400" dirty="0">
                <a:latin typeface="宋体" pitchFamily="2" charset="-122"/>
              </a:rPr>
              <a:t>　　显示字符的方法以点阵为基础。点阵是由</a:t>
            </a:r>
            <a:r>
              <a:rPr lang="en-US" altLang="zh-CN" sz="2400" dirty="0" err="1">
                <a:latin typeface="宋体" pitchFamily="2" charset="-122"/>
              </a:rPr>
              <a:t>m×n</a:t>
            </a:r>
            <a:r>
              <a:rPr lang="zh-CN" altLang="en-US" sz="2400" dirty="0">
                <a:latin typeface="宋体" pitchFamily="2" charset="-122"/>
              </a:rPr>
              <a:t>个点组成的阵列，并以此来构造字符。将点阵存入由</a:t>
            </a:r>
            <a:r>
              <a:rPr lang="en-US" altLang="zh-CN" sz="2400" dirty="0">
                <a:latin typeface="宋体" pitchFamily="2" charset="-122"/>
              </a:rPr>
              <a:t>ROM</a:t>
            </a:r>
            <a:r>
              <a:rPr lang="zh-CN" altLang="en-US" sz="2400" dirty="0">
                <a:latin typeface="宋体" pitchFamily="2" charset="-122"/>
              </a:rPr>
              <a:t>构成的字符发生器中，在</a:t>
            </a:r>
            <a:r>
              <a:rPr lang="en-US" altLang="zh-CN" sz="2400" dirty="0">
                <a:latin typeface="宋体" pitchFamily="2" charset="-122"/>
              </a:rPr>
              <a:t>CRT</a:t>
            </a:r>
            <a:r>
              <a:rPr lang="zh-CN" altLang="en-US" sz="2400" dirty="0">
                <a:latin typeface="宋体" pitchFamily="2" charset="-122"/>
              </a:rPr>
              <a:t>进行光栅扫描的过程中，从字符发生器中依次读出某个字符的点阵，按照点阵中</a:t>
            </a:r>
            <a:r>
              <a:rPr lang="en-US" altLang="zh-CN" sz="2400" dirty="0">
                <a:latin typeface="宋体" pitchFamily="2" charset="-122"/>
              </a:rPr>
              <a:t>0</a:t>
            </a:r>
            <a:r>
              <a:rPr lang="zh-CN" altLang="en-US" sz="2400" dirty="0">
                <a:latin typeface="宋体" pitchFamily="2" charset="-122"/>
              </a:rPr>
              <a:t>和</a:t>
            </a:r>
            <a:r>
              <a:rPr lang="en-US" altLang="zh-CN" sz="2400" dirty="0">
                <a:latin typeface="宋体" pitchFamily="2" charset="-122"/>
              </a:rPr>
              <a:t>1</a:t>
            </a:r>
            <a:r>
              <a:rPr lang="zh-CN" altLang="en-US" sz="2400" dirty="0">
                <a:latin typeface="宋体" pitchFamily="2" charset="-122"/>
              </a:rPr>
              <a:t>代码不同控制扫描电子束的开或关，从而在屏幕上显示出字符。       </a:t>
            </a:r>
          </a:p>
          <a:p>
            <a:pPr eaLnBrk="0" hangingPunct="0"/>
            <a:r>
              <a:rPr lang="zh-CN" altLang="en-US" sz="2400" dirty="0">
                <a:latin typeface="宋体" pitchFamily="2" charset="-122"/>
              </a:rPr>
              <a:t>　　点阵的多少取决于显示字符的质量和字符窗口的大小。</a:t>
            </a:r>
          </a:p>
        </p:txBody>
      </p:sp>
      <p:pic>
        <p:nvPicPr>
          <p:cNvPr id="46084" name="Picture 3" descr="7a15"/>
          <p:cNvPicPr>
            <a:picLocks noChangeAspect="1" noChangeArrowheads="1"/>
          </p:cNvPicPr>
          <p:nvPr/>
        </p:nvPicPr>
        <p:blipFill>
          <a:blip r:embed="rId2"/>
          <a:srcRect/>
          <a:stretch>
            <a:fillRect/>
          </a:stretch>
        </p:blipFill>
        <p:spPr bwMode="auto">
          <a:xfrm>
            <a:off x="611188" y="3429000"/>
            <a:ext cx="7848600" cy="2697163"/>
          </a:xfrm>
          <a:prstGeom prst="rect">
            <a:avLst/>
          </a:prstGeom>
          <a:noFill/>
          <a:ln w="9525">
            <a:noFill/>
            <a:miter lim="800000"/>
            <a:headEnd/>
            <a:tailEnd/>
          </a:ln>
        </p:spPr>
      </p:pic>
      <p:sp>
        <p:nvSpPr>
          <p:cNvPr id="82948" name="Rectangle 4"/>
          <p:cNvSpPr>
            <a:spLocks noChangeArrowheads="1"/>
          </p:cNvSpPr>
          <p:nvPr/>
        </p:nvSpPr>
        <p:spPr bwMode="auto">
          <a:xfrm>
            <a:off x="226817" y="159765"/>
            <a:ext cx="8713788" cy="3124200"/>
          </a:xfrm>
          <a:prstGeom prst="rect">
            <a:avLst/>
          </a:prstGeom>
          <a:solidFill>
            <a:srgbClr val="CCFFFF"/>
          </a:solid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Char char="l"/>
            </a:pPr>
            <a:r>
              <a:rPr lang="zh-CN" altLang="en-US" sz="2400" dirty="0">
                <a:latin typeface="宋体" pitchFamily="2" charset="-122"/>
              </a:rPr>
              <a:t>字符显示器原理</a:t>
            </a:r>
          </a:p>
          <a:p>
            <a:pPr marL="692150" lvl="1" indent="-347663">
              <a:lnSpc>
                <a:spcPct val="90000"/>
              </a:lnSpc>
              <a:spcBef>
                <a:spcPct val="20000"/>
              </a:spcBef>
              <a:buClr>
                <a:schemeClr val="accent2"/>
              </a:buClr>
              <a:buSzPct val="70000"/>
              <a:buFont typeface="Wingdings" pitchFamily="2" charset="2"/>
              <a:buChar char="l"/>
            </a:pPr>
            <a:r>
              <a:rPr lang="zh-CN" altLang="en-US" sz="2400" dirty="0">
                <a:latin typeface="宋体" pitchFamily="2" charset="-122"/>
              </a:rPr>
              <a:t>显示系统由显示卡和显示器组成</a:t>
            </a:r>
          </a:p>
          <a:p>
            <a:pPr marL="692150" lvl="1" indent="-347663">
              <a:lnSpc>
                <a:spcPct val="90000"/>
              </a:lnSpc>
              <a:spcBef>
                <a:spcPct val="20000"/>
              </a:spcBef>
              <a:buClr>
                <a:schemeClr val="accent2"/>
              </a:buClr>
              <a:buSzPct val="70000"/>
              <a:buFont typeface="Wingdings" pitchFamily="2" charset="2"/>
              <a:buChar char="l"/>
            </a:pPr>
            <a:r>
              <a:rPr lang="zh-CN" altLang="en-US" sz="2400" dirty="0">
                <a:latin typeface="宋体" pitchFamily="2" charset="-122"/>
              </a:rPr>
              <a:t>显示字符的方法以点阵为基础 </a:t>
            </a:r>
          </a:p>
          <a:p>
            <a:pPr marL="692150" lvl="1" indent="-347663">
              <a:lnSpc>
                <a:spcPct val="90000"/>
              </a:lnSpc>
              <a:spcBef>
                <a:spcPct val="20000"/>
              </a:spcBef>
              <a:buClr>
                <a:schemeClr val="accent2"/>
              </a:buClr>
              <a:buSzPct val="70000"/>
              <a:buFont typeface="Wingdings" pitchFamily="2" charset="2"/>
              <a:buChar char="l"/>
            </a:pPr>
            <a:r>
              <a:rPr lang="zh-CN" altLang="en-US" sz="2400" dirty="0">
                <a:latin typeface="宋体" pitchFamily="2" charset="-122"/>
              </a:rPr>
              <a:t>字符点阵存放于字符发生器（</a:t>
            </a:r>
            <a:r>
              <a:rPr lang="en-US" altLang="zh-CN" sz="2400" dirty="0">
                <a:latin typeface="宋体" pitchFamily="2" charset="-122"/>
              </a:rPr>
              <a:t>ROM</a:t>
            </a:r>
            <a:r>
              <a:rPr lang="zh-CN" altLang="en-US" sz="2400" dirty="0">
                <a:latin typeface="宋体" pitchFamily="2" charset="-122"/>
              </a:rPr>
              <a:t>）中</a:t>
            </a:r>
          </a:p>
          <a:p>
            <a:pPr marL="692150" lvl="1" indent="-347663">
              <a:lnSpc>
                <a:spcPct val="90000"/>
              </a:lnSpc>
              <a:spcBef>
                <a:spcPct val="20000"/>
              </a:spcBef>
              <a:buClr>
                <a:schemeClr val="accent2"/>
              </a:buClr>
              <a:buSzPct val="70000"/>
              <a:buFont typeface="Wingdings" pitchFamily="2" charset="2"/>
              <a:buChar char="l"/>
            </a:pPr>
            <a:r>
              <a:rPr lang="zh-CN" altLang="en-US" sz="2400" dirty="0">
                <a:latin typeface="宋体" pitchFamily="2" charset="-122"/>
              </a:rPr>
              <a:t>字符窗口：字符点阵和字符间隔，如</a:t>
            </a:r>
            <a:r>
              <a:rPr lang="en-US" altLang="zh-CN" sz="2400" dirty="0">
                <a:latin typeface="宋体" pitchFamily="2" charset="-122"/>
              </a:rPr>
              <a:t>IBM/PC</a:t>
            </a:r>
            <a:r>
              <a:rPr lang="zh-CN" altLang="en-US" sz="2400" dirty="0">
                <a:latin typeface="宋体" pitchFamily="2" charset="-122"/>
              </a:rPr>
              <a:t>中</a:t>
            </a:r>
          </a:p>
          <a:p>
            <a:pPr marL="987425" lvl="2" indent="-293688">
              <a:lnSpc>
                <a:spcPct val="90000"/>
              </a:lnSpc>
              <a:spcBef>
                <a:spcPct val="20000"/>
              </a:spcBef>
              <a:buClr>
                <a:schemeClr val="accent1"/>
              </a:buClr>
              <a:buSzPct val="70000"/>
              <a:buFont typeface="Wingdings" pitchFamily="2" charset="2"/>
              <a:buChar char="l"/>
            </a:pPr>
            <a:r>
              <a:rPr lang="en-US" altLang="zh-CN" sz="2400" dirty="0">
                <a:latin typeface="宋体" pitchFamily="2" charset="-122"/>
              </a:rPr>
              <a:t>80</a:t>
            </a:r>
            <a:r>
              <a:rPr lang="zh-CN" altLang="en-US" sz="2400" dirty="0">
                <a:latin typeface="宋体" pitchFamily="2" charset="-122"/>
              </a:rPr>
              <a:t>列*</a:t>
            </a:r>
            <a:r>
              <a:rPr lang="en-US" altLang="zh-CN" sz="2400" dirty="0">
                <a:latin typeface="宋体" pitchFamily="2" charset="-122"/>
              </a:rPr>
              <a:t>25</a:t>
            </a:r>
            <a:r>
              <a:rPr lang="zh-CN" altLang="en-US" sz="2400" dirty="0">
                <a:latin typeface="宋体" pitchFamily="2" charset="-122"/>
              </a:rPr>
              <a:t>行</a:t>
            </a:r>
            <a:r>
              <a:rPr lang="en-US" altLang="zh-CN" sz="2400" dirty="0">
                <a:latin typeface="宋体" pitchFamily="2" charset="-122"/>
              </a:rPr>
              <a:t>=2000</a:t>
            </a:r>
            <a:r>
              <a:rPr lang="zh-CN" altLang="en-US" sz="2400" dirty="0">
                <a:latin typeface="宋体" pitchFamily="2" charset="-122"/>
              </a:rPr>
              <a:t>个字符窗口</a:t>
            </a:r>
          </a:p>
          <a:p>
            <a:pPr marL="987425" lvl="2" indent="-293688">
              <a:lnSpc>
                <a:spcPct val="90000"/>
              </a:lnSpc>
              <a:spcBef>
                <a:spcPct val="20000"/>
              </a:spcBef>
              <a:buClr>
                <a:schemeClr val="accent1"/>
              </a:buClr>
              <a:buSzPct val="70000"/>
              <a:buFont typeface="Wingdings" pitchFamily="2" charset="2"/>
              <a:buChar char="l"/>
            </a:pPr>
            <a:r>
              <a:rPr lang="zh-CN" altLang="en-US" sz="2400" dirty="0">
                <a:latin typeface="宋体" pitchFamily="2" charset="-122"/>
              </a:rPr>
              <a:t>单色字符方式下，每个字符窗口为</a:t>
            </a:r>
            <a:r>
              <a:rPr lang="en-US" altLang="zh-CN" sz="2400" dirty="0">
                <a:latin typeface="宋体" pitchFamily="2" charset="-122"/>
              </a:rPr>
              <a:t>9*14</a:t>
            </a:r>
            <a:r>
              <a:rPr lang="zh-CN" altLang="en-US" sz="2400" dirty="0">
                <a:latin typeface="宋体" pitchFamily="2" charset="-122"/>
              </a:rPr>
              <a:t>，字符点阵为</a:t>
            </a:r>
            <a:r>
              <a:rPr lang="en-US" altLang="zh-CN" sz="2400" dirty="0">
                <a:latin typeface="宋体" pitchFamily="2" charset="-122"/>
              </a:rPr>
              <a:t>7*9</a:t>
            </a:r>
            <a:endParaRPr lang="en-US" altLang="zh-CN" sz="2100" dirty="0">
              <a:latin typeface="宋体" pitchFamily="2" charset="-122"/>
            </a:endParaRPr>
          </a:p>
        </p:txBody>
      </p:sp>
      <p:sp>
        <p:nvSpPr>
          <p:cNvPr id="82949" name="Rectangle 5"/>
          <p:cNvSpPr>
            <a:spLocks noChangeArrowheads="1"/>
          </p:cNvSpPr>
          <p:nvPr/>
        </p:nvSpPr>
        <p:spPr bwMode="auto">
          <a:xfrm>
            <a:off x="179512" y="160784"/>
            <a:ext cx="8686800" cy="3124200"/>
          </a:xfrm>
          <a:prstGeom prst="rect">
            <a:avLst/>
          </a:prstGeom>
          <a:solidFill>
            <a:srgbClr val="CCFFFF"/>
          </a:solid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Char char="l"/>
            </a:pPr>
            <a:r>
              <a:rPr lang="zh-CN" altLang="en-US" sz="2800" dirty="0">
                <a:latin typeface="宋体" pitchFamily="2" charset="-122"/>
              </a:rPr>
              <a:t>字符显示器原理</a:t>
            </a:r>
          </a:p>
          <a:p>
            <a:pPr marL="692150" lvl="1" indent="-347663">
              <a:lnSpc>
                <a:spcPct val="90000"/>
              </a:lnSpc>
              <a:spcBef>
                <a:spcPct val="20000"/>
              </a:spcBef>
              <a:buClr>
                <a:schemeClr val="accent2"/>
              </a:buClr>
              <a:buSzPct val="70000"/>
              <a:buFont typeface="Wingdings" pitchFamily="2" charset="2"/>
              <a:buChar char="l"/>
            </a:pPr>
            <a:r>
              <a:rPr lang="zh-CN" altLang="en-US" sz="2400" dirty="0">
                <a:latin typeface="宋体" pitchFamily="2" charset="-122"/>
              </a:rPr>
              <a:t>屏幕上所有字符窗口的</a:t>
            </a:r>
            <a:r>
              <a:rPr lang="en-US" altLang="zh-CN" sz="2400" dirty="0">
                <a:latin typeface="宋体" pitchFamily="2" charset="-122"/>
              </a:rPr>
              <a:t>ASCII</a:t>
            </a:r>
            <a:r>
              <a:rPr lang="zh-CN" altLang="en-US" sz="2400" dirty="0">
                <a:latin typeface="宋体" pitchFamily="2" charset="-122"/>
              </a:rPr>
              <a:t>存放在视频存储器</a:t>
            </a:r>
            <a:r>
              <a:rPr lang="en-US" altLang="zh-CN" sz="2400" dirty="0">
                <a:latin typeface="宋体" pitchFamily="2" charset="-122"/>
              </a:rPr>
              <a:t>VRAM</a:t>
            </a:r>
            <a:r>
              <a:rPr lang="zh-CN" altLang="en-US" sz="2400" dirty="0">
                <a:latin typeface="宋体" pitchFamily="2" charset="-122"/>
              </a:rPr>
              <a:t>中，以备刷新，字符发生器</a:t>
            </a:r>
            <a:r>
              <a:rPr lang="en-US" altLang="zh-CN" sz="2400" dirty="0">
                <a:latin typeface="宋体" pitchFamily="2" charset="-122"/>
              </a:rPr>
              <a:t>ROM</a:t>
            </a:r>
            <a:r>
              <a:rPr lang="zh-CN" altLang="en-US" sz="2400" dirty="0">
                <a:latin typeface="宋体" pitchFamily="2" charset="-122"/>
              </a:rPr>
              <a:t>的高位地址来自</a:t>
            </a:r>
            <a:r>
              <a:rPr lang="en-US" altLang="zh-CN" sz="2400" dirty="0">
                <a:latin typeface="宋体" pitchFamily="2" charset="-122"/>
              </a:rPr>
              <a:t>VRAM</a:t>
            </a:r>
            <a:r>
              <a:rPr lang="zh-CN" altLang="en-US" sz="2400" dirty="0">
                <a:latin typeface="宋体" pitchFamily="2" charset="-122"/>
              </a:rPr>
              <a:t>的</a:t>
            </a:r>
            <a:r>
              <a:rPr lang="en-US" altLang="zh-CN" sz="2400" dirty="0">
                <a:latin typeface="宋体" pitchFamily="2" charset="-122"/>
              </a:rPr>
              <a:t>ASCII</a:t>
            </a:r>
            <a:r>
              <a:rPr lang="zh-CN" altLang="en-US" sz="2400" dirty="0">
                <a:latin typeface="宋体" pitchFamily="2" charset="-122"/>
              </a:rPr>
              <a:t>代码，低位地址来自光栅地址计数器的输出</a:t>
            </a:r>
            <a:r>
              <a:rPr lang="en-US" altLang="zh-CN" sz="2400" dirty="0">
                <a:latin typeface="宋体" pitchFamily="2" charset="-122"/>
              </a:rPr>
              <a:t>RA3—RA0</a:t>
            </a:r>
            <a:r>
              <a:rPr lang="zh-CN" altLang="en-US" sz="2400" dirty="0">
                <a:latin typeface="宋体" pitchFamily="2" charset="-122"/>
              </a:rPr>
              <a:t>，它具体指向这个字形点阵中的某个字节。在显示过程中，按照</a:t>
            </a:r>
            <a:r>
              <a:rPr lang="en-US" altLang="zh-CN" sz="2400" dirty="0">
                <a:latin typeface="宋体" pitchFamily="2" charset="-122"/>
              </a:rPr>
              <a:t>VRAM</a:t>
            </a:r>
            <a:r>
              <a:rPr lang="zh-CN" altLang="en-US" sz="2400" dirty="0">
                <a:latin typeface="宋体" pitchFamily="2" charset="-122"/>
              </a:rPr>
              <a:t>中的</a:t>
            </a:r>
            <a:r>
              <a:rPr lang="en-US" altLang="zh-CN" sz="2400" dirty="0">
                <a:latin typeface="宋体" pitchFamily="2" charset="-122"/>
              </a:rPr>
              <a:t>ASCII</a:t>
            </a:r>
            <a:r>
              <a:rPr lang="zh-CN" altLang="en-US" sz="2400" dirty="0">
                <a:latin typeface="宋体" pitchFamily="2" charset="-122"/>
              </a:rPr>
              <a:t>码和光栅地址计数器访问</a:t>
            </a:r>
            <a:r>
              <a:rPr lang="en-US" altLang="zh-CN" sz="2400" dirty="0">
                <a:latin typeface="宋体" pitchFamily="2" charset="-122"/>
              </a:rPr>
              <a:t>ROM</a:t>
            </a:r>
            <a:r>
              <a:rPr lang="zh-CN" altLang="en-US" sz="2400" dirty="0">
                <a:latin typeface="宋体" pitchFamily="2" charset="-122"/>
              </a:rPr>
              <a:t>，依次取出字形点阵，就可以完成一个字符的输出。</a:t>
            </a:r>
            <a:r>
              <a:rPr lang="zh-CN" altLang="en-US" sz="300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dissolve">
                                      <p:cBhvr>
                                        <p:cTn id="7" dur="500"/>
                                        <p:tgtEl>
                                          <p:spTgt spid="82948"/>
                                        </p:tgtEl>
                                      </p:cBhvr>
                                    </p:animEffect>
                                  </p:childTnLst>
                                  <p:subTnLst>
                                    <p:set>
                                      <p:cBhvr override="childStyle">
                                        <p:cTn dur="1" fill="hold" display="0" masterRel="nextClick" afterEffect="1"/>
                                        <p:tgtEl>
                                          <p:spTgt spid="8294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49"/>
                                        </p:tgtEl>
                                        <p:attrNameLst>
                                          <p:attrName>style.visibility</p:attrName>
                                        </p:attrNameLst>
                                      </p:cBhvr>
                                      <p:to>
                                        <p:strVal val="visible"/>
                                      </p:to>
                                    </p:set>
                                    <p:animEffect transition="in" filter="dissolve">
                                      <p:cBhvr>
                                        <p:cTn id="12" dur="500"/>
                                        <p:tgtEl>
                                          <p:spTgt spid="8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animBg="1" autoUpdateAnimBg="0"/>
      <p:bldP spid="82949"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p:spPr>
        <p:txBody>
          <a:bodyPr/>
          <a:lstStyle/>
          <a:p>
            <a:fld id="{F0954FCA-AB2D-4B9E-AEF0-89EDBC1204C6}" type="slidenum">
              <a:rPr lang="en-US" altLang="zh-CN" smtClean="0"/>
              <a:pPr/>
              <a:t>43</a:t>
            </a:fld>
            <a:endParaRPr lang="en-US" altLang="zh-CN" smtClean="0"/>
          </a:p>
        </p:txBody>
      </p:sp>
      <p:sp>
        <p:nvSpPr>
          <p:cNvPr id="47107" name="Rectangle 2"/>
          <p:cNvSpPr>
            <a:spLocks noChangeArrowheads="1"/>
          </p:cNvSpPr>
          <p:nvPr/>
        </p:nvSpPr>
        <p:spPr bwMode="auto">
          <a:xfrm>
            <a:off x="323850" y="404813"/>
            <a:ext cx="8496300" cy="6070600"/>
          </a:xfrm>
          <a:prstGeom prst="rect">
            <a:avLst/>
          </a:prstGeom>
          <a:solidFill>
            <a:srgbClr val="CCFFFF"/>
          </a:solidFill>
          <a:ln w="9525">
            <a:noFill/>
            <a:miter lim="800000"/>
            <a:headEnd/>
            <a:tailEnd/>
          </a:ln>
        </p:spPr>
        <p:txBody>
          <a:bodyPr anchor="ctr">
            <a:spAutoFit/>
          </a:bodyPr>
          <a:lstStyle/>
          <a:p>
            <a:r>
              <a:rPr lang="en-US" altLang="zh-CN" sz="2800" b="1">
                <a:latin typeface="宋体" pitchFamily="2" charset="-122"/>
              </a:rPr>
              <a:t>2.</a:t>
            </a:r>
            <a:r>
              <a:rPr lang="zh-CN" altLang="en-US" sz="2800" b="1">
                <a:latin typeface="宋体" pitchFamily="2" charset="-122"/>
              </a:rPr>
              <a:t>图形显示</a:t>
            </a:r>
            <a:endParaRPr lang="zh-CN" altLang="en-US" sz="2800">
              <a:latin typeface="宋体" pitchFamily="2" charset="-122"/>
            </a:endParaRPr>
          </a:p>
          <a:p>
            <a:r>
              <a:rPr lang="zh-CN" altLang="en-US" sz="2800" b="1">
                <a:latin typeface="宋体" pitchFamily="2" charset="-122"/>
              </a:rPr>
              <a:t>　　</a:t>
            </a:r>
            <a:r>
              <a:rPr lang="zh-CN" altLang="en-US" sz="2800">
                <a:latin typeface="宋体" pitchFamily="2" charset="-122"/>
              </a:rPr>
              <a:t>图形显示是指用计算机手段表示现实世界的各种事物，并形象逼真地加以显示。根据产生图形的方法，分随机扫描图形显示器和光栅扫描图形显示器。 </a:t>
            </a:r>
          </a:p>
          <a:p>
            <a:r>
              <a:rPr lang="en-US" altLang="zh-CN" sz="2800" b="1">
                <a:latin typeface="宋体" pitchFamily="2" charset="-122"/>
              </a:rPr>
              <a:t>(1)</a:t>
            </a:r>
            <a:r>
              <a:rPr lang="zh-CN" altLang="en-US" sz="2800" b="1">
                <a:latin typeface="宋体" pitchFamily="2" charset="-122"/>
              </a:rPr>
              <a:t>随机扫描图形显示器</a:t>
            </a:r>
            <a:endParaRPr lang="zh-CN" altLang="en-US" sz="2800">
              <a:latin typeface="宋体" pitchFamily="2" charset="-122"/>
            </a:endParaRPr>
          </a:p>
          <a:p>
            <a:r>
              <a:rPr lang="zh-CN" altLang="en-US" sz="2800">
                <a:latin typeface="宋体" pitchFamily="2" charset="-122"/>
              </a:rPr>
              <a:t>　　工作原理是将所显示图形的一组坐标点和绘图命令组成显示文件存放在缓冲存储器，缓存中的显示文件送矢量</a:t>
            </a:r>
            <a:r>
              <a:rPr lang="en-US" altLang="zh-CN" sz="2800">
                <a:latin typeface="宋体" pitchFamily="2" charset="-122"/>
              </a:rPr>
              <a:t>(</a:t>
            </a:r>
            <a:r>
              <a:rPr lang="zh-CN" altLang="en-US" sz="2800">
                <a:latin typeface="宋体" pitchFamily="2" charset="-122"/>
              </a:rPr>
              <a:t>线段</a:t>
            </a:r>
            <a:r>
              <a:rPr lang="en-US" altLang="zh-CN" sz="2800">
                <a:latin typeface="宋体" pitchFamily="2" charset="-122"/>
              </a:rPr>
              <a:t>)</a:t>
            </a:r>
            <a:r>
              <a:rPr lang="zh-CN" altLang="en-US" sz="2800">
                <a:latin typeface="宋体" pitchFamily="2" charset="-122"/>
              </a:rPr>
              <a:t>产生器，产生相应的模拟电压，直接控制电子束在屏幕上的移动。为了在屏幕上保留持久稳定的图像，需要按一定的频率对屏幕反复刷新。</a:t>
            </a:r>
          </a:p>
          <a:p>
            <a:r>
              <a:rPr lang="zh-CN" altLang="en-US" sz="2800">
                <a:latin typeface="宋体" pitchFamily="2" charset="-122"/>
              </a:rPr>
              <a:t>　　这种显示器的优点是分辨率高</a:t>
            </a:r>
            <a:r>
              <a:rPr lang="en-US" altLang="zh-CN" sz="2800">
                <a:latin typeface="宋体" pitchFamily="2" charset="-122"/>
              </a:rPr>
              <a:t>(</a:t>
            </a:r>
            <a:r>
              <a:rPr lang="zh-CN" altLang="en-US" sz="2800">
                <a:latin typeface="宋体" pitchFamily="2" charset="-122"/>
              </a:rPr>
              <a:t>可达</a:t>
            </a:r>
            <a:r>
              <a:rPr lang="en-US" altLang="zh-CN" sz="2800">
                <a:latin typeface="宋体" pitchFamily="2" charset="-122"/>
              </a:rPr>
              <a:t>4096×4096</a:t>
            </a:r>
            <a:r>
              <a:rPr lang="zh-CN" altLang="en-US" sz="2800">
                <a:latin typeface="宋体" pitchFamily="2" charset="-122"/>
              </a:rPr>
              <a:t>个像素</a:t>
            </a:r>
            <a:r>
              <a:rPr lang="en-US" altLang="zh-CN" sz="2800">
                <a:latin typeface="宋体" pitchFamily="2" charset="-122"/>
              </a:rPr>
              <a:t>)</a:t>
            </a:r>
            <a:r>
              <a:rPr lang="zh-CN" altLang="en-US" sz="2800">
                <a:latin typeface="宋体" pitchFamily="2" charset="-122"/>
              </a:rPr>
              <a:t>，显示的曲线平滑。目前高质量图形显示器采用这种随机扫描方式。缺点是当显示复杂图形时，会有闪烁感。</a:t>
            </a:r>
            <a:endParaRPr lang="zh-CN" altLang="en-US" sz="2400">
              <a:latin typeface="宋体"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p:spPr>
        <p:txBody>
          <a:bodyPr/>
          <a:lstStyle/>
          <a:p>
            <a:fld id="{9DBCD04A-230D-492D-B69C-995E1D6E358F}" type="slidenum">
              <a:rPr lang="en-US" altLang="zh-CN" smtClean="0"/>
              <a:pPr/>
              <a:t>44</a:t>
            </a:fld>
            <a:endParaRPr lang="en-US" altLang="zh-CN" smtClean="0"/>
          </a:p>
        </p:txBody>
      </p:sp>
      <p:sp>
        <p:nvSpPr>
          <p:cNvPr id="48131" name="Rectangle 2"/>
          <p:cNvSpPr>
            <a:spLocks noChangeArrowheads="1"/>
          </p:cNvSpPr>
          <p:nvPr/>
        </p:nvSpPr>
        <p:spPr bwMode="auto">
          <a:xfrm>
            <a:off x="468313" y="549275"/>
            <a:ext cx="8135937" cy="5643563"/>
          </a:xfrm>
          <a:prstGeom prst="rect">
            <a:avLst/>
          </a:prstGeom>
          <a:solidFill>
            <a:srgbClr val="CCFFFF"/>
          </a:solidFill>
          <a:ln w="9525">
            <a:noFill/>
            <a:miter lim="800000"/>
            <a:headEnd/>
            <a:tailEnd/>
          </a:ln>
        </p:spPr>
        <p:txBody>
          <a:bodyPr anchor="ctr">
            <a:spAutoFit/>
          </a:bodyPr>
          <a:lstStyle/>
          <a:p>
            <a:pPr eaLnBrk="0" hangingPunct="0"/>
            <a:r>
              <a:rPr lang="en-US" altLang="zh-CN" sz="2800" b="1">
                <a:latin typeface="宋体" pitchFamily="2" charset="-122"/>
              </a:rPr>
              <a:t>    (2)</a:t>
            </a:r>
            <a:r>
              <a:rPr lang="zh-CN" altLang="en-US" sz="2800" b="1">
                <a:latin typeface="宋体" pitchFamily="2" charset="-122"/>
              </a:rPr>
              <a:t>光栅扫描图形显示器</a:t>
            </a:r>
            <a:endParaRPr lang="zh-CN" altLang="en-US" sz="2800">
              <a:latin typeface="宋体" pitchFamily="2" charset="-122"/>
            </a:endParaRPr>
          </a:p>
          <a:p>
            <a:pPr eaLnBrk="0" hangingPunct="0"/>
            <a:r>
              <a:rPr lang="zh-CN" altLang="en-US" sz="2800">
                <a:latin typeface="宋体" pitchFamily="2" charset="-122"/>
              </a:rPr>
              <a:t>　　产生图形的方法称为</a:t>
            </a:r>
            <a:r>
              <a:rPr lang="zh-CN" altLang="en-US" sz="2800" b="1">
                <a:latin typeface="宋体" pitchFamily="2" charset="-122"/>
              </a:rPr>
              <a:t>相邻像素串接法</a:t>
            </a:r>
            <a:r>
              <a:rPr lang="zh-CN" altLang="en-US" sz="2800">
                <a:latin typeface="宋体" pitchFamily="2" charset="-122"/>
              </a:rPr>
              <a:t>，即曲线是由相邻像素串接而成。因此光栅扫描图形显示器的原理是：把对应于屏幕上每个像素的信息都用存储器存起来，然后按地址顺序逐个地刷新显示在屏幕上。其组成结构如图：</a:t>
            </a:r>
          </a:p>
          <a:p>
            <a:pPr eaLnBrk="0" hangingPunct="0"/>
            <a:r>
              <a:rPr lang="zh-CN" altLang="en-US" sz="2800">
                <a:latin typeface="宋体" pitchFamily="2" charset="-122"/>
              </a:rPr>
              <a:t>　　光栅扫描图形显示器的优点是通用性强，灰度层次多，色调丰富，显示复杂图形时无闪烁现象；所产生的图形有阴影效应、隐藏面消除、涂色等功能。它的出现使图形学的研究从简单的线条图扩展到丰富多彩、形象逼真的各种立体及平面图形，从而扩大了计算机图形学的应用领域，成为目前流行的显示器。</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p:spPr>
        <p:txBody>
          <a:bodyPr/>
          <a:lstStyle/>
          <a:p>
            <a:fld id="{61E31D63-BC8D-42D2-8037-65A9811E3D4D}" type="slidenum">
              <a:rPr lang="en-US" altLang="zh-CN" smtClean="0"/>
              <a:pPr/>
              <a:t>45</a:t>
            </a:fld>
            <a:endParaRPr lang="en-US" altLang="zh-CN" smtClean="0"/>
          </a:p>
        </p:txBody>
      </p:sp>
      <p:sp>
        <p:nvSpPr>
          <p:cNvPr id="49155" name="Rectangle 3"/>
          <p:cNvSpPr>
            <a:spLocks noChangeArrowheads="1"/>
          </p:cNvSpPr>
          <p:nvPr/>
        </p:nvSpPr>
        <p:spPr bwMode="auto">
          <a:xfrm>
            <a:off x="250825" y="3644900"/>
            <a:ext cx="8713788" cy="3013075"/>
          </a:xfrm>
          <a:prstGeom prst="rect">
            <a:avLst/>
          </a:prstGeom>
          <a:solidFill>
            <a:srgbClr val="CCFFFF"/>
          </a:solidFill>
          <a:ln w="9525">
            <a:noFill/>
            <a:miter lim="800000"/>
            <a:headEnd/>
            <a:tailEnd/>
          </a:ln>
        </p:spPr>
        <p:txBody>
          <a:bodyPr>
            <a:spAutoFit/>
          </a:bodyPr>
          <a:lstStyle/>
          <a:p>
            <a:r>
              <a:rPr lang="en-US" altLang="zh-CN" sz="2400">
                <a:latin typeface="宋体" pitchFamily="2" charset="-122"/>
              </a:rPr>
              <a:t>    </a:t>
            </a:r>
            <a:r>
              <a:rPr lang="zh-CN" altLang="en-US" sz="2400">
                <a:latin typeface="宋体" pitchFamily="2" charset="-122"/>
              </a:rPr>
              <a:t>在</a:t>
            </a:r>
            <a:r>
              <a:rPr lang="en-US" altLang="zh-CN" sz="2400">
                <a:latin typeface="宋体" pitchFamily="2" charset="-122"/>
              </a:rPr>
              <a:t>IBM PC</a:t>
            </a:r>
            <a:r>
              <a:rPr lang="zh-CN" altLang="en-US" sz="2400">
                <a:latin typeface="宋体" pitchFamily="2" charset="-122"/>
              </a:rPr>
              <a:t>系列微型计算机系统中，汉字输出是利用通用显示器和打印机，在主机内部由通用的图形显示卡形成点阵码以后，将点阵码送到输出设备，输出设备只要具有输出点阵的能力就可以输出汉字。以这种方式输出的汉字是在设备可以画点的图形方式下实现的，因此常称这种汉字为图形汉字。</a:t>
            </a:r>
          </a:p>
          <a:p>
            <a:r>
              <a:rPr lang="zh-CN" altLang="en-US" sz="2400">
                <a:latin typeface="宋体" pitchFamily="2" charset="-122"/>
              </a:rPr>
              <a:t>    上图中，通过键盘输入的汉字编码，经代码转换程序转换成汉字机内两个字节的机内码，字形检索程序用机内码检索字模库，查出表示一个字形的</a:t>
            </a:r>
            <a:r>
              <a:rPr lang="en-US" altLang="zh-CN" sz="2400">
                <a:latin typeface="宋体" pitchFamily="2" charset="-122"/>
              </a:rPr>
              <a:t>32</a:t>
            </a:r>
            <a:r>
              <a:rPr lang="zh-CN" altLang="en-US" sz="2400">
                <a:latin typeface="宋体" pitchFamily="2" charset="-122"/>
              </a:rPr>
              <a:t>个字节字形点阵送显示输出。</a:t>
            </a:r>
          </a:p>
        </p:txBody>
      </p:sp>
      <p:pic>
        <p:nvPicPr>
          <p:cNvPr id="49156" name="Picture 4"/>
          <p:cNvPicPr>
            <a:picLocks noChangeAspect="1" noChangeArrowheads="1"/>
          </p:cNvPicPr>
          <p:nvPr/>
        </p:nvPicPr>
        <p:blipFill>
          <a:blip r:embed="rId2"/>
          <a:srcRect/>
          <a:stretch>
            <a:fillRect/>
          </a:stretch>
        </p:blipFill>
        <p:spPr bwMode="auto">
          <a:xfrm>
            <a:off x="611188" y="1052513"/>
            <a:ext cx="7489825" cy="2584450"/>
          </a:xfrm>
          <a:prstGeom prst="rect">
            <a:avLst/>
          </a:prstGeom>
          <a:noFill/>
          <a:ln w="9525">
            <a:noFill/>
            <a:miter lim="800000"/>
            <a:headEnd/>
            <a:tailEnd/>
          </a:ln>
        </p:spPr>
      </p:pic>
      <p:sp>
        <p:nvSpPr>
          <p:cNvPr id="49157" name="Rectangle 5"/>
          <p:cNvSpPr>
            <a:spLocks noChangeArrowheads="1"/>
          </p:cNvSpPr>
          <p:nvPr/>
        </p:nvSpPr>
        <p:spPr bwMode="auto">
          <a:xfrm>
            <a:off x="179388" y="188913"/>
            <a:ext cx="8640762" cy="822325"/>
          </a:xfrm>
          <a:prstGeom prst="rect">
            <a:avLst/>
          </a:prstGeom>
          <a:solidFill>
            <a:srgbClr val="CCFFFF"/>
          </a:solidFill>
          <a:ln w="9525">
            <a:noFill/>
            <a:miter lim="800000"/>
            <a:headEnd/>
            <a:tailEnd/>
          </a:ln>
        </p:spPr>
        <p:txBody>
          <a:bodyPr>
            <a:spAutoFit/>
          </a:bodyPr>
          <a:lstStyle/>
          <a:p>
            <a:r>
              <a:rPr lang="zh-CN" altLang="en-US" sz="2400">
                <a:latin typeface="宋体" pitchFamily="2" charset="-122"/>
              </a:rPr>
              <a:t>例</a:t>
            </a:r>
            <a:r>
              <a:rPr lang="en-US" altLang="zh-CN" sz="2400">
                <a:latin typeface="宋体" pitchFamily="2" charset="-122"/>
              </a:rPr>
              <a:t>3</a:t>
            </a:r>
            <a:r>
              <a:rPr lang="zh-CN" altLang="en-US" sz="2400">
                <a:latin typeface="宋体" pitchFamily="2" charset="-122"/>
              </a:rPr>
              <a:t>、下图为</a:t>
            </a:r>
            <a:r>
              <a:rPr lang="en-US" altLang="zh-CN" sz="2400">
                <a:latin typeface="宋体" pitchFamily="2" charset="-122"/>
              </a:rPr>
              <a:t>IBM PC</a:t>
            </a:r>
            <a:r>
              <a:rPr lang="zh-CN" altLang="en-US" sz="2400">
                <a:latin typeface="宋体" pitchFamily="2" charset="-122"/>
              </a:rPr>
              <a:t>机汉字显示原理图，请分析此原理图并进行文字说明。</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p:spPr>
        <p:txBody>
          <a:bodyPr/>
          <a:lstStyle/>
          <a:p>
            <a:fld id="{3AE1095D-8442-4F14-8CFA-3A702D2144AF}" type="slidenum">
              <a:rPr lang="en-US" altLang="zh-CN" smtClean="0"/>
              <a:pPr/>
              <a:t>46</a:t>
            </a:fld>
            <a:endParaRPr lang="en-US" altLang="zh-CN" smtClean="0"/>
          </a:p>
        </p:txBody>
      </p:sp>
      <p:sp>
        <p:nvSpPr>
          <p:cNvPr id="50179" name="Rectangle 2"/>
          <p:cNvSpPr>
            <a:spLocks noChangeArrowheads="1"/>
          </p:cNvSpPr>
          <p:nvPr/>
        </p:nvSpPr>
        <p:spPr bwMode="auto">
          <a:xfrm>
            <a:off x="250825" y="188913"/>
            <a:ext cx="8640763" cy="6542087"/>
          </a:xfrm>
          <a:prstGeom prst="rect">
            <a:avLst/>
          </a:prstGeom>
          <a:solidFill>
            <a:srgbClr val="CCFFFF"/>
          </a:solidFill>
          <a:ln w="9525">
            <a:solidFill>
              <a:srgbClr val="CCFFFF"/>
            </a:solidFill>
            <a:miter lim="800000"/>
            <a:headEnd/>
            <a:tailEnd/>
          </a:ln>
        </p:spPr>
        <p:txBody>
          <a:bodyPr>
            <a:spAutoFit/>
          </a:bodyPr>
          <a:lstStyle/>
          <a:p>
            <a:r>
              <a:rPr lang="en-US" altLang="zh-CN" sz="3200" b="1">
                <a:latin typeface="宋体" pitchFamily="2" charset="-122"/>
              </a:rPr>
              <a:t>7.6.3 </a:t>
            </a:r>
            <a:r>
              <a:rPr lang="zh-CN" altLang="en-US" sz="3200" b="1">
                <a:latin typeface="宋体" pitchFamily="2" charset="-122"/>
              </a:rPr>
              <a:t>图像显示设备</a:t>
            </a:r>
            <a:r>
              <a:rPr lang="zh-CN" altLang="en-US" sz="2400" b="1" i="1">
                <a:latin typeface="宋体" pitchFamily="2" charset="-122"/>
              </a:rPr>
              <a:t> 　　　</a:t>
            </a:r>
            <a:endParaRPr lang="zh-CN" altLang="en-US" sz="2400" b="1">
              <a:latin typeface="宋体" pitchFamily="2" charset="-122"/>
            </a:endParaRPr>
          </a:p>
          <a:p>
            <a:r>
              <a:rPr lang="zh-CN" altLang="en-US" sz="2400">
                <a:latin typeface="宋体" pitchFamily="2" charset="-122"/>
              </a:rPr>
              <a:t>　　</a:t>
            </a:r>
            <a:r>
              <a:rPr lang="zh-CN" altLang="en-US" sz="2600">
                <a:latin typeface="宋体" pitchFamily="2" charset="-122"/>
              </a:rPr>
              <a:t>图形是用计算机表示和生成的图，称作</a:t>
            </a:r>
            <a:r>
              <a:rPr lang="zh-CN" altLang="en-US" sz="2600" b="1">
                <a:latin typeface="宋体" pitchFamily="2" charset="-122"/>
              </a:rPr>
              <a:t>主观图像</a:t>
            </a:r>
            <a:r>
              <a:rPr lang="zh-CN" altLang="en-US" sz="2600">
                <a:latin typeface="宋体" pitchFamily="2" charset="-122"/>
              </a:rPr>
              <a:t>。在计算机中表示图形，只需存储绘图命令和坐标点，没有必要存储每个像素点。而图像所处理的对象多半来自客观世界，即由摄像机摄取下来存入计算机的数字图像，这种图像称为</a:t>
            </a:r>
            <a:r>
              <a:rPr lang="zh-CN" altLang="en-US" sz="2600" b="1">
                <a:latin typeface="宋体" pitchFamily="2" charset="-122"/>
              </a:rPr>
              <a:t>客观图像</a:t>
            </a:r>
            <a:r>
              <a:rPr lang="zh-CN" altLang="en-US" sz="2600">
                <a:latin typeface="宋体" pitchFamily="2" charset="-122"/>
              </a:rPr>
              <a:t>。</a:t>
            </a:r>
          </a:p>
          <a:p>
            <a:r>
              <a:rPr lang="zh-CN" altLang="en-US" sz="2600">
                <a:latin typeface="宋体" pitchFamily="2" charset="-122"/>
              </a:rPr>
              <a:t>    由于数字化以后逐点存储，因此图像处理需要占用非常庞大的主存空间。</a:t>
            </a:r>
          </a:p>
          <a:p>
            <a:r>
              <a:rPr lang="zh-CN" altLang="en-US" sz="2600">
                <a:latin typeface="宋体" pitchFamily="2" charset="-122"/>
              </a:rPr>
              <a:t>    </a:t>
            </a:r>
            <a:r>
              <a:rPr lang="zh-CN" altLang="en-US" sz="2600" b="1">
                <a:latin typeface="宋体" pitchFamily="2" charset="-122"/>
              </a:rPr>
              <a:t>图像显示器</a:t>
            </a:r>
          </a:p>
          <a:p>
            <a:r>
              <a:rPr lang="zh-CN" altLang="en-US" sz="2600">
                <a:latin typeface="宋体" pitchFamily="2" charset="-122"/>
              </a:rPr>
              <a:t>    </a:t>
            </a:r>
            <a:r>
              <a:rPr lang="zh-CN" altLang="en-US" sz="2600" b="1">
                <a:latin typeface="宋体" pitchFamily="2" charset="-122"/>
              </a:rPr>
              <a:t>简单图像显示器：</a:t>
            </a:r>
            <a:r>
              <a:rPr lang="zh-CN" altLang="en-US" sz="2600">
                <a:latin typeface="宋体" pitchFamily="2" charset="-122"/>
              </a:rPr>
              <a:t>仅仅显示由计算机送来的数字图像。图像处理操作在计算机中完成，显示器不做任何处理。</a:t>
            </a:r>
          </a:p>
          <a:p>
            <a:r>
              <a:rPr lang="zh-CN" altLang="en-US" sz="2600">
                <a:latin typeface="宋体" pitchFamily="2" charset="-122"/>
              </a:rPr>
              <a:t>    </a:t>
            </a:r>
            <a:r>
              <a:rPr lang="zh-CN" altLang="en-US" sz="2600" b="1">
                <a:latin typeface="宋体" pitchFamily="2" charset="-122"/>
              </a:rPr>
              <a:t>图形处理子系统：</a:t>
            </a:r>
            <a:r>
              <a:rPr lang="zh-CN" altLang="en-US" sz="2600">
                <a:latin typeface="宋体" pitchFamily="2" charset="-122"/>
              </a:rPr>
              <a:t>本身就是一个具有并行处理功能的专用计算机，不仅能完成显示操作，同时可以快速执行许多图像处理算法，减轻主计算机系统的运算量。这种子系统可以单独使用，也可以联到通用计算机系统。目前流行的图形工作站就属于图形处理子系统。</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p:spPr>
        <p:txBody>
          <a:bodyPr/>
          <a:lstStyle/>
          <a:p>
            <a:fld id="{7A3D9CC5-5B94-4AA2-B0B4-10056FFD0CB5}" type="slidenum">
              <a:rPr lang="en-US" altLang="zh-CN" smtClean="0"/>
              <a:pPr/>
              <a:t>47</a:t>
            </a:fld>
            <a:endParaRPr lang="en-US" altLang="zh-CN" smtClean="0"/>
          </a:p>
        </p:txBody>
      </p:sp>
      <p:pic>
        <p:nvPicPr>
          <p:cNvPr id="51203" name="Picture 2" descr="7a18"/>
          <p:cNvPicPr>
            <a:picLocks noChangeAspect="1" noChangeArrowheads="1"/>
          </p:cNvPicPr>
          <p:nvPr/>
        </p:nvPicPr>
        <p:blipFill>
          <a:blip r:embed="rId2"/>
          <a:srcRect/>
          <a:stretch>
            <a:fillRect/>
          </a:stretch>
        </p:blipFill>
        <p:spPr bwMode="auto">
          <a:xfrm>
            <a:off x="395288" y="2492375"/>
            <a:ext cx="7488237" cy="3773488"/>
          </a:xfrm>
          <a:prstGeom prst="rect">
            <a:avLst/>
          </a:prstGeom>
          <a:noFill/>
          <a:ln w="9525">
            <a:noFill/>
            <a:miter lim="800000"/>
            <a:headEnd/>
            <a:tailEnd/>
          </a:ln>
        </p:spPr>
      </p:pic>
      <p:sp>
        <p:nvSpPr>
          <p:cNvPr id="51204" name="Rectangle 3"/>
          <p:cNvSpPr>
            <a:spLocks noChangeArrowheads="1"/>
          </p:cNvSpPr>
          <p:nvPr/>
        </p:nvSpPr>
        <p:spPr bwMode="auto">
          <a:xfrm>
            <a:off x="179388" y="249566"/>
            <a:ext cx="8713787" cy="2062103"/>
          </a:xfrm>
          <a:prstGeom prst="rect">
            <a:avLst/>
          </a:prstGeom>
          <a:solidFill>
            <a:srgbClr val="CCFFFF"/>
          </a:solidFill>
          <a:ln w="9525">
            <a:noFill/>
            <a:miter lim="800000"/>
            <a:headEnd/>
            <a:tailEnd/>
          </a:ln>
        </p:spPr>
        <p:txBody>
          <a:bodyPr anchor="ctr">
            <a:spAutoFit/>
          </a:bodyPr>
          <a:lstStyle/>
          <a:p>
            <a:r>
              <a:rPr lang="en-US" altLang="zh-CN" sz="3200" b="1" dirty="0" smtClean="0">
                <a:latin typeface="宋体" pitchFamily="2" charset="-122"/>
              </a:rPr>
              <a:t>7.5.4  </a:t>
            </a:r>
            <a:r>
              <a:rPr lang="en-US" altLang="zh-CN" sz="3200" b="1" dirty="0">
                <a:latin typeface="宋体" pitchFamily="2" charset="-122"/>
              </a:rPr>
              <a:t>VESA </a:t>
            </a:r>
            <a:r>
              <a:rPr lang="zh-CN" altLang="en-US" sz="3200" b="1" dirty="0">
                <a:latin typeface="宋体" pitchFamily="2" charset="-122"/>
              </a:rPr>
              <a:t>显示标准</a:t>
            </a:r>
          </a:p>
          <a:p>
            <a:r>
              <a:rPr lang="en-US" altLang="zh-CN" sz="2400" dirty="0">
                <a:latin typeface="宋体" pitchFamily="2" charset="-122"/>
              </a:rPr>
              <a:t>1.IBM PC</a:t>
            </a:r>
            <a:r>
              <a:rPr lang="zh-CN" altLang="en-US" sz="2400" dirty="0">
                <a:latin typeface="宋体" pitchFamily="2" charset="-122"/>
              </a:rPr>
              <a:t>系列的显示系统显示标准</a:t>
            </a:r>
          </a:p>
          <a:p>
            <a:r>
              <a:rPr lang="zh-CN" altLang="en-US" sz="2400" dirty="0">
                <a:latin typeface="宋体" pitchFamily="2" charset="-122"/>
              </a:rPr>
              <a:t>  </a:t>
            </a:r>
            <a:r>
              <a:rPr lang="en-US" altLang="zh-CN" sz="2400" dirty="0">
                <a:latin typeface="宋体" pitchFamily="2" charset="-122"/>
              </a:rPr>
              <a:t>MDA,CGA,EGA,VGA,VESA,SVGA,TVGA </a:t>
            </a:r>
          </a:p>
          <a:p>
            <a:r>
              <a:rPr lang="en-US" altLang="zh-CN" sz="2400" dirty="0">
                <a:latin typeface="宋体" pitchFamily="2" charset="-122"/>
              </a:rPr>
              <a:t>2.</a:t>
            </a:r>
            <a:r>
              <a:rPr lang="zh-CN" altLang="en-US" sz="2400" dirty="0">
                <a:latin typeface="宋体" pitchFamily="2" charset="-122"/>
              </a:rPr>
              <a:t>显示适配器</a:t>
            </a:r>
          </a:p>
          <a:p>
            <a:r>
              <a:rPr lang="zh-CN" altLang="en-US" sz="2400" dirty="0">
                <a:latin typeface="宋体" pitchFamily="2" charset="-122"/>
              </a:rPr>
              <a:t>　由刷新存储器、显示控制器、</a:t>
            </a:r>
            <a:r>
              <a:rPr lang="en-US" altLang="zh-CN" sz="2400" dirty="0">
                <a:latin typeface="宋体" pitchFamily="2" charset="-122"/>
              </a:rPr>
              <a:t>ROM BIOS</a:t>
            </a:r>
            <a:r>
              <a:rPr lang="zh-CN" altLang="en-US" sz="2400" dirty="0">
                <a:latin typeface="宋体" pitchFamily="2" charset="-122"/>
              </a:rPr>
              <a:t>三部分组成。</a:t>
            </a:r>
            <a:endParaRPr lang="zh-CN" altLang="en-US" dirty="0"/>
          </a:p>
        </p:txBody>
      </p:sp>
      <p:pic>
        <p:nvPicPr>
          <p:cNvPr id="51205" name="Picture 4">
            <a:hlinkClick r:id="rId3" action="ppaction://hlinkfile"/>
          </p:cNvPr>
          <p:cNvPicPr>
            <a:picLocks noChangeAspect="1" noChangeArrowheads="1"/>
          </p:cNvPicPr>
          <p:nvPr/>
        </p:nvPicPr>
        <p:blipFill>
          <a:blip r:embed="rId4"/>
          <a:srcRect/>
          <a:stretch>
            <a:fillRect/>
          </a:stretch>
        </p:blipFill>
        <p:spPr bwMode="auto">
          <a:xfrm>
            <a:off x="8243888" y="5229225"/>
            <a:ext cx="409575" cy="381000"/>
          </a:xfrm>
          <a:prstGeom prst="rect">
            <a:avLst/>
          </a:prstGeom>
          <a:noFill/>
          <a:ln w="9525">
            <a:noFill/>
            <a:miter lim="800000"/>
            <a:headEnd/>
            <a:tailEnd/>
          </a:ln>
        </p:spPr>
      </p:pic>
      <p:sp>
        <p:nvSpPr>
          <p:cNvPr id="88069" name="Rectangle 5"/>
          <p:cNvSpPr>
            <a:spLocks noChangeArrowheads="1"/>
          </p:cNvSpPr>
          <p:nvPr/>
        </p:nvSpPr>
        <p:spPr bwMode="auto">
          <a:xfrm>
            <a:off x="107950" y="4656118"/>
            <a:ext cx="8785225" cy="95410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nchor="ctr">
            <a:spAutoFit/>
          </a:bodyPr>
          <a:lstStyle/>
          <a:p>
            <a:r>
              <a:rPr lang="zh-CN" altLang="en-US" sz="2800" b="1" dirty="0" smtClean="0">
                <a:latin typeface="宋体" pitchFamily="2" charset="-122"/>
              </a:rPr>
              <a:t>刷新存储器：</a:t>
            </a:r>
            <a:r>
              <a:rPr lang="zh-CN" altLang="en-US" sz="2800" dirty="0" smtClean="0">
                <a:latin typeface="宋体" pitchFamily="2" charset="-122"/>
              </a:rPr>
              <a:t>存放</a:t>
            </a:r>
            <a:r>
              <a:rPr lang="zh-CN" altLang="en-US" sz="2800" dirty="0">
                <a:latin typeface="宋体" pitchFamily="2" charset="-122"/>
              </a:rPr>
              <a:t>显示图案的点阵数据。其存储容量取决于设定的显示工作方式</a:t>
            </a:r>
            <a:r>
              <a:rPr lang="zh-CN" altLang="en-US" sz="2800" dirty="0" smtClean="0">
                <a:latin typeface="宋体" pitchFamily="2" charset="-122"/>
              </a:rPr>
              <a:t>。</a:t>
            </a:r>
            <a:endParaRPr lang="zh-CN" altLang="en-US" dirty="0"/>
          </a:p>
        </p:txBody>
      </p:sp>
      <p:sp>
        <p:nvSpPr>
          <p:cNvPr id="7" name="Rectangle 5"/>
          <p:cNvSpPr>
            <a:spLocks noChangeArrowheads="1"/>
          </p:cNvSpPr>
          <p:nvPr/>
        </p:nvSpPr>
        <p:spPr bwMode="auto">
          <a:xfrm>
            <a:off x="194221" y="244332"/>
            <a:ext cx="8785225" cy="2246769"/>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nchor="ctr">
            <a:spAutoFit/>
          </a:bodyPr>
          <a:lstStyle/>
          <a:p>
            <a:r>
              <a:rPr lang="en-US" altLang="zh-CN" sz="2800" b="1" dirty="0" smtClean="0">
                <a:latin typeface="宋体" pitchFamily="2" charset="-122"/>
              </a:rPr>
              <a:t>ROM BIOS</a:t>
            </a:r>
            <a:r>
              <a:rPr lang="zh-CN" altLang="en-US" sz="2800" b="1" dirty="0" smtClean="0">
                <a:latin typeface="宋体" pitchFamily="2" charset="-122"/>
              </a:rPr>
              <a:t>：</a:t>
            </a:r>
            <a:r>
              <a:rPr lang="zh-CN" altLang="en-US" sz="2800" dirty="0" smtClean="0">
                <a:latin typeface="宋体" pitchFamily="2" charset="-122"/>
              </a:rPr>
              <a:t>含有</a:t>
            </a:r>
            <a:r>
              <a:rPr lang="zh-CN" altLang="en-US" sz="2800" dirty="0">
                <a:latin typeface="宋体" pitchFamily="2" charset="-122"/>
              </a:rPr>
              <a:t>少量的固化软件，用于支持显示控制器建立所要求的显示环境。此</a:t>
            </a:r>
            <a:r>
              <a:rPr lang="en-US" altLang="zh-CN" sz="2800" dirty="0">
                <a:latin typeface="宋体" pitchFamily="2" charset="-122"/>
              </a:rPr>
              <a:t>BIOS</a:t>
            </a:r>
            <a:r>
              <a:rPr lang="zh-CN" altLang="en-US" sz="2800" dirty="0">
                <a:latin typeface="宋体" pitchFamily="2" charset="-122"/>
              </a:rPr>
              <a:t>软件主要用于</a:t>
            </a:r>
            <a:r>
              <a:rPr lang="en-US" altLang="zh-CN" sz="2800" dirty="0">
                <a:latin typeface="宋体" pitchFamily="2" charset="-122"/>
              </a:rPr>
              <a:t>DOS</a:t>
            </a:r>
            <a:r>
              <a:rPr lang="zh-CN" altLang="en-US" sz="2800" dirty="0">
                <a:latin typeface="宋体" pitchFamily="2" charset="-122"/>
              </a:rPr>
              <a:t>操作系统。在</a:t>
            </a:r>
            <a:r>
              <a:rPr lang="en-US" altLang="zh-CN" sz="2800" dirty="0">
                <a:latin typeface="宋体" pitchFamily="2" charset="-122"/>
              </a:rPr>
              <a:t>Windows</a:t>
            </a:r>
            <a:r>
              <a:rPr lang="zh-CN" altLang="en-US" sz="2800" dirty="0">
                <a:latin typeface="宋体" pitchFamily="2" charset="-122"/>
              </a:rPr>
              <a:t>环境下，它的大部分功能不被使用，而由后者的设备驱动程序建立操作系统与适配器硬件的衔接</a:t>
            </a:r>
            <a:r>
              <a:rPr lang="zh-CN" altLang="en-US" sz="2800" dirty="0" smtClean="0">
                <a:latin typeface="宋体" pitchFamily="2" charset="-122"/>
              </a:rPr>
              <a:t>。</a:t>
            </a:r>
            <a:endParaRPr lang="zh-CN" altLang="en-US" dirty="0"/>
          </a:p>
        </p:txBody>
      </p:sp>
      <p:sp>
        <p:nvSpPr>
          <p:cNvPr id="8" name="Rectangle 5"/>
          <p:cNvSpPr>
            <a:spLocks noChangeArrowheads="1"/>
          </p:cNvSpPr>
          <p:nvPr/>
        </p:nvSpPr>
        <p:spPr bwMode="auto">
          <a:xfrm>
            <a:off x="202334" y="208608"/>
            <a:ext cx="8785225" cy="2123658"/>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nchor="ctr">
            <a:spAutoFit/>
          </a:bodyPr>
          <a:lstStyle/>
          <a:p>
            <a:r>
              <a:rPr lang="zh-CN" altLang="en-US" sz="2200" b="1" dirty="0" smtClean="0">
                <a:latin typeface="宋体" pitchFamily="2" charset="-122"/>
              </a:rPr>
              <a:t>显示控制器：</a:t>
            </a:r>
            <a:r>
              <a:rPr lang="zh-CN" altLang="en-US" sz="2200" dirty="0" smtClean="0">
                <a:latin typeface="宋体" pitchFamily="2" charset="-122"/>
              </a:rPr>
              <a:t>是</a:t>
            </a:r>
            <a:r>
              <a:rPr lang="zh-CN" altLang="en-US" sz="2200" dirty="0">
                <a:latin typeface="宋体" pitchFamily="2" charset="-122"/>
              </a:rPr>
              <a:t>适配器的心脏。它依据设定的显示工作方式，自主地、反复不断地读取显存中的图像点阵</a:t>
            </a:r>
            <a:r>
              <a:rPr lang="en-US" altLang="zh-CN" sz="2200" dirty="0">
                <a:latin typeface="宋体" pitchFamily="2" charset="-122"/>
              </a:rPr>
              <a:t>(</a:t>
            </a:r>
            <a:r>
              <a:rPr lang="zh-CN" altLang="en-US" sz="2200" dirty="0">
                <a:latin typeface="宋体" pitchFamily="2" charset="-122"/>
              </a:rPr>
              <a:t>包括图形、字符文本</a:t>
            </a:r>
            <a:r>
              <a:rPr lang="en-US" altLang="zh-CN" sz="2200" dirty="0">
                <a:latin typeface="宋体" pitchFamily="2" charset="-122"/>
              </a:rPr>
              <a:t>)</a:t>
            </a:r>
            <a:r>
              <a:rPr lang="zh-CN" altLang="en-US" sz="2200" dirty="0">
                <a:latin typeface="宋体" pitchFamily="2" charset="-122"/>
              </a:rPr>
              <a:t>数据，将它们转换成</a:t>
            </a:r>
            <a:r>
              <a:rPr lang="en-US" altLang="zh-CN" sz="2200" dirty="0" smtClean="0">
                <a:latin typeface="宋体" pitchFamily="2" charset="-122"/>
              </a:rPr>
              <a:t>RGB</a:t>
            </a:r>
            <a:r>
              <a:rPr lang="zh-CN" altLang="en-US" sz="2200" dirty="0">
                <a:latin typeface="宋体" pitchFamily="2" charset="-122"/>
              </a:rPr>
              <a:t>三色信号，并配以同步信号送至显示器刷新屏幕。显示控制器还要提供一个由系统总线至刷存总线的通路，以支持</a:t>
            </a:r>
            <a:r>
              <a:rPr lang="en-US" altLang="zh-CN" sz="2200" dirty="0">
                <a:latin typeface="宋体" pitchFamily="2" charset="-122"/>
              </a:rPr>
              <a:t>CPU</a:t>
            </a:r>
            <a:r>
              <a:rPr lang="zh-CN" altLang="en-US" sz="2200" dirty="0">
                <a:latin typeface="宋体" pitchFamily="2" charset="-122"/>
              </a:rPr>
              <a:t>将主存中已修改好的点阵数据写入到刷存，以更新屏幕。这些修改数据一般利用扫描回程的消隐时间写入到刷存中，因此显示屏幕不会出现凌乱。</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8069"/>
                                        </p:tgtEl>
                                        <p:attrNameLst>
                                          <p:attrName>style.visibility</p:attrName>
                                        </p:attrNameLst>
                                      </p:cBhvr>
                                      <p:to>
                                        <p:strVal val="visible"/>
                                      </p:to>
                                    </p:set>
                                    <p:animEffect transition="in" filter="dissolve">
                                      <p:cBhvr>
                                        <p:cTn id="7" dur="500"/>
                                        <p:tgtEl>
                                          <p:spTgt spid="88069"/>
                                        </p:tgtEl>
                                      </p:cBhvr>
                                    </p:animEffect>
                                  </p:childTnLst>
                                  <p:subTnLst>
                                    <p:set>
                                      <p:cBhvr override="childStyle">
                                        <p:cTn dur="1" fill="hold" display="0" masterRel="nextClick" afterEffect="1"/>
                                        <p:tgtEl>
                                          <p:spTgt spid="8806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9" grpId="0" animBg="1"/>
      <p:bldP spid="7"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p>
            <a:fld id="{F2A0A982-13DA-44BA-82EB-295003887E06}" type="slidenum">
              <a:rPr lang="en-US" altLang="zh-CN" smtClean="0"/>
              <a:pPr/>
              <a:t>48</a:t>
            </a:fld>
            <a:endParaRPr lang="en-US" altLang="zh-CN" smtClean="0"/>
          </a:p>
        </p:txBody>
      </p:sp>
      <p:sp>
        <p:nvSpPr>
          <p:cNvPr id="89090" name="Text Box 2"/>
          <p:cNvSpPr txBox="1">
            <a:spLocks noChangeArrowheads="1"/>
          </p:cNvSpPr>
          <p:nvPr/>
        </p:nvSpPr>
        <p:spPr bwMode="auto">
          <a:xfrm>
            <a:off x="250825" y="2493963"/>
            <a:ext cx="8642350" cy="3962400"/>
          </a:xfrm>
          <a:prstGeom prst="rect">
            <a:avLst/>
          </a:prstGeom>
          <a:noFill/>
          <a:ln w="9525">
            <a:noFill/>
            <a:miter lim="800000"/>
            <a:headEnd/>
            <a:tailEnd/>
          </a:ln>
        </p:spPr>
        <p:txBody>
          <a:bodyPr>
            <a:spAutoFit/>
          </a:bodyPr>
          <a:lstStyle/>
          <a:p>
            <a:pPr algn="just">
              <a:lnSpc>
                <a:spcPct val="90000"/>
              </a:lnSpc>
              <a:spcBef>
                <a:spcPct val="20000"/>
              </a:spcBef>
            </a:pPr>
            <a:r>
              <a:rPr kumimoji="1" lang="en-US" altLang="zh-CN" sz="2400" dirty="0">
                <a:latin typeface="宋体" pitchFamily="2" charset="-122"/>
              </a:rPr>
              <a:t>【</a:t>
            </a:r>
            <a:r>
              <a:rPr kumimoji="1" lang="zh-CN" altLang="en-US" sz="2400" dirty="0">
                <a:latin typeface="宋体" pitchFamily="2" charset="-122"/>
              </a:rPr>
              <a:t>解</a:t>
            </a:r>
            <a:r>
              <a:rPr kumimoji="1" lang="en-US" altLang="zh-CN" sz="2400" dirty="0">
                <a:latin typeface="宋体" pitchFamily="2" charset="-122"/>
              </a:rPr>
              <a:t>】</a:t>
            </a:r>
          </a:p>
          <a:p>
            <a:pPr algn="just">
              <a:lnSpc>
                <a:spcPct val="90000"/>
              </a:lnSpc>
              <a:spcBef>
                <a:spcPct val="20000"/>
              </a:spcBef>
            </a:pPr>
            <a:r>
              <a:rPr kumimoji="1" lang="en-US" altLang="zh-CN" sz="2400" dirty="0">
                <a:latin typeface="宋体" pitchFamily="2" charset="-122"/>
                <a:cs typeface="Times New Roman" charset="0"/>
              </a:rPr>
              <a:t>(1)∵ </a:t>
            </a:r>
            <a:r>
              <a:rPr kumimoji="1" lang="zh-CN" altLang="en-US" sz="2400" dirty="0">
                <a:latin typeface="宋体" pitchFamily="2" charset="-122"/>
              </a:rPr>
              <a:t>刷新所需带宽</a:t>
            </a:r>
            <a:r>
              <a:rPr kumimoji="1" lang="en-US" altLang="zh-CN" sz="2400" dirty="0">
                <a:latin typeface="宋体" pitchFamily="2" charset="-122"/>
              </a:rPr>
              <a:t>=</a:t>
            </a:r>
            <a:r>
              <a:rPr kumimoji="1" lang="zh-CN" altLang="en-US" sz="2400" dirty="0">
                <a:latin typeface="宋体" pitchFamily="2" charset="-122"/>
              </a:rPr>
              <a:t>分辨率</a:t>
            </a:r>
            <a:r>
              <a:rPr kumimoji="1" lang="en-US" altLang="zh-CN" sz="2400" dirty="0">
                <a:latin typeface="宋体" pitchFamily="2" charset="-122"/>
              </a:rPr>
              <a:t>×</a:t>
            </a:r>
            <a:r>
              <a:rPr kumimoji="1" lang="zh-CN" altLang="en-US" sz="2400" dirty="0">
                <a:latin typeface="宋体" pitchFamily="2" charset="-122"/>
              </a:rPr>
              <a:t>每个像素点颜色深度</a:t>
            </a:r>
            <a:r>
              <a:rPr kumimoji="1" lang="en-US" altLang="zh-CN" sz="2400" dirty="0">
                <a:latin typeface="宋体" pitchFamily="2" charset="-122"/>
              </a:rPr>
              <a:t>×</a:t>
            </a:r>
            <a:r>
              <a:rPr kumimoji="1" lang="zh-CN" altLang="en-US" sz="2400" dirty="0">
                <a:latin typeface="宋体" pitchFamily="2" charset="-122"/>
              </a:rPr>
              <a:t>刷新速率</a:t>
            </a:r>
          </a:p>
          <a:p>
            <a:pPr algn="just">
              <a:lnSpc>
                <a:spcPct val="90000"/>
              </a:lnSpc>
              <a:spcBef>
                <a:spcPct val="20000"/>
              </a:spcBef>
            </a:pPr>
            <a:r>
              <a:rPr kumimoji="1" lang="zh-CN" altLang="en-US" sz="2400" dirty="0">
                <a:latin typeface="宋体" pitchFamily="2" charset="-122"/>
              </a:rPr>
              <a:t>   ∴ </a:t>
            </a:r>
            <a:r>
              <a:rPr kumimoji="1" lang="en-US" altLang="zh-CN" sz="2400" dirty="0">
                <a:latin typeface="宋体" pitchFamily="2" charset="-122"/>
              </a:rPr>
              <a:t>1024×768×3B×72/s=165888KB/s=162MB/s</a:t>
            </a:r>
          </a:p>
          <a:p>
            <a:pPr algn="just">
              <a:lnSpc>
                <a:spcPct val="90000"/>
              </a:lnSpc>
              <a:spcBef>
                <a:spcPct val="20000"/>
              </a:spcBef>
            </a:pPr>
            <a:r>
              <a:rPr kumimoji="1" lang="en-US" altLang="zh-CN" sz="2400" dirty="0">
                <a:latin typeface="宋体" pitchFamily="2" charset="-122"/>
              </a:rPr>
              <a:t>   </a:t>
            </a:r>
            <a:r>
              <a:rPr kumimoji="1" lang="zh-CN" altLang="en-US" sz="2400" dirty="0">
                <a:latin typeface="宋体" pitchFamily="2" charset="-122"/>
              </a:rPr>
              <a:t>刷存总带宽应为</a:t>
            </a:r>
            <a:r>
              <a:rPr kumimoji="1" lang="en-US" altLang="zh-CN" sz="2400" dirty="0">
                <a:latin typeface="宋体" pitchFamily="2" charset="-122"/>
              </a:rPr>
              <a:t>162MB/s×100/50=324MB/s</a:t>
            </a:r>
          </a:p>
          <a:p>
            <a:pPr algn="just">
              <a:lnSpc>
                <a:spcPct val="90000"/>
              </a:lnSpc>
              <a:spcBef>
                <a:spcPct val="20000"/>
              </a:spcBef>
            </a:pPr>
            <a:r>
              <a:rPr kumimoji="1" lang="en-US" altLang="zh-CN" sz="2400" dirty="0">
                <a:latin typeface="宋体" pitchFamily="2" charset="-122"/>
              </a:rPr>
              <a:t>(2)</a:t>
            </a:r>
            <a:r>
              <a:rPr kumimoji="1" lang="zh-CN" altLang="en-US" sz="2400" dirty="0">
                <a:latin typeface="宋体" pitchFamily="2" charset="-122"/>
              </a:rPr>
              <a:t>为达到这样高的刷存带宽，可采用如下技术措施：</a:t>
            </a:r>
          </a:p>
          <a:p>
            <a:pPr lvl="1" algn="just">
              <a:lnSpc>
                <a:spcPct val="90000"/>
              </a:lnSpc>
              <a:spcBef>
                <a:spcPct val="20000"/>
              </a:spcBef>
            </a:pPr>
            <a:r>
              <a:rPr kumimoji="1" lang="zh-CN" altLang="en-US" sz="2400" dirty="0">
                <a:latin typeface="宋体" pitchFamily="2" charset="-122"/>
              </a:rPr>
              <a:t>①使用高速的</a:t>
            </a:r>
            <a:r>
              <a:rPr kumimoji="1" lang="en-US" altLang="zh-CN" sz="2400" dirty="0">
                <a:latin typeface="宋体" pitchFamily="2" charset="-122"/>
              </a:rPr>
              <a:t>DRAM</a:t>
            </a:r>
            <a:r>
              <a:rPr kumimoji="1" lang="zh-CN" altLang="en-US" sz="2400" dirty="0">
                <a:latin typeface="宋体" pitchFamily="2" charset="-122"/>
              </a:rPr>
              <a:t>芯片组成刷存；</a:t>
            </a:r>
          </a:p>
          <a:p>
            <a:pPr lvl="1" algn="just">
              <a:lnSpc>
                <a:spcPct val="90000"/>
              </a:lnSpc>
              <a:spcBef>
                <a:spcPct val="20000"/>
              </a:spcBef>
            </a:pPr>
            <a:r>
              <a:rPr kumimoji="1" lang="zh-CN" altLang="en-US" sz="2400" dirty="0">
                <a:latin typeface="宋体" pitchFamily="2" charset="-122"/>
              </a:rPr>
              <a:t>②刷存采用多体交叉结构；</a:t>
            </a:r>
          </a:p>
          <a:p>
            <a:pPr lvl="1" algn="just">
              <a:lnSpc>
                <a:spcPct val="90000"/>
              </a:lnSpc>
              <a:spcBef>
                <a:spcPct val="20000"/>
              </a:spcBef>
            </a:pPr>
            <a:r>
              <a:rPr kumimoji="1" lang="zh-CN" altLang="en-US" sz="2400" dirty="0">
                <a:latin typeface="宋体" pitchFamily="2" charset="-122"/>
              </a:rPr>
              <a:t>③刷存至显示控制器的内部总线宽度由</a:t>
            </a:r>
            <a:r>
              <a:rPr kumimoji="1" lang="en-US" altLang="zh-CN" sz="2400" dirty="0">
                <a:latin typeface="宋体" pitchFamily="2" charset="-122"/>
              </a:rPr>
              <a:t>32</a:t>
            </a:r>
            <a:r>
              <a:rPr kumimoji="1" lang="zh-CN" altLang="en-US" sz="2400" dirty="0">
                <a:latin typeface="宋体" pitchFamily="2" charset="-122"/>
              </a:rPr>
              <a:t>位提高到</a:t>
            </a:r>
            <a:r>
              <a:rPr kumimoji="1" lang="en-US" altLang="zh-CN" sz="2400" dirty="0">
                <a:latin typeface="宋体" pitchFamily="2" charset="-122"/>
              </a:rPr>
              <a:t>64</a:t>
            </a:r>
            <a:r>
              <a:rPr kumimoji="1" lang="zh-CN" altLang="en-US" sz="2400" dirty="0">
                <a:latin typeface="宋体" pitchFamily="2" charset="-122"/>
              </a:rPr>
              <a:t>位，甚至</a:t>
            </a:r>
            <a:r>
              <a:rPr kumimoji="1" lang="en-US" altLang="zh-CN" sz="2400" dirty="0">
                <a:latin typeface="宋体" pitchFamily="2" charset="-122"/>
              </a:rPr>
              <a:t>128</a:t>
            </a:r>
            <a:r>
              <a:rPr kumimoji="1" lang="zh-CN" altLang="en-US" sz="2400" dirty="0">
                <a:latin typeface="宋体" pitchFamily="2" charset="-122"/>
              </a:rPr>
              <a:t>位 ；</a:t>
            </a:r>
          </a:p>
          <a:p>
            <a:pPr lvl="1" algn="just">
              <a:lnSpc>
                <a:spcPct val="90000"/>
              </a:lnSpc>
              <a:spcBef>
                <a:spcPct val="20000"/>
              </a:spcBef>
            </a:pPr>
            <a:r>
              <a:rPr kumimoji="1" lang="zh-CN" altLang="en-US" sz="2400" dirty="0">
                <a:latin typeface="宋体" pitchFamily="2" charset="-122"/>
              </a:rPr>
              <a:t>④刷存采用双端口存储器结构，将刷新端口与更新端口分开。</a:t>
            </a:r>
            <a:endParaRPr kumimoji="1" lang="zh-CN" altLang="en-US" sz="2400" dirty="0">
              <a:latin typeface="Times New Roman" charset="0"/>
            </a:endParaRPr>
          </a:p>
        </p:txBody>
      </p:sp>
      <p:sp>
        <p:nvSpPr>
          <p:cNvPr id="52228" name="Rectangle 3"/>
          <p:cNvSpPr>
            <a:spLocks noChangeArrowheads="1"/>
          </p:cNvSpPr>
          <p:nvPr/>
        </p:nvSpPr>
        <p:spPr bwMode="auto">
          <a:xfrm>
            <a:off x="250825" y="188913"/>
            <a:ext cx="8642350" cy="2308324"/>
          </a:xfrm>
          <a:prstGeom prst="rect">
            <a:avLst/>
          </a:prstGeom>
          <a:solidFill>
            <a:srgbClr val="CCFFFF"/>
          </a:solidFill>
          <a:ln w="9525">
            <a:noFill/>
            <a:miter lim="800000"/>
            <a:headEnd/>
            <a:tailEnd/>
          </a:ln>
        </p:spPr>
        <p:txBody>
          <a:bodyPr>
            <a:spAutoFit/>
          </a:bodyPr>
          <a:lstStyle/>
          <a:p>
            <a:r>
              <a:rPr lang="en-US" altLang="zh-CN" sz="2400" dirty="0" smtClean="0">
                <a:latin typeface="宋体" pitchFamily="2" charset="-122"/>
              </a:rPr>
              <a:t>【</a:t>
            </a:r>
            <a:r>
              <a:rPr lang="zh-CN" altLang="en-US" sz="2400" dirty="0" smtClean="0">
                <a:latin typeface="宋体" pitchFamily="2" charset="-122"/>
              </a:rPr>
              <a:t>例</a:t>
            </a:r>
            <a:r>
              <a:rPr lang="en-US" altLang="zh-CN" sz="2400" dirty="0" smtClean="0">
                <a:latin typeface="宋体" pitchFamily="2" charset="-122"/>
              </a:rPr>
              <a:t>】</a:t>
            </a:r>
            <a:r>
              <a:rPr lang="zh-CN" altLang="en-US" sz="2400" dirty="0">
                <a:latin typeface="宋体" pitchFamily="2" charset="-122"/>
              </a:rPr>
              <a:t>刷存的重要性能指标是它的带宽。实际工作时显示适配器的几个功能部分要争用刷存的带宽。假定总带宽的</a:t>
            </a:r>
            <a:r>
              <a:rPr lang="en-US" altLang="zh-CN" sz="2400" dirty="0">
                <a:latin typeface="宋体" pitchFamily="2" charset="-122"/>
              </a:rPr>
              <a:t>50%</a:t>
            </a:r>
            <a:r>
              <a:rPr lang="zh-CN" altLang="en-US" sz="2400" dirty="0">
                <a:latin typeface="宋体" pitchFamily="2" charset="-122"/>
              </a:rPr>
              <a:t>用于刷新屏幕，保留</a:t>
            </a:r>
            <a:r>
              <a:rPr lang="en-US" altLang="zh-CN" sz="2400" dirty="0">
                <a:latin typeface="宋体" pitchFamily="2" charset="-122"/>
              </a:rPr>
              <a:t>50%</a:t>
            </a:r>
            <a:r>
              <a:rPr lang="zh-CN" altLang="en-US" sz="2400" dirty="0">
                <a:latin typeface="宋体" pitchFamily="2" charset="-122"/>
              </a:rPr>
              <a:t>带宽用于其他非刷新功能。</a:t>
            </a:r>
          </a:p>
          <a:p>
            <a:r>
              <a:rPr lang="zh-CN" altLang="en-US" sz="2400" dirty="0">
                <a:latin typeface="宋体" pitchFamily="2" charset="-122"/>
              </a:rPr>
              <a:t>    </a:t>
            </a:r>
            <a:r>
              <a:rPr lang="en-US" altLang="zh-CN" sz="2400" dirty="0">
                <a:latin typeface="宋体" pitchFamily="2" charset="-122"/>
              </a:rPr>
              <a:t>(1)</a:t>
            </a:r>
            <a:r>
              <a:rPr lang="zh-CN" altLang="en-US" sz="2400" dirty="0">
                <a:latin typeface="宋体" pitchFamily="2" charset="-122"/>
              </a:rPr>
              <a:t>若显示工作方式采用分辨率为</a:t>
            </a:r>
            <a:r>
              <a:rPr lang="en-US" altLang="zh-CN" sz="2400" dirty="0">
                <a:latin typeface="宋体" pitchFamily="2" charset="-122"/>
              </a:rPr>
              <a:t>1024×768</a:t>
            </a:r>
            <a:r>
              <a:rPr lang="zh-CN" altLang="en-US" sz="2400" dirty="0">
                <a:latin typeface="宋体" pitchFamily="2" charset="-122"/>
              </a:rPr>
              <a:t>，颜色深度为</a:t>
            </a:r>
            <a:r>
              <a:rPr lang="en-US" altLang="zh-CN" sz="2400" dirty="0">
                <a:latin typeface="宋体" pitchFamily="2" charset="-122"/>
              </a:rPr>
              <a:t>3B</a:t>
            </a:r>
            <a:r>
              <a:rPr lang="zh-CN" altLang="en-US" sz="2400" dirty="0">
                <a:latin typeface="宋体" pitchFamily="2" charset="-122"/>
              </a:rPr>
              <a:t>，帧频</a:t>
            </a:r>
            <a:r>
              <a:rPr lang="en-US" altLang="zh-CN" sz="2400" dirty="0">
                <a:latin typeface="宋体" pitchFamily="2" charset="-122"/>
              </a:rPr>
              <a:t>(</a:t>
            </a:r>
            <a:r>
              <a:rPr lang="zh-CN" altLang="en-US" sz="2400" dirty="0">
                <a:latin typeface="宋体" pitchFamily="2" charset="-122"/>
              </a:rPr>
              <a:t>刷新速率</a:t>
            </a:r>
            <a:r>
              <a:rPr lang="en-US" altLang="zh-CN" sz="2400" dirty="0">
                <a:latin typeface="宋体" pitchFamily="2" charset="-122"/>
              </a:rPr>
              <a:t>)</a:t>
            </a:r>
            <a:r>
              <a:rPr lang="zh-CN" altLang="en-US" sz="2400" dirty="0">
                <a:latin typeface="宋体" pitchFamily="2" charset="-122"/>
              </a:rPr>
              <a:t>为</a:t>
            </a:r>
            <a:r>
              <a:rPr lang="en-US" altLang="zh-CN" sz="2400" dirty="0">
                <a:latin typeface="宋体" pitchFamily="2" charset="-122"/>
              </a:rPr>
              <a:t>72Hz</a:t>
            </a:r>
            <a:r>
              <a:rPr lang="zh-CN" altLang="en-US" sz="2400" dirty="0">
                <a:latin typeface="宋体" pitchFamily="2" charset="-122"/>
              </a:rPr>
              <a:t>，计算刷存总带宽应为多少</a:t>
            </a:r>
            <a:r>
              <a:rPr lang="en-US" altLang="zh-CN" sz="2400" dirty="0">
                <a:latin typeface="宋体" pitchFamily="2" charset="-122"/>
              </a:rPr>
              <a:t>? </a:t>
            </a:r>
          </a:p>
          <a:p>
            <a:r>
              <a:rPr lang="en-US" altLang="zh-CN" sz="2400" dirty="0">
                <a:latin typeface="宋体" pitchFamily="2" charset="-122"/>
              </a:rPr>
              <a:t>    (2)</a:t>
            </a:r>
            <a:r>
              <a:rPr lang="zh-CN" altLang="en-US" sz="2400" dirty="0">
                <a:latin typeface="宋体" pitchFamily="2" charset="-122"/>
              </a:rPr>
              <a:t>为达到这样高的刷存带宽，应采取何种技术措施</a:t>
            </a:r>
            <a:r>
              <a:rPr lang="en-US" altLang="zh-CN" sz="2400" dirty="0">
                <a:latin typeface="宋体"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blinds(horizontal)">
                                      <p:cBhvr>
                                        <p:cTn id="7" dur="500"/>
                                        <p:tgtEl>
                                          <p:spTgt spid="89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p:spPr>
        <p:txBody>
          <a:bodyPr/>
          <a:lstStyle/>
          <a:p>
            <a:fld id="{D012A12B-96D1-4B2A-A9E3-E8315EA79DB5}" type="slidenum">
              <a:rPr lang="en-US" altLang="zh-CN" smtClean="0"/>
              <a:pPr/>
              <a:t>49</a:t>
            </a:fld>
            <a:endParaRPr lang="en-US" altLang="zh-CN" smtClean="0"/>
          </a:p>
        </p:txBody>
      </p:sp>
      <p:sp>
        <p:nvSpPr>
          <p:cNvPr id="53251" name="Rectangle 2"/>
          <p:cNvSpPr>
            <a:spLocks noChangeArrowheads="1"/>
          </p:cNvSpPr>
          <p:nvPr/>
        </p:nvSpPr>
        <p:spPr bwMode="auto">
          <a:xfrm>
            <a:off x="250825" y="1700213"/>
            <a:ext cx="8569325" cy="1373187"/>
          </a:xfrm>
          <a:prstGeom prst="rect">
            <a:avLst/>
          </a:prstGeom>
          <a:solidFill>
            <a:srgbClr val="CCFFFF"/>
          </a:solidFill>
          <a:ln w="9525">
            <a:noFill/>
            <a:miter lim="800000"/>
            <a:headEnd/>
            <a:tailEnd/>
          </a:ln>
        </p:spPr>
        <p:txBody>
          <a:bodyPr anchor="ctr">
            <a:spAutoFit/>
          </a:bodyPr>
          <a:lstStyle/>
          <a:p>
            <a:r>
              <a:rPr lang="en-US" altLang="zh-CN" sz="2800" dirty="0" smtClean="0">
                <a:latin typeface="宋体" pitchFamily="2" charset="-122"/>
              </a:rPr>
              <a:t>[</a:t>
            </a:r>
            <a:r>
              <a:rPr lang="zh-CN" altLang="en-US" sz="2800" dirty="0" smtClean="0">
                <a:latin typeface="宋体" pitchFamily="2" charset="-122"/>
              </a:rPr>
              <a:t>例</a:t>
            </a:r>
            <a:r>
              <a:rPr lang="en-US" altLang="zh-CN" sz="2800" dirty="0" smtClean="0">
                <a:latin typeface="宋体" pitchFamily="2" charset="-122"/>
              </a:rPr>
              <a:t>]CRT</a:t>
            </a:r>
            <a:r>
              <a:rPr lang="zh-CN" altLang="en-US" sz="2800" dirty="0">
                <a:latin typeface="宋体" pitchFamily="2" charset="-122"/>
              </a:rPr>
              <a:t>的颜色数为</a:t>
            </a:r>
            <a:r>
              <a:rPr lang="en-US" altLang="zh-CN" sz="2800" dirty="0">
                <a:latin typeface="宋体" pitchFamily="2" charset="-122"/>
              </a:rPr>
              <a:t>256</a:t>
            </a:r>
            <a:r>
              <a:rPr lang="zh-CN" altLang="en-US" sz="2800" dirty="0">
                <a:latin typeface="宋体" pitchFamily="2" charset="-122"/>
              </a:rPr>
              <a:t>色，则刷新存储器每个单元的字长是多少。</a:t>
            </a:r>
            <a:br>
              <a:rPr lang="zh-CN" altLang="en-US" sz="2800" dirty="0">
                <a:latin typeface="宋体" pitchFamily="2" charset="-122"/>
              </a:rPr>
            </a:br>
            <a:r>
              <a:rPr lang="zh-CN" altLang="en-US" sz="2800" dirty="0">
                <a:latin typeface="宋体" pitchFamily="2" charset="-122"/>
              </a:rPr>
              <a:t>解：</a:t>
            </a:r>
            <a:r>
              <a:rPr lang="en-US" altLang="zh-CN" sz="2800" dirty="0">
                <a:latin typeface="宋体" pitchFamily="2" charset="-122"/>
              </a:rPr>
              <a:t>8</a:t>
            </a:r>
            <a:r>
              <a:rPr lang="zh-CN" altLang="en-US" sz="2800" dirty="0">
                <a:latin typeface="宋体" pitchFamily="2" charset="-122"/>
              </a:rPr>
              <a:t>位</a:t>
            </a:r>
            <a:endParaRPr lang="zh-CN" altLang="en-US" sz="2800" dirty="0"/>
          </a:p>
        </p:txBody>
      </p:sp>
      <p:sp>
        <p:nvSpPr>
          <p:cNvPr id="53252" name="Rectangle 3"/>
          <p:cNvSpPr>
            <a:spLocks noChangeArrowheads="1"/>
          </p:cNvSpPr>
          <p:nvPr/>
        </p:nvSpPr>
        <p:spPr bwMode="auto">
          <a:xfrm>
            <a:off x="250825" y="3141663"/>
            <a:ext cx="8569325" cy="2227262"/>
          </a:xfrm>
          <a:prstGeom prst="rect">
            <a:avLst/>
          </a:prstGeom>
          <a:solidFill>
            <a:srgbClr val="CCFFFF"/>
          </a:solidFill>
          <a:ln w="9525">
            <a:noFill/>
            <a:miter lim="800000"/>
            <a:headEnd/>
            <a:tailEnd/>
          </a:ln>
        </p:spPr>
        <p:txBody>
          <a:bodyPr anchor="ctr">
            <a:spAutoFit/>
          </a:bodyPr>
          <a:lstStyle/>
          <a:p>
            <a:r>
              <a:rPr lang="en-US" altLang="zh-CN" sz="2800" dirty="0">
                <a:latin typeface="宋体" pitchFamily="2" charset="-122"/>
              </a:rPr>
              <a:t>[</a:t>
            </a:r>
            <a:r>
              <a:rPr lang="zh-CN" altLang="en-US" sz="2800" dirty="0">
                <a:latin typeface="宋体" pitchFamily="2" charset="-122"/>
              </a:rPr>
              <a:t>例</a:t>
            </a:r>
            <a:r>
              <a:rPr lang="en-US" altLang="zh-CN" sz="2800" dirty="0">
                <a:latin typeface="宋体" pitchFamily="2" charset="-122"/>
              </a:rPr>
              <a:t>]PC</a:t>
            </a:r>
            <a:r>
              <a:rPr lang="zh-CN" altLang="en-US" sz="2800" dirty="0">
                <a:latin typeface="宋体" pitchFamily="2" charset="-122"/>
              </a:rPr>
              <a:t>机所配置的显示器，若显示控制卡上刷存容量是</a:t>
            </a:r>
            <a:r>
              <a:rPr lang="en-US" altLang="zh-CN" sz="2800" dirty="0">
                <a:latin typeface="宋体" pitchFamily="2" charset="-122"/>
              </a:rPr>
              <a:t>1MB</a:t>
            </a:r>
            <a:r>
              <a:rPr lang="zh-CN" altLang="en-US" sz="2800" dirty="0">
                <a:latin typeface="宋体" pitchFamily="2" charset="-122"/>
              </a:rPr>
              <a:t>，则当采用</a:t>
            </a:r>
            <a:r>
              <a:rPr lang="en-US" altLang="zh-CN" sz="2800" dirty="0">
                <a:latin typeface="宋体" pitchFamily="2" charset="-122"/>
              </a:rPr>
              <a:t>800*600</a:t>
            </a:r>
            <a:r>
              <a:rPr lang="zh-CN" altLang="en-US" sz="2800" dirty="0">
                <a:latin typeface="宋体" pitchFamily="2" charset="-122"/>
              </a:rPr>
              <a:t>的分辨率模式时，每个象素最多可以</a:t>
            </a:r>
            <a:r>
              <a:rPr lang="zh-CN" altLang="en-US" sz="2800" dirty="0" smtClean="0">
                <a:latin typeface="宋体" pitchFamily="2" charset="-122"/>
              </a:rPr>
              <a:t>有多少种</a:t>
            </a:r>
            <a:r>
              <a:rPr lang="zh-CN" altLang="en-US" sz="2800" dirty="0">
                <a:latin typeface="宋体" pitchFamily="2" charset="-122"/>
              </a:rPr>
              <a:t>不同颜色。</a:t>
            </a:r>
            <a:br>
              <a:rPr lang="zh-CN" altLang="en-US" sz="2800" dirty="0">
                <a:latin typeface="宋体" pitchFamily="2" charset="-122"/>
              </a:rPr>
            </a:br>
            <a:r>
              <a:rPr lang="zh-CN" altLang="en-US" sz="2800" dirty="0">
                <a:latin typeface="宋体" pitchFamily="2" charset="-122"/>
              </a:rPr>
              <a:t>解：</a:t>
            </a:r>
            <a:r>
              <a:rPr lang="en-US" altLang="zh-CN" sz="2800" dirty="0">
                <a:latin typeface="宋体" pitchFamily="2" charset="-122"/>
              </a:rPr>
              <a:t>1024x1024x8/(800*600)=17.5,</a:t>
            </a:r>
            <a:r>
              <a:rPr lang="zh-CN" altLang="en-US" sz="2800" dirty="0">
                <a:latin typeface="宋体" pitchFamily="2" charset="-122"/>
              </a:rPr>
              <a:t>刷存容量取</a:t>
            </a:r>
            <a:r>
              <a:rPr lang="en-US" altLang="zh-CN" sz="2800" dirty="0">
                <a:latin typeface="宋体" pitchFamily="2" charset="-122"/>
              </a:rPr>
              <a:t>16</a:t>
            </a:r>
            <a:r>
              <a:rPr lang="zh-CN" altLang="en-US" sz="2800" dirty="0">
                <a:latin typeface="宋体" pitchFamily="2" charset="-122"/>
              </a:rPr>
              <a:t>位。</a:t>
            </a:r>
          </a:p>
          <a:p>
            <a:r>
              <a:rPr lang="zh-CN" altLang="en-US" sz="2800" dirty="0">
                <a:latin typeface="宋体" pitchFamily="2" charset="-122"/>
              </a:rPr>
              <a:t>　　每个象素最多可以有</a:t>
            </a:r>
            <a:r>
              <a:rPr lang="en-US" altLang="zh-CN" sz="2800" dirty="0">
                <a:latin typeface="宋体" pitchFamily="2" charset="-122"/>
              </a:rPr>
              <a:t>65536</a:t>
            </a:r>
            <a:r>
              <a:rPr lang="zh-CN" altLang="en-US" sz="2800" dirty="0">
                <a:latin typeface="宋体" pitchFamily="2" charset="-122"/>
              </a:rPr>
              <a:t>种不同颜色。</a:t>
            </a:r>
            <a:endParaRPr lang="zh-CN" altLang="en-US" sz="2800" dirty="0"/>
          </a:p>
        </p:txBody>
      </p:sp>
      <p:sp>
        <p:nvSpPr>
          <p:cNvPr id="53253" name="Rectangle 4"/>
          <p:cNvSpPr>
            <a:spLocks noChangeArrowheads="1"/>
          </p:cNvSpPr>
          <p:nvPr/>
        </p:nvSpPr>
        <p:spPr bwMode="auto">
          <a:xfrm>
            <a:off x="250825" y="260350"/>
            <a:ext cx="8569325" cy="1373188"/>
          </a:xfrm>
          <a:prstGeom prst="rect">
            <a:avLst/>
          </a:prstGeom>
          <a:solidFill>
            <a:srgbClr val="CCFFFF"/>
          </a:solidFill>
          <a:ln w="9525">
            <a:noFill/>
            <a:miter lim="800000"/>
            <a:headEnd/>
            <a:tailEnd/>
          </a:ln>
        </p:spPr>
        <p:txBody>
          <a:bodyPr anchor="ctr">
            <a:spAutoFit/>
          </a:bodyPr>
          <a:lstStyle/>
          <a:p>
            <a:r>
              <a:rPr lang="en-US" altLang="zh-CN" sz="2800" dirty="0">
                <a:latin typeface="宋体" pitchFamily="2" charset="-122"/>
              </a:rPr>
              <a:t>[</a:t>
            </a:r>
            <a:r>
              <a:rPr lang="zh-CN" altLang="en-US" sz="2800" dirty="0">
                <a:latin typeface="宋体" pitchFamily="2" charset="-122"/>
              </a:rPr>
              <a:t>例</a:t>
            </a:r>
            <a:r>
              <a:rPr lang="en-US" altLang="zh-CN" sz="2800" dirty="0">
                <a:latin typeface="宋体" pitchFamily="2" charset="-122"/>
              </a:rPr>
              <a:t>]CRT</a:t>
            </a:r>
            <a:r>
              <a:rPr lang="zh-CN" altLang="en-US" sz="2800" dirty="0">
                <a:latin typeface="宋体" pitchFamily="2" charset="-122"/>
              </a:rPr>
              <a:t>的分辨率为</a:t>
            </a:r>
            <a:r>
              <a:rPr lang="en-US" altLang="zh-CN" sz="2800" dirty="0">
                <a:latin typeface="宋体" pitchFamily="2" charset="-122"/>
              </a:rPr>
              <a:t>1024X1024</a:t>
            </a:r>
            <a:r>
              <a:rPr lang="zh-CN" altLang="en-US" sz="2800" dirty="0">
                <a:latin typeface="宋体" pitchFamily="2" charset="-122"/>
              </a:rPr>
              <a:t>像素，像素的颜色数为</a:t>
            </a:r>
            <a:r>
              <a:rPr lang="en-US" altLang="zh-CN" sz="2800" dirty="0">
                <a:latin typeface="宋体" pitchFamily="2" charset="-122"/>
              </a:rPr>
              <a:t>256</a:t>
            </a:r>
            <a:r>
              <a:rPr lang="zh-CN" altLang="en-US" sz="2800" dirty="0">
                <a:latin typeface="宋体" pitchFamily="2" charset="-122"/>
              </a:rPr>
              <a:t>，求刷新存储器的容量。</a:t>
            </a:r>
          </a:p>
          <a:p>
            <a:r>
              <a:rPr lang="zh-CN" altLang="en-US" sz="2800" dirty="0">
                <a:latin typeface="宋体" pitchFamily="2" charset="-122"/>
              </a:rPr>
              <a:t>解：刷新存储器的容量</a:t>
            </a:r>
            <a:r>
              <a:rPr lang="en-US" altLang="zh-CN" sz="2800" dirty="0">
                <a:latin typeface="宋体" pitchFamily="2" charset="-122"/>
              </a:rPr>
              <a:t>=1024x1024B=1MB</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p>
            <a:fld id="{8EE09998-3580-41D9-987A-EDBB42C0DCC5}" type="slidenum">
              <a:rPr lang="en-US" altLang="zh-CN" smtClean="0"/>
              <a:pPr/>
              <a:t>50</a:t>
            </a:fld>
            <a:endParaRPr lang="en-US" altLang="zh-CN" smtClean="0"/>
          </a:p>
        </p:txBody>
      </p:sp>
      <p:sp>
        <p:nvSpPr>
          <p:cNvPr id="54275" name="Rectangle 2"/>
          <p:cNvSpPr>
            <a:spLocks noGrp="1" noChangeArrowheads="1"/>
          </p:cNvSpPr>
          <p:nvPr>
            <p:ph type="title"/>
          </p:nvPr>
        </p:nvSpPr>
        <p:spPr>
          <a:xfrm>
            <a:off x="457200" y="115888"/>
            <a:ext cx="7543800" cy="649287"/>
          </a:xfrm>
        </p:spPr>
        <p:txBody>
          <a:bodyPr/>
          <a:lstStyle/>
          <a:p>
            <a:pPr eaLnBrk="1" hangingPunct="1"/>
            <a:r>
              <a:rPr lang="en-US" altLang="zh-CN" sz="3600" dirty="0" smtClean="0">
                <a:latin typeface="宋体" pitchFamily="2" charset="-122"/>
                <a:cs typeface="Arial" charset="0"/>
              </a:rPr>
              <a:t>7.6 </a:t>
            </a:r>
            <a:r>
              <a:rPr lang="zh-CN" altLang="en-US" sz="3600" dirty="0" smtClean="0">
                <a:latin typeface="宋体" pitchFamily="2" charset="-122"/>
              </a:rPr>
              <a:t>输入设备和打印设备</a:t>
            </a:r>
          </a:p>
        </p:txBody>
      </p:sp>
      <p:sp>
        <p:nvSpPr>
          <p:cNvPr id="54276" name="Rectangle 3"/>
          <p:cNvSpPr>
            <a:spLocks noChangeArrowheads="1"/>
          </p:cNvSpPr>
          <p:nvPr/>
        </p:nvSpPr>
        <p:spPr bwMode="auto">
          <a:xfrm>
            <a:off x="250825" y="815608"/>
            <a:ext cx="8640763" cy="5755422"/>
          </a:xfrm>
          <a:prstGeom prst="rect">
            <a:avLst/>
          </a:prstGeom>
          <a:solidFill>
            <a:srgbClr val="CCFFFF"/>
          </a:solidFill>
          <a:ln w="9525">
            <a:noFill/>
            <a:miter lim="800000"/>
            <a:headEnd/>
            <a:tailEnd/>
          </a:ln>
        </p:spPr>
        <p:txBody>
          <a:bodyPr anchor="ctr">
            <a:spAutoFit/>
          </a:bodyPr>
          <a:lstStyle/>
          <a:p>
            <a:r>
              <a:rPr lang="en-US" altLang="zh-CN" sz="3200" b="1" dirty="0" smtClean="0">
                <a:latin typeface="宋体" pitchFamily="2" charset="-122"/>
              </a:rPr>
              <a:t>7.6.1 </a:t>
            </a:r>
            <a:r>
              <a:rPr lang="zh-CN" altLang="en-US" sz="3200" b="1" dirty="0">
                <a:latin typeface="宋体" pitchFamily="2" charset="-122"/>
              </a:rPr>
              <a:t>输入设备</a:t>
            </a:r>
            <a:r>
              <a:rPr lang="zh-CN" altLang="en-US" sz="2400" dirty="0">
                <a:latin typeface="宋体" pitchFamily="2" charset="-122"/>
              </a:rPr>
              <a:t> 　　　　　　　 </a:t>
            </a:r>
          </a:p>
          <a:p>
            <a:r>
              <a:rPr lang="zh-CN" altLang="en-US" sz="2400" dirty="0">
                <a:latin typeface="宋体" pitchFamily="2" charset="-122"/>
              </a:rPr>
              <a:t>　　常用的计算机输入设备分为</a:t>
            </a:r>
            <a:r>
              <a:rPr lang="zh-CN" altLang="en-US" sz="2400" b="1" dirty="0">
                <a:latin typeface="宋体" pitchFamily="2" charset="-122"/>
              </a:rPr>
              <a:t>图形输入、图像输入、声音输入</a:t>
            </a:r>
            <a:r>
              <a:rPr lang="zh-CN" altLang="en-US" sz="2400" dirty="0">
                <a:latin typeface="宋体" pitchFamily="2" charset="-122"/>
              </a:rPr>
              <a:t>等几类：</a:t>
            </a:r>
          </a:p>
          <a:p>
            <a:r>
              <a:rPr lang="en-US" altLang="zh-CN" sz="2400" b="1" dirty="0">
                <a:latin typeface="宋体" pitchFamily="2" charset="-122"/>
              </a:rPr>
              <a:t>1.</a:t>
            </a:r>
            <a:r>
              <a:rPr lang="zh-CN" altLang="en-US" sz="2400" b="1" dirty="0">
                <a:latin typeface="宋体" pitchFamily="2" charset="-122"/>
              </a:rPr>
              <a:t>图形输入设备</a:t>
            </a:r>
            <a:endParaRPr lang="zh-CN" altLang="en-US" sz="2400" dirty="0">
              <a:latin typeface="宋体" pitchFamily="2" charset="-122"/>
            </a:endParaRPr>
          </a:p>
          <a:p>
            <a:r>
              <a:rPr lang="zh-CN" altLang="en-US" sz="2400" dirty="0">
                <a:latin typeface="宋体" pitchFamily="2" charset="-122"/>
              </a:rPr>
              <a:t>　　图形输入方法较多，特别是交互式图形系统要求具有人</a:t>
            </a:r>
            <a:r>
              <a:rPr lang="en-US" altLang="zh-CN" sz="2400" dirty="0">
                <a:latin typeface="宋体" pitchFamily="2" charset="-122"/>
              </a:rPr>
              <a:t>-</a:t>
            </a:r>
            <a:r>
              <a:rPr lang="zh-CN" altLang="en-US" sz="2400" dirty="0">
                <a:latin typeface="宋体" pitchFamily="2" charset="-122"/>
              </a:rPr>
              <a:t>机对话功能：计算机将结果显示给人，人根据看到的显示决定下一步操作，并通过输入设备告诉计算机。如此反复多次，直到显示结果满意为止。为此必须具有方便灵活的输入手段，才能体现“交互式”的优越性。 </a:t>
            </a:r>
          </a:p>
          <a:p>
            <a:r>
              <a:rPr lang="zh-CN" altLang="en-US" sz="2400" dirty="0">
                <a:latin typeface="宋体" pitchFamily="2" charset="-122"/>
              </a:rPr>
              <a:t>    </a:t>
            </a:r>
            <a:r>
              <a:rPr lang="en-US" altLang="zh-CN" sz="2400" b="1" dirty="0">
                <a:latin typeface="宋体" pitchFamily="2" charset="-122"/>
              </a:rPr>
              <a:t>(1)</a:t>
            </a:r>
            <a:r>
              <a:rPr lang="zh-CN" altLang="en-US" sz="2400" b="1" dirty="0">
                <a:latin typeface="宋体" pitchFamily="2" charset="-122"/>
              </a:rPr>
              <a:t>键盘输入</a:t>
            </a:r>
          </a:p>
          <a:p>
            <a:r>
              <a:rPr lang="zh-CN" altLang="en-US" sz="2400" b="1" dirty="0">
                <a:latin typeface="宋体" pitchFamily="2" charset="-122"/>
              </a:rPr>
              <a:t>    </a:t>
            </a:r>
            <a:r>
              <a:rPr lang="zh-CN" altLang="en-US" sz="2400" dirty="0">
                <a:latin typeface="宋体" pitchFamily="2" charset="-122"/>
              </a:rPr>
              <a:t>键盘是字符和数字的输入装置，无论字符输入还是图形输入，键盘是一种最基本的常用设备。</a:t>
            </a:r>
          </a:p>
          <a:p>
            <a:r>
              <a:rPr lang="zh-CN" altLang="en-US" sz="2400" dirty="0">
                <a:latin typeface="宋体" pitchFamily="2" charset="-122"/>
              </a:rPr>
              <a:t>    </a:t>
            </a:r>
            <a:r>
              <a:rPr lang="en-US" altLang="zh-CN" sz="2400" b="1" dirty="0">
                <a:latin typeface="宋体" pitchFamily="2" charset="-122"/>
              </a:rPr>
              <a:t>(2)</a:t>
            </a:r>
            <a:r>
              <a:rPr lang="zh-CN" altLang="en-US" sz="2400" b="1" dirty="0">
                <a:latin typeface="宋体" pitchFamily="2" charset="-122"/>
              </a:rPr>
              <a:t>鼠标器输入</a:t>
            </a:r>
          </a:p>
          <a:p>
            <a:r>
              <a:rPr lang="zh-CN" altLang="en-US" sz="2400" b="1" dirty="0">
                <a:latin typeface="宋体" pitchFamily="2" charset="-122"/>
              </a:rPr>
              <a:t>    </a:t>
            </a:r>
            <a:r>
              <a:rPr lang="zh-CN" altLang="en-US" sz="2400" dirty="0">
                <a:latin typeface="宋体" pitchFamily="2" charset="-122"/>
              </a:rPr>
              <a:t>鼠标器是一种手持的坐标定位部件，有两种类型。一种是机械式的，另一种是光电式的。</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p:spPr>
        <p:txBody>
          <a:bodyPr/>
          <a:lstStyle/>
          <a:p>
            <a:fld id="{7629AA60-47E7-4976-AAC7-5391C63BFE65}" type="slidenum">
              <a:rPr lang="en-US" altLang="zh-CN" smtClean="0"/>
              <a:pPr/>
              <a:t>51</a:t>
            </a:fld>
            <a:endParaRPr lang="en-US" altLang="zh-CN" smtClean="0"/>
          </a:p>
        </p:txBody>
      </p:sp>
      <p:sp>
        <p:nvSpPr>
          <p:cNvPr id="55299" name="Rectangle 2"/>
          <p:cNvSpPr>
            <a:spLocks noChangeArrowheads="1"/>
          </p:cNvSpPr>
          <p:nvPr/>
        </p:nvSpPr>
        <p:spPr bwMode="auto">
          <a:xfrm>
            <a:off x="323850" y="169853"/>
            <a:ext cx="8496300" cy="3416320"/>
          </a:xfrm>
          <a:prstGeom prst="rect">
            <a:avLst/>
          </a:prstGeom>
          <a:solidFill>
            <a:srgbClr val="CCFFFF"/>
          </a:solidFill>
          <a:ln w="9525">
            <a:noFill/>
            <a:miter lim="800000"/>
            <a:headEnd/>
            <a:tailEnd/>
          </a:ln>
        </p:spPr>
        <p:txBody>
          <a:bodyPr anchor="ctr">
            <a:spAutoFit/>
          </a:bodyPr>
          <a:lstStyle/>
          <a:p>
            <a:r>
              <a:rPr lang="en-US" altLang="zh-CN" sz="2400" b="1" dirty="0">
                <a:latin typeface="宋体" pitchFamily="2" charset="-122"/>
              </a:rPr>
              <a:t>2.</a:t>
            </a:r>
            <a:r>
              <a:rPr lang="zh-CN" altLang="en-US" sz="2400" b="1" dirty="0">
                <a:latin typeface="宋体" pitchFamily="2" charset="-122"/>
              </a:rPr>
              <a:t>图像输入设备</a:t>
            </a:r>
            <a:endParaRPr lang="zh-CN" altLang="en-US" sz="2400" dirty="0">
              <a:latin typeface="宋体" pitchFamily="2" charset="-122"/>
            </a:endParaRPr>
          </a:p>
          <a:p>
            <a:r>
              <a:rPr lang="zh-CN" altLang="en-US" sz="2400" dirty="0">
                <a:latin typeface="宋体" pitchFamily="2" charset="-122"/>
              </a:rPr>
              <a:t>　　最理想的图像输入设备是数字摄像机。它可以摄取任何地点、任何环境的自然景物和物体，直接将数字图像存入磁盘。  </a:t>
            </a:r>
          </a:p>
          <a:p>
            <a:r>
              <a:rPr lang="zh-CN" altLang="en-US" sz="2400" dirty="0">
                <a:latin typeface="宋体" pitchFamily="2" charset="-122"/>
              </a:rPr>
              <a:t>　  </a:t>
            </a:r>
            <a:r>
              <a:rPr lang="zh-CN" altLang="en-US" sz="2400" dirty="0" smtClean="0">
                <a:latin typeface="宋体" pitchFamily="2" charset="-122"/>
              </a:rPr>
              <a:t>由于</a:t>
            </a:r>
            <a:r>
              <a:rPr lang="zh-CN" altLang="en-US" sz="2400" dirty="0">
                <a:latin typeface="宋体" pitchFamily="2" charset="-122"/>
              </a:rPr>
              <a:t>一帧数字图像要占很大的存储空间，图像数据的传输与存储间题将是一个十分重要的研究课题，目前普遍采用的方法是压缩</a:t>
            </a:r>
            <a:r>
              <a:rPr lang="en-US" altLang="zh-CN" sz="2400" dirty="0">
                <a:latin typeface="宋体" pitchFamily="2" charset="-122"/>
              </a:rPr>
              <a:t>-</a:t>
            </a:r>
            <a:r>
              <a:rPr lang="zh-CN" altLang="en-US" sz="2400" dirty="0">
                <a:latin typeface="宋体" pitchFamily="2" charset="-122"/>
              </a:rPr>
              <a:t>恢复技术。</a:t>
            </a:r>
          </a:p>
          <a:p>
            <a:r>
              <a:rPr lang="en-US" altLang="zh-CN" sz="2400" b="1" dirty="0">
                <a:latin typeface="宋体" pitchFamily="2" charset="-122"/>
              </a:rPr>
              <a:t>3.</a:t>
            </a:r>
            <a:r>
              <a:rPr lang="zh-CN" altLang="en-US" sz="2400" b="1" dirty="0">
                <a:latin typeface="宋体" pitchFamily="2" charset="-122"/>
              </a:rPr>
              <a:t>语音输入设备</a:t>
            </a:r>
            <a:endParaRPr lang="zh-CN" altLang="en-US" sz="2400" dirty="0">
              <a:latin typeface="宋体" pitchFamily="2" charset="-122"/>
            </a:endParaRPr>
          </a:p>
          <a:p>
            <a:r>
              <a:rPr lang="zh-CN" altLang="en-US" sz="2400" dirty="0">
                <a:latin typeface="宋体" pitchFamily="2" charset="-122"/>
              </a:rPr>
              <a:t>　　利用人的自然语音实现人</a:t>
            </a:r>
            <a:r>
              <a:rPr lang="en-US" altLang="zh-CN" sz="2400" dirty="0">
                <a:latin typeface="宋体" pitchFamily="2" charset="-122"/>
              </a:rPr>
              <a:t>-</a:t>
            </a:r>
            <a:r>
              <a:rPr lang="zh-CN" altLang="en-US" sz="2400" dirty="0">
                <a:latin typeface="宋体" pitchFamily="2" charset="-122"/>
              </a:rPr>
              <a:t>机对话是新一代多媒体计算机的重要标志之一。</a:t>
            </a:r>
            <a:endParaRPr lang="zh-CN" altLang="en-US" sz="2400" dirty="0"/>
          </a:p>
        </p:txBody>
      </p:sp>
      <p:pic>
        <p:nvPicPr>
          <p:cNvPr id="55300" name="Picture 3" descr="7a19"/>
          <p:cNvPicPr>
            <a:picLocks noChangeAspect="1" noChangeArrowheads="1"/>
          </p:cNvPicPr>
          <p:nvPr/>
        </p:nvPicPr>
        <p:blipFill>
          <a:blip r:embed="rId2"/>
          <a:srcRect/>
          <a:stretch>
            <a:fillRect/>
          </a:stretch>
        </p:blipFill>
        <p:spPr bwMode="auto">
          <a:xfrm>
            <a:off x="611188" y="3716338"/>
            <a:ext cx="5976937" cy="2978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p:spPr>
        <p:txBody>
          <a:bodyPr/>
          <a:lstStyle/>
          <a:p>
            <a:fld id="{A49338E3-3D40-410D-BFF1-BD8404F36213}" type="slidenum">
              <a:rPr lang="en-US" altLang="zh-CN" smtClean="0"/>
              <a:pPr/>
              <a:t>52</a:t>
            </a:fld>
            <a:endParaRPr lang="en-US" altLang="zh-CN" smtClean="0"/>
          </a:p>
        </p:txBody>
      </p:sp>
      <p:sp>
        <p:nvSpPr>
          <p:cNvPr id="56323" name="Rectangle 2"/>
          <p:cNvSpPr>
            <a:spLocks noChangeArrowheads="1"/>
          </p:cNvSpPr>
          <p:nvPr/>
        </p:nvSpPr>
        <p:spPr bwMode="auto">
          <a:xfrm>
            <a:off x="250825" y="497037"/>
            <a:ext cx="8642350" cy="5386090"/>
          </a:xfrm>
          <a:prstGeom prst="rect">
            <a:avLst/>
          </a:prstGeom>
          <a:solidFill>
            <a:srgbClr val="CCFFFF"/>
          </a:solidFill>
          <a:ln w="9525">
            <a:noFill/>
            <a:miter lim="800000"/>
            <a:headEnd/>
            <a:tailEnd/>
          </a:ln>
        </p:spPr>
        <p:txBody>
          <a:bodyPr anchor="ctr">
            <a:spAutoFit/>
          </a:bodyPr>
          <a:lstStyle/>
          <a:p>
            <a:r>
              <a:rPr lang="en-US" altLang="zh-CN" sz="3200" b="1" dirty="0" smtClean="0">
                <a:latin typeface="宋体" pitchFamily="2" charset="-122"/>
              </a:rPr>
              <a:t>7.6.2 </a:t>
            </a:r>
            <a:r>
              <a:rPr lang="zh-CN" altLang="en-US" sz="3200" b="1" dirty="0">
                <a:latin typeface="宋体" pitchFamily="2" charset="-122"/>
              </a:rPr>
              <a:t>打印设备</a:t>
            </a:r>
            <a:r>
              <a:rPr lang="zh-CN" altLang="en-US" sz="2400" b="1" dirty="0">
                <a:latin typeface="宋体" pitchFamily="2" charset="-122"/>
              </a:rPr>
              <a:t> </a:t>
            </a:r>
            <a:r>
              <a:rPr lang="zh-CN" altLang="en-US" sz="2400" b="1" i="1" dirty="0">
                <a:latin typeface="宋体" pitchFamily="2" charset="-122"/>
              </a:rPr>
              <a:t>　　　　　　　　</a:t>
            </a:r>
            <a:endParaRPr lang="zh-CN" altLang="en-US" sz="2400" b="1" dirty="0">
              <a:latin typeface="宋体" pitchFamily="2" charset="-122"/>
            </a:endParaRPr>
          </a:p>
          <a:p>
            <a:r>
              <a:rPr lang="zh-CN" altLang="en-US" sz="2400" dirty="0">
                <a:latin typeface="宋体" pitchFamily="2" charset="-122"/>
              </a:rPr>
              <a:t>　　打印输出是计算机最基本的输出形式。与显示器输出相比，打印输出可产生永久性记录， 因此</a:t>
            </a:r>
            <a:r>
              <a:rPr lang="zh-CN" altLang="en-US" sz="2400" b="1" dirty="0">
                <a:latin typeface="宋体" pitchFamily="2" charset="-122"/>
              </a:rPr>
              <a:t>打印设备</a:t>
            </a:r>
            <a:r>
              <a:rPr lang="zh-CN" altLang="en-US" sz="2400" dirty="0">
                <a:latin typeface="宋体" pitchFamily="2" charset="-122"/>
              </a:rPr>
              <a:t>又称为</a:t>
            </a:r>
            <a:r>
              <a:rPr lang="zh-CN" altLang="en-US" sz="2400" b="1" dirty="0">
                <a:latin typeface="宋体" pitchFamily="2" charset="-122"/>
              </a:rPr>
              <a:t>硬拷贝设备</a:t>
            </a:r>
            <a:r>
              <a:rPr lang="zh-CN" altLang="en-US" sz="2400" dirty="0">
                <a:latin typeface="宋体" pitchFamily="2" charset="-122"/>
              </a:rPr>
              <a:t>。</a:t>
            </a:r>
          </a:p>
          <a:p>
            <a:r>
              <a:rPr lang="en-US" altLang="zh-CN" sz="2400" b="1" dirty="0">
                <a:latin typeface="宋体" pitchFamily="2" charset="-122"/>
              </a:rPr>
              <a:t>1.</a:t>
            </a:r>
            <a:r>
              <a:rPr lang="zh-CN" altLang="en-US" sz="2400" b="1" dirty="0">
                <a:latin typeface="宋体" pitchFamily="2" charset="-122"/>
              </a:rPr>
              <a:t>打印设备的分类</a:t>
            </a:r>
            <a:endParaRPr lang="zh-CN" altLang="en-US" sz="2400" dirty="0">
              <a:latin typeface="宋体" pitchFamily="2" charset="-122"/>
            </a:endParaRPr>
          </a:p>
          <a:p>
            <a:r>
              <a:rPr lang="zh-CN" altLang="en-US" sz="2400" dirty="0">
                <a:latin typeface="宋体" pitchFamily="2" charset="-122"/>
              </a:rPr>
              <a:t>　　按印字原理分，分为</a:t>
            </a:r>
            <a:r>
              <a:rPr lang="zh-CN" altLang="en-US" sz="2400" b="1" dirty="0">
                <a:latin typeface="宋体" pitchFamily="2" charset="-122"/>
              </a:rPr>
              <a:t>击打式</a:t>
            </a:r>
            <a:r>
              <a:rPr lang="zh-CN" altLang="en-US" sz="2400" dirty="0">
                <a:latin typeface="宋体" pitchFamily="2" charset="-122"/>
              </a:rPr>
              <a:t>和</a:t>
            </a:r>
            <a:r>
              <a:rPr lang="zh-CN" altLang="en-US" sz="2400" b="1" dirty="0">
                <a:latin typeface="宋体" pitchFamily="2" charset="-122"/>
              </a:rPr>
              <a:t>非击打式</a:t>
            </a:r>
            <a:r>
              <a:rPr lang="zh-CN" altLang="en-US" sz="2400" dirty="0">
                <a:latin typeface="宋体" pitchFamily="2" charset="-122"/>
              </a:rPr>
              <a:t>两大类。击打式是利用机械作用使印字机构与色带和纸相撞击而打印字符。因此习惯上将属于击打式打印方式的机种称为“打印机”。击打式设备的成本低，缺点是噪音大，速度慢。非击打式是采用电、磁、光、喷墨等物理、化学方法印刷字符，因此习惯上将这类非击打式的机种称为“印字机”，如激光印字机，喷墨印字机等。非击打式的设备速度快，噪音低，印字质量高，但价格较贵，有的设备还需要专用纸张。</a:t>
            </a:r>
          </a:p>
          <a:p>
            <a:r>
              <a:rPr lang="zh-CN" altLang="en-US" sz="2400" dirty="0">
                <a:latin typeface="宋体" pitchFamily="2" charset="-122"/>
              </a:rPr>
              <a:t>　　另外还有能够输出图形</a:t>
            </a:r>
            <a:r>
              <a:rPr lang="en-US" altLang="zh-CN" sz="2400" dirty="0">
                <a:latin typeface="宋体" pitchFamily="2" charset="-122"/>
              </a:rPr>
              <a:t>/</a:t>
            </a:r>
            <a:r>
              <a:rPr lang="zh-CN" altLang="en-US" sz="2400" dirty="0">
                <a:latin typeface="宋体" pitchFamily="2" charset="-122"/>
              </a:rPr>
              <a:t>图像的打印机，具有彩色效果的彩色打印机等。</a:t>
            </a:r>
            <a:endParaRPr lang="zh-CN" alt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p>
            <a:fld id="{FE230F5B-1EB9-4BAF-B1E5-D64C5BAE411B}" type="slidenum">
              <a:rPr lang="en-US" altLang="zh-CN" smtClean="0"/>
              <a:pPr/>
              <a:t>53</a:t>
            </a:fld>
            <a:endParaRPr lang="en-US" altLang="zh-CN" smtClean="0"/>
          </a:p>
        </p:txBody>
      </p:sp>
      <p:pic>
        <p:nvPicPr>
          <p:cNvPr id="57347" name="Picture 2" descr="7a20">
            <a:hlinkClick r:id="rId2"/>
          </p:cNvPr>
          <p:cNvPicPr>
            <a:picLocks noChangeAspect="1" noChangeArrowheads="1"/>
          </p:cNvPicPr>
          <p:nvPr/>
        </p:nvPicPr>
        <p:blipFill>
          <a:blip r:embed="rId3"/>
          <a:srcRect/>
          <a:stretch>
            <a:fillRect/>
          </a:stretch>
        </p:blipFill>
        <p:spPr bwMode="auto">
          <a:xfrm>
            <a:off x="323850" y="1484313"/>
            <a:ext cx="6119813" cy="3016250"/>
          </a:xfrm>
          <a:prstGeom prst="rect">
            <a:avLst/>
          </a:prstGeom>
          <a:noFill/>
          <a:ln w="9525">
            <a:noFill/>
            <a:miter lim="800000"/>
            <a:headEnd/>
            <a:tailEnd/>
          </a:ln>
        </p:spPr>
      </p:pic>
      <p:sp>
        <p:nvSpPr>
          <p:cNvPr id="57348" name="Rectangle 3"/>
          <p:cNvSpPr>
            <a:spLocks noChangeArrowheads="1"/>
          </p:cNvSpPr>
          <p:nvPr/>
        </p:nvSpPr>
        <p:spPr bwMode="auto">
          <a:xfrm>
            <a:off x="250825" y="188913"/>
            <a:ext cx="8713788" cy="1187450"/>
          </a:xfrm>
          <a:prstGeom prst="rect">
            <a:avLst/>
          </a:prstGeom>
          <a:solidFill>
            <a:srgbClr val="CCFFFF"/>
          </a:solidFill>
          <a:ln w="9525">
            <a:noFill/>
            <a:miter lim="800000"/>
            <a:headEnd/>
            <a:tailEnd/>
          </a:ln>
        </p:spPr>
        <p:txBody>
          <a:bodyPr anchor="ctr">
            <a:spAutoFit/>
          </a:bodyPr>
          <a:lstStyle/>
          <a:p>
            <a:r>
              <a:rPr lang="en-US" altLang="zh-CN" sz="2400" b="1">
                <a:latin typeface="宋体" pitchFamily="2" charset="-122"/>
              </a:rPr>
              <a:t>2.</a:t>
            </a:r>
            <a:r>
              <a:rPr lang="zh-CN" altLang="en-US" sz="2400" b="1">
                <a:latin typeface="宋体" pitchFamily="2" charset="-122"/>
                <a:hlinkClick r:id="rId2"/>
              </a:rPr>
              <a:t>激光印字机</a:t>
            </a:r>
            <a:endParaRPr lang="zh-CN" altLang="en-US" sz="2400">
              <a:latin typeface="宋体" pitchFamily="2" charset="-122"/>
            </a:endParaRPr>
          </a:p>
          <a:p>
            <a:r>
              <a:rPr lang="zh-CN" altLang="en-US" sz="2400">
                <a:latin typeface="宋体" pitchFamily="2" charset="-122"/>
              </a:rPr>
              <a:t>　　激光印字机是激光技术和电子照相技术结合的产物，其基本原理与静电复印机相似。</a:t>
            </a:r>
            <a:endParaRPr lang="zh-CN" altLang="en-US"/>
          </a:p>
        </p:txBody>
      </p:sp>
      <p:sp>
        <p:nvSpPr>
          <p:cNvPr id="94212" name="Rectangle 4"/>
          <p:cNvSpPr>
            <a:spLocks noChangeArrowheads="1"/>
          </p:cNvSpPr>
          <p:nvPr/>
        </p:nvSpPr>
        <p:spPr bwMode="auto">
          <a:xfrm>
            <a:off x="179388" y="4652963"/>
            <a:ext cx="8785225" cy="1552575"/>
          </a:xfrm>
          <a:prstGeom prst="rect">
            <a:avLst/>
          </a:prstGeom>
          <a:solidFill>
            <a:srgbClr val="CCFFFF"/>
          </a:solidFill>
          <a:ln w="9525">
            <a:noFill/>
            <a:miter lim="800000"/>
            <a:headEnd/>
            <a:tailEnd/>
          </a:ln>
        </p:spPr>
        <p:txBody>
          <a:bodyPr anchor="ctr">
            <a:spAutoFit/>
          </a:bodyPr>
          <a:lstStyle/>
          <a:p>
            <a:pPr eaLnBrk="0" hangingPunct="0"/>
            <a:r>
              <a:rPr lang="en-US" altLang="zh-CN" sz="2400">
                <a:latin typeface="宋体" pitchFamily="2" charset="-122"/>
              </a:rPr>
              <a:t>    </a:t>
            </a:r>
            <a:r>
              <a:rPr lang="zh-CN" altLang="en-US" sz="2400">
                <a:latin typeface="宋体" pitchFamily="2" charset="-122"/>
              </a:rPr>
              <a:t>激光器输出的激光束经光学透镜系统被聚焦成细小的光点，沿着圆周运动的滚筒进行横向重复扫描。滚筒是记录装置，表面镀有一层具有光敏特性的感光材料，通常是硒，因此又将滚筒称为硒鼓。</a:t>
            </a:r>
          </a:p>
        </p:txBody>
      </p:sp>
      <p:sp>
        <p:nvSpPr>
          <p:cNvPr id="94213" name="Rectangle 5"/>
          <p:cNvSpPr>
            <a:spLocks noChangeArrowheads="1"/>
          </p:cNvSpPr>
          <p:nvPr/>
        </p:nvSpPr>
        <p:spPr bwMode="auto">
          <a:xfrm>
            <a:off x="179388" y="4652963"/>
            <a:ext cx="8785225" cy="1917700"/>
          </a:xfrm>
          <a:prstGeom prst="rect">
            <a:avLst/>
          </a:prstGeom>
          <a:solidFill>
            <a:srgbClr val="CCFFFF"/>
          </a:solidFill>
          <a:ln w="9525">
            <a:noFill/>
            <a:miter lim="800000"/>
            <a:headEnd/>
            <a:tailEnd/>
          </a:ln>
        </p:spPr>
        <p:txBody>
          <a:bodyPr anchor="ctr">
            <a:spAutoFit/>
          </a:bodyPr>
          <a:lstStyle/>
          <a:p>
            <a:pPr eaLnBrk="0" hangingPunct="0"/>
            <a:r>
              <a:rPr lang="en-US" altLang="zh-CN" sz="2400">
                <a:latin typeface="宋体" pitchFamily="2" charset="-122"/>
              </a:rPr>
              <a:t>    </a:t>
            </a:r>
            <a:r>
              <a:rPr lang="zh-CN" altLang="en-US" sz="2400">
                <a:latin typeface="宋体" pitchFamily="2" charset="-122"/>
              </a:rPr>
              <a:t>硒鼓在未被激光束扫描之前，首先在黑暗中</a:t>
            </a:r>
            <a:r>
              <a:rPr lang="zh-CN" altLang="en-US" sz="2400">
                <a:solidFill>
                  <a:srgbClr val="0000FF"/>
                </a:solidFill>
                <a:latin typeface="宋体" pitchFamily="2" charset="-122"/>
              </a:rPr>
              <a:t>充电</a:t>
            </a:r>
            <a:r>
              <a:rPr lang="zh-CN" altLang="en-US" sz="2400">
                <a:latin typeface="宋体" pitchFamily="2" charset="-122"/>
              </a:rPr>
              <a:t>，使鼓表面均匀地沉积一层电荷。此后根据控制电路输出的字符或图形，变换成数字信号来驱动激光器的打开与关闭。扫描时激光器将对鼓表面有选择地</a:t>
            </a:r>
            <a:r>
              <a:rPr lang="zh-CN" altLang="en-US" sz="2400">
                <a:solidFill>
                  <a:srgbClr val="0000FF"/>
                </a:solidFill>
                <a:latin typeface="宋体" pitchFamily="2" charset="-122"/>
              </a:rPr>
              <a:t>曝光</a:t>
            </a:r>
            <a:r>
              <a:rPr lang="zh-CN" altLang="en-US" sz="2400">
                <a:latin typeface="宋体" pitchFamily="2" charset="-122"/>
              </a:rPr>
              <a:t>，曝光部分产生放电现象，未曝光部分仍保留充电时的电荷，从而形成静电潜像。</a:t>
            </a:r>
          </a:p>
        </p:txBody>
      </p:sp>
      <p:sp>
        <p:nvSpPr>
          <p:cNvPr id="94214" name="Rectangle 6"/>
          <p:cNvSpPr>
            <a:spLocks noChangeArrowheads="1"/>
          </p:cNvSpPr>
          <p:nvPr/>
        </p:nvSpPr>
        <p:spPr bwMode="auto">
          <a:xfrm>
            <a:off x="179388" y="4505325"/>
            <a:ext cx="8785225" cy="2282825"/>
          </a:xfrm>
          <a:prstGeom prst="rect">
            <a:avLst/>
          </a:prstGeom>
          <a:solidFill>
            <a:srgbClr val="CCFFFF"/>
          </a:solidFill>
          <a:ln w="9525">
            <a:noFill/>
            <a:miter lim="800000"/>
            <a:headEnd/>
            <a:tailEnd/>
          </a:ln>
        </p:spPr>
        <p:txBody>
          <a:bodyPr anchor="ctr">
            <a:spAutoFit/>
          </a:bodyPr>
          <a:lstStyle/>
          <a:p>
            <a:pPr eaLnBrk="0" hangingPunct="0"/>
            <a:r>
              <a:rPr lang="zh-CN" altLang="en-US" sz="2400" dirty="0">
                <a:latin typeface="宋体" pitchFamily="2" charset="-122"/>
              </a:rPr>
              <a:t>随着鼓的转动，潜像部分将通过装有碳粉盒的显影器，使具有字符信息的区域吸附上碳粉，达到</a:t>
            </a:r>
            <a:r>
              <a:rPr lang="zh-CN" altLang="en-US" sz="2400" dirty="0">
                <a:solidFill>
                  <a:srgbClr val="0000FF"/>
                </a:solidFill>
                <a:latin typeface="宋体" pitchFamily="2" charset="-122"/>
              </a:rPr>
              <a:t>显影</a:t>
            </a:r>
            <a:r>
              <a:rPr lang="zh-CN" altLang="en-US" sz="2400" dirty="0">
                <a:latin typeface="宋体" pitchFamily="2" charset="-122"/>
              </a:rPr>
              <a:t>的目的。当鼓上的字符信息区和普通纸接触时，由于在纸的背面施以反向的静电电荷，鼓表面上的碳粉就会被吸附到纸上来，这个过程称为</a:t>
            </a:r>
            <a:r>
              <a:rPr lang="zh-CN" altLang="en-US" sz="2400" dirty="0">
                <a:solidFill>
                  <a:srgbClr val="0000FF"/>
                </a:solidFill>
                <a:latin typeface="宋体" pitchFamily="2" charset="-122"/>
              </a:rPr>
              <a:t>转印</a:t>
            </a:r>
            <a:r>
              <a:rPr lang="zh-CN" altLang="en-US" sz="2400" dirty="0">
                <a:latin typeface="宋体" pitchFamily="2" charset="-122"/>
              </a:rPr>
              <a:t>。最后，当记录有信息的纸经过</a:t>
            </a:r>
            <a:r>
              <a:rPr lang="zh-CN" altLang="en-US" sz="2400" dirty="0">
                <a:solidFill>
                  <a:srgbClr val="0000FF"/>
                </a:solidFill>
                <a:latin typeface="宋体" pitchFamily="2" charset="-122"/>
              </a:rPr>
              <a:t>定影</a:t>
            </a:r>
            <a:r>
              <a:rPr lang="zh-CN" altLang="en-US" sz="2400" dirty="0">
                <a:latin typeface="宋体" pitchFamily="2" charset="-122"/>
              </a:rPr>
              <a:t>辊高温加热，碳粉被溶化，永久性地粘附在纸上，达到定影的效果。</a:t>
            </a:r>
          </a:p>
        </p:txBody>
      </p:sp>
      <p:sp>
        <p:nvSpPr>
          <p:cNvPr id="94215" name="Rectangle 7"/>
          <p:cNvSpPr>
            <a:spLocks noChangeArrowheads="1"/>
          </p:cNvSpPr>
          <p:nvPr/>
        </p:nvSpPr>
        <p:spPr bwMode="auto">
          <a:xfrm>
            <a:off x="179388" y="4508500"/>
            <a:ext cx="8785225" cy="1917700"/>
          </a:xfrm>
          <a:prstGeom prst="rect">
            <a:avLst/>
          </a:prstGeom>
          <a:solidFill>
            <a:srgbClr val="CCFFFF"/>
          </a:solidFill>
          <a:ln w="9525">
            <a:noFill/>
            <a:miter lim="800000"/>
            <a:headEnd/>
            <a:tailEnd/>
          </a:ln>
        </p:spPr>
        <p:txBody>
          <a:bodyPr anchor="ctr">
            <a:spAutoFit/>
          </a:bodyPr>
          <a:lstStyle/>
          <a:p>
            <a:pPr eaLnBrk="0" hangingPunct="0"/>
            <a:r>
              <a:rPr lang="zh-CN" altLang="en-US" sz="2400">
                <a:latin typeface="宋体" pitchFamily="2" charset="-122"/>
              </a:rPr>
              <a:t>　　激光印字机是非击打式硬拷贝输出设备，输出速度快，印字质量高，可使用普通纸张。其印字分辨率达到每英寸</a:t>
            </a:r>
            <a:r>
              <a:rPr lang="en-US" altLang="zh-CN" sz="2400">
                <a:latin typeface="宋体" pitchFamily="2" charset="-122"/>
              </a:rPr>
              <a:t>300</a:t>
            </a:r>
            <a:r>
              <a:rPr lang="zh-CN" altLang="en-US" sz="2400">
                <a:latin typeface="宋体" pitchFamily="2" charset="-122"/>
              </a:rPr>
              <a:t>个点以上，缓冲存储器容量一般在</a:t>
            </a:r>
            <a:r>
              <a:rPr lang="en-US" altLang="zh-CN" sz="2400">
                <a:latin typeface="宋体" pitchFamily="2" charset="-122"/>
              </a:rPr>
              <a:t>1MB</a:t>
            </a:r>
            <a:r>
              <a:rPr lang="zh-CN" altLang="en-US" sz="2400">
                <a:latin typeface="宋体" pitchFamily="2" charset="-122"/>
              </a:rPr>
              <a:t>以上，对汉字或图形</a:t>
            </a:r>
            <a:r>
              <a:rPr lang="en-US" altLang="zh-CN" sz="2400">
                <a:latin typeface="宋体" pitchFamily="2" charset="-122"/>
              </a:rPr>
              <a:t>/</a:t>
            </a:r>
            <a:r>
              <a:rPr lang="zh-CN" altLang="en-US" sz="2400">
                <a:latin typeface="宋体" pitchFamily="2" charset="-122"/>
              </a:rPr>
              <a:t>图像输出，是理想的输出设备，因而在办公自动化及轻印刷系统中得到了广泛的应用。</a:t>
            </a:r>
          </a:p>
        </p:txBody>
      </p:sp>
      <p:sp>
        <p:nvSpPr>
          <p:cNvPr id="94216" name="Rectangle 8"/>
          <p:cNvSpPr>
            <a:spLocks noChangeArrowheads="1"/>
          </p:cNvSpPr>
          <p:nvPr/>
        </p:nvSpPr>
        <p:spPr bwMode="auto">
          <a:xfrm>
            <a:off x="179388" y="4508500"/>
            <a:ext cx="8785225" cy="1552575"/>
          </a:xfrm>
          <a:prstGeom prst="rect">
            <a:avLst/>
          </a:prstGeom>
          <a:solidFill>
            <a:srgbClr val="CCFFFF"/>
          </a:solidFill>
          <a:ln w="9525">
            <a:noFill/>
            <a:miter lim="800000"/>
            <a:headEnd/>
            <a:tailEnd/>
          </a:ln>
        </p:spPr>
        <p:txBody>
          <a:bodyPr anchor="ctr">
            <a:spAutoFit/>
          </a:bodyPr>
          <a:lstStyle/>
          <a:p>
            <a:pPr eaLnBrk="0" hangingPunct="0"/>
            <a:r>
              <a:rPr lang="zh-CN" altLang="en-US" sz="2400">
                <a:latin typeface="宋体" pitchFamily="2" charset="-122"/>
              </a:rPr>
              <a:t>　　另一方面，转印后的鼓面还留有残余的碳粉。因此先要除去鼓表面的电荷，然后经清扫刷，将残余的碳粉全部清除。清除以后的鼓表面又继续重复上述的充电、曝光、显影、转印、定影等一系列过程。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dissolve">
                                      <p:cBhvr>
                                        <p:cTn id="7" dur="500"/>
                                        <p:tgtEl>
                                          <p:spTgt spid="94212"/>
                                        </p:tgtEl>
                                      </p:cBhvr>
                                    </p:animEffect>
                                  </p:childTnLst>
                                  <p:subTnLst>
                                    <p:set>
                                      <p:cBhvr override="childStyle">
                                        <p:cTn dur="1" fill="hold" display="0" masterRel="nextClick" afterEffect="1"/>
                                        <p:tgtEl>
                                          <p:spTgt spid="9421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4213"/>
                                        </p:tgtEl>
                                        <p:attrNameLst>
                                          <p:attrName>style.visibility</p:attrName>
                                        </p:attrNameLst>
                                      </p:cBhvr>
                                      <p:to>
                                        <p:strVal val="visible"/>
                                      </p:to>
                                    </p:set>
                                    <p:animEffect transition="in" filter="dissolve">
                                      <p:cBhvr>
                                        <p:cTn id="12" dur="500"/>
                                        <p:tgtEl>
                                          <p:spTgt spid="94213"/>
                                        </p:tgtEl>
                                      </p:cBhvr>
                                    </p:animEffect>
                                  </p:childTnLst>
                                  <p:subTnLst>
                                    <p:set>
                                      <p:cBhvr override="childStyle">
                                        <p:cTn dur="1" fill="hold" display="0" masterRel="nextClick" afterEffect="1"/>
                                        <p:tgtEl>
                                          <p:spTgt spid="9421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4214"/>
                                        </p:tgtEl>
                                        <p:attrNameLst>
                                          <p:attrName>style.visibility</p:attrName>
                                        </p:attrNameLst>
                                      </p:cBhvr>
                                      <p:to>
                                        <p:strVal val="visible"/>
                                      </p:to>
                                    </p:set>
                                    <p:animEffect transition="in" filter="dissolve">
                                      <p:cBhvr>
                                        <p:cTn id="17" dur="500"/>
                                        <p:tgtEl>
                                          <p:spTgt spid="94214"/>
                                        </p:tgtEl>
                                      </p:cBhvr>
                                    </p:animEffect>
                                  </p:childTnLst>
                                  <p:subTnLst>
                                    <p:set>
                                      <p:cBhvr override="childStyle">
                                        <p:cTn dur="1" fill="hold" display="0" masterRel="nextClick" afterEffect="1"/>
                                        <p:tgtEl>
                                          <p:spTgt spid="94214"/>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4216"/>
                                        </p:tgtEl>
                                        <p:attrNameLst>
                                          <p:attrName>style.visibility</p:attrName>
                                        </p:attrNameLst>
                                      </p:cBhvr>
                                      <p:to>
                                        <p:strVal val="visible"/>
                                      </p:to>
                                    </p:set>
                                    <p:animEffect transition="in" filter="dissolve">
                                      <p:cBhvr>
                                        <p:cTn id="22" dur="500"/>
                                        <p:tgtEl>
                                          <p:spTgt spid="94216"/>
                                        </p:tgtEl>
                                      </p:cBhvr>
                                    </p:animEffect>
                                  </p:childTnLst>
                                  <p:subTnLst>
                                    <p:set>
                                      <p:cBhvr override="childStyle">
                                        <p:cTn dur="1" fill="hold" display="0" masterRel="nextClick" afterEffect="1"/>
                                        <p:tgtEl>
                                          <p:spTgt spid="94216"/>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4215"/>
                                        </p:tgtEl>
                                        <p:attrNameLst>
                                          <p:attrName>style.visibility</p:attrName>
                                        </p:attrNameLst>
                                      </p:cBhvr>
                                      <p:to>
                                        <p:strVal val="visible"/>
                                      </p:to>
                                    </p:set>
                                    <p:animEffect transition="in" filter="dissolve">
                                      <p:cBhvr>
                                        <p:cTn id="27" dur="500"/>
                                        <p:tgtEl>
                                          <p:spTgt spid="94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animBg="1" autoUpdateAnimBg="0"/>
      <p:bldP spid="94213" grpId="0" animBg="1" autoUpdateAnimBg="0"/>
      <p:bldP spid="94214" grpId="0" animBg="1" autoUpdateAnimBg="0"/>
      <p:bldP spid="94215" grpId="0" animBg="1" autoUpdateAnimBg="0"/>
      <p:bldP spid="94216"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a:t>
            </a: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练习</a:t>
            </a:r>
          </a:p>
        </p:txBody>
      </p:sp>
      <p:sp>
        <p:nvSpPr>
          <p:cNvPr id="7" name="TextBox 6"/>
          <p:cNvSpPr txBox="1"/>
          <p:nvPr>
            <p:custDataLst>
              <p:tags r:id="rId1"/>
            </p:custDataLst>
          </p:nvPr>
        </p:nvSpPr>
        <p:spPr>
          <a:xfrm>
            <a:off x="388845" y="922537"/>
            <a:ext cx="8525810" cy="501675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200000"/>
              </a:lnSpc>
              <a:spcBef>
                <a:spcPts val="0"/>
              </a:spcBef>
            </a:pPr>
            <a:r>
              <a:rPr lang="zh-CN" altLang="en-US" sz="2000" b="1" dirty="0" smtClean="0">
                <a:latin typeface="微软雅黑" panose="020B0503020204020204" pitchFamily="34" charset="-122"/>
                <a:ea typeface="微软雅黑" panose="020B0503020204020204" pitchFamily="34" charset="-122"/>
              </a:rPr>
              <a:t>判断</a:t>
            </a:r>
            <a:r>
              <a:rPr lang="zh-CN" altLang="en-US" sz="2000" b="1" dirty="0">
                <a:latin typeface="微软雅黑" panose="020B0503020204020204" pitchFamily="34" charset="-122"/>
                <a:ea typeface="微软雅黑" panose="020B0503020204020204" pitchFamily="34" charset="-122"/>
              </a:rPr>
              <a:t>题</a:t>
            </a:r>
            <a:endParaRPr lang="zh-CN" altLang="zh-CN" sz="2000" b="1" dirty="0">
              <a:latin typeface="微软雅黑" panose="020B0503020204020204" pitchFamily="34" charset="-122"/>
              <a:ea typeface="微软雅黑" panose="020B0503020204020204" pitchFamily="34" charset="-122"/>
            </a:endParaRPr>
          </a:p>
          <a:p>
            <a:pPr marL="342900" indent="-342900">
              <a:lnSpc>
                <a:spcPct val="200000"/>
              </a:lnSpc>
              <a:spcBef>
                <a:spcPts val="0"/>
              </a:spcBef>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外围设备</a:t>
            </a:r>
            <a:r>
              <a:rPr lang="zh-CN" altLang="zh-CN" sz="2000" b="1" dirty="0">
                <a:latin typeface="微软雅黑" panose="020B0503020204020204" pitchFamily="34" charset="-122"/>
                <a:ea typeface="微软雅黑" panose="020B0503020204020204" pitchFamily="34" charset="-122"/>
              </a:rPr>
              <a:t>都是在其设备控制器控制下进行工作。</a:t>
            </a:r>
          </a:p>
          <a:p>
            <a:pPr>
              <a:lnSpc>
                <a:spcPct val="200000"/>
              </a:lnSpc>
              <a:spcBef>
                <a:spcPts val="0"/>
              </a:spcBef>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．对</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B. </a:t>
            </a:r>
            <a:r>
              <a:rPr lang="zh-CN" altLang="zh-CN" sz="2000" b="1" dirty="0">
                <a:latin typeface="微软雅黑" panose="020B0503020204020204" pitchFamily="34" charset="-122"/>
                <a:ea typeface="微软雅黑" panose="020B0503020204020204" pitchFamily="34" charset="-122"/>
              </a:rPr>
              <a:t>错</a:t>
            </a:r>
          </a:p>
          <a:p>
            <a:pPr marL="342900" indent="-342900">
              <a:lnSpc>
                <a:spcPct val="200000"/>
              </a:lnSpc>
              <a:spcBef>
                <a:spcPts val="0"/>
              </a:spcBef>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设备控制</a:t>
            </a:r>
            <a:r>
              <a:rPr lang="zh-CN" altLang="zh-CN" sz="2000" b="1" dirty="0">
                <a:latin typeface="微软雅黑" panose="020B0503020204020204" pitchFamily="34" charset="-122"/>
                <a:ea typeface="微软雅黑" panose="020B0503020204020204" pitchFamily="34" charset="-122"/>
              </a:rPr>
              <a:t>器</a:t>
            </a:r>
            <a:r>
              <a:rPr lang="zh-CN" altLang="zh-CN" sz="2000" b="1" dirty="0" smtClean="0">
                <a:latin typeface="微软雅黑" panose="020B0503020204020204" pitchFamily="34" charset="-122"/>
                <a:ea typeface="微软雅黑" panose="020B0503020204020204" pitchFamily="34" charset="-122"/>
              </a:rPr>
              <a:t>通过</a:t>
            </a:r>
            <a:r>
              <a:rPr lang="zh-CN" altLang="en-US" sz="2000" b="1" dirty="0" smtClean="0">
                <a:latin typeface="微软雅黑" panose="020B0503020204020204" pitchFamily="34" charset="-122"/>
                <a:ea typeface="微软雅黑" panose="020B0503020204020204" pitchFamily="34" charset="-122"/>
              </a:rPr>
              <a:t>系统总线</a:t>
            </a:r>
            <a:r>
              <a:rPr lang="zh-CN" altLang="zh-CN" sz="2000" b="1" dirty="0" smtClean="0">
                <a:latin typeface="微软雅黑" panose="020B0503020204020204" pitchFamily="34" charset="-122"/>
                <a:ea typeface="微软雅黑" panose="020B0503020204020204" pitchFamily="34" charset="-122"/>
              </a:rPr>
              <a:t>和</a:t>
            </a:r>
            <a:r>
              <a:rPr lang="zh-CN" altLang="zh-CN" sz="2000" b="1" dirty="0">
                <a:latin typeface="微软雅黑" panose="020B0503020204020204" pitchFamily="34" charset="-122"/>
                <a:ea typeface="微软雅黑" panose="020B0503020204020204" pitchFamily="34" charset="-122"/>
              </a:rPr>
              <a:t>主机相连，并受主机控制。</a:t>
            </a:r>
          </a:p>
          <a:p>
            <a:pPr>
              <a:lnSpc>
                <a:spcPct val="200000"/>
              </a:lnSpc>
              <a:spcBef>
                <a:spcPts val="0"/>
              </a:spcBef>
            </a:pP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．对</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错</a:t>
            </a:r>
          </a:p>
          <a:p>
            <a:pPr marL="342900" indent="-342900">
              <a:lnSpc>
                <a:spcPct val="200000"/>
              </a:lnSpc>
              <a:spcBef>
                <a:spcPts val="0"/>
              </a:spcBef>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当</a:t>
            </a:r>
            <a:r>
              <a:rPr lang="zh-CN" altLang="zh-CN" sz="2000" b="1" dirty="0">
                <a:latin typeface="微软雅黑" panose="020B0503020204020204" pitchFamily="34" charset="-122"/>
                <a:ea typeface="微软雅黑" panose="020B0503020204020204" pitchFamily="34" charset="-122"/>
              </a:rPr>
              <a:t>主机要存入一个较长的文件时，若一条磁道存不完，就需要存放在同</a:t>
            </a:r>
            <a:r>
              <a:rPr lang="zh-CN" altLang="zh-CN" sz="2000" b="1" dirty="0" smtClean="0">
                <a:latin typeface="微软雅黑" panose="020B0503020204020204" pitchFamily="34" charset="-122"/>
                <a:ea typeface="微软雅黑" panose="020B0503020204020204" pitchFamily="34" charset="-122"/>
              </a:rPr>
              <a:t>一</a:t>
            </a:r>
            <a:r>
              <a:rPr lang="zh-CN" altLang="en-US" sz="2000" b="1" dirty="0" smtClean="0">
                <a:latin typeface="微软雅黑" panose="020B0503020204020204" pitchFamily="34" charset="-122"/>
                <a:ea typeface="微软雅黑" panose="020B0503020204020204" pitchFamily="34" charset="-122"/>
              </a:rPr>
              <a:t>记录</a:t>
            </a:r>
            <a:r>
              <a:rPr lang="zh-CN" altLang="zh-CN" sz="2000" b="1" dirty="0" smtClean="0">
                <a:latin typeface="微软雅黑" panose="020B0503020204020204" pitchFamily="34" charset="-122"/>
                <a:ea typeface="微软雅黑" panose="020B0503020204020204" pitchFamily="34" charset="-122"/>
              </a:rPr>
              <a:t>面</a:t>
            </a:r>
            <a:r>
              <a:rPr lang="zh-CN" altLang="zh-CN" sz="2000" b="1" dirty="0">
                <a:latin typeface="微软雅黑" panose="020B0503020204020204" pitchFamily="34" charset="-122"/>
                <a:ea typeface="微软雅黑" panose="020B0503020204020204" pitchFamily="34" charset="-122"/>
              </a:rPr>
              <a:t>上的不同磁道上。</a:t>
            </a:r>
          </a:p>
          <a:p>
            <a:pPr>
              <a:lnSpc>
                <a:spcPct val="200000"/>
              </a:lnSpc>
              <a:spcBef>
                <a:spcPts val="0"/>
              </a:spcBef>
            </a:pP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．对</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错</a:t>
            </a:r>
          </a:p>
        </p:txBody>
      </p:sp>
      <p:sp>
        <p:nvSpPr>
          <p:cNvPr id="9" name="椭圆 8"/>
          <p:cNvSpPr/>
          <p:nvPr/>
        </p:nvSpPr>
        <p:spPr bwMode="auto">
          <a:xfrm>
            <a:off x="963831" y="228585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2186022" y="348234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2103542" y="530580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3" name="矩形 2"/>
          <p:cNvSpPr/>
          <p:nvPr/>
        </p:nvSpPr>
        <p:spPr>
          <a:xfrm>
            <a:off x="2585005" y="3004283"/>
            <a:ext cx="1016207" cy="33855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zh-CN" sz="1600" b="1" dirty="0">
                <a:solidFill>
                  <a:srgbClr val="FF0000"/>
                </a:solidFill>
                <a:latin typeface="微软雅黑" panose="020B0503020204020204" pitchFamily="34" charset="-122"/>
                <a:ea typeface="微软雅黑" panose="020B0503020204020204" pitchFamily="34" charset="-122"/>
              </a:rPr>
              <a:t>接口模块</a:t>
            </a:r>
            <a:endParaRPr lang="zh-CN" altLang="en-US" sz="1600" dirty="0">
              <a:solidFill>
                <a:srgbClr val="FF0000"/>
              </a:solidFill>
            </a:endParaRPr>
          </a:p>
        </p:txBody>
      </p:sp>
      <p:sp>
        <p:nvSpPr>
          <p:cNvPr id="4" name="矩形 3"/>
          <p:cNvSpPr/>
          <p:nvPr/>
        </p:nvSpPr>
        <p:spPr>
          <a:xfrm>
            <a:off x="1079973" y="4831836"/>
            <a:ext cx="795687" cy="33855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zh-CN" sz="1600" b="1" dirty="0">
                <a:solidFill>
                  <a:srgbClr val="FF0000"/>
                </a:solidFill>
                <a:latin typeface="微软雅黑" panose="020B0503020204020204" pitchFamily="34" charset="-122"/>
                <a:ea typeface="微软雅黑" panose="020B0503020204020204" pitchFamily="34" charset="-122"/>
              </a:rPr>
              <a:t>圆柱面</a:t>
            </a:r>
            <a:endParaRPr lang="zh-CN" altLang="en-US" sz="1600" dirty="0">
              <a:solidFill>
                <a:srgbClr val="FF0000"/>
              </a:solidFill>
            </a:endParaRPr>
          </a:p>
        </p:txBody>
      </p:sp>
    </p:spTree>
    <p:extLst>
      <p:ext uri="{BB962C8B-B14F-4D97-AF65-F5344CB8AC3E}">
        <p14:creationId xmlns:p14="http://schemas.microsoft.com/office/powerpoint/2010/main" val="510702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3" grpId="0" animBg="1"/>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224746" y="1040765"/>
            <a:ext cx="8525810"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计算机</a:t>
            </a:r>
            <a:r>
              <a:rPr lang="zh-CN" altLang="zh-CN" sz="2000" b="1" dirty="0">
                <a:latin typeface="微软雅黑" panose="020B0503020204020204" pitchFamily="34" charset="-122"/>
                <a:ea typeface="微软雅黑" panose="020B0503020204020204" pitchFamily="34" charset="-122"/>
              </a:rPr>
              <a:t>的外围设备是</a:t>
            </a:r>
            <a:r>
              <a:rPr lang="zh-CN" altLang="zh-CN" sz="2000" b="1" dirty="0" smtClean="0">
                <a:latin typeface="微软雅黑" panose="020B0503020204020204" pitchFamily="34" charset="-122"/>
                <a:ea typeface="微软雅黑" panose="020B0503020204020204" pitchFamily="34" charset="-122"/>
              </a:rPr>
              <a:t>指</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．输入／输出设备</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．外存设备 </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．远程通信设备</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．除了</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和内存以外的其它设备</a:t>
            </a: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在</a:t>
            </a:r>
            <a:r>
              <a:rPr lang="zh-CN" altLang="zh-CN" sz="2000" b="1" dirty="0">
                <a:latin typeface="微软雅黑" panose="020B0503020204020204" pitchFamily="34" charset="-122"/>
                <a:ea typeface="微软雅黑" panose="020B0503020204020204" pitchFamily="34" charset="-122"/>
              </a:rPr>
              <a:t>微型机系统中外围设备</a:t>
            </a:r>
            <a:r>
              <a:rPr lang="zh-CN" altLang="zh-CN" sz="2000" b="1" dirty="0" smtClean="0">
                <a:latin typeface="微软雅黑" panose="020B0503020204020204" pitchFamily="34" charset="-122"/>
                <a:ea typeface="微软雅黑" panose="020B0503020204020204" pitchFamily="34" charset="-122"/>
              </a:rPr>
              <a:t>通过</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与</a:t>
            </a:r>
            <a:r>
              <a:rPr lang="zh-CN" altLang="zh-CN" sz="2000" b="1" dirty="0">
                <a:latin typeface="微软雅黑" panose="020B0503020204020204" pitchFamily="34" charset="-122"/>
                <a:ea typeface="微软雅黑" panose="020B0503020204020204" pitchFamily="34" charset="-122"/>
              </a:rPr>
              <a:t>主板的系统总线相连接。</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．适配器</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  </a:t>
            </a:r>
            <a:r>
              <a:rPr lang="zh-CN" altLang="zh-CN" sz="2000" b="1" dirty="0" smtClean="0">
                <a:latin typeface="微软雅黑" panose="020B0503020204020204" pitchFamily="34" charset="-122"/>
                <a:ea typeface="微软雅黑" panose="020B0503020204020204" pitchFamily="34" charset="-122"/>
              </a:rPr>
              <a:t>设备控制</a:t>
            </a:r>
            <a:r>
              <a:rPr lang="zh-CN" altLang="zh-CN" sz="2000" b="1" dirty="0">
                <a:latin typeface="微软雅黑" panose="020B0503020204020204" pitchFamily="34" charset="-122"/>
                <a:ea typeface="微软雅黑" panose="020B0503020204020204" pitchFamily="34" charset="-122"/>
              </a:rPr>
              <a:t>器</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smtClean="0">
                <a:latin typeface="微软雅黑" panose="020B0503020204020204" pitchFamily="34" charset="-122"/>
                <a:ea typeface="微软雅黑" panose="020B0503020204020204" pitchFamily="34" charset="-122"/>
              </a:rPr>
              <a:t>计数器</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．寄存器</a:t>
            </a: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CRT</a:t>
            </a:r>
            <a:r>
              <a:rPr lang="zh-CN" altLang="zh-CN" sz="2000" b="1" dirty="0">
                <a:latin typeface="微软雅黑" panose="020B0503020204020204" pitchFamily="34" charset="-122"/>
                <a:ea typeface="微软雅黑" panose="020B0503020204020204" pitchFamily="34" charset="-122"/>
              </a:rPr>
              <a:t>的分辨率为</a:t>
            </a:r>
            <a:r>
              <a:rPr lang="en-US" altLang="zh-CN" sz="2000" b="1" dirty="0">
                <a:latin typeface="微软雅黑" panose="020B0503020204020204" pitchFamily="34" charset="-122"/>
                <a:ea typeface="微软雅黑" panose="020B0503020204020204" pitchFamily="34" charset="-122"/>
              </a:rPr>
              <a:t>1024X1024</a:t>
            </a:r>
            <a:r>
              <a:rPr lang="zh-CN" altLang="zh-CN" sz="2000" b="1" dirty="0">
                <a:latin typeface="微软雅黑" panose="020B0503020204020204" pitchFamily="34" charset="-122"/>
                <a:ea typeface="微软雅黑" panose="020B0503020204020204" pitchFamily="34" charset="-122"/>
              </a:rPr>
              <a:t>像素，像素的颜色数为</a:t>
            </a:r>
            <a:r>
              <a:rPr lang="en-US" altLang="zh-CN" sz="2000" b="1" dirty="0">
                <a:latin typeface="微软雅黑" panose="020B0503020204020204" pitchFamily="34" charset="-122"/>
                <a:ea typeface="微软雅黑" panose="020B0503020204020204" pitchFamily="34" charset="-122"/>
              </a:rPr>
              <a:t>256</a:t>
            </a:r>
            <a:r>
              <a:rPr lang="zh-CN" altLang="zh-CN" sz="2000" b="1" dirty="0">
                <a:latin typeface="微软雅黑" panose="020B0503020204020204" pitchFamily="34" charset="-122"/>
                <a:ea typeface="微软雅黑" panose="020B0503020204020204" pitchFamily="34" charset="-122"/>
              </a:rPr>
              <a:t>，则刷新存储器的容量</a:t>
            </a:r>
            <a:r>
              <a:rPr lang="zh-CN" altLang="zh-CN" sz="2000" b="1" dirty="0" smtClean="0">
                <a:latin typeface="微软雅黑" panose="020B0503020204020204" pitchFamily="34" charset="-122"/>
                <a:ea typeface="微软雅黑" panose="020B0503020204020204" pitchFamily="34" charset="-122"/>
              </a:rPr>
              <a:t>是</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512KB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1MB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256KB    </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2MB</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CRT</a:t>
            </a:r>
            <a:r>
              <a:rPr lang="zh-CN" altLang="zh-CN" sz="2000" b="1" dirty="0">
                <a:latin typeface="微软雅黑" panose="020B0503020204020204" pitchFamily="34" charset="-122"/>
                <a:ea typeface="微软雅黑" panose="020B0503020204020204" pitchFamily="34" charset="-122"/>
              </a:rPr>
              <a:t>的颜色数为</a:t>
            </a:r>
            <a:r>
              <a:rPr lang="en-US" altLang="zh-CN" sz="2000" b="1" dirty="0">
                <a:latin typeface="微软雅黑" panose="020B0503020204020204" pitchFamily="34" charset="-122"/>
                <a:ea typeface="微软雅黑" panose="020B0503020204020204" pitchFamily="34" charset="-122"/>
              </a:rPr>
              <a:t>256</a:t>
            </a:r>
            <a:r>
              <a:rPr lang="zh-CN" altLang="zh-CN" sz="2000" b="1" dirty="0">
                <a:latin typeface="微软雅黑" panose="020B0503020204020204" pitchFamily="34" charset="-122"/>
                <a:ea typeface="微软雅黑" panose="020B0503020204020204" pitchFamily="34" charset="-122"/>
              </a:rPr>
              <a:t>色，则刷新存储器每个单元的字长</a:t>
            </a:r>
            <a:r>
              <a:rPr lang="zh-CN" altLang="zh-CN" sz="2000" b="1" dirty="0" smtClean="0">
                <a:latin typeface="微软雅黑" panose="020B0503020204020204" pitchFamily="34" charset="-122"/>
                <a:ea typeface="微软雅黑" panose="020B0503020204020204" pitchFamily="34" charset="-122"/>
              </a:rPr>
              <a:t>是</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256</a:t>
            </a:r>
            <a:r>
              <a:rPr lang="zh-CN" altLang="zh-CN" sz="2000" b="1" dirty="0">
                <a:latin typeface="微软雅黑" panose="020B0503020204020204" pitchFamily="34" charset="-122"/>
                <a:ea typeface="微软雅黑" panose="020B0503020204020204" pitchFamily="34" charset="-122"/>
              </a:rPr>
              <a:t>位</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16</a:t>
            </a:r>
            <a:r>
              <a:rPr lang="zh-CN" altLang="zh-CN" sz="2000" b="1" dirty="0">
                <a:latin typeface="微软雅黑" panose="020B0503020204020204" pitchFamily="34" charset="-122"/>
                <a:ea typeface="微软雅黑" panose="020B0503020204020204" pitchFamily="34" charset="-122"/>
              </a:rPr>
              <a:t>位</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8</a:t>
            </a:r>
            <a:r>
              <a:rPr lang="zh-CN" altLang="zh-CN" sz="2000" b="1" dirty="0">
                <a:latin typeface="微软雅黑" panose="020B0503020204020204" pitchFamily="34" charset="-122"/>
                <a:ea typeface="微软雅黑" panose="020B0503020204020204" pitchFamily="34" charset="-122"/>
              </a:rPr>
              <a:t>位</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7</a:t>
            </a:r>
            <a:r>
              <a:rPr lang="zh-CN" altLang="zh-CN" sz="2000" b="1" dirty="0" smtClean="0">
                <a:latin typeface="微软雅黑" panose="020B0503020204020204" pitchFamily="34" charset="-122"/>
                <a:ea typeface="微软雅黑" panose="020B0503020204020204" pitchFamily="34" charset="-122"/>
              </a:rPr>
              <a:t>位</a:t>
            </a:r>
            <a:endParaRPr lang="en-US" altLang="zh-CN" sz="2000" b="1" dirty="0" smtClean="0">
              <a:latin typeface="微软雅黑" panose="020B0503020204020204" pitchFamily="34" charset="-122"/>
              <a:ea typeface="微软雅黑" panose="020B0503020204020204" pitchFamily="34" charset="-122"/>
            </a:endParaRPr>
          </a:p>
        </p:txBody>
      </p:sp>
      <p:sp>
        <p:nvSpPr>
          <p:cNvPr id="9" name="椭圆 8"/>
          <p:cNvSpPr/>
          <p:nvPr/>
        </p:nvSpPr>
        <p:spPr bwMode="auto">
          <a:xfrm>
            <a:off x="3347864" y="199148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483566" y="292218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2355479" y="427989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0" name="椭圆 9"/>
          <p:cNvSpPr/>
          <p:nvPr/>
        </p:nvSpPr>
        <p:spPr bwMode="auto">
          <a:xfrm>
            <a:off x="4179916" y="519182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510702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323528" y="1090060"/>
            <a:ext cx="8525810"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磁盘驱动器</a:t>
            </a:r>
            <a:r>
              <a:rPr lang="zh-CN" altLang="zh-CN" sz="2000" b="1" dirty="0">
                <a:latin typeface="微软雅黑" panose="020B0503020204020204" pitchFamily="34" charset="-122"/>
                <a:ea typeface="微软雅黑" panose="020B0503020204020204" pitchFamily="34" charset="-122"/>
              </a:rPr>
              <a:t>向盘片磁层记录数据时</a:t>
            </a:r>
            <a:r>
              <a:rPr lang="zh-CN" altLang="zh-CN" sz="2000" b="1" dirty="0" smtClean="0">
                <a:latin typeface="微软雅黑" panose="020B0503020204020204" pitchFamily="34" charset="-122"/>
                <a:ea typeface="微软雅黑" panose="020B0503020204020204" pitchFamily="34" charset="-122"/>
              </a:rPr>
              <a:t>采用</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方式</a:t>
            </a:r>
            <a:r>
              <a:rPr lang="zh-CN" altLang="zh-CN" sz="2000" b="1" dirty="0">
                <a:latin typeface="微软雅黑" panose="020B0503020204020204" pitchFamily="34" charset="-122"/>
                <a:ea typeface="微软雅黑" panose="020B0503020204020204" pitchFamily="34" charset="-122"/>
              </a:rPr>
              <a:t>写入。</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 </a:t>
            </a:r>
            <a:r>
              <a:rPr lang="zh-CN" altLang="zh-CN" sz="2000" b="1" dirty="0">
                <a:latin typeface="微软雅黑" panose="020B0503020204020204" pitchFamily="34" charset="-122"/>
                <a:ea typeface="微软雅黑" panose="020B0503020204020204" pitchFamily="34" charset="-122"/>
              </a:rPr>
              <a:t>并行</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．串行</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并一</a:t>
            </a:r>
            <a:r>
              <a:rPr lang="zh-CN" altLang="zh-CN" sz="2000" b="1" dirty="0" smtClean="0">
                <a:latin typeface="微软雅黑" panose="020B0503020204020204" pitchFamily="34" charset="-122"/>
                <a:ea typeface="微软雅黑" panose="020B0503020204020204" pitchFamily="34" charset="-122"/>
              </a:rPr>
              <a:t>串行</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．串一并行</a:t>
            </a: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显示器</a:t>
            </a:r>
            <a:r>
              <a:rPr lang="zh-CN" altLang="zh-CN" sz="2000" b="1" dirty="0">
                <a:latin typeface="微软雅黑" panose="020B0503020204020204" pitchFamily="34" charset="-122"/>
                <a:ea typeface="微软雅黑" panose="020B0503020204020204" pitchFamily="34" charset="-122"/>
              </a:rPr>
              <a:t>的主要参数之一是分辨率，其含义</a:t>
            </a:r>
            <a:r>
              <a:rPr lang="zh-CN" altLang="zh-CN" sz="2000" b="1" dirty="0" smtClean="0">
                <a:latin typeface="微软雅黑" panose="020B0503020204020204" pitchFamily="34" charset="-122"/>
                <a:ea typeface="微软雅黑" panose="020B0503020204020204" pitchFamily="34" charset="-122"/>
              </a:rPr>
              <a:t>为</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显示屏幕的水平和垂直扫描频率 </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显示屏幕上光栅的列数和行数</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可显示不同颜色的总数 </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同一幅画面允许显示不同颜色的最大数目</a:t>
            </a: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PC</a:t>
            </a:r>
            <a:r>
              <a:rPr lang="zh-CN" altLang="zh-CN" sz="2000" b="1" dirty="0">
                <a:latin typeface="微软雅黑" panose="020B0503020204020204" pitchFamily="34" charset="-122"/>
                <a:ea typeface="微软雅黑" panose="020B0503020204020204" pitchFamily="34" charset="-122"/>
              </a:rPr>
              <a:t>机所配置的显示器，若显示控制卡上刷存容量是</a:t>
            </a:r>
            <a:r>
              <a:rPr lang="en-US" altLang="zh-CN" sz="2000" b="1" dirty="0">
                <a:latin typeface="微软雅黑" panose="020B0503020204020204" pitchFamily="34" charset="-122"/>
                <a:ea typeface="微软雅黑" panose="020B0503020204020204" pitchFamily="34" charset="-122"/>
              </a:rPr>
              <a:t>1MB</a:t>
            </a:r>
            <a:r>
              <a:rPr lang="zh-CN" altLang="zh-CN" sz="2000" b="1" dirty="0">
                <a:latin typeface="微软雅黑" panose="020B0503020204020204" pitchFamily="34" charset="-122"/>
                <a:ea typeface="微软雅黑" panose="020B0503020204020204" pitchFamily="34" charset="-122"/>
              </a:rPr>
              <a:t>，则当采用</a:t>
            </a:r>
            <a:r>
              <a:rPr lang="en-US" altLang="zh-CN" sz="2000" b="1" dirty="0">
                <a:latin typeface="微软雅黑" panose="020B0503020204020204" pitchFamily="34" charset="-122"/>
                <a:ea typeface="微软雅黑" panose="020B0503020204020204" pitchFamily="34" charset="-122"/>
              </a:rPr>
              <a:t> 800*600</a:t>
            </a:r>
            <a:r>
              <a:rPr lang="zh-CN" altLang="zh-CN" sz="2000" b="1" dirty="0">
                <a:latin typeface="微软雅黑" panose="020B0503020204020204" pitchFamily="34" charset="-122"/>
                <a:ea typeface="微软雅黑" panose="020B0503020204020204" pitchFamily="34" charset="-122"/>
              </a:rPr>
              <a:t>的分辨率模式时，每个象素最多可以有（</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）种不同颜色。</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a:t>
            </a:r>
            <a:r>
              <a:rPr lang="en-US" altLang="zh-CN" sz="2000" b="1" baseline="30000" dirty="0">
                <a:latin typeface="微软雅黑" panose="020B0503020204020204" pitchFamily="34" charset="-122"/>
                <a:ea typeface="微软雅黑" panose="020B0503020204020204" pitchFamily="34" charset="-122"/>
              </a:rPr>
              <a:t>8</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a:t>
            </a:r>
            <a:r>
              <a:rPr lang="en-US" altLang="zh-CN" sz="2000" b="1" baseline="30000" dirty="0">
                <a:latin typeface="微软雅黑" panose="020B0503020204020204" pitchFamily="34" charset="-122"/>
                <a:ea typeface="微软雅黑" panose="020B0503020204020204" pitchFamily="34" charset="-122"/>
              </a:rPr>
              <a:t>16</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a:t>
            </a:r>
            <a:r>
              <a:rPr lang="en-US" altLang="zh-CN" sz="2000" b="1" baseline="30000" dirty="0">
                <a:latin typeface="微软雅黑" panose="020B0503020204020204" pitchFamily="34" charset="-122"/>
                <a:ea typeface="微软雅黑" panose="020B0503020204020204" pitchFamily="34" charset="-122"/>
              </a:rPr>
              <a:t>24</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2</a:t>
            </a:r>
            <a:r>
              <a:rPr lang="en-US" altLang="zh-CN" sz="2000" b="1" baseline="30000" dirty="0" smtClean="0">
                <a:latin typeface="微软雅黑" panose="020B0503020204020204" pitchFamily="34" charset="-122"/>
                <a:ea typeface="微软雅黑" panose="020B0503020204020204" pitchFamily="34" charset="-122"/>
              </a:rPr>
              <a:t>32</a:t>
            </a:r>
            <a:endParaRPr lang="zh-CN" altLang="zh-CN" sz="2000" b="1" dirty="0">
              <a:latin typeface="微软雅黑" panose="020B0503020204020204" pitchFamily="34" charset="-122"/>
              <a:ea typeface="微软雅黑" panose="020B0503020204020204" pitchFamily="34" charset="-122"/>
            </a:endParaRPr>
          </a:p>
        </p:txBody>
      </p:sp>
      <p:sp>
        <p:nvSpPr>
          <p:cNvPr id="9" name="椭圆 8"/>
          <p:cNvSpPr/>
          <p:nvPr/>
        </p:nvSpPr>
        <p:spPr bwMode="auto">
          <a:xfrm>
            <a:off x="3305131" y="1552053"/>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583567" y="293427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2117037" y="520545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510702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96951E9B-C8FA-4E82-AF92-226B1BF46A09}" type="slidenum">
              <a:rPr lang="en-US" altLang="zh-CN" smtClean="0"/>
              <a:pPr/>
              <a:t>57</a:t>
            </a:fld>
            <a:endParaRPr lang="en-US" altLang="zh-CN" smtClean="0"/>
          </a:p>
        </p:txBody>
      </p:sp>
      <p:sp>
        <p:nvSpPr>
          <p:cNvPr id="27652" name="Rectangle 6"/>
          <p:cNvSpPr>
            <a:spLocks noChangeArrowheads="1"/>
          </p:cNvSpPr>
          <p:nvPr/>
        </p:nvSpPr>
        <p:spPr bwMode="auto">
          <a:xfrm>
            <a:off x="153249" y="117436"/>
            <a:ext cx="8856984" cy="6407908"/>
          </a:xfrm>
          <a:prstGeom prst="rect">
            <a:avLst/>
          </a:prstGeom>
          <a:solidFill>
            <a:schemeClr val="bg1"/>
          </a:solidFill>
          <a:ln>
            <a:noFill/>
          </a:ln>
          <a:extLst/>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zh-CN" altLang="en-US" sz="1600" dirty="0" smtClean="0">
                <a:solidFill>
                  <a:srgbClr val="FF0000"/>
                </a:solidFill>
                <a:latin typeface="+mn-ea"/>
              </a:rPr>
              <a:t> </a:t>
            </a:r>
            <a:r>
              <a:rPr lang="zh-CN" altLang="en-US" sz="2400" b="1" dirty="0" smtClean="0">
                <a:solidFill>
                  <a:srgbClr val="FF0000"/>
                </a:solidFill>
                <a:effectLst>
                  <a:outerShdw blurRad="38100" dist="38100" dir="2700000" algn="tl">
                    <a:srgbClr val="000000">
                      <a:alpha val="43137"/>
                    </a:srgbClr>
                  </a:outerShdw>
                </a:effectLst>
                <a:latin typeface="+mn-ea"/>
              </a:rPr>
              <a:t>作 业  </a:t>
            </a:r>
            <a:endParaRPr lang="en-US" altLang="zh-CN" sz="2400" b="1" dirty="0" smtClean="0">
              <a:solidFill>
                <a:srgbClr val="FF0000"/>
              </a:solidFill>
              <a:effectLst>
                <a:outerShdw blurRad="38100" dist="38100" dir="2700000" algn="tl">
                  <a:srgbClr val="000000">
                    <a:alpha val="43137"/>
                  </a:srgbClr>
                </a:outerShdw>
              </a:effectLst>
              <a:latin typeface="+mn-ea"/>
            </a:endParaRPr>
          </a:p>
          <a:p>
            <a:pPr>
              <a:lnSpc>
                <a:spcPct val="120000"/>
              </a:lnSpc>
            </a:pPr>
            <a:r>
              <a:rPr lang="en-US" altLang="zh-CN" dirty="0">
                <a:latin typeface="+mn-ea"/>
              </a:rPr>
              <a:t>1</a:t>
            </a:r>
            <a:r>
              <a:rPr lang="zh-CN" altLang="en-US" dirty="0" smtClean="0">
                <a:latin typeface="+mn-ea"/>
              </a:rPr>
              <a:t>、</a:t>
            </a:r>
            <a:r>
              <a:rPr lang="zh-CN" altLang="zh-CN" dirty="0" smtClean="0">
                <a:latin typeface="+mn-ea"/>
              </a:rPr>
              <a:t>已知</a:t>
            </a:r>
            <a:r>
              <a:rPr lang="zh-CN" altLang="zh-CN" dirty="0">
                <a:latin typeface="+mn-ea"/>
              </a:rPr>
              <a:t>某磁盘存储器的转速为</a:t>
            </a:r>
            <a:r>
              <a:rPr lang="en-US" altLang="zh-CN" dirty="0">
                <a:latin typeface="+mn-ea"/>
              </a:rPr>
              <a:t>2400</a:t>
            </a:r>
            <a:r>
              <a:rPr lang="zh-CN" altLang="zh-CN" dirty="0">
                <a:latin typeface="+mn-ea"/>
              </a:rPr>
              <a:t>转</a:t>
            </a:r>
            <a:r>
              <a:rPr lang="en-US" altLang="zh-CN" dirty="0">
                <a:latin typeface="+mn-ea"/>
              </a:rPr>
              <a:t>/</a:t>
            </a:r>
            <a:r>
              <a:rPr lang="zh-CN" altLang="zh-CN" dirty="0">
                <a:latin typeface="+mn-ea"/>
              </a:rPr>
              <a:t>分，每个记录面道数为</a:t>
            </a:r>
            <a:r>
              <a:rPr lang="en-US" altLang="zh-CN" dirty="0">
                <a:latin typeface="+mn-ea"/>
              </a:rPr>
              <a:t>200</a:t>
            </a:r>
            <a:r>
              <a:rPr lang="zh-CN" altLang="zh-CN" dirty="0">
                <a:latin typeface="+mn-ea"/>
              </a:rPr>
              <a:t>道，平均查找时间</a:t>
            </a:r>
            <a:r>
              <a:rPr lang="zh-CN" altLang="zh-CN" dirty="0" smtClean="0">
                <a:latin typeface="+mn-ea"/>
              </a:rPr>
              <a:t>为</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a:t>
            </a:r>
            <a:r>
              <a:rPr lang="en-US" altLang="zh-CN" dirty="0" smtClean="0">
                <a:latin typeface="+mn-ea"/>
              </a:rPr>
              <a:t>60ms</a:t>
            </a:r>
            <a:r>
              <a:rPr lang="zh-CN" altLang="zh-CN" dirty="0">
                <a:latin typeface="+mn-ea"/>
              </a:rPr>
              <a:t>，每道存储容量为</a:t>
            </a:r>
            <a:r>
              <a:rPr lang="en-US" altLang="zh-CN" dirty="0" smtClean="0">
                <a:latin typeface="+mn-ea"/>
              </a:rPr>
              <a:t>96KB</a:t>
            </a:r>
            <a:r>
              <a:rPr lang="zh-CN" altLang="zh-CN" dirty="0" smtClean="0">
                <a:latin typeface="+mn-ea"/>
              </a:rPr>
              <a:t>，</a:t>
            </a:r>
            <a:r>
              <a:rPr lang="zh-CN" altLang="zh-CN" dirty="0">
                <a:latin typeface="+mn-ea"/>
              </a:rPr>
              <a:t>求磁盘的存取时间与数据传输率</a:t>
            </a:r>
            <a:r>
              <a:rPr lang="zh-CN" altLang="zh-CN" dirty="0" smtClean="0">
                <a:latin typeface="+mn-ea"/>
              </a:rPr>
              <a:t>。</a:t>
            </a:r>
            <a:endParaRPr lang="en-US" altLang="zh-CN" dirty="0" smtClean="0">
              <a:latin typeface="+mn-ea"/>
            </a:endParaRPr>
          </a:p>
          <a:p>
            <a:pPr>
              <a:lnSpc>
                <a:spcPct val="120000"/>
              </a:lnSpc>
            </a:pPr>
            <a:r>
              <a:rPr lang="en-US" altLang="zh-CN" dirty="0" smtClean="0">
                <a:latin typeface="+mn-ea"/>
              </a:rPr>
              <a:t>2</a:t>
            </a:r>
            <a:r>
              <a:rPr lang="zh-CN" altLang="en-US" dirty="0" smtClean="0">
                <a:latin typeface="+mn-ea"/>
              </a:rPr>
              <a:t>、</a:t>
            </a:r>
            <a:r>
              <a:rPr lang="zh-CN" altLang="zh-CN" dirty="0" smtClean="0">
                <a:latin typeface="+mn-ea"/>
              </a:rPr>
              <a:t>磁盘组</a:t>
            </a:r>
            <a:r>
              <a:rPr lang="zh-CN" altLang="zh-CN" dirty="0">
                <a:latin typeface="+mn-ea"/>
              </a:rPr>
              <a:t>有</a:t>
            </a:r>
            <a:r>
              <a:rPr lang="en-US" altLang="zh-CN" dirty="0">
                <a:latin typeface="+mn-ea"/>
              </a:rPr>
              <a:t>6</a:t>
            </a:r>
            <a:r>
              <a:rPr lang="zh-CN" altLang="zh-CN" dirty="0">
                <a:latin typeface="+mn-ea"/>
              </a:rPr>
              <a:t>片磁盘，每片有两个记录面，最上最下两个面不用。存储区域内径</a:t>
            </a:r>
            <a:r>
              <a:rPr lang="en-US" altLang="zh-CN" dirty="0">
                <a:latin typeface="+mn-ea"/>
              </a:rPr>
              <a:t>22cm</a:t>
            </a:r>
            <a:r>
              <a:rPr lang="en-US" altLang="zh-CN" dirty="0" smtClean="0">
                <a:latin typeface="+mn-ea"/>
              </a:rPr>
              <a:t>,</a:t>
            </a:r>
          </a:p>
          <a:p>
            <a:pPr>
              <a:lnSpc>
                <a:spcPct val="120000"/>
              </a:lnSpc>
            </a:pPr>
            <a:r>
              <a:rPr lang="en-US" altLang="zh-CN" dirty="0">
                <a:latin typeface="+mn-ea"/>
              </a:rPr>
              <a:t> </a:t>
            </a:r>
            <a:r>
              <a:rPr lang="en-US" altLang="zh-CN" dirty="0" smtClean="0">
                <a:latin typeface="+mn-ea"/>
              </a:rPr>
              <a:t>  </a:t>
            </a:r>
            <a:r>
              <a:rPr lang="zh-CN" altLang="zh-CN" dirty="0" smtClean="0">
                <a:latin typeface="+mn-ea"/>
              </a:rPr>
              <a:t>外径</a:t>
            </a:r>
            <a:r>
              <a:rPr lang="en-US" altLang="zh-CN" dirty="0">
                <a:latin typeface="+mn-ea"/>
              </a:rPr>
              <a:t>33cm</a:t>
            </a:r>
            <a:r>
              <a:rPr lang="zh-CN" altLang="zh-CN" dirty="0">
                <a:latin typeface="+mn-ea"/>
              </a:rPr>
              <a:t>，道密度为</a:t>
            </a:r>
            <a:r>
              <a:rPr lang="en-US" altLang="zh-CN" dirty="0">
                <a:latin typeface="+mn-ea"/>
              </a:rPr>
              <a:t>40</a:t>
            </a:r>
            <a:r>
              <a:rPr lang="zh-CN" altLang="zh-CN" dirty="0">
                <a:latin typeface="+mn-ea"/>
              </a:rPr>
              <a:t>道</a:t>
            </a:r>
            <a:r>
              <a:rPr lang="en-US" altLang="zh-CN" dirty="0">
                <a:latin typeface="+mn-ea"/>
              </a:rPr>
              <a:t>/cm</a:t>
            </a:r>
            <a:r>
              <a:rPr lang="zh-CN" altLang="zh-CN" dirty="0">
                <a:latin typeface="+mn-ea"/>
              </a:rPr>
              <a:t>，内圈位密度</a:t>
            </a:r>
            <a:r>
              <a:rPr lang="en-US" altLang="zh-CN" dirty="0">
                <a:latin typeface="+mn-ea"/>
              </a:rPr>
              <a:t>400</a:t>
            </a:r>
            <a:r>
              <a:rPr lang="zh-CN" altLang="zh-CN" dirty="0">
                <a:latin typeface="+mn-ea"/>
              </a:rPr>
              <a:t>位</a:t>
            </a:r>
            <a:r>
              <a:rPr lang="en-US" altLang="zh-CN" dirty="0">
                <a:latin typeface="+mn-ea"/>
              </a:rPr>
              <a:t>/cm</a:t>
            </a:r>
            <a:r>
              <a:rPr lang="zh-CN" altLang="zh-CN" dirty="0">
                <a:latin typeface="+mn-ea"/>
              </a:rPr>
              <a:t>，转速</a:t>
            </a:r>
            <a:r>
              <a:rPr lang="en-US" altLang="zh-CN" dirty="0">
                <a:latin typeface="+mn-ea"/>
              </a:rPr>
              <a:t>2400</a:t>
            </a:r>
            <a:r>
              <a:rPr lang="zh-CN" altLang="zh-CN" dirty="0">
                <a:latin typeface="+mn-ea"/>
              </a:rPr>
              <a:t>转</a:t>
            </a:r>
            <a:r>
              <a:rPr lang="en-US" altLang="zh-CN" dirty="0">
                <a:latin typeface="+mn-ea"/>
              </a:rPr>
              <a:t>/</a:t>
            </a:r>
            <a:r>
              <a:rPr lang="zh-CN" altLang="zh-CN" dirty="0">
                <a:latin typeface="+mn-ea"/>
              </a:rPr>
              <a:t>分。问：</a:t>
            </a:r>
          </a:p>
          <a:p>
            <a:pPr>
              <a:lnSpc>
                <a:spcPct val="120000"/>
              </a:lnSpc>
            </a:pPr>
            <a:r>
              <a:rPr lang="en-US" altLang="zh-CN" dirty="0" smtClean="0">
                <a:latin typeface="+mn-ea"/>
              </a:rPr>
              <a:t>  </a:t>
            </a:r>
            <a:r>
              <a:rPr lang="zh-CN" altLang="zh-CN" dirty="0" smtClean="0">
                <a:latin typeface="+mn-ea"/>
              </a:rPr>
              <a:t>（</a:t>
            </a:r>
            <a:r>
              <a:rPr lang="en-US" altLang="zh-CN" dirty="0">
                <a:latin typeface="+mn-ea"/>
              </a:rPr>
              <a:t>1</a:t>
            </a:r>
            <a:r>
              <a:rPr lang="zh-CN" altLang="zh-CN" dirty="0">
                <a:latin typeface="+mn-ea"/>
              </a:rPr>
              <a:t>）共有多少</a:t>
            </a:r>
            <a:r>
              <a:rPr lang="zh-CN" altLang="zh-CN" dirty="0" smtClean="0">
                <a:latin typeface="+mn-ea"/>
              </a:rPr>
              <a:t>柱面</a:t>
            </a:r>
            <a:r>
              <a:rPr lang="zh-CN" altLang="en-US" dirty="0" smtClean="0">
                <a:latin typeface="+mn-ea"/>
              </a:rPr>
              <a:t>；</a:t>
            </a:r>
            <a:endParaRPr lang="zh-CN" altLang="zh-CN" dirty="0">
              <a:latin typeface="+mn-ea"/>
            </a:endParaRPr>
          </a:p>
          <a:p>
            <a:pPr>
              <a:lnSpc>
                <a:spcPct val="120000"/>
              </a:lnSpc>
            </a:pPr>
            <a:r>
              <a:rPr lang="en-US" altLang="zh-CN" dirty="0" smtClean="0">
                <a:latin typeface="+mn-ea"/>
              </a:rPr>
              <a:t>  </a:t>
            </a:r>
            <a:r>
              <a:rPr lang="zh-CN" altLang="zh-CN" dirty="0" smtClean="0">
                <a:latin typeface="+mn-ea"/>
              </a:rPr>
              <a:t>（</a:t>
            </a:r>
            <a:r>
              <a:rPr lang="en-US" altLang="zh-CN" dirty="0">
                <a:latin typeface="+mn-ea"/>
              </a:rPr>
              <a:t>2</a:t>
            </a:r>
            <a:r>
              <a:rPr lang="zh-CN" altLang="zh-CN" dirty="0">
                <a:latin typeface="+mn-ea"/>
              </a:rPr>
              <a:t>）磁盘组总存储容量是</a:t>
            </a:r>
            <a:r>
              <a:rPr lang="zh-CN" altLang="zh-CN" dirty="0" smtClean="0">
                <a:latin typeface="+mn-ea"/>
              </a:rPr>
              <a:t>多少</a:t>
            </a:r>
            <a:r>
              <a:rPr lang="zh-CN" altLang="en-US" dirty="0" smtClean="0">
                <a:latin typeface="+mn-ea"/>
              </a:rPr>
              <a:t>；</a:t>
            </a:r>
            <a:endParaRPr lang="zh-CN" altLang="zh-CN" dirty="0">
              <a:latin typeface="+mn-ea"/>
            </a:endParaRPr>
          </a:p>
          <a:p>
            <a:pPr>
              <a:lnSpc>
                <a:spcPct val="120000"/>
              </a:lnSpc>
            </a:pPr>
            <a:r>
              <a:rPr lang="en-US" altLang="zh-CN" dirty="0" smtClean="0">
                <a:latin typeface="+mn-ea"/>
              </a:rPr>
              <a:t>  </a:t>
            </a:r>
            <a:r>
              <a:rPr lang="zh-CN" altLang="zh-CN" dirty="0" smtClean="0">
                <a:latin typeface="+mn-ea"/>
              </a:rPr>
              <a:t>（</a:t>
            </a:r>
            <a:r>
              <a:rPr lang="en-US" altLang="zh-CN" dirty="0">
                <a:latin typeface="+mn-ea"/>
              </a:rPr>
              <a:t>3</a:t>
            </a:r>
            <a:r>
              <a:rPr lang="zh-CN" altLang="zh-CN" dirty="0">
                <a:latin typeface="+mn-ea"/>
              </a:rPr>
              <a:t>）数据传输率是</a:t>
            </a:r>
            <a:r>
              <a:rPr lang="zh-CN" altLang="zh-CN" dirty="0" smtClean="0">
                <a:latin typeface="+mn-ea"/>
              </a:rPr>
              <a:t>多少</a:t>
            </a:r>
            <a:r>
              <a:rPr lang="zh-CN" altLang="en-US" dirty="0" smtClean="0">
                <a:latin typeface="+mn-ea"/>
              </a:rPr>
              <a:t>。</a:t>
            </a:r>
            <a:endParaRPr lang="en-US" altLang="zh-CN" dirty="0" smtClean="0">
              <a:latin typeface="+mn-ea"/>
            </a:endParaRPr>
          </a:p>
          <a:p>
            <a:pPr>
              <a:lnSpc>
                <a:spcPct val="120000"/>
              </a:lnSpc>
            </a:pPr>
            <a:r>
              <a:rPr lang="en-US" altLang="zh-CN" dirty="0" smtClean="0">
                <a:latin typeface="+mn-ea"/>
              </a:rPr>
              <a:t>3</a:t>
            </a:r>
            <a:r>
              <a:rPr lang="zh-CN" altLang="en-US" dirty="0" smtClean="0">
                <a:latin typeface="+mn-ea"/>
              </a:rPr>
              <a:t>、</a:t>
            </a:r>
            <a:r>
              <a:rPr lang="zh-CN" altLang="zh-CN" dirty="0" smtClean="0">
                <a:latin typeface="+mn-ea"/>
              </a:rPr>
              <a:t>设</a:t>
            </a:r>
            <a:r>
              <a:rPr lang="zh-CN" altLang="zh-CN" dirty="0">
                <a:latin typeface="+mn-ea"/>
              </a:rPr>
              <a:t>某磁盘有两个记录面，存储区内直径为</a:t>
            </a:r>
            <a:r>
              <a:rPr lang="en-US" altLang="zh-CN" dirty="0">
                <a:latin typeface="+mn-ea"/>
              </a:rPr>
              <a:t>2.36</a:t>
            </a:r>
            <a:r>
              <a:rPr lang="zh-CN" altLang="zh-CN" dirty="0">
                <a:latin typeface="+mn-ea"/>
              </a:rPr>
              <a:t>英寸，外直径为</a:t>
            </a:r>
            <a:r>
              <a:rPr lang="en-US" altLang="zh-CN" dirty="0">
                <a:latin typeface="+mn-ea"/>
              </a:rPr>
              <a:t>5</a:t>
            </a:r>
            <a:r>
              <a:rPr lang="zh-CN" altLang="zh-CN" dirty="0">
                <a:latin typeface="+mn-ea"/>
              </a:rPr>
              <a:t>英寸，道密度</a:t>
            </a:r>
            <a:r>
              <a:rPr lang="zh-CN" altLang="zh-CN" dirty="0" smtClean="0">
                <a:latin typeface="+mn-ea"/>
              </a:rPr>
              <a:t>为</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1250TPI(TPI</a:t>
            </a:r>
            <a:r>
              <a:rPr lang="en-US" altLang="zh-CN" dirty="0">
                <a:latin typeface="+mn-ea"/>
              </a:rPr>
              <a:t>:</a:t>
            </a:r>
            <a:r>
              <a:rPr lang="zh-CN" altLang="zh-CN" dirty="0">
                <a:latin typeface="+mn-ea"/>
              </a:rPr>
              <a:t>磁道数</a:t>
            </a:r>
            <a:r>
              <a:rPr lang="en-US" altLang="zh-CN" dirty="0">
                <a:latin typeface="+mn-ea"/>
              </a:rPr>
              <a:t>/</a:t>
            </a:r>
            <a:r>
              <a:rPr lang="zh-CN" altLang="zh-CN" dirty="0">
                <a:latin typeface="+mn-ea"/>
              </a:rPr>
              <a:t>英寸</a:t>
            </a:r>
            <a:r>
              <a:rPr lang="en-US" altLang="zh-CN" dirty="0">
                <a:latin typeface="+mn-ea"/>
              </a:rPr>
              <a:t>)</a:t>
            </a:r>
            <a:r>
              <a:rPr lang="zh-CN" altLang="zh-CN" dirty="0">
                <a:latin typeface="+mn-ea"/>
              </a:rPr>
              <a:t>，内直径处的位密度为</a:t>
            </a:r>
            <a:r>
              <a:rPr lang="en-US" altLang="zh-CN" dirty="0">
                <a:latin typeface="+mn-ea"/>
              </a:rPr>
              <a:t>52400 bpi(bpi:</a:t>
            </a:r>
            <a:r>
              <a:rPr lang="zh-CN" altLang="zh-CN" dirty="0">
                <a:latin typeface="+mn-ea"/>
              </a:rPr>
              <a:t>位</a:t>
            </a:r>
            <a:r>
              <a:rPr lang="en-US" altLang="zh-CN" dirty="0">
                <a:latin typeface="+mn-ea"/>
              </a:rPr>
              <a:t>/</a:t>
            </a:r>
            <a:r>
              <a:rPr lang="zh-CN" altLang="zh-CN" dirty="0">
                <a:latin typeface="+mn-ea"/>
              </a:rPr>
              <a:t>英寸</a:t>
            </a:r>
            <a:r>
              <a:rPr lang="en-US" altLang="zh-CN" dirty="0">
                <a:latin typeface="+mn-ea"/>
              </a:rPr>
              <a:t>)</a:t>
            </a:r>
            <a:r>
              <a:rPr lang="zh-CN" altLang="zh-CN" dirty="0">
                <a:latin typeface="+mn-ea"/>
              </a:rPr>
              <a:t>，</a:t>
            </a:r>
            <a:r>
              <a:rPr lang="zh-CN" altLang="zh-CN" dirty="0" smtClean="0">
                <a:latin typeface="+mn-ea"/>
              </a:rPr>
              <a:t>转速</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a:t>
            </a:r>
            <a:r>
              <a:rPr lang="zh-CN" altLang="zh-CN" dirty="0" smtClean="0">
                <a:latin typeface="+mn-ea"/>
              </a:rPr>
              <a:t>为</a:t>
            </a:r>
            <a:r>
              <a:rPr lang="en-US" altLang="zh-CN" dirty="0">
                <a:latin typeface="+mn-ea"/>
              </a:rPr>
              <a:t>2400rpm(rpm:</a:t>
            </a:r>
            <a:r>
              <a:rPr lang="zh-CN" altLang="zh-CN" dirty="0">
                <a:latin typeface="+mn-ea"/>
              </a:rPr>
              <a:t>转</a:t>
            </a:r>
            <a:r>
              <a:rPr lang="en-US" altLang="zh-CN" dirty="0">
                <a:latin typeface="+mn-ea"/>
              </a:rPr>
              <a:t>/</a:t>
            </a:r>
            <a:r>
              <a:rPr lang="zh-CN" altLang="zh-CN" dirty="0">
                <a:latin typeface="+mn-ea"/>
              </a:rPr>
              <a:t>分</a:t>
            </a:r>
            <a:r>
              <a:rPr lang="en-US" altLang="zh-CN" dirty="0">
                <a:latin typeface="+mn-ea"/>
              </a:rPr>
              <a:t>)</a:t>
            </a:r>
            <a:r>
              <a:rPr lang="zh-CN" altLang="zh-CN" dirty="0">
                <a:latin typeface="+mn-ea"/>
              </a:rPr>
              <a:t>。请解答</a:t>
            </a:r>
            <a:r>
              <a:rPr lang="en-US" altLang="zh-CN" dirty="0">
                <a:latin typeface="+mn-ea"/>
              </a:rPr>
              <a:t>:</a:t>
            </a:r>
            <a:endParaRPr lang="zh-CN" altLang="zh-CN" dirty="0">
              <a:latin typeface="+mn-ea"/>
            </a:endParaRPr>
          </a:p>
          <a:p>
            <a:pPr>
              <a:lnSpc>
                <a:spcPct val="120000"/>
              </a:lnSpc>
            </a:pPr>
            <a:r>
              <a:rPr lang="en-US" altLang="zh-CN" dirty="0" smtClean="0">
                <a:latin typeface="+mn-ea"/>
              </a:rPr>
              <a:t>  </a:t>
            </a:r>
            <a:r>
              <a:rPr lang="zh-CN" altLang="en-US" dirty="0" smtClean="0">
                <a:latin typeface="+mn-ea"/>
              </a:rPr>
              <a:t>（</a:t>
            </a:r>
            <a:r>
              <a:rPr lang="en-US" altLang="zh-CN" dirty="0" smtClean="0">
                <a:latin typeface="+mn-ea"/>
              </a:rPr>
              <a:t>1</a:t>
            </a:r>
            <a:r>
              <a:rPr lang="zh-CN" altLang="en-US" dirty="0" smtClean="0">
                <a:latin typeface="+mn-ea"/>
              </a:rPr>
              <a:t>）</a:t>
            </a:r>
            <a:r>
              <a:rPr lang="zh-CN" altLang="zh-CN" dirty="0" smtClean="0">
                <a:latin typeface="+mn-ea"/>
              </a:rPr>
              <a:t>每</a:t>
            </a:r>
            <a:r>
              <a:rPr lang="zh-CN" altLang="zh-CN" dirty="0">
                <a:latin typeface="+mn-ea"/>
              </a:rPr>
              <a:t>面有多少个磁道，每磁道能存储多少</a:t>
            </a:r>
            <a:r>
              <a:rPr lang="zh-CN" altLang="zh-CN" dirty="0" smtClean="0">
                <a:latin typeface="+mn-ea"/>
              </a:rPr>
              <a:t>字节</a:t>
            </a:r>
            <a:r>
              <a:rPr lang="zh-CN" altLang="en-US" dirty="0" smtClean="0">
                <a:latin typeface="+mn-ea"/>
              </a:rPr>
              <a:t>；</a:t>
            </a:r>
            <a:r>
              <a:rPr lang="en-US" altLang="zh-CN" dirty="0" smtClean="0">
                <a:latin typeface="+mn-ea"/>
              </a:rPr>
              <a:t> </a:t>
            </a:r>
            <a:endParaRPr lang="zh-CN" altLang="zh-CN" dirty="0">
              <a:latin typeface="+mn-ea"/>
            </a:endParaRPr>
          </a:p>
          <a:p>
            <a:pPr>
              <a:lnSpc>
                <a:spcPct val="120000"/>
              </a:lnSpc>
            </a:pPr>
            <a:r>
              <a:rPr lang="zh-CN" altLang="en-US" dirty="0" smtClean="0">
                <a:latin typeface="+mn-ea"/>
              </a:rPr>
              <a:t>  （</a:t>
            </a:r>
            <a:r>
              <a:rPr lang="en-US" altLang="zh-CN" dirty="0" smtClean="0">
                <a:latin typeface="+mn-ea"/>
              </a:rPr>
              <a:t>2</a:t>
            </a:r>
            <a:r>
              <a:rPr lang="zh-CN" altLang="en-US" dirty="0" smtClean="0">
                <a:latin typeface="+mn-ea"/>
              </a:rPr>
              <a:t>）</a:t>
            </a:r>
            <a:r>
              <a:rPr lang="zh-CN" altLang="zh-CN" dirty="0" smtClean="0">
                <a:latin typeface="+mn-ea"/>
              </a:rPr>
              <a:t>数据</a:t>
            </a:r>
            <a:r>
              <a:rPr lang="zh-CN" altLang="zh-CN" dirty="0">
                <a:latin typeface="+mn-ea"/>
              </a:rPr>
              <a:t>传输率是</a:t>
            </a:r>
            <a:r>
              <a:rPr lang="zh-CN" altLang="zh-CN" dirty="0" smtClean="0">
                <a:latin typeface="+mn-ea"/>
              </a:rPr>
              <a:t>多少</a:t>
            </a:r>
            <a:r>
              <a:rPr lang="zh-CN" altLang="en-US" dirty="0" smtClean="0">
                <a:latin typeface="+mn-ea"/>
              </a:rPr>
              <a:t>；</a:t>
            </a:r>
            <a:endParaRPr lang="en-US" altLang="zh-CN" dirty="0" smtClean="0">
              <a:latin typeface="+mn-ea"/>
            </a:endParaRPr>
          </a:p>
          <a:p>
            <a:pPr>
              <a:lnSpc>
                <a:spcPct val="120000"/>
              </a:lnSpc>
            </a:pPr>
            <a:r>
              <a:rPr lang="zh-CN" altLang="en-US" dirty="0" smtClean="0">
                <a:latin typeface="+mn-ea"/>
              </a:rPr>
              <a:t>  （</a:t>
            </a:r>
            <a:r>
              <a:rPr lang="en-US" altLang="zh-CN" dirty="0" smtClean="0">
                <a:latin typeface="+mn-ea"/>
              </a:rPr>
              <a:t>3</a:t>
            </a:r>
            <a:r>
              <a:rPr lang="zh-CN" altLang="en-US" dirty="0" smtClean="0">
                <a:latin typeface="+mn-ea"/>
              </a:rPr>
              <a:t>）</a:t>
            </a:r>
            <a:r>
              <a:rPr lang="zh-CN" altLang="zh-CN" dirty="0" smtClean="0">
                <a:latin typeface="+mn-ea"/>
              </a:rPr>
              <a:t>设</a:t>
            </a:r>
            <a:r>
              <a:rPr lang="zh-CN" altLang="zh-CN" dirty="0">
                <a:latin typeface="+mn-ea"/>
              </a:rPr>
              <a:t>找道时间在</a:t>
            </a:r>
            <a:r>
              <a:rPr lang="en-US" altLang="zh-CN" dirty="0">
                <a:latin typeface="+mn-ea"/>
              </a:rPr>
              <a:t>10ms</a:t>
            </a:r>
            <a:r>
              <a:rPr lang="zh-CN" altLang="zh-CN" dirty="0">
                <a:latin typeface="+mn-ea"/>
              </a:rPr>
              <a:t>到</a:t>
            </a:r>
            <a:r>
              <a:rPr lang="en-US" altLang="zh-CN" dirty="0">
                <a:latin typeface="+mn-ea"/>
              </a:rPr>
              <a:t>40ms</a:t>
            </a:r>
            <a:r>
              <a:rPr lang="zh-CN" altLang="zh-CN" dirty="0">
                <a:latin typeface="+mn-ea"/>
              </a:rPr>
              <a:t>之间，在一个磁道上写上</a:t>
            </a:r>
            <a:r>
              <a:rPr lang="en-US" altLang="zh-CN" dirty="0">
                <a:latin typeface="+mn-ea"/>
              </a:rPr>
              <a:t>8000</a:t>
            </a:r>
            <a:r>
              <a:rPr lang="zh-CN" altLang="zh-CN" dirty="0">
                <a:latin typeface="+mn-ea"/>
              </a:rPr>
              <a:t>个字节数据，平均</a:t>
            </a:r>
            <a:r>
              <a:rPr lang="zh-CN" altLang="zh-CN" dirty="0" smtClean="0">
                <a:latin typeface="+mn-ea"/>
              </a:rPr>
              <a:t>需要</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a:t>
            </a:r>
            <a:r>
              <a:rPr lang="zh-CN" altLang="zh-CN" dirty="0" smtClean="0">
                <a:latin typeface="+mn-ea"/>
              </a:rPr>
              <a:t>多少时间</a:t>
            </a:r>
            <a:r>
              <a:rPr lang="zh-CN" altLang="en-US" dirty="0" smtClean="0">
                <a:latin typeface="+mn-ea"/>
              </a:rPr>
              <a:t>。</a:t>
            </a:r>
            <a:r>
              <a:rPr lang="en-US" altLang="zh-CN" dirty="0" smtClean="0">
                <a:latin typeface="+mn-ea"/>
              </a:rPr>
              <a:t> </a:t>
            </a:r>
          </a:p>
          <a:p>
            <a:r>
              <a:rPr lang="en-US" altLang="zh-CN" dirty="0" smtClean="0">
                <a:latin typeface="+mn-ea"/>
              </a:rPr>
              <a:t>4</a:t>
            </a:r>
            <a:r>
              <a:rPr lang="zh-CN" altLang="en-US" dirty="0" smtClean="0">
                <a:latin typeface="+mn-ea"/>
              </a:rPr>
              <a:t>、</a:t>
            </a:r>
            <a:r>
              <a:rPr lang="zh-CN" altLang="zh-CN" dirty="0" smtClean="0">
                <a:latin typeface="+mn-ea"/>
              </a:rPr>
              <a:t>若</a:t>
            </a:r>
            <a:r>
              <a:rPr lang="zh-CN" altLang="zh-CN" dirty="0">
                <a:latin typeface="+mn-ea"/>
              </a:rPr>
              <a:t>需要显示一幅</a:t>
            </a:r>
            <a:r>
              <a:rPr lang="en-US" altLang="zh-CN" dirty="0">
                <a:latin typeface="+mn-ea"/>
              </a:rPr>
              <a:t>1024x768</a:t>
            </a:r>
            <a:r>
              <a:rPr lang="zh-CN" altLang="zh-CN" dirty="0">
                <a:latin typeface="+mn-ea"/>
              </a:rPr>
              <a:t>像素，有</a:t>
            </a:r>
            <a:r>
              <a:rPr lang="en-US" altLang="zh-CN" dirty="0">
                <a:latin typeface="+mn-ea"/>
              </a:rPr>
              <a:t>256</a:t>
            </a:r>
            <a:r>
              <a:rPr lang="zh-CN" altLang="zh-CN" dirty="0">
                <a:latin typeface="+mn-ea"/>
              </a:rPr>
              <a:t>种颜色的图像，问</a:t>
            </a:r>
            <a:r>
              <a:rPr lang="en-US" altLang="zh-CN" dirty="0">
                <a:latin typeface="+mn-ea"/>
              </a:rPr>
              <a:t>:</a:t>
            </a:r>
            <a:endParaRPr lang="zh-CN" altLang="zh-CN" dirty="0">
              <a:latin typeface="+mn-ea"/>
            </a:endParaRPr>
          </a:p>
          <a:p>
            <a:r>
              <a:rPr lang="zh-CN" altLang="en-US" dirty="0" smtClean="0">
                <a:latin typeface="+mn-ea"/>
              </a:rPr>
              <a:t>  （</a:t>
            </a:r>
            <a:r>
              <a:rPr lang="en-US" altLang="zh-CN" dirty="0" smtClean="0">
                <a:latin typeface="+mn-ea"/>
              </a:rPr>
              <a:t>1</a:t>
            </a:r>
            <a:r>
              <a:rPr lang="zh-CN" altLang="en-US" dirty="0" smtClean="0">
                <a:latin typeface="+mn-ea"/>
              </a:rPr>
              <a:t>）</a:t>
            </a:r>
            <a:r>
              <a:rPr lang="zh-CN" altLang="zh-CN" dirty="0" smtClean="0">
                <a:latin typeface="+mn-ea"/>
              </a:rPr>
              <a:t>显示</a:t>
            </a:r>
            <a:r>
              <a:rPr lang="zh-CN" altLang="zh-CN" dirty="0">
                <a:latin typeface="+mn-ea"/>
              </a:rPr>
              <a:t>系统的帧存容量为多少</a:t>
            </a:r>
            <a:r>
              <a:rPr lang="zh-CN" altLang="zh-CN" dirty="0" smtClean="0">
                <a:latin typeface="+mn-ea"/>
              </a:rPr>
              <a:t>位</a:t>
            </a:r>
            <a:r>
              <a:rPr lang="zh-CN" altLang="en-US" dirty="0" smtClean="0">
                <a:latin typeface="+mn-ea"/>
              </a:rPr>
              <a:t>；</a:t>
            </a:r>
            <a:endParaRPr lang="zh-CN" altLang="zh-CN" dirty="0">
              <a:latin typeface="+mn-ea"/>
            </a:endParaRPr>
          </a:p>
          <a:p>
            <a:r>
              <a:rPr lang="zh-CN" altLang="en-US" dirty="0" smtClean="0">
                <a:latin typeface="+mn-ea"/>
              </a:rPr>
              <a:t>  （</a:t>
            </a:r>
            <a:r>
              <a:rPr lang="en-US" altLang="zh-CN" dirty="0" smtClean="0">
                <a:latin typeface="+mn-ea"/>
              </a:rPr>
              <a:t>2</a:t>
            </a:r>
            <a:r>
              <a:rPr lang="zh-CN" altLang="en-US" dirty="0" smtClean="0">
                <a:latin typeface="+mn-ea"/>
              </a:rPr>
              <a:t>）</a:t>
            </a:r>
            <a:r>
              <a:rPr lang="zh-CN" altLang="zh-CN" dirty="0" smtClean="0">
                <a:latin typeface="+mn-ea"/>
              </a:rPr>
              <a:t>如</a:t>
            </a:r>
            <a:r>
              <a:rPr lang="zh-CN" altLang="zh-CN" dirty="0">
                <a:latin typeface="+mn-ea"/>
              </a:rPr>
              <a:t>要在屏幕上得到逼真的动态图像，假设每秒传送</a:t>
            </a:r>
            <a:r>
              <a:rPr lang="en-US" altLang="zh-CN" dirty="0">
                <a:latin typeface="+mn-ea"/>
              </a:rPr>
              <a:t>50</a:t>
            </a:r>
            <a:r>
              <a:rPr lang="zh-CN" altLang="zh-CN" dirty="0">
                <a:latin typeface="+mn-ea"/>
              </a:rPr>
              <a:t>帧</a:t>
            </a:r>
            <a:r>
              <a:rPr lang="en-US" altLang="zh-CN" dirty="0">
                <a:latin typeface="+mn-ea"/>
              </a:rPr>
              <a:t>(</a:t>
            </a:r>
            <a:r>
              <a:rPr lang="zh-CN" altLang="zh-CN" dirty="0">
                <a:latin typeface="+mn-ea"/>
              </a:rPr>
              <a:t>逐行扫描</a:t>
            </a:r>
            <a:r>
              <a:rPr lang="en-US" altLang="zh-CN" dirty="0">
                <a:latin typeface="+mn-ea"/>
              </a:rPr>
              <a:t>)</a:t>
            </a:r>
            <a:r>
              <a:rPr lang="zh-CN" altLang="zh-CN" dirty="0">
                <a:latin typeface="+mn-ea"/>
              </a:rPr>
              <a:t>，则传送</a:t>
            </a:r>
            <a:r>
              <a:rPr lang="zh-CN" altLang="zh-CN" dirty="0" smtClean="0">
                <a:latin typeface="+mn-ea"/>
              </a:rPr>
              <a:t>频</a:t>
            </a:r>
            <a:endParaRPr lang="en-US" altLang="zh-CN" dirty="0" smtClean="0">
              <a:latin typeface="+mn-ea"/>
            </a:endParaRPr>
          </a:p>
          <a:p>
            <a:r>
              <a:rPr lang="en-US" altLang="zh-CN" dirty="0">
                <a:latin typeface="+mn-ea"/>
              </a:rPr>
              <a:t> </a:t>
            </a:r>
            <a:r>
              <a:rPr lang="en-US" altLang="zh-CN" dirty="0" smtClean="0">
                <a:latin typeface="+mn-ea"/>
              </a:rPr>
              <a:t>      </a:t>
            </a:r>
            <a:r>
              <a:rPr lang="zh-CN" altLang="zh-CN" dirty="0" smtClean="0">
                <a:latin typeface="+mn-ea"/>
              </a:rPr>
              <a:t>率</a:t>
            </a:r>
            <a:r>
              <a:rPr lang="zh-CN" altLang="zh-CN" dirty="0">
                <a:latin typeface="+mn-ea"/>
              </a:rPr>
              <a:t>为</a:t>
            </a:r>
            <a:r>
              <a:rPr lang="zh-CN" altLang="zh-CN" dirty="0" smtClean="0">
                <a:latin typeface="+mn-ea"/>
              </a:rPr>
              <a:t>多少</a:t>
            </a:r>
            <a:r>
              <a:rPr lang="zh-CN" altLang="en-US" dirty="0" smtClean="0">
                <a:latin typeface="+mn-ea"/>
              </a:rPr>
              <a:t>。</a:t>
            </a:r>
            <a:endParaRPr lang="zh-CN" altLang="zh-CN" dirty="0">
              <a:latin typeface="+mn-ea"/>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96951E9B-C8FA-4E82-AF92-226B1BF46A09}" type="slidenum">
              <a:rPr lang="en-US" altLang="zh-CN" smtClean="0"/>
              <a:pPr/>
              <a:t>58</a:t>
            </a:fld>
            <a:endParaRPr lang="en-US" altLang="zh-CN" smtClean="0"/>
          </a:p>
        </p:txBody>
      </p:sp>
      <p:sp>
        <p:nvSpPr>
          <p:cNvPr id="27652" name="Rectangle 6"/>
          <p:cNvSpPr>
            <a:spLocks noChangeArrowheads="1"/>
          </p:cNvSpPr>
          <p:nvPr/>
        </p:nvSpPr>
        <p:spPr bwMode="auto">
          <a:xfrm>
            <a:off x="179513" y="162352"/>
            <a:ext cx="8856984" cy="6513322"/>
          </a:xfrm>
          <a:prstGeom prst="rect">
            <a:avLst/>
          </a:prstGeom>
          <a:solidFill>
            <a:schemeClr val="bg1"/>
          </a:solidFill>
          <a:ln>
            <a:noFill/>
          </a:ln>
          <a:extLst/>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14000"/>
              </a:lnSpc>
            </a:pPr>
            <a:r>
              <a:rPr lang="zh-CN" altLang="en-US" sz="1600" b="1" dirty="0">
                <a:solidFill>
                  <a:srgbClr val="FF0000"/>
                </a:solidFill>
                <a:latin typeface="+mn-ea"/>
              </a:rPr>
              <a:t>答案</a:t>
            </a:r>
            <a:endParaRPr lang="en-US" altLang="zh-CN" sz="1600" b="1" dirty="0">
              <a:solidFill>
                <a:srgbClr val="FF0000"/>
              </a:solidFill>
              <a:latin typeface="+mn-ea"/>
            </a:endParaRPr>
          </a:p>
          <a:p>
            <a:pPr>
              <a:lnSpc>
                <a:spcPct val="114000"/>
              </a:lnSpc>
            </a:pPr>
            <a:r>
              <a:rPr lang="en-US" altLang="zh-CN" sz="1600" dirty="0" smtClean="0">
                <a:latin typeface="+mn-ea"/>
              </a:rPr>
              <a:t>1. </a:t>
            </a:r>
            <a:r>
              <a:rPr lang="zh-CN" altLang="zh-CN" sz="1600" dirty="0" smtClean="0">
                <a:latin typeface="+mn-ea"/>
              </a:rPr>
              <a:t>答</a:t>
            </a:r>
            <a:r>
              <a:rPr lang="zh-CN" altLang="zh-CN" sz="1600" dirty="0">
                <a:latin typeface="+mn-ea"/>
              </a:rPr>
              <a:t>：</a:t>
            </a:r>
            <a:r>
              <a:rPr lang="en-US" altLang="zh-CN" sz="1600" dirty="0">
                <a:latin typeface="+mn-ea"/>
              </a:rPr>
              <a:t>2400</a:t>
            </a:r>
            <a:r>
              <a:rPr lang="zh-CN" altLang="zh-CN" sz="1600" dirty="0">
                <a:latin typeface="+mn-ea"/>
              </a:rPr>
              <a:t>转</a:t>
            </a:r>
            <a:r>
              <a:rPr lang="en-US" altLang="zh-CN" sz="1600" dirty="0">
                <a:latin typeface="+mn-ea"/>
              </a:rPr>
              <a:t>/</a:t>
            </a:r>
            <a:r>
              <a:rPr lang="zh-CN" altLang="zh-CN" sz="1600" dirty="0">
                <a:latin typeface="+mn-ea"/>
              </a:rPr>
              <a:t>分</a:t>
            </a:r>
            <a:r>
              <a:rPr lang="en-US" altLang="zh-CN" sz="1600" dirty="0">
                <a:latin typeface="+mn-ea"/>
              </a:rPr>
              <a:t>=40</a:t>
            </a:r>
            <a:r>
              <a:rPr lang="zh-CN" altLang="zh-CN" sz="1600" dirty="0">
                <a:latin typeface="+mn-ea"/>
              </a:rPr>
              <a:t>转</a:t>
            </a:r>
            <a:r>
              <a:rPr lang="en-US" altLang="zh-CN" sz="1600" dirty="0">
                <a:latin typeface="+mn-ea"/>
              </a:rPr>
              <a:t>/</a:t>
            </a:r>
            <a:r>
              <a:rPr lang="zh-CN" altLang="zh-CN" sz="1600" dirty="0">
                <a:latin typeface="+mn-ea"/>
              </a:rPr>
              <a:t>秒。  </a:t>
            </a:r>
          </a:p>
          <a:p>
            <a:pPr>
              <a:lnSpc>
                <a:spcPct val="114000"/>
              </a:lnSpc>
            </a:pPr>
            <a:r>
              <a:rPr lang="en-US" altLang="zh-CN" sz="1600" dirty="0" smtClean="0">
                <a:latin typeface="+mn-ea"/>
              </a:rPr>
              <a:t>   </a:t>
            </a:r>
            <a:r>
              <a:rPr lang="zh-CN" altLang="zh-CN" sz="1600" dirty="0" smtClean="0">
                <a:latin typeface="+mn-ea"/>
              </a:rPr>
              <a:t>平均</a:t>
            </a:r>
            <a:r>
              <a:rPr lang="zh-CN" altLang="zh-CN" sz="1600" dirty="0">
                <a:latin typeface="+mn-ea"/>
              </a:rPr>
              <a:t>等待时间</a:t>
            </a:r>
            <a:r>
              <a:rPr lang="en-US" altLang="zh-CN" sz="1600" dirty="0">
                <a:latin typeface="+mn-ea"/>
              </a:rPr>
              <a:t>=</a:t>
            </a:r>
            <a:r>
              <a:rPr lang="en-US" altLang="zh-CN" sz="1600" dirty="0" smtClean="0">
                <a:latin typeface="+mn-ea"/>
              </a:rPr>
              <a:t>1/40</a:t>
            </a:r>
            <a:r>
              <a:rPr lang="zh-CN" altLang="en-US" sz="1600" dirty="0" smtClean="0">
                <a:latin typeface="+mn-ea"/>
              </a:rPr>
              <a:t>*</a:t>
            </a:r>
            <a:r>
              <a:rPr lang="en-US" altLang="zh-CN" sz="1600" dirty="0" smtClean="0">
                <a:latin typeface="+mn-ea"/>
              </a:rPr>
              <a:t>0.5=12.5(</a:t>
            </a:r>
            <a:r>
              <a:rPr lang="en-US" altLang="zh-CN" sz="1600" dirty="0" err="1" smtClean="0">
                <a:latin typeface="+mn-ea"/>
              </a:rPr>
              <a:t>ms</a:t>
            </a:r>
            <a:r>
              <a:rPr lang="en-US" altLang="zh-CN" sz="1600" dirty="0">
                <a:latin typeface="+mn-ea"/>
              </a:rPr>
              <a:t>)</a:t>
            </a:r>
            <a:r>
              <a:rPr lang="zh-CN" altLang="zh-CN" sz="1600" dirty="0">
                <a:latin typeface="+mn-ea"/>
              </a:rPr>
              <a:t>。</a:t>
            </a:r>
          </a:p>
          <a:p>
            <a:pPr>
              <a:lnSpc>
                <a:spcPct val="114000"/>
              </a:lnSpc>
            </a:pPr>
            <a:r>
              <a:rPr lang="en-US" altLang="zh-CN" sz="1600" dirty="0" smtClean="0">
                <a:latin typeface="+mn-ea"/>
              </a:rPr>
              <a:t>   </a:t>
            </a:r>
            <a:r>
              <a:rPr lang="zh-CN" altLang="zh-CN" sz="1600" dirty="0" smtClean="0">
                <a:latin typeface="+mn-ea"/>
              </a:rPr>
              <a:t>磁盘</a:t>
            </a:r>
            <a:r>
              <a:rPr lang="zh-CN" altLang="zh-CN" sz="1600" dirty="0">
                <a:latin typeface="+mn-ea"/>
              </a:rPr>
              <a:t>存取时间</a:t>
            </a:r>
            <a:r>
              <a:rPr lang="en-US" altLang="zh-CN" sz="1600" dirty="0">
                <a:latin typeface="+mn-ea"/>
              </a:rPr>
              <a:t>=</a:t>
            </a:r>
            <a:r>
              <a:rPr lang="en-US" altLang="zh-CN" sz="1600" dirty="0" smtClean="0">
                <a:latin typeface="+mn-ea"/>
              </a:rPr>
              <a:t>60ms+12.5ms=72.5ms</a:t>
            </a:r>
            <a:r>
              <a:rPr lang="zh-CN" altLang="zh-CN" sz="1600" dirty="0">
                <a:latin typeface="+mn-ea"/>
              </a:rPr>
              <a:t>。</a:t>
            </a:r>
          </a:p>
          <a:p>
            <a:pPr>
              <a:lnSpc>
                <a:spcPct val="114000"/>
              </a:lnSpc>
            </a:pPr>
            <a:r>
              <a:rPr lang="en-US" altLang="zh-CN" sz="1600" dirty="0" smtClean="0">
                <a:latin typeface="+mn-ea"/>
              </a:rPr>
              <a:t>   </a:t>
            </a:r>
            <a:r>
              <a:rPr lang="zh-CN" altLang="zh-CN" sz="1600" dirty="0" smtClean="0">
                <a:latin typeface="+mn-ea"/>
              </a:rPr>
              <a:t>数据</a:t>
            </a:r>
            <a:r>
              <a:rPr lang="zh-CN" altLang="zh-CN" sz="1600" dirty="0">
                <a:latin typeface="+mn-ea"/>
              </a:rPr>
              <a:t>传输率</a:t>
            </a:r>
            <a:r>
              <a:rPr lang="en-US" altLang="zh-CN" sz="1600" dirty="0" err="1" smtClean="0">
                <a:latin typeface="+mn-ea"/>
              </a:rPr>
              <a:t>Dr</a:t>
            </a:r>
            <a:r>
              <a:rPr lang="en-US" altLang="zh-CN" sz="1600" dirty="0" smtClean="0">
                <a:latin typeface="+mn-ea"/>
              </a:rPr>
              <a:t>=r</a:t>
            </a:r>
            <a:r>
              <a:rPr lang="zh-CN" altLang="en-US" sz="1600" dirty="0" smtClean="0">
                <a:latin typeface="+mn-ea"/>
              </a:rPr>
              <a:t>*</a:t>
            </a:r>
            <a:r>
              <a:rPr lang="en-US" altLang="zh-CN" sz="1600" dirty="0" smtClean="0">
                <a:latin typeface="+mn-ea"/>
              </a:rPr>
              <a:t>N=40</a:t>
            </a:r>
            <a:r>
              <a:rPr lang="zh-CN" altLang="en-US" sz="1600" dirty="0" smtClean="0">
                <a:latin typeface="+mn-ea"/>
              </a:rPr>
              <a:t>*</a:t>
            </a:r>
            <a:r>
              <a:rPr lang="en-US" altLang="zh-CN" sz="1600" dirty="0" smtClean="0">
                <a:latin typeface="+mn-ea"/>
              </a:rPr>
              <a:t>96K=3640Kb/s</a:t>
            </a:r>
            <a:r>
              <a:rPr lang="zh-CN" altLang="zh-CN" sz="1600" dirty="0">
                <a:latin typeface="+mn-ea"/>
              </a:rPr>
              <a:t>。</a:t>
            </a:r>
          </a:p>
          <a:p>
            <a:pPr>
              <a:lnSpc>
                <a:spcPct val="114000"/>
              </a:lnSpc>
            </a:pPr>
            <a:r>
              <a:rPr lang="en-US" altLang="zh-CN" sz="1600" dirty="0" smtClean="0">
                <a:latin typeface="+mn-ea"/>
              </a:rPr>
              <a:t>2</a:t>
            </a:r>
            <a:r>
              <a:rPr lang="zh-CN" altLang="zh-CN" sz="1600" dirty="0" smtClean="0">
                <a:latin typeface="+mn-ea"/>
              </a:rPr>
              <a:t>．答：</a:t>
            </a:r>
            <a:r>
              <a:rPr lang="en-US" altLang="zh-CN" sz="1600" dirty="0" smtClean="0">
                <a:latin typeface="+mn-ea"/>
              </a:rPr>
              <a:t>(1)</a:t>
            </a:r>
            <a:r>
              <a:rPr lang="zh-CN" altLang="zh-CN" sz="1600" dirty="0" smtClean="0">
                <a:latin typeface="+mn-ea"/>
              </a:rPr>
              <a:t>有效</a:t>
            </a:r>
            <a:r>
              <a:rPr lang="zh-CN" altLang="zh-CN" sz="1600" dirty="0">
                <a:latin typeface="+mn-ea"/>
              </a:rPr>
              <a:t>存储区域半径</a:t>
            </a:r>
            <a:r>
              <a:rPr lang="en-US" altLang="zh-CN" sz="1600" dirty="0">
                <a:latin typeface="+mn-ea"/>
              </a:rPr>
              <a:t>=16.5-11=5.5(cm)</a:t>
            </a:r>
            <a:r>
              <a:rPr lang="zh-CN" altLang="zh-CN" sz="1600" dirty="0">
                <a:latin typeface="+mn-ea"/>
              </a:rPr>
              <a:t>。</a:t>
            </a:r>
          </a:p>
          <a:p>
            <a:pPr>
              <a:lnSpc>
                <a:spcPct val="114000"/>
              </a:lnSpc>
            </a:pPr>
            <a:r>
              <a:rPr lang="en-US" altLang="zh-CN" sz="1600" dirty="0" smtClean="0">
                <a:latin typeface="+mn-ea"/>
              </a:rPr>
              <a:t>          </a:t>
            </a:r>
            <a:r>
              <a:rPr lang="zh-CN" altLang="zh-CN" sz="1600" dirty="0" smtClean="0">
                <a:latin typeface="+mn-ea"/>
              </a:rPr>
              <a:t>因为</a:t>
            </a:r>
            <a:r>
              <a:rPr lang="zh-CN" altLang="zh-CN" sz="1600" dirty="0">
                <a:latin typeface="+mn-ea"/>
              </a:rPr>
              <a:t>道密度</a:t>
            </a:r>
            <a:r>
              <a:rPr lang="en-US" altLang="zh-CN" sz="1600" dirty="0">
                <a:latin typeface="+mn-ea"/>
              </a:rPr>
              <a:t>=40</a:t>
            </a:r>
            <a:r>
              <a:rPr lang="zh-CN" altLang="zh-CN" sz="1600" dirty="0">
                <a:latin typeface="+mn-ea"/>
              </a:rPr>
              <a:t>道</a:t>
            </a:r>
            <a:r>
              <a:rPr lang="en-US" altLang="zh-CN" sz="1600" dirty="0">
                <a:latin typeface="+mn-ea"/>
              </a:rPr>
              <a:t>/cm</a:t>
            </a:r>
            <a:r>
              <a:rPr lang="zh-CN" altLang="zh-CN" sz="1600" dirty="0">
                <a:latin typeface="+mn-ea"/>
              </a:rPr>
              <a:t>，所以</a:t>
            </a:r>
            <a:r>
              <a:rPr lang="en-US" altLang="zh-CN" sz="1600" dirty="0" smtClean="0">
                <a:latin typeface="+mn-ea"/>
              </a:rPr>
              <a:t>40</a:t>
            </a:r>
            <a:r>
              <a:rPr lang="zh-CN" altLang="en-US" sz="1600" dirty="0" smtClean="0">
                <a:latin typeface="+mn-ea"/>
              </a:rPr>
              <a:t>*</a:t>
            </a:r>
            <a:r>
              <a:rPr lang="en-US" altLang="zh-CN" sz="1600" dirty="0" smtClean="0">
                <a:latin typeface="+mn-ea"/>
              </a:rPr>
              <a:t>5.5=220</a:t>
            </a:r>
            <a:r>
              <a:rPr lang="zh-CN" altLang="zh-CN" sz="1600" dirty="0">
                <a:latin typeface="+mn-ea"/>
              </a:rPr>
              <a:t>道，即</a:t>
            </a:r>
            <a:r>
              <a:rPr lang="en-US" altLang="zh-CN" sz="1600" dirty="0">
                <a:latin typeface="+mn-ea"/>
              </a:rPr>
              <a:t>220</a:t>
            </a:r>
            <a:r>
              <a:rPr lang="zh-CN" altLang="zh-CN" sz="1600" dirty="0">
                <a:latin typeface="+mn-ea"/>
              </a:rPr>
              <a:t>个圆柱面。</a:t>
            </a:r>
          </a:p>
          <a:p>
            <a:pPr>
              <a:lnSpc>
                <a:spcPct val="114000"/>
              </a:lnSpc>
            </a:pPr>
            <a:r>
              <a:rPr lang="en-US" altLang="zh-CN" sz="1600" dirty="0" smtClean="0">
                <a:latin typeface="+mn-ea"/>
              </a:rPr>
              <a:t>       (2)</a:t>
            </a:r>
            <a:r>
              <a:rPr lang="zh-CN" altLang="zh-CN" sz="1600" dirty="0" smtClean="0">
                <a:latin typeface="+mn-ea"/>
              </a:rPr>
              <a:t>内层</a:t>
            </a:r>
            <a:r>
              <a:rPr lang="zh-CN" altLang="zh-CN" sz="1600" dirty="0">
                <a:latin typeface="+mn-ea"/>
              </a:rPr>
              <a:t>磁道周长为</a:t>
            </a:r>
            <a:r>
              <a:rPr lang="en-US" altLang="zh-CN" sz="1600" dirty="0" smtClean="0">
                <a:latin typeface="+mn-ea"/>
              </a:rPr>
              <a:t>2πR=2</a:t>
            </a:r>
            <a:r>
              <a:rPr lang="zh-CN" altLang="en-US" sz="1600" dirty="0" smtClean="0">
                <a:latin typeface="+mn-ea"/>
              </a:rPr>
              <a:t>*</a:t>
            </a:r>
            <a:r>
              <a:rPr lang="en-US" altLang="zh-CN" sz="1600" dirty="0" smtClean="0">
                <a:latin typeface="+mn-ea"/>
              </a:rPr>
              <a:t>3.14</a:t>
            </a:r>
            <a:r>
              <a:rPr lang="zh-CN" altLang="en-US" sz="1600" dirty="0" smtClean="0">
                <a:latin typeface="+mn-ea"/>
              </a:rPr>
              <a:t>*</a:t>
            </a:r>
            <a:r>
              <a:rPr lang="en-US" altLang="zh-CN" sz="1600" dirty="0" smtClean="0">
                <a:latin typeface="+mn-ea"/>
              </a:rPr>
              <a:t>11=69.08(cm</a:t>
            </a:r>
            <a:r>
              <a:rPr lang="en-US" altLang="zh-CN" sz="1600" dirty="0">
                <a:latin typeface="+mn-ea"/>
              </a:rPr>
              <a:t>)</a:t>
            </a:r>
            <a:r>
              <a:rPr lang="zh-CN" altLang="zh-CN" sz="1600" dirty="0">
                <a:latin typeface="+mn-ea"/>
              </a:rPr>
              <a:t>。</a:t>
            </a:r>
          </a:p>
          <a:p>
            <a:pPr>
              <a:lnSpc>
                <a:spcPct val="114000"/>
              </a:lnSpc>
            </a:pPr>
            <a:r>
              <a:rPr lang="en-US" altLang="zh-CN" sz="1600" dirty="0" smtClean="0">
                <a:latin typeface="+mn-ea"/>
              </a:rPr>
              <a:t>          </a:t>
            </a:r>
            <a:r>
              <a:rPr lang="zh-CN" altLang="zh-CN" sz="1600" dirty="0" smtClean="0">
                <a:latin typeface="+mn-ea"/>
              </a:rPr>
              <a:t>每</a:t>
            </a:r>
            <a:r>
              <a:rPr lang="zh-CN" altLang="zh-CN" sz="1600" dirty="0">
                <a:latin typeface="+mn-ea"/>
              </a:rPr>
              <a:t>道信息量</a:t>
            </a:r>
            <a:r>
              <a:rPr lang="en-US" altLang="zh-CN" sz="1600" dirty="0">
                <a:latin typeface="+mn-ea"/>
              </a:rPr>
              <a:t>=400</a:t>
            </a:r>
            <a:r>
              <a:rPr lang="zh-CN" altLang="zh-CN" sz="1600" dirty="0">
                <a:latin typeface="+mn-ea"/>
              </a:rPr>
              <a:t>位</a:t>
            </a:r>
            <a:r>
              <a:rPr lang="en-US" altLang="zh-CN" sz="1600" dirty="0">
                <a:latin typeface="+mn-ea"/>
              </a:rPr>
              <a:t>/</a:t>
            </a:r>
            <a:r>
              <a:rPr lang="en-US" altLang="zh-CN" sz="1600" dirty="0" smtClean="0">
                <a:latin typeface="+mn-ea"/>
              </a:rPr>
              <a:t>cm</a:t>
            </a:r>
            <a:r>
              <a:rPr lang="zh-CN" altLang="en-US" sz="1600" dirty="0" smtClean="0">
                <a:latin typeface="+mn-ea"/>
              </a:rPr>
              <a:t>*</a:t>
            </a:r>
            <a:r>
              <a:rPr lang="en-US" altLang="zh-CN" sz="1600" dirty="0" smtClean="0">
                <a:latin typeface="+mn-ea"/>
              </a:rPr>
              <a:t>69.08cm=27632</a:t>
            </a:r>
            <a:r>
              <a:rPr lang="zh-CN" altLang="zh-CN" sz="1600" dirty="0">
                <a:latin typeface="+mn-ea"/>
              </a:rPr>
              <a:t>位</a:t>
            </a:r>
            <a:r>
              <a:rPr lang="en-US" altLang="zh-CN" sz="1600" dirty="0">
                <a:latin typeface="+mn-ea"/>
              </a:rPr>
              <a:t>=</a:t>
            </a:r>
            <a:r>
              <a:rPr lang="en-US" altLang="zh-CN" sz="1600" dirty="0" smtClean="0">
                <a:latin typeface="+mn-ea"/>
              </a:rPr>
              <a:t>3454B</a:t>
            </a:r>
            <a:r>
              <a:rPr lang="zh-CN" altLang="en-US" sz="1600" dirty="0" smtClean="0">
                <a:latin typeface="+mn-ea"/>
              </a:rPr>
              <a:t>，</a:t>
            </a:r>
            <a:r>
              <a:rPr lang="zh-CN" altLang="zh-CN" sz="1600" dirty="0" smtClean="0">
                <a:latin typeface="+mn-ea"/>
              </a:rPr>
              <a:t>每</a:t>
            </a:r>
            <a:r>
              <a:rPr lang="zh-CN" altLang="zh-CN" sz="1600" dirty="0">
                <a:latin typeface="+mn-ea"/>
              </a:rPr>
              <a:t>面信息量</a:t>
            </a:r>
            <a:r>
              <a:rPr lang="en-US" altLang="zh-CN" sz="1600" dirty="0">
                <a:latin typeface="+mn-ea"/>
              </a:rPr>
              <a:t>=</a:t>
            </a:r>
            <a:r>
              <a:rPr lang="en-US" altLang="zh-CN" sz="1600" dirty="0" smtClean="0">
                <a:latin typeface="+mn-ea"/>
              </a:rPr>
              <a:t>3454B</a:t>
            </a:r>
            <a:r>
              <a:rPr lang="zh-CN" altLang="en-US" sz="1600" dirty="0" smtClean="0">
                <a:latin typeface="+mn-ea"/>
              </a:rPr>
              <a:t>*</a:t>
            </a:r>
            <a:r>
              <a:rPr lang="en-US" altLang="zh-CN" sz="1600" dirty="0" smtClean="0">
                <a:latin typeface="+mn-ea"/>
              </a:rPr>
              <a:t>220=759880B</a:t>
            </a:r>
            <a:r>
              <a:rPr lang="zh-CN" altLang="zh-CN" sz="1600" dirty="0">
                <a:latin typeface="+mn-ea"/>
              </a:rPr>
              <a:t>。</a:t>
            </a:r>
          </a:p>
          <a:p>
            <a:pPr>
              <a:lnSpc>
                <a:spcPct val="114000"/>
              </a:lnSpc>
            </a:pPr>
            <a:r>
              <a:rPr lang="en-US" altLang="zh-CN" sz="1600" dirty="0" smtClean="0">
                <a:latin typeface="+mn-ea"/>
              </a:rPr>
              <a:t>          </a:t>
            </a:r>
            <a:r>
              <a:rPr lang="zh-CN" altLang="zh-CN" sz="1600" dirty="0" smtClean="0">
                <a:latin typeface="+mn-ea"/>
              </a:rPr>
              <a:t>磁盘</a:t>
            </a:r>
            <a:r>
              <a:rPr lang="zh-CN" altLang="zh-CN" sz="1600" dirty="0">
                <a:latin typeface="+mn-ea"/>
              </a:rPr>
              <a:t>总容量</a:t>
            </a:r>
            <a:r>
              <a:rPr lang="en-US" altLang="zh-CN" sz="1600" dirty="0">
                <a:latin typeface="+mn-ea"/>
              </a:rPr>
              <a:t>=</a:t>
            </a:r>
            <a:r>
              <a:rPr lang="en-US" altLang="zh-CN" sz="1600" dirty="0" smtClean="0">
                <a:latin typeface="+mn-ea"/>
              </a:rPr>
              <a:t>759880B</a:t>
            </a:r>
            <a:r>
              <a:rPr lang="zh-CN" altLang="en-US" sz="1600" dirty="0" smtClean="0">
                <a:latin typeface="+mn-ea"/>
              </a:rPr>
              <a:t>*</a:t>
            </a:r>
            <a:r>
              <a:rPr lang="en-US" altLang="zh-CN" sz="1600" dirty="0" smtClean="0">
                <a:latin typeface="+mn-ea"/>
              </a:rPr>
              <a:t>10=7598800B</a:t>
            </a:r>
            <a:r>
              <a:rPr lang="zh-CN" altLang="zh-CN" sz="1600" dirty="0">
                <a:latin typeface="+mn-ea"/>
              </a:rPr>
              <a:t>。</a:t>
            </a:r>
          </a:p>
          <a:p>
            <a:pPr>
              <a:lnSpc>
                <a:spcPct val="114000"/>
              </a:lnSpc>
            </a:pPr>
            <a:r>
              <a:rPr lang="en-US" altLang="zh-CN" sz="1600" dirty="0" smtClean="0">
                <a:latin typeface="+mn-ea"/>
              </a:rPr>
              <a:t>       (3)</a:t>
            </a:r>
            <a:r>
              <a:rPr lang="zh-CN" altLang="zh-CN" sz="1600" dirty="0" smtClean="0">
                <a:latin typeface="+mn-ea"/>
              </a:rPr>
              <a:t>磁盘</a:t>
            </a:r>
            <a:r>
              <a:rPr lang="zh-CN" altLang="zh-CN" sz="1600" dirty="0">
                <a:latin typeface="+mn-ea"/>
              </a:rPr>
              <a:t>数据传输率</a:t>
            </a:r>
            <a:r>
              <a:rPr lang="en-US" altLang="zh-CN" sz="1600" dirty="0" err="1" smtClean="0">
                <a:latin typeface="+mn-ea"/>
              </a:rPr>
              <a:t>Dr</a:t>
            </a:r>
            <a:r>
              <a:rPr lang="en-US" altLang="zh-CN" sz="1600" dirty="0" smtClean="0">
                <a:latin typeface="+mn-ea"/>
              </a:rPr>
              <a:t>=</a:t>
            </a:r>
            <a:r>
              <a:rPr lang="en-US" altLang="zh-CN" sz="1600" dirty="0" err="1" smtClean="0">
                <a:latin typeface="+mn-ea"/>
              </a:rPr>
              <a:t>rN</a:t>
            </a:r>
            <a:r>
              <a:rPr lang="zh-CN" altLang="zh-CN" sz="1600" dirty="0">
                <a:latin typeface="+mn-ea"/>
              </a:rPr>
              <a:t>，</a:t>
            </a:r>
            <a:r>
              <a:rPr lang="en-US" altLang="zh-CN" sz="1600" dirty="0">
                <a:latin typeface="+mn-ea"/>
              </a:rPr>
              <a:t>N</a:t>
            </a:r>
            <a:r>
              <a:rPr lang="zh-CN" altLang="zh-CN" sz="1600" dirty="0">
                <a:latin typeface="+mn-ea"/>
              </a:rPr>
              <a:t>为每条磁道容量，</a:t>
            </a:r>
            <a:r>
              <a:rPr lang="en-US" altLang="zh-CN" sz="1600" dirty="0">
                <a:latin typeface="+mn-ea"/>
              </a:rPr>
              <a:t>N=3454B</a:t>
            </a:r>
            <a:r>
              <a:rPr lang="zh-CN" altLang="zh-CN" sz="1600" dirty="0">
                <a:latin typeface="+mn-ea"/>
              </a:rPr>
              <a:t>，</a:t>
            </a:r>
            <a:r>
              <a:rPr lang="en-US" altLang="zh-CN" sz="1600" dirty="0">
                <a:latin typeface="+mn-ea"/>
              </a:rPr>
              <a:t>r</a:t>
            </a:r>
            <a:r>
              <a:rPr lang="zh-CN" altLang="zh-CN" sz="1600" dirty="0">
                <a:latin typeface="+mn-ea"/>
              </a:rPr>
              <a:t>为磁盘转速</a:t>
            </a:r>
            <a:r>
              <a:rPr lang="zh-CN" altLang="zh-CN" sz="1600" dirty="0" smtClean="0">
                <a:latin typeface="+mn-ea"/>
              </a:rPr>
              <a:t>，</a:t>
            </a:r>
            <a:endParaRPr lang="en-US" altLang="zh-CN" sz="1600" dirty="0" smtClean="0">
              <a:latin typeface="+mn-ea"/>
            </a:endParaRPr>
          </a:p>
          <a:p>
            <a:pPr>
              <a:lnSpc>
                <a:spcPct val="114000"/>
              </a:lnSpc>
            </a:pPr>
            <a:r>
              <a:rPr lang="en-US" altLang="zh-CN" sz="1600" dirty="0">
                <a:latin typeface="+mn-ea"/>
              </a:rPr>
              <a:t> </a:t>
            </a:r>
            <a:r>
              <a:rPr lang="en-US" altLang="zh-CN" sz="1600" dirty="0" smtClean="0">
                <a:latin typeface="+mn-ea"/>
              </a:rPr>
              <a:t>         </a:t>
            </a:r>
            <a:r>
              <a:rPr lang="en-US" altLang="zh-CN" sz="1600" dirty="0" smtClean="0">
                <a:latin typeface="+mn-ea"/>
              </a:rPr>
              <a:t>r=2400</a:t>
            </a:r>
            <a:r>
              <a:rPr lang="zh-CN" altLang="zh-CN" sz="1600" dirty="0">
                <a:latin typeface="+mn-ea"/>
              </a:rPr>
              <a:t>转</a:t>
            </a:r>
            <a:r>
              <a:rPr lang="en-US" altLang="zh-CN" sz="1600" dirty="0">
                <a:latin typeface="+mn-ea"/>
              </a:rPr>
              <a:t>/60</a:t>
            </a:r>
            <a:r>
              <a:rPr lang="zh-CN" altLang="zh-CN" sz="1600" dirty="0">
                <a:latin typeface="+mn-ea"/>
              </a:rPr>
              <a:t>秒</a:t>
            </a:r>
            <a:r>
              <a:rPr lang="en-US" altLang="zh-CN" sz="1600" dirty="0">
                <a:latin typeface="+mn-ea"/>
              </a:rPr>
              <a:t>=40</a:t>
            </a:r>
            <a:r>
              <a:rPr lang="zh-CN" altLang="zh-CN" sz="1600" dirty="0">
                <a:latin typeface="+mn-ea"/>
              </a:rPr>
              <a:t>转</a:t>
            </a:r>
            <a:r>
              <a:rPr lang="en-US" altLang="zh-CN" sz="1600" dirty="0">
                <a:latin typeface="+mn-ea"/>
              </a:rPr>
              <a:t>/</a:t>
            </a:r>
            <a:r>
              <a:rPr lang="zh-CN" altLang="zh-CN" sz="1600" dirty="0" smtClean="0">
                <a:latin typeface="+mn-ea"/>
              </a:rPr>
              <a:t>秒</a:t>
            </a:r>
            <a:r>
              <a:rPr lang="zh-CN" altLang="en-US" sz="1600" dirty="0" smtClean="0">
                <a:latin typeface="+mn-ea"/>
              </a:rPr>
              <a:t>，</a:t>
            </a:r>
            <a:r>
              <a:rPr lang="en-US" altLang="zh-CN" sz="1600" dirty="0" err="1" smtClean="0">
                <a:latin typeface="+mn-ea"/>
              </a:rPr>
              <a:t>Dr</a:t>
            </a:r>
            <a:r>
              <a:rPr lang="en-US" altLang="zh-CN" sz="1600" dirty="0" smtClean="0">
                <a:latin typeface="+mn-ea"/>
              </a:rPr>
              <a:t>=r</a:t>
            </a:r>
            <a:r>
              <a:rPr lang="zh-CN" altLang="en-US" sz="1600" dirty="0" smtClean="0">
                <a:latin typeface="+mn-ea"/>
              </a:rPr>
              <a:t>*</a:t>
            </a:r>
            <a:r>
              <a:rPr lang="en-US" altLang="zh-CN" sz="1600" dirty="0" smtClean="0">
                <a:latin typeface="+mn-ea"/>
              </a:rPr>
              <a:t>N=40</a:t>
            </a:r>
            <a:r>
              <a:rPr lang="zh-CN" altLang="en-US" sz="1600" dirty="0" smtClean="0">
                <a:latin typeface="+mn-ea"/>
              </a:rPr>
              <a:t>*</a:t>
            </a:r>
            <a:r>
              <a:rPr lang="en-US" altLang="zh-CN" sz="1600" dirty="0" smtClean="0">
                <a:latin typeface="+mn-ea"/>
              </a:rPr>
              <a:t>3454B=138160B/s</a:t>
            </a:r>
            <a:r>
              <a:rPr lang="zh-CN" altLang="zh-CN" sz="1600" dirty="0" smtClean="0">
                <a:latin typeface="+mn-ea"/>
              </a:rPr>
              <a:t>。</a:t>
            </a:r>
            <a:endParaRPr lang="en-US" altLang="zh-CN" sz="1600" dirty="0" smtClean="0">
              <a:latin typeface="+mn-ea"/>
            </a:endParaRPr>
          </a:p>
          <a:p>
            <a:pPr>
              <a:lnSpc>
                <a:spcPct val="114000"/>
              </a:lnSpc>
            </a:pPr>
            <a:r>
              <a:rPr lang="en-US" altLang="zh-CN" sz="1600" dirty="0" smtClean="0">
                <a:latin typeface="+mn-ea"/>
              </a:rPr>
              <a:t>3. </a:t>
            </a:r>
            <a:r>
              <a:rPr lang="zh-CN" altLang="zh-CN" sz="1600" dirty="0" smtClean="0">
                <a:latin typeface="+mn-ea"/>
              </a:rPr>
              <a:t>解</a:t>
            </a:r>
            <a:r>
              <a:rPr lang="zh-CN" altLang="zh-CN" sz="1600" dirty="0">
                <a:latin typeface="+mn-ea"/>
              </a:rPr>
              <a:t>：</a:t>
            </a:r>
            <a:r>
              <a:rPr lang="en-US" altLang="zh-CN" sz="1600" dirty="0">
                <a:latin typeface="+mn-ea"/>
              </a:rPr>
              <a:t>(1)</a:t>
            </a:r>
            <a:r>
              <a:rPr lang="zh-CN" altLang="zh-CN" sz="1600" dirty="0">
                <a:latin typeface="+mn-ea"/>
              </a:rPr>
              <a:t>已知道密度</a:t>
            </a:r>
            <a:r>
              <a:rPr lang="en-US" altLang="zh-CN" sz="1600" dirty="0">
                <a:latin typeface="+mn-ea"/>
              </a:rPr>
              <a:t>D=1250TPI</a:t>
            </a:r>
            <a:r>
              <a:rPr lang="zh-CN" altLang="zh-CN" sz="1600" dirty="0">
                <a:latin typeface="+mn-ea"/>
              </a:rPr>
              <a:t>，内直径</a:t>
            </a:r>
            <a:r>
              <a:rPr lang="en-US" altLang="zh-CN" sz="1600" dirty="0">
                <a:latin typeface="+mn-ea"/>
              </a:rPr>
              <a:t>D1=2.36</a:t>
            </a:r>
            <a:r>
              <a:rPr lang="zh-CN" altLang="zh-CN" sz="1600" dirty="0">
                <a:latin typeface="+mn-ea"/>
              </a:rPr>
              <a:t>英寸，外直径</a:t>
            </a:r>
            <a:r>
              <a:rPr lang="en-US" altLang="zh-CN" sz="1600" dirty="0">
                <a:latin typeface="+mn-ea"/>
              </a:rPr>
              <a:t>D2=5</a:t>
            </a:r>
            <a:r>
              <a:rPr lang="zh-CN" altLang="zh-CN" sz="1600" dirty="0">
                <a:latin typeface="+mn-ea"/>
              </a:rPr>
              <a:t>英寸</a:t>
            </a:r>
            <a:r>
              <a:rPr lang="zh-CN" altLang="zh-CN" sz="1600" dirty="0" smtClean="0">
                <a:latin typeface="+mn-ea"/>
              </a:rPr>
              <a:t>，</a:t>
            </a:r>
            <a:endParaRPr lang="en-US" altLang="zh-CN" sz="1600" dirty="0" smtClean="0">
              <a:latin typeface="+mn-ea"/>
            </a:endParaRPr>
          </a:p>
          <a:p>
            <a:pPr>
              <a:lnSpc>
                <a:spcPct val="114000"/>
              </a:lnSpc>
            </a:pPr>
            <a:r>
              <a:rPr lang="en-US" altLang="zh-CN" sz="1600" dirty="0">
                <a:latin typeface="+mn-ea"/>
              </a:rPr>
              <a:t> </a:t>
            </a:r>
            <a:r>
              <a:rPr lang="en-US" altLang="zh-CN" sz="1600" dirty="0" smtClean="0">
                <a:latin typeface="+mn-ea"/>
              </a:rPr>
              <a:t>         </a:t>
            </a:r>
            <a:r>
              <a:rPr lang="zh-CN" altLang="zh-CN" sz="1600" dirty="0" smtClean="0">
                <a:latin typeface="+mn-ea"/>
              </a:rPr>
              <a:t>则</a:t>
            </a:r>
            <a:r>
              <a:rPr lang="zh-CN" altLang="zh-CN" sz="1600" dirty="0">
                <a:latin typeface="+mn-ea"/>
              </a:rPr>
              <a:t>每面的磁道数</a:t>
            </a:r>
            <a:r>
              <a:rPr lang="en-US" altLang="zh-CN" sz="1600" dirty="0">
                <a:latin typeface="+mn-ea"/>
              </a:rPr>
              <a:t>N</a:t>
            </a:r>
            <a:r>
              <a:rPr lang="zh-CN" altLang="zh-CN" sz="1600" dirty="0">
                <a:latin typeface="+mn-ea"/>
              </a:rPr>
              <a:t>为</a:t>
            </a:r>
            <a:r>
              <a:rPr lang="en-US" altLang="zh-CN" sz="1600" dirty="0" smtClean="0">
                <a:latin typeface="+mn-ea"/>
              </a:rPr>
              <a:t>N=D</a:t>
            </a:r>
            <a:r>
              <a:rPr lang="zh-CN" altLang="en-US" sz="1600" dirty="0" smtClean="0">
                <a:latin typeface="+mn-ea"/>
              </a:rPr>
              <a:t>*</a:t>
            </a:r>
            <a:r>
              <a:rPr lang="en-US" altLang="zh-CN" sz="1600" dirty="0" smtClean="0">
                <a:latin typeface="+mn-ea"/>
              </a:rPr>
              <a:t>(D1-D2</a:t>
            </a:r>
            <a:r>
              <a:rPr lang="en-US" altLang="zh-CN" sz="1600" dirty="0">
                <a:latin typeface="+mn-ea"/>
              </a:rPr>
              <a:t>)/</a:t>
            </a:r>
            <a:r>
              <a:rPr lang="en-US" altLang="zh-CN" sz="1600" dirty="0" smtClean="0">
                <a:latin typeface="+mn-ea"/>
              </a:rPr>
              <a:t>2=1250</a:t>
            </a:r>
            <a:r>
              <a:rPr lang="zh-CN" altLang="en-US" sz="1600" dirty="0" smtClean="0">
                <a:latin typeface="+mn-ea"/>
              </a:rPr>
              <a:t>*</a:t>
            </a:r>
            <a:r>
              <a:rPr lang="en-US" altLang="zh-CN" sz="1600" dirty="0" smtClean="0">
                <a:latin typeface="+mn-ea"/>
              </a:rPr>
              <a:t>1.32=1650</a:t>
            </a:r>
            <a:r>
              <a:rPr lang="zh-CN" altLang="zh-CN" sz="1600" dirty="0">
                <a:latin typeface="+mn-ea"/>
              </a:rPr>
              <a:t>。</a:t>
            </a:r>
          </a:p>
          <a:p>
            <a:pPr>
              <a:lnSpc>
                <a:spcPct val="114000"/>
              </a:lnSpc>
            </a:pPr>
            <a:r>
              <a:rPr lang="en-US" altLang="zh-CN" sz="1600" dirty="0" smtClean="0">
                <a:latin typeface="+mn-ea"/>
              </a:rPr>
              <a:t>          </a:t>
            </a:r>
            <a:r>
              <a:rPr lang="zh-CN" altLang="zh-CN" sz="1600" dirty="0" smtClean="0">
                <a:latin typeface="+mn-ea"/>
              </a:rPr>
              <a:t>根据</a:t>
            </a:r>
            <a:r>
              <a:rPr lang="zh-CN" altLang="zh-CN" sz="1600" dirty="0">
                <a:latin typeface="+mn-ea"/>
              </a:rPr>
              <a:t>位密度的概念，每道上存储的字节个数</a:t>
            </a:r>
            <a:r>
              <a:rPr lang="zh-CN" altLang="zh-CN" sz="1600" dirty="0" smtClean="0">
                <a:latin typeface="+mn-ea"/>
              </a:rPr>
              <a:t>相同</a:t>
            </a:r>
            <a:endParaRPr lang="en-US" altLang="zh-CN" sz="1600" dirty="0" smtClean="0">
              <a:latin typeface="+mn-ea"/>
            </a:endParaRPr>
          </a:p>
          <a:p>
            <a:pPr>
              <a:lnSpc>
                <a:spcPct val="114000"/>
              </a:lnSpc>
            </a:pPr>
            <a:r>
              <a:rPr lang="en-US" altLang="zh-CN" sz="1600" dirty="0" smtClean="0">
                <a:latin typeface="+mn-ea"/>
              </a:rPr>
              <a:t>          </a:t>
            </a:r>
            <a:r>
              <a:rPr lang="zh-CN" altLang="zh-CN" sz="1600" dirty="0" smtClean="0">
                <a:latin typeface="+mn-ea"/>
              </a:rPr>
              <a:t>则</a:t>
            </a:r>
            <a:r>
              <a:rPr lang="zh-CN" altLang="zh-CN" sz="1600" dirty="0">
                <a:latin typeface="+mn-ea"/>
              </a:rPr>
              <a:t>可存储的字节</a:t>
            </a:r>
            <a:r>
              <a:rPr lang="zh-CN" altLang="zh-CN" sz="1600" dirty="0" smtClean="0">
                <a:latin typeface="+mn-ea"/>
              </a:rPr>
              <a:t>数</a:t>
            </a:r>
            <a:r>
              <a:rPr lang="en-US" altLang="zh-CN" sz="1600" dirty="0" smtClean="0">
                <a:latin typeface="+mn-ea"/>
              </a:rPr>
              <a:t>: C</a:t>
            </a:r>
            <a:r>
              <a:rPr lang="zh-CN" altLang="zh-CN" sz="1600" baseline="-25000" dirty="0">
                <a:latin typeface="+mn-ea"/>
              </a:rPr>
              <a:t>磁道</a:t>
            </a:r>
            <a:r>
              <a:rPr lang="en-US" altLang="zh-CN" sz="1600" dirty="0">
                <a:latin typeface="+mn-ea"/>
              </a:rPr>
              <a:t>=</a:t>
            </a:r>
            <a:r>
              <a:rPr lang="zh-CN" altLang="zh-CN" sz="1600" dirty="0" smtClean="0">
                <a:latin typeface="+mn-ea"/>
              </a:rPr>
              <a:t>π</a:t>
            </a:r>
            <a:r>
              <a:rPr lang="en-US" altLang="zh-CN" sz="1600" dirty="0" smtClean="0">
                <a:latin typeface="+mn-ea"/>
              </a:rPr>
              <a:t>*D1*</a:t>
            </a:r>
            <a:r>
              <a:rPr lang="zh-CN" altLang="zh-CN" sz="1600" dirty="0" smtClean="0">
                <a:latin typeface="+mn-ea"/>
              </a:rPr>
              <a:t>位密度</a:t>
            </a:r>
            <a:r>
              <a:rPr lang="en-US" altLang="zh-CN" sz="1600" dirty="0">
                <a:latin typeface="+mn-ea"/>
              </a:rPr>
              <a:t>=48562B</a:t>
            </a:r>
            <a:endParaRPr lang="zh-CN" altLang="zh-CN" sz="1600" dirty="0">
              <a:latin typeface="+mn-ea"/>
            </a:endParaRPr>
          </a:p>
          <a:p>
            <a:pPr>
              <a:lnSpc>
                <a:spcPct val="114000"/>
              </a:lnSpc>
            </a:pPr>
            <a:r>
              <a:rPr lang="en-US" altLang="zh-CN" sz="1600" dirty="0" smtClean="0">
                <a:latin typeface="+mn-ea"/>
              </a:rPr>
              <a:t>       (</a:t>
            </a:r>
            <a:r>
              <a:rPr lang="en-US" altLang="zh-CN" sz="1600" dirty="0">
                <a:latin typeface="+mn-ea"/>
              </a:rPr>
              <a:t>2)</a:t>
            </a:r>
            <a:r>
              <a:rPr lang="zh-CN" altLang="zh-CN" sz="1600" dirty="0">
                <a:latin typeface="+mn-ea"/>
              </a:rPr>
              <a:t>设数据传输率为</a:t>
            </a:r>
            <a:r>
              <a:rPr lang="en-US" altLang="zh-CN" sz="1600" dirty="0">
                <a:latin typeface="+mn-ea"/>
              </a:rPr>
              <a:t>V</a:t>
            </a:r>
            <a:r>
              <a:rPr lang="zh-CN" altLang="zh-CN" sz="1600" dirty="0">
                <a:latin typeface="+mn-ea"/>
              </a:rPr>
              <a:t>，则</a:t>
            </a:r>
          </a:p>
          <a:p>
            <a:pPr>
              <a:lnSpc>
                <a:spcPct val="114000"/>
              </a:lnSpc>
            </a:pPr>
            <a:r>
              <a:rPr lang="en-US" altLang="zh-CN" sz="1600" dirty="0" smtClean="0">
                <a:latin typeface="+mn-ea"/>
              </a:rPr>
              <a:t>           V</a:t>
            </a:r>
            <a:r>
              <a:rPr lang="en-US" altLang="zh-CN" sz="1600" dirty="0">
                <a:latin typeface="+mn-ea"/>
              </a:rPr>
              <a:t>= </a:t>
            </a:r>
            <a:r>
              <a:rPr lang="en-US" altLang="zh-CN" sz="1600" dirty="0" smtClean="0">
                <a:latin typeface="+mn-ea"/>
              </a:rPr>
              <a:t>C*r=48562*2400/60=1942480B=1.85MB/s </a:t>
            </a:r>
            <a:endParaRPr lang="zh-CN" altLang="zh-CN" sz="1600" dirty="0">
              <a:latin typeface="+mn-ea"/>
            </a:endParaRPr>
          </a:p>
          <a:p>
            <a:pPr>
              <a:lnSpc>
                <a:spcPct val="114000"/>
              </a:lnSpc>
            </a:pPr>
            <a:r>
              <a:rPr lang="en-US" altLang="zh-CN" sz="1600" dirty="0" smtClean="0">
                <a:latin typeface="+mn-ea"/>
              </a:rPr>
              <a:t>       (</a:t>
            </a:r>
            <a:r>
              <a:rPr lang="en-US" altLang="zh-CN" sz="1600" dirty="0">
                <a:latin typeface="+mn-ea"/>
              </a:rPr>
              <a:t>3)T=</a:t>
            </a:r>
            <a:r>
              <a:rPr lang="zh-CN" altLang="zh-CN" sz="1600" dirty="0">
                <a:latin typeface="+mn-ea"/>
              </a:rPr>
              <a:t>平均找道时间</a:t>
            </a:r>
            <a:r>
              <a:rPr lang="en-US" altLang="zh-CN" sz="1600" dirty="0">
                <a:latin typeface="+mn-ea"/>
              </a:rPr>
              <a:t>+</a:t>
            </a:r>
            <a:r>
              <a:rPr lang="zh-CN" altLang="zh-CN" sz="1600" dirty="0">
                <a:latin typeface="+mn-ea"/>
              </a:rPr>
              <a:t>找扇区时间</a:t>
            </a:r>
            <a:r>
              <a:rPr lang="en-US" altLang="zh-CN" sz="1600" dirty="0">
                <a:latin typeface="+mn-ea"/>
              </a:rPr>
              <a:t>+</a:t>
            </a:r>
            <a:r>
              <a:rPr lang="zh-CN" altLang="zh-CN" sz="1600" dirty="0">
                <a:latin typeface="+mn-ea"/>
              </a:rPr>
              <a:t>读取</a:t>
            </a:r>
            <a:r>
              <a:rPr lang="zh-CN" altLang="zh-CN" sz="1600" dirty="0" smtClean="0">
                <a:latin typeface="+mn-ea"/>
              </a:rPr>
              <a:t>时间</a:t>
            </a:r>
            <a:endParaRPr lang="en-US" altLang="zh-CN" sz="1600" dirty="0" smtClean="0">
              <a:latin typeface="+mn-ea"/>
            </a:endParaRPr>
          </a:p>
          <a:p>
            <a:pPr>
              <a:lnSpc>
                <a:spcPct val="114000"/>
              </a:lnSpc>
            </a:pPr>
            <a:r>
              <a:rPr lang="en-US" altLang="zh-CN" sz="1600" dirty="0">
                <a:latin typeface="+mn-ea"/>
              </a:rPr>
              <a:t> </a:t>
            </a:r>
            <a:r>
              <a:rPr lang="en-US" altLang="zh-CN" sz="1600" dirty="0" smtClean="0">
                <a:latin typeface="+mn-ea"/>
              </a:rPr>
              <a:t>          =(</a:t>
            </a:r>
            <a:r>
              <a:rPr lang="en-US" altLang="zh-CN" sz="1600" dirty="0">
                <a:latin typeface="+mn-ea"/>
              </a:rPr>
              <a:t>10+40</a:t>
            </a:r>
            <a:r>
              <a:rPr lang="en-US" altLang="zh-CN" sz="1600" dirty="0" smtClean="0">
                <a:latin typeface="+mn-ea"/>
              </a:rPr>
              <a:t>)/</a:t>
            </a:r>
            <a:r>
              <a:rPr lang="en-US" altLang="zh-CN" sz="1600" dirty="0">
                <a:latin typeface="+mn-ea"/>
              </a:rPr>
              <a:t>2</a:t>
            </a:r>
            <a:r>
              <a:rPr lang="en-US" altLang="zh-CN" sz="1600" dirty="0" smtClean="0">
                <a:latin typeface="+mn-ea"/>
              </a:rPr>
              <a:t>+(1000*60)/(2400*2)+(8000*1000*60)/(48562*2400</a:t>
            </a:r>
            <a:r>
              <a:rPr lang="en-US"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en-US" altLang="zh-CN" sz="1600" dirty="0">
                <a:latin typeface="+mn-ea"/>
              </a:rPr>
              <a:t>25+12.5+4.12=41.62ms</a:t>
            </a:r>
            <a:endParaRPr lang="zh-CN" altLang="zh-CN" sz="1600" dirty="0">
              <a:latin typeface="+mn-ea"/>
            </a:endParaRPr>
          </a:p>
          <a:p>
            <a:pPr>
              <a:lnSpc>
                <a:spcPct val="114000"/>
              </a:lnSpc>
            </a:pPr>
            <a:r>
              <a:rPr lang="en-US" altLang="zh-CN" sz="1600" dirty="0" smtClean="0">
                <a:latin typeface="+mn-ea"/>
              </a:rPr>
              <a:t>4.</a:t>
            </a:r>
            <a:r>
              <a:rPr lang="zh-CN" altLang="zh-CN" sz="1600" dirty="0" smtClean="0">
                <a:latin typeface="+mn-ea"/>
              </a:rPr>
              <a:t> </a:t>
            </a:r>
            <a:r>
              <a:rPr lang="zh-CN" altLang="en-US" sz="1600" dirty="0" smtClean="0">
                <a:latin typeface="+mn-ea"/>
              </a:rPr>
              <a:t>解：</a:t>
            </a:r>
            <a:r>
              <a:rPr lang="en-US" altLang="zh-CN" sz="1600" dirty="0">
                <a:latin typeface="+mn-ea"/>
              </a:rPr>
              <a:t>(1)</a:t>
            </a:r>
            <a:r>
              <a:rPr lang="zh-CN" altLang="zh-CN" sz="1600" dirty="0">
                <a:latin typeface="+mn-ea"/>
              </a:rPr>
              <a:t>因</a:t>
            </a:r>
            <a:r>
              <a:rPr lang="en-US" altLang="zh-CN" sz="1600" dirty="0">
                <a:latin typeface="+mn-ea"/>
              </a:rPr>
              <a:t>2</a:t>
            </a:r>
            <a:r>
              <a:rPr lang="en-US" altLang="zh-CN" sz="1600" baseline="30000" dirty="0">
                <a:latin typeface="+mn-ea"/>
              </a:rPr>
              <a:t>8</a:t>
            </a:r>
            <a:r>
              <a:rPr lang="en-US" altLang="zh-CN" sz="1600" dirty="0">
                <a:latin typeface="+mn-ea"/>
              </a:rPr>
              <a:t>=256</a:t>
            </a:r>
            <a:r>
              <a:rPr lang="zh-CN" altLang="zh-CN" sz="1600" dirty="0">
                <a:latin typeface="+mn-ea"/>
              </a:rPr>
              <a:t>，所以显示系统的帧缓冲容量是</a:t>
            </a:r>
            <a:r>
              <a:rPr lang="en-US" altLang="zh-CN" sz="1600" dirty="0">
                <a:latin typeface="+mn-ea"/>
              </a:rPr>
              <a:t>:</a:t>
            </a:r>
            <a:r>
              <a:rPr lang="en-US" altLang="zh-CN" sz="1600" dirty="0" smtClean="0">
                <a:latin typeface="+mn-ea"/>
              </a:rPr>
              <a:t>1024</a:t>
            </a:r>
            <a:r>
              <a:rPr lang="zh-CN" altLang="en-US" sz="1600" dirty="0" smtClean="0">
                <a:latin typeface="+mn-ea"/>
              </a:rPr>
              <a:t>*</a:t>
            </a:r>
            <a:r>
              <a:rPr lang="en-US" altLang="zh-CN" sz="1600" dirty="0" smtClean="0">
                <a:latin typeface="+mn-ea"/>
              </a:rPr>
              <a:t>768</a:t>
            </a:r>
            <a:r>
              <a:rPr lang="zh-CN" altLang="en-US" sz="1600" dirty="0" smtClean="0">
                <a:latin typeface="+mn-ea"/>
              </a:rPr>
              <a:t>*</a:t>
            </a:r>
            <a:r>
              <a:rPr lang="en-US" altLang="zh-CN" sz="1600" dirty="0" smtClean="0">
                <a:latin typeface="+mn-ea"/>
              </a:rPr>
              <a:t>8=6291456</a:t>
            </a:r>
            <a:r>
              <a:rPr lang="zh-CN" altLang="zh-CN" sz="1600" dirty="0">
                <a:latin typeface="+mn-ea"/>
              </a:rPr>
              <a:t>位。</a:t>
            </a:r>
          </a:p>
          <a:p>
            <a:pPr>
              <a:lnSpc>
                <a:spcPct val="114000"/>
              </a:lnSpc>
            </a:pPr>
            <a:r>
              <a:rPr lang="en-US" altLang="zh-CN" sz="1600" dirty="0" smtClean="0">
                <a:latin typeface="+mn-ea"/>
              </a:rPr>
              <a:t>       (</a:t>
            </a:r>
            <a:r>
              <a:rPr lang="en-US" altLang="zh-CN" sz="1600" dirty="0">
                <a:latin typeface="+mn-ea"/>
              </a:rPr>
              <a:t>2)</a:t>
            </a:r>
            <a:r>
              <a:rPr lang="zh-CN" altLang="zh-CN" sz="1600" dirty="0">
                <a:latin typeface="+mn-ea"/>
              </a:rPr>
              <a:t>传送频率为</a:t>
            </a:r>
            <a:r>
              <a:rPr lang="en-US" altLang="zh-CN" sz="1600" dirty="0">
                <a:latin typeface="+mn-ea"/>
              </a:rPr>
              <a:t>:</a:t>
            </a:r>
            <a:r>
              <a:rPr lang="en-US" altLang="zh-CN" sz="1600" dirty="0" smtClean="0">
                <a:latin typeface="+mn-ea"/>
              </a:rPr>
              <a:t>50</a:t>
            </a:r>
            <a:r>
              <a:rPr lang="zh-CN" altLang="en-US" sz="1600" dirty="0" smtClean="0">
                <a:latin typeface="+mn-ea"/>
              </a:rPr>
              <a:t>*</a:t>
            </a:r>
            <a:r>
              <a:rPr lang="en-US" altLang="zh-CN" sz="1600" dirty="0" smtClean="0">
                <a:latin typeface="+mn-ea"/>
              </a:rPr>
              <a:t>62914568/8=37.5MB/s</a:t>
            </a:r>
            <a:endParaRPr lang="zh-CN" altLang="zh-CN" sz="1600" dirty="0">
              <a:latin typeface="+mn-ea"/>
            </a:endParaRPr>
          </a:p>
        </p:txBody>
      </p:sp>
    </p:spTree>
    <p:extLst>
      <p:ext uri="{BB962C8B-B14F-4D97-AF65-F5344CB8AC3E}">
        <p14:creationId xmlns:p14="http://schemas.microsoft.com/office/powerpoint/2010/main" val="140103799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p:spPr>
        <p:txBody>
          <a:bodyPr/>
          <a:lstStyle/>
          <a:p>
            <a:fld id="{EBEABDF2-4A4D-4340-AF56-9DD262E6033D}" type="slidenum">
              <a:rPr lang="en-US" altLang="zh-CN" smtClean="0"/>
              <a:pPr/>
              <a:t>59</a:t>
            </a:fld>
            <a:endParaRPr lang="en-US" altLang="zh-CN" smtClean="0"/>
          </a:p>
        </p:txBody>
      </p:sp>
      <p:sp>
        <p:nvSpPr>
          <p:cNvPr id="58371" name="Rectangle 2"/>
          <p:cNvSpPr>
            <a:spLocks noGrp="1" noChangeArrowheads="1"/>
          </p:cNvSpPr>
          <p:nvPr>
            <p:ph type="title"/>
          </p:nvPr>
        </p:nvSpPr>
        <p:spPr>
          <a:xfrm>
            <a:off x="457200" y="122238"/>
            <a:ext cx="7543800" cy="498475"/>
          </a:xfrm>
        </p:spPr>
        <p:txBody>
          <a:bodyPr/>
          <a:lstStyle/>
          <a:p>
            <a:pPr eaLnBrk="1" hangingPunct="1"/>
            <a:r>
              <a:rPr lang="zh-CN" altLang="en-US" sz="3200" smtClean="0">
                <a:latin typeface="宋体" pitchFamily="2" charset="-122"/>
              </a:rPr>
              <a:t>本 章 小 结</a:t>
            </a:r>
          </a:p>
        </p:txBody>
      </p:sp>
      <p:sp>
        <p:nvSpPr>
          <p:cNvPr id="58372" name="Rectangle 3"/>
          <p:cNvSpPr>
            <a:spLocks noGrp="1" noChangeArrowheads="1"/>
          </p:cNvSpPr>
          <p:nvPr>
            <p:ph type="body" idx="1"/>
          </p:nvPr>
        </p:nvSpPr>
        <p:spPr>
          <a:xfrm>
            <a:off x="179388" y="692150"/>
            <a:ext cx="8640762" cy="5616575"/>
          </a:xfrm>
          <a:solidFill>
            <a:srgbClr val="CCFFFF"/>
          </a:solidFill>
        </p:spPr>
        <p:txBody>
          <a:bodyPr/>
          <a:lstStyle/>
          <a:p>
            <a:pPr eaLnBrk="1" hangingPunct="1">
              <a:lnSpc>
                <a:spcPct val="80000"/>
              </a:lnSpc>
            </a:pPr>
            <a:r>
              <a:rPr lang="zh-CN" altLang="en-US" sz="2400" dirty="0" smtClean="0">
                <a:latin typeface="宋体" pitchFamily="2" charset="-122"/>
              </a:rPr>
              <a:t>外围设备大体分为输入设备、输出设备、外存设备、</a:t>
            </a:r>
            <a:r>
              <a:rPr lang="zh-CN" altLang="en-US" sz="2400" b="1" dirty="0" smtClean="0">
                <a:latin typeface="宋体" pitchFamily="2" charset="-122"/>
              </a:rPr>
              <a:t>数据通信</a:t>
            </a:r>
            <a:r>
              <a:rPr lang="zh-CN" altLang="en-US" sz="2400" dirty="0" smtClean="0">
                <a:latin typeface="宋体" pitchFamily="2" charset="-122"/>
              </a:rPr>
              <a:t>设备、过程控制设备五大类。每一种设备，都是在它自己的设备控制器控制下进行工作，而设备控制器则通过</a:t>
            </a:r>
            <a:r>
              <a:rPr lang="en-US" altLang="zh-CN" sz="2400" dirty="0" smtClean="0">
                <a:latin typeface="宋体" pitchFamily="2" charset="-122"/>
              </a:rPr>
              <a:t>I/O</a:t>
            </a:r>
            <a:r>
              <a:rPr lang="zh-CN" altLang="en-US" sz="2400" dirty="0" smtClean="0">
                <a:latin typeface="宋体" pitchFamily="2" charset="-122"/>
              </a:rPr>
              <a:t>接口模块和主机相连，并受主机控制。</a:t>
            </a:r>
          </a:p>
          <a:p>
            <a:pPr eaLnBrk="1" hangingPunct="1">
              <a:lnSpc>
                <a:spcPct val="80000"/>
              </a:lnSpc>
            </a:pPr>
            <a:r>
              <a:rPr lang="zh-CN" altLang="en-US" sz="2400" dirty="0" smtClean="0">
                <a:latin typeface="宋体" pitchFamily="2" charset="-122"/>
              </a:rPr>
              <a:t>磁盘、磁带属于磁表面存储器，特点是存储容量大，位价格低，记录信息永久保存，但存取速度较慢，因此在计算机系统中作为辅助大容量存储器使用。</a:t>
            </a:r>
          </a:p>
          <a:p>
            <a:pPr eaLnBrk="1" hangingPunct="1">
              <a:lnSpc>
                <a:spcPct val="80000"/>
              </a:lnSpc>
            </a:pPr>
            <a:r>
              <a:rPr lang="zh-CN" altLang="en-US" sz="2400" dirty="0" smtClean="0">
                <a:latin typeface="宋体" pitchFamily="2" charset="-122"/>
              </a:rPr>
              <a:t>硬磁盘按盘片结构分为可换盘片式、固定盘片式两种，磁头也分为可移动磁头和固定磁头两种。温彻斯特磁盘是一种采用先进技术研制的可移动磁头、固定盘片的磁盘机，组装成一个不可拆卸的机电一体化整体，防尘性能好，可靠性高，因而得到了广泛的应用，成为最有代表性的硬磁盘存储器。磁盘存储器的主要技术指标有：存储密度、存储容量、平均存取时间、数据传输速率。</a:t>
            </a:r>
          </a:p>
          <a:p>
            <a:pPr eaLnBrk="1" hangingPunct="1">
              <a:lnSpc>
                <a:spcPct val="80000"/>
              </a:lnSpc>
            </a:pPr>
            <a:r>
              <a:rPr lang="zh-CN" altLang="en-US" sz="2400" dirty="0" smtClean="0">
                <a:latin typeface="宋体" pitchFamily="2" charset="-122"/>
              </a:rPr>
              <a:t>磁盘阵列</a:t>
            </a:r>
            <a:r>
              <a:rPr lang="en-US" altLang="zh-CN" sz="2400" dirty="0" smtClean="0">
                <a:latin typeface="宋体" pitchFamily="2" charset="-122"/>
              </a:rPr>
              <a:t>RAID</a:t>
            </a:r>
            <a:r>
              <a:rPr lang="zh-CN" altLang="en-US" sz="2400" dirty="0" smtClean="0">
                <a:latin typeface="宋体" pitchFamily="2" charset="-122"/>
              </a:rPr>
              <a:t>是多台磁盘存储器组成的大容量外存系统，它实现数据的并行存储、交叉存储，单独存储，改善了</a:t>
            </a:r>
            <a:r>
              <a:rPr lang="en-US" altLang="zh-CN" sz="2400" dirty="0" smtClean="0">
                <a:latin typeface="宋体" pitchFamily="2" charset="-122"/>
              </a:rPr>
              <a:t>I/O</a:t>
            </a:r>
            <a:r>
              <a:rPr lang="zh-CN" altLang="en-US" sz="2400" dirty="0" smtClean="0">
                <a:latin typeface="宋体" pitchFamily="2" charset="-122"/>
              </a:rPr>
              <a:t>性能，增加了存储容量，是一种先进的硬磁盘体系结构。各种可移动硬盘的诞生，是磁盘先进技术的又一个重要进展。</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p>
            <a:fld id="{05A3048D-8BE1-4136-AEFF-038434FD331F}" type="slidenum">
              <a:rPr lang="en-US" altLang="zh-CN" smtClean="0"/>
              <a:pPr/>
              <a:t>60</a:t>
            </a:fld>
            <a:endParaRPr lang="en-US" altLang="zh-CN" smtClean="0"/>
          </a:p>
        </p:txBody>
      </p:sp>
      <p:sp>
        <p:nvSpPr>
          <p:cNvPr id="59395" name="Rectangle 2"/>
          <p:cNvSpPr>
            <a:spLocks noGrp="1" noChangeArrowheads="1"/>
          </p:cNvSpPr>
          <p:nvPr>
            <p:ph type="title"/>
          </p:nvPr>
        </p:nvSpPr>
        <p:spPr>
          <a:xfrm>
            <a:off x="468313" y="188913"/>
            <a:ext cx="7543800" cy="569912"/>
          </a:xfrm>
        </p:spPr>
        <p:txBody>
          <a:bodyPr/>
          <a:lstStyle/>
          <a:p>
            <a:pPr eaLnBrk="1" hangingPunct="1"/>
            <a:r>
              <a:rPr lang="zh-CN" altLang="en-US" sz="3200" smtClean="0">
                <a:latin typeface="宋体" pitchFamily="2" charset="-122"/>
              </a:rPr>
              <a:t>本 章 小 结</a:t>
            </a:r>
          </a:p>
        </p:txBody>
      </p:sp>
      <p:sp>
        <p:nvSpPr>
          <p:cNvPr id="59396" name="Rectangle 3"/>
          <p:cNvSpPr>
            <a:spLocks noGrp="1" noChangeArrowheads="1"/>
          </p:cNvSpPr>
          <p:nvPr>
            <p:ph type="body" idx="1"/>
          </p:nvPr>
        </p:nvSpPr>
        <p:spPr>
          <a:xfrm>
            <a:off x="179388" y="765175"/>
            <a:ext cx="8712200" cy="5832475"/>
          </a:xfrm>
          <a:solidFill>
            <a:srgbClr val="CCFFFF"/>
          </a:solidFill>
        </p:spPr>
        <p:txBody>
          <a:bodyPr/>
          <a:lstStyle/>
          <a:p>
            <a:pPr eaLnBrk="1" hangingPunct="1">
              <a:lnSpc>
                <a:spcPct val="90000"/>
              </a:lnSpc>
            </a:pPr>
            <a:r>
              <a:rPr lang="zh-CN" altLang="en-US" sz="2400" smtClean="0">
                <a:latin typeface="宋体" pitchFamily="2" charset="-122"/>
              </a:rPr>
              <a:t>光盘和磁光盘是近年发展起来的一种外存设备，是多媒体计算机不可缺少的设备。按读写性质分，光盘有：</a:t>
            </a:r>
            <a:r>
              <a:rPr lang="en-US" altLang="zh-CN" sz="2400" smtClean="0">
                <a:latin typeface="宋体" pitchFamily="2" charset="-122"/>
              </a:rPr>
              <a:t>(1)</a:t>
            </a:r>
            <a:r>
              <a:rPr lang="zh-CN" altLang="en-US" sz="2400" smtClean="0">
                <a:latin typeface="宋体" pitchFamily="2" charset="-122"/>
              </a:rPr>
              <a:t>只读型：记录的信息只能读出，不能被修改。</a:t>
            </a:r>
            <a:r>
              <a:rPr lang="en-US" altLang="zh-CN" sz="2400" smtClean="0">
                <a:latin typeface="宋体" pitchFamily="2" charset="-122"/>
              </a:rPr>
              <a:t>(2)</a:t>
            </a:r>
            <a:r>
              <a:rPr lang="zh-CN" altLang="en-US" sz="2400" smtClean="0">
                <a:latin typeface="宋体" pitchFamily="2" charset="-122"/>
              </a:rPr>
              <a:t>一次型：用户可在这种光盘上记录信息，但只能写一次，写后的信息不能再改变，只能读。</a:t>
            </a:r>
            <a:r>
              <a:rPr lang="en-US" altLang="zh-CN" sz="2400" smtClean="0">
                <a:latin typeface="宋体" pitchFamily="2" charset="-122"/>
              </a:rPr>
              <a:t>(3)</a:t>
            </a:r>
            <a:r>
              <a:rPr lang="zh-CN" altLang="en-US" sz="2400" smtClean="0">
                <a:latin typeface="宋体" pitchFamily="2" charset="-122"/>
              </a:rPr>
              <a:t>重写型：用户可对这类光盘进行随机写入、擦除或重写信息。光盘由于存储容量大、耐用、易保存等优点，因此成为计算机大型软件的传播载体和电子出版物的媒体。</a:t>
            </a:r>
          </a:p>
          <a:p>
            <a:pPr eaLnBrk="1" hangingPunct="1">
              <a:lnSpc>
                <a:spcPct val="90000"/>
              </a:lnSpc>
            </a:pPr>
            <a:r>
              <a:rPr lang="zh-CN" altLang="en-US" sz="2400" smtClean="0">
                <a:latin typeface="宋体" pitchFamily="2" charset="-122"/>
              </a:rPr>
              <a:t>不同的</a:t>
            </a:r>
            <a:r>
              <a:rPr lang="en-US" altLang="zh-CN" sz="2400" smtClean="0">
                <a:latin typeface="宋体" pitchFamily="2" charset="-122"/>
              </a:rPr>
              <a:t>CRT</a:t>
            </a:r>
            <a:r>
              <a:rPr lang="zh-CN" altLang="en-US" sz="2400" smtClean="0">
                <a:latin typeface="宋体" pitchFamily="2" charset="-122"/>
              </a:rPr>
              <a:t>显示标准所支持的最大分辨率和颜色数目是不同的。</a:t>
            </a:r>
            <a:r>
              <a:rPr lang="en-US" altLang="zh-CN" sz="2400" smtClean="0">
                <a:latin typeface="宋体" pitchFamily="2" charset="-122"/>
              </a:rPr>
              <a:t>VESA</a:t>
            </a:r>
            <a:r>
              <a:rPr lang="zh-CN" altLang="en-US" sz="2400" smtClean="0">
                <a:latin typeface="宋体" pitchFamily="2" charset="-122"/>
              </a:rPr>
              <a:t>标准，是一个可扩展的标准，它除兼容传统的</a:t>
            </a:r>
            <a:r>
              <a:rPr lang="en-US" altLang="zh-CN" sz="2400" smtClean="0">
                <a:latin typeface="宋体" pitchFamily="2" charset="-122"/>
              </a:rPr>
              <a:t>VGA</a:t>
            </a:r>
            <a:r>
              <a:rPr lang="zh-CN" altLang="en-US" sz="2400" smtClean="0">
                <a:latin typeface="宋体" pitchFamily="2" charset="-122"/>
              </a:rPr>
              <a:t>等显示方式外，还支持</a:t>
            </a:r>
            <a:r>
              <a:rPr lang="en-US" altLang="zh-CN" sz="2400" smtClean="0">
                <a:latin typeface="宋体" pitchFamily="2" charset="-122"/>
              </a:rPr>
              <a:t>1280×1024</a:t>
            </a:r>
            <a:r>
              <a:rPr lang="zh-CN" altLang="en-US" sz="2400" smtClean="0">
                <a:latin typeface="宋体" pitchFamily="2" charset="-122"/>
              </a:rPr>
              <a:t>像素光栅，每像素点</a:t>
            </a:r>
            <a:r>
              <a:rPr lang="en-US" altLang="zh-CN" sz="2400" smtClean="0">
                <a:latin typeface="宋体" pitchFamily="2" charset="-122"/>
              </a:rPr>
              <a:t>24</a:t>
            </a:r>
            <a:r>
              <a:rPr lang="zh-CN" altLang="en-US" sz="2400" smtClean="0">
                <a:latin typeface="宋体" pitchFamily="2" charset="-122"/>
              </a:rPr>
              <a:t>位颜色深度，刷新频率可达</a:t>
            </a:r>
            <a:r>
              <a:rPr lang="en-US" altLang="zh-CN" sz="2400" smtClean="0">
                <a:latin typeface="宋体" pitchFamily="2" charset="-122"/>
              </a:rPr>
              <a:t>75MHz</a:t>
            </a:r>
            <a:r>
              <a:rPr lang="zh-CN" altLang="en-US" sz="2400" smtClean="0">
                <a:latin typeface="宋体" pitchFamily="2" charset="-122"/>
              </a:rPr>
              <a:t>。显示适配器作为</a:t>
            </a:r>
            <a:r>
              <a:rPr lang="en-US" altLang="zh-CN" sz="2400" smtClean="0">
                <a:latin typeface="宋体" pitchFamily="2" charset="-122"/>
              </a:rPr>
              <a:t>CRT</a:t>
            </a:r>
            <a:r>
              <a:rPr lang="zh-CN" altLang="en-US" sz="2400" smtClean="0">
                <a:latin typeface="宋体" pitchFamily="2" charset="-122"/>
              </a:rPr>
              <a:t>与</a:t>
            </a:r>
            <a:r>
              <a:rPr lang="en-US" altLang="zh-CN" sz="2400" smtClean="0">
                <a:latin typeface="宋体" pitchFamily="2" charset="-122"/>
              </a:rPr>
              <a:t>CPU</a:t>
            </a:r>
            <a:r>
              <a:rPr lang="zh-CN" altLang="en-US" sz="2400" smtClean="0">
                <a:latin typeface="宋体" pitchFamily="2" charset="-122"/>
              </a:rPr>
              <a:t>的接口，由刷新存储器、显示控制器、</a:t>
            </a:r>
            <a:r>
              <a:rPr lang="en-US" altLang="zh-CN" sz="2400" smtClean="0">
                <a:latin typeface="宋体" pitchFamily="2" charset="-122"/>
              </a:rPr>
              <a:t>ROM BIOS</a:t>
            </a:r>
            <a:r>
              <a:rPr lang="zh-CN" altLang="en-US" sz="2400" smtClean="0">
                <a:latin typeface="宋体" pitchFamily="2" charset="-122"/>
              </a:rPr>
              <a:t>三部分组成。先进的显示控制器具有图形加速能力。</a:t>
            </a:r>
          </a:p>
          <a:p>
            <a:pPr eaLnBrk="1" hangingPunct="1">
              <a:lnSpc>
                <a:spcPct val="90000"/>
              </a:lnSpc>
            </a:pPr>
            <a:r>
              <a:rPr lang="zh-CN" altLang="en-US" sz="2400" smtClean="0">
                <a:latin typeface="宋体" pitchFamily="2" charset="-122"/>
              </a:rPr>
              <a:t>常用的计算机输入设备有图形输入设备</a:t>
            </a:r>
            <a:r>
              <a:rPr lang="en-US" altLang="zh-CN" sz="2400" smtClean="0">
                <a:latin typeface="宋体" pitchFamily="2" charset="-122"/>
              </a:rPr>
              <a:t>(</a:t>
            </a:r>
            <a:r>
              <a:rPr lang="zh-CN" altLang="en-US" sz="2400" smtClean="0">
                <a:latin typeface="宋体" pitchFamily="2" charset="-122"/>
              </a:rPr>
              <a:t>键盘、鼠标）、图像输入设备、语音输入设备。常用的打印设备有激光打印机、彩色喷墨打印机等，它们都属于硬拷贝输出设备。</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5343</TotalTime>
  <Words>7359</Words>
  <Application>Microsoft Office PowerPoint</Application>
  <PresentationFormat>全屏显示(4:3)</PresentationFormat>
  <Paragraphs>428</Paragraphs>
  <Slides>60</Slides>
  <Notes>1</Notes>
  <HiddenSlides>5</HiddenSlides>
  <MMClips>0</MMClips>
  <ScaleCrop>false</ScaleCrop>
  <HeadingPairs>
    <vt:vector size="4" baseType="variant">
      <vt:variant>
        <vt:lpstr>主题</vt:lpstr>
      </vt:variant>
      <vt:variant>
        <vt:i4>1</vt:i4>
      </vt:variant>
      <vt:variant>
        <vt:lpstr>幻灯片标题</vt:lpstr>
      </vt:variant>
      <vt:variant>
        <vt:i4>60</vt:i4>
      </vt:variant>
    </vt:vector>
  </HeadingPairs>
  <TitlesOfParts>
    <vt:vector size="61" baseType="lpstr">
      <vt:lpstr>Network</vt:lpstr>
      <vt:lpstr>第七章   外围设备</vt:lpstr>
      <vt:lpstr>7.1 外围设备概述</vt:lpstr>
      <vt:lpstr>PowerPoint 演示文稿</vt:lpstr>
      <vt:lpstr>7.2 磁盘存储设备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 磁带存储设备</vt:lpstr>
      <vt:lpstr>7.4 光盘和磁光盘存储设备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显 示 设 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7.6 输入设备和打印设备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 章 小 结</vt:lpstr>
      <vt:lpstr>本 章 小 结</vt:lpstr>
    </vt:vector>
  </TitlesOfParts>
  <Company>Ningbo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外围设备</dc:title>
  <dc:creator>杨旭东</dc:creator>
  <cp:lastModifiedBy>msi</cp:lastModifiedBy>
  <cp:revision>256</cp:revision>
  <dcterms:created xsi:type="dcterms:W3CDTF">2008-05-19T20:46:19Z</dcterms:created>
  <dcterms:modified xsi:type="dcterms:W3CDTF">2021-10-24T14:31:35Z</dcterms:modified>
</cp:coreProperties>
</file>
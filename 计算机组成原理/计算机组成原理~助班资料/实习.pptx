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321" r:id="rId2"/>
    <p:sldId id="261" r:id="rId3"/>
    <p:sldId id="300" r:id="rId4"/>
    <p:sldId id="273" r:id="rId5"/>
    <p:sldId id="274" r:id="rId6"/>
    <p:sldId id="276" r:id="rId7"/>
    <p:sldId id="275" r:id="rId8"/>
    <p:sldId id="277" r:id="rId9"/>
    <p:sldId id="268" r:id="rId10"/>
    <p:sldId id="319" r:id="rId11"/>
    <p:sldId id="279" r:id="rId12"/>
    <p:sldId id="278" r:id="rId13"/>
    <p:sldId id="280" r:id="rId14"/>
    <p:sldId id="281" r:id="rId15"/>
    <p:sldId id="282" r:id="rId16"/>
    <p:sldId id="320" r:id="rId17"/>
    <p:sldId id="284" r:id="rId18"/>
    <p:sldId id="285" r:id="rId19"/>
    <p:sldId id="288" r:id="rId20"/>
    <p:sldId id="289" r:id="rId21"/>
    <p:sldId id="286" r:id="rId22"/>
    <p:sldId id="294" r:id="rId23"/>
    <p:sldId id="295" r:id="rId24"/>
    <p:sldId id="297" r:id="rId25"/>
    <p:sldId id="298" r:id="rId26"/>
    <p:sldId id="299" r:id="rId27"/>
    <p:sldId id="293" r:id="rId28"/>
    <p:sldId id="301" r:id="rId29"/>
    <p:sldId id="314" r:id="rId30"/>
    <p:sldId id="315" r:id="rId31"/>
    <p:sldId id="302" r:id="rId32"/>
    <p:sldId id="303" r:id="rId33"/>
    <p:sldId id="313" r:id="rId34"/>
    <p:sldId id="312" r:id="rId35"/>
    <p:sldId id="307" r:id="rId36"/>
    <p:sldId id="310" r:id="rId37"/>
    <p:sldId id="318" r:id="rId38"/>
    <p:sldId id="322" r:id="rId3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>
      <p:cViewPr>
        <p:scale>
          <a:sx n="90" d="100"/>
          <a:sy n="90" d="100"/>
        </p:scale>
        <p:origin x="-1536" y="-4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98A1C2D8-9969-4DA0-AB0C-64DBED32011F}" type="datetimeFigureOut">
              <a:rPr lang="zh-CN" altLang="en-US"/>
              <a:pPr>
                <a:defRPr/>
              </a:pPr>
              <a:t>2021/11/23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3E57F8F6-3E06-4D84-AC5A-3182BEFD40D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2461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57F8F6-3E06-4D84-AC5A-3182BEFD40DD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68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4C03D-821B-4AAA-875B-F8453ED29B3C}" type="datetimeFigureOut">
              <a:rPr lang="zh-CN" altLang="en-US"/>
              <a:pPr>
                <a:defRPr/>
              </a:pPr>
              <a:t>2021/11/23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05DD7B-D41D-4148-9FDA-0F73DB0E256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933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D4A2D8-56B5-4110-9944-54141DDD7422}" type="datetimeFigureOut">
              <a:rPr lang="zh-CN" altLang="en-US"/>
              <a:pPr>
                <a:defRPr/>
              </a:pPr>
              <a:t>2021/11/23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A0786-3490-499C-8731-9BCCE985851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944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97E585-5856-4D1F-89B3-E41575FA5222}" type="datetimeFigureOut">
              <a:rPr lang="zh-CN" altLang="en-US"/>
              <a:pPr>
                <a:defRPr/>
              </a:pPr>
              <a:t>2021/11/23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7FD537-B23C-4815-9436-0EFDC7E978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075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C8380D-5272-40F4-8157-338FAC189804}" type="datetimeFigureOut">
              <a:rPr lang="zh-CN" altLang="en-US"/>
              <a:pPr>
                <a:defRPr/>
              </a:pPr>
              <a:t>2021/11/23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A0F015-0DB9-4F51-9570-C45A535303E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089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0B91F-E3FA-4E67-BA9D-746F86FDD900}" type="datetimeFigureOut">
              <a:rPr lang="zh-CN" altLang="en-US"/>
              <a:pPr>
                <a:defRPr/>
              </a:pPr>
              <a:t>2021/11/23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BB730E-B325-478B-B88D-8E812D5E835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459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3548B7-2A71-44FA-B85A-0050B9414126}" type="datetimeFigureOut">
              <a:rPr lang="zh-CN" altLang="en-US"/>
              <a:pPr>
                <a:defRPr/>
              </a:pPr>
              <a:t>2021/11/23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05F43E-0976-4BFE-A72F-ABEDDA5596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968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B92245-DAFF-444C-9161-61CCEE4AFE81}" type="datetimeFigureOut">
              <a:rPr lang="zh-CN" altLang="en-US"/>
              <a:pPr>
                <a:defRPr/>
              </a:pPr>
              <a:t>2021/11/23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234B5-CB61-4A09-AB20-174B582968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407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185BA-D38B-4BB5-9DFE-90CE7E44A9B2}" type="datetimeFigureOut">
              <a:rPr lang="zh-CN" altLang="en-US"/>
              <a:pPr>
                <a:defRPr/>
              </a:pPr>
              <a:t>2021/11/23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20BD6E-0D29-4D37-9159-A78850E1EC4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2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1A5402-5EA8-4F83-A787-A140638F7DA8}" type="datetimeFigureOut">
              <a:rPr lang="zh-CN" altLang="en-US"/>
              <a:pPr>
                <a:defRPr/>
              </a:pPr>
              <a:t>2021/11/23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C05099-E713-4449-8FC5-D93AAECEA5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225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FCDD30-923D-4A08-8A35-CDBCB6F3F226}" type="datetimeFigureOut">
              <a:rPr lang="zh-CN" altLang="en-US"/>
              <a:pPr>
                <a:defRPr/>
              </a:pPr>
              <a:t>2021/11/23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F67E5-A061-4227-AF26-3614C268E0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48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8D519D-8601-4818-BD20-1680592D5731}" type="datetimeFigureOut">
              <a:rPr lang="zh-CN" altLang="en-US"/>
              <a:pPr>
                <a:defRPr/>
              </a:pPr>
              <a:t>2021/11/23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D2D754-CBB4-428F-AD7C-0A3424C90C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444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BD49144-1654-44F7-8583-B16B96F8A0B8}" type="datetimeFigureOut">
              <a:rPr lang="zh-CN" altLang="en-US"/>
              <a:pPr>
                <a:defRPr/>
              </a:pPr>
              <a:t>2021/11/23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02F2F81-BBB8-4EE3-8B72-287E7D320B2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27622" y="1052736"/>
            <a:ext cx="712879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6000" dirty="0" smtClean="0">
                <a:solidFill>
                  <a:schemeClr val="tx2">
                    <a:lumMod val="75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周五期中考试</a:t>
            </a:r>
            <a:endParaRPr lang="en-US" altLang="zh-CN" sz="6000" dirty="0" smtClean="0">
              <a:solidFill>
                <a:schemeClr val="tx2">
                  <a:lumMod val="75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lv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6000" dirty="0" smtClean="0">
                <a:solidFill>
                  <a:schemeClr val="tx2">
                    <a:lumMod val="75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A1-203  10:10-11:40</a:t>
            </a:r>
          </a:p>
          <a:p>
            <a:pPr lv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6000" dirty="0" smtClean="0">
                <a:solidFill>
                  <a:schemeClr val="tx2">
                    <a:lumMod val="75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计算机组成实习</a:t>
            </a:r>
            <a:r>
              <a:rPr lang="zh-CN" altLang="en-US" sz="6000" dirty="0">
                <a:solidFill>
                  <a:schemeClr val="tx2">
                    <a:lumMod val="75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提前</a:t>
            </a:r>
            <a:endParaRPr lang="zh-CN" altLang="zh-CN" sz="6000" dirty="0">
              <a:solidFill>
                <a:schemeClr val="tx2">
                  <a:lumMod val="75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818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470802"/>
              </p:ext>
            </p:extLst>
          </p:nvPr>
        </p:nvGraphicFramePr>
        <p:xfrm>
          <a:off x="193160" y="202288"/>
          <a:ext cx="8784976" cy="648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84976"/>
              </a:tblGrid>
              <a:tr h="64807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4400" b="0" kern="1200" dirty="0" smtClean="0">
                          <a:solidFill>
                            <a:schemeClr val="dk1"/>
                          </a:solidFill>
                          <a:effectLst/>
                          <a:latin typeface="华文隶书" panose="02010800040101010101" pitchFamily="2" charset="-122"/>
                          <a:ea typeface="华文隶书" panose="02010800040101010101" pitchFamily="2" charset="-122"/>
                          <a:cs typeface="+mn-cs"/>
                        </a:rPr>
                        <a:t>   </a:t>
                      </a:r>
                      <a:r>
                        <a:rPr lang="zh-CN" altLang="zh-CN" sz="4400" b="0" kern="1200" dirty="0" smtClean="0">
                          <a:solidFill>
                            <a:schemeClr val="dk1"/>
                          </a:solidFill>
                          <a:effectLst/>
                          <a:latin typeface="华文隶书" panose="02010800040101010101" pitchFamily="2" charset="-122"/>
                          <a:ea typeface="华文隶书" panose="02010800040101010101" pitchFamily="2" charset="-122"/>
                          <a:cs typeface="+mn-cs"/>
                        </a:rPr>
                        <a:t>实验一：移位运算实验</a:t>
                      </a: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4400" b="0" kern="1200" dirty="0" smtClean="0">
                          <a:solidFill>
                            <a:schemeClr val="dk1"/>
                          </a:solidFill>
                          <a:effectLst/>
                          <a:latin typeface="华文隶书" panose="02010800040101010101" pitchFamily="2" charset="-122"/>
                          <a:ea typeface="华文隶书" panose="02010800040101010101" pitchFamily="2" charset="-122"/>
                          <a:cs typeface="+mn-cs"/>
                        </a:rPr>
                        <a:t>   </a:t>
                      </a:r>
                      <a:r>
                        <a:rPr lang="zh-CN" altLang="zh-CN" sz="4400" b="0" kern="1200" dirty="0" smtClean="0">
                          <a:solidFill>
                            <a:schemeClr val="dk1"/>
                          </a:solidFill>
                          <a:effectLst/>
                          <a:latin typeface="华文隶书" panose="02010800040101010101" pitchFamily="2" charset="-122"/>
                          <a:ea typeface="华文隶书" panose="02010800040101010101" pitchFamily="2" charset="-122"/>
                          <a:cs typeface="+mn-cs"/>
                        </a:rPr>
                        <a:t>实验二：存储器读写实验</a:t>
                      </a: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4400" b="0" kern="1200" dirty="0" smtClean="0">
                          <a:solidFill>
                            <a:schemeClr val="dk1"/>
                          </a:solidFill>
                          <a:effectLst/>
                          <a:latin typeface="华文隶书" panose="02010800040101010101" pitchFamily="2" charset="-122"/>
                          <a:ea typeface="华文隶书" panose="02010800040101010101" pitchFamily="2" charset="-122"/>
                          <a:cs typeface="+mn-cs"/>
                        </a:rPr>
                        <a:t>   </a:t>
                      </a:r>
                      <a:r>
                        <a:rPr lang="zh-CN" altLang="zh-CN" sz="4400" b="0" kern="1200" dirty="0" smtClean="0">
                          <a:solidFill>
                            <a:schemeClr val="dk1"/>
                          </a:solidFill>
                          <a:effectLst/>
                          <a:latin typeface="华文隶书" panose="02010800040101010101" pitchFamily="2" charset="-122"/>
                          <a:ea typeface="华文隶书" panose="02010800040101010101" pitchFamily="2" charset="-122"/>
                          <a:cs typeface="+mn-cs"/>
                        </a:rPr>
                        <a:t>实验三：微程序控制器原理实验</a:t>
                      </a:r>
                    </a:p>
                    <a:p>
                      <a:pPr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4400" b="0" kern="1200" dirty="0" smtClean="0">
                          <a:solidFill>
                            <a:schemeClr val="dk1"/>
                          </a:solidFill>
                          <a:effectLst/>
                          <a:latin typeface="华文隶书" panose="02010800040101010101" pitchFamily="2" charset="-122"/>
                          <a:ea typeface="华文隶书" panose="02010800040101010101" pitchFamily="2" charset="-122"/>
                          <a:cs typeface="+mn-cs"/>
                        </a:rPr>
                        <a:t>   </a:t>
                      </a:r>
                      <a:r>
                        <a:rPr lang="zh-CN" altLang="zh-CN" sz="4400" b="0" kern="1200" dirty="0" smtClean="0">
                          <a:solidFill>
                            <a:schemeClr val="dk1"/>
                          </a:solidFill>
                          <a:effectLst/>
                          <a:latin typeface="华文隶书" panose="02010800040101010101" pitchFamily="2" charset="-122"/>
                          <a:ea typeface="华文隶书" panose="02010800040101010101" pitchFamily="2" charset="-122"/>
                          <a:cs typeface="+mn-cs"/>
                        </a:rPr>
                        <a:t>实验四：总线控制实验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4400" b="0" kern="1200" dirty="0" smtClean="0">
                        <a:solidFill>
                          <a:schemeClr val="dk1"/>
                        </a:solidFill>
                        <a:effectLst/>
                        <a:latin typeface="华文隶书" panose="02010800040101010101" pitchFamily="2" charset="-122"/>
                        <a:ea typeface="华文隶书" panose="02010800040101010101" pitchFamily="2" charset="-122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4400" b="0" kern="1200" dirty="0" smtClean="0">
                          <a:solidFill>
                            <a:schemeClr val="dk1"/>
                          </a:solidFill>
                          <a:effectLst/>
                          <a:latin typeface="华文隶书" panose="02010800040101010101" pitchFamily="2" charset="-122"/>
                          <a:ea typeface="华文隶书" panose="02010800040101010101" pitchFamily="2" charset="-122"/>
                          <a:cs typeface="+mn-cs"/>
                        </a:rPr>
                        <a:t>       </a:t>
                      </a:r>
                      <a:r>
                        <a:rPr lang="zh-CN" altLang="zh-CN" sz="4400" b="0" kern="1200" dirty="0" smtClean="0">
                          <a:solidFill>
                            <a:schemeClr val="dk1"/>
                          </a:solidFill>
                          <a:effectLst/>
                          <a:latin typeface="华文隶书" panose="02010800040101010101" pitchFamily="2" charset="-122"/>
                          <a:ea typeface="华文隶书" panose="02010800040101010101" pitchFamily="2" charset="-122"/>
                          <a:cs typeface="+mn-cs"/>
                        </a:rPr>
                        <a:t>微程序控制器模型机设计</a:t>
                      </a:r>
                      <a:endParaRPr lang="zh-CN" sz="4400" b="0" kern="1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华文隶书" panose="02010800040101010101" pitchFamily="2" charset="-122"/>
                        <a:ea typeface="华文隶书" panose="02010800040101010101" pitchFamily="2" charset="-122"/>
                      </a:endParaRPr>
                    </a:p>
                  </a:txBody>
                  <a:tcPr marL="114300" marR="114300" marT="0" marB="0"/>
                </a:tc>
              </a:tr>
            </a:tbl>
          </a:graphicData>
        </a:graphic>
      </p:graphicFrame>
      <p:sp>
        <p:nvSpPr>
          <p:cNvPr id="2" name="下箭头 1"/>
          <p:cNvSpPr/>
          <p:nvPr/>
        </p:nvSpPr>
        <p:spPr>
          <a:xfrm>
            <a:off x="4153600" y="4251402"/>
            <a:ext cx="792088" cy="108012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10658"/>
            <a:ext cx="8352928" cy="645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154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20" y="980728"/>
            <a:ext cx="8899416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681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80" y="359952"/>
            <a:ext cx="4184980" cy="61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452" y="973192"/>
            <a:ext cx="4353741" cy="5426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3348213" y="216542"/>
            <a:ext cx="3586238" cy="770980"/>
          </a:xfrm>
          <a:prstGeom prst="rect">
            <a:avLst/>
          </a:prstGeom>
          <a:noFill/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3600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实习报告</a:t>
            </a:r>
            <a:r>
              <a:rPr lang="en-US" altLang="zh-CN" sz="3600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  </a:t>
            </a:r>
            <a:r>
              <a:rPr lang="zh-CN" altLang="zh-CN" sz="3600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共</a:t>
            </a:r>
            <a:r>
              <a:rPr lang="en-US" altLang="zh-CN" sz="3600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30</a:t>
            </a:r>
            <a:r>
              <a:rPr lang="zh-CN" altLang="zh-CN" sz="3600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分</a:t>
            </a:r>
            <a:endParaRPr lang="en-US" altLang="zh-CN" sz="3600" kern="1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183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02969"/>
            <a:ext cx="5276850" cy="608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785338" y="208826"/>
            <a:ext cx="3148086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zh-CN" altLang="zh-CN" sz="28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了解</a:t>
            </a:r>
            <a:r>
              <a:rPr lang="zh-CN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运算器、存储器、微程序控制器所用芯片的工作原理，掌握其工作流程，进行相应的数据通路图、指令周期流程图设计、机器指令和微指令设计，编写相应的</a:t>
            </a:r>
            <a:r>
              <a:rPr lang="zh-CN" altLang="zh-CN" sz="28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微程序</a:t>
            </a:r>
            <a:r>
              <a:rPr lang="zh-CN" alt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；</a:t>
            </a:r>
            <a:endParaRPr lang="en-US" altLang="zh-CN" sz="2800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marL="514350" indent="-514350">
              <a:buAutoNum type="arabicPeriod"/>
            </a:pPr>
            <a:r>
              <a:rPr lang="zh-CN" altLang="zh-CN" sz="28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设计</a:t>
            </a:r>
            <a:r>
              <a:rPr lang="zh-CN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模型机</a:t>
            </a:r>
            <a:r>
              <a:rPr lang="zh-CN" altLang="zh-CN" sz="28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逻辑电路</a:t>
            </a:r>
            <a:r>
              <a:rPr lang="zh-CN" alt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。</a:t>
            </a:r>
            <a:endParaRPr lang="zh-CN" altLang="zh-CN" sz="28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170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2656"/>
            <a:ext cx="5476875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40768"/>
            <a:ext cx="5495925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28" y="2384268"/>
            <a:ext cx="505777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274792" y="3653632"/>
            <a:ext cx="8568952" cy="2733056"/>
          </a:xfrm>
          <a:prstGeom prst="rect">
            <a:avLst/>
          </a:prstGeom>
          <a:noFill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400" kern="1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  实习报告需要打印</a:t>
            </a:r>
            <a:endParaRPr lang="en-US" altLang="zh-CN" sz="4400" kern="100" dirty="0" smtClean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400" kern="1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  提交纸质版和电子版</a:t>
            </a:r>
            <a:endParaRPr lang="en-US" altLang="zh-CN" sz="4400" kern="100" dirty="0" smtClean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400" kern="100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 </a:t>
            </a:r>
            <a:r>
              <a:rPr lang="en-US" altLang="zh-CN" sz="4400" kern="1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 </a:t>
            </a:r>
            <a:r>
              <a:rPr lang="zh-CN" altLang="en-US" sz="4400" kern="1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电子版发给课代表，打包后上交</a:t>
            </a:r>
            <a:endParaRPr lang="en-US" altLang="zh-CN" sz="4400" kern="1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183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3" y="486552"/>
            <a:ext cx="8671423" cy="5858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611560" y="207777"/>
            <a:ext cx="3586238" cy="812530"/>
          </a:xfrm>
          <a:prstGeom prst="rect">
            <a:avLst/>
          </a:prstGeom>
          <a:noFill/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3600" kern="1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实习</a:t>
            </a:r>
            <a:r>
              <a:rPr lang="zh-CN" altLang="en-US" sz="3600" kern="1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日记</a:t>
            </a:r>
            <a:r>
              <a:rPr lang="en-US" altLang="zh-CN" sz="3600" kern="1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  </a:t>
            </a:r>
            <a:r>
              <a:rPr lang="zh-CN" altLang="zh-CN" sz="3600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共</a:t>
            </a:r>
            <a:r>
              <a:rPr lang="en-US" altLang="zh-CN" sz="3600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30</a:t>
            </a:r>
            <a:r>
              <a:rPr lang="zh-CN" altLang="zh-CN" sz="3600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分</a:t>
            </a:r>
            <a:endParaRPr lang="en-US" altLang="zh-CN" sz="3600" kern="1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4104" y="6316322"/>
            <a:ext cx="87266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zh-CN" sz="2800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考核</a:t>
            </a:r>
            <a:r>
              <a:rPr lang="en-US" altLang="zh-CN" sz="2800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4</a:t>
            </a:r>
            <a:r>
              <a:rPr lang="zh-CN" altLang="zh-CN" sz="2800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天</a:t>
            </a:r>
            <a:r>
              <a:rPr lang="zh-CN" altLang="zh-CN" sz="2800" kern="1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内容</a:t>
            </a:r>
            <a:r>
              <a:rPr lang="zh-CN" altLang="en-US" sz="2800" kern="1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：</a:t>
            </a:r>
            <a:r>
              <a:rPr lang="zh-CN" altLang="zh-CN" sz="2800" kern="1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实习</a:t>
            </a:r>
            <a:r>
              <a:rPr lang="zh-CN" altLang="zh-CN" sz="2800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记录和</a:t>
            </a:r>
            <a:r>
              <a:rPr lang="zh-CN" altLang="zh-CN" sz="2800" kern="1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体会</a:t>
            </a:r>
            <a:r>
              <a:rPr lang="zh-CN" altLang="en-US" sz="2800" kern="1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、</a:t>
            </a:r>
            <a:r>
              <a:rPr lang="zh-CN" altLang="zh-CN" sz="2800" kern="1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资料积累</a:t>
            </a:r>
            <a:r>
              <a:rPr lang="zh-CN" altLang="en-US" sz="2800" kern="1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、</a:t>
            </a:r>
            <a:r>
              <a:rPr lang="zh-CN" altLang="zh-CN" sz="2800" kern="1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独立思考</a:t>
            </a:r>
            <a:endParaRPr lang="en-US" altLang="zh-CN" sz="2800" kern="1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19536" y="3229166"/>
            <a:ext cx="3052790" cy="921791"/>
          </a:xfrm>
          <a:prstGeom prst="rect">
            <a:avLst/>
          </a:prstGeom>
          <a:noFill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400" kern="1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打印后手写</a:t>
            </a:r>
            <a:endParaRPr lang="en-US" altLang="zh-CN" sz="4400" kern="100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 flipV="1">
            <a:off x="6372200" y="2852936"/>
            <a:ext cx="360040" cy="56305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>
            <a:off x="6084168" y="4201740"/>
            <a:ext cx="720080" cy="13875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57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9511" y="190663"/>
            <a:ext cx="8784977" cy="647869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dirty="0" smtClean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答辩 </a:t>
            </a:r>
            <a:r>
              <a:rPr lang="en-US" altLang="zh-CN" sz="4000" dirty="0" smtClean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-- 40</a:t>
            </a:r>
            <a:r>
              <a:rPr lang="zh-CN" altLang="en-US" sz="4000" dirty="0" smtClean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分</a:t>
            </a:r>
            <a:endParaRPr lang="en-US" altLang="zh-CN" sz="4000" dirty="0" smtClean="0">
              <a:solidFill>
                <a:srgbClr val="FF000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1</a:t>
            </a:r>
            <a:r>
              <a:rPr lang="zh-CN" altLang="en-US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、基础部分 </a:t>
            </a:r>
            <a:r>
              <a:rPr lang="en-US" altLang="zh-CN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-- 10</a:t>
            </a:r>
            <a:r>
              <a:rPr lang="zh-CN" altLang="en-US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分</a:t>
            </a:r>
            <a:endParaRPr lang="en-US" altLang="zh-CN" sz="4000" dirty="0" smtClean="0">
              <a:solidFill>
                <a:schemeClr val="tx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      数据通路图、指令周期流程图、</a:t>
            </a:r>
            <a:endParaRPr lang="en-US" altLang="zh-CN" sz="4000" dirty="0" smtClean="0">
              <a:solidFill>
                <a:schemeClr val="tx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 dirty="0">
                <a:latin typeface="华文隶书" panose="02010800040101010101" pitchFamily="2" charset="-122"/>
                <a:ea typeface="华文隶书" panose="02010800040101010101" pitchFamily="2" charset="-122"/>
              </a:rPr>
              <a:t> </a:t>
            </a:r>
            <a:r>
              <a:rPr lang="en-US" altLang="zh-CN" sz="4000" dirty="0" smtClean="0">
                <a:latin typeface="华文隶书" panose="02010800040101010101" pitchFamily="2" charset="-122"/>
                <a:ea typeface="华文隶书" panose="02010800040101010101" pitchFamily="2" charset="-122"/>
              </a:rPr>
              <a:t>     </a:t>
            </a:r>
            <a:r>
              <a:rPr lang="zh-CN" altLang="en-US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机器指令设计、微指令设计</a:t>
            </a:r>
            <a:endParaRPr lang="en-US" altLang="zh-CN" sz="4000" dirty="0" smtClean="0">
              <a:solidFill>
                <a:schemeClr val="tx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2</a:t>
            </a:r>
            <a:r>
              <a:rPr lang="zh-CN" altLang="en-US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、运算器 </a:t>
            </a:r>
            <a:r>
              <a:rPr lang="en-US" altLang="zh-CN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-- 10</a:t>
            </a:r>
            <a:r>
              <a:rPr lang="zh-CN" altLang="en-US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分</a:t>
            </a:r>
            <a:endParaRPr lang="en-US" altLang="zh-CN" sz="4000" dirty="0" smtClean="0">
              <a:solidFill>
                <a:schemeClr val="tx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3</a:t>
            </a:r>
            <a:r>
              <a:rPr lang="zh-CN" altLang="en-US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、控制器 </a:t>
            </a:r>
            <a:r>
              <a:rPr lang="en-US" altLang="zh-CN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-- 10</a:t>
            </a:r>
            <a:r>
              <a:rPr lang="zh-CN" altLang="en-US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分</a:t>
            </a:r>
            <a:endParaRPr lang="en-US" altLang="zh-CN" sz="4000" dirty="0" smtClean="0">
              <a:solidFill>
                <a:schemeClr val="tx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4</a:t>
            </a:r>
            <a:r>
              <a:rPr lang="zh-CN" altLang="en-US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、存储器、总线 </a:t>
            </a:r>
            <a:r>
              <a:rPr lang="en-US" altLang="zh-CN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-- 10</a:t>
            </a:r>
            <a:r>
              <a:rPr lang="zh-CN" altLang="en-US" sz="4000" dirty="0" smtClean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分</a:t>
            </a:r>
            <a:r>
              <a:rPr lang="en-US" altLang="zh-CN" sz="4000" dirty="0" smtClean="0">
                <a:solidFill>
                  <a:srgbClr val="00206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 </a:t>
            </a:r>
            <a:endParaRPr lang="en-US" altLang="zh-CN" sz="4000" spc="3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2551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35498" y="483213"/>
            <a:ext cx="8911631" cy="5847755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 smtClean="0">
                <a:solidFill>
                  <a:srgbClr val="002060"/>
                </a:solidFill>
                <a:latin typeface="华文新魏" pitchFamily="2" charset="-122"/>
                <a:ea typeface="华文新魏" pitchFamily="2" charset="-122"/>
              </a:rPr>
              <a:t>实习</a:t>
            </a:r>
            <a:r>
              <a:rPr lang="zh-CN" altLang="en-US" sz="2800" dirty="0" smtClean="0">
                <a:solidFill>
                  <a:srgbClr val="002060"/>
                </a:solidFill>
                <a:latin typeface="华文新魏" pitchFamily="2" charset="-122"/>
                <a:ea typeface="华文新魏" pitchFamily="2" charset="-122"/>
              </a:rPr>
              <a:t>时间：</a:t>
            </a:r>
            <a:r>
              <a:rPr lang="en-US" altLang="zh-CN" sz="2800" dirty="0" smtClean="0">
                <a:solidFill>
                  <a:srgbClr val="002060"/>
                </a:solidFill>
                <a:latin typeface="华文新魏" pitchFamily="2" charset="-122"/>
                <a:ea typeface="华文新魏" pitchFamily="2" charset="-122"/>
              </a:rPr>
              <a:t>13</a:t>
            </a:r>
            <a:r>
              <a:rPr lang="zh-CN" altLang="en-US" sz="2800" dirty="0">
                <a:solidFill>
                  <a:srgbClr val="002060"/>
                </a:solidFill>
                <a:latin typeface="华文新魏" pitchFamily="2" charset="-122"/>
                <a:ea typeface="华文新魏" pitchFamily="2" charset="-122"/>
              </a:rPr>
              <a:t>周</a:t>
            </a:r>
            <a:r>
              <a:rPr lang="zh-CN" altLang="en-US" sz="2800" dirty="0" smtClean="0">
                <a:solidFill>
                  <a:srgbClr val="002060"/>
                </a:solidFill>
                <a:latin typeface="华文新魏" pitchFamily="2" charset="-122"/>
                <a:ea typeface="华文新魏" pitchFamily="2" charset="-122"/>
              </a:rPr>
              <a:t>周六、</a:t>
            </a:r>
            <a:r>
              <a:rPr lang="en-US" altLang="zh-CN" sz="2800" dirty="0" smtClean="0">
                <a:solidFill>
                  <a:srgbClr val="002060"/>
                </a:solidFill>
                <a:latin typeface="华文新魏" pitchFamily="2" charset="-122"/>
                <a:ea typeface="华文新魏" pitchFamily="2" charset="-122"/>
              </a:rPr>
              <a:t>14</a:t>
            </a:r>
            <a:r>
              <a:rPr lang="zh-CN" altLang="en-US" sz="2800" dirty="0" smtClean="0">
                <a:solidFill>
                  <a:srgbClr val="002060"/>
                </a:solidFill>
                <a:latin typeface="华文新魏" pitchFamily="2" charset="-122"/>
                <a:ea typeface="华文新魏" pitchFamily="2" charset="-122"/>
              </a:rPr>
              <a:t>周周六和周日、</a:t>
            </a:r>
            <a:r>
              <a:rPr lang="en-US" altLang="zh-CN" sz="2800" dirty="0" smtClean="0">
                <a:solidFill>
                  <a:srgbClr val="002060"/>
                </a:solidFill>
                <a:latin typeface="华文新魏" pitchFamily="2" charset="-122"/>
                <a:ea typeface="华文新魏" pitchFamily="2" charset="-122"/>
              </a:rPr>
              <a:t>15</a:t>
            </a:r>
            <a:r>
              <a:rPr lang="zh-CN" altLang="en-US" sz="2800" dirty="0" smtClean="0">
                <a:solidFill>
                  <a:srgbClr val="002060"/>
                </a:solidFill>
                <a:latin typeface="华文新魏" pitchFamily="2" charset="-122"/>
                <a:ea typeface="华文新魏" pitchFamily="2" charset="-122"/>
              </a:rPr>
              <a:t>周周六</a:t>
            </a:r>
            <a:endParaRPr lang="en-US" altLang="zh-CN" sz="2800" dirty="0">
              <a:solidFill>
                <a:srgbClr val="002060"/>
              </a:solidFill>
              <a:latin typeface="华文新魏" pitchFamily="2" charset="-122"/>
              <a:ea typeface="华文新魏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答疑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：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14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周周六（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12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月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日）  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18:30—19:30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                              腾</a:t>
            </a:r>
            <a:r>
              <a:rPr lang="zh-CN" altLang="en-US" sz="280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讯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会议  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ID</a:t>
            </a:r>
            <a:r>
              <a:rPr lang="zh-CN" altLang="en-US" sz="280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：</a:t>
            </a:r>
            <a:r>
              <a:rPr lang="en-US" altLang="zh-CN" sz="280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926 914 976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             15</a:t>
            </a:r>
            <a:r>
              <a:rPr lang="zh-CN" altLang="en-US" sz="280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周周六 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（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12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月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11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日） 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18:30—19:30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                             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腾</a:t>
            </a:r>
            <a:r>
              <a:rPr lang="zh-CN" altLang="en-US" sz="280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讯</a:t>
            </a:r>
            <a:r>
              <a:rPr lang="zh-CN" altLang="en-US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会议 </a:t>
            </a:r>
            <a:r>
              <a:rPr lang="en-US" altLang="zh-CN" sz="28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ID</a:t>
            </a:r>
            <a:r>
              <a:rPr lang="zh-CN" altLang="en-US" sz="280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：</a:t>
            </a:r>
            <a:r>
              <a:rPr lang="en-US" altLang="zh-CN" sz="280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664 269 951</a:t>
            </a:r>
            <a:endParaRPr lang="en-US" altLang="zh-CN" sz="2800" dirty="0" smtClean="0">
              <a:solidFill>
                <a:srgbClr val="FF0000"/>
              </a:solidFill>
              <a:latin typeface="华文新魏" pitchFamily="2" charset="-122"/>
              <a:ea typeface="华文新魏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  <a:latin typeface="华文新魏" pitchFamily="2" charset="-122"/>
                <a:ea typeface="华文新魏" pitchFamily="2" charset="-122"/>
              </a:rPr>
              <a:t>实习分组：不限班级，每组最多三人</a:t>
            </a:r>
            <a:r>
              <a:rPr lang="en-US" altLang="zh-CN" sz="2800" dirty="0" smtClean="0">
                <a:solidFill>
                  <a:schemeClr val="bg2">
                    <a:lumMod val="10000"/>
                  </a:schemeClr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  <a:latin typeface="华文新魏" pitchFamily="2" charset="-122"/>
                <a:ea typeface="华文新魏" pitchFamily="2" charset="-122"/>
              </a:rPr>
              <a:t>（报给课代表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  <a:latin typeface="华文新魏" pitchFamily="2" charset="-122"/>
                <a:ea typeface="华文新魏" pitchFamily="2" charset="-122"/>
              </a:rPr>
              <a:t>）</a:t>
            </a:r>
            <a:endParaRPr lang="en-US" altLang="zh-CN" sz="2800" dirty="0" smtClean="0">
              <a:solidFill>
                <a:schemeClr val="bg2">
                  <a:lumMod val="10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chemeClr val="bg2">
                    <a:lumMod val="10000"/>
                  </a:schemeClr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800" dirty="0" smtClean="0">
                <a:solidFill>
                  <a:schemeClr val="bg2">
                    <a:lumMod val="10000"/>
                  </a:schemeClr>
                </a:solidFill>
                <a:latin typeface="华文新魏" pitchFamily="2" charset="-122"/>
                <a:ea typeface="华文新魏" pitchFamily="2" charset="-122"/>
              </a:rPr>
              <a:t>                    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  <a:latin typeface="华文新魏" pitchFamily="2" charset="-122"/>
                <a:ea typeface="华文新魏" pitchFamily="2" charset="-122"/>
              </a:rPr>
              <a:t>实习报告和实习日记要有针对性，不能雷同</a:t>
            </a:r>
            <a:endParaRPr lang="en-US" altLang="zh-CN" sz="2800" dirty="0" smtClean="0">
              <a:solidFill>
                <a:schemeClr val="bg2">
                  <a:lumMod val="10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 smtClean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实习</a:t>
            </a:r>
            <a:r>
              <a:rPr lang="zh-CN" altLang="en-US" sz="2800" b="1" dirty="0" smtClean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答辩：</a:t>
            </a:r>
            <a:r>
              <a:rPr lang="en-US" altLang="zh-CN" sz="2800" b="1" dirty="0" smtClean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12</a:t>
            </a:r>
            <a:r>
              <a:rPr lang="zh-CN" altLang="en-US" sz="2800" b="1" dirty="0" smtClean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月</a:t>
            </a:r>
            <a:r>
              <a:rPr lang="en-US" altLang="zh-CN" sz="2800" b="1" dirty="0" smtClean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12</a:t>
            </a:r>
            <a:r>
              <a:rPr lang="zh-CN" altLang="en-US" sz="2800" b="1" dirty="0" smtClean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日</a:t>
            </a:r>
            <a:r>
              <a:rPr lang="en-US" altLang="zh-CN" sz="2800" b="1" dirty="0" smtClean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 15</a:t>
            </a:r>
            <a:r>
              <a:rPr lang="zh-CN" altLang="en-US" sz="2800" b="1" dirty="0" smtClean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周周日 </a:t>
            </a:r>
            <a:r>
              <a:rPr lang="en-US" altLang="zh-CN" sz="2800" b="1" dirty="0" smtClean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8:00</a:t>
            </a:r>
            <a:r>
              <a:rPr lang="zh-CN" altLang="en-US" sz="2800" b="1" dirty="0" smtClean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开始  </a:t>
            </a:r>
            <a:endParaRPr lang="en-US" altLang="zh-CN" sz="2800" b="1" dirty="0" smtClean="0">
              <a:solidFill>
                <a:schemeClr val="accent1">
                  <a:lumMod val="75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 smtClean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         </a:t>
            </a:r>
            <a:r>
              <a:rPr lang="zh-CN" altLang="en-US" sz="2800" b="1" dirty="0" smtClean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            丁</a:t>
            </a:r>
            <a:r>
              <a:rPr lang="en-US" altLang="zh-CN" sz="2800" b="1" dirty="0" smtClean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1-304</a:t>
            </a:r>
            <a:r>
              <a:rPr lang="zh-CN" altLang="en-US" sz="2800" b="1" spc="3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US" sz="2800" b="1" spc="3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交实习</a:t>
            </a:r>
            <a:r>
              <a:rPr lang="zh-CN" altLang="en-US" sz="2800" b="1" spc="3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日记、实习报告</a:t>
            </a:r>
            <a:endParaRPr lang="en-US" altLang="zh-CN" sz="2800" b="1" spc="300" dirty="0" smtClean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321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74296"/>
            <a:ext cx="7200800" cy="640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783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332655"/>
            <a:ext cx="8447087" cy="633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783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13" y="980728"/>
            <a:ext cx="8866682" cy="4635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00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01" y="206056"/>
            <a:ext cx="8483547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80" y="3048993"/>
            <a:ext cx="8280920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00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8336084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75" y="2819528"/>
            <a:ext cx="5810250" cy="400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161" y="4183681"/>
            <a:ext cx="2736304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080" y="2901416"/>
            <a:ext cx="4191000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6218161" y="3127320"/>
            <a:ext cx="514079" cy="9125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009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44" y="3604915"/>
            <a:ext cx="8312819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8560480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8123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76" y="260648"/>
            <a:ext cx="8336084" cy="281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76" y="3212976"/>
            <a:ext cx="8336084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6581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8336084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15" y="2965976"/>
            <a:ext cx="2606619" cy="3730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1" name="直接箭头连接符 50"/>
          <p:cNvCxnSpPr/>
          <p:nvPr/>
        </p:nvCxnSpPr>
        <p:spPr>
          <a:xfrm flipV="1">
            <a:off x="2965014" y="764704"/>
            <a:ext cx="2687106" cy="561662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V="1">
            <a:off x="2843808" y="1340768"/>
            <a:ext cx="2376264" cy="460851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V="1">
            <a:off x="2843808" y="2636912"/>
            <a:ext cx="2376264" cy="288032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 flipH="1" flipV="1">
            <a:off x="1920898" y="1556792"/>
            <a:ext cx="598874" cy="316835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V="1">
            <a:off x="2699792" y="1556792"/>
            <a:ext cx="1332148" cy="352839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H="1" flipV="1">
            <a:off x="1259632" y="2492896"/>
            <a:ext cx="1440160" cy="187220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H="1" flipV="1">
            <a:off x="2220335" y="2492896"/>
            <a:ext cx="479457" cy="187220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 flipV="1">
            <a:off x="2699792" y="2420888"/>
            <a:ext cx="582542" cy="194421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58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387" y="3011676"/>
            <a:ext cx="3899484" cy="3469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8336084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199" y="2972518"/>
            <a:ext cx="2716907" cy="3750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直接箭头连接符 15"/>
          <p:cNvCxnSpPr/>
          <p:nvPr/>
        </p:nvCxnSpPr>
        <p:spPr>
          <a:xfrm flipV="1">
            <a:off x="3230237" y="1187914"/>
            <a:ext cx="1845819" cy="519341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2965014" y="764704"/>
            <a:ext cx="0" cy="518457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 flipV="1">
            <a:off x="539552" y="1052736"/>
            <a:ext cx="2592288" cy="453650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1691680" y="2276872"/>
            <a:ext cx="6417096" cy="21602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 flipV="1">
            <a:off x="2820998" y="2276872"/>
            <a:ext cx="5287778" cy="257084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 flipV="1">
            <a:off x="3761050" y="2276872"/>
            <a:ext cx="4347726" cy="302433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右大括号 21"/>
          <p:cNvSpPr/>
          <p:nvPr/>
        </p:nvSpPr>
        <p:spPr>
          <a:xfrm>
            <a:off x="3761050" y="4320392"/>
            <a:ext cx="392096" cy="1008112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右箭头 22"/>
          <p:cNvSpPr/>
          <p:nvPr/>
        </p:nvSpPr>
        <p:spPr>
          <a:xfrm>
            <a:off x="4196696" y="4642998"/>
            <a:ext cx="436260" cy="364066"/>
          </a:xfrm>
          <a:prstGeom prst="rightArrow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99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8336084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65" y="2928248"/>
            <a:ext cx="2736304" cy="3792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006879"/>
            <a:ext cx="4896544" cy="3429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接箭头连接符 5"/>
          <p:cNvCxnSpPr/>
          <p:nvPr/>
        </p:nvCxnSpPr>
        <p:spPr>
          <a:xfrm flipV="1">
            <a:off x="3563888" y="1772816"/>
            <a:ext cx="2016224" cy="464870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34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945" y="2420887"/>
            <a:ext cx="5329123" cy="23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56" y="2343672"/>
            <a:ext cx="3221880" cy="2453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09" y="4829050"/>
            <a:ext cx="8741493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07" y="34210"/>
            <a:ext cx="8336084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7092280" y="4015697"/>
            <a:ext cx="1728192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850277" y="5423958"/>
            <a:ext cx="2447394" cy="3559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364087" y="4498487"/>
            <a:ext cx="1728193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595787" y="4491392"/>
            <a:ext cx="1728193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102913" y="4502025"/>
            <a:ext cx="1728193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3999503" y="6125232"/>
            <a:ext cx="886837" cy="2618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613180" y="3543540"/>
            <a:ext cx="1728193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115615" y="6349429"/>
            <a:ext cx="2497565" cy="4238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574521" y="2338247"/>
            <a:ext cx="4896544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356992" y="4252987"/>
            <a:ext cx="1728193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58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07" y="176139"/>
            <a:ext cx="8336084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21" y="2471596"/>
            <a:ext cx="4487153" cy="3405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918" y="2669724"/>
            <a:ext cx="4159161" cy="2811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2" y="5877272"/>
            <a:ext cx="8621377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199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07" y="176139"/>
            <a:ext cx="8336084" cy="1956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4" y="2164755"/>
            <a:ext cx="4487153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551" y="2478899"/>
            <a:ext cx="4159161" cy="2811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11" y="5546708"/>
            <a:ext cx="8496300" cy="1268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0210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07" y="176139"/>
            <a:ext cx="8336084" cy="1956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4" y="2164755"/>
            <a:ext cx="4487153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551" y="2478899"/>
            <a:ext cx="4159161" cy="2811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67" y="5509022"/>
            <a:ext cx="8353425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618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07" y="176139"/>
            <a:ext cx="8336084" cy="1956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76" y="2164754"/>
            <a:ext cx="4487153" cy="3424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551" y="2532064"/>
            <a:ext cx="4159161" cy="2811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5674304"/>
            <a:ext cx="837247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962" y="181277"/>
            <a:ext cx="3714750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755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07" y="176139"/>
            <a:ext cx="8336084" cy="1956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4" y="2164754"/>
            <a:ext cx="4487153" cy="3424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551" y="2489887"/>
            <a:ext cx="4159161" cy="2811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69" y="5661248"/>
            <a:ext cx="8372475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1360174" y="6136769"/>
            <a:ext cx="2430371" cy="3165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353079" y="6374233"/>
            <a:ext cx="2430371" cy="3165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962" y="181277"/>
            <a:ext cx="3714750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755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0648"/>
            <a:ext cx="8856984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821743" y="2420888"/>
            <a:ext cx="3416320" cy="812530"/>
          </a:xfrm>
          <a:prstGeom prst="rect">
            <a:avLst/>
          </a:prstGeom>
          <a:noFill/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kern="1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自己设计的内容</a:t>
            </a:r>
            <a:endParaRPr lang="en-US" altLang="zh-CN" sz="3600" kern="1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032281"/>
            <a:ext cx="7992888" cy="185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819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73" y="886092"/>
            <a:ext cx="8589808" cy="5883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81" y="188527"/>
            <a:ext cx="2952328" cy="2462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4" name="直接箭头连接符 63"/>
          <p:cNvCxnSpPr/>
          <p:nvPr/>
        </p:nvCxnSpPr>
        <p:spPr>
          <a:xfrm flipH="1">
            <a:off x="1475656" y="1412776"/>
            <a:ext cx="72008" cy="20882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1691680" y="1412776"/>
            <a:ext cx="3312368" cy="20882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2627784" y="1287204"/>
            <a:ext cx="2592288" cy="300589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2411760" y="1160748"/>
            <a:ext cx="2520280" cy="421246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683568" y="1287204"/>
            <a:ext cx="4464496" cy="394199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1331640" y="2060848"/>
            <a:ext cx="5472608" cy="331236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2051720" y="2060848"/>
            <a:ext cx="1080120" cy="345638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539552" y="1916832"/>
            <a:ext cx="5760640" cy="432048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flipH="1">
            <a:off x="2555776" y="1916832"/>
            <a:ext cx="144016" cy="432048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>
            <a:off x="1691680" y="764704"/>
            <a:ext cx="2664296" cy="7920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2979316" y="348022"/>
            <a:ext cx="1952724" cy="53807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>
            <a:off x="2411760" y="2564904"/>
            <a:ext cx="3312368" cy="39604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85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332656"/>
            <a:ext cx="8582025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5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569325" cy="640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053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476672"/>
            <a:ext cx="8972550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直接箭头连接符 8"/>
          <p:cNvCxnSpPr/>
          <p:nvPr/>
        </p:nvCxnSpPr>
        <p:spPr>
          <a:xfrm flipH="1">
            <a:off x="1331640" y="1772816"/>
            <a:ext cx="504056" cy="367240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395536" y="2060848"/>
            <a:ext cx="1645530" cy="230425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195736" y="2082114"/>
            <a:ext cx="576064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2771800" y="1268760"/>
            <a:ext cx="1440160" cy="81335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697270" y="885031"/>
            <a:ext cx="1018745" cy="3518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85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91" y="65861"/>
            <a:ext cx="8896350" cy="4155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接箭头连接符 7"/>
          <p:cNvCxnSpPr/>
          <p:nvPr/>
        </p:nvCxnSpPr>
        <p:spPr>
          <a:xfrm>
            <a:off x="827584" y="764704"/>
            <a:ext cx="3765682" cy="238729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339752" y="856509"/>
            <a:ext cx="941421" cy="48167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1691680" y="487705"/>
            <a:ext cx="6912768" cy="170095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2710426" y="1628800"/>
            <a:ext cx="1285510" cy="115212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2411760" y="1845224"/>
            <a:ext cx="1584176" cy="143976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1331640" y="980728"/>
            <a:ext cx="4176464" cy="302433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44" y="4221089"/>
            <a:ext cx="8981022" cy="2541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485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185738"/>
            <a:ext cx="8905875" cy="648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5841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223838"/>
            <a:ext cx="8677275" cy="641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7408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61" y="80963"/>
            <a:ext cx="8677275" cy="669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63" y="3138545"/>
            <a:ext cx="1409700" cy="12573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016532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96" y="148531"/>
            <a:ext cx="7829550" cy="2704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795" y="3098400"/>
            <a:ext cx="6696743" cy="3736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886" y="2842304"/>
            <a:ext cx="3078510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181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1"/>
          <p:cNvSpPr>
            <a:spLocks noChangeArrowheads="1"/>
          </p:cNvSpPr>
          <p:nvPr/>
        </p:nvSpPr>
        <p:spPr bwMode="auto">
          <a:xfrm flipH="1">
            <a:off x="231775" y="5540399"/>
            <a:ext cx="8688388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altLang="zh-CN" sz="28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    </a:t>
            </a:r>
            <a:r>
              <a:rPr lang="zh-CN" sz="24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在运行状态下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，在脉冲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T1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时刻，当前地址的微代码由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MS1—MS24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输出；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T2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时刻将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MS24—MS7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打入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18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位寄存器中，然后译码输出各种控制信号。</a:t>
            </a:r>
            <a:endParaRPr lang="zh-CN" altLang="en-US" sz="2400" dirty="0">
              <a:latin typeface="黑体" pitchFamily="49" charset="-122"/>
              <a:ea typeface="黑体" pitchFamily="49" charset="-122"/>
              <a:cs typeface="宋体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7" y="108841"/>
            <a:ext cx="9009419" cy="5459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556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49" y="3416537"/>
            <a:ext cx="2438555" cy="1920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92" y="2082114"/>
            <a:ext cx="2750943" cy="883433"/>
          </a:xfrm>
          <a:prstGeom prst="rect">
            <a:avLst/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423" y="1305505"/>
            <a:ext cx="4743450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577" y="693922"/>
            <a:ext cx="1619250" cy="1819275"/>
          </a:xfrm>
          <a:prstGeom prst="rect">
            <a:avLst/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31768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1951</TotalTime>
  <Words>363</Words>
  <Application>Microsoft Office PowerPoint</Application>
  <PresentationFormat>全屏显示(4:3)</PresentationFormat>
  <Paragraphs>69</Paragraphs>
  <Slides>38</Slides>
  <Notes>33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39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Sky123.Org</dc:creator>
  <cp:lastModifiedBy>msi</cp:lastModifiedBy>
  <cp:revision>116</cp:revision>
  <dcterms:created xsi:type="dcterms:W3CDTF">2016-09-27T02:09:58Z</dcterms:created>
  <dcterms:modified xsi:type="dcterms:W3CDTF">2021-11-23T12:34:14Z</dcterms:modified>
</cp:coreProperties>
</file>
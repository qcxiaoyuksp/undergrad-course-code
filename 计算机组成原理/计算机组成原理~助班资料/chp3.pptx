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0"/>
  </p:notesMasterIdLst>
  <p:sldIdLst>
    <p:sldId id="256" r:id="rId2"/>
    <p:sldId id="382" r:id="rId3"/>
    <p:sldId id="425" r:id="rId4"/>
    <p:sldId id="426" r:id="rId5"/>
    <p:sldId id="427" r:id="rId6"/>
    <p:sldId id="428" r:id="rId7"/>
    <p:sldId id="285" r:id="rId8"/>
    <p:sldId id="286" r:id="rId9"/>
    <p:sldId id="429" r:id="rId10"/>
    <p:sldId id="265" r:id="rId11"/>
    <p:sldId id="289" r:id="rId12"/>
    <p:sldId id="384" r:id="rId13"/>
    <p:sldId id="293" r:id="rId14"/>
    <p:sldId id="274" r:id="rId15"/>
    <p:sldId id="665" r:id="rId16"/>
    <p:sldId id="666" r:id="rId17"/>
    <p:sldId id="667" r:id="rId18"/>
    <p:sldId id="668" r:id="rId19"/>
    <p:sldId id="680" r:id="rId20"/>
    <p:sldId id="679" r:id="rId21"/>
    <p:sldId id="385" r:id="rId22"/>
    <p:sldId id="304" r:id="rId23"/>
    <p:sldId id="484" r:id="rId24"/>
    <p:sldId id="386" r:id="rId25"/>
    <p:sldId id="389" r:id="rId26"/>
    <p:sldId id="430" r:id="rId27"/>
    <p:sldId id="431" r:id="rId28"/>
    <p:sldId id="434" r:id="rId29"/>
    <p:sldId id="393" r:id="rId30"/>
    <p:sldId id="677" r:id="rId31"/>
    <p:sldId id="395" r:id="rId32"/>
    <p:sldId id="396" r:id="rId33"/>
    <p:sldId id="678" r:id="rId34"/>
    <p:sldId id="398" r:id="rId35"/>
    <p:sldId id="394" r:id="rId36"/>
    <p:sldId id="439" r:id="rId37"/>
    <p:sldId id="397" r:id="rId38"/>
    <p:sldId id="311" r:id="rId39"/>
    <p:sldId id="399" r:id="rId40"/>
    <p:sldId id="402" r:id="rId41"/>
    <p:sldId id="440" r:id="rId42"/>
    <p:sldId id="403" r:id="rId43"/>
    <p:sldId id="404" r:id="rId44"/>
    <p:sldId id="322" r:id="rId45"/>
    <p:sldId id="410" r:id="rId46"/>
    <p:sldId id="414" r:id="rId47"/>
    <p:sldId id="415" r:id="rId48"/>
    <p:sldId id="329" r:id="rId49"/>
    <p:sldId id="330" r:id="rId50"/>
    <p:sldId id="416" r:id="rId51"/>
    <p:sldId id="331" r:id="rId52"/>
    <p:sldId id="333" r:id="rId53"/>
    <p:sldId id="338" r:id="rId54"/>
    <p:sldId id="339" r:id="rId55"/>
    <p:sldId id="417" r:id="rId56"/>
    <p:sldId id="448" r:id="rId57"/>
    <p:sldId id="340" r:id="rId58"/>
    <p:sldId id="341" r:id="rId59"/>
    <p:sldId id="352" r:id="rId60"/>
    <p:sldId id="353" r:id="rId61"/>
    <p:sldId id="355" r:id="rId62"/>
    <p:sldId id="357" r:id="rId63"/>
    <p:sldId id="359" r:id="rId64"/>
    <p:sldId id="418" r:id="rId65"/>
    <p:sldId id="361" r:id="rId66"/>
    <p:sldId id="362" r:id="rId67"/>
    <p:sldId id="363" r:id="rId68"/>
    <p:sldId id="444" r:id="rId69"/>
    <p:sldId id="364" r:id="rId70"/>
    <p:sldId id="445" r:id="rId71"/>
    <p:sldId id="604" r:id="rId72"/>
    <p:sldId id="446" r:id="rId73"/>
    <p:sldId id="368" r:id="rId74"/>
    <p:sldId id="369" r:id="rId75"/>
    <p:sldId id="499" r:id="rId76"/>
    <p:sldId id="500" r:id="rId77"/>
    <p:sldId id="506" r:id="rId78"/>
    <p:sldId id="507" r:id="rId79"/>
    <p:sldId id="640" r:id="rId80"/>
    <p:sldId id="590" r:id="rId81"/>
    <p:sldId id="641" r:id="rId82"/>
    <p:sldId id="642" r:id="rId83"/>
    <p:sldId id="605" r:id="rId84"/>
    <p:sldId id="615" r:id="rId85"/>
    <p:sldId id="606" r:id="rId86"/>
    <p:sldId id="607" r:id="rId87"/>
    <p:sldId id="643" r:id="rId88"/>
    <p:sldId id="644" r:id="rId89"/>
    <p:sldId id="663" r:id="rId90"/>
    <p:sldId id="664" r:id="rId91"/>
    <p:sldId id="370" r:id="rId92"/>
    <p:sldId id="371" r:id="rId93"/>
    <p:sldId id="372" r:id="rId94"/>
    <p:sldId id="498" r:id="rId95"/>
    <p:sldId id="508" r:id="rId96"/>
    <p:sldId id="373" r:id="rId97"/>
    <p:sldId id="443" r:id="rId98"/>
    <p:sldId id="375" r:id="rId99"/>
    <p:sldId id="376" r:id="rId100"/>
    <p:sldId id="441" r:id="rId101"/>
    <p:sldId id="442" r:id="rId102"/>
    <p:sldId id="538" r:id="rId103"/>
    <p:sldId id="539" r:id="rId104"/>
    <p:sldId id="540" r:id="rId105"/>
    <p:sldId id="541" r:id="rId106"/>
    <p:sldId id="542" r:id="rId107"/>
    <p:sldId id="543" r:id="rId108"/>
    <p:sldId id="544" r:id="rId109"/>
    <p:sldId id="545" r:id="rId110"/>
    <p:sldId id="546" r:id="rId111"/>
    <p:sldId id="547" r:id="rId112"/>
    <p:sldId id="548" r:id="rId113"/>
    <p:sldId id="549" r:id="rId114"/>
    <p:sldId id="550" r:id="rId115"/>
    <p:sldId id="551" r:id="rId116"/>
    <p:sldId id="552" r:id="rId117"/>
    <p:sldId id="553" r:id="rId118"/>
    <p:sldId id="554" r:id="rId119"/>
    <p:sldId id="555" r:id="rId120"/>
    <p:sldId id="556" r:id="rId121"/>
    <p:sldId id="557" r:id="rId122"/>
    <p:sldId id="558" r:id="rId123"/>
    <p:sldId id="559" r:id="rId124"/>
    <p:sldId id="560" r:id="rId125"/>
    <p:sldId id="562" r:id="rId126"/>
    <p:sldId id="563" r:id="rId127"/>
    <p:sldId id="565" r:id="rId128"/>
    <p:sldId id="612" r:id="rId129"/>
    <p:sldId id="613" r:id="rId130"/>
    <p:sldId id="614" r:id="rId131"/>
    <p:sldId id="608" r:id="rId132"/>
    <p:sldId id="662" r:id="rId133"/>
    <p:sldId id="646" r:id="rId134"/>
    <p:sldId id="421" r:id="rId135"/>
    <p:sldId id="449" r:id="rId136"/>
    <p:sldId id="450" r:id="rId137"/>
    <p:sldId id="451" r:id="rId138"/>
    <p:sldId id="452" r:id="rId139"/>
    <p:sldId id="454" r:id="rId140"/>
    <p:sldId id="455" r:id="rId141"/>
    <p:sldId id="456" r:id="rId142"/>
    <p:sldId id="457" r:id="rId143"/>
    <p:sldId id="491" r:id="rId144"/>
    <p:sldId id="492" r:id="rId145"/>
    <p:sldId id="493" r:id="rId146"/>
    <p:sldId id="458" r:id="rId147"/>
    <p:sldId id="459" r:id="rId148"/>
    <p:sldId id="460" r:id="rId149"/>
    <p:sldId id="482" r:id="rId150"/>
    <p:sldId id="483" r:id="rId151"/>
    <p:sldId id="463" r:id="rId152"/>
    <p:sldId id="461" r:id="rId153"/>
    <p:sldId id="462" r:id="rId154"/>
    <p:sldId id="468" r:id="rId155"/>
    <p:sldId id="469" r:id="rId156"/>
    <p:sldId id="467" r:id="rId157"/>
    <p:sldId id="464" r:id="rId158"/>
    <p:sldId id="474" r:id="rId159"/>
    <p:sldId id="475" r:id="rId160"/>
    <p:sldId id="476" r:id="rId161"/>
    <p:sldId id="594" r:id="rId162"/>
    <p:sldId id="595" r:id="rId163"/>
    <p:sldId id="596" r:id="rId164"/>
    <p:sldId id="477" r:id="rId165"/>
    <p:sldId id="478" r:id="rId166"/>
    <p:sldId id="479" r:id="rId167"/>
    <p:sldId id="480" r:id="rId168"/>
    <p:sldId id="481" r:id="rId169"/>
  </p:sldIdLst>
  <p:sldSz cx="9144000" cy="6858000" type="screen4x3"/>
  <p:notesSz cx="6858000" cy="9144000"/>
  <p:defaultTextStyle>
    <a:defPPr>
      <a:defRPr lang="zh-CN"/>
    </a:defPPr>
    <a:lvl1pPr algn="l" rtl="0" fontAlgn="base">
      <a:spcBef>
        <a:spcPct val="0"/>
      </a:spcBef>
      <a:spcAft>
        <a:spcPct val="0"/>
      </a:spcAft>
      <a:defRPr sz="2800" kern="1200">
        <a:solidFill>
          <a:schemeClr val="tx1"/>
        </a:solidFill>
        <a:latin typeface="Arial" charset="0"/>
        <a:ea typeface="楷体_GB2312" pitchFamily="49" charset="-122"/>
        <a:cs typeface="+mn-cs"/>
      </a:defRPr>
    </a:lvl1pPr>
    <a:lvl2pPr marL="457200" algn="l" rtl="0" fontAlgn="base">
      <a:spcBef>
        <a:spcPct val="0"/>
      </a:spcBef>
      <a:spcAft>
        <a:spcPct val="0"/>
      </a:spcAft>
      <a:defRPr sz="2800" kern="1200">
        <a:solidFill>
          <a:schemeClr val="tx1"/>
        </a:solidFill>
        <a:latin typeface="Arial" charset="0"/>
        <a:ea typeface="楷体_GB2312" pitchFamily="49" charset="-122"/>
        <a:cs typeface="+mn-cs"/>
      </a:defRPr>
    </a:lvl2pPr>
    <a:lvl3pPr marL="914400" algn="l" rtl="0" fontAlgn="base">
      <a:spcBef>
        <a:spcPct val="0"/>
      </a:spcBef>
      <a:spcAft>
        <a:spcPct val="0"/>
      </a:spcAft>
      <a:defRPr sz="2800" kern="1200">
        <a:solidFill>
          <a:schemeClr val="tx1"/>
        </a:solidFill>
        <a:latin typeface="Arial" charset="0"/>
        <a:ea typeface="楷体_GB2312" pitchFamily="49" charset="-122"/>
        <a:cs typeface="+mn-cs"/>
      </a:defRPr>
    </a:lvl3pPr>
    <a:lvl4pPr marL="1371600" algn="l" rtl="0" fontAlgn="base">
      <a:spcBef>
        <a:spcPct val="0"/>
      </a:spcBef>
      <a:spcAft>
        <a:spcPct val="0"/>
      </a:spcAft>
      <a:defRPr sz="2800" kern="1200">
        <a:solidFill>
          <a:schemeClr val="tx1"/>
        </a:solidFill>
        <a:latin typeface="Arial" charset="0"/>
        <a:ea typeface="楷体_GB2312" pitchFamily="49" charset="-122"/>
        <a:cs typeface="+mn-cs"/>
      </a:defRPr>
    </a:lvl4pPr>
    <a:lvl5pPr marL="1828800" algn="l" rtl="0" fontAlgn="base">
      <a:spcBef>
        <a:spcPct val="0"/>
      </a:spcBef>
      <a:spcAft>
        <a:spcPct val="0"/>
      </a:spcAft>
      <a:defRPr sz="2800" kern="1200">
        <a:solidFill>
          <a:schemeClr val="tx1"/>
        </a:solidFill>
        <a:latin typeface="Arial" charset="0"/>
        <a:ea typeface="楷体_GB2312" pitchFamily="49" charset="-122"/>
        <a:cs typeface="+mn-cs"/>
      </a:defRPr>
    </a:lvl5pPr>
    <a:lvl6pPr marL="2286000" algn="l" defTabSz="914400" rtl="0" eaLnBrk="1" latinLnBrk="0" hangingPunct="1">
      <a:defRPr sz="2800" kern="1200">
        <a:solidFill>
          <a:schemeClr val="tx1"/>
        </a:solidFill>
        <a:latin typeface="Arial" charset="0"/>
        <a:ea typeface="楷体_GB2312" pitchFamily="49" charset="-122"/>
        <a:cs typeface="+mn-cs"/>
      </a:defRPr>
    </a:lvl6pPr>
    <a:lvl7pPr marL="2743200" algn="l" defTabSz="914400" rtl="0" eaLnBrk="1" latinLnBrk="0" hangingPunct="1">
      <a:defRPr sz="2800" kern="1200">
        <a:solidFill>
          <a:schemeClr val="tx1"/>
        </a:solidFill>
        <a:latin typeface="Arial" charset="0"/>
        <a:ea typeface="楷体_GB2312" pitchFamily="49" charset="-122"/>
        <a:cs typeface="+mn-cs"/>
      </a:defRPr>
    </a:lvl7pPr>
    <a:lvl8pPr marL="3200400" algn="l" defTabSz="914400" rtl="0" eaLnBrk="1" latinLnBrk="0" hangingPunct="1">
      <a:defRPr sz="2800" kern="1200">
        <a:solidFill>
          <a:schemeClr val="tx1"/>
        </a:solidFill>
        <a:latin typeface="Arial" charset="0"/>
        <a:ea typeface="楷体_GB2312" pitchFamily="49" charset="-122"/>
        <a:cs typeface="+mn-cs"/>
      </a:defRPr>
    </a:lvl8pPr>
    <a:lvl9pPr marL="3657600" algn="l" defTabSz="914400" rtl="0" eaLnBrk="1" latinLnBrk="0" hangingPunct="1">
      <a:defRPr sz="2800" kern="1200">
        <a:solidFill>
          <a:schemeClr val="tx1"/>
        </a:solidFill>
        <a:latin typeface="Arial" charset="0"/>
        <a:ea typeface="楷体_GB2312" pitchFamily="49" charset="-122"/>
        <a:cs typeface="+mn-cs"/>
      </a:defRPr>
    </a:lvl9pPr>
  </p:defaultTextStyle>
  <p:extLst>
    <p:ext uri="{521415D9-36F7-43E2-AB2F-B90AF26B5E84}">
      <p14:sectionLst xmlns:p14="http://schemas.microsoft.com/office/powerpoint/2010/main">
        <p14:section name="默认节" id="{7497E492-D7A0-4C32-9DB4-43543069B155}">
          <p14:sldIdLst>
            <p14:sldId id="256"/>
            <p14:sldId id="382"/>
            <p14:sldId id="425"/>
            <p14:sldId id="426"/>
            <p14:sldId id="427"/>
            <p14:sldId id="428"/>
            <p14:sldId id="285"/>
            <p14:sldId id="286"/>
            <p14:sldId id="429"/>
            <p14:sldId id="265"/>
            <p14:sldId id="289"/>
            <p14:sldId id="384"/>
            <p14:sldId id="293"/>
            <p14:sldId id="274"/>
            <p14:sldId id="665"/>
            <p14:sldId id="666"/>
            <p14:sldId id="667"/>
            <p14:sldId id="668"/>
            <p14:sldId id="680"/>
            <p14:sldId id="679"/>
            <p14:sldId id="385"/>
            <p14:sldId id="304"/>
            <p14:sldId id="484"/>
            <p14:sldId id="386"/>
            <p14:sldId id="389"/>
            <p14:sldId id="430"/>
            <p14:sldId id="431"/>
            <p14:sldId id="434"/>
            <p14:sldId id="393"/>
            <p14:sldId id="677"/>
            <p14:sldId id="395"/>
            <p14:sldId id="396"/>
            <p14:sldId id="678"/>
            <p14:sldId id="398"/>
            <p14:sldId id="394"/>
            <p14:sldId id="439"/>
            <p14:sldId id="397"/>
            <p14:sldId id="311"/>
            <p14:sldId id="399"/>
            <p14:sldId id="402"/>
            <p14:sldId id="440"/>
            <p14:sldId id="403"/>
            <p14:sldId id="404"/>
            <p14:sldId id="322"/>
            <p14:sldId id="410"/>
            <p14:sldId id="414"/>
            <p14:sldId id="415"/>
            <p14:sldId id="329"/>
            <p14:sldId id="330"/>
            <p14:sldId id="416"/>
            <p14:sldId id="331"/>
            <p14:sldId id="333"/>
            <p14:sldId id="338"/>
            <p14:sldId id="339"/>
            <p14:sldId id="417"/>
            <p14:sldId id="448"/>
            <p14:sldId id="340"/>
            <p14:sldId id="341"/>
            <p14:sldId id="352"/>
            <p14:sldId id="353"/>
            <p14:sldId id="355"/>
            <p14:sldId id="357"/>
            <p14:sldId id="359"/>
            <p14:sldId id="418"/>
            <p14:sldId id="361"/>
            <p14:sldId id="362"/>
            <p14:sldId id="363"/>
            <p14:sldId id="444"/>
            <p14:sldId id="364"/>
            <p14:sldId id="445"/>
            <p14:sldId id="604"/>
            <p14:sldId id="446"/>
            <p14:sldId id="368"/>
            <p14:sldId id="369"/>
            <p14:sldId id="499"/>
            <p14:sldId id="500"/>
            <p14:sldId id="506"/>
            <p14:sldId id="507"/>
            <p14:sldId id="640"/>
            <p14:sldId id="590"/>
            <p14:sldId id="641"/>
            <p14:sldId id="642"/>
            <p14:sldId id="605"/>
            <p14:sldId id="615"/>
            <p14:sldId id="606"/>
            <p14:sldId id="607"/>
            <p14:sldId id="643"/>
            <p14:sldId id="644"/>
            <p14:sldId id="663"/>
            <p14:sldId id="664"/>
            <p14:sldId id="370"/>
            <p14:sldId id="371"/>
            <p14:sldId id="372"/>
            <p14:sldId id="498"/>
            <p14:sldId id="508"/>
            <p14:sldId id="373"/>
            <p14:sldId id="443"/>
            <p14:sldId id="375"/>
            <p14:sldId id="376"/>
            <p14:sldId id="441"/>
            <p14:sldId id="442"/>
            <p14:sldId id="538"/>
            <p14:sldId id="539"/>
            <p14:sldId id="540"/>
            <p14:sldId id="541"/>
            <p14:sldId id="542"/>
            <p14:sldId id="543"/>
            <p14:sldId id="544"/>
            <p14:sldId id="545"/>
            <p14:sldId id="546"/>
            <p14:sldId id="547"/>
            <p14:sldId id="548"/>
            <p14:sldId id="549"/>
            <p14:sldId id="550"/>
            <p14:sldId id="551"/>
            <p14:sldId id="552"/>
            <p14:sldId id="553"/>
            <p14:sldId id="554"/>
            <p14:sldId id="555"/>
            <p14:sldId id="556"/>
            <p14:sldId id="557"/>
            <p14:sldId id="558"/>
            <p14:sldId id="559"/>
            <p14:sldId id="560"/>
            <p14:sldId id="562"/>
            <p14:sldId id="563"/>
            <p14:sldId id="565"/>
            <p14:sldId id="612"/>
            <p14:sldId id="613"/>
            <p14:sldId id="614"/>
            <p14:sldId id="608"/>
            <p14:sldId id="662"/>
            <p14:sldId id="646"/>
            <p14:sldId id="421"/>
            <p14:sldId id="449"/>
            <p14:sldId id="450"/>
            <p14:sldId id="451"/>
            <p14:sldId id="452"/>
            <p14:sldId id="454"/>
            <p14:sldId id="455"/>
            <p14:sldId id="456"/>
            <p14:sldId id="457"/>
            <p14:sldId id="491"/>
            <p14:sldId id="492"/>
            <p14:sldId id="493"/>
            <p14:sldId id="458"/>
            <p14:sldId id="459"/>
            <p14:sldId id="460"/>
            <p14:sldId id="482"/>
            <p14:sldId id="483"/>
            <p14:sldId id="463"/>
            <p14:sldId id="461"/>
            <p14:sldId id="462"/>
            <p14:sldId id="468"/>
            <p14:sldId id="469"/>
            <p14:sldId id="467"/>
            <p14:sldId id="464"/>
            <p14:sldId id="474"/>
            <p14:sldId id="475"/>
            <p14:sldId id="476"/>
            <p14:sldId id="594"/>
            <p14:sldId id="595"/>
            <p14:sldId id="596"/>
            <p14:sldId id="477"/>
            <p14:sldId id="478"/>
            <p14:sldId id="479"/>
            <p14:sldId id="480"/>
            <p14:sldId id="48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4FCF6"/>
    <a:srgbClr val="000066"/>
    <a:srgbClr val="333399"/>
    <a:srgbClr val="3333CC"/>
    <a:srgbClr val="6600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23" autoAdjust="0"/>
    <p:restoredTop sz="94660"/>
  </p:normalViewPr>
  <p:slideViewPr>
    <p:cSldViewPr>
      <p:cViewPr>
        <p:scale>
          <a:sx n="66" d="100"/>
          <a:sy n="66" d="100"/>
        </p:scale>
        <p:origin x="-2126" y="-3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0"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8.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9.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2.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9.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0.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2.png"/></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image" Target="../media/image73.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75.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6.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200">
                <a:latin typeface="Times New Roman" pitchFamily="18" charset="0"/>
                <a:ea typeface="宋体" pitchFamily="2" charset="-122"/>
              </a:defRPr>
            </a:lvl1pPr>
          </a:lstStyle>
          <a:p>
            <a:pPr>
              <a:defRPr/>
            </a:pPr>
            <a:endParaRPr lang="en-US" altLang="zh-CN"/>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a:latin typeface="Times New Roman" pitchFamily="18" charset="0"/>
                <a:ea typeface="宋体" pitchFamily="2" charset="-122"/>
              </a:defRPr>
            </a:lvl1pPr>
          </a:lstStyle>
          <a:p>
            <a:pPr>
              <a:defRPr/>
            </a:pPr>
            <a:endParaRPr lang="en-US" altLang="zh-CN"/>
          </a:p>
        </p:txBody>
      </p:sp>
      <p:sp>
        <p:nvSpPr>
          <p:cNvPr id="1873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sz="1200">
                <a:latin typeface="Times New Roman" pitchFamily="18" charset="0"/>
                <a:ea typeface="宋体" pitchFamily="2" charset="-122"/>
              </a:defRPr>
            </a:lvl1pPr>
          </a:lstStyle>
          <a:p>
            <a:pPr>
              <a:defRPr/>
            </a:pPr>
            <a:endParaRPr lang="en-US" altLang="zh-CN"/>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a:latin typeface="Times New Roman" pitchFamily="18" charset="0"/>
                <a:ea typeface="宋体" pitchFamily="2" charset="-122"/>
              </a:defRPr>
            </a:lvl1pPr>
          </a:lstStyle>
          <a:p>
            <a:pPr>
              <a:defRPr/>
            </a:pPr>
            <a:fld id="{74AEA31D-3E28-4754-92D8-6C94E2165B40}" type="slidenum">
              <a:rPr lang="en-US" altLang="zh-CN"/>
              <a:pPr>
                <a:defRPr/>
              </a:pPr>
              <a:t>‹#›</a:t>
            </a:fld>
            <a:endParaRPr lang="en-US" altLang="zh-CN"/>
          </a:p>
        </p:txBody>
      </p:sp>
    </p:spTree>
    <p:extLst>
      <p:ext uri="{BB962C8B-B14F-4D97-AF65-F5344CB8AC3E}">
        <p14:creationId xmlns:p14="http://schemas.microsoft.com/office/powerpoint/2010/main" val="4075593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4AEA31D-3E28-4754-92D8-6C94E2165B40}" type="slidenum">
              <a:rPr lang="en-US" altLang="zh-CN" smtClean="0"/>
              <a:pPr>
                <a:defRPr/>
              </a:pPr>
              <a:t>6</a:t>
            </a:fld>
            <a:endParaRPr lang="en-US" altLang="zh-CN"/>
          </a:p>
        </p:txBody>
      </p:sp>
    </p:spTree>
    <p:extLst>
      <p:ext uri="{BB962C8B-B14F-4D97-AF65-F5344CB8AC3E}">
        <p14:creationId xmlns:p14="http://schemas.microsoft.com/office/powerpoint/2010/main" val="2270053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fld id="{682B93B0-E414-4812-89C3-C4A6F1FB9729}" type="slidenum">
              <a:rPr lang="en-US" altLang="zh-CN" sz="1200" smtClean="0">
                <a:latin typeface="Times New Roman" charset="0"/>
                <a:ea typeface="宋体" pitchFamily="2" charset="-122"/>
              </a:rPr>
              <a:pPr eaLnBrk="1" hangingPunct="1"/>
              <a:t>10</a:t>
            </a:fld>
            <a:endParaRPr lang="en-US" altLang="zh-CN" sz="1200" smtClean="0">
              <a:latin typeface="Times New Roman" charset="0"/>
              <a:ea typeface="宋体" pitchFamily="2" charset="-122"/>
            </a:endParaRPr>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Times New Roman" charset="0"/>
              </a:rPr>
              <a:t>注意：</a:t>
            </a:r>
          </a:p>
          <a:p>
            <a:pPr eaLnBrk="1" hangingPunct="1"/>
            <a:r>
              <a:rPr lang="en-US" altLang="zh-CN" smtClean="0">
                <a:latin typeface="Times New Roman" charset="0"/>
              </a:rPr>
              <a:t>1</a:t>
            </a:r>
            <a:r>
              <a:rPr lang="zh-CN" altLang="en-US" smtClean="0">
                <a:latin typeface="Times New Roman" charset="0"/>
              </a:rPr>
              <a:t>、如果计算机中可编址的最小单位是字存储单元，则该计算机称为按字寻址的计算机。如是计算机中可编址的最小单位是字节，则该计算机称为按字节寻址的计算机。一个机器字可以包含数个字节，所以一个存储单元也可包含数个能够单独编址的字节地址。</a:t>
            </a:r>
          </a:p>
          <a:p>
            <a:pPr eaLnBrk="1" hangingPunct="1"/>
            <a:r>
              <a:rPr lang="en-US" altLang="zh-CN" smtClean="0">
                <a:latin typeface="Times New Roman" charset="0"/>
              </a:rPr>
              <a:t>2</a:t>
            </a:r>
            <a:r>
              <a:rPr lang="zh-CN" altLang="en-US" smtClean="0">
                <a:latin typeface="Times New Roman" charset="0"/>
              </a:rPr>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4AEA31D-3E28-4754-92D8-6C94E2165B40}" type="slidenum">
              <a:rPr lang="en-US" altLang="zh-CN" smtClean="0"/>
              <a:pPr>
                <a:defRPr/>
              </a:pPr>
              <a:t>83</a:t>
            </a:fld>
            <a:endParaRPr lang="en-US" altLang="zh-CN"/>
          </a:p>
        </p:txBody>
      </p:sp>
    </p:spTree>
    <p:extLst>
      <p:ext uri="{BB962C8B-B14F-4D97-AF65-F5344CB8AC3E}">
        <p14:creationId xmlns:p14="http://schemas.microsoft.com/office/powerpoint/2010/main" val="1152593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幻灯片图像占位符 1"/>
          <p:cNvSpPr>
            <a:spLocks noGrp="1" noRot="1" noChangeAspect="1" noTextEdit="1"/>
          </p:cNvSpPr>
          <p:nvPr>
            <p:ph type="sldImg"/>
          </p:nvPr>
        </p:nvSpPr>
        <p:spPr>
          <a:ln/>
        </p:spPr>
      </p:sp>
      <p:sp>
        <p:nvSpPr>
          <p:cNvPr id="1894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New Roman" charset="0"/>
            </a:endParaRPr>
          </a:p>
        </p:txBody>
      </p:sp>
      <p:sp>
        <p:nvSpPr>
          <p:cNvPr id="1894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fld id="{35CCA293-D7B4-41C2-9C52-52F7DF38E58B}" type="slidenum">
              <a:rPr lang="en-US" altLang="zh-CN" sz="1200" smtClean="0">
                <a:latin typeface="Times New Roman" charset="0"/>
                <a:ea typeface="宋体" pitchFamily="2" charset="-122"/>
              </a:rPr>
              <a:pPr eaLnBrk="1" hangingPunct="1"/>
              <a:t>85</a:t>
            </a:fld>
            <a:endParaRPr lang="en-US" altLang="zh-CN" sz="1200" smtClean="0">
              <a:latin typeface="Times New Roman" charset="0"/>
              <a:ea typeface="宋体"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幻灯片图像占位符 1"/>
          <p:cNvSpPr>
            <a:spLocks noGrp="1" noRot="1" noChangeAspect="1" noTextEdit="1"/>
          </p:cNvSpPr>
          <p:nvPr>
            <p:ph type="sldImg"/>
          </p:nvPr>
        </p:nvSpPr>
        <p:spPr>
          <a:ln/>
        </p:spPr>
      </p:sp>
      <p:sp>
        <p:nvSpPr>
          <p:cNvPr id="1894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smtClean="0">
              <a:latin typeface="Times New Roman" charset="0"/>
            </a:endParaRPr>
          </a:p>
        </p:txBody>
      </p:sp>
      <p:sp>
        <p:nvSpPr>
          <p:cNvPr id="1894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fld id="{35CCA293-D7B4-41C2-9C52-52F7DF38E58B}" type="slidenum">
              <a:rPr lang="en-US" altLang="zh-CN" sz="1200" smtClean="0">
                <a:latin typeface="Times New Roman" charset="0"/>
                <a:ea typeface="宋体" pitchFamily="2" charset="-122"/>
              </a:rPr>
              <a:pPr eaLnBrk="1" hangingPunct="1"/>
              <a:t>86</a:t>
            </a:fld>
            <a:endParaRPr lang="en-US" altLang="zh-CN" sz="1200" smtClean="0">
              <a:latin typeface="Times New Roman" charset="0"/>
              <a:ea typeface="宋体"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4AEA31D-3E28-4754-92D8-6C94E2165B40}" type="slidenum">
              <a:rPr lang="en-US" altLang="zh-CN" smtClean="0"/>
              <a:pPr>
                <a:defRPr/>
              </a:pPr>
              <a:t>87</a:t>
            </a:fld>
            <a:endParaRPr lang="en-US" altLang="zh-CN"/>
          </a:p>
        </p:txBody>
      </p:sp>
    </p:spTree>
    <p:extLst>
      <p:ext uri="{BB962C8B-B14F-4D97-AF65-F5344CB8AC3E}">
        <p14:creationId xmlns:p14="http://schemas.microsoft.com/office/powerpoint/2010/main" val="11525933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幻灯片图像占位符 1"/>
          <p:cNvSpPr>
            <a:spLocks noGrp="1" noRot="1" noChangeAspect="1" noTextEdit="1"/>
          </p:cNvSpPr>
          <p:nvPr>
            <p:ph type="sldImg"/>
          </p:nvPr>
        </p:nvSpPr>
        <p:spPr>
          <a:ln/>
        </p:spPr>
      </p:sp>
      <p:sp>
        <p:nvSpPr>
          <p:cNvPr id="1894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smtClean="0">
              <a:latin typeface="Times New Roman" charset="0"/>
            </a:endParaRPr>
          </a:p>
        </p:txBody>
      </p:sp>
      <p:sp>
        <p:nvSpPr>
          <p:cNvPr id="1894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fld id="{35CCA293-D7B4-41C2-9C52-52F7DF38E58B}" type="slidenum">
              <a:rPr lang="en-US" altLang="zh-CN" sz="1200" smtClean="0">
                <a:latin typeface="Times New Roman" charset="0"/>
                <a:ea typeface="宋体" pitchFamily="2" charset="-122"/>
              </a:rPr>
              <a:pPr eaLnBrk="1" hangingPunct="1"/>
              <a:t>88</a:t>
            </a:fld>
            <a:endParaRPr lang="en-US" altLang="zh-CN" sz="1200" smtClean="0">
              <a:latin typeface="Times New Roman" charset="0"/>
              <a:ea typeface="宋体"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4AEA31D-3E28-4754-92D8-6C94E2165B40}" type="slidenum">
              <a:rPr lang="en-US" altLang="zh-CN" smtClean="0"/>
              <a:pPr>
                <a:defRPr/>
              </a:pPr>
              <a:t>95</a:t>
            </a:fld>
            <a:endParaRPr lang="en-US" altLang="zh-CN"/>
          </a:p>
        </p:txBody>
      </p:sp>
    </p:spTree>
    <p:extLst>
      <p:ext uri="{BB962C8B-B14F-4D97-AF65-F5344CB8AC3E}">
        <p14:creationId xmlns:p14="http://schemas.microsoft.com/office/powerpoint/2010/main" val="3266921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幻灯片图像占位符 1"/>
          <p:cNvSpPr>
            <a:spLocks noGrp="1" noRot="1" noChangeAspect="1" noTextEdit="1"/>
          </p:cNvSpPr>
          <p:nvPr>
            <p:ph type="sldImg"/>
          </p:nvPr>
        </p:nvSpPr>
        <p:spPr>
          <a:ln/>
        </p:spPr>
      </p:sp>
      <p:sp>
        <p:nvSpPr>
          <p:cNvPr id="1894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New Roman" charset="0"/>
            </a:endParaRPr>
          </a:p>
        </p:txBody>
      </p:sp>
      <p:sp>
        <p:nvSpPr>
          <p:cNvPr id="1894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fld id="{35CCA293-D7B4-41C2-9C52-52F7DF38E58B}" type="slidenum">
              <a:rPr lang="en-US" altLang="zh-CN" sz="1200" smtClean="0">
                <a:latin typeface="Times New Roman" charset="0"/>
                <a:ea typeface="宋体" pitchFamily="2" charset="-122"/>
              </a:rPr>
              <a:pPr eaLnBrk="1" hangingPunct="1"/>
              <a:t>132</a:t>
            </a:fld>
            <a:endParaRPr lang="en-US" altLang="zh-CN" sz="1200" smtClean="0">
              <a:latin typeface="Times New Roman" charset="0"/>
              <a:ea typeface="宋体"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幻灯片图像占位符 1"/>
          <p:cNvSpPr>
            <a:spLocks noGrp="1" noRot="1" noChangeAspect="1" noTextEdit="1"/>
          </p:cNvSpPr>
          <p:nvPr>
            <p:ph type="sldImg"/>
          </p:nvPr>
        </p:nvSpPr>
        <p:spPr>
          <a:ln/>
        </p:spPr>
      </p:sp>
      <p:sp>
        <p:nvSpPr>
          <p:cNvPr id="1894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New Roman" charset="0"/>
            </a:endParaRPr>
          </a:p>
        </p:txBody>
      </p:sp>
      <p:sp>
        <p:nvSpPr>
          <p:cNvPr id="1894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fld id="{35CCA293-D7B4-41C2-9C52-52F7DF38E58B}" type="slidenum">
              <a:rPr lang="en-US" altLang="zh-CN" sz="1200" smtClean="0">
                <a:latin typeface="Times New Roman" charset="0"/>
                <a:ea typeface="宋体" pitchFamily="2" charset="-122"/>
              </a:rPr>
              <a:pPr eaLnBrk="1" hangingPunct="1"/>
              <a:t>133</a:t>
            </a:fld>
            <a:endParaRPr lang="en-US" altLang="zh-CN" sz="1200" smtClean="0">
              <a:latin typeface="Times New Roman" charset="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p:spPr>
        <p:txBody>
          <a:bodyPr/>
          <a:lstStyle/>
          <a:p>
            <a:pPr>
              <a:defRPr/>
            </a:pPr>
            <a:endParaRPr lang="zh-CN" alt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7" name="Oval 10"/>
            <p:cNvSpPr>
              <a:spLocks noChangeArrowheads="1"/>
            </p:cNvSpPr>
            <p:nvPr/>
          </p:nvSpPr>
          <p:spPr bwMode="auto">
            <a:xfrm>
              <a:off x="4883" y="1885"/>
              <a:ext cx="127" cy="127"/>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8" name="Oval 11"/>
            <p:cNvSpPr>
              <a:spLocks noChangeArrowheads="1"/>
            </p:cNvSpPr>
            <p:nvPr/>
          </p:nvSpPr>
          <p:spPr bwMode="auto">
            <a:xfrm>
              <a:off x="5062" y="1885"/>
              <a:ext cx="127" cy="127"/>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9" name="Oval 12"/>
            <p:cNvSpPr>
              <a:spLocks noChangeArrowheads="1"/>
            </p:cNvSpPr>
            <p:nvPr/>
          </p:nvSpPr>
          <p:spPr bwMode="auto">
            <a:xfrm>
              <a:off x="4704" y="2064"/>
              <a:ext cx="127" cy="127"/>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 name="Oval 13"/>
            <p:cNvSpPr>
              <a:spLocks noChangeArrowheads="1"/>
            </p:cNvSpPr>
            <p:nvPr/>
          </p:nvSpPr>
          <p:spPr bwMode="auto">
            <a:xfrm>
              <a:off x="4883" y="2064"/>
              <a:ext cx="127" cy="127"/>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1" name="Oval 14"/>
            <p:cNvSpPr>
              <a:spLocks noChangeArrowheads="1"/>
            </p:cNvSpPr>
            <p:nvPr/>
          </p:nvSpPr>
          <p:spPr bwMode="auto">
            <a:xfrm>
              <a:off x="5062" y="2064"/>
              <a:ext cx="127" cy="127"/>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3" name="Oval 16"/>
            <p:cNvSpPr>
              <a:spLocks noChangeArrowheads="1"/>
            </p:cNvSpPr>
            <p:nvPr/>
          </p:nvSpPr>
          <p:spPr bwMode="auto">
            <a:xfrm>
              <a:off x="4704" y="2243"/>
              <a:ext cx="127" cy="127"/>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4" name="Oval 17"/>
            <p:cNvSpPr>
              <a:spLocks noChangeArrowheads="1"/>
            </p:cNvSpPr>
            <p:nvPr/>
          </p:nvSpPr>
          <p:spPr bwMode="auto">
            <a:xfrm>
              <a:off x="4883" y="2243"/>
              <a:ext cx="127" cy="127"/>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8" name="Oval 21"/>
            <p:cNvSpPr>
              <a:spLocks noChangeArrowheads="1"/>
            </p:cNvSpPr>
            <p:nvPr/>
          </p:nvSpPr>
          <p:spPr bwMode="auto">
            <a:xfrm>
              <a:off x="4704" y="2421"/>
              <a:ext cx="127" cy="128"/>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p:spPr>
        <p:txBody>
          <a:bodyPr/>
          <a:lstStyle/>
          <a:p>
            <a:pPr>
              <a:defRPr/>
            </a:pPr>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800"/>
            </a:lvl1pPr>
          </a:lstStyle>
          <a:p>
            <a:r>
              <a:rPr lang="zh-CN" altLang="en-US"/>
              <a:t>单击此处编辑母版标题样式</a:t>
            </a:r>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zh-CN" altLang="en-US"/>
              <a:t>单击此处编辑母版副标题样式</a:t>
            </a:r>
          </a:p>
        </p:txBody>
      </p:sp>
      <p:sp>
        <p:nvSpPr>
          <p:cNvPr id="38" name="Rectangle 5"/>
          <p:cNvSpPr>
            <a:spLocks noGrp="1" noChangeArrowheads="1"/>
          </p:cNvSpPr>
          <p:nvPr>
            <p:ph type="dt" sz="half" idx="10"/>
          </p:nvPr>
        </p:nvSpPr>
        <p:spPr/>
        <p:txBody>
          <a:bodyPr/>
          <a:lstStyle>
            <a:lvl1pPr>
              <a:defRPr/>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a:lvl1pPr>
          </a:lstStyle>
          <a:p>
            <a:pPr>
              <a:defRPr/>
            </a:pPr>
            <a:fld id="{FA2421AB-2525-4A21-B19C-1CFC1DC5D7B8}" type="slidenum">
              <a:rPr lang="en-US" altLang="zh-CN"/>
              <a:pPr>
                <a:defRPr/>
              </a:pPr>
              <a:t>‹#›</a:t>
            </a:fld>
            <a:endParaRPr lang="en-US" altLang="zh-CN"/>
          </a:p>
        </p:txBody>
      </p:sp>
    </p:spTree>
    <p:extLst>
      <p:ext uri="{BB962C8B-B14F-4D97-AF65-F5344CB8AC3E}">
        <p14:creationId xmlns:p14="http://schemas.microsoft.com/office/powerpoint/2010/main" val="236885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5FBD134C-9584-4352-8F56-57EFEA94DF5A}" type="slidenum">
              <a:rPr lang="en-US" altLang="zh-CN"/>
              <a:pPr>
                <a:defRPr/>
              </a:pPr>
              <a:t>‹#›</a:t>
            </a:fld>
            <a:endParaRPr lang="en-US" altLang="zh-CN"/>
          </a:p>
        </p:txBody>
      </p:sp>
    </p:spTree>
    <p:extLst>
      <p:ext uri="{BB962C8B-B14F-4D97-AF65-F5344CB8AC3E}">
        <p14:creationId xmlns:p14="http://schemas.microsoft.com/office/powerpoint/2010/main" val="2900160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7FEF86E0-951C-4956-894B-84E314216EE6}" type="slidenum">
              <a:rPr lang="en-US" altLang="zh-CN"/>
              <a:pPr>
                <a:defRPr/>
              </a:pPr>
              <a:t>‹#›</a:t>
            </a:fld>
            <a:endParaRPr lang="en-US" altLang="zh-CN"/>
          </a:p>
        </p:txBody>
      </p:sp>
    </p:spTree>
    <p:extLst>
      <p:ext uri="{BB962C8B-B14F-4D97-AF65-F5344CB8AC3E}">
        <p14:creationId xmlns:p14="http://schemas.microsoft.com/office/powerpoint/2010/main" val="3689373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F162FBAA-74FD-41C6-80F6-9EE8B2D52360}" type="slidenum">
              <a:rPr lang="en-US" altLang="zh-CN"/>
              <a:pPr>
                <a:defRPr/>
              </a:pPr>
              <a:t>‹#›</a:t>
            </a:fld>
            <a:endParaRPr lang="en-US" altLang="zh-CN"/>
          </a:p>
        </p:txBody>
      </p:sp>
    </p:spTree>
    <p:extLst>
      <p:ext uri="{BB962C8B-B14F-4D97-AF65-F5344CB8AC3E}">
        <p14:creationId xmlns:p14="http://schemas.microsoft.com/office/powerpoint/2010/main" val="3703460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a:ln/>
        </p:spPr>
        <p:txBody>
          <a:bodyPr/>
          <a:lstStyle>
            <a:lvl1pPr>
              <a:defRPr/>
            </a:lvl1pPr>
          </a:lstStyle>
          <a:p>
            <a:pPr>
              <a:defRPr/>
            </a:pPr>
            <a:fld id="{1643ED0A-6CF7-436C-9E25-8D7ACADCC549}" type="slidenum">
              <a:rPr lang="en-US" altLang="zh-CN"/>
              <a:pPr>
                <a:defRPr/>
              </a:pPr>
              <a:t>‹#›</a:t>
            </a:fld>
            <a:endParaRPr lang="en-US" altLang="zh-CN"/>
          </a:p>
        </p:txBody>
      </p:sp>
    </p:spTree>
    <p:extLst>
      <p:ext uri="{BB962C8B-B14F-4D97-AF65-F5344CB8AC3E}">
        <p14:creationId xmlns:p14="http://schemas.microsoft.com/office/powerpoint/2010/main" val="3581404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fld id="{96E98B65-1BFD-46E7-B175-36F977562BD7}" type="slidenum">
              <a:rPr lang="en-US" altLang="zh-CN"/>
              <a:pPr>
                <a:defRPr/>
              </a:pPr>
              <a:t>‹#›</a:t>
            </a:fld>
            <a:endParaRPr lang="en-US" altLang="zh-CN"/>
          </a:p>
        </p:txBody>
      </p:sp>
    </p:spTree>
    <p:extLst>
      <p:ext uri="{BB962C8B-B14F-4D97-AF65-F5344CB8AC3E}">
        <p14:creationId xmlns:p14="http://schemas.microsoft.com/office/powerpoint/2010/main" val="454939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a:ln/>
        </p:spPr>
        <p:txBody>
          <a:bodyPr/>
          <a:lstStyle>
            <a:lvl1pPr>
              <a:defRPr/>
            </a:lvl1pPr>
          </a:lstStyle>
          <a:p>
            <a:pPr>
              <a:defRPr/>
            </a:pPr>
            <a:fld id="{A4BD6C8F-AC52-4A1A-A983-A679183B8172}" type="slidenum">
              <a:rPr lang="en-US" altLang="zh-CN"/>
              <a:pPr>
                <a:defRPr/>
              </a:pPr>
              <a:t>‹#›</a:t>
            </a:fld>
            <a:endParaRPr lang="en-US" altLang="zh-CN"/>
          </a:p>
        </p:txBody>
      </p:sp>
    </p:spTree>
    <p:extLst>
      <p:ext uri="{BB962C8B-B14F-4D97-AF65-F5344CB8AC3E}">
        <p14:creationId xmlns:p14="http://schemas.microsoft.com/office/powerpoint/2010/main" val="4035333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C2885F5A-D690-46B2-A3C9-B8868716539B}" type="slidenum">
              <a:rPr lang="en-US" altLang="zh-CN"/>
              <a:pPr>
                <a:defRPr/>
              </a:pPr>
              <a:t>‹#›</a:t>
            </a:fld>
            <a:endParaRPr lang="en-US" altLang="zh-CN"/>
          </a:p>
        </p:txBody>
      </p:sp>
    </p:spTree>
    <p:extLst>
      <p:ext uri="{BB962C8B-B14F-4D97-AF65-F5344CB8AC3E}">
        <p14:creationId xmlns:p14="http://schemas.microsoft.com/office/powerpoint/2010/main" val="2792282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C16EBA01-49A9-4008-B6A8-CED24C1DFF23}" type="slidenum">
              <a:rPr lang="en-US" altLang="zh-CN"/>
              <a:pPr>
                <a:defRPr/>
              </a:pPr>
              <a:t>‹#›</a:t>
            </a:fld>
            <a:endParaRPr lang="en-US" altLang="zh-CN"/>
          </a:p>
        </p:txBody>
      </p:sp>
    </p:spTree>
    <p:extLst>
      <p:ext uri="{BB962C8B-B14F-4D97-AF65-F5344CB8AC3E}">
        <p14:creationId xmlns:p14="http://schemas.microsoft.com/office/powerpoint/2010/main" val="2033666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ADBF6B38-DAF7-463F-A355-ED8A5FB9F6BA}" type="slidenum">
              <a:rPr lang="en-US" altLang="zh-CN"/>
              <a:pPr>
                <a:defRPr/>
              </a:pPr>
              <a:t>‹#›</a:t>
            </a:fld>
            <a:endParaRPr lang="en-US" altLang="zh-CN"/>
          </a:p>
        </p:txBody>
      </p:sp>
    </p:spTree>
    <p:extLst>
      <p:ext uri="{BB962C8B-B14F-4D97-AF65-F5344CB8AC3E}">
        <p14:creationId xmlns:p14="http://schemas.microsoft.com/office/powerpoint/2010/main" val="3583947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CBA6FE39-EBB6-4BDA-97B9-51DE9B239069}" type="slidenum">
              <a:rPr lang="en-US" altLang="zh-CN"/>
              <a:pPr>
                <a:defRPr/>
              </a:pPr>
              <a:t>‹#›</a:t>
            </a:fld>
            <a:endParaRPr lang="en-US" altLang="zh-CN"/>
          </a:p>
        </p:txBody>
      </p:sp>
    </p:spTree>
    <p:extLst>
      <p:ext uri="{BB962C8B-B14F-4D97-AF65-F5344CB8AC3E}">
        <p14:creationId xmlns:p14="http://schemas.microsoft.com/office/powerpoint/2010/main" val="1158000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p:spPr>
        <p:txBody>
          <a:bodyPr/>
          <a:lstStyle/>
          <a:p>
            <a:pPr>
              <a:defRPr/>
            </a:pPr>
            <a:endParaRPr lang="zh-CN" altLang="en-US"/>
          </a:p>
        </p:txBody>
      </p:sp>
      <p:sp>
        <p:nvSpPr>
          <p:cNvPr id="19459"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9460"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9"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a typeface="+mn-ea"/>
              </a:defRPr>
            </a:lvl1pPr>
          </a:lstStyle>
          <a:p>
            <a:pPr>
              <a:defRPr/>
            </a:pPr>
            <a:endParaRPr lang="en-US" altLang="zh-CN"/>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a typeface="+mn-ea"/>
              </a:defRPr>
            </a:lvl1pPr>
          </a:lstStyle>
          <a:p>
            <a:pPr>
              <a:defRPr/>
            </a:pPr>
            <a:endParaRPr lang="en-US" altLang="zh-CN"/>
          </a:p>
        </p:txBody>
      </p:sp>
      <p:sp>
        <p:nvSpPr>
          <p:cNvPr id="1031"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a typeface="+mn-ea"/>
              </a:defRPr>
            </a:lvl1pPr>
          </a:lstStyle>
          <a:p>
            <a:pPr>
              <a:defRPr/>
            </a:pPr>
            <a:fld id="{52DC742E-8393-4CE2-B87C-69289884176C}" type="slidenum">
              <a:rPr lang="en-US" altLang="zh-CN"/>
              <a:pPr>
                <a:defRPr/>
              </a:pPr>
              <a:t>‹#›</a:t>
            </a:fld>
            <a:endParaRPr lang="en-US" altLang="zh-CN"/>
          </a:p>
        </p:txBody>
      </p:sp>
      <p:grpSp>
        <p:nvGrpSpPr>
          <p:cNvPr id="19464" name="Group 8"/>
          <p:cNvGrpSpPr>
            <a:grpSpLocks/>
          </p:cNvGrpSpPr>
          <p:nvPr/>
        </p:nvGrpSpPr>
        <p:grpSpPr bwMode="auto">
          <a:xfrm>
            <a:off x="8153400" y="152400"/>
            <a:ext cx="792163" cy="1260475"/>
            <a:chOff x="5136" y="960"/>
            <a:chExt cx="528" cy="864"/>
          </a:xfrm>
        </p:grpSpPr>
        <p:sp>
          <p:nvSpPr>
            <p:cNvPr id="1033" name="Oval 9"/>
            <p:cNvSpPr>
              <a:spLocks noChangeArrowheads="1"/>
            </p:cNvSpPr>
            <p:nvPr/>
          </p:nvSpPr>
          <p:spPr bwMode="auto">
            <a:xfrm>
              <a:off x="5136" y="960"/>
              <a:ext cx="80" cy="81"/>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34" name="Oval 10"/>
            <p:cNvSpPr>
              <a:spLocks noChangeArrowheads="1"/>
            </p:cNvSpPr>
            <p:nvPr/>
          </p:nvSpPr>
          <p:spPr bwMode="auto">
            <a:xfrm>
              <a:off x="5248" y="960"/>
              <a:ext cx="79" cy="81"/>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35" name="Oval 11"/>
            <p:cNvSpPr>
              <a:spLocks noChangeArrowheads="1"/>
            </p:cNvSpPr>
            <p:nvPr/>
          </p:nvSpPr>
          <p:spPr bwMode="auto">
            <a:xfrm>
              <a:off x="5360" y="960"/>
              <a:ext cx="76" cy="81"/>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36" name="Oval 12"/>
            <p:cNvSpPr>
              <a:spLocks noChangeArrowheads="1"/>
            </p:cNvSpPr>
            <p:nvPr/>
          </p:nvSpPr>
          <p:spPr bwMode="auto">
            <a:xfrm>
              <a:off x="5136" y="1072"/>
              <a:ext cx="80" cy="79"/>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37" name="Oval 13"/>
            <p:cNvSpPr>
              <a:spLocks noChangeArrowheads="1"/>
            </p:cNvSpPr>
            <p:nvPr/>
          </p:nvSpPr>
          <p:spPr bwMode="auto">
            <a:xfrm>
              <a:off x="5248" y="1072"/>
              <a:ext cx="79" cy="79"/>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38" name="Oval 14"/>
            <p:cNvSpPr>
              <a:spLocks noChangeArrowheads="1"/>
            </p:cNvSpPr>
            <p:nvPr/>
          </p:nvSpPr>
          <p:spPr bwMode="auto">
            <a:xfrm>
              <a:off x="5360" y="1072"/>
              <a:ext cx="76" cy="79"/>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39" name="Oval 15"/>
            <p:cNvSpPr>
              <a:spLocks noChangeArrowheads="1"/>
            </p:cNvSpPr>
            <p:nvPr/>
          </p:nvSpPr>
          <p:spPr bwMode="auto">
            <a:xfrm>
              <a:off x="5472" y="1072"/>
              <a:ext cx="73" cy="79"/>
            </a:xfrm>
            <a:prstGeom prst="ellipse">
              <a:avLst/>
            </a:prstGeom>
            <a:solidFill>
              <a:schemeClr val="accent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40" name="Oval 16"/>
            <p:cNvSpPr>
              <a:spLocks noChangeArrowheads="1"/>
            </p:cNvSpPr>
            <p:nvPr/>
          </p:nvSpPr>
          <p:spPr bwMode="auto">
            <a:xfrm>
              <a:off x="5136" y="1184"/>
              <a:ext cx="80" cy="78"/>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41" name="Oval 17"/>
            <p:cNvSpPr>
              <a:spLocks noChangeArrowheads="1"/>
            </p:cNvSpPr>
            <p:nvPr/>
          </p:nvSpPr>
          <p:spPr bwMode="auto">
            <a:xfrm>
              <a:off x="5248" y="1184"/>
              <a:ext cx="79" cy="78"/>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42" name="Oval 18"/>
            <p:cNvSpPr>
              <a:spLocks noChangeArrowheads="1"/>
            </p:cNvSpPr>
            <p:nvPr/>
          </p:nvSpPr>
          <p:spPr bwMode="auto">
            <a:xfrm>
              <a:off x="5360" y="1184"/>
              <a:ext cx="76" cy="78"/>
            </a:xfrm>
            <a:prstGeom prst="ellipse">
              <a:avLst/>
            </a:prstGeom>
            <a:solidFill>
              <a:schemeClr val="accent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43" name="Oval 19"/>
            <p:cNvSpPr>
              <a:spLocks noChangeArrowheads="1"/>
            </p:cNvSpPr>
            <p:nvPr/>
          </p:nvSpPr>
          <p:spPr bwMode="auto">
            <a:xfrm>
              <a:off x="5472" y="1184"/>
              <a:ext cx="73" cy="78"/>
            </a:xfrm>
            <a:prstGeom prst="ellipse">
              <a:avLst/>
            </a:prstGeom>
            <a:solidFill>
              <a:schemeClr val="accent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44" name="Oval 20"/>
            <p:cNvSpPr>
              <a:spLocks noChangeArrowheads="1"/>
            </p:cNvSpPr>
            <p:nvPr/>
          </p:nvSpPr>
          <p:spPr bwMode="auto">
            <a:xfrm>
              <a:off x="5584" y="1184"/>
              <a:ext cx="80" cy="78"/>
            </a:xfrm>
            <a:prstGeom prst="ellipse">
              <a:avLst/>
            </a:prstGeom>
            <a:solidFill>
              <a:schemeClr val="accent1"/>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45" name="Oval 21"/>
            <p:cNvSpPr>
              <a:spLocks noChangeArrowheads="1"/>
            </p:cNvSpPr>
            <p:nvPr/>
          </p:nvSpPr>
          <p:spPr bwMode="auto">
            <a:xfrm>
              <a:off x="5136" y="1296"/>
              <a:ext cx="80" cy="77"/>
            </a:xfrm>
            <a:prstGeom prst="ellipse">
              <a:avLst/>
            </a:prstGeom>
            <a:solidFill>
              <a:schemeClr val="tx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46" name="Oval 22"/>
            <p:cNvSpPr>
              <a:spLocks noChangeArrowheads="1"/>
            </p:cNvSpPr>
            <p:nvPr/>
          </p:nvSpPr>
          <p:spPr bwMode="auto">
            <a:xfrm>
              <a:off x="5248" y="1296"/>
              <a:ext cx="79" cy="77"/>
            </a:xfrm>
            <a:prstGeom prst="ellipse">
              <a:avLst/>
            </a:prstGeom>
            <a:solidFill>
              <a:schemeClr val="accent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47" name="Oval 23"/>
            <p:cNvSpPr>
              <a:spLocks noChangeArrowheads="1"/>
            </p:cNvSpPr>
            <p:nvPr/>
          </p:nvSpPr>
          <p:spPr bwMode="auto">
            <a:xfrm>
              <a:off x="5360" y="1296"/>
              <a:ext cx="76" cy="77"/>
            </a:xfrm>
            <a:prstGeom prst="ellipse">
              <a:avLst/>
            </a:prstGeom>
            <a:solidFill>
              <a:schemeClr val="accent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48" name="Oval 24"/>
            <p:cNvSpPr>
              <a:spLocks noChangeArrowheads="1"/>
            </p:cNvSpPr>
            <p:nvPr/>
          </p:nvSpPr>
          <p:spPr bwMode="auto">
            <a:xfrm>
              <a:off x="5472" y="1296"/>
              <a:ext cx="73" cy="77"/>
            </a:xfrm>
            <a:prstGeom prst="ellipse">
              <a:avLst/>
            </a:prstGeom>
            <a:solidFill>
              <a:schemeClr val="accent1"/>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49" name="Oval 25"/>
            <p:cNvSpPr>
              <a:spLocks noChangeArrowheads="1"/>
            </p:cNvSpPr>
            <p:nvPr/>
          </p:nvSpPr>
          <p:spPr bwMode="auto">
            <a:xfrm>
              <a:off x="5136" y="1408"/>
              <a:ext cx="80" cy="76"/>
            </a:xfrm>
            <a:prstGeom prst="ellipse">
              <a:avLst/>
            </a:prstGeom>
            <a:solidFill>
              <a:schemeClr val="accent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50" name="Oval 26"/>
            <p:cNvSpPr>
              <a:spLocks noChangeArrowheads="1"/>
            </p:cNvSpPr>
            <p:nvPr/>
          </p:nvSpPr>
          <p:spPr bwMode="auto">
            <a:xfrm>
              <a:off x="5248" y="1408"/>
              <a:ext cx="79" cy="76"/>
            </a:xfrm>
            <a:prstGeom prst="ellipse">
              <a:avLst/>
            </a:prstGeom>
            <a:solidFill>
              <a:schemeClr val="accent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51" name="Oval 27"/>
            <p:cNvSpPr>
              <a:spLocks noChangeArrowheads="1"/>
            </p:cNvSpPr>
            <p:nvPr/>
          </p:nvSpPr>
          <p:spPr bwMode="auto">
            <a:xfrm>
              <a:off x="5360" y="1408"/>
              <a:ext cx="76" cy="76"/>
            </a:xfrm>
            <a:prstGeom prst="ellipse">
              <a:avLst/>
            </a:prstGeom>
            <a:solidFill>
              <a:schemeClr val="accent1"/>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52" name="Oval 28"/>
            <p:cNvSpPr>
              <a:spLocks noChangeArrowheads="1"/>
            </p:cNvSpPr>
            <p:nvPr/>
          </p:nvSpPr>
          <p:spPr bwMode="auto">
            <a:xfrm>
              <a:off x="5472" y="1408"/>
              <a:ext cx="73" cy="76"/>
            </a:xfrm>
            <a:prstGeom prst="ellipse">
              <a:avLst/>
            </a:prstGeom>
            <a:solidFill>
              <a:schemeClr val="accent1"/>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53" name="Oval 29"/>
            <p:cNvSpPr>
              <a:spLocks noChangeArrowheads="1"/>
            </p:cNvSpPr>
            <p:nvPr/>
          </p:nvSpPr>
          <p:spPr bwMode="auto">
            <a:xfrm>
              <a:off x="5584" y="1408"/>
              <a:ext cx="80" cy="76"/>
            </a:xfrm>
            <a:prstGeom prst="ellipse">
              <a:avLst/>
            </a:prstGeom>
            <a:solidFill>
              <a:schemeClr val="folHlink"/>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54" name="Oval 30"/>
            <p:cNvSpPr>
              <a:spLocks noChangeArrowheads="1"/>
            </p:cNvSpPr>
            <p:nvPr/>
          </p:nvSpPr>
          <p:spPr bwMode="auto">
            <a:xfrm>
              <a:off x="5136" y="1520"/>
              <a:ext cx="80" cy="75"/>
            </a:xfrm>
            <a:prstGeom prst="ellipse">
              <a:avLst/>
            </a:prstGeom>
            <a:solidFill>
              <a:schemeClr val="accent2"/>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55" name="Oval 31"/>
            <p:cNvSpPr>
              <a:spLocks noChangeArrowheads="1"/>
            </p:cNvSpPr>
            <p:nvPr/>
          </p:nvSpPr>
          <p:spPr bwMode="auto">
            <a:xfrm>
              <a:off x="5248" y="1520"/>
              <a:ext cx="79" cy="75"/>
            </a:xfrm>
            <a:prstGeom prst="ellipse">
              <a:avLst/>
            </a:prstGeom>
            <a:solidFill>
              <a:schemeClr val="accent1"/>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56" name="Oval 32"/>
            <p:cNvSpPr>
              <a:spLocks noChangeArrowheads="1"/>
            </p:cNvSpPr>
            <p:nvPr/>
          </p:nvSpPr>
          <p:spPr bwMode="auto">
            <a:xfrm>
              <a:off x="5360" y="1520"/>
              <a:ext cx="76" cy="75"/>
            </a:xfrm>
            <a:prstGeom prst="ellipse">
              <a:avLst/>
            </a:prstGeom>
            <a:solidFill>
              <a:schemeClr val="accent1"/>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57" name="Oval 33"/>
            <p:cNvSpPr>
              <a:spLocks noChangeArrowheads="1"/>
            </p:cNvSpPr>
            <p:nvPr/>
          </p:nvSpPr>
          <p:spPr bwMode="auto">
            <a:xfrm>
              <a:off x="5472" y="1520"/>
              <a:ext cx="73" cy="75"/>
            </a:xfrm>
            <a:prstGeom prst="ellipse">
              <a:avLst/>
            </a:prstGeom>
            <a:solidFill>
              <a:schemeClr val="folHlink"/>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58" name="Oval 34"/>
            <p:cNvSpPr>
              <a:spLocks noChangeArrowheads="1"/>
            </p:cNvSpPr>
            <p:nvPr/>
          </p:nvSpPr>
          <p:spPr bwMode="auto">
            <a:xfrm>
              <a:off x="5136" y="1632"/>
              <a:ext cx="80" cy="74"/>
            </a:xfrm>
            <a:prstGeom prst="ellipse">
              <a:avLst/>
            </a:prstGeom>
            <a:solidFill>
              <a:schemeClr val="accent1"/>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59" name="Oval 35"/>
            <p:cNvSpPr>
              <a:spLocks noChangeArrowheads="1"/>
            </p:cNvSpPr>
            <p:nvPr/>
          </p:nvSpPr>
          <p:spPr bwMode="auto">
            <a:xfrm>
              <a:off x="5248" y="1632"/>
              <a:ext cx="79" cy="74"/>
            </a:xfrm>
            <a:prstGeom prst="ellipse">
              <a:avLst/>
            </a:prstGeom>
            <a:solidFill>
              <a:schemeClr val="accent1"/>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60" name="Oval 36"/>
            <p:cNvSpPr>
              <a:spLocks noChangeArrowheads="1"/>
            </p:cNvSpPr>
            <p:nvPr/>
          </p:nvSpPr>
          <p:spPr bwMode="auto">
            <a:xfrm>
              <a:off x="5360" y="1632"/>
              <a:ext cx="76" cy="74"/>
            </a:xfrm>
            <a:prstGeom prst="ellipse">
              <a:avLst/>
            </a:prstGeom>
            <a:solidFill>
              <a:schemeClr val="folHlink"/>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61" name="Oval 37"/>
            <p:cNvSpPr>
              <a:spLocks noChangeArrowheads="1"/>
            </p:cNvSpPr>
            <p:nvPr/>
          </p:nvSpPr>
          <p:spPr bwMode="auto">
            <a:xfrm>
              <a:off x="5472" y="1632"/>
              <a:ext cx="73" cy="74"/>
            </a:xfrm>
            <a:prstGeom prst="ellipse">
              <a:avLst/>
            </a:prstGeom>
            <a:solidFill>
              <a:schemeClr val="folHlink"/>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62" name="Oval 38"/>
            <p:cNvSpPr>
              <a:spLocks noChangeArrowheads="1"/>
            </p:cNvSpPr>
            <p:nvPr/>
          </p:nvSpPr>
          <p:spPr bwMode="auto">
            <a:xfrm>
              <a:off x="5248" y="1743"/>
              <a:ext cx="79" cy="81"/>
            </a:xfrm>
            <a:prstGeom prst="ellipse">
              <a:avLst/>
            </a:prstGeom>
            <a:solidFill>
              <a:schemeClr val="folHlink"/>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sp>
          <p:nvSpPr>
            <p:cNvPr id="1063" name="Oval 39"/>
            <p:cNvSpPr>
              <a:spLocks noChangeArrowheads="1"/>
            </p:cNvSpPr>
            <p:nvPr/>
          </p:nvSpPr>
          <p:spPr bwMode="auto">
            <a:xfrm>
              <a:off x="5472" y="1743"/>
              <a:ext cx="73" cy="81"/>
            </a:xfrm>
            <a:prstGeom prst="ellipse">
              <a:avLst/>
            </a:prstGeom>
            <a:solidFill>
              <a:schemeClr val="folHlink"/>
            </a:solidFill>
            <a:ln>
              <a:noFill/>
            </a:ln>
            <a:extLst/>
          </p:spPr>
          <p:txBody>
            <a:bodyPr wrap="none" anchor="ct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defRPr/>
              </a:pPr>
              <a:endParaRPr lang="zh-CN" altLang="en-US" smtClean="0"/>
            </a:p>
          </p:txBody>
        </p:sp>
      </p:grpSp>
    </p:spTree>
  </p:cSld>
  <p:clrMap bg1="lt1" tx1="dk1" bg2="lt2" tx2="dk2" accent1="accent1" accent2="accent2" accent3="accent3" accent4="accent4" accent5="accent5" accent6="accent6" hlink="hlink" folHlink="folHlink"/>
  <p:sldLayoutIdLst>
    <p:sldLayoutId id="2147483827"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Lst>
  <p:timing>
    <p:tnLst>
      <p:par>
        <p:cTn id="1" dur="indefinite" restart="never" nodeType="tmRoot"/>
      </p:par>
    </p:tnLst>
  </p:timing>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ea typeface="宋体" pitchFamily="2" charset="-122"/>
        </a:defRPr>
      </a:lvl2pPr>
      <a:lvl3pPr algn="l" rtl="0" eaLnBrk="0" fontAlgn="base" hangingPunct="0">
        <a:spcBef>
          <a:spcPct val="0"/>
        </a:spcBef>
        <a:spcAft>
          <a:spcPct val="0"/>
        </a:spcAft>
        <a:defRPr sz="3900" b="1">
          <a:solidFill>
            <a:schemeClr val="tx2"/>
          </a:solidFill>
          <a:latin typeface="Arial" charset="0"/>
          <a:ea typeface="宋体" pitchFamily="2" charset="-122"/>
        </a:defRPr>
      </a:lvl3pPr>
      <a:lvl4pPr algn="l" rtl="0" eaLnBrk="0" fontAlgn="base" hangingPunct="0">
        <a:spcBef>
          <a:spcPct val="0"/>
        </a:spcBef>
        <a:spcAft>
          <a:spcPct val="0"/>
        </a:spcAft>
        <a:defRPr sz="3900" b="1">
          <a:solidFill>
            <a:schemeClr val="tx2"/>
          </a:solidFill>
          <a:latin typeface="Arial" charset="0"/>
          <a:ea typeface="宋体" pitchFamily="2" charset="-122"/>
        </a:defRPr>
      </a:lvl4pPr>
      <a:lvl5pPr algn="l" rtl="0" eaLnBrk="0" fontAlgn="base" hangingPunct="0">
        <a:spcBef>
          <a:spcPct val="0"/>
        </a:spcBef>
        <a:spcAft>
          <a:spcPct val="0"/>
        </a:spcAft>
        <a:defRPr sz="3900" b="1">
          <a:solidFill>
            <a:schemeClr val="tx2"/>
          </a:solidFill>
          <a:latin typeface="Arial" charset="0"/>
          <a:ea typeface="宋体" pitchFamily="2" charset="-122"/>
        </a:defRPr>
      </a:lvl5pPr>
      <a:lvl6pPr marL="457200" algn="l" rtl="0" fontAlgn="base">
        <a:spcBef>
          <a:spcPct val="0"/>
        </a:spcBef>
        <a:spcAft>
          <a:spcPct val="0"/>
        </a:spcAft>
        <a:defRPr sz="3900" b="1">
          <a:solidFill>
            <a:schemeClr val="tx2"/>
          </a:solidFill>
          <a:latin typeface="Arial" charset="0"/>
          <a:ea typeface="宋体" pitchFamily="2" charset="-122"/>
        </a:defRPr>
      </a:lvl6pPr>
      <a:lvl7pPr marL="914400" algn="l" rtl="0" fontAlgn="base">
        <a:spcBef>
          <a:spcPct val="0"/>
        </a:spcBef>
        <a:spcAft>
          <a:spcPct val="0"/>
        </a:spcAft>
        <a:defRPr sz="3900" b="1">
          <a:solidFill>
            <a:schemeClr val="tx2"/>
          </a:solidFill>
          <a:latin typeface="Arial" charset="0"/>
          <a:ea typeface="宋体" pitchFamily="2" charset="-122"/>
        </a:defRPr>
      </a:lvl7pPr>
      <a:lvl8pPr marL="1371600" algn="l" rtl="0" fontAlgn="base">
        <a:spcBef>
          <a:spcPct val="0"/>
        </a:spcBef>
        <a:spcAft>
          <a:spcPct val="0"/>
        </a:spcAft>
        <a:defRPr sz="3900" b="1">
          <a:solidFill>
            <a:schemeClr val="tx2"/>
          </a:solidFill>
          <a:latin typeface="Arial" charset="0"/>
          <a:ea typeface="宋体" pitchFamily="2" charset="-122"/>
        </a:defRPr>
      </a:lvl8pPr>
      <a:lvl9pPr marL="1828800" algn="l" rtl="0" fontAlgn="base">
        <a:spcBef>
          <a:spcPct val="0"/>
        </a:spcBef>
        <a:spcAft>
          <a:spcPct val="0"/>
        </a:spcAft>
        <a:defRPr sz="3900" b="1">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ea typeface="+mn-ea"/>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ea typeface="+mn-ea"/>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ea typeface="+mn-ea"/>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chp3-3.ppt"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3-1.swf"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3-2.swf" TargetMode="Externa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png"/><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3-3.swf"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3-4.swf"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3-9.swf"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3-10.swf"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3-6.swf"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3-7.swf" TargetMode="Externa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11.png"/><Relationship Id="rId4"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3-8.swf"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3-12.swf"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3-14.swf"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3-16.swf"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3-13.swf" TargetMode="Externa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3-15.swf"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3-17.swf"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3-21.swf"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3-24.swf"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3-25.swf"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3-26.swf"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3-27.swf"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3-28.swf"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3-29.swf"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3-30.swf"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3-31.swf"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3-32.swf"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6.png"/></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37.w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3-33.swf"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3-34.swf" TargetMode="Externa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8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hyperlink" Target="3-35.swf" TargetMode="Externa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5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59.png"/></Relationships>
</file>

<file path=ppt/slides/_rels/slide110.xml.rels><?xml version="1.0" encoding="UTF-8" standalone="yes"?>
<Relationships xmlns="http://schemas.openxmlformats.org/package/2006/relationships"><Relationship Id="rId3" Type="http://schemas.openxmlformats.org/officeDocument/2006/relationships/hyperlink" Target="9.5.swf" TargetMode="External"/><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6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hyperlink" Target="9.6.swf" TargetMode="External"/><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hyperlink" Target="9.7.swf" TargetMode="External"/><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hyperlink" Target="9.8.swf" TargetMode="External"/><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69.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70.png"/></Relationships>
</file>

<file path=ppt/slides/_rels/slide13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72.png"/></Relationships>
</file>

<file path=ppt/slides/_rels/slide14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74.png"/><Relationship Id="rId5" Type="http://schemas.openxmlformats.org/officeDocument/2006/relationships/oleObject" Target="../embeddings/oleObject12.bin"/><Relationship Id="rId4" Type="http://schemas.openxmlformats.org/officeDocument/2006/relationships/image" Target="../media/image73.png"/></Relationships>
</file>

<file path=ppt/slides/_rels/slide14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75.png"/></Relationships>
</file>

<file path=ppt/slides/_rels/slide14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76.png"/></Relationships>
</file>

<file path=ppt/slides/_rels/slide14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76.png"/></Relationships>
</file>

<file path=ppt/slides/_rels/slide14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59CED84D-1698-47C7-84A5-B91BA26A0821}" type="slidenum">
              <a:rPr lang="en-US" altLang="zh-CN"/>
              <a:pPr>
                <a:defRPr/>
              </a:pPr>
              <a:t>1</a:t>
            </a:fld>
            <a:endParaRPr lang="en-US" altLang="zh-CN" dirty="0"/>
          </a:p>
        </p:txBody>
      </p:sp>
      <p:sp>
        <p:nvSpPr>
          <p:cNvPr id="21507" name="Rectangle 2"/>
          <p:cNvSpPr>
            <a:spLocks noGrp="1" noChangeArrowheads="1"/>
          </p:cNvSpPr>
          <p:nvPr>
            <p:ph type="title"/>
          </p:nvPr>
        </p:nvSpPr>
        <p:spPr/>
        <p:txBody>
          <a:bodyPr/>
          <a:lstStyle/>
          <a:p>
            <a:pPr eaLnBrk="1" hangingPunct="1"/>
            <a:r>
              <a:rPr lang="zh-CN" altLang="en-US" sz="4000" dirty="0" smtClean="0">
                <a:latin typeface="楷体_GB2312" pitchFamily="49" charset="-122"/>
                <a:ea typeface="楷体_GB2312" pitchFamily="49" charset="-122"/>
              </a:rPr>
              <a:t>第三章 存储器系统</a:t>
            </a:r>
          </a:p>
        </p:txBody>
      </p:sp>
      <p:sp>
        <p:nvSpPr>
          <p:cNvPr id="21508" name="Rectangle 3"/>
          <p:cNvSpPr>
            <a:spLocks noGrp="1" noChangeArrowheads="1"/>
          </p:cNvSpPr>
          <p:nvPr>
            <p:ph type="body" idx="1"/>
          </p:nvPr>
        </p:nvSpPr>
        <p:spPr/>
        <p:txBody>
          <a:bodyPr/>
          <a:lstStyle/>
          <a:p>
            <a:pPr eaLnBrk="1" hangingPunct="1">
              <a:buFont typeface="Wingdings" pitchFamily="2" charset="2"/>
              <a:buNone/>
            </a:pPr>
            <a:r>
              <a:rPr lang="en-US" altLang="zh-CN" b="1" dirty="0" smtClean="0">
                <a:latin typeface="楷体" pitchFamily="49" charset="-122"/>
                <a:ea typeface="楷体_GB2312"/>
              </a:rPr>
              <a:t>3.1 </a:t>
            </a:r>
            <a:r>
              <a:rPr lang="zh-CN" altLang="en-US" b="1" dirty="0" smtClean="0">
                <a:latin typeface="楷体" pitchFamily="49" charset="-122"/>
                <a:ea typeface="楷体_GB2312"/>
              </a:rPr>
              <a:t>存储器概述</a:t>
            </a:r>
          </a:p>
          <a:p>
            <a:pPr eaLnBrk="1" hangingPunct="1">
              <a:buFont typeface="Wingdings" pitchFamily="2" charset="2"/>
              <a:buNone/>
            </a:pPr>
            <a:r>
              <a:rPr lang="en-US" altLang="zh-CN" b="1" dirty="0" smtClean="0">
                <a:latin typeface="楷体" pitchFamily="49" charset="-122"/>
                <a:ea typeface="楷体_GB2312"/>
              </a:rPr>
              <a:t>3.2 SRAM</a:t>
            </a:r>
            <a:r>
              <a:rPr lang="zh-CN" altLang="en-US" b="1" dirty="0" smtClean="0">
                <a:latin typeface="楷体" pitchFamily="49" charset="-122"/>
                <a:ea typeface="楷体_GB2312"/>
              </a:rPr>
              <a:t>存储器</a:t>
            </a:r>
          </a:p>
          <a:p>
            <a:pPr eaLnBrk="1" hangingPunct="1">
              <a:buFont typeface="Wingdings" pitchFamily="2" charset="2"/>
              <a:buNone/>
            </a:pPr>
            <a:r>
              <a:rPr lang="en-US" altLang="zh-CN" b="1" dirty="0" smtClean="0">
                <a:latin typeface="楷体" pitchFamily="49" charset="-122"/>
                <a:ea typeface="楷体_GB2312"/>
              </a:rPr>
              <a:t>3.3 DRAM</a:t>
            </a:r>
            <a:r>
              <a:rPr lang="zh-CN" altLang="en-US" b="1" dirty="0" smtClean="0">
                <a:latin typeface="楷体" pitchFamily="49" charset="-122"/>
                <a:ea typeface="楷体_GB2312"/>
              </a:rPr>
              <a:t>存储器</a:t>
            </a:r>
          </a:p>
          <a:p>
            <a:pPr eaLnBrk="1" hangingPunct="1">
              <a:buFont typeface="Wingdings" pitchFamily="2" charset="2"/>
              <a:buNone/>
            </a:pPr>
            <a:r>
              <a:rPr lang="en-US" altLang="zh-CN" b="1" dirty="0" smtClean="0">
                <a:latin typeface="楷体" pitchFamily="49" charset="-122"/>
                <a:ea typeface="楷体_GB2312"/>
              </a:rPr>
              <a:t>3.4 </a:t>
            </a:r>
            <a:r>
              <a:rPr lang="zh-CN" altLang="en-US" b="1" dirty="0" smtClean="0">
                <a:latin typeface="楷体" pitchFamily="49" charset="-122"/>
                <a:ea typeface="楷体_GB2312"/>
              </a:rPr>
              <a:t>只读存储器和闪速存储器</a:t>
            </a:r>
          </a:p>
          <a:p>
            <a:pPr eaLnBrk="1" hangingPunct="1">
              <a:buFont typeface="Wingdings" pitchFamily="2" charset="2"/>
              <a:buNone/>
            </a:pPr>
            <a:r>
              <a:rPr lang="en-US" altLang="zh-CN" b="1" dirty="0" smtClean="0">
                <a:latin typeface="楷体" pitchFamily="49" charset="-122"/>
                <a:ea typeface="楷体_GB2312"/>
                <a:cs typeface="Times New Roman" charset="0"/>
              </a:rPr>
              <a:t>3</a:t>
            </a:r>
            <a:r>
              <a:rPr lang="en-US" altLang="zh-CN" b="1" dirty="0" smtClean="0">
                <a:latin typeface="楷体" pitchFamily="49" charset="-122"/>
                <a:ea typeface="楷体_GB2312"/>
              </a:rPr>
              <a:t>.5 </a:t>
            </a:r>
            <a:r>
              <a:rPr lang="zh-CN" altLang="en-US" b="1" dirty="0" smtClean="0">
                <a:latin typeface="楷体" pitchFamily="49" charset="-122"/>
                <a:ea typeface="楷体_GB2312"/>
              </a:rPr>
              <a:t>并行存储器</a:t>
            </a:r>
          </a:p>
          <a:p>
            <a:pPr eaLnBrk="1" hangingPunct="1">
              <a:buNone/>
            </a:pPr>
            <a:r>
              <a:rPr lang="en-US" altLang="zh-CN" b="1" dirty="0" smtClean="0">
                <a:latin typeface="楷体" pitchFamily="49" charset="-122"/>
                <a:ea typeface="楷体_GB2312"/>
              </a:rPr>
              <a:t>3.6 Cache</a:t>
            </a:r>
            <a:r>
              <a:rPr lang="zh-CN" altLang="en-US" b="1" dirty="0" smtClean="0">
                <a:latin typeface="楷体" pitchFamily="49" charset="-122"/>
                <a:ea typeface="楷体_GB2312"/>
              </a:rPr>
              <a:t>存储器</a:t>
            </a:r>
            <a:endParaRPr lang="en-US" altLang="zh-CN" b="1" dirty="0" smtClean="0">
              <a:latin typeface="楷体" pitchFamily="49" charset="-122"/>
              <a:ea typeface="楷体_GB2312"/>
            </a:endParaRPr>
          </a:p>
          <a:p>
            <a:pPr eaLnBrk="1" hangingPunct="1">
              <a:buNone/>
            </a:pPr>
            <a:r>
              <a:rPr lang="en-US" altLang="zh-CN" b="1" dirty="0" smtClean="0">
                <a:latin typeface="楷体" pitchFamily="49" charset="-122"/>
                <a:ea typeface="楷体_GB2312"/>
              </a:rPr>
              <a:t>3.7 </a:t>
            </a:r>
            <a:r>
              <a:rPr lang="zh-CN" altLang="en-US" b="1" dirty="0" smtClean="0">
                <a:latin typeface="楷体" pitchFamily="49" charset="-122"/>
                <a:ea typeface="楷体_GB2312"/>
              </a:rPr>
              <a:t>虚拟存储器</a:t>
            </a:r>
            <a:endParaRPr lang="zh-CN" altLang="en-US" b="1" dirty="0" smtClean="0">
              <a:latin typeface="楷体" pitchFamily="49" charset="-122"/>
              <a:ea typeface="楷体_GB2312"/>
              <a:hlinkClick r:id="rId2" action="ppaction://hlinkpres?slideindex=1&amp;slidetitle="/>
            </a:endParaRPr>
          </a:p>
          <a:p>
            <a:pPr eaLnBrk="1" hangingPunct="1">
              <a:buFont typeface="Wingdings" pitchFamily="2" charset="2"/>
              <a:buNone/>
            </a:pPr>
            <a:endParaRPr lang="en-US" altLang="zh-CN" b="1" dirty="0" smtClean="0">
              <a:latin typeface="楷体_GB2312" pitchFamily="49" charset="-122"/>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1511F432-7A65-4F1C-9302-367F2F796938}" type="slidenum">
              <a:rPr lang="en-US" altLang="zh-CN"/>
              <a:pPr>
                <a:defRPr/>
              </a:pPr>
              <a:t>2</a:t>
            </a:fld>
            <a:endParaRPr lang="en-US" altLang="zh-CN"/>
          </a:p>
        </p:txBody>
      </p:sp>
      <p:sp>
        <p:nvSpPr>
          <p:cNvPr id="22531" name="Rectangle 2"/>
          <p:cNvSpPr>
            <a:spLocks noGrp="1" noChangeArrowheads="1"/>
          </p:cNvSpPr>
          <p:nvPr>
            <p:ph type="title"/>
          </p:nvPr>
        </p:nvSpPr>
        <p:spPr>
          <a:xfrm>
            <a:off x="468313" y="333375"/>
            <a:ext cx="7543800" cy="652463"/>
          </a:xfrm>
        </p:spPr>
        <p:txBody>
          <a:bodyPr/>
          <a:lstStyle/>
          <a:p>
            <a:pPr eaLnBrk="1" hangingPunct="1"/>
            <a:r>
              <a:rPr lang="en-US" altLang="zh-CN" sz="4000" b="0" smtClean="0">
                <a:latin typeface="楷体_GB2312" pitchFamily="49" charset="-122"/>
                <a:ea typeface="楷体_GB2312" pitchFamily="49" charset="-122"/>
              </a:rPr>
              <a:t>3.1</a:t>
            </a:r>
            <a:r>
              <a:rPr lang="zh-CN" altLang="en-US" sz="4000" b="0" smtClean="0">
                <a:latin typeface="楷体_GB2312" pitchFamily="49" charset="-122"/>
                <a:ea typeface="楷体_GB2312" pitchFamily="49" charset="-122"/>
              </a:rPr>
              <a:t>存储器概述</a:t>
            </a:r>
          </a:p>
        </p:txBody>
      </p:sp>
      <p:sp>
        <p:nvSpPr>
          <p:cNvPr id="22532" name="Rectangle 3"/>
          <p:cNvSpPr>
            <a:spLocks noGrp="1" noChangeArrowheads="1"/>
          </p:cNvSpPr>
          <p:nvPr>
            <p:ph type="body" idx="1"/>
          </p:nvPr>
        </p:nvSpPr>
        <p:spPr>
          <a:xfrm>
            <a:off x="179388" y="1341438"/>
            <a:ext cx="8640762" cy="5005387"/>
          </a:xfrm>
        </p:spPr>
        <p:txBody>
          <a:bodyPr/>
          <a:lstStyle/>
          <a:p>
            <a:pPr eaLnBrk="1" hangingPunct="1">
              <a:lnSpc>
                <a:spcPct val="90000"/>
              </a:lnSpc>
            </a:pPr>
            <a:r>
              <a:rPr lang="zh-CN" altLang="en-US" sz="2800" smtClean="0">
                <a:latin typeface="楷体_GB2312" pitchFamily="49" charset="-122"/>
                <a:ea typeface="楷体_GB2312" pitchFamily="49" charset="-122"/>
              </a:rPr>
              <a:t>存储器是计算机系统中的记忆设备，用来存放程序和数据。</a:t>
            </a:r>
            <a:r>
              <a:rPr lang="zh-CN" altLang="en-US" sz="2800" b="1" smtClean="0">
                <a:latin typeface="楷体_GB2312" pitchFamily="49" charset="-122"/>
                <a:ea typeface="楷体_GB2312" pitchFamily="49" charset="-122"/>
              </a:rPr>
              <a:t>　</a:t>
            </a:r>
          </a:p>
          <a:p>
            <a:pPr eaLnBrk="1" hangingPunct="1">
              <a:lnSpc>
                <a:spcPct val="90000"/>
              </a:lnSpc>
            </a:pPr>
            <a:r>
              <a:rPr lang="zh-CN" altLang="en-US" sz="2800" smtClean="0">
                <a:latin typeface="楷体_GB2312" pitchFamily="49" charset="-122"/>
                <a:ea typeface="楷体_GB2312" pitchFamily="49" charset="-122"/>
              </a:rPr>
              <a:t>在计算机系统中，存储器是计算机的重要组成部分，有了它计算机才有记忆作用，才能把要计算的数据和处理的程序存入计算机，这样才能逐条由存储器取出指令，并根据指令对所存储的数据进行各种加工处理，计算机才能够自动地、快速地工作。</a:t>
            </a:r>
            <a:endParaRPr lang="zh-CN" altLang="en-US" sz="2800" b="1" smtClean="0">
              <a:latin typeface="楷体_GB2312" pitchFamily="49" charset="-122"/>
              <a:ea typeface="楷体_GB2312" pitchFamily="49" charset="-122"/>
            </a:endParaRPr>
          </a:p>
          <a:p>
            <a:pPr eaLnBrk="1" hangingPunct="1">
              <a:lnSpc>
                <a:spcPct val="90000"/>
              </a:lnSpc>
            </a:pPr>
            <a:r>
              <a:rPr lang="zh-CN" altLang="en-US" sz="2800" smtClean="0">
                <a:latin typeface="楷体_GB2312" pitchFamily="49" charset="-122"/>
                <a:ea typeface="楷体_GB2312" pitchFamily="49" charset="-122"/>
              </a:rPr>
              <a:t>构成存储器的存储介质，目前主要采用</a:t>
            </a:r>
            <a:r>
              <a:rPr lang="zh-CN" altLang="en-US" sz="2800" b="1" smtClean="0">
                <a:solidFill>
                  <a:srgbClr val="FF3300"/>
                </a:solidFill>
                <a:latin typeface="楷体_GB2312" pitchFamily="49" charset="-122"/>
                <a:ea typeface="楷体_GB2312" pitchFamily="49" charset="-122"/>
              </a:rPr>
              <a:t>半导体器件和磁性材料</a:t>
            </a:r>
            <a:r>
              <a:rPr lang="zh-CN" altLang="en-US" sz="2800" smtClean="0">
                <a:latin typeface="楷体_GB2312" pitchFamily="49" charset="-122"/>
                <a:ea typeface="楷体_GB2312" pitchFamily="49" charset="-122"/>
              </a:rPr>
              <a:t>。存储器中最小的存储单位就是一个双稳态半导体电路或一个</a:t>
            </a:r>
            <a:r>
              <a:rPr lang="en-US" altLang="zh-CN" sz="2800" smtClean="0">
                <a:latin typeface="楷体_GB2312" pitchFamily="49" charset="-122"/>
                <a:ea typeface="楷体_GB2312" pitchFamily="49" charset="-122"/>
              </a:rPr>
              <a:t>CMOS</a:t>
            </a:r>
            <a:r>
              <a:rPr lang="zh-CN" altLang="en-US" sz="2800" smtClean="0">
                <a:latin typeface="楷体_GB2312" pitchFamily="49" charset="-122"/>
                <a:ea typeface="楷体_GB2312" pitchFamily="49" charset="-122"/>
              </a:rPr>
              <a:t>晶体管或磁性材料的存储元，它可存储一位二进制代码，这个最小的存储单位，称为</a:t>
            </a:r>
            <a:r>
              <a:rPr lang="zh-CN" altLang="en-US" sz="2800" b="1" smtClean="0">
                <a:solidFill>
                  <a:srgbClr val="FF3300"/>
                </a:solidFill>
                <a:latin typeface="楷体_GB2312" pitchFamily="49" charset="-122"/>
                <a:ea typeface="楷体_GB2312" pitchFamily="49" charset="-122"/>
              </a:rPr>
              <a:t>存储位元</a:t>
            </a:r>
            <a:r>
              <a:rPr lang="zh-CN" altLang="en-US" sz="2800" smtClean="0">
                <a:latin typeface="楷体_GB2312" pitchFamily="49" charset="-122"/>
                <a:ea typeface="楷体_GB2312" pitchFamily="49" charset="-122"/>
              </a:rPr>
              <a:t>。由若干个存储位元组成一个</a:t>
            </a:r>
            <a:r>
              <a:rPr lang="zh-CN" altLang="en-US" sz="2800" b="1" smtClean="0">
                <a:solidFill>
                  <a:srgbClr val="FF3300"/>
                </a:solidFill>
                <a:latin typeface="楷体_GB2312" pitchFamily="49" charset="-122"/>
                <a:ea typeface="楷体_GB2312" pitchFamily="49" charset="-122"/>
              </a:rPr>
              <a:t>存储单元</a:t>
            </a:r>
            <a:r>
              <a:rPr lang="zh-CN" altLang="en-US" sz="2800" smtClean="0">
                <a:latin typeface="楷体_GB2312" pitchFamily="49" charset="-122"/>
                <a:ea typeface="楷体_GB2312" pitchFamily="49" charset="-122"/>
              </a:rPr>
              <a:t>，然后再由许多存储单元组成一个</a:t>
            </a:r>
            <a:r>
              <a:rPr lang="zh-CN" altLang="en-US" sz="2800" b="1" smtClean="0">
                <a:solidFill>
                  <a:srgbClr val="FF3300"/>
                </a:solidFill>
                <a:latin typeface="楷体_GB2312" pitchFamily="49" charset="-122"/>
                <a:ea typeface="楷体_GB2312" pitchFamily="49" charset="-122"/>
              </a:rPr>
              <a:t>存储器</a:t>
            </a:r>
            <a:r>
              <a:rPr lang="zh-CN" altLang="en-US" sz="2800" b="1" smtClean="0">
                <a:latin typeface="楷体_GB2312" pitchFamily="49" charset="-122"/>
                <a:ea typeface="楷体_GB2312" pitchFamily="49" charset="-122"/>
              </a:rPr>
              <a:t>。</a:t>
            </a:r>
            <a:r>
              <a:rPr lang="zh-CN" altLang="en-US" sz="2800" smtClean="0">
                <a:latin typeface="楷体_GB2312" pitchFamily="49" charset="-122"/>
                <a:ea typeface="楷体_GB2312" pitchFamily="49" charset="-122"/>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76917292-A909-4ED9-A7EA-9A8C4900475D}" type="slidenum">
              <a:rPr lang="en-US" altLang="zh-CN"/>
              <a:pPr>
                <a:defRPr/>
              </a:pPr>
              <a:t>3</a:t>
            </a:fld>
            <a:endParaRPr lang="en-US" altLang="zh-CN"/>
          </a:p>
        </p:txBody>
      </p:sp>
      <p:sp>
        <p:nvSpPr>
          <p:cNvPr id="23555" name="Rectangle 4"/>
          <p:cNvSpPr>
            <a:spLocks noChangeArrowheads="1"/>
          </p:cNvSpPr>
          <p:nvPr/>
        </p:nvSpPr>
        <p:spPr bwMode="auto">
          <a:xfrm>
            <a:off x="323850" y="1268413"/>
            <a:ext cx="7488238" cy="478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r>
              <a:rPr lang="en-US" altLang="zh-CN" b="1">
                <a:latin typeface="楷体_GB2312" pitchFamily="49" charset="-122"/>
              </a:rPr>
              <a:t>★ </a:t>
            </a:r>
            <a:r>
              <a:rPr lang="zh-CN" altLang="en-US" b="1">
                <a:latin typeface="楷体_GB2312" pitchFamily="49" charset="-122"/>
              </a:rPr>
              <a:t>按存储介质分类</a:t>
            </a:r>
            <a:r>
              <a:rPr lang="zh-CN" altLang="en-US">
                <a:latin typeface="楷体_GB2312" pitchFamily="49" charset="-122"/>
              </a:rPr>
              <a:t> </a:t>
            </a:r>
          </a:p>
          <a:p>
            <a:r>
              <a:rPr lang="zh-CN" altLang="en-US">
                <a:latin typeface="楷体_GB2312" pitchFamily="49" charset="-122"/>
              </a:rPr>
              <a:t>　 半导体存储器：用半导体器件组成的存储器。</a:t>
            </a:r>
          </a:p>
          <a:p>
            <a:r>
              <a:rPr lang="zh-CN" altLang="en-US">
                <a:latin typeface="楷体_GB2312" pitchFamily="49" charset="-122"/>
              </a:rPr>
              <a:t>　 磁表面存储器：用磁性材料做成的存储器。</a:t>
            </a:r>
          </a:p>
          <a:p>
            <a:r>
              <a:rPr lang="zh-CN" altLang="en-US">
                <a:latin typeface="楷体_GB2312" pitchFamily="49" charset="-122"/>
              </a:rPr>
              <a:t>   光盘存储器：用磁光材料做成的存储器。 　　 </a:t>
            </a:r>
            <a:endParaRPr lang="zh-CN" altLang="en-US" b="1">
              <a:latin typeface="楷体_GB2312" pitchFamily="49" charset="-122"/>
            </a:endParaRPr>
          </a:p>
          <a:p>
            <a:r>
              <a:rPr lang="zh-CN" altLang="en-US" b="1">
                <a:latin typeface="楷体_GB2312" pitchFamily="49" charset="-122"/>
              </a:rPr>
              <a:t>★ 按存储方式分</a:t>
            </a:r>
            <a:r>
              <a:rPr lang="zh-CN" altLang="en-US">
                <a:latin typeface="楷体_GB2312" pitchFamily="49" charset="-122"/>
              </a:rPr>
              <a:t>类</a:t>
            </a:r>
          </a:p>
          <a:p>
            <a:r>
              <a:rPr lang="zh-CN" altLang="en-US">
                <a:latin typeface="楷体_GB2312" pitchFamily="49" charset="-122"/>
              </a:rPr>
              <a:t>　 随机存储器：任何存储单元的内容都能被随机存取，且存取时间和存储单元的物理位置无关。</a:t>
            </a:r>
          </a:p>
          <a:p>
            <a:r>
              <a:rPr lang="zh-CN" altLang="en-US">
                <a:latin typeface="楷体_GB2312" pitchFamily="49" charset="-122"/>
              </a:rPr>
              <a:t>　 顺序存储器：只能按某种顺序来存取，存取时间和存储单元的物理位置有关。</a:t>
            </a:r>
          </a:p>
          <a:p>
            <a:r>
              <a:rPr lang="zh-CN" altLang="en-US" b="1">
                <a:latin typeface="楷体_GB2312" pitchFamily="49" charset="-122"/>
              </a:rPr>
              <a:t>　</a:t>
            </a:r>
            <a:r>
              <a:rPr lang="zh-CN" altLang="en-US">
                <a:latin typeface="楷体_GB2312" pitchFamily="49" charset="-122"/>
              </a:rPr>
              <a:t>磁盘：半顺序存储器、直接存取存储器</a:t>
            </a:r>
          </a:p>
        </p:txBody>
      </p:sp>
      <p:sp>
        <p:nvSpPr>
          <p:cNvPr id="23556" name="Rectangle 5"/>
          <p:cNvSpPr>
            <a:spLocks noChangeArrowheads="1"/>
          </p:cNvSpPr>
          <p:nvPr/>
        </p:nvSpPr>
        <p:spPr bwMode="auto">
          <a:xfrm>
            <a:off x="323850" y="333375"/>
            <a:ext cx="54006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sz="4000" b="1">
                <a:solidFill>
                  <a:srgbClr val="000066"/>
                </a:solidFill>
                <a:latin typeface="楷体_GB2312" pitchFamily="49" charset="-122"/>
              </a:rPr>
              <a:t>3.1.1 </a:t>
            </a:r>
            <a:r>
              <a:rPr lang="zh-CN" altLang="en-US" sz="4000" b="1">
                <a:solidFill>
                  <a:srgbClr val="000066"/>
                </a:solidFill>
                <a:latin typeface="楷体_GB2312" pitchFamily="49" charset="-122"/>
              </a:rPr>
              <a:t>存储器的分类</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FA2388B4-4931-4309-A4EE-4C18413D5A3A}" type="slidenum">
              <a:rPr lang="en-US" altLang="zh-CN"/>
              <a:pPr>
                <a:defRPr/>
              </a:pPr>
              <a:t>4</a:t>
            </a:fld>
            <a:endParaRPr lang="en-US" altLang="zh-CN"/>
          </a:p>
        </p:txBody>
      </p:sp>
      <p:sp>
        <p:nvSpPr>
          <p:cNvPr id="24579" name="Rectangle 5"/>
          <p:cNvSpPr>
            <a:spLocks noChangeArrowheads="1"/>
          </p:cNvSpPr>
          <p:nvPr/>
        </p:nvSpPr>
        <p:spPr bwMode="auto">
          <a:xfrm>
            <a:off x="323850" y="1341438"/>
            <a:ext cx="7561263"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r>
              <a:rPr lang="en-US" altLang="zh-CN" b="1">
                <a:latin typeface="楷体_GB2312" pitchFamily="49" charset="-122"/>
              </a:rPr>
              <a:t>★ </a:t>
            </a:r>
            <a:r>
              <a:rPr lang="zh-CN" altLang="en-US" b="1">
                <a:latin typeface="楷体_GB2312" pitchFamily="49" charset="-122"/>
              </a:rPr>
              <a:t>按存储器的读写功能分类</a:t>
            </a:r>
            <a:r>
              <a:rPr lang="zh-CN" altLang="en-US">
                <a:latin typeface="楷体_GB2312" pitchFamily="49" charset="-122"/>
              </a:rPr>
              <a:t> </a:t>
            </a:r>
          </a:p>
          <a:p>
            <a:r>
              <a:rPr lang="zh-CN" altLang="en-US">
                <a:latin typeface="楷体_GB2312" pitchFamily="49" charset="-122"/>
              </a:rPr>
              <a:t>　  只读存储器</a:t>
            </a:r>
            <a:r>
              <a:rPr lang="en-US" altLang="zh-CN">
                <a:latin typeface="楷体_GB2312" pitchFamily="49" charset="-122"/>
              </a:rPr>
              <a:t>(ROM)</a:t>
            </a:r>
            <a:r>
              <a:rPr lang="zh-CN" altLang="en-US">
                <a:latin typeface="楷体_GB2312" pitchFamily="49" charset="-122"/>
              </a:rPr>
              <a:t>：存储的内容是固定不变的，只能读出而不能写入的半导体存储器。　</a:t>
            </a:r>
          </a:p>
          <a:p>
            <a:r>
              <a:rPr lang="zh-CN" altLang="en-US">
                <a:latin typeface="楷体_GB2312" pitchFamily="49" charset="-122"/>
              </a:rPr>
              <a:t>　　随机读写存储器</a:t>
            </a:r>
            <a:r>
              <a:rPr lang="en-US" altLang="zh-CN">
                <a:latin typeface="楷体_GB2312" pitchFamily="49" charset="-122"/>
              </a:rPr>
              <a:t>(RAM)</a:t>
            </a:r>
            <a:r>
              <a:rPr lang="zh-CN" altLang="en-US">
                <a:latin typeface="楷体_GB2312" pitchFamily="49" charset="-122"/>
              </a:rPr>
              <a:t>：既能读出又能写入的半导体存储器。 </a:t>
            </a:r>
            <a:endParaRPr lang="zh-CN" altLang="en-US" b="1">
              <a:latin typeface="楷体_GB2312" pitchFamily="49" charset="-122"/>
            </a:endParaRPr>
          </a:p>
          <a:p>
            <a:r>
              <a:rPr lang="zh-CN" altLang="en-US" b="1">
                <a:latin typeface="楷体_GB2312" pitchFamily="49" charset="-122"/>
              </a:rPr>
              <a:t>★ 按信息的可保存性分类</a:t>
            </a:r>
            <a:r>
              <a:rPr lang="zh-CN" altLang="en-US">
                <a:latin typeface="楷体_GB2312" pitchFamily="49" charset="-122"/>
              </a:rPr>
              <a:t> </a:t>
            </a:r>
          </a:p>
          <a:p>
            <a:r>
              <a:rPr lang="zh-CN" altLang="en-US">
                <a:latin typeface="楷体_GB2312" pitchFamily="49" charset="-122"/>
              </a:rPr>
              <a:t>　　非永久记忆的存储器（易失性存储器）</a:t>
            </a:r>
          </a:p>
          <a:p>
            <a:r>
              <a:rPr lang="zh-CN" altLang="en-US">
                <a:latin typeface="楷体_GB2312" pitchFamily="49" charset="-122"/>
              </a:rPr>
              <a:t>    断电后信息即消失的存储器。</a:t>
            </a:r>
          </a:p>
          <a:p>
            <a:r>
              <a:rPr lang="zh-CN" altLang="en-US">
                <a:latin typeface="楷体_GB2312" pitchFamily="49" charset="-122"/>
              </a:rPr>
              <a:t>　　永久记忆性存储器（非易失性存储器）</a:t>
            </a:r>
          </a:p>
          <a:p>
            <a:r>
              <a:rPr lang="zh-CN" altLang="en-US">
                <a:latin typeface="楷体_GB2312" pitchFamily="49" charset="-122"/>
              </a:rPr>
              <a:t>    断电后仍能保存信息的存储器。</a:t>
            </a:r>
          </a:p>
        </p:txBody>
      </p:sp>
      <p:sp>
        <p:nvSpPr>
          <p:cNvPr id="24580" name="Rectangle 6"/>
          <p:cNvSpPr>
            <a:spLocks noChangeArrowheads="1"/>
          </p:cNvSpPr>
          <p:nvPr/>
        </p:nvSpPr>
        <p:spPr bwMode="auto">
          <a:xfrm>
            <a:off x="323850" y="476250"/>
            <a:ext cx="54006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sz="4000" b="1">
                <a:solidFill>
                  <a:srgbClr val="000066"/>
                </a:solidFill>
                <a:latin typeface="楷体_GB2312" pitchFamily="49" charset="-122"/>
              </a:rPr>
              <a:t>3.1.1 </a:t>
            </a:r>
            <a:r>
              <a:rPr lang="zh-CN" altLang="en-US" sz="4000" b="1">
                <a:solidFill>
                  <a:srgbClr val="000066"/>
                </a:solidFill>
                <a:latin typeface="楷体_GB2312" pitchFamily="49" charset="-122"/>
              </a:rPr>
              <a:t>存储器的分类</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BA6256CD-CC99-423C-B7CD-4450FF8DC644}" type="slidenum">
              <a:rPr lang="en-US" altLang="zh-CN"/>
              <a:pPr>
                <a:defRPr/>
              </a:pPr>
              <a:t>5</a:t>
            </a:fld>
            <a:endParaRPr lang="en-US" altLang="zh-CN"/>
          </a:p>
        </p:txBody>
      </p:sp>
      <p:sp>
        <p:nvSpPr>
          <p:cNvPr id="25603" name="Rectangle 4"/>
          <p:cNvSpPr>
            <a:spLocks noChangeArrowheads="1"/>
          </p:cNvSpPr>
          <p:nvPr/>
        </p:nvSpPr>
        <p:spPr bwMode="auto">
          <a:xfrm>
            <a:off x="468313" y="1341438"/>
            <a:ext cx="727233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b="1">
                <a:latin typeface="楷体_GB2312" pitchFamily="49" charset="-122"/>
              </a:rPr>
              <a:t>★ </a:t>
            </a:r>
            <a:r>
              <a:rPr lang="zh-CN" altLang="en-US" b="1">
                <a:latin typeface="楷体_GB2312" pitchFamily="49" charset="-122"/>
              </a:rPr>
              <a:t>按在计算机系统中的作用分类</a:t>
            </a:r>
          </a:p>
          <a:p>
            <a:r>
              <a:rPr lang="zh-CN" altLang="en-US">
                <a:latin typeface="楷体_GB2312" pitchFamily="49" charset="-122"/>
              </a:rPr>
              <a:t>    根据存储器在计算机系统中所起的作用，可分为主存储器、高速缓冲存储器、辅助存储器、控制存储器等。</a:t>
            </a:r>
          </a:p>
        </p:txBody>
      </p:sp>
      <p:sp>
        <p:nvSpPr>
          <p:cNvPr id="25604" name="Rectangle 5"/>
          <p:cNvSpPr>
            <a:spLocks noChangeArrowheads="1"/>
          </p:cNvSpPr>
          <p:nvPr/>
        </p:nvSpPr>
        <p:spPr bwMode="auto">
          <a:xfrm>
            <a:off x="323850" y="404813"/>
            <a:ext cx="54006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sz="4000" b="1">
                <a:solidFill>
                  <a:srgbClr val="000066"/>
                </a:solidFill>
                <a:latin typeface="楷体_GB2312" pitchFamily="49" charset="-122"/>
              </a:rPr>
              <a:t>3.1.1 </a:t>
            </a:r>
            <a:r>
              <a:rPr lang="zh-CN" altLang="en-US" sz="4000" b="1">
                <a:solidFill>
                  <a:srgbClr val="000066"/>
                </a:solidFill>
                <a:latin typeface="楷体_GB2312" pitchFamily="49" charset="-122"/>
              </a:rPr>
              <a:t>存储器的分类</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ADCA363C-E079-4883-85E2-893E3B6AFEFF}" type="slidenum">
              <a:rPr lang="en-US" altLang="zh-CN"/>
              <a:pPr>
                <a:defRPr/>
              </a:pPr>
              <a:t>6</a:t>
            </a:fld>
            <a:endParaRPr lang="en-US" altLang="zh-CN"/>
          </a:p>
        </p:txBody>
      </p:sp>
      <p:sp>
        <p:nvSpPr>
          <p:cNvPr id="26627" name="Rectangle 4"/>
          <p:cNvSpPr>
            <a:spLocks noChangeArrowheads="1"/>
          </p:cNvSpPr>
          <p:nvPr/>
        </p:nvSpPr>
        <p:spPr bwMode="auto">
          <a:xfrm>
            <a:off x="323850" y="1628775"/>
            <a:ext cx="8229600"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r>
              <a:rPr kumimoji="1" lang="en-US" altLang="zh-CN" sz="3000">
                <a:ea typeface="宋体" pitchFamily="2" charset="-122"/>
              </a:rPr>
              <a:t>	</a:t>
            </a:r>
            <a:r>
              <a:rPr kumimoji="1" lang="en-US" altLang="zh-CN">
                <a:latin typeface="楷体_GB2312" pitchFamily="49" charset="-122"/>
              </a:rPr>
              <a:t>1</a:t>
            </a:r>
            <a:r>
              <a:rPr kumimoji="1" lang="zh-CN" altLang="en-US">
                <a:latin typeface="楷体_GB2312" pitchFamily="49" charset="-122"/>
              </a:rPr>
              <a:t>、目前存储器的特点是：</a:t>
            </a:r>
          </a:p>
          <a:p>
            <a:pPr marL="342900" indent="-342900"/>
            <a:endParaRPr kumimoji="1" lang="zh-CN" altLang="en-US">
              <a:latin typeface="楷体_GB2312" pitchFamily="49" charset="-122"/>
            </a:endParaRPr>
          </a:p>
          <a:p>
            <a:pPr marL="987425" lvl="2" indent="-293688">
              <a:buFontTx/>
              <a:buChar char="•"/>
            </a:pPr>
            <a:r>
              <a:rPr kumimoji="1" lang="zh-CN" altLang="en-US">
                <a:latin typeface="楷体_GB2312" pitchFamily="49" charset="-122"/>
              </a:rPr>
              <a:t>速度快的存储器价格贵，容量小；</a:t>
            </a:r>
          </a:p>
          <a:p>
            <a:pPr marL="987425" lvl="2" indent="-293688">
              <a:buFontTx/>
              <a:buChar char="•"/>
            </a:pPr>
            <a:r>
              <a:rPr kumimoji="1" lang="zh-CN" altLang="en-US">
                <a:latin typeface="楷体_GB2312" pitchFamily="49" charset="-122"/>
              </a:rPr>
              <a:t>价格低的存储器速度慢，容量大。</a:t>
            </a:r>
          </a:p>
          <a:p>
            <a:pPr marL="342900" indent="-342900"/>
            <a:r>
              <a:rPr kumimoji="1" lang="zh-CN" altLang="en-US">
                <a:latin typeface="楷体_GB2312" pitchFamily="49" charset="-122"/>
              </a:rPr>
              <a:t>  </a:t>
            </a:r>
          </a:p>
          <a:p>
            <a:pPr marL="342900" indent="-342900"/>
            <a:r>
              <a:rPr kumimoji="1" lang="zh-CN" altLang="en-US">
                <a:latin typeface="楷体_GB2312" pitchFamily="49" charset="-122"/>
              </a:rPr>
              <a:t>      在计算机存储器体系结构设计时，我们希望存储器系统的性能高、价格低，那么在存储器系统设计时，应当在存储器容量，速度和价格方面的因素作折中考虑，建立了分层次的存储器体系结构如下图所示。</a:t>
            </a:r>
            <a:endParaRPr lang="zh-CN" altLang="en-US">
              <a:latin typeface="楷体_GB2312" pitchFamily="49" charset="-122"/>
            </a:endParaRPr>
          </a:p>
        </p:txBody>
      </p:sp>
      <p:sp>
        <p:nvSpPr>
          <p:cNvPr id="26628" name="Rectangle 5"/>
          <p:cNvSpPr>
            <a:spLocks noChangeArrowheads="1"/>
          </p:cNvSpPr>
          <p:nvPr/>
        </p:nvSpPr>
        <p:spPr bwMode="auto">
          <a:xfrm>
            <a:off x="323850" y="404813"/>
            <a:ext cx="54006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sz="4000">
                <a:solidFill>
                  <a:srgbClr val="000066"/>
                </a:solidFill>
                <a:latin typeface="楷体_GB2312" pitchFamily="49" charset="-122"/>
              </a:rPr>
              <a:t>3.1.2 </a:t>
            </a:r>
            <a:r>
              <a:rPr lang="zh-CN" altLang="en-US" sz="4000">
                <a:solidFill>
                  <a:srgbClr val="000066"/>
                </a:solidFill>
                <a:latin typeface="楷体_GB2312" pitchFamily="49" charset="-122"/>
              </a:rPr>
              <a:t>存储器分级结构</a:t>
            </a:r>
            <a:endParaRPr lang="zh-CN" altLang="en-US" sz="4000" b="1">
              <a:solidFill>
                <a:srgbClr val="000066"/>
              </a:solidFill>
              <a:latin typeface="楷体_GB2312"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55D62DE6-40CE-44D4-85AB-C91E84D7E29F}" type="slidenum">
              <a:rPr lang="en-US" altLang="zh-CN"/>
              <a:pPr>
                <a:defRPr/>
              </a:pPr>
              <a:t>7</a:t>
            </a:fld>
            <a:endParaRPr lang="en-US" altLang="zh-CN"/>
          </a:p>
        </p:txBody>
      </p:sp>
      <p:sp>
        <p:nvSpPr>
          <p:cNvPr id="27651" name="Rectangle 2"/>
          <p:cNvSpPr>
            <a:spLocks noGrp="1" noChangeArrowheads="1"/>
          </p:cNvSpPr>
          <p:nvPr>
            <p:ph type="title"/>
          </p:nvPr>
        </p:nvSpPr>
        <p:spPr/>
        <p:txBody>
          <a:bodyPr/>
          <a:lstStyle/>
          <a:p>
            <a:pPr eaLnBrk="1" hangingPunct="1"/>
            <a:r>
              <a:rPr lang="en-US" altLang="zh-CN" sz="4000" smtClean="0">
                <a:latin typeface="楷体_GB2312" pitchFamily="49" charset="-122"/>
                <a:ea typeface="楷体_GB2312" pitchFamily="49" charset="-122"/>
                <a:cs typeface="Times New Roman" charset="0"/>
              </a:rPr>
              <a:t>3.1.2  </a:t>
            </a:r>
            <a:r>
              <a:rPr lang="zh-CN" altLang="en-US" sz="4000" smtClean="0">
                <a:latin typeface="楷体_GB2312" pitchFamily="49" charset="-122"/>
                <a:ea typeface="楷体_GB2312" pitchFamily="49" charset="-122"/>
                <a:cs typeface="Times New Roman" charset="0"/>
              </a:rPr>
              <a:t>存储器分级结构</a:t>
            </a:r>
          </a:p>
        </p:txBody>
      </p:sp>
      <p:pic>
        <p:nvPicPr>
          <p:cNvPr id="27652" name="Picture 3" descr="3a1">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8625" y="2420938"/>
            <a:ext cx="3132138"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Rectangle 4"/>
          <p:cNvSpPr>
            <a:spLocks noGrp="1" noChangeArrowheads="1"/>
          </p:cNvSpPr>
          <p:nvPr>
            <p:ph type="body" idx="1"/>
          </p:nvPr>
        </p:nvSpPr>
        <p:spPr>
          <a:xfrm>
            <a:off x="457200" y="1719263"/>
            <a:ext cx="5051425" cy="4411662"/>
          </a:xfrm>
        </p:spPr>
        <p:txBody>
          <a:bodyPr/>
          <a:lstStyle/>
          <a:p>
            <a:pPr eaLnBrk="1" hangingPunct="1">
              <a:buFont typeface="Wingdings" pitchFamily="2" charset="2"/>
              <a:buNone/>
            </a:pPr>
            <a:r>
              <a:rPr lang="en-US" altLang="zh-CN" sz="2800" smtClean="0">
                <a:latin typeface="楷体_GB2312" pitchFamily="49" charset="-122"/>
                <a:ea typeface="楷体_GB2312" pitchFamily="49" charset="-122"/>
              </a:rPr>
              <a:t>2</a:t>
            </a:r>
            <a:r>
              <a:rPr lang="zh-CN" altLang="en-US" sz="2800" smtClean="0">
                <a:latin typeface="楷体_GB2312" pitchFamily="49" charset="-122"/>
                <a:ea typeface="楷体_GB2312" pitchFamily="49" charset="-122"/>
              </a:rPr>
              <a:t>、分级结构</a:t>
            </a:r>
          </a:p>
          <a:p>
            <a:pPr eaLnBrk="1" hangingPunct="1"/>
            <a:r>
              <a:rPr lang="zh-CN" altLang="en-US" sz="2800" smtClean="0">
                <a:latin typeface="楷体_GB2312" pitchFamily="49" charset="-122"/>
                <a:ea typeface="楷体_GB2312" pitchFamily="49" charset="-122"/>
              </a:rPr>
              <a:t>高速缓冲存储器简称</a:t>
            </a:r>
            <a:r>
              <a:rPr lang="en-US" altLang="zh-CN" sz="2800" smtClean="0">
                <a:latin typeface="楷体_GB2312" pitchFamily="49" charset="-122"/>
                <a:ea typeface="楷体_GB2312" pitchFamily="49" charset="-122"/>
              </a:rPr>
              <a:t>cache</a:t>
            </a:r>
            <a:r>
              <a:rPr lang="zh-CN" altLang="en-US" sz="2800" smtClean="0">
                <a:latin typeface="楷体_GB2312" pitchFamily="49" charset="-122"/>
                <a:ea typeface="楷体_GB2312" pitchFamily="49" charset="-122"/>
              </a:rPr>
              <a:t>，它是计算机系统中的一个高速小容量半导体存储器。</a:t>
            </a:r>
          </a:p>
          <a:p>
            <a:pPr eaLnBrk="1" hangingPunct="1"/>
            <a:r>
              <a:rPr lang="zh-CN" altLang="en-US" sz="2800" smtClean="0">
                <a:latin typeface="楷体_GB2312" pitchFamily="49" charset="-122"/>
                <a:ea typeface="楷体_GB2312" pitchFamily="49" charset="-122"/>
              </a:rPr>
              <a:t>主存储器简称主存，是计算机系统的主要存储器，用来存放计算机运行期间的大量程序和数据。</a:t>
            </a:r>
          </a:p>
          <a:p>
            <a:pPr eaLnBrk="1" hangingPunct="1"/>
            <a:r>
              <a:rPr lang="zh-CN" altLang="en-US" sz="2800" smtClean="0">
                <a:latin typeface="楷体_GB2312" pitchFamily="49" charset="-122"/>
                <a:ea typeface="楷体_GB2312" pitchFamily="49" charset="-122"/>
              </a:rPr>
              <a:t>外存储器简称外存，它是大容量辅助存储器。</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3CD080D8-542A-4D67-9026-727FD562E8D6}" type="slidenum">
              <a:rPr lang="en-US" altLang="zh-CN"/>
              <a:pPr>
                <a:defRPr/>
              </a:pPr>
              <a:t>8</a:t>
            </a:fld>
            <a:endParaRPr lang="en-US" altLang="zh-CN"/>
          </a:p>
        </p:txBody>
      </p:sp>
      <p:sp>
        <p:nvSpPr>
          <p:cNvPr id="28675" name="Rectangle 2"/>
          <p:cNvSpPr>
            <a:spLocks noGrp="1" noChangeArrowheads="1"/>
          </p:cNvSpPr>
          <p:nvPr>
            <p:ph type="title"/>
          </p:nvPr>
        </p:nvSpPr>
        <p:spPr/>
        <p:txBody>
          <a:bodyPr/>
          <a:lstStyle/>
          <a:p>
            <a:pPr eaLnBrk="1" hangingPunct="1"/>
            <a:r>
              <a:rPr lang="en-US" altLang="zh-CN" sz="4000" smtClean="0">
                <a:latin typeface="楷体_GB2312" pitchFamily="49" charset="-122"/>
                <a:ea typeface="楷体_GB2312" pitchFamily="49" charset="-122"/>
                <a:cs typeface="Times New Roman" charset="0"/>
              </a:rPr>
              <a:t>3.1.2  </a:t>
            </a:r>
            <a:r>
              <a:rPr lang="zh-CN" altLang="en-US" sz="4000" smtClean="0">
                <a:latin typeface="楷体_GB2312" pitchFamily="49" charset="-122"/>
                <a:ea typeface="楷体_GB2312" pitchFamily="49" charset="-122"/>
                <a:cs typeface="Times New Roman" charset="0"/>
              </a:rPr>
              <a:t>存储器分级结构</a:t>
            </a:r>
          </a:p>
        </p:txBody>
      </p:sp>
      <p:sp>
        <p:nvSpPr>
          <p:cNvPr id="28676" name="Rectangle 3"/>
          <p:cNvSpPr>
            <a:spLocks noGrp="1" noChangeArrowheads="1"/>
          </p:cNvSpPr>
          <p:nvPr>
            <p:ph type="body" idx="1"/>
          </p:nvPr>
        </p:nvSpPr>
        <p:spPr/>
        <p:txBody>
          <a:bodyPr/>
          <a:lstStyle/>
          <a:p>
            <a:pPr eaLnBrk="1" hangingPunct="1"/>
            <a:r>
              <a:rPr lang="zh-CN" altLang="en-US" sz="2800" smtClean="0">
                <a:ea typeface="楷体_GB2312" pitchFamily="49" charset="-122"/>
              </a:rPr>
              <a:t>分层存储器系统之间的连接关系</a:t>
            </a:r>
          </a:p>
        </p:txBody>
      </p:sp>
      <p:pic>
        <p:nvPicPr>
          <p:cNvPr id="28677" name="Picture 4" descr="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2565400"/>
            <a:ext cx="7416800"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365F125C-0F5A-4F4D-ADEA-AC60EF01FB85}" type="slidenum">
              <a:rPr lang="en-US" altLang="zh-CN"/>
              <a:pPr>
                <a:defRPr/>
              </a:pPr>
              <a:t>9</a:t>
            </a:fld>
            <a:endParaRPr lang="en-US" altLang="zh-CN"/>
          </a:p>
        </p:txBody>
      </p:sp>
      <p:sp>
        <p:nvSpPr>
          <p:cNvPr id="29699" name="Rectangle 4"/>
          <p:cNvSpPr>
            <a:spLocks noChangeArrowheads="1"/>
          </p:cNvSpPr>
          <p:nvPr/>
        </p:nvSpPr>
        <p:spPr bwMode="auto">
          <a:xfrm>
            <a:off x="468313" y="1557338"/>
            <a:ext cx="7416800" cy="471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Clr>
                <a:schemeClr val="tx2"/>
              </a:buClr>
              <a:buSzPct val="70000"/>
              <a:buFont typeface="Wingdings" pitchFamily="2" charset="2"/>
              <a:buChar char="l"/>
            </a:pPr>
            <a:r>
              <a:rPr lang="zh-CN" altLang="en-US" dirty="0">
                <a:latin typeface="楷体_GB2312" pitchFamily="49" charset="-122"/>
              </a:rPr>
              <a:t>字存储单元：存放一个机器字的存储单元，相应的单元地址叫字地址。</a:t>
            </a:r>
          </a:p>
          <a:p>
            <a:pPr marL="342900" indent="-342900">
              <a:lnSpc>
                <a:spcPct val="90000"/>
              </a:lnSpc>
              <a:spcBef>
                <a:spcPct val="20000"/>
              </a:spcBef>
              <a:buClr>
                <a:schemeClr val="tx2"/>
              </a:buClr>
              <a:buSzPct val="70000"/>
              <a:buFont typeface="Wingdings" pitchFamily="2" charset="2"/>
              <a:buChar char="l"/>
            </a:pPr>
            <a:r>
              <a:rPr lang="zh-CN" altLang="en-US" dirty="0">
                <a:latin typeface="楷体_GB2312" pitchFamily="49" charset="-122"/>
              </a:rPr>
              <a:t>字节存储单元：存放一个字节的单元，相应的地址称为字节地址</a:t>
            </a:r>
            <a:r>
              <a:rPr lang="zh-CN" altLang="en-US" dirty="0" smtClean="0">
                <a:latin typeface="楷体_GB2312" pitchFamily="49" charset="-122"/>
              </a:rPr>
              <a:t>。</a:t>
            </a:r>
            <a:endParaRPr lang="en-US" altLang="zh-CN" dirty="0" smtClean="0">
              <a:latin typeface="楷体_GB2312" pitchFamily="49" charset="-122"/>
            </a:endParaRPr>
          </a:p>
          <a:p>
            <a:pPr marL="342900" indent="-342900">
              <a:lnSpc>
                <a:spcPct val="90000"/>
              </a:lnSpc>
              <a:spcBef>
                <a:spcPct val="20000"/>
              </a:spcBef>
              <a:buClr>
                <a:schemeClr val="tx2"/>
              </a:buClr>
              <a:buSzPct val="70000"/>
              <a:buFont typeface="Wingdings" pitchFamily="2" charset="2"/>
              <a:buChar char="l"/>
            </a:pPr>
            <a:r>
              <a:rPr lang="zh-CN" altLang="en-US" dirty="0">
                <a:latin typeface="楷体_GB2312" pitchFamily="49" charset="-122"/>
              </a:rPr>
              <a:t>编址</a:t>
            </a:r>
            <a:r>
              <a:rPr lang="zh-CN" altLang="en-US" dirty="0" smtClean="0">
                <a:latin typeface="楷体_GB2312" pitchFamily="49" charset="-122"/>
              </a:rPr>
              <a:t>方式：存储器地址的组织方式。</a:t>
            </a:r>
            <a:endParaRPr lang="en-US" altLang="zh-CN" dirty="0" smtClean="0">
              <a:latin typeface="楷体_GB2312" pitchFamily="49" charset="-122"/>
            </a:endParaRPr>
          </a:p>
          <a:p>
            <a:pPr>
              <a:lnSpc>
                <a:spcPct val="90000"/>
              </a:lnSpc>
              <a:spcBef>
                <a:spcPct val="20000"/>
              </a:spcBef>
              <a:buClr>
                <a:schemeClr val="tx2"/>
              </a:buClr>
              <a:buSzPct val="70000"/>
            </a:pPr>
            <a:r>
              <a:rPr lang="zh-CN" altLang="en-US" dirty="0" smtClean="0">
                <a:latin typeface="楷体_GB2312" pitchFamily="49" charset="-122"/>
              </a:rPr>
              <a:t>  </a:t>
            </a:r>
            <a:r>
              <a:rPr lang="zh-CN" altLang="en-US" sz="2400" dirty="0" smtClean="0">
                <a:latin typeface="楷体_GB2312" pitchFamily="49" charset="-122"/>
              </a:rPr>
              <a:t>编址的最小单位是字节 </a:t>
            </a:r>
            <a:r>
              <a:rPr lang="en-US" altLang="zh-CN" sz="2400" dirty="0" smtClean="0">
                <a:latin typeface="楷体_GB2312" pitchFamily="49" charset="-122"/>
              </a:rPr>
              <a:t>- </a:t>
            </a:r>
            <a:r>
              <a:rPr lang="zh-CN" altLang="en-US" sz="2400" dirty="0" smtClean="0">
                <a:latin typeface="楷体_GB2312" pitchFamily="49" charset="-122"/>
              </a:rPr>
              <a:t>按字节编址</a:t>
            </a:r>
            <a:r>
              <a:rPr lang="zh-CN" altLang="en-US" sz="2400" dirty="0">
                <a:latin typeface="楷体_GB2312" pitchFamily="49" charset="-122"/>
              </a:rPr>
              <a:t>的</a:t>
            </a:r>
            <a:r>
              <a:rPr lang="zh-CN" altLang="en-US" sz="2400" dirty="0" smtClean="0">
                <a:latin typeface="楷体_GB2312" pitchFamily="49" charset="-122"/>
              </a:rPr>
              <a:t>计算机</a:t>
            </a:r>
            <a:endParaRPr lang="en-US" altLang="zh-CN" sz="2400" dirty="0" smtClean="0">
              <a:latin typeface="楷体_GB2312" pitchFamily="49" charset="-122"/>
            </a:endParaRPr>
          </a:p>
          <a:p>
            <a:pPr>
              <a:lnSpc>
                <a:spcPct val="90000"/>
              </a:lnSpc>
              <a:spcBef>
                <a:spcPct val="20000"/>
              </a:spcBef>
              <a:buClr>
                <a:schemeClr val="tx2"/>
              </a:buClr>
              <a:buSzPct val="70000"/>
            </a:pPr>
            <a:r>
              <a:rPr lang="en-US" altLang="zh-CN" sz="2400" dirty="0">
                <a:latin typeface="楷体_GB2312" pitchFamily="49" charset="-122"/>
              </a:rPr>
              <a:t> </a:t>
            </a:r>
            <a:r>
              <a:rPr lang="en-US" altLang="zh-CN" sz="2400" dirty="0" smtClean="0">
                <a:latin typeface="楷体_GB2312" pitchFamily="49" charset="-122"/>
              </a:rPr>
              <a:t> </a:t>
            </a:r>
            <a:r>
              <a:rPr lang="zh-CN" altLang="en-US" sz="2400" dirty="0" smtClean="0">
                <a:latin typeface="楷体_GB2312" pitchFamily="49" charset="-122"/>
              </a:rPr>
              <a:t>编址</a:t>
            </a:r>
            <a:r>
              <a:rPr lang="zh-CN" altLang="en-US" sz="2400" dirty="0">
                <a:latin typeface="楷体_GB2312" pitchFamily="49" charset="-122"/>
              </a:rPr>
              <a:t>的最小单位是</a:t>
            </a:r>
            <a:r>
              <a:rPr lang="zh-CN" altLang="en-US" sz="2400" dirty="0" smtClean="0">
                <a:latin typeface="楷体_GB2312" pitchFamily="49" charset="-122"/>
              </a:rPr>
              <a:t>字 </a:t>
            </a:r>
            <a:r>
              <a:rPr lang="en-US" altLang="zh-CN" sz="2400" dirty="0" smtClean="0">
                <a:latin typeface="楷体_GB2312" pitchFamily="49" charset="-122"/>
              </a:rPr>
              <a:t>- </a:t>
            </a:r>
            <a:r>
              <a:rPr lang="zh-CN" altLang="en-US" sz="2400" dirty="0" smtClean="0">
                <a:latin typeface="楷体_GB2312" pitchFamily="49" charset="-122"/>
              </a:rPr>
              <a:t>按字编址的计算机</a:t>
            </a:r>
            <a:endParaRPr lang="en-US" altLang="zh-CN" sz="2400" dirty="0" smtClean="0">
              <a:latin typeface="楷体_GB2312" pitchFamily="49" charset="-122"/>
            </a:endParaRPr>
          </a:p>
          <a:p>
            <a:pPr marL="457200" indent="-457200">
              <a:lnSpc>
                <a:spcPct val="90000"/>
              </a:lnSpc>
              <a:spcBef>
                <a:spcPct val="20000"/>
              </a:spcBef>
              <a:buClr>
                <a:schemeClr val="tx2"/>
              </a:buClr>
              <a:buSzPct val="70000"/>
              <a:buFont typeface="Wingdings" panose="05000000000000000000" pitchFamily="2" charset="2"/>
              <a:buChar char="l"/>
            </a:pPr>
            <a:r>
              <a:rPr lang="zh-CN" altLang="en-US" dirty="0">
                <a:latin typeface="楷体_GB2312" pitchFamily="49" charset="-122"/>
              </a:rPr>
              <a:t>端</a:t>
            </a:r>
            <a:r>
              <a:rPr lang="zh-CN" altLang="en-US" dirty="0" smtClean="0">
                <a:latin typeface="楷体_GB2312" pitchFamily="49" charset="-122"/>
              </a:rPr>
              <a:t>模式</a:t>
            </a:r>
            <a:endParaRPr lang="en-US" altLang="zh-CN" dirty="0" smtClean="0">
              <a:latin typeface="楷体_GB2312" pitchFamily="49" charset="-122"/>
            </a:endParaRPr>
          </a:p>
          <a:p>
            <a:pPr>
              <a:lnSpc>
                <a:spcPct val="90000"/>
              </a:lnSpc>
              <a:spcBef>
                <a:spcPct val="20000"/>
              </a:spcBef>
              <a:buClr>
                <a:schemeClr val="tx2"/>
              </a:buClr>
              <a:buSzPct val="70000"/>
            </a:pPr>
            <a:r>
              <a:rPr lang="zh-CN" altLang="en-US" sz="2400" dirty="0" smtClean="0">
                <a:latin typeface="楷体_GB2312" pitchFamily="49" charset="-122"/>
              </a:rPr>
              <a:t>   大端模式</a:t>
            </a:r>
            <a:r>
              <a:rPr lang="en-US" altLang="zh-CN" sz="2400" dirty="0" smtClean="0">
                <a:latin typeface="楷体_GB2312" pitchFamily="49" charset="-122"/>
              </a:rPr>
              <a:t>–</a:t>
            </a:r>
            <a:r>
              <a:rPr lang="zh-CN" altLang="en-US" sz="2400" dirty="0" smtClean="0">
                <a:latin typeface="楷体_GB2312" pitchFamily="49" charset="-122"/>
              </a:rPr>
              <a:t>高位在内存低地址端（高位在前）</a:t>
            </a:r>
            <a:endParaRPr lang="en-US" altLang="zh-CN" sz="2400" dirty="0" smtClean="0">
              <a:latin typeface="楷体_GB2312" pitchFamily="49" charset="-122"/>
            </a:endParaRPr>
          </a:p>
          <a:p>
            <a:pPr>
              <a:lnSpc>
                <a:spcPct val="90000"/>
              </a:lnSpc>
              <a:spcBef>
                <a:spcPct val="20000"/>
              </a:spcBef>
              <a:buClr>
                <a:schemeClr val="tx2"/>
              </a:buClr>
              <a:buSzPct val="70000"/>
            </a:pPr>
            <a:r>
              <a:rPr lang="zh-CN" altLang="en-US" sz="2400" dirty="0" smtClean="0">
                <a:latin typeface="楷体_GB2312" pitchFamily="49" charset="-122"/>
              </a:rPr>
              <a:t>   小端模式</a:t>
            </a:r>
            <a:r>
              <a:rPr lang="en-US" altLang="zh-CN" sz="2400" dirty="0">
                <a:latin typeface="楷体_GB2312" pitchFamily="49" charset="-122"/>
              </a:rPr>
              <a:t>–</a:t>
            </a:r>
            <a:r>
              <a:rPr lang="zh-CN" altLang="en-US" sz="2400" dirty="0">
                <a:latin typeface="楷体_GB2312" pitchFamily="49" charset="-122"/>
              </a:rPr>
              <a:t>高位在</a:t>
            </a:r>
            <a:r>
              <a:rPr lang="zh-CN" altLang="en-US" sz="2400" dirty="0" smtClean="0">
                <a:latin typeface="楷体_GB2312" pitchFamily="49" charset="-122"/>
              </a:rPr>
              <a:t>内存高地址端（低位</a:t>
            </a:r>
            <a:r>
              <a:rPr lang="zh-CN" altLang="en-US" sz="2400" dirty="0">
                <a:latin typeface="楷体_GB2312" pitchFamily="49" charset="-122"/>
              </a:rPr>
              <a:t>在前）</a:t>
            </a:r>
            <a:endParaRPr lang="en-US" altLang="zh-CN" sz="2400" dirty="0">
              <a:latin typeface="楷体_GB2312" pitchFamily="49" charset="-122"/>
            </a:endParaRPr>
          </a:p>
          <a:p>
            <a:pPr>
              <a:lnSpc>
                <a:spcPct val="90000"/>
              </a:lnSpc>
              <a:spcBef>
                <a:spcPct val="20000"/>
              </a:spcBef>
              <a:buClr>
                <a:schemeClr val="tx2"/>
              </a:buClr>
              <a:buSzPct val="70000"/>
            </a:pPr>
            <a:endParaRPr lang="en-US" altLang="zh-CN" sz="2400" dirty="0">
              <a:latin typeface="楷体_GB2312" pitchFamily="49" charset="-122"/>
            </a:endParaRPr>
          </a:p>
          <a:p>
            <a:pPr>
              <a:lnSpc>
                <a:spcPct val="90000"/>
              </a:lnSpc>
              <a:spcBef>
                <a:spcPct val="20000"/>
              </a:spcBef>
              <a:buClr>
                <a:schemeClr val="tx2"/>
              </a:buClr>
              <a:buSzPct val="70000"/>
            </a:pPr>
            <a:endParaRPr lang="zh-CN" altLang="en-US" dirty="0">
              <a:latin typeface="楷体_GB2312" pitchFamily="49" charset="-122"/>
            </a:endParaRPr>
          </a:p>
        </p:txBody>
      </p:sp>
      <p:sp>
        <p:nvSpPr>
          <p:cNvPr id="29700" name="Rectangle 5"/>
          <p:cNvSpPr>
            <a:spLocks noChangeArrowheads="1"/>
          </p:cNvSpPr>
          <p:nvPr/>
        </p:nvSpPr>
        <p:spPr bwMode="auto">
          <a:xfrm>
            <a:off x="250825" y="188913"/>
            <a:ext cx="7543800"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en-US" altLang="zh-CN" sz="4000" b="1" dirty="0">
                <a:solidFill>
                  <a:schemeClr val="tx2"/>
                </a:solidFill>
                <a:latin typeface="楷体_GB2312" pitchFamily="49" charset="-122"/>
                <a:cs typeface="Times New Roman" charset="0"/>
              </a:rPr>
              <a:t>3.1.3 </a:t>
            </a:r>
            <a:r>
              <a:rPr lang="zh-CN" altLang="en-US" sz="4000" b="1" dirty="0" smtClean="0">
                <a:solidFill>
                  <a:schemeClr val="tx2"/>
                </a:solidFill>
                <a:latin typeface="楷体_GB2312" pitchFamily="49" charset="-122"/>
                <a:cs typeface="Times New Roman" charset="0"/>
              </a:rPr>
              <a:t>存储器编制和端模式</a:t>
            </a:r>
            <a:endParaRPr lang="zh-CN" altLang="en-US" sz="4000" b="1" dirty="0">
              <a:solidFill>
                <a:schemeClr val="tx2"/>
              </a:solidFill>
              <a:latin typeface="楷体_GB2312" pitchFamily="49" charset="-122"/>
              <a:cs typeface="Times New Roman"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82DB5281-D18F-4D55-8BA6-4DBB1F60EBE3}" type="slidenum">
              <a:rPr lang="en-US" altLang="zh-CN"/>
              <a:pPr>
                <a:defRPr/>
              </a:pPr>
              <a:t>10</a:t>
            </a:fld>
            <a:endParaRPr lang="en-US" altLang="zh-CN"/>
          </a:p>
        </p:txBody>
      </p:sp>
      <p:sp>
        <p:nvSpPr>
          <p:cNvPr id="30723" name="Rectangle 2"/>
          <p:cNvSpPr>
            <a:spLocks noGrp="1" noChangeArrowheads="1"/>
          </p:cNvSpPr>
          <p:nvPr>
            <p:ph type="title"/>
          </p:nvPr>
        </p:nvSpPr>
        <p:spPr>
          <a:xfrm>
            <a:off x="457200" y="122238"/>
            <a:ext cx="7543800" cy="1036637"/>
          </a:xfrm>
        </p:spPr>
        <p:txBody>
          <a:bodyPr/>
          <a:lstStyle/>
          <a:p>
            <a:pPr eaLnBrk="1" hangingPunct="1"/>
            <a:r>
              <a:rPr lang="en-US" altLang="zh-CN" sz="4000" dirty="0" smtClean="0">
                <a:latin typeface="楷体_GB2312" pitchFamily="49" charset="-122"/>
                <a:ea typeface="楷体_GB2312" pitchFamily="49" charset="-122"/>
                <a:cs typeface="Times New Roman" charset="0"/>
              </a:rPr>
              <a:t>3.1.4 </a:t>
            </a:r>
            <a:r>
              <a:rPr lang="zh-CN" altLang="en-US" sz="4000" dirty="0" smtClean="0">
                <a:latin typeface="楷体_GB2312" pitchFamily="49" charset="-122"/>
                <a:ea typeface="楷体_GB2312" pitchFamily="49" charset="-122"/>
                <a:cs typeface="Times New Roman" charset="0"/>
              </a:rPr>
              <a:t>主存储器的技术指标</a:t>
            </a:r>
          </a:p>
        </p:txBody>
      </p:sp>
      <p:sp>
        <p:nvSpPr>
          <p:cNvPr id="30724" name="Rectangle 3"/>
          <p:cNvSpPr>
            <a:spLocks noGrp="1" noChangeArrowheads="1"/>
          </p:cNvSpPr>
          <p:nvPr>
            <p:ph type="body" idx="1"/>
          </p:nvPr>
        </p:nvSpPr>
        <p:spPr>
          <a:xfrm>
            <a:off x="457200" y="1412875"/>
            <a:ext cx="7427913" cy="4718050"/>
          </a:xfrm>
        </p:spPr>
        <p:txBody>
          <a:bodyPr/>
          <a:lstStyle/>
          <a:p>
            <a:pPr>
              <a:lnSpc>
                <a:spcPct val="90000"/>
              </a:lnSpc>
            </a:pPr>
            <a:r>
              <a:rPr lang="zh-CN" altLang="en-US" sz="2800" dirty="0">
                <a:latin typeface="楷体_GB2312" pitchFamily="49" charset="-122"/>
              </a:rPr>
              <a:t>存储容量：指一个存储器中可以容纳的存储单元总数。存储容量越大，能存储的信息就越多。</a:t>
            </a:r>
          </a:p>
          <a:p>
            <a:pPr>
              <a:lnSpc>
                <a:spcPct val="90000"/>
              </a:lnSpc>
            </a:pPr>
            <a:r>
              <a:rPr lang="zh-CN" altLang="en-US" sz="2800" dirty="0">
                <a:latin typeface="楷体_GB2312" pitchFamily="49" charset="-122"/>
              </a:rPr>
              <a:t>存取时间又称存储器访问时间：指一次读操作命令发出到该操作完成，将数据读出到数据总线上所经历的时间。通常取写操作时间等于读操作时间，故称为存储器存取时间。</a:t>
            </a:r>
          </a:p>
          <a:p>
            <a:pPr eaLnBrk="1" hangingPunct="1">
              <a:lnSpc>
                <a:spcPct val="90000"/>
              </a:lnSpc>
            </a:pPr>
            <a:r>
              <a:rPr lang="zh-CN" altLang="en-US" sz="2800" dirty="0" smtClean="0">
                <a:latin typeface="楷体_GB2312" pitchFamily="49" charset="-122"/>
                <a:ea typeface="楷体_GB2312" pitchFamily="49" charset="-122"/>
              </a:rPr>
              <a:t>存储周期：指连续启动两次读操作所需间隔的最小时间。通常，存储周期略大于存取时间，其时间单位为</a:t>
            </a:r>
            <a:r>
              <a:rPr lang="en-US" altLang="zh-CN" sz="2800" dirty="0" smtClean="0">
                <a:latin typeface="楷体_GB2312" pitchFamily="49" charset="-122"/>
                <a:ea typeface="楷体_GB2312" pitchFamily="49" charset="-122"/>
              </a:rPr>
              <a:t>ns</a:t>
            </a:r>
            <a:r>
              <a:rPr lang="zh-CN" altLang="en-US" sz="2800" dirty="0" smtClean="0">
                <a:latin typeface="楷体_GB2312" pitchFamily="49" charset="-122"/>
                <a:ea typeface="楷体_GB2312" pitchFamily="49" charset="-122"/>
              </a:rPr>
              <a:t>。</a:t>
            </a:r>
          </a:p>
          <a:p>
            <a:pPr eaLnBrk="1" hangingPunct="1">
              <a:lnSpc>
                <a:spcPct val="90000"/>
              </a:lnSpc>
            </a:pPr>
            <a:r>
              <a:rPr lang="zh-CN" altLang="en-US" sz="2800" dirty="0" smtClean="0">
                <a:latin typeface="楷体_GB2312" pitchFamily="49" charset="-122"/>
                <a:ea typeface="楷体_GB2312" pitchFamily="49" charset="-122"/>
              </a:rPr>
              <a:t>存储器带宽：单位时间里存储器所存取的信息量，通常以位</a:t>
            </a:r>
            <a:r>
              <a:rPr lang="en-US" altLang="zh-CN" sz="2800" dirty="0" smtClean="0">
                <a:latin typeface="楷体_GB2312" pitchFamily="49" charset="-122"/>
                <a:ea typeface="楷体_GB2312" pitchFamily="49" charset="-122"/>
              </a:rPr>
              <a:t>/</a:t>
            </a:r>
            <a:r>
              <a:rPr lang="zh-CN" altLang="en-US" sz="2800" dirty="0" smtClean="0">
                <a:latin typeface="楷体_GB2312" pitchFamily="49" charset="-122"/>
                <a:ea typeface="楷体_GB2312" pitchFamily="49" charset="-122"/>
              </a:rPr>
              <a:t>秒或字节</a:t>
            </a:r>
            <a:r>
              <a:rPr lang="en-US" altLang="zh-CN" sz="2800" dirty="0" smtClean="0">
                <a:latin typeface="楷体_GB2312" pitchFamily="49" charset="-122"/>
                <a:ea typeface="楷体_GB2312" pitchFamily="49" charset="-122"/>
              </a:rPr>
              <a:t>/</a:t>
            </a:r>
            <a:r>
              <a:rPr lang="zh-CN" altLang="en-US" sz="2800" dirty="0" smtClean="0">
                <a:latin typeface="楷体_GB2312" pitchFamily="49" charset="-122"/>
                <a:ea typeface="楷体_GB2312" pitchFamily="49" charset="-122"/>
              </a:rPr>
              <a:t>秒做度量单位。</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4D140719-20D6-4079-90BA-CD85AB8647B1}" type="slidenum">
              <a:rPr lang="en-US" altLang="zh-CN"/>
              <a:pPr>
                <a:defRPr/>
              </a:pPr>
              <a:t>11</a:t>
            </a:fld>
            <a:endParaRPr lang="en-US" altLang="zh-CN"/>
          </a:p>
        </p:txBody>
      </p:sp>
      <p:sp>
        <p:nvSpPr>
          <p:cNvPr id="31747" name="Rectangle 2"/>
          <p:cNvSpPr>
            <a:spLocks noGrp="1" noChangeArrowheads="1"/>
          </p:cNvSpPr>
          <p:nvPr>
            <p:ph type="title"/>
          </p:nvPr>
        </p:nvSpPr>
        <p:spPr>
          <a:xfrm>
            <a:off x="323850" y="188913"/>
            <a:ext cx="7543800" cy="1079500"/>
          </a:xfrm>
        </p:spPr>
        <p:txBody>
          <a:bodyPr/>
          <a:lstStyle/>
          <a:p>
            <a:pPr eaLnBrk="1" hangingPunct="1"/>
            <a:r>
              <a:rPr lang="en-US" altLang="zh-CN" sz="4000" smtClean="0">
                <a:latin typeface="楷体_GB2312" pitchFamily="49" charset="-122"/>
                <a:ea typeface="楷体_GB2312" pitchFamily="49" charset="-122"/>
              </a:rPr>
              <a:t>3.2 SRAM</a:t>
            </a:r>
            <a:r>
              <a:rPr lang="zh-CN" altLang="en-US" sz="4000" smtClean="0">
                <a:latin typeface="楷体_GB2312" pitchFamily="49" charset="-122"/>
                <a:ea typeface="楷体_GB2312" pitchFamily="49" charset="-122"/>
              </a:rPr>
              <a:t>存储器</a:t>
            </a:r>
          </a:p>
        </p:txBody>
      </p:sp>
      <p:sp>
        <p:nvSpPr>
          <p:cNvPr id="31748" name="Rectangle 3"/>
          <p:cNvSpPr>
            <a:spLocks noGrp="1" noChangeArrowheads="1"/>
          </p:cNvSpPr>
          <p:nvPr>
            <p:ph type="body" idx="1"/>
          </p:nvPr>
        </p:nvSpPr>
        <p:spPr>
          <a:xfrm>
            <a:off x="323850" y="1341438"/>
            <a:ext cx="7488238" cy="2159000"/>
          </a:xfrm>
        </p:spPr>
        <p:txBody>
          <a:bodyPr/>
          <a:lstStyle/>
          <a:p>
            <a:pPr eaLnBrk="1" hangingPunct="1">
              <a:buFont typeface="Wingdings" pitchFamily="2" charset="2"/>
              <a:buNone/>
            </a:pPr>
            <a:r>
              <a:rPr lang="zh-CN" altLang="en-US" sz="2800" smtClean="0">
                <a:latin typeface="楷体_GB2312" pitchFamily="49" charset="-122"/>
                <a:ea typeface="楷体_GB2312" pitchFamily="49" charset="-122"/>
              </a:rPr>
              <a:t>主存（内部存储器）是半导体存储器。</a:t>
            </a:r>
          </a:p>
          <a:p>
            <a:pPr eaLnBrk="1" hangingPunct="1">
              <a:buFont typeface="Wingdings" pitchFamily="2" charset="2"/>
              <a:buNone/>
            </a:pPr>
            <a:r>
              <a:rPr lang="zh-CN" altLang="en-US" sz="2800" smtClean="0">
                <a:latin typeface="楷体_GB2312" pitchFamily="49" charset="-122"/>
                <a:ea typeface="楷体_GB2312" pitchFamily="49" charset="-122"/>
              </a:rPr>
              <a:t>半导体存储器分为：</a:t>
            </a:r>
          </a:p>
          <a:p>
            <a:pPr eaLnBrk="1" hangingPunct="1">
              <a:buFont typeface="Wingdings" pitchFamily="2" charset="2"/>
              <a:buNone/>
            </a:pPr>
            <a:r>
              <a:rPr lang="zh-CN" altLang="en-US" sz="2800" smtClean="0">
                <a:latin typeface="楷体_GB2312" pitchFamily="49" charset="-122"/>
                <a:ea typeface="楷体_GB2312" pitchFamily="49" charset="-122"/>
              </a:rPr>
              <a:t>    双极型半导体存储器</a:t>
            </a:r>
          </a:p>
          <a:p>
            <a:pPr eaLnBrk="1" hangingPunct="1">
              <a:buFont typeface="Wingdings" pitchFamily="2" charset="2"/>
              <a:buNone/>
            </a:pPr>
            <a:r>
              <a:rPr lang="zh-CN" altLang="en-US" sz="2800" smtClean="0">
                <a:latin typeface="楷体_GB2312" pitchFamily="49" charset="-122"/>
                <a:ea typeface="楷体_GB2312" pitchFamily="49" charset="-122"/>
              </a:rPr>
              <a:t>    </a:t>
            </a:r>
            <a:r>
              <a:rPr lang="en-US" altLang="zh-CN" sz="2800" smtClean="0">
                <a:latin typeface="楷体_GB2312" pitchFamily="49" charset="-122"/>
                <a:ea typeface="楷体_GB2312" pitchFamily="49" charset="-122"/>
              </a:rPr>
              <a:t>MOS</a:t>
            </a:r>
            <a:r>
              <a:rPr lang="zh-CN" altLang="en-US" sz="2800" smtClean="0">
                <a:latin typeface="楷体_GB2312" pitchFamily="49" charset="-122"/>
                <a:ea typeface="楷体_GB2312" pitchFamily="49" charset="-122"/>
              </a:rPr>
              <a:t>型半导体存储器（广泛使用）</a:t>
            </a:r>
          </a:p>
        </p:txBody>
      </p:sp>
      <p:sp>
        <p:nvSpPr>
          <p:cNvPr id="31749" name="Rectangle 4"/>
          <p:cNvSpPr>
            <a:spLocks noChangeArrowheads="1"/>
          </p:cNvSpPr>
          <p:nvPr/>
        </p:nvSpPr>
        <p:spPr bwMode="auto">
          <a:xfrm>
            <a:off x="900113" y="3573463"/>
            <a:ext cx="75596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a:latin typeface="楷体_GB2312" pitchFamily="49" charset="-122"/>
              </a:rPr>
              <a:t>    MOS</a:t>
            </a:r>
            <a:r>
              <a:rPr lang="zh-CN" altLang="en-US">
                <a:latin typeface="楷体_GB2312" pitchFamily="49" charset="-122"/>
              </a:rPr>
              <a:t>型半导体存储器根据信息存储的机理不同可以分为两类：</a:t>
            </a:r>
          </a:p>
          <a:p>
            <a:pPr lvl="1"/>
            <a:r>
              <a:rPr lang="zh-CN" altLang="en-US">
                <a:latin typeface="楷体_GB2312" pitchFamily="49" charset="-122"/>
              </a:rPr>
              <a:t>    静态读写存储器</a:t>
            </a:r>
            <a:r>
              <a:rPr lang="en-US" altLang="zh-CN">
                <a:latin typeface="楷体_GB2312" pitchFamily="49" charset="-122"/>
              </a:rPr>
              <a:t>(SRAM)</a:t>
            </a:r>
            <a:r>
              <a:rPr lang="zh-CN" altLang="en-US">
                <a:latin typeface="楷体_GB2312" pitchFamily="49" charset="-122"/>
              </a:rPr>
              <a:t>：存取速度快</a:t>
            </a:r>
          </a:p>
          <a:p>
            <a:pPr lvl="1"/>
            <a:r>
              <a:rPr lang="zh-CN" altLang="en-US">
                <a:latin typeface="楷体_GB2312" pitchFamily="49" charset="-122"/>
              </a:rPr>
              <a:t>    动态读写存储器</a:t>
            </a:r>
            <a:r>
              <a:rPr lang="en-US" altLang="zh-CN">
                <a:latin typeface="楷体_GB2312" pitchFamily="49" charset="-122"/>
              </a:rPr>
              <a:t>(DRAM)</a:t>
            </a:r>
            <a:r>
              <a:rPr lang="zh-CN" altLang="en-US">
                <a:latin typeface="楷体_GB2312" pitchFamily="49" charset="-122"/>
              </a:rPr>
              <a:t>：存储容量大</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1175CD77-66F6-4A4F-AE5A-FC22AD3FC089}" type="slidenum">
              <a:rPr lang="en-US" altLang="zh-CN"/>
              <a:pPr>
                <a:defRPr/>
              </a:pPr>
              <a:t>12</a:t>
            </a:fld>
            <a:endParaRPr lang="en-US" altLang="zh-CN"/>
          </a:p>
        </p:txBody>
      </p:sp>
      <p:sp>
        <p:nvSpPr>
          <p:cNvPr id="1028" name="Rectangle 2"/>
          <p:cNvSpPr>
            <a:spLocks noGrp="1" noChangeArrowheads="1"/>
          </p:cNvSpPr>
          <p:nvPr>
            <p:ph type="title"/>
          </p:nvPr>
        </p:nvSpPr>
        <p:spPr>
          <a:xfrm>
            <a:off x="468313" y="260350"/>
            <a:ext cx="7543800" cy="936625"/>
          </a:xfrm>
        </p:spPr>
        <p:txBody>
          <a:bodyPr/>
          <a:lstStyle/>
          <a:p>
            <a:pPr eaLnBrk="1" hangingPunct="1"/>
            <a:r>
              <a:rPr lang="en-US" altLang="zh-CN" sz="4000" smtClean="0">
                <a:latin typeface="楷体_GB2312" pitchFamily="49" charset="-122"/>
                <a:ea typeface="楷体_GB2312" pitchFamily="49" charset="-122"/>
              </a:rPr>
              <a:t>3.2 SRAM</a:t>
            </a:r>
            <a:r>
              <a:rPr lang="zh-CN" altLang="en-US" sz="4000" smtClean="0">
                <a:latin typeface="楷体_GB2312" pitchFamily="49" charset="-122"/>
                <a:ea typeface="楷体_GB2312" pitchFamily="49" charset="-122"/>
              </a:rPr>
              <a:t>存储器</a:t>
            </a:r>
          </a:p>
        </p:txBody>
      </p:sp>
      <p:sp>
        <p:nvSpPr>
          <p:cNvPr id="1029" name="Rectangle 3"/>
          <p:cNvSpPr>
            <a:spLocks noGrp="1" noChangeArrowheads="1"/>
          </p:cNvSpPr>
          <p:nvPr>
            <p:ph type="body" idx="1"/>
          </p:nvPr>
        </p:nvSpPr>
        <p:spPr>
          <a:xfrm>
            <a:off x="395288" y="1628775"/>
            <a:ext cx="8229600" cy="4411663"/>
          </a:xfrm>
        </p:spPr>
        <p:txBody>
          <a:bodyPr/>
          <a:lstStyle/>
          <a:p>
            <a:pPr eaLnBrk="1" hangingPunct="1">
              <a:buFont typeface="Wingdings" pitchFamily="2" charset="2"/>
              <a:buNone/>
            </a:pPr>
            <a:r>
              <a:rPr lang="zh-CN" altLang="en-US" sz="2800" smtClean="0">
                <a:latin typeface="楷体_GB2312" pitchFamily="49" charset="-122"/>
                <a:ea typeface="楷体_GB2312" pitchFamily="49" charset="-122"/>
              </a:rPr>
              <a:t>一、基本的静态存储元阵列</a:t>
            </a:r>
          </a:p>
          <a:p>
            <a:pPr eaLnBrk="1" hangingPunct="1">
              <a:buFont typeface="Wingdings" pitchFamily="2" charset="2"/>
              <a:buNone/>
            </a:pPr>
            <a:r>
              <a:rPr lang="en-US" altLang="zh-CN" sz="2800" smtClean="0">
                <a:latin typeface="楷体_GB2312" pitchFamily="49" charset="-122"/>
                <a:ea typeface="楷体_GB2312" pitchFamily="49" charset="-122"/>
              </a:rPr>
              <a:t>1</a:t>
            </a:r>
            <a:r>
              <a:rPr lang="zh-CN" altLang="en-US" sz="2800" smtClean="0">
                <a:latin typeface="楷体_GB2312" pitchFamily="49" charset="-122"/>
                <a:ea typeface="楷体_GB2312" pitchFamily="49" charset="-122"/>
              </a:rPr>
              <a:t>、存储位元</a:t>
            </a:r>
          </a:p>
          <a:p>
            <a:pPr eaLnBrk="1" hangingPunct="1">
              <a:buFont typeface="Wingdings" pitchFamily="2" charset="2"/>
              <a:buNone/>
            </a:pPr>
            <a:r>
              <a:rPr lang="en-US" altLang="zh-CN" sz="2800" smtClean="0">
                <a:latin typeface="楷体_GB2312" pitchFamily="49" charset="-122"/>
                <a:ea typeface="楷体_GB2312" pitchFamily="49" charset="-122"/>
              </a:rPr>
              <a:t>2</a:t>
            </a:r>
            <a:r>
              <a:rPr lang="zh-CN" altLang="en-US" sz="2800" smtClean="0">
                <a:latin typeface="楷体_GB2312" pitchFamily="49" charset="-122"/>
                <a:ea typeface="楷体_GB2312" pitchFamily="49" charset="-122"/>
              </a:rPr>
              <a:t>、三组信号线</a:t>
            </a:r>
          </a:p>
          <a:p>
            <a:pPr lvl="1" eaLnBrk="1" hangingPunct="1"/>
            <a:r>
              <a:rPr lang="zh-CN" altLang="en-US" sz="2800" smtClean="0">
                <a:latin typeface="楷体_GB2312" pitchFamily="49" charset="-122"/>
                <a:ea typeface="楷体_GB2312" pitchFamily="49" charset="-122"/>
              </a:rPr>
              <a:t>地址线</a:t>
            </a:r>
          </a:p>
          <a:p>
            <a:pPr lvl="1" eaLnBrk="1" hangingPunct="1"/>
            <a:r>
              <a:rPr lang="zh-CN" altLang="en-US" sz="2800" smtClean="0">
                <a:latin typeface="楷体_GB2312" pitchFamily="49" charset="-122"/>
                <a:ea typeface="楷体_GB2312" pitchFamily="49" charset="-122"/>
              </a:rPr>
              <a:t>数据线</a:t>
            </a:r>
          </a:p>
          <a:p>
            <a:pPr lvl="1" eaLnBrk="1" hangingPunct="1"/>
            <a:r>
              <a:rPr lang="zh-CN" altLang="en-US" sz="2800" smtClean="0">
                <a:latin typeface="楷体_GB2312" pitchFamily="49" charset="-122"/>
                <a:ea typeface="楷体_GB2312" pitchFamily="49" charset="-122"/>
              </a:rPr>
              <a:t>控制线</a:t>
            </a:r>
          </a:p>
          <a:p>
            <a:pPr lvl="1" eaLnBrk="1" hangingPunct="1"/>
            <a:r>
              <a:rPr lang="zh-CN" altLang="en-US" sz="2800" smtClean="0">
                <a:latin typeface="楷体_GB2312" pitchFamily="49" charset="-122"/>
                <a:ea typeface="楷体_GB2312" pitchFamily="49" charset="-122"/>
              </a:rPr>
              <a:t>译码</a:t>
            </a:r>
          </a:p>
        </p:txBody>
      </p:sp>
      <p:graphicFrame>
        <p:nvGraphicFramePr>
          <p:cNvPr id="1026" name="Object 0">
            <a:hlinkClick r:id="rId3"/>
          </p:cNvPr>
          <p:cNvGraphicFramePr>
            <a:graphicFrameLocks noChangeAspect="1"/>
          </p:cNvGraphicFramePr>
          <p:nvPr/>
        </p:nvGraphicFramePr>
        <p:xfrm>
          <a:off x="3048000" y="2209800"/>
          <a:ext cx="4543425" cy="3752850"/>
        </p:xfrm>
        <a:graphic>
          <a:graphicData uri="http://schemas.openxmlformats.org/presentationml/2006/ole">
            <mc:AlternateContent xmlns:mc="http://schemas.openxmlformats.org/markup-compatibility/2006">
              <mc:Choice xmlns:v="urn:schemas-microsoft-com:vml" Requires="v">
                <p:oleObj spid="_x0000_s1157" name="位图图像" r:id="rId4" imgW="0" imgH="0" progId="PBrush">
                  <p:embed/>
                </p:oleObj>
              </mc:Choice>
              <mc:Fallback>
                <p:oleObj name="位图图像" r:id="rId4" imgW="0" imgH="0" progId="PBrush">
                  <p:embed/>
                  <p:pic>
                    <p:nvPicPr>
                      <p:cNvPr id="0" name="Picture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2209800"/>
                        <a:ext cx="4543425" cy="375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3" name="AutoShape 5"/>
          <p:cNvSpPr>
            <a:spLocks noChangeArrowheads="1"/>
          </p:cNvSpPr>
          <p:nvPr/>
        </p:nvSpPr>
        <p:spPr bwMode="auto">
          <a:xfrm>
            <a:off x="533400" y="152400"/>
            <a:ext cx="8458200" cy="1219200"/>
          </a:xfrm>
          <a:prstGeom prst="wedgeRoundRectCallout">
            <a:avLst>
              <a:gd name="adj1" fmla="val 15861"/>
              <a:gd name="adj2" fmla="val 102866"/>
              <a:gd name="adj3" fmla="val 16667"/>
            </a:avLst>
          </a:prstGeom>
          <a:solidFill>
            <a:srgbClr val="04FCF6"/>
          </a:solidFill>
          <a:ln w="12700" cap="sq">
            <a:solidFill>
              <a:schemeClr val="tx1"/>
            </a:solidFill>
            <a:miter lim="800000"/>
            <a:headEnd type="none" w="sm" len="sm"/>
            <a:tailEnd type="none" w="sm" len="sm"/>
          </a:ln>
        </p:spPr>
        <p:txBody>
          <a:bodyPr/>
          <a:lstStyle/>
          <a:p>
            <a:r>
              <a:rPr lang="zh-CN" altLang="en-US" sz="2400">
                <a:latin typeface="楷体_GB2312" pitchFamily="49" charset="-122"/>
              </a:rPr>
              <a:t>单译码结构：只有一个地址译码器，适用于小容量存储器。</a:t>
            </a:r>
          </a:p>
          <a:p>
            <a:r>
              <a:rPr lang="zh-CN" altLang="en-US" sz="2400">
                <a:latin typeface="楷体_GB2312" pitchFamily="49" charset="-122"/>
              </a:rPr>
              <a:t>    实际存储器通常采用双译码结构，有 </a:t>
            </a:r>
            <a:r>
              <a:rPr lang="en-US" altLang="zh-CN" sz="2400">
                <a:latin typeface="楷体_GB2312" pitchFamily="49" charset="-122"/>
              </a:rPr>
              <a:t>X</a:t>
            </a:r>
            <a:r>
              <a:rPr lang="zh-CN" altLang="en-US" sz="2400">
                <a:latin typeface="楷体_GB2312" pitchFamily="49" charset="-122"/>
              </a:rPr>
              <a:t>向和</a:t>
            </a:r>
            <a:r>
              <a:rPr lang="en-US" altLang="zh-CN" sz="2400">
                <a:latin typeface="楷体_GB2312" pitchFamily="49" charset="-122"/>
              </a:rPr>
              <a:t>Y</a:t>
            </a:r>
            <a:r>
              <a:rPr lang="zh-CN" altLang="en-US" sz="2400">
                <a:latin typeface="楷体_GB2312" pitchFamily="49" charset="-122"/>
              </a:rPr>
              <a:t>向两个译码器，适用于大容量存储器。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3"/>
                                        </p:tgtEl>
                                        <p:attrNameLst>
                                          <p:attrName>style.visibility</p:attrName>
                                        </p:attrNameLst>
                                      </p:cBhvr>
                                      <p:to>
                                        <p:strVal val="visible"/>
                                      </p:to>
                                    </p:set>
                                    <p:animEffect transition="in" filter="blinds(horizontal)">
                                      <p:cBhvr>
                                        <p:cTn id="7" dur="500"/>
                                        <p:tgtEl>
                                          <p:spTgt spid="12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95CFC08C-3DBF-44B2-9513-1A37CD2D62C5}" type="slidenum">
              <a:rPr lang="en-US" altLang="zh-CN"/>
              <a:pPr>
                <a:defRPr/>
              </a:pPr>
              <a:t>13</a:t>
            </a:fld>
            <a:endParaRPr lang="en-US" altLang="zh-CN"/>
          </a:p>
        </p:txBody>
      </p:sp>
      <p:sp>
        <p:nvSpPr>
          <p:cNvPr id="32771" name="Rectangle 2"/>
          <p:cNvSpPr>
            <a:spLocks noGrp="1" noChangeArrowheads="1"/>
          </p:cNvSpPr>
          <p:nvPr>
            <p:ph type="title"/>
          </p:nvPr>
        </p:nvSpPr>
        <p:spPr>
          <a:xfrm>
            <a:off x="395288" y="188913"/>
            <a:ext cx="7543800" cy="569912"/>
          </a:xfrm>
        </p:spPr>
        <p:txBody>
          <a:bodyPr/>
          <a:lstStyle/>
          <a:p>
            <a:pPr eaLnBrk="1" hangingPunct="1"/>
            <a:r>
              <a:rPr lang="en-US" altLang="zh-CN" sz="3600" smtClean="0">
                <a:latin typeface="楷体_GB2312" pitchFamily="49" charset="-122"/>
                <a:ea typeface="楷体_GB2312" pitchFamily="49" charset="-122"/>
              </a:rPr>
              <a:t>3.2 SRAM</a:t>
            </a:r>
            <a:r>
              <a:rPr lang="zh-CN" altLang="en-US" sz="3600" smtClean="0">
                <a:latin typeface="楷体_GB2312" pitchFamily="49" charset="-122"/>
                <a:ea typeface="楷体_GB2312" pitchFamily="49" charset="-122"/>
              </a:rPr>
              <a:t>存储器</a:t>
            </a:r>
          </a:p>
        </p:txBody>
      </p:sp>
      <p:sp>
        <p:nvSpPr>
          <p:cNvPr id="32772" name="Rectangle 3"/>
          <p:cNvSpPr>
            <a:spLocks noGrp="1" noChangeArrowheads="1"/>
          </p:cNvSpPr>
          <p:nvPr>
            <p:ph type="body" idx="1"/>
          </p:nvPr>
        </p:nvSpPr>
        <p:spPr>
          <a:xfrm>
            <a:off x="250825" y="836613"/>
            <a:ext cx="7561263" cy="1439862"/>
          </a:xfrm>
        </p:spPr>
        <p:txBody>
          <a:bodyPr/>
          <a:lstStyle/>
          <a:p>
            <a:pPr eaLnBrk="1" hangingPunct="1">
              <a:lnSpc>
                <a:spcPct val="90000"/>
              </a:lnSpc>
              <a:buFont typeface="Wingdings" pitchFamily="2" charset="2"/>
              <a:buNone/>
            </a:pPr>
            <a:r>
              <a:rPr lang="zh-CN" altLang="en-US" sz="2800" smtClean="0">
                <a:latin typeface="楷体_GB2312" pitchFamily="49" charset="-122"/>
                <a:ea typeface="楷体_GB2312" pitchFamily="49" charset="-122"/>
              </a:rPr>
              <a:t>二、基本的</a:t>
            </a:r>
            <a:r>
              <a:rPr lang="en-US" altLang="zh-CN" sz="2800" smtClean="0">
                <a:latin typeface="楷体_GB2312" pitchFamily="49" charset="-122"/>
                <a:ea typeface="楷体_GB2312" pitchFamily="49" charset="-122"/>
              </a:rPr>
              <a:t>SRAM</a:t>
            </a:r>
            <a:r>
              <a:rPr lang="zh-CN" altLang="en-US" sz="2800" smtClean="0">
                <a:latin typeface="楷体_GB2312" pitchFamily="49" charset="-122"/>
                <a:ea typeface="楷体_GB2312" pitchFamily="49" charset="-122"/>
              </a:rPr>
              <a:t>逻辑结构</a:t>
            </a:r>
          </a:p>
          <a:p>
            <a:pPr eaLnBrk="1" hangingPunct="1">
              <a:lnSpc>
                <a:spcPct val="90000"/>
              </a:lnSpc>
            </a:pPr>
            <a:r>
              <a:rPr lang="en-US" altLang="zh-CN" sz="2800" smtClean="0">
                <a:latin typeface="楷体_GB2312" pitchFamily="49" charset="-122"/>
                <a:ea typeface="楷体_GB2312" pitchFamily="49" charset="-122"/>
              </a:rPr>
              <a:t>SRAM</a:t>
            </a:r>
            <a:r>
              <a:rPr lang="zh-CN" altLang="en-US" sz="2800" smtClean="0">
                <a:latin typeface="楷体_GB2312" pitchFamily="49" charset="-122"/>
                <a:ea typeface="楷体_GB2312" pitchFamily="49" charset="-122"/>
              </a:rPr>
              <a:t>芯大多采用双译码方式，以便组织更大的存储容量。</a:t>
            </a:r>
          </a:p>
        </p:txBody>
      </p:sp>
      <p:pic>
        <p:nvPicPr>
          <p:cNvPr id="32773" name="Picture 4" descr="3A3">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209800"/>
            <a:ext cx="7315200" cy="436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6F78E82E-D04B-4DA5-B604-1C8DEBF1702E}" type="slidenum">
              <a:rPr lang="en-US" altLang="zh-CN"/>
              <a:pPr>
                <a:defRPr/>
              </a:pPr>
              <a:t>14</a:t>
            </a:fld>
            <a:endParaRPr lang="en-US" altLang="zh-CN"/>
          </a:p>
        </p:txBody>
      </p:sp>
      <p:sp>
        <p:nvSpPr>
          <p:cNvPr id="34819" name="Rectangle 2"/>
          <p:cNvSpPr>
            <a:spLocks noGrp="1" noChangeArrowheads="1"/>
          </p:cNvSpPr>
          <p:nvPr>
            <p:ph type="title"/>
          </p:nvPr>
        </p:nvSpPr>
        <p:spPr>
          <a:xfrm>
            <a:off x="323850" y="188913"/>
            <a:ext cx="7543800" cy="652462"/>
          </a:xfrm>
        </p:spPr>
        <p:txBody>
          <a:bodyPr/>
          <a:lstStyle/>
          <a:p>
            <a:pPr eaLnBrk="1" hangingPunct="1"/>
            <a:r>
              <a:rPr lang="en-US" altLang="zh-CN" sz="4000" smtClean="0">
                <a:latin typeface="楷体_GB2312" pitchFamily="49" charset="-122"/>
                <a:ea typeface="楷体_GB2312" pitchFamily="49" charset="-122"/>
              </a:rPr>
              <a:t>3.2 SRAM</a:t>
            </a:r>
            <a:r>
              <a:rPr lang="zh-CN" altLang="en-US" sz="4000" smtClean="0">
                <a:latin typeface="楷体_GB2312" pitchFamily="49" charset="-122"/>
                <a:ea typeface="楷体_GB2312" pitchFamily="49" charset="-122"/>
              </a:rPr>
              <a:t>存储器</a:t>
            </a:r>
          </a:p>
        </p:txBody>
      </p:sp>
      <p:sp>
        <p:nvSpPr>
          <p:cNvPr id="34820" name="Rectangle 3"/>
          <p:cNvSpPr>
            <a:spLocks noGrp="1" noChangeArrowheads="1"/>
          </p:cNvSpPr>
          <p:nvPr>
            <p:ph type="body" idx="1"/>
          </p:nvPr>
        </p:nvSpPr>
        <p:spPr>
          <a:xfrm>
            <a:off x="323850" y="1125538"/>
            <a:ext cx="2447925" cy="5113337"/>
          </a:xfrm>
        </p:spPr>
        <p:txBody>
          <a:bodyPr/>
          <a:lstStyle/>
          <a:p>
            <a:pPr eaLnBrk="1" hangingPunct="1">
              <a:lnSpc>
                <a:spcPct val="80000"/>
              </a:lnSpc>
              <a:buFont typeface="Wingdings" pitchFamily="2" charset="2"/>
              <a:buNone/>
            </a:pPr>
            <a:r>
              <a:rPr lang="zh-CN" altLang="en-US" sz="2400" smtClean="0">
                <a:latin typeface="楷体_GB2312" pitchFamily="49" charset="-122"/>
                <a:ea typeface="楷体_GB2312" pitchFamily="49" charset="-122"/>
              </a:rPr>
              <a:t>三、存储器的</a:t>
            </a:r>
          </a:p>
          <a:p>
            <a:pPr eaLnBrk="1" hangingPunct="1">
              <a:lnSpc>
                <a:spcPct val="80000"/>
              </a:lnSpc>
              <a:buFont typeface="Wingdings" pitchFamily="2" charset="2"/>
              <a:buNone/>
            </a:pPr>
            <a:r>
              <a:rPr lang="zh-CN" altLang="en-US" sz="2400" smtClean="0">
                <a:latin typeface="楷体_GB2312" pitchFamily="49" charset="-122"/>
                <a:ea typeface="楷体_GB2312" pitchFamily="49" charset="-122"/>
              </a:rPr>
              <a:t>    读写周期</a:t>
            </a:r>
          </a:p>
          <a:p>
            <a:pPr eaLnBrk="1" hangingPunct="1">
              <a:lnSpc>
                <a:spcPct val="80000"/>
              </a:lnSpc>
            </a:pPr>
            <a:r>
              <a:rPr lang="zh-CN" altLang="en-US" sz="2400" smtClean="0">
                <a:latin typeface="楷体_GB2312" pitchFamily="49" charset="-122"/>
                <a:ea typeface="楷体_GB2312" pitchFamily="49" charset="-122"/>
              </a:rPr>
              <a:t>读周期</a:t>
            </a:r>
          </a:p>
          <a:p>
            <a:pPr eaLnBrk="1" hangingPunct="1">
              <a:lnSpc>
                <a:spcPct val="80000"/>
              </a:lnSpc>
              <a:buFont typeface="Wingdings" pitchFamily="2" charset="2"/>
              <a:buNone/>
            </a:pPr>
            <a:r>
              <a:rPr lang="zh-CN" altLang="en-US" sz="2400" smtClean="0">
                <a:latin typeface="楷体_GB2312" pitchFamily="49" charset="-122"/>
                <a:ea typeface="楷体_GB2312" pitchFamily="49" charset="-122"/>
              </a:rPr>
              <a:t>  读出时间</a:t>
            </a:r>
            <a:r>
              <a:rPr lang="en-US" altLang="zh-CN" sz="2400" smtClean="0">
                <a:latin typeface="楷体_GB2312" pitchFamily="49" charset="-122"/>
                <a:ea typeface="楷体_GB2312" pitchFamily="49" charset="-122"/>
              </a:rPr>
              <a:t>Taq</a:t>
            </a:r>
          </a:p>
          <a:p>
            <a:pPr eaLnBrk="1" hangingPunct="1">
              <a:lnSpc>
                <a:spcPct val="80000"/>
              </a:lnSpc>
              <a:buFont typeface="Wingdings" pitchFamily="2" charset="2"/>
              <a:buNone/>
            </a:pPr>
            <a:r>
              <a:rPr lang="en-US" altLang="zh-CN" sz="2400" smtClean="0">
                <a:latin typeface="楷体_GB2312" pitchFamily="49" charset="-122"/>
                <a:ea typeface="楷体_GB2312" pitchFamily="49" charset="-122"/>
              </a:rPr>
              <a:t>  </a:t>
            </a:r>
            <a:r>
              <a:rPr lang="zh-CN" altLang="en-US" sz="2400" smtClean="0">
                <a:latin typeface="楷体_GB2312" pitchFamily="49" charset="-122"/>
                <a:ea typeface="楷体_GB2312" pitchFamily="49" charset="-122"/>
              </a:rPr>
              <a:t>读周期时间</a:t>
            </a:r>
            <a:r>
              <a:rPr lang="en-US" altLang="zh-CN" sz="2400" smtClean="0">
                <a:latin typeface="楷体_GB2312" pitchFamily="49" charset="-122"/>
                <a:ea typeface="楷体_GB2312" pitchFamily="49" charset="-122"/>
              </a:rPr>
              <a:t>Trc</a:t>
            </a:r>
          </a:p>
          <a:p>
            <a:pPr eaLnBrk="1" hangingPunct="1">
              <a:lnSpc>
                <a:spcPct val="80000"/>
              </a:lnSpc>
            </a:pPr>
            <a:r>
              <a:rPr lang="zh-CN" altLang="en-US" sz="2400" smtClean="0">
                <a:latin typeface="楷体_GB2312" pitchFamily="49" charset="-122"/>
                <a:ea typeface="楷体_GB2312" pitchFamily="49" charset="-122"/>
              </a:rPr>
              <a:t>写周期</a:t>
            </a:r>
          </a:p>
          <a:p>
            <a:pPr eaLnBrk="1" hangingPunct="1">
              <a:lnSpc>
                <a:spcPct val="80000"/>
              </a:lnSpc>
              <a:buFont typeface="Wingdings" pitchFamily="2" charset="2"/>
              <a:buNone/>
            </a:pPr>
            <a:r>
              <a:rPr lang="zh-CN" altLang="en-US" sz="2400" smtClean="0">
                <a:latin typeface="楷体_GB2312" pitchFamily="49" charset="-122"/>
                <a:ea typeface="楷体_GB2312" pitchFamily="49" charset="-122"/>
              </a:rPr>
              <a:t>  写时间</a:t>
            </a:r>
            <a:r>
              <a:rPr lang="en-US" altLang="zh-CN" sz="2400" smtClean="0">
                <a:latin typeface="楷体_GB2312" pitchFamily="49" charset="-122"/>
                <a:ea typeface="楷体_GB2312" pitchFamily="49" charset="-122"/>
              </a:rPr>
              <a:t>twd</a:t>
            </a:r>
          </a:p>
          <a:p>
            <a:pPr eaLnBrk="1" hangingPunct="1">
              <a:lnSpc>
                <a:spcPct val="80000"/>
              </a:lnSpc>
              <a:buFont typeface="Wingdings" pitchFamily="2" charset="2"/>
              <a:buNone/>
            </a:pPr>
            <a:r>
              <a:rPr lang="en-US" altLang="zh-CN" sz="2400" smtClean="0">
                <a:latin typeface="楷体_GB2312" pitchFamily="49" charset="-122"/>
                <a:ea typeface="楷体_GB2312" pitchFamily="49" charset="-122"/>
              </a:rPr>
              <a:t>  </a:t>
            </a:r>
            <a:r>
              <a:rPr lang="zh-CN" altLang="en-US" sz="2400" smtClean="0">
                <a:latin typeface="楷体_GB2312" pitchFamily="49" charset="-122"/>
                <a:ea typeface="楷体_GB2312" pitchFamily="49" charset="-122"/>
              </a:rPr>
              <a:t>写周期时间</a:t>
            </a:r>
            <a:r>
              <a:rPr lang="en-US" altLang="zh-CN" sz="2400" smtClean="0">
                <a:latin typeface="楷体_GB2312" pitchFamily="49" charset="-122"/>
                <a:ea typeface="楷体_GB2312" pitchFamily="49" charset="-122"/>
              </a:rPr>
              <a:t>Twc</a:t>
            </a:r>
          </a:p>
          <a:p>
            <a:pPr eaLnBrk="1" hangingPunct="1">
              <a:lnSpc>
                <a:spcPct val="80000"/>
              </a:lnSpc>
            </a:pPr>
            <a:r>
              <a:rPr lang="zh-CN" altLang="en-US" sz="2400" smtClean="0">
                <a:latin typeface="楷体_GB2312" pitchFamily="49" charset="-122"/>
                <a:ea typeface="楷体_GB2312" pitchFamily="49" charset="-122"/>
              </a:rPr>
              <a:t>存取周期</a:t>
            </a:r>
          </a:p>
          <a:p>
            <a:pPr eaLnBrk="1" hangingPunct="1">
              <a:lnSpc>
                <a:spcPct val="80000"/>
              </a:lnSpc>
              <a:buFont typeface="Wingdings" pitchFamily="2" charset="2"/>
              <a:buNone/>
            </a:pPr>
            <a:r>
              <a:rPr lang="zh-CN" altLang="en-US" sz="2400" smtClean="0">
                <a:latin typeface="楷体_GB2312" pitchFamily="49" charset="-122"/>
                <a:ea typeface="楷体_GB2312" pitchFamily="49" charset="-122"/>
              </a:rPr>
              <a:t> 读周期时间</a:t>
            </a:r>
            <a:r>
              <a:rPr lang="en-US" altLang="zh-CN" sz="2400" smtClean="0">
                <a:latin typeface="楷体_GB2312" pitchFamily="49" charset="-122"/>
                <a:ea typeface="楷体_GB2312" pitchFamily="49" charset="-122"/>
              </a:rPr>
              <a:t>Trc</a:t>
            </a:r>
          </a:p>
          <a:p>
            <a:pPr eaLnBrk="1" hangingPunct="1">
              <a:lnSpc>
                <a:spcPct val="80000"/>
              </a:lnSpc>
              <a:buFont typeface="Wingdings" pitchFamily="2" charset="2"/>
              <a:buNone/>
            </a:pPr>
            <a:r>
              <a:rPr lang="en-US" altLang="zh-CN" sz="2400" smtClean="0">
                <a:latin typeface="楷体_GB2312" pitchFamily="49" charset="-122"/>
                <a:ea typeface="楷体_GB2312" pitchFamily="49" charset="-122"/>
              </a:rPr>
              <a:t>       =</a:t>
            </a:r>
          </a:p>
          <a:p>
            <a:pPr eaLnBrk="1" hangingPunct="1">
              <a:lnSpc>
                <a:spcPct val="80000"/>
              </a:lnSpc>
              <a:buFont typeface="Wingdings" pitchFamily="2" charset="2"/>
              <a:buNone/>
            </a:pPr>
            <a:r>
              <a:rPr lang="en-US" altLang="zh-CN" sz="2400" smtClean="0">
                <a:latin typeface="楷体_GB2312" pitchFamily="49" charset="-122"/>
                <a:ea typeface="楷体_GB2312" pitchFamily="49" charset="-122"/>
              </a:rPr>
              <a:t> </a:t>
            </a:r>
            <a:r>
              <a:rPr lang="zh-CN" altLang="en-US" sz="2400" smtClean="0">
                <a:latin typeface="楷体_GB2312" pitchFamily="49" charset="-122"/>
                <a:ea typeface="楷体_GB2312" pitchFamily="49" charset="-122"/>
              </a:rPr>
              <a:t>写周期时间</a:t>
            </a:r>
            <a:r>
              <a:rPr lang="en-US" altLang="zh-CN" sz="2400" smtClean="0">
                <a:latin typeface="楷体_GB2312" pitchFamily="49" charset="-122"/>
                <a:ea typeface="楷体_GB2312" pitchFamily="49" charset="-122"/>
              </a:rPr>
              <a:t>Twc</a:t>
            </a:r>
          </a:p>
        </p:txBody>
      </p:sp>
      <p:pic>
        <p:nvPicPr>
          <p:cNvPr id="34821" name="Picture 4" descr="3a4">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0338" y="1052513"/>
            <a:ext cx="5799137"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4FAA145A-09A7-4C46-B0B7-B553430F161E}" type="slidenum">
              <a:rPr lang="en-US" altLang="zh-CN"/>
              <a:pPr>
                <a:defRPr/>
              </a:pPr>
              <a:t>15</a:t>
            </a:fld>
            <a:endParaRPr lang="en-US" altLang="zh-CN"/>
          </a:p>
        </p:txBody>
      </p:sp>
      <p:sp>
        <p:nvSpPr>
          <p:cNvPr id="44035" name="Rectangle 3"/>
          <p:cNvSpPr>
            <a:spLocks noGrp="1" noChangeArrowheads="1"/>
          </p:cNvSpPr>
          <p:nvPr>
            <p:ph type="body" idx="1"/>
          </p:nvPr>
        </p:nvSpPr>
        <p:spPr>
          <a:xfrm>
            <a:off x="609600" y="990600"/>
            <a:ext cx="7085013" cy="3467100"/>
          </a:xfrm>
        </p:spPr>
        <p:txBody>
          <a:bodyPr/>
          <a:lstStyle/>
          <a:p>
            <a:pPr eaLnBrk="1" hangingPunct="1">
              <a:buFont typeface="Wingdings" pitchFamily="2" charset="2"/>
              <a:buNone/>
            </a:pPr>
            <a:r>
              <a:rPr lang="zh-CN" altLang="en-US" sz="3200" dirty="0" smtClean="0">
                <a:latin typeface="楷体_GB2312" pitchFamily="49" charset="-122"/>
                <a:ea typeface="楷体_GB2312" pitchFamily="49" charset="-122"/>
              </a:rPr>
              <a:t>四、存储器容量的扩充 </a:t>
            </a:r>
          </a:p>
          <a:p>
            <a:pPr eaLnBrk="1" hangingPunct="1">
              <a:buFont typeface="Wingdings" pitchFamily="2" charset="2"/>
              <a:buNone/>
            </a:pPr>
            <a:r>
              <a:rPr kumimoji="1" lang="zh-CN" altLang="en-US" sz="3200" dirty="0" smtClean="0">
                <a:latin typeface="楷体_GB2312" pitchFamily="49" charset="-122"/>
                <a:ea typeface="楷体_GB2312" pitchFamily="49" charset="-122"/>
              </a:rPr>
              <a:t>  </a:t>
            </a:r>
            <a:r>
              <a:rPr kumimoji="1" lang="en-US" altLang="zh-CN" sz="3200" dirty="0" smtClean="0">
                <a:latin typeface="楷体_GB2312" pitchFamily="49" charset="-122"/>
                <a:ea typeface="楷体_GB2312" pitchFamily="49" charset="-122"/>
              </a:rPr>
              <a:t>1</a:t>
            </a:r>
            <a:r>
              <a:rPr kumimoji="1" lang="zh-CN" altLang="en-US" sz="3200" dirty="0" smtClean="0">
                <a:latin typeface="楷体_GB2312" pitchFamily="49" charset="-122"/>
                <a:ea typeface="楷体_GB2312" pitchFamily="49" charset="-122"/>
              </a:rPr>
              <a:t>、字长位数扩展</a:t>
            </a:r>
          </a:p>
          <a:p>
            <a:pPr eaLnBrk="1" hangingPunct="1">
              <a:buFont typeface="Wingdings" pitchFamily="2" charset="2"/>
              <a:buNone/>
            </a:pPr>
            <a:r>
              <a:rPr kumimoji="1" lang="zh-CN" altLang="en-US" sz="3200" dirty="0" smtClean="0">
                <a:latin typeface="楷体_GB2312" pitchFamily="49" charset="-122"/>
                <a:ea typeface="楷体_GB2312" pitchFamily="49" charset="-122"/>
              </a:rPr>
              <a:t>  </a:t>
            </a:r>
            <a:r>
              <a:rPr kumimoji="1" lang="en-US" altLang="zh-CN" sz="3200" dirty="0" smtClean="0">
                <a:latin typeface="楷体_GB2312" pitchFamily="49" charset="-122"/>
                <a:ea typeface="楷体_GB2312" pitchFamily="49" charset="-122"/>
              </a:rPr>
              <a:t>2</a:t>
            </a:r>
            <a:r>
              <a:rPr kumimoji="1" lang="zh-CN" altLang="en-US" sz="3200" dirty="0" smtClean="0">
                <a:latin typeface="楷体_GB2312" pitchFamily="49" charset="-122"/>
                <a:ea typeface="楷体_GB2312" pitchFamily="49" charset="-122"/>
              </a:rPr>
              <a:t>、</a:t>
            </a:r>
            <a:r>
              <a:rPr lang="zh-CN" altLang="en-US" sz="3200" dirty="0" smtClean="0">
                <a:latin typeface="楷体_GB2312" pitchFamily="49" charset="-122"/>
                <a:ea typeface="楷体_GB2312" pitchFamily="49" charset="-122"/>
              </a:rPr>
              <a:t>字存储容量扩展 </a:t>
            </a:r>
            <a:endParaRPr kumimoji="1" lang="zh-CN" altLang="en-US" sz="3200" dirty="0" smtClean="0">
              <a:latin typeface="楷体_GB2312" pitchFamily="49" charset="-122"/>
              <a:ea typeface="楷体_GB2312" pitchFamily="49" charset="-122"/>
            </a:endParaRPr>
          </a:p>
          <a:p>
            <a:pPr eaLnBrk="1" hangingPunct="1">
              <a:buFont typeface="Wingdings" pitchFamily="2" charset="2"/>
              <a:buNone/>
            </a:pPr>
            <a:r>
              <a:rPr kumimoji="1" lang="zh-CN" altLang="en-US" sz="3200" dirty="0" smtClean="0">
                <a:latin typeface="楷体_GB2312" pitchFamily="49" charset="-122"/>
                <a:ea typeface="楷体_GB2312" pitchFamily="49" charset="-122"/>
              </a:rPr>
              <a:t>	</a:t>
            </a:r>
            <a:r>
              <a:rPr kumimoji="1" lang="en-US" altLang="zh-CN" sz="3200" dirty="0" smtClean="0">
                <a:latin typeface="楷体_GB2312" pitchFamily="49" charset="-122"/>
                <a:ea typeface="楷体_GB2312" pitchFamily="49" charset="-122"/>
              </a:rPr>
              <a:t>3</a:t>
            </a:r>
            <a:r>
              <a:rPr kumimoji="1" lang="zh-CN" altLang="en-US" sz="3200" dirty="0" smtClean="0">
                <a:latin typeface="楷体_GB2312" pitchFamily="49" charset="-122"/>
                <a:ea typeface="楷体_GB2312" pitchFamily="49" charset="-122"/>
              </a:rPr>
              <a:t>、字长位数和</a:t>
            </a:r>
            <a:r>
              <a:rPr lang="zh-CN" altLang="en-US" sz="3200" dirty="0" smtClean="0">
                <a:latin typeface="楷体_GB2312" pitchFamily="49" charset="-122"/>
                <a:ea typeface="楷体_GB2312" pitchFamily="49" charset="-122"/>
              </a:rPr>
              <a:t>字存储容量</a:t>
            </a:r>
            <a:r>
              <a:rPr kumimoji="1" lang="zh-CN" altLang="en-US" sz="3200" dirty="0" smtClean="0">
                <a:latin typeface="楷体_GB2312" pitchFamily="49" charset="-122"/>
                <a:ea typeface="楷体_GB2312" pitchFamily="49" charset="-122"/>
              </a:rPr>
              <a:t>同时扩展</a:t>
            </a:r>
            <a:endParaRPr lang="zh-CN" altLang="en-US" sz="3200" dirty="0" smtClean="0">
              <a:latin typeface="楷体_GB2312" pitchFamily="49" charset="-122"/>
              <a:ea typeface="楷体_GB2312" pitchFamily="49" charset="-122"/>
            </a:endParaRPr>
          </a:p>
        </p:txBody>
      </p:sp>
    </p:spTree>
    <p:extLst>
      <p:ext uri="{BB962C8B-B14F-4D97-AF65-F5344CB8AC3E}">
        <p14:creationId xmlns:p14="http://schemas.microsoft.com/office/powerpoint/2010/main" val="30433263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5E63F18D-4131-4D68-9FAB-220CE0240E27}" type="slidenum">
              <a:rPr lang="en-US" altLang="zh-CN"/>
              <a:pPr>
                <a:defRPr/>
              </a:pPr>
              <a:t>16</a:t>
            </a:fld>
            <a:endParaRPr lang="en-US" altLang="zh-CN"/>
          </a:p>
        </p:txBody>
      </p:sp>
      <p:pic>
        <p:nvPicPr>
          <p:cNvPr id="45059" name="Picture 4">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2781300"/>
            <a:ext cx="5076825"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Rectangle 5"/>
          <p:cNvSpPr>
            <a:spLocks noChangeArrowheads="1"/>
          </p:cNvSpPr>
          <p:nvPr/>
        </p:nvSpPr>
        <p:spPr bwMode="auto">
          <a:xfrm>
            <a:off x="250825" y="404813"/>
            <a:ext cx="7561263"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Clr>
                <a:schemeClr val="tx2"/>
              </a:buClr>
              <a:buSzPct val="70000"/>
              <a:buFont typeface="Wingdings" pitchFamily="2" charset="2"/>
              <a:buNone/>
            </a:pPr>
            <a:r>
              <a:rPr kumimoji="1" lang="en-US" altLang="zh-CN">
                <a:latin typeface="楷体_GB2312" pitchFamily="49" charset="-122"/>
              </a:rPr>
              <a:t>1</a:t>
            </a:r>
            <a:r>
              <a:rPr kumimoji="1" lang="zh-CN" altLang="en-US">
                <a:latin typeface="楷体_GB2312" pitchFamily="49" charset="-122"/>
              </a:rPr>
              <a:t>、字长位数扩展</a:t>
            </a:r>
          </a:p>
          <a:p>
            <a:pPr marL="342900" indent="-342900">
              <a:lnSpc>
                <a:spcPct val="90000"/>
              </a:lnSpc>
              <a:spcBef>
                <a:spcPct val="20000"/>
              </a:spcBef>
              <a:buClr>
                <a:schemeClr val="tx2"/>
              </a:buClr>
              <a:buSzPct val="70000"/>
              <a:buFont typeface="Wingdings" pitchFamily="2" charset="2"/>
              <a:buNone/>
            </a:pPr>
            <a:r>
              <a:rPr kumimoji="1" lang="zh-CN" altLang="en-US">
                <a:latin typeface="楷体_GB2312" pitchFamily="49" charset="-122"/>
              </a:rPr>
              <a:t>		 给定的芯片字长位数较短，不满足设计要求的存储器字长，此时需要用多片给定芯片扩展字长位数。三组信号线中，地址线和控制线公用而数据线单独分开连接。  </a:t>
            </a:r>
          </a:p>
        </p:txBody>
      </p:sp>
      <p:sp>
        <p:nvSpPr>
          <p:cNvPr id="45061" name="Rectangle 6"/>
          <p:cNvSpPr>
            <a:spLocks noChangeArrowheads="1"/>
          </p:cNvSpPr>
          <p:nvPr/>
        </p:nvSpPr>
        <p:spPr bwMode="auto">
          <a:xfrm>
            <a:off x="250825" y="2924175"/>
            <a:ext cx="295275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kumimoji="1" lang="en-US" altLang="zh-CN" sz="2400">
                <a:latin typeface="楷体_GB2312" pitchFamily="49" charset="-122"/>
              </a:rPr>
              <a:t>[</a:t>
            </a:r>
            <a:r>
              <a:rPr kumimoji="1" lang="zh-CN" altLang="en-US" sz="2400">
                <a:latin typeface="楷体_GB2312" pitchFamily="49" charset="-122"/>
              </a:rPr>
              <a:t>例</a:t>
            </a:r>
            <a:r>
              <a:rPr kumimoji="1" lang="en-US" altLang="zh-CN" sz="2400">
                <a:latin typeface="楷体_GB2312" pitchFamily="49" charset="-122"/>
              </a:rPr>
              <a:t>2] </a:t>
            </a:r>
            <a:r>
              <a:rPr kumimoji="1" lang="zh-CN" altLang="en-US" sz="2400">
                <a:latin typeface="楷体_GB2312" pitchFamily="49" charset="-122"/>
              </a:rPr>
              <a:t>利用</a:t>
            </a:r>
            <a:r>
              <a:rPr kumimoji="1" lang="en-US" altLang="zh-CN" sz="2400">
                <a:latin typeface="楷体_GB2312" pitchFamily="49" charset="-122"/>
              </a:rPr>
              <a:t>8K×1</a:t>
            </a:r>
            <a:r>
              <a:rPr kumimoji="1" lang="zh-CN" altLang="en-US" sz="2400">
                <a:latin typeface="楷体_GB2312" pitchFamily="49" charset="-122"/>
              </a:rPr>
              <a:t>位的</a:t>
            </a:r>
            <a:r>
              <a:rPr kumimoji="1" lang="en-US" altLang="zh-CN" sz="2400">
                <a:latin typeface="楷体_GB2312" pitchFamily="49" charset="-122"/>
              </a:rPr>
              <a:t>SRAM</a:t>
            </a:r>
            <a:r>
              <a:rPr kumimoji="1" lang="zh-CN" altLang="en-US" sz="2400">
                <a:latin typeface="楷体_GB2312" pitchFamily="49" charset="-122"/>
              </a:rPr>
              <a:t>芯片，设计一个存储容量为</a:t>
            </a:r>
            <a:r>
              <a:rPr kumimoji="1" lang="en-US" altLang="zh-CN" sz="2400">
                <a:latin typeface="楷体_GB2312" pitchFamily="49" charset="-122"/>
              </a:rPr>
              <a:t>8K×8</a:t>
            </a:r>
            <a:r>
              <a:rPr kumimoji="1" lang="zh-CN" altLang="en-US" sz="2400">
                <a:latin typeface="楷体_GB2312" pitchFamily="49" charset="-122"/>
              </a:rPr>
              <a:t>位的</a:t>
            </a:r>
            <a:r>
              <a:rPr kumimoji="1" lang="en-US" altLang="zh-CN" sz="2400">
                <a:latin typeface="楷体_GB2312" pitchFamily="49" charset="-122"/>
              </a:rPr>
              <a:t>SRAM</a:t>
            </a:r>
            <a:r>
              <a:rPr kumimoji="1" lang="zh-CN" altLang="en-US" sz="2400">
                <a:latin typeface="楷体_GB2312" pitchFamily="49" charset="-122"/>
              </a:rPr>
              <a:t>存储器。</a:t>
            </a:r>
          </a:p>
          <a:p>
            <a:r>
              <a:rPr kumimoji="1" lang="zh-CN" altLang="en-US" sz="2400">
                <a:latin typeface="楷体_GB2312" pitchFamily="49" charset="-122"/>
              </a:rPr>
              <a:t>解：所需芯片数量</a:t>
            </a:r>
            <a:r>
              <a:rPr kumimoji="1" lang="en-US" altLang="zh-CN" sz="2400">
                <a:latin typeface="楷体_GB2312" pitchFamily="49" charset="-122"/>
              </a:rPr>
              <a:t>=(8K</a:t>
            </a:r>
            <a:r>
              <a:rPr lang="en-US" altLang="zh-CN" sz="2400">
                <a:latin typeface="楷体_GB2312" pitchFamily="49" charset="-122"/>
              </a:rPr>
              <a:t>×</a:t>
            </a:r>
            <a:r>
              <a:rPr kumimoji="1" lang="en-US" altLang="zh-CN" sz="2400">
                <a:latin typeface="楷体_GB2312" pitchFamily="49" charset="-122"/>
              </a:rPr>
              <a:t>8)/(8K</a:t>
            </a:r>
            <a:r>
              <a:rPr lang="en-US" altLang="zh-CN" sz="2400">
                <a:latin typeface="楷体_GB2312" pitchFamily="49" charset="-122"/>
              </a:rPr>
              <a:t>×1</a:t>
            </a:r>
            <a:r>
              <a:rPr kumimoji="1" lang="en-US" altLang="zh-CN" sz="2400">
                <a:latin typeface="楷体_GB2312" pitchFamily="49" charset="-122"/>
              </a:rPr>
              <a:t>)=8</a:t>
            </a:r>
            <a:r>
              <a:rPr kumimoji="1" lang="zh-CN" altLang="en-US" sz="2400">
                <a:latin typeface="楷体_GB2312" pitchFamily="49" charset="-122"/>
              </a:rPr>
              <a:t>片</a:t>
            </a:r>
          </a:p>
        </p:txBody>
      </p:sp>
      <p:sp>
        <p:nvSpPr>
          <p:cNvPr id="45062" name="Rectangle 7"/>
          <p:cNvSpPr>
            <a:spLocks noChangeArrowheads="1"/>
          </p:cNvSpPr>
          <p:nvPr/>
        </p:nvSpPr>
        <p:spPr bwMode="auto">
          <a:xfrm>
            <a:off x="611188" y="5805488"/>
            <a:ext cx="7473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kumimoji="1" lang="en-US" altLang="zh-CN">
                <a:latin typeface="楷体_GB2312" pitchFamily="49" charset="-122"/>
              </a:rPr>
              <a:t>d=</a:t>
            </a:r>
            <a:r>
              <a:rPr kumimoji="1" lang="zh-CN" altLang="en-US">
                <a:latin typeface="楷体_GB2312" pitchFamily="49" charset="-122"/>
              </a:rPr>
              <a:t>设计要求的存储器容量</a:t>
            </a:r>
            <a:r>
              <a:rPr kumimoji="1" lang="en-US" altLang="zh-CN">
                <a:latin typeface="楷体_GB2312" pitchFamily="49" charset="-122"/>
              </a:rPr>
              <a:t>/</a:t>
            </a:r>
            <a:r>
              <a:rPr kumimoji="1" lang="zh-CN" altLang="en-US">
                <a:latin typeface="楷体_GB2312" pitchFamily="49" charset="-122"/>
              </a:rPr>
              <a:t>选择芯片存储器容量</a:t>
            </a:r>
          </a:p>
        </p:txBody>
      </p:sp>
    </p:spTree>
    <p:extLst>
      <p:ext uri="{BB962C8B-B14F-4D97-AF65-F5344CB8AC3E}">
        <p14:creationId xmlns:p14="http://schemas.microsoft.com/office/powerpoint/2010/main" val="15623830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A5850E71-1644-4751-B29F-FA3D66C7E343}" type="slidenum">
              <a:rPr lang="en-US" altLang="zh-CN"/>
              <a:pPr>
                <a:defRPr/>
              </a:pPr>
              <a:t>17</a:t>
            </a:fld>
            <a:endParaRPr lang="en-US" altLang="zh-CN"/>
          </a:p>
        </p:txBody>
      </p:sp>
      <p:sp>
        <p:nvSpPr>
          <p:cNvPr id="46083" name="Rectangle 4"/>
          <p:cNvSpPr>
            <a:spLocks noChangeArrowheads="1"/>
          </p:cNvSpPr>
          <p:nvPr/>
        </p:nvSpPr>
        <p:spPr bwMode="auto">
          <a:xfrm>
            <a:off x="323850" y="260350"/>
            <a:ext cx="7488238" cy="240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a:latin typeface="楷体_GB2312" pitchFamily="49" charset="-122"/>
              </a:rPr>
              <a:t>2</a:t>
            </a:r>
            <a:r>
              <a:rPr lang="zh-CN" altLang="en-US">
                <a:latin typeface="楷体_GB2312" pitchFamily="49" charset="-122"/>
              </a:rPr>
              <a:t>、字存储容量扩展 </a:t>
            </a:r>
          </a:p>
          <a:p>
            <a:r>
              <a:rPr lang="zh-CN" altLang="en-US">
                <a:latin typeface="楷体_GB2312" pitchFamily="49" charset="-122"/>
              </a:rPr>
              <a:t>    </a:t>
            </a:r>
            <a:r>
              <a:rPr lang="zh-CN" altLang="en-US" sz="2400">
                <a:latin typeface="楷体_GB2312" pitchFamily="49" charset="-122"/>
              </a:rPr>
              <a:t>给定的芯片存储容量较小（字数少），不满足设计要求的总存储容量，此时需要用多片给定芯片来扩展字数。三组信号组中给定芯片的地址总线和数据总线公用，控制总线中</a:t>
            </a:r>
            <a:r>
              <a:rPr lang="en-US" altLang="zh-CN" sz="2400">
                <a:latin typeface="楷体_GB2312" pitchFamily="49" charset="-122"/>
              </a:rPr>
              <a:t>R/W</a:t>
            </a:r>
            <a:r>
              <a:rPr lang="zh-CN" altLang="en-US" sz="2400">
                <a:latin typeface="楷体_GB2312" pitchFamily="49" charset="-122"/>
              </a:rPr>
              <a:t>公用，使能端</a:t>
            </a:r>
            <a:r>
              <a:rPr lang="en-US" altLang="zh-CN" sz="2400">
                <a:latin typeface="楷体_GB2312" pitchFamily="49" charset="-122"/>
              </a:rPr>
              <a:t>EN</a:t>
            </a:r>
            <a:r>
              <a:rPr lang="zh-CN" altLang="en-US" sz="2400">
                <a:latin typeface="楷体_GB2312" pitchFamily="49" charset="-122"/>
              </a:rPr>
              <a:t>不能公用，它由地址总线的高位段译码来决定片选信号。</a:t>
            </a:r>
          </a:p>
        </p:txBody>
      </p:sp>
      <p:pic>
        <p:nvPicPr>
          <p:cNvPr id="46084" name="Picture 5">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675" y="2708275"/>
            <a:ext cx="5792788"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Rectangle 6"/>
          <p:cNvSpPr>
            <a:spLocks noChangeArrowheads="1"/>
          </p:cNvSpPr>
          <p:nvPr/>
        </p:nvSpPr>
        <p:spPr bwMode="auto">
          <a:xfrm>
            <a:off x="250825" y="2852738"/>
            <a:ext cx="2665413"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kumimoji="1" lang="en-US" altLang="zh-CN" sz="2400">
                <a:latin typeface="楷体_GB2312" pitchFamily="49" charset="-122"/>
              </a:rPr>
              <a:t>[</a:t>
            </a:r>
            <a:r>
              <a:rPr kumimoji="1" lang="zh-CN" altLang="en-US" sz="2400">
                <a:latin typeface="楷体_GB2312" pitchFamily="49" charset="-122"/>
              </a:rPr>
              <a:t>例</a:t>
            </a:r>
            <a:r>
              <a:rPr kumimoji="1" lang="en-US" altLang="zh-CN" sz="2400">
                <a:latin typeface="楷体_GB2312" pitchFamily="49" charset="-122"/>
              </a:rPr>
              <a:t>3]</a:t>
            </a:r>
            <a:r>
              <a:rPr kumimoji="1" lang="zh-CN" altLang="en-US" sz="2400">
                <a:latin typeface="楷体_GB2312" pitchFamily="49" charset="-122"/>
              </a:rPr>
              <a:t>利用</a:t>
            </a:r>
            <a:r>
              <a:rPr kumimoji="1" lang="en-US" altLang="zh-CN" sz="2400">
                <a:latin typeface="楷体_GB2312" pitchFamily="49" charset="-122"/>
              </a:rPr>
              <a:t>16K×8</a:t>
            </a:r>
            <a:r>
              <a:rPr kumimoji="1" lang="zh-CN" altLang="en-US" sz="2400">
                <a:latin typeface="楷体_GB2312" pitchFamily="49" charset="-122"/>
              </a:rPr>
              <a:t>位的</a:t>
            </a:r>
            <a:r>
              <a:rPr kumimoji="1" lang="en-US" altLang="zh-CN" sz="2400">
                <a:latin typeface="楷体_GB2312" pitchFamily="49" charset="-122"/>
              </a:rPr>
              <a:t>DRAM</a:t>
            </a:r>
            <a:r>
              <a:rPr kumimoji="1" lang="zh-CN" altLang="en-US" sz="2400">
                <a:latin typeface="楷体_GB2312" pitchFamily="49" charset="-122"/>
              </a:rPr>
              <a:t>芯片设计</a:t>
            </a:r>
            <a:r>
              <a:rPr kumimoji="1" lang="en-US" altLang="zh-CN" sz="2400">
                <a:latin typeface="楷体_GB2312" pitchFamily="49" charset="-122"/>
              </a:rPr>
              <a:t>64K×8</a:t>
            </a:r>
            <a:r>
              <a:rPr kumimoji="1" lang="zh-CN" altLang="en-US" sz="2400">
                <a:latin typeface="楷体_GB2312" pitchFamily="49" charset="-122"/>
              </a:rPr>
              <a:t>位的</a:t>
            </a:r>
            <a:r>
              <a:rPr kumimoji="1" lang="en-US" altLang="zh-CN" sz="2400">
                <a:latin typeface="楷体_GB2312" pitchFamily="49" charset="-122"/>
              </a:rPr>
              <a:t>DRAM</a:t>
            </a:r>
            <a:r>
              <a:rPr kumimoji="1" lang="zh-CN" altLang="en-US" sz="2400">
                <a:latin typeface="楷体_GB2312" pitchFamily="49" charset="-122"/>
              </a:rPr>
              <a:t>存储器</a:t>
            </a:r>
          </a:p>
          <a:p>
            <a:r>
              <a:rPr lang="zh-CN" altLang="en-US" sz="2400">
                <a:latin typeface="楷体_GB2312" pitchFamily="49" charset="-122"/>
              </a:rPr>
              <a:t>解：所需芯片数</a:t>
            </a:r>
            <a:r>
              <a:rPr lang="en-US" altLang="zh-CN" sz="2400">
                <a:latin typeface="楷体_GB2312" pitchFamily="49" charset="-122"/>
              </a:rPr>
              <a:t>d=</a:t>
            </a:r>
            <a:r>
              <a:rPr lang="zh-CN" altLang="en-US" sz="2400">
                <a:latin typeface="楷体_GB2312" pitchFamily="49" charset="-122"/>
              </a:rPr>
              <a:t>（</a:t>
            </a:r>
            <a:r>
              <a:rPr lang="en-US" altLang="zh-CN" sz="2400">
                <a:latin typeface="楷体_GB2312" pitchFamily="49" charset="-122"/>
              </a:rPr>
              <a:t>64K×8</a:t>
            </a:r>
            <a:r>
              <a:rPr lang="zh-CN" altLang="en-US" sz="2400">
                <a:latin typeface="楷体_GB2312" pitchFamily="49" charset="-122"/>
              </a:rPr>
              <a:t>）</a:t>
            </a:r>
            <a:r>
              <a:rPr lang="en-US" altLang="zh-CN" sz="2400">
                <a:latin typeface="楷体_GB2312" pitchFamily="49" charset="-122"/>
              </a:rPr>
              <a:t>/</a:t>
            </a:r>
            <a:r>
              <a:rPr lang="zh-CN" altLang="en-US" sz="2400">
                <a:latin typeface="楷体_GB2312" pitchFamily="49" charset="-122"/>
              </a:rPr>
              <a:t>（</a:t>
            </a:r>
            <a:r>
              <a:rPr lang="en-US" altLang="zh-CN" sz="2400">
                <a:latin typeface="楷体_GB2312" pitchFamily="49" charset="-122"/>
              </a:rPr>
              <a:t>16K×8</a:t>
            </a:r>
            <a:r>
              <a:rPr lang="zh-CN" altLang="en-US" sz="2400">
                <a:latin typeface="楷体_GB2312" pitchFamily="49" charset="-122"/>
              </a:rPr>
              <a:t>）</a:t>
            </a:r>
            <a:r>
              <a:rPr lang="en-US" altLang="zh-CN" sz="2400">
                <a:latin typeface="楷体_GB2312" pitchFamily="49" charset="-122"/>
              </a:rPr>
              <a:t>=4(</a:t>
            </a:r>
            <a:r>
              <a:rPr lang="zh-CN" altLang="en-US" sz="2400">
                <a:latin typeface="楷体_GB2312" pitchFamily="49" charset="-122"/>
              </a:rPr>
              <a:t>片</a:t>
            </a:r>
            <a:r>
              <a:rPr lang="en-US" altLang="zh-CN" sz="2400">
                <a:latin typeface="楷体_GB2312" pitchFamily="49" charset="-122"/>
              </a:rPr>
              <a:t>)</a:t>
            </a:r>
          </a:p>
        </p:txBody>
      </p:sp>
      <p:sp>
        <p:nvSpPr>
          <p:cNvPr id="46086" name="Rectangle 7"/>
          <p:cNvSpPr>
            <a:spLocks noChangeArrowheads="1"/>
          </p:cNvSpPr>
          <p:nvPr/>
        </p:nvSpPr>
        <p:spPr bwMode="auto">
          <a:xfrm>
            <a:off x="247650" y="6092825"/>
            <a:ext cx="7473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kumimoji="1" lang="en-US" altLang="zh-CN">
                <a:latin typeface="楷体_GB2312" pitchFamily="49" charset="-122"/>
              </a:rPr>
              <a:t>d=</a:t>
            </a:r>
            <a:r>
              <a:rPr kumimoji="1" lang="zh-CN" altLang="en-US">
                <a:latin typeface="楷体_GB2312" pitchFamily="49" charset="-122"/>
              </a:rPr>
              <a:t>设计要求的存储器容量</a:t>
            </a:r>
            <a:r>
              <a:rPr kumimoji="1" lang="en-US" altLang="zh-CN">
                <a:latin typeface="楷体_GB2312" pitchFamily="49" charset="-122"/>
              </a:rPr>
              <a:t>/</a:t>
            </a:r>
            <a:r>
              <a:rPr kumimoji="1" lang="zh-CN" altLang="en-US">
                <a:latin typeface="楷体_GB2312" pitchFamily="49" charset="-122"/>
              </a:rPr>
              <a:t>选择芯片存储器容量</a:t>
            </a:r>
            <a:endParaRPr lang="zh-CN" altLang="en-US">
              <a:latin typeface="楷体_GB2312" pitchFamily="49" charset="-122"/>
            </a:endParaRPr>
          </a:p>
        </p:txBody>
      </p:sp>
    </p:spTree>
    <p:extLst>
      <p:ext uri="{BB962C8B-B14F-4D97-AF65-F5344CB8AC3E}">
        <p14:creationId xmlns:p14="http://schemas.microsoft.com/office/powerpoint/2010/main" val="22207452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CC97FF5E-E3D9-460E-933F-B3B753F2A5E6}" type="slidenum">
              <a:rPr lang="en-US" altLang="zh-CN"/>
              <a:pPr>
                <a:defRPr/>
              </a:pPr>
              <a:t>18</a:t>
            </a:fld>
            <a:endParaRPr lang="en-US" altLang="zh-CN"/>
          </a:p>
        </p:txBody>
      </p:sp>
      <p:sp>
        <p:nvSpPr>
          <p:cNvPr id="47107" name="Rectangle 4"/>
          <p:cNvSpPr>
            <a:spLocks noChangeArrowheads="1"/>
          </p:cNvSpPr>
          <p:nvPr/>
        </p:nvSpPr>
        <p:spPr bwMode="auto">
          <a:xfrm>
            <a:off x="250825" y="3789363"/>
            <a:ext cx="8353425"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r>
              <a:rPr lang="en-US" altLang="zh-CN" dirty="0">
                <a:latin typeface="楷体_GB2312" pitchFamily="49" charset="-122"/>
              </a:rPr>
              <a:t>【</a:t>
            </a:r>
            <a:r>
              <a:rPr lang="zh-CN" altLang="en-US" dirty="0">
                <a:latin typeface="楷体_GB2312" pitchFamily="49" charset="-122"/>
              </a:rPr>
              <a:t>例</a:t>
            </a:r>
            <a:r>
              <a:rPr lang="en-US" altLang="zh-CN" dirty="0">
                <a:latin typeface="楷体_GB2312" pitchFamily="49" charset="-122"/>
              </a:rPr>
              <a:t>】</a:t>
            </a:r>
            <a:r>
              <a:rPr lang="zh-CN" altLang="en-US" dirty="0">
                <a:latin typeface="楷体_GB2312" pitchFamily="49" charset="-122"/>
              </a:rPr>
              <a:t>一个具有</a:t>
            </a:r>
            <a:r>
              <a:rPr lang="en-US" altLang="zh-CN" dirty="0">
                <a:latin typeface="楷体_GB2312" pitchFamily="49" charset="-122"/>
              </a:rPr>
              <a:t>24</a:t>
            </a:r>
            <a:r>
              <a:rPr lang="zh-CN" altLang="en-US" dirty="0">
                <a:latin typeface="楷体_GB2312" pitchFamily="49" charset="-122"/>
              </a:rPr>
              <a:t>位地址和</a:t>
            </a:r>
            <a:r>
              <a:rPr lang="en-US" altLang="zh-CN" dirty="0">
                <a:latin typeface="楷体_GB2312" pitchFamily="49" charset="-122"/>
              </a:rPr>
              <a:t>8</a:t>
            </a:r>
            <a:r>
              <a:rPr lang="zh-CN" altLang="en-US" dirty="0">
                <a:latin typeface="楷体_GB2312" pitchFamily="49" charset="-122"/>
              </a:rPr>
              <a:t>位字长的存储器，问：</a:t>
            </a:r>
            <a:br>
              <a:rPr lang="zh-CN" altLang="en-US" dirty="0">
                <a:latin typeface="楷体_GB2312" pitchFamily="49" charset="-122"/>
              </a:rPr>
            </a:br>
            <a:r>
              <a:rPr lang="zh-CN" altLang="en-US" dirty="0">
                <a:latin typeface="楷体_GB2312" pitchFamily="49" charset="-122"/>
              </a:rPr>
              <a:t>      </a:t>
            </a:r>
            <a:r>
              <a:rPr lang="en-US" altLang="zh-CN" dirty="0">
                <a:latin typeface="楷体_GB2312" pitchFamily="49" charset="-122"/>
              </a:rPr>
              <a:t>1.</a:t>
            </a:r>
            <a:r>
              <a:rPr lang="zh-CN" altLang="en-US" dirty="0">
                <a:latin typeface="楷体_GB2312" pitchFamily="49" charset="-122"/>
              </a:rPr>
              <a:t>该存储器能够存储多少字节的信息</a:t>
            </a:r>
            <a:r>
              <a:rPr lang="en-US" altLang="zh-CN" dirty="0">
                <a:latin typeface="楷体_GB2312" pitchFamily="49" charset="-122"/>
              </a:rPr>
              <a:t>?</a:t>
            </a:r>
            <a:br>
              <a:rPr lang="en-US" altLang="zh-CN" dirty="0">
                <a:latin typeface="楷体_GB2312" pitchFamily="49" charset="-122"/>
              </a:rPr>
            </a:br>
            <a:r>
              <a:rPr lang="en-US" altLang="zh-CN" dirty="0">
                <a:latin typeface="楷体_GB2312" pitchFamily="49" charset="-122"/>
              </a:rPr>
              <a:t>      2.</a:t>
            </a:r>
            <a:r>
              <a:rPr lang="zh-CN" altLang="en-US" dirty="0">
                <a:latin typeface="楷体_GB2312" pitchFamily="49" charset="-122"/>
              </a:rPr>
              <a:t>如果存储器由</a:t>
            </a:r>
            <a:r>
              <a:rPr lang="en-US" altLang="zh-CN" dirty="0">
                <a:latin typeface="楷体_GB2312" pitchFamily="49" charset="-122"/>
              </a:rPr>
              <a:t>4M x l</a:t>
            </a:r>
            <a:r>
              <a:rPr lang="zh-CN" altLang="en-US" dirty="0">
                <a:latin typeface="楷体_GB2312" pitchFamily="49" charset="-122"/>
              </a:rPr>
              <a:t>位的</a:t>
            </a:r>
            <a:r>
              <a:rPr lang="en-US" altLang="zh-CN" dirty="0">
                <a:latin typeface="楷体_GB2312" pitchFamily="49" charset="-122"/>
              </a:rPr>
              <a:t>SRAM</a:t>
            </a:r>
            <a:r>
              <a:rPr lang="zh-CN" altLang="en-US" dirty="0">
                <a:latin typeface="楷体_GB2312" pitchFamily="49" charset="-122"/>
              </a:rPr>
              <a:t>芯片组成，</a:t>
            </a:r>
          </a:p>
          <a:p>
            <a:r>
              <a:rPr lang="zh-CN" altLang="en-US" dirty="0">
                <a:latin typeface="楷体_GB2312" pitchFamily="49" charset="-122"/>
              </a:rPr>
              <a:t>        需要多少片</a:t>
            </a:r>
            <a:r>
              <a:rPr lang="en-US" altLang="zh-CN" dirty="0">
                <a:latin typeface="楷体_GB2312" pitchFamily="49" charset="-122"/>
              </a:rPr>
              <a:t>?</a:t>
            </a:r>
            <a:br>
              <a:rPr lang="en-US" altLang="zh-CN" dirty="0">
                <a:latin typeface="楷体_GB2312" pitchFamily="49" charset="-122"/>
              </a:rPr>
            </a:br>
            <a:r>
              <a:rPr lang="en-US" altLang="zh-CN" dirty="0">
                <a:latin typeface="楷体_GB2312" pitchFamily="49" charset="-122"/>
              </a:rPr>
              <a:t>      3.</a:t>
            </a:r>
            <a:r>
              <a:rPr lang="zh-CN" altLang="en-US" dirty="0">
                <a:latin typeface="楷体_GB2312" pitchFamily="49" charset="-122"/>
              </a:rPr>
              <a:t>需要多少位作芯片选择</a:t>
            </a:r>
            <a:r>
              <a:rPr lang="en-US" altLang="zh-CN" dirty="0">
                <a:latin typeface="楷体_GB2312" pitchFamily="49" charset="-122"/>
              </a:rPr>
              <a:t>?</a:t>
            </a:r>
          </a:p>
        </p:txBody>
      </p:sp>
      <p:sp>
        <p:nvSpPr>
          <p:cNvPr id="47108" name="Rectangle 5"/>
          <p:cNvSpPr>
            <a:spLocks noChangeArrowheads="1"/>
          </p:cNvSpPr>
          <p:nvPr/>
        </p:nvSpPr>
        <p:spPr bwMode="auto">
          <a:xfrm>
            <a:off x="323850" y="260350"/>
            <a:ext cx="7272338"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eaLnBrk="0" hangingPunct="0"/>
            <a:r>
              <a:rPr lang="en-US" altLang="zh-CN">
                <a:latin typeface="楷体_GB2312" pitchFamily="49" charset="-122"/>
              </a:rPr>
              <a:t>3</a:t>
            </a:r>
            <a:r>
              <a:rPr lang="zh-CN" altLang="en-US">
                <a:latin typeface="楷体_GB2312" pitchFamily="49" charset="-122"/>
              </a:rPr>
              <a:t>、字位同时扩展</a:t>
            </a:r>
          </a:p>
          <a:p>
            <a:pPr eaLnBrk="0" hangingPunct="0"/>
            <a:r>
              <a:rPr lang="zh-CN" altLang="en-US">
                <a:latin typeface="楷体_GB2312" pitchFamily="49" charset="-122"/>
              </a:rPr>
              <a:t>   一个存储器的容量假定为</a:t>
            </a:r>
            <a:r>
              <a:rPr lang="en-US" altLang="zh-CN">
                <a:latin typeface="楷体_GB2312" pitchFamily="49" charset="-122"/>
              </a:rPr>
              <a:t>M×N</a:t>
            </a:r>
            <a:r>
              <a:rPr lang="zh-CN" altLang="en-US">
                <a:latin typeface="楷体_GB2312" pitchFamily="49" charset="-122"/>
              </a:rPr>
              <a:t>位，若使用</a:t>
            </a:r>
            <a:r>
              <a:rPr lang="en-US" altLang="zh-CN">
                <a:latin typeface="楷体_GB2312" pitchFamily="49" charset="-122"/>
              </a:rPr>
              <a:t>L×k </a:t>
            </a:r>
            <a:r>
              <a:rPr lang="zh-CN" altLang="en-US">
                <a:latin typeface="楷体_GB2312" pitchFamily="49" charset="-122"/>
              </a:rPr>
              <a:t>位的芯片</a:t>
            </a:r>
            <a:r>
              <a:rPr lang="en-US" altLang="zh-CN">
                <a:latin typeface="楷体_GB2312" pitchFamily="49" charset="-122"/>
              </a:rPr>
              <a:t>(L</a:t>
            </a:r>
            <a:r>
              <a:rPr lang="zh-CN" altLang="en-US">
                <a:latin typeface="楷体_GB2312" pitchFamily="49" charset="-122"/>
              </a:rPr>
              <a:t>＜</a:t>
            </a:r>
            <a:r>
              <a:rPr lang="en-US" altLang="zh-CN">
                <a:latin typeface="楷体_GB2312" pitchFamily="49" charset="-122"/>
              </a:rPr>
              <a:t>M</a:t>
            </a:r>
            <a:r>
              <a:rPr lang="zh-CN" altLang="en-US">
                <a:latin typeface="楷体_GB2312" pitchFamily="49" charset="-122"/>
              </a:rPr>
              <a:t>，</a:t>
            </a:r>
            <a:r>
              <a:rPr lang="en-US" altLang="zh-CN">
                <a:latin typeface="楷体_GB2312" pitchFamily="49" charset="-122"/>
              </a:rPr>
              <a:t>k</a:t>
            </a:r>
            <a:r>
              <a:rPr lang="zh-CN" altLang="en-US">
                <a:latin typeface="楷体_GB2312" pitchFamily="49" charset="-122"/>
              </a:rPr>
              <a:t>＜</a:t>
            </a:r>
            <a:r>
              <a:rPr lang="en-US" altLang="zh-CN">
                <a:latin typeface="楷体_GB2312" pitchFamily="49" charset="-122"/>
              </a:rPr>
              <a:t>N)</a:t>
            </a:r>
            <a:r>
              <a:rPr lang="zh-CN" altLang="en-US">
                <a:latin typeface="楷体_GB2312" pitchFamily="49" charset="-122"/>
              </a:rPr>
              <a:t>，需要在字向和位向同时进行扩展。此时共需要</a:t>
            </a:r>
            <a:r>
              <a:rPr lang="en-US" altLang="zh-CN">
                <a:latin typeface="楷体_GB2312" pitchFamily="49" charset="-122"/>
              </a:rPr>
              <a:t>(M/L×(N/k)</a:t>
            </a:r>
            <a:r>
              <a:rPr lang="zh-CN" altLang="en-US">
                <a:latin typeface="楷体_GB2312" pitchFamily="49" charset="-122"/>
              </a:rPr>
              <a:t>个存储器芯片。</a:t>
            </a:r>
          </a:p>
        </p:txBody>
      </p:sp>
      <p:sp>
        <p:nvSpPr>
          <p:cNvPr id="47109" name="Rectangle 6"/>
          <p:cNvSpPr>
            <a:spLocks noChangeArrowheads="1"/>
          </p:cNvSpPr>
          <p:nvPr/>
        </p:nvSpPr>
        <p:spPr bwMode="auto">
          <a:xfrm>
            <a:off x="611188" y="2565400"/>
            <a:ext cx="78295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kumimoji="1" lang="en-US" altLang="zh-CN">
                <a:latin typeface="楷体_GB2312" pitchFamily="49" charset="-122"/>
              </a:rPr>
              <a:t>d = </a:t>
            </a:r>
            <a:r>
              <a:rPr kumimoji="1" lang="zh-CN" altLang="en-US">
                <a:latin typeface="楷体_GB2312" pitchFamily="49" charset="-122"/>
              </a:rPr>
              <a:t>设计要求的存储器容量</a:t>
            </a:r>
            <a:r>
              <a:rPr kumimoji="1" lang="en-US" altLang="zh-CN">
                <a:latin typeface="楷体_GB2312" pitchFamily="49" charset="-122"/>
              </a:rPr>
              <a:t>/</a:t>
            </a:r>
            <a:r>
              <a:rPr kumimoji="1" lang="zh-CN" altLang="en-US">
                <a:latin typeface="楷体_GB2312" pitchFamily="49" charset="-122"/>
              </a:rPr>
              <a:t>选择芯片存储器容量</a:t>
            </a:r>
            <a:endParaRPr lang="zh-CN" altLang="en-US" sz="1800">
              <a:ea typeface="宋体" pitchFamily="2" charset="-122"/>
            </a:endParaRPr>
          </a:p>
          <a:p>
            <a:r>
              <a:rPr lang="zh-CN" altLang="en-US">
                <a:latin typeface="楷体_GB2312" pitchFamily="49" charset="-122"/>
              </a:rPr>
              <a:t>  </a:t>
            </a:r>
            <a:r>
              <a:rPr lang="en-US" altLang="zh-CN">
                <a:latin typeface="楷体_GB2312" pitchFamily="49" charset="-122"/>
              </a:rPr>
              <a:t>= (M×N</a:t>
            </a:r>
            <a:r>
              <a:rPr lang="zh-CN" altLang="en-US">
                <a:latin typeface="楷体_GB2312" pitchFamily="49" charset="-122"/>
              </a:rPr>
              <a:t>）</a:t>
            </a:r>
            <a:r>
              <a:rPr lang="en-US" altLang="zh-CN">
                <a:latin typeface="楷体_GB2312" pitchFamily="49" charset="-122"/>
              </a:rPr>
              <a:t>/</a:t>
            </a:r>
            <a:r>
              <a:rPr lang="zh-CN" altLang="en-US">
                <a:latin typeface="楷体_GB2312" pitchFamily="49" charset="-122"/>
              </a:rPr>
              <a:t>（</a:t>
            </a:r>
            <a:r>
              <a:rPr lang="en-US" altLang="zh-CN">
                <a:latin typeface="楷体_GB2312" pitchFamily="49" charset="-122"/>
              </a:rPr>
              <a:t>L×k)</a:t>
            </a:r>
          </a:p>
        </p:txBody>
      </p:sp>
      <p:sp>
        <p:nvSpPr>
          <p:cNvPr id="114695" name="AutoShape 7"/>
          <p:cNvSpPr>
            <a:spLocks noChangeArrowheads="1"/>
          </p:cNvSpPr>
          <p:nvPr/>
        </p:nvSpPr>
        <p:spPr bwMode="auto">
          <a:xfrm>
            <a:off x="2916238" y="2565400"/>
            <a:ext cx="5040312" cy="1008063"/>
          </a:xfrm>
          <a:prstGeom prst="wedgeRectCallout">
            <a:avLst>
              <a:gd name="adj1" fmla="val 21685"/>
              <a:gd name="adj2" fmla="val 81181"/>
            </a:avLst>
          </a:prstGeom>
          <a:solidFill>
            <a:schemeClr val="bg1"/>
          </a:solidFill>
          <a:ln w="19050" cap="sq">
            <a:solidFill>
              <a:srgbClr val="FF3300"/>
            </a:solidFill>
            <a:miter lim="800000"/>
            <a:headEnd type="none" w="sm" len="sm"/>
            <a:tailEnd type="none" w="sm" len="sm"/>
          </a:ln>
        </p:spPr>
        <p:txBody>
          <a:bodyPr/>
          <a:lstStyle/>
          <a:p>
            <a:r>
              <a:rPr lang="en-US" altLang="zh-CN">
                <a:latin typeface="楷体_GB2312" pitchFamily="49" charset="-122"/>
              </a:rPr>
              <a:t>1.</a:t>
            </a:r>
            <a:r>
              <a:rPr lang="zh-CN" altLang="en-US">
                <a:latin typeface="楷体_GB2312" pitchFamily="49" charset="-122"/>
              </a:rPr>
              <a:t>存储单元数为</a:t>
            </a:r>
            <a:r>
              <a:rPr lang="en-US" altLang="zh-CN">
                <a:latin typeface="楷体_GB2312" pitchFamily="49" charset="-122"/>
              </a:rPr>
              <a:t>2</a:t>
            </a:r>
            <a:r>
              <a:rPr lang="en-US" altLang="zh-CN" baseline="30000">
                <a:latin typeface="楷体_GB2312" pitchFamily="49" charset="-122"/>
              </a:rPr>
              <a:t>24</a:t>
            </a:r>
            <a:r>
              <a:rPr lang="en-US" altLang="zh-CN">
                <a:latin typeface="楷体_GB2312" pitchFamily="49" charset="-122"/>
              </a:rPr>
              <a:t>B</a:t>
            </a:r>
            <a:r>
              <a:rPr lang="zh-CN" altLang="en-US">
                <a:latin typeface="楷体_GB2312" pitchFamily="49" charset="-122"/>
              </a:rPr>
              <a:t>＝</a:t>
            </a:r>
            <a:r>
              <a:rPr lang="en-US" altLang="zh-CN">
                <a:latin typeface="楷体_GB2312" pitchFamily="49" charset="-122"/>
              </a:rPr>
              <a:t>16MB, </a:t>
            </a:r>
          </a:p>
          <a:p>
            <a:r>
              <a:rPr lang="en-US" altLang="zh-CN">
                <a:latin typeface="楷体_GB2312" pitchFamily="49" charset="-122"/>
              </a:rPr>
              <a:t>  </a:t>
            </a:r>
            <a:r>
              <a:rPr lang="zh-CN" altLang="en-US">
                <a:latin typeface="楷体_GB2312" pitchFamily="49" charset="-122"/>
              </a:rPr>
              <a:t>故能存储</a:t>
            </a:r>
            <a:r>
              <a:rPr lang="en-US" altLang="zh-CN">
                <a:latin typeface="楷体_GB2312" pitchFamily="49" charset="-122"/>
              </a:rPr>
              <a:t>16M</a:t>
            </a:r>
            <a:r>
              <a:rPr lang="zh-CN" altLang="en-US">
                <a:latin typeface="楷体_GB2312" pitchFamily="49" charset="-122"/>
              </a:rPr>
              <a:t>个字节的信息。</a:t>
            </a:r>
            <a:r>
              <a:rPr lang="zh-CN" altLang="en-US" sz="1800">
                <a:ea typeface="宋体" pitchFamily="2" charset="-122"/>
              </a:rPr>
              <a:t/>
            </a:r>
            <a:br>
              <a:rPr lang="zh-CN" altLang="en-US" sz="1800">
                <a:ea typeface="宋体" pitchFamily="2" charset="-122"/>
              </a:rPr>
            </a:br>
            <a:endParaRPr lang="zh-CN" altLang="en-US" sz="1800">
              <a:ea typeface="宋体" pitchFamily="2" charset="-122"/>
            </a:endParaRPr>
          </a:p>
        </p:txBody>
      </p:sp>
      <p:sp>
        <p:nvSpPr>
          <p:cNvPr id="114696" name="AutoShape 8"/>
          <p:cNvSpPr>
            <a:spLocks noChangeArrowheads="1"/>
          </p:cNvSpPr>
          <p:nvPr/>
        </p:nvSpPr>
        <p:spPr bwMode="auto">
          <a:xfrm>
            <a:off x="1403350" y="5589588"/>
            <a:ext cx="6553200" cy="647700"/>
          </a:xfrm>
          <a:prstGeom prst="wedgeRectCallout">
            <a:avLst>
              <a:gd name="adj1" fmla="val 6588"/>
              <a:gd name="adj2" fmla="val -112009"/>
            </a:avLst>
          </a:prstGeom>
          <a:solidFill>
            <a:schemeClr val="bg1"/>
          </a:solidFill>
          <a:ln w="19050" cap="sq">
            <a:solidFill>
              <a:srgbClr val="FF3300"/>
            </a:solidFill>
            <a:miter lim="800000"/>
            <a:headEnd type="none" w="sm" len="sm"/>
            <a:tailEnd type="none" w="sm" len="sm"/>
          </a:ln>
        </p:spPr>
        <p:txBody>
          <a:bodyPr/>
          <a:lstStyle/>
          <a:p>
            <a:r>
              <a:rPr lang="zh-CN" altLang="en-US">
                <a:latin typeface="楷体_GB2312" pitchFamily="49" charset="-122"/>
              </a:rPr>
              <a:t>所需芯片数为</a:t>
            </a:r>
            <a:r>
              <a:rPr lang="en-US" altLang="zh-CN">
                <a:latin typeface="楷体_GB2312" pitchFamily="49" charset="-122"/>
              </a:rPr>
              <a:t>(16M x 8)/(4Mx1)</a:t>
            </a:r>
            <a:r>
              <a:rPr lang="zh-CN" altLang="en-US">
                <a:latin typeface="楷体_GB2312" pitchFamily="49" charset="-122"/>
              </a:rPr>
              <a:t>＝</a:t>
            </a:r>
            <a:r>
              <a:rPr lang="en-US" altLang="zh-CN">
                <a:latin typeface="楷体_GB2312" pitchFamily="49" charset="-122"/>
              </a:rPr>
              <a:t>32</a:t>
            </a:r>
            <a:r>
              <a:rPr lang="zh-CN" altLang="en-US">
                <a:latin typeface="楷体_GB2312" pitchFamily="49" charset="-122"/>
              </a:rPr>
              <a:t>片</a:t>
            </a:r>
            <a:endParaRPr lang="zh-CN" altLang="en-US" sz="1800">
              <a:ea typeface="宋体" pitchFamily="2" charset="-122"/>
            </a:endParaRPr>
          </a:p>
        </p:txBody>
      </p:sp>
    </p:spTree>
    <p:extLst>
      <p:ext uri="{BB962C8B-B14F-4D97-AF65-F5344CB8AC3E}">
        <p14:creationId xmlns:p14="http://schemas.microsoft.com/office/powerpoint/2010/main" val="28813695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695"/>
                                        </p:tgtEl>
                                        <p:attrNameLst>
                                          <p:attrName>style.visibility</p:attrName>
                                        </p:attrNameLst>
                                      </p:cBhvr>
                                      <p:to>
                                        <p:strVal val="visible"/>
                                      </p:to>
                                    </p:set>
                                    <p:animEffect transition="in" filter="blinds(horizontal)">
                                      <p:cBhvr>
                                        <p:cTn id="7" dur="500"/>
                                        <p:tgtEl>
                                          <p:spTgt spid="1146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114695"/>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14696"/>
                                        </p:tgtEl>
                                        <p:attrNameLst>
                                          <p:attrName>style.visibility</p:attrName>
                                        </p:attrNameLst>
                                      </p:cBhvr>
                                      <p:to>
                                        <p:strVal val="visible"/>
                                      </p:to>
                                    </p:set>
                                    <p:animEffect transition="in" filter="blinds(horizontal)">
                                      <p:cBhvr>
                                        <p:cTn id="16" dur="500"/>
                                        <p:tgtEl>
                                          <p:spTgt spid="11469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1146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5" grpId="0" animBg="1"/>
      <p:bldP spid="114695" grpId="1" animBg="1"/>
      <p:bldP spid="114696" grpId="0" animBg="1"/>
      <p:bldP spid="114696"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C89CF65C-29F0-42C9-8B5A-1E7886B88D7D}" type="slidenum">
              <a:rPr lang="en-US" altLang="zh-CN"/>
              <a:pPr>
                <a:defRPr/>
              </a:pPr>
              <a:t>19</a:t>
            </a:fld>
            <a:endParaRPr lang="en-US" altLang="zh-CN"/>
          </a:p>
        </p:txBody>
      </p:sp>
      <p:sp>
        <p:nvSpPr>
          <p:cNvPr id="48131" name="Rectangle 4"/>
          <p:cNvSpPr>
            <a:spLocks noChangeArrowheads="1"/>
          </p:cNvSpPr>
          <p:nvPr/>
        </p:nvSpPr>
        <p:spPr bwMode="auto">
          <a:xfrm>
            <a:off x="250825" y="188913"/>
            <a:ext cx="7416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r>
              <a:rPr lang="en-US" altLang="zh-CN">
                <a:latin typeface="楷体_GB2312" pitchFamily="49" charset="-122"/>
              </a:rPr>
              <a:t>4Mxl</a:t>
            </a:r>
            <a:r>
              <a:rPr lang="zh-CN" altLang="en-US">
                <a:latin typeface="楷体_GB2312" pitchFamily="49" charset="-122"/>
              </a:rPr>
              <a:t>位 </a:t>
            </a:r>
            <a:r>
              <a:rPr lang="en-US" altLang="zh-CN">
                <a:latin typeface="楷体_GB2312" pitchFamily="49" charset="-122"/>
              </a:rPr>
              <a:t>&gt;&gt; 16Mx8</a:t>
            </a:r>
            <a:r>
              <a:rPr lang="zh-CN" altLang="en-US">
                <a:latin typeface="楷体_GB2312" pitchFamily="49" charset="-122"/>
              </a:rPr>
              <a:t>位。需要多少位作芯片选择</a:t>
            </a:r>
            <a:r>
              <a:rPr lang="en-US" altLang="zh-CN">
                <a:latin typeface="楷体_GB2312" pitchFamily="49" charset="-122"/>
              </a:rPr>
              <a:t>?</a:t>
            </a:r>
          </a:p>
        </p:txBody>
      </p:sp>
      <p:sp>
        <p:nvSpPr>
          <p:cNvPr id="115720" name="AutoShape 8"/>
          <p:cNvSpPr>
            <a:spLocks noChangeArrowheads="1"/>
          </p:cNvSpPr>
          <p:nvPr/>
        </p:nvSpPr>
        <p:spPr bwMode="auto">
          <a:xfrm>
            <a:off x="1547813" y="692150"/>
            <a:ext cx="5976937" cy="503238"/>
          </a:xfrm>
          <a:prstGeom prst="wedgeRectCallout">
            <a:avLst>
              <a:gd name="adj1" fmla="val -55444"/>
              <a:gd name="adj2" fmla="val 49685"/>
            </a:avLst>
          </a:prstGeom>
          <a:solidFill>
            <a:schemeClr val="bg1"/>
          </a:solidFill>
          <a:ln w="19050" cap="sq">
            <a:solidFill>
              <a:srgbClr val="FF3300"/>
            </a:solidFill>
            <a:miter lim="800000"/>
            <a:headEnd type="none" w="sm" len="sm"/>
            <a:tailEnd type="none" w="sm" len="sm"/>
          </a:ln>
        </p:spPr>
        <p:txBody>
          <a:bodyPr/>
          <a:lstStyle/>
          <a:p>
            <a:r>
              <a:rPr lang="en-US" altLang="zh-CN">
                <a:latin typeface="楷体_GB2312" pitchFamily="49" charset="-122"/>
              </a:rPr>
              <a:t>16M(</a:t>
            </a:r>
            <a:r>
              <a:rPr lang="zh-CN" altLang="en-US">
                <a:latin typeface="楷体_GB2312" pitchFamily="49" charset="-122"/>
              </a:rPr>
              <a:t>地址线</a:t>
            </a:r>
            <a:r>
              <a:rPr lang="en-US" altLang="zh-CN">
                <a:latin typeface="楷体_GB2312" pitchFamily="49" charset="-122"/>
              </a:rPr>
              <a:t>24</a:t>
            </a:r>
            <a:r>
              <a:rPr lang="zh-CN" altLang="en-US">
                <a:latin typeface="楷体_GB2312" pitchFamily="49" charset="-122"/>
              </a:rPr>
              <a:t>位），</a:t>
            </a:r>
            <a:r>
              <a:rPr lang="en-US" altLang="zh-CN">
                <a:latin typeface="楷体_GB2312" pitchFamily="49" charset="-122"/>
              </a:rPr>
              <a:t>4M(</a:t>
            </a:r>
            <a:r>
              <a:rPr lang="zh-CN" altLang="en-US">
                <a:latin typeface="楷体_GB2312" pitchFamily="49" charset="-122"/>
              </a:rPr>
              <a:t>地址线</a:t>
            </a:r>
            <a:r>
              <a:rPr lang="en-US" altLang="zh-CN">
                <a:latin typeface="楷体_GB2312" pitchFamily="49" charset="-122"/>
              </a:rPr>
              <a:t>22</a:t>
            </a:r>
            <a:r>
              <a:rPr lang="zh-CN" altLang="en-US">
                <a:latin typeface="楷体_GB2312" pitchFamily="49" charset="-122"/>
              </a:rPr>
              <a:t>位）</a:t>
            </a:r>
          </a:p>
        </p:txBody>
      </p:sp>
      <p:sp>
        <p:nvSpPr>
          <p:cNvPr id="115721" name="AutoShape 9"/>
          <p:cNvSpPr>
            <a:spLocks noChangeArrowheads="1"/>
          </p:cNvSpPr>
          <p:nvPr/>
        </p:nvSpPr>
        <p:spPr bwMode="auto">
          <a:xfrm>
            <a:off x="250825" y="5734050"/>
            <a:ext cx="7993063" cy="935038"/>
          </a:xfrm>
          <a:prstGeom prst="wedgeRectCallout">
            <a:avLst>
              <a:gd name="adj1" fmla="val -16255"/>
              <a:gd name="adj2" fmla="val -80560"/>
            </a:avLst>
          </a:prstGeom>
          <a:solidFill>
            <a:schemeClr val="bg1"/>
          </a:solidFill>
          <a:ln w="19050" cap="sq">
            <a:solidFill>
              <a:srgbClr val="FF3300"/>
            </a:solidFill>
            <a:miter lim="800000"/>
            <a:headEnd type="none" w="sm" len="sm"/>
            <a:tailEnd type="none" w="sm" len="sm"/>
          </a:ln>
        </p:spPr>
        <p:txBody>
          <a:bodyPr/>
          <a:lstStyle/>
          <a:p>
            <a:r>
              <a:rPr lang="en-US" altLang="zh-CN">
                <a:latin typeface="楷体_GB2312" pitchFamily="49" charset="-122"/>
              </a:rPr>
              <a:t>8</a:t>
            </a:r>
            <a:r>
              <a:rPr lang="zh-CN" altLang="en-US">
                <a:latin typeface="楷体_GB2312" pitchFamily="49" charset="-122"/>
              </a:rPr>
              <a:t>片</a:t>
            </a:r>
            <a:r>
              <a:rPr lang="en-US" altLang="zh-CN">
                <a:latin typeface="楷体_GB2312" pitchFamily="49" charset="-122"/>
              </a:rPr>
              <a:t>4Mx1</a:t>
            </a:r>
            <a:r>
              <a:rPr lang="zh-CN" altLang="en-US">
                <a:latin typeface="楷体_GB2312" pitchFamily="49" charset="-122"/>
              </a:rPr>
              <a:t>位组成</a:t>
            </a:r>
            <a:r>
              <a:rPr lang="en-US" altLang="zh-CN">
                <a:latin typeface="楷体_GB2312" pitchFamily="49" charset="-122"/>
              </a:rPr>
              <a:t>4Mx8</a:t>
            </a:r>
            <a:r>
              <a:rPr lang="zh-CN" altLang="en-US">
                <a:latin typeface="楷体_GB2312" pitchFamily="49" charset="-122"/>
              </a:rPr>
              <a:t>位，地址总线的低</a:t>
            </a:r>
            <a:r>
              <a:rPr lang="en-US" altLang="zh-CN">
                <a:latin typeface="楷体_GB2312" pitchFamily="49" charset="-122"/>
              </a:rPr>
              <a:t>22</a:t>
            </a:r>
            <a:r>
              <a:rPr lang="zh-CN" altLang="en-US">
                <a:latin typeface="楷体_GB2312" pitchFamily="49" charset="-122"/>
              </a:rPr>
              <a:t>位可以直接连到芯片的</a:t>
            </a:r>
            <a:r>
              <a:rPr lang="en-US" altLang="zh-CN">
                <a:latin typeface="楷体_GB2312" pitchFamily="49" charset="-122"/>
              </a:rPr>
              <a:t>A0-A21</a:t>
            </a:r>
            <a:r>
              <a:rPr lang="zh-CN" altLang="en-US">
                <a:latin typeface="楷体_GB2312" pitchFamily="49" charset="-122"/>
              </a:rPr>
              <a:t>管脚</a:t>
            </a:r>
          </a:p>
        </p:txBody>
      </p:sp>
      <p:sp>
        <p:nvSpPr>
          <p:cNvPr id="115722" name="AutoShape 10"/>
          <p:cNvSpPr>
            <a:spLocks noChangeArrowheads="1"/>
          </p:cNvSpPr>
          <p:nvPr/>
        </p:nvSpPr>
        <p:spPr bwMode="auto">
          <a:xfrm>
            <a:off x="323850" y="5734050"/>
            <a:ext cx="7921625" cy="935038"/>
          </a:xfrm>
          <a:prstGeom prst="wedgeRectCallout">
            <a:avLst>
              <a:gd name="adj1" fmla="val 26815"/>
              <a:gd name="adj2" fmla="val -76657"/>
            </a:avLst>
          </a:prstGeom>
          <a:solidFill>
            <a:schemeClr val="bg1"/>
          </a:solidFill>
          <a:ln w="19050" cap="sq">
            <a:solidFill>
              <a:srgbClr val="FF3300"/>
            </a:solidFill>
            <a:miter lim="800000"/>
            <a:headEnd type="none" w="sm" len="sm"/>
            <a:tailEnd type="none" w="sm" len="sm"/>
          </a:ln>
        </p:spPr>
        <p:txBody>
          <a:bodyPr/>
          <a:lstStyle/>
          <a:p>
            <a:r>
              <a:rPr lang="en-US" altLang="zh-CN">
                <a:latin typeface="楷体_GB2312" pitchFamily="49" charset="-122"/>
              </a:rPr>
              <a:t>4</a:t>
            </a:r>
            <a:r>
              <a:rPr lang="zh-CN" altLang="en-US">
                <a:latin typeface="楷体_GB2312" pitchFamily="49" charset="-122"/>
              </a:rPr>
              <a:t>组</a:t>
            </a:r>
            <a:r>
              <a:rPr lang="en-US" altLang="zh-CN">
                <a:latin typeface="楷体_GB2312" pitchFamily="49" charset="-122"/>
              </a:rPr>
              <a:t>4Mx8</a:t>
            </a:r>
            <a:r>
              <a:rPr lang="zh-CN" altLang="en-US">
                <a:latin typeface="楷体_GB2312" pitchFamily="49" charset="-122"/>
              </a:rPr>
              <a:t>位组成</a:t>
            </a:r>
            <a:r>
              <a:rPr lang="en-US" altLang="zh-CN">
                <a:latin typeface="楷体_GB2312" pitchFamily="49" charset="-122"/>
              </a:rPr>
              <a:t>16Mx8</a:t>
            </a:r>
            <a:r>
              <a:rPr lang="zh-CN" altLang="en-US">
                <a:latin typeface="楷体_GB2312" pitchFamily="49" charset="-122"/>
              </a:rPr>
              <a:t>位，地址总线的高两位</a:t>
            </a:r>
            <a:r>
              <a:rPr lang="en-US" altLang="zh-CN">
                <a:latin typeface="楷体_GB2312" pitchFamily="49" charset="-122"/>
              </a:rPr>
              <a:t>(A22</a:t>
            </a:r>
            <a:r>
              <a:rPr lang="zh-CN" altLang="en-US">
                <a:latin typeface="楷体_GB2312" pitchFamily="49" charset="-122"/>
              </a:rPr>
              <a:t>，</a:t>
            </a:r>
            <a:r>
              <a:rPr lang="en-US" altLang="zh-CN">
                <a:latin typeface="楷体_GB2312" pitchFamily="49" charset="-122"/>
              </a:rPr>
              <a:t>A23)</a:t>
            </a:r>
            <a:r>
              <a:rPr lang="zh-CN" altLang="en-US">
                <a:latin typeface="楷体_GB2312" pitchFamily="49" charset="-122"/>
              </a:rPr>
              <a:t>需要通过</a:t>
            </a:r>
            <a:r>
              <a:rPr lang="en-US" altLang="zh-CN">
                <a:latin typeface="楷体_GB2312" pitchFamily="49" charset="-122"/>
              </a:rPr>
              <a:t>2</a:t>
            </a:r>
            <a:r>
              <a:rPr lang="zh-CN" altLang="en-US">
                <a:latin typeface="楷体_GB2312" pitchFamily="49" charset="-122"/>
              </a:rPr>
              <a:t>：</a:t>
            </a:r>
            <a:r>
              <a:rPr lang="en-US" altLang="zh-CN">
                <a:latin typeface="楷体_GB2312" pitchFamily="49" charset="-122"/>
              </a:rPr>
              <a:t>4</a:t>
            </a:r>
            <a:r>
              <a:rPr lang="zh-CN" altLang="en-US">
                <a:latin typeface="楷体_GB2312" pitchFamily="49" charset="-122"/>
              </a:rPr>
              <a:t>线译码器进行芯片选择</a:t>
            </a:r>
          </a:p>
        </p:txBody>
      </p:sp>
      <p:pic>
        <p:nvPicPr>
          <p:cNvPr id="48135"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268413"/>
            <a:ext cx="8569325"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20168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5720"/>
                                        </p:tgtEl>
                                        <p:attrNameLst>
                                          <p:attrName>style.visibility</p:attrName>
                                        </p:attrNameLst>
                                      </p:cBhvr>
                                      <p:to>
                                        <p:strVal val="visible"/>
                                      </p:to>
                                    </p:set>
                                    <p:animEffect transition="in" filter="blinds(horizontal)">
                                      <p:cBhvr>
                                        <p:cTn id="7" dur="500"/>
                                        <p:tgtEl>
                                          <p:spTgt spid="1157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5721"/>
                                        </p:tgtEl>
                                        <p:attrNameLst>
                                          <p:attrName>style.visibility</p:attrName>
                                        </p:attrNameLst>
                                      </p:cBhvr>
                                      <p:to>
                                        <p:strVal val="visible"/>
                                      </p:to>
                                    </p:set>
                                    <p:animEffect transition="in" filter="blinds(horizontal)">
                                      <p:cBhvr>
                                        <p:cTn id="12" dur="500"/>
                                        <p:tgtEl>
                                          <p:spTgt spid="115721"/>
                                        </p:tgtEl>
                                      </p:cBhvr>
                                    </p:animEffect>
                                  </p:childTnLst>
                                  <p:subTnLst>
                                    <p:set>
                                      <p:cBhvr override="childStyle">
                                        <p:cTn dur="1" fill="hold" display="0" masterRel="nextClick" afterEffect="1"/>
                                        <p:tgtEl>
                                          <p:spTgt spid="115721"/>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5722"/>
                                        </p:tgtEl>
                                        <p:attrNameLst>
                                          <p:attrName>style.visibility</p:attrName>
                                        </p:attrNameLst>
                                      </p:cBhvr>
                                      <p:to>
                                        <p:strVal val="visible"/>
                                      </p:to>
                                    </p:set>
                                    <p:animEffect transition="in" filter="blinds(horizontal)">
                                      <p:cBhvr>
                                        <p:cTn id="17" dur="500"/>
                                        <p:tgtEl>
                                          <p:spTgt spid="115722"/>
                                        </p:tgtEl>
                                      </p:cBhvr>
                                    </p:animEffect>
                                  </p:childTnLst>
                                  <p:subTnLst>
                                    <p:set>
                                      <p:cBhvr override="childStyle">
                                        <p:cTn dur="1" fill="hold" display="0" masterRel="nextClick" afterEffect="1"/>
                                        <p:tgtEl>
                                          <p:spTgt spid="11572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20" grpId="0" animBg="1" autoUpdateAnimBg="0"/>
      <p:bldP spid="115721" grpId="0" animBg="1" autoUpdateAnimBg="0"/>
      <p:bldP spid="115722"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553200" y="6229350"/>
            <a:ext cx="2133600" cy="457200"/>
          </a:xfrm>
        </p:spPr>
        <p:txBody>
          <a:bodyPr/>
          <a:lstStyle/>
          <a:p>
            <a:pPr>
              <a:defRPr/>
            </a:pPr>
            <a:fld id="{A4BD6C8F-AC52-4A1A-A983-A679183B8172}" type="slidenum">
              <a:rPr lang="en-US" altLang="zh-CN" smtClean="0"/>
              <a:pPr>
                <a:defRPr/>
              </a:pPr>
              <a:t>20</a:t>
            </a:fld>
            <a:endParaRPr lang="en-US" altLang="zh-CN"/>
          </a:p>
        </p:txBody>
      </p:sp>
      <p:sp>
        <p:nvSpPr>
          <p:cNvPr id="3" name="Rectangle 1"/>
          <p:cNvSpPr>
            <a:spLocks noChangeArrowheads="1"/>
          </p:cNvSpPr>
          <p:nvPr/>
        </p:nvSpPr>
        <p:spPr bwMode="auto">
          <a:xfrm>
            <a:off x="236662" y="870083"/>
            <a:ext cx="8640960" cy="580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27000">
              <a:defRPr>
                <a:solidFill>
                  <a:schemeClr val="tx1"/>
                </a:solidFill>
                <a:latin typeface="Arial" pitchFamily="34" charset="0"/>
                <a:ea typeface="宋体" pitchFamily="2" charset="-122"/>
                <a:cs typeface="宋体" pitchFamily="2" charset="-122"/>
              </a:defRPr>
            </a:lvl1pPr>
            <a:lvl2pPr>
              <a:defRPr>
                <a:solidFill>
                  <a:schemeClr val="tx1"/>
                </a:solidFill>
                <a:latin typeface="Arial" pitchFamily="34" charset="0"/>
                <a:ea typeface="宋体" pitchFamily="2" charset="-122"/>
                <a:cs typeface="宋体" pitchFamily="2" charset="-122"/>
              </a:defRPr>
            </a:lvl2pPr>
            <a:lvl3pPr>
              <a:defRPr>
                <a:solidFill>
                  <a:schemeClr val="tx1"/>
                </a:solidFill>
                <a:latin typeface="Arial" pitchFamily="34" charset="0"/>
                <a:ea typeface="宋体" pitchFamily="2" charset="-122"/>
                <a:cs typeface="宋体" pitchFamily="2" charset="-122"/>
              </a:defRPr>
            </a:lvl3pPr>
            <a:lvl4pPr>
              <a:defRPr>
                <a:solidFill>
                  <a:schemeClr val="tx1"/>
                </a:solidFill>
                <a:latin typeface="Arial" pitchFamily="34" charset="0"/>
                <a:ea typeface="宋体" pitchFamily="2" charset="-122"/>
                <a:cs typeface="宋体" pitchFamily="2" charset="-122"/>
              </a:defRPr>
            </a:lvl4pPr>
            <a:lvl5pPr>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127000" algn="l" defTabSz="914400" rtl="0" eaLnBrk="1" fontAlgn="base" latinLnBrk="0" hangingPunct="1">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1</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．设机器字长为</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32</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位，存储容量为</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16MB</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，若按双字</a:t>
            </a:r>
            <a:endPar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endParaRPr>
          </a:p>
          <a:p>
            <a:pPr marL="0" marR="0" lvl="0" indent="127000" algn="l" defTabSz="914400" rtl="0" eaLnBrk="1" fontAlgn="base" latinLnBrk="0" hangingPunct="1">
              <a:spcBef>
                <a:spcPct val="0"/>
              </a:spcBef>
              <a:spcAft>
                <a:spcPct val="0"/>
              </a:spcAft>
              <a:buClrTx/>
              <a:buSzTx/>
              <a:buFontTx/>
              <a:buNone/>
              <a:tabLst/>
            </a:pPr>
            <a:r>
              <a:rPr lang="en-US" altLang="zh-CN" dirty="0">
                <a:latin typeface="华文新魏" panose="02010800040101010101" pitchFamily="2" charset="-122"/>
                <a:ea typeface="华文新魏" panose="02010800040101010101" pitchFamily="2" charset="-122"/>
                <a:cs typeface="Times New Roman" pitchFamily="18" charset="0"/>
              </a:rPr>
              <a:t> </a:t>
            </a:r>
            <a:r>
              <a:rPr lang="en-US" altLang="zh-CN" dirty="0" smtClean="0">
                <a:latin typeface="华文新魏" panose="02010800040101010101" pitchFamily="2" charset="-122"/>
                <a:ea typeface="华文新魏" panose="02010800040101010101" pitchFamily="2" charset="-122"/>
                <a:cs typeface="Times New Roman" pitchFamily="18" charset="0"/>
              </a:rPr>
              <a:t>     </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编址，其寻址范围是</a:t>
            </a:r>
            <a:r>
              <a:rPr kumimoji="0" lang="zh-CN" altLang="en-US" b="0" i="0" u="sng"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　 　　</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endPar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127000" algn="l" defTabSz="914400" rtl="0" eaLnBrk="0" fontAlgn="base" latinLnBrk="0" hangingPunct="0">
              <a:spcBef>
                <a:spcPts val="600"/>
              </a:spcBef>
              <a:spcAft>
                <a:spcPts val="600"/>
              </a:spcAft>
              <a:buClrTx/>
              <a:buSzTx/>
              <a:buFontTx/>
              <a:buNone/>
              <a:tabLst/>
            </a:pP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      A</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8MB        B</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2M        C</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4M       D</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16M</a:t>
            </a:r>
            <a:endPar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127000" algn="l" defTabSz="914400" rtl="0" eaLnBrk="0" fontAlgn="base" latinLnBrk="0" hangingPunct="0">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2</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．某计算机字长是</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32</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位，它的存储容量是</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64KB</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．按</a:t>
            </a:r>
            <a:endPar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endParaRPr>
          </a:p>
          <a:p>
            <a:pPr marL="0" marR="0" lvl="0" indent="127000" algn="l" defTabSz="914400" rtl="0" eaLnBrk="0" fontAlgn="base" latinLnBrk="0" hangingPunct="0">
              <a:spcBef>
                <a:spcPct val="0"/>
              </a:spcBef>
              <a:spcAft>
                <a:spcPct val="0"/>
              </a:spcAft>
              <a:buClrTx/>
              <a:buSzTx/>
              <a:buFontTx/>
              <a:buNone/>
              <a:tabLst/>
            </a:pPr>
            <a:r>
              <a:rPr lang="en-US" altLang="zh-CN" dirty="0">
                <a:latin typeface="华文新魏" panose="02010800040101010101" pitchFamily="2" charset="-122"/>
                <a:ea typeface="华文新魏" panose="02010800040101010101" pitchFamily="2" charset="-122"/>
                <a:cs typeface="Times New Roman" pitchFamily="18" charset="0"/>
              </a:rPr>
              <a:t> </a:t>
            </a:r>
            <a:r>
              <a:rPr lang="en-US" altLang="zh-CN" dirty="0" smtClean="0">
                <a:latin typeface="华文新魏" panose="02010800040101010101" pitchFamily="2" charset="-122"/>
                <a:ea typeface="华文新魏" panose="02010800040101010101" pitchFamily="2" charset="-122"/>
                <a:cs typeface="Times New Roman" pitchFamily="18" charset="0"/>
              </a:rPr>
              <a:t>     </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字编址，它的寻址范围是</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______</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endPar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127000" algn="l" defTabSz="914400" rtl="0" eaLnBrk="0" fontAlgn="base" latinLnBrk="0" hangingPunct="0">
              <a:spcBef>
                <a:spcPts val="600"/>
              </a:spcBef>
              <a:spcAft>
                <a:spcPts val="600"/>
              </a:spcAft>
              <a:buClrTx/>
              <a:buSzTx/>
              <a:buFontTx/>
              <a:buNone/>
              <a:tabLst/>
            </a:pP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      A</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16KB       B</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   </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16K        C</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32K     D</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32KB</a:t>
            </a:r>
          </a:p>
          <a:p>
            <a:pPr marL="0" marR="0" lvl="0" indent="127000" algn="l" defTabSz="914400" rtl="0" eaLnBrk="0" fontAlgn="base" latinLnBrk="0" hangingPunct="0">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3</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．一个</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16K×8</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位的存储器，其地址线和数据线的总</a:t>
            </a:r>
            <a:endPar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endParaRPr>
          </a:p>
          <a:p>
            <a:pPr marL="0" marR="0" lvl="0" indent="127000" algn="l" defTabSz="914400" rtl="0" eaLnBrk="0" fontAlgn="base" latinLnBrk="0" hangingPunct="0">
              <a:spcBef>
                <a:spcPct val="0"/>
              </a:spcBef>
              <a:spcAft>
                <a:spcPct val="0"/>
              </a:spcAft>
              <a:buClrTx/>
              <a:buSzTx/>
              <a:buFontTx/>
              <a:buNone/>
              <a:tabLst/>
            </a:pPr>
            <a:r>
              <a:rPr lang="en-US" altLang="zh-CN" dirty="0">
                <a:latin typeface="华文新魏" panose="02010800040101010101" pitchFamily="2" charset="-122"/>
                <a:ea typeface="华文新魏" panose="02010800040101010101" pitchFamily="2" charset="-122"/>
                <a:cs typeface="Times New Roman" pitchFamily="18" charset="0"/>
              </a:rPr>
              <a:t> </a:t>
            </a:r>
            <a:r>
              <a:rPr lang="en-US" altLang="zh-CN" dirty="0" smtClean="0">
                <a:latin typeface="华文新魏" panose="02010800040101010101" pitchFamily="2" charset="-122"/>
                <a:ea typeface="华文新魏" panose="02010800040101010101" pitchFamily="2" charset="-122"/>
                <a:cs typeface="Times New Roman" pitchFamily="18" charset="0"/>
              </a:rPr>
              <a:t>     </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和是</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______</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endPar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127000" algn="l" defTabSz="914400" rtl="0" eaLnBrk="0" fontAlgn="base" latinLnBrk="0" hangingPunct="0">
              <a:spcBef>
                <a:spcPts val="600"/>
              </a:spcBef>
              <a:spcAft>
                <a:spcPts val="600"/>
              </a:spcAft>
              <a:buClrTx/>
              <a:buSzTx/>
              <a:buFontTx/>
              <a:buNone/>
              <a:tabLst/>
            </a:pP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      A</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48          B</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46          C</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17          D</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22</a:t>
            </a:r>
          </a:p>
          <a:p>
            <a:pPr marL="0" marR="0" lvl="0" indent="127000" algn="l" defTabSz="914400" rtl="0" eaLnBrk="0" fontAlgn="base" latinLnBrk="0" hangingPunct="0">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4</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．一个</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16K×32</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位的存储器，其地址线和数据线的总</a:t>
            </a:r>
            <a:endPar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endParaRPr>
          </a:p>
          <a:p>
            <a:pPr marL="0" marR="0" lvl="0" indent="127000" algn="l" defTabSz="914400" rtl="0" eaLnBrk="0" fontAlgn="base" latinLnBrk="0" hangingPunct="0">
              <a:spcBef>
                <a:spcPct val="0"/>
              </a:spcBef>
              <a:spcAft>
                <a:spcPct val="0"/>
              </a:spcAft>
              <a:buClrTx/>
              <a:buSzTx/>
              <a:buFontTx/>
              <a:buNone/>
              <a:tabLst/>
            </a:pPr>
            <a:r>
              <a:rPr lang="en-US" altLang="zh-CN" dirty="0">
                <a:latin typeface="华文新魏" panose="02010800040101010101" pitchFamily="2" charset="-122"/>
                <a:ea typeface="华文新魏" panose="02010800040101010101" pitchFamily="2" charset="-122"/>
                <a:cs typeface="Times New Roman" pitchFamily="18" charset="0"/>
              </a:rPr>
              <a:t> </a:t>
            </a:r>
            <a:r>
              <a:rPr lang="en-US" altLang="zh-CN" dirty="0" smtClean="0">
                <a:latin typeface="华文新魏" panose="02010800040101010101" pitchFamily="2" charset="-122"/>
                <a:ea typeface="华文新魏" panose="02010800040101010101" pitchFamily="2" charset="-122"/>
                <a:cs typeface="Times New Roman" pitchFamily="18" charset="0"/>
              </a:rPr>
              <a:t>     </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和是</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______</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endPar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127000" algn="l" defTabSz="914400" rtl="0" eaLnBrk="0" fontAlgn="base" latinLnBrk="0" hangingPunct="0">
              <a:spcBef>
                <a:spcPts val="60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       A</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48        B</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46        C</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     </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36        D</a:t>
            </a:r>
            <a:r>
              <a:rPr kumimoji="0" lang="zh-CN" altLang="en-US"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a:t>
            </a:r>
            <a:r>
              <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cs typeface="Times New Roman" pitchFamily="18" charset="0"/>
              </a:rPr>
              <a:t>38</a:t>
            </a:r>
            <a:endParaRPr kumimoji="0" lang="en-US" altLang="zh-CN"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4" name="矩形 3"/>
          <p:cNvSpPr/>
          <p:nvPr/>
        </p:nvSpPr>
        <p:spPr>
          <a:xfrm>
            <a:off x="300998" y="70148"/>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a:t>
            </a:r>
            <a:r>
              <a:rPr lang="zh-CN" altLang="en-US" sz="4400" dirty="0" smtClean="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内练习</a:t>
            </a:r>
            <a:endPar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5" name="椭圆 4"/>
          <p:cNvSpPr/>
          <p:nvPr/>
        </p:nvSpPr>
        <p:spPr bwMode="auto">
          <a:xfrm>
            <a:off x="2843808" y="1806724"/>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6" name="椭圆 5"/>
          <p:cNvSpPr/>
          <p:nvPr/>
        </p:nvSpPr>
        <p:spPr bwMode="auto">
          <a:xfrm>
            <a:off x="2777394" y="3230877"/>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7" name="椭圆 6"/>
          <p:cNvSpPr/>
          <p:nvPr/>
        </p:nvSpPr>
        <p:spPr bwMode="auto">
          <a:xfrm>
            <a:off x="6334100" y="4677519"/>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8" name="椭圆 7"/>
          <p:cNvSpPr/>
          <p:nvPr/>
        </p:nvSpPr>
        <p:spPr bwMode="auto">
          <a:xfrm>
            <a:off x="2583503" y="6103096"/>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943167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D83C5F86-F370-4D02-B81C-94EBD206D3BA}" type="slidenum">
              <a:rPr lang="en-US" altLang="zh-CN"/>
              <a:pPr>
                <a:defRPr/>
              </a:pPr>
              <a:t>21</a:t>
            </a:fld>
            <a:endParaRPr lang="en-US" altLang="zh-CN"/>
          </a:p>
        </p:txBody>
      </p:sp>
      <p:sp>
        <p:nvSpPr>
          <p:cNvPr id="36867" name="Rectangle 2"/>
          <p:cNvSpPr>
            <a:spLocks noGrp="1" noChangeArrowheads="1"/>
          </p:cNvSpPr>
          <p:nvPr>
            <p:ph type="title"/>
          </p:nvPr>
        </p:nvSpPr>
        <p:spPr>
          <a:xfrm>
            <a:off x="395288" y="333375"/>
            <a:ext cx="7543800" cy="725488"/>
          </a:xfrm>
        </p:spPr>
        <p:txBody>
          <a:bodyPr/>
          <a:lstStyle/>
          <a:p>
            <a:pPr eaLnBrk="1" hangingPunct="1"/>
            <a:r>
              <a:rPr lang="en-US" altLang="zh-CN" sz="4000" smtClean="0">
                <a:latin typeface="楷体_GB2312" pitchFamily="49" charset="-122"/>
                <a:ea typeface="楷体_GB2312" pitchFamily="49" charset="-122"/>
                <a:cs typeface="Times New Roman" charset="0"/>
              </a:rPr>
              <a:t>3.3 DRAM</a:t>
            </a:r>
            <a:r>
              <a:rPr lang="zh-CN" altLang="en-US" sz="4000" smtClean="0">
                <a:latin typeface="楷体_GB2312" pitchFamily="49" charset="-122"/>
                <a:ea typeface="楷体_GB2312" pitchFamily="49" charset="-122"/>
                <a:cs typeface="Times New Roman" charset="0"/>
              </a:rPr>
              <a:t>存储器</a:t>
            </a:r>
          </a:p>
        </p:txBody>
      </p:sp>
      <p:sp>
        <p:nvSpPr>
          <p:cNvPr id="36868" name="Rectangle 3"/>
          <p:cNvSpPr>
            <a:spLocks noGrp="1" noChangeArrowheads="1"/>
          </p:cNvSpPr>
          <p:nvPr>
            <p:ph type="body" idx="1"/>
          </p:nvPr>
        </p:nvSpPr>
        <p:spPr>
          <a:xfrm>
            <a:off x="323850" y="1125538"/>
            <a:ext cx="8229600" cy="1727200"/>
          </a:xfrm>
        </p:spPr>
        <p:txBody>
          <a:bodyPr/>
          <a:lstStyle/>
          <a:p>
            <a:pPr eaLnBrk="1" hangingPunct="1">
              <a:lnSpc>
                <a:spcPct val="90000"/>
              </a:lnSpc>
              <a:buFont typeface="Wingdings" pitchFamily="2" charset="2"/>
              <a:buNone/>
            </a:pPr>
            <a:r>
              <a:rPr lang="zh-CN" altLang="en-US" sz="2800" smtClean="0">
                <a:latin typeface="楷体_GB2312" pitchFamily="49" charset="-122"/>
                <a:ea typeface="楷体_GB2312" pitchFamily="49" charset="-122"/>
              </a:rPr>
              <a:t>一、</a:t>
            </a:r>
            <a:r>
              <a:rPr lang="en-US" altLang="zh-CN" sz="2800" smtClean="0">
                <a:latin typeface="楷体_GB2312" pitchFamily="49" charset="-122"/>
                <a:ea typeface="楷体_GB2312" pitchFamily="49" charset="-122"/>
              </a:rPr>
              <a:t>DRAM</a:t>
            </a:r>
            <a:r>
              <a:rPr lang="zh-CN" altLang="en-US" sz="2800" smtClean="0">
                <a:latin typeface="楷体_GB2312" pitchFamily="49" charset="-122"/>
                <a:ea typeface="楷体_GB2312" pitchFamily="49" charset="-122"/>
              </a:rPr>
              <a:t>存储位元的记忆原理</a:t>
            </a:r>
          </a:p>
          <a:p>
            <a:pPr eaLnBrk="1" hangingPunct="1">
              <a:lnSpc>
                <a:spcPct val="90000"/>
              </a:lnSpc>
              <a:buFont typeface="Wingdings" pitchFamily="2" charset="2"/>
              <a:buNone/>
            </a:pPr>
            <a:r>
              <a:rPr lang="zh-CN" altLang="en-US" sz="2800" smtClean="0">
                <a:latin typeface="楷体_GB2312" pitchFamily="49" charset="-122"/>
                <a:ea typeface="楷体_GB2312" pitchFamily="49" charset="-122"/>
              </a:rPr>
              <a:t> 		</a:t>
            </a:r>
            <a:r>
              <a:rPr lang="en-US" altLang="zh-CN" sz="2800" smtClean="0">
                <a:latin typeface="楷体_GB2312" pitchFamily="49" charset="-122"/>
                <a:ea typeface="楷体_GB2312" pitchFamily="49" charset="-122"/>
              </a:rPr>
              <a:t>SRAM</a:t>
            </a:r>
            <a:r>
              <a:rPr lang="zh-CN" altLang="en-US" sz="2800" smtClean="0">
                <a:latin typeface="楷体_GB2312" pitchFamily="49" charset="-122"/>
                <a:ea typeface="楷体_GB2312" pitchFamily="49" charset="-122"/>
              </a:rPr>
              <a:t>存储器的存储位元是一个触发器，它具有两个稳定的状态。而</a:t>
            </a:r>
            <a:r>
              <a:rPr lang="en-US" altLang="zh-CN" sz="2800" smtClean="0">
                <a:latin typeface="楷体_GB2312" pitchFamily="49" charset="-122"/>
                <a:ea typeface="楷体_GB2312" pitchFamily="49" charset="-122"/>
              </a:rPr>
              <a:t>DRAM</a:t>
            </a:r>
            <a:r>
              <a:rPr lang="zh-CN" altLang="en-US" sz="2800" smtClean="0">
                <a:latin typeface="楷体_GB2312" pitchFamily="49" charset="-122"/>
                <a:ea typeface="楷体_GB2312" pitchFamily="49" charset="-122"/>
              </a:rPr>
              <a:t>存储器的存储位元是由一个</a:t>
            </a:r>
            <a:r>
              <a:rPr lang="en-US" altLang="zh-CN" sz="2800" smtClean="0">
                <a:latin typeface="楷体_GB2312" pitchFamily="49" charset="-122"/>
                <a:ea typeface="楷体_GB2312" pitchFamily="49" charset="-122"/>
              </a:rPr>
              <a:t>MOS</a:t>
            </a:r>
            <a:r>
              <a:rPr lang="zh-CN" altLang="en-US" sz="2800" smtClean="0">
                <a:latin typeface="楷体_GB2312" pitchFamily="49" charset="-122"/>
                <a:ea typeface="楷体_GB2312" pitchFamily="49" charset="-122"/>
              </a:rPr>
              <a:t>晶体管和电容器组成的记忆电路。</a:t>
            </a:r>
            <a:endParaRPr lang="zh-CN" altLang="en-US" smtClean="0"/>
          </a:p>
        </p:txBody>
      </p:sp>
      <p:pic>
        <p:nvPicPr>
          <p:cNvPr id="3686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924175"/>
            <a:ext cx="7200900" cy="34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p>
            <a:pPr>
              <a:defRPr/>
            </a:pPr>
            <a:fld id="{E85E76DC-9744-4B19-AAFC-B7AED169B7D4}" type="slidenum">
              <a:rPr lang="en-US" altLang="zh-CN"/>
              <a:pPr>
                <a:defRPr/>
              </a:pPr>
              <a:t>22</a:t>
            </a:fld>
            <a:endParaRPr lang="en-US" altLang="zh-CN"/>
          </a:p>
        </p:txBody>
      </p:sp>
      <p:sp>
        <p:nvSpPr>
          <p:cNvPr id="37891" name="Rectangle 2"/>
          <p:cNvSpPr>
            <a:spLocks noGrp="1" noChangeArrowheads="1"/>
          </p:cNvSpPr>
          <p:nvPr>
            <p:ph type="title"/>
          </p:nvPr>
        </p:nvSpPr>
        <p:spPr>
          <a:xfrm>
            <a:off x="395288" y="404813"/>
            <a:ext cx="7543800" cy="581025"/>
          </a:xfrm>
        </p:spPr>
        <p:txBody>
          <a:bodyPr/>
          <a:lstStyle/>
          <a:p>
            <a:pPr eaLnBrk="1" hangingPunct="1"/>
            <a:r>
              <a:rPr lang="en-US" altLang="zh-CN" sz="4000" smtClean="0">
                <a:latin typeface="楷体_GB2312" pitchFamily="49" charset="-122"/>
                <a:ea typeface="楷体_GB2312" pitchFamily="49" charset="-122"/>
                <a:cs typeface="Times New Roman" charset="0"/>
              </a:rPr>
              <a:t>3.3 DRAM</a:t>
            </a:r>
            <a:r>
              <a:rPr lang="zh-CN" altLang="en-US" sz="4000" smtClean="0">
                <a:latin typeface="楷体_GB2312" pitchFamily="49" charset="-122"/>
                <a:ea typeface="楷体_GB2312" pitchFamily="49" charset="-122"/>
                <a:cs typeface="Times New Roman" charset="0"/>
              </a:rPr>
              <a:t>存储器</a:t>
            </a:r>
          </a:p>
        </p:txBody>
      </p:sp>
      <p:pic>
        <p:nvPicPr>
          <p:cNvPr id="37892" name="Picture 3" descr="3a6">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43213" y="1484313"/>
            <a:ext cx="5954712" cy="473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Text Box 4"/>
          <p:cNvSpPr txBox="1">
            <a:spLocks noChangeArrowheads="1"/>
          </p:cNvSpPr>
          <p:nvPr/>
        </p:nvSpPr>
        <p:spPr bwMode="auto">
          <a:xfrm>
            <a:off x="323850" y="1412875"/>
            <a:ext cx="2324100"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r>
              <a:rPr lang="en-US" altLang="zh-CN" sz="2400">
                <a:latin typeface="楷体_GB2312" pitchFamily="49" charset="-122"/>
              </a:rPr>
              <a:t>1</a:t>
            </a:r>
            <a:r>
              <a:rPr lang="zh-CN" altLang="en-US" sz="2400">
                <a:latin typeface="楷体_GB2312" pitchFamily="49" charset="-122"/>
              </a:rPr>
              <a:t>、</a:t>
            </a:r>
            <a:r>
              <a:rPr lang="en-US" altLang="zh-CN" sz="2400">
                <a:latin typeface="楷体_GB2312" pitchFamily="49" charset="-122"/>
              </a:rPr>
              <a:t>MOS</a:t>
            </a:r>
            <a:r>
              <a:rPr lang="zh-CN" altLang="en-US" sz="2400">
                <a:latin typeface="楷体_GB2312" pitchFamily="49" charset="-122"/>
              </a:rPr>
              <a:t>管做为开关使用，而所存储的信息</a:t>
            </a:r>
            <a:r>
              <a:rPr lang="en-US" altLang="zh-CN" sz="2400">
                <a:latin typeface="楷体_GB2312" pitchFamily="49" charset="-122"/>
              </a:rPr>
              <a:t>1</a:t>
            </a:r>
            <a:r>
              <a:rPr lang="zh-CN" altLang="en-US" sz="2400">
                <a:latin typeface="楷体_GB2312" pitchFamily="49" charset="-122"/>
              </a:rPr>
              <a:t>或</a:t>
            </a:r>
            <a:r>
              <a:rPr lang="en-US" altLang="zh-CN" sz="2400">
                <a:latin typeface="楷体_GB2312" pitchFamily="49" charset="-122"/>
              </a:rPr>
              <a:t>0</a:t>
            </a:r>
            <a:r>
              <a:rPr lang="zh-CN" altLang="en-US" sz="2400">
                <a:latin typeface="楷体_GB2312" pitchFamily="49" charset="-122"/>
              </a:rPr>
              <a:t>则是由电容器上的电荷量来体现</a:t>
            </a:r>
            <a:r>
              <a:rPr lang="en-US" altLang="zh-CN" sz="2400"/>
              <a:t>——</a:t>
            </a:r>
            <a:r>
              <a:rPr lang="zh-CN" altLang="en-US" sz="2400">
                <a:latin typeface="楷体_GB2312" pitchFamily="49" charset="-122"/>
              </a:rPr>
              <a:t>当电容器充满电荷时，代表存储了</a:t>
            </a:r>
            <a:r>
              <a:rPr lang="en-US" altLang="zh-CN" sz="2400">
                <a:latin typeface="楷体_GB2312" pitchFamily="49" charset="-122"/>
              </a:rPr>
              <a:t>1</a:t>
            </a:r>
            <a:r>
              <a:rPr lang="zh-CN" altLang="en-US" sz="2400">
                <a:latin typeface="楷体_GB2312" pitchFamily="49" charset="-122"/>
              </a:rPr>
              <a:t>，当电容器放电没有电荷时，代表存储了</a:t>
            </a:r>
            <a:r>
              <a:rPr lang="en-US" altLang="zh-CN" sz="2400">
                <a:latin typeface="楷体_GB2312" pitchFamily="49" charset="-122"/>
              </a:rPr>
              <a:t>0</a:t>
            </a:r>
            <a:r>
              <a:rPr lang="zh-CN" altLang="en-US" sz="2400">
                <a:latin typeface="楷体_GB2312" pitchFamily="49" charset="-122"/>
              </a:rPr>
              <a:t>。</a:t>
            </a:r>
          </a:p>
        </p:txBody>
      </p:sp>
      <p:sp>
        <p:nvSpPr>
          <p:cNvPr id="19461" name="Text Box 5"/>
          <p:cNvSpPr txBox="1">
            <a:spLocks noChangeArrowheads="1"/>
          </p:cNvSpPr>
          <p:nvPr/>
        </p:nvSpPr>
        <p:spPr bwMode="auto">
          <a:xfrm>
            <a:off x="304800" y="990600"/>
            <a:ext cx="2432050"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eaLnBrk="1" hangingPunct="1"/>
            <a:r>
              <a:rPr lang="en-US" altLang="zh-CN" sz="2400">
                <a:latin typeface="楷体_GB2312" pitchFamily="49" charset="-122"/>
              </a:rPr>
              <a:t>2</a:t>
            </a:r>
            <a:r>
              <a:rPr lang="zh-CN" altLang="en-US" sz="2400">
                <a:latin typeface="楷体_GB2312" pitchFamily="49" charset="-122"/>
              </a:rPr>
              <a:t>、图</a:t>
            </a:r>
            <a:r>
              <a:rPr lang="en-US" altLang="zh-CN" sz="2400">
                <a:latin typeface="楷体_GB2312" pitchFamily="49" charset="-122"/>
              </a:rPr>
              <a:t>(a)</a:t>
            </a:r>
            <a:r>
              <a:rPr lang="zh-CN" altLang="en-US" sz="2400">
                <a:latin typeface="楷体_GB2312" pitchFamily="49" charset="-122"/>
              </a:rPr>
              <a:t>表示写</a:t>
            </a:r>
            <a:r>
              <a:rPr lang="en-US" altLang="zh-CN" sz="2400">
                <a:latin typeface="楷体_GB2312" pitchFamily="49" charset="-122"/>
              </a:rPr>
              <a:t>1</a:t>
            </a:r>
            <a:r>
              <a:rPr lang="zh-CN" altLang="en-US" sz="2400">
                <a:latin typeface="楷体_GB2312" pitchFamily="49" charset="-122"/>
              </a:rPr>
              <a:t>到存储位元。此时输出缓冲器关闭、刷新缓冲器关闭，输入缓冲器打开（</a:t>
            </a:r>
            <a:r>
              <a:rPr lang="en-US" altLang="zh-CN" sz="2400">
                <a:latin typeface="楷体_GB2312" pitchFamily="49" charset="-122"/>
              </a:rPr>
              <a:t>R/W</a:t>
            </a:r>
            <a:r>
              <a:rPr lang="zh-CN" altLang="en-US" sz="2400">
                <a:latin typeface="楷体_GB2312" pitchFamily="49" charset="-122"/>
              </a:rPr>
              <a:t>为低），输入数据</a:t>
            </a:r>
            <a:r>
              <a:rPr lang="en-US" altLang="zh-CN" sz="2400">
                <a:latin typeface="楷体_GB2312" pitchFamily="49" charset="-122"/>
              </a:rPr>
              <a:t>DIN=1</a:t>
            </a:r>
            <a:r>
              <a:rPr lang="zh-CN" altLang="en-US" sz="2400">
                <a:latin typeface="楷体_GB2312" pitchFamily="49" charset="-122"/>
              </a:rPr>
              <a:t>送到存储元位线上，而行选线为高，打开</a:t>
            </a:r>
            <a:r>
              <a:rPr lang="en-US" altLang="zh-CN" sz="2400">
                <a:latin typeface="楷体_GB2312" pitchFamily="49" charset="-122"/>
              </a:rPr>
              <a:t>MOS</a:t>
            </a:r>
            <a:r>
              <a:rPr lang="zh-CN" altLang="en-US" sz="2400">
                <a:latin typeface="楷体_GB2312" pitchFamily="49" charset="-122"/>
              </a:rPr>
              <a:t>管，于是位线上的高电平给电容器充电，表示存储了</a:t>
            </a:r>
            <a:r>
              <a:rPr lang="en-US" altLang="zh-CN" sz="2400">
                <a:latin typeface="楷体_GB2312" pitchFamily="49" charset="-122"/>
              </a:rPr>
              <a:t>1</a:t>
            </a:r>
            <a:r>
              <a:rPr lang="zh-CN" altLang="en-US" sz="2400">
                <a:latin typeface="楷体_GB2312" pitchFamily="49" charset="-122"/>
              </a:rPr>
              <a:t>。 </a:t>
            </a:r>
          </a:p>
        </p:txBody>
      </p:sp>
      <p:sp>
        <p:nvSpPr>
          <p:cNvPr id="19462" name="Rectangle 6"/>
          <p:cNvSpPr>
            <a:spLocks noChangeArrowheads="1"/>
          </p:cNvSpPr>
          <p:nvPr/>
        </p:nvSpPr>
        <p:spPr bwMode="auto">
          <a:xfrm>
            <a:off x="214313" y="1071563"/>
            <a:ext cx="2447925"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r>
              <a:rPr kumimoji="1" lang="en-US" altLang="zh-CN" sz="2400">
                <a:latin typeface="楷体_GB2312" pitchFamily="49" charset="-122"/>
              </a:rPr>
              <a:t>3</a:t>
            </a:r>
            <a:r>
              <a:rPr kumimoji="1" lang="zh-CN" altLang="en-US" sz="2400">
                <a:latin typeface="楷体_GB2312" pitchFamily="49" charset="-122"/>
              </a:rPr>
              <a:t>、图</a:t>
            </a:r>
            <a:r>
              <a:rPr kumimoji="1" lang="en-US" altLang="zh-CN" sz="2400">
                <a:latin typeface="楷体_GB2312" pitchFamily="49" charset="-122"/>
              </a:rPr>
              <a:t>(b)</a:t>
            </a:r>
            <a:r>
              <a:rPr kumimoji="1" lang="zh-CN" altLang="en-US" sz="2400">
                <a:latin typeface="楷体_GB2312" pitchFamily="49" charset="-122"/>
              </a:rPr>
              <a:t>表示写</a:t>
            </a:r>
            <a:r>
              <a:rPr kumimoji="1" lang="en-US" altLang="zh-CN" sz="2400">
                <a:latin typeface="楷体_GB2312" pitchFamily="49" charset="-122"/>
              </a:rPr>
              <a:t>0</a:t>
            </a:r>
            <a:r>
              <a:rPr kumimoji="1" lang="zh-CN" altLang="en-US" sz="2400">
                <a:latin typeface="楷体_GB2312" pitchFamily="49" charset="-122"/>
              </a:rPr>
              <a:t>到存储位元。此时输出缓冲器和刷新缓冲器关闭，输入缓冲器打开，输入数据</a:t>
            </a:r>
            <a:r>
              <a:rPr kumimoji="1" lang="en-US" altLang="zh-CN" sz="2400">
                <a:latin typeface="楷体_GB2312" pitchFamily="49" charset="-122"/>
              </a:rPr>
              <a:t>DIN=0</a:t>
            </a:r>
            <a:r>
              <a:rPr kumimoji="1" lang="zh-CN" altLang="en-US" sz="2400">
                <a:latin typeface="楷体_GB2312" pitchFamily="49" charset="-122"/>
              </a:rPr>
              <a:t>送到存储元位线上；行选线为高，打开</a:t>
            </a:r>
            <a:r>
              <a:rPr kumimoji="1" lang="en-US" altLang="zh-CN" sz="2400">
                <a:latin typeface="楷体_GB2312" pitchFamily="49" charset="-122"/>
              </a:rPr>
              <a:t>MOS</a:t>
            </a:r>
            <a:r>
              <a:rPr kumimoji="1" lang="zh-CN" altLang="en-US" sz="2400">
                <a:latin typeface="楷体_GB2312" pitchFamily="49" charset="-122"/>
              </a:rPr>
              <a:t>管，于是电容上的电荷通过</a:t>
            </a:r>
            <a:r>
              <a:rPr kumimoji="1" lang="en-US" altLang="zh-CN" sz="2400">
                <a:latin typeface="楷体_GB2312" pitchFamily="49" charset="-122"/>
              </a:rPr>
              <a:t>MOS</a:t>
            </a:r>
            <a:r>
              <a:rPr kumimoji="1" lang="zh-CN" altLang="en-US" sz="2400">
                <a:latin typeface="楷体_GB2312" pitchFamily="49" charset="-122"/>
              </a:rPr>
              <a:t>管和位线放电，表示存储了</a:t>
            </a:r>
            <a:r>
              <a:rPr kumimoji="1" lang="en-US" altLang="zh-CN" sz="2400">
                <a:latin typeface="楷体_GB2312" pitchFamily="49" charset="-122"/>
              </a:rPr>
              <a:t>0</a:t>
            </a:r>
            <a:r>
              <a:rPr kumimoji="1" lang="zh-CN" altLang="en-US" sz="2400">
                <a:latin typeface="楷体_GB2312" pitchFamily="49" charset="-122"/>
              </a:rPr>
              <a:t>。</a:t>
            </a:r>
          </a:p>
        </p:txBody>
      </p:sp>
      <p:sp>
        <p:nvSpPr>
          <p:cNvPr id="19463" name="Rectangle 7"/>
          <p:cNvSpPr>
            <a:spLocks noChangeArrowheads="1"/>
          </p:cNvSpPr>
          <p:nvPr/>
        </p:nvSpPr>
        <p:spPr bwMode="auto">
          <a:xfrm>
            <a:off x="285750" y="1214438"/>
            <a:ext cx="2520950"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r>
              <a:rPr kumimoji="1" lang="en-US" altLang="zh-CN" sz="2400">
                <a:latin typeface="楷体_GB2312" pitchFamily="49" charset="-122"/>
              </a:rPr>
              <a:t>4</a:t>
            </a:r>
            <a:r>
              <a:rPr kumimoji="1" lang="zh-CN" altLang="en-US" sz="2400">
                <a:latin typeface="楷体_GB2312" pitchFamily="49" charset="-122"/>
              </a:rPr>
              <a:t>、图</a:t>
            </a:r>
            <a:r>
              <a:rPr kumimoji="1" lang="en-US" altLang="zh-CN" sz="2400">
                <a:latin typeface="楷体_GB2312" pitchFamily="49" charset="-122"/>
              </a:rPr>
              <a:t>(c)</a:t>
            </a:r>
            <a:r>
              <a:rPr kumimoji="1" lang="zh-CN" altLang="en-US" sz="2400">
                <a:latin typeface="楷体_GB2312" pitchFamily="49" charset="-122"/>
              </a:rPr>
              <a:t>表示从存储位元读出</a:t>
            </a:r>
            <a:r>
              <a:rPr kumimoji="1" lang="en-US" altLang="zh-CN" sz="2400">
                <a:latin typeface="楷体_GB2312" pitchFamily="49" charset="-122"/>
              </a:rPr>
              <a:t>1</a:t>
            </a:r>
            <a:r>
              <a:rPr kumimoji="1" lang="zh-CN" altLang="en-US" sz="2400">
                <a:latin typeface="楷体_GB2312" pitchFamily="49" charset="-122"/>
              </a:rPr>
              <a:t>。输入缓冲器和刷新缓冲器关闭，输出缓冲器</a:t>
            </a:r>
            <a:r>
              <a:rPr kumimoji="1" lang="en-US" altLang="zh-CN" sz="2400">
                <a:latin typeface="楷体_GB2312" pitchFamily="49" charset="-122"/>
              </a:rPr>
              <a:t>/</a:t>
            </a:r>
            <a:r>
              <a:rPr kumimoji="1" lang="zh-CN" altLang="en-US" sz="2400">
                <a:latin typeface="楷体_GB2312" pitchFamily="49" charset="-122"/>
              </a:rPr>
              <a:t>读放打开（</a:t>
            </a:r>
            <a:r>
              <a:rPr kumimoji="1" lang="en-US" altLang="zh-CN" sz="2400">
                <a:latin typeface="楷体_GB2312" pitchFamily="49" charset="-122"/>
              </a:rPr>
              <a:t>R/W</a:t>
            </a:r>
            <a:r>
              <a:rPr kumimoji="1" lang="zh-CN" altLang="en-US" sz="2400">
                <a:latin typeface="楷体_GB2312" pitchFamily="49" charset="-122"/>
              </a:rPr>
              <a:t>为高）。行选线为高，打开</a:t>
            </a:r>
            <a:r>
              <a:rPr kumimoji="1" lang="en-US" altLang="zh-CN" sz="2400">
                <a:latin typeface="楷体_GB2312" pitchFamily="49" charset="-122"/>
              </a:rPr>
              <a:t>MOS</a:t>
            </a:r>
            <a:r>
              <a:rPr kumimoji="1" lang="zh-CN" altLang="en-US" sz="2400">
                <a:latin typeface="楷体_GB2312" pitchFamily="49" charset="-122"/>
              </a:rPr>
              <a:t>管，电容上所存储的</a:t>
            </a:r>
            <a:r>
              <a:rPr kumimoji="1" lang="en-US" altLang="zh-CN" sz="2400">
                <a:latin typeface="楷体_GB2312" pitchFamily="49" charset="-122"/>
              </a:rPr>
              <a:t>1</a:t>
            </a:r>
            <a:r>
              <a:rPr kumimoji="1" lang="zh-CN" altLang="en-US" sz="2400">
                <a:latin typeface="楷体_GB2312" pitchFamily="49" charset="-122"/>
              </a:rPr>
              <a:t>送到位线上，通过输出缓冲器</a:t>
            </a:r>
            <a:r>
              <a:rPr kumimoji="1" lang="en-US" altLang="zh-CN" sz="2400">
                <a:latin typeface="楷体_GB2312" pitchFamily="49" charset="-122"/>
              </a:rPr>
              <a:t>/</a:t>
            </a:r>
            <a:r>
              <a:rPr kumimoji="1" lang="zh-CN" altLang="en-US" sz="2400">
                <a:latin typeface="楷体_GB2312" pitchFamily="49" charset="-122"/>
              </a:rPr>
              <a:t>读出放大器发送到</a:t>
            </a:r>
            <a:r>
              <a:rPr kumimoji="1" lang="en-US" altLang="zh-CN" sz="2400">
                <a:latin typeface="楷体_GB2312" pitchFamily="49" charset="-122"/>
              </a:rPr>
              <a:t>DOUT,</a:t>
            </a:r>
            <a:r>
              <a:rPr kumimoji="1" lang="zh-CN" altLang="en-US" sz="2400">
                <a:latin typeface="楷体_GB2312" pitchFamily="49" charset="-122"/>
              </a:rPr>
              <a:t>即</a:t>
            </a:r>
            <a:r>
              <a:rPr kumimoji="1" lang="en-US" altLang="zh-CN" sz="2400">
                <a:latin typeface="楷体_GB2312" pitchFamily="49" charset="-122"/>
              </a:rPr>
              <a:t>DOUT=1</a:t>
            </a:r>
            <a:r>
              <a:rPr kumimoji="1" lang="zh-CN" altLang="en-US" sz="2400">
                <a:latin typeface="楷体_GB2312" pitchFamily="49" charset="-122"/>
              </a:rPr>
              <a:t>。</a:t>
            </a:r>
          </a:p>
        </p:txBody>
      </p:sp>
      <p:sp>
        <p:nvSpPr>
          <p:cNvPr id="19464" name="Rectangle 8"/>
          <p:cNvSpPr>
            <a:spLocks noChangeArrowheads="1"/>
          </p:cNvSpPr>
          <p:nvPr/>
        </p:nvSpPr>
        <p:spPr bwMode="auto">
          <a:xfrm>
            <a:off x="285750" y="1000125"/>
            <a:ext cx="2447925" cy="557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r>
              <a:rPr kumimoji="1" lang="en-US" altLang="zh-CN" sz="2000">
                <a:latin typeface="楷体_GB2312" pitchFamily="49" charset="-122"/>
              </a:rPr>
              <a:t>5</a:t>
            </a:r>
            <a:r>
              <a:rPr kumimoji="1" lang="zh-CN" altLang="en-US" sz="2000">
                <a:latin typeface="楷体_GB2312" pitchFamily="49" charset="-122"/>
              </a:rPr>
              <a:t>、图</a:t>
            </a:r>
            <a:r>
              <a:rPr kumimoji="1" lang="en-US" altLang="zh-CN" sz="2000">
                <a:latin typeface="楷体_GB2312" pitchFamily="49" charset="-122"/>
              </a:rPr>
              <a:t>(d)</a:t>
            </a:r>
            <a:r>
              <a:rPr kumimoji="1" lang="zh-CN" altLang="en-US" sz="2000">
                <a:latin typeface="楷体_GB2312" pitchFamily="49" charset="-122"/>
              </a:rPr>
              <a:t>表示</a:t>
            </a:r>
            <a:r>
              <a:rPr kumimoji="1" lang="en-US" altLang="zh-CN" sz="2000">
                <a:latin typeface="楷体_GB2312" pitchFamily="49" charset="-122"/>
              </a:rPr>
              <a:t>(c)</a:t>
            </a:r>
            <a:r>
              <a:rPr kumimoji="1" lang="zh-CN" altLang="en-US" sz="2000">
                <a:latin typeface="楷体_GB2312" pitchFamily="49" charset="-122"/>
              </a:rPr>
              <a:t>读出</a:t>
            </a:r>
            <a:r>
              <a:rPr kumimoji="1" lang="en-US" altLang="zh-CN" sz="2000">
                <a:latin typeface="楷体_GB2312" pitchFamily="49" charset="-122"/>
              </a:rPr>
              <a:t>1</a:t>
            </a:r>
            <a:r>
              <a:rPr kumimoji="1" lang="zh-CN" altLang="en-US" sz="2000">
                <a:latin typeface="楷体_GB2312" pitchFamily="49" charset="-122"/>
              </a:rPr>
              <a:t>后存储位元重写</a:t>
            </a:r>
            <a:r>
              <a:rPr kumimoji="1" lang="en-US" altLang="zh-CN" sz="2000">
                <a:latin typeface="楷体_GB2312" pitchFamily="49" charset="-122"/>
              </a:rPr>
              <a:t>1</a:t>
            </a:r>
            <a:r>
              <a:rPr kumimoji="1" lang="zh-CN" altLang="en-US" sz="2000">
                <a:latin typeface="楷体_GB2312" pitchFamily="49" charset="-122"/>
              </a:rPr>
              <a:t>。由于</a:t>
            </a:r>
            <a:r>
              <a:rPr kumimoji="1" lang="en-US" altLang="zh-CN" sz="2000">
                <a:latin typeface="楷体_GB2312" pitchFamily="49" charset="-122"/>
              </a:rPr>
              <a:t>(c)</a:t>
            </a:r>
            <a:r>
              <a:rPr kumimoji="1" lang="zh-CN" altLang="en-US" sz="2000">
                <a:latin typeface="楷体_GB2312" pitchFamily="49" charset="-122"/>
              </a:rPr>
              <a:t>中读出</a:t>
            </a:r>
            <a:r>
              <a:rPr kumimoji="1" lang="en-US" altLang="zh-CN" sz="2000">
                <a:latin typeface="楷体_GB2312" pitchFamily="49" charset="-122"/>
              </a:rPr>
              <a:t>1</a:t>
            </a:r>
            <a:r>
              <a:rPr kumimoji="1" lang="zh-CN" altLang="en-US" sz="2000">
                <a:latin typeface="楷体_GB2312" pitchFamily="49" charset="-122"/>
              </a:rPr>
              <a:t>是破坏性读出，必须恢复存储位元中原存的</a:t>
            </a:r>
            <a:r>
              <a:rPr kumimoji="1" lang="en-US" altLang="zh-CN" sz="2000">
                <a:latin typeface="楷体_GB2312" pitchFamily="49" charset="-122"/>
              </a:rPr>
              <a:t>1</a:t>
            </a:r>
            <a:r>
              <a:rPr kumimoji="1" lang="zh-CN" altLang="en-US" sz="2000">
                <a:latin typeface="楷体_GB2312" pitchFamily="49" charset="-122"/>
              </a:rPr>
              <a:t>。此时输入缓冲器关闭，刷新缓冲器打开，输出缓冲器</a:t>
            </a:r>
            <a:r>
              <a:rPr kumimoji="1" lang="en-US" altLang="zh-CN" sz="2000">
                <a:latin typeface="楷体_GB2312" pitchFamily="49" charset="-122"/>
              </a:rPr>
              <a:t>/</a:t>
            </a:r>
            <a:r>
              <a:rPr kumimoji="1" lang="zh-CN" altLang="en-US" sz="2000">
                <a:latin typeface="楷体_GB2312" pitchFamily="49" charset="-122"/>
              </a:rPr>
              <a:t>读放打开，</a:t>
            </a:r>
            <a:r>
              <a:rPr kumimoji="1" lang="en-US" altLang="zh-CN" sz="2000">
                <a:latin typeface="楷体_GB2312" pitchFamily="49" charset="-122"/>
              </a:rPr>
              <a:t>DOUT=1</a:t>
            </a:r>
            <a:r>
              <a:rPr kumimoji="1" lang="zh-CN" altLang="en-US" sz="2000">
                <a:latin typeface="楷体_GB2312" pitchFamily="49" charset="-122"/>
              </a:rPr>
              <a:t>经刷新缓冲器送到位线上，再经</a:t>
            </a:r>
            <a:r>
              <a:rPr kumimoji="1" lang="en-US" altLang="zh-CN" sz="2000">
                <a:latin typeface="楷体_GB2312" pitchFamily="49" charset="-122"/>
              </a:rPr>
              <a:t>MOS</a:t>
            </a:r>
            <a:r>
              <a:rPr kumimoji="1" lang="zh-CN" altLang="en-US" sz="2000">
                <a:latin typeface="楷体_GB2312" pitchFamily="49" charset="-122"/>
              </a:rPr>
              <a:t>管写到电容上。注意，输入缓冲器与输出缓冲器总是互锁的。这是因为读操作和写操作是互斥的，不会同时发生。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60"/>
                                        </p:tgtEl>
                                        <p:attrNameLst>
                                          <p:attrName>style.visibility</p:attrName>
                                        </p:attrNameLst>
                                      </p:cBhvr>
                                      <p:to>
                                        <p:strVal val="visible"/>
                                      </p:to>
                                    </p:set>
                                    <p:anim calcmode="lin" valueType="num">
                                      <p:cBhvr additive="base">
                                        <p:cTn id="7" dur="500" fill="hold"/>
                                        <p:tgtEl>
                                          <p:spTgt spid="19460"/>
                                        </p:tgtEl>
                                        <p:attrNameLst>
                                          <p:attrName>ppt_x</p:attrName>
                                        </p:attrNameLst>
                                      </p:cBhvr>
                                      <p:tavLst>
                                        <p:tav tm="0">
                                          <p:val>
                                            <p:strVal val="#ppt_x"/>
                                          </p:val>
                                        </p:tav>
                                        <p:tav tm="100000">
                                          <p:val>
                                            <p:strVal val="#ppt_x"/>
                                          </p:val>
                                        </p:tav>
                                      </p:tavLst>
                                    </p:anim>
                                    <p:anim calcmode="lin" valueType="num">
                                      <p:cBhvr additive="base">
                                        <p:cTn id="8" dur="500" fill="hold"/>
                                        <p:tgtEl>
                                          <p:spTgt spid="19460"/>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9460"/>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61"/>
                                        </p:tgtEl>
                                        <p:attrNameLst>
                                          <p:attrName>style.visibility</p:attrName>
                                        </p:attrNameLst>
                                      </p:cBhvr>
                                      <p:to>
                                        <p:strVal val="visible"/>
                                      </p:to>
                                    </p:set>
                                    <p:anim calcmode="lin" valueType="num">
                                      <p:cBhvr additive="base">
                                        <p:cTn id="13" dur="500" fill="hold"/>
                                        <p:tgtEl>
                                          <p:spTgt spid="19461"/>
                                        </p:tgtEl>
                                        <p:attrNameLst>
                                          <p:attrName>ppt_x</p:attrName>
                                        </p:attrNameLst>
                                      </p:cBhvr>
                                      <p:tavLst>
                                        <p:tav tm="0">
                                          <p:val>
                                            <p:strVal val="#ppt_x"/>
                                          </p:val>
                                        </p:tav>
                                        <p:tav tm="100000">
                                          <p:val>
                                            <p:strVal val="#ppt_x"/>
                                          </p:val>
                                        </p:tav>
                                      </p:tavLst>
                                    </p:anim>
                                    <p:anim calcmode="lin" valueType="num">
                                      <p:cBhvr additive="base">
                                        <p:cTn id="14" dur="500" fill="hold"/>
                                        <p:tgtEl>
                                          <p:spTgt spid="19461"/>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9461"/>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62"/>
                                        </p:tgtEl>
                                        <p:attrNameLst>
                                          <p:attrName>style.visibility</p:attrName>
                                        </p:attrNameLst>
                                      </p:cBhvr>
                                      <p:to>
                                        <p:strVal val="visible"/>
                                      </p:to>
                                    </p:set>
                                    <p:anim calcmode="lin" valueType="num">
                                      <p:cBhvr additive="base">
                                        <p:cTn id="19" dur="500" fill="hold"/>
                                        <p:tgtEl>
                                          <p:spTgt spid="19462"/>
                                        </p:tgtEl>
                                        <p:attrNameLst>
                                          <p:attrName>ppt_x</p:attrName>
                                        </p:attrNameLst>
                                      </p:cBhvr>
                                      <p:tavLst>
                                        <p:tav tm="0">
                                          <p:val>
                                            <p:strVal val="#ppt_x"/>
                                          </p:val>
                                        </p:tav>
                                        <p:tav tm="100000">
                                          <p:val>
                                            <p:strVal val="#ppt_x"/>
                                          </p:val>
                                        </p:tav>
                                      </p:tavLst>
                                    </p:anim>
                                    <p:anim calcmode="lin" valueType="num">
                                      <p:cBhvr additive="base">
                                        <p:cTn id="20" dur="500" fill="hold"/>
                                        <p:tgtEl>
                                          <p:spTgt spid="19462"/>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9462"/>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63"/>
                                        </p:tgtEl>
                                        <p:attrNameLst>
                                          <p:attrName>style.visibility</p:attrName>
                                        </p:attrNameLst>
                                      </p:cBhvr>
                                      <p:to>
                                        <p:strVal val="visible"/>
                                      </p:to>
                                    </p:set>
                                    <p:anim calcmode="lin" valueType="num">
                                      <p:cBhvr additive="base">
                                        <p:cTn id="25" dur="500" fill="hold"/>
                                        <p:tgtEl>
                                          <p:spTgt spid="19463"/>
                                        </p:tgtEl>
                                        <p:attrNameLst>
                                          <p:attrName>ppt_x</p:attrName>
                                        </p:attrNameLst>
                                      </p:cBhvr>
                                      <p:tavLst>
                                        <p:tav tm="0">
                                          <p:val>
                                            <p:strVal val="#ppt_x"/>
                                          </p:val>
                                        </p:tav>
                                        <p:tav tm="100000">
                                          <p:val>
                                            <p:strVal val="#ppt_x"/>
                                          </p:val>
                                        </p:tav>
                                      </p:tavLst>
                                    </p:anim>
                                    <p:anim calcmode="lin" valueType="num">
                                      <p:cBhvr additive="base">
                                        <p:cTn id="26" dur="500" fill="hold"/>
                                        <p:tgtEl>
                                          <p:spTgt spid="19463"/>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9463"/>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64"/>
                                        </p:tgtEl>
                                        <p:attrNameLst>
                                          <p:attrName>style.visibility</p:attrName>
                                        </p:attrNameLst>
                                      </p:cBhvr>
                                      <p:to>
                                        <p:strVal val="visible"/>
                                      </p:to>
                                    </p:set>
                                    <p:anim calcmode="lin" valueType="num">
                                      <p:cBhvr additive="base">
                                        <p:cTn id="31" dur="500" fill="hold"/>
                                        <p:tgtEl>
                                          <p:spTgt spid="19464"/>
                                        </p:tgtEl>
                                        <p:attrNameLst>
                                          <p:attrName>ppt_x</p:attrName>
                                        </p:attrNameLst>
                                      </p:cBhvr>
                                      <p:tavLst>
                                        <p:tav tm="0">
                                          <p:val>
                                            <p:strVal val="#ppt_x"/>
                                          </p:val>
                                        </p:tav>
                                        <p:tav tm="100000">
                                          <p:val>
                                            <p:strVal val="#ppt_x"/>
                                          </p:val>
                                        </p:tav>
                                      </p:tavLst>
                                    </p:anim>
                                    <p:anim calcmode="lin" valueType="num">
                                      <p:cBhvr additive="base">
                                        <p:cTn id="32" dur="500" fill="hold"/>
                                        <p:tgtEl>
                                          <p:spTgt spid="194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autoUpdateAnimBg="0"/>
      <p:bldP spid="19461" grpId="0" autoUpdateAnimBg="0"/>
      <p:bldP spid="19462" grpId="0" autoUpdateAnimBg="0"/>
      <p:bldP spid="19463" grpId="0" autoUpdateAnimBg="0"/>
      <p:bldP spid="19464"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025C5621-4005-431B-81C5-9643D102770E}" type="slidenum">
              <a:rPr lang="en-US" altLang="zh-CN"/>
              <a:pPr>
                <a:defRPr/>
              </a:pPr>
              <a:t>23</a:t>
            </a:fld>
            <a:endParaRPr lang="en-US" altLang="zh-CN"/>
          </a:p>
        </p:txBody>
      </p:sp>
      <p:graphicFrame>
        <p:nvGraphicFramePr>
          <p:cNvPr id="2050" name="Object 2">
            <a:hlinkClick r:id="rId3"/>
          </p:cNvPr>
          <p:cNvGraphicFramePr>
            <a:graphicFrameLocks noChangeAspect="1"/>
          </p:cNvGraphicFramePr>
          <p:nvPr/>
        </p:nvGraphicFramePr>
        <p:xfrm>
          <a:off x="533400" y="1447800"/>
          <a:ext cx="8077200" cy="4757738"/>
        </p:xfrm>
        <a:graphic>
          <a:graphicData uri="http://schemas.openxmlformats.org/presentationml/2006/ole">
            <mc:AlternateContent xmlns:mc="http://schemas.openxmlformats.org/markup-compatibility/2006">
              <mc:Choice xmlns:v="urn:schemas-microsoft-com:vml" Requires="v">
                <p:oleObj spid="_x0000_s2183" name="位图图像" r:id="rId4" imgW="6857143" imgH="4038095" progId="PBrush">
                  <p:embed/>
                </p:oleObj>
              </mc:Choice>
              <mc:Fallback>
                <p:oleObj name="位图图像" r:id="rId4" imgW="6857143" imgH="4038095" progId="PBrush">
                  <p:embed/>
                  <p:pic>
                    <p:nvPicPr>
                      <p:cNvPr id="0" name="Picture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1447800"/>
                        <a:ext cx="8077200" cy="475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2" name="Rectangle 3"/>
          <p:cNvSpPr>
            <a:spLocks noChangeArrowheads="1"/>
          </p:cNvSpPr>
          <p:nvPr/>
        </p:nvSpPr>
        <p:spPr bwMode="auto">
          <a:xfrm>
            <a:off x="395288" y="260350"/>
            <a:ext cx="75438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en-US" altLang="zh-CN" sz="3600" b="1">
                <a:solidFill>
                  <a:schemeClr val="tx2"/>
                </a:solidFill>
                <a:latin typeface="楷体_GB2312" pitchFamily="49" charset="-122"/>
              </a:rPr>
              <a:t>3.3 DRAM</a:t>
            </a:r>
            <a:r>
              <a:rPr lang="zh-CN" altLang="en-US" sz="3600" b="1">
                <a:solidFill>
                  <a:schemeClr val="tx2"/>
                </a:solidFill>
                <a:latin typeface="楷体_GB2312" pitchFamily="49" charset="-122"/>
              </a:rPr>
              <a:t>存储器</a:t>
            </a:r>
          </a:p>
        </p:txBody>
      </p:sp>
      <p:sp>
        <p:nvSpPr>
          <p:cNvPr id="2053" name="Rectangle 5"/>
          <p:cNvSpPr>
            <a:spLocks noChangeArrowheads="1"/>
          </p:cNvSpPr>
          <p:nvPr/>
        </p:nvSpPr>
        <p:spPr bwMode="auto">
          <a:xfrm>
            <a:off x="468313" y="836613"/>
            <a:ext cx="409575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pPr>
              <a:lnSpc>
                <a:spcPct val="80000"/>
              </a:lnSpc>
              <a:spcBef>
                <a:spcPct val="20000"/>
              </a:spcBef>
              <a:buClr>
                <a:schemeClr val="tx2"/>
              </a:buClr>
              <a:buSzPct val="70000"/>
              <a:buFont typeface="Wingdings" pitchFamily="2" charset="2"/>
              <a:buNone/>
            </a:pPr>
            <a:r>
              <a:rPr lang="zh-CN" altLang="en-US">
                <a:latin typeface="楷体_GB2312" pitchFamily="49" charset="-122"/>
              </a:rPr>
              <a:t>二、</a:t>
            </a:r>
            <a:r>
              <a:rPr lang="en-US" altLang="zh-CN">
                <a:latin typeface="楷体_GB2312" pitchFamily="49" charset="-122"/>
              </a:rPr>
              <a:t>DRAM</a:t>
            </a:r>
            <a:r>
              <a:rPr lang="zh-CN" altLang="en-US">
                <a:latin typeface="楷体_GB2312" pitchFamily="49" charset="-122"/>
              </a:rPr>
              <a:t>芯片的逻辑结构</a:t>
            </a:r>
          </a:p>
        </p:txBody>
      </p:sp>
      <p:sp>
        <p:nvSpPr>
          <p:cNvPr id="169990" name="AutoShape 6"/>
          <p:cNvSpPr>
            <a:spLocks noChangeArrowheads="1"/>
          </p:cNvSpPr>
          <p:nvPr/>
        </p:nvSpPr>
        <p:spPr bwMode="auto">
          <a:xfrm>
            <a:off x="3851275" y="333375"/>
            <a:ext cx="4681538" cy="1943100"/>
          </a:xfrm>
          <a:prstGeom prst="wedgeRectCallout">
            <a:avLst>
              <a:gd name="adj1" fmla="val -74653"/>
              <a:gd name="adj2" fmla="val 38074"/>
            </a:avLst>
          </a:prstGeom>
          <a:solidFill>
            <a:srgbClr val="04FCF6"/>
          </a:solidFill>
          <a:ln w="12700" cap="sq">
            <a:solidFill>
              <a:schemeClr val="tx1"/>
            </a:solidFill>
            <a:miter lim="800000"/>
            <a:headEnd type="none" w="sm" len="sm"/>
            <a:tailEnd type="none" w="sm" len="sm"/>
          </a:ln>
        </p:spPr>
        <p:txBody>
          <a:bodyPr/>
          <a:lstStyle/>
          <a:p>
            <a:r>
              <a:rPr kumimoji="1" lang="en-US" altLang="zh-CN">
                <a:latin typeface="楷体_GB2312" pitchFamily="49" charset="-122"/>
              </a:rPr>
              <a:t>    1M×4</a:t>
            </a:r>
            <a:r>
              <a:rPr kumimoji="1" lang="zh-CN" altLang="en-US">
                <a:latin typeface="楷体_GB2312" pitchFamily="49" charset="-122"/>
              </a:rPr>
              <a:t>位</a:t>
            </a:r>
            <a:r>
              <a:rPr kumimoji="1" lang="en-US" altLang="zh-CN">
                <a:latin typeface="楷体_GB2312" pitchFamily="49" charset="-122"/>
              </a:rPr>
              <a:t>DRAM</a:t>
            </a:r>
            <a:r>
              <a:rPr kumimoji="1" lang="zh-CN" altLang="en-US">
                <a:latin typeface="楷体_GB2312" pitchFamily="49" charset="-122"/>
              </a:rPr>
              <a:t>芯片的管脚图，其中有两个电源脚、两个地线脚，为了对称，还有一个空脚（</a:t>
            </a:r>
            <a:r>
              <a:rPr kumimoji="1" lang="en-US" altLang="zh-CN">
                <a:latin typeface="楷体_GB2312" pitchFamily="49" charset="-122"/>
              </a:rPr>
              <a:t>NC</a:t>
            </a:r>
            <a:r>
              <a:rPr kumimoji="1" lang="zh-CN" altLang="en-US">
                <a:latin typeface="楷体_GB2312" pitchFamily="49" charset="-122"/>
              </a:rPr>
              <a:t>）。</a:t>
            </a:r>
          </a:p>
        </p:txBody>
      </p:sp>
      <p:sp>
        <p:nvSpPr>
          <p:cNvPr id="169991" name="AutoShape 7"/>
          <p:cNvSpPr>
            <a:spLocks noChangeArrowheads="1"/>
          </p:cNvSpPr>
          <p:nvPr/>
        </p:nvSpPr>
        <p:spPr bwMode="auto">
          <a:xfrm>
            <a:off x="838200" y="1600200"/>
            <a:ext cx="1800225" cy="4176713"/>
          </a:xfrm>
          <a:prstGeom prst="wedgeRectCallout">
            <a:avLst>
              <a:gd name="adj1" fmla="val 133421"/>
              <a:gd name="adj2" fmla="val 6366"/>
            </a:avLst>
          </a:prstGeom>
          <a:solidFill>
            <a:srgbClr val="04FCF6"/>
          </a:solidFill>
          <a:ln w="12700" cap="sq">
            <a:solidFill>
              <a:schemeClr val="tx1"/>
            </a:solidFill>
            <a:miter lim="800000"/>
            <a:headEnd type="none" w="sm" len="sm"/>
            <a:tailEnd type="none" w="sm" len="sm"/>
          </a:ln>
        </p:spPr>
        <p:txBody>
          <a:bodyPr/>
          <a:lstStyle/>
          <a:p>
            <a:r>
              <a:rPr kumimoji="1" lang="zh-CN" altLang="en-US" sz="2400">
                <a:latin typeface="楷体_GB2312" pitchFamily="49" charset="-122"/>
              </a:rPr>
              <a:t>（</a:t>
            </a:r>
            <a:r>
              <a:rPr kumimoji="1" lang="en-US" altLang="zh-CN" sz="2400">
                <a:latin typeface="楷体_GB2312" pitchFamily="49" charset="-122"/>
              </a:rPr>
              <a:t>1</a:t>
            </a:r>
            <a:r>
              <a:rPr kumimoji="1" lang="zh-CN" altLang="en-US" sz="2400">
                <a:latin typeface="楷体_GB2312" pitchFamily="49" charset="-122"/>
              </a:rPr>
              <a:t>）增加了行地址锁存器和列地址锁存器。芯片内部两部分合起来，地址线宽度达</a:t>
            </a:r>
            <a:r>
              <a:rPr kumimoji="1" lang="en-US" altLang="zh-CN" sz="2400">
                <a:latin typeface="楷体_GB2312" pitchFamily="49" charset="-122"/>
              </a:rPr>
              <a:t>20</a:t>
            </a:r>
            <a:r>
              <a:rPr kumimoji="1" lang="zh-CN" altLang="en-US" sz="2400">
                <a:latin typeface="楷体_GB2312" pitchFamily="49" charset="-122"/>
              </a:rPr>
              <a:t>位，存储容量为</a:t>
            </a:r>
            <a:r>
              <a:rPr kumimoji="1" lang="en-US" altLang="zh-CN" sz="2400">
                <a:latin typeface="楷体_GB2312" pitchFamily="49" charset="-122"/>
              </a:rPr>
              <a:t>1M×4</a:t>
            </a:r>
            <a:r>
              <a:rPr kumimoji="1" lang="zh-CN" altLang="en-US" sz="2400">
                <a:latin typeface="楷体_GB2312" pitchFamily="49" charset="-122"/>
              </a:rPr>
              <a:t>位。</a:t>
            </a:r>
          </a:p>
        </p:txBody>
      </p:sp>
      <p:sp>
        <p:nvSpPr>
          <p:cNvPr id="169992" name="AutoShape 8"/>
          <p:cNvSpPr>
            <a:spLocks noChangeArrowheads="1"/>
          </p:cNvSpPr>
          <p:nvPr/>
        </p:nvSpPr>
        <p:spPr bwMode="auto">
          <a:xfrm>
            <a:off x="457200" y="838200"/>
            <a:ext cx="2665413" cy="5616575"/>
          </a:xfrm>
          <a:prstGeom prst="wedgeRectCallout">
            <a:avLst>
              <a:gd name="adj1" fmla="val 65306"/>
              <a:gd name="adj2" fmla="val -27616"/>
            </a:avLst>
          </a:prstGeom>
          <a:solidFill>
            <a:srgbClr val="04FCF6"/>
          </a:solidFill>
          <a:ln w="12700" cap="sq">
            <a:solidFill>
              <a:schemeClr val="tx1"/>
            </a:solidFill>
            <a:miter lim="800000"/>
            <a:headEnd type="none" w="sm" len="sm"/>
            <a:tailEnd type="none" w="sm" len="sm"/>
          </a:ln>
        </p:spPr>
        <p:txBody>
          <a:bodyPr/>
          <a:lstStyle/>
          <a:p>
            <a:r>
              <a:rPr kumimoji="1" lang="zh-CN" altLang="en-US" sz="2400">
                <a:latin typeface="楷体_GB2312" pitchFamily="49" charset="-122"/>
              </a:rPr>
              <a:t>（</a:t>
            </a:r>
            <a:r>
              <a:rPr kumimoji="1" lang="en-US" altLang="zh-CN" sz="2400">
                <a:latin typeface="楷体_GB2312" pitchFamily="49" charset="-122"/>
              </a:rPr>
              <a:t>2</a:t>
            </a:r>
            <a:r>
              <a:rPr kumimoji="1" lang="zh-CN" altLang="en-US" sz="2400">
                <a:latin typeface="楷体_GB2312" pitchFamily="49" charset="-122"/>
              </a:rPr>
              <a:t>）增加了刷新计数器和相应的控制电路。</a:t>
            </a:r>
            <a:r>
              <a:rPr kumimoji="1" lang="en-US" altLang="zh-CN" sz="2400">
                <a:latin typeface="楷体_GB2312" pitchFamily="49" charset="-122"/>
              </a:rPr>
              <a:t>DRAM</a:t>
            </a:r>
            <a:r>
              <a:rPr kumimoji="1" lang="zh-CN" altLang="en-US" sz="2400">
                <a:latin typeface="楷体_GB2312" pitchFamily="49" charset="-122"/>
              </a:rPr>
              <a:t>读出后必须刷新，而未读写的存储元也要定期刷新，而且要按行刷新，所以刷新计数器的长度等于行地址锁存器。刷新操作与读</a:t>
            </a:r>
            <a:r>
              <a:rPr kumimoji="1" lang="en-US" altLang="zh-CN" sz="2400">
                <a:latin typeface="楷体_GB2312" pitchFamily="49" charset="-122"/>
              </a:rPr>
              <a:t>/</a:t>
            </a:r>
            <a:r>
              <a:rPr kumimoji="1" lang="zh-CN" altLang="en-US" sz="2400">
                <a:latin typeface="楷体_GB2312" pitchFamily="49" charset="-122"/>
              </a:rPr>
              <a:t>写操作是交替进行的，所以通过</a:t>
            </a:r>
            <a:r>
              <a:rPr kumimoji="1" lang="en-US" altLang="zh-CN" sz="2400">
                <a:latin typeface="楷体_GB2312" pitchFamily="49" charset="-122"/>
              </a:rPr>
              <a:t>2</a:t>
            </a:r>
            <a:r>
              <a:rPr kumimoji="1" lang="zh-CN" altLang="en-US" sz="2400">
                <a:latin typeface="楷体_GB2312" pitchFamily="49" charset="-122"/>
              </a:rPr>
              <a:t>选</a:t>
            </a:r>
            <a:r>
              <a:rPr kumimoji="1" lang="en-US" altLang="zh-CN" sz="2400">
                <a:latin typeface="楷体_GB2312" pitchFamily="49" charset="-122"/>
              </a:rPr>
              <a:t>1</a:t>
            </a:r>
            <a:r>
              <a:rPr kumimoji="1" lang="zh-CN" altLang="en-US" sz="2400">
                <a:latin typeface="楷体_GB2312" pitchFamily="49" charset="-122"/>
              </a:rPr>
              <a:t>多路开关来提供刷新行地址或正常读</a:t>
            </a:r>
            <a:r>
              <a:rPr kumimoji="1" lang="en-US" altLang="zh-CN" sz="2400">
                <a:latin typeface="楷体_GB2312" pitchFamily="49" charset="-122"/>
              </a:rPr>
              <a:t>/</a:t>
            </a:r>
            <a:r>
              <a:rPr kumimoji="1" lang="zh-CN" altLang="en-US" sz="2400">
                <a:latin typeface="楷体_GB2312" pitchFamily="49" charset="-122"/>
              </a:rPr>
              <a:t>写的行地址</a:t>
            </a:r>
            <a:r>
              <a:rPr kumimoji="1" lang="zh-CN" altLang="en-US" sz="1800">
                <a:ea typeface="宋体"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9990"/>
                                        </p:tgtEl>
                                        <p:attrNameLst>
                                          <p:attrName>style.visibility</p:attrName>
                                        </p:attrNameLst>
                                      </p:cBhvr>
                                      <p:to>
                                        <p:strVal val="visible"/>
                                      </p:to>
                                    </p:set>
                                    <p:anim calcmode="lin" valueType="num">
                                      <p:cBhvr additive="base">
                                        <p:cTn id="7" dur="500" fill="hold"/>
                                        <p:tgtEl>
                                          <p:spTgt spid="169990"/>
                                        </p:tgtEl>
                                        <p:attrNameLst>
                                          <p:attrName>ppt_x</p:attrName>
                                        </p:attrNameLst>
                                      </p:cBhvr>
                                      <p:tavLst>
                                        <p:tav tm="0">
                                          <p:val>
                                            <p:strVal val="#ppt_x"/>
                                          </p:val>
                                        </p:tav>
                                        <p:tav tm="100000">
                                          <p:val>
                                            <p:strVal val="#ppt_x"/>
                                          </p:val>
                                        </p:tav>
                                      </p:tavLst>
                                    </p:anim>
                                    <p:anim calcmode="lin" valueType="num">
                                      <p:cBhvr additive="base">
                                        <p:cTn id="8" dur="500" fill="hold"/>
                                        <p:tgtEl>
                                          <p:spTgt spid="169990"/>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69990"/>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9991"/>
                                        </p:tgtEl>
                                        <p:attrNameLst>
                                          <p:attrName>style.visibility</p:attrName>
                                        </p:attrNameLst>
                                      </p:cBhvr>
                                      <p:to>
                                        <p:strVal val="visible"/>
                                      </p:to>
                                    </p:set>
                                    <p:anim calcmode="lin" valueType="num">
                                      <p:cBhvr additive="base">
                                        <p:cTn id="13" dur="500" fill="hold"/>
                                        <p:tgtEl>
                                          <p:spTgt spid="169991"/>
                                        </p:tgtEl>
                                        <p:attrNameLst>
                                          <p:attrName>ppt_x</p:attrName>
                                        </p:attrNameLst>
                                      </p:cBhvr>
                                      <p:tavLst>
                                        <p:tav tm="0">
                                          <p:val>
                                            <p:strVal val="#ppt_x"/>
                                          </p:val>
                                        </p:tav>
                                        <p:tav tm="100000">
                                          <p:val>
                                            <p:strVal val="#ppt_x"/>
                                          </p:val>
                                        </p:tav>
                                      </p:tavLst>
                                    </p:anim>
                                    <p:anim calcmode="lin" valueType="num">
                                      <p:cBhvr additive="base">
                                        <p:cTn id="14" dur="500" fill="hold"/>
                                        <p:tgtEl>
                                          <p:spTgt spid="169991"/>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69991"/>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9992"/>
                                        </p:tgtEl>
                                        <p:attrNameLst>
                                          <p:attrName>style.visibility</p:attrName>
                                        </p:attrNameLst>
                                      </p:cBhvr>
                                      <p:to>
                                        <p:strVal val="visible"/>
                                      </p:to>
                                    </p:set>
                                    <p:anim calcmode="lin" valueType="num">
                                      <p:cBhvr additive="base">
                                        <p:cTn id="19" dur="500" fill="hold"/>
                                        <p:tgtEl>
                                          <p:spTgt spid="169992"/>
                                        </p:tgtEl>
                                        <p:attrNameLst>
                                          <p:attrName>ppt_x</p:attrName>
                                        </p:attrNameLst>
                                      </p:cBhvr>
                                      <p:tavLst>
                                        <p:tav tm="0">
                                          <p:val>
                                            <p:strVal val="#ppt_x"/>
                                          </p:val>
                                        </p:tav>
                                        <p:tav tm="100000">
                                          <p:val>
                                            <p:strVal val="#ppt_x"/>
                                          </p:val>
                                        </p:tav>
                                      </p:tavLst>
                                    </p:anim>
                                    <p:anim calcmode="lin" valueType="num">
                                      <p:cBhvr additive="base">
                                        <p:cTn id="20" dur="500" fill="hold"/>
                                        <p:tgtEl>
                                          <p:spTgt spid="169992"/>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6999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90" grpId="0" animBg="1" autoUpdateAnimBg="0"/>
      <p:bldP spid="169991" grpId="0" animBg="1" autoUpdateAnimBg="0"/>
      <p:bldP spid="169992"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5C5FC3CF-0816-472C-9E52-C9F6A3FC7A5B}" type="slidenum">
              <a:rPr lang="en-US" altLang="zh-CN"/>
              <a:pPr>
                <a:defRPr/>
              </a:pPr>
              <a:t>24</a:t>
            </a:fld>
            <a:endParaRPr lang="en-US" altLang="zh-CN"/>
          </a:p>
        </p:txBody>
      </p:sp>
      <p:sp>
        <p:nvSpPr>
          <p:cNvPr id="38915" name="Rectangle 2"/>
          <p:cNvSpPr>
            <a:spLocks noGrp="1" noChangeArrowheads="1"/>
          </p:cNvSpPr>
          <p:nvPr>
            <p:ph type="title"/>
          </p:nvPr>
        </p:nvSpPr>
        <p:spPr>
          <a:xfrm>
            <a:off x="457200" y="122238"/>
            <a:ext cx="7543800" cy="714375"/>
          </a:xfrm>
        </p:spPr>
        <p:txBody>
          <a:bodyPr/>
          <a:lstStyle/>
          <a:p>
            <a:pPr eaLnBrk="1" hangingPunct="1"/>
            <a:r>
              <a:rPr lang="en-US" altLang="zh-CN" sz="4000" smtClean="0">
                <a:latin typeface="楷体_GB2312" pitchFamily="49" charset="-122"/>
                <a:ea typeface="楷体_GB2312" pitchFamily="49" charset="-122"/>
                <a:cs typeface="Times New Roman" charset="0"/>
              </a:rPr>
              <a:t>3.3 DRAM</a:t>
            </a:r>
            <a:r>
              <a:rPr lang="zh-CN" altLang="en-US" sz="4000" smtClean="0">
                <a:latin typeface="楷体_GB2312" pitchFamily="49" charset="-122"/>
                <a:ea typeface="楷体_GB2312" pitchFamily="49" charset="-122"/>
                <a:cs typeface="Times New Roman" charset="0"/>
              </a:rPr>
              <a:t>存储器</a:t>
            </a:r>
          </a:p>
        </p:txBody>
      </p:sp>
      <p:pic>
        <p:nvPicPr>
          <p:cNvPr id="38916" name="Picture 4" descr="3a8">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288" y="3284538"/>
            <a:ext cx="7993062" cy="291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7" name="Rectangle 5"/>
          <p:cNvSpPr>
            <a:spLocks noChangeArrowheads="1"/>
          </p:cNvSpPr>
          <p:nvPr/>
        </p:nvSpPr>
        <p:spPr bwMode="auto">
          <a:xfrm>
            <a:off x="395288" y="836613"/>
            <a:ext cx="7848600"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a:latin typeface="楷体_GB2312" pitchFamily="49" charset="-122"/>
              </a:rPr>
              <a:t>三、读</a:t>
            </a:r>
            <a:r>
              <a:rPr lang="en-US" altLang="zh-CN">
                <a:latin typeface="楷体_GB2312" pitchFamily="49" charset="-122"/>
              </a:rPr>
              <a:t>/</a:t>
            </a:r>
            <a:r>
              <a:rPr lang="zh-CN" altLang="en-US">
                <a:latin typeface="楷体_GB2312" pitchFamily="49" charset="-122"/>
              </a:rPr>
              <a:t>写周期</a:t>
            </a:r>
          </a:p>
          <a:p>
            <a:r>
              <a:rPr lang="zh-CN" altLang="en-US">
                <a:latin typeface="楷体_GB2312" pitchFamily="49" charset="-122"/>
              </a:rPr>
              <a:t>    读周期、写周期的定义是从行选通信号</a:t>
            </a:r>
            <a:r>
              <a:rPr lang="en-US" altLang="zh-CN">
                <a:latin typeface="楷体_GB2312" pitchFamily="49" charset="-122"/>
              </a:rPr>
              <a:t>RAS</a:t>
            </a:r>
            <a:r>
              <a:rPr lang="zh-CN" altLang="en-US">
                <a:latin typeface="楷体_GB2312" pitchFamily="49" charset="-122"/>
              </a:rPr>
              <a:t>下降沿开始，到下一个</a:t>
            </a:r>
            <a:r>
              <a:rPr lang="en-US" altLang="zh-CN">
                <a:latin typeface="楷体_GB2312" pitchFamily="49" charset="-122"/>
              </a:rPr>
              <a:t>RAS</a:t>
            </a:r>
            <a:r>
              <a:rPr lang="zh-CN" altLang="en-US">
                <a:latin typeface="楷体_GB2312" pitchFamily="49" charset="-122"/>
              </a:rPr>
              <a:t>信号的下降沿为止的时间，也就是连续两个读周期的时间间隔。通常为控制方便，读周期和写周期时间相等。</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B7103CAC-CBA1-43FA-B442-7B597114BE0F}" type="slidenum">
              <a:rPr lang="en-US" altLang="zh-CN"/>
              <a:pPr>
                <a:defRPr/>
              </a:pPr>
              <a:t>25</a:t>
            </a:fld>
            <a:endParaRPr lang="en-US" altLang="zh-CN"/>
          </a:p>
        </p:txBody>
      </p:sp>
      <p:sp>
        <p:nvSpPr>
          <p:cNvPr id="39939" name="Rectangle 2"/>
          <p:cNvSpPr>
            <a:spLocks noGrp="1" noChangeArrowheads="1"/>
          </p:cNvSpPr>
          <p:nvPr>
            <p:ph type="title"/>
          </p:nvPr>
        </p:nvSpPr>
        <p:spPr>
          <a:xfrm>
            <a:off x="468313" y="260350"/>
            <a:ext cx="7543800" cy="569913"/>
          </a:xfrm>
        </p:spPr>
        <p:txBody>
          <a:bodyPr/>
          <a:lstStyle/>
          <a:p>
            <a:pPr eaLnBrk="1" hangingPunct="1"/>
            <a:r>
              <a:rPr lang="en-US" altLang="zh-CN" sz="3600" smtClean="0">
                <a:latin typeface="楷体_GB2312" pitchFamily="49" charset="-122"/>
                <a:ea typeface="楷体_GB2312" pitchFamily="49" charset="-122"/>
                <a:cs typeface="Times New Roman" charset="0"/>
              </a:rPr>
              <a:t>3.3 DRAM</a:t>
            </a:r>
            <a:r>
              <a:rPr lang="zh-CN" altLang="en-US" sz="3600" smtClean="0">
                <a:latin typeface="楷体_GB2312" pitchFamily="49" charset="-122"/>
                <a:ea typeface="楷体_GB2312" pitchFamily="49" charset="-122"/>
                <a:cs typeface="Times New Roman" charset="0"/>
              </a:rPr>
              <a:t>存储器</a:t>
            </a:r>
          </a:p>
        </p:txBody>
      </p:sp>
      <p:sp>
        <p:nvSpPr>
          <p:cNvPr id="39940" name="Rectangle 3"/>
          <p:cNvSpPr>
            <a:spLocks noGrp="1" noChangeArrowheads="1"/>
          </p:cNvSpPr>
          <p:nvPr>
            <p:ph type="body" idx="1"/>
          </p:nvPr>
        </p:nvSpPr>
        <p:spPr>
          <a:xfrm>
            <a:off x="304800" y="1196975"/>
            <a:ext cx="7848600" cy="4670425"/>
          </a:xfrm>
        </p:spPr>
        <p:txBody>
          <a:bodyPr/>
          <a:lstStyle/>
          <a:p>
            <a:pPr eaLnBrk="1" hangingPunct="1">
              <a:lnSpc>
                <a:spcPct val="80000"/>
              </a:lnSpc>
              <a:buFont typeface="Wingdings" pitchFamily="2" charset="2"/>
              <a:buNone/>
            </a:pPr>
            <a:r>
              <a:rPr lang="zh-CN" altLang="en-US" sz="2800" smtClean="0">
                <a:latin typeface="楷体_GB2312" pitchFamily="49" charset="-122"/>
                <a:ea typeface="楷体_GB2312" pitchFamily="49" charset="-122"/>
              </a:rPr>
              <a:t>四、 刷新周期 </a:t>
            </a:r>
          </a:p>
          <a:p>
            <a:pPr eaLnBrk="1" hangingPunct="1">
              <a:lnSpc>
                <a:spcPct val="80000"/>
              </a:lnSpc>
            </a:pPr>
            <a:r>
              <a:rPr lang="zh-CN" altLang="en-US" sz="2800" smtClean="0">
                <a:latin typeface="楷体_GB2312" pitchFamily="49" charset="-122"/>
                <a:ea typeface="楷体_GB2312" pitchFamily="49" charset="-122"/>
              </a:rPr>
              <a:t>刷新周期：</a:t>
            </a:r>
            <a:r>
              <a:rPr lang="en-US" altLang="zh-CN" sz="2800" smtClean="0">
                <a:latin typeface="楷体_GB2312" pitchFamily="49" charset="-122"/>
                <a:ea typeface="楷体_GB2312" pitchFamily="49" charset="-122"/>
              </a:rPr>
              <a:t>DRAM</a:t>
            </a:r>
            <a:r>
              <a:rPr lang="zh-CN" altLang="en-US" sz="2800" smtClean="0">
                <a:latin typeface="楷体_GB2312" pitchFamily="49" charset="-122"/>
                <a:ea typeface="楷体_GB2312" pitchFamily="49" charset="-122"/>
              </a:rPr>
              <a:t>存储位元是基于电容器上的电荷量存储，这个电荷量随着时间和温度而减少，因此必须定期地刷新，以保持它们原来记忆的正确信息。</a:t>
            </a:r>
          </a:p>
          <a:p>
            <a:pPr eaLnBrk="1" hangingPunct="1">
              <a:lnSpc>
                <a:spcPct val="80000"/>
              </a:lnSpc>
            </a:pPr>
            <a:r>
              <a:rPr lang="zh-CN" altLang="en-US" sz="2800" smtClean="0">
                <a:latin typeface="楷体_GB2312" pitchFamily="49" charset="-122"/>
                <a:ea typeface="楷体_GB2312" pitchFamily="49" charset="-122"/>
              </a:rPr>
              <a:t>刷新操作有两种刷新方式：</a:t>
            </a:r>
          </a:p>
          <a:p>
            <a:pPr lvl="1" eaLnBrk="1" hangingPunct="1">
              <a:lnSpc>
                <a:spcPct val="80000"/>
              </a:lnSpc>
            </a:pPr>
            <a:r>
              <a:rPr lang="zh-CN" altLang="en-US" sz="2800" smtClean="0">
                <a:latin typeface="楷体_GB2312" pitchFamily="49" charset="-122"/>
                <a:ea typeface="楷体_GB2312" pitchFamily="49" charset="-122"/>
              </a:rPr>
              <a:t>集中式刷新</a:t>
            </a:r>
            <a:r>
              <a:rPr lang="en-US" altLang="zh-CN" sz="2800" smtClean="0">
                <a:latin typeface="楷体_GB2312" pitchFamily="49" charset="-122"/>
                <a:ea typeface="楷体_GB2312" pitchFamily="49" charset="-122"/>
              </a:rPr>
              <a:t>:DRAM</a:t>
            </a:r>
            <a:r>
              <a:rPr lang="zh-CN" altLang="en-US" sz="2800" smtClean="0">
                <a:latin typeface="楷体_GB2312" pitchFamily="49" charset="-122"/>
                <a:ea typeface="楷体_GB2312" pitchFamily="49" charset="-122"/>
              </a:rPr>
              <a:t>的所有行在每一个刷新周期中都被刷新。</a:t>
            </a:r>
          </a:p>
          <a:p>
            <a:pPr lvl="1" eaLnBrk="1" hangingPunct="1">
              <a:lnSpc>
                <a:spcPct val="80000"/>
              </a:lnSpc>
            </a:pPr>
            <a:r>
              <a:rPr lang="zh-CN" altLang="en-US" sz="2800" smtClean="0">
                <a:latin typeface="楷体_GB2312" pitchFamily="49" charset="-122"/>
                <a:ea typeface="楷体_GB2312" pitchFamily="49" charset="-122"/>
              </a:rPr>
              <a:t>分散式刷新</a:t>
            </a:r>
            <a:r>
              <a:rPr lang="en-US" altLang="zh-CN" sz="2800" smtClean="0">
                <a:latin typeface="楷体_GB2312" pitchFamily="49" charset="-122"/>
                <a:ea typeface="楷体_GB2312" pitchFamily="49" charset="-122"/>
              </a:rPr>
              <a:t>:</a:t>
            </a:r>
            <a:r>
              <a:rPr lang="zh-CN" altLang="en-US" sz="2800" smtClean="0">
                <a:latin typeface="楷体_GB2312" pitchFamily="49" charset="-122"/>
                <a:ea typeface="楷体_GB2312" pitchFamily="49" charset="-122"/>
              </a:rPr>
              <a:t>每一行的刷新插入到正常的读</a:t>
            </a:r>
            <a:r>
              <a:rPr lang="en-US" altLang="zh-CN" sz="2800" smtClean="0">
                <a:latin typeface="楷体_GB2312" pitchFamily="49" charset="-122"/>
                <a:ea typeface="楷体_GB2312" pitchFamily="49" charset="-122"/>
              </a:rPr>
              <a:t>/</a:t>
            </a:r>
            <a:r>
              <a:rPr lang="zh-CN" altLang="en-US" sz="2800" smtClean="0">
                <a:latin typeface="楷体_GB2312" pitchFamily="49" charset="-122"/>
                <a:ea typeface="楷体_GB2312" pitchFamily="49" charset="-122"/>
              </a:rPr>
              <a:t>写周期之中。</a:t>
            </a:r>
          </a:p>
          <a:p>
            <a:pPr lvl="1" eaLnBrk="1" hangingPunct="1">
              <a:lnSpc>
                <a:spcPct val="80000"/>
              </a:lnSpc>
            </a:pPr>
            <a:r>
              <a:rPr lang="zh-CN" altLang="en-US" sz="2800" smtClean="0">
                <a:latin typeface="楷体_GB2312" pitchFamily="49" charset="-122"/>
                <a:ea typeface="楷体_GB2312" pitchFamily="49" charset="-122"/>
              </a:rPr>
              <a:t>异步式刷新：方式是前两种方式的结合。</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A09C0394-9BA3-4E4F-B11C-CE293EDD38F6}" type="slidenum">
              <a:rPr lang="en-US" altLang="zh-CN"/>
              <a:pPr>
                <a:defRPr/>
              </a:pPr>
              <a:t>26</a:t>
            </a:fld>
            <a:endParaRPr lang="en-US" altLang="zh-CN"/>
          </a:p>
        </p:txBody>
      </p:sp>
      <p:sp>
        <p:nvSpPr>
          <p:cNvPr id="40963" name="Rectangle 5"/>
          <p:cNvSpPr>
            <a:spLocks noChangeArrowheads="1"/>
          </p:cNvSpPr>
          <p:nvPr/>
        </p:nvSpPr>
        <p:spPr bwMode="auto">
          <a:xfrm>
            <a:off x="179388" y="115888"/>
            <a:ext cx="7777162"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a:latin typeface="楷体_GB2312" pitchFamily="49" charset="-122"/>
              </a:rPr>
              <a:t>集中式刷新</a:t>
            </a:r>
            <a:r>
              <a:rPr lang="en-US" altLang="zh-CN">
                <a:latin typeface="楷体_GB2312" pitchFamily="49" charset="-122"/>
              </a:rPr>
              <a:t>:DRAM</a:t>
            </a:r>
            <a:r>
              <a:rPr lang="zh-CN" altLang="en-US">
                <a:latin typeface="楷体_GB2312" pitchFamily="49" charset="-122"/>
              </a:rPr>
              <a:t>的所有行在每一个刷新周期中都被刷新</a:t>
            </a:r>
          </a:p>
          <a:p>
            <a:r>
              <a:rPr lang="zh-CN" altLang="en-US">
                <a:latin typeface="楷体_GB2312" pitchFamily="49" charset="-122"/>
              </a:rPr>
              <a:t>    例如</a:t>
            </a:r>
            <a:r>
              <a:rPr lang="en-US" altLang="zh-CN">
                <a:latin typeface="楷体_GB2312" pitchFamily="49" charset="-122"/>
              </a:rPr>
              <a:t>128x128</a:t>
            </a:r>
            <a:r>
              <a:rPr lang="zh-CN" altLang="en-US">
                <a:latin typeface="楷体_GB2312" pitchFamily="49" charset="-122"/>
              </a:rPr>
              <a:t>矩阵存储器</a:t>
            </a:r>
            <a:r>
              <a:rPr lang="zh-CN" altLang="en-US" b="1">
                <a:latin typeface="楷体_GB2312" pitchFamily="49" charset="-122"/>
              </a:rPr>
              <a:t>，</a:t>
            </a:r>
            <a:r>
              <a:rPr lang="zh-CN" altLang="en-US">
                <a:latin typeface="楷体_GB2312" pitchFamily="49" charset="-122"/>
              </a:rPr>
              <a:t>刷新时间</a:t>
            </a:r>
            <a:r>
              <a:rPr lang="en-US" altLang="zh-CN">
                <a:latin typeface="楷体_GB2312" pitchFamily="49" charset="-122"/>
              </a:rPr>
              <a:t>128</a:t>
            </a:r>
            <a:r>
              <a:rPr lang="zh-CN" altLang="en-US">
                <a:latin typeface="楷体_GB2312" pitchFamily="49" charset="-122"/>
              </a:rPr>
              <a:t>个读周期</a:t>
            </a:r>
            <a:r>
              <a:rPr lang="zh-CN" altLang="en-US" b="1">
                <a:latin typeface="楷体_GB2312" pitchFamily="49" charset="-122"/>
              </a:rPr>
              <a:t>。</a:t>
            </a:r>
            <a:r>
              <a:rPr lang="zh-CN" altLang="en-US">
                <a:latin typeface="楷体_GB2312" pitchFamily="49" charset="-122"/>
              </a:rPr>
              <a:t>设读</a:t>
            </a:r>
            <a:r>
              <a:rPr lang="en-US" altLang="zh-CN">
                <a:latin typeface="楷体_GB2312" pitchFamily="49" charset="-122"/>
              </a:rPr>
              <a:t>/</a:t>
            </a:r>
            <a:r>
              <a:rPr lang="zh-CN" altLang="en-US">
                <a:latin typeface="楷体_GB2312" pitchFamily="49" charset="-122"/>
              </a:rPr>
              <a:t>写周期</a:t>
            </a:r>
            <a:r>
              <a:rPr lang="en-US" altLang="zh-CN">
                <a:latin typeface="楷体_GB2312" pitchFamily="49" charset="-122"/>
              </a:rPr>
              <a:t>0.5μs,</a:t>
            </a:r>
            <a:r>
              <a:rPr lang="zh-CN" altLang="en-US">
                <a:latin typeface="楷体_GB2312" pitchFamily="49" charset="-122"/>
              </a:rPr>
              <a:t>刷新周期</a:t>
            </a:r>
            <a:r>
              <a:rPr lang="en-US" altLang="zh-CN">
                <a:latin typeface="楷体_GB2312" pitchFamily="49" charset="-122"/>
              </a:rPr>
              <a:t>2ms</a:t>
            </a:r>
            <a:r>
              <a:rPr lang="zh-CN" altLang="en-US">
                <a:latin typeface="楷体_GB2312" pitchFamily="49" charset="-122"/>
              </a:rPr>
              <a:t>。所有行的集中式刷新必须每隔</a:t>
            </a:r>
            <a:r>
              <a:rPr lang="en-US" altLang="zh-CN">
                <a:latin typeface="楷体_GB2312" pitchFamily="49" charset="-122"/>
              </a:rPr>
              <a:t>2ms</a:t>
            </a:r>
            <a:r>
              <a:rPr lang="zh-CN" altLang="en-US">
                <a:latin typeface="楷体_GB2312" pitchFamily="49" charset="-122"/>
              </a:rPr>
              <a:t>进行一次。为此将</a:t>
            </a:r>
            <a:r>
              <a:rPr lang="en-US" altLang="zh-CN">
                <a:latin typeface="楷体_GB2312" pitchFamily="49" charset="-122"/>
              </a:rPr>
              <a:t>2ms</a:t>
            </a:r>
            <a:r>
              <a:rPr lang="zh-CN" altLang="en-US">
                <a:latin typeface="楷体_GB2312" pitchFamily="49" charset="-122"/>
              </a:rPr>
              <a:t>时间分为两部分：前一段时间进行正常的读</a:t>
            </a:r>
            <a:r>
              <a:rPr lang="en-US" altLang="zh-CN">
                <a:latin typeface="楷体_GB2312" pitchFamily="49" charset="-122"/>
              </a:rPr>
              <a:t>/</a:t>
            </a:r>
            <a:r>
              <a:rPr lang="zh-CN" altLang="en-US">
                <a:latin typeface="楷体_GB2312" pitchFamily="49" charset="-122"/>
              </a:rPr>
              <a:t>写操作，后一段时间做为集中刷新操作时间。</a:t>
            </a:r>
          </a:p>
        </p:txBody>
      </p:sp>
      <p:pic>
        <p:nvPicPr>
          <p:cNvPr id="4096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3500438"/>
            <a:ext cx="7920038" cy="245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56F6BB1F-D3C2-4A45-B735-DE332535D764}" type="slidenum">
              <a:rPr lang="en-US" altLang="zh-CN"/>
              <a:pPr>
                <a:defRPr/>
              </a:pPr>
              <a:t>27</a:t>
            </a:fld>
            <a:endParaRPr lang="en-US" altLang="zh-CN"/>
          </a:p>
        </p:txBody>
      </p:sp>
      <p:sp>
        <p:nvSpPr>
          <p:cNvPr id="41987" name="Rectangle 4"/>
          <p:cNvSpPr>
            <a:spLocks noChangeArrowheads="1"/>
          </p:cNvSpPr>
          <p:nvPr/>
        </p:nvSpPr>
        <p:spPr bwMode="auto">
          <a:xfrm>
            <a:off x="457200" y="1125538"/>
            <a:ext cx="8229600" cy="500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80000"/>
              </a:lnSpc>
              <a:spcBef>
                <a:spcPct val="20000"/>
              </a:spcBef>
              <a:buClr>
                <a:schemeClr val="tx2"/>
              </a:buClr>
              <a:buSzPct val="70000"/>
              <a:buFont typeface="Wingdings" pitchFamily="2" charset="2"/>
              <a:buChar char="l"/>
            </a:pPr>
            <a:endParaRPr lang="zh-CN" altLang="zh-CN" sz="3000">
              <a:ea typeface="宋体" pitchFamily="2" charset="-122"/>
            </a:endParaRPr>
          </a:p>
        </p:txBody>
      </p:sp>
      <p:sp>
        <p:nvSpPr>
          <p:cNvPr id="41988" name="Rectangle 5"/>
          <p:cNvSpPr>
            <a:spLocks noChangeArrowheads="1"/>
          </p:cNvSpPr>
          <p:nvPr/>
        </p:nvSpPr>
        <p:spPr bwMode="auto">
          <a:xfrm>
            <a:off x="250825" y="476250"/>
            <a:ext cx="748982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lvl="1"/>
            <a:r>
              <a:rPr lang="zh-CN" altLang="en-US">
                <a:latin typeface="楷体_GB2312" pitchFamily="49" charset="-122"/>
              </a:rPr>
              <a:t>分散式刷新</a:t>
            </a:r>
            <a:r>
              <a:rPr lang="en-US" altLang="zh-CN">
                <a:latin typeface="楷体_GB2312" pitchFamily="49" charset="-122"/>
              </a:rPr>
              <a:t>:</a:t>
            </a:r>
            <a:r>
              <a:rPr lang="zh-CN" altLang="en-US">
                <a:latin typeface="楷体_GB2312" pitchFamily="49" charset="-122"/>
              </a:rPr>
              <a:t>每一行的刷新插入到正常的读</a:t>
            </a:r>
            <a:r>
              <a:rPr lang="en-US" altLang="zh-CN">
                <a:latin typeface="楷体_GB2312" pitchFamily="49" charset="-122"/>
              </a:rPr>
              <a:t>/</a:t>
            </a:r>
            <a:r>
              <a:rPr lang="zh-CN" altLang="en-US">
                <a:latin typeface="楷体_GB2312" pitchFamily="49" charset="-122"/>
              </a:rPr>
              <a:t>写周期之中。</a:t>
            </a:r>
          </a:p>
          <a:p>
            <a:pPr lvl="2"/>
            <a:r>
              <a:rPr lang="zh-CN" altLang="en-US">
                <a:latin typeface="楷体_GB2312" pitchFamily="49" charset="-122"/>
              </a:rPr>
              <a:t>例如</a:t>
            </a:r>
            <a:r>
              <a:rPr lang="en-US" altLang="zh-CN">
                <a:latin typeface="楷体_GB2312" pitchFamily="49" charset="-122"/>
              </a:rPr>
              <a:t>128x128</a:t>
            </a:r>
            <a:r>
              <a:rPr lang="zh-CN" altLang="en-US">
                <a:latin typeface="楷体_GB2312" pitchFamily="49" charset="-122"/>
              </a:rPr>
              <a:t>矩阵存储器</a:t>
            </a:r>
            <a:r>
              <a:rPr lang="zh-CN" altLang="en-US" b="1">
                <a:latin typeface="楷体_GB2312" pitchFamily="49" charset="-122"/>
              </a:rPr>
              <a:t>，</a:t>
            </a:r>
            <a:r>
              <a:rPr lang="zh-CN" altLang="en-US">
                <a:latin typeface="楷体_GB2312" pitchFamily="49" charset="-122"/>
              </a:rPr>
              <a:t>刷新时间</a:t>
            </a:r>
            <a:r>
              <a:rPr lang="en-US" altLang="zh-CN">
                <a:latin typeface="楷体_GB2312" pitchFamily="49" charset="-122"/>
              </a:rPr>
              <a:t>128</a:t>
            </a:r>
            <a:r>
              <a:rPr lang="zh-CN" altLang="en-US">
                <a:latin typeface="楷体_GB2312" pitchFamily="49" charset="-122"/>
              </a:rPr>
              <a:t>个读周期</a:t>
            </a:r>
            <a:r>
              <a:rPr lang="zh-CN" altLang="en-US" b="1">
                <a:latin typeface="楷体_GB2312" pitchFamily="49" charset="-122"/>
              </a:rPr>
              <a:t>。</a:t>
            </a:r>
            <a:r>
              <a:rPr lang="zh-CN" altLang="en-US">
                <a:latin typeface="楷体_GB2312" pitchFamily="49" charset="-122"/>
              </a:rPr>
              <a:t>设读</a:t>
            </a:r>
            <a:r>
              <a:rPr lang="en-US" altLang="zh-CN">
                <a:latin typeface="楷体_GB2312" pitchFamily="49" charset="-122"/>
              </a:rPr>
              <a:t>/</a:t>
            </a:r>
            <a:r>
              <a:rPr lang="zh-CN" altLang="en-US">
                <a:latin typeface="楷体_GB2312" pitchFamily="49" charset="-122"/>
              </a:rPr>
              <a:t>写周期</a:t>
            </a:r>
            <a:r>
              <a:rPr lang="en-US" altLang="zh-CN">
                <a:latin typeface="楷体_GB2312" pitchFamily="49" charset="-122"/>
              </a:rPr>
              <a:t>0.5μs,</a:t>
            </a:r>
            <a:r>
              <a:rPr lang="zh-CN" altLang="en-US">
                <a:latin typeface="楷体_GB2312" pitchFamily="49" charset="-122"/>
              </a:rPr>
              <a:t>刷新周期</a:t>
            </a:r>
            <a:r>
              <a:rPr lang="en-US" altLang="zh-CN">
                <a:latin typeface="楷体_GB2312" pitchFamily="49" charset="-122"/>
              </a:rPr>
              <a:t>2ms</a:t>
            </a:r>
            <a:r>
              <a:rPr lang="zh-CN" altLang="en-US">
                <a:latin typeface="楷体_GB2312" pitchFamily="49" charset="-122"/>
              </a:rPr>
              <a:t>。</a:t>
            </a:r>
          </a:p>
        </p:txBody>
      </p:sp>
      <p:pic>
        <p:nvPicPr>
          <p:cNvPr id="4198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852738"/>
            <a:ext cx="8135938" cy="305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3043429B-096B-4C17-95E8-17118BFD585F}" type="slidenum">
              <a:rPr lang="en-US" altLang="zh-CN"/>
              <a:pPr>
                <a:defRPr/>
              </a:pPr>
              <a:t>28</a:t>
            </a:fld>
            <a:endParaRPr lang="en-US" altLang="zh-CN"/>
          </a:p>
        </p:txBody>
      </p:sp>
      <p:sp>
        <p:nvSpPr>
          <p:cNvPr id="43011" name="Rectangle 4"/>
          <p:cNvSpPr>
            <a:spLocks noChangeArrowheads="1"/>
          </p:cNvSpPr>
          <p:nvPr/>
        </p:nvSpPr>
        <p:spPr bwMode="auto">
          <a:xfrm>
            <a:off x="827088" y="2668588"/>
            <a:ext cx="7416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eaLnBrk="0" hangingPunct="0"/>
            <a:r>
              <a:rPr lang="zh-CN" altLang="en-US">
                <a:latin typeface="楷体_GB2312" pitchFamily="49" charset="-122"/>
              </a:rPr>
              <a:t>。</a:t>
            </a:r>
            <a:r>
              <a:rPr lang="zh-CN" altLang="en-US" sz="1800">
                <a:ea typeface="宋体" pitchFamily="2" charset="-122"/>
              </a:rPr>
              <a:t>                                                                                                      </a:t>
            </a:r>
          </a:p>
        </p:txBody>
      </p:sp>
      <p:pic>
        <p:nvPicPr>
          <p:cNvPr id="43012" name="Picture 5" descr="t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2852738"/>
            <a:ext cx="8207375" cy="317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Rectangle 6"/>
          <p:cNvSpPr>
            <a:spLocks noChangeArrowheads="1"/>
          </p:cNvSpPr>
          <p:nvPr/>
        </p:nvSpPr>
        <p:spPr bwMode="auto">
          <a:xfrm>
            <a:off x="395288" y="620713"/>
            <a:ext cx="72009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a:latin typeface="楷体_GB2312" pitchFamily="49" charset="-122"/>
              </a:rPr>
              <a:t>异步式刷新：方式是前两种方式的结合。</a:t>
            </a:r>
          </a:p>
          <a:p>
            <a:r>
              <a:rPr lang="zh-CN" altLang="en-US">
                <a:latin typeface="楷体_GB2312" pitchFamily="49" charset="-122"/>
              </a:rPr>
              <a:t>    </a:t>
            </a:r>
            <a:r>
              <a:rPr lang="en-US" altLang="zh-CN">
                <a:latin typeface="楷体_GB2312" pitchFamily="49" charset="-122"/>
              </a:rPr>
              <a:t>2ms</a:t>
            </a:r>
            <a:r>
              <a:rPr lang="zh-CN" altLang="en-US">
                <a:latin typeface="楷体_GB2312" pitchFamily="49" charset="-122"/>
              </a:rPr>
              <a:t>内分散地把</a:t>
            </a:r>
            <a:r>
              <a:rPr lang="en-US" altLang="zh-CN">
                <a:latin typeface="楷体_GB2312" pitchFamily="49" charset="-122"/>
              </a:rPr>
              <a:t>128</a:t>
            </a:r>
            <a:r>
              <a:rPr lang="zh-CN" altLang="en-US">
                <a:latin typeface="楷体_GB2312" pitchFamily="49" charset="-122"/>
              </a:rPr>
              <a:t>行刷新一遍；</a:t>
            </a:r>
            <a:r>
              <a:rPr lang="en-US" altLang="zh-CN">
                <a:latin typeface="楷体_GB2312" pitchFamily="49" charset="-122"/>
              </a:rPr>
              <a:t>2000μs/128</a:t>
            </a:r>
            <a:r>
              <a:rPr lang="zh-CN" altLang="en-US">
                <a:latin typeface="楷体_GB2312" pitchFamily="49" charset="-122"/>
              </a:rPr>
              <a:t>约为</a:t>
            </a:r>
            <a:r>
              <a:rPr lang="en-US" altLang="zh-CN">
                <a:latin typeface="楷体_GB2312" pitchFamily="49" charset="-122"/>
              </a:rPr>
              <a:t>15.5μs,</a:t>
            </a:r>
            <a:r>
              <a:rPr lang="zh-CN" altLang="en-US">
                <a:latin typeface="楷体_GB2312" pitchFamily="49" charset="-122"/>
              </a:rPr>
              <a:t>即每隔</a:t>
            </a:r>
            <a:r>
              <a:rPr lang="en-US" altLang="zh-CN">
                <a:latin typeface="楷体_GB2312" pitchFamily="49" charset="-122"/>
              </a:rPr>
              <a:t>15.5μs</a:t>
            </a:r>
            <a:r>
              <a:rPr lang="zh-CN" altLang="en-US">
                <a:latin typeface="楷体_GB2312" pitchFamily="49" charset="-122"/>
              </a:rPr>
              <a:t>刷新一行。死时间比集中式刷新小得多。</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9B137D38-D7A8-4387-9554-2F7BDF0BF91E}" type="slidenum">
              <a:rPr lang="en-US" altLang="zh-CN"/>
              <a:pPr>
                <a:defRPr/>
              </a:pPr>
              <a:t>29</a:t>
            </a:fld>
            <a:endParaRPr lang="en-US" altLang="zh-CN"/>
          </a:p>
        </p:txBody>
      </p:sp>
      <p:sp>
        <p:nvSpPr>
          <p:cNvPr id="51203" name="Rectangle 2"/>
          <p:cNvSpPr>
            <a:spLocks noGrp="1" noChangeArrowheads="1"/>
          </p:cNvSpPr>
          <p:nvPr>
            <p:ph type="title"/>
          </p:nvPr>
        </p:nvSpPr>
        <p:spPr>
          <a:xfrm>
            <a:off x="395288" y="549275"/>
            <a:ext cx="7543800" cy="642938"/>
          </a:xfrm>
        </p:spPr>
        <p:txBody>
          <a:bodyPr/>
          <a:lstStyle/>
          <a:p>
            <a:pPr eaLnBrk="1" hangingPunct="1"/>
            <a:r>
              <a:rPr lang="en-US" altLang="zh-CN" sz="3600" smtClean="0">
                <a:latin typeface="楷体_GB2312" pitchFamily="49" charset="-122"/>
                <a:ea typeface="楷体_GB2312" pitchFamily="49" charset="-122"/>
                <a:cs typeface="Times New Roman" charset="0"/>
              </a:rPr>
              <a:t>3.3 DRAM</a:t>
            </a:r>
            <a:r>
              <a:rPr lang="zh-CN" altLang="en-US" sz="3600" smtClean="0">
                <a:latin typeface="楷体_GB2312" pitchFamily="49" charset="-122"/>
                <a:ea typeface="楷体_GB2312" pitchFamily="49" charset="-122"/>
                <a:cs typeface="Times New Roman" charset="0"/>
              </a:rPr>
              <a:t>存储器</a:t>
            </a:r>
          </a:p>
        </p:txBody>
      </p:sp>
      <p:sp>
        <p:nvSpPr>
          <p:cNvPr id="51204" name="Rectangle 3"/>
          <p:cNvSpPr>
            <a:spLocks noGrp="1" noChangeArrowheads="1"/>
          </p:cNvSpPr>
          <p:nvPr>
            <p:ph type="body" idx="1"/>
          </p:nvPr>
        </p:nvSpPr>
        <p:spPr>
          <a:xfrm>
            <a:off x="323528" y="1412776"/>
            <a:ext cx="8229600" cy="5040560"/>
          </a:xfrm>
        </p:spPr>
        <p:txBody>
          <a:bodyPr/>
          <a:lstStyle/>
          <a:p>
            <a:pPr marL="0" eaLnBrk="1" hangingPunct="1">
              <a:lnSpc>
                <a:spcPct val="130000"/>
              </a:lnSpc>
              <a:spcBef>
                <a:spcPts val="0"/>
              </a:spcBef>
              <a:buNone/>
            </a:pPr>
            <a:r>
              <a:rPr lang="zh-CN" altLang="en-US" sz="2800" dirty="0" smtClean="0">
                <a:latin typeface="楷体_GB2312" pitchFamily="49" charset="-122"/>
                <a:ea typeface="楷体_GB2312" pitchFamily="49" charset="-122"/>
              </a:rPr>
              <a:t>五、</a:t>
            </a:r>
            <a:r>
              <a:rPr lang="zh-CN" altLang="en-US" sz="2800" dirty="0">
                <a:latin typeface="楷体_GB2312" pitchFamily="49" charset="-122"/>
                <a:ea typeface="楷体_GB2312" pitchFamily="49" charset="-122"/>
              </a:rPr>
              <a:t>突发传输模式</a:t>
            </a:r>
            <a:endParaRPr lang="zh-CN" altLang="en-US" sz="2800" dirty="0" smtClean="0">
              <a:latin typeface="楷体_GB2312" pitchFamily="49" charset="-122"/>
              <a:ea typeface="楷体_GB2312" pitchFamily="49" charset="-122"/>
            </a:endParaRPr>
          </a:p>
          <a:p>
            <a:pPr marL="0" indent="0" eaLnBrk="1" hangingPunct="1">
              <a:lnSpc>
                <a:spcPct val="130000"/>
              </a:lnSpc>
              <a:spcBef>
                <a:spcPts val="0"/>
              </a:spcBef>
              <a:buNone/>
            </a:pPr>
            <a:r>
              <a:rPr lang="zh-CN" altLang="en-US" sz="2800" dirty="0" smtClean="0">
                <a:latin typeface="楷体_GB2312" pitchFamily="49" charset="-122"/>
                <a:ea typeface="楷体_GB2312" pitchFamily="49" charset="-122"/>
              </a:rPr>
              <a:t>    突发</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Burst</a:t>
            </a:r>
            <a:r>
              <a:rPr lang="zh-CN" altLang="en-US" sz="2800" dirty="0">
                <a:latin typeface="楷体_GB2312" pitchFamily="49" charset="-122"/>
                <a:ea typeface="楷体_GB2312" pitchFamily="49" charset="-122"/>
              </a:rPr>
              <a:t>）访问是指在存储器同一行中对相邻的存储单元进行连续访问的方式，突发长度可以从几字节到数千字节不等。由于访问地址是连续的，只需要向存储器发送一次访问地址。</a:t>
            </a:r>
            <a:endParaRPr lang="en-US" altLang="zh-CN" sz="2800" dirty="0">
              <a:latin typeface="楷体_GB2312" pitchFamily="49" charset="-122"/>
              <a:ea typeface="楷体_GB2312" pitchFamily="49" charset="-122"/>
            </a:endParaRPr>
          </a:p>
          <a:p>
            <a:pPr marL="0" indent="0" eaLnBrk="1" hangingPunct="1">
              <a:lnSpc>
                <a:spcPct val="130000"/>
              </a:lnSpc>
              <a:spcBef>
                <a:spcPts val="0"/>
              </a:spcBef>
              <a:buNone/>
            </a:pPr>
            <a:r>
              <a:rPr lang="zh-CN" altLang="en-US" sz="2800" dirty="0" smtClean="0">
                <a:latin typeface="楷体_GB2312" pitchFamily="49" charset="-122"/>
                <a:ea typeface="楷体_GB2312" pitchFamily="49" charset="-122"/>
              </a:rPr>
              <a:t>    通过</a:t>
            </a:r>
            <a:r>
              <a:rPr lang="zh-CN" altLang="en-US" sz="2800" dirty="0">
                <a:latin typeface="楷体_GB2312" pitchFamily="49" charset="-122"/>
                <a:ea typeface="楷体_GB2312" pitchFamily="49" charset="-122"/>
              </a:rPr>
              <a:t>支持突发模式、快速页模式和扩展数据输出等方式，可以允许重复存取</a:t>
            </a:r>
            <a:r>
              <a:rPr lang="en-US" altLang="zh-CN" sz="2800" dirty="0">
                <a:latin typeface="楷体_GB2312" pitchFamily="49" charset="-122"/>
                <a:ea typeface="楷体_GB2312" pitchFamily="49" charset="-122"/>
              </a:rPr>
              <a:t>DRAM</a:t>
            </a:r>
            <a:r>
              <a:rPr lang="zh-CN" altLang="en-US" sz="2800" dirty="0">
                <a:latin typeface="楷体_GB2312" pitchFamily="49" charset="-122"/>
                <a:ea typeface="楷体_GB2312" pitchFamily="49" charset="-122"/>
              </a:rPr>
              <a:t>存储矩阵的行缓冲区，无须增加另外的行存取时间，提升等效数据访问速度</a:t>
            </a:r>
            <a:r>
              <a:rPr lang="zh-CN" altLang="en-US" sz="2800" dirty="0" smtClean="0">
                <a:latin typeface="楷体_GB2312" pitchFamily="49" charset="-122"/>
                <a:ea typeface="楷体_GB2312" pitchFamily="49" charset="-122"/>
              </a:rPr>
              <a:t>。</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9B137D38-D7A8-4387-9554-2F7BDF0BF91E}" type="slidenum">
              <a:rPr lang="en-US" altLang="zh-CN"/>
              <a:pPr>
                <a:defRPr/>
              </a:pPr>
              <a:t>30</a:t>
            </a:fld>
            <a:endParaRPr lang="en-US" altLang="zh-CN"/>
          </a:p>
        </p:txBody>
      </p:sp>
      <p:sp>
        <p:nvSpPr>
          <p:cNvPr id="51203" name="Rectangle 2"/>
          <p:cNvSpPr>
            <a:spLocks noGrp="1" noChangeArrowheads="1"/>
          </p:cNvSpPr>
          <p:nvPr>
            <p:ph type="title"/>
          </p:nvPr>
        </p:nvSpPr>
        <p:spPr>
          <a:xfrm>
            <a:off x="395288" y="418650"/>
            <a:ext cx="7543800" cy="642938"/>
          </a:xfrm>
        </p:spPr>
        <p:txBody>
          <a:bodyPr/>
          <a:lstStyle/>
          <a:p>
            <a:pPr eaLnBrk="1" hangingPunct="1"/>
            <a:r>
              <a:rPr lang="en-US" altLang="zh-CN" sz="3600" smtClean="0">
                <a:latin typeface="楷体_GB2312" pitchFamily="49" charset="-122"/>
                <a:ea typeface="楷体_GB2312" pitchFamily="49" charset="-122"/>
                <a:cs typeface="Times New Roman" charset="0"/>
              </a:rPr>
              <a:t>3.3 DRAM</a:t>
            </a:r>
            <a:r>
              <a:rPr lang="zh-CN" altLang="en-US" sz="3600" smtClean="0">
                <a:latin typeface="楷体_GB2312" pitchFamily="49" charset="-122"/>
                <a:ea typeface="楷体_GB2312" pitchFamily="49" charset="-122"/>
                <a:cs typeface="Times New Roman" charset="0"/>
              </a:rPr>
              <a:t>存储器</a:t>
            </a:r>
          </a:p>
        </p:txBody>
      </p:sp>
      <p:sp>
        <p:nvSpPr>
          <p:cNvPr id="51204" name="Rectangle 3"/>
          <p:cNvSpPr>
            <a:spLocks noGrp="1" noChangeArrowheads="1"/>
          </p:cNvSpPr>
          <p:nvPr>
            <p:ph type="body" idx="1"/>
          </p:nvPr>
        </p:nvSpPr>
        <p:spPr>
          <a:xfrm>
            <a:off x="323528" y="1138135"/>
            <a:ext cx="8229600" cy="3168352"/>
          </a:xfrm>
        </p:spPr>
        <p:txBody>
          <a:bodyPr/>
          <a:lstStyle/>
          <a:p>
            <a:pPr eaLnBrk="1" hangingPunct="1">
              <a:spcBef>
                <a:spcPts val="0"/>
              </a:spcBef>
              <a:buNone/>
            </a:pPr>
            <a:r>
              <a:rPr lang="zh-CN" altLang="en-US" sz="2800" dirty="0" smtClean="0">
                <a:latin typeface="楷体_GB2312" pitchFamily="49" charset="-122"/>
                <a:ea typeface="楷体_GB2312" pitchFamily="49" charset="-122"/>
              </a:rPr>
              <a:t>五、</a:t>
            </a:r>
            <a:r>
              <a:rPr lang="zh-CN" altLang="en-US" sz="2800" dirty="0">
                <a:latin typeface="楷体_GB2312" pitchFamily="49" charset="-122"/>
                <a:ea typeface="楷体_GB2312" pitchFamily="49" charset="-122"/>
              </a:rPr>
              <a:t>突发传输模式</a:t>
            </a:r>
            <a:endParaRPr lang="zh-CN" altLang="en-US" sz="2800" dirty="0" smtClean="0">
              <a:latin typeface="楷体_GB2312" pitchFamily="49" charset="-122"/>
              <a:ea typeface="楷体_GB2312" pitchFamily="49" charset="-122"/>
            </a:endParaRPr>
          </a:p>
          <a:p>
            <a:pPr marL="0" indent="0" eaLnBrk="1" hangingPunct="1">
              <a:spcBef>
                <a:spcPts val="0"/>
              </a:spcBef>
              <a:buNone/>
            </a:pPr>
            <a:r>
              <a:rPr lang="zh-CN" altLang="en-US" sz="2800" dirty="0" smtClean="0">
                <a:latin typeface="楷体_GB2312" pitchFamily="49" charset="-122"/>
                <a:ea typeface="楷体_GB2312" pitchFamily="49" charset="-122"/>
              </a:rPr>
              <a:t>    快速页模式动态存储器，它是根据程序的局部性原理来实现的。读周期和写周期中，为了寻找一个确定的存储单元地址，首先由低电平的行选通信号</a:t>
            </a:r>
            <a:r>
              <a:rPr lang="en-US" altLang="zh-CN" sz="2800" dirty="0" smtClean="0">
                <a:latin typeface="楷体_GB2312" pitchFamily="49" charset="-122"/>
                <a:ea typeface="楷体_GB2312" pitchFamily="49" charset="-122"/>
              </a:rPr>
              <a:t>RAS</a:t>
            </a:r>
            <a:r>
              <a:rPr lang="zh-CN" altLang="en-US" sz="2800" dirty="0" smtClean="0">
                <a:latin typeface="楷体_GB2312" pitchFamily="49" charset="-122"/>
                <a:ea typeface="楷体_GB2312" pitchFamily="49" charset="-122"/>
              </a:rPr>
              <a:t>确定行地址，然后由低电平的列选信号</a:t>
            </a:r>
            <a:r>
              <a:rPr lang="en-US" altLang="zh-CN" sz="2800" dirty="0" smtClean="0">
                <a:latin typeface="楷体_GB2312" pitchFamily="49" charset="-122"/>
                <a:ea typeface="楷体_GB2312" pitchFamily="49" charset="-122"/>
              </a:rPr>
              <a:t>CAS</a:t>
            </a:r>
            <a:r>
              <a:rPr lang="zh-CN" altLang="en-US" sz="2800" dirty="0" smtClean="0">
                <a:latin typeface="楷体_GB2312" pitchFamily="49" charset="-122"/>
                <a:ea typeface="楷体_GB2312" pitchFamily="49" charset="-122"/>
              </a:rPr>
              <a:t>确定列地址。下一次寻找操作，也是由</a:t>
            </a:r>
            <a:r>
              <a:rPr lang="en-US" altLang="zh-CN" sz="2800" dirty="0" smtClean="0">
                <a:latin typeface="楷体_GB2312" pitchFamily="49" charset="-122"/>
                <a:ea typeface="楷体_GB2312" pitchFamily="49" charset="-122"/>
              </a:rPr>
              <a:t>RAS</a:t>
            </a:r>
            <a:r>
              <a:rPr lang="zh-CN" altLang="en-US" sz="2800" dirty="0" smtClean="0">
                <a:latin typeface="楷体_GB2312" pitchFamily="49" charset="-122"/>
                <a:ea typeface="楷体_GB2312" pitchFamily="49" charset="-122"/>
              </a:rPr>
              <a:t>选定行地址，</a:t>
            </a:r>
            <a:r>
              <a:rPr lang="en-US" altLang="zh-CN" sz="2800" dirty="0" smtClean="0">
                <a:latin typeface="楷体_GB2312" pitchFamily="49" charset="-122"/>
                <a:ea typeface="楷体_GB2312" pitchFamily="49" charset="-122"/>
              </a:rPr>
              <a:t>CAS</a:t>
            </a:r>
            <a:r>
              <a:rPr lang="zh-CN" altLang="en-US" sz="2800" dirty="0" smtClean="0">
                <a:latin typeface="楷体_GB2312" pitchFamily="49" charset="-122"/>
                <a:ea typeface="楷体_GB2312" pitchFamily="49" charset="-122"/>
              </a:rPr>
              <a:t>选定列地址，依此类推，如下图所示。 </a:t>
            </a:r>
          </a:p>
        </p:txBody>
      </p:sp>
      <p:pic>
        <p:nvPicPr>
          <p:cNvPr id="5" name="Picture 4" descr="3a12">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576" y="4251557"/>
            <a:ext cx="6552728" cy="2384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84241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08392768-E96C-4413-8205-02D1A50428FA}" type="slidenum">
              <a:rPr lang="en-US" altLang="zh-CN"/>
              <a:pPr>
                <a:defRPr/>
              </a:pPr>
              <a:t>31</a:t>
            </a:fld>
            <a:endParaRPr lang="en-US" altLang="zh-CN"/>
          </a:p>
        </p:txBody>
      </p:sp>
      <p:sp>
        <p:nvSpPr>
          <p:cNvPr id="55299" name="Rectangle 2"/>
          <p:cNvSpPr>
            <a:spLocks noGrp="1" noChangeArrowheads="1"/>
          </p:cNvSpPr>
          <p:nvPr>
            <p:ph type="title"/>
          </p:nvPr>
        </p:nvSpPr>
        <p:spPr/>
        <p:txBody>
          <a:bodyPr/>
          <a:lstStyle/>
          <a:p>
            <a:pPr eaLnBrk="1" hangingPunct="1"/>
            <a:r>
              <a:rPr lang="en-US" altLang="zh-CN" sz="4000" dirty="0" smtClean="0">
                <a:latin typeface="楷体_GB2312" pitchFamily="49" charset="-122"/>
                <a:ea typeface="楷体_GB2312" pitchFamily="49" charset="-122"/>
                <a:cs typeface="Times New Roman" charset="0"/>
              </a:rPr>
              <a:t>3.3 DRAM</a:t>
            </a:r>
            <a:r>
              <a:rPr lang="zh-CN" altLang="en-US" sz="4000" dirty="0" smtClean="0">
                <a:latin typeface="楷体_GB2312" pitchFamily="49" charset="-122"/>
                <a:ea typeface="楷体_GB2312" pitchFamily="49" charset="-122"/>
                <a:cs typeface="Times New Roman" charset="0"/>
              </a:rPr>
              <a:t>存储器</a:t>
            </a:r>
          </a:p>
        </p:txBody>
      </p:sp>
      <p:sp>
        <p:nvSpPr>
          <p:cNvPr id="55300" name="Rectangle 3"/>
          <p:cNvSpPr>
            <a:spLocks noGrp="1" noChangeArrowheads="1"/>
          </p:cNvSpPr>
          <p:nvPr>
            <p:ph type="body" idx="1"/>
          </p:nvPr>
        </p:nvSpPr>
        <p:spPr/>
        <p:txBody>
          <a:bodyPr/>
          <a:lstStyle/>
          <a:p>
            <a:pPr marL="0" indent="0" eaLnBrk="1" hangingPunct="1">
              <a:buNone/>
            </a:pPr>
            <a:r>
              <a:rPr lang="zh-CN" altLang="en-US" sz="2800" dirty="0" smtClean="0">
                <a:latin typeface="楷体_GB2312" pitchFamily="49" charset="-122"/>
                <a:ea typeface="楷体_GB2312" pitchFamily="49" charset="-122"/>
              </a:rPr>
              <a:t>六、同步</a:t>
            </a:r>
            <a:r>
              <a:rPr lang="en-US" altLang="zh-CN" sz="2800" dirty="0">
                <a:latin typeface="楷体_GB2312" pitchFamily="49" charset="-122"/>
                <a:ea typeface="楷体_GB2312" pitchFamily="49" charset="-122"/>
              </a:rPr>
              <a:t>DRAM</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SDRAM</a:t>
            </a:r>
            <a:r>
              <a:rPr lang="zh-CN" altLang="en-US" sz="2800" dirty="0" smtClean="0">
                <a:latin typeface="楷体_GB2312" pitchFamily="49" charset="-122"/>
                <a:ea typeface="楷体_GB2312" pitchFamily="49" charset="-122"/>
              </a:rPr>
              <a:t>）</a:t>
            </a:r>
            <a:endParaRPr lang="en-US" altLang="zh-CN" sz="2800" dirty="0" smtClean="0">
              <a:latin typeface="楷体_GB2312" pitchFamily="49" charset="-122"/>
              <a:ea typeface="楷体_GB2312" pitchFamily="49" charset="-122"/>
            </a:endParaRPr>
          </a:p>
          <a:p>
            <a:pPr marL="0" indent="0" eaLnBrk="1" hangingPunct="1">
              <a:buNone/>
            </a:pPr>
            <a:r>
              <a:rPr lang="en-US" altLang="zh-CN" sz="2800" dirty="0">
                <a:latin typeface="楷体_GB2312" pitchFamily="49" charset="-122"/>
                <a:ea typeface="楷体_GB2312" pitchFamily="49" charset="-122"/>
              </a:rPr>
              <a:t> </a:t>
            </a:r>
            <a:r>
              <a:rPr lang="en-US" altLang="zh-CN" sz="2800" dirty="0" smtClean="0">
                <a:latin typeface="楷体_GB2312" pitchFamily="49" charset="-122"/>
                <a:ea typeface="楷体_GB2312" pitchFamily="49" charset="-122"/>
              </a:rPr>
              <a:t>   SDRAM</a:t>
            </a:r>
            <a:r>
              <a:rPr lang="zh-CN" altLang="en-US" sz="2800" dirty="0" smtClean="0">
                <a:latin typeface="楷体_GB2312" pitchFamily="49" charset="-122"/>
                <a:ea typeface="楷体_GB2312" pitchFamily="49" charset="-122"/>
              </a:rPr>
              <a:t>同步型动态存储器。计算机系统中的</a:t>
            </a:r>
            <a:r>
              <a:rPr lang="en-US" altLang="zh-CN" sz="2800" dirty="0" smtClean="0">
                <a:latin typeface="楷体_GB2312" pitchFamily="49" charset="-122"/>
                <a:ea typeface="楷体_GB2312" pitchFamily="49" charset="-122"/>
              </a:rPr>
              <a:t>CPU</a:t>
            </a:r>
            <a:r>
              <a:rPr lang="zh-CN" altLang="en-US" sz="2800" dirty="0" smtClean="0">
                <a:latin typeface="楷体_GB2312" pitchFamily="49" charset="-122"/>
                <a:ea typeface="楷体_GB2312" pitchFamily="49" charset="-122"/>
              </a:rPr>
              <a:t>使用的是系统时钟，</a:t>
            </a:r>
            <a:r>
              <a:rPr lang="en-US" altLang="zh-CN" sz="2800" dirty="0" smtClean="0">
                <a:latin typeface="楷体_GB2312" pitchFamily="49" charset="-122"/>
                <a:ea typeface="楷体_GB2312" pitchFamily="49" charset="-122"/>
              </a:rPr>
              <a:t>SDRAM</a:t>
            </a:r>
            <a:r>
              <a:rPr lang="zh-CN" altLang="en-US" sz="2800" dirty="0" smtClean="0">
                <a:latin typeface="楷体_GB2312" pitchFamily="49" charset="-122"/>
                <a:ea typeface="楷体_GB2312" pitchFamily="49" charset="-122"/>
              </a:rPr>
              <a:t>的操作要求与系统时钟相同步，在系统时钟的控制下从</a:t>
            </a:r>
            <a:r>
              <a:rPr lang="en-US" altLang="zh-CN" sz="2800" dirty="0" smtClean="0">
                <a:latin typeface="楷体_GB2312" pitchFamily="49" charset="-122"/>
                <a:ea typeface="楷体_GB2312" pitchFamily="49" charset="-122"/>
              </a:rPr>
              <a:t>CPU</a:t>
            </a:r>
            <a:r>
              <a:rPr lang="zh-CN" altLang="en-US" sz="2800" dirty="0" smtClean="0">
                <a:latin typeface="楷体_GB2312" pitchFamily="49" charset="-122"/>
                <a:ea typeface="楷体_GB2312" pitchFamily="49" charset="-122"/>
              </a:rPr>
              <a:t>获得地址、数据和控制信息。换句话说，它与</a:t>
            </a:r>
            <a:r>
              <a:rPr lang="en-US" altLang="zh-CN" sz="2800" dirty="0" smtClean="0">
                <a:latin typeface="楷体_GB2312" pitchFamily="49" charset="-122"/>
                <a:ea typeface="楷体_GB2312" pitchFamily="49" charset="-122"/>
              </a:rPr>
              <a:t>CPU</a:t>
            </a:r>
            <a:r>
              <a:rPr lang="zh-CN" altLang="en-US" sz="2800" dirty="0" smtClean="0">
                <a:latin typeface="楷体_GB2312" pitchFamily="49" charset="-122"/>
                <a:ea typeface="楷体_GB2312" pitchFamily="49" charset="-122"/>
              </a:rPr>
              <a:t>的数据交换同步于外部的系统时钟信号，并且以</a:t>
            </a:r>
            <a:r>
              <a:rPr lang="en-US" altLang="zh-CN" sz="2800" dirty="0" smtClean="0">
                <a:latin typeface="楷体_GB2312" pitchFamily="49" charset="-122"/>
                <a:ea typeface="楷体_GB2312" pitchFamily="49" charset="-122"/>
              </a:rPr>
              <a:t>CPU/</a:t>
            </a:r>
            <a:r>
              <a:rPr lang="zh-CN" altLang="en-US" sz="2800" dirty="0" smtClean="0">
                <a:latin typeface="楷体_GB2312" pitchFamily="49" charset="-122"/>
                <a:ea typeface="楷体_GB2312" pitchFamily="49" charset="-122"/>
              </a:rPr>
              <a:t>存储器总线的最高速度运行，而不需要插入等待状态。其原理和时序关系见下图。</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215B2976-41B4-4437-A178-BBBD0268EE60}" type="slidenum">
              <a:rPr lang="en-US" altLang="zh-CN"/>
              <a:pPr>
                <a:defRPr/>
              </a:pPr>
              <a:t>32</a:t>
            </a:fld>
            <a:endParaRPr lang="en-US" altLang="zh-CN"/>
          </a:p>
        </p:txBody>
      </p:sp>
      <p:pic>
        <p:nvPicPr>
          <p:cNvPr id="56323" name="Picture 2" descr="3a13">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750" y="188913"/>
            <a:ext cx="7488238" cy="640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08392768-E96C-4413-8205-02D1A50428FA}" type="slidenum">
              <a:rPr lang="en-US" altLang="zh-CN"/>
              <a:pPr>
                <a:defRPr/>
              </a:pPr>
              <a:t>33</a:t>
            </a:fld>
            <a:endParaRPr lang="en-US" altLang="zh-CN"/>
          </a:p>
        </p:txBody>
      </p:sp>
      <p:sp>
        <p:nvSpPr>
          <p:cNvPr id="55299" name="Rectangle 2"/>
          <p:cNvSpPr>
            <a:spLocks noGrp="1" noChangeArrowheads="1"/>
          </p:cNvSpPr>
          <p:nvPr>
            <p:ph type="title"/>
          </p:nvPr>
        </p:nvSpPr>
        <p:spPr/>
        <p:txBody>
          <a:bodyPr/>
          <a:lstStyle/>
          <a:p>
            <a:pPr eaLnBrk="1" hangingPunct="1"/>
            <a:r>
              <a:rPr lang="en-US" altLang="zh-CN" sz="4000" dirty="0" smtClean="0">
                <a:latin typeface="楷体_GB2312" pitchFamily="49" charset="-122"/>
                <a:ea typeface="楷体_GB2312" pitchFamily="49" charset="-122"/>
                <a:cs typeface="Times New Roman" charset="0"/>
              </a:rPr>
              <a:t>3.3 DRAM</a:t>
            </a:r>
            <a:r>
              <a:rPr lang="zh-CN" altLang="en-US" sz="4000" dirty="0" smtClean="0">
                <a:latin typeface="楷体_GB2312" pitchFamily="49" charset="-122"/>
                <a:ea typeface="楷体_GB2312" pitchFamily="49" charset="-122"/>
                <a:cs typeface="Times New Roman" charset="0"/>
              </a:rPr>
              <a:t>存储器</a:t>
            </a:r>
          </a:p>
        </p:txBody>
      </p:sp>
      <p:sp>
        <p:nvSpPr>
          <p:cNvPr id="55300" name="Rectangle 3"/>
          <p:cNvSpPr>
            <a:spLocks noGrp="1" noChangeArrowheads="1"/>
          </p:cNvSpPr>
          <p:nvPr>
            <p:ph type="body" idx="1"/>
          </p:nvPr>
        </p:nvSpPr>
        <p:spPr/>
        <p:txBody>
          <a:bodyPr/>
          <a:lstStyle/>
          <a:p>
            <a:pPr marL="0" indent="0" eaLnBrk="1" hangingPunct="1">
              <a:lnSpc>
                <a:spcPct val="130000"/>
              </a:lnSpc>
              <a:spcBef>
                <a:spcPts val="0"/>
              </a:spcBef>
              <a:buNone/>
            </a:pPr>
            <a:r>
              <a:rPr lang="zh-CN" altLang="en-US" sz="2800" dirty="0" smtClean="0">
                <a:latin typeface="楷体_GB2312" pitchFamily="49" charset="-122"/>
                <a:ea typeface="楷体_GB2312" pitchFamily="49" charset="-122"/>
              </a:rPr>
              <a:t>七、</a:t>
            </a:r>
            <a:r>
              <a:rPr lang="zh-CN" altLang="en-US" sz="2800" dirty="0">
                <a:latin typeface="楷体_GB2312" pitchFamily="49" charset="-122"/>
                <a:ea typeface="楷体_GB2312" pitchFamily="49" charset="-122"/>
              </a:rPr>
              <a:t>双倍数据率</a:t>
            </a:r>
            <a:r>
              <a:rPr lang="en-US" altLang="zh-CN" sz="2800" dirty="0">
                <a:latin typeface="楷体_GB2312" pitchFamily="49" charset="-122"/>
                <a:ea typeface="楷体_GB2312" pitchFamily="49" charset="-122"/>
              </a:rPr>
              <a:t>SDRAM</a:t>
            </a:r>
            <a:endParaRPr lang="zh-CN" altLang="en-US" sz="2800" dirty="0">
              <a:latin typeface="楷体_GB2312" pitchFamily="49" charset="-122"/>
              <a:ea typeface="楷体_GB2312" pitchFamily="49" charset="-122"/>
            </a:endParaRPr>
          </a:p>
          <a:p>
            <a:pPr marL="0" indent="0" eaLnBrk="1" hangingPunct="1">
              <a:lnSpc>
                <a:spcPct val="130000"/>
              </a:lnSpc>
              <a:spcBef>
                <a:spcPts val="0"/>
              </a:spcBef>
              <a:buNone/>
            </a:pPr>
            <a:r>
              <a:rPr lang="zh-CN" altLang="en-US" sz="2800" dirty="0" smtClean="0">
                <a:latin typeface="楷体_GB2312" pitchFamily="49" charset="-122"/>
                <a:ea typeface="楷体_GB2312" pitchFamily="49" charset="-122"/>
              </a:rPr>
              <a:t>    双倍</a:t>
            </a:r>
            <a:r>
              <a:rPr lang="zh-CN" altLang="en-US" sz="2800" dirty="0">
                <a:latin typeface="楷体_GB2312" pitchFamily="49" charset="-122"/>
                <a:ea typeface="楷体_GB2312" pitchFamily="49" charset="-122"/>
              </a:rPr>
              <a:t>数据率</a:t>
            </a:r>
            <a:r>
              <a:rPr lang="en-US" altLang="zh-CN" sz="2800" dirty="0">
                <a:latin typeface="楷体_GB2312" pitchFamily="49" charset="-122"/>
                <a:ea typeface="楷体_GB2312" pitchFamily="49" charset="-122"/>
              </a:rPr>
              <a:t>SDRAM</a:t>
            </a:r>
            <a:r>
              <a:rPr lang="zh-CN" altLang="en-US" sz="2800" dirty="0">
                <a:latin typeface="楷体_GB2312" pitchFamily="49" charset="-122"/>
                <a:ea typeface="楷体_GB2312" pitchFamily="49" charset="-122"/>
              </a:rPr>
              <a:t>即</a:t>
            </a:r>
            <a:r>
              <a:rPr lang="en-US" altLang="zh-CN" sz="2800" dirty="0">
                <a:latin typeface="楷体_GB2312" pitchFamily="49" charset="-122"/>
                <a:ea typeface="楷体_GB2312" pitchFamily="49" charset="-122"/>
              </a:rPr>
              <a:t>DDR SDRAM</a:t>
            </a:r>
            <a:r>
              <a:rPr lang="zh-CN" altLang="en-US" sz="2800" dirty="0">
                <a:latin typeface="楷体_GB2312" pitchFamily="49" charset="-122"/>
                <a:ea typeface="楷体_GB2312" pitchFamily="49" charset="-122"/>
              </a:rPr>
              <a:t>，在时钟的上升沿和下降沿都能传输数据，能够提供更快的操作速度和更低的功率。</a:t>
            </a:r>
            <a:endParaRPr lang="en-US" altLang="zh-CN" sz="2800" dirty="0">
              <a:latin typeface="楷体_GB2312" pitchFamily="49" charset="-122"/>
              <a:ea typeface="楷体_GB2312" pitchFamily="49" charset="-122"/>
            </a:endParaRPr>
          </a:p>
          <a:p>
            <a:pPr marL="0" indent="0" eaLnBrk="1" hangingPunct="1">
              <a:lnSpc>
                <a:spcPct val="130000"/>
              </a:lnSpc>
              <a:spcBef>
                <a:spcPts val="0"/>
              </a:spcBef>
              <a:buNone/>
            </a:pPr>
            <a:r>
              <a:rPr lang="en-US" altLang="zh-CN" sz="2800" dirty="0" smtClean="0">
                <a:latin typeface="楷体_GB2312" pitchFamily="49" charset="-122"/>
                <a:ea typeface="楷体_GB2312" pitchFamily="49" charset="-122"/>
              </a:rPr>
              <a:t>    </a:t>
            </a:r>
            <a:r>
              <a:rPr lang="en-US" altLang="zh-CN" sz="2800" dirty="0">
                <a:latin typeface="楷体_GB2312" pitchFamily="49" charset="-122"/>
                <a:ea typeface="楷体_GB2312" pitchFamily="49" charset="-122"/>
              </a:rPr>
              <a:t>DDR SDRAM</a:t>
            </a:r>
            <a:r>
              <a:rPr lang="zh-CN" altLang="en-US" sz="2800" dirty="0">
                <a:latin typeface="楷体_GB2312" pitchFamily="49" charset="-122"/>
                <a:ea typeface="楷体_GB2312" pitchFamily="49" charset="-122"/>
              </a:rPr>
              <a:t>之后，相继又出现了</a:t>
            </a:r>
            <a:r>
              <a:rPr lang="en-US" altLang="zh-CN" sz="2800" dirty="0">
                <a:latin typeface="楷体_GB2312" pitchFamily="49" charset="-122"/>
                <a:ea typeface="楷体_GB2312" pitchFamily="49" charset="-122"/>
              </a:rPr>
              <a:t>DDR2</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DDR3</a:t>
            </a:r>
            <a:r>
              <a:rPr lang="zh-CN" altLang="en-US" sz="2800" dirty="0">
                <a:latin typeface="楷体_GB2312" pitchFamily="49" charset="-122"/>
                <a:ea typeface="楷体_GB2312" pitchFamily="49" charset="-122"/>
              </a:rPr>
              <a:t>和</a:t>
            </a:r>
            <a:r>
              <a:rPr lang="en-US" altLang="zh-CN" sz="2800" dirty="0">
                <a:latin typeface="楷体_GB2312" pitchFamily="49" charset="-122"/>
                <a:ea typeface="楷体_GB2312" pitchFamily="49" charset="-122"/>
              </a:rPr>
              <a:t>DDR4</a:t>
            </a:r>
            <a:r>
              <a:rPr lang="zh-CN" altLang="en-US" sz="2800" dirty="0">
                <a:latin typeface="楷体_GB2312" pitchFamily="49" charset="-122"/>
                <a:ea typeface="楷体_GB2312" pitchFamily="49" charset="-122"/>
              </a:rPr>
              <a:t>等</a:t>
            </a:r>
            <a:r>
              <a:rPr lang="en-US" altLang="zh-CN" sz="2800" dirty="0">
                <a:latin typeface="楷体_GB2312" pitchFamily="49" charset="-122"/>
                <a:ea typeface="楷体_GB2312" pitchFamily="49" charset="-122"/>
              </a:rPr>
              <a:t>SDRAM</a:t>
            </a:r>
            <a:r>
              <a:rPr lang="zh-CN" altLang="en-US" sz="2800" dirty="0">
                <a:latin typeface="楷体_GB2312" pitchFamily="49" charset="-122"/>
                <a:ea typeface="楷体_GB2312" pitchFamily="49" charset="-122"/>
              </a:rPr>
              <a:t>技术。</a:t>
            </a:r>
          </a:p>
        </p:txBody>
      </p:sp>
    </p:spTree>
    <p:extLst>
      <p:ext uri="{BB962C8B-B14F-4D97-AF65-F5344CB8AC3E}">
        <p14:creationId xmlns:p14="http://schemas.microsoft.com/office/powerpoint/2010/main" val="26780392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B0EF9907-22A2-4BC8-83DE-E54C5AD6EBC9}" type="slidenum">
              <a:rPr lang="en-US" altLang="zh-CN"/>
              <a:pPr>
                <a:defRPr/>
              </a:pPr>
              <a:t>34</a:t>
            </a:fld>
            <a:endParaRPr lang="en-US" altLang="zh-CN"/>
          </a:p>
        </p:txBody>
      </p:sp>
      <p:sp>
        <p:nvSpPr>
          <p:cNvPr id="58371" name="Rectangle 2"/>
          <p:cNvSpPr>
            <a:spLocks noGrp="1" noChangeArrowheads="1"/>
          </p:cNvSpPr>
          <p:nvPr>
            <p:ph type="title"/>
          </p:nvPr>
        </p:nvSpPr>
        <p:spPr>
          <a:xfrm>
            <a:off x="250825" y="188913"/>
            <a:ext cx="7543800" cy="785812"/>
          </a:xfrm>
        </p:spPr>
        <p:txBody>
          <a:bodyPr/>
          <a:lstStyle/>
          <a:p>
            <a:pPr eaLnBrk="1" hangingPunct="1"/>
            <a:r>
              <a:rPr lang="en-US" altLang="zh-CN" sz="4000" smtClean="0">
                <a:latin typeface="楷体_GB2312" pitchFamily="49" charset="-122"/>
                <a:ea typeface="楷体_GB2312" pitchFamily="49" charset="-122"/>
                <a:cs typeface="Times New Roman" charset="0"/>
              </a:rPr>
              <a:t>3.3 DRAM</a:t>
            </a:r>
            <a:r>
              <a:rPr lang="zh-CN" altLang="en-US" sz="4000" smtClean="0">
                <a:latin typeface="楷体_GB2312" pitchFamily="49" charset="-122"/>
                <a:ea typeface="楷体_GB2312" pitchFamily="49" charset="-122"/>
                <a:cs typeface="Times New Roman" charset="0"/>
              </a:rPr>
              <a:t>存储器</a:t>
            </a:r>
          </a:p>
        </p:txBody>
      </p:sp>
      <p:sp>
        <p:nvSpPr>
          <p:cNvPr id="58372" name="Rectangle 3"/>
          <p:cNvSpPr>
            <a:spLocks noGrp="1" noChangeArrowheads="1"/>
          </p:cNvSpPr>
          <p:nvPr>
            <p:ph type="body" idx="1"/>
          </p:nvPr>
        </p:nvSpPr>
        <p:spPr>
          <a:xfrm>
            <a:off x="250825" y="981075"/>
            <a:ext cx="7850188" cy="2808288"/>
          </a:xfrm>
        </p:spPr>
        <p:txBody>
          <a:bodyPr/>
          <a:lstStyle/>
          <a:p>
            <a:pPr eaLnBrk="1" hangingPunct="1">
              <a:buFont typeface="Wingdings" pitchFamily="2" charset="2"/>
              <a:buNone/>
            </a:pPr>
            <a:r>
              <a:rPr lang="zh-CN" altLang="en-US" sz="2800" dirty="0" smtClean="0">
                <a:latin typeface="楷体_GB2312" pitchFamily="49" charset="-122"/>
                <a:ea typeface="楷体_GB2312" pitchFamily="49" charset="-122"/>
              </a:rPr>
              <a:t>八、</a:t>
            </a:r>
            <a:r>
              <a:rPr lang="en-US" altLang="zh-CN" sz="2800" dirty="0" smtClean="0">
                <a:latin typeface="楷体_GB2312" pitchFamily="49" charset="-122"/>
                <a:ea typeface="楷体_GB2312" pitchFamily="49" charset="-122"/>
              </a:rPr>
              <a:t>DRAM</a:t>
            </a:r>
            <a:r>
              <a:rPr lang="zh-CN" altLang="en-US" sz="2800" dirty="0" smtClean="0">
                <a:latin typeface="楷体_GB2312" pitchFamily="49" charset="-122"/>
                <a:ea typeface="楷体_GB2312" pitchFamily="49" charset="-122"/>
              </a:rPr>
              <a:t>主存读</a:t>
            </a:r>
            <a:r>
              <a:rPr lang="en-US" altLang="zh-CN" sz="2800" dirty="0" smtClean="0">
                <a:latin typeface="楷体_GB2312" pitchFamily="49" charset="-122"/>
                <a:ea typeface="楷体_GB2312" pitchFamily="49" charset="-122"/>
              </a:rPr>
              <a:t>/</a:t>
            </a:r>
            <a:r>
              <a:rPr lang="zh-CN" altLang="en-US" sz="2800" dirty="0" smtClean="0">
                <a:latin typeface="楷体_GB2312" pitchFamily="49" charset="-122"/>
                <a:ea typeface="楷体_GB2312" pitchFamily="49" charset="-122"/>
              </a:rPr>
              <a:t>写的正确性校验</a:t>
            </a:r>
          </a:p>
          <a:p>
            <a:pPr eaLnBrk="1" hangingPunct="1">
              <a:buFont typeface="Wingdings" pitchFamily="2" charset="2"/>
              <a:buNone/>
            </a:pPr>
            <a:r>
              <a:rPr lang="zh-CN" altLang="en-US" sz="2800" dirty="0" smtClean="0">
                <a:latin typeface="楷体_GB2312" pitchFamily="49" charset="-122"/>
                <a:ea typeface="楷体_GB2312" pitchFamily="49" charset="-122"/>
              </a:rPr>
              <a:t>      </a:t>
            </a:r>
            <a:r>
              <a:rPr lang="en-US" altLang="zh-CN" sz="2800" dirty="0" smtClean="0">
                <a:latin typeface="楷体_GB2312" pitchFamily="49" charset="-122"/>
                <a:ea typeface="楷体_GB2312" pitchFamily="49" charset="-122"/>
              </a:rPr>
              <a:t>DRAM</a:t>
            </a:r>
            <a:r>
              <a:rPr lang="zh-CN" altLang="en-US" sz="2800" dirty="0" smtClean="0">
                <a:latin typeface="楷体_GB2312" pitchFamily="49" charset="-122"/>
                <a:ea typeface="楷体_GB2312" pitchFamily="49" charset="-122"/>
              </a:rPr>
              <a:t>通常用做主存储器，其读写操作的正确性与可靠性至关重要。为此除了正常的数据位宽度，还增加了附加位，用于读</a:t>
            </a:r>
            <a:r>
              <a:rPr lang="en-US" altLang="zh-CN" sz="2800" dirty="0" smtClean="0">
                <a:latin typeface="楷体_GB2312" pitchFamily="49" charset="-122"/>
                <a:ea typeface="楷体_GB2312" pitchFamily="49" charset="-122"/>
              </a:rPr>
              <a:t>/</a:t>
            </a:r>
            <a:r>
              <a:rPr lang="zh-CN" altLang="en-US" sz="2800" dirty="0" smtClean="0">
                <a:latin typeface="楷体_GB2312" pitchFamily="49" charset="-122"/>
                <a:ea typeface="楷体_GB2312" pitchFamily="49" charset="-122"/>
              </a:rPr>
              <a:t>写操作正确性校验。增加的附加位也要同数据位一起写入</a:t>
            </a:r>
            <a:r>
              <a:rPr lang="en-US" altLang="zh-CN" sz="2800" dirty="0" smtClean="0">
                <a:latin typeface="楷体_GB2312" pitchFamily="49" charset="-122"/>
                <a:ea typeface="楷体_GB2312" pitchFamily="49" charset="-122"/>
              </a:rPr>
              <a:t>DRAM</a:t>
            </a:r>
            <a:r>
              <a:rPr lang="zh-CN" altLang="en-US" sz="2800" dirty="0" smtClean="0">
                <a:latin typeface="楷体_GB2312" pitchFamily="49" charset="-122"/>
                <a:ea typeface="楷体_GB2312" pitchFamily="49" charset="-122"/>
              </a:rPr>
              <a:t>中保存。其原理如图所示。</a:t>
            </a:r>
          </a:p>
        </p:txBody>
      </p:sp>
      <p:pic>
        <p:nvPicPr>
          <p:cNvPr id="58373" name="Picture 4" descr="3a16">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188" y="3644900"/>
            <a:ext cx="7056437"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9568E137-A419-4DEC-85D4-36EB40CD1FA7}" type="slidenum">
              <a:rPr lang="en-US" altLang="zh-CN"/>
              <a:pPr>
                <a:defRPr/>
              </a:pPr>
              <a:t>35</a:t>
            </a:fld>
            <a:endParaRPr lang="en-US" altLang="zh-CN"/>
          </a:p>
        </p:txBody>
      </p:sp>
      <p:sp>
        <p:nvSpPr>
          <p:cNvPr id="53251" name="Rectangle 2"/>
          <p:cNvSpPr>
            <a:spLocks noGrp="1" noChangeArrowheads="1"/>
          </p:cNvSpPr>
          <p:nvPr>
            <p:ph type="title"/>
          </p:nvPr>
        </p:nvSpPr>
        <p:spPr>
          <a:xfrm>
            <a:off x="457200" y="122238"/>
            <a:ext cx="7543800" cy="930275"/>
          </a:xfrm>
        </p:spPr>
        <p:txBody>
          <a:bodyPr/>
          <a:lstStyle/>
          <a:p>
            <a:pPr eaLnBrk="1" hangingPunct="1"/>
            <a:r>
              <a:rPr lang="en-US" altLang="zh-CN" sz="4000" smtClean="0">
                <a:latin typeface="楷体_GB2312" pitchFamily="49" charset="-122"/>
                <a:ea typeface="楷体_GB2312" pitchFamily="49" charset="-122"/>
                <a:cs typeface="Times New Roman" charset="0"/>
              </a:rPr>
              <a:t>3.3 DRAM</a:t>
            </a:r>
            <a:r>
              <a:rPr lang="zh-CN" altLang="en-US" sz="4000" smtClean="0">
                <a:latin typeface="楷体_GB2312" pitchFamily="49" charset="-122"/>
                <a:ea typeface="楷体_GB2312" pitchFamily="49" charset="-122"/>
                <a:cs typeface="Times New Roman" charset="0"/>
              </a:rPr>
              <a:t>存储器</a:t>
            </a:r>
          </a:p>
        </p:txBody>
      </p:sp>
      <p:sp>
        <p:nvSpPr>
          <p:cNvPr id="53252" name="Rectangle 3"/>
          <p:cNvSpPr>
            <a:spLocks noGrp="1" noChangeArrowheads="1"/>
          </p:cNvSpPr>
          <p:nvPr>
            <p:ph type="body" idx="1"/>
          </p:nvPr>
        </p:nvSpPr>
        <p:spPr>
          <a:xfrm>
            <a:off x="395288" y="1268413"/>
            <a:ext cx="8137152" cy="3600747"/>
          </a:xfrm>
        </p:spPr>
        <p:txBody>
          <a:bodyPr/>
          <a:lstStyle/>
          <a:p>
            <a:pPr marL="0" indent="0" eaLnBrk="1" hangingPunct="1">
              <a:lnSpc>
                <a:spcPct val="150000"/>
              </a:lnSpc>
              <a:spcBef>
                <a:spcPts val="0"/>
              </a:spcBef>
              <a:buNone/>
            </a:pPr>
            <a:r>
              <a:rPr lang="zh-CN" altLang="en-US" sz="2800" dirty="0" smtClean="0">
                <a:latin typeface="楷体_GB2312" pitchFamily="49" charset="-122"/>
                <a:ea typeface="楷体_GB2312" pitchFamily="49" charset="-122"/>
              </a:rPr>
              <a:t>九、</a:t>
            </a:r>
            <a:r>
              <a:rPr lang="en-US" altLang="zh-CN" sz="2800" dirty="0" smtClean="0">
                <a:latin typeface="楷体_GB2312" pitchFamily="49" charset="-122"/>
                <a:ea typeface="楷体_GB2312" pitchFamily="49" charset="-122"/>
              </a:rPr>
              <a:t>CDRAM</a:t>
            </a:r>
          </a:p>
          <a:p>
            <a:pPr marL="0" indent="0" eaLnBrk="1" hangingPunct="1">
              <a:lnSpc>
                <a:spcPct val="150000"/>
              </a:lnSpc>
              <a:spcBef>
                <a:spcPts val="0"/>
              </a:spcBef>
              <a:buNone/>
            </a:pPr>
            <a:r>
              <a:rPr lang="en-US" altLang="zh-CN" sz="2800" dirty="0">
                <a:latin typeface="楷体_GB2312" pitchFamily="49" charset="-122"/>
                <a:ea typeface="楷体_GB2312" pitchFamily="49" charset="-122"/>
              </a:rPr>
              <a:t> </a:t>
            </a:r>
            <a:r>
              <a:rPr lang="en-US" altLang="zh-CN" sz="2800" dirty="0" smtClean="0">
                <a:latin typeface="楷体_GB2312" pitchFamily="49" charset="-122"/>
                <a:ea typeface="楷体_GB2312" pitchFamily="49" charset="-122"/>
              </a:rPr>
              <a:t>   CDRAM</a:t>
            </a:r>
            <a:r>
              <a:rPr lang="zh-CN" altLang="en-US" sz="2800" dirty="0" smtClean="0">
                <a:latin typeface="楷体_GB2312" pitchFamily="49" charset="-122"/>
                <a:ea typeface="楷体_GB2312" pitchFamily="49" charset="-122"/>
              </a:rPr>
              <a:t>带高速缓冲存储器（</a:t>
            </a:r>
            <a:r>
              <a:rPr lang="en-US" altLang="zh-CN" sz="2800" dirty="0" smtClean="0">
                <a:latin typeface="楷体_GB2312" pitchFamily="49" charset="-122"/>
                <a:ea typeface="楷体_GB2312" pitchFamily="49" charset="-122"/>
              </a:rPr>
              <a:t>cache</a:t>
            </a:r>
            <a:r>
              <a:rPr lang="zh-CN" altLang="en-US" sz="2800" dirty="0" smtClean="0">
                <a:latin typeface="楷体_GB2312" pitchFamily="49" charset="-122"/>
                <a:ea typeface="楷体_GB2312" pitchFamily="49" charset="-122"/>
              </a:rPr>
              <a:t>）的动态存储器，它是在通常的</a:t>
            </a:r>
            <a:r>
              <a:rPr lang="en-US" altLang="zh-CN" sz="2800" dirty="0" smtClean="0">
                <a:latin typeface="楷体_GB2312" pitchFamily="49" charset="-122"/>
                <a:ea typeface="楷体_GB2312" pitchFamily="49" charset="-122"/>
              </a:rPr>
              <a:t>DRAM</a:t>
            </a:r>
            <a:r>
              <a:rPr lang="zh-CN" altLang="en-US" sz="2800" dirty="0" smtClean="0">
                <a:latin typeface="楷体_GB2312" pitchFamily="49" charset="-122"/>
                <a:ea typeface="楷体_GB2312" pitchFamily="49" charset="-122"/>
              </a:rPr>
              <a:t>芯片内又集成了一个小容量的</a:t>
            </a:r>
            <a:r>
              <a:rPr lang="en-US" altLang="zh-CN" sz="2800" dirty="0" smtClean="0">
                <a:latin typeface="楷体_GB2312" pitchFamily="49" charset="-122"/>
                <a:ea typeface="楷体_GB2312" pitchFamily="49" charset="-122"/>
              </a:rPr>
              <a:t>SRAM</a:t>
            </a:r>
            <a:r>
              <a:rPr lang="zh-CN" altLang="en-US" sz="2800" dirty="0" smtClean="0">
                <a:latin typeface="楷体_GB2312" pitchFamily="49" charset="-122"/>
                <a:ea typeface="楷体_GB2312" pitchFamily="49" charset="-122"/>
              </a:rPr>
              <a:t>，从而使</a:t>
            </a:r>
            <a:r>
              <a:rPr lang="en-US" altLang="zh-CN" sz="2800" dirty="0" smtClean="0">
                <a:latin typeface="楷体_GB2312" pitchFamily="49" charset="-122"/>
                <a:ea typeface="楷体_GB2312" pitchFamily="49" charset="-122"/>
              </a:rPr>
              <a:t>DRAM</a:t>
            </a:r>
            <a:r>
              <a:rPr lang="zh-CN" altLang="en-US" sz="2800" dirty="0" smtClean="0">
                <a:latin typeface="楷体_GB2312" pitchFamily="49" charset="-122"/>
                <a:ea typeface="楷体_GB2312" pitchFamily="49" charset="-122"/>
              </a:rPr>
              <a:t>芯片的性能得到显著改进。</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0BAB1560-A696-4F97-98BA-FD86FBACCE10}" type="slidenum">
              <a:rPr lang="en-US" altLang="zh-CN"/>
              <a:pPr>
                <a:defRPr/>
              </a:pPr>
              <a:t>36</a:t>
            </a:fld>
            <a:endParaRPr lang="en-US" altLang="zh-CN"/>
          </a:p>
        </p:txBody>
      </p:sp>
      <p:pic>
        <p:nvPicPr>
          <p:cNvPr id="54275" name="Picture 4" descr="3a14">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388" y="1557338"/>
            <a:ext cx="8713787" cy="443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Rectangle 5"/>
          <p:cNvSpPr>
            <a:spLocks noChangeArrowheads="1"/>
          </p:cNvSpPr>
          <p:nvPr/>
        </p:nvSpPr>
        <p:spPr bwMode="auto">
          <a:xfrm>
            <a:off x="323850" y="333375"/>
            <a:ext cx="76327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a:t>如图所示出</a:t>
            </a:r>
            <a:r>
              <a:rPr lang="en-US" altLang="zh-CN"/>
              <a:t>1M×4</a:t>
            </a:r>
            <a:r>
              <a:rPr lang="zh-CN" altLang="en-US"/>
              <a:t>位</a:t>
            </a:r>
            <a:r>
              <a:rPr lang="en-US" altLang="zh-CN"/>
              <a:t>CDRAM</a:t>
            </a:r>
            <a:r>
              <a:rPr lang="zh-CN" altLang="en-US"/>
              <a:t>芯片的结构框图，其中</a:t>
            </a:r>
            <a:r>
              <a:rPr lang="en-US" altLang="zh-CN"/>
              <a:t>SRAM</a:t>
            </a:r>
            <a:r>
              <a:rPr lang="zh-CN" altLang="en-US"/>
              <a:t>为</a:t>
            </a:r>
            <a:r>
              <a:rPr lang="en-US" altLang="zh-CN"/>
              <a:t>512×4</a:t>
            </a:r>
            <a:r>
              <a:rPr lang="zh-CN" altLang="en-US"/>
              <a:t>位。</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5"/>
          <p:cNvSpPr>
            <a:spLocks noGrp="1"/>
          </p:cNvSpPr>
          <p:nvPr>
            <p:ph type="sldNum" sz="quarter" idx="12"/>
          </p:nvPr>
        </p:nvSpPr>
        <p:spPr/>
        <p:txBody>
          <a:bodyPr/>
          <a:lstStyle/>
          <a:p>
            <a:pPr>
              <a:defRPr/>
            </a:pPr>
            <a:fld id="{2ED92888-0B49-45BF-BDAB-704291B3EE2B}" type="slidenum">
              <a:rPr lang="en-US" altLang="zh-CN"/>
              <a:pPr>
                <a:defRPr/>
              </a:pPr>
              <a:t>37</a:t>
            </a:fld>
            <a:endParaRPr lang="en-US" altLang="zh-CN"/>
          </a:p>
        </p:txBody>
      </p:sp>
      <p:sp>
        <p:nvSpPr>
          <p:cNvPr id="57347" name="Rectangle 2"/>
          <p:cNvSpPr>
            <a:spLocks noGrp="1" noChangeArrowheads="1"/>
          </p:cNvSpPr>
          <p:nvPr>
            <p:ph type="title"/>
          </p:nvPr>
        </p:nvSpPr>
        <p:spPr>
          <a:xfrm>
            <a:off x="323850" y="260350"/>
            <a:ext cx="7543800" cy="692150"/>
          </a:xfrm>
        </p:spPr>
        <p:txBody>
          <a:bodyPr/>
          <a:lstStyle/>
          <a:p>
            <a:pPr eaLnBrk="1" hangingPunct="1"/>
            <a:r>
              <a:rPr lang="en-US" altLang="zh-CN" sz="3600" smtClean="0">
                <a:latin typeface="楷体_GB2312" pitchFamily="49" charset="-122"/>
                <a:ea typeface="楷体_GB2312" pitchFamily="49" charset="-122"/>
                <a:cs typeface="Times New Roman" charset="0"/>
              </a:rPr>
              <a:t>3.3 DRAM</a:t>
            </a:r>
            <a:r>
              <a:rPr lang="zh-CN" altLang="en-US" sz="3600" smtClean="0">
                <a:latin typeface="楷体_GB2312" pitchFamily="49" charset="-122"/>
                <a:ea typeface="楷体_GB2312" pitchFamily="49" charset="-122"/>
                <a:cs typeface="Times New Roman" charset="0"/>
              </a:rPr>
              <a:t>存储器</a:t>
            </a:r>
          </a:p>
        </p:txBody>
      </p:sp>
      <p:sp>
        <p:nvSpPr>
          <p:cNvPr id="57348" name="Rectangle 3"/>
          <p:cNvSpPr>
            <a:spLocks noGrp="1" noChangeArrowheads="1"/>
          </p:cNvSpPr>
          <p:nvPr>
            <p:ph type="body" idx="1"/>
          </p:nvPr>
        </p:nvSpPr>
        <p:spPr>
          <a:xfrm>
            <a:off x="250825" y="1125538"/>
            <a:ext cx="8229600" cy="1366837"/>
          </a:xfrm>
        </p:spPr>
        <p:txBody>
          <a:bodyPr/>
          <a:lstStyle/>
          <a:p>
            <a:pPr eaLnBrk="1" hangingPunct="1">
              <a:buFont typeface="Wingdings" pitchFamily="2" charset="2"/>
              <a:buNone/>
            </a:pP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例</a:t>
            </a:r>
            <a:r>
              <a:rPr lang="en-US" altLang="zh-CN" sz="2400" smtClean="0">
                <a:latin typeface="楷体_GB2312" pitchFamily="49" charset="-122"/>
                <a:ea typeface="楷体_GB2312" pitchFamily="49" charset="-122"/>
              </a:rPr>
              <a:t>4] CDRAM</a:t>
            </a:r>
            <a:r>
              <a:rPr lang="zh-CN" altLang="en-US" sz="2400" smtClean="0">
                <a:latin typeface="楷体_GB2312" pitchFamily="49" charset="-122"/>
                <a:ea typeface="楷体_GB2312" pitchFamily="49" charset="-122"/>
              </a:rPr>
              <a:t>内存条组成实例。</a:t>
            </a:r>
          </a:p>
          <a:p>
            <a:pPr eaLnBrk="1" hangingPunct="1">
              <a:buFont typeface="Wingdings" pitchFamily="2" charset="2"/>
              <a:buNone/>
            </a:pPr>
            <a:r>
              <a:rPr lang="zh-CN" altLang="en-US" sz="2400" smtClean="0">
                <a:latin typeface="楷体_GB2312" pitchFamily="49" charset="-122"/>
                <a:ea typeface="楷体_GB2312" pitchFamily="49" charset="-122"/>
              </a:rPr>
              <a:t>		一片</a:t>
            </a:r>
            <a:r>
              <a:rPr lang="en-US" altLang="zh-CN" sz="2400" smtClean="0">
                <a:latin typeface="楷体_GB2312" pitchFamily="49" charset="-122"/>
                <a:ea typeface="楷体_GB2312" pitchFamily="49" charset="-122"/>
              </a:rPr>
              <a:t>CDRAM</a:t>
            </a:r>
            <a:r>
              <a:rPr lang="zh-CN" altLang="en-US" sz="2400" smtClean="0">
                <a:latin typeface="楷体_GB2312" pitchFamily="49" charset="-122"/>
                <a:ea typeface="楷体_GB2312" pitchFamily="49" charset="-122"/>
              </a:rPr>
              <a:t>的容量为</a:t>
            </a:r>
            <a:r>
              <a:rPr lang="en-US" altLang="zh-CN" sz="2400" smtClean="0">
                <a:latin typeface="楷体_GB2312" pitchFamily="49" charset="-122"/>
                <a:ea typeface="楷体_GB2312" pitchFamily="49" charset="-122"/>
              </a:rPr>
              <a:t>1M×4</a:t>
            </a:r>
            <a:r>
              <a:rPr lang="zh-CN" altLang="en-US" sz="2400" smtClean="0">
                <a:latin typeface="楷体_GB2312" pitchFamily="49" charset="-122"/>
                <a:ea typeface="楷体_GB2312" pitchFamily="49" charset="-122"/>
              </a:rPr>
              <a:t>位，</a:t>
            </a:r>
            <a:r>
              <a:rPr lang="en-US" altLang="zh-CN" sz="2400" smtClean="0">
                <a:latin typeface="楷体_GB2312" pitchFamily="49" charset="-122"/>
                <a:ea typeface="楷体_GB2312" pitchFamily="49" charset="-122"/>
              </a:rPr>
              <a:t>8</a:t>
            </a:r>
            <a:r>
              <a:rPr lang="zh-CN" altLang="en-US" sz="2400" smtClean="0">
                <a:latin typeface="楷体_GB2312" pitchFamily="49" charset="-122"/>
                <a:ea typeface="楷体_GB2312" pitchFamily="49" charset="-122"/>
              </a:rPr>
              <a:t>片这样的芯片可组成</a:t>
            </a:r>
            <a:r>
              <a:rPr lang="en-US" altLang="zh-CN" sz="2400" smtClean="0">
                <a:latin typeface="楷体_GB2312" pitchFamily="49" charset="-122"/>
                <a:ea typeface="楷体_GB2312" pitchFamily="49" charset="-122"/>
              </a:rPr>
              <a:t>1M×32</a:t>
            </a:r>
            <a:r>
              <a:rPr lang="zh-CN" altLang="en-US" sz="2400" smtClean="0">
                <a:latin typeface="楷体_GB2312" pitchFamily="49" charset="-122"/>
                <a:ea typeface="楷体_GB2312" pitchFamily="49" charset="-122"/>
              </a:rPr>
              <a:t>位</a:t>
            </a:r>
            <a:r>
              <a:rPr lang="en-US" altLang="zh-CN" sz="2400" smtClean="0">
                <a:latin typeface="楷体_GB2312" pitchFamily="49" charset="-122"/>
                <a:ea typeface="楷体_GB2312" pitchFamily="49" charset="-122"/>
              </a:rPr>
              <a:t>4MB</a:t>
            </a:r>
            <a:r>
              <a:rPr lang="zh-CN" altLang="en-US" sz="2400" smtClean="0">
                <a:latin typeface="楷体_GB2312" pitchFamily="49" charset="-122"/>
                <a:ea typeface="楷体_GB2312" pitchFamily="49" charset="-122"/>
              </a:rPr>
              <a:t>的存储模块，其组成如下图所示。</a:t>
            </a:r>
          </a:p>
        </p:txBody>
      </p:sp>
      <p:pic>
        <p:nvPicPr>
          <p:cNvPr id="57349" name="Picture 4" descr="3a15">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213" y="2492375"/>
            <a:ext cx="7272337" cy="401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AutoShape 5"/>
          <p:cNvSpPr>
            <a:spLocks noChangeArrowheads="1"/>
          </p:cNvSpPr>
          <p:nvPr/>
        </p:nvSpPr>
        <p:spPr bwMode="auto">
          <a:xfrm>
            <a:off x="250825" y="765175"/>
            <a:ext cx="1944688" cy="2663825"/>
          </a:xfrm>
          <a:prstGeom prst="wedgeRectCallout">
            <a:avLst>
              <a:gd name="adj1" fmla="val -8120"/>
              <a:gd name="adj2" fmla="val 86352"/>
            </a:avLst>
          </a:prstGeom>
          <a:solidFill>
            <a:schemeClr val="accent1"/>
          </a:solidFill>
          <a:ln w="12700" cap="sq">
            <a:solidFill>
              <a:schemeClr val="tx1"/>
            </a:solidFill>
            <a:miter lim="800000"/>
            <a:headEnd type="none" w="sm" len="sm"/>
            <a:tailEnd type="none" w="sm" len="sm"/>
          </a:ln>
        </p:spPr>
        <p:txBody>
          <a:bodyPr/>
          <a:lstStyle/>
          <a:p>
            <a:r>
              <a:rPr lang="en-US" altLang="zh-CN" sz="2400">
                <a:latin typeface="楷体_GB2312" pitchFamily="49" charset="-122"/>
              </a:rPr>
              <a:t>8</a:t>
            </a:r>
            <a:r>
              <a:rPr lang="zh-CN" altLang="en-US" sz="2400">
                <a:latin typeface="楷体_GB2312" pitchFamily="49" charset="-122"/>
              </a:rPr>
              <a:t>个芯片共用片选信号</a:t>
            </a:r>
            <a:r>
              <a:rPr lang="en-US" altLang="zh-CN" sz="2400">
                <a:latin typeface="楷体_GB2312" pitchFamily="49" charset="-122"/>
              </a:rPr>
              <a:t>Sel</a:t>
            </a:r>
            <a:r>
              <a:rPr lang="zh-CN" altLang="en-US" sz="2400">
                <a:latin typeface="楷体_GB2312" pitchFamily="49" charset="-122"/>
              </a:rPr>
              <a:t>、行选通信号</a:t>
            </a:r>
            <a:r>
              <a:rPr lang="en-US" altLang="zh-CN" sz="2400">
                <a:latin typeface="楷体_GB2312" pitchFamily="49" charset="-122"/>
              </a:rPr>
              <a:t>RAS</a:t>
            </a:r>
            <a:r>
              <a:rPr lang="zh-CN" altLang="en-US" sz="2400">
                <a:latin typeface="楷体_GB2312" pitchFamily="49" charset="-122"/>
              </a:rPr>
              <a:t>、刷新信号</a:t>
            </a:r>
            <a:r>
              <a:rPr lang="en-US" altLang="zh-CN" sz="2400">
                <a:latin typeface="楷体_GB2312" pitchFamily="49" charset="-122"/>
              </a:rPr>
              <a:t>Ref</a:t>
            </a:r>
            <a:r>
              <a:rPr lang="zh-CN" altLang="en-US" sz="2400">
                <a:latin typeface="楷体_GB2312" pitchFamily="49" charset="-122"/>
              </a:rPr>
              <a:t>和地址输入信号</a:t>
            </a:r>
            <a:r>
              <a:rPr lang="en-US" altLang="zh-CN" sz="2400">
                <a:latin typeface="楷体_GB2312" pitchFamily="49" charset="-122"/>
              </a:rPr>
              <a:t>A0</a:t>
            </a:r>
            <a:r>
              <a:rPr lang="en-US" altLang="zh-CN" sz="2400"/>
              <a:t>—</a:t>
            </a:r>
            <a:r>
              <a:rPr lang="en-US" altLang="zh-CN" sz="2400">
                <a:latin typeface="楷体_GB2312" pitchFamily="49" charset="-122"/>
              </a:rPr>
              <a:t>A10</a:t>
            </a:r>
            <a:r>
              <a:rPr lang="zh-CN" altLang="en-US" sz="2400">
                <a:latin typeface="楷体_GB2312" pitchFamily="49" charset="-122"/>
              </a:rPr>
              <a:t>。</a:t>
            </a:r>
          </a:p>
        </p:txBody>
      </p:sp>
      <p:sp>
        <p:nvSpPr>
          <p:cNvPr id="32774" name="AutoShape 6"/>
          <p:cNvSpPr>
            <a:spLocks noChangeArrowheads="1"/>
          </p:cNvSpPr>
          <p:nvPr/>
        </p:nvSpPr>
        <p:spPr bwMode="auto">
          <a:xfrm>
            <a:off x="250825" y="836613"/>
            <a:ext cx="2951163" cy="1871662"/>
          </a:xfrm>
          <a:prstGeom prst="wedgeRectCallout">
            <a:avLst>
              <a:gd name="adj1" fmla="val 48116"/>
              <a:gd name="adj2" fmla="val 115310"/>
            </a:avLst>
          </a:prstGeom>
          <a:solidFill>
            <a:schemeClr val="accent1"/>
          </a:solidFill>
          <a:ln w="12700" cap="sq">
            <a:solidFill>
              <a:schemeClr val="tx1"/>
            </a:solidFill>
            <a:miter lim="800000"/>
            <a:headEnd type="none" w="sm" len="sm"/>
            <a:tailEnd type="none" w="sm" len="sm"/>
          </a:ln>
        </p:spPr>
        <p:txBody>
          <a:bodyPr/>
          <a:lstStyle/>
          <a:p>
            <a:r>
              <a:rPr lang="en-US" altLang="zh-CN" sz="2400">
                <a:latin typeface="楷体_GB2312" pitchFamily="49" charset="-122"/>
              </a:rPr>
              <a:t>2</a:t>
            </a:r>
            <a:r>
              <a:rPr lang="zh-CN" altLang="en-US" sz="2400">
                <a:latin typeface="楷体_GB2312" pitchFamily="49" charset="-122"/>
              </a:rPr>
              <a:t>片</a:t>
            </a:r>
            <a:r>
              <a:rPr lang="en-US" altLang="zh-CN" sz="2400">
                <a:latin typeface="楷体_GB2312" pitchFamily="49" charset="-122"/>
              </a:rPr>
              <a:t>1Mx4</a:t>
            </a:r>
            <a:r>
              <a:rPr lang="zh-CN" altLang="en-US" sz="2400">
                <a:latin typeface="楷体_GB2312" pitchFamily="49" charset="-122"/>
              </a:rPr>
              <a:t>位列选通信号</a:t>
            </a:r>
            <a:r>
              <a:rPr lang="en-US" altLang="zh-CN" sz="2400">
                <a:latin typeface="楷体_GB2312" pitchFamily="49" charset="-122"/>
              </a:rPr>
              <a:t>CAS</a:t>
            </a:r>
            <a:r>
              <a:rPr lang="zh-CN" altLang="en-US" sz="2400">
                <a:latin typeface="楷体_GB2312" pitchFamily="49" charset="-122"/>
              </a:rPr>
              <a:t>连在一起，组成</a:t>
            </a:r>
            <a:r>
              <a:rPr lang="en-US" altLang="zh-CN" sz="2400">
                <a:latin typeface="楷体_GB2312" pitchFamily="49" charset="-122"/>
              </a:rPr>
              <a:t>1Mx8</a:t>
            </a:r>
            <a:r>
              <a:rPr lang="zh-CN" altLang="en-US" sz="2400">
                <a:latin typeface="楷体_GB2312" pitchFamily="49" charset="-122"/>
              </a:rPr>
              <a:t>位的片组，再由</a:t>
            </a:r>
            <a:r>
              <a:rPr lang="en-US" altLang="zh-CN" sz="2400">
                <a:latin typeface="楷体_GB2312" pitchFamily="49" charset="-122"/>
              </a:rPr>
              <a:t>4</a:t>
            </a:r>
            <a:r>
              <a:rPr lang="zh-CN" altLang="en-US" sz="2400">
                <a:latin typeface="楷体_GB2312" pitchFamily="49" charset="-122"/>
              </a:rPr>
              <a:t>个片组组成一个</a:t>
            </a:r>
            <a:r>
              <a:rPr lang="en-US" altLang="zh-CN" sz="2400">
                <a:latin typeface="楷体_GB2312" pitchFamily="49" charset="-122"/>
              </a:rPr>
              <a:t>1Mx32</a:t>
            </a:r>
            <a:r>
              <a:rPr lang="zh-CN" altLang="en-US" sz="2400">
                <a:latin typeface="楷体_GB2312" pitchFamily="49" charset="-122"/>
              </a:rPr>
              <a:t>位的存储模块。</a:t>
            </a:r>
          </a:p>
        </p:txBody>
      </p:sp>
      <p:sp>
        <p:nvSpPr>
          <p:cNvPr id="32776" name="AutoShape 8"/>
          <p:cNvSpPr>
            <a:spLocks noChangeArrowheads="1"/>
          </p:cNvSpPr>
          <p:nvPr/>
        </p:nvSpPr>
        <p:spPr bwMode="auto">
          <a:xfrm>
            <a:off x="4140200" y="549275"/>
            <a:ext cx="4752975" cy="1584325"/>
          </a:xfrm>
          <a:prstGeom prst="wedgeRectCallout">
            <a:avLst>
              <a:gd name="adj1" fmla="val -38375"/>
              <a:gd name="adj2" fmla="val 139380"/>
            </a:avLst>
          </a:prstGeom>
          <a:solidFill>
            <a:schemeClr val="accent1"/>
          </a:solidFill>
          <a:ln w="12700" cap="sq">
            <a:solidFill>
              <a:schemeClr val="tx1"/>
            </a:solidFill>
            <a:miter lim="800000"/>
            <a:headEnd type="none" w="sm" len="sm"/>
            <a:tailEnd type="none" w="sm" len="sm"/>
          </a:ln>
        </p:spPr>
        <p:txBody>
          <a:bodyPr/>
          <a:lstStyle/>
          <a:p>
            <a:r>
              <a:rPr lang="zh-CN" altLang="en-US" sz="2400">
                <a:latin typeface="楷体_GB2312" pitchFamily="49" charset="-122"/>
              </a:rPr>
              <a:t>当某模块被选中，此模块的</a:t>
            </a:r>
            <a:r>
              <a:rPr lang="en-US" altLang="zh-CN" sz="2400">
                <a:latin typeface="楷体_GB2312" pitchFamily="49" charset="-122"/>
              </a:rPr>
              <a:t>8</a:t>
            </a:r>
            <a:r>
              <a:rPr lang="zh-CN" altLang="en-US" sz="2400">
                <a:latin typeface="楷体_GB2312" pitchFamily="49" charset="-122"/>
              </a:rPr>
              <a:t>个</a:t>
            </a:r>
            <a:r>
              <a:rPr lang="en-US" altLang="zh-CN" sz="2400">
                <a:latin typeface="楷体_GB2312" pitchFamily="49" charset="-122"/>
              </a:rPr>
              <a:t>CDRAM</a:t>
            </a:r>
            <a:r>
              <a:rPr lang="zh-CN" altLang="en-US" sz="2400">
                <a:latin typeface="楷体_GB2312" pitchFamily="49" charset="-122"/>
              </a:rPr>
              <a:t>芯片同时动作，</a:t>
            </a:r>
            <a:r>
              <a:rPr lang="en-US" altLang="zh-CN" sz="2400">
                <a:latin typeface="楷体_GB2312" pitchFamily="49" charset="-122"/>
              </a:rPr>
              <a:t>8</a:t>
            </a:r>
            <a:r>
              <a:rPr lang="zh-CN" altLang="en-US" sz="2400">
                <a:latin typeface="楷体_GB2312" pitchFamily="49" charset="-122"/>
              </a:rPr>
              <a:t>个</a:t>
            </a:r>
            <a:r>
              <a:rPr lang="en-US" altLang="zh-CN" sz="2400">
                <a:latin typeface="楷体_GB2312" pitchFamily="49" charset="-122"/>
              </a:rPr>
              <a:t>4</a:t>
            </a:r>
            <a:r>
              <a:rPr lang="zh-CN" altLang="en-US" sz="2400">
                <a:latin typeface="楷体_GB2312" pitchFamily="49" charset="-122"/>
              </a:rPr>
              <a:t>位数据端口</a:t>
            </a:r>
            <a:r>
              <a:rPr lang="en-US" altLang="zh-CN" sz="2400">
                <a:latin typeface="楷体_GB2312" pitchFamily="49" charset="-122"/>
              </a:rPr>
              <a:t>D3-D0</a:t>
            </a:r>
            <a:r>
              <a:rPr lang="zh-CN" altLang="en-US" sz="2400">
                <a:latin typeface="楷体_GB2312" pitchFamily="49" charset="-122"/>
              </a:rPr>
              <a:t>同时与</a:t>
            </a:r>
            <a:r>
              <a:rPr lang="en-US" altLang="zh-CN" sz="2400">
                <a:latin typeface="楷体_GB2312" pitchFamily="49" charset="-122"/>
              </a:rPr>
              <a:t>32</a:t>
            </a:r>
            <a:r>
              <a:rPr lang="zh-CN" altLang="en-US" sz="2400">
                <a:latin typeface="楷体_GB2312" pitchFamily="49" charset="-122"/>
              </a:rPr>
              <a:t>位数据总线交换数据，完成一次</a:t>
            </a:r>
            <a:r>
              <a:rPr lang="en-US" altLang="zh-CN" sz="2400">
                <a:latin typeface="楷体_GB2312" pitchFamily="49" charset="-122"/>
              </a:rPr>
              <a:t>32</a:t>
            </a:r>
            <a:r>
              <a:rPr lang="zh-CN" altLang="en-US" sz="2400">
                <a:latin typeface="楷体_GB2312" pitchFamily="49" charset="-122"/>
              </a:rPr>
              <a:t>位字的存取。</a:t>
            </a:r>
          </a:p>
        </p:txBody>
      </p:sp>
      <p:sp>
        <p:nvSpPr>
          <p:cNvPr id="32777" name="AutoShape 9"/>
          <p:cNvSpPr>
            <a:spLocks noChangeArrowheads="1"/>
          </p:cNvSpPr>
          <p:nvPr/>
        </p:nvSpPr>
        <p:spPr bwMode="auto">
          <a:xfrm>
            <a:off x="7164388" y="1484313"/>
            <a:ext cx="1728787" cy="1152525"/>
          </a:xfrm>
          <a:prstGeom prst="wedgeRectCallout">
            <a:avLst>
              <a:gd name="adj1" fmla="val -73690"/>
              <a:gd name="adj2" fmla="val 76583"/>
            </a:avLst>
          </a:prstGeom>
          <a:solidFill>
            <a:schemeClr val="accent1"/>
          </a:solidFill>
          <a:ln w="12700" cap="sq">
            <a:solidFill>
              <a:schemeClr val="tx1"/>
            </a:solidFill>
            <a:miter lim="800000"/>
            <a:headEnd type="none" w="sm" len="sm"/>
            <a:tailEnd type="none" w="sm" len="sm"/>
          </a:ln>
        </p:spPr>
        <p:txBody>
          <a:bodyPr/>
          <a:lstStyle/>
          <a:p>
            <a:r>
              <a:rPr lang="en-US" altLang="zh-CN" sz="2400">
                <a:latin typeface="楷体_GB2312" pitchFamily="49" charset="-122"/>
              </a:rPr>
              <a:t>CAS3-CAS0</a:t>
            </a:r>
            <a:r>
              <a:rPr lang="zh-CN" altLang="en-US" sz="2400">
                <a:latin typeface="楷体_GB2312" pitchFamily="49" charset="-122"/>
              </a:rPr>
              <a:t>与</a:t>
            </a:r>
            <a:r>
              <a:rPr lang="en-US" altLang="zh-CN" sz="2400">
                <a:latin typeface="楷体_GB2312" pitchFamily="49" charset="-122"/>
              </a:rPr>
              <a:t>BE3-BE0</a:t>
            </a:r>
            <a:r>
              <a:rPr lang="zh-CN" altLang="en-US" sz="2400">
                <a:latin typeface="楷体_GB2312" pitchFamily="49" charset="-122"/>
              </a:rPr>
              <a:t>相对应</a:t>
            </a:r>
          </a:p>
        </p:txBody>
      </p:sp>
      <p:sp>
        <p:nvSpPr>
          <p:cNvPr id="32778" name="AutoShape 10"/>
          <p:cNvSpPr>
            <a:spLocks noChangeArrowheads="1"/>
          </p:cNvSpPr>
          <p:nvPr/>
        </p:nvSpPr>
        <p:spPr bwMode="auto">
          <a:xfrm>
            <a:off x="4356100" y="1628775"/>
            <a:ext cx="2089150" cy="431800"/>
          </a:xfrm>
          <a:prstGeom prst="wedgeRectCallout">
            <a:avLst>
              <a:gd name="adj1" fmla="val -35639"/>
              <a:gd name="adj2" fmla="val 176102"/>
            </a:avLst>
          </a:prstGeom>
          <a:solidFill>
            <a:schemeClr val="accent1"/>
          </a:solidFill>
          <a:ln w="12700" cap="sq">
            <a:solidFill>
              <a:schemeClr val="tx1"/>
            </a:solidFill>
            <a:miter lim="800000"/>
            <a:headEnd type="none" w="sm" len="sm"/>
            <a:tailEnd type="none" w="sm" len="sm"/>
          </a:ln>
        </p:spPr>
        <p:txBody>
          <a:bodyPr/>
          <a:lstStyle/>
          <a:p>
            <a:r>
              <a:rPr lang="en-US" altLang="zh-CN" sz="2400">
                <a:latin typeface="楷体_GB2312" pitchFamily="49" charset="-122"/>
              </a:rPr>
              <a:t>20</a:t>
            </a:r>
            <a:r>
              <a:rPr lang="zh-CN" altLang="en-US" sz="2400">
                <a:latin typeface="楷体_GB2312" pitchFamily="49" charset="-122"/>
              </a:rPr>
              <a:t>位块内地址</a:t>
            </a:r>
          </a:p>
        </p:txBody>
      </p:sp>
      <p:sp>
        <p:nvSpPr>
          <p:cNvPr id="32779" name="AutoShape 11"/>
          <p:cNvSpPr>
            <a:spLocks noChangeArrowheads="1"/>
          </p:cNvSpPr>
          <p:nvPr/>
        </p:nvSpPr>
        <p:spPr bwMode="auto">
          <a:xfrm>
            <a:off x="539750" y="1412875"/>
            <a:ext cx="3600450" cy="863600"/>
          </a:xfrm>
          <a:prstGeom prst="wedgeRectCallout">
            <a:avLst>
              <a:gd name="adj1" fmla="val 15787"/>
              <a:gd name="adj2" fmla="val 126287"/>
            </a:avLst>
          </a:prstGeom>
          <a:solidFill>
            <a:schemeClr val="accent1"/>
          </a:solidFill>
          <a:ln w="12700" cap="sq">
            <a:solidFill>
              <a:schemeClr val="tx1"/>
            </a:solidFill>
            <a:miter lim="800000"/>
            <a:headEnd type="none" w="sm" len="sm"/>
            <a:tailEnd type="none" w="sm" len="sm"/>
          </a:ln>
        </p:spPr>
        <p:txBody>
          <a:bodyPr/>
          <a:lstStyle/>
          <a:p>
            <a:r>
              <a:rPr lang="en-US" altLang="zh-CN" sz="2400">
                <a:latin typeface="楷体_GB2312" pitchFamily="49" charset="-122"/>
              </a:rPr>
              <a:t>A22</a:t>
            </a:r>
            <a:r>
              <a:rPr lang="zh-CN" altLang="en-US" sz="2400">
                <a:latin typeface="楷体_GB2312" pitchFamily="49" charset="-122"/>
              </a:rPr>
              <a:t>和</a:t>
            </a:r>
            <a:r>
              <a:rPr lang="en-US" altLang="zh-CN" sz="2400">
                <a:latin typeface="楷体_GB2312" pitchFamily="49" charset="-122"/>
              </a:rPr>
              <a:t>A23</a:t>
            </a:r>
            <a:r>
              <a:rPr lang="zh-CN" altLang="en-US" sz="2400">
                <a:latin typeface="楷体_GB2312" pitchFamily="49" charset="-122"/>
              </a:rPr>
              <a:t>模块选择</a:t>
            </a:r>
          </a:p>
          <a:p>
            <a:r>
              <a:rPr lang="zh-CN" altLang="en-US" sz="2400">
                <a:latin typeface="楷体_GB2312" pitchFamily="49" charset="-122"/>
              </a:rPr>
              <a:t>（</a:t>
            </a:r>
            <a:r>
              <a:rPr lang="en-US" altLang="zh-CN" sz="2400">
                <a:latin typeface="楷体_GB2312" pitchFamily="49" charset="-122"/>
              </a:rPr>
              <a:t>1Mx32</a:t>
            </a:r>
            <a:r>
              <a:rPr lang="zh-CN" altLang="en-US" sz="2400">
                <a:latin typeface="楷体_GB2312" pitchFamily="49" charset="-122"/>
              </a:rPr>
              <a:t>位）</a:t>
            </a:r>
            <a:r>
              <a:rPr lang="en-US" altLang="zh-CN" sz="2400">
                <a:latin typeface="楷体_GB2312" pitchFamily="49" charset="-122"/>
              </a:rPr>
              <a:t>x 4 = 16MB</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2773"/>
                                        </p:tgtEl>
                                        <p:attrNameLst>
                                          <p:attrName>style.visibility</p:attrName>
                                        </p:attrNameLst>
                                      </p:cBhvr>
                                      <p:to>
                                        <p:strVal val="visible"/>
                                      </p:to>
                                    </p:set>
                                    <p:animEffect transition="in" filter="box(in)">
                                      <p:cBhvr>
                                        <p:cTn id="7" dur="500"/>
                                        <p:tgtEl>
                                          <p:spTgt spid="32773"/>
                                        </p:tgtEl>
                                      </p:cBhvr>
                                    </p:animEffect>
                                  </p:childTnLst>
                                  <p:subTnLst>
                                    <p:set>
                                      <p:cBhvr override="childStyle">
                                        <p:cTn dur="1" fill="hold" display="0" masterRel="nextClick" afterEffect="1"/>
                                        <p:tgtEl>
                                          <p:spTgt spid="32773"/>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2774"/>
                                        </p:tgtEl>
                                        <p:attrNameLst>
                                          <p:attrName>style.visibility</p:attrName>
                                        </p:attrNameLst>
                                      </p:cBhvr>
                                      <p:to>
                                        <p:strVal val="visible"/>
                                      </p:to>
                                    </p:set>
                                    <p:animEffect transition="in" filter="box(in)">
                                      <p:cBhvr>
                                        <p:cTn id="12" dur="500"/>
                                        <p:tgtEl>
                                          <p:spTgt spid="32774"/>
                                        </p:tgtEl>
                                      </p:cBhvr>
                                    </p:animEffect>
                                  </p:childTnLst>
                                  <p:subTnLst>
                                    <p:set>
                                      <p:cBhvr override="childStyle">
                                        <p:cTn dur="1" fill="hold" display="0" masterRel="nextClick" afterEffect="1"/>
                                        <p:tgtEl>
                                          <p:spTgt spid="32774"/>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2777"/>
                                        </p:tgtEl>
                                        <p:attrNameLst>
                                          <p:attrName>style.visibility</p:attrName>
                                        </p:attrNameLst>
                                      </p:cBhvr>
                                      <p:to>
                                        <p:strVal val="visible"/>
                                      </p:to>
                                    </p:set>
                                    <p:animEffect transition="in" filter="box(in)">
                                      <p:cBhvr>
                                        <p:cTn id="17" dur="500"/>
                                        <p:tgtEl>
                                          <p:spTgt spid="32777"/>
                                        </p:tgtEl>
                                      </p:cBhvr>
                                    </p:animEffect>
                                  </p:childTnLst>
                                  <p:subTnLst>
                                    <p:set>
                                      <p:cBhvr override="childStyle">
                                        <p:cTn dur="1" fill="hold" display="0" masterRel="nextClick" afterEffect="1"/>
                                        <p:tgtEl>
                                          <p:spTgt spid="32777"/>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2778"/>
                                        </p:tgtEl>
                                        <p:attrNameLst>
                                          <p:attrName>style.visibility</p:attrName>
                                        </p:attrNameLst>
                                      </p:cBhvr>
                                      <p:to>
                                        <p:strVal val="visible"/>
                                      </p:to>
                                    </p:set>
                                    <p:animEffect transition="in" filter="box(in)">
                                      <p:cBhvr>
                                        <p:cTn id="22" dur="500"/>
                                        <p:tgtEl>
                                          <p:spTgt spid="32778"/>
                                        </p:tgtEl>
                                      </p:cBhvr>
                                    </p:animEffect>
                                  </p:childTnLst>
                                  <p:subTnLst>
                                    <p:set>
                                      <p:cBhvr override="childStyle">
                                        <p:cTn dur="1" fill="hold" display="0" masterRel="nextClick" afterEffect="1"/>
                                        <p:tgtEl>
                                          <p:spTgt spid="32778"/>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2779"/>
                                        </p:tgtEl>
                                        <p:attrNameLst>
                                          <p:attrName>style.visibility</p:attrName>
                                        </p:attrNameLst>
                                      </p:cBhvr>
                                      <p:to>
                                        <p:strVal val="visible"/>
                                      </p:to>
                                    </p:set>
                                    <p:animEffect transition="in" filter="box(in)">
                                      <p:cBhvr>
                                        <p:cTn id="27" dur="500"/>
                                        <p:tgtEl>
                                          <p:spTgt spid="32779"/>
                                        </p:tgtEl>
                                      </p:cBhvr>
                                    </p:animEffect>
                                  </p:childTnLst>
                                  <p:subTnLst>
                                    <p:set>
                                      <p:cBhvr override="childStyle">
                                        <p:cTn dur="1" fill="hold" display="0" masterRel="nextClick" afterEffect="1"/>
                                        <p:tgtEl>
                                          <p:spTgt spid="32779"/>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2776"/>
                                        </p:tgtEl>
                                        <p:attrNameLst>
                                          <p:attrName>style.visibility</p:attrName>
                                        </p:attrNameLst>
                                      </p:cBhvr>
                                      <p:to>
                                        <p:strVal val="visible"/>
                                      </p:to>
                                    </p:set>
                                    <p:animEffect transition="in" filter="box(in)">
                                      <p:cBhvr>
                                        <p:cTn id="32" dur="500"/>
                                        <p:tgtEl>
                                          <p:spTgt spid="32776"/>
                                        </p:tgtEl>
                                      </p:cBhvr>
                                    </p:animEffect>
                                  </p:childTnLst>
                                  <p:subTnLst>
                                    <p:set>
                                      <p:cBhvr override="childStyle">
                                        <p:cTn dur="1" fill="hold" display="0" masterRel="nextClick" afterEffect="1"/>
                                        <p:tgtEl>
                                          <p:spTgt spid="3277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animBg="1" autoUpdateAnimBg="0"/>
      <p:bldP spid="32774" grpId="0" animBg="1" autoUpdateAnimBg="0"/>
      <p:bldP spid="32776" grpId="0" animBg="1" autoUpdateAnimBg="0"/>
      <p:bldP spid="32777" grpId="0" animBg="1" autoUpdateAnimBg="0"/>
      <p:bldP spid="32778" grpId="0" animBg="1" autoUpdateAnimBg="0"/>
      <p:bldP spid="32779"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DF203C0F-9C85-4B59-9171-36D8F328647F}" type="slidenum">
              <a:rPr lang="en-US" altLang="zh-CN"/>
              <a:pPr>
                <a:defRPr/>
              </a:pPr>
              <a:t>38</a:t>
            </a:fld>
            <a:endParaRPr lang="en-US" altLang="zh-CN"/>
          </a:p>
        </p:txBody>
      </p:sp>
      <p:sp>
        <p:nvSpPr>
          <p:cNvPr id="59395" name="Rectangle 2"/>
          <p:cNvSpPr>
            <a:spLocks noGrp="1" noChangeArrowheads="1"/>
          </p:cNvSpPr>
          <p:nvPr>
            <p:ph type="title"/>
          </p:nvPr>
        </p:nvSpPr>
        <p:spPr>
          <a:xfrm>
            <a:off x="323850" y="404813"/>
            <a:ext cx="7543800" cy="652462"/>
          </a:xfrm>
        </p:spPr>
        <p:txBody>
          <a:bodyPr/>
          <a:lstStyle/>
          <a:p>
            <a:pPr eaLnBrk="1" hangingPunct="1"/>
            <a:r>
              <a:rPr lang="en-US" altLang="zh-CN" sz="3600" smtClean="0">
                <a:latin typeface="楷体_GB2312" pitchFamily="49" charset="-122"/>
                <a:ea typeface="楷体_GB2312" pitchFamily="49" charset="-122"/>
                <a:cs typeface="Times New Roman" charset="0"/>
              </a:rPr>
              <a:t>3.4 </a:t>
            </a:r>
            <a:r>
              <a:rPr lang="zh-CN" altLang="en-US" sz="3600" smtClean="0">
                <a:latin typeface="楷体_GB2312" pitchFamily="49" charset="-122"/>
                <a:ea typeface="楷体_GB2312" pitchFamily="49" charset="-122"/>
                <a:cs typeface="Times New Roman" charset="0"/>
              </a:rPr>
              <a:t>只读存储器和闪速存储器</a:t>
            </a:r>
          </a:p>
        </p:txBody>
      </p:sp>
      <p:sp>
        <p:nvSpPr>
          <p:cNvPr id="59396" name="Rectangle 3"/>
          <p:cNvSpPr>
            <a:spLocks noGrp="1" noChangeArrowheads="1"/>
          </p:cNvSpPr>
          <p:nvPr>
            <p:ph type="body" idx="1"/>
          </p:nvPr>
        </p:nvSpPr>
        <p:spPr>
          <a:xfrm>
            <a:off x="179388" y="1268413"/>
            <a:ext cx="8640762" cy="5256212"/>
          </a:xfrm>
        </p:spPr>
        <p:txBody>
          <a:bodyPr/>
          <a:lstStyle/>
          <a:p>
            <a:pPr eaLnBrk="1" hangingPunct="1">
              <a:lnSpc>
                <a:spcPct val="90000"/>
              </a:lnSpc>
              <a:buFont typeface="Wingdings" pitchFamily="2" charset="2"/>
              <a:buNone/>
            </a:pPr>
            <a:r>
              <a:rPr lang="zh-CN" altLang="en-US" sz="2800" smtClean="0">
                <a:latin typeface="楷体_GB2312" pitchFamily="49" charset="-122"/>
                <a:ea typeface="楷体_GB2312" pitchFamily="49" charset="-122"/>
              </a:rPr>
              <a:t>一、只读存储器</a:t>
            </a:r>
          </a:p>
          <a:p>
            <a:pPr eaLnBrk="1" hangingPunct="1">
              <a:lnSpc>
                <a:spcPct val="90000"/>
              </a:lnSpc>
              <a:buFont typeface="Wingdings" pitchFamily="2" charset="2"/>
              <a:buNone/>
            </a:pPr>
            <a:r>
              <a:rPr lang="zh-CN" altLang="en-US" sz="2800" smtClean="0">
                <a:latin typeface="楷体_GB2312" pitchFamily="49" charset="-122"/>
                <a:ea typeface="楷体_GB2312" pitchFamily="49" charset="-122"/>
              </a:rPr>
              <a:t>      </a:t>
            </a:r>
            <a:r>
              <a:rPr lang="en-US" altLang="zh-CN" sz="2800" smtClean="0">
                <a:latin typeface="楷体_GB2312" pitchFamily="49" charset="-122"/>
                <a:ea typeface="楷体_GB2312" pitchFamily="49" charset="-122"/>
              </a:rPr>
              <a:t>ROM</a:t>
            </a:r>
            <a:r>
              <a:rPr lang="zh-CN" altLang="en-US" sz="2800" smtClean="0">
                <a:latin typeface="楷体_GB2312" pitchFamily="49" charset="-122"/>
                <a:ea typeface="楷体_GB2312" pitchFamily="49" charset="-122"/>
              </a:rPr>
              <a:t>叫做只读存储器。顾名思义，只读的意思是在它工作时只能读出，不能写入。然而其中存储的原始数据，必须在它工作以前写入。只读存储器由于工作可靠，保密性强，在计算机系统中得到广泛的应用。主要有两类：</a:t>
            </a:r>
          </a:p>
          <a:p>
            <a:pPr lvl="1" eaLnBrk="1" hangingPunct="1">
              <a:lnSpc>
                <a:spcPct val="90000"/>
              </a:lnSpc>
            </a:pPr>
            <a:r>
              <a:rPr lang="zh-CN" altLang="en-US" sz="2800" smtClean="0">
                <a:latin typeface="楷体_GB2312" pitchFamily="49" charset="-122"/>
                <a:ea typeface="楷体_GB2312" pitchFamily="49" charset="-122"/>
              </a:rPr>
              <a:t>掩模</a:t>
            </a:r>
            <a:r>
              <a:rPr lang="en-US" altLang="zh-CN" sz="2800" smtClean="0">
                <a:latin typeface="楷体_GB2312" pitchFamily="49" charset="-122"/>
                <a:ea typeface="楷体_GB2312" pitchFamily="49" charset="-122"/>
              </a:rPr>
              <a:t>ROM</a:t>
            </a:r>
            <a:r>
              <a:rPr lang="zh-CN" altLang="en-US" sz="2800" smtClean="0">
                <a:latin typeface="楷体_GB2312" pitchFamily="49" charset="-122"/>
                <a:ea typeface="楷体_GB2312" pitchFamily="49" charset="-122"/>
              </a:rPr>
              <a:t>：掩模</a:t>
            </a:r>
            <a:r>
              <a:rPr lang="en-US" altLang="zh-CN" sz="2800" smtClean="0">
                <a:latin typeface="楷体_GB2312" pitchFamily="49" charset="-122"/>
                <a:ea typeface="楷体_GB2312" pitchFamily="49" charset="-122"/>
              </a:rPr>
              <a:t>ROM</a:t>
            </a:r>
            <a:r>
              <a:rPr lang="zh-CN" altLang="en-US" sz="2800" smtClean="0">
                <a:latin typeface="楷体_GB2312" pitchFamily="49" charset="-122"/>
                <a:ea typeface="楷体_GB2312" pitchFamily="49" charset="-122"/>
              </a:rPr>
              <a:t>实际上是一个存储内容固定的</a:t>
            </a:r>
            <a:r>
              <a:rPr lang="en-US" altLang="zh-CN" sz="2800" smtClean="0">
                <a:latin typeface="楷体_GB2312" pitchFamily="49" charset="-122"/>
                <a:ea typeface="楷体_GB2312" pitchFamily="49" charset="-122"/>
              </a:rPr>
              <a:t>ROM</a:t>
            </a:r>
            <a:r>
              <a:rPr lang="zh-CN" altLang="en-US" sz="2800" smtClean="0">
                <a:latin typeface="楷体_GB2312" pitchFamily="49" charset="-122"/>
                <a:ea typeface="楷体_GB2312" pitchFamily="49" charset="-122"/>
              </a:rPr>
              <a:t>，由生产厂家提供产品。 </a:t>
            </a:r>
          </a:p>
          <a:p>
            <a:pPr lvl="1" eaLnBrk="1" hangingPunct="1">
              <a:lnSpc>
                <a:spcPct val="90000"/>
              </a:lnSpc>
            </a:pPr>
            <a:r>
              <a:rPr lang="zh-CN" altLang="en-US" sz="2800" smtClean="0">
                <a:latin typeface="楷体_GB2312" pitchFamily="49" charset="-122"/>
                <a:ea typeface="楷体_GB2312" pitchFamily="49" charset="-122"/>
              </a:rPr>
              <a:t>可编程</a:t>
            </a:r>
            <a:r>
              <a:rPr lang="en-US" altLang="zh-CN" sz="2800" smtClean="0">
                <a:latin typeface="楷体_GB2312" pitchFamily="49" charset="-122"/>
                <a:ea typeface="楷体_GB2312" pitchFamily="49" charset="-122"/>
              </a:rPr>
              <a:t>ROM</a:t>
            </a:r>
            <a:r>
              <a:rPr lang="zh-CN" altLang="en-US" sz="2800" smtClean="0">
                <a:latin typeface="楷体_GB2312" pitchFamily="49" charset="-122"/>
                <a:ea typeface="楷体_GB2312" pitchFamily="49" charset="-122"/>
              </a:rPr>
              <a:t>：用户后写入内容，有些可以多次写入。</a:t>
            </a:r>
          </a:p>
          <a:p>
            <a:pPr lvl="2" eaLnBrk="1" hangingPunct="1">
              <a:lnSpc>
                <a:spcPct val="90000"/>
              </a:lnSpc>
            </a:pPr>
            <a:r>
              <a:rPr lang="zh-CN" altLang="en-US" sz="2800" smtClean="0">
                <a:latin typeface="楷体_GB2312" pitchFamily="49" charset="-122"/>
                <a:ea typeface="楷体_GB2312" pitchFamily="49" charset="-122"/>
              </a:rPr>
              <a:t>一次性编程的</a:t>
            </a:r>
            <a:r>
              <a:rPr lang="en-US" altLang="zh-CN" sz="2800" smtClean="0">
                <a:latin typeface="楷体_GB2312" pitchFamily="49" charset="-122"/>
                <a:ea typeface="楷体_GB2312" pitchFamily="49" charset="-122"/>
              </a:rPr>
              <a:t>PROM</a:t>
            </a:r>
          </a:p>
          <a:p>
            <a:pPr lvl="2" eaLnBrk="1" hangingPunct="1">
              <a:lnSpc>
                <a:spcPct val="90000"/>
              </a:lnSpc>
            </a:pPr>
            <a:r>
              <a:rPr lang="zh-CN" altLang="en-US" sz="2800" smtClean="0">
                <a:latin typeface="楷体_GB2312" pitchFamily="49" charset="-122"/>
                <a:ea typeface="楷体_GB2312" pitchFamily="49" charset="-122"/>
              </a:rPr>
              <a:t>多次编程的</a:t>
            </a:r>
            <a:r>
              <a:rPr lang="en-US" altLang="zh-CN" sz="2800" smtClean="0">
                <a:latin typeface="楷体_GB2312" pitchFamily="49" charset="-122"/>
                <a:ea typeface="楷体_GB2312" pitchFamily="49" charset="-122"/>
              </a:rPr>
              <a:t>EPROM</a:t>
            </a:r>
            <a:r>
              <a:rPr lang="zh-CN" altLang="en-US" sz="2800" smtClean="0">
                <a:latin typeface="楷体_GB2312" pitchFamily="49" charset="-122"/>
                <a:ea typeface="楷体_GB2312" pitchFamily="49" charset="-122"/>
              </a:rPr>
              <a:t>和</a:t>
            </a:r>
            <a:r>
              <a:rPr lang="en-US" altLang="zh-CN" sz="2800" smtClean="0">
                <a:latin typeface="楷体_GB2312" pitchFamily="49" charset="-122"/>
                <a:ea typeface="楷体_GB2312" pitchFamily="49" charset="-122"/>
              </a:rPr>
              <a:t>E</a:t>
            </a:r>
            <a:r>
              <a:rPr lang="en-US" altLang="zh-CN" sz="2800" baseline="30000" smtClean="0">
                <a:latin typeface="楷体_GB2312" pitchFamily="49" charset="-122"/>
                <a:ea typeface="楷体_GB2312" pitchFamily="49" charset="-122"/>
              </a:rPr>
              <a:t>2</a:t>
            </a:r>
            <a:r>
              <a:rPr lang="en-US" altLang="zh-CN" sz="2800" smtClean="0">
                <a:latin typeface="楷体_GB2312" pitchFamily="49" charset="-122"/>
                <a:ea typeface="楷体_GB2312" pitchFamily="49" charset="-122"/>
              </a:rPr>
              <a:t>PROM</a:t>
            </a:r>
            <a:r>
              <a:rPr lang="zh-CN" altLang="en-US" sz="2800" smtClean="0">
                <a:latin typeface="楷体_GB2312" pitchFamily="49" charset="-122"/>
                <a:ea typeface="楷体_GB2312" pitchFamily="49"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73FE0AB1-9098-49BA-BF98-5EEE68CDC7A9}" type="slidenum">
              <a:rPr lang="en-US" altLang="zh-CN"/>
              <a:pPr>
                <a:defRPr/>
              </a:pPr>
              <a:t>39</a:t>
            </a:fld>
            <a:endParaRPr lang="en-US" altLang="zh-CN"/>
          </a:p>
        </p:txBody>
      </p:sp>
      <p:sp>
        <p:nvSpPr>
          <p:cNvPr id="60419" name="Rectangle 2"/>
          <p:cNvSpPr>
            <a:spLocks noGrp="1" noChangeArrowheads="1"/>
          </p:cNvSpPr>
          <p:nvPr>
            <p:ph type="title"/>
          </p:nvPr>
        </p:nvSpPr>
        <p:spPr>
          <a:xfrm>
            <a:off x="395288" y="260350"/>
            <a:ext cx="7543800" cy="576263"/>
          </a:xfrm>
        </p:spPr>
        <p:txBody>
          <a:bodyPr/>
          <a:lstStyle/>
          <a:p>
            <a:pPr eaLnBrk="1" hangingPunct="1"/>
            <a:r>
              <a:rPr lang="en-US" altLang="zh-CN" sz="3600" smtClean="0">
                <a:latin typeface="楷体_GB2312" pitchFamily="49" charset="-122"/>
                <a:ea typeface="楷体_GB2312" pitchFamily="49" charset="-122"/>
                <a:cs typeface="Times New Roman" charset="0"/>
              </a:rPr>
              <a:t>3.4 </a:t>
            </a:r>
            <a:r>
              <a:rPr lang="zh-CN" altLang="en-US" sz="3600" smtClean="0">
                <a:latin typeface="楷体_GB2312" pitchFamily="49" charset="-122"/>
                <a:ea typeface="楷体_GB2312" pitchFamily="49" charset="-122"/>
                <a:cs typeface="Times New Roman" charset="0"/>
              </a:rPr>
              <a:t>只读存储器和闪速存储器</a:t>
            </a:r>
          </a:p>
        </p:txBody>
      </p:sp>
      <p:sp>
        <p:nvSpPr>
          <p:cNvPr id="60420" name="Rectangle 3"/>
          <p:cNvSpPr>
            <a:spLocks noGrp="1" noChangeArrowheads="1"/>
          </p:cNvSpPr>
          <p:nvPr>
            <p:ph type="body" idx="1"/>
          </p:nvPr>
        </p:nvSpPr>
        <p:spPr>
          <a:xfrm>
            <a:off x="395288" y="908050"/>
            <a:ext cx="6913562" cy="574675"/>
          </a:xfrm>
        </p:spPr>
        <p:txBody>
          <a:bodyPr/>
          <a:lstStyle/>
          <a:p>
            <a:pPr eaLnBrk="1" hangingPunct="1">
              <a:buFont typeface="Wingdings" pitchFamily="2" charset="2"/>
              <a:buNone/>
            </a:pPr>
            <a:r>
              <a:rPr lang="en-US" altLang="zh-CN" sz="2800" smtClean="0">
                <a:latin typeface="楷体_GB2312" pitchFamily="49" charset="-122"/>
                <a:ea typeface="楷体_GB2312" pitchFamily="49" charset="-122"/>
              </a:rPr>
              <a:t>1</a:t>
            </a:r>
            <a:r>
              <a:rPr lang="zh-CN" altLang="en-US" sz="2800" smtClean="0">
                <a:latin typeface="楷体_GB2312" pitchFamily="49" charset="-122"/>
                <a:ea typeface="楷体_GB2312" pitchFamily="49" charset="-122"/>
              </a:rPr>
              <a:t>、掩模</a:t>
            </a:r>
            <a:r>
              <a:rPr lang="en-US" altLang="zh-CN" sz="2800" smtClean="0">
                <a:latin typeface="楷体_GB2312" pitchFamily="49" charset="-122"/>
                <a:ea typeface="楷体_GB2312" pitchFamily="49" charset="-122"/>
              </a:rPr>
              <a:t>ROM</a:t>
            </a:r>
            <a:r>
              <a:rPr lang="zh-CN" altLang="en-US" sz="2800" smtClean="0">
                <a:latin typeface="楷体_GB2312" pitchFamily="49" charset="-122"/>
                <a:ea typeface="楷体_GB2312" pitchFamily="49" charset="-122"/>
              </a:rPr>
              <a:t>的阵列结构和存储元 </a:t>
            </a:r>
          </a:p>
        </p:txBody>
      </p:sp>
      <p:pic>
        <p:nvPicPr>
          <p:cNvPr id="60421" name="Picture 4" descr="3A17">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288" y="1557338"/>
            <a:ext cx="7488237" cy="494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A64A417B-F1AF-4426-BA5A-06B368A38D53}" type="slidenum">
              <a:rPr lang="en-US" altLang="zh-CN"/>
              <a:pPr>
                <a:defRPr/>
              </a:pPr>
              <a:t>40</a:t>
            </a:fld>
            <a:endParaRPr lang="en-US" altLang="zh-CN"/>
          </a:p>
        </p:txBody>
      </p:sp>
      <p:sp>
        <p:nvSpPr>
          <p:cNvPr id="62467" name="Rectangle 2"/>
          <p:cNvSpPr>
            <a:spLocks noGrp="1" noChangeArrowheads="1"/>
          </p:cNvSpPr>
          <p:nvPr>
            <p:ph type="title"/>
          </p:nvPr>
        </p:nvSpPr>
        <p:spPr>
          <a:xfrm>
            <a:off x="457200" y="122238"/>
            <a:ext cx="7543800" cy="642937"/>
          </a:xfrm>
        </p:spPr>
        <p:txBody>
          <a:bodyPr/>
          <a:lstStyle/>
          <a:p>
            <a:pPr eaLnBrk="1" hangingPunct="1"/>
            <a:r>
              <a:rPr lang="en-US" altLang="zh-CN" sz="3600" smtClean="0">
                <a:latin typeface="楷体_GB2312" pitchFamily="49" charset="-122"/>
                <a:ea typeface="楷体_GB2312" pitchFamily="49" charset="-122"/>
                <a:cs typeface="Times New Roman" charset="0"/>
              </a:rPr>
              <a:t>3.4  </a:t>
            </a:r>
            <a:r>
              <a:rPr lang="zh-CN" altLang="en-US" sz="3600" smtClean="0">
                <a:latin typeface="楷体_GB2312" pitchFamily="49" charset="-122"/>
                <a:ea typeface="楷体_GB2312" pitchFamily="49" charset="-122"/>
                <a:cs typeface="Times New Roman" charset="0"/>
              </a:rPr>
              <a:t>只读存储器和闪速存储器</a:t>
            </a:r>
          </a:p>
        </p:txBody>
      </p:sp>
      <p:sp>
        <p:nvSpPr>
          <p:cNvPr id="62468" name="Rectangle 3"/>
          <p:cNvSpPr>
            <a:spLocks noGrp="1" noChangeArrowheads="1"/>
          </p:cNvSpPr>
          <p:nvPr>
            <p:ph type="body" idx="1"/>
          </p:nvPr>
        </p:nvSpPr>
        <p:spPr>
          <a:xfrm>
            <a:off x="539750" y="1052513"/>
            <a:ext cx="7345363" cy="2520950"/>
          </a:xfrm>
        </p:spPr>
        <p:txBody>
          <a:bodyPr/>
          <a:lstStyle/>
          <a:p>
            <a:pPr eaLnBrk="1" hangingPunct="1">
              <a:lnSpc>
                <a:spcPct val="80000"/>
              </a:lnSpc>
              <a:buFont typeface="Wingdings" pitchFamily="2" charset="2"/>
              <a:buNone/>
            </a:pPr>
            <a:r>
              <a:rPr lang="en-US" altLang="zh-CN" sz="2800" smtClean="0">
                <a:latin typeface="楷体_GB2312" pitchFamily="49" charset="-122"/>
                <a:ea typeface="楷体_GB2312" pitchFamily="49" charset="-122"/>
              </a:rPr>
              <a:t>3</a:t>
            </a:r>
            <a:r>
              <a:rPr lang="zh-CN" altLang="en-US" sz="2800" smtClean="0">
                <a:latin typeface="楷体_GB2312" pitchFamily="49" charset="-122"/>
                <a:ea typeface="楷体_GB2312" pitchFamily="49" charset="-122"/>
              </a:rPr>
              <a:t>、可编程</a:t>
            </a:r>
            <a:r>
              <a:rPr lang="en-US" altLang="zh-CN" sz="2800" smtClean="0">
                <a:latin typeface="楷体_GB2312" pitchFamily="49" charset="-122"/>
                <a:ea typeface="楷体_GB2312" pitchFamily="49" charset="-122"/>
              </a:rPr>
              <a:t>ROM </a:t>
            </a:r>
          </a:p>
          <a:p>
            <a:pPr eaLnBrk="1" hangingPunct="1">
              <a:lnSpc>
                <a:spcPct val="80000"/>
              </a:lnSpc>
            </a:pPr>
            <a:r>
              <a:rPr lang="en-US" altLang="zh-CN" sz="2800" smtClean="0">
                <a:latin typeface="楷体_GB2312" pitchFamily="49" charset="-122"/>
                <a:ea typeface="楷体_GB2312" pitchFamily="49" charset="-122"/>
              </a:rPr>
              <a:t>EPROM</a:t>
            </a:r>
            <a:r>
              <a:rPr lang="zh-CN" altLang="en-US" sz="2800" smtClean="0">
                <a:latin typeface="楷体_GB2312" pitchFamily="49" charset="-122"/>
                <a:ea typeface="楷体_GB2312" pitchFamily="49" charset="-122"/>
              </a:rPr>
              <a:t>叫做光擦除可编程可读存储器。它的存储内容可以根据需要写入，当需要更新时将原存储内容抹去，再写入新的内容。</a:t>
            </a:r>
          </a:p>
          <a:p>
            <a:pPr eaLnBrk="1" hangingPunct="1">
              <a:lnSpc>
                <a:spcPct val="80000"/>
              </a:lnSpc>
            </a:pPr>
            <a:r>
              <a:rPr lang="zh-CN" altLang="en-US" sz="2800" smtClean="0">
                <a:latin typeface="楷体_GB2312" pitchFamily="49" charset="-122"/>
                <a:ea typeface="楷体_GB2312" pitchFamily="49" charset="-122"/>
              </a:rPr>
              <a:t>现以浮栅雪崩注入型</a:t>
            </a:r>
            <a:r>
              <a:rPr lang="en-US" altLang="zh-CN" sz="2800" smtClean="0">
                <a:latin typeface="楷体_GB2312" pitchFamily="49" charset="-122"/>
                <a:ea typeface="楷体_GB2312" pitchFamily="49" charset="-122"/>
              </a:rPr>
              <a:t>MOS</a:t>
            </a:r>
            <a:r>
              <a:rPr lang="zh-CN" altLang="en-US" sz="2800" smtClean="0">
                <a:latin typeface="楷体_GB2312" pitchFamily="49" charset="-122"/>
                <a:ea typeface="楷体_GB2312" pitchFamily="49" charset="-122"/>
              </a:rPr>
              <a:t>管为存储元的</a:t>
            </a:r>
            <a:r>
              <a:rPr lang="en-US" altLang="zh-CN" sz="2800" smtClean="0">
                <a:latin typeface="楷体_GB2312" pitchFamily="49" charset="-122"/>
                <a:ea typeface="楷体_GB2312" pitchFamily="49" charset="-122"/>
              </a:rPr>
              <a:t>EPROM</a:t>
            </a:r>
            <a:r>
              <a:rPr lang="zh-CN" altLang="en-US" sz="2800" smtClean="0">
                <a:latin typeface="楷体_GB2312" pitchFamily="49" charset="-122"/>
                <a:ea typeface="楷体_GB2312" pitchFamily="49" charset="-122"/>
              </a:rPr>
              <a:t>为例进行说明。  </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54D0CC56-1EF0-4D06-A640-C6EE54E5EA82}" type="slidenum">
              <a:rPr lang="en-US" altLang="zh-CN"/>
              <a:pPr>
                <a:defRPr/>
              </a:pPr>
              <a:t>41</a:t>
            </a:fld>
            <a:endParaRPr lang="en-US" altLang="zh-CN"/>
          </a:p>
        </p:txBody>
      </p:sp>
      <p:pic>
        <p:nvPicPr>
          <p:cNvPr id="63491" name="Picture 4" descr="3A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04813"/>
            <a:ext cx="8316913"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B0644657-E00F-4BD6-9042-86BA9097A1DF}" type="slidenum">
              <a:rPr lang="en-US" altLang="zh-CN"/>
              <a:pPr>
                <a:defRPr/>
              </a:pPr>
              <a:t>42</a:t>
            </a:fld>
            <a:endParaRPr lang="en-US" altLang="zh-CN"/>
          </a:p>
        </p:txBody>
      </p:sp>
      <p:sp>
        <p:nvSpPr>
          <p:cNvPr id="64515" name="Rectangle 2"/>
          <p:cNvSpPr>
            <a:spLocks noGrp="1" noChangeArrowheads="1"/>
          </p:cNvSpPr>
          <p:nvPr>
            <p:ph type="title"/>
          </p:nvPr>
        </p:nvSpPr>
        <p:spPr>
          <a:xfrm>
            <a:off x="395288" y="260350"/>
            <a:ext cx="7543800" cy="642938"/>
          </a:xfrm>
        </p:spPr>
        <p:txBody>
          <a:bodyPr/>
          <a:lstStyle/>
          <a:p>
            <a:pPr eaLnBrk="1" hangingPunct="1"/>
            <a:r>
              <a:rPr lang="en-US" altLang="zh-CN" sz="4000" smtClean="0">
                <a:latin typeface="楷体_GB2312" pitchFamily="49" charset="-122"/>
                <a:ea typeface="楷体_GB2312" pitchFamily="49" charset="-122"/>
                <a:cs typeface="Times New Roman" charset="0"/>
              </a:rPr>
              <a:t>3.4 </a:t>
            </a:r>
            <a:r>
              <a:rPr lang="zh-CN" altLang="en-US" sz="4000" smtClean="0">
                <a:latin typeface="楷体_GB2312" pitchFamily="49" charset="-122"/>
                <a:ea typeface="楷体_GB2312" pitchFamily="49" charset="-122"/>
                <a:cs typeface="Times New Roman" charset="0"/>
              </a:rPr>
              <a:t>只读存储器和闪速存储器</a:t>
            </a:r>
          </a:p>
        </p:txBody>
      </p:sp>
      <p:sp>
        <p:nvSpPr>
          <p:cNvPr id="64516" name="Rectangle 3"/>
          <p:cNvSpPr>
            <a:spLocks noGrp="1" noChangeArrowheads="1"/>
          </p:cNvSpPr>
          <p:nvPr>
            <p:ph type="body" idx="1"/>
          </p:nvPr>
        </p:nvSpPr>
        <p:spPr>
          <a:xfrm>
            <a:off x="250825" y="908050"/>
            <a:ext cx="7561263" cy="865188"/>
          </a:xfrm>
        </p:spPr>
        <p:txBody>
          <a:bodyPr/>
          <a:lstStyle/>
          <a:p>
            <a:pPr eaLnBrk="1" hangingPunct="1">
              <a:lnSpc>
                <a:spcPct val="80000"/>
              </a:lnSpc>
            </a:pPr>
            <a:r>
              <a:rPr lang="en-US" altLang="zh-CN" sz="2800" smtClean="0">
                <a:latin typeface="楷体_GB2312" pitchFamily="49" charset="-122"/>
                <a:ea typeface="楷体_GB2312" pitchFamily="49" charset="-122"/>
              </a:rPr>
              <a:t>E</a:t>
            </a:r>
            <a:r>
              <a:rPr lang="en-US" altLang="zh-CN" sz="2800" baseline="30000" smtClean="0">
                <a:latin typeface="楷体_GB2312" pitchFamily="49" charset="-122"/>
                <a:ea typeface="楷体_GB2312" pitchFamily="49" charset="-122"/>
              </a:rPr>
              <a:t>2</a:t>
            </a:r>
            <a:r>
              <a:rPr lang="en-US" altLang="zh-CN" sz="2800" smtClean="0">
                <a:latin typeface="楷体_GB2312" pitchFamily="49" charset="-122"/>
                <a:ea typeface="楷体_GB2312" pitchFamily="49" charset="-122"/>
              </a:rPr>
              <a:t>PROM</a:t>
            </a:r>
            <a:r>
              <a:rPr lang="zh-CN" altLang="en-US" sz="2800" smtClean="0">
                <a:latin typeface="楷体_GB2312" pitchFamily="49" charset="-122"/>
                <a:ea typeface="楷体_GB2312" pitchFamily="49" charset="-122"/>
              </a:rPr>
              <a:t>存储元 </a:t>
            </a:r>
          </a:p>
          <a:p>
            <a:pPr eaLnBrk="1" hangingPunct="1">
              <a:lnSpc>
                <a:spcPct val="80000"/>
              </a:lnSpc>
              <a:buFont typeface="Wingdings" pitchFamily="2" charset="2"/>
              <a:buNone/>
            </a:pPr>
            <a:r>
              <a:rPr lang="zh-CN" altLang="en-US" sz="2800" smtClean="0">
                <a:latin typeface="楷体_GB2312" pitchFamily="49" charset="-122"/>
                <a:ea typeface="楷体_GB2312" pitchFamily="49" charset="-122"/>
              </a:rPr>
              <a:t>	</a:t>
            </a:r>
            <a:r>
              <a:rPr lang="en-US" altLang="zh-CN" sz="2800" smtClean="0">
                <a:latin typeface="楷体_GB2312" pitchFamily="49" charset="-122"/>
                <a:ea typeface="楷体_GB2312" pitchFamily="49" charset="-122"/>
              </a:rPr>
              <a:t>EEPROM</a:t>
            </a:r>
            <a:r>
              <a:rPr lang="zh-CN" altLang="en-US" sz="2800" smtClean="0">
                <a:latin typeface="楷体_GB2312" pitchFamily="49" charset="-122"/>
                <a:ea typeface="楷体_GB2312" pitchFamily="49" charset="-122"/>
              </a:rPr>
              <a:t>，叫做电擦除可编程只读存储器。</a:t>
            </a:r>
          </a:p>
        </p:txBody>
      </p:sp>
      <p:pic>
        <p:nvPicPr>
          <p:cNvPr id="64517" name="Picture 4" descr="3A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1844675"/>
            <a:ext cx="7488238"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AutoShape 5"/>
          <p:cNvSpPr>
            <a:spLocks noChangeArrowheads="1"/>
          </p:cNvSpPr>
          <p:nvPr/>
        </p:nvSpPr>
        <p:spPr bwMode="auto">
          <a:xfrm>
            <a:off x="323850" y="188913"/>
            <a:ext cx="7561263" cy="1152525"/>
          </a:xfrm>
          <a:prstGeom prst="wedgeRectCallout">
            <a:avLst>
              <a:gd name="adj1" fmla="val -25417"/>
              <a:gd name="adj2" fmla="val 95866"/>
            </a:avLst>
          </a:prstGeom>
          <a:solidFill>
            <a:schemeClr val="accent1"/>
          </a:solidFill>
          <a:ln w="12700" cap="sq">
            <a:solidFill>
              <a:schemeClr val="tx1"/>
            </a:solidFill>
            <a:miter lim="800000"/>
            <a:headEnd type="none" w="sm" len="sm"/>
            <a:tailEnd type="none" w="sm" len="sm"/>
          </a:ln>
        </p:spPr>
        <p:txBody>
          <a:bodyPr/>
          <a:lstStyle/>
          <a:p>
            <a:pPr>
              <a:lnSpc>
                <a:spcPct val="80000"/>
              </a:lnSpc>
              <a:spcBef>
                <a:spcPct val="20000"/>
              </a:spcBef>
              <a:buClr>
                <a:schemeClr val="tx2"/>
              </a:buClr>
              <a:buSzPct val="70000"/>
              <a:buFont typeface="Wingdings" pitchFamily="2" charset="2"/>
              <a:buNone/>
            </a:pPr>
            <a:r>
              <a:rPr lang="zh-CN" altLang="en-US"/>
              <a:t>其存储元是一个具有两个栅极的</a:t>
            </a:r>
            <a:r>
              <a:rPr lang="en-US" altLang="zh-CN"/>
              <a:t>NMOS</a:t>
            </a:r>
            <a:r>
              <a:rPr lang="zh-CN" altLang="en-US"/>
              <a:t>管，如图</a:t>
            </a:r>
            <a:r>
              <a:rPr lang="en-US" altLang="zh-CN"/>
              <a:t>(a)</a:t>
            </a:r>
            <a:r>
              <a:rPr lang="zh-CN" altLang="en-US"/>
              <a:t>和</a:t>
            </a:r>
            <a:r>
              <a:rPr lang="en-US" altLang="zh-CN"/>
              <a:t>(b)</a:t>
            </a:r>
            <a:r>
              <a:rPr lang="zh-CN" altLang="en-US"/>
              <a:t>所示，</a:t>
            </a:r>
            <a:r>
              <a:rPr lang="en-US" altLang="zh-CN"/>
              <a:t>G1</a:t>
            </a:r>
            <a:r>
              <a:rPr lang="zh-CN" altLang="en-US"/>
              <a:t>是控制栅，它是一个浮栅，无引出线；</a:t>
            </a:r>
            <a:r>
              <a:rPr lang="en-US" altLang="zh-CN"/>
              <a:t>G2</a:t>
            </a:r>
            <a:r>
              <a:rPr lang="zh-CN" altLang="en-US"/>
              <a:t>是抹去栅，它有引出线。</a:t>
            </a:r>
          </a:p>
        </p:txBody>
      </p:sp>
      <p:sp>
        <p:nvSpPr>
          <p:cNvPr id="43014" name="AutoShape 6"/>
          <p:cNvSpPr>
            <a:spLocks noChangeArrowheads="1"/>
          </p:cNvSpPr>
          <p:nvPr/>
        </p:nvSpPr>
        <p:spPr bwMode="auto">
          <a:xfrm>
            <a:off x="5724525" y="692150"/>
            <a:ext cx="2592388" cy="5616575"/>
          </a:xfrm>
          <a:prstGeom prst="wedgeRectCallout">
            <a:avLst>
              <a:gd name="adj1" fmla="val -191704"/>
              <a:gd name="adj2" fmla="val 30356"/>
            </a:avLst>
          </a:prstGeom>
          <a:solidFill>
            <a:schemeClr val="accent1"/>
          </a:solidFill>
          <a:ln w="12700" cap="sq">
            <a:solidFill>
              <a:schemeClr val="tx1"/>
            </a:solidFill>
            <a:miter lim="800000"/>
            <a:headEnd type="none" w="sm" len="sm"/>
            <a:tailEnd type="none" w="sm" len="sm"/>
          </a:ln>
        </p:spPr>
        <p:txBody>
          <a:bodyPr/>
          <a:lstStyle/>
          <a:p>
            <a:pPr>
              <a:lnSpc>
                <a:spcPct val="80000"/>
              </a:lnSpc>
              <a:spcBef>
                <a:spcPct val="20000"/>
              </a:spcBef>
              <a:buClr>
                <a:schemeClr val="tx2"/>
              </a:buClr>
              <a:buSzPct val="70000"/>
              <a:buFont typeface="Wingdings" pitchFamily="2" charset="2"/>
              <a:buNone/>
            </a:pPr>
            <a:r>
              <a:rPr lang="zh-CN" altLang="en-US"/>
              <a:t>在</a:t>
            </a:r>
            <a:r>
              <a:rPr lang="en-US" altLang="zh-CN"/>
              <a:t>G1</a:t>
            </a:r>
            <a:r>
              <a:rPr lang="zh-CN" altLang="en-US"/>
              <a:t>栅和漏极</a:t>
            </a:r>
            <a:r>
              <a:rPr lang="en-US" altLang="zh-CN"/>
              <a:t>D</a:t>
            </a:r>
            <a:r>
              <a:rPr lang="zh-CN" altLang="en-US"/>
              <a:t>之间有一小面积的氧化层，其厚度极薄，可产生隧道效应。如图</a:t>
            </a:r>
            <a:r>
              <a:rPr lang="en-US" altLang="zh-CN"/>
              <a:t>(c)</a:t>
            </a:r>
            <a:r>
              <a:rPr lang="zh-CN" altLang="en-US"/>
              <a:t>所示，当</a:t>
            </a:r>
            <a:r>
              <a:rPr lang="en-US" altLang="zh-CN"/>
              <a:t>G2</a:t>
            </a:r>
            <a:r>
              <a:rPr lang="zh-CN" altLang="en-US"/>
              <a:t>栅加</a:t>
            </a:r>
            <a:r>
              <a:rPr lang="en-US" altLang="zh-CN"/>
              <a:t>20V</a:t>
            </a:r>
            <a:r>
              <a:rPr lang="zh-CN" altLang="en-US"/>
              <a:t>正脉冲</a:t>
            </a:r>
            <a:r>
              <a:rPr lang="en-US" altLang="zh-CN"/>
              <a:t>P1</a:t>
            </a:r>
            <a:r>
              <a:rPr lang="zh-CN" altLang="en-US"/>
              <a:t>时，通过隧道效应，电子由衬底注入到</a:t>
            </a:r>
            <a:r>
              <a:rPr lang="en-US" altLang="zh-CN"/>
              <a:t>G1</a:t>
            </a:r>
            <a:r>
              <a:rPr lang="zh-CN" altLang="en-US"/>
              <a:t>浮栅，相当于存储了“</a:t>
            </a:r>
            <a:r>
              <a:rPr lang="en-US" altLang="zh-CN"/>
              <a:t>1”</a:t>
            </a:r>
            <a:r>
              <a:rPr lang="zh-CN" altLang="en-US"/>
              <a:t>。利用此方法可将存储器抹成全“</a:t>
            </a:r>
            <a:r>
              <a:rPr lang="en-US" altLang="zh-CN"/>
              <a:t>1”</a:t>
            </a:r>
            <a:r>
              <a:rPr lang="zh-CN" altLang="en-US"/>
              <a:t>状态。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3"/>
                                        </p:tgtEl>
                                        <p:attrNameLst>
                                          <p:attrName>style.visibility</p:attrName>
                                        </p:attrNameLst>
                                      </p:cBhvr>
                                      <p:to>
                                        <p:strVal val="visible"/>
                                      </p:to>
                                    </p:set>
                                    <p:anim calcmode="lin" valueType="num">
                                      <p:cBhvr additive="base">
                                        <p:cTn id="7" dur="500" fill="hold"/>
                                        <p:tgtEl>
                                          <p:spTgt spid="43013"/>
                                        </p:tgtEl>
                                        <p:attrNameLst>
                                          <p:attrName>ppt_x</p:attrName>
                                        </p:attrNameLst>
                                      </p:cBhvr>
                                      <p:tavLst>
                                        <p:tav tm="0">
                                          <p:val>
                                            <p:strVal val="#ppt_x"/>
                                          </p:val>
                                        </p:tav>
                                        <p:tav tm="100000">
                                          <p:val>
                                            <p:strVal val="#ppt_x"/>
                                          </p:val>
                                        </p:tav>
                                      </p:tavLst>
                                    </p:anim>
                                    <p:anim calcmode="lin" valueType="num">
                                      <p:cBhvr additive="base">
                                        <p:cTn id="8" dur="500" fill="hold"/>
                                        <p:tgtEl>
                                          <p:spTgt spid="43013"/>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3013"/>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3014"/>
                                        </p:tgtEl>
                                        <p:attrNameLst>
                                          <p:attrName>style.visibility</p:attrName>
                                        </p:attrNameLst>
                                      </p:cBhvr>
                                      <p:to>
                                        <p:strVal val="visible"/>
                                      </p:to>
                                    </p:set>
                                    <p:anim calcmode="lin" valueType="num">
                                      <p:cBhvr additive="base">
                                        <p:cTn id="13" dur="500" fill="hold"/>
                                        <p:tgtEl>
                                          <p:spTgt spid="43014"/>
                                        </p:tgtEl>
                                        <p:attrNameLst>
                                          <p:attrName>ppt_x</p:attrName>
                                        </p:attrNameLst>
                                      </p:cBhvr>
                                      <p:tavLst>
                                        <p:tav tm="0">
                                          <p:val>
                                            <p:strVal val="#ppt_x"/>
                                          </p:val>
                                        </p:tav>
                                        <p:tav tm="100000">
                                          <p:val>
                                            <p:strVal val="#ppt_x"/>
                                          </p:val>
                                        </p:tav>
                                      </p:tavLst>
                                    </p:anim>
                                    <p:anim calcmode="lin" valueType="num">
                                      <p:cBhvr additive="base">
                                        <p:cTn id="14" dur="500" fill="hold"/>
                                        <p:tgtEl>
                                          <p:spTgt spid="43014"/>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301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3" grpId="0" animBg="1" autoUpdateAnimBg="0"/>
      <p:bldP spid="43014"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E25C1CF3-EA62-4E26-8C06-1F891DFCD25C}" type="slidenum">
              <a:rPr lang="en-US" altLang="zh-CN"/>
              <a:pPr>
                <a:defRPr/>
              </a:pPr>
              <a:t>43</a:t>
            </a:fld>
            <a:endParaRPr lang="en-US" altLang="zh-CN"/>
          </a:p>
        </p:txBody>
      </p:sp>
      <p:sp>
        <p:nvSpPr>
          <p:cNvPr id="66563" name="Rectangle 2"/>
          <p:cNvSpPr>
            <a:spLocks noGrp="1" noChangeArrowheads="1"/>
          </p:cNvSpPr>
          <p:nvPr>
            <p:ph type="title"/>
          </p:nvPr>
        </p:nvSpPr>
        <p:spPr>
          <a:xfrm>
            <a:off x="323850" y="188913"/>
            <a:ext cx="7543800" cy="785812"/>
          </a:xfrm>
        </p:spPr>
        <p:txBody>
          <a:bodyPr/>
          <a:lstStyle/>
          <a:p>
            <a:pPr eaLnBrk="1" hangingPunct="1"/>
            <a:r>
              <a:rPr lang="en-US" altLang="zh-CN" sz="4000" smtClean="0">
                <a:latin typeface="楷体_GB2312" pitchFamily="49" charset="-122"/>
                <a:ea typeface="楷体_GB2312" pitchFamily="49" charset="-122"/>
                <a:cs typeface="Times New Roman" charset="0"/>
              </a:rPr>
              <a:t>3.4  </a:t>
            </a:r>
            <a:r>
              <a:rPr lang="zh-CN" altLang="en-US" sz="4000" smtClean="0">
                <a:latin typeface="楷体_GB2312" pitchFamily="49" charset="-122"/>
                <a:ea typeface="楷体_GB2312" pitchFamily="49" charset="-122"/>
                <a:cs typeface="Times New Roman" charset="0"/>
              </a:rPr>
              <a:t>只读存储器和闪速存储器</a:t>
            </a:r>
          </a:p>
        </p:txBody>
      </p:sp>
      <p:sp>
        <p:nvSpPr>
          <p:cNvPr id="66564" name="Rectangle 3"/>
          <p:cNvSpPr>
            <a:spLocks noGrp="1" noChangeArrowheads="1"/>
          </p:cNvSpPr>
          <p:nvPr>
            <p:ph type="body" idx="1"/>
          </p:nvPr>
        </p:nvSpPr>
        <p:spPr>
          <a:xfrm>
            <a:off x="323850" y="1125538"/>
            <a:ext cx="7632700" cy="4248150"/>
          </a:xfrm>
        </p:spPr>
        <p:txBody>
          <a:bodyPr/>
          <a:lstStyle/>
          <a:p>
            <a:pPr eaLnBrk="1" hangingPunct="1">
              <a:buFont typeface="Wingdings" pitchFamily="2" charset="2"/>
              <a:buNone/>
            </a:pPr>
            <a:r>
              <a:rPr lang="en-US" altLang="zh-CN" smtClean="0">
                <a:latin typeface="楷体_GB2312" pitchFamily="49" charset="-122"/>
                <a:ea typeface="楷体_GB2312" pitchFamily="49" charset="-122"/>
              </a:rPr>
              <a:t>4</a:t>
            </a:r>
            <a:r>
              <a:rPr lang="zh-CN" altLang="en-US" smtClean="0">
                <a:latin typeface="楷体_GB2312" pitchFamily="49" charset="-122"/>
                <a:ea typeface="楷体_GB2312" pitchFamily="49" charset="-122"/>
              </a:rPr>
              <a:t>、闪速存储器</a:t>
            </a:r>
          </a:p>
          <a:p>
            <a:pPr eaLnBrk="1" hangingPunct="1">
              <a:buFont typeface="Wingdings" pitchFamily="2" charset="2"/>
              <a:buNone/>
            </a:pPr>
            <a:r>
              <a:rPr lang="zh-CN" altLang="en-US" smtClean="0">
                <a:latin typeface="楷体_GB2312" pitchFamily="49" charset="-122"/>
                <a:ea typeface="楷体_GB2312" pitchFamily="49" charset="-122"/>
              </a:rPr>
              <a:t>		</a:t>
            </a:r>
            <a:r>
              <a:rPr lang="en-US" altLang="zh-CN" smtClean="0">
                <a:latin typeface="楷体_GB2312" pitchFamily="49" charset="-122"/>
                <a:ea typeface="楷体_GB2312" pitchFamily="49" charset="-122"/>
              </a:rPr>
              <a:t>FLASH</a:t>
            </a:r>
            <a:r>
              <a:rPr lang="zh-CN" altLang="en-US" smtClean="0">
                <a:latin typeface="楷体_GB2312" pitchFamily="49" charset="-122"/>
                <a:ea typeface="楷体_GB2312" pitchFamily="49" charset="-122"/>
              </a:rPr>
              <a:t>存储器也翻译成闪速存储器，它是高密度非失易失性的读</a:t>
            </a:r>
            <a:r>
              <a:rPr lang="en-US" altLang="zh-CN" smtClean="0">
                <a:latin typeface="楷体_GB2312" pitchFamily="49" charset="-122"/>
                <a:ea typeface="楷体_GB2312" pitchFamily="49" charset="-122"/>
              </a:rPr>
              <a:t>/</a:t>
            </a:r>
            <a:r>
              <a:rPr lang="zh-CN" altLang="en-US" smtClean="0">
                <a:latin typeface="楷体_GB2312" pitchFamily="49" charset="-122"/>
                <a:ea typeface="楷体_GB2312" pitchFamily="49" charset="-122"/>
              </a:rPr>
              <a:t>写存储器。高密度意味着它具有巨大比特数目的存储容量。非易失性意味着存放的数据在没有电源的情况下可以长期保存。总之，它既有</a:t>
            </a:r>
            <a:r>
              <a:rPr lang="en-US" altLang="zh-CN" smtClean="0">
                <a:latin typeface="楷体_GB2312" pitchFamily="49" charset="-122"/>
                <a:ea typeface="楷体_GB2312" pitchFamily="49" charset="-122"/>
              </a:rPr>
              <a:t>RAM</a:t>
            </a:r>
            <a:r>
              <a:rPr lang="zh-CN" altLang="en-US" smtClean="0">
                <a:latin typeface="楷体_GB2312" pitchFamily="49" charset="-122"/>
                <a:ea typeface="楷体_GB2312" pitchFamily="49" charset="-122"/>
              </a:rPr>
              <a:t>的优点，又有</a:t>
            </a:r>
            <a:r>
              <a:rPr lang="en-US" altLang="zh-CN" smtClean="0">
                <a:latin typeface="楷体_GB2312" pitchFamily="49" charset="-122"/>
                <a:ea typeface="楷体_GB2312" pitchFamily="49" charset="-122"/>
              </a:rPr>
              <a:t>ROM</a:t>
            </a:r>
            <a:r>
              <a:rPr lang="zh-CN" altLang="en-US" smtClean="0">
                <a:latin typeface="楷体_GB2312" pitchFamily="49" charset="-122"/>
                <a:ea typeface="楷体_GB2312" pitchFamily="49" charset="-122"/>
              </a:rPr>
              <a:t>的优点，称得上是存储技术划时代的进展。 </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FE571BB7-9C5B-434B-A565-4845F4D78ED0}" type="slidenum">
              <a:rPr lang="en-US" altLang="zh-CN"/>
              <a:pPr>
                <a:defRPr/>
              </a:pPr>
              <a:t>44</a:t>
            </a:fld>
            <a:endParaRPr lang="en-US" altLang="zh-CN"/>
          </a:p>
        </p:txBody>
      </p:sp>
      <p:sp>
        <p:nvSpPr>
          <p:cNvPr id="67587" name="Rectangle 2"/>
          <p:cNvSpPr>
            <a:spLocks noGrp="1" noChangeArrowheads="1"/>
          </p:cNvSpPr>
          <p:nvPr>
            <p:ph type="title"/>
          </p:nvPr>
        </p:nvSpPr>
        <p:spPr>
          <a:xfrm>
            <a:off x="323850" y="333375"/>
            <a:ext cx="7632700" cy="857250"/>
          </a:xfrm>
        </p:spPr>
        <p:txBody>
          <a:bodyPr/>
          <a:lstStyle/>
          <a:p>
            <a:pPr eaLnBrk="1" hangingPunct="1"/>
            <a:r>
              <a:rPr lang="en-US" altLang="zh-CN" sz="4000" smtClean="0">
                <a:latin typeface="楷体_GB2312" pitchFamily="49" charset="-122"/>
                <a:ea typeface="楷体_GB2312" pitchFamily="49" charset="-122"/>
                <a:cs typeface="Times New Roman" charset="0"/>
              </a:rPr>
              <a:t>3.4 </a:t>
            </a:r>
            <a:r>
              <a:rPr lang="zh-CN" altLang="en-US" sz="4000" smtClean="0">
                <a:latin typeface="楷体_GB2312" pitchFamily="49" charset="-122"/>
                <a:ea typeface="楷体_GB2312" pitchFamily="49" charset="-122"/>
                <a:cs typeface="Times New Roman" charset="0"/>
              </a:rPr>
              <a:t>只读存储器和闪速存储器</a:t>
            </a:r>
          </a:p>
        </p:txBody>
      </p:sp>
      <p:pic>
        <p:nvPicPr>
          <p:cNvPr id="6758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412875"/>
            <a:ext cx="3384550"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9" name="Rectangle 6"/>
          <p:cNvSpPr>
            <a:spLocks noChangeArrowheads="1"/>
          </p:cNvSpPr>
          <p:nvPr/>
        </p:nvSpPr>
        <p:spPr bwMode="auto">
          <a:xfrm>
            <a:off x="539750" y="4437063"/>
            <a:ext cx="7777163"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a:latin typeface="楷体_GB2312" pitchFamily="49" charset="-122"/>
              </a:rPr>
              <a:t>     </a:t>
            </a:r>
            <a:r>
              <a:rPr lang="en-US" altLang="zh-CN" sz="3200">
                <a:latin typeface="楷体_GB2312" pitchFamily="49" charset="-122"/>
              </a:rPr>
              <a:t>FLASH</a:t>
            </a:r>
            <a:r>
              <a:rPr lang="zh-CN" altLang="en-US" sz="3200">
                <a:latin typeface="楷体_GB2312" pitchFamily="49" charset="-122"/>
              </a:rPr>
              <a:t>存储元在</a:t>
            </a:r>
            <a:r>
              <a:rPr lang="en-US" altLang="zh-CN" sz="3200">
                <a:latin typeface="楷体_GB2312" pitchFamily="49" charset="-122"/>
              </a:rPr>
              <a:t>EPROM</a:t>
            </a:r>
            <a:r>
              <a:rPr lang="zh-CN" altLang="en-US" sz="3200">
                <a:latin typeface="楷体_GB2312" pitchFamily="49" charset="-122"/>
              </a:rPr>
              <a:t>存储元基础上发展起来的，由单个</a:t>
            </a:r>
            <a:r>
              <a:rPr lang="en-US" altLang="zh-CN" sz="3200">
                <a:latin typeface="楷体_GB2312" pitchFamily="49" charset="-122"/>
              </a:rPr>
              <a:t>MOS</a:t>
            </a:r>
            <a:r>
              <a:rPr lang="zh-CN" altLang="en-US" sz="3200">
                <a:latin typeface="楷体_GB2312" pitchFamily="49" charset="-122"/>
              </a:rPr>
              <a:t>晶体管组成，除漏极</a:t>
            </a:r>
            <a:r>
              <a:rPr lang="en-US" altLang="zh-CN" sz="3200">
                <a:latin typeface="楷体_GB2312" pitchFamily="49" charset="-122"/>
              </a:rPr>
              <a:t>D</a:t>
            </a:r>
            <a:r>
              <a:rPr lang="zh-CN" altLang="en-US" sz="3200">
                <a:latin typeface="楷体_GB2312" pitchFamily="49" charset="-122"/>
              </a:rPr>
              <a:t>和源极</a:t>
            </a:r>
            <a:r>
              <a:rPr lang="en-US" altLang="zh-CN" sz="3200">
                <a:latin typeface="楷体_GB2312" pitchFamily="49" charset="-122"/>
              </a:rPr>
              <a:t>S</a:t>
            </a:r>
            <a:r>
              <a:rPr lang="zh-CN" altLang="en-US" sz="3200">
                <a:latin typeface="楷体_GB2312" pitchFamily="49" charset="-122"/>
              </a:rPr>
              <a:t>外，还有一个控制栅和浮空栅。</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pPr>
              <a:defRPr/>
            </a:pPr>
            <a:fld id="{67CB59DE-43A8-4DD2-91E4-38244C23F644}" type="slidenum">
              <a:rPr lang="en-US" altLang="zh-CN"/>
              <a:pPr>
                <a:defRPr/>
              </a:pPr>
              <a:t>45</a:t>
            </a:fld>
            <a:endParaRPr lang="en-US" altLang="zh-CN"/>
          </a:p>
        </p:txBody>
      </p:sp>
      <p:sp>
        <p:nvSpPr>
          <p:cNvPr id="68611" name="Rectangle 2"/>
          <p:cNvSpPr>
            <a:spLocks noGrp="1" noChangeArrowheads="1"/>
          </p:cNvSpPr>
          <p:nvPr>
            <p:ph type="title"/>
          </p:nvPr>
        </p:nvSpPr>
        <p:spPr>
          <a:xfrm>
            <a:off x="457200" y="122238"/>
            <a:ext cx="7543800" cy="858837"/>
          </a:xfrm>
        </p:spPr>
        <p:txBody>
          <a:bodyPr/>
          <a:lstStyle/>
          <a:p>
            <a:pPr eaLnBrk="1" hangingPunct="1"/>
            <a:r>
              <a:rPr lang="en-US" altLang="zh-CN" sz="4000" smtClean="0">
                <a:latin typeface="楷体_GB2312" pitchFamily="49" charset="-122"/>
                <a:ea typeface="楷体_GB2312" pitchFamily="49" charset="-122"/>
                <a:cs typeface="Times New Roman" charset="0"/>
              </a:rPr>
              <a:t>3.4  </a:t>
            </a:r>
            <a:r>
              <a:rPr lang="zh-CN" altLang="en-US" sz="4000" smtClean="0">
                <a:latin typeface="楷体_GB2312" pitchFamily="49" charset="-122"/>
                <a:ea typeface="楷体_GB2312" pitchFamily="49" charset="-122"/>
                <a:cs typeface="Times New Roman" charset="0"/>
              </a:rPr>
              <a:t>只读存储器和闪速存储器</a:t>
            </a:r>
          </a:p>
        </p:txBody>
      </p:sp>
      <p:pic>
        <p:nvPicPr>
          <p:cNvPr id="68612" name="Picture 4" descr="3A21">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1484313"/>
            <a:ext cx="6119812" cy="421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3" name="Rectangle 5"/>
          <p:cNvSpPr>
            <a:spLocks noChangeArrowheads="1"/>
          </p:cNvSpPr>
          <p:nvPr/>
        </p:nvSpPr>
        <p:spPr bwMode="auto">
          <a:xfrm>
            <a:off x="179388" y="1268413"/>
            <a:ext cx="2160587" cy="450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Clr>
                <a:schemeClr val="tx2"/>
              </a:buClr>
              <a:buSzPct val="70000"/>
              <a:buFont typeface="Wingdings" pitchFamily="2" charset="2"/>
              <a:buNone/>
            </a:pPr>
            <a:endParaRPr lang="zh-CN" altLang="zh-CN" sz="2600">
              <a:ea typeface="宋体" pitchFamily="2" charset="-122"/>
            </a:endParaRPr>
          </a:p>
        </p:txBody>
      </p:sp>
      <p:sp>
        <p:nvSpPr>
          <p:cNvPr id="47111" name="Rectangle 7"/>
          <p:cNvSpPr>
            <a:spLocks noChangeArrowheads="1"/>
          </p:cNvSpPr>
          <p:nvPr/>
        </p:nvSpPr>
        <p:spPr bwMode="auto">
          <a:xfrm>
            <a:off x="468313" y="1196975"/>
            <a:ext cx="1871662"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b="1"/>
              <a:t>“1”</a:t>
            </a:r>
            <a:r>
              <a:rPr lang="zh-CN" altLang="en-US" b="1"/>
              <a:t>状态</a:t>
            </a:r>
            <a:r>
              <a:rPr lang="zh-CN" altLang="en-US"/>
              <a:t>：如果控制栅不加正电压，浮空栅则只有少许电子或不带电荷，这种情况我们定义为存储元处于</a:t>
            </a:r>
            <a:r>
              <a:rPr lang="en-US" altLang="zh-CN"/>
              <a:t>1</a:t>
            </a:r>
            <a:r>
              <a:rPr lang="zh-CN" altLang="en-US"/>
              <a:t>状态。</a:t>
            </a:r>
          </a:p>
        </p:txBody>
      </p:sp>
      <p:sp>
        <p:nvSpPr>
          <p:cNvPr id="47112" name="Rectangle 8"/>
          <p:cNvSpPr>
            <a:spLocks noChangeArrowheads="1"/>
          </p:cNvSpPr>
          <p:nvPr/>
        </p:nvSpPr>
        <p:spPr bwMode="auto">
          <a:xfrm>
            <a:off x="323850" y="981075"/>
            <a:ext cx="2232025" cy="564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b="1"/>
              <a:t>“0”</a:t>
            </a:r>
            <a:r>
              <a:rPr lang="zh-CN" altLang="en-US" b="1"/>
              <a:t>状态</a:t>
            </a:r>
            <a:r>
              <a:rPr lang="zh-CN" altLang="en-US"/>
              <a:t>：</a:t>
            </a:r>
          </a:p>
          <a:p>
            <a:r>
              <a:rPr lang="zh-CN" altLang="en-US"/>
              <a:t>当控制栅加上足够的正电压时，浮空栅将储存许多电子带负电，这意味着浮空栅上有很多负电荷，这种情况我们定义存储元处于</a:t>
            </a:r>
            <a:r>
              <a:rPr lang="en-US" altLang="zh-CN"/>
              <a:t>0</a:t>
            </a:r>
            <a:r>
              <a:rPr lang="zh-CN" altLang="en-US"/>
              <a:t>状态。</a:t>
            </a:r>
          </a:p>
        </p:txBody>
      </p:sp>
      <p:sp>
        <p:nvSpPr>
          <p:cNvPr id="47113" name="Rectangle 9"/>
          <p:cNvSpPr>
            <a:spLocks noChangeArrowheads="1"/>
          </p:cNvSpPr>
          <p:nvPr/>
        </p:nvSpPr>
        <p:spPr bwMode="auto">
          <a:xfrm>
            <a:off x="395288" y="1412875"/>
            <a:ext cx="2087562"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a:t>浮空栅上的电荷量决定了读取操作时，加在栅极上的控制电压能否开启</a:t>
            </a:r>
            <a:r>
              <a:rPr lang="en-US" altLang="zh-CN"/>
              <a:t>MOS</a:t>
            </a:r>
            <a:r>
              <a:rPr lang="zh-CN" altLang="en-US"/>
              <a:t>管，并产生从漏极</a:t>
            </a:r>
            <a:r>
              <a:rPr lang="en-US" altLang="zh-CN"/>
              <a:t>D</a:t>
            </a:r>
            <a:r>
              <a:rPr lang="zh-CN" altLang="en-US"/>
              <a:t>到源极</a:t>
            </a:r>
            <a:r>
              <a:rPr lang="en-US" altLang="zh-CN"/>
              <a:t>S</a:t>
            </a:r>
            <a:r>
              <a:rPr lang="zh-CN" altLang="en-US"/>
              <a:t>的电流。</a:t>
            </a:r>
            <a:endParaRPr lang="zh-CN" altLang="en-US" sz="260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112"/>
                                        </p:tgtEl>
                                        <p:attrNameLst>
                                          <p:attrName>style.visibility</p:attrName>
                                        </p:attrNameLst>
                                      </p:cBhvr>
                                      <p:to>
                                        <p:strVal val="visible"/>
                                      </p:to>
                                    </p:set>
                                    <p:animEffect transition="in" filter="blinds(horizontal)">
                                      <p:cBhvr>
                                        <p:cTn id="7" dur="500"/>
                                        <p:tgtEl>
                                          <p:spTgt spid="47112"/>
                                        </p:tgtEl>
                                      </p:cBhvr>
                                    </p:animEffect>
                                  </p:childTnLst>
                                  <p:subTnLst>
                                    <p:set>
                                      <p:cBhvr override="childStyle">
                                        <p:cTn dur="1" fill="hold" display="0" masterRel="nextClick" afterEffect="1"/>
                                        <p:tgtEl>
                                          <p:spTgt spid="47112"/>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7111"/>
                                        </p:tgtEl>
                                        <p:attrNameLst>
                                          <p:attrName>style.visibility</p:attrName>
                                        </p:attrNameLst>
                                      </p:cBhvr>
                                      <p:to>
                                        <p:strVal val="visible"/>
                                      </p:to>
                                    </p:set>
                                    <p:animEffect transition="in" filter="blinds(horizontal)">
                                      <p:cBhvr>
                                        <p:cTn id="12" dur="500"/>
                                        <p:tgtEl>
                                          <p:spTgt spid="47111"/>
                                        </p:tgtEl>
                                      </p:cBhvr>
                                    </p:animEffect>
                                  </p:childTnLst>
                                  <p:subTnLst>
                                    <p:set>
                                      <p:cBhvr override="childStyle">
                                        <p:cTn dur="1" fill="hold" display="0" masterRel="nextClick" afterEffect="1"/>
                                        <p:tgtEl>
                                          <p:spTgt spid="47111"/>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7113"/>
                                        </p:tgtEl>
                                        <p:attrNameLst>
                                          <p:attrName>style.visibility</p:attrName>
                                        </p:attrNameLst>
                                      </p:cBhvr>
                                      <p:to>
                                        <p:strVal val="visible"/>
                                      </p:to>
                                    </p:set>
                                    <p:animEffect transition="in" filter="blinds(horizontal)">
                                      <p:cBhvr>
                                        <p:cTn id="17" dur="500"/>
                                        <p:tgtEl>
                                          <p:spTgt spid="47113"/>
                                        </p:tgtEl>
                                      </p:cBhvr>
                                    </p:animEffect>
                                  </p:childTnLst>
                                  <p:subTnLst>
                                    <p:set>
                                      <p:cBhvr override="childStyle">
                                        <p:cTn dur="1" fill="hold" display="0" masterRel="nextClick" afterEffect="1"/>
                                        <p:tgtEl>
                                          <p:spTgt spid="4711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1" grpId="0" autoUpdateAnimBg="0"/>
      <p:bldP spid="47112" grpId="0" autoUpdateAnimBg="0"/>
      <p:bldP spid="47113"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D86934A4-1D2D-4C66-8766-EA4DC4A793F8}" type="slidenum">
              <a:rPr lang="en-US" altLang="zh-CN"/>
              <a:pPr>
                <a:defRPr/>
              </a:pPr>
              <a:t>46</a:t>
            </a:fld>
            <a:endParaRPr lang="en-US" altLang="zh-CN"/>
          </a:p>
        </p:txBody>
      </p:sp>
      <p:sp>
        <p:nvSpPr>
          <p:cNvPr id="73731" name="Rectangle 2"/>
          <p:cNvSpPr>
            <a:spLocks noGrp="1" noChangeArrowheads="1"/>
          </p:cNvSpPr>
          <p:nvPr>
            <p:ph type="title"/>
          </p:nvPr>
        </p:nvSpPr>
        <p:spPr>
          <a:xfrm>
            <a:off x="395288" y="260350"/>
            <a:ext cx="7543800" cy="714375"/>
          </a:xfrm>
        </p:spPr>
        <p:txBody>
          <a:bodyPr/>
          <a:lstStyle/>
          <a:p>
            <a:pPr eaLnBrk="1" hangingPunct="1"/>
            <a:r>
              <a:rPr lang="en-US" altLang="zh-CN" sz="4000" smtClean="0">
                <a:latin typeface="楷体_GB2312" pitchFamily="49" charset="-122"/>
                <a:ea typeface="楷体_GB2312" pitchFamily="49" charset="-122"/>
                <a:cs typeface="Times New Roman" charset="0"/>
              </a:rPr>
              <a:t>3.5  </a:t>
            </a:r>
            <a:r>
              <a:rPr lang="zh-CN" altLang="en-US" sz="4000" smtClean="0">
                <a:latin typeface="楷体_GB2312" pitchFamily="49" charset="-122"/>
                <a:ea typeface="楷体_GB2312" pitchFamily="49" charset="-122"/>
                <a:cs typeface="Times New Roman" charset="0"/>
              </a:rPr>
              <a:t>并行存储器</a:t>
            </a:r>
          </a:p>
        </p:txBody>
      </p:sp>
      <p:sp>
        <p:nvSpPr>
          <p:cNvPr id="73732" name="Rectangle 3"/>
          <p:cNvSpPr>
            <a:spLocks noGrp="1" noChangeArrowheads="1"/>
          </p:cNvSpPr>
          <p:nvPr>
            <p:ph type="body" idx="1"/>
          </p:nvPr>
        </p:nvSpPr>
        <p:spPr>
          <a:xfrm>
            <a:off x="323850" y="1196974"/>
            <a:ext cx="7354888" cy="5328369"/>
          </a:xfrm>
        </p:spPr>
        <p:txBody>
          <a:bodyPr/>
          <a:lstStyle/>
          <a:p>
            <a:pPr eaLnBrk="1" hangingPunct="1">
              <a:buFont typeface="Wingdings" pitchFamily="2" charset="2"/>
              <a:buNone/>
            </a:pPr>
            <a:r>
              <a:rPr lang="en-US" altLang="zh-CN" smtClean="0">
                <a:latin typeface="楷体_GB2312" pitchFamily="49" charset="-122"/>
                <a:ea typeface="楷体_GB2312" pitchFamily="49" charset="-122"/>
              </a:rPr>
              <a:t>      </a:t>
            </a:r>
          </a:p>
        </p:txBody>
      </p:sp>
      <p:sp>
        <p:nvSpPr>
          <p:cNvPr id="73733" name="Rectangle 4"/>
          <p:cNvSpPr>
            <a:spLocks noChangeArrowheads="1"/>
          </p:cNvSpPr>
          <p:nvPr/>
        </p:nvSpPr>
        <p:spPr bwMode="auto">
          <a:xfrm>
            <a:off x="304800" y="1114425"/>
            <a:ext cx="7921625" cy="5631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lnSpc>
                <a:spcPct val="130000"/>
              </a:lnSpc>
            </a:pPr>
            <a:r>
              <a:rPr lang="en-US" altLang="zh-CN" dirty="0"/>
              <a:t>        </a:t>
            </a:r>
            <a:r>
              <a:rPr lang="zh-CN" altLang="en-US" dirty="0"/>
              <a:t>由于</a:t>
            </a:r>
            <a:r>
              <a:rPr lang="en-US" altLang="zh-CN" dirty="0"/>
              <a:t>CPU</a:t>
            </a:r>
            <a:r>
              <a:rPr lang="zh-CN" altLang="en-US" dirty="0"/>
              <a:t>和主存储器之间在速度上是不匹配的，这种情况便成为限制高速计算机设计的主要问题。为了提高</a:t>
            </a:r>
            <a:r>
              <a:rPr lang="en-US" altLang="zh-CN" dirty="0"/>
              <a:t>CPU</a:t>
            </a:r>
            <a:r>
              <a:rPr lang="zh-CN" altLang="en-US" dirty="0"/>
              <a:t>和主存之间的数据传输率，采用下面措施：</a:t>
            </a:r>
          </a:p>
          <a:p>
            <a:pPr>
              <a:lnSpc>
                <a:spcPct val="130000"/>
              </a:lnSpc>
            </a:pPr>
            <a:r>
              <a:rPr lang="zh-CN" altLang="en-US" dirty="0"/>
              <a:t> </a:t>
            </a:r>
            <a:r>
              <a:rPr lang="zh-CN" altLang="en-US" dirty="0" smtClean="0"/>
              <a:t>    （</a:t>
            </a:r>
            <a:r>
              <a:rPr lang="en-US" altLang="zh-CN" dirty="0" smtClean="0"/>
              <a:t>1</a:t>
            </a:r>
            <a:r>
              <a:rPr lang="zh-CN" altLang="en-US" dirty="0" smtClean="0"/>
              <a:t>）芯片技术：主存</a:t>
            </a:r>
            <a:r>
              <a:rPr lang="zh-CN" altLang="en-US" dirty="0"/>
              <a:t>采用更高速的技术来缩短读出时间</a:t>
            </a:r>
          </a:p>
          <a:p>
            <a:pPr lvl="1">
              <a:lnSpc>
                <a:spcPct val="130000"/>
              </a:lnSpc>
            </a:pPr>
            <a:r>
              <a:rPr lang="zh-CN" altLang="en-US" dirty="0" smtClean="0"/>
              <a:t>（</a:t>
            </a:r>
            <a:r>
              <a:rPr lang="en-US" altLang="zh-CN" dirty="0" smtClean="0"/>
              <a:t>2</a:t>
            </a:r>
            <a:r>
              <a:rPr lang="zh-CN" altLang="en-US" dirty="0" smtClean="0"/>
              <a:t>）系统结构技术：采用</a:t>
            </a:r>
            <a:r>
              <a:rPr lang="zh-CN" altLang="en-US" dirty="0"/>
              <a:t>分层的</a:t>
            </a:r>
            <a:r>
              <a:rPr lang="zh-CN" altLang="en-US" dirty="0" smtClean="0"/>
              <a:t>存储系</a:t>
            </a:r>
            <a:endParaRPr lang="en-US" altLang="zh-CN" dirty="0"/>
          </a:p>
          <a:p>
            <a:pPr lvl="1">
              <a:lnSpc>
                <a:spcPct val="130000"/>
              </a:lnSpc>
            </a:pPr>
            <a:r>
              <a:rPr lang="en-US" altLang="zh-CN" dirty="0" smtClean="0"/>
              <a:t>Cache</a:t>
            </a:r>
            <a:r>
              <a:rPr lang="zh-CN" altLang="en-US" dirty="0" smtClean="0"/>
              <a:t>、虚拟存储系统</a:t>
            </a:r>
            <a:endParaRPr lang="zh-CN" altLang="en-US" dirty="0"/>
          </a:p>
          <a:p>
            <a:pPr>
              <a:lnSpc>
                <a:spcPct val="130000"/>
              </a:lnSpc>
            </a:pPr>
            <a:r>
              <a:rPr lang="zh-CN" altLang="en-US" dirty="0"/>
              <a:t>     </a:t>
            </a:r>
            <a:r>
              <a:rPr lang="zh-CN" altLang="en-US" dirty="0" smtClean="0"/>
              <a:t>（</a:t>
            </a:r>
            <a:r>
              <a:rPr lang="en-US" altLang="zh-CN" dirty="0" smtClean="0"/>
              <a:t>3</a:t>
            </a:r>
            <a:r>
              <a:rPr lang="zh-CN" altLang="en-US" dirty="0" smtClean="0"/>
              <a:t>）结构技术：采用</a:t>
            </a:r>
            <a:r>
              <a:rPr lang="zh-CN" altLang="en-US" dirty="0"/>
              <a:t>并行技术的</a:t>
            </a:r>
            <a:r>
              <a:rPr lang="zh-CN" altLang="en-US" dirty="0" smtClean="0"/>
              <a:t>存储器</a:t>
            </a:r>
            <a:endParaRPr lang="en-US" altLang="zh-CN" dirty="0" smtClean="0"/>
          </a:p>
          <a:p>
            <a:pPr>
              <a:lnSpc>
                <a:spcPct val="130000"/>
              </a:lnSpc>
            </a:pPr>
            <a:r>
              <a:rPr lang="zh-CN" altLang="en-US" dirty="0" smtClean="0"/>
              <a:t>多个存储器并行工作</a:t>
            </a:r>
            <a:endParaRPr lang="zh-CN" alt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082C28B-9FA8-402B-BAA0-077540041704}" type="slidenum">
              <a:rPr lang="en-US" altLang="zh-CN"/>
              <a:pPr>
                <a:defRPr/>
              </a:pPr>
              <a:t>47</a:t>
            </a:fld>
            <a:endParaRPr lang="en-US" altLang="zh-CN"/>
          </a:p>
        </p:txBody>
      </p:sp>
      <p:sp>
        <p:nvSpPr>
          <p:cNvPr id="74755" name="Rectangle 2"/>
          <p:cNvSpPr>
            <a:spLocks noGrp="1" noChangeArrowheads="1"/>
          </p:cNvSpPr>
          <p:nvPr>
            <p:ph type="title"/>
          </p:nvPr>
        </p:nvSpPr>
        <p:spPr>
          <a:xfrm>
            <a:off x="323850" y="404813"/>
            <a:ext cx="7543800" cy="720725"/>
          </a:xfrm>
        </p:spPr>
        <p:txBody>
          <a:bodyPr/>
          <a:lstStyle/>
          <a:p>
            <a:pPr eaLnBrk="1" hangingPunct="1"/>
            <a:r>
              <a:rPr lang="en-US" altLang="zh-CN" sz="4000" smtClean="0">
                <a:latin typeface="楷体_GB2312" pitchFamily="49" charset="-122"/>
                <a:ea typeface="楷体_GB2312" pitchFamily="49" charset="-122"/>
                <a:cs typeface="Times New Roman" charset="0"/>
              </a:rPr>
              <a:t>3.5  </a:t>
            </a:r>
            <a:r>
              <a:rPr lang="zh-CN" altLang="en-US" sz="4000" smtClean="0">
                <a:latin typeface="楷体_GB2312" pitchFamily="49" charset="-122"/>
                <a:ea typeface="楷体_GB2312" pitchFamily="49" charset="-122"/>
                <a:cs typeface="Times New Roman" charset="0"/>
              </a:rPr>
              <a:t>并行存储器</a:t>
            </a:r>
          </a:p>
        </p:txBody>
      </p:sp>
      <p:sp>
        <p:nvSpPr>
          <p:cNvPr id="74756" name="Rectangle 3"/>
          <p:cNvSpPr>
            <a:spLocks noGrp="1" noChangeArrowheads="1"/>
          </p:cNvSpPr>
          <p:nvPr>
            <p:ph type="body" idx="1"/>
          </p:nvPr>
        </p:nvSpPr>
        <p:spPr>
          <a:xfrm>
            <a:off x="468313" y="1268413"/>
            <a:ext cx="7283450" cy="4573587"/>
          </a:xfrm>
        </p:spPr>
        <p:txBody>
          <a:bodyPr/>
          <a:lstStyle/>
          <a:p>
            <a:pPr eaLnBrk="1" hangingPunct="1">
              <a:buFont typeface="Wingdings" pitchFamily="2" charset="2"/>
              <a:buNone/>
            </a:pPr>
            <a:r>
              <a:rPr lang="zh-CN" altLang="en-US" sz="2800" smtClean="0">
                <a:latin typeface="楷体_GB2312" pitchFamily="49" charset="-122"/>
                <a:ea typeface="楷体_GB2312" pitchFamily="49" charset="-122"/>
              </a:rPr>
              <a:t>一、双端口存储器 </a:t>
            </a:r>
          </a:p>
          <a:p>
            <a:pPr eaLnBrk="1" hangingPunct="1">
              <a:buFont typeface="Wingdings" pitchFamily="2" charset="2"/>
              <a:buNone/>
            </a:pPr>
            <a:r>
              <a:rPr lang="en-US" altLang="zh-CN" sz="2800" smtClean="0">
                <a:latin typeface="楷体_GB2312" pitchFamily="49" charset="-122"/>
                <a:ea typeface="楷体_GB2312" pitchFamily="49" charset="-122"/>
              </a:rPr>
              <a:t>1</a:t>
            </a:r>
            <a:r>
              <a:rPr lang="zh-CN" altLang="en-US" sz="2800" smtClean="0">
                <a:latin typeface="楷体_GB2312" pitchFamily="49" charset="-122"/>
                <a:ea typeface="楷体_GB2312" pitchFamily="49" charset="-122"/>
              </a:rPr>
              <a:t>、双端口存储器的逻辑结构 </a:t>
            </a:r>
          </a:p>
          <a:p>
            <a:pPr lvl="1" eaLnBrk="1" hangingPunct="1">
              <a:buFont typeface="Wingdings" pitchFamily="2" charset="2"/>
              <a:buNone/>
            </a:pPr>
            <a:r>
              <a:rPr lang="zh-CN" altLang="en-US" sz="2800" smtClean="0">
                <a:latin typeface="楷体_GB2312" pitchFamily="49" charset="-122"/>
                <a:ea typeface="楷体_GB2312" pitchFamily="49" charset="-122"/>
              </a:rPr>
              <a:t>      双端口存储器由于同一个存储器具有两组相互独立的读写控制电路而得名。由于进行并行的独立操作，因而是一种高速工作的存储器，在科研和工程中非常有用。举例说明，双端口存储器</a:t>
            </a:r>
            <a:r>
              <a:rPr lang="en-US" altLang="zh-CN" sz="2800" smtClean="0">
                <a:latin typeface="楷体_GB2312" pitchFamily="49" charset="-122"/>
                <a:ea typeface="楷体_GB2312" pitchFamily="49" charset="-122"/>
              </a:rPr>
              <a:t>IDT7133</a:t>
            </a:r>
            <a:r>
              <a:rPr lang="zh-CN" altLang="en-US" sz="2800" smtClean="0">
                <a:latin typeface="楷体_GB2312" pitchFamily="49" charset="-122"/>
                <a:ea typeface="楷体_GB2312" pitchFamily="49" charset="-122"/>
              </a:rPr>
              <a:t>的逻辑框图。如下页图。</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0A2A5D89-93D3-4AA0-BD0F-24C2C34A9A4F}" type="slidenum">
              <a:rPr lang="en-US" altLang="zh-CN"/>
              <a:pPr>
                <a:defRPr/>
              </a:pPr>
              <a:t>48</a:t>
            </a:fld>
            <a:endParaRPr lang="en-US" altLang="zh-CN"/>
          </a:p>
        </p:txBody>
      </p:sp>
      <p:sp>
        <p:nvSpPr>
          <p:cNvPr id="75779" name="Rectangle 2"/>
          <p:cNvSpPr>
            <a:spLocks noGrp="1" noChangeArrowheads="1"/>
          </p:cNvSpPr>
          <p:nvPr>
            <p:ph type="title"/>
          </p:nvPr>
        </p:nvSpPr>
        <p:spPr>
          <a:xfrm>
            <a:off x="457200" y="122238"/>
            <a:ext cx="7543800" cy="785812"/>
          </a:xfrm>
        </p:spPr>
        <p:txBody>
          <a:bodyPr/>
          <a:lstStyle/>
          <a:p>
            <a:pPr eaLnBrk="1" hangingPunct="1"/>
            <a:r>
              <a:rPr lang="en-US" altLang="zh-CN" sz="4000" smtClean="0">
                <a:latin typeface="楷体_GB2312" pitchFamily="49" charset="-122"/>
                <a:ea typeface="楷体_GB2312" pitchFamily="49" charset="-122"/>
                <a:cs typeface="Times New Roman" charset="0"/>
              </a:rPr>
              <a:t>3.5  </a:t>
            </a:r>
            <a:r>
              <a:rPr lang="zh-CN" altLang="en-US" sz="4000" smtClean="0">
                <a:latin typeface="楷体_GB2312" pitchFamily="49" charset="-122"/>
                <a:ea typeface="楷体_GB2312" pitchFamily="49" charset="-122"/>
                <a:cs typeface="Times New Roman" charset="0"/>
              </a:rPr>
              <a:t>并行存储器</a:t>
            </a:r>
          </a:p>
        </p:txBody>
      </p:sp>
      <p:pic>
        <p:nvPicPr>
          <p:cNvPr id="75780" name="Picture 3" descr="3a24">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750" y="1196975"/>
            <a:ext cx="7272338" cy="510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C0247AE6-4E04-4058-9A0D-D7F7994E5DE9}" type="slidenum">
              <a:rPr lang="en-US" altLang="zh-CN"/>
              <a:pPr>
                <a:defRPr/>
              </a:pPr>
              <a:t>49</a:t>
            </a:fld>
            <a:endParaRPr lang="en-US" altLang="zh-CN"/>
          </a:p>
        </p:txBody>
      </p:sp>
      <p:sp>
        <p:nvSpPr>
          <p:cNvPr id="76803" name="Rectangle 2"/>
          <p:cNvSpPr>
            <a:spLocks noGrp="1" noChangeArrowheads="1"/>
          </p:cNvSpPr>
          <p:nvPr>
            <p:ph type="title"/>
          </p:nvPr>
        </p:nvSpPr>
        <p:spPr>
          <a:xfrm>
            <a:off x="395288" y="333375"/>
            <a:ext cx="7543800" cy="642938"/>
          </a:xfrm>
        </p:spPr>
        <p:txBody>
          <a:bodyPr/>
          <a:lstStyle/>
          <a:p>
            <a:pPr eaLnBrk="1" hangingPunct="1"/>
            <a:r>
              <a:rPr lang="en-US" altLang="zh-CN" sz="3600" smtClean="0">
                <a:latin typeface="楷体_GB2312" pitchFamily="49" charset="-122"/>
                <a:ea typeface="楷体_GB2312" pitchFamily="49" charset="-122"/>
                <a:cs typeface="Times New Roman" charset="0"/>
              </a:rPr>
              <a:t>3.5  </a:t>
            </a:r>
            <a:r>
              <a:rPr lang="zh-CN" altLang="en-US" sz="3600" smtClean="0">
                <a:latin typeface="楷体_GB2312" pitchFamily="49" charset="-122"/>
                <a:ea typeface="楷体_GB2312" pitchFamily="49" charset="-122"/>
                <a:cs typeface="Times New Roman" charset="0"/>
              </a:rPr>
              <a:t>并行存储器</a:t>
            </a:r>
          </a:p>
        </p:txBody>
      </p:sp>
      <p:sp>
        <p:nvSpPr>
          <p:cNvPr id="76804" name="Rectangle 3"/>
          <p:cNvSpPr>
            <a:spLocks noGrp="1" noChangeArrowheads="1"/>
          </p:cNvSpPr>
          <p:nvPr>
            <p:ph type="body" idx="1"/>
          </p:nvPr>
        </p:nvSpPr>
        <p:spPr>
          <a:xfrm>
            <a:off x="250825" y="1125538"/>
            <a:ext cx="7634288" cy="4681537"/>
          </a:xfrm>
        </p:spPr>
        <p:txBody>
          <a:bodyPr/>
          <a:lstStyle/>
          <a:p>
            <a:pPr eaLnBrk="1" hangingPunct="1">
              <a:lnSpc>
                <a:spcPct val="90000"/>
              </a:lnSpc>
              <a:buFont typeface="Wingdings" pitchFamily="2" charset="2"/>
              <a:buNone/>
            </a:pPr>
            <a:r>
              <a:rPr lang="en-US" altLang="zh-CN" sz="2400" smtClean="0">
                <a:latin typeface="楷体_GB2312" pitchFamily="49" charset="-122"/>
                <a:ea typeface="楷体_GB2312" pitchFamily="49" charset="-122"/>
              </a:rPr>
              <a:t>2</a:t>
            </a:r>
            <a:r>
              <a:rPr lang="zh-CN" altLang="en-US" sz="2400" smtClean="0">
                <a:latin typeface="楷体_GB2312" pitchFamily="49" charset="-122"/>
                <a:ea typeface="楷体_GB2312" pitchFamily="49" charset="-122"/>
              </a:rPr>
              <a:t>、无冲突读写控制</a:t>
            </a:r>
          </a:p>
          <a:p>
            <a:pPr lvl="1" eaLnBrk="1" hangingPunct="1">
              <a:lnSpc>
                <a:spcPct val="90000"/>
              </a:lnSpc>
              <a:buFont typeface="Wingdings" pitchFamily="2" charset="2"/>
              <a:buNone/>
            </a:pPr>
            <a:r>
              <a:rPr lang="zh-CN" altLang="en-US" sz="2400" smtClean="0">
                <a:latin typeface="楷体_GB2312" pitchFamily="49" charset="-122"/>
                <a:ea typeface="楷体_GB2312" pitchFamily="49" charset="-122"/>
              </a:rPr>
              <a:t>      当两个端口的地址不相同时，在两个端口上进行读写操作，一定不会发生冲突。当任一端口被选中驱动时，就可对整个存储器进行存取，每一个端口都有自己的片选控制</a:t>
            </a:r>
            <a:r>
              <a:rPr lang="en-US" altLang="zh-CN" sz="2400" smtClean="0">
                <a:latin typeface="楷体_GB2312" pitchFamily="49" charset="-122"/>
                <a:ea typeface="楷体_GB2312" pitchFamily="49" charset="-122"/>
              </a:rPr>
              <a:t>(CE)</a:t>
            </a:r>
            <a:r>
              <a:rPr lang="zh-CN" altLang="en-US" sz="2400" smtClean="0">
                <a:latin typeface="楷体_GB2312" pitchFamily="49" charset="-122"/>
                <a:ea typeface="楷体_GB2312" pitchFamily="49" charset="-122"/>
              </a:rPr>
              <a:t>和输出驱动控制</a:t>
            </a:r>
            <a:r>
              <a:rPr lang="en-US" altLang="zh-CN" sz="2400" smtClean="0">
                <a:latin typeface="楷体_GB2312" pitchFamily="49" charset="-122"/>
                <a:ea typeface="楷体_GB2312" pitchFamily="49" charset="-122"/>
              </a:rPr>
              <a:t>(OE)</a:t>
            </a:r>
            <a:r>
              <a:rPr lang="zh-CN" altLang="en-US" sz="2400" smtClean="0">
                <a:latin typeface="楷体_GB2312" pitchFamily="49" charset="-122"/>
                <a:ea typeface="楷体_GB2312" pitchFamily="49" charset="-122"/>
              </a:rPr>
              <a:t>。读操作时，端口的</a:t>
            </a:r>
            <a:r>
              <a:rPr lang="en-US" altLang="zh-CN" sz="2400" smtClean="0">
                <a:latin typeface="楷体_GB2312" pitchFamily="49" charset="-122"/>
                <a:ea typeface="楷体_GB2312" pitchFamily="49" charset="-122"/>
              </a:rPr>
              <a:t>OE(</a:t>
            </a:r>
            <a:r>
              <a:rPr lang="zh-CN" altLang="en-US" sz="2400" smtClean="0">
                <a:latin typeface="楷体_GB2312" pitchFamily="49" charset="-122"/>
                <a:ea typeface="楷体_GB2312" pitchFamily="49" charset="-122"/>
              </a:rPr>
              <a:t>低电平有效</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打开输出驱动器，由存储矩阵读出的数据就出现在</a:t>
            </a:r>
            <a:r>
              <a:rPr lang="en-US" altLang="zh-CN" sz="2400" smtClean="0">
                <a:latin typeface="楷体_GB2312" pitchFamily="49" charset="-122"/>
                <a:ea typeface="楷体_GB2312" pitchFamily="49" charset="-122"/>
              </a:rPr>
              <a:t>I/O</a:t>
            </a:r>
            <a:r>
              <a:rPr lang="zh-CN" altLang="en-US" sz="2400" smtClean="0">
                <a:latin typeface="楷体_GB2312" pitchFamily="49" charset="-122"/>
                <a:ea typeface="楷体_GB2312" pitchFamily="49" charset="-122"/>
              </a:rPr>
              <a:t>线上。</a:t>
            </a:r>
          </a:p>
          <a:p>
            <a:pPr eaLnBrk="1" hangingPunct="1">
              <a:lnSpc>
                <a:spcPct val="90000"/>
              </a:lnSpc>
              <a:buFont typeface="Wingdings" pitchFamily="2" charset="2"/>
              <a:buNone/>
            </a:pPr>
            <a:r>
              <a:rPr lang="en-US" altLang="zh-CN" sz="2400" smtClean="0">
                <a:latin typeface="楷体_GB2312" pitchFamily="49" charset="-122"/>
                <a:ea typeface="楷体_GB2312" pitchFamily="49" charset="-122"/>
              </a:rPr>
              <a:t>3</a:t>
            </a:r>
            <a:r>
              <a:rPr lang="zh-CN" altLang="en-US" sz="2400" smtClean="0">
                <a:latin typeface="楷体_GB2312" pitchFamily="49" charset="-122"/>
                <a:ea typeface="楷体_GB2312" pitchFamily="49" charset="-122"/>
              </a:rPr>
              <a:t>、有冲突读写控制</a:t>
            </a:r>
          </a:p>
          <a:p>
            <a:pPr lvl="1" eaLnBrk="1" hangingPunct="1">
              <a:lnSpc>
                <a:spcPct val="90000"/>
              </a:lnSpc>
              <a:buFont typeface="Wingdings" pitchFamily="2" charset="2"/>
              <a:buNone/>
            </a:pPr>
            <a:r>
              <a:rPr lang="zh-CN" altLang="en-US" sz="2400" smtClean="0">
                <a:latin typeface="楷体_GB2312" pitchFamily="49" charset="-122"/>
                <a:ea typeface="楷体_GB2312" pitchFamily="49" charset="-122"/>
              </a:rPr>
              <a:t>      当两个端口同时存取存储器同一存储单元时，便发生读写冲突。为解决此问题，特设置了</a:t>
            </a:r>
            <a:r>
              <a:rPr lang="en-US" altLang="zh-CN" sz="2400" smtClean="0">
                <a:latin typeface="楷体_GB2312" pitchFamily="49" charset="-122"/>
                <a:ea typeface="楷体_GB2312" pitchFamily="49" charset="-122"/>
              </a:rPr>
              <a:t>BUSY</a:t>
            </a:r>
            <a:r>
              <a:rPr lang="zh-CN" altLang="en-US" sz="2400" smtClean="0">
                <a:latin typeface="楷体_GB2312" pitchFamily="49" charset="-122"/>
                <a:ea typeface="楷体_GB2312" pitchFamily="49" charset="-122"/>
              </a:rPr>
              <a:t>标志。在这种情况下，片上的判断逻辑可以决定对哪个端口优先进行读写操作，而对另一个被延迟的端口置</a:t>
            </a:r>
            <a:r>
              <a:rPr lang="en-US" altLang="zh-CN" sz="2400" smtClean="0">
                <a:latin typeface="楷体_GB2312" pitchFamily="49" charset="-122"/>
                <a:ea typeface="楷体_GB2312" pitchFamily="49" charset="-122"/>
              </a:rPr>
              <a:t>BUSY</a:t>
            </a:r>
            <a:r>
              <a:rPr lang="zh-CN" altLang="en-US" sz="2400" smtClean="0">
                <a:latin typeface="楷体_GB2312" pitchFamily="49" charset="-122"/>
                <a:ea typeface="楷体_GB2312" pitchFamily="49" charset="-122"/>
              </a:rPr>
              <a:t>标志</a:t>
            </a:r>
            <a:r>
              <a:rPr lang="en-US" altLang="zh-CN" sz="2400" smtClean="0">
                <a:latin typeface="楷体_GB2312" pitchFamily="49" charset="-122"/>
                <a:ea typeface="楷体_GB2312" pitchFamily="49" charset="-122"/>
              </a:rPr>
              <a:t>(BUSY</a:t>
            </a:r>
            <a:r>
              <a:rPr lang="zh-CN" altLang="en-US" sz="2400" smtClean="0">
                <a:latin typeface="楷体_GB2312" pitchFamily="49" charset="-122"/>
                <a:ea typeface="楷体_GB2312" pitchFamily="49" charset="-122"/>
              </a:rPr>
              <a:t>变为低电平</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，即暂时关闭此端口。 </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20C5F4B9-2481-42BD-A15D-A8C350C4273F}" type="slidenum">
              <a:rPr lang="en-US" altLang="zh-CN"/>
              <a:pPr>
                <a:defRPr/>
              </a:pPr>
              <a:t>50</a:t>
            </a:fld>
            <a:endParaRPr lang="en-US" altLang="zh-CN"/>
          </a:p>
        </p:txBody>
      </p:sp>
      <p:sp>
        <p:nvSpPr>
          <p:cNvPr id="77827" name="Rectangle 2"/>
          <p:cNvSpPr>
            <a:spLocks noGrp="1" noChangeArrowheads="1"/>
          </p:cNvSpPr>
          <p:nvPr>
            <p:ph type="title"/>
          </p:nvPr>
        </p:nvSpPr>
        <p:spPr>
          <a:xfrm>
            <a:off x="468313" y="404813"/>
            <a:ext cx="7543800" cy="642937"/>
          </a:xfrm>
        </p:spPr>
        <p:txBody>
          <a:bodyPr/>
          <a:lstStyle/>
          <a:p>
            <a:pPr eaLnBrk="1" hangingPunct="1"/>
            <a:r>
              <a:rPr lang="en-US" altLang="zh-CN" sz="4000" smtClean="0">
                <a:latin typeface="楷体_GB2312" pitchFamily="49" charset="-122"/>
                <a:ea typeface="楷体_GB2312" pitchFamily="49" charset="-122"/>
                <a:cs typeface="Times New Roman" charset="0"/>
              </a:rPr>
              <a:t>3.5  </a:t>
            </a:r>
            <a:r>
              <a:rPr lang="zh-CN" altLang="en-US" sz="4000" smtClean="0">
                <a:latin typeface="楷体_GB2312" pitchFamily="49" charset="-122"/>
                <a:ea typeface="楷体_GB2312" pitchFamily="49" charset="-122"/>
                <a:cs typeface="Times New Roman" charset="0"/>
              </a:rPr>
              <a:t>并行存储器</a:t>
            </a:r>
          </a:p>
        </p:txBody>
      </p:sp>
      <p:sp>
        <p:nvSpPr>
          <p:cNvPr id="77828" name="Rectangle 3"/>
          <p:cNvSpPr>
            <a:spLocks noGrp="1" noChangeArrowheads="1"/>
          </p:cNvSpPr>
          <p:nvPr>
            <p:ph type="body" idx="1"/>
          </p:nvPr>
        </p:nvSpPr>
        <p:spPr>
          <a:xfrm>
            <a:off x="457200" y="1719263"/>
            <a:ext cx="7354888" cy="4411662"/>
          </a:xfrm>
        </p:spPr>
        <p:txBody>
          <a:bodyPr/>
          <a:lstStyle/>
          <a:p>
            <a:pPr eaLnBrk="1" hangingPunct="1">
              <a:buFont typeface="Wingdings" pitchFamily="2" charset="2"/>
              <a:buNone/>
            </a:pPr>
            <a:r>
              <a:rPr lang="en-US" altLang="zh-CN" sz="2400" smtClean="0">
                <a:latin typeface="楷体_GB2312" pitchFamily="49" charset="-122"/>
                <a:ea typeface="楷体_GB2312" pitchFamily="49" charset="-122"/>
              </a:rPr>
              <a:t>4</a:t>
            </a:r>
            <a:r>
              <a:rPr lang="zh-CN" altLang="en-US" sz="2400" smtClean="0">
                <a:latin typeface="楷体_GB2312" pitchFamily="49" charset="-122"/>
                <a:ea typeface="楷体_GB2312" pitchFamily="49" charset="-122"/>
              </a:rPr>
              <a:t>、有冲突读写控制判断方法</a:t>
            </a:r>
          </a:p>
          <a:p>
            <a:pPr lvl="1" eaLnBrk="1" hangingPunct="1">
              <a:buFont typeface="Wingdings" pitchFamily="2" charset="2"/>
              <a:buNone/>
            </a:pPr>
            <a:r>
              <a:rPr lang="en-US" altLang="zh-CN" sz="2400" smtClean="0">
                <a:latin typeface="楷体_GB2312" pitchFamily="49" charset="-122"/>
                <a:ea typeface="楷体_GB2312" pitchFamily="49" charset="-122"/>
              </a:rPr>
              <a:t>(1)</a:t>
            </a:r>
            <a:r>
              <a:rPr lang="zh-CN" altLang="en-US" sz="2400" smtClean="0">
                <a:latin typeface="楷体_GB2312" pitchFamily="49" charset="-122"/>
                <a:ea typeface="楷体_GB2312" pitchFamily="49" charset="-122"/>
              </a:rPr>
              <a:t>如果地址匹配且在</a:t>
            </a:r>
            <a:r>
              <a:rPr lang="en-US" altLang="zh-CN" sz="2400" smtClean="0">
                <a:latin typeface="楷体_GB2312" pitchFamily="49" charset="-122"/>
                <a:ea typeface="楷体_GB2312" pitchFamily="49" charset="-122"/>
              </a:rPr>
              <a:t>CE</a:t>
            </a:r>
            <a:r>
              <a:rPr lang="zh-CN" altLang="en-US" sz="2400" smtClean="0">
                <a:latin typeface="楷体_GB2312" pitchFamily="49" charset="-122"/>
                <a:ea typeface="楷体_GB2312" pitchFamily="49" charset="-122"/>
              </a:rPr>
              <a:t>之前有效，片上的控制逻辑在</a:t>
            </a:r>
            <a:r>
              <a:rPr lang="en-US" altLang="zh-CN" sz="2400" smtClean="0">
                <a:latin typeface="楷体_GB2312" pitchFamily="49" charset="-122"/>
                <a:ea typeface="楷体_GB2312" pitchFamily="49" charset="-122"/>
              </a:rPr>
              <a:t>CEL</a:t>
            </a:r>
            <a:r>
              <a:rPr lang="zh-CN" altLang="en-US" sz="2400" smtClean="0">
                <a:latin typeface="楷体_GB2312" pitchFamily="49" charset="-122"/>
                <a:ea typeface="楷体_GB2312" pitchFamily="49" charset="-122"/>
              </a:rPr>
              <a:t>和</a:t>
            </a:r>
            <a:r>
              <a:rPr lang="en-US" altLang="zh-CN" sz="2400" smtClean="0">
                <a:latin typeface="楷体_GB2312" pitchFamily="49" charset="-122"/>
                <a:ea typeface="楷体_GB2312" pitchFamily="49" charset="-122"/>
              </a:rPr>
              <a:t>CER</a:t>
            </a:r>
            <a:r>
              <a:rPr lang="zh-CN" altLang="en-US" sz="2400" smtClean="0">
                <a:latin typeface="楷体_GB2312" pitchFamily="49" charset="-122"/>
                <a:ea typeface="楷体_GB2312" pitchFamily="49" charset="-122"/>
              </a:rPr>
              <a:t>之间进行判断来选择端口</a:t>
            </a:r>
            <a:r>
              <a:rPr lang="en-US" altLang="zh-CN" sz="2400" smtClean="0">
                <a:latin typeface="楷体_GB2312" pitchFamily="49" charset="-122"/>
                <a:ea typeface="楷体_GB2312" pitchFamily="49" charset="-122"/>
              </a:rPr>
              <a:t>(CE</a:t>
            </a:r>
            <a:r>
              <a:rPr lang="zh-CN" altLang="en-US" sz="2400" smtClean="0">
                <a:latin typeface="楷体_GB2312" pitchFamily="49" charset="-122"/>
                <a:ea typeface="楷体_GB2312" pitchFamily="49" charset="-122"/>
              </a:rPr>
              <a:t>判断</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a:t>
            </a:r>
          </a:p>
          <a:p>
            <a:pPr lvl="1" eaLnBrk="1" hangingPunct="1">
              <a:buFont typeface="Wingdings" pitchFamily="2" charset="2"/>
              <a:buNone/>
            </a:pPr>
            <a:r>
              <a:rPr lang="en-US" altLang="zh-CN" sz="2400" smtClean="0">
                <a:latin typeface="楷体_GB2312" pitchFamily="49" charset="-122"/>
                <a:ea typeface="楷体_GB2312" pitchFamily="49" charset="-122"/>
              </a:rPr>
              <a:t>(2)</a:t>
            </a:r>
            <a:r>
              <a:rPr lang="zh-CN" altLang="en-US" sz="2400" smtClean="0">
                <a:latin typeface="楷体_GB2312" pitchFamily="49" charset="-122"/>
                <a:ea typeface="楷体_GB2312" pitchFamily="49" charset="-122"/>
              </a:rPr>
              <a:t>如果</a:t>
            </a:r>
            <a:r>
              <a:rPr lang="en-US" altLang="zh-CN" sz="2400" smtClean="0">
                <a:latin typeface="楷体_GB2312" pitchFamily="49" charset="-122"/>
                <a:ea typeface="楷体_GB2312" pitchFamily="49" charset="-122"/>
              </a:rPr>
              <a:t>CE</a:t>
            </a:r>
            <a:r>
              <a:rPr lang="zh-CN" altLang="en-US" sz="2400" smtClean="0">
                <a:latin typeface="楷体_GB2312" pitchFamily="49" charset="-122"/>
                <a:ea typeface="楷体_GB2312" pitchFamily="49" charset="-122"/>
              </a:rPr>
              <a:t>在地址匹配之前变低，片上的控制逻辑在左、右地址间进行判断来选择端口</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地址有效判断</a:t>
            </a:r>
            <a:r>
              <a:rPr lang="en-US" altLang="zh-CN" sz="2400" smtClean="0">
                <a:latin typeface="楷体_GB2312" pitchFamily="49" charset="-122"/>
                <a:ea typeface="楷体_GB2312" pitchFamily="49" charset="-122"/>
              </a:rPr>
              <a:t>)</a:t>
            </a:r>
            <a:r>
              <a:rPr lang="zh-CN" altLang="en-US" sz="2400" smtClean="0">
                <a:latin typeface="楷体_GB2312" pitchFamily="49" charset="-122"/>
                <a:ea typeface="楷体_GB2312" pitchFamily="49" charset="-122"/>
              </a:rPr>
              <a:t>。</a:t>
            </a:r>
          </a:p>
          <a:p>
            <a:pPr lvl="1" eaLnBrk="1" hangingPunct="1">
              <a:buFont typeface="Wingdings" pitchFamily="2" charset="2"/>
              <a:buNone/>
            </a:pPr>
            <a:r>
              <a:rPr lang="zh-CN" altLang="en-US" sz="2400" smtClean="0">
                <a:latin typeface="楷体_GB2312" pitchFamily="49" charset="-122"/>
                <a:ea typeface="楷体_GB2312" pitchFamily="49" charset="-122"/>
              </a:rPr>
              <a:t>      无论采用哪种判断方式，延迟端口的</a:t>
            </a:r>
            <a:r>
              <a:rPr lang="en-US" altLang="zh-CN" sz="2400" smtClean="0">
                <a:latin typeface="楷体_GB2312" pitchFamily="49" charset="-122"/>
                <a:ea typeface="楷体_GB2312" pitchFamily="49" charset="-122"/>
              </a:rPr>
              <a:t>BUSY</a:t>
            </a:r>
            <a:r>
              <a:rPr lang="zh-CN" altLang="en-US" sz="2400" smtClean="0">
                <a:latin typeface="楷体_GB2312" pitchFamily="49" charset="-122"/>
                <a:ea typeface="楷体_GB2312" pitchFamily="49" charset="-122"/>
              </a:rPr>
              <a:t>标志都将置位而关闭此端口，而当允许存取的端口完成操作时，延迟端口</a:t>
            </a:r>
            <a:r>
              <a:rPr lang="en-US" altLang="zh-CN" sz="2400" smtClean="0">
                <a:latin typeface="楷体_GB2312" pitchFamily="49" charset="-122"/>
                <a:ea typeface="楷体_GB2312" pitchFamily="49" charset="-122"/>
              </a:rPr>
              <a:t>BUSY</a:t>
            </a:r>
            <a:r>
              <a:rPr lang="zh-CN" altLang="en-US" sz="2400" smtClean="0">
                <a:latin typeface="楷体_GB2312" pitchFamily="49" charset="-122"/>
                <a:ea typeface="楷体_GB2312" pitchFamily="49" charset="-122"/>
              </a:rPr>
              <a:t>标志才进行复位而打开此端口。</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F2DCBEA5-E18B-49CE-A78B-99CE279A7334}" type="slidenum">
              <a:rPr lang="en-US" altLang="zh-CN"/>
              <a:pPr>
                <a:defRPr/>
              </a:pPr>
              <a:t>51</a:t>
            </a:fld>
            <a:endParaRPr lang="en-US" altLang="zh-CN"/>
          </a:p>
        </p:txBody>
      </p:sp>
      <p:sp>
        <p:nvSpPr>
          <p:cNvPr id="78851" name="Rectangle 2"/>
          <p:cNvSpPr>
            <a:spLocks noGrp="1" noChangeArrowheads="1"/>
          </p:cNvSpPr>
          <p:nvPr>
            <p:ph type="title"/>
          </p:nvPr>
        </p:nvSpPr>
        <p:spPr>
          <a:xfrm>
            <a:off x="457200" y="122238"/>
            <a:ext cx="7543800" cy="858837"/>
          </a:xfrm>
        </p:spPr>
        <p:txBody>
          <a:bodyPr/>
          <a:lstStyle/>
          <a:p>
            <a:pPr eaLnBrk="1" hangingPunct="1"/>
            <a:r>
              <a:rPr lang="en-US" altLang="zh-CN" sz="4000" smtClean="0">
                <a:latin typeface="楷体_GB2312" pitchFamily="49" charset="-122"/>
                <a:ea typeface="楷体_GB2312" pitchFamily="49" charset="-122"/>
                <a:cs typeface="Times New Roman" charset="0"/>
              </a:rPr>
              <a:t>3.5.1</a:t>
            </a:r>
            <a:r>
              <a:rPr lang="zh-CN" altLang="en-US" sz="4000" smtClean="0">
                <a:latin typeface="楷体_GB2312" pitchFamily="49" charset="-122"/>
                <a:ea typeface="楷体_GB2312" pitchFamily="49" charset="-122"/>
                <a:cs typeface="Times New Roman" charset="0"/>
              </a:rPr>
              <a:t>双端口存储器</a:t>
            </a:r>
          </a:p>
        </p:txBody>
      </p:sp>
      <p:pic>
        <p:nvPicPr>
          <p:cNvPr id="78852" name="Picture 3" descr="3a25">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8313" y="1125538"/>
            <a:ext cx="7199312" cy="525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56CF4C3F-7CA1-4566-91E3-7EC68C2D56DF}" type="slidenum">
              <a:rPr lang="en-US" altLang="zh-CN"/>
              <a:pPr>
                <a:defRPr/>
              </a:pPr>
              <a:t>52</a:t>
            </a:fld>
            <a:endParaRPr lang="en-US" altLang="zh-CN"/>
          </a:p>
        </p:txBody>
      </p:sp>
      <p:sp>
        <p:nvSpPr>
          <p:cNvPr id="79875" name="Rectangle 2"/>
          <p:cNvSpPr>
            <a:spLocks noGrp="1" noChangeArrowheads="1"/>
          </p:cNvSpPr>
          <p:nvPr>
            <p:ph type="title"/>
          </p:nvPr>
        </p:nvSpPr>
        <p:spPr>
          <a:xfrm>
            <a:off x="457200" y="122238"/>
            <a:ext cx="7543800" cy="785812"/>
          </a:xfrm>
        </p:spPr>
        <p:txBody>
          <a:bodyPr/>
          <a:lstStyle/>
          <a:p>
            <a:pPr eaLnBrk="1" hangingPunct="1"/>
            <a:r>
              <a:rPr lang="en-US" altLang="zh-CN" sz="4000" smtClean="0">
                <a:latin typeface="楷体_GB2312" pitchFamily="49" charset="-122"/>
                <a:ea typeface="楷体_GB2312" pitchFamily="49" charset="-122"/>
                <a:cs typeface="Times New Roman" charset="0"/>
              </a:rPr>
              <a:t>3.5  </a:t>
            </a:r>
            <a:r>
              <a:rPr lang="zh-CN" altLang="en-US" sz="4000" smtClean="0">
                <a:latin typeface="楷体_GB2312" pitchFamily="49" charset="-122"/>
                <a:ea typeface="楷体_GB2312" pitchFamily="49" charset="-122"/>
                <a:cs typeface="Times New Roman" charset="0"/>
              </a:rPr>
              <a:t>并行存储器</a:t>
            </a:r>
          </a:p>
        </p:txBody>
      </p:sp>
      <p:pic>
        <p:nvPicPr>
          <p:cNvPr id="79876" name="Picture 3" descr="3a26">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2362200"/>
            <a:ext cx="7273925" cy="404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7" name="Rectangle 4"/>
          <p:cNvSpPr>
            <a:spLocks noGrp="1" noChangeArrowheads="1"/>
          </p:cNvSpPr>
          <p:nvPr>
            <p:ph type="body" idx="1"/>
          </p:nvPr>
        </p:nvSpPr>
        <p:spPr>
          <a:xfrm>
            <a:off x="250825" y="1052513"/>
            <a:ext cx="7848600" cy="1223962"/>
          </a:xfrm>
        </p:spPr>
        <p:txBody>
          <a:bodyPr/>
          <a:lstStyle/>
          <a:p>
            <a:pPr eaLnBrk="1" hangingPunct="1">
              <a:buFont typeface="Wingdings" pitchFamily="2" charset="2"/>
              <a:buNone/>
            </a:pPr>
            <a:r>
              <a:rPr lang="zh-CN" altLang="en-US" sz="2400" smtClean="0">
                <a:latin typeface="楷体_GB2312" pitchFamily="49" charset="-122"/>
                <a:ea typeface="楷体_GB2312" pitchFamily="49" charset="-122"/>
              </a:rPr>
              <a:t>二、多模块交叉存储器：一个由若干个模块组成的主存储器是线性编址的。这些地址在各模块中如何安排，有两种方式：一种是顺序方式，一种是交叉方式 </a:t>
            </a:r>
          </a:p>
        </p:txBody>
      </p:sp>
      <p:sp>
        <p:nvSpPr>
          <p:cNvPr id="59398" name="AutoShape 6"/>
          <p:cNvSpPr>
            <a:spLocks noChangeArrowheads="1"/>
          </p:cNvSpPr>
          <p:nvPr/>
        </p:nvSpPr>
        <p:spPr bwMode="auto">
          <a:xfrm>
            <a:off x="4643438" y="188913"/>
            <a:ext cx="4249737" cy="2085975"/>
          </a:xfrm>
          <a:prstGeom prst="wedgeRectCallout">
            <a:avLst>
              <a:gd name="adj1" fmla="val -69014"/>
              <a:gd name="adj2" fmla="val 79148"/>
            </a:avLst>
          </a:prstGeom>
          <a:solidFill>
            <a:schemeClr val="accent1"/>
          </a:solidFill>
          <a:ln w="12700" cap="sq">
            <a:solidFill>
              <a:schemeClr val="tx1"/>
            </a:solidFill>
            <a:miter lim="800000"/>
            <a:headEnd type="none" w="sm" len="sm"/>
            <a:tailEnd type="none" w="sm" len="sm"/>
          </a:ln>
        </p:spPr>
        <p:txBody>
          <a:bodyPr/>
          <a:lstStyle/>
          <a:p>
            <a:pPr>
              <a:lnSpc>
                <a:spcPct val="80000"/>
              </a:lnSpc>
              <a:spcBef>
                <a:spcPct val="20000"/>
              </a:spcBef>
              <a:buClr>
                <a:schemeClr val="tx2"/>
              </a:buClr>
              <a:buSzPct val="70000"/>
              <a:buFont typeface="Wingdings" pitchFamily="2" charset="2"/>
              <a:buNone/>
            </a:pPr>
            <a:r>
              <a:rPr kumimoji="1" lang="zh-CN" altLang="en-US" sz="2200">
                <a:solidFill>
                  <a:srgbClr val="FF3300"/>
                </a:solidFill>
                <a:latin typeface="楷体_GB2312" pitchFamily="49" charset="-122"/>
              </a:rPr>
              <a:t>特点：</a:t>
            </a:r>
            <a:r>
              <a:rPr kumimoji="1" lang="zh-CN" altLang="en-US" sz="2200">
                <a:latin typeface="楷体_GB2312" pitchFamily="49" charset="-122"/>
              </a:rPr>
              <a:t>某个模块进行存取时，其他模块不工作。</a:t>
            </a:r>
          </a:p>
          <a:p>
            <a:pPr>
              <a:lnSpc>
                <a:spcPct val="80000"/>
              </a:lnSpc>
              <a:spcBef>
                <a:spcPct val="20000"/>
              </a:spcBef>
              <a:buClr>
                <a:schemeClr val="tx2"/>
              </a:buClr>
              <a:buSzPct val="70000"/>
              <a:buFont typeface="Wingdings" pitchFamily="2" charset="2"/>
              <a:buNone/>
            </a:pPr>
            <a:r>
              <a:rPr kumimoji="1" lang="zh-CN" altLang="en-US" sz="2200">
                <a:solidFill>
                  <a:srgbClr val="FF3300"/>
                </a:solidFill>
                <a:latin typeface="楷体_GB2312" pitchFamily="49" charset="-122"/>
              </a:rPr>
              <a:t>优点：</a:t>
            </a:r>
            <a:r>
              <a:rPr kumimoji="1" lang="zh-CN" altLang="en-US" sz="2200">
                <a:latin typeface="楷体_GB2312" pitchFamily="49" charset="-122"/>
              </a:rPr>
              <a:t>某一模块出现故障时，其他模块可以照常工作，通过增添模块来扩充存储器容量比较方便。</a:t>
            </a:r>
          </a:p>
          <a:p>
            <a:pPr>
              <a:lnSpc>
                <a:spcPct val="80000"/>
              </a:lnSpc>
              <a:spcBef>
                <a:spcPct val="20000"/>
              </a:spcBef>
              <a:buClr>
                <a:schemeClr val="tx2"/>
              </a:buClr>
              <a:buSzPct val="70000"/>
              <a:buFont typeface="Wingdings" pitchFamily="2" charset="2"/>
              <a:buNone/>
            </a:pPr>
            <a:r>
              <a:rPr kumimoji="1" lang="zh-CN" altLang="en-US" sz="2200">
                <a:solidFill>
                  <a:srgbClr val="FF3300"/>
                </a:solidFill>
                <a:latin typeface="楷体_GB2312" pitchFamily="49" charset="-122"/>
              </a:rPr>
              <a:t>缺点：</a:t>
            </a:r>
            <a:r>
              <a:rPr kumimoji="1" lang="zh-CN" altLang="en-US" sz="2200">
                <a:latin typeface="楷体_GB2312" pitchFamily="49" charset="-122"/>
              </a:rPr>
              <a:t>各模块串行工作，存储器的带宽受到了限制。</a:t>
            </a:r>
            <a:endParaRPr lang="zh-CN" altLang="en-US" sz="2200">
              <a:latin typeface="楷体_GB2312" pitchFamily="49" charset="-122"/>
            </a:endParaRPr>
          </a:p>
          <a:p>
            <a:pPr algn="ctr"/>
            <a:endParaRPr lang="en-US" altLang="zh-CN" sz="2200"/>
          </a:p>
        </p:txBody>
      </p:sp>
      <p:sp>
        <p:nvSpPr>
          <p:cNvPr id="59399" name="AutoShape 7"/>
          <p:cNvSpPr>
            <a:spLocks noChangeArrowheads="1"/>
          </p:cNvSpPr>
          <p:nvPr/>
        </p:nvSpPr>
        <p:spPr bwMode="auto">
          <a:xfrm>
            <a:off x="304800" y="188913"/>
            <a:ext cx="4114800" cy="2554287"/>
          </a:xfrm>
          <a:prstGeom prst="wedgeRectCallout">
            <a:avLst>
              <a:gd name="adj1" fmla="val 53856"/>
              <a:gd name="adj2" fmla="val 66718"/>
            </a:avLst>
          </a:prstGeom>
          <a:solidFill>
            <a:schemeClr val="accent1"/>
          </a:solidFill>
          <a:ln w="12700" cap="sq">
            <a:solidFill>
              <a:schemeClr val="tx1"/>
            </a:solidFill>
            <a:miter lim="800000"/>
            <a:headEnd type="none" w="sm" len="sm"/>
            <a:tailEnd type="none" w="sm" len="sm"/>
          </a:ln>
        </p:spPr>
        <p:txBody>
          <a:bodyPr/>
          <a:lstStyle/>
          <a:p>
            <a:r>
              <a:rPr kumimoji="1" lang="zh-CN" altLang="en-US" sz="2200">
                <a:solidFill>
                  <a:srgbClr val="FF3300"/>
                </a:solidFill>
                <a:latin typeface="楷体_GB2312" pitchFamily="49" charset="-122"/>
              </a:rPr>
              <a:t>特点：</a:t>
            </a:r>
            <a:r>
              <a:rPr kumimoji="1" lang="zh-CN" altLang="en-US" sz="2200">
                <a:latin typeface="楷体_GB2312" pitchFamily="49" charset="-122"/>
              </a:rPr>
              <a:t>连续地址分布在相邻的不同模块内，同一个模块内的地址都是不连续的。</a:t>
            </a:r>
          </a:p>
          <a:p>
            <a:r>
              <a:rPr kumimoji="1" lang="zh-CN" altLang="en-US" sz="2200">
                <a:solidFill>
                  <a:srgbClr val="FF3300"/>
                </a:solidFill>
                <a:latin typeface="楷体_GB2312" pitchFamily="49" charset="-122"/>
              </a:rPr>
              <a:t>优点：</a:t>
            </a:r>
            <a:r>
              <a:rPr kumimoji="1" lang="zh-CN" altLang="en-US" sz="2200">
                <a:latin typeface="楷体_GB2312" pitchFamily="49" charset="-122"/>
              </a:rPr>
              <a:t>是对连续字的成块传送可实现多模块流水式并行存取，大大提高存储器的带宽。使用场合为成</a:t>
            </a:r>
            <a:r>
              <a:rPr kumimoji="1" lang="zh-CN" altLang="en-US" sz="2400"/>
              <a:t>批数据读取</a:t>
            </a:r>
            <a:r>
              <a:rPr kumimoji="1" lang="zh-CN" altLang="en-US"/>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9398"/>
                                        </p:tgtEl>
                                        <p:attrNameLst>
                                          <p:attrName>style.visibility</p:attrName>
                                        </p:attrNameLst>
                                      </p:cBhvr>
                                      <p:to>
                                        <p:strVal val="visible"/>
                                      </p:to>
                                    </p:set>
                                    <p:anim calcmode="lin" valueType="num">
                                      <p:cBhvr additive="base">
                                        <p:cTn id="7" dur="500" fill="hold"/>
                                        <p:tgtEl>
                                          <p:spTgt spid="59398"/>
                                        </p:tgtEl>
                                        <p:attrNameLst>
                                          <p:attrName>ppt_x</p:attrName>
                                        </p:attrNameLst>
                                      </p:cBhvr>
                                      <p:tavLst>
                                        <p:tav tm="0">
                                          <p:val>
                                            <p:strVal val="#ppt_x"/>
                                          </p:val>
                                        </p:tav>
                                        <p:tav tm="100000">
                                          <p:val>
                                            <p:strVal val="#ppt_x"/>
                                          </p:val>
                                        </p:tav>
                                      </p:tavLst>
                                    </p:anim>
                                    <p:anim calcmode="lin" valueType="num">
                                      <p:cBhvr additive="base">
                                        <p:cTn id="8" dur="500" fill="hold"/>
                                        <p:tgtEl>
                                          <p:spTgt spid="59398"/>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59398"/>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9399"/>
                                        </p:tgtEl>
                                        <p:attrNameLst>
                                          <p:attrName>style.visibility</p:attrName>
                                        </p:attrNameLst>
                                      </p:cBhvr>
                                      <p:to>
                                        <p:strVal val="visible"/>
                                      </p:to>
                                    </p:set>
                                    <p:anim calcmode="lin" valueType="num">
                                      <p:cBhvr additive="base">
                                        <p:cTn id="13" dur="500" fill="hold"/>
                                        <p:tgtEl>
                                          <p:spTgt spid="59399"/>
                                        </p:tgtEl>
                                        <p:attrNameLst>
                                          <p:attrName>ppt_x</p:attrName>
                                        </p:attrNameLst>
                                      </p:cBhvr>
                                      <p:tavLst>
                                        <p:tav tm="0">
                                          <p:val>
                                            <p:strVal val="#ppt_x"/>
                                          </p:val>
                                        </p:tav>
                                        <p:tav tm="100000">
                                          <p:val>
                                            <p:strVal val="#ppt_x"/>
                                          </p:val>
                                        </p:tav>
                                      </p:tavLst>
                                    </p:anim>
                                    <p:anim calcmode="lin" valueType="num">
                                      <p:cBhvr additive="base">
                                        <p:cTn id="14" dur="500" fill="hold"/>
                                        <p:tgtEl>
                                          <p:spTgt spid="59399"/>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5939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8" grpId="0" animBg="1" autoUpdateAnimBg="0"/>
      <p:bldP spid="59399" grpId="0" animBg="1"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4EE50ECA-8703-42F4-8E0D-6C541E0BF7FD}" type="slidenum">
              <a:rPr lang="en-US" altLang="zh-CN"/>
              <a:pPr>
                <a:defRPr/>
              </a:pPr>
              <a:t>53</a:t>
            </a:fld>
            <a:endParaRPr lang="en-US" altLang="zh-CN"/>
          </a:p>
        </p:txBody>
      </p:sp>
      <p:sp>
        <p:nvSpPr>
          <p:cNvPr id="80899" name="Rectangle 1026"/>
          <p:cNvSpPr>
            <a:spLocks noGrp="1" noChangeArrowheads="1"/>
          </p:cNvSpPr>
          <p:nvPr>
            <p:ph type="title"/>
          </p:nvPr>
        </p:nvSpPr>
        <p:spPr>
          <a:xfrm>
            <a:off x="395288" y="404813"/>
            <a:ext cx="7543800" cy="642937"/>
          </a:xfrm>
        </p:spPr>
        <p:txBody>
          <a:bodyPr/>
          <a:lstStyle/>
          <a:p>
            <a:pPr eaLnBrk="1" hangingPunct="1"/>
            <a:r>
              <a:rPr lang="en-US" altLang="zh-CN" sz="4000" smtClean="0">
                <a:latin typeface="楷体_GB2312" pitchFamily="49" charset="-122"/>
                <a:ea typeface="楷体_GB2312" pitchFamily="49" charset="-122"/>
                <a:cs typeface="Times New Roman" charset="0"/>
              </a:rPr>
              <a:t>3.5  </a:t>
            </a:r>
            <a:r>
              <a:rPr lang="zh-CN" altLang="en-US" sz="4000" smtClean="0">
                <a:latin typeface="楷体_GB2312" pitchFamily="49" charset="-122"/>
                <a:ea typeface="楷体_GB2312" pitchFamily="49" charset="-122"/>
                <a:cs typeface="Times New Roman" charset="0"/>
              </a:rPr>
              <a:t>并行存储器</a:t>
            </a:r>
          </a:p>
        </p:txBody>
      </p:sp>
      <p:pic>
        <p:nvPicPr>
          <p:cNvPr id="80900" name="Picture 1028" descr="3a27">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5738" y="2060575"/>
            <a:ext cx="4608512"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1" name="Rectangle 1029"/>
          <p:cNvSpPr>
            <a:spLocks noChangeArrowheads="1"/>
          </p:cNvSpPr>
          <p:nvPr/>
        </p:nvSpPr>
        <p:spPr bwMode="auto">
          <a:xfrm>
            <a:off x="395288" y="1196975"/>
            <a:ext cx="48069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pPr>
              <a:lnSpc>
                <a:spcPct val="90000"/>
              </a:lnSpc>
              <a:spcBef>
                <a:spcPct val="20000"/>
              </a:spcBef>
              <a:buClr>
                <a:schemeClr val="tx2"/>
              </a:buClr>
              <a:buSzPct val="70000"/>
              <a:buFont typeface="Wingdings" pitchFamily="2" charset="2"/>
              <a:buNone/>
            </a:pPr>
            <a:r>
              <a:rPr lang="zh-CN" altLang="en-US">
                <a:latin typeface="楷体_GB2312" pitchFamily="49" charset="-122"/>
              </a:rPr>
              <a:t>多模块交叉存储器的基本结构</a:t>
            </a:r>
          </a:p>
        </p:txBody>
      </p:sp>
      <p:sp>
        <p:nvSpPr>
          <p:cNvPr id="80902" name="Rectangle 1030"/>
          <p:cNvSpPr>
            <a:spLocks noChangeArrowheads="1"/>
          </p:cNvSpPr>
          <p:nvPr/>
        </p:nvSpPr>
        <p:spPr bwMode="auto">
          <a:xfrm>
            <a:off x="468313" y="1773238"/>
            <a:ext cx="3527425" cy="436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lnSpc>
                <a:spcPct val="90000"/>
              </a:lnSpc>
              <a:spcBef>
                <a:spcPct val="20000"/>
              </a:spcBef>
              <a:buClr>
                <a:schemeClr val="tx2"/>
              </a:buClr>
              <a:buSzPct val="70000"/>
              <a:buFont typeface="Wingdings" pitchFamily="2" charset="2"/>
              <a:buNone/>
            </a:pPr>
            <a:r>
              <a:rPr lang="en-US" altLang="zh-CN" sz="2400">
                <a:latin typeface="楷体_GB2312" pitchFamily="49" charset="-122"/>
              </a:rPr>
              <a:t>    </a:t>
            </a:r>
            <a:r>
              <a:rPr lang="zh-CN" altLang="en-US" sz="2400">
                <a:latin typeface="楷体_GB2312" pitchFamily="49" charset="-122"/>
              </a:rPr>
              <a:t>右图为四模块交叉存储器结构框图。主存被分成</a:t>
            </a:r>
            <a:r>
              <a:rPr lang="en-US" altLang="zh-CN" sz="2400">
                <a:latin typeface="楷体_GB2312" pitchFamily="49" charset="-122"/>
              </a:rPr>
              <a:t>4</a:t>
            </a:r>
            <a:r>
              <a:rPr lang="zh-CN" altLang="en-US" sz="2400">
                <a:latin typeface="楷体_GB2312" pitchFamily="49" charset="-122"/>
              </a:rPr>
              <a:t>个相互独立、容量相同的模块</a:t>
            </a:r>
            <a:r>
              <a:rPr lang="en-US" altLang="zh-CN" sz="2400">
                <a:latin typeface="楷体_GB2312" pitchFamily="49" charset="-122"/>
              </a:rPr>
              <a:t>M0</a:t>
            </a:r>
            <a:r>
              <a:rPr lang="zh-CN" altLang="en-US" sz="2400">
                <a:latin typeface="楷体_GB2312" pitchFamily="49" charset="-122"/>
              </a:rPr>
              <a:t>，</a:t>
            </a:r>
            <a:r>
              <a:rPr lang="en-US" altLang="zh-CN" sz="2400">
                <a:latin typeface="楷体_GB2312" pitchFamily="49" charset="-122"/>
              </a:rPr>
              <a:t>M1</a:t>
            </a:r>
            <a:r>
              <a:rPr lang="zh-CN" altLang="en-US" sz="2400">
                <a:latin typeface="楷体_GB2312" pitchFamily="49" charset="-122"/>
              </a:rPr>
              <a:t>，</a:t>
            </a:r>
            <a:r>
              <a:rPr lang="en-US" altLang="zh-CN" sz="2400">
                <a:latin typeface="楷体_GB2312" pitchFamily="49" charset="-122"/>
              </a:rPr>
              <a:t>M2</a:t>
            </a:r>
            <a:r>
              <a:rPr lang="zh-CN" altLang="en-US" sz="2400">
                <a:latin typeface="楷体_GB2312" pitchFamily="49" charset="-122"/>
              </a:rPr>
              <a:t>，</a:t>
            </a:r>
            <a:r>
              <a:rPr lang="en-US" altLang="zh-CN" sz="2400">
                <a:latin typeface="楷体_GB2312" pitchFamily="49" charset="-122"/>
              </a:rPr>
              <a:t>M3</a:t>
            </a:r>
            <a:r>
              <a:rPr lang="zh-CN" altLang="en-US" sz="2400">
                <a:latin typeface="楷体_GB2312" pitchFamily="49" charset="-122"/>
              </a:rPr>
              <a:t>，每个模块都有自己的读写控制电路、地址寄存器和数据寄存器，各自以等同的方式与</a:t>
            </a:r>
            <a:r>
              <a:rPr lang="en-US" altLang="zh-CN" sz="2400">
                <a:latin typeface="楷体_GB2312" pitchFamily="49" charset="-122"/>
              </a:rPr>
              <a:t>CPU</a:t>
            </a:r>
            <a:r>
              <a:rPr lang="zh-CN" altLang="en-US" sz="2400">
                <a:latin typeface="楷体_GB2312" pitchFamily="49" charset="-122"/>
              </a:rPr>
              <a:t>传送信息。在理想情况下，如果程序段或数据块都是连续地在主存中存取，那么将大大提高主存的访问速度。 </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FD115203-C3FC-491F-A127-C3920FD5E8E0}" type="slidenum">
              <a:rPr lang="en-US" altLang="zh-CN"/>
              <a:pPr>
                <a:defRPr/>
              </a:pPr>
              <a:t>54</a:t>
            </a:fld>
            <a:endParaRPr lang="en-US" altLang="zh-CN"/>
          </a:p>
        </p:txBody>
      </p:sp>
      <p:sp>
        <p:nvSpPr>
          <p:cNvPr id="81923" name="Rectangle 2"/>
          <p:cNvSpPr>
            <a:spLocks noGrp="1" noChangeArrowheads="1"/>
          </p:cNvSpPr>
          <p:nvPr>
            <p:ph type="title"/>
          </p:nvPr>
        </p:nvSpPr>
        <p:spPr>
          <a:xfrm>
            <a:off x="468313" y="2997200"/>
            <a:ext cx="7543800" cy="652463"/>
          </a:xfrm>
        </p:spPr>
        <p:txBody>
          <a:bodyPr/>
          <a:lstStyle/>
          <a:p>
            <a:pPr eaLnBrk="1" hangingPunct="1"/>
            <a:r>
              <a:rPr lang="en-US" altLang="zh-CN" sz="3300" smtClean="0">
                <a:latin typeface="楷体_GB2312" pitchFamily="49" charset="-122"/>
                <a:ea typeface="楷体_GB2312" pitchFamily="49" charset="-122"/>
              </a:rPr>
              <a:t/>
            </a:r>
            <a:br>
              <a:rPr lang="en-US" altLang="zh-CN" sz="3300" smtClean="0">
                <a:latin typeface="楷体_GB2312" pitchFamily="49" charset="-122"/>
                <a:ea typeface="楷体_GB2312" pitchFamily="49" charset="-122"/>
              </a:rPr>
            </a:br>
            <a:r>
              <a:rPr lang="en-US" altLang="zh-CN" sz="3300" smtClean="0">
                <a:latin typeface="楷体_GB2312" pitchFamily="49" charset="-122"/>
                <a:ea typeface="楷体_GB2312" pitchFamily="49" charset="-122"/>
              </a:rPr>
              <a:t/>
            </a:r>
            <a:br>
              <a:rPr lang="en-US" altLang="zh-CN" sz="3300" smtClean="0">
                <a:latin typeface="楷体_GB2312" pitchFamily="49" charset="-122"/>
                <a:ea typeface="楷体_GB2312" pitchFamily="49" charset="-122"/>
              </a:rPr>
            </a:br>
            <a:endParaRPr lang="en-US" altLang="zh-CN" sz="3300" smtClean="0">
              <a:latin typeface="楷体_GB2312" pitchFamily="49" charset="-122"/>
              <a:ea typeface="楷体_GB2312" pitchFamily="49" charset="-122"/>
            </a:endParaRPr>
          </a:p>
        </p:txBody>
      </p:sp>
      <p:sp>
        <p:nvSpPr>
          <p:cNvPr id="81924" name="Rectangle 6"/>
          <p:cNvSpPr>
            <a:spLocks noChangeArrowheads="1"/>
          </p:cNvSpPr>
          <p:nvPr/>
        </p:nvSpPr>
        <p:spPr bwMode="auto">
          <a:xfrm>
            <a:off x="1452563" y="2366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pic>
        <p:nvPicPr>
          <p:cNvPr id="81925" name="Picture 7" descr="3a28">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663" y="2636838"/>
            <a:ext cx="4465637" cy="352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6" name="Rectangle 8"/>
          <p:cNvSpPr>
            <a:spLocks noChangeArrowheads="1"/>
          </p:cNvSpPr>
          <p:nvPr/>
        </p:nvSpPr>
        <p:spPr bwMode="auto">
          <a:xfrm>
            <a:off x="179388" y="188913"/>
            <a:ext cx="7848600"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sz="2400">
                <a:latin typeface="楷体_GB2312" pitchFamily="49" charset="-122"/>
              </a:rPr>
              <a:t>下面做定量分析：我们认为模块字长等于数据总线宽度，模块存取一个字的存储周期为</a:t>
            </a:r>
            <a:r>
              <a:rPr lang="en-US" altLang="zh-CN" sz="2400">
                <a:latin typeface="楷体_GB2312" pitchFamily="49" charset="-122"/>
              </a:rPr>
              <a:t>T</a:t>
            </a:r>
            <a:r>
              <a:rPr lang="zh-CN" altLang="en-US" sz="2400">
                <a:latin typeface="楷体_GB2312" pitchFamily="49" charset="-122"/>
              </a:rPr>
              <a:t>，总线传送周期为</a:t>
            </a:r>
            <a:r>
              <a:rPr lang="en-US" altLang="zh-CN" sz="2400">
                <a:latin typeface="楷体_GB2312" pitchFamily="49" charset="-122"/>
              </a:rPr>
              <a:t>τ</a:t>
            </a:r>
            <a:r>
              <a:rPr lang="zh-CN" altLang="en-US" sz="2400">
                <a:latin typeface="楷体_GB2312" pitchFamily="49" charset="-122"/>
              </a:rPr>
              <a:t>，存储器的交叉模块数为</a:t>
            </a:r>
            <a:r>
              <a:rPr lang="en-US" altLang="zh-CN" sz="2400">
                <a:latin typeface="楷体_GB2312" pitchFamily="49" charset="-122"/>
              </a:rPr>
              <a:t>m</a:t>
            </a:r>
            <a:r>
              <a:rPr lang="zh-CN" altLang="en-US" sz="2400">
                <a:latin typeface="楷体_GB2312" pitchFamily="49" charset="-122"/>
              </a:rPr>
              <a:t>，为了实现流水线方式存取，应当满足</a:t>
            </a:r>
            <a:r>
              <a:rPr lang="zh-CN" altLang="en-US" sz="2400"/>
              <a:t> </a:t>
            </a:r>
            <a:r>
              <a:rPr lang="en-US" altLang="zh-CN" sz="2400">
                <a:latin typeface="楷体_GB2312" pitchFamily="49" charset="-122"/>
              </a:rPr>
              <a:t>T=mτ</a:t>
            </a:r>
            <a:r>
              <a:rPr lang="zh-CN" altLang="en-US" sz="2400">
                <a:latin typeface="楷体_GB2312" pitchFamily="49" charset="-122"/>
              </a:rPr>
              <a:t>（</a:t>
            </a:r>
            <a:r>
              <a:rPr lang="en-US" altLang="zh-CN" sz="2400">
                <a:latin typeface="楷体_GB2312" pitchFamily="49" charset="-122"/>
              </a:rPr>
              <a:t>m=T/τ</a:t>
            </a:r>
            <a:r>
              <a:rPr lang="zh-CN" altLang="en-US" sz="2400">
                <a:latin typeface="楷体_GB2312" pitchFamily="49" charset="-122"/>
              </a:rPr>
              <a:t>称为交叉存取度）交叉存储器要求其模块数必须大于或等于</a:t>
            </a:r>
            <a:r>
              <a:rPr lang="en-US" altLang="zh-CN" sz="2400">
                <a:latin typeface="楷体_GB2312" pitchFamily="49" charset="-122"/>
              </a:rPr>
              <a:t>m</a:t>
            </a:r>
            <a:r>
              <a:rPr lang="zh-CN" altLang="en-US" sz="2400">
                <a:latin typeface="楷体_GB2312" pitchFamily="49" charset="-122"/>
              </a:rPr>
              <a:t>，以保证启动某模块后经</a:t>
            </a:r>
            <a:r>
              <a:rPr lang="en-US" altLang="zh-CN" sz="2400">
                <a:latin typeface="楷体_GB2312" pitchFamily="49" charset="-122"/>
              </a:rPr>
              <a:t>mτ</a:t>
            </a:r>
            <a:r>
              <a:rPr lang="zh-CN" altLang="en-US" sz="2400">
                <a:latin typeface="楷体_GB2312" pitchFamily="49" charset="-122"/>
              </a:rPr>
              <a:t>时间再次启动该模块时，它的上次存取操作已经完成。</a:t>
            </a:r>
          </a:p>
        </p:txBody>
      </p:sp>
      <p:sp>
        <p:nvSpPr>
          <p:cNvPr id="81927" name="Rectangle 9"/>
          <p:cNvSpPr>
            <a:spLocks noChangeArrowheads="1"/>
          </p:cNvSpPr>
          <p:nvPr/>
        </p:nvSpPr>
        <p:spPr bwMode="auto">
          <a:xfrm>
            <a:off x="250825" y="2492375"/>
            <a:ext cx="4033838"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sz="2400">
                <a:latin typeface="楷体_GB2312" pitchFamily="49" charset="-122"/>
              </a:rPr>
              <a:t>    </a:t>
            </a:r>
            <a:r>
              <a:rPr lang="zh-CN" altLang="en-US" sz="2400">
                <a:latin typeface="楷体_GB2312" pitchFamily="49" charset="-122"/>
              </a:rPr>
              <a:t>这样，连续读取</a:t>
            </a:r>
            <a:r>
              <a:rPr lang="en-US" altLang="zh-CN" sz="2400">
                <a:latin typeface="楷体_GB2312" pitchFamily="49" charset="-122"/>
              </a:rPr>
              <a:t>m</a:t>
            </a:r>
            <a:r>
              <a:rPr lang="zh-CN" altLang="en-US" sz="2400">
                <a:latin typeface="楷体_GB2312" pitchFamily="49" charset="-122"/>
              </a:rPr>
              <a:t>个字所需的时间为</a:t>
            </a:r>
          </a:p>
          <a:p>
            <a:r>
              <a:rPr lang="zh-CN" altLang="en-US" sz="2400">
                <a:latin typeface="楷体_GB2312" pitchFamily="49" charset="-122"/>
              </a:rPr>
              <a:t>    </a:t>
            </a:r>
            <a:r>
              <a:rPr lang="en-US" altLang="zh-CN" sz="2400">
                <a:latin typeface="楷体_GB2312" pitchFamily="49" charset="-122"/>
              </a:rPr>
              <a:t>t1=T+(m-1)τ</a:t>
            </a:r>
            <a:br>
              <a:rPr lang="en-US" altLang="zh-CN" sz="2400">
                <a:latin typeface="楷体_GB2312" pitchFamily="49" charset="-122"/>
              </a:rPr>
            </a:br>
            <a:r>
              <a:rPr lang="en-US" altLang="zh-CN" sz="2400"/>
              <a:t>    </a:t>
            </a:r>
            <a:r>
              <a:rPr lang="en-US" altLang="zh-CN" sz="2400">
                <a:latin typeface="楷体_GB2312" pitchFamily="49" charset="-122"/>
              </a:rPr>
              <a:t> </a:t>
            </a:r>
            <a:r>
              <a:rPr lang="zh-CN" altLang="en-US" sz="2400">
                <a:latin typeface="楷体_GB2312" pitchFamily="49" charset="-122"/>
              </a:rPr>
              <a:t>而顺序方式存储器连续读取</a:t>
            </a:r>
            <a:r>
              <a:rPr lang="en-US" altLang="zh-CN" sz="2400">
                <a:latin typeface="楷体_GB2312" pitchFamily="49" charset="-122"/>
              </a:rPr>
              <a:t>m</a:t>
            </a:r>
            <a:r>
              <a:rPr lang="zh-CN" altLang="en-US" sz="2400">
                <a:latin typeface="楷体_GB2312" pitchFamily="49" charset="-122"/>
              </a:rPr>
              <a:t>个字所需时间为</a:t>
            </a:r>
          </a:p>
          <a:p>
            <a:r>
              <a:rPr lang="zh-CN" altLang="en-US" sz="2400">
                <a:latin typeface="楷体_GB2312" pitchFamily="49" charset="-122"/>
              </a:rPr>
              <a:t>    </a:t>
            </a:r>
            <a:r>
              <a:rPr lang="en-US" altLang="zh-CN" sz="2400">
                <a:latin typeface="楷体_GB2312" pitchFamily="49" charset="-122"/>
              </a:rPr>
              <a:t>t2=mT</a:t>
            </a:r>
            <a:r>
              <a:rPr lang="zh-CN" altLang="en-US" sz="2400">
                <a:latin typeface="楷体_GB2312" pitchFamily="49" charset="-122"/>
              </a:rPr>
              <a:t>。</a:t>
            </a:r>
          </a:p>
          <a:p>
            <a:r>
              <a:rPr lang="zh-CN" altLang="en-US" sz="2400">
                <a:latin typeface="楷体_GB2312" pitchFamily="49" charset="-122"/>
              </a:rPr>
              <a:t>    交叉存储器的带宽确实大大提高了。实际应用中，当出现数据相关和程序转移时，将破坏并行性，不可能达到上述理想值。</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F298D23B-AC82-4DF7-A656-6A54DA39DAC6}" type="slidenum">
              <a:rPr lang="en-US" altLang="zh-CN"/>
              <a:pPr>
                <a:defRPr/>
              </a:pPr>
              <a:t>55</a:t>
            </a:fld>
            <a:endParaRPr lang="en-US" altLang="zh-CN"/>
          </a:p>
        </p:txBody>
      </p:sp>
      <p:sp>
        <p:nvSpPr>
          <p:cNvPr id="82947" name="Rectangle 2"/>
          <p:cNvSpPr>
            <a:spLocks noGrp="1" noChangeArrowheads="1"/>
          </p:cNvSpPr>
          <p:nvPr>
            <p:ph type="title" idx="4294967295"/>
          </p:nvPr>
        </p:nvSpPr>
        <p:spPr>
          <a:xfrm>
            <a:off x="0" y="260350"/>
            <a:ext cx="7543800" cy="2160588"/>
          </a:xfrm>
        </p:spPr>
        <p:txBody>
          <a:bodyPr/>
          <a:lstStyle/>
          <a:p>
            <a:pPr eaLnBrk="1" hangingPunct="1"/>
            <a:r>
              <a:rPr lang="zh-CN" altLang="en-US" sz="2400" smtClean="0">
                <a:latin typeface="楷体_GB2312" pitchFamily="49" charset="-122"/>
                <a:ea typeface="楷体_GB2312" pitchFamily="49" charset="-122"/>
              </a:rPr>
              <a:t>例</a:t>
            </a:r>
            <a:r>
              <a:rPr lang="en-US" altLang="zh-CN" sz="2400" smtClean="0">
                <a:latin typeface="楷体_GB2312" pitchFamily="49" charset="-122"/>
                <a:ea typeface="楷体_GB2312" pitchFamily="49" charset="-122"/>
              </a:rPr>
              <a:t>5 </a:t>
            </a:r>
            <a:r>
              <a:rPr lang="zh-CN" altLang="en-US" sz="2400" smtClean="0">
                <a:latin typeface="楷体_GB2312" pitchFamily="49" charset="-122"/>
                <a:ea typeface="楷体_GB2312" pitchFamily="49" charset="-122"/>
              </a:rPr>
              <a:t>设存储器容量为</a:t>
            </a:r>
            <a:r>
              <a:rPr lang="en-US" altLang="zh-CN" sz="2400" smtClean="0">
                <a:latin typeface="楷体_GB2312" pitchFamily="49" charset="-122"/>
                <a:ea typeface="楷体_GB2312" pitchFamily="49" charset="-122"/>
              </a:rPr>
              <a:t>32</a:t>
            </a:r>
            <a:r>
              <a:rPr lang="zh-CN" altLang="en-US" sz="2400" smtClean="0">
                <a:latin typeface="楷体_GB2312" pitchFamily="49" charset="-122"/>
                <a:ea typeface="楷体_GB2312" pitchFamily="49" charset="-122"/>
              </a:rPr>
              <a:t>字，字长</a:t>
            </a:r>
            <a:r>
              <a:rPr lang="en-US" altLang="zh-CN" sz="2400" smtClean="0">
                <a:latin typeface="楷体_GB2312" pitchFamily="49" charset="-122"/>
                <a:ea typeface="楷体_GB2312" pitchFamily="49" charset="-122"/>
              </a:rPr>
              <a:t>64</a:t>
            </a:r>
            <a:r>
              <a:rPr lang="zh-CN" altLang="en-US" sz="2400" smtClean="0">
                <a:latin typeface="楷体_GB2312" pitchFamily="49" charset="-122"/>
                <a:ea typeface="楷体_GB2312" pitchFamily="49" charset="-122"/>
              </a:rPr>
              <a:t>位，模块数</a:t>
            </a:r>
            <a:r>
              <a:rPr lang="en-US" altLang="zh-CN" sz="2400" smtClean="0">
                <a:latin typeface="楷体_GB2312" pitchFamily="49" charset="-122"/>
                <a:ea typeface="楷体_GB2312" pitchFamily="49" charset="-122"/>
              </a:rPr>
              <a:t>m=4</a:t>
            </a:r>
            <a:r>
              <a:rPr lang="zh-CN" altLang="en-US" sz="2400" smtClean="0">
                <a:latin typeface="楷体_GB2312" pitchFamily="49" charset="-122"/>
                <a:ea typeface="楷体_GB2312" pitchFamily="49" charset="-122"/>
              </a:rPr>
              <a:t>，分别用顺序方式和交叉方式进行组织。存储周期</a:t>
            </a:r>
            <a:r>
              <a:rPr lang="en-US" altLang="zh-CN" sz="2400" smtClean="0">
                <a:latin typeface="楷体_GB2312" pitchFamily="49" charset="-122"/>
                <a:ea typeface="楷体_GB2312" pitchFamily="49" charset="-122"/>
              </a:rPr>
              <a:t>T=200ns</a:t>
            </a:r>
            <a:r>
              <a:rPr lang="zh-CN" altLang="en-US" sz="2400" smtClean="0">
                <a:latin typeface="楷体_GB2312" pitchFamily="49" charset="-122"/>
                <a:ea typeface="楷体_GB2312" pitchFamily="49" charset="-122"/>
              </a:rPr>
              <a:t>，数据总线宽度为</a:t>
            </a:r>
            <a:r>
              <a:rPr lang="en-US" altLang="zh-CN" sz="2400" smtClean="0">
                <a:latin typeface="楷体_GB2312" pitchFamily="49" charset="-122"/>
                <a:ea typeface="楷体_GB2312" pitchFamily="49" charset="-122"/>
              </a:rPr>
              <a:t>64</a:t>
            </a:r>
            <a:r>
              <a:rPr lang="zh-CN" altLang="en-US" sz="2400" smtClean="0">
                <a:latin typeface="楷体_GB2312" pitchFamily="49" charset="-122"/>
                <a:ea typeface="楷体_GB2312" pitchFamily="49" charset="-122"/>
              </a:rPr>
              <a:t>位，总线传送周期</a:t>
            </a:r>
            <a:r>
              <a:rPr lang="en-US" altLang="zh-CN" sz="2400" smtClean="0">
                <a:latin typeface="楷体_GB2312" pitchFamily="49" charset="-122"/>
                <a:ea typeface="楷体_GB2312" pitchFamily="49" charset="-122"/>
              </a:rPr>
              <a:t>=50ns</a:t>
            </a:r>
            <a:r>
              <a:rPr lang="zh-CN" altLang="en-US" sz="2400" smtClean="0">
                <a:latin typeface="楷体_GB2312" pitchFamily="49" charset="-122"/>
                <a:ea typeface="楷体_GB2312" pitchFamily="49" charset="-122"/>
              </a:rPr>
              <a:t>。若连续读出</a:t>
            </a:r>
            <a:r>
              <a:rPr lang="en-US" altLang="zh-CN" sz="2400" smtClean="0">
                <a:latin typeface="楷体_GB2312" pitchFamily="49" charset="-122"/>
                <a:ea typeface="楷体_GB2312" pitchFamily="49" charset="-122"/>
              </a:rPr>
              <a:t>4</a:t>
            </a:r>
            <a:r>
              <a:rPr lang="zh-CN" altLang="en-US" sz="2400" smtClean="0">
                <a:latin typeface="楷体_GB2312" pitchFamily="49" charset="-122"/>
                <a:ea typeface="楷体_GB2312" pitchFamily="49" charset="-122"/>
              </a:rPr>
              <a:t>个字，问顺序存储器和交叉存储器的带宽各是多少</a:t>
            </a:r>
            <a:r>
              <a:rPr lang="en-US" altLang="zh-CN" sz="2400" smtClean="0">
                <a:latin typeface="楷体_GB2312" pitchFamily="49" charset="-122"/>
                <a:ea typeface="楷体_GB2312" pitchFamily="49" charset="-122"/>
              </a:rPr>
              <a:t>?</a:t>
            </a:r>
          </a:p>
        </p:txBody>
      </p:sp>
      <p:sp>
        <p:nvSpPr>
          <p:cNvPr id="82948" name="Rectangle 3"/>
          <p:cNvSpPr>
            <a:spLocks noGrp="1" noChangeArrowheads="1"/>
          </p:cNvSpPr>
          <p:nvPr>
            <p:ph type="body" idx="4294967295"/>
          </p:nvPr>
        </p:nvSpPr>
        <p:spPr>
          <a:xfrm>
            <a:off x="0" y="2565400"/>
            <a:ext cx="8713788" cy="3095625"/>
          </a:xfrm>
        </p:spPr>
        <p:txBody>
          <a:bodyPr/>
          <a:lstStyle/>
          <a:p>
            <a:pPr eaLnBrk="1" hangingPunct="1">
              <a:lnSpc>
                <a:spcPct val="90000"/>
              </a:lnSpc>
              <a:buFont typeface="Wingdings" pitchFamily="2" charset="2"/>
              <a:buNone/>
            </a:pPr>
            <a:r>
              <a:rPr lang="zh-CN" altLang="en-US" sz="2400" dirty="0" smtClean="0">
                <a:latin typeface="楷体_GB2312" pitchFamily="49" charset="-122"/>
                <a:ea typeface="楷体_GB2312" pitchFamily="49" charset="-122"/>
              </a:rPr>
              <a:t>解：顺序存储器和交叉存储器连续读出</a:t>
            </a:r>
            <a:r>
              <a:rPr lang="en-US" altLang="zh-CN" sz="2400" dirty="0" smtClean="0">
                <a:latin typeface="楷体_GB2312" pitchFamily="49" charset="-122"/>
                <a:ea typeface="楷体_GB2312" pitchFamily="49" charset="-122"/>
              </a:rPr>
              <a:t>m=4</a:t>
            </a:r>
            <a:r>
              <a:rPr lang="zh-CN" altLang="en-US" sz="2400" dirty="0" smtClean="0">
                <a:latin typeface="楷体_GB2312" pitchFamily="49" charset="-122"/>
                <a:ea typeface="楷体_GB2312" pitchFamily="49" charset="-122"/>
              </a:rPr>
              <a:t>个字的信息总量都是：	</a:t>
            </a:r>
            <a:r>
              <a:rPr lang="en-US" altLang="zh-CN" sz="2400" dirty="0" smtClean="0">
                <a:latin typeface="楷体_GB2312" pitchFamily="49" charset="-122"/>
                <a:ea typeface="楷体_GB2312" pitchFamily="49" charset="-122"/>
              </a:rPr>
              <a:t>q=64b×4=256b</a:t>
            </a:r>
          </a:p>
          <a:p>
            <a:pPr eaLnBrk="1" hangingPunct="1">
              <a:lnSpc>
                <a:spcPct val="90000"/>
              </a:lnSpc>
              <a:buFont typeface="Wingdings" pitchFamily="2" charset="2"/>
              <a:buNone/>
            </a:pPr>
            <a:r>
              <a:rPr lang="en-US" altLang="zh-CN" sz="2400" dirty="0" smtClean="0">
                <a:latin typeface="楷体_GB2312" pitchFamily="49" charset="-122"/>
                <a:ea typeface="楷体_GB2312" pitchFamily="49" charset="-122"/>
              </a:rPr>
              <a:t>    </a:t>
            </a:r>
            <a:r>
              <a:rPr lang="zh-CN" altLang="en-US" sz="2400" dirty="0" smtClean="0">
                <a:latin typeface="楷体_GB2312" pitchFamily="49" charset="-122"/>
                <a:ea typeface="楷体_GB2312" pitchFamily="49" charset="-122"/>
              </a:rPr>
              <a:t>顺序存储器和交叉存储器连续读出</a:t>
            </a:r>
            <a:r>
              <a:rPr lang="en-US" altLang="zh-CN" sz="2400" dirty="0" smtClean="0">
                <a:latin typeface="楷体_GB2312" pitchFamily="49" charset="-122"/>
                <a:ea typeface="楷体_GB2312" pitchFamily="49" charset="-122"/>
              </a:rPr>
              <a:t>4</a:t>
            </a:r>
            <a:r>
              <a:rPr lang="zh-CN" altLang="en-US" sz="2400" dirty="0" smtClean="0">
                <a:latin typeface="楷体_GB2312" pitchFamily="49" charset="-122"/>
                <a:ea typeface="楷体_GB2312" pitchFamily="49" charset="-122"/>
              </a:rPr>
              <a:t>个字所需的时间分别是：      </a:t>
            </a:r>
          </a:p>
          <a:p>
            <a:pPr eaLnBrk="1" hangingPunct="1">
              <a:lnSpc>
                <a:spcPct val="90000"/>
              </a:lnSpc>
              <a:buFont typeface="Wingdings" pitchFamily="2" charset="2"/>
              <a:buNone/>
            </a:pPr>
            <a:r>
              <a:rPr lang="zh-CN" altLang="en-US" sz="2400" dirty="0" smtClean="0">
                <a:latin typeface="楷体_GB2312" pitchFamily="49" charset="-122"/>
                <a:ea typeface="楷体_GB2312" pitchFamily="49" charset="-122"/>
              </a:rPr>
              <a:t>      </a:t>
            </a:r>
            <a:r>
              <a:rPr lang="en-US" altLang="zh-CN" sz="2400" dirty="0" smtClean="0">
                <a:latin typeface="楷体_GB2312" pitchFamily="49" charset="-122"/>
                <a:ea typeface="楷体_GB2312" pitchFamily="49" charset="-122"/>
              </a:rPr>
              <a:t>t2=</a:t>
            </a:r>
            <a:r>
              <a:rPr lang="en-US" altLang="zh-CN" sz="2400" dirty="0" err="1" smtClean="0">
                <a:latin typeface="楷体_GB2312" pitchFamily="49" charset="-122"/>
                <a:ea typeface="楷体_GB2312" pitchFamily="49" charset="-122"/>
              </a:rPr>
              <a:t>mT</a:t>
            </a:r>
            <a:r>
              <a:rPr lang="en-US" altLang="zh-CN" sz="2400" dirty="0" smtClean="0">
                <a:latin typeface="楷体_GB2312" pitchFamily="49" charset="-122"/>
                <a:ea typeface="楷体_GB2312" pitchFamily="49" charset="-122"/>
              </a:rPr>
              <a:t>=4×200ns=800ns=8×10</a:t>
            </a:r>
            <a:r>
              <a:rPr lang="en-US" altLang="zh-CN" sz="2400" baseline="30000" dirty="0" smtClean="0">
                <a:latin typeface="楷体_GB2312" pitchFamily="49" charset="-122"/>
                <a:ea typeface="楷体_GB2312" pitchFamily="49" charset="-122"/>
              </a:rPr>
              <a:t>-7</a:t>
            </a:r>
            <a:r>
              <a:rPr lang="en-US" altLang="zh-CN" sz="2400" dirty="0" smtClean="0">
                <a:latin typeface="楷体_GB2312" pitchFamily="49" charset="-122"/>
                <a:ea typeface="楷体_GB2312" pitchFamily="49" charset="-122"/>
              </a:rPr>
              <a:t>s</a:t>
            </a:r>
          </a:p>
          <a:p>
            <a:pPr eaLnBrk="1" hangingPunct="1">
              <a:lnSpc>
                <a:spcPct val="90000"/>
              </a:lnSpc>
              <a:buFont typeface="Wingdings" pitchFamily="2" charset="2"/>
              <a:buNone/>
            </a:pPr>
            <a:r>
              <a:rPr lang="en-US" altLang="zh-CN" sz="2400" dirty="0" smtClean="0">
                <a:latin typeface="楷体_GB2312" pitchFamily="49" charset="-122"/>
                <a:ea typeface="楷体_GB2312" pitchFamily="49" charset="-122"/>
              </a:rPr>
              <a:t>      t1=T+(m-1)τ=200ns + 3 x 50ns=350ns=3.5×10</a:t>
            </a:r>
            <a:r>
              <a:rPr lang="en-US" altLang="zh-CN" sz="2400" baseline="30000" dirty="0" smtClean="0">
                <a:latin typeface="楷体_GB2312" pitchFamily="49" charset="-122"/>
                <a:ea typeface="楷体_GB2312" pitchFamily="49" charset="-122"/>
              </a:rPr>
              <a:t>-7</a:t>
            </a:r>
            <a:r>
              <a:rPr lang="en-US" altLang="zh-CN" sz="2400" dirty="0" smtClean="0">
                <a:latin typeface="楷体_GB2312" pitchFamily="49" charset="-122"/>
                <a:ea typeface="楷体_GB2312" pitchFamily="49" charset="-122"/>
              </a:rPr>
              <a:t>s</a:t>
            </a:r>
          </a:p>
          <a:p>
            <a:pPr eaLnBrk="1" hangingPunct="1">
              <a:lnSpc>
                <a:spcPct val="90000"/>
              </a:lnSpc>
              <a:buFont typeface="Wingdings" pitchFamily="2" charset="2"/>
              <a:buNone/>
            </a:pPr>
            <a:r>
              <a:rPr lang="en-US" altLang="zh-CN" sz="2400" dirty="0" smtClean="0">
                <a:latin typeface="楷体_GB2312" pitchFamily="49" charset="-122"/>
                <a:ea typeface="楷体_GB2312" pitchFamily="49" charset="-122"/>
              </a:rPr>
              <a:t>    </a:t>
            </a:r>
            <a:r>
              <a:rPr lang="zh-CN" altLang="en-US" sz="2400" dirty="0" smtClean="0">
                <a:latin typeface="楷体_GB2312" pitchFamily="49" charset="-122"/>
                <a:ea typeface="楷体_GB2312" pitchFamily="49" charset="-122"/>
              </a:rPr>
              <a:t>顺序存储器和交叉存储器的带宽分别是：</a:t>
            </a:r>
          </a:p>
          <a:p>
            <a:pPr eaLnBrk="1" hangingPunct="1">
              <a:lnSpc>
                <a:spcPct val="90000"/>
              </a:lnSpc>
              <a:buFont typeface="Wingdings" pitchFamily="2" charset="2"/>
              <a:buNone/>
            </a:pPr>
            <a:r>
              <a:rPr lang="zh-CN" altLang="en-US" sz="2400" dirty="0" smtClean="0">
                <a:latin typeface="楷体_GB2312" pitchFamily="49" charset="-122"/>
                <a:ea typeface="楷体_GB2312" pitchFamily="49" charset="-122"/>
              </a:rPr>
              <a:t>      </a:t>
            </a:r>
            <a:r>
              <a:rPr lang="en-US" altLang="zh-CN" sz="2400" dirty="0" smtClean="0">
                <a:latin typeface="楷体_GB2312" pitchFamily="49" charset="-122"/>
                <a:ea typeface="楷体_GB2312" pitchFamily="49" charset="-122"/>
              </a:rPr>
              <a:t>W2=q/t2=256b÷(8×10</a:t>
            </a:r>
            <a:r>
              <a:rPr lang="en-US" altLang="zh-CN" sz="2400" baseline="30000" dirty="0" smtClean="0">
                <a:latin typeface="楷体_GB2312" pitchFamily="49" charset="-122"/>
                <a:ea typeface="楷体_GB2312" pitchFamily="49" charset="-122"/>
              </a:rPr>
              <a:t>-7</a:t>
            </a:r>
            <a:r>
              <a:rPr lang="en-US" altLang="zh-CN" sz="2400" dirty="0" smtClean="0">
                <a:latin typeface="楷体_GB2312" pitchFamily="49" charset="-122"/>
                <a:ea typeface="楷体_GB2312" pitchFamily="49" charset="-122"/>
              </a:rPr>
              <a:t>)s=320Mb/s</a:t>
            </a:r>
          </a:p>
          <a:p>
            <a:pPr eaLnBrk="1" hangingPunct="1">
              <a:lnSpc>
                <a:spcPct val="90000"/>
              </a:lnSpc>
              <a:buFont typeface="Wingdings" pitchFamily="2" charset="2"/>
              <a:buNone/>
            </a:pPr>
            <a:r>
              <a:rPr lang="en-US" altLang="zh-CN" sz="2400" dirty="0" smtClean="0">
                <a:latin typeface="楷体_GB2312" pitchFamily="49" charset="-122"/>
                <a:ea typeface="楷体_GB2312" pitchFamily="49" charset="-122"/>
              </a:rPr>
              <a:t>      W1=q/t1=256b÷(3.5×10</a:t>
            </a:r>
            <a:r>
              <a:rPr lang="en-US" altLang="zh-CN" sz="2400" baseline="30000" dirty="0" smtClean="0">
                <a:latin typeface="楷体_GB2312" pitchFamily="49" charset="-122"/>
                <a:ea typeface="楷体_GB2312" pitchFamily="49" charset="-122"/>
              </a:rPr>
              <a:t>-7</a:t>
            </a:r>
            <a:r>
              <a:rPr lang="en-US" altLang="zh-CN" sz="2400" dirty="0" smtClean="0">
                <a:latin typeface="楷体_GB2312" pitchFamily="49" charset="-122"/>
                <a:ea typeface="楷体_GB2312" pitchFamily="49" charset="-122"/>
              </a:rPr>
              <a:t>)s=730Mb/s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BC08BFFC-A78A-416C-9322-CB8AB194EFAD}" type="slidenum">
              <a:rPr lang="en-US" altLang="zh-CN"/>
              <a:pPr>
                <a:defRPr/>
              </a:pPr>
              <a:t>56</a:t>
            </a:fld>
            <a:endParaRPr lang="en-US" altLang="zh-CN"/>
          </a:p>
        </p:txBody>
      </p:sp>
      <p:sp>
        <p:nvSpPr>
          <p:cNvPr id="83971" name="Rectangle 4"/>
          <p:cNvSpPr>
            <a:spLocks noChangeArrowheads="1"/>
          </p:cNvSpPr>
          <p:nvPr/>
        </p:nvSpPr>
        <p:spPr bwMode="auto">
          <a:xfrm>
            <a:off x="323850" y="260350"/>
            <a:ext cx="7632700" cy="604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en-US" altLang="zh-CN" b="1">
                <a:solidFill>
                  <a:schemeClr val="tx2"/>
                </a:solidFill>
                <a:latin typeface="楷体_GB2312" pitchFamily="49" charset="-122"/>
              </a:rPr>
              <a:t>P102-11 </a:t>
            </a:r>
            <a:r>
              <a:rPr lang="zh-CN" altLang="en-US" b="1">
                <a:solidFill>
                  <a:schemeClr val="tx2"/>
                </a:solidFill>
                <a:latin typeface="楷体_GB2312" pitchFamily="49" charset="-122"/>
              </a:rPr>
              <a:t>某机器采用四体交叉存储器，今执行一段小循环程序，此程序放在存储器的连续地址单元中，假设每条指令的执行时间相等，而且不需要到存储器中存取数据，请问在下面两种情况中（执行的指令数相等），程序运行的时间是否相等？</a:t>
            </a:r>
            <a:br>
              <a:rPr lang="zh-CN" altLang="en-US" b="1">
                <a:solidFill>
                  <a:schemeClr val="tx2"/>
                </a:solidFill>
                <a:latin typeface="楷体_GB2312" pitchFamily="49" charset="-122"/>
              </a:rPr>
            </a:br>
            <a:r>
              <a:rPr lang="zh-CN" altLang="en-US" b="1">
                <a:solidFill>
                  <a:schemeClr val="tx2"/>
                </a:solidFill>
                <a:latin typeface="楷体_GB2312" pitchFamily="49" charset="-122"/>
              </a:rPr>
              <a:t>（</a:t>
            </a:r>
            <a:r>
              <a:rPr lang="en-US" altLang="zh-CN" b="1">
                <a:solidFill>
                  <a:schemeClr val="tx2"/>
                </a:solidFill>
                <a:latin typeface="楷体_GB2312" pitchFamily="49" charset="-122"/>
              </a:rPr>
              <a:t>1</a:t>
            </a:r>
            <a:r>
              <a:rPr lang="zh-CN" altLang="en-US" b="1">
                <a:solidFill>
                  <a:schemeClr val="tx2"/>
                </a:solidFill>
                <a:latin typeface="楷体_GB2312" pitchFamily="49" charset="-122"/>
              </a:rPr>
              <a:t>）循环程序由</a:t>
            </a:r>
            <a:r>
              <a:rPr lang="en-US" altLang="zh-CN" b="1">
                <a:solidFill>
                  <a:schemeClr val="tx2"/>
                </a:solidFill>
                <a:latin typeface="楷体_GB2312" pitchFamily="49" charset="-122"/>
              </a:rPr>
              <a:t>6</a:t>
            </a:r>
            <a:r>
              <a:rPr lang="zh-CN" altLang="en-US" b="1">
                <a:solidFill>
                  <a:schemeClr val="tx2"/>
                </a:solidFill>
                <a:latin typeface="楷体_GB2312" pitchFamily="49" charset="-122"/>
              </a:rPr>
              <a:t>条指令组成，重复执行</a:t>
            </a:r>
            <a:r>
              <a:rPr lang="en-US" altLang="zh-CN" b="1">
                <a:solidFill>
                  <a:schemeClr val="tx2"/>
                </a:solidFill>
                <a:latin typeface="楷体_GB2312" pitchFamily="49" charset="-122"/>
              </a:rPr>
              <a:t>80</a:t>
            </a:r>
            <a:r>
              <a:rPr lang="zh-CN" altLang="en-US" b="1">
                <a:solidFill>
                  <a:schemeClr val="tx2"/>
                </a:solidFill>
                <a:latin typeface="楷体_GB2312" pitchFamily="49" charset="-122"/>
              </a:rPr>
              <a:t>次。</a:t>
            </a:r>
            <a:br>
              <a:rPr lang="zh-CN" altLang="en-US" b="1">
                <a:solidFill>
                  <a:schemeClr val="tx2"/>
                </a:solidFill>
                <a:latin typeface="楷体_GB2312" pitchFamily="49" charset="-122"/>
              </a:rPr>
            </a:br>
            <a:r>
              <a:rPr lang="zh-CN" altLang="en-US" b="1">
                <a:solidFill>
                  <a:schemeClr val="tx2"/>
                </a:solidFill>
                <a:latin typeface="楷体_GB2312" pitchFamily="49" charset="-122"/>
              </a:rPr>
              <a:t>（</a:t>
            </a:r>
            <a:r>
              <a:rPr lang="en-US" altLang="zh-CN" b="1">
                <a:solidFill>
                  <a:schemeClr val="tx2"/>
                </a:solidFill>
                <a:latin typeface="楷体_GB2312" pitchFamily="49" charset="-122"/>
              </a:rPr>
              <a:t>2</a:t>
            </a:r>
            <a:r>
              <a:rPr lang="zh-CN" altLang="en-US" b="1">
                <a:solidFill>
                  <a:schemeClr val="tx2"/>
                </a:solidFill>
                <a:latin typeface="楷体_GB2312" pitchFamily="49" charset="-122"/>
              </a:rPr>
              <a:t>）循环程序由</a:t>
            </a:r>
            <a:r>
              <a:rPr lang="en-US" altLang="zh-CN" b="1">
                <a:solidFill>
                  <a:schemeClr val="tx2"/>
                </a:solidFill>
                <a:latin typeface="楷体_GB2312" pitchFamily="49" charset="-122"/>
              </a:rPr>
              <a:t>8</a:t>
            </a:r>
            <a:r>
              <a:rPr lang="zh-CN" altLang="en-US" b="1">
                <a:solidFill>
                  <a:schemeClr val="tx2"/>
                </a:solidFill>
                <a:latin typeface="楷体_GB2312" pitchFamily="49" charset="-122"/>
              </a:rPr>
              <a:t>条指令组成，重复执行</a:t>
            </a:r>
            <a:r>
              <a:rPr lang="en-US" altLang="zh-CN" b="1">
                <a:solidFill>
                  <a:schemeClr val="tx2"/>
                </a:solidFill>
                <a:latin typeface="楷体_GB2312" pitchFamily="49" charset="-122"/>
              </a:rPr>
              <a:t>60</a:t>
            </a:r>
            <a:r>
              <a:rPr lang="zh-CN" altLang="en-US" b="1">
                <a:solidFill>
                  <a:schemeClr val="tx2"/>
                </a:solidFill>
                <a:latin typeface="楷体_GB2312" pitchFamily="49" charset="-122"/>
              </a:rPr>
              <a:t>次。</a:t>
            </a:r>
            <a:br>
              <a:rPr lang="zh-CN" altLang="en-US" b="1">
                <a:solidFill>
                  <a:schemeClr val="tx2"/>
                </a:solidFill>
                <a:latin typeface="楷体_GB2312" pitchFamily="49" charset="-122"/>
              </a:rPr>
            </a:br>
            <a:r>
              <a:rPr lang="zh-CN" altLang="en-US" b="1">
                <a:solidFill>
                  <a:schemeClr val="tx2"/>
                </a:solidFill>
                <a:latin typeface="楷体_GB2312" pitchFamily="49" charset="-122"/>
              </a:rPr>
              <a:t>解：设取指令时间为</a:t>
            </a:r>
            <a:r>
              <a:rPr lang="en-US" altLang="zh-CN" b="1">
                <a:solidFill>
                  <a:schemeClr val="tx2"/>
                </a:solidFill>
                <a:latin typeface="楷体_GB2312" pitchFamily="49" charset="-122"/>
              </a:rPr>
              <a:t>T</a:t>
            </a:r>
            <a:r>
              <a:rPr lang="zh-CN" altLang="en-US" b="1">
                <a:solidFill>
                  <a:schemeClr val="tx2"/>
                </a:solidFill>
                <a:latin typeface="楷体_GB2312" pitchFamily="49" charset="-122"/>
              </a:rPr>
              <a:t>，总线传递周期为</a:t>
            </a:r>
            <a:r>
              <a:rPr lang="en-US" altLang="zh-CN">
                <a:latin typeface="楷体_GB2312" pitchFamily="49" charset="-122"/>
              </a:rPr>
              <a:t>τ</a:t>
            </a:r>
            <a:r>
              <a:rPr lang="zh-CN" altLang="en-US" b="1">
                <a:solidFill>
                  <a:schemeClr val="tx2"/>
                </a:solidFill>
                <a:latin typeface="楷体_GB2312" pitchFamily="49" charset="-122"/>
              </a:rPr>
              <a:t>，</a:t>
            </a:r>
            <a:br>
              <a:rPr lang="zh-CN" altLang="en-US" b="1">
                <a:solidFill>
                  <a:schemeClr val="tx2"/>
                </a:solidFill>
                <a:latin typeface="楷体_GB2312" pitchFamily="49" charset="-122"/>
              </a:rPr>
            </a:br>
            <a:r>
              <a:rPr lang="zh-CN" altLang="en-US" b="1">
                <a:solidFill>
                  <a:schemeClr val="tx2"/>
                </a:solidFill>
                <a:latin typeface="楷体_GB2312" pitchFamily="49" charset="-122"/>
              </a:rPr>
              <a:t>    指令执行时间为</a:t>
            </a:r>
            <a:r>
              <a:rPr lang="en-US" altLang="zh-CN" b="1">
                <a:solidFill>
                  <a:schemeClr val="tx2"/>
                </a:solidFill>
                <a:latin typeface="楷体_GB2312" pitchFamily="49" charset="-122"/>
              </a:rPr>
              <a:t>t</a:t>
            </a:r>
            <a:r>
              <a:rPr lang="en-US" altLang="zh-CN" b="1" baseline="-25000">
                <a:solidFill>
                  <a:schemeClr val="tx2"/>
                </a:solidFill>
                <a:latin typeface="楷体_GB2312" pitchFamily="49" charset="-122"/>
              </a:rPr>
              <a:t>0</a:t>
            </a:r>
            <a:br>
              <a:rPr lang="en-US" altLang="zh-CN" b="1" baseline="-25000">
                <a:solidFill>
                  <a:schemeClr val="tx2"/>
                </a:solidFill>
                <a:latin typeface="楷体_GB2312" pitchFamily="49" charset="-122"/>
              </a:rPr>
            </a:br>
            <a:r>
              <a:rPr lang="zh-CN" altLang="en-US" b="1">
                <a:solidFill>
                  <a:schemeClr val="tx2"/>
                </a:solidFill>
                <a:latin typeface="楷体_GB2312" pitchFamily="49" charset="-122"/>
              </a:rPr>
              <a:t>（</a:t>
            </a:r>
            <a:r>
              <a:rPr lang="en-US" altLang="zh-CN" b="1">
                <a:solidFill>
                  <a:schemeClr val="tx2"/>
                </a:solidFill>
                <a:latin typeface="楷体_GB2312" pitchFamily="49" charset="-122"/>
              </a:rPr>
              <a:t>1</a:t>
            </a:r>
            <a:r>
              <a:rPr lang="zh-CN" altLang="en-US" b="1">
                <a:solidFill>
                  <a:schemeClr val="tx2"/>
                </a:solidFill>
                <a:latin typeface="楷体_GB2312" pitchFamily="49" charset="-122"/>
              </a:rPr>
              <a:t>）</a:t>
            </a:r>
            <a:r>
              <a:rPr lang="en-US" altLang="zh-CN" b="1">
                <a:solidFill>
                  <a:schemeClr val="tx2"/>
                </a:solidFill>
                <a:latin typeface="楷体_GB2312" pitchFamily="49" charset="-122"/>
              </a:rPr>
              <a:t>t =</a:t>
            </a:r>
            <a:r>
              <a:rPr lang="zh-CN" altLang="en-US" b="1">
                <a:solidFill>
                  <a:schemeClr val="tx2"/>
                </a:solidFill>
                <a:latin typeface="楷体_GB2312" pitchFamily="49" charset="-122"/>
              </a:rPr>
              <a:t>（</a:t>
            </a:r>
            <a:r>
              <a:rPr lang="en-US" altLang="zh-CN" b="1">
                <a:solidFill>
                  <a:schemeClr val="tx2"/>
                </a:solidFill>
                <a:latin typeface="楷体_GB2312" pitchFamily="49" charset="-122"/>
              </a:rPr>
              <a:t>T+5</a:t>
            </a:r>
            <a:r>
              <a:rPr lang="en-US" altLang="zh-CN">
                <a:latin typeface="楷体_GB2312" pitchFamily="49" charset="-122"/>
              </a:rPr>
              <a:t>τ</a:t>
            </a:r>
            <a:r>
              <a:rPr lang="en-US" altLang="zh-CN" b="1">
                <a:solidFill>
                  <a:schemeClr val="tx2"/>
                </a:solidFill>
                <a:latin typeface="楷体_GB2312" pitchFamily="49" charset="-122"/>
              </a:rPr>
              <a:t>+6t</a:t>
            </a:r>
            <a:r>
              <a:rPr lang="en-US" altLang="zh-CN" b="1" baseline="-25000">
                <a:solidFill>
                  <a:schemeClr val="tx2"/>
                </a:solidFill>
                <a:latin typeface="楷体_GB2312" pitchFamily="49" charset="-122"/>
              </a:rPr>
              <a:t>0</a:t>
            </a:r>
            <a:r>
              <a:rPr lang="zh-CN" altLang="en-US" b="1">
                <a:solidFill>
                  <a:schemeClr val="tx2"/>
                </a:solidFill>
                <a:latin typeface="楷体_GB2312" pitchFamily="49" charset="-122"/>
              </a:rPr>
              <a:t>）*</a:t>
            </a:r>
            <a:r>
              <a:rPr lang="en-US" altLang="zh-CN" b="1">
                <a:solidFill>
                  <a:schemeClr val="tx2"/>
                </a:solidFill>
                <a:latin typeface="楷体_GB2312" pitchFamily="49" charset="-122"/>
              </a:rPr>
              <a:t>80=80T+400</a:t>
            </a:r>
            <a:r>
              <a:rPr lang="en-US" altLang="zh-CN">
                <a:latin typeface="楷体_GB2312" pitchFamily="49" charset="-122"/>
              </a:rPr>
              <a:t>τ</a:t>
            </a:r>
            <a:r>
              <a:rPr lang="en-US" altLang="zh-CN" b="1">
                <a:solidFill>
                  <a:schemeClr val="tx2"/>
                </a:solidFill>
                <a:latin typeface="楷体_GB2312" pitchFamily="49" charset="-122"/>
              </a:rPr>
              <a:t>+480t</a:t>
            </a:r>
            <a:r>
              <a:rPr lang="en-US" altLang="zh-CN" b="1" baseline="-25000">
                <a:solidFill>
                  <a:schemeClr val="tx2"/>
                </a:solidFill>
                <a:latin typeface="楷体_GB2312" pitchFamily="49" charset="-122"/>
              </a:rPr>
              <a:t>0</a:t>
            </a:r>
            <a:br>
              <a:rPr lang="en-US" altLang="zh-CN" b="1" baseline="-25000">
                <a:solidFill>
                  <a:schemeClr val="tx2"/>
                </a:solidFill>
                <a:latin typeface="楷体_GB2312" pitchFamily="49" charset="-122"/>
              </a:rPr>
            </a:br>
            <a:r>
              <a:rPr lang="zh-CN" altLang="en-US" b="1">
                <a:solidFill>
                  <a:schemeClr val="tx2"/>
                </a:solidFill>
                <a:latin typeface="楷体_GB2312" pitchFamily="49" charset="-122"/>
              </a:rPr>
              <a:t>（</a:t>
            </a:r>
            <a:r>
              <a:rPr lang="en-US" altLang="zh-CN" b="1">
                <a:solidFill>
                  <a:schemeClr val="tx2"/>
                </a:solidFill>
                <a:latin typeface="楷体_GB2312" pitchFamily="49" charset="-122"/>
              </a:rPr>
              <a:t>2</a:t>
            </a:r>
            <a:r>
              <a:rPr lang="zh-CN" altLang="en-US" b="1">
                <a:solidFill>
                  <a:schemeClr val="tx2"/>
                </a:solidFill>
                <a:latin typeface="楷体_GB2312" pitchFamily="49" charset="-122"/>
              </a:rPr>
              <a:t>）</a:t>
            </a:r>
            <a:r>
              <a:rPr lang="en-US" altLang="zh-CN" b="1">
                <a:solidFill>
                  <a:schemeClr val="tx2"/>
                </a:solidFill>
                <a:latin typeface="楷体_GB2312" pitchFamily="49" charset="-122"/>
              </a:rPr>
              <a:t>t =</a:t>
            </a:r>
            <a:r>
              <a:rPr lang="zh-CN" altLang="en-US" b="1">
                <a:solidFill>
                  <a:schemeClr val="tx2"/>
                </a:solidFill>
                <a:latin typeface="楷体_GB2312" pitchFamily="49" charset="-122"/>
              </a:rPr>
              <a:t>（</a:t>
            </a:r>
            <a:r>
              <a:rPr lang="en-US" altLang="zh-CN" b="1">
                <a:solidFill>
                  <a:schemeClr val="tx2"/>
                </a:solidFill>
                <a:latin typeface="楷体_GB2312" pitchFamily="49" charset="-122"/>
              </a:rPr>
              <a:t>T+7</a:t>
            </a:r>
            <a:r>
              <a:rPr lang="en-US" altLang="zh-CN">
                <a:latin typeface="楷体_GB2312" pitchFamily="49" charset="-122"/>
              </a:rPr>
              <a:t>τ</a:t>
            </a:r>
            <a:r>
              <a:rPr lang="en-US" altLang="zh-CN" b="1">
                <a:solidFill>
                  <a:schemeClr val="tx2"/>
                </a:solidFill>
                <a:latin typeface="楷体_GB2312" pitchFamily="49" charset="-122"/>
              </a:rPr>
              <a:t>+8t</a:t>
            </a:r>
            <a:r>
              <a:rPr lang="en-US" altLang="zh-CN" b="1" baseline="-25000">
                <a:solidFill>
                  <a:schemeClr val="tx2"/>
                </a:solidFill>
                <a:latin typeface="楷体_GB2312" pitchFamily="49" charset="-122"/>
              </a:rPr>
              <a:t>0</a:t>
            </a:r>
            <a:r>
              <a:rPr lang="zh-CN" altLang="en-US" b="1">
                <a:solidFill>
                  <a:schemeClr val="tx2"/>
                </a:solidFill>
                <a:latin typeface="楷体_GB2312" pitchFamily="49" charset="-122"/>
              </a:rPr>
              <a:t>）*</a:t>
            </a:r>
            <a:r>
              <a:rPr lang="en-US" altLang="zh-CN" b="1">
                <a:solidFill>
                  <a:schemeClr val="tx2"/>
                </a:solidFill>
                <a:latin typeface="楷体_GB2312" pitchFamily="49" charset="-122"/>
              </a:rPr>
              <a:t>60=60T+420</a:t>
            </a:r>
            <a:r>
              <a:rPr lang="en-US" altLang="zh-CN">
                <a:latin typeface="楷体_GB2312" pitchFamily="49" charset="-122"/>
              </a:rPr>
              <a:t>τ</a:t>
            </a:r>
            <a:r>
              <a:rPr lang="en-US" altLang="zh-CN" b="1">
                <a:solidFill>
                  <a:schemeClr val="tx2"/>
                </a:solidFill>
                <a:latin typeface="楷体_GB2312" pitchFamily="49" charset="-122"/>
              </a:rPr>
              <a:t>+480t</a:t>
            </a:r>
            <a:r>
              <a:rPr lang="en-US" altLang="zh-CN" b="1" baseline="-25000">
                <a:solidFill>
                  <a:schemeClr val="tx2"/>
                </a:solidFill>
                <a:latin typeface="楷体_GB2312" pitchFamily="49" charset="-122"/>
              </a:rPr>
              <a:t>0</a:t>
            </a:r>
            <a:br>
              <a:rPr lang="en-US" altLang="zh-CN" b="1" baseline="-25000">
                <a:solidFill>
                  <a:schemeClr val="tx2"/>
                </a:solidFill>
                <a:latin typeface="楷体_GB2312" pitchFamily="49" charset="-122"/>
              </a:rPr>
            </a:br>
            <a:r>
              <a:rPr lang="en-US" altLang="zh-CN" b="1">
                <a:solidFill>
                  <a:schemeClr val="tx2"/>
                </a:solidFill>
                <a:latin typeface="楷体_GB2312" pitchFamily="49" charset="-122"/>
              </a:rPr>
              <a:t> </a:t>
            </a:r>
            <a:r>
              <a:rPr lang="zh-CN" altLang="en-US" b="1">
                <a:solidFill>
                  <a:schemeClr val="tx2"/>
                </a:solidFill>
                <a:latin typeface="楷体_GB2312" pitchFamily="49" charset="-122"/>
              </a:rPr>
              <a:t>所以不相等</a:t>
            </a:r>
            <a:br>
              <a:rPr lang="zh-CN" altLang="en-US" b="1">
                <a:solidFill>
                  <a:schemeClr val="tx2"/>
                </a:solidFill>
                <a:latin typeface="楷体_GB2312" pitchFamily="49" charset="-122"/>
              </a:rPr>
            </a:br>
            <a:endParaRPr lang="zh-CN" altLang="en-US" b="1" baseline="-25000">
              <a:solidFill>
                <a:schemeClr val="tx2"/>
              </a:solidFill>
              <a:latin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A6D51EC2-A48B-417E-942F-4B45673914E9}" type="slidenum">
              <a:rPr lang="en-US" altLang="zh-CN"/>
              <a:pPr>
                <a:defRPr/>
              </a:pPr>
              <a:t>57</a:t>
            </a:fld>
            <a:endParaRPr lang="en-US" altLang="zh-CN"/>
          </a:p>
        </p:txBody>
      </p:sp>
      <p:pic>
        <p:nvPicPr>
          <p:cNvPr id="84995" name="Picture 2" descr="3a29">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750" y="1341438"/>
            <a:ext cx="7488238" cy="477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6" name="Rectangle 3"/>
          <p:cNvSpPr>
            <a:spLocks noGrp="1" noChangeArrowheads="1"/>
          </p:cNvSpPr>
          <p:nvPr>
            <p:ph type="title"/>
          </p:nvPr>
        </p:nvSpPr>
        <p:spPr>
          <a:xfrm>
            <a:off x="395288" y="333375"/>
            <a:ext cx="7543800" cy="652463"/>
          </a:xfrm>
        </p:spPr>
        <p:txBody>
          <a:bodyPr/>
          <a:lstStyle/>
          <a:p>
            <a:pPr eaLnBrk="1" hangingPunct="1"/>
            <a:r>
              <a:rPr lang="zh-CN" altLang="en-US" sz="3600" smtClean="0">
                <a:ea typeface="楷体_GB2312" pitchFamily="49" charset="-122"/>
              </a:rPr>
              <a:t>二模块交叉存储器举例</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1400023C-4CEF-4421-A5D3-775BE145F2BA}" type="slidenum">
              <a:rPr lang="en-US" altLang="zh-CN"/>
              <a:pPr>
                <a:defRPr/>
              </a:pPr>
              <a:t>58</a:t>
            </a:fld>
            <a:endParaRPr lang="en-US" altLang="zh-CN"/>
          </a:p>
        </p:txBody>
      </p:sp>
      <p:pic>
        <p:nvPicPr>
          <p:cNvPr id="86019" name="Picture 2" descr="3a30">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288" y="1916113"/>
            <a:ext cx="8280400"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0" name="Rectangle 3"/>
          <p:cNvSpPr>
            <a:spLocks noGrp="1" noChangeArrowheads="1"/>
          </p:cNvSpPr>
          <p:nvPr>
            <p:ph type="title"/>
          </p:nvPr>
        </p:nvSpPr>
        <p:spPr>
          <a:xfrm>
            <a:off x="323850" y="404813"/>
            <a:ext cx="7543800" cy="652462"/>
          </a:xfrm>
        </p:spPr>
        <p:txBody>
          <a:bodyPr/>
          <a:lstStyle/>
          <a:p>
            <a:pPr eaLnBrk="1" hangingPunct="1"/>
            <a:r>
              <a:rPr lang="zh-CN" altLang="en-US" sz="3600" smtClean="0">
                <a:ea typeface="楷体_GB2312" pitchFamily="49" charset="-122"/>
              </a:rPr>
              <a:t>二模块交叉存储器举例</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71C6065A-1274-4D5A-9E37-D63328322AFA}" type="slidenum">
              <a:rPr lang="en-US" altLang="zh-CN"/>
              <a:pPr>
                <a:defRPr/>
              </a:pPr>
              <a:t>59</a:t>
            </a:fld>
            <a:endParaRPr lang="en-US" altLang="zh-CN"/>
          </a:p>
        </p:txBody>
      </p:sp>
      <p:sp>
        <p:nvSpPr>
          <p:cNvPr id="87043" name="Rectangle 2"/>
          <p:cNvSpPr>
            <a:spLocks noGrp="1" noChangeArrowheads="1"/>
          </p:cNvSpPr>
          <p:nvPr>
            <p:ph type="title"/>
          </p:nvPr>
        </p:nvSpPr>
        <p:spPr>
          <a:xfrm>
            <a:off x="395288" y="260350"/>
            <a:ext cx="7543800" cy="581025"/>
          </a:xfrm>
        </p:spPr>
        <p:txBody>
          <a:bodyPr/>
          <a:lstStyle/>
          <a:p>
            <a:pPr eaLnBrk="1" hangingPunct="1"/>
            <a:r>
              <a:rPr lang="en-US" altLang="zh-CN" sz="4000" smtClean="0">
                <a:latin typeface="楷体_GB2312" pitchFamily="49" charset="-122"/>
                <a:ea typeface="楷体_GB2312" pitchFamily="49" charset="-122"/>
                <a:cs typeface="Times New Roman" charset="0"/>
              </a:rPr>
              <a:t>3.6 Cache</a:t>
            </a:r>
            <a:r>
              <a:rPr lang="zh-CN" altLang="en-US" sz="4000" smtClean="0">
                <a:latin typeface="楷体_GB2312" pitchFamily="49" charset="-122"/>
                <a:ea typeface="楷体_GB2312" pitchFamily="49" charset="-122"/>
                <a:cs typeface="Times New Roman" charset="0"/>
              </a:rPr>
              <a:t>存储器</a:t>
            </a:r>
          </a:p>
        </p:txBody>
      </p:sp>
      <p:sp>
        <p:nvSpPr>
          <p:cNvPr id="87044" name="Rectangle 3"/>
          <p:cNvSpPr>
            <a:spLocks noGrp="1" noChangeArrowheads="1"/>
          </p:cNvSpPr>
          <p:nvPr>
            <p:ph type="body" idx="1"/>
          </p:nvPr>
        </p:nvSpPr>
        <p:spPr>
          <a:xfrm>
            <a:off x="250825" y="3068638"/>
            <a:ext cx="8497888" cy="3455987"/>
          </a:xfrm>
        </p:spPr>
        <p:txBody>
          <a:bodyPr/>
          <a:lstStyle/>
          <a:p>
            <a:pPr eaLnBrk="1" hangingPunct="1">
              <a:buFont typeface="Wingdings" pitchFamily="2" charset="2"/>
              <a:buNone/>
            </a:pPr>
            <a:r>
              <a:rPr lang="en-US" altLang="zh-CN" sz="2400" smtClean="0">
                <a:latin typeface="楷体_GB2312" pitchFamily="49" charset="-122"/>
                <a:ea typeface="楷体_GB2312" pitchFamily="49" charset="-122"/>
              </a:rPr>
              <a:t>3.6.1 </a:t>
            </a:r>
            <a:r>
              <a:rPr lang="zh-CN" altLang="en-US" sz="2400" smtClean="0">
                <a:latin typeface="楷体_GB2312" pitchFamily="49" charset="-122"/>
                <a:ea typeface="楷体_GB2312" pitchFamily="49" charset="-122"/>
              </a:rPr>
              <a:t>基本原理</a:t>
            </a:r>
          </a:p>
          <a:p>
            <a:pPr eaLnBrk="1" hangingPunct="1">
              <a:buFont typeface="Wingdings" pitchFamily="2" charset="2"/>
              <a:buNone/>
            </a:pPr>
            <a:r>
              <a:rPr lang="en-US" altLang="zh-CN" sz="2400" smtClean="0">
                <a:latin typeface="楷体_GB2312" pitchFamily="49" charset="-122"/>
                <a:ea typeface="楷体_GB2312" pitchFamily="49" charset="-122"/>
              </a:rPr>
              <a:t>1.</a:t>
            </a:r>
            <a:r>
              <a:rPr lang="zh-CN" altLang="en-US" sz="2400" smtClean="0">
                <a:latin typeface="楷体_GB2312" pitchFamily="49" charset="-122"/>
                <a:ea typeface="楷体_GB2312" pitchFamily="49" charset="-122"/>
              </a:rPr>
              <a:t>功能：解决</a:t>
            </a:r>
            <a:r>
              <a:rPr lang="en-US" altLang="zh-CN" sz="2400" smtClean="0">
                <a:latin typeface="楷体_GB2312" pitchFamily="49" charset="-122"/>
                <a:ea typeface="楷体_GB2312" pitchFamily="49" charset="-122"/>
              </a:rPr>
              <a:t>CPU</a:t>
            </a:r>
            <a:r>
              <a:rPr lang="zh-CN" altLang="en-US" sz="2400" smtClean="0">
                <a:latin typeface="楷体_GB2312" pitchFamily="49" charset="-122"/>
                <a:ea typeface="楷体_GB2312" pitchFamily="49" charset="-122"/>
              </a:rPr>
              <a:t>和主存之间的速度不匹配问题</a:t>
            </a:r>
          </a:p>
          <a:p>
            <a:pPr lvl="1" eaLnBrk="1" hangingPunct="1"/>
            <a:r>
              <a:rPr lang="zh-CN" altLang="en-US" sz="2400" smtClean="0">
                <a:latin typeface="楷体_GB2312" pitchFamily="49" charset="-122"/>
                <a:ea typeface="楷体_GB2312" pitchFamily="49" charset="-122"/>
              </a:rPr>
              <a:t>一般采用高速的</a:t>
            </a:r>
            <a:r>
              <a:rPr lang="en-US" altLang="zh-CN" sz="2400" smtClean="0">
                <a:latin typeface="楷体_GB2312" pitchFamily="49" charset="-122"/>
                <a:ea typeface="楷体_GB2312" pitchFamily="49" charset="-122"/>
              </a:rPr>
              <a:t>SRAM</a:t>
            </a:r>
            <a:r>
              <a:rPr lang="zh-CN" altLang="en-US" sz="2400" smtClean="0">
                <a:latin typeface="楷体_GB2312" pitchFamily="49" charset="-122"/>
                <a:ea typeface="楷体_GB2312" pitchFamily="49" charset="-122"/>
              </a:rPr>
              <a:t>构成。</a:t>
            </a:r>
          </a:p>
          <a:p>
            <a:pPr lvl="1" eaLnBrk="1" hangingPunct="1"/>
            <a:r>
              <a:rPr lang="en-US" altLang="zh-CN" sz="2400" smtClean="0">
                <a:latin typeface="楷体_GB2312" pitchFamily="49" charset="-122"/>
                <a:ea typeface="楷体_GB2312" pitchFamily="49" charset="-122"/>
              </a:rPr>
              <a:t>CPU</a:t>
            </a:r>
            <a:r>
              <a:rPr lang="zh-CN" altLang="en-US" sz="2400" smtClean="0">
                <a:latin typeface="楷体_GB2312" pitchFamily="49" charset="-122"/>
                <a:ea typeface="楷体_GB2312" pitchFamily="49" charset="-122"/>
              </a:rPr>
              <a:t>和主存之间的速度差别很大采用两级或多级</a:t>
            </a:r>
            <a:r>
              <a:rPr lang="en-US" altLang="zh-CN" sz="2400" smtClean="0">
                <a:latin typeface="楷体_GB2312" pitchFamily="49" charset="-122"/>
                <a:ea typeface="楷体_GB2312" pitchFamily="49" charset="-122"/>
              </a:rPr>
              <a:t>Cache</a:t>
            </a:r>
            <a:r>
              <a:rPr lang="zh-CN" altLang="en-US" sz="2400" smtClean="0">
                <a:latin typeface="楷体_GB2312" pitchFamily="49" charset="-122"/>
                <a:ea typeface="楷体_GB2312" pitchFamily="49" charset="-122"/>
              </a:rPr>
              <a:t>系统</a:t>
            </a:r>
          </a:p>
          <a:p>
            <a:pPr lvl="1" eaLnBrk="1" hangingPunct="1"/>
            <a:r>
              <a:rPr lang="zh-CN" altLang="en-US" sz="2400" smtClean="0">
                <a:latin typeface="楷体_GB2312" pitchFamily="49" charset="-122"/>
                <a:ea typeface="楷体_GB2312" pitchFamily="49" charset="-122"/>
              </a:rPr>
              <a:t>早期的一级</a:t>
            </a:r>
            <a:r>
              <a:rPr lang="en-US" altLang="zh-CN" sz="2400" smtClean="0">
                <a:latin typeface="楷体_GB2312" pitchFamily="49" charset="-122"/>
                <a:ea typeface="楷体_GB2312" pitchFamily="49" charset="-122"/>
              </a:rPr>
              <a:t>Cache</a:t>
            </a:r>
            <a:r>
              <a:rPr lang="zh-CN" altLang="en-US" sz="2400" smtClean="0">
                <a:latin typeface="楷体_GB2312" pitchFamily="49" charset="-122"/>
                <a:ea typeface="楷体_GB2312" pitchFamily="49" charset="-122"/>
              </a:rPr>
              <a:t>在</a:t>
            </a:r>
            <a:r>
              <a:rPr lang="en-US" altLang="zh-CN" sz="2400" smtClean="0">
                <a:latin typeface="楷体_GB2312" pitchFamily="49" charset="-122"/>
                <a:ea typeface="楷体_GB2312" pitchFamily="49" charset="-122"/>
              </a:rPr>
              <a:t>CPU</a:t>
            </a:r>
            <a:r>
              <a:rPr lang="zh-CN" altLang="en-US" sz="2400" smtClean="0">
                <a:latin typeface="楷体_GB2312" pitchFamily="49" charset="-122"/>
                <a:ea typeface="楷体_GB2312" pitchFamily="49" charset="-122"/>
              </a:rPr>
              <a:t>内，二级在主板上</a:t>
            </a:r>
          </a:p>
          <a:p>
            <a:pPr lvl="1" eaLnBrk="1" hangingPunct="1"/>
            <a:r>
              <a:rPr lang="zh-CN" altLang="en-US" sz="2400" smtClean="0">
                <a:latin typeface="楷体_GB2312" pitchFamily="49" charset="-122"/>
                <a:ea typeface="楷体_GB2312" pitchFamily="49" charset="-122"/>
              </a:rPr>
              <a:t>现在的</a:t>
            </a:r>
            <a:r>
              <a:rPr lang="en-US" altLang="zh-CN" sz="2400" smtClean="0">
                <a:latin typeface="楷体_GB2312" pitchFamily="49" charset="-122"/>
                <a:ea typeface="楷体_GB2312" pitchFamily="49" charset="-122"/>
              </a:rPr>
              <a:t>CPU</a:t>
            </a:r>
            <a:r>
              <a:rPr lang="zh-CN" altLang="en-US" sz="2400" smtClean="0">
                <a:latin typeface="楷体_GB2312" pitchFamily="49" charset="-122"/>
                <a:ea typeface="楷体_GB2312" pitchFamily="49" charset="-122"/>
              </a:rPr>
              <a:t>内带</a:t>
            </a:r>
            <a:r>
              <a:rPr lang="en-US" altLang="zh-CN" sz="2400" smtClean="0">
                <a:latin typeface="楷体_GB2312" pitchFamily="49" charset="-122"/>
                <a:ea typeface="楷体_GB2312" pitchFamily="49" charset="-122"/>
              </a:rPr>
              <a:t>L1 Cache</a:t>
            </a:r>
            <a:r>
              <a:rPr lang="zh-CN" altLang="en-US" sz="2400" smtClean="0">
                <a:latin typeface="楷体_GB2312" pitchFamily="49" charset="-122"/>
                <a:ea typeface="楷体_GB2312" pitchFamily="49" charset="-122"/>
              </a:rPr>
              <a:t>和</a:t>
            </a:r>
            <a:r>
              <a:rPr lang="en-US" altLang="zh-CN" sz="2400" smtClean="0">
                <a:latin typeface="楷体_GB2312" pitchFamily="49" charset="-122"/>
                <a:ea typeface="楷体_GB2312" pitchFamily="49" charset="-122"/>
              </a:rPr>
              <a:t>L2 Cache</a:t>
            </a:r>
          </a:p>
          <a:p>
            <a:pPr lvl="1" eaLnBrk="1" hangingPunct="1"/>
            <a:r>
              <a:rPr lang="zh-CN" altLang="en-US" sz="2400" smtClean="0">
                <a:latin typeface="楷体_GB2312" pitchFamily="49" charset="-122"/>
                <a:ea typeface="楷体_GB2312" pitchFamily="49" charset="-122"/>
              </a:rPr>
              <a:t>全由硬件调度，对用户透明</a:t>
            </a:r>
          </a:p>
        </p:txBody>
      </p:sp>
      <p:pic>
        <p:nvPicPr>
          <p:cNvPr id="87045" name="Picture 4">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981075"/>
            <a:ext cx="4619625"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AA740792-02C3-448E-96E2-294BBD2BFF91}" type="slidenum">
              <a:rPr lang="en-US" altLang="zh-CN"/>
              <a:pPr>
                <a:defRPr/>
              </a:pPr>
              <a:t>60</a:t>
            </a:fld>
            <a:endParaRPr lang="en-US" altLang="zh-CN"/>
          </a:p>
        </p:txBody>
      </p:sp>
      <p:sp>
        <p:nvSpPr>
          <p:cNvPr id="88067" name="Rectangle 2"/>
          <p:cNvSpPr>
            <a:spLocks noGrp="1" noChangeArrowheads="1"/>
          </p:cNvSpPr>
          <p:nvPr>
            <p:ph type="title"/>
          </p:nvPr>
        </p:nvSpPr>
        <p:spPr>
          <a:xfrm>
            <a:off x="395288" y="260350"/>
            <a:ext cx="7543800" cy="652463"/>
          </a:xfrm>
        </p:spPr>
        <p:txBody>
          <a:bodyPr/>
          <a:lstStyle/>
          <a:p>
            <a:pPr eaLnBrk="1" hangingPunct="1"/>
            <a:r>
              <a:rPr lang="en-US" altLang="zh-CN" sz="4000" smtClean="0">
                <a:latin typeface="楷体_GB2312" pitchFamily="49" charset="-122"/>
                <a:ea typeface="楷体_GB2312" pitchFamily="49" charset="-122"/>
                <a:cs typeface="Times New Roman" charset="0"/>
              </a:rPr>
              <a:t>3.6 Cache</a:t>
            </a:r>
            <a:r>
              <a:rPr lang="zh-CN" altLang="en-US" sz="4000" smtClean="0">
                <a:latin typeface="楷体_GB2312" pitchFamily="49" charset="-122"/>
                <a:ea typeface="楷体_GB2312" pitchFamily="49" charset="-122"/>
                <a:cs typeface="Times New Roman" charset="0"/>
              </a:rPr>
              <a:t>存储器</a:t>
            </a:r>
          </a:p>
        </p:txBody>
      </p:sp>
      <p:sp>
        <p:nvSpPr>
          <p:cNvPr id="88068" name="Rectangle 5"/>
          <p:cNvSpPr>
            <a:spLocks noChangeArrowheads="1"/>
          </p:cNvSpPr>
          <p:nvPr/>
        </p:nvSpPr>
        <p:spPr bwMode="auto">
          <a:xfrm>
            <a:off x="323850" y="981075"/>
            <a:ext cx="7561263"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eaLnBrk="0" hangingPunct="0"/>
            <a:r>
              <a:rPr lang="en-US" altLang="zh-CN" sz="2000">
                <a:latin typeface="楷体_GB2312" pitchFamily="49" charset="-122"/>
              </a:rPr>
              <a:t>    </a:t>
            </a:r>
            <a:r>
              <a:rPr lang="zh-CN" altLang="en-US" sz="2000">
                <a:latin typeface="楷体_GB2312" pitchFamily="49" charset="-122"/>
              </a:rPr>
              <a:t>程序多是按顺序编址的，指令按地址顺序存放在存储器中的，一条指令被执行完后，下一条需要执行的指令一般是紧挨着这条指令，或在邻近区域。在执行转移指令时，才会跳转到一个较远的区域去，然而跳转去执行的往往是子程序，在跳转之后，隔一段时间，又会回到这一区域中顺序执行。还有当执行的是循环程序时，在一块很小的区域中重复地执行。</a:t>
            </a:r>
          </a:p>
        </p:txBody>
      </p:sp>
      <p:pic>
        <p:nvPicPr>
          <p:cNvPr id="88069" name="Picture 6" descr="t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3068638"/>
            <a:ext cx="7488237"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0" name="Rectangle 7"/>
          <p:cNvSpPr>
            <a:spLocks noChangeArrowheads="1"/>
          </p:cNvSpPr>
          <p:nvPr/>
        </p:nvSpPr>
        <p:spPr bwMode="auto">
          <a:xfrm>
            <a:off x="323850" y="4149725"/>
            <a:ext cx="8137525"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eaLnBrk="0" hangingPunct="0"/>
            <a:r>
              <a:rPr lang="en-US" altLang="zh-CN" sz="2000">
                <a:latin typeface="楷体_GB2312" pitchFamily="49" charset="-122"/>
              </a:rPr>
              <a:t>    </a:t>
            </a:r>
            <a:r>
              <a:rPr lang="zh-CN" altLang="en-US" sz="2000">
                <a:latin typeface="楷体_GB2312" pitchFamily="49" charset="-122"/>
              </a:rPr>
              <a:t>程序执行时的地址分布不是随机的，是在存储器中一块较小的区域中，对于数据存放也是如此，计算机中的数据一般总是以数组、向量、阵列、树、表等形式存放。它们也存放一块较小的区域。</a:t>
            </a:r>
            <a:br>
              <a:rPr lang="zh-CN" altLang="en-US" sz="2000">
                <a:latin typeface="楷体_GB2312" pitchFamily="49" charset="-122"/>
              </a:rPr>
            </a:br>
            <a:r>
              <a:rPr lang="zh-CN" altLang="en-US" sz="2000"/>
              <a:t>      </a:t>
            </a:r>
            <a:r>
              <a:rPr lang="zh-CN" altLang="en-US" sz="2000">
                <a:latin typeface="楷体_GB2312" pitchFamily="49" charset="-122"/>
              </a:rPr>
              <a:t> 利用</a:t>
            </a:r>
            <a:r>
              <a:rPr lang="zh-CN" altLang="en-US" sz="2000">
                <a:solidFill>
                  <a:srgbClr val="0000FF"/>
                </a:solidFill>
                <a:latin typeface="楷体_GB2312" pitchFamily="49" charset="-122"/>
              </a:rPr>
              <a:t>程序运行的局部性</a:t>
            </a:r>
            <a:r>
              <a:rPr lang="zh-CN" altLang="en-US" sz="2000">
                <a:latin typeface="楷体_GB2312" pitchFamily="49" charset="-122"/>
              </a:rPr>
              <a:t>特点，可以把</a:t>
            </a:r>
            <a:r>
              <a:rPr lang="en-US" altLang="zh-CN" sz="2000">
                <a:latin typeface="楷体_GB2312" pitchFamily="49" charset="-122"/>
              </a:rPr>
              <a:t>CPU</a:t>
            </a:r>
            <a:r>
              <a:rPr lang="zh-CN" altLang="en-US" sz="2000">
                <a:latin typeface="楷体_GB2312" pitchFamily="49" charset="-122"/>
              </a:rPr>
              <a:t>正在访问和即将访问的若干程序块和数据块从主存调入高速缓冲器中，使</a:t>
            </a:r>
            <a:r>
              <a:rPr lang="en-US" altLang="zh-CN" sz="2000">
                <a:latin typeface="楷体_GB2312" pitchFamily="49" charset="-122"/>
              </a:rPr>
              <a:t>CPU</a:t>
            </a:r>
            <a:r>
              <a:rPr lang="zh-CN" altLang="en-US" sz="2000">
                <a:latin typeface="楷体_GB2312" pitchFamily="49" charset="-122"/>
              </a:rPr>
              <a:t>大部分是从高速缓冲器中读取指令和存取数据，这就极大提高了</a:t>
            </a:r>
            <a:r>
              <a:rPr lang="en-US" altLang="zh-CN" sz="2000">
                <a:latin typeface="楷体_GB2312" pitchFamily="49" charset="-122"/>
              </a:rPr>
              <a:t>CPU</a:t>
            </a:r>
            <a:r>
              <a:rPr lang="zh-CN" altLang="en-US" sz="2000">
                <a:latin typeface="楷体_GB2312" pitchFamily="49" charset="-122"/>
              </a:rPr>
              <a:t>访问存储器的速度。</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EE8F685A-7258-4ADD-9EAC-061089DD1EDD}" type="slidenum">
              <a:rPr lang="en-US" altLang="zh-CN"/>
              <a:pPr>
                <a:defRPr/>
              </a:pPr>
              <a:t>61</a:t>
            </a:fld>
            <a:endParaRPr lang="en-US" altLang="zh-CN"/>
          </a:p>
        </p:txBody>
      </p:sp>
      <p:sp>
        <p:nvSpPr>
          <p:cNvPr id="89091" name="Rectangle 2"/>
          <p:cNvSpPr>
            <a:spLocks noGrp="1" noChangeArrowheads="1"/>
          </p:cNvSpPr>
          <p:nvPr>
            <p:ph type="title"/>
          </p:nvPr>
        </p:nvSpPr>
        <p:spPr>
          <a:xfrm>
            <a:off x="323850" y="404813"/>
            <a:ext cx="7543800" cy="581025"/>
          </a:xfrm>
        </p:spPr>
        <p:txBody>
          <a:bodyPr/>
          <a:lstStyle/>
          <a:p>
            <a:pPr eaLnBrk="1" hangingPunct="1"/>
            <a:r>
              <a:rPr lang="en-US" altLang="zh-CN" sz="4000" smtClean="0">
                <a:latin typeface="楷体_GB2312" pitchFamily="49" charset="-122"/>
                <a:ea typeface="楷体_GB2312" pitchFamily="49" charset="-122"/>
                <a:cs typeface="Times New Roman" charset="0"/>
              </a:rPr>
              <a:t>3.6 Cache</a:t>
            </a:r>
            <a:r>
              <a:rPr lang="zh-CN" altLang="en-US" sz="4000" smtClean="0">
                <a:latin typeface="楷体_GB2312" pitchFamily="49" charset="-122"/>
                <a:ea typeface="楷体_GB2312" pitchFamily="49" charset="-122"/>
                <a:cs typeface="Times New Roman" charset="0"/>
              </a:rPr>
              <a:t>存储器</a:t>
            </a:r>
          </a:p>
        </p:txBody>
      </p:sp>
      <p:pic>
        <p:nvPicPr>
          <p:cNvPr id="89092" name="Picture 4" descr="3a33">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00563" y="1268413"/>
            <a:ext cx="4319587" cy="350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3" name="Rectangle 5"/>
          <p:cNvSpPr>
            <a:spLocks noChangeArrowheads="1"/>
          </p:cNvSpPr>
          <p:nvPr/>
        </p:nvSpPr>
        <p:spPr bwMode="auto">
          <a:xfrm>
            <a:off x="323850" y="1268413"/>
            <a:ext cx="4176713"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r>
              <a:rPr lang="en-US" altLang="zh-CN" sz="2400">
                <a:latin typeface="楷体_GB2312" pitchFamily="49" charset="-122"/>
              </a:rPr>
              <a:t>2.cache</a:t>
            </a:r>
            <a:r>
              <a:rPr lang="zh-CN" altLang="en-US" sz="2400">
                <a:latin typeface="楷体_GB2312" pitchFamily="49" charset="-122"/>
              </a:rPr>
              <a:t>的基本原理</a:t>
            </a:r>
          </a:p>
          <a:p>
            <a:r>
              <a:rPr lang="zh-CN" altLang="en-US" sz="2400"/>
              <a:t>   </a:t>
            </a:r>
            <a:r>
              <a:rPr lang="zh-CN" altLang="en-US" sz="2400">
                <a:latin typeface="楷体_GB2312" pitchFamily="49" charset="-122"/>
              </a:rPr>
              <a:t> </a:t>
            </a:r>
            <a:r>
              <a:rPr lang="zh-CN" altLang="en-US" sz="2400"/>
              <a:t> </a:t>
            </a:r>
            <a:r>
              <a:rPr lang="zh-CN" altLang="en-US" sz="2400">
                <a:latin typeface="楷体_GB2312" pitchFamily="49" charset="-122"/>
              </a:rPr>
              <a:t> </a:t>
            </a:r>
            <a:r>
              <a:rPr lang="en-US" altLang="zh-CN" sz="2400">
                <a:latin typeface="楷体_GB2312" pitchFamily="49" charset="-122"/>
              </a:rPr>
              <a:t>CPU</a:t>
            </a:r>
            <a:r>
              <a:rPr lang="zh-CN" altLang="en-US" sz="2400">
                <a:latin typeface="楷体_GB2312" pitchFamily="49" charset="-122"/>
              </a:rPr>
              <a:t>与</a:t>
            </a:r>
            <a:r>
              <a:rPr lang="en-US" altLang="zh-CN" sz="2400">
                <a:latin typeface="楷体_GB2312" pitchFamily="49" charset="-122"/>
              </a:rPr>
              <a:t>cache</a:t>
            </a:r>
            <a:r>
              <a:rPr lang="zh-CN" altLang="en-US" sz="2400">
                <a:latin typeface="楷体_GB2312" pitchFamily="49" charset="-122"/>
              </a:rPr>
              <a:t>之间的数据交换是以字为单位，而</a:t>
            </a:r>
            <a:r>
              <a:rPr lang="en-US" altLang="zh-CN" sz="2400">
                <a:latin typeface="楷体_GB2312" pitchFamily="49" charset="-122"/>
              </a:rPr>
              <a:t>cache</a:t>
            </a:r>
            <a:r>
              <a:rPr lang="zh-CN" altLang="en-US" sz="2400">
                <a:latin typeface="楷体_GB2312" pitchFamily="49" charset="-122"/>
              </a:rPr>
              <a:t>与主存之间的数据交换是以块为单位。一个块由若干定长字组成的。当</a:t>
            </a:r>
            <a:r>
              <a:rPr lang="en-US" altLang="zh-CN" sz="2400">
                <a:latin typeface="楷体_GB2312" pitchFamily="49" charset="-122"/>
              </a:rPr>
              <a:t>CPU</a:t>
            </a:r>
            <a:r>
              <a:rPr lang="zh-CN" altLang="en-US" sz="2400">
                <a:latin typeface="楷体_GB2312" pitchFamily="49" charset="-122"/>
              </a:rPr>
              <a:t>读取主存中一个字时，便发出此字的内存地址到</a:t>
            </a:r>
            <a:r>
              <a:rPr lang="en-US" altLang="zh-CN" sz="2400">
                <a:latin typeface="楷体_GB2312" pitchFamily="49" charset="-122"/>
              </a:rPr>
              <a:t>cache</a:t>
            </a:r>
            <a:r>
              <a:rPr lang="zh-CN" altLang="en-US" sz="2400">
                <a:latin typeface="楷体_GB2312" pitchFamily="49" charset="-122"/>
              </a:rPr>
              <a:t>和主存。此时</a:t>
            </a:r>
            <a:r>
              <a:rPr lang="en-US" altLang="zh-CN" sz="2400">
                <a:latin typeface="楷体_GB2312" pitchFamily="49" charset="-122"/>
              </a:rPr>
              <a:t>cache</a:t>
            </a:r>
            <a:r>
              <a:rPr lang="zh-CN" altLang="en-US" sz="2400">
                <a:latin typeface="楷体_GB2312" pitchFamily="49" charset="-122"/>
              </a:rPr>
              <a:t>控制逻辑依据地址判断此字当前是否在</a:t>
            </a:r>
            <a:r>
              <a:rPr lang="en-US" altLang="zh-CN" sz="2400">
                <a:latin typeface="楷体_GB2312" pitchFamily="49" charset="-122"/>
              </a:rPr>
              <a:t>cache</a:t>
            </a:r>
            <a:r>
              <a:rPr lang="zh-CN" altLang="en-US" sz="2400">
                <a:latin typeface="楷体_GB2312" pitchFamily="49" charset="-122"/>
              </a:rPr>
              <a:t>中：若是，此</a:t>
            </a:r>
          </a:p>
        </p:txBody>
      </p:sp>
      <p:sp>
        <p:nvSpPr>
          <p:cNvPr id="89094" name="Rectangle 7"/>
          <p:cNvSpPr>
            <a:spLocks noChangeArrowheads="1"/>
          </p:cNvSpPr>
          <p:nvPr/>
        </p:nvSpPr>
        <p:spPr bwMode="auto">
          <a:xfrm>
            <a:off x="323850" y="4941888"/>
            <a:ext cx="85280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sz="2400">
                <a:latin typeface="楷体_GB2312" pitchFamily="49" charset="-122"/>
              </a:rPr>
              <a:t>字立即传送给</a:t>
            </a:r>
            <a:r>
              <a:rPr lang="en-US" altLang="zh-CN" sz="2400">
                <a:latin typeface="楷体_GB2312" pitchFamily="49" charset="-122"/>
              </a:rPr>
              <a:t>CPU</a:t>
            </a:r>
            <a:r>
              <a:rPr lang="zh-CN" altLang="en-US" sz="2400">
                <a:latin typeface="楷体_GB2312" pitchFamily="49" charset="-122"/>
              </a:rPr>
              <a:t>；若非，则用主存读周期把此字从主存读出送到</a:t>
            </a:r>
            <a:r>
              <a:rPr lang="en-US" altLang="zh-CN" sz="2400">
                <a:latin typeface="楷体_GB2312" pitchFamily="49" charset="-122"/>
              </a:rPr>
              <a:t>CPU</a:t>
            </a:r>
            <a:r>
              <a:rPr lang="zh-CN" altLang="en-US" sz="2400">
                <a:latin typeface="楷体_GB2312" pitchFamily="49" charset="-122"/>
              </a:rPr>
              <a:t>，与此同时，把含有这个字的整个数据块从主存读出送到</a:t>
            </a:r>
            <a:r>
              <a:rPr lang="en-US" altLang="zh-CN" sz="2400">
                <a:latin typeface="楷体_GB2312" pitchFamily="49" charset="-122"/>
              </a:rPr>
              <a:t>cache</a:t>
            </a:r>
            <a:r>
              <a:rPr lang="zh-CN" altLang="en-US" sz="2400">
                <a:latin typeface="楷体_GB2312" pitchFamily="49" charset="-122"/>
              </a:rPr>
              <a:t>中。由始终管理</a:t>
            </a:r>
            <a:r>
              <a:rPr lang="en-US" altLang="zh-CN" sz="2400">
                <a:latin typeface="楷体_GB2312" pitchFamily="49" charset="-122"/>
              </a:rPr>
              <a:t>cache</a:t>
            </a:r>
            <a:r>
              <a:rPr lang="zh-CN" altLang="en-US" sz="2400">
                <a:latin typeface="楷体_GB2312" pitchFamily="49" charset="-122"/>
              </a:rPr>
              <a:t>使用情况的硬件逻辑电路来实现</a:t>
            </a:r>
            <a:r>
              <a:rPr lang="en-US" altLang="zh-CN" sz="2400">
                <a:latin typeface="楷体_GB2312" pitchFamily="49" charset="-122"/>
              </a:rPr>
              <a:t>LRU</a:t>
            </a:r>
            <a:r>
              <a:rPr lang="zh-CN" altLang="en-US" sz="2400">
                <a:latin typeface="楷体_GB2312" pitchFamily="49" charset="-122"/>
              </a:rPr>
              <a:t>替换算法。</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0CE2CAB9-64CF-4232-9063-1277F73FAF5C}" type="slidenum">
              <a:rPr lang="en-US" altLang="zh-CN"/>
              <a:pPr>
                <a:defRPr/>
              </a:pPr>
              <a:t>62</a:t>
            </a:fld>
            <a:endParaRPr lang="en-US" altLang="zh-CN"/>
          </a:p>
        </p:txBody>
      </p:sp>
      <p:sp>
        <p:nvSpPr>
          <p:cNvPr id="90115" name="Rectangle 2"/>
          <p:cNvSpPr>
            <a:spLocks noGrp="1" noChangeArrowheads="1"/>
          </p:cNvSpPr>
          <p:nvPr>
            <p:ph type="title"/>
          </p:nvPr>
        </p:nvSpPr>
        <p:spPr>
          <a:xfrm>
            <a:off x="468313" y="260350"/>
            <a:ext cx="7543800" cy="714375"/>
          </a:xfrm>
        </p:spPr>
        <p:txBody>
          <a:bodyPr/>
          <a:lstStyle/>
          <a:p>
            <a:pPr eaLnBrk="1" hangingPunct="1"/>
            <a:r>
              <a:rPr lang="en-US" altLang="zh-CN" sz="4000" smtClean="0">
                <a:latin typeface="楷体_GB2312" pitchFamily="49" charset="-122"/>
                <a:ea typeface="楷体_GB2312" pitchFamily="49" charset="-122"/>
                <a:cs typeface="Times New Roman" charset="0"/>
              </a:rPr>
              <a:t>3.6 Cache</a:t>
            </a:r>
            <a:r>
              <a:rPr lang="zh-CN" altLang="en-US" sz="4000" smtClean="0">
                <a:latin typeface="楷体_GB2312" pitchFamily="49" charset="-122"/>
                <a:ea typeface="楷体_GB2312" pitchFamily="49" charset="-122"/>
                <a:cs typeface="Times New Roman" charset="0"/>
              </a:rPr>
              <a:t>存储器</a:t>
            </a:r>
          </a:p>
        </p:txBody>
      </p:sp>
      <p:sp>
        <p:nvSpPr>
          <p:cNvPr id="90116" name="Rectangle 3"/>
          <p:cNvSpPr>
            <a:spLocks noGrp="1" noChangeArrowheads="1"/>
          </p:cNvSpPr>
          <p:nvPr>
            <p:ph type="body" idx="1"/>
          </p:nvPr>
        </p:nvSpPr>
        <p:spPr>
          <a:xfrm>
            <a:off x="179388" y="1052513"/>
            <a:ext cx="8229600" cy="5472112"/>
          </a:xfrm>
        </p:spPr>
        <p:txBody>
          <a:bodyPr/>
          <a:lstStyle/>
          <a:p>
            <a:pPr eaLnBrk="1" hangingPunct="1">
              <a:lnSpc>
                <a:spcPct val="80000"/>
              </a:lnSpc>
              <a:buFont typeface="Wingdings" pitchFamily="2" charset="2"/>
              <a:buNone/>
            </a:pPr>
            <a:r>
              <a:rPr lang="en-US" altLang="zh-CN" sz="2400" smtClean="0">
                <a:latin typeface="楷体_GB2312" pitchFamily="49" charset="-122"/>
                <a:ea typeface="楷体_GB2312" pitchFamily="49" charset="-122"/>
              </a:rPr>
              <a:t>cache</a:t>
            </a:r>
            <a:r>
              <a:rPr lang="zh-CN" altLang="en-US" sz="2400" smtClean="0">
                <a:latin typeface="楷体_GB2312" pitchFamily="49" charset="-122"/>
                <a:ea typeface="楷体_GB2312" pitchFamily="49" charset="-122"/>
              </a:rPr>
              <a:t>基本原理小结：</a:t>
            </a:r>
          </a:p>
          <a:p>
            <a:pPr lvl="1" eaLnBrk="1" hangingPunct="1">
              <a:lnSpc>
                <a:spcPct val="80000"/>
              </a:lnSpc>
            </a:pPr>
            <a:r>
              <a:rPr lang="en-US" altLang="zh-CN" sz="2400" smtClean="0">
                <a:latin typeface="楷体_GB2312" pitchFamily="49" charset="-122"/>
                <a:ea typeface="楷体_GB2312" pitchFamily="49" charset="-122"/>
              </a:rPr>
              <a:t>cache</a:t>
            </a:r>
            <a:r>
              <a:rPr lang="zh-CN" altLang="en-US" sz="2400" smtClean="0">
                <a:latin typeface="楷体_GB2312" pitchFamily="49" charset="-122"/>
                <a:ea typeface="楷体_GB2312" pitchFamily="49" charset="-122"/>
              </a:rPr>
              <a:t>是介于</a:t>
            </a:r>
            <a:r>
              <a:rPr lang="en-US" altLang="zh-CN" sz="2400" smtClean="0">
                <a:latin typeface="楷体_GB2312" pitchFamily="49" charset="-122"/>
                <a:ea typeface="楷体_GB2312" pitchFamily="49" charset="-122"/>
              </a:rPr>
              <a:t>CPU</a:t>
            </a:r>
            <a:r>
              <a:rPr lang="zh-CN" altLang="en-US" sz="2400" smtClean="0">
                <a:latin typeface="楷体_GB2312" pitchFamily="49" charset="-122"/>
                <a:ea typeface="楷体_GB2312" pitchFamily="49" charset="-122"/>
              </a:rPr>
              <a:t>和主存</a:t>
            </a:r>
            <a:r>
              <a:rPr lang="en-US" altLang="zh-CN" sz="2400" smtClean="0">
                <a:latin typeface="楷体_GB2312" pitchFamily="49" charset="-122"/>
                <a:ea typeface="楷体_GB2312" pitchFamily="49" charset="-122"/>
              </a:rPr>
              <a:t>M</a:t>
            </a:r>
            <a:r>
              <a:rPr lang="zh-CN" altLang="en-US" sz="2400" smtClean="0">
                <a:latin typeface="楷体_GB2312" pitchFamily="49" charset="-122"/>
                <a:ea typeface="楷体_GB2312" pitchFamily="49" charset="-122"/>
              </a:rPr>
              <a:t>之间的小容量存储器，但存取速度比主存快。主存容量配置几百</a:t>
            </a:r>
            <a:r>
              <a:rPr lang="en-US" altLang="zh-CN" sz="2400" smtClean="0">
                <a:latin typeface="楷体_GB2312" pitchFamily="49" charset="-122"/>
                <a:ea typeface="楷体_GB2312" pitchFamily="49" charset="-122"/>
              </a:rPr>
              <a:t>MB</a:t>
            </a:r>
            <a:r>
              <a:rPr lang="zh-CN" altLang="en-US" sz="2400" smtClean="0">
                <a:latin typeface="楷体_GB2312" pitchFamily="49" charset="-122"/>
                <a:ea typeface="楷体_GB2312" pitchFamily="49" charset="-122"/>
              </a:rPr>
              <a:t>的情况下，</a:t>
            </a:r>
            <a:r>
              <a:rPr lang="en-US" altLang="zh-CN" sz="2400" smtClean="0">
                <a:latin typeface="楷体_GB2312" pitchFamily="49" charset="-122"/>
                <a:ea typeface="楷体_GB2312" pitchFamily="49" charset="-122"/>
              </a:rPr>
              <a:t>cache</a:t>
            </a:r>
            <a:r>
              <a:rPr lang="zh-CN" altLang="en-US" sz="2400" smtClean="0">
                <a:latin typeface="楷体_GB2312" pitchFamily="49" charset="-122"/>
                <a:ea typeface="楷体_GB2312" pitchFamily="49" charset="-122"/>
              </a:rPr>
              <a:t>的典型值是几百</a:t>
            </a:r>
            <a:r>
              <a:rPr lang="en-US" altLang="zh-CN" sz="2400" smtClean="0">
                <a:latin typeface="楷体_GB2312" pitchFamily="49" charset="-122"/>
                <a:ea typeface="楷体_GB2312" pitchFamily="49" charset="-122"/>
              </a:rPr>
              <a:t>KB</a:t>
            </a:r>
            <a:r>
              <a:rPr lang="zh-CN" altLang="en-US" sz="2400" smtClean="0">
                <a:latin typeface="楷体_GB2312" pitchFamily="49" charset="-122"/>
                <a:ea typeface="楷体_GB2312" pitchFamily="49" charset="-122"/>
              </a:rPr>
              <a:t>。</a:t>
            </a:r>
            <a:r>
              <a:rPr lang="en-US" altLang="zh-CN" sz="2400" smtClean="0">
                <a:latin typeface="楷体_GB2312" pitchFamily="49" charset="-122"/>
                <a:ea typeface="楷体_GB2312" pitchFamily="49" charset="-122"/>
              </a:rPr>
              <a:t>cache</a:t>
            </a:r>
            <a:r>
              <a:rPr lang="zh-CN" altLang="en-US" sz="2400" smtClean="0">
                <a:latin typeface="楷体_GB2312" pitchFamily="49" charset="-122"/>
                <a:ea typeface="楷体_GB2312" pitchFamily="49" charset="-122"/>
              </a:rPr>
              <a:t>能高速地向</a:t>
            </a:r>
            <a:r>
              <a:rPr lang="en-US" altLang="zh-CN" sz="2400" smtClean="0">
                <a:latin typeface="楷体_GB2312" pitchFamily="49" charset="-122"/>
                <a:ea typeface="楷体_GB2312" pitchFamily="49" charset="-122"/>
              </a:rPr>
              <a:t>CPU</a:t>
            </a:r>
            <a:r>
              <a:rPr lang="zh-CN" altLang="en-US" sz="2400" smtClean="0">
                <a:latin typeface="楷体_GB2312" pitchFamily="49" charset="-122"/>
                <a:ea typeface="楷体_GB2312" pitchFamily="49" charset="-122"/>
              </a:rPr>
              <a:t>提供指令和数据，从而加快了程序的执行速度。从功能上看，它是主存的缓冲存储器，由高速的</a:t>
            </a:r>
            <a:r>
              <a:rPr lang="en-US" altLang="zh-CN" sz="2400" smtClean="0">
                <a:latin typeface="楷体_GB2312" pitchFamily="49" charset="-122"/>
                <a:ea typeface="楷体_GB2312" pitchFamily="49" charset="-122"/>
              </a:rPr>
              <a:t>SRAM</a:t>
            </a:r>
            <a:r>
              <a:rPr lang="zh-CN" altLang="en-US" sz="2400" smtClean="0">
                <a:latin typeface="楷体_GB2312" pitchFamily="49" charset="-122"/>
                <a:ea typeface="楷体_GB2312" pitchFamily="49" charset="-122"/>
              </a:rPr>
              <a:t>组成。为追求高速，包括管理在内的全部功能由硬件实现，因而对程序员是透明的。</a:t>
            </a:r>
          </a:p>
          <a:p>
            <a:pPr lvl="1" eaLnBrk="1" hangingPunct="1">
              <a:lnSpc>
                <a:spcPct val="80000"/>
              </a:lnSpc>
            </a:pPr>
            <a:r>
              <a:rPr lang="en-US" altLang="zh-CN" sz="2400" smtClean="0">
                <a:latin typeface="楷体_GB2312" pitchFamily="49" charset="-122"/>
                <a:ea typeface="楷体_GB2312" pitchFamily="49" charset="-122"/>
              </a:rPr>
              <a:t>Cache</a:t>
            </a:r>
            <a:r>
              <a:rPr lang="zh-CN" altLang="en-US" sz="2400" smtClean="0">
                <a:latin typeface="楷体_GB2312" pitchFamily="49" charset="-122"/>
                <a:ea typeface="楷体_GB2312" pitchFamily="49" charset="-122"/>
              </a:rPr>
              <a:t>的设计依据</a:t>
            </a:r>
            <a:r>
              <a:rPr lang="en-US" altLang="zh-CN" sz="2400" smtClean="0">
                <a:latin typeface="楷体_GB2312" pitchFamily="49" charset="-122"/>
                <a:ea typeface="楷体_GB2312" pitchFamily="49" charset="-122"/>
              </a:rPr>
              <a:t>:CPU</a:t>
            </a:r>
            <a:r>
              <a:rPr lang="zh-CN" altLang="en-US" sz="2400" smtClean="0">
                <a:latin typeface="楷体_GB2312" pitchFamily="49" charset="-122"/>
                <a:ea typeface="楷体_GB2312" pitchFamily="49" charset="-122"/>
              </a:rPr>
              <a:t>这次访问过的数据，下次有很大的可能也是访问附近的数据。</a:t>
            </a:r>
          </a:p>
          <a:p>
            <a:pPr lvl="1" eaLnBrk="1" hangingPunct="1">
              <a:lnSpc>
                <a:spcPct val="80000"/>
              </a:lnSpc>
            </a:pPr>
            <a:r>
              <a:rPr lang="en-US" altLang="zh-CN" sz="2400" smtClean="0">
                <a:latin typeface="楷体_GB2312" pitchFamily="49" charset="-122"/>
                <a:ea typeface="楷体_GB2312" pitchFamily="49" charset="-122"/>
              </a:rPr>
              <a:t>CPU</a:t>
            </a:r>
            <a:r>
              <a:rPr lang="zh-CN" altLang="en-US" sz="2400" smtClean="0">
                <a:latin typeface="楷体_GB2312" pitchFamily="49" charset="-122"/>
                <a:ea typeface="楷体_GB2312" pitchFamily="49" charset="-122"/>
              </a:rPr>
              <a:t>与</a:t>
            </a:r>
            <a:r>
              <a:rPr lang="en-US" altLang="zh-CN" sz="2400" smtClean="0">
                <a:latin typeface="楷体_GB2312" pitchFamily="49" charset="-122"/>
                <a:ea typeface="楷体_GB2312" pitchFamily="49" charset="-122"/>
              </a:rPr>
              <a:t>Cache</a:t>
            </a:r>
            <a:r>
              <a:rPr lang="zh-CN" altLang="en-US" sz="2400" smtClean="0">
                <a:latin typeface="楷体_GB2312" pitchFamily="49" charset="-122"/>
                <a:ea typeface="楷体_GB2312" pitchFamily="49" charset="-122"/>
              </a:rPr>
              <a:t>之间的数据传送是以字为单位</a:t>
            </a:r>
          </a:p>
          <a:p>
            <a:pPr lvl="1" eaLnBrk="1" hangingPunct="1">
              <a:lnSpc>
                <a:spcPct val="80000"/>
              </a:lnSpc>
            </a:pPr>
            <a:r>
              <a:rPr lang="zh-CN" altLang="en-US" sz="2400" smtClean="0">
                <a:latin typeface="楷体_GB2312" pitchFamily="49" charset="-122"/>
                <a:ea typeface="楷体_GB2312" pitchFamily="49" charset="-122"/>
              </a:rPr>
              <a:t>主存与</a:t>
            </a:r>
            <a:r>
              <a:rPr lang="en-US" altLang="zh-CN" sz="2400" smtClean="0">
                <a:latin typeface="楷体_GB2312" pitchFamily="49" charset="-122"/>
                <a:ea typeface="楷体_GB2312" pitchFamily="49" charset="-122"/>
              </a:rPr>
              <a:t>Cache</a:t>
            </a:r>
            <a:r>
              <a:rPr lang="zh-CN" altLang="en-US" sz="2400" smtClean="0">
                <a:latin typeface="楷体_GB2312" pitchFamily="49" charset="-122"/>
                <a:ea typeface="楷体_GB2312" pitchFamily="49" charset="-122"/>
              </a:rPr>
              <a:t>之间的数据传送是以块为单位</a:t>
            </a:r>
          </a:p>
          <a:p>
            <a:pPr lvl="1" eaLnBrk="1" hangingPunct="1">
              <a:lnSpc>
                <a:spcPct val="80000"/>
              </a:lnSpc>
            </a:pPr>
            <a:r>
              <a:rPr lang="en-US" altLang="zh-CN" sz="2400" smtClean="0">
                <a:latin typeface="楷体_GB2312" pitchFamily="49" charset="-122"/>
                <a:ea typeface="楷体_GB2312" pitchFamily="49" charset="-122"/>
              </a:rPr>
              <a:t>CPU</a:t>
            </a:r>
            <a:r>
              <a:rPr lang="zh-CN" altLang="en-US" sz="2400" smtClean="0">
                <a:latin typeface="楷体_GB2312" pitchFamily="49" charset="-122"/>
                <a:ea typeface="楷体_GB2312" pitchFamily="49" charset="-122"/>
              </a:rPr>
              <a:t>读主存时，便把地址同时送给</a:t>
            </a:r>
            <a:r>
              <a:rPr lang="en-US" altLang="zh-CN" sz="2400" smtClean="0">
                <a:latin typeface="楷体_GB2312" pitchFamily="49" charset="-122"/>
                <a:ea typeface="楷体_GB2312" pitchFamily="49" charset="-122"/>
              </a:rPr>
              <a:t>Cache</a:t>
            </a:r>
            <a:r>
              <a:rPr lang="zh-CN" altLang="en-US" sz="2400" smtClean="0">
                <a:latin typeface="楷体_GB2312" pitchFamily="49" charset="-122"/>
                <a:ea typeface="楷体_GB2312" pitchFamily="49" charset="-122"/>
              </a:rPr>
              <a:t>和主存，</a:t>
            </a:r>
            <a:r>
              <a:rPr lang="en-US" altLang="zh-CN" sz="2400" smtClean="0">
                <a:latin typeface="楷体_GB2312" pitchFamily="49" charset="-122"/>
                <a:ea typeface="楷体_GB2312" pitchFamily="49" charset="-122"/>
              </a:rPr>
              <a:t>Cache</a:t>
            </a:r>
            <a:r>
              <a:rPr lang="zh-CN" altLang="en-US" sz="2400" smtClean="0">
                <a:latin typeface="楷体_GB2312" pitchFamily="49" charset="-122"/>
                <a:ea typeface="楷体_GB2312" pitchFamily="49" charset="-122"/>
              </a:rPr>
              <a:t>控制逻辑依据地址判断此字是否在</a:t>
            </a:r>
            <a:r>
              <a:rPr lang="en-US" altLang="zh-CN" sz="2400" smtClean="0">
                <a:latin typeface="楷体_GB2312" pitchFamily="49" charset="-122"/>
                <a:ea typeface="楷体_GB2312" pitchFamily="49" charset="-122"/>
              </a:rPr>
              <a:t>Cache</a:t>
            </a:r>
            <a:r>
              <a:rPr lang="zh-CN" altLang="en-US" sz="2400" smtClean="0">
                <a:latin typeface="楷体_GB2312" pitchFamily="49" charset="-122"/>
                <a:ea typeface="楷体_GB2312" pitchFamily="49" charset="-122"/>
              </a:rPr>
              <a:t>中，若在此字立即传送给</a:t>
            </a:r>
            <a:r>
              <a:rPr lang="en-US" altLang="zh-CN" sz="2400" smtClean="0">
                <a:latin typeface="楷体_GB2312" pitchFamily="49" charset="-122"/>
                <a:ea typeface="楷体_GB2312" pitchFamily="49" charset="-122"/>
              </a:rPr>
              <a:t>CPU</a:t>
            </a:r>
            <a:r>
              <a:rPr lang="zh-CN" altLang="en-US" sz="2400" smtClean="0">
                <a:latin typeface="楷体_GB2312" pitchFamily="49" charset="-122"/>
                <a:ea typeface="楷体_GB2312" pitchFamily="49" charset="-122"/>
              </a:rPr>
              <a:t>，否则，则用主存读周期把此字从主存读出送到</a:t>
            </a:r>
            <a:r>
              <a:rPr lang="en-US" altLang="zh-CN" sz="2400" smtClean="0">
                <a:latin typeface="楷体_GB2312" pitchFamily="49" charset="-122"/>
                <a:ea typeface="楷体_GB2312" pitchFamily="49" charset="-122"/>
              </a:rPr>
              <a:t>CPU</a:t>
            </a:r>
            <a:r>
              <a:rPr lang="zh-CN" altLang="en-US" sz="2400" smtClean="0">
                <a:latin typeface="楷体_GB2312" pitchFamily="49" charset="-122"/>
                <a:ea typeface="楷体_GB2312" pitchFamily="49" charset="-122"/>
              </a:rPr>
              <a:t>，与此同时，把含有这个字的整个数据块从主存读出送到</a:t>
            </a:r>
            <a:r>
              <a:rPr lang="en-US" altLang="zh-CN" sz="2400" smtClean="0">
                <a:latin typeface="楷体_GB2312" pitchFamily="49" charset="-122"/>
                <a:ea typeface="楷体_GB2312" pitchFamily="49" charset="-122"/>
              </a:rPr>
              <a:t>cache</a:t>
            </a:r>
            <a:r>
              <a:rPr lang="zh-CN" altLang="en-US" sz="2400" smtClean="0">
                <a:latin typeface="楷体_GB2312" pitchFamily="49" charset="-122"/>
                <a:ea typeface="楷体_GB2312" pitchFamily="49" charset="-122"/>
              </a:rPr>
              <a:t>中。</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D5FC7A2A-2E2B-4E54-9E2F-02D0939FC885}" type="slidenum">
              <a:rPr lang="en-US" altLang="zh-CN"/>
              <a:pPr>
                <a:defRPr/>
              </a:pPr>
              <a:t>63</a:t>
            </a:fld>
            <a:endParaRPr lang="en-US" altLang="zh-CN"/>
          </a:p>
        </p:txBody>
      </p:sp>
      <p:sp>
        <p:nvSpPr>
          <p:cNvPr id="91139" name="Rectangle 2"/>
          <p:cNvSpPr>
            <a:spLocks noGrp="1" noChangeArrowheads="1"/>
          </p:cNvSpPr>
          <p:nvPr>
            <p:ph type="title"/>
          </p:nvPr>
        </p:nvSpPr>
        <p:spPr>
          <a:xfrm>
            <a:off x="323850" y="404813"/>
            <a:ext cx="7543800" cy="503237"/>
          </a:xfrm>
        </p:spPr>
        <p:txBody>
          <a:bodyPr/>
          <a:lstStyle/>
          <a:p>
            <a:pPr eaLnBrk="1" hangingPunct="1"/>
            <a:r>
              <a:rPr lang="en-US" altLang="zh-CN" sz="3600" smtClean="0">
                <a:latin typeface="楷体_GB2312" pitchFamily="49" charset="-122"/>
                <a:ea typeface="楷体_GB2312" pitchFamily="49" charset="-122"/>
                <a:cs typeface="Times New Roman" charset="0"/>
              </a:rPr>
              <a:t>3.6 Cache</a:t>
            </a:r>
            <a:r>
              <a:rPr lang="zh-CN" altLang="en-US" sz="3600" smtClean="0">
                <a:latin typeface="楷体_GB2312" pitchFamily="49" charset="-122"/>
                <a:ea typeface="楷体_GB2312" pitchFamily="49" charset="-122"/>
                <a:cs typeface="Times New Roman" charset="0"/>
              </a:rPr>
              <a:t>存储器</a:t>
            </a:r>
          </a:p>
        </p:txBody>
      </p:sp>
      <p:sp>
        <p:nvSpPr>
          <p:cNvPr id="91140" name="Rectangle 4"/>
          <p:cNvSpPr>
            <a:spLocks noChangeArrowheads="1"/>
          </p:cNvSpPr>
          <p:nvPr/>
        </p:nvSpPr>
        <p:spPr bwMode="auto">
          <a:xfrm>
            <a:off x="323850" y="1125538"/>
            <a:ext cx="7559675"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sz="3200">
                <a:solidFill>
                  <a:srgbClr val="000000"/>
                </a:solidFill>
                <a:latin typeface="楷体_GB2312" pitchFamily="49" charset="-122"/>
              </a:rPr>
              <a:t>3.cache</a:t>
            </a:r>
            <a:r>
              <a:rPr lang="zh-CN" altLang="en-US" sz="3200">
                <a:solidFill>
                  <a:srgbClr val="000000"/>
                </a:solidFill>
                <a:latin typeface="楷体_GB2312" pitchFamily="49" charset="-122"/>
              </a:rPr>
              <a:t>的命中率</a:t>
            </a:r>
          </a:p>
          <a:p>
            <a:r>
              <a:rPr lang="zh-CN" altLang="en-US" sz="3200">
                <a:latin typeface="楷体_GB2312" pitchFamily="49" charset="-122"/>
              </a:rPr>
              <a:t>    从</a:t>
            </a:r>
            <a:r>
              <a:rPr lang="en-US" altLang="zh-CN" sz="3200">
                <a:latin typeface="楷体_GB2312" pitchFamily="49" charset="-122"/>
              </a:rPr>
              <a:t>CPU</a:t>
            </a:r>
            <a:r>
              <a:rPr lang="zh-CN" altLang="en-US" sz="3200">
                <a:latin typeface="楷体_GB2312" pitchFamily="49" charset="-122"/>
              </a:rPr>
              <a:t>来看，增加一个</a:t>
            </a:r>
            <a:r>
              <a:rPr lang="en-US" altLang="zh-CN" sz="3200">
                <a:latin typeface="楷体_GB2312" pitchFamily="49" charset="-122"/>
              </a:rPr>
              <a:t>cache</a:t>
            </a:r>
            <a:r>
              <a:rPr lang="zh-CN" altLang="en-US" sz="3200">
                <a:latin typeface="楷体_GB2312" pitchFamily="49" charset="-122"/>
              </a:rPr>
              <a:t>的目的，就是在性能上使主存的平均读出时间尽可能接近</a:t>
            </a:r>
            <a:r>
              <a:rPr lang="en-US" altLang="zh-CN" sz="3200">
                <a:latin typeface="楷体_GB2312" pitchFamily="49" charset="-122"/>
              </a:rPr>
              <a:t>cache</a:t>
            </a:r>
            <a:r>
              <a:rPr lang="zh-CN" altLang="en-US" sz="3200">
                <a:latin typeface="楷体_GB2312" pitchFamily="49" charset="-122"/>
              </a:rPr>
              <a:t>的读出时间。为了达到这个目的，在所有的存储器访问中由</a:t>
            </a:r>
            <a:r>
              <a:rPr lang="en-US" altLang="zh-CN" sz="3200">
                <a:latin typeface="楷体_GB2312" pitchFamily="49" charset="-122"/>
              </a:rPr>
              <a:t>cache</a:t>
            </a:r>
            <a:r>
              <a:rPr lang="zh-CN" altLang="en-US" sz="3200">
                <a:latin typeface="楷体_GB2312" pitchFamily="49" charset="-122"/>
              </a:rPr>
              <a:t>满足</a:t>
            </a:r>
            <a:r>
              <a:rPr lang="en-US" altLang="zh-CN" sz="3200">
                <a:latin typeface="楷体_GB2312" pitchFamily="49" charset="-122"/>
              </a:rPr>
              <a:t>CPU</a:t>
            </a:r>
            <a:r>
              <a:rPr lang="zh-CN" altLang="en-US" sz="3200">
                <a:latin typeface="楷体_GB2312" pitchFamily="49" charset="-122"/>
              </a:rPr>
              <a:t>需要的部分应占很高的比例，即</a:t>
            </a:r>
            <a:r>
              <a:rPr lang="en-US" altLang="zh-CN" sz="3200">
                <a:latin typeface="楷体_GB2312" pitchFamily="49" charset="-122"/>
              </a:rPr>
              <a:t>cache</a:t>
            </a:r>
            <a:r>
              <a:rPr lang="zh-CN" altLang="en-US" sz="3200">
                <a:latin typeface="楷体_GB2312" pitchFamily="49" charset="-122"/>
              </a:rPr>
              <a:t>的命中率应接近于</a:t>
            </a:r>
            <a:r>
              <a:rPr lang="en-US" altLang="zh-CN" sz="3200">
                <a:latin typeface="楷体_GB2312" pitchFamily="49" charset="-122"/>
              </a:rPr>
              <a:t>1</a:t>
            </a:r>
            <a:r>
              <a:rPr lang="zh-CN" altLang="en-US" sz="3200">
                <a:latin typeface="楷体_GB2312" pitchFamily="49" charset="-122"/>
              </a:rPr>
              <a:t>。由于程序访问的局部性，实现这个目标是可能的。</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D3F059F1-EE80-448B-9151-CD28DD7861D2}" type="slidenum">
              <a:rPr lang="en-US" altLang="zh-CN"/>
              <a:pPr>
                <a:defRPr/>
              </a:pPr>
              <a:t>64</a:t>
            </a:fld>
            <a:endParaRPr lang="en-US" altLang="zh-CN"/>
          </a:p>
        </p:txBody>
      </p:sp>
      <p:sp>
        <p:nvSpPr>
          <p:cNvPr id="7172" name="Rectangle 2"/>
          <p:cNvSpPr>
            <a:spLocks noGrp="1" noChangeArrowheads="1"/>
          </p:cNvSpPr>
          <p:nvPr>
            <p:ph type="title"/>
          </p:nvPr>
        </p:nvSpPr>
        <p:spPr>
          <a:xfrm>
            <a:off x="457200" y="122238"/>
            <a:ext cx="7543800" cy="714375"/>
          </a:xfrm>
        </p:spPr>
        <p:txBody>
          <a:bodyPr/>
          <a:lstStyle/>
          <a:p>
            <a:pPr eaLnBrk="1" hangingPunct="1"/>
            <a:r>
              <a:rPr lang="en-US" altLang="zh-CN" sz="4000" smtClean="0">
                <a:latin typeface="楷体_GB2312" pitchFamily="49" charset="-122"/>
                <a:ea typeface="楷体_GB2312" pitchFamily="49" charset="-122"/>
                <a:cs typeface="Times New Roman" charset="0"/>
              </a:rPr>
              <a:t>3.6 Cache</a:t>
            </a:r>
            <a:r>
              <a:rPr lang="zh-CN" altLang="en-US" sz="4000" smtClean="0">
                <a:latin typeface="楷体_GB2312" pitchFamily="49" charset="-122"/>
                <a:ea typeface="楷体_GB2312" pitchFamily="49" charset="-122"/>
                <a:cs typeface="Times New Roman" charset="0"/>
              </a:rPr>
              <a:t>存储器</a:t>
            </a:r>
          </a:p>
        </p:txBody>
      </p:sp>
      <p:sp>
        <p:nvSpPr>
          <p:cNvPr id="7173" name="Rectangle 4"/>
          <p:cNvSpPr>
            <a:spLocks noChangeArrowheads="1"/>
          </p:cNvSpPr>
          <p:nvPr/>
        </p:nvSpPr>
        <p:spPr bwMode="auto">
          <a:xfrm>
            <a:off x="107950" y="908050"/>
            <a:ext cx="8351838" cy="593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sz="2400">
                <a:latin typeface="楷体_GB2312" pitchFamily="49" charset="-122"/>
              </a:rPr>
              <a:t>    </a:t>
            </a:r>
            <a:r>
              <a:rPr lang="zh-CN" altLang="en-US" sz="2400">
                <a:latin typeface="楷体_GB2312" pitchFamily="49" charset="-122"/>
              </a:rPr>
              <a:t>在一个程序执行期间，设</a:t>
            </a:r>
            <a:r>
              <a:rPr lang="en-US" altLang="zh-CN" sz="2400">
                <a:latin typeface="楷体_GB2312" pitchFamily="49" charset="-122"/>
              </a:rPr>
              <a:t>Nc</a:t>
            </a:r>
            <a:r>
              <a:rPr lang="zh-CN" altLang="en-US" sz="2400">
                <a:latin typeface="楷体_GB2312" pitchFamily="49" charset="-122"/>
              </a:rPr>
              <a:t>表示</a:t>
            </a:r>
            <a:r>
              <a:rPr lang="en-US" altLang="zh-CN" sz="2400">
                <a:latin typeface="楷体_GB2312" pitchFamily="49" charset="-122"/>
              </a:rPr>
              <a:t>cache</a:t>
            </a:r>
            <a:r>
              <a:rPr lang="zh-CN" altLang="en-US" sz="2400">
                <a:latin typeface="楷体_GB2312" pitchFamily="49" charset="-122"/>
              </a:rPr>
              <a:t>完成存取的总次数，</a:t>
            </a:r>
            <a:r>
              <a:rPr lang="en-US" altLang="zh-CN" sz="2400">
                <a:latin typeface="楷体_GB2312" pitchFamily="49" charset="-122"/>
              </a:rPr>
              <a:t>Nm</a:t>
            </a:r>
            <a:r>
              <a:rPr lang="zh-CN" altLang="en-US" sz="2400">
                <a:latin typeface="楷体_GB2312" pitchFamily="49" charset="-122"/>
              </a:rPr>
              <a:t>表示主存完成存取的总次数，</a:t>
            </a:r>
            <a:r>
              <a:rPr lang="en-US" altLang="zh-CN" sz="2400">
                <a:latin typeface="楷体_GB2312" pitchFamily="49" charset="-122"/>
              </a:rPr>
              <a:t>h</a:t>
            </a:r>
            <a:r>
              <a:rPr lang="zh-CN" altLang="en-US" sz="2400">
                <a:latin typeface="楷体_GB2312" pitchFamily="49" charset="-122"/>
              </a:rPr>
              <a:t>定义为命中率，则有</a:t>
            </a:r>
          </a:p>
          <a:p>
            <a:r>
              <a:rPr lang="zh-CN" altLang="en-US" sz="2400">
                <a:latin typeface="楷体_GB2312" pitchFamily="49" charset="-122"/>
              </a:rPr>
              <a:t>    </a:t>
            </a:r>
            <a:r>
              <a:rPr lang="en-US" altLang="zh-CN" sz="2400">
                <a:latin typeface="楷体_GB2312" pitchFamily="49" charset="-122"/>
              </a:rPr>
              <a:t>h=Nc/</a:t>
            </a:r>
            <a:r>
              <a:rPr lang="zh-CN" altLang="en-US" sz="2400">
                <a:latin typeface="楷体_GB2312" pitchFamily="49" charset="-122"/>
              </a:rPr>
              <a:t>（</a:t>
            </a:r>
            <a:r>
              <a:rPr lang="en-US" altLang="zh-CN" sz="2400">
                <a:latin typeface="楷体_GB2312" pitchFamily="49" charset="-122"/>
              </a:rPr>
              <a:t>Nc+Nm)</a:t>
            </a:r>
          </a:p>
          <a:p>
            <a:r>
              <a:rPr lang="en-US" altLang="zh-CN" sz="2400">
                <a:latin typeface="楷体_GB2312" pitchFamily="49" charset="-122"/>
              </a:rPr>
              <a:t>    </a:t>
            </a:r>
            <a:r>
              <a:rPr lang="zh-CN" altLang="en-US" sz="2400">
                <a:latin typeface="楷体_GB2312" pitchFamily="49" charset="-122"/>
              </a:rPr>
              <a:t>若</a:t>
            </a:r>
            <a:r>
              <a:rPr lang="en-US" altLang="zh-CN" sz="2400">
                <a:latin typeface="楷体_GB2312" pitchFamily="49" charset="-122"/>
              </a:rPr>
              <a:t>tc</a:t>
            </a:r>
            <a:r>
              <a:rPr lang="zh-CN" altLang="en-US" sz="2400">
                <a:latin typeface="楷体_GB2312" pitchFamily="49" charset="-122"/>
              </a:rPr>
              <a:t>表示命中时的</a:t>
            </a:r>
            <a:r>
              <a:rPr lang="en-US" altLang="zh-CN" sz="2400">
                <a:latin typeface="楷体_GB2312" pitchFamily="49" charset="-122"/>
              </a:rPr>
              <a:t>cache</a:t>
            </a:r>
            <a:r>
              <a:rPr lang="zh-CN" altLang="en-US" sz="2400">
                <a:latin typeface="楷体_GB2312" pitchFamily="49" charset="-122"/>
              </a:rPr>
              <a:t>访问时间，</a:t>
            </a:r>
            <a:r>
              <a:rPr lang="en-US" altLang="zh-CN" sz="2400">
                <a:latin typeface="楷体_GB2312" pitchFamily="49" charset="-122"/>
              </a:rPr>
              <a:t>tm</a:t>
            </a:r>
            <a:r>
              <a:rPr lang="zh-CN" altLang="en-US" sz="2400">
                <a:latin typeface="楷体_GB2312" pitchFamily="49" charset="-122"/>
              </a:rPr>
              <a:t>表示未命中时的主存访问时间，</a:t>
            </a:r>
            <a:r>
              <a:rPr lang="en-US" altLang="zh-CN" sz="2400">
                <a:latin typeface="楷体_GB2312" pitchFamily="49" charset="-122"/>
              </a:rPr>
              <a:t>1-h</a:t>
            </a:r>
            <a:r>
              <a:rPr lang="zh-CN" altLang="en-US" sz="2400">
                <a:latin typeface="楷体_GB2312" pitchFamily="49" charset="-122"/>
              </a:rPr>
              <a:t>表示未命中率，则</a:t>
            </a:r>
            <a:r>
              <a:rPr lang="en-US" altLang="zh-CN" sz="2400">
                <a:latin typeface="楷体_GB2312" pitchFamily="49" charset="-122"/>
              </a:rPr>
              <a:t>cache/</a:t>
            </a:r>
            <a:r>
              <a:rPr lang="zh-CN" altLang="en-US" sz="2400">
                <a:latin typeface="楷体_GB2312" pitchFamily="49" charset="-122"/>
              </a:rPr>
              <a:t>主存系统的平均访问时间</a:t>
            </a:r>
            <a:r>
              <a:rPr lang="en-US" altLang="zh-CN" sz="2400">
                <a:latin typeface="楷体_GB2312" pitchFamily="49" charset="-122"/>
              </a:rPr>
              <a:t>ta</a:t>
            </a:r>
            <a:r>
              <a:rPr lang="zh-CN" altLang="en-US" sz="2400">
                <a:latin typeface="楷体_GB2312" pitchFamily="49" charset="-122"/>
              </a:rPr>
              <a:t>为：</a:t>
            </a:r>
            <a:r>
              <a:rPr lang="en-US" altLang="zh-CN" sz="2400">
                <a:latin typeface="楷体_GB2312" pitchFamily="49" charset="-122"/>
              </a:rPr>
              <a:t>ta=h*tc+</a:t>
            </a:r>
            <a:r>
              <a:rPr lang="zh-CN" altLang="en-US" sz="2400">
                <a:latin typeface="楷体_GB2312" pitchFamily="49" charset="-122"/>
              </a:rPr>
              <a:t>（</a:t>
            </a:r>
            <a:r>
              <a:rPr lang="en-US" altLang="zh-CN" sz="2400">
                <a:latin typeface="楷体_GB2312" pitchFamily="49" charset="-122"/>
              </a:rPr>
              <a:t>1-h)tm</a:t>
            </a:r>
          </a:p>
          <a:p>
            <a:r>
              <a:rPr lang="en-US" altLang="zh-CN" sz="2400">
                <a:latin typeface="楷体_GB2312" pitchFamily="49" charset="-122"/>
              </a:rPr>
              <a:t>    </a:t>
            </a:r>
            <a:r>
              <a:rPr lang="zh-CN" altLang="en-US" sz="2400">
                <a:latin typeface="楷体_GB2312" pitchFamily="49" charset="-122"/>
              </a:rPr>
              <a:t>我们追求的目标是，以较小的硬件代价使</a:t>
            </a:r>
            <a:r>
              <a:rPr lang="en-US" altLang="zh-CN" sz="2400">
                <a:latin typeface="楷体_GB2312" pitchFamily="49" charset="-122"/>
              </a:rPr>
              <a:t>cache/</a:t>
            </a:r>
            <a:r>
              <a:rPr lang="zh-CN" altLang="en-US" sz="2400">
                <a:latin typeface="楷体_GB2312" pitchFamily="49" charset="-122"/>
              </a:rPr>
              <a:t>主存系统的平均访问时间</a:t>
            </a:r>
            <a:r>
              <a:rPr lang="en-US" altLang="zh-CN" sz="2400">
                <a:latin typeface="楷体_GB2312" pitchFamily="49" charset="-122"/>
              </a:rPr>
              <a:t>ta</a:t>
            </a:r>
            <a:r>
              <a:rPr lang="zh-CN" altLang="en-US" sz="2400">
                <a:latin typeface="楷体_GB2312" pitchFamily="49" charset="-122"/>
              </a:rPr>
              <a:t>越接近</a:t>
            </a:r>
            <a:r>
              <a:rPr lang="en-US" altLang="zh-CN" sz="2400">
                <a:latin typeface="楷体_GB2312" pitchFamily="49" charset="-122"/>
              </a:rPr>
              <a:t>tc</a:t>
            </a:r>
            <a:r>
              <a:rPr lang="zh-CN" altLang="en-US" sz="2400">
                <a:latin typeface="楷体_GB2312" pitchFamily="49" charset="-122"/>
              </a:rPr>
              <a:t>越好。</a:t>
            </a:r>
          </a:p>
          <a:p>
            <a:r>
              <a:rPr lang="zh-CN" altLang="en-US" sz="2400">
                <a:latin typeface="楷体_GB2312" pitchFamily="49" charset="-122"/>
              </a:rPr>
              <a:t>    设</a:t>
            </a:r>
            <a:r>
              <a:rPr lang="en-US" altLang="zh-CN" sz="2400">
                <a:latin typeface="楷体_GB2312" pitchFamily="49" charset="-122"/>
              </a:rPr>
              <a:t>r=tm/tc</a:t>
            </a:r>
            <a:r>
              <a:rPr lang="zh-CN" altLang="en-US" sz="2400">
                <a:latin typeface="楷体_GB2312" pitchFamily="49" charset="-122"/>
              </a:rPr>
              <a:t>表示主存慢于</a:t>
            </a:r>
            <a:r>
              <a:rPr lang="en-US" altLang="zh-CN" sz="2400">
                <a:latin typeface="楷体_GB2312" pitchFamily="49" charset="-122"/>
              </a:rPr>
              <a:t>cache</a:t>
            </a:r>
            <a:r>
              <a:rPr lang="zh-CN" altLang="en-US" sz="2400">
                <a:latin typeface="楷体_GB2312" pitchFamily="49" charset="-122"/>
              </a:rPr>
              <a:t>的倍率，</a:t>
            </a:r>
            <a:r>
              <a:rPr lang="en-US" altLang="zh-CN" sz="2400">
                <a:latin typeface="楷体_GB2312" pitchFamily="49" charset="-122"/>
              </a:rPr>
              <a:t>e</a:t>
            </a:r>
            <a:r>
              <a:rPr lang="zh-CN" altLang="en-US" sz="2400">
                <a:latin typeface="楷体_GB2312" pitchFamily="49" charset="-122"/>
              </a:rPr>
              <a:t>表示访问效率，则有 </a:t>
            </a:r>
          </a:p>
          <a:p>
            <a:endParaRPr lang="zh-CN" altLang="en-US" sz="2400">
              <a:latin typeface="楷体_GB2312" pitchFamily="49" charset="-122"/>
            </a:endParaRPr>
          </a:p>
          <a:p>
            <a:r>
              <a:rPr lang="zh-CN" altLang="en-US" sz="2400">
                <a:latin typeface="楷体_GB2312" pitchFamily="49" charset="-122"/>
              </a:rPr>
              <a:t>    </a:t>
            </a:r>
          </a:p>
          <a:p>
            <a:r>
              <a:rPr lang="zh-CN" altLang="pt-BR" sz="2400">
                <a:latin typeface="楷体_GB2312" pitchFamily="49" charset="-122"/>
              </a:rPr>
              <a:t>由表达式看出，为提高访问效率，命中率</a:t>
            </a:r>
            <a:r>
              <a:rPr lang="pt-BR" altLang="zh-CN" sz="2400">
                <a:latin typeface="楷体_GB2312" pitchFamily="49" charset="-122"/>
              </a:rPr>
              <a:t>h</a:t>
            </a:r>
            <a:r>
              <a:rPr lang="zh-CN" altLang="pt-BR" sz="2400">
                <a:latin typeface="楷体_GB2312" pitchFamily="49" charset="-122"/>
              </a:rPr>
              <a:t>越接近</a:t>
            </a:r>
            <a:r>
              <a:rPr lang="pt-BR" altLang="zh-CN" sz="2400">
                <a:latin typeface="楷体_GB2312" pitchFamily="49" charset="-122"/>
              </a:rPr>
              <a:t>1</a:t>
            </a:r>
            <a:r>
              <a:rPr lang="zh-CN" altLang="pt-BR" sz="2400">
                <a:latin typeface="楷体_GB2312" pitchFamily="49" charset="-122"/>
              </a:rPr>
              <a:t>越好，</a:t>
            </a:r>
            <a:r>
              <a:rPr lang="pt-BR" altLang="zh-CN" sz="2400">
                <a:latin typeface="楷体_GB2312" pitchFamily="49" charset="-122"/>
              </a:rPr>
              <a:t>r</a:t>
            </a:r>
            <a:r>
              <a:rPr lang="zh-CN" altLang="pt-BR" sz="2400">
                <a:latin typeface="楷体_GB2312" pitchFamily="49" charset="-122"/>
              </a:rPr>
              <a:t>值以</a:t>
            </a:r>
            <a:r>
              <a:rPr lang="pt-BR" altLang="zh-CN" sz="2400">
                <a:latin typeface="楷体_GB2312" pitchFamily="49" charset="-122"/>
              </a:rPr>
              <a:t>5</a:t>
            </a:r>
            <a:r>
              <a:rPr lang="pt-BR" altLang="zh-CN" sz="2400"/>
              <a:t>—</a:t>
            </a:r>
            <a:r>
              <a:rPr lang="pt-BR" altLang="zh-CN" sz="2400">
                <a:latin typeface="楷体_GB2312" pitchFamily="49" charset="-122"/>
              </a:rPr>
              <a:t>10</a:t>
            </a:r>
            <a:r>
              <a:rPr lang="zh-CN" altLang="pt-BR" sz="2400">
                <a:latin typeface="楷体_GB2312" pitchFamily="49" charset="-122"/>
              </a:rPr>
              <a:t>为宜，不宜太大。</a:t>
            </a:r>
          </a:p>
          <a:p>
            <a:r>
              <a:rPr lang="zh-CN" altLang="pt-BR" sz="2400">
                <a:latin typeface="楷体_GB2312" pitchFamily="49" charset="-122"/>
              </a:rPr>
              <a:t>    命中率</a:t>
            </a:r>
            <a:r>
              <a:rPr lang="pt-BR" altLang="zh-CN" sz="2400">
                <a:latin typeface="楷体_GB2312" pitchFamily="49" charset="-122"/>
              </a:rPr>
              <a:t>h</a:t>
            </a:r>
            <a:r>
              <a:rPr lang="zh-CN" altLang="pt-BR" sz="2400">
                <a:latin typeface="楷体_GB2312" pitchFamily="49" charset="-122"/>
              </a:rPr>
              <a:t>与程序的行为、</a:t>
            </a:r>
            <a:r>
              <a:rPr lang="pt-BR" altLang="zh-CN" sz="2400">
                <a:latin typeface="楷体_GB2312" pitchFamily="49" charset="-122"/>
              </a:rPr>
              <a:t>cache</a:t>
            </a:r>
            <a:r>
              <a:rPr lang="zh-CN" altLang="pt-BR" sz="2400">
                <a:latin typeface="楷体_GB2312" pitchFamily="49" charset="-122"/>
              </a:rPr>
              <a:t>的容量、组织方式、块的大小有关。</a:t>
            </a:r>
            <a:endParaRPr lang="zh-CN" altLang="en-US" sz="2400">
              <a:latin typeface="楷体_GB2312" pitchFamily="49" charset="-122"/>
            </a:endParaRPr>
          </a:p>
        </p:txBody>
      </p:sp>
      <p:graphicFrame>
        <p:nvGraphicFramePr>
          <p:cNvPr id="7170" name="Object 0"/>
          <p:cNvGraphicFramePr>
            <a:graphicFrameLocks noChangeAspect="1"/>
          </p:cNvGraphicFramePr>
          <p:nvPr/>
        </p:nvGraphicFramePr>
        <p:xfrm>
          <a:off x="1371600" y="4419600"/>
          <a:ext cx="6705600" cy="787400"/>
        </p:xfrm>
        <a:graphic>
          <a:graphicData uri="http://schemas.openxmlformats.org/presentationml/2006/ole">
            <mc:AlternateContent xmlns:mc="http://schemas.openxmlformats.org/markup-compatibility/2006">
              <mc:Choice xmlns:v="urn:schemas-microsoft-com:vml" Requires="v">
                <p:oleObj spid="_x0000_s7300" name="位图图像" r:id="rId3" imgW="5601482" imgH="657317" progId="PBrush">
                  <p:embed/>
                </p:oleObj>
              </mc:Choice>
              <mc:Fallback>
                <p:oleObj name="位图图像" r:id="rId3" imgW="5601482" imgH="657317" progId="PBrush">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4419600"/>
                        <a:ext cx="6705600"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E215E5A0-9806-46A3-9B01-8DEEAA2F3933}" type="slidenum">
              <a:rPr lang="en-US" altLang="zh-CN"/>
              <a:pPr>
                <a:defRPr/>
              </a:pPr>
              <a:t>65</a:t>
            </a:fld>
            <a:endParaRPr lang="en-US" altLang="zh-CN"/>
          </a:p>
        </p:txBody>
      </p:sp>
      <p:sp>
        <p:nvSpPr>
          <p:cNvPr id="8196" name="Rectangle 2"/>
          <p:cNvSpPr>
            <a:spLocks noGrp="1" noChangeArrowheads="1"/>
          </p:cNvSpPr>
          <p:nvPr>
            <p:ph type="title"/>
          </p:nvPr>
        </p:nvSpPr>
        <p:spPr>
          <a:xfrm>
            <a:off x="250825" y="122238"/>
            <a:ext cx="7750175" cy="1577975"/>
          </a:xfrm>
        </p:spPr>
        <p:txBody>
          <a:bodyPr/>
          <a:lstStyle/>
          <a:p>
            <a:pPr eaLnBrk="1" hangingPunct="1"/>
            <a:r>
              <a:rPr lang="en-US" altLang="zh-CN" sz="2400" b="0" smtClean="0">
                <a:solidFill>
                  <a:srgbClr val="000000"/>
                </a:solidFill>
                <a:latin typeface="楷体_GB2312" pitchFamily="49" charset="-122"/>
                <a:ea typeface="楷体_GB2312" pitchFamily="49" charset="-122"/>
              </a:rPr>
              <a:t>[</a:t>
            </a:r>
            <a:r>
              <a:rPr lang="zh-CN" altLang="en-US" sz="2400" b="0" smtClean="0">
                <a:solidFill>
                  <a:srgbClr val="000000"/>
                </a:solidFill>
                <a:latin typeface="楷体_GB2312" pitchFamily="49" charset="-122"/>
                <a:ea typeface="楷体_GB2312" pitchFamily="49" charset="-122"/>
              </a:rPr>
              <a:t>例</a:t>
            </a:r>
            <a:r>
              <a:rPr lang="en-US" altLang="zh-CN" sz="2400" b="0" smtClean="0">
                <a:solidFill>
                  <a:srgbClr val="000000"/>
                </a:solidFill>
                <a:latin typeface="楷体_GB2312" pitchFamily="49" charset="-122"/>
                <a:ea typeface="楷体_GB2312" pitchFamily="49" charset="-122"/>
              </a:rPr>
              <a:t>6]</a:t>
            </a:r>
            <a:r>
              <a:rPr lang="en-US" altLang="zh-CN" sz="2400" b="0" smtClean="0">
                <a:latin typeface="楷体_GB2312" pitchFamily="49" charset="-122"/>
                <a:ea typeface="楷体_GB2312" pitchFamily="49" charset="-122"/>
              </a:rPr>
              <a:t>CPU</a:t>
            </a:r>
            <a:r>
              <a:rPr lang="zh-CN" altLang="en-US" sz="2400" b="0" smtClean="0">
                <a:latin typeface="楷体_GB2312" pitchFamily="49" charset="-122"/>
                <a:ea typeface="楷体_GB2312" pitchFamily="49" charset="-122"/>
              </a:rPr>
              <a:t>执行一段程序时，</a:t>
            </a:r>
            <a:r>
              <a:rPr lang="en-US" altLang="zh-CN" sz="2400" b="0" smtClean="0">
                <a:latin typeface="楷体_GB2312" pitchFamily="49" charset="-122"/>
                <a:ea typeface="楷体_GB2312" pitchFamily="49" charset="-122"/>
              </a:rPr>
              <a:t>cache</a:t>
            </a:r>
            <a:r>
              <a:rPr lang="zh-CN" altLang="en-US" sz="2400" b="0" smtClean="0">
                <a:latin typeface="楷体_GB2312" pitchFamily="49" charset="-122"/>
                <a:ea typeface="楷体_GB2312" pitchFamily="49" charset="-122"/>
              </a:rPr>
              <a:t>完成存取的次数为</a:t>
            </a:r>
            <a:r>
              <a:rPr lang="en-US" altLang="zh-CN" sz="2400" b="0" smtClean="0">
                <a:latin typeface="楷体_GB2312" pitchFamily="49" charset="-122"/>
                <a:ea typeface="楷体_GB2312" pitchFamily="49" charset="-122"/>
              </a:rPr>
              <a:t>1900</a:t>
            </a:r>
            <a:r>
              <a:rPr lang="zh-CN" altLang="en-US" sz="2400" b="0" smtClean="0">
                <a:latin typeface="楷体_GB2312" pitchFamily="49" charset="-122"/>
                <a:ea typeface="楷体_GB2312" pitchFamily="49" charset="-122"/>
              </a:rPr>
              <a:t>次，主存完成存取的次数为</a:t>
            </a:r>
            <a:r>
              <a:rPr lang="en-US" altLang="zh-CN" sz="2400" b="0" smtClean="0">
                <a:latin typeface="楷体_GB2312" pitchFamily="49" charset="-122"/>
                <a:ea typeface="楷体_GB2312" pitchFamily="49" charset="-122"/>
              </a:rPr>
              <a:t>100</a:t>
            </a:r>
            <a:r>
              <a:rPr lang="zh-CN" altLang="en-US" sz="2400" b="0" smtClean="0">
                <a:latin typeface="楷体_GB2312" pitchFamily="49" charset="-122"/>
                <a:ea typeface="楷体_GB2312" pitchFamily="49" charset="-122"/>
              </a:rPr>
              <a:t>次，已知</a:t>
            </a:r>
            <a:r>
              <a:rPr lang="en-US" altLang="zh-CN" sz="2400" b="0" smtClean="0">
                <a:latin typeface="楷体_GB2312" pitchFamily="49" charset="-122"/>
                <a:ea typeface="楷体_GB2312" pitchFamily="49" charset="-122"/>
              </a:rPr>
              <a:t>cache</a:t>
            </a:r>
            <a:r>
              <a:rPr lang="zh-CN" altLang="en-US" sz="2400" b="0" smtClean="0">
                <a:latin typeface="楷体_GB2312" pitchFamily="49" charset="-122"/>
                <a:ea typeface="楷体_GB2312" pitchFamily="49" charset="-122"/>
              </a:rPr>
              <a:t>存取周期为</a:t>
            </a:r>
            <a:r>
              <a:rPr lang="en-US" altLang="zh-CN" sz="2400" b="0" smtClean="0">
                <a:latin typeface="楷体_GB2312" pitchFamily="49" charset="-122"/>
                <a:ea typeface="楷体_GB2312" pitchFamily="49" charset="-122"/>
              </a:rPr>
              <a:t>50ns</a:t>
            </a:r>
            <a:r>
              <a:rPr lang="zh-CN" altLang="en-US" sz="2400" b="0" smtClean="0">
                <a:latin typeface="楷体_GB2312" pitchFamily="49" charset="-122"/>
                <a:ea typeface="楷体_GB2312" pitchFamily="49" charset="-122"/>
              </a:rPr>
              <a:t>，主存存取周期为</a:t>
            </a:r>
            <a:r>
              <a:rPr lang="en-US" altLang="zh-CN" sz="2400" b="0" smtClean="0">
                <a:latin typeface="楷体_GB2312" pitchFamily="49" charset="-122"/>
                <a:ea typeface="楷体_GB2312" pitchFamily="49" charset="-122"/>
              </a:rPr>
              <a:t>250ns</a:t>
            </a:r>
            <a:r>
              <a:rPr lang="zh-CN" altLang="en-US" sz="2400" b="0" smtClean="0">
                <a:latin typeface="楷体_GB2312" pitchFamily="49" charset="-122"/>
                <a:ea typeface="楷体_GB2312" pitchFamily="49" charset="-122"/>
              </a:rPr>
              <a:t>，求</a:t>
            </a:r>
            <a:r>
              <a:rPr lang="en-US" altLang="zh-CN" sz="2400" b="0" smtClean="0">
                <a:latin typeface="楷体_GB2312" pitchFamily="49" charset="-122"/>
                <a:ea typeface="楷体_GB2312" pitchFamily="49" charset="-122"/>
              </a:rPr>
              <a:t>cache/</a:t>
            </a:r>
            <a:r>
              <a:rPr lang="zh-CN" altLang="en-US" sz="2400" b="0" smtClean="0">
                <a:latin typeface="楷体_GB2312" pitchFamily="49" charset="-122"/>
                <a:ea typeface="楷体_GB2312" pitchFamily="49" charset="-122"/>
              </a:rPr>
              <a:t>主存系统的效率和平均访问时间。</a:t>
            </a:r>
            <a:r>
              <a:rPr lang="zh-CN" altLang="en-US" sz="2300" smtClean="0"/>
              <a:t> </a:t>
            </a:r>
          </a:p>
        </p:txBody>
      </p:sp>
      <p:graphicFrame>
        <p:nvGraphicFramePr>
          <p:cNvPr id="8194" name="Object 0"/>
          <p:cNvGraphicFramePr>
            <a:graphicFrameLocks noChangeAspect="1"/>
          </p:cNvGraphicFramePr>
          <p:nvPr/>
        </p:nvGraphicFramePr>
        <p:xfrm>
          <a:off x="4284663" y="1628775"/>
          <a:ext cx="3333750" cy="2376488"/>
        </p:xfrm>
        <a:graphic>
          <a:graphicData uri="http://schemas.openxmlformats.org/presentationml/2006/ole">
            <mc:AlternateContent xmlns:mc="http://schemas.openxmlformats.org/markup-compatibility/2006">
              <mc:Choice xmlns:v="urn:schemas-microsoft-com:vml" Requires="v">
                <p:oleObj spid="_x0000_s8325" name="Equation" r:id="rId3" imgW="1219200" imgH="1346200" progId="Equation.3">
                  <p:embed/>
                </p:oleObj>
              </mc:Choice>
              <mc:Fallback>
                <p:oleObj name="Equation" r:id="rId3" imgW="1219200" imgH="1346200" progId="Equation.3">
                  <p:embed/>
                  <p:pic>
                    <p:nvPicPr>
                      <p:cNvPr id="0" name="Picture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4663" y="1628775"/>
                        <a:ext cx="3333750" cy="2376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7" name="Rectangle 5"/>
          <p:cNvSpPr>
            <a:spLocks noChangeArrowheads="1"/>
          </p:cNvSpPr>
          <p:nvPr/>
        </p:nvSpPr>
        <p:spPr bwMode="auto">
          <a:xfrm>
            <a:off x="323850" y="1773238"/>
            <a:ext cx="381635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kumimoji="1" lang="zh-CN" altLang="en-US" sz="2000" dirty="0">
                <a:latin typeface="楷体_GB2312" pitchFamily="49" charset="-122"/>
              </a:rPr>
              <a:t>命中率 </a:t>
            </a:r>
          </a:p>
          <a:p>
            <a:pPr algn="r"/>
            <a:endParaRPr kumimoji="1" lang="zh-CN" altLang="en-US" sz="2000" dirty="0">
              <a:latin typeface="楷体_GB2312" pitchFamily="49" charset="-122"/>
            </a:endParaRPr>
          </a:p>
          <a:p>
            <a:pPr algn="r"/>
            <a:r>
              <a:rPr kumimoji="1" lang="en-US" altLang="zh-CN" sz="2000" dirty="0">
                <a:latin typeface="楷体_GB2312" pitchFamily="49" charset="-122"/>
              </a:rPr>
              <a:t>Cache/</a:t>
            </a:r>
            <a:r>
              <a:rPr kumimoji="1" lang="zh-CN" altLang="en-US" sz="2000" dirty="0">
                <a:latin typeface="楷体_GB2312" pitchFamily="49" charset="-122"/>
              </a:rPr>
              <a:t>主存系统的平均访问时间</a:t>
            </a:r>
          </a:p>
          <a:p>
            <a:pPr algn="r"/>
            <a:endParaRPr kumimoji="1" lang="zh-CN" altLang="en-US" sz="2000" dirty="0">
              <a:latin typeface="楷体_GB2312" pitchFamily="49" charset="-122"/>
            </a:endParaRPr>
          </a:p>
          <a:p>
            <a:pPr algn="r"/>
            <a:r>
              <a:rPr kumimoji="1" lang="zh-CN" altLang="en-US" sz="2000" dirty="0">
                <a:latin typeface="楷体_GB2312" pitchFamily="49" charset="-122"/>
              </a:rPr>
              <a:t>访问效率</a:t>
            </a:r>
          </a:p>
          <a:p>
            <a:endParaRPr kumimoji="1" lang="zh-CN" altLang="en-US" sz="2000" dirty="0">
              <a:latin typeface="楷体_GB2312" pitchFamily="49" charset="-122"/>
            </a:endParaRPr>
          </a:p>
          <a:p>
            <a:r>
              <a:rPr kumimoji="1" lang="zh-CN" altLang="en-US" sz="2000" dirty="0">
                <a:latin typeface="楷体_GB2312" pitchFamily="49" charset="-122"/>
              </a:rPr>
              <a:t>         </a:t>
            </a:r>
            <a:r>
              <a:rPr kumimoji="1" lang="en-US" altLang="zh-CN" sz="2000" dirty="0">
                <a:latin typeface="楷体_GB2312" pitchFamily="49" charset="-122"/>
              </a:rPr>
              <a:t>Cache</a:t>
            </a:r>
            <a:r>
              <a:rPr kumimoji="1" lang="zh-CN" altLang="en-US" sz="2000" dirty="0">
                <a:latin typeface="楷体_GB2312" pitchFamily="49" charset="-122"/>
              </a:rPr>
              <a:t>与内存的速度比</a:t>
            </a:r>
          </a:p>
        </p:txBody>
      </p:sp>
      <p:sp>
        <p:nvSpPr>
          <p:cNvPr id="8198" name="Rectangle 7"/>
          <p:cNvSpPr>
            <a:spLocks noChangeArrowheads="1"/>
          </p:cNvSpPr>
          <p:nvPr/>
        </p:nvSpPr>
        <p:spPr bwMode="auto">
          <a:xfrm>
            <a:off x="468313" y="4221163"/>
            <a:ext cx="770413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a:latin typeface="楷体_GB2312" pitchFamily="49" charset="-122"/>
              </a:rPr>
              <a:t>h=Nc/</a:t>
            </a:r>
            <a:r>
              <a:rPr lang="zh-CN" altLang="en-US">
                <a:latin typeface="楷体_GB2312" pitchFamily="49" charset="-122"/>
              </a:rPr>
              <a:t>（</a:t>
            </a:r>
            <a:r>
              <a:rPr lang="en-US" altLang="zh-CN">
                <a:latin typeface="楷体_GB2312" pitchFamily="49" charset="-122"/>
              </a:rPr>
              <a:t>Nc+Nm</a:t>
            </a:r>
            <a:r>
              <a:rPr lang="zh-CN" altLang="en-US">
                <a:latin typeface="楷体_GB2312" pitchFamily="49" charset="-122"/>
              </a:rPr>
              <a:t>）</a:t>
            </a:r>
            <a:r>
              <a:rPr lang="en-US" altLang="zh-CN">
                <a:latin typeface="楷体_GB2312" pitchFamily="49" charset="-122"/>
              </a:rPr>
              <a:t>=1900/(1900+100)=0.95</a:t>
            </a:r>
          </a:p>
          <a:p>
            <a:r>
              <a:rPr lang="en-US" altLang="zh-CN">
                <a:latin typeface="楷体_GB2312" pitchFamily="49" charset="-122"/>
              </a:rPr>
              <a:t>r=tm/tc=250ns/50ns=5</a:t>
            </a:r>
          </a:p>
          <a:p>
            <a:r>
              <a:rPr lang="en-US" altLang="zh-CN">
                <a:latin typeface="楷体_GB2312" pitchFamily="49" charset="-122"/>
              </a:rPr>
              <a:t>e=1/(r+(1-r)h)=1/(5+(1-5)×0.95=83.3%</a:t>
            </a:r>
          </a:p>
          <a:p>
            <a:r>
              <a:rPr lang="en-US" altLang="zh-CN">
                <a:latin typeface="楷体_GB2312" pitchFamily="49" charset="-122"/>
              </a:rPr>
              <a:t>ta=tc/e=50ns/0.833=60ns</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E772EC59-3D69-4A91-A1E9-F7EEBA01DB84}" type="slidenum">
              <a:rPr lang="en-US" altLang="zh-CN"/>
              <a:pPr>
                <a:defRPr/>
              </a:pPr>
              <a:t>66</a:t>
            </a:fld>
            <a:endParaRPr lang="en-US" altLang="zh-CN"/>
          </a:p>
        </p:txBody>
      </p:sp>
      <p:sp>
        <p:nvSpPr>
          <p:cNvPr id="93187" name="Rectangle 2"/>
          <p:cNvSpPr>
            <a:spLocks noGrp="1" noChangeArrowheads="1"/>
          </p:cNvSpPr>
          <p:nvPr>
            <p:ph type="title"/>
          </p:nvPr>
        </p:nvSpPr>
        <p:spPr>
          <a:xfrm>
            <a:off x="468313" y="188913"/>
            <a:ext cx="7543800" cy="714375"/>
          </a:xfrm>
        </p:spPr>
        <p:txBody>
          <a:bodyPr/>
          <a:lstStyle/>
          <a:p>
            <a:pPr eaLnBrk="1" hangingPunct="1"/>
            <a:r>
              <a:rPr lang="en-US" altLang="zh-CN" sz="4000" b="0" smtClean="0">
                <a:solidFill>
                  <a:schemeClr val="tx1"/>
                </a:solidFill>
                <a:latin typeface="楷体_GB2312" pitchFamily="49" charset="-122"/>
                <a:ea typeface="楷体_GB2312" pitchFamily="49" charset="-122"/>
              </a:rPr>
              <a:t>3.6.2</a:t>
            </a:r>
            <a:r>
              <a:rPr lang="zh-CN" altLang="en-US" sz="4000" b="0" smtClean="0">
                <a:solidFill>
                  <a:schemeClr val="tx1"/>
                </a:solidFill>
                <a:latin typeface="楷体_GB2312" pitchFamily="49" charset="-122"/>
                <a:ea typeface="楷体_GB2312" pitchFamily="49" charset="-122"/>
              </a:rPr>
              <a:t>主存与</a:t>
            </a:r>
            <a:r>
              <a:rPr lang="en-US" altLang="zh-CN" sz="4000" b="0" smtClean="0">
                <a:solidFill>
                  <a:schemeClr val="tx1"/>
                </a:solidFill>
                <a:latin typeface="楷体_GB2312" pitchFamily="49" charset="-122"/>
                <a:ea typeface="楷体_GB2312" pitchFamily="49" charset="-122"/>
              </a:rPr>
              <a:t>Cache</a:t>
            </a:r>
            <a:r>
              <a:rPr lang="zh-CN" altLang="en-US" sz="4000" b="0" smtClean="0">
                <a:solidFill>
                  <a:schemeClr val="tx1"/>
                </a:solidFill>
                <a:latin typeface="楷体_GB2312" pitchFamily="49" charset="-122"/>
                <a:ea typeface="楷体_GB2312" pitchFamily="49" charset="-122"/>
              </a:rPr>
              <a:t>的地址映射</a:t>
            </a:r>
          </a:p>
        </p:txBody>
      </p:sp>
      <p:sp>
        <p:nvSpPr>
          <p:cNvPr id="93188" name="Rectangle 4"/>
          <p:cNvSpPr>
            <a:spLocks noChangeArrowheads="1"/>
          </p:cNvSpPr>
          <p:nvPr/>
        </p:nvSpPr>
        <p:spPr bwMode="auto">
          <a:xfrm>
            <a:off x="179388" y="1087438"/>
            <a:ext cx="785018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r>
              <a:rPr lang="en-US" altLang="zh-CN"/>
              <a:t>       cache</a:t>
            </a:r>
            <a:r>
              <a:rPr lang="zh-CN" altLang="en-US"/>
              <a:t>的容量很小，它保存的内容只是主存内容的一个子集，</a:t>
            </a:r>
            <a:r>
              <a:rPr lang="en-US" altLang="zh-CN"/>
              <a:t>cache</a:t>
            </a:r>
            <a:r>
              <a:rPr lang="zh-CN" altLang="en-US"/>
              <a:t>与主存的数据交换是以块为单位。地址映射即是应用某种方法把主存地址定位到</a:t>
            </a:r>
            <a:r>
              <a:rPr lang="en-US" altLang="zh-CN"/>
              <a:t>cache</a:t>
            </a:r>
            <a:r>
              <a:rPr lang="zh-CN" altLang="en-US"/>
              <a:t>中。 　</a:t>
            </a:r>
          </a:p>
        </p:txBody>
      </p:sp>
      <p:sp>
        <p:nvSpPr>
          <p:cNvPr id="93189" name="Rectangle 6"/>
          <p:cNvSpPr>
            <a:spLocks noChangeArrowheads="1"/>
          </p:cNvSpPr>
          <p:nvPr/>
        </p:nvSpPr>
        <p:spPr bwMode="auto">
          <a:xfrm>
            <a:off x="179388" y="2852738"/>
            <a:ext cx="8713787"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a:t>       </a:t>
            </a:r>
            <a:r>
              <a:rPr lang="zh-CN" altLang="en-US">
                <a:solidFill>
                  <a:srgbClr val="000000"/>
                </a:solidFill>
              </a:rPr>
              <a:t>无论选择那种映射方式，都要把主存和</a:t>
            </a:r>
            <a:r>
              <a:rPr lang="en-US" altLang="zh-CN">
                <a:solidFill>
                  <a:srgbClr val="000000"/>
                </a:solidFill>
              </a:rPr>
              <a:t>cache</a:t>
            </a:r>
            <a:r>
              <a:rPr lang="zh-CN" altLang="en-US">
                <a:solidFill>
                  <a:srgbClr val="000000"/>
                </a:solidFill>
              </a:rPr>
              <a:t>划分为同样大小的“块”。</a:t>
            </a:r>
          </a:p>
          <a:p>
            <a:r>
              <a:rPr lang="zh-CN" altLang="en-US">
                <a:solidFill>
                  <a:srgbClr val="000000"/>
                </a:solidFill>
              </a:rPr>
              <a:t>       选择哪种映射方式，要考虑：</a:t>
            </a:r>
          </a:p>
          <a:p>
            <a:pPr lvl="1"/>
            <a:r>
              <a:rPr lang="zh-CN" altLang="en-US">
                <a:solidFill>
                  <a:srgbClr val="000000"/>
                </a:solidFill>
              </a:rPr>
              <a:t>    </a:t>
            </a:r>
            <a:r>
              <a:rPr lang="en-US" altLang="zh-CN">
                <a:solidFill>
                  <a:srgbClr val="000000"/>
                </a:solidFill>
              </a:rPr>
              <a:t>1</a:t>
            </a:r>
            <a:r>
              <a:rPr lang="zh-CN" altLang="en-US">
                <a:solidFill>
                  <a:srgbClr val="000000"/>
                </a:solidFill>
              </a:rPr>
              <a:t>、硬件是否容易实现</a:t>
            </a:r>
          </a:p>
          <a:p>
            <a:pPr lvl="1"/>
            <a:r>
              <a:rPr lang="zh-CN" altLang="en-US">
                <a:solidFill>
                  <a:srgbClr val="000000"/>
                </a:solidFill>
              </a:rPr>
              <a:t>    </a:t>
            </a:r>
            <a:r>
              <a:rPr lang="en-US" altLang="zh-CN">
                <a:solidFill>
                  <a:srgbClr val="000000"/>
                </a:solidFill>
              </a:rPr>
              <a:t>2</a:t>
            </a:r>
            <a:r>
              <a:rPr lang="zh-CN" altLang="en-US">
                <a:solidFill>
                  <a:srgbClr val="000000"/>
                </a:solidFill>
              </a:rPr>
              <a:t>、地址变换的速度是否快</a:t>
            </a:r>
          </a:p>
          <a:p>
            <a:pPr lvl="1"/>
            <a:r>
              <a:rPr lang="zh-CN" altLang="en-US">
                <a:solidFill>
                  <a:srgbClr val="000000"/>
                </a:solidFill>
              </a:rPr>
              <a:t>    </a:t>
            </a:r>
            <a:r>
              <a:rPr lang="en-US" altLang="zh-CN">
                <a:solidFill>
                  <a:srgbClr val="000000"/>
                </a:solidFill>
              </a:rPr>
              <a:t>3</a:t>
            </a:r>
            <a:r>
              <a:rPr lang="zh-CN" altLang="en-US">
                <a:solidFill>
                  <a:srgbClr val="000000"/>
                </a:solidFill>
              </a:rPr>
              <a:t>、主存空间的利用率是否高</a:t>
            </a:r>
          </a:p>
          <a:p>
            <a:pPr lvl="1"/>
            <a:r>
              <a:rPr lang="zh-CN" altLang="en-US">
                <a:solidFill>
                  <a:srgbClr val="000000"/>
                </a:solidFill>
              </a:rPr>
              <a:t>    </a:t>
            </a:r>
            <a:r>
              <a:rPr lang="en-US" altLang="zh-CN">
                <a:solidFill>
                  <a:srgbClr val="000000"/>
                </a:solidFill>
              </a:rPr>
              <a:t>4</a:t>
            </a:r>
            <a:r>
              <a:rPr lang="zh-CN" altLang="en-US">
                <a:solidFill>
                  <a:srgbClr val="000000"/>
                </a:solidFill>
              </a:rPr>
              <a:t>、主存装入一块时，发生冲突的概率</a:t>
            </a:r>
          </a:p>
          <a:p>
            <a:r>
              <a:rPr lang="zh-CN" altLang="en-US">
                <a:solidFill>
                  <a:srgbClr val="000000"/>
                </a:solidFill>
              </a:rPr>
              <a:t>    以下我们介绍三种映射方法</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F01001FF-DD42-4483-87EB-0D5E32B192F3}" type="slidenum">
              <a:rPr lang="en-US" altLang="zh-CN"/>
              <a:pPr>
                <a:defRPr/>
              </a:pPr>
              <a:t>67</a:t>
            </a:fld>
            <a:endParaRPr lang="en-US" altLang="zh-CN"/>
          </a:p>
        </p:txBody>
      </p:sp>
      <p:sp>
        <p:nvSpPr>
          <p:cNvPr id="94211" name="Rectangle 2"/>
          <p:cNvSpPr>
            <a:spLocks noGrp="1" noChangeArrowheads="1"/>
          </p:cNvSpPr>
          <p:nvPr>
            <p:ph type="title"/>
          </p:nvPr>
        </p:nvSpPr>
        <p:spPr>
          <a:xfrm>
            <a:off x="468313" y="404813"/>
            <a:ext cx="7543800" cy="576262"/>
          </a:xfrm>
        </p:spPr>
        <p:txBody>
          <a:bodyPr/>
          <a:lstStyle/>
          <a:p>
            <a:pPr eaLnBrk="1" hangingPunct="1"/>
            <a:r>
              <a:rPr lang="zh-CN" altLang="en-US" sz="3600" b="0" dirty="0" smtClean="0">
                <a:ea typeface="楷体_GB2312" pitchFamily="49" charset="-122"/>
                <a:cs typeface="Times New Roman" charset="0"/>
              </a:rPr>
              <a:t>一、全相联的映射方式</a:t>
            </a:r>
          </a:p>
        </p:txBody>
      </p:sp>
      <p:sp>
        <p:nvSpPr>
          <p:cNvPr id="94212" name="Rectangle 5"/>
          <p:cNvSpPr>
            <a:spLocks noChangeArrowheads="1"/>
          </p:cNvSpPr>
          <p:nvPr/>
        </p:nvSpPr>
        <p:spPr bwMode="auto">
          <a:xfrm>
            <a:off x="250825" y="4365625"/>
            <a:ext cx="8281988"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eaLnBrk="0" hangingPunct="0"/>
            <a:r>
              <a:rPr lang="zh-CN" altLang="en-US" sz="2000">
                <a:latin typeface="楷体_GB2312" pitchFamily="49" charset="-122"/>
              </a:rPr>
              <a:t>　　在全相联映射中，将主存中的一块地址</a:t>
            </a:r>
            <a:r>
              <a:rPr lang="en-US" altLang="zh-CN" sz="2000">
                <a:latin typeface="楷体_GB2312" pitchFamily="49" charset="-122"/>
              </a:rPr>
              <a:t>(</a:t>
            </a:r>
            <a:r>
              <a:rPr lang="zh-CN" altLang="en-US" sz="2000">
                <a:latin typeface="楷体_GB2312" pitchFamily="49" charset="-122"/>
              </a:rPr>
              <a:t>块号</a:t>
            </a:r>
            <a:r>
              <a:rPr lang="en-US" altLang="zh-CN" sz="2000">
                <a:latin typeface="楷体_GB2312" pitchFamily="49" charset="-122"/>
              </a:rPr>
              <a:t>)</a:t>
            </a:r>
            <a:r>
              <a:rPr lang="zh-CN" altLang="en-US" sz="2000">
                <a:latin typeface="楷体_GB2312" pitchFamily="49" charset="-122"/>
              </a:rPr>
              <a:t>与块的内容一起存于</a:t>
            </a:r>
            <a:r>
              <a:rPr lang="en-US" altLang="zh-CN" sz="2000">
                <a:latin typeface="楷体_GB2312" pitchFamily="49" charset="-122"/>
              </a:rPr>
              <a:t>cache</a:t>
            </a:r>
            <a:r>
              <a:rPr lang="zh-CN" altLang="en-US" sz="2000">
                <a:latin typeface="楷体_GB2312" pitchFamily="49" charset="-122"/>
              </a:rPr>
              <a:t>的行中，其中块地址存于</a:t>
            </a:r>
            <a:r>
              <a:rPr lang="en-US" altLang="zh-CN" sz="2000">
                <a:latin typeface="楷体_GB2312" pitchFamily="49" charset="-122"/>
              </a:rPr>
              <a:t>cache</a:t>
            </a:r>
            <a:r>
              <a:rPr lang="zh-CN" altLang="en-US" sz="2000">
                <a:latin typeface="楷体_GB2312" pitchFamily="49" charset="-122"/>
              </a:rPr>
              <a:t>行的标记部分中。这种带全部块地址一起保存的方法，可使主存的一块直接拷贝到</a:t>
            </a:r>
            <a:r>
              <a:rPr lang="en-US" altLang="zh-CN" sz="2000">
                <a:latin typeface="楷体_GB2312" pitchFamily="49" charset="-122"/>
              </a:rPr>
              <a:t>cache</a:t>
            </a:r>
            <a:r>
              <a:rPr lang="zh-CN" altLang="en-US" sz="2000">
                <a:latin typeface="楷体_GB2312" pitchFamily="49" charset="-122"/>
              </a:rPr>
              <a:t>中的任意一行上。也就是说，主存中任何一块可映射到</a:t>
            </a:r>
            <a:r>
              <a:rPr lang="en-US" altLang="zh-CN" sz="2000">
                <a:latin typeface="楷体_GB2312" pitchFamily="49" charset="-122"/>
              </a:rPr>
              <a:t>cache</a:t>
            </a:r>
            <a:r>
              <a:rPr lang="zh-CN" altLang="en-US" sz="2000">
                <a:latin typeface="楷体_GB2312" pitchFamily="49" charset="-122"/>
              </a:rPr>
              <a:t>的任何一个行的位置上，使用起来非常灵活。 </a:t>
            </a:r>
          </a:p>
        </p:txBody>
      </p:sp>
      <p:sp>
        <p:nvSpPr>
          <p:cNvPr id="94213" name="Rectangle 7"/>
          <p:cNvSpPr>
            <a:spLocks noChangeArrowheads="1"/>
          </p:cNvSpPr>
          <p:nvPr/>
        </p:nvSpPr>
        <p:spPr bwMode="auto">
          <a:xfrm>
            <a:off x="179388" y="1196975"/>
            <a:ext cx="3097212"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sz="2000">
                <a:latin typeface="楷体_GB2312" pitchFamily="49" charset="-122"/>
              </a:rPr>
              <a:t>cache</a:t>
            </a:r>
            <a:r>
              <a:rPr lang="zh-CN" altLang="en-US" sz="2000">
                <a:latin typeface="楷体_GB2312" pitchFamily="49" charset="-122"/>
              </a:rPr>
              <a:t>的数据块大小称为行，用</a:t>
            </a:r>
            <a:r>
              <a:rPr lang="en-US" altLang="zh-CN" sz="2000">
                <a:latin typeface="楷体_GB2312" pitchFamily="49" charset="-122"/>
              </a:rPr>
              <a:t>L</a:t>
            </a:r>
            <a:r>
              <a:rPr lang="en-US" altLang="zh-CN" sz="2000" baseline="-25000">
                <a:latin typeface="楷体_GB2312" pitchFamily="49" charset="-122"/>
              </a:rPr>
              <a:t>i</a:t>
            </a:r>
            <a:r>
              <a:rPr lang="zh-CN" altLang="en-US" sz="2000">
                <a:latin typeface="楷体_GB2312" pitchFamily="49" charset="-122"/>
              </a:rPr>
              <a:t>表示，其中</a:t>
            </a:r>
            <a:r>
              <a:rPr lang="en-US" altLang="zh-CN" sz="2000">
                <a:latin typeface="楷体_GB2312" pitchFamily="49" charset="-122"/>
              </a:rPr>
              <a:t>i=O,l,2,...m-1</a:t>
            </a:r>
            <a:r>
              <a:rPr lang="zh-CN" altLang="en-US" sz="2000">
                <a:latin typeface="楷体_GB2312" pitchFamily="49" charset="-122"/>
              </a:rPr>
              <a:t>，共有</a:t>
            </a:r>
            <a:r>
              <a:rPr lang="en-US" altLang="zh-CN" sz="2000">
                <a:latin typeface="楷体_GB2312" pitchFamily="49" charset="-122"/>
              </a:rPr>
              <a:t>m = 2</a:t>
            </a:r>
            <a:r>
              <a:rPr lang="en-US" altLang="zh-CN" sz="2000" baseline="30000">
                <a:latin typeface="楷体_GB2312" pitchFamily="49" charset="-122"/>
              </a:rPr>
              <a:t>r</a:t>
            </a:r>
            <a:r>
              <a:rPr lang="zh-CN" altLang="en-US" sz="2000">
                <a:latin typeface="楷体_GB2312" pitchFamily="49" charset="-122"/>
              </a:rPr>
              <a:t>行。主存的数据块大小称的块，用</a:t>
            </a:r>
            <a:r>
              <a:rPr lang="en-US" altLang="zh-CN" sz="2000">
                <a:latin typeface="楷体_GB2312" pitchFamily="49" charset="-122"/>
              </a:rPr>
              <a:t>B</a:t>
            </a:r>
            <a:r>
              <a:rPr lang="en-US" altLang="zh-CN" sz="2000" baseline="-25000">
                <a:latin typeface="楷体_GB2312" pitchFamily="49" charset="-122"/>
              </a:rPr>
              <a:t>j</a:t>
            </a:r>
            <a:r>
              <a:rPr lang="zh-CN" altLang="en-US" sz="2000">
                <a:latin typeface="楷体_GB2312" pitchFamily="49" charset="-122"/>
              </a:rPr>
              <a:t>表示，其中</a:t>
            </a:r>
            <a:r>
              <a:rPr lang="en-US" altLang="zh-CN" sz="2000">
                <a:latin typeface="楷体_GB2312" pitchFamily="49" charset="-122"/>
              </a:rPr>
              <a:t>j=O,l,2,...,n-1,</a:t>
            </a:r>
            <a:r>
              <a:rPr lang="zh-CN" altLang="en-US" sz="2000">
                <a:latin typeface="楷体_GB2312" pitchFamily="49" charset="-122"/>
              </a:rPr>
              <a:t>共有 </a:t>
            </a:r>
            <a:r>
              <a:rPr lang="en-US" altLang="zh-CN" sz="2000">
                <a:latin typeface="楷体_GB2312" pitchFamily="49" charset="-122"/>
              </a:rPr>
              <a:t>n = 2</a:t>
            </a:r>
            <a:r>
              <a:rPr lang="en-US" altLang="zh-CN" sz="2000" baseline="30000">
                <a:latin typeface="楷体_GB2312" pitchFamily="49" charset="-122"/>
              </a:rPr>
              <a:t>s</a:t>
            </a:r>
            <a:r>
              <a:rPr lang="en-US" altLang="zh-CN" sz="2000">
                <a:latin typeface="楷体_GB2312" pitchFamily="49" charset="-122"/>
              </a:rPr>
              <a:t> </a:t>
            </a:r>
            <a:r>
              <a:rPr lang="zh-CN" altLang="en-US" sz="2000">
                <a:latin typeface="楷体_GB2312" pitchFamily="49" charset="-122"/>
              </a:rPr>
              <a:t>块。</a:t>
            </a:r>
            <a:r>
              <a:rPr lang="en-US" altLang="zh-CN" sz="2000">
                <a:latin typeface="楷体_GB2312" pitchFamily="49" charset="-122"/>
              </a:rPr>
              <a:t>cache</a:t>
            </a:r>
            <a:r>
              <a:rPr lang="zh-CN" altLang="en-US" sz="2000">
                <a:latin typeface="楷体_GB2312" pitchFamily="49" charset="-122"/>
              </a:rPr>
              <a:t>的每行存储容量同主存的每块容量是相等的。每个块（行）由</a:t>
            </a:r>
            <a:r>
              <a:rPr lang="en-US" altLang="zh-CN" sz="2000">
                <a:latin typeface="楷体_GB2312" pitchFamily="49" charset="-122"/>
              </a:rPr>
              <a:t>k = 2</a:t>
            </a:r>
            <a:r>
              <a:rPr lang="en-US" altLang="zh-CN" sz="2000" baseline="30000">
                <a:latin typeface="楷体_GB2312" pitchFamily="49" charset="-122"/>
              </a:rPr>
              <a:t>w</a:t>
            </a:r>
            <a:r>
              <a:rPr lang="zh-CN" altLang="en-US" sz="2000">
                <a:latin typeface="楷体_GB2312" pitchFamily="49" charset="-122"/>
              </a:rPr>
              <a:t>个连续的字组成。</a:t>
            </a:r>
          </a:p>
        </p:txBody>
      </p:sp>
      <p:pic>
        <p:nvPicPr>
          <p:cNvPr id="9421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268413"/>
            <a:ext cx="5688013" cy="310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363BBE95-A49D-41B4-8C41-2790F9B7FBA3}" type="slidenum">
              <a:rPr lang="en-US" altLang="zh-CN"/>
              <a:pPr>
                <a:defRPr/>
              </a:pPr>
              <a:t>68</a:t>
            </a:fld>
            <a:endParaRPr lang="en-US" altLang="zh-CN"/>
          </a:p>
        </p:txBody>
      </p:sp>
      <p:pic>
        <p:nvPicPr>
          <p:cNvPr id="9523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260350"/>
            <a:ext cx="7272337" cy="402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1" name="Rectangle 5"/>
          <p:cNvSpPr>
            <a:spLocks noChangeArrowheads="1"/>
          </p:cNvSpPr>
          <p:nvPr/>
        </p:nvSpPr>
        <p:spPr bwMode="auto">
          <a:xfrm>
            <a:off x="250825" y="4221163"/>
            <a:ext cx="8424863"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sz="2400">
                <a:latin typeface="楷体_GB2312" pitchFamily="49" charset="-122"/>
              </a:rPr>
              <a:t>1</a:t>
            </a:r>
            <a:r>
              <a:rPr lang="zh-CN" altLang="en-US" sz="2400">
                <a:latin typeface="楷体_GB2312" pitchFamily="49" charset="-122"/>
              </a:rPr>
              <a:t>、将地址分为两部分（块号和字），在内存块写入</a:t>
            </a:r>
            <a:r>
              <a:rPr lang="en-US" altLang="zh-CN" sz="2400">
                <a:latin typeface="楷体_GB2312" pitchFamily="49" charset="-122"/>
              </a:rPr>
              <a:t>Cache</a:t>
            </a:r>
            <a:r>
              <a:rPr lang="zh-CN" altLang="en-US" sz="2400">
                <a:latin typeface="楷体_GB2312" pitchFamily="49" charset="-122"/>
              </a:rPr>
              <a:t>时，同时写入块号标记；</a:t>
            </a:r>
          </a:p>
          <a:p>
            <a:r>
              <a:rPr lang="en-US" altLang="zh-CN" sz="2400">
                <a:latin typeface="楷体_GB2312" pitchFamily="49" charset="-122"/>
              </a:rPr>
              <a:t>2</a:t>
            </a:r>
            <a:r>
              <a:rPr lang="zh-CN" altLang="en-US" sz="2400">
                <a:latin typeface="楷体_GB2312" pitchFamily="49" charset="-122"/>
              </a:rPr>
              <a:t>、</a:t>
            </a:r>
            <a:r>
              <a:rPr lang="en-US" altLang="zh-CN" sz="2400">
                <a:latin typeface="楷体_GB2312" pitchFamily="49" charset="-122"/>
              </a:rPr>
              <a:t>CPU</a:t>
            </a:r>
            <a:r>
              <a:rPr lang="zh-CN" altLang="en-US" sz="2400">
                <a:latin typeface="楷体_GB2312" pitchFamily="49" charset="-122"/>
              </a:rPr>
              <a:t>给出访问地址后，也将地址分为两部分（块号和字），比较电路将块号与</a:t>
            </a:r>
            <a:r>
              <a:rPr lang="en-US" altLang="zh-CN" sz="2400">
                <a:latin typeface="楷体_GB2312" pitchFamily="49" charset="-122"/>
              </a:rPr>
              <a:t>Cache</a:t>
            </a:r>
            <a:r>
              <a:rPr lang="zh-CN" altLang="en-US" sz="2400">
                <a:latin typeface="楷体_GB2312" pitchFamily="49" charset="-122"/>
              </a:rPr>
              <a:t>表中的标记进行比较，相同表示命中，访问相应单元；如果没有命中访问内存，</a:t>
            </a:r>
            <a:r>
              <a:rPr lang="en-US" altLang="zh-CN" sz="2400">
                <a:latin typeface="楷体_GB2312" pitchFamily="49" charset="-122"/>
              </a:rPr>
              <a:t>CPU </a:t>
            </a:r>
            <a:r>
              <a:rPr lang="zh-CN" altLang="en-US" sz="2400">
                <a:latin typeface="楷体_GB2312" pitchFamily="49" charset="-122"/>
              </a:rPr>
              <a:t>直接访问内存，并将被访问内存的相对应块写入</a:t>
            </a:r>
            <a:r>
              <a:rPr lang="en-US" altLang="zh-CN" sz="2400">
                <a:latin typeface="楷体_GB2312" pitchFamily="49" charset="-122"/>
              </a:rPr>
              <a:t>Cache</a:t>
            </a:r>
            <a:r>
              <a:rPr lang="zh-CN" altLang="en-US" sz="2400">
                <a:latin typeface="楷体_GB2312" pitchFamily="49" charset="-122"/>
              </a:rPr>
              <a:t>。</a:t>
            </a:r>
          </a:p>
        </p:txBody>
      </p:sp>
      <p:sp>
        <p:nvSpPr>
          <p:cNvPr id="126982" name="Rectangle 6"/>
          <p:cNvSpPr>
            <a:spLocks noChangeArrowheads="1"/>
          </p:cNvSpPr>
          <p:nvPr/>
        </p:nvSpPr>
        <p:spPr bwMode="auto">
          <a:xfrm>
            <a:off x="381000" y="4419600"/>
            <a:ext cx="8153400" cy="1373188"/>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a:latin typeface="楷体_GB2312" pitchFamily="49" charset="-122"/>
              </a:rPr>
              <a:t>主存用</a:t>
            </a:r>
            <a:r>
              <a:rPr lang="en-US" altLang="zh-CN">
                <a:latin typeface="楷体_GB2312" pitchFamily="49" charset="-122"/>
              </a:rPr>
              <a:t>B</a:t>
            </a:r>
            <a:r>
              <a:rPr lang="en-US" altLang="zh-CN" baseline="-25000">
                <a:latin typeface="楷体_GB2312" pitchFamily="49" charset="-122"/>
              </a:rPr>
              <a:t>j</a:t>
            </a:r>
            <a:r>
              <a:rPr lang="zh-CN" altLang="en-US">
                <a:latin typeface="楷体_GB2312" pitchFamily="49" charset="-122"/>
              </a:rPr>
              <a:t>表示，其中</a:t>
            </a:r>
            <a:r>
              <a:rPr lang="en-US" altLang="zh-CN">
                <a:latin typeface="楷体_GB2312" pitchFamily="49" charset="-122"/>
              </a:rPr>
              <a:t>j=O,l,2,...,n-1,</a:t>
            </a:r>
            <a:r>
              <a:rPr lang="zh-CN" altLang="en-US">
                <a:latin typeface="楷体_GB2312" pitchFamily="49" charset="-122"/>
              </a:rPr>
              <a:t>共有 </a:t>
            </a:r>
            <a:r>
              <a:rPr lang="en-US" altLang="zh-CN">
                <a:latin typeface="楷体_GB2312" pitchFamily="49" charset="-122"/>
              </a:rPr>
              <a:t>n = 2</a:t>
            </a:r>
            <a:r>
              <a:rPr lang="en-US" altLang="zh-CN" baseline="30000">
                <a:latin typeface="楷体_GB2312" pitchFamily="49" charset="-122"/>
              </a:rPr>
              <a:t>s</a:t>
            </a:r>
            <a:r>
              <a:rPr lang="en-US" altLang="zh-CN">
                <a:latin typeface="楷体_GB2312" pitchFamily="49" charset="-122"/>
              </a:rPr>
              <a:t> </a:t>
            </a:r>
            <a:r>
              <a:rPr lang="zh-CN" altLang="en-US">
                <a:latin typeface="楷体_GB2312" pitchFamily="49" charset="-122"/>
              </a:rPr>
              <a:t>块，每个块由</a:t>
            </a:r>
            <a:r>
              <a:rPr lang="en-US" altLang="zh-CN">
                <a:latin typeface="楷体_GB2312" pitchFamily="49" charset="-122"/>
              </a:rPr>
              <a:t>k = 2</a:t>
            </a:r>
            <a:r>
              <a:rPr lang="en-US" altLang="zh-CN" baseline="30000">
                <a:latin typeface="楷体_GB2312" pitchFamily="49" charset="-122"/>
              </a:rPr>
              <a:t>w</a:t>
            </a:r>
            <a:r>
              <a:rPr lang="zh-CN" altLang="en-US">
                <a:latin typeface="楷体_GB2312" pitchFamily="49" charset="-122"/>
              </a:rPr>
              <a:t>个连续的字组成，共有</a:t>
            </a:r>
            <a:r>
              <a:rPr lang="en-US" altLang="zh-CN">
                <a:latin typeface="楷体_GB2312" pitchFamily="49" charset="-122"/>
              </a:rPr>
              <a:t>2</a:t>
            </a:r>
            <a:r>
              <a:rPr lang="en-US" altLang="zh-CN" baseline="30000">
                <a:latin typeface="楷体_GB2312" pitchFamily="49" charset="-122"/>
              </a:rPr>
              <a:t>s+w</a:t>
            </a:r>
            <a:r>
              <a:rPr lang="zh-CN" altLang="en-US">
                <a:latin typeface="楷体_GB2312" pitchFamily="49" charset="-122"/>
              </a:rPr>
              <a:t>个存储单元，内存地址需要</a:t>
            </a:r>
            <a:r>
              <a:rPr lang="en-US" altLang="zh-CN">
                <a:latin typeface="楷体_GB2312" pitchFamily="49" charset="-122"/>
              </a:rPr>
              <a:t>s+w</a:t>
            </a:r>
            <a:r>
              <a:rPr lang="zh-CN" altLang="en-US">
                <a:latin typeface="楷体_GB2312" pitchFamily="49" charset="-122"/>
              </a:rPr>
              <a:t>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6982"/>
                                        </p:tgtEl>
                                        <p:attrNameLst>
                                          <p:attrName>style.visibility</p:attrName>
                                        </p:attrNameLst>
                                      </p:cBhvr>
                                      <p:to>
                                        <p:strVal val="visible"/>
                                      </p:to>
                                    </p:set>
                                    <p:animEffect transition="in" filter="blinds(horizontal)">
                                      <p:cBhvr>
                                        <p:cTn id="7" dur="500"/>
                                        <p:tgtEl>
                                          <p:spTgt spid="126982"/>
                                        </p:tgtEl>
                                      </p:cBhvr>
                                    </p:animEffect>
                                  </p:childTnLst>
                                  <p:subTnLst>
                                    <p:set>
                                      <p:cBhvr override="childStyle">
                                        <p:cTn dur="1" fill="hold" display="0" masterRel="nextClick" afterEffect="1"/>
                                        <p:tgtEl>
                                          <p:spTgt spid="126982"/>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6981"/>
                                        </p:tgtEl>
                                        <p:attrNameLst>
                                          <p:attrName>style.visibility</p:attrName>
                                        </p:attrNameLst>
                                      </p:cBhvr>
                                      <p:to>
                                        <p:strVal val="visible"/>
                                      </p:to>
                                    </p:set>
                                    <p:animEffect transition="in" filter="blinds(horizontal)">
                                      <p:cBhvr>
                                        <p:cTn id="12" dur="500"/>
                                        <p:tgtEl>
                                          <p:spTgt spid="126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1" grpId="0" autoUpdateAnimBg="0"/>
      <p:bldP spid="126982" grpId="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45691863-D255-4ED7-81DA-0E64997EA435}" type="slidenum">
              <a:rPr lang="en-US" altLang="zh-CN"/>
              <a:pPr>
                <a:defRPr/>
              </a:pPr>
              <a:t>69</a:t>
            </a:fld>
            <a:endParaRPr lang="en-US" altLang="zh-CN"/>
          </a:p>
        </p:txBody>
      </p:sp>
      <p:sp>
        <p:nvSpPr>
          <p:cNvPr id="96259" name="Rectangle 2"/>
          <p:cNvSpPr>
            <a:spLocks noGrp="1" noChangeArrowheads="1"/>
          </p:cNvSpPr>
          <p:nvPr>
            <p:ph type="title"/>
          </p:nvPr>
        </p:nvSpPr>
        <p:spPr>
          <a:xfrm>
            <a:off x="395288" y="188913"/>
            <a:ext cx="7129462" cy="647700"/>
          </a:xfrm>
        </p:spPr>
        <p:txBody>
          <a:bodyPr/>
          <a:lstStyle/>
          <a:p>
            <a:pPr eaLnBrk="1" hangingPunct="1"/>
            <a:r>
              <a:rPr lang="en-US" altLang="zh-CN" sz="3500" smtClean="0">
                <a:ea typeface="楷体_GB2312" pitchFamily="49" charset="-122"/>
                <a:cs typeface="Times New Roman" charset="0"/>
              </a:rPr>
              <a:t>    </a:t>
            </a:r>
            <a:r>
              <a:rPr lang="zh-CN" altLang="en-US" sz="3500" smtClean="0">
                <a:ea typeface="楷体_GB2312" pitchFamily="49" charset="-122"/>
                <a:cs typeface="Times New Roman" charset="0"/>
              </a:rPr>
              <a:t>全相联的映射方式</a:t>
            </a:r>
          </a:p>
        </p:txBody>
      </p:sp>
      <p:pic>
        <p:nvPicPr>
          <p:cNvPr id="96260" name="Picture 3" descr="3a34">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685800"/>
            <a:ext cx="6043613" cy="573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1" name="Rectangle 4"/>
          <p:cNvSpPr>
            <a:spLocks noChangeArrowheads="1"/>
          </p:cNvSpPr>
          <p:nvPr/>
        </p:nvSpPr>
        <p:spPr bwMode="auto">
          <a:xfrm>
            <a:off x="323850" y="838200"/>
            <a:ext cx="2190750"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sz="2400">
                <a:latin typeface="楷体_GB2312" pitchFamily="49" charset="-122"/>
              </a:rPr>
              <a:t>3</a:t>
            </a:r>
            <a:r>
              <a:rPr lang="zh-CN" altLang="en-US" sz="2400">
                <a:latin typeface="楷体_GB2312" pitchFamily="49" charset="-122"/>
              </a:rPr>
              <a:t>、特点：</a:t>
            </a:r>
          </a:p>
          <a:p>
            <a:pPr lvl="1"/>
            <a:r>
              <a:rPr lang="zh-CN" altLang="en-US" sz="2400">
                <a:latin typeface="楷体_GB2312" pitchFamily="49" charset="-122"/>
              </a:rPr>
              <a:t>优点：冲突概率小，</a:t>
            </a:r>
            <a:r>
              <a:rPr lang="en-US" altLang="zh-CN" sz="2400">
                <a:latin typeface="楷体_GB2312" pitchFamily="49" charset="-122"/>
              </a:rPr>
              <a:t>Cache</a:t>
            </a:r>
            <a:r>
              <a:rPr lang="zh-CN" altLang="en-US" sz="2400">
                <a:latin typeface="楷体_GB2312" pitchFamily="49" charset="-122"/>
              </a:rPr>
              <a:t>的利用高。</a:t>
            </a:r>
          </a:p>
          <a:p>
            <a:pPr lvl="1"/>
            <a:r>
              <a:rPr lang="zh-CN" altLang="en-US" sz="2400">
                <a:latin typeface="楷体_GB2312" pitchFamily="49" charset="-122"/>
              </a:rPr>
              <a:t>缺点：比较器难实现，需要一个访问速度很快代价高的相联存储器。 </a:t>
            </a:r>
          </a:p>
          <a:p>
            <a:r>
              <a:rPr lang="en-US" altLang="zh-CN" sz="2400">
                <a:latin typeface="楷体_GB2312" pitchFamily="49" charset="-122"/>
              </a:rPr>
              <a:t>4</a:t>
            </a:r>
            <a:r>
              <a:rPr lang="zh-CN" altLang="en-US" sz="2400">
                <a:latin typeface="楷体_GB2312" pitchFamily="49" charset="-122"/>
              </a:rPr>
              <a:t>、应用场合：</a:t>
            </a:r>
          </a:p>
          <a:p>
            <a:pPr lvl="1"/>
            <a:r>
              <a:rPr lang="zh-CN" altLang="en-US" sz="2400">
                <a:latin typeface="楷体_GB2312" pitchFamily="49" charset="-122"/>
              </a:rPr>
              <a:t>适用于小容量的</a:t>
            </a:r>
            <a:r>
              <a:rPr lang="en-US" altLang="zh-CN" sz="2400">
                <a:latin typeface="楷体_GB2312" pitchFamily="49" charset="-122"/>
              </a:rPr>
              <a:t>Cache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09DEE4C5-6680-447E-9B46-A753AA4B10B2}" type="slidenum">
              <a:rPr lang="en-US" altLang="zh-CN"/>
              <a:pPr>
                <a:defRPr/>
              </a:pPr>
              <a:t>70</a:t>
            </a:fld>
            <a:endParaRPr lang="en-US" altLang="zh-CN"/>
          </a:p>
        </p:txBody>
      </p:sp>
      <p:sp>
        <p:nvSpPr>
          <p:cNvPr id="97283" name="Rectangle 4"/>
          <p:cNvSpPr>
            <a:spLocks noChangeArrowheads="1"/>
          </p:cNvSpPr>
          <p:nvPr/>
        </p:nvSpPr>
        <p:spPr bwMode="auto">
          <a:xfrm>
            <a:off x="323850" y="1052513"/>
            <a:ext cx="7416800" cy="124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eaLnBrk="0" hangingPunct="0"/>
            <a:r>
              <a:rPr lang="en-US" altLang="zh-CN" sz="2400">
                <a:latin typeface="楷体_GB2312" pitchFamily="49" charset="-122"/>
              </a:rPr>
              <a:t>1</a:t>
            </a:r>
            <a:r>
              <a:rPr lang="zh-CN" altLang="en-US" sz="2400">
                <a:latin typeface="楷体_GB2312" pitchFamily="49" charset="-122"/>
              </a:rPr>
              <a:t>、映射方法（一对多）</a:t>
            </a:r>
            <a:r>
              <a:rPr lang="zh-CN" altLang="en-US"/>
              <a:t> </a:t>
            </a:r>
            <a:r>
              <a:rPr lang="en-US" altLang="zh-CN" sz="2400">
                <a:latin typeface="楷体_GB2312" pitchFamily="49" charset="-122"/>
              </a:rPr>
              <a:t>cache</a:t>
            </a:r>
            <a:r>
              <a:rPr lang="zh-CN" altLang="en-US" sz="2400">
                <a:latin typeface="楷体_GB2312" pitchFamily="49" charset="-122"/>
              </a:rPr>
              <a:t>的行号</a:t>
            </a:r>
            <a:r>
              <a:rPr lang="en-US" altLang="zh-CN" sz="2400">
                <a:latin typeface="楷体_GB2312" pitchFamily="49" charset="-122"/>
              </a:rPr>
              <a:t>i</a:t>
            </a:r>
            <a:r>
              <a:rPr lang="zh-CN" altLang="en-US" sz="2400">
                <a:latin typeface="楷体_GB2312" pitchFamily="49" charset="-122"/>
              </a:rPr>
              <a:t>和主存的块号</a:t>
            </a:r>
            <a:r>
              <a:rPr lang="en-US" altLang="zh-CN" sz="2400">
                <a:latin typeface="楷体_GB2312" pitchFamily="49" charset="-122"/>
              </a:rPr>
              <a:t>j</a:t>
            </a:r>
            <a:r>
              <a:rPr lang="zh-CN" altLang="en-US" sz="2400">
                <a:latin typeface="楷体_GB2312" pitchFamily="49" charset="-122"/>
              </a:rPr>
              <a:t>有如下函数关系：</a:t>
            </a:r>
          </a:p>
          <a:p>
            <a:pPr eaLnBrk="0" hangingPunct="0"/>
            <a:r>
              <a:rPr lang="zh-CN" altLang="en-US" sz="2400">
                <a:solidFill>
                  <a:srgbClr val="FF0000"/>
                </a:solidFill>
                <a:latin typeface="楷体_GB2312" pitchFamily="49" charset="-122"/>
              </a:rPr>
              <a:t>   </a:t>
            </a:r>
            <a:r>
              <a:rPr lang="en-US" altLang="zh-CN" sz="2400">
                <a:solidFill>
                  <a:srgbClr val="FF0000"/>
                </a:solidFill>
                <a:latin typeface="楷体_GB2312" pitchFamily="49" charset="-122"/>
              </a:rPr>
              <a:t>i=j mod m</a:t>
            </a:r>
            <a:r>
              <a:rPr lang="zh-CN" altLang="en-US" sz="2400">
                <a:solidFill>
                  <a:srgbClr val="FF0000"/>
                </a:solidFill>
                <a:latin typeface="楷体_GB2312" pitchFamily="49" charset="-122"/>
              </a:rPr>
              <a:t>　</a:t>
            </a:r>
            <a:r>
              <a:rPr lang="zh-CN" altLang="en-US" sz="2400">
                <a:latin typeface="楷体_GB2312" pitchFamily="49" charset="-122"/>
              </a:rPr>
              <a:t>（</a:t>
            </a:r>
            <a:r>
              <a:rPr lang="en-US" altLang="zh-CN" sz="2400">
                <a:latin typeface="楷体_GB2312" pitchFamily="49" charset="-122"/>
              </a:rPr>
              <a:t>m</a:t>
            </a:r>
            <a:r>
              <a:rPr lang="zh-CN" altLang="en-US" sz="2400">
                <a:latin typeface="楷体_GB2312" pitchFamily="49" charset="-122"/>
              </a:rPr>
              <a:t>为</a:t>
            </a:r>
            <a:r>
              <a:rPr lang="en-US" altLang="zh-CN" sz="2400">
                <a:latin typeface="楷体_GB2312" pitchFamily="49" charset="-122"/>
              </a:rPr>
              <a:t>cache</a:t>
            </a:r>
            <a:r>
              <a:rPr lang="zh-CN" altLang="en-US" sz="2400">
                <a:latin typeface="楷体_GB2312" pitchFamily="49" charset="-122"/>
              </a:rPr>
              <a:t>中的总行数）</a:t>
            </a:r>
          </a:p>
        </p:txBody>
      </p:sp>
      <p:pic>
        <p:nvPicPr>
          <p:cNvPr id="97284" name="Picture 5" descr="t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2349500"/>
            <a:ext cx="5905500" cy="376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5" name="Rectangle 6"/>
          <p:cNvSpPr>
            <a:spLocks noChangeArrowheads="1"/>
          </p:cNvSpPr>
          <p:nvPr/>
        </p:nvSpPr>
        <p:spPr bwMode="auto">
          <a:xfrm>
            <a:off x="468313" y="260350"/>
            <a:ext cx="75438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3600" b="1">
                <a:solidFill>
                  <a:schemeClr val="tx2"/>
                </a:solidFill>
                <a:latin typeface="Tahoma" pitchFamily="34" charset="0"/>
              </a:rPr>
              <a:t>二、直接映射方式</a:t>
            </a:r>
          </a:p>
        </p:txBody>
      </p:sp>
      <p:sp>
        <p:nvSpPr>
          <p:cNvPr id="97286" name="Rectangle 7"/>
          <p:cNvSpPr>
            <a:spLocks noChangeArrowheads="1"/>
          </p:cNvSpPr>
          <p:nvPr/>
        </p:nvSpPr>
        <p:spPr bwMode="auto">
          <a:xfrm>
            <a:off x="468313" y="2276475"/>
            <a:ext cx="1944687"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sz="2400">
                <a:latin typeface="楷体_GB2312" pitchFamily="49" charset="-122"/>
              </a:rPr>
              <a:t>这也是一种多对一的映射关系，主存中的几块为一组，但一个主存块只能拷贝到</a:t>
            </a:r>
            <a:r>
              <a:rPr lang="en-US" altLang="zh-CN" sz="2400">
                <a:latin typeface="楷体_GB2312" pitchFamily="49" charset="-122"/>
              </a:rPr>
              <a:t>cache</a:t>
            </a:r>
            <a:r>
              <a:rPr lang="zh-CN" altLang="en-US" sz="2400">
                <a:latin typeface="楷体_GB2312" pitchFamily="49" charset="-122"/>
              </a:rPr>
              <a:t>的一个特定行位置上去。</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BD6C8F-AC52-4A1A-A983-A679183B8172}" type="slidenum">
              <a:rPr lang="en-US" altLang="zh-CN" smtClean="0"/>
              <a:pPr>
                <a:defRPr/>
              </a:pPr>
              <a:t>71</a:t>
            </a:fld>
            <a:endParaRPr lang="en-US" altLang="zh-CN"/>
          </a:p>
        </p:txBody>
      </p:sp>
      <p:pic>
        <p:nvPicPr>
          <p:cNvPr id="175106" name="Picture 2"/>
          <p:cNvPicPr>
            <a:picLocks noChangeAspect="1" noChangeArrowheads="1"/>
          </p:cNvPicPr>
          <p:nvPr/>
        </p:nvPicPr>
        <p:blipFill>
          <a:blip r:embed="rId2"/>
          <a:srcRect/>
          <a:stretch>
            <a:fillRect/>
          </a:stretch>
        </p:blipFill>
        <p:spPr bwMode="auto">
          <a:xfrm>
            <a:off x="214282" y="500042"/>
            <a:ext cx="8736852" cy="5934078"/>
          </a:xfrm>
          <a:prstGeom prst="rect">
            <a:avLst/>
          </a:prstGeom>
          <a:noFill/>
          <a:ln w="9525">
            <a:noFill/>
            <a:miter lim="800000"/>
            <a:headEnd/>
            <a:tailEnd/>
          </a:ln>
          <a:effec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E60D8F3B-1ACA-421B-9BEC-0A6B87985371}" type="slidenum">
              <a:rPr lang="en-US" altLang="zh-CN"/>
              <a:pPr>
                <a:defRPr/>
              </a:pPr>
              <a:t>72</a:t>
            </a:fld>
            <a:endParaRPr lang="en-US" altLang="zh-CN"/>
          </a:p>
        </p:txBody>
      </p:sp>
      <p:pic>
        <p:nvPicPr>
          <p:cNvPr id="98307" name="Picture 4">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549275"/>
            <a:ext cx="7634288"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9" name="Rectangle 5"/>
          <p:cNvSpPr>
            <a:spLocks noChangeArrowheads="1"/>
          </p:cNvSpPr>
          <p:nvPr/>
        </p:nvSpPr>
        <p:spPr bwMode="auto">
          <a:xfrm>
            <a:off x="179388" y="4868863"/>
            <a:ext cx="878522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sz="2400">
                <a:latin typeface="楷体_GB2312" pitchFamily="49" charset="-122"/>
              </a:rPr>
              <a:t>2</a:t>
            </a:r>
            <a:r>
              <a:rPr lang="zh-CN" altLang="en-US" sz="2400">
                <a:latin typeface="楷体_GB2312" pitchFamily="49" charset="-122"/>
              </a:rPr>
              <a:t>、基本原理</a:t>
            </a:r>
          </a:p>
          <a:p>
            <a:r>
              <a:rPr lang="zh-CN" altLang="en-US" sz="2400">
                <a:latin typeface="楷体_GB2312" pitchFamily="49" charset="-122"/>
              </a:rPr>
              <a:t>    利用行号选择相应行；把行标记与</a:t>
            </a:r>
            <a:r>
              <a:rPr lang="en-US" altLang="zh-CN" sz="2400">
                <a:latin typeface="楷体_GB2312" pitchFamily="49" charset="-122"/>
              </a:rPr>
              <a:t>CPU</a:t>
            </a:r>
            <a:r>
              <a:rPr lang="zh-CN" altLang="en-US" sz="2400">
                <a:latin typeface="楷体_GB2312" pitchFamily="49" charset="-122"/>
              </a:rPr>
              <a:t>访问地址进行比较，相同表示命中，访问</a:t>
            </a:r>
            <a:r>
              <a:rPr lang="en-US" altLang="zh-CN" sz="2400">
                <a:latin typeface="楷体_GB2312" pitchFamily="49" charset="-122"/>
              </a:rPr>
              <a:t>Cache</a:t>
            </a:r>
            <a:r>
              <a:rPr lang="zh-CN" altLang="en-US" sz="2400">
                <a:latin typeface="楷体_GB2312" pitchFamily="49" charset="-122"/>
              </a:rPr>
              <a:t>；</a:t>
            </a:r>
          </a:p>
          <a:p>
            <a:r>
              <a:rPr lang="zh-CN" altLang="en-US" sz="2400">
                <a:latin typeface="楷体_GB2312" pitchFamily="49" charset="-122"/>
              </a:rPr>
              <a:t>    如果没有命中，访问内存，并将相应块写入</a:t>
            </a:r>
            <a:r>
              <a:rPr lang="en-US" altLang="zh-CN" sz="2400">
                <a:latin typeface="楷体_GB2312" pitchFamily="49" charset="-122"/>
              </a:rPr>
              <a:t>Cache</a:t>
            </a:r>
          </a:p>
        </p:txBody>
      </p:sp>
      <p:sp>
        <p:nvSpPr>
          <p:cNvPr id="129030" name="Rectangle 6"/>
          <p:cNvSpPr>
            <a:spLocks noChangeArrowheads="1"/>
          </p:cNvSpPr>
          <p:nvPr/>
        </p:nvSpPr>
        <p:spPr bwMode="auto">
          <a:xfrm>
            <a:off x="304800" y="4724400"/>
            <a:ext cx="8305800" cy="1917700"/>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sz="2400">
                <a:latin typeface="楷体_GB2312" pitchFamily="49" charset="-122"/>
              </a:rPr>
              <a:t>主存用</a:t>
            </a:r>
            <a:r>
              <a:rPr lang="en-US" altLang="zh-CN" sz="2400">
                <a:latin typeface="楷体_GB2312" pitchFamily="49" charset="-122"/>
              </a:rPr>
              <a:t>B</a:t>
            </a:r>
            <a:r>
              <a:rPr lang="en-US" altLang="zh-CN" sz="2400" baseline="-25000">
                <a:latin typeface="楷体_GB2312" pitchFamily="49" charset="-122"/>
              </a:rPr>
              <a:t>j</a:t>
            </a:r>
            <a:r>
              <a:rPr lang="zh-CN" altLang="en-US" sz="2400">
                <a:latin typeface="楷体_GB2312" pitchFamily="49" charset="-122"/>
              </a:rPr>
              <a:t>表示，其中</a:t>
            </a:r>
            <a:r>
              <a:rPr lang="en-US" altLang="zh-CN" sz="2400">
                <a:latin typeface="楷体_GB2312" pitchFamily="49" charset="-122"/>
              </a:rPr>
              <a:t>j=O,l,2,...,n-1,</a:t>
            </a:r>
            <a:r>
              <a:rPr lang="zh-CN" altLang="en-US" sz="2400">
                <a:latin typeface="楷体_GB2312" pitchFamily="49" charset="-122"/>
              </a:rPr>
              <a:t>共有 </a:t>
            </a:r>
            <a:r>
              <a:rPr lang="en-US" altLang="zh-CN" sz="2400">
                <a:latin typeface="楷体_GB2312" pitchFamily="49" charset="-122"/>
              </a:rPr>
              <a:t>n = 2</a:t>
            </a:r>
            <a:r>
              <a:rPr lang="en-US" altLang="zh-CN" sz="2400" baseline="30000">
                <a:latin typeface="楷体_GB2312" pitchFamily="49" charset="-122"/>
              </a:rPr>
              <a:t>s</a:t>
            </a:r>
            <a:r>
              <a:rPr lang="en-US" altLang="zh-CN" sz="2400">
                <a:latin typeface="楷体_GB2312" pitchFamily="49" charset="-122"/>
              </a:rPr>
              <a:t> </a:t>
            </a:r>
            <a:r>
              <a:rPr lang="zh-CN" altLang="en-US" sz="2400">
                <a:latin typeface="楷体_GB2312" pitchFamily="49" charset="-122"/>
              </a:rPr>
              <a:t>块，每个块由</a:t>
            </a:r>
            <a:r>
              <a:rPr lang="en-US" altLang="zh-CN" sz="2400">
                <a:latin typeface="楷体_GB2312" pitchFamily="49" charset="-122"/>
              </a:rPr>
              <a:t>k = 2</a:t>
            </a:r>
            <a:r>
              <a:rPr lang="en-US" altLang="zh-CN" sz="2400" baseline="30000">
                <a:latin typeface="楷体_GB2312" pitchFamily="49" charset="-122"/>
              </a:rPr>
              <a:t>w</a:t>
            </a:r>
            <a:r>
              <a:rPr lang="zh-CN" altLang="en-US" sz="2400">
                <a:latin typeface="楷体_GB2312" pitchFamily="49" charset="-122"/>
              </a:rPr>
              <a:t>个连续的字组成，共有</a:t>
            </a:r>
            <a:r>
              <a:rPr lang="en-US" altLang="zh-CN" sz="2400">
                <a:latin typeface="楷体_GB2312" pitchFamily="49" charset="-122"/>
              </a:rPr>
              <a:t>2</a:t>
            </a:r>
            <a:r>
              <a:rPr lang="en-US" altLang="zh-CN" sz="2400" baseline="30000">
                <a:latin typeface="楷体_GB2312" pitchFamily="49" charset="-122"/>
              </a:rPr>
              <a:t>s+w</a:t>
            </a:r>
            <a:r>
              <a:rPr lang="zh-CN" altLang="en-US" sz="2400">
                <a:latin typeface="楷体_GB2312" pitchFamily="49" charset="-122"/>
              </a:rPr>
              <a:t>个存储单元，内存地址需要</a:t>
            </a:r>
            <a:r>
              <a:rPr lang="en-US" altLang="zh-CN" sz="2400">
                <a:latin typeface="楷体_GB2312" pitchFamily="49" charset="-122"/>
              </a:rPr>
              <a:t>s+w</a:t>
            </a:r>
            <a:r>
              <a:rPr lang="zh-CN" altLang="en-US" sz="2400">
                <a:latin typeface="楷体_GB2312" pitchFamily="49" charset="-122"/>
              </a:rPr>
              <a:t>位。</a:t>
            </a:r>
            <a:r>
              <a:rPr lang="en-US" altLang="zh-CN" sz="2400">
                <a:latin typeface="楷体_GB2312" pitchFamily="49" charset="-122"/>
              </a:rPr>
              <a:t>cache</a:t>
            </a:r>
            <a:r>
              <a:rPr lang="zh-CN" altLang="en-US" sz="2400">
                <a:latin typeface="楷体_GB2312" pitchFamily="49" charset="-122"/>
              </a:rPr>
              <a:t>的数据块大小称为行，用</a:t>
            </a:r>
            <a:r>
              <a:rPr lang="en-US" altLang="zh-CN" sz="2400">
                <a:latin typeface="楷体_GB2312" pitchFamily="49" charset="-122"/>
              </a:rPr>
              <a:t>L</a:t>
            </a:r>
            <a:r>
              <a:rPr lang="en-US" altLang="zh-CN" sz="2400" baseline="-25000">
                <a:latin typeface="楷体_GB2312" pitchFamily="49" charset="-122"/>
              </a:rPr>
              <a:t>i</a:t>
            </a:r>
            <a:r>
              <a:rPr lang="zh-CN" altLang="en-US" sz="2400">
                <a:latin typeface="楷体_GB2312" pitchFamily="49" charset="-122"/>
              </a:rPr>
              <a:t>表示，其中</a:t>
            </a:r>
            <a:r>
              <a:rPr lang="en-US" altLang="zh-CN" sz="2400">
                <a:latin typeface="楷体_GB2312" pitchFamily="49" charset="-122"/>
              </a:rPr>
              <a:t>i=O,l,2,...m-1</a:t>
            </a:r>
            <a:r>
              <a:rPr lang="zh-CN" altLang="en-US" sz="2400">
                <a:latin typeface="楷体_GB2312" pitchFamily="49" charset="-122"/>
              </a:rPr>
              <a:t>，共有</a:t>
            </a:r>
            <a:r>
              <a:rPr lang="en-US" altLang="zh-CN" sz="2400">
                <a:latin typeface="楷体_GB2312" pitchFamily="49" charset="-122"/>
              </a:rPr>
              <a:t>m = 2</a:t>
            </a:r>
            <a:r>
              <a:rPr lang="en-US" altLang="zh-CN" sz="2400" baseline="30000">
                <a:latin typeface="楷体_GB2312" pitchFamily="49" charset="-122"/>
              </a:rPr>
              <a:t>r</a:t>
            </a:r>
            <a:r>
              <a:rPr lang="zh-CN" altLang="en-US" sz="2400">
                <a:latin typeface="楷体_GB2312" pitchFamily="49" charset="-122"/>
              </a:rPr>
              <a:t>行，</a:t>
            </a:r>
            <a:r>
              <a:rPr lang="en-US" altLang="zh-CN" sz="2400">
                <a:latin typeface="楷体_GB2312" pitchFamily="49" charset="-122"/>
              </a:rPr>
              <a:t>s</a:t>
            </a:r>
            <a:r>
              <a:rPr lang="zh-CN" altLang="en-US" sz="2400">
                <a:latin typeface="楷体_GB2312" pitchFamily="49" charset="-122"/>
              </a:rPr>
              <a:t>位中后</a:t>
            </a:r>
            <a:r>
              <a:rPr lang="en-US" altLang="zh-CN" sz="2400">
                <a:latin typeface="楷体_GB2312" pitchFamily="49" charset="-122"/>
              </a:rPr>
              <a:t>r</a:t>
            </a:r>
            <a:r>
              <a:rPr lang="zh-CN" altLang="en-US" sz="2400">
                <a:latin typeface="楷体_GB2312" pitchFamily="49" charset="-122"/>
              </a:rPr>
              <a:t>位表示在</a:t>
            </a:r>
            <a:r>
              <a:rPr lang="en-US" altLang="zh-CN" sz="2400">
                <a:latin typeface="楷体_GB2312" pitchFamily="49" charset="-122"/>
              </a:rPr>
              <a:t>cache</a:t>
            </a:r>
            <a:r>
              <a:rPr lang="zh-CN" altLang="en-US" sz="2400">
                <a:latin typeface="楷体_GB2312" pitchFamily="49" charset="-122"/>
              </a:rPr>
              <a:t>中的行号，</a:t>
            </a:r>
            <a:r>
              <a:rPr lang="en-US" altLang="zh-CN" sz="2400">
                <a:latin typeface="楷体_GB2312" pitchFamily="49" charset="-122"/>
              </a:rPr>
              <a:t>s-r</a:t>
            </a:r>
            <a:r>
              <a:rPr lang="zh-CN" altLang="en-US" sz="2400">
                <a:latin typeface="楷体_GB2312" pitchFamily="49" charset="-122"/>
              </a:rPr>
              <a:t>表示在组中的位置。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9030"/>
                                        </p:tgtEl>
                                        <p:attrNameLst>
                                          <p:attrName>style.visibility</p:attrName>
                                        </p:attrNameLst>
                                      </p:cBhvr>
                                      <p:to>
                                        <p:strVal val="visible"/>
                                      </p:to>
                                    </p:set>
                                    <p:animEffect transition="in" filter="blinds(horizontal)">
                                      <p:cBhvr>
                                        <p:cTn id="7" dur="500"/>
                                        <p:tgtEl>
                                          <p:spTgt spid="129030"/>
                                        </p:tgtEl>
                                      </p:cBhvr>
                                    </p:animEffect>
                                  </p:childTnLst>
                                  <p:subTnLst>
                                    <p:set>
                                      <p:cBhvr override="childStyle">
                                        <p:cTn dur="1" fill="hold" display="0" masterRel="nextClick" afterEffect="1"/>
                                        <p:tgtEl>
                                          <p:spTgt spid="129030"/>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9029"/>
                                        </p:tgtEl>
                                        <p:attrNameLst>
                                          <p:attrName>style.visibility</p:attrName>
                                        </p:attrNameLst>
                                      </p:cBhvr>
                                      <p:to>
                                        <p:strVal val="visible"/>
                                      </p:to>
                                    </p:set>
                                    <p:animEffect transition="in" filter="blinds(horizontal)">
                                      <p:cBhvr>
                                        <p:cTn id="12" dur="500"/>
                                        <p:tgtEl>
                                          <p:spTgt spid="129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9" grpId="0" autoUpdateAnimBg="0"/>
      <p:bldP spid="129030" grpId="0" animBg="1"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BB55EE3F-99F3-4D1A-9A32-DC776B9886C2}" type="slidenum">
              <a:rPr lang="en-US" altLang="zh-CN"/>
              <a:pPr>
                <a:defRPr/>
              </a:pPr>
              <a:t>73</a:t>
            </a:fld>
            <a:endParaRPr lang="en-US" altLang="zh-CN"/>
          </a:p>
        </p:txBody>
      </p:sp>
      <p:sp>
        <p:nvSpPr>
          <p:cNvPr id="99331" name="Rectangle 9"/>
          <p:cNvSpPr>
            <a:spLocks noGrp="1" noChangeArrowheads="1"/>
          </p:cNvSpPr>
          <p:nvPr>
            <p:ph type="body" idx="1"/>
          </p:nvPr>
        </p:nvSpPr>
        <p:spPr>
          <a:xfrm>
            <a:off x="250825" y="1052513"/>
            <a:ext cx="3168650" cy="4411662"/>
          </a:xfrm>
        </p:spPr>
        <p:txBody>
          <a:bodyPr/>
          <a:lstStyle/>
          <a:p>
            <a:pPr eaLnBrk="1" hangingPunct="1">
              <a:buFont typeface="Wingdings" pitchFamily="2" charset="2"/>
              <a:buNone/>
            </a:pPr>
            <a:r>
              <a:rPr lang="en-US" altLang="zh-CN" sz="2400" smtClean="0">
                <a:latin typeface="楷体_GB2312" pitchFamily="49" charset="-122"/>
                <a:ea typeface="楷体_GB2312" pitchFamily="49" charset="-122"/>
              </a:rPr>
              <a:t>   </a:t>
            </a:r>
            <a:endParaRPr lang="en-US" altLang="zh-CN" sz="2800" smtClean="0">
              <a:latin typeface="楷体_GB2312" pitchFamily="49" charset="-122"/>
              <a:ea typeface="楷体_GB2312" pitchFamily="49" charset="-122"/>
            </a:endParaRPr>
          </a:p>
        </p:txBody>
      </p:sp>
      <p:sp>
        <p:nvSpPr>
          <p:cNvPr id="99332" name="Rectangle 10"/>
          <p:cNvSpPr>
            <a:spLocks noChangeArrowheads="1"/>
          </p:cNvSpPr>
          <p:nvPr/>
        </p:nvSpPr>
        <p:spPr bwMode="auto">
          <a:xfrm>
            <a:off x="468313" y="260350"/>
            <a:ext cx="75438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3600" b="1">
                <a:solidFill>
                  <a:schemeClr val="tx2"/>
                </a:solidFill>
                <a:latin typeface="Tahoma" pitchFamily="34" charset="0"/>
              </a:rPr>
              <a:t>二、直接映射方式</a:t>
            </a:r>
          </a:p>
        </p:txBody>
      </p:sp>
      <p:sp>
        <p:nvSpPr>
          <p:cNvPr id="99333" name="Rectangle 12"/>
          <p:cNvSpPr>
            <a:spLocks noChangeArrowheads="1"/>
          </p:cNvSpPr>
          <p:nvPr/>
        </p:nvSpPr>
        <p:spPr bwMode="auto">
          <a:xfrm>
            <a:off x="323850" y="1196975"/>
            <a:ext cx="7777163"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sz="2400">
                <a:latin typeface="楷体_GB2312" pitchFamily="49" charset="-122"/>
              </a:rPr>
              <a:t>   3</a:t>
            </a:r>
            <a:r>
              <a:rPr lang="zh-CN" altLang="en-US" sz="2400">
                <a:latin typeface="楷体_GB2312" pitchFamily="49" charset="-122"/>
              </a:rPr>
              <a:t>、特点</a:t>
            </a:r>
          </a:p>
          <a:p>
            <a:pPr lvl="1"/>
            <a:r>
              <a:rPr lang="zh-CN" altLang="en-US" sz="2400">
                <a:latin typeface="楷体_GB2312" pitchFamily="49" charset="-122"/>
              </a:rPr>
              <a:t>   优点：硬件简单，成本低。</a:t>
            </a:r>
          </a:p>
          <a:p>
            <a:pPr lvl="1"/>
            <a:r>
              <a:rPr lang="zh-CN" altLang="en-US" sz="2400">
                <a:latin typeface="楷体_GB2312" pitchFamily="49" charset="-122"/>
              </a:rPr>
              <a:t>   缺点：每个主存块只有一个固定的行位置可存放</a:t>
            </a:r>
            <a:r>
              <a:rPr lang="en-US" altLang="zh-CN" sz="2400">
                <a:latin typeface="楷体_GB2312" pitchFamily="49" charset="-122"/>
              </a:rPr>
              <a:t>, </a:t>
            </a:r>
          </a:p>
          <a:p>
            <a:pPr lvl="1"/>
            <a:r>
              <a:rPr lang="en-US" altLang="zh-CN" sz="2400">
                <a:latin typeface="楷体_GB2312" pitchFamily="49" charset="-122"/>
              </a:rPr>
              <a:t>         </a:t>
            </a:r>
            <a:r>
              <a:rPr lang="zh-CN" altLang="en-US" sz="2400">
                <a:latin typeface="楷体_GB2312" pitchFamily="49" charset="-122"/>
              </a:rPr>
              <a:t>容易产生冲突。</a:t>
            </a:r>
          </a:p>
          <a:p>
            <a:pPr lvl="1"/>
            <a:r>
              <a:rPr lang="en-US" altLang="zh-CN" sz="2400">
                <a:latin typeface="楷体_GB2312" pitchFamily="49" charset="-122"/>
              </a:rPr>
              <a:t>4</a:t>
            </a:r>
            <a:r>
              <a:rPr lang="zh-CN" altLang="en-US" sz="2400">
                <a:latin typeface="楷体_GB2312" pitchFamily="49" charset="-122"/>
              </a:rPr>
              <a:t>、应用场合</a:t>
            </a:r>
          </a:p>
          <a:p>
            <a:pPr lvl="1"/>
            <a:r>
              <a:rPr lang="zh-CN" altLang="en-US" sz="2400">
                <a:latin typeface="楷体_GB2312" pitchFamily="49" charset="-122"/>
              </a:rPr>
              <a:t>   适合大容量</a:t>
            </a:r>
            <a:r>
              <a:rPr lang="en-US" altLang="zh-CN" sz="2400">
                <a:latin typeface="楷体_GB2312" pitchFamily="49" charset="-122"/>
              </a:rPr>
              <a:t>Cache</a:t>
            </a:r>
          </a:p>
        </p:txBody>
      </p:sp>
      <p:sp>
        <p:nvSpPr>
          <p:cNvPr id="99334" name="Rectangle 14"/>
          <p:cNvSpPr>
            <a:spLocks noChangeArrowheads="1"/>
          </p:cNvSpPr>
          <p:nvPr/>
        </p:nvSpPr>
        <p:spPr bwMode="auto">
          <a:xfrm>
            <a:off x="468313" y="3933825"/>
            <a:ext cx="7777162" cy="2295525"/>
          </a:xfrm>
          <a:prstGeom prst="rect">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p>
            <a:r>
              <a:rPr lang="en-US" altLang="zh-CN" sz="2400">
                <a:latin typeface="楷体_GB2312" pitchFamily="49" charset="-122"/>
              </a:rPr>
              <a:t>    </a:t>
            </a:r>
            <a:r>
              <a:rPr lang="zh-CN" altLang="en-US" sz="2400">
                <a:latin typeface="楷体_GB2312" pitchFamily="49" charset="-122"/>
              </a:rPr>
              <a:t>每个主存块只有一个固定的行位置可存取。如果块号相距</a:t>
            </a:r>
            <a:r>
              <a:rPr lang="en-US" altLang="zh-CN" sz="2400">
                <a:latin typeface="楷体_GB2312" pitchFamily="49" charset="-122"/>
              </a:rPr>
              <a:t>m</a:t>
            </a:r>
            <a:r>
              <a:rPr lang="zh-CN" altLang="en-US" sz="2400">
                <a:latin typeface="楷体_GB2312" pitchFamily="49" charset="-122"/>
              </a:rPr>
              <a:t>的整数倍的两个块存于</a:t>
            </a:r>
            <a:r>
              <a:rPr lang="en-US" altLang="zh-CN" sz="2400">
                <a:latin typeface="楷体_GB2312" pitchFamily="49" charset="-122"/>
              </a:rPr>
              <a:t>cache</a:t>
            </a:r>
            <a:r>
              <a:rPr lang="zh-CN" altLang="en-US" sz="2400">
                <a:latin typeface="楷体_GB2312" pitchFamily="49" charset="-122"/>
              </a:rPr>
              <a:t>的同一行时，则就发生冲突。发生冲突时就要将原先存入的行替换出来，但很可能过一段时间又要换入。频繁的置换会使</a:t>
            </a:r>
            <a:r>
              <a:rPr lang="en-US" altLang="zh-CN" sz="2400">
                <a:latin typeface="楷体_GB2312" pitchFamily="49" charset="-122"/>
              </a:rPr>
              <a:t>cache</a:t>
            </a:r>
            <a:r>
              <a:rPr lang="zh-CN" altLang="en-US" sz="2400">
                <a:latin typeface="楷体_GB2312" pitchFamily="49" charset="-122"/>
              </a:rPr>
              <a:t>的效率下降。因此，直接映射方式适合于需要大容量</a:t>
            </a:r>
            <a:r>
              <a:rPr lang="en-US" altLang="zh-CN" sz="2400">
                <a:latin typeface="楷体_GB2312" pitchFamily="49" charset="-122"/>
              </a:rPr>
              <a:t>cache</a:t>
            </a:r>
            <a:r>
              <a:rPr lang="zh-CN" altLang="en-US" sz="2400">
                <a:latin typeface="楷体_GB2312" pitchFamily="49" charset="-122"/>
              </a:rPr>
              <a:t>的场合，更多的行可以减小冲突的机会。</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74E9ADB2-1D67-4697-ACDA-A9441B195572}" type="slidenum">
              <a:rPr lang="en-US" altLang="zh-CN"/>
              <a:pPr>
                <a:defRPr/>
              </a:pPr>
              <a:t>74</a:t>
            </a:fld>
            <a:endParaRPr lang="en-US" altLang="zh-CN"/>
          </a:p>
        </p:txBody>
      </p:sp>
      <p:sp>
        <p:nvSpPr>
          <p:cNvPr id="100355" name="Rectangle 5"/>
          <p:cNvSpPr>
            <a:spLocks noChangeArrowheads="1"/>
          </p:cNvSpPr>
          <p:nvPr/>
        </p:nvSpPr>
        <p:spPr bwMode="auto">
          <a:xfrm>
            <a:off x="468313" y="188913"/>
            <a:ext cx="7543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3600" b="1">
                <a:solidFill>
                  <a:schemeClr val="tx2"/>
                </a:solidFill>
                <a:latin typeface="Tahoma" pitchFamily="34" charset="0"/>
              </a:rPr>
              <a:t>二、直接映射方式</a:t>
            </a:r>
          </a:p>
        </p:txBody>
      </p:sp>
      <p:sp>
        <p:nvSpPr>
          <p:cNvPr id="100356" name="Rectangle 7"/>
          <p:cNvSpPr>
            <a:spLocks noChangeArrowheads="1"/>
          </p:cNvSpPr>
          <p:nvPr/>
        </p:nvSpPr>
        <p:spPr bwMode="auto">
          <a:xfrm>
            <a:off x="179388" y="908050"/>
            <a:ext cx="77771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eaLnBrk="0" hangingPunct="0"/>
            <a:r>
              <a:rPr lang="en-US" altLang="zh-CN" sz="2000">
                <a:latin typeface="楷体_GB2312" pitchFamily="49" charset="-122"/>
              </a:rPr>
              <a:t>[</a:t>
            </a:r>
            <a:r>
              <a:rPr lang="zh-CN" altLang="en-US" sz="2000">
                <a:latin typeface="楷体_GB2312" pitchFamily="49" charset="-122"/>
              </a:rPr>
              <a:t>例</a:t>
            </a:r>
            <a:r>
              <a:rPr lang="en-US" altLang="zh-CN" sz="2000">
                <a:latin typeface="楷体_GB2312" pitchFamily="49" charset="-122"/>
              </a:rPr>
              <a:t>] cache</a:t>
            </a:r>
            <a:r>
              <a:rPr lang="zh-CN" altLang="en-US" sz="2000">
                <a:latin typeface="楷体_GB2312" pitchFamily="49" charset="-122"/>
              </a:rPr>
              <a:t>为</a:t>
            </a:r>
            <a:r>
              <a:rPr lang="en-US" altLang="zh-CN" sz="2000">
                <a:latin typeface="楷体_GB2312" pitchFamily="49" charset="-122"/>
              </a:rPr>
              <a:t>2K</a:t>
            </a:r>
            <a:r>
              <a:rPr lang="zh-CN" altLang="en-US" sz="2000">
                <a:latin typeface="楷体_GB2312" pitchFamily="49" charset="-122"/>
              </a:rPr>
              <a:t>字，分成</a:t>
            </a:r>
            <a:r>
              <a:rPr lang="en-US" altLang="zh-CN" sz="2000">
                <a:latin typeface="楷体_GB2312" pitchFamily="49" charset="-122"/>
              </a:rPr>
              <a:t>128</a:t>
            </a:r>
            <a:r>
              <a:rPr lang="zh-CN" altLang="en-US" sz="2000">
                <a:latin typeface="楷体_GB2312" pitchFamily="49" charset="-122"/>
              </a:rPr>
              <a:t>行，每行</a:t>
            </a:r>
            <a:r>
              <a:rPr lang="en-US" altLang="zh-CN" sz="2000">
                <a:latin typeface="楷体_GB2312" pitchFamily="49" charset="-122"/>
              </a:rPr>
              <a:t>16</a:t>
            </a:r>
            <a:r>
              <a:rPr lang="zh-CN" altLang="en-US" sz="2000">
                <a:latin typeface="楷体_GB2312" pitchFamily="49" charset="-122"/>
              </a:rPr>
              <a:t>个字。主存</a:t>
            </a:r>
            <a:r>
              <a:rPr lang="en-US" altLang="zh-CN" sz="2000">
                <a:latin typeface="楷体_GB2312" pitchFamily="49" charset="-122"/>
              </a:rPr>
              <a:t>64K</a:t>
            </a:r>
            <a:r>
              <a:rPr lang="zh-CN" altLang="en-US" sz="2000">
                <a:latin typeface="楷体_GB2312" pitchFamily="49" charset="-122"/>
              </a:rPr>
              <a:t>字，为了映射的目的，每块也必须为</a:t>
            </a:r>
            <a:r>
              <a:rPr lang="en-US" altLang="zh-CN" sz="2000">
                <a:latin typeface="楷体_GB2312" pitchFamily="49" charset="-122"/>
              </a:rPr>
              <a:t>16</a:t>
            </a:r>
            <a:r>
              <a:rPr lang="zh-CN" altLang="en-US" sz="2000">
                <a:latin typeface="楷体_GB2312" pitchFamily="49" charset="-122"/>
              </a:rPr>
              <a:t>个字，主存分为</a:t>
            </a:r>
            <a:r>
              <a:rPr lang="en-US" altLang="zh-CN" sz="2000">
                <a:latin typeface="楷体_GB2312" pitchFamily="49" charset="-122"/>
              </a:rPr>
              <a:t>4096</a:t>
            </a:r>
            <a:r>
              <a:rPr lang="zh-CN" altLang="en-US" sz="2000">
                <a:latin typeface="楷体_GB2312" pitchFamily="49" charset="-122"/>
              </a:rPr>
              <a:t>块。</a:t>
            </a:r>
            <a:r>
              <a:rPr lang="en-US" altLang="zh-CN" sz="2000">
                <a:latin typeface="楷体_GB2312" pitchFamily="49" charset="-122"/>
              </a:rPr>
              <a:t>cache</a:t>
            </a:r>
            <a:r>
              <a:rPr lang="zh-CN" altLang="en-US" sz="2000">
                <a:latin typeface="楷体_GB2312" pitchFamily="49" charset="-122"/>
              </a:rPr>
              <a:t>每行和主存中的</a:t>
            </a:r>
            <a:r>
              <a:rPr lang="en-US" altLang="zh-CN" sz="2000">
                <a:latin typeface="楷体_GB2312" pitchFamily="49" charset="-122"/>
              </a:rPr>
              <a:t>32(4096/128)</a:t>
            </a:r>
            <a:r>
              <a:rPr lang="zh-CN" altLang="en-US" sz="2000">
                <a:latin typeface="楷体_GB2312" pitchFamily="49" charset="-122"/>
              </a:rPr>
              <a:t>个块对应。</a:t>
            </a:r>
            <a:r>
              <a:rPr lang="zh-CN" altLang="en-US" sz="2000"/>
              <a:t>    </a:t>
            </a:r>
            <a:r>
              <a:rPr lang="zh-CN" altLang="en-US" sz="1600">
                <a:ea typeface="黑体" pitchFamily="2" charset="-122"/>
              </a:rPr>
              <a:t>                                                               </a:t>
            </a:r>
          </a:p>
        </p:txBody>
      </p:sp>
      <p:pic>
        <p:nvPicPr>
          <p:cNvPr id="100357" name="Picture 8" descr="t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989138"/>
            <a:ext cx="6408738"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69C96FDD-694B-46FE-ADEB-6E381C1EB80D}" type="slidenum">
              <a:rPr lang="en-US" altLang="zh-CN" smtClean="0"/>
              <a:pPr>
                <a:defRPr/>
              </a:pPr>
              <a:t>75</a:t>
            </a:fld>
            <a:endParaRPr lang="en-US" altLang="zh-CN"/>
          </a:p>
        </p:txBody>
      </p:sp>
      <p:sp>
        <p:nvSpPr>
          <p:cNvPr id="101379" name="Rectangle 2"/>
          <p:cNvSpPr>
            <a:spLocks noChangeArrowheads="1"/>
          </p:cNvSpPr>
          <p:nvPr/>
        </p:nvSpPr>
        <p:spPr bwMode="auto">
          <a:xfrm>
            <a:off x="228600" y="152400"/>
            <a:ext cx="7700963"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a:latin typeface="宋体" pitchFamily="2" charset="-122"/>
                <a:ea typeface="宋体" pitchFamily="2" charset="-122"/>
              </a:rPr>
              <a:t>P102-14.</a:t>
            </a:r>
            <a:r>
              <a:rPr lang="zh-CN" altLang="en-US">
                <a:latin typeface="宋体" pitchFamily="2" charset="-122"/>
                <a:ea typeface="宋体" pitchFamily="2" charset="-122"/>
              </a:rPr>
              <a:t>有一个处理机，主存容量</a:t>
            </a:r>
            <a:r>
              <a:rPr lang="en-US" altLang="zh-CN">
                <a:latin typeface="宋体" pitchFamily="2" charset="-122"/>
                <a:ea typeface="宋体" pitchFamily="2" charset="-122"/>
              </a:rPr>
              <a:t>1MB</a:t>
            </a:r>
            <a:r>
              <a:rPr lang="zh-CN" altLang="en-US">
                <a:latin typeface="宋体" pitchFamily="2" charset="-122"/>
                <a:ea typeface="宋体" pitchFamily="2" charset="-122"/>
              </a:rPr>
              <a:t>，字长</a:t>
            </a:r>
            <a:r>
              <a:rPr lang="en-US" altLang="zh-CN">
                <a:latin typeface="宋体" pitchFamily="2" charset="-122"/>
                <a:ea typeface="宋体" pitchFamily="2" charset="-122"/>
              </a:rPr>
              <a:t>1B</a:t>
            </a:r>
            <a:r>
              <a:rPr lang="zh-CN" altLang="en-US">
                <a:latin typeface="宋体" pitchFamily="2" charset="-122"/>
                <a:ea typeface="宋体" pitchFamily="2" charset="-122"/>
              </a:rPr>
              <a:t>，块大小</a:t>
            </a:r>
            <a:r>
              <a:rPr lang="en-US" altLang="zh-CN">
                <a:latin typeface="宋体" pitchFamily="2" charset="-122"/>
                <a:ea typeface="宋体" pitchFamily="2" charset="-122"/>
              </a:rPr>
              <a:t>16B</a:t>
            </a:r>
            <a:r>
              <a:rPr lang="zh-CN" altLang="en-US">
                <a:latin typeface="宋体" pitchFamily="2" charset="-122"/>
                <a:ea typeface="宋体" pitchFamily="2" charset="-122"/>
              </a:rPr>
              <a:t>，</a:t>
            </a:r>
            <a:r>
              <a:rPr lang="en-US" altLang="zh-CN">
                <a:latin typeface="宋体" pitchFamily="2" charset="-122"/>
                <a:ea typeface="宋体" pitchFamily="2" charset="-122"/>
              </a:rPr>
              <a:t>Cache</a:t>
            </a:r>
            <a:r>
              <a:rPr lang="zh-CN" altLang="en-US">
                <a:latin typeface="宋体" pitchFamily="2" charset="-122"/>
                <a:ea typeface="宋体" pitchFamily="2" charset="-122"/>
              </a:rPr>
              <a:t>容量</a:t>
            </a:r>
            <a:r>
              <a:rPr lang="en-US" altLang="zh-CN">
                <a:latin typeface="宋体" pitchFamily="2" charset="-122"/>
                <a:ea typeface="宋体" pitchFamily="2" charset="-122"/>
              </a:rPr>
              <a:t>64KB</a:t>
            </a:r>
            <a:r>
              <a:rPr lang="zh-CN" altLang="en-US">
                <a:latin typeface="宋体" pitchFamily="2" charset="-122"/>
                <a:ea typeface="宋体" pitchFamily="2" charset="-122"/>
              </a:rPr>
              <a:t>，若</a:t>
            </a:r>
            <a:r>
              <a:rPr lang="en-US" altLang="zh-CN">
                <a:latin typeface="宋体" pitchFamily="2" charset="-122"/>
                <a:ea typeface="宋体" pitchFamily="2" charset="-122"/>
              </a:rPr>
              <a:t>Cache</a:t>
            </a:r>
            <a:r>
              <a:rPr lang="zh-CN" altLang="en-US">
                <a:latin typeface="宋体" pitchFamily="2" charset="-122"/>
                <a:ea typeface="宋体" pitchFamily="2" charset="-122"/>
              </a:rPr>
              <a:t>采用直接映射方式，请给出</a:t>
            </a:r>
            <a:r>
              <a:rPr lang="en-US" altLang="zh-CN">
                <a:latin typeface="宋体" pitchFamily="2" charset="-122"/>
                <a:ea typeface="宋体" pitchFamily="2" charset="-122"/>
              </a:rPr>
              <a:t>2</a:t>
            </a:r>
            <a:r>
              <a:rPr lang="zh-CN" altLang="en-US">
                <a:latin typeface="宋体" pitchFamily="2" charset="-122"/>
                <a:ea typeface="宋体" pitchFamily="2" charset="-122"/>
              </a:rPr>
              <a:t>个不同标记的内存地址，它们映射到同一个</a:t>
            </a:r>
            <a:r>
              <a:rPr lang="en-US" altLang="zh-CN">
                <a:latin typeface="宋体" pitchFamily="2" charset="-122"/>
                <a:ea typeface="宋体" pitchFamily="2" charset="-122"/>
              </a:rPr>
              <a:t>Cache</a:t>
            </a:r>
            <a:r>
              <a:rPr lang="zh-CN" altLang="en-US">
                <a:latin typeface="Times New Roman" charset="0"/>
                <a:ea typeface="宋体" pitchFamily="2" charset="-122"/>
              </a:rPr>
              <a:t>行。</a:t>
            </a:r>
            <a:endParaRPr lang="zh-CN" altLang="en-US">
              <a:latin typeface="宋体" pitchFamily="2" charset="-122"/>
              <a:ea typeface="宋体" pitchFamily="2" charset="-122"/>
            </a:endParaRPr>
          </a:p>
        </p:txBody>
      </p:sp>
      <p:grpSp>
        <p:nvGrpSpPr>
          <p:cNvPr id="3" name="组合 7"/>
          <p:cNvGrpSpPr>
            <a:grpSpLocks/>
          </p:cNvGrpSpPr>
          <p:nvPr/>
        </p:nvGrpSpPr>
        <p:grpSpPr bwMode="auto">
          <a:xfrm>
            <a:off x="500063" y="2143125"/>
            <a:ext cx="8358187" cy="4573588"/>
            <a:chOff x="500034" y="2143116"/>
            <a:chExt cx="8358246" cy="4573560"/>
          </a:xfrm>
        </p:grpSpPr>
        <p:sp>
          <p:nvSpPr>
            <p:cNvPr id="5" name="Rectangle 2"/>
            <p:cNvSpPr>
              <a:spLocks noChangeArrowheads="1"/>
            </p:cNvSpPr>
            <p:nvPr/>
          </p:nvSpPr>
          <p:spPr bwMode="auto">
            <a:xfrm>
              <a:off x="500034" y="2143116"/>
              <a:ext cx="8358246" cy="4573560"/>
            </a:xfrm>
            <a:prstGeom prst="rect">
              <a:avLst/>
            </a:prstGeom>
            <a:noFill/>
            <a:ln w="12700" cap="sq">
              <a:noFill/>
              <a:miter lim="800000"/>
              <a:headEnd type="none" w="sm" len="sm"/>
              <a:tailEnd type="none" w="sm" len="sm"/>
            </a:ln>
          </p:spPr>
          <p:txBody>
            <a:bodyPr>
              <a:spAutoFit/>
            </a:bodyPr>
            <a:lstStyle/>
            <a:p>
              <a:pPr>
                <a:lnSpc>
                  <a:spcPct val="130000"/>
                </a:lnSpc>
                <a:defRPr/>
              </a:pPr>
              <a:r>
                <a:rPr lang="zh-CN" altLang="en-US" dirty="0">
                  <a:latin typeface="+mn-ea"/>
                  <a:ea typeface="+mn-ea"/>
                </a:rPr>
                <a:t>解：每块</a:t>
              </a:r>
              <a:r>
                <a:rPr lang="en-US" altLang="zh-CN" dirty="0">
                  <a:latin typeface="+mn-ea"/>
                  <a:ea typeface="+mn-ea"/>
                </a:rPr>
                <a:t>16B</a:t>
              </a:r>
              <a:r>
                <a:rPr lang="zh-CN" altLang="en-US" dirty="0">
                  <a:latin typeface="+mn-ea"/>
                  <a:ea typeface="+mn-ea"/>
                </a:rPr>
                <a:t>，字地址</a:t>
              </a:r>
              <a:r>
                <a:rPr lang="en-US" altLang="zh-CN" dirty="0">
                  <a:latin typeface="+mn-ea"/>
                  <a:ea typeface="+mn-ea"/>
                </a:rPr>
                <a:t>4</a:t>
              </a:r>
              <a:r>
                <a:rPr lang="zh-CN" altLang="en-US" dirty="0">
                  <a:latin typeface="+mn-ea"/>
                  <a:ea typeface="+mn-ea"/>
                </a:rPr>
                <a:t>位</a:t>
              </a:r>
              <a:endParaRPr lang="en-US" altLang="zh-CN" dirty="0">
                <a:latin typeface="+mn-ea"/>
                <a:ea typeface="+mn-ea"/>
              </a:endParaRPr>
            </a:p>
            <a:p>
              <a:pPr>
                <a:lnSpc>
                  <a:spcPct val="130000"/>
                </a:lnSpc>
                <a:defRPr/>
              </a:pPr>
              <a:r>
                <a:rPr lang="en-US" altLang="zh-CN" dirty="0">
                  <a:latin typeface="+mn-ea"/>
                  <a:ea typeface="+mn-ea"/>
                </a:rPr>
                <a:t>    </a:t>
              </a:r>
              <a:r>
                <a:rPr lang="zh-CN" altLang="en-US" dirty="0">
                  <a:latin typeface="+mn-ea"/>
                  <a:ea typeface="+mn-ea"/>
                </a:rPr>
                <a:t>主存</a:t>
              </a:r>
              <a:r>
                <a:rPr lang="en-US" altLang="zh-CN" dirty="0">
                  <a:latin typeface="+mn-ea"/>
                  <a:ea typeface="+mn-ea"/>
                </a:rPr>
                <a:t>1MB</a:t>
              </a:r>
              <a:r>
                <a:rPr lang="zh-CN" altLang="en-US" dirty="0">
                  <a:latin typeface="+mn-ea"/>
                  <a:ea typeface="+mn-ea"/>
                </a:rPr>
                <a:t>，地址</a:t>
              </a:r>
              <a:r>
                <a:rPr lang="en-US" altLang="zh-CN" dirty="0">
                  <a:latin typeface="+mn-ea"/>
                  <a:ea typeface="+mn-ea"/>
                </a:rPr>
                <a:t>20</a:t>
              </a:r>
              <a:r>
                <a:rPr lang="zh-CN" altLang="en-US" dirty="0">
                  <a:latin typeface="+mn-ea"/>
                  <a:ea typeface="+mn-ea"/>
                </a:rPr>
                <a:t>位</a:t>
              </a:r>
              <a:r>
                <a:rPr lang="en-US" altLang="zh-CN" dirty="0">
                  <a:latin typeface="+mn-ea"/>
                  <a:ea typeface="+mn-ea"/>
                </a:rPr>
                <a:t>,</a:t>
              </a:r>
              <a:r>
                <a:rPr lang="zh-CN" altLang="en-US" dirty="0">
                  <a:latin typeface="+mn-ea"/>
                  <a:ea typeface="+mn-ea"/>
                </a:rPr>
                <a:t>共有</a:t>
              </a:r>
              <a:r>
                <a:rPr lang="en-US" altLang="zh-CN" dirty="0">
                  <a:latin typeface="+mn-ea"/>
                  <a:ea typeface="+mn-ea"/>
                </a:rPr>
                <a:t>64K</a:t>
              </a:r>
              <a:r>
                <a:rPr lang="zh-CN" altLang="en-US" dirty="0">
                  <a:latin typeface="+mn-ea"/>
                  <a:ea typeface="+mn-ea"/>
                </a:rPr>
                <a:t>块，块地址</a:t>
              </a:r>
              <a:r>
                <a:rPr lang="en-US" altLang="zh-CN" dirty="0">
                  <a:latin typeface="+mn-ea"/>
                  <a:ea typeface="+mn-ea"/>
                </a:rPr>
                <a:t>16</a:t>
              </a:r>
              <a:r>
                <a:rPr lang="zh-CN" altLang="en-US" dirty="0">
                  <a:latin typeface="+mn-ea"/>
                  <a:ea typeface="+mn-ea"/>
                </a:rPr>
                <a:t>位</a:t>
              </a:r>
              <a:endParaRPr lang="en-US" altLang="zh-CN" dirty="0">
                <a:latin typeface="+mn-ea"/>
                <a:ea typeface="+mn-ea"/>
              </a:endParaRPr>
            </a:p>
            <a:p>
              <a:pPr>
                <a:lnSpc>
                  <a:spcPct val="130000"/>
                </a:lnSpc>
                <a:defRPr/>
              </a:pPr>
              <a:r>
                <a:rPr lang="en-US" altLang="zh-CN" dirty="0">
                  <a:latin typeface="+mn-ea"/>
                  <a:ea typeface="+mn-ea"/>
                </a:rPr>
                <a:t>    Cache </a:t>
              </a:r>
              <a:r>
                <a:rPr lang="en-US" altLang="zh-CN" dirty="0">
                  <a:latin typeface="+mn-ea"/>
                </a:rPr>
                <a:t>64KB</a:t>
              </a:r>
              <a:r>
                <a:rPr lang="zh-CN" altLang="en-US" dirty="0">
                  <a:latin typeface="+mn-ea"/>
                </a:rPr>
                <a:t>，共有</a:t>
              </a:r>
              <a:r>
                <a:rPr lang="en-US" altLang="zh-CN" dirty="0">
                  <a:latin typeface="+mn-ea"/>
                </a:rPr>
                <a:t>4K</a:t>
              </a:r>
              <a:r>
                <a:rPr lang="zh-CN" altLang="en-US" dirty="0">
                  <a:latin typeface="+mn-ea"/>
                </a:rPr>
                <a:t>行，行地址</a:t>
              </a:r>
              <a:r>
                <a:rPr lang="en-US" altLang="zh-CN" dirty="0">
                  <a:latin typeface="+mn-ea"/>
                </a:rPr>
                <a:t>12</a:t>
              </a:r>
              <a:r>
                <a:rPr lang="zh-CN" altLang="en-US" dirty="0">
                  <a:latin typeface="+mn-ea"/>
                </a:rPr>
                <a:t>位</a:t>
              </a:r>
              <a:endParaRPr lang="en-US" altLang="zh-CN" dirty="0">
                <a:latin typeface="+mn-ea"/>
              </a:endParaRPr>
            </a:p>
            <a:p>
              <a:pPr>
                <a:lnSpc>
                  <a:spcPct val="130000"/>
                </a:lnSpc>
                <a:defRPr/>
              </a:pPr>
              <a:endParaRPr lang="en-US" altLang="zh-CN" dirty="0">
                <a:latin typeface="+mn-ea"/>
                <a:ea typeface="+mn-ea"/>
              </a:endParaRPr>
            </a:p>
            <a:p>
              <a:pPr>
                <a:lnSpc>
                  <a:spcPct val="130000"/>
                </a:lnSpc>
                <a:defRPr/>
              </a:pPr>
              <a:endParaRPr lang="en-US" altLang="zh-CN" dirty="0">
                <a:latin typeface="+mn-ea"/>
                <a:ea typeface="+mn-ea"/>
              </a:endParaRPr>
            </a:p>
            <a:p>
              <a:pPr>
                <a:lnSpc>
                  <a:spcPct val="130000"/>
                </a:lnSpc>
                <a:defRPr/>
              </a:pPr>
              <a:r>
                <a:rPr lang="en-US" altLang="zh-CN" dirty="0">
                  <a:latin typeface="+mn-ea"/>
                  <a:ea typeface="+mn-ea"/>
                </a:rPr>
                <a:t>    </a:t>
              </a:r>
              <a:r>
                <a:rPr lang="zh-CN" altLang="en-US" dirty="0">
                  <a:latin typeface="+mn-ea"/>
                  <a:ea typeface="+mn-ea"/>
                </a:rPr>
                <a:t>写出行号相同的</a:t>
              </a:r>
              <a:r>
                <a:rPr lang="en-US" altLang="zh-CN" dirty="0">
                  <a:latin typeface="+mn-ea"/>
                  <a:ea typeface="+mn-ea"/>
                </a:rPr>
                <a:t>2</a:t>
              </a:r>
              <a:r>
                <a:rPr lang="zh-CN" altLang="en-US" dirty="0">
                  <a:latin typeface="+mn-ea"/>
                  <a:ea typeface="+mn-ea"/>
                </a:rPr>
                <a:t>个内存地址</a:t>
              </a:r>
              <a:endParaRPr lang="en-US" altLang="zh-CN" dirty="0">
                <a:latin typeface="+mn-ea"/>
                <a:ea typeface="+mn-ea"/>
              </a:endParaRPr>
            </a:p>
            <a:p>
              <a:pPr>
                <a:lnSpc>
                  <a:spcPct val="130000"/>
                </a:lnSpc>
                <a:defRPr/>
              </a:pPr>
              <a:r>
                <a:rPr lang="zh-CN" altLang="en-US" dirty="0">
                  <a:latin typeface="+mn-ea"/>
                  <a:ea typeface="+mn-ea"/>
                </a:rPr>
                <a:t>    如：</a:t>
              </a:r>
              <a:r>
                <a:rPr lang="en-US" altLang="zh-CN" dirty="0">
                  <a:latin typeface="+mn-ea"/>
                  <a:ea typeface="+mn-ea"/>
                </a:rPr>
                <a:t>1011 010100100011 1010    B523AH     </a:t>
              </a:r>
            </a:p>
            <a:p>
              <a:pPr>
                <a:lnSpc>
                  <a:spcPct val="130000"/>
                </a:lnSpc>
                <a:defRPr/>
              </a:pPr>
              <a:r>
                <a:rPr lang="en-US" altLang="zh-CN" dirty="0">
                  <a:latin typeface="+mn-ea"/>
                  <a:ea typeface="+mn-ea"/>
                </a:rPr>
                <a:t>        0101 010100100011 1000    55238H</a:t>
              </a:r>
              <a:endParaRPr lang="zh-CN" altLang="en-US" dirty="0">
                <a:latin typeface="+mn-ea"/>
                <a:ea typeface="+mn-ea"/>
              </a:endParaRPr>
            </a:p>
          </p:txBody>
        </p:sp>
        <p:pic>
          <p:nvPicPr>
            <p:cNvPr id="10138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38" y="4000504"/>
              <a:ext cx="6514929" cy="928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70D0E0F-569D-4EF1-8457-6C3205012E6C}" type="slidenum">
              <a:rPr lang="en-US" altLang="zh-CN" smtClean="0"/>
              <a:pPr>
                <a:defRPr/>
              </a:pPr>
              <a:t>76</a:t>
            </a:fld>
            <a:endParaRPr lang="en-US" altLang="zh-CN"/>
          </a:p>
        </p:txBody>
      </p:sp>
      <p:sp>
        <p:nvSpPr>
          <p:cNvPr id="102403" name="Rectangle 2"/>
          <p:cNvSpPr>
            <a:spLocks noChangeArrowheads="1"/>
          </p:cNvSpPr>
          <p:nvPr/>
        </p:nvSpPr>
        <p:spPr bwMode="auto">
          <a:xfrm>
            <a:off x="228600" y="152400"/>
            <a:ext cx="77724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dirty="0">
                <a:latin typeface="宋体" pitchFamily="2" charset="-122"/>
                <a:ea typeface="宋体" pitchFamily="2" charset="-122"/>
              </a:rPr>
              <a:t>P102-15.</a:t>
            </a:r>
            <a:r>
              <a:rPr lang="zh-CN" altLang="en-US" dirty="0">
                <a:latin typeface="宋体" pitchFamily="2" charset="-122"/>
                <a:ea typeface="宋体" pitchFamily="2" charset="-122"/>
              </a:rPr>
              <a:t>假设主存容量</a:t>
            </a:r>
            <a:r>
              <a:rPr lang="en-US" altLang="zh-CN" dirty="0">
                <a:latin typeface="宋体" pitchFamily="2" charset="-122"/>
                <a:ea typeface="宋体" pitchFamily="2" charset="-122"/>
              </a:rPr>
              <a:t>16Mx32</a:t>
            </a:r>
            <a:r>
              <a:rPr lang="zh-CN" altLang="en-US" dirty="0">
                <a:latin typeface="宋体" pitchFamily="2" charset="-122"/>
                <a:ea typeface="宋体" pitchFamily="2" charset="-122"/>
              </a:rPr>
              <a:t>位，</a:t>
            </a:r>
            <a:r>
              <a:rPr lang="en-US" altLang="zh-CN" dirty="0">
                <a:latin typeface="宋体" pitchFamily="2" charset="-122"/>
                <a:ea typeface="宋体" pitchFamily="2" charset="-122"/>
              </a:rPr>
              <a:t>Cache</a:t>
            </a:r>
            <a:r>
              <a:rPr lang="zh-CN" altLang="en-US" dirty="0">
                <a:latin typeface="宋体" pitchFamily="2" charset="-122"/>
                <a:ea typeface="宋体" pitchFamily="2" charset="-122"/>
              </a:rPr>
              <a:t>容量</a:t>
            </a:r>
            <a:r>
              <a:rPr lang="en-US" altLang="zh-CN" dirty="0">
                <a:latin typeface="宋体" pitchFamily="2" charset="-122"/>
                <a:ea typeface="宋体" pitchFamily="2" charset="-122"/>
              </a:rPr>
              <a:t>64Kx32</a:t>
            </a:r>
            <a:r>
              <a:rPr lang="zh-CN" altLang="en-US" dirty="0">
                <a:latin typeface="宋体" pitchFamily="2" charset="-122"/>
                <a:ea typeface="宋体" pitchFamily="2" charset="-122"/>
              </a:rPr>
              <a:t>位，主存与</a:t>
            </a:r>
            <a:r>
              <a:rPr lang="en-US" altLang="zh-CN" dirty="0">
                <a:latin typeface="宋体" pitchFamily="2" charset="-122"/>
                <a:ea typeface="宋体" pitchFamily="2" charset="-122"/>
              </a:rPr>
              <a:t>Cache</a:t>
            </a:r>
            <a:r>
              <a:rPr lang="zh-CN" altLang="en-US" dirty="0">
                <a:latin typeface="宋体" pitchFamily="2" charset="-122"/>
                <a:ea typeface="宋体" pitchFamily="2" charset="-122"/>
              </a:rPr>
              <a:t>之间以每块</a:t>
            </a:r>
            <a:r>
              <a:rPr lang="en-US" altLang="zh-CN" dirty="0">
                <a:latin typeface="宋体" pitchFamily="2" charset="-122"/>
                <a:ea typeface="宋体" pitchFamily="2" charset="-122"/>
              </a:rPr>
              <a:t>4x32</a:t>
            </a:r>
            <a:r>
              <a:rPr lang="zh-CN" altLang="en-US" dirty="0">
                <a:latin typeface="宋体" pitchFamily="2" charset="-122"/>
                <a:ea typeface="宋体" pitchFamily="2" charset="-122"/>
              </a:rPr>
              <a:t>位大小传送数据，请确定直接映射方式的有关参数，并画出主存地址格式。</a:t>
            </a:r>
          </a:p>
        </p:txBody>
      </p:sp>
      <p:grpSp>
        <p:nvGrpSpPr>
          <p:cNvPr id="3" name="组合 8"/>
          <p:cNvGrpSpPr>
            <a:grpSpLocks/>
          </p:cNvGrpSpPr>
          <p:nvPr/>
        </p:nvGrpSpPr>
        <p:grpSpPr bwMode="auto">
          <a:xfrm>
            <a:off x="428625" y="2000250"/>
            <a:ext cx="7772400" cy="3786188"/>
            <a:chOff x="428596" y="2000240"/>
            <a:chExt cx="7772400" cy="3786214"/>
          </a:xfrm>
        </p:grpSpPr>
        <p:sp>
          <p:nvSpPr>
            <p:cNvPr id="5" name="Rectangle 2"/>
            <p:cNvSpPr>
              <a:spLocks noChangeArrowheads="1"/>
            </p:cNvSpPr>
            <p:nvPr/>
          </p:nvSpPr>
          <p:spPr bwMode="auto">
            <a:xfrm>
              <a:off x="428596" y="2000240"/>
              <a:ext cx="7772400" cy="2608281"/>
            </a:xfrm>
            <a:prstGeom prst="rect">
              <a:avLst/>
            </a:prstGeom>
            <a:noFill/>
            <a:ln w="12700" cap="sq">
              <a:noFill/>
              <a:miter lim="800000"/>
              <a:headEnd type="none" w="sm" len="sm"/>
              <a:tailEnd type="none" w="sm" len="sm"/>
            </a:ln>
          </p:spPr>
          <p:txBody>
            <a:bodyPr>
              <a:spAutoFit/>
            </a:bodyPr>
            <a:lstStyle/>
            <a:p>
              <a:pPr>
                <a:lnSpc>
                  <a:spcPct val="120000"/>
                </a:lnSpc>
                <a:defRPr/>
              </a:pPr>
              <a:r>
                <a:rPr lang="zh-CN" altLang="en-US" dirty="0">
                  <a:latin typeface="+mn-ea"/>
                  <a:ea typeface="+mn-ea"/>
                </a:rPr>
                <a:t>解：每块</a:t>
              </a:r>
              <a:r>
                <a:rPr lang="en-US" altLang="zh-CN" dirty="0">
                  <a:latin typeface="宋体" pitchFamily="2" charset="-122"/>
                  <a:ea typeface="宋体" pitchFamily="2" charset="-122"/>
                </a:rPr>
                <a:t>4x32</a:t>
              </a:r>
              <a:r>
                <a:rPr lang="zh-CN" altLang="en-US" dirty="0">
                  <a:latin typeface="宋体" pitchFamily="2" charset="-122"/>
                  <a:ea typeface="宋体" pitchFamily="2" charset="-122"/>
                </a:rPr>
                <a:t>位</a:t>
              </a:r>
              <a:r>
                <a:rPr lang="en-US" altLang="zh-CN" dirty="0">
                  <a:latin typeface="宋体" pitchFamily="2" charset="-122"/>
                  <a:ea typeface="宋体" pitchFamily="2" charset="-122"/>
                </a:rPr>
                <a:t>=16B,</a:t>
              </a:r>
              <a:r>
                <a:rPr lang="zh-CN" altLang="en-US" dirty="0">
                  <a:latin typeface="+mn-ea"/>
                  <a:ea typeface="+mn-ea"/>
                </a:rPr>
                <a:t>地址</a:t>
              </a:r>
              <a:r>
                <a:rPr lang="en-US" altLang="zh-CN" dirty="0">
                  <a:latin typeface="+mn-ea"/>
                  <a:ea typeface="+mn-ea"/>
                </a:rPr>
                <a:t>4</a:t>
              </a:r>
              <a:r>
                <a:rPr lang="zh-CN" altLang="en-US" dirty="0">
                  <a:latin typeface="+mn-ea"/>
                  <a:ea typeface="+mn-ea"/>
                </a:rPr>
                <a:t>位 </a:t>
              </a:r>
              <a:r>
                <a:rPr lang="en-US" altLang="zh-CN" dirty="0">
                  <a:latin typeface="+mn-ea"/>
                  <a:ea typeface="+mn-ea"/>
                </a:rPr>
                <a:t>w=4</a:t>
              </a:r>
            </a:p>
            <a:p>
              <a:pPr>
                <a:lnSpc>
                  <a:spcPct val="120000"/>
                </a:lnSpc>
                <a:defRPr/>
              </a:pPr>
              <a:r>
                <a:rPr lang="zh-CN" altLang="en-US" dirty="0">
                  <a:latin typeface="宋体" pitchFamily="2" charset="-122"/>
                  <a:ea typeface="宋体" pitchFamily="2" charset="-122"/>
                </a:rPr>
                <a:t>    主存</a:t>
              </a:r>
              <a:r>
                <a:rPr lang="en-US" altLang="zh-CN" dirty="0">
                  <a:latin typeface="宋体" pitchFamily="2" charset="-122"/>
                  <a:ea typeface="宋体" pitchFamily="2" charset="-122"/>
                </a:rPr>
                <a:t>16Mx32</a:t>
              </a:r>
              <a:r>
                <a:rPr lang="zh-CN" altLang="en-US" dirty="0">
                  <a:latin typeface="宋体" pitchFamily="2" charset="-122"/>
                  <a:ea typeface="宋体" pitchFamily="2" charset="-122"/>
                </a:rPr>
                <a:t>位</a:t>
              </a:r>
              <a:r>
                <a:rPr lang="en-US" altLang="zh-CN" dirty="0">
                  <a:latin typeface="宋体" pitchFamily="2" charset="-122"/>
                  <a:ea typeface="宋体" pitchFamily="2" charset="-122"/>
                </a:rPr>
                <a:t>=64MB</a:t>
              </a:r>
              <a:r>
                <a:rPr lang="zh-CN" altLang="en-US" dirty="0">
                  <a:latin typeface="+mn-ea"/>
                  <a:ea typeface="+mn-ea"/>
                </a:rPr>
                <a:t>，</a:t>
              </a:r>
              <a:r>
                <a:rPr lang="zh-CN" altLang="en-US" dirty="0">
                  <a:latin typeface="+mn-ea"/>
                </a:rPr>
                <a:t>地址</a:t>
              </a:r>
              <a:r>
                <a:rPr lang="en-US" altLang="zh-CN" dirty="0">
                  <a:latin typeface="+mn-ea"/>
                </a:rPr>
                <a:t>26</a:t>
              </a:r>
              <a:r>
                <a:rPr lang="zh-CN" altLang="en-US" dirty="0">
                  <a:latin typeface="+mn-ea"/>
                </a:rPr>
                <a:t>位</a:t>
              </a:r>
              <a:endParaRPr lang="en-US" altLang="zh-CN" dirty="0">
                <a:latin typeface="+mn-ea"/>
              </a:endParaRPr>
            </a:p>
            <a:p>
              <a:pPr>
                <a:lnSpc>
                  <a:spcPct val="120000"/>
                </a:lnSpc>
                <a:defRPr/>
              </a:pPr>
              <a:r>
                <a:rPr lang="en-US" altLang="zh-CN" dirty="0">
                  <a:latin typeface="+mn-ea"/>
                  <a:ea typeface="+mn-ea"/>
                </a:rPr>
                <a:t>    </a:t>
              </a:r>
              <a:r>
                <a:rPr lang="zh-CN" altLang="en-US" dirty="0">
                  <a:latin typeface="+mn-ea"/>
                  <a:ea typeface="+mn-ea"/>
                </a:rPr>
                <a:t>有</a:t>
              </a:r>
              <a:r>
                <a:rPr lang="en-US" altLang="zh-CN" dirty="0">
                  <a:latin typeface="+mn-ea"/>
                  <a:ea typeface="+mn-ea"/>
                </a:rPr>
                <a:t>4M</a:t>
              </a:r>
              <a:r>
                <a:rPr lang="zh-CN" altLang="en-US" dirty="0">
                  <a:latin typeface="+mn-ea"/>
                  <a:ea typeface="+mn-ea"/>
                </a:rPr>
                <a:t>个块，地址</a:t>
              </a:r>
              <a:r>
                <a:rPr lang="en-US" altLang="zh-CN" dirty="0">
                  <a:latin typeface="+mn-ea"/>
                  <a:ea typeface="+mn-ea"/>
                </a:rPr>
                <a:t>22</a:t>
              </a:r>
              <a:r>
                <a:rPr lang="zh-CN" altLang="en-US" dirty="0">
                  <a:latin typeface="+mn-ea"/>
                  <a:ea typeface="+mn-ea"/>
                </a:rPr>
                <a:t>位 </a:t>
              </a:r>
              <a:r>
                <a:rPr lang="en-US" altLang="zh-CN" dirty="0">
                  <a:latin typeface="+mn-ea"/>
                  <a:ea typeface="+mn-ea"/>
                </a:rPr>
                <a:t>s=22</a:t>
              </a:r>
            </a:p>
            <a:p>
              <a:pPr>
                <a:lnSpc>
                  <a:spcPct val="120000"/>
                </a:lnSpc>
                <a:defRPr/>
              </a:pPr>
              <a:r>
                <a:rPr lang="en-US" altLang="zh-CN" dirty="0">
                  <a:latin typeface="+mn-ea"/>
                  <a:ea typeface="+mn-ea"/>
                </a:rPr>
                <a:t>    Cache </a:t>
              </a:r>
              <a:r>
                <a:rPr lang="en-US" altLang="zh-CN" dirty="0">
                  <a:latin typeface="宋体" pitchFamily="2" charset="-122"/>
                  <a:ea typeface="宋体" pitchFamily="2" charset="-122"/>
                </a:rPr>
                <a:t>64Kx32</a:t>
              </a:r>
              <a:r>
                <a:rPr lang="zh-CN" altLang="en-US" dirty="0">
                  <a:latin typeface="宋体" pitchFamily="2" charset="-122"/>
                  <a:ea typeface="宋体" pitchFamily="2" charset="-122"/>
                </a:rPr>
                <a:t>位</a:t>
              </a:r>
              <a:r>
                <a:rPr lang="zh-CN" altLang="en-US" dirty="0">
                  <a:latin typeface="+mn-ea"/>
                  <a:ea typeface="+mn-ea"/>
                </a:rPr>
                <a:t>，</a:t>
              </a:r>
              <a:r>
                <a:rPr lang="zh-CN" altLang="en-US" dirty="0">
                  <a:latin typeface="+mn-ea"/>
                </a:rPr>
                <a:t>有</a:t>
              </a:r>
              <a:r>
                <a:rPr lang="en-US" altLang="zh-CN" dirty="0">
                  <a:latin typeface="+mn-ea"/>
                </a:rPr>
                <a:t>16K</a:t>
              </a:r>
              <a:r>
                <a:rPr lang="zh-CN" altLang="en-US" dirty="0">
                  <a:latin typeface="+mn-ea"/>
                </a:rPr>
                <a:t>行，地址</a:t>
              </a:r>
              <a:r>
                <a:rPr lang="en-US" altLang="zh-CN" dirty="0">
                  <a:latin typeface="+mn-ea"/>
                </a:rPr>
                <a:t>14</a:t>
              </a:r>
              <a:r>
                <a:rPr lang="zh-CN" altLang="en-US" dirty="0">
                  <a:latin typeface="+mn-ea"/>
                </a:rPr>
                <a:t>位 </a:t>
              </a:r>
              <a:r>
                <a:rPr lang="en-US" altLang="zh-CN" dirty="0">
                  <a:latin typeface="+mn-ea"/>
                </a:rPr>
                <a:t>r=14</a:t>
              </a:r>
            </a:p>
            <a:p>
              <a:pPr>
                <a:lnSpc>
                  <a:spcPct val="120000"/>
                </a:lnSpc>
                <a:defRPr/>
              </a:pPr>
              <a:r>
                <a:rPr lang="en-US" altLang="zh-CN" dirty="0">
                  <a:latin typeface="+mn-ea"/>
                  <a:ea typeface="+mn-ea"/>
                </a:rPr>
                <a:t>    </a:t>
              </a:r>
              <a:r>
                <a:rPr lang="zh-CN" altLang="en-US" dirty="0">
                  <a:latin typeface="+mn-ea"/>
                  <a:ea typeface="+mn-ea"/>
                </a:rPr>
                <a:t>标记部分 </a:t>
              </a:r>
              <a:r>
                <a:rPr lang="en-US" altLang="zh-CN" dirty="0">
                  <a:latin typeface="+mn-ea"/>
                  <a:ea typeface="+mn-ea"/>
                </a:rPr>
                <a:t>s-r=8,</a:t>
              </a:r>
              <a:r>
                <a:rPr lang="zh-CN" altLang="en-US" dirty="0">
                  <a:latin typeface="+mn-ea"/>
                  <a:ea typeface="+mn-ea"/>
                </a:rPr>
                <a:t>地址</a:t>
              </a:r>
              <a:r>
                <a:rPr lang="en-US" altLang="zh-CN" dirty="0">
                  <a:latin typeface="+mn-ea"/>
                  <a:ea typeface="+mn-ea"/>
                </a:rPr>
                <a:t>8</a:t>
              </a:r>
              <a:r>
                <a:rPr lang="zh-CN" altLang="en-US" dirty="0">
                  <a:latin typeface="+mn-ea"/>
                  <a:ea typeface="+mn-ea"/>
                </a:rPr>
                <a:t>位</a:t>
              </a:r>
              <a:r>
                <a:rPr lang="en-US" altLang="zh-CN" dirty="0">
                  <a:latin typeface="+mn-ea"/>
                  <a:ea typeface="+mn-ea"/>
                </a:rPr>
                <a:t>  </a:t>
              </a:r>
              <a:endParaRPr lang="zh-CN" altLang="en-US" dirty="0">
                <a:latin typeface="+mn-ea"/>
                <a:ea typeface="+mn-ea"/>
              </a:endParaRPr>
            </a:p>
          </p:txBody>
        </p:sp>
        <p:pic>
          <p:nvPicPr>
            <p:cNvPr id="10240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414" y="4786322"/>
              <a:ext cx="6777014" cy="1000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4D869F08-022C-42A5-82D6-D96958271769}" type="slidenum">
              <a:rPr lang="en-US" altLang="zh-CN"/>
              <a:pPr>
                <a:defRPr/>
              </a:pPr>
              <a:t>77</a:t>
            </a:fld>
            <a:endParaRPr lang="en-US" altLang="zh-CN" dirty="0"/>
          </a:p>
        </p:txBody>
      </p:sp>
      <p:sp>
        <p:nvSpPr>
          <p:cNvPr id="103427" name="Rectangle 4"/>
          <p:cNvSpPr>
            <a:spLocks noChangeArrowheads="1"/>
          </p:cNvSpPr>
          <p:nvPr/>
        </p:nvSpPr>
        <p:spPr bwMode="auto">
          <a:xfrm>
            <a:off x="228600" y="152400"/>
            <a:ext cx="8663880" cy="1815882"/>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p>
            <a:r>
              <a:rPr lang="zh-CN" altLang="en-US" dirty="0" smtClean="0">
                <a:latin typeface="宋体" pitchFamily="2" charset="-122"/>
                <a:ea typeface="宋体" pitchFamily="2" charset="-122"/>
              </a:rPr>
              <a:t>    设</a:t>
            </a:r>
            <a:r>
              <a:rPr lang="zh-CN" altLang="en-US" dirty="0">
                <a:latin typeface="宋体" pitchFamily="2" charset="-122"/>
                <a:ea typeface="宋体" pitchFamily="2" charset="-122"/>
              </a:rPr>
              <a:t>主存容量</a:t>
            </a:r>
            <a:r>
              <a:rPr lang="en-US" altLang="zh-CN" dirty="0">
                <a:latin typeface="宋体" pitchFamily="2" charset="-122"/>
                <a:ea typeface="宋体" pitchFamily="2" charset="-122"/>
              </a:rPr>
              <a:t>1MB</a:t>
            </a:r>
            <a:r>
              <a:rPr lang="zh-CN" altLang="en-US" dirty="0">
                <a:latin typeface="宋体" pitchFamily="2" charset="-122"/>
                <a:ea typeface="宋体" pitchFamily="2" charset="-122"/>
              </a:rPr>
              <a:t>，有</a:t>
            </a:r>
            <a:r>
              <a:rPr lang="en-US" altLang="zh-CN" dirty="0">
                <a:latin typeface="宋体" pitchFamily="2" charset="-122"/>
                <a:ea typeface="宋体" pitchFamily="2" charset="-122"/>
              </a:rPr>
              <a:t>16KB</a:t>
            </a:r>
            <a:r>
              <a:rPr lang="zh-CN" altLang="en-US" dirty="0">
                <a:latin typeface="宋体" pitchFamily="2" charset="-122"/>
                <a:ea typeface="宋体" pitchFamily="2" charset="-122"/>
              </a:rPr>
              <a:t>直接相联映射的</a:t>
            </a:r>
            <a:r>
              <a:rPr lang="en-US" altLang="zh-CN" dirty="0">
                <a:latin typeface="宋体" pitchFamily="2" charset="-122"/>
                <a:ea typeface="宋体" pitchFamily="2" charset="-122"/>
              </a:rPr>
              <a:t>Cache</a:t>
            </a:r>
            <a:r>
              <a:rPr lang="zh-CN" altLang="en-US" dirty="0">
                <a:latin typeface="宋体" pitchFamily="2" charset="-122"/>
                <a:ea typeface="宋体" pitchFamily="2" charset="-122"/>
              </a:rPr>
              <a:t>， </a:t>
            </a:r>
          </a:p>
          <a:p>
            <a:r>
              <a:rPr lang="zh-CN" altLang="en-US" dirty="0">
                <a:latin typeface="宋体" pitchFamily="2" charset="-122"/>
                <a:ea typeface="宋体" pitchFamily="2" charset="-122"/>
              </a:rPr>
              <a:t>    假定该</a:t>
            </a:r>
            <a:r>
              <a:rPr lang="en-US" altLang="zh-CN" dirty="0">
                <a:latin typeface="宋体" pitchFamily="2" charset="-122"/>
                <a:ea typeface="宋体" pitchFamily="2" charset="-122"/>
              </a:rPr>
              <a:t>Cache</a:t>
            </a:r>
            <a:r>
              <a:rPr lang="zh-CN" altLang="en-US" dirty="0">
                <a:latin typeface="宋体" pitchFamily="2" charset="-122"/>
                <a:ea typeface="宋体" pitchFamily="2" charset="-122"/>
              </a:rPr>
              <a:t>的行为</a:t>
            </a:r>
            <a:r>
              <a:rPr lang="en-US" altLang="zh-CN" dirty="0">
                <a:latin typeface="宋体" pitchFamily="2" charset="-122"/>
                <a:ea typeface="宋体" pitchFamily="2" charset="-122"/>
              </a:rPr>
              <a:t>8</a:t>
            </a:r>
            <a:r>
              <a:rPr lang="zh-CN" altLang="en-US" dirty="0">
                <a:latin typeface="宋体" pitchFamily="2" charset="-122"/>
                <a:ea typeface="宋体" pitchFamily="2" charset="-122"/>
              </a:rPr>
              <a:t>个</a:t>
            </a:r>
            <a:r>
              <a:rPr lang="en-US" altLang="zh-CN" dirty="0">
                <a:latin typeface="宋体" pitchFamily="2" charset="-122"/>
                <a:ea typeface="宋体" pitchFamily="2" charset="-122"/>
              </a:rPr>
              <a:t>32</a:t>
            </a:r>
            <a:r>
              <a:rPr lang="zh-CN" altLang="en-US" dirty="0">
                <a:latin typeface="宋体" pitchFamily="2" charset="-122"/>
                <a:ea typeface="宋体" pitchFamily="2" charset="-122"/>
              </a:rPr>
              <a:t>位的字，</a:t>
            </a:r>
            <a:r>
              <a:rPr lang="zh-CN" altLang="en-US" b="1" dirty="0">
                <a:solidFill>
                  <a:srgbClr val="FF0000"/>
                </a:solidFill>
                <a:latin typeface="宋体" pitchFamily="2" charset="-122"/>
                <a:ea typeface="宋体" pitchFamily="2" charset="-122"/>
              </a:rPr>
              <a:t>主存按字节 </a:t>
            </a:r>
          </a:p>
          <a:p>
            <a:r>
              <a:rPr lang="zh-CN" altLang="en-US" b="1" dirty="0">
                <a:solidFill>
                  <a:srgbClr val="FF0000"/>
                </a:solidFill>
                <a:latin typeface="宋体" pitchFamily="2" charset="-122"/>
                <a:ea typeface="宋体" pitchFamily="2" charset="-122"/>
              </a:rPr>
              <a:t>    编址</a:t>
            </a:r>
            <a:r>
              <a:rPr lang="zh-CN" altLang="en-US" dirty="0">
                <a:latin typeface="宋体" pitchFamily="2" charset="-122"/>
                <a:ea typeface="宋体" pitchFamily="2" charset="-122"/>
              </a:rPr>
              <a:t>，主存地址为</a:t>
            </a:r>
            <a:r>
              <a:rPr lang="en-US" altLang="zh-CN" dirty="0" smtClean="0">
                <a:latin typeface="宋体" pitchFamily="2" charset="-122"/>
                <a:ea typeface="宋体" pitchFamily="2" charset="-122"/>
              </a:rPr>
              <a:t>AE8F8H</a:t>
            </a:r>
            <a:r>
              <a:rPr lang="zh-CN" altLang="en-US" dirty="0">
                <a:latin typeface="宋体" pitchFamily="2" charset="-122"/>
                <a:ea typeface="宋体" pitchFamily="2" charset="-122"/>
              </a:rPr>
              <a:t>的单元在</a:t>
            </a:r>
            <a:r>
              <a:rPr lang="en-US" altLang="zh-CN" dirty="0">
                <a:latin typeface="宋体" pitchFamily="2" charset="-122"/>
                <a:ea typeface="宋体" pitchFamily="2" charset="-122"/>
              </a:rPr>
              <a:t>Cache</a:t>
            </a:r>
            <a:r>
              <a:rPr lang="zh-CN" altLang="en-US" dirty="0">
                <a:latin typeface="宋体" pitchFamily="2" charset="-122"/>
                <a:ea typeface="宋体" pitchFamily="2" charset="-122"/>
              </a:rPr>
              <a:t>中</a:t>
            </a:r>
          </a:p>
          <a:p>
            <a:r>
              <a:rPr lang="zh-CN" altLang="en-US" dirty="0">
                <a:latin typeface="宋体" pitchFamily="2" charset="-122"/>
                <a:ea typeface="宋体" pitchFamily="2" charset="-122"/>
              </a:rPr>
              <a:t>    的位置。</a:t>
            </a:r>
          </a:p>
        </p:txBody>
      </p:sp>
      <p:sp>
        <p:nvSpPr>
          <p:cNvPr id="103428" name="Rectangle 5"/>
          <p:cNvSpPr>
            <a:spLocks noChangeArrowheads="1"/>
          </p:cNvSpPr>
          <p:nvPr/>
        </p:nvSpPr>
        <p:spPr bwMode="auto">
          <a:xfrm>
            <a:off x="228600" y="2133600"/>
            <a:ext cx="357187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eaLnBrk="0" hangingPunct="0">
              <a:spcBef>
                <a:spcPct val="50000"/>
              </a:spcBef>
            </a:pPr>
            <a:endParaRPr lang="en-US" altLang="zh-CN" sz="1000">
              <a:latin typeface="Times New Roman" charset="0"/>
              <a:ea typeface="宋体" pitchFamily="2" charset="-122"/>
            </a:endParaRPr>
          </a:p>
          <a:p>
            <a:pPr eaLnBrk="0" hangingPunct="0">
              <a:spcBef>
                <a:spcPct val="50000"/>
              </a:spcBef>
            </a:pPr>
            <a:endParaRPr lang="en-US" altLang="zh-CN" sz="1800">
              <a:ea typeface="宋体" pitchFamily="2" charset="-122"/>
            </a:endParaRPr>
          </a:p>
        </p:txBody>
      </p:sp>
      <p:sp>
        <p:nvSpPr>
          <p:cNvPr id="172038" name="Rectangle 6"/>
          <p:cNvSpPr>
            <a:spLocks noChangeArrowheads="1"/>
          </p:cNvSpPr>
          <p:nvPr/>
        </p:nvSpPr>
        <p:spPr bwMode="auto">
          <a:xfrm>
            <a:off x="228600" y="1981200"/>
            <a:ext cx="9023920"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p>
            <a:r>
              <a:rPr lang="zh-CN" altLang="en-US" sz="2600" dirty="0">
                <a:latin typeface="宋体" pitchFamily="2" charset="-122"/>
                <a:ea typeface="宋体" pitchFamily="2" charset="-122"/>
              </a:rPr>
              <a:t>解：</a:t>
            </a:r>
            <a:r>
              <a:rPr lang="en-US" altLang="zh-CN" sz="2600" dirty="0">
                <a:latin typeface="宋体" pitchFamily="2" charset="-122"/>
                <a:ea typeface="宋体" pitchFamily="2" charset="-122"/>
              </a:rPr>
              <a:t>Cache</a:t>
            </a:r>
            <a:r>
              <a:rPr lang="zh-CN" altLang="en-US" sz="2600" dirty="0">
                <a:latin typeface="宋体" pitchFamily="2" charset="-122"/>
                <a:ea typeface="宋体" pitchFamily="2" charset="-122"/>
              </a:rPr>
              <a:t>的每行为</a:t>
            </a:r>
            <a:r>
              <a:rPr lang="en-US" altLang="zh-CN" sz="2600" dirty="0">
                <a:latin typeface="宋体" pitchFamily="2" charset="-122"/>
                <a:ea typeface="宋体" pitchFamily="2" charset="-122"/>
              </a:rPr>
              <a:t>8</a:t>
            </a:r>
            <a:r>
              <a:rPr lang="zh-CN" altLang="en-US" sz="2600" dirty="0">
                <a:latin typeface="宋体" pitchFamily="2" charset="-122"/>
                <a:ea typeface="宋体" pitchFamily="2" charset="-122"/>
              </a:rPr>
              <a:t>个</a:t>
            </a:r>
            <a:r>
              <a:rPr lang="en-US" altLang="zh-CN" sz="2600" dirty="0">
                <a:latin typeface="宋体" pitchFamily="2" charset="-122"/>
                <a:ea typeface="宋体" pitchFamily="2" charset="-122"/>
              </a:rPr>
              <a:t>32</a:t>
            </a:r>
            <a:r>
              <a:rPr lang="zh-CN" altLang="en-US" sz="2600" dirty="0">
                <a:latin typeface="宋体" pitchFamily="2" charset="-122"/>
                <a:ea typeface="宋体" pitchFamily="2" charset="-122"/>
              </a:rPr>
              <a:t>位的字，</a:t>
            </a:r>
            <a:r>
              <a:rPr lang="en-US" altLang="zh-CN" sz="2600" dirty="0">
                <a:latin typeface="宋体" pitchFamily="2" charset="-122"/>
                <a:ea typeface="宋体" pitchFamily="2" charset="-122"/>
              </a:rPr>
              <a:t>32</a:t>
            </a:r>
            <a:r>
              <a:rPr lang="zh-CN" altLang="en-US" sz="2600" dirty="0">
                <a:latin typeface="宋体" pitchFamily="2" charset="-122"/>
                <a:ea typeface="宋体" pitchFamily="2" charset="-122"/>
              </a:rPr>
              <a:t>字节，需要</a:t>
            </a:r>
            <a:r>
              <a:rPr lang="en-US" altLang="zh-CN" sz="2600" dirty="0">
                <a:latin typeface="宋体" pitchFamily="2" charset="-122"/>
                <a:ea typeface="宋体" pitchFamily="2" charset="-122"/>
              </a:rPr>
              <a:t>5</a:t>
            </a:r>
            <a:r>
              <a:rPr lang="zh-CN" altLang="en-US" sz="2600" dirty="0">
                <a:latin typeface="宋体" pitchFamily="2" charset="-122"/>
                <a:ea typeface="宋体" pitchFamily="2" charset="-122"/>
              </a:rPr>
              <a:t>位地址</a:t>
            </a:r>
          </a:p>
          <a:p>
            <a:pPr eaLnBrk="0" hangingPunct="0">
              <a:spcBef>
                <a:spcPct val="50000"/>
              </a:spcBef>
            </a:pPr>
            <a:r>
              <a:rPr lang="zh-CN" altLang="en-US" sz="2600" dirty="0">
                <a:latin typeface="宋体" pitchFamily="2" charset="-122"/>
                <a:ea typeface="宋体" pitchFamily="2" charset="-122"/>
              </a:rPr>
              <a:t>    </a:t>
            </a:r>
            <a:r>
              <a:rPr lang="en-US" altLang="zh-CN" sz="2600" dirty="0">
                <a:latin typeface="宋体" pitchFamily="2" charset="-122"/>
                <a:ea typeface="宋体" pitchFamily="2" charset="-122"/>
              </a:rPr>
              <a:t>Cache</a:t>
            </a:r>
            <a:r>
              <a:rPr lang="zh-CN" altLang="en-US" sz="2600" dirty="0">
                <a:latin typeface="宋体" pitchFamily="2" charset="-122"/>
                <a:ea typeface="宋体" pitchFamily="2" charset="-122"/>
              </a:rPr>
              <a:t>有</a:t>
            </a:r>
            <a:r>
              <a:rPr lang="en-US" altLang="zh-CN" sz="2600" dirty="0">
                <a:latin typeface="宋体" pitchFamily="2" charset="-122"/>
                <a:ea typeface="宋体" pitchFamily="2" charset="-122"/>
              </a:rPr>
              <a:t>16KB/32B=512</a:t>
            </a:r>
            <a:r>
              <a:rPr lang="zh-CN" altLang="en-US" sz="2600" dirty="0">
                <a:latin typeface="宋体" pitchFamily="2" charset="-122"/>
                <a:ea typeface="宋体" pitchFamily="2" charset="-122"/>
              </a:rPr>
              <a:t>行，需要</a:t>
            </a:r>
            <a:r>
              <a:rPr lang="en-US" altLang="zh-CN" sz="2600" dirty="0">
                <a:latin typeface="宋体" pitchFamily="2" charset="-122"/>
                <a:ea typeface="宋体" pitchFamily="2" charset="-122"/>
              </a:rPr>
              <a:t>9</a:t>
            </a:r>
            <a:r>
              <a:rPr lang="zh-CN" altLang="en-US" sz="2600" dirty="0">
                <a:latin typeface="宋体" pitchFamily="2" charset="-122"/>
                <a:ea typeface="宋体" pitchFamily="2" charset="-122"/>
              </a:rPr>
              <a:t>位地址</a:t>
            </a:r>
          </a:p>
          <a:p>
            <a:pPr eaLnBrk="0" hangingPunct="0">
              <a:spcBef>
                <a:spcPct val="50000"/>
              </a:spcBef>
            </a:pPr>
            <a:r>
              <a:rPr lang="en-US" altLang="zh-CN" sz="2600" dirty="0" smtClean="0">
                <a:latin typeface="宋体" pitchFamily="2" charset="-122"/>
                <a:ea typeface="宋体" pitchFamily="2" charset="-122"/>
              </a:rPr>
              <a:t>    AE8F8H=1010 11</a:t>
            </a:r>
            <a:r>
              <a:rPr lang="en-US" altLang="zh-CN" sz="2600" b="1" dirty="0" smtClean="0">
                <a:solidFill>
                  <a:srgbClr val="FF0000"/>
                </a:solidFill>
                <a:latin typeface="宋体" pitchFamily="2" charset="-122"/>
                <a:ea typeface="宋体" pitchFamily="2" charset="-122"/>
              </a:rPr>
              <a:t>10 </a:t>
            </a:r>
            <a:r>
              <a:rPr lang="en-US" altLang="zh-CN" sz="2600" b="1" dirty="0">
                <a:solidFill>
                  <a:srgbClr val="FF0000"/>
                </a:solidFill>
                <a:latin typeface="宋体" pitchFamily="2" charset="-122"/>
                <a:ea typeface="宋体" pitchFamily="2" charset="-122"/>
              </a:rPr>
              <a:t>1000</a:t>
            </a:r>
            <a:r>
              <a:rPr lang="en-US" altLang="zh-CN" sz="2600" dirty="0">
                <a:latin typeface="宋体" pitchFamily="2" charset="-122"/>
                <a:ea typeface="宋体" pitchFamily="2" charset="-122"/>
              </a:rPr>
              <a:t> </a:t>
            </a:r>
            <a:r>
              <a:rPr lang="en-US" altLang="zh-CN" sz="2600" b="1" dirty="0">
                <a:solidFill>
                  <a:srgbClr val="FF0000"/>
                </a:solidFill>
                <a:latin typeface="宋体" pitchFamily="2" charset="-122"/>
                <a:ea typeface="宋体" pitchFamily="2" charset="-122"/>
              </a:rPr>
              <a:t>111</a:t>
            </a:r>
            <a:r>
              <a:rPr lang="en-US" altLang="zh-CN" sz="2600" dirty="0">
                <a:latin typeface="宋体" pitchFamily="2" charset="-122"/>
                <a:ea typeface="宋体" pitchFamily="2" charset="-122"/>
              </a:rPr>
              <a:t>1 1000</a:t>
            </a:r>
          </a:p>
          <a:p>
            <a:pPr eaLnBrk="0" hangingPunct="0">
              <a:spcBef>
                <a:spcPct val="50000"/>
              </a:spcBef>
            </a:pPr>
            <a:r>
              <a:rPr lang="zh-CN" altLang="en-US" sz="2600" dirty="0" smtClean="0">
                <a:latin typeface="宋体" pitchFamily="2" charset="-122"/>
                <a:ea typeface="宋体" pitchFamily="2" charset="-122"/>
              </a:rPr>
              <a:t>    行地址 </a:t>
            </a:r>
            <a:r>
              <a:rPr lang="en-US" altLang="zh-CN" sz="2600" dirty="0" smtClean="0">
                <a:latin typeface="宋体" pitchFamily="2" charset="-122"/>
                <a:ea typeface="宋体" pitchFamily="2" charset="-122"/>
              </a:rPr>
              <a:t>10 </a:t>
            </a:r>
            <a:r>
              <a:rPr lang="en-US" altLang="zh-CN" sz="2600" dirty="0">
                <a:latin typeface="宋体" pitchFamily="2" charset="-122"/>
                <a:ea typeface="宋体" pitchFamily="2" charset="-122"/>
              </a:rPr>
              <a:t>1000 111 --- 147H --- 327D</a:t>
            </a:r>
          </a:p>
          <a:p>
            <a:pPr eaLnBrk="0" hangingPunct="0">
              <a:spcBef>
                <a:spcPct val="50000"/>
              </a:spcBef>
            </a:pPr>
            <a:r>
              <a:rPr lang="zh-CN" altLang="en-US" sz="2600" dirty="0" smtClean="0">
                <a:latin typeface="宋体" pitchFamily="2" charset="-122"/>
                <a:ea typeface="宋体" pitchFamily="2" charset="-122"/>
              </a:rPr>
              <a:t>    主存</a:t>
            </a:r>
            <a:r>
              <a:rPr lang="zh-CN" altLang="en-US" sz="2600" dirty="0">
                <a:latin typeface="宋体" pitchFamily="2" charset="-122"/>
                <a:ea typeface="宋体" pitchFamily="2" charset="-122"/>
              </a:rPr>
              <a:t>地址为</a:t>
            </a:r>
            <a:r>
              <a:rPr lang="en-US" altLang="zh-CN" sz="2600" dirty="0" smtClean="0">
                <a:latin typeface="宋体" pitchFamily="2" charset="-122"/>
                <a:ea typeface="宋体" pitchFamily="2" charset="-122"/>
              </a:rPr>
              <a:t>AE8F8H</a:t>
            </a:r>
            <a:r>
              <a:rPr lang="zh-CN" altLang="en-US" sz="2600" dirty="0">
                <a:latin typeface="宋体" pitchFamily="2" charset="-122"/>
                <a:ea typeface="宋体" pitchFamily="2" charset="-122"/>
              </a:rPr>
              <a:t>的单元可以映射到</a:t>
            </a:r>
            <a:r>
              <a:rPr lang="en-US" altLang="zh-CN" sz="2600" dirty="0">
                <a:latin typeface="宋体" pitchFamily="2" charset="-122"/>
                <a:ea typeface="宋体" pitchFamily="2" charset="-122"/>
              </a:rPr>
              <a:t>Cache</a:t>
            </a:r>
            <a:r>
              <a:rPr lang="zh-CN" altLang="en-US" sz="2600" dirty="0">
                <a:latin typeface="宋体" pitchFamily="2" charset="-122"/>
                <a:ea typeface="宋体" pitchFamily="2" charset="-122"/>
              </a:rPr>
              <a:t>中的第</a:t>
            </a:r>
            <a:r>
              <a:rPr lang="en-US" altLang="zh-CN" sz="2600" dirty="0">
                <a:latin typeface="宋体" pitchFamily="2" charset="-122"/>
                <a:ea typeface="宋体" pitchFamily="2" charset="-122"/>
              </a:rPr>
              <a:t>327</a:t>
            </a:r>
            <a:r>
              <a:rPr lang="zh-CN" altLang="en-US" sz="2600" dirty="0" smtClean="0">
                <a:latin typeface="宋体" pitchFamily="2" charset="-122"/>
                <a:ea typeface="宋体" pitchFamily="2" charset="-122"/>
              </a:rPr>
              <a:t>行</a:t>
            </a:r>
            <a:endParaRPr lang="en-US" altLang="zh-CN" sz="2600" dirty="0" smtClean="0">
              <a:latin typeface="宋体" pitchFamily="2" charset="-122"/>
              <a:ea typeface="宋体" pitchFamily="2" charset="-122"/>
            </a:endParaRP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5143500"/>
            <a:ext cx="7200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矩形 7"/>
          <p:cNvSpPr/>
          <p:nvPr/>
        </p:nvSpPr>
        <p:spPr>
          <a:xfrm>
            <a:off x="260537" y="237312"/>
            <a:ext cx="517525" cy="156966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lvl="0" algn="ctr">
              <a:spcBef>
                <a:spcPts val="0"/>
              </a:spcBef>
            </a:pPr>
            <a:r>
              <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2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2038"/>
                                        </p:tgtEl>
                                        <p:attrNameLst>
                                          <p:attrName>style.visibility</p:attrName>
                                        </p:attrNameLst>
                                      </p:cBhvr>
                                      <p:to>
                                        <p:strVal val="visible"/>
                                      </p:to>
                                    </p:set>
                                    <p:animEffect transition="in" filter="blinds(horizontal)">
                                      <p:cBhvr>
                                        <p:cTn id="7" dur="500"/>
                                        <p:tgtEl>
                                          <p:spTgt spid="172038"/>
                                        </p:tgtEl>
                                      </p:cBhvr>
                                    </p:animEffect>
                                  </p:childTnLst>
                                </p:cTn>
                              </p:par>
                              <p:par>
                                <p:cTn id="8" presetID="1" presetClass="entr" presetSubtype="0" fill="hold" nodeType="withEffect">
                                  <p:stCondLst>
                                    <p:cond delay="0"/>
                                  </p:stCondLst>
                                  <p:childTnLst>
                                    <p:set>
                                      <p:cBhvr>
                                        <p:cTn id="9" dur="1" fill="hold">
                                          <p:stCondLst>
                                            <p:cond delay="0"/>
                                          </p:stCondLst>
                                        </p:cTn>
                                        <p:tgtEl>
                                          <p:spTgt spid="194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8"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59EE6B33-6EE3-43E1-879A-EC6CEEE69F31}" type="slidenum">
              <a:rPr lang="en-US" altLang="zh-CN"/>
              <a:pPr>
                <a:defRPr/>
              </a:pPr>
              <a:t>78</a:t>
            </a:fld>
            <a:endParaRPr lang="en-US" altLang="zh-CN"/>
          </a:p>
        </p:txBody>
      </p:sp>
      <p:sp>
        <p:nvSpPr>
          <p:cNvPr id="104451" name="Rectangle 2"/>
          <p:cNvSpPr>
            <a:spLocks noChangeArrowheads="1"/>
          </p:cNvSpPr>
          <p:nvPr/>
        </p:nvSpPr>
        <p:spPr bwMode="auto">
          <a:xfrm>
            <a:off x="228600" y="152400"/>
            <a:ext cx="8534400" cy="2227263"/>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dirty="0" smtClean="0">
                <a:latin typeface="宋体" pitchFamily="2" charset="-122"/>
                <a:ea typeface="宋体" pitchFamily="2" charset="-122"/>
              </a:rPr>
              <a:t> 例</a:t>
            </a:r>
            <a:r>
              <a:rPr lang="en-US" altLang="zh-CN" dirty="0" smtClean="0">
                <a:latin typeface="宋体" pitchFamily="2" charset="-122"/>
                <a:ea typeface="宋体" pitchFamily="2" charset="-122"/>
              </a:rPr>
              <a:t>1.</a:t>
            </a:r>
            <a:r>
              <a:rPr lang="zh-CN" altLang="en-US" dirty="0">
                <a:latin typeface="Times New Roman" charset="0"/>
                <a:ea typeface="宋体" pitchFamily="2" charset="-122"/>
              </a:rPr>
              <a:t>某计算机主存容量为</a:t>
            </a:r>
            <a:r>
              <a:rPr lang="en-US" altLang="zh-CN" dirty="0">
                <a:latin typeface="宋体" pitchFamily="2" charset="-122"/>
                <a:ea typeface="宋体" pitchFamily="2" charset="-122"/>
              </a:rPr>
              <a:t>4MB</a:t>
            </a:r>
            <a:r>
              <a:rPr lang="zh-CN" altLang="en-US" dirty="0">
                <a:latin typeface="Times New Roman" charset="0"/>
                <a:ea typeface="宋体" pitchFamily="2" charset="-122"/>
              </a:rPr>
              <a:t>，</a:t>
            </a:r>
            <a:r>
              <a:rPr lang="en-US" altLang="zh-CN" dirty="0">
                <a:latin typeface="宋体" pitchFamily="2" charset="-122"/>
                <a:ea typeface="宋体" pitchFamily="2" charset="-122"/>
              </a:rPr>
              <a:t>Cache</a:t>
            </a:r>
            <a:r>
              <a:rPr lang="zh-CN" altLang="en-US" dirty="0">
                <a:latin typeface="Times New Roman" charset="0"/>
                <a:ea typeface="宋体" pitchFamily="2" charset="-122"/>
              </a:rPr>
              <a:t>容量为</a:t>
            </a:r>
            <a:r>
              <a:rPr lang="en-US" altLang="zh-CN" dirty="0">
                <a:latin typeface="宋体" pitchFamily="2" charset="-122"/>
                <a:ea typeface="宋体" pitchFamily="2" charset="-122"/>
              </a:rPr>
              <a:t>4096B</a:t>
            </a:r>
            <a:r>
              <a:rPr lang="zh-CN" altLang="en-US" dirty="0">
                <a:latin typeface="Times New Roman" charset="0"/>
                <a:ea typeface="宋体" pitchFamily="2" charset="-122"/>
              </a:rPr>
              <a:t>，   </a:t>
            </a:r>
          </a:p>
          <a:p>
            <a:r>
              <a:rPr lang="zh-CN" altLang="en-US" dirty="0">
                <a:latin typeface="Times New Roman" charset="0"/>
                <a:ea typeface="宋体" pitchFamily="2" charset="-122"/>
              </a:rPr>
              <a:t>        采用直接映射，</a:t>
            </a:r>
            <a:r>
              <a:rPr lang="en-US" altLang="zh-CN" dirty="0">
                <a:latin typeface="宋体" pitchFamily="2" charset="-122"/>
                <a:ea typeface="宋体" pitchFamily="2" charset="-122"/>
              </a:rPr>
              <a:t>Cache</a:t>
            </a:r>
            <a:r>
              <a:rPr lang="zh-CN" altLang="en-US" dirty="0">
                <a:latin typeface="Times New Roman" charset="0"/>
                <a:ea typeface="宋体" pitchFamily="2" charset="-122"/>
              </a:rPr>
              <a:t>每行</a:t>
            </a:r>
            <a:r>
              <a:rPr lang="en-US" altLang="zh-CN" dirty="0">
                <a:latin typeface="宋体" pitchFamily="2" charset="-122"/>
                <a:ea typeface="宋体" pitchFamily="2" charset="-122"/>
              </a:rPr>
              <a:t>8</a:t>
            </a:r>
            <a:r>
              <a:rPr lang="zh-CN" altLang="en-US" dirty="0">
                <a:latin typeface="Times New Roman" charset="0"/>
                <a:ea typeface="宋体" pitchFamily="2" charset="-122"/>
              </a:rPr>
              <a:t>个字（</a:t>
            </a:r>
            <a:r>
              <a:rPr lang="en-US" altLang="zh-CN" dirty="0">
                <a:latin typeface="宋体" pitchFamily="2" charset="-122"/>
                <a:ea typeface="宋体" pitchFamily="2" charset="-122"/>
              </a:rPr>
              <a:t>32</a:t>
            </a:r>
            <a:r>
              <a:rPr lang="zh-CN" altLang="en-US" dirty="0">
                <a:latin typeface="Times New Roman" charset="0"/>
                <a:ea typeface="宋体" pitchFamily="2" charset="-122"/>
              </a:rPr>
              <a:t>位</a:t>
            </a:r>
            <a:r>
              <a:rPr lang="en-US" altLang="zh-CN" dirty="0">
                <a:latin typeface="宋体" pitchFamily="2" charset="-122"/>
                <a:ea typeface="宋体" pitchFamily="2" charset="-122"/>
              </a:rPr>
              <a:t>/</a:t>
            </a:r>
            <a:r>
              <a:rPr lang="zh-CN" altLang="en-US" dirty="0">
                <a:latin typeface="Times New Roman" charset="0"/>
                <a:ea typeface="宋体" pitchFamily="2" charset="-122"/>
              </a:rPr>
              <a:t>字）。</a:t>
            </a:r>
          </a:p>
          <a:p>
            <a:r>
              <a:rPr lang="zh-CN" altLang="en-US" dirty="0">
                <a:latin typeface="Times New Roman" charset="0"/>
                <a:ea typeface="宋体" pitchFamily="2" charset="-122"/>
              </a:rPr>
              <a:t>        假设开始时</a:t>
            </a:r>
            <a:r>
              <a:rPr lang="en-US" altLang="zh-CN" dirty="0">
                <a:latin typeface="宋体" pitchFamily="2" charset="-122"/>
                <a:ea typeface="宋体" pitchFamily="2" charset="-122"/>
              </a:rPr>
              <a:t>Cache</a:t>
            </a:r>
            <a:r>
              <a:rPr lang="zh-CN" altLang="en-US" dirty="0">
                <a:latin typeface="Times New Roman" charset="0"/>
                <a:ea typeface="宋体" pitchFamily="2" charset="-122"/>
              </a:rPr>
              <a:t>为空，</a:t>
            </a:r>
            <a:r>
              <a:rPr lang="en-US" altLang="zh-CN" dirty="0">
                <a:latin typeface="宋体" pitchFamily="2" charset="-122"/>
                <a:ea typeface="宋体" pitchFamily="2" charset="-122"/>
              </a:rPr>
              <a:t>CPU</a:t>
            </a:r>
            <a:r>
              <a:rPr lang="zh-CN" altLang="en-US" dirty="0">
                <a:latin typeface="Times New Roman" charset="0"/>
                <a:ea typeface="宋体" pitchFamily="2" charset="-122"/>
              </a:rPr>
              <a:t>按字</a:t>
            </a:r>
            <a:r>
              <a:rPr lang="en-US" altLang="zh-CN" dirty="0">
                <a:latin typeface="宋体" pitchFamily="2" charset="-122"/>
                <a:ea typeface="宋体" pitchFamily="2" charset="-122"/>
              </a:rPr>
              <a:t>0,1,2</a:t>
            </a:r>
            <a:r>
              <a:rPr lang="en-US" altLang="zh-CN" dirty="0">
                <a:latin typeface="Times New Roman" charset="0"/>
                <a:ea typeface="宋体" pitchFamily="2" charset="-122"/>
              </a:rPr>
              <a:t>……</a:t>
            </a:r>
            <a:r>
              <a:rPr lang="en-US" altLang="zh-CN" dirty="0">
                <a:latin typeface="宋体" pitchFamily="2" charset="-122"/>
                <a:ea typeface="宋体" pitchFamily="2" charset="-122"/>
              </a:rPr>
              <a:t>.99</a:t>
            </a:r>
            <a:r>
              <a:rPr lang="zh-CN" altLang="en-US" dirty="0">
                <a:latin typeface="Times New Roman" charset="0"/>
                <a:ea typeface="宋体" pitchFamily="2" charset="-122"/>
              </a:rPr>
              <a:t>和</a:t>
            </a:r>
          </a:p>
          <a:p>
            <a:r>
              <a:rPr lang="zh-CN" altLang="en-US" dirty="0">
                <a:latin typeface="Times New Roman" charset="0"/>
                <a:ea typeface="宋体" pitchFamily="2" charset="-122"/>
              </a:rPr>
              <a:t>        </a:t>
            </a:r>
            <a:r>
              <a:rPr lang="en-US" altLang="zh-CN" dirty="0">
                <a:latin typeface="宋体" pitchFamily="2" charset="-122"/>
                <a:ea typeface="宋体" pitchFamily="2" charset="-122"/>
              </a:rPr>
              <a:t>4096,4097,</a:t>
            </a:r>
            <a:r>
              <a:rPr lang="en-US" altLang="zh-CN" dirty="0">
                <a:latin typeface="Times New Roman" charset="0"/>
                <a:ea typeface="宋体" pitchFamily="2" charset="-122"/>
              </a:rPr>
              <a:t>……</a:t>
            </a:r>
            <a:r>
              <a:rPr lang="en-US" altLang="zh-CN" dirty="0">
                <a:latin typeface="宋体" pitchFamily="2" charset="-122"/>
                <a:ea typeface="宋体" pitchFamily="2" charset="-122"/>
              </a:rPr>
              <a:t>.4195</a:t>
            </a:r>
            <a:r>
              <a:rPr lang="zh-CN" altLang="en-US" dirty="0">
                <a:latin typeface="Times New Roman" charset="0"/>
                <a:ea typeface="宋体" pitchFamily="2" charset="-122"/>
              </a:rPr>
              <a:t>交替取指令，重复</a:t>
            </a:r>
            <a:r>
              <a:rPr lang="en-US" altLang="zh-CN" dirty="0">
                <a:latin typeface="宋体" pitchFamily="2" charset="-122"/>
                <a:ea typeface="宋体" pitchFamily="2" charset="-122"/>
              </a:rPr>
              <a:t>10</a:t>
            </a:r>
            <a:r>
              <a:rPr lang="zh-CN" altLang="en-US" dirty="0">
                <a:latin typeface="Times New Roman" charset="0"/>
                <a:ea typeface="宋体" pitchFamily="2" charset="-122"/>
              </a:rPr>
              <a:t>次，</a:t>
            </a:r>
          </a:p>
          <a:p>
            <a:r>
              <a:rPr lang="zh-CN" altLang="en-US" dirty="0">
                <a:latin typeface="Times New Roman" charset="0"/>
                <a:ea typeface="宋体" pitchFamily="2" charset="-122"/>
              </a:rPr>
              <a:t>       命中率为多少。</a:t>
            </a:r>
            <a:endParaRPr lang="zh-CN" altLang="en-US" dirty="0">
              <a:latin typeface="宋体" pitchFamily="2" charset="-122"/>
              <a:ea typeface="宋体" pitchFamily="2" charset="-122"/>
            </a:endParaRPr>
          </a:p>
        </p:txBody>
      </p:sp>
      <p:sp>
        <p:nvSpPr>
          <p:cNvPr id="176131" name="Rectangle 3"/>
          <p:cNvSpPr>
            <a:spLocks noChangeArrowheads="1"/>
          </p:cNvSpPr>
          <p:nvPr/>
        </p:nvSpPr>
        <p:spPr bwMode="auto">
          <a:xfrm>
            <a:off x="395288" y="2349500"/>
            <a:ext cx="85725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lgn="just">
              <a:lnSpc>
                <a:spcPct val="150000"/>
              </a:lnSpc>
            </a:pPr>
            <a:r>
              <a:rPr lang="zh-CN" altLang="en-US" dirty="0">
                <a:latin typeface="宋体" pitchFamily="2" charset="-122"/>
                <a:ea typeface="宋体" pitchFamily="2" charset="-122"/>
              </a:rPr>
              <a:t>解：</a:t>
            </a:r>
            <a:r>
              <a:rPr lang="en-US" altLang="zh-CN" dirty="0">
                <a:latin typeface="宋体" pitchFamily="2" charset="-122"/>
                <a:ea typeface="宋体" pitchFamily="2" charset="-122"/>
              </a:rPr>
              <a:t>Cache</a:t>
            </a:r>
            <a:r>
              <a:rPr lang="zh-CN" altLang="en-US" dirty="0">
                <a:latin typeface="宋体" pitchFamily="2" charset="-122"/>
                <a:ea typeface="宋体" pitchFamily="2" charset="-122"/>
              </a:rPr>
              <a:t>的每行为</a:t>
            </a:r>
            <a:r>
              <a:rPr lang="en-US" altLang="zh-CN" dirty="0">
                <a:latin typeface="宋体" pitchFamily="2" charset="-122"/>
                <a:ea typeface="宋体" pitchFamily="2" charset="-122"/>
              </a:rPr>
              <a:t>8</a:t>
            </a:r>
            <a:r>
              <a:rPr lang="zh-CN" altLang="en-US" dirty="0">
                <a:latin typeface="宋体" pitchFamily="2" charset="-122"/>
                <a:ea typeface="宋体" pitchFamily="2" charset="-122"/>
              </a:rPr>
              <a:t>个</a:t>
            </a:r>
            <a:r>
              <a:rPr lang="en-US" altLang="zh-CN" dirty="0">
                <a:latin typeface="宋体" pitchFamily="2" charset="-122"/>
                <a:ea typeface="宋体" pitchFamily="2" charset="-122"/>
              </a:rPr>
              <a:t>32</a:t>
            </a:r>
            <a:r>
              <a:rPr lang="zh-CN" altLang="en-US" dirty="0">
                <a:latin typeface="宋体" pitchFamily="2" charset="-122"/>
                <a:ea typeface="宋体" pitchFamily="2" charset="-122"/>
              </a:rPr>
              <a:t>位的字，</a:t>
            </a:r>
            <a:r>
              <a:rPr lang="en-US" altLang="zh-CN" dirty="0">
                <a:latin typeface="宋体" pitchFamily="2" charset="-122"/>
                <a:ea typeface="宋体" pitchFamily="2" charset="-122"/>
              </a:rPr>
              <a:t>32</a:t>
            </a:r>
            <a:r>
              <a:rPr lang="zh-CN" altLang="en-US" dirty="0">
                <a:latin typeface="宋体" pitchFamily="2" charset="-122"/>
                <a:ea typeface="宋体" pitchFamily="2" charset="-122"/>
              </a:rPr>
              <a:t>字节</a:t>
            </a:r>
          </a:p>
          <a:p>
            <a:pPr algn="just">
              <a:lnSpc>
                <a:spcPct val="150000"/>
              </a:lnSpc>
            </a:pPr>
            <a:r>
              <a:rPr lang="zh-CN" altLang="en-US" dirty="0">
                <a:latin typeface="宋体" pitchFamily="2" charset="-122"/>
                <a:ea typeface="宋体" pitchFamily="2" charset="-122"/>
              </a:rPr>
              <a:t>    </a:t>
            </a:r>
            <a:r>
              <a:rPr lang="en-US" altLang="zh-CN" dirty="0">
                <a:latin typeface="宋体" pitchFamily="2" charset="-122"/>
                <a:ea typeface="宋体" pitchFamily="2" charset="-122"/>
              </a:rPr>
              <a:t>Cache</a:t>
            </a:r>
            <a:r>
              <a:rPr lang="zh-CN" altLang="en-US" dirty="0">
                <a:latin typeface="宋体" pitchFamily="2" charset="-122"/>
                <a:ea typeface="宋体" pitchFamily="2" charset="-122"/>
              </a:rPr>
              <a:t>有</a:t>
            </a:r>
            <a:r>
              <a:rPr lang="en-US" altLang="zh-CN" dirty="0" smtClean="0">
                <a:latin typeface="宋体" pitchFamily="2" charset="-122"/>
                <a:ea typeface="宋体" pitchFamily="2" charset="-122"/>
              </a:rPr>
              <a:t>4096B/32B=128</a:t>
            </a:r>
            <a:endParaRPr lang="zh-CN" altLang="en-US" dirty="0">
              <a:latin typeface="Times New Roman" charset="0"/>
              <a:ea typeface="宋体" pitchFamily="2" charset="-122"/>
            </a:endParaRPr>
          </a:p>
        </p:txBody>
      </p:sp>
      <p:sp>
        <p:nvSpPr>
          <p:cNvPr id="8" name="Rectangle 3"/>
          <p:cNvSpPr>
            <a:spLocks noChangeArrowheads="1"/>
          </p:cNvSpPr>
          <p:nvPr/>
        </p:nvSpPr>
        <p:spPr bwMode="auto">
          <a:xfrm>
            <a:off x="406864" y="3738943"/>
            <a:ext cx="857250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lgn="just">
              <a:lnSpc>
                <a:spcPct val="150000"/>
              </a:lnSpc>
            </a:pPr>
            <a:r>
              <a:rPr lang="en-US" altLang="zh-CN" dirty="0" smtClean="0">
                <a:latin typeface="宋体" pitchFamily="2" charset="-122"/>
                <a:ea typeface="宋体" pitchFamily="2" charset="-122"/>
              </a:rPr>
              <a:t>    99/8=12.375</a:t>
            </a:r>
            <a:r>
              <a:rPr lang="zh-CN" altLang="en-US" dirty="0" smtClean="0">
                <a:latin typeface="宋体" pitchFamily="2" charset="-122"/>
                <a:ea typeface="宋体" pitchFamily="2" charset="-122"/>
              </a:rPr>
              <a:t>、</a:t>
            </a:r>
            <a:r>
              <a:rPr lang="en-US" altLang="zh-CN" dirty="0" smtClean="0">
                <a:latin typeface="宋体" pitchFamily="2" charset="-122"/>
                <a:ea typeface="宋体" pitchFamily="2" charset="-122"/>
              </a:rPr>
              <a:t>4096/8=512</a:t>
            </a:r>
            <a:r>
              <a:rPr lang="zh-CN" altLang="en-US" dirty="0" smtClean="0">
                <a:latin typeface="宋体" pitchFamily="2" charset="-122"/>
                <a:ea typeface="宋体" pitchFamily="2" charset="-122"/>
              </a:rPr>
              <a:t>、</a:t>
            </a:r>
            <a:r>
              <a:rPr lang="en-US" altLang="zh-CN" dirty="0" smtClean="0">
                <a:latin typeface="宋体" pitchFamily="2" charset="-122"/>
                <a:ea typeface="宋体" pitchFamily="2" charset="-122"/>
              </a:rPr>
              <a:t>4195/8=524.375</a:t>
            </a:r>
          </a:p>
          <a:p>
            <a:pPr algn="just">
              <a:lnSpc>
                <a:spcPct val="150000"/>
              </a:lnSpc>
            </a:pPr>
            <a:r>
              <a:rPr lang="en-US" altLang="zh-CN" dirty="0">
                <a:latin typeface="宋体" pitchFamily="2" charset="-122"/>
                <a:ea typeface="宋体" pitchFamily="2" charset="-122"/>
              </a:rPr>
              <a:t> </a:t>
            </a:r>
            <a:r>
              <a:rPr lang="en-US" altLang="zh-CN" dirty="0" smtClean="0">
                <a:latin typeface="宋体" pitchFamily="2" charset="-122"/>
                <a:ea typeface="宋体" pitchFamily="2" charset="-122"/>
              </a:rPr>
              <a:t>   </a:t>
            </a:r>
            <a:r>
              <a:rPr lang="zh-CN" altLang="en-US" dirty="0" smtClean="0">
                <a:latin typeface="Times New Roman" charset="0"/>
                <a:ea typeface="宋体" pitchFamily="2" charset="-122"/>
              </a:rPr>
              <a:t>字</a:t>
            </a:r>
            <a:r>
              <a:rPr lang="en-US" altLang="zh-CN" dirty="0">
                <a:latin typeface="宋体" pitchFamily="2" charset="-122"/>
                <a:ea typeface="宋体" pitchFamily="2" charset="-122"/>
              </a:rPr>
              <a:t>0,1,2</a:t>
            </a:r>
            <a:r>
              <a:rPr lang="en-US" altLang="zh-CN" dirty="0">
                <a:latin typeface="Times New Roman" charset="0"/>
                <a:ea typeface="宋体" pitchFamily="2" charset="-122"/>
              </a:rPr>
              <a:t>……</a:t>
            </a:r>
            <a:r>
              <a:rPr lang="en-US" altLang="zh-CN" dirty="0">
                <a:latin typeface="宋体" pitchFamily="2" charset="-122"/>
                <a:ea typeface="宋体" pitchFamily="2" charset="-122"/>
              </a:rPr>
              <a:t>.99</a:t>
            </a:r>
            <a:r>
              <a:rPr lang="zh-CN" altLang="en-US" dirty="0">
                <a:latin typeface="宋体" pitchFamily="2" charset="-122"/>
                <a:ea typeface="宋体" pitchFamily="2" charset="-122"/>
              </a:rPr>
              <a:t>分布在主存</a:t>
            </a:r>
            <a:r>
              <a:rPr lang="en-US" altLang="zh-CN" dirty="0">
                <a:latin typeface="宋体" pitchFamily="2" charset="-122"/>
                <a:ea typeface="宋体" pitchFamily="2" charset="-122"/>
              </a:rPr>
              <a:t>0-12</a:t>
            </a:r>
            <a:r>
              <a:rPr lang="zh-CN" altLang="en-US" dirty="0">
                <a:latin typeface="宋体" pitchFamily="2" charset="-122"/>
                <a:ea typeface="宋体" pitchFamily="2" charset="-122"/>
              </a:rPr>
              <a:t>块</a:t>
            </a:r>
            <a:r>
              <a:rPr lang="zh-CN" altLang="en-US" dirty="0" smtClean="0">
                <a:latin typeface="宋体" pitchFamily="2" charset="-122"/>
                <a:ea typeface="宋体" pitchFamily="2" charset="-122"/>
              </a:rPr>
              <a:t>内</a:t>
            </a:r>
            <a:endParaRPr lang="en-US" altLang="zh-CN" dirty="0" smtClean="0">
              <a:latin typeface="宋体" pitchFamily="2" charset="-122"/>
              <a:ea typeface="宋体" pitchFamily="2" charset="-122"/>
            </a:endParaRPr>
          </a:p>
          <a:p>
            <a:pPr algn="just">
              <a:lnSpc>
                <a:spcPct val="150000"/>
              </a:lnSpc>
            </a:pPr>
            <a:r>
              <a:rPr lang="en-US" altLang="zh-CN" dirty="0">
                <a:latin typeface="宋体" pitchFamily="2" charset="-122"/>
                <a:ea typeface="宋体" pitchFamily="2" charset="-122"/>
              </a:rPr>
              <a:t> </a:t>
            </a:r>
            <a:r>
              <a:rPr lang="en-US" altLang="zh-CN" dirty="0" smtClean="0">
                <a:latin typeface="宋体" pitchFamily="2" charset="-122"/>
                <a:ea typeface="宋体" pitchFamily="2" charset="-122"/>
              </a:rPr>
              <a:t>   </a:t>
            </a:r>
            <a:r>
              <a:rPr lang="zh-CN" altLang="en-US" dirty="0" smtClean="0">
                <a:latin typeface="Times New Roman" charset="0"/>
                <a:ea typeface="宋体" pitchFamily="2" charset="-122"/>
              </a:rPr>
              <a:t>字</a:t>
            </a:r>
            <a:r>
              <a:rPr lang="en-US" altLang="zh-CN" dirty="0">
                <a:latin typeface="宋体" pitchFamily="2" charset="-122"/>
                <a:ea typeface="宋体" pitchFamily="2" charset="-122"/>
              </a:rPr>
              <a:t>4096,4097</a:t>
            </a:r>
            <a:r>
              <a:rPr lang="en-US" altLang="zh-CN" dirty="0" smtClean="0">
                <a:latin typeface="宋体" pitchFamily="2" charset="-122"/>
                <a:ea typeface="宋体" pitchFamily="2" charset="-122"/>
              </a:rPr>
              <a:t>,</a:t>
            </a:r>
            <a:r>
              <a:rPr lang="en-US" altLang="zh-CN" dirty="0" smtClean="0">
                <a:latin typeface="Times New Roman" charset="0"/>
                <a:ea typeface="宋体" pitchFamily="2" charset="-122"/>
              </a:rPr>
              <a:t>……</a:t>
            </a:r>
            <a:r>
              <a:rPr lang="en-US" altLang="zh-CN" dirty="0" smtClean="0">
                <a:latin typeface="宋体" pitchFamily="2" charset="-122"/>
                <a:ea typeface="宋体" pitchFamily="2" charset="-122"/>
              </a:rPr>
              <a:t>4195</a:t>
            </a:r>
            <a:r>
              <a:rPr lang="zh-CN" altLang="en-US" dirty="0">
                <a:latin typeface="宋体" pitchFamily="2" charset="-122"/>
                <a:ea typeface="宋体" pitchFamily="2" charset="-122"/>
              </a:rPr>
              <a:t>分布</a:t>
            </a:r>
            <a:r>
              <a:rPr lang="zh-CN" altLang="en-US" dirty="0" smtClean="0">
                <a:latin typeface="宋体" pitchFamily="2" charset="-122"/>
                <a:ea typeface="宋体" pitchFamily="2" charset="-122"/>
              </a:rPr>
              <a:t>在主存</a:t>
            </a:r>
            <a:r>
              <a:rPr lang="en-US" altLang="zh-CN" dirty="0">
                <a:latin typeface="宋体" pitchFamily="2" charset="-122"/>
                <a:ea typeface="宋体" pitchFamily="2" charset="-122"/>
              </a:rPr>
              <a:t>512-524</a:t>
            </a:r>
            <a:r>
              <a:rPr lang="zh-CN" altLang="en-US" dirty="0">
                <a:latin typeface="宋体" pitchFamily="2" charset="-122"/>
                <a:ea typeface="宋体" pitchFamily="2" charset="-122"/>
              </a:rPr>
              <a:t>块</a:t>
            </a:r>
            <a:r>
              <a:rPr lang="zh-CN" altLang="en-US" dirty="0" smtClean="0">
                <a:latin typeface="宋体" pitchFamily="2" charset="-122"/>
                <a:ea typeface="宋体" pitchFamily="2" charset="-122"/>
              </a:rPr>
              <a:t>内</a:t>
            </a:r>
            <a:endParaRPr lang="zh-CN" altLang="en-US" dirty="0">
              <a:latin typeface="Times New Roman" charset="0"/>
              <a:ea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6131"/>
                                        </p:tgtEl>
                                        <p:attrNameLst>
                                          <p:attrName>style.visibility</p:attrName>
                                        </p:attrNameLst>
                                      </p:cBhvr>
                                      <p:to>
                                        <p:strVal val="visible"/>
                                      </p:to>
                                    </p:set>
                                    <p:animEffect transition="in" filter="blinds(horizontal)">
                                      <p:cBhvr>
                                        <p:cTn id="7" dur="500"/>
                                        <p:tgtEl>
                                          <p:spTgt spid="17613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1" grpId="0" autoUpdateAnimBg="0"/>
      <p:bldP spid="8"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59EE6B33-6EE3-43E1-879A-EC6CEEE69F31}" type="slidenum">
              <a:rPr lang="en-US" altLang="zh-CN"/>
              <a:pPr>
                <a:defRPr/>
              </a:pPr>
              <a:t>79</a:t>
            </a:fld>
            <a:endParaRPr lang="en-US" altLang="zh-CN"/>
          </a:p>
        </p:txBody>
      </p:sp>
      <p:sp>
        <p:nvSpPr>
          <p:cNvPr id="104451" name="Rectangle 2"/>
          <p:cNvSpPr>
            <a:spLocks noChangeArrowheads="1"/>
          </p:cNvSpPr>
          <p:nvPr/>
        </p:nvSpPr>
        <p:spPr bwMode="auto">
          <a:xfrm>
            <a:off x="228600" y="152400"/>
            <a:ext cx="8534400" cy="2227263"/>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dirty="0" smtClean="0">
                <a:latin typeface="宋体" pitchFamily="2" charset="-122"/>
                <a:ea typeface="宋体" pitchFamily="2" charset="-122"/>
              </a:rPr>
              <a:t>例</a:t>
            </a:r>
            <a:r>
              <a:rPr lang="en-US" altLang="zh-CN" dirty="0">
                <a:latin typeface="宋体" pitchFamily="2" charset="-122"/>
                <a:ea typeface="宋体" pitchFamily="2" charset="-122"/>
              </a:rPr>
              <a:t>1</a:t>
            </a:r>
            <a:r>
              <a:rPr lang="en-US" altLang="zh-CN" dirty="0" smtClean="0">
                <a:latin typeface="宋体" pitchFamily="2" charset="-122"/>
                <a:ea typeface="宋体" pitchFamily="2" charset="-122"/>
              </a:rPr>
              <a:t>.</a:t>
            </a:r>
            <a:r>
              <a:rPr lang="zh-CN" altLang="en-US" dirty="0">
                <a:latin typeface="Times New Roman" charset="0"/>
                <a:ea typeface="宋体" pitchFamily="2" charset="-122"/>
              </a:rPr>
              <a:t>某计算机主存容量为</a:t>
            </a:r>
            <a:r>
              <a:rPr lang="en-US" altLang="zh-CN" dirty="0">
                <a:latin typeface="宋体" pitchFamily="2" charset="-122"/>
                <a:ea typeface="宋体" pitchFamily="2" charset="-122"/>
              </a:rPr>
              <a:t>4MB</a:t>
            </a:r>
            <a:r>
              <a:rPr lang="zh-CN" altLang="en-US" dirty="0">
                <a:latin typeface="Times New Roman" charset="0"/>
                <a:ea typeface="宋体" pitchFamily="2" charset="-122"/>
              </a:rPr>
              <a:t>，</a:t>
            </a:r>
            <a:r>
              <a:rPr lang="en-US" altLang="zh-CN" dirty="0">
                <a:latin typeface="宋体" pitchFamily="2" charset="-122"/>
                <a:ea typeface="宋体" pitchFamily="2" charset="-122"/>
              </a:rPr>
              <a:t>Cache</a:t>
            </a:r>
            <a:r>
              <a:rPr lang="zh-CN" altLang="en-US" dirty="0">
                <a:latin typeface="Times New Roman" charset="0"/>
                <a:ea typeface="宋体" pitchFamily="2" charset="-122"/>
              </a:rPr>
              <a:t>容量为</a:t>
            </a:r>
            <a:r>
              <a:rPr lang="en-US" altLang="zh-CN" dirty="0">
                <a:latin typeface="宋体" pitchFamily="2" charset="-122"/>
                <a:ea typeface="宋体" pitchFamily="2" charset="-122"/>
              </a:rPr>
              <a:t>4096B</a:t>
            </a:r>
            <a:r>
              <a:rPr lang="zh-CN" altLang="en-US" dirty="0">
                <a:latin typeface="Times New Roman" charset="0"/>
                <a:ea typeface="宋体" pitchFamily="2" charset="-122"/>
              </a:rPr>
              <a:t>，   </a:t>
            </a:r>
          </a:p>
          <a:p>
            <a:r>
              <a:rPr lang="zh-CN" altLang="en-US" dirty="0">
                <a:latin typeface="Times New Roman" charset="0"/>
                <a:ea typeface="宋体" pitchFamily="2" charset="-122"/>
              </a:rPr>
              <a:t>        采用直接映射，</a:t>
            </a:r>
            <a:r>
              <a:rPr lang="en-US" altLang="zh-CN" dirty="0">
                <a:latin typeface="宋体" pitchFamily="2" charset="-122"/>
                <a:ea typeface="宋体" pitchFamily="2" charset="-122"/>
              </a:rPr>
              <a:t>Cache</a:t>
            </a:r>
            <a:r>
              <a:rPr lang="zh-CN" altLang="en-US" dirty="0">
                <a:latin typeface="Times New Roman" charset="0"/>
                <a:ea typeface="宋体" pitchFamily="2" charset="-122"/>
              </a:rPr>
              <a:t>每行</a:t>
            </a:r>
            <a:r>
              <a:rPr lang="en-US" altLang="zh-CN" dirty="0">
                <a:latin typeface="宋体" pitchFamily="2" charset="-122"/>
                <a:ea typeface="宋体" pitchFamily="2" charset="-122"/>
              </a:rPr>
              <a:t>8</a:t>
            </a:r>
            <a:r>
              <a:rPr lang="zh-CN" altLang="en-US" dirty="0">
                <a:latin typeface="Times New Roman" charset="0"/>
                <a:ea typeface="宋体" pitchFamily="2" charset="-122"/>
              </a:rPr>
              <a:t>个字（</a:t>
            </a:r>
            <a:r>
              <a:rPr lang="en-US" altLang="zh-CN" dirty="0">
                <a:latin typeface="宋体" pitchFamily="2" charset="-122"/>
                <a:ea typeface="宋体" pitchFamily="2" charset="-122"/>
              </a:rPr>
              <a:t>32</a:t>
            </a:r>
            <a:r>
              <a:rPr lang="zh-CN" altLang="en-US" dirty="0">
                <a:latin typeface="Times New Roman" charset="0"/>
                <a:ea typeface="宋体" pitchFamily="2" charset="-122"/>
              </a:rPr>
              <a:t>位</a:t>
            </a:r>
            <a:r>
              <a:rPr lang="en-US" altLang="zh-CN" dirty="0">
                <a:latin typeface="宋体" pitchFamily="2" charset="-122"/>
                <a:ea typeface="宋体" pitchFamily="2" charset="-122"/>
              </a:rPr>
              <a:t>/</a:t>
            </a:r>
            <a:r>
              <a:rPr lang="zh-CN" altLang="en-US" dirty="0">
                <a:latin typeface="Times New Roman" charset="0"/>
                <a:ea typeface="宋体" pitchFamily="2" charset="-122"/>
              </a:rPr>
              <a:t>字）。</a:t>
            </a:r>
          </a:p>
          <a:p>
            <a:r>
              <a:rPr lang="zh-CN" altLang="en-US" dirty="0">
                <a:latin typeface="Times New Roman" charset="0"/>
                <a:ea typeface="宋体" pitchFamily="2" charset="-122"/>
              </a:rPr>
              <a:t>        假设开始时</a:t>
            </a:r>
            <a:r>
              <a:rPr lang="en-US" altLang="zh-CN" dirty="0">
                <a:latin typeface="宋体" pitchFamily="2" charset="-122"/>
                <a:ea typeface="宋体" pitchFamily="2" charset="-122"/>
              </a:rPr>
              <a:t>Cache</a:t>
            </a:r>
            <a:r>
              <a:rPr lang="zh-CN" altLang="en-US" dirty="0">
                <a:latin typeface="Times New Roman" charset="0"/>
                <a:ea typeface="宋体" pitchFamily="2" charset="-122"/>
              </a:rPr>
              <a:t>为空，</a:t>
            </a:r>
            <a:r>
              <a:rPr lang="en-US" altLang="zh-CN" dirty="0">
                <a:latin typeface="宋体" pitchFamily="2" charset="-122"/>
                <a:ea typeface="宋体" pitchFamily="2" charset="-122"/>
              </a:rPr>
              <a:t>CPU</a:t>
            </a:r>
            <a:r>
              <a:rPr lang="zh-CN" altLang="en-US" dirty="0">
                <a:latin typeface="Times New Roman" charset="0"/>
                <a:ea typeface="宋体" pitchFamily="2" charset="-122"/>
              </a:rPr>
              <a:t>按字</a:t>
            </a:r>
            <a:r>
              <a:rPr lang="en-US" altLang="zh-CN" dirty="0">
                <a:latin typeface="宋体" pitchFamily="2" charset="-122"/>
                <a:ea typeface="宋体" pitchFamily="2" charset="-122"/>
              </a:rPr>
              <a:t>0,1,2</a:t>
            </a:r>
            <a:r>
              <a:rPr lang="en-US" altLang="zh-CN" dirty="0">
                <a:latin typeface="Times New Roman" charset="0"/>
                <a:ea typeface="宋体" pitchFamily="2" charset="-122"/>
              </a:rPr>
              <a:t>……</a:t>
            </a:r>
            <a:r>
              <a:rPr lang="en-US" altLang="zh-CN" dirty="0">
                <a:latin typeface="宋体" pitchFamily="2" charset="-122"/>
                <a:ea typeface="宋体" pitchFamily="2" charset="-122"/>
              </a:rPr>
              <a:t>.99</a:t>
            </a:r>
            <a:r>
              <a:rPr lang="zh-CN" altLang="en-US" dirty="0">
                <a:latin typeface="Times New Roman" charset="0"/>
                <a:ea typeface="宋体" pitchFamily="2" charset="-122"/>
              </a:rPr>
              <a:t>和</a:t>
            </a:r>
          </a:p>
          <a:p>
            <a:r>
              <a:rPr lang="zh-CN" altLang="en-US" dirty="0">
                <a:latin typeface="Times New Roman" charset="0"/>
                <a:ea typeface="宋体" pitchFamily="2" charset="-122"/>
              </a:rPr>
              <a:t>        </a:t>
            </a:r>
            <a:r>
              <a:rPr lang="en-US" altLang="zh-CN" dirty="0">
                <a:latin typeface="宋体" pitchFamily="2" charset="-122"/>
                <a:ea typeface="宋体" pitchFamily="2" charset="-122"/>
              </a:rPr>
              <a:t>4096,4097,</a:t>
            </a:r>
            <a:r>
              <a:rPr lang="en-US" altLang="zh-CN" dirty="0">
                <a:latin typeface="Times New Roman" charset="0"/>
                <a:ea typeface="宋体" pitchFamily="2" charset="-122"/>
              </a:rPr>
              <a:t>……</a:t>
            </a:r>
            <a:r>
              <a:rPr lang="en-US" altLang="zh-CN" dirty="0">
                <a:latin typeface="宋体" pitchFamily="2" charset="-122"/>
                <a:ea typeface="宋体" pitchFamily="2" charset="-122"/>
              </a:rPr>
              <a:t>.4195</a:t>
            </a:r>
            <a:r>
              <a:rPr lang="zh-CN" altLang="en-US" dirty="0">
                <a:latin typeface="Times New Roman" charset="0"/>
                <a:ea typeface="宋体" pitchFamily="2" charset="-122"/>
              </a:rPr>
              <a:t>交替取指令，重复</a:t>
            </a:r>
            <a:r>
              <a:rPr lang="en-US" altLang="zh-CN" dirty="0">
                <a:latin typeface="宋体" pitchFamily="2" charset="-122"/>
                <a:ea typeface="宋体" pitchFamily="2" charset="-122"/>
              </a:rPr>
              <a:t>10</a:t>
            </a:r>
            <a:r>
              <a:rPr lang="zh-CN" altLang="en-US" dirty="0">
                <a:latin typeface="Times New Roman" charset="0"/>
                <a:ea typeface="宋体" pitchFamily="2" charset="-122"/>
              </a:rPr>
              <a:t>次，</a:t>
            </a:r>
          </a:p>
          <a:p>
            <a:r>
              <a:rPr lang="zh-CN" altLang="en-US" dirty="0">
                <a:latin typeface="Times New Roman" charset="0"/>
                <a:ea typeface="宋体" pitchFamily="2" charset="-122"/>
              </a:rPr>
              <a:t>       命中率为多少。</a:t>
            </a:r>
            <a:endParaRPr lang="zh-CN" altLang="en-US" dirty="0">
              <a:latin typeface="宋体" pitchFamily="2" charset="-122"/>
              <a:ea typeface="宋体" pitchFamily="2" charset="-122"/>
            </a:endParaRPr>
          </a:p>
        </p:txBody>
      </p:sp>
      <p:sp>
        <p:nvSpPr>
          <p:cNvPr id="9" name="Rectangle 3"/>
          <p:cNvSpPr>
            <a:spLocks noChangeArrowheads="1"/>
          </p:cNvSpPr>
          <p:nvPr/>
        </p:nvSpPr>
        <p:spPr bwMode="auto">
          <a:xfrm>
            <a:off x="549714" y="2441042"/>
            <a:ext cx="452634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p>
            <a:pPr algn="just">
              <a:lnSpc>
                <a:spcPct val="120000"/>
              </a:lnSpc>
            </a:pPr>
            <a:r>
              <a:rPr lang="zh-CN" altLang="en-US" sz="2000" dirty="0" smtClean="0">
                <a:latin typeface="Times New Roman" charset="0"/>
                <a:ea typeface="宋体" pitchFamily="2" charset="-122"/>
              </a:rPr>
              <a:t>字</a:t>
            </a:r>
            <a:r>
              <a:rPr lang="en-US" altLang="zh-CN" sz="2000" dirty="0" smtClean="0">
                <a:latin typeface="宋体" pitchFamily="2" charset="-122"/>
                <a:ea typeface="宋体" pitchFamily="2" charset="-122"/>
              </a:rPr>
              <a:t>0,1,2</a:t>
            </a:r>
            <a:r>
              <a:rPr lang="en-US" altLang="zh-CN" sz="2000" dirty="0">
                <a:latin typeface="Times New Roman" charset="0"/>
                <a:ea typeface="宋体" pitchFamily="2" charset="-122"/>
              </a:rPr>
              <a:t>……</a:t>
            </a:r>
            <a:r>
              <a:rPr lang="en-US" altLang="zh-CN" sz="2000" dirty="0">
                <a:latin typeface="宋体" pitchFamily="2" charset="-122"/>
                <a:ea typeface="宋体" pitchFamily="2" charset="-122"/>
              </a:rPr>
              <a:t>.99</a:t>
            </a:r>
            <a:r>
              <a:rPr lang="zh-CN" altLang="en-US" sz="2000" dirty="0">
                <a:latin typeface="宋体" pitchFamily="2" charset="-122"/>
                <a:ea typeface="宋体" pitchFamily="2" charset="-122"/>
              </a:rPr>
              <a:t>分布在主存</a:t>
            </a:r>
            <a:r>
              <a:rPr lang="en-US" altLang="zh-CN" sz="2000" dirty="0">
                <a:latin typeface="宋体" pitchFamily="2" charset="-122"/>
                <a:ea typeface="宋体" pitchFamily="2" charset="-122"/>
              </a:rPr>
              <a:t>0-12</a:t>
            </a:r>
            <a:r>
              <a:rPr lang="zh-CN" altLang="en-US" sz="2000" dirty="0">
                <a:latin typeface="宋体" pitchFamily="2" charset="-122"/>
                <a:ea typeface="宋体" pitchFamily="2" charset="-122"/>
              </a:rPr>
              <a:t>块</a:t>
            </a:r>
            <a:r>
              <a:rPr lang="zh-CN" altLang="en-US" sz="2000" dirty="0" smtClean="0">
                <a:latin typeface="宋体" pitchFamily="2" charset="-122"/>
                <a:ea typeface="宋体" pitchFamily="2" charset="-122"/>
              </a:rPr>
              <a:t>内，映射到</a:t>
            </a:r>
            <a:r>
              <a:rPr lang="en-US" altLang="zh-CN" sz="2000" dirty="0" smtClean="0">
                <a:latin typeface="宋体" pitchFamily="2" charset="-122"/>
                <a:ea typeface="宋体" pitchFamily="2" charset="-122"/>
              </a:rPr>
              <a:t>Cache</a:t>
            </a:r>
            <a:r>
              <a:rPr lang="zh-CN" altLang="en-US" sz="2000" dirty="0" smtClean="0">
                <a:latin typeface="宋体" pitchFamily="2" charset="-122"/>
                <a:ea typeface="宋体" pitchFamily="2" charset="-122"/>
              </a:rPr>
              <a:t>的</a:t>
            </a:r>
            <a:r>
              <a:rPr lang="en-US" altLang="zh-CN" sz="2000" dirty="0" smtClean="0">
                <a:latin typeface="宋体" pitchFamily="2" charset="-122"/>
                <a:ea typeface="宋体" pitchFamily="2" charset="-122"/>
              </a:rPr>
              <a:t>0-12</a:t>
            </a:r>
            <a:r>
              <a:rPr lang="zh-CN" altLang="en-US" sz="2000" dirty="0" smtClean="0">
                <a:latin typeface="宋体" pitchFamily="2" charset="-122"/>
                <a:ea typeface="宋体" pitchFamily="2" charset="-122"/>
              </a:rPr>
              <a:t>行；</a:t>
            </a:r>
            <a:endParaRPr lang="en-US" altLang="zh-CN" sz="2000" dirty="0" smtClean="0">
              <a:latin typeface="宋体" pitchFamily="2" charset="-122"/>
              <a:ea typeface="宋体" pitchFamily="2" charset="-122"/>
            </a:endParaRPr>
          </a:p>
          <a:p>
            <a:pPr algn="just">
              <a:lnSpc>
                <a:spcPct val="120000"/>
              </a:lnSpc>
            </a:pPr>
            <a:r>
              <a:rPr lang="zh-CN" altLang="en-US" sz="2000" dirty="0" smtClean="0">
                <a:latin typeface="Times New Roman" charset="0"/>
                <a:ea typeface="宋体" pitchFamily="2" charset="-122"/>
              </a:rPr>
              <a:t>字</a:t>
            </a:r>
            <a:r>
              <a:rPr lang="en-US" altLang="zh-CN" sz="2000" dirty="0">
                <a:latin typeface="宋体" pitchFamily="2" charset="-122"/>
                <a:ea typeface="宋体" pitchFamily="2" charset="-122"/>
              </a:rPr>
              <a:t>4096,4097,</a:t>
            </a:r>
            <a:r>
              <a:rPr lang="en-US" altLang="zh-CN" sz="2000" dirty="0">
                <a:latin typeface="Times New Roman" charset="0"/>
                <a:ea typeface="宋体" pitchFamily="2" charset="-122"/>
              </a:rPr>
              <a:t>……</a:t>
            </a:r>
            <a:r>
              <a:rPr lang="en-US" altLang="zh-CN" sz="2000" dirty="0">
                <a:latin typeface="宋体" pitchFamily="2" charset="-122"/>
                <a:ea typeface="宋体" pitchFamily="2" charset="-122"/>
              </a:rPr>
              <a:t>.</a:t>
            </a:r>
            <a:r>
              <a:rPr lang="en-US" altLang="zh-CN" sz="2000" dirty="0" smtClean="0">
                <a:latin typeface="宋体" pitchFamily="2" charset="-122"/>
                <a:ea typeface="宋体" pitchFamily="2" charset="-122"/>
              </a:rPr>
              <a:t>4195</a:t>
            </a:r>
            <a:r>
              <a:rPr lang="zh-CN" altLang="en-US" sz="2000" dirty="0" smtClean="0">
                <a:latin typeface="宋体" pitchFamily="2" charset="-122"/>
                <a:ea typeface="宋体" pitchFamily="2" charset="-122"/>
              </a:rPr>
              <a:t>分布在主存</a:t>
            </a:r>
            <a:r>
              <a:rPr lang="en-US" altLang="zh-CN" sz="2000" dirty="0">
                <a:latin typeface="宋体" pitchFamily="2" charset="-122"/>
                <a:ea typeface="宋体" pitchFamily="2" charset="-122"/>
              </a:rPr>
              <a:t>512-524</a:t>
            </a:r>
            <a:r>
              <a:rPr lang="zh-CN" altLang="en-US" sz="2000" dirty="0">
                <a:latin typeface="宋体" pitchFamily="2" charset="-122"/>
                <a:ea typeface="宋体" pitchFamily="2" charset="-122"/>
              </a:rPr>
              <a:t>块</a:t>
            </a:r>
            <a:r>
              <a:rPr lang="zh-CN" altLang="en-US" sz="2000" dirty="0" smtClean="0">
                <a:latin typeface="宋体" pitchFamily="2" charset="-122"/>
                <a:ea typeface="宋体" pitchFamily="2" charset="-122"/>
              </a:rPr>
              <a:t>内，映射到</a:t>
            </a:r>
            <a:r>
              <a:rPr lang="en-US" altLang="zh-CN" sz="2000" dirty="0" smtClean="0">
                <a:latin typeface="宋体" pitchFamily="2" charset="-122"/>
                <a:ea typeface="宋体" pitchFamily="2" charset="-122"/>
              </a:rPr>
              <a:t>Cache</a:t>
            </a:r>
            <a:r>
              <a:rPr lang="zh-CN" altLang="en-US" sz="2000" dirty="0" smtClean="0">
                <a:latin typeface="宋体" pitchFamily="2" charset="-122"/>
                <a:ea typeface="宋体" pitchFamily="2" charset="-122"/>
              </a:rPr>
              <a:t>的</a:t>
            </a:r>
            <a:r>
              <a:rPr lang="en-US" altLang="zh-CN" sz="2000" dirty="0" smtClean="0">
                <a:latin typeface="宋体" pitchFamily="2" charset="-122"/>
                <a:ea typeface="宋体" pitchFamily="2" charset="-122"/>
              </a:rPr>
              <a:t>0-12</a:t>
            </a:r>
            <a:r>
              <a:rPr lang="zh-CN" altLang="en-US" sz="2000" dirty="0" smtClean="0">
                <a:latin typeface="宋体" pitchFamily="2" charset="-122"/>
                <a:ea typeface="宋体" pitchFamily="2" charset="-122"/>
              </a:rPr>
              <a:t>行</a:t>
            </a:r>
            <a:endParaRPr lang="zh-CN" altLang="en-US" sz="2000" dirty="0">
              <a:latin typeface="Times New Roman" charset="0"/>
              <a:ea typeface="宋体" pitchFamily="2" charset="-122"/>
            </a:endParaRPr>
          </a:p>
        </p:txBody>
      </p:sp>
      <p:sp>
        <p:nvSpPr>
          <p:cNvPr id="10" name="Rectangle 3"/>
          <p:cNvSpPr>
            <a:spLocks noChangeArrowheads="1"/>
          </p:cNvSpPr>
          <p:nvPr/>
        </p:nvSpPr>
        <p:spPr bwMode="auto">
          <a:xfrm>
            <a:off x="627159" y="4025738"/>
            <a:ext cx="3946086" cy="795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p>
            <a:pPr algn="just">
              <a:lnSpc>
                <a:spcPct val="120000"/>
              </a:lnSpc>
            </a:pPr>
            <a:r>
              <a:rPr lang="zh-CN" altLang="en-US" sz="2000" b="1" dirty="0" smtClean="0">
                <a:solidFill>
                  <a:srgbClr val="FF0000"/>
                </a:solidFill>
                <a:latin typeface="宋体" pitchFamily="2" charset="-122"/>
                <a:ea typeface="宋体" pitchFamily="2" charset="-122"/>
              </a:rPr>
              <a:t>映射时，每行第一个字未命中，其它字命中</a:t>
            </a:r>
            <a:endParaRPr lang="zh-CN" altLang="en-US" sz="2000" b="1" dirty="0">
              <a:solidFill>
                <a:srgbClr val="FF0000"/>
              </a:solidFill>
              <a:latin typeface="Times New Roman" charset="0"/>
              <a:ea typeface="宋体" pitchFamily="2" charset="-122"/>
            </a:endParaRPr>
          </a:p>
        </p:txBody>
      </p:sp>
      <p:pic>
        <p:nvPicPr>
          <p:cNvPr id="194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8764" y="2328173"/>
            <a:ext cx="3859535" cy="409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3"/>
          <p:cNvSpPr>
            <a:spLocks noChangeArrowheads="1"/>
          </p:cNvSpPr>
          <p:nvPr/>
        </p:nvSpPr>
        <p:spPr bwMode="auto">
          <a:xfrm>
            <a:off x="5737776" y="2754572"/>
            <a:ext cx="792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p>
            <a:pPr algn="just">
              <a:lnSpc>
                <a:spcPct val="120000"/>
              </a:lnSpc>
            </a:pPr>
            <a:r>
              <a:rPr lang="en-US" altLang="zh-CN" sz="2000" b="1" dirty="0" smtClean="0">
                <a:solidFill>
                  <a:srgbClr val="FF0000"/>
                </a:solidFill>
                <a:latin typeface="微软雅黑" pitchFamily="34" charset="-122"/>
                <a:ea typeface="微软雅黑" pitchFamily="34" charset="-122"/>
              </a:rPr>
              <a:t>0-7</a:t>
            </a:r>
            <a:endParaRPr lang="zh-CN" altLang="en-US" sz="2000" b="1" dirty="0">
              <a:solidFill>
                <a:srgbClr val="FF0000"/>
              </a:solidFill>
              <a:latin typeface="微软雅黑" pitchFamily="34" charset="-122"/>
              <a:ea typeface="微软雅黑" pitchFamily="34" charset="-122"/>
            </a:endParaRPr>
          </a:p>
        </p:txBody>
      </p:sp>
      <p:sp>
        <p:nvSpPr>
          <p:cNvPr id="12" name="Rectangle 3"/>
          <p:cNvSpPr>
            <a:spLocks noChangeArrowheads="1"/>
          </p:cNvSpPr>
          <p:nvPr/>
        </p:nvSpPr>
        <p:spPr bwMode="auto">
          <a:xfrm>
            <a:off x="627159" y="5013176"/>
            <a:ext cx="394608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p>
            <a:pPr algn="just">
              <a:lnSpc>
                <a:spcPct val="120000"/>
              </a:lnSpc>
            </a:pPr>
            <a:r>
              <a:rPr lang="zh-CN" altLang="en-US" sz="2000" dirty="0" smtClean="0">
                <a:latin typeface="宋体" pitchFamily="2" charset="-122"/>
                <a:ea typeface="宋体" pitchFamily="2" charset="-122"/>
              </a:rPr>
              <a:t> 未命中次数：</a:t>
            </a:r>
            <a:r>
              <a:rPr lang="en-US" altLang="zh-CN" sz="2000" dirty="0" smtClean="0">
                <a:latin typeface="宋体" pitchFamily="2" charset="-122"/>
                <a:ea typeface="宋体" pitchFamily="2" charset="-122"/>
              </a:rPr>
              <a:t>26</a:t>
            </a:r>
            <a:r>
              <a:rPr lang="zh-CN" altLang="en-US" sz="2000" dirty="0" smtClean="0">
                <a:latin typeface="宋体" pitchFamily="2" charset="-122"/>
                <a:ea typeface="宋体" pitchFamily="2" charset="-122"/>
              </a:rPr>
              <a:t>*</a:t>
            </a:r>
            <a:r>
              <a:rPr lang="en-US" altLang="zh-CN" sz="2000" dirty="0" smtClean="0">
                <a:latin typeface="宋体" pitchFamily="2" charset="-122"/>
                <a:ea typeface="宋体" pitchFamily="2" charset="-122"/>
              </a:rPr>
              <a:t>10=260</a:t>
            </a:r>
            <a:endParaRPr lang="en-US" altLang="zh-CN" sz="2000" dirty="0">
              <a:latin typeface="宋体" pitchFamily="2" charset="-122"/>
              <a:ea typeface="宋体" pitchFamily="2" charset="-122"/>
            </a:endParaRPr>
          </a:p>
          <a:p>
            <a:pPr algn="just">
              <a:lnSpc>
                <a:spcPct val="120000"/>
              </a:lnSpc>
            </a:pPr>
            <a:r>
              <a:rPr lang="zh-CN" altLang="en-US" sz="2000" dirty="0" smtClean="0">
                <a:latin typeface="Times New Roman" charset="0"/>
                <a:ea typeface="宋体" pitchFamily="2" charset="-122"/>
              </a:rPr>
              <a:t>        </a:t>
            </a:r>
            <a:r>
              <a:rPr lang="en-US" altLang="zh-CN" sz="2000" dirty="0">
                <a:latin typeface="Times New Roman" charset="0"/>
                <a:ea typeface="宋体" pitchFamily="2" charset="-122"/>
              </a:rPr>
              <a:t>h=(</a:t>
            </a:r>
            <a:r>
              <a:rPr lang="en-US" altLang="zh-CN" sz="2000" dirty="0" smtClean="0">
                <a:latin typeface="Times New Roman" charset="0"/>
                <a:ea typeface="宋体" pitchFamily="2" charset="-122"/>
              </a:rPr>
              <a:t>2000-260)/2000=87</a:t>
            </a:r>
            <a:r>
              <a:rPr lang="en-US" altLang="zh-CN" sz="2000" dirty="0">
                <a:latin typeface="Times New Roman" charset="0"/>
                <a:ea typeface="宋体" pitchFamily="2" charset="-122"/>
              </a:rPr>
              <a:t>%</a:t>
            </a:r>
            <a:endParaRPr lang="zh-CN" altLang="en-US" sz="2000" dirty="0">
              <a:latin typeface="Times New Roman" charset="0"/>
              <a:ea typeface="宋体" pitchFamily="2" charset="-122"/>
            </a:endParaRPr>
          </a:p>
        </p:txBody>
      </p:sp>
      <p:sp>
        <p:nvSpPr>
          <p:cNvPr id="13" name="Rectangle 3"/>
          <p:cNvSpPr>
            <a:spLocks noChangeArrowheads="1"/>
          </p:cNvSpPr>
          <p:nvPr/>
        </p:nvSpPr>
        <p:spPr bwMode="auto">
          <a:xfrm>
            <a:off x="5624824" y="3845079"/>
            <a:ext cx="10081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p>
            <a:pPr algn="just">
              <a:lnSpc>
                <a:spcPct val="120000"/>
              </a:lnSpc>
            </a:pPr>
            <a:r>
              <a:rPr lang="en-US" altLang="zh-CN" sz="2000" b="1" dirty="0" smtClean="0">
                <a:solidFill>
                  <a:srgbClr val="FF0000"/>
                </a:solidFill>
                <a:latin typeface="微软雅黑" pitchFamily="34" charset="-122"/>
                <a:ea typeface="微软雅黑" pitchFamily="34" charset="-122"/>
              </a:rPr>
              <a:t>96-99</a:t>
            </a:r>
            <a:endParaRPr lang="zh-CN" altLang="en-US" sz="2000" b="1" dirty="0">
              <a:solidFill>
                <a:srgbClr val="FF0000"/>
              </a:solidFill>
              <a:latin typeface="微软雅黑" pitchFamily="34" charset="-122"/>
              <a:ea typeface="微软雅黑" pitchFamily="34" charset="-122"/>
            </a:endParaRPr>
          </a:p>
        </p:txBody>
      </p:sp>
      <p:sp>
        <p:nvSpPr>
          <p:cNvPr id="14" name="Rectangle 3"/>
          <p:cNvSpPr>
            <a:spLocks noChangeArrowheads="1"/>
          </p:cNvSpPr>
          <p:nvPr/>
        </p:nvSpPr>
        <p:spPr bwMode="auto">
          <a:xfrm>
            <a:off x="5556583" y="2760664"/>
            <a:ext cx="1179425" cy="350865"/>
          </a:xfrm>
          <a:prstGeom prst="rect">
            <a:avLst/>
          </a:prstGeom>
          <a:ln/>
          <a:extLst/>
        </p:spPr>
        <p:style>
          <a:lnRef idx="1">
            <a:schemeClr val="accent2"/>
          </a:lnRef>
          <a:fillRef idx="2">
            <a:schemeClr val="accent2"/>
          </a:fillRef>
          <a:effectRef idx="1">
            <a:schemeClr val="accent2"/>
          </a:effectRef>
          <a:fontRef idx="minor">
            <a:schemeClr val="dk1"/>
          </a:fontRef>
        </p:style>
        <p:txBody>
          <a:bodyPr wrap="square">
            <a:spAutoFit/>
          </a:bodyPr>
          <a:lstStyle/>
          <a:p>
            <a:pPr algn="just">
              <a:lnSpc>
                <a:spcPct val="120000"/>
              </a:lnSpc>
            </a:pPr>
            <a:r>
              <a:rPr lang="en-US" altLang="zh-CN" sz="1400" b="1" dirty="0" smtClean="0">
                <a:solidFill>
                  <a:srgbClr val="FF0000"/>
                </a:solidFill>
                <a:latin typeface="微软雅黑" pitchFamily="34" charset="-122"/>
                <a:ea typeface="微软雅黑" pitchFamily="34" charset="-122"/>
              </a:rPr>
              <a:t>4096-4106</a:t>
            </a:r>
            <a:endParaRPr lang="zh-CN" altLang="en-US" sz="1400"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4025966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linds(horizontal)">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P spid="11" grpId="0" autoUpdateAnimBg="0"/>
      <p:bldP spid="12" grpId="0" autoUpdateAnimBg="0"/>
      <p:bldP spid="13" grpId="0" autoUpdateAnimBg="0"/>
      <p:bldP spid="14" grpId="0" animBg="1"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72268464-08BB-4C2D-83FF-7DC730AD84E5}" type="slidenum">
              <a:rPr lang="en-US" altLang="zh-CN" smtClean="0"/>
              <a:pPr>
                <a:defRPr/>
              </a:pPr>
              <a:t>80</a:t>
            </a:fld>
            <a:endParaRPr lang="en-US" altLang="zh-CN"/>
          </a:p>
        </p:txBody>
      </p:sp>
      <p:sp>
        <p:nvSpPr>
          <p:cNvPr id="105475" name="灯片编号占位符 3"/>
          <p:cNvSpPr txBox="1">
            <a:spLocks/>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ea typeface="楷体_GB2312" pitchFamily="49" charset="-122"/>
              </a:defRPr>
            </a:lvl1pPr>
            <a:lvl2pPr marL="742950" indent="-285750" eaLnBrk="0" hangingPunct="0">
              <a:defRPr sz="2800">
                <a:solidFill>
                  <a:schemeClr val="tx1"/>
                </a:solidFill>
                <a:latin typeface="Arial" charset="0"/>
                <a:ea typeface="楷体_GB2312" pitchFamily="49" charset="-122"/>
              </a:defRPr>
            </a:lvl2pPr>
            <a:lvl3pPr marL="1143000" indent="-228600" eaLnBrk="0" hangingPunct="0">
              <a:defRPr sz="2800">
                <a:solidFill>
                  <a:schemeClr val="tx1"/>
                </a:solidFill>
                <a:latin typeface="Arial" charset="0"/>
                <a:ea typeface="楷体_GB2312" pitchFamily="49" charset="-122"/>
              </a:defRPr>
            </a:lvl3pPr>
            <a:lvl4pPr marL="1600200" indent="-228600" eaLnBrk="0" hangingPunct="0">
              <a:defRPr sz="2800">
                <a:solidFill>
                  <a:schemeClr val="tx1"/>
                </a:solidFill>
                <a:latin typeface="Arial" charset="0"/>
                <a:ea typeface="楷体_GB2312" pitchFamily="49" charset="-122"/>
              </a:defRPr>
            </a:lvl4pPr>
            <a:lvl5pPr marL="2057400" indent="-228600" eaLnBrk="0" hangingPunct="0">
              <a:defRPr sz="28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charset="0"/>
                <a:ea typeface="楷体_GB2312" pitchFamily="49" charset="-122"/>
              </a:defRPr>
            </a:lvl9pPr>
          </a:lstStyle>
          <a:p>
            <a:pPr algn="r" eaLnBrk="1" hangingPunct="1"/>
            <a:fld id="{3CF00A1B-0471-4045-904A-397CD9688779}" type="slidenum">
              <a:rPr lang="en-US" altLang="zh-CN" sz="1000">
                <a:ea typeface="宋体" pitchFamily="2" charset="-122"/>
              </a:rPr>
              <a:pPr algn="r" eaLnBrk="1" hangingPunct="1"/>
              <a:t>80</a:t>
            </a:fld>
            <a:endParaRPr lang="en-US" altLang="zh-CN" sz="1000">
              <a:ea typeface="宋体" pitchFamily="2" charset="-122"/>
            </a:endParaRPr>
          </a:p>
        </p:txBody>
      </p:sp>
      <p:sp>
        <p:nvSpPr>
          <p:cNvPr id="105476" name="Rectangle 2"/>
          <p:cNvSpPr>
            <a:spLocks noChangeArrowheads="1"/>
          </p:cNvSpPr>
          <p:nvPr/>
        </p:nvSpPr>
        <p:spPr bwMode="auto">
          <a:xfrm>
            <a:off x="228600" y="152400"/>
            <a:ext cx="8739188" cy="181610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dirty="0" smtClean="0">
                <a:latin typeface="宋体" pitchFamily="2" charset="-122"/>
                <a:ea typeface="宋体" pitchFamily="2" charset="-122"/>
              </a:rPr>
              <a:t>例</a:t>
            </a:r>
            <a:r>
              <a:rPr lang="en-US" altLang="zh-CN" dirty="0" smtClean="0">
                <a:latin typeface="宋体" pitchFamily="2" charset="-122"/>
                <a:ea typeface="宋体" pitchFamily="2" charset="-122"/>
              </a:rPr>
              <a:t>2.</a:t>
            </a:r>
            <a:r>
              <a:rPr lang="zh-CN" altLang="en-US" dirty="0">
                <a:latin typeface="Times New Roman" charset="0"/>
                <a:ea typeface="宋体" pitchFamily="2" charset="-122"/>
              </a:rPr>
              <a:t>某计算机主存容量为</a:t>
            </a:r>
            <a:r>
              <a:rPr lang="en-US" altLang="zh-CN" dirty="0">
                <a:latin typeface="宋体" pitchFamily="2" charset="-122"/>
                <a:ea typeface="宋体" pitchFamily="2" charset="-122"/>
              </a:rPr>
              <a:t>4MB</a:t>
            </a:r>
            <a:r>
              <a:rPr lang="zh-CN" altLang="en-US" dirty="0">
                <a:latin typeface="Times New Roman" charset="0"/>
                <a:ea typeface="宋体" pitchFamily="2" charset="-122"/>
              </a:rPr>
              <a:t>，</a:t>
            </a:r>
            <a:r>
              <a:rPr lang="en-US" altLang="zh-CN" dirty="0">
                <a:latin typeface="宋体" pitchFamily="2" charset="-122"/>
                <a:ea typeface="宋体" pitchFamily="2" charset="-122"/>
              </a:rPr>
              <a:t>Cache</a:t>
            </a:r>
            <a:r>
              <a:rPr lang="zh-CN" altLang="en-US" dirty="0">
                <a:latin typeface="Times New Roman" charset="0"/>
                <a:ea typeface="宋体" pitchFamily="2" charset="-122"/>
              </a:rPr>
              <a:t>容量为</a:t>
            </a:r>
            <a:r>
              <a:rPr lang="en-US" altLang="zh-CN" dirty="0">
                <a:latin typeface="宋体" pitchFamily="2" charset="-122"/>
                <a:ea typeface="宋体" pitchFamily="2" charset="-122"/>
              </a:rPr>
              <a:t>4096B</a:t>
            </a:r>
            <a:r>
              <a:rPr lang="zh-CN" altLang="en-US" dirty="0">
                <a:latin typeface="Times New Roman" charset="0"/>
                <a:ea typeface="宋体" pitchFamily="2" charset="-122"/>
              </a:rPr>
              <a:t>，   </a:t>
            </a:r>
          </a:p>
          <a:p>
            <a:r>
              <a:rPr lang="zh-CN" altLang="en-US" dirty="0">
                <a:latin typeface="Times New Roman" charset="0"/>
                <a:ea typeface="宋体" pitchFamily="2" charset="-122"/>
              </a:rPr>
              <a:t>        采用直接映射，</a:t>
            </a:r>
            <a:r>
              <a:rPr lang="en-US" altLang="zh-CN" dirty="0">
                <a:latin typeface="宋体" pitchFamily="2" charset="-122"/>
                <a:ea typeface="宋体" pitchFamily="2" charset="-122"/>
              </a:rPr>
              <a:t>Cache</a:t>
            </a:r>
            <a:r>
              <a:rPr lang="zh-CN" altLang="en-US" dirty="0">
                <a:latin typeface="Times New Roman" charset="0"/>
                <a:ea typeface="宋体" pitchFamily="2" charset="-122"/>
              </a:rPr>
              <a:t>每行</a:t>
            </a:r>
            <a:r>
              <a:rPr lang="en-US" altLang="zh-CN" dirty="0">
                <a:latin typeface="Times New Roman" charset="0"/>
                <a:ea typeface="宋体" pitchFamily="2" charset="-122"/>
              </a:rPr>
              <a:t>64B</a:t>
            </a:r>
            <a:r>
              <a:rPr lang="zh-CN" altLang="en-US" dirty="0">
                <a:latin typeface="Times New Roman" charset="0"/>
                <a:ea typeface="宋体" pitchFamily="2" charset="-122"/>
              </a:rPr>
              <a:t>，假设开始时</a:t>
            </a:r>
            <a:r>
              <a:rPr lang="en-US" altLang="zh-CN" dirty="0">
                <a:latin typeface="宋体" pitchFamily="2" charset="-122"/>
                <a:ea typeface="宋体" pitchFamily="2" charset="-122"/>
              </a:rPr>
              <a:t>Cache</a:t>
            </a:r>
          </a:p>
          <a:p>
            <a:r>
              <a:rPr lang="zh-CN" altLang="en-US" dirty="0">
                <a:latin typeface="Times New Roman" charset="0"/>
                <a:ea typeface="宋体" pitchFamily="2" charset="-122"/>
              </a:rPr>
              <a:t>        为空，</a:t>
            </a:r>
            <a:r>
              <a:rPr lang="en-US" altLang="zh-CN" dirty="0">
                <a:latin typeface="宋体" pitchFamily="2" charset="-122"/>
                <a:ea typeface="宋体" pitchFamily="2" charset="-122"/>
              </a:rPr>
              <a:t>CPU</a:t>
            </a:r>
            <a:r>
              <a:rPr lang="zh-CN" altLang="en-US" dirty="0">
                <a:latin typeface="Times New Roman" charset="0"/>
                <a:ea typeface="宋体" pitchFamily="2" charset="-122"/>
              </a:rPr>
              <a:t>按字（</a:t>
            </a:r>
            <a:r>
              <a:rPr lang="en-US" altLang="zh-CN" dirty="0">
                <a:latin typeface="Times New Roman" charset="0"/>
                <a:ea typeface="宋体" pitchFamily="2" charset="-122"/>
              </a:rPr>
              <a:t>8</a:t>
            </a:r>
            <a:r>
              <a:rPr lang="en-US" altLang="zh-CN" dirty="0">
                <a:latin typeface="宋体" pitchFamily="2" charset="-122"/>
                <a:ea typeface="宋体" pitchFamily="2" charset="-122"/>
              </a:rPr>
              <a:t>B/</a:t>
            </a:r>
            <a:r>
              <a:rPr lang="zh-CN" altLang="en-US" dirty="0">
                <a:latin typeface="Times New Roman" charset="0"/>
                <a:ea typeface="宋体" pitchFamily="2" charset="-122"/>
              </a:rPr>
              <a:t>字） </a:t>
            </a:r>
            <a:r>
              <a:rPr lang="en-US" altLang="zh-CN" dirty="0">
                <a:latin typeface="宋体" pitchFamily="2" charset="-122"/>
                <a:ea typeface="宋体" pitchFamily="2" charset="-122"/>
              </a:rPr>
              <a:t>0,1,2</a:t>
            </a:r>
            <a:r>
              <a:rPr lang="en-US" altLang="zh-CN" dirty="0">
                <a:latin typeface="Times New Roman" charset="0"/>
                <a:ea typeface="宋体" pitchFamily="2" charset="-122"/>
              </a:rPr>
              <a:t>……</a:t>
            </a:r>
            <a:r>
              <a:rPr lang="en-US" altLang="zh-CN" dirty="0">
                <a:latin typeface="宋体" pitchFamily="2" charset="-122"/>
                <a:ea typeface="宋体" pitchFamily="2" charset="-122"/>
              </a:rPr>
              <a:t>.255</a:t>
            </a:r>
            <a:r>
              <a:rPr lang="zh-CN" altLang="en-US" dirty="0">
                <a:latin typeface="Times New Roman" charset="0"/>
                <a:ea typeface="宋体" pitchFamily="2" charset="-122"/>
              </a:rPr>
              <a:t>取指令，</a:t>
            </a:r>
            <a:endParaRPr lang="en-US" altLang="zh-CN" dirty="0">
              <a:latin typeface="Times New Roman" charset="0"/>
              <a:ea typeface="宋体" pitchFamily="2" charset="-122"/>
            </a:endParaRPr>
          </a:p>
          <a:p>
            <a:r>
              <a:rPr lang="en-US" altLang="zh-CN" dirty="0">
                <a:latin typeface="Times New Roman" charset="0"/>
                <a:ea typeface="宋体" pitchFamily="2" charset="-122"/>
              </a:rPr>
              <a:t>        </a:t>
            </a:r>
            <a:r>
              <a:rPr lang="zh-CN" altLang="en-US" dirty="0">
                <a:latin typeface="Times New Roman" charset="0"/>
                <a:ea typeface="宋体" pitchFamily="2" charset="-122"/>
              </a:rPr>
              <a:t>重复</a:t>
            </a:r>
            <a:r>
              <a:rPr lang="en-US" altLang="zh-CN" dirty="0">
                <a:latin typeface="宋体" pitchFamily="2" charset="-122"/>
                <a:ea typeface="宋体" pitchFamily="2" charset="-122"/>
              </a:rPr>
              <a:t>10</a:t>
            </a:r>
            <a:r>
              <a:rPr lang="zh-CN" altLang="en-US" dirty="0">
                <a:latin typeface="Times New Roman" charset="0"/>
                <a:ea typeface="宋体" pitchFamily="2" charset="-122"/>
              </a:rPr>
              <a:t>次，命中率为多少。</a:t>
            </a:r>
            <a:endParaRPr lang="zh-CN" altLang="en-US" dirty="0">
              <a:latin typeface="宋体" pitchFamily="2" charset="-122"/>
              <a:ea typeface="宋体" pitchFamily="2" charset="-122"/>
            </a:endParaRPr>
          </a:p>
        </p:txBody>
      </p:sp>
      <p:sp>
        <p:nvSpPr>
          <p:cNvPr id="5" name="Rectangle 3"/>
          <p:cNvSpPr>
            <a:spLocks noChangeArrowheads="1"/>
          </p:cNvSpPr>
          <p:nvPr/>
        </p:nvSpPr>
        <p:spPr bwMode="auto">
          <a:xfrm>
            <a:off x="395288" y="2349500"/>
            <a:ext cx="857250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lgn="just">
              <a:lnSpc>
                <a:spcPct val="150000"/>
              </a:lnSpc>
            </a:pPr>
            <a:r>
              <a:rPr lang="zh-CN" altLang="en-US" dirty="0">
                <a:latin typeface="宋体" pitchFamily="2" charset="-122"/>
                <a:ea typeface="宋体" pitchFamily="2" charset="-122"/>
              </a:rPr>
              <a:t>解：</a:t>
            </a:r>
            <a:r>
              <a:rPr lang="en-US" altLang="zh-CN" dirty="0">
                <a:latin typeface="宋体" pitchFamily="2" charset="-122"/>
                <a:ea typeface="宋体" pitchFamily="2" charset="-122"/>
              </a:rPr>
              <a:t>Cache</a:t>
            </a:r>
            <a:r>
              <a:rPr lang="zh-CN" altLang="en-US" dirty="0">
                <a:latin typeface="宋体" pitchFamily="2" charset="-122"/>
                <a:ea typeface="宋体" pitchFamily="2" charset="-122"/>
              </a:rPr>
              <a:t>有</a:t>
            </a:r>
            <a:r>
              <a:rPr lang="en-US" altLang="zh-CN" dirty="0">
                <a:latin typeface="宋体" pitchFamily="2" charset="-122"/>
                <a:ea typeface="宋体" pitchFamily="2" charset="-122"/>
              </a:rPr>
              <a:t>4096B/64B=64</a:t>
            </a:r>
            <a:r>
              <a:rPr lang="zh-CN" altLang="en-US" dirty="0" smtClean="0">
                <a:latin typeface="宋体" pitchFamily="2" charset="-122"/>
                <a:ea typeface="宋体" pitchFamily="2" charset="-122"/>
              </a:rPr>
              <a:t>行，每行</a:t>
            </a:r>
            <a:r>
              <a:rPr lang="en-US" altLang="zh-CN" dirty="0" smtClean="0">
                <a:latin typeface="宋体" pitchFamily="2" charset="-122"/>
                <a:ea typeface="宋体" pitchFamily="2" charset="-122"/>
              </a:rPr>
              <a:t>64B/8B=8</a:t>
            </a:r>
            <a:r>
              <a:rPr lang="zh-CN" altLang="en-US" dirty="0" smtClean="0">
                <a:latin typeface="宋体" pitchFamily="2" charset="-122"/>
                <a:ea typeface="宋体" pitchFamily="2" charset="-122"/>
              </a:rPr>
              <a:t>个字</a:t>
            </a:r>
            <a:endParaRPr lang="en-US" altLang="zh-CN" dirty="0">
              <a:latin typeface="宋体" pitchFamily="2" charset="-122"/>
              <a:ea typeface="宋体" pitchFamily="2" charset="-122"/>
            </a:endParaRPr>
          </a:p>
          <a:p>
            <a:pPr algn="just">
              <a:lnSpc>
                <a:spcPct val="150000"/>
              </a:lnSpc>
            </a:pPr>
            <a:r>
              <a:rPr lang="en-US" altLang="zh-CN" dirty="0">
                <a:latin typeface="宋体" pitchFamily="2" charset="-122"/>
                <a:ea typeface="宋体" pitchFamily="2" charset="-122"/>
              </a:rPr>
              <a:t>   </a:t>
            </a:r>
            <a:r>
              <a:rPr lang="zh-CN" altLang="en-US" dirty="0">
                <a:latin typeface="宋体" pitchFamily="2" charset="-122"/>
                <a:ea typeface="宋体" pitchFamily="2" charset="-122"/>
              </a:rPr>
              <a:t> </a:t>
            </a:r>
            <a:r>
              <a:rPr lang="zh-CN" altLang="en-US" dirty="0">
                <a:latin typeface="Times New Roman" charset="0"/>
                <a:ea typeface="宋体" pitchFamily="2" charset="-122"/>
              </a:rPr>
              <a:t>字</a:t>
            </a:r>
            <a:r>
              <a:rPr lang="en-US" altLang="zh-CN" dirty="0">
                <a:latin typeface="宋体" pitchFamily="2" charset="-122"/>
                <a:ea typeface="宋体" pitchFamily="2" charset="-122"/>
              </a:rPr>
              <a:t>0,1,2</a:t>
            </a:r>
            <a:r>
              <a:rPr lang="en-US" altLang="zh-CN" dirty="0">
                <a:latin typeface="Times New Roman" charset="0"/>
                <a:ea typeface="宋体" pitchFamily="2" charset="-122"/>
              </a:rPr>
              <a:t>……</a:t>
            </a:r>
            <a:r>
              <a:rPr lang="en-US" altLang="zh-CN" dirty="0">
                <a:latin typeface="宋体" pitchFamily="2" charset="-122"/>
                <a:ea typeface="宋体" pitchFamily="2" charset="-122"/>
              </a:rPr>
              <a:t>.255</a:t>
            </a:r>
            <a:r>
              <a:rPr lang="zh-CN" altLang="en-US" dirty="0">
                <a:latin typeface="宋体" pitchFamily="2" charset="-122"/>
                <a:ea typeface="宋体" pitchFamily="2" charset="-122"/>
              </a:rPr>
              <a:t>分布在主存</a:t>
            </a:r>
            <a:r>
              <a:rPr lang="en-US" altLang="zh-CN" dirty="0">
                <a:latin typeface="宋体" pitchFamily="2" charset="-122"/>
                <a:ea typeface="宋体" pitchFamily="2" charset="-122"/>
              </a:rPr>
              <a:t>0-31</a:t>
            </a:r>
            <a:r>
              <a:rPr lang="zh-CN" altLang="en-US" dirty="0">
                <a:latin typeface="宋体" pitchFamily="2" charset="-122"/>
                <a:ea typeface="宋体" pitchFamily="2" charset="-122"/>
              </a:rPr>
              <a:t>块内</a:t>
            </a:r>
            <a:endParaRPr lang="en-US" altLang="zh-CN" dirty="0">
              <a:latin typeface="宋体" pitchFamily="2" charset="-122"/>
              <a:ea typeface="宋体" pitchFamily="2" charset="-122"/>
            </a:endParaRPr>
          </a:p>
          <a:p>
            <a:pPr>
              <a:lnSpc>
                <a:spcPct val="150000"/>
              </a:lnSpc>
            </a:pPr>
            <a:r>
              <a:rPr lang="en-US" altLang="zh-CN" dirty="0">
                <a:latin typeface="Times New Roman" charset="0"/>
                <a:ea typeface="宋体" pitchFamily="2" charset="-122"/>
              </a:rPr>
              <a:t>        h=(2560-32)/2560=98.75%</a:t>
            </a:r>
            <a:endParaRPr lang="zh-CN" altLang="en-US" dirty="0">
              <a:latin typeface="Times New Roman"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2"/>
          <p:cNvSpPr>
            <a:spLocks noChangeArrowheads="1"/>
          </p:cNvSpPr>
          <p:nvPr/>
        </p:nvSpPr>
        <p:spPr bwMode="auto">
          <a:xfrm>
            <a:off x="228600" y="152400"/>
            <a:ext cx="8739188" cy="1569660"/>
          </a:xfrm>
          <a:prstGeom prst="rect">
            <a:avLst/>
          </a:prstGeom>
          <a:ln/>
          <a:extLst/>
        </p:spPr>
        <p:style>
          <a:lnRef idx="2">
            <a:schemeClr val="accent3"/>
          </a:lnRef>
          <a:fillRef idx="1">
            <a:schemeClr val="lt1"/>
          </a:fillRef>
          <a:effectRef idx="0">
            <a:schemeClr val="accent3"/>
          </a:effectRef>
          <a:fontRef idx="minor">
            <a:schemeClr val="dk1"/>
          </a:fontRef>
        </p:style>
        <p:txBody>
          <a:bodyPr>
            <a:spAutoFit/>
          </a:bodyPr>
          <a:lstStyle/>
          <a:p>
            <a:r>
              <a:rPr lang="zh-CN" altLang="en-US" sz="2400" b="1" dirty="0" smtClean="0">
                <a:solidFill>
                  <a:schemeClr val="tx1"/>
                </a:solidFill>
                <a:latin typeface="+mn-ea"/>
                <a:ea typeface="+mn-ea"/>
              </a:rPr>
              <a:t>     某</a:t>
            </a:r>
            <a:r>
              <a:rPr lang="zh-CN" altLang="en-US" sz="2400" b="1" dirty="0">
                <a:solidFill>
                  <a:schemeClr val="tx1"/>
                </a:solidFill>
                <a:latin typeface="+mn-ea"/>
                <a:ea typeface="+mn-ea"/>
              </a:rPr>
              <a:t>计算机主存容量为</a:t>
            </a:r>
            <a:r>
              <a:rPr lang="en-US" altLang="zh-CN" sz="2400" b="1" dirty="0">
                <a:solidFill>
                  <a:schemeClr val="tx1"/>
                </a:solidFill>
                <a:latin typeface="+mn-ea"/>
                <a:ea typeface="+mn-ea"/>
              </a:rPr>
              <a:t>4MB</a:t>
            </a:r>
            <a:r>
              <a:rPr lang="zh-CN" altLang="en-US" sz="2400" b="1" dirty="0">
                <a:solidFill>
                  <a:schemeClr val="tx1"/>
                </a:solidFill>
                <a:latin typeface="+mn-ea"/>
                <a:ea typeface="+mn-ea"/>
              </a:rPr>
              <a:t>，</a:t>
            </a:r>
            <a:r>
              <a:rPr lang="en-US" altLang="zh-CN" sz="2400" b="1" dirty="0">
                <a:solidFill>
                  <a:schemeClr val="tx1"/>
                </a:solidFill>
                <a:latin typeface="+mn-ea"/>
                <a:ea typeface="+mn-ea"/>
              </a:rPr>
              <a:t>Cache</a:t>
            </a:r>
            <a:r>
              <a:rPr lang="zh-CN" altLang="en-US" sz="2400" b="1" dirty="0">
                <a:solidFill>
                  <a:schemeClr val="tx1"/>
                </a:solidFill>
                <a:latin typeface="+mn-ea"/>
                <a:ea typeface="+mn-ea"/>
              </a:rPr>
              <a:t>容量为</a:t>
            </a:r>
            <a:r>
              <a:rPr lang="en-US" altLang="zh-CN" sz="2400" b="1" dirty="0">
                <a:solidFill>
                  <a:schemeClr val="tx1"/>
                </a:solidFill>
                <a:latin typeface="+mn-ea"/>
                <a:ea typeface="+mn-ea"/>
              </a:rPr>
              <a:t>4096B</a:t>
            </a:r>
            <a:r>
              <a:rPr lang="zh-CN" altLang="en-US" sz="2400" b="1" dirty="0">
                <a:solidFill>
                  <a:schemeClr val="tx1"/>
                </a:solidFill>
                <a:latin typeface="+mn-ea"/>
                <a:ea typeface="+mn-ea"/>
              </a:rPr>
              <a:t>，   </a:t>
            </a:r>
          </a:p>
          <a:p>
            <a:r>
              <a:rPr lang="zh-CN" altLang="en-US" sz="2400" b="1" dirty="0">
                <a:solidFill>
                  <a:schemeClr val="tx1"/>
                </a:solidFill>
                <a:latin typeface="+mn-ea"/>
                <a:ea typeface="+mn-ea"/>
              </a:rPr>
              <a:t>     </a:t>
            </a:r>
            <a:r>
              <a:rPr lang="zh-CN" altLang="en-US" sz="2400" b="1" dirty="0" smtClean="0">
                <a:solidFill>
                  <a:schemeClr val="tx1"/>
                </a:solidFill>
                <a:latin typeface="+mn-ea"/>
                <a:ea typeface="+mn-ea"/>
              </a:rPr>
              <a:t>采用</a:t>
            </a:r>
            <a:r>
              <a:rPr lang="zh-CN" altLang="en-US" sz="2400" b="1" dirty="0">
                <a:solidFill>
                  <a:schemeClr val="tx1"/>
                </a:solidFill>
                <a:latin typeface="+mn-ea"/>
                <a:ea typeface="+mn-ea"/>
              </a:rPr>
              <a:t>直接映射，</a:t>
            </a:r>
            <a:r>
              <a:rPr lang="en-US" altLang="zh-CN" sz="2400" b="1" dirty="0">
                <a:solidFill>
                  <a:schemeClr val="tx1"/>
                </a:solidFill>
                <a:latin typeface="+mn-ea"/>
                <a:ea typeface="+mn-ea"/>
              </a:rPr>
              <a:t>Cache</a:t>
            </a:r>
            <a:r>
              <a:rPr lang="zh-CN" altLang="en-US" sz="2400" b="1" dirty="0">
                <a:solidFill>
                  <a:schemeClr val="tx1"/>
                </a:solidFill>
                <a:latin typeface="+mn-ea"/>
                <a:ea typeface="+mn-ea"/>
              </a:rPr>
              <a:t>每行</a:t>
            </a:r>
            <a:r>
              <a:rPr lang="en-US" altLang="zh-CN" sz="2400" b="1" dirty="0">
                <a:solidFill>
                  <a:schemeClr val="tx1"/>
                </a:solidFill>
                <a:latin typeface="+mn-ea"/>
                <a:ea typeface="+mn-ea"/>
              </a:rPr>
              <a:t>64B</a:t>
            </a:r>
            <a:r>
              <a:rPr lang="zh-CN" altLang="en-US" sz="2400" b="1" dirty="0">
                <a:solidFill>
                  <a:schemeClr val="tx1"/>
                </a:solidFill>
                <a:latin typeface="+mn-ea"/>
                <a:ea typeface="+mn-ea"/>
              </a:rPr>
              <a:t>，假设开始时</a:t>
            </a:r>
            <a:r>
              <a:rPr lang="en-US" altLang="zh-CN" sz="2400" b="1" dirty="0">
                <a:solidFill>
                  <a:schemeClr val="tx1"/>
                </a:solidFill>
                <a:latin typeface="+mn-ea"/>
                <a:ea typeface="+mn-ea"/>
              </a:rPr>
              <a:t>Cache</a:t>
            </a:r>
          </a:p>
          <a:p>
            <a:r>
              <a:rPr lang="zh-CN" altLang="en-US" sz="2400" b="1" dirty="0">
                <a:solidFill>
                  <a:schemeClr val="tx1"/>
                </a:solidFill>
                <a:latin typeface="+mn-ea"/>
                <a:ea typeface="+mn-ea"/>
              </a:rPr>
              <a:t>     </a:t>
            </a:r>
            <a:r>
              <a:rPr lang="zh-CN" altLang="en-US" sz="2400" b="1" dirty="0" smtClean="0">
                <a:solidFill>
                  <a:schemeClr val="tx1"/>
                </a:solidFill>
                <a:latin typeface="+mn-ea"/>
                <a:ea typeface="+mn-ea"/>
              </a:rPr>
              <a:t>为</a:t>
            </a:r>
            <a:r>
              <a:rPr lang="zh-CN" altLang="en-US" sz="2400" b="1" dirty="0">
                <a:solidFill>
                  <a:schemeClr val="tx1"/>
                </a:solidFill>
                <a:latin typeface="+mn-ea"/>
                <a:ea typeface="+mn-ea"/>
              </a:rPr>
              <a:t>空，</a:t>
            </a:r>
            <a:r>
              <a:rPr lang="en-US" altLang="zh-CN" sz="2400" b="1" dirty="0">
                <a:solidFill>
                  <a:schemeClr val="tx1"/>
                </a:solidFill>
                <a:latin typeface="+mn-ea"/>
                <a:ea typeface="+mn-ea"/>
              </a:rPr>
              <a:t>CPU</a:t>
            </a:r>
            <a:r>
              <a:rPr lang="zh-CN" altLang="en-US" sz="2400" b="1" dirty="0">
                <a:solidFill>
                  <a:schemeClr val="tx1"/>
                </a:solidFill>
                <a:latin typeface="+mn-ea"/>
                <a:ea typeface="+mn-ea"/>
              </a:rPr>
              <a:t>按字（</a:t>
            </a:r>
            <a:r>
              <a:rPr lang="en-US" altLang="zh-CN" sz="2400" b="1" dirty="0">
                <a:solidFill>
                  <a:schemeClr val="tx1"/>
                </a:solidFill>
                <a:latin typeface="+mn-ea"/>
                <a:ea typeface="+mn-ea"/>
              </a:rPr>
              <a:t>8B/</a:t>
            </a:r>
            <a:r>
              <a:rPr lang="zh-CN" altLang="en-US" sz="2400" b="1" dirty="0">
                <a:solidFill>
                  <a:schemeClr val="tx1"/>
                </a:solidFill>
                <a:latin typeface="+mn-ea"/>
                <a:ea typeface="+mn-ea"/>
              </a:rPr>
              <a:t>字） </a:t>
            </a:r>
            <a:r>
              <a:rPr lang="en-US" altLang="zh-CN" sz="2400" b="1" dirty="0">
                <a:solidFill>
                  <a:schemeClr val="tx1"/>
                </a:solidFill>
                <a:latin typeface="+mn-ea"/>
                <a:ea typeface="+mn-ea"/>
              </a:rPr>
              <a:t>0,1,2…….522</a:t>
            </a:r>
            <a:r>
              <a:rPr lang="zh-CN" altLang="en-US" sz="2400" b="1" dirty="0">
                <a:solidFill>
                  <a:schemeClr val="tx1"/>
                </a:solidFill>
                <a:latin typeface="+mn-ea"/>
                <a:ea typeface="+mn-ea"/>
              </a:rPr>
              <a:t>取指令，</a:t>
            </a:r>
            <a:endParaRPr lang="en-US" altLang="zh-CN" sz="2400" b="1" dirty="0">
              <a:solidFill>
                <a:schemeClr val="tx1"/>
              </a:solidFill>
              <a:latin typeface="+mn-ea"/>
              <a:ea typeface="+mn-ea"/>
            </a:endParaRPr>
          </a:p>
          <a:p>
            <a:r>
              <a:rPr lang="en-US" altLang="zh-CN" sz="2400" b="1" dirty="0">
                <a:solidFill>
                  <a:schemeClr val="tx1"/>
                </a:solidFill>
                <a:latin typeface="+mn-ea"/>
                <a:ea typeface="+mn-ea"/>
              </a:rPr>
              <a:t>     </a:t>
            </a:r>
            <a:r>
              <a:rPr lang="zh-CN" altLang="en-US" sz="2400" b="1" dirty="0" smtClean="0">
                <a:solidFill>
                  <a:schemeClr val="tx1"/>
                </a:solidFill>
                <a:latin typeface="+mn-ea"/>
                <a:ea typeface="+mn-ea"/>
              </a:rPr>
              <a:t>重复</a:t>
            </a:r>
            <a:r>
              <a:rPr lang="en-US" altLang="zh-CN" sz="2400" b="1" dirty="0">
                <a:solidFill>
                  <a:schemeClr val="tx1"/>
                </a:solidFill>
                <a:latin typeface="+mn-ea"/>
                <a:ea typeface="+mn-ea"/>
              </a:rPr>
              <a:t>10</a:t>
            </a:r>
            <a:r>
              <a:rPr lang="zh-CN" altLang="en-US" sz="2400" b="1" dirty="0">
                <a:solidFill>
                  <a:schemeClr val="tx1"/>
                </a:solidFill>
                <a:latin typeface="+mn-ea"/>
                <a:ea typeface="+mn-ea"/>
              </a:rPr>
              <a:t>次，命中率为多少。</a:t>
            </a:r>
          </a:p>
        </p:txBody>
      </p:sp>
      <p:sp>
        <p:nvSpPr>
          <p:cNvPr id="4" name="Rectangle 3"/>
          <p:cNvSpPr>
            <a:spLocks noChangeArrowheads="1"/>
          </p:cNvSpPr>
          <p:nvPr/>
        </p:nvSpPr>
        <p:spPr bwMode="auto">
          <a:xfrm>
            <a:off x="311944" y="1909330"/>
            <a:ext cx="4613592" cy="1464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p>
            <a:pPr algn="just">
              <a:lnSpc>
                <a:spcPct val="130000"/>
              </a:lnSpc>
            </a:pPr>
            <a:r>
              <a:rPr lang="zh-CN" altLang="en-US" sz="2400" dirty="0">
                <a:latin typeface="+mn-ea"/>
                <a:ea typeface="+mn-ea"/>
              </a:rPr>
              <a:t>解：</a:t>
            </a:r>
            <a:r>
              <a:rPr lang="en-US" altLang="zh-CN" sz="2400" dirty="0">
                <a:latin typeface="+mn-ea"/>
                <a:ea typeface="+mn-ea"/>
              </a:rPr>
              <a:t>Cache</a:t>
            </a:r>
            <a:r>
              <a:rPr lang="zh-CN" altLang="en-US" sz="2400" dirty="0">
                <a:latin typeface="+mn-ea"/>
                <a:ea typeface="+mn-ea"/>
              </a:rPr>
              <a:t>有</a:t>
            </a:r>
            <a:r>
              <a:rPr lang="en-US" altLang="zh-CN" sz="2400" dirty="0">
                <a:latin typeface="+mn-ea"/>
                <a:ea typeface="+mn-ea"/>
              </a:rPr>
              <a:t>4096B/64B=64</a:t>
            </a:r>
            <a:r>
              <a:rPr lang="zh-CN" altLang="en-US" sz="2400" dirty="0" smtClean="0">
                <a:latin typeface="+mn-ea"/>
                <a:ea typeface="+mn-ea"/>
              </a:rPr>
              <a:t>行</a:t>
            </a:r>
            <a:endParaRPr lang="en-US" altLang="zh-CN" sz="2400" dirty="0" smtClean="0">
              <a:latin typeface="+mn-ea"/>
              <a:ea typeface="+mn-ea"/>
            </a:endParaRPr>
          </a:p>
          <a:p>
            <a:pPr algn="just">
              <a:lnSpc>
                <a:spcPct val="130000"/>
              </a:lnSpc>
            </a:pPr>
            <a:r>
              <a:rPr lang="en-US" altLang="zh-CN" sz="2400" dirty="0">
                <a:latin typeface="+mn-ea"/>
                <a:ea typeface="+mn-ea"/>
              </a:rPr>
              <a:t> </a:t>
            </a:r>
            <a:r>
              <a:rPr lang="en-US" altLang="zh-CN" sz="2400" dirty="0" smtClean="0">
                <a:latin typeface="+mn-ea"/>
                <a:ea typeface="+mn-ea"/>
              </a:rPr>
              <a:t>   522/8=65.25,</a:t>
            </a:r>
            <a:r>
              <a:rPr lang="zh-CN" altLang="en-US" sz="2400" dirty="0" smtClean="0">
                <a:latin typeface="+mn-ea"/>
                <a:ea typeface="+mn-ea"/>
              </a:rPr>
              <a:t>字</a:t>
            </a:r>
            <a:r>
              <a:rPr lang="en-US" altLang="zh-CN" sz="2400" dirty="0" smtClean="0">
                <a:latin typeface="+mn-ea"/>
                <a:ea typeface="+mn-ea"/>
              </a:rPr>
              <a:t>0,1,2…522</a:t>
            </a:r>
          </a:p>
          <a:p>
            <a:pPr algn="just">
              <a:lnSpc>
                <a:spcPct val="130000"/>
              </a:lnSpc>
            </a:pPr>
            <a:r>
              <a:rPr lang="en-US" altLang="zh-CN" sz="2400" dirty="0">
                <a:latin typeface="+mn-ea"/>
                <a:ea typeface="+mn-ea"/>
              </a:rPr>
              <a:t> </a:t>
            </a:r>
            <a:r>
              <a:rPr lang="en-US" altLang="zh-CN" sz="2400" dirty="0" smtClean="0">
                <a:latin typeface="+mn-ea"/>
                <a:ea typeface="+mn-ea"/>
              </a:rPr>
              <a:t>   </a:t>
            </a:r>
            <a:r>
              <a:rPr lang="zh-CN" altLang="en-US" sz="2400" dirty="0" smtClean="0">
                <a:latin typeface="+mn-ea"/>
                <a:ea typeface="+mn-ea"/>
              </a:rPr>
              <a:t>分布</a:t>
            </a:r>
            <a:r>
              <a:rPr lang="zh-CN" altLang="en-US" sz="2400" dirty="0">
                <a:latin typeface="+mn-ea"/>
                <a:ea typeface="+mn-ea"/>
              </a:rPr>
              <a:t>在主存</a:t>
            </a:r>
            <a:r>
              <a:rPr lang="en-US" altLang="zh-CN" sz="2400" dirty="0">
                <a:latin typeface="+mn-ea"/>
                <a:ea typeface="+mn-ea"/>
              </a:rPr>
              <a:t>0-65</a:t>
            </a:r>
            <a:r>
              <a:rPr lang="zh-CN" altLang="en-US" sz="2400" dirty="0">
                <a:latin typeface="+mn-ea"/>
                <a:ea typeface="+mn-ea"/>
              </a:rPr>
              <a:t>块</a:t>
            </a:r>
            <a:r>
              <a:rPr lang="zh-CN" altLang="en-US" sz="2400" dirty="0" smtClean="0">
                <a:latin typeface="+mn-ea"/>
                <a:ea typeface="+mn-ea"/>
              </a:rPr>
              <a:t>内</a:t>
            </a:r>
            <a:endParaRPr lang="zh-CN" altLang="en-US" sz="2400" dirty="0">
              <a:latin typeface="+mn-ea"/>
              <a:ea typeface="+mn-ea"/>
            </a:endParaRPr>
          </a:p>
        </p:txBody>
      </p:sp>
      <p:sp>
        <p:nvSpPr>
          <p:cNvPr id="7" name="Rectangle 3"/>
          <p:cNvSpPr>
            <a:spLocks noChangeArrowheads="1"/>
          </p:cNvSpPr>
          <p:nvPr/>
        </p:nvSpPr>
        <p:spPr bwMode="auto">
          <a:xfrm>
            <a:off x="933321" y="3448258"/>
            <a:ext cx="3510655" cy="461665"/>
          </a:xfrm>
          <a:prstGeom prst="rect">
            <a:avLst/>
          </a:prstGeom>
          <a:ln/>
          <a:extLst/>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zh-CN" altLang="en-US" sz="2400" b="1" dirty="0" smtClean="0">
                <a:solidFill>
                  <a:srgbClr val="FF0000"/>
                </a:solidFill>
                <a:latin typeface="+mn-ea"/>
                <a:ea typeface="+mn-ea"/>
              </a:rPr>
              <a:t> 第</a:t>
            </a:r>
            <a:r>
              <a:rPr lang="en-US" altLang="zh-CN" sz="2400" b="1" dirty="0" smtClean="0">
                <a:solidFill>
                  <a:srgbClr val="FF0000"/>
                </a:solidFill>
                <a:latin typeface="+mn-ea"/>
                <a:ea typeface="+mn-ea"/>
              </a:rPr>
              <a:t>1</a:t>
            </a:r>
            <a:r>
              <a:rPr lang="zh-CN" altLang="en-US" sz="2400" b="1" dirty="0" smtClean="0">
                <a:solidFill>
                  <a:srgbClr val="FF0000"/>
                </a:solidFill>
                <a:latin typeface="+mn-ea"/>
                <a:ea typeface="+mn-ea"/>
              </a:rPr>
              <a:t>次</a:t>
            </a:r>
            <a:r>
              <a:rPr lang="zh-CN" altLang="en-US" sz="2400" b="1" dirty="0">
                <a:solidFill>
                  <a:srgbClr val="FF0000"/>
                </a:solidFill>
                <a:latin typeface="+mn-ea"/>
                <a:ea typeface="+mn-ea"/>
              </a:rPr>
              <a:t>取：未命中</a:t>
            </a:r>
            <a:r>
              <a:rPr lang="en-US" altLang="zh-CN" sz="2400" b="1" dirty="0">
                <a:solidFill>
                  <a:srgbClr val="FF0000"/>
                </a:solidFill>
                <a:latin typeface="+mn-ea"/>
                <a:ea typeface="+mn-ea"/>
              </a:rPr>
              <a:t>66</a:t>
            </a:r>
            <a:r>
              <a:rPr lang="zh-CN" altLang="en-US" sz="2400" b="1" dirty="0" smtClean="0">
                <a:solidFill>
                  <a:srgbClr val="FF0000"/>
                </a:solidFill>
                <a:latin typeface="+mn-ea"/>
                <a:ea typeface="+mn-ea"/>
              </a:rPr>
              <a:t>次</a:t>
            </a:r>
            <a:endParaRPr lang="zh-CN" altLang="en-US" sz="2400" b="1" dirty="0">
              <a:solidFill>
                <a:srgbClr val="FF0000"/>
              </a:solidFill>
              <a:latin typeface="+mn-ea"/>
              <a:ea typeface="+mn-ea"/>
            </a:endParaRPr>
          </a:p>
        </p:txBody>
      </p:sp>
      <p:pic>
        <p:nvPicPr>
          <p:cNvPr id="204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8700" y="1737691"/>
            <a:ext cx="3648075" cy="2135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365" y="4130351"/>
            <a:ext cx="3306579"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064" y="4130351"/>
            <a:ext cx="3406497" cy="237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右箭头 2"/>
          <p:cNvSpPr/>
          <p:nvPr/>
        </p:nvSpPr>
        <p:spPr bwMode="auto">
          <a:xfrm>
            <a:off x="4355976" y="5157192"/>
            <a:ext cx="360040" cy="288032"/>
          </a:xfrm>
          <a:prstGeom prst="rightArrow">
            <a:avLst/>
          </a:prstGeom>
          <a:solidFill>
            <a:schemeClr val="accent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0" i="0" u="none" strike="noStrike" cap="none" normalizeH="0" baseline="0" smtClean="0">
              <a:ln>
                <a:noFill/>
              </a:ln>
              <a:solidFill>
                <a:schemeClr val="tx1"/>
              </a:solidFill>
              <a:effectLst/>
              <a:latin typeface="Arial" charset="0"/>
              <a:ea typeface="楷体_GB2312" pitchFamily="49" charset="-122"/>
            </a:endParaRPr>
          </a:p>
        </p:txBody>
      </p:sp>
      <p:sp>
        <p:nvSpPr>
          <p:cNvPr id="10" name="矩形 9"/>
          <p:cNvSpPr/>
          <p:nvPr/>
        </p:nvSpPr>
        <p:spPr>
          <a:xfrm>
            <a:off x="243840" y="86837"/>
            <a:ext cx="517525" cy="156966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lvl="0" algn="ctr">
              <a:spcBef>
                <a:spcPts val="0"/>
              </a:spcBef>
            </a:pPr>
            <a:r>
              <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2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4984079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048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048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linds(horizontal)">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7" grpId="0" animBg="1" autoUpdateAnimBg="0"/>
      <p:bldP spid="3"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ChangeArrowheads="1"/>
          </p:cNvSpPr>
          <p:nvPr/>
        </p:nvSpPr>
        <p:spPr bwMode="auto">
          <a:xfrm>
            <a:off x="683568" y="171658"/>
            <a:ext cx="3510655" cy="461665"/>
          </a:xfrm>
          <a:prstGeom prst="rect">
            <a:avLst/>
          </a:prstGeom>
          <a:ln/>
          <a:extLst/>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zh-CN" altLang="en-US" sz="2400" b="1" dirty="0" smtClean="0">
                <a:solidFill>
                  <a:srgbClr val="FF0000"/>
                </a:solidFill>
                <a:latin typeface="+mn-ea"/>
                <a:ea typeface="+mn-ea"/>
              </a:rPr>
              <a:t> 第</a:t>
            </a:r>
            <a:r>
              <a:rPr lang="en-US" altLang="zh-CN" sz="2400" b="1" dirty="0" smtClean="0">
                <a:solidFill>
                  <a:srgbClr val="FF0000"/>
                </a:solidFill>
                <a:latin typeface="+mn-ea"/>
                <a:ea typeface="+mn-ea"/>
              </a:rPr>
              <a:t>1</a:t>
            </a:r>
            <a:r>
              <a:rPr lang="zh-CN" altLang="en-US" sz="2400" b="1" dirty="0" smtClean="0">
                <a:solidFill>
                  <a:srgbClr val="FF0000"/>
                </a:solidFill>
                <a:latin typeface="+mn-ea"/>
                <a:ea typeface="+mn-ea"/>
              </a:rPr>
              <a:t>次</a:t>
            </a:r>
            <a:r>
              <a:rPr lang="zh-CN" altLang="en-US" sz="2400" b="1" dirty="0">
                <a:solidFill>
                  <a:srgbClr val="FF0000"/>
                </a:solidFill>
                <a:latin typeface="+mn-ea"/>
                <a:ea typeface="+mn-ea"/>
              </a:rPr>
              <a:t>取：未命中</a:t>
            </a:r>
            <a:r>
              <a:rPr lang="en-US" altLang="zh-CN" sz="2400" b="1" dirty="0">
                <a:solidFill>
                  <a:srgbClr val="FF0000"/>
                </a:solidFill>
                <a:latin typeface="+mn-ea"/>
                <a:ea typeface="+mn-ea"/>
              </a:rPr>
              <a:t>66</a:t>
            </a:r>
            <a:r>
              <a:rPr lang="zh-CN" altLang="en-US" sz="2400" b="1" dirty="0" smtClean="0">
                <a:solidFill>
                  <a:srgbClr val="FF0000"/>
                </a:solidFill>
                <a:latin typeface="+mn-ea"/>
                <a:ea typeface="+mn-ea"/>
              </a:rPr>
              <a:t>次</a:t>
            </a:r>
            <a:endParaRPr lang="zh-CN" altLang="en-US" sz="2400" b="1" dirty="0">
              <a:solidFill>
                <a:srgbClr val="FF0000"/>
              </a:solidFill>
              <a:latin typeface="+mn-ea"/>
              <a:ea typeface="+mn-ea"/>
            </a:endParaRPr>
          </a:p>
        </p:txBody>
      </p:sp>
      <p:pic>
        <p:nvPicPr>
          <p:cNvPr id="2048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365" y="853751"/>
            <a:ext cx="3306579"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853751"/>
            <a:ext cx="3406497" cy="237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右箭头 2"/>
          <p:cNvSpPr/>
          <p:nvPr/>
        </p:nvSpPr>
        <p:spPr bwMode="auto">
          <a:xfrm>
            <a:off x="4355976" y="1880592"/>
            <a:ext cx="360040" cy="288032"/>
          </a:xfrm>
          <a:prstGeom prst="rightArrow">
            <a:avLst/>
          </a:prstGeom>
          <a:solidFill>
            <a:schemeClr val="accent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0" i="0" u="none" strike="noStrike" cap="none" normalizeH="0" baseline="0" smtClean="0">
              <a:ln>
                <a:noFill/>
              </a:ln>
              <a:solidFill>
                <a:schemeClr val="tx1"/>
              </a:solidFill>
              <a:effectLst/>
              <a:latin typeface="Arial" charset="0"/>
              <a:ea typeface="楷体_GB2312" pitchFamily="49" charset="-122"/>
            </a:endParaRPr>
          </a:p>
        </p:txBody>
      </p:sp>
      <p:pic>
        <p:nvPicPr>
          <p:cNvPr id="2150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3880098"/>
            <a:ext cx="2436953"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右箭头 11"/>
          <p:cNvSpPr/>
          <p:nvPr/>
        </p:nvSpPr>
        <p:spPr bwMode="auto">
          <a:xfrm>
            <a:off x="2794672" y="4881164"/>
            <a:ext cx="360040" cy="288032"/>
          </a:xfrm>
          <a:prstGeom prst="rightArrow">
            <a:avLst/>
          </a:prstGeom>
          <a:solidFill>
            <a:schemeClr val="accent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0" i="0" u="none" strike="noStrike" cap="none" normalizeH="0" baseline="0" smtClean="0">
              <a:ln>
                <a:noFill/>
              </a:ln>
              <a:solidFill>
                <a:schemeClr val="tx1"/>
              </a:solidFill>
              <a:effectLst/>
              <a:latin typeface="Arial" charset="0"/>
              <a:ea typeface="楷体_GB2312" pitchFamily="49" charset="-122"/>
            </a:endParaRPr>
          </a:p>
        </p:txBody>
      </p:sp>
      <p:pic>
        <p:nvPicPr>
          <p:cNvPr id="1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3908755"/>
            <a:ext cx="2592288"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4209" y="3839318"/>
            <a:ext cx="2304256" cy="237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右箭头 14"/>
          <p:cNvSpPr/>
          <p:nvPr/>
        </p:nvSpPr>
        <p:spPr bwMode="auto">
          <a:xfrm>
            <a:off x="6029443" y="4902894"/>
            <a:ext cx="360040" cy="288032"/>
          </a:xfrm>
          <a:prstGeom prst="rightArrow">
            <a:avLst/>
          </a:prstGeom>
          <a:solidFill>
            <a:schemeClr val="accent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0" i="0" u="none" strike="noStrike" cap="none" normalizeH="0" baseline="0" smtClean="0">
              <a:ln>
                <a:noFill/>
              </a:ln>
              <a:solidFill>
                <a:schemeClr val="tx1"/>
              </a:solidFill>
              <a:effectLst/>
              <a:latin typeface="Arial" charset="0"/>
              <a:ea typeface="楷体_GB2312" pitchFamily="49" charset="-122"/>
            </a:endParaRPr>
          </a:p>
        </p:txBody>
      </p:sp>
      <p:sp>
        <p:nvSpPr>
          <p:cNvPr id="16" name="Rectangle 3"/>
          <p:cNvSpPr>
            <a:spLocks noChangeArrowheads="1"/>
          </p:cNvSpPr>
          <p:nvPr/>
        </p:nvSpPr>
        <p:spPr bwMode="auto">
          <a:xfrm>
            <a:off x="699295" y="3262931"/>
            <a:ext cx="5168849" cy="461665"/>
          </a:xfrm>
          <a:prstGeom prst="rect">
            <a:avLst/>
          </a:prstGeom>
          <a:ln/>
          <a:extLst/>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zh-CN" altLang="en-US" sz="2400" b="1" dirty="0" smtClean="0">
                <a:solidFill>
                  <a:srgbClr val="FF0000"/>
                </a:solidFill>
                <a:latin typeface="+mn-ea"/>
                <a:ea typeface="+mn-ea"/>
              </a:rPr>
              <a:t> 第</a:t>
            </a:r>
            <a:r>
              <a:rPr lang="en-US" altLang="zh-CN" sz="2400" b="1" dirty="0" smtClean="0">
                <a:solidFill>
                  <a:srgbClr val="FF0000"/>
                </a:solidFill>
                <a:latin typeface="+mn-ea"/>
                <a:ea typeface="+mn-ea"/>
              </a:rPr>
              <a:t>2</a:t>
            </a:r>
            <a:r>
              <a:rPr lang="zh-CN" altLang="en-US" sz="2400" b="1" dirty="0" smtClean="0">
                <a:solidFill>
                  <a:srgbClr val="FF0000"/>
                </a:solidFill>
                <a:latin typeface="+mn-ea"/>
                <a:ea typeface="+mn-ea"/>
              </a:rPr>
              <a:t>次</a:t>
            </a:r>
            <a:r>
              <a:rPr lang="zh-CN" altLang="en-US" sz="2400" b="1" dirty="0">
                <a:solidFill>
                  <a:srgbClr val="FF0000"/>
                </a:solidFill>
                <a:latin typeface="+mn-ea"/>
                <a:ea typeface="+mn-ea"/>
              </a:rPr>
              <a:t>取</a:t>
            </a:r>
            <a:r>
              <a:rPr lang="zh-CN" altLang="en-US" sz="2400" b="1" dirty="0" smtClean="0">
                <a:solidFill>
                  <a:srgbClr val="FF0000"/>
                </a:solidFill>
                <a:latin typeface="+mn-ea"/>
                <a:ea typeface="+mn-ea"/>
              </a:rPr>
              <a:t>：</a:t>
            </a:r>
            <a:r>
              <a:rPr lang="en-US" altLang="zh-CN" sz="2400" b="1" dirty="0" smtClean="0">
                <a:solidFill>
                  <a:srgbClr val="FF0000"/>
                </a:solidFill>
                <a:latin typeface="+mn-ea"/>
                <a:ea typeface="+mn-ea"/>
              </a:rPr>
              <a:t>0</a:t>
            </a:r>
            <a:r>
              <a:rPr lang="zh-CN" altLang="en-US" sz="2400" b="1" dirty="0" smtClean="0">
                <a:solidFill>
                  <a:srgbClr val="FF0000"/>
                </a:solidFill>
                <a:latin typeface="+mn-ea"/>
                <a:ea typeface="+mn-ea"/>
              </a:rPr>
              <a:t>、</a:t>
            </a:r>
            <a:r>
              <a:rPr lang="en-US" altLang="zh-CN" sz="2400" b="1" dirty="0" smtClean="0">
                <a:solidFill>
                  <a:srgbClr val="FF0000"/>
                </a:solidFill>
                <a:latin typeface="+mn-ea"/>
                <a:ea typeface="+mn-ea"/>
              </a:rPr>
              <a:t>1</a:t>
            </a:r>
            <a:r>
              <a:rPr lang="zh-CN" altLang="en-US" sz="2400" b="1" dirty="0" smtClean="0">
                <a:solidFill>
                  <a:srgbClr val="FF0000"/>
                </a:solidFill>
                <a:latin typeface="+mn-ea"/>
                <a:ea typeface="+mn-ea"/>
              </a:rPr>
              <a:t>、</a:t>
            </a:r>
            <a:r>
              <a:rPr lang="en-US" altLang="zh-CN" sz="2400" b="1" dirty="0" smtClean="0">
                <a:solidFill>
                  <a:srgbClr val="FF0000"/>
                </a:solidFill>
                <a:latin typeface="+mn-ea"/>
                <a:ea typeface="+mn-ea"/>
              </a:rPr>
              <a:t>64</a:t>
            </a:r>
            <a:r>
              <a:rPr lang="zh-CN" altLang="en-US" sz="2400" b="1" dirty="0" smtClean="0">
                <a:solidFill>
                  <a:srgbClr val="FF0000"/>
                </a:solidFill>
                <a:latin typeface="+mn-ea"/>
                <a:ea typeface="+mn-ea"/>
              </a:rPr>
              <a:t>、</a:t>
            </a:r>
            <a:r>
              <a:rPr lang="en-US" altLang="zh-CN" sz="2400" b="1" dirty="0" smtClean="0">
                <a:solidFill>
                  <a:srgbClr val="FF0000"/>
                </a:solidFill>
                <a:latin typeface="+mn-ea"/>
                <a:ea typeface="+mn-ea"/>
              </a:rPr>
              <a:t>65</a:t>
            </a:r>
            <a:r>
              <a:rPr lang="zh-CN" altLang="en-US" sz="2400" b="1" dirty="0" smtClean="0">
                <a:solidFill>
                  <a:srgbClr val="FF0000"/>
                </a:solidFill>
                <a:latin typeface="+mn-ea"/>
                <a:ea typeface="+mn-ea"/>
              </a:rPr>
              <a:t>未命中</a:t>
            </a:r>
            <a:r>
              <a:rPr lang="en-US" altLang="zh-CN" sz="2400" b="1" dirty="0" smtClean="0">
                <a:solidFill>
                  <a:srgbClr val="FF0000"/>
                </a:solidFill>
                <a:latin typeface="+mn-ea"/>
                <a:ea typeface="+mn-ea"/>
              </a:rPr>
              <a:t>4</a:t>
            </a:r>
            <a:r>
              <a:rPr lang="zh-CN" altLang="en-US" sz="2400" b="1" dirty="0" smtClean="0">
                <a:solidFill>
                  <a:srgbClr val="FF0000"/>
                </a:solidFill>
                <a:latin typeface="+mn-ea"/>
                <a:ea typeface="+mn-ea"/>
              </a:rPr>
              <a:t>次</a:t>
            </a:r>
            <a:endParaRPr lang="zh-CN" altLang="en-US" sz="2400" b="1" dirty="0">
              <a:solidFill>
                <a:srgbClr val="FF0000"/>
              </a:solidFill>
              <a:latin typeface="+mn-ea"/>
              <a:ea typeface="+mn-ea"/>
            </a:endParaRPr>
          </a:p>
        </p:txBody>
      </p:sp>
      <p:sp>
        <p:nvSpPr>
          <p:cNvPr id="17" name="Rectangle 3"/>
          <p:cNvSpPr>
            <a:spLocks noChangeArrowheads="1"/>
          </p:cNvSpPr>
          <p:nvPr/>
        </p:nvSpPr>
        <p:spPr bwMode="auto">
          <a:xfrm>
            <a:off x="311942" y="171658"/>
            <a:ext cx="8652546" cy="2977738"/>
          </a:xfrm>
          <a:prstGeom prst="rect">
            <a:avLst/>
          </a:prstGeom>
          <a:ln/>
          <a:extLst/>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2400" dirty="0" smtClean="0">
                <a:latin typeface="+mn-ea"/>
              </a:rPr>
              <a:t>某</a:t>
            </a:r>
            <a:r>
              <a:rPr lang="zh-CN" altLang="en-US" sz="2400" dirty="0">
                <a:latin typeface="+mn-ea"/>
              </a:rPr>
              <a:t>计算机主存容量为</a:t>
            </a:r>
            <a:r>
              <a:rPr lang="en-US" altLang="zh-CN" sz="2400" dirty="0">
                <a:latin typeface="+mn-ea"/>
              </a:rPr>
              <a:t>4MB</a:t>
            </a:r>
            <a:r>
              <a:rPr lang="zh-CN" altLang="en-US" sz="2400" dirty="0">
                <a:latin typeface="+mn-ea"/>
              </a:rPr>
              <a:t>，</a:t>
            </a:r>
            <a:r>
              <a:rPr lang="en-US" altLang="zh-CN" sz="2400" dirty="0">
                <a:latin typeface="+mn-ea"/>
              </a:rPr>
              <a:t>Cache</a:t>
            </a:r>
            <a:r>
              <a:rPr lang="zh-CN" altLang="en-US" sz="2400" dirty="0">
                <a:latin typeface="+mn-ea"/>
              </a:rPr>
              <a:t>容量为</a:t>
            </a:r>
            <a:r>
              <a:rPr lang="en-US" altLang="zh-CN" sz="2400" dirty="0">
                <a:latin typeface="+mn-ea"/>
              </a:rPr>
              <a:t>4096B</a:t>
            </a:r>
            <a:r>
              <a:rPr lang="zh-CN" altLang="en-US" sz="2400" dirty="0" smtClean="0">
                <a:latin typeface="+mn-ea"/>
              </a:rPr>
              <a:t>，采用</a:t>
            </a:r>
            <a:r>
              <a:rPr lang="zh-CN" altLang="en-US" sz="2400" dirty="0">
                <a:latin typeface="+mn-ea"/>
              </a:rPr>
              <a:t>直接</a:t>
            </a:r>
            <a:r>
              <a:rPr lang="zh-CN" altLang="en-US" sz="2400" dirty="0" smtClean="0">
                <a:latin typeface="+mn-ea"/>
              </a:rPr>
              <a:t>映</a:t>
            </a:r>
            <a:endParaRPr lang="en-US" altLang="zh-CN" sz="2400" dirty="0" smtClean="0">
              <a:latin typeface="+mn-ea"/>
            </a:endParaRPr>
          </a:p>
          <a:p>
            <a:r>
              <a:rPr lang="zh-CN" altLang="en-US" sz="2400" dirty="0" smtClean="0">
                <a:latin typeface="+mn-ea"/>
              </a:rPr>
              <a:t>射</a:t>
            </a:r>
            <a:r>
              <a:rPr lang="zh-CN" altLang="en-US" sz="2400" dirty="0">
                <a:latin typeface="+mn-ea"/>
              </a:rPr>
              <a:t>，</a:t>
            </a:r>
            <a:r>
              <a:rPr lang="en-US" altLang="zh-CN" sz="2400" dirty="0">
                <a:latin typeface="+mn-ea"/>
              </a:rPr>
              <a:t>Cache</a:t>
            </a:r>
            <a:r>
              <a:rPr lang="zh-CN" altLang="en-US" sz="2400" dirty="0">
                <a:latin typeface="+mn-ea"/>
              </a:rPr>
              <a:t>每行</a:t>
            </a:r>
            <a:r>
              <a:rPr lang="en-US" altLang="zh-CN" sz="2400" dirty="0">
                <a:latin typeface="+mn-ea"/>
              </a:rPr>
              <a:t>64B</a:t>
            </a:r>
            <a:r>
              <a:rPr lang="zh-CN" altLang="en-US" sz="2400" dirty="0">
                <a:latin typeface="+mn-ea"/>
              </a:rPr>
              <a:t>，假设开始时</a:t>
            </a:r>
            <a:r>
              <a:rPr lang="en-US" altLang="zh-CN" sz="2400" dirty="0" smtClean="0">
                <a:latin typeface="+mn-ea"/>
              </a:rPr>
              <a:t>Cache</a:t>
            </a:r>
            <a:r>
              <a:rPr lang="zh-CN" altLang="en-US" sz="2400" dirty="0" smtClean="0">
                <a:latin typeface="+mn-ea"/>
              </a:rPr>
              <a:t>为</a:t>
            </a:r>
            <a:r>
              <a:rPr lang="zh-CN" altLang="en-US" sz="2400" dirty="0">
                <a:latin typeface="+mn-ea"/>
              </a:rPr>
              <a:t>空，</a:t>
            </a:r>
            <a:r>
              <a:rPr lang="en-US" altLang="zh-CN" sz="2400" dirty="0">
                <a:latin typeface="+mn-ea"/>
              </a:rPr>
              <a:t>CPU</a:t>
            </a:r>
            <a:r>
              <a:rPr lang="zh-CN" altLang="en-US" sz="2400" dirty="0">
                <a:latin typeface="+mn-ea"/>
              </a:rPr>
              <a:t>按字（</a:t>
            </a:r>
            <a:r>
              <a:rPr lang="en-US" altLang="zh-CN" sz="2400" dirty="0">
                <a:latin typeface="+mn-ea"/>
              </a:rPr>
              <a:t>8B/</a:t>
            </a:r>
            <a:r>
              <a:rPr lang="zh-CN" altLang="en-US" sz="2400" dirty="0">
                <a:latin typeface="+mn-ea"/>
              </a:rPr>
              <a:t>字） </a:t>
            </a:r>
            <a:r>
              <a:rPr lang="en-US" altLang="zh-CN" sz="2400" dirty="0">
                <a:latin typeface="+mn-ea"/>
              </a:rPr>
              <a:t>0,1,2…….522</a:t>
            </a:r>
            <a:r>
              <a:rPr lang="zh-CN" altLang="en-US" sz="2400" dirty="0">
                <a:latin typeface="+mn-ea"/>
              </a:rPr>
              <a:t>取指令</a:t>
            </a:r>
            <a:r>
              <a:rPr lang="zh-CN" altLang="en-US" sz="2400" dirty="0" smtClean="0">
                <a:latin typeface="+mn-ea"/>
              </a:rPr>
              <a:t>，重复</a:t>
            </a:r>
            <a:r>
              <a:rPr lang="en-US" altLang="zh-CN" sz="2400" dirty="0">
                <a:latin typeface="+mn-ea"/>
              </a:rPr>
              <a:t>10</a:t>
            </a:r>
            <a:r>
              <a:rPr lang="zh-CN" altLang="en-US" sz="2400" dirty="0">
                <a:latin typeface="+mn-ea"/>
              </a:rPr>
              <a:t>次，命中率为多少。</a:t>
            </a:r>
          </a:p>
          <a:p>
            <a:pPr algn="just">
              <a:lnSpc>
                <a:spcPct val="150000"/>
              </a:lnSpc>
              <a:spcBef>
                <a:spcPts val="900"/>
              </a:spcBef>
            </a:pPr>
            <a:r>
              <a:rPr lang="zh-CN" altLang="en-US" sz="2400" dirty="0" smtClean="0">
                <a:latin typeface="+mn-ea"/>
                <a:ea typeface="+mn-ea"/>
              </a:rPr>
              <a:t>    </a:t>
            </a:r>
            <a:r>
              <a:rPr lang="zh-CN" altLang="en-US" sz="2400" b="1" dirty="0" smtClean="0">
                <a:latin typeface="+mn-ea"/>
                <a:ea typeface="+mn-ea"/>
              </a:rPr>
              <a:t>第一次</a:t>
            </a:r>
            <a:r>
              <a:rPr lang="zh-CN" altLang="en-US" sz="2400" b="1" dirty="0">
                <a:latin typeface="+mn-ea"/>
                <a:ea typeface="+mn-ea"/>
              </a:rPr>
              <a:t>取：未命中</a:t>
            </a:r>
            <a:r>
              <a:rPr lang="en-US" altLang="zh-CN" sz="2400" b="1" dirty="0">
                <a:latin typeface="+mn-ea"/>
                <a:ea typeface="+mn-ea"/>
              </a:rPr>
              <a:t>66</a:t>
            </a:r>
            <a:r>
              <a:rPr lang="zh-CN" altLang="en-US" sz="2400" b="1" dirty="0">
                <a:latin typeface="+mn-ea"/>
                <a:ea typeface="+mn-ea"/>
              </a:rPr>
              <a:t>次</a:t>
            </a:r>
            <a:endParaRPr lang="en-US" altLang="zh-CN" sz="2400" b="1" dirty="0">
              <a:latin typeface="+mn-ea"/>
              <a:ea typeface="+mn-ea"/>
            </a:endParaRPr>
          </a:p>
          <a:p>
            <a:pPr algn="just">
              <a:lnSpc>
                <a:spcPct val="150000"/>
              </a:lnSpc>
            </a:pPr>
            <a:r>
              <a:rPr lang="en-US" altLang="zh-CN" sz="2400" b="1" dirty="0">
                <a:latin typeface="+mn-ea"/>
                <a:ea typeface="+mn-ea"/>
              </a:rPr>
              <a:t>    </a:t>
            </a:r>
            <a:r>
              <a:rPr lang="zh-CN" altLang="en-US" sz="2400" b="1" dirty="0">
                <a:latin typeface="+mn-ea"/>
                <a:ea typeface="+mn-ea"/>
              </a:rPr>
              <a:t>以后每次取：未命中</a:t>
            </a:r>
            <a:r>
              <a:rPr lang="en-US" altLang="zh-CN" sz="2400" b="1" dirty="0">
                <a:latin typeface="+mn-ea"/>
                <a:ea typeface="+mn-ea"/>
              </a:rPr>
              <a:t>4</a:t>
            </a:r>
            <a:r>
              <a:rPr lang="zh-CN" altLang="en-US" sz="2400" b="1" dirty="0">
                <a:latin typeface="+mn-ea"/>
                <a:ea typeface="+mn-ea"/>
              </a:rPr>
              <a:t>次</a:t>
            </a:r>
            <a:endParaRPr lang="en-US" altLang="zh-CN" sz="2400" b="1" dirty="0">
              <a:latin typeface="+mn-ea"/>
              <a:ea typeface="+mn-ea"/>
            </a:endParaRPr>
          </a:p>
          <a:p>
            <a:pPr algn="just">
              <a:lnSpc>
                <a:spcPct val="150000"/>
              </a:lnSpc>
            </a:pPr>
            <a:r>
              <a:rPr lang="zh-CN" altLang="en-US" sz="2400" b="1" dirty="0">
                <a:latin typeface="+mn-ea"/>
                <a:ea typeface="+mn-ea"/>
              </a:rPr>
              <a:t>        </a:t>
            </a:r>
            <a:r>
              <a:rPr lang="en-US" altLang="zh-CN" sz="2400" b="1" dirty="0">
                <a:latin typeface="+mn-ea"/>
                <a:ea typeface="+mn-ea"/>
              </a:rPr>
              <a:t> h=(5230-66-9</a:t>
            </a:r>
            <a:r>
              <a:rPr lang="zh-CN" altLang="en-US" sz="2400" b="1" dirty="0">
                <a:latin typeface="+mn-ea"/>
                <a:ea typeface="+mn-ea"/>
              </a:rPr>
              <a:t>*</a:t>
            </a:r>
            <a:r>
              <a:rPr lang="en-US" altLang="zh-CN" sz="2400" b="1" dirty="0">
                <a:latin typeface="+mn-ea"/>
                <a:ea typeface="+mn-ea"/>
              </a:rPr>
              <a:t>4)/5230=97.97%</a:t>
            </a:r>
            <a:endParaRPr lang="zh-CN" altLang="en-US" sz="2400" b="1" dirty="0">
              <a:latin typeface="+mn-ea"/>
              <a:ea typeface="+mn-ea"/>
            </a:endParaRPr>
          </a:p>
        </p:txBody>
      </p:sp>
    </p:spTree>
    <p:extLst>
      <p:ext uri="{BB962C8B-B14F-4D97-AF65-F5344CB8AC3E}">
        <p14:creationId xmlns:p14="http://schemas.microsoft.com/office/powerpoint/2010/main" val="237218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blinds(horizontal)">
                                      <p:cBhvr>
                                        <p:cTn id="3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P spid="16" grpId="0" animBg="1"/>
      <p:bldP spid="17" grpId="0" animBg="1"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2DF35FA-B6E9-4021-9010-E25C1CAED6B2}" type="slidenum">
              <a:rPr lang="en-US" altLang="zh-CN" smtClean="0"/>
              <a:pPr>
                <a:defRPr/>
              </a:pPr>
              <a:t>83</a:t>
            </a:fld>
            <a:endParaRPr lang="en-US" altLang="zh-CN"/>
          </a:p>
        </p:txBody>
      </p:sp>
      <p:sp>
        <p:nvSpPr>
          <p:cNvPr id="5" name="矩形 4"/>
          <p:cNvSpPr/>
          <p:nvPr/>
        </p:nvSpPr>
        <p:spPr>
          <a:xfrm>
            <a:off x="153988" y="63854"/>
            <a:ext cx="8785225" cy="6743384"/>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lvl="2">
              <a:lnSpc>
                <a:spcPct val="120000"/>
              </a:lnSpc>
              <a:spcAft>
                <a:spcPts val="0"/>
              </a:spcAft>
              <a:defRPr/>
            </a:pPr>
            <a:r>
              <a:rPr lang="zh-CN" altLang="zh-CN" sz="2400" dirty="0" smtClean="0">
                <a:solidFill>
                  <a:schemeClr val="tx1"/>
                </a:solidFill>
                <a:latin typeface="微软雅黑" pitchFamily="34" charset="-122"/>
                <a:ea typeface="微软雅黑" pitchFamily="34" charset="-122"/>
              </a:rPr>
              <a:t>某计算机的主存地址空间为</a:t>
            </a:r>
            <a:r>
              <a:rPr lang="en-US" altLang="zh-CN" sz="2400" dirty="0" smtClean="0">
                <a:solidFill>
                  <a:schemeClr val="tx1"/>
                </a:solidFill>
                <a:latin typeface="微软雅黑" pitchFamily="34" charset="-122"/>
                <a:ea typeface="微软雅黑" pitchFamily="34" charset="-122"/>
              </a:rPr>
              <a:t>256MB</a:t>
            </a:r>
            <a:r>
              <a:rPr lang="zh-CN" altLang="zh-CN" sz="2400" dirty="0" smtClean="0">
                <a:solidFill>
                  <a:schemeClr val="tx1"/>
                </a:solidFill>
                <a:latin typeface="微软雅黑" pitchFamily="34" charset="-122"/>
                <a:ea typeface="微软雅黑" pitchFamily="34" charset="-122"/>
              </a:rPr>
              <a:t>，按字节编址</a:t>
            </a:r>
            <a:r>
              <a:rPr lang="zh-CN" altLang="zh-CN" sz="2400" dirty="0">
                <a:solidFill>
                  <a:schemeClr val="tx1"/>
                </a:solidFill>
                <a:latin typeface="微软雅黑" pitchFamily="34" charset="-122"/>
                <a:ea typeface="微软雅黑" pitchFamily="34" charset="-122"/>
              </a:rPr>
              <a:t>，指令</a:t>
            </a:r>
            <a:r>
              <a:rPr lang="en-US" altLang="zh-CN" sz="2400" dirty="0">
                <a:solidFill>
                  <a:schemeClr val="tx1"/>
                </a:solidFill>
                <a:latin typeface="微软雅黑" pitchFamily="34" charset="-122"/>
                <a:ea typeface="微软雅黑" pitchFamily="34" charset="-122"/>
              </a:rPr>
              <a:t>Cache</a:t>
            </a:r>
            <a:r>
              <a:rPr lang="zh-CN" altLang="zh-CN" sz="2400" dirty="0">
                <a:solidFill>
                  <a:schemeClr val="tx1"/>
                </a:solidFill>
                <a:latin typeface="微软雅黑" pitchFamily="34" charset="-122"/>
                <a:ea typeface="微软雅黑" pitchFamily="34" charset="-122"/>
              </a:rPr>
              <a:t>和数据</a:t>
            </a:r>
            <a:r>
              <a:rPr lang="en-US" altLang="zh-CN" sz="2400" dirty="0">
                <a:solidFill>
                  <a:schemeClr val="tx1"/>
                </a:solidFill>
                <a:latin typeface="微软雅黑" pitchFamily="34" charset="-122"/>
                <a:ea typeface="微软雅黑" pitchFamily="34" charset="-122"/>
              </a:rPr>
              <a:t>Cache</a:t>
            </a:r>
            <a:r>
              <a:rPr lang="zh-CN" altLang="zh-CN" sz="2400" dirty="0">
                <a:solidFill>
                  <a:schemeClr val="tx1"/>
                </a:solidFill>
                <a:latin typeface="微软雅黑" pitchFamily="34" charset="-122"/>
                <a:ea typeface="微软雅黑" pitchFamily="34" charset="-122"/>
              </a:rPr>
              <a:t>分离，数据</a:t>
            </a:r>
            <a:r>
              <a:rPr lang="en-US" altLang="zh-CN" sz="2400" dirty="0">
                <a:solidFill>
                  <a:schemeClr val="tx1"/>
                </a:solidFill>
                <a:latin typeface="微软雅黑" pitchFamily="34" charset="-122"/>
                <a:ea typeface="微软雅黑" pitchFamily="34" charset="-122"/>
              </a:rPr>
              <a:t>Cache</a:t>
            </a:r>
            <a:r>
              <a:rPr lang="zh-CN" altLang="zh-CN" sz="2400" dirty="0">
                <a:solidFill>
                  <a:schemeClr val="tx1"/>
                </a:solidFill>
                <a:latin typeface="微软雅黑" pitchFamily="34" charset="-122"/>
                <a:ea typeface="微软雅黑" pitchFamily="34" charset="-122"/>
              </a:rPr>
              <a:t>采用直接映射方式，为</a:t>
            </a:r>
            <a:r>
              <a:rPr lang="en-US" altLang="zh-CN" sz="2400" dirty="0">
                <a:solidFill>
                  <a:schemeClr val="tx1"/>
                </a:solidFill>
                <a:latin typeface="微软雅黑" pitchFamily="34" charset="-122"/>
                <a:ea typeface="微软雅黑" pitchFamily="34" charset="-122"/>
              </a:rPr>
              <a:t>8</a:t>
            </a:r>
            <a:r>
              <a:rPr lang="zh-CN" altLang="zh-CN" sz="2400" dirty="0">
                <a:solidFill>
                  <a:schemeClr val="tx1"/>
                </a:solidFill>
                <a:latin typeface="微软雅黑" pitchFamily="34" charset="-122"/>
                <a:ea typeface="微软雅黑" pitchFamily="34" charset="-122"/>
              </a:rPr>
              <a:t>个</a:t>
            </a:r>
            <a:r>
              <a:rPr lang="en-US" altLang="zh-CN" sz="2400" dirty="0">
                <a:solidFill>
                  <a:schemeClr val="tx1"/>
                </a:solidFill>
                <a:latin typeface="微软雅黑" pitchFamily="34" charset="-122"/>
                <a:ea typeface="微软雅黑" pitchFamily="34" charset="-122"/>
              </a:rPr>
              <a:t>Cache</a:t>
            </a:r>
            <a:r>
              <a:rPr lang="zh-CN" altLang="zh-CN" sz="2400" dirty="0">
                <a:solidFill>
                  <a:schemeClr val="tx1"/>
                </a:solidFill>
                <a:latin typeface="微软雅黑" pitchFamily="34" charset="-122"/>
                <a:ea typeface="微软雅黑" pitchFamily="34" charset="-122"/>
              </a:rPr>
              <a:t>行，</a:t>
            </a:r>
            <a:r>
              <a:rPr lang="en-US" altLang="zh-CN" sz="2400" dirty="0">
                <a:solidFill>
                  <a:schemeClr val="tx1"/>
                </a:solidFill>
                <a:latin typeface="微软雅黑" pitchFamily="34" charset="-122"/>
                <a:ea typeface="微软雅黑" pitchFamily="34" charset="-122"/>
              </a:rPr>
              <a:t>Cache</a:t>
            </a:r>
            <a:r>
              <a:rPr lang="zh-CN" altLang="zh-CN" sz="2400" dirty="0">
                <a:solidFill>
                  <a:schemeClr val="tx1"/>
                </a:solidFill>
                <a:latin typeface="微软雅黑" pitchFamily="34" charset="-122"/>
                <a:ea typeface="微软雅黑" pitchFamily="34" charset="-122"/>
              </a:rPr>
              <a:t>行号从</a:t>
            </a:r>
            <a:r>
              <a:rPr lang="en-US" altLang="zh-CN" sz="2400" dirty="0" smtClean="0">
                <a:solidFill>
                  <a:schemeClr val="tx1"/>
                </a:solidFill>
                <a:latin typeface="微软雅黑" pitchFamily="34" charset="-122"/>
                <a:ea typeface="微软雅黑" pitchFamily="34" charset="-122"/>
              </a:rPr>
              <a:t>0</a:t>
            </a:r>
            <a:r>
              <a:rPr lang="zh-CN" altLang="zh-CN" sz="2400" dirty="0" smtClean="0">
                <a:solidFill>
                  <a:schemeClr val="tx1"/>
                </a:solidFill>
                <a:latin typeface="微软雅黑" pitchFamily="34" charset="-122"/>
                <a:ea typeface="微软雅黑" pitchFamily="34" charset="-122"/>
              </a:rPr>
              <a:t>开始</a:t>
            </a:r>
            <a:r>
              <a:rPr lang="zh-CN" altLang="zh-CN" sz="2400" dirty="0">
                <a:solidFill>
                  <a:schemeClr val="tx1"/>
                </a:solidFill>
                <a:latin typeface="微软雅黑" pitchFamily="34" charset="-122"/>
                <a:ea typeface="微软雅黑" pitchFamily="34" charset="-122"/>
              </a:rPr>
              <a:t>，每个</a:t>
            </a:r>
            <a:r>
              <a:rPr lang="en-US" altLang="zh-CN" sz="2400" dirty="0">
                <a:solidFill>
                  <a:schemeClr val="tx1"/>
                </a:solidFill>
                <a:latin typeface="微软雅黑" pitchFamily="34" charset="-122"/>
                <a:ea typeface="微软雅黑" pitchFamily="34" charset="-122"/>
              </a:rPr>
              <a:t>Cache</a:t>
            </a:r>
            <a:r>
              <a:rPr lang="zh-CN" altLang="zh-CN" sz="2400" dirty="0">
                <a:solidFill>
                  <a:schemeClr val="tx1"/>
                </a:solidFill>
                <a:latin typeface="微软雅黑" pitchFamily="34" charset="-122"/>
                <a:ea typeface="微软雅黑" pitchFamily="34" charset="-122"/>
              </a:rPr>
              <a:t>行的大小为</a:t>
            </a:r>
            <a:r>
              <a:rPr lang="en-US" altLang="zh-CN" sz="2400" dirty="0">
                <a:solidFill>
                  <a:schemeClr val="tx1"/>
                </a:solidFill>
                <a:latin typeface="微软雅黑" pitchFamily="34" charset="-122"/>
                <a:ea typeface="微软雅黑" pitchFamily="34" charset="-122"/>
              </a:rPr>
              <a:t>64B</a:t>
            </a:r>
            <a:r>
              <a:rPr lang="zh-CN" altLang="zh-CN" sz="2400" dirty="0">
                <a:solidFill>
                  <a:schemeClr val="tx1"/>
                </a:solidFill>
                <a:latin typeface="微软雅黑" pitchFamily="34" charset="-122"/>
                <a:ea typeface="微软雅黑" pitchFamily="34" charset="-122"/>
              </a:rPr>
              <a:t>。现有程序如下：</a:t>
            </a:r>
          </a:p>
          <a:p>
            <a:r>
              <a:rPr lang="en-US" altLang="zh-CN" sz="2400" dirty="0" smtClean="0">
                <a:latin typeface="微软雅黑" pitchFamily="34" charset="-122"/>
                <a:ea typeface="微软雅黑" pitchFamily="34" charset="-122"/>
              </a:rPr>
              <a:t> </a:t>
            </a:r>
          </a:p>
          <a:p>
            <a:r>
              <a:rPr lang="en-US" altLang="zh-CN" sz="2400" dirty="0">
                <a:latin typeface="微软雅黑" pitchFamily="34" charset="-122"/>
                <a:ea typeface="微软雅黑" pitchFamily="34" charset="-122"/>
              </a:rPr>
              <a:t> </a:t>
            </a:r>
            <a:r>
              <a:rPr lang="en-US" altLang="zh-CN" sz="2400" dirty="0" err="1" smtClean="0">
                <a:latin typeface="微软雅黑" pitchFamily="34" charset="-122"/>
                <a:ea typeface="微软雅黑" pitchFamily="34" charset="-122"/>
              </a:rPr>
              <a:t>int</a:t>
            </a:r>
            <a:r>
              <a:rPr lang="en-US" altLang="zh-CN" sz="2400" dirty="0" smtClean="0">
                <a:latin typeface="微软雅黑" pitchFamily="34" charset="-122"/>
                <a:ea typeface="微软雅黑" pitchFamily="34" charset="-122"/>
              </a:rPr>
              <a:t>  </a:t>
            </a:r>
            <a:r>
              <a:rPr lang="en-US" altLang="zh-CN" sz="2400" dirty="0">
                <a:latin typeface="微软雅黑" pitchFamily="34" charset="-122"/>
                <a:ea typeface="微软雅黑" pitchFamily="34" charset="-122"/>
              </a:rPr>
              <a:t>A[256][256]</a:t>
            </a:r>
            <a:r>
              <a:rPr lang="zh-CN" altLang="zh-CN" sz="2400" dirty="0">
                <a:latin typeface="微软雅黑" pitchFamily="34" charset="-122"/>
                <a:ea typeface="微软雅黑" pitchFamily="34" charset="-122"/>
              </a:rPr>
              <a:t>；</a:t>
            </a:r>
          </a:p>
          <a:p>
            <a:r>
              <a:rPr lang="en-US" altLang="zh-CN" sz="2400" dirty="0" smtClean="0">
                <a:latin typeface="微软雅黑" pitchFamily="34" charset="-122"/>
                <a:ea typeface="微软雅黑" pitchFamily="34" charset="-122"/>
              </a:rPr>
              <a:t>  ……</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a:t>
            </a:r>
            <a:r>
              <a:rPr lang="en-US" altLang="zh-CN" sz="2400" dirty="0" err="1" smtClean="0">
                <a:latin typeface="微软雅黑" pitchFamily="34" charset="-122"/>
                <a:ea typeface="微软雅黑" pitchFamily="34" charset="-122"/>
              </a:rPr>
              <a:t>int</a:t>
            </a:r>
            <a:r>
              <a:rPr lang="en-US" altLang="zh-CN" sz="2400" dirty="0" smtClean="0">
                <a:latin typeface="微软雅黑" pitchFamily="34" charset="-122"/>
                <a:ea typeface="微软雅黑" pitchFamily="34" charset="-122"/>
              </a:rPr>
              <a:t> </a:t>
            </a:r>
            <a:r>
              <a:rPr lang="en-US" altLang="zh-CN" sz="2400" dirty="0" err="1">
                <a:latin typeface="微软雅黑" pitchFamily="34" charset="-122"/>
                <a:ea typeface="微软雅黑" pitchFamily="34" charset="-122"/>
              </a:rPr>
              <a:t>sumarry</a:t>
            </a:r>
            <a:r>
              <a:rPr lang="en-US" altLang="zh-CN" sz="2400" dirty="0">
                <a:latin typeface="微软雅黑" pitchFamily="34" charset="-122"/>
                <a:ea typeface="微软雅黑" pitchFamily="34" charset="-122"/>
              </a:rPr>
              <a:t>()</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a:t>
            </a:r>
            <a:r>
              <a:rPr lang="en-US" altLang="zh-CN" sz="2400" dirty="0" err="1" smtClean="0">
                <a:latin typeface="微软雅黑" pitchFamily="34" charset="-122"/>
                <a:ea typeface="微软雅黑" pitchFamily="34" charset="-122"/>
              </a:rPr>
              <a:t>Int</a:t>
            </a:r>
            <a:r>
              <a:rPr lang="en-US" altLang="zh-CN" sz="2400" dirty="0" smtClean="0">
                <a:latin typeface="微软雅黑" pitchFamily="34" charset="-122"/>
                <a:ea typeface="微软雅黑" pitchFamily="34" charset="-122"/>
              </a:rPr>
              <a:t> </a:t>
            </a:r>
            <a:r>
              <a:rPr lang="en-US" altLang="zh-CN" sz="2400" dirty="0" err="1" smtClean="0">
                <a:latin typeface="微软雅黑" pitchFamily="34" charset="-122"/>
                <a:ea typeface="微软雅黑" pitchFamily="34" charset="-122"/>
              </a:rPr>
              <a:t>i,j,sum</a:t>
            </a:r>
            <a:r>
              <a:rPr lang="en-US" altLang="zh-CN" sz="2400" dirty="0" smtClean="0">
                <a:latin typeface="微软雅黑" pitchFamily="34" charset="-122"/>
                <a:ea typeface="微软雅黑" pitchFamily="34" charset="-122"/>
              </a:rPr>
              <a:t>=0</a:t>
            </a:r>
            <a:r>
              <a:rPr lang="en-US" altLang="zh-CN" sz="2400" dirty="0">
                <a:latin typeface="微软雅黑" pitchFamily="34" charset="-122"/>
                <a:ea typeface="微软雅黑" pitchFamily="34" charset="-122"/>
              </a:rPr>
              <a:t>;</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for(i=0;i&lt;256;i</a:t>
            </a:r>
            <a:r>
              <a:rPr lang="en-US" altLang="zh-CN" sz="2400" dirty="0">
                <a:latin typeface="微软雅黑" pitchFamily="34" charset="-122"/>
                <a:ea typeface="微软雅黑" pitchFamily="34" charset="-122"/>
              </a:rPr>
              <a:t>++)</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for(j=0;j&lt;256;j++) </a:t>
            </a:r>
          </a:p>
          <a:p>
            <a:r>
              <a:rPr lang="en-US" altLang="zh-CN" sz="2400" dirty="0" smtClean="0">
                <a:latin typeface="微软雅黑" pitchFamily="34" charset="-122"/>
                <a:ea typeface="微软雅黑" pitchFamily="34" charset="-122"/>
              </a:rPr>
              <a:t>        sum</a:t>
            </a:r>
            <a:r>
              <a:rPr lang="en-US" altLang="zh-CN" sz="2400" dirty="0">
                <a:latin typeface="微软雅黑" pitchFamily="34" charset="-122"/>
                <a:ea typeface="微软雅黑" pitchFamily="34" charset="-122"/>
              </a:rPr>
              <a:t>+=A[i][j];</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return </a:t>
            </a:r>
            <a:r>
              <a:rPr lang="en-US" altLang="zh-CN" sz="2400" dirty="0">
                <a:latin typeface="微软雅黑" pitchFamily="34" charset="-122"/>
                <a:ea typeface="微软雅黑" pitchFamily="34" charset="-122"/>
              </a:rPr>
              <a:t>sum</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a:t>
            </a:r>
            <a:endParaRPr lang="zh-CN" altLang="zh-CN" sz="2400" dirty="0">
              <a:latin typeface="微软雅黑" pitchFamily="34" charset="-122"/>
              <a:ea typeface="微软雅黑" pitchFamily="34" charset="-122"/>
            </a:endParaRPr>
          </a:p>
        </p:txBody>
      </p:sp>
      <p:sp>
        <p:nvSpPr>
          <p:cNvPr id="3" name="矩形 2"/>
          <p:cNvSpPr/>
          <p:nvPr/>
        </p:nvSpPr>
        <p:spPr>
          <a:xfrm>
            <a:off x="3635896" y="1672048"/>
            <a:ext cx="5293822" cy="5013039"/>
          </a:xfrm>
          <a:prstGeom prst="rect">
            <a:avLst/>
          </a:prstGeom>
        </p:spPr>
        <p:txBody>
          <a:bodyPr wrap="square">
            <a:spAutoFit/>
          </a:bodyPr>
          <a:lstStyle/>
          <a:p>
            <a:pPr>
              <a:lnSpc>
                <a:spcPct val="150000"/>
              </a:lnSpc>
            </a:pPr>
            <a:r>
              <a:rPr lang="en-US" altLang="zh-CN" sz="2400" dirty="0" smtClean="0">
                <a:latin typeface="微软雅黑" pitchFamily="34" charset="-122"/>
                <a:ea typeface="微软雅黑" pitchFamily="34" charset="-122"/>
              </a:rPr>
              <a:t>    </a:t>
            </a:r>
            <a:r>
              <a:rPr lang="zh-CN" altLang="zh-CN" sz="2400" dirty="0" smtClean="0">
                <a:latin typeface="微软雅黑" pitchFamily="34" charset="-122"/>
                <a:ea typeface="微软雅黑" pitchFamily="34" charset="-122"/>
              </a:rPr>
              <a:t>假定</a:t>
            </a:r>
            <a:r>
              <a:rPr lang="en-US" altLang="zh-CN" sz="2400" dirty="0" err="1">
                <a:latin typeface="微软雅黑" pitchFamily="34" charset="-122"/>
                <a:ea typeface="微软雅黑" pitchFamily="34" charset="-122"/>
              </a:rPr>
              <a:t>int</a:t>
            </a:r>
            <a:r>
              <a:rPr lang="zh-CN" altLang="zh-CN" sz="2400" dirty="0">
                <a:latin typeface="微软雅黑" pitchFamily="34" charset="-122"/>
                <a:ea typeface="微软雅黑" pitchFamily="34" charset="-122"/>
              </a:rPr>
              <a:t>类型数据用</a:t>
            </a:r>
            <a:r>
              <a:rPr lang="en-US" altLang="zh-CN" sz="2400" dirty="0">
                <a:latin typeface="微软雅黑" pitchFamily="34" charset="-122"/>
                <a:ea typeface="微软雅黑" pitchFamily="34" charset="-122"/>
              </a:rPr>
              <a:t>32</a:t>
            </a:r>
            <a:r>
              <a:rPr lang="zh-CN" altLang="zh-CN" sz="2400" dirty="0">
                <a:latin typeface="微软雅黑" pitchFamily="34" charset="-122"/>
                <a:ea typeface="微软雅黑" pitchFamily="34" charset="-122"/>
              </a:rPr>
              <a:t>位补码表示，编译时</a:t>
            </a:r>
            <a:r>
              <a:rPr lang="en-US" altLang="zh-CN" sz="2400" dirty="0">
                <a:latin typeface="微软雅黑" pitchFamily="34" charset="-122"/>
                <a:ea typeface="微软雅黑" pitchFamily="34" charset="-122"/>
              </a:rPr>
              <a:t>i</a:t>
            </a:r>
            <a:r>
              <a:rPr lang="zh-CN" altLang="zh-CN" sz="2400" dirty="0">
                <a:latin typeface="微软雅黑" pitchFamily="34" charset="-122"/>
                <a:ea typeface="微软雅黑" pitchFamily="34" charset="-122"/>
              </a:rPr>
              <a:t>、</a:t>
            </a:r>
            <a:r>
              <a:rPr lang="en-US" altLang="zh-CN" sz="2400" dirty="0">
                <a:latin typeface="微软雅黑" pitchFamily="34" charset="-122"/>
                <a:ea typeface="微软雅黑" pitchFamily="34" charset="-122"/>
              </a:rPr>
              <a:t>j</a:t>
            </a:r>
            <a:r>
              <a:rPr lang="zh-CN" altLang="zh-CN" sz="2400" dirty="0">
                <a:latin typeface="微软雅黑" pitchFamily="34" charset="-122"/>
                <a:ea typeface="微软雅黑" pitchFamily="34" charset="-122"/>
              </a:rPr>
              <a:t>、</a:t>
            </a:r>
            <a:r>
              <a:rPr lang="en-US" altLang="zh-CN" sz="2400" dirty="0">
                <a:latin typeface="微软雅黑" pitchFamily="34" charset="-122"/>
                <a:ea typeface="微软雅黑" pitchFamily="34" charset="-122"/>
              </a:rPr>
              <a:t>sum</a:t>
            </a:r>
            <a:r>
              <a:rPr lang="zh-CN" altLang="zh-CN" sz="2400" dirty="0">
                <a:latin typeface="微软雅黑" pitchFamily="34" charset="-122"/>
                <a:ea typeface="微软雅黑" pitchFamily="34" charset="-122"/>
              </a:rPr>
              <a:t>均分配在寄存器中，数组</a:t>
            </a:r>
            <a:r>
              <a:rPr lang="en-US" altLang="zh-CN" sz="2400" dirty="0">
                <a:latin typeface="微软雅黑" pitchFamily="34" charset="-122"/>
                <a:ea typeface="微软雅黑" pitchFamily="34" charset="-122"/>
              </a:rPr>
              <a:t>A</a:t>
            </a:r>
            <a:r>
              <a:rPr lang="zh-CN" altLang="zh-CN" sz="2400" dirty="0">
                <a:latin typeface="微软雅黑" pitchFamily="34" charset="-122"/>
                <a:ea typeface="微软雅黑" pitchFamily="34" charset="-122"/>
              </a:rPr>
              <a:t>按行优先方式存放，其地址为</a:t>
            </a:r>
            <a:r>
              <a:rPr lang="en-US" altLang="zh-CN" sz="2400" dirty="0">
                <a:latin typeface="微软雅黑" pitchFamily="34" charset="-122"/>
                <a:ea typeface="微软雅黑" pitchFamily="34" charset="-122"/>
              </a:rPr>
              <a:t>320</a:t>
            </a:r>
            <a:r>
              <a:rPr lang="zh-CN" altLang="zh-CN" sz="2400" dirty="0">
                <a:latin typeface="微软雅黑" pitchFamily="34" charset="-122"/>
                <a:ea typeface="微软雅黑" pitchFamily="34" charset="-122"/>
              </a:rPr>
              <a:t>（十进制数），请回答下面问题，要求说明理由或给出计算过程。</a:t>
            </a:r>
          </a:p>
          <a:p>
            <a:pPr lvl="0">
              <a:lnSpc>
                <a:spcPct val="150000"/>
              </a:lnSpc>
            </a:pPr>
            <a:r>
              <a:rPr lang="zh-CN" altLang="en-US" sz="2400" dirty="0" smtClean="0">
                <a:latin typeface="微软雅黑" pitchFamily="34" charset="-122"/>
                <a:ea typeface="微软雅黑" pitchFamily="34" charset="-122"/>
              </a:rPr>
              <a:t>（</a:t>
            </a:r>
            <a:r>
              <a:rPr lang="en-US" altLang="zh-CN" sz="2400" dirty="0" smtClean="0">
                <a:latin typeface="微软雅黑" pitchFamily="34" charset="-122"/>
                <a:ea typeface="微软雅黑" pitchFamily="34" charset="-122"/>
              </a:rPr>
              <a:t>1</a:t>
            </a:r>
            <a:r>
              <a:rPr lang="zh-CN" altLang="en-US" sz="2400" dirty="0" smtClean="0">
                <a:latin typeface="微软雅黑" pitchFamily="34" charset="-122"/>
                <a:ea typeface="微软雅黑" pitchFamily="34" charset="-122"/>
              </a:rPr>
              <a:t>）</a:t>
            </a:r>
            <a:r>
              <a:rPr lang="zh-CN" altLang="zh-CN" sz="2400" dirty="0" smtClean="0">
                <a:latin typeface="微软雅黑" pitchFamily="34" charset="-122"/>
                <a:ea typeface="微软雅黑" pitchFamily="34" charset="-122"/>
              </a:rPr>
              <a:t>数组</a:t>
            </a:r>
            <a:r>
              <a:rPr lang="en-US" altLang="zh-CN" sz="2400" dirty="0" smtClean="0">
                <a:latin typeface="微软雅黑" pitchFamily="34" charset="-122"/>
                <a:ea typeface="微软雅黑" pitchFamily="34" charset="-122"/>
              </a:rPr>
              <a:t>A[0</a:t>
            </a:r>
            <a:r>
              <a:rPr lang="en-US" altLang="zh-CN" sz="2400" dirty="0">
                <a:latin typeface="微软雅黑" pitchFamily="34" charset="-122"/>
                <a:ea typeface="微软雅黑" pitchFamily="34" charset="-122"/>
              </a:rPr>
              <a:t>][31]</a:t>
            </a:r>
            <a:r>
              <a:rPr lang="zh-CN" altLang="zh-CN" sz="2400" dirty="0" smtClean="0">
                <a:latin typeface="微软雅黑" pitchFamily="34" charset="-122"/>
                <a:ea typeface="微软雅黑" pitchFamily="34" charset="-122"/>
              </a:rPr>
              <a:t>和</a:t>
            </a:r>
            <a:r>
              <a:rPr lang="en-US" altLang="zh-CN" sz="2400" dirty="0" smtClean="0">
                <a:latin typeface="微软雅黑" pitchFamily="34" charset="-122"/>
                <a:ea typeface="微软雅黑" pitchFamily="34" charset="-122"/>
              </a:rPr>
              <a:t>A[1</a:t>
            </a:r>
            <a:r>
              <a:rPr lang="en-US" altLang="zh-CN" sz="2400" dirty="0">
                <a:latin typeface="微软雅黑" pitchFamily="34" charset="-122"/>
                <a:ea typeface="微软雅黑" pitchFamily="34" charset="-122"/>
              </a:rPr>
              <a:t>][1]</a:t>
            </a:r>
            <a:r>
              <a:rPr lang="zh-CN" altLang="zh-CN" sz="2400" dirty="0">
                <a:latin typeface="微软雅黑" pitchFamily="34" charset="-122"/>
                <a:ea typeface="微软雅黑" pitchFamily="34" charset="-122"/>
              </a:rPr>
              <a:t>各自所在的</a:t>
            </a:r>
            <a:r>
              <a:rPr lang="zh-CN" altLang="zh-CN" sz="2400" dirty="0" smtClean="0">
                <a:latin typeface="微软雅黑" pitchFamily="34" charset="-122"/>
                <a:ea typeface="微软雅黑" pitchFamily="34" charset="-122"/>
              </a:rPr>
              <a:t>主存</a:t>
            </a:r>
            <a:r>
              <a:rPr lang="zh-CN" altLang="en-US" sz="2400" dirty="0" smtClean="0">
                <a:latin typeface="微软雅黑" pitchFamily="34" charset="-122"/>
                <a:ea typeface="微软雅黑" pitchFamily="34" charset="-122"/>
              </a:rPr>
              <a:t>块可以映射到</a:t>
            </a:r>
            <a:r>
              <a:rPr lang="en-US" altLang="zh-CN" sz="2400" dirty="0" smtClean="0">
                <a:latin typeface="微软雅黑" pitchFamily="34" charset="-122"/>
                <a:ea typeface="微软雅黑" pitchFamily="34" charset="-122"/>
              </a:rPr>
              <a:t>Cache</a:t>
            </a:r>
            <a:r>
              <a:rPr lang="zh-CN" altLang="en-US" sz="2400" dirty="0" smtClean="0">
                <a:latin typeface="微软雅黑" pitchFamily="34" charset="-122"/>
                <a:ea typeface="微软雅黑" pitchFamily="34" charset="-122"/>
              </a:rPr>
              <a:t>的第几</a:t>
            </a:r>
            <a:r>
              <a:rPr lang="zh-CN" altLang="zh-CN" sz="2400" dirty="0" smtClean="0">
                <a:latin typeface="微软雅黑" pitchFamily="34" charset="-122"/>
                <a:ea typeface="微软雅黑" pitchFamily="34" charset="-122"/>
              </a:rPr>
              <a:t>行； </a:t>
            </a:r>
            <a:endParaRPr lang="zh-CN" altLang="zh-CN" sz="2400" dirty="0">
              <a:latin typeface="微软雅黑" pitchFamily="34" charset="-122"/>
              <a:ea typeface="微软雅黑" pitchFamily="34" charset="-122"/>
            </a:endParaRPr>
          </a:p>
          <a:p>
            <a:pPr lvl="0">
              <a:lnSpc>
                <a:spcPct val="150000"/>
              </a:lnSpc>
            </a:pPr>
            <a:r>
              <a:rPr lang="zh-CN" altLang="en-US" sz="2400" dirty="0" smtClean="0">
                <a:latin typeface="微软雅黑" pitchFamily="34" charset="-122"/>
                <a:ea typeface="微软雅黑" pitchFamily="34" charset="-122"/>
              </a:rPr>
              <a:t>（</a:t>
            </a:r>
            <a:r>
              <a:rPr lang="en-US" altLang="zh-CN" sz="2400" dirty="0" smtClean="0">
                <a:latin typeface="微软雅黑" pitchFamily="34" charset="-122"/>
                <a:ea typeface="微软雅黑" pitchFamily="34" charset="-122"/>
              </a:rPr>
              <a:t>2</a:t>
            </a:r>
            <a:r>
              <a:rPr lang="zh-CN" altLang="en-US" sz="2400" dirty="0" smtClean="0">
                <a:latin typeface="微软雅黑" pitchFamily="34" charset="-122"/>
                <a:ea typeface="微软雅黑" pitchFamily="34" charset="-122"/>
              </a:rPr>
              <a:t>）</a:t>
            </a:r>
            <a:r>
              <a:rPr lang="en-US" altLang="zh-CN" sz="2400" dirty="0" smtClean="0">
                <a:latin typeface="微软雅黑" pitchFamily="34" charset="-122"/>
                <a:ea typeface="微软雅黑" pitchFamily="34" charset="-122"/>
              </a:rPr>
              <a:t>CPU</a:t>
            </a:r>
            <a:r>
              <a:rPr lang="zh-CN" altLang="en-US" sz="2400" dirty="0" smtClean="0">
                <a:latin typeface="微软雅黑" pitchFamily="34" charset="-122"/>
                <a:ea typeface="微软雅黑" pitchFamily="34" charset="-122"/>
              </a:rPr>
              <a:t>按字存取，每个字为</a:t>
            </a:r>
            <a:r>
              <a:rPr lang="en-US" altLang="zh-CN" sz="2400" dirty="0" smtClean="0">
                <a:latin typeface="微软雅黑" pitchFamily="34" charset="-122"/>
                <a:ea typeface="微软雅黑" pitchFamily="34" charset="-122"/>
              </a:rPr>
              <a:t>32</a:t>
            </a:r>
            <a:r>
              <a:rPr lang="zh-CN" altLang="zh-CN" sz="2400" dirty="0" smtClean="0">
                <a:latin typeface="微软雅黑" pitchFamily="34" charset="-122"/>
                <a:ea typeface="微软雅黑" pitchFamily="34" charset="-122"/>
              </a:rPr>
              <a:t>位</a:t>
            </a:r>
            <a:r>
              <a:rPr lang="zh-CN" altLang="en-US" sz="2400" dirty="0" smtClean="0">
                <a:latin typeface="微软雅黑" pitchFamily="34" charset="-122"/>
                <a:ea typeface="微软雅黑" pitchFamily="34" charset="-122"/>
              </a:rPr>
              <a:t>，</a:t>
            </a:r>
            <a:r>
              <a:rPr lang="zh-CN" altLang="zh-CN" sz="2400" dirty="0" smtClean="0">
                <a:latin typeface="微软雅黑" pitchFamily="34" charset="-122"/>
                <a:ea typeface="微软雅黑" pitchFamily="34" charset="-122"/>
              </a:rPr>
              <a:t>程序</a:t>
            </a:r>
            <a:r>
              <a:rPr lang="en-US" altLang="zh-CN" sz="2400" dirty="0">
                <a:latin typeface="微软雅黑" pitchFamily="34" charset="-122"/>
                <a:ea typeface="微软雅黑" pitchFamily="34" charset="-122"/>
              </a:rPr>
              <a:t>A</a:t>
            </a:r>
            <a:r>
              <a:rPr lang="zh-CN" altLang="zh-CN" sz="2400" dirty="0">
                <a:latin typeface="微软雅黑" pitchFamily="34" charset="-122"/>
                <a:ea typeface="微软雅黑" pitchFamily="34" charset="-122"/>
              </a:rPr>
              <a:t>的数据访问命中率是多少。</a:t>
            </a:r>
          </a:p>
        </p:txBody>
      </p:sp>
      <p:sp>
        <p:nvSpPr>
          <p:cNvPr id="6" name="矩形 5"/>
          <p:cNvSpPr/>
          <p:nvPr/>
        </p:nvSpPr>
        <p:spPr>
          <a:xfrm>
            <a:off x="290140" y="144712"/>
            <a:ext cx="517525" cy="156966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lvl="0" algn="ctr">
              <a:spcBef>
                <a:spcPts val="0"/>
              </a:spcBef>
            </a:pPr>
            <a:r>
              <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2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28816959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BD6C8F-AC52-4A1A-A983-A679183B8172}" type="slidenum">
              <a:rPr lang="en-US" altLang="zh-CN" smtClean="0"/>
              <a:pPr>
                <a:defRPr/>
              </a:pPr>
              <a:t>84</a:t>
            </a:fld>
            <a:endParaRPr lang="en-US" altLang="zh-CN"/>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61" y="332656"/>
            <a:ext cx="7992888" cy="6250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13461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2389E59-C5A6-44E3-A52F-17267A6A2DAA}" type="slidenum">
              <a:rPr lang="en-US" altLang="zh-CN" smtClean="0"/>
              <a:pPr>
                <a:defRPr/>
              </a:pPr>
              <a:t>85</a:t>
            </a:fld>
            <a:endParaRPr lang="en-US" altLang="zh-CN"/>
          </a:p>
        </p:txBody>
      </p:sp>
      <p:sp>
        <p:nvSpPr>
          <p:cNvPr id="3" name="矩形 2"/>
          <p:cNvSpPr/>
          <p:nvPr/>
        </p:nvSpPr>
        <p:spPr>
          <a:xfrm>
            <a:off x="153988" y="296908"/>
            <a:ext cx="8785225" cy="5780044"/>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lnSpc>
                <a:spcPct val="120000"/>
              </a:lnSpc>
            </a:pPr>
            <a:r>
              <a:rPr lang="zh-CN" altLang="zh-CN" dirty="0" smtClean="0">
                <a:latin typeface="黑体" pitchFamily="2" charset="-122"/>
                <a:ea typeface="黑体" pitchFamily="2" charset="-122"/>
              </a:rPr>
              <a:t>（</a:t>
            </a:r>
            <a:r>
              <a:rPr lang="en-US" altLang="zh-CN" dirty="0" smtClean="0">
                <a:latin typeface="黑体" pitchFamily="2" charset="-122"/>
                <a:ea typeface="黑体" pitchFamily="2" charset="-122"/>
              </a:rPr>
              <a:t>1</a:t>
            </a:r>
            <a:r>
              <a:rPr lang="zh-CN" altLang="zh-CN" dirty="0" smtClean="0">
                <a:latin typeface="黑体" pitchFamily="2" charset="-122"/>
                <a:ea typeface="黑体" pitchFamily="2" charset="-122"/>
              </a:rPr>
              <a:t>）</a:t>
            </a:r>
            <a:r>
              <a:rPr lang="en-US" altLang="zh-CN" dirty="0" err="1" smtClean="0">
                <a:latin typeface="黑体" pitchFamily="2" charset="-122"/>
                <a:ea typeface="黑体" pitchFamily="2" charset="-122"/>
              </a:rPr>
              <a:t>int</a:t>
            </a:r>
            <a:r>
              <a:rPr lang="zh-CN" altLang="zh-CN" dirty="0">
                <a:latin typeface="黑体" pitchFamily="2" charset="-122"/>
                <a:ea typeface="黑体" pitchFamily="2" charset="-122"/>
              </a:rPr>
              <a:t>类型数据用</a:t>
            </a:r>
            <a:r>
              <a:rPr lang="en-US" altLang="zh-CN" dirty="0">
                <a:latin typeface="黑体" pitchFamily="2" charset="-122"/>
                <a:ea typeface="黑体" pitchFamily="2" charset="-122"/>
              </a:rPr>
              <a:t>32</a:t>
            </a:r>
            <a:r>
              <a:rPr lang="zh-CN" altLang="zh-CN" dirty="0">
                <a:latin typeface="黑体" pitchFamily="2" charset="-122"/>
                <a:ea typeface="黑体" pitchFamily="2" charset="-122"/>
              </a:rPr>
              <a:t>位补码表示，程序编译时</a:t>
            </a:r>
            <a:r>
              <a:rPr lang="en-US" altLang="zh-CN" dirty="0" err="1" smtClean="0">
                <a:latin typeface="黑体" pitchFamily="2" charset="-122"/>
                <a:ea typeface="黑体" pitchFamily="2" charset="-122"/>
              </a:rPr>
              <a:t>i,j,sum</a:t>
            </a:r>
            <a:r>
              <a:rPr lang="zh-CN" altLang="zh-CN" dirty="0">
                <a:latin typeface="黑体" pitchFamily="2" charset="-122"/>
                <a:ea typeface="黑体" pitchFamily="2" charset="-122"/>
              </a:rPr>
              <a:t>均分配在寄存器中，</a:t>
            </a:r>
            <a:r>
              <a:rPr lang="zh-CN" altLang="zh-CN" dirty="0" smtClean="0">
                <a:latin typeface="黑体" pitchFamily="2" charset="-122"/>
                <a:ea typeface="黑体" pitchFamily="2" charset="-122"/>
              </a:rPr>
              <a:t>数</a:t>
            </a:r>
            <a:r>
              <a:rPr lang="zh-CN" altLang="en-US" dirty="0" smtClean="0">
                <a:latin typeface="黑体" pitchFamily="2" charset="-122"/>
                <a:ea typeface="黑体" pitchFamily="2" charset="-122"/>
              </a:rPr>
              <a:t>组</a:t>
            </a:r>
            <a:r>
              <a:rPr lang="en-US" altLang="zh-CN" dirty="0" smtClean="0">
                <a:latin typeface="黑体" pitchFamily="2" charset="-122"/>
                <a:ea typeface="黑体" pitchFamily="2" charset="-122"/>
              </a:rPr>
              <a:t>A</a:t>
            </a:r>
            <a:r>
              <a:rPr lang="zh-CN" altLang="zh-CN" dirty="0" smtClean="0">
                <a:latin typeface="黑体" pitchFamily="2" charset="-122"/>
                <a:ea typeface="黑体" pitchFamily="2" charset="-122"/>
              </a:rPr>
              <a:t>按</a:t>
            </a:r>
            <a:r>
              <a:rPr lang="zh-CN" altLang="zh-CN" dirty="0">
                <a:latin typeface="黑体" pitchFamily="2" charset="-122"/>
                <a:ea typeface="黑体" pitchFamily="2" charset="-122"/>
              </a:rPr>
              <a:t>行优先方式存放，其地址为</a:t>
            </a:r>
            <a:r>
              <a:rPr lang="en-US" altLang="zh-CN" dirty="0">
                <a:latin typeface="黑体" pitchFamily="2" charset="-122"/>
                <a:ea typeface="黑体" pitchFamily="2" charset="-122"/>
              </a:rPr>
              <a:t>320</a:t>
            </a:r>
            <a:r>
              <a:rPr lang="zh-CN" altLang="zh-CN" dirty="0">
                <a:latin typeface="黑体" pitchFamily="2" charset="-122"/>
                <a:ea typeface="黑体" pitchFamily="2" charset="-122"/>
              </a:rPr>
              <a:t>（十进制数）</a:t>
            </a:r>
          </a:p>
          <a:p>
            <a:pPr>
              <a:lnSpc>
                <a:spcPct val="120000"/>
              </a:lnSpc>
            </a:pPr>
            <a:r>
              <a:rPr lang="en-US" altLang="zh-CN" dirty="0">
                <a:latin typeface="黑体" pitchFamily="2" charset="-122"/>
                <a:ea typeface="黑体" pitchFamily="2" charset="-122"/>
              </a:rPr>
              <a:t>   </a:t>
            </a:r>
            <a:endParaRPr lang="zh-CN" altLang="zh-CN" dirty="0">
              <a:latin typeface="黑体" pitchFamily="2" charset="-122"/>
              <a:ea typeface="黑体" pitchFamily="2" charset="-122"/>
            </a:endParaRPr>
          </a:p>
          <a:p>
            <a:pPr>
              <a:lnSpc>
                <a:spcPct val="120000"/>
              </a:lnSpc>
            </a:pPr>
            <a:r>
              <a:rPr lang="en-US" altLang="zh-CN" dirty="0">
                <a:latin typeface="黑体" pitchFamily="2" charset="-122"/>
                <a:ea typeface="黑体" pitchFamily="2" charset="-122"/>
              </a:rPr>
              <a:t>   </a:t>
            </a:r>
            <a:r>
              <a:rPr lang="zh-CN" altLang="zh-CN" dirty="0">
                <a:latin typeface="黑体" pitchFamily="2" charset="-122"/>
                <a:ea typeface="黑体" pitchFamily="2" charset="-122"/>
              </a:rPr>
              <a:t>（</a:t>
            </a:r>
            <a:r>
              <a:rPr lang="en-US" altLang="zh-CN" dirty="0" smtClean="0">
                <a:latin typeface="黑体" pitchFamily="2" charset="-122"/>
                <a:ea typeface="黑体" pitchFamily="2" charset="-122"/>
              </a:rPr>
              <a:t>320+31</a:t>
            </a:r>
            <a:r>
              <a:rPr lang="zh-CN" altLang="en-US" dirty="0" smtClean="0">
                <a:latin typeface="黑体" pitchFamily="2" charset="-122"/>
                <a:ea typeface="黑体" pitchFamily="2" charset="-122"/>
              </a:rPr>
              <a:t>*</a:t>
            </a:r>
            <a:r>
              <a:rPr lang="en-US" altLang="zh-CN" dirty="0" smtClean="0">
                <a:latin typeface="黑体" pitchFamily="2" charset="-122"/>
                <a:ea typeface="黑体" pitchFamily="2" charset="-122"/>
              </a:rPr>
              <a:t>4</a:t>
            </a:r>
            <a:r>
              <a:rPr lang="zh-CN" altLang="zh-CN" dirty="0">
                <a:latin typeface="黑体" pitchFamily="2" charset="-122"/>
                <a:ea typeface="黑体" pitchFamily="2" charset="-122"/>
              </a:rPr>
              <a:t>）</a:t>
            </a:r>
            <a:r>
              <a:rPr lang="en-US" altLang="zh-CN" dirty="0">
                <a:latin typeface="黑体" pitchFamily="2" charset="-122"/>
                <a:ea typeface="黑体" pitchFamily="2" charset="-122"/>
              </a:rPr>
              <a:t>/64 = </a:t>
            </a:r>
            <a:r>
              <a:rPr lang="en-US" altLang="zh-CN" dirty="0" smtClean="0">
                <a:latin typeface="黑体" pitchFamily="2" charset="-122"/>
                <a:ea typeface="黑体" pitchFamily="2" charset="-122"/>
              </a:rPr>
              <a:t>6.94</a:t>
            </a:r>
          </a:p>
          <a:p>
            <a:pPr>
              <a:lnSpc>
                <a:spcPct val="120000"/>
              </a:lnSpc>
            </a:pPr>
            <a:r>
              <a:rPr lang="en-US" altLang="zh-CN" dirty="0" smtClean="0">
                <a:latin typeface="黑体" pitchFamily="2" charset="-122"/>
                <a:ea typeface="黑体" pitchFamily="2" charset="-122"/>
              </a:rPr>
              <a:t>   </a:t>
            </a:r>
            <a:r>
              <a:rPr lang="zh-CN" altLang="zh-CN" dirty="0" smtClean="0">
                <a:latin typeface="黑体" pitchFamily="2" charset="-122"/>
                <a:ea typeface="黑体" pitchFamily="2" charset="-122"/>
              </a:rPr>
              <a:t>数组</a:t>
            </a:r>
            <a:r>
              <a:rPr lang="en-US" altLang="zh-CN" dirty="0" smtClean="0">
                <a:latin typeface="黑体" pitchFamily="2" charset="-122"/>
                <a:ea typeface="黑体" pitchFamily="2" charset="-122"/>
              </a:rPr>
              <a:t>A[0</a:t>
            </a:r>
            <a:r>
              <a:rPr lang="en-US" altLang="zh-CN" dirty="0">
                <a:latin typeface="黑体" pitchFamily="2" charset="-122"/>
                <a:ea typeface="黑体" pitchFamily="2" charset="-122"/>
              </a:rPr>
              <a:t>][31]</a:t>
            </a:r>
            <a:r>
              <a:rPr lang="zh-CN" altLang="zh-CN" dirty="0">
                <a:latin typeface="黑体" pitchFamily="2" charset="-122"/>
                <a:ea typeface="黑体" pitchFamily="2" charset="-122"/>
              </a:rPr>
              <a:t>所在主存块对应的块号为</a:t>
            </a:r>
            <a:r>
              <a:rPr lang="en-US" altLang="zh-CN" dirty="0">
                <a:latin typeface="黑体" pitchFamily="2" charset="-122"/>
                <a:ea typeface="黑体" pitchFamily="2" charset="-122"/>
              </a:rPr>
              <a:t>6</a:t>
            </a:r>
            <a:r>
              <a:rPr lang="zh-CN" altLang="zh-CN" dirty="0" smtClean="0">
                <a:latin typeface="黑体" pitchFamily="2" charset="-122"/>
                <a:ea typeface="黑体" pitchFamily="2" charset="-122"/>
              </a:rPr>
              <a:t>，</a:t>
            </a:r>
            <a:r>
              <a:rPr lang="zh-CN" altLang="en-US" dirty="0">
                <a:latin typeface="黑体" pitchFamily="2" charset="-122"/>
                <a:ea typeface="黑体" pitchFamily="2" charset="-122"/>
              </a:rPr>
              <a:t>可以映射到</a:t>
            </a:r>
            <a:r>
              <a:rPr lang="en-US" altLang="zh-CN" dirty="0">
                <a:latin typeface="黑体" pitchFamily="2" charset="-122"/>
                <a:ea typeface="黑体" pitchFamily="2" charset="-122"/>
              </a:rPr>
              <a:t>Cache</a:t>
            </a:r>
            <a:r>
              <a:rPr lang="zh-CN" altLang="en-US" dirty="0">
                <a:latin typeface="黑体" pitchFamily="2" charset="-122"/>
                <a:ea typeface="黑体" pitchFamily="2" charset="-122"/>
              </a:rPr>
              <a:t>的</a:t>
            </a:r>
            <a:r>
              <a:rPr lang="zh-CN" altLang="en-US" dirty="0" smtClean="0">
                <a:latin typeface="黑体" pitchFamily="2" charset="-122"/>
                <a:ea typeface="黑体" pitchFamily="2" charset="-122"/>
              </a:rPr>
              <a:t>第</a:t>
            </a:r>
            <a:r>
              <a:rPr lang="en-US" altLang="zh-CN" dirty="0" smtClean="0">
                <a:latin typeface="黑体" pitchFamily="2" charset="-122"/>
                <a:ea typeface="黑体" pitchFamily="2" charset="-122"/>
              </a:rPr>
              <a:t>6</a:t>
            </a:r>
            <a:r>
              <a:rPr lang="zh-CN" altLang="zh-CN" dirty="0" smtClean="0">
                <a:latin typeface="黑体" pitchFamily="2" charset="-122"/>
                <a:ea typeface="黑体" pitchFamily="2" charset="-122"/>
              </a:rPr>
              <a:t>行</a:t>
            </a:r>
            <a:r>
              <a:rPr lang="en-US" altLang="zh-CN" dirty="0" smtClean="0">
                <a:latin typeface="黑体" pitchFamily="2" charset="-122"/>
                <a:ea typeface="黑体" pitchFamily="2" charset="-122"/>
              </a:rPr>
              <a:t>;</a:t>
            </a:r>
            <a:endParaRPr lang="zh-CN" altLang="zh-CN" dirty="0">
              <a:latin typeface="黑体" pitchFamily="2" charset="-122"/>
              <a:ea typeface="黑体" pitchFamily="2" charset="-122"/>
            </a:endParaRPr>
          </a:p>
          <a:p>
            <a:pPr>
              <a:lnSpc>
                <a:spcPct val="120000"/>
              </a:lnSpc>
            </a:pPr>
            <a:r>
              <a:rPr lang="en-US" altLang="zh-CN" dirty="0">
                <a:latin typeface="黑体" pitchFamily="2" charset="-122"/>
                <a:ea typeface="黑体" pitchFamily="2" charset="-122"/>
              </a:rPr>
              <a:t>   (</a:t>
            </a:r>
            <a:r>
              <a:rPr lang="en-US" altLang="zh-CN" dirty="0" smtClean="0">
                <a:latin typeface="黑体" pitchFamily="2" charset="-122"/>
                <a:ea typeface="黑体" pitchFamily="2" charset="-122"/>
              </a:rPr>
              <a:t>320+256</a:t>
            </a:r>
            <a:r>
              <a:rPr lang="zh-CN" altLang="en-US" dirty="0" smtClean="0">
                <a:latin typeface="黑体" pitchFamily="2" charset="-122"/>
                <a:ea typeface="黑体" pitchFamily="2" charset="-122"/>
              </a:rPr>
              <a:t>*</a:t>
            </a:r>
            <a:r>
              <a:rPr lang="en-US" altLang="zh-CN" dirty="0" smtClean="0">
                <a:latin typeface="黑体" pitchFamily="2" charset="-122"/>
                <a:ea typeface="黑体" pitchFamily="2" charset="-122"/>
              </a:rPr>
              <a:t>4+1</a:t>
            </a:r>
            <a:r>
              <a:rPr lang="zh-CN" altLang="en-US" dirty="0" smtClean="0">
                <a:latin typeface="黑体" pitchFamily="2" charset="-122"/>
                <a:ea typeface="黑体" pitchFamily="2" charset="-122"/>
              </a:rPr>
              <a:t>*</a:t>
            </a:r>
            <a:r>
              <a:rPr lang="en-US" altLang="zh-CN" dirty="0" smtClean="0">
                <a:latin typeface="黑体" pitchFamily="2" charset="-122"/>
                <a:ea typeface="黑体" pitchFamily="2" charset="-122"/>
              </a:rPr>
              <a:t>4</a:t>
            </a:r>
            <a:r>
              <a:rPr lang="en-US" altLang="zh-CN" dirty="0">
                <a:latin typeface="黑体" pitchFamily="2" charset="-122"/>
                <a:ea typeface="黑体" pitchFamily="2" charset="-122"/>
              </a:rPr>
              <a:t>)/64=21.06</a:t>
            </a:r>
            <a:endParaRPr lang="zh-CN" altLang="zh-CN" dirty="0">
              <a:latin typeface="黑体" pitchFamily="2" charset="-122"/>
              <a:ea typeface="黑体" pitchFamily="2" charset="-122"/>
            </a:endParaRPr>
          </a:p>
          <a:p>
            <a:pPr>
              <a:lnSpc>
                <a:spcPct val="120000"/>
              </a:lnSpc>
            </a:pPr>
            <a:r>
              <a:rPr lang="en-US" altLang="zh-CN" dirty="0">
                <a:latin typeface="黑体" pitchFamily="2" charset="-122"/>
                <a:ea typeface="黑体" pitchFamily="2" charset="-122"/>
              </a:rPr>
              <a:t>    21 mod 8 = 5 </a:t>
            </a:r>
            <a:endParaRPr lang="zh-CN" altLang="zh-CN" dirty="0">
              <a:latin typeface="黑体" pitchFamily="2" charset="-122"/>
              <a:ea typeface="黑体" pitchFamily="2" charset="-122"/>
            </a:endParaRPr>
          </a:p>
          <a:p>
            <a:pPr>
              <a:lnSpc>
                <a:spcPct val="120000"/>
              </a:lnSpc>
            </a:pPr>
            <a:r>
              <a:rPr lang="en-US" altLang="zh-CN" dirty="0">
                <a:latin typeface="黑体" pitchFamily="2" charset="-122"/>
                <a:ea typeface="黑体" pitchFamily="2" charset="-122"/>
              </a:rPr>
              <a:t>    </a:t>
            </a:r>
            <a:r>
              <a:rPr lang="zh-CN" altLang="zh-CN" dirty="0" smtClean="0">
                <a:latin typeface="黑体" pitchFamily="2" charset="-122"/>
                <a:ea typeface="黑体" pitchFamily="2" charset="-122"/>
              </a:rPr>
              <a:t>数组</a:t>
            </a:r>
            <a:r>
              <a:rPr lang="en-US" altLang="zh-CN" dirty="0" smtClean="0">
                <a:latin typeface="黑体" pitchFamily="2" charset="-122"/>
                <a:ea typeface="黑体" pitchFamily="2" charset="-122"/>
              </a:rPr>
              <a:t>A[1</a:t>
            </a:r>
            <a:r>
              <a:rPr lang="en-US" altLang="zh-CN" dirty="0">
                <a:latin typeface="黑体" pitchFamily="2" charset="-122"/>
                <a:ea typeface="黑体" pitchFamily="2" charset="-122"/>
              </a:rPr>
              <a:t>][1]</a:t>
            </a:r>
            <a:r>
              <a:rPr lang="zh-CN" altLang="zh-CN" dirty="0">
                <a:latin typeface="黑体" pitchFamily="2" charset="-122"/>
                <a:ea typeface="黑体" pitchFamily="2" charset="-122"/>
              </a:rPr>
              <a:t>所在主存块对应的块号为</a:t>
            </a:r>
            <a:r>
              <a:rPr lang="en-US" altLang="zh-CN" dirty="0">
                <a:latin typeface="黑体" pitchFamily="2" charset="-122"/>
                <a:ea typeface="黑体" pitchFamily="2" charset="-122"/>
              </a:rPr>
              <a:t>21</a:t>
            </a:r>
            <a:r>
              <a:rPr lang="zh-CN" altLang="zh-CN" dirty="0" smtClean="0">
                <a:latin typeface="黑体" pitchFamily="2" charset="-122"/>
                <a:ea typeface="黑体" pitchFamily="2" charset="-122"/>
              </a:rPr>
              <a:t>，</a:t>
            </a:r>
            <a:r>
              <a:rPr lang="zh-CN" altLang="en-US" dirty="0">
                <a:latin typeface="黑体" pitchFamily="2" charset="-122"/>
                <a:ea typeface="黑体" pitchFamily="2" charset="-122"/>
              </a:rPr>
              <a:t>可以映射到</a:t>
            </a:r>
            <a:r>
              <a:rPr lang="en-US" altLang="zh-CN" dirty="0">
                <a:latin typeface="黑体" pitchFamily="2" charset="-122"/>
                <a:ea typeface="黑体" pitchFamily="2" charset="-122"/>
              </a:rPr>
              <a:t>Cache</a:t>
            </a:r>
            <a:r>
              <a:rPr lang="zh-CN" altLang="en-US" dirty="0">
                <a:latin typeface="黑体" pitchFamily="2" charset="-122"/>
                <a:ea typeface="黑体" pitchFamily="2" charset="-122"/>
              </a:rPr>
              <a:t>的</a:t>
            </a:r>
            <a:r>
              <a:rPr lang="zh-CN" altLang="en-US" dirty="0" smtClean="0">
                <a:latin typeface="黑体" pitchFamily="2" charset="-122"/>
                <a:ea typeface="黑体" pitchFamily="2" charset="-122"/>
              </a:rPr>
              <a:t>第</a:t>
            </a:r>
            <a:r>
              <a:rPr lang="en-US" altLang="zh-CN" dirty="0" smtClean="0">
                <a:latin typeface="黑体" pitchFamily="2" charset="-122"/>
                <a:ea typeface="黑体" pitchFamily="2" charset="-122"/>
              </a:rPr>
              <a:t>5</a:t>
            </a:r>
            <a:r>
              <a:rPr lang="zh-CN" altLang="zh-CN" dirty="0" smtClean="0">
                <a:latin typeface="黑体" pitchFamily="2" charset="-122"/>
                <a:ea typeface="黑体" pitchFamily="2" charset="-122"/>
              </a:rPr>
              <a:t>行。</a:t>
            </a:r>
            <a:endParaRPr lang="zh-CN" altLang="zh-CN" dirty="0">
              <a:latin typeface="黑体" pitchFamily="2" charset="-122"/>
              <a:ea typeface="黑体" pitchFamily="2" charset="-122"/>
            </a:endParaRPr>
          </a:p>
        </p:txBody>
      </p:sp>
    </p:spTree>
    <p:extLst>
      <p:ext uri="{BB962C8B-B14F-4D97-AF65-F5344CB8AC3E}">
        <p14:creationId xmlns:p14="http://schemas.microsoft.com/office/powerpoint/2010/main" val="41194576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2389E59-C5A6-44E3-A52F-17267A6A2DAA}" type="slidenum">
              <a:rPr lang="en-US" altLang="zh-CN" smtClean="0"/>
              <a:pPr>
                <a:defRPr/>
              </a:pPr>
              <a:t>86</a:t>
            </a:fld>
            <a:endParaRPr lang="en-US" altLang="zh-CN"/>
          </a:p>
        </p:txBody>
      </p:sp>
      <p:sp>
        <p:nvSpPr>
          <p:cNvPr id="3" name="矩形 2"/>
          <p:cNvSpPr/>
          <p:nvPr/>
        </p:nvSpPr>
        <p:spPr>
          <a:xfrm>
            <a:off x="153988" y="188640"/>
            <a:ext cx="8785225" cy="1667764"/>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lnSpc>
                <a:spcPct val="150000"/>
              </a:lnSpc>
            </a:pPr>
            <a:r>
              <a:rPr lang="zh-CN" altLang="zh-CN" sz="2400" dirty="0" smtClean="0">
                <a:latin typeface="黑体" pitchFamily="2" charset="-122"/>
                <a:ea typeface="黑体" pitchFamily="2" charset="-122"/>
              </a:rPr>
              <a:t>（</a:t>
            </a:r>
            <a:r>
              <a:rPr lang="en-US" altLang="zh-CN" sz="2400" dirty="0" smtClean="0">
                <a:latin typeface="黑体" pitchFamily="2" charset="-122"/>
                <a:ea typeface="黑体" pitchFamily="2" charset="-122"/>
              </a:rPr>
              <a:t>2</a:t>
            </a:r>
            <a:r>
              <a:rPr lang="zh-CN" altLang="zh-CN" sz="2400" dirty="0" smtClean="0">
                <a:latin typeface="黑体" pitchFamily="2" charset="-122"/>
                <a:ea typeface="黑体" pitchFamily="2" charset="-122"/>
              </a:rPr>
              <a:t>）</a:t>
            </a:r>
            <a:r>
              <a:rPr lang="zh-CN" altLang="zh-CN" sz="2400" dirty="0">
                <a:latin typeface="黑体" pitchFamily="2" charset="-122"/>
                <a:ea typeface="黑体" pitchFamily="2" charset="-122"/>
              </a:rPr>
              <a:t>编译时</a:t>
            </a:r>
            <a:r>
              <a:rPr lang="en-US" altLang="zh-CN" sz="2400" dirty="0" err="1">
                <a:latin typeface="黑体" pitchFamily="2" charset="-122"/>
                <a:ea typeface="黑体" pitchFamily="2" charset="-122"/>
              </a:rPr>
              <a:t>i,j,sum</a:t>
            </a:r>
            <a:r>
              <a:rPr lang="zh-CN" altLang="zh-CN" sz="2400" dirty="0">
                <a:latin typeface="黑体" pitchFamily="2" charset="-122"/>
                <a:ea typeface="黑体" pitchFamily="2" charset="-122"/>
              </a:rPr>
              <a:t>均分配在寄存器中，故数据访问命中率仅考虑</a:t>
            </a:r>
            <a:r>
              <a:rPr lang="zh-CN" altLang="zh-CN" sz="2400" dirty="0" smtClean="0">
                <a:latin typeface="黑体" pitchFamily="2" charset="-122"/>
                <a:ea typeface="黑体" pitchFamily="2" charset="-122"/>
              </a:rPr>
              <a:t>数组</a:t>
            </a:r>
            <a:r>
              <a:rPr lang="en-US" altLang="zh-CN" sz="2400" dirty="0" smtClean="0">
                <a:latin typeface="黑体" pitchFamily="2" charset="-122"/>
                <a:ea typeface="黑体" pitchFamily="2" charset="-122"/>
              </a:rPr>
              <a:t>A</a:t>
            </a:r>
            <a:r>
              <a:rPr lang="zh-CN" altLang="zh-CN" sz="2400" dirty="0" smtClean="0">
                <a:latin typeface="黑体" pitchFamily="2" charset="-122"/>
                <a:ea typeface="黑体" pitchFamily="2" charset="-122"/>
              </a:rPr>
              <a:t>的</a:t>
            </a:r>
            <a:r>
              <a:rPr lang="zh-CN" altLang="zh-CN" sz="2400" dirty="0">
                <a:latin typeface="黑体" pitchFamily="2" charset="-122"/>
                <a:ea typeface="黑体" pitchFamily="2" charset="-122"/>
              </a:rPr>
              <a:t>情况</a:t>
            </a:r>
            <a:r>
              <a:rPr lang="zh-CN" altLang="zh-CN" sz="2400" dirty="0" smtClean="0">
                <a:latin typeface="黑体" pitchFamily="2" charset="-122"/>
                <a:ea typeface="黑体" pitchFamily="2" charset="-122"/>
              </a:rPr>
              <a:t>。按照</a:t>
            </a:r>
            <a:r>
              <a:rPr lang="zh-CN" altLang="zh-CN" sz="2400" dirty="0">
                <a:latin typeface="黑体" pitchFamily="2" charset="-122"/>
                <a:ea typeface="黑体" pitchFamily="2" charset="-122"/>
              </a:rPr>
              <a:t>数组行执行外层循环，在内层循环过程中，将连续访问同行不同列的</a:t>
            </a:r>
            <a:r>
              <a:rPr lang="zh-CN" altLang="zh-CN" sz="2400" dirty="0" smtClean="0">
                <a:latin typeface="黑体" pitchFamily="2" charset="-122"/>
                <a:ea typeface="黑体" pitchFamily="2" charset="-122"/>
              </a:rPr>
              <a:t>数据</a:t>
            </a:r>
            <a:r>
              <a:rPr lang="zh-CN" altLang="en-US" sz="2400" dirty="0" smtClean="0">
                <a:latin typeface="黑体" pitchFamily="2" charset="-122"/>
                <a:ea typeface="黑体" pitchFamily="2" charset="-122"/>
              </a:rPr>
              <a:t>。</a:t>
            </a:r>
            <a:endParaRPr lang="zh-CN" altLang="zh-CN" sz="2400" dirty="0">
              <a:latin typeface="黑体" pitchFamily="2" charset="-122"/>
              <a:ea typeface="黑体" pitchFamily="2" charset="-122"/>
            </a:endParaRP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22" y="1946805"/>
            <a:ext cx="8629650" cy="468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p:nvSpPr>
        <p:spPr>
          <a:xfrm>
            <a:off x="156578" y="105746"/>
            <a:ext cx="8785225" cy="2123658"/>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r>
              <a:rPr lang="zh-CN" altLang="zh-CN" sz="2400" dirty="0" smtClean="0">
                <a:latin typeface="黑体" pitchFamily="2" charset="-122"/>
                <a:ea typeface="黑体" pitchFamily="2" charset="-122"/>
              </a:rPr>
              <a:t>数组</a:t>
            </a:r>
            <a:r>
              <a:rPr lang="en-US" altLang="zh-CN" sz="2400" dirty="0" smtClean="0">
                <a:latin typeface="黑体" pitchFamily="2" charset="-122"/>
                <a:ea typeface="黑体" pitchFamily="2" charset="-122"/>
              </a:rPr>
              <a:t>A</a:t>
            </a:r>
            <a:r>
              <a:rPr lang="zh-CN" altLang="zh-CN" sz="2400" dirty="0" smtClean="0">
                <a:latin typeface="黑体" pitchFamily="2" charset="-122"/>
                <a:ea typeface="黑体" pitchFamily="2" charset="-122"/>
              </a:rPr>
              <a:t>按</a:t>
            </a:r>
            <a:r>
              <a:rPr lang="zh-CN" altLang="zh-CN" sz="2400" dirty="0">
                <a:latin typeface="黑体" pitchFamily="2" charset="-122"/>
                <a:ea typeface="黑体" pitchFamily="2" charset="-122"/>
              </a:rPr>
              <a:t>行优先存放</a:t>
            </a:r>
            <a:r>
              <a:rPr lang="zh-CN" altLang="zh-CN" sz="2400" dirty="0" smtClean="0">
                <a:latin typeface="黑体" pitchFamily="2" charset="-122"/>
                <a:ea typeface="黑体" pitchFamily="2" charset="-122"/>
              </a:rPr>
              <a:t>，</a:t>
            </a:r>
            <a:r>
              <a:rPr lang="zh-CN" altLang="zh-CN" sz="2400" dirty="0">
                <a:latin typeface="黑体" pitchFamily="2" charset="-122"/>
                <a:ea typeface="黑体" pitchFamily="2" charset="-122"/>
              </a:rPr>
              <a:t> </a:t>
            </a:r>
            <a:r>
              <a:rPr lang="en-US" altLang="zh-CN" sz="2400" dirty="0">
                <a:latin typeface="黑体" pitchFamily="2" charset="-122"/>
                <a:ea typeface="黑体" pitchFamily="2" charset="-122"/>
              </a:rPr>
              <a:t>Cache</a:t>
            </a:r>
            <a:r>
              <a:rPr lang="zh-CN" altLang="zh-CN" sz="2400" dirty="0">
                <a:latin typeface="黑体" pitchFamily="2" charset="-122"/>
                <a:ea typeface="黑体" pitchFamily="2" charset="-122"/>
              </a:rPr>
              <a:t>每行</a:t>
            </a:r>
            <a:r>
              <a:rPr lang="en-US" altLang="zh-CN" sz="2400" dirty="0">
                <a:latin typeface="黑体" pitchFamily="2" charset="-122"/>
                <a:ea typeface="黑体" pitchFamily="2" charset="-122"/>
              </a:rPr>
              <a:t>64B</a:t>
            </a:r>
            <a:r>
              <a:rPr lang="zh-CN" altLang="zh-CN" sz="2400" dirty="0">
                <a:latin typeface="黑体" pitchFamily="2" charset="-122"/>
                <a:ea typeface="黑体" pitchFamily="2" charset="-122"/>
              </a:rPr>
              <a:t>，即</a:t>
            </a:r>
            <a:r>
              <a:rPr lang="en-US" altLang="zh-CN" sz="2400" dirty="0">
                <a:latin typeface="黑体" pitchFamily="2" charset="-122"/>
                <a:ea typeface="黑体" pitchFamily="2" charset="-122"/>
              </a:rPr>
              <a:t>16</a:t>
            </a:r>
            <a:r>
              <a:rPr lang="zh-CN" altLang="zh-CN" sz="2400" dirty="0">
                <a:latin typeface="黑体" pitchFamily="2" charset="-122"/>
                <a:ea typeface="黑体" pitchFamily="2" charset="-122"/>
              </a:rPr>
              <a:t>个</a:t>
            </a:r>
            <a:r>
              <a:rPr lang="en-US" altLang="zh-CN" sz="2400" dirty="0" err="1">
                <a:latin typeface="黑体" pitchFamily="2" charset="-122"/>
                <a:ea typeface="黑体" pitchFamily="2" charset="-122"/>
              </a:rPr>
              <a:t>int</a:t>
            </a:r>
            <a:r>
              <a:rPr lang="zh-CN" altLang="zh-CN" sz="2400" dirty="0">
                <a:latin typeface="黑体" pitchFamily="2" charset="-122"/>
                <a:ea typeface="黑体" pitchFamily="2" charset="-122"/>
              </a:rPr>
              <a:t>类型的数据字，数组</a:t>
            </a:r>
            <a:r>
              <a:rPr lang="en-US" altLang="zh-CN" sz="2400" dirty="0">
                <a:latin typeface="黑体" pitchFamily="2" charset="-122"/>
                <a:ea typeface="黑体" pitchFamily="2" charset="-122"/>
              </a:rPr>
              <a:t>A</a:t>
            </a:r>
            <a:r>
              <a:rPr lang="zh-CN" altLang="zh-CN" sz="2400" dirty="0">
                <a:latin typeface="黑体" pitchFamily="2" charset="-122"/>
                <a:ea typeface="黑体" pitchFamily="2" charset="-122"/>
              </a:rPr>
              <a:t>中每行</a:t>
            </a:r>
            <a:r>
              <a:rPr lang="en-US" altLang="zh-CN" sz="2400" dirty="0">
                <a:latin typeface="黑体" pitchFamily="2" charset="-122"/>
                <a:ea typeface="黑体" pitchFamily="2" charset="-122"/>
              </a:rPr>
              <a:t>256</a:t>
            </a:r>
            <a:r>
              <a:rPr lang="zh-CN" altLang="zh-CN" sz="2400" dirty="0">
                <a:latin typeface="黑体" pitchFamily="2" charset="-122"/>
                <a:ea typeface="黑体" pitchFamily="2" charset="-122"/>
              </a:rPr>
              <a:t>个字，占主存中</a:t>
            </a:r>
            <a:r>
              <a:rPr lang="en-US" altLang="zh-CN" sz="2400" dirty="0">
                <a:latin typeface="黑体" pitchFamily="2" charset="-122"/>
                <a:ea typeface="黑体" pitchFamily="2" charset="-122"/>
              </a:rPr>
              <a:t>256/16=16</a:t>
            </a:r>
            <a:r>
              <a:rPr lang="zh-CN" altLang="zh-CN" sz="2400" dirty="0">
                <a:latin typeface="黑体" pitchFamily="2" charset="-122"/>
                <a:ea typeface="黑体" pitchFamily="2" charset="-122"/>
              </a:rPr>
              <a:t>个主存块，访问时每个字块</a:t>
            </a:r>
            <a:r>
              <a:rPr lang="zh-CN" altLang="zh-CN" sz="2400" dirty="0" smtClean="0">
                <a:latin typeface="黑体" pitchFamily="2" charset="-122"/>
                <a:ea typeface="黑体" pitchFamily="2" charset="-122"/>
              </a:rPr>
              <a:t>中</a:t>
            </a:r>
            <a:r>
              <a:rPr lang="zh-CN" altLang="en-US" sz="2400" dirty="0" smtClean="0">
                <a:latin typeface="黑体" pitchFamily="2" charset="-122"/>
                <a:ea typeface="黑体" pitchFamily="2" charset="-122"/>
              </a:rPr>
              <a:t>第</a:t>
            </a:r>
            <a:r>
              <a:rPr lang="zh-CN" altLang="zh-CN" sz="2400" dirty="0" smtClean="0">
                <a:latin typeface="黑体" pitchFamily="2" charset="-122"/>
                <a:ea typeface="黑体" pitchFamily="2" charset="-122"/>
              </a:rPr>
              <a:t>一</a:t>
            </a:r>
            <a:r>
              <a:rPr lang="zh-CN" altLang="zh-CN" sz="2400" dirty="0">
                <a:latin typeface="黑体" pitchFamily="2" charset="-122"/>
                <a:ea typeface="黑体" pitchFamily="2" charset="-122"/>
              </a:rPr>
              <a:t>个字不会命中，但接下来的</a:t>
            </a:r>
            <a:r>
              <a:rPr lang="en-US" altLang="zh-CN" sz="2400" dirty="0">
                <a:latin typeface="黑体" pitchFamily="2" charset="-122"/>
                <a:ea typeface="黑体" pitchFamily="2" charset="-122"/>
              </a:rPr>
              <a:t>15</a:t>
            </a:r>
            <a:r>
              <a:rPr lang="zh-CN" altLang="zh-CN" sz="2400" dirty="0">
                <a:latin typeface="黑体" pitchFamily="2" charset="-122"/>
                <a:ea typeface="黑体" pitchFamily="2" charset="-122"/>
              </a:rPr>
              <a:t>个字都会命中，访问全部字块都符合这一规律，命中率是</a:t>
            </a:r>
            <a:r>
              <a:rPr lang="en-US" altLang="zh-CN" sz="2400" dirty="0" smtClean="0">
                <a:latin typeface="黑体" pitchFamily="2" charset="-122"/>
                <a:ea typeface="黑体" pitchFamily="2" charset="-122"/>
              </a:rPr>
              <a:t>15/16</a:t>
            </a:r>
            <a:r>
              <a:rPr lang="zh-CN" altLang="en-US"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a:lnSpc>
                <a:spcPct val="150000"/>
              </a:lnSpc>
            </a:pPr>
            <a:r>
              <a:rPr lang="en-US" altLang="zh-CN" sz="2400" dirty="0" smtClean="0">
                <a:latin typeface="黑体" pitchFamily="2" charset="-122"/>
                <a:ea typeface="黑体" pitchFamily="2" charset="-122"/>
              </a:rPr>
              <a:t>    </a:t>
            </a:r>
            <a:r>
              <a:rPr lang="zh-CN" altLang="zh-CN" sz="2400" dirty="0" smtClean="0">
                <a:latin typeface="黑体" pitchFamily="2" charset="-122"/>
                <a:ea typeface="黑体" pitchFamily="2" charset="-122"/>
              </a:rPr>
              <a:t>即</a:t>
            </a:r>
            <a:r>
              <a:rPr lang="zh-CN" altLang="zh-CN" sz="2400" dirty="0">
                <a:latin typeface="黑体" pitchFamily="2" charset="-122"/>
                <a:ea typeface="黑体" pitchFamily="2" charset="-122"/>
              </a:rPr>
              <a:t>程序数据访问命中率为</a:t>
            </a:r>
            <a:r>
              <a:rPr lang="en-US" altLang="zh-CN" sz="2400" dirty="0">
                <a:latin typeface="黑体" pitchFamily="2" charset="-122"/>
                <a:ea typeface="黑体" pitchFamily="2" charset="-122"/>
              </a:rPr>
              <a:t>93.75%</a:t>
            </a:r>
            <a:r>
              <a:rPr lang="zh-CN" altLang="zh-CN" sz="2400" dirty="0">
                <a:latin typeface="黑体" pitchFamily="2" charset="-122"/>
                <a:ea typeface="黑体" pitchFamily="2" charset="-122"/>
              </a:rPr>
              <a:t>；</a:t>
            </a:r>
          </a:p>
        </p:txBody>
      </p:sp>
    </p:spTree>
    <p:extLst>
      <p:ext uri="{BB962C8B-B14F-4D97-AF65-F5344CB8AC3E}">
        <p14:creationId xmlns:p14="http://schemas.microsoft.com/office/powerpoint/2010/main" val="12555880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2DF35FA-B6E9-4021-9010-E25C1CAED6B2}" type="slidenum">
              <a:rPr lang="en-US" altLang="zh-CN" smtClean="0"/>
              <a:pPr>
                <a:defRPr/>
              </a:pPr>
              <a:t>87</a:t>
            </a:fld>
            <a:endParaRPr lang="en-US" altLang="zh-CN"/>
          </a:p>
        </p:txBody>
      </p:sp>
      <p:sp>
        <p:nvSpPr>
          <p:cNvPr id="5" name="矩形 4"/>
          <p:cNvSpPr/>
          <p:nvPr/>
        </p:nvSpPr>
        <p:spPr>
          <a:xfrm>
            <a:off x="153988" y="63854"/>
            <a:ext cx="8785225" cy="6743384"/>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lvl="2">
              <a:lnSpc>
                <a:spcPct val="120000"/>
              </a:lnSpc>
              <a:spcAft>
                <a:spcPts val="0"/>
              </a:spcAft>
              <a:defRPr/>
            </a:pPr>
            <a:r>
              <a:rPr lang="zh-CN" altLang="zh-CN" sz="2400" dirty="0" smtClean="0">
                <a:solidFill>
                  <a:schemeClr val="tx1"/>
                </a:solidFill>
                <a:latin typeface="微软雅黑" pitchFamily="34" charset="-122"/>
                <a:ea typeface="微软雅黑" pitchFamily="34" charset="-122"/>
              </a:rPr>
              <a:t>某计算机的主存地址空间为</a:t>
            </a:r>
            <a:r>
              <a:rPr lang="en-US" altLang="zh-CN" sz="2400" dirty="0" smtClean="0">
                <a:solidFill>
                  <a:schemeClr val="tx1"/>
                </a:solidFill>
                <a:latin typeface="微软雅黑" pitchFamily="34" charset="-122"/>
                <a:ea typeface="微软雅黑" pitchFamily="34" charset="-122"/>
              </a:rPr>
              <a:t>256MB</a:t>
            </a:r>
            <a:r>
              <a:rPr lang="zh-CN" altLang="zh-CN" sz="2400" dirty="0" smtClean="0">
                <a:solidFill>
                  <a:schemeClr val="tx1"/>
                </a:solidFill>
                <a:latin typeface="微软雅黑" pitchFamily="34" charset="-122"/>
                <a:ea typeface="微软雅黑" pitchFamily="34" charset="-122"/>
              </a:rPr>
              <a:t>，按字节编址</a:t>
            </a:r>
            <a:r>
              <a:rPr lang="zh-CN" altLang="zh-CN" sz="2400" dirty="0">
                <a:solidFill>
                  <a:schemeClr val="tx1"/>
                </a:solidFill>
                <a:latin typeface="微软雅黑" pitchFamily="34" charset="-122"/>
                <a:ea typeface="微软雅黑" pitchFamily="34" charset="-122"/>
              </a:rPr>
              <a:t>，指令</a:t>
            </a:r>
            <a:r>
              <a:rPr lang="en-US" altLang="zh-CN" sz="2400" dirty="0">
                <a:solidFill>
                  <a:schemeClr val="tx1"/>
                </a:solidFill>
                <a:latin typeface="微软雅黑" pitchFamily="34" charset="-122"/>
                <a:ea typeface="微软雅黑" pitchFamily="34" charset="-122"/>
              </a:rPr>
              <a:t>Cache</a:t>
            </a:r>
            <a:r>
              <a:rPr lang="zh-CN" altLang="zh-CN" sz="2400" dirty="0">
                <a:solidFill>
                  <a:schemeClr val="tx1"/>
                </a:solidFill>
                <a:latin typeface="微软雅黑" pitchFamily="34" charset="-122"/>
                <a:ea typeface="微软雅黑" pitchFamily="34" charset="-122"/>
              </a:rPr>
              <a:t>和数据</a:t>
            </a:r>
            <a:r>
              <a:rPr lang="en-US" altLang="zh-CN" sz="2400" dirty="0">
                <a:solidFill>
                  <a:schemeClr val="tx1"/>
                </a:solidFill>
                <a:latin typeface="微软雅黑" pitchFamily="34" charset="-122"/>
                <a:ea typeface="微软雅黑" pitchFamily="34" charset="-122"/>
              </a:rPr>
              <a:t>Cache</a:t>
            </a:r>
            <a:r>
              <a:rPr lang="zh-CN" altLang="zh-CN" sz="2400" dirty="0">
                <a:solidFill>
                  <a:schemeClr val="tx1"/>
                </a:solidFill>
                <a:latin typeface="微软雅黑" pitchFamily="34" charset="-122"/>
                <a:ea typeface="微软雅黑" pitchFamily="34" charset="-122"/>
              </a:rPr>
              <a:t>分离，数据</a:t>
            </a:r>
            <a:r>
              <a:rPr lang="en-US" altLang="zh-CN" sz="2400" dirty="0">
                <a:solidFill>
                  <a:schemeClr val="tx1"/>
                </a:solidFill>
                <a:latin typeface="微软雅黑" pitchFamily="34" charset="-122"/>
                <a:ea typeface="微软雅黑" pitchFamily="34" charset="-122"/>
              </a:rPr>
              <a:t>Cache</a:t>
            </a:r>
            <a:r>
              <a:rPr lang="zh-CN" altLang="zh-CN" sz="2400" dirty="0">
                <a:solidFill>
                  <a:schemeClr val="tx1"/>
                </a:solidFill>
                <a:latin typeface="微软雅黑" pitchFamily="34" charset="-122"/>
                <a:ea typeface="微软雅黑" pitchFamily="34" charset="-122"/>
              </a:rPr>
              <a:t>采用直接映射方式，为</a:t>
            </a:r>
            <a:r>
              <a:rPr lang="en-US" altLang="zh-CN" sz="2400" dirty="0">
                <a:solidFill>
                  <a:schemeClr val="tx1"/>
                </a:solidFill>
                <a:latin typeface="微软雅黑" pitchFamily="34" charset="-122"/>
                <a:ea typeface="微软雅黑" pitchFamily="34" charset="-122"/>
              </a:rPr>
              <a:t>8</a:t>
            </a:r>
            <a:r>
              <a:rPr lang="zh-CN" altLang="zh-CN" sz="2400" dirty="0">
                <a:solidFill>
                  <a:schemeClr val="tx1"/>
                </a:solidFill>
                <a:latin typeface="微软雅黑" pitchFamily="34" charset="-122"/>
                <a:ea typeface="微软雅黑" pitchFamily="34" charset="-122"/>
              </a:rPr>
              <a:t>个</a:t>
            </a:r>
            <a:r>
              <a:rPr lang="en-US" altLang="zh-CN" sz="2400" dirty="0">
                <a:solidFill>
                  <a:schemeClr val="tx1"/>
                </a:solidFill>
                <a:latin typeface="微软雅黑" pitchFamily="34" charset="-122"/>
                <a:ea typeface="微软雅黑" pitchFamily="34" charset="-122"/>
              </a:rPr>
              <a:t>Cache</a:t>
            </a:r>
            <a:r>
              <a:rPr lang="zh-CN" altLang="zh-CN" sz="2400" dirty="0">
                <a:solidFill>
                  <a:schemeClr val="tx1"/>
                </a:solidFill>
                <a:latin typeface="微软雅黑" pitchFamily="34" charset="-122"/>
                <a:ea typeface="微软雅黑" pitchFamily="34" charset="-122"/>
              </a:rPr>
              <a:t>行，</a:t>
            </a:r>
            <a:r>
              <a:rPr lang="en-US" altLang="zh-CN" sz="2400" dirty="0">
                <a:solidFill>
                  <a:schemeClr val="tx1"/>
                </a:solidFill>
                <a:latin typeface="微软雅黑" pitchFamily="34" charset="-122"/>
                <a:ea typeface="微软雅黑" pitchFamily="34" charset="-122"/>
              </a:rPr>
              <a:t>Cache</a:t>
            </a:r>
            <a:r>
              <a:rPr lang="zh-CN" altLang="zh-CN" sz="2400" dirty="0">
                <a:solidFill>
                  <a:schemeClr val="tx1"/>
                </a:solidFill>
                <a:latin typeface="微软雅黑" pitchFamily="34" charset="-122"/>
                <a:ea typeface="微软雅黑" pitchFamily="34" charset="-122"/>
              </a:rPr>
              <a:t>行号从</a:t>
            </a:r>
            <a:r>
              <a:rPr lang="en-US" altLang="zh-CN" sz="2400" dirty="0" smtClean="0">
                <a:solidFill>
                  <a:schemeClr val="tx1"/>
                </a:solidFill>
                <a:latin typeface="微软雅黑" pitchFamily="34" charset="-122"/>
                <a:ea typeface="微软雅黑" pitchFamily="34" charset="-122"/>
              </a:rPr>
              <a:t>0</a:t>
            </a:r>
            <a:r>
              <a:rPr lang="zh-CN" altLang="zh-CN" sz="2400" dirty="0" smtClean="0">
                <a:solidFill>
                  <a:schemeClr val="tx1"/>
                </a:solidFill>
                <a:latin typeface="微软雅黑" pitchFamily="34" charset="-122"/>
                <a:ea typeface="微软雅黑" pitchFamily="34" charset="-122"/>
              </a:rPr>
              <a:t>开始</a:t>
            </a:r>
            <a:r>
              <a:rPr lang="zh-CN" altLang="zh-CN" sz="2400" dirty="0">
                <a:solidFill>
                  <a:schemeClr val="tx1"/>
                </a:solidFill>
                <a:latin typeface="微软雅黑" pitchFamily="34" charset="-122"/>
                <a:ea typeface="微软雅黑" pitchFamily="34" charset="-122"/>
              </a:rPr>
              <a:t>，每个</a:t>
            </a:r>
            <a:r>
              <a:rPr lang="en-US" altLang="zh-CN" sz="2400" dirty="0">
                <a:solidFill>
                  <a:schemeClr val="tx1"/>
                </a:solidFill>
                <a:latin typeface="微软雅黑" pitchFamily="34" charset="-122"/>
                <a:ea typeface="微软雅黑" pitchFamily="34" charset="-122"/>
              </a:rPr>
              <a:t>Cache</a:t>
            </a:r>
            <a:r>
              <a:rPr lang="zh-CN" altLang="zh-CN" sz="2400" dirty="0">
                <a:solidFill>
                  <a:schemeClr val="tx1"/>
                </a:solidFill>
                <a:latin typeface="微软雅黑" pitchFamily="34" charset="-122"/>
                <a:ea typeface="微软雅黑" pitchFamily="34" charset="-122"/>
              </a:rPr>
              <a:t>行的大小为</a:t>
            </a:r>
            <a:r>
              <a:rPr lang="en-US" altLang="zh-CN" sz="2400" dirty="0">
                <a:solidFill>
                  <a:schemeClr val="tx1"/>
                </a:solidFill>
                <a:latin typeface="微软雅黑" pitchFamily="34" charset="-122"/>
                <a:ea typeface="微软雅黑" pitchFamily="34" charset="-122"/>
              </a:rPr>
              <a:t>64B</a:t>
            </a:r>
            <a:r>
              <a:rPr lang="zh-CN" altLang="zh-CN" sz="2400" dirty="0">
                <a:solidFill>
                  <a:schemeClr val="tx1"/>
                </a:solidFill>
                <a:latin typeface="微软雅黑" pitchFamily="34" charset="-122"/>
                <a:ea typeface="微软雅黑" pitchFamily="34" charset="-122"/>
              </a:rPr>
              <a:t>。现有程序如下：</a:t>
            </a:r>
          </a:p>
          <a:p>
            <a:r>
              <a:rPr lang="en-US" altLang="zh-CN" sz="2400" dirty="0" smtClean="0">
                <a:latin typeface="微软雅黑" pitchFamily="34" charset="-122"/>
                <a:ea typeface="微软雅黑" pitchFamily="34" charset="-122"/>
              </a:rPr>
              <a:t> </a:t>
            </a:r>
          </a:p>
          <a:p>
            <a:r>
              <a:rPr lang="en-US" altLang="zh-CN" sz="2400" dirty="0">
                <a:latin typeface="微软雅黑" pitchFamily="34" charset="-122"/>
                <a:ea typeface="微软雅黑" pitchFamily="34" charset="-122"/>
              </a:rPr>
              <a:t> </a:t>
            </a:r>
            <a:r>
              <a:rPr lang="en-US" altLang="zh-CN" sz="2400" dirty="0" err="1" smtClean="0">
                <a:latin typeface="微软雅黑" pitchFamily="34" charset="-122"/>
                <a:ea typeface="微软雅黑" pitchFamily="34" charset="-122"/>
              </a:rPr>
              <a:t>int</a:t>
            </a:r>
            <a:r>
              <a:rPr lang="en-US" altLang="zh-CN" sz="2400" dirty="0" smtClean="0">
                <a:latin typeface="微软雅黑" pitchFamily="34" charset="-122"/>
                <a:ea typeface="微软雅黑" pitchFamily="34" charset="-122"/>
              </a:rPr>
              <a:t>  </a:t>
            </a:r>
            <a:r>
              <a:rPr lang="en-US" altLang="zh-CN" sz="2400" dirty="0">
                <a:latin typeface="微软雅黑" pitchFamily="34" charset="-122"/>
                <a:ea typeface="微软雅黑" pitchFamily="34" charset="-122"/>
              </a:rPr>
              <a:t>A[256][256]</a:t>
            </a:r>
            <a:r>
              <a:rPr lang="zh-CN" altLang="zh-CN" sz="2400" dirty="0">
                <a:latin typeface="微软雅黑" pitchFamily="34" charset="-122"/>
                <a:ea typeface="微软雅黑" pitchFamily="34" charset="-122"/>
              </a:rPr>
              <a:t>；</a:t>
            </a:r>
          </a:p>
          <a:p>
            <a:r>
              <a:rPr lang="en-US" altLang="zh-CN" sz="2400" dirty="0" smtClean="0">
                <a:latin typeface="微软雅黑" pitchFamily="34" charset="-122"/>
                <a:ea typeface="微软雅黑" pitchFamily="34" charset="-122"/>
              </a:rPr>
              <a:t>  ……</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a:t>
            </a:r>
            <a:r>
              <a:rPr lang="en-US" altLang="zh-CN" sz="2400" dirty="0" err="1" smtClean="0">
                <a:latin typeface="微软雅黑" pitchFamily="34" charset="-122"/>
                <a:ea typeface="微软雅黑" pitchFamily="34" charset="-122"/>
              </a:rPr>
              <a:t>int</a:t>
            </a:r>
            <a:r>
              <a:rPr lang="en-US" altLang="zh-CN" sz="2400" dirty="0" smtClean="0">
                <a:latin typeface="微软雅黑" pitchFamily="34" charset="-122"/>
                <a:ea typeface="微软雅黑" pitchFamily="34" charset="-122"/>
              </a:rPr>
              <a:t> </a:t>
            </a:r>
            <a:r>
              <a:rPr lang="en-US" altLang="zh-CN" sz="2400" dirty="0" err="1">
                <a:latin typeface="微软雅黑" pitchFamily="34" charset="-122"/>
                <a:ea typeface="微软雅黑" pitchFamily="34" charset="-122"/>
              </a:rPr>
              <a:t>sumarry</a:t>
            </a:r>
            <a:r>
              <a:rPr lang="en-US" altLang="zh-CN" sz="2400" dirty="0">
                <a:latin typeface="微软雅黑" pitchFamily="34" charset="-122"/>
                <a:ea typeface="微软雅黑" pitchFamily="34" charset="-122"/>
              </a:rPr>
              <a:t>()</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a:t>
            </a:r>
            <a:r>
              <a:rPr lang="en-US" altLang="zh-CN" sz="2400" dirty="0" err="1" smtClean="0">
                <a:latin typeface="微软雅黑" pitchFamily="34" charset="-122"/>
                <a:ea typeface="微软雅黑" pitchFamily="34" charset="-122"/>
              </a:rPr>
              <a:t>int</a:t>
            </a:r>
            <a:r>
              <a:rPr lang="en-US" altLang="zh-CN" sz="2400" dirty="0" smtClean="0">
                <a:latin typeface="微软雅黑" pitchFamily="34" charset="-122"/>
                <a:ea typeface="微软雅黑" pitchFamily="34" charset="-122"/>
              </a:rPr>
              <a:t> </a:t>
            </a:r>
            <a:r>
              <a:rPr lang="en-US" altLang="zh-CN" sz="2400" dirty="0" err="1" smtClean="0">
                <a:latin typeface="微软雅黑" pitchFamily="34" charset="-122"/>
                <a:ea typeface="微软雅黑" pitchFamily="34" charset="-122"/>
              </a:rPr>
              <a:t>i,j,sum</a:t>
            </a:r>
            <a:r>
              <a:rPr lang="en-US" altLang="zh-CN" sz="2400" dirty="0" smtClean="0">
                <a:latin typeface="微软雅黑" pitchFamily="34" charset="-122"/>
                <a:ea typeface="微软雅黑" pitchFamily="34" charset="-122"/>
              </a:rPr>
              <a:t>=0</a:t>
            </a:r>
            <a:r>
              <a:rPr lang="en-US" altLang="zh-CN" sz="2400" dirty="0">
                <a:latin typeface="微软雅黑" pitchFamily="34" charset="-122"/>
                <a:ea typeface="微软雅黑" pitchFamily="34" charset="-122"/>
              </a:rPr>
              <a:t>;</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for(j=0;j&lt;256;j++)</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for(i=0;i&lt;256;i++) </a:t>
            </a:r>
          </a:p>
          <a:p>
            <a:r>
              <a:rPr lang="en-US" altLang="zh-CN" sz="2400" dirty="0" smtClean="0">
                <a:latin typeface="微软雅黑" pitchFamily="34" charset="-122"/>
                <a:ea typeface="微软雅黑" pitchFamily="34" charset="-122"/>
              </a:rPr>
              <a:t>        sum</a:t>
            </a:r>
            <a:r>
              <a:rPr lang="en-US" altLang="zh-CN" sz="2400" dirty="0">
                <a:latin typeface="微软雅黑" pitchFamily="34" charset="-122"/>
                <a:ea typeface="微软雅黑" pitchFamily="34" charset="-122"/>
              </a:rPr>
              <a:t>+=A[i][j];</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return </a:t>
            </a:r>
            <a:r>
              <a:rPr lang="en-US" altLang="zh-CN" sz="2400" dirty="0">
                <a:latin typeface="微软雅黑" pitchFamily="34" charset="-122"/>
                <a:ea typeface="微软雅黑" pitchFamily="34" charset="-122"/>
              </a:rPr>
              <a:t>sum</a:t>
            </a:r>
            <a:endParaRPr lang="zh-CN" altLang="zh-CN" sz="2400" dirty="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a:t>
            </a:r>
            <a:endParaRPr lang="zh-CN" altLang="zh-CN" sz="2400" dirty="0">
              <a:latin typeface="微软雅黑" pitchFamily="34" charset="-122"/>
              <a:ea typeface="微软雅黑" pitchFamily="34" charset="-122"/>
            </a:endParaRPr>
          </a:p>
        </p:txBody>
      </p:sp>
      <p:sp>
        <p:nvSpPr>
          <p:cNvPr id="3" name="矩形 2"/>
          <p:cNvSpPr/>
          <p:nvPr/>
        </p:nvSpPr>
        <p:spPr>
          <a:xfrm>
            <a:off x="4520733" y="1679069"/>
            <a:ext cx="4141694" cy="4524315"/>
          </a:xfrm>
          <a:prstGeom prst="rect">
            <a:avLst/>
          </a:prstGeom>
        </p:spPr>
        <p:txBody>
          <a:bodyPr wrap="square">
            <a:spAutoFit/>
          </a:bodyPr>
          <a:lstStyle/>
          <a:p>
            <a:pPr>
              <a:lnSpc>
                <a:spcPct val="150000"/>
              </a:lnSpc>
            </a:pPr>
            <a:r>
              <a:rPr lang="en-US" altLang="zh-CN" sz="2400" dirty="0" smtClean="0">
                <a:latin typeface="微软雅黑" pitchFamily="34" charset="-122"/>
                <a:ea typeface="微软雅黑" pitchFamily="34" charset="-122"/>
              </a:rPr>
              <a:t>    </a:t>
            </a:r>
            <a:r>
              <a:rPr lang="zh-CN" altLang="zh-CN" sz="2400" dirty="0" smtClean="0">
                <a:latin typeface="微软雅黑" pitchFamily="34" charset="-122"/>
                <a:ea typeface="微软雅黑" pitchFamily="34" charset="-122"/>
              </a:rPr>
              <a:t>假定</a:t>
            </a:r>
            <a:r>
              <a:rPr lang="en-US" altLang="zh-CN" sz="2400" dirty="0" err="1">
                <a:latin typeface="微软雅黑" pitchFamily="34" charset="-122"/>
                <a:ea typeface="微软雅黑" pitchFamily="34" charset="-122"/>
              </a:rPr>
              <a:t>int</a:t>
            </a:r>
            <a:r>
              <a:rPr lang="zh-CN" altLang="zh-CN" sz="2400" dirty="0">
                <a:latin typeface="微软雅黑" pitchFamily="34" charset="-122"/>
                <a:ea typeface="微软雅黑" pitchFamily="34" charset="-122"/>
              </a:rPr>
              <a:t>类型数据用</a:t>
            </a:r>
            <a:r>
              <a:rPr lang="en-US" altLang="zh-CN" sz="2400" dirty="0">
                <a:latin typeface="微软雅黑" pitchFamily="34" charset="-122"/>
                <a:ea typeface="微软雅黑" pitchFamily="34" charset="-122"/>
              </a:rPr>
              <a:t>32</a:t>
            </a:r>
            <a:r>
              <a:rPr lang="zh-CN" altLang="zh-CN" sz="2400" dirty="0">
                <a:latin typeface="微软雅黑" pitchFamily="34" charset="-122"/>
                <a:ea typeface="微软雅黑" pitchFamily="34" charset="-122"/>
              </a:rPr>
              <a:t>位补码表示，编译时</a:t>
            </a:r>
            <a:r>
              <a:rPr lang="en-US" altLang="zh-CN" sz="2400" dirty="0">
                <a:latin typeface="微软雅黑" pitchFamily="34" charset="-122"/>
                <a:ea typeface="微软雅黑" pitchFamily="34" charset="-122"/>
              </a:rPr>
              <a:t>i</a:t>
            </a:r>
            <a:r>
              <a:rPr lang="zh-CN" altLang="zh-CN" sz="2400" dirty="0">
                <a:latin typeface="微软雅黑" pitchFamily="34" charset="-122"/>
                <a:ea typeface="微软雅黑" pitchFamily="34" charset="-122"/>
              </a:rPr>
              <a:t>、</a:t>
            </a:r>
            <a:r>
              <a:rPr lang="en-US" altLang="zh-CN" sz="2400" dirty="0">
                <a:latin typeface="微软雅黑" pitchFamily="34" charset="-122"/>
                <a:ea typeface="微软雅黑" pitchFamily="34" charset="-122"/>
              </a:rPr>
              <a:t>j</a:t>
            </a:r>
            <a:r>
              <a:rPr lang="zh-CN" altLang="zh-CN" sz="2400" dirty="0">
                <a:latin typeface="微软雅黑" pitchFamily="34" charset="-122"/>
                <a:ea typeface="微软雅黑" pitchFamily="34" charset="-122"/>
              </a:rPr>
              <a:t>、</a:t>
            </a:r>
            <a:r>
              <a:rPr lang="en-US" altLang="zh-CN" sz="2400" dirty="0">
                <a:latin typeface="微软雅黑" pitchFamily="34" charset="-122"/>
                <a:ea typeface="微软雅黑" pitchFamily="34" charset="-122"/>
              </a:rPr>
              <a:t>sum</a:t>
            </a:r>
            <a:r>
              <a:rPr lang="zh-CN" altLang="zh-CN" sz="2400" dirty="0">
                <a:latin typeface="微软雅黑" pitchFamily="34" charset="-122"/>
                <a:ea typeface="微软雅黑" pitchFamily="34" charset="-122"/>
              </a:rPr>
              <a:t>均分配在寄存器中，数组</a:t>
            </a:r>
            <a:r>
              <a:rPr lang="en-US" altLang="zh-CN" sz="2400" dirty="0">
                <a:latin typeface="微软雅黑" pitchFamily="34" charset="-122"/>
                <a:ea typeface="微软雅黑" pitchFamily="34" charset="-122"/>
              </a:rPr>
              <a:t>A</a:t>
            </a:r>
            <a:r>
              <a:rPr lang="zh-CN" altLang="zh-CN" sz="2400" dirty="0">
                <a:latin typeface="微软雅黑" pitchFamily="34" charset="-122"/>
                <a:ea typeface="微软雅黑" pitchFamily="34" charset="-122"/>
              </a:rPr>
              <a:t>按行优先方式存放，其地址为</a:t>
            </a:r>
            <a:r>
              <a:rPr lang="en-US" altLang="zh-CN" sz="2400" dirty="0">
                <a:latin typeface="微软雅黑" pitchFamily="34" charset="-122"/>
                <a:ea typeface="微软雅黑" pitchFamily="34" charset="-122"/>
              </a:rPr>
              <a:t>320</a:t>
            </a:r>
            <a:r>
              <a:rPr lang="zh-CN" altLang="zh-CN" sz="2400" dirty="0">
                <a:latin typeface="微软雅黑" pitchFamily="34" charset="-122"/>
                <a:ea typeface="微软雅黑" pitchFamily="34" charset="-122"/>
              </a:rPr>
              <a:t>（十进制数</a:t>
            </a:r>
            <a:r>
              <a:rPr lang="zh-CN" altLang="zh-CN" sz="2400" dirty="0" smtClean="0">
                <a:latin typeface="微软雅黑" pitchFamily="34" charset="-122"/>
                <a:ea typeface="微软雅黑" pitchFamily="34" charset="-122"/>
              </a:rPr>
              <a:t>）。</a:t>
            </a:r>
            <a:endParaRPr lang="zh-CN" altLang="zh-CN" sz="2400" dirty="0">
              <a:latin typeface="微软雅黑" pitchFamily="34" charset="-122"/>
              <a:ea typeface="微软雅黑" pitchFamily="34" charset="-122"/>
            </a:endParaRPr>
          </a:p>
          <a:p>
            <a:pPr lvl="0">
              <a:lnSpc>
                <a:spcPct val="150000"/>
              </a:lnSpc>
            </a:pPr>
            <a:r>
              <a:rPr lang="en-US" altLang="zh-CN" sz="2400" dirty="0" smtClean="0">
                <a:latin typeface="微软雅黑" pitchFamily="34" charset="-122"/>
                <a:ea typeface="微软雅黑" pitchFamily="34" charset="-122"/>
              </a:rPr>
              <a:t>       CPU</a:t>
            </a:r>
            <a:r>
              <a:rPr lang="zh-CN" altLang="en-US" sz="2400" dirty="0" smtClean="0">
                <a:latin typeface="微软雅黑" pitchFamily="34" charset="-122"/>
                <a:ea typeface="微软雅黑" pitchFamily="34" charset="-122"/>
              </a:rPr>
              <a:t>按字存取，每个字为</a:t>
            </a:r>
            <a:r>
              <a:rPr lang="en-US" altLang="zh-CN" sz="2400" dirty="0" smtClean="0">
                <a:latin typeface="微软雅黑" pitchFamily="34" charset="-122"/>
                <a:ea typeface="微软雅黑" pitchFamily="34" charset="-122"/>
              </a:rPr>
              <a:t>32</a:t>
            </a:r>
            <a:r>
              <a:rPr lang="zh-CN" altLang="zh-CN" sz="2400" dirty="0" smtClean="0">
                <a:latin typeface="微软雅黑" pitchFamily="34" charset="-122"/>
                <a:ea typeface="微软雅黑" pitchFamily="34" charset="-122"/>
              </a:rPr>
              <a:t>位</a:t>
            </a:r>
            <a:r>
              <a:rPr lang="zh-CN" altLang="en-US" sz="2400" dirty="0" smtClean="0">
                <a:latin typeface="微软雅黑" pitchFamily="34" charset="-122"/>
                <a:ea typeface="微软雅黑" pitchFamily="34" charset="-122"/>
              </a:rPr>
              <a:t>，</a:t>
            </a:r>
            <a:r>
              <a:rPr lang="zh-CN" altLang="zh-CN" sz="2400" dirty="0" smtClean="0">
                <a:latin typeface="微软雅黑" pitchFamily="34" charset="-122"/>
                <a:ea typeface="微软雅黑" pitchFamily="34" charset="-122"/>
              </a:rPr>
              <a:t>程序</a:t>
            </a:r>
            <a:r>
              <a:rPr lang="en-US" altLang="zh-CN" sz="2400" dirty="0" smtClean="0">
                <a:latin typeface="微软雅黑" pitchFamily="34" charset="-122"/>
                <a:ea typeface="微软雅黑" pitchFamily="34" charset="-122"/>
              </a:rPr>
              <a:t>A</a:t>
            </a:r>
            <a:r>
              <a:rPr lang="zh-CN" altLang="zh-CN" sz="2400" dirty="0" smtClean="0">
                <a:latin typeface="微软雅黑" pitchFamily="34" charset="-122"/>
                <a:ea typeface="微软雅黑" pitchFamily="34" charset="-122"/>
              </a:rPr>
              <a:t>的</a:t>
            </a:r>
            <a:r>
              <a:rPr lang="zh-CN" altLang="zh-CN" sz="2400" dirty="0">
                <a:latin typeface="微软雅黑" pitchFamily="34" charset="-122"/>
                <a:ea typeface="微软雅黑" pitchFamily="34" charset="-122"/>
              </a:rPr>
              <a:t>数据访问命中率是多少。</a:t>
            </a:r>
          </a:p>
        </p:txBody>
      </p:sp>
      <p:sp>
        <p:nvSpPr>
          <p:cNvPr id="6" name="矩形 5"/>
          <p:cNvSpPr/>
          <p:nvPr/>
        </p:nvSpPr>
        <p:spPr>
          <a:xfrm>
            <a:off x="290140" y="275164"/>
            <a:ext cx="517525" cy="156966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lvl="0" algn="ctr">
              <a:spcBef>
                <a:spcPts val="0"/>
              </a:spcBef>
            </a:pPr>
            <a:r>
              <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2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17738757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2389E59-C5A6-44E3-A52F-17267A6A2DAA}" type="slidenum">
              <a:rPr lang="en-US" altLang="zh-CN" smtClean="0"/>
              <a:pPr>
                <a:defRPr/>
              </a:pPr>
              <a:t>88</a:t>
            </a:fld>
            <a:endParaRPr lang="en-US" altLang="zh-CN"/>
          </a:p>
        </p:txBody>
      </p:sp>
      <p:sp>
        <p:nvSpPr>
          <p:cNvPr id="3" name="矩形 2"/>
          <p:cNvSpPr/>
          <p:nvPr/>
        </p:nvSpPr>
        <p:spPr>
          <a:xfrm>
            <a:off x="153988" y="188640"/>
            <a:ext cx="8785225" cy="1754326"/>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lnSpc>
                <a:spcPct val="150000"/>
              </a:lnSpc>
            </a:pPr>
            <a:r>
              <a:rPr lang="zh-CN" altLang="zh-CN" sz="2400" dirty="0" smtClean="0">
                <a:latin typeface="黑体" pitchFamily="2" charset="-122"/>
                <a:ea typeface="黑体" pitchFamily="2" charset="-122"/>
              </a:rPr>
              <a:t>编译</a:t>
            </a:r>
            <a:r>
              <a:rPr lang="zh-CN" altLang="zh-CN" sz="2400" dirty="0">
                <a:latin typeface="黑体" pitchFamily="2" charset="-122"/>
                <a:ea typeface="黑体" pitchFamily="2" charset="-122"/>
              </a:rPr>
              <a:t>时</a:t>
            </a:r>
            <a:r>
              <a:rPr lang="en-US" altLang="zh-CN" sz="2400" dirty="0" err="1">
                <a:latin typeface="黑体" pitchFamily="2" charset="-122"/>
                <a:ea typeface="黑体" pitchFamily="2" charset="-122"/>
              </a:rPr>
              <a:t>i,j,sum</a:t>
            </a:r>
            <a:r>
              <a:rPr lang="zh-CN" altLang="zh-CN" sz="2400" dirty="0">
                <a:latin typeface="黑体" pitchFamily="2" charset="-122"/>
                <a:ea typeface="黑体" pitchFamily="2" charset="-122"/>
              </a:rPr>
              <a:t>均分配在寄存器中，故数据访问命中率仅考虑</a:t>
            </a:r>
            <a:r>
              <a:rPr lang="zh-CN" altLang="zh-CN" sz="2400" dirty="0" smtClean="0">
                <a:latin typeface="黑体" pitchFamily="2" charset="-122"/>
                <a:ea typeface="黑体" pitchFamily="2" charset="-122"/>
              </a:rPr>
              <a:t>数组</a:t>
            </a:r>
            <a:r>
              <a:rPr lang="en-US" altLang="zh-CN" sz="2400" dirty="0" smtClean="0">
                <a:latin typeface="黑体" pitchFamily="2" charset="-122"/>
                <a:ea typeface="黑体" pitchFamily="2" charset="-122"/>
              </a:rPr>
              <a:t>A</a:t>
            </a:r>
            <a:r>
              <a:rPr lang="zh-CN" altLang="zh-CN" sz="2400" dirty="0" smtClean="0">
                <a:latin typeface="黑体" pitchFamily="2" charset="-122"/>
                <a:ea typeface="黑体" pitchFamily="2" charset="-122"/>
              </a:rPr>
              <a:t>的</a:t>
            </a:r>
            <a:r>
              <a:rPr lang="zh-CN" altLang="zh-CN" sz="2400" dirty="0">
                <a:latin typeface="黑体" pitchFamily="2" charset="-122"/>
                <a:ea typeface="黑体" pitchFamily="2" charset="-122"/>
              </a:rPr>
              <a:t>情况</a:t>
            </a:r>
            <a:r>
              <a:rPr lang="zh-CN" altLang="zh-CN" sz="2400" dirty="0" smtClean="0">
                <a:latin typeface="黑体" pitchFamily="2" charset="-122"/>
                <a:ea typeface="黑体" pitchFamily="2" charset="-122"/>
              </a:rPr>
              <a:t>。按照</a:t>
            </a:r>
            <a:r>
              <a:rPr lang="zh-CN" altLang="zh-CN" sz="2400" dirty="0">
                <a:latin typeface="黑体" pitchFamily="2" charset="-122"/>
                <a:ea typeface="黑体" pitchFamily="2" charset="-122"/>
              </a:rPr>
              <a:t>数组行执行外层循环，在内层循环过程中，将连续访问同行不同列的</a:t>
            </a:r>
            <a:r>
              <a:rPr lang="zh-CN" altLang="zh-CN" sz="2400" dirty="0" smtClean="0">
                <a:latin typeface="黑体" pitchFamily="2" charset="-122"/>
                <a:ea typeface="黑体" pitchFamily="2" charset="-122"/>
              </a:rPr>
              <a:t>数据</a:t>
            </a:r>
            <a:r>
              <a:rPr lang="zh-CN" altLang="en-US" sz="2400" dirty="0" smtClean="0">
                <a:latin typeface="黑体" pitchFamily="2" charset="-122"/>
                <a:ea typeface="黑体" pitchFamily="2" charset="-122"/>
              </a:rPr>
              <a:t>。</a:t>
            </a:r>
            <a:endParaRPr lang="zh-CN" altLang="zh-CN" sz="2400" dirty="0">
              <a:latin typeface="黑体" pitchFamily="2" charset="-122"/>
              <a:ea typeface="黑体" pitchFamily="2" charset="-122"/>
            </a:endParaRPr>
          </a:p>
        </p:txBody>
      </p:sp>
      <p:pic>
        <p:nvPicPr>
          <p:cNvPr id="245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2068785"/>
            <a:ext cx="7848872" cy="460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矩形 7"/>
          <p:cNvSpPr/>
          <p:nvPr/>
        </p:nvSpPr>
        <p:spPr>
          <a:xfrm>
            <a:off x="153988" y="172445"/>
            <a:ext cx="8785225" cy="1754326"/>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lnSpc>
                <a:spcPct val="150000"/>
              </a:lnSpc>
            </a:pPr>
            <a:r>
              <a:rPr lang="zh-CN" altLang="zh-CN" sz="2400" dirty="0" smtClean="0">
                <a:latin typeface="黑体" pitchFamily="2" charset="-122"/>
                <a:ea typeface="黑体" pitchFamily="2" charset="-122"/>
              </a:rPr>
              <a:t>程序按照</a:t>
            </a:r>
            <a:r>
              <a:rPr lang="zh-CN" altLang="zh-CN" sz="2400" dirty="0">
                <a:latin typeface="黑体" pitchFamily="2" charset="-122"/>
                <a:ea typeface="黑体" pitchFamily="2" charset="-122"/>
              </a:rPr>
              <a:t>数组列执行外层循环，在内层循环过程中，将连续访问不同行的同一列的数据，不同行的同一列数据使用的是同一个</a:t>
            </a:r>
            <a:r>
              <a:rPr lang="en-US" altLang="zh-CN" sz="2400" dirty="0">
                <a:latin typeface="黑体" pitchFamily="2" charset="-122"/>
                <a:ea typeface="黑体" pitchFamily="2" charset="-122"/>
              </a:rPr>
              <a:t>Cache</a:t>
            </a:r>
            <a:r>
              <a:rPr lang="zh-CN" altLang="zh-CN" sz="2400" dirty="0">
                <a:latin typeface="黑体" pitchFamily="2" charset="-122"/>
                <a:ea typeface="黑体" pitchFamily="2" charset="-122"/>
              </a:rPr>
              <a:t>单元，每次都不会命中，命中率是</a:t>
            </a:r>
            <a:r>
              <a:rPr lang="en-US" altLang="zh-CN" sz="2400" dirty="0">
                <a:latin typeface="黑体" pitchFamily="2" charset="-122"/>
                <a:ea typeface="黑体" pitchFamily="2" charset="-122"/>
              </a:rPr>
              <a:t>0</a:t>
            </a:r>
            <a:endParaRPr lang="zh-CN" altLang="zh-CN" sz="2400" dirty="0">
              <a:latin typeface="黑体" pitchFamily="2" charset="-122"/>
              <a:ea typeface="黑体" pitchFamily="2" charset="-122"/>
            </a:endParaRPr>
          </a:p>
        </p:txBody>
      </p:sp>
    </p:spTree>
    <p:extLst>
      <p:ext uri="{BB962C8B-B14F-4D97-AF65-F5344CB8AC3E}">
        <p14:creationId xmlns:p14="http://schemas.microsoft.com/office/powerpoint/2010/main" val="12890743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BD6C8F-AC52-4A1A-A983-A679183B8172}" type="slidenum">
              <a:rPr lang="en-US" altLang="zh-CN" smtClean="0"/>
              <a:pPr>
                <a:defRPr/>
              </a:pPr>
              <a:t>89</a:t>
            </a:fld>
            <a:endParaRPr lang="en-US" altLang="zh-CN"/>
          </a:p>
        </p:txBody>
      </p:sp>
      <p:sp>
        <p:nvSpPr>
          <p:cNvPr id="3" name="矩形 2"/>
          <p:cNvSpPr/>
          <p:nvPr/>
        </p:nvSpPr>
        <p:spPr>
          <a:xfrm>
            <a:off x="251520" y="119190"/>
            <a:ext cx="8712968" cy="6617196"/>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lvl="2">
              <a:lnSpc>
                <a:spcPct val="120000"/>
              </a:lnSpc>
              <a:spcBef>
                <a:spcPts val="0"/>
              </a:spcBef>
              <a:spcAft>
                <a:spcPts val="0"/>
              </a:spcAft>
            </a:pPr>
            <a:r>
              <a:rPr lang="zh-CN" altLang="en-US" sz="2000" dirty="0" smtClean="0">
                <a:solidFill>
                  <a:srgbClr val="000000"/>
                </a:solidFill>
                <a:latin typeface="微软雅黑" panose="020B0503020204020204" pitchFamily="34" charset="-122"/>
                <a:ea typeface="微软雅黑" panose="020B0503020204020204" pitchFamily="34" charset="-122"/>
                <a:sym typeface="Microsoft Yahei"/>
              </a:rPr>
              <a:t>某</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计算机的主存地址空间为</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256MB</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，按</a:t>
            </a:r>
            <a:r>
              <a:rPr lang="zh-CN" altLang="en-US" sz="2000" dirty="0" smtClean="0">
                <a:solidFill>
                  <a:srgbClr val="000000"/>
                </a:solidFill>
                <a:latin typeface="微软雅黑" panose="020B0503020204020204" pitchFamily="34" charset="-122"/>
                <a:ea typeface="微软雅黑" panose="020B0503020204020204" pitchFamily="34" charset="-122"/>
                <a:sym typeface="Microsoft Yahei"/>
              </a:rPr>
              <a:t>字节编址</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，指令</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Cache</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和数据</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Cache</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分离，</a:t>
            </a:r>
            <a:r>
              <a:rPr lang="zh-CN" altLang="en-US" sz="2000" dirty="0" smtClean="0">
                <a:solidFill>
                  <a:srgbClr val="000000"/>
                </a:solidFill>
                <a:latin typeface="微软雅黑" panose="020B0503020204020204" pitchFamily="34" charset="-122"/>
                <a:ea typeface="微软雅黑" panose="020B0503020204020204" pitchFamily="34" charset="-122"/>
                <a:sym typeface="Microsoft Yahei"/>
              </a:rPr>
              <a:t>数据</a:t>
            </a:r>
            <a:r>
              <a:rPr lang="en-US" altLang="zh-CN" sz="2000" dirty="0" smtClean="0">
                <a:solidFill>
                  <a:srgbClr val="000000"/>
                </a:solidFill>
                <a:latin typeface="微软雅黑" panose="020B0503020204020204" pitchFamily="34" charset="-122"/>
                <a:ea typeface="微软雅黑" panose="020B0503020204020204" pitchFamily="34" charset="-122"/>
                <a:sym typeface="Microsoft Yahei"/>
              </a:rPr>
              <a:t>Cache</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采用直接映射方式，为</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7</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个</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Cache</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行</a:t>
            </a:r>
            <a:r>
              <a:rPr lang="zh-CN" altLang="en-US" sz="2000" dirty="0" smtClean="0">
                <a:solidFill>
                  <a:srgbClr val="000000"/>
                </a:solidFill>
                <a:latin typeface="微软雅黑" panose="020B0503020204020204" pitchFamily="34" charset="-122"/>
                <a:ea typeface="微软雅黑" panose="020B0503020204020204" pitchFamily="34" charset="-122"/>
                <a:sym typeface="Microsoft Yahei"/>
              </a:rPr>
              <a:t>，</a:t>
            </a:r>
            <a:r>
              <a:rPr lang="en-US" altLang="zh-CN" sz="2000" dirty="0" smtClean="0">
                <a:solidFill>
                  <a:srgbClr val="000000"/>
                </a:solidFill>
                <a:latin typeface="微软雅黑" panose="020B0503020204020204" pitchFamily="34" charset="-122"/>
                <a:ea typeface="微软雅黑" panose="020B0503020204020204" pitchFamily="34" charset="-122"/>
                <a:sym typeface="Microsoft Yahei"/>
              </a:rPr>
              <a:t>Cache</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行号从</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0</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开始，每个</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Cache</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行的大小</a:t>
            </a:r>
            <a:r>
              <a:rPr lang="zh-CN" altLang="en-US" sz="2000" dirty="0" smtClean="0">
                <a:solidFill>
                  <a:srgbClr val="000000"/>
                </a:solidFill>
                <a:latin typeface="微软雅黑" panose="020B0503020204020204" pitchFamily="34" charset="-122"/>
                <a:ea typeface="微软雅黑" panose="020B0503020204020204" pitchFamily="34" charset="-122"/>
                <a:sym typeface="Microsoft Yahei"/>
              </a:rPr>
              <a:t>为</a:t>
            </a:r>
            <a:r>
              <a:rPr lang="en-US" altLang="zh-CN" sz="2000" dirty="0" smtClean="0">
                <a:solidFill>
                  <a:srgbClr val="000000"/>
                </a:solidFill>
                <a:latin typeface="微软雅黑" panose="020B0503020204020204" pitchFamily="34" charset="-122"/>
                <a:ea typeface="微软雅黑" panose="020B0503020204020204" pitchFamily="34" charset="-122"/>
                <a:sym typeface="Microsoft Yahei"/>
              </a:rPr>
              <a:t>64B</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。现有程序如下：</a:t>
            </a:r>
          </a:p>
          <a:p>
            <a:pPr lvl="2">
              <a:spcBef>
                <a:spcPts val="0"/>
              </a:spcBef>
              <a:spcAft>
                <a:spcPts val="0"/>
              </a:spcAft>
            </a:pPr>
            <a:r>
              <a:rPr lang="zh-CN" altLang="en-US" sz="2000" dirty="0">
                <a:solidFill>
                  <a:srgbClr val="000000"/>
                </a:solidFill>
                <a:latin typeface="微软雅黑" panose="020B0503020204020204" pitchFamily="34" charset="-122"/>
                <a:ea typeface="微软雅黑" panose="020B0503020204020204" pitchFamily="34" charset="-122"/>
                <a:sym typeface="Microsoft Yahei"/>
              </a:rPr>
              <a:t>      </a:t>
            </a:r>
            <a:r>
              <a:rPr lang="en-US" altLang="zh-CN" sz="2000" dirty="0" err="1">
                <a:solidFill>
                  <a:srgbClr val="000000"/>
                </a:solidFill>
                <a:latin typeface="微软雅黑" panose="020B0503020204020204" pitchFamily="34" charset="-122"/>
                <a:ea typeface="微软雅黑" panose="020B0503020204020204" pitchFamily="34" charset="-122"/>
                <a:sym typeface="Microsoft Yahei"/>
              </a:rPr>
              <a:t>int</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A[128]</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a:t>
            </a:r>
          </a:p>
          <a:p>
            <a:pPr lvl="2">
              <a:spcBef>
                <a:spcPts val="0"/>
              </a:spcBef>
              <a:spcAft>
                <a:spcPts val="0"/>
              </a:spcAft>
            </a:pPr>
            <a:r>
              <a:rPr lang="zh-CN" altLang="en-US" sz="2000" dirty="0">
                <a:solidFill>
                  <a:srgbClr val="000000"/>
                </a:solidFill>
                <a:latin typeface="微软雅黑" panose="020B0503020204020204" pitchFamily="34" charset="-122"/>
                <a:ea typeface="微软雅黑" panose="020B0503020204020204" pitchFamily="34" charset="-122"/>
                <a:sym typeface="Microsoft Yahei"/>
              </a:rPr>
              <a:t>          </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a:t>
            </a:r>
          </a:p>
          <a:p>
            <a:pPr lvl="2">
              <a:spcBef>
                <a:spcPts val="0"/>
              </a:spcBef>
              <a:spcAft>
                <a:spcPts val="0"/>
              </a:spcAft>
            </a:pP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a:t>
            </a:r>
            <a:r>
              <a:rPr lang="en-US" altLang="zh-CN" sz="2000" dirty="0" err="1">
                <a:solidFill>
                  <a:srgbClr val="000000"/>
                </a:solidFill>
                <a:latin typeface="微软雅黑" panose="020B0503020204020204" pitchFamily="34" charset="-122"/>
                <a:ea typeface="微软雅黑" panose="020B0503020204020204" pitchFamily="34" charset="-122"/>
                <a:sym typeface="Microsoft Yahei"/>
              </a:rPr>
              <a:t>int</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a:t>
            </a:r>
            <a:r>
              <a:rPr lang="en-US" altLang="zh-CN" sz="2000" dirty="0" err="1">
                <a:solidFill>
                  <a:srgbClr val="000000"/>
                </a:solidFill>
                <a:latin typeface="微软雅黑" panose="020B0503020204020204" pitchFamily="34" charset="-122"/>
                <a:ea typeface="微软雅黑" panose="020B0503020204020204" pitchFamily="34" charset="-122"/>
                <a:sym typeface="Microsoft Yahei"/>
              </a:rPr>
              <a:t>sumarry</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a:t>
            </a:r>
          </a:p>
          <a:p>
            <a:pPr lvl="2">
              <a:spcBef>
                <a:spcPts val="0"/>
              </a:spcBef>
              <a:spcAft>
                <a:spcPts val="0"/>
              </a:spcAft>
            </a:pP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a:t>
            </a:r>
          </a:p>
          <a:p>
            <a:pPr lvl="2">
              <a:spcBef>
                <a:spcPts val="0"/>
              </a:spcBef>
              <a:spcAft>
                <a:spcPts val="0"/>
              </a:spcAft>
            </a:pP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a:t>
            </a:r>
            <a:r>
              <a:rPr lang="en-US" altLang="zh-CN" sz="2000" dirty="0" err="1">
                <a:solidFill>
                  <a:srgbClr val="000000"/>
                </a:solidFill>
                <a:latin typeface="微软雅黑" panose="020B0503020204020204" pitchFamily="34" charset="-122"/>
                <a:ea typeface="微软雅黑" panose="020B0503020204020204" pitchFamily="34" charset="-122"/>
                <a:sym typeface="Microsoft Yahei"/>
              </a:rPr>
              <a:t>Int</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a:t>
            </a:r>
            <a:r>
              <a:rPr lang="en-US" altLang="zh-CN" sz="2000" dirty="0" err="1" smtClean="0">
                <a:solidFill>
                  <a:srgbClr val="000000"/>
                </a:solidFill>
                <a:latin typeface="微软雅黑" panose="020B0503020204020204" pitchFamily="34" charset="-122"/>
                <a:ea typeface="微软雅黑" panose="020B0503020204020204" pitchFamily="34" charset="-122"/>
                <a:sym typeface="Microsoft Yahei"/>
              </a:rPr>
              <a:t>i,j,sum</a:t>
            </a:r>
            <a:r>
              <a:rPr lang="en-US" altLang="zh-CN" sz="2000" dirty="0" smtClean="0">
                <a:solidFill>
                  <a:srgbClr val="000000"/>
                </a:solidFill>
                <a:latin typeface="微软雅黑" panose="020B0503020204020204" pitchFamily="34" charset="-122"/>
                <a:ea typeface="微软雅黑" panose="020B0503020204020204" pitchFamily="34" charset="-122"/>
                <a:sym typeface="Microsoft Yahei"/>
              </a:rPr>
              <a:t>=0</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a:t>
            </a:r>
          </a:p>
          <a:p>
            <a:pPr lvl="2">
              <a:spcBef>
                <a:spcPts val="0"/>
              </a:spcBef>
              <a:spcAft>
                <a:spcPts val="0"/>
              </a:spcAft>
            </a:pP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for(</a:t>
            </a:r>
            <a:r>
              <a:rPr lang="en-US" altLang="zh-CN" sz="2000" dirty="0" err="1">
                <a:solidFill>
                  <a:srgbClr val="000000"/>
                </a:solidFill>
                <a:latin typeface="微软雅黑" panose="020B0503020204020204" pitchFamily="34" charset="-122"/>
                <a:ea typeface="微软雅黑" panose="020B0503020204020204" pitchFamily="34" charset="-122"/>
                <a:sym typeface="Microsoft Yahei"/>
              </a:rPr>
              <a:t>i</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=0;i&lt;100;i++)</a:t>
            </a:r>
          </a:p>
          <a:p>
            <a:pPr lvl="2">
              <a:spcBef>
                <a:spcPts val="0"/>
              </a:spcBef>
              <a:spcAft>
                <a:spcPts val="0"/>
              </a:spcAft>
            </a:pP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a:t>
            </a:r>
          </a:p>
          <a:p>
            <a:pPr lvl="2">
              <a:spcBef>
                <a:spcPts val="0"/>
              </a:spcBef>
              <a:spcAft>
                <a:spcPts val="0"/>
              </a:spcAft>
            </a:pP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for(j=0;j&lt;128;j++)</a:t>
            </a:r>
          </a:p>
          <a:p>
            <a:pPr lvl="2">
              <a:spcBef>
                <a:spcPts val="0"/>
              </a:spcBef>
              <a:spcAft>
                <a:spcPts val="0"/>
              </a:spcAft>
            </a:pP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a:t>
            </a:r>
          </a:p>
          <a:p>
            <a:pPr lvl="2">
              <a:spcBef>
                <a:spcPts val="0"/>
              </a:spcBef>
              <a:spcAft>
                <a:spcPts val="0"/>
              </a:spcAft>
            </a:pP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sum+=A[j];</a:t>
            </a:r>
          </a:p>
          <a:p>
            <a:pPr lvl="2">
              <a:spcBef>
                <a:spcPts val="0"/>
              </a:spcBef>
              <a:spcAft>
                <a:spcPts val="0"/>
              </a:spcAft>
            </a:pP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a:t>
            </a:r>
          </a:p>
          <a:p>
            <a:pPr lvl="2">
              <a:spcBef>
                <a:spcPts val="0"/>
              </a:spcBef>
              <a:spcAft>
                <a:spcPts val="0"/>
              </a:spcAft>
            </a:pP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a:t>
            </a:r>
          </a:p>
          <a:p>
            <a:pPr lvl="2">
              <a:spcBef>
                <a:spcPts val="0"/>
              </a:spcBef>
              <a:spcAft>
                <a:spcPts val="0"/>
              </a:spcAft>
            </a:pP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return sum</a:t>
            </a:r>
          </a:p>
          <a:p>
            <a:pPr lvl="2">
              <a:spcBef>
                <a:spcPts val="0"/>
              </a:spcBef>
              <a:spcAft>
                <a:spcPts val="0"/>
              </a:spcAft>
            </a:pP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a:t>
            </a:r>
          </a:p>
          <a:p>
            <a:pPr>
              <a:lnSpc>
                <a:spcPct val="120000"/>
              </a:lnSpc>
              <a:spcBef>
                <a:spcPts val="0"/>
              </a:spcBef>
              <a:spcAft>
                <a:spcPts val="0"/>
              </a:spcAft>
            </a:pPr>
            <a:r>
              <a:rPr lang="en-US" altLang="zh-CN" sz="2000" dirty="0">
                <a:solidFill>
                  <a:srgbClr val="000000"/>
                </a:solidFill>
                <a:latin typeface="微软雅黑" panose="020B0503020204020204" pitchFamily="34" charset="-122"/>
                <a:ea typeface="微软雅黑" panose="020B0503020204020204" pitchFamily="34" charset="-122"/>
                <a:sym typeface="Microsoft Yahei"/>
              </a:rPr>
              <a:t>     </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假定</a:t>
            </a:r>
            <a:r>
              <a:rPr lang="en-US" altLang="zh-CN" sz="2000" dirty="0" err="1">
                <a:solidFill>
                  <a:srgbClr val="000000"/>
                </a:solidFill>
                <a:latin typeface="微软雅黑" panose="020B0503020204020204" pitchFamily="34" charset="-122"/>
                <a:ea typeface="微软雅黑" panose="020B0503020204020204" pitchFamily="34" charset="-122"/>
                <a:sym typeface="Microsoft Yahei"/>
              </a:rPr>
              <a:t>int</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类型数据用</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32</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位补码表示，编译时</a:t>
            </a:r>
            <a:r>
              <a:rPr lang="en-US" altLang="zh-CN" sz="2000" dirty="0" err="1">
                <a:solidFill>
                  <a:srgbClr val="000000"/>
                </a:solidFill>
                <a:latin typeface="微软雅黑" panose="020B0503020204020204" pitchFamily="34" charset="-122"/>
                <a:ea typeface="微软雅黑" panose="020B0503020204020204" pitchFamily="34" charset="-122"/>
                <a:sym typeface="Microsoft Yahei"/>
              </a:rPr>
              <a:t>i</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j</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sum</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均分配在寄存器中，数组</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A</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的首地址为</a:t>
            </a:r>
            <a:r>
              <a:rPr lang="en-US" altLang="zh-CN" sz="2000" dirty="0" smtClean="0">
                <a:solidFill>
                  <a:srgbClr val="000000"/>
                </a:solidFill>
                <a:latin typeface="微软雅黑" panose="020B0503020204020204" pitchFamily="34" charset="-122"/>
                <a:ea typeface="微软雅黑" panose="020B0503020204020204" pitchFamily="34" charset="-122"/>
                <a:sym typeface="Microsoft Yahei"/>
              </a:rPr>
              <a:t>128</a:t>
            </a:r>
            <a:r>
              <a:rPr lang="zh-CN" altLang="en-US" sz="2000" dirty="0" smtClean="0">
                <a:solidFill>
                  <a:srgbClr val="000000"/>
                </a:solidFill>
                <a:latin typeface="微软雅黑" panose="020B0503020204020204" pitchFamily="34" charset="-122"/>
                <a:ea typeface="微软雅黑" panose="020B0503020204020204" pitchFamily="34" charset="-122"/>
                <a:sym typeface="Microsoft Yahei"/>
              </a:rPr>
              <a:t>（</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十进制数</a:t>
            </a:r>
            <a:r>
              <a:rPr lang="zh-CN" altLang="en-US" sz="2000" dirty="0" smtClean="0">
                <a:solidFill>
                  <a:srgbClr val="000000"/>
                </a:solidFill>
                <a:latin typeface="微软雅黑" panose="020B0503020204020204" pitchFamily="34" charset="-122"/>
                <a:ea typeface="微软雅黑" panose="020B0503020204020204" pitchFamily="34" charset="-122"/>
                <a:sym typeface="Microsoft Yahei"/>
              </a:rPr>
              <a:t>），</a:t>
            </a:r>
            <a:r>
              <a:rPr lang="en-US" altLang="zh-CN" sz="2000" dirty="0" smtClean="0">
                <a:latin typeface="微软雅黑" pitchFamily="34" charset="-122"/>
                <a:ea typeface="微软雅黑" pitchFamily="34" charset="-122"/>
              </a:rPr>
              <a:t>CPU</a:t>
            </a:r>
            <a:r>
              <a:rPr lang="zh-CN" altLang="en-US" sz="2000" dirty="0">
                <a:latin typeface="微软雅黑" pitchFamily="34" charset="-122"/>
                <a:ea typeface="微软雅黑" pitchFamily="34" charset="-122"/>
              </a:rPr>
              <a:t>按字存取，每个字为</a:t>
            </a:r>
            <a:r>
              <a:rPr lang="en-US" altLang="zh-CN" sz="2000" dirty="0">
                <a:latin typeface="微软雅黑" pitchFamily="34" charset="-122"/>
                <a:ea typeface="微软雅黑" pitchFamily="34" charset="-122"/>
              </a:rPr>
              <a:t>32</a:t>
            </a:r>
            <a:r>
              <a:rPr lang="zh-CN" altLang="zh-CN" sz="2000" dirty="0">
                <a:latin typeface="微软雅黑" pitchFamily="34" charset="-122"/>
                <a:ea typeface="微软雅黑" pitchFamily="34" charset="-122"/>
              </a:rPr>
              <a:t>位</a:t>
            </a:r>
            <a:r>
              <a:rPr lang="zh-CN" altLang="en-US" sz="2000" dirty="0">
                <a:latin typeface="微软雅黑" pitchFamily="34" charset="-122"/>
                <a:ea typeface="微软雅黑" pitchFamily="34" charset="-122"/>
              </a:rPr>
              <a:t>，</a:t>
            </a:r>
            <a:r>
              <a:rPr lang="zh-CN" altLang="zh-CN" sz="2000" dirty="0">
                <a:latin typeface="微软雅黑" pitchFamily="34" charset="-122"/>
                <a:ea typeface="微软雅黑" pitchFamily="34" charset="-122"/>
              </a:rPr>
              <a:t>程序</a:t>
            </a:r>
            <a:r>
              <a:rPr lang="en-US" altLang="zh-CN" sz="2000" dirty="0">
                <a:latin typeface="微软雅黑" pitchFamily="34" charset="-122"/>
                <a:ea typeface="微软雅黑" pitchFamily="34" charset="-122"/>
              </a:rPr>
              <a:t>A</a:t>
            </a:r>
            <a:r>
              <a:rPr lang="zh-CN" altLang="zh-CN" sz="2000" dirty="0">
                <a:latin typeface="微软雅黑" pitchFamily="34" charset="-122"/>
                <a:ea typeface="微软雅黑" pitchFamily="34" charset="-122"/>
              </a:rPr>
              <a:t>的数据访问命中率是</a:t>
            </a:r>
            <a:r>
              <a:rPr lang="en-US" altLang="zh-CN" sz="2000" dirty="0">
                <a:latin typeface="微软雅黑" pitchFamily="34" charset="-122"/>
                <a:ea typeface="微软雅黑" pitchFamily="34" charset="-122"/>
              </a:rPr>
              <a:t> </a:t>
            </a:r>
            <a:r>
              <a:rPr lang="zh-CN" altLang="en-US" sz="2000" dirty="0" smtClean="0">
                <a:latin typeface="微软雅黑" pitchFamily="34" charset="-122"/>
                <a:ea typeface="微软雅黑" pitchFamily="34" charset="-122"/>
              </a:rPr>
              <a:t>多少</a:t>
            </a:r>
            <a:r>
              <a:rPr lang="zh-CN" altLang="en-US" sz="2000" dirty="0" smtClean="0">
                <a:solidFill>
                  <a:srgbClr val="000000"/>
                </a:solidFill>
                <a:latin typeface="微软雅黑" panose="020B0503020204020204" pitchFamily="34" charset="-122"/>
                <a:ea typeface="微软雅黑" panose="020B0503020204020204" pitchFamily="34" charset="-122"/>
                <a:sym typeface="Microsoft Yahei"/>
              </a:rPr>
              <a:t>。</a:t>
            </a:r>
            <a:endParaRPr lang="zh-CN" altLang="en-US" sz="2000" dirty="0">
              <a:solidFill>
                <a:srgbClr val="000000"/>
              </a:solidFill>
              <a:latin typeface="微软雅黑" panose="020B0503020204020204" pitchFamily="34" charset="-122"/>
              <a:ea typeface="微软雅黑" panose="020B0503020204020204" pitchFamily="34" charset="-122"/>
              <a:sym typeface="Microsoft Yahei"/>
            </a:endParaRPr>
          </a:p>
        </p:txBody>
      </p:sp>
      <p:sp>
        <p:nvSpPr>
          <p:cNvPr id="4" name="矩形 3"/>
          <p:cNvSpPr/>
          <p:nvPr/>
        </p:nvSpPr>
        <p:spPr>
          <a:xfrm>
            <a:off x="405890" y="144712"/>
            <a:ext cx="517525" cy="156966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lvl="0" algn="ctr">
              <a:spcBef>
                <a:spcPts val="0"/>
              </a:spcBef>
            </a:pPr>
            <a:r>
              <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2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376923341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BD6C8F-AC52-4A1A-A983-A679183B8172}" type="slidenum">
              <a:rPr lang="en-US" altLang="zh-CN" smtClean="0"/>
              <a:pPr>
                <a:defRPr/>
              </a:pPr>
              <a:t>90</a:t>
            </a:fld>
            <a:endParaRPr lang="en-US" altLang="zh-CN"/>
          </a:p>
        </p:txBody>
      </p:sp>
      <p:sp>
        <p:nvSpPr>
          <p:cNvPr id="3" name="矩形 2"/>
          <p:cNvSpPr/>
          <p:nvPr/>
        </p:nvSpPr>
        <p:spPr>
          <a:xfrm>
            <a:off x="107504" y="164059"/>
            <a:ext cx="6552728" cy="650126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lvl="0">
              <a:lnSpc>
                <a:spcPct val="150000"/>
              </a:lnSpc>
            </a:pPr>
            <a:r>
              <a:rPr lang="zh-CN" altLang="en-US" sz="2000" dirty="0" smtClean="0">
                <a:solidFill>
                  <a:prstClr val="black"/>
                </a:solidFill>
                <a:latin typeface="微软雅黑" pitchFamily="34" charset="-122"/>
                <a:ea typeface="微软雅黑" pitchFamily="34" charset="-122"/>
              </a:rPr>
              <a:t>解：</a:t>
            </a:r>
            <a:r>
              <a:rPr lang="zh-CN" altLang="zh-CN" sz="2000" dirty="0" smtClean="0">
                <a:solidFill>
                  <a:prstClr val="black"/>
                </a:solidFill>
                <a:latin typeface="微软雅黑" pitchFamily="34" charset="-122"/>
                <a:ea typeface="微软雅黑" pitchFamily="34" charset="-122"/>
              </a:rPr>
              <a:t>编译</a:t>
            </a:r>
            <a:r>
              <a:rPr lang="zh-CN" altLang="zh-CN" sz="2000" dirty="0">
                <a:solidFill>
                  <a:prstClr val="black"/>
                </a:solidFill>
                <a:latin typeface="微软雅黑" pitchFamily="34" charset="-122"/>
                <a:ea typeface="微软雅黑" pitchFamily="34" charset="-122"/>
              </a:rPr>
              <a:t>时</a:t>
            </a:r>
            <a:r>
              <a:rPr lang="en-US" altLang="zh-CN" sz="2000" dirty="0" err="1">
                <a:solidFill>
                  <a:prstClr val="black"/>
                </a:solidFill>
                <a:latin typeface="微软雅黑" pitchFamily="34" charset="-122"/>
                <a:ea typeface="微软雅黑" pitchFamily="34" charset="-122"/>
              </a:rPr>
              <a:t>i,j,sum</a:t>
            </a:r>
            <a:r>
              <a:rPr lang="zh-CN" altLang="zh-CN" sz="2000" dirty="0">
                <a:solidFill>
                  <a:prstClr val="black"/>
                </a:solidFill>
                <a:latin typeface="微软雅黑" pitchFamily="34" charset="-122"/>
                <a:ea typeface="微软雅黑" pitchFamily="34" charset="-122"/>
              </a:rPr>
              <a:t>均分配在寄存器中，故数据访问命中率仅考虑数组</a:t>
            </a:r>
            <a:r>
              <a:rPr lang="en-US" altLang="zh-CN" sz="2000" dirty="0">
                <a:solidFill>
                  <a:prstClr val="black"/>
                </a:solidFill>
                <a:latin typeface="微软雅黑" pitchFamily="34" charset="-122"/>
                <a:ea typeface="微软雅黑" pitchFamily="34" charset="-122"/>
              </a:rPr>
              <a:t>A</a:t>
            </a:r>
            <a:r>
              <a:rPr lang="zh-CN" altLang="zh-CN" sz="2000" dirty="0">
                <a:solidFill>
                  <a:prstClr val="black"/>
                </a:solidFill>
                <a:latin typeface="微软雅黑" pitchFamily="34" charset="-122"/>
                <a:ea typeface="微软雅黑" pitchFamily="34" charset="-122"/>
              </a:rPr>
              <a:t>的情况。</a:t>
            </a:r>
            <a:r>
              <a:rPr lang="en-US" altLang="zh-CN" sz="2000" dirty="0">
                <a:solidFill>
                  <a:prstClr val="black"/>
                </a:solidFill>
                <a:latin typeface="微软雅黑" pitchFamily="34" charset="-122"/>
                <a:ea typeface="微软雅黑" pitchFamily="34" charset="-122"/>
              </a:rPr>
              <a:t>          </a:t>
            </a:r>
            <a:r>
              <a:rPr lang="zh-CN" altLang="zh-CN" sz="2000" dirty="0">
                <a:solidFill>
                  <a:prstClr val="black"/>
                </a:solidFill>
                <a:latin typeface="微软雅黑" pitchFamily="34" charset="-122"/>
                <a:ea typeface="微软雅黑" pitchFamily="34" charset="-122"/>
              </a:rPr>
              <a:t> </a:t>
            </a:r>
            <a:endParaRPr lang="en-US" altLang="zh-CN" sz="2000" dirty="0">
              <a:solidFill>
                <a:prstClr val="black"/>
              </a:solidFill>
              <a:latin typeface="微软雅黑" pitchFamily="34" charset="-122"/>
              <a:ea typeface="微软雅黑" pitchFamily="34" charset="-122"/>
            </a:endParaRPr>
          </a:p>
          <a:p>
            <a:pPr lvl="0">
              <a:lnSpc>
                <a:spcPct val="150000"/>
              </a:lnSpc>
            </a:pPr>
            <a:r>
              <a:rPr lang="en-US" altLang="zh-CN" sz="2000" dirty="0">
                <a:solidFill>
                  <a:prstClr val="black"/>
                </a:solidFill>
                <a:latin typeface="微软雅黑" pitchFamily="34" charset="-122"/>
                <a:ea typeface="微软雅黑" pitchFamily="34" charset="-122"/>
              </a:rPr>
              <a:t>       Cache</a:t>
            </a:r>
            <a:r>
              <a:rPr lang="zh-CN" altLang="zh-CN" sz="2000" dirty="0">
                <a:solidFill>
                  <a:prstClr val="black"/>
                </a:solidFill>
                <a:latin typeface="微软雅黑" pitchFamily="34" charset="-122"/>
                <a:ea typeface="微软雅黑" pitchFamily="34" charset="-122"/>
              </a:rPr>
              <a:t>每行</a:t>
            </a:r>
            <a:r>
              <a:rPr lang="en-US" altLang="zh-CN" sz="2000" dirty="0">
                <a:solidFill>
                  <a:prstClr val="black"/>
                </a:solidFill>
                <a:latin typeface="微软雅黑" pitchFamily="34" charset="-122"/>
                <a:ea typeface="微软雅黑" pitchFamily="34" charset="-122"/>
              </a:rPr>
              <a:t>64B</a:t>
            </a:r>
            <a:r>
              <a:rPr lang="zh-CN" altLang="zh-CN" sz="2000" dirty="0">
                <a:solidFill>
                  <a:prstClr val="black"/>
                </a:solidFill>
                <a:latin typeface="微软雅黑" pitchFamily="34" charset="-122"/>
                <a:ea typeface="微软雅黑" pitchFamily="34" charset="-122"/>
              </a:rPr>
              <a:t>，即</a:t>
            </a:r>
            <a:r>
              <a:rPr lang="en-US" altLang="zh-CN" sz="2000" dirty="0">
                <a:solidFill>
                  <a:prstClr val="black"/>
                </a:solidFill>
                <a:latin typeface="微软雅黑" pitchFamily="34" charset="-122"/>
                <a:ea typeface="微软雅黑" pitchFamily="34" charset="-122"/>
              </a:rPr>
              <a:t>16</a:t>
            </a:r>
            <a:r>
              <a:rPr lang="zh-CN" altLang="zh-CN" sz="2000" dirty="0">
                <a:solidFill>
                  <a:prstClr val="black"/>
                </a:solidFill>
                <a:latin typeface="微软雅黑" pitchFamily="34" charset="-122"/>
                <a:ea typeface="微软雅黑" pitchFamily="34" charset="-122"/>
              </a:rPr>
              <a:t>个</a:t>
            </a:r>
            <a:r>
              <a:rPr lang="en-US" altLang="zh-CN" sz="2000" dirty="0" err="1">
                <a:solidFill>
                  <a:prstClr val="black"/>
                </a:solidFill>
                <a:latin typeface="微软雅黑" pitchFamily="34" charset="-122"/>
                <a:ea typeface="微软雅黑" pitchFamily="34" charset="-122"/>
              </a:rPr>
              <a:t>int</a:t>
            </a:r>
            <a:r>
              <a:rPr lang="zh-CN" altLang="zh-CN" sz="2000" dirty="0">
                <a:solidFill>
                  <a:prstClr val="black"/>
                </a:solidFill>
                <a:latin typeface="微软雅黑" pitchFamily="34" charset="-122"/>
                <a:ea typeface="微软雅黑" pitchFamily="34" charset="-122"/>
              </a:rPr>
              <a:t>类型的数据字，数组</a:t>
            </a:r>
            <a:r>
              <a:rPr lang="en-US" altLang="zh-CN" sz="2000" dirty="0">
                <a:solidFill>
                  <a:prstClr val="black"/>
                </a:solidFill>
                <a:latin typeface="微软雅黑" pitchFamily="34" charset="-122"/>
                <a:ea typeface="微软雅黑" pitchFamily="34" charset="-122"/>
              </a:rPr>
              <a:t>A</a:t>
            </a:r>
            <a:r>
              <a:rPr lang="zh-CN" altLang="zh-CN" sz="2000" dirty="0">
                <a:solidFill>
                  <a:prstClr val="black"/>
                </a:solidFill>
                <a:latin typeface="微软雅黑" pitchFamily="34" charset="-122"/>
                <a:ea typeface="微软雅黑" pitchFamily="34" charset="-122"/>
              </a:rPr>
              <a:t>占主存中</a:t>
            </a:r>
            <a:r>
              <a:rPr lang="en-US" altLang="zh-CN" sz="2000" dirty="0">
                <a:solidFill>
                  <a:prstClr val="black"/>
                </a:solidFill>
                <a:latin typeface="微软雅黑" pitchFamily="34" charset="-122"/>
                <a:ea typeface="微软雅黑" pitchFamily="34" charset="-122"/>
              </a:rPr>
              <a:t>128/16=8</a:t>
            </a:r>
            <a:r>
              <a:rPr lang="zh-CN" altLang="zh-CN" sz="2000" dirty="0">
                <a:solidFill>
                  <a:prstClr val="black"/>
                </a:solidFill>
                <a:latin typeface="微软雅黑" pitchFamily="34" charset="-122"/>
                <a:ea typeface="微软雅黑" pitchFamily="34" charset="-122"/>
              </a:rPr>
              <a:t>个主存块</a:t>
            </a:r>
            <a:r>
              <a:rPr lang="zh-CN" altLang="en-US" sz="2000" dirty="0" smtClean="0">
                <a:solidFill>
                  <a:prstClr val="black"/>
                </a:solidFill>
                <a:latin typeface="微软雅黑" pitchFamily="34" charset="-122"/>
                <a:ea typeface="微软雅黑" pitchFamily="34" charset="-122"/>
              </a:rPr>
              <a:t>。</a:t>
            </a:r>
            <a:endParaRPr lang="en-US" altLang="zh-CN" sz="2000" dirty="0" smtClean="0">
              <a:solidFill>
                <a:prstClr val="black"/>
              </a:solidFill>
              <a:latin typeface="微软雅黑" pitchFamily="34" charset="-122"/>
              <a:ea typeface="微软雅黑" pitchFamily="34" charset="-122"/>
            </a:endParaRPr>
          </a:p>
          <a:p>
            <a:pPr lvl="0">
              <a:lnSpc>
                <a:spcPct val="150000"/>
              </a:lnSpc>
            </a:pPr>
            <a:r>
              <a:rPr lang="en-US" altLang="zh-CN" sz="2000" dirty="0" smtClean="0">
                <a:solidFill>
                  <a:prstClr val="black"/>
                </a:solidFill>
                <a:latin typeface="微软雅黑" pitchFamily="34" charset="-122"/>
                <a:ea typeface="微软雅黑" pitchFamily="34" charset="-122"/>
              </a:rPr>
              <a:t>       A[0</a:t>
            </a:r>
            <a:r>
              <a:rPr lang="en-US" altLang="zh-CN" sz="2000" dirty="0">
                <a:solidFill>
                  <a:prstClr val="black"/>
                </a:solidFill>
                <a:latin typeface="微软雅黑" pitchFamily="34" charset="-122"/>
                <a:ea typeface="微软雅黑" pitchFamily="34" charset="-122"/>
              </a:rPr>
              <a:t>]</a:t>
            </a:r>
            <a:r>
              <a:rPr lang="zh-CN" altLang="en-US" sz="2000" dirty="0">
                <a:solidFill>
                  <a:prstClr val="black"/>
                </a:solidFill>
                <a:latin typeface="微软雅黑" pitchFamily="34" charset="-122"/>
                <a:ea typeface="微软雅黑" pitchFamily="34" charset="-122"/>
              </a:rPr>
              <a:t>地址为</a:t>
            </a:r>
            <a:r>
              <a:rPr lang="en-US" altLang="zh-CN" sz="2000" dirty="0" smtClean="0">
                <a:solidFill>
                  <a:prstClr val="black"/>
                </a:solidFill>
                <a:latin typeface="微软雅黑" pitchFamily="34" charset="-122"/>
                <a:ea typeface="微软雅黑" pitchFamily="34" charset="-122"/>
              </a:rPr>
              <a:t>128</a:t>
            </a:r>
            <a:r>
              <a:rPr lang="zh-CN" altLang="en-US" sz="2000" dirty="0" smtClean="0">
                <a:solidFill>
                  <a:prstClr val="black"/>
                </a:solidFill>
                <a:latin typeface="微软雅黑" pitchFamily="34" charset="-122"/>
                <a:ea typeface="微软雅黑" pitchFamily="34" charset="-122"/>
              </a:rPr>
              <a:t>，</a:t>
            </a:r>
            <a:r>
              <a:rPr lang="en-US" altLang="zh-CN" sz="2000" dirty="0" smtClean="0">
                <a:solidFill>
                  <a:prstClr val="black"/>
                </a:solidFill>
                <a:latin typeface="微软雅黑" pitchFamily="34" charset="-122"/>
                <a:ea typeface="微软雅黑" pitchFamily="34" charset="-122"/>
              </a:rPr>
              <a:t>128/64 </a:t>
            </a:r>
            <a:r>
              <a:rPr lang="en-US" altLang="zh-CN" sz="2000" dirty="0">
                <a:solidFill>
                  <a:prstClr val="black"/>
                </a:solidFill>
                <a:latin typeface="微软雅黑" pitchFamily="34" charset="-122"/>
                <a:ea typeface="微软雅黑" pitchFamily="34" charset="-122"/>
              </a:rPr>
              <a:t>= </a:t>
            </a:r>
            <a:r>
              <a:rPr lang="en-US" altLang="zh-CN" sz="2000" dirty="0" smtClean="0">
                <a:solidFill>
                  <a:prstClr val="black"/>
                </a:solidFill>
                <a:latin typeface="微软雅黑" pitchFamily="34" charset="-122"/>
                <a:ea typeface="微软雅黑" pitchFamily="34" charset="-122"/>
              </a:rPr>
              <a:t>2</a:t>
            </a:r>
            <a:r>
              <a:rPr lang="zh-CN" altLang="en-US" sz="2000" dirty="0" smtClean="0">
                <a:solidFill>
                  <a:prstClr val="black"/>
                </a:solidFill>
                <a:latin typeface="微软雅黑" pitchFamily="34" charset="-122"/>
                <a:ea typeface="微软雅黑" pitchFamily="34" charset="-122"/>
              </a:rPr>
              <a:t>，共</a:t>
            </a:r>
            <a:r>
              <a:rPr lang="en-US" altLang="zh-CN" sz="2000" dirty="0">
                <a:solidFill>
                  <a:prstClr val="black"/>
                </a:solidFill>
                <a:latin typeface="微软雅黑" pitchFamily="34" charset="-122"/>
                <a:ea typeface="微软雅黑" pitchFamily="34" charset="-122"/>
              </a:rPr>
              <a:t>128</a:t>
            </a:r>
            <a:r>
              <a:rPr lang="zh-CN" altLang="en-US" sz="2000" dirty="0">
                <a:solidFill>
                  <a:prstClr val="black"/>
                </a:solidFill>
                <a:latin typeface="微软雅黑" pitchFamily="34" charset="-122"/>
                <a:ea typeface="微软雅黑" pitchFamily="34" charset="-122"/>
              </a:rPr>
              <a:t>*</a:t>
            </a:r>
            <a:r>
              <a:rPr lang="en-US" altLang="zh-CN" sz="2000" dirty="0">
                <a:solidFill>
                  <a:prstClr val="black"/>
                </a:solidFill>
                <a:latin typeface="微软雅黑" pitchFamily="34" charset="-122"/>
                <a:ea typeface="微软雅黑" pitchFamily="34" charset="-122"/>
              </a:rPr>
              <a:t>4/64=8</a:t>
            </a:r>
            <a:r>
              <a:rPr lang="zh-CN" altLang="en-US" sz="2000" dirty="0">
                <a:solidFill>
                  <a:prstClr val="black"/>
                </a:solidFill>
                <a:latin typeface="微软雅黑" pitchFamily="34" charset="-122"/>
                <a:ea typeface="微软雅黑" pitchFamily="34" charset="-122"/>
              </a:rPr>
              <a:t>块</a:t>
            </a:r>
            <a:endParaRPr lang="en-US" altLang="zh-CN" sz="2000" dirty="0">
              <a:solidFill>
                <a:prstClr val="black"/>
              </a:solidFill>
              <a:latin typeface="微软雅黑" pitchFamily="34" charset="-122"/>
              <a:ea typeface="微软雅黑" pitchFamily="34" charset="-122"/>
            </a:endParaRPr>
          </a:p>
          <a:p>
            <a:pPr lvl="0">
              <a:lnSpc>
                <a:spcPct val="150000"/>
              </a:lnSpc>
            </a:pPr>
            <a:r>
              <a:rPr lang="zh-CN" altLang="en-US" sz="2000" dirty="0" smtClean="0">
                <a:solidFill>
                  <a:srgbClr val="000000"/>
                </a:solidFill>
                <a:latin typeface="微软雅黑" panose="020B0503020204020204" pitchFamily="34" charset="-122"/>
                <a:ea typeface="微软雅黑" panose="020B0503020204020204" pitchFamily="34" charset="-122"/>
                <a:sym typeface="Microsoft Yahei"/>
              </a:rPr>
              <a:t>       数组</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A</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在主存中对应的块号从第</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2</a:t>
            </a:r>
            <a:r>
              <a:rPr lang="zh-CN" altLang="en-US" sz="2000" dirty="0">
                <a:solidFill>
                  <a:srgbClr val="000000"/>
                </a:solidFill>
                <a:latin typeface="微软雅黑" panose="020B0503020204020204" pitchFamily="34" charset="-122"/>
                <a:ea typeface="微软雅黑" panose="020B0503020204020204" pitchFamily="34" charset="-122"/>
                <a:sym typeface="Microsoft Yahei"/>
              </a:rPr>
              <a:t>块到第 </a:t>
            </a:r>
            <a:r>
              <a:rPr lang="en-US" altLang="zh-CN" sz="2000" dirty="0">
                <a:solidFill>
                  <a:srgbClr val="000000"/>
                </a:solidFill>
                <a:latin typeface="微软雅黑" panose="020B0503020204020204" pitchFamily="34" charset="-122"/>
                <a:ea typeface="微软雅黑" panose="020B0503020204020204" pitchFamily="34" charset="-122"/>
                <a:sym typeface="Microsoft Yahei"/>
              </a:rPr>
              <a:t>9</a:t>
            </a:r>
            <a:r>
              <a:rPr lang="zh-CN" altLang="en-US" sz="2000" dirty="0" smtClean="0">
                <a:solidFill>
                  <a:srgbClr val="000000"/>
                </a:solidFill>
                <a:latin typeface="微软雅黑" panose="020B0503020204020204" pitchFamily="34" charset="-122"/>
                <a:ea typeface="微软雅黑" panose="020B0503020204020204" pitchFamily="34" charset="-122"/>
                <a:sym typeface="Microsoft Yahei"/>
              </a:rPr>
              <a:t>块。</a:t>
            </a:r>
            <a:endParaRPr lang="en-US" altLang="zh-CN" sz="2000" dirty="0">
              <a:solidFill>
                <a:prstClr val="black"/>
              </a:solidFill>
              <a:latin typeface="微软雅黑" pitchFamily="34" charset="-122"/>
              <a:ea typeface="微软雅黑" pitchFamily="34" charset="-122"/>
            </a:endParaRPr>
          </a:p>
          <a:p>
            <a:pPr lvl="0">
              <a:lnSpc>
                <a:spcPct val="150000"/>
              </a:lnSpc>
            </a:pPr>
            <a:r>
              <a:rPr lang="en-US" altLang="zh-CN" sz="2000" dirty="0">
                <a:solidFill>
                  <a:prstClr val="black"/>
                </a:solidFill>
                <a:latin typeface="微软雅黑" pitchFamily="34" charset="-122"/>
                <a:ea typeface="微软雅黑" pitchFamily="34" charset="-122"/>
              </a:rPr>
              <a:t>       </a:t>
            </a:r>
            <a:r>
              <a:rPr lang="zh-CN" altLang="en-US" sz="2000" dirty="0">
                <a:solidFill>
                  <a:prstClr val="black"/>
                </a:solidFill>
                <a:latin typeface="微软雅黑" pitchFamily="34" charset="-122"/>
                <a:ea typeface="微软雅黑" pitchFamily="34" charset="-122"/>
              </a:rPr>
              <a:t>首次</a:t>
            </a:r>
            <a:r>
              <a:rPr lang="zh-CN" altLang="zh-CN" sz="2000" dirty="0">
                <a:solidFill>
                  <a:prstClr val="black"/>
                </a:solidFill>
                <a:latin typeface="微软雅黑" pitchFamily="34" charset="-122"/>
                <a:ea typeface="微软雅黑" pitchFamily="34" charset="-122"/>
              </a:rPr>
              <a:t>访问</a:t>
            </a:r>
            <a:r>
              <a:rPr lang="zh-CN" altLang="en-US" sz="2000" dirty="0">
                <a:solidFill>
                  <a:prstClr val="black"/>
                </a:solidFill>
                <a:latin typeface="微软雅黑" pitchFamily="34" charset="-122"/>
                <a:ea typeface="微软雅黑" pitchFamily="34" charset="-122"/>
              </a:rPr>
              <a:t>时</a:t>
            </a:r>
            <a:r>
              <a:rPr lang="zh-CN" altLang="zh-CN" sz="2000" dirty="0">
                <a:solidFill>
                  <a:prstClr val="black"/>
                </a:solidFill>
                <a:latin typeface="微软雅黑" pitchFamily="34" charset="-122"/>
                <a:ea typeface="微软雅黑" pitchFamily="34" charset="-122"/>
              </a:rPr>
              <a:t>每个字块中头一个字不会命中，但接下来的</a:t>
            </a:r>
            <a:r>
              <a:rPr lang="en-US" altLang="zh-CN" sz="2000" dirty="0">
                <a:solidFill>
                  <a:prstClr val="black"/>
                </a:solidFill>
                <a:latin typeface="微软雅黑" pitchFamily="34" charset="-122"/>
                <a:ea typeface="微软雅黑" pitchFamily="34" charset="-122"/>
              </a:rPr>
              <a:t>15</a:t>
            </a:r>
            <a:r>
              <a:rPr lang="zh-CN" altLang="zh-CN" sz="2000" dirty="0">
                <a:solidFill>
                  <a:prstClr val="black"/>
                </a:solidFill>
                <a:latin typeface="微软雅黑" pitchFamily="34" charset="-122"/>
                <a:ea typeface="微软雅黑" pitchFamily="34" charset="-122"/>
              </a:rPr>
              <a:t>个字都会命中</a:t>
            </a:r>
            <a:r>
              <a:rPr lang="zh-CN" altLang="en-US" sz="2000" dirty="0" smtClean="0">
                <a:solidFill>
                  <a:prstClr val="black"/>
                </a:solidFill>
                <a:latin typeface="微软雅黑" pitchFamily="34" charset="-122"/>
                <a:ea typeface="微软雅黑" pitchFamily="34" charset="-122"/>
              </a:rPr>
              <a:t>；第</a:t>
            </a:r>
            <a:r>
              <a:rPr lang="en-US" altLang="zh-CN" sz="2000" dirty="0">
                <a:solidFill>
                  <a:prstClr val="black"/>
                </a:solidFill>
                <a:latin typeface="微软雅黑" pitchFamily="34" charset="-122"/>
                <a:ea typeface="微软雅黑" pitchFamily="34" charset="-122"/>
              </a:rPr>
              <a:t>2</a:t>
            </a:r>
            <a:r>
              <a:rPr lang="zh-CN" altLang="en-US" sz="2000" dirty="0">
                <a:solidFill>
                  <a:prstClr val="black"/>
                </a:solidFill>
                <a:latin typeface="微软雅黑" pitchFamily="34" charset="-122"/>
                <a:ea typeface="微软雅黑" pitchFamily="34" charset="-122"/>
              </a:rPr>
              <a:t>次及以后</a:t>
            </a:r>
            <a:r>
              <a:rPr lang="zh-CN" altLang="zh-CN" sz="2000" dirty="0">
                <a:solidFill>
                  <a:prstClr val="black"/>
                </a:solidFill>
                <a:latin typeface="微软雅黑" pitchFamily="34" charset="-122"/>
                <a:ea typeface="微软雅黑" pitchFamily="34" charset="-122"/>
              </a:rPr>
              <a:t>访问</a:t>
            </a:r>
            <a:r>
              <a:rPr lang="zh-CN" altLang="en-US" sz="2000" dirty="0">
                <a:solidFill>
                  <a:prstClr val="black"/>
                </a:solidFill>
                <a:latin typeface="微软雅黑" pitchFamily="34" charset="-122"/>
                <a:ea typeface="微软雅黑" pitchFamily="34" charset="-122"/>
              </a:rPr>
              <a:t>时第</a:t>
            </a:r>
            <a:r>
              <a:rPr lang="en-US" altLang="zh-CN" sz="2000" dirty="0">
                <a:solidFill>
                  <a:prstClr val="black"/>
                </a:solidFill>
                <a:latin typeface="微软雅黑" pitchFamily="34" charset="-122"/>
                <a:ea typeface="微软雅黑" pitchFamily="34" charset="-122"/>
              </a:rPr>
              <a:t>2</a:t>
            </a:r>
            <a:r>
              <a:rPr lang="zh-CN" altLang="en-US" sz="2000" dirty="0">
                <a:solidFill>
                  <a:prstClr val="black"/>
                </a:solidFill>
                <a:latin typeface="微软雅黑" pitchFamily="34" charset="-122"/>
                <a:ea typeface="微软雅黑" pitchFamily="34" charset="-122"/>
              </a:rPr>
              <a:t>块和第</a:t>
            </a:r>
            <a:r>
              <a:rPr lang="en-US" altLang="zh-CN" sz="2000" dirty="0">
                <a:solidFill>
                  <a:prstClr val="black"/>
                </a:solidFill>
                <a:latin typeface="微软雅黑" pitchFamily="34" charset="-122"/>
                <a:ea typeface="微软雅黑" pitchFamily="34" charset="-122"/>
              </a:rPr>
              <a:t>9</a:t>
            </a:r>
            <a:r>
              <a:rPr lang="zh-CN" altLang="en-US" sz="2000" dirty="0">
                <a:solidFill>
                  <a:prstClr val="black"/>
                </a:solidFill>
                <a:latin typeface="微软雅黑" pitchFamily="34" charset="-122"/>
                <a:ea typeface="微软雅黑" pitchFamily="34" charset="-122"/>
              </a:rPr>
              <a:t>块</a:t>
            </a:r>
            <a:r>
              <a:rPr lang="zh-CN" altLang="zh-CN" sz="2000" dirty="0">
                <a:solidFill>
                  <a:prstClr val="black"/>
                </a:solidFill>
                <a:latin typeface="微软雅黑" pitchFamily="34" charset="-122"/>
                <a:ea typeface="微软雅黑" pitchFamily="34" charset="-122"/>
              </a:rPr>
              <a:t>中头一个字不会命中，</a:t>
            </a:r>
            <a:r>
              <a:rPr lang="zh-CN" altLang="en-US" sz="2000" dirty="0">
                <a:solidFill>
                  <a:prstClr val="black"/>
                </a:solidFill>
                <a:latin typeface="微软雅黑" pitchFamily="34" charset="-122"/>
                <a:ea typeface="微软雅黑" pitchFamily="34" charset="-122"/>
              </a:rPr>
              <a:t>其它</a:t>
            </a:r>
            <a:r>
              <a:rPr lang="en-US" altLang="zh-CN" sz="2000" dirty="0">
                <a:solidFill>
                  <a:prstClr val="black"/>
                </a:solidFill>
                <a:latin typeface="微软雅黑" pitchFamily="34" charset="-122"/>
                <a:ea typeface="微软雅黑" pitchFamily="34" charset="-122"/>
              </a:rPr>
              <a:t>15</a:t>
            </a:r>
            <a:r>
              <a:rPr lang="zh-CN" altLang="zh-CN" sz="2000" dirty="0">
                <a:solidFill>
                  <a:prstClr val="black"/>
                </a:solidFill>
                <a:latin typeface="微软雅黑" pitchFamily="34" charset="-122"/>
                <a:ea typeface="微软雅黑" pitchFamily="34" charset="-122"/>
              </a:rPr>
              <a:t>个字都会命中，</a:t>
            </a:r>
            <a:r>
              <a:rPr lang="zh-CN" altLang="en-US" sz="2000" dirty="0">
                <a:solidFill>
                  <a:prstClr val="black"/>
                </a:solidFill>
                <a:latin typeface="微软雅黑" pitchFamily="34" charset="-122"/>
                <a:ea typeface="微软雅黑" pitchFamily="34" charset="-122"/>
              </a:rPr>
              <a:t>第</a:t>
            </a:r>
            <a:r>
              <a:rPr lang="en-US" altLang="zh-CN" sz="2000" dirty="0">
                <a:solidFill>
                  <a:prstClr val="black"/>
                </a:solidFill>
                <a:latin typeface="微软雅黑" pitchFamily="34" charset="-122"/>
                <a:ea typeface="微软雅黑" pitchFamily="34" charset="-122"/>
              </a:rPr>
              <a:t>3-8</a:t>
            </a:r>
            <a:r>
              <a:rPr lang="zh-CN" altLang="zh-CN" sz="2000" dirty="0">
                <a:solidFill>
                  <a:prstClr val="black"/>
                </a:solidFill>
                <a:latin typeface="微软雅黑" pitchFamily="34" charset="-122"/>
                <a:ea typeface="微软雅黑" pitchFamily="34" charset="-122"/>
              </a:rPr>
              <a:t>块</a:t>
            </a:r>
            <a:r>
              <a:rPr lang="zh-CN" altLang="en-US" sz="2000" dirty="0">
                <a:solidFill>
                  <a:prstClr val="black"/>
                </a:solidFill>
                <a:latin typeface="微软雅黑" pitchFamily="34" charset="-122"/>
                <a:ea typeface="微软雅黑" pitchFamily="34" charset="-122"/>
              </a:rPr>
              <a:t>中</a:t>
            </a:r>
            <a:r>
              <a:rPr lang="en-US" altLang="zh-CN" sz="2000" dirty="0">
                <a:solidFill>
                  <a:prstClr val="black"/>
                </a:solidFill>
                <a:latin typeface="微软雅黑" pitchFamily="34" charset="-122"/>
                <a:ea typeface="微软雅黑" pitchFamily="34" charset="-122"/>
              </a:rPr>
              <a:t>16</a:t>
            </a:r>
            <a:r>
              <a:rPr lang="zh-CN" altLang="en-US" sz="2000" dirty="0">
                <a:solidFill>
                  <a:prstClr val="black"/>
                </a:solidFill>
                <a:latin typeface="微软雅黑" pitchFamily="34" charset="-122"/>
                <a:ea typeface="微软雅黑" pitchFamily="34" charset="-122"/>
              </a:rPr>
              <a:t>个字全命中。</a:t>
            </a:r>
            <a:endParaRPr lang="en-US" altLang="zh-CN" sz="2000" dirty="0">
              <a:solidFill>
                <a:prstClr val="black"/>
              </a:solidFill>
              <a:latin typeface="微软雅黑" pitchFamily="34" charset="-122"/>
              <a:ea typeface="微软雅黑" pitchFamily="34" charset="-122"/>
            </a:endParaRPr>
          </a:p>
          <a:p>
            <a:pPr lvl="0">
              <a:lnSpc>
                <a:spcPct val="150000"/>
              </a:lnSpc>
            </a:pPr>
            <a:r>
              <a:rPr lang="en-US" altLang="zh-CN" sz="2000" dirty="0">
                <a:solidFill>
                  <a:prstClr val="black"/>
                </a:solidFill>
                <a:latin typeface="微软雅黑" pitchFamily="34" charset="-122"/>
                <a:ea typeface="微软雅黑" pitchFamily="34" charset="-122"/>
              </a:rPr>
              <a:t>       </a:t>
            </a:r>
            <a:r>
              <a:rPr lang="zh-CN" altLang="en-US" sz="2000" dirty="0">
                <a:solidFill>
                  <a:prstClr val="black"/>
                </a:solidFill>
                <a:latin typeface="微软雅黑" pitchFamily="34" charset="-122"/>
                <a:ea typeface="微软雅黑" pitchFamily="34" charset="-122"/>
              </a:rPr>
              <a:t>共访问</a:t>
            </a:r>
            <a:r>
              <a:rPr lang="en-US" altLang="zh-CN" sz="2000" dirty="0">
                <a:solidFill>
                  <a:prstClr val="black"/>
                </a:solidFill>
                <a:latin typeface="微软雅黑" pitchFamily="34" charset="-122"/>
                <a:ea typeface="微软雅黑" pitchFamily="34" charset="-122"/>
              </a:rPr>
              <a:t>100</a:t>
            </a:r>
            <a:r>
              <a:rPr lang="zh-CN" altLang="en-US" sz="2000" dirty="0">
                <a:solidFill>
                  <a:prstClr val="black"/>
                </a:solidFill>
                <a:latin typeface="微软雅黑" pitchFamily="34" charset="-122"/>
                <a:ea typeface="微软雅黑" pitchFamily="34" charset="-122"/>
              </a:rPr>
              <a:t>*</a:t>
            </a:r>
            <a:r>
              <a:rPr lang="en-US" altLang="zh-CN" sz="2000" dirty="0">
                <a:solidFill>
                  <a:prstClr val="black"/>
                </a:solidFill>
                <a:latin typeface="微软雅黑" pitchFamily="34" charset="-122"/>
                <a:ea typeface="微软雅黑" pitchFamily="34" charset="-122"/>
              </a:rPr>
              <a:t>128=12800</a:t>
            </a:r>
            <a:r>
              <a:rPr lang="zh-CN" altLang="en-US" sz="2000" dirty="0">
                <a:solidFill>
                  <a:prstClr val="black"/>
                </a:solidFill>
                <a:latin typeface="微软雅黑" pitchFamily="34" charset="-122"/>
                <a:ea typeface="微软雅黑" pitchFamily="34" charset="-122"/>
              </a:rPr>
              <a:t>个</a:t>
            </a:r>
            <a:r>
              <a:rPr lang="zh-CN" altLang="en-US" sz="2000" dirty="0" smtClean="0">
                <a:solidFill>
                  <a:prstClr val="black"/>
                </a:solidFill>
                <a:latin typeface="微软雅黑" pitchFamily="34" charset="-122"/>
                <a:ea typeface="微软雅黑" pitchFamily="34" charset="-122"/>
              </a:rPr>
              <a:t>字，</a:t>
            </a:r>
            <a:endParaRPr lang="en-US" altLang="zh-CN" sz="2000" dirty="0" smtClean="0">
              <a:solidFill>
                <a:prstClr val="black"/>
              </a:solidFill>
              <a:latin typeface="微软雅黑" pitchFamily="34" charset="-122"/>
              <a:ea typeface="微软雅黑" pitchFamily="34" charset="-122"/>
            </a:endParaRPr>
          </a:p>
          <a:p>
            <a:pPr lvl="0">
              <a:lnSpc>
                <a:spcPct val="150000"/>
              </a:lnSpc>
            </a:pPr>
            <a:r>
              <a:rPr lang="en-US" altLang="zh-CN" sz="2000" dirty="0">
                <a:solidFill>
                  <a:prstClr val="black"/>
                </a:solidFill>
                <a:latin typeface="微软雅黑" pitchFamily="34" charset="-122"/>
                <a:ea typeface="微软雅黑" pitchFamily="34" charset="-122"/>
              </a:rPr>
              <a:t> </a:t>
            </a:r>
            <a:r>
              <a:rPr lang="en-US" altLang="zh-CN" sz="2000" dirty="0" smtClean="0">
                <a:solidFill>
                  <a:prstClr val="black"/>
                </a:solidFill>
                <a:latin typeface="微软雅黑" pitchFamily="34" charset="-122"/>
                <a:ea typeface="微软雅黑" pitchFamily="34" charset="-122"/>
              </a:rPr>
              <a:t>      </a:t>
            </a:r>
            <a:r>
              <a:rPr lang="zh-CN" altLang="en-US" sz="2000" dirty="0" smtClean="0">
                <a:solidFill>
                  <a:prstClr val="black"/>
                </a:solidFill>
                <a:latin typeface="微软雅黑" pitchFamily="34" charset="-122"/>
                <a:ea typeface="微软雅黑" pitchFamily="34" charset="-122"/>
              </a:rPr>
              <a:t>未</a:t>
            </a:r>
            <a:r>
              <a:rPr lang="zh-CN" altLang="en-US" sz="2000" dirty="0">
                <a:solidFill>
                  <a:prstClr val="black"/>
                </a:solidFill>
                <a:latin typeface="微软雅黑" pitchFamily="34" charset="-122"/>
                <a:ea typeface="微软雅黑" pitchFamily="34" charset="-122"/>
              </a:rPr>
              <a:t>命中字数为：首次</a:t>
            </a:r>
            <a:r>
              <a:rPr lang="en-US" altLang="zh-CN" sz="2000" dirty="0">
                <a:solidFill>
                  <a:prstClr val="black"/>
                </a:solidFill>
                <a:latin typeface="微软雅黑" pitchFamily="34" charset="-122"/>
                <a:ea typeface="微软雅黑" pitchFamily="34" charset="-122"/>
              </a:rPr>
              <a:t>8</a:t>
            </a:r>
            <a:r>
              <a:rPr lang="zh-CN" altLang="en-US" sz="2000" dirty="0">
                <a:solidFill>
                  <a:prstClr val="black"/>
                </a:solidFill>
                <a:latin typeface="微软雅黑" pitchFamily="34" charset="-122"/>
                <a:ea typeface="微软雅黑" pitchFamily="34" charset="-122"/>
              </a:rPr>
              <a:t>，之后</a:t>
            </a:r>
            <a:r>
              <a:rPr lang="en-US" altLang="zh-CN" sz="2000" dirty="0">
                <a:solidFill>
                  <a:prstClr val="black"/>
                </a:solidFill>
                <a:latin typeface="微软雅黑" pitchFamily="34" charset="-122"/>
                <a:ea typeface="微软雅黑" pitchFamily="34" charset="-122"/>
              </a:rPr>
              <a:t>99</a:t>
            </a:r>
            <a:r>
              <a:rPr lang="zh-CN" altLang="en-US" sz="2000" dirty="0">
                <a:solidFill>
                  <a:prstClr val="black"/>
                </a:solidFill>
                <a:latin typeface="微软雅黑" pitchFamily="34" charset="-122"/>
                <a:ea typeface="微软雅黑" pitchFamily="34" charset="-122"/>
              </a:rPr>
              <a:t>*</a:t>
            </a:r>
            <a:r>
              <a:rPr lang="en-US" altLang="zh-CN" sz="2000" dirty="0">
                <a:solidFill>
                  <a:prstClr val="black"/>
                </a:solidFill>
                <a:latin typeface="微软雅黑" pitchFamily="34" charset="-122"/>
                <a:ea typeface="微软雅黑" pitchFamily="34" charset="-122"/>
              </a:rPr>
              <a:t>2</a:t>
            </a:r>
          </a:p>
          <a:p>
            <a:pPr lvl="0">
              <a:lnSpc>
                <a:spcPct val="150000"/>
              </a:lnSpc>
            </a:pPr>
            <a:r>
              <a:rPr lang="en-US" altLang="zh-CN" sz="2000" dirty="0">
                <a:solidFill>
                  <a:prstClr val="black"/>
                </a:solidFill>
                <a:latin typeface="微软雅黑" pitchFamily="34" charset="-122"/>
                <a:ea typeface="微软雅黑" pitchFamily="34" charset="-122"/>
              </a:rPr>
              <a:t>       </a:t>
            </a:r>
            <a:r>
              <a:rPr lang="zh-CN" altLang="zh-CN" sz="2000" dirty="0">
                <a:solidFill>
                  <a:prstClr val="black"/>
                </a:solidFill>
                <a:latin typeface="微软雅黑" pitchFamily="34" charset="-122"/>
                <a:ea typeface="微软雅黑" pitchFamily="34" charset="-122"/>
              </a:rPr>
              <a:t>访问命中率为</a:t>
            </a:r>
            <a:r>
              <a:rPr lang="zh-CN" altLang="en-US" sz="2000" dirty="0" smtClean="0">
                <a:solidFill>
                  <a:prstClr val="black"/>
                </a:solidFill>
                <a:latin typeface="微软雅黑" pitchFamily="34" charset="-122"/>
                <a:ea typeface="微软雅黑" pitchFamily="34" charset="-122"/>
              </a:rPr>
              <a:t>：</a:t>
            </a:r>
            <a:r>
              <a:rPr lang="en-US" altLang="zh-CN" sz="2000" dirty="0" smtClean="0">
                <a:solidFill>
                  <a:prstClr val="black"/>
                </a:solidFill>
                <a:latin typeface="微软雅黑" pitchFamily="34" charset="-122"/>
                <a:ea typeface="微软雅黑" pitchFamily="34" charset="-122"/>
              </a:rPr>
              <a:t>(</a:t>
            </a:r>
            <a:r>
              <a:rPr lang="en-US" altLang="zh-CN" sz="2000" dirty="0">
                <a:solidFill>
                  <a:prstClr val="black"/>
                </a:solidFill>
                <a:latin typeface="微软雅黑" pitchFamily="34" charset="-122"/>
                <a:ea typeface="微软雅黑" pitchFamily="34" charset="-122"/>
              </a:rPr>
              <a:t>12800-8-99*2)*</a:t>
            </a:r>
            <a:r>
              <a:rPr lang="en-US" altLang="zh-CN" sz="2000" dirty="0" smtClean="0">
                <a:solidFill>
                  <a:prstClr val="black"/>
                </a:solidFill>
                <a:latin typeface="微软雅黑" pitchFamily="34" charset="-122"/>
                <a:ea typeface="微软雅黑" pitchFamily="34" charset="-122"/>
              </a:rPr>
              <a:t>100/12800</a:t>
            </a:r>
          </a:p>
          <a:p>
            <a:pPr lvl="0">
              <a:lnSpc>
                <a:spcPct val="150000"/>
              </a:lnSpc>
            </a:pPr>
            <a:r>
              <a:rPr lang="en-US" altLang="zh-CN" sz="2000" dirty="0">
                <a:solidFill>
                  <a:prstClr val="black"/>
                </a:solidFill>
                <a:latin typeface="微软雅黑" pitchFamily="34" charset="-122"/>
                <a:ea typeface="微软雅黑" pitchFamily="34" charset="-122"/>
              </a:rPr>
              <a:t> </a:t>
            </a:r>
            <a:r>
              <a:rPr lang="en-US" altLang="zh-CN" sz="2000" dirty="0" smtClean="0">
                <a:solidFill>
                  <a:prstClr val="black"/>
                </a:solidFill>
                <a:latin typeface="微软雅黑" pitchFamily="34" charset="-122"/>
                <a:ea typeface="微软雅黑" pitchFamily="34" charset="-122"/>
              </a:rPr>
              <a:t>                                  =</a:t>
            </a:r>
            <a:r>
              <a:rPr lang="en-US" altLang="zh-CN" sz="2000" dirty="0">
                <a:solidFill>
                  <a:prstClr val="black"/>
                </a:solidFill>
                <a:latin typeface="微软雅黑" pitchFamily="34" charset="-122"/>
                <a:ea typeface="微软雅黑" pitchFamily="34" charset="-122"/>
              </a:rPr>
              <a:t>98.39%</a:t>
            </a:r>
            <a:endParaRPr lang="zh-CN" altLang="zh-CN" sz="2000" dirty="0">
              <a:latin typeface="微软雅黑" pitchFamily="34" charset="-122"/>
              <a:ea typeface="微软雅黑" pitchFamily="34" charset="-122"/>
            </a:endParaRPr>
          </a:p>
        </p:txBody>
      </p:sp>
    </p:spTree>
    <p:extLst>
      <p:ext uri="{BB962C8B-B14F-4D97-AF65-F5344CB8AC3E}">
        <p14:creationId xmlns:p14="http://schemas.microsoft.com/office/powerpoint/2010/main" val="215243825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2B7ED8DE-C9CC-421A-999E-03462534CF95}" type="slidenum">
              <a:rPr lang="en-US" altLang="zh-CN"/>
              <a:pPr>
                <a:defRPr/>
              </a:pPr>
              <a:t>91</a:t>
            </a:fld>
            <a:endParaRPr lang="en-US" altLang="zh-CN"/>
          </a:p>
        </p:txBody>
      </p:sp>
      <p:sp>
        <p:nvSpPr>
          <p:cNvPr id="109571" name="Rectangle 2"/>
          <p:cNvSpPr>
            <a:spLocks noGrp="1" noChangeArrowheads="1"/>
          </p:cNvSpPr>
          <p:nvPr>
            <p:ph type="title"/>
          </p:nvPr>
        </p:nvSpPr>
        <p:spPr>
          <a:xfrm>
            <a:off x="468313" y="404813"/>
            <a:ext cx="7543800" cy="714375"/>
          </a:xfrm>
        </p:spPr>
        <p:txBody>
          <a:bodyPr/>
          <a:lstStyle/>
          <a:p>
            <a:pPr eaLnBrk="1" hangingPunct="1"/>
            <a:r>
              <a:rPr lang="zh-CN" altLang="en-US" sz="4000" b="0" smtClean="0">
                <a:ea typeface="楷体_GB2312" pitchFamily="49" charset="-122"/>
              </a:rPr>
              <a:t>三、组相联映射方式</a:t>
            </a:r>
          </a:p>
        </p:txBody>
      </p:sp>
      <p:sp>
        <p:nvSpPr>
          <p:cNvPr id="109572" name="Rectangle 3"/>
          <p:cNvSpPr>
            <a:spLocks noGrp="1" noChangeArrowheads="1"/>
          </p:cNvSpPr>
          <p:nvPr>
            <p:ph type="body" idx="1"/>
          </p:nvPr>
        </p:nvSpPr>
        <p:spPr>
          <a:xfrm>
            <a:off x="395288" y="1412875"/>
            <a:ext cx="7416800" cy="3816350"/>
          </a:xfrm>
        </p:spPr>
        <p:txBody>
          <a:bodyPr/>
          <a:lstStyle/>
          <a:p>
            <a:pPr marL="457200" indent="-457200" eaLnBrk="1" hangingPunct="1">
              <a:lnSpc>
                <a:spcPct val="90000"/>
              </a:lnSpc>
            </a:pPr>
            <a:r>
              <a:rPr lang="zh-CN" altLang="en-US" sz="2800" smtClean="0">
                <a:latin typeface="楷体_GB2312" pitchFamily="49" charset="-122"/>
                <a:ea typeface="楷体_GB2312" pitchFamily="49" charset="-122"/>
              </a:rPr>
              <a:t>前两者的组合</a:t>
            </a:r>
          </a:p>
          <a:p>
            <a:pPr marL="1027113" lvl="1" indent="-455613" eaLnBrk="1" hangingPunct="1">
              <a:lnSpc>
                <a:spcPct val="90000"/>
              </a:lnSpc>
            </a:pPr>
            <a:r>
              <a:rPr lang="en-US" altLang="zh-CN" sz="2800" smtClean="0">
                <a:latin typeface="楷体_GB2312" pitchFamily="49" charset="-122"/>
                <a:ea typeface="楷体_GB2312" pitchFamily="49" charset="-122"/>
              </a:rPr>
              <a:t>Cache</a:t>
            </a:r>
            <a:r>
              <a:rPr lang="zh-CN" altLang="en-US" sz="2800" smtClean="0">
                <a:latin typeface="楷体_GB2312" pitchFamily="49" charset="-122"/>
                <a:ea typeface="楷体_GB2312" pitchFamily="49" charset="-122"/>
              </a:rPr>
              <a:t>分组，组间采用直接映射方式，组内采用全相联的映射方式</a:t>
            </a:r>
          </a:p>
          <a:p>
            <a:pPr marL="1027113" lvl="1" indent="-455613" eaLnBrk="1" hangingPunct="1">
              <a:lnSpc>
                <a:spcPct val="90000"/>
              </a:lnSpc>
            </a:pPr>
            <a:r>
              <a:rPr lang="en-US" altLang="zh-CN" sz="2800" smtClean="0">
                <a:latin typeface="楷体_GB2312" pitchFamily="49" charset="-122"/>
                <a:ea typeface="楷体_GB2312" pitchFamily="49" charset="-122"/>
              </a:rPr>
              <a:t>Cache</a:t>
            </a:r>
            <a:r>
              <a:rPr lang="zh-CN" altLang="en-US" sz="2800" smtClean="0">
                <a:latin typeface="楷体_GB2312" pitchFamily="49" charset="-122"/>
                <a:ea typeface="楷体_GB2312" pitchFamily="49" charset="-122"/>
              </a:rPr>
              <a:t>分组</a:t>
            </a:r>
            <a:r>
              <a:rPr lang="en-US" altLang="zh-CN" sz="2800" smtClean="0">
                <a:latin typeface="楷体_GB2312" pitchFamily="49" charset="-122"/>
                <a:ea typeface="楷体_GB2312" pitchFamily="49" charset="-122"/>
              </a:rPr>
              <a:t>u</a:t>
            </a:r>
            <a:r>
              <a:rPr lang="zh-CN" altLang="en-US" sz="2800" smtClean="0">
                <a:latin typeface="楷体_GB2312" pitchFamily="49" charset="-122"/>
                <a:ea typeface="楷体_GB2312" pitchFamily="49" charset="-122"/>
              </a:rPr>
              <a:t>，组内容量</a:t>
            </a:r>
            <a:r>
              <a:rPr lang="en-US" altLang="zh-CN" sz="2800" smtClean="0">
                <a:latin typeface="楷体_GB2312" pitchFamily="49" charset="-122"/>
                <a:ea typeface="楷体_GB2312" pitchFamily="49" charset="-122"/>
              </a:rPr>
              <a:t>v</a:t>
            </a:r>
          </a:p>
          <a:p>
            <a:pPr marL="1027113" lvl="1" indent="-455613" eaLnBrk="1" hangingPunct="1">
              <a:lnSpc>
                <a:spcPct val="90000"/>
              </a:lnSpc>
            </a:pPr>
            <a:r>
              <a:rPr lang="zh-CN" altLang="en-US" sz="2800" smtClean="0">
                <a:latin typeface="楷体_GB2312" pitchFamily="49" charset="-122"/>
                <a:ea typeface="楷体_GB2312" pitchFamily="49" charset="-122"/>
              </a:rPr>
              <a:t>映射方法（一对多）</a:t>
            </a:r>
          </a:p>
          <a:p>
            <a:pPr marL="1370013" lvl="2" indent="-228600" eaLnBrk="1" hangingPunct="1">
              <a:lnSpc>
                <a:spcPct val="90000"/>
              </a:lnSpc>
            </a:pPr>
            <a:r>
              <a:rPr lang="en-US" altLang="zh-CN" sz="2800" smtClean="0">
                <a:latin typeface="楷体_GB2312" pitchFamily="49" charset="-122"/>
                <a:ea typeface="楷体_GB2312" pitchFamily="49" charset="-122"/>
              </a:rPr>
              <a:t>q= j mod u</a:t>
            </a:r>
          </a:p>
          <a:p>
            <a:pPr marL="1370013" lvl="2" indent="-228600" eaLnBrk="1" hangingPunct="1">
              <a:lnSpc>
                <a:spcPct val="90000"/>
              </a:lnSpc>
            </a:pPr>
            <a:r>
              <a:rPr lang="zh-CN" altLang="en-US" sz="2800" smtClean="0">
                <a:latin typeface="楷体_GB2312" pitchFamily="49" charset="-122"/>
                <a:ea typeface="楷体_GB2312" pitchFamily="49" charset="-122"/>
              </a:rPr>
              <a:t>主存第</a:t>
            </a:r>
            <a:r>
              <a:rPr lang="en-US" altLang="zh-CN" sz="2800" smtClean="0">
                <a:latin typeface="楷体_GB2312" pitchFamily="49" charset="-122"/>
                <a:ea typeface="楷体_GB2312" pitchFamily="49" charset="-122"/>
              </a:rPr>
              <a:t>j</a:t>
            </a:r>
            <a:r>
              <a:rPr lang="zh-CN" altLang="en-US" sz="2800" smtClean="0">
                <a:latin typeface="楷体_GB2312" pitchFamily="49" charset="-122"/>
                <a:ea typeface="楷体_GB2312" pitchFamily="49" charset="-122"/>
              </a:rPr>
              <a:t>块内容拷贝到</a:t>
            </a:r>
            <a:r>
              <a:rPr lang="en-US" altLang="zh-CN" sz="2800" smtClean="0">
                <a:latin typeface="楷体_GB2312" pitchFamily="49" charset="-122"/>
                <a:ea typeface="楷体_GB2312" pitchFamily="49" charset="-122"/>
              </a:rPr>
              <a:t>Cache</a:t>
            </a:r>
            <a:r>
              <a:rPr lang="zh-CN" altLang="en-US" sz="2800" smtClean="0">
                <a:latin typeface="楷体_GB2312" pitchFamily="49" charset="-122"/>
                <a:ea typeface="楷体_GB2312" pitchFamily="49" charset="-122"/>
              </a:rPr>
              <a:t>的</a:t>
            </a:r>
            <a:r>
              <a:rPr lang="en-US" altLang="zh-CN" sz="2800" smtClean="0">
                <a:latin typeface="楷体_GB2312" pitchFamily="49" charset="-122"/>
                <a:ea typeface="楷体_GB2312" pitchFamily="49" charset="-122"/>
              </a:rPr>
              <a:t>q</a:t>
            </a:r>
            <a:r>
              <a:rPr lang="zh-CN" altLang="en-US" sz="2800" smtClean="0">
                <a:latin typeface="楷体_GB2312" pitchFamily="49" charset="-122"/>
                <a:ea typeface="楷体_GB2312" pitchFamily="49" charset="-122"/>
              </a:rPr>
              <a:t>组中的某行</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ED184E63-12CB-4033-B9B4-F51980EBD4FE}" type="slidenum">
              <a:rPr lang="en-US" altLang="zh-CN"/>
              <a:pPr>
                <a:defRPr/>
              </a:pPr>
              <a:t>92</a:t>
            </a:fld>
            <a:endParaRPr lang="en-US" altLang="zh-CN"/>
          </a:p>
        </p:txBody>
      </p:sp>
      <p:sp>
        <p:nvSpPr>
          <p:cNvPr id="110595" name="Rectangle 2"/>
          <p:cNvSpPr>
            <a:spLocks noGrp="1" noChangeArrowheads="1"/>
          </p:cNvSpPr>
          <p:nvPr>
            <p:ph type="title"/>
          </p:nvPr>
        </p:nvSpPr>
        <p:spPr>
          <a:xfrm>
            <a:off x="468313" y="260350"/>
            <a:ext cx="7543800" cy="642938"/>
          </a:xfrm>
        </p:spPr>
        <p:txBody>
          <a:bodyPr/>
          <a:lstStyle/>
          <a:p>
            <a:pPr eaLnBrk="1" hangingPunct="1"/>
            <a:r>
              <a:rPr lang="en-US" altLang="zh-CN" sz="4000" b="0" smtClean="0">
                <a:latin typeface="楷体_GB2312" pitchFamily="49" charset="-122"/>
                <a:ea typeface="楷体_GB2312" pitchFamily="49" charset="-122"/>
              </a:rPr>
              <a:t>3</a:t>
            </a:r>
            <a:r>
              <a:rPr lang="zh-CN" altLang="en-US" sz="4000" b="0" smtClean="0">
                <a:latin typeface="楷体_GB2312" pitchFamily="49" charset="-122"/>
                <a:ea typeface="楷体_GB2312" pitchFamily="49" charset="-122"/>
              </a:rPr>
              <a:t>、组相联映射方式</a:t>
            </a:r>
          </a:p>
        </p:txBody>
      </p:sp>
      <p:sp>
        <p:nvSpPr>
          <p:cNvPr id="110596" name="Rectangle 4"/>
          <p:cNvSpPr>
            <a:spLocks noChangeArrowheads="1"/>
          </p:cNvSpPr>
          <p:nvPr/>
        </p:nvSpPr>
        <p:spPr bwMode="auto">
          <a:xfrm>
            <a:off x="395288" y="1268413"/>
            <a:ext cx="7561262" cy="478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a:latin typeface="楷体_GB2312" pitchFamily="49" charset="-122"/>
              </a:rPr>
              <a:t>cache</a:t>
            </a:r>
            <a:r>
              <a:rPr lang="zh-CN" altLang="en-US">
                <a:latin typeface="楷体_GB2312" pitchFamily="49" charset="-122"/>
              </a:rPr>
              <a:t>分成</a:t>
            </a:r>
            <a:r>
              <a:rPr lang="en-US" altLang="zh-CN">
                <a:latin typeface="楷体_GB2312" pitchFamily="49" charset="-122"/>
              </a:rPr>
              <a:t>u</a:t>
            </a:r>
            <a:r>
              <a:rPr lang="zh-CN" altLang="en-US">
                <a:latin typeface="楷体_GB2312" pitchFamily="49" charset="-122"/>
              </a:rPr>
              <a:t>组，每组</a:t>
            </a:r>
            <a:r>
              <a:rPr lang="en-US" altLang="zh-CN">
                <a:latin typeface="楷体_GB2312" pitchFamily="49" charset="-122"/>
              </a:rPr>
              <a:t>v</a:t>
            </a:r>
            <a:r>
              <a:rPr lang="zh-CN" altLang="en-US">
                <a:latin typeface="楷体_GB2312" pitchFamily="49" charset="-122"/>
              </a:rPr>
              <a:t>行</a:t>
            </a:r>
          </a:p>
          <a:p>
            <a:endParaRPr lang="zh-CN" altLang="en-US">
              <a:solidFill>
                <a:srgbClr val="000000"/>
              </a:solidFill>
              <a:latin typeface="楷体_GB2312" pitchFamily="49" charset="-122"/>
            </a:endParaRPr>
          </a:p>
          <a:p>
            <a:r>
              <a:rPr lang="zh-CN" altLang="en-US">
                <a:solidFill>
                  <a:srgbClr val="000000"/>
                </a:solidFill>
                <a:latin typeface="楷体_GB2312" pitchFamily="49" charset="-122"/>
              </a:rPr>
              <a:t>分析：比全相联容易实现，冲突低</a:t>
            </a:r>
          </a:p>
          <a:p>
            <a:pPr lvl="1"/>
            <a:r>
              <a:rPr lang="zh-CN" altLang="en-US">
                <a:solidFill>
                  <a:srgbClr val="000000"/>
                </a:solidFill>
                <a:latin typeface="楷体_GB2312" pitchFamily="49" charset="-122"/>
              </a:rPr>
              <a:t>      </a:t>
            </a:r>
            <a:r>
              <a:rPr lang="en-US" altLang="zh-CN">
                <a:solidFill>
                  <a:srgbClr val="000000"/>
                </a:solidFill>
                <a:latin typeface="楷体_GB2312" pitchFamily="49" charset="-122"/>
              </a:rPr>
              <a:t>v=1</a:t>
            </a:r>
            <a:r>
              <a:rPr lang="zh-CN" altLang="en-US">
                <a:solidFill>
                  <a:srgbClr val="000000"/>
                </a:solidFill>
                <a:latin typeface="楷体_GB2312" pitchFamily="49" charset="-122"/>
              </a:rPr>
              <a:t>，则为直接相联映射方式</a:t>
            </a:r>
          </a:p>
          <a:p>
            <a:pPr lvl="1"/>
            <a:r>
              <a:rPr lang="zh-CN" altLang="en-US">
                <a:solidFill>
                  <a:srgbClr val="000000"/>
                </a:solidFill>
                <a:latin typeface="楷体_GB2312" pitchFamily="49" charset="-122"/>
              </a:rPr>
              <a:t>      </a:t>
            </a:r>
            <a:r>
              <a:rPr lang="en-US" altLang="zh-CN">
                <a:solidFill>
                  <a:srgbClr val="000000"/>
                </a:solidFill>
                <a:latin typeface="楷体_GB2312" pitchFamily="49" charset="-122"/>
              </a:rPr>
              <a:t>u=1</a:t>
            </a:r>
            <a:r>
              <a:rPr lang="zh-CN" altLang="en-US">
                <a:solidFill>
                  <a:srgbClr val="000000"/>
                </a:solidFill>
                <a:latin typeface="楷体_GB2312" pitchFamily="49" charset="-122"/>
              </a:rPr>
              <a:t>，则为全相联映射方式</a:t>
            </a:r>
          </a:p>
          <a:p>
            <a:pPr lvl="1"/>
            <a:r>
              <a:rPr lang="zh-CN" altLang="en-US">
                <a:latin typeface="楷体_GB2312" pitchFamily="49" charset="-122"/>
              </a:rPr>
              <a:t>    组相联映射方式中的每组的行数</a:t>
            </a:r>
            <a:r>
              <a:rPr lang="en-US" altLang="zh-CN">
                <a:latin typeface="楷体_GB2312" pitchFamily="49" charset="-122"/>
              </a:rPr>
              <a:t>v</a:t>
            </a:r>
            <a:r>
              <a:rPr lang="zh-CN" altLang="en-US">
                <a:latin typeface="楷体_GB2312" pitchFamily="49" charset="-122"/>
              </a:rPr>
              <a:t>一般取值较小，典型值是</a:t>
            </a:r>
            <a:r>
              <a:rPr lang="en-US" altLang="zh-CN">
                <a:latin typeface="楷体_GB2312" pitchFamily="49" charset="-122"/>
              </a:rPr>
              <a:t>2</a:t>
            </a:r>
            <a:r>
              <a:rPr lang="zh-CN" altLang="en-US">
                <a:latin typeface="楷体_GB2312" pitchFamily="49" charset="-122"/>
              </a:rPr>
              <a:t>，</a:t>
            </a:r>
            <a:r>
              <a:rPr lang="en-US" altLang="zh-CN">
                <a:latin typeface="楷体_GB2312" pitchFamily="49" charset="-122"/>
              </a:rPr>
              <a:t>4</a:t>
            </a:r>
            <a:r>
              <a:rPr lang="zh-CN" altLang="en-US">
                <a:latin typeface="楷体_GB2312" pitchFamily="49" charset="-122"/>
              </a:rPr>
              <a:t>，</a:t>
            </a:r>
            <a:r>
              <a:rPr lang="en-US" altLang="zh-CN">
                <a:latin typeface="楷体_GB2312" pitchFamily="49" charset="-122"/>
              </a:rPr>
              <a:t>8</a:t>
            </a:r>
            <a:r>
              <a:rPr lang="zh-CN" altLang="en-US">
                <a:latin typeface="楷体_GB2312" pitchFamily="49" charset="-122"/>
              </a:rPr>
              <a:t>，</a:t>
            </a:r>
            <a:r>
              <a:rPr lang="en-US" altLang="zh-CN">
                <a:latin typeface="楷体_GB2312" pitchFamily="49" charset="-122"/>
              </a:rPr>
              <a:t>16</a:t>
            </a:r>
            <a:r>
              <a:rPr lang="zh-CN" altLang="en-US">
                <a:latin typeface="楷体_GB2312" pitchFamily="49" charset="-122"/>
              </a:rPr>
              <a:t>。这种规模的</a:t>
            </a:r>
            <a:r>
              <a:rPr lang="en-US" altLang="zh-CN">
                <a:latin typeface="楷体_GB2312" pitchFamily="49" charset="-122"/>
              </a:rPr>
              <a:t>v</a:t>
            </a:r>
            <a:r>
              <a:rPr lang="zh-CN" altLang="en-US">
                <a:latin typeface="楷体_GB2312" pitchFamily="49" charset="-122"/>
              </a:rPr>
              <a:t>路比较器容易设计和实现。而块在组中的排放又有一定的灵活性，使冲突减少。为强调比较器的规模和存放的灵活程度，常称之为</a:t>
            </a:r>
            <a:r>
              <a:rPr lang="en-US" altLang="zh-CN">
                <a:latin typeface="楷体_GB2312" pitchFamily="49" charset="-122"/>
              </a:rPr>
              <a:t>v</a:t>
            </a:r>
            <a:r>
              <a:rPr lang="zh-CN" altLang="en-US">
                <a:latin typeface="楷体_GB2312" pitchFamily="49" charset="-122"/>
              </a:rPr>
              <a:t>路组相联</a:t>
            </a:r>
            <a:r>
              <a:rPr lang="en-US" altLang="zh-CN">
                <a:latin typeface="楷体_GB2312" pitchFamily="49" charset="-122"/>
              </a:rPr>
              <a:t>cache</a:t>
            </a:r>
            <a:r>
              <a:rPr lang="zh-CN" altLang="en-US">
                <a:latin typeface="楷体_GB2312" pitchFamily="49"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5AEE196F-2B32-49D3-A23B-666C6180222B}" type="slidenum">
              <a:rPr lang="en-US" altLang="zh-CN"/>
              <a:pPr>
                <a:defRPr/>
              </a:pPr>
              <a:t>93</a:t>
            </a:fld>
            <a:endParaRPr lang="en-US" altLang="zh-CN"/>
          </a:p>
        </p:txBody>
      </p:sp>
      <p:pic>
        <p:nvPicPr>
          <p:cNvPr id="111619" name="Picture 2" descr="3a36">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1550" y="1125538"/>
            <a:ext cx="6480175"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20" name="Rectangle 3"/>
          <p:cNvSpPr>
            <a:spLocks noChangeArrowheads="1"/>
          </p:cNvSpPr>
          <p:nvPr/>
        </p:nvSpPr>
        <p:spPr bwMode="auto">
          <a:xfrm>
            <a:off x="468313" y="188913"/>
            <a:ext cx="754380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en-US" altLang="zh-CN" sz="4000">
                <a:solidFill>
                  <a:schemeClr val="tx2"/>
                </a:solidFill>
                <a:latin typeface="楷体_GB2312" pitchFamily="49" charset="-122"/>
              </a:rPr>
              <a:t>3</a:t>
            </a:r>
            <a:r>
              <a:rPr lang="zh-CN" altLang="en-US" sz="4000">
                <a:solidFill>
                  <a:schemeClr val="tx2"/>
                </a:solidFill>
                <a:latin typeface="楷体_GB2312" pitchFamily="49" charset="-122"/>
              </a:rPr>
              <a:t>、组相联映射方式</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67CFD832-DBAB-46E4-9AA4-2553C93C84DE}" type="slidenum">
              <a:rPr lang="en-US" altLang="zh-CN" smtClean="0"/>
              <a:pPr>
                <a:defRPr/>
              </a:pPr>
              <a:t>94</a:t>
            </a:fld>
            <a:endParaRPr lang="en-US" altLang="zh-CN"/>
          </a:p>
        </p:txBody>
      </p:sp>
      <p:sp>
        <p:nvSpPr>
          <p:cNvPr id="113667" name="Rectangle 2"/>
          <p:cNvSpPr>
            <a:spLocks noChangeArrowheads="1"/>
          </p:cNvSpPr>
          <p:nvPr/>
        </p:nvSpPr>
        <p:spPr bwMode="auto">
          <a:xfrm>
            <a:off x="228600" y="152400"/>
            <a:ext cx="77724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a:latin typeface="宋体" pitchFamily="2" charset="-122"/>
                <a:ea typeface="宋体" pitchFamily="2" charset="-122"/>
              </a:rPr>
              <a:t>P102-13.</a:t>
            </a:r>
            <a:r>
              <a:rPr lang="zh-CN" altLang="en-US">
                <a:latin typeface="宋体" pitchFamily="2" charset="-122"/>
                <a:ea typeface="宋体" pitchFamily="2" charset="-122"/>
              </a:rPr>
              <a:t>一个</a:t>
            </a:r>
            <a:r>
              <a:rPr lang="zh-CN" altLang="en-US">
                <a:latin typeface="Times New Roman" charset="0"/>
                <a:ea typeface="宋体" pitchFamily="2" charset="-122"/>
              </a:rPr>
              <a:t>组相联</a:t>
            </a:r>
            <a:r>
              <a:rPr lang="en-US" altLang="zh-CN">
                <a:latin typeface="宋体" pitchFamily="2" charset="-122"/>
                <a:ea typeface="宋体" pitchFamily="2" charset="-122"/>
              </a:rPr>
              <a:t>Cache</a:t>
            </a:r>
            <a:r>
              <a:rPr lang="zh-CN" altLang="en-US">
                <a:latin typeface="Times New Roman" charset="0"/>
                <a:ea typeface="宋体" pitchFamily="2" charset="-122"/>
              </a:rPr>
              <a:t>由</a:t>
            </a:r>
            <a:r>
              <a:rPr lang="en-US" altLang="zh-CN">
                <a:latin typeface="宋体" pitchFamily="2" charset="-122"/>
                <a:ea typeface="宋体" pitchFamily="2" charset="-122"/>
              </a:rPr>
              <a:t>64</a:t>
            </a:r>
            <a:r>
              <a:rPr lang="zh-CN" altLang="en-US">
                <a:latin typeface="宋体" pitchFamily="2" charset="-122"/>
                <a:ea typeface="宋体" pitchFamily="2" charset="-122"/>
              </a:rPr>
              <a:t>个</a:t>
            </a:r>
            <a:r>
              <a:rPr lang="zh-CN" altLang="en-US">
                <a:latin typeface="Times New Roman" charset="0"/>
                <a:ea typeface="宋体" pitchFamily="2" charset="-122"/>
              </a:rPr>
              <a:t>行组成，每组</a:t>
            </a:r>
            <a:r>
              <a:rPr lang="en-US" altLang="zh-CN">
                <a:latin typeface="宋体" pitchFamily="2" charset="-122"/>
                <a:ea typeface="宋体" pitchFamily="2" charset="-122"/>
              </a:rPr>
              <a:t>4</a:t>
            </a:r>
            <a:r>
              <a:rPr lang="zh-CN" altLang="en-US">
                <a:latin typeface="Times New Roman" charset="0"/>
                <a:ea typeface="宋体" pitchFamily="2" charset="-122"/>
              </a:rPr>
              <a:t>行，主存包含</a:t>
            </a:r>
            <a:r>
              <a:rPr lang="en-US" altLang="zh-CN">
                <a:latin typeface="宋体" pitchFamily="2" charset="-122"/>
                <a:ea typeface="宋体" pitchFamily="2" charset="-122"/>
              </a:rPr>
              <a:t>4K</a:t>
            </a:r>
            <a:r>
              <a:rPr lang="zh-CN" altLang="en-US">
                <a:latin typeface="Times New Roman" charset="0"/>
                <a:ea typeface="宋体" pitchFamily="2" charset="-122"/>
              </a:rPr>
              <a:t>个块，每块</a:t>
            </a:r>
            <a:r>
              <a:rPr lang="en-US" altLang="zh-CN">
                <a:latin typeface="宋体" pitchFamily="2" charset="-122"/>
                <a:ea typeface="宋体" pitchFamily="2" charset="-122"/>
              </a:rPr>
              <a:t>128</a:t>
            </a:r>
            <a:r>
              <a:rPr lang="zh-CN" altLang="en-US">
                <a:latin typeface="Times New Roman" charset="0"/>
                <a:ea typeface="宋体" pitchFamily="2" charset="-122"/>
              </a:rPr>
              <a:t>个字。请表示出内存地址的格式。</a:t>
            </a:r>
            <a:endParaRPr lang="zh-CN" altLang="en-US">
              <a:latin typeface="宋体" pitchFamily="2" charset="-122"/>
              <a:ea typeface="宋体" pitchFamily="2" charset="-122"/>
            </a:endParaRPr>
          </a:p>
        </p:txBody>
      </p:sp>
      <p:grpSp>
        <p:nvGrpSpPr>
          <p:cNvPr id="3" name="组合 5"/>
          <p:cNvGrpSpPr>
            <a:grpSpLocks/>
          </p:cNvGrpSpPr>
          <p:nvPr/>
        </p:nvGrpSpPr>
        <p:grpSpPr bwMode="auto">
          <a:xfrm>
            <a:off x="428625" y="1857375"/>
            <a:ext cx="7772400" cy="3357563"/>
            <a:chOff x="428625" y="1857375"/>
            <a:chExt cx="7772400" cy="3357563"/>
          </a:xfrm>
        </p:grpSpPr>
        <p:sp>
          <p:nvSpPr>
            <p:cNvPr id="4" name="Rectangle 2"/>
            <p:cNvSpPr>
              <a:spLocks noChangeArrowheads="1"/>
            </p:cNvSpPr>
            <p:nvPr/>
          </p:nvSpPr>
          <p:spPr bwMode="auto">
            <a:xfrm>
              <a:off x="428625" y="1857375"/>
              <a:ext cx="7772400" cy="2031325"/>
            </a:xfrm>
            <a:prstGeom prst="rect">
              <a:avLst/>
            </a:prstGeom>
            <a:noFill/>
            <a:ln w="12700" cap="sq">
              <a:noFill/>
              <a:miter lim="800000"/>
              <a:headEnd type="none" w="sm" len="sm"/>
              <a:tailEnd type="none" w="sm" len="sm"/>
            </a:ln>
          </p:spPr>
          <p:txBody>
            <a:bodyPr>
              <a:spAutoFit/>
            </a:bodyPr>
            <a:lstStyle/>
            <a:p>
              <a:pPr>
                <a:lnSpc>
                  <a:spcPct val="150000"/>
                </a:lnSpc>
                <a:defRPr/>
              </a:pPr>
              <a:r>
                <a:rPr lang="zh-CN" altLang="en-US" dirty="0">
                  <a:latin typeface="+mn-ea"/>
                  <a:ea typeface="+mn-ea"/>
                </a:rPr>
                <a:t>解：主存包含</a:t>
              </a:r>
              <a:r>
                <a:rPr lang="en-US" altLang="zh-CN" dirty="0">
                  <a:latin typeface="+mn-ea"/>
                  <a:ea typeface="+mn-ea"/>
                </a:rPr>
                <a:t>4K</a:t>
              </a:r>
              <a:r>
                <a:rPr lang="zh-CN" altLang="en-US" dirty="0">
                  <a:latin typeface="+mn-ea"/>
                  <a:ea typeface="+mn-ea"/>
                </a:rPr>
                <a:t>个块</a:t>
              </a:r>
              <a:r>
                <a:rPr lang="zh-CN" altLang="en-US" dirty="0" smtClean="0">
                  <a:latin typeface="+mn-ea"/>
                  <a:ea typeface="+mn-ea"/>
                </a:rPr>
                <a:t>，块地址</a:t>
              </a:r>
              <a:r>
                <a:rPr lang="en-US" altLang="zh-CN" dirty="0">
                  <a:latin typeface="+mn-ea"/>
                  <a:ea typeface="+mn-ea"/>
                </a:rPr>
                <a:t>12</a:t>
              </a:r>
              <a:r>
                <a:rPr lang="zh-CN" altLang="en-US" dirty="0">
                  <a:latin typeface="+mn-ea"/>
                  <a:ea typeface="+mn-ea"/>
                </a:rPr>
                <a:t>位</a:t>
              </a:r>
              <a:endParaRPr lang="en-US" altLang="zh-CN" dirty="0">
                <a:latin typeface="+mn-ea"/>
                <a:ea typeface="+mn-ea"/>
              </a:endParaRPr>
            </a:p>
            <a:p>
              <a:pPr>
                <a:lnSpc>
                  <a:spcPct val="150000"/>
                </a:lnSpc>
                <a:defRPr/>
              </a:pPr>
              <a:r>
                <a:rPr lang="en-US" altLang="zh-CN" dirty="0">
                  <a:latin typeface="+mn-ea"/>
                  <a:ea typeface="+mn-ea"/>
                </a:rPr>
                <a:t>        </a:t>
              </a:r>
              <a:r>
                <a:rPr lang="zh-CN" altLang="en-US" dirty="0">
                  <a:latin typeface="+mn-ea"/>
                  <a:ea typeface="+mn-ea"/>
                </a:rPr>
                <a:t>每块</a:t>
              </a:r>
              <a:r>
                <a:rPr lang="en-US" altLang="zh-CN" dirty="0">
                  <a:latin typeface="+mn-ea"/>
                  <a:ea typeface="+mn-ea"/>
                </a:rPr>
                <a:t>128</a:t>
              </a:r>
              <a:r>
                <a:rPr lang="zh-CN" altLang="en-US" dirty="0">
                  <a:latin typeface="+mn-ea"/>
                  <a:ea typeface="+mn-ea"/>
                </a:rPr>
                <a:t>个字</a:t>
              </a:r>
              <a:r>
                <a:rPr lang="zh-CN" altLang="en-US" dirty="0" smtClean="0">
                  <a:latin typeface="+mn-ea"/>
                  <a:ea typeface="+mn-ea"/>
                </a:rPr>
                <a:t>，块内地址</a:t>
              </a:r>
              <a:r>
                <a:rPr lang="en-US" altLang="zh-CN" dirty="0">
                  <a:latin typeface="+mn-ea"/>
                  <a:ea typeface="+mn-ea"/>
                </a:rPr>
                <a:t>7</a:t>
              </a:r>
              <a:r>
                <a:rPr lang="zh-CN" altLang="en-US" dirty="0">
                  <a:latin typeface="+mn-ea"/>
                  <a:ea typeface="+mn-ea"/>
                </a:rPr>
                <a:t>位</a:t>
              </a:r>
              <a:endParaRPr lang="en-US" altLang="zh-CN" dirty="0">
                <a:latin typeface="+mn-ea"/>
                <a:ea typeface="+mn-ea"/>
              </a:endParaRPr>
            </a:p>
            <a:p>
              <a:pPr>
                <a:lnSpc>
                  <a:spcPct val="150000"/>
                </a:lnSpc>
                <a:defRPr/>
              </a:pPr>
              <a:r>
                <a:rPr lang="en-US" altLang="zh-CN" dirty="0">
                  <a:latin typeface="+mn-ea"/>
                  <a:ea typeface="+mn-ea"/>
                </a:rPr>
                <a:t>        Cache</a:t>
              </a:r>
              <a:r>
                <a:rPr lang="zh-CN" altLang="en-US" dirty="0">
                  <a:latin typeface="+mn-ea"/>
                  <a:ea typeface="+mn-ea"/>
                </a:rPr>
                <a:t>分</a:t>
              </a:r>
              <a:r>
                <a:rPr lang="en-US" altLang="zh-CN" dirty="0">
                  <a:latin typeface="+mn-ea"/>
                  <a:ea typeface="+mn-ea"/>
                </a:rPr>
                <a:t>16</a:t>
              </a:r>
              <a:r>
                <a:rPr lang="zh-CN" altLang="en-US" dirty="0">
                  <a:latin typeface="+mn-ea"/>
                  <a:ea typeface="+mn-ea"/>
                </a:rPr>
                <a:t>组，地址</a:t>
              </a:r>
              <a:r>
                <a:rPr lang="en-US" altLang="zh-CN" dirty="0">
                  <a:latin typeface="+mn-ea"/>
                  <a:ea typeface="+mn-ea"/>
                </a:rPr>
                <a:t>4</a:t>
              </a:r>
              <a:r>
                <a:rPr lang="zh-CN" altLang="en-US" dirty="0">
                  <a:latin typeface="+mn-ea"/>
                  <a:ea typeface="+mn-ea"/>
                </a:rPr>
                <a:t>位</a:t>
              </a:r>
            </a:p>
          </p:txBody>
        </p:sp>
        <p:pic>
          <p:nvPicPr>
            <p:cNvPr id="1136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25" y="4000500"/>
              <a:ext cx="6291263"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4241E4DC-7018-4C84-87DF-73A540DE432A}" type="slidenum">
              <a:rPr lang="en-US" altLang="zh-CN"/>
              <a:pPr>
                <a:defRPr/>
              </a:pPr>
              <a:t>95</a:t>
            </a:fld>
            <a:endParaRPr lang="en-US" altLang="zh-CN"/>
          </a:p>
        </p:txBody>
      </p:sp>
      <p:sp>
        <p:nvSpPr>
          <p:cNvPr id="114691" name="Rectangle 2"/>
          <p:cNvSpPr>
            <a:spLocks noChangeArrowheads="1"/>
          </p:cNvSpPr>
          <p:nvPr/>
        </p:nvSpPr>
        <p:spPr bwMode="auto">
          <a:xfrm>
            <a:off x="228600" y="152400"/>
            <a:ext cx="77724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dirty="0" smtClean="0">
                <a:latin typeface="宋体" pitchFamily="2" charset="-122"/>
                <a:ea typeface="宋体" pitchFamily="2" charset="-122"/>
              </a:rPr>
              <a:t>例</a:t>
            </a:r>
            <a:r>
              <a:rPr lang="en-US" altLang="zh-CN" dirty="0" smtClean="0">
                <a:latin typeface="宋体" pitchFamily="2" charset="-122"/>
                <a:ea typeface="宋体" pitchFamily="2" charset="-122"/>
              </a:rPr>
              <a:t>.</a:t>
            </a:r>
            <a:r>
              <a:rPr lang="zh-CN" altLang="en-US" dirty="0">
                <a:latin typeface="Times New Roman" charset="0"/>
                <a:ea typeface="宋体" pitchFamily="2" charset="-122"/>
              </a:rPr>
              <a:t>组相联映射</a:t>
            </a:r>
            <a:r>
              <a:rPr lang="en-US" altLang="zh-CN" dirty="0">
                <a:latin typeface="宋体" pitchFamily="2" charset="-122"/>
                <a:ea typeface="宋体" pitchFamily="2" charset="-122"/>
              </a:rPr>
              <a:t>Cache</a:t>
            </a:r>
            <a:r>
              <a:rPr lang="zh-CN" altLang="en-US" dirty="0">
                <a:latin typeface="Times New Roman" charset="0"/>
                <a:ea typeface="宋体" pitchFamily="2" charset="-122"/>
              </a:rPr>
              <a:t>由</a:t>
            </a:r>
            <a:r>
              <a:rPr lang="en-US" altLang="zh-CN" dirty="0">
                <a:latin typeface="宋体" pitchFamily="2" charset="-122"/>
                <a:ea typeface="宋体" pitchFamily="2" charset="-122"/>
              </a:rPr>
              <a:t>64</a:t>
            </a:r>
            <a:r>
              <a:rPr lang="zh-CN" altLang="en-US" dirty="0">
                <a:latin typeface="Times New Roman" charset="0"/>
                <a:ea typeface="宋体" pitchFamily="2" charset="-122"/>
              </a:rPr>
              <a:t>行构成，每组</a:t>
            </a:r>
            <a:r>
              <a:rPr lang="en-US" altLang="zh-CN" dirty="0">
                <a:latin typeface="宋体" pitchFamily="2" charset="-122"/>
                <a:ea typeface="宋体" pitchFamily="2" charset="-122"/>
              </a:rPr>
              <a:t>4</a:t>
            </a:r>
            <a:r>
              <a:rPr lang="zh-CN" altLang="en-US" dirty="0">
                <a:latin typeface="Times New Roman" charset="0"/>
                <a:ea typeface="宋体" pitchFamily="2" charset="-122"/>
              </a:rPr>
              <a:t>行，主</a:t>
            </a:r>
          </a:p>
          <a:p>
            <a:r>
              <a:rPr lang="zh-CN" altLang="en-US" dirty="0">
                <a:latin typeface="Times New Roman" charset="0"/>
                <a:ea typeface="宋体" pitchFamily="2" charset="-122"/>
              </a:rPr>
              <a:t>       存包含</a:t>
            </a:r>
            <a:r>
              <a:rPr lang="en-US" altLang="zh-CN" dirty="0">
                <a:latin typeface="宋体" pitchFamily="2" charset="-122"/>
                <a:ea typeface="宋体" pitchFamily="2" charset="-122"/>
              </a:rPr>
              <a:t>4096</a:t>
            </a:r>
            <a:r>
              <a:rPr lang="zh-CN" altLang="en-US" dirty="0">
                <a:latin typeface="Times New Roman" charset="0"/>
                <a:ea typeface="宋体" pitchFamily="2" charset="-122"/>
              </a:rPr>
              <a:t>个块，每块由</a:t>
            </a:r>
            <a:r>
              <a:rPr lang="en-US" altLang="zh-CN" dirty="0">
                <a:latin typeface="宋体" pitchFamily="2" charset="-122"/>
                <a:ea typeface="宋体" pitchFamily="2" charset="-122"/>
              </a:rPr>
              <a:t>128</a:t>
            </a:r>
            <a:r>
              <a:rPr lang="zh-CN" altLang="en-US" dirty="0">
                <a:latin typeface="Times New Roman" charset="0"/>
                <a:ea typeface="宋体" pitchFamily="2" charset="-122"/>
              </a:rPr>
              <a:t>个字节构成，访</a:t>
            </a:r>
          </a:p>
          <a:p>
            <a:r>
              <a:rPr lang="zh-CN" altLang="en-US" dirty="0">
                <a:latin typeface="Times New Roman" charset="0"/>
                <a:ea typeface="宋体" pitchFamily="2" charset="-122"/>
              </a:rPr>
              <a:t>       存地址为字节地址，主存地址为</a:t>
            </a:r>
            <a:r>
              <a:rPr lang="en-US" altLang="zh-CN" dirty="0">
                <a:latin typeface="宋体" pitchFamily="2" charset="-122"/>
                <a:ea typeface="宋体" pitchFamily="2" charset="-122"/>
              </a:rPr>
              <a:t>48AB9H</a:t>
            </a:r>
            <a:r>
              <a:rPr lang="zh-CN" altLang="en-US" dirty="0">
                <a:latin typeface="Times New Roman" charset="0"/>
                <a:ea typeface="宋体" pitchFamily="2" charset="-122"/>
              </a:rPr>
              <a:t>单元</a:t>
            </a:r>
          </a:p>
          <a:p>
            <a:r>
              <a:rPr lang="zh-CN" altLang="en-US" dirty="0">
                <a:latin typeface="Times New Roman" charset="0"/>
                <a:ea typeface="宋体" pitchFamily="2" charset="-122"/>
              </a:rPr>
              <a:t>       可以映射到</a:t>
            </a:r>
            <a:r>
              <a:rPr lang="en-US" altLang="zh-CN" dirty="0">
                <a:latin typeface="宋体" pitchFamily="2" charset="-122"/>
                <a:ea typeface="宋体" pitchFamily="2" charset="-122"/>
              </a:rPr>
              <a:t>Cache</a:t>
            </a:r>
            <a:r>
              <a:rPr lang="zh-CN" altLang="en-US" dirty="0">
                <a:latin typeface="Times New Roman" charset="0"/>
                <a:ea typeface="宋体" pitchFamily="2" charset="-122"/>
              </a:rPr>
              <a:t>的哪个行中。</a:t>
            </a:r>
            <a:endParaRPr lang="zh-CN" altLang="en-US" dirty="0">
              <a:latin typeface="宋体" pitchFamily="2" charset="-122"/>
              <a:ea typeface="宋体" pitchFamily="2" charset="-122"/>
            </a:endParaRPr>
          </a:p>
        </p:txBody>
      </p:sp>
      <p:sp>
        <p:nvSpPr>
          <p:cNvPr id="173059" name="Rectangle 3"/>
          <p:cNvSpPr>
            <a:spLocks noChangeArrowheads="1"/>
          </p:cNvSpPr>
          <p:nvPr/>
        </p:nvSpPr>
        <p:spPr bwMode="auto">
          <a:xfrm>
            <a:off x="344736" y="2204864"/>
            <a:ext cx="8634412" cy="3869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lgn="just">
              <a:lnSpc>
                <a:spcPct val="150000"/>
              </a:lnSpc>
            </a:pPr>
            <a:r>
              <a:rPr lang="zh-CN" altLang="en-US" dirty="0">
                <a:latin typeface="宋体" pitchFamily="2" charset="-122"/>
                <a:ea typeface="宋体" pitchFamily="2" charset="-122"/>
              </a:rPr>
              <a:t>解：</a:t>
            </a:r>
            <a:r>
              <a:rPr lang="en-US" altLang="zh-CN" dirty="0">
                <a:latin typeface="宋体" pitchFamily="2" charset="-122"/>
                <a:ea typeface="宋体" pitchFamily="2" charset="-122"/>
              </a:rPr>
              <a:t>Cache</a:t>
            </a:r>
            <a:r>
              <a:rPr lang="zh-CN" altLang="en-US" dirty="0">
                <a:latin typeface="宋体" pitchFamily="2" charset="-122"/>
                <a:ea typeface="宋体" pitchFamily="2" charset="-122"/>
              </a:rPr>
              <a:t>的每行为</a:t>
            </a:r>
            <a:r>
              <a:rPr lang="en-US" altLang="zh-CN" dirty="0">
                <a:latin typeface="宋体" pitchFamily="2" charset="-122"/>
                <a:ea typeface="宋体" pitchFamily="2" charset="-122"/>
              </a:rPr>
              <a:t>128</a:t>
            </a:r>
            <a:r>
              <a:rPr lang="zh-CN" altLang="en-US" dirty="0">
                <a:latin typeface="宋体" pitchFamily="2" charset="-122"/>
                <a:ea typeface="宋体" pitchFamily="2" charset="-122"/>
              </a:rPr>
              <a:t>个字节，需要</a:t>
            </a:r>
            <a:r>
              <a:rPr lang="en-US" altLang="zh-CN" dirty="0">
                <a:latin typeface="宋体" pitchFamily="2" charset="-122"/>
                <a:ea typeface="宋体" pitchFamily="2" charset="-122"/>
              </a:rPr>
              <a:t>7</a:t>
            </a:r>
            <a:r>
              <a:rPr lang="zh-CN" altLang="en-US" dirty="0">
                <a:latin typeface="宋体" pitchFamily="2" charset="-122"/>
                <a:ea typeface="宋体" pitchFamily="2" charset="-122"/>
              </a:rPr>
              <a:t>位地址</a:t>
            </a:r>
          </a:p>
          <a:p>
            <a:pPr algn="just">
              <a:lnSpc>
                <a:spcPct val="150000"/>
              </a:lnSpc>
            </a:pPr>
            <a:r>
              <a:rPr lang="zh-CN" altLang="en-US" dirty="0" smtClean="0">
                <a:latin typeface="宋体" pitchFamily="2" charset="-122"/>
                <a:ea typeface="宋体" pitchFamily="2" charset="-122"/>
              </a:rPr>
              <a:t>    </a:t>
            </a:r>
            <a:r>
              <a:rPr lang="en-US" altLang="zh-CN" dirty="0">
                <a:latin typeface="宋体" pitchFamily="2" charset="-122"/>
                <a:ea typeface="宋体" pitchFamily="2" charset="-122"/>
              </a:rPr>
              <a:t>Cache</a:t>
            </a:r>
            <a:r>
              <a:rPr lang="zh-CN" altLang="en-US" dirty="0">
                <a:latin typeface="宋体" pitchFamily="2" charset="-122"/>
                <a:ea typeface="宋体" pitchFamily="2" charset="-122"/>
              </a:rPr>
              <a:t>有</a:t>
            </a:r>
            <a:r>
              <a:rPr lang="en-US" altLang="zh-CN" dirty="0">
                <a:latin typeface="宋体" pitchFamily="2" charset="-122"/>
                <a:ea typeface="宋体" pitchFamily="2" charset="-122"/>
              </a:rPr>
              <a:t>64/4=16</a:t>
            </a:r>
            <a:r>
              <a:rPr lang="zh-CN" altLang="en-US" dirty="0">
                <a:latin typeface="宋体" pitchFamily="2" charset="-122"/>
                <a:ea typeface="宋体" pitchFamily="2" charset="-122"/>
              </a:rPr>
              <a:t>组，需要</a:t>
            </a:r>
            <a:r>
              <a:rPr lang="en-US" altLang="zh-CN" dirty="0">
                <a:latin typeface="宋体" pitchFamily="2" charset="-122"/>
                <a:ea typeface="宋体" pitchFamily="2" charset="-122"/>
              </a:rPr>
              <a:t>4</a:t>
            </a:r>
            <a:r>
              <a:rPr lang="zh-CN" altLang="en-US" dirty="0">
                <a:latin typeface="宋体" pitchFamily="2" charset="-122"/>
                <a:ea typeface="宋体" pitchFamily="2" charset="-122"/>
              </a:rPr>
              <a:t>位地址</a:t>
            </a:r>
          </a:p>
          <a:p>
            <a:pPr algn="just">
              <a:lnSpc>
                <a:spcPct val="150000"/>
              </a:lnSpc>
            </a:pPr>
            <a:r>
              <a:rPr lang="zh-CN" altLang="en-US" dirty="0">
                <a:latin typeface="宋体" pitchFamily="2" charset="-122"/>
                <a:ea typeface="宋体" pitchFamily="2" charset="-122"/>
              </a:rPr>
              <a:t>  </a:t>
            </a:r>
            <a:r>
              <a:rPr lang="zh-CN" altLang="en-US" dirty="0" smtClean="0">
                <a:latin typeface="宋体" pitchFamily="2" charset="-122"/>
                <a:ea typeface="宋体" pitchFamily="2" charset="-122"/>
              </a:rPr>
              <a:t>  </a:t>
            </a:r>
            <a:r>
              <a:rPr lang="en-US" altLang="zh-CN" dirty="0" smtClean="0">
                <a:latin typeface="宋体" pitchFamily="2" charset="-122"/>
                <a:ea typeface="宋体" pitchFamily="2" charset="-122"/>
              </a:rPr>
              <a:t>48AB9H </a:t>
            </a:r>
            <a:r>
              <a:rPr lang="en-US" altLang="zh-CN" dirty="0">
                <a:latin typeface="宋体" pitchFamily="2" charset="-122"/>
                <a:ea typeface="宋体" pitchFamily="2" charset="-122"/>
              </a:rPr>
              <a:t>= 0100 1000 1</a:t>
            </a:r>
            <a:r>
              <a:rPr lang="en-US" altLang="zh-CN" b="1" dirty="0">
                <a:solidFill>
                  <a:srgbClr val="FF0000"/>
                </a:solidFill>
                <a:latin typeface="宋体" pitchFamily="2" charset="-122"/>
                <a:ea typeface="宋体" pitchFamily="2" charset="-122"/>
              </a:rPr>
              <a:t>010</a:t>
            </a:r>
            <a:r>
              <a:rPr lang="en-US" altLang="zh-CN" dirty="0">
                <a:latin typeface="宋体" pitchFamily="2" charset="-122"/>
                <a:ea typeface="宋体" pitchFamily="2" charset="-122"/>
              </a:rPr>
              <a:t> </a:t>
            </a:r>
            <a:r>
              <a:rPr lang="en-US" altLang="zh-CN" b="1" dirty="0">
                <a:solidFill>
                  <a:srgbClr val="FF0000"/>
                </a:solidFill>
                <a:latin typeface="宋体" pitchFamily="2" charset="-122"/>
                <a:ea typeface="宋体" pitchFamily="2" charset="-122"/>
              </a:rPr>
              <a:t>1</a:t>
            </a:r>
            <a:r>
              <a:rPr lang="en-US" altLang="zh-CN" dirty="0">
                <a:latin typeface="宋体" pitchFamily="2" charset="-122"/>
                <a:ea typeface="宋体" pitchFamily="2" charset="-122"/>
              </a:rPr>
              <a:t>011 1001</a:t>
            </a:r>
          </a:p>
          <a:p>
            <a:pPr algn="just">
              <a:lnSpc>
                <a:spcPct val="150000"/>
              </a:lnSpc>
            </a:pPr>
            <a:r>
              <a:rPr lang="en-US" altLang="zh-CN" dirty="0" smtClean="0">
                <a:latin typeface="宋体" pitchFamily="2" charset="-122"/>
                <a:ea typeface="宋体" pitchFamily="2" charset="-122"/>
              </a:rPr>
              <a:t>    </a:t>
            </a:r>
            <a:r>
              <a:rPr lang="zh-CN" altLang="en-US" dirty="0" smtClean="0">
                <a:latin typeface="宋体" pitchFamily="2" charset="-122"/>
                <a:ea typeface="宋体" pitchFamily="2" charset="-122"/>
              </a:rPr>
              <a:t>组地址 </a:t>
            </a:r>
            <a:r>
              <a:rPr lang="en-US" altLang="zh-CN" dirty="0" smtClean="0">
                <a:latin typeface="宋体" pitchFamily="2" charset="-122"/>
                <a:ea typeface="宋体" pitchFamily="2" charset="-122"/>
              </a:rPr>
              <a:t>010 </a:t>
            </a:r>
            <a:r>
              <a:rPr lang="en-US" altLang="zh-CN" dirty="0">
                <a:latin typeface="宋体" pitchFamily="2" charset="-122"/>
                <a:ea typeface="宋体" pitchFamily="2" charset="-122"/>
              </a:rPr>
              <a:t>1 --- 5H --- 5</a:t>
            </a:r>
          </a:p>
          <a:p>
            <a:pPr algn="just">
              <a:lnSpc>
                <a:spcPct val="150000"/>
              </a:lnSpc>
            </a:pPr>
            <a:r>
              <a:rPr lang="en-US" altLang="zh-CN" dirty="0">
                <a:latin typeface="宋体" pitchFamily="2" charset="-122"/>
                <a:ea typeface="宋体" pitchFamily="2" charset="-122"/>
              </a:rPr>
              <a:t>  </a:t>
            </a:r>
            <a:r>
              <a:rPr lang="en-US" altLang="zh-CN" dirty="0" smtClean="0">
                <a:latin typeface="宋体" pitchFamily="2" charset="-122"/>
                <a:ea typeface="宋体" pitchFamily="2" charset="-122"/>
              </a:rPr>
              <a:t>  </a:t>
            </a:r>
            <a:r>
              <a:rPr lang="zh-CN" altLang="en-US" dirty="0" smtClean="0">
                <a:latin typeface="宋体" pitchFamily="2" charset="-122"/>
                <a:ea typeface="宋体" pitchFamily="2" charset="-122"/>
              </a:rPr>
              <a:t>主存</a:t>
            </a:r>
            <a:r>
              <a:rPr lang="zh-CN" altLang="en-US" dirty="0">
                <a:latin typeface="宋体" pitchFamily="2" charset="-122"/>
                <a:ea typeface="宋体" pitchFamily="2" charset="-122"/>
              </a:rPr>
              <a:t>地址为</a:t>
            </a:r>
            <a:r>
              <a:rPr lang="en-US" altLang="zh-CN" dirty="0">
                <a:latin typeface="宋体" pitchFamily="2" charset="-122"/>
                <a:ea typeface="宋体" pitchFamily="2" charset="-122"/>
              </a:rPr>
              <a:t>48AB9H</a:t>
            </a:r>
            <a:r>
              <a:rPr lang="zh-CN" altLang="en-US" dirty="0">
                <a:latin typeface="宋体" pitchFamily="2" charset="-122"/>
                <a:ea typeface="宋体" pitchFamily="2" charset="-122"/>
              </a:rPr>
              <a:t>的单元可以映射到</a:t>
            </a:r>
            <a:r>
              <a:rPr lang="en-US" altLang="zh-CN" dirty="0">
                <a:latin typeface="宋体" pitchFamily="2" charset="-122"/>
                <a:ea typeface="宋体" pitchFamily="2" charset="-122"/>
              </a:rPr>
              <a:t>Cache</a:t>
            </a:r>
            <a:r>
              <a:rPr lang="zh-CN" altLang="en-US" dirty="0">
                <a:latin typeface="宋体" pitchFamily="2" charset="-122"/>
                <a:ea typeface="宋体" pitchFamily="2" charset="-122"/>
              </a:rPr>
              <a:t>的</a:t>
            </a:r>
          </a:p>
          <a:p>
            <a:pPr algn="just">
              <a:lnSpc>
                <a:spcPct val="150000"/>
              </a:lnSpc>
            </a:pPr>
            <a:r>
              <a:rPr lang="zh-CN" altLang="en-US" dirty="0">
                <a:latin typeface="宋体" pitchFamily="2" charset="-122"/>
                <a:ea typeface="宋体" pitchFamily="2" charset="-122"/>
              </a:rPr>
              <a:t>  </a:t>
            </a:r>
            <a:r>
              <a:rPr lang="zh-CN" altLang="en-US" dirty="0" smtClean="0">
                <a:latin typeface="宋体" pitchFamily="2" charset="-122"/>
                <a:ea typeface="宋体" pitchFamily="2" charset="-122"/>
              </a:rPr>
              <a:t>  第</a:t>
            </a:r>
            <a:r>
              <a:rPr lang="en-US" altLang="zh-CN" dirty="0">
                <a:latin typeface="宋体" pitchFamily="2" charset="-122"/>
                <a:ea typeface="宋体" pitchFamily="2" charset="-122"/>
              </a:rPr>
              <a:t>5</a:t>
            </a:r>
            <a:r>
              <a:rPr lang="zh-CN" altLang="en-US" dirty="0">
                <a:latin typeface="宋体" pitchFamily="2" charset="-122"/>
                <a:ea typeface="宋体" pitchFamily="2" charset="-122"/>
              </a:rPr>
              <a:t>组</a:t>
            </a:r>
            <a:r>
              <a:rPr lang="en-US" altLang="zh-CN" dirty="0">
                <a:latin typeface="宋体" pitchFamily="2" charset="-122"/>
                <a:ea typeface="宋体" pitchFamily="2" charset="-122"/>
              </a:rPr>
              <a:t>4</a:t>
            </a:r>
            <a:r>
              <a:rPr lang="zh-CN" altLang="en-US" dirty="0">
                <a:latin typeface="宋体" pitchFamily="2" charset="-122"/>
                <a:ea typeface="宋体" pitchFamily="2" charset="-122"/>
              </a:rPr>
              <a:t>行中的任意</a:t>
            </a:r>
            <a:r>
              <a:rPr lang="zh-CN" altLang="en-US" dirty="0" smtClean="0">
                <a:latin typeface="宋体" pitchFamily="2" charset="-122"/>
                <a:ea typeface="宋体" pitchFamily="2" charset="-122"/>
              </a:rPr>
              <a:t>一行</a:t>
            </a:r>
            <a:endParaRPr lang="zh-CN" altLang="en-US" b="1" dirty="0">
              <a:solidFill>
                <a:srgbClr val="00B050"/>
              </a:solidFill>
              <a:latin typeface="宋体" pitchFamily="2" charset="-122"/>
              <a:ea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3059"/>
                                        </p:tgtEl>
                                        <p:attrNameLst>
                                          <p:attrName>style.visibility</p:attrName>
                                        </p:attrNameLst>
                                      </p:cBhvr>
                                      <p:to>
                                        <p:strVal val="visible"/>
                                      </p:to>
                                    </p:set>
                                    <p:animEffect transition="in" filter="blinds(horizontal)">
                                      <p:cBhvr>
                                        <p:cTn id="7" dur="500"/>
                                        <p:tgtEl>
                                          <p:spTgt spid="173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9" grpId="0"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F9307A68-62E0-4172-BF77-B63720B66D3B}" type="slidenum">
              <a:rPr lang="en-US" altLang="zh-CN"/>
              <a:pPr>
                <a:defRPr/>
              </a:pPr>
              <a:t>96</a:t>
            </a:fld>
            <a:endParaRPr lang="en-US" altLang="zh-CN"/>
          </a:p>
        </p:txBody>
      </p:sp>
      <p:sp>
        <p:nvSpPr>
          <p:cNvPr id="115715" name="Rectangle 2"/>
          <p:cNvSpPr>
            <a:spLocks noGrp="1" noChangeArrowheads="1"/>
          </p:cNvSpPr>
          <p:nvPr>
            <p:ph type="title"/>
          </p:nvPr>
        </p:nvSpPr>
        <p:spPr>
          <a:xfrm>
            <a:off x="468313" y="404813"/>
            <a:ext cx="7543800" cy="642937"/>
          </a:xfrm>
        </p:spPr>
        <p:txBody>
          <a:bodyPr/>
          <a:lstStyle/>
          <a:p>
            <a:pPr eaLnBrk="1" hangingPunct="1"/>
            <a:r>
              <a:rPr lang="en-US" altLang="zh-CN" sz="4000" b="0" smtClean="0">
                <a:latin typeface="楷体_GB2312" pitchFamily="49" charset="-122"/>
                <a:ea typeface="楷体_GB2312" pitchFamily="49" charset="-122"/>
              </a:rPr>
              <a:t>3.6.3</a:t>
            </a:r>
            <a:r>
              <a:rPr lang="zh-CN" altLang="en-US" sz="4000" b="0" smtClean="0">
                <a:solidFill>
                  <a:srgbClr val="000000"/>
                </a:solidFill>
                <a:latin typeface="楷体_GB2312" pitchFamily="49" charset="-122"/>
                <a:ea typeface="楷体_GB2312" pitchFamily="49" charset="-122"/>
              </a:rPr>
              <a:t>替换策略</a:t>
            </a:r>
          </a:p>
        </p:txBody>
      </p:sp>
      <p:sp>
        <p:nvSpPr>
          <p:cNvPr id="115716" name="Rectangle 3"/>
          <p:cNvSpPr>
            <a:spLocks noGrp="1" noChangeArrowheads="1"/>
          </p:cNvSpPr>
          <p:nvPr>
            <p:ph type="body" idx="1"/>
          </p:nvPr>
        </p:nvSpPr>
        <p:spPr>
          <a:xfrm>
            <a:off x="250825" y="1125538"/>
            <a:ext cx="7634288" cy="5400675"/>
          </a:xfrm>
        </p:spPr>
        <p:txBody>
          <a:bodyPr/>
          <a:lstStyle/>
          <a:p>
            <a:pPr eaLnBrk="1" hangingPunct="1"/>
            <a:r>
              <a:rPr lang="en-US" altLang="zh-CN" sz="2800" smtClean="0">
                <a:solidFill>
                  <a:srgbClr val="000000"/>
                </a:solidFill>
                <a:latin typeface="楷体_GB2312" pitchFamily="49" charset="-122"/>
                <a:ea typeface="楷体_GB2312" pitchFamily="49" charset="-122"/>
              </a:rPr>
              <a:t>LFU</a:t>
            </a:r>
            <a:r>
              <a:rPr lang="zh-CN" altLang="en-US" sz="2800" smtClean="0">
                <a:solidFill>
                  <a:srgbClr val="000000"/>
                </a:solidFill>
                <a:latin typeface="楷体_GB2312" pitchFamily="49" charset="-122"/>
                <a:ea typeface="楷体_GB2312" pitchFamily="49" charset="-122"/>
              </a:rPr>
              <a:t>（最不经常使用 ）：</a:t>
            </a:r>
            <a:r>
              <a:rPr lang="en-US" altLang="zh-CN" sz="2800" smtClean="0">
                <a:latin typeface="楷体_GB2312" pitchFamily="49" charset="-122"/>
                <a:ea typeface="楷体_GB2312" pitchFamily="49" charset="-122"/>
              </a:rPr>
              <a:t>LFU</a:t>
            </a:r>
            <a:r>
              <a:rPr lang="zh-CN" altLang="en-US" sz="2800" smtClean="0">
                <a:latin typeface="楷体_GB2312" pitchFamily="49" charset="-122"/>
                <a:ea typeface="楷体_GB2312" pitchFamily="49" charset="-122"/>
              </a:rPr>
              <a:t>算法将一段时间内被访问次数最少的那行数据换出。每行设置一个计数器。从</a:t>
            </a:r>
            <a:r>
              <a:rPr lang="en-US" altLang="zh-CN" sz="2800" smtClean="0">
                <a:latin typeface="楷体_GB2312" pitchFamily="49" charset="-122"/>
                <a:ea typeface="楷体_GB2312" pitchFamily="49" charset="-122"/>
              </a:rPr>
              <a:t>0</a:t>
            </a:r>
            <a:r>
              <a:rPr lang="zh-CN" altLang="en-US" sz="2800" smtClean="0">
                <a:latin typeface="楷体_GB2312" pitchFamily="49" charset="-122"/>
                <a:ea typeface="楷体_GB2312" pitchFamily="49" charset="-122"/>
              </a:rPr>
              <a:t>开始计数，每访问一次， 被访行的计数器增</a:t>
            </a:r>
            <a:r>
              <a:rPr lang="en-US" altLang="zh-CN" sz="2800" smtClean="0">
                <a:latin typeface="楷体_GB2312" pitchFamily="49" charset="-122"/>
                <a:ea typeface="楷体_GB2312" pitchFamily="49" charset="-122"/>
              </a:rPr>
              <a:t>1</a:t>
            </a:r>
            <a:r>
              <a:rPr lang="zh-CN" altLang="en-US" sz="2800" smtClean="0">
                <a:latin typeface="楷体_GB2312" pitchFamily="49" charset="-122"/>
                <a:ea typeface="楷体_GB2312" pitchFamily="49" charset="-122"/>
              </a:rPr>
              <a:t>。当需要替换时，将计数值最小的行换出，同时将这些行的计数器都清零。</a:t>
            </a:r>
          </a:p>
          <a:p>
            <a:pPr eaLnBrk="1" hangingPunct="1">
              <a:buFont typeface="Wingdings" pitchFamily="2" charset="2"/>
              <a:buNone/>
            </a:pPr>
            <a:r>
              <a:rPr lang="zh-CN" altLang="en-US" sz="2800" smtClean="0">
                <a:latin typeface="楷体_GB2312" pitchFamily="49" charset="-122"/>
                <a:ea typeface="楷体_GB2312" pitchFamily="49" charset="-122"/>
              </a:rPr>
              <a:t>   </a:t>
            </a:r>
            <a:r>
              <a:rPr lang="zh-CN" altLang="en-US" sz="2800" smtClean="0">
                <a:ea typeface="楷体_GB2312" pitchFamily="49" charset="-122"/>
              </a:rPr>
              <a:t>   </a:t>
            </a:r>
            <a:r>
              <a:rPr lang="zh-CN" altLang="en-US" sz="2800" smtClean="0">
                <a:latin typeface="楷体_GB2312" pitchFamily="49" charset="-122"/>
                <a:ea typeface="楷体_GB2312" pitchFamily="49" charset="-122"/>
              </a:rPr>
              <a:t> 这种算法将计数周期限定在对这些特定行两次替换之间的间隔时间内，不能直接反映近期的访问情况。由于它是根据计数值的大小来替换，如果刚从主存块中拷贝到</a:t>
            </a:r>
            <a:r>
              <a:rPr lang="en-US" altLang="zh-CN" sz="2800" smtClean="0">
                <a:latin typeface="楷体_GB2312" pitchFamily="49" charset="-122"/>
                <a:ea typeface="楷体_GB2312" pitchFamily="49" charset="-122"/>
              </a:rPr>
              <a:t>cache</a:t>
            </a:r>
            <a:r>
              <a:rPr lang="zh-CN" altLang="en-US" sz="2800" smtClean="0">
                <a:latin typeface="楷体_GB2312" pitchFamily="49" charset="-122"/>
                <a:ea typeface="楷体_GB2312" pitchFamily="49" charset="-122"/>
              </a:rPr>
              <a:t>中，这时计数值很小，有可能被替换出去，这是</a:t>
            </a:r>
            <a:r>
              <a:rPr lang="en-US" altLang="zh-CN" sz="2800" smtClean="0">
                <a:latin typeface="楷体_GB2312" pitchFamily="49" charset="-122"/>
                <a:ea typeface="楷体_GB2312" pitchFamily="49" charset="-122"/>
              </a:rPr>
              <a:t>LFU</a:t>
            </a:r>
            <a:r>
              <a:rPr lang="zh-CN" altLang="en-US" sz="2800" smtClean="0">
                <a:latin typeface="楷体_GB2312" pitchFamily="49" charset="-122"/>
                <a:ea typeface="楷体_GB2312" pitchFamily="49" charset="-122"/>
              </a:rPr>
              <a:t>算法的缺点。</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F1941C13-CC68-4952-AC82-7518C1187C70}" type="slidenum">
              <a:rPr lang="en-US" altLang="zh-CN"/>
              <a:pPr>
                <a:defRPr/>
              </a:pPr>
              <a:t>97</a:t>
            </a:fld>
            <a:endParaRPr lang="en-US" altLang="zh-CN"/>
          </a:p>
        </p:txBody>
      </p:sp>
      <p:sp>
        <p:nvSpPr>
          <p:cNvPr id="116739" name="Rectangle 4"/>
          <p:cNvSpPr>
            <a:spLocks noChangeArrowheads="1"/>
          </p:cNvSpPr>
          <p:nvPr/>
        </p:nvSpPr>
        <p:spPr bwMode="auto">
          <a:xfrm>
            <a:off x="250825" y="404813"/>
            <a:ext cx="7740650" cy="58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tx2"/>
              </a:buClr>
              <a:buSzPct val="70000"/>
              <a:buFont typeface="Wingdings" pitchFamily="2" charset="2"/>
              <a:buChar char="l"/>
            </a:pPr>
            <a:r>
              <a:rPr lang="en-US" altLang="zh-CN" sz="2600">
                <a:solidFill>
                  <a:srgbClr val="000000"/>
                </a:solidFill>
                <a:latin typeface="楷体_GB2312" pitchFamily="49" charset="-122"/>
              </a:rPr>
              <a:t>LRU</a:t>
            </a:r>
            <a:r>
              <a:rPr lang="zh-CN" altLang="en-US" sz="2600">
                <a:solidFill>
                  <a:srgbClr val="000000"/>
                </a:solidFill>
                <a:latin typeface="楷体_GB2312" pitchFamily="49" charset="-122"/>
              </a:rPr>
              <a:t>（近期最少使用） ：</a:t>
            </a:r>
            <a:r>
              <a:rPr lang="en-US" altLang="zh-CN" sz="2600">
                <a:latin typeface="楷体_GB2312" pitchFamily="49" charset="-122"/>
              </a:rPr>
              <a:t>LRU</a:t>
            </a:r>
            <a:r>
              <a:rPr lang="zh-CN" altLang="en-US" sz="2600">
                <a:latin typeface="楷体_GB2312" pitchFamily="49" charset="-122"/>
              </a:rPr>
              <a:t>算法将近期内长久未被访问过的行换出。每行也设置一个计数器，</a:t>
            </a:r>
            <a:r>
              <a:rPr lang="en-US" altLang="zh-CN" sz="2600">
                <a:latin typeface="楷体_GB2312" pitchFamily="49" charset="-122"/>
              </a:rPr>
              <a:t>cache</a:t>
            </a:r>
            <a:r>
              <a:rPr lang="zh-CN" altLang="en-US" sz="2600">
                <a:latin typeface="楷体_GB2312" pitchFamily="49" charset="-122"/>
              </a:rPr>
              <a:t>每命中一次，命中行计数器清零，其它各行计数器增</a:t>
            </a:r>
            <a:r>
              <a:rPr lang="en-US" altLang="zh-CN" sz="2600">
                <a:latin typeface="楷体_GB2312" pitchFamily="49" charset="-122"/>
              </a:rPr>
              <a:t>1</a:t>
            </a:r>
            <a:r>
              <a:rPr lang="zh-CN" altLang="en-US" sz="2600">
                <a:latin typeface="楷体_GB2312" pitchFamily="49" charset="-122"/>
              </a:rPr>
              <a:t>。当需要替换时，将计数值最大的行换出。</a:t>
            </a:r>
          </a:p>
          <a:p>
            <a:pPr marL="342900" indent="-342900">
              <a:spcBef>
                <a:spcPct val="20000"/>
              </a:spcBef>
              <a:buClr>
                <a:schemeClr val="tx2"/>
              </a:buClr>
              <a:buSzPct val="70000"/>
              <a:buFont typeface="Wingdings" pitchFamily="2" charset="2"/>
              <a:buNone/>
            </a:pPr>
            <a:r>
              <a:rPr lang="zh-CN" altLang="en-US" sz="2600">
                <a:latin typeface="楷体_GB2312" pitchFamily="49" charset="-122"/>
              </a:rPr>
              <a:t>      这种算法保护了刚拷贝到</a:t>
            </a:r>
            <a:r>
              <a:rPr lang="en-US" altLang="zh-CN" sz="2600">
                <a:latin typeface="楷体_GB2312" pitchFamily="49" charset="-122"/>
              </a:rPr>
              <a:t>cache</a:t>
            </a:r>
            <a:r>
              <a:rPr lang="zh-CN" altLang="en-US" sz="2600">
                <a:latin typeface="楷体_GB2312" pitchFamily="49" charset="-122"/>
              </a:rPr>
              <a:t>中的新数据行，有较高的命中率</a:t>
            </a:r>
            <a:r>
              <a:rPr lang="zh-CN" altLang="en-US" sz="2600">
                <a:solidFill>
                  <a:srgbClr val="000000"/>
                </a:solidFill>
                <a:latin typeface="楷体_GB2312" pitchFamily="49" charset="-122"/>
              </a:rPr>
              <a:t>，符合</a:t>
            </a:r>
            <a:r>
              <a:rPr lang="en-US" altLang="zh-CN" sz="2600">
                <a:solidFill>
                  <a:srgbClr val="000000"/>
                </a:solidFill>
                <a:latin typeface="楷体_GB2312" pitchFamily="49" charset="-122"/>
              </a:rPr>
              <a:t>cache</a:t>
            </a:r>
            <a:r>
              <a:rPr lang="zh-CN" altLang="en-US" sz="2600">
                <a:solidFill>
                  <a:srgbClr val="000000"/>
                </a:solidFill>
                <a:latin typeface="楷体_GB2312" pitchFamily="49" charset="-122"/>
              </a:rPr>
              <a:t>的工作原理。</a:t>
            </a:r>
          </a:p>
          <a:p>
            <a:pPr marL="342900" indent="-342900">
              <a:spcBef>
                <a:spcPct val="20000"/>
              </a:spcBef>
              <a:buClr>
                <a:schemeClr val="tx2"/>
              </a:buClr>
              <a:buSzPct val="70000"/>
              <a:buFont typeface="Wingdings" pitchFamily="2" charset="2"/>
              <a:buChar char="l"/>
            </a:pPr>
            <a:r>
              <a:rPr lang="zh-CN" altLang="en-US" sz="2600">
                <a:solidFill>
                  <a:srgbClr val="000000"/>
                </a:solidFill>
                <a:latin typeface="楷体_GB2312" pitchFamily="49" charset="-122"/>
              </a:rPr>
              <a:t>随机替换：</a:t>
            </a:r>
            <a:r>
              <a:rPr lang="zh-CN" altLang="en-US" sz="2600">
                <a:latin typeface="楷体_GB2312" pitchFamily="49" charset="-122"/>
              </a:rPr>
              <a:t>随机替换策略实际上是不要什么算法，从特定的行位置中随机地选取一行换出即可。这种策略在硬件上容易实现，且速度也比前两种策略快。缺点是随意换出的数据很可能马上又要使用，从而降低命中率和</a:t>
            </a:r>
            <a:r>
              <a:rPr lang="en-US" altLang="zh-CN" sz="2600">
                <a:latin typeface="楷体_GB2312" pitchFamily="49" charset="-122"/>
              </a:rPr>
              <a:t>cache</a:t>
            </a:r>
            <a:r>
              <a:rPr lang="zh-CN" altLang="en-US" sz="2600">
                <a:latin typeface="楷体_GB2312" pitchFamily="49" charset="-122"/>
              </a:rPr>
              <a:t>工作效率。但这个不足随着</a:t>
            </a:r>
            <a:r>
              <a:rPr lang="en-US" altLang="zh-CN" sz="2600">
                <a:latin typeface="楷体_GB2312" pitchFamily="49" charset="-122"/>
              </a:rPr>
              <a:t>cache</a:t>
            </a:r>
            <a:r>
              <a:rPr lang="zh-CN" altLang="en-US" sz="2600">
                <a:latin typeface="楷体_GB2312" pitchFamily="49" charset="-122"/>
              </a:rPr>
              <a:t>容量增大而减小。随机替换策略的功效只是稍逊于前两种策略。</a:t>
            </a:r>
            <a:endParaRPr lang="zh-CN" altLang="en-US" sz="2600">
              <a:solidFill>
                <a:srgbClr val="000000"/>
              </a:solidFill>
              <a:latin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 name="灯片编号占位符 5"/>
          <p:cNvSpPr>
            <a:spLocks noGrp="1"/>
          </p:cNvSpPr>
          <p:nvPr>
            <p:ph type="sldNum" sz="quarter" idx="12"/>
          </p:nvPr>
        </p:nvSpPr>
        <p:spPr/>
        <p:txBody>
          <a:bodyPr/>
          <a:lstStyle/>
          <a:p>
            <a:pPr>
              <a:defRPr/>
            </a:pPr>
            <a:fld id="{FEFA0379-D86E-4173-8031-44D8765C6853}" type="slidenum">
              <a:rPr lang="en-US" altLang="zh-CN"/>
              <a:pPr>
                <a:defRPr/>
              </a:pPr>
              <a:t>98</a:t>
            </a:fld>
            <a:endParaRPr lang="en-US" altLang="zh-CN" dirty="0"/>
          </a:p>
        </p:txBody>
      </p:sp>
      <p:sp>
        <p:nvSpPr>
          <p:cNvPr id="117763" name="Rectangle 2"/>
          <p:cNvSpPr>
            <a:spLocks noChangeArrowheads="1"/>
          </p:cNvSpPr>
          <p:nvPr/>
        </p:nvSpPr>
        <p:spPr bwMode="auto">
          <a:xfrm>
            <a:off x="3175" y="8759825"/>
            <a:ext cx="91440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kumimoji="1" lang="en-US" altLang="zh-CN" sz="1200">
                <a:latin typeface="Times New Roman" charset="0"/>
                <a:ea typeface="宋体" pitchFamily="2" charset="-122"/>
                <a:cs typeface="Times New Roman" charset="0"/>
              </a:rPr>
              <a:t> </a:t>
            </a:r>
            <a:endParaRPr kumimoji="1" lang="en-US" altLang="zh-CN" sz="1200">
              <a:latin typeface="宋体" pitchFamily="2" charset="-122"/>
              <a:ea typeface="宋体" pitchFamily="2" charset="-122"/>
              <a:cs typeface="Times New Roman" charset="0"/>
            </a:endParaRPr>
          </a:p>
          <a:p>
            <a:pPr eaLnBrk="0" hangingPunct="0"/>
            <a:endParaRPr kumimoji="1" lang="en-US" altLang="zh-CN" sz="2400">
              <a:latin typeface="Times New Roman" charset="0"/>
              <a:ea typeface="宋体" pitchFamily="2" charset="-122"/>
              <a:cs typeface="Times New Roman" charset="0"/>
            </a:endParaRPr>
          </a:p>
        </p:txBody>
      </p:sp>
      <p:grpSp>
        <p:nvGrpSpPr>
          <p:cNvPr id="117764" name="Group 3"/>
          <p:cNvGrpSpPr>
            <a:grpSpLocks/>
          </p:cNvGrpSpPr>
          <p:nvPr/>
        </p:nvGrpSpPr>
        <p:grpSpPr bwMode="auto">
          <a:xfrm>
            <a:off x="179388" y="1557338"/>
            <a:ext cx="8137525" cy="5184775"/>
            <a:chOff x="-3" y="-3"/>
            <a:chExt cx="4353" cy="11038"/>
          </a:xfrm>
        </p:grpSpPr>
        <p:grpSp>
          <p:nvGrpSpPr>
            <p:cNvPr id="117767" name="Group 4"/>
            <p:cNvGrpSpPr>
              <a:grpSpLocks/>
            </p:cNvGrpSpPr>
            <p:nvPr/>
          </p:nvGrpSpPr>
          <p:grpSpPr bwMode="auto">
            <a:xfrm>
              <a:off x="0" y="0"/>
              <a:ext cx="4347" cy="11032"/>
              <a:chOff x="0" y="0"/>
              <a:chExt cx="4347" cy="11032"/>
            </a:xfrm>
          </p:grpSpPr>
          <p:grpSp>
            <p:nvGrpSpPr>
              <p:cNvPr id="117769" name="Group 5"/>
              <p:cNvGrpSpPr>
                <a:grpSpLocks/>
              </p:cNvGrpSpPr>
              <p:nvPr/>
            </p:nvGrpSpPr>
            <p:grpSpPr bwMode="auto">
              <a:xfrm>
                <a:off x="0" y="0"/>
                <a:ext cx="302" cy="788"/>
                <a:chOff x="0" y="0"/>
                <a:chExt cx="302" cy="788"/>
              </a:xfrm>
            </p:grpSpPr>
            <p:sp>
              <p:nvSpPr>
                <p:cNvPr id="118205" name="Rectangle 6"/>
                <p:cNvSpPr>
                  <a:spLocks noChangeArrowheads="1"/>
                </p:cNvSpPr>
                <p:nvPr/>
              </p:nvSpPr>
              <p:spPr bwMode="auto">
                <a:xfrm>
                  <a:off x="43" y="0"/>
                  <a:ext cx="216"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kumimoji="1" lang="en-US" altLang="zh-CN" sz="1800">
                      <a:latin typeface="Times New Roman" charset="0"/>
                      <a:cs typeface="Times New Roman" charset="0"/>
                    </a:rPr>
                    <a:t> </a:t>
                  </a:r>
                  <a:endParaRPr kumimoji="1" lang="en-US" altLang="zh-CN" sz="1800">
                    <a:latin typeface="楷体_GB2312" pitchFamily="49" charset="-122"/>
                    <a:cs typeface="Times New Roman" charset="0"/>
                  </a:endParaRPr>
                </a:p>
                <a:p>
                  <a:pPr algn="just" eaLnBrk="0" hangingPunct="0"/>
                  <a:endParaRPr kumimoji="1" lang="en-US" altLang="zh-CN" sz="1800">
                    <a:latin typeface="楷体_GB2312" pitchFamily="49" charset="-122"/>
                    <a:cs typeface="Times New Roman" charset="0"/>
                  </a:endParaRPr>
                </a:p>
              </p:txBody>
            </p:sp>
            <p:sp>
              <p:nvSpPr>
                <p:cNvPr id="118206" name="Rectangle 7"/>
                <p:cNvSpPr>
                  <a:spLocks noChangeArrowheads="1"/>
                </p:cNvSpPr>
                <p:nvPr/>
              </p:nvSpPr>
              <p:spPr bwMode="auto">
                <a:xfrm>
                  <a:off x="0" y="0"/>
                  <a:ext cx="302"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70" name="Group 8"/>
              <p:cNvGrpSpPr>
                <a:grpSpLocks/>
              </p:cNvGrpSpPr>
              <p:nvPr/>
            </p:nvGrpSpPr>
            <p:grpSpPr bwMode="auto">
              <a:xfrm>
                <a:off x="302" y="0"/>
                <a:ext cx="2014" cy="788"/>
                <a:chOff x="302" y="0"/>
                <a:chExt cx="2014" cy="788"/>
              </a:xfrm>
            </p:grpSpPr>
            <p:sp>
              <p:nvSpPr>
                <p:cNvPr id="118203" name="Rectangle 9"/>
                <p:cNvSpPr>
                  <a:spLocks noChangeArrowheads="1"/>
                </p:cNvSpPr>
                <p:nvPr/>
              </p:nvSpPr>
              <p:spPr bwMode="auto">
                <a:xfrm>
                  <a:off x="345" y="0"/>
                  <a:ext cx="192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kumimoji="1" lang="en-US" altLang="zh-CN" sz="1800">
                      <a:latin typeface="楷体_GB2312" pitchFamily="49" charset="-122"/>
                      <a:cs typeface="Times New Roman" charset="0"/>
                    </a:rPr>
                    <a:t>LFU</a:t>
                  </a:r>
                  <a:r>
                    <a:rPr kumimoji="1" lang="zh-CN" altLang="en-US" sz="1800">
                      <a:latin typeface="楷体_GB2312" pitchFamily="49" charset="-122"/>
                      <a:cs typeface="Times New Roman" charset="0"/>
                    </a:rPr>
                    <a:t>（最不经常使用）</a:t>
                  </a:r>
                </a:p>
              </p:txBody>
            </p:sp>
            <p:sp>
              <p:nvSpPr>
                <p:cNvPr id="118204" name="Rectangle 10"/>
                <p:cNvSpPr>
                  <a:spLocks noChangeArrowheads="1"/>
                </p:cNvSpPr>
                <p:nvPr/>
              </p:nvSpPr>
              <p:spPr bwMode="auto">
                <a:xfrm>
                  <a:off x="302" y="0"/>
                  <a:ext cx="201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71" name="Group 11"/>
              <p:cNvGrpSpPr>
                <a:grpSpLocks/>
              </p:cNvGrpSpPr>
              <p:nvPr/>
            </p:nvGrpSpPr>
            <p:grpSpPr bwMode="auto">
              <a:xfrm>
                <a:off x="2316" y="0"/>
                <a:ext cx="2031" cy="788"/>
                <a:chOff x="2316" y="0"/>
                <a:chExt cx="2031" cy="788"/>
              </a:xfrm>
            </p:grpSpPr>
            <p:sp>
              <p:nvSpPr>
                <p:cNvPr id="118201" name="Rectangle 12"/>
                <p:cNvSpPr>
                  <a:spLocks noChangeArrowheads="1"/>
                </p:cNvSpPr>
                <p:nvPr/>
              </p:nvSpPr>
              <p:spPr bwMode="auto">
                <a:xfrm>
                  <a:off x="2359" y="0"/>
                  <a:ext cx="1945"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kumimoji="1" lang="en-US" altLang="zh-CN" sz="1800">
                      <a:latin typeface="楷体_GB2312" pitchFamily="49" charset="-122"/>
                      <a:cs typeface="Times New Roman" charset="0"/>
                    </a:rPr>
                    <a:t>LRU</a:t>
                  </a:r>
                  <a:r>
                    <a:rPr kumimoji="1" lang="zh-CN" altLang="en-US" sz="1800">
                      <a:latin typeface="楷体_GB2312" pitchFamily="49" charset="-122"/>
                      <a:cs typeface="Times New Roman" charset="0"/>
                    </a:rPr>
                    <a:t>（近期最少使用）</a:t>
                  </a:r>
                </a:p>
              </p:txBody>
            </p:sp>
            <p:sp>
              <p:nvSpPr>
                <p:cNvPr id="118202" name="Rectangle 13"/>
                <p:cNvSpPr>
                  <a:spLocks noChangeArrowheads="1"/>
                </p:cNvSpPr>
                <p:nvPr/>
              </p:nvSpPr>
              <p:spPr bwMode="auto">
                <a:xfrm>
                  <a:off x="2316" y="0"/>
                  <a:ext cx="2031"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72" name="Group 14"/>
              <p:cNvGrpSpPr>
                <a:grpSpLocks/>
              </p:cNvGrpSpPr>
              <p:nvPr/>
            </p:nvGrpSpPr>
            <p:grpSpPr bwMode="auto">
              <a:xfrm>
                <a:off x="0" y="788"/>
                <a:ext cx="302" cy="788"/>
                <a:chOff x="0" y="788"/>
                <a:chExt cx="302" cy="788"/>
              </a:xfrm>
            </p:grpSpPr>
            <p:sp>
              <p:nvSpPr>
                <p:cNvPr id="118199" name="Rectangle 15"/>
                <p:cNvSpPr>
                  <a:spLocks noChangeArrowheads="1"/>
                </p:cNvSpPr>
                <p:nvPr/>
              </p:nvSpPr>
              <p:spPr bwMode="auto">
                <a:xfrm>
                  <a:off x="43" y="788"/>
                  <a:ext cx="216"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kumimoji="1" lang="en-US" altLang="zh-CN" sz="1800">
                      <a:latin typeface="Times New Roman" charset="0"/>
                      <a:cs typeface="Times New Roman" charset="0"/>
                    </a:rPr>
                    <a:t> </a:t>
                  </a:r>
                  <a:endParaRPr kumimoji="1" lang="en-US" altLang="zh-CN" sz="1800">
                    <a:latin typeface="楷体_GB2312" pitchFamily="49" charset="-122"/>
                    <a:cs typeface="Times New Roman" charset="0"/>
                  </a:endParaRPr>
                </a:p>
                <a:p>
                  <a:pPr algn="just" eaLnBrk="0" hangingPunct="0"/>
                  <a:endParaRPr kumimoji="1" lang="en-US" altLang="zh-CN" sz="1800">
                    <a:latin typeface="楷体_GB2312" pitchFamily="49" charset="-122"/>
                    <a:cs typeface="Times New Roman" charset="0"/>
                  </a:endParaRPr>
                </a:p>
              </p:txBody>
            </p:sp>
            <p:sp>
              <p:nvSpPr>
                <p:cNvPr id="118200" name="Rectangle 16"/>
                <p:cNvSpPr>
                  <a:spLocks noChangeArrowheads="1"/>
                </p:cNvSpPr>
                <p:nvPr/>
              </p:nvSpPr>
              <p:spPr bwMode="auto">
                <a:xfrm>
                  <a:off x="0" y="788"/>
                  <a:ext cx="302"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73" name="Group 17"/>
              <p:cNvGrpSpPr>
                <a:grpSpLocks/>
              </p:cNvGrpSpPr>
              <p:nvPr/>
            </p:nvGrpSpPr>
            <p:grpSpPr bwMode="auto">
              <a:xfrm>
                <a:off x="302" y="788"/>
                <a:ext cx="518" cy="788"/>
                <a:chOff x="302" y="788"/>
                <a:chExt cx="518" cy="788"/>
              </a:xfrm>
            </p:grpSpPr>
            <p:sp>
              <p:nvSpPr>
                <p:cNvPr id="118197" name="Rectangle 18"/>
                <p:cNvSpPr>
                  <a:spLocks noChangeArrowheads="1"/>
                </p:cNvSpPr>
                <p:nvPr/>
              </p:nvSpPr>
              <p:spPr bwMode="auto">
                <a:xfrm>
                  <a:off x="345" y="788"/>
                  <a:ext cx="43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说明</a:t>
                  </a:r>
                </a:p>
              </p:txBody>
            </p:sp>
            <p:sp>
              <p:nvSpPr>
                <p:cNvPr id="118198" name="Rectangle 19"/>
                <p:cNvSpPr>
                  <a:spLocks noChangeArrowheads="1"/>
                </p:cNvSpPr>
                <p:nvPr/>
              </p:nvSpPr>
              <p:spPr bwMode="auto">
                <a:xfrm>
                  <a:off x="302" y="788"/>
                  <a:ext cx="518"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74" name="Group 20"/>
              <p:cNvGrpSpPr>
                <a:grpSpLocks/>
              </p:cNvGrpSpPr>
              <p:nvPr/>
            </p:nvGrpSpPr>
            <p:grpSpPr bwMode="auto">
              <a:xfrm>
                <a:off x="820" y="788"/>
                <a:ext cx="374" cy="788"/>
                <a:chOff x="820" y="788"/>
                <a:chExt cx="374" cy="788"/>
              </a:xfrm>
            </p:grpSpPr>
            <p:sp>
              <p:nvSpPr>
                <p:cNvPr id="118195" name="Rectangle 21"/>
                <p:cNvSpPr>
                  <a:spLocks noChangeArrowheads="1"/>
                </p:cNvSpPr>
                <p:nvPr/>
              </p:nvSpPr>
              <p:spPr bwMode="auto">
                <a:xfrm>
                  <a:off x="863" y="78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1</a:t>
                  </a:r>
                  <a:r>
                    <a:rPr kumimoji="1" lang="zh-CN" altLang="en-US" sz="1800">
                      <a:latin typeface="楷体_GB2312" pitchFamily="49" charset="-122"/>
                      <a:cs typeface="Times New Roman" charset="0"/>
                    </a:rPr>
                    <a:t>块</a:t>
                  </a:r>
                </a:p>
              </p:txBody>
            </p:sp>
            <p:sp>
              <p:nvSpPr>
                <p:cNvPr id="118196" name="Rectangle 22"/>
                <p:cNvSpPr>
                  <a:spLocks noChangeArrowheads="1"/>
                </p:cNvSpPr>
                <p:nvPr/>
              </p:nvSpPr>
              <p:spPr bwMode="auto">
                <a:xfrm>
                  <a:off x="820" y="78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75" name="Group 23"/>
              <p:cNvGrpSpPr>
                <a:grpSpLocks/>
              </p:cNvGrpSpPr>
              <p:nvPr/>
            </p:nvGrpSpPr>
            <p:grpSpPr bwMode="auto">
              <a:xfrm>
                <a:off x="1194" y="788"/>
                <a:ext cx="374" cy="788"/>
                <a:chOff x="1194" y="788"/>
                <a:chExt cx="374" cy="788"/>
              </a:xfrm>
            </p:grpSpPr>
            <p:sp>
              <p:nvSpPr>
                <p:cNvPr id="118193" name="Rectangle 24"/>
                <p:cNvSpPr>
                  <a:spLocks noChangeArrowheads="1"/>
                </p:cNvSpPr>
                <p:nvPr/>
              </p:nvSpPr>
              <p:spPr bwMode="auto">
                <a:xfrm>
                  <a:off x="1237" y="78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2</a:t>
                  </a:r>
                  <a:r>
                    <a:rPr kumimoji="1" lang="zh-CN" altLang="en-US" sz="1800">
                      <a:latin typeface="楷体_GB2312" pitchFamily="49" charset="-122"/>
                      <a:cs typeface="Times New Roman" charset="0"/>
                    </a:rPr>
                    <a:t>块</a:t>
                  </a:r>
                </a:p>
              </p:txBody>
            </p:sp>
            <p:sp>
              <p:nvSpPr>
                <p:cNvPr id="118194" name="Rectangle 25"/>
                <p:cNvSpPr>
                  <a:spLocks noChangeArrowheads="1"/>
                </p:cNvSpPr>
                <p:nvPr/>
              </p:nvSpPr>
              <p:spPr bwMode="auto">
                <a:xfrm>
                  <a:off x="1194" y="78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76" name="Group 26"/>
              <p:cNvGrpSpPr>
                <a:grpSpLocks/>
              </p:cNvGrpSpPr>
              <p:nvPr/>
            </p:nvGrpSpPr>
            <p:grpSpPr bwMode="auto">
              <a:xfrm>
                <a:off x="1568" y="788"/>
                <a:ext cx="374" cy="788"/>
                <a:chOff x="1568" y="788"/>
                <a:chExt cx="374" cy="788"/>
              </a:xfrm>
            </p:grpSpPr>
            <p:sp>
              <p:nvSpPr>
                <p:cNvPr id="118191" name="Rectangle 27"/>
                <p:cNvSpPr>
                  <a:spLocks noChangeArrowheads="1"/>
                </p:cNvSpPr>
                <p:nvPr/>
              </p:nvSpPr>
              <p:spPr bwMode="auto">
                <a:xfrm>
                  <a:off x="1611" y="78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3</a:t>
                  </a:r>
                  <a:r>
                    <a:rPr kumimoji="1" lang="zh-CN" altLang="en-US" sz="1800">
                      <a:latin typeface="楷体_GB2312" pitchFamily="49" charset="-122"/>
                      <a:cs typeface="Times New Roman" charset="0"/>
                    </a:rPr>
                    <a:t>块</a:t>
                  </a:r>
                </a:p>
              </p:txBody>
            </p:sp>
            <p:sp>
              <p:nvSpPr>
                <p:cNvPr id="118192" name="Rectangle 28"/>
                <p:cNvSpPr>
                  <a:spLocks noChangeArrowheads="1"/>
                </p:cNvSpPr>
                <p:nvPr/>
              </p:nvSpPr>
              <p:spPr bwMode="auto">
                <a:xfrm>
                  <a:off x="1568" y="78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77" name="Group 29"/>
              <p:cNvGrpSpPr>
                <a:grpSpLocks/>
              </p:cNvGrpSpPr>
              <p:nvPr/>
            </p:nvGrpSpPr>
            <p:grpSpPr bwMode="auto">
              <a:xfrm>
                <a:off x="1942" y="788"/>
                <a:ext cx="374" cy="788"/>
                <a:chOff x="1942" y="788"/>
                <a:chExt cx="374" cy="788"/>
              </a:xfrm>
            </p:grpSpPr>
            <p:sp>
              <p:nvSpPr>
                <p:cNvPr id="118189" name="Rectangle 30"/>
                <p:cNvSpPr>
                  <a:spLocks noChangeArrowheads="1"/>
                </p:cNvSpPr>
                <p:nvPr/>
              </p:nvSpPr>
              <p:spPr bwMode="auto">
                <a:xfrm>
                  <a:off x="1985" y="78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4</a:t>
                  </a:r>
                  <a:r>
                    <a:rPr kumimoji="1" lang="zh-CN" altLang="en-US" sz="1800">
                      <a:latin typeface="楷体_GB2312" pitchFamily="49" charset="-122"/>
                      <a:cs typeface="Times New Roman" charset="0"/>
                    </a:rPr>
                    <a:t>块</a:t>
                  </a:r>
                </a:p>
              </p:txBody>
            </p:sp>
            <p:sp>
              <p:nvSpPr>
                <p:cNvPr id="118190" name="Rectangle 31"/>
                <p:cNvSpPr>
                  <a:spLocks noChangeArrowheads="1"/>
                </p:cNvSpPr>
                <p:nvPr/>
              </p:nvSpPr>
              <p:spPr bwMode="auto">
                <a:xfrm>
                  <a:off x="1942" y="78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78" name="Group 32"/>
              <p:cNvGrpSpPr>
                <a:grpSpLocks/>
              </p:cNvGrpSpPr>
              <p:nvPr/>
            </p:nvGrpSpPr>
            <p:grpSpPr bwMode="auto">
              <a:xfrm>
                <a:off x="2316" y="788"/>
                <a:ext cx="554" cy="788"/>
                <a:chOff x="2316" y="788"/>
                <a:chExt cx="554" cy="788"/>
              </a:xfrm>
            </p:grpSpPr>
            <p:sp>
              <p:nvSpPr>
                <p:cNvPr id="118187" name="Rectangle 33"/>
                <p:cNvSpPr>
                  <a:spLocks noChangeArrowheads="1"/>
                </p:cNvSpPr>
                <p:nvPr/>
              </p:nvSpPr>
              <p:spPr bwMode="auto">
                <a:xfrm>
                  <a:off x="2359" y="788"/>
                  <a:ext cx="46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说明</a:t>
                  </a:r>
                </a:p>
              </p:txBody>
            </p:sp>
            <p:sp>
              <p:nvSpPr>
                <p:cNvPr id="118188" name="Rectangle 34"/>
                <p:cNvSpPr>
                  <a:spLocks noChangeArrowheads="1"/>
                </p:cNvSpPr>
                <p:nvPr/>
              </p:nvSpPr>
              <p:spPr bwMode="auto">
                <a:xfrm>
                  <a:off x="2316" y="788"/>
                  <a:ext cx="55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79" name="Group 35"/>
              <p:cNvGrpSpPr>
                <a:grpSpLocks/>
              </p:cNvGrpSpPr>
              <p:nvPr/>
            </p:nvGrpSpPr>
            <p:grpSpPr bwMode="auto">
              <a:xfrm>
                <a:off x="2870" y="788"/>
                <a:ext cx="355" cy="788"/>
                <a:chOff x="2870" y="788"/>
                <a:chExt cx="355" cy="788"/>
              </a:xfrm>
            </p:grpSpPr>
            <p:sp>
              <p:nvSpPr>
                <p:cNvPr id="118185" name="Rectangle 36"/>
                <p:cNvSpPr>
                  <a:spLocks noChangeArrowheads="1"/>
                </p:cNvSpPr>
                <p:nvPr/>
              </p:nvSpPr>
              <p:spPr bwMode="auto">
                <a:xfrm>
                  <a:off x="2913" y="788"/>
                  <a:ext cx="269"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600">
                      <a:latin typeface="楷体_GB2312" pitchFamily="49" charset="-122"/>
                      <a:cs typeface="Times New Roman" charset="0"/>
                    </a:rPr>
                    <a:t>1</a:t>
                  </a:r>
                  <a:r>
                    <a:rPr kumimoji="1" lang="zh-CN" altLang="en-US" sz="1600">
                      <a:latin typeface="楷体_GB2312" pitchFamily="49" charset="-122"/>
                      <a:cs typeface="Times New Roman" charset="0"/>
                    </a:rPr>
                    <a:t>块</a:t>
                  </a:r>
                </a:p>
              </p:txBody>
            </p:sp>
            <p:sp>
              <p:nvSpPr>
                <p:cNvPr id="118186" name="Rectangle 37"/>
                <p:cNvSpPr>
                  <a:spLocks noChangeArrowheads="1"/>
                </p:cNvSpPr>
                <p:nvPr/>
              </p:nvSpPr>
              <p:spPr bwMode="auto">
                <a:xfrm>
                  <a:off x="2870" y="788"/>
                  <a:ext cx="355"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80" name="Group 38"/>
              <p:cNvGrpSpPr>
                <a:grpSpLocks/>
              </p:cNvGrpSpPr>
              <p:nvPr/>
            </p:nvGrpSpPr>
            <p:grpSpPr bwMode="auto">
              <a:xfrm>
                <a:off x="3225" y="788"/>
                <a:ext cx="374" cy="788"/>
                <a:chOff x="3225" y="788"/>
                <a:chExt cx="374" cy="788"/>
              </a:xfrm>
            </p:grpSpPr>
            <p:sp>
              <p:nvSpPr>
                <p:cNvPr id="118183" name="Rectangle 39"/>
                <p:cNvSpPr>
                  <a:spLocks noChangeArrowheads="1"/>
                </p:cNvSpPr>
                <p:nvPr/>
              </p:nvSpPr>
              <p:spPr bwMode="auto">
                <a:xfrm>
                  <a:off x="3268" y="78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2</a:t>
                  </a:r>
                  <a:r>
                    <a:rPr kumimoji="1" lang="zh-CN" altLang="en-US" sz="1800">
                      <a:latin typeface="楷体_GB2312" pitchFamily="49" charset="-122"/>
                      <a:cs typeface="Times New Roman" charset="0"/>
                    </a:rPr>
                    <a:t>块</a:t>
                  </a:r>
                </a:p>
              </p:txBody>
            </p:sp>
            <p:sp>
              <p:nvSpPr>
                <p:cNvPr id="118184" name="Rectangle 40"/>
                <p:cNvSpPr>
                  <a:spLocks noChangeArrowheads="1"/>
                </p:cNvSpPr>
                <p:nvPr/>
              </p:nvSpPr>
              <p:spPr bwMode="auto">
                <a:xfrm>
                  <a:off x="3225" y="78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81" name="Group 41"/>
              <p:cNvGrpSpPr>
                <a:grpSpLocks/>
              </p:cNvGrpSpPr>
              <p:nvPr/>
            </p:nvGrpSpPr>
            <p:grpSpPr bwMode="auto">
              <a:xfrm>
                <a:off x="3599" y="788"/>
                <a:ext cx="374" cy="788"/>
                <a:chOff x="3599" y="788"/>
                <a:chExt cx="374" cy="788"/>
              </a:xfrm>
            </p:grpSpPr>
            <p:sp>
              <p:nvSpPr>
                <p:cNvPr id="118181" name="Rectangle 42"/>
                <p:cNvSpPr>
                  <a:spLocks noChangeArrowheads="1"/>
                </p:cNvSpPr>
                <p:nvPr/>
              </p:nvSpPr>
              <p:spPr bwMode="auto">
                <a:xfrm>
                  <a:off x="3642" y="78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3</a:t>
                  </a:r>
                  <a:r>
                    <a:rPr kumimoji="1" lang="zh-CN" altLang="en-US" sz="1800">
                      <a:latin typeface="楷体_GB2312" pitchFamily="49" charset="-122"/>
                      <a:cs typeface="Times New Roman" charset="0"/>
                    </a:rPr>
                    <a:t>块</a:t>
                  </a:r>
                </a:p>
              </p:txBody>
            </p:sp>
            <p:sp>
              <p:nvSpPr>
                <p:cNvPr id="118182" name="Rectangle 43"/>
                <p:cNvSpPr>
                  <a:spLocks noChangeArrowheads="1"/>
                </p:cNvSpPr>
                <p:nvPr/>
              </p:nvSpPr>
              <p:spPr bwMode="auto">
                <a:xfrm>
                  <a:off x="3599" y="78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82" name="Group 44"/>
              <p:cNvGrpSpPr>
                <a:grpSpLocks/>
              </p:cNvGrpSpPr>
              <p:nvPr/>
            </p:nvGrpSpPr>
            <p:grpSpPr bwMode="auto">
              <a:xfrm>
                <a:off x="3973" y="788"/>
                <a:ext cx="374" cy="788"/>
                <a:chOff x="3973" y="788"/>
                <a:chExt cx="374" cy="788"/>
              </a:xfrm>
            </p:grpSpPr>
            <p:sp>
              <p:nvSpPr>
                <p:cNvPr id="118179" name="Rectangle 45"/>
                <p:cNvSpPr>
                  <a:spLocks noChangeArrowheads="1"/>
                </p:cNvSpPr>
                <p:nvPr/>
              </p:nvSpPr>
              <p:spPr bwMode="auto">
                <a:xfrm>
                  <a:off x="4016" y="78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4</a:t>
                  </a:r>
                  <a:r>
                    <a:rPr kumimoji="1" lang="zh-CN" altLang="en-US" sz="1800">
                      <a:latin typeface="楷体_GB2312" pitchFamily="49" charset="-122"/>
                      <a:cs typeface="Times New Roman" charset="0"/>
                    </a:rPr>
                    <a:t>块</a:t>
                  </a:r>
                </a:p>
              </p:txBody>
            </p:sp>
            <p:sp>
              <p:nvSpPr>
                <p:cNvPr id="118180" name="Rectangle 46"/>
                <p:cNvSpPr>
                  <a:spLocks noChangeArrowheads="1"/>
                </p:cNvSpPr>
                <p:nvPr/>
              </p:nvSpPr>
              <p:spPr bwMode="auto">
                <a:xfrm>
                  <a:off x="3973" y="78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83" name="Group 47"/>
              <p:cNvGrpSpPr>
                <a:grpSpLocks/>
              </p:cNvGrpSpPr>
              <p:nvPr/>
            </p:nvGrpSpPr>
            <p:grpSpPr bwMode="auto">
              <a:xfrm>
                <a:off x="0" y="1576"/>
                <a:ext cx="302" cy="788"/>
                <a:chOff x="0" y="1576"/>
                <a:chExt cx="302" cy="788"/>
              </a:xfrm>
            </p:grpSpPr>
            <p:sp>
              <p:nvSpPr>
                <p:cNvPr id="118177" name="Rectangle 48"/>
                <p:cNvSpPr>
                  <a:spLocks noChangeArrowheads="1"/>
                </p:cNvSpPr>
                <p:nvPr/>
              </p:nvSpPr>
              <p:spPr bwMode="auto">
                <a:xfrm>
                  <a:off x="43" y="1576"/>
                  <a:ext cx="216"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a</a:t>
                  </a:r>
                </a:p>
                <a:p>
                  <a:pPr algn="just" eaLnBrk="0" hangingPunct="0"/>
                  <a:endParaRPr kumimoji="1" lang="en-US" altLang="zh-CN" sz="1800">
                    <a:latin typeface="楷体_GB2312" pitchFamily="49" charset="-122"/>
                    <a:cs typeface="Times New Roman" charset="0"/>
                  </a:endParaRPr>
                </a:p>
              </p:txBody>
            </p:sp>
            <p:sp>
              <p:nvSpPr>
                <p:cNvPr id="118178" name="Rectangle 49"/>
                <p:cNvSpPr>
                  <a:spLocks noChangeArrowheads="1"/>
                </p:cNvSpPr>
                <p:nvPr/>
              </p:nvSpPr>
              <p:spPr bwMode="auto">
                <a:xfrm>
                  <a:off x="0" y="1576"/>
                  <a:ext cx="302"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84" name="Group 50"/>
              <p:cNvGrpSpPr>
                <a:grpSpLocks/>
              </p:cNvGrpSpPr>
              <p:nvPr/>
            </p:nvGrpSpPr>
            <p:grpSpPr bwMode="auto">
              <a:xfrm>
                <a:off x="302" y="1576"/>
                <a:ext cx="518" cy="788"/>
                <a:chOff x="302" y="1576"/>
                <a:chExt cx="518" cy="788"/>
              </a:xfrm>
            </p:grpSpPr>
            <p:sp>
              <p:nvSpPr>
                <p:cNvPr id="118175" name="Rectangle 51"/>
                <p:cNvSpPr>
                  <a:spLocks noChangeArrowheads="1"/>
                </p:cNvSpPr>
                <p:nvPr/>
              </p:nvSpPr>
              <p:spPr bwMode="auto">
                <a:xfrm>
                  <a:off x="345" y="1576"/>
                  <a:ext cx="43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rPr>
                    <a:t>a</a:t>
                  </a:r>
                  <a:r>
                    <a:rPr kumimoji="1" lang="zh-CN" altLang="en-US" sz="1800">
                      <a:latin typeface="楷体_GB2312" pitchFamily="49" charset="-122"/>
                    </a:rPr>
                    <a:t>进入</a:t>
                  </a:r>
                </a:p>
              </p:txBody>
            </p:sp>
            <p:sp>
              <p:nvSpPr>
                <p:cNvPr id="118176" name="Rectangle 52"/>
                <p:cNvSpPr>
                  <a:spLocks noChangeArrowheads="1"/>
                </p:cNvSpPr>
                <p:nvPr/>
              </p:nvSpPr>
              <p:spPr bwMode="auto">
                <a:xfrm>
                  <a:off x="302" y="1576"/>
                  <a:ext cx="518"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85" name="Group 53"/>
              <p:cNvGrpSpPr>
                <a:grpSpLocks/>
              </p:cNvGrpSpPr>
              <p:nvPr/>
            </p:nvGrpSpPr>
            <p:grpSpPr bwMode="auto">
              <a:xfrm>
                <a:off x="820" y="1576"/>
                <a:ext cx="374" cy="788"/>
                <a:chOff x="820" y="1576"/>
                <a:chExt cx="374" cy="788"/>
              </a:xfrm>
            </p:grpSpPr>
            <p:sp>
              <p:nvSpPr>
                <p:cNvPr id="118173" name="Rectangle 54"/>
                <p:cNvSpPr>
                  <a:spLocks noChangeArrowheads="1"/>
                </p:cNvSpPr>
                <p:nvPr/>
              </p:nvSpPr>
              <p:spPr bwMode="auto">
                <a:xfrm>
                  <a:off x="863" y="157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a/1</a:t>
                  </a:r>
                  <a:endParaRPr kumimoji="1" lang="en-US" altLang="zh-CN" sz="1800" dirty="0">
                    <a:latin typeface="楷体_GB2312" pitchFamily="49" charset="-122"/>
                    <a:cs typeface="Times New Roman" charset="0"/>
                  </a:endParaRPr>
                </a:p>
              </p:txBody>
            </p:sp>
            <p:sp>
              <p:nvSpPr>
                <p:cNvPr id="118174" name="Rectangle 55"/>
                <p:cNvSpPr>
                  <a:spLocks noChangeArrowheads="1"/>
                </p:cNvSpPr>
                <p:nvPr/>
              </p:nvSpPr>
              <p:spPr bwMode="auto">
                <a:xfrm>
                  <a:off x="820" y="157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86" name="Group 56"/>
              <p:cNvGrpSpPr>
                <a:grpSpLocks/>
              </p:cNvGrpSpPr>
              <p:nvPr/>
            </p:nvGrpSpPr>
            <p:grpSpPr bwMode="auto">
              <a:xfrm>
                <a:off x="1194" y="1576"/>
                <a:ext cx="374" cy="788"/>
                <a:chOff x="1194" y="1576"/>
                <a:chExt cx="374" cy="788"/>
              </a:xfrm>
            </p:grpSpPr>
            <p:sp>
              <p:nvSpPr>
                <p:cNvPr id="118171" name="Rectangle 57"/>
                <p:cNvSpPr>
                  <a:spLocks noChangeArrowheads="1"/>
                </p:cNvSpPr>
                <p:nvPr/>
              </p:nvSpPr>
              <p:spPr bwMode="auto">
                <a:xfrm>
                  <a:off x="1237" y="157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/0</a:t>
                  </a:r>
                  <a:endParaRPr kumimoji="1" lang="en-US" altLang="zh-CN" sz="1800" dirty="0">
                    <a:latin typeface="楷体_GB2312" pitchFamily="49" charset="-122"/>
                    <a:cs typeface="Times New Roman" charset="0"/>
                  </a:endParaRPr>
                </a:p>
              </p:txBody>
            </p:sp>
            <p:sp>
              <p:nvSpPr>
                <p:cNvPr id="118172" name="Rectangle 58"/>
                <p:cNvSpPr>
                  <a:spLocks noChangeArrowheads="1"/>
                </p:cNvSpPr>
                <p:nvPr/>
              </p:nvSpPr>
              <p:spPr bwMode="auto">
                <a:xfrm>
                  <a:off x="1194" y="157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87" name="Group 59"/>
              <p:cNvGrpSpPr>
                <a:grpSpLocks/>
              </p:cNvGrpSpPr>
              <p:nvPr/>
            </p:nvGrpSpPr>
            <p:grpSpPr bwMode="auto">
              <a:xfrm>
                <a:off x="1568" y="1576"/>
                <a:ext cx="374" cy="788"/>
                <a:chOff x="1568" y="1576"/>
                <a:chExt cx="374" cy="788"/>
              </a:xfrm>
            </p:grpSpPr>
            <p:sp>
              <p:nvSpPr>
                <p:cNvPr id="118169" name="Rectangle 60"/>
                <p:cNvSpPr>
                  <a:spLocks noChangeArrowheads="1"/>
                </p:cNvSpPr>
                <p:nvPr/>
              </p:nvSpPr>
              <p:spPr bwMode="auto">
                <a:xfrm>
                  <a:off x="1611" y="157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/0</a:t>
                  </a:r>
                  <a:endParaRPr kumimoji="1" lang="en-US" altLang="zh-CN" sz="1800" dirty="0">
                    <a:latin typeface="楷体_GB2312" pitchFamily="49" charset="-122"/>
                    <a:cs typeface="Times New Roman" charset="0"/>
                  </a:endParaRPr>
                </a:p>
              </p:txBody>
            </p:sp>
            <p:sp>
              <p:nvSpPr>
                <p:cNvPr id="118170" name="Rectangle 61"/>
                <p:cNvSpPr>
                  <a:spLocks noChangeArrowheads="1"/>
                </p:cNvSpPr>
                <p:nvPr/>
              </p:nvSpPr>
              <p:spPr bwMode="auto">
                <a:xfrm>
                  <a:off x="1568" y="157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88" name="Group 62"/>
              <p:cNvGrpSpPr>
                <a:grpSpLocks/>
              </p:cNvGrpSpPr>
              <p:nvPr/>
            </p:nvGrpSpPr>
            <p:grpSpPr bwMode="auto">
              <a:xfrm>
                <a:off x="1942" y="1576"/>
                <a:ext cx="374" cy="788"/>
                <a:chOff x="1942" y="1576"/>
                <a:chExt cx="374" cy="788"/>
              </a:xfrm>
            </p:grpSpPr>
            <p:sp>
              <p:nvSpPr>
                <p:cNvPr id="118167" name="Rectangle 63"/>
                <p:cNvSpPr>
                  <a:spLocks noChangeArrowheads="1"/>
                </p:cNvSpPr>
                <p:nvPr/>
              </p:nvSpPr>
              <p:spPr bwMode="auto">
                <a:xfrm>
                  <a:off x="1985" y="157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/0</a:t>
                  </a:r>
                  <a:endParaRPr kumimoji="1" lang="en-US" altLang="zh-CN" sz="1800" dirty="0">
                    <a:latin typeface="楷体_GB2312" pitchFamily="49" charset="-122"/>
                    <a:cs typeface="Times New Roman" charset="0"/>
                  </a:endParaRPr>
                </a:p>
              </p:txBody>
            </p:sp>
            <p:sp>
              <p:nvSpPr>
                <p:cNvPr id="118168" name="Rectangle 64"/>
                <p:cNvSpPr>
                  <a:spLocks noChangeArrowheads="1"/>
                </p:cNvSpPr>
                <p:nvPr/>
              </p:nvSpPr>
              <p:spPr bwMode="auto">
                <a:xfrm>
                  <a:off x="1942" y="157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89" name="Group 65"/>
              <p:cNvGrpSpPr>
                <a:grpSpLocks/>
              </p:cNvGrpSpPr>
              <p:nvPr/>
            </p:nvGrpSpPr>
            <p:grpSpPr bwMode="auto">
              <a:xfrm>
                <a:off x="2316" y="1576"/>
                <a:ext cx="554" cy="788"/>
                <a:chOff x="2316" y="1576"/>
                <a:chExt cx="554" cy="788"/>
              </a:xfrm>
            </p:grpSpPr>
            <p:sp>
              <p:nvSpPr>
                <p:cNvPr id="118165" name="Rectangle 66"/>
                <p:cNvSpPr>
                  <a:spLocks noChangeArrowheads="1"/>
                </p:cNvSpPr>
                <p:nvPr/>
              </p:nvSpPr>
              <p:spPr bwMode="auto">
                <a:xfrm>
                  <a:off x="2359" y="1576"/>
                  <a:ext cx="46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a</a:t>
                  </a:r>
                  <a:r>
                    <a:rPr kumimoji="1" lang="zh-CN" altLang="en-US" sz="1800">
                      <a:latin typeface="楷体_GB2312" pitchFamily="49" charset="-122"/>
                      <a:cs typeface="Times New Roman" charset="0"/>
                    </a:rPr>
                    <a:t>进入</a:t>
                  </a:r>
                </a:p>
              </p:txBody>
            </p:sp>
            <p:sp>
              <p:nvSpPr>
                <p:cNvPr id="118166" name="Rectangle 67"/>
                <p:cNvSpPr>
                  <a:spLocks noChangeArrowheads="1"/>
                </p:cNvSpPr>
                <p:nvPr/>
              </p:nvSpPr>
              <p:spPr bwMode="auto">
                <a:xfrm>
                  <a:off x="2316" y="1576"/>
                  <a:ext cx="55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90" name="Group 68"/>
              <p:cNvGrpSpPr>
                <a:grpSpLocks/>
              </p:cNvGrpSpPr>
              <p:nvPr/>
            </p:nvGrpSpPr>
            <p:grpSpPr bwMode="auto">
              <a:xfrm>
                <a:off x="2870" y="1576"/>
                <a:ext cx="398" cy="788"/>
                <a:chOff x="2870" y="1576"/>
                <a:chExt cx="398" cy="788"/>
              </a:xfrm>
            </p:grpSpPr>
            <p:sp>
              <p:nvSpPr>
                <p:cNvPr id="118163" name="Rectangle 69"/>
                <p:cNvSpPr>
                  <a:spLocks noChangeArrowheads="1"/>
                </p:cNvSpPr>
                <p:nvPr/>
              </p:nvSpPr>
              <p:spPr bwMode="auto">
                <a:xfrm>
                  <a:off x="2913" y="1576"/>
                  <a:ext cx="355"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a/0</a:t>
                  </a:r>
                  <a:endParaRPr kumimoji="1" lang="en-US" altLang="zh-CN" sz="1800" dirty="0">
                    <a:latin typeface="楷体_GB2312" pitchFamily="49" charset="-122"/>
                    <a:cs typeface="Times New Roman" charset="0"/>
                  </a:endParaRPr>
                </a:p>
              </p:txBody>
            </p:sp>
            <p:sp>
              <p:nvSpPr>
                <p:cNvPr id="118164" name="Rectangle 70"/>
                <p:cNvSpPr>
                  <a:spLocks noChangeArrowheads="1"/>
                </p:cNvSpPr>
                <p:nvPr/>
              </p:nvSpPr>
              <p:spPr bwMode="auto">
                <a:xfrm>
                  <a:off x="2870" y="1576"/>
                  <a:ext cx="355"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91" name="Group 71"/>
              <p:cNvGrpSpPr>
                <a:grpSpLocks/>
              </p:cNvGrpSpPr>
              <p:nvPr/>
            </p:nvGrpSpPr>
            <p:grpSpPr bwMode="auto">
              <a:xfrm>
                <a:off x="3225" y="1576"/>
                <a:ext cx="374" cy="788"/>
                <a:chOff x="3225" y="1576"/>
                <a:chExt cx="374" cy="788"/>
              </a:xfrm>
            </p:grpSpPr>
            <p:sp>
              <p:nvSpPr>
                <p:cNvPr id="118161" name="Rectangle 72"/>
                <p:cNvSpPr>
                  <a:spLocks noChangeArrowheads="1"/>
                </p:cNvSpPr>
                <p:nvPr/>
              </p:nvSpPr>
              <p:spPr bwMode="auto">
                <a:xfrm>
                  <a:off x="3268" y="157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/1</a:t>
                  </a:r>
                  <a:endParaRPr kumimoji="1" lang="en-US" altLang="zh-CN" sz="1800" dirty="0">
                    <a:latin typeface="楷体_GB2312" pitchFamily="49" charset="-122"/>
                    <a:cs typeface="Times New Roman" charset="0"/>
                  </a:endParaRPr>
                </a:p>
              </p:txBody>
            </p:sp>
            <p:sp>
              <p:nvSpPr>
                <p:cNvPr id="118162" name="Rectangle 73"/>
                <p:cNvSpPr>
                  <a:spLocks noChangeArrowheads="1"/>
                </p:cNvSpPr>
                <p:nvPr/>
              </p:nvSpPr>
              <p:spPr bwMode="auto">
                <a:xfrm>
                  <a:off x="3225" y="157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92" name="Group 74"/>
              <p:cNvGrpSpPr>
                <a:grpSpLocks/>
              </p:cNvGrpSpPr>
              <p:nvPr/>
            </p:nvGrpSpPr>
            <p:grpSpPr bwMode="auto">
              <a:xfrm>
                <a:off x="3599" y="1576"/>
                <a:ext cx="374" cy="788"/>
                <a:chOff x="3599" y="1576"/>
                <a:chExt cx="374" cy="788"/>
              </a:xfrm>
            </p:grpSpPr>
            <p:sp>
              <p:nvSpPr>
                <p:cNvPr id="118159" name="Rectangle 75"/>
                <p:cNvSpPr>
                  <a:spLocks noChangeArrowheads="1"/>
                </p:cNvSpPr>
                <p:nvPr/>
              </p:nvSpPr>
              <p:spPr bwMode="auto">
                <a:xfrm>
                  <a:off x="3642" y="157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/1</a:t>
                  </a:r>
                  <a:endParaRPr kumimoji="1" lang="en-US" altLang="zh-CN" sz="1800" dirty="0">
                    <a:latin typeface="楷体_GB2312" pitchFamily="49" charset="-122"/>
                    <a:cs typeface="Times New Roman" charset="0"/>
                  </a:endParaRPr>
                </a:p>
              </p:txBody>
            </p:sp>
            <p:sp>
              <p:nvSpPr>
                <p:cNvPr id="118160" name="Rectangle 76"/>
                <p:cNvSpPr>
                  <a:spLocks noChangeArrowheads="1"/>
                </p:cNvSpPr>
                <p:nvPr/>
              </p:nvSpPr>
              <p:spPr bwMode="auto">
                <a:xfrm>
                  <a:off x="3599" y="157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93" name="Group 77"/>
              <p:cNvGrpSpPr>
                <a:grpSpLocks/>
              </p:cNvGrpSpPr>
              <p:nvPr/>
            </p:nvGrpSpPr>
            <p:grpSpPr bwMode="auto">
              <a:xfrm>
                <a:off x="3973" y="1576"/>
                <a:ext cx="374" cy="788"/>
                <a:chOff x="3973" y="1576"/>
                <a:chExt cx="374" cy="788"/>
              </a:xfrm>
            </p:grpSpPr>
            <p:sp>
              <p:nvSpPr>
                <p:cNvPr id="118157" name="Rectangle 78"/>
                <p:cNvSpPr>
                  <a:spLocks noChangeArrowheads="1"/>
                </p:cNvSpPr>
                <p:nvPr/>
              </p:nvSpPr>
              <p:spPr bwMode="auto">
                <a:xfrm>
                  <a:off x="4016" y="157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/1</a:t>
                  </a:r>
                  <a:endParaRPr kumimoji="1" lang="en-US" altLang="zh-CN" sz="1800" dirty="0">
                    <a:latin typeface="楷体_GB2312" pitchFamily="49" charset="-122"/>
                    <a:cs typeface="Times New Roman" charset="0"/>
                  </a:endParaRPr>
                </a:p>
              </p:txBody>
            </p:sp>
            <p:sp>
              <p:nvSpPr>
                <p:cNvPr id="118158" name="Rectangle 79"/>
                <p:cNvSpPr>
                  <a:spLocks noChangeArrowheads="1"/>
                </p:cNvSpPr>
                <p:nvPr/>
              </p:nvSpPr>
              <p:spPr bwMode="auto">
                <a:xfrm>
                  <a:off x="3973" y="157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94" name="Group 80"/>
              <p:cNvGrpSpPr>
                <a:grpSpLocks/>
              </p:cNvGrpSpPr>
              <p:nvPr/>
            </p:nvGrpSpPr>
            <p:grpSpPr bwMode="auto">
              <a:xfrm>
                <a:off x="0" y="2364"/>
                <a:ext cx="302" cy="788"/>
                <a:chOff x="0" y="2364"/>
                <a:chExt cx="302" cy="788"/>
              </a:xfrm>
            </p:grpSpPr>
            <p:sp>
              <p:nvSpPr>
                <p:cNvPr id="118155" name="Rectangle 81"/>
                <p:cNvSpPr>
                  <a:spLocks noChangeArrowheads="1"/>
                </p:cNvSpPr>
                <p:nvPr/>
              </p:nvSpPr>
              <p:spPr bwMode="auto">
                <a:xfrm>
                  <a:off x="43" y="2364"/>
                  <a:ext cx="216"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b</a:t>
                  </a:r>
                </a:p>
                <a:p>
                  <a:pPr algn="just" eaLnBrk="0" hangingPunct="0"/>
                  <a:endParaRPr kumimoji="1" lang="en-US" altLang="zh-CN" sz="1800">
                    <a:latin typeface="楷体_GB2312" pitchFamily="49" charset="-122"/>
                    <a:cs typeface="Times New Roman" charset="0"/>
                  </a:endParaRPr>
                </a:p>
              </p:txBody>
            </p:sp>
            <p:sp>
              <p:nvSpPr>
                <p:cNvPr id="118156" name="Rectangle 82"/>
                <p:cNvSpPr>
                  <a:spLocks noChangeArrowheads="1"/>
                </p:cNvSpPr>
                <p:nvPr/>
              </p:nvSpPr>
              <p:spPr bwMode="auto">
                <a:xfrm>
                  <a:off x="0" y="2364"/>
                  <a:ext cx="302"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95" name="Group 83"/>
              <p:cNvGrpSpPr>
                <a:grpSpLocks/>
              </p:cNvGrpSpPr>
              <p:nvPr/>
            </p:nvGrpSpPr>
            <p:grpSpPr bwMode="auto">
              <a:xfrm>
                <a:off x="302" y="2364"/>
                <a:ext cx="518" cy="788"/>
                <a:chOff x="302" y="2364"/>
                <a:chExt cx="518" cy="788"/>
              </a:xfrm>
            </p:grpSpPr>
            <p:sp>
              <p:nvSpPr>
                <p:cNvPr id="118153" name="Rectangle 84"/>
                <p:cNvSpPr>
                  <a:spLocks noChangeArrowheads="1"/>
                </p:cNvSpPr>
                <p:nvPr/>
              </p:nvSpPr>
              <p:spPr bwMode="auto">
                <a:xfrm>
                  <a:off x="345" y="2364"/>
                  <a:ext cx="43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b</a:t>
                  </a:r>
                  <a:r>
                    <a:rPr kumimoji="1" lang="zh-CN" altLang="en-US" sz="1800">
                      <a:latin typeface="楷体_GB2312" pitchFamily="49" charset="-122"/>
                      <a:cs typeface="Times New Roman" charset="0"/>
                    </a:rPr>
                    <a:t>进入</a:t>
                  </a:r>
                </a:p>
              </p:txBody>
            </p:sp>
            <p:sp>
              <p:nvSpPr>
                <p:cNvPr id="118154" name="Rectangle 85"/>
                <p:cNvSpPr>
                  <a:spLocks noChangeArrowheads="1"/>
                </p:cNvSpPr>
                <p:nvPr/>
              </p:nvSpPr>
              <p:spPr bwMode="auto">
                <a:xfrm>
                  <a:off x="302" y="2364"/>
                  <a:ext cx="518"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96" name="Group 86"/>
              <p:cNvGrpSpPr>
                <a:grpSpLocks/>
              </p:cNvGrpSpPr>
              <p:nvPr/>
            </p:nvGrpSpPr>
            <p:grpSpPr bwMode="auto">
              <a:xfrm>
                <a:off x="820" y="2364"/>
                <a:ext cx="374" cy="788"/>
                <a:chOff x="820" y="2364"/>
                <a:chExt cx="374" cy="788"/>
              </a:xfrm>
            </p:grpSpPr>
            <p:sp>
              <p:nvSpPr>
                <p:cNvPr id="118151" name="Rectangle 87"/>
                <p:cNvSpPr>
                  <a:spLocks noChangeArrowheads="1"/>
                </p:cNvSpPr>
                <p:nvPr/>
              </p:nvSpPr>
              <p:spPr bwMode="auto">
                <a:xfrm>
                  <a:off x="863" y="236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a/1</a:t>
                  </a:r>
                  <a:endParaRPr kumimoji="1" lang="en-US" altLang="zh-CN" sz="1800" dirty="0">
                    <a:latin typeface="楷体_GB2312" pitchFamily="49" charset="-122"/>
                    <a:cs typeface="Times New Roman" charset="0"/>
                  </a:endParaRPr>
                </a:p>
              </p:txBody>
            </p:sp>
            <p:sp>
              <p:nvSpPr>
                <p:cNvPr id="118152" name="Rectangle 88"/>
                <p:cNvSpPr>
                  <a:spLocks noChangeArrowheads="1"/>
                </p:cNvSpPr>
                <p:nvPr/>
              </p:nvSpPr>
              <p:spPr bwMode="auto">
                <a:xfrm>
                  <a:off x="820" y="236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97" name="Group 89"/>
              <p:cNvGrpSpPr>
                <a:grpSpLocks/>
              </p:cNvGrpSpPr>
              <p:nvPr/>
            </p:nvGrpSpPr>
            <p:grpSpPr bwMode="auto">
              <a:xfrm>
                <a:off x="1194" y="2364"/>
                <a:ext cx="374" cy="788"/>
                <a:chOff x="1194" y="2364"/>
                <a:chExt cx="374" cy="788"/>
              </a:xfrm>
            </p:grpSpPr>
            <p:sp>
              <p:nvSpPr>
                <p:cNvPr id="118149" name="Rectangle 90"/>
                <p:cNvSpPr>
                  <a:spLocks noChangeArrowheads="1"/>
                </p:cNvSpPr>
                <p:nvPr/>
              </p:nvSpPr>
              <p:spPr bwMode="auto">
                <a:xfrm>
                  <a:off x="1237" y="236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b/1</a:t>
                  </a:r>
                  <a:endParaRPr kumimoji="1" lang="en-US" altLang="zh-CN" sz="1800" dirty="0">
                    <a:latin typeface="楷体_GB2312" pitchFamily="49" charset="-122"/>
                    <a:cs typeface="Times New Roman" charset="0"/>
                  </a:endParaRPr>
                </a:p>
              </p:txBody>
            </p:sp>
            <p:sp>
              <p:nvSpPr>
                <p:cNvPr id="118150" name="Rectangle 91"/>
                <p:cNvSpPr>
                  <a:spLocks noChangeArrowheads="1"/>
                </p:cNvSpPr>
                <p:nvPr/>
              </p:nvSpPr>
              <p:spPr bwMode="auto">
                <a:xfrm>
                  <a:off x="1194" y="236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98" name="Group 92"/>
              <p:cNvGrpSpPr>
                <a:grpSpLocks/>
              </p:cNvGrpSpPr>
              <p:nvPr/>
            </p:nvGrpSpPr>
            <p:grpSpPr bwMode="auto">
              <a:xfrm>
                <a:off x="1568" y="2364"/>
                <a:ext cx="374" cy="788"/>
                <a:chOff x="1568" y="2364"/>
                <a:chExt cx="374" cy="788"/>
              </a:xfrm>
            </p:grpSpPr>
            <p:sp>
              <p:nvSpPr>
                <p:cNvPr id="118147" name="Rectangle 93"/>
                <p:cNvSpPr>
                  <a:spLocks noChangeArrowheads="1"/>
                </p:cNvSpPr>
                <p:nvPr/>
              </p:nvSpPr>
              <p:spPr bwMode="auto">
                <a:xfrm>
                  <a:off x="1611" y="236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/0</a:t>
                  </a:r>
                  <a:endParaRPr kumimoji="1" lang="en-US" altLang="zh-CN" sz="1800" dirty="0">
                    <a:latin typeface="楷体_GB2312" pitchFamily="49" charset="-122"/>
                    <a:cs typeface="Times New Roman" charset="0"/>
                  </a:endParaRPr>
                </a:p>
              </p:txBody>
            </p:sp>
            <p:sp>
              <p:nvSpPr>
                <p:cNvPr id="118148" name="Rectangle 94"/>
                <p:cNvSpPr>
                  <a:spLocks noChangeArrowheads="1"/>
                </p:cNvSpPr>
                <p:nvPr/>
              </p:nvSpPr>
              <p:spPr bwMode="auto">
                <a:xfrm>
                  <a:off x="1568" y="236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799" name="Group 95"/>
              <p:cNvGrpSpPr>
                <a:grpSpLocks/>
              </p:cNvGrpSpPr>
              <p:nvPr/>
            </p:nvGrpSpPr>
            <p:grpSpPr bwMode="auto">
              <a:xfrm>
                <a:off x="1942" y="2364"/>
                <a:ext cx="374" cy="788"/>
                <a:chOff x="1942" y="2364"/>
                <a:chExt cx="374" cy="788"/>
              </a:xfrm>
            </p:grpSpPr>
            <p:sp>
              <p:nvSpPr>
                <p:cNvPr id="118145" name="Rectangle 96"/>
                <p:cNvSpPr>
                  <a:spLocks noChangeArrowheads="1"/>
                </p:cNvSpPr>
                <p:nvPr/>
              </p:nvSpPr>
              <p:spPr bwMode="auto">
                <a:xfrm>
                  <a:off x="1985" y="236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/0</a:t>
                  </a:r>
                  <a:endParaRPr kumimoji="1" lang="en-US" altLang="zh-CN" sz="1800" dirty="0">
                    <a:latin typeface="楷体_GB2312" pitchFamily="49" charset="-122"/>
                    <a:cs typeface="Times New Roman" charset="0"/>
                  </a:endParaRPr>
                </a:p>
              </p:txBody>
            </p:sp>
            <p:sp>
              <p:nvSpPr>
                <p:cNvPr id="118146" name="Rectangle 97"/>
                <p:cNvSpPr>
                  <a:spLocks noChangeArrowheads="1"/>
                </p:cNvSpPr>
                <p:nvPr/>
              </p:nvSpPr>
              <p:spPr bwMode="auto">
                <a:xfrm>
                  <a:off x="1942" y="236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00" name="Group 98"/>
              <p:cNvGrpSpPr>
                <a:grpSpLocks/>
              </p:cNvGrpSpPr>
              <p:nvPr/>
            </p:nvGrpSpPr>
            <p:grpSpPr bwMode="auto">
              <a:xfrm>
                <a:off x="2316" y="2364"/>
                <a:ext cx="554" cy="788"/>
                <a:chOff x="2316" y="2364"/>
                <a:chExt cx="554" cy="788"/>
              </a:xfrm>
            </p:grpSpPr>
            <p:sp>
              <p:nvSpPr>
                <p:cNvPr id="118143" name="Rectangle 99"/>
                <p:cNvSpPr>
                  <a:spLocks noChangeArrowheads="1"/>
                </p:cNvSpPr>
                <p:nvPr/>
              </p:nvSpPr>
              <p:spPr bwMode="auto">
                <a:xfrm>
                  <a:off x="2359" y="2364"/>
                  <a:ext cx="46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b</a:t>
                  </a:r>
                  <a:r>
                    <a:rPr kumimoji="1" lang="zh-CN" altLang="en-US" sz="1800">
                      <a:latin typeface="楷体_GB2312" pitchFamily="49" charset="-122"/>
                      <a:cs typeface="Times New Roman" charset="0"/>
                    </a:rPr>
                    <a:t>进入</a:t>
                  </a:r>
                </a:p>
              </p:txBody>
            </p:sp>
            <p:sp>
              <p:nvSpPr>
                <p:cNvPr id="118144" name="Rectangle 100"/>
                <p:cNvSpPr>
                  <a:spLocks noChangeArrowheads="1"/>
                </p:cNvSpPr>
                <p:nvPr/>
              </p:nvSpPr>
              <p:spPr bwMode="auto">
                <a:xfrm>
                  <a:off x="2316" y="2364"/>
                  <a:ext cx="55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01" name="Group 101"/>
              <p:cNvGrpSpPr>
                <a:grpSpLocks/>
              </p:cNvGrpSpPr>
              <p:nvPr/>
            </p:nvGrpSpPr>
            <p:grpSpPr bwMode="auto">
              <a:xfrm>
                <a:off x="2870" y="2364"/>
                <a:ext cx="355" cy="788"/>
                <a:chOff x="2870" y="2364"/>
                <a:chExt cx="355" cy="788"/>
              </a:xfrm>
            </p:grpSpPr>
            <p:sp>
              <p:nvSpPr>
                <p:cNvPr id="118141" name="Rectangle 102"/>
                <p:cNvSpPr>
                  <a:spLocks noChangeArrowheads="1"/>
                </p:cNvSpPr>
                <p:nvPr/>
              </p:nvSpPr>
              <p:spPr bwMode="auto">
                <a:xfrm>
                  <a:off x="2913" y="2364"/>
                  <a:ext cx="31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a/1</a:t>
                  </a:r>
                  <a:endParaRPr kumimoji="1" lang="en-US" altLang="zh-CN" sz="1800" dirty="0">
                    <a:latin typeface="楷体_GB2312" pitchFamily="49" charset="-122"/>
                    <a:cs typeface="Times New Roman" charset="0"/>
                  </a:endParaRPr>
                </a:p>
              </p:txBody>
            </p:sp>
            <p:sp>
              <p:nvSpPr>
                <p:cNvPr id="118142" name="Rectangle 103"/>
                <p:cNvSpPr>
                  <a:spLocks noChangeArrowheads="1"/>
                </p:cNvSpPr>
                <p:nvPr/>
              </p:nvSpPr>
              <p:spPr bwMode="auto">
                <a:xfrm>
                  <a:off x="2870" y="2364"/>
                  <a:ext cx="355"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02" name="Group 104"/>
              <p:cNvGrpSpPr>
                <a:grpSpLocks/>
              </p:cNvGrpSpPr>
              <p:nvPr/>
            </p:nvGrpSpPr>
            <p:grpSpPr bwMode="auto">
              <a:xfrm>
                <a:off x="3225" y="2364"/>
                <a:ext cx="374" cy="788"/>
                <a:chOff x="3225" y="2364"/>
                <a:chExt cx="374" cy="788"/>
              </a:xfrm>
            </p:grpSpPr>
            <p:sp>
              <p:nvSpPr>
                <p:cNvPr id="118139" name="Rectangle 105"/>
                <p:cNvSpPr>
                  <a:spLocks noChangeArrowheads="1"/>
                </p:cNvSpPr>
                <p:nvPr/>
              </p:nvSpPr>
              <p:spPr bwMode="auto">
                <a:xfrm>
                  <a:off x="3268" y="236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b/0</a:t>
                  </a:r>
                  <a:endParaRPr kumimoji="1" lang="en-US" altLang="zh-CN" sz="1800" dirty="0">
                    <a:latin typeface="楷体_GB2312" pitchFamily="49" charset="-122"/>
                    <a:cs typeface="Times New Roman" charset="0"/>
                  </a:endParaRPr>
                </a:p>
              </p:txBody>
            </p:sp>
            <p:sp>
              <p:nvSpPr>
                <p:cNvPr id="118140" name="Rectangle 106"/>
                <p:cNvSpPr>
                  <a:spLocks noChangeArrowheads="1"/>
                </p:cNvSpPr>
                <p:nvPr/>
              </p:nvSpPr>
              <p:spPr bwMode="auto">
                <a:xfrm>
                  <a:off x="3225" y="236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03" name="Group 107"/>
              <p:cNvGrpSpPr>
                <a:grpSpLocks/>
              </p:cNvGrpSpPr>
              <p:nvPr/>
            </p:nvGrpSpPr>
            <p:grpSpPr bwMode="auto">
              <a:xfrm>
                <a:off x="3599" y="2364"/>
                <a:ext cx="374" cy="788"/>
                <a:chOff x="3599" y="2364"/>
                <a:chExt cx="374" cy="788"/>
              </a:xfrm>
            </p:grpSpPr>
            <p:sp>
              <p:nvSpPr>
                <p:cNvPr id="118137" name="Rectangle 108"/>
                <p:cNvSpPr>
                  <a:spLocks noChangeArrowheads="1"/>
                </p:cNvSpPr>
                <p:nvPr/>
              </p:nvSpPr>
              <p:spPr bwMode="auto">
                <a:xfrm>
                  <a:off x="3642" y="236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/2</a:t>
                  </a:r>
                  <a:endParaRPr kumimoji="1" lang="en-US" altLang="zh-CN" sz="1800" dirty="0">
                    <a:latin typeface="楷体_GB2312" pitchFamily="49" charset="-122"/>
                    <a:cs typeface="Times New Roman" charset="0"/>
                  </a:endParaRPr>
                </a:p>
              </p:txBody>
            </p:sp>
            <p:sp>
              <p:nvSpPr>
                <p:cNvPr id="118138" name="Rectangle 109"/>
                <p:cNvSpPr>
                  <a:spLocks noChangeArrowheads="1"/>
                </p:cNvSpPr>
                <p:nvPr/>
              </p:nvSpPr>
              <p:spPr bwMode="auto">
                <a:xfrm>
                  <a:off x="3599" y="236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04" name="Group 110"/>
              <p:cNvGrpSpPr>
                <a:grpSpLocks/>
              </p:cNvGrpSpPr>
              <p:nvPr/>
            </p:nvGrpSpPr>
            <p:grpSpPr bwMode="auto">
              <a:xfrm>
                <a:off x="3973" y="2364"/>
                <a:ext cx="374" cy="788"/>
                <a:chOff x="3973" y="2364"/>
                <a:chExt cx="374" cy="788"/>
              </a:xfrm>
            </p:grpSpPr>
            <p:sp>
              <p:nvSpPr>
                <p:cNvPr id="118135" name="Rectangle 111"/>
                <p:cNvSpPr>
                  <a:spLocks noChangeArrowheads="1"/>
                </p:cNvSpPr>
                <p:nvPr/>
              </p:nvSpPr>
              <p:spPr bwMode="auto">
                <a:xfrm>
                  <a:off x="4016" y="236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/2</a:t>
                  </a:r>
                  <a:endParaRPr kumimoji="1" lang="en-US" altLang="zh-CN" sz="1800" dirty="0">
                    <a:latin typeface="楷体_GB2312" pitchFamily="49" charset="-122"/>
                    <a:cs typeface="Times New Roman" charset="0"/>
                  </a:endParaRPr>
                </a:p>
              </p:txBody>
            </p:sp>
            <p:sp>
              <p:nvSpPr>
                <p:cNvPr id="118136" name="Rectangle 112"/>
                <p:cNvSpPr>
                  <a:spLocks noChangeArrowheads="1"/>
                </p:cNvSpPr>
                <p:nvPr/>
              </p:nvSpPr>
              <p:spPr bwMode="auto">
                <a:xfrm>
                  <a:off x="3973" y="236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05" name="Group 113"/>
              <p:cNvGrpSpPr>
                <a:grpSpLocks/>
              </p:cNvGrpSpPr>
              <p:nvPr/>
            </p:nvGrpSpPr>
            <p:grpSpPr bwMode="auto">
              <a:xfrm>
                <a:off x="0" y="3152"/>
                <a:ext cx="302" cy="788"/>
                <a:chOff x="0" y="3152"/>
                <a:chExt cx="302" cy="788"/>
              </a:xfrm>
            </p:grpSpPr>
            <p:sp>
              <p:nvSpPr>
                <p:cNvPr id="118133" name="Rectangle 114"/>
                <p:cNvSpPr>
                  <a:spLocks noChangeArrowheads="1"/>
                </p:cNvSpPr>
                <p:nvPr/>
              </p:nvSpPr>
              <p:spPr bwMode="auto">
                <a:xfrm>
                  <a:off x="43" y="3152"/>
                  <a:ext cx="216"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c</a:t>
                  </a:r>
                </a:p>
                <a:p>
                  <a:pPr algn="just" eaLnBrk="0" hangingPunct="0"/>
                  <a:endParaRPr kumimoji="1" lang="en-US" altLang="zh-CN" sz="1800">
                    <a:latin typeface="楷体_GB2312" pitchFamily="49" charset="-122"/>
                    <a:cs typeface="Times New Roman" charset="0"/>
                  </a:endParaRPr>
                </a:p>
              </p:txBody>
            </p:sp>
            <p:sp>
              <p:nvSpPr>
                <p:cNvPr id="118134" name="Rectangle 115"/>
                <p:cNvSpPr>
                  <a:spLocks noChangeArrowheads="1"/>
                </p:cNvSpPr>
                <p:nvPr/>
              </p:nvSpPr>
              <p:spPr bwMode="auto">
                <a:xfrm>
                  <a:off x="0" y="3152"/>
                  <a:ext cx="302"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06" name="Group 116"/>
              <p:cNvGrpSpPr>
                <a:grpSpLocks/>
              </p:cNvGrpSpPr>
              <p:nvPr/>
            </p:nvGrpSpPr>
            <p:grpSpPr bwMode="auto">
              <a:xfrm>
                <a:off x="302" y="3152"/>
                <a:ext cx="518" cy="788"/>
                <a:chOff x="302" y="3152"/>
                <a:chExt cx="518" cy="788"/>
              </a:xfrm>
            </p:grpSpPr>
            <p:sp>
              <p:nvSpPr>
                <p:cNvPr id="118131" name="Rectangle 117"/>
                <p:cNvSpPr>
                  <a:spLocks noChangeArrowheads="1"/>
                </p:cNvSpPr>
                <p:nvPr/>
              </p:nvSpPr>
              <p:spPr bwMode="auto">
                <a:xfrm>
                  <a:off x="345" y="3152"/>
                  <a:ext cx="43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c</a:t>
                  </a:r>
                  <a:r>
                    <a:rPr kumimoji="1" lang="zh-CN" altLang="en-US" sz="1800">
                      <a:latin typeface="楷体_GB2312" pitchFamily="49" charset="-122"/>
                      <a:cs typeface="Times New Roman" charset="0"/>
                    </a:rPr>
                    <a:t>进入</a:t>
                  </a:r>
                </a:p>
              </p:txBody>
            </p:sp>
            <p:sp>
              <p:nvSpPr>
                <p:cNvPr id="118132" name="Rectangle 118"/>
                <p:cNvSpPr>
                  <a:spLocks noChangeArrowheads="1"/>
                </p:cNvSpPr>
                <p:nvPr/>
              </p:nvSpPr>
              <p:spPr bwMode="auto">
                <a:xfrm>
                  <a:off x="302" y="3152"/>
                  <a:ext cx="518"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07" name="Group 119"/>
              <p:cNvGrpSpPr>
                <a:grpSpLocks/>
              </p:cNvGrpSpPr>
              <p:nvPr/>
            </p:nvGrpSpPr>
            <p:grpSpPr bwMode="auto">
              <a:xfrm>
                <a:off x="820" y="3152"/>
                <a:ext cx="374" cy="788"/>
                <a:chOff x="820" y="3152"/>
                <a:chExt cx="374" cy="788"/>
              </a:xfrm>
            </p:grpSpPr>
            <p:sp>
              <p:nvSpPr>
                <p:cNvPr id="118129" name="Rectangle 120"/>
                <p:cNvSpPr>
                  <a:spLocks noChangeArrowheads="1"/>
                </p:cNvSpPr>
                <p:nvPr/>
              </p:nvSpPr>
              <p:spPr bwMode="auto">
                <a:xfrm>
                  <a:off x="863" y="3152"/>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a/1</a:t>
                  </a:r>
                  <a:endParaRPr kumimoji="1" lang="en-US" altLang="zh-CN" sz="1800" dirty="0">
                    <a:latin typeface="楷体_GB2312" pitchFamily="49" charset="-122"/>
                    <a:cs typeface="Times New Roman" charset="0"/>
                  </a:endParaRPr>
                </a:p>
              </p:txBody>
            </p:sp>
            <p:sp>
              <p:nvSpPr>
                <p:cNvPr id="118130" name="Rectangle 121"/>
                <p:cNvSpPr>
                  <a:spLocks noChangeArrowheads="1"/>
                </p:cNvSpPr>
                <p:nvPr/>
              </p:nvSpPr>
              <p:spPr bwMode="auto">
                <a:xfrm>
                  <a:off x="820" y="3152"/>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08" name="Group 122"/>
              <p:cNvGrpSpPr>
                <a:grpSpLocks/>
              </p:cNvGrpSpPr>
              <p:nvPr/>
            </p:nvGrpSpPr>
            <p:grpSpPr bwMode="auto">
              <a:xfrm>
                <a:off x="1194" y="3152"/>
                <a:ext cx="374" cy="788"/>
                <a:chOff x="1194" y="3152"/>
                <a:chExt cx="374" cy="788"/>
              </a:xfrm>
            </p:grpSpPr>
            <p:sp>
              <p:nvSpPr>
                <p:cNvPr id="118127" name="Rectangle 123"/>
                <p:cNvSpPr>
                  <a:spLocks noChangeArrowheads="1"/>
                </p:cNvSpPr>
                <p:nvPr/>
              </p:nvSpPr>
              <p:spPr bwMode="auto">
                <a:xfrm>
                  <a:off x="1237" y="3152"/>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b/1</a:t>
                  </a:r>
                  <a:endParaRPr kumimoji="1" lang="en-US" altLang="zh-CN" sz="1800" dirty="0">
                    <a:latin typeface="楷体_GB2312" pitchFamily="49" charset="-122"/>
                    <a:cs typeface="Times New Roman" charset="0"/>
                  </a:endParaRPr>
                </a:p>
              </p:txBody>
            </p:sp>
            <p:sp>
              <p:nvSpPr>
                <p:cNvPr id="118128" name="Rectangle 124"/>
                <p:cNvSpPr>
                  <a:spLocks noChangeArrowheads="1"/>
                </p:cNvSpPr>
                <p:nvPr/>
              </p:nvSpPr>
              <p:spPr bwMode="auto">
                <a:xfrm>
                  <a:off x="1194" y="3152"/>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09" name="Group 125"/>
              <p:cNvGrpSpPr>
                <a:grpSpLocks/>
              </p:cNvGrpSpPr>
              <p:nvPr/>
            </p:nvGrpSpPr>
            <p:grpSpPr bwMode="auto">
              <a:xfrm>
                <a:off x="1568" y="3152"/>
                <a:ext cx="374" cy="788"/>
                <a:chOff x="1568" y="3152"/>
                <a:chExt cx="374" cy="788"/>
              </a:xfrm>
            </p:grpSpPr>
            <p:sp>
              <p:nvSpPr>
                <p:cNvPr id="118125" name="Rectangle 126"/>
                <p:cNvSpPr>
                  <a:spLocks noChangeArrowheads="1"/>
                </p:cNvSpPr>
                <p:nvPr/>
              </p:nvSpPr>
              <p:spPr bwMode="auto">
                <a:xfrm>
                  <a:off x="1611" y="3152"/>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c/1</a:t>
                  </a:r>
                  <a:endParaRPr kumimoji="1" lang="en-US" altLang="zh-CN" sz="1800" dirty="0">
                    <a:latin typeface="楷体_GB2312" pitchFamily="49" charset="-122"/>
                    <a:cs typeface="Times New Roman" charset="0"/>
                  </a:endParaRPr>
                </a:p>
              </p:txBody>
            </p:sp>
            <p:sp>
              <p:nvSpPr>
                <p:cNvPr id="118126" name="Rectangle 127"/>
                <p:cNvSpPr>
                  <a:spLocks noChangeArrowheads="1"/>
                </p:cNvSpPr>
                <p:nvPr/>
              </p:nvSpPr>
              <p:spPr bwMode="auto">
                <a:xfrm>
                  <a:off x="1568" y="3152"/>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10" name="Group 128"/>
              <p:cNvGrpSpPr>
                <a:grpSpLocks/>
              </p:cNvGrpSpPr>
              <p:nvPr/>
            </p:nvGrpSpPr>
            <p:grpSpPr bwMode="auto">
              <a:xfrm>
                <a:off x="1942" y="3152"/>
                <a:ext cx="374" cy="788"/>
                <a:chOff x="1942" y="3152"/>
                <a:chExt cx="374" cy="788"/>
              </a:xfrm>
            </p:grpSpPr>
            <p:sp>
              <p:nvSpPr>
                <p:cNvPr id="118123" name="Rectangle 129"/>
                <p:cNvSpPr>
                  <a:spLocks noChangeArrowheads="1"/>
                </p:cNvSpPr>
                <p:nvPr/>
              </p:nvSpPr>
              <p:spPr bwMode="auto">
                <a:xfrm>
                  <a:off x="1985" y="3152"/>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/0</a:t>
                  </a:r>
                  <a:endParaRPr kumimoji="1" lang="en-US" altLang="zh-CN" sz="1800" dirty="0">
                    <a:latin typeface="楷体_GB2312" pitchFamily="49" charset="-122"/>
                    <a:cs typeface="Times New Roman" charset="0"/>
                  </a:endParaRPr>
                </a:p>
              </p:txBody>
            </p:sp>
            <p:sp>
              <p:nvSpPr>
                <p:cNvPr id="118124" name="Rectangle 130"/>
                <p:cNvSpPr>
                  <a:spLocks noChangeArrowheads="1"/>
                </p:cNvSpPr>
                <p:nvPr/>
              </p:nvSpPr>
              <p:spPr bwMode="auto">
                <a:xfrm>
                  <a:off x="1942" y="3152"/>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11" name="Group 131"/>
              <p:cNvGrpSpPr>
                <a:grpSpLocks/>
              </p:cNvGrpSpPr>
              <p:nvPr/>
            </p:nvGrpSpPr>
            <p:grpSpPr bwMode="auto">
              <a:xfrm>
                <a:off x="2316" y="3152"/>
                <a:ext cx="554" cy="788"/>
                <a:chOff x="2316" y="3152"/>
                <a:chExt cx="554" cy="788"/>
              </a:xfrm>
            </p:grpSpPr>
            <p:sp>
              <p:nvSpPr>
                <p:cNvPr id="118121" name="Rectangle 132"/>
                <p:cNvSpPr>
                  <a:spLocks noChangeArrowheads="1"/>
                </p:cNvSpPr>
                <p:nvPr/>
              </p:nvSpPr>
              <p:spPr bwMode="auto">
                <a:xfrm>
                  <a:off x="2359" y="3152"/>
                  <a:ext cx="46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c</a:t>
                  </a:r>
                  <a:r>
                    <a:rPr kumimoji="1" lang="zh-CN" altLang="en-US" sz="1800">
                      <a:latin typeface="楷体_GB2312" pitchFamily="49" charset="-122"/>
                      <a:cs typeface="Times New Roman" charset="0"/>
                    </a:rPr>
                    <a:t>进入</a:t>
                  </a:r>
                </a:p>
              </p:txBody>
            </p:sp>
            <p:sp>
              <p:nvSpPr>
                <p:cNvPr id="118122" name="Rectangle 133"/>
                <p:cNvSpPr>
                  <a:spLocks noChangeArrowheads="1"/>
                </p:cNvSpPr>
                <p:nvPr/>
              </p:nvSpPr>
              <p:spPr bwMode="auto">
                <a:xfrm>
                  <a:off x="2316" y="3152"/>
                  <a:ext cx="55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12" name="Group 134"/>
              <p:cNvGrpSpPr>
                <a:grpSpLocks/>
              </p:cNvGrpSpPr>
              <p:nvPr/>
            </p:nvGrpSpPr>
            <p:grpSpPr bwMode="auto">
              <a:xfrm>
                <a:off x="2870" y="3152"/>
                <a:ext cx="355" cy="788"/>
                <a:chOff x="2870" y="3152"/>
                <a:chExt cx="355" cy="788"/>
              </a:xfrm>
            </p:grpSpPr>
            <p:sp>
              <p:nvSpPr>
                <p:cNvPr id="118119" name="Rectangle 135"/>
                <p:cNvSpPr>
                  <a:spLocks noChangeArrowheads="1"/>
                </p:cNvSpPr>
                <p:nvPr/>
              </p:nvSpPr>
              <p:spPr bwMode="auto">
                <a:xfrm>
                  <a:off x="2913" y="3152"/>
                  <a:ext cx="31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a/2</a:t>
                  </a:r>
                  <a:endParaRPr kumimoji="1" lang="en-US" altLang="zh-CN" sz="1800" dirty="0">
                    <a:latin typeface="楷体_GB2312" pitchFamily="49" charset="-122"/>
                    <a:cs typeface="Times New Roman" charset="0"/>
                  </a:endParaRPr>
                </a:p>
              </p:txBody>
            </p:sp>
            <p:sp>
              <p:nvSpPr>
                <p:cNvPr id="118120" name="Rectangle 136"/>
                <p:cNvSpPr>
                  <a:spLocks noChangeArrowheads="1"/>
                </p:cNvSpPr>
                <p:nvPr/>
              </p:nvSpPr>
              <p:spPr bwMode="auto">
                <a:xfrm>
                  <a:off x="2870" y="3152"/>
                  <a:ext cx="355"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13" name="Group 137"/>
              <p:cNvGrpSpPr>
                <a:grpSpLocks/>
              </p:cNvGrpSpPr>
              <p:nvPr/>
            </p:nvGrpSpPr>
            <p:grpSpPr bwMode="auto">
              <a:xfrm>
                <a:off x="3225" y="3152"/>
                <a:ext cx="374" cy="788"/>
                <a:chOff x="3225" y="3152"/>
                <a:chExt cx="374" cy="788"/>
              </a:xfrm>
            </p:grpSpPr>
            <p:sp>
              <p:nvSpPr>
                <p:cNvPr id="118117" name="Rectangle 138"/>
                <p:cNvSpPr>
                  <a:spLocks noChangeArrowheads="1"/>
                </p:cNvSpPr>
                <p:nvPr/>
              </p:nvSpPr>
              <p:spPr bwMode="auto">
                <a:xfrm>
                  <a:off x="3268" y="3152"/>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b/1</a:t>
                  </a:r>
                  <a:endParaRPr kumimoji="1" lang="en-US" altLang="zh-CN" sz="1800" dirty="0">
                    <a:latin typeface="楷体_GB2312" pitchFamily="49" charset="-122"/>
                    <a:cs typeface="Times New Roman" charset="0"/>
                  </a:endParaRPr>
                </a:p>
              </p:txBody>
            </p:sp>
            <p:sp>
              <p:nvSpPr>
                <p:cNvPr id="118118" name="Rectangle 139"/>
                <p:cNvSpPr>
                  <a:spLocks noChangeArrowheads="1"/>
                </p:cNvSpPr>
                <p:nvPr/>
              </p:nvSpPr>
              <p:spPr bwMode="auto">
                <a:xfrm>
                  <a:off x="3225" y="3152"/>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14" name="Group 140"/>
              <p:cNvGrpSpPr>
                <a:grpSpLocks/>
              </p:cNvGrpSpPr>
              <p:nvPr/>
            </p:nvGrpSpPr>
            <p:grpSpPr bwMode="auto">
              <a:xfrm>
                <a:off x="3599" y="3152"/>
                <a:ext cx="374" cy="788"/>
                <a:chOff x="3599" y="3152"/>
                <a:chExt cx="374" cy="788"/>
              </a:xfrm>
            </p:grpSpPr>
            <p:sp>
              <p:nvSpPr>
                <p:cNvPr id="118115" name="Rectangle 141"/>
                <p:cNvSpPr>
                  <a:spLocks noChangeArrowheads="1"/>
                </p:cNvSpPr>
                <p:nvPr/>
              </p:nvSpPr>
              <p:spPr bwMode="auto">
                <a:xfrm>
                  <a:off x="3642" y="3152"/>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c/0</a:t>
                  </a:r>
                  <a:endParaRPr kumimoji="1" lang="en-US" altLang="zh-CN" sz="1800" dirty="0">
                    <a:latin typeface="楷体_GB2312" pitchFamily="49" charset="-122"/>
                    <a:cs typeface="Times New Roman" charset="0"/>
                  </a:endParaRPr>
                </a:p>
              </p:txBody>
            </p:sp>
            <p:sp>
              <p:nvSpPr>
                <p:cNvPr id="118116" name="Rectangle 142"/>
                <p:cNvSpPr>
                  <a:spLocks noChangeArrowheads="1"/>
                </p:cNvSpPr>
                <p:nvPr/>
              </p:nvSpPr>
              <p:spPr bwMode="auto">
                <a:xfrm>
                  <a:off x="3599" y="3152"/>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15" name="Group 143"/>
              <p:cNvGrpSpPr>
                <a:grpSpLocks/>
              </p:cNvGrpSpPr>
              <p:nvPr/>
            </p:nvGrpSpPr>
            <p:grpSpPr bwMode="auto">
              <a:xfrm>
                <a:off x="3973" y="3152"/>
                <a:ext cx="374" cy="788"/>
                <a:chOff x="3973" y="3152"/>
                <a:chExt cx="374" cy="788"/>
              </a:xfrm>
            </p:grpSpPr>
            <p:sp>
              <p:nvSpPr>
                <p:cNvPr id="118113" name="Rectangle 144"/>
                <p:cNvSpPr>
                  <a:spLocks noChangeArrowheads="1"/>
                </p:cNvSpPr>
                <p:nvPr/>
              </p:nvSpPr>
              <p:spPr bwMode="auto">
                <a:xfrm>
                  <a:off x="4016" y="3152"/>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/3</a:t>
                  </a:r>
                  <a:endParaRPr kumimoji="1" lang="en-US" altLang="zh-CN" sz="1800" dirty="0">
                    <a:latin typeface="楷体_GB2312" pitchFamily="49" charset="-122"/>
                    <a:cs typeface="Times New Roman" charset="0"/>
                  </a:endParaRPr>
                </a:p>
              </p:txBody>
            </p:sp>
            <p:sp>
              <p:nvSpPr>
                <p:cNvPr id="118114" name="Rectangle 145"/>
                <p:cNvSpPr>
                  <a:spLocks noChangeArrowheads="1"/>
                </p:cNvSpPr>
                <p:nvPr/>
              </p:nvSpPr>
              <p:spPr bwMode="auto">
                <a:xfrm>
                  <a:off x="3973" y="3152"/>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16" name="Group 146"/>
              <p:cNvGrpSpPr>
                <a:grpSpLocks/>
              </p:cNvGrpSpPr>
              <p:nvPr/>
            </p:nvGrpSpPr>
            <p:grpSpPr bwMode="auto">
              <a:xfrm>
                <a:off x="0" y="3940"/>
                <a:ext cx="302" cy="788"/>
                <a:chOff x="0" y="3940"/>
                <a:chExt cx="302" cy="788"/>
              </a:xfrm>
            </p:grpSpPr>
            <p:sp>
              <p:nvSpPr>
                <p:cNvPr id="118111" name="Rectangle 147"/>
                <p:cNvSpPr>
                  <a:spLocks noChangeArrowheads="1"/>
                </p:cNvSpPr>
                <p:nvPr/>
              </p:nvSpPr>
              <p:spPr bwMode="auto">
                <a:xfrm>
                  <a:off x="43" y="3940"/>
                  <a:ext cx="216"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d</a:t>
                  </a:r>
                </a:p>
                <a:p>
                  <a:pPr algn="just" eaLnBrk="0" hangingPunct="0"/>
                  <a:endParaRPr kumimoji="1" lang="en-US" altLang="zh-CN" sz="1800">
                    <a:latin typeface="楷体_GB2312" pitchFamily="49" charset="-122"/>
                    <a:cs typeface="Times New Roman" charset="0"/>
                  </a:endParaRPr>
                </a:p>
              </p:txBody>
            </p:sp>
            <p:sp>
              <p:nvSpPr>
                <p:cNvPr id="118112" name="Rectangle 148"/>
                <p:cNvSpPr>
                  <a:spLocks noChangeArrowheads="1"/>
                </p:cNvSpPr>
                <p:nvPr/>
              </p:nvSpPr>
              <p:spPr bwMode="auto">
                <a:xfrm>
                  <a:off x="0" y="3940"/>
                  <a:ext cx="302"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17" name="Group 149"/>
              <p:cNvGrpSpPr>
                <a:grpSpLocks/>
              </p:cNvGrpSpPr>
              <p:nvPr/>
            </p:nvGrpSpPr>
            <p:grpSpPr bwMode="auto">
              <a:xfrm>
                <a:off x="302" y="3940"/>
                <a:ext cx="518" cy="788"/>
                <a:chOff x="302" y="3940"/>
                <a:chExt cx="518" cy="788"/>
              </a:xfrm>
            </p:grpSpPr>
            <p:sp>
              <p:nvSpPr>
                <p:cNvPr id="118109" name="Rectangle 150"/>
                <p:cNvSpPr>
                  <a:spLocks noChangeArrowheads="1"/>
                </p:cNvSpPr>
                <p:nvPr/>
              </p:nvSpPr>
              <p:spPr bwMode="auto">
                <a:xfrm>
                  <a:off x="345" y="3940"/>
                  <a:ext cx="43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d</a:t>
                  </a:r>
                  <a:r>
                    <a:rPr kumimoji="1" lang="zh-CN" altLang="en-US" sz="1800">
                      <a:latin typeface="楷体_GB2312" pitchFamily="49" charset="-122"/>
                      <a:cs typeface="Times New Roman" charset="0"/>
                    </a:rPr>
                    <a:t>进入</a:t>
                  </a:r>
                </a:p>
              </p:txBody>
            </p:sp>
            <p:sp>
              <p:nvSpPr>
                <p:cNvPr id="118110" name="Rectangle 151"/>
                <p:cNvSpPr>
                  <a:spLocks noChangeArrowheads="1"/>
                </p:cNvSpPr>
                <p:nvPr/>
              </p:nvSpPr>
              <p:spPr bwMode="auto">
                <a:xfrm>
                  <a:off x="302" y="3940"/>
                  <a:ext cx="518"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18" name="Group 152"/>
              <p:cNvGrpSpPr>
                <a:grpSpLocks/>
              </p:cNvGrpSpPr>
              <p:nvPr/>
            </p:nvGrpSpPr>
            <p:grpSpPr bwMode="auto">
              <a:xfrm>
                <a:off x="820" y="3940"/>
                <a:ext cx="374" cy="788"/>
                <a:chOff x="820" y="3940"/>
                <a:chExt cx="374" cy="788"/>
              </a:xfrm>
            </p:grpSpPr>
            <p:sp>
              <p:nvSpPr>
                <p:cNvPr id="118107" name="Rectangle 153"/>
                <p:cNvSpPr>
                  <a:spLocks noChangeArrowheads="1"/>
                </p:cNvSpPr>
                <p:nvPr/>
              </p:nvSpPr>
              <p:spPr bwMode="auto">
                <a:xfrm>
                  <a:off x="863" y="3940"/>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a/1</a:t>
                  </a:r>
                  <a:endParaRPr kumimoji="1" lang="en-US" altLang="zh-CN" sz="1800" dirty="0">
                    <a:latin typeface="楷体_GB2312" pitchFamily="49" charset="-122"/>
                    <a:cs typeface="Times New Roman" charset="0"/>
                  </a:endParaRPr>
                </a:p>
              </p:txBody>
            </p:sp>
            <p:sp>
              <p:nvSpPr>
                <p:cNvPr id="118108" name="Rectangle 154"/>
                <p:cNvSpPr>
                  <a:spLocks noChangeArrowheads="1"/>
                </p:cNvSpPr>
                <p:nvPr/>
              </p:nvSpPr>
              <p:spPr bwMode="auto">
                <a:xfrm>
                  <a:off x="820" y="3940"/>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19" name="Group 155"/>
              <p:cNvGrpSpPr>
                <a:grpSpLocks/>
              </p:cNvGrpSpPr>
              <p:nvPr/>
            </p:nvGrpSpPr>
            <p:grpSpPr bwMode="auto">
              <a:xfrm>
                <a:off x="1194" y="3940"/>
                <a:ext cx="374" cy="788"/>
                <a:chOff x="1194" y="3940"/>
                <a:chExt cx="374" cy="788"/>
              </a:xfrm>
            </p:grpSpPr>
            <p:sp>
              <p:nvSpPr>
                <p:cNvPr id="118105" name="Rectangle 156"/>
                <p:cNvSpPr>
                  <a:spLocks noChangeArrowheads="1"/>
                </p:cNvSpPr>
                <p:nvPr/>
              </p:nvSpPr>
              <p:spPr bwMode="auto">
                <a:xfrm>
                  <a:off x="1237" y="3940"/>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b/1</a:t>
                  </a:r>
                  <a:endParaRPr kumimoji="1" lang="en-US" altLang="zh-CN" sz="1800" dirty="0">
                    <a:latin typeface="楷体_GB2312" pitchFamily="49" charset="-122"/>
                    <a:cs typeface="Times New Roman" charset="0"/>
                  </a:endParaRPr>
                </a:p>
              </p:txBody>
            </p:sp>
            <p:sp>
              <p:nvSpPr>
                <p:cNvPr id="118106" name="Rectangle 157"/>
                <p:cNvSpPr>
                  <a:spLocks noChangeArrowheads="1"/>
                </p:cNvSpPr>
                <p:nvPr/>
              </p:nvSpPr>
              <p:spPr bwMode="auto">
                <a:xfrm>
                  <a:off x="1194" y="3940"/>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20" name="Group 158"/>
              <p:cNvGrpSpPr>
                <a:grpSpLocks/>
              </p:cNvGrpSpPr>
              <p:nvPr/>
            </p:nvGrpSpPr>
            <p:grpSpPr bwMode="auto">
              <a:xfrm>
                <a:off x="1568" y="3940"/>
                <a:ext cx="374" cy="788"/>
                <a:chOff x="1568" y="3940"/>
                <a:chExt cx="374" cy="788"/>
              </a:xfrm>
            </p:grpSpPr>
            <p:sp>
              <p:nvSpPr>
                <p:cNvPr id="118103" name="Rectangle 159"/>
                <p:cNvSpPr>
                  <a:spLocks noChangeArrowheads="1"/>
                </p:cNvSpPr>
                <p:nvPr/>
              </p:nvSpPr>
              <p:spPr bwMode="auto">
                <a:xfrm>
                  <a:off x="1611" y="3940"/>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c/1</a:t>
                  </a:r>
                  <a:endParaRPr kumimoji="1" lang="en-US" altLang="zh-CN" sz="1800" dirty="0">
                    <a:latin typeface="楷体_GB2312" pitchFamily="49" charset="-122"/>
                    <a:cs typeface="Times New Roman" charset="0"/>
                  </a:endParaRPr>
                </a:p>
              </p:txBody>
            </p:sp>
            <p:sp>
              <p:nvSpPr>
                <p:cNvPr id="118104" name="Rectangle 160"/>
                <p:cNvSpPr>
                  <a:spLocks noChangeArrowheads="1"/>
                </p:cNvSpPr>
                <p:nvPr/>
              </p:nvSpPr>
              <p:spPr bwMode="auto">
                <a:xfrm>
                  <a:off x="1568" y="3940"/>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21" name="Group 161"/>
              <p:cNvGrpSpPr>
                <a:grpSpLocks/>
              </p:cNvGrpSpPr>
              <p:nvPr/>
            </p:nvGrpSpPr>
            <p:grpSpPr bwMode="auto">
              <a:xfrm>
                <a:off x="1942" y="3940"/>
                <a:ext cx="374" cy="788"/>
                <a:chOff x="1942" y="3940"/>
                <a:chExt cx="374" cy="788"/>
              </a:xfrm>
            </p:grpSpPr>
            <p:sp>
              <p:nvSpPr>
                <p:cNvPr id="118101" name="Rectangle 162"/>
                <p:cNvSpPr>
                  <a:spLocks noChangeArrowheads="1"/>
                </p:cNvSpPr>
                <p:nvPr/>
              </p:nvSpPr>
              <p:spPr bwMode="auto">
                <a:xfrm>
                  <a:off x="1985" y="3940"/>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d/1</a:t>
                  </a:r>
                  <a:endParaRPr kumimoji="1" lang="en-US" altLang="zh-CN" sz="1800" dirty="0">
                    <a:latin typeface="楷体_GB2312" pitchFamily="49" charset="-122"/>
                    <a:cs typeface="Times New Roman" charset="0"/>
                  </a:endParaRPr>
                </a:p>
              </p:txBody>
            </p:sp>
            <p:sp>
              <p:nvSpPr>
                <p:cNvPr id="118102" name="Rectangle 163"/>
                <p:cNvSpPr>
                  <a:spLocks noChangeArrowheads="1"/>
                </p:cNvSpPr>
                <p:nvPr/>
              </p:nvSpPr>
              <p:spPr bwMode="auto">
                <a:xfrm>
                  <a:off x="1942" y="3940"/>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22" name="Group 164"/>
              <p:cNvGrpSpPr>
                <a:grpSpLocks/>
              </p:cNvGrpSpPr>
              <p:nvPr/>
            </p:nvGrpSpPr>
            <p:grpSpPr bwMode="auto">
              <a:xfrm>
                <a:off x="2316" y="3940"/>
                <a:ext cx="554" cy="788"/>
                <a:chOff x="2316" y="3940"/>
                <a:chExt cx="554" cy="788"/>
              </a:xfrm>
            </p:grpSpPr>
            <p:sp>
              <p:nvSpPr>
                <p:cNvPr id="118099" name="Rectangle 165"/>
                <p:cNvSpPr>
                  <a:spLocks noChangeArrowheads="1"/>
                </p:cNvSpPr>
                <p:nvPr/>
              </p:nvSpPr>
              <p:spPr bwMode="auto">
                <a:xfrm>
                  <a:off x="2359" y="3940"/>
                  <a:ext cx="46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d</a:t>
                  </a:r>
                  <a:r>
                    <a:rPr kumimoji="1" lang="zh-CN" altLang="en-US" sz="1800">
                      <a:latin typeface="楷体_GB2312" pitchFamily="49" charset="-122"/>
                      <a:cs typeface="Times New Roman" charset="0"/>
                    </a:rPr>
                    <a:t>进入</a:t>
                  </a:r>
                </a:p>
              </p:txBody>
            </p:sp>
            <p:sp>
              <p:nvSpPr>
                <p:cNvPr id="118100" name="Rectangle 166"/>
                <p:cNvSpPr>
                  <a:spLocks noChangeArrowheads="1"/>
                </p:cNvSpPr>
                <p:nvPr/>
              </p:nvSpPr>
              <p:spPr bwMode="auto">
                <a:xfrm>
                  <a:off x="2316" y="3940"/>
                  <a:ext cx="55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23" name="Group 167"/>
              <p:cNvGrpSpPr>
                <a:grpSpLocks/>
              </p:cNvGrpSpPr>
              <p:nvPr/>
            </p:nvGrpSpPr>
            <p:grpSpPr bwMode="auto">
              <a:xfrm>
                <a:off x="2870" y="3940"/>
                <a:ext cx="355" cy="788"/>
                <a:chOff x="2870" y="3940"/>
                <a:chExt cx="355" cy="788"/>
              </a:xfrm>
            </p:grpSpPr>
            <p:sp>
              <p:nvSpPr>
                <p:cNvPr id="118097" name="Rectangle 168"/>
                <p:cNvSpPr>
                  <a:spLocks noChangeArrowheads="1"/>
                </p:cNvSpPr>
                <p:nvPr/>
              </p:nvSpPr>
              <p:spPr bwMode="auto">
                <a:xfrm>
                  <a:off x="2913" y="3940"/>
                  <a:ext cx="31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a/3</a:t>
                  </a:r>
                  <a:endParaRPr kumimoji="1" lang="en-US" altLang="zh-CN" sz="1800" dirty="0">
                    <a:latin typeface="楷体_GB2312" pitchFamily="49" charset="-122"/>
                    <a:cs typeface="Times New Roman" charset="0"/>
                  </a:endParaRPr>
                </a:p>
              </p:txBody>
            </p:sp>
            <p:sp>
              <p:nvSpPr>
                <p:cNvPr id="118098" name="Rectangle 169"/>
                <p:cNvSpPr>
                  <a:spLocks noChangeArrowheads="1"/>
                </p:cNvSpPr>
                <p:nvPr/>
              </p:nvSpPr>
              <p:spPr bwMode="auto">
                <a:xfrm>
                  <a:off x="2870" y="3940"/>
                  <a:ext cx="355"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24" name="Group 170"/>
              <p:cNvGrpSpPr>
                <a:grpSpLocks/>
              </p:cNvGrpSpPr>
              <p:nvPr/>
            </p:nvGrpSpPr>
            <p:grpSpPr bwMode="auto">
              <a:xfrm>
                <a:off x="3225" y="3940"/>
                <a:ext cx="374" cy="788"/>
                <a:chOff x="3225" y="3940"/>
                <a:chExt cx="374" cy="788"/>
              </a:xfrm>
            </p:grpSpPr>
            <p:sp>
              <p:nvSpPr>
                <p:cNvPr id="118095" name="Rectangle 171"/>
                <p:cNvSpPr>
                  <a:spLocks noChangeArrowheads="1"/>
                </p:cNvSpPr>
                <p:nvPr/>
              </p:nvSpPr>
              <p:spPr bwMode="auto">
                <a:xfrm>
                  <a:off x="3268" y="3940"/>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b/2</a:t>
                  </a:r>
                  <a:endParaRPr kumimoji="1" lang="en-US" altLang="zh-CN" sz="1800" dirty="0">
                    <a:latin typeface="楷体_GB2312" pitchFamily="49" charset="-122"/>
                    <a:cs typeface="Times New Roman" charset="0"/>
                  </a:endParaRPr>
                </a:p>
              </p:txBody>
            </p:sp>
            <p:sp>
              <p:nvSpPr>
                <p:cNvPr id="118096" name="Rectangle 172"/>
                <p:cNvSpPr>
                  <a:spLocks noChangeArrowheads="1"/>
                </p:cNvSpPr>
                <p:nvPr/>
              </p:nvSpPr>
              <p:spPr bwMode="auto">
                <a:xfrm>
                  <a:off x="3225" y="3940"/>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25" name="Group 173"/>
              <p:cNvGrpSpPr>
                <a:grpSpLocks/>
              </p:cNvGrpSpPr>
              <p:nvPr/>
            </p:nvGrpSpPr>
            <p:grpSpPr bwMode="auto">
              <a:xfrm>
                <a:off x="3599" y="3940"/>
                <a:ext cx="374" cy="788"/>
                <a:chOff x="3599" y="3940"/>
                <a:chExt cx="374" cy="788"/>
              </a:xfrm>
            </p:grpSpPr>
            <p:sp>
              <p:nvSpPr>
                <p:cNvPr id="118093" name="Rectangle 174"/>
                <p:cNvSpPr>
                  <a:spLocks noChangeArrowheads="1"/>
                </p:cNvSpPr>
                <p:nvPr/>
              </p:nvSpPr>
              <p:spPr bwMode="auto">
                <a:xfrm>
                  <a:off x="3642" y="3940"/>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c/1</a:t>
                  </a:r>
                  <a:endParaRPr kumimoji="1" lang="en-US" altLang="zh-CN" sz="1800" dirty="0">
                    <a:latin typeface="楷体_GB2312" pitchFamily="49" charset="-122"/>
                    <a:cs typeface="Times New Roman" charset="0"/>
                  </a:endParaRPr>
                </a:p>
              </p:txBody>
            </p:sp>
            <p:sp>
              <p:nvSpPr>
                <p:cNvPr id="118094" name="Rectangle 175"/>
                <p:cNvSpPr>
                  <a:spLocks noChangeArrowheads="1"/>
                </p:cNvSpPr>
                <p:nvPr/>
              </p:nvSpPr>
              <p:spPr bwMode="auto">
                <a:xfrm>
                  <a:off x="3599" y="3940"/>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26" name="Group 176"/>
              <p:cNvGrpSpPr>
                <a:grpSpLocks/>
              </p:cNvGrpSpPr>
              <p:nvPr/>
            </p:nvGrpSpPr>
            <p:grpSpPr bwMode="auto">
              <a:xfrm>
                <a:off x="3973" y="3940"/>
                <a:ext cx="374" cy="788"/>
                <a:chOff x="3973" y="3940"/>
                <a:chExt cx="374" cy="788"/>
              </a:xfrm>
            </p:grpSpPr>
            <p:sp>
              <p:nvSpPr>
                <p:cNvPr id="118091" name="Rectangle 177"/>
                <p:cNvSpPr>
                  <a:spLocks noChangeArrowheads="1"/>
                </p:cNvSpPr>
                <p:nvPr/>
              </p:nvSpPr>
              <p:spPr bwMode="auto">
                <a:xfrm>
                  <a:off x="4016" y="3940"/>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d/0</a:t>
                  </a:r>
                  <a:endParaRPr kumimoji="1" lang="en-US" altLang="zh-CN" sz="1800" dirty="0">
                    <a:latin typeface="楷体_GB2312" pitchFamily="49" charset="-122"/>
                    <a:cs typeface="Times New Roman" charset="0"/>
                  </a:endParaRPr>
                </a:p>
              </p:txBody>
            </p:sp>
            <p:sp>
              <p:nvSpPr>
                <p:cNvPr id="118092" name="Rectangle 178"/>
                <p:cNvSpPr>
                  <a:spLocks noChangeArrowheads="1"/>
                </p:cNvSpPr>
                <p:nvPr/>
              </p:nvSpPr>
              <p:spPr bwMode="auto">
                <a:xfrm>
                  <a:off x="3973" y="3940"/>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27" name="Group 179"/>
              <p:cNvGrpSpPr>
                <a:grpSpLocks/>
              </p:cNvGrpSpPr>
              <p:nvPr/>
            </p:nvGrpSpPr>
            <p:grpSpPr bwMode="auto">
              <a:xfrm>
                <a:off x="0" y="4728"/>
                <a:ext cx="302" cy="788"/>
                <a:chOff x="0" y="4728"/>
                <a:chExt cx="302" cy="788"/>
              </a:xfrm>
            </p:grpSpPr>
            <p:sp>
              <p:nvSpPr>
                <p:cNvPr id="118089" name="Rectangle 180"/>
                <p:cNvSpPr>
                  <a:spLocks noChangeArrowheads="1"/>
                </p:cNvSpPr>
                <p:nvPr/>
              </p:nvSpPr>
              <p:spPr bwMode="auto">
                <a:xfrm>
                  <a:off x="43" y="4728"/>
                  <a:ext cx="216"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b</a:t>
                  </a:r>
                </a:p>
                <a:p>
                  <a:pPr algn="just" eaLnBrk="0" hangingPunct="0"/>
                  <a:endParaRPr kumimoji="1" lang="en-US" altLang="zh-CN" sz="1800">
                    <a:latin typeface="楷体_GB2312" pitchFamily="49" charset="-122"/>
                    <a:cs typeface="Times New Roman" charset="0"/>
                  </a:endParaRPr>
                </a:p>
              </p:txBody>
            </p:sp>
            <p:sp>
              <p:nvSpPr>
                <p:cNvPr id="118090" name="Rectangle 181"/>
                <p:cNvSpPr>
                  <a:spLocks noChangeArrowheads="1"/>
                </p:cNvSpPr>
                <p:nvPr/>
              </p:nvSpPr>
              <p:spPr bwMode="auto">
                <a:xfrm>
                  <a:off x="0" y="4728"/>
                  <a:ext cx="302"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28" name="Group 182"/>
              <p:cNvGrpSpPr>
                <a:grpSpLocks/>
              </p:cNvGrpSpPr>
              <p:nvPr/>
            </p:nvGrpSpPr>
            <p:grpSpPr bwMode="auto">
              <a:xfrm>
                <a:off x="302" y="4728"/>
                <a:ext cx="518" cy="788"/>
                <a:chOff x="302" y="4728"/>
                <a:chExt cx="518" cy="788"/>
              </a:xfrm>
            </p:grpSpPr>
            <p:sp>
              <p:nvSpPr>
                <p:cNvPr id="118087" name="Rectangle 183"/>
                <p:cNvSpPr>
                  <a:spLocks noChangeArrowheads="1"/>
                </p:cNvSpPr>
                <p:nvPr/>
              </p:nvSpPr>
              <p:spPr bwMode="auto">
                <a:xfrm>
                  <a:off x="345" y="4728"/>
                  <a:ext cx="43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命中</a:t>
                  </a:r>
                </a:p>
              </p:txBody>
            </p:sp>
            <p:sp>
              <p:nvSpPr>
                <p:cNvPr id="118088" name="Rectangle 184"/>
                <p:cNvSpPr>
                  <a:spLocks noChangeArrowheads="1"/>
                </p:cNvSpPr>
                <p:nvPr/>
              </p:nvSpPr>
              <p:spPr bwMode="auto">
                <a:xfrm>
                  <a:off x="302" y="4728"/>
                  <a:ext cx="518"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29" name="Group 185"/>
              <p:cNvGrpSpPr>
                <a:grpSpLocks/>
              </p:cNvGrpSpPr>
              <p:nvPr/>
            </p:nvGrpSpPr>
            <p:grpSpPr bwMode="auto">
              <a:xfrm>
                <a:off x="820" y="4728"/>
                <a:ext cx="374" cy="788"/>
                <a:chOff x="820" y="4728"/>
                <a:chExt cx="374" cy="788"/>
              </a:xfrm>
            </p:grpSpPr>
            <p:sp>
              <p:nvSpPr>
                <p:cNvPr id="118085" name="Rectangle 186"/>
                <p:cNvSpPr>
                  <a:spLocks noChangeArrowheads="1"/>
                </p:cNvSpPr>
                <p:nvPr/>
              </p:nvSpPr>
              <p:spPr bwMode="auto">
                <a:xfrm>
                  <a:off x="863" y="472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a/1</a:t>
                  </a:r>
                  <a:endParaRPr kumimoji="1" lang="en-US" altLang="zh-CN" sz="1800" dirty="0">
                    <a:latin typeface="楷体_GB2312" pitchFamily="49" charset="-122"/>
                    <a:cs typeface="Times New Roman" charset="0"/>
                  </a:endParaRPr>
                </a:p>
              </p:txBody>
            </p:sp>
            <p:sp>
              <p:nvSpPr>
                <p:cNvPr id="118086" name="Rectangle 187"/>
                <p:cNvSpPr>
                  <a:spLocks noChangeArrowheads="1"/>
                </p:cNvSpPr>
                <p:nvPr/>
              </p:nvSpPr>
              <p:spPr bwMode="auto">
                <a:xfrm>
                  <a:off x="820" y="472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30" name="Group 188"/>
              <p:cNvGrpSpPr>
                <a:grpSpLocks/>
              </p:cNvGrpSpPr>
              <p:nvPr/>
            </p:nvGrpSpPr>
            <p:grpSpPr bwMode="auto">
              <a:xfrm>
                <a:off x="1194" y="4728"/>
                <a:ext cx="374" cy="788"/>
                <a:chOff x="1194" y="4728"/>
                <a:chExt cx="374" cy="788"/>
              </a:xfrm>
            </p:grpSpPr>
            <p:sp>
              <p:nvSpPr>
                <p:cNvPr id="118083" name="Rectangle 189"/>
                <p:cNvSpPr>
                  <a:spLocks noChangeArrowheads="1"/>
                </p:cNvSpPr>
                <p:nvPr/>
              </p:nvSpPr>
              <p:spPr bwMode="auto">
                <a:xfrm>
                  <a:off x="1237" y="472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b/2</a:t>
                  </a:r>
                  <a:endParaRPr kumimoji="1" lang="en-US" altLang="zh-CN" sz="1800" dirty="0">
                    <a:latin typeface="楷体_GB2312" pitchFamily="49" charset="-122"/>
                    <a:cs typeface="Times New Roman" charset="0"/>
                  </a:endParaRPr>
                </a:p>
              </p:txBody>
            </p:sp>
            <p:sp>
              <p:nvSpPr>
                <p:cNvPr id="118084" name="Rectangle 190"/>
                <p:cNvSpPr>
                  <a:spLocks noChangeArrowheads="1"/>
                </p:cNvSpPr>
                <p:nvPr/>
              </p:nvSpPr>
              <p:spPr bwMode="auto">
                <a:xfrm>
                  <a:off x="1194" y="472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31" name="Group 191"/>
              <p:cNvGrpSpPr>
                <a:grpSpLocks/>
              </p:cNvGrpSpPr>
              <p:nvPr/>
            </p:nvGrpSpPr>
            <p:grpSpPr bwMode="auto">
              <a:xfrm>
                <a:off x="1568" y="4728"/>
                <a:ext cx="374" cy="788"/>
                <a:chOff x="1568" y="4728"/>
                <a:chExt cx="374" cy="788"/>
              </a:xfrm>
            </p:grpSpPr>
            <p:sp>
              <p:nvSpPr>
                <p:cNvPr id="118081" name="Rectangle 192"/>
                <p:cNvSpPr>
                  <a:spLocks noChangeArrowheads="1"/>
                </p:cNvSpPr>
                <p:nvPr/>
              </p:nvSpPr>
              <p:spPr bwMode="auto">
                <a:xfrm>
                  <a:off x="1611" y="472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c/1</a:t>
                  </a:r>
                  <a:endParaRPr kumimoji="1" lang="en-US" altLang="zh-CN" sz="1800" dirty="0">
                    <a:latin typeface="楷体_GB2312" pitchFamily="49" charset="-122"/>
                    <a:cs typeface="Times New Roman" charset="0"/>
                  </a:endParaRPr>
                </a:p>
              </p:txBody>
            </p:sp>
            <p:sp>
              <p:nvSpPr>
                <p:cNvPr id="118082" name="Rectangle 193"/>
                <p:cNvSpPr>
                  <a:spLocks noChangeArrowheads="1"/>
                </p:cNvSpPr>
                <p:nvPr/>
              </p:nvSpPr>
              <p:spPr bwMode="auto">
                <a:xfrm>
                  <a:off x="1568" y="472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32" name="Group 194"/>
              <p:cNvGrpSpPr>
                <a:grpSpLocks/>
              </p:cNvGrpSpPr>
              <p:nvPr/>
            </p:nvGrpSpPr>
            <p:grpSpPr bwMode="auto">
              <a:xfrm>
                <a:off x="1942" y="4728"/>
                <a:ext cx="374" cy="788"/>
                <a:chOff x="1942" y="4728"/>
                <a:chExt cx="374" cy="788"/>
              </a:xfrm>
            </p:grpSpPr>
            <p:sp>
              <p:nvSpPr>
                <p:cNvPr id="118079" name="Rectangle 195"/>
                <p:cNvSpPr>
                  <a:spLocks noChangeArrowheads="1"/>
                </p:cNvSpPr>
                <p:nvPr/>
              </p:nvSpPr>
              <p:spPr bwMode="auto">
                <a:xfrm>
                  <a:off x="1985" y="472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d/1</a:t>
                  </a:r>
                  <a:endParaRPr kumimoji="1" lang="en-US" altLang="zh-CN" sz="1800" dirty="0">
                    <a:latin typeface="楷体_GB2312" pitchFamily="49" charset="-122"/>
                    <a:cs typeface="Times New Roman" charset="0"/>
                  </a:endParaRPr>
                </a:p>
              </p:txBody>
            </p:sp>
            <p:sp>
              <p:nvSpPr>
                <p:cNvPr id="118080" name="Rectangle 196"/>
                <p:cNvSpPr>
                  <a:spLocks noChangeArrowheads="1"/>
                </p:cNvSpPr>
                <p:nvPr/>
              </p:nvSpPr>
              <p:spPr bwMode="auto">
                <a:xfrm>
                  <a:off x="1942" y="472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33" name="Group 197"/>
              <p:cNvGrpSpPr>
                <a:grpSpLocks/>
              </p:cNvGrpSpPr>
              <p:nvPr/>
            </p:nvGrpSpPr>
            <p:grpSpPr bwMode="auto">
              <a:xfrm>
                <a:off x="2316" y="4728"/>
                <a:ext cx="554" cy="788"/>
                <a:chOff x="2316" y="4728"/>
                <a:chExt cx="554" cy="788"/>
              </a:xfrm>
            </p:grpSpPr>
            <p:sp>
              <p:nvSpPr>
                <p:cNvPr id="118077" name="Rectangle 198"/>
                <p:cNvSpPr>
                  <a:spLocks noChangeArrowheads="1"/>
                </p:cNvSpPr>
                <p:nvPr/>
              </p:nvSpPr>
              <p:spPr bwMode="auto">
                <a:xfrm>
                  <a:off x="2359" y="4728"/>
                  <a:ext cx="46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命中</a:t>
                  </a:r>
                </a:p>
              </p:txBody>
            </p:sp>
            <p:sp>
              <p:nvSpPr>
                <p:cNvPr id="118078" name="Rectangle 199"/>
                <p:cNvSpPr>
                  <a:spLocks noChangeArrowheads="1"/>
                </p:cNvSpPr>
                <p:nvPr/>
              </p:nvSpPr>
              <p:spPr bwMode="auto">
                <a:xfrm>
                  <a:off x="2316" y="4728"/>
                  <a:ext cx="55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34" name="Group 200"/>
              <p:cNvGrpSpPr>
                <a:grpSpLocks/>
              </p:cNvGrpSpPr>
              <p:nvPr/>
            </p:nvGrpSpPr>
            <p:grpSpPr bwMode="auto">
              <a:xfrm>
                <a:off x="2870" y="4728"/>
                <a:ext cx="355" cy="788"/>
                <a:chOff x="2870" y="4728"/>
                <a:chExt cx="355" cy="788"/>
              </a:xfrm>
            </p:grpSpPr>
            <p:sp>
              <p:nvSpPr>
                <p:cNvPr id="118075" name="Rectangle 201"/>
                <p:cNvSpPr>
                  <a:spLocks noChangeArrowheads="1"/>
                </p:cNvSpPr>
                <p:nvPr/>
              </p:nvSpPr>
              <p:spPr bwMode="auto">
                <a:xfrm>
                  <a:off x="2913" y="4728"/>
                  <a:ext cx="31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a/4</a:t>
                  </a:r>
                  <a:endParaRPr kumimoji="1" lang="en-US" altLang="zh-CN" sz="1800" dirty="0">
                    <a:latin typeface="楷体_GB2312" pitchFamily="49" charset="-122"/>
                    <a:cs typeface="Times New Roman" charset="0"/>
                  </a:endParaRPr>
                </a:p>
              </p:txBody>
            </p:sp>
            <p:sp>
              <p:nvSpPr>
                <p:cNvPr id="118076" name="Rectangle 202"/>
                <p:cNvSpPr>
                  <a:spLocks noChangeArrowheads="1"/>
                </p:cNvSpPr>
                <p:nvPr/>
              </p:nvSpPr>
              <p:spPr bwMode="auto">
                <a:xfrm>
                  <a:off x="2870" y="4728"/>
                  <a:ext cx="355"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35" name="Group 203"/>
              <p:cNvGrpSpPr>
                <a:grpSpLocks/>
              </p:cNvGrpSpPr>
              <p:nvPr/>
            </p:nvGrpSpPr>
            <p:grpSpPr bwMode="auto">
              <a:xfrm>
                <a:off x="3225" y="4728"/>
                <a:ext cx="374" cy="788"/>
                <a:chOff x="3225" y="4728"/>
                <a:chExt cx="374" cy="788"/>
              </a:xfrm>
            </p:grpSpPr>
            <p:sp>
              <p:nvSpPr>
                <p:cNvPr id="118073" name="Rectangle 204"/>
                <p:cNvSpPr>
                  <a:spLocks noChangeArrowheads="1"/>
                </p:cNvSpPr>
                <p:nvPr/>
              </p:nvSpPr>
              <p:spPr bwMode="auto">
                <a:xfrm>
                  <a:off x="3268" y="472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b/0</a:t>
                  </a:r>
                  <a:endParaRPr kumimoji="1" lang="en-US" altLang="zh-CN" sz="1800" dirty="0">
                    <a:latin typeface="楷体_GB2312" pitchFamily="49" charset="-122"/>
                    <a:cs typeface="Times New Roman" charset="0"/>
                  </a:endParaRPr>
                </a:p>
              </p:txBody>
            </p:sp>
            <p:sp>
              <p:nvSpPr>
                <p:cNvPr id="118074" name="Rectangle 205"/>
                <p:cNvSpPr>
                  <a:spLocks noChangeArrowheads="1"/>
                </p:cNvSpPr>
                <p:nvPr/>
              </p:nvSpPr>
              <p:spPr bwMode="auto">
                <a:xfrm>
                  <a:off x="3225" y="472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36" name="Group 206"/>
              <p:cNvGrpSpPr>
                <a:grpSpLocks/>
              </p:cNvGrpSpPr>
              <p:nvPr/>
            </p:nvGrpSpPr>
            <p:grpSpPr bwMode="auto">
              <a:xfrm>
                <a:off x="3599" y="4728"/>
                <a:ext cx="374" cy="788"/>
                <a:chOff x="3599" y="4728"/>
                <a:chExt cx="374" cy="788"/>
              </a:xfrm>
            </p:grpSpPr>
            <p:sp>
              <p:nvSpPr>
                <p:cNvPr id="118071" name="Rectangle 207"/>
                <p:cNvSpPr>
                  <a:spLocks noChangeArrowheads="1"/>
                </p:cNvSpPr>
                <p:nvPr/>
              </p:nvSpPr>
              <p:spPr bwMode="auto">
                <a:xfrm>
                  <a:off x="3642" y="472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c/2</a:t>
                  </a:r>
                  <a:endParaRPr kumimoji="1" lang="en-US" altLang="zh-CN" sz="1800" dirty="0">
                    <a:latin typeface="楷体_GB2312" pitchFamily="49" charset="-122"/>
                    <a:cs typeface="Times New Roman" charset="0"/>
                  </a:endParaRPr>
                </a:p>
              </p:txBody>
            </p:sp>
            <p:sp>
              <p:nvSpPr>
                <p:cNvPr id="118072" name="Rectangle 208"/>
                <p:cNvSpPr>
                  <a:spLocks noChangeArrowheads="1"/>
                </p:cNvSpPr>
                <p:nvPr/>
              </p:nvSpPr>
              <p:spPr bwMode="auto">
                <a:xfrm>
                  <a:off x="3599" y="472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37" name="Group 209"/>
              <p:cNvGrpSpPr>
                <a:grpSpLocks/>
              </p:cNvGrpSpPr>
              <p:nvPr/>
            </p:nvGrpSpPr>
            <p:grpSpPr bwMode="auto">
              <a:xfrm>
                <a:off x="3973" y="4728"/>
                <a:ext cx="374" cy="788"/>
                <a:chOff x="3973" y="4728"/>
                <a:chExt cx="374" cy="788"/>
              </a:xfrm>
            </p:grpSpPr>
            <p:sp>
              <p:nvSpPr>
                <p:cNvPr id="118069" name="Rectangle 210"/>
                <p:cNvSpPr>
                  <a:spLocks noChangeArrowheads="1"/>
                </p:cNvSpPr>
                <p:nvPr/>
              </p:nvSpPr>
              <p:spPr bwMode="auto">
                <a:xfrm>
                  <a:off x="4016" y="472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d/1</a:t>
                  </a:r>
                  <a:endParaRPr kumimoji="1" lang="en-US" altLang="zh-CN" sz="1800" dirty="0">
                    <a:latin typeface="楷体_GB2312" pitchFamily="49" charset="-122"/>
                    <a:cs typeface="Times New Roman" charset="0"/>
                  </a:endParaRPr>
                </a:p>
              </p:txBody>
            </p:sp>
            <p:sp>
              <p:nvSpPr>
                <p:cNvPr id="118070" name="Rectangle 211"/>
                <p:cNvSpPr>
                  <a:spLocks noChangeArrowheads="1"/>
                </p:cNvSpPr>
                <p:nvPr/>
              </p:nvSpPr>
              <p:spPr bwMode="auto">
                <a:xfrm>
                  <a:off x="3973" y="472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38" name="Group 212"/>
              <p:cNvGrpSpPr>
                <a:grpSpLocks/>
              </p:cNvGrpSpPr>
              <p:nvPr/>
            </p:nvGrpSpPr>
            <p:grpSpPr bwMode="auto">
              <a:xfrm>
                <a:off x="0" y="5516"/>
                <a:ext cx="302" cy="788"/>
                <a:chOff x="0" y="5516"/>
                <a:chExt cx="302" cy="788"/>
              </a:xfrm>
            </p:grpSpPr>
            <p:sp>
              <p:nvSpPr>
                <p:cNvPr id="118067" name="Rectangle 213"/>
                <p:cNvSpPr>
                  <a:spLocks noChangeArrowheads="1"/>
                </p:cNvSpPr>
                <p:nvPr/>
              </p:nvSpPr>
              <p:spPr bwMode="auto">
                <a:xfrm>
                  <a:off x="43" y="5516"/>
                  <a:ext cx="216"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b</a:t>
                  </a:r>
                </a:p>
                <a:p>
                  <a:pPr algn="just" eaLnBrk="0" hangingPunct="0"/>
                  <a:endParaRPr kumimoji="1" lang="en-US" altLang="zh-CN" sz="1800">
                    <a:latin typeface="楷体_GB2312" pitchFamily="49" charset="-122"/>
                    <a:cs typeface="Times New Roman" charset="0"/>
                  </a:endParaRPr>
                </a:p>
              </p:txBody>
            </p:sp>
            <p:sp>
              <p:nvSpPr>
                <p:cNvPr id="118068" name="Rectangle 214"/>
                <p:cNvSpPr>
                  <a:spLocks noChangeArrowheads="1"/>
                </p:cNvSpPr>
                <p:nvPr/>
              </p:nvSpPr>
              <p:spPr bwMode="auto">
                <a:xfrm>
                  <a:off x="0" y="5516"/>
                  <a:ext cx="302"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39" name="Group 215"/>
              <p:cNvGrpSpPr>
                <a:grpSpLocks/>
              </p:cNvGrpSpPr>
              <p:nvPr/>
            </p:nvGrpSpPr>
            <p:grpSpPr bwMode="auto">
              <a:xfrm>
                <a:off x="302" y="5516"/>
                <a:ext cx="518" cy="788"/>
                <a:chOff x="302" y="5516"/>
                <a:chExt cx="518" cy="788"/>
              </a:xfrm>
            </p:grpSpPr>
            <p:sp>
              <p:nvSpPr>
                <p:cNvPr id="118065" name="Rectangle 216"/>
                <p:cNvSpPr>
                  <a:spLocks noChangeArrowheads="1"/>
                </p:cNvSpPr>
                <p:nvPr/>
              </p:nvSpPr>
              <p:spPr bwMode="auto">
                <a:xfrm>
                  <a:off x="345" y="5516"/>
                  <a:ext cx="43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命中</a:t>
                  </a:r>
                </a:p>
              </p:txBody>
            </p:sp>
            <p:sp>
              <p:nvSpPr>
                <p:cNvPr id="118066" name="Rectangle 217"/>
                <p:cNvSpPr>
                  <a:spLocks noChangeArrowheads="1"/>
                </p:cNvSpPr>
                <p:nvPr/>
              </p:nvSpPr>
              <p:spPr bwMode="auto">
                <a:xfrm>
                  <a:off x="302" y="5516"/>
                  <a:ext cx="518"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40" name="Group 218"/>
              <p:cNvGrpSpPr>
                <a:grpSpLocks/>
              </p:cNvGrpSpPr>
              <p:nvPr/>
            </p:nvGrpSpPr>
            <p:grpSpPr bwMode="auto">
              <a:xfrm>
                <a:off x="820" y="5516"/>
                <a:ext cx="374" cy="788"/>
                <a:chOff x="820" y="5516"/>
                <a:chExt cx="374" cy="788"/>
              </a:xfrm>
            </p:grpSpPr>
            <p:sp>
              <p:nvSpPr>
                <p:cNvPr id="118063" name="Rectangle 219"/>
                <p:cNvSpPr>
                  <a:spLocks noChangeArrowheads="1"/>
                </p:cNvSpPr>
                <p:nvPr/>
              </p:nvSpPr>
              <p:spPr bwMode="auto">
                <a:xfrm>
                  <a:off x="863" y="551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a/1</a:t>
                  </a:r>
                  <a:endParaRPr kumimoji="1" lang="en-US" altLang="zh-CN" sz="1800" dirty="0">
                    <a:latin typeface="楷体_GB2312" pitchFamily="49" charset="-122"/>
                    <a:cs typeface="Times New Roman" charset="0"/>
                  </a:endParaRPr>
                </a:p>
              </p:txBody>
            </p:sp>
            <p:sp>
              <p:nvSpPr>
                <p:cNvPr id="118064" name="Rectangle 220"/>
                <p:cNvSpPr>
                  <a:spLocks noChangeArrowheads="1"/>
                </p:cNvSpPr>
                <p:nvPr/>
              </p:nvSpPr>
              <p:spPr bwMode="auto">
                <a:xfrm>
                  <a:off x="820" y="551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41" name="Group 221"/>
              <p:cNvGrpSpPr>
                <a:grpSpLocks/>
              </p:cNvGrpSpPr>
              <p:nvPr/>
            </p:nvGrpSpPr>
            <p:grpSpPr bwMode="auto">
              <a:xfrm>
                <a:off x="1194" y="5516"/>
                <a:ext cx="374" cy="788"/>
                <a:chOff x="1194" y="5516"/>
                <a:chExt cx="374" cy="788"/>
              </a:xfrm>
            </p:grpSpPr>
            <p:sp>
              <p:nvSpPr>
                <p:cNvPr id="118061" name="Rectangle 222"/>
                <p:cNvSpPr>
                  <a:spLocks noChangeArrowheads="1"/>
                </p:cNvSpPr>
                <p:nvPr/>
              </p:nvSpPr>
              <p:spPr bwMode="auto">
                <a:xfrm>
                  <a:off x="1237" y="551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b/3</a:t>
                  </a:r>
                  <a:endParaRPr kumimoji="1" lang="en-US" altLang="zh-CN" sz="1800" dirty="0">
                    <a:latin typeface="楷体_GB2312" pitchFamily="49" charset="-122"/>
                    <a:cs typeface="Times New Roman" charset="0"/>
                  </a:endParaRPr>
                </a:p>
              </p:txBody>
            </p:sp>
            <p:sp>
              <p:nvSpPr>
                <p:cNvPr id="118062" name="Rectangle 223"/>
                <p:cNvSpPr>
                  <a:spLocks noChangeArrowheads="1"/>
                </p:cNvSpPr>
                <p:nvPr/>
              </p:nvSpPr>
              <p:spPr bwMode="auto">
                <a:xfrm>
                  <a:off x="1194" y="551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42" name="Group 224"/>
              <p:cNvGrpSpPr>
                <a:grpSpLocks/>
              </p:cNvGrpSpPr>
              <p:nvPr/>
            </p:nvGrpSpPr>
            <p:grpSpPr bwMode="auto">
              <a:xfrm>
                <a:off x="1568" y="5516"/>
                <a:ext cx="374" cy="788"/>
                <a:chOff x="1568" y="5516"/>
                <a:chExt cx="374" cy="788"/>
              </a:xfrm>
            </p:grpSpPr>
            <p:sp>
              <p:nvSpPr>
                <p:cNvPr id="118059" name="Rectangle 225"/>
                <p:cNvSpPr>
                  <a:spLocks noChangeArrowheads="1"/>
                </p:cNvSpPr>
                <p:nvPr/>
              </p:nvSpPr>
              <p:spPr bwMode="auto">
                <a:xfrm>
                  <a:off x="1611" y="551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c/1</a:t>
                  </a:r>
                  <a:endParaRPr kumimoji="1" lang="en-US" altLang="zh-CN" sz="1800" dirty="0">
                    <a:latin typeface="楷体_GB2312" pitchFamily="49" charset="-122"/>
                    <a:cs typeface="Times New Roman" charset="0"/>
                  </a:endParaRPr>
                </a:p>
              </p:txBody>
            </p:sp>
            <p:sp>
              <p:nvSpPr>
                <p:cNvPr id="118060" name="Rectangle 226"/>
                <p:cNvSpPr>
                  <a:spLocks noChangeArrowheads="1"/>
                </p:cNvSpPr>
                <p:nvPr/>
              </p:nvSpPr>
              <p:spPr bwMode="auto">
                <a:xfrm>
                  <a:off x="1568" y="551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43" name="Group 227"/>
              <p:cNvGrpSpPr>
                <a:grpSpLocks/>
              </p:cNvGrpSpPr>
              <p:nvPr/>
            </p:nvGrpSpPr>
            <p:grpSpPr bwMode="auto">
              <a:xfrm>
                <a:off x="1942" y="5516"/>
                <a:ext cx="374" cy="788"/>
                <a:chOff x="1942" y="5516"/>
                <a:chExt cx="374" cy="788"/>
              </a:xfrm>
            </p:grpSpPr>
            <p:sp>
              <p:nvSpPr>
                <p:cNvPr id="118057" name="Rectangle 228"/>
                <p:cNvSpPr>
                  <a:spLocks noChangeArrowheads="1"/>
                </p:cNvSpPr>
                <p:nvPr/>
              </p:nvSpPr>
              <p:spPr bwMode="auto">
                <a:xfrm>
                  <a:off x="1985" y="551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d/1</a:t>
                  </a:r>
                  <a:endParaRPr kumimoji="1" lang="en-US" altLang="zh-CN" sz="1800" dirty="0">
                    <a:latin typeface="楷体_GB2312" pitchFamily="49" charset="-122"/>
                    <a:cs typeface="Times New Roman" charset="0"/>
                  </a:endParaRPr>
                </a:p>
              </p:txBody>
            </p:sp>
            <p:sp>
              <p:nvSpPr>
                <p:cNvPr id="118058" name="Rectangle 229"/>
                <p:cNvSpPr>
                  <a:spLocks noChangeArrowheads="1"/>
                </p:cNvSpPr>
                <p:nvPr/>
              </p:nvSpPr>
              <p:spPr bwMode="auto">
                <a:xfrm>
                  <a:off x="1942" y="551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44" name="Group 230"/>
              <p:cNvGrpSpPr>
                <a:grpSpLocks/>
              </p:cNvGrpSpPr>
              <p:nvPr/>
            </p:nvGrpSpPr>
            <p:grpSpPr bwMode="auto">
              <a:xfrm>
                <a:off x="2316" y="5516"/>
                <a:ext cx="554" cy="788"/>
                <a:chOff x="2316" y="5516"/>
                <a:chExt cx="554" cy="788"/>
              </a:xfrm>
            </p:grpSpPr>
            <p:sp>
              <p:nvSpPr>
                <p:cNvPr id="118055" name="Rectangle 231"/>
                <p:cNvSpPr>
                  <a:spLocks noChangeArrowheads="1"/>
                </p:cNvSpPr>
                <p:nvPr/>
              </p:nvSpPr>
              <p:spPr bwMode="auto">
                <a:xfrm>
                  <a:off x="2359" y="5516"/>
                  <a:ext cx="46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命中</a:t>
                  </a:r>
                </a:p>
              </p:txBody>
            </p:sp>
            <p:sp>
              <p:nvSpPr>
                <p:cNvPr id="118056" name="Rectangle 232"/>
                <p:cNvSpPr>
                  <a:spLocks noChangeArrowheads="1"/>
                </p:cNvSpPr>
                <p:nvPr/>
              </p:nvSpPr>
              <p:spPr bwMode="auto">
                <a:xfrm>
                  <a:off x="2316" y="5516"/>
                  <a:ext cx="55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45" name="Group 233"/>
              <p:cNvGrpSpPr>
                <a:grpSpLocks/>
              </p:cNvGrpSpPr>
              <p:nvPr/>
            </p:nvGrpSpPr>
            <p:grpSpPr bwMode="auto">
              <a:xfrm>
                <a:off x="2870" y="5516"/>
                <a:ext cx="355" cy="788"/>
                <a:chOff x="2870" y="5516"/>
                <a:chExt cx="355" cy="788"/>
              </a:xfrm>
            </p:grpSpPr>
            <p:sp>
              <p:nvSpPr>
                <p:cNvPr id="118053" name="Rectangle 234"/>
                <p:cNvSpPr>
                  <a:spLocks noChangeArrowheads="1"/>
                </p:cNvSpPr>
                <p:nvPr/>
              </p:nvSpPr>
              <p:spPr bwMode="auto">
                <a:xfrm>
                  <a:off x="2913" y="5516"/>
                  <a:ext cx="31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a/5</a:t>
                  </a:r>
                  <a:endParaRPr kumimoji="1" lang="en-US" altLang="zh-CN" sz="1800" dirty="0">
                    <a:latin typeface="楷体_GB2312" pitchFamily="49" charset="-122"/>
                    <a:cs typeface="Times New Roman" charset="0"/>
                  </a:endParaRPr>
                </a:p>
              </p:txBody>
            </p:sp>
            <p:sp>
              <p:nvSpPr>
                <p:cNvPr id="118054" name="Rectangle 235"/>
                <p:cNvSpPr>
                  <a:spLocks noChangeArrowheads="1"/>
                </p:cNvSpPr>
                <p:nvPr/>
              </p:nvSpPr>
              <p:spPr bwMode="auto">
                <a:xfrm>
                  <a:off x="2870" y="5516"/>
                  <a:ext cx="355"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46" name="Group 236"/>
              <p:cNvGrpSpPr>
                <a:grpSpLocks/>
              </p:cNvGrpSpPr>
              <p:nvPr/>
            </p:nvGrpSpPr>
            <p:grpSpPr bwMode="auto">
              <a:xfrm>
                <a:off x="3225" y="5516"/>
                <a:ext cx="374" cy="788"/>
                <a:chOff x="3225" y="5516"/>
                <a:chExt cx="374" cy="788"/>
              </a:xfrm>
            </p:grpSpPr>
            <p:sp>
              <p:nvSpPr>
                <p:cNvPr id="118051" name="Rectangle 237"/>
                <p:cNvSpPr>
                  <a:spLocks noChangeArrowheads="1"/>
                </p:cNvSpPr>
                <p:nvPr/>
              </p:nvSpPr>
              <p:spPr bwMode="auto">
                <a:xfrm>
                  <a:off x="3268" y="551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b/0</a:t>
                  </a:r>
                  <a:endParaRPr kumimoji="1" lang="en-US" altLang="zh-CN" sz="1800" dirty="0">
                    <a:latin typeface="楷体_GB2312" pitchFamily="49" charset="-122"/>
                    <a:cs typeface="Times New Roman" charset="0"/>
                  </a:endParaRPr>
                </a:p>
              </p:txBody>
            </p:sp>
            <p:sp>
              <p:nvSpPr>
                <p:cNvPr id="118052" name="Rectangle 238"/>
                <p:cNvSpPr>
                  <a:spLocks noChangeArrowheads="1"/>
                </p:cNvSpPr>
                <p:nvPr/>
              </p:nvSpPr>
              <p:spPr bwMode="auto">
                <a:xfrm>
                  <a:off x="3225" y="551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47" name="Group 239"/>
              <p:cNvGrpSpPr>
                <a:grpSpLocks/>
              </p:cNvGrpSpPr>
              <p:nvPr/>
            </p:nvGrpSpPr>
            <p:grpSpPr bwMode="auto">
              <a:xfrm>
                <a:off x="3599" y="5516"/>
                <a:ext cx="374" cy="788"/>
                <a:chOff x="3599" y="5516"/>
                <a:chExt cx="374" cy="788"/>
              </a:xfrm>
            </p:grpSpPr>
            <p:sp>
              <p:nvSpPr>
                <p:cNvPr id="118049" name="Rectangle 240"/>
                <p:cNvSpPr>
                  <a:spLocks noChangeArrowheads="1"/>
                </p:cNvSpPr>
                <p:nvPr/>
              </p:nvSpPr>
              <p:spPr bwMode="auto">
                <a:xfrm>
                  <a:off x="3642" y="551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c/3</a:t>
                  </a:r>
                  <a:endParaRPr kumimoji="1" lang="en-US" altLang="zh-CN" sz="1800" dirty="0">
                    <a:latin typeface="楷体_GB2312" pitchFamily="49" charset="-122"/>
                    <a:cs typeface="Times New Roman" charset="0"/>
                  </a:endParaRPr>
                </a:p>
              </p:txBody>
            </p:sp>
            <p:sp>
              <p:nvSpPr>
                <p:cNvPr id="118050" name="Rectangle 241"/>
                <p:cNvSpPr>
                  <a:spLocks noChangeArrowheads="1"/>
                </p:cNvSpPr>
                <p:nvPr/>
              </p:nvSpPr>
              <p:spPr bwMode="auto">
                <a:xfrm>
                  <a:off x="3599" y="551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48" name="Group 242"/>
              <p:cNvGrpSpPr>
                <a:grpSpLocks/>
              </p:cNvGrpSpPr>
              <p:nvPr/>
            </p:nvGrpSpPr>
            <p:grpSpPr bwMode="auto">
              <a:xfrm>
                <a:off x="3973" y="5516"/>
                <a:ext cx="374" cy="788"/>
                <a:chOff x="3973" y="5516"/>
                <a:chExt cx="374" cy="788"/>
              </a:xfrm>
            </p:grpSpPr>
            <p:sp>
              <p:nvSpPr>
                <p:cNvPr id="118047" name="Rectangle 243"/>
                <p:cNvSpPr>
                  <a:spLocks noChangeArrowheads="1"/>
                </p:cNvSpPr>
                <p:nvPr/>
              </p:nvSpPr>
              <p:spPr bwMode="auto">
                <a:xfrm>
                  <a:off x="4016" y="551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d/2</a:t>
                  </a:r>
                  <a:endParaRPr kumimoji="1" lang="en-US" altLang="zh-CN" sz="1800" dirty="0">
                    <a:latin typeface="楷体_GB2312" pitchFamily="49" charset="-122"/>
                    <a:cs typeface="Times New Roman" charset="0"/>
                  </a:endParaRPr>
                </a:p>
              </p:txBody>
            </p:sp>
            <p:sp>
              <p:nvSpPr>
                <p:cNvPr id="118048" name="Rectangle 244"/>
                <p:cNvSpPr>
                  <a:spLocks noChangeArrowheads="1"/>
                </p:cNvSpPr>
                <p:nvPr/>
              </p:nvSpPr>
              <p:spPr bwMode="auto">
                <a:xfrm>
                  <a:off x="3973" y="551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49" name="Group 245"/>
              <p:cNvGrpSpPr>
                <a:grpSpLocks/>
              </p:cNvGrpSpPr>
              <p:nvPr/>
            </p:nvGrpSpPr>
            <p:grpSpPr bwMode="auto">
              <a:xfrm>
                <a:off x="0" y="6304"/>
                <a:ext cx="302" cy="788"/>
                <a:chOff x="0" y="6304"/>
                <a:chExt cx="302" cy="788"/>
              </a:xfrm>
            </p:grpSpPr>
            <p:sp>
              <p:nvSpPr>
                <p:cNvPr id="118045" name="Rectangle 246"/>
                <p:cNvSpPr>
                  <a:spLocks noChangeArrowheads="1"/>
                </p:cNvSpPr>
                <p:nvPr/>
              </p:nvSpPr>
              <p:spPr bwMode="auto">
                <a:xfrm>
                  <a:off x="43" y="6304"/>
                  <a:ext cx="216"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c</a:t>
                  </a:r>
                </a:p>
                <a:p>
                  <a:pPr algn="just" eaLnBrk="0" hangingPunct="0"/>
                  <a:endParaRPr kumimoji="1" lang="en-US" altLang="zh-CN" sz="1800">
                    <a:latin typeface="楷体_GB2312" pitchFamily="49" charset="-122"/>
                    <a:cs typeface="Times New Roman" charset="0"/>
                  </a:endParaRPr>
                </a:p>
              </p:txBody>
            </p:sp>
            <p:sp>
              <p:nvSpPr>
                <p:cNvPr id="118046" name="Rectangle 247"/>
                <p:cNvSpPr>
                  <a:spLocks noChangeArrowheads="1"/>
                </p:cNvSpPr>
                <p:nvPr/>
              </p:nvSpPr>
              <p:spPr bwMode="auto">
                <a:xfrm>
                  <a:off x="0" y="6304"/>
                  <a:ext cx="302"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50" name="Group 248"/>
              <p:cNvGrpSpPr>
                <a:grpSpLocks/>
              </p:cNvGrpSpPr>
              <p:nvPr/>
            </p:nvGrpSpPr>
            <p:grpSpPr bwMode="auto">
              <a:xfrm>
                <a:off x="302" y="6304"/>
                <a:ext cx="518" cy="788"/>
                <a:chOff x="302" y="6304"/>
                <a:chExt cx="518" cy="788"/>
              </a:xfrm>
            </p:grpSpPr>
            <p:sp>
              <p:nvSpPr>
                <p:cNvPr id="118043" name="Rectangle 249"/>
                <p:cNvSpPr>
                  <a:spLocks noChangeArrowheads="1"/>
                </p:cNvSpPr>
                <p:nvPr/>
              </p:nvSpPr>
              <p:spPr bwMode="auto">
                <a:xfrm>
                  <a:off x="345" y="6304"/>
                  <a:ext cx="43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命中</a:t>
                  </a:r>
                  <a:endParaRPr kumimoji="1" lang="zh-CN" altLang="en-US" sz="1800">
                    <a:latin typeface="楷体_GB2312" pitchFamily="49" charset="-122"/>
                    <a:cs typeface="Times New Roman" charset="0"/>
                  </a:endParaRPr>
                </a:p>
              </p:txBody>
            </p:sp>
            <p:sp>
              <p:nvSpPr>
                <p:cNvPr id="118044" name="Rectangle 250"/>
                <p:cNvSpPr>
                  <a:spLocks noChangeArrowheads="1"/>
                </p:cNvSpPr>
                <p:nvPr/>
              </p:nvSpPr>
              <p:spPr bwMode="auto">
                <a:xfrm>
                  <a:off x="302" y="6304"/>
                  <a:ext cx="518"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51" name="Group 251"/>
              <p:cNvGrpSpPr>
                <a:grpSpLocks/>
              </p:cNvGrpSpPr>
              <p:nvPr/>
            </p:nvGrpSpPr>
            <p:grpSpPr bwMode="auto">
              <a:xfrm>
                <a:off x="820" y="6304"/>
                <a:ext cx="374" cy="788"/>
                <a:chOff x="820" y="6304"/>
                <a:chExt cx="374" cy="788"/>
              </a:xfrm>
            </p:grpSpPr>
            <p:sp>
              <p:nvSpPr>
                <p:cNvPr id="118041" name="Rectangle 252"/>
                <p:cNvSpPr>
                  <a:spLocks noChangeArrowheads="1"/>
                </p:cNvSpPr>
                <p:nvPr/>
              </p:nvSpPr>
              <p:spPr bwMode="auto">
                <a:xfrm>
                  <a:off x="863" y="630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a/1</a:t>
                  </a:r>
                  <a:endParaRPr kumimoji="1" lang="en-US" altLang="zh-CN" sz="1800" dirty="0">
                    <a:latin typeface="楷体_GB2312" pitchFamily="49" charset="-122"/>
                    <a:cs typeface="Times New Roman" charset="0"/>
                  </a:endParaRPr>
                </a:p>
              </p:txBody>
            </p:sp>
            <p:sp>
              <p:nvSpPr>
                <p:cNvPr id="118042" name="Rectangle 253"/>
                <p:cNvSpPr>
                  <a:spLocks noChangeArrowheads="1"/>
                </p:cNvSpPr>
                <p:nvPr/>
              </p:nvSpPr>
              <p:spPr bwMode="auto">
                <a:xfrm>
                  <a:off x="820" y="630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52" name="Group 254"/>
              <p:cNvGrpSpPr>
                <a:grpSpLocks/>
              </p:cNvGrpSpPr>
              <p:nvPr/>
            </p:nvGrpSpPr>
            <p:grpSpPr bwMode="auto">
              <a:xfrm>
                <a:off x="1194" y="6304"/>
                <a:ext cx="374" cy="788"/>
                <a:chOff x="1194" y="6304"/>
                <a:chExt cx="374" cy="788"/>
              </a:xfrm>
            </p:grpSpPr>
            <p:sp>
              <p:nvSpPr>
                <p:cNvPr id="118039" name="Rectangle 255"/>
                <p:cNvSpPr>
                  <a:spLocks noChangeArrowheads="1"/>
                </p:cNvSpPr>
                <p:nvPr/>
              </p:nvSpPr>
              <p:spPr bwMode="auto">
                <a:xfrm>
                  <a:off x="1237" y="630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b/3</a:t>
                  </a:r>
                  <a:endParaRPr kumimoji="1" lang="en-US" altLang="zh-CN" sz="1800" dirty="0">
                    <a:latin typeface="楷体_GB2312" pitchFamily="49" charset="-122"/>
                    <a:cs typeface="Times New Roman" charset="0"/>
                  </a:endParaRPr>
                </a:p>
              </p:txBody>
            </p:sp>
            <p:sp>
              <p:nvSpPr>
                <p:cNvPr id="118040" name="Rectangle 256"/>
                <p:cNvSpPr>
                  <a:spLocks noChangeArrowheads="1"/>
                </p:cNvSpPr>
                <p:nvPr/>
              </p:nvSpPr>
              <p:spPr bwMode="auto">
                <a:xfrm>
                  <a:off x="1194" y="630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53" name="Group 257"/>
              <p:cNvGrpSpPr>
                <a:grpSpLocks/>
              </p:cNvGrpSpPr>
              <p:nvPr/>
            </p:nvGrpSpPr>
            <p:grpSpPr bwMode="auto">
              <a:xfrm>
                <a:off x="1568" y="6304"/>
                <a:ext cx="374" cy="788"/>
                <a:chOff x="1568" y="6304"/>
                <a:chExt cx="374" cy="788"/>
              </a:xfrm>
            </p:grpSpPr>
            <p:sp>
              <p:nvSpPr>
                <p:cNvPr id="118037" name="Rectangle 258"/>
                <p:cNvSpPr>
                  <a:spLocks noChangeArrowheads="1"/>
                </p:cNvSpPr>
                <p:nvPr/>
              </p:nvSpPr>
              <p:spPr bwMode="auto">
                <a:xfrm>
                  <a:off x="1611" y="630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c/2</a:t>
                  </a:r>
                  <a:endParaRPr kumimoji="1" lang="en-US" altLang="zh-CN" sz="1800" dirty="0">
                    <a:latin typeface="楷体_GB2312" pitchFamily="49" charset="-122"/>
                    <a:cs typeface="Times New Roman" charset="0"/>
                  </a:endParaRPr>
                </a:p>
              </p:txBody>
            </p:sp>
            <p:sp>
              <p:nvSpPr>
                <p:cNvPr id="118038" name="Rectangle 259"/>
                <p:cNvSpPr>
                  <a:spLocks noChangeArrowheads="1"/>
                </p:cNvSpPr>
                <p:nvPr/>
              </p:nvSpPr>
              <p:spPr bwMode="auto">
                <a:xfrm>
                  <a:off x="1568" y="630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54" name="Group 260"/>
              <p:cNvGrpSpPr>
                <a:grpSpLocks/>
              </p:cNvGrpSpPr>
              <p:nvPr/>
            </p:nvGrpSpPr>
            <p:grpSpPr bwMode="auto">
              <a:xfrm>
                <a:off x="1942" y="6304"/>
                <a:ext cx="374" cy="788"/>
                <a:chOff x="1942" y="6304"/>
                <a:chExt cx="374" cy="788"/>
              </a:xfrm>
            </p:grpSpPr>
            <p:sp>
              <p:nvSpPr>
                <p:cNvPr id="118035" name="Rectangle 261"/>
                <p:cNvSpPr>
                  <a:spLocks noChangeArrowheads="1"/>
                </p:cNvSpPr>
                <p:nvPr/>
              </p:nvSpPr>
              <p:spPr bwMode="auto">
                <a:xfrm>
                  <a:off x="1985" y="630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d/1</a:t>
                  </a:r>
                  <a:endParaRPr kumimoji="1" lang="en-US" altLang="zh-CN" sz="1800" dirty="0">
                    <a:latin typeface="楷体_GB2312" pitchFamily="49" charset="-122"/>
                    <a:cs typeface="Times New Roman" charset="0"/>
                  </a:endParaRPr>
                </a:p>
              </p:txBody>
            </p:sp>
            <p:sp>
              <p:nvSpPr>
                <p:cNvPr id="118036" name="Rectangle 262"/>
                <p:cNvSpPr>
                  <a:spLocks noChangeArrowheads="1"/>
                </p:cNvSpPr>
                <p:nvPr/>
              </p:nvSpPr>
              <p:spPr bwMode="auto">
                <a:xfrm>
                  <a:off x="1942" y="630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55" name="Group 263"/>
              <p:cNvGrpSpPr>
                <a:grpSpLocks/>
              </p:cNvGrpSpPr>
              <p:nvPr/>
            </p:nvGrpSpPr>
            <p:grpSpPr bwMode="auto">
              <a:xfrm>
                <a:off x="2316" y="6304"/>
                <a:ext cx="554" cy="788"/>
                <a:chOff x="2316" y="6304"/>
                <a:chExt cx="554" cy="788"/>
              </a:xfrm>
            </p:grpSpPr>
            <p:sp>
              <p:nvSpPr>
                <p:cNvPr id="118033" name="Rectangle 264"/>
                <p:cNvSpPr>
                  <a:spLocks noChangeArrowheads="1"/>
                </p:cNvSpPr>
                <p:nvPr/>
              </p:nvSpPr>
              <p:spPr bwMode="auto">
                <a:xfrm>
                  <a:off x="2359" y="6304"/>
                  <a:ext cx="46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命中</a:t>
                  </a:r>
                </a:p>
              </p:txBody>
            </p:sp>
            <p:sp>
              <p:nvSpPr>
                <p:cNvPr id="118034" name="Rectangle 265"/>
                <p:cNvSpPr>
                  <a:spLocks noChangeArrowheads="1"/>
                </p:cNvSpPr>
                <p:nvPr/>
              </p:nvSpPr>
              <p:spPr bwMode="auto">
                <a:xfrm>
                  <a:off x="2316" y="6304"/>
                  <a:ext cx="55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56" name="Group 266"/>
              <p:cNvGrpSpPr>
                <a:grpSpLocks/>
              </p:cNvGrpSpPr>
              <p:nvPr/>
            </p:nvGrpSpPr>
            <p:grpSpPr bwMode="auto">
              <a:xfrm>
                <a:off x="2870" y="6304"/>
                <a:ext cx="355" cy="788"/>
                <a:chOff x="2870" y="6304"/>
                <a:chExt cx="355" cy="788"/>
              </a:xfrm>
            </p:grpSpPr>
            <p:sp>
              <p:nvSpPr>
                <p:cNvPr id="118031" name="Rectangle 267"/>
                <p:cNvSpPr>
                  <a:spLocks noChangeArrowheads="1"/>
                </p:cNvSpPr>
                <p:nvPr/>
              </p:nvSpPr>
              <p:spPr bwMode="auto">
                <a:xfrm>
                  <a:off x="2913" y="6304"/>
                  <a:ext cx="31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a/6</a:t>
                  </a:r>
                  <a:endParaRPr kumimoji="1" lang="en-US" altLang="zh-CN" sz="1800" dirty="0">
                    <a:latin typeface="楷体_GB2312" pitchFamily="49" charset="-122"/>
                    <a:cs typeface="Times New Roman" charset="0"/>
                  </a:endParaRPr>
                </a:p>
              </p:txBody>
            </p:sp>
            <p:sp>
              <p:nvSpPr>
                <p:cNvPr id="118032" name="Rectangle 268"/>
                <p:cNvSpPr>
                  <a:spLocks noChangeArrowheads="1"/>
                </p:cNvSpPr>
                <p:nvPr/>
              </p:nvSpPr>
              <p:spPr bwMode="auto">
                <a:xfrm>
                  <a:off x="2870" y="6304"/>
                  <a:ext cx="355"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57" name="Group 269"/>
              <p:cNvGrpSpPr>
                <a:grpSpLocks/>
              </p:cNvGrpSpPr>
              <p:nvPr/>
            </p:nvGrpSpPr>
            <p:grpSpPr bwMode="auto">
              <a:xfrm>
                <a:off x="3225" y="6304"/>
                <a:ext cx="374" cy="788"/>
                <a:chOff x="3225" y="6304"/>
                <a:chExt cx="374" cy="788"/>
              </a:xfrm>
            </p:grpSpPr>
            <p:sp>
              <p:nvSpPr>
                <p:cNvPr id="118029" name="Rectangle 270"/>
                <p:cNvSpPr>
                  <a:spLocks noChangeArrowheads="1"/>
                </p:cNvSpPr>
                <p:nvPr/>
              </p:nvSpPr>
              <p:spPr bwMode="auto">
                <a:xfrm>
                  <a:off x="3268" y="630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b/1</a:t>
                  </a:r>
                  <a:endParaRPr kumimoji="1" lang="en-US" altLang="zh-CN" sz="1800" dirty="0">
                    <a:latin typeface="楷体_GB2312" pitchFamily="49" charset="-122"/>
                    <a:cs typeface="Times New Roman" charset="0"/>
                  </a:endParaRPr>
                </a:p>
              </p:txBody>
            </p:sp>
            <p:sp>
              <p:nvSpPr>
                <p:cNvPr id="118030" name="Rectangle 271"/>
                <p:cNvSpPr>
                  <a:spLocks noChangeArrowheads="1"/>
                </p:cNvSpPr>
                <p:nvPr/>
              </p:nvSpPr>
              <p:spPr bwMode="auto">
                <a:xfrm>
                  <a:off x="3225" y="630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58" name="Group 272"/>
              <p:cNvGrpSpPr>
                <a:grpSpLocks/>
              </p:cNvGrpSpPr>
              <p:nvPr/>
            </p:nvGrpSpPr>
            <p:grpSpPr bwMode="auto">
              <a:xfrm>
                <a:off x="3599" y="6304"/>
                <a:ext cx="374" cy="788"/>
                <a:chOff x="3599" y="6304"/>
                <a:chExt cx="374" cy="788"/>
              </a:xfrm>
            </p:grpSpPr>
            <p:sp>
              <p:nvSpPr>
                <p:cNvPr id="118027" name="Rectangle 273"/>
                <p:cNvSpPr>
                  <a:spLocks noChangeArrowheads="1"/>
                </p:cNvSpPr>
                <p:nvPr/>
              </p:nvSpPr>
              <p:spPr bwMode="auto">
                <a:xfrm>
                  <a:off x="3642" y="630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c/0</a:t>
                  </a:r>
                  <a:endParaRPr kumimoji="1" lang="en-US" altLang="zh-CN" sz="1800" dirty="0">
                    <a:latin typeface="楷体_GB2312" pitchFamily="49" charset="-122"/>
                    <a:cs typeface="Times New Roman" charset="0"/>
                  </a:endParaRPr>
                </a:p>
              </p:txBody>
            </p:sp>
            <p:sp>
              <p:nvSpPr>
                <p:cNvPr id="118028" name="Rectangle 274"/>
                <p:cNvSpPr>
                  <a:spLocks noChangeArrowheads="1"/>
                </p:cNvSpPr>
                <p:nvPr/>
              </p:nvSpPr>
              <p:spPr bwMode="auto">
                <a:xfrm>
                  <a:off x="3599" y="630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59" name="Group 275"/>
              <p:cNvGrpSpPr>
                <a:grpSpLocks/>
              </p:cNvGrpSpPr>
              <p:nvPr/>
            </p:nvGrpSpPr>
            <p:grpSpPr bwMode="auto">
              <a:xfrm>
                <a:off x="3973" y="6304"/>
                <a:ext cx="374" cy="788"/>
                <a:chOff x="3973" y="6304"/>
                <a:chExt cx="374" cy="788"/>
              </a:xfrm>
            </p:grpSpPr>
            <p:sp>
              <p:nvSpPr>
                <p:cNvPr id="118025" name="Rectangle 276"/>
                <p:cNvSpPr>
                  <a:spLocks noChangeArrowheads="1"/>
                </p:cNvSpPr>
                <p:nvPr/>
              </p:nvSpPr>
              <p:spPr bwMode="auto">
                <a:xfrm>
                  <a:off x="4016" y="630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d/3</a:t>
                  </a:r>
                  <a:endParaRPr kumimoji="1" lang="en-US" altLang="zh-CN" sz="1800" dirty="0">
                    <a:latin typeface="楷体_GB2312" pitchFamily="49" charset="-122"/>
                    <a:cs typeface="Times New Roman" charset="0"/>
                  </a:endParaRPr>
                </a:p>
              </p:txBody>
            </p:sp>
            <p:sp>
              <p:nvSpPr>
                <p:cNvPr id="118026" name="Rectangle 277"/>
                <p:cNvSpPr>
                  <a:spLocks noChangeArrowheads="1"/>
                </p:cNvSpPr>
                <p:nvPr/>
              </p:nvSpPr>
              <p:spPr bwMode="auto">
                <a:xfrm>
                  <a:off x="3973" y="630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60" name="Group 278"/>
              <p:cNvGrpSpPr>
                <a:grpSpLocks/>
              </p:cNvGrpSpPr>
              <p:nvPr/>
            </p:nvGrpSpPr>
            <p:grpSpPr bwMode="auto">
              <a:xfrm>
                <a:off x="0" y="7092"/>
                <a:ext cx="302" cy="788"/>
                <a:chOff x="0" y="7092"/>
                <a:chExt cx="302" cy="788"/>
              </a:xfrm>
            </p:grpSpPr>
            <p:sp>
              <p:nvSpPr>
                <p:cNvPr id="118023" name="Rectangle 279"/>
                <p:cNvSpPr>
                  <a:spLocks noChangeArrowheads="1"/>
                </p:cNvSpPr>
                <p:nvPr/>
              </p:nvSpPr>
              <p:spPr bwMode="auto">
                <a:xfrm>
                  <a:off x="43" y="7092"/>
                  <a:ext cx="216"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c</a:t>
                  </a:r>
                </a:p>
                <a:p>
                  <a:pPr algn="just" eaLnBrk="0" hangingPunct="0"/>
                  <a:endParaRPr kumimoji="1" lang="en-US" altLang="zh-CN" sz="1800">
                    <a:latin typeface="楷体_GB2312" pitchFamily="49" charset="-122"/>
                    <a:cs typeface="Times New Roman" charset="0"/>
                  </a:endParaRPr>
                </a:p>
              </p:txBody>
            </p:sp>
            <p:sp>
              <p:nvSpPr>
                <p:cNvPr id="118024" name="Rectangle 280"/>
                <p:cNvSpPr>
                  <a:spLocks noChangeArrowheads="1"/>
                </p:cNvSpPr>
                <p:nvPr/>
              </p:nvSpPr>
              <p:spPr bwMode="auto">
                <a:xfrm>
                  <a:off x="0" y="7092"/>
                  <a:ext cx="302"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61" name="Group 281"/>
              <p:cNvGrpSpPr>
                <a:grpSpLocks/>
              </p:cNvGrpSpPr>
              <p:nvPr/>
            </p:nvGrpSpPr>
            <p:grpSpPr bwMode="auto">
              <a:xfrm>
                <a:off x="302" y="7092"/>
                <a:ext cx="518" cy="788"/>
                <a:chOff x="302" y="7092"/>
                <a:chExt cx="518" cy="788"/>
              </a:xfrm>
            </p:grpSpPr>
            <p:sp>
              <p:nvSpPr>
                <p:cNvPr id="118021" name="Rectangle 282"/>
                <p:cNvSpPr>
                  <a:spLocks noChangeArrowheads="1"/>
                </p:cNvSpPr>
                <p:nvPr/>
              </p:nvSpPr>
              <p:spPr bwMode="auto">
                <a:xfrm>
                  <a:off x="345" y="7092"/>
                  <a:ext cx="43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命中</a:t>
                  </a:r>
                </a:p>
              </p:txBody>
            </p:sp>
            <p:sp>
              <p:nvSpPr>
                <p:cNvPr id="118022" name="Rectangle 283"/>
                <p:cNvSpPr>
                  <a:spLocks noChangeArrowheads="1"/>
                </p:cNvSpPr>
                <p:nvPr/>
              </p:nvSpPr>
              <p:spPr bwMode="auto">
                <a:xfrm>
                  <a:off x="302" y="7092"/>
                  <a:ext cx="518"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62" name="Group 284"/>
              <p:cNvGrpSpPr>
                <a:grpSpLocks/>
              </p:cNvGrpSpPr>
              <p:nvPr/>
            </p:nvGrpSpPr>
            <p:grpSpPr bwMode="auto">
              <a:xfrm>
                <a:off x="820" y="7092"/>
                <a:ext cx="374" cy="788"/>
                <a:chOff x="820" y="7092"/>
                <a:chExt cx="374" cy="788"/>
              </a:xfrm>
            </p:grpSpPr>
            <p:sp>
              <p:nvSpPr>
                <p:cNvPr id="118019" name="Rectangle 285"/>
                <p:cNvSpPr>
                  <a:spLocks noChangeArrowheads="1"/>
                </p:cNvSpPr>
                <p:nvPr/>
              </p:nvSpPr>
              <p:spPr bwMode="auto">
                <a:xfrm>
                  <a:off x="863" y="7092"/>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a/1</a:t>
                  </a:r>
                  <a:endParaRPr kumimoji="1" lang="en-US" altLang="zh-CN" sz="1800" dirty="0">
                    <a:latin typeface="楷体_GB2312" pitchFamily="49" charset="-122"/>
                    <a:cs typeface="Times New Roman" charset="0"/>
                  </a:endParaRPr>
                </a:p>
              </p:txBody>
            </p:sp>
            <p:sp>
              <p:nvSpPr>
                <p:cNvPr id="118020" name="Rectangle 286"/>
                <p:cNvSpPr>
                  <a:spLocks noChangeArrowheads="1"/>
                </p:cNvSpPr>
                <p:nvPr/>
              </p:nvSpPr>
              <p:spPr bwMode="auto">
                <a:xfrm>
                  <a:off x="820" y="7092"/>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63" name="Group 287"/>
              <p:cNvGrpSpPr>
                <a:grpSpLocks/>
              </p:cNvGrpSpPr>
              <p:nvPr/>
            </p:nvGrpSpPr>
            <p:grpSpPr bwMode="auto">
              <a:xfrm>
                <a:off x="1194" y="7092"/>
                <a:ext cx="374" cy="788"/>
                <a:chOff x="1194" y="7092"/>
                <a:chExt cx="374" cy="788"/>
              </a:xfrm>
            </p:grpSpPr>
            <p:sp>
              <p:nvSpPr>
                <p:cNvPr id="118017" name="Rectangle 288"/>
                <p:cNvSpPr>
                  <a:spLocks noChangeArrowheads="1"/>
                </p:cNvSpPr>
                <p:nvPr/>
              </p:nvSpPr>
              <p:spPr bwMode="auto">
                <a:xfrm>
                  <a:off x="1237" y="7092"/>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b/3</a:t>
                  </a:r>
                  <a:endParaRPr kumimoji="1" lang="en-US" altLang="zh-CN" sz="1800" dirty="0">
                    <a:latin typeface="楷体_GB2312" pitchFamily="49" charset="-122"/>
                    <a:cs typeface="Times New Roman" charset="0"/>
                  </a:endParaRPr>
                </a:p>
              </p:txBody>
            </p:sp>
            <p:sp>
              <p:nvSpPr>
                <p:cNvPr id="118018" name="Rectangle 289"/>
                <p:cNvSpPr>
                  <a:spLocks noChangeArrowheads="1"/>
                </p:cNvSpPr>
                <p:nvPr/>
              </p:nvSpPr>
              <p:spPr bwMode="auto">
                <a:xfrm>
                  <a:off x="1194" y="7092"/>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64" name="Group 290"/>
              <p:cNvGrpSpPr>
                <a:grpSpLocks/>
              </p:cNvGrpSpPr>
              <p:nvPr/>
            </p:nvGrpSpPr>
            <p:grpSpPr bwMode="auto">
              <a:xfrm>
                <a:off x="1568" y="7092"/>
                <a:ext cx="374" cy="788"/>
                <a:chOff x="1568" y="7092"/>
                <a:chExt cx="374" cy="788"/>
              </a:xfrm>
            </p:grpSpPr>
            <p:sp>
              <p:nvSpPr>
                <p:cNvPr id="118015" name="Rectangle 291"/>
                <p:cNvSpPr>
                  <a:spLocks noChangeArrowheads="1"/>
                </p:cNvSpPr>
                <p:nvPr/>
              </p:nvSpPr>
              <p:spPr bwMode="auto">
                <a:xfrm>
                  <a:off x="1611" y="7092"/>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c/3</a:t>
                  </a:r>
                  <a:endParaRPr kumimoji="1" lang="en-US" altLang="zh-CN" sz="1800" dirty="0">
                    <a:latin typeface="楷体_GB2312" pitchFamily="49" charset="-122"/>
                    <a:cs typeface="Times New Roman" charset="0"/>
                  </a:endParaRPr>
                </a:p>
              </p:txBody>
            </p:sp>
            <p:sp>
              <p:nvSpPr>
                <p:cNvPr id="118016" name="Rectangle 292"/>
                <p:cNvSpPr>
                  <a:spLocks noChangeArrowheads="1"/>
                </p:cNvSpPr>
                <p:nvPr/>
              </p:nvSpPr>
              <p:spPr bwMode="auto">
                <a:xfrm>
                  <a:off x="1568" y="7092"/>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65" name="Group 293"/>
              <p:cNvGrpSpPr>
                <a:grpSpLocks/>
              </p:cNvGrpSpPr>
              <p:nvPr/>
            </p:nvGrpSpPr>
            <p:grpSpPr bwMode="auto">
              <a:xfrm>
                <a:off x="1942" y="7092"/>
                <a:ext cx="374" cy="788"/>
                <a:chOff x="1942" y="7092"/>
                <a:chExt cx="374" cy="788"/>
              </a:xfrm>
            </p:grpSpPr>
            <p:sp>
              <p:nvSpPr>
                <p:cNvPr id="118013" name="Rectangle 294"/>
                <p:cNvSpPr>
                  <a:spLocks noChangeArrowheads="1"/>
                </p:cNvSpPr>
                <p:nvPr/>
              </p:nvSpPr>
              <p:spPr bwMode="auto">
                <a:xfrm>
                  <a:off x="1985" y="7092"/>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d/1</a:t>
                  </a:r>
                  <a:endParaRPr kumimoji="1" lang="en-US" altLang="zh-CN" sz="1800" dirty="0">
                    <a:latin typeface="楷体_GB2312" pitchFamily="49" charset="-122"/>
                    <a:cs typeface="Times New Roman" charset="0"/>
                  </a:endParaRPr>
                </a:p>
              </p:txBody>
            </p:sp>
            <p:sp>
              <p:nvSpPr>
                <p:cNvPr id="118014" name="Rectangle 295"/>
                <p:cNvSpPr>
                  <a:spLocks noChangeArrowheads="1"/>
                </p:cNvSpPr>
                <p:nvPr/>
              </p:nvSpPr>
              <p:spPr bwMode="auto">
                <a:xfrm>
                  <a:off x="1942" y="7092"/>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66" name="Group 296"/>
              <p:cNvGrpSpPr>
                <a:grpSpLocks/>
              </p:cNvGrpSpPr>
              <p:nvPr/>
            </p:nvGrpSpPr>
            <p:grpSpPr bwMode="auto">
              <a:xfrm>
                <a:off x="2316" y="7092"/>
                <a:ext cx="554" cy="788"/>
                <a:chOff x="2316" y="7092"/>
                <a:chExt cx="554" cy="788"/>
              </a:xfrm>
            </p:grpSpPr>
            <p:sp>
              <p:nvSpPr>
                <p:cNvPr id="118011" name="Rectangle 297"/>
                <p:cNvSpPr>
                  <a:spLocks noChangeArrowheads="1"/>
                </p:cNvSpPr>
                <p:nvPr/>
              </p:nvSpPr>
              <p:spPr bwMode="auto">
                <a:xfrm>
                  <a:off x="2359" y="7092"/>
                  <a:ext cx="46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命中</a:t>
                  </a:r>
                </a:p>
              </p:txBody>
            </p:sp>
            <p:sp>
              <p:nvSpPr>
                <p:cNvPr id="118012" name="Rectangle 298"/>
                <p:cNvSpPr>
                  <a:spLocks noChangeArrowheads="1"/>
                </p:cNvSpPr>
                <p:nvPr/>
              </p:nvSpPr>
              <p:spPr bwMode="auto">
                <a:xfrm>
                  <a:off x="2316" y="7092"/>
                  <a:ext cx="55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67" name="Group 299"/>
              <p:cNvGrpSpPr>
                <a:grpSpLocks/>
              </p:cNvGrpSpPr>
              <p:nvPr/>
            </p:nvGrpSpPr>
            <p:grpSpPr bwMode="auto">
              <a:xfrm>
                <a:off x="2870" y="7092"/>
                <a:ext cx="355" cy="788"/>
                <a:chOff x="2870" y="7092"/>
                <a:chExt cx="355" cy="788"/>
              </a:xfrm>
            </p:grpSpPr>
            <p:sp>
              <p:nvSpPr>
                <p:cNvPr id="118009" name="Rectangle 300"/>
                <p:cNvSpPr>
                  <a:spLocks noChangeArrowheads="1"/>
                </p:cNvSpPr>
                <p:nvPr/>
              </p:nvSpPr>
              <p:spPr bwMode="auto">
                <a:xfrm>
                  <a:off x="2913" y="7092"/>
                  <a:ext cx="31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a/7</a:t>
                  </a:r>
                  <a:endParaRPr kumimoji="1" lang="en-US" altLang="zh-CN" sz="1800" dirty="0">
                    <a:latin typeface="楷体_GB2312" pitchFamily="49" charset="-122"/>
                    <a:cs typeface="Times New Roman" charset="0"/>
                  </a:endParaRPr>
                </a:p>
              </p:txBody>
            </p:sp>
            <p:sp>
              <p:nvSpPr>
                <p:cNvPr id="118010" name="Rectangle 301"/>
                <p:cNvSpPr>
                  <a:spLocks noChangeArrowheads="1"/>
                </p:cNvSpPr>
                <p:nvPr/>
              </p:nvSpPr>
              <p:spPr bwMode="auto">
                <a:xfrm>
                  <a:off x="2870" y="7092"/>
                  <a:ext cx="355"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68" name="Group 302"/>
              <p:cNvGrpSpPr>
                <a:grpSpLocks/>
              </p:cNvGrpSpPr>
              <p:nvPr/>
            </p:nvGrpSpPr>
            <p:grpSpPr bwMode="auto">
              <a:xfrm>
                <a:off x="3225" y="7092"/>
                <a:ext cx="374" cy="788"/>
                <a:chOff x="3225" y="7092"/>
                <a:chExt cx="374" cy="788"/>
              </a:xfrm>
            </p:grpSpPr>
            <p:sp>
              <p:nvSpPr>
                <p:cNvPr id="118007" name="Rectangle 303"/>
                <p:cNvSpPr>
                  <a:spLocks noChangeArrowheads="1"/>
                </p:cNvSpPr>
                <p:nvPr/>
              </p:nvSpPr>
              <p:spPr bwMode="auto">
                <a:xfrm>
                  <a:off x="3268" y="7092"/>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b/2</a:t>
                  </a:r>
                  <a:endParaRPr kumimoji="1" lang="en-US" altLang="zh-CN" sz="1800" dirty="0">
                    <a:latin typeface="楷体_GB2312" pitchFamily="49" charset="-122"/>
                    <a:cs typeface="Times New Roman" charset="0"/>
                  </a:endParaRPr>
                </a:p>
              </p:txBody>
            </p:sp>
            <p:sp>
              <p:nvSpPr>
                <p:cNvPr id="118008" name="Rectangle 304"/>
                <p:cNvSpPr>
                  <a:spLocks noChangeArrowheads="1"/>
                </p:cNvSpPr>
                <p:nvPr/>
              </p:nvSpPr>
              <p:spPr bwMode="auto">
                <a:xfrm>
                  <a:off x="3225" y="7092"/>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69" name="Group 305"/>
              <p:cNvGrpSpPr>
                <a:grpSpLocks/>
              </p:cNvGrpSpPr>
              <p:nvPr/>
            </p:nvGrpSpPr>
            <p:grpSpPr bwMode="auto">
              <a:xfrm>
                <a:off x="3599" y="7092"/>
                <a:ext cx="374" cy="788"/>
                <a:chOff x="3599" y="7092"/>
                <a:chExt cx="374" cy="788"/>
              </a:xfrm>
            </p:grpSpPr>
            <p:sp>
              <p:nvSpPr>
                <p:cNvPr id="118005" name="Rectangle 306"/>
                <p:cNvSpPr>
                  <a:spLocks noChangeArrowheads="1"/>
                </p:cNvSpPr>
                <p:nvPr/>
              </p:nvSpPr>
              <p:spPr bwMode="auto">
                <a:xfrm>
                  <a:off x="3642" y="7092"/>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c/0</a:t>
                  </a:r>
                  <a:endParaRPr kumimoji="1" lang="en-US" altLang="zh-CN" sz="1800" dirty="0">
                    <a:latin typeface="楷体_GB2312" pitchFamily="49" charset="-122"/>
                    <a:cs typeface="Times New Roman" charset="0"/>
                  </a:endParaRPr>
                </a:p>
              </p:txBody>
            </p:sp>
            <p:sp>
              <p:nvSpPr>
                <p:cNvPr id="118006" name="Rectangle 307"/>
                <p:cNvSpPr>
                  <a:spLocks noChangeArrowheads="1"/>
                </p:cNvSpPr>
                <p:nvPr/>
              </p:nvSpPr>
              <p:spPr bwMode="auto">
                <a:xfrm>
                  <a:off x="3599" y="7092"/>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70" name="Group 308"/>
              <p:cNvGrpSpPr>
                <a:grpSpLocks/>
              </p:cNvGrpSpPr>
              <p:nvPr/>
            </p:nvGrpSpPr>
            <p:grpSpPr bwMode="auto">
              <a:xfrm>
                <a:off x="3973" y="7092"/>
                <a:ext cx="374" cy="788"/>
                <a:chOff x="3973" y="7092"/>
                <a:chExt cx="374" cy="788"/>
              </a:xfrm>
            </p:grpSpPr>
            <p:sp>
              <p:nvSpPr>
                <p:cNvPr id="118003" name="Rectangle 309"/>
                <p:cNvSpPr>
                  <a:spLocks noChangeArrowheads="1"/>
                </p:cNvSpPr>
                <p:nvPr/>
              </p:nvSpPr>
              <p:spPr bwMode="auto">
                <a:xfrm>
                  <a:off x="4016" y="7092"/>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d/4</a:t>
                  </a:r>
                  <a:endParaRPr kumimoji="1" lang="en-US" altLang="zh-CN" sz="1800" dirty="0">
                    <a:latin typeface="楷体_GB2312" pitchFamily="49" charset="-122"/>
                    <a:cs typeface="Times New Roman" charset="0"/>
                  </a:endParaRPr>
                </a:p>
              </p:txBody>
            </p:sp>
            <p:sp>
              <p:nvSpPr>
                <p:cNvPr id="118004" name="Rectangle 310"/>
                <p:cNvSpPr>
                  <a:spLocks noChangeArrowheads="1"/>
                </p:cNvSpPr>
                <p:nvPr/>
              </p:nvSpPr>
              <p:spPr bwMode="auto">
                <a:xfrm>
                  <a:off x="3973" y="7092"/>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71" name="Group 311"/>
              <p:cNvGrpSpPr>
                <a:grpSpLocks/>
              </p:cNvGrpSpPr>
              <p:nvPr/>
            </p:nvGrpSpPr>
            <p:grpSpPr bwMode="auto">
              <a:xfrm>
                <a:off x="0" y="7880"/>
                <a:ext cx="302" cy="788"/>
                <a:chOff x="0" y="7880"/>
                <a:chExt cx="302" cy="788"/>
              </a:xfrm>
            </p:grpSpPr>
            <p:sp>
              <p:nvSpPr>
                <p:cNvPr id="118001" name="Rectangle 312"/>
                <p:cNvSpPr>
                  <a:spLocks noChangeArrowheads="1"/>
                </p:cNvSpPr>
                <p:nvPr/>
              </p:nvSpPr>
              <p:spPr bwMode="auto">
                <a:xfrm>
                  <a:off x="43" y="7880"/>
                  <a:ext cx="216"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d</a:t>
                  </a:r>
                </a:p>
                <a:p>
                  <a:pPr algn="just" eaLnBrk="0" hangingPunct="0"/>
                  <a:endParaRPr kumimoji="1" lang="en-US" altLang="zh-CN" sz="1800">
                    <a:latin typeface="楷体_GB2312" pitchFamily="49" charset="-122"/>
                    <a:cs typeface="Times New Roman" charset="0"/>
                  </a:endParaRPr>
                </a:p>
              </p:txBody>
            </p:sp>
            <p:sp>
              <p:nvSpPr>
                <p:cNvPr id="118002" name="Rectangle 313"/>
                <p:cNvSpPr>
                  <a:spLocks noChangeArrowheads="1"/>
                </p:cNvSpPr>
                <p:nvPr/>
              </p:nvSpPr>
              <p:spPr bwMode="auto">
                <a:xfrm>
                  <a:off x="0" y="7880"/>
                  <a:ext cx="302"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72" name="Group 314"/>
              <p:cNvGrpSpPr>
                <a:grpSpLocks/>
              </p:cNvGrpSpPr>
              <p:nvPr/>
            </p:nvGrpSpPr>
            <p:grpSpPr bwMode="auto">
              <a:xfrm>
                <a:off x="302" y="7880"/>
                <a:ext cx="518" cy="788"/>
                <a:chOff x="302" y="7880"/>
                <a:chExt cx="518" cy="788"/>
              </a:xfrm>
            </p:grpSpPr>
            <p:sp>
              <p:nvSpPr>
                <p:cNvPr id="117999" name="Rectangle 315"/>
                <p:cNvSpPr>
                  <a:spLocks noChangeArrowheads="1"/>
                </p:cNvSpPr>
                <p:nvPr/>
              </p:nvSpPr>
              <p:spPr bwMode="auto">
                <a:xfrm>
                  <a:off x="345" y="7880"/>
                  <a:ext cx="43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命中</a:t>
                  </a:r>
                </a:p>
              </p:txBody>
            </p:sp>
            <p:sp>
              <p:nvSpPr>
                <p:cNvPr id="118000" name="Rectangle 316"/>
                <p:cNvSpPr>
                  <a:spLocks noChangeArrowheads="1"/>
                </p:cNvSpPr>
                <p:nvPr/>
              </p:nvSpPr>
              <p:spPr bwMode="auto">
                <a:xfrm>
                  <a:off x="302" y="7880"/>
                  <a:ext cx="518"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73" name="Group 317"/>
              <p:cNvGrpSpPr>
                <a:grpSpLocks/>
              </p:cNvGrpSpPr>
              <p:nvPr/>
            </p:nvGrpSpPr>
            <p:grpSpPr bwMode="auto">
              <a:xfrm>
                <a:off x="820" y="7880"/>
                <a:ext cx="374" cy="788"/>
                <a:chOff x="820" y="7880"/>
                <a:chExt cx="374" cy="788"/>
              </a:xfrm>
            </p:grpSpPr>
            <p:sp>
              <p:nvSpPr>
                <p:cNvPr id="117997" name="Rectangle 318"/>
                <p:cNvSpPr>
                  <a:spLocks noChangeArrowheads="1"/>
                </p:cNvSpPr>
                <p:nvPr/>
              </p:nvSpPr>
              <p:spPr bwMode="auto">
                <a:xfrm>
                  <a:off x="863" y="7880"/>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a/1</a:t>
                  </a:r>
                  <a:endParaRPr kumimoji="1" lang="en-US" altLang="zh-CN" sz="1800" dirty="0">
                    <a:latin typeface="楷体_GB2312" pitchFamily="49" charset="-122"/>
                    <a:cs typeface="Times New Roman" charset="0"/>
                  </a:endParaRPr>
                </a:p>
              </p:txBody>
            </p:sp>
            <p:sp>
              <p:nvSpPr>
                <p:cNvPr id="117998" name="Rectangle 319"/>
                <p:cNvSpPr>
                  <a:spLocks noChangeArrowheads="1"/>
                </p:cNvSpPr>
                <p:nvPr/>
              </p:nvSpPr>
              <p:spPr bwMode="auto">
                <a:xfrm>
                  <a:off x="820" y="7880"/>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74" name="Group 320"/>
              <p:cNvGrpSpPr>
                <a:grpSpLocks/>
              </p:cNvGrpSpPr>
              <p:nvPr/>
            </p:nvGrpSpPr>
            <p:grpSpPr bwMode="auto">
              <a:xfrm>
                <a:off x="1194" y="7880"/>
                <a:ext cx="374" cy="788"/>
                <a:chOff x="1194" y="7880"/>
                <a:chExt cx="374" cy="788"/>
              </a:xfrm>
            </p:grpSpPr>
            <p:sp>
              <p:nvSpPr>
                <p:cNvPr id="117995" name="Rectangle 321"/>
                <p:cNvSpPr>
                  <a:spLocks noChangeArrowheads="1"/>
                </p:cNvSpPr>
                <p:nvPr/>
              </p:nvSpPr>
              <p:spPr bwMode="auto">
                <a:xfrm>
                  <a:off x="1237" y="7880"/>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b/3</a:t>
                  </a:r>
                  <a:endParaRPr kumimoji="1" lang="en-US" altLang="zh-CN" sz="1800" dirty="0">
                    <a:latin typeface="楷体_GB2312" pitchFamily="49" charset="-122"/>
                    <a:cs typeface="Times New Roman" charset="0"/>
                  </a:endParaRPr>
                </a:p>
              </p:txBody>
            </p:sp>
            <p:sp>
              <p:nvSpPr>
                <p:cNvPr id="117996" name="Rectangle 322"/>
                <p:cNvSpPr>
                  <a:spLocks noChangeArrowheads="1"/>
                </p:cNvSpPr>
                <p:nvPr/>
              </p:nvSpPr>
              <p:spPr bwMode="auto">
                <a:xfrm>
                  <a:off x="1194" y="7880"/>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75" name="Group 323"/>
              <p:cNvGrpSpPr>
                <a:grpSpLocks/>
              </p:cNvGrpSpPr>
              <p:nvPr/>
            </p:nvGrpSpPr>
            <p:grpSpPr bwMode="auto">
              <a:xfrm>
                <a:off x="1568" y="7880"/>
                <a:ext cx="374" cy="788"/>
                <a:chOff x="1568" y="7880"/>
                <a:chExt cx="374" cy="788"/>
              </a:xfrm>
            </p:grpSpPr>
            <p:sp>
              <p:nvSpPr>
                <p:cNvPr id="117993" name="Rectangle 324"/>
                <p:cNvSpPr>
                  <a:spLocks noChangeArrowheads="1"/>
                </p:cNvSpPr>
                <p:nvPr/>
              </p:nvSpPr>
              <p:spPr bwMode="auto">
                <a:xfrm>
                  <a:off x="1611" y="7880"/>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c/3</a:t>
                  </a:r>
                  <a:endParaRPr kumimoji="1" lang="en-US" altLang="zh-CN" sz="1800" dirty="0">
                    <a:latin typeface="楷体_GB2312" pitchFamily="49" charset="-122"/>
                    <a:cs typeface="Times New Roman" charset="0"/>
                  </a:endParaRPr>
                </a:p>
              </p:txBody>
            </p:sp>
            <p:sp>
              <p:nvSpPr>
                <p:cNvPr id="117994" name="Rectangle 325"/>
                <p:cNvSpPr>
                  <a:spLocks noChangeArrowheads="1"/>
                </p:cNvSpPr>
                <p:nvPr/>
              </p:nvSpPr>
              <p:spPr bwMode="auto">
                <a:xfrm>
                  <a:off x="1568" y="7880"/>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76" name="Group 326"/>
              <p:cNvGrpSpPr>
                <a:grpSpLocks/>
              </p:cNvGrpSpPr>
              <p:nvPr/>
            </p:nvGrpSpPr>
            <p:grpSpPr bwMode="auto">
              <a:xfrm>
                <a:off x="1942" y="7880"/>
                <a:ext cx="374" cy="788"/>
                <a:chOff x="1942" y="7880"/>
                <a:chExt cx="374" cy="788"/>
              </a:xfrm>
            </p:grpSpPr>
            <p:sp>
              <p:nvSpPr>
                <p:cNvPr id="117991" name="Rectangle 327"/>
                <p:cNvSpPr>
                  <a:spLocks noChangeArrowheads="1"/>
                </p:cNvSpPr>
                <p:nvPr/>
              </p:nvSpPr>
              <p:spPr bwMode="auto">
                <a:xfrm>
                  <a:off x="1985" y="7880"/>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d/2</a:t>
                  </a:r>
                  <a:endParaRPr kumimoji="1" lang="en-US" altLang="zh-CN" sz="1800" dirty="0">
                    <a:latin typeface="楷体_GB2312" pitchFamily="49" charset="-122"/>
                    <a:cs typeface="Times New Roman" charset="0"/>
                  </a:endParaRPr>
                </a:p>
              </p:txBody>
            </p:sp>
            <p:sp>
              <p:nvSpPr>
                <p:cNvPr id="117992" name="Rectangle 328"/>
                <p:cNvSpPr>
                  <a:spLocks noChangeArrowheads="1"/>
                </p:cNvSpPr>
                <p:nvPr/>
              </p:nvSpPr>
              <p:spPr bwMode="auto">
                <a:xfrm>
                  <a:off x="1942" y="7880"/>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77" name="Group 329"/>
              <p:cNvGrpSpPr>
                <a:grpSpLocks/>
              </p:cNvGrpSpPr>
              <p:nvPr/>
            </p:nvGrpSpPr>
            <p:grpSpPr bwMode="auto">
              <a:xfrm>
                <a:off x="2316" y="7880"/>
                <a:ext cx="554" cy="788"/>
                <a:chOff x="2316" y="7880"/>
                <a:chExt cx="554" cy="788"/>
              </a:xfrm>
            </p:grpSpPr>
            <p:sp>
              <p:nvSpPr>
                <p:cNvPr id="117989" name="Rectangle 330"/>
                <p:cNvSpPr>
                  <a:spLocks noChangeArrowheads="1"/>
                </p:cNvSpPr>
                <p:nvPr/>
              </p:nvSpPr>
              <p:spPr bwMode="auto">
                <a:xfrm>
                  <a:off x="2359" y="7880"/>
                  <a:ext cx="46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命中</a:t>
                  </a:r>
                </a:p>
              </p:txBody>
            </p:sp>
            <p:sp>
              <p:nvSpPr>
                <p:cNvPr id="117990" name="Rectangle 331"/>
                <p:cNvSpPr>
                  <a:spLocks noChangeArrowheads="1"/>
                </p:cNvSpPr>
                <p:nvPr/>
              </p:nvSpPr>
              <p:spPr bwMode="auto">
                <a:xfrm>
                  <a:off x="2316" y="7880"/>
                  <a:ext cx="55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78" name="Group 332"/>
              <p:cNvGrpSpPr>
                <a:grpSpLocks/>
              </p:cNvGrpSpPr>
              <p:nvPr/>
            </p:nvGrpSpPr>
            <p:grpSpPr bwMode="auto">
              <a:xfrm>
                <a:off x="2870" y="7880"/>
                <a:ext cx="355" cy="788"/>
                <a:chOff x="2870" y="7880"/>
                <a:chExt cx="355" cy="788"/>
              </a:xfrm>
            </p:grpSpPr>
            <p:sp>
              <p:nvSpPr>
                <p:cNvPr id="117987" name="Rectangle 333"/>
                <p:cNvSpPr>
                  <a:spLocks noChangeArrowheads="1"/>
                </p:cNvSpPr>
                <p:nvPr/>
              </p:nvSpPr>
              <p:spPr bwMode="auto">
                <a:xfrm>
                  <a:off x="2913" y="7880"/>
                  <a:ext cx="31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a/8</a:t>
                  </a:r>
                  <a:endParaRPr kumimoji="1" lang="en-US" altLang="zh-CN" sz="1800" dirty="0">
                    <a:latin typeface="楷体_GB2312" pitchFamily="49" charset="-122"/>
                    <a:cs typeface="Times New Roman" charset="0"/>
                  </a:endParaRPr>
                </a:p>
              </p:txBody>
            </p:sp>
            <p:sp>
              <p:nvSpPr>
                <p:cNvPr id="117988" name="Rectangle 334"/>
                <p:cNvSpPr>
                  <a:spLocks noChangeArrowheads="1"/>
                </p:cNvSpPr>
                <p:nvPr/>
              </p:nvSpPr>
              <p:spPr bwMode="auto">
                <a:xfrm>
                  <a:off x="2870" y="7880"/>
                  <a:ext cx="355"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79" name="Group 335"/>
              <p:cNvGrpSpPr>
                <a:grpSpLocks/>
              </p:cNvGrpSpPr>
              <p:nvPr/>
            </p:nvGrpSpPr>
            <p:grpSpPr bwMode="auto">
              <a:xfrm>
                <a:off x="3225" y="7880"/>
                <a:ext cx="374" cy="788"/>
                <a:chOff x="3225" y="7880"/>
                <a:chExt cx="374" cy="788"/>
              </a:xfrm>
            </p:grpSpPr>
            <p:sp>
              <p:nvSpPr>
                <p:cNvPr id="117985" name="Rectangle 336"/>
                <p:cNvSpPr>
                  <a:spLocks noChangeArrowheads="1"/>
                </p:cNvSpPr>
                <p:nvPr/>
              </p:nvSpPr>
              <p:spPr bwMode="auto">
                <a:xfrm>
                  <a:off x="3268" y="7880"/>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b/3</a:t>
                  </a:r>
                  <a:endParaRPr kumimoji="1" lang="en-US" altLang="zh-CN" sz="1800" dirty="0">
                    <a:latin typeface="楷体_GB2312" pitchFamily="49" charset="-122"/>
                    <a:cs typeface="Times New Roman" charset="0"/>
                  </a:endParaRPr>
                </a:p>
              </p:txBody>
            </p:sp>
            <p:sp>
              <p:nvSpPr>
                <p:cNvPr id="117986" name="Rectangle 337"/>
                <p:cNvSpPr>
                  <a:spLocks noChangeArrowheads="1"/>
                </p:cNvSpPr>
                <p:nvPr/>
              </p:nvSpPr>
              <p:spPr bwMode="auto">
                <a:xfrm>
                  <a:off x="3225" y="7880"/>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80" name="Group 338"/>
              <p:cNvGrpSpPr>
                <a:grpSpLocks/>
              </p:cNvGrpSpPr>
              <p:nvPr/>
            </p:nvGrpSpPr>
            <p:grpSpPr bwMode="auto">
              <a:xfrm>
                <a:off x="3599" y="7880"/>
                <a:ext cx="374" cy="788"/>
                <a:chOff x="3599" y="7880"/>
                <a:chExt cx="374" cy="788"/>
              </a:xfrm>
            </p:grpSpPr>
            <p:sp>
              <p:nvSpPr>
                <p:cNvPr id="117983" name="Rectangle 339"/>
                <p:cNvSpPr>
                  <a:spLocks noChangeArrowheads="1"/>
                </p:cNvSpPr>
                <p:nvPr/>
              </p:nvSpPr>
              <p:spPr bwMode="auto">
                <a:xfrm>
                  <a:off x="3642" y="7880"/>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c/1</a:t>
                  </a:r>
                  <a:endParaRPr kumimoji="1" lang="en-US" altLang="zh-CN" sz="1800" dirty="0">
                    <a:latin typeface="楷体_GB2312" pitchFamily="49" charset="-122"/>
                    <a:cs typeface="Times New Roman" charset="0"/>
                  </a:endParaRPr>
                </a:p>
              </p:txBody>
            </p:sp>
            <p:sp>
              <p:nvSpPr>
                <p:cNvPr id="117984" name="Rectangle 340"/>
                <p:cNvSpPr>
                  <a:spLocks noChangeArrowheads="1"/>
                </p:cNvSpPr>
                <p:nvPr/>
              </p:nvSpPr>
              <p:spPr bwMode="auto">
                <a:xfrm>
                  <a:off x="3599" y="7880"/>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81" name="Group 341"/>
              <p:cNvGrpSpPr>
                <a:grpSpLocks/>
              </p:cNvGrpSpPr>
              <p:nvPr/>
            </p:nvGrpSpPr>
            <p:grpSpPr bwMode="auto">
              <a:xfrm>
                <a:off x="3973" y="7880"/>
                <a:ext cx="374" cy="788"/>
                <a:chOff x="3973" y="7880"/>
                <a:chExt cx="374" cy="788"/>
              </a:xfrm>
            </p:grpSpPr>
            <p:sp>
              <p:nvSpPr>
                <p:cNvPr id="117981" name="Rectangle 342"/>
                <p:cNvSpPr>
                  <a:spLocks noChangeArrowheads="1"/>
                </p:cNvSpPr>
                <p:nvPr/>
              </p:nvSpPr>
              <p:spPr bwMode="auto">
                <a:xfrm>
                  <a:off x="4016" y="7880"/>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d/0</a:t>
                  </a:r>
                  <a:endParaRPr kumimoji="1" lang="en-US" altLang="zh-CN" sz="1800" dirty="0">
                    <a:latin typeface="楷体_GB2312" pitchFamily="49" charset="-122"/>
                    <a:cs typeface="Times New Roman" charset="0"/>
                  </a:endParaRPr>
                </a:p>
              </p:txBody>
            </p:sp>
            <p:sp>
              <p:nvSpPr>
                <p:cNvPr id="117982" name="Rectangle 343"/>
                <p:cNvSpPr>
                  <a:spLocks noChangeArrowheads="1"/>
                </p:cNvSpPr>
                <p:nvPr/>
              </p:nvSpPr>
              <p:spPr bwMode="auto">
                <a:xfrm>
                  <a:off x="3973" y="7880"/>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82" name="Group 344"/>
              <p:cNvGrpSpPr>
                <a:grpSpLocks/>
              </p:cNvGrpSpPr>
              <p:nvPr/>
            </p:nvGrpSpPr>
            <p:grpSpPr bwMode="auto">
              <a:xfrm>
                <a:off x="0" y="8668"/>
                <a:ext cx="302" cy="788"/>
                <a:chOff x="0" y="8668"/>
                <a:chExt cx="302" cy="788"/>
              </a:xfrm>
            </p:grpSpPr>
            <p:sp>
              <p:nvSpPr>
                <p:cNvPr id="117979" name="Rectangle 345"/>
                <p:cNvSpPr>
                  <a:spLocks noChangeArrowheads="1"/>
                </p:cNvSpPr>
                <p:nvPr/>
              </p:nvSpPr>
              <p:spPr bwMode="auto">
                <a:xfrm>
                  <a:off x="43" y="8668"/>
                  <a:ext cx="216"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d</a:t>
                  </a:r>
                </a:p>
                <a:p>
                  <a:pPr algn="just" eaLnBrk="0" hangingPunct="0"/>
                  <a:endParaRPr kumimoji="1" lang="en-US" altLang="zh-CN" sz="1800">
                    <a:latin typeface="楷体_GB2312" pitchFamily="49" charset="-122"/>
                    <a:cs typeface="Times New Roman" charset="0"/>
                  </a:endParaRPr>
                </a:p>
              </p:txBody>
            </p:sp>
            <p:sp>
              <p:nvSpPr>
                <p:cNvPr id="117980" name="Rectangle 346"/>
                <p:cNvSpPr>
                  <a:spLocks noChangeArrowheads="1"/>
                </p:cNvSpPr>
                <p:nvPr/>
              </p:nvSpPr>
              <p:spPr bwMode="auto">
                <a:xfrm>
                  <a:off x="0" y="8668"/>
                  <a:ext cx="302"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83" name="Group 347"/>
              <p:cNvGrpSpPr>
                <a:grpSpLocks/>
              </p:cNvGrpSpPr>
              <p:nvPr/>
            </p:nvGrpSpPr>
            <p:grpSpPr bwMode="auto">
              <a:xfrm>
                <a:off x="302" y="8668"/>
                <a:ext cx="518" cy="788"/>
                <a:chOff x="302" y="8668"/>
                <a:chExt cx="518" cy="788"/>
              </a:xfrm>
            </p:grpSpPr>
            <p:sp>
              <p:nvSpPr>
                <p:cNvPr id="117977" name="Rectangle 348"/>
                <p:cNvSpPr>
                  <a:spLocks noChangeArrowheads="1"/>
                </p:cNvSpPr>
                <p:nvPr/>
              </p:nvSpPr>
              <p:spPr bwMode="auto">
                <a:xfrm>
                  <a:off x="345" y="8668"/>
                  <a:ext cx="43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命中</a:t>
                  </a:r>
                  <a:endParaRPr kumimoji="1" lang="zh-CN" altLang="en-US" sz="1800">
                    <a:latin typeface="楷体_GB2312" pitchFamily="49" charset="-122"/>
                    <a:cs typeface="Times New Roman" charset="0"/>
                  </a:endParaRPr>
                </a:p>
              </p:txBody>
            </p:sp>
            <p:sp>
              <p:nvSpPr>
                <p:cNvPr id="117978" name="Rectangle 349"/>
                <p:cNvSpPr>
                  <a:spLocks noChangeArrowheads="1"/>
                </p:cNvSpPr>
                <p:nvPr/>
              </p:nvSpPr>
              <p:spPr bwMode="auto">
                <a:xfrm>
                  <a:off x="302" y="8668"/>
                  <a:ext cx="518"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84" name="Group 350"/>
              <p:cNvGrpSpPr>
                <a:grpSpLocks/>
              </p:cNvGrpSpPr>
              <p:nvPr/>
            </p:nvGrpSpPr>
            <p:grpSpPr bwMode="auto">
              <a:xfrm>
                <a:off x="820" y="8668"/>
                <a:ext cx="374" cy="788"/>
                <a:chOff x="820" y="8668"/>
                <a:chExt cx="374" cy="788"/>
              </a:xfrm>
            </p:grpSpPr>
            <p:sp>
              <p:nvSpPr>
                <p:cNvPr id="117975" name="Rectangle 351"/>
                <p:cNvSpPr>
                  <a:spLocks noChangeArrowheads="1"/>
                </p:cNvSpPr>
                <p:nvPr/>
              </p:nvSpPr>
              <p:spPr bwMode="auto">
                <a:xfrm>
                  <a:off x="863" y="866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a/1</a:t>
                  </a:r>
                  <a:endParaRPr kumimoji="1" lang="en-US" altLang="zh-CN" sz="1800" dirty="0">
                    <a:latin typeface="楷体_GB2312" pitchFamily="49" charset="-122"/>
                    <a:cs typeface="Times New Roman" charset="0"/>
                  </a:endParaRPr>
                </a:p>
              </p:txBody>
            </p:sp>
            <p:sp>
              <p:nvSpPr>
                <p:cNvPr id="117976" name="Rectangle 352"/>
                <p:cNvSpPr>
                  <a:spLocks noChangeArrowheads="1"/>
                </p:cNvSpPr>
                <p:nvPr/>
              </p:nvSpPr>
              <p:spPr bwMode="auto">
                <a:xfrm>
                  <a:off x="820" y="866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85" name="Group 353"/>
              <p:cNvGrpSpPr>
                <a:grpSpLocks/>
              </p:cNvGrpSpPr>
              <p:nvPr/>
            </p:nvGrpSpPr>
            <p:grpSpPr bwMode="auto">
              <a:xfrm>
                <a:off x="1194" y="8668"/>
                <a:ext cx="374" cy="788"/>
                <a:chOff x="1194" y="8668"/>
                <a:chExt cx="374" cy="788"/>
              </a:xfrm>
            </p:grpSpPr>
            <p:sp>
              <p:nvSpPr>
                <p:cNvPr id="117973" name="Rectangle 354"/>
                <p:cNvSpPr>
                  <a:spLocks noChangeArrowheads="1"/>
                </p:cNvSpPr>
                <p:nvPr/>
              </p:nvSpPr>
              <p:spPr bwMode="auto">
                <a:xfrm>
                  <a:off x="1237" y="866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b/3</a:t>
                  </a:r>
                  <a:endParaRPr kumimoji="1" lang="en-US" altLang="zh-CN" sz="1800" dirty="0">
                    <a:latin typeface="楷体_GB2312" pitchFamily="49" charset="-122"/>
                    <a:cs typeface="Times New Roman" charset="0"/>
                  </a:endParaRPr>
                </a:p>
              </p:txBody>
            </p:sp>
            <p:sp>
              <p:nvSpPr>
                <p:cNvPr id="117974" name="Rectangle 355"/>
                <p:cNvSpPr>
                  <a:spLocks noChangeArrowheads="1"/>
                </p:cNvSpPr>
                <p:nvPr/>
              </p:nvSpPr>
              <p:spPr bwMode="auto">
                <a:xfrm>
                  <a:off x="1194" y="866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86" name="Group 356"/>
              <p:cNvGrpSpPr>
                <a:grpSpLocks/>
              </p:cNvGrpSpPr>
              <p:nvPr/>
            </p:nvGrpSpPr>
            <p:grpSpPr bwMode="auto">
              <a:xfrm>
                <a:off x="1568" y="8668"/>
                <a:ext cx="374" cy="788"/>
                <a:chOff x="1568" y="8668"/>
                <a:chExt cx="374" cy="788"/>
              </a:xfrm>
            </p:grpSpPr>
            <p:sp>
              <p:nvSpPr>
                <p:cNvPr id="117971" name="Rectangle 357"/>
                <p:cNvSpPr>
                  <a:spLocks noChangeArrowheads="1"/>
                </p:cNvSpPr>
                <p:nvPr/>
              </p:nvSpPr>
              <p:spPr bwMode="auto">
                <a:xfrm>
                  <a:off x="1611" y="866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c/3</a:t>
                  </a:r>
                  <a:endParaRPr kumimoji="1" lang="en-US" altLang="zh-CN" sz="1800" dirty="0">
                    <a:latin typeface="楷体_GB2312" pitchFamily="49" charset="-122"/>
                    <a:cs typeface="Times New Roman" charset="0"/>
                  </a:endParaRPr>
                </a:p>
              </p:txBody>
            </p:sp>
            <p:sp>
              <p:nvSpPr>
                <p:cNvPr id="117972" name="Rectangle 358"/>
                <p:cNvSpPr>
                  <a:spLocks noChangeArrowheads="1"/>
                </p:cNvSpPr>
                <p:nvPr/>
              </p:nvSpPr>
              <p:spPr bwMode="auto">
                <a:xfrm>
                  <a:off x="1568" y="866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87" name="Group 359"/>
              <p:cNvGrpSpPr>
                <a:grpSpLocks/>
              </p:cNvGrpSpPr>
              <p:nvPr/>
            </p:nvGrpSpPr>
            <p:grpSpPr bwMode="auto">
              <a:xfrm>
                <a:off x="1942" y="8668"/>
                <a:ext cx="374" cy="788"/>
                <a:chOff x="1942" y="8668"/>
                <a:chExt cx="374" cy="788"/>
              </a:xfrm>
            </p:grpSpPr>
            <p:sp>
              <p:nvSpPr>
                <p:cNvPr id="117969" name="Rectangle 360"/>
                <p:cNvSpPr>
                  <a:spLocks noChangeArrowheads="1"/>
                </p:cNvSpPr>
                <p:nvPr/>
              </p:nvSpPr>
              <p:spPr bwMode="auto">
                <a:xfrm>
                  <a:off x="1985" y="866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d/3</a:t>
                  </a:r>
                  <a:endParaRPr kumimoji="1" lang="en-US" altLang="zh-CN" sz="1800" dirty="0">
                    <a:latin typeface="楷体_GB2312" pitchFamily="49" charset="-122"/>
                    <a:cs typeface="Times New Roman" charset="0"/>
                  </a:endParaRPr>
                </a:p>
              </p:txBody>
            </p:sp>
            <p:sp>
              <p:nvSpPr>
                <p:cNvPr id="117970" name="Rectangle 361"/>
                <p:cNvSpPr>
                  <a:spLocks noChangeArrowheads="1"/>
                </p:cNvSpPr>
                <p:nvPr/>
              </p:nvSpPr>
              <p:spPr bwMode="auto">
                <a:xfrm>
                  <a:off x="1942" y="866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88" name="Group 362"/>
              <p:cNvGrpSpPr>
                <a:grpSpLocks/>
              </p:cNvGrpSpPr>
              <p:nvPr/>
            </p:nvGrpSpPr>
            <p:grpSpPr bwMode="auto">
              <a:xfrm>
                <a:off x="2316" y="8668"/>
                <a:ext cx="554" cy="788"/>
                <a:chOff x="2316" y="8668"/>
                <a:chExt cx="554" cy="788"/>
              </a:xfrm>
            </p:grpSpPr>
            <p:sp>
              <p:nvSpPr>
                <p:cNvPr id="117967" name="Rectangle 363"/>
                <p:cNvSpPr>
                  <a:spLocks noChangeArrowheads="1"/>
                </p:cNvSpPr>
                <p:nvPr/>
              </p:nvSpPr>
              <p:spPr bwMode="auto">
                <a:xfrm>
                  <a:off x="2359" y="8668"/>
                  <a:ext cx="46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命中</a:t>
                  </a:r>
                </a:p>
              </p:txBody>
            </p:sp>
            <p:sp>
              <p:nvSpPr>
                <p:cNvPr id="117968" name="Rectangle 364"/>
                <p:cNvSpPr>
                  <a:spLocks noChangeArrowheads="1"/>
                </p:cNvSpPr>
                <p:nvPr/>
              </p:nvSpPr>
              <p:spPr bwMode="auto">
                <a:xfrm>
                  <a:off x="2316" y="8668"/>
                  <a:ext cx="55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89" name="Group 365"/>
              <p:cNvGrpSpPr>
                <a:grpSpLocks/>
              </p:cNvGrpSpPr>
              <p:nvPr/>
            </p:nvGrpSpPr>
            <p:grpSpPr bwMode="auto">
              <a:xfrm>
                <a:off x="2870" y="8668"/>
                <a:ext cx="355" cy="788"/>
                <a:chOff x="2870" y="8668"/>
                <a:chExt cx="355" cy="788"/>
              </a:xfrm>
            </p:grpSpPr>
            <p:sp>
              <p:nvSpPr>
                <p:cNvPr id="117965" name="Rectangle 366"/>
                <p:cNvSpPr>
                  <a:spLocks noChangeArrowheads="1"/>
                </p:cNvSpPr>
                <p:nvPr/>
              </p:nvSpPr>
              <p:spPr bwMode="auto">
                <a:xfrm>
                  <a:off x="2913" y="8668"/>
                  <a:ext cx="31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a/9</a:t>
                  </a:r>
                  <a:endParaRPr kumimoji="1" lang="en-US" altLang="zh-CN" sz="1800" dirty="0">
                    <a:latin typeface="楷体_GB2312" pitchFamily="49" charset="-122"/>
                    <a:cs typeface="Times New Roman" charset="0"/>
                  </a:endParaRPr>
                </a:p>
              </p:txBody>
            </p:sp>
            <p:sp>
              <p:nvSpPr>
                <p:cNvPr id="117966" name="Rectangle 367"/>
                <p:cNvSpPr>
                  <a:spLocks noChangeArrowheads="1"/>
                </p:cNvSpPr>
                <p:nvPr/>
              </p:nvSpPr>
              <p:spPr bwMode="auto">
                <a:xfrm>
                  <a:off x="2870" y="8668"/>
                  <a:ext cx="355"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90" name="Group 368"/>
              <p:cNvGrpSpPr>
                <a:grpSpLocks/>
              </p:cNvGrpSpPr>
              <p:nvPr/>
            </p:nvGrpSpPr>
            <p:grpSpPr bwMode="auto">
              <a:xfrm>
                <a:off x="3225" y="8668"/>
                <a:ext cx="374" cy="788"/>
                <a:chOff x="3225" y="8668"/>
                <a:chExt cx="374" cy="788"/>
              </a:xfrm>
            </p:grpSpPr>
            <p:sp>
              <p:nvSpPr>
                <p:cNvPr id="117963" name="Rectangle 369"/>
                <p:cNvSpPr>
                  <a:spLocks noChangeArrowheads="1"/>
                </p:cNvSpPr>
                <p:nvPr/>
              </p:nvSpPr>
              <p:spPr bwMode="auto">
                <a:xfrm>
                  <a:off x="3268" y="866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b/4</a:t>
                  </a:r>
                  <a:endParaRPr kumimoji="1" lang="en-US" altLang="zh-CN" sz="1800" dirty="0">
                    <a:latin typeface="楷体_GB2312" pitchFamily="49" charset="-122"/>
                    <a:cs typeface="Times New Roman" charset="0"/>
                  </a:endParaRPr>
                </a:p>
              </p:txBody>
            </p:sp>
            <p:sp>
              <p:nvSpPr>
                <p:cNvPr id="117964" name="Rectangle 370"/>
                <p:cNvSpPr>
                  <a:spLocks noChangeArrowheads="1"/>
                </p:cNvSpPr>
                <p:nvPr/>
              </p:nvSpPr>
              <p:spPr bwMode="auto">
                <a:xfrm>
                  <a:off x="3225" y="866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91" name="Group 371"/>
              <p:cNvGrpSpPr>
                <a:grpSpLocks/>
              </p:cNvGrpSpPr>
              <p:nvPr/>
            </p:nvGrpSpPr>
            <p:grpSpPr bwMode="auto">
              <a:xfrm>
                <a:off x="3599" y="8668"/>
                <a:ext cx="374" cy="788"/>
                <a:chOff x="3599" y="8668"/>
                <a:chExt cx="374" cy="788"/>
              </a:xfrm>
            </p:grpSpPr>
            <p:sp>
              <p:nvSpPr>
                <p:cNvPr id="117961" name="Rectangle 372"/>
                <p:cNvSpPr>
                  <a:spLocks noChangeArrowheads="1"/>
                </p:cNvSpPr>
                <p:nvPr/>
              </p:nvSpPr>
              <p:spPr bwMode="auto">
                <a:xfrm>
                  <a:off x="3642" y="866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c/2</a:t>
                  </a:r>
                  <a:endParaRPr kumimoji="1" lang="en-US" altLang="zh-CN" sz="1800" dirty="0">
                    <a:latin typeface="楷体_GB2312" pitchFamily="49" charset="-122"/>
                    <a:cs typeface="Times New Roman" charset="0"/>
                  </a:endParaRPr>
                </a:p>
              </p:txBody>
            </p:sp>
            <p:sp>
              <p:nvSpPr>
                <p:cNvPr id="117962" name="Rectangle 373"/>
                <p:cNvSpPr>
                  <a:spLocks noChangeArrowheads="1"/>
                </p:cNvSpPr>
                <p:nvPr/>
              </p:nvSpPr>
              <p:spPr bwMode="auto">
                <a:xfrm>
                  <a:off x="3599" y="866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92" name="Group 374"/>
              <p:cNvGrpSpPr>
                <a:grpSpLocks/>
              </p:cNvGrpSpPr>
              <p:nvPr/>
            </p:nvGrpSpPr>
            <p:grpSpPr bwMode="auto">
              <a:xfrm>
                <a:off x="3973" y="8668"/>
                <a:ext cx="374" cy="788"/>
                <a:chOff x="3973" y="8668"/>
                <a:chExt cx="374" cy="788"/>
              </a:xfrm>
            </p:grpSpPr>
            <p:sp>
              <p:nvSpPr>
                <p:cNvPr id="117959" name="Rectangle 375"/>
                <p:cNvSpPr>
                  <a:spLocks noChangeArrowheads="1"/>
                </p:cNvSpPr>
                <p:nvPr/>
              </p:nvSpPr>
              <p:spPr bwMode="auto">
                <a:xfrm>
                  <a:off x="4016" y="8668"/>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d/0</a:t>
                  </a:r>
                  <a:endParaRPr kumimoji="1" lang="en-US" altLang="zh-CN" sz="1800" dirty="0">
                    <a:latin typeface="楷体_GB2312" pitchFamily="49" charset="-122"/>
                    <a:cs typeface="Times New Roman" charset="0"/>
                  </a:endParaRPr>
                </a:p>
              </p:txBody>
            </p:sp>
            <p:sp>
              <p:nvSpPr>
                <p:cNvPr id="117960" name="Rectangle 376"/>
                <p:cNvSpPr>
                  <a:spLocks noChangeArrowheads="1"/>
                </p:cNvSpPr>
                <p:nvPr/>
              </p:nvSpPr>
              <p:spPr bwMode="auto">
                <a:xfrm>
                  <a:off x="3973" y="8668"/>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93" name="Group 377"/>
              <p:cNvGrpSpPr>
                <a:grpSpLocks/>
              </p:cNvGrpSpPr>
              <p:nvPr/>
            </p:nvGrpSpPr>
            <p:grpSpPr bwMode="auto">
              <a:xfrm>
                <a:off x="0" y="9456"/>
                <a:ext cx="302" cy="788"/>
                <a:chOff x="0" y="9456"/>
                <a:chExt cx="302" cy="788"/>
              </a:xfrm>
            </p:grpSpPr>
            <p:sp>
              <p:nvSpPr>
                <p:cNvPr id="117957" name="Rectangle 378"/>
                <p:cNvSpPr>
                  <a:spLocks noChangeArrowheads="1"/>
                </p:cNvSpPr>
                <p:nvPr/>
              </p:nvSpPr>
              <p:spPr bwMode="auto">
                <a:xfrm>
                  <a:off x="43" y="9456"/>
                  <a:ext cx="216"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a</a:t>
                  </a:r>
                </a:p>
                <a:p>
                  <a:pPr algn="just" eaLnBrk="0" hangingPunct="0"/>
                  <a:endParaRPr kumimoji="1" lang="en-US" altLang="zh-CN" sz="1800">
                    <a:latin typeface="楷体_GB2312" pitchFamily="49" charset="-122"/>
                    <a:cs typeface="Times New Roman" charset="0"/>
                  </a:endParaRPr>
                </a:p>
              </p:txBody>
            </p:sp>
            <p:sp>
              <p:nvSpPr>
                <p:cNvPr id="117958" name="Rectangle 379"/>
                <p:cNvSpPr>
                  <a:spLocks noChangeArrowheads="1"/>
                </p:cNvSpPr>
                <p:nvPr/>
              </p:nvSpPr>
              <p:spPr bwMode="auto">
                <a:xfrm>
                  <a:off x="0" y="9456"/>
                  <a:ext cx="302"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94" name="Group 380"/>
              <p:cNvGrpSpPr>
                <a:grpSpLocks/>
              </p:cNvGrpSpPr>
              <p:nvPr/>
            </p:nvGrpSpPr>
            <p:grpSpPr bwMode="auto">
              <a:xfrm>
                <a:off x="302" y="9456"/>
                <a:ext cx="518" cy="788"/>
                <a:chOff x="302" y="9456"/>
                <a:chExt cx="518" cy="788"/>
              </a:xfrm>
            </p:grpSpPr>
            <p:sp>
              <p:nvSpPr>
                <p:cNvPr id="117955" name="Rectangle 381"/>
                <p:cNvSpPr>
                  <a:spLocks noChangeArrowheads="1"/>
                </p:cNvSpPr>
                <p:nvPr/>
              </p:nvSpPr>
              <p:spPr bwMode="auto">
                <a:xfrm>
                  <a:off x="345" y="9456"/>
                  <a:ext cx="43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命中</a:t>
                  </a:r>
                </a:p>
              </p:txBody>
            </p:sp>
            <p:sp>
              <p:nvSpPr>
                <p:cNvPr id="117956" name="Rectangle 382"/>
                <p:cNvSpPr>
                  <a:spLocks noChangeArrowheads="1"/>
                </p:cNvSpPr>
                <p:nvPr/>
              </p:nvSpPr>
              <p:spPr bwMode="auto">
                <a:xfrm>
                  <a:off x="302" y="9456"/>
                  <a:ext cx="518"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95" name="Group 383"/>
              <p:cNvGrpSpPr>
                <a:grpSpLocks/>
              </p:cNvGrpSpPr>
              <p:nvPr/>
            </p:nvGrpSpPr>
            <p:grpSpPr bwMode="auto">
              <a:xfrm>
                <a:off x="820" y="9456"/>
                <a:ext cx="374" cy="788"/>
                <a:chOff x="820" y="9456"/>
                <a:chExt cx="374" cy="788"/>
              </a:xfrm>
            </p:grpSpPr>
            <p:sp>
              <p:nvSpPr>
                <p:cNvPr id="117953" name="Rectangle 384"/>
                <p:cNvSpPr>
                  <a:spLocks noChangeArrowheads="1"/>
                </p:cNvSpPr>
                <p:nvPr/>
              </p:nvSpPr>
              <p:spPr bwMode="auto">
                <a:xfrm>
                  <a:off x="863" y="945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a/2</a:t>
                  </a:r>
                  <a:endParaRPr kumimoji="1" lang="en-US" altLang="zh-CN" sz="1800" dirty="0">
                    <a:latin typeface="楷体_GB2312" pitchFamily="49" charset="-122"/>
                    <a:cs typeface="Times New Roman" charset="0"/>
                  </a:endParaRPr>
                </a:p>
              </p:txBody>
            </p:sp>
            <p:sp>
              <p:nvSpPr>
                <p:cNvPr id="117954" name="Rectangle 385"/>
                <p:cNvSpPr>
                  <a:spLocks noChangeArrowheads="1"/>
                </p:cNvSpPr>
                <p:nvPr/>
              </p:nvSpPr>
              <p:spPr bwMode="auto">
                <a:xfrm>
                  <a:off x="820" y="945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96" name="Group 386"/>
              <p:cNvGrpSpPr>
                <a:grpSpLocks/>
              </p:cNvGrpSpPr>
              <p:nvPr/>
            </p:nvGrpSpPr>
            <p:grpSpPr bwMode="auto">
              <a:xfrm>
                <a:off x="1194" y="9456"/>
                <a:ext cx="374" cy="788"/>
                <a:chOff x="1194" y="9456"/>
                <a:chExt cx="374" cy="788"/>
              </a:xfrm>
            </p:grpSpPr>
            <p:sp>
              <p:nvSpPr>
                <p:cNvPr id="117951" name="Rectangle 387"/>
                <p:cNvSpPr>
                  <a:spLocks noChangeArrowheads="1"/>
                </p:cNvSpPr>
                <p:nvPr/>
              </p:nvSpPr>
              <p:spPr bwMode="auto">
                <a:xfrm>
                  <a:off x="1237" y="945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b/3</a:t>
                  </a:r>
                  <a:endParaRPr kumimoji="1" lang="en-US" altLang="zh-CN" sz="1800" dirty="0">
                    <a:latin typeface="楷体_GB2312" pitchFamily="49" charset="-122"/>
                    <a:cs typeface="Times New Roman" charset="0"/>
                  </a:endParaRPr>
                </a:p>
              </p:txBody>
            </p:sp>
            <p:sp>
              <p:nvSpPr>
                <p:cNvPr id="117952" name="Rectangle 388"/>
                <p:cNvSpPr>
                  <a:spLocks noChangeArrowheads="1"/>
                </p:cNvSpPr>
                <p:nvPr/>
              </p:nvSpPr>
              <p:spPr bwMode="auto">
                <a:xfrm>
                  <a:off x="1194" y="945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97" name="Group 389"/>
              <p:cNvGrpSpPr>
                <a:grpSpLocks/>
              </p:cNvGrpSpPr>
              <p:nvPr/>
            </p:nvGrpSpPr>
            <p:grpSpPr bwMode="auto">
              <a:xfrm>
                <a:off x="1568" y="9456"/>
                <a:ext cx="374" cy="788"/>
                <a:chOff x="1568" y="9456"/>
                <a:chExt cx="374" cy="788"/>
              </a:xfrm>
            </p:grpSpPr>
            <p:sp>
              <p:nvSpPr>
                <p:cNvPr id="117949" name="Rectangle 390"/>
                <p:cNvSpPr>
                  <a:spLocks noChangeArrowheads="1"/>
                </p:cNvSpPr>
                <p:nvPr/>
              </p:nvSpPr>
              <p:spPr bwMode="auto">
                <a:xfrm>
                  <a:off x="1611" y="945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c/3</a:t>
                  </a:r>
                  <a:endParaRPr kumimoji="1" lang="en-US" altLang="zh-CN" sz="1800" dirty="0">
                    <a:latin typeface="楷体_GB2312" pitchFamily="49" charset="-122"/>
                    <a:cs typeface="Times New Roman" charset="0"/>
                  </a:endParaRPr>
                </a:p>
              </p:txBody>
            </p:sp>
            <p:sp>
              <p:nvSpPr>
                <p:cNvPr id="117950" name="Rectangle 391"/>
                <p:cNvSpPr>
                  <a:spLocks noChangeArrowheads="1"/>
                </p:cNvSpPr>
                <p:nvPr/>
              </p:nvSpPr>
              <p:spPr bwMode="auto">
                <a:xfrm>
                  <a:off x="1568" y="945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98" name="Group 392"/>
              <p:cNvGrpSpPr>
                <a:grpSpLocks/>
              </p:cNvGrpSpPr>
              <p:nvPr/>
            </p:nvGrpSpPr>
            <p:grpSpPr bwMode="auto">
              <a:xfrm>
                <a:off x="1942" y="9456"/>
                <a:ext cx="374" cy="788"/>
                <a:chOff x="1942" y="9456"/>
                <a:chExt cx="374" cy="788"/>
              </a:xfrm>
            </p:grpSpPr>
            <p:sp>
              <p:nvSpPr>
                <p:cNvPr id="117947" name="Rectangle 393"/>
                <p:cNvSpPr>
                  <a:spLocks noChangeArrowheads="1"/>
                </p:cNvSpPr>
                <p:nvPr/>
              </p:nvSpPr>
              <p:spPr bwMode="auto">
                <a:xfrm>
                  <a:off x="1985" y="945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d/3</a:t>
                  </a:r>
                  <a:endParaRPr kumimoji="1" lang="en-US" altLang="zh-CN" sz="1800" dirty="0">
                    <a:latin typeface="楷体_GB2312" pitchFamily="49" charset="-122"/>
                    <a:cs typeface="Times New Roman" charset="0"/>
                  </a:endParaRPr>
                </a:p>
              </p:txBody>
            </p:sp>
            <p:sp>
              <p:nvSpPr>
                <p:cNvPr id="117948" name="Rectangle 394"/>
                <p:cNvSpPr>
                  <a:spLocks noChangeArrowheads="1"/>
                </p:cNvSpPr>
                <p:nvPr/>
              </p:nvSpPr>
              <p:spPr bwMode="auto">
                <a:xfrm>
                  <a:off x="1942" y="945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899" name="Group 395"/>
              <p:cNvGrpSpPr>
                <a:grpSpLocks/>
              </p:cNvGrpSpPr>
              <p:nvPr/>
            </p:nvGrpSpPr>
            <p:grpSpPr bwMode="auto">
              <a:xfrm>
                <a:off x="2316" y="9456"/>
                <a:ext cx="554" cy="788"/>
                <a:chOff x="2316" y="9456"/>
                <a:chExt cx="554" cy="788"/>
              </a:xfrm>
            </p:grpSpPr>
            <p:sp>
              <p:nvSpPr>
                <p:cNvPr id="117945" name="Rectangle 396"/>
                <p:cNvSpPr>
                  <a:spLocks noChangeArrowheads="1"/>
                </p:cNvSpPr>
                <p:nvPr/>
              </p:nvSpPr>
              <p:spPr bwMode="auto">
                <a:xfrm>
                  <a:off x="2359" y="9456"/>
                  <a:ext cx="46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命中</a:t>
                  </a:r>
                </a:p>
              </p:txBody>
            </p:sp>
            <p:sp>
              <p:nvSpPr>
                <p:cNvPr id="117946" name="Rectangle 397"/>
                <p:cNvSpPr>
                  <a:spLocks noChangeArrowheads="1"/>
                </p:cNvSpPr>
                <p:nvPr/>
              </p:nvSpPr>
              <p:spPr bwMode="auto">
                <a:xfrm>
                  <a:off x="2316" y="9456"/>
                  <a:ext cx="55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900" name="Group 398"/>
              <p:cNvGrpSpPr>
                <a:grpSpLocks/>
              </p:cNvGrpSpPr>
              <p:nvPr/>
            </p:nvGrpSpPr>
            <p:grpSpPr bwMode="auto">
              <a:xfrm>
                <a:off x="2870" y="9456"/>
                <a:ext cx="355" cy="788"/>
                <a:chOff x="2870" y="9456"/>
                <a:chExt cx="355" cy="788"/>
              </a:xfrm>
            </p:grpSpPr>
            <p:sp>
              <p:nvSpPr>
                <p:cNvPr id="117943" name="Rectangle 399"/>
                <p:cNvSpPr>
                  <a:spLocks noChangeArrowheads="1"/>
                </p:cNvSpPr>
                <p:nvPr/>
              </p:nvSpPr>
              <p:spPr bwMode="auto">
                <a:xfrm>
                  <a:off x="2913" y="9456"/>
                  <a:ext cx="31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a/0</a:t>
                  </a:r>
                  <a:endParaRPr kumimoji="1" lang="en-US" altLang="zh-CN" sz="1800" dirty="0">
                    <a:latin typeface="楷体_GB2312" pitchFamily="49" charset="-122"/>
                    <a:cs typeface="Times New Roman" charset="0"/>
                  </a:endParaRPr>
                </a:p>
              </p:txBody>
            </p:sp>
            <p:sp>
              <p:nvSpPr>
                <p:cNvPr id="117944" name="Rectangle 400"/>
                <p:cNvSpPr>
                  <a:spLocks noChangeArrowheads="1"/>
                </p:cNvSpPr>
                <p:nvPr/>
              </p:nvSpPr>
              <p:spPr bwMode="auto">
                <a:xfrm>
                  <a:off x="2870" y="9456"/>
                  <a:ext cx="355"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901" name="Group 401"/>
              <p:cNvGrpSpPr>
                <a:grpSpLocks/>
              </p:cNvGrpSpPr>
              <p:nvPr/>
            </p:nvGrpSpPr>
            <p:grpSpPr bwMode="auto">
              <a:xfrm>
                <a:off x="3225" y="9456"/>
                <a:ext cx="374" cy="788"/>
                <a:chOff x="3225" y="9456"/>
                <a:chExt cx="374" cy="788"/>
              </a:xfrm>
            </p:grpSpPr>
            <p:sp>
              <p:nvSpPr>
                <p:cNvPr id="117941" name="Rectangle 402"/>
                <p:cNvSpPr>
                  <a:spLocks noChangeArrowheads="1"/>
                </p:cNvSpPr>
                <p:nvPr/>
              </p:nvSpPr>
              <p:spPr bwMode="auto">
                <a:xfrm>
                  <a:off x="3268" y="945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b/5</a:t>
                  </a:r>
                  <a:endParaRPr kumimoji="1" lang="en-US" altLang="zh-CN" sz="1800" dirty="0">
                    <a:latin typeface="楷体_GB2312" pitchFamily="49" charset="-122"/>
                    <a:cs typeface="Times New Roman" charset="0"/>
                  </a:endParaRPr>
                </a:p>
              </p:txBody>
            </p:sp>
            <p:sp>
              <p:nvSpPr>
                <p:cNvPr id="117942" name="Rectangle 403"/>
                <p:cNvSpPr>
                  <a:spLocks noChangeArrowheads="1"/>
                </p:cNvSpPr>
                <p:nvPr/>
              </p:nvSpPr>
              <p:spPr bwMode="auto">
                <a:xfrm>
                  <a:off x="3225" y="945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902" name="Group 404"/>
              <p:cNvGrpSpPr>
                <a:grpSpLocks/>
              </p:cNvGrpSpPr>
              <p:nvPr/>
            </p:nvGrpSpPr>
            <p:grpSpPr bwMode="auto">
              <a:xfrm>
                <a:off x="3599" y="9456"/>
                <a:ext cx="374" cy="788"/>
                <a:chOff x="3599" y="9456"/>
                <a:chExt cx="374" cy="788"/>
              </a:xfrm>
            </p:grpSpPr>
            <p:sp>
              <p:nvSpPr>
                <p:cNvPr id="117939" name="Rectangle 405"/>
                <p:cNvSpPr>
                  <a:spLocks noChangeArrowheads="1"/>
                </p:cNvSpPr>
                <p:nvPr/>
              </p:nvSpPr>
              <p:spPr bwMode="auto">
                <a:xfrm>
                  <a:off x="3642" y="945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c/3</a:t>
                  </a:r>
                  <a:endParaRPr kumimoji="1" lang="en-US" altLang="zh-CN" sz="1800" dirty="0">
                    <a:latin typeface="楷体_GB2312" pitchFamily="49" charset="-122"/>
                    <a:cs typeface="Times New Roman" charset="0"/>
                  </a:endParaRPr>
                </a:p>
              </p:txBody>
            </p:sp>
            <p:sp>
              <p:nvSpPr>
                <p:cNvPr id="117940" name="Rectangle 406"/>
                <p:cNvSpPr>
                  <a:spLocks noChangeArrowheads="1"/>
                </p:cNvSpPr>
                <p:nvPr/>
              </p:nvSpPr>
              <p:spPr bwMode="auto">
                <a:xfrm>
                  <a:off x="3599" y="945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903" name="Group 407"/>
              <p:cNvGrpSpPr>
                <a:grpSpLocks/>
              </p:cNvGrpSpPr>
              <p:nvPr/>
            </p:nvGrpSpPr>
            <p:grpSpPr bwMode="auto">
              <a:xfrm>
                <a:off x="3973" y="9456"/>
                <a:ext cx="374" cy="788"/>
                <a:chOff x="3973" y="9456"/>
                <a:chExt cx="374" cy="788"/>
              </a:xfrm>
            </p:grpSpPr>
            <p:sp>
              <p:nvSpPr>
                <p:cNvPr id="117937" name="Rectangle 408"/>
                <p:cNvSpPr>
                  <a:spLocks noChangeArrowheads="1"/>
                </p:cNvSpPr>
                <p:nvPr/>
              </p:nvSpPr>
              <p:spPr bwMode="auto">
                <a:xfrm>
                  <a:off x="4016" y="9456"/>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d/1</a:t>
                  </a:r>
                  <a:endParaRPr kumimoji="1" lang="en-US" altLang="zh-CN" sz="1800" dirty="0">
                    <a:latin typeface="楷体_GB2312" pitchFamily="49" charset="-122"/>
                    <a:cs typeface="Times New Roman" charset="0"/>
                  </a:endParaRPr>
                </a:p>
              </p:txBody>
            </p:sp>
            <p:sp>
              <p:nvSpPr>
                <p:cNvPr id="117938" name="Rectangle 409"/>
                <p:cNvSpPr>
                  <a:spLocks noChangeArrowheads="1"/>
                </p:cNvSpPr>
                <p:nvPr/>
              </p:nvSpPr>
              <p:spPr bwMode="auto">
                <a:xfrm>
                  <a:off x="3973" y="9456"/>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904" name="Group 410"/>
              <p:cNvGrpSpPr>
                <a:grpSpLocks/>
              </p:cNvGrpSpPr>
              <p:nvPr/>
            </p:nvGrpSpPr>
            <p:grpSpPr bwMode="auto">
              <a:xfrm>
                <a:off x="0" y="10244"/>
                <a:ext cx="302" cy="788"/>
                <a:chOff x="0" y="10244"/>
                <a:chExt cx="302" cy="788"/>
              </a:xfrm>
            </p:grpSpPr>
            <p:sp>
              <p:nvSpPr>
                <p:cNvPr id="117935" name="Rectangle 411"/>
                <p:cNvSpPr>
                  <a:spLocks noChangeArrowheads="1"/>
                </p:cNvSpPr>
                <p:nvPr/>
              </p:nvSpPr>
              <p:spPr bwMode="auto">
                <a:xfrm>
                  <a:off x="43" y="10244"/>
                  <a:ext cx="216"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a:latin typeface="楷体_GB2312" pitchFamily="49" charset="-122"/>
                      <a:cs typeface="Times New Roman" charset="0"/>
                    </a:rPr>
                    <a:t>e</a:t>
                  </a:r>
                </a:p>
                <a:p>
                  <a:pPr algn="just" eaLnBrk="0" hangingPunct="0"/>
                  <a:endParaRPr kumimoji="1" lang="en-US" altLang="zh-CN" sz="1800">
                    <a:latin typeface="楷体_GB2312" pitchFamily="49" charset="-122"/>
                    <a:cs typeface="Times New Roman" charset="0"/>
                  </a:endParaRPr>
                </a:p>
              </p:txBody>
            </p:sp>
            <p:sp>
              <p:nvSpPr>
                <p:cNvPr id="117936" name="Rectangle 412"/>
                <p:cNvSpPr>
                  <a:spLocks noChangeArrowheads="1"/>
                </p:cNvSpPr>
                <p:nvPr/>
              </p:nvSpPr>
              <p:spPr bwMode="auto">
                <a:xfrm>
                  <a:off x="0" y="10244"/>
                  <a:ext cx="302"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905" name="Group 413"/>
              <p:cNvGrpSpPr>
                <a:grpSpLocks/>
              </p:cNvGrpSpPr>
              <p:nvPr/>
            </p:nvGrpSpPr>
            <p:grpSpPr bwMode="auto">
              <a:xfrm>
                <a:off x="302" y="10244"/>
                <a:ext cx="518" cy="788"/>
                <a:chOff x="302" y="10244"/>
                <a:chExt cx="518" cy="788"/>
              </a:xfrm>
            </p:grpSpPr>
            <p:sp>
              <p:nvSpPr>
                <p:cNvPr id="117933" name="Rectangle 414"/>
                <p:cNvSpPr>
                  <a:spLocks noChangeArrowheads="1"/>
                </p:cNvSpPr>
                <p:nvPr/>
              </p:nvSpPr>
              <p:spPr bwMode="auto">
                <a:xfrm>
                  <a:off x="345" y="10244"/>
                  <a:ext cx="43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替换</a:t>
                  </a:r>
                  <a:r>
                    <a:rPr kumimoji="1" lang="en-US" altLang="zh-CN" sz="1800">
                      <a:latin typeface="楷体_GB2312" pitchFamily="49" charset="-122"/>
                      <a:cs typeface="Times New Roman" charset="0"/>
                    </a:rPr>
                    <a:t>a</a:t>
                  </a:r>
                  <a:endParaRPr kumimoji="1" lang="en-US" altLang="zh-CN" sz="1800">
                    <a:latin typeface="楷体_GB2312" pitchFamily="49" charset="-122"/>
                  </a:endParaRPr>
                </a:p>
              </p:txBody>
            </p:sp>
            <p:sp>
              <p:nvSpPr>
                <p:cNvPr id="117934" name="Rectangle 415"/>
                <p:cNvSpPr>
                  <a:spLocks noChangeArrowheads="1"/>
                </p:cNvSpPr>
                <p:nvPr/>
              </p:nvSpPr>
              <p:spPr bwMode="auto">
                <a:xfrm>
                  <a:off x="302" y="10244"/>
                  <a:ext cx="518"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906" name="Group 416"/>
              <p:cNvGrpSpPr>
                <a:grpSpLocks/>
              </p:cNvGrpSpPr>
              <p:nvPr/>
            </p:nvGrpSpPr>
            <p:grpSpPr bwMode="auto">
              <a:xfrm>
                <a:off x="820" y="10244"/>
                <a:ext cx="374" cy="788"/>
                <a:chOff x="820" y="10244"/>
                <a:chExt cx="374" cy="788"/>
              </a:xfrm>
            </p:grpSpPr>
            <p:sp>
              <p:nvSpPr>
                <p:cNvPr id="117931" name="Rectangle 417"/>
                <p:cNvSpPr>
                  <a:spLocks noChangeArrowheads="1"/>
                </p:cNvSpPr>
                <p:nvPr/>
              </p:nvSpPr>
              <p:spPr bwMode="auto">
                <a:xfrm>
                  <a:off x="863" y="1024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e/1</a:t>
                  </a:r>
                  <a:endParaRPr kumimoji="1" lang="en-US" altLang="zh-CN" sz="1800" dirty="0">
                    <a:latin typeface="楷体_GB2312" pitchFamily="49" charset="-122"/>
                    <a:cs typeface="Times New Roman" charset="0"/>
                  </a:endParaRPr>
                </a:p>
              </p:txBody>
            </p:sp>
            <p:sp>
              <p:nvSpPr>
                <p:cNvPr id="117932" name="Rectangle 418"/>
                <p:cNvSpPr>
                  <a:spLocks noChangeArrowheads="1"/>
                </p:cNvSpPr>
                <p:nvPr/>
              </p:nvSpPr>
              <p:spPr bwMode="auto">
                <a:xfrm>
                  <a:off x="820" y="1024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907" name="Group 419"/>
              <p:cNvGrpSpPr>
                <a:grpSpLocks/>
              </p:cNvGrpSpPr>
              <p:nvPr/>
            </p:nvGrpSpPr>
            <p:grpSpPr bwMode="auto">
              <a:xfrm>
                <a:off x="1194" y="10244"/>
                <a:ext cx="374" cy="788"/>
                <a:chOff x="1194" y="10244"/>
                <a:chExt cx="374" cy="788"/>
              </a:xfrm>
            </p:grpSpPr>
            <p:sp>
              <p:nvSpPr>
                <p:cNvPr id="117929" name="Rectangle 420"/>
                <p:cNvSpPr>
                  <a:spLocks noChangeArrowheads="1"/>
                </p:cNvSpPr>
                <p:nvPr/>
              </p:nvSpPr>
              <p:spPr bwMode="auto">
                <a:xfrm>
                  <a:off x="1237" y="1024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b/0</a:t>
                  </a:r>
                  <a:endParaRPr kumimoji="1" lang="en-US" altLang="zh-CN" sz="1800" dirty="0">
                    <a:latin typeface="楷体_GB2312" pitchFamily="49" charset="-122"/>
                    <a:cs typeface="Times New Roman" charset="0"/>
                  </a:endParaRPr>
                </a:p>
              </p:txBody>
            </p:sp>
            <p:sp>
              <p:nvSpPr>
                <p:cNvPr id="117930" name="Rectangle 421"/>
                <p:cNvSpPr>
                  <a:spLocks noChangeArrowheads="1"/>
                </p:cNvSpPr>
                <p:nvPr/>
              </p:nvSpPr>
              <p:spPr bwMode="auto">
                <a:xfrm>
                  <a:off x="1194" y="1024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908" name="Group 422"/>
              <p:cNvGrpSpPr>
                <a:grpSpLocks/>
              </p:cNvGrpSpPr>
              <p:nvPr/>
            </p:nvGrpSpPr>
            <p:grpSpPr bwMode="auto">
              <a:xfrm>
                <a:off x="1568" y="10244"/>
                <a:ext cx="374" cy="788"/>
                <a:chOff x="1568" y="10244"/>
                <a:chExt cx="374" cy="788"/>
              </a:xfrm>
            </p:grpSpPr>
            <p:sp>
              <p:nvSpPr>
                <p:cNvPr id="117927" name="Rectangle 423"/>
                <p:cNvSpPr>
                  <a:spLocks noChangeArrowheads="1"/>
                </p:cNvSpPr>
                <p:nvPr/>
              </p:nvSpPr>
              <p:spPr bwMode="auto">
                <a:xfrm>
                  <a:off x="1611" y="1024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c/0</a:t>
                  </a:r>
                  <a:endParaRPr kumimoji="1" lang="en-US" altLang="zh-CN" sz="1800" dirty="0">
                    <a:latin typeface="楷体_GB2312" pitchFamily="49" charset="-122"/>
                    <a:cs typeface="Times New Roman" charset="0"/>
                  </a:endParaRPr>
                </a:p>
              </p:txBody>
            </p:sp>
            <p:sp>
              <p:nvSpPr>
                <p:cNvPr id="117928" name="Rectangle 424"/>
                <p:cNvSpPr>
                  <a:spLocks noChangeArrowheads="1"/>
                </p:cNvSpPr>
                <p:nvPr/>
              </p:nvSpPr>
              <p:spPr bwMode="auto">
                <a:xfrm>
                  <a:off x="1568" y="1024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909" name="Group 425"/>
              <p:cNvGrpSpPr>
                <a:grpSpLocks/>
              </p:cNvGrpSpPr>
              <p:nvPr/>
            </p:nvGrpSpPr>
            <p:grpSpPr bwMode="auto">
              <a:xfrm>
                <a:off x="1942" y="10244"/>
                <a:ext cx="374" cy="788"/>
                <a:chOff x="1942" y="10244"/>
                <a:chExt cx="374" cy="788"/>
              </a:xfrm>
            </p:grpSpPr>
            <p:sp>
              <p:nvSpPr>
                <p:cNvPr id="117925" name="Rectangle 426"/>
                <p:cNvSpPr>
                  <a:spLocks noChangeArrowheads="1"/>
                </p:cNvSpPr>
                <p:nvPr/>
              </p:nvSpPr>
              <p:spPr bwMode="auto">
                <a:xfrm>
                  <a:off x="1985" y="1024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d/0</a:t>
                  </a:r>
                  <a:endParaRPr kumimoji="1" lang="en-US" altLang="zh-CN" sz="1800" dirty="0">
                    <a:latin typeface="楷体_GB2312" pitchFamily="49" charset="-122"/>
                    <a:cs typeface="Times New Roman" charset="0"/>
                  </a:endParaRPr>
                </a:p>
              </p:txBody>
            </p:sp>
            <p:sp>
              <p:nvSpPr>
                <p:cNvPr id="117926" name="Rectangle 427"/>
                <p:cNvSpPr>
                  <a:spLocks noChangeArrowheads="1"/>
                </p:cNvSpPr>
                <p:nvPr/>
              </p:nvSpPr>
              <p:spPr bwMode="auto">
                <a:xfrm>
                  <a:off x="1942" y="1024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910" name="Group 428"/>
              <p:cNvGrpSpPr>
                <a:grpSpLocks/>
              </p:cNvGrpSpPr>
              <p:nvPr/>
            </p:nvGrpSpPr>
            <p:grpSpPr bwMode="auto">
              <a:xfrm>
                <a:off x="2316" y="10244"/>
                <a:ext cx="554" cy="788"/>
                <a:chOff x="2316" y="10244"/>
                <a:chExt cx="554" cy="788"/>
              </a:xfrm>
            </p:grpSpPr>
            <p:sp>
              <p:nvSpPr>
                <p:cNvPr id="117923" name="Rectangle 429"/>
                <p:cNvSpPr>
                  <a:spLocks noChangeArrowheads="1"/>
                </p:cNvSpPr>
                <p:nvPr/>
              </p:nvSpPr>
              <p:spPr bwMode="auto">
                <a:xfrm>
                  <a:off x="2359" y="10244"/>
                  <a:ext cx="46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zh-CN" altLang="en-US" sz="1800">
                      <a:latin typeface="楷体_GB2312" pitchFamily="49" charset="-122"/>
                    </a:rPr>
                    <a:t>替换</a:t>
                  </a:r>
                  <a:r>
                    <a:rPr kumimoji="1" lang="en-US" altLang="zh-CN" sz="1800">
                      <a:latin typeface="楷体_GB2312" pitchFamily="49" charset="-122"/>
                      <a:cs typeface="Times New Roman" charset="0"/>
                    </a:rPr>
                    <a:t>b</a:t>
                  </a:r>
                  <a:endParaRPr kumimoji="1" lang="en-US" altLang="zh-CN" sz="1800">
                    <a:latin typeface="楷体_GB2312" pitchFamily="49" charset="-122"/>
                  </a:endParaRPr>
                </a:p>
              </p:txBody>
            </p:sp>
            <p:sp>
              <p:nvSpPr>
                <p:cNvPr id="117924" name="Rectangle 430"/>
                <p:cNvSpPr>
                  <a:spLocks noChangeArrowheads="1"/>
                </p:cNvSpPr>
                <p:nvPr/>
              </p:nvSpPr>
              <p:spPr bwMode="auto">
                <a:xfrm>
                  <a:off x="2316" y="10244"/>
                  <a:ext cx="55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911" name="Group 431"/>
              <p:cNvGrpSpPr>
                <a:grpSpLocks/>
              </p:cNvGrpSpPr>
              <p:nvPr/>
            </p:nvGrpSpPr>
            <p:grpSpPr bwMode="auto">
              <a:xfrm>
                <a:off x="2870" y="10244"/>
                <a:ext cx="355" cy="788"/>
                <a:chOff x="2870" y="10244"/>
                <a:chExt cx="355" cy="788"/>
              </a:xfrm>
            </p:grpSpPr>
            <p:sp>
              <p:nvSpPr>
                <p:cNvPr id="117921" name="Rectangle 432"/>
                <p:cNvSpPr>
                  <a:spLocks noChangeArrowheads="1"/>
                </p:cNvSpPr>
                <p:nvPr/>
              </p:nvSpPr>
              <p:spPr bwMode="auto">
                <a:xfrm>
                  <a:off x="2913" y="10244"/>
                  <a:ext cx="312"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a/1</a:t>
                  </a:r>
                  <a:endParaRPr kumimoji="1" lang="en-US" altLang="zh-CN" sz="1800" dirty="0">
                    <a:latin typeface="楷体_GB2312" pitchFamily="49" charset="-122"/>
                    <a:cs typeface="Times New Roman" charset="0"/>
                  </a:endParaRPr>
                </a:p>
              </p:txBody>
            </p:sp>
            <p:sp>
              <p:nvSpPr>
                <p:cNvPr id="117922" name="Rectangle 433"/>
                <p:cNvSpPr>
                  <a:spLocks noChangeArrowheads="1"/>
                </p:cNvSpPr>
                <p:nvPr/>
              </p:nvSpPr>
              <p:spPr bwMode="auto">
                <a:xfrm>
                  <a:off x="2870" y="10244"/>
                  <a:ext cx="355"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912" name="Group 434"/>
              <p:cNvGrpSpPr>
                <a:grpSpLocks/>
              </p:cNvGrpSpPr>
              <p:nvPr/>
            </p:nvGrpSpPr>
            <p:grpSpPr bwMode="auto">
              <a:xfrm>
                <a:off x="3225" y="10244"/>
                <a:ext cx="374" cy="788"/>
                <a:chOff x="3225" y="10244"/>
                <a:chExt cx="374" cy="788"/>
              </a:xfrm>
            </p:grpSpPr>
            <p:sp>
              <p:nvSpPr>
                <p:cNvPr id="117919" name="Rectangle 435"/>
                <p:cNvSpPr>
                  <a:spLocks noChangeArrowheads="1"/>
                </p:cNvSpPr>
                <p:nvPr/>
              </p:nvSpPr>
              <p:spPr bwMode="auto">
                <a:xfrm>
                  <a:off x="3268" y="1024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e/0</a:t>
                  </a:r>
                  <a:endParaRPr kumimoji="1" lang="en-US" altLang="zh-CN" sz="1800" dirty="0">
                    <a:latin typeface="楷体_GB2312" pitchFamily="49" charset="-122"/>
                    <a:cs typeface="Times New Roman" charset="0"/>
                  </a:endParaRPr>
                </a:p>
              </p:txBody>
            </p:sp>
            <p:sp>
              <p:nvSpPr>
                <p:cNvPr id="117920" name="Rectangle 436"/>
                <p:cNvSpPr>
                  <a:spLocks noChangeArrowheads="1"/>
                </p:cNvSpPr>
                <p:nvPr/>
              </p:nvSpPr>
              <p:spPr bwMode="auto">
                <a:xfrm>
                  <a:off x="3225" y="1024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913" name="Group 437"/>
              <p:cNvGrpSpPr>
                <a:grpSpLocks/>
              </p:cNvGrpSpPr>
              <p:nvPr/>
            </p:nvGrpSpPr>
            <p:grpSpPr bwMode="auto">
              <a:xfrm>
                <a:off x="3599" y="10244"/>
                <a:ext cx="374" cy="788"/>
                <a:chOff x="3599" y="10244"/>
                <a:chExt cx="374" cy="788"/>
              </a:xfrm>
            </p:grpSpPr>
            <p:sp>
              <p:nvSpPr>
                <p:cNvPr id="117917" name="Rectangle 438"/>
                <p:cNvSpPr>
                  <a:spLocks noChangeArrowheads="1"/>
                </p:cNvSpPr>
                <p:nvPr/>
              </p:nvSpPr>
              <p:spPr bwMode="auto">
                <a:xfrm>
                  <a:off x="3642" y="1024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c/4</a:t>
                  </a:r>
                  <a:endParaRPr kumimoji="1" lang="en-US" altLang="zh-CN" sz="1800" dirty="0">
                    <a:latin typeface="楷体_GB2312" pitchFamily="49" charset="-122"/>
                    <a:cs typeface="Times New Roman" charset="0"/>
                  </a:endParaRPr>
                </a:p>
              </p:txBody>
            </p:sp>
            <p:sp>
              <p:nvSpPr>
                <p:cNvPr id="117918" name="Rectangle 439"/>
                <p:cNvSpPr>
                  <a:spLocks noChangeArrowheads="1"/>
                </p:cNvSpPr>
                <p:nvPr/>
              </p:nvSpPr>
              <p:spPr bwMode="auto">
                <a:xfrm>
                  <a:off x="3599" y="1024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117914" name="Group 440"/>
              <p:cNvGrpSpPr>
                <a:grpSpLocks/>
              </p:cNvGrpSpPr>
              <p:nvPr/>
            </p:nvGrpSpPr>
            <p:grpSpPr bwMode="auto">
              <a:xfrm>
                <a:off x="3973" y="10244"/>
                <a:ext cx="374" cy="788"/>
                <a:chOff x="3973" y="10244"/>
                <a:chExt cx="374" cy="788"/>
              </a:xfrm>
            </p:grpSpPr>
            <p:sp>
              <p:nvSpPr>
                <p:cNvPr id="117915" name="Rectangle 441"/>
                <p:cNvSpPr>
                  <a:spLocks noChangeArrowheads="1"/>
                </p:cNvSpPr>
                <p:nvPr/>
              </p:nvSpPr>
              <p:spPr bwMode="auto">
                <a:xfrm>
                  <a:off x="4016" y="10244"/>
                  <a:ext cx="28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r>
                    <a:rPr kumimoji="1" lang="en-US" altLang="zh-CN" sz="1800" dirty="0" smtClean="0">
                      <a:latin typeface="楷体_GB2312" pitchFamily="49" charset="-122"/>
                      <a:cs typeface="Times New Roman" charset="0"/>
                    </a:rPr>
                    <a:t>d/2</a:t>
                  </a:r>
                  <a:endParaRPr kumimoji="1" lang="en-US" altLang="zh-CN" sz="1800" dirty="0">
                    <a:latin typeface="楷体_GB2312" pitchFamily="49" charset="-122"/>
                    <a:cs typeface="Times New Roman" charset="0"/>
                  </a:endParaRPr>
                </a:p>
              </p:txBody>
            </p:sp>
            <p:sp>
              <p:nvSpPr>
                <p:cNvPr id="117916" name="Rectangle 442"/>
                <p:cNvSpPr>
                  <a:spLocks noChangeArrowheads="1"/>
                </p:cNvSpPr>
                <p:nvPr/>
              </p:nvSpPr>
              <p:spPr bwMode="auto">
                <a:xfrm>
                  <a:off x="3973" y="10244"/>
                  <a:ext cx="374" cy="78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sp>
          <p:nvSpPr>
            <p:cNvPr id="117768" name="Rectangle 443"/>
            <p:cNvSpPr>
              <a:spLocks noChangeArrowheads="1"/>
            </p:cNvSpPr>
            <p:nvPr/>
          </p:nvSpPr>
          <p:spPr bwMode="auto">
            <a:xfrm>
              <a:off x="-3" y="-3"/>
              <a:ext cx="4353" cy="11038"/>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117765" name="Rectangle 444"/>
          <p:cNvSpPr>
            <a:spLocks noChangeArrowheads="1"/>
          </p:cNvSpPr>
          <p:nvPr/>
        </p:nvSpPr>
        <p:spPr bwMode="auto">
          <a:xfrm>
            <a:off x="3175" y="11763375"/>
            <a:ext cx="91440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kumimoji="1" lang="en-US" altLang="zh-CN" sz="2600">
                <a:latin typeface="Times New Roman" charset="0"/>
                <a:ea typeface="宋体" pitchFamily="2" charset="-122"/>
                <a:cs typeface="Times New Roman" charset="0"/>
              </a:rPr>
              <a:t> </a:t>
            </a:r>
            <a:endParaRPr kumimoji="1" lang="en-US" altLang="zh-CN" sz="1200">
              <a:latin typeface="宋体" pitchFamily="2" charset="-122"/>
              <a:ea typeface="宋体" pitchFamily="2" charset="-122"/>
              <a:cs typeface="Times New Roman" charset="0"/>
            </a:endParaRPr>
          </a:p>
          <a:p>
            <a:pPr eaLnBrk="0" hangingPunct="0"/>
            <a:endParaRPr kumimoji="1" lang="en-US" altLang="zh-CN" sz="2400">
              <a:latin typeface="Times New Roman" charset="0"/>
              <a:ea typeface="宋体" pitchFamily="2" charset="-122"/>
              <a:cs typeface="Times New Roman" charset="0"/>
            </a:endParaRPr>
          </a:p>
        </p:txBody>
      </p:sp>
      <p:sp>
        <p:nvSpPr>
          <p:cNvPr id="117766" name="Rectangle 445"/>
          <p:cNvSpPr>
            <a:spLocks noChangeArrowheads="1"/>
          </p:cNvSpPr>
          <p:nvPr/>
        </p:nvSpPr>
        <p:spPr bwMode="auto">
          <a:xfrm>
            <a:off x="179388" y="188913"/>
            <a:ext cx="7705725" cy="14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spcBef>
                <a:spcPct val="50000"/>
              </a:spcBef>
              <a:buClr>
                <a:schemeClr val="tx2"/>
              </a:buClr>
              <a:buSzPct val="70000"/>
              <a:buFont typeface="Wingdings" pitchFamily="2" charset="2"/>
              <a:buNone/>
            </a:pPr>
            <a:r>
              <a:rPr lang="en-US" altLang="zh-CN" sz="2000">
                <a:latin typeface="楷体_GB2312" pitchFamily="49" charset="-122"/>
              </a:rPr>
              <a:t>[</a:t>
            </a:r>
            <a:r>
              <a:rPr lang="zh-CN" altLang="en-US" sz="2000">
                <a:latin typeface="楷体_GB2312" pitchFamily="49" charset="-122"/>
              </a:rPr>
              <a:t>例</a:t>
            </a:r>
            <a:r>
              <a:rPr lang="en-US" altLang="zh-CN" sz="2000">
                <a:latin typeface="楷体_GB2312" pitchFamily="49" charset="-122"/>
              </a:rPr>
              <a:t>] </a:t>
            </a:r>
            <a:r>
              <a:rPr lang="zh-CN" altLang="en-US" sz="2000">
                <a:latin typeface="楷体_GB2312" pitchFamily="49" charset="-122"/>
              </a:rPr>
              <a:t>设</a:t>
            </a:r>
            <a:r>
              <a:rPr lang="en-US" altLang="zh-CN" sz="2000">
                <a:latin typeface="楷体_GB2312" pitchFamily="49" charset="-122"/>
              </a:rPr>
              <a:t>cache</a:t>
            </a:r>
            <a:r>
              <a:rPr lang="zh-CN" altLang="en-US" sz="2000">
                <a:latin typeface="楷体_GB2312" pitchFamily="49" charset="-122"/>
              </a:rPr>
              <a:t>有</a:t>
            </a:r>
            <a:r>
              <a:rPr lang="en-US" altLang="zh-CN" sz="2000">
                <a:latin typeface="楷体_GB2312" pitchFamily="49" charset="-122"/>
              </a:rPr>
              <a:t>1</a:t>
            </a:r>
            <a:r>
              <a:rPr lang="zh-CN" altLang="en-US" sz="2000">
                <a:latin typeface="楷体_GB2312" pitchFamily="49" charset="-122"/>
              </a:rPr>
              <a:t>、</a:t>
            </a:r>
            <a:r>
              <a:rPr lang="en-US" altLang="zh-CN" sz="2000">
                <a:latin typeface="楷体_GB2312" pitchFamily="49" charset="-122"/>
              </a:rPr>
              <a:t>2</a:t>
            </a:r>
            <a:r>
              <a:rPr lang="zh-CN" altLang="en-US" sz="2000">
                <a:latin typeface="楷体_GB2312" pitchFamily="49" charset="-122"/>
              </a:rPr>
              <a:t>、</a:t>
            </a:r>
            <a:r>
              <a:rPr lang="en-US" altLang="zh-CN" sz="2000">
                <a:latin typeface="楷体_GB2312" pitchFamily="49" charset="-122"/>
              </a:rPr>
              <a:t>3</a:t>
            </a:r>
            <a:r>
              <a:rPr lang="zh-CN" altLang="en-US" sz="2000">
                <a:latin typeface="楷体_GB2312" pitchFamily="49" charset="-122"/>
              </a:rPr>
              <a:t>、</a:t>
            </a:r>
            <a:r>
              <a:rPr lang="en-US" altLang="zh-CN" sz="2000">
                <a:latin typeface="楷体_GB2312" pitchFamily="49" charset="-122"/>
              </a:rPr>
              <a:t>4</a:t>
            </a:r>
            <a:r>
              <a:rPr lang="zh-CN" altLang="en-US" sz="2000">
                <a:latin typeface="楷体_GB2312" pitchFamily="49" charset="-122"/>
              </a:rPr>
              <a:t>共</a:t>
            </a:r>
            <a:r>
              <a:rPr lang="en-US" altLang="zh-CN" sz="2000">
                <a:latin typeface="楷体_GB2312" pitchFamily="49" charset="-122"/>
              </a:rPr>
              <a:t>4</a:t>
            </a:r>
            <a:r>
              <a:rPr lang="zh-CN" altLang="en-US" sz="2000">
                <a:latin typeface="楷体_GB2312" pitchFamily="49" charset="-122"/>
              </a:rPr>
              <a:t>个块，</a:t>
            </a:r>
            <a:r>
              <a:rPr lang="en-US" altLang="zh-CN" sz="2000">
                <a:latin typeface="楷体_GB2312" pitchFamily="49" charset="-122"/>
              </a:rPr>
              <a:t>a</a:t>
            </a:r>
            <a:r>
              <a:rPr lang="zh-CN" altLang="en-US" sz="2000">
                <a:latin typeface="楷体_GB2312" pitchFamily="49" charset="-122"/>
              </a:rPr>
              <a:t>、</a:t>
            </a:r>
            <a:r>
              <a:rPr lang="en-US" altLang="zh-CN" sz="2000">
                <a:latin typeface="楷体_GB2312" pitchFamily="49" charset="-122"/>
              </a:rPr>
              <a:t>b</a:t>
            </a:r>
            <a:r>
              <a:rPr lang="zh-CN" altLang="en-US" sz="2000">
                <a:latin typeface="楷体_GB2312" pitchFamily="49" charset="-122"/>
              </a:rPr>
              <a:t>、</a:t>
            </a:r>
            <a:r>
              <a:rPr lang="en-US" altLang="zh-CN" sz="2000">
                <a:latin typeface="楷体_GB2312" pitchFamily="49" charset="-122"/>
              </a:rPr>
              <a:t>c</a:t>
            </a:r>
            <a:r>
              <a:rPr lang="zh-CN" altLang="en-US" sz="2000">
                <a:latin typeface="楷体_GB2312" pitchFamily="49" charset="-122"/>
              </a:rPr>
              <a:t>、</a:t>
            </a:r>
            <a:r>
              <a:rPr lang="en-US" altLang="zh-CN" sz="2000">
                <a:latin typeface="楷体_GB2312" pitchFamily="49" charset="-122"/>
              </a:rPr>
              <a:t>d</a:t>
            </a:r>
            <a:r>
              <a:rPr lang="zh-CN" altLang="en-US" sz="2000">
                <a:latin typeface="楷体_GB2312" pitchFamily="49" charset="-122"/>
              </a:rPr>
              <a:t>等为主存中的块</a:t>
            </a:r>
            <a:r>
              <a:rPr lang="en-US" altLang="zh-CN" sz="2000">
                <a:latin typeface="楷体_GB2312" pitchFamily="49" charset="-122"/>
              </a:rPr>
              <a:t>,</a:t>
            </a:r>
            <a:r>
              <a:rPr lang="zh-CN" altLang="en-US" sz="2000">
                <a:latin typeface="楷体_GB2312" pitchFamily="49" charset="-122"/>
              </a:rPr>
              <a:t>访问顺序一次如下：</a:t>
            </a:r>
            <a:r>
              <a:rPr lang="en-US" altLang="zh-CN" sz="2000">
                <a:latin typeface="楷体_GB2312" pitchFamily="49" charset="-122"/>
              </a:rPr>
              <a:t>a</a:t>
            </a:r>
            <a:r>
              <a:rPr lang="zh-CN" altLang="en-US" sz="2000">
                <a:latin typeface="楷体_GB2312" pitchFamily="49" charset="-122"/>
              </a:rPr>
              <a:t>、</a:t>
            </a:r>
            <a:r>
              <a:rPr lang="en-US" altLang="zh-CN" sz="2000">
                <a:latin typeface="楷体_GB2312" pitchFamily="49" charset="-122"/>
              </a:rPr>
              <a:t>b</a:t>
            </a:r>
            <a:r>
              <a:rPr lang="zh-CN" altLang="en-US" sz="2000">
                <a:latin typeface="楷体_GB2312" pitchFamily="49" charset="-122"/>
              </a:rPr>
              <a:t>、</a:t>
            </a:r>
            <a:r>
              <a:rPr lang="en-US" altLang="zh-CN" sz="2000">
                <a:latin typeface="楷体_GB2312" pitchFamily="49" charset="-122"/>
              </a:rPr>
              <a:t>c</a:t>
            </a:r>
            <a:r>
              <a:rPr lang="zh-CN" altLang="en-US" sz="2000">
                <a:latin typeface="楷体_GB2312" pitchFamily="49" charset="-122"/>
              </a:rPr>
              <a:t>、</a:t>
            </a:r>
            <a:r>
              <a:rPr lang="en-US" altLang="zh-CN" sz="2000">
                <a:latin typeface="楷体_GB2312" pitchFamily="49" charset="-122"/>
              </a:rPr>
              <a:t>d</a:t>
            </a:r>
            <a:r>
              <a:rPr lang="zh-CN" altLang="en-US" sz="2000">
                <a:latin typeface="楷体_GB2312" pitchFamily="49" charset="-122"/>
              </a:rPr>
              <a:t>、</a:t>
            </a:r>
            <a:r>
              <a:rPr lang="en-US" altLang="zh-CN" sz="2000">
                <a:latin typeface="楷体_GB2312" pitchFamily="49" charset="-122"/>
              </a:rPr>
              <a:t>b</a:t>
            </a:r>
            <a:r>
              <a:rPr lang="zh-CN" altLang="en-US" sz="2000">
                <a:latin typeface="楷体_GB2312" pitchFamily="49" charset="-122"/>
              </a:rPr>
              <a:t>、</a:t>
            </a:r>
            <a:r>
              <a:rPr lang="en-US" altLang="zh-CN" sz="2000">
                <a:latin typeface="楷体_GB2312" pitchFamily="49" charset="-122"/>
              </a:rPr>
              <a:t>b</a:t>
            </a:r>
            <a:r>
              <a:rPr lang="zh-CN" altLang="en-US" sz="2000">
                <a:latin typeface="楷体_GB2312" pitchFamily="49" charset="-122"/>
              </a:rPr>
              <a:t>、</a:t>
            </a:r>
            <a:r>
              <a:rPr lang="en-US" altLang="zh-CN" sz="2000">
                <a:latin typeface="楷体_GB2312" pitchFamily="49" charset="-122"/>
              </a:rPr>
              <a:t>c</a:t>
            </a:r>
            <a:r>
              <a:rPr lang="zh-CN" altLang="en-US" sz="2000">
                <a:latin typeface="楷体_GB2312" pitchFamily="49" charset="-122"/>
              </a:rPr>
              <a:t>、</a:t>
            </a:r>
            <a:r>
              <a:rPr lang="en-US" altLang="zh-CN" sz="2000">
                <a:latin typeface="楷体_GB2312" pitchFamily="49" charset="-122"/>
              </a:rPr>
              <a:t>c</a:t>
            </a:r>
            <a:r>
              <a:rPr lang="zh-CN" altLang="en-US" sz="2000">
                <a:latin typeface="楷体_GB2312" pitchFamily="49" charset="-122"/>
              </a:rPr>
              <a:t>、</a:t>
            </a:r>
            <a:r>
              <a:rPr lang="en-US" altLang="zh-CN" sz="2000">
                <a:latin typeface="楷体_GB2312" pitchFamily="49" charset="-122"/>
              </a:rPr>
              <a:t>d</a:t>
            </a:r>
            <a:r>
              <a:rPr lang="zh-CN" altLang="en-US" sz="2000">
                <a:latin typeface="楷体_GB2312" pitchFamily="49" charset="-122"/>
              </a:rPr>
              <a:t>、</a:t>
            </a:r>
            <a:r>
              <a:rPr lang="en-US" altLang="zh-CN" sz="2000">
                <a:latin typeface="楷体_GB2312" pitchFamily="49" charset="-122"/>
              </a:rPr>
              <a:t>d</a:t>
            </a:r>
            <a:r>
              <a:rPr lang="zh-CN" altLang="en-US" sz="2000">
                <a:latin typeface="楷体_GB2312" pitchFamily="49" charset="-122"/>
              </a:rPr>
              <a:t>、</a:t>
            </a:r>
            <a:r>
              <a:rPr lang="en-US" altLang="zh-CN" sz="2000">
                <a:latin typeface="楷体_GB2312" pitchFamily="49" charset="-122"/>
              </a:rPr>
              <a:t>a ,</a:t>
            </a:r>
            <a:r>
              <a:rPr lang="zh-CN" altLang="en-US" sz="2000">
                <a:latin typeface="楷体_GB2312" pitchFamily="49" charset="-122"/>
              </a:rPr>
              <a:t>下次若要再访问</a:t>
            </a:r>
            <a:r>
              <a:rPr lang="en-US" altLang="zh-CN" sz="2000">
                <a:latin typeface="楷体_GB2312" pitchFamily="49" charset="-122"/>
              </a:rPr>
              <a:t>e</a:t>
            </a:r>
            <a:r>
              <a:rPr lang="zh-CN" altLang="en-US" sz="2000">
                <a:latin typeface="楷体_GB2312" pitchFamily="49" charset="-122"/>
              </a:rPr>
              <a:t>块。</a:t>
            </a:r>
            <a:br>
              <a:rPr lang="zh-CN" altLang="en-US" sz="2000">
                <a:latin typeface="楷体_GB2312" pitchFamily="49" charset="-122"/>
              </a:rPr>
            </a:br>
            <a:r>
              <a:rPr lang="zh-CN" altLang="en-US" sz="2000">
                <a:latin typeface="楷体_GB2312" pitchFamily="49" charset="-122"/>
              </a:rPr>
              <a:t>问，采用</a:t>
            </a:r>
            <a:r>
              <a:rPr lang="en-US" altLang="zh-CN" sz="2000">
                <a:latin typeface="楷体_GB2312" pitchFamily="49" charset="-122"/>
              </a:rPr>
              <a:t>LFU</a:t>
            </a:r>
            <a:r>
              <a:rPr lang="zh-CN" altLang="en-US" sz="2000">
                <a:latin typeface="楷体_GB2312" pitchFamily="49" charset="-122"/>
              </a:rPr>
              <a:t>和</a:t>
            </a:r>
            <a:r>
              <a:rPr lang="en-US" altLang="zh-CN" sz="2000">
                <a:latin typeface="楷体_GB2312" pitchFamily="49" charset="-122"/>
              </a:rPr>
              <a:t>LRU</a:t>
            </a:r>
            <a:r>
              <a:rPr lang="zh-CN" altLang="en-US" sz="2000">
                <a:latin typeface="楷体_GB2312" pitchFamily="49" charset="-122"/>
              </a:rPr>
              <a:t>算法替换结果是不是相同？</a:t>
            </a:r>
            <a:r>
              <a:rPr lang="zh-CN" altLang="en-US"/>
              <a:t> </a:t>
            </a:r>
            <a:endParaRPr lang="zh-CN" altLang="en-US" sz="3300">
              <a:ea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AD3358E0-99B2-4BCB-92A0-BE5348A009D6}" type="slidenum">
              <a:rPr lang="en-US" altLang="zh-CN"/>
              <a:pPr>
                <a:defRPr/>
              </a:pPr>
              <a:t>99</a:t>
            </a:fld>
            <a:endParaRPr lang="en-US" altLang="zh-CN"/>
          </a:p>
        </p:txBody>
      </p:sp>
      <p:sp>
        <p:nvSpPr>
          <p:cNvPr id="118787" name="Rectangle 2"/>
          <p:cNvSpPr>
            <a:spLocks noGrp="1" noChangeArrowheads="1"/>
          </p:cNvSpPr>
          <p:nvPr>
            <p:ph type="title"/>
          </p:nvPr>
        </p:nvSpPr>
        <p:spPr>
          <a:xfrm>
            <a:off x="468313" y="404813"/>
            <a:ext cx="7543800" cy="642937"/>
          </a:xfrm>
        </p:spPr>
        <p:txBody>
          <a:bodyPr/>
          <a:lstStyle/>
          <a:p>
            <a:pPr eaLnBrk="1" hangingPunct="1"/>
            <a:r>
              <a:rPr lang="en-US" altLang="zh-CN" sz="3600" b="0" smtClean="0">
                <a:solidFill>
                  <a:schemeClr val="tx1"/>
                </a:solidFill>
                <a:latin typeface="楷体_GB2312" pitchFamily="49" charset="-122"/>
                <a:ea typeface="楷体_GB2312" pitchFamily="49" charset="-122"/>
              </a:rPr>
              <a:t>3.6.4</a:t>
            </a:r>
            <a:r>
              <a:rPr lang="zh-CN" altLang="en-US" sz="3600" b="0" smtClean="0">
                <a:solidFill>
                  <a:schemeClr val="tx1"/>
                </a:solidFill>
                <a:latin typeface="楷体_GB2312" pitchFamily="49" charset="-122"/>
                <a:ea typeface="楷体_GB2312" pitchFamily="49" charset="-122"/>
              </a:rPr>
              <a:t>写操作策略</a:t>
            </a:r>
          </a:p>
        </p:txBody>
      </p:sp>
      <p:sp>
        <p:nvSpPr>
          <p:cNvPr id="118788" name="Rectangle 3"/>
          <p:cNvSpPr>
            <a:spLocks noGrp="1" noChangeArrowheads="1"/>
          </p:cNvSpPr>
          <p:nvPr>
            <p:ph type="body" idx="1"/>
          </p:nvPr>
        </p:nvSpPr>
        <p:spPr>
          <a:xfrm>
            <a:off x="323850" y="1341438"/>
            <a:ext cx="7561263" cy="4411662"/>
          </a:xfrm>
        </p:spPr>
        <p:txBody>
          <a:bodyPr/>
          <a:lstStyle/>
          <a:p>
            <a:pPr eaLnBrk="1" hangingPunct="1"/>
            <a:r>
              <a:rPr lang="zh-CN" altLang="en-US" sz="2800" smtClean="0">
                <a:latin typeface="楷体_GB2312" pitchFamily="49" charset="-122"/>
                <a:ea typeface="楷体_GB2312" pitchFamily="49" charset="-122"/>
              </a:rPr>
              <a:t>由于</a:t>
            </a:r>
            <a:r>
              <a:rPr lang="en-US" altLang="zh-CN" sz="2800" smtClean="0">
                <a:latin typeface="楷体_GB2312" pitchFamily="49" charset="-122"/>
                <a:ea typeface="楷体_GB2312" pitchFamily="49" charset="-122"/>
              </a:rPr>
              <a:t>cache</a:t>
            </a:r>
            <a:r>
              <a:rPr lang="zh-CN" altLang="en-US" sz="2800" smtClean="0">
                <a:latin typeface="楷体_GB2312" pitchFamily="49" charset="-122"/>
                <a:ea typeface="楷体_GB2312" pitchFamily="49" charset="-122"/>
              </a:rPr>
              <a:t>的内容只是主存部分内容的拷贝，它应当与主存内容保持一致。而</a:t>
            </a:r>
            <a:r>
              <a:rPr lang="en-US" altLang="zh-CN" sz="2800" smtClean="0">
                <a:latin typeface="楷体_GB2312" pitchFamily="49" charset="-122"/>
                <a:ea typeface="楷体_GB2312" pitchFamily="49" charset="-122"/>
              </a:rPr>
              <a:t>CPU</a:t>
            </a:r>
            <a:r>
              <a:rPr lang="zh-CN" altLang="en-US" sz="2800" smtClean="0">
                <a:latin typeface="楷体_GB2312" pitchFamily="49" charset="-122"/>
                <a:ea typeface="楷体_GB2312" pitchFamily="49" charset="-122"/>
              </a:rPr>
              <a:t>对</a:t>
            </a:r>
            <a:r>
              <a:rPr lang="en-US" altLang="zh-CN" sz="2800" smtClean="0">
                <a:latin typeface="楷体_GB2312" pitchFamily="49" charset="-122"/>
                <a:ea typeface="楷体_GB2312" pitchFamily="49" charset="-122"/>
              </a:rPr>
              <a:t>cache</a:t>
            </a:r>
            <a:r>
              <a:rPr lang="zh-CN" altLang="en-US" sz="2800" smtClean="0">
                <a:latin typeface="楷体_GB2312" pitchFamily="49" charset="-122"/>
                <a:ea typeface="楷体_GB2312" pitchFamily="49" charset="-122"/>
              </a:rPr>
              <a:t>的写入更改了</a:t>
            </a:r>
            <a:r>
              <a:rPr lang="en-US" altLang="zh-CN" sz="2800" smtClean="0">
                <a:latin typeface="楷体_GB2312" pitchFamily="49" charset="-122"/>
                <a:ea typeface="楷体_GB2312" pitchFamily="49" charset="-122"/>
              </a:rPr>
              <a:t>cache</a:t>
            </a:r>
            <a:r>
              <a:rPr lang="zh-CN" altLang="en-US" sz="2800" smtClean="0">
                <a:latin typeface="楷体_GB2312" pitchFamily="49" charset="-122"/>
                <a:ea typeface="楷体_GB2312" pitchFamily="49" charset="-122"/>
              </a:rPr>
              <a:t>的内容。如何与主存内容保持一致，可选用如下三种写操作策略。</a:t>
            </a:r>
            <a:endParaRPr lang="zh-CN" altLang="en-US" sz="2800" smtClean="0">
              <a:solidFill>
                <a:srgbClr val="000000"/>
              </a:solidFill>
              <a:latin typeface="楷体_GB2312" pitchFamily="49" charset="-122"/>
              <a:ea typeface="楷体_GB2312" pitchFamily="49" charset="-122"/>
            </a:endParaRPr>
          </a:p>
          <a:p>
            <a:pPr lvl="1" eaLnBrk="1" hangingPunct="1">
              <a:buFont typeface="Wingdings" pitchFamily="2" charset="2"/>
              <a:buChar char="Ø"/>
            </a:pPr>
            <a:r>
              <a:rPr lang="zh-CN" altLang="en-US" sz="2800" smtClean="0">
                <a:solidFill>
                  <a:srgbClr val="000000"/>
                </a:solidFill>
                <a:latin typeface="楷体_GB2312" pitchFamily="49" charset="-122"/>
                <a:ea typeface="楷体_GB2312" pitchFamily="49" charset="-122"/>
              </a:rPr>
              <a:t>写回法：换出时，对行的修改位进行判断，决定是写回还是舍掉。</a:t>
            </a:r>
          </a:p>
          <a:p>
            <a:pPr lvl="1" eaLnBrk="1" hangingPunct="1">
              <a:buFont typeface="Wingdings" pitchFamily="2" charset="2"/>
              <a:buChar char="Ø"/>
            </a:pPr>
            <a:r>
              <a:rPr lang="zh-CN" altLang="en-US" sz="2800" smtClean="0">
                <a:solidFill>
                  <a:srgbClr val="000000"/>
                </a:solidFill>
                <a:latin typeface="楷体_GB2312" pitchFamily="49" charset="-122"/>
                <a:ea typeface="楷体_GB2312" pitchFamily="49" charset="-122"/>
              </a:rPr>
              <a:t>全写法：写命中时，</a:t>
            </a:r>
            <a:r>
              <a:rPr lang="en-US" altLang="zh-CN" sz="2800" smtClean="0">
                <a:solidFill>
                  <a:srgbClr val="000000"/>
                </a:solidFill>
                <a:latin typeface="楷体_GB2312" pitchFamily="49" charset="-122"/>
                <a:ea typeface="楷体_GB2312" pitchFamily="49" charset="-122"/>
              </a:rPr>
              <a:t>Cache</a:t>
            </a:r>
            <a:r>
              <a:rPr lang="zh-CN" altLang="en-US" sz="2800" smtClean="0">
                <a:solidFill>
                  <a:srgbClr val="000000"/>
                </a:solidFill>
                <a:latin typeface="楷体_GB2312" pitchFamily="49" charset="-122"/>
                <a:ea typeface="楷体_GB2312" pitchFamily="49" charset="-122"/>
              </a:rPr>
              <a:t>与内存一起写</a:t>
            </a:r>
          </a:p>
          <a:p>
            <a:pPr lvl="1" eaLnBrk="1" hangingPunct="1">
              <a:buFont typeface="Wingdings" pitchFamily="2" charset="2"/>
              <a:buChar char="Ø"/>
            </a:pPr>
            <a:r>
              <a:rPr lang="zh-CN" altLang="en-US" sz="2800" smtClean="0">
                <a:solidFill>
                  <a:srgbClr val="000000"/>
                </a:solidFill>
                <a:latin typeface="楷体_GB2312" pitchFamily="49" charset="-122"/>
                <a:ea typeface="楷体_GB2312" pitchFamily="49" charset="-122"/>
              </a:rPr>
              <a:t>写一次法：与写回法一致，但是第一次</a:t>
            </a:r>
            <a:r>
              <a:rPr lang="en-US" altLang="zh-CN" sz="2800" smtClean="0">
                <a:solidFill>
                  <a:srgbClr val="000000"/>
                </a:solidFill>
                <a:latin typeface="楷体_GB2312" pitchFamily="49" charset="-122"/>
                <a:ea typeface="楷体_GB2312" pitchFamily="49" charset="-122"/>
              </a:rPr>
              <a:t>Cache</a:t>
            </a:r>
            <a:r>
              <a:rPr lang="zh-CN" altLang="en-US" sz="2800" smtClean="0">
                <a:solidFill>
                  <a:srgbClr val="000000"/>
                </a:solidFill>
                <a:latin typeface="楷体_GB2312" pitchFamily="49" charset="-122"/>
                <a:ea typeface="楷体_GB2312" pitchFamily="49" charset="-122"/>
              </a:rPr>
              <a:t>命中时采用全写法。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C2A2B52B-C93B-43A8-A2D3-552FFF86E9B0}" type="slidenum">
              <a:rPr lang="en-US" altLang="zh-CN"/>
              <a:pPr>
                <a:defRPr/>
              </a:pPr>
              <a:t>100</a:t>
            </a:fld>
            <a:endParaRPr lang="en-US" altLang="zh-CN"/>
          </a:p>
        </p:txBody>
      </p:sp>
      <p:sp>
        <p:nvSpPr>
          <p:cNvPr id="119811" name="Rectangle 4"/>
          <p:cNvSpPr>
            <a:spLocks noChangeArrowheads="1"/>
          </p:cNvSpPr>
          <p:nvPr/>
        </p:nvSpPr>
        <p:spPr bwMode="auto">
          <a:xfrm>
            <a:off x="250825" y="587375"/>
            <a:ext cx="7705725" cy="558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r>
              <a:rPr lang="en-US" altLang="zh-CN" sz="2500">
                <a:latin typeface="楷体_GB2312" pitchFamily="49" charset="-122"/>
              </a:rPr>
              <a:t>★</a:t>
            </a:r>
            <a:r>
              <a:rPr lang="zh-CN" altLang="en-US" sz="2400">
                <a:latin typeface="楷体_GB2312" pitchFamily="49" charset="-122"/>
              </a:rPr>
              <a:t>写回法</a:t>
            </a:r>
          </a:p>
          <a:p>
            <a:r>
              <a:rPr lang="zh-CN" altLang="en-US" sz="2400">
                <a:latin typeface="楷体_GB2312" pitchFamily="49" charset="-122"/>
              </a:rPr>
              <a:t>　　当</a:t>
            </a:r>
            <a:r>
              <a:rPr lang="en-US" altLang="zh-CN" sz="2400">
                <a:latin typeface="楷体_GB2312" pitchFamily="49" charset="-122"/>
              </a:rPr>
              <a:t>CPU</a:t>
            </a:r>
            <a:r>
              <a:rPr lang="zh-CN" altLang="en-US" sz="2400">
                <a:latin typeface="楷体_GB2312" pitchFamily="49" charset="-122"/>
              </a:rPr>
              <a:t>写</a:t>
            </a:r>
            <a:r>
              <a:rPr lang="en-US" altLang="zh-CN" sz="2400">
                <a:latin typeface="楷体_GB2312" pitchFamily="49" charset="-122"/>
              </a:rPr>
              <a:t>cache</a:t>
            </a:r>
            <a:r>
              <a:rPr lang="zh-CN" altLang="en-US" sz="2400">
                <a:latin typeface="楷体_GB2312" pitchFamily="49" charset="-122"/>
              </a:rPr>
              <a:t>命中时，只修改</a:t>
            </a:r>
            <a:r>
              <a:rPr lang="en-US" altLang="zh-CN" sz="2400">
                <a:latin typeface="楷体_GB2312" pitchFamily="49" charset="-122"/>
              </a:rPr>
              <a:t>cache</a:t>
            </a:r>
            <a:r>
              <a:rPr lang="zh-CN" altLang="en-US" sz="2400">
                <a:latin typeface="楷体_GB2312" pitchFamily="49" charset="-122"/>
              </a:rPr>
              <a:t>的内容，而不立即写入主存；只有当此行被换出时才写回主存。这种方法使</a:t>
            </a:r>
            <a:r>
              <a:rPr lang="en-US" altLang="zh-CN" sz="2400">
                <a:latin typeface="楷体_GB2312" pitchFamily="49" charset="-122"/>
              </a:rPr>
              <a:t>cache</a:t>
            </a:r>
            <a:r>
              <a:rPr lang="zh-CN" altLang="en-US" sz="2400">
                <a:latin typeface="楷体_GB2312" pitchFamily="49" charset="-122"/>
              </a:rPr>
              <a:t>真正在</a:t>
            </a:r>
            <a:r>
              <a:rPr lang="en-US" altLang="zh-CN" sz="2400">
                <a:latin typeface="楷体_GB2312" pitchFamily="49" charset="-122"/>
              </a:rPr>
              <a:t>CPU</a:t>
            </a:r>
            <a:r>
              <a:rPr lang="en-US" altLang="zh-CN" sz="2400"/>
              <a:t>—</a:t>
            </a:r>
            <a:r>
              <a:rPr lang="zh-CN" altLang="en-US" sz="2400">
                <a:latin typeface="楷体_GB2312" pitchFamily="49" charset="-122"/>
              </a:rPr>
              <a:t>主存之间读／写两方面都起到高速缓存作用。对一个</a:t>
            </a:r>
            <a:r>
              <a:rPr lang="en-US" altLang="zh-CN" sz="2400">
                <a:latin typeface="楷体_GB2312" pitchFamily="49" charset="-122"/>
              </a:rPr>
              <a:t>cache</a:t>
            </a:r>
            <a:r>
              <a:rPr lang="zh-CN" altLang="en-US" sz="2400">
                <a:latin typeface="楷体_GB2312" pitchFamily="49" charset="-122"/>
              </a:rPr>
              <a:t>行的多次写命中都在</a:t>
            </a:r>
            <a:r>
              <a:rPr lang="en-US" altLang="zh-CN" sz="2400">
                <a:latin typeface="楷体_GB2312" pitchFamily="49" charset="-122"/>
              </a:rPr>
              <a:t>cache</a:t>
            </a:r>
            <a:r>
              <a:rPr lang="zh-CN" altLang="en-US" sz="2400">
                <a:latin typeface="楷体_GB2312" pitchFamily="49" charset="-122"/>
              </a:rPr>
              <a:t>中快速完成，只是需要替换时才写回速度较慢的主存，减少了访问主存的次数。实现这种方法时，每个</a:t>
            </a:r>
            <a:r>
              <a:rPr lang="en-US" altLang="zh-CN" sz="2400">
                <a:latin typeface="楷体_GB2312" pitchFamily="49" charset="-122"/>
              </a:rPr>
              <a:t>cache</a:t>
            </a:r>
            <a:r>
              <a:rPr lang="zh-CN" altLang="en-US" sz="2400">
                <a:latin typeface="楷体_GB2312" pitchFamily="49" charset="-122"/>
              </a:rPr>
              <a:t>行必须配置一个修改位，以反映此行是否被</a:t>
            </a:r>
            <a:r>
              <a:rPr lang="en-US" altLang="zh-CN" sz="2400">
                <a:latin typeface="楷体_GB2312" pitchFamily="49" charset="-122"/>
              </a:rPr>
              <a:t>CPU</a:t>
            </a:r>
            <a:r>
              <a:rPr lang="zh-CN" altLang="en-US" sz="2400">
                <a:latin typeface="楷体_GB2312" pitchFamily="49" charset="-122"/>
              </a:rPr>
              <a:t>修改过。当某行被换出时，根据此行修改位是</a:t>
            </a:r>
            <a:r>
              <a:rPr lang="en-US" altLang="zh-CN" sz="2400">
                <a:latin typeface="楷体_GB2312" pitchFamily="49" charset="-122"/>
              </a:rPr>
              <a:t>1</a:t>
            </a:r>
            <a:r>
              <a:rPr lang="zh-CN" altLang="en-US" sz="2400">
                <a:latin typeface="楷体_GB2312" pitchFamily="49" charset="-122"/>
              </a:rPr>
              <a:t>还是</a:t>
            </a:r>
            <a:r>
              <a:rPr lang="en-US" altLang="zh-CN" sz="2400">
                <a:latin typeface="楷体_GB2312" pitchFamily="49" charset="-122"/>
              </a:rPr>
              <a:t>0</a:t>
            </a:r>
            <a:r>
              <a:rPr lang="zh-CN" altLang="en-US" sz="2400">
                <a:latin typeface="楷体_GB2312" pitchFamily="49" charset="-122"/>
              </a:rPr>
              <a:t>，来决定将该行内容写回主存还是简单弃去。</a:t>
            </a:r>
            <a:br>
              <a:rPr lang="zh-CN" altLang="en-US" sz="2400">
                <a:latin typeface="楷体_GB2312" pitchFamily="49" charset="-122"/>
              </a:rPr>
            </a:br>
            <a:r>
              <a:rPr lang="zh-CN" altLang="en-US" sz="2400">
                <a:latin typeface="楷体_GB2312" pitchFamily="49" charset="-122"/>
              </a:rPr>
              <a:t>　　如果</a:t>
            </a:r>
            <a:r>
              <a:rPr lang="en-US" altLang="zh-CN" sz="2400">
                <a:latin typeface="楷体_GB2312" pitchFamily="49" charset="-122"/>
              </a:rPr>
              <a:t>CPU</a:t>
            </a:r>
            <a:r>
              <a:rPr lang="zh-CN" altLang="en-US" sz="2400">
                <a:latin typeface="楷体_GB2312" pitchFamily="49" charset="-122"/>
              </a:rPr>
              <a:t>写</a:t>
            </a:r>
            <a:r>
              <a:rPr lang="en-US" altLang="zh-CN" sz="2400">
                <a:latin typeface="楷体_GB2312" pitchFamily="49" charset="-122"/>
              </a:rPr>
              <a:t>cache</a:t>
            </a:r>
            <a:r>
              <a:rPr lang="zh-CN" altLang="en-US" sz="2400">
                <a:latin typeface="楷体_GB2312" pitchFamily="49" charset="-122"/>
              </a:rPr>
              <a:t>未命中，给包含欲写字的主存块在</a:t>
            </a:r>
            <a:r>
              <a:rPr lang="en-US" altLang="zh-CN" sz="2400">
                <a:latin typeface="楷体_GB2312" pitchFamily="49" charset="-122"/>
              </a:rPr>
              <a:t>cache</a:t>
            </a:r>
            <a:r>
              <a:rPr lang="zh-CN" altLang="en-US" sz="2400">
                <a:latin typeface="楷体_GB2312" pitchFamily="49" charset="-122"/>
              </a:rPr>
              <a:t>分配一行，将此块整个拷贝到</a:t>
            </a:r>
            <a:r>
              <a:rPr lang="en-US" altLang="zh-CN" sz="2400">
                <a:latin typeface="楷体_GB2312" pitchFamily="49" charset="-122"/>
              </a:rPr>
              <a:t>cache</a:t>
            </a:r>
            <a:r>
              <a:rPr lang="zh-CN" altLang="en-US" sz="2400">
                <a:latin typeface="楷体_GB2312" pitchFamily="49" charset="-122"/>
              </a:rPr>
              <a:t>后对其进行修改。主存的写修改操作统一地留到换出时再进行。显然，这种写</a:t>
            </a:r>
            <a:r>
              <a:rPr lang="en-US" altLang="zh-CN" sz="2400">
                <a:latin typeface="楷体_GB2312" pitchFamily="49" charset="-122"/>
              </a:rPr>
              <a:t>cache</a:t>
            </a:r>
            <a:r>
              <a:rPr lang="zh-CN" altLang="en-US" sz="2400">
                <a:latin typeface="楷体_GB2312" pitchFamily="49" charset="-122"/>
              </a:rPr>
              <a:t>与写主存异步进行的方式可显著减少写主存次数，但是存在不一致性的隐患。</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2472F046-A841-451C-984F-CDFDA5407B9E}" type="slidenum">
              <a:rPr lang="en-US" altLang="zh-CN"/>
              <a:pPr>
                <a:defRPr/>
              </a:pPr>
              <a:t>101</a:t>
            </a:fld>
            <a:endParaRPr lang="en-US" altLang="zh-CN"/>
          </a:p>
        </p:txBody>
      </p:sp>
      <p:sp>
        <p:nvSpPr>
          <p:cNvPr id="120835" name="Rectangle 4"/>
          <p:cNvSpPr>
            <a:spLocks noChangeArrowheads="1"/>
          </p:cNvSpPr>
          <p:nvPr/>
        </p:nvSpPr>
        <p:spPr bwMode="auto">
          <a:xfrm>
            <a:off x="323850" y="587375"/>
            <a:ext cx="7705725" cy="556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r>
              <a:rPr lang="en-US" altLang="zh-CN" sz="2400">
                <a:latin typeface="楷体_GB2312" pitchFamily="49" charset="-122"/>
              </a:rPr>
              <a:t>★</a:t>
            </a:r>
            <a:r>
              <a:rPr lang="zh-CN" altLang="en-US" sz="2400">
                <a:latin typeface="楷体_GB2312" pitchFamily="49" charset="-122"/>
              </a:rPr>
              <a:t>全写法 </a:t>
            </a:r>
          </a:p>
          <a:p>
            <a:r>
              <a:rPr lang="zh-CN" altLang="en-US" sz="2400">
                <a:latin typeface="楷体_GB2312" pitchFamily="49" charset="-122"/>
              </a:rPr>
              <a:t>　　当写</a:t>
            </a:r>
            <a:r>
              <a:rPr lang="en-US" altLang="zh-CN" sz="2400">
                <a:latin typeface="楷体_GB2312" pitchFamily="49" charset="-122"/>
              </a:rPr>
              <a:t>cache</a:t>
            </a:r>
            <a:r>
              <a:rPr lang="zh-CN" altLang="en-US" sz="2400">
                <a:latin typeface="楷体_GB2312" pitchFamily="49" charset="-122"/>
              </a:rPr>
              <a:t>命中时，</a:t>
            </a:r>
            <a:r>
              <a:rPr lang="en-US" altLang="zh-CN" sz="2400">
                <a:latin typeface="楷体_GB2312" pitchFamily="49" charset="-122"/>
              </a:rPr>
              <a:t>cache</a:t>
            </a:r>
            <a:r>
              <a:rPr lang="zh-CN" altLang="en-US" sz="2400">
                <a:latin typeface="楷体_GB2312" pitchFamily="49" charset="-122"/>
              </a:rPr>
              <a:t>与主存同时发生写修改，因而较好地维护了</a:t>
            </a:r>
            <a:r>
              <a:rPr lang="en-US" altLang="zh-CN" sz="2400">
                <a:latin typeface="楷体_GB2312" pitchFamily="49" charset="-122"/>
              </a:rPr>
              <a:t>cache</a:t>
            </a:r>
            <a:r>
              <a:rPr lang="zh-CN" altLang="en-US" sz="2400">
                <a:latin typeface="楷体_GB2312" pitchFamily="49" charset="-122"/>
              </a:rPr>
              <a:t>与主存的内容的一致性。当写</a:t>
            </a:r>
            <a:r>
              <a:rPr lang="en-US" altLang="zh-CN" sz="2400">
                <a:latin typeface="楷体_GB2312" pitchFamily="49" charset="-122"/>
              </a:rPr>
              <a:t>cache</a:t>
            </a:r>
            <a:r>
              <a:rPr lang="zh-CN" altLang="en-US" sz="2400">
                <a:latin typeface="楷体_GB2312" pitchFamily="49" charset="-122"/>
              </a:rPr>
              <a:t>未命中时，只能直接向主存进行写入。但此时是否将修改过的主存块取到</a:t>
            </a:r>
            <a:r>
              <a:rPr lang="en-US" altLang="zh-CN" sz="2400">
                <a:latin typeface="楷体_GB2312" pitchFamily="49" charset="-122"/>
              </a:rPr>
              <a:t>cache</a:t>
            </a:r>
            <a:r>
              <a:rPr lang="zh-CN" altLang="en-US" sz="2400">
                <a:latin typeface="楷体_GB2312" pitchFamily="49" charset="-122"/>
              </a:rPr>
              <a:t>，有两种选择方法：一种称为</a:t>
            </a:r>
            <a:r>
              <a:rPr lang="en-US" altLang="zh-CN" sz="2400">
                <a:latin typeface="楷体_GB2312" pitchFamily="49" charset="-122"/>
              </a:rPr>
              <a:t>WTWA</a:t>
            </a:r>
            <a:r>
              <a:rPr lang="zh-CN" altLang="en-US" sz="2400">
                <a:latin typeface="楷体_GB2312" pitchFamily="49" charset="-122"/>
              </a:rPr>
              <a:t>法，取主存块到</a:t>
            </a:r>
            <a:r>
              <a:rPr lang="en-US" altLang="zh-CN" sz="2400">
                <a:latin typeface="楷体_GB2312" pitchFamily="49" charset="-122"/>
              </a:rPr>
              <a:t>cache</a:t>
            </a:r>
            <a:r>
              <a:rPr lang="zh-CN" altLang="en-US" sz="2400">
                <a:latin typeface="楷体_GB2312" pitchFamily="49" charset="-122"/>
              </a:rPr>
              <a:t>并为它分配一个行位置；另一种称</a:t>
            </a:r>
            <a:r>
              <a:rPr lang="en-US" altLang="zh-CN" sz="2400">
                <a:latin typeface="楷体_GB2312" pitchFamily="49" charset="-122"/>
              </a:rPr>
              <a:t>WTNWA</a:t>
            </a:r>
            <a:r>
              <a:rPr lang="zh-CN" altLang="en-US" sz="2400">
                <a:latin typeface="楷体_GB2312" pitchFamily="49" charset="-122"/>
              </a:rPr>
              <a:t>法，不取主存块到</a:t>
            </a:r>
            <a:r>
              <a:rPr lang="en-US" altLang="zh-CN" sz="2400">
                <a:latin typeface="楷体_GB2312" pitchFamily="49" charset="-122"/>
              </a:rPr>
              <a:t>cache</a:t>
            </a:r>
            <a:r>
              <a:rPr lang="zh-CN" altLang="en-US" sz="2400">
                <a:latin typeface="楷体_GB2312" pitchFamily="49" charset="-122"/>
              </a:rPr>
              <a:t>。</a:t>
            </a:r>
            <a:br>
              <a:rPr lang="zh-CN" altLang="en-US" sz="2400">
                <a:latin typeface="楷体_GB2312" pitchFamily="49" charset="-122"/>
              </a:rPr>
            </a:br>
            <a:r>
              <a:rPr lang="zh-CN" altLang="en-US" sz="2400">
                <a:latin typeface="楷体_GB2312" pitchFamily="49" charset="-122"/>
              </a:rPr>
              <a:t>　　全写法是写</a:t>
            </a:r>
            <a:r>
              <a:rPr lang="en-US" altLang="zh-CN" sz="2400">
                <a:latin typeface="楷体_GB2312" pitchFamily="49" charset="-122"/>
              </a:rPr>
              <a:t>cache</a:t>
            </a:r>
            <a:r>
              <a:rPr lang="zh-CN" altLang="en-US" sz="2400">
                <a:latin typeface="楷体_GB2312" pitchFamily="49" charset="-122"/>
              </a:rPr>
              <a:t>与写主存同步进行，优点是</a:t>
            </a:r>
            <a:r>
              <a:rPr lang="en-US" altLang="zh-CN" sz="2400">
                <a:latin typeface="楷体_GB2312" pitchFamily="49" charset="-122"/>
              </a:rPr>
              <a:t>cache</a:t>
            </a:r>
            <a:r>
              <a:rPr lang="zh-CN" altLang="en-US" sz="2400">
                <a:latin typeface="楷体_GB2312" pitchFamily="49" charset="-122"/>
              </a:rPr>
              <a:t>中每行无需设置一个修改位，以及相应的判断逻辑。缺点是，</a:t>
            </a:r>
            <a:r>
              <a:rPr lang="en-US" altLang="zh-CN" sz="2400">
                <a:latin typeface="楷体_GB2312" pitchFamily="49" charset="-122"/>
              </a:rPr>
              <a:t>cache</a:t>
            </a:r>
            <a:r>
              <a:rPr lang="zh-CN" altLang="en-US" sz="2400">
                <a:latin typeface="楷体_GB2312" pitchFamily="49" charset="-122"/>
              </a:rPr>
              <a:t>对</a:t>
            </a:r>
            <a:r>
              <a:rPr lang="en-US" altLang="zh-CN" sz="2400">
                <a:latin typeface="楷体_GB2312" pitchFamily="49" charset="-122"/>
              </a:rPr>
              <a:t>CPU</a:t>
            </a:r>
            <a:r>
              <a:rPr lang="zh-CN" altLang="en-US" sz="2400">
                <a:latin typeface="楷体_GB2312" pitchFamily="49" charset="-122"/>
              </a:rPr>
              <a:t>向主存的写操作无高速缓冲功能，降低了</a:t>
            </a:r>
            <a:r>
              <a:rPr lang="en-US" altLang="zh-CN" sz="2400">
                <a:latin typeface="楷体_GB2312" pitchFamily="49" charset="-122"/>
              </a:rPr>
              <a:t>cache</a:t>
            </a:r>
            <a:r>
              <a:rPr lang="zh-CN" altLang="en-US" sz="2400">
                <a:latin typeface="楷体_GB2312" pitchFamily="49" charset="-122"/>
              </a:rPr>
              <a:t>的功效。</a:t>
            </a:r>
          </a:p>
          <a:p>
            <a:r>
              <a:rPr lang="zh-CN" altLang="en-US" sz="2400">
                <a:latin typeface="楷体_GB2312" pitchFamily="49" charset="-122"/>
              </a:rPr>
              <a:t>★写一次法 </a:t>
            </a:r>
          </a:p>
          <a:p>
            <a:r>
              <a:rPr lang="zh-CN" altLang="en-US" sz="2400">
                <a:latin typeface="楷体_GB2312" pitchFamily="49" charset="-122"/>
              </a:rPr>
              <a:t>　　基于写回法并结合全写法的写策略</a:t>
            </a:r>
            <a:r>
              <a:rPr lang="en-US" altLang="zh-CN" sz="2400">
                <a:latin typeface="楷体_GB2312" pitchFamily="49" charset="-122"/>
              </a:rPr>
              <a:t>,</a:t>
            </a:r>
            <a:r>
              <a:rPr lang="zh-CN" altLang="en-US" sz="2400">
                <a:latin typeface="楷体_GB2312" pitchFamily="49" charset="-122"/>
              </a:rPr>
              <a:t>写命中与写未命中的处理方法与写回法基本相同，只是第一次写命中时要同时写入主存。这便于维护系统全部</a:t>
            </a:r>
            <a:r>
              <a:rPr lang="en-US" altLang="zh-CN" sz="2400">
                <a:latin typeface="楷体_GB2312" pitchFamily="49" charset="-122"/>
              </a:rPr>
              <a:t>cache</a:t>
            </a:r>
            <a:r>
              <a:rPr lang="zh-CN" altLang="en-US" sz="2400">
                <a:latin typeface="楷体_GB2312" pitchFamily="49" charset="-122"/>
              </a:rPr>
              <a:t>的一致性。</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152400" y="152400"/>
            <a:ext cx="7543800" cy="573088"/>
          </a:xfrm>
        </p:spPr>
        <p:txBody>
          <a:bodyPr/>
          <a:lstStyle/>
          <a:p>
            <a:r>
              <a:rPr lang="en-US" altLang="zh-CN" dirty="0" smtClean="0">
                <a:latin typeface="宋体" pitchFamily="2" charset="-122"/>
              </a:rPr>
              <a:t>3.7 </a:t>
            </a:r>
            <a:r>
              <a:rPr lang="zh-CN" altLang="en-US" dirty="0" smtClean="0">
                <a:latin typeface="宋体" pitchFamily="2" charset="-122"/>
              </a:rPr>
              <a:t>虚拟存储器</a:t>
            </a:r>
          </a:p>
        </p:txBody>
      </p:sp>
      <p:sp>
        <p:nvSpPr>
          <p:cNvPr id="125955" name="Rectangle 5"/>
          <p:cNvSpPr>
            <a:spLocks noGrp="1" noChangeArrowheads="1"/>
          </p:cNvSpPr>
          <p:nvPr>
            <p:ph type="body" idx="1"/>
          </p:nvPr>
        </p:nvSpPr>
        <p:spPr>
          <a:xfrm>
            <a:off x="304800" y="838200"/>
            <a:ext cx="8610600" cy="5791200"/>
          </a:xfrm>
          <a:solidFill>
            <a:srgbClr val="CCECFF"/>
          </a:solidFill>
        </p:spPr>
        <p:txBody>
          <a:bodyPr/>
          <a:lstStyle/>
          <a:p>
            <a:pPr>
              <a:lnSpc>
                <a:spcPct val="90000"/>
              </a:lnSpc>
              <a:spcBef>
                <a:spcPct val="0"/>
              </a:spcBef>
              <a:buClrTx/>
              <a:buSzTx/>
              <a:buFontTx/>
              <a:buNone/>
            </a:pPr>
            <a:r>
              <a:rPr lang="en-US" altLang="zh-CN" sz="3200" b="1" dirty="0" smtClean="0">
                <a:latin typeface="宋体" pitchFamily="2" charset="-122"/>
              </a:rPr>
              <a:t>3.7.1 </a:t>
            </a:r>
            <a:r>
              <a:rPr lang="zh-CN" altLang="en-US" sz="3200" b="1" dirty="0" smtClean="0">
                <a:latin typeface="宋体" pitchFamily="2" charset="-122"/>
              </a:rPr>
              <a:t>虚拟存储器的基本概念</a:t>
            </a:r>
          </a:p>
          <a:p>
            <a:pPr>
              <a:lnSpc>
                <a:spcPct val="90000"/>
              </a:lnSpc>
              <a:buFont typeface="Wingdings" pitchFamily="2" charset="2"/>
              <a:buNone/>
            </a:pPr>
            <a:r>
              <a:rPr lang="zh-CN" altLang="en-US" sz="3200" dirty="0" smtClean="0">
                <a:latin typeface="宋体" pitchFamily="2" charset="-122"/>
              </a:rPr>
              <a:t>  构造虚拟存储器一般有两个动机：</a:t>
            </a:r>
          </a:p>
          <a:p>
            <a:pPr>
              <a:lnSpc>
                <a:spcPct val="90000"/>
              </a:lnSpc>
            </a:pPr>
            <a:r>
              <a:rPr lang="zh-CN" altLang="en-US" sz="3200" dirty="0" smtClean="0">
                <a:latin typeface="宋体" pitchFamily="2" charset="-122"/>
              </a:rPr>
              <a:t>第一个就是允许多个程序有效而安全地共享存储器以及消除因为内存小而有限的存储器容量可能给编程造成的障碍。</a:t>
            </a:r>
          </a:p>
          <a:p>
            <a:pPr>
              <a:lnSpc>
                <a:spcPct val="90000"/>
              </a:lnSpc>
            </a:pPr>
            <a:r>
              <a:rPr lang="zh-CN" altLang="en-US" sz="3200" dirty="0" smtClean="0">
                <a:latin typeface="宋体" pitchFamily="2" charset="-122"/>
              </a:rPr>
              <a:t>第二个动机就是允许单用户程序的大小超过内存储器的容量。</a:t>
            </a:r>
          </a:p>
          <a:p>
            <a:pPr>
              <a:lnSpc>
                <a:spcPct val="90000"/>
              </a:lnSpc>
              <a:buFont typeface="Wingdings" pitchFamily="2" charset="2"/>
              <a:buNone/>
            </a:pPr>
            <a:r>
              <a:rPr lang="zh-CN" altLang="en-US" sz="3200" dirty="0" smtClean="0">
                <a:latin typeface="宋体" pitchFamily="2" charset="-122"/>
              </a:rPr>
              <a:t>      通过采用将数据换入换出物理内存的方式，使</a:t>
            </a:r>
            <a:r>
              <a:rPr lang="en-US" altLang="zh-CN" sz="3200" dirty="0" smtClean="0">
                <a:latin typeface="宋体" pitchFamily="2" charset="-122"/>
              </a:rPr>
              <a:t>CPU</a:t>
            </a:r>
            <a:r>
              <a:rPr lang="zh-CN" altLang="en-US" sz="3200" dirty="0" smtClean="0">
                <a:latin typeface="宋体" pitchFamily="2" charset="-122"/>
              </a:rPr>
              <a:t>感觉到它有比实际更大的内存，</a:t>
            </a:r>
            <a:r>
              <a:rPr lang="en-US" altLang="zh-CN" sz="3200" dirty="0" smtClean="0">
                <a:latin typeface="宋体" pitchFamily="2" charset="-122"/>
              </a:rPr>
              <a:t>CPU</a:t>
            </a:r>
            <a:r>
              <a:rPr lang="zh-CN" altLang="en-US" sz="3200" dirty="0" smtClean="0">
                <a:latin typeface="宋体" pitchFamily="2" charset="-122"/>
              </a:rPr>
              <a:t>可以访问比计算机中的物理内存更大的存储空间。</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3"/>
          <p:cNvSpPr>
            <a:spLocks noChangeArrowheads="1"/>
          </p:cNvSpPr>
          <p:nvPr/>
        </p:nvSpPr>
        <p:spPr bwMode="auto">
          <a:xfrm>
            <a:off x="457200" y="152400"/>
            <a:ext cx="8077200" cy="65008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kumimoji="1" lang="en-US" altLang="zh-CN">
                <a:latin typeface="宋体" pitchFamily="2" charset="-122"/>
              </a:rPr>
              <a:t>    </a:t>
            </a:r>
            <a:r>
              <a:rPr kumimoji="1" lang="zh-CN" altLang="en-US">
                <a:latin typeface="宋体" pitchFamily="2" charset="-122"/>
              </a:rPr>
              <a:t>在这个大空间里，用户可以自由编程，完全不必考虑程序在主存是否装得下以及这些程序将来在主存中的实际存放位置。它借助于磁盘等辅助存储器来扩大主存容量。</a:t>
            </a:r>
          </a:p>
          <a:p>
            <a:pPr>
              <a:spcBef>
                <a:spcPct val="50000"/>
              </a:spcBef>
            </a:pPr>
            <a:r>
              <a:rPr lang="en-US" altLang="zh-CN">
                <a:latin typeface="宋体" pitchFamily="2" charset="-122"/>
              </a:rPr>
              <a:t>1.</a:t>
            </a:r>
            <a:r>
              <a:rPr lang="zh-CN" altLang="en-US">
                <a:latin typeface="宋体" pitchFamily="2" charset="-122"/>
              </a:rPr>
              <a:t>实地址与虚地址</a:t>
            </a:r>
          </a:p>
          <a:p>
            <a:pPr>
              <a:spcBef>
                <a:spcPct val="50000"/>
              </a:spcBef>
              <a:buFont typeface="Wingdings" pitchFamily="2" charset="2"/>
              <a:buChar char="v"/>
            </a:pPr>
            <a:r>
              <a:rPr lang="zh-CN" altLang="en-US">
                <a:latin typeface="宋体" pitchFamily="2" charset="-122"/>
              </a:rPr>
              <a:t> 用户编制程序时使用的地址称为虚地址或逻辑地址，其对应的存储空间称为虚存空间或逻辑地址空间；</a:t>
            </a:r>
          </a:p>
          <a:p>
            <a:pPr>
              <a:spcBef>
                <a:spcPct val="50000"/>
              </a:spcBef>
              <a:buFont typeface="Wingdings" pitchFamily="2" charset="2"/>
              <a:buChar char="v"/>
            </a:pPr>
            <a:r>
              <a:rPr lang="zh-CN" altLang="en-US">
                <a:latin typeface="宋体" pitchFamily="2" charset="-122"/>
              </a:rPr>
              <a:t> 计算机物理内存的访问地址则称为实地地或物理地址，其对应的存储空间称为物理存储空间或主存空间。    </a:t>
            </a:r>
          </a:p>
          <a:p>
            <a:pPr>
              <a:spcBef>
                <a:spcPct val="50000"/>
              </a:spcBef>
              <a:buFont typeface="Wingdings" pitchFamily="2" charset="2"/>
              <a:buChar char="v"/>
            </a:pPr>
            <a:r>
              <a:rPr lang="zh-CN" altLang="en-US">
                <a:latin typeface="宋体" pitchFamily="2" charset="-122"/>
              </a:rPr>
              <a:t> 程序进行虚地址到实地址转换的过程称为程序的再定位。</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4"/>
          <p:cNvSpPr>
            <a:spLocks noChangeArrowheads="1"/>
          </p:cNvSpPr>
          <p:nvPr/>
        </p:nvSpPr>
        <p:spPr bwMode="auto">
          <a:xfrm>
            <a:off x="304800" y="228600"/>
            <a:ext cx="3206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a:latin typeface="宋体" pitchFamily="2" charset="-122"/>
              </a:rPr>
              <a:t>2</a:t>
            </a:r>
            <a:r>
              <a:rPr lang="zh-CN" altLang="en-US">
                <a:latin typeface="宋体" pitchFamily="2" charset="-122"/>
              </a:rPr>
              <a:t>、虚存的访问过程</a:t>
            </a:r>
          </a:p>
        </p:txBody>
      </p:sp>
      <p:graphicFrame>
        <p:nvGraphicFramePr>
          <p:cNvPr id="9218" name="Object 5"/>
          <p:cNvGraphicFramePr>
            <a:graphicFrameLocks noChangeAspect="1"/>
          </p:cNvGraphicFramePr>
          <p:nvPr/>
        </p:nvGraphicFramePr>
        <p:xfrm>
          <a:off x="304800" y="838200"/>
          <a:ext cx="8686800" cy="3657600"/>
        </p:xfrm>
        <a:graphic>
          <a:graphicData uri="http://schemas.openxmlformats.org/presentationml/2006/ole">
            <mc:AlternateContent xmlns:mc="http://schemas.openxmlformats.org/markup-compatibility/2006">
              <mc:Choice xmlns:v="urn:schemas-microsoft-com:vml" Requires="v">
                <p:oleObj spid="_x0000_s9349" name="位图图像" r:id="rId3" imgW="6458852" imgH="3858164" progId="PBrush">
                  <p:embed/>
                </p:oleObj>
              </mc:Choice>
              <mc:Fallback>
                <p:oleObj name="位图图像" r:id="rId3" imgW="6458852" imgH="3858164" progId="PBrush">
                  <p:embed/>
                  <p:pic>
                    <p:nvPicPr>
                      <p:cNvPr id="0" name="Picture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838200"/>
                        <a:ext cx="86868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4390" name="Rectangle 6"/>
          <p:cNvSpPr>
            <a:spLocks noChangeArrowheads="1"/>
          </p:cNvSpPr>
          <p:nvPr/>
        </p:nvSpPr>
        <p:spPr bwMode="auto">
          <a:xfrm>
            <a:off x="228600" y="4511675"/>
            <a:ext cx="8686800" cy="22272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a:latin typeface="宋体" pitchFamily="2" charset="-122"/>
              </a:rPr>
              <a:t>    </a:t>
            </a:r>
            <a:r>
              <a:rPr lang="zh-CN" altLang="en-US">
                <a:latin typeface="宋体" pitchFamily="2" charset="-122"/>
              </a:rPr>
              <a:t>对应用程序而言，如果主存的命中率很高，虚存的访问时间就接近于主存访问时间，而虚存的大小仅仅依赖于辅存的大小。每个程序可以拥有一个虚拟的存储空间，它具有辅助存储器的容量和接近内存的访问速度。</a:t>
            </a:r>
          </a:p>
        </p:txBody>
      </p:sp>
      <p:sp>
        <p:nvSpPr>
          <p:cNvPr id="144391" name="Rectangle 7"/>
          <p:cNvSpPr>
            <a:spLocks noChangeArrowheads="1"/>
          </p:cNvSpPr>
          <p:nvPr/>
        </p:nvSpPr>
        <p:spPr bwMode="auto">
          <a:xfrm>
            <a:off x="228600" y="4495800"/>
            <a:ext cx="8610600" cy="22272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dirty="0">
                <a:latin typeface="宋体" pitchFamily="2" charset="-122"/>
              </a:rPr>
              <a:t>    </a:t>
            </a:r>
            <a:r>
              <a:rPr lang="zh-CN" altLang="en-US" dirty="0">
                <a:latin typeface="宋体" pitchFamily="2" charset="-122"/>
              </a:rPr>
              <a:t>在这个大空间里，用户可以自由编程，完全不必考虑程序在主存是否装得下以及这些程序将来在主存中的实际存放位置。</a:t>
            </a:r>
          </a:p>
          <a:p>
            <a:r>
              <a:rPr lang="zh-CN" altLang="en-US" dirty="0">
                <a:latin typeface="宋体" pitchFamily="2" charset="-122"/>
              </a:rPr>
              <a:t> 　 虚拟存储器只是一个容量非常大的存储器的逻辑模型，不是任何实际的物理存储器。</a:t>
            </a:r>
          </a:p>
        </p:txBody>
      </p:sp>
      <p:sp>
        <p:nvSpPr>
          <p:cNvPr id="144392" name="Rectangle 8"/>
          <p:cNvSpPr>
            <a:spLocks noChangeArrowheads="1"/>
          </p:cNvSpPr>
          <p:nvPr/>
        </p:nvSpPr>
        <p:spPr bwMode="auto">
          <a:xfrm>
            <a:off x="228600" y="4572000"/>
            <a:ext cx="8686800" cy="137318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dirty="0">
                <a:latin typeface="宋体" pitchFamily="2" charset="-122"/>
              </a:rPr>
              <a:t>    </a:t>
            </a:r>
            <a:r>
              <a:rPr lang="zh-CN" altLang="en-US" dirty="0">
                <a:latin typeface="宋体" pitchFamily="2" charset="-122"/>
              </a:rPr>
              <a:t>虚拟存储器是在主存和辅存之外附加一些硬件和软件实现的。对设计存储管理软件的系统程序员是不透明的，对应用程序员是透明或半透明的。</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4390"/>
                                        </p:tgtEl>
                                        <p:attrNameLst>
                                          <p:attrName>style.visibility</p:attrName>
                                        </p:attrNameLst>
                                      </p:cBhvr>
                                      <p:to>
                                        <p:strVal val="visible"/>
                                      </p:to>
                                    </p:set>
                                    <p:animEffect transition="in" filter="dissolve">
                                      <p:cBhvr>
                                        <p:cTn id="7" dur="500"/>
                                        <p:tgtEl>
                                          <p:spTgt spid="144390"/>
                                        </p:tgtEl>
                                      </p:cBhvr>
                                    </p:animEffect>
                                  </p:childTnLst>
                                  <p:subTnLst>
                                    <p:set>
                                      <p:cBhvr override="childStyle">
                                        <p:cTn dur="1" fill="hold" display="0" masterRel="nextClick" afterEffect="1"/>
                                        <p:tgtEl>
                                          <p:spTgt spid="144390"/>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4391"/>
                                        </p:tgtEl>
                                        <p:attrNameLst>
                                          <p:attrName>style.visibility</p:attrName>
                                        </p:attrNameLst>
                                      </p:cBhvr>
                                      <p:to>
                                        <p:strVal val="visible"/>
                                      </p:to>
                                    </p:set>
                                    <p:animEffect transition="in" filter="dissolve">
                                      <p:cBhvr>
                                        <p:cTn id="12" dur="500"/>
                                        <p:tgtEl>
                                          <p:spTgt spid="144391"/>
                                        </p:tgtEl>
                                      </p:cBhvr>
                                    </p:animEffect>
                                  </p:childTnLst>
                                  <p:subTnLst>
                                    <p:set>
                                      <p:cBhvr override="childStyle">
                                        <p:cTn dur="1" fill="hold" display="0" masterRel="nextClick" afterEffect="1"/>
                                        <p:tgtEl>
                                          <p:spTgt spid="144391"/>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4392"/>
                                        </p:tgtEl>
                                        <p:attrNameLst>
                                          <p:attrName>style.visibility</p:attrName>
                                        </p:attrNameLst>
                                      </p:cBhvr>
                                      <p:to>
                                        <p:strVal val="visible"/>
                                      </p:to>
                                    </p:set>
                                    <p:animEffect transition="in" filter="dissolve">
                                      <p:cBhvr>
                                        <p:cTn id="17" dur="500"/>
                                        <p:tgtEl>
                                          <p:spTgt spid="144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90" grpId="0" animBg="1" autoUpdateAnimBg="0"/>
      <p:bldP spid="144391" grpId="0" animBg="1" autoUpdateAnimBg="0"/>
      <p:bldP spid="144392" grpId="0" animBg="1"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3"/>
          <p:cNvSpPr>
            <a:spLocks noChangeArrowheads="1"/>
          </p:cNvSpPr>
          <p:nvPr/>
        </p:nvSpPr>
        <p:spPr bwMode="auto">
          <a:xfrm>
            <a:off x="304800" y="304800"/>
            <a:ext cx="8610600" cy="618648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tx2"/>
              </a:buClr>
              <a:buSzPct val="70000"/>
              <a:buFont typeface="Wingdings" pitchFamily="2" charset="2"/>
              <a:buNone/>
            </a:pPr>
            <a:r>
              <a:rPr lang="en-US" altLang="zh-CN" sz="3200">
                <a:latin typeface="宋体" pitchFamily="2" charset="-122"/>
              </a:rPr>
              <a:t>3</a:t>
            </a:r>
            <a:r>
              <a:rPr lang="zh-CN" altLang="en-US" sz="3200">
                <a:latin typeface="宋体" pitchFamily="2" charset="-122"/>
              </a:rPr>
              <a:t>、</a:t>
            </a:r>
            <a:r>
              <a:rPr lang="en-US" altLang="zh-CN" sz="3200">
                <a:latin typeface="宋体" pitchFamily="2" charset="-122"/>
              </a:rPr>
              <a:t>cache</a:t>
            </a:r>
            <a:r>
              <a:rPr lang="zh-CN" altLang="en-US" sz="3200">
                <a:latin typeface="宋体" pitchFamily="2" charset="-122"/>
              </a:rPr>
              <a:t>与虚存的异同</a:t>
            </a:r>
          </a:p>
          <a:p>
            <a:pPr>
              <a:spcBef>
                <a:spcPct val="50000"/>
              </a:spcBef>
              <a:buClr>
                <a:schemeClr val="tx2"/>
              </a:buClr>
              <a:buSzPct val="70000"/>
              <a:buFont typeface="Wingdings" pitchFamily="2" charset="2"/>
              <a:buNone/>
            </a:pPr>
            <a:r>
              <a:rPr lang="zh-CN" altLang="en-US" sz="3200">
                <a:latin typeface="宋体" pitchFamily="2" charset="-122"/>
              </a:rPr>
              <a:t>    从虚存的概念可以看出，主存</a:t>
            </a:r>
            <a:r>
              <a:rPr lang="en-US" altLang="zh-CN" sz="3200">
                <a:latin typeface="宋体" pitchFamily="2" charset="-122"/>
              </a:rPr>
              <a:t>-</a:t>
            </a:r>
            <a:r>
              <a:rPr lang="zh-CN" altLang="en-US" sz="3200">
                <a:latin typeface="宋体" pitchFamily="2" charset="-122"/>
              </a:rPr>
              <a:t>辅存的访问机制与</a:t>
            </a:r>
            <a:r>
              <a:rPr lang="en-US" altLang="zh-CN" sz="3200">
                <a:latin typeface="宋体" pitchFamily="2" charset="-122"/>
              </a:rPr>
              <a:t>cache-</a:t>
            </a:r>
            <a:r>
              <a:rPr lang="zh-CN" altLang="en-US" sz="3200">
                <a:latin typeface="宋体" pitchFamily="2" charset="-122"/>
              </a:rPr>
              <a:t>主存的访问机制是类似的。这是由</a:t>
            </a:r>
            <a:r>
              <a:rPr lang="en-US" altLang="zh-CN" sz="3200">
                <a:latin typeface="宋体" pitchFamily="2" charset="-122"/>
              </a:rPr>
              <a:t>cache</a:t>
            </a:r>
            <a:r>
              <a:rPr lang="zh-CN" altLang="en-US" sz="3200">
                <a:latin typeface="宋体" pitchFamily="2" charset="-122"/>
              </a:rPr>
              <a:t>、主存和辅存构成的三级存储体系中的两个层次。</a:t>
            </a:r>
          </a:p>
          <a:p>
            <a:pPr>
              <a:spcBef>
                <a:spcPct val="50000"/>
              </a:spcBef>
              <a:buClr>
                <a:schemeClr val="tx2"/>
              </a:buClr>
              <a:buSzPct val="70000"/>
              <a:buFont typeface="Wingdings" pitchFamily="2" charset="2"/>
              <a:buNone/>
            </a:pPr>
            <a:r>
              <a:rPr lang="zh-CN" altLang="en-US" sz="3200">
                <a:latin typeface="宋体" pitchFamily="2" charset="-122"/>
              </a:rPr>
              <a:t>    </a:t>
            </a:r>
            <a:r>
              <a:rPr lang="en-US" altLang="zh-CN" sz="3200">
                <a:latin typeface="宋体" pitchFamily="2" charset="-122"/>
              </a:rPr>
              <a:t>cache</a:t>
            </a:r>
            <a:r>
              <a:rPr lang="zh-CN" altLang="en-US" sz="3200">
                <a:latin typeface="宋体" pitchFamily="2" charset="-122"/>
              </a:rPr>
              <a:t>和主存之间以及主存和辅存之间分别有辅助硬件和辅助软硬件负责地址变换与管理，以便各级存储器能够组成有机的三级存储体系。</a:t>
            </a:r>
          </a:p>
          <a:p>
            <a:pPr>
              <a:spcBef>
                <a:spcPct val="50000"/>
              </a:spcBef>
              <a:buClr>
                <a:schemeClr val="tx2"/>
              </a:buClr>
              <a:buSzPct val="70000"/>
              <a:buFont typeface="Wingdings" pitchFamily="2" charset="2"/>
              <a:buNone/>
            </a:pPr>
            <a:r>
              <a:rPr lang="zh-CN" altLang="en-US" sz="3200">
                <a:latin typeface="宋体" pitchFamily="2" charset="-122"/>
              </a:rPr>
              <a:t>    </a:t>
            </a:r>
            <a:r>
              <a:rPr lang="en-US" altLang="zh-CN" sz="3200">
                <a:latin typeface="宋体" pitchFamily="2" charset="-122"/>
              </a:rPr>
              <a:t>cache</a:t>
            </a:r>
            <a:r>
              <a:rPr lang="zh-CN" altLang="en-US" sz="3200">
                <a:latin typeface="宋体" pitchFamily="2" charset="-122"/>
              </a:rPr>
              <a:t>和主存依靠辅助硬件的支持构成了系统的内存，而主存和辅存依靠辅助软硬件的支持构成了虚拟存储器。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body" idx="1"/>
          </p:nvPr>
        </p:nvSpPr>
        <p:spPr>
          <a:xfrm>
            <a:off x="457200" y="333375"/>
            <a:ext cx="8229600" cy="5797550"/>
          </a:xfrm>
        </p:spPr>
        <p:txBody>
          <a:bodyPr/>
          <a:lstStyle/>
          <a:p>
            <a:pPr>
              <a:lnSpc>
                <a:spcPct val="80000"/>
              </a:lnSpc>
              <a:buFont typeface="Wingdings" pitchFamily="2" charset="2"/>
              <a:buNone/>
            </a:pPr>
            <a:r>
              <a:rPr lang="en-US" altLang="zh-CN" sz="1900" smtClean="0">
                <a:latin typeface="宋体" pitchFamily="2" charset="-122"/>
              </a:rPr>
              <a:t>       </a:t>
            </a:r>
          </a:p>
        </p:txBody>
      </p:sp>
      <p:sp>
        <p:nvSpPr>
          <p:cNvPr id="129027" name="Rectangle 4"/>
          <p:cNvSpPr>
            <a:spLocks noChangeArrowheads="1"/>
          </p:cNvSpPr>
          <p:nvPr/>
        </p:nvSpPr>
        <p:spPr bwMode="auto">
          <a:xfrm>
            <a:off x="250825" y="260350"/>
            <a:ext cx="8713788" cy="60706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latin typeface="宋体" pitchFamily="2" charset="-122"/>
              </a:rPr>
              <a:t>    </a:t>
            </a:r>
            <a:r>
              <a:rPr lang="zh-CN" altLang="en-US">
                <a:latin typeface="宋体" pitchFamily="2" charset="-122"/>
              </a:rPr>
              <a:t>三级存储体系中，</a:t>
            </a:r>
            <a:r>
              <a:rPr lang="en-US" altLang="zh-CN">
                <a:latin typeface="宋体" pitchFamily="2" charset="-122"/>
              </a:rPr>
              <a:t>cache-</a:t>
            </a:r>
            <a:r>
              <a:rPr lang="zh-CN" altLang="en-US">
                <a:latin typeface="宋体" pitchFamily="2" charset="-122"/>
              </a:rPr>
              <a:t>主存和主存</a:t>
            </a:r>
            <a:r>
              <a:rPr lang="en-US" altLang="zh-CN">
                <a:latin typeface="宋体" pitchFamily="2" charset="-122"/>
              </a:rPr>
              <a:t>-</a:t>
            </a:r>
            <a:r>
              <a:rPr lang="zh-CN" altLang="en-US">
                <a:latin typeface="宋体" pitchFamily="2" charset="-122"/>
              </a:rPr>
              <a:t>辅存相同点：       </a:t>
            </a:r>
          </a:p>
          <a:p>
            <a:r>
              <a:rPr lang="zh-CN" altLang="en-US">
                <a:latin typeface="宋体" pitchFamily="2" charset="-122"/>
              </a:rPr>
              <a:t>    </a:t>
            </a:r>
            <a:r>
              <a:rPr lang="en-US" altLang="zh-CN">
                <a:latin typeface="宋体" pitchFamily="2" charset="-122"/>
              </a:rPr>
              <a:t>(1)</a:t>
            </a:r>
            <a:r>
              <a:rPr lang="zh-CN" altLang="en-US">
                <a:latin typeface="宋体" pitchFamily="2" charset="-122"/>
              </a:rPr>
              <a:t>出发点相同</a:t>
            </a:r>
          </a:p>
          <a:p>
            <a:r>
              <a:rPr lang="zh-CN" altLang="en-US">
                <a:latin typeface="宋体" pitchFamily="2" charset="-122"/>
              </a:rPr>
              <a:t>    二者都是为了提高存储系统的性能价格比而构造的分层存储体系，都力图使存储系统的性能接近高速存储器，而价格和容量接近低速存储器。</a:t>
            </a:r>
          </a:p>
          <a:p>
            <a:r>
              <a:rPr lang="zh-CN" altLang="en-US">
                <a:latin typeface="宋体" pitchFamily="2" charset="-122"/>
              </a:rPr>
              <a:t>    </a:t>
            </a:r>
            <a:r>
              <a:rPr lang="en-US" altLang="zh-CN">
                <a:latin typeface="宋体" pitchFamily="2" charset="-122"/>
              </a:rPr>
              <a:t>(2)</a:t>
            </a:r>
            <a:r>
              <a:rPr lang="zh-CN" altLang="en-US">
                <a:latin typeface="宋体" pitchFamily="2" charset="-122"/>
              </a:rPr>
              <a:t>原理相同</a:t>
            </a:r>
          </a:p>
          <a:p>
            <a:r>
              <a:rPr lang="zh-CN" altLang="en-US">
                <a:latin typeface="宋体" pitchFamily="2" charset="-122"/>
              </a:rPr>
              <a:t>    都是利用了程序运行时的局部性原理把最近常用的信息块从相对慢速而大容量的存储器调入相对高速而小容量的存储器。</a:t>
            </a:r>
          </a:p>
          <a:p>
            <a:r>
              <a:rPr lang="zh-CN" altLang="en-US">
                <a:latin typeface="宋体" pitchFamily="2" charset="-122"/>
              </a:rPr>
              <a:t>    </a:t>
            </a:r>
            <a:r>
              <a:rPr lang="en-US" altLang="zh-CN">
                <a:latin typeface="宋体" pitchFamily="2" charset="-122"/>
              </a:rPr>
              <a:t>Cache-</a:t>
            </a:r>
            <a:r>
              <a:rPr lang="zh-CN" altLang="en-US">
                <a:latin typeface="宋体" pitchFamily="2" charset="-122"/>
              </a:rPr>
              <a:t>主存和主存</a:t>
            </a:r>
            <a:r>
              <a:rPr lang="en-US" altLang="zh-CN">
                <a:latin typeface="宋体" pitchFamily="2" charset="-122"/>
              </a:rPr>
              <a:t>-</a:t>
            </a:r>
            <a:r>
              <a:rPr lang="zh-CN" altLang="en-US">
                <a:latin typeface="宋体" pitchFamily="2" charset="-122"/>
              </a:rPr>
              <a:t>辅存不同之处：</a:t>
            </a:r>
          </a:p>
          <a:p>
            <a:r>
              <a:rPr lang="zh-CN" altLang="en-US">
                <a:latin typeface="宋体" pitchFamily="2" charset="-122"/>
              </a:rPr>
              <a:t>    </a:t>
            </a:r>
            <a:r>
              <a:rPr lang="en-US" altLang="zh-CN">
                <a:latin typeface="宋体" pitchFamily="2" charset="-122"/>
              </a:rPr>
              <a:t>(1)</a:t>
            </a:r>
            <a:r>
              <a:rPr lang="zh-CN" altLang="en-US">
                <a:latin typeface="宋体" pitchFamily="2" charset="-122"/>
              </a:rPr>
              <a:t>侧重点不同</a:t>
            </a:r>
          </a:p>
          <a:p>
            <a:r>
              <a:rPr lang="zh-CN" altLang="en-US">
                <a:latin typeface="宋体" pitchFamily="2" charset="-122"/>
              </a:rPr>
              <a:t>    </a:t>
            </a:r>
            <a:r>
              <a:rPr lang="en-US" altLang="zh-CN">
                <a:latin typeface="宋体" pitchFamily="2" charset="-122"/>
              </a:rPr>
              <a:t>cache</a:t>
            </a:r>
            <a:r>
              <a:rPr lang="zh-CN" altLang="en-US">
                <a:latin typeface="宋体" pitchFamily="2" charset="-122"/>
              </a:rPr>
              <a:t>主要解决主存与</a:t>
            </a:r>
            <a:r>
              <a:rPr lang="en-US" altLang="zh-CN">
                <a:latin typeface="宋体" pitchFamily="2" charset="-122"/>
              </a:rPr>
              <a:t>CPU</a:t>
            </a:r>
            <a:r>
              <a:rPr lang="zh-CN" altLang="en-US">
                <a:latin typeface="宋体" pitchFamily="2" charset="-122"/>
              </a:rPr>
              <a:t>的速度差异问题；虚存主要是解决存储容量问题，另外还包括存储管理、主存分配和存储保护等方面。</a:t>
            </a:r>
          </a:p>
        </p:txBody>
      </p:sp>
      <p:sp>
        <p:nvSpPr>
          <p:cNvPr id="105477" name="Rectangle 5"/>
          <p:cNvSpPr>
            <a:spLocks noChangeArrowheads="1"/>
          </p:cNvSpPr>
          <p:nvPr/>
        </p:nvSpPr>
        <p:spPr bwMode="auto">
          <a:xfrm>
            <a:off x="228600" y="152400"/>
            <a:ext cx="8748713" cy="649763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a:latin typeface="宋体" pitchFamily="2" charset="-122"/>
              </a:rPr>
              <a:t>    </a:t>
            </a:r>
            <a:r>
              <a:rPr lang="en-US" altLang="zh-CN">
                <a:latin typeface="宋体" pitchFamily="2" charset="-122"/>
              </a:rPr>
              <a:t>(2)</a:t>
            </a:r>
            <a:r>
              <a:rPr lang="zh-CN" altLang="en-US">
                <a:latin typeface="宋体" pitchFamily="2" charset="-122"/>
              </a:rPr>
              <a:t>数据通路不同</a:t>
            </a:r>
          </a:p>
          <a:p>
            <a:r>
              <a:rPr lang="zh-CN" altLang="en-US">
                <a:latin typeface="宋体" pitchFamily="2" charset="-122"/>
              </a:rPr>
              <a:t>    </a:t>
            </a:r>
            <a:r>
              <a:rPr lang="en-US" altLang="zh-CN">
                <a:latin typeface="宋体" pitchFamily="2" charset="-122"/>
              </a:rPr>
              <a:t>CPU</a:t>
            </a:r>
            <a:r>
              <a:rPr lang="zh-CN" altLang="en-US">
                <a:latin typeface="宋体" pitchFamily="2" charset="-122"/>
              </a:rPr>
              <a:t>与</a:t>
            </a:r>
            <a:r>
              <a:rPr lang="en-US" altLang="zh-CN">
                <a:latin typeface="宋体" pitchFamily="2" charset="-122"/>
              </a:rPr>
              <a:t>cache</a:t>
            </a:r>
            <a:r>
              <a:rPr lang="zh-CN" altLang="en-US">
                <a:latin typeface="宋体" pitchFamily="2" charset="-122"/>
              </a:rPr>
              <a:t>和主存之间均有直接访问通路，</a:t>
            </a:r>
            <a:r>
              <a:rPr lang="en-US" altLang="zh-CN">
                <a:latin typeface="宋体" pitchFamily="2" charset="-122"/>
              </a:rPr>
              <a:t>cache</a:t>
            </a:r>
            <a:r>
              <a:rPr lang="zh-CN" altLang="en-US">
                <a:latin typeface="宋体" pitchFamily="2" charset="-122"/>
              </a:rPr>
              <a:t>不命中时可直接访问主存；而虚存所依赖的辅存与</a:t>
            </a:r>
            <a:r>
              <a:rPr lang="en-US" altLang="zh-CN">
                <a:latin typeface="宋体" pitchFamily="2" charset="-122"/>
              </a:rPr>
              <a:t>CPU</a:t>
            </a:r>
            <a:r>
              <a:rPr lang="zh-CN" altLang="en-US">
                <a:latin typeface="宋体" pitchFamily="2" charset="-122"/>
              </a:rPr>
              <a:t>之间不存在直接的数据通路，当主存不命中时只能通过调页解决，</a:t>
            </a:r>
            <a:r>
              <a:rPr lang="en-US" altLang="zh-CN">
                <a:latin typeface="宋体" pitchFamily="2" charset="-122"/>
              </a:rPr>
              <a:t>CPU</a:t>
            </a:r>
            <a:r>
              <a:rPr lang="zh-CN" altLang="en-US">
                <a:latin typeface="宋体" pitchFamily="2" charset="-122"/>
              </a:rPr>
              <a:t>最终还是要访问主存。</a:t>
            </a:r>
          </a:p>
          <a:p>
            <a:r>
              <a:rPr lang="zh-CN" altLang="en-US">
                <a:latin typeface="宋体" pitchFamily="2" charset="-122"/>
              </a:rPr>
              <a:t>    </a:t>
            </a:r>
            <a:r>
              <a:rPr lang="en-US" altLang="zh-CN">
                <a:latin typeface="宋体" pitchFamily="2" charset="-122"/>
              </a:rPr>
              <a:t>(3)</a:t>
            </a:r>
            <a:r>
              <a:rPr lang="zh-CN" altLang="en-US">
                <a:latin typeface="宋体" pitchFamily="2" charset="-122"/>
              </a:rPr>
              <a:t>透明性不同</a:t>
            </a:r>
          </a:p>
          <a:p>
            <a:r>
              <a:rPr lang="zh-CN" altLang="en-US">
                <a:latin typeface="宋体" pitchFamily="2" charset="-122"/>
              </a:rPr>
              <a:t>    </a:t>
            </a:r>
            <a:r>
              <a:rPr lang="en-US" altLang="zh-CN">
                <a:latin typeface="宋体" pitchFamily="2" charset="-122"/>
              </a:rPr>
              <a:t>cache</a:t>
            </a:r>
            <a:r>
              <a:rPr lang="zh-CN" altLang="en-US">
                <a:latin typeface="宋体" pitchFamily="2" charset="-122"/>
              </a:rPr>
              <a:t>的管理完全由硬件完成，对系统程序员和应用程序员均透明；虚存管理由软件（操作系统）和硬件共同完成，由于软件的介入，虚存对实现存储管理的系统程序员不透明，而只对应用程序员透明（段式和段页式管理对应用程序员“半透明”）。</a:t>
            </a:r>
          </a:p>
          <a:p>
            <a:r>
              <a:rPr lang="zh-CN" altLang="en-US">
                <a:latin typeface="宋体" pitchFamily="2" charset="-122"/>
              </a:rPr>
              <a:t>    </a:t>
            </a:r>
            <a:r>
              <a:rPr lang="en-US" altLang="zh-CN">
                <a:latin typeface="宋体" pitchFamily="2" charset="-122"/>
              </a:rPr>
              <a:t>(4)</a:t>
            </a:r>
            <a:r>
              <a:rPr lang="zh-CN" altLang="en-US">
                <a:latin typeface="宋体" pitchFamily="2" charset="-122"/>
              </a:rPr>
              <a:t>未命中时的损失不同</a:t>
            </a:r>
          </a:p>
          <a:p>
            <a:r>
              <a:rPr lang="zh-CN" altLang="en-US">
                <a:latin typeface="宋体" pitchFamily="2" charset="-122"/>
              </a:rPr>
              <a:t>    主存的存取时间是</a:t>
            </a:r>
            <a:r>
              <a:rPr lang="en-US" altLang="zh-CN">
                <a:latin typeface="宋体" pitchFamily="2" charset="-122"/>
              </a:rPr>
              <a:t>cache</a:t>
            </a:r>
            <a:r>
              <a:rPr lang="zh-CN" altLang="en-US">
                <a:latin typeface="宋体" pitchFamily="2" charset="-122"/>
              </a:rPr>
              <a:t>的</a:t>
            </a:r>
            <a:r>
              <a:rPr lang="en-US" altLang="zh-CN">
                <a:latin typeface="宋体" pitchFamily="2" charset="-122"/>
              </a:rPr>
              <a:t>5-10</a:t>
            </a:r>
            <a:r>
              <a:rPr lang="zh-CN" altLang="en-US">
                <a:latin typeface="宋体" pitchFamily="2" charset="-122"/>
              </a:rPr>
              <a:t>倍，而主存的存取速度通常比辅存的存取速度快上千倍，故主存未命中时系统的性能损失远大于</a:t>
            </a:r>
            <a:r>
              <a:rPr lang="en-US" altLang="zh-CN">
                <a:latin typeface="宋体" pitchFamily="2" charset="-122"/>
              </a:rPr>
              <a:t>cache</a:t>
            </a:r>
            <a:r>
              <a:rPr lang="zh-CN" altLang="en-US">
                <a:latin typeface="宋体" pitchFamily="2" charset="-122"/>
              </a:rPr>
              <a:t>未命中时的损失。</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5477"/>
                                        </p:tgtEl>
                                        <p:attrNameLst>
                                          <p:attrName>style.visibility</p:attrName>
                                        </p:attrNameLst>
                                      </p:cBhvr>
                                      <p:to>
                                        <p:strVal val="visible"/>
                                      </p:to>
                                    </p:set>
                                    <p:animEffect transition="in" filter="dissolve">
                                      <p:cBhvr>
                                        <p:cTn id="7" dur="500"/>
                                        <p:tgtEl>
                                          <p:spTgt spid="105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7" grpId="0" animBg="1"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ChangeArrowheads="1"/>
          </p:cNvSpPr>
          <p:nvPr/>
        </p:nvSpPr>
        <p:spPr bwMode="auto">
          <a:xfrm>
            <a:off x="250825" y="114300"/>
            <a:ext cx="8713788" cy="649763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latin typeface="宋体" pitchFamily="2" charset="-122"/>
              </a:rPr>
              <a:t>4</a:t>
            </a:r>
            <a:r>
              <a:rPr lang="zh-CN" altLang="en-US">
                <a:latin typeface="宋体" pitchFamily="2" charset="-122"/>
              </a:rPr>
              <a:t>、虚存机制要解决的关键问题</a:t>
            </a:r>
          </a:p>
          <a:p>
            <a:r>
              <a:rPr lang="zh-CN" altLang="en-US">
                <a:latin typeface="宋体" pitchFamily="2" charset="-122"/>
              </a:rPr>
              <a:t>    </a:t>
            </a:r>
            <a:r>
              <a:rPr lang="en-US" altLang="zh-CN">
                <a:latin typeface="宋体" pitchFamily="2" charset="-122"/>
              </a:rPr>
              <a:t>(1)</a:t>
            </a:r>
            <a:r>
              <a:rPr lang="zh-CN" altLang="en-US">
                <a:latin typeface="宋体" pitchFamily="2" charset="-122"/>
              </a:rPr>
              <a:t>调度问题</a:t>
            </a:r>
          </a:p>
          <a:p>
            <a:r>
              <a:rPr lang="zh-CN" altLang="en-US">
                <a:latin typeface="宋体" pitchFamily="2" charset="-122"/>
              </a:rPr>
              <a:t>    决定哪些程序和数据应被调入主存。</a:t>
            </a:r>
          </a:p>
          <a:p>
            <a:r>
              <a:rPr lang="zh-CN" altLang="en-US">
                <a:latin typeface="宋体" pitchFamily="2" charset="-122"/>
              </a:rPr>
              <a:t>    </a:t>
            </a:r>
            <a:r>
              <a:rPr lang="en-US" altLang="zh-CN">
                <a:latin typeface="宋体" pitchFamily="2" charset="-122"/>
              </a:rPr>
              <a:t>(2)</a:t>
            </a:r>
            <a:r>
              <a:rPr lang="zh-CN" altLang="en-US">
                <a:latin typeface="宋体" pitchFamily="2" charset="-122"/>
              </a:rPr>
              <a:t>地址映射问题</a:t>
            </a:r>
          </a:p>
          <a:p>
            <a:r>
              <a:rPr lang="zh-CN" altLang="en-US">
                <a:latin typeface="宋体" pitchFamily="2" charset="-122"/>
              </a:rPr>
              <a:t>    在访问主存时把虚地址变为主存物理地址（这一过程称为内地址变换）；在访问辅存时把虚地址变成辅存的物理地址（这一过程称为外地址变换），以便换页。此外还要解决主存分配、存储保护与程序再定位等问题。</a:t>
            </a:r>
          </a:p>
          <a:p>
            <a:r>
              <a:rPr lang="zh-CN" altLang="en-US">
                <a:latin typeface="宋体" pitchFamily="2" charset="-122"/>
              </a:rPr>
              <a:t>    </a:t>
            </a:r>
            <a:r>
              <a:rPr lang="en-US" altLang="zh-CN">
                <a:latin typeface="宋体" pitchFamily="2" charset="-122"/>
              </a:rPr>
              <a:t>(3)</a:t>
            </a:r>
            <a:r>
              <a:rPr lang="zh-CN" altLang="en-US">
                <a:latin typeface="宋体" pitchFamily="2" charset="-122"/>
              </a:rPr>
              <a:t>替换问题</a:t>
            </a:r>
          </a:p>
          <a:p>
            <a:r>
              <a:rPr lang="zh-CN" altLang="en-US">
                <a:latin typeface="宋体" pitchFamily="2" charset="-122"/>
              </a:rPr>
              <a:t>    决定哪些程序和数据应被调出主存。</a:t>
            </a:r>
          </a:p>
          <a:p>
            <a:r>
              <a:rPr lang="zh-CN" altLang="en-US">
                <a:latin typeface="宋体" pitchFamily="2" charset="-122"/>
              </a:rPr>
              <a:t>    </a:t>
            </a:r>
            <a:r>
              <a:rPr lang="en-US" altLang="zh-CN">
                <a:latin typeface="宋体" pitchFamily="2" charset="-122"/>
              </a:rPr>
              <a:t>(4)</a:t>
            </a:r>
            <a:r>
              <a:rPr lang="zh-CN" altLang="en-US">
                <a:latin typeface="宋体" pitchFamily="2" charset="-122"/>
              </a:rPr>
              <a:t>更新问题</a:t>
            </a:r>
          </a:p>
          <a:p>
            <a:r>
              <a:rPr lang="zh-CN" altLang="en-US">
                <a:latin typeface="宋体" pitchFamily="2" charset="-122"/>
              </a:rPr>
              <a:t>    确保主存与辅存的一致性。</a:t>
            </a:r>
          </a:p>
          <a:p>
            <a:r>
              <a:rPr lang="zh-CN" altLang="en-US">
                <a:latin typeface="宋体" pitchFamily="2" charset="-122"/>
              </a:rPr>
              <a:t>    在操作系统的控制下，硬件和系统软件为用户解决了上述问题，从而使应用程序的编程大大简化。</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ChangeArrowheads="1"/>
          </p:cNvSpPr>
          <p:nvPr/>
        </p:nvSpPr>
        <p:spPr bwMode="auto">
          <a:xfrm>
            <a:off x="250825" y="333375"/>
            <a:ext cx="8569325" cy="56435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a:latin typeface="宋体" pitchFamily="2" charset="-122"/>
              </a:rPr>
              <a:t>5</a:t>
            </a:r>
            <a:r>
              <a:rPr lang="zh-CN" altLang="en-US">
                <a:latin typeface="宋体" pitchFamily="2" charset="-122"/>
              </a:rPr>
              <a:t>、主存</a:t>
            </a:r>
            <a:r>
              <a:rPr lang="en-US" altLang="zh-CN">
                <a:latin typeface="宋体" pitchFamily="2" charset="-122"/>
              </a:rPr>
              <a:t>-</a:t>
            </a:r>
            <a:r>
              <a:rPr lang="zh-CN" altLang="en-US">
                <a:latin typeface="宋体" pitchFamily="2" charset="-122"/>
              </a:rPr>
              <a:t>外存层次的基本信息传送单位</a:t>
            </a:r>
          </a:p>
          <a:p>
            <a:endParaRPr lang="zh-CN" altLang="en-US">
              <a:latin typeface="宋体" pitchFamily="2" charset="-122"/>
            </a:endParaRPr>
          </a:p>
          <a:p>
            <a:r>
              <a:rPr lang="zh-CN" altLang="en-US">
                <a:latin typeface="宋体" pitchFamily="2" charset="-122"/>
              </a:rPr>
              <a:t>　　主存</a:t>
            </a:r>
            <a:r>
              <a:rPr lang="en-US" altLang="zh-CN">
                <a:latin typeface="宋体" pitchFamily="2" charset="-122"/>
              </a:rPr>
              <a:t>-</a:t>
            </a:r>
            <a:r>
              <a:rPr lang="zh-CN" altLang="en-US">
                <a:latin typeface="宋体" pitchFamily="2" charset="-122"/>
              </a:rPr>
              <a:t>外存层次的基本信息传送单位可采用几种不同的方案：段、页或段页。</a:t>
            </a:r>
          </a:p>
          <a:p>
            <a:endParaRPr lang="zh-CN" altLang="en-US">
              <a:latin typeface="宋体" pitchFamily="2" charset="-122"/>
            </a:endParaRPr>
          </a:p>
          <a:p>
            <a:r>
              <a:rPr lang="zh-CN" altLang="en-US">
                <a:latin typeface="宋体" pitchFamily="2" charset="-122"/>
              </a:rPr>
              <a:t>　  </a:t>
            </a:r>
            <a:r>
              <a:rPr lang="zh-CN" altLang="en-US" b="1">
                <a:latin typeface="宋体" pitchFamily="2" charset="-122"/>
              </a:rPr>
              <a:t>段：</a:t>
            </a:r>
            <a:r>
              <a:rPr lang="zh-CN" altLang="en-US">
                <a:latin typeface="宋体" pitchFamily="2" charset="-122"/>
              </a:rPr>
              <a:t>按照程序的逻辑结构划分成的多个相对独立部分，作为独立的逻辑单位。</a:t>
            </a:r>
          </a:p>
          <a:p>
            <a:r>
              <a:rPr lang="zh-CN" altLang="en-US">
                <a:latin typeface="宋体" pitchFamily="2" charset="-122"/>
              </a:rPr>
              <a:t>　　</a:t>
            </a:r>
            <a:r>
              <a:rPr lang="zh-CN" altLang="en-US" b="1">
                <a:latin typeface="宋体" pitchFamily="2" charset="-122"/>
              </a:rPr>
              <a:t>优点：</a:t>
            </a:r>
            <a:r>
              <a:rPr lang="zh-CN" altLang="en-US">
                <a:latin typeface="宋体" pitchFamily="2" charset="-122"/>
              </a:rPr>
              <a:t>段的逻辑独立性使它易于编译、管理、修改和保护</a:t>
            </a:r>
            <a:r>
              <a:rPr lang="en-US" altLang="zh-CN">
                <a:latin typeface="宋体" pitchFamily="2" charset="-122"/>
              </a:rPr>
              <a:t>,</a:t>
            </a:r>
            <a:r>
              <a:rPr lang="zh-CN" altLang="en-US">
                <a:latin typeface="宋体" pitchFamily="2" charset="-122"/>
              </a:rPr>
              <a:t>也便于多道程序共享；某些类型的段具有动态可变长度</a:t>
            </a:r>
            <a:r>
              <a:rPr lang="en-US" altLang="zh-CN">
                <a:latin typeface="宋体" pitchFamily="2" charset="-122"/>
              </a:rPr>
              <a:t>,</a:t>
            </a:r>
            <a:r>
              <a:rPr lang="zh-CN" altLang="en-US">
                <a:latin typeface="宋体" pitchFamily="2" charset="-122"/>
              </a:rPr>
              <a:t>允许自由调度以便有效利用主存空间。</a:t>
            </a:r>
          </a:p>
          <a:p>
            <a:r>
              <a:rPr lang="zh-CN" altLang="en-US">
                <a:latin typeface="宋体" pitchFamily="2" charset="-122"/>
              </a:rPr>
              <a:t>　　</a:t>
            </a:r>
            <a:r>
              <a:rPr lang="zh-CN" altLang="en-US" b="1">
                <a:latin typeface="宋体" pitchFamily="2" charset="-122"/>
              </a:rPr>
              <a:t>缺点：</a:t>
            </a:r>
            <a:r>
              <a:rPr lang="zh-CN" altLang="en-US">
                <a:latin typeface="宋体" pitchFamily="2" charset="-122"/>
              </a:rPr>
              <a:t>因为段的长度各不相同，起点和终点不定，给主存空间分配带来麻烦，而且容易在段间留下许多空余的零碎存储空间，造成浪费。</a:t>
            </a:r>
          </a:p>
        </p:txBody>
      </p:sp>
      <p:sp>
        <p:nvSpPr>
          <p:cNvPr id="107523" name="Rectangle 3"/>
          <p:cNvSpPr>
            <a:spLocks noChangeArrowheads="1"/>
          </p:cNvSpPr>
          <p:nvPr/>
        </p:nvSpPr>
        <p:spPr bwMode="auto">
          <a:xfrm>
            <a:off x="250825" y="2279650"/>
            <a:ext cx="8512175" cy="39354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a:latin typeface="宋体" pitchFamily="2" charset="-122"/>
              </a:rPr>
              <a:t>　　</a:t>
            </a:r>
            <a:r>
              <a:rPr lang="zh-CN" altLang="en-US" b="1">
                <a:latin typeface="宋体" pitchFamily="2" charset="-122"/>
              </a:rPr>
              <a:t>页：</a:t>
            </a:r>
            <a:r>
              <a:rPr lang="zh-CN" altLang="en-US">
                <a:latin typeface="宋体" pitchFamily="2" charset="-122"/>
              </a:rPr>
              <a:t>主存物理空间中划分出来的等长的固定区域。</a:t>
            </a:r>
          </a:p>
          <a:p>
            <a:r>
              <a:rPr lang="zh-CN" altLang="en-US">
                <a:latin typeface="宋体" pitchFamily="2" charset="-122"/>
              </a:rPr>
              <a:t>　　</a:t>
            </a:r>
            <a:r>
              <a:rPr lang="zh-CN" altLang="en-US" b="1">
                <a:latin typeface="宋体" pitchFamily="2" charset="-122"/>
              </a:rPr>
              <a:t>优点：</a:t>
            </a:r>
            <a:r>
              <a:rPr lang="zh-CN" altLang="en-US">
                <a:latin typeface="宋体" pitchFamily="2" charset="-122"/>
              </a:rPr>
              <a:t>页面的起点和终点地址是固定的</a:t>
            </a:r>
            <a:r>
              <a:rPr lang="en-US" altLang="zh-CN">
                <a:latin typeface="宋体" pitchFamily="2" charset="-122"/>
              </a:rPr>
              <a:t>,</a:t>
            </a:r>
            <a:r>
              <a:rPr lang="zh-CN" altLang="en-US">
                <a:latin typeface="宋体" pitchFamily="2" charset="-122"/>
              </a:rPr>
              <a:t>方便造页表</a:t>
            </a:r>
            <a:r>
              <a:rPr lang="en-US" altLang="zh-CN">
                <a:latin typeface="宋体" pitchFamily="2" charset="-122"/>
              </a:rPr>
              <a:t>,</a:t>
            </a:r>
            <a:r>
              <a:rPr lang="zh-CN" altLang="en-US">
                <a:latin typeface="宋体" pitchFamily="2" charset="-122"/>
              </a:rPr>
              <a:t>新页调入主存也很容易掌握，比段式空间浪费小。</a:t>
            </a:r>
          </a:p>
          <a:p>
            <a:r>
              <a:rPr lang="zh-CN" altLang="en-US">
                <a:latin typeface="宋体" pitchFamily="2" charset="-122"/>
              </a:rPr>
              <a:t>　　</a:t>
            </a:r>
            <a:r>
              <a:rPr lang="zh-CN" altLang="en-US" b="1">
                <a:latin typeface="宋体" pitchFamily="2" charset="-122"/>
              </a:rPr>
              <a:t>缺点：</a:t>
            </a:r>
            <a:r>
              <a:rPr lang="zh-CN" altLang="en-US">
                <a:latin typeface="宋体" pitchFamily="2" charset="-122"/>
              </a:rPr>
              <a:t>处理、保护和共享都不及段式来得方便。 </a:t>
            </a:r>
          </a:p>
          <a:p>
            <a:r>
              <a:rPr lang="zh-CN" altLang="en-US">
                <a:latin typeface="宋体" pitchFamily="2" charset="-122"/>
              </a:rPr>
              <a:t>　　</a:t>
            </a:r>
          </a:p>
          <a:p>
            <a:r>
              <a:rPr lang="zh-CN" altLang="en-US">
                <a:latin typeface="宋体" pitchFamily="2" charset="-122"/>
              </a:rPr>
              <a:t>    </a:t>
            </a:r>
            <a:r>
              <a:rPr lang="zh-CN" altLang="en-US" b="1">
                <a:latin typeface="宋体" pitchFamily="2" charset="-122"/>
              </a:rPr>
              <a:t>段页式管理：</a:t>
            </a:r>
            <a:r>
              <a:rPr lang="zh-CN" altLang="en-US">
                <a:latin typeface="宋体" pitchFamily="2" charset="-122"/>
              </a:rPr>
              <a:t>采用分段和分页结合的方法。</a:t>
            </a:r>
          </a:p>
          <a:p>
            <a:r>
              <a:rPr lang="zh-CN" altLang="en-US">
                <a:latin typeface="宋体" pitchFamily="2" charset="-122"/>
              </a:rPr>
              <a:t>　　程序按模块分段，段内再分页，进入主存以页为基本信息传送单位，用段表和页表进行两级定位管理。</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7523"/>
                                        </p:tgtEl>
                                        <p:attrNameLst>
                                          <p:attrName>style.visibility</p:attrName>
                                        </p:attrNameLst>
                                      </p:cBhvr>
                                      <p:to>
                                        <p:strVal val="visible"/>
                                      </p:to>
                                    </p:set>
                                    <p:animEffect transition="in" filter="dissolve">
                                      <p:cBhvr>
                                        <p:cTn id="7" dur="500"/>
                                        <p:tgtEl>
                                          <p:spTgt spid="107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body" idx="1"/>
          </p:nvPr>
        </p:nvSpPr>
        <p:spPr>
          <a:xfrm>
            <a:off x="152400" y="228600"/>
            <a:ext cx="8763000" cy="3810000"/>
          </a:xfrm>
          <a:solidFill>
            <a:srgbClr val="CCECFF"/>
          </a:solidFill>
        </p:spPr>
        <p:txBody>
          <a:bodyPr/>
          <a:lstStyle/>
          <a:p>
            <a:pPr>
              <a:lnSpc>
                <a:spcPct val="90000"/>
              </a:lnSpc>
              <a:buFont typeface="Wingdings" pitchFamily="2" charset="2"/>
              <a:buNone/>
            </a:pPr>
            <a:r>
              <a:rPr lang="en-US" altLang="zh-CN" sz="3600" b="1" smtClean="0">
                <a:latin typeface="宋体" pitchFamily="2" charset="-122"/>
              </a:rPr>
              <a:t>3.7.2 </a:t>
            </a:r>
            <a:r>
              <a:rPr lang="zh-CN" altLang="en-US" sz="3600" b="1" smtClean="0">
                <a:latin typeface="宋体" pitchFamily="2" charset="-122"/>
              </a:rPr>
              <a:t>页式虚存存储器</a:t>
            </a:r>
          </a:p>
          <a:p>
            <a:pPr>
              <a:lnSpc>
                <a:spcPct val="90000"/>
              </a:lnSpc>
              <a:buFont typeface="Wingdings" pitchFamily="2" charset="2"/>
              <a:buNone/>
            </a:pPr>
            <a:r>
              <a:rPr lang="en-US" altLang="zh-CN" sz="2800" smtClean="0">
                <a:latin typeface="宋体" pitchFamily="2" charset="-122"/>
              </a:rPr>
              <a:t>1</a:t>
            </a:r>
            <a:r>
              <a:rPr lang="zh-CN" altLang="en-US" sz="2800" smtClean="0">
                <a:latin typeface="宋体" pitchFamily="2" charset="-122"/>
              </a:rPr>
              <a:t>、页式虚存地址映射</a:t>
            </a:r>
          </a:p>
          <a:p>
            <a:pPr>
              <a:lnSpc>
                <a:spcPct val="90000"/>
              </a:lnSpc>
              <a:buFont typeface="Wingdings" pitchFamily="2" charset="2"/>
              <a:buNone/>
            </a:pPr>
            <a:r>
              <a:rPr lang="zh-CN" altLang="en-US" sz="2800" smtClean="0">
                <a:latin typeface="宋体" pitchFamily="2" charset="-122"/>
              </a:rPr>
              <a:t>     页式虚拟存储系统中，虚地址空间被分成等长大小的页，称为逻辑页；主存空间也被分成同样大小的页，称为物理页。相应地，虚地址分为两个字段：高字段为逻辑页号，低字段为页内地址（偏移量）；实存地址也分两个字段：高字段为物理页号，低字段为页内地址。通过页表可以把虚地址（逻辑地址）转换成物理地址。</a:t>
            </a:r>
          </a:p>
        </p:txBody>
      </p:sp>
      <p:graphicFrame>
        <p:nvGraphicFramePr>
          <p:cNvPr id="10242" name="Object 5"/>
          <p:cNvGraphicFramePr>
            <a:graphicFrameLocks noChangeAspect="1"/>
          </p:cNvGraphicFramePr>
          <p:nvPr/>
        </p:nvGraphicFramePr>
        <p:xfrm>
          <a:off x="152400" y="4038600"/>
          <a:ext cx="8763000" cy="2686050"/>
        </p:xfrm>
        <a:graphic>
          <a:graphicData uri="http://schemas.openxmlformats.org/presentationml/2006/ole">
            <mc:AlternateContent xmlns:mc="http://schemas.openxmlformats.org/markup-compatibility/2006">
              <mc:Choice xmlns:v="urn:schemas-microsoft-com:vml" Requires="v">
                <p:oleObj spid="_x0000_s10370" name="位图图像" r:id="rId3" imgW="3142857" imgH="3219899" progId="PBrush">
                  <p:embed/>
                </p:oleObj>
              </mc:Choice>
              <mc:Fallback>
                <p:oleObj name="位图图像" r:id="rId3" imgW="3142857" imgH="3219899" progId="PBrush">
                  <p:embed/>
                  <p:pic>
                    <p:nvPicPr>
                      <p:cNvPr id="0"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4038600"/>
                        <a:ext cx="8763000" cy="268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descr="9a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692150"/>
            <a:ext cx="7561263"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099" name="Rectangle 3"/>
          <p:cNvSpPr>
            <a:spLocks noChangeArrowheads="1"/>
          </p:cNvSpPr>
          <p:nvPr/>
        </p:nvSpPr>
        <p:spPr bwMode="auto">
          <a:xfrm>
            <a:off x="250825" y="58738"/>
            <a:ext cx="51847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chemeClr val="tx2"/>
                </a:solidFill>
              </a:rPr>
              <a:t>页式虚拟存储器的地址映射过程</a:t>
            </a:r>
          </a:p>
        </p:txBody>
      </p:sp>
      <p:pic>
        <p:nvPicPr>
          <p:cNvPr id="132100" name="Picture 6">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2852738"/>
            <a:ext cx="4095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9" name="Rectangle 11"/>
          <p:cNvSpPr>
            <a:spLocks noChangeArrowheads="1"/>
          </p:cNvSpPr>
          <p:nvPr/>
        </p:nvSpPr>
        <p:spPr bwMode="auto">
          <a:xfrm>
            <a:off x="228600" y="4876800"/>
            <a:ext cx="8512175" cy="180022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a:latin typeface="宋体" pitchFamily="2" charset="-122"/>
              </a:rPr>
              <a:t>　　</a:t>
            </a:r>
            <a:r>
              <a:rPr lang="zh-CN" altLang="en-US"/>
              <a:t>在大多数系统中，每个进程对应一个页表。页表中对应每一个虚存页面有一个表项，表项的内容包含该虚存页面所在的主存页面的地址（物理页号），以及指示该逻辑页是否已调入主存的有效位。</a:t>
            </a:r>
            <a:endParaRPr lang="zh-CN" altLang="en-US">
              <a:latin typeface="宋体" pitchFamily="2" charset="-122"/>
            </a:endParaRPr>
          </a:p>
        </p:txBody>
      </p:sp>
      <p:sp>
        <p:nvSpPr>
          <p:cNvPr id="109580" name="Rectangle 12"/>
          <p:cNvSpPr>
            <a:spLocks noChangeArrowheads="1"/>
          </p:cNvSpPr>
          <p:nvPr/>
        </p:nvSpPr>
        <p:spPr bwMode="auto">
          <a:xfrm>
            <a:off x="228600" y="4876800"/>
            <a:ext cx="8512175" cy="180022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a:latin typeface="宋体" pitchFamily="2" charset="-122"/>
              </a:rPr>
              <a:t>　　</a:t>
            </a:r>
            <a:r>
              <a:rPr lang="zh-CN" altLang="en-US"/>
              <a:t>地址变换时，用逻辑页号作为页表内的偏移地址索引页表（将虚页号看作页表数组下标）并找到相应物理页号，用物理页号作为实存地址的高字段，再与虚地址的页内偏移量拼接，就构成完整的物理地址。</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9579"/>
                                        </p:tgtEl>
                                        <p:attrNameLst>
                                          <p:attrName>style.visibility</p:attrName>
                                        </p:attrNameLst>
                                      </p:cBhvr>
                                      <p:to>
                                        <p:strVal val="visible"/>
                                      </p:to>
                                    </p:set>
                                    <p:animEffect transition="in" filter="dissolve">
                                      <p:cBhvr>
                                        <p:cTn id="7" dur="500"/>
                                        <p:tgtEl>
                                          <p:spTgt spid="1095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9580"/>
                                        </p:tgtEl>
                                        <p:attrNameLst>
                                          <p:attrName>style.visibility</p:attrName>
                                        </p:attrNameLst>
                                      </p:cBhvr>
                                      <p:to>
                                        <p:strVal val="visible"/>
                                      </p:to>
                                    </p:set>
                                    <p:animEffect transition="in" filter="dissolve">
                                      <p:cBhvr>
                                        <p:cTn id="12" dur="500"/>
                                        <p:tgtEl>
                                          <p:spTgt spid="109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9" grpId="0" animBg="1" autoUpdateAnimBg="0"/>
      <p:bldP spid="109580" grpId="0" animBg="1"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body" idx="1"/>
          </p:nvPr>
        </p:nvSpPr>
        <p:spPr>
          <a:xfrm>
            <a:off x="304800" y="304800"/>
            <a:ext cx="8534400" cy="4191000"/>
          </a:xfrm>
          <a:solidFill>
            <a:srgbClr val="CCECFF"/>
          </a:solidFill>
        </p:spPr>
        <p:txBody>
          <a:bodyPr/>
          <a:lstStyle/>
          <a:p>
            <a:pPr>
              <a:buFont typeface="Wingdings" pitchFamily="2" charset="2"/>
              <a:buChar char="v"/>
            </a:pPr>
            <a:r>
              <a:rPr lang="zh-CN" altLang="en-US" sz="3200" smtClean="0">
                <a:latin typeface="宋体" pitchFamily="2" charset="-122"/>
              </a:rPr>
              <a:t>每个进程所需的页数并不固定，所以页表的长度是可变的，因此通常的实现方法是把页表的基地址保存在寄存器中，而页表本身则放在主存中。 </a:t>
            </a:r>
          </a:p>
          <a:p>
            <a:pPr>
              <a:buFont typeface="Wingdings" pitchFamily="2" charset="2"/>
              <a:buNone/>
            </a:pPr>
            <a:r>
              <a:rPr lang="zh-CN" altLang="en-US" sz="3200" smtClean="0">
                <a:latin typeface="宋体" pitchFamily="2" charset="-122"/>
              </a:rPr>
              <a:t>      由于虚存地址空间可以很大，因而每个进程的页表有可能非常长。例如，如果一个进程的虚地址空间为</a:t>
            </a:r>
            <a:r>
              <a:rPr lang="en-US" altLang="zh-CN" sz="3200" smtClean="0">
                <a:latin typeface="宋体" pitchFamily="2" charset="-122"/>
              </a:rPr>
              <a:t>2G</a:t>
            </a:r>
            <a:r>
              <a:rPr lang="zh-CN" altLang="en-US" sz="3200" smtClean="0">
                <a:latin typeface="宋体" pitchFamily="2" charset="-122"/>
              </a:rPr>
              <a:t>字节，每页的大小为</a:t>
            </a:r>
            <a:r>
              <a:rPr lang="en-US" altLang="zh-CN" sz="3200" smtClean="0">
                <a:latin typeface="宋体" pitchFamily="2" charset="-122"/>
              </a:rPr>
              <a:t>512</a:t>
            </a:r>
            <a:r>
              <a:rPr lang="zh-CN" altLang="en-US" sz="3200" smtClean="0">
                <a:latin typeface="宋体" pitchFamily="2" charset="-122"/>
              </a:rPr>
              <a:t>字节，则总的虚页数为</a:t>
            </a:r>
            <a:r>
              <a:rPr lang="en-US" altLang="zh-CN" sz="3200" smtClean="0">
                <a:latin typeface="宋体" pitchFamily="2" charset="-122"/>
              </a:rPr>
              <a:t>2</a:t>
            </a:r>
            <a:r>
              <a:rPr lang="en-US" altLang="zh-CN" sz="3200" baseline="30000" smtClean="0">
                <a:latin typeface="宋体" pitchFamily="2" charset="-122"/>
              </a:rPr>
              <a:t>31</a:t>
            </a:r>
            <a:r>
              <a:rPr lang="en-US" altLang="zh-CN" sz="3200" smtClean="0">
                <a:latin typeface="宋体" pitchFamily="2" charset="-122"/>
              </a:rPr>
              <a:t>/2</a:t>
            </a:r>
            <a:r>
              <a:rPr lang="en-US" altLang="zh-CN" sz="3200" baseline="30000" smtClean="0">
                <a:latin typeface="宋体" pitchFamily="2" charset="-122"/>
              </a:rPr>
              <a:t>9</a:t>
            </a:r>
            <a:r>
              <a:rPr lang="en-US" altLang="zh-CN" sz="3200" smtClean="0">
                <a:latin typeface="宋体" pitchFamily="2" charset="-122"/>
              </a:rPr>
              <a:t>=2</a:t>
            </a:r>
            <a:r>
              <a:rPr lang="en-US" altLang="zh-CN" sz="3200" baseline="30000" smtClean="0">
                <a:latin typeface="宋体" pitchFamily="2" charset="-122"/>
              </a:rPr>
              <a:t>22</a:t>
            </a:r>
            <a:r>
              <a:rPr lang="zh-CN" altLang="en-US" sz="3200" smtClean="0">
                <a:latin typeface="宋体" pitchFamily="2"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ChangeArrowheads="1"/>
          </p:cNvSpPr>
          <p:nvPr/>
        </p:nvSpPr>
        <p:spPr bwMode="auto">
          <a:xfrm>
            <a:off x="179388" y="109538"/>
            <a:ext cx="8659812" cy="659606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tx2"/>
              </a:buClr>
              <a:buSzPct val="70000"/>
              <a:buFont typeface="Wingdings" pitchFamily="2" charset="2"/>
              <a:buChar char="v"/>
            </a:pPr>
            <a:r>
              <a:rPr lang="zh-CN" altLang="en-US" sz="3200">
                <a:latin typeface="宋体" pitchFamily="2" charset="-122"/>
              </a:rPr>
              <a:t>为了节省页表本身占用的主存空间，一些系统把页表存储在虚存中，因而页表本身也要进行分页。当一个进程运行时，其页表中一部分在主存中，另一部分则在辅存中保存。</a:t>
            </a:r>
          </a:p>
          <a:p>
            <a:pPr marL="342900" indent="-342900">
              <a:lnSpc>
                <a:spcPct val="90000"/>
              </a:lnSpc>
              <a:spcBef>
                <a:spcPct val="20000"/>
              </a:spcBef>
              <a:buClr>
                <a:schemeClr val="tx2"/>
              </a:buClr>
              <a:buSzPct val="70000"/>
              <a:buFont typeface="Wingdings" pitchFamily="2" charset="2"/>
              <a:buChar char="v"/>
            </a:pPr>
            <a:r>
              <a:rPr lang="zh-CN" altLang="en-US" sz="3200">
                <a:latin typeface="宋体" pitchFamily="2" charset="-122"/>
              </a:rPr>
              <a:t>另一些系统采用二级页表结构。每个进程有一个页目录表，其中的每个表项指向一个页表。</a:t>
            </a:r>
          </a:p>
          <a:p>
            <a:pPr marL="342900" indent="-342900">
              <a:lnSpc>
                <a:spcPct val="90000"/>
              </a:lnSpc>
              <a:spcBef>
                <a:spcPct val="20000"/>
              </a:spcBef>
              <a:buClr>
                <a:schemeClr val="tx2"/>
              </a:buClr>
              <a:buSzPct val="70000"/>
              <a:buFont typeface="Wingdings" pitchFamily="2" charset="2"/>
              <a:buNone/>
            </a:pPr>
            <a:r>
              <a:rPr lang="zh-CN" altLang="en-US" sz="3200">
                <a:latin typeface="宋体" pitchFamily="2" charset="-122"/>
              </a:rPr>
              <a:t>      </a:t>
            </a:r>
          </a:p>
          <a:p>
            <a:pPr marL="342900" indent="-342900">
              <a:lnSpc>
                <a:spcPct val="90000"/>
              </a:lnSpc>
              <a:spcBef>
                <a:spcPct val="20000"/>
              </a:spcBef>
              <a:buClr>
                <a:schemeClr val="tx2"/>
              </a:buClr>
              <a:buSzPct val="70000"/>
              <a:buFont typeface="Wingdings" pitchFamily="2" charset="2"/>
              <a:buNone/>
            </a:pPr>
            <a:endParaRPr lang="zh-CN" altLang="en-US" sz="3200">
              <a:latin typeface="宋体" pitchFamily="2" charset="-122"/>
            </a:endParaRPr>
          </a:p>
          <a:p>
            <a:pPr marL="342900" indent="-342900">
              <a:lnSpc>
                <a:spcPct val="90000"/>
              </a:lnSpc>
              <a:spcBef>
                <a:spcPct val="20000"/>
              </a:spcBef>
              <a:buClr>
                <a:schemeClr val="tx2"/>
              </a:buClr>
              <a:buSzPct val="70000"/>
              <a:buFont typeface="Wingdings" pitchFamily="2" charset="2"/>
              <a:buNone/>
            </a:pPr>
            <a:endParaRPr lang="zh-CN" altLang="en-US" sz="3200">
              <a:latin typeface="宋体" pitchFamily="2" charset="-122"/>
            </a:endParaRPr>
          </a:p>
          <a:p>
            <a:pPr marL="342900" indent="-342900">
              <a:lnSpc>
                <a:spcPct val="90000"/>
              </a:lnSpc>
              <a:spcBef>
                <a:spcPct val="20000"/>
              </a:spcBef>
              <a:buClr>
                <a:schemeClr val="tx2"/>
              </a:buClr>
              <a:buSzPct val="70000"/>
              <a:buFont typeface="Wingdings" pitchFamily="2" charset="2"/>
              <a:buNone/>
            </a:pPr>
            <a:endParaRPr lang="zh-CN" altLang="en-US" sz="3200">
              <a:latin typeface="宋体" pitchFamily="2" charset="-122"/>
            </a:endParaRPr>
          </a:p>
          <a:p>
            <a:pPr marL="342900" indent="-342900">
              <a:lnSpc>
                <a:spcPct val="90000"/>
              </a:lnSpc>
              <a:spcBef>
                <a:spcPct val="20000"/>
              </a:spcBef>
              <a:buClr>
                <a:schemeClr val="tx2"/>
              </a:buClr>
              <a:buSzPct val="70000"/>
              <a:buFont typeface="Wingdings" pitchFamily="2" charset="2"/>
              <a:buNone/>
            </a:pPr>
            <a:r>
              <a:rPr lang="zh-CN" altLang="en-US" sz="3200">
                <a:latin typeface="宋体" pitchFamily="2" charset="-122"/>
              </a:rPr>
              <a:t>      若页目录表的长度（表项数）是</a:t>
            </a:r>
            <a:r>
              <a:rPr lang="en-US" altLang="zh-CN" sz="3200">
                <a:latin typeface="宋体" pitchFamily="2" charset="-122"/>
              </a:rPr>
              <a:t>m,</a:t>
            </a:r>
            <a:r>
              <a:rPr lang="zh-CN" altLang="en-US" sz="3200">
                <a:latin typeface="宋体" pitchFamily="2" charset="-122"/>
              </a:rPr>
              <a:t>每个页表的最大长度（表项数）为</a:t>
            </a:r>
            <a:r>
              <a:rPr lang="en-US" altLang="zh-CN" sz="3200">
                <a:latin typeface="宋体" pitchFamily="2" charset="-122"/>
              </a:rPr>
              <a:t>n,</a:t>
            </a:r>
            <a:r>
              <a:rPr lang="zh-CN" altLang="en-US" sz="3200">
                <a:latin typeface="宋体" pitchFamily="2" charset="-122"/>
              </a:rPr>
              <a:t>则一个进程最多可以有</a:t>
            </a:r>
            <a:r>
              <a:rPr lang="en-US" altLang="zh-CN" sz="3200">
                <a:latin typeface="宋体" pitchFamily="2" charset="-122"/>
              </a:rPr>
              <a:t>m×n</a:t>
            </a:r>
            <a:r>
              <a:rPr lang="zh-CN" altLang="en-US" sz="3200">
                <a:latin typeface="宋体" pitchFamily="2" charset="-122"/>
              </a:rPr>
              <a:t>个页。</a:t>
            </a:r>
          </a:p>
        </p:txBody>
      </p:sp>
      <p:graphicFrame>
        <p:nvGraphicFramePr>
          <p:cNvPr id="11266" name="Object 3"/>
          <p:cNvGraphicFramePr>
            <a:graphicFrameLocks noChangeAspect="1"/>
          </p:cNvGraphicFramePr>
          <p:nvPr/>
        </p:nvGraphicFramePr>
        <p:xfrm>
          <a:off x="762000" y="3276600"/>
          <a:ext cx="7467600" cy="1905000"/>
        </p:xfrm>
        <a:graphic>
          <a:graphicData uri="http://schemas.openxmlformats.org/presentationml/2006/ole">
            <mc:AlternateContent xmlns:mc="http://schemas.openxmlformats.org/markup-compatibility/2006">
              <mc:Choice xmlns:v="urn:schemas-microsoft-com:vml" Requires="v">
                <p:oleObj spid="_x0000_s11394" name="位图图像" r:id="rId3" imgW="4447619" imgH="2591162" progId="PBrush">
                  <p:embed/>
                </p:oleObj>
              </mc:Choice>
              <mc:Fallback>
                <p:oleObj name="位图图像" r:id="rId3" imgW="4447619" imgH="2591162" progId="PBrush">
                  <p:embed/>
                  <p:pic>
                    <p:nvPicPr>
                      <p:cNvPr id="0"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276600"/>
                        <a:ext cx="74676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ChangeArrowheads="1"/>
          </p:cNvSpPr>
          <p:nvPr/>
        </p:nvSpPr>
        <p:spPr bwMode="auto">
          <a:xfrm>
            <a:off x="304800" y="304800"/>
            <a:ext cx="8534400" cy="50720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Clr>
                <a:schemeClr val="tx2"/>
              </a:buClr>
              <a:buSzPct val="70000"/>
              <a:buFont typeface="Wingdings" pitchFamily="2" charset="2"/>
              <a:buChar char="v"/>
            </a:pPr>
            <a:r>
              <a:rPr lang="zh-CN" altLang="en-US" sz="3200">
                <a:latin typeface="宋体" pitchFamily="2" charset="-122"/>
              </a:rPr>
              <a:t>在页表长度较大的系统中，还可以采用反向页表实现物理页号到逻辑页号的反向映射。</a:t>
            </a:r>
          </a:p>
          <a:p>
            <a:pPr marL="342900" indent="-342900">
              <a:lnSpc>
                <a:spcPct val="90000"/>
              </a:lnSpc>
              <a:spcBef>
                <a:spcPct val="20000"/>
              </a:spcBef>
              <a:buClr>
                <a:schemeClr val="tx2"/>
              </a:buClr>
              <a:buSzPct val="70000"/>
              <a:buFont typeface="Wingdings" pitchFamily="2" charset="2"/>
              <a:buNone/>
            </a:pPr>
            <a:r>
              <a:rPr lang="zh-CN" altLang="en-US" sz="3200">
                <a:latin typeface="宋体" pitchFamily="2" charset="-122"/>
              </a:rPr>
              <a:t>      页表中对应每一个物理页号有一个表项，表项的内容包含该物理页所对应的逻辑页号。</a:t>
            </a:r>
          </a:p>
          <a:p>
            <a:pPr marL="342900" indent="-342900">
              <a:lnSpc>
                <a:spcPct val="90000"/>
              </a:lnSpc>
              <a:spcBef>
                <a:spcPct val="20000"/>
              </a:spcBef>
              <a:buClr>
                <a:schemeClr val="tx2"/>
              </a:buClr>
              <a:buSzPct val="70000"/>
              <a:buFont typeface="Wingdings" pitchFamily="2" charset="2"/>
              <a:buNone/>
            </a:pPr>
            <a:r>
              <a:rPr lang="zh-CN" altLang="en-US" sz="3200">
                <a:latin typeface="宋体" pitchFamily="2" charset="-122"/>
              </a:rPr>
              <a:t>      访存时，通过逻辑页号在反向页表中逐一查找。如果找到匹配的页，则用表项中的物理页号取代逻辑页号；如果没有匹配表项，则说明该页不在主存中。这种方式的优点是页表所占空间大大缩小，但代价是需要对反向页表进行检索，查表的时间很长。有些系统通过散列（哈希）表加以改进。</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5"/>
          <p:cNvSpPr>
            <a:spLocks noChangeArrowheads="1"/>
          </p:cNvSpPr>
          <p:nvPr/>
        </p:nvSpPr>
        <p:spPr bwMode="auto">
          <a:xfrm>
            <a:off x="179388" y="188913"/>
            <a:ext cx="8785225" cy="3074987"/>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latin typeface="宋体" pitchFamily="2" charset="-122"/>
              </a:rPr>
              <a:t>2</a:t>
            </a:r>
            <a:r>
              <a:rPr lang="zh-CN" altLang="en-US">
                <a:latin typeface="宋体" pitchFamily="2" charset="-122"/>
              </a:rPr>
              <a:t>、转换后援缓冲器</a:t>
            </a:r>
          </a:p>
          <a:p>
            <a:r>
              <a:rPr lang="zh-CN" altLang="en-US" sz="2400">
                <a:latin typeface="宋体" pitchFamily="2" charset="-122"/>
              </a:rPr>
              <a:t>    由于页表通常在主存中，因而即使逻辑页已经在主存中，也至少要访问两次物理存储器才能实现一次访存，这将使虚拟存储器的存取时间加倍。为了避免对主存访问次数的增多，可以对页表本身实行二级缓存，把页表中的最活跃的部分存放在高速存储器中，组成快表。这个专用于页表缓存的高速存储部件通常称为转换后援缓冲器</a:t>
            </a:r>
            <a:r>
              <a:rPr lang="en-US" altLang="zh-CN" sz="2400">
                <a:latin typeface="宋体" pitchFamily="2" charset="-122"/>
              </a:rPr>
              <a:t>(TLB)</a:t>
            </a:r>
            <a:r>
              <a:rPr lang="zh-CN" altLang="en-US" sz="2400">
                <a:latin typeface="宋体" pitchFamily="2" charset="-122"/>
              </a:rPr>
              <a:t>。保存在主存中的完整页表则称为慢表。 </a:t>
            </a:r>
            <a:r>
              <a:rPr lang="en-US" altLang="zh-CN" sz="2400">
                <a:latin typeface="宋体" pitchFamily="2" charset="-122"/>
              </a:rPr>
              <a:t>TLB</a:t>
            </a:r>
            <a:r>
              <a:rPr lang="zh-CN" altLang="en-US" sz="2400">
                <a:latin typeface="宋体" pitchFamily="2" charset="-122"/>
              </a:rPr>
              <a:t>的地址映射过程见图。</a:t>
            </a:r>
          </a:p>
        </p:txBody>
      </p:sp>
      <p:pic>
        <p:nvPicPr>
          <p:cNvPr id="135171" name="Picture 6" descr="9a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188" y="3357563"/>
            <a:ext cx="6697662" cy="316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172" name="Picture 7">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4581525"/>
            <a:ext cx="4095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5"/>
          <p:cNvSpPr>
            <a:spLocks noChangeArrowheads="1"/>
          </p:cNvSpPr>
          <p:nvPr/>
        </p:nvSpPr>
        <p:spPr bwMode="auto">
          <a:xfrm>
            <a:off x="304800" y="381000"/>
            <a:ext cx="8534400" cy="39909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a:latin typeface="宋体" pitchFamily="2" charset="-122"/>
              </a:rPr>
              <a:t>3</a:t>
            </a:r>
            <a:r>
              <a:rPr lang="zh-CN" altLang="en-US" sz="3200">
                <a:latin typeface="宋体" pitchFamily="2" charset="-122"/>
              </a:rPr>
              <a:t>、内页表和外页表</a:t>
            </a:r>
          </a:p>
          <a:p>
            <a:r>
              <a:rPr lang="zh-CN" altLang="en-US" sz="3200">
                <a:latin typeface="宋体" pitchFamily="2" charset="-122"/>
              </a:rPr>
              <a:t>    页表是虚地址到主存物理地址的变换表，通常称为内页表。与内页表对应的还有外页表，用于虚地址与辅存地址之间的变换。当主存缺页时，调页操作首先要定位辅存，而外页表的结构与辅存的寻址机制密切相关。例如对磁盘而言，辅存地址包括磁盘机号、磁头号、磁道号和扇区号等。</a:t>
            </a:r>
            <a:endParaRPr lang="zh-CN" altLang="en-US" sz="3200"/>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4"/>
          <p:cNvSpPr>
            <a:spLocks noChangeArrowheads="1"/>
          </p:cNvSpPr>
          <p:nvPr/>
        </p:nvSpPr>
        <p:spPr bwMode="auto">
          <a:xfrm>
            <a:off x="323850" y="188913"/>
            <a:ext cx="8424863" cy="8223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dirty="0">
                <a:latin typeface="宋体" pitchFamily="2" charset="-122"/>
              </a:rPr>
              <a:t>P296</a:t>
            </a:r>
            <a:r>
              <a:rPr lang="zh-CN" altLang="en-US" sz="2400" dirty="0">
                <a:latin typeface="宋体" pitchFamily="2" charset="-122"/>
              </a:rPr>
              <a:t>、</a:t>
            </a:r>
            <a:r>
              <a:rPr lang="en-US" altLang="zh-CN" sz="2400" dirty="0">
                <a:latin typeface="宋体" pitchFamily="2" charset="-122"/>
              </a:rPr>
              <a:t>7 </a:t>
            </a:r>
            <a:r>
              <a:rPr lang="zh-CN" altLang="en-US" sz="2400" dirty="0">
                <a:latin typeface="宋体" pitchFamily="2" charset="-122"/>
              </a:rPr>
              <a:t>主存容量为</a:t>
            </a:r>
            <a:r>
              <a:rPr lang="en-US" altLang="zh-CN" sz="2400" dirty="0">
                <a:latin typeface="宋体" pitchFamily="2" charset="-122"/>
              </a:rPr>
              <a:t>4MB</a:t>
            </a:r>
            <a:r>
              <a:rPr lang="zh-CN" altLang="en-US" sz="2400" dirty="0">
                <a:latin typeface="宋体" pitchFamily="2" charset="-122"/>
              </a:rPr>
              <a:t>，虚存容量为</a:t>
            </a:r>
            <a:r>
              <a:rPr lang="en-US" altLang="zh-CN" sz="2400" dirty="0">
                <a:latin typeface="宋体" pitchFamily="2" charset="-122"/>
              </a:rPr>
              <a:t>1GB</a:t>
            </a:r>
            <a:r>
              <a:rPr lang="zh-CN" altLang="en-US" sz="2400" dirty="0">
                <a:latin typeface="宋体" pitchFamily="2" charset="-122"/>
              </a:rPr>
              <a:t>，则虚存地址和物理地址各为多少位？如页面大小为</a:t>
            </a:r>
            <a:r>
              <a:rPr lang="en-US" altLang="zh-CN" sz="2400" dirty="0">
                <a:latin typeface="宋体" pitchFamily="2" charset="-122"/>
              </a:rPr>
              <a:t>4KB</a:t>
            </a:r>
            <a:r>
              <a:rPr lang="zh-CN" altLang="en-US" sz="2400" dirty="0">
                <a:latin typeface="宋体" pitchFamily="2" charset="-122"/>
              </a:rPr>
              <a:t>，则页表长度是多少？</a:t>
            </a:r>
          </a:p>
        </p:txBody>
      </p:sp>
      <p:sp>
        <p:nvSpPr>
          <p:cNvPr id="118789" name="Rectangle 5"/>
          <p:cNvSpPr>
            <a:spLocks noChangeArrowheads="1"/>
          </p:cNvSpPr>
          <p:nvPr/>
        </p:nvSpPr>
        <p:spPr bwMode="auto">
          <a:xfrm>
            <a:off x="323850" y="1120775"/>
            <a:ext cx="8424863" cy="8318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a:latin typeface="宋体" pitchFamily="2" charset="-122"/>
              </a:rPr>
              <a:t>解：虚存地址为</a:t>
            </a:r>
            <a:r>
              <a:rPr lang="en-US" altLang="zh-CN" sz="2400">
                <a:latin typeface="宋体" pitchFamily="2" charset="-122"/>
              </a:rPr>
              <a:t>30</a:t>
            </a:r>
            <a:r>
              <a:rPr lang="zh-CN" altLang="en-US" sz="2400">
                <a:latin typeface="宋体" pitchFamily="2" charset="-122"/>
              </a:rPr>
              <a:t>位，物理地址为</a:t>
            </a:r>
            <a:r>
              <a:rPr lang="en-US" altLang="zh-CN" sz="2400">
                <a:latin typeface="宋体" pitchFamily="2" charset="-122"/>
              </a:rPr>
              <a:t>22</a:t>
            </a:r>
            <a:r>
              <a:rPr lang="zh-CN" altLang="en-US" sz="2400">
                <a:latin typeface="宋体" pitchFamily="2" charset="-122"/>
              </a:rPr>
              <a:t>位。</a:t>
            </a:r>
          </a:p>
          <a:p>
            <a:r>
              <a:rPr lang="zh-CN" altLang="en-US" sz="2400">
                <a:latin typeface="宋体" pitchFamily="2" charset="-122"/>
              </a:rPr>
              <a:t>    页面长度为</a:t>
            </a:r>
            <a:r>
              <a:rPr lang="en-US" altLang="zh-CN" sz="2400">
                <a:latin typeface="宋体" pitchFamily="2" charset="-122"/>
              </a:rPr>
              <a:t>1GB/4KB = 256K</a:t>
            </a:r>
          </a:p>
        </p:txBody>
      </p:sp>
      <p:sp>
        <p:nvSpPr>
          <p:cNvPr id="118790" name="Rectangle 6"/>
          <p:cNvSpPr>
            <a:spLocks noChangeArrowheads="1"/>
          </p:cNvSpPr>
          <p:nvPr/>
        </p:nvSpPr>
        <p:spPr bwMode="auto">
          <a:xfrm>
            <a:off x="323850" y="4076700"/>
            <a:ext cx="8426450" cy="26479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latin typeface="宋体" pitchFamily="2" charset="-122"/>
              </a:rPr>
              <a:t>解：</a:t>
            </a:r>
          </a:p>
          <a:p>
            <a:r>
              <a:rPr lang="zh-CN" altLang="en-US" sz="2400" dirty="0">
                <a:latin typeface="宋体" pitchFamily="2" charset="-122"/>
              </a:rPr>
              <a:t>    </a:t>
            </a:r>
            <a:r>
              <a:rPr lang="en-US" altLang="zh-CN" sz="2400" dirty="0">
                <a:latin typeface="宋体" pitchFamily="2" charset="-122"/>
              </a:rPr>
              <a:t>(1)</a:t>
            </a:r>
            <a:r>
              <a:rPr lang="zh-CN" altLang="en-US" sz="2400" dirty="0">
                <a:latin typeface="宋体" pitchFamily="2" charset="-122"/>
              </a:rPr>
              <a:t>若页表存放在主存中，则要实现一次页面访问需两次访问主存：一次访问页表，确定所存取页面的物理地址；第二次才根据该地址存取页面数据。</a:t>
            </a:r>
          </a:p>
          <a:p>
            <a:r>
              <a:rPr lang="zh-CN" altLang="en-US" sz="2400" dirty="0">
                <a:latin typeface="宋体" pitchFamily="2" charset="-122"/>
              </a:rPr>
              <a:t>    访问一页内存时间 </a:t>
            </a:r>
            <a:r>
              <a:rPr lang="en-US" altLang="zh-CN" sz="2400" dirty="0">
                <a:latin typeface="宋体" pitchFamily="2" charset="-122"/>
              </a:rPr>
              <a:t>= 50 * 2 = 100</a:t>
            </a:r>
            <a:r>
              <a:rPr lang="zh-CN" altLang="en-US" sz="2400" dirty="0">
                <a:latin typeface="宋体" pitchFamily="2" charset="-122"/>
              </a:rPr>
              <a:t>（</a:t>
            </a:r>
            <a:r>
              <a:rPr lang="en-US" altLang="zh-CN" sz="2400" dirty="0">
                <a:latin typeface="宋体" pitchFamily="2" charset="-122"/>
              </a:rPr>
              <a:t>ns</a:t>
            </a:r>
            <a:r>
              <a:rPr lang="zh-CN" altLang="en-US" sz="2400" dirty="0">
                <a:latin typeface="宋体" pitchFamily="2" charset="-122"/>
              </a:rPr>
              <a:t>）</a:t>
            </a:r>
          </a:p>
          <a:p>
            <a:r>
              <a:rPr lang="zh-CN" altLang="en-US" sz="2400" dirty="0">
                <a:latin typeface="宋体" pitchFamily="2" charset="-122"/>
              </a:rPr>
              <a:t>    </a:t>
            </a:r>
            <a:r>
              <a:rPr lang="en-US" altLang="zh-CN" sz="2400" dirty="0">
                <a:latin typeface="宋体" pitchFamily="2" charset="-122"/>
              </a:rPr>
              <a:t>(2)</a:t>
            </a:r>
            <a:r>
              <a:rPr lang="zh-CN" altLang="en-US" sz="2400" dirty="0"/>
              <a:t>内存的有效访问时间 </a:t>
            </a:r>
            <a:r>
              <a:rPr lang="en-US" altLang="zh-CN" sz="2400" dirty="0"/>
              <a:t>= </a:t>
            </a:r>
          </a:p>
          <a:p>
            <a:r>
              <a:rPr lang="en-US" altLang="zh-CN" sz="2400" dirty="0"/>
              <a:t>             </a:t>
            </a:r>
            <a:r>
              <a:rPr lang="en-US" altLang="zh-CN" sz="2400" dirty="0">
                <a:latin typeface="宋体" pitchFamily="2" charset="-122"/>
              </a:rPr>
              <a:t>75% * 50 +</a:t>
            </a:r>
            <a:r>
              <a:rPr lang="zh-CN" altLang="en-US" sz="2400" dirty="0">
                <a:latin typeface="宋体" pitchFamily="2" charset="-122"/>
              </a:rPr>
              <a:t>（</a:t>
            </a:r>
            <a:r>
              <a:rPr lang="en-US" altLang="zh-CN" sz="2400" dirty="0">
                <a:latin typeface="宋体" pitchFamily="2" charset="-122"/>
              </a:rPr>
              <a:t>1 - 75%</a:t>
            </a:r>
            <a:r>
              <a:rPr lang="zh-CN" altLang="en-US" sz="2400" dirty="0">
                <a:latin typeface="宋体" pitchFamily="2" charset="-122"/>
              </a:rPr>
              <a:t>）* </a:t>
            </a:r>
            <a:r>
              <a:rPr lang="en-US" altLang="zh-CN" sz="2400" dirty="0">
                <a:latin typeface="宋体" pitchFamily="2" charset="-122"/>
              </a:rPr>
              <a:t>2 * 50 = 62.5</a:t>
            </a:r>
            <a:r>
              <a:rPr lang="zh-CN" altLang="en-US" sz="2400" dirty="0">
                <a:latin typeface="宋体" pitchFamily="2" charset="-122"/>
              </a:rPr>
              <a:t>（</a:t>
            </a:r>
            <a:r>
              <a:rPr lang="en-US" altLang="zh-CN" sz="2400" dirty="0">
                <a:latin typeface="宋体" pitchFamily="2" charset="-122"/>
              </a:rPr>
              <a:t>ns</a:t>
            </a:r>
            <a:r>
              <a:rPr lang="zh-CN" altLang="en-US" sz="2400" dirty="0">
                <a:latin typeface="宋体" pitchFamily="2" charset="-122"/>
              </a:rPr>
              <a:t>）</a:t>
            </a:r>
          </a:p>
        </p:txBody>
      </p:sp>
      <p:sp>
        <p:nvSpPr>
          <p:cNvPr id="137221" name="Rectangle 7"/>
          <p:cNvSpPr>
            <a:spLocks noChangeArrowheads="1"/>
          </p:cNvSpPr>
          <p:nvPr/>
        </p:nvSpPr>
        <p:spPr bwMode="auto">
          <a:xfrm>
            <a:off x="323850" y="2060575"/>
            <a:ext cx="8424863" cy="19177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dirty="0">
                <a:latin typeface="宋体" pitchFamily="2" charset="-122"/>
              </a:rPr>
              <a:t>P296</a:t>
            </a:r>
            <a:r>
              <a:rPr lang="zh-CN" altLang="en-US" sz="2400" dirty="0">
                <a:latin typeface="宋体" pitchFamily="2" charset="-122"/>
              </a:rPr>
              <a:t>、</a:t>
            </a:r>
            <a:r>
              <a:rPr lang="en-US" altLang="zh-CN" sz="2400" dirty="0">
                <a:latin typeface="宋体" pitchFamily="2" charset="-122"/>
              </a:rPr>
              <a:t>8</a:t>
            </a:r>
            <a:r>
              <a:rPr lang="zh-CN" altLang="en-US" sz="2400" dirty="0">
                <a:latin typeface="宋体" pitchFamily="2" charset="-122"/>
              </a:rPr>
              <a:t>设某系统采用页式虚拟存储管理，页表存放在内存中。</a:t>
            </a:r>
          </a:p>
          <a:p>
            <a:r>
              <a:rPr lang="zh-CN" altLang="en-US" sz="2400" dirty="0">
                <a:latin typeface="宋体" pitchFamily="2" charset="-122"/>
              </a:rPr>
              <a:t>    </a:t>
            </a:r>
            <a:r>
              <a:rPr lang="en-US" altLang="zh-CN" sz="2400" dirty="0">
                <a:latin typeface="宋体" pitchFamily="2" charset="-122"/>
              </a:rPr>
              <a:t>(1)</a:t>
            </a:r>
            <a:r>
              <a:rPr lang="zh-CN" altLang="en-US" sz="2400" dirty="0">
                <a:latin typeface="宋体" pitchFamily="2" charset="-122"/>
              </a:rPr>
              <a:t>如果一次内存访使用</a:t>
            </a:r>
            <a:r>
              <a:rPr lang="en-US" altLang="zh-CN" sz="2400" dirty="0">
                <a:latin typeface="宋体" pitchFamily="2" charset="-122"/>
              </a:rPr>
              <a:t>50ns</a:t>
            </a:r>
            <a:r>
              <a:rPr lang="zh-CN" altLang="en-US" sz="2400" dirty="0">
                <a:latin typeface="宋体" pitchFamily="2" charset="-122"/>
              </a:rPr>
              <a:t>，访问一页内存需用多少时间？</a:t>
            </a:r>
          </a:p>
          <a:p>
            <a:r>
              <a:rPr lang="zh-CN" altLang="en-US" sz="2400" dirty="0">
                <a:latin typeface="宋体" pitchFamily="2" charset="-122"/>
              </a:rPr>
              <a:t>    </a:t>
            </a:r>
            <a:r>
              <a:rPr lang="en-US" altLang="zh-CN" sz="2400" dirty="0">
                <a:latin typeface="宋体" pitchFamily="2" charset="-122"/>
              </a:rPr>
              <a:t>(2)</a:t>
            </a:r>
            <a:r>
              <a:rPr lang="zh-CN" altLang="en-US" sz="2400" dirty="0">
                <a:latin typeface="宋体" pitchFamily="2" charset="-122"/>
              </a:rPr>
              <a:t>如果增加</a:t>
            </a:r>
            <a:r>
              <a:rPr lang="en-US" altLang="zh-CN" sz="2400" dirty="0">
                <a:latin typeface="宋体" pitchFamily="2" charset="-122"/>
              </a:rPr>
              <a:t>TLB</a:t>
            </a:r>
            <a:r>
              <a:rPr lang="zh-CN" altLang="en-US" sz="2400" dirty="0">
                <a:latin typeface="宋体" pitchFamily="2" charset="-122"/>
              </a:rPr>
              <a:t>，忽略查找页表项占用的时间，并且</a:t>
            </a:r>
            <a:r>
              <a:rPr lang="en-US" altLang="zh-CN" sz="2400" dirty="0">
                <a:latin typeface="宋体" pitchFamily="2" charset="-122"/>
              </a:rPr>
              <a:t>75%</a:t>
            </a:r>
            <a:r>
              <a:rPr lang="zh-CN" altLang="en-US" sz="2400" dirty="0">
                <a:latin typeface="宋体" pitchFamily="2" charset="-122"/>
              </a:rPr>
              <a:t>的页表访问命中</a:t>
            </a:r>
            <a:r>
              <a:rPr lang="en-US" altLang="zh-CN" sz="2400" dirty="0">
                <a:latin typeface="宋体" pitchFamily="2" charset="-122"/>
              </a:rPr>
              <a:t>TLB</a:t>
            </a:r>
            <a:r>
              <a:rPr lang="zh-CN" altLang="en-US" sz="2400" dirty="0">
                <a:latin typeface="宋体" pitchFamily="2" charset="-122"/>
              </a:rPr>
              <a:t>，内存的有效访问时间是多少？</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8789"/>
                                        </p:tgtEl>
                                        <p:attrNameLst>
                                          <p:attrName>style.visibility</p:attrName>
                                        </p:attrNameLst>
                                      </p:cBhvr>
                                      <p:to>
                                        <p:strVal val="visible"/>
                                      </p:to>
                                    </p:set>
                                    <p:animEffect transition="in" filter="dissolve">
                                      <p:cBhvr>
                                        <p:cTn id="7" dur="500"/>
                                        <p:tgtEl>
                                          <p:spTgt spid="1187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8790"/>
                                        </p:tgtEl>
                                        <p:attrNameLst>
                                          <p:attrName>style.visibility</p:attrName>
                                        </p:attrNameLst>
                                      </p:cBhvr>
                                      <p:to>
                                        <p:strVal val="visible"/>
                                      </p:to>
                                    </p:set>
                                    <p:animEffect transition="in" filter="dissolve">
                                      <p:cBhvr>
                                        <p:cTn id="12" dur="500"/>
                                        <p:tgtEl>
                                          <p:spTgt spid="118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9" grpId="0" animBg="1"/>
      <p:bldP spid="118790"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5"/>
          <p:cNvSpPr>
            <a:spLocks noChangeArrowheads="1"/>
          </p:cNvSpPr>
          <p:nvPr/>
        </p:nvSpPr>
        <p:spPr bwMode="auto">
          <a:xfrm>
            <a:off x="179388" y="115888"/>
            <a:ext cx="8785225" cy="11874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a:latin typeface="宋体" pitchFamily="2" charset="-122"/>
              </a:rPr>
              <a:t>P297</a:t>
            </a:r>
            <a:r>
              <a:rPr lang="zh-CN" altLang="en-US" sz="2400">
                <a:latin typeface="宋体" pitchFamily="2" charset="-122"/>
              </a:rPr>
              <a:t>、</a:t>
            </a:r>
            <a:r>
              <a:rPr lang="en-US" altLang="zh-CN" sz="2400">
                <a:latin typeface="宋体" pitchFamily="2" charset="-122"/>
              </a:rPr>
              <a:t>10 </a:t>
            </a:r>
            <a:r>
              <a:rPr lang="zh-CN" altLang="en-US" sz="2400">
                <a:latin typeface="宋体" pitchFamily="2" charset="-122"/>
              </a:rPr>
              <a:t>某页式存储管理，页大小为</a:t>
            </a:r>
            <a:r>
              <a:rPr lang="en-US" altLang="zh-CN" sz="2400">
                <a:latin typeface="宋体" pitchFamily="2" charset="-122"/>
              </a:rPr>
              <a:t>2KB</a:t>
            </a:r>
            <a:r>
              <a:rPr lang="zh-CN" altLang="en-US" sz="2400">
                <a:latin typeface="宋体" pitchFamily="2" charset="-122"/>
              </a:rPr>
              <a:t>。逻辑地址空间包含</a:t>
            </a:r>
            <a:r>
              <a:rPr lang="en-US" altLang="zh-CN" sz="2400">
                <a:latin typeface="宋体" pitchFamily="2" charset="-122"/>
              </a:rPr>
              <a:t>16</a:t>
            </a:r>
            <a:r>
              <a:rPr lang="zh-CN" altLang="en-US" sz="2400">
                <a:latin typeface="宋体" pitchFamily="2" charset="-122"/>
              </a:rPr>
              <a:t>页，物理地址空间共有</a:t>
            </a:r>
            <a:r>
              <a:rPr lang="en-US" altLang="zh-CN" sz="2400">
                <a:latin typeface="宋体" pitchFamily="2" charset="-122"/>
              </a:rPr>
              <a:t>8</a:t>
            </a:r>
            <a:r>
              <a:rPr lang="zh-CN" altLang="en-US" sz="2400">
                <a:latin typeface="宋体" pitchFamily="2" charset="-122"/>
              </a:rPr>
              <a:t>页。逻辑地址应有多少位？主存物理空间有多大？</a:t>
            </a:r>
          </a:p>
        </p:txBody>
      </p:sp>
      <p:sp>
        <p:nvSpPr>
          <p:cNvPr id="119814" name="Rectangle 6"/>
          <p:cNvSpPr>
            <a:spLocks noChangeArrowheads="1"/>
          </p:cNvSpPr>
          <p:nvPr/>
        </p:nvSpPr>
        <p:spPr bwMode="auto">
          <a:xfrm>
            <a:off x="179388" y="4367213"/>
            <a:ext cx="8785225" cy="22828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latin typeface="宋体" pitchFamily="2" charset="-122"/>
              </a:rPr>
              <a:t>解：页长</a:t>
            </a:r>
            <a:r>
              <a:rPr lang="en-US" altLang="zh-CN" sz="2400" dirty="0">
                <a:latin typeface="宋体" pitchFamily="2" charset="-122"/>
              </a:rPr>
              <a:t>1KB</a:t>
            </a:r>
            <a:r>
              <a:rPr lang="zh-CN" altLang="en-US" sz="2400" dirty="0">
                <a:latin typeface="宋体" pitchFamily="2" charset="-122"/>
              </a:rPr>
              <a:t>，页内地址</a:t>
            </a:r>
            <a:r>
              <a:rPr lang="en-US" altLang="zh-CN" sz="2400" dirty="0">
                <a:latin typeface="宋体" pitchFamily="2" charset="-122"/>
              </a:rPr>
              <a:t>10</a:t>
            </a:r>
            <a:r>
              <a:rPr lang="zh-CN" altLang="en-US" sz="2400" dirty="0">
                <a:latin typeface="宋体" pitchFamily="2" charset="-122"/>
              </a:rPr>
              <a:t>位；虚地址</a:t>
            </a:r>
            <a:r>
              <a:rPr lang="en-US" altLang="zh-CN" sz="2400" dirty="0">
                <a:latin typeface="宋体" pitchFamily="2" charset="-122"/>
              </a:rPr>
              <a:t>32</a:t>
            </a:r>
            <a:r>
              <a:rPr lang="zh-CN" altLang="en-US" sz="2400" dirty="0">
                <a:latin typeface="宋体" pitchFamily="2" charset="-122"/>
              </a:rPr>
              <a:t>页，逻辑地址为</a:t>
            </a:r>
            <a:r>
              <a:rPr lang="en-US" altLang="zh-CN" sz="2400" dirty="0">
                <a:latin typeface="宋体" pitchFamily="2" charset="-122"/>
              </a:rPr>
              <a:t>15</a:t>
            </a:r>
            <a:r>
              <a:rPr lang="zh-CN" altLang="en-US" sz="2400" dirty="0">
                <a:latin typeface="宋体" pitchFamily="2" charset="-122"/>
              </a:rPr>
              <a:t>位。</a:t>
            </a:r>
          </a:p>
          <a:p>
            <a:r>
              <a:rPr lang="zh-CN" altLang="en-US" sz="2400" dirty="0">
                <a:latin typeface="宋体" pitchFamily="2" charset="-122"/>
              </a:rPr>
              <a:t>    虚地址</a:t>
            </a:r>
            <a:r>
              <a:rPr lang="en-US" altLang="zh-CN" sz="2400" dirty="0">
                <a:latin typeface="宋体" pitchFamily="2" charset="-122"/>
              </a:rPr>
              <a:t>(0AC5)</a:t>
            </a:r>
            <a:r>
              <a:rPr lang="en-US" altLang="zh-CN" sz="2400" baseline="-25000" dirty="0">
                <a:latin typeface="宋体" pitchFamily="2" charset="-122"/>
              </a:rPr>
              <a:t>16</a:t>
            </a:r>
            <a:r>
              <a:rPr lang="en-US" altLang="zh-CN" sz="2400" dirty="0">
                <a:latin typeface="宋体" pitchFamily="2" charset="-122"/>
              </a:rPr>
              <a:t>=(00010 1011000101)</a:t>
            </a:r>
            <a:r>
              <a:rPr lang="en-US" altLang="zh-CN" sz="2400" baseline="-25000" dirty="0">
                <a:latin typeface="宋体" pitchFamily="2" charset="-122"/>
              </a:rPr>
              <a:t>2</a:t>
            </a:r>
            <a:r>
              <a:rPr lang="zh-CN" altLang="en-US" sz="2400" dirty="0">
                <a:latin typeface="宋体" pitchFamily="2" charset="-122"/>
              </a:rPr>
              <a:t>处于虚地址第</a:t>
            </a:r>
            <a:r>
              <a:rPr lang="en-US" altLang="zh-CN" sz="2400" dirty="0">
                <a:latin typeface="宋体" pitchFamily="2" charset="-122"/>
              </a:rPr>
              <a:t>2</a:t>
            </a:r>
            <a:r>
              <a:rPr lang="zh-CN" altLang="en-US" sz="2400" dirty="0">
                <a:latin typeface="宋体" pitchFamily="2" charset="-122"/>
              </a:rPr>
              <a:t>页，</a:t>
            </a:r>
          </a:p>
          <a:p>
            <a:r>
              <a:rPr lang="zh-CN" altLang="en-US" sz="2400" dirty="0">
                <a:latin typeface="宋体" pitchFamily="2" charset="-122"/>
              </a:rPr>
              <a:t>    调入主存第</a:t>
            </a:r>
            <a:r>
              <a:rPr lang="en-US" altLang="zh-CN" sz="2400" dirty="0">
                <a:latin typeface="宋体" pitchFamily="2" charset="-122"/>
              </a:rPr>
              <a:t>4</a:t>
            </a:r>
            <a:r>
              <a:rPr lang="zh-CN" altLang="en-US" sz="2400" dirty="0">
                <a:latin typeface="宋体" pitchFamily="2" charset="-122"/>
              </a:rPr>
              <a:t>页中，故物理地址为</a:t>
            </a:r>
          </a:p>
          <a:p>
            <a:r>
              <a:rPr lang="zh-CN" altLang="en-US" sz="2400" dirty="0">
                <a:latin typeface="宋体" pitchFamily="2" charset="-122"/>
              </a:rPr>
              <a:t>        </a:t>
            </a:r>
            <a:r>
              <a:rPr lang="en-US" altLang="zh-CN" sz="2400" dirty="0">
                <a:latin typeface="宋体" pitchFamily="2" charset="-122"/>
              </a:rPr>
              <a:t>(00100 1011000101)</a:t>
            </a:r>
            <a:r>
              <a:rPr lang="en-US" altLang="zh-CN" sz="2400" baseline="-25000" dirty="0">
                <a:latin typeface="宋体" pitchFamily="2" charset="-122"/>
              </a:rPr>
              <a:t>2</a:t>
            </a:r>
            <a:r>
              <a:rPr lang="en-US" altLang="zh-CN" sz="2400" dirty="0">
                <a:latin typeface="宋体" pitchFamily="2" charset="-122"/>
              </a:rPr>
              <a:t>=(12C5)</a:t>
            </a:r>
            <a:r>
              <a:rPr lang="en-US" altLang="zh-CN" sz="2400" baseline="-25000" dirty="0">
                <a:latin typeface="宋体" pitchFamily="2" charset="-122"/>
              </a:rPr>
              <a:t>16</a:t>
            </a:r>
          </a:p>
          <a:p>
            <a:r>
              <a:rPr lang="en-US" altLang="zh-CN" sz="2400" dirty="0">
                <a:latin typeface="宋体" pitchFamily="2" charset="-122"/>
              </a:rPr>
              <a:t>    </a:t>
            </a:r>
            <a:r>
              <a:rPr lang="zh-CN" altLang="en-US" sz="2400" dirty="0">
                <a:latin typeface="宋体" pitchFamily="2" charset="-122"/>
              </a:rPr>
              <a:t>虚地址</a:t>
            </a:r>
            <a:r>
              <a:rPr lang="en-US" altLang="zh-CN" sz="2400" dirty="0">
                <a:latin typeface="宋体" pitchFamily="2" charset="-122"/>
              </a:rPr>
              <a:t>(1AC5)</a:t>
            </a:r>
            <a:r>
              <a:rPr lang="en-US" altLang="zh-CN" sz="2400" baseline="-25000" dirty="0">
                <a:latin typeface="宋体" pitchFamily="2" charset="-122"/>
              </a:rPr>
              <a:t>16</a:t>
            </a:r>
            <a:r>
              <a:rPr lang="en-US" altLang="zh-CN" sz="2400" dirty="0">
                <a:latin typeface="宋体" pitchFamily="2" charset="-122"/>
              </a:rPr>
              <a:t>=(00110 1011000101)</a:t>
            </a:r>
            <a:r>
              <a:rPr lang="en-US" altLang="zh-CN" sz="2400" baseline="-25000" dirty="0">
                <a:latin typeface="宋体" pitchFamily="2" charset="-122"/>
              </a:rPr>
              <a:t>2</a:t>
            </a:r>
            <a:r>
              <a:rPr lang="zh-CN" altLang="en-US" sz="2400" dirty="0">
                <a:latin typeface="宋体" pitchFamily="2" charset="-122"/>
              </a:rPr>
              <a:t>处于虚地址第</a:t>
            </a:r>
            <a:r>
              <a:rPr lang="en-US" altLang="zh-CN" sz="2400" dirty="0">
                <a:latin typeface="宋体" pitchFamily="2" charset="-122"/>
              </a:rPr>
              <a:t>6</a:t>
            </a:r>
            <a:r>
              <a:rPr lang="zh-CN" altLang="en-US" sz="2400" dirty="0">
                <a:latin typeface="宋体" pitchFamily="2" charset="-122"/>
              </a:rPr>
              <a:t>页，</a:t>
            </a:r>
          </a:p>
          <a:p>
            <a:r>
              <a:rPr lang="zh-CN" altLang="en-US" sz="2400" dirty="0">
                <a:latin typeface="宋体" pitchFamily="2" charset="-122"/>
              </a:rPr>
              <a:t>    尚未调入主存，故无物理地址。</a:t>
            </a:r>
          </a:p>
        </p:txBody>
      </p:sp>
      <p:sp>
        <p:nvSpPr>
          <p:cNvPr id="119815" name="Rectangle 7"/>
          <p:cNvSpPr>
            <a:spLocks noChangeArrowheads="1"/>
          </p:cNvSpPr>
          <p:nvPr/>
        </p:nvSpPr>
        <p:spPr bwMode="auto">
          <a:xfrm>
            <a:off x="179388" y="1412875"/>
            <a:ext cx="8785225" cy="11874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a:latin typeface="宋体" pitchFamily="2" charset="-122"/>
              </a:rPr>
              <a:t>解：页大小为</a:t>
            </a:r>
            <a:r>
              <a:rPr lang="en-US" altLang="zh-CN" sz="2400">
                <a:latin typeface="宋体" pitchFamily="2" charset="-122"/>
              </a:rPr>
              <a:t>2KB</a:t>
            </a:r>
            <a:r>
              <a:rPr lang="zh-CN" altLang="en-US" sz="2400">
                <a:latin typeface="宋体" pitchFamily="2" charset="-122"/>
              </a:rPr>
              <a:t>，包含</a:t>
            </a:r>
            <a:r>
              <a:rPr lang="en-US" altLang="zh-CN" sz="2400">
                <a:latin typeface="宋体" pitchFamily="2" charset="-122"/>
              </a:rPr>
              <a:t>16</a:t>
            </a:r>
            <a:r>
              <a:rPr lang="zh-CN" altLang="en-US" sz="2400">
                <a:latin typeface="宋体" pitchFamily="2" charset="-122"/>
              </a:rPr>
              <a:t>页，逻辑空间为 </a:t>
            </a:r>
            <a:r>
              <a:rPr lang="en-US" altLang="zh-CN" sz="2400">
                <a:latin typeface="宋体" pitchFamily="2" charset="-122"/>
              </a:rPr>
              <a:t>16 * 2KB = 32KB</a:t>
            </a:r>
          </a:p>
          <a:p>
            <a:r>
              <a:rPr lang="en-US" altLang="zh-CN" sz="2400">
                <a:latin typeface="宋体" pitchFamily="2" charset="-122"/>
              </a:rPr>
              <a:t>    </a:t>
            </a:r>
            <a:r>
              <a:rPr lang="zh-CN" altLang="en-US" sz="2400">
                <a:latin typeface="宋体" pitchFamily="2" charset="-122"/>
              </a:rPr>
              <a:t>逻辑地址：</a:t>
            </a:r>
            <a:r>
              <a:rPr lang="en-US" altLang="zh-CN" sz="2400">
                <a:latin typeface="宋体" pitchFamily="2" charset="-122"/>
              </a:rPr>
              <a:t>15</a:t>
            </a:r>
            <a:r>
              <a:rPr lang="zh-CN" altLang="en-US" sz="2400">
                <a:latin typeface="宋体" pitchFamily="2" charset="-122"/>
              </a:rPr>
              <a:t>位</a:t>
            </a:r>
          </a:p>
          <a:p>
            <a:r>
              <a:rPr lang="zh-CN" altLang="en-US" sz="2400">
                <a:latin typeface="宋体" pitchFamily="2" charset="-122"/>
              </a:rPr>
              <a:t>    主存物理空间为 </a:t>
            </a:r>
            <a:r>
              <a:rPr lang="en-US" altLang="zh-CN" sz="2400">
                <a:latin typeface="宋体" pitchFamily="2" charset="-122"/>
              </a:rPr>
              <a:t>8 * 2KB = 16KB</a:t>
            </a:r>
          </a:p>
        </p:txBody>
      </p:sp>
      <p:sp>
        <p:nvSpPr>
          <p:cNvPr id="138245" name="Rectangle 8"/>
          <p:cNvSpPr>
            <a:spLocks noChangeArrowheads="1"/>
          </p:cNvSpPr>
          <p:nvPr/>
        </p:nvSpPr>
        <p:spPr bwMode="auto">
          <a:xfrm>
            <a:off x="179388" y="2699733"/>
            <a:ext cx="8785225" cy="156966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lvl="1"/>
            <a:r>
              <a:rPr lang="en-US" altLang="zh-CN" sz="2400" dirty="0">
                <a:latin typeface="宋体" pitchFamily="2" charset="-122"/>
              </a:rPr>
              <a:t>P297</a:t>
            </a:r>
            <a:r>
              <a:rPr lang="zh-CN" altLang="en-US" sz="2400" dirty="0">
                <a:latin typeface="宋体" pitchFamily="2" charset="-122"/>
              </a:rPr>
              <a:t>、</a:t>
            </a:r>
            <a:r>
              <a:rPr lang="en-US" altLang="zh-CN" sz="2400" dirty="0">
                <a:latin typeface="宋体" pitchFamily="2" charset="-122"/>
              </a:rPr>
              <a:t>11 </a:t>
            </a:r>
            <a:r>
              <a:rPr lang="zh-CN" altLang="en-US" sz="2400" dirty="0">
                <a:latin typeface="宋体" pitchFamily="2" charset="-122"/>
              </a:rPr>
              <a:t>在一个分页虚存系统中，用户虚地址空间为</a:t>
            </a:r>
            <a:r>
              <a:rPr lang="en-US" altLang="zh-CN" sz="2400" dirty="0">
                <a:latin typeface="宋体" pitchFamily="2" charset="-122"/>
              </a:rPr>
              <a:t>32</a:t>
            </a:r>
            <a:r>
              <a:rPr lang="zh-CN" altLang="en-US" sz="2400" dirty="0">
                <a:latin typeface="宋体" pitchFamily="2" charset="-122"/>
              </a:rPr>
              <a:t>页，页长</a:t>
            </a:r>
            <a:r>
              <a:rPr lang="en-US" altLang="zh-CN" sz="2400" dirty="0">
                <a:latin typeface="宋体" pitchFamily="2" charset="-122"/>
              </a:rPr>
              <a:t>1KB</a:t>
            </a:r>
            <a:r>
              <a:rPr lang="zh-CN" altLang="en-US" sz="2400" dirty="0">
                <a:latin typeface="宋体" pitchFamily="2" charset="-122"/>
              </a:rPr>
              <a:t>，主存物理空间为</a:t>
            </a:r>
            <a:r>
              <a:rPr lang="en-US" altLang="zh-CN" sz="2400" dirty="0">
                <a:latin typeface="宋体" pitchFamily="2" charset="-122"/>
              </a:rPr>
              <a:t>16KB</a:t>
            </a:r>
            <a:r>
              <a:rPr lang="zh-CN" altLang="en-US" sz="2400" dirty="0">
                <a:latin typeface="宋体" pitchFamily="2" charset="-122"/>
              </a:rPr>
              <a:t>。已知用户程序有</a:t>
            </a:r>
            <a:r>
              <a:rPr lang="en-US" altLang="zh-CN" sz="2400" dirty="0">
                <a:latin typeface="宋体" pitchFamily="2" charset="-122"/>
              </a:rPr>
              <a:t>10</a:t>
            </a:r>
            <a:r>
              <a:rPr lang="zh-CN" altLang="en-US" sz="2400" dirty="0">
                <a:latin typeface="宋体" pitchFamily="2" charset="-122"/>
              </a:rPr>
              <a:t>页长，若虚页</a:t>
            </a:r>
            <a:r>
              <a:rPr lang="en-US" altLang="zh-CN" sz="2400" dirty="0">
                <a:latin typeface="宋体" pitchFamily="2" charset="-122"/>
              </a:rPr>
              <a:t>0</a:t>
            </a:r>
            <a:r>
              <a:rPr lang="zh-CN" altLang="en-US" sz="2400" dirty="0">
                <a:latin typeface="宋体" pitchFamily="2" charset="-122"/>
              </a:rPr>
              <a:t>、</a:t>
            </a:r>
            <a:r>
              <a:rPr lang="en-US" altLang="zh-CN" sz="2400" dirty="0">
                <a:latin typeface="宋体" pitchFamily="2" charset="-122"/>
              </a:rPr>
              <a:t>1</a:t>
            </a:r>
            <a:r>
              <a:rPr lang="zh-CN" altLang="en-US" sz="2400" dirty="0">
                <a:latin typeface="宋体" pitchFamily="2" charset="-122"/>
              </a:rPr>
              <a:t>、</a:t>
            </a:r>
            <a:r>
              <a:rPr lang="en-US" altLang="zh-CN" sz="2400" dirty="0">
                <a:latin typeface="宋体" pitchFamily="2" charset="-122"/>
              </a:rPr>
              <a:t>2</a:t>
            </a:r>
            <a:r>
              <a:rPr lang="zh-CN" altLang="en-US" sz="2400" dirty="0">
                <a:latin typeface="宋体" pitchFamily="2" charset="-122"/>
              </a:rPr>
              <a:t>、</a:t>
            </a:r>
            <a:r>
              <a:rPr lang="en-US" altLang="zh-CN" sz="2400" dirty="0">
                <a:latin typeface="宋体" pitchFamily="2" charset="-122"/>
              </a:rPr>
              <a:t>3</a:t>
            </a:r>
            <a:r>
              <a:rPr lang="zh-CN" altLang="en-US" sz="2400" dirty="0">
                <a:latin typeface="宋体" pitchFamily="2" charset="-122"/>
              </a:rPr>
              <a:t>已经被调入到主存</a:t>
            </a:r>
            <a:r>
              <a:rPr lang="en-US" altLang="zh-CN" sz="2400" dirty="0">
                <a:latin typeface="宋体" pitchFamily="2" charset="-122"/>
              </a:rPr>
              <a:t>8</a:t>
            </a:r>
            <a:r>
              <a:rPr lang="zh-CN" altLang="en-US" sz="2400" dirty="0">
                <a:latin typeface="宋体" pitchFamily="2" charset="-122"/>
              </a:rPr>
              <a:t>、</a:t>
            </a:r>
            <a:r>
              <a:rPr lang="en-US" altLang="zh-CN" sz="2400" dirty="0">
                <a:latin typeface="宋体" pitchFamily="2" charset="-122"/>
              </a:rPr>
              <a:t>7</a:t>
            </a:r>
            <a:r>
              <a:rPr lang="zh-CN" altLang="en-US" sz="2400" dirty="0">
                <a:latin typeface="宋体" pitchFamily="2" charset="-122"/>
              </a:rPr>
              <a:t>、</a:t>
            </a:r>
            <a:r>
              <a:rPr lang="en-US" altLang="zh-CN" sz="2400" dirty="0">
                <a:latin typeface="宋体" pitchFamily="2" charset="-122"/>
              </a:rPr>
              <a:t>4</a:t>
            </a:r>
            <a:r>
              <a:rPr lang="zh-CN" altLang="en-US" sz="2400" dirty="0">
                <a:latin typeface="宋体" pitchFamily="2" charset="-122"/>
              </a:rPr>
              <a:t>、</a:t>
            </a:r>
            <a:r>
              <a:rPr lang="en-US" altLang="zh-CN" sz="2400" dirty="0">
                <a:latin typeface="宋体" pitchFamily="2" charset="-122"/>
              </a:rPr>
              <a:t>10</a:t>
            </a:r>
            <a:r>
              <a:rPr lang="zh-CN" altLang="en-US" sz="2400" dirty="0">
                <a:latin typeface="宋体" pitchFamily="2" charset="-122"/>
              </a:rPr>
              <a:t>页中，请问虚地址</a:t>
            </a:r>
            <a:r>
              <a:rPr lang="en-US" altLang="zh-CN" sz="2400" dirty="0">
                <a:latin typeface="宋体" pitchFamily="2" charset="-122"/>
              </a:rPr>
              <a:t>0AC5</a:t>
            </a:r>
            <a:r>
              <a:rPr lang="zh-CN" altLang="en-US" sz="2400" dirty="0">
                <a:latin typeface="宋体" pitchFamily="2" charset="-122"/>
              </a:rPr>
              <a:t>和</a:t>
            </a:r>
            <a:r>
              <a:rPr lang="en-US" altLang="zh-CN" sz="2400" dirty="0">
                <a:latin typeface="宋体" pitchFamily="2" charset="-122"/>
              </a:rPr>
              <a:t>1AC5(</a:t>
            </a:r>
            <a:r>
              <a:rPr lang="zh-CN" altLang="en-US" sz="2400" dirty="0">
                <a:latin typeface="宋体" pitchFamily="2" charset="-122"/>
              </a:rPr>
              <a:t>十六进制</a:t>
            </a:r>
            <a:r>
              <a:rPr lang="en-US" altLang="zh-CN" sz="2400" dirty="0">
                <a:latin typeface="宋体" pitchFamily="2" charset="-122"/>
              </a:rPr>
              <a:t>)</a:t>
            </a:r>
            <a:r>
              <a:rPr lang="zh-CN" altLang="en-US" sz="2400" dirty="0">
                <a:latin typeface="宋体" pitchFamily="2" charset="-122"/>
              </a:rPr>
              <a:t>对应的物理地址是多少？</a:t>
            </a:r>
          </a:p>
        </p:txBody>
      </p:sp>
      <p:sp>
        <p:nvSpPr>
          <p:cNvPr id="8" name="矩形 7"/>
          <p:cNvSpPr/>
          <p:nvPr/>
        </p:nvSpPr>
        <p:spPr>
          <a:xfrm>
            <a:off x="104940" y="2674578"/>
            <a:ext cx="517525" cy="156966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lvl="0" algn="ctr">
              <a:spcBef>
                <a:spcPts val="0"/>
              </a:spcBef>
            </a:pPr>
            <a:r>
              <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2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9815"/>
                                        </p:tgtEl>
                                        <p:attrNameLst>
                                          <p:attrName>style.visibility</p:attrName>
                                        </p:attrNameLst>
                                      </p:cBhvr>
                                      <p:to>
                                        <p:strVal val="visible"/>
                                      </p:to>
                                    </p:set>
                                    <p:animEffect transition="in" filter="dissolve">
                                      <p:cBhvr>
                                        <p:cTn id="7" dur="500"/>
                                        <p:tgtEl>
                                          <p:spTgt spid="1198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9814"/>
                                        </p:tgtEl>
                                        <p:attrNameLst>
                                          <p:attrName>style.visibility</p:attrName>
                                        </p:attrNameLst>
                                      </p:cBhvr>
                                      <p:to>
                                        <p:strVal val="visible"/>
                                      </p:to>
                                    </p:set>
                                    <p:animEffect transition="in" filter="dissolve">
                                      <p:cBhvr>
                                        <p:cTn id="12" dur="500"/>
                                        <p:tgtEl>
                                          <p:spTgt spid="119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4" grpId="0" animBg="1"/>
      <p:bldP spid="119815"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5"/>
          <p:cNvSpPr>
            <a:spLocks noChangeArrowheads="1"/>
          </p:cNvSpPr>
          <p:nvPr/>
        </p:nvSpPr>
        <p:spPr bwMode="auto">
          <a:xfrm>
            <a:off x="179388" y="115888"/>
            <a:ext cx="8785225" cy="21859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a:latin typeface="宋体" pitchFamily="2" charset="-122"/>
              </a:rPr>
              <a:t>3.7.3 </a:t>
            </a:r>
            <a:r>
              <a:rPr lang="zh-CN" altLang="en-US" sz="3200">
                <a:latin typeface="宋体" pitchFamily="2" charset="-122"/>
              </a:rPr>
              <a:t>段式虚拟存储器和段页式虚拟存储器</a:t>
            </a:r>
          </a:p>
          <a:p>
            <a:r>
              <a:rPr lang="en-US" altLang="zh-CN">
                <a:latin typeface="宋体" pitchFamily="2" charset="-122"/>
              </a:rPr>
              <a:t>1</a:t>
            </a:r>
            <a:r>
              <a:rPr lang="zh-CN" altLang="en-US">
                <a:latin typeface="宋体" pitchFamily="2" charset="-122"/>
              </a:rPr>
              <a:t>、段式虚拟存储器</a:t>
            </a:r>
          </a:p>
          <a:p>
            <a:r>
              <a:rPr lang="zh-CN" altLang="en-US">
                <a:latin typeface="宋体" pitchFamily="2" charset="-122"/>
              </a:rPr>
              <a:t>    </a:t>
            </a:r>
            <a:r>
              <a:rPr lang="zh-CN" altLang="en-US" sz="2400">
                <a:latin typeface="宋体" pitchFamily="2" charset="-122"/>
              </a:rPr>
              <a:t>段是按照程序的自然分界划分的长度可以动态改变的区域。通常，程序员把子程序、操作数和常数等不同类型的数据划分到不同的段中，并且每个程序可以有多个相同类型的段。</a:t>
            </a:r>
          </a:p>
        </p:txBody>
      </p:sp>
      <p:sp>
        <p:nvSpPr>
          <p:cNvPr id="55303" name="Rectangle 7"/>
          <p:cNvSpPr>
            <a:spLocks noChangeArrowheads="1"/>
          </p:cNvSpPr>
          <p:nvPr/>
        </p:nvSpPr>
        <p:spPr bwMode="auto">
          <a:xfrm>
            <a:off x="179388" y="188913"/>
            <a:ext cx="8785225" cy="25908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a:latin typeface="宋体" pitchFamily="2" charset="-122"/>
              </a:rPr>
              <a:t>   </a:t>
            </a:r>
            <a:r>
              <a:rPr lang="zh-CN" altLang="en-US" sz="2000">
                <a:latin typeface="宋体" pitchFamily="2" charset="-122"/>
              </a:rPr>
              <a:t>在段式虚拟存储系统中，虚地址由段号和段内地址（偏移量）组成。虚地址到实主存地址的变换通过段表实现。每个程序设置一个段表，段表的每一个表项对应一个段。每个表项至少包含下面三个字段：</a:t>
            </a:r>
          </a:p>
          <a:p>
            <a:r>
              <a:rPr lang="zh-CN" altLang="en-US" sz="2000">
                <a:latin typeface="宋体" pitchFamily="2" charset="-122"/>
              </a:rPr>
              <a:t>    </a:t>
            </a:r>
            <a:r>
              <a:rPr lang="en-US" altLang="zh-CN" sz="2000">
                <a:latin typeface="宋体" pitchFamily="2" charset="-122"/>
              </a:rPr>
              <a:t>(1)</a:t>
            </a:r>
            <a:r>
              <a:rPr lang="zh-CN" altLang="en-US" sz="2000">
                <a:latin typeface="宋体" pitchFamily="2" charset="-122"/>
              </a:rPr>
              <a:t>有效位：指明该段是否已经调入实存。</a:t>
            </a:r>
          </a:p>
          <a:p>
            <a:r>
              <a:rPr lang="zh-CN" altLang="en-US" sz="2000">
                <a:latin typeface="宋体" pitchFamily="2" charset="-122"/>
              </a:rPr>
              <a:t>    </a:t>
            </a:r>
            <a:r>
              <a:rPr lang="en-US" altLang="zh-CN" sz="2000">
                <a:latin typeface="宋体" pitchFamily="2" charset="-122"/>
              </a:rPr>
              <a:t>(2)</a:t>
            </a:r>
            <a:r>
              <a:rPr lang="zh-CN" altLang="en-US" sz="2000">
                <a:latin typeface="宋体" pitchFamily="2" charset="-122"/>
              </a:rPr>
              <a:t>段起址：指明在该段已经调入实存的情况下，该段在实存中的首地址。</a:t>
            </a:r>
          </a:p>
          <a:p>
            <a:r>
              <a:rPr lang="zh-CN" altLang="en-US" sz="2000">
                <a:latin typeface="宋体" pitchFamily="2" charset="-122"/>
              </a:rPr>
              <a:t>    </a:t>
            </a:r>
            <a:r>
              <a:rPr lang="en-US" altLang="zh-CN" sz="2000">
                <a:latin typeface="宋体" pitchFamily="2" charset="-122"/>
              </a:rPr>
              <a:t>(3)</a:t>
            </a:r>
            <a:r>
              <a:rPr lang="zh-CN" altLang="en-US" sz="2000">
                <a:latin typeface="宋体" pitchFamily="2" charset="-122"/>
              </a:rPr>
              <a:t>段长：记录该段的实际长度。设置段长字段的目的是为了保证访问某段的地址空间时，段内地址不会超出该段长度导致地址越界而破坏其他段。</a:t>
            </a:r>
          </a:p>
          <a:p>
            <a:r>
              <a:rPr lang="zh-CN" altLang="en-US" sz="2000">
                <a:latin typeface="宋体" pitchFamily="2" charset="-122"/>
              </a:rPr>
              <a:t>    段表本身也是一个段，可以存在辅存中，但一般是驻留在主存中。</a:t>
            </a:r>
          </a:p>
        </p:txBody>
      </p:sp>
      <p:pic>
        <p:nvPicPr>
          <p:cNvPr id="139268" name="Picture 9" descr="t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2781300"/>
            <a:ext cx="6767512"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5303"/>
                                        </p:tgtEl>
                                        <p:attrNameLst>
                                          <p:attrName>style.visibility</p:attrName>
                                        </p:attrNameLst>
                                      </p:cBhvr>
                                      <p:to>
                                        <p:strVal val="visible"/>
                                      </p:to>
                                    </p:set>
                                    <p:animEffect transition="in" filter="dissolve">
                                      <p:cBhvr>
                                        <p:cTn id="7" dur="500"/>
                                        <p:tgtEl>
                                          <p:spTgt spid="55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3"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3"/>
          <p:cNvSpPr>
            <a:spLocks noGrp="1" noChangeArrowheads="1"/>
          </p:cNvSpPr>
          <p:nvPr>
            <p:ph type="body" idx="1"/>
          </p:nvPr>
        </p:nvSpPr>
        <p:spPr>
          <a:xfrm>
            <a:off x="179388" y="404813"/>
            <a:ext cx="8229600" cy="576262"/>
          </a:xfrm>
        </p:spPr>
        <p:txBody>
          <a:bodyPr/>
          <a:lstStyle/>
          <a:p>
            <a:pPr>
              <a:buFont typeface="Wingdings" pitchFamily="2" charset="2"/>
              <a:buNone/>
            </a:pPr>
            <a:r>
              <a:rPr lang="en-US" altLang="zh-CN" smtClean="0"/>
              <a:t>  </a:t>
            </a:r>
            <a:r>
              <a:rPr lang="zh-CN" altLang="en-US" smtClean="0"/>
              <a:t>段式虚地址向实存地址的变换过程</a:t>
            </a:r>
          </a:p>
        </p:txBody>
      </p:sp>
      <p:pic>
        <p:nvPicPr>
          <p:cNvPr id="140291" name="Picture 4" descr="9a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213" y="1412875"/>
            <a:ext cx="6481762"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0292" name="Picture 5">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0650" y="3573463"/>
            <a:ext cx="4095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3"/>
          <p:cNvSpPr>
            <a:spLocks noGrp="1" noChangeArrowheads="1"/>
          </p:cNvSpPr>
          <p:nvPr>
            <p:ph type="body" idx="1"/>
          </p:nvPr>
        </p:nvSpPr>
        <p:spPr>
          <a:xfrm>
            <a:off x="0" y="152400"/>
            <a:ext cx="9144000" cy="6445250"/>
          </a:xfrm>
          <a:solidFill>
            <a:srgbClr val="CCFFFF"/>
          </a:solidFill>
        </p:spPr>
        <p:txBody>
          <a:bodyPr/>
          <a:lstStyle/>
          <a:p>
            <a:pPr>
              <a:lnSpc>
                <a:spcPct val="90000"/>
              </a:lnSpc>
              <a:buFont typeface="Wingdings" pitchFamily="2" charset="2"/>
              <a:buNone/>
            </a:pPr>
            <a:r>
              <a:rPr lang="en-US" altLang="zh-CN" sz="2400" dirty="0" smtClean="0">
                <a:latin typeface="宋体" pitchFamily="2" charset="-122"/>
              </a:rPr>
              <a:t>  </a:t>
            </a:r>
            <a:r>
              <a:rPr lang="zh-CN" altLang="en-US" sz="2800" dirty="0" smtClean="0">
                <a:latin typeface="宋体" pitchFamily="2" charset="-122"/>
              </a:rPr>
              <a:t>段式虚拟存储器特点</a:t>
            </a:r>
          </a:p>
          <a:p>
            <a:pPr>
              <a:lnSpc>
                <a:spcPct val="90000"/>
              </a:lnSpc>
            </a:pPr>
            <a:r>
              <a:rPr lang="zh-CN" altLang="en-US" sz="2800" dirty="0" smtClean="0">
                <a:latin typeface="宋体" pitchFamily="2" charset="-122"/>
              </a:rPr>
              <a:t>段式虚拟存储器有许多优点：</a:t>
            </a:r>
          </a:p>
          <a:p>
            <a:pPr lvl="1">
              <a:lnSpc>
                <a:spcPct val="90000"/>
              </a:lnSpc>
              <a:buFont typeface="Wingdings" pitchFamily="2" charset="2"/>
              <a:buNone/>
            </a:pPr>
            <a:r>
              <a:rPr lang="zh-CN" altLang="en-US" sz="2800" dirty="0" smtClean="0">
                <a:latin typeface="宋体" pitchFamily="2" charset="-122"/>
              </a:rPr>
              <a:t>①段的逻辑独立性使其易于编译、管理、修改和保护，也便于多道程序共享。</a:t>
            </a:r>
          </a:p>
          <a:p>
            <a:pPr lvl="1">
              <a:lnSpc>
                <a:spcPct val="90000"/>
              </a:lnSpc>
              <a:buFont typeface="Wingdings" pitchFamily="2" charset="2"/>
              <a:buNone/>
            </a:pPr>
            <a:r>
              <a:rPr lang="zh-CN" altLang="en-US" sz="2800" dirty="0" smtClean="0">
                <a:latin typeface="宋体" pitchFamily="2" charset="-122"/>
              </a:rPr>
              <a:t>②段长可以根据需要动态改变，允许自由调度，以便有效利用主存空间。</a:t>
            </a:r>
          </a:p>
          <a:p>
            <a:pPr>
              <a:lnSpc>
                <a:spcPct val="90000"/>
              </a:lnSpc>
            </a:pPr>
            <a:r>
              <a:rPr lang="zh-CN" altLang="en-US" sz="2800" dirty="0" smtClean="0">
                <a:latin typeface="宋体" pitchFamily="2" charset="-122"/>
              </a:rPr>
              <a:t>段式虚拟存储器也有一些缺点：</a:t>
            </a:r>
          </a:p>
          <a:p>
            <a:pPr lvl="1">
              <a:lnSpc>
                <a:spcPct val="90000"/>
              </a:lnSpc>
              <a:buFont typeface="Wingdings" pitchFamily="2" charset="2"/>
              <a:buNone/>
            </a:pPr>
            <a:r>
              <a:rPr lang="zh-CN" altLang="en-US" sz="2800" dirty="0" smtClean="0">
                <a:latin typeface="宋体" pitchFamily="2" charset="-122"/>
              </a:rPr>
              <a:t>①因为段的长度不固定，主存空间分配比较麻烦。</a:t>
            </a:r>
          </a:p>
          <a:p>
            <a:pPr lvl="1">
              <a:lnSpc>
                <a:spcPct val="90000"/>
              </a:lnSpc>
              <a:buFont typeface="Wingdings" pitchFamily="2" charset="2"/>
              <a:buNone/>
            </a:pPr>
            <a:r>
              <a:rPr lang="zh-CN" altLang="en-US" sz="2800" dirty="0" smtClean="0">
                <a:latin typeface="宋体" pitchFamily="2" charset="-122"/>
              </a:rPr>
              <a:t>②容易在段间留下许多外碎片，存储空间利用率降低。</a:t>
            </a:r>
          </a:p>
          <a:p>
            <a:pPr lvl="1">
              <a:lnSpc>
                <a:spcPct val="90000"/>
              </a:lnSpc>
              <a:buFont typeface="Wingdings" pitchFamily="2" charset="2"/>
              <a:buNone/>
            </a:pPr>
            <a:r>
              <a:rPr lang="zh-CN" altLang="en-US" sz="2800" dirty="0" smtClean="0">
                <a:latin typeface="宋体" pitchFamily="2" charset="-122"/>
              </a:rPr>
              <a:t>③由于段长不一定是</a:t>
            </a:r>
            <a:r>
              <a:rPr lang="en-US" altLang="zh-CN" sz="2800" dirty="0" smtClean="0">
                <a:latin typeface="宋体" pitchFamily="2" charset="-122"/>
              </a:rPr>
              <a:t>2</a:t>
            </a:r>
            <a:r>
              <a:rPr lang="zh-CN" altLang="en-US" sz="2800" dirty="0" smtClean="0">
                <a:latin typeface="宋体" pitchFamily="2" charset="-122"/>
              </a:rPr>
              <a:t>的整数次幂，因而不能简单地像分页方式那样用虚地址和实地址的最低若干二进制位作为段内偏移量，并与段号进行直接拼接，必须用加法操作通过段起址与段内偏移量的求和运算求得物理地址。因此，段式存储管理比页式存储管理方式需要更多的硬件支持。</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5"/>
          <p:cNvSpPr>
            <a:spLocks noChangeArrowheads="1"/>
          </p:cNvSpPr>
          <p:nvPr/>
        </p:nvSpPr>
        <p:spPr bwMode="auto">
          <a:xfrm>
            <a:off x="381000" y="304800"/>
            <a:ext cx="8458200" cy="60960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a:latin typeface="宋体" pitchFamily="2" charset="-122"/>
              </a:rPr>
              <a:t>2</a:t>
            </a:r>
            <a:r>
              <a:rPr lang="zh-CN" altLang="en-US" sz="3200">
                <a:latin typeface="宋体" pitchFamily="2" charset="-122"/>
              </a:rPr>
              <a:t>、段页式虚拟存储器</a:t>
            </a:r>
          </a:p>
          <a:p>
            <a:r>
              <a:rPr lang="zh-CN" altLang="en-US" sz="3200">
                <a:latin typeface="宋体" pitchFamily="2" charset="-122"/>
              </a:rPr>
              <a:t>    </a:t>
            </a:r>
            <a:r>
              <a:rPr lang="zh-CN" altLang="en-US" sz="3000">
                <a:latin typeface="宋体" pitchFamily="2" charset="-122"/>
              </a:rPr>
              <a:t>段页式虚拟存储器是段式虚拟存储器和页式虚拟存储器的结合。</a:t>
            </a:r>
          </a:p>
          <a:p>
            <a:r>
              <a:rPr lang="zh-CN" altLang="en-US" sz="3000">
                <a:latin typeface="宋体" pitchFamily="2" charset="-122"/>
              </a:rPr>
              <a:t>    实存被等分成页。每个程序先按逻辑结构分段，每段再按照实存的页大小分页，程序按页进行调入和调出操作，但可按段进行编程、保护和共享。</a:t>
            </a:r>
          </a:p>
          <a:p>
            <a:r>
              <a:rPr lang="zh-CN" altLang="en-US" sz="3000">
                <a:latin typeface="宋体" pitchFamily="2" charset="-122"/>
              </a:rPr>
              <a:t>    虚存和实存之间以页为基本传送单位。</a:t>
            </a:r>
          </a:p>
          <a:p>
            <a:r>
              <a:rPr lang="zh-CN" altLang="en-US" sz="3000">
                <a:latin typeface="宋体" pitchFamily="2" charset="-122"/>
              </a:rPr>
              <a:t>    每个程序对应一个段表，段表中的每个表目对应一个段，有一个指向该段的页表起始地址及该段的控制保护信息。</a:t>
            </a:r>
          </a:p>
          <a:p>
            <a:r>
              <a:rPr lang="zh-CN" altLang="en-US" sz="3000">
                <a:latin typeface="宋体" pitchFamily="2" charset="-122"/>
              </a:rPr>
              <a:t>    每段对应一个页表，由页表指明该段各页在主存中的位置以及是否已装入、已修改等信息。</a:t>
            </a: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4"/>
          <p:cNvSpPr>
            <a:spLocks noChangeArrowheads="1"/>
          </p:cNvSpPr>
          <p:nvPr/>
        </p:nvSpPr>
        <p:spPr bwMode="auto">
          <a:xfrm>
            <a:off x="250825" y="188913"/>
            <a:ext cx="8642350" cy="6497637"/>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latin typeface="宋体" pitchFamily="2" charset="-122"/>
              </a:rPr>
              <a:t>    </a:t>
            </a:r>
            <a:r>
              <a:rPr lang="zh-CN" altLang="en-US">
                <a:latin typeface="宋体" pitchFamily="2" charset="-122"/>
              </a:rPr>
              <a:t>如果有多个用户在机器上运行，多道程序的每一道需要一个基号</a:t>
            </a:r>
            <a:r>
              <a:rPr lang="en-US" altLang="zh-CN">
                <a:latin typeface="宋体" pitchFamily="2" charset="-122"/>
              </a:rPr>
              <a:t>,</a:t>
            </a:r>
            <a:r>
              <a:rPr lang="zh-CN" altLang="en-US">
                <a:latin typeface="宋体" pitchFamily="2" charset="-122"/>
              </a:rPr>
              <a:t>由它指明该道程序的段表起始地址。这样，虚拟地址格式如下：</a:t>
            </a:r>
          </a:p>
          <a:p>
            <a:endParaRPr lang="zh-CN" altLang="en-US">
              <a:latin typeface="宋体" pitchFamily="2" charset="-122"/>
            </a:endParaRPr>
          </a:p>
          <a:p>
            <a:r>
              <a:rPr lang="zh-CN" altLang="en-US">
                <a:latin typeface="宋体" pitchFamily="2" charset="-122"/>
              </a:rPr>
              <a:t>  </a:t>
            </a:r>
            <a:r>
              <a:rPr lang="en-US" altLang="zh-CN" b="1">
                <a:latin typeface="宋体" pitchFamily="2" charset="-122"/>
              </a:rPr>
              <a:t>|</a:t>
            </a:r>
            <a:r>
              <a:rPr lang="zh-CN" altLang="en-US" b="1">
                <a:latin typeface="宋体" pitchFamily="2" charset="-122"/>
              </a:rPr>
              <a:t>基号</a:t>
            </a:r>
            <a:r>
              <a:rPr lang="en-US" altLang="zh-CN" b="1">
                <a:latin typeface="宋体" pitchFamily="2" charset="-122"/>
              </a:rPr>
              <a:t>N|</a:t>
            </a:r>
            <a:r>
              <a:rPr lang="zh-CN" altLang="en-US" b="1">
                <a:latin typeface="宋体" pitchFamily="2" charset="-122"/>
              </a:rPr>
              <a:t>段号</a:t>
            </a:r>
            <a:r>
              <a:rPr lang="en-US" altLang="zh-CN" b="1">
                <a:latin typeface="宋体" pitchFamily="2" charset="-122"/>
              </a:rPr>
              <a:t>S|</a:t>
            </a:r>
            <a:r>
              <a:rPr lang="zh-CN" altLang="en-US" b="1">
                <a:latin typeface="宋体" pitchFamily="2" charset="-122"/>
              </a:rPr>
              <a:t>段内逻辑页号</a:t>
            </a:r>
            <a:r>
              <a:rPr lang="en-US" altLang="zh-CN" b="1">
                <a:latin typeface="宋体" pitchFamily="2" charset="-122"/>
              </a:rPr>
              <a:t>P|</a:t>
            </a:r>
            <a:r>
              <a:rPr lang="zh-CN" altLang="en-US" b="1">
                <a:latin typeface="宋体" pitchFamily="2" charset="-122"/>
              </a:rPr>
              <a:t>页内地址偏移量</a:t>
            </a:r>
            <a:r>
              <a:rPr lang="en-US" altLang="zh-CN" b="1">
                <a:latin typeface="宋体" pitchFamily="2" charset="-122"/>
              </a:rPr>
              <a:t>D|</a:t>
            </a:r>
            <a:r>
              <a:rPr lang="zh-CN" altLang="en-US">
                <a:latin typeface="宋体" pitchFamily="2" charset="-122"/>
              </a:rPr>
              <a:t>　</a:t>
            </a:r>
          </a:p>
          <a:p>
            <a:endParaRPr lang="zh-CN" altLang="en-US">
              <a:latin typeface="宋体" pitchFamily="2" charset="-122"/>
            </a:endParaRPr>
          </a:p>
          <a:p>
            <a:r>
              <a:rPr lang="zh-CN" altLang="en-US">
                <a:latin typeface="宋体" pitchFamily="2" charset="-122"/>
              </a:rPr>
              <a:t>    假如计算机系统中只有一个基址寄存器，则基号可不要。多道程序切换时，由操作系统修改基址寄存器内容。</a:t>
            </a:r>
          </a:p>
          <a:p>
            <a:r>
              <a:rPr lang="zh-CN" altLang="en-US">
                <a:latin typeface="宋体" pitchFamily="2" charset="-122"/>
              </a:rPr>
              <a:t>    实际上，上述每个段表和页表的表项中都应设置一个有效位。只有在有效位为</a:t>
            </a:r>
            <a:r>
              <a:rPr lang="en-US" altLang="zh-CN">
                <a:latin typeface="宋体" pitchFamily="2" charset="-122"/>
              </a:rPr>
              <a:t>1</a:t>
            </a:r>
            <a:r>
              <a:rPr lang="zh-CN" altLang="en-US">
                <a:latin typeface="宋体" pitchFamily="2" charset="-122"/>
              </a:rPr>
              <a:t>时才按照上述流程操作，否则需中断当前操作先进行建表或调页。</a:t>
            </a:r>
          </a:p>
          <a:p>
            <a:r>
              <a:rPr lang="zh-CN" altLang="en-US">
                <a:latin typeface="宋体" pitchFamily="2" charset="-122"/>
              </a:rPr>
              <a:t>    可以看出，段页式虚拟存储器的缺点是在由虚地址向主存地址的映射过程中需要多次查表，因而实现复杂度较高．</a:t>
            </a: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5"/>
          <p:cNvSpPr>
            <a:spLocks noChangeArrowheads="1"/>
          </p:cNvSpPr>
          <p:nvPr/>
        </p:nvSpPr>
        <p:spPr bwMode="auto">
          <a:xfrm>
            <a:off x="179388" y="42863"/>
            <a:ext cx="8785225" cy="16160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a:latin typeface="宋体" pitchFamily="2" charset="-122"/>
              </a:rPr>
              <a:t>【</a:t>
            </a:r>
            <a:r>
              <a:rPr lang="zh-CN" altLang="en-US" sz="2000">
                <a:latin typeface="宋体" pitchFamily="2" charset="-122"/>
              </a:rPr>
              <a:t>例</a:t>
            </a:r>
            <a:r>
              <a:rPr lang="en-US" altLang="zh-CN" sz="2000">
                <a:latin typeface="宋体" pitchFamily="2" charset="-122"/>
              </a:rPr>
              <a:t>1】</a:t>
            </a:r>
            <a:r>
              <a:rPr lang="zh-CN" altLang="en-US" sz="2000">
                <a:latin typeface="宋体" pitchFamily="2" charset="-122"/>
              </a:rPr>
              <a:t>假设有三道程序，基号用</a:t>
            </a:r>
            <a:r>
              <a:rPr lang="en-US" altLang="zh-CN" sz="2000">
                <a:latin typeface="宋体" pitchFamily="2" charset="-122"/>
              </a:rPr>
              <a:t>A</a:t>
            </a:r>
            <a:r>
              <a:rPr lang="zh-CN" altLang="en-US" sz="2000">
                <a:latin typeface="宋体" pitchFamily="2" charset="-122"/>
              </a:rPr>
              <a:t>、</a:t>
            </a:r>
            <a:r>
              <a:rPr lang="en-US" altLang="zh-CN" sz="2000">
                <a:latin typeface="宋体" pitchFamily="2" charset="-122"/>
              </a:rPr>
              <a:t>B</a:t>
            </a:r>
            <a:r>
              <a:rPr lang="zh-CN" altLang="en-US" sz="2000">
                <a:latin typeface="宋体" pitchFamily="2" charset="-122"/>
              </a:rPr>
              <a:t>和</a:t>
            </a:r>
            <a:r>
              <a:rPr lang="en-US" altLang="zh-CN" sz="2000">
                <a:latin typeface="宋体" pitchFamily="2" charset="-122"/>
              </a:rPr>
              <a:t>C</a:t>
            </a:r>
            <a:r>
              <a:rPr lang="zh-CN" altLang="en-US" sz="2000">
                <a:latin typeface="宋体" pitchFamily="2" charset="-122"/>
              </a:rPr>
              <a:t>表示，其基址寄存器的内容分别为</a:t>
            </a:r>
            <a:r>
              <a:rPr lang="en-US" altLang="zh-CN" sz="2000">
                <a:latin typeface="宋体" pitchFamily="2" charset="-122"/>
              </a:rPr>
              <a:t>S</a:t>
            </a:r>
            <a:r>
              <a:rPr lang="en-US" altLang="zh-CN" sz="2000" baseline="-25000">
                <a:latin typeface="宋体" pitchFamily="2" charset="-122"/>
              </a:rPr>
              <a:t>A</a:t>
            </a:r>
            <a:r>
              <a:rPr lang="zh-CN" altLang="en-US" sz="2000">
                <a:latin typeface="宋体" pitchFamily="2" charset="-122"/>
              </a:rPr>
              <a:t>、</a:t>
            </a:r>
            <a:r>
              <a:rPr lang="en-US" altLang="zh-CN" sz="2000">
                <a:latin typeface="宋体" pitchFamily="2" charset="-122"/>
              </a:rPr>
              <a:t>S</a:t>
            </a:r>
            <a:r>
              <a:rPr lang="en-US" altLang="zh-CN" sz="2000" baseline="-25000">
                <a:latin typeface="宋体" pitchFamily="2" charset="-122"/>
              </a:rPr>
              <a:t>B</a:t>
            </a:r>
            <a:r>
              <a:rPr lang="zh-CN" altLang="en-US" sz="2000">
                <a:latin typeface="宋体" pitchFamily="2" charset="-122"/>
              </a:rPr>
              <a:t>和</a:t>
            </a:r>
            <a:r>
              <a:rPr lang="en-US" altLang="zh-CN" sz="2000">
                <a:latin typeface="宋体" pitchFamily="2" charset="-122"/>
              </a:rPr>
              <a:t>S</a:t>
            </a:r>
            <a:r>
              <a:rPr lang="en-US" altLang="zh-CN" sz="2000" baseline="-25000">
                <a:latin typeface="宋体" pitchFamily="2" charset="-122"/>
              </a:rPr>
              <a:t>C</a:t>
            </a:r>
            <a:r>
              <a:rPr lang="zh-CN" altLang="en-US" sz="2000">
                <a:latin typeface="宋体" pitchFamily="2" charset="-122"/>
              </a:rPr>
              <a:t>。程序</a:t>
            </a:r>
            <a:r>
              <a:rPr lang="en-US" altLang="zh-CN" sz="2000">
                <a:latin typeface="宋体" pitchFamily="2" charset="-122"/>
              </a:rPr>
              <a:t>A</a:t>
            </a:r>
            <a:r>
              <a:rPr lang="zh-CN" altLang="en-US" sz="2000">
                <a:latin typeface="宋体" pitchFamily="2" charset="-122"/>
              </a:rPr>
              <a:t>由</a:t>
            </a:r>
            <a:r>
              <a:rPr lang="en-US" altLang="zh-CN" sz="2000">
                <a:latin typeface="宋体" pitchFamily="2" charset="-122"/>
              </a:rPr>
              <a:t>4</a:t>
            </a:r>
            <a:r>
              <a:rPr lang="zh-CN" altLang="en-US" sz="2000">
                <a:latin typeface="宋体" pitchFamily="2" charset="-122"/>
              </a:rPr>
              <a:t>个段构成，程序</a:t>
            </a:r>
            <a:r>
              <a:rPr lang="en-US" altLang="zh-CN" sz="2000">
                <a:latin typeface="宋体" pitchFamily="2" charset="-122"/>
              </a:rPr>
              <a:t>C</a:t>
            </a:r>
            <a:r>
              <a:rPr lang="zh-CN" altLang="en-US" sz="2000">
                <a:latin typeface="宋体" pitchFamily="2" charset="-122"/>
              </a:rPr>
              <a:t>由</a:t>
            </a:r>
            <a:r>
              <a:rPr lang="en-US" altLang="zh-CN" sz="2000">
                <a:latin typeface="宋体" pitchFamily="2" charset="-122"/>
              </a:rPr>
              <a:t>3</a:t>
            </a:r>
            <a:r>
              <a:rPr lang="zh-CN" altLang="en-US" sz="2000">
                <a:latin typeface="宋体" pitchFamily="2" charset="-122"/>
              </a:rPr>
              <a:t>个段构成。段页式虚拟存储系统的逻辑地址到物理地址的变换过程如图所示。在主存中，每道程序都有一张段表，</a:t>
            </a:r>
            <a:r>
              <a:rPr lang="en-US" altLang="zh-CN" sz="2000">
                <a:latin typeface="宋体" pitchFamily="2" charset="-122"/>
              </a:rPr>
              <a:t>A</a:t>
            </a:r>
            <a:r>
              <a:rPr lang="zh-CN" altLang="en-US" sz="2000">
                <a:latin typeface="宋体" pitchFamily="2" charset="-122"/>
              </a:rPr>
              <a:t>程序有</a:t>
            </a:r>
            <a:r>
              <a:rPr lang="en-US" altLang="zh-CN" sz="2000">
                <a:latin typeface="宋体" pitchFamily="2" charset="-122"/>
              </a:rPr>
              <a:t>4</a:t>
            </a:r>
            <a:r>
              <a:rPr lang="zh-CN" altLang="en-US" sz="2000">
                <a:latin typeface="宋体" pitchFamily="2" charset="-122"/>
              </a:rPr>
              <a:t>段，</a:t>
            </a:r>
            <a:r>
              <a:rPr lang="en-US" altLang="zh-CN" sz="2000">
                <a:latin typeface="宋体" pitchFamily="2" charset="-122"/>
              </a:rPr>
              <a:t>C</a:t>
            </a:r>
            <a:r>
              <a:rPr lang="zh-CN" altLang="en-US" sz="2000">
                <a:latin typeface="宋体" pitchFamily="2" charset="-122"/>
              </a:rPr>
              <a:t>程序有</a:t>
            </a:r>
            <a:r>
              <a:rPr lang="en-US" altLang="zh-CN" sz="2000">
                <a:latin typeface="宋体" pitchFamily="2" charset="-122"/>
              </a:rPr>
              <a:t>3</a:t>
            </a:r>
            <a:r>
              <a:rPr lang="zh-CN" altLang="en-US" sz="2000">
                <a:latin typeface="宋体" pitchFamily="2" charset="-122"/>
              </a:rPr>
              <a:t>段，每段应有一张页表，段表的每行就表示相应页表的起始位置，而页表内的每行即为相应的物理页号。请说明虚实地址变换过程。</a:t>
            </a:r>
          </a:p>
        </p:txBody>
      </p:sp>
      <p:pic>
        <p:nvPicPr>
          <p:cNvPr id="144387" name="Picture 7" descr="9a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750" y="1989138"/>
            <a:ext cx="7056438" cy="372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388" name="Picture 8">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12088" y="3933825"/>
            <a:ext cx="4095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1" name="Rectangle 9"/>
          <p:cNvSpPr>
            <a:spLocks noChangeArrowheads="1"/>
          </p:cNvSpPr>
          <p:nvPr/>
        </p:nvSpPr>
        <p:spPr bwMode="auto">
          <a:xfrm>
            <a:off x="179388" y="5305425"/>
            <a:ext cx="8713787"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a:latin typeface="宋体" pitchFamily="2" charset="-122"/>
              </a:rPr>
              <a:t>解：地址变换过程如下：</a:t>
            </a:r>
          </a:p>
          <a:p>
            <a:r>
              <a:rPr lang="en-US" altLang="zh-CN" sz="2400">
                <a:latin typeface="宋体" pitchFamily="2" charset="-122"/>
              </a:rPr>
              <a:t>(1)</a:t>
            </a:r>
            <a:r>
              <a:rPr lang="zh-CN" altLang="en-US" sz="2400">
                <a:latin typeface="宋体" pitchFamily="2" charset="-122"/>
              </a:rPr>
              <a:t>存储管理部件根据基号</a:t>
            </a:r>
            <a:r>
              <a:rPr lang="en-US" altLang="zh-CN" sz="2400">
                <a:latin typeface="宋体" pitchFamily="2" charset="-122"/>
              </a:rPr>
              <a:t>C</a:t>
            </a:r>
            <a:r>
              <a:rPr lang="zh-CN" altLang="en-US" sz="2400">
                <a:latin typeface="宋体" pitchFamily="2" charset="-122"/>
              </a:rPr>
              <a:t>找到段表基址寄存器表第</a:t>
            </a:r>
            <a:r>
              <a:rPr lang="en-US" altLang="zh-CN" sz="2400">
                <a:latin typeface="宋体" pitchFamily="2" charset="-122"/>
              </a:rPr>
              <a:t>c</a:t>
            </a:r>
            <a:r>
              <a:rPr lang="zh-CN" altLang="en-US" sz="2400">
                <a:latin typeface="宋体" pitchFamily="2" charset="-122"/>
              </a:rPr>
              <a:t>个表项，获得程序</a:t>
            </a:r>
            <a:r>
              <a:rPr lang="en-US" altLang="zh-CN" sz="2400">
                <a:latin typeface="宋体" pitchFamily="2" charset="-122"/>
              </a:rPr>
              <a:t>C</a:t>
            </a:r>
            <a:r>
              <a:rPr lang="zh-CN" altLang="en-US" sz="2400">
                <a:latin typeface="宋体" pitchFamily="2" charset="-122"/>
              </a:rPr>
              <a:t>的段表基址</a:t>
            </a:r>
            <a:r>
              <a:rPr lang="en-US" altLang="zh-CN" sz="2400">
                <a:latin typeface="宋体" pitchFamily="2" charset="-122"/>
              </a:rPr>
              <a:t>Sc</a:t>
            </a:r>
            <a:r>
              <a:rPr lang="zh-CN" altLang="en-US" sz="2400">
                <a:latin typeface="宋体" pitchFamily="2" charset="-122"/>
              </a:rPr>
              <a:t>。再根据段号</a:t>
            </a:r>
            <a:r>
              <a:rPr lang="en-US" altLang="zh-CN" sz="2400">
                <a:latin typeface="宋体" pitchFamily="2" charset="-122"/>
              </a:rPr>
              <a:t>S(=1)</a:t>
            </a:r>
            <a:r>
              <a:rPr lang="zh-CN" altLang="en-US" sz="2400">
                <a:latin typeface="宋体" pitchFamily="2" charset="-122"/>
              </a:rPr>
              <a:t>找到程序</a:t>
            </a:r>
            <a:r>
              <a:rPr lang="en-US" altLang="zh-CN" sz="2400">
                <a:latin typeface="宋体" pitchFamily="2" charset="-122"/>
              </a:rPr>
              <a:t>C</a:t>
            </a:r>
            <a:r>
              <a:rPr lang="zh-CN" altLang="en-US" sz="2400">
                <a:latin typeface="宋体" pitchFamily="2" charset="-122"/>
              </a:rPr>
              <a:t>段表的第</a:t>
            </a:r>
            <a:r>
              <a:rPr lang="en-US" altLang="zh-CN" sz="2400">
                <a:latin typeface="宋体" pitchFamily="2" charset="-122"/>
              </a:rPr>
              <a:t>S</a:t>
            </a:r>
            <a:r>
              <a:rPr lang="zh-CN" altLang="en-US" sz="2400">
                <a:latin typeface="宋体" pitchFamily="2" charset="-122"/>
              </a:rPr>
              <a:t>个表项，得到段</a:t>
            </a:r>
            <a:r>
              <a:rPr lang="en-US" altLang="zh-CN" sz="2400">
                <a:latin typeface="宋体" pitchFamily="2" charset="-122"/>
              </a:rPr>
              <a:t>S</a:t>
            </a:r>
            <a:r>
              <a:rPr lang="zh-CN" altLang="en-US" sz="2400">
                <a:latin typeface="宋体" pitchFamily="2" charset="-122"/>
              </a:rPr>
              <a:t>的页表起始地址</a:t>
            </a:r>
            <a:r>
              <a:rPr lang="en-US" altLang="zh-CN" sz="2400">
                <a:latin typeface="宋体" pitchFamily="2" charset="-122"/>
              </a:rPr>
              <a:t>b</a:t>
            </a:r>
            <a:r>
              <a:rPr lang="zh-CN" altLang="en-US" sz="2400">
                <a:latin typeface="宋体" pitchFamily="2" charset="-122"/>
              </a:rPr>
              <a:t>。</a:t>
            </a:r>
          </a:p>
        </p:txBody>
      </p:sp>
      <p:sp>
        <p:nvSpPr>
          <p:cNvPr id="59402" name="Rectangle 10"/>
          <p:cNvSpPr>
            <a:spLocks noChangeArrowheads="1"/>
          </p:cNvSpPr>
          <p:nvPr/>
        </p:nvSpPr>
        <p:spPr bwMode="auto">
          <a:xfrm>
            <a:off x="228600" y="5791200"/>
            <a:ext cx="87137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a:latin typeface="宋体" pitchFamily="2" charset="-122"/>
              </a:rPr>
              <a:t>(2)</a:t>
            </a:r>
            <a:r>
              <a:rPr lang="zh-CN" altLang="en-US" sz="2400">
                <a:latin typeface="宋体" pitchFamily="2" charset="-122"/>
              </a:rPr>
              <a:t>根据段内逻辑页号</a:t>
            </a:r>
            <a:r>
              <a:rPr lang="en-US" altLang="zh-CN" sz="2400">
                <a:latin typeface="宋体" pitchFamily="2" charset="-122"/>
              </a:rPr>
              <a:t>P(=2)</a:t>
            </a:r>
            <a:r>
              <a:rPr lang="zh-CN" altLang="en-US" sz="2400">
                <a:latin typeface="宋体" pitchFamily="2" charset="-122"/>
              </a:rPr>
              <a:t>检索页表，得到物理页号</a:t>
            </a:r>
            <a:r>
              <a:rPr lang="en-US" altLang="zh-CN" sz="2400">
                <a:latin typeface="宋体" pitchFamily="2" charset="-122"/>
              </a:rPr>
              <a:t>10</a:t>
            </a:r>
            <a:r>
              <a:rPr lang="zh-CN" altLang="en-US" sz="2400">
                <a:latin typeface="宋体" pitchFamily="2" charset="-122"/>
              </a:rPr>
              <a:t>。</a:t>
            </a:r>
          </a:p>
          <a:p>
            <a:r>
              <a:rPr lang="en-US" altLang="zh-CN" sz="2400">
                <a:latin typeface="宋体" pitchFamily="2" charset="-122"/>
              </a:rPr>
              <a:t>(3)</a:t>
            </a:r>
            <a:r>
              <a:rPr lang="zh-CN" altLang="en-US" sz="2400">
                <a:latin typeface="宋体" pitchFamily="2" charset="-122"/>
              </a:rPr>
              <a:t>物理页号与页内地址偏移量拼接即得物理地址。</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9401"/>
                                        </p:tgtEl>
                                        <p:attrNameLst>
                                          <p:attrName>style.visibility</p:attrName>
                                        </p:attrNameLst>
                                      </p:cBhvr>
                                      <p:to>
                                        <p:strVal val="visible"/>
                                      </p:to>
                                    </p:set>
                                    <p:animEffect transition="in" filter="dissolve">
                                      <p:cBhvr>
                                        <p:cTn id="7" dur="500"/>
                                        <p:tgtEl>
                                          <p:spTgt spid="59401"/>
                                        </p:tgtEl>
                                      </p:cBhvr>
                                    </p:animEffect>
                                  </p:childTnLst>
                                  <p:subTnLst>
                                    <p:set>
                                      <p:cBhvr override="childStyle">
                                        <p:cTn dur="1" fill="hold" display="0" masterRel="nextClick" afterEffect="1"/>
                                        <p:tgtEl>
                                          <p:spTgt spid="59401"/>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9402"/>
                                        </p:tgtEl>
                                        <p:attrNameLst>
                                          <p:attrName>style.visibility</p:attrName>
                                        </p:attrNameLst>
                                      </p:cBhvr>
                                      <p:to>
                                        <p:strVal val="visible"/>
                                      </p:to>
                                    </p:set>
                                    <p:animEffect transition="in" filter="dissolve">
                                      <p:cBhvr>
                                        <p:cTn id="12" dur="500"/>
                                        <p:tgtEl>
                                          <p:spTgt spid="59402"/>
                                        </p:tgtEl>
                                      </p:cBhvr>
                                    </p:animEffect>
                                  </p:childTnLst>
                                  <p:subTnLst>
                                    <p:set>
                                      <p:cBhvr override="childStyle">
                                        <p:cTn dur="1" fill="hold" display="0" masterRel="nextClick" afterEffect="1"/>
                                        <p:tgtEl>
                                          <p:spTgt spid="5940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1" grpId="0" autoUpdateAnimBg="0"/>
      <p:bldP spid="59402" grpId="0" autoUpdateAnimBg="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4"/>
          <p:cNvSpPr>
            <a:spLocks noChangeArrowheads="1"/>
          </p:cNvSpPr>
          <p:nvPr/>
        </p:nvSpPr>
        <p:spPr bwMode="auto">
          <a:xfrm>
            <a:off x="179388" y="188913"/>
            <a:ext cx="8694737"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a:latin typeface="宋体" pitchFamily="2" charset="-122"/>
              </a:rPr>
              <a:t>P297</a:t>
            </a:r>
            <a:r>
              <a:rPr lang="zh-CN" altLang="en-US" sz="2400">
                <a:latin typeface="宋体" pitchFamily="2" charset="-122"/>
              </a:rPr>
              <a:t>、</a:t>
            </a:r>
            <a:r>
              <a:rPr lang="en-US" altLang="zh-CN" sz="2400">
                <a:latin typeface="宋体" pitchFamily="2" charset="-122"/>
              </a:rPr>
              <a:t>12 </a:t>
            </a:r>
            <a:r>
              <a:rPr lang="zh-CN" altLang="en-US" sz="2400">
                <a:latin typeface="宋体" pitchFamily="2" charset="-122"/>
              </a:rPr>
              <a:t>段式虚拟存储器对程序员是否透明？请说明原因。</a:t>
            </a:r>
          </a:p>
        </p:txBody>
      </p:sp>
      <p:sp>
        <p:nvSpPr>
          <p:cNvPr id="120837" name="Rectangle 5"/>
          <p:cNvSpPr>
            <a:spLocks noChangeArrowheads="1"/>
          </p:cNvSpPr>
          <p:nvPr/>
        </p:nvSpPr>
        <p:spPr bwMode="auto">
          <a:xfrm>
            <a:off x="179388" y="5013325"/>
            <a:ext cx="8694737" cy="8223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a:latin typeface="宋体" pitchFamily="2" charset="-122"/>
              </a:rPr>
              <a:t>    </a:t>
            </a:r>
            <a:r>
              <a:rPr lang="zh-CN" altLang="en-US" sz="2400">
                <a:latin typeface="宋体" pitchFamily="2" charset="-122"/>
              </a:rPr>
              <a:t>在一个进程的执行过程中，有些页面处在主存中，有些处在辅存中。</a:t>
            </a:r>
          </a:p>
        </p:txBody>
      </p:sp>
      <p:sp>
        <p:nvSpPr>
          <p:cNvPr id="120838" name="Rectangle 6"/>
          <p:cNvSpPr>
            <a:spLocks noChangeArrowheads="1"/>
          </p:cNvSpPr>
          <p:nvPr/>
        </p:nvSpPr>
        <p:spPr bwMode="auto">
          <a:xfrm>
            <a:off x="179388" y="836613"/>
            <a:ext cx="8713787" cy="30130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a:latin typeface="宋体" pitchFamily="2" charset="-122"/>
              </a:rPr>
              <a:t>    </a:t>
            </a:r>
            <a:r>
              <a:rPr lang="zh-CN" altLang="en-US" sz="2400">
                <a:latin typeface="宋体" pitchFamily="2" charset="-122"/>
              </a:rPr>
              <a:t>虚存管理是由软件（操作系统）和硬件共同完成，由于软件介入，虚存对实现存储管理的系统程序员不透明。而段是按照程序的自然分界划分的长度可以动态改变的区域。通常，程序员把子程序、操作数和常数等不同类型的数据划分到不同的段中，并且每个程序可以有多个相同类型的段。由于分段是由程序员完成的，故段式虚拟存储器对应用程序员而言是不完全透明的。但虚存到实存的地址映射是由系统软件辅助完成，故对应用程序员而言，段式虚存是“半透明”的。</a:t>
            </a:r>
          </a:p>
        </p:txBody>
      </p:sp>
      <p:sp>
        <p:nvSpPr>
          <p:cNvPr id="145413" name="Rectangle 7"/>
          <p:cNvSpPr>
            <a:spLocks noChangeArrowheads="1"/>
          </p:cNvSpPr>
          <p:nvPr/>
        </p:nvSpPr>
        <p:spPr bwMode="auto">
          <a:xfrm>
            <a:off x="179388" y="4076700"/>
            <a:ext cx="8694737" cy="8223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a:latin typeface="宋体" pitchFamily="2" charset="-122"/>
              </a:rPr>
              <a:t>P297</a:t>
            </a:r>
            <a:r>
              <a:rPr lang="zh-CN" altLang="en-US" sz="2400">
                <a:latin typeface="宋体" pitchFamily="2" charset="-122"/>
              </a:rPr>
              <a:t>、</a:t>
            </a:r>
            <a:r>
              <a:rPr lang="en-US" altLang="zh-CN" sz="2400">
                <a:latin typeface="宋体" pitchFamily="2" charset="-122"/>
              </a:rPr>
              <a:t>13 </a:t>
            </a:r>
            <a:r>
              <a:rPr lang="zh-CN" altLang="en-US" sz="2400">
                <a:latin typeface="宋体" pitchFamily="2" charset="-122"/>
              </a:rPr>
              <a:t>在一个进程的执行过程中，是否其所有页面都必须处在主存中。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0838"/>
                                        </p:tgtEl>
                                        <p:attrNameLst>
                                          <p:attrName>style.visibility</p:attrName>
                                        </p:attrNameLst>
                                      </p:cBhvr>
                                      <p:to>
                                        <p:strVal val="visible"/>
                                      </p:to>
                                    </p:set>
                                    <p:animEffect transition="in" filter="dissolve">
                                      <p:cBhvr>
                                        <p:cTn id="7" dur="500"/>
                                        <p:tgtEl>
                                          <p:spTgt spid="1208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0837"/>
                                        </p:tgtEl>
                                        <p:attrNameLst>
                                          <p:attrName>style.visibility</p:attrName>
                                        </p:attrNameLst>
                                      </p:cBhvr>
                                      <p:to>
                                        <p:strVal val="visible"/>
                                      </p:to>
                                    </p:set>
                                    <p:animEffect transition="in" filter="dissolve">
                                      <p:cBhvr>
                                        <p:cTn id="12" dur="500"/>
                                        <p:tgtEl>
                                          <p:spTgt spid="1208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7" grpId="0" animBg="1"/>
      <p:bldP spid="120838"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4"/>
          <p:cNvSpPr>
            <a:spLocks noChangeArrowheads="1"/>
          </p:cNvSpPr>
          <p:nvPr/>
        </p:nvSpPr>
        <p:spPr bwMode="auto">
          <a:xfrm>
            <a:off x="323850" y="245497"/>
            <a:ext cx="8497888" cy="2677656"/>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dirty="0">
                <a:latin typeface="宋体" pitchFamily="2" charset="-122"/>
              </a:rPr>
              <a:t>P296</a:t>
            </a:r>
            <a:r>
              <a:rPr lang="zh-CN" altLang="en-US" sz="2400" dirty="0">
                <a:latin typeface="宋体" pitchFamily="2" charset="-122"/>
              </a:rPr>
              <a:t>、</a:t>
            </a:r>
            <a:r>
              <a:rPr lang="en-US" altLang="zh-CN" sz="2400" dirty="0">
                <a:latin typeface="宋体" pitchFamily="2" charset="-122"/>
              </a:rPr>
              <a:t>9 </a:t>
            </a:r>
            <a:r>
              <a:rPr lang="zh-CN" altLang="en-US" sz="2400" dirty="0">
                <a:latin typeface="宋体" pitchFamily="2" charset="-122"/>
              </a:rPr>
              <a:t>某计算机的存储系统由</a:t>
            </a:r>
            <a:r>
              <a:rPr lang="en-US" altLang="zh-CN" sz="2400" dirty="0">
                <a:latin typeface="宋体" pitchFamily="2" charset="-122"/>
              </a:rPr>
              <a:t>cache</a:t>
            </a:r>
            <a:r>
              <a:rPr lang="zh-CN" altLang="en-US" sz="2400" dirty="0">
                <a:latin typeface="宋体" pitchFamily="2" charset="-122"/>
              </a:rPr>
              <a:t>、主存和磁盘构成。</a:t>
            </a:r>
            <a:r>
              <a:rPr lang="en-US" altLang="zh-CN" sz="2400" dirty="0">
                <a:latin typeface="宋体" pitchFamily="2" charset="-122"/>
              </a:rPr>
              <a:t>Cache</a:t>
            </a:r>
            <a:r>
              <a:rPr lang="zh-CN" altLang="en-US" sz="2400" dirty="0">
                <a:latin typeface="宋体" pitchFamily="2" charset="-122"/>
              </a:rPr>
              <a:t>的访问时间为</a:t>
            </a:r>
            <a:r>
              <a:rPr lang="en-US" altLang="zh-CN" sz="2400" dirty="0">
                <a:latin typeface="宋体" pitchFamily="2" charset="-122"/>
              </a:rPr>
              <a:t>15ns</a:t>
            </a:r>
            <a:r>
              <a:rPr lang="zh-CN" altLang="en-US" sz="2400" dirty="0">
                <a:latin typeface="宋体" pitchFamily="2" charset="-122"/>
              </a:rPr>
              <a:t>；如果被访问的单元在主存中但</a:t>
            </a:r>
            <a:r>
              <a:rPr lang="zh-CN" altLang="en-US" sz="2400" dirty="0" smtClean="0">
                <a:latin typeface="宋体" pitchFamily="2" charset="-122"/>
              </a:rPr>
              <a:t>不在</a:t>
            </a:r>
            <a:r>
              <a:rPr lang="en-US" altLang="zh-CN" sz="2400" dirty="0" smtClean="0">
                <a:latin typeface="宋体" pitchFamily="2" charset="-122"/>
              </a:rPr>
              <a:t>cache</a:t>
            </a:r>
            <a:r>
              <a:rPr lang="zh-CN" altLang="en-US" sz="2400" dirty="0">
                <a:latin typeface="宋体" pitchFamily="2" charset="-122"/>
              </a:rPr>
              <a:t>中，需要用</a:t>
            </a:r>
            <a:r>
              <a:rPr lang="en-US" altLang="zh-CN" sz="2400" dirty="0">
                <a:latin typeface="宋体" pitchFamily="2" charset="-122"/>
              </a:rPr>
              <a:t>60ns</a:t>
            </a:r>
            <a:r>
              <a:rPr lang="zh-CN" altLang="en-US" sz="2400" dirty="0">
                <a:latin typeface="宋体" pitchFamily="2" charset="-122"/>
              </a:rPr>
              <a:t>的时间将其装入</a:t>
            </a:r>
            <a:r>
              <a:rPr lang="en-US" altLang="zh-CN" sz="2400" dirty="0">
                <a:latin typeface="宋体" pitchFamily="2" charset="-122"/>
              </a:rPr>
              <a:t>cache</a:t>
            </a:r>
            <a:r>
              <a:rPr lang="zh-CN" altLang="en-US" sz="2400" dirty="0">
                <a:latin typeface="宋体" pitchFamily="2" charset="-122"/>
              </a:rPr>
              <a:t>，然后再进行访问；如果被访问的单元不在主存中，则需要</a:t>
            </a:r>
            <a:r>
              <a:rPr lang="en-US" altLang="zh-CN" sz="2400" dirty="0">
                <a:latin typeface="宋体" pitchFamily="2" charset="-122"/>
              </a:rPr>
              <a:t>10ms</a:t>
            </a:r>
            <a:r>
              <a:rPr lang="zh-CN" altLang="en-US" sz="2400" dirty="0">
                <a:latin typeface="宋体" pitchFamily="2" charset="-122"/>
              </a:rPr>
              <a:t>的时间将其从磁盘读入主存，然后再装入</a:t>
            </a:r>
            <a:r>
              <a:rPr lang="en-US" altLang="zh-CN" sz="2400" dirty="0">
                <a:latin typeface="宋体" pitchFamily="2" charset="-122"/>
              </a:rPr>
              <a:t>cache</a:t>
            </a:r>
            <a:r>
              <a:rPr lang="zh-CN" altLang="en-US" sz="2400" dirty="0">
                <a:latin typeface="宋体" pitchFamily="2" charset="-122"/>
              </a:rPr>
              <a:t>中并开始访问。若</a:t>
            </a:r>
            <a:r>
              <a:rPr lang="en-US" altLang="zh-CN" sz="2400" dirty="0">
                <a:latin typeface="宋体" pitchFamily="2" charset="-122"/>
              </a:rPr>
              <a:t>cache</a:t>
            </a:r>
            <a:r>
              <a:rPr lang="zh-CN" altLang="en-US" sz="2400" dirty="0">
                <a:latin typeface="宋体" pitchFamily="2" charset="-122"/>
              </a:rPr>
              <a:t>的命中率为</a:t>
            </a:r>
            <a:r>
              <a:rPr lang="en-US" altLang="zh-CN" sz="2400" dirty="0">
                <a:latin typeface="宋体" pitchFamily="2" charset="-122"/>
              </a:rPr>
              <a:t>90%</a:t>
            </a:r>
            <a:r>
              <a:rPr lang="zh-CN" altLang="en-US" sz="2400" dirty="0">
                <a:latin typeface="宋体" pitchFamily="2" charset="-122"/>
              </a:rPr>
              <a:t>，主存的命中率为</a:t>
            </a:r>
            <a:r>
              <a:rPr lang="en-US" altLang="zh-CN" sz="2400" dirty="0">
                <a:latin typeface="宋体" pitchFamily="2" charset="-122"/>
              </a:rPr>
              <a:t>60%</a:t>
            </a:r>
            <a:r>
              <a:rPr lang="zh-CN" altLang="en-US" sz="2400" dirty="0">
                <a:latin typeface="宋体" pitchFamily="2" charset="-122"/>
              </a:rPr>
              <a:t>，求该系统中访问一个字的平均时间。</a:t>
            </a:r>
          </a:p>
        </p:txBody>
      </p:sp>
      <p:sp>
        <p:nvSpPr>
          <p:cNvPr id="147459" name="Rectangle 5"/>
          <p:cNvSpPr>
            <a:spLocks noChangeArrowheads="1"/>
          </p:cNvSpPr>
          <p:nvPr/>
        </p:nvSpPr>
        <p:spPr bwMode="auto">
          <a:xfrm>
            <a:off x="323850" y="3068638"/>
            <a:ext cx="8497888" cy="3378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latin typeface="宋体" pitchFamily="2" charset="-122"/>
              </a:rPr>
              <a:t>解：被访问的字在</a:t>
            </a:r>
            <a:r>
              <a:rPr lang="en-US" altLang="zh-CN" sz="2400" dirty="0">
                <a:latin typeface="宋体" pitchFamily="2" charset="-122"/>
              </a:rPr>
              <a:t>cache</a:t>
            </a:r>
            <a:r>
              <a:rPr lang="zh-CN" altLang="en-US" sz="2400" dirty="0">
                <a:latin typeface="宋体" pitchFamily="2" charset="-122"/>
              </a:rPr>
              <a:t>中的概率为：</a:t>
            </a:r>
            <a:r>
              <a:rPr lang="en-US" altLang="zh-CN" sz="2400" dirty="0">
                <a:latin typeface="宋体" pitchFamily="2" charset="-122"/>
              </a:rPr>
              <a:t>0.9</a:t>
            </a:r>
          </a:p>
          <a:p>
            <a:r>
              <a:rPr lang="en-US" altLang="zh-CN" sz="2400" dirty="0">
                <a:latin typeface="宋体" pitchFamily="2" charset="-122"/>
              </a:rPr>
              <a:t>    </a:t>
            </a:r>
            <a:r>
              <a:rPr lang="zh-CN" altLang="en-US" sz="2400" dirty="0">
                <a:latin typeface="宋体" pitchFamily="2" charset="-122"/>
              </a:rPr>
              <a:t>不在</a:t>
            </a:r>
            <a:r>
              <a:rPr lang="en-US" altLang="zh-CN" sz="2400" dirty="0">
                <a:latin typeface="宋体" pitchFamily="2" charset="-122"/>
              </a:rPr>
              <a:t>cache</a:t>
            </a:r>
            <a:r>
              <a:rPr lang="zh-CN" altLang="en-US" sz="2400" dirty="0">
                <a:latin typeface="宋体" pitchFamily="2" charset="-122"/>
              </a:rPr>
              <a:t>中，但在主存中的概率为：</a:t>
            </a:r>
          </a:p>
          <a:p>
            <a:r>
              <a:rPr lang="zh-CN" altLang="en-US" sz="2400" dirty="0">
                <a:latin typeface="宋体" pitchFamily="2" charset="-122"/>
              </a:rPr>
              <a:t>     （</a:t>
            </a:r>
            <a:r>
              <a:rPr lang="en-US" altLang="zh-CN" sz="2400" dirty="0">
                <a:latin typeface="宋体" pitchFamily="2" charset="-122"/>
              </a:rPr>
              <a:t>1 - 0.9</a:t>
            </a:r>
            <a:r>
              <a:rPr lang="zh-CN" altLang="en-US" sz="2400" dirty="0">
                <a:latin typeface="宋体" pitchFamily="2" charset="-122"/>
              </a:rPr>
              <a:t>）* </a:t>
            </a:r>
            <a:r>
              <a:rPr lang="en-US" altLang="zh-CN" sz="2400" dirty="0">
                <a:latin typeface="宋体" pitchFamily="2" charset="-122"/>
              </a:rPr>
              <a:t>0.6 = 0.06</a:t>
            </a:r>
          </a:p>
          <a:p>
            <a:r>
              <a:rPr lang="en-US" altLang="zh-CN" sz="2400" dirty="0">
                <a:latin typeface="宋体" pitchFamily="2" charset="-122"/>
              </a:rPr>
              <a:t>    </a:t>
            </a:r>
            <a:r>
              <a:rPr lang="zh-CN" altLang="en-US" sz="2400" dirty="0">
                <a:latin typeface="宋体" pitchFamily="2" charset="-122"/>
              </a:rPr>
              <a:t>不在</a:t>
            </a:r>
            <a:r>
              <a:rPr lang="en-US" altLang="zh-CN" sz="2400" dirty="0">
                <a:latin typeface="宋体" pitchFamily="2" charset="-122"/>
              </a:rPr>
              <a:t>cache</a:t>
            </a:r>
            <a:r>
              <a:rPr lang="zh-CN" altLang="en-US" sz="2400" dirty="0">
                <a:latin typeface="宋体" pitchFamily="2" charset="-122"/>
              </a:rPr>
              <a:t>中，也不在主存中的概率为：</a:t>
            </a:r>
          </a:p>
          <a:p>
            <a:r>
              <a:rPr lang="zh-CN" altLang="en-US" sz="2400" dirty="0">
                <a:latin typeface="宋体" pitchFamily="2" charset="-122"/>
              </a:rPr>
              <a:t>     （</a:t>
            </a:r>
            <a:r>
              <a:rPr lang="en-US" altLang="zh-CN" sz="2400" dirty="0">
                <a:latin typeface="宋体" pitchFamily="2" charset="-122"/>
              </a:rPr>
              <a:t>1 - 0.9</a:t>
            </a:r>
            <a:r>
              <a:rPr lang="zh-CN" altLang="en-US" sz="2400" dirty="0">
                <a:latin typeface="宋体" pitchFamily="2" charset="-122"/>
              </a:rPr>
              <a:t>）*（</a:t>
            </a:r>
            <a:r>
              <a:rPr lang="en-US" altLang="zh-CN" sz="2400" dirty="0">
                <a:latin typeface="宋体" pitchFamily="2" charset="-122"/>
              </a:rPr>
              <a:t>1 - 0.6</a:t>
            </a:r>
            <a:r>
              <a:rPr lang="zh-CN" altLang="en-US" sz="2400" dirty="0">
                <a:latin typeface="宋体" pitchFamily="2" charset="-122"/>
              </a:rPr>
              <a:t>）</a:t>
            </a:r>
            <a:r>
              <a:rPr lang="en-US" altLang="zh-CN" sz="2400" dirty="0">
                <a:latin typeface="宋体" pitchFamily="2" charset="-122"/>
              </a:rPr>
              <a:t>= 0.04</a:t>
            </a:r>
          </a:p>
          <a:p>
            <a:r>
              <a:rPr lang="en-US" altLang="zh-CN" sz="2400" dirty="0">
                <a:latin typeface="宋体" pitchFamily="2" charset="-122"/>
              </a:rPr>
              <a:t>    </a:t>
            </a:r>
            <a:r>
              <a:rPr lang="zh-CN" altLang="en-US" sz="2400" dirty="0">
                <a:latin typeface="宋体" pitchFamily="2" charset="-122"/>
              </a:rPr>
              <a:t>访问一个字的平均时间为：</a:t>
            </a:r>
          </a:p>
          <a:p>
            <a:r>
              <a:rPr lang="zh-CN" altLang="en-US" sz="2400" dirty="0">
                <a:latin typeface="宋体" pitchFamily="2" charset="-122"/>
              </a:rPr>
              <a:t>      </a:t>
            </a:r>
            <a:r>
              <a:rPr lang="en-US" altLang="zh-CN" sz="2400" dirty="0">
                <a:latin typeface="宋体" pitchFamily="2" charset="-122"/>
              </a:rPr>
              <a:t>15 * 0.9 +</a:t>
            </a:r>
            <a:r>
              <a:rPr lang="zh-CN" altLang="en-US" sz="2400" dirty="0">
                <a:latin typeface="宋体" pitchFamily="2" charset="-122"/>
              </a:rPr>
              <a:t>（</a:t>
            </a:r>
            <a:r>
              <a:rPr lang="en-US" altLang="zh-CN" sz="2400" dirty="0">
                <a:latin typeface="宋体" pitchFamily="2" charset="-122"/>
              </a:rPr>
              <a:t>15 + 60</a:t>
            </a:r>
            <a:r>
              <a:rPr lang="zh-CN" altLang="en-US" sz="2400" dirty="0">
                <a:latin typeface="宋体" pitchFamily="2" charset="-122"/>
              </a:rPr>
              <a:t>）* </a:t>
            </a:r>
            <a:r>
              <a:rPr lang="en-US" altLang="zh-CN" sz="2400" dirty="0">
                <a:latin typeface="宋体" pitchFamily="2" charset="-122"/>
              </a:rPr>
              <a:t>0.06 </a:t>
            </a:r>
          </a:p>
          <a:p>
            <a:r>
              <a:rPr lang="en-US" altLang="zh-CN" sz="2400" dirty="0">
                <a:latin typeface="宋体" pitchFamily="2" charset="-122"/>
              </a:rPr>
              <a:t>      +</a:t>
            </a:r>
            <a:r>
              <a:rPr lang="zh-CN" altLang="en-US" sz="2400" dirty="0">
                <a:latin typeface="宋体" pitchFamily="2" charset="-122"/>
              </a:rPr>
              <a:t>（</a:t>
            </a:r>
            <a:r>
              <a:rPr lang="en-US" altLang="zh-CN" sz="2400" dirty="0">
                <a:latin typeface="宋体" pitchFamily="2" charset="-122"/>
              </a:rPr>
              <a:t>15 + 60 + 10 * 10</a:t>
            </a:r>
            <a:r>
              <a:rPr lang="en-US" altLang="zh-CN" sz="2400" baseline="30000" dirty="0">
                <a:latin typeface="宋体" pitchFamily="2" charset="-122"/>
              </a:rPr>
              <a:t>6</a:t>
            </a:r>
            <a:r>
              <a:rPr lang="zh-CN" altLang="en-US" sz="2400" dirty="0">
                <a:latin typeface="宋体" pitchFamily="2" charset="-122"/>
              </a:rPr>
              <a:t>）* </a:t>
            </a:r>
            <a:r>
              <a:rPr lang="en-US" altLang="zh-CN" sz="2400" dirty="0">
                <a:latin typeface="宋体" pitchFamily="2" charset="-122"/>
              </a:rPr>
              <a:t>0.04 </a:t>
            </a:r>
          </a:p>
          <a:p>
            <a:r>
              <a:rPr lang="en-US" altLang="zh-CN" sz="2400" dirty="0">
                <a:latin typeface="宋体" pitchFamily="2" charset="-122"/>
              </a:rPr>
              <a:t>      = 400021 ns</a:t>
            </a: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3"/>
          <p:cNvSpPr>
            <a:spLocks noGrp="1" noChangeArrowheads="1"/>
          </p:cNvSpPr>
          <p:nvPr>
            <p:ph type="body" idx="1"/>
          </p:nvPr>
        </p:nvSpPr>
        <p:spPr>
          <a:xfrm>
            <a:off x="323850" y="260350"/>
            <a:ext cx="7561263" cy="4411663"/>
          </a:xfrm>
        </p:spPr>
        <p:txBody>
          <a:bodyPr/>
          <a:lstStyle/>
          <a:p>
            <a:pPr>
              <a:buFont typeface="Wingdings" pitchFamily="2" charset="2"/>
              <a:buNone/>
            </a:pPr>
            <a:endParaRPr lang="en-US" altLang="zh-CN" sz="2600" smtClean="0">
              <a:latin typeface="宋体" pitchFamily="2" charset="-122"/>
            </a:endParaRPr>
          </a:p>
          <a:p>
            <a:pPr>
              <a:lnSpc>
                <a:spcPct val="90000"/>
              </a:lnSpc>
              <a:buFont typeface="Wingdings" pitchFamily="2" charset="2"/>
              <a:buNone/>
            </a:pPr>
            <a:endParaRPr lang="en-US" altLang="zh-CN" smtClean="0"/>
          </a:p>
        </p:txBody>
      </p:sp>
      <p:sp>
        <p:nvSpPr>
          <p:cNvPr id="148483" name="Rectangle 5"/>
          <p:cNvSpPr>
            <a:spLocks noChangeArrowheads="1"/>
          </p:cNvSpPr>
          <p:nvPr/>
        </p:nvSpPr>
        <p:spPr bwMode="auto">
          <a:xfrm>
            <a:off x="468313" y="2446338"/>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Clr>
                <a:schemeClr val="tx2"/>
              </a:buClr>
              <a:buSzPct val="70000"/>
              <a:buFont typeface="Wingdings" pitchFamily="2" charset="2"/>
              <a:buChar char="l"/>
            </a:pPr>
            <a:endParaRPr lang="zh-CN" altLang="zh-CN" sz="2600">
              <a:latin typeface="宋体" pitchFamily="2" charset="-122"/>
              <a:ea typeface="宋体" pitchFamily="2" charset="-122"/>
            </a:endParaRPr>
          </a:p>
        </p:txBody>
      </p:sp>
      <p:sp>
        <p:nvSpPr>
          <p:cNvPr id="148484" name="Rectangle 7"/>
          <p:cNvSpPr>
            <a:spLocks noChangeArrowheads="1"/>
          </p:cNvSpPr>
          <p:nvPr/>
        </p:nvSpPr>
        <p:spPr bwMode="auto">
          <a:xfrm>
            <a:off x="323850" y="260350"/>
            <a:ext cx="8496300" cy="60626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latin typeface="宋体" pitchFamily="2" charset="-122"/>
              </a:rPr>
              <a:t>3.7.4 </a:t>
            </a:r>
            <a:r>
              <a:rPr lang="zh-CN" altLang="en-US">
                <a:latin typeface="宋体" pitchFamily="2" charset="-122"/>
              </a:rPr>
              <a:t>虚存的替换算法</a:t>
            </a:r>
          </a:p>
          <a:p>
            <a:r>
              <a:rPr lang="zh-CN" altLang="en-US" sz="2400">
                <a:latin typeface="宋体" pitchFamily="2" charset="-122"/>
              </a:rPr>
              <a:t>    当从辅存调页至主存而主存已满时，也需要进行主存页面的替换。</a:t>
            </a:r>
          </a:p>
          <a:p>
            <a:r>
              <a:rPr lang="zh-CN" altLang="en-US" sz="2400">
                <a:latin typeface="宋体" pitchFamily="2" charset="-122"/>
              </a:rPr>
              <a:t>    虚拟存储器的替换算法与</a:t>
            </a:r>
            <a:r>
              <a:rPr lang="en-US" altLang="zh-CN" sz="2400">
                <a:latin typeface="宋体" pitchFamily="2" charset="-122"/>
              </a:rPr>
              <a:t>cache</a:t>
            </a:r>
            <a:r>
              <a:rPr lang="zh-CN" altLang="en-US" sz="2400">
                <a:latin typeface="宋体" pitchFamily="2" charset="-122"/>
              </a:rPr>
              <a:t>的替换算法不同的是：</a:t>
            </a:r>
          </a:p>
          <a:p>
            <a:r>
              <a:rPr lang="zh-CN" altLang="en-US" sz="2400">
                <a:latin typeface="宋体" pitchFamily="2" charset="-122"/>
              </a:rPr>
              <a:t>    </a:t>
            </a:r>
            <a:r>
              <a:rPr lang="en-US" altLang="zh-CN" sz="2400">
                <a:latin typeface="宋体" pitchFamily="2" charset="-122"/>
              </a:rPr>
              <a:t>(1)cache</a:t>
            </a:r>
            <a:r>
              <a:rPr lang="zh-CN" altLang="en-US" sz="2400">
                <a:latin typeface="宋体" pitchFamily="2" charset="-122"/>
              </a:rPr>
              <a:t>的替换全部靠硬件实现，而虚拟存储器的替换有操作系统的支持。</a:t>
            </a:r>
          </a:p>
          <a:p>
            <a:r>
              <a:rPr lang="zh-CN" altLang="en-US" sz="2400">
                <a:latin typeface="宋体" pitchFamily="2" charset="-122"/>
              </a:rPr>
              <a:t>    </a:t>
            </a:r>
            <a:r>
              <a:rPr lang="en-US" altLang="zh-CN" sz="2400">
                <a:latin typeface="宋体" pitchFamily="2" charset="-122"/>
              </a:rPr>
              <a:t>(2)</a:t>
            </a:r>
            <a:r>
              <a:rPr lang="zh-CN" altLang="en-US" sz="2400">
                <a:latin typeface="宋体" pitchFamily="2" charset="-122"/>
              </a:rPr>
              <a:t>虚存缺页对系统性能的影响比</a:t>
            </a:r>
            <a:r>
              <a:rPr lang="en-US" altLang="zh-CN" sz="2400">
                <a:latin typeface="宋体" pitchFamily="2" charset="-122"/>
              </a:rPr>
              <a:t>cache</a:t>
            </a:r>
            <a:r>
              <a:rPr lang="zh-CN" altLang="en-US" sz="2400">
                <a:latin typeface="宋体" pitchFamily="2" charset="-122"/>
              </a:rPr>
              <a:t>未命中要大得多，因为调页需要访问辅存，并且要进行任务切换。</a:t>
            </a:r>
          </a:p>
          <a:p>
            <a:r>
              <a:rPr lang="zh-CN" altLang="en-US" sz="2400">
                <a:latin typeface="宋体" pitchFamily="2" charset="-122"/>
              </a:rPr>
              <a:t>    </a:t>
            </a:r>
            <a:r>
              <a:rPr lang="en-US" altLang="zh-CN" sz="2400">
                <a:latin typeface="宋体" pitchFamily="2" charset="-122"/>
              </a:rPr>
              <a:t>(3)</a:t>
            </a:r>
            <a:r>
              <a:rPr lang="zh-CN" altLang="en-US" sz="2400">
                <a:latin typeface="宋体" pitchFamily="2" charset="-122"/>
              </a:rPr>
              <a:t>虚存页面替换的选择余地很大，属于一个进程的页面都可替换。</a:t>
            </a:r>
          </a:p>
          <a:p>
            <a:r>
              <a:rPr lang="zh-CN" altLang="en-US" sz="2400">
                <a:latin typeface="宋体" pitchFamily="2" charset="-122"/>
              </a:rPr>
              <a:t>    虚拟存储器的替换算法与</a:t>
            </a:r>
            <a:r>
              <a:rPr lang="en-US" altLang="zh-CN" sz="2400">
                <a:latin typeface="宋体" pitchFamily="2" charset="-122"/>
              </a:rPr>
              <a:t>cache</a:t>
            </a:r>
            <a:r>
              <a:rPr lang="zh-CN" altLang="en-US" sz="2400">
                <a:latin typeface="宋体" pitchFamily="2" charset="-122"/>
              </a:rPr>
              <a:t>的替换算法类似，一般采用</a:t>
            </a:r>
            <a:r>
              <a:rPr lang="en-US" altLang="zh-CN" sz="2400">
                <a:latin typeface="宋体" pitchFamily="2" charset="-122"/>
              </a:rPr>
              <a:t>LRU</a:t>
            </a:r>
            <a:r>
              <a:rPr lang="zh-CN" altLang="en-US" sz="2400">
                <a:latin typeface="宋体" pitchFamily="2" charset="-122"/>
              </a:rPr>
              <a:t>算法</a:t>
            </a:r>
            <a:r>
              <a:rPr lang="en-US" altLang="zh-CN" sz="2400">
                <a:latin typeface="宋体" pitchFamily="2" charset="-122"/>
              </a:rPr>
              <a:t>(</a:t>
            </a:r>
            <a:r>
              <a:rPr lang="zh-CN" altLang="en-US" sz="2400">
                <a:latin typeface="宋体" pitchFamily="2" charset="-122"/>
              </a:rPr>
              <a:t>近期最少使用</a:t>
            </a:r>
            <a:r>
              <a:rPr lang="en-US" altLang="zh-CN" sz="2400">
                <a:latin typeface="宋体" pitchFamily="2" charset="-122"/>
              </a:rPr>
              <a:t>)</a:t>
            </a:r>
            <a:r>
              <a:rPr lang="zh-CN" altLang="en-US" sz="2400">
                <a:latin typeface="宋体" pitchFamily="2" charset="-122"/>
              </a:rPr>
              <a:t>、</a:t>
            </a:r>
            <a:r>
              <a:rPr lang="en-US" altLang="zh-CN" sz="2400">
                <a:latin typeface="宋体" pitchFamily="2" charset="-122"/>
              </a:rPr>
              <a:t>LFU</a:t>
            </a:r>
            <a:r>
              <a:rPr lang="zh-CN" altLang="en-US" sz="2400">
                <a:latin typeface="宋体" pitchFamily="2" charset="-122"/>
              </a:rPr>
              <a:t>算法（最不经常使用）、</a:t>
            </a:r>
            <a:r>
              <a:rPr lang="en-US" altLang="zh-CN" sz="2400">
                <a:latin typeface="宋体" pitchFamily="2" charset="-122"/>
              </a:rPr>
              <a:t>FIFO</a:t>
            </a:r>
            <a:r>
              <a:rPr lang="zh-CN" altLang="en-US" sz="2400">
                <a:latin typeface="宋体" pitchFamily="2" charset="-122"/>
              </a:rPr>
              <a:t>算法（先进先出），或将两种算法结合起来使用。</a:t>
            </a:r>
          </a:p>
          <a:p>
            <a:r>
              <a:rPr lang="zh-CN" altLang="en-US" sz="2400">
                <a:latin typeface="宋体" pitchFamily="2" charset="-122"/>
              </a:rPr>
              <a:t>　　对于将被替换出去的页面，假如该页调入主存后没有被修改</a:t>
            </a:r>
            <a:r>
              <a:rPr lang="en-US" altLang="zh-CN" sz="2400">
                <a:latin typeface="宋体" pitchFamily="2" charset="-122"/>
              </a:rPr>
              <a:t>,</a:t>
            </a:r>
            <a:r>
              <a:rPr lang="zh-CN" altLang="en-US" sz="2400">
                <a:latin typeface="宋体" pitchFamily="2" charset="-122"/>
              </a:rPr>
              <a:t>就不必进行处理，否则就把该页重新写入外存，以保证外存中数据的正确性。为此</a:t>
            </a:r>
            <a:r>
              <a:rPr lang="en-US" altLang="zh-CN" sz="2400">
                <a:latin typeface="宋体" pitchFamily="2" charset="-122"/>
              </a:rPr>
              <a:t>,</a:t>
            </a:r>
            <a:r>
              <a:rPr lang="zh-CN" altLang="en-US" sz="2400">
                <a:latin typeface="宋体" pitchFamily="2" charset="-122"/>
              </a:rPr>
              <a:t>在页表的每一行应设置一修改位。</a:t>
            </a: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4"/>
          <p:cNvSpPr>
            <a:spLocks noChangeArrowheads="1"/>
          </p:cNvSpPr>
          <p:nvPr/>
        </p:nvSpPr>
        <p:spPr bwMode="auto">
          <a:xfrm>
            <a:off x="215900" y="222250"/>
            <a:ext cx="2736850" cy="6299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ltLang="zh-CN" sz="2400">
                <a:latin typeface="宋体" pitchFamily="2" charset="-122"/>
              </a:rPr>
              <a:t>P296</a:t>
            </a:r>
            <a:r>
              <a:rPr lang="zh-CN" altLang="en-US" sz="2400">
                <a:latin typeface="宋体" pitchFamily="2" charset="-122"/>
              </a:rPr>
              <a:t>、</a:t>
            </a:r>
            <a:r>
              <a:rPr lang="en-US" altLang="zh-CN" sz="2400">
                <a:latin typeface="宋体" pitchFamily="2" charset="-122"/>
              </a:rPr>
              <a:t>6 </a:t>
            </a:r>
            <a:r>
              <a:rPr lang="zh-CN" altLang="en-US" sz="2400">
                <a:latin typeface="宋体" pitchFamily="2" charset="-122"/>
              </a:rPr>
              <a:t>某虚拟存储器采用页式存储管理，使用</a:t>
            </a:r>
            <a:r>
              <a:rPr lang="en-US" altLang="zh-CN" sz="2400">
                <a:latin typeface="宋体" pitchFamily="2" charset="-122"/>
              </a:rPr>
              <a:t>LRU</a:t>
            </a:r>
            <a:r>
              <a:rPr lang="zh-CN" altLang="en-US" sz="2400">
                <a:latin typeface="宋体" pitchFamily="2" charset="-122"/>
              </a:rPr>
              <a:t>页面替换算法。若每次访问在一个时间单位内完成，页面访问的序列如下：</a:t>
            </a:r>
            <a:r>
              <a:rPr lang="en-US" altLang="zh-CN" sz="2400">
                <a:latin typeface="宋体" pitchFamily="2" charset="-122"/>
              </a:rPr>
              <a:t>1</a:t>
            </a:r>
            <a:r>
              <a:rPr lang="zh-CN" altLang="en-US" sz="2400">
                <a:latin typeface="宋体" pitchFamily="2" charset="-122"/>
              </a:rPr>
              <a:t>、</a:t>
            </a:r>
            <a:r>
              <a:rPr lang="en-US" altLang="zh-CN" sz="2400">
                <a:latin typeface="宋体" pitchFamily="2" charset="-122"/>
              </a:rPr>
              <a:t>8</a:t>
            </a:r>
            <a:r>
              <a:rPr lang="zh-CN" altLang="en-US" sz="2400">
                <a:latin typeface="宋体" pitchFamily="2" charset="-122"/>
              </a:rPr>
              <a:t>、</a:t>
            </a:r>
            <a:r>
              <a:rPr lang="en-US" altLang="zh-CN" sz="2400">
                <a:latin typeface="宋体" pitchFamily="2" charset="-122"/>
              </a:rPr>
              <a:t>1</a:t>
            </a:r>
            <a:r>
              <a:rPr lang="zh-CN" altLang="en-US" sz="2400">
                <a:latin typeface="宋体" pitchFamily="2" charset="-122"/>
              </a:rPr>
              <a:t>、</a:t>
            </a:r>
            <a:r>
              <a:rPr lang="en-US" altLang="zh-CN" sz="2400">
                <a:latin typeface="宋体" pitchFamily="2" charset="-122"/>
              </a:rPr>
              <a:t>7</a:t>
            </a:r>
            <a:r>
              <a:rPr lang="zh-CN" altLang="en-US" sz="2400">
                <a:latin typeface="宋体" pitchFamily="2" charset="-122"/>
              </a:rPr>
              <a:t>、</a:t>
            </a:r>
            <a:r>
              <a:rPr lang="en-US" altLang="zh-CN" sz="2400">
                <a:latin typeface="宋体" pitchFamily="2" charset="-122"/>
              </a:rPr>
              <a:t>8</a:t>
            </a:r>
            <a:r>
              <a:rPr lang="zh-CN" altLang="en-US" sz="2400">
                <a:latin typeface="宋体" pitchFamily="2" charset="-122"/>
              </a:rPr>
              <a:t>、</a:t>
            </a:r>
            <a:r>
              <a:rPr lang="en-US" altLang="zh-CN" sz="2400">
                <a:latin typeface="宋体" pitchFamily="2" charset="-122"/>
              </a:rPr>
              <a:t>2</a:t>
            </a:r>
            <a:r>
              <a:rPr lang="zh-CN" altLang="en-US" sz="2400">
                <a:latin typeface="宋体" pitchFamily="2" charset="-122"/>
              </a:rPr>
              <a:t>、</a:t>
            </a:r>
            <a:r>
              <a:rPr lang="en-US" altLang="zh-CN" sz="2400">
                <a:latin typeface="宋体" pitchFamily="2" charset="-122"/>
              </a:rPr>
              <a:t>7</a:t>
            </a:r>
            <a:r>
              <a:rPr lang="zh-CN" altLang="en-US" sz="2400">
                <a:latin typeface="宋体" pitchFamily="2" charset="-122"/>
              </a:rPr>
              <a:t>、</a:t>
            </a:r>
            <a:r>
              <a:rPr lang="en-US" altLang="zh-CN" sz="2400">
                <a:latin typeface="宋体" pitchFamily="2" charset="-122"/>
              </a:rPr>
              <a:t>2</a:t>
            </a:r>
            <a:r>
              <a:rPr lang="zh-CN" altLang="en-US" sz="2400">
                <a:latin typeface="宋体" pitchFamily="2" charset="-122"/>
              </a:rPr>
              <a:t>、</a:t>
            </a:r>
            <a:r>
              <a:rPr lang="en-US" altLang="zh-CN" sz="2400">
                <a:latin typeface="宋体" pitchFamily="2" charset="-122"/>
              </a:rPr>
              <a:t>1</a:t>
            </a:r>
            <a:r>
              <a:rPr lang="zh-CN" altLang="en-US" sz="2400">
                <a:latin typeface="宋体" pitchFamily="2" charset="-122"/>
              </a:rPr>
              <a:t>、</a:t>
            </a:r>
            <a:r>
              <a:rPr lang="en-US" altLang="zh-CN" sz="2400">
                <a:latin typeface="宋体" pitchFamily="2" charset="-122"/>
              </a:rPr>
              <a:t>8</a:t>
            </a:r>
            <a:r>
              <a:rPr lang="zh-CN" altLang="en-US" sz="2400">
                <a:latin typeface="宋体" pitchFamily="2" charset="-122"/>
              </a:rPr>
              <a:t>、</a:t>
            </a:r>
            <a:r>
              <a:rPr lang="en-US" altLang="zh-CN" sz="2400">
                <a:latin typeface="宋体" pitchFamily="2" charset="-122"/>
              </a:rPr>
              <a:t>3</a:t>
            </a:r>
            <a:r>
              <a:rPr lang="zh-CN" altLang="en-US" sz="2400">
                <a:latin typeface="宋体" pitchFamily="2" charset="-122"/>
              </a:rPr>
              <a:t>、</a:t>
            </a:r>
            <a:r>
              <a:rPr lang="en-US" altLang="zh-CN" sz="2400">
                <a:latin typeface="宋体" pitchFamily="2" charset="-122"/>
              </a:rPr>
              <a:t>8</a:t>
            </a:r>
            <a:r>
              <a:rPr lang="zh-CN" altLang="en-US" sz="2400">
                <a:latin typeface="宋体" pitchFamily="2" charset="-122"/>
              </a:rPr>
              <a:t>、</a:t>
            </a:r>
            <a:r>
              <a:rPr lang="en-US" altLang="zh-CN" sz="2400">
                <a:latin typeface="宋体" pitchFamily="2" charset="-122"/>
              </a:rPr>
              <a:t>2</a:t>
            </a:r>
            <a:r>
              <a:rPr lang="zh-CN" altLang="en-US" sz="2400">
                <a:latin typeface="宋体" pitchFamily="2" charset="-122"/>
              </a:rPr>
              <a:t>、</a:t>
            </a:r>
            <a:r>
              <a:rPr lang="en-US" altLang="zh-CN" sz="2400">
                <a:latin typeface="宋体" pitchFamily="2" charset="-122"/>
              </a:rPr>
              <a:t>1</a:t>
            </a:r>
            <a:r>
              <a:rPr lang="zh-CN" altLang="en-US" sz="2400">
                <a:latin typeface="宋体" pitchFamily="2" charset="-122"/>
              </a:rPr>
              <a:t>、</a:t>
            </a:r>
            <a:r>
              <a:rPr lang="en-US" altLang="zh-CN" sz="2400">
                <a:latin typeface="宋体" pitchFamily="2" charset="-122"/>
              </a:rPr>
              <a:t>3</a:t>
            </a:r>
            <a:r>
              <a:rPr lang="zh-CN" altLang="en-US" sz="2400">
                <a:latin typeface="宋体" pitchFamily="2" charset="-122"/>
              </a:rPr>
              <a:t>、</a:t>
            </a:r>
            <a:r>
              <a:rPr lang="en-US" altLang="zh-CN" sz="2400">
                <a:latin typeface="宋体" pitchFamily="2" charset="-122"/>
              </a:rPr>
              <a:t>1</a:t>
            </a:r>
            <a:r>
              <a:rPr lang="zh-CN" altLang="en-US" sz="2400">
                <a:latin typeface="宋体" pitchFamily="2" charset="-122"/>
              </a:rPr>
              <a:t>、</a:t>
            </a:r>
            <a:r>
              <a:rPr lang="en-US" altLang="zh-CN" sz="2400">
                <a:latin typeface="宋体" pitchFamily="2" charset="-122"/>
              </a:rPr>
              <a:t>7</a:t>
            </a:r>
            <a:r>
              <a:rPr lang="zh-CN" altLang="en-US" sz="2400">
                <a:latin typeface="宋体" pitchFamily="2" charset="-122"/>
              </a:rPr>
              <a:t>、</a:t>
            </a:r>
            <a:r>
              <a:rPr lang="en-US" altLang="zh-CN" sz="2400">
                <a:latin typeface="宋体" pitchFamily="2" charset="-122"/>
              </a:rPr>
              <a:t>1</a:t>
            </a:r>
            <a:r>
              <a:rPr lang="zh-CN" altLang="en-US" sz="2400">
                <a:latin typeface="宋体" pitchFamily="2" charset="-122"/>
              </a:rPr>
              <a:t>、</a:t>
            </a:r>
            <a:r>
              <a:rPr lang="en-US" altLang="zh-CN" sz="2400">
                <a:latin typeface="宋体" pitchFamily="2" charset="-122"/>
              </a:rPr>
              <a:t>3</a:t>
            </a:r>
            <a:r>
              <a:rPr lang="zh-CN" altLang="en-US" sz="2400">
                <a:latin typeface="宋体" pitchFamily="2" charset="-122"/>
              </a:rPr>
              <a:t>、</a:t>
            </a:r>
            <a:r>
              <a:rPr lang="en-US" altLang="zh-CN" sz="2400">
                <a:latin typeface="宋体" pitchFamily="2" charset="-122"/>
              </a:rPr>
              <a:t>7</a:t>
            </a:r>
            <a:r>
              <a:rPr lang="zh-CN" altLang="en-US" sz="2400">
                <a:latin typeface="宋体" pitchFamily="2" charset="-122"/>
              </a:rPr>
              <a:t>。已知主存只允许存放</a:t>
            </a:r>
            <a:r>
              <a:rPr lang="en-US" altLang="zh-CN" sz="2400">
                <a:latin typeface="宋体" pitchFamily="2" charset="-122"/>
              </a:rPr>
              <a:t>4</a:t>
            </a:r>
            <a:r>
              <a:rPr lang="zh-CN" altLang="en-US" sz="2400">
                <a:latin typeface="宋体" pitchFamily="2" charset="-122"/>
              </a:rPr>
              <a:t>个页面，初始状态时</a:t>
            </a:r>
            <a:r>
              <a:rPr lang="en-US" altLang="zh-CN" sz="2400">
                <a:latin typeface="宋体" pitchFamily="2" charset="-122"/>
              </a:rPr>
              <a:t>4</a:t>
            </a:r>
            <a:r>
              <a:rPr lang="zh-CN" altLang="en-US" sz="2400">
                <a:latin typeface="宋体" pitchFamily="2" charset="-122"/>
              </a:rPr>
              <a:t>个页面是全空的，则页面失效次数是多少？</a:t>
            </a:r>
          </a:p>
          <a:p>
            <a:pPr eaLnBrk="0" hangingPunct="0"/>
            <a:r>
              <a:rPr lang="zh-CN" altLang="en-US" sz="2400">
                <a:latin typeface="宋体" pitchFamily="2" charset="-122"/>
              </a:rPr>
              <a:t>答：</a:t>
            </a:r>
            <a:r>
              <a:rPr lang="en-US" altLang="zh-CN" sz="2400">
                <a:latin typeface="宋体" pitchFamily="2" charset="-122"/>
              </a:rPr>
              <a:t>6</a:t>
            </a:r>
            <a:r>
              <a:rPr lang="zh-CN" altLang="en-US" sz="2400">
                <a:latin typeface="宋体" pitchFamily="2" charset="-122"/>
              </a:rPr>
              <a:t>次</a:t>
            </a:r>
          </a:p>
        </p:txBody>
      </p:sp>
      <p:pic>
        <p:nvPicPr>
          <p:cNvPr id="15053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114300"/>
            <a:ext cx="5905500" cy="655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D79CAEAD-7B62-4822-8CF2-6A280512C8AD}" type="slidenum">
              <a:rPr lang="en-US" altLang="zh-CN" smtClean="0"/>
              <a:pPr>
                <a:defRPr/>
              </a:pPr>
              <a:t>128</a:t>
            </a:fld>
            <a:endParaRPr lang="en-US" altLang="zh-CN"/>
          </a:p>
        </p:txBody>
      </p:sp>
      <p:sp>
        <p:nvSpPr>
          <p:cNvPr id="3" name="Rectangle 6"/>
          <p:cNvSpPr>
            <a:spLocks noChangeArrowheads="1"/>
          </p:cNvSpPr>
          <p:nvPr/>
        </p:nvSpPr>
        <p:spPr bwMode="auto">
          <a:xfrm>
            <a:off x="157608" y="277911"/>
            <a:ext cx="8824912" cy="1631216"/>
          </a:xfrm>
          <a:prstGeom prst="rect">
            <a:avLst/>
          </a:prstGeom>
          <a:ln/>
        </p:spPr>
        <p:style>
          <a:lnRef idx="1">
            <a:schemeClr val="accent6"/>
          </a:lnRef>
          <a:fillRef idx="2">
            <a:schemeClr val="accent6"/>
          </a:fillRef>
          <a:effectRef idx="1">
            <a:schemeClr val="accent6"/>
          </a:effectRef>
          <a:fontRef idx="minor">
            <a:schemeClr val="dk1"/>
          </a:fontRef>
        </p:style>
        <p:txBody>
          <a:bodyPr anchor="ctr">
            <a:spAutoFit/>
          </a:bodyPr>
          <a:lstStyle/>
          <a:p>
            <a:pPr lvl="1"/>
            <a:r>
              <a:rPr lang="zh-CN" altLang="zh-CN" sz="2000" dirty="0" smtClean="0">
                <a:latin typeface="黑体" pitchFamily="2" charset="-122"/>
                <a:ea typeface="黑体" pitchFamily="2" charset="-122"/>
              </a:rPr>
              <a:t>某</a:t>
            </a:r>
            <a:r>
              <a:rPr lang="zh-CN" altLang="zh-CN" sz="2000" dirty="0">
                <a:latin typeface="黑体" pitchFamily="2" charset="-122"/>
                <a:ea typeface="黑体" pitchFamily="2" charset="-122"/>
              </a:rPr>
              <a:t>计算机存储器按字节编址，虚拟地址空间大小为</a:t>
            </a:r>
            <a:r>
              <a:rPr lang="en-US" altLang="zh-CN" sz="2000" dirty="0">
                <a:latin typeface="黑体" pitchFamily="2" charset="-122"/>
                <a:ea typeface="黑体" pitchFamily="2" charset="-122"/>
              </a:rPr>
              <a:t>16MB</a:t>
            </a:r>
            <a:r>
              <a:rPr lang="zh-CN" altLang="zh-CN" sz="2000" dirty="0">
                <a:latin typeface="黑体" pitchFamily="2" charset="-122"/>
                <a:ea typeface="黑体" pitchFamily="2" charset="-122"/>
              </a:rPr>
              <a:t>，主存地址空间大小为</a:t>
            </a:r>
            <a:r>
              <a:rPr lang="en-US" altLang="zh-CN" sz="2000" dirty="0">
                <a:latin typeface="黑体" pitchFamily="2" charset="-122"/>
                <a:ea typeface="黑体" pitchFamily="2" charset="-122"/>
              </a:rPr>
              <a:t>1MB</a:t>
            </a:r>
            <a:r>
              <a:rPr lang="zh-CN" altLang="zh-CN" sz="2000" dirty="0">
                <a:latin typeface="黑体" pitchFamily="2" charset="-122"/>
                <a:ea typeface="黑体" pitchFamily="2" charset="-122"/>
              </a:rPr>
              <a:t>，页面大小为</a:t>
            </a:r>
            <a:r>
              <a:rPr lang="en-US" altLang="zh-CN" sz="2000" dirty="0">
                <a:latin typeface="黑体" pitchFamily="2" charset="-122"/>
                <a:ea typeface="黑体" pitchFamily="2" charset="-122"/>
              </a:rPr>
              <a:t>4KB</a:t>
            </a:r>
            <a:r>
              <a:rPr lang="zh-CN" altLang="zh-CN" sz="2000" dirty="0">
                <a:latin typeface="黑体" pitchFamily="2" charset="-122"/>
                <a:ea typeface="黑体" pitchFamily="2" charset="-122"/>
              </a:rPr>
              <a:t>；</a:t>
            </a:r>
            <a:r>
              <a:rPr lang="en-US" altLang="zh-CN" sz="2000" dirty="0">
                <a:latin typeface="黑体" pitchFamily="2" charset="-122"/>
                <a:ea typeface="黑体" pitchFamily="2" charset="-122"/>
              </a:rPr>
              <a:t>Cache</a:t>
            </a:r>
            <a:r>
              <a:rPr lang="zh-CN" altLang="zh-CN" sz="2000" dirty="0">
                <a:latin typeface="黑体" pitchFamily="2" charset="-122"/>
                <a:ea typeface="黑体" pitchFamily="2" charset="-122"/>
              </a:rPr>
              <a:t>采用直接映射方式，共</a:t>
            </a:r>
            <a:r>
              <a:rPr lang="en-US" altLang="zh-CN" sz="2000" dirty="0">
                <a:latin typeface="黑体" pitchFamily="2" charset="-122"/>
                <a:ea typeface="黑体" pitchFamily="2" charset="-122"/>
              </a:rPr>
              <a:t>8</a:t>
            </a:r>
            <a:r>
              <a:rPr lang="zh-CN" altLang="zh-CN" sz="2000" dirty="0">
                <a:latin typeface="黑体" pitchFamily="2" charset="-122"/>
                <a:ea typeface="黑体" pitchFamily="2" charset="-122"/>
              </a:rPr>
              <a:t>行；主存与</a:t>
            </a:r>
            <a:r>
              <a:rPr lang="en-US" altLang="zh-CN" sz="2000" dirty="0">
                <a:latin typeface="黑体" pitchFamily="2" charset="-122"/>
                <a:ea typeface="黑体" pitchFamily="2" charset="-122"/>
              </a:rPr>
              <a:t>Cache</a:t>
            </a:r>
            <a:r>
              <a:rPr lang="zh-CN" altLang="zh-CN" sz="2000" dirty="0">
                <a:latin typeface="黑体" pitchFamily="2" charset="-122"/>
                <a:ea typeface="黑体" pitchFamily="2" charset="-122"/>
              </a:rPr>
              <a:t>之间的交换的块大小为</a:t>
            </a:r>
            <a:r>
              <a:rPr lang="en-US" altLang="zh-CN" sz="2000" dirty="0">
                <a:latin typeface="黑体" pitchFamily="2" charset="-122"/>
                <a:ea typeface="黑体" pitchFamily="2" charset="-122"/>
              </a:rPr>
              <a:t>32B</a:t>
            </a:r>
            <a:r>
              <a:rPr lang="zh-CN" altLang="zh-CN" sz="2000" dirty="0">
                <a:latin typeface="黑体" pitchFamily="2" charset="-122"/>
                <a:ea typeface="黑体" pitchFamily="2" charset="-122"/>
              </a:rPr>
              <a:t>。系统运行到某一时刻时，页表的部分内容和</a:t>
            </a:r>
            <a:r>
              <a:rPr lang="en-US" altLang="zh-CN" sz="2000" dirty="0">
                <a:latin typeface="黑体" pitchFamily="2" charset="-122"/>
                <a:ea typeface="黑体" pitchFamily="2" charset="-122"/>
              </a:rPr>
              <a:t>Cache</a:t>
            </a:r>
            <a:r>
              <a:rPr lang="zh-CN" altLang="zh-CN" sz="2000" dirty="0">
                <a:latin typeface="黑体" pitchFamily="2" charset="-122"/>
                <a:ea typeface="黑体" pitchFamily="2" charset="-122"/>
              </a:rPr>
              <a:t>的部分内容如图</a:t>
            </a:r>
            <a:r>
              <a:rPr lang="en-US" altLang="zh-CN" sz="2000" dirty="0">
                <a:latin typeface="黑体" pitchFamily="2" charset="-122"/>
                <a:ea typeface="黑体" pitchFamily="2" charset="-122"/>
              </a:rPr>
              <a:t>A</a:t>
            </a:r>
            <a:r>
              <a:rPr lang="zh-CN" altLang="zh-CN" sz="2000" dirty="0">
                <a:latin typeface="黑体" pitchFamily="2" charset="-122"/>
                <a:ea typeface="黑体" pitchFamily="2" charset="-122"/>
              </a:rPr>
              <a:t>、</a:t>
            </a:r>
            <a:r>
              <a:rPr lang="en-US" altLang="zh-CN" sz="2000" dirty="0">
                <a:latin typeface="黑体" pitchFamily="2" charset="-122"/>
                <a:ea typeface="黑体" pitchFamily="2" charset="-122"/>
              </a:rPr>
              <a:t>B</a:t>
            </a:r>
            <a:r>
              <a:rPr lang="zh-CN" altLang="zh-CN" sz="2000" dirty="0">
                <a:latin typeface="黑体" pitchFamily="2" charset="-122"/>
                <a:ea typeface="黑体" pitchFamily="2" charset="-122"/>
              </a:rPr>
              <a:t>所示，图中页号和标记字段的内容为十六进制形式</a:t>
            </a:r>
            <a:r>
              <a:rPr lang="zh-CN" altLang="zh-CN" sz="2000" dirty="0" smtClean="0">
                <a:latin typeface="黑体" pitchFamily="2" charset="-122"/>
                <a:ea typeface="黑体" pitchFamily="2" charset="-122"/>
              </a:rPr>
              <a:t>。</a:t>
            </a:r>
            <a:endParaRPr lang="zh-CN" altLang="en-US" sz="2000" dirty="0">
              <a:latin typeface="黑体" pitchFamily="2" charset="-122"/>
              <a:ea typeface="黑体" pitchFamily="2" charset="-122"/>
            </a:endParaRPr>
          </a:p>
        </p:txBody>
      </p:sp>
      <p:sp>
        <p:nvSpPr>
          <p:cNvPr id="5" name="Rectangle 6"/>
          <p:cNvSpPr>
            <a:spLocks noChangeArrowheads="1"/>
          </p:cNvSpPr>
          <p:nvPr/>
        </p:nvSpPr>
        <p:spPr bwMode="auto">
          <a:xfrm>
            <a:off x="157608" y="4498072"/>
            <a:ext cx="8824912" cy="2246769"/>
          </a:xfrm>
          <a:prstGeom prst="rect">
            <a:avLst/>
          </a:prstGeom>
          <a:ln/>
        </p:spPr>
        <p:style>
          <a:lnRef idx="1">
            <a:schemeClr val="accent6"/>
          </a:lnRef>
          <a:fillRef idx="2">
            <a:schemeClr val="accent6"/>
          </a:fillRef>
          <a:effectRef idx="1">
            <a:schemeClr val="accent6"/>
          </a:effectRef>
          <a:fontRef idx="minor">
            <a:schemeClr val="dk1"/>
          </a:fontRef>
        </p:style>
        <p:txBody>
          <a:bodyPr anchor="ctr">
            <a:spAutoFit/>
          </a:bodyPr>
          <a:lstStyle/>
          <a:p>
            <a:r>
              <a:rPr lang="zh-CN" altLang="zh-CN" sz="2000" dirty="0" smtClean="0">
                <a:latin typeface="黑体" pitchFamily="2" charset="-122"/>
                <a:ea typeface="黑体" pitchFamily="2" charset="-122"/>
              </a:rPr>
              <a:t>请</a:t>
            </a:r>
            <a:r>
              <a:rPr lang="zh-CN" altLang="zh-CN" sz="2000" dirty="0">
                <a:latin typeface="黑体" pitchFamily="2" charset="-122"/>
                <a:ea typeface="黑体" pitchFamily="2" charset="-122"/>
              </a:rPr>
              <a:t>回答下面问题：</a:t>
            </a:r>
          </a:p>
          <a:p>
            <a:r>
              <a:rPr lang="zh-CN" altLang="en-US" sz="2000" dirty="0" smtClean="0">
                <a:latin typeface="黑体" pitchFamily="2" charset="-122"/>
                <a:ea typeface="黑体" pitchFamily="2" charset="-122"/>
              </a:rPr>
              <a:t>（</a:t>
            </a:r>
            <a:r>
              <a:rPr lang="en-US" altLang="zh-CN" sz="2000" dirty="0" smtClean="0">
                <a:latin typeface="黑体" pitchFamily="2" charset="-122"/>
                <a:ea typeface="黑体" pitchFamily="2" charset="-122"/>
              </a:rPr>
              <a:t>1</a:t>
            </a:r>
            <a:r>
              <a:rPr lang="zh-CN" altLang="en-US" sz="2000" dirty="0" smtClean="0">
                <a:latin typeface="黑体" pitchFamily="2" charset="-122"/>
                <a:ea typeface="黑体" pitchFamily="2" charset="-122"/>
              </a:rPr>
              <a:t>）</a:t>
            </a:r>
            <a:r>
              <a:rPr lang="zh-CN" altLang="zh-CN" sz="2000" dirty="0" smtClean="0">
                <a:latin typeface="黑体" pitchFamily="2" charset="-122"/>
                <a:ea typeface="黑体" pitchFamily="2" charset="-122"/>
              </a:rPr>
              <a:t>虚拟地址</a:t>
            </a:r>
            <a:r>
              <a:rPr lang="zh-CN" altLang="zh-CN" sz="2000" dirty="0">
                <a:latin typeface="黑体" pitchFamily="2" charset="-122"/>
                <a:ea typeface="黑体" pitchFamily="2" charset="-122"/>
              </a:rPr>
              <a:t>共有几位，哪几位表示虚页号？物理地址共有几位，哪几位表示物理页号？</a:t>
            </a:r>
          </a:p>
          <a:p>
            <a:r>
              <a:rPr lang="zh-CN" altLang="en-US" sz="2000" dirty="0" smtClean="0">
                <a:latin typeface="黑体" pitchFamily="2" charset="-122"/>
                <a:ea typeface="黑体" pitchFamily="2" charset="-122"/>
              </a:rPr>
              <a:t>（</a:t>
            </a:r>
            <a:r>
              <a:rPr lang="en-US" altLang="zh-CN" sz="2000" dirty="0" smtClean="0">
                <a:latin typeface="黑体" pitchFamily="2" charset="-122"/>
                <a:ea typeface="黑体" pitchFamily="2" charset="-122"/>
              </a:rPr>
              <a:t>2</a:t>
            </a:r>
            <a:r>
              <a:rPr lang="zh-CN" altLang="en-US" sz="2000" dirty="0" smtClean="0">
                <a:latin typeface="黑体" pitchFamily="2" charset="-122"/>
                <a:ea typeface="黑体" pitchFamily="2" charset="-122"/>
              </a:rPr>
              <a:t>）</a:t>
            </a:r>
            <a:r>
              <a:rPr lang="zh-CN" altLang="zh-CN" sz="2000" dirty="0" smtClean="0">
                <a:latin typeface="黑体" pitchFamily="2" charset="-122"/>
                <a:ea typeface="黑体" pitchFamily="2" charset="-122"/>
              </a:rPr>
              <a:t>使用</a:t>
            </a:r>
            <a:r>
              <a:rPr lang="zh-CN" altLang="zh-CN" sz="2000" dirty="0">
                <a:latin typeface="黑体" pitchFamily="2" charset="-122"/>
                <a:ea typeface="黑体" pitchFamily="2" charset="-122"/>
              </a:rPr>
              <a:t>物理地址访问</a:t>
            </a:r>
            <a:r>
              <a:rPr lang="en-US" altLang="zh-CN" sz="2000" dirty="0">
                <a:latin typeface="黑体" pitchFamily="2" charset="-122"/>
                <a:ea typeface="黑体" pitchFamily="2" charset="-122"/>
              </a:rPr>
              <a:t>Cache</a:t>
            </a:r>
            <a:r>
              <a:rPr lang="zh-CN" altLang="zh-CN" sz="2000" dirty="0">
                <a:latin typeface="黑体" pitchFamily="2" charset="-122"/>
                <a:ea typeface="黑体" pitchFamily="2" charset="-122"/>
              </a:rPr>
              <a:t>时，物理地址应划分成哪几个字段？要求说明</a:t>
            </a:r>
            <a:r>
              <a:rPr lang="zh-CN" altLang="zh-CN" sz="2000" dirty="0" smtClean="0">
                <a:latin typeface="黑体" pitchFamily="2" charset="-122"/>
                <a:ea typeface="黑体" pitchFamily="2" charset="-122"/>
              </a:rPr>
              <a:t>每</a:t>
            </a:r>
            <a:r>
              <a:rPr lang="zh-CN" altLang="en-US" sz="2000" dirty="0" smtClean="0">
                <a:latin typeface="黑体" pitchFamily="2" charset="-122"/>
                <a:ea typeface="黑体" pitchFamily="2" charset="-122"/>
              </a:rPr>
              <a:t>个</a:t>
            </a:r>
            <a:r>
              <a:rPr lang="zh-CN" altLang="zh-CN" sz="2000" dirty="0" smtClean="0">
                <a:latin typeface="黑体" pitchFamily="2" charset="-122"/>
                <a:ea typeface="黑体" pitchFamily="2" charset="-122"/>
              </a:rPr>
              <a:t>字段</a:t>
            </a:r>
            <a:r>
              <a:rPr lang="zh-CN" altLang="zh-CN" sz="2000" dirty="0">
                <a:latin typeface="黑体" pitchFamily="2" charset="-122"/>
                <a:ea typeface="黑体" pitchFamily="2" charset="-122"/>
              </a:rPr>
              <a:t>的位数及在物理地址中的位置。</a:t>
            </a:r>
          </a:p>
          <a:p>
            <a:r>
              <a:rPr lang="zh-CN" altLang="en-US" sz="2000" dirty="0" smtClean="0">
                <a:latin typeface="黑体" pitchFamily="2" charset="-122"/>
                <a:ea typeface="黑体" pitchFamily="2" charset="-122"/>
              </a:rPr>
              <a:t>（</a:t>
            </a:r>
            <a:r>
              <a:rPr lang="en-US" altLang="zh-CN" sz="2000" dirty="0" smtClean="0">
                <a:latin typeface="黑体" pitchFamily="2" charset="-122"/>
                <a:ea typeface="黑体" pitchFamily="2" charset="-122"/>
              </a:rPr>
              <a:t>3</a:t>
            </a:r>
            <a:r>
              <a:rPr lang="zh-CN" altLang="en-US" sz="2000" dirty="0" smtClean="0">
                <a:latin typeface="黑体" pitchFamily="2" charset="-122"/>
                <a:ea typeface="黑体" pitchFamily="2" charset="-122"/>
              </a:rPr>
              <a:t>）</a:t>
            </a:r>
            <a:r>
              <a:rPr lang="zh-CN" altLang="zh-CN" sz="2000" dirty="0" smtClean="0">
                <a:latin typeface="黑体" pitchFamily="2" charset="-122"/>
                <a:ea typeface="黑体" pitchFamily="2" charset="-122"/>
              </a:rPr>
              <a:t>虚拟地址</a:t>
            </a:r>
            <a:r>
              <a:rPr lang="en-US" altLang="zh-CN" sz="2000" dirty="0">
                <a:latin typeface="黑体" pitchFamily="2" charset="-122"/>
                <a:ea typeface="黑体" pitchFamily="2" charset="-122"/>
              </a:rPr>
              <a:t>001C60H</a:t>
            </a:r>
            <a:r>
              <a:rPr lang="zh-CN" altLang="zh-CN" sz="2000" dirty="0">
                <a:latin typeface="黑体" pitchFamily="2" charset="-122"/>
                <a:ea typeface="黑体" pitchFamily="2" charset="-122"/>
              </a:rPr>
              <a:t>所在页面是否在主存中？若在主存中，则该虚地址对应的物理地址是什么？访问该地址时是否</a:t>
            </a:r>
            <a:r>
              <a:rPr lang="en-US" altLang="zh-CN" sz="2000" dirty="0">
                <a:latin typeface="黑体" pitchFamily="2" charset="-122"/>
                <a:ea typeface="黑体" pitchFamily="2" charset="-122"/>
              </a:rPr>
              <a:t>Cache</a:t>
            </a:r>
            <a:r>
              <a:rPr lang="zh-CN" altLang="zh-CN" sz="2000" dirty="0" smtClean="0">
                <a:latin typeface="黑体" pitchFamily="2" charset="-122"/>
                <a:ea typeface="黑体" pitchFamily="2" charset="-122"/>
              </a:rPr>
              <a:t>命中</a:t>
            </a:r>
            <a:r>
              <a:rPr lang="zh-CN" altLang="en-US" sz="2000" dirty="0" smtClean="0">
                <a:latin typeface="黑体" pitchFamily="2" charset="-122"/>
                <a:ea typeface="黑体" pitchFamily="2" charset="-122"/>
              </a:rPr>
              <a:t>，</a:t>
            </a:r>
            <a:r>
              <a:rPr lang="zh-CN" altLang="zh-CN" sz="2000" dirty="0" smtClean="0">
                <a:latin typeface="黑体" pitchFamily="2" charset="-122"/>
                <a:ea typeface="黑体" pitchFamily="2" charset="-122"/>
              </a:rPr>
              <a:t>要求</a:t>
            </a:r>
            <a:r>
              <a:rPr lang="zh-CN" altLang="zh-CN" sz="2000" dirty="0">
                <a:latin typeface="黑体" pitchFamily="2" charset="-122"/>
                <a:ea typeface="黑体" pitchFamily="2" charset="-122"/>
              </a:rPr>
              <a:t>说明理由</a:t>
            </a:r>
            <a:r>
              <a:rPr lang="zh-CN" altLang="zh-CN" sz="2000" dirty="0" smtClean="0">
                <a:latin typeface="黑体" pitchFamily="2" charset="-122"/>
                <a:ea typeface="黑体" pitchFamily="2" charset="-122"/>
              </a:rPr>
              <a:t>。</a:t>
            </a:r>
            <a:endParaRPr lang="zh-CN" altLang="en-US" sz="2000" dirty="0">
              <a:latin typeface="黑体" pitchFamily="2" charset="-122"/>
              <a:ea typeface="黑体" pitchFamily="2" charset="-122"/>
            </a:endParaRPr>
          </a:p>
        </p:txBody>
      </p:sp>
      <p:pic>
        <p:nvPicPr>
          <p:cNvPr id="19457"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417" y="1952264"/>
            <a:ext cx="8824912" cy="2509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95929" y="300872"/>
            <a:ext cx="517525" cy="156966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lvl="0" algn="ctr">
              <a:spcBef>
                <a:spcPts val="0"/>
              </a:spcBef>
            </a:pPr>
            <a:r>
              <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课</a:t>
            </a:r>
            <a:r>
              <a:rPr lang="zh-CN" altLang="en-US" sz="2400" b="1" dirty="0" smtClean="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内练习</a:t>
            </a:r>
            <a:endParaRPr lang="zh-CN" altLang="en-US"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1387912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0E40439A-229A-42AA-BA9F-8CCBE2006E3C}" type="slidenum">
              <a:rPr lang="en-US" altLang="zh-CN"/>
              <a:pPr>
                <a:defRPr/>
              </a:pPr>
              <a:t>129</a:t>
            </a:fld>
            <a:endParaRPr lang="en-US" altLang="zh-CN"/>
          </a:p>
        </p:txBody>
      </p:sp>
      <p:sp>
        <p:nvSpPr>
          <p:cNvPr id="8" name="Rectangle 6"/>
          <p:cNvSpPr>
            <a:spLocks noChangeArrowheads="1"/>
          </p:cNvSpPr>
          <p:nvPr/>
        </p:nvSpPr>
        <p:spPr bwMode="auto">
          <a:xfrm>
            <a:off x="143161" y="146936"/>
            <a:ext cx="8824912" cy="6666440"/>
          </a:xfrm>
          <a:prstGeom prst="rect">
            <a:avLst/>
          </a:prstGeom>
          <a:ln/>
        </p:spPr>
        <p:style>
          <a:lnRef idx="1">
            <a:schemeClr val="accent6"/>
          </a:lnRef>
          <a:fillRef idx="2">
            <a:schemeClr val="accent6"/>
          </a:fillRef>
          <a:effectRef idx="1">
            <a:schemeClr val="accent6"/>
          </a:effectRef>
          <a:fontRef idx="minor">
            <a:schemeClr val="dk1"/>
          </a:fontRef>
        </p:style>
        <p:txBody>
          <a:bodyPr anchor="ctr">
            <a:spAutoFit/>
          </a:bodyPr>
          <a:lstStyle/>
          <a:p>
            <a:pPr>
              <a:lnSpc>
                <a:spcPct val="120000"/>
              </a:lnSpc>
            </a:pPr>
            <a:r>
              <a:rPr lang="zh-CN" altLang="zh-CN" sz="2400" dirty="0" smtClean="0">
                <a:latin typeface="黑体" pitchFamily="2" charset="-122"/>
                <a:ea typeface="黑体" pitchFamily="2" charset="-122"/>
              </a:rPr>
              <a:t>某</a:t>
            </a:r>
            <a:r>
              <a:rPr lang="zh-CN" altLang="zh-CN" sz="2400" dirty="0">
                <a:latin typeface="黑体" pitchFamily="2" charset="-122"/>
                <a:ea typeface="黑体" pitchFamily="2" charset="-122"/>
              </a:rPr>
              <a:t>计算机存储器按字节编址，虚拟地址空间大小为</a:t>
            </a:r>
            <a:r>
              <a:rPr lang="en-US" altLang="zh-CN" sz="2400" dirty="0">
                <a:latin typeface="黑体" pitchFamily="2" charset="-122"/>
                <a:ea typeface="黑体" pitchFamily="2" charset="-122"/>
              </a:rPr>
              <a:t>16MB</a:t>
            </a:r>
            <a:r>
              <a:rPr lang="zh-CN" altLang="zh-CN" sz="2400" dirty="0">
                <a:latin typeface="黑体" pitchFamily="2" charset="-122"/>
                <a:ea typeface="黑体" pitchFamily="2" charset="-122"/>
              </a:rPr>
              <a:t>，主存地址空间大小为</a:t>
            </a:r>
            <a:r>
              <a:rPr lang="en-US" altLang="zh-CN" sz="2400" dirty="0">
                <a:latin typeface="黑体" pitchFamily="2" charset="-122"/>
                <a:ea typeface="黑体" pitchFamily="2" charset="-122"/>
              </a:rPr>
              <a:t>1MB</a:t>
            </a:r>
            <a:r>
              <a:rPr lang="zh-CN" altLang="zh-CN" sz="2400" dirty="0">
                <a:latin typeface="黑体" pitchFamily="2" charset="-122"/>
                <a:ea typeface="黑体" pitchFamily="2" charset="-122"/>
              </a:rPr>
              <a:t>，页面大小为</a:t>
            </a:r>
            <a:r>
              <a:rPr lang="en-US" altLang="zh-CN" sz="2400" dirty="0">
                <a:latin typeface="黑体" pitchFamily="2" charset="-122"/>
                <a:ea typeface="黑体" pitchFamily="2" charset="-122"/>
              </a:rPr>
              <a:t>4KB</a:t>
            </a:r>
            <a:r>
              <a:rPr lang="zh-CN" altLang="zh-CN" sz="2400" dirty="0">
                <a:latin typeface="黑体" pitchFamily="2" charset="-122"/>
                <a:ea typeface="黑体" pitchFamily="2" charset="-122"/>
              </a:rPr>
              <a:t>；</a:t>
            </a:r>
            <a:r>
              <a:rPr lang="en-US" altLang="zh-CN" sz="2400" dirty="0">
                <a:latin typeface="黑体" pitchFamily="2" charset="-122"/>
                <a:ea typeface="黑体" pitchFamily="2" charset="-122"/>
              </a:rPr>
              <a:t>Cache</a:t>
            </a:r>
            <a:r>
              <a:rPr lang="zh-CN" altLang="zh-CN" sz="2400" dirty="0">
                <a:latin typeface="黑体" pitchFamily="2" charset="-122"/>
                <a:ea typeface="黑体" pitchFamily="2" charset="-122"/>
              </a:rPr>
              <a:t>采用直接映射方式，共</a:t>
            </a:r>
            <a:r>
              <a:rPr lang="en-US" altLang="zh-CN" sz="2400" dirty="0">
                <a:latin typeface="黑体" pitchFamily="2" charset="-122"/>
                <a:ea typeface="黑体" pitchFamily="2" charset="-122"/>
              </a:rPr>
              <a:t>8</a:t>
            </a:r>
            <a:r>
              <a:rPr lang="zh-CN" altLang="zh-CN" sz="2400" dirty="0">
                <a:latin typeface="黑体" pitchFamily="2" charset="-122"/>
                <a:ea typeface="黑体" pitchFamily="2" charset="-122"/>
              </a:rPr>
              <a:t>行；主存与</a:t>
            </a:r>
            <a:r>
              <a:rPr lang="en-US" altLang="zh-CN" sz="2400" dirty="0">
                <a:latin typeface="黑体" pitchFamily="2" charset="-122"/>
                <a:ea typeface="黑体" pitchFamily="2" charset="-122"/>
              </a:rPr>
              <a:t>Cache</a:t>
            </a:r>
            <a:r>
              <a:rPr lang="zh-CN" altLang="zh-CN" sz="2400" dirty="0">
                <a:latin typeface="黑体" pitchFamily="2" charset="-122"/>
                <a:ea typeface="黑体" pitchFamily="2" charset="-122"/>
              </a:rPr>
              <a:t>之间的交换的块大小为</a:t>
            </a:r>
            <a:r>
              <a:rPr lang="en-US" altLang="zh-CN" sz="2400" dirty="0">
                <a:latin typeface="黑体" pitchFamily="2" charset="-122"/>
                <a:ea typeface="黑体" pitchFamily="2" charset="-122"/>
              </a:rPr>
              <a:t>32B</a:t>
            </a:r>
            <a:r>
              <a:rPr lang="zh-CN" altLang="zh-CN"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a:lnSpc>
                <a:spcPct val="120000"/>
              </a:lnSpc>
            </a:pPr>
            <a:r>
              <a:rPr lang="zh-CN" altLang="en-US" sz="2400" dirty="0" smtClean="0">
                <a:latin typeface="黑体" pitchFamily="2" charset="-122"/>
                <a:ea typeface="黑体" pitchFamily="2" charset="-122"/>
              </a:rPr>
              <a:t>（</a:t>
            </a:r>
            <a:r>
              <a:rPr lang="en-US" altLang="zh-CN" sz="2400" dirty="0">
                <a:latin typeface="黑体" pitchFamily="2" charset="-122"/>
                <a:ea typeface="黑体" pitchFamily="2" charset="-122"/>
              </a:rPr>
              <a:t>1</a:t>
            </a:r>
            <a:r>
              <a:rPr lang="zh-CN" altLang="en-US" sz="2400" dirty="0">
                <a:latin typeface="黑体" pitchFamily="2" charset="-122"/>
                <a:ea typeface="黑体" pitchFamily="2" charset="-122"/>
              </a:rPr>
              <a:t>）</a:t>
            </a:r>
            <a:r>
              <a:rPr lang="zh-CN" altLang="zh-CN" sz="2400" dirty="0">
                <a:latin typeface="黑体" pitchFamily="2" charset="-122"/>
                <a:ea typeface="黑体" pitchFamily="2" charset="-122"/>
              </a:rPr>
              <a:t>虚拟地址共有几位，哪几位表示虚页号？物理地址共有几位，哪几位表示物理页号</a:t>
            </a:r>
            <a:r>
              <a:rPr lang="zh-CN" altLang="zh-CN"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lvl="0">
              <a:lnSpc>
                <a:spcPct val="120000"/>
              </a:lnSpc>
            </a:pPr>
            <a:r>
              <a:rPr lang="en-US" altLang="zh-CN" sz="2400" dirty="0">
                <a:latin typeface="黑体" pitchFamily="2" charset="-122"/>
                <a:ea typeface="黑体" pitchFamily="2" charset="-122"/>
              </a:rPr>
              <a:t> </a:t>
            </a:r>
            <a:r>
              <a:rPr lang="en-US" altLang="zh-CN" sz="2400" dirty="0" smtClean="0">
                <a:latin typeface="黑体" pitchFamily="2" charset="-122"/>
                <a:ea typeface="黑体" pitchFamily="2" charset="-122"/>
              </a:rPr>
              <a:t>   </a:t>
            </a:r>
            <a:r>
              <a:rPr lang="zh-CN" altLang="zh-CN" sz="2400" dirty="0" smtClean="0">
                <a:latin typeface="黑体" pitchFamily="2" charset="-122"/>
                <a:ea typeface="黑体" pitchFamily="2" charset="-122"/>
              </a:rPr>
              <a:t>虚</a:t>
            </a:r>
            <a:r>
              <a:rPr lang="zh-CN" altLang="zh-CN" sz="2400" dirty="0">
                <a:latin typeface="黑体" pitchFamily="2" charset="-122"/>
                <a:ea typeface="黑体" pitchFamily="2" charset="-122"/>
              </a:rPr>
              <a:t>存</a:t>
            </a:r>
            <a:r>
              <a:rPr lang="en-US" altLang="zh-CN" sz="2400" dirty="0">
                <a:latin typeface="黑体" pitchFamily="2" charset="-122"/>
                <a:ea typeface="黑体" pitchFamily="2" charset="-122"/>
              </a:rPr>
              <a:t>16MB</a:t>
            </a:r>
            <a:r>
              <a:rPr lang="zh-CN" altLang="zh-CN" sz="2400" dirty="0">
                <a:latin typeface="黑体" pitchFamily="2" charset="-122"/>
                <a:ea typeface="黑体" pitchFamily="2" charset="-122"/>
              </a:rPr>
              <a:t>，地址</a:t>
            </a:r>
            <a:r>
              <a:rPr lang="en-US" altLang="zh-CN" sz="2400" dirty="0">
                <a:latin typeface="黑体" pitchFamily="2" charset="-122"/>
                <a:ea typeface="黑体" pitchFamily="2" charset="-122"/>
              </a:rPr>
              <a:t>24</a:t>
            </a:r>
            <a:r>
              <a:rPr lang="zh-CN" altLang="zh-CN" sz="2400" dirty="0">
                <a:latin typeface="黑体" pitchFamily="2" charset="-122"/>
                <a:ea typeface="黑体" pitchFamily="2" charset="-122"/>
              </a:rPr>
              <a:t>位，页面大小</a:t>
            </a:r>
            <a:r>
              <a:rPr lang="en-US" altLang="zh-CN" sz="2400" dirty="0" smtClean="0">
                <a:latin typeface="黑体" pitchFamily="2" charset="-122"/>
                <a:ea typeface="黑体" pitchFamily="2" charset="-122"/>
              </a:rPr>
              <a:t>4KB</a:t>
            </a:r>
            <a:r>
              <a:rPr lang="zh-CN" altLang="en-US" sz="2400" dirty="0" smtClean="0">
                <a:latin typeface="黑体" pitchFamily="2" charset="-122"/>
                <a:ea typeface="黑体" pitchFamily="2" charset="-122"/>
              </a:rPr>
              <a:t>，</a:t>
            </a:r>
            <a:r>
              <a:rPr lang="zh-CN" altLang="zh-CN" sz="2400" dirty="0" smtClean="0">
                <a:latin typeface="黑体" pitchFamily="2" charset="-122"/>
                <a:ea typeface="黑体" pitchFamily="2" charset="-122"/>
              </a:rPr>
              <a:t>需</a:t>
            </a:r>
            <a:r>
              <a:rPr lang="en-US" altLang="zh-CN" sz="2400" dirty="0">
                <a:latin typeface="黑体" pitchFamily="2" charset="-122"/>
                <a:ea typeface="黑体" pitchFamily="2" charset="-122"/>
              </a:rPr>
              <a:t>12</a:t>
            </a:r>
            <a:r>
              <a:rPr lang="zh-CN" altLang="zh-CN" sz="2400" dirty="0">
                <a:latin typeface="黑体" pitchFamily="2" charset="-122"/>
                <a:ea typeface="黑体" pitchFamily="2" charset="-122"/>
              </a:rPr>
              <a:t>位，高</a:t>
            </a:r>
            <a:r>
              <a:rPr lang="en-US" altLang="zh-CN" sz="2400" dirty="0">
                <a:latin typeface="黑体" pitchFamily="2" charset="-122"/>
                <a:ea typeface="黑体" pitchFamily="2" charset="-122"/>
              </a:rPr>
              <a:t>12</a:t>
            </a:r>
            <a:r>
              <a:rPr lang="zh-CN" altLang="zh-CN" sz="2400" dirty="0">
                <a:latin typeface="黑体" pitchFamily="2" charset="-122"/>
                <a:ea typeface="黑体" pitchFamily="2" charset="-122"/>
              </a:rPr>
              <a:t>位</a:t>
            </a:r>
            <a:r>
              <a:rPr lang="zh-CN" altLang="zh-CN" sz="2400" dirty="0" smtClean="0">
                <a:latin typeface="黑体" pitchFamily="2" charset="-122"/>
                <a:ea typeface="黑体" pitchFamily="2" charset="-122"/>
              </a:rPr>
              <a:t>表示</a:t>
            </a:r>
            <a:r>
              <a:rPr lang="en-US" altLang="zh-CN" sz="2400" dirty="0" smtClean="0">
                <a:latin typeface="黑体" pitchFamily="2" charset="-122"/>
                <a:ea typeface="黑体" pitchFamily="2" charset="-122"/>
              </a:rPr>
              <a:t> </a:t>
            </a:r>
            <a:r>
              <a:rPr lang="zh-CN" altLang="zh-CN" sz="2400" dirty="0" smtClean="0">
                <a:latin typeface="黑体" pitchFamily="2" charset="-122"/>
                <a:ea typeface="黑体" pitchFamily="2" charset="-122"/>
              </a:rPr>
              <a:t>虚</a:t>
            </a:r>
            <a:r>
              <a:rPr lang="zh-CN" altLang="zh-CN" sz="2400" dirty="0">
                <a:latin typeface="黑体" pitchFamily="2" charset="-122"/>
                <a:ea typeface="黑体" pitchFamily="2" charset="-122"/>
              </a:rPr>
              <a:t>页号</a:t>
            </a:r>
            <a:r>
              <a:rPr lang="zh-CN" altLang="zh-CN"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a:lnSpc>
                <a:spcPct val="120000"/>
              </a:lnSpc>
            </a:pPr>
            <a:r>
              <a:rPr lang="en-US" altLang="zh-CN" sz="2400" dirty="0" smtClean="0">
                <a:latin typeface="黑体" pitchFamily="2" charset="-122"/>
                <a:ea typeface="黑体" pitchFamily="2" charset="-122"/>
              </a:rPr>
              <a:t>    </a:t>
            </a:r>
            <a:r>
              <a:rPr lang="zh-CN" altLang="zh-CN" sz="2400" dirty="0" smtClean="0">
                <a:latin typeface="黑体" pitchFamily="2" charset="-122"/>
                <a:ea typeface="黑体" pitchFamily="2" charset="-122"/>
              </a:rPr>
              <a:t>主存</a:t>
            </a:r>
            <a:r>
              <a:rPr lang="en-US" altLang="zh-CN" sz="2400" dirty="0">
                <a:latin typeface="黑体" pitchFamily="2" charset="-122"/>
                <a:ea typeface="黑体" pitchFamily="2" charset="-122"/>
              </a:rPr>
              <a:t>1MB</a:t>
            </a:r>
            <a:r>
              <a:rPr lang="zh-CN" altLang="zh-CN" sz="2400" dirty="0">
                <a:latin typeface="黑体" pitchFamily="2" charset="-122"/>
                <a:ea typeface="黑体" pitchFamily="2" charset="-122"/>
              </a:rPr>
              <a:t>，地址</a:t>
            </a:r>
            <a:r>
              <a:rPr lang="en-US" altLang="zh-CN" sz="2400" dirty="0">
                <a:latin typeface="黑体" pitchFamily="2" charset="-122"/>
                <a:ea typeface="黑体" pitchFamily="2" charset="-122"/>
              </a:rPr>
              <a:t>20</a:t>
            </a:r>
            <a:r>
              <a:rPr lang="zh-CN" altLang="zh-CN" sz="2400" dirty="0">
                <a:latin typeface="黑体" pitchFamily="2" charset="-122"/>
                <a:ea typeface="黑体" pitchFamily="2" charset="-122"/>
              </a:rPr>
              <a:t>位，高</a:t>
            </a:r>
            <a:r>
              <a:rPr lang="en-US" altLang="zh-CN" sz="2400" dirty="0">
                <a:latin typeface="黑体" pitchFamily="2" charset="-122"/>
                <a:ea typeface="黑体" pitchFamily="2" charset="-122"/>
              </a:rPr>
              <a:t>8</a:t>
            </a:r>
            <a:r>
              <a:rPr lang="zh-CN" altLang="zh-CN" sz="2400" dirty="0">
                <a:latin typeface="黑体" pitchFamily="2" charset="-122"/>
                <a:ea typeface="黑体" pitchFamily="2" charset="-122"/>
              </a:rPr>
              <a:t>位</a:t>
            </a:r>
            <a:r>
              <a:rPr lang="zh-CN" altLang="zh-CN" sz="2400" dirty="0" smtClean="0">
                <a:latin typeface="黑体" pitchFamily="2" charset="-122"/>
                <a:ea typeface="黑体" pitchFamily="2" charset="-122"/>
              </a:rPr>
              <a:t>表示</a:t>
            </a:r>
            <a:r>
              <a:rPr lang="zh-CN" altLang="en-US" sz="2400" dirty="0" smtClean="0">
                <a:latin typeface="黑体" pitchFamily="2" charset="-122"/>
                <a:ea typeface="黑体" pitchFamily="2" charset="-122"/>
              </a:rPr>
              <a:t>物理页号</a:t>
            </a:r>
            <a:r>
              <a:rPr lang="zh-CN" altLang="zh-CN" sz="2400" dirty="0" smtClean="0">
                <a:latin typeface="黑体" pitchFamily="2" charset="-122"/>
                <a:ea typeface="黑体" pitchFamily="2" charset="-122"/>
              </a:rPr>
              <a:t>。</a:t>
            </a:r>
            <a:endParaRPr lang="zh-CN" altLang="zh-CN" sz="2400" dirty="0">
              <a:latin typeface="黑体" pitchFamily="2" charset="-122"/>
              <a:ea typeface="黑体" pitchFamily="2" charset="-122"/>
            </a:endParaRPr>
          </a:p>
          <a:p>
            <a:pPr>
              <a:lnSpc>
                <a:spcPct val="120000"/>
              </a:lnSpc>
            </a:pPr>
            <a:r>
              <a:rPr lang="zh-CN" altLang="en-US" sz="2400" dirty="0">
                <a:latin typeface="黑体" pitchFamily="2" charset="-122"/>
                <a:ea typeface="黑体" pitchFamily="2" charset="-122"/>
              </a:rPr>
              <a:t>（</a:t>
            </a:r>
            <a:r>
              <a:rPr lang="en-US" altLang="zh-CN" sz="2400" dirty="0">
                <a:latin typeface="黑体" pitchFamily="2" charset="-122"/>
                <a:ea typeface="黑体" pitchFamily="2" charset="-122"/>
              </a:rPr>
              <a:t>2</a:t>
            </a:r>
            <a:r>
              <a:rPr lang="zh-CN" altLang="en-US" sz="2400" dirty="0">
                <a:latin typeface="黑体" pitchFamily="2" charset="-122"/>
                <a:ea typeface="黑体" pitchFamily="2" charset="-122"/>
              </a:rPr>
              <a:t>）</a:t>
            </a:r>
            <a:r>
              <a:rPr lang="zh-CN" altLang="zh-CN" sz="2400" dirty="0">
                <a:latin typeface="黑体" pitchFamily="2" charset="-122"/>
                <a:ea typeface="黑体" pitchFamily="2" charset="-122"/>
              </a:rPr>
              <a:t>使用物理地址访问</a:t>
            </a:r>
            <a:r>
              <a:rPr lang="en-US" altLang="zh-CN" sz="2400" dirty="0">
                <a:latin typeface="黑体" pitchFamily="2" charset="-122"/>
                <a:ea typeface="黑体" pitchFamily="2" charset="-122"/>
              </a:rPr>
              <a:t>Cache</a:t>
            </a:r>
            <a:r>
              <a:rPr lang="zh-CN" altLang="zh-CN" sz="2400" dirty="0">
                <a:latin typeface="黑体" pitchFamily="2" charset="-122"/>
                <a:ea typeface="黑体" pitchFamily="2" charset="-122"/>
              </a:rPr>
              <a:t>时，物理地址应划分成哪几个字段？要求说明每</a:t>
            </a:r>
            <a:r>
              <a:rPr lang="zh-CN" altLang="en-US" sz="2400" dirty="0">
                <a:latin typeface="黑体" pitchFamily="2" charset="-122"/>
                <a:ea typeface="黑体" pitchFamily="2" charset="-122"/>
              </a:rPr>
              <a:t>个</a:t>
            </a:r>
            <a:r>
              <a:rPr lang="zh-CN" altLang="zh-CN" sz="2400" dirty="0">
                <a:latin typeface="黑体" pitchFamily="2" charset="-122"/>
                <a:ea typeface="黑体" pitchFamily="2" charset="-122"/>
              </a:rPr>
              <a:t>字段的位数及在物理地址中的位置</a:t>
            </a:r>
            <a:r>
              <a:rPr lang="zh-CN" altLang="zh-CN"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a:lnSpc>
                <a:spcPct val="120000"/>
              </a:lnSpc>
            </a:pPr>
            <a:r>
              <a:rPr lang="en-US" altLang="zh-CN" sz="2400" dirty="0" smtClean="0">
                <a:latin typeface="黑体" pitchFamily="2" charset="-122"/>
                <a:ea typeface="黑体" pitchFamily="2" charset="-122"/>
              </a:rPr>
              <a:t>    </a:t>
            </a:r>
            <a:r>
              <a:rPr lang="zh-CN" altLang="zh-CN" sz="2400" dirty="0" smtClean="0">
                <a:latin typeface="黑体" pitchFamily="2" charset="-122"/>
                <a:ea typeface="黑体" pitchFamily="2" charset="-122"/>
              </a:rPr>
              <a:t>主存</a:t>
            </a:r>
            <a:r>
              <a:rPr lang="zh-CN" altLang="zh-CN" sz="2400" dirty="0">
                <a:latin typeface="黑体" pitchFamily="2" charset="-122"/>
                <a:ea typeface="黑体" pitchFamily="2" charset="-122"/>
              </a:rPr>
              <a:t>与</a:t>
            </a:r>
            <a:r>
              <a:rPr lang="en-US" altLang="zh-CN" sz="2400" dirty="0">
                <a:latin typeface="黑体" pitchFamily="2" charset="-122"/>
                <a:ea typeface="黑体" pitchFamily="2" charset="-122"/>
              </a:rPr>
              <a:t>cache</a:t>
            </a:r>
            <a:r>
              <a:rPr lang="zh-CN" altLang="zh-CN" sz="2400" dirty="0">
                <a:latin typeface="黑体" pitchFamily="2" charset="-122"/>
                <a:ea typeface="黑体" pitchFamily="2" charset="-122"/>
              </a:rPr>
              <a:t>之间交换块大小</a:t>
            </a:r>
            <a:r>
              <a:rPr lang="en-US" altLang="zh-CN" sz="2400" dirty="0">
                <a:latin typeface="黑体" pitchFamily="2" charset="-122"/>
                <a:ea typeface="黑体" pitchFamily="2" charset="-122"/>
              </a:rPr>
              <a:t>32B,</a:t>
            </a:r>
            <a:r>
              <a:rPr lang="zh-CN" altLang="zh-CN" sz="2400" dirty="0">
                <a:latin typeface="黑体" pitchFamily="2" charset="-122"/>
                <a:ea typeface="黑体" pitchFamily="2" charset="-122"/>
              </a:rPr>
              <a:t>需</a:t>
            </a:r>
            <a:r>
              <a:rPr lang="en-US" altLang="zh-CN" sz="2400" dirty="0">
                <a:latin typeface="黑体" pitchFamily="2" charset="-122"/>
                <a:ea typeface="黑体" pitchFamily="2" charset="-122"/>
              </a:rPr>
              <a:t>5</a:t>
            </a:r>
            <a:r>
              <a:rPr lang="zh-CN" altLang="zh-CN" sz="2400" dirty="0">
                <a:latin typeface="黑体" pitchFamily="2" charset="-122"/>
                <a:ea typeface="黑体" pitchFamily="2" charset="-122"/>
              </a:rPr>
              <a:t>位，</a:t>
            </a:r>
            <a:r>
              <a:rPr lang="en-US" altLang="zh-CN" sz="2400" dirty="0">
                <a:latin typeface="黑体" pitchFamily="2" charset="-122"/>
                <a:ea typeface="黑体" pitchFamily="2" charset="-122"/>
              </a:rPr>
              <a:t>cache</a:t>
            </a:r>
            <a:r>
              <a:rPr lang="zh-CN" altLang="zh-CN" sz="2400" dirty="0">
                <a:latin typeface="黑体" pitchFamily="2" charset="-122"/>
                <a:ea typeface="黑体" pitchFamily="2" charset="-122"/>
              </a:rPr>
              <a:t>共</a:t>
            </a:r>
            <a:r>
              <a:rPr lang="en-US" altLang="zh-CN" sz="2400" dirty="0">
                <a:latin typeface="黑体" pitchFamily="2" charset="-122"/>
                <a:ea typeface="黑体" pitchFamily="2" charset="-122"/>
              </a:rPr>
              <a:t>8</a:t>
            </a:r>
            <a:r>
              <a:rPr lang="zh-CN" altLang="zh-CN" sz="2400" dirty="0">
                <a:latin typeface="黑体" pitchFamily="2" charset="-122"/>
                <a:ea typeface="黑体" pitchFamily="2" charset="-122"/>
              </a:rPr>
              <a:t>行，需</a:t>
            </a:r>
            <a:r>
              <a:rPr lang="en-US" altLang="zh-CN" sz="2400" dirty="0">
                <a:latin typeface="黑体" pitchFamily="2" charset="-122"/>
                <a:ea typeface="黑体" pitchFamily="2" charset="-122"/>
              </a:rPr>
              <a:t>3</a:t>
            </a:r>
            <a:r>
              <a:rPr lang="zh-CN" altLang="zh-CN" sz="2400" dirty="0">
                <a:latin typeface="黑体" pitchFamily="2" charset="-122"/>
                <a:ea typeface="黑体" pitchFamily="2" charset="-122"/>
              </a:rPr>
              <a:t>位。物理地址</a:t>
            </a:r>
            <a:r>
              <a:rPr lang="en-US" altLang="zh-CN" sz="2400" dirty="0">
                <a:latin typeface="黑体" pitchFamily="2" charset="-122"/>
                <a:ea typeface="黑体" pitchFamily="2" charset="-122"/>
              </a:rPr>
              <a:t>20</a:t>
            </a:r>
            <a:r>
              <a:rPr lang="zh-CN" altLang="zh-CN" sz="2400" dirty="0">
                <a:latin typeface="黑体" pitchFamily="2" charset="-122"/>
                <a:ea typeface="黑体" pitchFamily="2" charset="-122"/>
              </a:rPr>
              <a:t>位，主存字块标记</a:t>
            </a:r>
            <a:r>
              <a:rPr lang="en-US" altLang="zh-CN" sz="2400" dirty="0">
                <a:latin typeface="黑体" pitchFamily="2" charset="-122"/>
                <a:ea typeface="黑体" pitchFamily="2" charset="-122"/>
              </a:rPr>
              <a:t>20-5-3=12</a:t>
            </a:r>
            <a:r>
              <a:rPr lang="zh-CN" altLang="zh-CN" sz="2400" dirty="0" smtClean="0">
                <a:latin typeface="黑体" pitchFamily="2" charset="-122"/>
                <a:ea typeface="黑体" pitchFamily="2" charset="-122"/>
              </a:rPr>
              <a:t>位</a:t>
            </a:r>
            <a:endParaRPr lang="en-US" altLang="zh-CN" sz="2400" dirty="0" smtClean="0">
              <a:latin typeface="黑体" pitchFamily="2" charset="-122"/>
              <a:ea typeface="黑体" pitchFamily="2" charset="-122"/>
            </a:endParaRPr>
          </a:p>
          <a:p>
            <a:pPr>
              <a:lnSpc>
                <a:spcPct val="120000"/>
              </a:lnSpc>
            </a:pPr>
            <a:endParaRPr lang="en-US" altLang="zh-CN" sz="2400" dirty="0">
              <a:latin typeface="黑体" pitchFamily="2" charset="-122"/>
              <a:ea typeface="黑体" pitchFamily="2" charset="-122"/>
            </a:endParaRPr>
          </a:p>
          <a:p>
            <a:pPr>
              <a:lnSpc>
                <a:spcPct val="120000"/>
              </a:lnSpc>
            </a:pPr>
            <a:endParaRPr lang="en-US" altLang="zh-CN" sz="2400" dirty="0" smtClean="0">
              <a:latin typeface="黑体" pitchFamily="2" charset="-122"/>
              <a:ea typeface="黑体" pitchFamily="2" charset="-122"/>
            </a:endParaRPr>
          </a:p>
          <a:p>
            <a:pPr>
              <a:lnSpc>
                <a:spcPct val="120000"/>
              </a:lnSpc>
            </a:pPr>
            <a:endParaRPr lang="zh-CN" altLang="en-US" sz="2000" dirty="0">
              <a:latin typeface="黑体" pitchFamily="2" charset="-122"/>
              <a:ea typeface="黑体" pitchFamily="2"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425835010"/>
              </p:ext>
            </p:extLst>
          </p:nvPr>
        </p:nvGraphicFramePr>
        <p:xfrm>
          <a:off x="1259632" y="5625816"/>
          <a:ext cx="6096000" cy="914400"/>
        </p:xfrm>
        <a:graphic>
          <a:graphicData uri="http://schemas.openxmlformats.org/drawingml/2006/table">
            <a:tbl>
              <a:tblPr firstRow="1" bandRow="1">
                <a:tableStyleId>{21E4AEA4-8DFA-4A89-87EB-49C32662AFE0}</a:tableStyleId>
              </a:tblPr>
              <a:tblGrid>
                <a:gridCol w="2032000"/>
                <a:gridCol w="2032000"/>
                <a:gridCol w="2032000"/>
              </a:tblGrid>
              <a:tr h="370840">
                <a:tc>
                  <a:txBody>
                    <a:bodyPr/>
                    <a:lstStyle/>
                    <a:p>
                      <a:pPr algn="ctr"/>
                      <a:r>
                        <a:rPr lang="zh-CN" altLang="en-US" sz="2400" dirty="0" smtClean="0"/>
                        <a:t>标记</a:t>
                      </a:r>
                      <a:endParaRPr lang="zh-CN" altLang="en-US" sz="2400" dirty="0">
                        <a:solidFill>
                          <a:schemeClr val="tx1"/>
                        </a:solidFill>
                        <a:latin typeface="+mn-ea"/>
                        <a:ea typeface="+mn-ea"/>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dirty="0" smtClean="0"/>
                        <a:t>cache</a:t>
                      </a:r>
                      <a:r>
                        <a:rPr lang="zh-CN" altLang="zh-CN" sz="2400" dirty="0" smtClean="0"/>
                        <a:t>行</a:t>
                      </a:r>
                      <a:endParaRPr lang="zh-CN" altLang="en-US" sz="2400" dirty="0">
                        <a:solidFill>
                          <a:schemeClr val="tx1"/>
                        </a:solidFill>
                        <a:latin typeface="+mn-ea"/>
                        <a:ea typeface="+mn-ea"/>
                      </a:endParaRPr>
                    </a:p>
                  </a:txBody>
                  <a:tcPr/>
                </a:tc>
                <a:tc>
                  <a:txBody>
                    <a:bodyPr/>
                    <a:lstStyle/>
                    <a:p>
                      <a:pPr algn="ctr"/>
                      <a:r>
                        <a:rPr lang="zh-CN" altLang="zh-CN" sz="2400" dirty="0" smtClean="0"/>
                        <a:t>块内地址</a:t>
                      </a:r>
                      <a:endParaRPr lang="zh-CN" altLang="en-US" sz="2400" dirty="0">
                        <a:solidFill>
                          <a:schemeClr val="tx1"/>
                        </a:solidFill>
                        <a:latin typeface="+mn-ea"/>
                        <a:ea typeface="+mn-ea"/>
                      </a:endParaRPr>
                    </a:p>
                  </a:txBody>
                  <a:tcPr/>
                </a:tc>
              </a:tr>
              <a:tr h="370840">
                <a:tc>
                  <a:txBody>
                    <a:bodyPr/>
                    <a:lstStyle/>
                    <a:p>
                      <a:pPr algn="ctr"/>
                      <a:r>
                        <a:rPr lang="en-US" altLang="zh-CN" sz="2400" dirty="0" smtClean="0"/>
                        <a:t>12</a:t>
                      </a:r>
                      <a:endParaRPr lang="zh-CN" altLang="en-US" sz="2400" dirty="0">
                        <a:solidFill>
                          <a:schemeClr val="tx1"/>
                        </a:solidFill>
                        <a:latin typeface="+mn-ea"/>
                        <a:ea typeface="+mn-ea"/>
                      </a:endParaRPr>
                    </a:p>
                  </a:txBody>
                  <a:tcPr/>
                </a:tc>
                <a:tc>
                  <a:txBody>
                    <a:bodyPr/>
                    <a:lstStyle/>
                    <a:p>
                      <a:pPr algn="ctr"/>
                      <a:r>
                        <a:rPr lang="en-US" altLang="zh-CN" sz="2400" dirty="0" smtClean="0"/>
                        <a:t>3</a:t>
                      </a:r>
                      <a:endParaRPr lang="zh-CN" altLang="en-US" sz="2400" dirty="0">
                        <a:solidFill>
                          <a:schemeClr val="tx1"/>
                        </a:solidFill>
                        <a:latin typeface="+mn-ea"/>
                        <a:ea typeface="+mn-ea"/>
                      </a:endParaRPr>
                    </a:p>
                  </a:txBody>
                  <a:tcPr/>
                </a:tc>
                <a:tc>
                  <a:txBody>
                    <a:bodyPr/>
                    <a:lstStyle/>
                    <a:p>
                      <a:pPr algn="ctr"/>
                      <a:r>
                        <a:rPr lang="en-US" altLang="zh-CN" sz="2400" dirty="0" smtClean="0"/>
                        <a:t>5</a:t>
                      </a:r>
                      <a:endParaRPr lang="zh-CN" altLang="en-US" sz="2400" dirty="0">
                        <a:solidFill>
                          <a:schemeClr val="tx1"/>
                        </a:solidFill>
                        <a:latin typeface="+mn-ea"/>
                        <a:ea typeface="+mn-ea"/>
                      </a:endParaRPr>
                    </a:p>
                  </a:txBody>
                  <a:tcPr/>
                </a:tc>
              </a:tr>
            </a:tbl>
          </a:graphicData>
        </a:graphic>
      </p:graphicFrame>
    </p:spTree>
    <p:extLst>
      <p:ext uri="{BB962C8B-B14F-4D97-AF65-F5344CB8AC3E}">
        <p14:creationId xmlns:p14="http://schemas.microsoft.com/office/powerpoint/2010/main" val="14079752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0E40439A-229A-42AA-BA9F-8CCBE2006E3C}" type="slidenum">
              <a:rPr lang="en-US" altLang="zh-CN"/>
              <a:pPr>
                <a:defRPr/>
              </a:pPr>
              <a:t>130</a:t>
            </a:fld>
            <a:endParaRPr lang="en-US" altLang="zh-CN"/>
          </a:p>
        </p:txBody>
      </p:sp>
      <p:sp>
        <p:nvSpPr>
          <p:cNvPr id="5" name="Rectangle 6"/>
          <p:cNvSpPr>
            <a:spLocks noChangeArrowheads="1"/>
          </p:cNvSpPr>
          <p:nvPr/>
        </p:nvSpPr>
        <p:spPr bwMode="auto">
          <a:xfrm>
            <a:off x="210306" y="2927232"/>
            <a:ext cx="8832850" cy="3785652"/>
          </a:xfrm>
          <a:prstGeom prst="rect">
            <a:avLst/>
          </a:prstGeom>
          <a:ln/>
        </p:spPr>
        <p:style>
          <a:lnRef idx="1">
            <a:schemeClr val="accent6"/>
          </a:lnRef>
          <a:fillRef idx="2">
            <a:schemeClr val="accent6"/>
          </a:fillRef>
          <a:effectRef idx="1">
            <a:schemeClr val="accent6"/>
          </a:effectRef>
          <a:fontRef idx="minor">
            <a:schemeClr val="dk1"/>
          </a:fontRef>
        </p:style>
        <p:txBody>
          <a:bodyPr anchor="ctr">
            <a:spAutoFit/>
          </a:bodyPr>
          <a:lstStyle/>
          <a:p>
            <a:r>
              <a:rPr lang="zh-CN" altLang="en-US" sz="2400" dirty="0">
                <a:latin typeface="+mn-ea"/>
              </a:rPr>
              <a:t>（</a:t>
            </a:r>
            <a:r>
              <a:rPr lang="en-US" altLang="zh-CN" sz="2400" dirty="0">
                <a:latin typeface="+mn-ea"/>
              </a:rPr>
              <a:t>3</a:t>
            </a:r>
            <a:r>
              <a:rPr lang="zh-CN" altLang="en-US" sz="2400" dirty="0">
                <a:latin typeface="+mn-ea"/>
              </a:rPr>
              <a:t>）</a:t>
            </a:r>
            <a:r>
              <a:rPr lang="zh-CN" altLang="zh-CN" sz="2400" dirty="0">
                <a:latin typeface="+mn-ea"/>
              </a:rPr>
              <a:t>虚拟地址</a:t>
            </a:r>
            <a:r>
              <a:rPr lang="en-US" altLang="zh-CN" sz="2400" dirty="0">
                <a:latin typeface="+mn-ea"/>
              </a:rPr>
              <a:t>001C60H</a:t>
            </a:r>
            <a:r>
              <a:rPr lang="zh-CN" altLang="zh-CN" sz="2400" dirty="0">
                <a:latin typeface="+mn-ea"/>
              </a:rPr>
              <a:t>所在页面是否在主存中？若在主存中，则该虚地址对应的物理地址是什么？访问该地址时是否</a:t>
            </a:r>
            <a:r>
              <a:rPr lang="en-US" altLang="zh-CN" sz="2400" dirty="0">
                <a:latin typeface="+mn-ea"/>
              </a:rPr>
              <a:t>Cache</a:t>
            </a:r>
            <a:r>
              <a:rPr lang="zh-CN" altLang="zh-CN" sz="2400" dirty="0">
                <a:latin typeface="+mn-ea"/>
              </a:rPr>
              <a:t>命中</a:t>
            </a:r>
            <a:r>
              <a:rPr lang="zh-CN" altLang="en-US" sz="2400" dirty="0">
                <a:latin typeface="+mn-ea"/>
              </a:rPr>
              <a:t>，</a:t>
            </a:r>
            <a:r>
              <a:rPr lang="zh-CN" altLang="zh-CN" sz="2400" dirty="0">
                <a:latin typeface="+mn-ea"/>
              </a:rPr>
              <a:t>要求说明理由。</a:t>
            </a:r>
            <a:endParaRPr lang="zh-CN" altLang="en-US" sz="2400" dirty="0">
              <a:latin typeface="+mn-ea"/>
            </a:endParaRPr>
          </a:p>
          <a:p>
            <a:r>
              <a:rPr lang="en-US" altLang="zh-CN" sz="2400" dirty="0" smtClean="0">
                <a:latin typeface="+mn-ea"/>
              </a:rPr>
              <a:t>    </a:t>
            </a:r>
            <a:r>
              <a:rPr lang="zh-CN" altLang="zh-CN" sz="2400" dirty="0" smtClean="0">
                <a:latin typeface="+mn-ea"/>
              </a:rPr>
              <a:t>虚</a:t>
            </a:r>
            <a:r>
              <a:rPr lang="zh-CN" altLang="zh-CN" sz="2400" dirty="0">
                <a:latin typeface="+mn-ea"/>
              </a:rPr>
              <a:t>存</a:t>
            </a:r>
            <a:r>
              <a:rPr lang="en-US" altLang="zh-CN" sz="2400" dirty="0">
                <a:latin typeface="+mn-ea"/>
              </a:rPr>
              <a:t>16MB</a:t>
            </a:r>
            <a:r>
              <a:rPr lang="zh-CN" altLang="zh-CN" sz="2400" dirty="0">
                <a:latin typeface="+mn-ea"/>
              </a:rPr>
              <a:t>，地址</a:t>
            </a:r>
            <a:r>
              <a:rPr lang="en-US" altLang="zh-CN" sz="2400" dirty="0">
                <a:latin typeface="+mn-ea"/>
              </a:rPr>
              <a:t>24</a:t>
            </a:r>
            <a:r>
              <a:rPr lang="zh-CN" altLang="zh-CN" sz="2400" dirty="0">
                <a:latin typeface="+mn-ea"/>
              </a:rPr>
              <a:t>位，页面大小</a:t>
            </a:r>
            <a:r>
              <a:rPr lang="en-US" altLang="zh-CN" sz="2400" dirty="0" smtClean="0">
                <a:latin typeface="+mn-ea"/>
              </a:rPr>
              <a:t>4KB</a:t>
            </a:r>
            <a:r>
              <a:rPr lang="zh-CN" altLang="en-US" sz="2400" dirty="0" smtClean="0">
                <a:latin typeface="+mn-ea"/>
              </a:rPr>
              <a:t>，</a:t>
            </a:r>
            <a:r>
              <a:rPr lang="zh-CN" altLang="zh-CN" sz="2400" dirty="0" smtClean="0">
                <a:latin typeface="+mn-ea"/>
              </a:rPr>
              <a:t>需</a:t>
            </a:r>
            <a:r>
              <a:rPr lang="en-US" altLang="zh-CN" sz="2400" dirty="0">
                <a:latin typeface="+mn-ea"/>
              </a:rPr>
              <a:t>12</a:t>
            </a:r>
            <a:r>
              <a:rPr lang="zh-CN" altLang="zh-CN" sz="2400" dirty="0">
                <a:latin typeface="+mn-ea"/>
              </a:rPr>
              <a:t>位，</a:t>
            </a:r>
            <a:r>
              <a:rPr lang="en-US" altLang="zh-CN" sz="2400" dirty="0">
                <a:latin typeface="+mn-ea"/>
              </a:rPr>
              <a:t>  </a:t>
            </a:r>
            <a:endParaRPr lang="zh-CN" altLang="zh-CN" sz="2400" dirty="0">
              <a:latin typeface="+mn-ea"/>
            </a:endParaRPr>
          </a:p>
          <a:p>
            <a:r>
              <a:rPr lang="en-US" altLang="zh-CN" sz="2400" dirty="0" smtClean="0">
                <a:latin typeface="+mn-ea"/>
              </a:rPr>
              <a:t>    001C60H = 000000000001 </a:t>
            </a:r>
            <a:r>
              <a:rPr lang="en-US" altLang="zh-CN" sz="2400" dirty="0">
                <a:latin typeface="+mn-ea"/>
              </a:rPr>
              <a:t>110001100000</a:t>
            </a:r>
            <a:r>
              <a:rPr lang="en-US" altLang="zh-CN" sz="2400" baseline="30000" dirty="0">
                <a:latin typeface="+mn-ea"/>
              </a:rPr>
              <a:t>  </a:t>
            </a:r>
            <a:r>
              <a:rPr lang="zh-CN" altLang="zh-CN" sz="2400" dirty="0">
                <a:latin typeface="+mn-ea"/>
              </a:rPr>
              <a:t>虚页号</a:t>
            </a:r>
            <a:r>
              <a:rPr lang="en-US" altLang="zh-CN" sz="2400" dirty="0">
                <a:latin typeface="+mn-ea"/>
              </a:rPr>
              <a:t>1</a:t>
            </a:r>
            <a:r>
              <a:rPr lang="zh-CN" altLang="zh-CN" sz="2400" dirty="0">
                <a:latin typeface="+mn-ea"/>
              </a:rPr>
              <a:t>，有效位</a:t>
            </a:r>
            <a:r>
              <a:rPr lang="en-US" altLang="zh-CN" sz="2400" dirty="0">
                <a:latin typeface="+mn-ea"/>
              </a:rPr>
              <a:t>1</a:t>
            </a:r>
            <a:r>
              <a:rPr lang="zh-CN" altLang="zh-CN" sz="2400" dirty="0">
                <a:latin typeface="+mn-ea"/>
              </a:rPr>
              <a:t>，</a:t>
            </a:r>
          </a:p>
          <a:p>
            <a:r>
              <a:rPr lang="zh-CN" altLang="zh-CN" sz="2400" dirty="0" smtClean="0">
                <a:latin typeface="+mn-ea"/>
              </a:rPr>
              <a:t>在</a:t>
            </a:r>
            <a:r>
              <a:rPr lang="zh-CN" altLang="zh-CN" sz="2400" dirty="0">
                <a:latin typeface="+mn-ea"/>
              </a:rPr>
              <a:t>主存中，物理页号</a:t>
            </a:r>
            <a:r>
              <a:rPr lang="en-US" altLang="zh-CN" sz="2400" dirty="0" smtClean="0">
                <a:latin typeface="+mn-ea"/>
              </a:rPr>
              <a:t>04H</a:t>
            </a:r>
            <a:r>
              <a:rPr lang="zh-CN" altLang="en-US" sz="2400" dirty="0" smtClean="0">
                <a:latin typeface="+mn-ea"/>
              </a:rPr>
              <a:t>，</a:t>
            </a:r>
            <a:r>
              <a:rPr lang="zh-CN" altLang="zh-CN" sz="2400" dirty="0" smtClean="0">
                <a:latin typeface="+mn-ea"/>
              </a:rPr>
              <a:t>物理</a:t>
            </a:r>
            <a:r>
              <a:rPr lang="zh-CN" altLang="zh-CN" sz="2400" dirty="0">
                <a:latin typeface="+mn-ea"/>
              </a:rPr>
              <a:t>地址</a:t>
            </a:r>
            <a:r>
              <a:rPr lang="en-US" altLang="zh-CN" sz="2400" dirty="0">
                <a:latin typeface="+mn-ea"/>
              </a:rPr>
              <a:t> 00000100 110001100000 = </a:t>
            </a:r>
            <a:r>
              <a:rPr lang="en-US" altLang="zh-CN" sz="2400" dirty="0" smtClean="0">
                <a:latin typeface="+mn-ea"/>
              </a:rPr>
              <a:t>04C60H</a:t>
            </a:r>
            <a:r>
              <a:rPr lang="zh-CN" altLang="en-US" sz="2400" dirty="0" smtClean="0">
                <a:latin typeface="+mn-ea"/>
              </a:rPr>
              <a:t>，主存块内地址</a:t>
            </a:r>
            <a:r>
              <a:rPr lang="en-US" altLang="zh-CN" sz="2400" dirty="0" smtClean="0">
                <a:latin typeface="+mn-ea"/>
              </a:rPr>
              <a:t>5</a:t>
            </a:r>
            <a:r>
              <a:rPr lang="zh-CN" altLang="en-US" sz="2400" dirty="0" smtClean="0">
                <a:latin typeface="+mn-ea"/>
              </a:rPr>
              <a:t>位，</a:t>
            </a:r>
            <a:r>
              <a:rPr lang="en-US" altLang="zh-CN" sz="2400" dirty="0" smtClean="0">
                <a:latin typeface="+mn-ea"/>
              </a:rPr>
              <a:t>Cache</a:t>
            </a:r>
            <a:r>
              <a:rPr lang="zh-CN" altLang="en-US" sz="2400" dirty="0" smtClean="0">
                <a:latin typeface="+mn-ea"/>
              </a:rPr>
              <a:t>行地址</a:t>
            </a:r>
            <a:r>
              <a:rPr lang="en-US" altLang="zh-CN" sz="2400" dirty="0" smtClean="0">
                <a:latin typeface="+mn-ea"/>
              </a:rPr>
              <a:t>3</a:t>
            </a:r>
            <a:r>
              <a:rPr lang="zh-CN" altLang="en-US" sz="2400" dirty="0" smtClean="0">
                <a:latin typeface="+mn-ea"/>
              </a:rPr>
              <a:t>位</a:t>
            </a:r>
            <a:endParaRPr lang="en-US" altLang="zh-CN" sz="2400" dirty="0" smtClean="0">
              <a:latin typeface="+mn-ea"/>
            </a:endParaRPr>
          </a:p>
          <a:p>
            <a:r>
              <a:rPr lang="en-US" altLang="zh-CN" sz="2400" dirty="0" smtClean="0">
                <a:latin typeface="+mn-ea"/>
              </a:rPr>
              <a:t>04C60H</a:t>
            </a:r>
            <a:r>
              <a:rPr lang="en-US" altLang="zh-CN" sz="2400" dirty="0">
                <a:latin typeface="+mn-ea"/>
              </a:rPr>
              <a:t> </a:t>
            </a:r>
            <a:r>
              <a:rPr lang="en-US" altLang="zh-CN" sz="2400" dirty="0" smtClean="0">
                <a:latin typeface="+mn-ea"/>
              </a:rPr>
              <a:t>= 00000100 1100 </a:t>
            </a:r>
            <a:r>
              <a:rPr lang="en-US" altLang="zh-CN" sz="2400" b="1" dirty="0" smtClean="0">
                <a:solidFill>
                  <a:srgbClr val="C00000"/>
                </a:solidFill>
                <a:latin typeface="+mn-ea"/>
              </a:rPr>
              <a:t>011</a:t>
            </a:r>
            <a:r>
              <a:rPr lang="en-US" altLang="zh-CN" sz="2400" dirty="0" smtClean="0">
                <a:latin typeface="+mn-ea"/>
              </a:rPr>
              <a:t> 00000</a:t>
            </a:r>
            <a:r>
              <a:rPr lang="zh-CN" altLang="en-US" sz="2400" dirty="0" smtClean="0">
                <a:latin typeface="+mn-ea"/>
              </a:rPr>
              <a:t>可以映射到</a:t>
            </a:r>
            <a:r>
              <a:rPr lang="en-US" altLang="zh-CN" sz="2400" dirty="0" smtClean="0">
                <a:latin typeface="+mn-ea"/>
              </a:rPr>
              <a:t>cache</a:t>
            </a:r>
            <a:r>
              <a:rPr lang="zh-CN" altLang="zh-CN" sz="2400" dirty="0" smtClean="0">
                <a:latin typeface="+mn-ea"/>
              </a:rPr>
              <a:t>行</a:t>
            </a:r>
            <a:r>
              <a:rPr lang="zh-CN" altLang="en-US" sz="2400" dirty="0" smtClean="0">
                <a:latin typeface="+mn-ea"/>
              </a:rPr>
              <a:t>的第</a:t>
            </a:r>
            <a:r>
              <a:rPr lang="en-US" altLang="zh-CN" sz="2400" dirty="0" smtClean="0">
                <a:latin typeface="+mn-ea"/>
              </a:rPr>
              <a:t>3</a:t>
            </a:r>
            <a:r>
              <a:rPr lang="zh-CN" altLang="en-US" sz="2400" dirty="0" smtClean="0">
                <a:latin typeface="+mn-ea"/>
              </a:rPr>
              <a:t>行。</a:t>
            </a:r>
            <a:endParaRPr lang="en-US" altLang="zh-CN" sz="2400" dirty="0" smtClean="0">
              <a:latin typeface="+mn-ea"/>
            </a:endParaRPr>
          </a:p>
          <a:p>
            <a:r>
              <a:rPr lang="zh-CN" altLang="en-US" sz="2400" dirty="0" smtClean="0">
                <a:latin typeface="+mn-ea"/>
              </a:rPr>
              <a:t>标记部分是</a:t>
            </a:r>
            <a:r>
              <a:rPr lang="en-US" altLang="zh-CN" sz="2400" dirty="0">
                <a:latin typeface="+mn-ea"/>
              </a:rPr>
              <a:t>00000100 1100 </a:t>
            </a:r>
            <a:r>
              <a:rPr lang="en-US" altLang="zh-CN" sz="2400" dirty="0" smtClean="0">
                <a:latin typeface="+mn-ea"/>
              </a:rPr>
              <a:t>=04C</a:t>
            </a:r>
            <a:r>
              <a:rPr lang="zh-CN" altLang="en-US" sz="2400" dirty="0" smtClean="0">
                <a:latin typeface="+mn-ea"/>
              </a:rPr>
              <a:t>，</a:t>
            </a:r>
            <a:r>
              <a:rPr lang="en-US" altLang="zh-CN" sz="2400" dirty="0" smtClean="0">
                <a:latin typeface="+mn-ea"/>
              </a:rPr>
              <a:t>Cache </a:t>
            </a:r>
            <a:r>
              <a:rPr lang="en-US" altLang="zh-CN" sz="2400" dirty="0">
                <a:latin typeface="+mn-ea"/>
              </a:rPr>
              <a:t>3</a:t>
            </a:r>
            <a:r>
              <a:rPr lang="zh-CN" altLang="zh-CN" sz="2400" dirty="0">
                <a:latin typeface="+mn-ea"/>
              </a:rPr>
              <a:t>行对应的主存块为</a:t>
            </a:r>
            <a:r>
              <a:rPr lang="en-US" altLang="zh-CN" sz="2400" dirty="0">
                <a:latin typeface="+mn-ea"/>
              </a:rPr>
              <a:t>105H,</a:t>
            </a:r>
            <a:r>
              <a:rPr lang="zh-CN" altLang="zh-CN" sz="2400" dirty="0">
                <a:latin typeface="+mn-ea"/>
              </a:rPr>
              <a:t>不等于</a:t>
            </a:r>
            <a:r>
              <a:rPr lang="en-US" altLang="zh-CN" sz="2400" dirty="0">
                <a:latin typeface="+mn-ea"/>
              </a:rPr>
              <a:t>04CH,</a:t>
            </a:r>
            <a:r>
              <a:rPr lang="zh-CN" altLang="zh-CN" sz="2400" dirty="0">
                <a:latin typeface="+mn-ea"/>
              </a:rPr>
              <a:t>未命中</a:t>
            </a:r>
            <a:r>
              <a:rPr lang="en-US" altLang="zh-CN" sz="2400" baseline="30000" dirty="0">
                <a:latin typeface="+mn-ea"/>
              </a:rPr>
              <a:t>   </a:t>
            </a:r>
            <a:endParaRPr lang="zh-CN" altLang="zh-CN" sz="2400" dirty="0">
              <a:latin typeface="+mn-ea"/>
            </a:endParaRPr>
          </a:p>
        </p:txBody>
      </p:sp>
      <p:pic>
        <p:nvPicPr>
          <p:cNvPr id="8"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782" y="236264"/>
            <a:ext cx="8824912" cy="2509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63122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7C51F116-CCD1-468E-9A82-CD7C33D13CFD}" type="slidenum">
              <a:rPr lang="en-US" altLang="zh-CN"/>
              <a:pPr>
                <a:defRPr/>
              </a:pPr>
              <a:t>131</a:t>
            </a:fld>
            <a:endParaRPr lang="en-US" altLang="zh-CN"/>
          </a:p>
        </p:txBody>
      </p:sp>
      <p:sp>
        <p:nvSpPr>
          <p:cNvPr id="183299" name="Rectangle 3"/>
          <p:cNvSpPr>
            <a:spLocks noChangeArrowheads="1"/>
          </p:cNvSpPr>
          <p:nvPr/>
        </p:nvSpPr>
        <p:spPr bwMode="auto">
          <a:xfrm>
            <a:off x="251520" y="317672"/>
            <a:ext cx="8784976" cy="6217087"/>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nchor="ctr">
            <a:spAutoFit/>
          </a:bodyPr>
          <a:lstStyle/>
          <a:p>
            <a:pPr>
              <a:lnSpc>
                <a:spcPct val="120000"/>
              </a:lnSpc>
              <a:spcAft>
                <a:spcPts val="0"/>
              </a:spcAft>
            </a:pPr>
            <a:r>
              <a:rPr lang="zh-CN" altLang="en-US" sz="4000" b="1" dirty="0" smtClean="0">
                <a:solidFill>
                  <a:srgbClr val="FF0000"/>
                </a:solidFill>
                <a:latin typeface="微软雅黑" panose="020B0503020204020204" pitchFamily="34" charset="-122"/>
                <a:ea typeface="微软雅黑" panose="020B0503020204020204" pitchFamily="34" charset="-122"/>
              </a:rPr>
              <a:t>作业</a:t>
            </a:r>
            <a:r>
              <a:rPr lang="en-US" altLang="zh-CN" sz="4000" b="1" dirty="0" smtClean="0">
                <a:solidFill>
                  <a:srgbClr val="FF0000"/>
                </a:solidFill>
                <a:latin typeface="微软雅黑" panose="020B0503020204020204" pitchFamily="34" charset="-122"/>
                <a:ea typeface="微软雅黑" panose="020B0503020204020204" pitchFamily="34" charset="-122"/>
              </a:rPr>
              <a:t>4</a:t>
            </a:r>
            <a:r>
              <a:rPr lang="zh-CN" altLang="en-US" sz="4000" b="1" dirty="0" smtClean="0">
                <a:solidFill>
                  <a:srgbClr val="FF0000"/>
                </a:solidFill>
                <a:latin typeface="微软雅黑" panose="020B0503020204020204" pitchFamily="34" charset="-122"/>
                <a:ea typeface="微软雅黑" panose="020B0503020204020204" pitchFamily="34" charset="-122"/>
              </a:rPr>
              <a:t>：</a:t>
            </a:r>
            <a:endParaRPr lang="zh-CN" altLang="en-US" sz="4000" b="1" dirty="0">
              <a:solidFill>
                <a:srgbClr val="FF0000"/>
              </a:solidFill>
              <a:latin typeface="微软雅黑" panose="020B0503020204020204" pitchFamily="34" charset="-122"/>
              <a:ea typeface="微软雅黑" panose="020B0503020204020204" pitchFamily="34" charset="-122"/>
            </a:endParaRPr>
          </a:p>
          <a:p>
            <a:pPr>
              <a:lnSpc>
                <a:spcPct val="125000"/>
              </a:lnSpc>
              <a:spcAft>
                <a:spcPts val="0"/>
              </a:spcAft>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、简要说明存储器层次结构、采用层次结构的目的，说明每一层次的存储器所用的存储介质的特性。</a:t>
            </a:r>
          </a:p>
          <a:p>
            <a:pPr>
              <a:lnSpc>
                <a:spcPct val="125000"/>
              </a:lnSpc>
              <a:spcAft>
                <a:spcPts val="0"/>
              </a:spcAft>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、从设计和使用角度看</a:t>
            </a:r>
            <a:r>
              <a:rPr lang="en-US" altLang="zh-CN" sz="2000" dirty="0">
                <a:latin typeface="微软雅黑" panose="020B0503020204020204" pitchFamily="34" charset="-122"/>
                <a:ea typeface="微软雅黑" panose="020B0503020204020204" pitchFamily="34" charset="-122"/>
              </a:rPr>
              <a:t>SRAM</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DRAM</a:t>
            </a:r>
            <a:r>
              <a:rPr lang="zh-CN" altLang="en-US" sz="2000" dirty="0">
                <a:latin typeface="微软雅黑" panose="020B0503020204020204" pitchFamily="34" charset="-122"/>
                <a:ea typeface="微软雅黑" panose="020B0503020204020204" pitchFamily="34" charset="-122"/>
              </a:rPr>
              <a:t>有何区别。</a:t>
            </a:r>
          </a:p>
          <a:p>
            <a:pPr eaLnBrk="0" hangingPunct="0">
              <a:lnSpc>
                <a:spcPct val="125000"/>
              </a:lnSpc>
              <a:spcAft>
                <a:spcPts val="0"/>
              </a:spcAft>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Cache</a:t>
            </a:r>
            <a:r>
              <a:rPr lang="zh-CN" altLang="en-US" sz="2000" dirty="0">
                <a:latin typeface="微软雅黑" panose="020B0503020204020204" pitchFamily="34" charset="-122"/>
                <a:ea typeface="微软雅黑" panose="020B0503020204020204" pitchFamily="34" charset="-122"/>
              </a:rPr>
              <a:t>存放的是什么内容，其命中率</a:t>
            </a:r>
            <a:r>
              <a:rPr lang="zh-CN" altLang="en-US" sz="2000" dirty="0" smtClean="0">
                <a:latin typeface="微软雅黑" panose="020B0503020204020204" pitchFamily="34" charset="-122"/>
                <a:ea typeface="微软雅黑" panose="020B0503020204020204" pitchFamily="34" charset="-122"/>
              </a:rPr>
              <a:t>受何因素</a:t>
            </a:r>
            <a:r>
              <a:rPr lang="zh-CN" altLang="en-US" sz="2000" dirty="0">
                <a:latin typeface="微软雅黑" panose="020B0503020204020204" pitchFamily="34" charset="-122"/>
                <a:ea typeface="微软雅黑" panose="020B0503020204020204" pitchFamily="34" charset="-122"/>
              </a:rPr>
              <a:t>影响</a:t>
            </a:r>
            <a:r>
              <a:rPr lang="en-US" altLang="zh-CN" sz="2000" dirty="0">
                <a:latin typeface="微软雅黑" panose="020B0503020204020204" pitchFamily="34" charset="-122"/>
                <a:ea typeface="微软雅黑" panose="020B0503020204020204" pitchFamily="34" charset="-122"/>
              </a:rPr>
              <a:t>? </a:t>
            </a:r>
          </a:p>
          <a:p>
            <a:pPr eaLnBrk="0" hangingPunct="0">
              <a:lnSpc>
                <a:spcPct val="125000"/>
              </a:lnSpc>
              <a:spcAft>
                <a:spcPts val="0"/>
              </a:spcAft>
            </a:pPr>
            <a:r>
              <a:rPr lang="en-US" altLang="zh-CN" sz="2000" dirty="0">
                <a:latin typeface="微软雅黑" panose="020B0503020204020204" pitchFamily="34" charset="-122"/>
                <a:ea typeface="微软雅黑" panose="020B0503020204020204" pitchFamily="34" charset="-122"/>
              </a:rPr>
              <a:t>    4</a:t>
            </a:r>
            <a:r>
              <a:rPr lang="zh-CN" altLang="en-US" sz="2000" dirty="0">
                <a:latin typeface="微软雅黑" panose="020B0503020204020204" pitchFamily="34" charset="-122"/>
                <a:ea typeface="微软雅黑" panose="020B0503020204020204" pitchFamily="34" charset="-122"/>
              </a:rPr>
              <a:t>、三级存储体系中，</a:t>
            </a:r>
            <a:r>
              <a:rPr lang="en-US" altLang="zh-CN" sz="2000" dirty="0">
                <a:latin typeface="微软雅黑" panose="020B0503020204020204" pitchFamily="34" charset="-122"/>
                <a:ea typeface="微软雅黑" panose="020B0503020204020204" pitchFamily="34" charset="-122"/>
              </a:rPr>
              <a:t>cache-</a:t>
            </a:r>
            <a:r>
              <a:rPr lang="zh-CN" altLang="en-US" sz="2000" dirty="0">
                <a:latin typeface="微软雅黑" panose="020B0503020204020204" pitchFamily="34" charset="-122"/>
                <a:ea typeface="微软雅黑" panose="020B0503020204020204" pitchFamily="34" charset="-122"/>
              </a:rPr>
              <a:t>主存和主存</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辅存相同点。</a:t>
            </a:r>
            <a:endParaRPr lang="en-US" altLang="zh-CN" sz="2000" dirty="0">
              <a:latin typeface="微软雅黑" panose="020B0503020204020204" pitchFamily="34" charset="-122"/>
              <a:ea typeface="微软雅黑" panose="020B0503020204020204" pitchFamily="34" charset="-122"/>
            </a:endParaRPr>
          </a:p>
          <a:p>
            <a:pPr eaLnBrk="0" hangingPunct="0">
              <a:lnSpc>
                <a:spcPct val="125000"/>
              </a:lnSpc>
              <a:spcAft>
                <a:spcPts val="0"/>
              </a:spcAft>
            </a:pPr>
            <a:r>
              <a:rPr lang="en-US" altLang="zh-CN" sz="2000" dirty="0">
                <a:latin typeface="微软雅黑" panose="020B0503020204020204" pitchFamily="34" charset="-122"/>
                <a:ea typeface="微软雅黑" panose="020B0503020204020204" pitchFamily="34" charset="-122"/>
              </a:rPr>
              <a:t>    5</a:t>
            </a:r>
            <a:r>
              <a:rPr lang="zh-CN" altLang="en-US" sz="2000" dirty="0">
                <a:latin typeface="微软雅黑" panose="020B0503020204020204" pitchFamily="34" charset="-122"/>
                <a:ea typeface="微软雅黑" panose="020B0503020204020204" pitchFamily="34" charset="-122"/>
              </a:rPr>
              <a:t>、三级存储体系中，</a:t>
            </a:r>
            <a:r>
              <a:rPr lang="en-US" altLang="zh-CN" sz="2000" dirty="0">
                <a:latin typeface="微软雅黑" panose="020B0503020204020204" pitchFamily="34" charset="-122"/>
                <a:ea typeface="微软雅黑" panose="020B0503020204020204" pitchFamily="34" charset="-122"/>
              </a:rPr>
              <a:t>cache-</a:t>
            </a:r>
            <a:r>
              <a:rPr lang="zh-CN" altLang="en-US" sz="2000" dirty="0">
                <a:latin typeface="微软雅黑" panose="020B0503020204020204" pitchFamily="34" charset="-122"/>
                <a:ea typeface="微软雅黑" panose="020B0503020204020204" pitchFamily="34" charset="-122"/>
              </a:rPr>
              <a:t>主存和主存</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辅存不同点</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a:lnSpc>
                <a:spcPct val="125000"/>
              </a:lnSpc>
              <a:spcAft>
                <a:spcPts val="0"/>
              </a:spcAft>
              <a:defRPr/>
            </a:pPr>
            <a:r>
              <a:rPr lang="en-US" altLang="zh-CN" sz="2000" dirty="0" smtClean="0">
                <a:latin typeface="微软雅黑" panose="020B0503020204020204" pitchFamily="34" charset="-122"/>
                <a:ea typeface="微软雅黑" panose="020B0503020204020204" pitchFamily="34" charset="-122"/>
              </a:rPr>
              <a:t>    6</a:t>
            </a:r>
            <a:r>
              <a:rPr lang="zh-CN" altLang="en-US" sz="2000" dirty="0" smtClean="0">
                <a:latin typeface="微软雅黑" panose="020B0503020204020204" pitchFamily="34" charset="-122"/>
                <a:ea typeface="微软雅黑" panose="020B0503020204020204" pitchFamily="34" charset="-122"/>
              </a:rPr>
              <a:t>、段式虚拟存储器特点。</a:t>
            </a:r>
            <a:endParaRPr lang="en-US" altLang="zh-CN" sz="2000" dirty="0" smtClean="0">
              <a:latin typeface="微软雅黑" panose="020B0503020204020204" pitchFamily="34" charset="-122"/>
              <a:ea typeface="微软雅黑" panose="020B0503020204020204" pitchFamily="34" charset="-122"/>
            </a:endParaRPr>
          </a:p>
          <a:p>
            <a:pPr>
              <a:lnSpc>
                <a:spcPct val="125000"/>
              </a:lnSpc>
              <a:spcAft>
                <a:spcPts val="0"/>
              </a:spcAft>
              <a:defRPr/>
            </a:pPr>
            <a:r>
              <a:rPr lang="en-US" altLang="zh-CN" sz="2000" dirty="0" smtClean="0">
                <a:latin typeface="微软雅黑" panose="020B0503020204020204" pitchFamily="34" charset="-122"/>
                <a:ea typeface="微软雅黑" panose="020B0503020204020204" pitchFamily="34" charset="-122"/>
              </a:rPr>
              <a:t>    7</a:t>
            </a:r>
            <a:r>
              <a:rPr lang="zh-CN" altLang="en-US" sz="2000" dirty="0" smtClean="0">
                <a:latin typeface="微软雅黑" panose="020B0503020204020204" pitchFamily="34" charset="-122"/>
                <a:ea typeface="微软雅黑" panose="020B0503020204020204" pitchFamily="34" charset="-122"/>
              </a:rPr>
              <a:t>、直接</a:t>
            </a:r>
            <a:r>
              <a:rPr lang="zh-CN" altLang="zh-CN" sz="2000" dirty="0" smtClean="0">
                <a:latin typeface="微软雅黑" panose="020B0503020204020204" pitchFamily="34" charset="-122"/>
                <a:ea typeface="微软雅黑" panose="020B0503020204020204" pitchFamily="34" charset="-122"/>
              </a:rPr>
              <a:t>映射</a:t>
            </a:r>
            <a:r>
              <a:rPr lang="en-US" altLang="zh-CN" sz="2000" dirty="0">
                <a:latin typeface="微软雅黑" panose="020B0503020204020204" pitchFamily="34" charset="-122"/>
                <a:ea typeface="微软雅黑" panose="020B0503020204020204" pitchFamily="34" charset="-122"/>
              </a:rPr>
              <a:t>Cache</a:t>
            </a:r>
            <a:r>
              <a:rPr lang="zh-CN" altLang="zh-CN" sz="2000" dirty="0">
                <a:latin typeface="微软雅黑" panose="020B0503020204020204" pitchFamily="34" charset="-122"/>
                <a:ea typeface="微软雅黑" panose="020B0503020204020204" pitchFamily="34" charset="-122"/>
              </a:rPr>
              <a:t>由</a:t>
            </a:r>
            <a:r>
              <a:rPr lang="en-US" altLang="zh-CN" sz="2000" dirty="0">
                <a:latin typeface="微软雅黑" panose="020B0503020204020204" pitchFamily="34" charset="-122"/>
                <a:ea typeface="微软雅黑" panose="020B0503020204020204" pitchFamily="34" charset="-122"/>
              </a:rPr>
              <a:t>32</a:t>
            </a:r>
            <a:r>
              <a:rPr lang="zh-CN" altLang="zh-CN" sz="2000" dirty="0">
                <a:latin typeface="微软雅黑" panose="020B0503020204020204" pitchFamily="34" charset="-122"/>
                <a:ea typeface="微软雅黑" panose="020B0503020204020204" pitchFamily="34" charset="-122"/>
              </a:rPr>
              <a:t>行构成，主存包含</a:t>
            </a:r>
            <a:r>
              <a:rPr lang="en-US" altLang="zh-CN" sz="2000" dirty="0">
                <a:latin typeface="微软雅黑" panose="020B0503020204020204" pitchFamily="34" charset="-122"/>
                <a:ea typeface="微软雅黑" panose="020B0503020204020204" pitchFamily="34" charset="-122"/>
              </a:rPr>
              <a:t>4096</a:t>
            </a:r>
            <a:r>
              <a:rPr lang="zh-CN" altLang="zh-CN" sz="2000" dirty="0" smtClean="0">
                <a:latin typeface="微软雅黑" panose="020B0503020204020204" pitchFamily="34" charset="-122"/>
                <a:ea typeface="微软雅黑" panose="020B0503020204020204" pitchFamily="34" charset="-122"/>
              </a:rPr>
              <a:t>个块</a:t>
            </a:r>
            <a:r>
              <a:rPr lang="zh-CN" altLang="zh-CN" sz="2000" dirty="0">
                <a:latin typeface="微软雅黑" panose="020B0503020204020204" pitchFamily="34" charset="-122"/>
                <a:ea typeface="微软雅黑" panose="020B0503020204020204" pitchFamily="34" charset="-122"/>
              </a:rPr>
              <a:t>，每块由</a:t>
            </a:r>
            <a:r>
              <a:rPr lang="en-US" altLang="zh-CN" sz="2000" dirty="0">
                <a:latin typeface="微软雅黑" panose="020B0503020204020204" pitchFamily="34" charset="-122"/>
                <a:ea typeface="微软雅黑" panose="020B0503020204020204" pitchFamily="34" charset="-122"/>
              </a:rPr>
              <a:t>64</a:t>
            </a:r>
            <a:r>
              <a:rPr lang="zh-CN" altLang="zh-CN" sz="2000" dirty="0">
                <a:latin typeface="微软雅黑" panose="020B0503020204020204" pitchFamily="34" charset="-122"/>
                <a:ea typeface="微软雅黑" panose="020B0503020204020204" pitchFamily="34" charset="-122"/>
              </a:rPr>
              <a:t>个字节构成，访存地址为</a:t>
            </a:r>
            <a:r>
              <a:rPr lang="zh-CN" altLang="zh-CN" sz="2000" dirty="0" smtClean="0">
                <a:latin typeface="微软雅黑" panose="020B0503020204020204" pitchFamily="34" charset="-122"/>
                <a:ea typeface="微软雅黑" panose="020B0503020204020204" pitchFamily="34" charset="-122"/>
              </a:rPr>
              <a:t>字节地址</a:t>
            </a:r>
            <a:r>
              <a:rPr lang="zh-CN" altLang="zh-CN" sz="2000" dirty="0">
                <a:latin typeface="微软雅黑" panose="020B0503020204020204" pitchFamily="34" charset="-122"/>
                <a:ea typeface="微软雅黑" panose="020B0503020204020204" pitchFamily="34" charset="-122"/>
              </a:rPr>
              <a:t>，主存地址为</a:t>
            </a:r>
            <a:r>
              <a:rPr lang="en-US" altLang="zh-CN" sz="2000" dirty="0">
                <a:latin typeface="微软雅黑" panose="020B0503020204020204" pitchFamily="34" charset="-122"/>
                <a:ea typeface="微软雅黑" panose="020B0503020204020204" pitchFamily="34" charset="-122"/>
              </a:rPr>
              <a:t>0E8B9H</a:t>
            </a:r>
            <a:r>
              <a:rPr lang="zh-CN" altLang="zh-CN" sz="2000" dirty="0">
                <a:latin typeface="微软雅黑" panose="020B0503020204020204" pitchFamily="34" charset="-122"/>
                <a:ea typeface="微软雅黑" panose="020B0503020204020204" pitchFamily="34" charset="-122"/>
              </a:rPr>
              <a:t>单元可以映射</a:t>
            </a:r>
            <a:r>
              <a:rPr lang="zh-CN" altLang="zh-CN" sz="2000" dirty="0" smtClean="0">
                <a:latin typeface="微软雅黑" panose="020B0503020204020204" pitchFamily="34" charset="-122"/>
                <a:ea typeface="微软雅黑" panose="020B0503020204020204" pitchFamily="34" charset="-122"/>
              </a:rPr>
              <a:t>到</a:t>
            </a:r>
            <a:r>
              <a:rPr lang="en-US" altLang="zh-CN" sz="2000" dirty="0" smtClean="0">
                <a:latin typeface="微软雅黑" panose="020B0503020204020204" pitchFamily="34" charset="-122"/>
                <a:ea typeface="微软雅黑" panose="020B0503020204020204" pitchFamily="34" charset="-122"/>
              </a:rPr>
              <a:t>Cache</a:t>
            </a:r>
            <a:r>
              <a:rPr lang="zh-CN" altLang="zh-CN" sz="2000" dirty="0">
                <a:latin typeface="微软雅黑" panose="020B0503020204020204" pitchFamily="34" charset="-122"/>
                <a:ea typeface="微软雅黑" panose="020B0503020204020204" pitchFamily="34" charset="-122"/>
              </a:rPr>
              <a:t>的哪个行中。</a:t>
            </a:r>
          </a:p>
          <a:p>
            <a:pPr>
              <a:lnSpc>
                <a:spcPct val="125000"/>
              </a:lnSpc>
              <a:spcAft>
                <a:spcPts val="0"/>
              </a:spcAft>
            </a:pPr>
            <a:r>
              <a:rPr lang="en-US" altLang="zh-CN" sz="2000" dirty="0" smtClean="0">
                <a:latin typeface="微软雅黑" panose="020B0503020204020204" pitchFamily="34" charset="-122"/>
                <a:ea typeface="微软雅黑" panose="020B0503020204020204" pitchFamily="34" charset="-122"/>
              </a:rPr>
              <a:t>    8</a:t>
            </a:r>
            <a:r>
              <a:rPr lang="zh-CN" altLang="en-US" sz="2000" dirty="0" smtClean="0">
                <a:latin typeface="微软雅黑" panose="020B0503020204020204" pitchFamily="34" charset="-122"/>
                <a:ea typeface="微软雅黑" panose="020B0503020204020204" pitchFamily="34" charset="-122"/>
              </a:rPr>
              <a:t>、</a:t>
            </a:r>
            <a:r>
              <a:rPr lang="zh-CN" altLang="zh-CN" sz="2000" dirty="0" smtClean="0">
                <a:latin typeface="微软雅黑" panose="020B0503020204020204" pitchFamily="34" charset="-122"/>
                <a:ea typeface="微软雅黑" panose="020B0503020204020204" pitchFamily="34" charset="-122"/>
              </a:rPr>
              <a:t>某计算机主存容量为</a:t>
            </a:r>
            <a:r>
              <a:rPr lang="en-US" altLang="zh-CN" sz="2000" dirty="0" smtClean="0">
                <a:latin typeface="微软雅黑" panose="020B0503020204020204" pitchFamily="34" charset="-122"/>
                <a:ea typeface="微软雅黑" panose="020B0503020204020204" pitchFamily="34" charset="-122"/>
              </a:rPr>
              <a:t>256K</a:t>
            </a:r>
            <a:r>
              <a:rPr lang="zh-CN" altLang="zh-CN" sz="2000" dirty="0" smtClean="0">
                <a:latin typeface="微软雅黑" panose="020B0503020204020204" pitchFamily="34" charset="-122"/>
                <a:ea typeface="微软雅黑" panose="020B0503020204020204" pitchFamily="34" charset="-122"/>
              </a:rPr>
              <a:t>字，</a:t>
            </a:r>
            <a:r>
              <a:rPr lang="en-US" altLang="zh-CN" sz="2000" dirty="0" smtClean="0">
                <a:latin typeface="微软雅黑" panose="020B0503020204020204" pitchFamily="34" charset="-122"/>
                <a:ea typeface="微软雅黑" panose="020B0503020204020204" pitchFamily="34" charset="-122"/>
              </a:rPr>
              <a:t>Cache</a:t>
            </a:r>
            <a:r>
              <a:rPr lang="zh-CN" altLang="zh-CN" sz="2000" dirty="0" smtClean="0">
                <a:latin typeface="微软雅黑" panose="020B0503020204020204" pitchFamily="34" charset="-122"/>
                <a:ea typeface="微软雅黑" panose="020B0503020204020204" pitchFamily="34" charset="-122"/>
              </a:rPr>
              <a:t>为</a:t>
            </a:r>
            <a:r>
              <a:rPr lang="en-US" altLang="zh-CN" sz="2000" dirty="0" smtClean="0">
                <a:latin typeface="微软雅黑" panose="020B0503020204020204" pitchFamily="34" charset="-122"/>
                <a:ea typeface="微软雅黑" panose="020B0503020204020204" pitchFamily="34" charset="-122"/>
              </a:rPr>
              <a:t>8K</a:t>
            </a:r>
            <a:r>
              <a:rPr lang="zh-CN" altLang="zh-CN" sz="2000" dirty="0" smtClean="0">
                <a:latin typeface="微软雅黑" panose="020B0503020204020204" pitchFamily="34" charset="-122"/>
                <a:ea typeface="微软雅黑" panose="020B0503020204020204" pitchFamily="34" charset="-122"/>
              </a:rPr>
              <a:t>字，采用</a:t>
            </a:r>
            <a:r>
              <a:rPr lang="zh-CN" altLang="en-US" sz="2000" dirty="0">
                <a:latin typeface="微软雅黑" panose="020B0503020204020204" pitchFamily="34" charset="-122"/>
                <a:ea typeface="微软雅黑" panose="020B0503020204020204" pitchFamily="34" charset="-122"/>
              </a:rPr>
              <a:t>直接</a:t>
            </a:r>
            <a:r>
              <a:rPr lang="zh-CN" altLang="zh-CN" sz="2000" dirty="0">
                <a:latin typeface="微软雅黑" panose="020B0503020204020204" pitchFamily="34" charset="-122"/>
                <a:ea typeface="微软雅黑" panose="020B0503020204020204" pitchFamily="34" charset="-122"/>
              </a:rPr>
              <a:t>映射</a:t>
            </a:r>
            <a:r>
              <a:rPr lang="zh-CN" altLang="zh-CN"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Cache</a:t>
            </a:r>
            <a:r>
              <a:rPr lang="zh-CN" altLang="zh-CN" sz="2000" dirty="0" smtClean="0">
                <a:latin typeface="微软雅黑" panose="020B0503020204020204" pitchFamily="34" charset="-122"/>
                <a:ea typeface="微软雅黑" panose="020B0503020204020204" pitchFamily="34" charset="-122"/>
              </a:rPr>
              <a:t>每行</a:t>
            </a:r>
            <a:r>
              <a:rPr lang="en-US" altLang="zh-CN" sz="2000" dirty="0" smtClean="0">
                <a:latin typeface="微软雅黑" panose="020B0503020204020204" pitchFamily="34" charset="-122"/>
                <a:ea typeface="微软雅黑" panose="020B0503020204020204" pitchFamily="34" charset="-122"/>
              </a:rPr>
              <a:t>64</a:t>
            </a:r>
            <a:r>
              <a:rPr lang="zh-CN" altLang="zh-CN" sz="2000" dirty="0" smtClean="0">
                <a:latin typeface="微软雅黑" panose="020B0503020204020204" pitchFamily="34" charset="-122"/>
                <a:ea typeface="微软雅黑" panose="020B0503020204020204" pitchFamily="34" charset="-122"/>
              </a:rPr>
              <a:t>个字。假设开始时</a:t>
            </a:r>
            <a:r>
              <a:rPr lang="en-US" altLang="zh-CN" sz="2000" dirty="0" smtClean="0">
                <a:latin typeface="微软雅黑" panose="020B0503020204020204" pitchFamily="34" charset="-122"/>
                <a:ea typeface="微软雅黑" panose="020B0503020204020204" pitchFamily="34" charset="-122"/>
              </a:rPr>
              <a:t>Cache</a:t>
            </a:r>
            <a:r>
              <a:rPr lang="zh-CN" altLang="zh-CN" sz="2000" dirty="0" smtClean="0">
                <a:latin typeface="微软雅黑" panose="020B0503020204020204" pitchFamily="34" charset="-122"/>
                <a:ea typeface="微软雅黑" panose="020B0503020204020204" pitchFamily="34" charset="-122"/>
              </a:rPr>
              <a:t>为空，</a:t>
            </a:r>
            <a:r>
              <a:rPr lang="en-US" altLang="zh-CN" sz="2000" dirty="0" smtClean="0">
                <a:latin typeface="微软雅黑" panose="020B0503020204020204" pitchFamily="34" charset="-122"/>
                <a:ea typeface="微软雅黑" panose="020B0503020204020204" pitchFamily="34" charset="-122"/>
              </a:rPr>
              <a:t>CPU</a:t>
            </a:r>
            <a:r>
              <a:rPr lang="zh-CN" altLang="zh-CN" sz="2000" dirty="0" smtClean="0">
                <a:latin typeface="微软雅黑" panose="020B0503020204020204" pitchFamily="34" charset="-122"/>
                <a:ea typeface="微软雅黑" panose="020B0503020204020204" pitchFamily="34" charset="-122"/>
              </a:rPr>
              <a:t>按地址</a:t>
            </a:r>
            <a:r>
              <a:rPr lang="en-US" altLang="zh-CN" sz="2000" dirty="0" smtClean="0">
                <a:latin typeface="微软雅黑" panose="020B0503020204020204" pitchFamily="34" charset="-122"/>
                <a:ea typeface="微软雅黑" panose="020B0503020204020204" pitchFamily="34" charset="-122"/>
              </a:rPr>
              <a:t>0,1,2…….8447</a:t>
            </a:r>
            <a:r>
              <a:rPr lang="zh-CN" altLang="zh-CN" sz="2000" dirty="0" smtClean="0">
                <a:latin typeface="微软雅黑" panose="020B0503020204020204" pitchFamily="34" charset="-122"/>
                <a:ea typeface="微软雅黑" panose="020B0503020204020204" pitchFamily="34" charset="-122"/>
              </a:rPr>
              <a:t>单元执行“取”操作，然后又重复</a:t>
            </a:r>
            <a:r>
              <a:rPr lang="en-US" altLang="zh-CN" sz="2000" dirty="0" smtClean="0">
                <a:latin typeface="微软雅黑" panose="020B0503020204020204" pitchFamily="34" charset="-122"/>
                <a:ea typeface="微软雅黑" panose="020B0503020204020204" pitchFamily="34" charset="-122"/>
              </a:rPr>
              <a:t>20</a:t>
            </a:r>
            <a:r>
              <a:rPr lang="zh-CN" altLang="zh-CN" sz="2000" dirty="0" smtClean="0">
                <a:latin typeface="微软雅黑" panose="020B0503020204020204" pitchFamily="34" charset="-122"/>
                <a:ea typeface="微软雅黑" panose="020B0503020204020204" pitchFamily="34" charset="-122"/>
              </a:rPr>
              <a:t>次。该</a:t>
            </a:r>
            <a:r>
              <a:rPr lang="en-US" altLang="zh-CN" sz="2000" dirty="0" smtClean="0">
                <a:latin typeface="微软雅黑" panose="020B0503020204020204" pitchFamily="34" charset="-122"/>
                <a:ea typeface="微软雅黑" panose="020B0503020204020204" pitchFamily="34" charset="-122"/>
              </a:rPr>
              <a:t>Cache</a:t>
            </a:r>
            <a:r>
              <a:rPr lang="zh-CN" altLang="zh-CN" sz="2000" dirty="0" smtClean="0">
                <a:latin typeface="微软雅黑" panose="020B0503020204020204" pitchFamily="34" charset="-122"/>
                <a:ea typeface="微软雅黑" panose="020B0503020204020204" pitchFamily="34" charset="-122"/>
              </a:rPr>
              <a:t>存取速度为主存的</a:t>
            </a:r>
            <a:r>
              <a:rPr lang="en-US" altLang="zh-CN" sz="2000" dirty="0" smtClean="0">
                <a:latin typeface="微软雅黑" panose="020B0503020204020204" pitchFamily="34" charset="-122"/>
                <a:ea typeface="微软雅黑" panose="020B0503020204020204" pitchFamily="34" charset="-122"/>
              </a:rPr>
              <a:t>5</a:t>
            </a:r>
            <a:r>
              <a:rPr lang="zh-CN" altLang="zh-CN" sz="2000" dirty="0" smtClean="0">
                <a:latin typeface="微软雅黑" panose="020B0503020204020204" pitchFamily="34" charset="-122"/>
                <a:ea typeface="微软雅黑" panose="020B0503020204020204" pitchFamily="34" charset="-122"/>
              </a:rPr>
              <a:t>倍。计算上述操作总的存取时间与不用</a:t>
            </a:r>
            <a:r>
              <a:rPr lang="en-US" altLang="zh-CN" sz="2000" dirty="0" smtClean="0">
                <a:latin typeface="微软雅黑" panose="020B0503020204020204" pitchFamily="34" charset="-122"/>
                <a:ea typeface="微软雅黑" panose="020B0503020204020204" pitchFamily="34" charset="-122"/>
              </a:rPr>
              <a:t>Cache</a:t>
            </a:r>
            <a:r>
              <a:rPr lang="zh-CN" altLang="zh-CN" sz="2000" dirty="0" smtClean="0">
                <a:latin typeface="微软雅黑" panose="020B0503020204020204" pitchFamily="34" charset="-122"/>
                <a:ea typeface="微软雅黑" panose="020B0503020204020204" pitchFamily="34" charset="-122"/>
              </a:rPr>
              <a:t>相比，速度提高多少倍。</a:t>
            </a:r>
            <a:endParaRPr lang="zh-CN"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172942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2389E59-C5A6-44E3-A52F-17267A6A2DAA}" type="slidenum">
              <a:rPr lang="en-US" altLang="zh-CN" smtClean="0"/>
              <a:pPr>
                <a:defRPr/>
              </a:pPr>
              <a:t>132</a:t>
            </a:fld>
            <a:endParaRPr lang="en-US" altLang="zh-CN"/>
          </a:p>
        </p:txBody>
      </p:sp>
      <p:sp>
        <p:nvSpPr>
          <p:cNvPr id="3" name="矩形 2"/>
          <p:cNvSpPr/>
          <p:nvPr/>
        </p:nvSpPr>
        <p:spPr>
          <a:xfrm>
            <a:off x="179512" y="123011"/>
            <a:ext cx="8785225" cy="6577185"/>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defRPr/>
            </a:pPr>
            <a:r>
              <a:rPr lang="zh-CN" altLang="en-US" sz="1400" b="1" dirty="0" smtClean="0">
                <a:solidFill>
                  <a:srgbClr val="FF0000"/>
                </a:solidFill>
                <a:latin typeface="微软雅黑" panose="020B0503020204020204" pitchFamily="34" charset="-122"/>
                <a:ea typeface="微软雅黑" panose="020B0503020204020204" pitchFamily="34" charset="-122"/>
              </a:rPr>
              <a:t>答案</a:t>
            </a:r>
            <a:endParaRPr lang="en-US" altLang="zh-CN" sz="1400" b="1" dirty="0">
              <a:solidFill>
                <a:srgbClr val="FF0000"/>
              </a:solidFill>
              <a:latin typeface="微软雅黑" panose="020B0503020204020204" pitchFamily="34" charset="-122"/>
              <a:ea typeface="微软雅黑" panose="020B0503020204020204" pitchFamily="34" charset="-122"/>
            </a:endParaRPr>
          </a:p>
          <a:p>
            <a:pPr>
              <a:defRPr/>
            </a:pPr>
            <a:r>
              <a:rPr lang="en-US" altLang="zh-CN" sz="1400" dirty="0">
                <a:solidFill>
                  <a:schemeClr val="tx1"/>
                </a:solidFill>
                <a:latin typeface="微软雅黑" panose="020B0503020204020204" pitchFamily="34" charset="-122"/>
                <a:ea typeface="微软雅黑" panose="020B0503020204020204" pitchFamily="34" charset="-122"/>
              </a:rPr>
              <a:t> </a:t>
            </a:r>
            <a:r>
              <a:rPr lang="en-US" altLang="zh-CN" sz="1400" dirty="0" smtClean="0">
                <a:solidFill>
                  <a:schemeClr val="tx1"/>
                </a:solidFill>
                <a:latin typeface="微软雅黑" panose="020B0503020204020204" pitchFamily="34" charset="-122"/>
                <a:ea typeface="微软雅黑" panose="020B0503020204020204" pitchFamily="34" charset="-122"/>
              </a:rPr>
              <a:t>      1. </a:t>
            </a:r>
            <a:r>
              <a:rPr lang="zh-CN" altLang="en-US" sz="1400" dirty="0" smtClean="0">
                <a:solidFill>
                  <a:schemeClr val="tx1"/>
                </a:solidFill>
                <a:latin typeface="微软雅黑" panose="020B0503020204020204" pitchFamily="34" charset="-122"/>
                <a:ea typeface="微软雅黑" panose="020B0503020204020204" pitchFamily="34" charset="-122"/>
              </a:rPr>
              <a:t>计算机</a:t>
            </a:r>
            <a:r>
              <a:rPr lang="zh-CN" altLang="en-US" sz="1400" dirty="0">
                <a:latin typeface="微软雅黑" panose="020B0503020204020204" pitchFamily="34" charset="-122"/>
                <a:ea typeface="微软雅黑" panose="020B0503020204020204" pitchFamily="34" charset="-122"/>
              </a:rPr>
              <a:t>存储系统中，一般分为高速缓冲存储器、主存储器和辅助存储器三个层次</a:t>
            </a:r>
            <a:r>
              <a:rPr lang="zh-CN" altLang="en-US" sz="1400" dirty="0" smtClean="0">
                <a:latin typeface="微软雅黑" panose="020B0503020204020204" pitchFamily="34" charset="-122"/>
                <a:ea typeface="微软雅黑" panose="020B0503020204020204" pitchFamily="34" charset="-122"/>
              </a:rPr>
              <a:t>。采用</a:t>
            </a:r>
            <a:r>
              <a:rPr lang="zh-CN" altLang="en-US" sz="1400" dirty="0">
                <a:latin typeface="微软雅黑" panose="020B0503020204020204" pitchFamily="34" charset="-122"/>
                <a:ea typeface="微软雅黑" panose="020B0503020204020204" pitchFamily="34" charset="-122"/>
              </a:rPr>
              <a:t>层次模型的目标是为了解决对存储器要求容量大，速度快，成本低三者之间的矛盾，即在合理的成本范围内，通过对各级存储器的容量配置，达到可接受的性能</a:t>
            </a:r>
            <a:r>
              <a:rPr lang="zh-CN" altLang="en-US" sz="1400" dirty="0" smtClean="0">
                <a:latin typeface="微软雅黑" panose="020B0503020204020204" pitchFamily="34" charset="-122"/>
                <a:ea typeface="微软雅黑" panose="020B0503020204020204" pitchFamily="34" charset="-122"/>
              </a:rPr>
              <a:t>。   </a:t>
            </a:r>
            <a:endParaRPr lang="en-US" altLang="zh-CN" sz="1400" dirty="0" smtClean="0">
              <a:latin typeface="微软雅黑" panose="020B0503020204020204" pitchFamily="34" charset="-122"/>
              <a:ea typeface="微软雅黑" panose="020B0503020204020204" pitchFamily="34" charset="-122"/>
            </a:endParaRPr>
          </a:p>
          <a:p>
            <a:pPr>
              <a:defRPr/>
            </a:pPr>
            <a:r>
              <a:rPr lang="en-US" altLang="zh-CN" sz="1400" dirty="0">
                <a:latin typeface="微软雅黑" panose="020B0503020204020204" pitchFamily="34" charset="-122"/>
                <a:ea typeface="微软雅黑" panose="020B0503020204020204" pitchFamily="34" charset="-122"/>
              </a:rPr>
              <a:t> </a:t>
            </a:r>
            <a:r>
              <a:rPr lang="en-US" altLang="zh-CN" sz="1400" dirty="0" smtClean="0">
                <a:latin typeface="微软雅黑" panose="020B0503020204020204" pitchFamily="34" charset="-122"/>
                <a:ea typeface="微软雅黑" panose="020B0503020204020204" pitchFamily="34" charset="-122"/>
              </a:rPr>
              <a:t>      </a:t>
            </a:r>
            <a:r>
              <a:rPr lang="zh-CN" altLang="en-US" sz="1400" dirty="0" smtClean="0">
                <a:latin typeface="微软雅黑" panose="020B0503020204020204" pitchFamily="34" charset="-122"/>
                <a:ea typeface="微软雅黑" panose="020B0503020204020204" pitchFamily="34" charset="-122"/>
              </a:rPr>
              <a:t>高速缓冲存储器</a:t>
            </a:r>
            <a:r>
              <a:rPr lang="zh-CN" altLang="en-US" sz="1400" dirty="0">
                <a:latin typeface="微软雅黑" panose="020B0503020204020204" pitchFamily="34" charset="-122"/>
                <a:ea typeface="微软雅黑" panose="020B0503020204020204" pitchFamily="34" charset="-122"/>
              </a:rPr>
              <a:t>：即</a:t>
            </a:r>
            <a:r>
              <a:rPr lang="en-US" altLang="zh-CN" sz="1400" dirty="0">
                <a:latin typeface="微软雅黑" panose="020B0503020204020204" pitchFamily="34" charset="-122"/>
                <a:ea typeface="微软雅黑" panose="020B0503020204020204" pitchFamily="34" charset="-122"/>
              </a:rPr>
              <a:t>cache</a:t>
            </a:r>
            <a:r>
              <a:rPr lang="zh-CN" altLang="en-US" sz="1400" dirty="0">
                <a:latin typeface="微软雅黑" panose="020B0503020204020204" pitchFamily="34" charset="-122"/>
                <a:ea typeface="微软雅黑" panose="020B0503020204020204" pitchFamily="34" charset="-122"/>
              </a:rPr>
              <a:t>，它一般用的是</a:t>
            </a:r>
            <a:r>
              <a:rPr lang="en-US" altLang="zh-CN" sz="1400" dirty="0">
                <a:latin typeface="微软雅黑" panose="020B0503020204020204" pitchFamily="34" charset="-122"/>
                <a:ea typeface="微软雅黑" panose="020B0503020204020204" pitchFamily="34" charset="-122"/>
              </a:rPr>
              <a:t>SRAM</a:t>
            </a:r>
            <a:r>
              <a:rPr lang="zh-CN" altLang="en-US" sz="1400" dirty="0">
                <a:latin typeface="微软雅黑" panose="020B0503020204020204" pitchFamily="34" charset="-122"/>
                <a:ea typeface="微软雅黑" panose="020B0503020204020204" pitchFamily="34" charset="-122"/>
              </a:rPr>
              <a:t>，其特点是速度快、价格高</a:t>
            </a:r>
            <a:r>
              <a:rPr lang="zh-CN" altLang="en-US" sz="1400" dirty="0" smtClean="0">
                <a:latin typeface="微软雅黑" panose="020B0503020204020204" pitchFamily="34" charset="-122"/>
                <a:ea typeface="微软雅黑" panose="020B0503020204020204" pitchFamily="34" charset="-122"/>
              </a:rPr>
              <a:t>。    </a:t>
            </a:r>
            <a:endParaRPr lang="en-US" altLang="zh-CN" sz="1400" dirty="0" smtClean="0">
              <a:latin typeface="微软雅黑" panose="020B0503020204020204" pitchFamily="34" charset="-122"/>
              <a:ea typeface="微软雅黑" panose="020B0503020204020204" pitchFamily="34" charset="-122"/>
            </a:endParaRPr>
          </a:p>
          <a:p>
            <a:pPr>
              <a:defRPr/>
            </a:pPr>
            <a:r>
              <a:rPr lang="en-US" altLang="zh-CN" sz="1400" dirty="0">
                <a:latin typeface="微软雅黑" panose="020B0503020204020204" pitchFamily="34" charset="-122"/>
                <a:ea typeface="微软雅黑" panose="020B0503020204020204" pitchFamily="34" charset="-122"/>
              </a:rPr>
              <a:t> </a:t>
            </a:r>
            <a:r>
              <a:rPr lang="en-US" altLang="zh-CN" sz="1400" dirty="0" smtClean="0">
                <a:latin typeface="微软雅黑" panose="020B0503020204020204" pitchFamily="34" charset="-122"/>
                <a:ea typeface="微软雅黑" panose="020B0503020204020204" pitchFamily="34" charset="-122"/>
              </a:rPr>
              <a:t>      </a:t>
            </a:r>
            <a:r>
              <a:rPr lang="zh-CN" altLang="en-US" sz="1400" dirty="0" smtClean="0">
                <a:latin typeface="微软雅黑" panose="020B0503020204020204" pitchFamily="34" charset="-122"/>
                <a:ea typeface="微软雅黑" panose="020B0503020204020204" pitchFamily="34" charset="-122"/>
              </a:rPr>
              <a:t>主存储器</a:t>
            </a:r>
            <a:r>
              <a:rPr lang="zh-CN" altLang="en-US" sz="1400" dirty="0">
                <a:latin typeface="微软雅黑" panose="020B0503020204020204" pitchFamily="34" charset="-122"/>
                <a:ea typeface="微软雅黑" panose="020B0503020204020204" pitchFamily="34" charset="-122"/>
              </a:rPr>
              <a:t>：一般是</a:t>
            </a:r>
            <a:r>
              <a:rPr lang="en-US" altLang="zh-CN" sz="1400" dirty="0">
                <a:latin typeface="微软雅黑" panose="020B0503020204020204" pitchFamily="34" charset="-122"/>
                <a:ea typeface="微软雅黑" panose="020B0503020204020204" pitchFamily="34" charset="-122"/>
              </a:rPr>
              <a:t>DRAM</a:t>
            </a:r>
            <a:r>
              <a:rPr lang="zh-CN" altLang="en-US" sz="1400" dirty="0">
                <a:latin typeface="微软雅黑" panose="020B0503020204020204" pitchFamily="34" charset="-122"/>
                <a:ea typeface="微软雅黑" panose="020B0503020204020204" pitchFamily="34" charset="-122"/>
              </a:rPr>
              <a:t>，其速度相对快，价格居中。</a:t>
            </a:r>
          </a:p>
          <a:p>
            <a:pPr eaLnBrk="0" hangingPunct="0"/>
            <a:r>
              <a:rPr lang="zh-CN" altLang="en-US" sz="1400" dirty="0">
                <a:latin typeface="微软雅黑" panose="020B0503020204020204" pitchFamily="34" charset="-122"/>
                <a:ea typeface="微软雅黑" panose="020B0503020204020204" pitchFamily="34" charset="-122"/>
              </a:rPr>
              <a:t> </a:t>
            </a:r>
            <a:r>
              <a:rPr lang="zh-CN" altLang="en-US" sz="1400" dirty="0" smtClean="0">
                <a:latin typeface="微软雅黑" panose="020B0503020204020204" pitchFamily="34" charset="-122"/>
                <a:ea typeface="微软雅黑" panose="020B0503020204020204" pitchFamily="34" charset="-122"/>
              </a:rPr>
              <a:t>      辅助存储器</a:t>
            </a:r>
            <a:r>
              <a:rPr lang="zh-CN" altLang="en-US" sz="1400" dirty="0">
                <a:latin typeface="微软雅黑" panose="020B0503020204020204" pitchFamily="34" charset="-122"/>
                <a:ea typeface="微软雅黑" panose="020B0503020204020204" pitchFamily="34" charset="-122"/>
              </a:rPr>
              <a:t>：一般是硬盘，可以断电后保存数据，容量大，但速度慢</a:t>
            </a:r>
            <a:r>
              <a:rPr lang="zh-CN" altLang="en-US" sz="1400" dirty="0" smtClean="0">
                <a:latin typeface="微软雅黑" panose="020B0503020204020204" pitchFamily="34" charset="-122"/>
                <a:ea typeface="微软雅黑" panose="020B0503020204020204" pitchFamily="34" charset="-122"/>
              </a:rPr>
              <a:t>。</a:t>
            </a:r>
            <a:endParaRPr lang="en-US" altLang="zh-CN" sz="1400" dirty="0" smtClean="0">
              <a:latin typeface="微软雅黑" panose="020B0503020204020204" pitchFamily="34" charset="-122"/>
              <a:ea typeface="微软雅黑" panose="020B0503020204020204" pitchFamily="34" charset="-122"/>
            </a:endParaRPr>
          </a:p>
          <a:p>
            <a:pPr eaLnBrk="0" hangingPunct="0"/>
            <a:r>
              <a:rPr lang="en-US" altLang="zh-CN" sz="1400" dirty="0" smtClean="0">
                <a:latin typeface="微软雅黑" panose="020B0503020204020204" pitchFamily="34" charset="-122"/>
                <a:ea typeface="微软雅黑" panose="020B0503020204020204" pitchFamily="34" charset="-122"/>
                <a:cs typeface="Times New Roman" charset="0"/>
              </a:rPr>
              <a:t>       2. SRAM</a:t>
            </a:r>
            <a:r>
              <a:rPr lang="zh-CN" altLang="en-US" sz="1400" dirty="0">
                <a:latin typeface="微软雅黑" panose="020B0503020204020204" pitchFamily="34" charset="-122"/>
                <a:ea typeface="微软雅黑" panose="020B0503020204020204" pitchFamily="34" charset="-122"/>
                <a:cs typeface="Times New Roman" charset="0"/>
              </a:rPr>
              <a:t>器件的特点是速度快</a:t>
            </a:r>
            <a:r>
              <a:rPr lang="zh-CN" altLang="en-US" sz="1400" dirty="0" smtClean="0">
                <a:latin typeface="微软雅黑" panose="020B0503020204020204" pitchFamily="34" charset="-122"/>
                <a:ea typeface="微软雅黑" panose="020B0503020204020204" pitchFamily="34" charset="-122"/>
                <a:cs typeface="Times New Roman" charset="0"/>
              </a:rPr>
              <a:t>、不用</a:t>
            </a:r>
            <a:r>
              <a:rPr lang="zh-CN" altLang="en-US" sz="1400" dirty="0">
                <a:latin typeface="微软雅黑" panose="020B0503020204020204" pitchFamily="34" charset="-122"/>
                <a:ea typeface="微软雅黑" panose="020B0503020204020204" pitchFamily="34" charset="-122"/>
                <a:cs typeface="Times New Roman" charset="0"/>
              </a:rPr>
              <a:t>刷新，但集成度不高，价格贵。它一般用于做高速缓存</a:t>
            </a:r>
            <a:r>
              <a:rPr lang="zh-CN" altLang="en-US" sz="1400" dirty="0" smtClean="0">
                <a:latin typeface="微软雅黑" panose="020B0503020204020204" pitchFamily="34" charset="-122"/>
                <a:ea typeface="微软雅黑" panose="020B0503020204020204" pitchFamily="34" charset="-122"/>
                <a:cs typeface="Times New Roman" charset="0"/>
              </a:rPr>
              <a:t>。</a:t>
            </a:r>
            <a:r>
              <a:rPr lang="en-US" altLang="zh-CN" sz="1400" dirty="0" smtClean="0">
                <a:latin typeface="微软雅黑" panose="020B0503020204020204" pitchFamily="34" charset="-122"/>
                <a:ea typeface="微软雅黑" panose="020B0503020204020204" pitchFamily="34" charset="-122"/>
                <a:cs typeface="Times New Roman" charset="0"/>
              </a:rPr>
              <a:t>DRAM</a:t>
            </a:r>
            <a:r>
              <a:rPr lang="zh-CN" altLang="en-US" sz="1400" dirty="0">
                <a:latin typeface="微软雅黑" panose="020B0503020204020204" pitchFamily="34" charset="-122"/>
                <a:ea typeface="微软雅黑" panose="020B0503020204020204" pitchFamily="34" charset="-122"/>
                <a:cs typeface="Times New Roman" charset="0"/>
              </a:rPr>
              <a:t>器件的特点是相对廉价和大容量，但须定时刷新。它一般用于做主存储器</a:t>
            </a:r>
            <a:r>
              <a:rPr lang="zh-CN" altLang="en-US" sz="1400" dirty="0" smtClean="0">
                <a:latin typeface="微软雅黑" panose="020B0503020204020204" pitchFamily="34" charset="-122"/>
                <a:ea typeface="微软雅黑" panose="020B0503020204020204" pitchFamily="34" charset="-122"/>
                <a:cs typeface="Times New Roman" charset="0"/>
              </a:rPr>
              <a:t>。</a:t>
            </a:r>
            <a:endParaRPr lang="en-US" altLang="zh-CN" sz="1400" dirty="0" smtClean="0">
              <a:latin typeface="微软雅黑" panose="020B0503020204020204" pitchFamily="34" charset="-122"/>
              <a:ea typeface="微软雅黑" panose="020B0503020204020204" pitchFamily="34" charset="-122"/>
              <a:cs typeface="Times New Roman" charset="0"/>
            </a:endParaRPr>
          </a:p>
          <a:p>
            <a:pPr eaLnBrk="0" hangingPunct="0"/>
            <a:r>
              <a:rPr lang="en-US" altLang="zh-CN" sz="1400" dirty="0" smtClean="0">
                <a:latin typeface="微软雅黑" panose="020B0503020204020204" pitchFamily="34" charset="-122"/>
                <a:ea typeface="微软雅黑" panose="020B0503020204020204" pitchFamily="34" charset="-122"/>
                <a:cs typeface="Times New Roman" charset="0"/>
              </a:rPr>
              <a:t>       3. </a:t>
            </a:r>
            <a:r>
              <a:rPr lang="en-US" altLang="zh-CN" sz="1400" dirty="0" smtClean="0">
                <a:latin typeface="微软雅黑" panose="020B0503020204020204" pitchFamily="34" charset="-122"/>
                <a:ea typeface="微软雅黑" panose="020B0503020204020204" pitchFamily="34" charset="-122"/>
              </a:rPr>
              <a:t>Cache</a:t>
            </a:r>
            <a:r>
              <a:rPr lang="zh-CN" altLang="en-US" sz="1400" dirty="0">
                <a:latin typeface="微软雅黑" panose="020B0503020204020204" pitchFamily="34" charset="-122"/>
                <a:ea typeface="微软雅黑" panose="020B0503020204020204" pitchFamily="34" charset="-122"/>
              </a:rPr>
              <a:t>存储器中保存的字块是主存中相应字块的一个副本。</a:t>
            </a:r>
            <a:r>
              <a:rPr lang="en-US" altLang="zh-CN" sz="1400" dirty="0">
                <a:latin typeface="微软雅黑" panose="020B0503020204020204" pitchFamily="34" charset="-122"/>
                <a:ea typeface="微软雅黑" panose="020B0503020204020204" pitchFamily="34" charset="-122"/>
              </a:rPr>
              <a:t>Cache</a:t>
            </a:r>
            <a:r>
              <a:rPr lang="zh-CN" altLang="en-US" sz="1400" dirty="0">
                <a:latin typeface="微软雅黑" panose="020B0503020204020204" pitchFamily="34" charset="-122"/>
                <a:ea typeface="微软雅黑" panose="020B0503020204020204" pitchFamily="34" charset="-122"/>
              </a:rPr>
              <a:t>容量和块的大小以及替换算法是影响命中率的重要因素。</a:t>
            </a:r>
          </a:p>
          <a:p>
            <a:r>
              <a:rPr lang="en-US" altLang="zh-CN" sz="1400" dirty="0" smtClean="0">
                <a:latin typeface="微软雅黑" panose="020B0503020204020204" pitchFamily="34" charset="-122"/>
                <a:ea typeface="微软雅黑" panose="020B0503020204020204" pitchFamily="34" charset="-122"/>
              </a:rPr>
              <a:t>       4. </a:t>
            </a:r>
            <a:r>
              <a:rPr lang="zh-CN" altLang="en-US" sz="1400" dirty="0" smtClean="0">
                <a:latin typeface="微软雅黑" panose="020B0503020204020204" pitchFamily="34" charset="-122"/>
                <a:ea typeface="微软雅黑" panose="020B0503020204020204" pitchFamily="34" charset="-122"/>
              </a:rPr>
              <a:t>（</a:t>
            </a:r>
            <a:r>
              <a:rPr lang="en-US" altLang="zh-CN" sz="1400" dirty="0" smtClean="0">
                <a:latin typeface="微软雅黑" panose="020B0503020204020204" pitchFamily="34" charset="-122"/>
                <a:ea typeface="微软雅黑" panose="020B0503020204020204" pitchFamily="34" charset="-122"/>
              </a:rPr>
              <a:t>1</a:t>
            </a:r>
            <a:r>
              <a:rPr lang="zh-CN" altLang="en-US" sz="1400" dirty="0" smtClean="0">
                <a:latin typeface="微软雅黑" panose="020B0503020204020204" pitchFamily="34" charset="-122"/>
                <a:ea typeface="微软雅黑" panose="020B0503020204020204" pitchFamily="34" charset="-122"/>
              </a:rPr>
              <a:t>）出发点</a:t>
            </a:r>
            <a:r>
              <a:rPr lang="zh-CN" altLang="en-US" sz="1400" dirty="0">
                <a:latin typeface="微软雅黑" panose="020B0503020204020204" pitchFamily="34" charset="-122"/>
                <a:ea typeface="微软雅黑" panose="020B0503020204020204" pitchFamily="34" charset="-122"/>
              </a:rPr>
              <a:t>相同</a:t>
            </a:r>
          </a:p>
          <a:p>
            <a:r>
              <a:rPr lang="zh-CN" altLang="en-US" sz="1400" dirty="0">
                <a:latin typeface="微软雅黑" panose="020B0503020204020204" pitchFamily="34" charset="-122"/>
                <a:ea typeface="微软雅黑" panose="020B0503020204020204" pitchFamily="34" charset="-122"/>
              </a:rPr>
              <a:t>    </a:t>
            </a:r>
            <a:r>
              <a:rPr lang="zh-CN" altLang="en-US" sz="1400" dirty="0" smtClean="0">
                <a:latin typeface="微软雅黑" panose="020B0503020204020204" pitchFamily="34" charset="-122"/>
                <a:ea typeface="微软雅黑" panose="020B0503020204020204" pitchFamily="34" charset="-122"/>
              </a:rPr>
              <a:t>   二者</a:t>
            </a:r>
            <a:r>
              <a:rPr lang="zh-CN" altLang="en-US" sz="1400" dirty="0">
                <a:latin typeface="微软雅黑" panose="020B0503020204020204" pitchFamily="34" charset="-122"/>
                <a:ea typeface="微软雅黑" panose="020B0503020204020204" pitchFamily="34" charset="-122"/>
              </a:rPr>
              <a:t>都是为了提高存储系统的性能价格比而构造的分层存储体系，都力图使存储系统的性能接近高速存储器，而价格和容量接近低速存储器。</a:t>
            </a:r>
          </a:p>
          <a:p>
            <a:r>
              <a:rPr lang="zh-CN" altLang="en-US" sz="1400" dirty="0">
                <a:latin typeface="微软雅黑" panose="020B0503020204020204" pitchFamily="34" charset="-122"/>
                <a:ea typeface="微软雅黑" panose="020B0503020204020204" pitchFamily="34" charset="-122"/>
              </a:rPr>
              <a:t> </a:t>
            </a:r>
            <a:r>
              <a:rPr lang="zh-CN" altLang="en-US" sz="1400" dirty="0" smtClean="0">
                <a:latin typeface="微软雅黑" panose="020B0503020204020204" pitchFamily="34" charset="-122"/>
                <a:ea typeface="微软雅黑" panose="020B0503020204020204" pitchFamily="34" charset="-122"/>
              </a:rPr>
              <a:t>      （</a:t>
            </a:r>
            <a:r>
              <a:rPr lang="en-US" altLang="zh-CN" sz="1400" dirty="0" smtClean="0">
                <a:latin typeface="微软雅黑" panose="020B0503020204020204" pitchFamily="34" charset="-122"/>
                <a:ea typeface="微软雅黑" panose="020B0503020204020204" pitchFamily="34" charset="-122"/>
              </a:rPr>
              <a:t>2</a:t>
            </a:r>
            <a:r>
              <a:rPr lang="zh-CN" altLang="en-US" sz="1400" dirty="0" smtClean="0">
                <a:latin typeface="微软雅黑" panose="020B0503020204020204" pitchFamily="34" charset="-122"/>
                <a:ea typeface="微软雅黑" panose="020B0503020204020204" pitchFamily="34" charset="-122"/>
              </a:rPr>
              <a:t>）原理</a:t>
            </a:r>
            <a:r>
              <a:rPr lang="zh-CN" altLang="en-US" sz="1400" dirty="0">
                <a:latin typeface="微软雅黑" panose="020B0503020204020204" pitchFamily="34" charset="-122"/>
                <a:ea typeface="微软雅黑" panose="020B0503020204020204" pitchFamily="34" charset="-122"/>
              </a:rPr>
              <a:t>相同</a:t>
            </a:r>
          </a:p>
          <a:p>
            <a:r>
              <a:rPr lang="zh-CN" altLang="en-US" sz="1400" dirty="0">
                <a:latin typeface="微软雅黑" panose="020B0503020204020204" pitchFamily="34" charset="-122"/>
                <a:ea typeface="微软雅黑" panose="020B0503020204020204" pitchFamily="34" charset="-122"/>
              </a:rPr>
              <a:t>   </a:t>
            </a:r>
            <a:r>
              <a:rPr lang="zh-CN" altLang="en-US" sz="1400" dirty="0" smtClean="0">
                <a:latin typeface="微软雅黑" panose="020B0503020204020204" pitchFamily="34" charset="-122"/>
                <a:ea typeface="微软雅黑" panose="020B0503020204020204" pitchFamily="34" charset="-122"/>
              </a:rPr>
              <a:t>   都是</a:t>
            </a:r>
            <a:r>
              <a:rPr lang="zh-CN" altLang="en-US" sz="1400" dirty="0">
                <a:latin typeface="微软雅黑" panose="020B0503020204020204" pitchFamily="34" charset="-122"/>
                <a:ea typeface="微软雅黑" panose="020B0503020204020204" pitchFamily="34" charset="-122"/>
              </a:rPr>
              <a:t>利用了程序运行时的局部性原理把最近常用的信息块从相对慢速而大容量的存储器调入相对高速而小容量的存储器</a:t>
            </a:r>
            <a:r>
              <a:rPr lang="zh-CN" altLang="en-US" sz="1400" dirty="0" smtClean="0">
                <a:latin typeface="微软雅黑" panose="020B0503020204020204" pitchFamily="34" charset="-122"/>
                <a:ea typeface="微软雅黑" panose="020B0503020204020204" pitchFamily="34" charset="-122"/>
              </a:rPr>
              <a:t>。</a:t>
            </a:r>
            <a:endParaRPr lang="en-US" altLang="zh-CN" sz="1400" dirty="0" smtClean="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 </a:t>
            </a:r>
            <a:r>
              <a:rPr lang="zh-CN" altLang="en-US" sz="1400" dirty="0" smtClean="0">
                <a:latin typeface="微软雅黑" panose="020B0503020204020204" pitchFamily="34" charset="-122"/>
                <a:ea typeface="微软雅黑" panose="020B0503020204020204" pitchFamily="34" charset="-122"/>
              </a:rPr>
              <a:t>      </a:t>
            </a:r>
            <a:r>
              <a:rPr lang="en-US" altLang="zh-CN" sz="1400" dirty="0" smtClean="0">
                <a:latin typeface="微软雅黑" panose="020B0503020204020204" pitchFamily="34" charset="-122"/>
                <a:ea typeface="微软雅黑" panose="020B0503020204020204" pitchFamily="34" charset="-122"/>
              </a:rPr>
              <a:t>5. </a:t>
            </a:r>
            <a:r>
              <a:rPr lang="zh-CN" altLang="en-US" sz="1400" dirty="0" smtClean="0">
                <a:latin typeface="微软雅黑" panose="020B0503020204020204" pitchFamily="34" charset="-122"/>
                <a:ea typeface="微软雅黑" panose="020B0503020204020204" pitchFamily="34" charset="-122"/>
              </a:rPr>
              <a:t>（</a:t>
            </a:r>
            <a:r>
              <a:rPr lang="en-US" altLang="zh-CN" sz="1400" dirty="0" smtClean="0">
                <a:latin typeface="微软雅黑" panose="020B0503020204020204" pitchFamily="34" charset="-122"/>
                <a:ea typeface="微软雅黑" panose="020B0503020204020204" pitchFamily="34" charset="-122"/>
              </a:rPr>
              <a:t>1</a:t>
            </a:r>
            <a:r>
              <a:rPr lang="zh-CN" altLang="en-US" sz="1400" dirty="0" smtClean="0">
                <a:latin typeface="微软雅黑" panose="020B0503020204020204" pitchFamily="34" charset="-122"/>
                <a:ea typeface="微软雅黑" panose="020B0503020204020204" pitchFamily="34" charset="-122"/>
              </a:rPr>
              <a:t>）侧重点</a:t>
            </a:r>
            <a:r>
              <a:rPr lang="zh-CN" altLang="en-US" sz="1400" dirty="0">
                <a:latin typeface="微软雅黑" panose="020B0503020204020204" pitchFamily="34" charset="-122"/>
                <a:ea typeface="微软雅黑" panose="020B0503020204020204" pitchFamily="34" charset="-122"/>
              </a:rPr>
              <a:t>不同</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   </a:t>
            </a:r>
            <a:r>
              <a:rPr lang="zh-CN" altLang="en-US" sz="1400" dirty="0" smtClean="0">
                <a:latin typeface="微软雅黑" panose="020B0503020204020204" pitchFamily="34" charset="-122"/>
                <a:ea typeface="微软雅黑" panose="020B0503020204020204" pitchFamily="34" charset="-122"/>
              </a:rPr>
              <a:t>        （</a:t>
            </a:r>
            <a:r>
              <a:rPr lang="en-US" altLang="zh-CN" sz="1400" dirty="0" smtClean="0">
                <a:latin typeface="微软雅黑" panose="020B0503020204020204" pitchFamily="34" charset="-122"/>
                <a:ea typeface="微软雅黑" panose="020B0503020204020204" pitchFamily="34" charset="-122"/>
              </a:rPr>
              <a:t>2</a:t>
            </a:r>
            <a:r>
              <a:rPr lang="zh-CN" altLang="en-US" sz="1400" dirty="0" smtClean="0">
                <a:latin typeface="微软雅黑" panose="020B0503020204020204" pitchFamily="34" charset="-122"/>
                <a:ea typeface="微软雅黑" panose="020B0503020204020204" pitchFamily="34" charset="-122"/>
              </a:rPr>
              <a:t>）数据</a:t>
            </a:r>
            <a:r>
              <a:rPr lang="zh-CN" altLang="en-US" sz="1400" dirty="0">
                <a:latin typeface="微软雅黑" panose="020B0503020204020204" pitchFamily="34" charset="-122"/>
                <a:ea typeface="微软雅黑" panose="020B0503020204020204" pitchFamily="34" charset="-122"/>
              </a:rPr>
              <a:t>通路不同</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  </a:t>
            </a:r>
            <a:r>
              <a:rPr lang="zh-CN" altLang="en-US" sz="1400" dirty="0" smtClean="0">
                <a:latin typeface="微软雅黑" panose="020B0503020204020204" pitchFamily="34" charset="-122"/>
                <a:ea typeface="微软雅黑" panose="020B0503020204020204" pitchFamily="34" charset="-122"/>
              </a:rPr>
              <a:t>         （</a:t>
            </a:r>
            <a:r>
              <a:rPr lang="en-US" altLang="zh-CN" sz="1400" dirty="0" smtClean="0">
                <a:latin typeface="微软雅黑" panose="020B0503020204020204" pitchFamily="34" charset="-122"/>
                <a:ea typeface="微软雅黑" panose="020B0503020204020204" pitchFamily="34" charset="-122"/>
              </a:rPr>
              <a:t>3</a:t>
            </a:r>
            <a:r>
              <a:rPr lang="zh-CN" altLang="en-US" sz="1400" dirty="0" smtClean="0">
                <a:latin typeface="微软雅黑" panose="020B0503020204020204" pitchFamily="34" charset="-122"/>
                <a:ea typeface="微软雅黑" panose="020B0503020204020204" pitchFamily="34" charset="-122"/>
              </a:rPr>
              <a:t>）透明性</a:t>
            </a:r>
            <a:r>
              <a:rPr lang="zh-CN" altLang="en-US" sz="1400" dirty="0">
                <a:latin typeface="微软雅黑" panose="020B0503020204020204" pitchFamily="34" charset="-122"/>
                <a:ea typeface="微软雅黑" panose="020B0503020204020204" pitchFamily="34" charset="-122"/>
              </a:rPr>
              <a:t>不同</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   </a:t>
            </a:r>
            <a:r>
              <a:rPr lang="zh-CN" altLang="en-US" sz="1400" dirty="0" smtClean="0">
                <a:latin typeface="微软雅黑" panose="020B0503020204020204" pitchFamily="34" charset="-122"/>
                <a:ea typeface="微软雅黑" panose="020B0503020204020204" pitchFamily="34" charset="-122"/>
              </a:rPr>
              <a:t>        （</a:t>
            </a:r>
            <a:r>
              <a:rPr lang="en-US" altLang="zh-CN" sz="1400" dirty="0" smtClean="0">
                <a:latin typeface="微软雅黑" panose="020B0503020204020204" pitchFamily="34" charset="-122"/>
                <a:ea typeface="微软雅黑" panose="020B0503020204020204" pitchFamily="34" charset="-122"/>
              </a:rPr>
              <a:t>4</a:t>
            </a:r>
            <a:r>
              <a:rPr lang="zh-CN" altLang="en-US" sz="1400" dirty="0" smtClean="0">
                <a:latin typeface="微软雅黑" panose="020B0503020204020204" pitchFamily="34" charset="-122"/>
                <a:ea typeface="微软雅黑" panose="020B0503020204020204" pitchFamily="34" charset="-122"/>
              </a:rPr>
              <a:t>）未命中</a:t>
            </a:r>
            <a:r>
              <a:rPr lang="zh-CN" altLang="en-US" sz="1400" dirty="0">
                <a:latin typeface="微软雅黑" panose="020B0503020204020204" pitchFamily="34" charset="-122"/>
                <a:ea typeface="微软雅黑" panose="020B0503020204020204" pitchFamily="34" charset="-122"/>
              </a:rPr>
              <a:t>时的损失</a:t>
            </a:r>
            <a:r>
              <a:rPr lang="zh-CN" altLang="en-US" sz="1400" dirty="0" smtClean="0">
                <a:latin typeface="微软雅黑" panose="020B0503020204020204" pitchFamily="34" charset="-122"/>
                <a:ea typeface="微软雅黑" panose="020B0503020204020204" pitchFamily="34" charset="-122"/>
              </a:rPr>
              <a:t>不同</a:t>
            </a:r>
            <a:endParaRPr lang="en-US" altLang="zh-CN" sz="1400" dirty="0" smtClean="0">
              <a:latin typeface="微软雅黑" panose="020B0503020204020204" pitchFamily="34" charset="-122"/>
              <a:ea typeface="微软雅黑" panose="020B0503020204020204" pitchFamily="34" charset="-122"/>
            </a:endParaRPr>
          </a:p>
          <a:p>
            <a:pPr>
              <a:buFont typeface="Wingdings" pitchFamily="2" charset="2"/>
              <a:buNone/>
            </a:pPr>
            <a:r>
              <a:rPr lang="en-US" altLang="zh-CN" sz="1400" dirty="0" smtClean="0">
                <a:latin typeface="微软雅黑" panose="020B0503020204020204" pitchFamily="34" charset="-122"/>
                <a:ea typeface="微软雅黑" panose="020B0503020204020204" pitchFamily="34" charset="-122"/>
              </a:rPr>
              <a:t>      6. </a:t>
            </a:r>
            <a:r>
              <a:rPr lang="zh-CN" altLang="en-US" sz="1400" dirty="0" smtClean="0">
                <a:latin typeface="微软雅黑" panose="020B0503020204020204" pitchFamily="34" charset="-122"/>
                <a:ea typeface="微软雅黑" panose="020B0503020204020204" pitchFamily="34" charset="-122"/>
              </a:rPr>
              <a:t>段式虚拟存储器有许多优点：</a:t>
            </a:r>
            <a:endParaRPr lang="zh-CN" altLang="en-US" sz="1400" dirty="0">
              <a:latin typeface="微软雅黑" panose="020B0503020204020204" pitchFamily="34" charset="-122"/>
              <a:ea typeface="微软雅黑" panose="020B0503020204020204" pitchFamily="34" charset="-122"/>
            </a:endParaRPr>
          </a:p>
          <a:p>
            <a:pPr lvl="1">
              <a:buFont typeface="Wingdings" pitchFamily="2" charset="2"/>
              <a:buNone/>
            </a:pPr>
            <a:r>
              <a:rPr lang="zh-CN" altLang="en-US" sz="1400" dirty="0" smtClean="0">
                <a:latin typeface="微软雅黑" panose="020B0503020204020204" pitchFamily="34" charset="-122"/>
                <a:ea typeface="微软雅黑" panose="020B0503020204020204" pitchFamily="34" charset="-122"/>
              </a:rPr>
              <a:t>（</a:t>
            </a:r>
            <a:r>
              <a:rPr lang="en-US" altLang="zh-CN" sz="1400" dirty="0" smtClean="0">
                <a:latin typeface="微软雅黑" panose="020B0503020204020204" pitchFamily="34" charset="-122"/>
                <a:ea typeface="微软雅黑" panose="020B0503020204020204" pitchFamily="34" charset="-122"/>
              </a:rPr>
              <a:t>1</a:t>
            </a:r>
            <a:r>
              <a:rPr lang="zh-CN" altLang="en-US" sz="1400" dirty="0" smtClean="0">
                <a:latin typeface="微软雅黑" panose="020B0503020204020204" pitchFamily="34" charset="-122"/>
                <a:ea typeface="微软雅黑" panose="020B0503020204020204" pitchFamily="34" charset="-122"/>
              </a:rPr>
              <a:t>）段</a:t>
            </a:r>
            <a:r>
              <a:rPr lang="zh-CN" altLang="en-US" sz="1400" dirty="0">
                <a:latin typeface="微软雅黑" panose="020B0503020204020204" pitchFamily="34" charset="-122"/>
                <a:ea typeface="微软雅黑" panose="020B0503020204020204" pitchFamily="34" charset="-122"/>
              </a:rPr>
              <a:t>的逻辑独立性使其易于编译、管理、修改和保护，也便于多道程序共享</a:t>
            </a:r>
            <a:r>
              <a:rPr lang="zh-CN" altLang="en-US" sz="1400" dirty="0" smtClean="0">
                <a:latin typeface="微软雅黑" panose="020B0503020204020204" pitchFamily="34" charset="-122"/>
                <a:ea typeface="微软雅黑" panose="020B0503020204020204" pitchFamily="34" charset="-122"/>
              </a:rPr>
              <a:t>。</a:t>
            </a:r>
            <a:endParaRPr lang="en-US" altLang="zh-CN" sz="1400" dirty="0" smtClean="0">
              <a:latin typeface="微软雅黑" panose="020B0503020204020204" pitchFamily="34" charset="-122"/>
              <a:ea typeface="微软雅黑" panose="020B0503020204020204" pitchFamily="34" charset="-122"/>
            </a:endParaRPr>
          </a:p>
          <a:p>
            <a:pPr lvl="1">
              <a:buFont typeface="Wingdings" pitchFamily="2" charset="2"/>
              <a:buNone/>
            </a:pPr>
            <a:r>
              <a:rPr lang="zh-CN" altLang="en-US" sz="1400" dirty="0" smtClean="0">
                <a:latin typeface="微软雅黑" panose="020B0503020204020204" pitchFamily="34" charset="-122"/>
                <a:ea typeface="微软雅黑" panose="020B0503020204020204" pitchFamily="34" charset="-122"/>
              </a:rPr>
              <a:t>（</a:t>
            </a:r>
            <a:r>
              <a:rPr lang="en-US" altLang="zh-CN" sz="1400" dirty="0" smtClean="0">
                <a:latin typeface="微软雅黑" panose="020B0503020204020204" pitchFamily="34" charset="-122"/>
                <a:ea typeface="微软雅黑" panose="020B0503020204020204" pitchFamily="34" charset="-122"/>
              </a:rPr>
              <a:t>2</a:t>
            </a:r>
            <a:r>
              <a:rPr lang="zh-CN" altLang="en-US" sz="1400" dirty="0" smtClean="0">
                <a:latin typeface="微软雅黑" panose="020B0503020204020204" pitchFamily="34" charset="-122"/>
                <a:ea typeface="微软雅黑" panose="020B0503020204020204" pitchFamily="34" charset="-122"/>
              </a:rPr>
              <a:t>）段长</a:t>
            </a:r>
            <a:r>
              <a:rPr lang="zh-CN" altLang="en-US" sz="1400" dirty="0">
                <a:latin typeface="微软雅黑" panose="020B0503020204020204" pitchFamily="34" charset="-122"/>
                <a:ea typeface="微软雅黑" panose="020B0503020204020204" pitchFamily="34" charset="-122"/>
              </a:rPr>
              <a:t>可以根据需要动态改变，允许自由调度，以便有效利用主存空间。</a:t>
            </a:r>
          </a:p>
          <a:p>
            <a:r>
              <a:rPr lang="zh-CN" altLang="en-US" sz="1400" dirty="0" smtClean="0">
                <a:latin typeface="微软雅黑" panose="020B0503020204020204" pitchFamily="34" charset="-122"/>
                <a:ea typeface="微软雅黑" panose="020B0503020204020204" pitchFamily="34" charset="-122"/>
              </a:rPr>
              <a:t>         段式</a:t>
            </a:r>
            <a:r>
              <a:rPr lang="zh-CN" altLang="en-US" sz="1400" dirty="0">
                <a:latin typeface="微软雅黑" panose="020B0503020204020204" pitchFamily="34" charset="-122"/>
                <a:ea typeface="微软雅黑" panose="020B0503020204020204" pitchFamily="34" charset="-122"/>
              </a:rPr>
              <a:t>虚拟存储器也有一些缺点：</a:t>
            </a:r>
          </a:p>
          <a:p>
            <a:pPr lvl="1">
              <a:buFont typeface="Wingdings" pitchFamily="2" charset="2"/>
              <a:buNone/>
            </a:pPr>
            <a:r>
              <a:rPr lang="zh-CN" altLang="en-US" sz="1400" dirty="0" smtClean="0">
                <a:latin typeface="微软雅黑" panose="020B0503020204020204" pitchFamily="34" charset="-122"/>
                <a:ea typeface="微软雅黑" panose="020B0503020204020204" pitchFamily="34" charset="-122"/>
              </a:rPr>
              <a:t>（</a:t>
            </a:r>
            <a:r>
              <a:rPr lang="en-US" altLang="zh-CN" sz="1400" dirty="0" smtClean="0">
                <a:latin typeface="微软雅黑" panose="020B0503020204020204" pitchFamily="34" charset="-122"/>
                <a:ea typeface="微软雅黑" panose="020B0503020204020204" pitchFamily="34" charset="-122"/>
              </a:rPr>
              <a:t>1</a:t>
            </a:r>
            <a:r>
              <a:rPr lang="zh-CN" altLang="en-US" sz="1400" dirty="0" smtClean="0">
                <a:latin typeface="微软雅黑" panose="020B0503020204020204" pitchFamily="34" charset="-122"/>
                <a:ea typeface="微软雅黑" panose="020B0503020204020204" pitchFamily="34" charset="-122"/>
              </a:rPr>
              <a:t>）因为</a:t>
            </a:r>
            <a:r>
              <a:rPr lang="zh-CN" altLang="en-US" sz="1400" dirty="0">
                <a:latin typeface="微软雅黑" panose="020B0503020204020204" pitchFamily="34" charset="-122"/>
                <a:ea typeface="微软雅黑" panose="020B0503020204020204" pitchFamily="34" charset="-122"/>
              </a:rPr>
              <a:t>段的长度不固定，主存空间分配比较麻烦。</a:t>
            </a:r>
          </a:p>
          <a:p>
            <a:pPr lvl="1">
              <a:buFont typeface="Wingdings" pitchFamily="2" charset="2"/>
              <a:buNone/>
            </a:pPr>
            <a:r>
              <a:rPr lang="zh-CN" altLang="en-US" sz="1400" dirty="0" smtClean="0">
                <a:latin typeface="微软雅黑" panose="020B0503020204020204" pitchFamily="34" charset="-122"/>
                <a:ea typeface="微软雅黑" panose="020B0503020204020204" pitchFamily="34" charset="-122"/>
              </a:rPr>
              <a:t>（</a:t>
            </a:r>
            <a:r>
              <a:rPr lang="en-US" altLang="zh-CN" sz="1400" dirty="0" smtClean="0">
                <a:latin typeface="微软雅黑" panose="020B0503020204020204" pitchFamily="34" charset="-122"/>
                <a:ea typeface="微软雅黑" panose="020B0503020204020204" pitchFamily="34" charset="-122"/>
              </a:rPr>
              <a:t>2</a:t>
            </a:r>
            <a:r>
              <a:rPr lang="zh-CN" altLang="en-US" sz="1400" dirty="0" smtClean="0">
                <a:latin typeface="微软雅黑" panose="020B0503020204020204" pitchFamily="34" charset="-122"/>
                <a:ea typeface="微软雅黑" panose="020B0503020204020204" pitchFamily="34" charset="-122"/>
              </a:rPr>
              <a:t>）容易</a:t>
            </a:r>
            <a:r>
              <a:rPr lang="zh-CN" altLang="en-US" sz="1400" dirty="0">
                <a:latin typeface="微软雅黑" panose="020B0503020204020204" pitchFamily="34" charset="-122"/>
                <a:ea typeface="微软雅黑" panose="020B0503020204020204" pitchFamily="34" charset="-122"/>
              </a:rPr>
              <a:t>在段间留下许多外碎片，存储空间利用率降低。</a:t>
            </a:r>
          </a:p>
          <a:p>
            <a:pPr lvl="1">
              <a:buFont typeface="Wingdings" pitchFamily="2" charset="2"/>
              <a:buNone/>
            </a:pPr>
            <a:r>
              <a:rPr lang="zh-CN" altLang="en-US" sz="1400" dirty="0" smtClean="0">
                <a:latin typeface="微软雅黑" panose="020B0503020204020204" pitchFamily="34" charset="-122"/>
                <a:ea typeface="微软雅黑" panose="020B0503020204020204" pitchFamily="34" charset="-122"/>
              </a:rPr>
              <a:t>（</a:t>
            </a:r>
            <a:r>
              <a:rPr lang="en-US" altLang="zh-CN" sz="1400" dirty="0" smtClean="0">
                <a:latin typeface="微软雅黑" panose="020B0503020204020204" pitchFamily="34" charset="-122"/>
                <a:ea typeface="微软雅黑" panose="020B0503020204020204" pitchFamily="34" charset="-122"/>
              </a:rPr>
              <a:t>3</a:t>
            </a:r>
            <a:r>
              <a:rPr lang="zh-CN" altLang="en-US" sz="1400" dirty="0" smtClean="0">
                <a:latin typeface="微软雅黑" panose="020B0503020204020204" pitchFamily="34" charset="-122"/>
                <a:ea typeface="微软雅黑" panose="020B0503020204020204" pitchFamily="34" charset="-122"/>
              </a:rPr>
              <a:t>）由于</a:t>
            </a:r>
            <a:r>
              <a:rPr lang="zh-CN" altLang="en-US" sz="1400" dirty="0">
                <a:latin typeface="微软雅黑" panose="020B0503020204020204" pitchFamily="34" charset="-122"/>
                <a:ea typeface="微软雅黑" panose="020B0503020204020204" pitchFamily="34" charset="-122"/>
              </a:rPr>
              <a:t>段长不一定是</a:t>
            </a: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的整数次幂，因而不能简单地像分页方式那样用虚地址和实地址的最低若干二进制位作为段内偏移量，并与段号进行直接拼接，必须用加法操作通过段起址与段内偏移量的求和运算求得物理地址。因此，段式存储管理比页式存储管理方式需要更多的硬件支持</a:t>
            </a:r>
            <a:r>
              <a:rPr lang="zh-CN" altLang="en-US" sz="1400" dirty="0" smtClean="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531659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2389E59-C5A6-44E3-A52F-17267A6A2DAA}" type="slidenum">
              <a:rPr lang="en-US" altLang="zh-CN" smtClean="0"/>
              <a:pPr>
                <a:defRPr/>
              </a:pPr>
              <a:t>133</a:t>
            </a:fld>
            <a:endParaRPr lang="en-US" altLang="zh-CN"/>
          </a:p>
        </p:txBody>
      </p:sp>
      <p:sp>
        <p:nvSpPr>
          <p:cNvPr id="3" name="矩形 2"/>
          <p:cNvSpPr/>
          <p:nvPr/>
        </p:nvSpPr>
        <p:spPr>
          <a:xfrm>
            <a:off x="153988" y="66469"/>
            <a:ext cx="8785225" cy="6740307"/>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lnSpc>
                <a:spcPct val="120000"/>
              </a:lnSpc>
              <a:defRPr/>
            </a:pPr>
            <a:r>
              <a:rPr lang="zh-CN" altLang="en-US" sz="2400" b="1" dirty="0" smtClean="0">
                <a:solidFill>
                  <a:srgbClr val="FF0000"/>
                </a:solidFill>
                <a:latin typeface="微软雅黑" panose="020B0503020204020204" pitchFamily="34" charset="-122"/>
                <a:ea typeface="微软雅黑" panose="020B0503020204020204" pitchFamily="34" charset="-122"/>
              </a:rPr>
              <a:t>答案</a:t>
            </a:r>
            <a:endParaRPr lang="en-US" altLang="zh-CN" sz="2400" b="1" dirty="0">
              <a:solidFill>
                <a:srgbClr val="FF0000"/>
              </a:solidFill>
              <a:latin typeface="微软雅黑" panose="020B0503020204020204" pitchFamily="34" charset="-122"/>
              <a:ea typeface="微软雅黑" panose="020B0503020204020204" pitchFamily="34" charset="-122"/>
            </a:endParaRPr>
          </a:p>
          <a:p>
            <a:pPr>
              <a:lnSpc>
                <a:spcPct val="120000"/>
              </a:lnSpc>
              <a:defRPr/>
            </a:pPr>
            <a:r>
              <a:rPr lang="en-US" altLang="zh-CN" sz="2400" dirty="0" smtClean="0">
                <a:solidFill>
                  <a:schemeClr val="tx1"/>
                </a:solidFill>
                <a:latin typeface="微软雅黑" panose="020B0503020204020204" pitchFamily="34" charset="-122"/>
                <a:ea typeface="微软雅黑" panose="020B0503020204020204" pitchFamily="34" charset="-122"/>
              </a:rPr>
              <a:t>7. </a:t>
            </a:r>
            <a:r>
              <a:rPr lang="zh-CN" altLang="zh-CN" sz="2400" dirty="0" smtClean="0">
                <a:solidFill>
                  <a:schemeClr val="tx1"/>
                </a:solidFill>
                <a:latin typeface="微软雅黑" panose="020B0503020204020204" pitchFamily="34" charset="-122"/>
                <a:ea typeface="微软雅黑" panose="020B0503020204020204" pitchFamily="34" charset="-122"/>
              </a:rPr>
              <a:t>解</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Cache</a:t>
            </a:r>
            <a:r>
              <a:rPr lang="zh-CN" altLang="zh-CN" sz="2400" dirty="0">
                <a:solidFill>
                  <a:schemeClr val="tx1"/>
                </a:solidFill>
                <a:latin typeface="微软雅黑" panose="020B0503020204020204" pitchFamily="34" charset="-122"/>
                <a:ea typeface="微软雅黑" panose="020B0503020204020204" pitchFamily="34" charset="-122"/>
              </a:rPr>
              <a:t>每</a:t>
            </a:r>
            <a:r>
              <a:rPr lang="zh-CN" altLang="zh-CN" sz="2400" dirty="0" smtClean="0">
                <a:solidFill>
                  <a:schemeClr val="tx1"/>
                </a:solidFill>
                <a:latin typeface="微软雅黑" panose="020B0503020204020204" pitchFamily="34" charset="-122"/>
                <a:ea typeface="微软雅黑" panose="020B0503020204020204" pitchFamily="34" charset="-122"/>
              </a:rPr>
              <a:t>行</a:t>
            </a:r>
            <a:r>
              <a:rPr lang="en-US" altLang="zh-CN" sz="2400" dirty="0" smtClean="0">
                <a:solidFill>
                  <a:schemeClr val="tx1"/>
                </a:solidFill>
                <a:latin typeface="微软雅黑" panose="020B0503020204020204" pitchFamily="34" charset="-122"/>
                <a:ea typeface="微软雅黑" panose="020B0503020204020204" pitchFamily="34" charset="-122"/>
              </a:rPr>
              <a:t>64</a:t>
            </a:r>
            <a:r>
              <a:rPr lang="zh-CN" altLang="zh-CN" sz="2400" dirty="0" smtClean="0">
                <a:solidFill>
                  <a:schemeClr val="tx1"/>
                </a:solidFill>
                <a:latin typeface="微软雅黑" panose="020B0503020204020204" pitchFamily="34" charset="-122"/>
                <a:ea typeface="微软雅黑" panose="020B0503020204020204" pitchFamily="34" charset="-122"/>
              </a:rPr>
              <a:t>个</a:t>
            </a:r>
            <a:r>
              <a:rPr lang="zh-CN" altLang="zh-CN" sz="2400" dirty="0">
                <a:solidFill>
                  <a:schemeClr val="tx1"/>
                </a:solidFill>
                <a:latin typeface="微软雅黑" panose="020B0503020204020204" pitchFamily="34" charset="-122"/>
                <a:ea typeface="微软雅黑" panose="020B0503020204020204" pitchFamily="34" charset="-122"/>
              </a:rPr>
              <a:t>字节，</a:t>
            </a:r>
            <a:r>
              <a:rPr lang="zh-CN" altLang="zh-CN" sz="2400" dirty="0" smtClean="0">
                <a:solidFill>
                  <a:schemeClr val="tx1"/>
                </a:solidFill>
                <a:latin typeface="微软雅黑" panose="020B0503020204020204" pitchFamily="34" charset="-122"/>
                <a:ea typeface="微软雅黑" panose="020B0503020204020204" pitchFamily="34" charset="-122"/>
              </a:rPr>
              <a:t>需</a:t>
            </a:r>
            <a:r>
              <a:rPr lang="en-US" altLang="zh-CN" sz="2400" dirty="0" smtClean="0">
                <a:solidFill>
                  <a:schemeClr val="tx1"/>
                </a:solidFill>
                <a:latin typeface="微软雅黑" panose="020B0503020204020204" pitchFamily="34" charset="-122"/>
                <a:ea typeface="微软雅黑" panose="020B0503020204020204" pitchFamily="34" charset="-122"/>
              </a:rPr>
              <a:t>6</a:t>
            </a:r>
            <a:r>
              <a:rPr lang="zh-CN" altLang="zh-CN" sz="2400" dirty="0" smtClean="0">
                <a:solidFill>
                  <a:schemeClr val="tx1"/>
                </a:solidFill>
                <a:latin typeface="微软雅黑" panose="020B0503020204020204" pitchFamily="34" charset="-122"/>
                <a:ea typeface="微软雅黑" panose="020B0503020204020204" pitchFamily="34" charset="-122"/>
              </a:rPr>
              <a:t>位地址</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Cache</a:t>
            </a:r>
            <a:r>
              <a:rPr lang="zh-CN" altLang="zh-CN" sz="2400" dirty="0" smtClean="0">
                <a:solidFill>
                  <a:schemeClr val="tx1"/>
                </a:solidFill>
                <a:latin typeface="微软雅黑" panose="020B0503020204020204" pitchFamily="34" charset="-122"/>
                <a:ea typeface="微软雅黑" panose="020B0503020204020204" pitchFamily="34" charset="-122"/>
              </a:rPr>
              <a:t>有</a:t>
            </a:r>
            <a:r>
              <a:rPr lang="en-US" altLang="zh-CN" sz="2400" dirty="0" smtClean="0">
                <a:solidFill>
                  <a:schemeClr val="tx1"/>
                </a:solidFill>
                <a:latin typeface="微软雅黑" panose="020B0503020204020204" pitchFamily="34" charset="-122"/>
                <a:ea typeface="微软雅黑" panose="020B0503020204020204" pitchFamily="34" charset="-122"/>
              </a:rPr>
              <a:t>32</a:t>
            </a:r>
            <a:r>
              <a:rPr lang="zh-CN" altLang="en-US" sz="2400" dirty="0" smtClean="0">
                <a:solidFill>
                  <a:schemeClr val="tx1"/>
                </a:solidFill>
                <a:latin typeface="微软雅黑" panose="020B0503020204020204" pitchFamily="34" charset="-122"/>
                <a:ea typeface="微软雅黑" panose="020B0503020204020204" pitchFamily="34" charset="-122"/>
              </a:rPr>
              <a:t>行，</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20000"/>
              </a:lnSpc>
              <a:defRPr/>
            </a:pP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需</a:t>
            </a:r>
            <a:r>
              <a:rPr lang="en-US" altLang="zh-CN" sz="2400" dirty="0" smtClean="0">
                <a:solidFill>
                  <a:schemeClr val="tx1"/>
                </a:solidFill>
                <a:latin typeface="微软雅黑" panose="020B0503020204020204" pitchFamily="34" charset="-122"/>
                <a:ea typeface="微软雅黑" panose="020B0503020204020204" pitchFamily="34" charset="-122"/>
              </a:rPr>
              <a:t>5</a:t>
            </a:r>
            <a:r>
              <a:rPr lang="zh-CN" altLang="zh-CN" sz="2400" dirty="0" smtClean="0">
                <a:solidFill>
                  <a:schemeClr val="tx1"/>
                </a:solidFill>
                <a:latin typeface="微软雅黑" panose="020B0503020204020204" pitchFamily="34" charset="-122"/>
                <a:ea typeface="微软雅黑" panose="020B0503020204020204" pitchFamily="34" charset="-122"/>
              </a:rPr>
              <a:t>位地址</a:t>
            </a:r>
            <a:r>
              <a:rPr lang="zh-CN" altLang="zh-CN" sz="2400" dirty="0" smtClean="0">
                <a:latin typeface="微软雅黑" panose="020B0503020204020204" pitchFamily="34" charset="-122"/>
                <a:ea typeface="微软雅黑" panose="020B0503020204020204" pitchFamily="34" charset="-122"/>
              </a:rPr>
              <a:t>主存</a:t>
            </a:r>
            <a:r>
              <a:rPr lang="zh-CN" altLang="zh-CN" sz="2400" dirty="0">
                <a:latin typeface="微软雅黑" panose="020B0503020204020204" pitchFamily="34" charset="-122"/>
                <a:ea typeface="微软雅黑" panose="020B0503020204020204" pitchFamily="34" charset="-122"/>
              </a:rPr>
              <a:t>包含</a:t>
            </a:r>
            <a:r>
              <a:rPr lang="en-US" altLang="zh-CN" sz="2400" dirty="0">
                <a:latin typeface="微软雅黑" panose="020B0503020204020204" pitchFamily="34" charset="-122"/>
                <a:ea typeface="微软雅黑" panose="020B0503020204020204" pitchFamily="34" charset="-122"/>
              </a:rPr>
              <a:t>4096</a:t>
            </a:r>
            <a:r>
              <a:rPr lang="zh-CN" altLang="zh-CN" sz="2400" dirty="0">
                <a:latin typeface="微软雅黑" panose="020B0503020204020204" pitchFamily="34" charset="-122"/>
                <a:ea typeface="微软雅黑" panose="020B0503020204020204" pitchFamily="34" charset="-122"/>
              </a:rPr>
              <a:t>个块</a:t>
            </a:r>
            <a:r>
              <a:rPr lang="zh-CN" altLang="zh-CN" sz="2400" dirty="0" smtClean="0">
                <a:latin typeface="微软雅黑" panose="020B0503020204020204" pitchFamily="34" charset="-122"/>
                <a:ea typeface="微软雅黑" panose="020B0503020204020204" pitchFamily="34" charset="-122"/>
              </a:rPr>
              <a:t>，</a:t>
            </a:r>
            <a:r>
              <a:rPr lang="zh-CN" altLang="zh-CN" sz="2400" dirty="0" smtClean="0">
                <a:solidFill>
                  <a:schemeClr val="tx1"/>
                </a:solidFill>
                <a:latin typeface="微软雅黑" panose="020B0503020204020204" pitchFamily="34" charset="-122"/>
                <a:ea typeface="微软雅黑" panose="020B0503020204020204" pitchFamily="34" charset="-122"/>
              </a:rPr>
              <a:t>需</a:t>
            </a:r>
            <a:r>
              <a:rPr lang="en-US" altLang="zh-CN" sz="2400" dirty="0" smtClean="0">
                <a:solidFill>
                  <a:schemeClr val="tx1"/>
                </a:solidFill>
                <a:latin typeface="微软雅黑" panose="020B0503020204020204" pitchFamily="34" charset="-122"/>
                <a:ea typeface="微软雅黑" panose="020B0503020204020204" pitchFamily="34" charset="-122"/>
              </a:rPr>
              <a:t>12</a:t>
            </a:r>
            <a:r>
              <a:rPr lang="zh-CN" altLang="zh-CN" sz="2400" dirty="0" smtClean="0">
                <a:solidFill>
                  <a:schemeClr val="tx1"/>
                </a:solidFill>
                <a:latin typeface="微软雅黑" panose="020B0503020204020204" pitchFamily="34" charset="-122"/>
                <a:ea typeface="微软雅黑" panose="020B0503020204020204" pitchFamily="34" charset="-122"/>
              </a:rPr>
              <a:t>位地址</a:t>
            </a:r>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20000"/>
              </a:lnSpc>
              <a:defRPr/>
            </a:pPr>
            <a:r>
              <a:rPr lang="en-US" altLang="zh-CN" sz="2400" dirty="0" smtClean="0">
                <a:solidFill>
                  <a:schemeClr val="tx1"/>
                </a:solidFill>
                <a:latin typeface="微软雅黑" panose="020B0503020204020204" pitchFamily="34" charset="-122"/>
                <a:ea typeface="微软雅黑" panose="020B0503020204020204" pitchFamily="34" charset="-122"/>
              </a:rPr>
              <a:t>           0E8B9H </a:t>
            </a: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00 1110 1</a:t>
            </a:r>
            <a:r>
              <a:rPr lang="en-US" altLang="zh-CN" sz="2400" b="1" dirty="0" smtClean="0">
                <a:solidFill>
                  <a:srgbClr val="FF3300"/>
                </a:solidFill>
                <a:latin typeface="微软雅黑" panose="020B0503020204020204" pitchFamily="34" charset="-122"/>
                <a:ea typeface="微软雅黑" panose="020B0503020204020204" pitchFamily="34" charset="-122"/>
              </a:rPr>
              <a:t>000 10</a:t>
            </a:r>
            <a:r>
              <a:rPr lang="en-US" altLang="zh-CN" sz="2400" b="1" dirty="0" smtClean="0">
                <a:solidFill>
                  <a:srgbClr val="00B050"/>
                </a:solidFill>
                <a:latin typeface="微软雅黑" panose="020B0503020204020204" pitchFamily="34" charset="-122"/>
                <a:ea typeface="微软雅黑" panose="020B0503020204020204" pitchFamily="34" charset="-122"/>
              </a:rPr>
              <a:t>11 1001</a:t>
            </a:r>
            <a:endParaRPr lang="zh-CN" altLang="zh-CN" sz="2400" b="1" dirty="0">
              <a:solidFill>
                <a:srgbClr val="00B050"/>
              </a:solidFill>
              <a:latin typeface="微软雅黑" panose="020B0503020204020204" pitchFamily="34" charset="-122"/>
              <a:ea typeface="微软雅黑" panose="020B0503020204020204" pitchFamily="34" charset="-122"/>
            </a:endParaRPr>
          </a:p>
          <a:p>
            <a:pPr>
              <a:lnSpc>
                <a:spcPct val="120000"/>
              </a:lnSpc>
              <a:defRPr/>
            </a:pPr>
            <a:r>
              <a:rPr lang="en-US" altLang="zh-CN" sz="2400" dirty="0">
                <a:solidFill>
                  <a:schemeClr val="tx1"/>
                </a:solidFill>
                <a:latin typeface="微软雅黑" panose="020B0503020204020204" pitchFamily="34" charset="-122"/>
                <a:ea typeface="微软雅黑" panose="020B0503020204020204" pitchFamily="34" charset="-122"/>
              </a:rPr>
              <a:t>    </a:t>
            </a: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zh-CN" sz="2400" dirty="0" smtClean="0">
                <a:solidFill>
                  <a:schemeClr val="tx1"/>
                </a:solidFill>
                <a:latin typeface="微软雅黑" panose="020B0503020204020204" pitchFamily="34" charset="-122"/>
                <a:ea typeface="微软雅黑" panose="020B0503020204020204" pitchFamily="34" charset="-122"/>
              </a:rPr>
              <a:t>主存</a:t>
            </a:r>
            <a:r>
              <a:rPr lang="zh-CN" altLang="zh-CN" sz="2400" dirty="0">
                <a:solidFill>
                  <a:schemeClr val="tx1"/>
                </a:solidFill>
                <a:latin typeface="微软雅黑" panose="020B0503020204020204" pitchFamily="34" charset="-122"/>
                <a:ea typeface="微软雅黑" panose="020B0503020204020204" pitchFamily="34" charset="-122"/>
              </a:rPr>
              <a:t>地址</a:t>
            </a:r>
            <a:r>
              <a:rPr lang="zh-CN" altLang="zh-CN" sz="2400" dirty="0" smtClean="0">
                <a:solidFill>
                  <a:schemeClr val="tx1"/>
                </a:solidFill>
                <a:latin typeface="微软雅黑" panose="020B0503020204020204" pitchFamily="34" charset="-122"/>
                <a:ea typeface="微软雅黑" panose="020B0503020204020204" pitchFamily="34" charset="-122"/>
              </a:rPr>
              <a:t>为</a:t>
            </a:r>
            <a:r>
              <a:rPr lang="en-US" altLang="zh-CN" sz="2400" dirty="0" smtClean="0">
                <a:solidFill>
                  <a:schemeClr val="tx1"/>
                </a:solidFill>
                <a:latin typeface="微软雅黑" panose="020B0503020204020204" pitchFamily="34" charset="-122"/>
                <a:ea typeface="微软雅黑" panose="020B0503020204020204" pitchFamily="34" charset="-122"/>
              </a:rPr>
              <a:t>0E8B9H</a:t>
            </a:r>
            <a:r>
              <a:rPr lang="zh-CN" altLang="zh-CN" sz="2400" dirty="0">
                <a:solidFill>
                  <a:schemeClr val="tx1"/>
                </a:solidFill>
                <a:latin typeface="微软雅黑" panose="020B0503020204020204" pitchFamily="34" charset="-122"/>
                <a:ea typeface="微软雅黑" panose="020B0503020204020204" pitchFamily="34" charset="-122"/>
              </a:rPr>
              <a:t>的单元可以</a:t>
            </a:r>
            <a:r>
              <a:rPr lang="zh-CN" altLang="zh-CN" sz="2400" dirty="0" smtClean="0">
                <a:solidFill>
                  <a:schemeClr val="tx1"/>
                </a:solidFill>
                <a:latin typeface="微软雅黑" panose="020B0503020204020204" pitchFamily="34" charset="-122"/>
                <a:ea typeface="微软雅黑" panose="020B0503020204020204" pitchFamily="34" charset="-122"/>
              </a:rPr>
              <a:t>映射到</a:t>
            </a:r>
            <a:r>
              <a:rPr lang="en-US" altLang="zh-CN" sz="2400" dirty="0">
                <a:solidFill>
                  <a:schemeClr val="tx1"/>
                </a:solidFill>
                <a:latin typeface="微软雅黑" panose="020B0503020204020204" pitchFamily="34" charset="-122"/>
                <a:ea typeface="微软雅黑" panose="020B0503020204020204" pitchFamily="34" charset="-122"/>
              </a:rPr>
              <a:t>Cache</a:t>
            </a:r>
            <a:r>
              <a:rPr lang="zh-CN" altLang="zh-CN" sz="2400" dirty="0">
                <a:solidFill>
                  <a:schemeClr val="tx1"/>
                </a:solidFill>
                <a:latin typeface="微软雅黑" panose="020B0503020204020204" pitchFamily="34" charset="-122"/>
                <a:ea typeface="微软雅黑" panose="020B0503020204020204" pitchFamily="34" charset="-122"/>
              </a:rPr>
              <a:t>的第</a:t>
            </a:r>
            <a:r>
              <a:rPr lang="en-US" altLang="zh-CN" sz="2400" dirty="0" smtClean="0">
                <a:solidFill>
                  <a:schemeClr val="tx1"/>
                </a:solidFill>
                <a:latin typeface="微软雅黑" panose="020B0503020204020204" pitchFamily="34" charset="-122"/>
                <a:ea typeface="微软雅黑" panose="020B0503020204020204" pitchFamily="34" charset="-122"/>
              </a:rPr>
              <a:t>2</a:t>
            </a:r>
            <a:r>
              <a:rPr lang="zh-CN" altLang="zh-CN" sz="2400" dirty="0" smtClean="0">
                <a:solidFill>
                  <a:schemeClr val="tx1"/>
                </a:solidFill>
                <a:latin typeface="微软雅黑" panose="020B0503020204020204" pitchFamily="34" charset="-122"/>
                <a:ea typeface="微软雅黑" panose="020B0503020204020204" pitchFamily="34" charset="-122"/>
              </a:rPr>
              <a:t>行</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20000"/>
              </a:lnSpc>
            </a:pPr>
            <a:r>
              <a:rPr lang="en-US" altLang="zh-CN" sz="2400" dirty="0" smtClean="0">
                <a:solidFill>
                  <a:schemeClr val="tx1"/>
                </a:solidFill>
                <a:latin typeface="微软雅黑" panose="020B0503020204020204" pitchFamily="34" charset="-122"/>
                <a:ea typeface="微软雅黑" panose="020B0503020204020204" pitchFamily="34" charset="-122"/>
              </a:rPr>
              <a:t>8. </a:t>
            </a:r>
            <a:r>
              <a:rPr lang="zh-CN" altLang="zh-CN" sz="2400" dirty="0" smtClean="0">
                <a:latin typeface="微软雅黑" panose="020B0503020204020204" pitchFamily="34" charset="-122"/>
                <a:ea typeface="微软雅黑" panose="020B0503020204020204" pitchFamily="34" charset="-122"/>
              </a:rPr>
              <a:t>解</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Cache</a:t>
            </a:r>
            <a:r>
              <a:rPr lang="zh-CN" altLang="zh-CN" sz="2400" dirty="0">
                <a:latin typeface="微软雅黑" panose="020B0503020204020204" pitchFamily="34" charset="-122"/>
                <a:ea typeface="微软雅黑" panose="020B0503020204020204" pitchFamily="34" charset="-122"/>
              </a:rPr>
              <a:t>的每行为</a:t>
            </a:r>
            <a:r>
              <a:rPr lang="en-US" altLang="zh-CN" sz="2400" dirty="0">
                <a:latin typeface="微软雅黑" panose="020B0503020204020204" pitchFamily="34" charset="-122"/>
                <a:ea typeface="微软雅黑" panose="020B0503020204020204" pitchFamily="34" charset="-122"/>
              </a:rPr>
              <a:t>64</a:t>
            </a:r>
            <a:r>
              <a:rPr lang="zh-CN" altLang="zh-CN" sz="2400" dirty="0">
                <a:latin typeface="微软雅黑" panose="020B0503020204020204" pitchFamily="34" charset="-122"/>
                <a:ea typeface="微软雅黑" panose="020B0503020204020204" pitchFamily="34" charset="-122"/>
              </a:rPr>
              <a:t>个字，有</a:t>
            </a:r>
            <a:r>
              <a:rPr lang="en-US" altLang="zh-CN" sz="2400" dirty="0">
                <a:latin typeface="微软雅黑" panose="020B0503020204020204" pitchFamily="34" charset="-122"/>
                <a:ea typeface="微软雅黑" panose="020B0503020204020204" pitchFamily="34" charset="-122"/>
              </a:rPr>
              <a:t>8K/64=128</a:t>
            </a:r>
            <a:r>
              <a:rPr lang="zh-CN" altLang="zh-CN" sz="2400" dirty="0">
                <a:latin typeface="微软雅黑" panose="020B0503020204020204" pitchFamily="34" charset="-122"/>
                <a:ea typeface="微软雅黑" panose="020B0503020204020204" pitchFamily="34" charset="-122"/>
              </a:rPr>
              <a:t>行</a:t>
            </a:r>
            <a:r>
              <a:rPr lang="en-US" altLang="zh-CN" sz="2400" dirty="0" smtClean="0">
                <a:latin typeface="微软雅黑" panose="020B0503020204020204" pitchFamily="34" charset="-122"/>
                <a:ea typeface="微软雅黑" panose="020B0503020204020204" pitchFamily="34" charset="-122"/>
              </a:rPr>
              <a:t>;</a:t>
            </a:r>
          </a:p>
          <a:p>
            <a:pPr>
              <a:lnSpc>
                <a:spcPct val="120000"/>
              </a:lnSpc>
            </a:pPr>
            <a:r>
              <a:rPr lang="en-US" altLang="zh-CN" sz="2400" dirty="0" smtClean="0">
                <a:latin typeface="微软雅黑" panose="020B0503020204020204" pitchFamily="34" charset="-122"/>
                <a:ea typeface="微软雅黑" panose="020B0503020204020204" pitchFamily="34" charset="-122"/>
              </a:rPr>
              <a:t>          </a:t>
            </a:r>
            <a:r>
              <a:rPr lang="zh-CN" altLang="zh-CN" sz="2400" dirty="0" smtClean="0">
                <a:latin typeface="微软雅黑" panose="020B0503020204020204" pitchFamily="34" charset="-122"/>
                <a:ea typeface="微软雅黑" panose="020B0503020204020204" pitchFamily="34" charset="-122"/>
              </a:rPr>
              <a:t>地址</a:t>
            </a:r>
            <a:r>
              <a:rPr lang="en-US" altLang="zh-CN" sz="2400" dirty="0">
                <a:latin typeface="微软雅黑" panose="020B0503020204020204" pitchFamily="34" charset="-122"/>
                <a:ea typeface="微软雅黑" panose="020B0503020204020204" pitchFamily="34" charset="-122"/>
              </a:rPr>
              <a:t>0,1,2…….8447</a:t>
            </a:r>
            <a:r>
              <a:rPr lang="zh-CN" altLang="zh-CN" sz="2400" dirty="0">
                <a:latin typeface="微软雅黑" panose="020B0503020204020204" pitchFamily="34" charset="-122"/>
                <a:ea typeface="微软雅黑" panose="020B0503020204020204" pitchFamily="34" charset="-122"/>
              </a:rPr>
              <a:t>单元按</a:t>
            </a:r>
            <a:r>
              <a:rPr lang="en-US" altLang="zh-CN" sz="2400" dirty="0">
                <a:latin typeface="微软雅黑" panose="020B0503020204020204" pitchFamily="34" charset="-122"/>
                <a:ea typeface="微软雅黑" panose="020B0503020204020204" pitchFamily="34" charset="-122"/>
              </a:rPr>
              <a:t>64</a:t>
            </a:r>
            <a:r>
              <a:rPr lang="zh-CN" altLang="zh-CN" sz="2400" dirty="0">
                <a:latin typeface="微软雅黑" panose="020B0503020204020204" pitchFamily="34" charset="-122"/>
                <a:ea typeface="微软雅黑" panose="020B0503020204020204" pitchFamily="34" charset="-122"/>
              </a:rPr>
              <a:t>个字一块</a:t>
            </a:r>
            <a:r>
              <a:rPr lang="zh-CN" altLang="zh-CN"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a:lnSpc>
                <a:spcPct val="120000"/>
              </a:lnSpc>
            </a:pPr>
            <a:r>
              <a:rPr lang="en-US" altLang="zh-CN"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         </a:t>
            </a:r>
            <a:r>
              <a:rPr lang="zh-CN" altLang="zh-CN" sz="2400" dirty="0" smtClean="0">
                <a:latin typeface="微软雅黑" panose="020B0503020204020204" pitchFamily="34" charset="-122"/>
                <a:ea typeface="微软雅黑" panose="020B0503020204020204" pitchFamily="34" charset="-122"/>
              </a:rPr>
              <a:t>有</a:t>
            </a:r>
            <a:r>
              <a:rPr lang="en-US" altLang="zh-CN" sz="2400" dirty="0">
                <a:latin typeface="微软雅黑" panose="020B0503020204020204" pitchFamily="34" charset="-122"/>
                <a:ea typeface="微软雅黑" panose="020B0503020204020204" pitchFamily="34" charset="-122"/>
              </a:rPr>
              <a:t>8448/64=132</a:t>
            </a:r>
            <a:r>
              <a:rPr lang="zh-CN" altLang="zh-CN" sz="2400" dirty="0" smtClean="0">
                <a:latin typeface="微软雅黑" panose="020B0503020204020204" pitchFamily="34" charset="-122"/>
                <a:ea typeface="微软雅黑" panose="020B0503020204020204" pitchFamily="34" charset="-122"/>
              </a:rPr>
              <a:t>块</a:t>
            </a:r>
            <a:r>
              <a:rPr lang="en-US" altLang="zh-CN" sz="2400" dirty="0" smtClean="0">
                <a:latin typeface="微软雅黑" panose="020B0503020204020204" pitchFamily="34" charset="-122"/>
                <a:ea typeface="微软雅黑" panose="020B0503020204020204" pitchFamily="34" charset="-122"/>
              </a:rPr>
              <a:t>,  </a:t>
            </a:r>
            <a:r>
              <a:rPr lang="zh-CN" altLang="zh-CN" sz="2400" dirty="0" smtClean="0">
                <a:latin typeface="微软雅黑" panose="020B0503020204020204" pitchFamily="34" charset="-122"/>
                <a:ea typeface="微软雅黑" panose="020B0503020204020204" pitchFamily="34" charset="-122"/>
              </a:rPr>
              <a:t>第一次</a:t>
            </a:r>
            <a:r>
              <a:rPr lang="en-US" altLang="zh-CN" sz="2400" dirty="0">
                <a:latin typeface="微软雅黑" panose="020B0503020204020204" pitchFamily="34" charset="-122"/>
                <a:ea typeface="微软雅黑" panose="020B0503020204020204" pitchFamily="34" charset="-122"/>
              </a:rPr>
              <a:t>132</a:t>
            </a:r>
            <a:r>
              <a:rPr lang="zh-CN" altLang="zh-CN" sz="2400" dirty="0">
                <a:latin typeface="微软雅黑" panose="020B0503020204020204" pitchFamily="34" charset="-122"/>
                <a:ea typeface="微软雅黑" panose="020B0503020204020204" pitchFamily="34" charset="-122"/>
              </a:rPr>
              <a:t>个单元不命中，以后</a:t>
            </a:r>
            <a:r>
              <a:rPr lang="zh-CN" altLang="zh-CN" sz="2400" dirty="0" smtClean="0">
                <a:latin typeface="微软雅黑" panose="020B0503020204020204" pitchFamily="34" charset="-122"/>
                <a:ea typeface="微软雅黑" panose="020B0503020204020204" pitchFamily="34" charset="-122"/>
              </a:rPr>
              <a:t>访问</a:t>
            </a:r>
            <a:endParaRPr lang="en-US" altLang="zh-CN" sz="2400" dirty="0" smtClean="0">
              <a:latin typeface="微软雅黑" panose="020B0503020204020204" pitchFamily="34" charset="-122"/>
              <a:ea typeface="微软雅黑" panose="020B0503020204020204" pitchFamily="34" charset="-122"/>
            </a:endParaRPr>
          </a:p>
          <a:p>
            <a:pPr>
              <a:lnSpc>
                <a:spcPct val="120000"/>
              </a:lnSpc>
            </a:pPr>
            <a:r>
              <a:rPr lang="en-US" altLang="zh-CN"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         </a:t>
            </a:r>
            <a:r>
              <a:rPr lang="zh-CN" altLang="zh-CN" sz="2400" dirty="0" smtClean="0">
                <a:latin typeface="微软雅黑" panose="020B0503020204020204" pitchFamily="34" charset="-122"/>
                <a:ea typeface="微软雅黑" panose="020B0503020204020204" pitchFamily="34" charset="-122"/>
              </a:rPr>
              <a:t>在</a:t>
            </a:r>
            <a:r>
              <a:rPr lang="en-US" altLang="zh-CN" sz="2400" dirty="0" smtClean="0">
                <a:latin typeface="微软雅黑" panose="020B0503020204020204" pitchFamily="34" charset="-122"/>
                <a:ea typeface="微软雅黑" panose="020B0503020204020204" pitchFamily="34" charset="-122"/>
              </a:rPr>
              <a:t>0,1,2,3</a:t>
            </a:r>
            <a:r>
              <a:rPr lang="zh-CN" altLang="en-US" sz="2400" dirty="0" smtClean="0">
                <a:latin typeface="微软雅黑" panose="020B0503020204020204" pitchFamily="34" charset="-122"/>
                <a:ea typeface="微软雅黑" panose="020B0503020204020204" pitchFamily="34" charset="-122"/>
              </a:rPr>
              <a:t>行</a:t>
            </a:r>
            <a:r>
              <a:rPr lang="zh-CN" altLang="zh-CN" sz="2400" dirty="0" smtClean="0">
                <a:latin typeface="微软雅黑" panose="020B0503020204020204" pitchFamily="34" charset="-122"/>
                <a:ea typeface="微软雅黑" panose="020B0503020204020204" pitchFamily="34" charset="-122"/>
              </a:rPr>
              <a:t>需</a:t>
            </a:r>
            <a:r>
              <a:rPr lang="zh-CN" altLang="zh-CN" sz="2400" dirty="0">
                <a:latin typeface="微软雅黑" panose="020B0503020204020204" pitchFamily="34" charset="-122"/>
                <a:ea typeface="微软雅黑" panose="020B0503020204020204" pitchFamily="34" charset="-122"/>
              </a:rPr>
              <a:t>替换</a:t>
            </a:r>
            <a:r>
              <a:rPr lang="zh-CN" altLang="zh-CN" sz="2400" dirty="0" smtClean="0">
                <a:latin typeface="微软雅黑" panose="020B0503020204020204" pitchFamily="34" charset="-122"/>
                <a:ea typeface="微软雅黑" panose="020B0503020204020204" pitchFamily="34" charset="-122"/>
              </a:rPr>
              <a:t>，即</a:t>
            </a:r>
            <a:r>
              <a:rPr lang="zh-CN" altLang="zh-CN" sz="2400" dirty="0">
                <a:latin typeface="微软雅黑" panose="020B0503020204020204" pitchFamily="34" charset="-122"/>
                <a:ea typeface="微软雅黑" panose="020B0503020204020204" pitchFamily="34" charset="-122"/>
              </a:rPr>
              <a:t>有</a:t>
            </a:r>
            <a:r>
              <a:rPr lang="en-US" altLang="zh-CN" sz="2400" dirty="0">
                <a:latin typeface="微软雅黑" panose="020B0503020204020204" pitchFamily="34" charset="-122"/>
                <a:ea typeface="微软雅黑" panose="020B0503020204020204" pitchFamily="34" charset="-122"/>
              </a:rPr>
              <a:t>8</a:t>
            </a:r>
            <a:r>
              <a:rPr lang="zh-CN" altLang="zh-CN" sz="2400" dirty="0" smtClean="0">
                <a:latin typeface="微软雅黑" panose="020B0503020204020204" pitchFamily="34" charset="-122"/>
                <a:ea typeface="微软雅黑" panose="020B0503020204020204" pitchFamily="34" charset="-122"/>
              </a:rPr>
              <a:t>个</a:t>
            </a:r>
            <a:r>
              <a:rPr lang="zh-CN" altLang="en-US" sz="2400" dirty="0" smtClean="0">
                <a:latin typeface="微软雅黑" panose="020B0503020204020204" pitchFamily="34" charset="-122"/>
                <a:ea typeface="微软雅黑" panose="020B0503020204020204" pitchFamily="34" charset="-122"/>
              </a:rPr>
              <a:t>字</a:t>
            </a:r>
            <a:r>
              <a:rPr lang="zh-CN" altLang="zh-CN" sz="2400" dirty="0" smtClean="0">
                <a:latin typeface="微软雅黑" panose="020B0503020204020204" pitchFamily="34" charset="-122"/>
                <a:ea typeface="微软雅黑" panose="020B0503020204020204" pitchFamily="34" charset="-122"/>
              </a:rPr>
              <a:t>不</a:t>
            </a:r>
            <a:r>
              <a:rPr lang="zh-CN" altLang="zh-CN" sz="2400" dirty="0">
                <a:latin typeface="微软雅黑" panose="020B0503020204020204" pitchFamily="34" charset="-122"/>
                <a:ea typeface="微软雅黑" panose="020B0503020204020204" pitchFamily="34" charset="-122"/>
              </a:rPr>
              <a:t>命中</a:t>
            </a:r>
          </a:p>
          <a:p>
            <a:pPr>
              <a:lnSpc>
                <a:spcPct val="120000"/>
              </a:lnSpc>
            </a:pPr>
            <a:r>
              <a:rPr lang="en-US" altLang="zh-CN" sz="2400" dirty="0" smtClean="0">
                <a:latin typeface="微软雅黑" panose="020B0503020204020204" pitchFamily="34" charset="-122"/>
                <a:ea typeface="微软雅黑" panose="020B0503020204020204" pitchFamily="34" charset="-122"/>
              </a:rPr>
              <a:t>           </a:t>
            </a:r>
            <a:r>
              <a:rPr lang="zh-CN" altLang="zh-CN" sz="2400" dirty="0" smtClean="0">
                <a:latin typeface="微软雅黑" panose="020B0503020204020204" pitchFamily="34" charset="-122"/>
                <a:ea typeface="微软雅黑" panose="020B0503020204020204" pitchFamily="34" charset="-122"/>
              </a:rPr>
              <a:t>命中率</a:t>
            </a:r>
            <a:r>
              <a:rPr lang="en-US" altLang="zh-CN" sz="2400" dirty="0" smtClean="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h =</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21*8448-132-20*8</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21*8448</a:t>
            </a:r>
            <a:r>
              <a:rPr lang="zh-CN" altLang="zh-CN" sz="2400" dirty="0" smtClean="0">
                <a:latin typeface="微软雅黑" panose="020B0503020204020204" pitchFamily="34" charset="-122"/>
                <a:ea typeface="微软雅黑" panose="020B0503020204020204" pitchFamily="34" charset="-122"/>
              </a:rPr>
              <a:t>）</a:t>
            </a:r>
            <a:r>
              <a:rPr lang="en-US" altLang="zh-CN" sz="2400" dirty="0" smtClean="0">
                <a:latin typeface="微软雅黑" panose="020B0503020204020204" pitchFamily="34" charset="-122"/>
                <a:ea typeface="微软雅黑" panose="020B0503020204020204" pitchFamily="34" charset="-122"/>
              </a:rPr>
              <a:t> </a:t>
            </a:r>
          </a:p>
          <a:p>
            <a:pPr>
              <a:lnSpc>
                <a:spcPct val="120000"/>
              </a:lnSpc>
            </a:pPr>
            <a:r>
              <a:rPr lang="en-US" altLang="zh-CN"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99.8%</a:t>
            </a:r>
            <a:endParaRPr lang="zh-CN" altLang="zh-CN" sz="2400" dirty="0">
              <a:latin typeface="微软雅黑" panose="020B0503020204020204" pitchFamily="34" charset="-122"/>
              <a:ea typeface="微软雅黑" panose="020B0503020204020204" pitchFamily="34" charset="-122"/>
            </a:endParaRPr>
          </a:p>
          <a:p>
            <a:pPr>
              <a:lnSpc>
                <a:spcPct val="120000"/>
              </a:lnSpc>
            </a:pPr>
            <a:r>
              <a:rPr lang="en-US" altLang="zh-CN" sz="2400" dirty="0" smtClean="0">
                <a:latin typeface="微软雅黑" panose="020B0503020204020204" pitchFamily="34" charset="-122"/>
                <a:ea typeface="微软雅黑" panose="020B0503020204020204" pitchFamily="34" charset="-122"/>
              </a:rPr>
              <a:t>           </a:t>
            </a:r>
            <a:r>
              <a:rPr lang="zh-CN" altLang="zh-CN" sz="2400" dirty="0" smtClean="0">
                <a:latin typeface="微软雅黑" panose="020B0503020204020204" pitchFamily="34" charset="-122"/>
                <a:ea typeface="微软雅黑" panose="020B0503020204020204" pitchFamily="34" charset="-122"/>
              </a:rPr>
              <a:t>设</a:t>
            </a:r>
            <a:r>
              <a:rPr lang="en-US" altLang="zh-CN" sz="2400" dirty="0">
                <a:latin typeface="微软雅黑" panose="020B0503020204020204" pitchFamily="34" charset="-122"/>
                <a:ea typeface="微软雅黑" panose="020B0503020204020204" pitchFamily="34" charset="-122"/>
              </a:rPr>
              <a:t>Cache</a:t>
            </a:r>
            <a:r>
              <a:rPr lang="zh-CN" altLang="zh-CN" sz="2400" dirty="0">
                <a:latin typeface="微软雅黑" panose="020B0503020204020204" pitchFamily="34" charset="-122"/>
                <a:ea typeface="微软雅黑" panose="020B0503020204020204" pitchFamily="34" charset="-122"/>
              </a:rPr>
              <a:t>存取时间</a:t>
            </a:r>
            <a:r>
              <a:rPr lang="en-US" altLang="zh-CN" sz="2400" dirty="0">
                <a:latin typeface="微软雅黑" panose="020B0503020204020204" pitchFamily="34" charset="-122"/>
                <a:ea typeface="微软雅黑" panose="020B0503020204020204" pitchFamily="34" charset="-122"/>
              </a:rPr>
              <a:t>Tc</a:t>
            </a:r>
            <a:r>
              <a:rPr lang="zh-CN" altLang="zh-CN" sz="2400" dirty="0">
                <a:latin typeface="微软雅黑" panose="020B0503020204020204" pitchFamily="34" charset="-122"/>
                <a:ea typeface="微软雅黑" panose="020B0503020204020204" pitchFamily="34" charset="-122"/>
              </a:rPr>
              <a:t>，主存存取时间</a:t>
            </a:r>
            <a:r>
              <a:rPr lang="en-US" altLang="zh-CN" sz="2400" dirty="0">
                <a:latin typeface="微软雅黑" panose="020B0503020204020204" pitchFamily="34" charset="-122"/>
                <a:ea typeface="微软雅黑" panose="020B0503020204020204" pitchFamily="34" charset="-122"/>
              </a:rPr>
              <a:t>Tm</a:t>
            </a:r>
            <a:r>
              <a:rPr lang="zh-CN" altLang="zh-CN" sz="2400" dirty="0">
                <a:latin typeface="微软雅黑" panose="020B0503020204020204" pitchFamily="34" charset="-122"/>
                <a:ea typeface="微软雅黑" panose="020B0503020204020204" pitchFamily="34" charset="-122"/>
              </a:rPr>
              <a:t>，</a:t>
            </a:r>
            <a:r>
              <a:rPr lang="en-US" altLang="zh-CN" sz="2400" dirty="0" smtClean="0">
                <a:latin typeface="微软雅黑" panose="020B0503020204020204" pitchFamily="34" charset="-122"/>
                <a:ea typeface="微软雅黑" panose="020B0503020204020204" pitchFamily="34" charset="-122"/>
              </a:rPr>
              <a:t>Tm=5Tc</a:t>
            </a:r>
            <a:endParaRPr lang="zh-CN" altLang="zh-CN" sz="2400" dirty="0">
              <a:latin typeface="微软雅黑" panose="020B0503020204020204" pitchFamily="34" charset="-122"/>
              <a:ea typeface="微软雅黑" panose="020B0503020204020204" pitchFamily="34" charset="-122"/>
            </a:endParaRPr>
          </a:p>
          <a:p>
            <a:pPr>
              <a:lnSpc>
                <a:spcPct val="120000"/>
              </a:lnSpc>
            </a:pPr>
            <a:r>
              <a:rPr lang="en-US" altLang="zh-CN" sz="2400" dirty="0" smtClean="0">
                <a:latin typeface="微软雅黑" panose="020B0503020204020204" pitchFamily="34" charset="-122"/>
                <a:ea typeface="微软雅黑" panose="020B0503020204020204" pitchFamily="34" charset="-122"/>
              </a:rPr>
              <a:t>           </a:t>
            </a:r>
            <a:r>
              <a:rPr lang="zh-CN" altLang="zh-CN" sz="2400" dirty="0" smtClean="0">
                <a:latin typeface="微软雅黑" panose="020B0503020204020204" pitchFamily="34" charset="-122"/>
                <a:ea typeface="微软雅黑" panose="020B0503020204020204" pitchFamily="34" charset="-122"/>
              </a:rPr>
              <a:t>总</a:t>
            </a:r>
            <a:r>
              <a:rPr lang="zh-CN" altLang="zh-CN" sz="2400" dirty="0">
                <a:latin typeface="微软雅黑" panose="020B0503020204020204" pitchFamily="34" charset="-122"/>
                <a:ea typeface="微软雅黑" panose="020B0503020204020204" pitchFamily="34" charset="-122"/>
              </a:rPr>
              <a:t>的存取</a:t>
            </a:r>
            <a:r>
              <a:rPr lang="zh-CN" altLang="zh-CN" sz="2400" dirty="0" smtClean="0">
                <a:latin typeface="微软雅黑" panose="020B0503020204020204" pitchFamily="34" charset="-122"/>
                <a:ea typeface="微软雅黑" panose="020B0503020204020204" pitchFamily="34" charset="-122"/>
              </a:rPr>
              <a:t>时间</a:t>
            </a:r>
            <a:r>
              <a:rPr lang="en-US" altLang="zh-CN" sz="2400" dirty="0" smtClean="0">
                <a:latin typeface="微软雅黑" panose="020B0503020204020204" pitchFamily="34" charset="-122"/>
                <a:ea typeface="微软雅黑" panose="020B0503020204020204" pitchFamily="34" charset="-122"/>
              </a:rPr>
              <a:t> Ta=</a:t>
            </a:r>
            <a:r>
              <a:rPr lang="en-US" altLang="zh-CN" sz="2400" dirty="0" err="1" smtClean="0">
                <a:latin typeface="微软雅黑" panose="020B0503020204020204" pitchFamily="34" charset="-122"/>
                <a:ea typeface="微软雅黑" panose="020B0503020204020204" pitchFamily="34" charset="-122"/>
              </a:rPr>
              <a:t>hTc</a:t>
            </a:r>
            <a:r>
              <a:rPr lang="en-US" altLang="zh-CN" sz="2400" dirty="0">
                <a:latin typeface="微软雅黑" panose="020B0503020204020204" pitchFamily="34" charset="-122"/>
                <a:ea typeface="微软雅黑" panose="020B0503020204020204" pitchFamily="34" charset="-122"/>
              </a:rPr>
              <a:t>+(</a:t>
            </a:r>
            <a:r>
              <a:rPr lang="en-US" altLang="zh-CN" sz="2400" dirty="0" smtClean="0">
                <a:latin typeface="微软雅黑" panose="020B0503020204020204" pitchFamily="34" charset="-122"/>
                <a:ea typeface="微软雅黑" panose="020B0503020204020204" pitchFamily="34" charset="-122"/>
              </a:rPr>
              <a:t>1-h)Tm</a:t>
            </a:r>
          </a:p>
          <a:p>
            <a:pPr>
              <a:lnSpc>
                <a:spcPct val="120000"/>
              </a:lnSpc>
            </a:pPr>
            <a:r>
              <a:rPr lang="en-US" altLang="zh-CN"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                               =0.998Tc+0.002*5Tc=1.008Tc</a:t>
            </a:r>
            <a:endParaRPr lang="zh-CN" altLang="zh-CN" sz="2400" dirty="0">
              <a:latin typeface="微软雅黑" panose="020B0503020204020204" pitchFamily="34" charset="-122"/>
              <a:ea typeface="微软雅黑" panose="020B0503020204020204" pitchFamily="34" charset="-122"/>
            </a:endParaRPr>
          </a:p>
          <a:p>
            <a:pPr>
              <a:lnSpc>
                <a:spcPct val="120000"/>
              </a:lnSpc>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速度提高</a:t>
            </a:r>
            <a:r>
              <a:rPr lang="en-US" altLang="zh-CN" sz="2400" smtClean="0">
                <a:latin typeface="微软雅黑" panose="020B0503020204020204" pitchFamily="34" charset="-122"/>
                <a:ea typeface="微软雅黑" panose="020B0503020204020204" pitchFamily="34" charset="-122"/>
              </a:rPr>
              <a:t>Tm/Ta=5Tc/1.008Tc=4.96</a:t>
            </a:r>
            <a:endParaRPr lang="zh-CN"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49582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0E1DB3F-15F1-41F5-B786-7D7138D21543}" type="slidenum">
              <a:rPr lang="en-US" altLang="zh-CN"/>
              <a:pPr>
                <a:defRPr/>
              </a:pPr>
              <a:t>134</a:t>
            </a:fld>
            <a:endParaRPr lang="en-US" altLang="zh-CN"/>
          </a:p>
        </p:txBody>
      </p:sp>
      <p:sp>
        <p:nvSpPr>
          <p:cNvPr id="154627" name="Rectangle 2"/>
          <p:cNvSpPr>
            <a:spLocks noGrp="1" noChangeArrowheads="1"/>
          </p:cNvSpPr>
          <p:nvPr>
            <p:ph type="title"/>
          </p:nvPr>
        </p:nvSpPr>
        <p:spPr>
          <a:xfrm>
            <a:off x="323850" y="115888"/>
            <a:ext cx="2243138" cy="354012"/>
          </a:xfrm>
        </p:spPr>
        <p:txBody>
          <a:bodyPr/>
          <a:lstStyle/>
          <a:p>
            <a:pPr eaLnBrk="1" hangingPunct="1"/>
            <a:r>
              <a:rPr lang="zh-CN" altLang="en-US" sz="2400" b="0" smtClean="0">
                <a:latin typeface="楷体_GB2312" pitchFamily="49" charset="-122"/>
                <a:ea typeface="楷体_GB2312" pitchFamily="49" charset="-122"/>
              </a:rPr>
              <a:t>本 章 小 结</a:t>
            </a:r>
          </a:p>
        </p:txBody>
      </p:sp>
      <p:sp>
        <p:nvSpPr>
          <p:cNvPr id="154628" name="Rectangle 3"/>
          <p:cNvSpPr>
            <a:spLocks noGrp="1" noChangeArrowheads="1"/>
          </p:cNvSpPr>
          <p:nvPr>
            <p:ph type="body" idx="1"/>
          </p:nvPr>
        </p:nvSpPr>
        <p:spPr>
          <a:xfrm>
            <a:off x="228600" y="457200"/>
            <a:ext cx="8686800" cy="6124575"/>
          </a:xfrm>
          <a:solidFill>
            <a:schemeClr val="folHlink"/>
          </a:solidFill>
        </p:spPr>
        <p:txBody>
          <a:bodyPr>
            <a:spAutoFit/>
          </a:bodyPr>
          <a:lstStyle/>
          <a:p>
            <a:pPr eaLnBrk="1" hangingPunct="1"/>
            <a:r>
              <a:rPr lang="zh-CN" altLang="en-US" sz="2000" smtClean="0">
                <a:latin typeface="楷体_GB2312" pitchFamily="49" charset="-122"/>
                <a:ea typeface="楷体_GB2312" pitchFamily="49" charset="-122"/>
              </a:rPr>
              <a:t>对存储器的要求是容量大、速度快、成本低。为了解决了这三方面的矛盾，计算机采用多级存储体系结构，即</a:t>
            </a:r>
            <a:r>
              <a:rPr lang="en-US" altLang="zh-CN" sz="2000" smtClean="0">
                <a:latin typeface="楷体_GB2312" pitchFamily="49" charset="-122"/>
                <a:ea typeface="楷体_GB2312" pitchFamily="49" charset="-122"/>
              </a:rPr>
              <a:t>cache</a:t>
            </a:r>
            <a:r>
              <a:rPr lang="zh-CN" altLang="en-US" sz="2000" smtClean="0">
                <a:latin typeface="楷体_GB2312" pitchFamily="49" charset="-122"/>
                <a:ea typeface="楷体_GB2312" pitchFamily="49" charset="-122"/>
              </a:rPr>
              <a:t>、主存和外存。</a:t>
            </a:r>
            <a:r>
              <a:rPr lang="en-US" altLang="zh-CN" sz="2000" smtClean="0">
                <a:latin typeface="楷体_GB2312" pitchFamily="49" charset="-122"/>
                <a:ea typeface="楷体_GB2312" pitchFamily="49" charset="-122"/>
              </a:rPr>
              <a:t>CPU</a:t>
            </a:r>
            <a:r>
              <a:rPr lang="zh-CN" altLang="en-US" sz="2000" smtClean="0">
                <a:latin typeface="楷体_GB2312" pitchFamily="49" charset="-122"/>
                <a:ea typeface="楷体_GB2312" pitchFamily="49" charset="-122"/>
              </a:rPr>
              <a:t>能直接方问内存</a:t>
            </a:r>
            <a:r>
              <a:rPr lang="en-US" altLang="zh-CN" sz="2000" smtClean="0">
                <a:latin typeface="楷体_GB2312" pitchFamily="49" charset="-122"/>
                <a:ea typeface="楷体_GB2312" pitchFamily="49" charset="-122"/>
              </a:rPr>
              <a:t>(cache</a:t>
            </a:r>
            <a:r>
              <a:rPr lang="zh-CN" altLang="en-US" sz="2000" smtClean="0">
                <a:latin typeface="楷体_GB2312" pitchFamily="49" charset="-122"/>
                <a:ea typeface="楷体_GB2312" pitchFamily="49" charset="-122"/>
              </a:rPr>
              <a:t>、主存），但不能直接访问外存。存储器的技术指标有存储容量、存取时间、存储周期、存储器带宽。</a:t>
            </a:r>
          </a:p>
          <a:p>
            <a:pPr eaLnBrk="1" hangingPunct="1"/>
            <a:r>
              <a:rPr lang="zh-CN" altLang="en-US" sz="2000" smtClean="0">
                <a:latin typeface="楷体_GB2312" pitchFamily="49" charset="-122"/>
                <a:ea typeface="楷体_GB2312" pitchFamily="49" charset="-122"/>
              </a:rPr>
              <a:t>广泛使用的</a:t>
            </a:r>
            <a:r>
              <a:rPr lang="en-US" altLang="zh-CN" sz="2000" smtClean="0">
                <a:latin typeface="楷体_GB2312" pitchFamily="49" charset="-122"/>
                <a:ea typeface="楷体_GB2312" pitchFamily="49" charset="-122"/>
              </a:rPr>
              <a:t>SRAM</a:t>
            </a:r>
            <a:r>
              <a:rPr lang="zh-CN" altLang="en-US" sz="2000" smtClean="0">
                <a:latin typeface="楷体_GB2312" pitchFamily="49" charset="-122"/>
                <a:ea typeface="楷体_GB2312" pitchFamily="49" charset="-122"/>
              </a:rPr>
              <a:t>和</a:t>
            </a:r>
            <a:r>
              <a:rPr lang="en-US" altLang="zh-CN" sz="2000" smtClean="0">
                <a:latin typeface="楷体_GB2312" pitchFamily="49" charset="-122"/>
                <a:ea typeface="楷体_GB2312" pitchFamily="49" charset="-122"/>
              </a:rPr>
              <a:t>DRAM</a:t>
            </a:r>
            <a:r>
              <a:rPr lang="zh-CN" altLang="en-US" sz="2000" smtClean="0">
                <a:latin typeface="楷体_GB2312" pitchFamily="49" charset="-122"/>
                <a:ea typeface="楷体_GB2312" pitchFamily="49" charset="-122"/>
              </a:rPr>
              <a:t>都是半导体随机读写存储器，前者速度比后者快，但集成度不如后者高。二者的优点是体积小，可靠性高，价格低廉，缺点是断电后不能保存信息。</a:t>
            </a:r>
          </a:p>
          <a:p>
            <a:pPr eaLnBrk="1" hangingPunct="1"/>
            <a:r>
              <a:rPr lang="zh-CN" altLang="en-US" sz="2000" smtClean="0">
                <a:latin typeface="楷体_GB2312" pitchFamily="49" charset="-122"/>
                <a:ea typeface="楷体_GB2312" pitchFamily="49" charset="-122"/>
              </a:rPr>
              <a:t>只读存储器和闪速存储器正好弥补了</a:t>
            </a:r>
            <a:r>
              <a:rPr lang="en-US" altLang="zh-CN" sz="2000" smtClean="0">
                <a:latin typeface="楷体_GB2312" pitchFamily="49" charset="-122"/>
                <a:ea typeface="楷体_GB2312" pitchFamily="49" charset="-122"/>
              </a:rPr>
              <a:t>SRAM</a:t>
            </a:r>
            <a:r>
              <a:rPr lang="zh-CN" altLang="en-US" sz="2000" smtClean="0">
                <a:latin typeface="楷体_GB2312" pitchFamily="49" charset="-122"/>
                <a:ea typeface="楷体_GB2312" pitchFamily="49" charset="-122"/>
              </a:rPr>
              <a:t>和</a:t>
            </a:r>
            <a:r>
              <a:rPr lang="en-US" altLang="zh-CN" sz="2000" smtClean="0">
                <a:latin typeface="楷体_GB2312" pitchFamily="49" charset="-122"/>
                <a:ea typeface="楷体_GB2312" pitchFamily="49" charset="-122"/>
              </a:rPr>
              <a:t>DRAM</a:t>
            </a:r>
            <a:r>
              <a:rPr lang="zh-CN" altLang="en-US" sz="2000" smtClean="0">
                <a:latin typeface="楷体_GB2312" pitchFamily="49" charset="-122"/>
                <a:ea typeface="楷体_GB2312" pitchFamily="49" charset="-122"/>
              </a:rPr>
              <a:t>的缺点，即使断电也仍然保存原先写入的数据。特别是闪速存储器能提供高性能、低功耗、高可靠性以及移动性，是一种全新的存储器体系结构。</a:t>
            </a:r>
          </a:p>
          <a:p>
            <a:pPr eaLnBrk="1" hangingPunct="1"/>
            <a:r>
              <a:rPr lang="zh-CN" altLang="en-US" sz="2000" smtClean="0">
                <a:latin typeface="楷体_GB2312" pitchFamily="49" charset="-122"/>
                <a:ea typeface="楷体_GB2312" pitchFamily="49" charset="-122"/>
              </a:rPr>
              <a:t>双端口存储器和多模块交叉存储器属于并行存储器结构。前者采用空间并行技术，后者采用时间并行技术。这两种类型的存储器在科研和工程中大量使用。</a:t>
            </a:r>
          </a:p>
          <a:p>
            <a:pPr eaLnBrk="1" hangingPunct="1"/>
            <a:r>
              <a:rPr lang="en-US" altLang="zh-CN" sz="2000" smtClean="0">
                <a:latin typeface="楷体_GB2312" pitchFamily="49" charset="-122"/>
                <a:ea typeface="楷体_GB2312" pitchFamily="49" charset="-122"/>
              </a:rPr>
              <a:t>cache</a:t>
            </a:r>
            <a:r>
              <a:rPr lang="zh-CN" altLang="en-US" sz="2000" smtClean="0">
                <a:latin typeface="楷体_GB2312" pitchFamily="49" charset="-122"/>
                <a:ea typeface="楷体_GB2312" pitchFamily="49" charset="-122"/>
              </a:rPr>
              <a:t>是一种高速缓冲存储器，是为解决</a:t>
            </a:r>
            <a:r>
              <a:rPr lang="en-US" altLang="zh-CN" sz="2000" smtClean="0">
                <a:latin typeface="楷体_GB2312" pitchFamily="49" charset="-122"/>
                <a:ea typeface="楷体_GB2312" pitchFamily="49" charset="-122"/>
              </a:rPr>
              <a:t>CPU</a:t>
            </a:r>
            <a:r>
              <a:rPr lang="zh-CN" altLang="en-US" sz="2000" smtClean="0">
                <a:latin typeface="楷体_GB2312" pitchFamily="49" charset="-122"/>
                <a:ea typeface="楷体_GB2312" pitchFamily="49" charset="-122"/>
              </a:rPr>
              <a:t>和主存之间速度不匹配而采用的一项重要的硬件技术，并且发展为多级</a:t>
            </a:r>
            <a:r>
              <a:rPr lang="en-US" altLang="zh-CN" sz="2000" smtClean="0">
                <a:latin typeface="楷体_GB2312" pitchFamily="49" charset="-122"/>
                <a:ea typeface="楷体_GB2312" pitchFamily="49" charset="-122"/>
              </a:rPr>
              <a:t>cache</a:t>
            </a:r>
            <a:r>
              <a:rPr lang="zh-CN" altLang="en-US" sz="2000" smtClean="0">
                <a:latin typeface="楷体_GB2312" pitchFamily="49" charset="-122"/>
                <a:ea typeface="楷体_GB2312" pitchFamily="49" charset="-122"/>
              </a:rPr>
              <a:t>体系，指令</a:t>
            </a:r>
            <a:r>
              <a:rPr lang="en-US" altLang="zh-CN" sz="2000" smtClean="0">
                <a:latin typeface="楷体_GB2312" pitchFamily="49" charset="-122"/>
                <a:ea typeface="楷体_GB2312" pitchFamily="49" charset="-122"/>
              </a:rPr>
              <a:t>cache</a:t>
            </a:r>
            <a:r>
              <a:rPr lang="zh-CN" altLang="en-US" sz="2000" smtClean="0">
                <a:latin typeface="楷体_GB2312" pitchFamily="49" charset="-122"/>
                <a:ea typeface="楷体_GB2312" pitchFamily="49" charset="-122"/>
              </a:rPr>
              <a:t>与数据</a:t>
            </a:r>
            <a:r>
              <a:rPr lang="en-US" altLang="zh-CN" sz="2000" smtClean="0">
                <a:latin typeface="楷体_GB2312" pitchFamily="49" charset="-122"/>
                <a:ea typeface="楷体_GB2312" pitchFamily="49" charset="-122"/>
              </a:rPr>
              <a:t>cache</a:t>
            </a:r>
            <a:r>
              <a:rPr lang="zh-CN" altLang="en-US" sz="2000" smtClean="0">
                <a:latin typeface="楷体_GB2312" pitchFamily="49" charset="-122"/>
                <a:ea typeface="楷体_GB2312" pitchFamily="49" charset="-122"/>
              </a:rPr>
              <a:t>分设体系。要求</a:t>
            </a:r>
            <a:r>
              <a:rPr lang="en-US" altLang="zh-CN" sz="2000" smtClean="0">
                <a:latin typeface="楷体_GB2312" pitchFamily="49" charset="-122"/>
                <a:ea typeface="楷体_GB2312" pitchFamily="49" charset="-122"/>
              </a:rPr>
              <a:t>cache</a:t>
            </a:r>
            <a:r>
              <a:rPr lang="zh-CN" altLang="en-US" sz="2000" smtClean="0">
                <a:latin typeface="楷体_GB2312" pitchFamily="49" charset="-122"/>
                <a:ea typeface="楷体_GB2312" pitchFamily="49" charset="-122"/>
              </a:rPr>
              <a:t>的命中率接近于</a:t>
            </a:r>
            <a:r>
              <a:rPr lang="en-US" altLang="zh-CN" sz="2000" smtClean="0">
                <a:latin typeface="楷体_GB2312" pitchFamily="49" charset="-122"/>
                <a:ea typeface="楷体_GB2312" pitchFamily="49" charset="-122"/>
              </a:rPr>
              <a:t>1</a:t>
            </a:r>
            <a:r>
              <a:rPr lang="zh-CN" altLang="en-US" sz="2000" smtClean="0">
                <a:latin typeface="楷体_GB2312" pitchFamily="49" charset="-122"/>
                <a:ea typeface="楷体_GB2312" pitchFamily="49" charset="-122"/>
              </a:rPr>
              <a:t>。主存与</a:t>
            </a:r>
            <a:r>
              <a:rPr lang="en-US" altLang="zh-CN" sz="2000" smtClean="0">
                <a:latin typeface="楷体_GB2312" pitchFamily="49" charset="-122"/>
                <a:ea typeface="楷体_GB2312" pitchFamily="49" charset="-122"/>
              </a:rPr>
              <a:t>cache</a:t>
            </a:r>
            <a:r>
              <a:rPr lang="zh-CN" altLang="en-US" sz="2000" smtClean="0">
                <a:latin typeface="楷体_GB2312" pitchFamily="49" charset="-122"/>
                <a:ea typeface="楷体_GB2312" pitchFamily="49" charset="-122"/>
              </a:rPr>
              <a:t>的地址映射有全相联、直接、组相联三种方式。其中组相联方式是前二者的折衷方案，适度地兼顾了二者的优点又尽量避免其缺点，从灵活性、命中率、硬件投资来说较为理想，因而得到了普遍采用。</a:t>
            </a:r>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1EEA0C89-21FE-4DA0-80CB-F4FD67C03AA5}" type="slidenum">
              <a:rPr lang="en-US" altLang="zh-CN"/>
              <a:pPr>
                <a:defRPr/>
              </a:pPr>
              <a:t>135</a:t>
            </a:fld>
            <a:endParaRPr lang="en-US" altLang="zh-CN"/>
          </a:p>
        </p:txBody>
      </p:sp>
      <p:sp>
        <p:nvSpPr>
          <p:cNvPr id="155651" name="Rectangle 5"/>
          <p:cNvSpPr>
            <a:spLocks noChangeArrowheads="1"/>
          </p:cNvSpPr>
          <p:nvPr/>
        </p:nvSpPr>
        <p:spPr bwMode="auto">
          <a:xfrm>
            <a:off x="250825" y="188913"/>
            <a:ext cx="7561263"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sz="2400">
                <a:latin typeface="楷体_GB2312" pitchFamily="49" charset="-122"/>
              </a:rPr>
              <a:t>P101-2 </a:t>
            </a:r>
            <a:r>
              <a:rPr lang="zh-CN" altLang="en-US" sz="2400">
                <a:latin typeface="楷体_GB2312" pitchFamily="49" charset="-122"/>
              </a:rPr>
              <a:t>已知某</a:t>
            </a:r>
            <a:r>
              <a:rPr lang="en-US" altLang="zh-CN" sz="2400">
                <a:latin typeface="楷体_GB2312" pitchFamily="49" charset="-122"/>
              </a:rPr>
              <a:t>64</a:t>
            </a:r>
            <a:r>
              <a:rPr lang="zh-CN" altLang="en-US" sz="2400">
                <a:latin typeface="楷体_GB2312" pitchFamily="49" charset="-122"/>
              </a:rPr>
              <a:t>位机主存采用半导体存储器，其地址码为</a:t>
            </a:r>
            <a:r>
              <a:rPr lang="en-US" altLang="zh-CN" sz="2400">
                <a:latin typeface="楷体_GB2312" pitchFamily="49" charset="-122"/>
              </a:rPr>
              <a:t>26</a:t>
            </a:r>
            <a:r>
              <a:rPr lang="zh-CN" altLang="en-US" sz="2400">
                <a:latin typeface="楷体_GB2312" pitchFamily="49" charset="-122"/>
              </a:rPr>
              <a:t>位，若使用</a:t>
            </a:r>
            <a:r>
              <a:rPr lang="en-US" altLang="zh-CN" sz="2400">
                <a:latin typeface="楷体_GB2312" pitchFamily="49" charset="-122"/>
              </a:rPr>
              <a:t>4Mx8</a:t>
            </a:r>
            <a:r>
              <a:rPr lang="zh-CN" altLang="en-US" sz="2400">
                <a:latin typeface="楷体_GB2312" pitchFamily="49" charset="-122"/>
              </a:rPr>
              <a:t>位的</a:t>
            </a:r>
            <a:r>
              <a:rPr lang="en-US" altLang="zh-CN" sz="2400">
                <a:latin typeface="楷体_GB2312" pitchFamily="49" charset="-122"/>
              </a:rPr>
              <a:t>DRAM</a:t>
            </a:r>
            <a:r>
              <a:rPr lang="zh-CN" altLang="en-US" sz="2400">
                <a:latin typeface="楷体_GB2312" pitchFamily="49" charset="-122"/>
              </a:rPr>
              <a:t>芯片组成该机所允许的最大主存空间，并选用内存条结构形式，问：</a:t>
            </a:r>
          </a:p>
          <a:p>
            <a:r>
              <a:rPr lang="zh-CN" altLang="en-US" sz="2400">
                <a:latin typeface="楷体_GB2312" pitchFamily="49" charset="-122"/>
              </a:rPr>
              <a:t>（</a:t>
            </a:r>
            <a:r>
              <a:rPr lang="en-US" altLang="zh-CN" sz="2400">
                <a:latin typeface="楷体_GB2312" pitchFamily="49" charset="-122"/>
              </a:rPr>
              <a:t>1</a:t>
            </a:r>
            <a:r>
              <a:rPr lang="zh-CN" altLang="en-US" sz="2400">
                <a:latin typeface="楷体_GB2312" pitchFamily="49" charset="-122"/>
              </a:rPr>
              <a:t>）若每个内存条为</a:t>
            </a:r>
            <a:r>
              <a:rPr lang="en-US" altLang="zh-CN" sz="2400">
                <a:latin typeface="楷体_GB2312" pitchFamily="49" charset="-122"/>
              </a:rPr>
              <a:t>16Mx64</a:t>
            </a:r>
            <a:r>
              <a:rPr lang="zh-CN" altLang="en-US" sz="2400">
                <a:latin typeface="楷体_GB2312" pitchFamily="49" charset="-122"/>
              </a:rPr>
              <a:t>位，共需多少内存条？</a:t>
            </a:r>
          </a:p>
          <a:p>
            <a:r>
              <a:rPr lang="zh-CN" altLang="en-US" sz="2400">
                <a:latin typeface="楷体_GB2312" pitchFamily="49" charset="-122"/>
              </a:rPr>
              <a:t>（</a:t>
            </a:r>
            <a:r>
              <a:rPr lang="en-US" altLang="zh-CN" sz="2400">
                <a:latin typeface="楷体_GB2312" pitchFamily="49" charset="-122"/>
              </a:rPr>
              <a:t>2</a:t>
            </a:r>
            <a:r>
              <a:rPr lang="zh-CN" altLang="en-US" sz="2400">
                <a:latin typeface="楷体_GB2312" pitchFamily="49" charset="-122"/>
              </a:rPr>
              <a:t>）每个内存条共有多少</a:t>
            </a:r>
            <a:r>
              <a:rPr lang="en-US" altLang="zh-CN" sz="2400">
                <a:latin typeface="楷体_GB2312" pitchFamily="49" charset="-122"/>
              </a:rPr>
              <a:t>DRAM</a:t>
            </a:r>
            <a:r>
              <a:rPr lang="zh-CN" altLang="en-US" sz="2400">
                <a:latin typeface="楷体_GB2312" pitchFamily="49" charset="-122"/>
              </a:rPr>
              <a:t>芯片？</a:t>
            </a:r>
          </a:p>
          <a:p>
            <a:r>
              <a:rPr lang="zh-CN" altLang="en-US" sz="2400">
                <a:latin typeface="楷体_GB2312" pitchFamily="49" charset="-122"/>
              </a:rPr>
              <a:t>（</a:t>
            </a:r>
            <a:r>
              <a:rPr lang="en-US" altLang="zh-CN" sz="2400">
                <a:latin typeface="楷体_GB2312" pitchFamily="49" charset="-122"/>
              </a:rPr>
              <a:t>3</a:t>
            </a:r>
            <a:r>
              <a:rPr lang="zh-CN" altLang="en-US" sz="2400">
                <a:latin typeface="楷体_GB2312" pitchFamily="49" charset="-122"/>
              </a:rPr>
              <a:t>）主存共需多少</a:t>
            </a:r>
            <a:r>
              <a:rPr lang="en-US" altLang="zh-CN" sz="2400">
                <a:latin typeface="楷体_GB2312" pitchFamily="49" charset="-122"/>
              </a:rPr>
              <a:t>DRAM</a:t>
            </a:r>
            <a:r>
              <a:rPr lang="zh-CN" altLang="en-US" sz="2400">
                <a:latin typeface="楷体_GB2312" pitchFamily="49" charset="-122"/>
              </a:rPr>
              <a:t>芯片？</a:t>
            </a:r>
            <a:r>
              <a:rPr lang="en-US" altLang="zh-CN" sz="2400">
                <a:latin typeface="楷体_GB2312" pitchFamily="49" charset="-122"/>
              </a:rPr>
              <a:t>CPU</a:t>
            </a:r>
            <a:r>
              <a:rPr lang="zh-CN" altLang="en-US" sz="2400">
                <a:latin typeface="楷体_GB2312" pitchFamily="49" charset="-122"/>
              </a:rPr>
              <a:t>如何选择个内存条？</a:t>
            </a:r>
          </a:p>
        </p:txBody>
      </p:sp>
      <p:sp>
        <p:nvSpPr>
          <p:cNvPr id="132102" name="AutoShape 6"/>
          <p:cNvSpPr>
            <a:spLocks noChangeArrowheads="1"/>
          </p:cNvSpPr>
          <p:nvPr/>
        </p:nvSpPr>
        <p:spPr bwMode="auto">
          <a:xfrm>
            <a:off x="381000" y="2438400"/>
            <a:ext cx="8064500" cy="504825"/>
          </a:xfrm>
          <a:prstGeom prst="wedgeRectCallout">
            <a:avLst>
              <a:gd name="adj1" fmla="val 22815"/>
              <a:gd name="adj2" fmla="val -23898"/>
            </a:avLst>
          </a:prstGeom>
          <a:solidFill>
            <a:schemeClr val="accent1"/>
          </a:solidFill>
          <a:ln w="12700" cap="sq">
            <a:solidFill>
              <a:schemeClr val="tx1"/>
            </a:solidFill>
            <a:miter lim="800000"/>
            <a:headEnd type="none" w="sm" len="sm"/>
            <a:tailEnd type="none" w="sm" len="sm"/>
          </a:ln>
        </p:spPr>
        <p:txBody>
          <a:bodyPr/>
          <a:lstStyle/>
          <a:p>
            <a:r>
              <a:rPr kumimoji="1" lang="zh-CN" altLang="en-US">
                <a:latin typeface="楷体_GB2312" pitchFamily="49" charset="-122"/>
              </a:rPr>
              <a:t>（</a:t>
            </a:r>
            <a:r>
              <a:rPr kumimoji="1" lang="en-US" altLang="zh-CN">
                <a:latin typeface="楷体_GB2312" pitchFamily="49" charset="-122"/>
              </a:rPr>
              <a:t>1</a:t>
            </a:r>
            <a:r>
              <a:rPr kumimoji="1" lang="zh-CN" altLang="en-US">
                <a:latin typeface="楷体_GB2312" pitchFamily="49" charset="-122"/>
              </a:rPr>
              <a:t>）</a:t>
            </a:r>
            <a:r>
              <a:rPr kumimoji="1" lang="en-US" altLang="zh-CN">
                <a:latin typeface="楷体_GB2312" pitchFamily="49" charset="-122"/>
              </a:rPr>
              <a:t>2</a:t>
            </a:r>
            <a:r>
              <a:rPr kumimoji="1" lang="en-US" altLang="zh-CN" baseline="30000">
                <a:latin typeface="楷体_GB2312" pitchFamily="49" charset="-122"/>
              </a:rPr>
              <a:t>26</a:t>
            </a:r>
            <a:r>
              <a:rPr kumimoji="1" lang="en-US" altLang="zh-CN">
                <a:latin typeface="楷体_GB2312" pitchFamily="49" charset="-122"/>
              </a:rPr>
              <a:t>x64/16x2</a:t>
            </a:r>
            <a:r>
              <a:rPr kumimoji="1" lang="en-US" altLang="zh-CN" baseline="30000">
                <a:latin typeface="楷体_GB2312" pitchFamily="49" charset="-122"/>
              </a:rPr>
              <a:t>20</a:t>
            </a:r>
            <a:r>
              <a:rPr kumimoji="1" lang="en-US" altLang="zh-CN">
                <a:latin typeface="楷体_GB2312" pitchFamily="49" charset="-122"/>
              </a:rPr>
              <a:t>x64=4,</a:t>
            </a:r>
            <a:r>
              <a:rPr lang="zh-CN" altLang="en-US"/>
              <a:t>共需</a:t>
            </a:r>
            <a:r>
              <a:rPr lang="en-US" altLang="zh-CN"/>
              <a:t>4</a:t>
            </a:r>
            <a:r>
              <a:rPr lang="zh-CN" altLang="en-US"/>
              <a:t>个内存条</a:t>
            </a:r>
          </a:p>
        </p:txBody>
      </p:sp>
      <p:sp>
        <p:nvSpPr>
          <p:cNvPr id="132104" name="AutoShape 8"/>
          <p:cNvSpPr>
            <a:spLocks noChangeArrowheads="1"/>
          </p:cNvSpPr>
          <p:nvPr/>
        </p:nvSpPr>
        <p:spPr bwMode="auto">
          <a:xfrm>
            <a:off x="381000" y="3048000"/>
            <a:ext cx="8496300" cy="533400"/>
          </a:xfrm>
          <a:prstGeom prst="wedgeRectCallout">
            <a:avLst>
              <a:gd name="adj1" fmla="val -18069"/>
              <a:gd name="adj2" fmla="val 46727"/>
            </a:avLst>
          </a:prstGeom>
          <a:solidFill>
            <a:schemeClr val="accent1"/>
          </a:solidFill>
          <a:ln w="12700" cap="sq">
            <a:solidFill>
              <a:schemeClr val="tx1"/>
            </a:solidFill>
            <a:miter lim="800000"/>
            <a:headEnd type="none" w="sm" len="sm"/>
            <a:tailEnd type="none" w="sm" len="sm"/>
          </a:ln>
        </p:spPr>
        <p:txBody>
          <a:bodyPr/>
          <a:lstStyle/>
          <a:p>
            <a:r>
              <a:rPr kumimoji="1" lang="zh-CN" altLang="en-US">
                <a:latin typeface="楷体_GB2312" pitchFamily="49" charset="-122"/>
              </a:rPr>
              <a:t>（</a:t>
            </a:r>
            <a:r>
              <a:rPr kumimoji="1" lang="en-US" altLang="zh-CN">
                <a:latin typeface="楷体_GB2312" pitchFamily="49" charset="-122"/>
              </a:rPr>
              <a:t>2</a:t>
            </a:r>
            <a:r>
              <a:rPr kumimoji="1" lang="zh-CN" altLang="en-US">
                <a:latin typeface="楷体_GB2312" pitchFamily="49" charset="-122"/>
              </a:rPr>
              <a:t>）</a:t>
            </a:r>
            <a:r>
              <a:rPr kumimoji="1" lang="en-US" altLang="zh-CN">
                <a:latin typeface="楷体_GB2312" pitchFamily="49" charset="-122"/>
              </a:rPr>
              <a:t>16Mx64/4Mx8=32,</a:t>
            </a:r>
            <a:r>
              <a:rPr lang="zh-CN" altLang="en-US">
                <a:latin typeface="楷体_GB2312" pitchFamily="49" charset="-122"/>
              </a:rPr>
              <a:t>每个内存条共有</a:t>
            </a:r>
            <a:r>
              <a:rPr lang="en-US" altLang="zh-CN">
                <a:latin typeface="楷体_GB2312" pitchFamily="49" charset="-122"/>
              </a:rPr>
              <a:t>32</a:t>
            </a:r>
            <a:r>
              <a:rPr lang="zh-CN" altLang="en-US">
                <a:latin typeface="楷体_GB2312" pitchFamily="49" charset="-122"/>
              </a:rPr>
              <a:t>个</a:t>
            </a:r>
            <a:r>
              <a:rPr lang="en-US" altLang="zh-CN">
                <a:latin typeface="楷体_GB2312" pitchFamily="49" charset="-122"/>
              </a:rPr>
              <a:t>DRAM</a:t>
            </a:r>
            <a:r>
              <a:rPr lang="zh-CN" altLang="en-US">
                <a:latin typeface="楷体_GB2312" pitchFamily="49" charset="-122"/>
              </a:rPr>
              <a:t>芯片</a:t>
            </a:r>
          </a:p>
        </p:txBody>
      </p:sp>
      <p:sp>
        <p:nvSpPr>
          <p:cNvPr id="132105" name="AutoShape 9"/>
          <p:cNvSpPr>
            <a:spLocks noChangeArrowheads="1"/>
          </p:cNvSpPr>
          <p:nvPr/>
        </p:nvSpPr>
        <p:spPr bwMode="auto">
          <a:xfrm>
            <a:off x="381000" y="3657600"/>
            <a:ext cx="8497888" cy="2692400"/>
          </a:xfrm>
          <a:prstGeom prst="wedgeRectCallout">
            <a:avLst>
              <a:gd name="adj1" fmla="val -28051"/>
              <a:gd name="adj2" fmla="val -49528"/>
            </a:avLst>
          </a:prstGeom>
          <a:solidFill>
            <a:schemeClr val="accent1"/>
          </a:solidFill>
          <a:ln w="12700" cap="sq">
            <a:solidFill>
              <a:schemeClr val="tx1"/>
            </a:solidFill>
            <a:miter lim="800000"/>
            <a:headEnd type="none" w="sm" len="sm"/>
            <a:tailEnd type="none" w="sm" len="sm"/>
          </a:ln>
        </p:spPr>
        <p:txBody>
          <a:bodyPr/>
          <a:lstStyle/>
          <a:p>
            <a:r>
              <a:rPr kumimoji="1" lang="zh-CN" altLang="en-US">
                <a:latin typeface="楷体_GB2312" pitchFamily="49" charset="-122"/>
              </a:rPr>
              <a:t>（</a:t>
            </a:r>
            <a:r>
              <a:rPr kumimoji="1" lang="en-US" altLang="zh-CN">
                <a:latin typeface="楷体_GB2312" pitchFamily="49" charset="-122"/>
              </a:rPr>
              <a:t>3</a:t>
            </a:r>
            <a:r>
              <a:rPr kumimoji="1" lang="zh-CN" altLang="en-US">
                <a:latin typeface="楷体_GB2312" pitchFamily="49" charset="-122"/>
              </a:rPr>
              <a:t>）</a:t>
            </a:r>
            <a:r>
              <a:rPr kumimoji="1" lang="en-US" altLang="zh-CN">
                <a:latin typeface="楷体_GB2312" pitchFamily="49" charset="-122"/>
              </a:rPr>
              <a:t>4*32=128 </a:t>
            </a:r>
            <a:r>
              <a:rPr lang="zh-CN" altLang="en-US">
                <a:latin typeface="楷体_GB2312" pitchFamily="49" charset="-122"/>
              </a:rPr>
              <a:t>主存共需</a:t>
            </a:r>
            <a:r>
              <a:rPr lang="en-US" altLang="zh-CN">
                <a:latin typeface="楷体_GB2312" pitchFamily="49" charset="-122"/>
              </a:rPr>
              <a:t>128</a:t>
            </a:r>
            <a:r>
              <a:rPr lang="zh-CN" altLang="en-US">
                <a:latin typeface="楷体_GB2312" pitchFamily="49" charset="-122"/>
              </a:rPr>
              <a:t>个</a:t>
            </a:r>
            <a:r>
              <a:rPr lang="en-US" altLang="zh-CN">
                <a:latin typeface="楷体_GB2312" pitchFamily="49" charset="-122"/>
              </a:rPr>
              <a:t>DRAM</a:t>
            </a:r>
            <a:r>
              <a:rPr lang="zh-CN" altLang="en-US">
                <a:latin typeface="楷体_GB2312" pitchFamily="49" charset="-122"/>
              </a:rPr>
              <a:t>芯片。</a:t>
            </a:r>
          </a:p>
          <a:p>
            <a:r>
              <a:rPr lang="zh-CN" altLang="en-US">
                <a:latin typeface="楷体_GB2312" pitchFamily="49" charset="-122"/>
              </a:rPr>
              <a:t>    单个内存条容量为</a:t>
            </a:r>
            <a:r>
              <a:rPr lang="en-US" altLang="zh-CN">
                <a:latin typeface="楷体_GB2312" pitchFamily="49" charset="-122"/>
              </a:rPr>
              <a:t>16Mx64</a:t>
            </a:r>
            <a:r>
              <a:rPr lang="zh-CN" altLang="en-US">
                <a:latin typeface="楷体_GB2312" pitchFamily="49" charset="-122"/>
              </a:rPr>
              <a:t>位，需要</a:t>
            </a:r>
            <a:r>
              <a:rPr lang="en-US" altLang="zh-CN">
                <a:latin typeface="楷体_GB2312" pitchFamily="49" charset="-122"/>
              </a:rPr>
              <a:t>24</a:t>
            </a:r>
            <a:r>
              <a:rPr lang="zh-CN" altLang="en-US">
                <a:latin typeface="楷体_GB2312" pitchFamily="49" charset="-122"/>
              </a:rPr>
              <a:t>条（</a:t>
            </a:r>
            <a:r>
              <a:rPr lang="en-US" altLang="zh-CN">
                <a:latin typeface="楷体_GB2312" pitchFamily="49" charset="-122"/>
              </a:rPr>
              <a:t>A0-A23</a:t>
            </a:r>
            <a:r>
              <a:rPr lang="zh-CN" altLang="en-US">
                <a:latin typeface="楷体_GB2312" pitchFamily="49" charset="-122"/>
              </a:rPr>
              <a:t>）地址线；一共有</a:t>
            </a:r>
            <a:r>
              <a:rPr lang="en-US" altLang="zh-CN">
                <a:latin typeface="楷体_GB2312" pitchFamily="49" charset="-122"/>
              </a:rPr>
              <a:t>4</a:t>
            </a:r>
            <a:r>
              <a:rPr lang="zh-CN" altLang="en-US">
                <a:latin typeface="楷体_GB2312" pitchFamily="49" charset="-122"/>
              </a:rPr>
              <a:t>个内存条，需要</a:t>
            </a:r>
            <a:r>
              <a:rPr lang="en-US" altLang="zh-CN">
                <a:latin typeface="楷体_GB2312" pitchFamily="49" charset="-122"/>
              </a:rPr>
              <a:t>26</a:t>
            </a:r>
            <a:r>
              <a:rPr lang="zh-CN" altLang="en-US">
                <a:latin typeface="楷体_GB2312" pitchFamily="49" charset="-122"/>
              </a:rPr>
              <a:t>条（</a:t>
            </a:r>
            <a:r>
              <a:rPr lang="en-US" altLang="zh-CN">
                <a:latin typeface="楷体_GB2312" pitchFamily="49" charset="-122"/>
              </a:rPr>
              <a:t>A0-A25</a:t>
            </a:r>
            <a:r>
              <a:rPr lang="zh-CN" altLang="en-US">
                <a:latin typeface="楷体_GB2312" pitchFamily="49" charset="-122"/>
              </a:rPr>
              <a:t>）地址线。其中</a:t>
            </a:r>
            <a:r>
              <a:rPr lang="en-US" altLang="zh-CN">
                <a:latin typeface="楷体_GB2312" pitchFamily="49" charset="-122"/>
              </a:rPr>
              <a:t>A0-A23</a:t>
            </a:r>
            <a:r>
              <a:rPr lang="zh-CN" altLang="en-US">
                <a:latin typeface="楷体_GB2312" pitchFamily="49" charset="-122"/>
              </a:rPr>
              <a:t>完成单个内存条单元寻址，</a:t>
            </a:r>
            <a:r>
              <a:rPr lang="en-US" altLang="zh-CN">
                <a:latin typeface="楷体_GB2312" pitchFamily="49" charset="-122"/>
              </a:rPr>
              <a:t>A24</a:t>
            </a:r>
            <a:r>
              <a:rPr lang="zh-CN" altLang="en-US">
                <a:latin typeface="楷体_GB2312" pitchFamily="49" charset="-122"/>
              </a:rPr>
              <a:t>和</a:t>
            </a:r>
            <a:r>
              <a:rPr lang="en-US" altLang="zh-CN">
                <a:latin typeface="楷体_GB2312" pitchFamily="49" charset="-122"/>
              </a:rPr>
              <a:t>A25</a:t>
            </a:r>
            <a:r>
              <a:rPr lang="zh-CN" altLang="en-US">
                <a:latin typeface="楷体_GB2312" pitchFamily="49" charset="-122"/>
              </a:rPr>
              <a:t>通过</a:t>
            </a:r>
            <a:r>
              <a:rPr lang="en-US" altLang="zh-CN">
                <a:latin typeface="楷体_GB2312" pitchFamily="49" charset="-122"/>
              </a:rPr>
              <a:t>2</a:t>
            </a:r>
            <a:r>
              <a:rPr lang="zh-CN" altLang="en-US">
                <a:latin typeface="楷体_GB2312" pitchFamily="49" charset="-122"/>
              </a:rPr>
              <a:t>：</a:t>
            </a:r>
            <a:r>
              <a:rPr lang="en-US" altLang="zh-CN">
                <a:latin typeface="楷体_GB2312" pitchFamily="49" charset="-122"/>
              </a:rPr>
              <a:t>4</a:t>
            </a:r>
            <a:r>
              <a:rPr lang="zh-CN" altLang="en-US">
                <a:latin typeface="楷体_GB2312" pitchFamily="49" charset="-122"/>
              </a:rPr>
              <a:t>译码器产生片选信号对</a:t>
            </a:r>
            <a:r>
              <a:rPr lang="en-US" altLang="zh-CN">
                <a:latin typeface="楷体_GB2312" pitchFamily="49" charset="-122"/>
              </a:rPr>
              <a:t>4</a:t>
            </a:r>
            <a:r>
              <a:rPr lang="zh-CN" altLang="en-US">
                <a:latin typeface="楷体_GB2312" pitchFamily="49" charset="-122"/>
              </a:rPr>
              <a:t>个内存条进行选择。</a:t>
            </a:r>
          </a:p>
          <a:p>
            <a:endParaRPr lang="en-US" altLang="zh-CN">
              <a:latin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2102"/>
                                        </p:tgtEl>
                                        <p:attrNameLst>
                                          <p:attrName>style.visibility</p:attrName>
                                        </p:attrNameLst>
                                      </p:cBhvr>
                                      <p:to>
                                        <p:strVal val="visible"/>
                                      </p:to>
                                    </p:set>
                                    <p:animEffect transition="in" filter="blinds(horizontal)">
                                      <p:cBhvr>
                                        <p:cTn id="7" dur="500"/>
                                        <p:tgtEl>
                                          <p:spTgt spid="1321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132102"/>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32104"/>
                                        </p:tgtEl>
                                        <p:attrNameLst>
                                          <p:attrName>style.visibility</p:attrName>
                                        </p:attrNameLst>
                                      </p:cBhvr>
                                      <p:to>
                                        <p:strVal val="visible"/>
                                      </p:to>
                                    </p:set>
                                    <p:animEffect transition="in" filter="blinds(horizontal)">
                                      <p:cBhvr>
                                        <p:cTn id="16" dur="500"/>
                                        <p:tgtEl>
                                          <p:spTgt spid="13210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132104"/>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32105"/>
                                        </p:tgtEl>
                                        <p:attrNameLst>
                                          <p:attrName>style.visibility</p:attrName>
                                        </p:attrNameLst>
                                      </p:cBhvr>
                                      <p:to>
                                        <p:strVal val="visible"/>
                                      </p:to>
                                    </p:set>
                                    <p:animEffect transition="in" filter="blinds(horizontal)">
                                      <p:cBhvr>
                                        <p:cTn id="25" dur="500"/>
                                        <p:tgtEl>
                                          <p:spTgt spid="13210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xit" presetSubtype="0" fill="hold" grpId="1" nodeType="clickEffect">
                                  <p:stCondLst>
                                    <p:cond delay="0"/>
                                  </p:stCondLst>
                                  <p:childTnLst>
                                    <p:set>
                                      <p:cBhvr>
                                        <p:cTn id="29" dur="1" fill="hold">
                                          <p:stCondLst>
                                            <p:cond delay="0"/>
                                          </p:stCondLst>
                                        </p:cTn>
                                        <p:tgtEl>
                                          <p:spTgt spid="1321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2" grpId="0" animBg="1"/>
      <p:bldP spid="132102" grpId="1" animBg="1"/>
      <p:bldP spid="132104" grpId="0" animBg="1"/>
      <p:bldP spid="132104" grpId="1" animBg="1"/>
      <p:bldP spid="132105" grpId="0" animBg="1"/>
      <p:bldP spid="132105" grpId="1"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AABF6225-A99E-431E-A666-E8F6B2AFD091}" type="slidenum">
              <a:rPr lang="en-US" altLang="zh-CN"/>
              <a:pPr>
                <a:defRPr/>
              </a:pPr>
              <a:t>136</a:t>
            </a:fld>
            <a:endParaRPr lang="en-US" altLang="zh-CN"/>
          </a:p>
        </p:txBody>
      </p:sp>
      <p:sp>
        <p:nvSpPr>
          <p:cNvPr id="12292" name="Rectangle 4"/>
          <p:cNvSpPr>
            <a:spLocks noChangeArrowheads="1"/>
          </p:cNvSpPr>
          <p:nvPr/>
        </p:nvSpPr>
        <p:spPr bwMode="auto">
          <a:xfrm>
            <a:off x="179388" y="260350"/>
            <a:ext cx="8064500"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eaLnBrk="0" hangingPunct="0"/>
            <a:r>
              <a:rPr lang="en-US" altLang="zh-CN" sz="2400">
                <a:latin typeface="楷体_GB2312" pitchFamily="49" charset="-122"/>
              </a:rPr>
              <a:t>P101-3. </a:t>
            </a:r>
            <a:r>
              <a:rPr lang="zh-CN" altLang="en-US" sz="2400">
                <a:latin typeface="楷体_GB2312" pitchFamily="49" charset="-122"/>
              </a:rPr>
              <a:t>用</a:t>
            </a:r>
            <a:r>
              <a:rPr lang="en-US" altLang="zh-CN" sz="2400">
                <a:latin typeface="楷体_GB2312" pitchFamily="49" charset="-122"/>
              </a:rPr>
              <a:t>16Kx8</a:t>
            </a:r>
            <a:r>
              <a:rPr lang="zh-CN" altLang="en-US" sz="2400">
                <a:latin typeface="楷体_GB2312" pitchFamily="49" charset="-122"/>
              </a:rPr>
              <a:t>位的</a:t>
            </a:r>
            <a:r>
              <a:rPr lang="en-US" altLang="zh-CN" sz="2400">
                <a:latin typeface="楷体_GB2312" pitchFamily="49" charset="-122"/>
              </a:rPr>
              <a:t>DRAM</a:t>
            </a:r>
            <a:r>
              <a:rPr lang="zh-CN" altLang="en-US" sz="2400">
                <a:latin typeface="楷体_GB2312" pitchFamily="49" charset="-122"/>
              </a:rPr>
              <a:t>芯片构成</a:t>
            </a:r>
            <a:r>
              <a:rPr lang="en-US" altLang="zh-CN" sz="2400">
                <a:latin typeface="楷体_GB2312" pitchFamily="49" charset="-122"/>
              </a:rPr>
              <a:t>64Kx32</a:t>
            </a:r>
            <a:r>
              <a:rPr lang="zh-CN" altLang="en-US" sz="2400">
                <a:latin typeface="楷体_GB2312" pitchFamily="49" charset="-122"/>
              </a:rPr>
              <a:t>位的存储器。</a:t>
            </a:r>
            <a:br>
              <a:rPr lang="zh-CN" altLang="en-US" sz="2400">
                <a:latin typeface="楷体_GB2312" pitchFamily="49" charset="-122"/>
              </a:rPr>
            </a:br>
            <a:r>
              <a:rPr lang="zh-CN" altLang="en-US" sz="2400">
                <a:latin typeface="楷体_GB2312" pitchFamily="49" charset="-122"/>
              </a:rPr>
              <a:t>①画出该存储器组成的逻辑框图。</a:t>
            </a:r>
            <a:br>
              <a:rPr lang="zh-CN" altLang="en-US" sz="2400">
                <a:latin typeface="楷体_GB2312" pitchFamily="49" charset="-122"/>
              </a:rPr>
            </a:br>
            <a:r>
              <a:rPr lang="zh-CN" altLang="en-US" sz="2400">
                <a:latin typeface="楷体_GB2312" pitchFamily="49" charset="-122"/>
              </a:rPr>
              <a:t>②设存储器读、写周期均为</a:t>
            </a:r>
            <a:r>
              <a:rPr lang="en-US" altLang="zh-CN" sz="2400">
                <a:latin typeface="楷体_GB2312" pitchFamily="49" charset="-122"/>
              </a:rPr>
              <a:t>0.5μs</a:t>
            </a:r>
            <a:r>
              <a:rPr lang="zh-CN" altLang="en-US" sz="2400">
                <a:latin typeface="楷体_GB2312" pitchFamily="49" charset="-122"/>
              </a:rPr>
              <a:t>，</a:t>
            </a:r>
            <a:r>
              <a:rPr lang="en-US" altLang="zh-CN" sz="2400">
                <a:latin typeface="楷体_GB2312" pitchFamily="49" charset="-122"/>
              </a:rPr>
              <a:t>CPU</a:t>
            </a:r>
            <a:r>
              <a:rPr lang="zh-CN" altLang="en-US" sz="2400">
                <a:latin typeface="楷体_GB2312" pitchFamily="49" charset="-122"/>
              </a:rPr>
              <a:t>在</a:t>
            </a:r>
            <a:r>
              <a:rPr lang="en-US" altLang="zh-CN" sz="2400">
                <a:latin typeface="楷体_GB2312" pitchFamily="49" charset="-122"/>
              </a:rPr>
              <a:t>1μs</a:t>
            </a:r>
            <a:r>
              <a:rPr lang="zh-CN" altLang="en-US" sz="2400">
                <a:latin typeface="楷体_GB2312" pitchFamily="49" charset="-122"/>
              </a:rPr>
              <a:t>内至少访问一次。试问采用哪种刷新方式比较合理</a:t>
            </a:r>
            <a:r>
              <a:rPr lang="en-US" altLang="zh-CN" sz="2400">
                <a:latin typeface="楷体_GB2312" pitchFamily="49" charset="-122"/>
              </a:rPr>
              <a:t>?</a:t>
            </a:r>
            <a:r>
              <a:rPr lang="zh-CN" altLang="en-US" sz="2400">
                <a:latin typeface="楷体_GB2312" pitchFamily="49" charset="-122"/>
              </a:rPr>
              <a:t>两次刷新的最大时间间隔是多少</a:t>
            </a:r>
            <a:r>
              <a:rPr lang="en-US" altLang="zh-CN" sz="2400">
                <a:latin typeface="楷体_GB2312" pitchFamily="49" charset="-122"/>
              </a:rPr>
              <a:t>?</a:t>
            </a:r>
            <a:r>
              <a:rPr lang="zh-CN" altLang="en-US" sz="2400">
                <a:latin typeface="楷体_GB2312" pitchFamily="49" charset="-122"/>
              </a:rPr>
              <a:t>对全部存储单元刷新一遍所需的实际刷新时间是多少</a:t>
            </a:r>
            <a:r>
              <a:rPr lang="en-US" altLang="zh-CN" sz="2400">
                <a:latin typeface="楷体_GB2312" pitchFamily="49" charset="-122"/>
              </a:rPr>
              <a:t>? </a:t>
            </a:r>
          </a:p>
          <a:p>
            <a:pPr eaLnBrk="0" hangingPunct="0"/>
            <a:r>
              <a:rPr lang="zh-CN" altLang="en-US" sz="2400">
                <a:latin typeface="楷体_GB2312" pitchFamily="49" charset="-122"/>
              </a:rPr>
              <a:t>解：① 存储器总容量为</a:t>
            </a:r>
            <a:r>
              <a:rPr lang="en-US" altLang="zh-CN" sz="2400">
                <a:latin typeface="楷体_GB2312" pitchFamily="49" charset="-122"/>
              </a:rPr>
              <a:t>64Kx32</a:t>
            </a:r>
            <a:r>
              <a:rPr lang="zh-CN" altLang="en-US" sz="2400">
                <a:latin typeface="楷体_GB2312" pitchFamily="49" charset="-122"/>
              </a:rPr>
              <a:t>位，现使用</a:t>
            </a:r>
            <a:r>
              <a:rPr lang="en-US" altLang="zh-CN" sz="2400">
                <a:latin typeface="楷体_GB2312" pitchFamily="49" charset="-122"/>
              </a:rPr>
              <a:t>16Kx8</a:t>
            </a:r>
            <a:r>
              <a:rPr lang="zh-CN" altLang="en-US" sz="2400">
                <a:latin typeface="楷体_GB2312" pitchFamily="49" charset="-122"/>
              </a:rPr>
              <a:t>位的</a:t>
            </a:r>
            <a:r>
              <a:rPr lang="en-US" altLang="zh-CN" sz="2400">
                <a:latin typeface="楷体_GB2312" pitchFamily="49" charset="-122"/>
              </a:rPr>
              <a:t>DRAM</a:t>
            </a:r>
            <a:r>
              <a:rPr lang="zh-CN" altLang="en-US" sz="2400">
                <a:latin typeface="楷体_GB2312" pitchFamily="49" charset="-122"/>
              </a:rPr>
              <a:t>芯片</a:t>
            </a:r>
            <a:r>
              <a:rPr lang="en-US" altLang="zh-CN" sz="2400">
                <a:latin typeface="楷体_GB2312" pitchFamily="49" charset="-122"/>
              </a:rPr>
              <a:t>,</a:t>
            </a:r>
            <a:r>
              <a:rPr lang="zh-CN" altLang="en-US" sz="2400">
                <a:latin typeface="楷体_GB2312" pitchFamily="49" charset="-122"/>
              </a:rPr>
              <a:t>共需</a:t>
            </a:r>
            <a:r>
              <a:rPr lang="en-US" altLang="zh-CN" sz="2400">
                <a:latin typeface="楷体_GB2312" pitchFamily="49" charset="-122"/>
              </a:rPr>
              <a:t>16</a:t>
            </a:r>
            <a:r>
              <a:rPr lang="zh-CN" altLang="en-US" sz="2400">
                <a:latin typeface="楷体_GB2312" pitchFamily="49" charset="-122"/>
              </a:rPr>
              <a:t>片。</a:t>
            </a:r>
            <a:r>
              <a:rPr lang="en-US" altLang="zh-CN" sz="2400">
                <a:latin typeface="楷体_GB2312" pitchFamily="49" charset="-122"/>
              </a:rPr>
              <a:t>4</a:t>
            </a:r>
            <a:r>
              <a:rPr lang="zh-CN" altLang="en-US" sz="2400">
                <a:latin typeface="楷体_GB2312" pitchFamily="49" charset="-122"/>
              </a:rPr>
              <a:t>片位扩展组成</a:t>
            </a:r>
            <a:r>
              <a:rPr lang="en-US" altLang="zh-CN" sz="2400">
                <a:latin typeface="楷体_GB2312" pitchFamily="49" charset="-122"/>
              </a:rPr>
              <a:t>16Kx32</a:t>
            </a:r>
            <a:r>
              <a:rPr lang="zh-CN" altLang="en-US" sz="2400">
                <a:latin typeface="楷体_GB2312" pitchFamily="49" charset="-122"/>
              </a:rPr>
              <a:t>位的模块</a:t>
            </a:r>
            <a:r>
              <a:rPr lang="en-US" altLang="zh-CN" sz="2400">
                <a:latin typeface="楷体_GB2312" pitchFamily="49" charset="-122"/>
              </a:rPr>
              <a:t>,4</a:t>
            </a:r>
            <a:r>
              <a:rPr lang="zh-CN" altLang="en-US" sz="2400">
                <a:latin typeface="楷体_GB2312" pitchFamily="49" charset="-122"/>
              </a:rPr>
              <a:t>个模块组成整个存储器，片选由</a:t>
            </a:r>
            <a:r>
              <a:rPr lang="en-US" altLang="zh-CN" sz="2400">
                <a:latin typeface="楷体_GB2312" pitchFamily="49" charset="-122"/>
              </a:rPr>
              <a:t>2:4</a:t>
            </a:r>
            <a:r>
              <a:rPr lang="zh-CN" altLang="en-US" sz="2400">
                <a:latin typeface="楷体_GB2312" pitchFamily="49" charset="-122"/>
              </a:rPr>
              <a:t>译码器完成。 </a:t>
            </a:r>
          </a:p>
        </p:txBody>
      </p:sp>
      <p:graphicFrame>
        <p:nvGraphicFramePr>
          <p:cNvPr id="12290" name="Object 7"/>
          <p:cNvGraphicFramePr>
            <a:graphicFrameLocks noChangeAspect="1"/>
          </p:cNvGraphicFramePr>
          <p:nvPr/>
        </p:nvGraphicFramePr>
        <p:xfrm>
          <a:off x="381000" y="3657600"/>
          <a:ext cx="8001000" cy="2632075"/>
        </p:xfrm>
        <a:graphic>
          <a:graphicData uri="http://schemas.openxmlformats.org/presentationml/2006/ole">
            <mc:AlternateContent xmlns:mc="http://schemas.openxmlformats.org/markup-compatibility/2006">
              <mc:Choice xmlns:v="urn:schemas-microsoft-com:vml" Requires="v">
                <p:oleObj spid="_x0000_s12419" name="位图图像" r:id="rId3" imgW="6954221" imgH="2266667" progId="PBrush">
                  <p:embed/>
                </p:oleObj>
              </mc:Choice>
              <mc:Fallback>
                <p:oleObj name="位图图像" r:id="rId3" imgW="6954221" imgH="2266667" progId="PBrush">
                  <p:embed/>
                  <p:pic>
                    <p:nvPicPr>
                      <p:cNvPr id="0"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657600"/>
                        <a:ext cx="8001000" cy="263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1FF249A9-A07C-40BD-8668-2FA535CB158D}" type="slidenum">
              <a:rPr lang="en-US" altLang="zh-CN"/>
              <a:pPr>
                <a:defRPr/>
              </a:pPr>
              <a:t>137</a:t>
            </a:fld>
            <a:endParaRPr lang="en-US" altLang="zh-CN"/>
          </a:p>
        </p:txBody>
      </p:sp>
      <p:sp>
        <p:nvSpPr>
          <p:cNvPr id="156675" name="Rectangle 4"/>
          <p:cNvSpPr>
            <a:spLocks noChangeArrowheads="1"/>
          </p:cNvSpPr>
          <p:nvPr/>
        </p:nvSpPr>
        <p:spPr bwMode="auto">
          <a:xfrm>
            <a:off x="304800" y="228600"/>
            <a:ext cx="8359775" cy="1800225"/>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eaLnBrk="0" hangingPunct="0"/>
            <a:r>
              <a:rPr lang="en-US" altLang="zh-CN">
                <a:latin typeface="楷体_GB2312" pitchFamily="49" charset="-122"/>
              </a:rPr>
              <a:t>②</a:t>
            </a:r>
            <a:r>
              <a:rPr lang="zh-CN" altLang="en-US">
                <a:latin typeface="楷体_GB2312" pitchFamily="49" charset="-122"/>
              </a:rPr>
              <a:t>设存储器读、写周期均为</a:t>
            </a:r>
            <a:r>
              <a:rPr lang="en-US" altLang="zh-CN">
                <a:latin typeface="楷体_GB2312" pitchFamily="49" charset="-122"/>
              </a:rPr>
              <a:t>0.5μs</a:t>
            </a:r>
            <a:r>
              <a:rPr lang="zh-CN" altLang="en-US">
                <a:latin typeface="楷体_GB2312" pitchFamily="49" charset="-122"/>
              </a:rPr>
              <a:t>，</a:t>
            </a:r>
            <a:r>
              <a:rPr lang="en-US" altLang="zh-CN">
                <a:latin typeface="楷体_GB2312" pitchFamily="49" charset="-122"/>
              </a:rPr>
              <a:t>CPU</a:t>
            </a:r>
            <a:r>
              <a:rPr lang="zh-CN" altLang="en-US">
                <a:latin typeface="楷体_GB2312" pitchFamily="49" charset="-122"/>
              </a:rPr>
              <a:t>在</a:t>
            </a:r>
            <a:r>
              <a:rPr lang="en-US" altLang="zh-CN">
                <a:latin typeface="楷体_GB2312" pitchFamily="49" charset="-122"/>
              </a:rPr>
              <a:t>1μs</a:t>
            </a:r>
            <a:r>
              <a:rPr lang="zh-CN" altLang="en-US">
                <a:latin typeface="楷体_GB2312" pitchFamily="49" charset="-122"/>
              </a:rPr>
              <a:t>内至少访问一次。试问采用哪种刷新方式比较合理</a:t>
            </a:r>
            <a:r>
              <a:rPr lang="en-US" altLang="zh-CN">
                <a:latin typeface="楷体_GB2312" pitchFamily="49" charset="-122"/>
              </a:rPr>
              <a:t>?</a:t>
            </a:r>
            <a:r>
              <a:rPr lang="zh-CN" altLang="en-US">
                <a:latin typeface="楷体_GB2312" pitchFamily="49" charset="-122"/>
              </a:rPr>
              <a:t>两次刷新的最大时间间隔是多少</a:t>
            </a:r>
            <a:r>
              <a:rPr lang="en-US" altLang="zh-CN">
                <a:latin typeface="楷体_GB2312" pitchFamily="49" charset="-122"/>
              </a:rPr>
              <a:t>?</a:t>
            </a:r>
            <a:r>
              <a:rPr lang="zh-CN" altLang="en-US">
                <a:latin typeface="楷体_GB2312" pitchFamily="49" charset="-122"/>
              </a:rPr>
              <a:t>对全部存储单元刷新一遍所需的实际刷新时间是多少</a:t>
            </a:r>
            <a:r>
              <a:rPr lang="en-US" altLang="zh-CN">
                <a:latin typeface="楷体_GB2312" pitchFamily="49" charset="-122"/>
              </a:rPr>
              <a:t>?</a:t>
            </a:r>
          </a:p>
        </p:txBody>
      </p:sp>
      <p:sp>
        <p:nvSpPr>
          <p:cNvPr id="156676" name="Rectangle 5"/>
          <p:cNvSpPr>
            <a:spLocks noChangeArrowheads="1"/>
          </p:cNvSpPr>
          <p:nvPr/>
        </p:nvSpPr>
        <p:spPr bwMode="auto">
          <a:xfrm>
            <a:off x="304800" y="2209800"/>
            <a:ext cx="8435975" cy="3935413"/>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eaLnBrk="0" hangingPunct="0"/>
            <a:r>
              <a:rPr lang="en-US" altLang="zh-CN"/>
              <a:t>        </a:t>
            </a:r>
            <a:r>
              <a:rPr lang="zh-CN" altLang="en-US">
                <a:latin typeface="楷体_GB2312" pitchFamily="49" charset="-122"/>
              </a:rPr>
              <a:t>根据已知条件，</a:t>
            </a:r>
            <a:r>
              <a:rPr lang="en-US" altLang="zh-CN">
                <a:latin typeface="楷体_GB2312" pitchFamily="49" charset="-122"/>
              </a:rPr>
              <a:t>CPU</a:t>
            </a:r>
            <a:r>
              <a:rPr lang="zh-CN" altLang="en-US">
                <a:latin typeface="楷体_GB2312" pitchFamily="49" charset="-122"/>
              </a:rPr>
              <a:t>在</a:t>
            </a:r>
            <a:r>
              <a:rPr lang="en-US" altLang="zh-CN">
                <a:latin typeface="楷体_GB2312" pitchFamily="49" charset="-122"/>
              </a:rPr>
              <a:t>1μs</a:t>
            </a:r>
            <a:r>
              <a:rPr lang="zh-CN" altLang="en-US">
                <a:latin typeface="楷体_GB2312" pitchFamily="49" charset="-122"/>
              </a:rPr>
              <a:t>内至少访存一次，所以整个存储器的平均读／写周期与单个存储器片的读／写周期相差不多。应采用异步式刷新方式比较合理。对</a:t>
            </a:r>
            <a:r>
              <a:rPr lang="en-US" altLang="zh-CN">
                <a:latin typeface="楷体_GB2312" pitchFamily="49" charset="-122"/>
              </a:rPr>
              <a:t>DRAM</a:t>
            </a:r>
            <a:r>
              <a:rPr lang="zh-CN" altLang="en-US">
                <a:latin typeface="楷体_GB2312" pitchFamily="49" charset="-122"/>
              </a:rPr>
              <a:t>存储器来讲，两次刷新的最大时间间隔是</a:t>
            </a:r>
            <a:r>
              <a:rPr lang="en-US" altLang="zh-CN">
                <a:latin typeface="楷体_GB2312" pitchFamily="49" charset="-122"/>
              </a:rPr>
              <a:t>2ms</a:t>
            </a:r>
            <a:r>
              <a:rPr lang="zh-CN" altLang="en-US">
                <a:latin typeface="楷体_GB2312" pitchFamily="49" charset="-122"/>
              </a:rPr>
              <a:t>， </a:t>
            </a:r>
            <a:r>
              <a:rPr lang="en-US" altLang="zh-CN">
                <a:latin typeface="楷体_GB2312" pitchFamily="49" charset="-122"/>
              </a:rPr>
              <a:t>DRAM</a:t>
            </a:r>
            <a:r>
              <a:rPr lang="zh-CN" altLang="en-US">
                <a:latin typeface="楷体_GB2312" pitchFamily="49" charset="-122"/>
              </a:rPr>
              <a:t>芯片读／写周期为</a:t>
            </a:r>
            <a:r>
              <a:rPr lang="en-US" altLang="zh-CN">
                <a:latin typeface="楷体_GB2312" pitchFamily="49" charset="-122"/>
              </a:rPr>
              <a:t>0.5μs</a:t>
            </a:r>
            <a:r>
              <a:rPr lang="zh-CN" altLang="en-US">
                <a:latin typeface="楷体_GB2312" pitchFamily="49" charset="-122"/>
              </a:rPr>
              <a:t>，假定</a:t>
            </a:r>
            <a:r>
              <a:rPr lang="en-US" altLang="zh-CN">
                <a:latin typeface="楷体_GB2312" pitchFamily="49" charset="-122"/>
              </a:rPr>
              <a:t>16Kx8</a:t>
            </a:r>
            <a:r>
              <a:rPr lang="zh-CN" altLang="en-US">
                <a:latin typeface="楷体_GB2312" pitchFamily="49" charset="-122"/>
              </a:rPr>
              <a:t>位的</a:t>
            </a:r>
            <a:r>
              <a:rPr lang="en-US" altLang="zh-CN">
                <a:latin typeface="楷体_GB2312" pitchFamily="49" charset="-122"/>
              </a:rPr>
              <a:t>DRAM</a:t>
            </a:r>
            <a:r>
              <a:rPr lang="zh-CN" altLang="en-US">
                <a:latin typeface="楷体_GB2312" pitchFamily="49" charset="-122"/>
              </a:rPr>
              <a:t>芯片用</a:t>
            </a:r>
            <a:r>
              <a:rPr lang="en-US" altLang="zh-CN">
                <a:latin typeface="楷体_GB2312" pitchFamily="49" charset="-122"/>
              </a:rPr>
              <a:t>128x128</a:t>
            </a:r>
            <a:r>
              <a:rPr lang="zh-CN" altLang="en-US">
                <a:latin typeface="楷体_GB2312" pitchFamily="49" charset="-122"/>
              </a:rPr>
              <a:t>矩阵存储元构成，刷新时只对</a:t>
            </a:r>
            <a:r>
              <a:rPr lang="en-US" altLang="zh-CN">
                <a:latin typeface="楷体_GB2312" pitchFamily="49" charset="-122"/>
              </a:rPr>
              <a:t>128</a:t>
            </a:r>
            <a:r>
              <a:rPr lang="zh-CN" altLang="en-US">
                <a:latin typeface="楷体_GB2312" pitchFamily="49" charset="-122"/>
              </a:rPr>
              <a:t>行进行异步方式刷新，则刷新间隔为</a:t>
            </a:r>
            <a:r>
              <a:rPr lang="en-US" altLang="zh-CN">
                <a:latin typeface="楷体_GB2312" pitchFamily="49" charset="-122"/>
              </a:rPr>
              <a:t>2ms</a:t>
            </a:r>
            <a:r>
              <a:rPr lang="zh-CN" altLang="en-US">
                <a:latin typeface="楷体_GB2312" pitchFamily="49" charset="-122"/>
              </a:rPr>
              <a:t>／</a:t>
            </a:r>
            <a:r>
              <a:rPr lang="en-US" altLang="zh-CN">
                <a:latin typeface="楷体_GB2312" pitchFamily="49" charset="-122"/>
              </a:rPr>
              <a:t>128</a:t>
            </a:r>
            <a:r>
              <a:rPr lang="zh-CN" altLang="en-US">
                <a:latin typeface="楷体_GB2312" pitchFamily="49" charset="-122"/>
              </a:rPr>
              <a:t>＝</a:t>
            </a:r>
            <a:r>
              <a:rPr lang="en-US" altLang="zh-CN">
                <a:latin typeface="楷体_GB2312" pitchFamily="49" charset="-122"/>
              </a:rPr>
              <a:t>15.6μs</a:t>
            </a:r>
            <a:r>
              <a:rPr lang="zh-CN" altLang="en-US">
                <a:latin typeface="楷体_GB2312" pitchFamily="49" charset="-122"/>
              </a:rPr>
              <a:t>，可取刷新信号周期</a:t>
            </a:r>
            <a:r>
              <a:rPr lang="en-US" altLang="zh-CN">
                <a:latin typeface="楷体_GB2312" pitchFamily="49" charset="-122"/>
              </a:rPr>
              <a:t>15μs</a:t>
            </a:r>
            <a:r>
              <a:rPr lang="zh-CN" altLang="en-US">
                <a:latin typeface="楷体_GB2312" pitchFamily="49" charset="-122"/>
              </a:rPr>
              <a:t>。</a:t>
            </a:r>
          </a:p>
          <a:p>
            <a:pPr eaLnBrk="0" hangingPunct="0"/>
            <a:r>
              <a:rPr lang="zh-CN" altLang="en-US">
                <a:latin typeface="楷体_GB2312" pitchFamily="49" charset="-122"/>
              </a:rPr>
              <a:t>刷新一遍所需时间 </a:t>
            </a:r>
            <a:r>
              <a:rPr lang="en-US" altLang="zh-CN">
                <a:latin typeface="楷体_GB2312" pitchFamily="49" charset="-122"/>
              </a:rPr>
              <a:t>= 15μs  x 128 = 1.92ms </a:t>
            </a:r>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50EA5542-61AD-4B03-94CF-546E4DCEAC7D}" type="slidenum">
              <a:rPr lang="en-US" altLang="zh-CN"/>
              <a:pPr>
                <a:defRPr/>
              </a:pPr>
              <a:t>138</a:t>
            </a:fld>
            <a:endParaRPr lang="en-US" altLang="zh-CN"/>
          </a:p>
        </p:txBody>
      </p:sp>
      <p:sp>
        <p:nvSpPr>
          <p:cNvPr id="13316" name="Rectangle 4"/>
          <p:cNvSpPr>
            <a:spLocks noChangeArrowheads="1"/>
          </p:cNvSpPr>
          <p:nvPr/>
        </p:nvSpPr>
        <p:spPr bwMode="auto">
          <a:xfrm>
            <a:off x="323850" y="404813"/>
            <a:ext cx="7632700"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indent="266700">
              <a:tabLst>
                <a:tab pos="457200" algn="l"/>
              </a:tabLst>
            </a:pPr>
            <a:r>
              <a:rPr lang="en-US" altLang="zh-CN" sz="2400">
                <a:latin typeface="楷体_GB2312" pitchFamily="49" charset="-122"/>
              </a:rPr>
              <a:t>P102-4. </a:t>
            </a:r>
            <a:r>
              <a:rPr lang="zh-CN" altLang="en-US" sz="2400">
                <a:latin typeface="楷体_GB2312" pitchFamily="49" charset="-122"/>
              </a:rPr>
              <a:t>有一个</a:t>
            </a:r>
            <a:r>
              <a:rPr lang="en-US" altLang="zh-CN" sz="2400">
                <a:latin typeface="楷体_GB2312" pitchFamily="49" charset="-122"/>
              </a:rPr>
              <a:t>1024Kx32</a:t>
            </a:r>
            <a:r>
              <a:rPr lang="zh-CN" altLang="en-US" sz="2400">
                <a:latin typeface="楷体_GB2312" pitchFamily="49" charset="-122"/>
              </a:rPr>
              <a:t>位的存储器，由</a:t>
            </a:r>
            <a:r>
              <a:rPr lang="en-US" altLang="zh-CN" sz="2400">
                <a:latin typeface="楷体_GB2312" pitchFamily="49" charset="-122"/>
              </a:rPr>
              <a:t>128Kx8</a:t>
            </a:r>
            <a:r>
              <a:rPr lang="zh-CN" altLang="en-US" sz="2400">
                <a:latin typeface="楷体_GB2312" pitchFamily="49" charset="-122"/>
              </a:rPr>
              <a:t>位的</a:t>
            </a:r>
            <a:r>
              <a:rPr lang="en-US" altLang="zh-CN" sz="2400">
                <a:latin typeface="楷体_GB2312" pitchFamily="49" charset="-122"/>
              </a:rPr>
              <a:t>DRAM</a:t>
            </a:r>
            <a:r>
              <a:rPr lang="zh-CN" altLang="en-US" sz="2400">
                <a:latin typeface="楷体_GB2312" pitchFamily="49" charset="-122"/>
              </a:rPr>
              <a:t>芯片构成。问：</a:t>
            </a:r>
          </a:p>
          <a:p>
            <a:pPr indent="266700">
              <a:tabLst>
                <a:tab pos="457200" algn="l"/>
              </a:tabLst>
            </a:pPr>
            <a:r>
              <a:rPr lang="en-US" altLang="zh-CN" sz="2400">
                <a:latin typeface="楷体_GB2312" pitchFamily="49" charset="-122"/>
              </a:rPr>
              <a:t>(1)</a:t>
            </a:r>
            <a:r>
              <a:rPr lang="zh-CN" altLang="en-US" sz="2400">
                <a:latin typeface="楷体_GB2312" pitchFamily="49" charset="-122"/>
              </a:rPr>
              <a:t>总共需多少</a:t>
            </a:r>
            <a:r>
              <a:rPr lang="en-US" altLang="zh-CN" sz="2400">
                <a:latin typeface="楷体_GB2312" pitchFamily="49" charset="-122"/>
              </a:rPr>
              <a:t>DRAM</a:t>
            </a:r>
            <a:r>
              <a:rPr lang="zh-CN" altLang="en-US" sz="2400">
                <a:latin typeface="楷体_GB2312" pitchFamily="49" charset="-122"/>
              </a:rPr>
              <a:t>芯片？</a:t>
            </a:r>
          </a:p>
          <a:p>
            <a:pPr indent="266700">
              <a:tabLst>
                <a:tab pos="457200" algn="l"/>
              </a:tabLst>
            </a:pPr>
            <a:r>
              <a:rPr lang="en-US" altLang="zh-CN" sz="2400">
                <a:latin typeface="楷体_GB2312" pitchFamily="49" charset="-122"/>
              </a:rPr>
              <a:t>(2)</a:t>
            </a:r>
            <a:r>
              <a:rPr lang="zh-CN" altLang="en-US" sz="2400">
                <a:latin typeface="楷体_GB2312" pitchFamily="49" charset="-122"/>
              </a:rPr>
              <a:t>设计此存储体组成框图。</a:t>
            </a:r>
          </a:p>
          <a:p>
            <a:pPr indent="266700">
              <a:tabLst>
                <a:tab pos="457200" algn="l"/>
              </a:tabLst>
            </a:pPr>
            <a:r>
              <a:rPr lang="en-US" altLang="zh-CN" sz="2400">
                <a:latin typeface="楷体_GB2312" pitchFamily="49" charset="-122"/>
              </a:rPr>
              <a:t>(3)</a:t>
            </a:r>
            <a:r>
              <a:rPr lang="zh-CN" altLang="en-US" sz="2400">
                <a:latin typeface="楷体_GB2312" pitchFamily="49" charset="-122"/>
              </a:rPr>
              <a:t>采用异步刷新方式，如单元刷新间隔不超过</a:t>
            </a:r>
            <a:r>
              <a:rPr lang="en-US" altLang="zh-CN" sz="2400">
                <a:latin typeface="楷体_GB2312" pitchFamily="49" charset="-122"/>
              </a:rPr>
              <a:t>8ms</a:t>
            </a:r>
            <a:r>
              <a:rPr lang="zh-CN" altLang="en-US" sz="2400">
                <a:latin typeface="楷体_GB2312" pitchFamily="49" charset="-122"/>
              </a:rPr>
              <a:t>，则刷新信号周期是多少？</a:t>
            </a:r>
          </a:p>
        </p:txBody>
      </p:sp>
      <p:sp>
        <p:nvSpPr>
          <p:cNvPr id="135173" name="Rectangle 5"/>
          <p:cNvSpPr>
            <a:spLocks noChangeArrowheads="1"/>
          </p:cNvSpPr>
          <p:nvPr/>
        </p:nvSpPr>
        <p:spPr bwMode="auto">
          <a:xfrm>
            <a:off x="381000" y="2743200"/>
            <a:ext cx="7777163"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sz="2400">
                <a:latin typeface="楷体_GB2312" pitchFamily="49" charset="-122"/>
              </a:rPr>
              <a:t>解</a:t>
            </a:r>
            <a:r>
              <a:rPr lang="en-US" altLang="zh-CN" sz="2400">
                <a:latin typeface="楷体_GB2312" pitchFamily="49" charset="-122"/>
              </a:rPr>
              <a:t>:(1)</a:t>
            </a:r>
            <a:r>
              <a:rPr lang="zh-CN" altLang="en-US" sz="2400">
                <a:latin typeface="楷体_GB2312" pitchFamily="49" charset="-122"/>
              </a:rPr>
              <a:t>总共需</a:t>
            </a:r>
            <a:r>
              <a:rPr lang="en-US" altLang="zh-CN" sz="2400">
                <a:latin typeface="楷体_GB2312" pitchFamily="49" charset="-122"/>
              </a:rPr>
              <a:t>1024Kx32/128Kx8=32</a:t>
            </a:r>
            <a:r>
              <a:rPr lang="zh-CN" altLang="en-US" sz="2400">
                <a:latin typeface="楷体_GB2312" pitchFamily="49" charset="-122"/>
              </a:rPr>
              <a:t>片</a:t>
            </a:r>
            <a:r>
              <a:rPr lang="en-US" altLang="zh-CN" sz="2400">
                <a:latin typeface="楷体_GB2312" pitchFamily="49" charset="-122"/>
              </a:rPr>
              <a:t>DRAM</a:t>
            </a:r>
            <a:r>
              <a:rPr lang="zh-CN" altLang="en-US" sz="2400">
                <a:latin typeface="楷体_GB2312" pitchFamily="49" charset="-122"/>
              </a:rPr>
              <a:t>芯片  </a:t>
            </a:r>
          </a:p>
          <a:p>
            <a:r>
              <a:rPr lang="zh-CN" altLang="en-US" sz="2400">
                <a:latin typeface="楷体_GB2312" pitchFamily="49" charset="-122"/>
              </a:rPr>
              <a:t>   </a:t>
            </a:r>
            <a:r>
              <a:rPr lang="en-US" altLang="zh-CN" sz="2400">
                <a:latin typeface="楷体_GB2312" pitchFamily="49" charset="-122"/>
              </a:rPr>
              <a:t>(2)4</a:t>
            </a:r>
            <a:r>
              <a:rPr lang="zh-CN" altLang="en-US" sz="2400">
                <a:latin typeface="楷体_GB2312" pitchFamily="49" charset="-122"/>
              </a:rPr>
              <a:t>片位扩展组成</a:t>
            </a:r>
            <a:r>
              <a:rPr lang="en-US" altLang="zh-CN" sz="2400">
                <a:latin typeface="楷体_GB2312" pitchFamily="49" charset="-122"/>
              </a:rPr>
              <a:t>128Kx32</a:t>
            </a:r>
            <a:r>
              <a:rPr lang="zh-CN" altLang="en-US" sz="2400">
                <a:latin typeface="楷体_GB2312" pitchFamily="49" charset="-122"/>
              </a:rPr>
              <a:t>位的模块，</a:t>
            </a:r>
            <a:r>
              <a:rPr lang="en-US" altLang="zh-CN" sz="2400">
                <a:latin typeface="楷体_GB2312" pitchFamily="49" charset="-122"/>
              </a:rPr>
              <a:t>8</a:t>
            </a:r>
            <a:r>
              <a:rPr lang="zh-CN" altLang="en-US" sz="2400">
                <a:latin typeface="楷体_GB2312" pitchFamily="49" charset="-122"/>
              </a:rPr>
              <a:t>个模块组成整</a:t>
            </a:r>
          </a:p>
          <a:p>
            <a:r>
              <a:rPr lang="zh-CN" altLang="en-US" sz="2400">
                <a:latin typeface="楷体_GB2312" pitchFamily="49" charset="-122"/>
              </a:rPr>
              <a:t>      个存储器，其组成逻辑框图如图所示。 </a:t>
            </a:r>
          </a:p>
          <a:p>
            <a:r>
              <a:rPr lang="zh-CN" altLang="en-US" sz="2400">
                <a:latin typeface="楷体_GB2312" pitchFamily="49" charset="-122"/>
              </a:rPr>
              <a:t>   </a:t>
            </a:r>
            <a:r>
              <a:rPr lang="en-US" altLang="zh-CN" sz="2400">
                <a:latin typeface="楷体_GB2312" pitchFamily="49" charset="-122"/>
              </a:rPr>
              <a:t>(3)</a:t>
            </a:r>
            <a:r>
              <a:rPr lang="zh-CN" altLang="en-US" sz="2400">
                <a:latin typeface="楷体_GB2312" pitchFamily="49" charset="-122"/>
              </a:rPr>
              <a:t>两次刷新的最大时间间隔是</a:t>
            </a:r>
            <a:r>
              <a:rPr lang="en-US" altLang="zh-CN" sz="2400">
                <a:latin typeface="楷体_GB2312" pitchFamily="49" charset="-122"/>
              </a:rPr>
              <a:t>8ms</a:t>
            </a:r>
            <a:r>
              <a:rPr lang="zh-CN" altLang="en-US" sz="2400">
                <a:latin typeface="楷体_GB2312" pitchFamily="49" charset="-122"/>
              </a:rPr>
              <a:t>，假定</a:t>
            </a:r>
            <a:r>
              <a:rPr lang="en-US" altLang="zh-CN" sz="2400">
                <a:latin typeface="楷体_GB2312" pitchFamily="49" charset="-122"/>
              </a:rPr>
              <a:t>128Kx8</a:t>
            </a:r>
            <a:r>
              <a:rPr lang="zh-CN" altLang="en-US" sz="2400">
                <a:latin typeface="楷体_GB2312" pitchFamily="49" charset="-122"/>
              </a:rPr>
              <a:t>位的</a:t>
            </a:r>
          </a:p>
          <a:p>
            <a:r>
              <a:rPr lang="zh-CN" altLang="en-US" sz="2400">
                <a:latin typeface="楷体_GB2312" pitchFamily="49" charset="-122"/>
              </a:rPr>
              <a:t>      </a:t>
            </a:r>
            <a:r>
              <a:rPr lang="en-US" altLang="zh-CN" sz="2400">
                <a:latin typeface="楷体_GB2312" pitchFamily="49" charset="-122"/>
              </a:rPr>
              <a:t>DRAM</a:t>
            </a:r>
            <a:r>
              <a:rPr lang="zh-CN" altLang="en-US" sz="2400">
                <a:latin typeface="楷体_GB2312" pitchFamily="49" charset="-122"/>
              </a:rPr>
              <a:t>芯片用</a:t>
            </a:r>
            <a:r>
              <a:rPr lang="en-US" altLang="zh-CN" sz="2400">
                <a:latin typeface="楷体_GB2312" pitchFamily="49" charset="-122"/>
              </a:rPr>
              <a:t>512x256</a:t>
            </a:r>
            <a:r>
              <a:rPr lang="zh-CN" altLang="en-US" sz="2400">
                <a:latin typeface="楷体_GB2312" pitchFamily="49" charset="-122"/>
              </a:rPr>
              <a:t>矩阵存储元构成，刷新时只对</a:t>
            </a:r>
          </a:p>
          <a:p>
            <a:r>
              <a:rPr lang="zh-CN" altLang="en-US" sz="2400">
                <a:latin typeface="楷体_GB2312" pitchFamily="49" charset="-122"/>
              </a:rPr>
              <a:t>      </a:t>
            </a:r>
            <a:r>
              <a:rPr lang="en-US" altLang="zh-CN" sz="2400">
                <a:latin typeface="楷体_GB2312" pitchFamily="49" charset="-122"/>
              </a:rPr>
              <a:t>512</a:t>
            </a:r>
            <a:r>
              <a:rPr lang="zh-CN" altLang="en-US" sz="2400">
                <a:latin typeface="楷体_GB2312" pitchFamily="49" charset="-122"/>
              </a:rPr>
              <a:t>行进行异步方式刷新，则刷新间隔为</a:t>
            </a:r>
          </a:p>
          <a:p>
            <a:r>
              <a:rPr lang="zh-CN" altLang="en-US" sz="2400">
                <a:latin typeface="楷体_GB2312" pitchFamily="49" charset="-122"/>
              </a:rPr>
              <a:t>         </a:t>
            </a:r>
            <a:r>
              <a:rPr lang="en-US" altLang="zh-CN" sz="2400">
                <a:latin typeface="楷体_GB2312" pitchFamily="49" charset="-122"/>
              </a:rPr>
              <a:t>8ms</a:t>
            </a:r>
            <a:r>
              <a:rPr lang="zh-CN" altLang="en-US" sz="2400">
                <a:latin typeface="楷体_GB2312" pitchFamily="49" charset="-122"/>
              </a:rPr>
              <a:t>／</a:t>
            </a:r>
            <a:r>
              <a:rPr lang="en-US" altLang="zh-CN" sz="2400">
                <a:latin typeface="楷体_GB2312" pitchFamily="49" charset="-122"/>
              </a:rPr>
              <a:t>512</a:t>
            </a:r>
            <a:r>
              <a:rPr lang="zh-CN" altLang="en-US" sz="2400">
                <a:latin typeface="楷体_GB2312" pitchFamily="49" charset="-122"/>
              </a:rPr>
              <a:t>＝</a:t>
            </a:r>
            <a:r>
              <a:rPr lang="en-US" altLang="zh-CN" sz="2400">
                <a:latin typeface="楷体_GB2312" pitchFamily="49" charset="-122"/>
              </a:rPr>
              <a:t>15.5μs</a:t>
            </a:r>
          </a:p>
          <a:p>
            <a:r>
              <a:rPr lang="en-US" altLang="zh-CN" sz="2400">
                <a:latin typeface="楷体_GB2312" pitchFamily="49" charset="-122"/>
              </a:rPr>
              <a:t>         </a:t>
            </a:r>
            <a:r>
              <a:rPr lang="zh-CN" altLang="en-US" sz="2400">
                <a:latin typeface="楷体_GB2312" pitchFamily="49" charset="-122"/>
              </a:rPr>
              <a:t>可取刷新信号周期</a:t>
            </a:r>
            <a:r>
              <a:rPr lang="en-US" altLang="zh-CN" sz="2400">
                <a:latin typeface="楷体_GB2312" pitchFamily="49" charset="-122"/>
              </a:rPr>
              <a:t>15μs</a:t>
            </a:r>
            <a:r>
              <a:rPr lang="zh-CN" altLang="en-US" sz="2400">
                <a:latin typeface="楷体_GB2312" pitchFamily="49" charset="-122"/>
              </a:rPr>
              <a:t>。 </a:t>
            </a:r>
          </a:p>
        </p:txBody>
      </p:sp>
      <p:graphicFrame>
        <p:nvGraphicFramePr>
          <p:cNvPr id="135179" name="Object 11"/>
          <p:cNvGraphicFramePr>
            <a:graphicFrameLocks noChangeAspect="1"/>
          </p:cNvGraphicFramePr>
          <p:nvPr/>
        </p:nvGraphicFramePr>
        <p:xfrm>
          <a:off x="304800" y="1905000"/>
          <a:ext cx="8001000" cy="4591050"/>
        </p:xfrm>
        <a:graphic>
          <a:graphicData uri="http://schemas.openxmlformats.org/presentationml/2006/ole">
            <mc:AlternateContent xmlns:mc="http://schemas.openxmlformats.org/markup-compatibility/2006">
              <mc:Choice xmlns:v="urn:schemas-microsoft-com:vml" Requires="v">
                <p:oleObj spid="_x0000_s13444" name="位图图像" r:id="rId3" imgW="6752381" imgH="3809524" progId="PBrush">
                  <p:embed/>
                </p:oleObj>
              </mc:Choice>
              <mc:Fallback>
                <p:oleObj name="位图图像" r:id="rId3" imgW="6752381" imgH="3809524" progId="PBrush">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905000"/>
                        <a:ext cx="8001000" cy="459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5173"/>
                                        </p:tgtEl>
                                        <p:attrNameLst>
                                          <p:attrName>style.visibility</p:attrName>
                                        </p:attrNameLst>
                                      </p:cBhvr>
                                      <p:to>
                                        <p:strVal val="visible"/>
                                      </p:to>
                                    </p:set>
                                    <p:animEffect transition="in" filter="dissolve">
                                      <p:cBhvr>
                                        <p:cTn id="7" dur="500"/>
                                        <p:tgtEl>
                                          <p:spTgt spid="1351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35179"/>
                                        </p:tgtEl>
                                        <p:attrNameLst>
                                          <p:attrName>style.visibility</p:attrName>
                                        </p:attrNameLst>
                                      </p:cBhvr>
                                      <p:to>
                                        <p:strVal val="visible"/>
                                      </p:to>
                                    </p:set>
                                    <p:animEffect transition="in" filter="dissolve">
                                      <p:cBhvr>
                                        <p:cTn id="12" dur="500"/>
                                        <p:tgtEl>
                                          <p:spTgt spid="135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3" grpId="0" autoUpdateAnimBg="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04F1EA0E-D0A5-477D-AA4A-0297AE9D9132}" type="slidenum">
              <a:rPr lang="en-US" altLang="zh-CN"/>
              <a:pPr>
                <a:defRPr/>
              </a:pPr>
              <a:t>139</a:t>
            </a:fld>
            <a:endParaRPr lang="en-US" altLang="zh-CN"/>
          </a:p>
        </p:txBody>
      </p:sp>
      <p:pic>
        <p:nvPicPr>
          <p:cNvPr id="15769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743200"/>
            <a:ext cx="6840538" cy="388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700" name="Rectangle 6"/>
          <p:cNvSpPr>
            <a:spLocks noChangeArrowheads="1"/>
          </p:cNvSpPr>
          <p:nvPr/>
        </p:nvSpPr>
        <p:spPr bwMode="auto">
          <a:xfrm>
            <a:off x="2339975" y="2792413"/>
            <a:ext cx="4508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p>
            <a:pPr eaLnBrk="0" hangingPunct="0"/>
            <a:r>
              <a:rPr lang="en-US" altLang="zh-CN" sz="1000">
                <a:latin typeface="Times New Roman" charset="0"/>
                <a:ea typeface="宋体" pitchFamily="2" charset="-122"/>
                <a:cs typeface="Times New Roman" charset="0"/>
              </a:rPr>
              <a:t/>
            </a:r>
            <a:br>
              <a:rPr lang="en-US" altLang="zh-CN" sz="1000">
                <a:latin typeface="Times New Roman" charset="0"/>
                <a:ea typeface="宋体" pitchFamily="2" charset="-122"/>
                <a:cs typeface="Times New Roman" charset="0"/>
              </a:rPr>
            </a:br>
            <a:endParaRPr lang="en-US" altLang="zh-CN" sz="1800">
              <a:ea typeface="宋体" pitchFamily="2" charset="-122"/>
              <a:cs typeface="Times New Roman" charset="0"/>
            </a:endParaRPr>
          </a:p>
        </p:txBody>
      </p:sp>
      <p:sp>
        <p:nvSpPr>
          <p:cNvPr id="157701" name="Rectangle 7"/>
          <p:cNvSpPr>
            <a:spLocks noChangeArrowheads="1"/>
          </p:cNvSpPr>
          <p:nvPr/>
        </p:nvSpPr>
        <p:spPr bwMode="auto">
          <a:xfrm>
            <a:off x="323850" y="239713"/>
            <a:ext cx="763270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sz="2000">
                <a:latin typeface="楷体_GB2312" pitchFamily="49" charset="-122"/>
              </a:rPr>
              <a:t>P102-5.</a:t>
            </a:r>
            <a:r>
              <a:rPr lang="zh-CN" altLang="en-US" sz="2000">
                <a:latin typeface="楷体_GB2312" pitchFamily="49" charset="-122"/>
              </a:rPr>
              <a:t>要求用</a:t>
            </a:r>
            <a:r>
              <a:rPr lang="en-US" altLang="zh-CN" sz="2000">
                <a:latin typeface="楷体_GB2312" pitchFamily="49" charset="-122"/>
              </a:rPr>
              <a:t>256Kxl6</a:t>
            </a:r>
            <a:r>
              <a:rPr lang="zh-CN" altLang="en-US" sz="2000">
                <a:latin typeface="楷体_GB2312" pitchFamily="49" charset="-122"/>
              </a:rPr>
              <a:t>位的</a:t>
            </a:r>
            <a:r>
              <a:rPr lang="en-US" altLang="zh-CN" sz="2000">
                <a:latin typeface="楷体_GB2312" pitchFamily="49" charset="-122"/>
              </a:rPr>
              <a:t>SRAM</a:t>
            </a:r>
            <a:r>
              <a:rPr lang="zh-CN" altLang="en-US" sz="2000">
                <a:latin typeface="楷体_GB2312" pitchFamily="49" charset="-122"/>
              </a:rPr>
              <a:t>芯片设计</a:t>
            </a:r>
            <a:r>
              <a:rPr lang="en-US" altLang="zh-CN" sz="2000">
                <a:latin typeface="楷体_GB2312" pitchFamily="49" charset="-122"/>
              </a:rPr>
              <a:t>1024Kx32</a:t>
            </a:r>
            <a:r>
              <a:rPr lang="zh-CN" altLang="en-US" sz="2000">
                <a:latin typeface="楷体_GB2312" pitchFamily="49" charset="-122"/>
              </a:rPr>
              <a:t>位的存储器。</a:t>
            </a:r>
            <a:r>
              <a:rPr lang="en-US" altLang="zh-CN" sz="2000">
                <a:latin typeface="楷体_GB2312" pitchFamily="49" charset="-122"/>
              </a:rPr>
              <a:t>SRAM</a:t>
            </a:r>
            <a:r>
              <a:rPr lang="zh-CN" altLang="en-US" sz="2000">
                <a:latin typeface="楷体_GB2312" pitchFamily="49" charset="-122"/>
              </a:rPr>
              <a:t>芯片有两个控制输入端：当</a:t>
            </a:r>
            <a:r>
              <a:rPr lang="en-US" altLang="zh-CN" sz="2000">
                <a:latin typeface="楷体_GB2312" pitchFamily="49" charset="-122"/>
              </a:rPr>
              <a:t>CS</a:t>
            </a:r>
            <a:r>
              <a:rPr lang="zh-CN" altLang="en-US" sz="2000">
                <a:latin typeface="楷体_GB2312" pitchFamily="49" charset="-122"/>
              </a:rPr>
              <a:t>有效时，该片选中。当</a:t>
            </a:r>
            <a:r>
              <a:rPr lang="zh-CN" altLang="en-US" sz="800">
                <a:latin typeface="楷体_GB2312" pitchFamily="49" charset="-122"/>
              </a:rPr>
              <a:t> </a:t>
            </a:r>
            <a:r>
              <a:rPr lang="en-US" altLang="zh-CN" sz="2000">
                <a:latin typeface="楷体_GB2312" pitchFamily="49" charset="-122"/>
              </a:rPr>
              <a:t>W</a:t>
            </a:r>
            <a:r>
              <a:rPr lang="zh-CN" altLang="en-US" sz="2000">
                <a:latin typeface="楷体_GB2312" pitchFamily="49" charset="-122"/>
              </a:rPr>
              <a:t>／</a:t>
            </a:r>
            <a:r>
              <a:rPr lang="en-US" altLang="zh-CN" sz="2000">
                <a:latin typeface="楷体_GB2312" pitchFamily="49" charset="-122"/>
              </a:rPr>
              <a:t>R</a:t>
            </a:r>
            <a:r>
              <a:rPr lang="zh-CN" altLang="en-US" sz="2000">
                <a:latin typeface="楷体_GB2312" pitchFamily="49" charset="-122"/>
              </a:rPr>
              <a:t>＝</a:t>
            </a:r>
            <a:r>
              <a:rPr lang="en-US" altLang="zh-CN" sz="2000">
                <a:latin typeface="楷体_GB2312" pitchFamily="49" charset="-122"/>
              </a:rPr>
              <a:t>l</a:t>
            </a:r>
            <a:r>
              <a:rPr lang="zh-CN" altLang="en-US" sz="2000">
                <a:latin typeface="楷体_GB2312" pitchFamily="49" charset="-122"/>
              </a:rPr>
              <a:t>时执行读操作，当</a:t>
            </a:r>
            <a:r>
              <a:rPr lang="en-US" altLang="zh-CN" sz="2000">
                <a:latin typeface="楷体_GB2312" pitchFamily="49" charset="-122"/>
              </a:rPr>
              <a:t>W</a:t>
            </a:r>
            <a:r>
              <a:rPr lang="zh-CN" altLang="en-US" sz="2000">
                <a:latin typeface="楷体_GB2312" pitchFamily="49" charset="-122"/>
              </a:rPr>
              <a:t>／</a:t>
            </a:r>
            <a:r>
              <a:rPr lang="en-US" altLang="zh-CN" sz="2000">
                <a:latin typeface="楷体_GB2312" pitchFamily="49" charset="-122"/>
              </a:rPr>
              <a:t>R</a:t>
            </a:r>
            <a:r>
              <a:rPr lang="zh-CN" altLang="en-US" sz="2000">
                <a:latin typeface="楷体_GB2312" pitchFamily="49" charset="-122"/>
              </a:rPr>
              <a:t>＝</a:t>
            </a:r>
            <a:r>
              <a:rPr lang="en-US" altLang="zh-CN" sz="2000">
                <a:latin typeface="楷体_GB2312" pitchFamily="49" charset="-122"/>
              </a:rPr>
              <a:t>O</a:t>
            </a:r>
            <a:r>
              <a:rPr lang="zh-CN" altLang="en-US" sz="2000">
                <a:latin typeface="楷体_GB2312" pitchFamily="49" charset="-122"/>
              </a:rPr>
              <a:t>时执行写操作。</a:t>
            </a:r>
          </a:p>
          <a:p>
            <a:r>
              <a:rPr lang="zh-CN" altLang="en-US" sz="2000">
                <a:latin typeface="楷体_GB2312" pitchFamily="49" charset="-122"/>
              </a:rPr>
              <a:t>解：所设计的存储器单元数为</a:t>
            </a:r>
            <a:r>
              <a:rPr lang="en-US" altLang="zh-CN" sz="2000">
                <a:latin typeface="楷体_GB2312" pitchFamily="49" charset="-122"/>
              </a:rPr>
              <a:t>1M</a:t>
            </a:r>
            <a:r>
              <a:rPr lang="zh-CN" altLang="en-US" sz="2000">
                <a:latin typeface="楷体_GB2312" pitchFamily="49" charset="-122"/>
              </a:rPr>
              <a:t>，字长为</a:t>
            </a:r>
            <a:r>
              <a:rPr lang="en-US" altLang="zh-CN" sz="2000">
                <a:latin typeface="楷体_GB2312" pitchFamily="49" charset="-122"/>
              </a:rPr>
              <a:t>32</a:t>
            </a:r>
            <a:r>
              <a:rPr lang="zh-CN" altLang="en-US" sz="2000">
                <a:latin typeface="楷体_GB2312" pitchFamily="49" charset="-122"/>
              </a:rPr>
              <a:t>，故地址长度为</a:t>
            </a:r>
            <a:r>
              <a:rPr lang="en-US" altLang="zh-CN" sz="2000">
                <a:latin typeface="楷体_GB2312" pitchFamily="49" charset="-122"/>
              </a:rPr>
              <a:t>20</a:t>
            </a:r>
            <a:r>
              <a:rPr lang="zh-CN" altLang="en-US" sz="2000">
                <a:latin typeface="楷体_GB2312" pitchFamily="49" charset="-122"/>
              </a:rPr>
              <a:t>位</a:t>
            </a:r>
            <a:r>
              <a:rPr lang="en-US" altLang="zh-CN" sz="2000">
                <a:latin typeface="楷体_GB2312" pitchFamily="49" charset="-122"/>
              </a:rPr>
              <a:t>(A19 - A0)</a:t>
            </a:r>
            <a:r>
              <a:rPr lang="zh-CN" altLang="en-US" sz="2000">
                <a:latin typeface="楷体_GB2312" pitchFamily="49" charset="-122"/>
              </a:rPr>
              <a:t>，所用芯片存储单元数为</a:t>
            </a:r>
            <a:r>
              <a:rPr lang="en-US" altLang="zh-CN" sz="2000">
                <a:latin typeface="楷体_GB2312" pitchFamily="49" charset="-122"/>
              </a:rPr>
              <a:t>256K</a:t>
            </a:r>
            <a:r>
              <a:rPr lang="zh-CN" altLang="en-US" sz="2000">
                <a:latin typeface="楷体_GB2312" pitchFamily="49" charset="-122"/>
              </a:rPr>
              <a:t>，字长为</a:t>
            </a:r>
            <a:r>
              <a:rPr lang="en-US" altLang="zh-CN" sz="2000">
                <a:latin typeface="楷体_GB2312" pitchFamily="49" charset="-122"/>
              </a:rPr>
              <a:t>16</a:t>
            </a:r>
            <a:r>
              <a:rPr lang="zh-CN" altLang="en-US" sz="2000">
                <a:latin typeface="楷体_GB2312" pitchFamily="49" charset="-122"/>
              </a:rPr>
              <a:t>位，故占用的地址长度为</a:t>
            </a:r>
            <a:r>
              <a:rPr lang="en-US" altLang="zh-CN" sz="2000">
                <a:latin typeface="楷体_GB2312" pitchFamily="49" charset="-122"/>
              </a:rPr>
              <a:t>18</a:t>
            </a:r>
            <a:r>
              <a:rPr lang="zh-CN" altLang="en-US" sz="2000">
                <a:latin typeface="楷体_GB2312" pitchFamily="49" charset="-122"/>
              </a:rPr>
              <a:t>位</a:t>
            </a:r>
            <a:r>
              <a:rPr lang="en-US" altLang="zh-CN" sz="2000">
                <a:latin typeface="楷体_GB2312" pitchFamily="49" charset="-122"/>
              </a:rPr>
              <a:t>(A17 - A0)</a:t>
            </a:r>
            <a:r>
              <a:rPr lang="zh-CN" altLang="en-US" sz="2000">
                <a:latin typeface="楷体_GB2312" pitchFamily="49" charset="-122"/>
              </a:rPr>
              <a:t>。由此可用位并联方式与地址串联方式相结合的方法组成整个存储器，共</a:t>
            </a:r>
            <a:r>
              <a:rPr lang="en-US" altLang="zh-CN" sz="2000">
                <a:latin typeface="楷体_GB2312" pitchFamily="49" charset="-122"/>
              </a:rPr>
              <a:t>8</a:t>
            </a:r>
            <a:r>
              <a:rPr lang="zh-CN" altLang="en-US" sz="2000">
                <a:latin typeface="楷体_GB2312" pitchFamily="49" charset="-122"/>
              </a:rPr>
              <a:t>片</a:t>
            </a:r>
            <a:r>
              <a:rPr lang="en-US" altLang="zh-CN" sz="2000">
                <a:latin typeface="楷体_GB2312" pitchFamily="49" charset="-122"/>
              </a:rPr>
              <a:t>SRAM</a:t>
            </a:r>
            <a:r>
              <a:rPr lang="zh-CN" altLang="en-US" sz="2000">
                <a:latin typeface="楷体_GB2312" pitchFamily="49" charset="-122"/>
              </a:rPr>
              <a:t>芯片，并使用一片</a:t>
            </a:r>
            <a:r>
              <a:rPr lang="en-US" altLang="zh-CN" sz="2000">
                <a:latin typeface="楷体_GB2312" pitchFamily="49" charset="-122"/>
              </a:rPr>
              <a:t>2</a:t>
            </a:r>
            <a:r>
              <a:rPr lang="zh-CN" altLang="en-US" sz="2000">
                <a:latin typeface="楷体_GB2312" pitchFamily="49" charset="-122"/>
              </a:rPr>
              <a:t>：</a:t>
            </a:r>
            <a:r>
              <a:rPr lang="en-US" altLang="zh-CN" sz="2000">
                <a:latin typeface="楷体_GB2312" pitchFamily="49" charset="-122"/>
              </a:rPr>
              <a:t>4</a:t>
            </a:r>
            <a:r>
              <a:rPr lang="zh-CN" altLang="en-US" sz="2000">
                <a:latin typeface="楷体_GB2312" pitchFamily="49" charset="-122"/>
              </a:rPr>
              <a:t>译码器。其存储器结构如图所示。</a:t>
            </a:r>
          </a:p>
        </p:txBody>
      </p:sp>
      <p:sp>
        <p:nvSpPr>
          <p:cNvPr id="157702" name="Line 8"/>
          <p:cNvSpPr>
            <a:spLocks noChangeShapeType="1"/>
          </p:cNvSpPr>
          <p:nvPr/>
        </p:nvSpPr>
        <p:spPr bwMode="auto">
          <a:xfrm>
            <a:off x="3962400" y="609600"/>
            <a:ext cx="2286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7703" name="Line 9"/>
          <p:cNvSpPr>
            <a:spLocks noChangeShapeType="1"/>
          </p:cNvSpPr>
          <p:nvPr/>
        </p:nvSpPr>
        <p:spPr bwMode="auto">
          <a:xfrm>
            <a:off x="2438400" y="914400"/>
            <a:ext cx="1524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7704" name="Line 10"/>
          <p:cNvSpPr>
            <a:spLocks noChangeShapeType="1"/>
          </p:cNvSpPr>
          <p:nvPr/>
        </p:nvSpPr>
        <p:spPr bwMode="auto">
          <a:xfrm>
            <a:off x="6781800" y="609600"/>
            <a:ext cx="1524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B81D5D8D-C47D-40B8-8CC1-6988594CB5B9}" type="slidenum">
              <a:rPr lang="en-US" altLang="zh-CN"/>
              <a:pPr>
                <a:defRPr/>
              </a:pPr>
              <a:t>140</a:t>
            </a:fld>
            <a:endParaRPr lang="en-US" altLang="zh-CN"/>
          </a:p>
        </p:txBody>
      </p:sp>
      <p:sp>
        <p:nvSpPr>
          <p:cNvPr id="14340" name="Rectangle 4"/>
          <p:cNvSpPr>
            <a:spLocks noChangeArrowheads="1"/>
          </p:cNvSpPr>
          <p:nvPr/>
        </p:nvSpPr>
        <p:spPr bwMode="auto">
          <a:xfrm>
            <a:off x="250825" y="188913"/>
            <a:ext cx="7705725"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eaLnBrk="0" hangingPunct="0"/>
            <a:r>
              <a:rPr lang="en-US" altLang="zh-CN" sz="2000">
                <a:latin typeface="楷体_GB2312" pitchFamily="49" charset="-122"/>
              </a:rPr>
              <a:t>P1012-6 </a:t>
            </a:r>
            <a:r>
              <a:rPr lang="zh-CN" altLang="en-US" sz="2000">
                <a:latin typeface="楷体_GB2312" pitchFamily="49" charset="-122"/>
              </a:rPr>
              <a:t>用</a:t>
            </a:r>
            <a:r>
              <a:rPr lang="en-US" altLang="zh-CN" sz="2000">
                <a:latin typeface="楷体_GB2312" pitchFamily="49" charset="-122"/>
              </a:rPr>
              <a:t>32Kx8</a:t>
            </a:r>
            <a:r>
              <a:rPr lang="zh-CN" altLang="en-US" sz="2000">
                <a:latin typeface="楷体_GB2312" pitchFamily="49" charset="-122"/>
              </a:rPr>
              <a:t>位的</a:t>
            </a:r>
            <a:r>
              <a:rPr lang="en-US" altLang="zh-CN" sz="2000">
                <a:latin typeface="楷体_GB2312" pitchFamily="49" charset="-122"/>
              </a:rPr>
              <a:t>E</a:t>
            </a:r>
            <a:r>
              <a:rPr lang="en-US" altLang="zh-CN" sz="2000" baseline="30000">
                <a:latin typeface="楷体_GB2312" pitchFamily="49" charset="-122"/>
              </a:rPr>
              <a:t>2</a:t>
            </a:r>
            <a:r>
              <a:rPr lang="en-US" altLang="zh-CN" sz="2000">
                <a:latin typeface="楷体_GB2312" pitchFamily="49" charset="-122"/>
              </a:rPr>
              <a:t>PROM</a:t>
            </a:r>
            <a:r>
              <a:rPr lang="zh-CN" altLang="en-US" sz="2000">
                <a:latin typeface="楷体_GB2312" pitchFamily="49" charset="-122"/>
              </a:rPr>
              <a:t>芯片组成</a:t>
            </a:r>
            <a:r>
              <a:rPr lang="en-US" altLang="zh-CN" sz="2000">
                <a:latin typeface="楷体_GB2312" pitchFamily="49" charset="-122"/>
              </a:rPr>
              <a:t>128Kx16</a:t>
            </a:r>
            <a:r>
              <a:rPr lang="zh-CN" altLang="en-US" sz="2000">
                <a:latin typeface="楷体_GB2312" pitchFamily="49" charset="-122"/>
              </a:rPr>
              <a:t>位的只读存储器，试问：</a:t>
            </a:r>
          </a:p>
          <a:p>
            <a:pPr eaLnBrk="0" hangingPunct="0"/>
            <a:r>
              <a:rPr lang="zh-CN" altLang="en-US" sz="2000">
                <a:latin typeface="楷体_GB2312" pitchFamily="49" charset="-122"/>
              </a:rPr>
              <a:t>（</a:t>
            </a:r>
            <a:r>
              <a:rPr lang="en-US" altLang="zh-CN" sz="2000">
                <a:latin typeface="楷体_GB2312" pitchFamily="49" charset="-122"/>
              </a:rPr>
              <a:t>1</a:t>
            </a:r>
            <a:r>
              <a:rPr lang="zh-CN" altLang="en-US" sz="2000">
                <a:latin typeface="楷体_GB2312" pitchFamily="49" charset="-122"/>
              </a:rPr>
              <a:t>）数据寄存器多少位。</a:t>
            </a:r>
            <a:br>
              <a:rPr lang="zh-CN" altLang="en-US" sz="2000">
                <a:latin typeface="楷体_GB2312" pitchFamily="49" charset="-122"/>
              </a:rPr>
            </a:br>
            <a:r>
              <a:rPr lang="zh-CN" altLang="en-US" sz="2000">
                <a:latin typeface="楷体_GB2312" pitchFamily="49" charset="-122"/>
              </a:rPr>
              <a:t>（</a:t>
            </a:r>
            <a:r>
              <a:rPr lang="en-US" altLang="zh-CN" sz="2000">
                <a:latin typeface="楷体_GB2312" pitchFamily="49" charset="-122"/>
              </a:rPr>
              <a:t>2</a:t>
            </a:r>
            <a:r>
              <a:rPr lang="zh-CN" altLang="en-US" sz="2000">
                <a:latin typeface="楷体_GB2312" pitchFamily="49" charset="-122"/>
              </a:rPr>
              <a:t>）地址寄存器多少位。</a:t>
            </a:r>
            <a:br>
              <a:rPr lang="zh-CN" altLang="en-US" sz="2000">
                <a:latin typeface="楷体_GB2312" pitchFamily="49" charset="-122"/>
              </a:rPr>
            </a:br>
            <a:r>
              <a:rPr lang="zh-CN" altLang="en-US" sz="2000">
                <a:latin typeface="楷体_GB2312" pitchFamily="49" charset="-122"/>
              </a:rPr>
              <a:t>（</a:t>
            </a:r>
            <a:r>
              <a:rPr lang="en-US" altLang="zh-CN" sz="2000">
                <a:latin typeface="楷体_GB2312" pitchFamily="49" charset="-122"/>
              </a:rPr>
              <a:t>3</a:t>
            </a:r>
            <a:r>
              <a:rPr lang="zh-CN" altLang="en-US" sz="2000">
                <a:latin typeface="楷体_GB2312" pitchFamily="49" charset="-122"/>
              </a:rPr>
              <a:t>）共需要多少个</a:t>
            </a:r>
            <a:r>
              <a:rPr lang="en-US" altLang="zh-CN" sz="2000">
                <a:latin typeface="楷体_GB2312" pitchFamily="49" charset="-122"/>
              </a:rPr>
              <a:t>E</a:t>
            </a:r>
            <a:r>
              <a:rPr lang="en-US" altLang="zh-CN" sz="2000" baseline="30000">
                <a:latin typeface="楷体_GB2312" pitchFamily="49" charset="-122"/>
              </a:rPr>
              <a:t>2</a:t>
            </a:r>
            <a:r>
              <a:rPr lang="en-US" altLang="zh-CN" sz="2000">
                <a:latin typeface="楷体_GB2312" pitchFamily="49" charset="-122"/>
              </a:rPr>
              <a:t>PROM</a:t>
            </a:r>
            <a:r>
              <a:rPr lang="zh-CN" altLang="en-US" sz="2000">
                <a:latin typeface="楷体_GB2312" pitchFamily="49" charset="-122"/>
              </a:rPr>
              <a:t>。</a:t>
            </a:r>
            <a:br>
              <a:rPr lang="zh-CN" altLang="en-US" sz="2000">
                <a:latin typeface="楷体_GB2312" pitchFamily="49" charset="-122"/>
              </a:rPr>
            </a:br>
            <a:r>
              <a:rPr lang="zh-CN" altLang="en-US" sz="2000">
                <a:latin typeface="楷体_GB2312" pitchFamily="49" charset="-122"/>
              </a:rPr>
              <a:t>（</a:t>
            </a:r>
            <a:r>
              <a:rPr lang="en-US" altLang="zh-CN" sz="2000">
                <a:latin typeface="楷体_GB2312" pitchFamily="49" charset="-122"/>
              </a:rPr>
              <a:t>4</a:t>
            </a:r>
            <a:r>
              <a:rPr lang="zh-CN" altLang="en-US" sz="2000">
                <a:latin typeface="楷体_GB2312" pitchFamily="49" charset="-122"/>
              </a:rPr>
              <a:t>）画出此存储器的组成框图。</a:t>
            </a:r>
          </a:p>
        </p:txBody>
      </p:sp>
      <p:sp>
        <p:nvSpPr>
          <p:cNvPr id="14341" name="Rectangle 6"/>
          <p:cNvSpPr>
            <a:spLocks noChangeArrowheads="1"/>
          </p:cNvSpPr>
          <p:nvPr/>
        </p:nvSpPr>
        <p:spPr bwMode="auto">
          <a:xfrm>
            <a:off x="179388" y="2133600"/>
            <a:ext cx="89646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sz="2000">
                <a:latin typeface="楷体_GB2312" pitchFamily="49" charset="-122"/>
              </a:rPr>
              <a:t>解</a:t>
            </a:r>
            <a:r>
              <a:rPr lang="en-US" altLang="zh-CN" sz="2000">
                <a:latin typeface="楷体_GB2312" pitchFamily="49" charset="-122"/>
              </a:rPr>
              <a:t>:</a:t>
            </a:r>
            <a:r>
              <a:rPr lang="zh-CN" altLang="en-US" sz="2000">
                <a:latin typeface="楷体_GB2312" pitchFamily="49" charset="-122"/>
              </a:rPr>
              <a:t>（</a:t>
            </a:r>
            <a:r>
              <a:rPr lang="en-US" altLang="zh-CN" sz="2000">
                <a:latin typeface="楷体_GB2312" pitchFamily="49" charset="-122"/>
              </a:rPr>
              <a:t>1</a:t>
            </a:r>
            <a:r>
              <a:rPr lang="zh-CN" altLang="en-US" sz="2000">
                <a:latin typeface="楷体_GB2312" pitchFamily="49" charset="-122"/>
              </a:rPr>
              <a:t>）数据寄存器</a:t>
            </a:r>
            <a:r>
              <a:rPr lang="en-US" altLang="zh-CN" sz="2000">
                <a:latin typeface="楷体_GB2312" pitchFamily="49" charset="-122"/>
              </a:rPr>
              <a:t>16</a:t>
            </a:r>
            <a:r>
              <a:rPr lang="zh-CN" altLang="en-US" sz="2000">
                <a:latin typeface="楷体_GB2312" pitchFamily="49" charset="-122"/>
              </a:rPr>
              <a:t>位。（</a:t>
            </a:r>
            <a:r>
              <a:rPr lang="en-US" altLang="zh-CN" sz="2000">
                <a:latin typeface="楷体_GB2312" pitchFamily="49" charset="-122"/>
              </a:rPr>
              <a:t>2</a:t>
            </a:r>
            <a:r>
              <a:rPr lang="zh-CN" altLang="en-US" sz="2000">
                <a:latin typeface="楷体_GB2312" pitchFamily="49" charset="-122"/>
              </a:rPr>
              <a:t>）地址寄存器</a:t>
            </a:r>
            <a:r>
              <a:rPr lang="en-US" altLang="zh-CN" sz="2000">
                <a:latin typeface="楷体_GB2312" pitchFamily="49" charset="-122"/>
              </a:rPr>
              <a:t>17</a:t>
            </a:r>
            <a:r>
              <a:rPr lang="zh-CN" altLang="en-US" sz="2000">
                <a:latin typeface="楷体_GB2312" pitchFamily="49" charset="-122"/>
              </a:rPr>
              <a:t>位。（</a:t>
            </a:r>
            <a:r>
              <a:rPr lang="en-US" altLang="zh-CN" sz="2000">
                <a:latin typeface="楷体_GB2312" pitchFamily="49" charset="-122"/>
              </a:rPr>
              <a:t>3</a:t>
            </a:r>
            <a:r>
              <a:rPr lang="zh-CN" altLang="en-US" sz="2000">
                <a:latin typeface="楷体_GB2312" pitchFamily="49" charset="-122"/>
              </a:rPr>
              <a:t>）共需要</a:t>
            </a:r>
            <a:r>
              <a:rPr lang="en-US" altLang="zh-CN" sz="2000">
                <a:latin typeface="楷体_GB2312" pitchFamily="49" charset="-122"/>
              </a:rPr>
              <a:t>8</a:t>
            </a:r>
            <a:r>
              <a:rPr lang="zh-CN" altLang="en-US" sz="2000">
                <a:latin typeface="楷体_GB2312" pitchFamily="49" charset="-122"/>
              </a:rPr>
              <a:t>片个</a:t>
            </a:r>
            <a:r>
              <a:rPr lang="en-US" altLang="zh-CN" sz="2000">
                <a:latin typeface="楷体_GB2312" pitchFamily="49" charset="-122"/>
              </a:rPr>
              <a:t>E</a:t>
            </a:r>
            <a:r>
              <a:rPr lang="en-US" altLang="zh-CN" sz="2000" baseline="30000">
                <a:latin typeface="楷体_GB2312" pitchFamily="49" charset="-122"/>
              </a:rPr>
              <a:t>2</a:t>
            </a:r>
            <a:r>
              <a:rPr lang="en-US" altLang="zh-CN" sz="2000">
                <a:latin typeface="楷体_GB2312" pitchFamily="49" charset="-122"/>
              </a:rPr>
              <a:t>PROM</a:t>
            </a:r>
            <a:r>
              <a:rPr lang="zh-CN" altLang="en-US" sz="2000">
                <a:latin typeface="楷体_GB2312" pitchFamily="49" charset="-122"/>
              </a:rPr>
              <a:t>。</a:t>
            </a:r>
            <a:br>
              <a:rPr lang="zh-CN" altLang="en-US" sz="2000">
                <a:latin typeface="楷体_GB2312" pitchFamily="49" charset="-122"/>
              </a:rPr>
            </a:br>
            <a:r>
              <a:rPr lang="zh-CN" altLang="en-US" sz="2000">
                <a:latin typeface="楷体_GB2312" pitchFamily="49" charset="-122"/>
              </a:rPr>
              <a:t>   （</a:t>
            </a:r>
            <a:r>
              <a:rPr lang="en-US" altLang="zh-CN" sz="2000">
                <a:latin typeface="楷体_GB2312" pitchFamily="49" charset="-122"/>
              </a:rPr>
              <a:t>4</a:t>
            </a:r>
            <a:r>
              <a:rPr lang="zh-CN" altLang="en-US" sz="2000">
                <a:latin typeface="楷体_GB2312" pitchFamily="49" charset="-122"/>
              </a:rPr>
              <a:t>）</a:t>
            </a:r>
            <a:r>
              <a:rPr lang="zh-CN" altLang="en-US" sz="2000"/>
              <a:t>  </a:t>
            </a:r>
            <a:endParaRPr lang="zh-CN" altLang="en-US" sz="2000">
              <a:latin typeface="楷体_GB2312" pitchFamily="49" charset="-122"/>
            </a:endParaRPr>
          </a:p>
        </p:txBody>
      </p:sp>
      <p:graphicFrame>
        <p:nvGraphicFramePr>
          <p:cNvPr id="14338" name="Object 0"/>
          <p:cNvGraphicFramePr>
            <a:graphicFrameLocks noChangeAspect="1"/>
          </p:cNvGraphicFramePr>
          <p:nvPr/>
        </p:nvGraphicFramePr>
        <p:xfrm>
          <a:off x="609600" y="2819400"/>
          <a:ext cx="8153400" cy="3543300"/>
        </p:xfrm>
        <a:graphic>
          <a:graphicData uri="http://schemas.openxmlformats.org/presentationml/2006/ole">
            <mc:AlternateContent xmlns:mc="http://schemas.openxmlformats.org/markup-compatibility/2006">
              <mc:Choice xmlns:v="urn:schemas-microsoft-com:vml" Requires="v">
                <p:oleObj spid="_x0000_s14468" name="位图图像" r:id="rId3" imgW="6354062" imgH="2762636" progId="PBrush">
                  <p:embed/>
                </p:oleObj>
              </mc:Choice>
              <mc:Fallback>
                <p:oleObj name="位图图像" r:id="rId3" imgW="6354062" imgH="2762636" progId="PBrush">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819400"/>
                        <a:ext cx="8153400"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pPr>
              <a:defRPr/>
            </a:pPr>
            <a:fld id="{D259430D-3BD2-411E-9C22-53DD994DEEA4}" type="slidenum">
              <a:rPr lang="en-US" altLang="zh-CN"/>
              <a:pPr>
                <a:defRPr/>
              </a:pPr>
              <a:t>141</a:t>
            </a:fld>
            <a:endParaRPr lang="en-US" altLang="zh-CN"/>
          </a:p>
        </p:txBody>
      </p:sp>
      <p:sp>
        <p:nvSpPr>
          <p:cNvPr id="15365" name="Rectangle 4"/>
          <p:cNvSpPr>
            <a:spLocks noChangeArrowheads="1"/>
          </p:cNvSpPr>
          <p:nvPr/>
        </p:nvSpPr>
        <p:spPr bwMode="auto">
          <a:xfrm>
            <a:off x="179388" y="260350"/>
            <a:ext cx="7634287" cy="234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r>
              <a:rPr lang="en-US" altLang="zh-CN" sz="2000">
                <a:latin typeface="楷体_GB2312" pitchFamily="49" charset="-122"/>
              </a:rPr>
              <a:t>P102-7. </a:t>
            </a:r>
            <a:r>
              <a:rPr lang="zh-CN" altLang="en-US" sz="2000">
                <a:latin typeface="楷体_GB2312" pitchFamily="49" charset="-122"/>
              </a:rPr>
              <a:t>某机器中，已知配有一个地址空间为</a:t>
            </a:r>
            <a:r>
              <a:rPr lang="en-US" altLang="zh-CN" sz="2000">
                <a:latin typeface="楷体_GB2312" pitchFamily="49" charset="-122"/>
              </a:rPr>
              <a:t>0000H-3FFFH</a:t>
            </a:r>
            <a:r>
              <a:rPr lang="zh-CN" altLang="en-US" sz="2000">
                <a:latin typeface="楷体_GB2312" pitchFamily="49" charset="-122"/>
              </a:rPr>
              <a:t>的</a:t>
            </a:r>
            <a:r>
              <a:rPr lang="en-US" altLang="zh-CN" sz="2000">
                <a:latin typeface="楷体_GB2312" pitchFamily="49" charset="-122"/>
              </a:rPr>
              <a:t>ROM</a:t>
            </a:r>
            <a:r>
              <a:rPr lang="zh-CN" altLang="en-US" sz="2000">
                <a:latin typeface="楷体_GB2312" pitchFamily="49" charset="-122"/>
              </a:rPr>
              <a:t>区域。现在再用一个</a:t>
            </a:r>
            <a:r>
              <a:rPr lang="en-US" altLang="zh-CN" sz="2000">
                <a:latin typeface="楷体_GB2312" pitchFamily="49" charset="-122"/>
              </a:rPr>
              <a:t>RAM</a:t>
            </a:r>
            <a:r>
              <a:rPr lang="zh-CN" altLang="en-US" sz="2000">
                <a:latin typeface="楷体_GB2312" pitchFamily="49" charset="-122"/>
              </a:rPr>
              <a:t>芯片（</a:t>
            </a:r>
            <a:r>
              <a:rPr lang="en-US" altLang="zh-CN" sz="2000">
                <a:latin typeface="楷体_GB2312" pitchFamily="49" charset="-122"/>
              </a:rPr>
              <a:t>8Kx8</a:t>
            </a:r>
            <a:r>
              <a:rPr lang="zh-CN" altLang="en-US" sz="2000">
                <a:latin typeface="楷体_GB2312" pitchFamily="49" charset="-122"/>
              </a:rPr>
              <a:t>）形成</a:t>
            </a:r>
            <a:r>
              <a:rPr lang="en-US" altLang="zh-CN" sz="2000">
                <a:latin typeface="楷体_GB2312" pitchFamily="49" charset="-122"/>
              </a:rPr>
              <a:t>40Kx16</a:t>
            </a:r>
            <a:r>
              <a:rPr lang="zh-CN" altLang="en-US" sz="2000">
                <a:latin typeface="楷体_GB2312" pitchFamily="49" charset="-122"/>
              </a:rPr>
              <a:t>位的</a:t>
            </a:r>
            <a:r>
              <a:rPr lang="en-US" altLang="zh-CN" sz="2000">
                <a:latin typeface="楷体_GB2312" pitchFamily="49" charset="-122"/>
              </a:rPr>
              <a:t>RAM</a:t>
            </a:r>
            <a:r>
              <a:rPr lang="zh-CN" altLang="en-US" sz="2000">
                <a:latin typeface="楷体_GB2312" pitchFamily="49" charset="-122"/>
              </a:rPr>
              <a:t>区域，起始地址为</a:t>
            </a:r>
            <a:r>
              <a:rPr lang="en-US" altLang="zh-CN" sz="2000">
                <a:latin typeface="楷体_GB2312" pitchFamily="49" charset="-122"/>
              </a:rPr>
              <a:t>6000H</a:t>
            </a:r>
            <a:r>
              <a:rPr lang="zh-CN" altLang="en-US" sz="2000">
                <a:latin typeface="楷体_GB2312" pitchFamily="49" charset="-122"/>
              </a:rPr>
              <a:t>。假定</a:t>
            </a:r>
            <a:r>
              <a:rPr lang="en-US" altLang="zh-CN" sz="2000">
                <a:latin typeface="楷体_GB2312" pitchFamily="49" charset="-122"/>
              </a:rPr>
              <a:t>RAM</a:t>
            </a:r>
            <a:r>
              <a:rPr lang="zh-CN" altLang="en-US" sz="2000">
                <a:latin typeface="楷体_GB2312" pitchFamily="49" charset="-122"/>
              </a:rPr>
              <a:t>芯片有</a:t>
            </a:r>
            <a:r>
              <a:rPr lang="en-US" altLang="zh-CN" sz="2000">
                <a:latin typeface="楷体_GB2312" pitchFamily="49" charset="-122"/>
              </a:rPr>
              <a:t>CS</a:t>
            </a:r>
            <a:r>
              <a:rPr lang="zh-CN" altLang="en-US" sz="2000">
                <a:latin typeface="楷体_GB2312" pitchFamily="49" charset="-122"/>
              </a:rPr>
              <a:t>和</a:t>
            </a:r>
            <a:r>
              <a:rPr lang="en-US" altLang="zh-CN" sz="2000">
                <a:latin typeface="楷体_GB2312" pitchFamily="49" charset="-122"/>
              </a:rPr>
              <a:t>WE</a:t>
            </a:r>
            <a:r>
              <a:rPr lang="zh-CN" altLang="en-US" sz="2000">
                <a:latin typeface="楷体_GB2312" pitchFamily="49" charset="-122"/>
              </a:rPr>
              <a:t>信号控制端。</a:t>
            </a:r>
            <a:r>
              <a:rPr lang="en-US" altLang="zh-CN" sz="2000">
                <a:latin typeface="楷体_GB2312" pitchFamily="49" charset="-122"/>
              </a:rPr>
              <a:t>CPU</a:t>
            </a:r>
            <a:r>
              <a:rPr lang="zh-CN" altLang="en-US" sz="2000">
                <a:latin typeface="楷体_GB2312" pitchFamily="49" charset="-122"/>
              </a:rPr>
              <a:t>的地址总线为</a:t>
            </a:r>
            <a:r>
              <a:rPr lang="en-US" altLang="zh-CN" sz="2000">
                <a:latin typeface="楷体_GB2312" pitchFamily="49" charset="-122"/>
              </a:rPr>
              <a:t>A15-A0</a:t>
            </a:r>
            <a:r>
              <a:rPr lang="zh-CN" altLang="en-US" sz="2000">
                <a:latin typeface="楷体_GB2312" pitchFamily="49" charset="-122"/>
              </a:rPr>
              <a:t>，数据总线为</a:t>
            </a:r>
            <a:r>
              <a:rPr lang="en-US" altLang="zh-CN" sz="2000">
                <a:latin typeface="楷体_GB2312" pitchFamily="49" charset="-122"/>
              </a:rPr>
              <a:t>D15-D0</a:t>
            </a:r>
            <a:r>
              <a:rPr lang="zh-CN" altLang="en-US" sz="2000">
                <a:latin typeface="楷体_GB2312" pitchFamily="49" charset="-122"/>
              </a:rPr>
              <a:t>，控制信号为</a:t>
            </a:r>
            <a:r>
              <a:rPr lang="en-US" altLang="zh-CN" sz="2000">
                <a:latin typeface="楷体_GB2312" pitchFamily="49" charset="-122"/>
              </a:rPr>
              <a:t>MREQ(</a:t>
            </a:r>
            <a:r>
              <a:rPr lang="zh-CN" altLang="en-US" sz="2000">
                <a:latin typeface="楷体_GB2312" pitchFamily="49" charset="-122"/>
              </a:rPr>
              <a:t>访存</a:t>
            </a:r>
            <a:r>
              <a:rPr lang="en-US" altLang="zh-CN" sz="2000">
                <a:latin typeface="楷体_GB2312" pitchFamily="49" charset="-122"/>
              </a:rPr>
              <a:t>)</a:t>
            </a:r>
            <a:r>
              <a:rPr lang="zh-CN" altLang="en-US" sz="2000">
                <a:latin typeface="楷体_GB2312" pitchFamily="49" charset="-122"/>
              </a:rPr>
              <a:t>，</a:t>
            </a:r>
            <a:r>
              <a:rPr lang="en-US" altLang="zh-CN" sz="2000">
                <a:latin typeface="楷体_GB2312" pitchFamily="49" charset="-122"/>
              </a:rPr>
              <a:t>R/W(</a:t>
            </a:r>
            <a:r>
              <a:rPr lang="zh-CN" altLang="en-US" sz="2000">
                <a:latin typeface="楷体_GB2312" pitchFamily="49" charset="-122"/>
              </a:rPr>
              <a:t>读</a:t>
            </a:r>
            <a:r>
              <a:rPr lang="en-US" altLang="zh-CN" sz="2000">
                <a:latin typeface="楷体_GB2312" pitchFamily="49" charset="-122"/>
              </a:rPr>
              <a:t>/</a:t>
            </a:r>
            <a:r>
              <a:rPr lang="zh-CN" altLang="en-US" sz="2000">
                <a:latin typeface="楷体_GB2312" pitchFamily="49" charset="-122"/>
              </a:rPr>
              <a:t>写</a:t>
            </a:r>
            <a:r>
              <a:rPr lang="en-US" altLang="zh-CN" sz="2000">
                <a:latin typeface="楷体_GB2312" pitchFamily="49" charset="-122"/>
              </a:rPr>
              <a:t>)</a:t>
            </a:r>
            <a:r>
              <a:rPr lang="zh-CN" altLang="en-US" sz="2000">
                <a:latin typeface="楷体_GB2312" pitchFamily="49" charset="-122"/>
              </a:rPr>
              <a:t>。要求：</a:t>
            </a:r>
          </a:p>
          <a:p>
            <a:r>
              <a:rPr lang="zh-CN" altLang="en-US" sz="2000">
                <a:latin typeface="楷体_GB2312" pitchFamily="49" charset="-122"/>
              </a:rPr>
              <a:t>（</a:t>
            </a:r>
            <a:r>
              <a:rPr lang="en-US" altLang="zh-CN" sz="2000">
                <a:latin typeface="楷体_GB2312" pitchFamily="49" charset="-122"/>
              </a:rPr>
              <a:t>1</a:t>
            </a:r>
            <a:r>
              <a:rPr lang="zh-CN" altLang="en-US" sz="2000">
                <a:latin typeface="楷体_GB2312" pitchFamily="49" charset="-122"/>
              </a:rPr>
              <a:t>）画出地址译码方案。</a:t>
            </a:r>
          </a:p>
          <a:p>
            <a:r>
              <a:rPr lang="zh-CN" altLang="en-US" sz="2000">
                <a:latin typeface="楷体_GB2312" pitchFamily="49" charset="-122"/>
              </a:rPr>
              <a:t>（</a:t>
            </a:r>
            <a:r>
              <a:rPr lang="en-US" altLang="zh-CN" sz="2000">
                <a:latin typeface="楷体_GB2312" pitchFamily="49" charset="-122"/>
              </a:rPr>
              <a:t>2</a:t>
            </a:r>
            <a:r>
              <a:rPr lang="zh-CN" altLang="en-US" sz="2000">
                <a:latin typeface="楷体_GB2312" pitchFamily="49" charset="-122"/>
              </a:rPr>
              <a:t>）将</a:t>
            </a:r>
            <a:r>
              <a:rPr lang="en-US" altLang="zh-CN" sz="2000">
                <a:latin typeface="楷体_GB2312" pitchFamily="49" charset="-122"/>
              </a:rPr>
              <a:t>ROM</a:t>
            </a:r>
            <a:r>
              <a:rPr lang="zh-CN" altLang="en-US" sz="2000">
                <a:latin typeface="楷体_GB2312" pitchFamily="49" charset="-122"/>
              </a:rPr>
              <a:t>与</a:t>
            </a:r>
            <a:r>
              <a:rPr lang="en-US" altLang="zh-CN" sz="2000">
                <a:latin typeface="楷体_GB2312" pitchFamily="49" charset="-122"/>
              </a:rPr>
              <a:t>RAM</a:t>
            </a:r>
            <a:r>
              <a:rPr lang="zh-CN" altLang="en-US" sz="2000">
                <a:latin typeface="楷体_GB2312" pitchFamily="49" charset="-122"/>
              </a:rPr>
              <a:t>同</a:t>
            </a:r>
            <a:r>
              <a:rPr lang="en-US" altLang="zh-CN" sz="2000">
                <a:latin typeface="楷体_GB2312" pitchFamily="49" charset="-122"/>
              </a:rPr>
              <a:t>CPU</a:t>
            </a:r>
            <a:r>
              <a:rPr lang="zh-CN" altLang="en-US" sz="2000">
                <a:latin typeface="楷体_GB2312" pitchFamily="49" charset="-122"/>
              </a:rPr>
              <a:t>连接</a:t>
            </a:r>
            <a:r>
              <a:rPr lang="zh-CN" altLang="en-US">
                <a:latin typeface="楷体_GB2312" pitchFamily="49" charset="-122"/>
              </a:rPr>
              <a:t>。</a:t>
            </a:r>
          </a:p>
        </p:txBody>
      </p:sp>
      <p:sp>
        <p:nvSpPr>
          <p:cNvPr id="15366" name="Rectangle 6"/>
          <p:cNvSpPr>
            <a:spLocks noChangeArrowheads="1"/>
          </p:cNvSpPr>
          <p:nvPr/>
        </p:nvSpPr>
        <p:spPr bwMode="auto">
          <a:xfrm>
            <a:off x="179388" y="2708275"/>
            <a:ext cx="6553200"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eaLnBrk="0" hangingPunct="0"/>
            <a:r>
              <a:rPr lang="zh-CN" altLang="en-US" sz="2000">
                <a:latin typeface="楷体_GB2312" pitchFamily="49" charset="-122"/>
                <a:cs typeface="Times New Roman" charset="0"/>
              </a:rPr>
              <a:t>解：（</a:t>
            </a:r>
            <a:r>
              <a:rPr lang="en-US" altLang="zh-CN" sz="2000">
                <a:latin typeface="楷体_GB2312" pitchFamily="49" charset="-122"/>
                <a:cs typeface="Times New Roman" charset="0"/>
              </a:rPr>
              <a:t>1</a:t>
            </a:r>
            <a:r>
              <a:rPr lang="zh-CN" altLang="en-US" sz="2000">
                <a:latin typeface="楷体_GB2312" pitchFamily="49" charset="-122"/>
                <a:cs typeface="Times New Roman" charset="0"/>
              </a:rPr>
              <a:t>）根据题意主存地址空间分布如图所示。</a:t>
            </a:r>
          </a:p>
          <a:p>
            <a:pPr eaLnBrk="0" hangingPunct="0"/>
            <a:endParaRPr lang="en-US" altLang="zh-CN" sz="1800">
              <a:cs typeface="Times New Roman" charset="0"/>
            </a:endParaRPr>
          </a:p>
        </p:txBody>
      </p:sp>
      <p:sp>
        <p:nvSpPr>
          <p:cNvPr id="15367" name="Line 10"/>
          <p:cNvSpPr>
            <a:spLocks noChangeShapeType="1"/>
          </p:cNvSpPr>
          <p:nvPr/>
        </p:nvSpPr>
        <p:spPr bwMode="auto">
          <a:xfrm>
            <a:off x="5076825" y="1268413"/>
            <a:ext cx="50323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68" name="Line 11"/>
          <p:cNvSpPr>
            <a:spLocks noChangeShapeType="1"/>
          </p:cNvSpPr>
          <p:nvPr/>
        </p:nvSpPr>
        <p:spPr bwMode="auto">
          <a:xfrm>
            <a:off x="6877050" y="1268413"/>
            <a:ext cx="14287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69" name="Line 12"/>
          <p:cNvSpPr>
            <a:spLocks noChangeShapeType="1"/>
          </p:cNvSpPr>
          <p:nvPr/>
        </p:nvSpPr>
        <p:spPr bwMode="auto">
          <a:xfrm>
            <a:off x="3563938" y="981075"/>
            <a:ext cx="287337"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0" name="Line 13"/>
          <p:cNvSpPr>
            <a:spLocks noChangeShapeType="1"/>
          </p:cNvSpPr>
          <p:nvPr/>
        </p:nvSpPr>
        <p:spPr bwMode="auto">
          <a:xfrm>
            <a:off x="4067175" y="981075"/>
            <a:ext cx="288925"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5362" name="Object 14"/>
          <p:cNvGraphicFramePr>
            <a:graphicFrameLocks noChangeAspect="1"/>
          </p:cNvGraphicFramePr>
          <p:nvPr/>
        </p:nvGraphicFramePr>
        <p:xfrm>
          <a:off x="762000" y="3200400"/>
          <a:ext cx="3657600" cy="3429000"/>
        </p:xfrm>
        <a:graphic>
          <a:graphicData uri="http://schemas.openxmlformats.org/presentationml/2006/ole">
            <mc:AlternateContent xmlns:mc="http://schemas.openxmlformats.org/markup-compatibility/2006">
              <mc:Choice xmlns:v="urn:schemas-microsoft-com:vml" Requires="v">
                <p:oleObj spid="_x0000_s15624" name="位图图像" r:id="rId3" imgW="3161905" imgH="4334480" progId="PBrush">
                  <p:embed/>
                </p:oleObj>
              </mc:Choice>
              <mc:Fallback>
                <p:oleObj name="位图图像" r:id="rId3" imgW="3161905" imgH="4334480" progId="PBrush">
                  <p:embed/>
                  <p:pic>
                    <p:nvPicPr>
                      <p:cNvPr id="0" name="Picture 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200400"/>
                        <a:ext cx="36576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9279" name="AutoShape 15"/>
          <p:cNvSpPr>
            <a:spLocks noChangeArrowheads="1"/>
          </p:cNvSpPr>
          <p:nvPr/>
        </p:nvSpPr>
        <p:spPr bwMode="auto">
          <a:xfrm>
            <a:off x="4800600" y="1905000"/>
            <a:ext cx="4092575" cy="4495800"/>
          </a:xfrm>
          <a:prstGeom prst="wedgeRectCallout">
            <a:avLst>
              <a:gd name="adj1" fmla="val -60551"/>
              <a:gd name="adj2" fmla="val 22032"/>
            </a:avLst>
          </a:prstGeom>
          <a:solidFill>
            <a:schemeClr val="accent1"/>
          </a:solidFill>
          <a:ln w="12700" cap="sq">
            <a:solidFill>
              <a:schemeClr val="tx1"/>
            </a:solidFill>
            <a:miter lim="800000"/>
            <a:headEnd type="none" w="sm" len="sm"/>
            <a:tailEnd type="none" w="sm" len="sm"/>
          </a:ln>
        </p:spPr>
        <p:txBody>
          <a:bodyPr/>
          <a:lstStyle/>
          <a:p>
            <a:pPr eaLnBrk="0" hangingPunct="0"/>
            <a:r>
              <a:rPr lang="en-US" altLang="en-US" sz="2400">
                <a:latin typeface="楷体_GB2312" pitchFamily="49" charset="-122"/>
              </a:rPr>
              <a:t>①</a:t>
            </a:r>
            <a:r>
              <a:rPr lang="en-US" altLang="zh-CN" sz="2400">
                <a:latin typeface="楷体_GB2312" pitchFamily="49" charset="-122"/>
              </a:rPr>
              <a:t>0000H-3FFFH</a:t>
            </a:r>
            <a:r>
              <a:rPr lang="zh-CN" altLang="en-US" sz="2400">
                <a:latin typeface="楷体_GB2312" pitchFamily="49" charset="-122"/>
              </a:rPr>
              <a:t>的</a:t>
            </a:r>
            <a:r>
              <a:rPr lang="en-US" altLang="zh-CN" sz="2400">
                <a:latin typeface="楷体_GB2312" pitchFamily="49" charset="-122"/>
              </a:rPr>
              <a:t>ROM</a:t>
            </a:r>
            <a:r>
              <a:rPr lang="zh-CN" altLang="en-US" sz="2400">
                <a:latin typeface="楷体_GB2312" pitchFamily="49" charset="-122"/>
              </a:rPr>
              <a:t>区域</a:t>
            </a:r>
            <a:r>
              <a:rPr lang="en-US" altLang="zh-CN" sz="2400">
                <a:latin typeface="楷体_GB2312" pitchFamily="49" charset="-122"/>
              </a:rPr>
              <a:t>=2</a:t>
            </a:r>
            <a:r>
              <a:rPr lang="en-US" altLang="zh-CN" sz="2400" baseline="30000">
                <a:latin typeface="楷体_GB2312" pitchFamily="49" charset="-122"/>
              </a:rPr>
              <a:t>14 </a:t>
            </a:r>
          </a:p>
          <a:p>
            <a:pPr eaLnBrk="0" hangingPunct="0"/>
            <a:r>
              <a:rPr lang="en-US" altLang="zh-CN" sz="2400" baseline="30000">
                <a:latin typeface="楷体_GB2312" pitchFamily="49" charset="-122"/>
              </a:rPr>
              <a:t>   </a:t>
            </a:r>
            <a:r>
              <a:rPr lang="en-US" altLang="zh-CN" sz="2400">
                <a:latin typeface="楷体_GB2312" pitchFamily="49" charset="-122"/>
              </a:rPr>
              <a:t>=16K</a:t>
            </a:r>
          </a:p>
          <a:p>
            <a:pPr eaLnBrk="0" hangingPunct="0"/>
            <a:r>
              <a:rPr lang="en-US" altLang="zh-CN" sz="2400">
                <a:latin typeface="楷体_GB2312" pitchFamily="49" charset="-122"/>
              </a:rPr>
              <a:t>  ROM</a:t>
            </a:r>
            <a:r>
              <a:rPr lang="zh-CN" altLang="en-US" sz="2400">
                <a:latin typeface="楷体_GB2312" pitchFamily="49" charset="-122"/>
              </a:rPr>
              <a:t>地址线</a:t>
            </a:r>
            <a:r>
              <a:rPr lang="en-US" altLang="zh-CN" sz="2400">
                <a:latin typeface="楷体_GB2312" pitchFamily="49" charset="-122"/>
              </a:rPr>
              <a:t>A13-A0</a:t>
            </a:r>
            <a:r>
              <a:rPr lang="zh-CN" altLang="en-US" sz="2400">
                <a:latin typeface="楷体_GB2312" pitchFamily="49" charset="-122"/>
              </a:rPr>
              <a:t>，</a:t>
            </a:r>
          </a:p>
          <a:p>
            <a:pPr eaLnBrk="0" hangingPunct="0"/>
            <a:r>
              <a:rPr lang="zh-CN" altLang="en-US" sz="2400">
                <a:latin typeface="楷体_GB2312" pitchFamily="49" charset="-122"/>
              </a:rPr>
              <a:t>②用</a:t>
            </a:r>
            <a:r>
              <a:rPr lang="en-US" altLang="zh-CN" sz="2400">
                <a:latin typeface="楷体_GB2312" pitchFamily="49" charset="-122"/>
              </a:rPr>
              <a:t>RAM</a:t>
            </a:r>
            <a:r>
              <a:rPr lang="zh-CN" altLang="en-US" sz="2400">
                <a:latin typeface="楷体_GB2312" pitchFamily="49" charset="-122"/>
              </a:rPr>
              <a:t>芯片（</a:t>
            </a:r>
            <a:r>
              <a:rPr lang="en-US" altLang="zh-CN" sz="2400">
                <a:latin typeface="楷体_GB2312" pitchFamily="49" charset="-122"/>
              </a:rPr>
              <a:t>8Kx8</a:t>
            </a:r>
            <a:r>
              <a:rPr lang="zh-CN" altLang="en-US" sz="2400">
                <a:latin typeface="楷体_GB2312" pitchFamily="49" charset="-122"/>
              </a:rPr>
              <a:t>）形成</a:t>
            </a:r>
            <a:r>
              <a:rPr lang="en-US" altLang="zh-CN" sz="2400">
                <a:latin typeface="楷体_GB2312" pitchFamily="49" charset="-122"/>
              </a:rPr>
              <a:t>40Kx16</a:t>
            </a:r>
            <a:r>
              <a:rPr lang="zh-CN" altLang="en-US" sz="2400">
                <a:latin typeface="楷体_GB2312" pitchFamily="49" charset="-122"/>
              </a:rPr>
              <a:t>位的</a:t>
            </a:r>
            <a:r>
              <a:rPr lang="en-US" altLang="zh-CN" sz="2400">
                <a:latin typeface="楷体_GB2312" pitchFamily="49" charset="-122"/>
              </a:rPr>
              <a:t>RAM</a:t>
            </a:r>
            <a:r>
              <a:rPr lang="zh-CN" altLang="en-US" sz="2400">
                <a:latin typeface="楷体_GB2312" pitchFamily="49" charset="-122"/>
              </a:rPr>
              <a:t>区域</a:t>
            </a:r>
          </a:p>
          <a:p>
            <a:pPr eaLnBrk="0" hangingPunct="0"/>
            <a:r>
              <a:rPr lang="zh-CN" altLang="en-US" sz="2400">
                <a:latin typeface="楷体_GB2312" pitchFamily="49" charset="-122"/>
              </a:rPr>
              <a:t>  </a:t>
            </a:r>
            <a:r>
              <a:rPr lang="en-US" altLang="zh-CN" sz="2400">
                <a:latin typeface="楷体_GB2312" pitchFamily="49" charset="-122"/>
              </a:rPr>
              <a:t>2</a:t>
            </a:r>
            <a:r>
              <a:rPr lang="zh-CN" altLang="en-US" sz="2400">
                <a:latin typeface="楷体_GB2312" pitchFamily="49" charset="-122"/>
              </a:rPr>
              <a:t>片</a:t>
            </a:r>
            <a:r>
              <a:rPr lang="en-US" altLang="zh-CN" sz="2400">
                <a:latin typeface="楷体_GB2312" pitchFamily="49" charset="-122"/>
              </a:rPr>
              <a:t>8K×8</a:t>
            </a:r>
            <a:r>
              <a:rPr lang="zh-CN" altLang="en-US" sz="2400">
                <a:latin typeface="楷体_GB2312" pitchFamily="49" charset="-122"/>
              </a:rPr>
              <a:t>位芯片位扩展</a:t>
            </a:r>
          </a:p>
          <a:p>
            <a:pPr eaLnBrk="0" hangingPunct="0"/>
            <a:r>
              <a:rPr lang="zh-CN" altLang="en-US" sz="2400">
                <a:latin typeface="楷体_GB2312" pitchFamily="49" charset="-122"/>
              </a:rPr>
              <a:t>  组成</a:t>
            </a:r>
            <a:r>
              <a:rPr lang="en-US" altLang="zh-CN" sz="2400">
                <a:latin typeface="楷体_GB2312" pitchFamily="49" charset="-122"/>
              </a:rPr>
              <a:t>8K*16</a:t>
            </a:r>
            <a:r>
              <a:rPr lang="zh-CN" altLang="en-US" sz="2400">
                <a:latin typeface="楷体_GB2312" pitchFamily="49" charset="-122"/>
              </a:rPr>
              <a:t>位模块，</a:t>
            </a:r>
          </a:p>
          <a:p>
            <a:pPr eaLnBrk="0" hangingPunct="0"/>
            <a:r>
              <a:rPr lang="zh-CN" altLang="en-US" sz="2400">
                <a:latin typeface="楷体_GB2312" pitchFamily="49" charset="-122"/>
              </a:rPr>
              <a:t>  地址线</a:t>
            </a:r>
            <a:r>
              <a:rPr lang="en-US" altLang="zh-CN" sz="2400">
                <a:latin typeface="楷体_GB2312" pitchFamily="49" charset="-122"/>
              </a:rPr>
              <a:t>A12-A0</a:t>
            </a:r>
            <a:r>
              <a:rPr lang="zh-CN" altLang="en-US" sz="2400">
                <a:latin typeface="楷体_GB2312" pitchFamily="49" charset="-122"/>
              </a:rPr>
              <a:t>。</a:t>
            </a:r>
          </a:p>
          <a:p>
            <a:pPr eaLnBrk="0" hangingPunct="0"/>
            <a:r>
              <a:rPr lang="zh-CN" altLang="en-US" sz="2400">
                <a:latin typeface="楷体_GB2312" pitchFamily="49" charset="-122"/>
              </a:rPr>
              <a:t>  </a:t>
            </a:r>
            <a:r>
              <a:rPr lang="en-US" altLang="zh-CN" sz="2400">
                <a:latin typeface="楷体_GB2312" pitchFamily="49" charset="-122"/>
              </a:rPr>
              <a:t>5</a:t>
            </a:r>
            <a:r>
              <a:rPr lang="zh-CN" altLang="en-US" sz="2400">
                <a:latin typeface="楷体_GB2312" pitchFamily="49" charset="-122"/>
              </a:rPr>
              <a:t>个模块组成</a:t>
            </a:r>
            <a:r>
              <a:rPr lang="en-US" altLang="zh-CN" sz="2400">
                <a:latin typeface="楷体_GB2312" pitchFamily="49" charset="-122"/>
              </a:rPr>
              <a:t>40K×16</a:t>
            </a:r>
            <a:r>
              <a:rPr lang="zh-CN" altLang="en-US" sz="2400">
                <a:latin typeface="楷体_GB2312" pitchFamily="49" charset="-122"/>
              </a:rPr>
              <a:t>位</a:t>
            </a:r>
          </a:p>
          <a:p>
            <a:pPr eaLnBrk="0" hangingPunct="0"/>
            <a:r>
              <a:rPr lang="zh-CN" altLang="en-US" sz="2400">
                <a:latin typeface="楷体_GB2312" pitchFamily="49" charset="-122"/>
              </a:rPr>
              <a:t>  </a:t>
            </a:r>
            <a:r>
              <a:rPr lang="en-US" altLang="zh-CN" sz="2400">
                <a:latin typeface="楷体_GB2312" pitchFamily="49" charset="-122"/>
              </a:rPr>
              <a:t>RAM</a:t>
            </a:r>
            <a:r>
              <a:rPr lang="zh-CN" altLang="en-US" sz="2400">
                <a:latin typeface="楷体_GB2312" pitchFamily="49" charset="-122"/>
              </a:rPr>
              <a:t>区域，地址线</a:t>
            </a:r>
            <a:r>
              <a:rPr lang="en-US" altLang="zh-CN" sz="2400">
                <a:latin typeface="楷体_GB2312" pitchFamily="49" charset="-122"/>
              </a:rPr>
              <a:t>A15-A0</a:t>
            </a:r>
          </a:p>
          <a:p>
            <a:pPr eaLnBrk="0" hangingPunct="0"/>
            <a:r>
              <a:rPr lang="en-US" altLang="zh-CN" sz="2400">
                <a:latin typeface="楷体_GB2312" pitchFamily="49" charset="-122"/>
              </a:rPr>
              <a:t>  A15-A13</a:t>
            </a:r>
            <a:r>
              <a:rPr lang="zh-CN" altLang="en-US" sz="2400">
                <a:latin typeface="楷体_GB2312" pitchFamily="49" charset="-122"/>
              </a:rPr>
              <a:t>通过</a:t>
            </a:r>
            <a:r>
              <a:rPr lang="en-US" altLang="zh-CN" sz="2400">
                <a:latin typeface="楷体_GB2312" pitchFamily="49" charset="-122"/>
              </a:rPr>
              <a:t>3∶8</a:t>
            </a:r>
            <a:r>
              <a:rPr lang="zh-CN" altLang="en-US" sz="2400">
                <a:latin typeface="楷体_GB2312" pitchFamily="49" charset="-122"/>
              </a:rPr>
              <a:t>译码器控制芯片片选。</a:t>
            </a:r>
          </a:p>
        </p:txBody>
      </p:sp>
      <p:graphicFrame>
        <p:nvGraphicFramePr>
          <p:cNvPr id="139281" name="Object 17"/>
          <p:cNvGraphicFramePr>
            <a:graphicFrameLocks noChangeAspect="1"/>
          </p:cNvGraphicFramePr>
          <p:nvPr/>
        </p:nvGraphicFramePr>
        <p:xfrm>
          <a:off x="152400" y="1828800"/>
          <a:ext cx="8991600" cy="4876800"/>
        </p:xfrm>
        <a:graphic>
          <a:graphicData uri="http://schemas.openxmlformats.org/presentationml/2006/ole">
            <mc:AlternateContent xmlns:mc="http://schemas.openxmlformats.org/markup-compatibility/2006">
              <mc:Choice xmlns:v="urn:schemas-microsoft-com:vml" Requires="v">
                <p:oleObj spid="_x0000_s15625" name="位图图像" r:id="rId5" imgW="6687483" imgH="3247619" progId="PBrush">
                  <p:embed/>
                </p:oleObj>
              </mc:Choice>
              <mc:Fallback>
                <p:oleObj name="位图图像" r:id="rId5" imgW="6687483" imgH="3247619" progId="PBrush">
                  <p:embed/>
                  <p:pic>
                    <p:nvPicPr>
                      <p:cNvPr id="0" name="Picture 6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1828800"/>
                        <a:ext cx="89916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9279"/>
                                        </p:tgtEl>
                                        <p:attrNameLst>
                                          <p:attrName>style.visibility</p:attrName>
                                        </p:attrNameLst>
                                      </p:cBhvr>
                                      <p:to>
                                        <p:strVal val="visible"/>
                                      </p:to>
                                    </p:set>
                                    <p:animEffect transition="in" filter="blinds(horizontal)">
                                      <p:cBhvr>
                                        <p:cTn id="7" dur="500"/>
                                        <p:tgtEl>
                                          <p:spTgt spid="1392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39281"/>
                                        </p:tgtEl>
                                        <p:attrNameLst>
                                          <p:attrName>style.visibility</p:attrName>
                                        </p:attrNameLst>
                                      </p:cBhvr>
                                      <p:to>
                                        <p:strVal val="visible"/>
                                      </p:to>
                                    </p:set>
                                    <p:animEffect transition="in" filter="blinds(horizontal)">
                                      <p:cBhvr>
                                        <p:cTn id="12" dur="500"/>
                                        <p:tgtEl>
                                          <p:spTgt spid="139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79" grpId="0" animBg="1" autoUpdateAnimBg="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A0098FBE-B887-43EA-9ADA-EB5643301BA9}" type="slidenum">
              <a:rPr lang="en-US" altLang="zh-CN"/>
              <a:pPr>
                <a:defRPr/>
              </a:pPr>
              <a:t>142</a:t>
            </a:fld>
            <a:endParaRPr lang="en-US" altLang="zh-CN"/>
          </a:p>
        </p:txBody>
      </p:sp>
      <p:sp>
        <p:nvSpPr>
          <p:cNvPr id="16388" name="Rectangle 5"/>
          <p:cNvSpPr>
            <a:spLocks noChangeArrowheads="1"/>
          </p:cNvSpPr>
          <p:nvPr/>
        </p:nvSpPr>
        <p:spPr bwMode="auto">
          <a:xfrm>
            <a:off x="0" y="1676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p>
            <a:endParaRPr lang="zh-CN" altLang="en-US"/>
          </a:p>
        </p:txBody>
      </p:sp>
      <p:sp>
        <p:nvSpPr>
          <p:cNvPr id="16389" name="Rectangle 10"/>
          <p:cNvSpPr>
            <a:spLocks noChangeArrowheads="1"/>
          </p:cNvSpPr>
          <p:nvPr/>
        </p:nvSpPr>
        <p:spPr bwMode="auto">
          <a:xfrm>
            <a:off x="304800" y="228600"/>
            <a:ext cx="8610600" cy="1552575"/>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spcBef>
                <a:spcPct val="50000"/>
              </a:spcBef>
            </a:pPr>
            <a:r>
              <a:rPr lang="en-US" altLang="zh-CN" sz="2400">
                <a:latin typeface="楷体_GB2312" pitchFamily="49" charset="-122"/>
              </a:rPr>
              <a:t>0000H-3FFFH</a:t>
            </a:r>
            <a:r>
              <a:rPr lang="zh-CN" altLang="en-US" sz="2400">
                <a:latin typeface="楷体_GB2312" pitchFamily="49" charset="-122"/>
              </a:rPr>
              <a:t>的</a:t>
            </a:r>
            <a:r>
              <a:rPr lang="en-US" altLang="zh-CN" sz="2400">
                <a:latin typeface="楷体_GB2312" pitchFamily="49" charset="-122"/>
              </a:rPr>
              <a:t>ROM</a:t>
            </a:r>
            <a:r>
              <a:rPr lang="zh-CN" altLang="en-US" sz="2400">
                <a:latin typeface="楷体_GB2312" pitchFamily="49" charset="-122"/>
              </a:rPr>
              <a:t>区域。用一个</a:t>
            </a:r>
            <a:r>
              <a:rPr lang="en-US" altLang="zh-CN" sz="2400">
                <a:latin typeface="楷体_GB2312" pitchFamily="49" charset="-122"/>
              </a:rPr>
              <a:t>RAM</a:t>
            </a:r>
            <a:r>
              <a:rPr lang="zh-CN" altLang="en-US" sz="2400">
                <a:latin typeface="楷体_GB2312" pitchFamily="49" charset="-122"/>
              </a:rPr>
              <a:t>芯片（</a:t>
            </a:r>
            <a:r>
              <a:rPr lang="en-US" altLang="zh-CN" sz="2400">
                <a:latin typeface="楷体_GB2312" pitchFamily="49" charset="-122"/>
              </a:rPr>
              <a:t>8Kx8</a:t>
            </a:r>
            <a:r>
              <a:rPr lang="zh-CN" altLang="en-US" sz="2400">
                <a:latin typeface="楷体_GB2312" pitchFamily="49" charset="-122"/>
              </a:rPr>
              <a:t>）形成</a:t>
            </a:r>
            <a:r>
              <a:rPr lang="en-US" altLang="zh-CN" sz="2400">
                <a:latin typeface="楷体_GB2312" pitchFamily="49" charset="-122"/>
              </a:rPr>
              <a:t>40Kx16</a:t>
            </a:r>
            <a:r>
              <a:rPr lang="zh-CN" altLang="en-US" sz="2400">
                <a:latin typeface="楷体_GB2312" pitchFamily="49" charset="-122"/>
              </a:rPr>
              <a:t>位的</a:t>
            </a:r>
            <a:r>
              <a:rPr lang="en-US" altLang="zh-CN" sz="2400">
                <a:latin typeface="楷体_GB2312" pitchFamily="49" charset="-122"/>
              </a:rPr>
              <a:t>RAM</a:t>
            </a:r>
            <a:r>
              <a:rPr lang="zh-CN" altLang="en-US" sz="2400">
                <a:latin typeface="楷体_GB2312" pitchFamily="49" charset="-122"/>
              </a:rPr>
              <a:t>区域，起始地址为</a:t>
            </a:r>
            <a:r>
              <a:rPr lang="en-US" altLang="zh-CN" sz="2400">
                <a:latin typeface="楷体_GB2312" pitchFamily="49" charset="-122"/>
              </a:rPr>
              <a:t>6000H</a:t>
            </a:r>
            <a:r>
              <a:rPr lang="zh-CN" altLang="en-US" sz="2400">
                <a:latin typeface="楷体_GB2312" pitchFamily="49" charset="-122"/>
              </a:rPr>
              <a:t>。假定</a:t>
            </a:r>
            <a:r>
              <a:rPr lang="en-US" altLang="zh-CN" sz="2400">
                <a:latin typeface="楷体_GB2312" pitchFamily="49" charset="-122"/>
              </a:rPr>
              <a:t>RAM</a:t>
            </a:r>
            <a:r>
              <a:rPr lang="zh-CN" altLang="en-US" sz="2400">
                <a:latin typeface="楷体_GB2312" pitchFamily="49" charset="-122"/>
              </a:rPr>
              <a:t>芯片有</a:t>
            </a:r>
            <a:r>
              <a:rPr lang="en-US" altLang="zh-CN" sz="2400">
                <a:latin typeface="楷体_GB2312" pitchFamily="49" charset="-122"/>
              </a:rPr>
              <a:t>CS</a:t>
            </a:r>
            <a:r>
              <a:rPr lang="zh-CN" altLang="en-US" sz="2400">
                <a:latin typeface="楷体_GB2312" pitchFamily="49" charset="-122"/>
              </a:rPr>
              <a:t>和</a:t>
            </a:r>
            <a:r>
              <a:rPr lang="en-US" altLang="zh-CN" sz="2400">
                <a:latin typeface="楷体_GB2312" pitchFamily="49" charset="-122"/>
              </a:rPr>
              <a:t>WE</a:t>
            </a:r>
            <a:r>
              <a:rPr lang="zh-CN" altLang="en-US" sz="2400">
                <a:latin typeface="楷体_GB2312" pitchFamily="49" charset="-122"/>
              </a:rPr>
              <a:t>信号控制端。</a:t>
            </a:r>
            <a:r>
              <a:rPr lang="en-US" altLang="zh-CN" sz="2400">
                <a:latin typeface="楷体_GB2312" pitchFamily="49" charset="-122"/>
              </a:rPr>
              <a:t>CPU</a:t>
            </a:r>
            <a:r>
              <a:rPr lang="zh-CN" altLang="en-US" sz="2400">
                <a:latin typeface="楷体_GB2312" pitchFamily="49" charset="-122"/>
              </a:rPr>
              <a:t>的地址总线为</a:t>
            </a:r>
            <a:r>
              <a:rPr lang="en-US" altLang="zh-CN" sz="2400">
                <a:latin typeface="楷体_GB2312" pitchFamily="49" charset="-122"/>
              </a:rPr>
              <a:t>A15-A0</a:t>
            </a:r>
            <a:r>
              <a:rPr lang="zh-CN" altLang="en-US" sz="2400">
                <a:latin typeface="楷体_GB2312" pitchFamily="49" charset="-122"/>
              </a:rPr>
              <a:t>，数据总线为</a:t>
            </a:r>
            <a:r>
              <a:rPr lang="en-US" altLang="zh-CN" sz="2400">
                <a:latin typeface="楷体_GB2312" pitchFamily="49" charset="-122"/>
              </a:rPr>
              <a:t>D15-D0</a:t>
            </a:r>
            <a:r>
              <a:rPr lang="zh-CN" altLang="en-US" sz="2400">
                <a:latin typeface="楷体_GB2312" pitchFamily="49" charset="-122"/>
              </a:rPr>
              <a:t>，控制信号为</a:t>
            </a:r>
            <a:r>
              <a:rPr lang="en-US" altLang="zh-CN" sz="2400">
                <a:latin typeface="楷体_GB2312" pitchFamily="49" charset="-122"/>
              </a:rPr>
              <a:t>MREQ(</a:t>
            </a:r>
            <a:r>
              <a:rPr lang="zh-CN" altLang="en-US" sz="2400">
                <a:latin typeface="楷体_GB2312" pitchFamily="49" charset="-122"/>
              </a:rPr>
              <a:t>访存</a:t>
            </a:r>
            <a:r>
              <a:rPr lang="en-US" altLang="zh-CN" sz="2400">
                <a:latin typeface="楷体_GB2312" pitchFamily="49" charset="-122"/>
              </a:rPr>
              <a:t>)</a:t>
            </a:r>
            <a:r>
              <a:rPr lang="zh-CN" altLang="en-US" sz="2400">
                <a:latin typeface="楷体_GB2312" pitchFamily="49" charset="-122"/>
              </a:rPr>
              <a:t>，</a:t>
            </a:r>
            <a:r>
              <a:rPr lang="en-US" altLang="zh-CN" sz="2400">
                <a:latin typeface="楷体_GB2312" pitchFamily="49" charset="-122"/>
              </a:rPr>
              <a:t>R/W(</a:t>
            </a:r>
            <a:r>
              <a:rPr lang="zh-CN" altLang="en-US" sz="2400">
                <a:latin typeface="楷体_GB2312" pitchFamily="49" charset="-122"/>
              </a:rPr>
              <a:t>读</a:t>
            </a:r>
            <a:r>
              <a:rPr lang="en-US" altLang="zh-CN" sz="2400">
                <a:latin typeface="楷体_GB2312" pitchFamily="49" charset="-122"/>
              </a:rPr>
              <a:t>/</a:t>
            </a:r>
            <a:r>
              <a:rPr lang="zh-CN" altLang="en-US" sz="2400">
                <a:latin typeface="楷体_GB2312" pitchFamily="49" charset="-122"/>
              </a:rPr>
              <a:t>写</a:t>
            </a:r>
            <a:r>
              <a:rPr lang="en-US" altLang="zh-CN" sz="2400">
                <a:latin typeface="楷体_GB2312" pitchFamily="49" charset="-122"/>
              </a:rPr>
              <a:t>)</a:t>
            </a:r>
            <a:r>
              <a:rPr lang="zh-CN" altLang="en-US" sz="2400">
                <a:latin typeface="楷体_GB2312" pitchFamily="49" charset="-122"/>
              </a:rPr>
              <a:t>。要求：（</a:t>
            </a:r>
            <a:r>
              <a:rPr lang="en-US" altLang="zh-CN" sz="2400">
                <a:latin typeface="楷体_GB2312" pitchFamily="49" charset="-122"/>
              </a:rPr>
              <a:t>2</a:t>
            </a:r>
            <a:r>
              <a:rPr lang="zh-CN" altLang="en-US" sz="2400">
                <a:latin typeface="楷体_GB2312" pitchFamily="49" charset="-122"/>
              </a:rPr>
              <a:t>）将</a:t>
            </a:r>
            <a:r>
              <a:rPr lang="en-US" altLang="zh-CN" sz="2400">
                <a:latin typeface="楷体_GB2312" pitchFamily="49" charset="-122"/>
              </a:rPr>
              <a:t>ROM</a:t>
            </a:r>
            <a:r>
              <a:rPr lang="zh-CN" altLang="en-US" sz="2400">
                <a:latin typeface="楷体_GB2312" pitchFamily="49" charset="-122"/>
              </a:rPr>
              <a:t>与</a:t>
            </a:r>
            <a:r>
              <a:rPr lang="en-US" altLang="zh-CN" sz="2400">
                <a:latin typeface="楷体_GB2312" pitchFamily="49" charset="-122"/>
              </a:rPr>
              <a:t>RAM</a:t>
            </a:r>
            <a:r>
              <a:rPr lang="zh-CN" altLang="en-US" sz="2400">
                <a:latin typeface="楷体_GB2312" pitchFamily="49" charset="-122"/>
              </a:rPr>
              <a:t>同</a:t>
            </a:r>
            <a:r>
              <a:rPr lang="en-US" altLang="zh-CN" sz="2400">
                <a:latin typeface="楷体_GB2312" pitchFamily="49" charset="-122"/>
              </a:rPr>
              <a:t>CPU</a:t>
            </a:r>
            <a:r>
              <a:rPr lang="zh-CN" altLang="en-US" sz="2400">
                <a:latin typeface="楷体_GB2312" pitchFamily="49" charset="-122"/>
              </a:rPr>
              <a:t>连接。</a:t>
            </a:r>
          </a:p>
        </p:txBody>
      </p:sp>
      <p:graphicFrame>
        <p:nvGraphicFramePr>
          <p:cNvPr id="16386" name="Object 11"/>
          <p:cNvGraphicFramePr>
            <a:graphicFrameLocks noChangeAspect="1"/>
          </p:cNvGraphicFramePr>
          <p:nvPr/>
        </p:nvGraphicFramePr>
        <p:xfrm>
          <a:off x="381000" y="1828800"/>
          <a:ext cx="8305800" cy="4784725"/>
        </p:xfrm>
        <a:graphic>
          <a:graphicData uri="http://schemas.openxmlformats.org/presentationml/2006/ole">
            <mc:AlternateContent xmlns:mc="http://schemas.openxmlformats.org/markup-compatibility/2006">
              <mc:Choice xmlns:v="urn:schemas-microsoft-com:vml" Requires="v">
                <p:oleObj spid="_x0000_s16516" name="位图图像" r:id="rId3" imgW="7028571" imgH="4048690" progId="PBrush">
                  <p:embed/>
                </p:oleObj>
              </mc:Choice>
              <mc:Fallback>
                <p:oleObj name="位图图像" r:id="rId3" imgW="7028571" imgH="4048690" progId="PBrush">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828800"/>
                        <a:ext cx="8305800" cy="478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CE11C90-72AF-4EA1-9568-513D2192F898}" type="slidenum">
              <a:rPr lang="en-US" altLang="zh-CN" smtClean="0"/>
              <a:pPr>
                <a:defRPr/>
              </a:pPr>
              <a:t>143</a:t>
            </a:fld>
            <a:endParaRPr lang="en-US" altLang="zh-CN"/>
          </a:p>
        </p:txBody>
      </p:sp>
      <p:sp>
        <p:nvSpPr>
          <p:cNvPr id="158723" name="Rectangle 2"/>
          <p:cNvSpPr>
            <a:spLocks noChangeArrowheads="1"/>
          </p:cNvSpPr>
          <p:nvPr/>
        </p:nvSpPr>
        <p:spPr bwMode="auto">
          <a:xfrm>
            <a:off x="228600" y="152400"/>
            <a:ext cx="77724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a:latin typeface="宋体" pitchFamily="2" charset="-122"/>
                <a:ea typeface="宋体" pitchFamily="2" charset="-122"/>
              </a:rPr>
              <a:t>P102-13.</a:t>
            </a:r>
            <a:r>
              <a:rPr lang="zh-CN" altLang="en-US">
                <a:latin typeface="宋体" pitchFamily="2" charset="-122"/>
                <a:ea typeface="宋体" pitchFamily="2" charset="-122"/>
              </a:rPr>
              <a:t>一个</a:t>
            </a:r>
            <a:r>
              <a:rPr lang="zh-CN" altLang="en-US">
                <a:latin typeface="Times New Roman" charset="0"/>
                <a:ea typeface="宋体" pitchFamily="2" charset="-122"/>
              </a:rPr>
              <a:t>组相联</a:t>
            </a:r>
            <a:r>
              <a:rPr lang="en-US" altLang="zh-CN">
                <a:latin typeface="宋体" pitchFamily="2" charset="-122"/>
                <a:ea typeface="宋体" pitchFamily="2" charset="-122"/>
              </a:rPr>
              <a:t>Cache</a:t>
            </a:r>
            <a:r>
              <a:rPr lang="zh-CN" altLang="en-US">
                <a:latin typeface="Times New Roman" charset="0"/>
                <a:ea typeface="宋体" pitchFamily="2" charset="-122"/>
              </a:rPr>
              <a:t>由</a:t>
            </a:r>
            <a:r>
              <a:rPr lang="en-US" altLang="zh-CN">
                <a:latin typeface="宋体" pitchFamily="2" charset="-122"/>
                <a:ea typeface="宋体" pitchFamily="2" charset="-122"/>
              </a:rPr>
              <a:t>64</a:t>
            </a:r>
            <a:r>
              <a:rPr lang="zh-CN" altLang="en-US">
                <a:latin typeface="宋体" pitchFamily="2" charset="-122"/>
                <a:ea typeface="宋体" pitchFamily="2" charset="-122"/>
              </a:rPr>
              <a:t>个</a:t>
            </a:r>
            <a:r>
              <a:rPr lang="zh-CN" altLang="en-US">
                <a:latin typeface="Times New Roman" charset="0"/>
                <a:ea typeface="宋体" pitchFamily="2" charset="-122"/>
              </a:rPr>
              <a:t>行组成，每组</a:t>
            </a:r>
            <a:r>
              <a:rPr lang="en-US" altLang="zh-CN">
                <a:latin typeface="宋体" pitchFamily="2" charset="-122"/>
                <a:ea typeface="宋体" pitchFamily="2" charset="-122"/>
              </a:rPr>
              <a:t>4</a:t>
            </a:r>
            <a:r>
              <a:rPr lang="zh-CN" altLang="en-US">
                <a:latin typeface="Times New Roman" charset="0"/>
                <a:ea typeface="宋体" pitchFamily="2" charset="-122"/>
              </a:rPr>
              <a:t>行，主存包含</a:t>
            </a:r>
            <a:r>
              <a:rPr lang="en-US" altLang="zh-CN">
                <a:latin typeface="宋体" pitchFamily="2" charset="-122"/>
                <a:ea typeface="宋体" pitchFamily="2" charset="-122"/>
              </a:rPr>
              <a:t>4K</a:t>
            </a:r>
            <a:r>
              <a:rPr lang="zh-CN" altLang="en-US">
                <a:latin typeface="Times New Roman" charset="0"/>
                <a:ea typeface="宋体" pitchFamily="2" charset="-122"/>
              </a:rPr>
              <a:t>个块，每块</a:t>
            </a:r>
            <a:r>
              <a:rPr lang="en-US" altLang="zh-CN">
                <a:latin typeface="宋体" pitchFamily="2" charset="-122"/>
                <a:ea typeface="宋体" pitchFamily="2" charset="-122"/>
              </a:rPr>
              <a:t>128</a:t>
            </a:r>
            <a:r>
              <a:rPr lang="zh-CN" altLang="en-US">
                <a:latin typeface="Times New Roman" charset="0"/>
                <a:ea typeface="宋体" pitchFamily="2" charset="-122"/>
              </a:rPr>
              <a:t>个字。请表示出内存地址的格式。</a:t>
            </a:r>
            <a:endParaRPr lang="zh-CN" altLang="en-US">
              <a:latin typeface="宋体" pitchFamily="2" charset="-122"/>
              <a:ea typeface="宋体" pitchFamily="2" charset="-122"/>
            </a:endParaRPr>
          </a:p>
        </p:txBody>
      </p:sp>
      <p:grpSp>
        <p:nvGrpSpPr>
          <p:cNvPr id="3" name="组合 5"/>
          <p:cNvGrpSpPr>
            <a:grpSpLocks/>
          </p:cNvGrpSpPr>
          <p:nvPr/>
        </p:nvGrpSpPr>
        <p:grpSpPr bwMode="auto">
          <a:xfrm>
            <a:off x="428625" y="1857375"/>
            <a:ext cx="7772400" cy="3357563"/>
            <a:chOff x="428625" y="1857375"/>
            <a:chExt cx="7772400" cy="3357563"/>
          </a:xfrm>
        </p:grpSpPr>
        <p:sp>
          <p:nvSpPr>
            <p:cNvPr id="4" name="Rectangle 2"/>
            <p:cNvSpPr>
              <a:spLocks noChangeArrowheads="1"/>
            </p:cNvSpPr>
            <p:nvPr/>
          </p:nvSpPr>
          <p:spPr bwMode="auto">
            <a:xfrm>
              <a:off x="428625" y="1857375"/>
              <a:ext cx="7772400" cy="1930400"/>
            </a:xfrm>
            <a:prstGeom prst="rect">
              <a:avLst/>
            </a:prstGeom>
            <a:noFill/>
            <a:ln w="12700" cap="sq">
              <a:noFill/>
              <a:miter lim="800000"/>
              <a:headEnd type="none" w="sm" len="sm"/>
              <a:tailEnd type="none" w="sm" len="sm"/>
            </a:ln>
          </p:spPr>
          <p:txBody>
            <a:bodyPr>
              <a:spAutoFit/>
            </a:bodyPr>
            <a:lstStyle/>
            <a:p>
              <a:pPr>
                <a:lnSpc>
                  <a:spcPct val="150000"/>
                </a:lnSpc>
                <a:defRPr/>
              </a:pPr>
              <a:r>
                <a:rPr lang="zh-CN" altLang="en-US" dirty="0">
                  <a:latin typeface="+mn-ea"/>
                  <a:ea typeface="+mn-ea"/>
                </a:rPr>
                <a:t>解：主存包含</a:t>
              </a:r>
              <a:r>
                <a:rPr lang="en-US" altLang="zh-CN" dirty="0">
                  <a:latin typeface="+mn-ea"/>
                  <a:ea typeface="+mn-ea"/>
                </a:rPr>
                <a:t>4K</a:t>
              </a:r>
              <a:r>
                <a:rPr lang="zh-CN" altLang="en-US" dirty="0">
                  <a:latin typeface="+mn-ea"/>
                  <a:ea typeface="+mn-ea"/>
                </a:rPr>
                <a:t>个块，地址</a:t>
              </a:r>
              <a:r>
                <a:rPr lang="en-US" altLang="zh-CN" dirty="0">
                  <a:latin typeface="+mn-ea"/>
                  <a:ea typeface="+mn-ea"/>
                </a:rPr>
                <a:t>12</a:t>
              </a:r>
              <a:r>
                <a:rPr lang="zh-CN" altLang="en-US" dirty="0">
                  <a:latin typeface="+mn-ea"/>
                  <a:ea typeface="+mn-ea"/>
                </a:rPr>
                <a:t>位</a:t>
              </a:r>
              <a:endParaRPr lang="en-US" altLang="zh-CN" dirty="0">
                <a:latin typeface="+mn-ea"/>
                <a:ea typeface="+mn-ea"/>
              </a:endParaRPr>
            </a:p>
            <a:p>
              <a:pPr>
                <a:lnSpc>
                  <a:spcPct val="150000"/>
                </a:lnSpc>
                <a:defRPr/>
              </a:pPr>
              <a:r>
                <a:rPr lang="en-US" altLang="zh-CN" dirty="0">
                  <a:latin typeface="+mn-ea"/>
                  <a:ea typeface="+mn-ea"/>
                </a:rPr>
                <a:t>        </a:t>
              </a:r>
              <a:r>
                <a:rPr lang="zh-CN" altLang="en-US" dirty="0">
                  <a:latin typeface="+mn-ea"/>
                  <a:ea typeface="+mn-ea"/>
                </a:rPr>
                <a:t>每块</a:t>
              </a:r>
              <a:r>
                <a:rPr lang="en-US" altLang="zh-CN" dirty="0">
                  <a:latin typeface="+mn-ea"/>
                  <a:ea typeface="+mn-ea"/>
                </a:rPr>
                <a:t>128</a:t>
              </a:r>
              <a:r>
                <a:rPr lang="zh-CN" altLang="en-US" dirty="0">
                  <a:latin typeface="+mn-ea"/>
                  <a:ea typeface="+mn-ea"/>
                </a:rPr>
                <a:t>个字，地址</a:t>
              </a:r>
              <a:r>
                <a:rPr lang="en-US" altLang="zh-CN" dirty="0">
                  <a:latin typeface="+mn-ea"/>
                  <a:ea typeface="+mn-ea"/>
                </a:rPr>
                <a:t>7</a:t>
              </a:r>
              <a:r>
                <a:rPr lang="zh-CN" altLang="en-US" dirty="0">
                  <a:latin typeface="+mn-ea"/>
                  <a:ea typeface="+mn-ea"/>
                </a:rPr>
                <a:t>位</a:t>
              </a:r>
              <a:endParaRPr lang="en-US" altLang="zh-CN" dirty="0">
                <a:latin typeface="+mn-ea"/>
                <a:ea typeface="+mn-ea"/>
              </a:endParaRPr>
            </a:p>
            <a:p>
              <a:pPr>
                <a:lnSpc>
                  <a:spcPct val="150000"/>
                </a:lnSpc>
                <a:defRPr/>
              </a:pPr>
              <a:r>
                <a:rPr lang="en-US" altLang="zh-CN" dirty="0">
                  <a:latin typeface="+mn-ea"/>
                  <a:ea typeface="+mn-ea"/>
                </a:rPr>
                <a:t>        Cache</a:t>
              </a:r>
              <a:r>
                <a:rPr lang="zh-CN" altLang="en-US" dirty="0">
                  <a:latin typeface="+mn-ea"/>
                  <a:ea typeface="+mn-ea"/>
                </a:rPr>
                <a:t>分</a:t>
              </a:r>
              <a:r>
                <a:rPr lang="en-US" altLang="zh-CN" dirty="0">
                  <a:latin typeface="+mn-ea"/>
                  <a:ea typeface="+mn-ea"/>
                </a:rPr>
                <a:t>16</a:t>
              </a:r>
              <a:r>
                <a:rPr lang="zh-CN" altLang="en-US" dirty="0">
                  <a:latin typeface="+mn-ea"/>
                  <a:ea typeface="+mn-ea"/>
                </a:rPr>
                <a:t>组，地址</a:t>
              </a:r>
              <a:r>
                <a:rPr lang="en-US" altLang="zh-CN" dirty="0">
                  <a:latin typeface="+mn-ea"/>
                  <a:ea typeface="+mn-ea"/>
                </a:rPr>
                <a:t>4</a:t>
              </a:r>
              <a:r>
                <a:rPr lang="zh-CN" altLang="en-US" dirty="0">
                  <a:latin typeface="+mn-ea"/>
                  <a:ea typeface="+mn-ea"/>
                </a:rPr>
                <a:t>位</a:t>
              </a:r>
            </a:p>
          </p:txBody>
        </p:sp>
        <p:pic>
          <p:nvPicPr>
            <p:cNvPr id="1587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25" y="4000500"/>
              <a:ext cx="6291263"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E45FC6DC-7770-47D6-85FA-CB661C9D6F60}" type="slidenum">
              <a:rPr lang="en-US" altLang="zh-CN" smtClean="0"/>
              <a:pPr>
                <a:defRPr/>
              </a:pPr>
              <a:t>144</a:t>
            </a:fld>
            <a:endParaRPr lang="en-US" altLang="zh-CN"/>
          </a:p>
        </p:txBody>
      </p:sp>
      <p:sp>
        <p:nvSpPr>
          <p:cNvPr id="159747" name="Rectangle 2"/>
          <p:cNvSpPr>
            <a:spLocks noChangeArrowheads="1"/>
          </p:cNvSpPr>
          <p:nvPr/>
        </p:nvSpPr>
        <p:spPr bwMode="auto">
          <a:xfrm>
            <a:off x="228600" y="152400"/>
            <a:ext cx="7700963"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a:latin typeface="宋体" pitchFamily="2" charset="-122"/>
                <a:ea typeface="宋体" pitchFamily="2" charset="-122"/>
              </a:rPr>
              <a:t>P102-14.</a:t>
            </a:r>
            <a:r>
              <a:rPr lang="zh-CN" altLang="en-US">
                <a:latin typeface="宋体" pitchFamily="2" charset="-122"/>
                <a:ea typeface="宋体" pitchFamily="2" charset="-122"/>
              </a:rPr>
              <a:t>有一个处理机，主存容量</a:t>
            </a:r>
            <a:r>
              <a:rPr lang="en-US" altLang="zh-CN">
                <a:latin typeface="宋体" pitchFamily="2" charset="-122"/>
                <a:ea typeface="宋体" pitchFamily="2" charset="-122"/>
              </a:rPr>
              <a:t>1MB</a:t>
            </a:r>
            <a:r>
              <a:rPr lang="zh-CN" altLang="en-US">
                <a:latin typeface="宋体" pitchFamily="2" charset="-122"/>
                <a:ea typeface="宋体" pitchFamily="2" charset="-122"/>
              </a:rPr>
              <a:t>，字长</a:t>
            </a:r>
            <a:r>
              <a:rPr lang="en-US" altLang="zh-CN">
                <a:latin typeface="宋体" pitchFamily="2" charset="-122"/>
                <a:ea typeface="宋体" pitchFamily="2" charset="-122"/>
              </a:rPr>
              <a:t>1B</a:t>
            </a:r>
            <a:r>
              <a:rPr lang="zh-CN" altLang="en-US">
                <a:latin typeface="宋体" pitchFamily="2" charset="-122"/>
                <a:ea typeface="宋体" pitchFamily="2" charset="-122"/>
              </a:rPr>
              <a:t>，块大小</a:t>
            </a:r>
            <a:r>
              <a:rPr lang="en-US" altLang="zh-CN">
                <a:latin typeface="宋体" pitchFamily="2" charset="-122"/>
                <a:ea typeface="宋体" pitchFamily="2" charset="-122"/>
              </a:rPr>
              <a:t>16B</a:t>
            </a:r>
            <a:r>
              <a:rPr lang="zh-CN" altLang="en-US">
                <a:latin typeface="宋体" pitchFamily="2" charset="-122"/>
                <a:ea typeface="宋体" pitchFamily="2" charset="-122"/>
              </a:rPr>
              <a:t>，</a:t>
            </a:r>
            <a:r>
              <a:rPr lang="en-US" altLang="zh-CN">
                <a:latin typeface="宋体" pitchFamily="2" charset="-122"/>
                <a:ea typeface="宋体" pitchFamily="2" charset="-122"/>
              </a:rPr>
              <a:t>Cache</a:t>
            </a:r>
            <a:r>
              <a:rPr lang="zh-CN" altLang="en-US">
                <a:latin typeface="宋体" pitchFamily="2" charset="-122"/>
                <a:ea typeface="宋体" pitchFamily="2" charset="-122"/>
              </a:rPr>
              <a:t>容量</a:t>
            </a:r>
            <a:r>
              <a:rPr lang="en-US" altLang="zh-CN">
                <a:latin typeface="宋体" pitchFamily="2" charset="-122"/>
                <a:ea typeface="宋体" pitchFamily="2" charset="-122"/>
              </a:rPr>
              <a:t>64KB</a:t>
            </a:r>
            <a:r>
              <a:rPr lang="zh-CN" altLang="en-US">
                <a:latin typeface="宋体" pitchFamily="2" charset="-122"/>
                <a:ea typeface="宋体" pitchFamily="2" charset="-122"/>
              </a:rPr>
              <a:t>，若</a:t>
            </a:r>
            <a:r>
              <a:rPr lang="en-US" altLang="zh-CN">
                <a:latin typeface="宋体" pitchFamily="2" charset="-122"/>
                <a:ea typeface="宋体" pitchFamily="2" charset="-122"/>
              </a:rPr>
              <a:t>Cache</a:t>
            </a:r>
            <a:r>
              <a:rPr lang="zh-CN" altLang="en-US">
                <a:latin typeface="宋体" pitchFamily="2" charset="-122"/>
                <a:ea typeface="宋体" pitchFamily="2" charset="-122"/>
              </a:rPr>
              <a:t>采用直接映射方式，请给出</a:t>
            </a:r>
            <a:r>
              <a:rPr lang="en-US" altLang="zh-CN">
                <a:latin typeface="宋体" pitchFamily="2" charset="-122"/>
                <a:ea typeface="宋体" pitchFamily="2" charset="-122"/>
              </a:rPr>
              <a:t>2</a:t>
            </a:r>
            <a:r>
              <a:rPr lang="zh-CN" altLang="en-US">
                <a:latin typeface="宋体" pitchFamily="2" charset="-122"/>
                <a:ea typeface="宋体" pitchFamily="2" charset="-122"/>
              </a:rPr>
              <a:t>个不同标记的内存地址，它们映射到同一个</a:t>
            </a:r>
            <a:r>
              <a:rPr lang="en-US" altLang="zh-CN">
                <a:latin typeface="宋体" pitchFamily="2" charset="-122"/>
                <a:ea typeface="宋体" pitchFamily="2" charset="-122"/>
              </a:rPr>
              <a:t>Cache</a:t>
            </a:r>
            <a:r>
              <a:rPr lang="zh-CN" altLang="en-US">
                <a:latin typeface="Times New Roman" charset="0"/>
                <a:ea typeface="宋体" pitchFamily="2" charset="-122"/>
              </a:rPr>
              <a:t>行。</a:t>
            </a:r>
            <a:endParaRPr lang="zh-CN" altLang="en-US">
              <a:latin typeface="宋体" pitchFamily="2" charset="-122"/>
              <a:ea typeface="宋体" pitchFamily="2" charset="-122"/>
            </a:endParaRPr>
          </a:p>
        </p:txBody>
      </p:sp>
      <p:grpSp>
        <p:nvGrpSpPr>
          <p:cNvPr id="3" name="组合 7"/>
          <p:cNvGrpSpPr>
            <a:grpSpLocks/>
          </p:cNvGrpSpPr>
          <p:nvPr/>
        </p:nvGrpSpPr>
        <p:grpSpPr bwMode="auto">
          <a:xfrm>
            <a:off x="500063" y="2143125"/>
            <a:ext cx="8358187" cy="4573588"/>
            <a:chOff x="500034" y="2143116"/>
            <a:chExt cx="8358246" cy="4573560"/>
          </a:xfrm>
        </p:grpSpPr>
        <p:sp>
          <p:nvSpPr>
            <p:cNvPr id="5" name="Rectangle 2"/>
            <p:cNvSpPr>
              <a:spLocks noChangeArrowheads="1"/>
            </p:cNvSpPr>
            <p:nvPr/>
          </p:nvSpPr>
          <p:spPr bwMode="auto">
            <a:xfrm>
              <a:off x="500034" y="2143116"/>
              <a:ext cx="8358246" cy="4573560"/>
            </a:xfrm>
            <a:prstGeom prst="rect">
              <a:avLst/>
            </a:prstGeom>
            <a:noFill/>
            <a:ln w="12700" cap="sq">
              <a:noFill/>
              <a:miter lim="800000"/>
              <a:headEnd type="none" w="sm" len="sm"/>
              <a:tailEnd type="none" w="sm" len="sm"/>
            </a:ln>
          </p:spPr>
          <p:txBody>
            <a:bodyPr>
              <a:spAutoFit/>
            </a:bodyPr>
            <a:lstStyle/>
            <a:p>
              <a:pPr>
                <a:lnSpc>
                  <a:spcPct val="130000"/>
                </a:lnSpc>
                <a:defRPr/>
              </a:pPr>
              <a:r>
                <a:rPr lang="zh-CN" altLang="en-US" dirty="0">
                  <a:latin typeface="+mn-ea"/>
                  <a:ea typeface="+mn-ea"/>
                </a:rPr>
                <a:t>解：每块</a:t>
              </a:r>
              <a:r>
                <a:rPr lang="en-US" altLang="zh-CN" dirty="0">
                  <a:latin typeface="+mn-ea"/>
                  <a:ea typeface="+mn-ea"/>
                </a:rPr>
                <a:t>16B</a:t>
              </a:r>
              <a:r>
                <a:rPr lang="zh-CN" altLang="en-US" dirty="0">
                  <a:latin typeface="+mn-ea"/>
                  <a:ea typeface="+mn-ea"/>
                </a:rPr>
                <a:t>，字地址</a:t>
              </a:r>
              <a:r>
                <a:rPr lang="en-US" altLang="zh-CN" dirty="0">
                  <a:latin typeface="+mn-ea"/>
                  <a:ea typeface="+mn-ea"/>
                </a:rPr>
                <a:t>4</a:t>
              </a:r>
              <a:r>
                <a:rPr lang="zh-CN" altLang="en-US" dirty="0">
                  <a:latin typeface="+mn-ea"/>
                  <a:ea typeface="+mn-ea"/>
                </a:rPr>
                <a:t>位</a:t>
              </a:r>
              <a:endParaRPr lang="en-US" altLang="zh-CN" dirty="0">
                <a:latin typeface="+mn-ea"/>
                <a:ea typeface="+mn-ea"/>
              </a:endParaRPr>
            </a:p>
            <a:p>
              <a:pPr>
                <a:lnSpc>
                  <a:spcPct val="130000"/>
                </a:lnSpc>
                <a:defRPr/>
              </a:pPr>
              <a:r>
                <a:rPr lang="en-US" altLang="zh-CN" dirty="0">
                  <a:latin typeface="+mn-ea"/>
                  <a:ea typeface="+mn-ea"/>
                </a:rPr>
                <a:t>    </a:t>
              </a:r>
              <a:r>
                <a:rPr lang="zh-CN" altLang="en-US" dirty="0">
                  <a:latin typeface="+mn-ea"/>
                  <a:ea typeface="+mn-ea"/>
                </a:rPr>
                <a:t>主存</a:t>
              </a:r>
              <a:r>
                <a:rPr lang="en-US" altLang="zh-CN" dirty="0">
                  <a:latin typeface="+mn-ea"/>
                  <a:ea typeface="+mn-ea"/>
                </a:rPr>
                <a:t>1MB</a:t>
              </a:r>
              <a:r>
                <a:rPr lang="zh-CN" altLang="en-US" dirty="0">
                  <a:latin typeface="+mn-ea"/>
                  <a:ea typeface="+mn-ea"/>
                </a:rPr>
                <a:t>，地址</a:t>
              </a:r>
              <a:r>
                <a:rPr lang="en-US" altLang="zh-CN" dirty="0">
                  <a:latin typeface="+mn-ea"/>
                  <a:ea typeface="+mn-ea"/>
                </a:rPr>
                <a:t>20</a:t>
              </a:r>
              <a:r>
                <a:rPr lang="zh-CN" altLang="en-US" dirty="0">
                  <a:latin typeface="+mn-ea"/>
                  <a:ea typeface="+mn-ea"/>
                </a:rPr>
                <a:t>位</a:t>
              </a:r>
              <a:r>
                <a:rPr lang="en-US" altLang="zh-CN" dirty="0">
                  <a:latin typeface="+mn-ea"/>
                  <a:ea typeface="+mn-ea"/>
                </a:rPr>
                <a:t>,</a:t>
              </a:r>
              <a:r>
                <a:rPr lang="zh-CN" altLang="en-US" dirty="0">
                  <a:latin typeface="+mn-ea"/>
                  <a:ea typeface="+mn-ea"/>
                </a:rPr>
                <a:t>共有</a:t>
              </a:r>
              <a:r>
                <a:rPr lang="en-US" altLang="zh-CN" dirty="0">
                  <a:latin typeface="+mn-ea"/>
                  <a:ea typeface="+mn-ea"/>
                </a:rPr>
                <a:t>64K</a:t>
              </a:r>
              <a:r>
                <a:rPr lang="zh-CN" altLang="en-US" dirty="0">
                  <a:latin typeface="+mn-ea"/>
                  <a:ea typeface="+mn-ea"/>
                </a:rPr>
                <a:t>块，块地址</a:t>
              </a:r>
              <a:r>
                <a:rPr lang="en-US" altLang="zh-CN" dirty="0">
                  <a:latin typeface="+mn-ea"/>
                  <a:ea typeface="+mn-ea"/>
                </a:rPr>
                <a:t>16</a:t>
              </a:r>
              <a:r>
                <a:rPr lang="zh-CN" altLang="en-US" dirty="0">
                  <a:latin typeface="+mn-ea"/>
                  <a:ea typeface="+mn-ea"/>
                </a:rPr>
                <a:t>位</a:t>
              </a:r>
              <a:endParaRPr lang="en-US" altLang="zh-CN" dirty="0">
                <a:latin typeface="+mn-ea"/>
                <a:ea typeface="+mn-ea"/>
              </a:endParaRPr>
            </a:p>
            <a:p>
              <a:pPr>
                <a:lnSpc>
                  <a:spcPct val="130000"/>
                </a:lnSpc>
                <a:defRPr/>
              </a:pPr>
              <a:r>
                <a:rPr lang="en-US" altLang="zh-CN" dirty="0">
                  <a:latin typeface="+mn-ea"/>
                  <a:ea typeface="+mn-ea"/>
                </a:rPr>
                <a:t>    Cache </a:t>
              </a:r>
              <a:r>
                <a:rPr lang="en-US" altLang="zh-CN" dirty="0">
                  <a:latin typeface="+mn-ea"/>
                </a:rPr>
                <a:t>64KB</a:t>
              </a:r>
              <a:r>
                <a:rPr lang="zh-CN" altLang="en-US" dirty="0">
                  <a:latin typeface="+mn-ea"/>
                </a:rPr>
                <a:t>，共有</a:t>
              </a:r>
              <a:r>
                <a:rPr lang="en-US" altLang="zh-CN" dirty="0">
                  <a:latin typeface="+mn-ea"/>
                </a:rPr>
                <a:t>4K</a:t>
              </a:r>
              <a:r>
                <a:rPr lang="zh-CN" altLang="en-US" dirty="0">
                  <a:latin typeface="+mn-ea"/>
                </a:rPr>
                <a:t>行，行地址</a:t>
              </a:r>
              <a:r>
                <a:rPr lang="en-US" altLang="zh-CN" dirty="0">
                  <a:latin typeface="+mn-ea"/>
                </a:rPr>
                <a:t>12</a:t>
              </a:r>
              <a:r>
                <a:rPr lang="zh-CN" altLang="en-US" dirty="0">
                  <a:latin typeface="+mn-ea"/>
                </a:rPr>
                <a:t>位</a:t>
              </a:r>
              <a:endParaRPr lang="en-US" altLang="zh-CN" dirty="0">
                <a:latin typeface="+mn-ea"/>
              </a:endParaRPr>
            </a:p>
            <a:p>
              <a:pPr>
                <a:lnSpc>
                  <a:spcPct val="130000"/>
                </a:lnSpc>
                <a:defRPr/>
              </a:pPr>
              <a:endParaRPr lang="en-US" altLang="zh-CN" dirty="0">
                <a:latin typeface="+mn-ea"/>
                <a:ea typeface="+mn-ea"/>
              </a:endParaRPr>
            </a:p>
            <a:p>
              <a:pPr>
                <a:lnSpc>
                  <a:spcPct val="130000"/>
                </a:lnSpc>
                <a:defRPr/>
              </a:pPr>
              <a:endParaRPr lang="en-US" altLang="zh-CN" dirty="0">
                <a:latin typeface="+mn-ea"/>
                <a:ea typeface="+mn-ea"/>
              </a:endParaRPr>
            </a:p>
            <a:p>
              <a:pPr>
                <a:lnSpc>
                  <a:spcPct val="130000"/>
                </a:lnSpc>
                <a:defRPr/>
              </a:pPr>
              <a:r>
                <a:rPr lang="en-US" altLang="zh-CN" dirty="0">
                  <a:latin typeface="+mn-ea"/>
                  <a:ea typeface="+mn-ea"/>
                </a:rPr>
                <a:t>    </a:t>
              </a:r>
              <a:r>
                <a:rPr lang="zh-CN" altLang="en-US" dirty="0">
                  <a:latin typeface="+mn-ea"/>
                  <a:ea typeface="+mn-ea"/>
                </a:rPr>
                <a:t>写出行号相同的</a:t>
              </a:r>
              <a:r>
                <a:rPr lang="en-US" altLang="zh-CN" dirty="0">
                  <a:latin typeface="+mn-ea"/>
                  <a:ea typeface="+mn-ea"/>
                </a:rPr>
                <a:t>2</a:t>
              </a:r>
              <a:r>
                <a:rPr lang="zh-CN" altLang="en-US" dirty="0">
                  <a:latin typeface="+mn-ea"/>
                  <a:ea typeface="+mn-ea"/>
                </a:rPr>
                <a:t>个内存地址</a:t>
              </a:r>
              <a:endParaRPr lang="en-US" altLang="zh-CN" dirty="0">
                <a:latin typeface="+mn-ea"/>
                <a:ea typeface="+mn-ea"/>
              </a:endParaRPr>
            </a:p>
            <a:p>
              <a:pPr>
                <a:lnSpc>
                  <a:spcPct val="130000"/>
                </a:lnSpc>
                <a:defRPr/>
              </a:pPr>
              <a:r>
                <a:rPr lang="zh-CN" altLang="en-US" dirty="0">
                  <a:latin typeface="+mn-ea"/>
                  <a:ea typeface="+mn-ea"/>
                </a:rPr>
                <a:t>    如：</a:t>
              </a:r>
              <a:r>
                <a:rPr lang="en-US" altLang="zh-CN" dirty="0">
                  <a:latin typeface="+mn-ea"/>
                  <a:ea typeface="+mn-ea"/>
                </a:rPr>
                <a:t>1011 010100100011 1010    B523AH     </a:t>
              </a:r>
            </a:p>
            <a:p>
              <a:pPr>
                <a:lnSpc>
                  <a:spcPct val="130000"/>
                </a:lnSpc>
                <a:defRPr/>
              </a:pPr>
              <a:r>
                <a:rPr lang="en-US" altLang="zh-CN" dirty="0">
                  <a:latin typeface="+mn-ea"/>
                  <a:ea typeface="+mn-ea"/>
                </a:rPr>
                <a:t>        0101 010100100011 1000    55238H</a:t>
              </a:r>
              <a:endParaRPr lang="zh-CN" altLang="en-US" dirty="0">
                <a:latin typeface="+mn-ea"/>
                <a:ea typeface="+mn-ea"/>
              </a:endParaRPr>
            </a:p>
          </p:txBody>
        </p:sp>
        <p:pic>
          <p:nvPicPr>
            <p:cNvPr id="15975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38" y="4000504"/>
              <a:ext cx="6514929" cy="928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D2202256-5393-4BE3-A55D-3DCE479B15B3}" type="slidenum">
              <a:rPr lang="en-US" altLang="zh-CN" smtClean="0"/>
              <a:pPr>
                <a:defRPr/>
              </a:pPr>
              <a:t>145</a:t>
            </a:fld>
            <a:endParaRPr lang="en-US" altLang="zh-CN"/>
          </a:p>
        </p:txBody>
      </p:sp>
      <p:sp>
        <p:nvSpPr>
          <p:cNvPr id="160771" name="Rectangle 2"/>
          <p:cNvSpPr>
            <a:spLocks noChangeArrowheads="1"/>
          </p:cNvSpPr>
          <p:nvPr/>
        </p:nvSpPr>
        <p:spPr bwMode="auto">
          <a:xfrm>
            <a:off x="228600" y="152400"/>
            <a:ext cx="77724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a:latin typeface="宋体" pitchFamily="2" charset="-122"/>
                <a:ea typeface="宋体" pitchFamily="2" charset="-122"/>
              </a:rPr>
              <a:t>P102-15.</a:t>
            </a:r>
            <a:r>
              <a:rPr lang="zh-CN" altLang="en-US">
                <a:latin typeface="宋体" pitchFamily="2" charset="-122"/>
                <a:ea typeface="宋体" pitchFamily="2" charset="-122"/>
              </a:rPr>
              <a:t>假设主存容量</a:t>
            </a:r>
            <a:r>
              <a:rPr lang="en-US" altLang="zh-CN">
                <a:latin typeface="宋体" pitchFamily="2" charset="-122"/>
                <a:ea typeface="宋体" pitchFamily="2" charset="-122"/>
              </a:rPr>
              <a:t>16Mx32</a:t>
            </a:r>
            <a:r>
              <a:rPr lang="zh-CN" altLang="en-US">
                <a:latin typeface="宋体" pitchFamily="2" charset="-122"/>
                <a:ea typeface="宋体" pitchFamily="2" charset="-122"/>
              </a:rPr>
              <a:t>位，</a:t>
            </a:r>
            <a:r>
              <a:rPr lang="en-US" altLang="zh-CN">
                <a:latin typeface="宋体" pitchFamily="2" charset="-122"/>
                <a:ea typeface="宋体" pitchFamily="2" charset="-122"/>
              </a:rPr>
              <a:t>Cache</a:t>
            </a:r>
            <a:r>
              <a:rPr lang="zh-CN" altLang="en-US">
                <a:latin typeface="宋体" pitchFamily="2" charset="-122"/>
                <a:ea typeface="宋体" pitchFamily="2" charset="-122"/>
              </a:rPr>
              <a:t>容量</a:t>
            </a:r>
            <a:r>
              <a:rPr lang="en-US" altLang="zh-CN">
                <a:latin typeface="宋体" pitchFamily="2" charset="-122"/>
                <a:ea typeface="宋体" pitchFamily="2" charset="-122"/>
              </a:rPr>
              <a:t>64Kx32</a:t>
            </a:r>
            <a:r>
              <a:rPr lang="zh-CN" altLang="en-US">
                <a:latin typeface="宋体" pitchFamily="2" charset="-122"/>
                <a:ea typeface="宋体" pitchFamily="2" charset="-122"/>
              </a:rPr>
              <a:t>位，主存与</a:t>
            </a:r>
            <a:r>
              <a:rPr lang="en-US" altLang="zh-CN">
                <a:latin typeface="宋体" pitchFamily="2" charset="-122"/>
                <a:ea typeface="宋体" pitchFamily="2" charset="-122"/>
              </a:rPr>
              <a:t>Cache</a:t>
            </a:r>
            <a:r>
              <a:rPr lang="zh-CN" altLang="en-US">
                <a:latin typeface="宋体" pitchFamily="2" charset="-122"/>
                <a:ea typeface="宋体" pitchFamily="2" charset="-122"/>
              </a:rPr>
              <a:t>之间以每块</a:t>
            </a:r>
            <a:r>
              <a:rPr lang="en-US" altLang="zh-CN">
                <a:latin typeface="宋体" pitchFamily="2" charset="-122"/>
                <a:ea typeface="宋体" pitchFamily="2" charset="-122"/>
              </a:rPr>
              <a:t>4x32</a:t>
            </a:r>
            <a:r>
              <a:rPr lang="zh-CN" altLang="en-US">
                <a:latin typeface="宋体" pitchFamily="2" charset="-122"/>
                <a:ea typeface="宋体" pitchFamily="2" charset="-122"/>
              </a:rPr>
              <a:t>位大小传送数据，请确定直接映射方式的有关参数，并画出主存地址格式。</a:t>
            </a:r>
          </a:p>
        </p:txBody>
      </p:sp>
      <p:grpSp>
        <p:nvGrpSpPr>
          <p:cNvPr id="3" name="组合 8"/>
          <p:cNvGrpSpPr>
            <a:grpSpLocks/>
          </p:cNvGrpSpPr>
          <p:nvPr/>
        </p:nvGrpSpPr>
        <p:grpSpPr bwMode="auto">
          <a:xfrm>
            <a:off x="428625" y="2000250"/>
            <a:ext cx="7772400" cy="3786188"/>
            <a:chOff x="428596" y="2000240"/>
            <a:chExt cx="7772400" cy="3786214"/>
          </a:xfrm>
        </p:grpSpPr>
        <p:sp>
          <p:nvSpPr>
            <p:cNvPr id="5" name="Rectangle 2"/>
            <p:cNvSpPr>
              <a:spLocks noChangeArrowheads="1"/>
            </p:cNvSpPr>
            <p:nvPr/>
          </p:nvSpPr>
          <p:spPr bwMode="auto">
            <a:xfrm>
              <a:off x="428596" y="2000240"/>
              <a:ext cx="7772400" cy="2608281"/>
            </a:xfrm>
            <a:prstGeom prst="rect">
              <a:avLst/>
            </a:prstGeom>
            <a:noFill/>
            <a:ln w="12700" cap="sq">
              <a:noFill/>
              <a:miter lim="800000"/>
              <a:headEnd type="none" w="sm" len="sm"/>
              <a:tailEnd type="none" w="sm" len="sm"/>
            </a:ln>
          </p:spPr>
          <p:txBody>
            <a:bodyPr>
              <a:spAutoFit/>
            </a:bodyPr>
            <a:lstStyle/>
            <a:p>
              <a:pPr>
                <a:lnSpc>
                  <a:spcPct val="120000"/>
                </a:lnSpc>
                <a:defRPr/>
              </a:pPr>
              <a:r>
                <a:rPr lang="zh-CN" altLang="en-US" dirty="0">
                  <a:latin typeface="+mn-ea"/>
                  <a:ea typeface="+mn-ea"/>
                </a:rPr>
                <a:t>解：每块</a:t>
              </a:r>
              <a:r>
                <a:rPr lang="en-US" altLang="zh-CN" dirty="0">
                  <a:latin typeface="宋体" pitchFamily="2" charset="-122"/>
                  <a:ea typeface="宋体" pitchFamily="2" charset="-122"/>
                </a:rPr>
                <a:t>4x32</a:t>
              </a:r>
              <a:r>
                <a:rPr lang="zh-CN" altLang="en-US" dirty="0">
                  <a:latin typeface="宋体" pitchFamily="2" charset="-122"/>
                  <a:ea typeface="宋体" pitchFamily="2" charset="-122"/>
                </a:rPr>
                <a:t>位</a:t>
              </a:r>
              <a:r>
                <a:rPr lang="en-US" altLang="zh-CN" dirty="0">
                  <a:latin typeface="宋体" pitchFamily="2" charset="-122"/>
                  <a:ea typeface="宋体" pitchFamily="2" charset="-122"/>
                </a:rPr>
                <a:t>=16B,</a:t>
              </a:r>
              <a:r>
                <a:rPr lang="zh-CN" altLang="en-US" dirty="0">
                  <a:latin typeface="+mn-ea"/>
                  <a:ea typeface="+mn-ea"/>
                </a:rPr>
                <a:t>地址</a:t>
              </a:r>
              <a:r>
                <a:rPr lang="en-US" altLang="zh-CN" dirty="0">
                  <a:latin typeface="+mn-ea"/>
                  <a:ea typeface="+mn-ea"/>
                </a:rPr>
                <a:t>4</a:t>
              </a:r>
              <a:r>
                <a:rPr lang="zh-CN" altLang="en-US" dirty="0">
                  <a:latin typeface="+mn-ea"/>
                  <a:ea typeface="+mn-ea"/>
                </a:rPr>
                <a:t>位 </a:t>
              </a:r>
              <a:r>
                <a:rPr lang="en-US" altLang="zh-CN" dirty="0">
                  <a:latin typeface="+mn-ea"/>
                  <a:ea typeface="+mn-ea"/>
                </a:rPr>
                <a:t>w=4</a:t>
              </a:r>
            </a:p>
            <a:p>
              <a:pPr>
                <a:lnSpc>
                  <a:spcPct val="120000"/>
                </a:lnSpc>
                <a:defRPr/>
              </a:pPr>
              <a:r>
                <a:rPr lang="zh-CN" altLang="en-US" dirty="0">
                  <a:latin typeface="宋体" pitchFamily="2" charset="-122"/>
                  <a:ea typeface="宋体" pitchFamily="2" charset="-122"/>
                </a:rPr>
                <a:t>    主存</a:t>
              </a:r>
              <a:r>
                <a:rPr lang="en-US" altLang="zh-CN" dirty="0">
                  <a:latin typeface="宋体" pitchFamily="2" charset="-122"/>
                  <a:ea typeface="宋体" pitchFamily="2" charset="-122"/>
                </a:rPr>
                <a:t>16Mx32</a:t>
              </a:r>
              <a:r>
                <a:rPr lang="zh-CN" altLang="en-US" dirty="0">
                  <a:latin typeface="宋体" pitchFamily="2" charset="-122"/>
                  <a:ea typeface="宋体" pitchFamily="2" charset="-122"/>
                </a:rPr>
                <a:t>位</a:t>
              </a:r>
              <a:r>
                <a:rPr lang="en-US" altLang="zh-CN" dirty="0">
                  <a:latin typeface="宋体" pitchFamily="2" charset="-122"/>
                  <a:ea typeface="宋体" pitchFamily="2" charset="-122"/>
                </a:rPr>
                <a:t>=64MB</a:t>
              </a:r>
              <a:r>
                <a:rPr lang="zh-CN" altLang="en-US" dirty="0">
                  <a:latin typeface="+mn-ea"/>
                  <a:ea typeface="+mn-ea"/>
                </a:rPr>
                <a:t>，</a:t>
              </a:r>
              <a:r>
                <a:rPr lang="zh-CN" altLang="en-US" dirty="0">
                  <a:latin typeface="+mn-ea"/>
                </a:rPr>
                <a:t>地址</a:t>
              </a:r>
              <a:r>
                <a:rPr lang="en-US" altLang="zh-CN" dirty="0">
                  <a:latin typeface="+mn-ea"/>
                </a:rPr>
                <a:t>26</a:t>
              </a:r>
              <a:r>
                <a:rPr lang="zh-CN" altLang="en-US" dirty="0">
                  <a:latin typeface="+mn-ea"/>
                </a:rPr>
                <a:t>位</a:t>
              </a:r>
              <a:endParaRPr lang="en-US" altLang="zh-CN" dirty="0">
                <a:latin typeface="+mn-ea"/>
              </a:endParaRPr>
            </a:p>
            <a:p>
              <a:pPr>
                <a:lnSpc>
                  <a:spcPct val="120000"/>
                </a:lnSpc>
                <a:defRPr/>
              </a:pPr>
              <a:r>
                <a:rPr lang="en-US" altLang="zh-CN" dirty="0">
                  <a:latin typeface="+mn-ea"/>
                  <a:ea typeface="+mn-ea"/>
                </a:rPr>
                <a:t>    </a:t>
              </a:r>
              <a:r>
                <a:rPr lang="zh-CN" altLang="en-US" dirty="0">
                  <a:latin typeface="+mn-ea"/>
                  <a:ea typeface="+mn-ea"/>
                </a:rPr>
                <a:t>有</a:t>
              </a:r>
              <a:r>
                <a:rPr lang="en-US" altLang="zh-CN" dirty="0">
                  <a:latin typeface="+mn-ea"/>
                  <a:ea typeface="+mn-ea"/>
                </a:rPr>
                <a:t>4M</a:t>
              </a:r>
              <a:r>
                <a:rPr lang="zh-CN" altLang="en-US" dirty="0">
                  <a:latin typeface="+mn-ea"/>
                  <a:ea typeface="+mn-ea"/>
                </a:rPr>
                <a:t>个块，地址</a:t>
              </a:r>
              <a:r>
                <a:rPr lang="en-US" altLang="zh-CN" dirty="0">
                  <a:latin typeface="+mn-ea"/>
                  <a:ea typeface="+mn-ea"/>
                </a:rPr>
                <a:t>22</a:t>
              </a:r>
              <a:r>
                <a:rPr lang="zh-CN" altLang="en-US" dirty="0">
                  <a:latin typeface="+mn-ea"/>
                  <a:ea typeface="+mn-ea"/>
                </a:rPr>
                <a:t>位 </a:t>
              </a:r>
              <a:r>
                <a:rPr lang="en-US" altLang="zh-CN" dirty="0">
                  <a:latin typeface="+mn-ea"/>
                  <a:ea typeface="+mn-ea"/>
                </a:rPr>
                <a:t>s=22</a:t>
              </a:r>
            </a:p>
            <a:p>
              <a:pPr>
                <a:lnSpc>
                  <a:spcPct val="120000"/>
                </a:lnSpc>
                <a:defRPr/>
              </a:pPr>
              <a:r>
                <a:rPr lang="en-US" altLang="zh-CN" dirty="0">
                  <a:latin typeface="+mn-ea"/>
                  <a:ea typeface="+mn-ea"/>
                </a:rPr>
                <a:t>    Cache </a:t>
              </a:r>
              <a:r>
                <a:rPr lang="en-US" altLang="zh-CN" dirty="0">
                  <a:latin typeface="宋体" pitchFamily="2" charset="-122"/>
                  <a:ea typeface="宋体" pitchFamily="2" charset="-122"/>
                </a:rPr>
                <a:t>64Kx32</a:t>
              </a:r>
              <a:r>
                <a:rPr lang="zh-CN" altLang="en-US" dirty="0">
                  <a:latin typeface="宋体" pitchFamily="2" charset="-122"/>
                  <a:ea typeface="宋体" pitchFamily="2" charset="-122"/>
                </a:rPr>
                <a:t>位</a:t>
              </a:r>
              <a:r>
                <a:rPr lang="zh-CN" altLang="en-US" dirty="0">
                  <a:latin typeface="+mn-ea"/>
                  <a:ea typeface="+mn-ea"/>
                </a:rPr>
                <a:t>，</a:t>
              </a:r>
              <a:r>
                <a:rPr lang="zh-CN" altLang="en-US" dirty="0">
                  <a:latin typeface="+mn-ea"/>
                </a:rPr>
                <a:t>有</a:t>
              </a:r>
              <a:r>
                <a:rPr lang="en-US" altLang="zh-CN" dirty="0">
                  <a:latin typeface="+mn-ea"/>
                </a:rPr>
                <a:t>16K</a:t>
              </a:r>
              <a:r>
                <a:rPr lang="zh-CN" altLang="en-US" dirty="0">
                  <a:latin typeface="+mn-ea"/>
                </a:rPr>
                <a:t>行，地址</a:t>
              </a:r>
              <a:r>
                <a:rPr lang="en-US" altLang="zh-CN" dirty="0">
                  <a:latin typeface="+mn-ea"/>
                </a:rPr>
                <a:t>14</a:t>
              </a:r>
              <a:r>
                <a:rPr lang="zh-CN" altLang="en-US" dirty="0">
                  <a:latin typeface="+mn-ea"/>
                </a:rPr>
                <a:t>位 </a:t>
              </a:r>
              <a:r>
                <a:rPr lang="en-US" altLang="zh-CN" dirty="0">
                  <a:latin typeface="+mn-ea"/>
                </a:rPr>
                <a:t>r=14</a:t>
              </a:r>
            </a:p>
            <a:p>
              <a:pPr>
                <a:lnSpc>
                  <a:spcPct val="120000"/>
                </a:lnSpc>
                <a:defRPr/>
              </a:pPr>
              <a:r>
                <a:rPr lang="en-US" altLang="zh-CN" dirty="0">
                  <a:latin typeface="+mn-ea"/>
                  <a:ea typeface="+mn-ea"/>
                </a:rPr>
                <a:t>    </a:t>
              </a:r>
              <a:r>
                <a:rPr lang="zh-CN" altLang="en-US" dirty="0">
                  <a:latin typeface="+mn-ea"/>
                  <a:ea typeface="+mn-ea"/>
                </a:rPr>
                <a:t>标记部分 </a:t>
              </a:r>
              <a:r>
                <a:rPr lang="en-US" altLang="zh-CN" dirty="0">
                  <a:latin typeface="+mn-ea"/>
                  <a:ea typeface="+mn-ea"/>
                </a:rPr>
                <a:t>s-r=8,</a:t>
              </a:r>
              <a:r>
                <a:rPr lang="zh-CN" altLang="en-US" dirty="0">
                  <a:latin typeface="+mn-ea"/>
                  <a:ea typeface="+mn-ea"/>
                </a:rPr>
                <a:t>地址</a:t>
              </a:r>
              <a:r>
                <a:rPr lang="en-US" altLang="zh-CN" dirty="0">
                  <a:latin typeface="+mn-ea"/>
                  <a:ea typeface="+mn-ea"/>
                </a:rPr>
                <a:t>8</a:t>
              </a:r>
              <a:r>
                <a:rPr lang="zh-CN" altLang="en-US" dirty="0">
                  <a:latin typeface="+mn-ea"/>
                  <a:ea typeface="+mn-ea"/>
                </a:rPr>
                <a:t>位</a:t>
              </a:r>
              <a:r>
                <a:rPr lang="en-US" altLang="zh-CN" dirty="0">
                  <a:latin typeface="+mn-ea"/>
                  <a:ea typeface="+mn-ea"/>
                </a:rPr>
                <a:t>  </a:t>
              </a:r>
              <a:endParaRPr lang="zh-CN" altLang="en-US" dirty="0">
                <a:latin typeface="+mn-ea"/>
                <a:ea typeface="+mn-ea"/>
              </a:endParaRPr>
            </a:p>
          </p:txBody>
        </p:sp>
        <p:pic>
          <p:nvPicPr>
            <p:cNvPr id="16077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414" y="4786322"/>
              <a:ext cx="6777014" cy="1000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3DCD3A69-E6C8-47F8-9FD8-BA0EA52774C6}" type="slidenum">
              <a:rPr lang="en-US" altLang="zh-CN"/>
              <a:pPr>
                <a:defRPr/>
              </a:pPr>
              <a:t>146</a:t>
            </a:fld>
            <a:endParaRPr lang="en-US" altLang="zh-CN"/>
          </a:p>
        </p:txBody>
      </p:sp>
      <p:sp>
        <p:nvSpPr>
          <p:cNvPr id="17412" name="Rectangle 4"/>
          <p:cNvSpPr>
            <a:spLocks noChangeArrowheads="1"/>
          </p:cNvSpPr>
          <p:nvPr/>
        </p:nvSpPr>
        <p:spPr bwMode="auto">
          <a:xfrm>
            <a:off x="250825" y="333375"/>
            <a:ext cx="7850188" cy="604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r>
              <a:rPr lang="zh-CN" altLang="en-US" sz="2600">
                <a:latin typeface="楷体_GB2312" pitchFamily="49" charset="-122"/>
              </a:rPr>
              <a:t>例：</a:t>
            </a:r>
            <a:r>
              <a:rPr lang="en-US" altLang="zh-CN" sz="2600">
                <a:latin typeface="楷体_GB2312" pitchFamily="49" charset="-122"/>
              </a:rPr>
              <a:t>CPU</a:t>
            </a:r>
            <a:r>
              <a:rPr lang="zh-CN" altLang="en-US" sz="2600">
                <a:latin typeface="楷体_GB2312" pitchFamily="49" charset="-122"/>
              </a:rPr>
              <a:t>的地址总线</a:t>
            </a:r>
            <a:r>
              <a:rPr lang="en-US" altLang="zh-CN" sz="2600">
                <a:latin typeface="楷体_GB2312" pitchFamily="49" charset="-122"/>
              </a:rPr>
              <a:t>16</a:t>
            </a:r>
            <a:r>
              <a:rPr lang="zh-CN" altLang="en-US" sz="2600">
                <a:latin typeface="楷体_GB2312" pitchFamily="49" charset="-122"/>
              </a:rPr>
              <a:t>根</a:t>
            </a:r>
            <a:r>
              <a:rPr lang="en-US" altLang="zh-CN" sz="2600">
                <a:latin typeface="楷体_GB2312" pitchFamily="49" charset="-122"/>
              </a:rPr>
              <a:t>(A15-A0</a:t>
            </a:r>
            <a:r>
              <a:rPr lang="zh-CN" altLang="en-US" sz="2600">
                <a:latin typeface="楷体_GB2312" pitchFamily="49" charset="-122"/>
              </a:rPr>
              <a:t>，</a:t>
            </a:r>
            <a:r>
              <a:rPr lang="en-US" altLang="zh-CN" sz="2600">
                <a:latin typeface="楷体_GB2312" pitchFamily="49" charset="-122"/>
              </a:rPr>
              <a:t>A0</a:t>
            </a:r>
            <a:r>
              <a:rPr lang="zh-CN" altLang="en-US" sz="2600">
                <a:latin typeface="楷体_GB2312" pitchFamily="49" charset="-122"/>
              </a:rPr>
              <a:t>为低位</a:t>
            </a:r>
            <a:r>
              <a:rPr lang="en-US" altLang="zh-CN" sz="2600">
                <a:latin typeface="楷体_GB2312" pitchFamily="49" charset="-122"/>
              </a:rPr>
              <a:t>)</a:t>
            </a:r>
            <a:r>
              <a:rPr lang="zh-CN" altLang="en-US" sz="2600">
                <a:latin typeface="楷体_GB2312" pitchFamily="49" charset="-122"/>
              </a:rPr>
              <a:t>，双向数据总线</a:t>
            </a:r>
            <a:r>
              <a:rPr lang="en-US" altLang="zh-CN" sz="2600">
                <a:latin typeface="楷体_GB2312" pitchFamily="49" charset="-122"/>
              </a:rPr>
              <a:t>8</a:t>
            </a:r>
            <a:r>
              <a:rPr lang="zh-CN" altLang="en-US" sz="2600">
                <a:latin typeface="楷体_GB2312" pitchFamily="49" charset="-122"/>
              </a:rPr>
              <a:t>根</a:t>
            </a:r>
            <a:r>
              <a:rPr lang="en-US" altLang="zh-CN" sz="2600">
                <a:latin typeface="楷体_GB2312" pitchFamily="49" charset="-122"/>
              </a:rPr>
              <a:t>(D7-D0)</a:t>
            </a:r>
            <a:r>
              <a:rPr lang="zh-CN" altLang="en-US" sz="2600">
                <a:latin typeface="楷体_GB2312" pitchFamily="49" charset="-122"/>
              </a:rPr>
              <a:t>，控制总线中与主存有关的信号有</a:t>
            </a:r>
            <a:r>
              <a:rPr lang="en-US" altLang="zh-CN" sz="2600">
                <a:latin typeface="楷体_GB2312" pitchFamily="49" charset="-122"/>
              </a:rPr>
              <a:t>MREQ(</a:t>
            </a:r>
            <a:r>
              <a:rPr lang="zh-CN" altLang="en-US" sz="2600">
                <a:latin typeface="楷体_GB2312" pitchFamily="49" charset="-122"/>
              </a:rPr>
              <a:t>允许访存，低电平有效</a:t>
            </a:r>
            <a:r>
              <a:rPr lang="en-US" altLang="zh-CN" sz="2600">
                <a:latin typeface="楷体_GB2312" pitchFamily="49" charset="-122"/>
              </a:rPr>
              <a:t>)</a:t>
            </a:r>
            <a:r>
              <a:rPr lang="zh-CN" altLang="en-US" sz="2600">
                <a:latin typeface="楷体_GB2312" pitchFamily="49" charset="-122"/>
              </a:rPr>
              <a:t>，</a:t>
            </a:r>
            <a:r>
              <a:rPr lang="en-US" altLang="zh-CN" sz="2600">
                <a:latin typeface="楷体_GB2312" pitchFamily="49" charset="-122"/>
              </a:rPr>
              <a:t>R/W(</a:t>
            </a:r>
            <a:r>
              <a:rPr lang="zh-CN" altLang="en-US" sz="2600">
                <a:latin typeface="楷体_GB2312" pitchFamily="49" charset="-122"/>
              </a:rPr>
              <a:t>高电平为读命令，低电平为写命令</a:t>
            </a:r>
            <a:r>
              <a:rPr lang="en-US" altLang="zh-CN" sz="2600">
                <a:latin typeface="楷体_GB2312" pitchFamily="49" charset="-122"/>
              </a:rPr>
              <a:t>)</a:t>
            </a:r>
            <a:r>
              <a:rPr lang="zh-CN" altLang="en-US" sz="2600">
                <a:latin typeface="楷体_GB2312" pitchFamily="49" charset="-122"/>
              </a:rPr>
              <a:t>。主存地址空间分配如下：</a:t>
            </a:r>
          </a:p>
          <a:p>
            <a:r>
              <a:rPr lang="en-US" altLang="zh-CN" sz="2600">
                <a:latin typeface="楷体_GB2312" pitchFamily="49" charset="-122"/>
              </a:rPr>
              <a:t>0</a:t>
            </a:r>
            <a:r>
              <a:rPr lang="en-US" altLang="zh-CN" sz="2600"/>
              <a:t>—</a:t>
            </a:r>
            <a:r>
              <a:rPr lang="en-US" altLang="zh-CN" sz="2600">
                <a:latin typeface="楷体_GB2312" pitchFamily="49" charset="-122"/>
              </a:rPr>
              <a:t>8191</a:t>
            </a:r>
            <a:r>
              <a:rPr lang="zh-CN" altLang="en-US" sz="2600">
                <a:latin typeface="楷体_GB2312" pitchFamily="49" charset="-122"/>
              </a:rPr>
              <a:t>为系统程序区，由只读存储芯片组成；</a:t>
            </a:r>
          </a:p>
          <a:p>
            <a:r>
              <a:rPr lang="en-US" altLang="zh-CN" sz="2600">
                <a:latin typeface="楷体_GB2312" pitchFamily="49" charset="-122"/>
              </a:rPr>
              <a:t>8192</a:t>
            </a:r>
            <a:r>
              <a:rPr lang="en-US" altLang="zh-CN" sz="2600"/>
              <a:t>—</a:t>
            </a:r>
            <a:r>
              <a:rPr lang="en-US" altLang="zh-CN" sz="2600">
                <a:latin typeface="楷体_GB2312" pitchFamily="49" charset="-122"/>
              </a:rPr>
              <a:t>32767</a:t>
            </a:r>
            <a:r>
              <a:rPr lang="zh-CN" altLang="en-US" sz="2600">
                <a:latin typeface="楷体_GB2312" pitchFamily="49" charset="-122"/>
              </a:rPr>
              <a:t>为用户程序区；</a:t>
            </a:r>
          </a:p>
          <a:p>
            <a:r>
              <a:rPr lang="zh-CN" altLang="en-US" sz="2600">
                <a:latin typeface="楷体_GB2312" pitchFamily="49" charset="-122"/>
              </a:rPr>
              <a:t>最后</a:t>
            </a:r>
            <a:r>
              <a:rPr lang="en-US" altLang="zh-CN" sz="2600">
                <a:latin typeface="楷体_GB2312" pitchFamily="49" charset="-122"/>
              </a:rPr>
              <a:t>(</a:t>
            </a:r>
            <a:r>
              <a:rPr lang="zh-CN" altLang="en-US" sz="2600">
                <a:latin typeface="楷体_GB2312" pitchFamily="49" charset="-122"/>
              </a:rPr>
              <a:t>最大地址</a:t>
            </a:r>
            <a:r>
              <a:rPr lang="en-US" altLang="zh-CN" sz="2600">
                <a:latin typeface="楷体_GB2312" pitchFamily="49" charset="-122"/>
              </a:rPr>
              <a:t>)2K</a:t>
            </a:r>
            <a:r>
              <a:rPr lang="zh-CN" altLang="en-US" sz="2600">
                <a:latin typeface="楷体_GB2312" pitchFamily="49" charset="-122"/>
              </a:rPr>
              <a:t>地址空间为系统程序工作区。</a:t>
            </a:r>
          </a:p>
          <a:p>
            <a:r>
              <a:rPr lang="zh-CN" altLang="en-US" sz="2600">
                <a:latin typeface="楷体_GB2312" pitchFamily="49" charset="-122"/>
              </a:rPr>
              <a:t>上述地址为十进制，按字节编址。</a:t>
            </a:r>
          </a:p>
          <a:p>
            <a:r>
              <a:rPr lang="zh-CN" altLang="en-US" sz="2600">
                <a:latin typeface="楷体_GB2312" pitchFamily="49" charset="-122"/>
              </a:rPr>
              <a:t>    现有如下存储器芯片：</a:t>
            </a:r>
          </a:p>
          <a:p>
            <a:r>
              <a:rPr lang="zh-CN" altLang="en-US" sz="2600">
                <a:latin typeface="楷体_GB2312" pitchFamily="49" charset="-122"/>
              </a:rPr>
              <a:t>    </a:t>
            </a:r>
            <a:r>
              <a:rPr lang="en-US" altLang="zh-CN" sz="2600">
                <a:latin typeface="楷体_GB2312" pitchFamily="49" charset="-122"/>
              </a:rPr>
              <a:t>EPROM</a:t>
            </a:r>
            <a:r>
              <a:rPr lang="zh-CN" altLang="en-US" sz="2600">
                <a:latin typeface="楷体_GB2312" pitchFamily="49" charset="-122"/>
              </a:rPr>
              <a:t>：</a:t>
            </a:r>
            <a:r>
              <a:rPr lang="en-US" altLang="zh-CN" sz="2600">
                <a:latin typeface="楷体_GB2312" pitchFamily="49" charset="-122"/>
              </a:rPr>
              <a:t>8K×8</a:t>
            </a:r>
            <a:r>
              <a:rPr lang="zh-CN" altLang="en-US" sz="2600">
                <a:latin typeface="楷体_GB2312" pitchFamily="49" charset="-122"/>
              </a:rPr>
              <a:t>位</a:t>
            </a:r>
            <a:r>
              <a:rPr lang="en-US" altLang="zh-CN" sz="2600">
                <a:latin typeface="楷体_GB2312" pitchFamily="49" charset="-122"/>
              </a:rPr>
              <a:t>(</a:t>
            </a:r>
            <a:r>
              <a:rPr lang="zh-CN" altLang="en-US" sz="2600">
                <a:latin typeface="楷体_GB2312" pitchFamily="49" charset="-122"/>
              </a:rPr>
              <a:t>控制端仅有</a:t>
            </a:r>
            <a:r>
              <a:rPr lang="en-US" altLang="zh-CN" sz="2600">
                <a:latin typeface="楷体_GB2312" pitchFamily="49" charset="-122"/>
              </a:rPr>
              <a:t>CS);</a:t>
            </a:r>
          </a:p>
          <a:p>
            <a:r>
              <a:rPr lang="en-US" altLang="zh-CN" sz="2600">
                <a:latin typeface="楷体_GB2312" pitchFamily="49" charset="-122"/>
              </a:rPr>
              <a:t>    SRAM</a:t>
            </a:r>
            <a:r>
              <a:rPr lang="zh-CN" altLang="en-US" sz="2600">
                <a:latin typeface="楷体_GB2312" pitchFamily="49" charset="-122"/>
              </a:rPr>
              <a:t>：</a:t>
            </a:r>
            <a:r>
              <a:rPr lang="en-US" altLang="zh-CN" sz="2600">
                <a:latin typeface="楷体_GB2312" pitchFamily="49" charset="-122"/>
              </a:rPr>
              <a:t>16K×1</a:t>
            </a:r>
            <a:r>
              <a:rPr lang="zh-CN" altLang="en-US" sz="2600">
                <a:latin typeface="楷体_GB2312" pitchFamily="49" charset="-122"/>
              </a:rPr>
              <a:t>位，</a:t>
            </a:r>
            <a:r>
              <a:rPr lang="en-US" altLang="zh-CN" sz="2600">
                <a:latin typeface="楷体_GB2312" pitchFamily="49" charset="-122"/>
              </a:rPr>
              <a:t>2K×8</a:t>
            </a:r>
            <a:r>
              <a:rPr lang="zh-CN" altLang="en-US" sz="2600">
                <a:latin typeface="楷体_GB2312" pitchFamily="49" charset="-122"/>
              </a:rPr>
              <a:t>位，</a:t>
            </a:r>
            <a:r>
              <a:rPr lang="en-US" altLang="zh-CN" sz="2600">
                <a:latin typeface="楷体_GB2312" pitchFamily="49" charset="-122"/>
              </a:rPr>
              <a:t>4K×8</a:t>
            </a:r>
            <a:r>
              <a:rPr lang="zh-CN" altLang="en-US" sz="2600">
                <a:latin typeface="楷体_GB2312" pitchFamily="49" charset="-122"/>
              </a:rPr>
              <a:t>位，</a:t>
            </a:r>
            <a:r>
              <a:rPr lang="en-US" altLang="zh-CN" sz="2600">
                <a:latin typeface="楷体_GB2312" pitchFamily="49" charset="-122"/>
              </a:rPr>
              <a:t>8K×8</a:t>
            </a:r>
            <a:r>
              <a:rPr lang="zh-CN" altLang="en-US" sz="2600">
                <a:latin typeface="楷体_GB2312" pitchFamily="49" charset="-122"/>
              </a:rPr>
              <a:t>位</a:t>
            </a:r>
          </a:p>
          <a:p>
            <a:r>
              <a:rPr lang="zh-CN" altLang="en-US" sz="2600">
                <a:latin typeface="楷体_GB2312" pitchFamily="49" charset="-122"/>
              </a:rPr>
              <a:t>    请从上述芯片中选择适当芯片设计该计算机主存储器，画出主存储器逻辑框图，注意画出选片逻辑与</a:t>
            </a:r>
            <a:r>
              <a:rPr lang="en-US" altLang="zh-CN" sz="2600">
                <a:latin typeface="楷体_GB2312" pitchFamily="49" charset="-122"/>
              </a:rPr>
              <a:t>CPU</a:t>
            </a:r>
            <a:r>
              <a:rPr lang="zh-CN" altLang="en-US" sz="2600">
                <a:latin typeface="楷体_GB2312" pitchFamily="49" charset="-122"/>
              </a:rPr>
              <a:t>的连接，说明选哪些存储器芯片，选多少片。 </a:t>
            </a:r>
            <a:r>
              <a:rPr lang="en-US" altLang="zh-CN" sz="2600">
                <a:latin typeface="楷体_GB2312" pitchFamily="49" charset="-122"/>
              </a:rPr>
              <a:t>(</a:t>
            </a:r>
            <a:r>
              <a:rPr lang="zh-CN" altLang="en-US" sz="2600">
                <a:latin typeface="楷体_GB2312" pitchFamily="49" charset="-122"/>
              </a:rPr>
              <a:t>可选用门电路及</a:t>
            </a:r>
            <a:r>
              <a:rPr lang="en-US" altLang="zh-CN" sz="2600">
                <a:latin typeface="楷体_GB2312" pitchFamily="49" charset="-122"/>
              </a:rPr>
              <a:t>3∶8</a:t>
            </a:r>
            <a:r>
              <a:rPr lang="zh-CN" altLang="en-US" sz="2600">
                <a:latin typeface="楷体_GB2312" pitchFamily="49" charset="-122"/>
              </a:rPr>
              <a:t>译码器</a:t>
            </a:r>
            <a:r>
              <a:rPr lang="en-US" altLang="zh-CN" sz="2600">
                <a:latin typeface="楷体_GB2312" pitchFamily="49" charset="-122"/>
              </a:rPr>
              <a:t>74LS138)</a:t>
            </a:r>
          </a:p>
        </p:txBody>
      </p:sp>
      <p:sp>
        <p:nvSpPr>
          <p:cNvPr id="17413" name="Line 5"/>
          <p:cNvSpPr>
            <a:spLocks noChangeShapeType="1"/>
          </p:cNvSpPr>
          <p:nvPr/>
        </p:nvSpPr>
        <p:spPr bwMode="auto">
          <a:xfrm>
            <a:off x="684213" y="1268413"/>
            <a:ext cx="6477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7414" name="Line 6"/>
          <p:cNvSpPr>
            <a:spLocks noChangeShapeType="1"/>
          </p:cNvSpPr>
          <p:nvPr/>
        </p:nvSpPr>
        <p:spPr bwMode="auto">
          <a:xfrm>
            <a:off x="5580063" y="1268413"/>
            <a:ext cx="2159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0224" name="Object 1024"/>
          <p:cNvGraphicFramePr>
            <a:graphicFrameLocks noChangeAspect="1"/>
          </p:cNvGraphicFramePr>
          <p:nvPr/>
        </p:nvGraphicFramePr>
        <p:xfrm>
          <a:off x="228600" y="2743200"/>
          <a:ext cx="7848600" cy="3962400"/>
        </p:xfrm>
        <a:graphic>
          <a:graphicData uri="http://schemas.openxmlformats.org/presentationml/2006/ole">
            <mc:AlternateContent xmlns:mc="http://schemas.openxmlformats.org/markup-compatibility/2006">
              <mc:Choice xmlns:v="urn:schemas-microsoft-com:vml" Requires="v">
                <p:oleObj spid="_x0000_s17541" name="位图图像" r:id="rId3" imgW="5830114" imgH="2962689" progId="PBrush">
                  <p:embed/>
                </p:oleObj>
              </mc:Choice>
              <mc:Fallback>
                <p:oleObj name="位图图像" r:id="rId3" imgW="5830114" imgH="2962689" progId="PBrush">
                  <p:embed/>
                  <p:pic>
                    <p:nvPicPr>
                      <p:cNvPr id="0" name="Picture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743200"/>
                        <a:ext cx="78486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80224"/>
                                        </p:tgtEl>
                                        <p:attrNameLst>
                                          <p:attrName>style.visibility</p:attrName>
                                        </p:attrNameLst>
                                      </p:cBhvr>
                                      <p:to>
                                        <p:strVal val="visible"/>
                                      </p:to>
                                    </p:set>
                                    <p:animEffect transition="in" filter="blinds(horizontal)">
                                      <p:cBhvr>
                                        <p:cTn id="7" dur="500"/>
                                        <p:tgtEl>
                                          <p:spTgt spid="180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AE754F39-4016-4CE2-AE28-3795928BFDA9}" type="slidenum">
              <a:rPr lang="en-US" altLang="zh-CN"/>
              <a:pPr>
                <a:defRPr/>
              </a:pPr>
              <a:t>147</a:t>
            </a:fld>
            <a:endParaRPr lang="en-US" altLang="zh-CN"/>
          </a:p>
        </p:txBody>
      </p:sp>
      <p:sp>
        <p:nvSpPr>
          <p:cNvPr id="18436" name="Rectangle 5"/>
          <p:cNvSpPr>
            <a:spLocks noChangeArrowheads="1"/>
          </p:cNvSpPr>
          <p:nvPr/>
        </p:nvSpPr>
        <p:spPr bwMode="auto">
          <a:xfrm>
            <a:off x="323850" y="3573463"/>
            <a:ext cx="7561263"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sz="2400">
                <a:latin typeface="楷体_GB2312" pitchFamily="49" charset="-122"/>
              </a:rPr>
              <a:t>现有如下存储器芯片：</a:t>
            </a:r>
          </a:p>
          <a:p>
            <a:r>
              <a:rPr lang="zh-CN" altLang="en-US" sz="2400">
                <a:latin typeface="楷体_GB2312" pitchFamily="49" charset="-122"/>
              </a:rPr>
              <a:t>    </a:t>
            </a:r>
            <a:r>
              <a:rPr lang="en-US" altLang="zh-CN" sz="2400">
                <a:latin typeface="楷体_GB2312" pitchFamily="49" charset="-122"/>
              </a:rPr>
              <a:t>EPROM</a:t>
            </a:r>
            <a:r>
              <a:rPr lang="zh-CN" altLang="en-US" sz="2400">
                <a:latin typeface="楷体_GB2312" pitchFamily="49" charset="-122"/>
              </a:rPr>
              <a:t>：</a:t>
            </a:r>
            <a:r>
              <a:rPr lang="en-US" altLang="zh-CN" sz="2400">
                <a:latin typeface="楷体_GB2312" pitchFamily="49" charset="-122"/>
              </a:rPr>
              <a:t>8K×8</a:t>
            </a:r>
            <a:r>
              <a:rPr lang="zh-CN" altLang="en-US" sz="2400">
                <a:latin typeface="楷体_GB2312" pitchFamily="49" charset="-122"/>
              </a:rPr>
              <a:t>位</a:t>
            </a:r>
            <a:r>
              <a:rPr lang="en-US" altLang="zh-CN" sz="2400">
                <a:latin typeface="楷体_GB2312" pitchFamily="49" charset="-122"/>
              </a:rPr>
              <a:t>(</a:t>
            </a:r>
            <a:r>
              <a:rPr lang="zh-CN" altLang="en-US" sz="2400">
                <a:latin typeface="楷体_GB2312" pitchFamily="49" charset="-122"/>
              </a:rPr>
              <a:t>控制端仅有</a:t>
            </a:r>
            <a:r>
              <a:rPr lang="en-US" altLang="zh-CN" sz="2400">
                <a:latin typeface="楷体_GB2312" pitchFamily="49" charset="-122"/>
              </a:rPr>
              <a:t>CS);</a:t>
            </a:r>
          </a:p>
          <a:p>
            <a:r>
              <a:rPr lang="en-US" altLang="zh-CN" sz="2400">
                <a:latin typeface="楷体_GB2312" pitchFamily="49" charset="-122"/>
              </a:rPr>
              <a:t>    SRAM</a:t>
            </a:r>
            <a:r>
              <a:rPr lang="zh-CN" altLang="en-US" sz="2400">
                <a:latin typeface="楷体_GB2312" pitchFamily="49" charset="-122"/>
              </a:rPr>
              <a:t>：</a:t>
            </a:r>
            <a:r>
              <a:rPr lang="en-US" altLang="zh-CN" sz="2400">
                <a:latin typeface="楷体_GB2312" pitchFamily="49" charset="-122"/>
              </a:rPr>
              <a:t>16K×1</a:t>
            </a:r>
            <a:r>
              <a:rPr lang="zh-CN" altLang="en-US" sz="2400">
                <a:latin typeface="楷体_GB2312" pitchFamily="49" charset="-122"/>
              </a:rPr>
              <a:t>位，</a:t>
            </a:r>
            <a:r>
              <a:rPr lang="en-US" altLang="zh-CN" sz="2400">
                <a:latin typeface="楷体_GB2312" pitchFamily="49" charset="-122"/>
              </a:rPr>
              <a:t>2K×8</a:t>
            </a:r>
            <a:r>
              <a:rPr lang="zh-CN" altLang="en-US" sz="2400">
                <a:latin typeface="楷体_GB2312" pitchFamily="49" charset="-122"/>
              </a:rPr>
              <a:t>位，</a:t>
            </a:r>
            <a:r>
              <a:rPr lang="en-US" altLang="zh-CN" sz="2400">
                <a:latin typeface="楷体_GB2312" pitchFamily="49" charset="-122"/>
              </a:rPr>
              <a:t>4K×8</a:t>
            </a:r>
            <a:r>
              <a:rPr lang="zh-CN" altLang="en-US" sz="2400">
                <a:latin typeface="楷体_GB2312" pitchFamily="49" charset="-122"/>
              </a:rPr>
              <a:t>位，</a:t>
            </a:r>
            <a:r>
              <a:rPr lang="en-US" altLang="zh-CN" sz="2400">
                <a:latin typeface="楷体_GB2312" pitchFamily="49" charset="-122"/>
              </a:rPr>
              <a:t>8K×8</a:t>
            </a:r>
            <a:r>
              <a:rPr lang="zh-CN" altLang="en-US" sz="2400">
                <a:latin typeface="楷体_GB2312" pitchFamily="49" charset="-122"/>
              </a:rPr>
              <a:t>位</a:t>
            </a:r>
          </a:p>
          <a:p>
            <a:r>
              <a:rPr lang="zh-CN" altLang="en-US" sz="2400">
                <a:latin typeface="楷体_GB2312" pitchFamily="49" charset="-122"/>
              </a:rPr>
              <a:t>    门电路及</a:t>
            </a:r>
            <a:r>
              <a:rPr lang="en-US" altLang="zh-CN" sz="2400">
                <a:latin typeface="楷体_GB2312" pitchFamily="49" charset="-122"/>
              </a:rPr>
              <a:t>3∶8</a:t>
            </a:r>
            <a:r>
              <a:rPr lang="zh-CN" altLang="en-US" sz="2400">
                <a:latin typeface="楷体_GB2312" pitchFamily="49" charset="-122"/>
              </a:rPr>
              <a:t>译码器</a:t>
            </a:r>
            <a:r>
              <a:rPr lang="en-US" altLang="zh-CN" sz="2400">
                <a:latin typeface="楷体_GB2312" pitchFamily="49" charset="-122"/>
              </a:rPr>
              <a:t>74LS138</a:t>
            </a:r>
          </a:p>
          <a:p>
            <a:r>
              <a:rPr lang="en-US" altLang="zh-CN" sz="2400">
                <a:latin typeface="楷体_GB2312" pitchFamily="49" charset="-122"/>
              </a:rPr>
              <a:t>    </a:t>
            </a:r>
            <a:r>
              <a:rPr lang="zh-CN" altLang="en-US" sz="2400">
                <a:latin typeface="楷体_GB2312" pitchFamily="49" charset="-122"/>
              </a:rPr>
              <a:t>根据给定条件，选用</a:t>
            </a:r>
            <a:r>
              <a:rPr lang="en-US" altLang="zh-CN" sz="2400">
                <a:latin typeface="楷体_GB2312" pitchFamily="49" charset="-122"/>
              </a:rPr>
              <a:t>EPROM</a:t>
            </a:r>
            <a:r>
              <a:rPr lang="zh-CN" altLang="en-US" sz="2400">
                <a:latin typeface="楷体_GB2312" pitchFamily="49" charset="-122"/>
              </a:rPr>
              <a:t>：</a:t>
            </a:r>
            <a:r>
              <a:rPr lang="en-US" altLang="zh-CN" sz="2400">
                <a:latin typeface="楷体_GB2312" pitchFamily="49" charset="-122"/>
              </a:rPr>
              <a:t>8K×8</a:t>
            </a:r>
            <a:r>
              <a:rPr lang="zh-CN" altLang="en-US" sz="2400">
                <a:latin typeface="楷体_GB2312" pitchFamily="49" charset="-122"/>
              </a:rPr>
              <a:t>位芯片</a:t>
            </a:r>
            <a:r>
              <a:rPr lang="en-US" altLang="zh-CN" sz="2400">
                <a:latin typeface="楷体_GB2312" pitchFamily="49" charset="-122"/>
              </a:rPr>
              <a:t>1</a:t>
            </a:r>
            <a:r>
              <a:rPr lang="zh-CN" altLang="en-US" sz="2400">
                <a:latin typeface="楷体_GB2312" pitchFamily="49" charset="-122"/>
              </a:rPr>
              <a:t>片。 </a:t>
            </a:r>
          </a:p>
          <a:p>
            <a:r>
              <a:rPr lang="zh-CN" altLang="en-US" sz="2400">
                <a:latin typeface="楷体_GB2312" pitchFamily="49" charset="-122"/>
              </a:rPr>
              <a:t>    </a:t>
            </a:r>
            <a:r>
              <a:rPr lang="en-US" altLang="zh-CN" sz="2400">
                <a:latin typeface="楷体_GB2312" pitchFamily="49" charset="-122"/>
              </a:rPr>
              <a:t>SRAM</a:t>
            </a:r>
            <a:r>
              <a:rPr lang="zh-CN" altLang="en-US" sz="2400">
                <a:latin typeface="楷体_GB2312" pitchFamily="49" charset="-122"/>
              </a:rPr>
              <a:t>：</a:t>
            </a:r>
            <a:r>
              <a:rPr lang="en-US" altLang="zh-CN" sz="2400">
                <a:latin typeface="楷体_GB2312" pitchFamily="49" charset="-122"/>
              </a:rPr>
              <a:t>8K×8</a:t>
            </a:r>
            <a:r>
              <a:rPr lang="zh-CN" altLang="en-US" sz="2400">
                <a:latin typeface="楷体_GB2312" pitchFamily="49" charset="-122"/>
              </a:rPr>
              <a:t>位芯片</a:t>
            </a:r>
            <a:r>
              <a:rPr lang="en-US" altLang="zh-CN" sz="2400">
                <a:latin typeface="楷体_GB2312" pitchFamily="49" charset="-122"/>
              </a:rPr>
              <a:t>3</a:t>
            </a:r>
            <a:r>
              <a:rPr lang="zh-CN" altLang="en-US" sz="2400">
                <a:latin typeface="楷体_GB2312" pitchFamily="49" charset="-122"/>
              </a:rPr>
              <a:t>片，</a:t>
            </a:r>
            <a:r>
              <a:rPr lang="en-US" altLang="zh-CN" sz="2400">
                <a:latin typeface="楷体_GB2312" pitchFamily="49" charset="-122"/>
              </a:rPr>
              <a:t>2K×8</a:t>
            </a:r>
            <a:r>
              <a:rPr lang="zh-CN" altLang="en-US" sz="2400">
                <a:latin typeface="楷体_GB2312" pitchFamily="49" charset="-122"/>
              </a:rPr>
              <a:t>位芯片</a:t>
            </a:r>
            <a:r>
              <a:rPr lang="en-US" altLang="zh-CN" sz="2400">
                <a:latin typeface="楷体_GB2312" pitchFamily="49" charset="-122"/>
              </a:rPr>
              <a:t>1</a:t>
            </a:r>
            <a:r>
              <a:rPr lang="zh-CN" altLang="en-US" sz="2400">
                <a:latin typeface="楷体_GB2312" pitchFamily="49" charset="-122"/>
              </a:rPr>
              <a:t>片。</a:t>
            </a:r>
          </a:p>
          <a:p>
            <a:r>
              <a:rPr lang="zh-CN" altLang="en-US" sz="2400">
                <a:latin typeface="楷体_GB2312" pitchFamily="49" charset="-122"/>
              </a:rPr>
              <a:t>    </a:t>
            </a:r>
            <a:r>
              <a:rPr lang="en-US" altLang="zh-CN" sz="2400">
                <a:latin typeface="楷体_GB2312" pitchFamily="49" charset="-122"/>
              </a:rPr>
              <a:t>CPU</a:t>
            </a:r>
            <a:r>
              <a:rPr lang="zh-CN" altLang="en-US" sz="2400">
                <a:latin typeface="楷体_GB2312" pitchFamily="49" charset="-122"/>
              </a:rPr>
              <a:t>的地址总线</a:t>
            </a:r>
            <a:r>
              <a:rPr lang="en-US" altLang="zh-CN" sz="2400">
                <a:latin typeface="楷体_GB2312" pitchFamily="49" charset="-122"/>
              </a:rPr>
              <a:t>16</a:t>
            </a:r>
            <a:r>
              <a:rPr lang="zh-CN" altLang="en-US" sz="2400">
                <a:latin typeface="楷体_GB2312" pitchFamily="49" charset="-122"/>
              </a:rPr>
              <a:t>根，</a:t>
            </a:r>
            <a:r>
              <a:rPr lang="en-US" altLang="zh-CN" sz="2400">
                <a:latin typeface="楷体_GB2312" pitchFamily="49" charset="-122"/>
              </a:rPr>
              <a:t>8K</a:t>
            </a:r>
            <a:r>
              <a:rPr lang="zh-CN" altLang="en-US" sz="2400">
                <a:latin typeface="楷体_GB2312" pitchFamily="49" charset="-122"/>
              </a:rPr>
              <a:t>地址线</a:t>
            </a:r>
            <a:r>
              <a:rPr lang="en-US" altLang="zh-CN" sz="2400">
                <a:latin typeface="楷体_GB2312" pitchFamily="49" charset="-122"/>
              </a:rPr>
              <a:t>13</a:t>
            </a:r>
            <a:r>
              <a:rPr lang="zh-CN" altLang="en-US" sz="2400">
                <a:latin typeface="楷体_GB2312" pitchFamily="49" charset="-122"/>
              </a:rPr>
              <a:t>根，</a:t>
            </a:r>
          </a:p>
          <a:p>
            <a:r>
              <a:rPr lang="zh-CN" altLang="en-US" sz="2400">
                <a:latin typeface="楷体_GB2312" pitchFamily="49" charset="-122"/>
              </a:rPr>
              <a:t>    选用</a:t>
            </a:r>
            <a:r>
              <a:rPr lang="en-US" altLang="zh-CN" sz="2400">
                <a:latin typeface="楷体_GB2312" pitchFamily="49" charset="-122"/>
              </a:rPr>
              <a:t>3∶8</a:t>
            </a:r>
            <a:r>
              <a:rPr lang="zh-CN" altLang="en-US" sz="2400">
                <a:latin typeface="楷体_GB2312" pitchFamily="49" charset="-122"/>
              </a:rPr>
              <a:t>译码器。</a:t>
            </a:r>
          </a:p>
        </p:txBody>
      </p:sp>
      <p:graphicFrame>
        <p:nvGraphicFramePr>
          <p:cNvPr id="18434" name="Object 6"/>
          <p:cNvGraphicFramePr>
            <a:graphicFrameLocks noChangeAspect="1"/>
          </p:cNvGraphicFramePr>
          <p:nvPr/>
        </p:nvGraphicFramePr>
        <p:xfrm>
          <a:off x="304800" y="228600"/>
          <a:ext cx="7543800" cy="3368675"/>
        </p:xfrm>
        <a:graphic>
          <a:graphicData uri="http://schemas.openxmlformats.org/presentationml/2006/ole">
            <mc:AlternateContent xmlns:mc="http://schemas.openxmlformats.org/markup-compatibility/2006">
              <mc:Choice xmlns:v="urn:schemas-microsoft-com:vml" Requires="v">
                <p:oleObj spid="_x0000_s18563" name="位图图像" r:id="rId3" imgW="5830114" imgH="2962689" progId="PBrush">
                  <p:embed/>
                </p:oleObj>
              </mc:Choice>
              <mc:Fallback>
                <p:oleObj name="位图图像" r:id="rId3" imgW="5830114" imgH="2962689" progId="PBrush">
                  <p:embed/>
                  <p:pic>
                    <p:nvPicPr>
                      <p:cNvPr id="0"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28600"/>
                        <a:ext cx="7543800" cy="336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2B723F92-08E1-4DDB-90B4-79E78C6F66DC}" type="slidenum">
              <a:rPr lang="en-US" altLang="zh-CN"/>
              <a:pPr>
                <a:defRPr/>
              </a:pPr>
              <a:t>148</a:t>
            </a:fld>
            <a:endParaRPr lang="en-US" altLang="zh-CN"/>
          </a:p>
        </p:txBody>
      </p:sp>
      <p:pic>
        <p:nvPicPr>
          <p:cNvPr id="16179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333375"/>
            <a:ext cx="7634287" cy="510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796" name="Rectangle 7"/>
          <p:cNvSpPr>
            <a:spLocks noChangeArrowheads="1"/>
          </p:cNvSpPr>
          <p:nvPr/>
        </p:nvSpPr>
        <p:spPr bwMode="auto">
          <a:xfrm>
            <a:off x="250825" y="5516563"/>
            <a:ext cx="79216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eaLnBrk="0" hangingPunct="0"/>
            <a:r>
              <a:rPr lang="en-US" altLang="zh-CN"/>
              <a:t> 3∶8</a:t>
            </a:r>
            <a:r>
              <a:rPr lang="zh-CN" altLang="en-US"/>
              <a:t>译码器仅用</a:t>
            </a:r>
            <a:r>
              <a:rPr lang="en-US" altLang="zh-CN"/>
              <a:t>Y0</a:t>
            </a:r>
            <a:r>
              <a:rPr lang="zh-CN" altLang="en-US"/>
              <a:t>，</a:t>
            </a:r>
            <a:r>
              <a:rPr lang="en-US" altLang="zh-CN"/>
              <a:t>Y1</a:t>
            </a:r>
            <a:r>
              <a:rPr lang="zh-CN" altLang="en-US"/>
              <a:t>，</a:t>
            </a:r>
            <a:r>
              <a:rPr lang="en-US" altLang="zh-CN"/>
              <a:t>Y2</a:t>
            </a:r>
            <a:r>
              <a:rPr lang="zh-CN" altLang="en-US"/>
              <a:t>，</a:t>
            </a:r>
            <a:r>
              <a:rPr lang="en-US" altLang="zh-CN"/>
              <a:t>Y3</a:t>
            </a:r>
            <a:r>
              <a:rPr lang="zh-CN" altLang="en-US"/>
              <a:t>和</a:t>
            </a:r>
            <a:r>
              <a:rPr lang="en-US" altLang="zh-CN"/>
              <a:t>Y7</a:t>
            </a:r>
            <a:r>
              <a:rPr lang="zh-CN" altLang="en-US"/>
              <a:t>输出端，且对最后的</a:t>
            </a:r>
            <a:r>
              <a:rPr lang="en-US" altLang="zh-CN"/>
              <a:t>2K×8</a:t>
            </a:r>
            <a:r>
              <a:rPr lang="zh-CN" altLang="en-US"/>
              <a:t>位芯片还需加门电路译码。 </a:t>
            </a:r>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18A0E65F-8F9C-4E4D-8810-B9308CF7FEA6}" type="slidenum">
              <a:rPr lang="en-US" altLang="zh-CN"/>
              <a:pPr>
                <a:defRPr/>
              </a:pPr>
              <a:t>149</a:t>
            </a:fld>
            <a:endParaRPr lang="en-US" altLang="zh-CN"/>
          </a:p>
        </p:txBody>
      </p:sp>
      <p:sp>
        <p:nvSpPr>
          <p:cNvPr id="162819" name="Rectangle 2"/>
          <p:cNvSpPr>
            <a:spLocks noChangeArrowheads="1"/>
          </p:cNvSpPr>
          <p:nvPr/>
        </p:nvSpPr>
        <p:spPr bwMode="auto">
          <a:xfrm>
            <a:off x="152400" y="533400"/>
            <a:ext cx="8610600" cy="525145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lgn="just" eaLnBrk="0" hangingPunct="0"/>
            <a:r>
              <a:rPr lang="en-US" altLang="zh-CN" sz="2600">
                <a:latin typeface="楷体_GB2312" pitchFamily="49" charset="-122"/>
              </a:rPr>
              <a:t>P102-8.</a:t>
            </a:r>
            <a:r>
              <a:rPr lang="zh-CN" altLang="en-US" sz="2600">
                <a:latin typeface="楷体_GB2312" pitchFamily="49" charset="-122"/>
              </a:rPr>
              <a:t>设存储器容量为</a:t>
            </a:r>
            <a:r>
              <a:rPr lang="en-US" altLang="zh-CN" sz="2600">
                <a:latin typeface="楷体_GB2312" pitchFamily="49" charset="-122"/>
              </a:rPr>
              <a:t>64M</a:t>
            </a:r>
            <a:r>
              <a:rPr lang="zh-CN" altLang="en-US" sz="2600">
                <a:latin typeface="楷体_GB2312" pitchFamily="49" charset="-122"/>
              </a:rPr>
              <a:t>，字长</a:t>
            </a:r>
            <a:r>
              <a:rPr lang="en-US" altLang="zh-CN" sz="2600">
                <a:latin typeface="楷体_GB2312" pitchFamily="49" charset="-122"/>
              </a:rPr>
              <a:t>64</a:t>
            </a:r>
            <a:r>
              <a:rPr lang="zh-CN" altLang="en-US" sz="2600">
                <a:latin typeface="楷体_GB2312" pitchFamily="49" charset="-122"/>
              </a:rPr>
              <a:t>位，模块数</a:t>
            </a:r>
            <a:r>
              <a:rPr lang="en-US" altLang="zh-CN" sz="2600">
                <a:latin typeface="楷体_GB2312" pitchFamily="49" charset="-122"/>
              </a:rPr>
              <a:t>m=8</a:t>
            </a:r>
            <a:r>
              <a:rPr lang="zh-CN" altLang="en-US" sz="2600">
                <a:latin typeface="楷体_GB2312" pitchFamily="49" charset="-122"/>
              </a:rPr>
              <a:t>，分别用顺序方式和交叉方式进行组织。存储周期</a:t>
            </a:r>
            <a:r>
              <a:rPr lang="en-US" altLang="zh-CN" sz="2600">
                <a:latin typeface="楷体_GB2312" pitchFamily="49" charset="-122"/>
              </a:rPr>
              <a:t>T=100ns</a:t>
            </a:r>
            <a:r>
              <a:rPr lang="zh-CN" altLang="en-US" sz="2600">
                <a:latin typeface="楷体_GB2312" pitchFamily="49" charset="-122"/>
              </a:rPr>
              <a:t>，数据总线宽度为</a:t>
            </a:r>
            <a:r>
              <a:rPr lang="en-US" altLang="zh-CN" sz="2600">
                <a:latin typeface="楷体_GB2312" pitchFamily="49" charset="-122"/>
              </a:rPr>
              <a:t>64</a:t>
            </a:r>
            <a:r>
              <a:rPr lang="zh-CN" altLang="en-US" sz="2600">
                <a:latin typeface="楷体_GB2312" pitchFamily="49" charset="-122"/>
              </a:rPr>
              <a:t>位，总线传送周期</a:t>
            </a:r>
            <a:r>
              <a:rPr lang="en-US" altLang="zh-CN" sz="2600">
                <a:latin typeface="楷体_GB2312" pitchFamily="49" charset="-122"/>
              </a:rPr>
              <a:t>τ=50ns</a:t>
            </a:r>
            <a:r>
              <a:rPr lang="zh-CN" altLang="en-US" sz="2600">
                <a:latin typeface="楷体_GB2312" pitchFamily="49" charset="-122"/>
              </a:rPr>
              <a:t>。问顺序存储器和交叉存储器的带宽各是多少</a:t>
            </a:r>
            <a:r>
              <a:rPr lang="en-US" altLang="zh-CN" sz="2600">
                <a:latin typeface="楷体_GB2312" pitchFamily="49" charset="-122"/>
              </a:rPr>
              <a:t>?</a:t>
            </a:r>
          </a:p>
          <a:p>
            <a:pPr algn="just" eaLnBrk="0" hangingPunct="0"/>
            <a:r>
              <a:rPr lang="en-US" altLang="zh-CN" sz="2600">
                <a:latin typeface="楷体_GB2312" pitchFamily="49" charset="-122"/>
              </a:rPr>
              <a:t>【</a:t>
            </a:r>
            <a:r>
              <a:rPr lang="zh-CN" altLang="en-US" sz="2600">
                <a:latin typeface="楷体_GB2312" pitchFamily="49" charset="-122"/>
              </a:rPr>
              <a:t>解</a:t>
            </a:r>
            <a:r>
              <a:rPr lang="en-US" altLang="zh-CN" sz="2600">
                <a:latin typeface="楷体_GB2312" pitchFamily="49" charset="-122"/>
              </a:rPr>
              <a:t>】</a:t>
            </a:r>
            <a:r>
              <a:rPr lang="zh-CN" altLang="en-US" sz="2600">
                <a:latin typeface="楷体_GB2312" pitchFamily="49" charset="-122"/>
              </a:rPr>
              <a:t>顺序存储器和交叉存储器连续读出</a:t>
            </a:r>
            <a:r>
              <a:rPr lang="en-US" altLang="zh-CN" sz="2600">
                <a:latin typeface="楷体_GB2312" pitchFamily="49" charset="-122"/>
              </a:rPr>
              <a:t>m=8</a:t>
            </a:r>
            <a:r>
              <a:rPr lang="zh-CN" altLang="en-US" sz="2600">
                <a:latin typeface="楷体_GB2312" pitchFamily="49" charset="-122"/>
              </a:rPr>
              <a:t>个字的信息总</a:t>
            </a:r>
          </a:p>
          <a:p>
            <a:pPr algn="just" eaLnBrk="0" hangingPunct="0"/>
            <a:r>
              <a:rPr lang="zh-CN" altLang="en-US" sz="2600">
                <a:latin typeface="楷体_GB2312" pitchFamily="49" charset="-122"/>
              </a:rPr>
              <a:t>      量都是：</a:t>
            </a:r>
            <a:r>
              <a:rPr lang="en-US" altLang="zh-CN" sz="2600">
                <a:latin typeface="楷体_GB2312" pitchFamily="49" charset="-122"/>
              </a:rPr>
              <a:t>q=64</a:t>
            </a:r>
            <a:r>
              <a:rPr lang="zh-CN" altLang="en-US" sz="2600">
                <a:latin typeface="楷体_GB2312" pitchFamily="49" charset="-122"/>
              </a:rPr>
              <a:t>位</a:t>
            </a:r>
            <a:r>
              <a:rPr lang="en-US" altLang="zh-CN" sz="2600">
                <a:latin typeface="楷体_GB2312" pitchFamily="49" charset="-122"/>
              </a:rPr>
              <a:t>×8=512</a:t>
            </a:r>
            <a:r>
              <a:rPr lang="zh-CN" altLang="en-US" sz="2600">
                <a:latin typeface="楷体_GB2312" pitchFamily="49" charset="-122"/>
              </a:rPr>
              <a:t>位</a:t>
            </a:r>
          </a:p>
          <a:p>
            <a:pPr algn="just" eaLnBrk="0" hangingPunct="0"/>
            <a:r>
              <a:rPr lang="zh-CN" altLang="en-US" sz="2600">
                <a:latin typeface="楷体_GB2312" pitchFamily="49" charset="-122"/>
              </a:rPr>
              <a:t>      顺序存储器和交叉存储器连续读出</a:t>
            </a:r>
            <a:r>
              <a:rPr lang="en-US" altLang="zh-CN" sz="2600">
                <a:latin typeface="楷体_GB2312" pitchFamily="49" charset="-122"/>
              </a:rPr>
              <a:t>8</a:t>
            </a:r>
            <a:r>
              <a:rPr lang="zh-CN" altLang="en-US" sz="2600">
                <a:latin typeface="楷体_GB2312" pitchFamily="49" charset="-122"/>
              </a:rPr>
              <a:t>个字所需的时间</a:t>
            </a:r>
          </a:p>
          <a:p>
            <a:pPr algn="just" eaLnBrk="0" hangingPunct="0"/>
            <a:r>
              <a:rPr lang="zh-CN" altLang="en-US" sz="2600">
                <a:latin typeface="楷体_GB2312" pitchFamily="49" charset="-122"/>
              </a:rPr>
              <a:t>      分别是：</a:t>
            </a:r>
          </a:p>
          <a:p>
            <a:pPr algn="just" eaLnBrk="0" hangingPunct="0"/>
            <a:r>
              <a:rPr lang="zh-CN" altLang="en-US" sz="2600">
                <a:latin typeface="楷体_GB2312" pitchFamily="49" charset="-122"/>
              </a:rPr>
              <a:t>　       </a:t>
            </a:r>
            <a:r>
              <a:rPr lang="en-US" altLang="zh-CN" sz="2600">
                <a:latin typeface="楷体_GB2312" pitchFamily="49" charset="-122"/>
              </a:rPr>
              <a:t>t2=mT=8×100ns=800ns=8×10</a:t>
            </a:r>
            <a:r>
              <a:rPr lang="en-US" altLang="zh-CN" sz="2600" baseline="30000">
                <a:latin typeface="楷体_GB2312" pitchFamily="49" charset="-122"/>
              </a:rPr>
              <a:t>-7</a:t>
            </a:r>
            <a:r>
              <a:rPr lang="en-US" altLang="zh-CN" sz="2600">
                <a:latin typeface="楷体_GB2312" pitchFamily="49" charset="-122"/>
              </a:rPr>
              <a:t>s</a:t>
            </a:r>
          </a:p>
          <a:p>
            <a:pPr algn="just" eaLnBrk="0" hangingPunct="0"/>
            <a:r>
              <a:rPr lang="en-US" altLang="zh-CN" sz="2600">
                <a:latin typeface="楷体_GB2312" pitchFamily="49" charset="-122"/>
              </a:rPr>
              <a:t>  </a:t>
            </a:r>
            <a:r>
              <a:rPr lang="zh-CN" altLang="en-US" sz="2600">
                <a:latin typeface="楷体_GB2312" pitchFamily="49" charset="-122"/>
              </a:rPr>
              <a:t>　     </a:t>
            </a:r>
            <a:r>
              <a:rPr lang="en-US" altLang="zh-CN" sz="2600">
                <a:latin typeface="楷体_GB2312" pitchFamily="49" charset="-122"/>
              </a:rPr>
              <a:t>t1=T+(m-1)=100ns+7×50ns=450ns=4.5×10</a:t>
            </a:r>
            <a:r>
              <a:rPr lang="en-US" altLang="zh-CN" sz="2600" baseline="30000">
                <a:latin typeface="楷体_GB2312" pitchFamily="49" charset="-122"/>
              </a:rPr>
              <a:t>-7</a:t>
            </a:r>
            <a:r>
              <a:rPr lang="en-US" altLang="zh-CN" sz="2600">
                <a:latin typeface="楷体_GB2312" pitchFamily="49" charset="-122"/>
              </a:rPr>
              <a:t>s</a:t>
            </a:r>
          </a:p>
          <a:p>
            <a:pPr algn="just" eaLnBrk="0" hangingPunct="0"/>
            <a:r>
              <a:rPr lang="en-US" altLang="zh-CN" sz="2600">
                <a:latin typeface="楷体_GB2312" pitchFamily="49" charset="-122"/>
              </a:rPr>
              <a:t>  </a:t>
            </a:r>
            <a:r>
              <a:rPr lang="zh-CN" altLang="en-US" sz="2600">
                <a:latin typeface="楷体_GB2312" pitchFamily="49" charset="-122"/>
              </a:rPr>
              <a:t>　　 顺序存储器和交叉存储器的带宽分别是：</a:t>
            </a:r>
          </a:p>
          <a:p>
            <a:pPr algn="just" eaLnBrk="0" hangingPunct="0"/>
            <a:r>
              <a:rPr lang="zh-CN" altLang="en-US" sz="2600">
                <a:latin typeface="楷体_GB2312" pitchFamily="49" charset="-122"/>
              </a:rPr>
              <a:t>　     </a:t>
            </a:r>
            <a:r>
              <a:rPr lang="en-US" altLang="zh-CN" sz="2600">
                <a:latin typeface="楷体_GB2312" pitchFamily="49" charset="-122"/>
              </a:rPr>
              <a:t>W2=q/t2=512÷(8×10</a:t>
            </a:r>
            <a:r>
              <a:rPr lang="en-US" altLang="zh-CN" sz="2600" baseline="30000">
                <a:latin typeface="楷体_GB2312" pitchFamily="49" charset="-122"/>
              </a:rPr>
              <a:t>-7</a:t>
            </a:r>
            <a:r>
              <a:rPr lang="en-US" altLang="zh-CN" sz="2600">
                <a:latin typeface="楷体_GB2312" pitchFamily="49" charset="-122"/>
              </a:rPr>
              <a:t>)=6.4×10</a:t>
            </a:r>
            <a:r>
              <a:rPr lang="en-US" altLang="zh-CN" sz="2600" baseline="30000">
                <a:latin typeface="楷体_GB2312" pitchFamily="49" charset="-122"/>
              </a:rPr>
              <a:t>8</a:t>
            </a:r>
            <a:r>
              <a:rPr lang="en-US" altLang="zh-CN" sz="2600">
                <a:latin typeface="楷体_GB2312" pitchFamily="49" charset="-122"/>
              </a:rPr>
              <a:t>(</a:t>
            </a:r>
            <a:r>
              <a:rPr lang="zh-CN" altLang="en-US" sz="2600">
                <a:latin typeface="楷体_GB2312" pitchFamily="49" charset="-122"/>
              </a:rPr>
              <a:t>位</a:t>
            </a:r>
            <a:r>
              <a:rPr lang="en-US" altLang="zh-CN" sz="2600">
                <a:latin typeface="楷体_GB2312" pitchFamily="49" charset="-122"/>
              </a:rPr>
              <a:t>/s)</a:t>
            </a:r>
          </a:p>
          <a:p>
            <a:pPr algn="just" eaLnBrk="0" hangingPunct="0"/>
            <a:r>
              <a:rPr lang="en-US" altLang="zh-CN" sz="2600">
                <a:latin typeface="楷体_GB2312" pitchFamily="49" charset="-122"/>
              </a:rPr>
              <a:t>       W1=q/t1=512÷(4.5×10</a:t>
            </a:r>
            <a:r>
              <a:rPr lang="en-US" altLang="zh-CN" sz="2600" baseline="30000">
                <a:latin typeface="楷体_GB2312" pitchFamily="49" charset="-122"/>
              </a:rPr>
              <a:t>-7</a:t>
            </a:r>
            <a:r>
              <a:rPr lang="en-US" altLang="zh-CN" sz="2600">
                <a:latin typeface="楷体_GB2312" pitchFamily="49" charset="-122"/>
              </a:rPr>
              <a:t>)=1.14×10</a:t>
            </a:r>
            <a:r>
              <a:rPr lang="en-US" altLang="zh-CN" sz="2600" baseline="30000">
                <a:latin typeface="楷体_GB2312" pitchFamily="49" charset="-122"/>
              </a:rPr>
              <a:t>9</a:t>
            </a:r>
            <a:r>
              <a:rPr lang="en-US" altLang="zh-CN" sz="2600">
                <a:latin typeface="楷体_GB2312" pitchFamily="49" charset="-122"/>
              </a:rPr>
              <a:t>(</a:t>
            </a:r>
            <a:r>
              <a:rPr lang="zh-CN" altLang="en-US" sz="2600">
                <a:latin typeface="楷体_GB2312" pitchFamily="49" charset="-122"/>
              </a:rPr>
              <a:t>位</a:t>
            </a:r>
            <a:r>
              <a:rPr lang="en-US" altLang="zh-CN" sz="2600">
                <a:latin typeface="楷体_GB2312" pitchFamily="49" charset="-122"/>
              </a:rPr>
              <a:t>/s)</a:t>
            </a:r>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1A95BAA-B7C2-4925-B83B-FA2A14731E11}" type="slidenum">
              <a:rPr lang="en-US" altLang="zh-CN"/>
              <a:pPr>
                <a:defRPr/>
              </a:pPr>
              <a:t>150</a:t>
            </a:fld>
            <a:endParaRPr lang="en-US" altLang="zh-CN"/>
          </a:p>
        </p:txBody>
      </p:sp>
      <p:sp>
        <p:nvSpPr>
          <p:cNvPr id="163843" name="Rectangle 2"/>
          <p:cNvSpPr>
            <a:spLocks noChangeArrowheads="1"/>
          </p:cNvSpPr>
          <p:nvPr/>
        </p:nvSpPr>
        <p:spPr bwMode="auto">
          <a:xfrm>
            <a:off x="381000" y="457200"/>
            <a:ext cx="8382000" cy="5648325"/>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eaLnBrk="0" hangingPunct="0">
              <a:spcBef>
                <a:spcPct val="50000"/>
              </a:spcBef>
            </a:pPr>
            <a:r>
              <a:rPr lang="en-US" altLang="zh-CN" sz="1200">
                <a:latin typeface="Times New Roman" charset="0"/>
                <a:ea typeface="Arial Unicode MS" pitchFamily="34" charset="-122"/>
                <a:cs typeface="Arial Unicode MS" pitchFamily="34" charset="-122"/>
              </a:rPr>
              <a:t> </a:t>
            </a:r>
            <a:r>
              <a:rPr lang="en-US" altLang="zh-CN">
                <a:latin typeface="楷体_GB2312" pitchFamily="49" charset="-122"/>
              </a:rPr>
              <a:t>P102-9.CPU</a:t>
            </a:r>
            <a:r>
              <a:rPr lang="zh-CN" altLang="en-US">
                <a:latin typeface="楷体_GB2312" pitchFamily="49" charset="-122"/>
              </a:rPr>
              <a:t>执行一段程序时，</a:t>
            </a:r>
            <a:r>
              <a:rPr lang="en-US" altLang="zh-CN">
                <a:latin typeface="楷体_GB2312" pitchFamily="49" charset="-122"/>
              </a:rPr>
              <a:t>cache</a:t>
            </a:r>
            <a:r>
              <a:rPr lang="zh-CN" altLang="en-US">
                <a:latin typeface="楷体_GB2312" pitchFamily="49" charset="-122"/>
              </a:rPr>
              <a:t>完成存取的次数为</a:t>
            </a:r>
            <a:r>
              <a:rPr lang="en-US" altLang="zh-CN">
                <a:latin typeface="楷体_GB2312" pitchFamily="49" charset="-122"/>
              </a:rPr>
              <a:t>2420</a:t>
            </a:r>
            <a:r>
              <a:rPr lang="zh-CN" altLang="en-US">
                <a:latin typeface="楷体_GB2312" pitchFamily="49" charset="-122"/>
              </a:rPr>
              <a:t>次，主存完成存取的次数为</a:t>
            </a:r>
            <a:r>
              <a:rPr lang="en-US" altLang="zh-CN">
                <a:latin typeface="楷体_GB2312" pitchFamily="49" charset="-122"/>
              </a:rPr>
              <a:t>80</a:t>
            </a:r>
            <a:r>
              <a:rPr lang="zh-CN" altLang="en-US">
                <a:latin typeface="楷体_GB2312" pitchFamily="49" charset="-122"/>
              </a:rPr>
              <a:t>次，已知</a:t>
            </a:r>
            <a:r>
              <a:rPr lang="en-US" altLang="zh-CN">
                <a:latin typeface="楷体_GB2312" pitchFamily="49" charset="-122"/>
              </a:rPr>
              <a:t>cache</a:t>
            </a:r>
            <a:r>
              <a:rPr lang="zh-CN" altLang="en-US">
                <a:latin typeface="楷体_GB2312" pitchFamily="49" charset="-122"/>
              </a:rPr>
              <a:t>存取周期为</a:t>
            </a:r>
            <a:r>
              <a:rPr lang="en-US" altLang="zh-CN">
                <a:latin typeface="楷体_GB2312" pitchFamily="49" charset="-122"/>
              </a:rPr>
              <a:t>40ns</a:t>
            </a:r>
            <a:r>
              <a:rPr lang="zh-CN" altLang="en-US">
                <a:latin typeface="楷体_GB2312" pitchFamily="49" charset="-122"/>
              </a:rPr>
              <a:t>，主存存取周期为</a:t>
            </a:r>
            <a:r>
              <a:rPr lang="en-US" altLang="zh-CN">
                <a:latin typeface="楷体_GB2312" pitchFamily="49" charset="-122"/>
              </a:rPr>
              <a:t>240ns</a:t>
            </a:r>
            <a:r>
              <a:rPr lang="zh-CN" altLang="en-US">
                <a:latin typeface="楷体_GB2312" pitchFamily="49" charset="-122"/>
              </a:rPr>
              <a:t>，求</a:t>
            </a:r>
            <a:r>
              <a:rPr lang="en-US" altLang="zh-CN">
                <a:latin typeface="楷体_GB2312" pitchFamily="49" charset="-122"/>
              </a:rPr>
              <a:t>cache/</a:t>
            </a:r>
            <a:r>
              <a:rPr lang="zh-CN" altLang="en-US">
                <a:latin typeface="楷体_GB2312" pitchFamily="49" charset="-122"/>
              </a:rPr>
              <a:t>主存系统的效率和平均访问时间。 </a:t>
            </a:r>
          </a:p>
          <a:p>
            <a:pPr eaLnBrk="0" hangingPunct="0">
              <a:spcBef>
                <a:spcPct val="50000"/>
              </a:spcBef>
            </a:pPr>
            <a:r>
              <a:rPr lang="en-US" altLang="zh-CN">
                <a:latin typeface="楷体_GB2312" pitchFamily="49" charset="-122"/>
              </a:rPr>
              <a:t>【</a:t>
            </a:r>
            <a:r>
              <a:rPr lang="zh-CN" altLang="en-US">
                <a:latin typeface="楷体_GB2312" pitchFamily="49" charset="-122"/>
              </a:rPr>
              <a:t>解</a:t>
            </a:r>
            <a:r>
              <a:rPr lang="en-US" altLang="zh-CN">
                <a:latin typeface="楷体_GB2312" pitchFamily="49" charset="-122"/>
              </a:rPr>
              <a:t>】</a:t>
            </a:r>
          </a:p>
          <a:p>
            <a:pPr eaLnBrk="0" hangingPunct="0">
              <a:spcBef>
                <a:spcPct val="50000"/>
              </a:spcBef>
            </a:pPr>
            <a:r>
              <a:rPr lang="en-US" altLang="zh-CN">
                <a:latin typeface="楷体_GB2312" pitchFamily="49" charset="-122"/>
              </a:rPr>
              <a:t>     h=Nc/(Nc+Nm)=2420/(2420+80)=0.968</a:t>
            </a:r>
          </a:p>
          <a:p>
            <a:pPr eaLnBrk="0" hangingPunct="0">
              <a:spcBef>
                <a:spcPct val="50000"/>
              </a:spcBef>
            </a:pPr>
            <a:r>
              <a:rPr lang="en-US" altLang="zh-CN">
                <a:latin typeface="楷体_GB2312" pitchFamily="49" charset="-122"/>
              </a:rPr>
              <a:t>     r=tm/tc=240ns/40ns=6</a:t>
            </a:r>
          </a:p>
          <a:p>
            <a:pPr eaLnBrk="0" hangingPunct="0">
              <a:spcBef>
                <a:spcPct val="50000"/>
              </a:spcBef>
            </a:pPr>
            <a:r>
              <a:rPr lang="en-US" altLang="zh-CN">
                <a:latin typeface="楷体_GB2312" pitchFamily="49" charset="-122"/>
              </a:rPr>
              <a:t>     e=1/(r+(1-r)h)=1/(6+(1-6)×0.968)=86.2%</a:t>
            </a:r>
          </a:p>
          <a:p>
            <a:pPr eaLnBrk="0" hangingPunct="0">
              <a:spcBef>
                <a:spcPct val="50000"/>
              </a:spcBef>
            </a:pPr>
            <a:r>
              <a:rPr lang="en-US" altLang="zh-CN">
                <a:latin typeface="楷体_GB2312" pitchFamily="49" charset="-122"/>
              </a:rPr>
              <a:t>     ta=tc/e=40ns/0.862=46.40ns</a:t>
            </a:r>
          </a:p>
          <a:p>
            <a:pPr eaLnBrk="0" hangingPunct="0">
              <a:spcBef>
                <a:spcPct val="50000"/>
              </a:spcBef>
            </a:pPr>
            <a:endParaRPr lang="en-US" altLang="zh-CN">
              <a:latin typeface="楷体_GB2312" pitchFamily="49" charset="-122"/>
            </a:endParaRPr>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BC4AA30C-1DA4-4BD7-A510-7B28D71963CF}" type="slidenum">
              <a:rPr lang="en-US" altLang="zh-CN"/>
              <a:pPr>
                <a:defRPr/>
              </a:pPr>
              <a:t>151</a:t>
            </a:fld>
            <a:endParaRPr lang="en-US" altLang="zh-CN"/>
          </a:p>
        </p:txBody>
      </p:sp>
      <p:sp>
        <p:nvSpPr>
          <p:cNvPr id="164867" name="Rectangle 4"/>
          <p:cNvSpPr>
            <a:spLocks noChangeArrowheads="1"/>
          </p:cNvSpPr>
          <p:nvPr/>
        </p:nvSpPr>
        <p:spPr bwMode="auto">
          <a:xfrm>
            <a:off x="250825" y="692150"/>
            <a:ext cx="60071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zh-CN" altLang="en-US" sz="4800" b="1">
                <a:solidFill>
                  <a:srgbClr val="3333CC"/>
                </a:solidFill>
                <a:latin typeface="楷体_GB2312" pitchFamily="49" charset="-122"/>
              </a:rPr>
              <a:t>第三章 存储系统要点</a:t>
            </a:r>
          </a:p>
        </p:txBody>
      </p:sp>
      <p:sp>
        <p:nvSpPr>
          <p:cNvPr id="164868" name="Rectangle 5"/>
          <p:cNvSpPr>
            <a:spLocks noChangeArrowheads="1"/>
          </p:cNvSpPr>
          <p:nvPr/>
        </p:nvSpPr>
        <p:spPr bwMode="auto">
          <a:xfrm>
            <a:off x="323850" y="2636838"/>
            <a:ext cx="7777163" cy="1739900"/>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altLang="zh-CN"/>
              <a:t>         </a:t>
            </a:r>
            <a:r>
              <a:rPr lang="zh-CN" altLang="en-US" sz="3600"/>
              <a:t>简要说明存储器层次结构、采用层次结构的目的，说明每一层次的存储器所用的存储介质的特性。</a:t>
            </a:r>
          </a:p>
        </p:txBody>
      </p:sp>
      <p:sp>
        <p:nvSpPr>
          <p:cNvPr id="164869" name="Rectangle 6"/>
          <p:cNvSpPr>
            <a:spLocks noChangeArrowheads="1"/>
          </p:cNvSpPr>
          <p:nvPr/>
        </p:nvSpPr>
        <p:spPr bwMode="auto">
          <a:xfrm>
            <a:off x="395288" y="1773238"/>
            <a:ext cx="6280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zh-CN" altLang="en-US" sz="4000"/>
              <a:t>一、掌握存储器的层次结构</a:t>
            </a:r>
          </a:p>
        </p:txBody>
      </p:sp>
      <p:sp>
        <p:nvSpPr>
          <p:cNvPr id="6" name="椭圆 5"/>
          <p:cNvSpPr/>
          <p:nvPr/>
        </p:nvSpPr>
        <p:spPr bwMode="auto">
          <a:xfrm>
            <a:off x="858454" y="2801456"/>
            <a:ext cx="329170" cy="339512"/>
          </a:xfrm>
          <a:prstGeom prst="ellipse">
            <a:avLst/>
          </a:prstGeom>
          <a:solidFill>
            <a:srgbClr val="FF0000"/>
          </a:solidFill>
          <a:ln w="9525" cap="flat" cmpd="sng" algn="ctr">
            <a:solidFill>
              <a:schemeClr val="tx1"/>
            </a:solidFill>
            <a:prstDash val="solid"/>
            <a:round/>
            <a:headEnd type="none" w="med" len="med"/>
            <a:tailEnd type="none" w="med" len="med"/>
          </a:ln>
          <a:effectLst>
            <a:glow rad="101600">
              <a:schemeClr val="accent2">
                <a:satMod val="175000"/>
                <a:alpha val="40000"/>
              </a:schemeClr>
            </a:glow>
            <a:softEdge rad="63500"/>
          </a:effectLst>
          <a:scene3d>
            <a:camera prst="orthographicFront"/>
            <a:lightRig rig="threePt" dir="t"/>
          </a:scene3d>
          <a:sp3d>
            <a:bevelT/>
          </a:sp3d>
          <a:extLst/>
        </p:spPr>
        <p:txBody>
          <a:bodyPr wrap="none"/>
          <a:lstStyle>
            <a:defPPr>
              <a:defRPr lang="zh-CN"/>
            </a:defPPr>
            <a:lvl1pPr algn="l" rtl="0" fontAlgn="base">
              <a:spcBef>
                <a:spcPct val="0"/>
              </a:spcBef>
              <a:spcAft>
                <a:spcPct val="0"/>
              </a:spcAft>
              <a:defRPr sz="2800" kern="1200">
                <a:solidFill>
                  <a:schemeClr val="tx1"/>
                </a:solidFill>
                <a:latin typeface="Arial" charset="0"/>
                <a:ea typeface="楷体_GB2312" pitchFamily="49" charset="-122"/>
                <a:cs typeface="+mn-cs"/>
              </a:defRPr>
            </a:lvl1pPr>
            <a:lvl2pPr marL="457200" algn="l" rtl="0" fontAlgn="base">
              <a:spcBef>
                <a:spcPct val="0"/>
              </a:spcBef>
              <a:spcAft>
                <a:spcPct val="0"/>
              </a:spcAft>
              <a:defRPr sz="2800" kern="1200">
                <a:solidFill>
                  <a:schemeClr val="tx1"/>
                </a:solidFill>
                <a:latin typeface="Arial" charset="0"/>
                <a:ea typeface="楷体_GB2312" pitchFamily="49" charset="-122"/>
                <a:cs typeface="+mn-cs"/>
              </a:defRPr>
            </a:lvl2pPr>
            <a:lvl3pPr marL="914400" algn="l" rtl="0" fontAlgn="base">
              <a:spcBef>
                <a:spcPct val="0"/>
              </a:spcBef>
              <a:spcAft>
                <a:spcPct val="0"/>
              </a:spcAft>
              <a:defRPr sz="2800" kern="1200">
                <a:solidFill>
                  <a:schemeClr val="tx1"/>
                </a:solidFill>
                <a:latin typeface="Arial" charset="0"/>
                <a:ea typeface="楷体_GB2312" pitchFamily="49" charset="-122"/>
                <a:cs typeface="+mn-cs"/>
              </a:defRPr>
            </a:lvl3pPr>
            <a:lvl4pPr marL="1371600" algn="l" rtl="0" fontAlgn="base">
              <a:spcBef>
                <a:spcPct val="0"/>
              </a:spcBef>
              <a:spcAft>
                <a:spcPct val="0"/>
              </a:spcAft>
              <a:defRPr sz="2800" kern="1200">
                <a:solidFill>
                  <a:schemeClr val="tx1"/>
                </a:solidFill>
                <a:latin typeface="Arial" charset="0"/>
                <a:ea typeface="楷体_GB2312" pitchFamily="49" charset="-122"/>
                <a:cs typeface="+mn-cs"/>
              </a:defRPr>
            </a:lvl4pPr>
            <a:lvl5pPr marL="1828800" algn="l" rtl="0" fontAlgn="base">
              <a:spcBef>
                <a:spcPct val="0"/>
              </a:spcBef>
              <a:spcAft>
                <a:spcPct val="0"/>
              </a:spcAft>
              <a:defRPr sz="2800" kern="1200">
                <a:solidFill>
                  <a:schemeClr val="tx1"/>
                </a:solidFill>
                <a:latin typeface="Arial" charset="0"/>
                <a:ea typeface="楷体_GB2312" pitchFamily="49" charset="-122"/>
                <a:cs typeface="+mn-cs"/>
              </a:defRPr>
            </a:lvl5pPr>
            <a:lvl6pPr marL="2286000" algn="l" defTabSz="914400" rtl="0" eaLnBrk="1" latinLnBrk="0" hangingPunct="1">
              <a:defRPr sz="2800" kern="1200">
                <a:solidFill>
                  <a:schemeClr val="tx1"/>
                </a:solidFill>
                <a:latin typeface="Arial" charset="0"/>
                <a:ea typeface="楷体_GB2312" pitchFamily="49" charset="-122"/>
                <a:cs typeface="+mn-cs"/>
              </a:defRPr>
            </a:lvl6pPr>
            <a:lvl7pPr marL="2743200" algn="l" defTabSz="914400" rtl="0" eaLnBrk="1" latinLnBrk="0" hangingPunct="1">
              <a:defRPr sz="2800" kern="1200">
                <a:solidFill>
                  <a:schemeClr val="tx1"/>
                </a:solidFill>
                <a:latin typeface="Arial" charset="0"/>
                <a:ea typeface="楷体_GB2312" pitchFamily="49" charset="-122"/>
                <a:cs typeface="+mn-cs"/>
              </a:defRPr>
            </a:lvl7pPr>
            <a:lvl8pPr marL="3200400" algn="l" defTabSz="914400" rtl="0" eaLnBrk="1" latinLnBrk="0" hangingPunct="1">
              <a:defRPr sz="2800" kern="1200">
                <a:solidFill>
                  <a:schemeClr val="tx1"/>
                </a:solidFill>
                <a:latin typeface="Arial" charset="0"/>
                <a:ea typeface="楷体_GB2312" pitchFamily="49" charset="-122"/>
                <a:cs typeface="+mn-cs"/>
              </a:defRPr>
            </a:lvl8pPr>
            <a:lvl9pPr marL="3657600" algn="l" defTabSz="914400" rtl="0" eaLnBrk="1" latinLnBrk="0" hangingPunct="1">
              <a:defRPr sz="2800" kern="1200">
                <a:solidFill>
                  <a:schemeClr val="tx1"/>
                </a:solidFill>
                <a:latin typeface="Arial" charset="0"/>
                <a:ea typeface="楷体_GB2312" pitchFamily="49" charset="-122"/>
                <a:cs typeface="+mn-cs"/>
              </a:defRPr>
            </a:lvl9pPr>
          </a:lstStyle>
          <a:p>
            <a:pPr>
              <a:defRPr/>
            </a:pPr>
            <a:endParaRPr lang="zh-CN" altLang="en-US"/>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304279AC-A700-4D7C-8B17-4981EB4B89DB}" type="slidenum">
              <a:rPr lang="en-US" altLang="zh-CN"/>
              <a:pPr>
                <a:defRPr/>
              </a:pPr>
              <a:t>152</a:t>
            </a:fld>
            <a:endParaRPr lang="en-US" altLang="zh-CN"/>
          </a:p>
        </p:txBody>
      </p:sp>
      <p:sp>
        <p:nvSpPr>
          <p:cNvPr id="165891" name="Rectangle 4"/>
          <p:cNvSpPr>
            <a:spLocks noChangeArrowheads="1"/>
          </p:cNvSpPr>
          <p:nvPr/>
        </p:nvSpPr>
        <p:spPr bwMode="auto">
          <a:xfrm>
            <a:off x="250825" y="404813"/>
            <a:ext cx="8713788" cy="5940425"/>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indent="533400"/>
            <a:r>
              <a:rPr lang="en-US" altLang="zh-CN" sz="3200" dirty="0">
                <a:latin typeface="楷体_GB2312" pitchFamily="49" charset="-122"/>
              </a:rPr>
              <a:t>  </a:t>
            </a:r>
            <a:r>
              <a:rPr lang="zh-CN" altLang="en-US" sz="3200" dirty="0">
                <a:latin typeface="楷体_GB2312" pitchFamily="49" charset="-122"/>
              </a:rPr>
              <a:t>计算机存储系统中，一般分为高速缓冲存储器、主存储器和辅助存储器三个层次。</a:t>
            </a:r>
          </a:p>
          <a:p>
            <a:pPr indent="533400"/>
            <a:r>
              <a:rPr lang="zh-CN" altLang="en-US" sz="3200" dirty="0">
                <a:latin typeface="楷体_GB2312" pitchFamily="49" charset="-122"/>
              </a:rPr>
              <a:t> 采用层次模型的目标是为了解决对存储器要求容量大，速度快，成本低三者之间的矛盾，即在合理的成本范围内，通过对各级存储器的容量配置，达到可接受的性能。</a:t>
            </a:r>
          </a:p>
          <a:p>
            <a:pPr indent="533400"/>
            <a:r>
              <a:rPr lang="zh-CN" altLang="en-US" sz="3200" dirty="0">
                <a:latin typeface="楷体_GB2312" pitchFamily="49" charset="-122"/>
              </a:rPr>
              <a:t> 高速缓冲存储器：即</a:t>
            </a:r>
            <a:r>
              <a:rPr lang="en-US" altLang="zh-CN" sz="3200" dirty="0">
                <a:latin typeface="楷体_GB2312" pitchFamily="49" charset="-122"/>
              </a:rPr>
              <a:t>cache</a:t>
            </a:r>
            <a:r>
              <a:rPr lang="zh-CN" altLang="en-US" sz="3200" dirty="0">
                <a:latin typeface="楷体_GB2312" pitchFamily="49" charset="-122"/>
              </a:rPr>
              <a:t>，它一般用的是</a:t>
            </a:r>
            <a:r>
              <a:rPr lang="en-US" altLang="zh-CN" sz="3200" dirty="0">
                <a:latin typeface="楷体_GB2312" pitchFamily="49" charset="-122"/>
              </a:rPr>
              <a:t>SRAM</a:t>
            </a:r>
            <a:r>
              <a:rPr lang="zh-CN" altLang="en-US" sz="3200" dirty="0">
                <a:latin typeface="楷体_GB2312" pitchFamily="49" charset="-122"/>
              </a:rPr>
              <a:t>，其特点是速度快、价格高。</a:t>
            </a:r>
          </a:p>
          <a:p>
            <a:pPr indent="533400"/>
            <a:r>
              <a:rPr lang="zh-CN" altLang="en-US" sz="3200" dirty="0">
                <a:latin typeface="楷体_GB2312" pitchFamily="49" charset="-122"/>
              </a:rPr>
              <a:t> 主存储器：一般是</a:t>
            </a:r>
            <a:r>
              <a:rPr lang="en-US" altLang="zh-CN" sz="3200" dirty="0">
                <a:latin typeface="楷体_GB2312" pitchFamily="49" charset="-122"/>
              </a:rPr>
              <a:t>DRAM</a:t>
            </a:r>
            <a:r>
              <a:rPr lang="zh-CN" altLang="en-US" sz="3200" dirty="0">
                <a:latin typeface="楷体_GB2312" pitchFamily="49" charset="-122"/>
              </a:rPr>
              <a:t>，其速度相对快，价格居中。</a:t>
            </a:r>
          </a:p>
          <a:p>
            <a:pPr indent="533400"/>
            <a:r>
              <a:rPr lang="zh-CN" altLang="en-US" sz="3200" dirty="0">
                <a:latin typeface="楷体_GB2312" pitchFamily="49" charset="-122"/>
              </a:rPr>
              <a:t> 辅助存储器：一般是硬盘，可以断电后保存数据，容量大，但速度慢。</a:t>
            </a:r>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30C83422-00BE-4BB4-B18D-BB6ABE51B77A}" type="slidenum">
              <a:rPr lang="en-US" altLang="zh-CN"/>
              <a:pPr>
                <a:defRPr/>
              </a:pPr>
              <a:t>153</a:t>
            </a:fld>
            <a:endParaRPr lang="en-US" altLang="zh-CN"/>
          </a:p>
        </p:txBody>
      </p:sp>
      <p:sp>
        <p:nvSpPr>
          <p:cNvPr id="166915" name="Rectangle 4"/>
          <p:cNvSpPr>
            <a:spLocks noChangeArrowheads="1"/>
          </p:cNvSpPr>
          <p:nvPr/>
        </p:nvSpPr>
        <p:spPr bwMode="auto">
          <a:xfrm>
            <a:off x="468313" y="2565400"/>
            <a:ext cx="7920037" cy="1920875"/>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indent="266700">
              <a:tabLst>
                <a:tab pos="266700" algn="l"/>
              </a:tabLst>
            </a:pPr>
            <a:r>
              <a:rPr lang="en-US" altLang="zh-CN" sz="4000">
                <a:latin typeface="楷体_GB2312" pitchFamily="49" charset="-122"/>
              </a:rPr>
              <a:t>   </a:t>
            </a:r>
            <a:r>
              <a:rPr lang="zh-CN" altLang="en-US" sz="4000">
                <a:latin typeface="楷体_GB2312" pitchFamily="49" charset="-122"/>
              </a:rPr>
              <a:t>比较</a:t>
            </a:r>
            <a:r>
              <a:rPr lang="en-US" altLang="zh-CN" sz="4000">
                <a:latin typeface="楷体_GB2312" pitchFamily="49" charset="-122"/>
              </a:rPr>
              <a:t>SRAM</a:t>
            </a:r>
            <a:r>
              <a:rPr lang="zh-CN" altLang="en-US" sz="4000">
                <a:latin typeface="楷体_GB2312" pitchFamily="49" charset="-122"/>
              </a:rPr>
              <a:t>和</a:t>
            </a:r>
            <a:r>
              <a:rPr lang="en-US" altLang="zh-CN" sz="4000">
                <a:latin typeface="楷体_GB2312" pitchFamily="49" charset="-122"/>
              </a:rPr>
              <a:t>DRAM</a:t>
            </a:r>
            <a:r>
              <a:rPr lang="zh-CN" altLang="en-US" sz="4000">
                <a:latin typeface="楷体_GB2312" pitchFamily="49" charset="-122"/>
              </a:rPr>
              <a:t>的主要特性，用其组成系统时，从设计和使用角度看两者有何区别。</a:t>
            </a:r>
          </a:p>
        </p:txBody>
      </p:sp>
      <p:sp>
        <p:nvSpPr>
          <p:cNvPr id="166916" name="Rectangle 5"/>
          <p:cNvSpPr>
            <a:spLocks noChangeArrowheads="1"/>
          </p:cNvSpPr>
          <p:nvPr/>
        </p:nvSpPr>
        <p:spPr bwMode="auto">
          <a:xfrm>
            <a:off x="250825" y="404813"/>
            <a:ext cx="78486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sz="3600">
                <a:latin typeface="楷体_GB2312" pitchFamily="49" charset="-122"/>
              </a:rPr>
              <a:t>二</a:t>
            </a:r>
            <a:r>
              <a:rPr lang="en-US" altLang="zh-CN" sz="3600">
                <a:latin typeface="楷体_GB2312" pitchFamily="49" charset="-122"/>
              </a:rPr>
              <a:t>.</a:t>
            </a:r>
            <a:r>
              <a:rPr lang="zh-CN" altLang="en-US" sz="3600">
                <a:latin typeface="楷体_GB2312" pitchFamily="49" charset="-122"/>
              </a:rPr>
              <a:t>了解具体存储器的工作原理、特点</a:t>
            </a:r>
          </a:p>
          <a:p>
            <a:r>
              <a:rPr lang="zh-CN" altLang="en-US" sz="3600">
                <a:latin typeface="楷体_GB2312" pitchFamily="49" charset="-122"/>
              </a:rPr>
              <a:t>    </a:t>
            </a:r>
            <a:r>
              <a:rPr lang="en-US" altLang="zh-CN" sz="3600">
                <a:latin typeface="楷体_GB2312" pitchFamily="49" charset="-122"/>
              </a:rPr>
              <a:t>(SRAM</a:t>
            </a:r>
            <a:r>
              <a:rPr lang="zh-CN" altLang="en-US" sz="3600">
                <a:latin typeface="楷体_GB2312" pitchFamily="49" charset="-122"/>
              </a:rPr>
              <a:t>、</a:t>
            </a:r>
            <a:r>
              <a:rPr lang="en-US" altLang="zh-CN" sz="3600">
                <a:latin typeface="楷体_GB2312" pitchFamily="49" charset="-122"/>
              </a:rPr>
              <a:t>DRAM</a:t>
            </a:r>
            <a:r>
              <a:rPr lang="zh-CN" altLang="en-US" sz="3600">
                <a:latin typeface="楷体_GB2312" pitchFamily="49" charset="-122"/>
              </a:rPr>
              <a:t>、</a:t>
            </a:r>
            <a:r>
              <a:rPr lang="en-US" altLang="zh-CN" sz="3600">
                <a:latin typeface="楷体_GB2312" pitchFamily="49" charset="-122"/>
              </a:rPr>
              <a:t>EEPROM</a:t>
            </a:r>
            <a:r>
              <a:rPr lang="zh-CN" altLang="en-US" sz="3600">
                <a:latin typeface="楷体_GB2312" pitchFamily="49" charset="-122"/>
              </a:rPr>
              <a:t>、</a:t>
            </a:r>
            <a:r>
              <a:rPr lang="en-US" altLang="zh-CN" sz="3600">
                <a:latin typeface="楷体_GB2312" pitchFamily="49" charset="-122"/>
              </a:rPr>
              <a:t>FLASH)</a:t>
            </a:r>
          </a:p>
          <a:p>
            <a:r>
              <a:rPr lang="en-US" altLang="zh-CN" sz="3600">
                <a:latin typeface="楷体_GB2312" pitchFamily="49" charset="-122"/>
              </a:rPr>
              <a:t>    </a:t>
            </a:r>
            <a:r>
              <a:rPr lang="zh-CN" altLang="en-US" sz="3600">
                <a:latin typeface="楷体_GB2312" pitchFamily="49" charset="-122"/>
              </a:rPr>
              <a:t>掌握存储器的扩展方法</a:t>
            </a:r>
          </a:p>
        </p:txBody>
      </p:sp>
      <p:sp>
        <p:nvSpPr>
          <p:cNvPr id="5" name="椭圆 4"/>
          <p:cNvSpPr/>
          <p:nvPr/>
        </p:nvSpPr>
        <p:spPr bwMode="auto">
          <a:xfrm>
            <a:off x="1131837" y="2773175"/>
            <a:ext cx="329170" cy="339512"/>
          </a:xfrm>
          <a:prstGeom prst="ellipse">
            <a:avLst/>
          </a:prstGeom>
          <a:solidFill>
            <a:srgbClr val="FF0000"/>
          </a:solidFill>
          <a:ln w="9525" cap="flat" cmpd="sng" algn="ctr">
            <a:solidFill>
              <a:schemeClr val="tx1"/>
            </a:solidFill>
            <a:prstDash val="solid"/>
            <a:round/>
            <a:headEnd type="none" w="med" len="med"/>
            <a:tailEnd type="none" w="med" len="med"/>
          </a:ln>
          <a:effectLst>
            <a:glow rad="101600">
              <a:schemeClr val="accent2">
                <a:satMod val="175000"/>
                <a:alpha val="40000"/>
              </a:schemeClr>
            </a:glow>
            <a:softEdge rad="63500"/>
          </a:effectLst>
          <a:scene3d>
            <a:camera prst="orthographicFront"/>
            <a:lightRig rig="threePt" dir="t"/>
          </a:scene3d>
          <a:sp3d>
            <a:bevelT/>
          </a:sp3d>
          <a:extLst/>
        </p:spPr>
        <p:txBody>
          <a:bodyPr wrap="none"/>
          <a:lstStyle>
            <a:defPPr>
              <a:defRPr lang="zh-CN"/>
            </a:defPPr>
            <a:lvl1pPr algn="l" rtl="0" fontAlgn="base">
              <a:spcBef>
                <a:spcPct val="0"/>
              </a:spcBef>
              <a:spcAft>
                <a:spcPct val="0"/>
              </a:spcAft>
              <a:defRPr sz="2800" kern="1200">
                <a:solidFill>
                  <a:schemeClr val="tx1"/>
                </a:solidFill>
                <a:latin typeface="Arial" charset="0"/>
                <a:ea typeface="楷体_GB2312" pitchFamily="49" charset="-122"/>
                <a:cs typeface="+mn-cs"/>
              </a:defRPr>
            </a:lvl1pPr>
            <a:lvl2pPr marL="457200" algn="l" rtl="0" fontAlgn="base">
              <a:spcBef>
                <a:spcPct val="0"/>
              </a:spcBef>
              <a:spcAft>
                <a:spcPct val="0"/>
              </a:spcAft>
              <a:defRPr sz="2800" kern="1200">
                <a:solidFill>
                  <a:schemeClr val="tx1"/>
                </a:solidFill>
                <a:latin typeface="Arial" charset="0"/>
                <a:ea typeface="楷体_GB2312" pitchFamily="49" charset="-122"/>
                <a:cs typeface="+mn-cs"/>
              </a:defRPr>
            </a:lvl2pPr>
            <a:lvl3pPr marL="914400" algn="l" rtl="0" fontAlgn="base">
              <a:spcBef>
                <a:spcPct val="0"/>
              </a:spcBef>
              <a:spcAft>
                <a:spcPct val="0"/>
              </a:spcAft>
              <a:defRPr sz="2800" kern="1200">
                <a:solidFill>
                  <a:schemeClr val="tx1"/>
                </a:solidFill>
                <a:latin typeface="Arial" charset="0"/>
                <a:ea typeface="楷体_GB2312" pitchFamily="49" charset="-122"/>
                <a:cs typeface="+mn-cs"/>
              </a:defRPr>
            </a:lvl3pPr>
            <a:lvl4pPr marL="1371600" algn="l" rtl="0" fontAlgn="base">
              <a:spcBef>
                <a:spcPct val="0"/>
              </a:spcBef>
              <a:spcAft>
                <a:spcPct val="0"/>
              </a:spcAft>
              <a:defRPr sz="2800" kern="1200">
                <a:solidFill>
                  <a:schemeClr val="tx1"/>
                </a:solidFill>
                <a:latin typeface="Arial" charset="0"/>
                <a:ea typeface="楷体_GB2312" pitchFamily="49" charset="-122"/>
                <a:cs typeface="+mn-cs"/>
              </a:defRPr>
            </a:lvl4pPr>
            <a:lvl5pPr marL="1828800" algn="l" rtl="0" fontAlgn="base">
              <a:spcBef>
                <a:spcPct val="0"/>
              </a:spcBef>
              <a:spcAft>
                <a:spcPct val="0"/>
              </a:spcAft>
              <a:defRPr sz="2800" kern="1200">
                <a:solidFill>
                  <a:schemeClr val="tx1"/>
                </a:solidFill>
                <a:latin typeface="Arial" charset="0"/>
                <a:ea typeface="楷体_GB2312" pitchFamily="49" charset="-122"/>
                <a:cs typeface="+mn-cs"/>
              </a:defRPr>
            </a:lvl5pPr>
            <a:lvl6pPr marL="2286000" algn="l" defTabSz="914400" rtl="0" eaLnBrk="1" latinLnBrk="0" hangingPunct="1">
              <a:defRPr sz="2800" kern="1200">
                <a:solidFill>
                  <a:schemeClr val="tx1"/>
                </a:solidFill>
                <a:latin typeface="Arial" charset="0"/>
                <a:ea typeface="楷体_GB2312" pitchFamily="49" charset="-122"/>
                <a:cs typeface="+mn-cs"/>
              </a:defRPr>
            </a:lvl6pPr>
            <a:lvl7pPr marL="2743200" algn="l" defTabSz="914400" rtl="0" eaLnBrk="1" latinLnBrk="0" hangingPunct="1">
              <a:defRPr sz="2800" kern="1200">
                <a:solidFill>
                  <a:schemeClr val="tx1"/>
                </a:solidFill>
                <a:latin typeface="Arial" charset="0"/>
                <a:ea typeface="楷体_GB2312" pitchFamily="49" charset="-122"/>
                <a:cs typeface="+mn-cs"/>
              </a:defRPr>
            </a:lvl7pPr>
            <a:lvl8pPr marL="3200400" algn="l" defTabSz="914400" rtl="0" eaLnBrk="1" latinLnBrk="0" hangingPunct="1">
              <a:defRPr sz="2800" kern="1200">
                <a:solidFill>
                  <a:schemeClr val="tx1"/>
                </a:solidFill>
                <a:latin typeface="Arial" charset="0"/>
                <a:ea typeface="楷体_GB2312" pitchFamily="49" charset="-122"/>
                <a:cs typeface="+mn-cs"/>
              </a:defRPr>
            </a:lvl8pPr>
            <a:lvl9pPr marL="3657600" algn="l" defTabSz="914400" rtl="0" eaLnBrk="1" latinLnBrk="0" hangingPunct="1">
              <a:defRPr sz="2800" kern="1200">
                <a:solidFill>
                  <a:schemeClr val="tx1"/>
                </a:solidFill>
                <a:latin typeface="Arial" charset="0"/>
                <a:ea typeface="楷体_GB2312" pitchFamily="49" charset="-122"/>
                <a:cs typeface="+mn-cs"/>
              </a:defRPr>
            </a:lvl9pPr>
          </a:lstStyle>
          <a:p>
            <a:pPr>
              <a:defRPr/>
            </a:pPr>
            <a:endParaRPr lang="zh-CN" altLang="en-US"/>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灯片编号占位符 3"/>
          <p:cNvSpPr>
            <a:spLocks noGrp="1"/>
          </p:cNvSpPr>
          <p:nvPr>
            <p:ph type="sldNum" sz="quarter" idx="12"/>
          </p:nvPr>
        </p:nvSpPr>
        <p:spPr/>
        <p:txBody>
          <a:bodyPr/>
          <a:lstStyle/>
          <a:p>
            <a:pPr>
              <a:defRPr/>
            </a:pPr>
            <a:fld id="{FDE474DF-CF34-4F88-BD40-5B91AF485FA4}" type="slidenum">
              <a:rPr lang="en-US" altLang="zh-CN"/>
              <a:pPr>
                <a:defRPr/>
              </a:pPr>
              <a:t>154</a:t>
            </a:fld>
            <a:endParaRPr lang="en-US" altLang="zh-CN"/>
          </a:p>
        </p:txBody>
      </p:sp>
      <p:sp>
        <p:nvSpPr>
          <p:cNvPr id="167939" name="Rectangle 2"/>
          <p:cNvSpPr>
            <a:spLocks noChangeArrowheads="1"/>
          </p:cNvSpPr>
          <p:nvPr/>
        </p:nvSpPr>
        <p:spPr bwMode="auto">
          <a:xfrm>
            <a:off x="323850" y="404813"/>
            <a:ext cx="5213350" cy="579437"/>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p>
            <a:pPr eaLnBrk="0" hangingPunct="0"/>
            <a:r>
              <a:rPr lang="en-US" altLang="zh-CN" sz="3200">
                <a:latin typeface="楷体_GB2312" pitchFamily="49" charset="-122"/>
                <a:cs typeface="Times New Roman" charset="0"/>
              </a:rPr>
              <a:t>(1)SRAM</a:t>
            </a:r>
            <a:r>
              <a:rPr lang="zh-CN" altLang="en-US" sz="3200">
                <a:latin typeface="楷体_GB2312" pitchFamily="49" charset="-122"/>
                <a:cs typeface="Times New Roman" charset="0"/>
              </a:rPr>
              <a:t>和</a:t>
            </a:r>
            <a:r>
              <a:rPr lang="en-US" altLang="zh-CN" sz="3200">
                <a:latin typeface="楷体_GB2312" pitchFamily="49" charset="-122"/>
                <a:cs typeface="Times New Roman" charset="0"/>
              </a:rPr>
              <a:t>DRAM</a:t>
            </a:r>
            <a:r>
              <a:rPr lang="zh-CN" altLang="en-US" sz="3200">
                <a:latin typeface="楷体_GB2312" pitchFamily="49" charset="-122"/>
                <a:cs typeface="Times New Roman" charset="0"/>
              </a:rPr>
              <a:t>的主要性能</a:t>
            </a:r>
            <a:r>
              <a:rPr lang="zh-CN" altLang="en-US">
                <a:latin typeface="楷体_GB2312" pitchFamily="49" charset="-122"/>
                <a:cs typeface="Times New Roman" charset="0"/>
              </a:rPr>
              <a:t>  </a:t>
            </a:r>
          </a:p>
        </p:txBody>
      </p:sp>
      <p:graphicFrame>
        <p:nvGraphicFramePr>
          <p:cNvPr id="148678" name="Group 198"/>
          <p:cNvGraphicFramePr>
            <a:graphicFrameLocks noGrp="1"/>
          </p:cNvGraphicFramePr>
          <p:nvPr/>
        </p:nvGraphicFramePr>
        <p:xfrm>
          <a:off x="323850" y="1125538"/>
          <a:ext cx="8064500" cy="5181600"/>
        </p:xfrm>
        <a:graphic>
          <a:graphicData uri="http://schemas.openxmlformats.org/drawingml/2006/table">
            <a:tbl>
              <a:tblPr/>
              <a:tblGrid>
                <a:gridCol w="2687638"/>
                <a:gridCol w="2689225"/>
                <a:gridCol w="2687637"/>
              </a:tblGrid>
              <a:tr h="50323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区别</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SRAM</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DRAM</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r>
              <a:tr h="27146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特性</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静态存储器</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动态存储器</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r>
              <a:tr h="27146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存储信息</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触发器</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电容</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r>
              <a:tr h="27146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破坏性读出</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非</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是</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r>
              <a:tr h="27146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需要刷新</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不要</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需要</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r>
              <a:tr h="27146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送行列地址</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同时送</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分两次送</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r>
              <a:tr h="26987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运行速度</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快</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慢</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r>
              <a:tr h="27146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集成度</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低</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高</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r>
              <a:tr h="27146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发热量</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大</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小</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r>
              <a:tr h="27146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存储成本</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高</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chemeClr val="tx1"/>
                          </a:solidFill>
                          <a:effectLst/>
                          <a:latin typeface="楷体_GB2312" pitchFamily="49" charset="-122"/>
                          <a:ea typeface="楷体_GB2312" pitchFamily="49" charset="-122"/>
                          <a:cs typeface="Times New Roman" pitchFamily="18" charset="0"/>
                        </a:rPr>
                        <a:t>低</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folHlink"/>
                    </a:solidFill>
                  </a:tcPr>
                </a:tc>
              </a:tr>
            </a:tbl>
          </a:graphicData>
        </a:graphic>
      </p:graphicFrame>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478F5E49-137F-4150-BBBF-58326336F5A6}" type="slidenum">
              <a:rPr lang="en-US" altLang="zh-CN"/>
              <a:pPr>
                <a:defRPr/>
              </a:pPr>
              <a:t>155</a:t>
            </a:fld>
            <a:endParaRPr lang="en-US" altLang="zh-CN"/>
          </a:p>
        </p:txBody>
      </p:sp>
      <p:sp>
        <p:nvSpPr>
          <p:cNvPr id="168963" name="Rectangle 2"/>
          <p:cNvSpPr>
            <a:spLocks noChangeArrowheads="1"/>
          </p:cNvSpPr>
          <p:nvPr/>
        </p:nvSpPr>
        <p:spPr bwMode="auto">
          <a:xfrm>
            <a:off x="250825" y="1412875"/>
            <a:ext cx="8351838" cy="3749675"/>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eaLnBrk="0" hangingPunct="0"/>
            <a:r>
              <a:rPr lang="en-US" altLang="zh-CN" sz="4000">
                <a:latin typeface="楷体_GB2312" pitchFamily="49" charset="-122"/>
                <a:cs typeface="Times New Roman" charset="0"/>
              </a:rPr>
              <a:t>(2)SRAM</a:t>
            </a:r>
            <a:r>
              <a:rPr lang="zh-CN" altLang="en-US" sz="4000">
                <a:latin typeface="楷体_GB2312" pitchFamily="49" charset="-122"/>
                <a:cs typeface="Times New Roman" charset="0"/>
              </a:rPr>
              <a:t>器件的特点是速度快、 </a:t>
            </a:r>
          </a:p>
          <a:p>
            <a:pPr eaLnBrk="0" hangingPunct="0"/>
            <a:r>
              <a:rPr lang="zh-CN" altLang="en-US" sz="4000">
                <a:latin typeface="楷体_GB2312" pitchFamily="49" charset="-122"/>
                <a:cs typeface="Times New Roman" charset="0"/>
              </a:rPr>
              <a:t>不用刷新，但集成度不高，价格贵。它一般用于做高速缓存。</a:t>
            </a:r>
          </a:p>
          <a:p>
            <a:pPr eaLnBrk="0" hangingPunct="0"/>
            <a:r>
              <a:rPr lang="zh-CN" altLang="en-US" sz="4000">
                <a:latin typeface="楷体_GB2312" pitchFamily="49" charset="-122"/>
                <a:cs typeface="Times New Roman" charset="0"/>
              </a:rPr>
              <a:t>    </a:t>
            </a:r>
            <a:r>
              <a:rPr lang="en-US" altLang="zh-CN" sz="4000">
                <a:latin typeface="楷体_GB2312" pitchFamily="49" charset="-122"/>
                <a:cs typeface="Times New Roman" charset="0"/>
              </a:rPr>
              <a:t>DRAM</a:t>
            </a:r>
            <a:r>
              <a:rPr lang="zh-CN" altLang="en-US" sz="4000">
                <a:latin typeface="楷体_GB2312" pitchFamily="49" charset="-122"/>
                <a:cs typeface="Times New Roman" charset="0"/>
              </a:rPr>
              <a:t>器件的特点是相对廉价和大容量，但须定时刷新。它一般用于做主存储器。</a:t>
            </a:r>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53B9745F-DEB8-4A1F-BD9E-E31408CCC240}" type="slidenum">
              <a:rPr lang="en-US" altLang="zh-CN"/>
              <a:pPr>
                <a:defRPr/>
              </a:pPr>
              <a:t>156</a:t>
            </a:fld>
            <a:endParaRPr lang="en-US" altLang="zh-CN"/>
          </a:p>
        </p:txBody>
      </p:sp>
      <p:sp>
        <p:nvSpPr>
          <p:cNvPr id="169987" name="Rectangle 2"/>
          <p:cNvSpPr>
            <a:spLocks noChangeArrowheads="1"/>
          </p:cNvSpPr>
          <p:nvPr/>
        </p:nvSpPr>
        <p:spPr bwMode="auto">
          <a:xfrm>
            <a:off x="250825" y="2636838"/>
            <a:ext cx="8569325" cy="2289175"/>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indent="266700"/>
            <a:r>
              <a:rPr lang="en-US" altLang="zh-CN" sz="3600">
                <a:latin typeface="楷体_GB2312" pitchFamily="49" charset="-122"/>
              </a:rPr>
              <a:t>(1)</a:t>
            </a:r>
            <a:r>
              <a:rPr lang="zh-CN" altLang="en-US" sz="3600">
                <a:latin typeface="楷体_GB2312" pitchFamily="49" charset="-122"/>
              </a:rPr>
              <a:t>采用更高速的存储器或加长存储器字</a:t>
            </a:r>
          </a:p>
          <a:p>
            <a:pPr indent="266700"/>
            <a:r>
              <a:rPr lang="en-US" altLang="zh-CN" sz="3600">
                <a:latin typeface="楷体_GB2312" pitchFamily="49" charset="-122"/>
              </a:rPr>
              <a:t>(2)</a:t>
            </a:r>
            <a:r>
              <a:rPr lang="zh-CN" altLang="en-US" sz="3600">
                <a:latin typeface="楷体_GB2312" pitchFamily="49" charset="-122"/>
              </a:rPr>
              <a:t>采用并行操作的双端口存储器</a:t>
            </a:r>
          </a:p>
          <a:p>
            <a:pPr indent="266700"/>
            <a:r>
              <a:rPr lang="en-US" altLang="zh-CN" sz="3600">
                <a:latin typeface="楷体_GB2312" pitchFamily="49" charset="-122"/>
              </a:rPr>
              <a:t>(3)</a:t>
            </a:r>
            <a:r>
              <a:rPr lang="zh-CN" altLang="en-US" sz="3600">
                <a:latin typeface="楷体_GB2312" pitchFamily="49" charset="-122"/>
              </a:rPr>
              <a:t>采用</a:t>
            </a:r>
            <a:r>
              <a:rPr lang="en-US" altLang="zh-CN" sz="3600">
                <a:latin typeface="楷体_GB2312" pitchFamily="49" charset="-122"/>
              </a:rPr>
              <a:t>cache</a:t>
            </a:r>
          </a:p>
          <a:p>
            <a:pPr indent="266700"/>
            <a:r>
              <a:rPr lang="en-US" altLang="zh-CN" sz="3600">
                <a:latin typeface="楷体_GB2312" pitchFamily="49" charset="-122"/>
              </a:rPr>
              <a:t>(4)</a:t>
            </a:r>
            <a:r>
              <a:rPr lang="zh-CN" altLang="en-US" sz="3600">
                <a:latin typeface="楷体_GB2312" pitchFamily="49" charset="-122"/>
              </a:rPr>
              <a:t>采用交叉存储器</a:t>
            </a:r>
          </a:p>
        </p:txBody>
      </p:sp>
      <p:sp>
        <p:nvSpPr>
          <p:cNvPr id="169988" name="Rectangle 3"/>
          <p:cNvSpPr>
            <a:spLocks noChangeArrowheads="1"/>
          </p:cNvSpPr>
          <p:nvPr/>
        </p:nvSpPr>
        <p:spPr bwMode="auto">
          <a:xfrm>
            <a:off x="0" y="333375"/>
            <a:ext cx="8424863"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zh-CN" altLang="en-US" sz="4000"/>
              <a:t>三</a:t>
            </a:r>
            <a:r>
              <a:rPr lang="en-US" altLang="zh-CN" sz="4000"/>
              <a:t>. </a:t>
            </a:r>
            <a:r>
              <a:rPr lang="zh-CN" altLang="en-US" sz="4000"/>
              <a:t>了解提高存储器速度的方法； </a:t>
            </a:r>
          </a:p>
          <a:p>
            <a:r>
              <a:rPr lang="zh-CN" altLang="en-US" sz="4000"/>
              <a:t>     理解双端口存储器工作原理； </a:t>
            </a:r>
          </a:p>
          <a:p>
            <a:r>
              <a:rPr lang="zh-CN" altLang="en-US" sz="4000"/>
              <a:t>     掌握多模块交叉存储器工作原理</a:t>
            </a:r>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69BB86A7-3F13-4BC0-86A1-F974636092F2}" type="slidenum">
              <a:rPr lang="en-US" altLang="zh-CN"/>
              <a:pPr>
                <a:defRPr/>
              </a:pPr>
              <a:t>157</a:t>
            </a:fld>
            <a:endParaRPr lang="en-US" altLang="zh-CN"/>
          </a:p>
        </p:txBody>
      </p:sp>
      <p:sp>
        <p:nvSpPr>
          <p:cNvPr id="171011" name="Rectangle 2"/>
          <p:cNvSpPr>
            <a:spLocks noChangeArrowheads="1"/>
          </p:cNvSpPr>
          <p:nvPr/>
        </p:nvSpPr>
        <p:spPr bwMode="auto">
          <a:xfrm>
            <a:off x="468313" y="566738"/>
            <a:ext cx="7199312"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eaLnBrk="0" hangingPunct="0"/>
            <a:r>
              <a:rPr lang="zh-CN" altLang="en-US" sz="3600">
                <a:latin typeface="楷体_GB2312" pitchFamily="49" charset="-122"/>
              </a:rPr>
              <a:t>四、掌握</a:t>
            </a:r>
            <a:r>
              <a:rPr lang="en-US" altLang="zh-CN" sz="3600">
                <a:latin typeface="楷体_GB2312" pitchFamily="49" charset="-122"/>
              </a:rPr>
              <a:t>cache</a:t>
            </a:r>
            <a:r>
              <a:rPr lang="zh-CN" altLang="en-US" sz="3600">
                <a:latin typeface="楷体_GB2312" pitchFamily="49" charset="-122"/>
              </a:rPr>
              <a:t>存储器工作原理；</a:t>
            </a:r>
          </a:p>
          <a:p>
            <a:pPr eaLnBrk="0" hangingPunct="0"/>
            <a:r>
              <a:rPr lang="zh-CN" altLang="en-US" sz="3600">
                <a:latin typeface="楷体_GB2312" pitchFamily="49" charset="-122"/>
              </a:rPr>
              <a:t>    理解主存和</a:t>
            </a:r>
            <a:r>
              <a:rPr lang="en-US" altLang="zh-CN" sz="3600">
                <a:latin typeface="楷体_GB2312" pitchFamily="49" charset="-122"/>
              </a:rPr>
              <a:t>cache</a:t>
            </a:r>
            <a:r>
              <a:rPr lang="zh-CN" altLang="en-US" sz="3600">
                <a:latin typeface="楷体_GB2312" pitchFamily="49" charset="-122"/>
              </a:rPr>
              <a:t>的地址映射</a:t>
            </a:r>
          </a:p>
        </p:txBody>
      </p:sp>
      <p:sp>
        <p:nvSpPr>
          <p:cNvPr id="171012" name="Rectangle 3"/>
          <p:cNvSpPr>
            <a:spLocks noChangeArrowheads="1"/>
          </p:cNvSpPr>
          <p:nvPr/>
        </p:nvSpPr>
        <p:spPr bwMode="auto">
          <a:xfrm>
            <a:off x="323850" y="2276475"/>
            <a:ext cx="8424863" cy="2838450"/>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eaLnBrk="0" hangingPunct="0"/>
            <a:r>
              <a:rPr lang="zh-CN" altLang="en-US" sz="3600">
                <a:latin typeface="楷体_GB2312" pitchFamily="49" charset="-122"/>
              </a:rPr>
              <a:t>简述带有</a:t>
            </a:r>
            <a:r>
              <a:rPr lang="en-US" altLang="zh-CN" sz="3600">
                <a:latin typeface="楷体_GB2312" pitchFamily="49" charset="-122"/>
              </a:rPr>
              <a:t>Cache</a:t>
            </a:r>
            <a:r>
              <a:rPr lang="zh-CN" altLang="en-US" sz="3600">
                <a:latin typeface="楷体_GB2312" pitchFamily="49" charset="-122"/>
              </a:rPr>
              <a:t>的内存储器的读写原理。</a:t>
            </a:r>
            <a:r>
              <a:rPr lang="en-US" altLang="zh-CN" sz="3600">
                <a:latin typeface="楷体_GB2312" pitchFamily="49" charset="-122"/>
              </a:rPr>
              <a:t>Cache</a:t>
            </a:r>
            <a:r>
              <a:rPr lang="zh-CN" altLang="en-US" sz="3600">
                <a:latin typeface="楷体_GB2312" pitchFamily="49" charset="-122"/>
              </a:rPr>
              <a:t>存放的是什么内容，</a:t>
            </a:r>
          </a:p>
          <a:p>
            <a:pPr eaLnBrk="0" hangingPunct="0"/>
            <a:r>
              <a:rPr lang="zh-CN" altLang="en-US" sz="3600">
                <a:latin typeface="楷体_GB2312" pitchFamily="49" charset="-122"/>
              </a:rPr>
              <a:t>其命中率受哪些因素影响</a:t>
            </a:r>
            <a:r>
              <a:rPr lang="en-US" altLang="zh-CN" sz="3600">
                <a:latin typeface="楷体_GB2312" pitchFamily="49" charset="-122"/>
              </a:rPr>
              <a:t>? </a:t>
            </a:r>
          </a:p>
          <a:p>
            <a:pPr eaLnBrk="0" hangingPunct="0"/>
            <a:r>
              <a:rPr lang="zh-CN" altLang="en-US" sz="3600">
                <a:latin typeface="楷体_GB2312" pitchFamily="49" charset="-122"/>
              </a:rPr>
              <a:t>能不能把</a:t>
            </a:r>
            <a:r>
              <a:rPr lang="en-US" altLang="zh-CN" sz="3600">
                <a:latin typeface="楷体_GB2312" pitchFamily="49" charset="-122"/>
              </a:rPr>
              <a:t>Cache</a:t>
            </a:r>
            <a:r>
              <a:rPr lang="zh-CN" altLang="en-US" sz="3600">
                <a:latin typeface="楷体_GB2312" pitchFamily="49" charset="-122"/>
              </a:rPr>
              <a:t>的容量扩大，然后取代现在的主存</a:t>
            </a:r>
            <a:r>
              <a:rPr lang="en-US" altLang="zh-CN" sz="3600">
                <a:latin typeface="楷体_GB2312" pitchFamily="49" charset="-122"/>
              </a:rPr>
              <a:t>?</a:t>
            </a:r>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5AEEA973-8B26-4FD2-ABFF-151C60F1C6F7}" type="slidenum">
              <a:rPr lang="en-US" altLang="zh-CN"/>
              <a:pPr>
                <a:defRPr/>
              </a:pPr>
              <a:t>158</a:t>
            </a:fld>
            <a:endParaRPr lang="en-US" altLang="zh-CN"/>
          </a:p>
        </p:txBody>
      </p:sp>
      <p:sp>
        <p:nvSpPr>
          <p:cNvPr id="172035" name="Rectangle 2"/>
          <p:cNvSpPr>
            <a:spLocks noChangeArrowheads="1"/>
          </p:cNvSpPr>
          <p:nvPr/>
        </p:nvSpPr>
        <p:spPr bwMode="auto">
          <a:xfrm>
            <a:off x="323850" y="1343025"/>
            <a:ext cx="7848600" cy="4965700"/>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indent="95250"/>
            <a:r>
              <a:rPr lang="en-US" altLang="zh-CN" sz="2400">
                <a:latin typeface="楷体_GB2312" pitchFamily="49" charset="-122"/>
              </a:rPr>
              <a:t>    </a:t>
            </a:r>
            <a:r>
              <a:rPr lang="en-US" altLang="zh-CN" sz="3200">
                <a:latin typeface="楷体_GB2312" pitchFamily="49" charset="-122"/>
              </a:rPr>
              <a:t>CPU</a:t>
            </a:r>
            <a:r>
              <a:rPr lang="zh-CN" altLang="en-US" sz="3200">
                <a:latin typeface="楷体_GB2312" pitchFamily="49" charset="-122"/>
              </a:rPr>
              <a:t>与</a:t>
            </a:r>
            <a:r>
              <a:rPr lang="en-US" altLang="zh-CN" sz="3200">
                <a:latin typeface="楷体_GB2312" pitchFamily="49" charset="-122"/>
              </a:rPr>
              <a:t>Cache</a:t>
            </a:r>
            <a:r>
              <a:rPr lang="zh-CN" altLang="en-US" sz="3200">
                <a:latin typeface="楷体_GB2312" pitchFamily="49" charset="-122"/>
              </a:rPr>
              <a:t>之间的数据传送是以字为单位</a:t>
            </a:r>
            <a:r>
              <a:rPr lang="en-US" altLang="zh-CN" sz="3200">
                <a:latin typeface="楷体_GB2312" pitchFamily="49" charset="-122"/>
              </a:rPr>
              <a:t>,</a:t>
            </a:r>
            <a:r>
              <a:rPr lang="zh-CN" altLang="en-US" sz="3200">
                <a:latin typeface="楷体_GB2312" pitchFamily="49" charset="-122"/>
              </a:rPr>
              <a:t>主存与</a:t>
            </a:r>
            <a:r>
              <a:rPr lang="en-US" altLang="zh-CN" sz="3200">
                <a:latin typeface="楷体_GB2312" pitchFamily="49" charset="-122"/>
              </a:rPr>
              <a:t>Cache</a:t>
            </a:r>
            <a:r>
              <a:rPr lang="zh-CN" altLang="en-US" sz="3200">
                <a:latin typeface="楷体_GB2312" pitchFamily="49" charset="-122"/>
              </a:rPr>
              <a:t>之间的数据传送是以块为单位。</a:t>
            </a:r>
          </a:p>
          <a:p>
            <a:pPr lvl="1"/>
            <a:r>
              <a:rPr lang="zh-CN" altLang="en-US" sz="3200">
                <a:latin typeface="楷体_GB2312" pitchFamily="49" charset="-122"/>
              </a:rPr>
              <a:t>    </a:t>
            </a:r>
            <a:r>
              <a:rPr lang="en-US" altLang="zh-CN" sz="3200">
                <a:latin typeface="楷体_GB2312" pitchFamily="49" charset="-122"/>
              </a:rPr>
              <a:t>CPU</a:t>
            </a:r>
            <a:r>
              <a:rPr lang="zh-CN" altLang="en-US" sz="3200">
                <a:latin typeface="楷体_GB2312" pitchFamily="49" charset="-122"/>
              </a:rPr>
              <a:t>读主存时，便把地址同时送给</a:t>
            </a:r>
            <a:r>
              <a:rPr lang="en-US" altLang="zh-CN" sz="3200">
                <a:latin typeface="楷体_GB2312" pitchFamily="49" charset="-122"/>
              </a:rPr>
              <a:t>Cache</a:t>
            </a:r>
            <a:r>
              <a:rPr lang="zh-CN" altLang="en-US" sz="3200">
                <a:latin typeface="楷体_GB2312" pitchFamily="49" charset="-122"/>
              </a:rPr>
              <a:t>和主存，</a:t>
            </a:r>
            <a:r>
              <a:rPr lang="en-US" altLang="zh-CN" sz="3200">
                <a:latin typeface="楷体_GB2312" pitchFamily="49" charset="-122"/>
              </a:rPr>
              <a:t>Cache</a:t>
            </a:r>
            <a:r>
              <a:rPr lang="zh-CN" altLang="en-US" sz="3200">
                <a:latin typeface="楷体_GB2312" pitchFamily="49" charset="-122"/>
              </a:rPr>
              <a:t>控制逻辑依据地址判断此字是否在</a:t>
            </a:r>
            <a:r>
              <a:rPr lang="en-US" altLang="zh-CN" sz="3200">
                <a:latin typeface="楷体_GB2312" pitchFamily="49" charset="-122"/>
              </a:rPr>
              <a:t>Cache</a:t>
            </a:r>
            <a:r>
              <a:rPr lang="zh-CN" altLang="en-US" sz="3200">
                <a:latin typeface="楷体_GB2312" pitchFamily="49" charset="-122"/>
              </a:rPr>
              <a:t>中，若在此字立即传送给</a:t>
            </a:r>
            <a:r>
              <a:rPr lang="en-US" altLang="zh-CN" sz="3200">
                <a:latin typeface="楷体_GB2312" pitchFamily="49" charset="-122"/>
              </a:rPr>
              <a:t>CPU</a:t>
            </a:r>
            <a:r>
              <a:rPr lang="zh-CN" altLang="en-US" sz="3200">
                <a:latin typeface="楷体_GB2312" pitchFamily="49" charset="-122"/>
              </a:rPr>
              <a:t>，否则，则用主存读周期把此字从主存读出送到</a:t>
            </a:r>
            <a:r>
              <a:rPr lang="en-US" altLang="zh-CN" sz="3200">
                <a:latin typeface="楷体_GB2312" pitchFamily="49" charset="-122"/>
              </a:rPr>
              <a:t>CPU</a:t>
            </a:r>
            <a:r>
              <a:rPr lang="zh-CN" altLang="en-US" sz="3200">
                <a:latin typeface="楷体_GB2312" pitchFamily="49" charset="-122"/>
              </a:rPr>
              <a:t>，与此同时，把含有这个字的整个数据块从主存读出送到</a:t>
            </a:r>
            <a:r>
              <a:rPr lang="en-US" altLang="zh-CN" sz="3200">
                <a:latin typeface="楷体_GB2312" pitchFamily="49" charset="-122"/>
              </a:rPr>
              <a:t>cache</a:t>
            </a:r>
            <a:r>
              <a:rPr lang="zh-CN" altLang="en-US" sz="3200">
                <a:latin typeface="楷体_GB2312" pitchFamily="49" charset="-122"/>
              </a:rPr>
              <a:t>中。</a:t>
            </a:r>
          </a:p>
        </p:txBody>
      </p:sp>
      <p:sp>
        <p:nvSpPr>
          <p:cNvPr id="172036" name="Rectangle 3"/>
          <p:cNvSpPr>
            <a:spLocks noChangeArrowheads="1"/>
          </p:cNvSpPr>
          <p:nvPr/>
        </p:nvSpPr>
        <p:spPr bwMode="auto">
          <a:xfrm>
            <a:off x="323850" y="620713"/>
            <a:ext cx="2216150" cy="579437"/>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zh-CN" altLang="en-US" sz="3200"/>
              <a:t>基本原理：</a:t>
            </a:r>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8ED7621D-20E4-4EAA-8D9E-A3D7953AE2DD}" type="slidenum">
              <a:rPr lang="en-US" altLang="zh-CN"/>
              <a:pPr>
                <a:defRPr/>
              </a:pPr>
              <a:t>159</a:t>
            </a:fld>
            <a:endParaRPr lang="en-US" altLang="zh-CN"/>
          </a:p>
        </p:txBody>
      </p:sp>
      <p:sp>
        <p:nvSpPr>
          <p:cNvPr id="173059" name="Rectangle 2"/>
          <p:cNvSpPr>
            <a:spLocks noChangeArrowheads="1"/>
          </p:cNvSpPr>
          <p:nvPr/>
        </p:nvSpPr>
        <p:spPr bwMode="auto">
          <a:xfrm>
            <a:off x="395288" y="1414463"/>
            <a:ext cx="7272337" cy="1311275"/>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indent="95250"/>
            <a:r>
              <a:rPr lang="en-US" altLang="zh-CN" sz="4000">
                <a:latin typeface="楷体_GB2312" pitchFamily="49" charset="-122"/>
              </a:rPr>
              <a:t>    Cache</a:t>
            </a:r>
            <a:r>
              <a:rPr lang="zh-CN" altLang="en-US" sz="4000">
                <a:latin typeface="楷体_GB2312" pitchFamily="49" charset="-122"/>
              </a:rPr>
              <a:t>存储器中保存的字块是主存中相应字块的一个副本。</a:t>
            </a:r>
          </a:p>
        </p:txBody>
      </p:sp>
      <p:sp>
        <p:nvSpPr>
          <p:cNvPr id="173060" name="Rectangle 3"/>
          <p:cNvSpPr>
            <a:spLocks noChangeArrowheads="1"/>
          </p:cNvSpPr>
          <p:nvPr/>
        </p:nvSpPr>
        <p:spPr bwMode="auto">
          <a:xfrm>
            <a:off x="395288" y="549275"/>
            <a:ext cx="2978150" cy="762000"/>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zh-CN" altLang="en-US" sz="4400"/>
              <a:t>保存内容：</a:t>
            </a:r>
          </a:p>
        </p:txBody>
      </p:sp>
      <p:sp>
        <p:nvSpPr>
          <p:cNvPr id="173061" name="Rectangle 4"/>
          <p:cNvSpPr>
            <a:spLocks noChangeArrowheads="1"/>
          </p:cNvSpPr>
          <p:nvPr/>
        </p:nvSpPr>
        <p:spPr bwMode="auto">
          <a:xfrm>
            <a:off x="684213" y="5516563"/>
            <a:ext cx="151701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endParaRPr lang="en-US" altLang="zh-CN"/>
          </a:p>
          <a:p>
            <a:r>
              <a:rPr lang="en-US" altLang="zh-CN"/>
              <a:t>    </a:t>
            </a:r>
          </a:p>
        </p:txBody>
      </p:sp>
      <p:sp>
        <p:nvSpPr>
          <p:cNvPr id="173062" name="Rectangle 5"/>
          <p:cNvSpPr>
            <a:spLocks noChangeArrowheads="1"/>
          </p:cNvSpPr>
          <p:nvPr/>
        </p:nvSpPr>
        <p:spPr bwMode="auto">
          <a:xfrm>
            <a:off x="468313" y="4005263"/>
            <a:ext cx="7272337" cy="2101850"/>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indent="95250"/>
            <a:r>
              <a:rPr lang="en-US" altLang="zh-CN" sz="4000">
                <a:latin typeface="楷体_GB2312" pitchFamily="49" charset="-122"/>
              </a:rPr>
              <a:t>    </a:t>
            </a:r>
            <a:r>
              <a:rPr lang="en-US" altLang="zh-CN" sz="4400">
                <a:latin typeface="楷体_GB2312" pitchFamily="49" charset="-122"/>
              </a:rPr>
              <a:t>Cache</a:t>
            </a:r>
            <a:r>
              <a:rPr lang="zh-CN" altLang="en-US" sz="4400">
                <a:latin typeface="楷体_GB2312" pitchFamily="49" charset="-122"/>
              </a:rPr>
              <a:t>容量和块的大小以及替换算法是影响命中率的重要因素。</a:t>
            </a:r>
          </a:p>
        </p:txBody>
      </p:sp>
      <p:sp>
        <p:nvSpPr>
          <p:cNvPr id="173063" name="Rectangle 6"/>
          <p:cNvSpPr>
            <a:spLocks noChangeArrowheads="1"/>
          </p:cNvSpPr>
          <p:nvPr/>
        </p:nvSpPr>
        <p:spPr bwMode="auto">
          <a:xfrm>
            <a:off x="395288" y="3070225"/>
            <a:ext cx="2419350" cy="762000"/>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zh-CN" altLang="en-US" sz="4400"/>
              <a:t>命中率：</a:t>
            </a:r>
          </a:p>
        </p:txBody>
      </p:sp>
      <p:sp>
        <p:nvSpPr>
          <p:cNvPr id="8" name="椭圆 7"/>
          <p:cNvSpPr/>
          <p:nvPr/>
        </p:nvSpPr>
        <p:spPr bwMode="auto">
          <a:xfrm>
            <a:off x="1023039" y="1628800"/>
            <a:ext cx="329170" cy="339512"/>
          </a:xfrm>
          <a:prstGeom prst="ellipse">
            <a:avLst/>
          </a:prstGeom>
          <a:solidFill>
            <a:srgbClr val="FF0000"/>
          </a:solidFill>
          <a:ln w="9525" cap="flat" cmpd="sng" algn="ctr">
            <a:solidFill>
              <a:schemeClr val="tx1"/>
            </a:solidFill>
            <a:prstDash val="solid"/>
            <a:round/>
            <a:headEnd type="none" w="med" len="med"/>
            <a:tailEnd type="none" w="med" len="med"/>
          </a:ln>
          <a:effectLst>
            <a:glow rad="101600">
              <a:schemeClr val="accent2">
                <a:satMod val="175000"/>
                <a:alpha val="40000"/>
              </a:schemeClr>
            </a:glow>
            <a:softEdge rad="63500"/>
          </a:effectLst>
          <a:scene3d>
            <a:camera prst="orthographicFront"/>
            <a:lightRig rig="threePt" dir="t"/>
          </a:scene3d>
          <a:sp3d>
            <a:bevelT/>
          </a:sp3d>
          <a:extLst/>
        </p:spPr>
        <p:txBody>
          <a:bodyPr wrap="none"/>
          <a:lstStyle>
            <a:defPPr>
              <a:defRPr lang="zh-CN"/>
            </a:defPPr>
            <a:lvl1pPr algn="l" rtl="0" fontAlgn="base">
              <a:spcBef>
                <a:spcPct val="0"/>
              </a:spcBef>
              <a:spcAft>
                <a:spcPct val="0"/>
              </a:spcAft>
              <a:defRPr sz="2800" kern="1200">
                <a:solidFill>
                  <a:schemeClr val="tx1"/>
                </a:solidFill>
                <a:latin typeface="Arial" charset="0"/>
                <a:ea typeface="楷体_GB2312" pitchFamily="49" charset="-122"/>
                <a:cs typeface="+mn-cs"/>
              </a:defRPr>
            </a:lvl1pPr>
            <a:lvl2pPr marL="457200" algn="l" rtl="0" fontAlgn="base">
              <a:spcBef>
                <a:spcPct val="0"/>
              </a:spcBef>
              <a:spcAft>
                <a:spcPct val="0"/>
              </a:spcAft>
              <a:defRPr sz="2800" kern="1200">
                <a:solidFill>
                  <a:schemeClr val="tx1"/>
                </a:solidFill>
                <a:latin typeface="Arial" charset="0"/>
                <a:ea typeface="楷体_GB2312" pitchFamily="49" charset="-122"/>
                <a:cs typeface="+mn-cs"/>
              </a:defRPr>
            </a:lvl2pPr>
            <a:lvl3pPr marL="914400" algn="l" rtl="0" fontAlgn="base">
              <a:spcBef>
                <a:spcPct val="0"/>
              </a:spcBef>
              <a:spcAft>
                <a:spcPct val="0"/>
              </a:spcAft>
              <a:defRPr sz="2800" kern="1200">
                <a:solidFill>
                  <a:schemeClr val="tx1"/>
                </a:solidFill>
                <a:latin typeface="Arial" charset="0"/>
                <a:ea typeface="楷体_GB2312" pitchFamily="49" charset="-122"/>
                <a:cs typeface="+mn-cs"/>
              </a:defRPr>
            </a:lvl3pPr>
            <a:lvl4pPr marL="1371600" algn="l" rtl="0" fontAlgn="base">
              <a:spcBef>
                <a:spcPct val="0"/>
              </a:spcBef>
              <a:spcAft>
                <a:spcPct val="0"/>
              </a:spcAft>
              <a:defRPr sz="2800" kern="1200">
                <a:solidFill>
                  <a:schemeClr val="tx1"/>
                </a:solidFill>
                <a:latin typeface="Arial" charset="0"/>
                <a:ea typeface="楷体_GB2312" pitchFamily="49" charset="-122"/>
                <a:cs typeface="+mn-cs"/>
              </a:defRPr>
            </a:lvl4pPr>
            <a:lvl5pPr marL="1828800" algn="l" rtl="0" fontAlgn="base">
              <a:spcBef>
                <a:spcPct val="0"/>
              </a:spcBef>
              <a:spcAft>
                <a:spcPct val="0"/>
              </a:spcAft>
              <a:defRPr sz="2800" kern="1200">
                <a:solidFill>
                  <a:schemeClr val="tx1"/>
                </a:solidFill>
                <a:latin typeface="Arial" charset="0"/>
                <a:ea typeface="楷体_GB2312" pitchFamily="49" charset="-122"/>
                <a:cs typeface="+mn-cs"/>
              </a:defRPr>
            </a:lvl5pPr>
            <a:lvl6pPr marL="2286000" algn="l" defTabSz="914400" rtl="0" eaLnBrk="1" latinLnBrk="0" hangingPunct="1">
              <a:defRPr sz="2800" kern="1200">
                <a:solidFill>
                  <a:schemeClr val="tx1"/>
                </a:solidFill>
                <a:latin typeface="Arial" charset="0"/>
                <a:ea typeface="楷体_GB2312" pitchFamily="49" charset="-122"/>
                <a:cs typeface="+mn-cs"/>
              </a:defRPr>
            </a:lvl6pPr>
            <a:lvl7pPr marL="2743200" algn="l" defTabSz="914400" rtl="0" eaLnBrk="1" latinLnBrk="0" hangingPunct="1">
              <a:defRPr sz="2800" kern="1200">
                <a:solidFill>
                  <a:schemeClr val="tx1"/>
                </a:solidFill>
                <a:latin typeface="Arial" charset="0"/>
                <a:ea typeface="楷体_GB2312" pitchFamily="49" charset="-122"/>
                <a:cs typeface="+mn-cs"/>
              </a:defRPr>
            </a:lvl7pPr>
            <a:lvl8pPr marL="3200400" algn="l" defTabSz="914400" rtl="0" eaLnBrk="1" latinLnBrk="0" hangingPunct="1">
              <a:defRPr sz="2800" kern="1200">
                <a:solidFill>
                  <a:schemeClr val="tx1"/>
                </a:solidFill>
                <a:latin typeface="Arial" charset="0"/>
                <a:ea typeface="楷体_GB2312" pitchFamily="49" charset="-122"/>
                <a:cs typeface="+mn-cs"/>
              </a:defRPr>
            </a:lvl8pPr>
            <a:lvl9pPr marL="3657600" algn="l" defTabSz="914400" rtl="0" eaLnBrk="1" latinLnBrk="0" hangingPunct="1">
              <a:defRPr sz="2800" kern="1200">
                <a:solidFill>
                  <a:schemeClr val="tx1"/>
                </a:solidFill>
                <a:latin typeface="Arial" charset="0"/>
                <a:ea typeface="楷体_GB2312" pitchFamily="49" charset="-122"/>
                <a:cs typeface="+mn-cs"/>
              </a:defRPr>
            </a:lvl9pPr>
          </a:lstStyle>
          <a:p>
            <a:pPr>
              <a:defRPr/>
            </a:pPr>
            <a:endParaRPr lang="zh-CN" altLang="en-US"/>
          </a:p>
        </p:txBody>
      </p:sp>
      <p:sp>
        <p:nvSpPr>
          <p:cNvPr id="10" name="椭圆 9"/>
          <p:cNvSpPr/>
          <p:nvPr/>
        </p:nvSpPr>
        <p:spPr bwMode="auto">
          <a:xfrm>
            <a:off x="1059939" y="4245200"/>
            <a:ext cx="329170" cy="339512"/>
          </a:xfrm>
          <a:prstGeom prst="ellipse">
            <a:avLst/>
          </a:prstGeom>
          <a:solidFill>
            <a:srgbClr val="FF0000"/>
          </a:solidFill>
          <a:ln w="9525" cap="flat" cmpd="sng" algn="ctr">
            <a:solidFill>
              <a:schemeClr val="tx1"/>
            </a:solidFill>
            <a:prstDash val="solid"/>
            <a:round/>
            <a:headEnd type="none" w="med" len="med"/>
            <a:tailEnd type="none" w="med" len="med"/>
          </a:ln>
          <a:effectLst>
            <a:glow rad="101600">
              <a:schemeClr val="accent2">
                <a:satMod val="175000"/>
                <a:alpha val="40000"/>
              </a:schemeClr>
            </a:glow>
            <a:softEdge rad="63500"/>
          </a:effectLst>
          <a:scene3d>
            <a:camera prst="orthographicFront"/>
            <a:lightRig rig="threePt" dir="t"/>
          </a:scene3d>
          <a:sp3d>
            <a:bevelT/>
          </a:sp3d>
          <a:extLst/>
        </p:spPr>
        <p:txBody>
          <a:bodyPr wrap="none"/>
          <a:lstStyle>
            <a:defPPr>
              <a:defRPr lang="zh-CN"/>
            </a:defPPr>
            <a:lvl1pPr algn="l" rtl="0" fontAlgn="base">
              <a:spcBef>
                <a:spcPct val="0"/>
              </a:spcBef>
              <a:spcAft>
                <a:spcPct val="0"/>
              </a:spcAft>
              <a:defRPr sz="2800" kern="1200">
                <a:solidFill>
                  <a:schemeClr val="tx1"/>
                </a:solidFill>
                <a:latin typeface="Arial" charset="0"/>
                <a:ea typeface="楷体_GB2312" pitchFamily="49" charset="-122"/>
                <a:cs typeface="+mn-cs"/>
              </a:defRPr>
            </a:lvl1pPr>
            <a:lvl2pPr marL="457200" algn="l" rtl="0" fontAlgn="base">
              <a:spcBef>
                <a:spcPct val="0"/>
              </a:spcBef>
              <a:spcAft>
                <a:spcPct val="0"/>
              </a:spcAft>
              <a:defRPr sz="2800" kern="1200">
                <a:solidFill>
                  <a:schemeClr val="tx1"/>
                </a:solidFill>
                <a:latin typeface="Arial" charset="0"/>
                <a:ea typeface="楷体_GB2312" pitchFamily="49" charset="-122"/>
                <a:cs typeface="+mn-cs"/>
              </a:defRPr>
            </a:lvl2pPr>
            <a:lvl3pPr marL="914400" algn="l" rtl="0" fontAlgn="base">
              <a:spcBef>
                <a:spcPct val="0"/>
              </a:spcBef>
              <a:spcAft>
                <a:spcPct val="0"/>
              </a:spcAft>
              <a:defRPr sz="2800" kern="1200">
                <a:solidFill>
                  <a:schemeClr val="tx1"/>
                </a:solidFill>
                <a:latin typeface="Arial" charset="0"/>
                <a:ea typeface="楷体_GB2312" pitchFamily="49" charset="-122"/>
                <a:cs typeface="+mn-cs"/>
              </a:defRPr>
            </a:lvl3pPr>
            <a:lvl4pPr marL="1371600" algn="l" rtl="0" fontAlgn="base">
              <a:spcBef>
                <a:spcPct val="0"/>
              </a:spcBef>
              <a:spcAft>
                <a:spcPct val="0"/>
              </a:spcAft>
              <a:defRPr sz="2800" kern="1200">
                <a:solidFill>
                  <a:schemeClr val="tx1"/>
                </a:solidFill>
                <a:latin typeface="Arial" charset="0"/>
                <a:ea typeface="楷体_GB2312" pitchFamily="49" charset="-122"/>
                <a:cs typeface="+mn-cs"/>
              </a:defRPr>
            </a:lvl4pPr>
            <a:lvl5pPr marL="1828800" algn="l" rtl="0" fontAlgn="base">
              <a:spcBef>
                <a:spcPct val="0"/>
              </a:spcBef>
              <a:spcAft>
                <a:spcPct val="0"/>
              </a:spcAft>
              <a:defRPr sz="2800" kern="1200">
                <a:solidFill>
                  <a:schemeClr val="tx1"/>
                </a:solidFill>
                <a:latin typeface="Arial" charset="0"/>
                <a:ea typeface="楷体_GB2312" pitchFamily="49" charset="-122"/>
                <a:cs typeface="+mn-cs"/>
              </a:defRPr>
            </a:lvl5pPr>
            <a:lvl6pPr marL="2286000" algn="l" defTabSz="914400" rtl="0" eaLnBrk="1" latinLnBrk="0" hangingPunct="1">
              <a:defRPr sz="2800" kern="1200">
                <a:solidFill>
                  <a:schemeClr val="tx1"/>
                </a:solidFill>
                <a:latin typeface="Arial" charset="0"/>
                <a:ea typeface="楷体_GB2312" pitchFamily="49" charset="-122"/>
                <a:cs typeface="+mn-cs"/>
              </a:defRPr>
            </a:lvl6pPr>
            <a:lvl7pPr marL="2743200" algn="l" defTabSz="914400" rtl="0" eaLnBrk="1" latinLnBrk="0" hangingPunct="1">
              <a:defRPr sz="2800" kern="1200">
                <a:solidFill>
                  <a:schemeClr val="tx1"/>
                </a:solidFill>
                <a:latin typeface="Arial" charset="0"/>
                <a:ea typeface="楷体_GB2312" pitchFamily="49" charset="-122"/>
                <a:cs typeface="+mn-cs"/>
              </a:defRPr>
            </a:lvl7pPr>
            <a:lvl8pPr marL="3200400" algn="l" defTabSz="914400" rtl="0" eaLnBrk="1" latinLnBrk="0" hangingPunct="1">
              <a:defRPr sz="2800" kern="1200">
                <a:solidFill>
                  <a:schemeClr val="tx1"/>
                </a:solidFill>
                <a:latin typeface="Arial" charset="0"/>
                <a:ea typeface="楷体_GB2312" pitchFamily="49" charset="-122"/>
                <a:cs typeface="+mn-cs"/>
              </a:defRPr>
            </a:lvl8pPr>
            <a:lvl9pPr marL="3657600" algn="l" defTabSz="914400" rtl="0" eaLnBrk="1" latinLnBrk="0" hangingPunct="1">
              <a:defRPr sz="2800" kern="1200">
                <a:solidFill>
                  <a:schemeClr val="tx1"/>
                </a:solidFill>
                <a:latin typeface="Arial" charset="0"/>
                <a:ea typeface="楷体_GB2312" pitchFamily="49" charset="-122"/>
                <a:cs typeface="+mn-cs"/>
              </a:defRPr>
            </a:lvl9pPr>
          </a:lstStyle>
          <a:p>
            <a:pPr>
              <a:defRPr/>
            </a:pPr>
            <a:endParaRPr lang="zh-CN" altLang="en-US"/>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1CC0E40F-CFE6-497E-BE3B-C57C735E9BCD}" type="slidenum">
              <a:rPr lang="en-US" altLang="zh-CN"/>
              <a:pPr>
                <a:defRPr/>
              </a:pPr>
              <a:t>160</a:t>
            </a:fld>
            <a:endParaRPr lang="en-US" altLang="zh-CN"/>
          </a:p>
        </p:txBody>
      </p:sp>
      <p:sp>
        <p:nvSpPr>
          <p:cNvPr id="174083" name="Rectangle 2"/>
          <p:cNvSpPr>
            <a:spLocks noChangeArrowheads="1"/>
          </p:cNvSpPr>
          <p:nvPr/>
        </p:nvSpPr>
        <p:spPr bwMode="auto">
          <a:xfrm>
            <a:off x="323850" y="1125538"/>
            <a:ext cx="8135938" cy="5035550"/>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eaLnBrk="0" hangingPunct="0"/>
            <a:r>
              <a:rPr lang="en-US" altLang="zh-CN" sz="3600">
                <a:latin typeface="楷体_GB2312" pitchFamily="49" charset="-122"/>
              </a:rPr>
              <a:t>    </a:t>
            </a:r>
            <a:r>
              <a:rPr lang="zh-CN" altLang="en-US" sz="3600">
                <a:latin typeface="楷体_GB2312" pitchFamily="49" charset="-122"/>
              </a:rPr>
              <a:t>从理论上讲是可以取代的，但在实际应用中存在几个问题。一是存储器的性能价格比下降。用</a:t>
            </a:r>
            <a:r>
              <a:rPr lang="en-US" altLang="zh-CN" sz="3600">
                <a:latin typeface="楷体_GB2312" pitchFamily="49" charset="-122"/>
              </a:rPr>
              <a:t>Cache</a:t>
            </a:r>
            <a:r>
              <a:rPr lang="zh-CN" altLang="en-US" sz="3600">
                <a:latin typeface="楷体_GB2312" pitchFamily="49" charset="-122"/>
              </a:rPr>
              <a:t>代替主存，主存价格增长幅度大，在速度上比带</a:t>
            </a:r>
            <a:r>
              <a:rPr lang="en-US" altLang="zh-CN" sz="3600">
                <a:latin typeface="楷体_GB2312" pitchFamily="49" charset="-122"/>
              </a:rPr>
              <a:t>Cache</a:t>
            </a:r>
            <a:r>
              <a:rPr lang="zh-CN" altLang="en-US" sz="3600">
                <a:latin typeface="楷体_GB2312" pitchFamily="49" charset="-122"/>
              </a:rPr>
              <a:t>的存储器提高不了多少。二是用</a:t>
            </a:r>
            <a:r>
              <a:rPr lang="en-US" altLang="zh-CN" sz="3600">
                <a:latin typeface="楷体_GB2312" pitchFamily="49" charset="-122"/>
              </a:rPr>
              <a:t>Cache</a:t>
            </a:r>
            <a:r>
              <a:rPr lang="zh-CN" altLang="en-US" sz="3600">
                <a:latin typeface="楷体_GB2312" pitchFamily="49" charset="-122"/>
              </a:rPr>
              <a:t>做主存，则主存与辅存的速度差距加大，在调入调出时，需要更多的额外开销。因此从实际而言，难以用</a:t>
            </a:r>
            <a:r>
              <a:rPr lang="en-US" altLang="zh-CN" sz="3600">
                <a:latin typeface="楷体_GB2312" pitchFamily="49" charset="-122"/>
              </a:rPr>
              <a:t>Cache</a:t>
            </a:r>
            <a:r>
              <a:rPr lang="zh-CN" altLang="en-US" sz="3600">
                <a:latin typeface="楷体_GB2312" pitchFamily="49" charset="-122"/>
              </a:rPr>
              <a:t>取代主存。</a:t>
            </a:r>
          </a:p>
        </p:txBody>
      </p:sp>
      <p:sp>
        <p:nvSpPr>
          <p:cNvPr id="174084" name="Rectangle 3"/>
          <p:cNvSpPr>
            <a:spLocks noChangeArrowheads="1"/>
          </p:cNvSpPr>
          <p:nvPr/>
        </p:nvSpPr>
        <p:spPr bwMode="auto">
          <a:xfrm>
            <a:off x="323850" y="260350"/>
            <a:ext cx="4095750" cy="762000"/>
          </a:xfrm>
          <a:prstGeom prst="rect">
            <a:avLst/>
          </a:prstGeom>
          <a:solidFill>
            <a:schemeClr val="folHlink"/>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zh-CN" altLang="en-US" sz="4400"/>
              <a:t>能否取代主存：</a:t>
            </a:r>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ChangeArrowheads="1"/>
          </p:cNvSpPr>
          <p:nvPr/>
        </p:nvSpPr>
        <p:spPr bwMode="auto">
          <a:xfrm>
            <a:off x="152400" y="152400"/>
            <a:ext cx="8839200" cy="64547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a:latin typeface="宋体" pitchFamily="2" charset="-122"/>
              </a:rPr>
              <a:t>五、虚拟存储器</a:t>
            </a:r>
            <a:endParaRPr lang="en-US" altLang="zh-CN">
              <a:latin typeface="宋体" pitchFamily="2" charset="-122"/>
            </a:endParaRPr>
          </a:p>
          <a:p>
            <a:pPr>
              <a:lnSpc>
                <a:spcPct val="150000"/>
              </a:lnSpc>
            </a:pPr>
            <a:r>
              <a:rPr lang="en-US" altLang="zh-CN">
                <a:latin typeface="宋体" pitchFamily="2" charset="-122"/>
              </a:rPr>
              <a:t>1</a:t>
            </a:r>
            <a:r>
              <a:rPr lang="zh-CN" altLang="en-US">
                <a:latin typeface="宋体" pitchFamily="2" charset="-122"/>
              </a:rPr>
              <a:t>、三级存储体系中，</a:t>
            </a:r>
            <a:r>
              <a:rPr lang="en-US" altLang="zh-CN">
                <a:latin typeface="宋体" pitchFamily="2" charset="-122"/>
              </a:rPr>
              <a:t>cache-</a:t>
            </a:r>
            <a:r>
              <a:rPr lang="zh-CN" altLang="en-US">
                <a:latin typeface="宋体" pitchFamily="2" charset="-122"/>
              </a:rPr>
              <a:t>主存和主存</a:t>
            </a:r>
            <a:r>
              <a:rPr lang="en-US" altLang="zh-CN">
                <a:latin typeface="宋体" pitchFamily="2" charset="-122"/>
              </a:rPr>
              <a:t>-</a:t>
            </a:r>
            <a:r>
              <a:rPr lang="zh-CN" altLang="en-US">
                <a:latin typeface="宋体" pitchFamily="2" charset="-122"/>
              </a:rPr>
              <a:t>辅存相同点。</a:t>
            </a:r>
          </a:p>
          <a:p>
            <a:pPr>
              <a:lnSpc>
                <a:spcPct val="150000"/>
              </a:lnSpc>
            </a:pPr>
            <a:r>
              <a:rPr lang="zh-CN" altLang="en-US">
                <a:latin typeface="宋体" pitchFamily="2" charset="-122"/>
              </a:rPr>
              <a:t>   </a:t>
            </a:r>
            <a:r>
              <a:rPr lang="en-US" altLang="zh-CN">
                <a:latin typeface="宋体" pitchFamily="2" charset="-122"/>
              </a:rPr>
              <a:t>(1)</a:t>
            </a:r>
            <a:r>
              <a:rPr lang="zh-CN" altLang="en-US">
                <a:latin typeface="宋体" pitchFamily="2" charset="-122"/>
              </a:rPr>
              <a:t>出发点相同</a:t>
            </a:r>
          </a:p>
          <a:p>
            <a:pPr>
              <a:lnSpc>
                <a:spcPct val="150000"/>
              </a:lnSpc>
            </a:pPr>
            <a:r>
              <a:rPr lang="zh-CN" altLang="en-US">
                <a:latin typeface="宋体" pitchFamily="2" charset="-122"/>
              </a:rPr>
              <a:t>    二者都是为了提高存储系统的性能价格比而构造的分层存储体系，都力图使存储系统的性能接近高速存储器，而价格和容量接近低速存储器。</a:t>
            </a:r>
          </a:p>
          <a:p>
            <a:pPr>
              <a:lnSpc>
                <a:spcPct val="150000"/>
              </a:lnSpc>
            </a:pPr>
            <a:r>
              <a:rPr lang="zh-CN" altLang="en-US">
                <a:latin typeface="宋体" pitchFamily="2" charset="-122"/>
              </a:rPr>
              <a:t>    </a:t>
            </a:r>
            <a:r>
              <a:rPr lang="en-US" altLang="zh-CN">
                <a:latin typeface="宋体" pitchFamily="2" charset="-122"/>
              </a:rPr>
              <a:t>(2)</a:t>
            </a:r>
            <a:r>
              <a:rPr lang="zh-CN" altLang="en-US">
                <a:latin typeface="宋体" pitchFamily="2" charset="-122"/>
              </a:rPr>
              <a:t>原理相同</a:t>
            </a:r>
          </a:p>
          <a:p>
            <a:pPr>
              <a:lnSpc>
                <a:spcPct val="150000"/>
              </a:lnSpc>
            </a:pPr>
            <a:r>
              <a:rPr lang="zh-CN" altLang="en-US">
                <a:latin typeface="宋体" pitchFamily="2" charset="-122"/>
              </a:rPr>
              <a:t>    都是利用了程序运行时的局部性原理把最近常用的信息块从相对慢速而大容量的存储器调入相对高速而小容量的存储器。</a:t>
            </a:r>
          </a:p>
        </p:txBody>
      </p:sp>
      <p:sp>
        <p:nvSpPr>
          <p:cNvPr id="3" name="椭圆 2"/>
          <p:cNvSpPr/>
          <p:nvPr/>
        </p:nvSpPr>
        <p:spPr bwMode="auto">
          <a:xfrm>
            <a:off x="65989" y="1099871"/>
            <a:ext cx="180000" cy="180000"/>
          </a:xfrm>
          <a:prstGeom prst="ellipse">
            <a:avLst/>
          </a:prstGeom>
          <a:solidFill>
            <a:srgbClr val="FF0000"/>
          </a:solidFill>
          <a:ln w="9525" cap="flat" cmpd="sng" algn="ctr">
            <a:solidFill>
              <a:schemeClr val="tx1"/>
            </a:solidFill>
            <a:prstDash val="solid"/>
            <a:round/>
            <a:headEnd type="none" w="med" len="med"/>
            <a:tailEnd type="none" w="med" len="med"/>
          </a:ln>
          <a:effectLst>
            <a:glow rad="101600">
              <a:schemeClr val="accent2">
                <a:satMod val="175000"/>
                <a:alpha val="40000"/>
              </a:schemeClr>
            </a:glow>
            <a:softEdge rad="63500"/>
          </a:effectLst>
          <a:scene3d>
            <a:camera prst="orthographicFront"/>
            <a:lightRig rig="threePt" dir="t"/>
          </a:scene3d>
          <a:sp3d>
            <a:bevelT/>
          </a:sp3d>
          <a:extLst/>
        </p:spPr>
        <p:txBody>
          <a:bodyPr wrap="none"/>
          <a:lstStyle>
            <a:defPPr>
              <a:defRPr lang="zh-CN"/>
            </a:defPPr>
            <a:lvl1pPr algn="l" rtl="0" fontAlgn="base">
              <a:spcBef>
                <a:spcPct val="0"/>
              </a:spcBef>
              <a:spcAft>
                <a:spcPct val="0"/>
              </a:spcAft>
              <a:defRPr sz="2800" kern="1200">
                <a:solidFill>
                  <a:schemeClr val="tx1"/>
                </a:solidFill>
                <a:latin typeface="Arial" charset="0"/>
                <a:ea typeface="楷体_GB2312" pitchFamily="49" charset="-122"/>
                <a:cs typeface="+mn-cs"/>
              </a:defRPr>
            </a:lvl1pPr>
            <a:lvl2pPr marL="457200" algn="l" rtl="0" fontAlgn="base">
              <a:spcBef>
                <a:spcPct val="0"/>
              </a:spcBef>
              <a:spcAft>
                <a:spcPct val="0"/>
              </a:spcAft>
              <a:defRPr sz="2800" kern="1200">
                <a:solidFill>
                  <a:schemeClr val="tx1"/>
                </a:solidFill>
                <a:latin typeface="Arial" charset="0"/>
                <a:ea typeface="楷体_GB2312" pitchFamily="49" charset="-122"/>
                <a:cs typeface="+mn-cs"/>
              </a:defRPr>
            </a:lvl2pPr>
            <a:lvl3pPr marL="914400" algn="l" rtl="0" fontAlgn="base">
              <a:spcBef>
                <a:spcPct val="0"/>
              </a:spcBef>
              <a:spcAft>
                <a:spcPct val="0"/>
              </a:spcAft>
              <a:defRPr sz="2800" kern="1200">
                <a:solidFill>
                  <a:schemeClr val="tx1"/>
                </a:solidFill>
                <a:latin typeface="Arial" charset="0"/>
                <a:ea typeface="楷体_GB2312" pitchFamily="49" charset="-122"/>
                <a:cs typeface="+mn-cs"/>
              </a:defRPr>
            </a:lvl3pPr>
            <a:lvl4pPr marL="1371600" algn="l" rtl="0" fontAlgn="base">
              <a:spcBef>
                <a:spcPct val="0"/>
              </a:spcBef>
              <a:spcAft>
                <a:spcPct val="0"/>
              </a:spcAft>
              <a:defRPr sz="2800" kern="1200">
                <a:solidFill>
                  <a:schemeClr val="tx1"/>
                </a:solidFill>
                <a:latin typeface="Arial" charset="0"/>
                <a:ea typeface="楷体_GB2312" pitchFamily="49" charset="-122"/>
                <a:cs typeface="+mn-cs"/>
              </a:defRPr>
            </a:lvl4pPr>
            <a:lvl5pPr marL="1828800" algn="l" rtl="0" fontAlgn="base">
              <a:spcBef>
                <a:spcPct val="0"/>
              </a:spcBef>
              <a:spcAft>
                <a:spcPct val="0"/>
              </a:spcAft>
              <a:defRPr sz="2800" kern="1200">
                <a:solidFill>
                  <a:schemeClr val="tx1"/>
                </a:solidFill>
                <a:latin typeface="Arial" charset="0"/>
                <a:ea typeface="楷体_GB2312" pitchFamily="49" charset="-122"/>
                <a:cs typeface="+mn-cs"/>
              </a:defRPr>
            </a:lvl5pPr>
            <a:lvl6pPr marL="2286000" algn="l" defTabSz="914400" rtl="0" eaLnBrk="1" latinLnBrk="0" hangingPunct="1">
              <a:defRPr sz="2800" kern="1200">
                <a:solidFill>
                  <a:schemeClr val="tx1"/>
                </a:solidFill>
                <a:latin typeface="Arial" charset="0"/>
                <a:ea typeface="楷体_GB2312" pitchFamily="49" charset="-122"/>
                <a:cs typeface="+mn-cs"/>
              </a:defRPr>
            </a:lvl6pPr>
            <a:lvl7pPr marL="2743200" algn="l" defTabSz="914400" rtl="0" eaLnBrk="1" latinLnBrk="0" hangingPunct="1">
              <a:defRPr sz="2800" kern="1200">
                <a:solidFill>
                  <a:schemeClr val="tx1"/>
                </a:solidFill>
                <a:latin typeface="Arial" charset="0"/>
                <a:ea typeface="楷体_GB2312" pitchFamily="49" charset="-122"/>
                <a:cs typeface="+mn-cs"/>
              </a:defRPr>
            </a:lvl7pPr>
            <a:lvl8pPr marL="3200400" algn="l" defTabSz="914400" rtl="0" eaLnBrk="1" latinLnBrk="0" hangingPunct="1">
              <a:defRPr sz="2800" kern="1200">
                <a:solidFill>
                  <a:schemeClr val="tx1"/>
                </a:solidFill>
                <a:latin typeface="Arial" charset="0"/>
                <a:ea typeface="楷体_GB2312" pitchFamily="49" charset="-122"/>
                <a:cs typeface="+mn-cs"/>
              </a:defRPr>
            </a:lvl8pPr>
            <a:lvl9pPr marL="3657600" algn="l" defTabSz="914400" rtl="0" eaLnBrk="1" latinLnBrk="0" hangingPunct="1">
              <a:defRPr sz="2800" kern="1200">
                <a:solidFill>
                  <a:schemeClr val="tx1"/>
                </a:solidFill>
                <a:latin typeface="Arial" charset="0"/>
                <a:ea typeface="楷体_GB2312" pitchFamily="49" charset="-122"/>
                <a:cs typeface="+mn-cs"/>
              </a:defRPr>
            </a:lvl9pPr>
          </a:lstStyle>
          <a:p>
            <a:pPr>
              <a:defRPr/>
            </a:pPr>
            <a:endParaRPr lang="zh-CN" altLang="en-US"/>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5"/>
          <p:cNvSpPr>
            <a:spLocks noChangeArrowheads="1"/>
          </p:cNvSpPr>
          <p:nvPr/>
        </p:nvSpPr>
        <p:spPr bwMode="auto">
          <a:xfrm>
            <a:off x="250825" y="188913"/>
            <a:ext cx="8713788" cy="519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latin typeface="宋体" pitchFamily="2" charset="-122"/>
              </a:rPr>
              <a:t>    </a:t>
            </a:r>
          </a:p>
        </p:txBody>
      </p:sp>
      <p:sp>
        <p:nvSpPr>
          <p:cNvPr id="176131" name="Rectangle 6"/>
          <p:cNvSpPr>
            <a:spLocks noChangeArrowheads="1"/>
          </p:cNvSpPr>
          <p:nvPr/>
        </p:nvSpPr>
        <p:spPr bwMode="auto">
          <a:xfrm>
            <a:off x="0" y="152400"/>
            <a:ext cx="9144000" cy="64420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600">
                <a:latin typeface="宋体" pitchFamily="2" charset="-122"/>
              </a:rPr>
              <a:t>2</a:t>
            </a:r>
            <a:r>
              <a:rPr lang="zh-CN" altLang="en-US" sz="2600">
                <a:latin typeface="宋体" pitchFamily="2" charset="-122"/>
              </a:rPr>
              <a:t>、三级存储体系中，</a:t>
            </a:r>
            <a:r>
              <a:rPr lang="en-US" altLang="zh-CN" sz="2600">
                <a:latin typeface="宋体" pitchFamily="2" charset="-122"/>
              </a:rPr>
              <a:t>cache-</a:t>
            </a:r>
            <a:r>
              <a:rPr lang="zh-CN" altLang="en-US" sz="2600">
                <a:latin typeface="宋体" pitchFamily="2" charset="-122"/>
              </a:rPr>
              <a:t>主存和主存</a:t>
            </a:r>
            <a:r>
              <a:rPr lang="en-US" altLang="zh-CN" sz="2600">
                <a:latin typeface="宋体" pitchFamily="2" charset="-122"/>
              </a:rPr>
              <a:t>-</a:t>
            </a:r>
            <a:r>
              <a:rPr lang="zh-CN" altLang="en-US" sz="2600">
                <a:latin typeface="宋体" pitchFamily="2" charset="-122"/>
              </a:rPr>
              <a:t>辅存不同点。</a:t>
            </a:r>
          </a:p>
          <a:p>
            <a:r>
              <a:rPr lang="zh-CN" altLang="en-US" sz="2600">
                <a:latin typeface="宋体" pitchFamily="2" charset="-122"/>
              </a:rPr>
              <a:t>    </a:t>
            </a:r>
            <a:r>
              <a:rPr lang="en-US" altLang="zh-CN" sz="2600">
                <a:latin typeface="宋体" pitchFamily="2" charset="-122"/>
              </a:rPr>
              <a:t>(1)</a:t>
            </a:r>
            <a:r>
              <a:rPr lang="zh-CN" altLang="en-US" sz="2600">
                <a:latin typeface="宋体" pitchFamily="2" charset="-122"/>
              </a:rPr>
              <a:t>侧重点不同：</a:t>
            </a:r>
            <a:r>
              <a:rPr lang="en-US" altLang="zh-CN" sz="2600">
                <a:latin typeface="宋体" pitchFamily="2" charset="-122"/>
              </a:rPr>
              <a:t>cache</a:t>
            </a:r>
            <a:r>
              <a:rPr lang="zh-CN" altLang="en-US" sz="2600">
                <a:latin typeface="宋体" pitchFamily="2" charset="-122"/>
              </a:rPr>
              <a:t>主要解决主存与</a:t>
            </a:r>
            <a:r>
              <a:rPr lang="en-US" altLang="zh-CN" sz="2600">
                <a:latin typeface="宋体" pitchFamily="2" charset="-122"/>
              </a:rPr>
              <a:t>CPU</a:t>
            </a:r>
            <a:r>
              <a:rPr lang="zh-CN" altLang="en-US" sz="2600">
                <a:latin typeface="宋体" pitchFamily="2" charset="-122"/>
              </a:rPr>
              <a:t>的速度差异问题；虚存主要是解决存储容量问题，另外还包括存储管理、主存分配和存储保护等方面。</a:t>
            </a:r>
          </a:p>
          <a:p>
            <a:r>
              <a:rPr lang="zh-CN" altLang="en-US" sz="2600">
                <a:latin typeface="宋体" pitchFamily="2" charset="-122"/>
              </a:rPr>
              <a:t>    </a:t>
            </a:r>
            <a:r>
              <a:rPr lang="en-US" altLang="zh-CN" sz="2600">
                <a:latin typeface="宋体" pitchFamily="2" charset="-122"/>
              </a:rPr>
              <a:t>(2)</a:t>
            </a:r>
            <a:r>
              <a:rPr lang="zh-CN" altLang="en-US" sz="2600">
                <a:latin typeface="宋体" pitchFamily="2" charset="-122"/>
              </a:rPr>
              <a:t>数据通路不同：</a:t>
            </a:r>
            <a:r>
              <a:rPr lang="en-US" altLang="zh-CN" sz="2600">
                <a:latin typeface="宋体" pitchFamily="2" charset="-122"/>
              </a:rPr>
              <a:t>CPU</a:t>
            </a:r>
            <a:r>
              <a:rPr lang="zh-CN" altLang="en-US" sz="2600">
                <a:latin typeface="宋体" pitchFamily="2" charset="-122"/>
              </a:rPr>
              <a:t>与</a:t>
            </a:r>
            <a:r>
              <a:rPr lang="en-US" altLang="zh-CN" sz="2600">
                <a:latin typeface="宋体" pitchFamily="2" charset="-122"/>
              </a:rPr>
              <a:t>cache</a:t>
            </a:r>
            <a:r>
              <a:rPr lang="zh-CN" altLang="en-US" sz="2600">
                <a:latin typeface="宋体" pitchFamily="2" charset="-122"/>
              </a:rPr>
              <a:t>和主存之间均有直接访问通路，</a:t>
            </a:r>
            <a:r>
              <a:rPr lang="en-US" altLang="zh-CN" sz="2600">
                <a:latin typeface="宋体" pitchFamily="2" charset="-122"/>
              </a:rPr>
              <a:t>cache</a:t>
            </a:r>
            <a:r>
              <a:rPr lang="zh-CN" altLang="en-US" sz="2600">
                <a:latin typeface="宋体" pitchFamily="2" charset="-122"/>
              </a:rPr>
              <a:t>不命中时可直接访问主存；而虚存所依赖的辅存与</a:t>
            </a:r>
            <a:r>
              <a:rPr lang="en-US" altLang="zh-CN" sz="2600">
                <a:latin typeface="宋体" pitchFamily="2" charset="-122"/>
              </a:rPr>
              <a:t>CPU</a:t>
            </a:r>
            <a:r>
              <a:rPr lang="zh-CN" altLang="en-US" sz="2600">
                <a:latin typeface="宋体" pitchFamily="2" charset="-122"/>
              </a:rPr>
              <a:t>之间不存在直接的数据通路，当主存不命中时只能通过调页解决，</a:t>
            </a:r>
            <a:r>
              <a:rPr lang="en-US" altLang="zh-CN" sz="2600">
                <a:latin typeface="宋体" pitchFamily="2" charset="-122"/>
              </a:rPr>
              <a:t>CPU</a:t>
            </a:r>
            <a:r>
              <a:rPr lang="zh-CN" altLang="en-US" sz="2600">
                <a:latin typeface="宋体" pitchFamily="2" charset="-122"/>
              </a:rPr>
              <a:t>最终还是要访问主存。</a:t>
            </a:r>
          </a:p>
          <a:p>
            <a:r>
              <a:rPr lang="zh-CN" altLang="en-US" sz="2600">
                <a:latin typeface="宋体" pitchFamily="2" charset="-122"/>
              </a:rPr>
              <a:t>    </a:t>
            </a:r>
            <a:r>
              <a:rPr lang="en-US" altLang="zh-CN" sz="2600">
                <a:latin typeface="宋体" pitchFamily="2" charset="-122"/>
              </a:rPr>
              <a:t>(3)</a:t>
            </a:r>
            <a:r>
              <a:rPr lang="zh-CN" altLang="en-US" sz="2600">
                <a:latin typeface="宋体" pitchFamily="2" charset="-122"/>
              </a:rPr>
              <a:t>透明性不同：</a:t>
            </a:r>
            <a:r>
              <a:rPr lang="en-US" altLang="zh-CN" sz="2600">
                <a:latin typeface="宋体" pitchFamily="2" charset="-122"/>
              </a:rPr>
              <a:t>cache</a:t>
            </a:r>
            <a:r>
              <a:rPr lang="zh-CN" altLang="en-US" sz="2600">
                <a:latin typeface="宋体" pitchFamily="2" charset="-122"/>
              </a:rPr>
              <a:t>的管理完全由硬件完成，对系统程序员和应用程序员均透明；虚存管理由软件（操作系统）和硬件共同完成，由于软件的介入，虚存对实现存储管理的系统程序员不透明，而只对应用程序员透明（段式和段页式管理对应用程序员“半透明”）。</a:t>
            </a:r>
          </a:p>
          <a:p>
            <a:r>
              <a:rPr lang="zh-CN" altLang="en-US" sz="2600">
                <a:latin typeface="宋体" pitchFamily="2" charset="-122"/>
              </a:rPr>
              <a:t>    </a:t>
            </a:r>
            <a:r>
              <a:rPr lang="en-US" altLang="zh-CN" sz="2600">
                <a:latin typeface="宋体" pitchFamily="2" charset="-122"/>
              </a:rPr>
              <a:t>(4)</a:t>
            </a:r>
            <a:r>
              <a:rPr lang="zh-CN" altLang="en-US" sz="2600">
                <a:latin typeface="宋体" pitchFamily="2" charset="-122"/>
              </a:rPr>
              <a:t>未命中时的损失不同：主存的存取时间是</a:t>
            </a:r>
            <a:r>
              <a:rPr lang="en-US" altLang="zh-CN" sz="2600">
                <a:latin typeface="宋体" pitchFamily="2" charset="-122"/>
              </a:rPr>
              <a:t>cache</a:t>
            </a:r>
            <a:r>
              <a:rPr lang="zh-CN" altLang="en-US" sz="2600">
                <a:latin typeface="宋体" pitchFamily="2" charset="-122"/>
              </a:rPr>
              <a:t>的</a:t>
            </a:r>
            <a:r>
              <a:rPr lang="en-US" altLang="zh-CN" sz="2600">
                <a:latin typeface="宋体" pitchFamily="2" charset="-122"/>
              </a:rPr>
              <a:t>5-10</a:t>
            </a:r>
            <a:r>
              <a:rPr lang="zh-CN" altLang="en-US" sz="2600">
                <a:latin typeface="宋体" pitchFamily="2" charset="-122"/>
              </a:rPr>
              <a:t>倍，而主存的存取速度通常比辅存的存取速度快上千倍，故主存未命中时系统的性能损失远大于</a:t>
            </a:r>
            <a:r>
              <a:rPr lang="en-US" altLang="zh-CN" sz="2600">
                <a:latin typeface="宋体" pitchFamily="2" charset="-122"/>
              </a:rPr>
              <a:t>cache</a:t>
            </a:r>
            <a:r>
              <a:rPr lang="zh-CN" altLang="en-US" sz="2600">
                <a:latin typeface="宋体" pitchFamily="2" charset="-122"/>
              </a:rPr>
              <a:t>未命中时的损失。</a:t>
            </a:r>
          </a:p>
        </p:txBody>
      </p:sp>
      <p:sp>
        <p:nvSpPr>
          <p:cNvPr id="4" name="椭圆 3"/>
          <p:cNvSpPr/>
          <p:nvPr/>
        </p:nvSpPr>
        <p:spPr bwMode="auto">
          <a:xfrm>
            <a:off x="84843" y="91182"/>
            <a:ext cx="180000" cy="180000"/>
          </a:xfrm>
          <a:prstGeom prst="ellipse">
            <a:avLst/>
          </a:prstGeom>
          <a:solidFill>
            <a:srgbClr val="FF0000"/>
          </a:solidFill>
          <a:ln w="9525" cap="flat" cmpd="sng" algn="ctr">
            <a:solidFill>
              <a:schemeClr val="tx1"/>
            </a:solidFill>
            <a:prstDash val="solid"/>
            <a:round/>
            <a:headEnd type="none" w="med" len="med"/>
            <a:tailEnd type="none" w="med" len="med"/>
          </a:ln>
          <a:effectLst>
            <a:glow rad="101600">
              <a:schemeClr val="accent2">
                <a:satMod val="175000"/>
                <a:alpha val="40000"/>
              </a:schemeClr>
            </a:glow>
            <a:softEdge rad="63500"/>
          </a:effectLst>
          <a:scene3d>
            <a:camera prst="orthographicFront"/>
            <a:lightRig rig="threePt" dir="t"/>
          </a:scene3d>
          <a:sp3d>
            <a:bevelT/>
          </a:sp3d>
          <a:extLst/>
        </p:spPr>
        <p:txBody>
          <a:bodyPr wrap="none"/>
          <a:lstStyle>
            <a:defPPr>
              <a:defRPr lang="zh-CN"/>
            </a:defPPr>
            <a:lvl1pPr algn="l" rtl="0" fontAlgn="base">
              <a:spcBef>
                <a:spcPct val="0"/>
              </a:spcBef>
              <a:spcAft>
                <a:spcPct val="0"/>
              </a:spcAft>
              <a:defRPr sz="2800" kern="1200">
                <a:solidFill>
                  <a:schemeClr val="tx1"/>
                </a:solidFill>
                <a:latin typeface="Arial" charset="0"/>
                <a:ea typeface="楷体_GB2312" pitchFamily="49" charset="-122"/>
                <a:cs typeface="+mn-cs"/>
              </a:defRPr>
            </a:lvl1pPr>
            <a:lvl2pPr marL="457200" algn="l" rtl="0" fontAlgn="base">
              <a:spcBef>
                <a:spcPct val="0"/>
              </a:spcBef>
              <a:spcAft>
                <a:spcPct val="0"/>
              </a:spcAft>
              <a:defRPr sz="2800" kern="1200">
                <a:solidFill>
                  <a:schemeClr val="tx1"/>
                </a:solidFill>
                <a:latin typeface="Arial" charset="0"/>
                <a:ea typeface="楷体_GB2312" pitchFamily="49" charset="-122"/>
                <a:cs typeface="+mn-cs"/>
              </a:defRPr>
            </a:lvl2pPr>
            <a:lvl3pPr marL="914400" algn="l" rtl="0" fontAlgn="base">
              <a:spcBef>
                <a:spcPct val="0"/>
              </a:spcBef>
              <a:spcAft>
                <a:spcPct val="0"/>
              </a:spcAft>
              <a:defRPr sz="2800" kern="1200">
                <a:solidFill>
                  <a:schemeClr val="tx1"/>
                </a:solidFill>
                <a:latin typeface="Arial" charset="0"/>
                <a:ea typeface="楷体_GB2312" pitchFamily="49" charset="-122"/>
                <a:cs typeface="+mn-cs"/>
              </a:defRPr>
            </a:lvl3pPr>
            <a:lvl4pPr marL="1371600" algn="l" rtl="0" fontAlgn="base">
              <a:spcBef>
                <a:spcPct val="0"/>
              </a:spcBef>
              <a:spcAft>
                <a:spcPct val="0"/>
              </a:spcAft>
              <a:defRPr sz="2800" kern="1200">
                <a:solidFill>
                  <a:schemeClr val="tx1"/>
                </a:solidFill>
                <a:latin typeface="Arial" charset="0"/>
                <a:ea typeface="楷体_GB2312" pitchFamily="49" charset="-122"/>
                <a:cs typeface="+mn-cs"/>
              </a:defRPr>
            </a:lvl4pPr>
            <a:lvl5pPr marL="1828800" algn="l" rtl="0" fontAlgn="base">
              <a:spcBef>
                <a:spcPct val="0"/>
              </a:spcBef>
              <a:spcAft>
                <a:spcPct val="0"/>
              </a:spcAft>
              <a:defRPr sz="2800" kern="1200">
                <a:solidFill>
                  <a:schemeClr val="tx1"/>
                </a:solidFill>
                <a:latin typeface="Arial" charset="0"/>
                <a:ea typeface="楷体_GB2312" pitchFamily="49" charset="-122"/>
                <a:cs typeface="+mn-cs"/>
              </a:defRPr>
            </a:lvl5pPr>
            <a:lvl6pPr marL="2286000" algn="l" defTabSz="914400" rtl="0" eaLnBrk="1" latinLnBrk="0" hangingPunct="1">
              <a:defRPr sz="2800" kern="1200">
                <a:solidFill>
                  <a:schemeClr val="tx1"/>
                </a:solidFill>
                <a:latin typeface="Arial" charset="0"/>
                <a:ea typeface="楷体_GB2312" pitchFamily="49" charset="-122"/>
                <a:cs typeface="+mn-cs"/>
              </a:defRPr>
            </a:lvl6pPr>
            <a:lvl7pPr marL="2743200" algn="l" defTabSz="914400" rtl="0" eaLnBrk="1" latinLnBrk="0" hangingPunct="1">
              <a:defRPr sz="2800" kern="1200">
                <a:solidFill>
                  <a:schemeClr val="tx1"/>
                </a:solidFill>
                <a:latin typeface="Arial" charset="0"/>
                <a:ea typeface="楷体_GB2312" pitchFamily="49" charset="-122"/>
                <a:cs typeface="+mn-cs"/>
              </a:defRPr>
            </a:lvl7pPr>
            <a:lvl8pPr marL="3200400" algn="l" defTabSz="914400" rtl="0" eaLnBrk="1" latinLnBrk="0" hangingPunct="1">
              <a:defRPr sz="2800" kern="1200">
                <a:solidFill>
                  <a:schemeClr val="tx1"/>
                </a:solidFill>
                <a:latin typeface="Arial" charset="0"/>
                <a:ea typeface="楷体_GB2312" pitchFamily="49" charset="-122"/>
                <a:cs typeface="+mn-cs"/>
              </a:defRPr>
            </a:lvl8pPr>
            <a:lvl9pPr marL="3657600" algn="l" defTabSz="914400" rtl="0" eaLnBrk="1" latinLnBrk="0" hangingPunct="1">
              <a:defRPr sz="2800" kern="1200">
                <a:solidFill>
                  <a:schemeClr val="tx1"/>
                </a:solidFill>
                <a:latin typeface="Arial" charset="0"/>
                <a:ea typeface="楷体_GB2312" pitchFamily="49" charset="-122"/>
                <a:cs typeface="+mn-cs"/>
              </a:defRPr>
            </a:lvl9pPr>
          </a:lstStyle>
          <a:p>
            <a:pPr>
              <a:defRPr/>
            </a:pPr>
            <a:endParaRPr lang="zh-CN" altLang="en-US"/>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4"/>
          <p:cNvSpPr>
            <a:spLocks noChangeArrowheads="1"/>
          </p:cNvSpPr>
          <p:nvPr/>
        </p:nvSpPr>
        <p:spPr bwMode="auto">
          <a:xfrm>
            <a:off x="395288" y="241300"/>
            <a:ext cx="8280400" cy="13731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a:latin typeface="宋体" pitchFamily="2" charset="-122"/>
              </a:rPr>
              <a:t>3</a:t>
            </a:r>
            <a:r>
              <a:rPr lang="zh-CN" altLang="en-US">
                <a:latin typeface="宋体" pitchFamily="2" charset="-122"/>
              </a:rPr>
              <a:t>、主存</a:t>
            </a:r>
            <a:r>
              <a:rPr lang="en-US" altLang="zh-CN">
                <a:latin typeface="宋体" pitchFamily="2" charset="-122"/>
              </a:rPr>
              <a:t>-</a:t>
            </a:r>
            <a:r>
              <a:rPr lang="zh-CN" altLang="en-US">
                <a:latin typeface="宋体" pitchFamily="2" charset="-122"/>
              </a:rPr>
              <a:t>外存层次的基本信息传送单位。</a:t>
            </a:r>
          </a:p>
          <a:p>
            <a:r>
              <a:rPr lang="zh-CN" altLang="en-US">
                <a:latin typeface="宋体" pitchFamily="2" charset="-122"/>
              </a:rPr>
              <a:t>　　主存</a:t>
            </a:r>
            <a:r>
              <a:rPr lang="en-US" altLang="zh-CN">
                <a:latin typeface="宋体" pitchFamily="2" charset="-122"/>
              </a:rPr>
              <a:t>-</a:t>
            </a:r>
            <a:r>
              <a:rPr lang="zh-CN" altLang="en-US">
                <a:latin typeface="宋体" pitchFamily="2" charset="-122"/>
              </a:rPr>
              <a:t>外存层次的基本信息传送单位可采用几种不同的方案：段、页或段页。</a:t>
            </a:r>
          </a:p>
        </p:txBody>
      </p:sp>
      <p:sp>
        <p:nvSpPr>
          <p:cNvPr id="130055" name="Rectangle 7"/>
          <p:cNvSpPr>
            <a:spLocks noChangeArrowheads="1"/>
          </p:cNvSpPr>
          <p:nvPr/>
        </p:nvSpPr>
        <p:spPr bwMode="auto">
          <a:xfrm>
            <a:off x="381000" y="1828800"/>
            <a:ext cx="8353425" cy="39354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a:latin typeface="宋体" pitchFamily="2" charset="-122"/>
              </a:rPr>
              <a:t>　　段：按照程序的逻辑结构划分成的多个相对独立部分，作为独立的逻辑单位。</a:t>
            </a:r>
          </a:p>
          <a:p>
            <a:r>
              <a:rPr lang="zh-CN" altLang="en-US">
                <a:latin typeface="宋体" pitchFamily="2" charset="-122"/>
              </a:rPr>
              <a:t>　　优点：段的逻辑独立性使它易于编译、管理、修改和保护</a:t>
            </a:r>
            <a:r>
              <a:rPr lang="en-US" altLang="zh-CN">
                <a:latin typeface="宋体" pitchFamily="2" charset="-122"/>
              </a:rPr>
              <a:t>,</a:t>
            </a:r>
            <a:r>
              <a:rPr lang="zh-CN" altLang="en-US">
                <a:latin typeface="宋体" pitchFamily="2" charset="-122"/>
              </a:rPr>
              <a:t>也便于多道程序共享；某些类型的段具有动态可变长度</a:t>
            </a:r>
            <a:r>
              <a:rPr lang="en-US" altLang="zh-CN">
                <a:latin typeface="宋体" pitchFamily="2" charset="-122"/>
              </a:rPr>
              <a:t>,</a:t>
            </a:r>
            <a:r>
              <a:rPr lang="zh-CN" altLang="en-US">
                <a:latin typeface="宋体" pitchFamily="2" charset="-122"/>
              </a:rPr>
              <a:t>允许自由调度以便有效利用主存空间。</a:t>
            </a:r>
          </a:p>
          <a:p>
            <a:r>
              <a:rPr lang="zh-CN" altLang="en-US">
                <a:latin typeface="宋体" pitchFamily="2" charset="-122"/>
              </a:rPr>
              <a:t>　　缺点：因为段的长度各不相同，起点和终点不定，给主存空间分配带来麻烦，而且容易在段间留下许多空余的零碎存储空间，造成浪费。</a:t>
            </a:r>
          </a:p>
        </p:txBody>
      </p:sp>
      <p:sp>
        <p:nvSpPr>
          <p:cNvPr id="130056" name="Rectangle 8"/>
          <p:cNvSpPr>
            <a:spLocks noChangeArrowheads="1"/>
          </p:cNvSpPr>
          <p:nvPr/>
        </p:nvSpPr>
        <p:spPr bwMode="auto">
          <a:xfrm>
            <a:off x="381000" y="1828800"/>
            <a:ext cx="8389938" cy="39354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a:latin typeface="宋体" pitchFamily="2" charset="-122"/>
              </a:rPr>
              <a:t>    </a:t>
            </a:r>
            <a:r>
              <a:rPr lang="zh-CN" altLang="en-US">
                <a:latin typeface="宋体" pitchFamily="2" charset="-122"/>
              </a:rPr>
              <a:t>页：主存物理空间中划分出来的等长的固定区域。</a:t>
            </a:r>
          </a:p>
          <a:p>
            <a:r>
              <a:rPr lang="zh-CN" altLang="en-US">
                <a:latin typeface="宋体" pitchFamily="2" charset="-122"/>
              </a:rPr>
              <a:t>　　优点：页面的起点和终点地址是固定的</a:t>
            </a:r>
            <a:r>
              <a:rPr lang="en-US" altLang="zh-CN">
                <a:latin typeface="宋体" pitchFamily="2" charset="-122"/>
              </a:rPr>
              <a:t>,</a:t>
            </a:r>
            <a:r>
              <a:rPr lang="zh-CN" altLang="en-US">
                <a:latin typeface="宋体" pitchFamily="2" charset="-122"/>
              </a:rPr>
              <a:t>方便造页表</a:t>
            </a:r>
            <a:r>
              <a:rPr lang="en-US" altLang="zh-CN">
                <a:latin typeface="宋体" pitchFamily="2" charset="-122"/>
              </a:rPr>
              <a:t>,</a:t>
            </a:r>
            <a:r>
              <a:rPr lang="zh-CN" altLang="en-US">
                <a:latin typeface="宋体" pitchFamily="2" charset="-122"/>
              </a:rPr>
              <a:t>新页调入主存也很容易掌握，比段式空间浪费小。</a:t>
            </a:r>
          </a:p>
          <a:p>
            <a:r>
              <a:rPr lang="zh-CN" altLang="en-US">
                <a:latin typeface="宋体" pitchFamily="2" charset="-122"/>
              </a:rPr>
              <a:t>　　缺点：处理、保护和共享都不及段式来得方便。</a:t>
            </a:r>
          </a:p>
          <a:p>
            <a:r>
              <a:rPr lang="zh-CN" altLang="en-US">
                <a:latin typeface="宋体" pitchFamily="2" charset="-122"/>
              </a:rPr>
              <a:t>　　</a:t>
            </a:r>
          </a:p>
          <a:p>
            <a:r>
              <a:rPr lang="zh-CN" altLang="en-US">
                <a:latin typeface="宋体" pitchFamily="2" charset="-122"/>
              </a:rPr>
              <a:t>    段页式管理：采用分段和分页结合的方法。</a:t>
            </a:r>
          </a:p>
          <a:p>
            <a:r>
              <a:rPr lang="zh-CN" altLang="en-US">
                <a:latin typeface="宋体" pitchFamily="2" charset="-122"/>
              </a:rPr>
              <a:t>　　程序按模块分段，段内再分页，进入主存以页为基本信息传送单位，用段表和页表进行两级定位管理。</a:t>
            </a:r>
          </a:p>
        </p:txBody>
      </p:sp>
      <p:sp>
        <p:nvSpPr>
          <p:cNvPr id="5" name="椭圆 4"/>
          <p:cNvSpPr/>
          <p:nvPr/>
        </p:nvSpPr>
        <p:spPr bwMode="auto">
          <a:xfrm>
            <a:off x="160259" y="430554"/>
            <a:ext cx="180000" cy="180000"/>
          </a:xfrm>
          <a:prstGeom prst="ellipse">
            <a:avLst/>
          </a:prstGeom>
          <a:solidFill>
            <a:srgbClr val="FF0000"/>
          </a:solidFill>
          <a:ln w="9525" cap="flat" cmpd="sng" algn="ctr">
            <a:solidFill>
              <a:schemeClr val="tx1"/>
            </a:solidFill>
            <a:prstDash val="solid"/>
            <a:round/>
            <a:headEnd type="none" w="med" len="med"/>
            <a:tailEnd type="none" w="med" len="med"/>
          </a:ln>
          <a:effectLst>
            <a:glow rad="101600">
              <a:schemeClr val="accent2">
                <a:satMod val="175000"/>
                <a:alpha val="40000"/>
              </a:schemeClr>
            </a:glow>
            <a:softEdge rad="63500"/>
          </a:effectLst>
          <a:scene3d>
            <a:camera prst="orthographicFront"/>
            <a:lightRig rig="threePt" dir="t"/>
          </a:scene3d>
          <a:sp3d>
            <a:bevelT/>
          </a:sp3d>
          <a:extLst/>
        </p:spPr>
        <p:txBody>
          <a:bodyPr wrap="none"/>
          <a:lstStyle>
            <a:defPPr>
              <a:defRPr lang="zh-CN"/>
            </a:defPPr>
            <a:lvl1pPr algn="l" rtl="0" fontAlgn="base">
              <a:spcBef>
                <a:spcPct val="0"/>
              </a:spcBef>
              <a:spcAft>
                <a:spcPct val="0"/>
              </a:spcAft>
              <a:defRPr sz="2800" kern="1200">
                <a:solidFill>
                  <a:schemeClr val="tx1"/>
                </a:solidFill>
                <a:latin typeface="Arial" charset="0"/>
                <a:ea typeface="楷体_GB2312" pitchFamily="49" charset="-122"/>
                <a:cs typeface="+mn-cs"/>
              </a:defRPr>
            </a:lvl1pPr>
            <a:lvl2pPr marL="457200" algn="l" rtl="0" fontAlgn="base">
              <a:spcBef>
                <a:spcPct val="0"/>
              </a:spcBef>
              <a:spcAft>
                <a:spcPct val="0"/>
              </a:spcAft>
              <a:defRPr sz="2800" kern="1200">
                <a:solidFill>
                  <a:schemeClr val="tx1"/>
                </a:solidFill>
                <a:latin typeface="Arial" charset="0"/>
                <a:ea typeface="楷体_GB2312" pitchFamily="49" charset="-122"/>
                <a:cs typeface="+mn-cs"/>
              </a:defRPr>
            </a:lvl2pPr>
            <a:lvl3pPr marL="914400" algn="l" rtl="0" fontAlgn="base">
              <a:spcBef>
                <a:spcPct val="0"/>
              </a:spcBef>
              <a:spcAft>
                <a:spcPct val="0"/>
              </a:spcAft>
              <a:defRPr sz="2800" kern="1200">
                <a:solidFill>
                  <a:schemeClr val="tx1"/>
                </a:solidFill>
                <a:latin typeface="Arial" charset="0"/>
                <a:ea typeface="楷体_GB2312" pitchFamily="49" charset="-122"/>
                <a:cs typeface="+mn-cs"/>
              </a:defRPr>
            </a:lvl3pPr>
            <a:lvl4pPr marL="1371600" algn="l" rtl="0" fontAlgn="base">
              <a:spcBef>
                <a:spcPct val="0"/>
              </a:spcBef>
              <a:spcAft>
                <a:spcPct val="0"/>
              </a:spcAft>
              <a:defRPr sz="2800" kern="1200">
                <a:solidFill>
                  <a:schemeClr val="tx1"/>
                </a:solidFill>
                <a:latin typeface="Arial" charset="0"/>
                <a:ea typeface="楷体_GB2312" pitchFamily="49" charset="-122"/>
                <a:cs typeface="+mn-cs"/>
              </a:defRPr>
            </a:lvl4pPr>
            <a:lvl5pPr marL="1828800" algn="l" rtl="0" fontAlgn="base">
              <a:spcBef>
                <a:spcPct val="0"/>
              </a:spcBef>
              <a:spcAft>
                <a:spcPct val="0"/>
              </a:spcAft>
              <a:defRPr sz="2800" kern="1200">
                <a:solidFill>
                  <a:schemeClr val="tx1"/>
                </a:solidFill>
                <a:latin typeface="Arial" charset="0"/>
                <a:ea typeface="楷体_GB2312" pitchFamily="49" charset="-122"/>
                <a:cs typeface="+mn-cs"/>
              </a:defRPr>
            </a:lvl5pPr>
            <a:lvl6pPr marL="2286000" algn="l" defTabSz="914400" rtl="0" eaLnBrk="1" latinLnBrk="0" hangingPunct="1">
              <a:defRPr sz="2800" kern="1200">
                <a:solidFill>
                  <a:schemeClr val="tx1"/>
                </a:solidFill>
                <a:latin typeface="Arial" charset="0"/>
                <a:ea typeface="楷体_GB2312" pitchFamily="49" charset="-122"/>
                <a:cs typeface="+mn-cs"/>
              </a:defRPr>
            </a:lvl6pPr>
            <a:lvl7pPr marL="2743200" algn="l" defTabSz="914400" rtl="0" eaLnBrk="1" latinLnBrk="0" hangingPunct="1">
              <a:defRPr sz="2800" kern="1200">
                <a:solidFill>
                  <a:schemeClr val="tx1"/>
                </a:solidFill>
                <a:latin typeface="Arial" charset="0"/>
                <a:ea typeface="楷体_GB2312" pitchFamily="49" charset="-122"/>
                <a:cs typeface="+mn-cs"/>
              </a:defRPr>
            </a:lvl7pPr>
            <a:lvl8pPr marL="3200400" algn="l" defTabSz="914400" rtl="0" eaLnBrk="1" latinLnBrk="0" hangingPunct="1">
              <a:defRPr sz="2800" kern="1200">
                <a:solidFill>
                  <a:schemeClr val="tx1"/>
                </a:solidFill>
                <a:latin typeface="Arial" charset="0"/>
                <a:ea typeface="楷体_GB2312" pitchFamily="49" charset="-122"/>
                <a:cs typeface="+mn-cs"/>
              </a:defRPr>
            </a:lvl8pPr>
            <a:lvl9pPr marL="3657600" algn="l" defTabSz="914400" rtl="0" eaLnBrk="1" latinLnBrk="0" hangingPunct="1">
              <a:defRPr sz="2800" kern="1200">
                <a:solidFill>
                  <a:schemeClr val="tx1"/>
                </a:solidFill>
                <a:latin typeface="Arial" charset="0"/>
                <a:ea typeface="楷体_GB2312" pitchFamily="49" charset="-122"/>
                <a:cs typeface="+mn-cs"/>
              </a:defRPr>
            </a:lvl9pPr>
          </a:lstStyle>
          <a:p>
            <a:pPr>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0055"/>
                                        </p:tgtEl>
                                        <p:attrNameLst>
                                          <p:attrName>style.visibility</p:attrName>
                                        </p:attrNameLst>
                                      </p:cBhvr>
                                      <p:to>
                                        <p:strVal val="visible"/>
                                      </p:to>
                                    </p:set>
                                    <p:animEffect transition="in" filter="dissolve">
                                      <p:cBhvr>
                                        <p:cTn id="7" dur="500"/>
                                        <p:tgtEl>
                                          <p:spTgt spid="130055"/>
                                        </p:tgtEl>
                                      </p:cBhvr>
                                    </p:animEffect>
                                  </p:childTnLst>
                                  <p:subTnLst>
                                    <p:set>
                                      <p:cBhvr override="childStyle">
                                        <p:cTn dur="1" fill="hold" display="0" masterRel="nextClick" afterEffect="1"/>
                                        <p:tgtEl>
                                          <p:spTgt spid="130055"/>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0056"/>
                                        </p:tgtEl>
                                        <p:attrNameLst>
                                          <p:attrName>style.visibility</p:attrName>
                                        </p:attrNameLst>
                                      </p:cBhvr>
                                      <p:to>
                                        <p:strVal val="visible"/>
                                      </p:to>
                                    </p:set>
                                    <p:animEffect transition="in" filter="dissolve">
                                      <p:cBhvr>
                                        <p:cTn id="12" dur="500"/>
                                        <p:tgtEl>
                                          <p:spTgt spid="130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5" grpId="0" animBg="1" autoUpdateAnimBg="0"/>
      <p:bldP spid="130056" grpId="0" animBg="1" autoUpdateAnimBg="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75BEF444-CDAA-4C2A-B75C-09A7007D05F9}" type="slidenum">
              <a:rPr lang="en-US" altLang="zh-CN"/>
              <a:pPr>
                <a:defRPr/>
              </a:pPr>
              <a:t>164</a:t>
            </a:fld>
            <a:endParaRPr lang="en-US" altLang="zh-CN"/>
          </a:p>
        </p:txBody>
      </p:sp>
      <p:sp>
        <p:nvSpPr>
          <p:cNvPr id="178179" name="Rectangle 4"/>
          <p:cNvSpPr>
            <a:spLocks noChangeArrowheads="1"/>
          </p:cNvSpPr>
          <p:nvPr/>
        </p:nvSpPr>
        <p:spPr bwMode="auto">
          <a:xfrm>
            <a:off x="250825" y="333375"/>
            <a:ext cx="8642350" cy="607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r>
              <a:rPr lang="en-US" altLang="zh-CN" dirty="0">
                <a:latin typeface="楷体_GB2312" pitchFamily="49" charset="-122"/>
              </a:rPr>
              <a:t>1</a:t>
            </a:r>
            <a:r>
              <a:rPr lang="zh-CN" altLang="en-US" dirty="0">
                <a:latin typeface="楷体_GB2312" pitchFamily="49" charset="-122"/>
              </a:rPr>
              <a:t>．存储器是计算机系统中的记忆设备，它主要</a:t>
            </a:r>
          </a:p>
          <a:p>
            <a:r>
              <a:rPr lang="zh-CN" altLang="en-US" dirty="0">
                <a:latin typeface="楷体_GB2312" pitchFamily="49" charset="-122"/>
              </a:rPr>
              <a:t>   用来</a:t>
            </a:r>
            <a:r>
              <a:rPr lang="zh-CN" altLang="en-US" u="sng" dirty="0">
                <a:latin typeface="楷体_GB2312" pitchFamily="49" charset="-122"/>
              </a:rPr>
              <a:t>  </a:t>
            </a:r>
            <a:r>
              <a:rPr lang="en-US" altLang="zh-CN" u="sng" dirty="0">
                <a:latin typeface="楷体_GB2312" pitchFamily="49" charset="-122"/>
              </a:rPr>
              <a:t>C      </a:t>
            </a:r>
            <a:r>
              <a:rPr lang="en-US" altLang="zh-CN" dirty="0">
                <a:latin typeface="楷体_GB2312" pitchFamily="49" charset="-122"/>
              </a:rPr>
              <a:t>                  </a:t>
            </a:r>
          </a:p>
          <a:p>
            <a:r>
              <a:rPr lang="en-US" altLang="zh-CN" dirty="0">
                <a:latin typeface="楷体_GB2312" pitchFamily="49" charset="-122"/>
              </a:rPr>
              <a:t>   A</a:t>
            </a:r>
            <a:r>
              <a:rPr lang="zh-CN" altLang="en-US" dirty="0">
                <a:latin typeface="楷体_GB2312" pitchFamily="49" charset="-122"/>
              </a:rPr>
              <a:t>．存放数据         </a:t>
            </a:r>
            <a:r>
              <a:rPr lang="en-US" altLang="zh-CN" dirty="0">
                <a:latin typeface="楷体_GB2312" pitchFamily="49" charset="-122"/>
              </a:rPr>
              <a:t>B</a:t>
            </a:r>
            <a:r>
              <a:rPr lang="zh-CN" altLang="en-US" dirty="0">
                <a:latin typeface="楷体_GB2312" pitchFamily="49" charset="-122"/>
              </a:rPr>
              <a:t>．存放程序</a:t>
            </a:r>
          </a:p>
          <a:p>
            <a:r>
              <a:rPr lang="zh-CN" altLang="en-US" dirty="0">
                <a:latin typeface="楷体_GB2312" pitchFamily="49" charset="-122"/>
              </a:rPr>
              <a:t>   </a:t>
            </a:r>
            <a:r>
              <a:rPr lang="en-US" altLang="zh-CN" dirty="0">
                <a:latin typeface="楷体_GB2312" pitchFamily="49" charset="-122"/>
              </a:rPr>
              <a:t>C</a:t>
            </a:r>
            <a:r>
              <a:rPr lang="zh-CN" altLang="en-US" dirty="0">
                <a:latin typeface="楷体_GB2312" pitchFamily="49" charset="-122"/>
              </a:rPr>
              <a:t>．存放数据和程序   </a:t>
            </a:r>
            <a:r>
              <a:rPr lang="en-US" altLang="zh-CN" dirty="0">
                <a:latin typeface="楷体_GB2312" pitchFamily="49" charset="-122"/>
              </a:rPr>
              <a:t>D</a:t>
            </a:r>
            <a:r>
              <a:rPr lang="zh-CN" altLang="en-US" dirty="0">
                <a:latin typeface="楷体_GB2312" pitchFamily="49" charset="-122"/>
              </a:rPr>
              <a:t>．存放微程序</a:t>
            </a:r>
          </a:p>
          <a:p>
            <a:r>
              <a:rPr lang="en-US" altLang="zh-CN" dirty="0">
                <a:latin typeface="楷体_GB2312" pitchFamily="49" charset="-122"/>
              </a:rPr>
              <a:t>2</a:t>
            </a:r>
            <a:r>
              <a:rPr lang="zh-CN" altLang="en-US" dirty="0">
                <a:latin typeface="楷体_GB2312" pitchFamily="49" charset="-122"/>
              </a:rPr>
              <a:t>．存储单元是指</a:t>
            </a:r>
            <a:r>
              <a:rPr lang="zh-CN" altLang="en-US" u="sng" dirty="0">
                <a:latin typeface="楷体_GB2312" pitchFamily="49" charset="-122"/>
              </a:rPr>
              <a:t>   </a:t>
            </a:r>
            <a:r>
              <a:rPr lang="en-US" altLang="zh-CN" u="sng" dirty="0">
                <a:latin typeface="楷体_GB2312" pitchFamily="49" charset="-122"/>
              </a:rPr>
              <a:t>B   </a:t>
            </a:r>
            <a:r>
              <a:rPr lang="zh-CN" altLang="en-US" dirty="0">
                <a:latin typeface="楷体_GB2312" pitchFamily="49" charset="-122"/>
              </a:rPr>
              <a:t>。</a:t>
            </a:r>
          </a:p>
          <a:p>
            <a:r>
              <a:rPr lang="zh-CN" altLang="en-US" dirty="0">
                <a:latin typeface="楷体_GB2312" pitchFamily="49" charset="-122"/>
              </a:rPr>
              <a:t>   </a:t>
            </a:r>
            <a:r>
              <a:rPr lang="en-US" altLang="zh-CN" dirty="0">
                <a:latin typeface="楷体_GB2312" pitchFamily="49" charset="-122"/>
              </a:rPr>
              <a:t>A</a:t>
            </a:r>
            <a:r>
              <a:rPr lang="zh-CN" altLang="en-US" dirty="0">
                <a:latin typeface="楷体_GB2312" pitchFamily="49" charset="-122"/>
              </a:rPr>
              <a:t>．存放一个二进制信息位的存储元      </a:t>
            </a:r>
          </a:p>
          <a:p>
            <a:r>
              <a:rPr lang="zh-CN" altLang="en-US" dirty="0">
                <a:latin typeface="楷体_GB2312" pitchFamily="49" charset="-122"/>
              </a:rPr>
              <a:t>   </a:t>
            </a:r>
            <a:r>
              <a:rPr lang="en-US" altLang="zh-CN" dirty="0">
                <a:latin typeface="楷体_GB2312" pitchFamily="49" charset="-122"/>
              </a:rPr>
              <a:t>B</a:t>
            </a:r>
            <a:r>
              <a:rPr lang="zh-CN" altLang="en-US" dirty="0">
                <a:latin typeface="楷体_GB2312" pitchFamily="49" charset="-122"/>
              </a:rPr>
              <a:t>．存放一个机器字的所有存储元集合</a:t>
            </a:r>
          </a:p>
          <a:p>
            <a:r>
              <a:rPr lang="zh-CN" altLang="en-US" dirty="0">
                <a:latin typeface="楷体_GB2312" pitchFamily="49" charset="-122"/>
              </a:rPr>
              <a:t>   </a:t>
            </a:r>
            <a:r>
              <a:rPr lang="en-US" altLang="zh-CN" dirty="0">
                <a:latin typeface="楷体_GB2312" pitchFamily="49" charset="-122"/>
              </a:rPr>
              <a:t>C</a:t>
            </a:r>
            <a:r>
              <a:rPr lang="zh-CN" altLang="en-US" dirty="0">
                <a:latin typeface="楷体_GB2312" pitchFamily="49" charset="-122"/>
              </a:rPr>
              <a:t>．存放一个字节的所有存储元集合     </a:t>
            </a:r>
          </a:p>
          <a:p>
            <a:r>
              <a:rPr lang="zh-CN" altLang="en-US" dirty="0">
                <a:latin typeface="楷体_GB2312" pitchFamily="49" charset="-122"/>
              </a:rPr>
              <a:t>   </a:t>
            </a:r>
            <a:r>
              <a:rPr lang="en-US" altLang="zh-CN" dirty="0">
                <a:latin typeface="楷体_GB2312" pitchFamily="49" charset="-122"/>
              </a:rPr>
              <a:t>D</a:t>
            </a:r>
            <a:r>
              <a:rPr lang="zh-CN" altLang="en-US" dirty="0">
                <a:latin typeface="楷体_GB2312" pitchFamily="49" charset="-122"/>
              </a:rPr>
              <a:t>．存放两个字节的所有存储元集合</a:t>
            </a:r>
          </a:p>
          <a:p>
            <a:r>
              <a:rPr lang="en-US" altLang="zh-CN" dirty="0">
                <a:latin typeface="楷体_GB2312" pitchFamily="49" charset="-122"/>
              </a:rPr>
              <a:t>3</a:t>
            </a:r>
            <a:r>
              <a:rPr lang="zh-CN" altLang="en-US" dirty="0">
                <a:latin typeface="楷体_GB2312" pitchFamily="49" charset="-122"/>
              </a:rPr>
              <a:t>．计算机的存储器采用分级存储体系的主要目的是</a:t>
            </a:r>
            <a:r>
              <a:rPr lang="en-US" altLang="zh-CN" u="sng" dirty="0">
                <a:latin typeface="楷体_GB2312" pitchFamily="49" charset="-122"/>
              </a:rPr>
              <a:t>D</a:t>
            </a:r>
            <a:r>
              <a:rPr lang="zh-CN" altLang="en-US" dirty="0">
                <a:latin typeface="楷体_GB2312" pitchFamily="49" charset="-122"/>
              </a:rPr>
              <a:t>。</a:t>
            </a:r>
          </a:p>
          <a:p>
            <a:r>
              <a:rPr lang="zh-CN" altLang="en-US" dirty="0">
                <a:latin typeface="楷体_GB2312" pitchFamily="49" charset="-122"/>
              </a:rPr>
              <a:t>   </a:t>
            </a:r>
            <a:r>
              <a:rPr lang="en-US" altLang="zh-CN" dirty="0">
                <a:latin typeface="楷体_GB2312" pitchFamily="49" charset="-122"/>
              </a:rPr>
              <a:t>A</a:t>
            </a:r>
            <a:r>
              <a:rPr lang="zh-CN" altLang="en-US" dirty="0">
                <a:latin typeface="楷体_GB2312" pitchFamily="49" charset="-122"/>
              </a:rPr>
              <a:t>．便于读写数据    </a:t>
            </a:r>
          </a:p>
          <a:p>
            <a:r>
              <a:rPr lang="zh-CN" altLang="en-US" dirty="0">
                <a:latin typeface="楷体_GB2312" pitchFamily="49" charset="-122"/>
              </a:rPr>
              <a:t>   </a:t>
            </a:r>
            <a:r>
              <a:rPr lang="en-US" altLang="zh-CN" dirty="0">
                <a:latin typeface="楷体_GB2312" pitchFamily="49" charset="-122"/>
              </a:rPr>
              <a:t>B</a:t>
            </a:r>
            <a:r>
              <a:rPr lang="zh-CN" altLang="en-US" dirty="0">
                <a:latin typeface="楷体_GB2312" pitchFamily="49" charset="-122"/>
              </a:rPr>
              <a:t>．减小机箱的体积</a:t>
            </a:r>
          </a:p>
          <a:p>
            <a:r>
              <a:rPr lang="zh-CN" altLang="en-US" dirty="0">
                <a:latin typeface="楷体_GB2312" pitchFamily="49" charset="-122"/>
              </a:rPr>
              <a:t>   </a:t>
            </a:r>
            <a:r>
              <a:rPr lang="en-US" altLang="zh-CN" dirty="0">
                <a:latin typeface="楷体_GB2312" pitchFamily="49" charset="-122"/>
              </a:rPr>
              <a:t>C</a:t>
            </a:r>
            <a:r>
              <a:rPr lang="zh-CN" altLang="en-US" dirty="0">
                <a:latin typeface="楷体_GB2312" pitchFamily="49" charset="-122"/>
              </a:rPr>
              <a:t>．便于系统升级</a:t>
            </a:r>
          </a:p>
          <a:p>
            <a:r>
              <a:rPr lang="zh-CN" altLang="en-US" dirty="0">
                <a:latin typeface="楷体_GB2312" pitchFamily="49" charset="-122"/>
              </a:rPr>
              <a:t>   </a:t>
            </a:r>
            <a:r>
              <a:rPr lang="en-US" altLang="zh-CN" dirty="0">
                <a:latin typeface="楷体_GB2312" pitchFamily="49" charset="-122"/>
              </a:rPr>
              <a:t>D</a:t>
            </a:r>
            <a:r>
              <a:rPr lang="zh-CN" altLang="en-US" dirty="0">
                <a:latin typeface="楷体_GB2312" pitchFamily="49" charset="-122"/>
              </a:rPr>
              <a:t>．解决存储容量、价格和存取速度之间的矛盾</a:t>
            </a:r>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7213CE27-876F-4F19-A7E5-7B8FD7278D8C}" type="slidenum">
              <a:rPr lang="en-US" altLang="zh-CN"/>
              <a:pPr>
                <a:defRPr/>
              </a:pPr>
              <a:t>165</a:t>
            </a:fld>
            <a:endParaRPr lang="en-US" altLang="zh-CN"/>
          </a:p>
        </p:txBody>
      </p:sp>
      <p:sp>
        <p:nvSpPr>
          <p:cNvPr id="179203" name="Rectangle 4"/>
          <p:cNvSpPr>
            <a:spLocks noChangeArrowheads="1"/>
          </p:cNvSpPr>
          <p:nvPr/>
        </p:nvSpPr>
        <p:spPr bwMode="auto">
          <a:xfrm>
            <a:off x="179388" y="404813"/>
            <a:ext cx="8964612" cy="607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r>
              <a:rPr lang="en-US" altLang="zh-CN" dirty="0">
                <a:latin typeface="楷体_GB2312" pitchFamily="49" charset="-122"/>
              </a:rPr>
              <a:t>4.</a:t>
            </a:r>
            <a:r>
              <a:rPr lang="zh-CN" altLang="en-US" dirty="0">
                <a:latin typeface="楷体_GB2312" pitchFamily="49" charset="-122"/>
              </a:rPr>
              <a:t>存储周期是指</a:t>
            </a:r>
            <a:r>
              <a:rPr lang="zh-CN" altLang="en-US" u="sng" dirty="0">
                <a:latin typeface="楷体_GB2312" pitchFamily="49" charset="-122"/>
              </a:rPr>
              <a:t>  </a:t>
            </a:r>
            <a:r>
              <a:rPr lang="en-US" altLang="zh-CN" u="sng" dirty="0">
                <a:latin typeface="楷体_GB2312" pitchFamily="49" charset="-122"/>
              </a:rPr>
              <a:t>C   </a:t>
            </a:r>
            <a:r>
              <a:rPr lang="en-US" altLang="zh-CN" dirty="0">
                <a:latin typeface="楷体_GB2312" pitchFamily="49" charset="-122"/>
              </a:rPr>
              <a:t> </a:t>
            </a:r>
            <a:r>
              <a:rPr lang="zh-CN" altLang="en-US" dirty="0">
                <a:latin typeface="楷体_GB2312" pitchFamily="49" charset="-122"/>
              </a:rPr>
              <a:t>。</a:t>
            </a:r>
          </a:p>
          <a:p>
            <a:r>
              <a:rPr lang="zh-CN" altLang="en-US" dirty="0">
                <a:latin typeface="楷体_GB2312" pitchFamily="49" charset="-122"/>
              </a:rPr>
              <a:t>  </a:t>
            </a:r>
            <a:r>
              <a:rPr lang="en-US" altLang="zh-CN" dirty="0">
                <a:latin typeface="楷体_GB2312" pitchFamily="49" charset="-122"/>
              </a:rPr>
              <a:t>A</a:t>
            </a:r>
            <a:r>
              <a:rPr lang="zh-CN" altLang="en-US" dirty="0">
                <a:latin typeface="楷体_GB2312" pitchFamily="49" charset="-122"/>
              </a:rPr>
              <a:t>．存储器的读出时间</a:t>
            </a:r>
          </a:p>
          <a:p>
            <a:r>
              <a:rPr lang="zh-CN" altLang="en-US" dirty="0">
                <a:latin typeface="楷体_GB2312" pitchFamily="49" charset="-122"/>
              </a:rPr>
              <a:t>  </a:t>
            </a:r>
            <a:r>
              <a:rPr lang="en-US" altLang="zh-CN" dirty="0">
                <a:latin typeface="楷体_GB2312" pitchFamily="49" charset="-122"/>
              </a:rPr>
              <a:t>B</a:t>
            </a:r>
            <a:r>
              <a:rPr lang="zh-CN" altLang="en-US" dirty="0">
                <a:latin typeface="楷体_GB2312" pitchFamily="49" charset="-122"/>
              </a:rPr>
              <a:t>．存储器的写入时间</a:t>
            </a:r>
          </a:p>
          <a:p>
            <a:r>
              <a:rPr lang="zh-CN" altLang="en-US" dirty="0">
                <a:latin typeface="楷体_GB2312" pitchFamily="49" charset="-122"/>
              </a:rPr>
              <a:t>  </a:t>
            </a:r>
            <a:r>
              <a:rPr lang="en-US" altLang="zh-CN" dirty="0">
                <a:latin typeface="楷体_GB2312" pitchFamily="49" charset="-122"/>
              </a:rPr>
              <a:t>C</a:t>
            </a:r>
            <a:r>
              <a:rPr lang="zh-CN" altLang="en-US" dirty="0">
                <a:latin typeface="楷体_GB2312" pitchFamily="49" charset="-122"/>
              </a:rPr>
              <a:t>．存储器进行连续读和写操作所允许的最短时间间隔</a:t>
            </a:r>
          </a:p>
          <a:p>
            <a:r>
              <a:rPr lang="zh-CN" altLang="en-US" dirty="0">
                <a:latin typeface="楷体_GB2312" pitchFamily="49" charset="-122"/>
              </a:rPr>
              <a:t>  </a:t>
            </a:r>
            <a:r>
              <a:rPr lang="en-US" altLang="zh-CN" dirty="0">
                <a:latin typeface="楷体_GB2312" pitchFamily="49" charset="-122"/>
              </a:rPr>
              <a:t>D</a:t>
            </a:r>
            <a:r>
              <a:rPr lang="zh-CN" altLang="en-US" dirty="0">
                <a:latin typeface="楷体_GB2312" pitchFamily="49" charset="-122"/>
              </a:rPr>
              <a:t>．存储器进行连续写操作所允许的最短时间间隔</a:t>
            </a:r>
          </a:p>
          <a:p>
            <a:r>
              <a:rPr lang="en-US" altLang="zh-CN" dirty="0">
                <a:latin typeface="楷体_GB2312" pitchFamily="49" charset="-122"/>
              </a:rPr>
              <a:t>5.</a:t>
            </a:r>
            <a:r>
              <a:rPr lang="zh-CN" altLang="en-US" dirty="0">
                <a:latin typeface="楷体_GB2312" pitchFamily="49" charset="-122"/>
              </a:rPr>
              <a:t>某</a:t>
            </a:r>
            <a:r>
              <a:rPr lang="en-US" altLang="zh-CN" dirty="0">
                <a:latin typeface="楷体_GB2312" pitchFamily="49" charset="-122"/>
              </a:rPr>
              <a:t>SRAM</a:t>
            </a:r>
            <a:r>
              <a:rPr lang="zh-CN" altLang="en-US" dirty="0">
                <a:latin typeface="楷体_GB2312" pitchFamily="49" charset="-122"/>
              </a:rPr>
              <a:t>芯片，其存储容量为</a:t>
            </a:r>
            <a:r>
              <a:rPr lang="en-US" altLang="zh-CN" dirty="0">
                <a:latin typeface="楷体_GB2312" pitchFamily="49" charset="-122"/>
              </a:rPr>
              <a:t>64K*16</a:t>
            </a:r>
            <a:r>
              <a:rPr lang="zh-CN" altLang="en-US" dirty="0">
                <a:latin typeface="楷体_GB2312" pitchFamily="49" charset="-122"/>
              </a:rPr>
              <a:t>位，该芯片的地址</a:t>
            </a:r>
          </a:p>
          <a:p>
            <a:r>
              <a:rPr lang="zh-CN" altLang="en-US" dirty="0">
                <a:latin typeface="楷体_GB2312" pitchFamily="49" charset="-122"/>
              </a:rPr>
              <a:t>  线和数据线数目</a:t>
            </a:r>
            <a:r>
              <a:rPr lang="zh-CN" altLang="en-US" u="sng" dirty="0">
                <a:latin typeface="楷体_GB2312" pitchFamily="49" charset="-122"/>
              </a:rPr>
              <a:t>  </a:t>
            </a:r>
            <a:r>
              <a:rPr lang="en-US" altLang="zh-CN" u="sng" dirty="0">
                <a:latin typeface="楷体_GB2312" pitchFamily="49" charset="-122"/>
              </a:rPr>
              <a:t>D  </a:t>
            </a:r>
            <a:r>
              <a:rPr lang="en-US" altLang="zh-CN" dirty="0">
                <a:latin typeface="楷体_GB2312" pitchFamily="49" charset="-122"/>
              </a:rPr>
              <a:t>.</a:t>
            </a:r>
          </a:p>
          <a:p>
            <a:r>
              <a:rPr lang="en-US" altLang="zh-CN" dirty="0">
                <a:latin typeface="楷体_GB2312" pitchFamily="49" charset="-122"/>
              </a:rPr>
              <a:t>  A</a:t>
            </a:r>
            <a:r>
              <a:rPr lang="zh-CN" altLang="en-US" dirty="0">
                <a:latin typeface="楷体_GB2312" pitchFamily="49" charset="-122"/>
              </a:rPr>
              <a:t>．</a:t>
            </a:r>
            <a:r>
              <a:rPr lang="en-US" altLang="zh-CN" dirty="0">
                <a:latin typeface="楷体_GB2312" pitchFamily="49" charset="-122"/>
              </a:rPr>
              <a:t>64</a:t>
            </a:r>
            <a:r>
              <a:rPr lang="zh-CN" altLang="en-US" dirty="0">
                <a:latin typeface="楷体_GB2312" pitchFamily="49" charset="-122"/>
              </a:rPr>
              <a:t>，</a:t>
            </a:r>
            <a:r>
              <a:rPr lang="en-US" altLang="zh-CN" dirty="0">
                <a:latin typeface="楷体_GB2312" pitchFamily="49" charset="-122"/>
              </a:rPr>
              <a:t>16  B</a:t>
            </a:r>
            <a:r>
              <a:rPr lang="zh-CN" altLang="en-US" dirty="0">
                <a:latin typeface="楷体_GB2312" pitchFamily="49" charset="-122"/>
              </a:rPr>
              <a:t>．</a:t>
            </a:r>
            <a:r>
              <a:rPr lang="en-US" altLang="zh-CN" dirty="0">
                <a:latin typeface="楷体_GB2312" pitchFamily="49" charset="-122"/>
              </a:rPr>
              <a:t>16</a:t>
            </a:r>
            <a:r>
              <a:rPr lang="zh-CN" altLang="en-US" dirty="0">
                <a:latin typeface="楷体_GB2312" pitchFamily="49" charset="-122"/>
              </a:rPr>
              <a:t>，</a:t>
            </a:r>
            <a:r>
              <a:rPr lang="en-US" altLang="zh-CN" dirty="0">
                <a:latin typeface="楷体_GB2312" pitchFamily="49" charset="-122"/>
              </a:rPr>
              <a:t>64   C</a:t>
            </a:r>
            <a:r>
              <a:rPr lang="zh-CN" altLang="en-US" dirty="0">
                <a:latin typeface="楷体_GB2312" pitchFamily="49" charset="-122"/>
              </a:rPr>
              <a:t>．</a:t>
            </a:r>
            <a:r>
              <a:rPr lang="en-US" altLang="zh-CN" dirty="0">
                <a:latin typeface="楷体_GB2312" pitchFamily="49" charset="-122"/>
              </a:rPr>
              <a:t>64</a:t>
            </a:r>
            <a:r>
              <a:rPr lang="zh-CN" altLang="en-US" dirty="0">
                <a:latin typeface="楷体_GB2312" pitchFamily="49" charset="-122"/>
              </a:rPr>
              <a:t>，</a:t>
            </a:r>
            <a:r>
              <a:rPr lang="en-US" altLang="zh-CN" dirty="0">
                <a:latin typeface="楷体_GB2312" pitchFamily="49" charset="-122"/>
              </a:rPr>
              <a:t>8   D</a:t>
            </a:r>
            <a:r>
              <a:rPr lang="zh-CN" altLang="en-US" dirty="0">
                <a:latin typeface="楷体_GB2312" pitchFamily="49" charset="-122"/>
              </a:rPr>
              <a:t>．</a:t>
            </a:r>
            <a:r>
              <a:rPr lang="en-US" altLang="zh-CN" dirty="0">
                <a:latin typeface="楷体_GB2312" pitchFamily="49" charset="-122"/>
              </a:rPr>
              <a:t>16</a:t>
            </a:r>
            <a:r>
              <a:rPr lang="zh-CN" altLang="en-US" dirty="0">
                <a:latin typeface="楷体_GB2312" pitchFamily="49" charset="-122"/>
              </a:rPr>
              <a:t>，</a:t>
            </a:r>
            <a:r>
              <a:rPr lang="en-US" altLang="zh-CN" dirty="0">
                <a:latin typeface="楷体_GB2312" pitchFamily="49" charset="-122"/>
              </a:rPr>
              <a:t>16</a:t>
            </a:r>
          </a:p>
          <a:p>
            <a:r>
              <a:rPr lang="en-US" altLang="zh-CN" dirty="0">
                <a:latin typeface="楷体_GB2312" pitchFamily="49" charset="-122"/>
              </a:rPr>
              <a:t>6.</a:t>
            </a:r>
            <a:r>
              <a:rPr lang="zh-CN" altLang="en-US" dirty="0">
                <a:latin typeface="楷体_GB2312" pitchFamily="49" charset="-122"/>
              </a:rPr>
              <a:t>某存储容量为</a:t>
            </a:r>
            <a:r>
              <a:rPr lang="en-US" altLang="zh-CN" dirty="0">
                <a:latin typeface="楷体_GB2312" pitchFamily="49" charset="-122"/>
              </a:rPr>
              <a:t>512K*8</a:t>
            </a:r>
            <a:r>
              <a:rPr lang="zh-CN" altLang="en-US" dirty="0">
                <a:latin typeface="楷体_GB2312" pitchFamily="49" charset="-122"/>
              </a:rPr>
              <a:t>位，该芯片的地址线和数据线数</a:t>
            </a:r>
          </a:p>
          <a:p>
            <a:r>
              <a:rPr lang="zh-CN" altLang="en-US" dirty="0">
                <a:latin typeface="楷体_GB2312" pitchFamily="49" charset="-122"/>
              </a:rPr>
              <a:t>  目</a:t>
            </a:r>
            <a:r>
              <a:rPr lang="zh-CN" altLang="en-US" u="sng" dirty="0">
                <a:latin typeface="楷体_GB2312" pitchFamily="49" charset="-122"/>
              </a:rPr>
              <a:t>  </a:t>
            </a:r>
            <a:r>
              <a:rPr lang="en-US" altLang="zh-CN" u="sng" dirty="0">
                <a:latin typeface="楷体_GB2312" pitchFamily="49" charset="-122"/>
              </a:rPr>
              <a:t>D  </a:t>
            </a:r>
            <a:r>
              <a:rPr lang="en-US" altLang="zh-CN" dirty="0">
                <a:latin typeface="楷体_GB2312" pitchFamily="49" charset="-122"/>
              </a:rPr>
              <a:t>.</a:t>
            </a:r>
          </a:p>
          <a:p>
            <a:r>
              <a:rPr lang="en-US" altLang="zh-CN" dirty="0">
                <a:latin typeface="楷体_GB2312" pitchFamily="49" charset="-122"/>
              </a:rPr>
              <a:t>  A</a:t>
            </a:r>
            <a:r>
              <a:rPr lang="zh-CN" altLang="en-US" dirty="0">
                <a:latin typeface="楷体_GB2312" pitchFamily="49" charset="-122"/>
              </a:rPr>
              <a:t>．</a:t>
            </a:r>
            <a:r>
              <a:rPr lang="en-US" altLang="zh-CN" dirty="0">
                <a:latin typeface="楷体_GB2312" pitchFamily="49" charset="-122"/>
              </a:rPr>
              <a:t>8</a:t>
            </a:r>
            <a:r>
              <a:rPr lang="zh-CN" altLang="en-US" dirty="0">
                <a:latin typeface="楷体_GB2312" pitchFamily="49" charset="-122"/>
              </a:rPr>
              <a:t>，</a:t>
            </a:r>
            <a:r>
              <a:rPr lang="en-US" altLang="zh-CN" dirty="0">
                <a:latin typeface="楷体_GB2312" pitchFamily="49" charset="-122"/>
              </a:rPr>
              <a:t>512  B</a:t>
            </a:r>
            <a:r>
              <a:rPr lang="zh-CN" altLang="en-US" dirty="0">
                <a:latin typeface="楷体_GB2312" pitchFamily="49" charset="-122"/>
              </a:rPr>
              <a:t>．</a:t>
            </a:r>
            <a:r>
              <a:rPr lang="en-US" altLang="zh-CN" dirty="0">
                <a:latin typeface="楷体_GB2312" pitchFamily="49" charset="-122"/>
              </a:rPr>
              <a:t>512</a:t>
            </a:r>
            <a:r>
              <a:rPr lang="zh-CN" altLang="en-US" dirty="0">
                <a:latin typeface="楷体_GB2312" pitchFamily="49" charset="-122"/>
              </a:rPr>
              <a:t>，</a:t>
            </a:r>
            <a:r>
              <a:rPr lang="en-US" altLang="zh-CN" dirty="0">
                <a:latin typeface="楷体_GB2312" pitchFamily="49" charset="-122"/>
              </a:rPr>
              <a:t>8   C</a:t>
            </a:r>
            <a:r>
              <a:rPr lang="zh-CN" altLang="en-US" dirty="0">
                <a:latin typeface="楷体_GB2312" pitchFamily="49" charset="-122"/>
              </a:rPr>
              <a:t>．</a:t>
            </a:r>
            <a:r>
              <a:rPr lang="en-US" altLang="zh-CN" dirty="0">
                <a:latin typeface="楷体_GB2312" pitchFamily="49" charset="-122"/>
              </a:rPr>
              <a:t>18</a:t>
            </a:r>
            <a:r>
              <a:rPr lang="zh-CN" altLang="en-US" dirty="0">
                <a:latin typeface="楷体_GB2312" pitchFamily="49" charset="-122"/>
              </a:rPr>
              <a:t>，</a:t>
            </a:r>
            <a:r>
              <a:rPr lang="en-US" altLang="zh-CN" dirty="0">
                <a:latin typeface="楷体_GB2312" pitchFamily="49" charset="-122"/>
              </a:rPr>
              <a:t>8   D</a:t>
            </a:r>
            <a:r>
              <a:rPr lang="zh-CN" altLang="en-US" dirty="0">
                <a:latin typeface="楷体_GB2312" pitchFamily="49" charset="-122"/>
              </a:rPr>
              <a:t>．</a:t>
            </a:r>
            <a:r>
              <a:rPr lang="en-US" altLang="zh-CN" dirty="0">
                <a:latin typeface="楷体_GB2312" pitchFamily="49" charset="-122"/>
              </a:rPr>
              <a:t>19</a:t>
            </a:r>
            <a:r>
              <a:rPr lang="zh-CN" altLang="en-US" dirty="0">
                <a:latin typeface="楷体_GB2312" pitchFamily="49" charset="-122"/>
              </a:rPr>
              <a:t>，</a:t>
            </a:r>
            <a:r>
              <a:rPr lang="en-US" altLang="zh-CN" dirty="0">
                <a:latin typeface="楷体_GB2312" pitchFamily="49" charset="-122"/>
              </a:rPr>
              <a:t>8</a:t>
            </a:r>
          </a:p>
          <a:p>
            <a:r>
              <a:rPr lang="en-US" altLang="zh-CN" dirty="0">
                <a:latin typeface="楷体_GB2312" pitchFamily="49" charset="-122"/>
              </a:rPr>
              <a:t>7.</a:t>
            </a:r>
            <a:r>
              <a:rPr lang="zh-CN" altLang="en-US" dirty="0">
                <a:latin typeface="楷体_GB2312" pitchFamily="49" charset="-122"/>
              </a:rPr>
              <a:t>某机字长</a:t>
            </a:r>
            <a:r>
              <a:rPr lang="en-US" altLang="zh-CN" dirty="0">
                <a:latin typeface="楷体_GB2312" pitchFamily="49" charset="-122"/>
              </a:rPr>
              <a:t>32</a:t>
            </a:r>
            <a:r>
              <a:rPr lang="zh-CN" altLang="en-US" dirty="0">
                <a:latin typeface="楷体_GB2312" pitchFamily="49" charset="-122"/>
              </a:rPr>
              <a:t>位，存储容量</a:t>
            </a:r>
            <a:r>
              <a:rPr lang="en-US" altLang="zh-CN" dirty="0">
                <a:latin typeface="楷体_GB2312" pitchFamily="49" charset="-122"/>
              </a:rPr>
              <a:t>1MB</a:t>
            </a:r>
            <a:r>
              <a:rPr lang="zh-CN" altLang="en-US" dirty="0">
                <a:latin typeface="楷体_GB2312" pitchFamily="49" charset="-122"/>
              </a:rPr>
              <a:t>，若按字编址，它的寻址</a:t>
            </a:r>
          </a:p>
          <a:p>
            <a:r>
              <a:rPr lang="zh-CN" altLang="en-US" dirty="0">
                <a:latin typeface="楷体_GB2312" pitchFamily="49" charset="-122"/>
              </a:rPr>
              <a:t>  范围是</a:t>
            </a:r>
            <a:r>
              <a:rPr lang="zh-CN" altLang="en-US" u="sng" dirty="0">
                <a:latin typeface="楷体_GB2312" pitchFamily="49" charset="-122"/>
              </a:rPr>
              <a:t>  </a:t>
            </a:r>
            <a:r>
              <a:rPr lang="en-US" altLang="zh-CN" u="sng" dirty="0">
                <a:latin typeface="楷体_GB2312" pitchFamily="49" charset="-122"/>
              </a:rPr>
              <a:t>C  </a:t>
            </a:r>
            <a:endParaRPr lang="en-US" altLang="zh-CN" dirty="0">
              <a:latin typeface="楷体_GB2312" pitchFamily="49" charset="-122"/>
            </a:endParaRPr>
          </a:p>
          <a:p>
            <a:r>
              <a:rPr lang="en-US" altLang="zh-CN" dirty="0">
                <a:latin typeface="楷体_GB2312" pitchFamily="49" charset="-122"/>
              </a:rPr>
              <a:t>  A</a:t>
            </a:r>
            <a:r>
              <a:rPr lang="zh-CN" altLang="en-US" dirty="0">
                <a:latin typeface="楷体_GB2312" pitchFamily="49" charset="-122"/>
              </a:rPr>
              <a:t>．</a:t>
            </a:r>
            <a:r>
              <a:rPr lang="en-US" altLang="zh-CN" dirty="0">
                <a:latin typeface="楷体_GB2312" pitchFamily="49" charset="-122"/>
              </a:rPr>
              <a:t>1M    B</a:t>
            </a:r>
            <a:r>
              <a:rPr lang="zh-CN" altLang="en-US" dirty="0">
                <a:latin typeface="楷体_GB2312" pitchFamily="49" charset="-122"/>
              </a:rPr>
              <a:t>．</a:t>
            </a:r>
            <a:r>
              <a:rPr lang="en-US" altLang="zh-CN" dirty="0">
                <a:latin typeface="楷体_GB2312" pitchFamily="49" charset="-122"/>
              </a:rPr>
              <a:t>512KB    C</a:t>
            </a:r>
            <a:r>
              <a:rPr lang="zh-CN" altLang="en-US" dirty="0">
                <a:latin typeface="楷体_GB2312" pitchFamily="49" charset="-122"/>
              </a:rPr>
              <a:t>．</a:t>
            </a:r>
            <a:r>
              <a:rPr lang="en-US" altLang="zh-CN" dirty="0">
                <a:latin typeface="楷体_GB2312" pitchFamily="49" charset="-122"/>
              </a:rPr>
              <a:t>256K    D</a:t>
            </a:r>
            <a:r>
              <a:rPr lang="zh-CN" altLang="en-US" dirty="0">
                <a:latin typeface="楷体_GB2312" pitchFamily="49" charset="-122"/>
              </a:rPr>
              <a:t>．</a:t>
            </a:r>
            <a:r>
              <a:rPr lang="en-US" altLang="zh-CN" dirty="0">
                <a:latin typeface="楷体_GB2312" pitchFamily="49" charset="-122"/>
              </a:rPr>
              <a:t>256KB</a:t>
            </a:r>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D8C07A4F-A857-4EA8-91B2-5B3FEED8EB5C}" type="slidenum">
              <a:rPr lang="en-US" altLang="zh-CN"/>
              <a:pPr>
                <a:defRPr/>
              </a:pPr>
              <a:t>166</a:t>
            </a:fld>
            <a:endParaRPr lang="en-US" altLang="zh-CN"/>
          </a:p>
        </p:txBody>
      </p:sp>
      <p:sp>
        <p:nvSpPr>
          <p:cNvPr id="180227" name="Rectangle 4"/>
          <p:cNvSpPr>
            <a:spLocks noChangeArrowheads="1"/>
          </p:cNvSpPr>
          <p:nvPr/>
        </p:nvSpPr>
        <p:spPr bwMode="auto">
          <a:xfrm>
            <a:off x="179388" y="392113"/>
            <a:ext cx="8569325" cy="607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r>
              <a:rPr lang="en-US" altLang="zh-CN" dirty="0">
                <a:latin typeface="楷体_GB2312" pitchFamily="49" charset="-122"/>
              </a:rPr>
              <a:t>8.</a:t>
            </a:r>
            <a:r>
              <a:rPr lang="zh-CN" altLang="en-US" dirty="0">
                <a:latin typeface="楷体_GB2312" pitchFamily="49" charset="-122"/>
              </a:rPr>
              <a:t>某计算机字长</a:t>
            </a:r>
            <a:r>
              <a:rPr lang="en-US" altLang="zh-CN" dirty="0">
                <a:latin typeface="楷体_GB2312" pitchFamily="49" charset="-122"/>
              </a:rPr>
              <a:t>32</a:t>
            </a:r>
            <a:r>
              <a:rPr lang="zh-CN" altLang="en-US" dirty="0">
                <a:latin typeface="楷体_GB2312" pitchFamily="49" charset="-122"/>
              </a:rPr>
              <a:t>位，其存储容量为</a:t>
            </a:r>
            <a:r>
              <a:rPr lang="en-US" altLang="zh-CN" dirty="0">
                <a:latin typeface="楷体_GB2312" pitchFamily="49" charset="-122"/>
              </a:rPr>
              <a:t>4MB</a:t>
            </a:r>
            <a:r>
              <a:rPr lang="zh-CN" altLang="en-US" dirty="0">
                <a:latin typeface="楷体_GB2312" pitchFamily="49" charset="-122"/>
              </a:rPr>
              <a:t>，</a:t>
            </a:r>
          </a:p>
          <a:p>
            <a:r>
              <a:rPr lang="zh-CN" altLang="en-US" dirty="0">
                <a:latin typeface="楷体_GB2312" pitchFamily="49" charset="-122"/>
              </a:rPr>
              <a:t>  若按字编址，它的寻址范围是</a:t>
            </a:r>
            <a:r>
              <a:rPr lang="zh-CN" altLang="en-US" u="sng" dirty="0">
                <a:latin typeface="楷体_GB2312" pitchFamily="49" charset="-122"/>
              </a:rPr>
              <a:t>  </a:t>
            </a:r>
            <a:r>
              <a:rPr lang="en-US" altLang="zh-CN" u="sng" dirty="0">
                <a:latin typeface="楷体_GB2312" pitchFamily="49" charset="-122"/>
              </a:rPr>
              <a:t>A  </a:t>
            </a:r>
            <a:r>
              <a:rPr lang="en-US" altLang="zh-CN" dirty="0">
                <a:latin typeface="楷体_GB2312" pitchFamily="49" charset="-122"/>
              </a:rPr>
              <a:t>.</a:t>
            </a:r>
          </a:p>
          <a:p>
            <a:r>
              <a:rPr lang="en-US" altLang="zh-CN" dirty="0">
                <a:latin typeface="楷体_GB2312" pitchFamily="49" charset="-122"/>
              </a:rPr>
              <a:t>  A</a:t>
            </a:r>
            <a:r>
              <a:rPr lang="zh-CN" altLang="en-US" dirty="0">
                <a:latin typeface="楷体_GB2312" pitchFamily="49" charset="-122"/>
              </a:rPr>
              <a:t>．</a:t>
            </a:r>
            <a:r>
              <a:rPr lang="en-US" altLang="zh-CN" dirty="0">
                <a:latin typeface="楷体_GB2312" pitchFamily="49" charset="-122"/>
              </a:rPr>
              <a:t>1M    B</a:t>
            </a:r>
            <a:r>
              <a:rPr lang="zh-CN" altLang="en-US" dirty="0">
                <a:latin typeface="楷体_GB2312" pitchFamily="49" charset="-122"/>
              </a:rPr>
              <a:t>．</a:t>
            </a:r>
            <a:r>
              <a:rPr lang="en-US" altLang="zh-CN" dirty="0">
                <a:latin typeface="楷体_GB2312" pitchFamily="49" charset="-122"/>
              </a:rPr>
              <a:t>4MB    C</a:t>
            </a:r>
            <a:r>
              <a:rPr lang="zh-CN" altLang="en-US" dirty="0">
                <a:latin typeface="楷体_GB2312" pitchFamily="49" charset="-122"/>
              </a:rPr>
              <a:t>．</a:t>
            </a:r>
            <a:r>
              <a:rPr lang="en-US" altLang="zh-CN" dirty="0">
                <a:latin typeface="楷体_GB2312" pitchFamily="49" charset="-122"/>
              </a:rPr>
              <a:t>4M    D</a:t>
            </a:r>
            <a:r>
              <a:rPr lang="zh-CN" altLang="en-US" dirty="0">
                <a:latin typeface="楷体_GB2312" pitchFamily="49" charset="-122"/>
              </a:rPr>
              <a:t>．</a:t>
            </a:r>
            <a:r>
              <a:rPr lang="en-US" altLang="zh-CN" dirty="0">
                <a:latin typeface="楷体_GB2312" pitchFamily="49" charset="-122"/>
              </a:rPr>
              <a:t>1MB</a:t>
            </a:r>
          </a:p>
          <a:p>
            <a:r>
              <a:rPr lang="en-US" altLang="zh-CN" dirty="0">
                <a:latin typeface="楷体_GB2312" pitchFamily="49" charset="-122"/>
              </a:rPr>
              <a:t>9.</a:t>
            </a:r>
            <a:r>
              <a:rPr lang="zh-CN" altLang="en-US" dirty="0">
                <a:latin typeface="楷体_GB2312" pitchFamily="49" charset="-122"/>
              </a:rPr>
              <a:t>某计算机字长为</a:t>
            </a:r>
            <a:r>
              <a:rPr lang="en-US" altLang="zh-CN" dirty="0">
                <a:latin typeface="楷体_GB2312" pitchFamily="49" charset="-122"/>
              </a:rPr>
              <a:t>32</a:t>
            </a:r>
            <a:r>
              <a:rPr lang="zh-CN" altLang="en-US" dirty="0">
                <a:latin typeface="楷体_GB2312" pitchFamily="49" charset="-122"/>
              </a:rPr>
              <a:t>位，其存储容量为</a:t>
            </a:r>
            <a:r>
              <a:rPr lang="en-US" altLang="zh-CN" dirty="0">
                <a:latin typeface="楷体_GB2312" pitchFamily="49" charset="-122"/>
              </a:rPr>
              <a:t>16MB</a:t>
            </a:r>
            <a:r>
              <a:rPr lang="zh-CN" altLang="en-US" dirty="0">
                <a:latin typeface="楷体_GB2312" pitchFamily="49" charset="-122"/>
              </a:rPr>
              <a:t>，若按</a:t>
            </a:r>
          </a:p>
          <a:p>
            <a:r>
              <a:rPr lang="zh-CN" altLang="en-US" dirty="0">
                <a:latin typeface="楷体_GB2312" pitchFamily="49" charset="-122"/>
              </a:rPr>
              <a:t>  双字编址，它的寻址范围是</a:t>
            </a:r>
            <a:r>
              <a:rPr lang="zh-CN" altLang="en-US" u="sng" dirty="0">
                <a:latin typeface="楷体_GB2312" pitchFamily="49" charset="-122"/>
              </a:rPr>
              <a:t>  </a:t>
            </a:r>
            <a:r>
              <a:rPr lang="en-US" altLang="zh-CN" u="sng" dirty="0">
                <a:latin typeface="楷体_GB2312" pitchFamily="49" charset="-122"/>
              </a:rPr>
              <a:t>B  </a:t>
            </a:r>
            <a:r>
              <a:rPr lang="en-US" altLang="zh-CN" dirty="0">
                <a:latin typeface="楷体_GB2312" pitchFamily="49" charset="-122"/>
              </a:rPr>
              <a:t>.</a:t>
            </a:r>
          </a:p>
          <a:p>
            <a:r>
              <a:rPr lang="en-US" altLang="zh-CN" dirty="0">
                <a:latin typeface="楷体_GB2312" pitchFamily="49" charset="-122"/>
              </a:rPr>
              <a:t>  A</a:t>
            </a:r>
            <a:r>
              <a:rPr lang="zh-CN" altLang="en-US" dirty="0">
                <a:latin typeface="楷体_GB2312" pitchFamily="49" charset="-122"/>
              </a:rPr>
              <a:t>．</a:t>
            </a:r>
            <a:r>
              <a:rPr lang="en-US" altLang="zh-CN" dirty="0">
                <a:latin typeface="楷体_GB2312" pitchFamily="49" charset="-122"/>
              </a:rPr>
              <a:t>16MB    B</a:t>
            </a:r>
            <a:r>
              <a:rPr lang="zh-CN" altLang="en-US" dirty="0">
                <a:latin typeface="楷体_GB2312" pitchFamily="49" charset="-122"/>
              </a:rPr>
              <a:t>．</a:t>
            </a:r>
            <a:r>
              <a:rPr lang="en-US" altLang="zh-CN" dirty="0">
                <a:latin typeface="楷体_GB2312" pitchFamily="49" charset="-122"/>
              </a:rPr>
              <a:t>2M    C</a:t>
            </a:r>
            <a:r>
              <a:rPr lang="zh-CN" altLang="en-US" dirty="0">
                <a:latin typeface="楷体_GB2312" pitchFamily="49" charset="-122"/>
              </a:rPr>
              <a:t>．</a:t>
            </a:r>
            <a:r>
              <a:rPr lang="en-US" altLang="zh-CN" dirty="0">
                <a:latin typeface="楷体_GB2312" pitchFamily="49" charset="-122"/>
              </a:rPr>
              <a:t>8MB    D</a:t>
            </a:r>
            <a:r>
              <a:rPr lang="zh-CN" altLang="en-US" dirty="0">
                <a:latin typeface="楷体_GB2312" pitchFamily="49" charset="-122"/>
              </a:rPr>
              <a:t>．</a:t>
            </a:r>
            <a:r>
              <a:rPr lang="en-US" altLang="zh-CN" dirty="0">
                <a:latin typeface="楷体_GB2312" pitchFamily="49" charset="-122"/>
              </a:rPr>
              <a:t>16MB</a:t>
            </a:r>
          </a:p>
          <a:p>
            <a:r>
              <a:rPr lang="en-US" altLang="zh-CN" dirty="0">
                <a:latin typeface="楷体_GB2312" pitchFamily="49" charset="-122"/>
              </a:rPr>
              <a:t>10.</a:t>
            </a:r>
            <a:r>
              <a:rPr lang="zh-CN" altLang="en-US" dirty="0">
                <a:latin typeface="楷体_GB2312" pitchFamily="49" charset="-122"/>
              </a:rPr>
              <a:t>相联存储器是按</a:t>
            </a:r>
            <a:r>
              <a:rPr lang="zh-CN" altLang="en-US" u="sng" dirty="0">
                <a:latin typeface="楷体_GB2312" pitchFamily="49" charset="-122"/>
              </a:rPr>
              <a:t> </a:t>
            </a:r>
            <a:r>
              <a:rPr lang="en-US" altLang="zh-CN" u="sng" dirty="0">
                <a:latin typeface="楷体_GB2312" pitchFamily="49" charset="-122"/>
              </a:rPr>
              <a:t>C  </a:t>
            </a:r>
            <a:r>
              <a:rPr lang="en-US" altLang="zh-CN" dirty="0">
                <a:latin typeface="楷体_GB2312" pitchFamily="49" charset="-122"/>
              </a:rPr>
              <a:t> </a:t>
            </a:r>
            <a:r>
              <a:rPr lang="zh-CN" altLang="en-US" dirty="0">
                <a:latin typeface="楷体_GB2312" pitchFamily="49" charset="-122"/>
              </a:rPr>
              <a:t>进行寻址的存储器；</a:t>
            </a:r>
          </a:p>
          <a:p>
            <a:r>
              <a:rPr lang="zh-CN" altLang="en-US" dirty="0">
                <a:latin typeface="楷体_GB2312" pitchFamily="49" charset="-122"/>
              </a:rPr>
              <a:t>  </a:t>
            </a:r>
            <a:r>
              <a:rPr lang="en-US" altLang="zh-CN" dirty="0">
                <a:latin typeface="楷体_GB2312" pitchFamily="49" charset="-122"/>
              </a:rPr>
              <a:t>A</a:t>
            </a:r>
            <a:r>
              <a:rPr lang="zh-CN" altLang="en-US" dirty="0">
                <a:latin typeface="楷体_GB2312" pitchFamily="49" charset="-122"/>
              </a:rPr>
              <a:t>．地址指定方式 </a:t>
            </a:r>
            <a:r>
              <a:rPr lang="en-US" altLang="zh-CN" dirty="0">
                <a:latin typeface="楷体_GB2312" pitchFamily="49" charset="-122"/>
              </a:rPr>
              <a:t>B</a:t>
            </a:r>
            <a:r>
              <a:rPr lang="zh-CN" altLang="en-US" dirty="0">
                <a:latin typeface="楷体_GB2312" pitchFamily="49" charset="-122"/>
              </a:rPr>
              <a:t>．堆栈存取方式</a:t>
            </a:r>
          </a:p>
          <a:p>
            <a:r>
              <a:rPr lang="zh-CN" altLang="en-US" dirty="0">
                <a:latin typeface="楷体_GB2312" pitchFamily="49" charset="-122"/>
              </a:rPr>
              <a:t>  </a:t>
            </a:r>
            <a:r>
              <a:rPr lang="en-US" altLang="zh-CN" dirty="0">
                <a:latin typeface="楷体_GB2312" pitchFamily="49" charset="-122"/>
              </a:rPr>
              <a:t>C. </a:t>
            </a:r>
            <a:r>
              <a:rPr lang="zh-CN" altLang="en-US" dirty="0">
                <a:latin typeface="楷体_GB2312" pitchFamily="49" charset="-122"/>
              </a:rPr>
              <a:t>内容指定方式 </a:t>
            </a:r>
            <a:r>
              <a:rPr lang="en-US" altLang="zh-CN" dirty="0">
                <a:latin typeface="楷体_GB2312" pitchFamily="49" charset="-122"/>
              </a:rPr>
              <a:t>D</a:t>
            </a:r>
            <a:r>
              <a:rPr lang="zh-CN" altLang="en-US" dirty="0">
                <a:latin typeface="楷体_GB2312" pitchFamily="49" charset="-122"/>
              </a:rPr>
              <a:t>．地址指定与堆栈存取方式结合</a:t>
            </a:r>
          </a:p>
          <a:p>
            <a:r>
              <a:rPr lang="en-US" altLang="zh-CN" dirty="0">
                <a:latin typeface="楷体_GB2312" pitchFamily="49" charset="-122"/>
              </a:rPr>
              <a:t>11.</a:t>
            </a:r>
            <a:r>
              <a:rPr lang="zh-CN" altLang="en-US" dirty="0">
                <a:latin typeface="楷体_GB2312" pitchFamily="49" charset="-122"/>
              </a:rPr>
              <a:t>主存储器和</a:t>
            </a:r>
            <a:r>
              <a:rPr lang="en-US" altLang="zh-CN" dirty="0">
                <a:latin typeface="楷体_GB2312" pitchFamily="49" charset="-122"/>
              </a:rPr>
              <a:t>CPU</a:t>
            </a:r>
            <a:r>
              <a:rPr lang="zh-CN" altLang="en-US" dirty="0">
                <a:latin typeface="楷体_GB2312" pitchFamily="49" charset="-122"/>
              </a:rPr>
              <a:t>之间增加</a:t>
            </a:r>
            <a:r>
              <a:rPr lang="en-US" altLang="zh-CN" dirty="0">
                <a:latin typeface="楷体_GB2312" pitchFamily="49" charset="-122"/>
              </a:rPr>
              <a:t>cache</a:t>
            </a:r>
            <a:r>
              <a:rPr lang="zh-CN" altLang="en-US" dirty="0">
                <a:latin typeface="楷体_GB2312" pitchFamily="49" charset="-122"/>
              </a:rPr>
              <a:t>的目的是</a:t>
            </a:r>
            <a:r>
              <a:rPr lang="zh-CN" altLang="en-US" u="sng" dirty="0">
                <a:latin typeface="楷体_GB2312" pitchFamily="49" charset="-122"/>
              </a:rPr>
              <a:t> </a:t>
            </a:r>
            <a:r>
              <a:rPr lang="en-US" altLang="zh-CN" u="sng" dirty="0">
                <a:latin typeface="楷体_GB2312" pitchFamily="49" charset="-122"/>
              </a:rPr>
              <a:t>A  </a:t>
            </a:r>
            <a:endParaRPr lang="en-US" altLang="zh-CN" dirty="0">
              <a:latin typeface="楷体_GB2312" pitchFamily="49" charset="-122"/>
            </a:endParaRPr>
          </a:p>
          <a:p>
            <a:r>
              <a:rPr lang="en-US" altLang="zh-CN" dirty="0">
                <a:latin typeface="楷体_GB2312" pitchFamily="49" charset="-122"/>
              </a:rPr>
              <a:t>  A</a:t>
            </a:r>
            <a:r>
              <a:rPr lang="zh-CN" altLang="en-US" dirty="0">
                <a:latin typeface="楷体_GB2312" pitchFamily="49" charset="-122"/>
              </a:rPr>
              <a:t>．解决</a:t>
            </a:r>
            <a:r>
              <a:rPr lang="en-US" altLang="zh-CN" dirty="0">
                <a:latin typeface="楷体_GB2312" pitchFamily="49" charset="-122"/>
              </a:rPr>
              <a:t>CPU</a:t>
            </a:r>
            <a:r>
              <a:rPr lang="zh-CN" altLang="en-US" dirty="0">
                <a:latin typeface="楷体_GB2312" pitchFamily="49" charset="-122"/>
              </a:rPr>
              <a:t>和主存之间的速度匹配问题</a:t>
            </a:r>
          </a:p>
          <a:p>
            <a:r>
              <a:rPr lang="zh-CN" altLang="en-US" dirty="0">
                <a:latin typeface="楷体_GB2312" pitchFamily="49" charset="-122"/>
              </a:rPr>
              <a:t>  </a:t>
            </a:r>
            <a:r>
              <a:rPr lang="en-US" altLang="zh-CN" dirty="0">
                <a:latin typeface="楷体_GB2312" pitchFamily="49" charset="-122"/>
              </a:rPr>
              <a:t>B</a:t>
            </a:r>
            <a:r>
              <a:rPr lang="zh-CN" altLang="en-US" dirty="0">
                <a:latin typeface="楷体_GB2312" pitchFamily="49" charset="-122"/>
              </a:rPr>
              <a:t>．扩大主存储器的容量</a:t>
            </a:r>
          </a:p>
          <a:p>
            <a:r>
              <a:rPr lang="zh-CN" altLang="en-US" dirty="0">
                <a:latin typeface="楷体_GB2312" pitchFamily="49" charset="-122"/>
              </a:rPr>
              <a:t>  </a:t>
            </a:r>
            <a:r>
              <a:rPr lang="en-US" altLang="zh-CN" dirty="0">
                <a:latin typeface="楷体_GB2312" pitchFamily="49" charset="-122"/>
              </a:rPr>
              <a:t>C. </a:t>
            </a:r>
            <a:r>
              <a:rPr lang="zh-CN" altLang="en-US" dirty="0">
                <a:latin typeface="楷体_GB2312" pitchFamily="49" charset="-122"/>
              </a:rPr>
              <a:t>扩大</a:t>
            </a:r>
            <a:r>
              <a:rPr lang="en-US" altLang="zh-CN" dirty="0">
                <a:latin typeface="楷体_GB2312" pitchFamily="49" charset="-122"/>
              </a:rPr>
              <a:t>CPU</a:t>
            </a:r>
            <a:r>
              <a:rPr lang="zh-CN" altLang="en-US" dirty="0">
                <a:latin typeface="楷体_GB2312" pitchFamily="49" charset="-122"/>
              </a:rPr>
              <a:t>中通用寄存器的数量</a:t>
            </a:r>
          </a:p>
          <a:p>
            <a:r>
              <a:rPr lang="zh-CN" altLang="en-US" dirty="0">
                <a:latin typeface="楷体_GB2312" pitchFamily="49" charset="-122"/>
              </a:rPr>
              <a:t>  </a:t>
            </a:r>
            <a:r>
              <a:rPr lang="en-US" altLang="zh-CN" dirty="0">
                <a:latin typeface="楷体_GB2312" pitchFamily="49" charset="-122"/>
              </a:rPr>
              <a:t>D</a:t>
            </a:r>
            <a:r>
              <a:rPr lang="zh-CN" altLang="en-US" dirty="0">
                <a:latin typeface="楷体_GB2312" pitchFamily="49" charset="-122"/>
              </a:rPr>
              <a:t>．既扩大主存容量又扩大</a:t>
            </a:r>
            <a:r>
              <a:rPr lang="en-US" altLang="zh-CN" dirty="0">
                <a:latin typeface="楷体_GB2312" pitchFamily="49" charset="-122"/>
              </a:rPr>
              <a:t>CPU</a:t>
            </a:r>
            <a:r>
              <a:rPr lang="zh-CN" altLang="en-US" dirty="0">
                <a:latin typeface="楷体_GB2312" pitchFamily="49" charset="-122"/>
              </a:rPr>
              <a:t>通用寄存器数量</a:t>
            </a:r>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2FAAE80E-682C-433F-8E40-10858E3A43E3}" type="slidenum">
              <a:rPr lang="en-US" altLang="zh-CN"/>
              <a:pPr>
                <a:defRPr/>
              </a:pPr>
              <a:t>167</a:t>
            </a:fld>
            <a:endParaRPr lang="en-US" altLang="zh-CN"/>
          </a:p>
        </p:txBody>
      </p:sp>
      <p:sp>
        <p:nvSpPr>
          <p:cNvPr id="181251" name="Rectangle 4"/>
          <p:cNvSpPr>
            <a:spLocks noChangeArrowheads="1"/>
          </p:cNvSpPr>
          <p:nvPr/>
        </p:nvSpPr>
        <p:spPr bwMode="auto">
          <a:xfrm>
            <a:off x="179388" y="476250"/>
            <a:ext cx="8713787"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indent="200025"/>
            <a:r>
              <a:rPr lang="en-US" altLang="zh-CN" dirty="0">
                <a:latin typeface="楷体_GB2312" pitchFamily="49" charset="-122"/>
              </a:rPr>
              <a:t>12.EEPROM</a:t>
            </a:r>
            <a:r>
              <a:rPr lang="zh-CN" altLang="en-US" dirty="0">
                <a:latin typeface="楷体_GB2312" pitchFamily="49" charset="-122"/>
              </a:rPr>
              <a:t>是指（	</a:t>
            </a:r>
            <a:r>
              <a:rPr lang="en-US" altLang="zh-CN" dirty="0">
                <a:latin typeface="楷体_GB2312" pitchFamily="49" charset="-122"/>
              </a:rPr>
              <a:t>D </a:t>
            </a:r>
            <a:r>
              <a:rPr lang="zh-CN" altLang="en-US" dirty="0">
                <a:latin typeface="楷体_GB2312" pitchFamily="49" charset="-122"/>
              </a:rPr>
              <a:t>）</a:t>
            </a:r>
          </a:p>
          <a:p>
            <a:pPr indent="200025"/>
            <a:r>
              <a:rPr lang="zh-CN" altLang="en-US" dirty="0"/>
              <a:t>  </a:t>
            </a:r>
            <a:r>
              <a:rPr lang="zh-CN" altLang="en-US" dirty="0">
                <a:latin typeface="楷体_GB2312" pitchFamily="49" charset="-122"/>
              </a:rPr>
              <a:t>  </a:t>
            </a:r>
            <a:r>
              <a:rPr lang="en-US" altLang="zh-CN" dirty="0">
                <a:latin typeface="楷体_GB2312" pitchFamily="49" charset="-122"/>
              </a:rPr>
              <a:t>A </a:t>
            </a:r>
            <a:r>
              <a:rPr lang="zh-CN" altLang="en-US" dirty="0">
                <a:latin typeface="楷体_GB2312" pitchFamily="49" charset="-122"/>
              </a:rPr>
              <a:t>读写存储器 </a:t>
            </a:r>
            <a:r>
              <a:rPr lang="zh-CN" altLang="en-US" dirty="0"/>
              <a:t>   </a:t>
            </a:r>
            <a:r>
              <a:rPr lang="zh-CN" altLang="en-US" dirty="0">
                <a:latin typeface="楷体_GB2312" pitchFamily="49" charset="-122"/>
              </a:rPr>
              <a:t> </a:t>
            </a:r>
            <a:r>
              <a:rPr lang="en-US" altLang="zh-CN" dirty="0">
                <a:latin typeface="楷体_GB2312" pitchFamily="49" charset="-122"/>
              </a:rPr>
              <a:t>B</a:t>
            </a:r>
            <a:r>
              <a:rPr lang="en-US" altLang="zh-CN" dirty="0"/>
              <a:t> </a:t>
            </a:r>
            <a:r>
              <a:rPr lang="en-US" altLang="zh-CN" dirty="0">
                <a:latin typeface="楷体_GB2312" pitchFamily="49" charset="-122"/>
              </a:rPr>
              <a:t> </a:t>
            </a:r>
            <a:r>
              <a:rPr lang="zh-CN" altLang="en-US" dirty="0">
                <a:latin typeface="楷体_GB2312" pitchFamily="49" charset="-122"/>
              </a:rPr>
              <a:t>只读存储器</a:t>
            </a:r>
          </a:p>
          <a:p>
            <a:pPr indent="200025"/>
            <a:r>
              <a:rPr lang="zh-CN" altLang="en-US" dirty="0">
                <a:latin typeface="楷体_GB2312" pitchFamily="49" charset="-122"/>
              </a:rPr>
              <a:t> </a:t>
            </a:r>
            <a:r>
              <a:rPr lang="zh-CN" altLang="en-US" dirty="0"/>
              <a:t>  </a:t>
            </a:r>
            <a:r>
              <a:rPr lang="zh-CN" altLang="en-US" dirty="0">
                <a:latin typeface="楷体_GB2312" pitchFamily="49" charset="-122"/>
              </a:rPr>
              <a:t> </a:t>
            </a:r>
            <a:r>
              <a:rPr lang="en-US" altLang="zh-CN" dirty="0">
                <a:latin typeface="楷体_GB2312" pitchFamily="49" charset="-122"/>
              </a:rPr>
              <a:t>C </a:t>
            </a:r>
            <a:r>
              <a:rPr lang="zh-CN" altLang="en-US" dirty="0">
                <a:latin typeface="楷体_GB2312" pitchFamily="49" charset="-122"/>
              </a:rPr>
              <a:t>闪速存储器</a:t>
            </a:r>
            <a:r>
              <a:rPr lang="zh-CN" altLang="en-US" dirty="0"/>
              <a:t> </a:t>
            </a:r>
            <a:r>
              <a:rPr lang="zh-CN" altLang="en-US" dirty="0">
                <a:latin typeface="楷体_GB2312" pitchFamily="49" charset="-122"/>
              </a:rPr>
              <a:t> </a:t>
            </a:r>
            <a:r>
              <a:rPr lang="zh-CN" altLang="en-US" dirty="0"/>
              <a:t>  </a:t>
            </a:r>
            <a:r>
              <a:rPr lang="zh-CN" altLang="en-US" dirty="0">
                <a:latin typeface="楷体_GB2312" pitchFamily="49" charset="-122"/>
              </a:rPr>
              <a:t> </a:t>
            </a:r>
            <a:r>
              <a:rPr lang="en-US" altLang="zh-CN" dirty="0">
                <a:latin typeface="楷体_GB2312" pitchFamily="49" charset="-122"/>
              </a:rPr>
              <a:t>D</a:t>
            </a:r>
            <a:r>
              <a:rPr lang="en-US" altLang="zh-CN" dirty="0"/>
              <a:t> </a:t>
            </a:r>
            <a:r>
              <a:rPr lang="en-US" altLang="zh-CN" dirty="0">
                <a:latin typeface="楷体_GB2312" pitchFamily="49" charset="-122"/>
              </a:rPr>
              <a:t> </a:t>
            </a:r>
            <a:r>
              <a:rPr lang="zh-CN" altLang="en-US" dirty="0">
                <a:latin typeface="楷体_GB2312" pitchFamily="49" charset="-122"/>
              </a:rPr>
              <a:t>电擦除可编程只读存储器</a:t>
            </a:r>
          </a:p>
          <a:p>
            <a:pPr indent="200025"/>
            <a:r>
              <a:rPr lang="en-US" altLang="zh-CN" dirty="0">
                <a:latin typeface="楷体_GB2312" pitchFamily="49" charset="-122"/>
              </a:rPr>
              <a:t>13.</a:t>
            </a:r>
            <a:r>
              <a:rPr lang="zh-CN" altLang="en-US" dirty="0">
                <a:latin typeface="楷体_GB2312" pitchFamily="49" charset="-122"/>
              </a:rPr>
              <a:t>双端口存储器</a:t>
            </a:r>
            <a:r>
              <a:rPr lang="zh-CN" altLang="en-US" u="sng" dirty="0">
                <a:latin typeface="楷体_GB2312" pitchFamily="49" charset="-122"/>
              </a:rPr>
              <a:t>  </a:t>
            </a:r>
            <a:r>
              <a:rPr lang="en-US" altLang="zh-CN" u="sng" dirty="0">
                <a:latin typeface="楷体_GB2312" pitchFamily="49" charset="-122"/>
              </a:rPr>
              <a:t>B   </a:t>
            </a:r>
            <a:r>
              <a:rPr lang="zh-CN" altLang="en-US" dirty="0">
                <a:latin typeface="楷体_GB2312" pitchFamily="49" charset="-122"/>
              </a:rPr>
              <a:t>情况下会发生读／写冲突：</a:t>
            </a:r>
          </a:p>
          <a:p>
            <a:pPr indent="200025"/>
            <a:r>
              <a:rPr lang="zh-CN" altLang="en-US" dirty="0">
                <a:latin typeface="楷体_GB2312" pitchFamily="49" charset="-122"/>
              </a:rPr>
              <a:t>   </a:t>
            </a:r>
            <a:r>
              <a:rPr lang="en-US" altLang="zh-CN" dirty="0">
                <a:latin typeface="楷体_GB2312" pitchFamily="49" charset="-122"/>
              </a:rPr>
              <a:t>A. </a:t>
            </a:r>
            <a:r>
              <a:rPr lang="zh-CN" altLang="en-US" dirty="0">
                <a:latin typeface="楷体_GB2312" pitchFamily="49" charset="-122"/>
              </a:rPr>
              <a:t>左端口与右端口的地址码不同</a:t>
            </a:r>
          </a:p>
          <a:p>
            <a:pPr indent="200025"/>
            <a:r>
              <a:rPr lang="zh-CN" altLang="en-US" dirty="0">
                <a:latin typeface="楷体_GB2312" pitchFamily="49" charset="-122"/>
              </a:rPr>
              <a:t>   </a:t>
            </a:r>
            <a:r>
              <a:rPr lang="en-US" altLang="zh-CN" dirty="0">
                <a:latin typeface="楷体_GB2312" pitchFamily="49" charset="-122"/>
              </a:rPr>
              <a:t>B</a:t>
            </a:r>
            <a:r>
              <a:rPr lang="zh-CN" altLang="en-US" dirty="0">
                <a:latin typeface="楷体_GB2312" pitchFamily="49" charset="-122"/>
              </a:rPr>
              <a:t>．左端口与右端口的地址码相同</a:t>
            </a:r>
          </a:p>
          <a:p>
            <a:pPr indent="200025"/>
            <a:r>
              <a:rPr lang="zh-CN" altLang="en-US" dirty="0">
                <a:latin typeface="楷体_GB2312" pitchFamily="49" charset="-122"/>
              </a:rPr>
              <a:t>   </a:t>
            </a:r>
            <a:r>
              <a:rPr lang="en-US" altLang="zh-CN" dirty="0">
                <a:latin typeface="楷体_GB2312" pitchFamily="49" charset="-122"/>
              </a:rPr>
              <a:t>C. </a:t>
            </a:r>
            <a:r>
              <a:rPr lang="zh-CN" altLang="en-US" dirty="0">
                <a:latin typeface="楷体_GB2312" pitchFamily="49" charset="-122"/>
              </a:rPr>
              <a:t>左端口与右端口的数据码相同</a:t>
            </a:r>
          </a:p>
          <a:p>
            <a:pPr indent="200025"/>
            <a:r>
              <a:rPr lang="zh-CN" altLang="en-US" dirty="0">
                <a:latin typeface="楷体_GB2312" pitchFamily="49" charset="-122"/>
              </a:rPr>
              <a:t>   </a:t>
            </a:r>
            <a:r>
              <a:rPr lang="en-US" altLang="zh-CN" dirty="0">
                <a:latin typeface="楷体_GB2312" pitchFamily="49" charset="-122"/>
              </a:rPr>
              <a:t>D</a:t>
            </a:r>
            <a:r>
              <a:rPr lang="zh-CN" altLang="en-US" dirty="0">
                <a:latin typeface="楷体_GB2312" pitchFamily="49" charset="-122"/>
              </a:rPr>
              <a:t>．左端口与右端口的数据码不相同</a:t>
            </a:r>
          </a:p>
          <a:p>
            <a:pPr indent="200025"/>
            <a:r>
              <a:rPr lang="en-US" altLang="zh-CN" dirty="0">
                <a:latin typeface="楷体_GB2312" pitchFamily="49" charset="-122"/>
              </a:rPr>
              <a:t>14.</a:t>
            </a:r>
            <a:r>
              <a:rPr lang="zh-CN" altLang="en-US" dirty="0">
                <a:latin typeface="楷体_GB2312" pitchFamily="49" charset="-122"/>
              </a:rPr>
              <a:t>双端口存储器所以能进行高速读</a:t>
            </a:r>
            <a:r>
              <a:rPr lang="en-US" altLang="zh-CN" dirty="0">
                <a:latin typeface="楷体_GB2312" pitchFamily="49" charset="-122"/>
              </a:rPr>
              <a:t>/</a:t>
            </a:r>
            <a:r>
              <a:rPr lang="zh-CN" altLang="en-US" dirty="0">
                <a:latin typeface="楷体_GB2312" pitchFamily="49" charset="-122"/>
              </a:rPr>
              <a:t>写操作，是因为</a:t>
            </a:r>
          </a:p>
          <a:p>
            <a:pPr indent="200025"/>
            <a:r>
              <a:rPr lang="zh-CN" altLang="en-US" dirty="0">
                <a:latin typeface="楷体_GB2312" pitchFamily="49" charset="-122"/>
              </a:rPr>
              <a:t>   采用（</a:t>
            </a:r>
            <a:r>
              <a:rPr lang="en-US" altLang="zh-CN" dirty="0">
                <a:latin typeface="楷体_GB2312" pitchFamily="49" charset="-122"/>
              </a:rPr>
              <a:t>D</a:t>
            </a:r>
            <a:r>
              <a:rPr lang="zh-CN" altLang="en-US" dirty="0">
                <a:latin typeface="楷体_GB2312" pitchFamily="49" charset="-122"/>
              </a:rPr>
              <a:t>）。</a:t>
            </a:r>
          </a:p>
          <a:p>
            <a:pPr indent="200025"/>
            <a:r>
              <a:rPr lang="pt-BR" altLang="zh-CN" dirty="0">
                <a:latin typeface="楷体_GB2312" pitchFamily="49" charset="-122"/>
              </a:rPr>
              <a:t>   A</a:t>
            </a:r>
            <a:r>
              <a:rPr lang="pt-BR" altLang="zh-CN" dirty="0"/>
              <a:t> </a:t>
            </a:r>
            <a:r>
              <a:rPr lang="pt-BR" altLang="zh-CN" dirty="0">
                <a:latin typeface="楷体_GB2312" pitchFamily="49" charset="-122"/>
              </a:rPr>
              <a:t> </a:t>
            </a:r>
            <a:r>
              <a:rPr lang="zh-CN" altLang="pt-BR" dirty="0">
                <a:latin typeface="楷体_GB2312" pitchFamily="49" charset="-122"/>
              </a:rPr>
              <a:t>高速芯片</a:t>
            </a:r>
            <a:r>
              <a:rPr lang="zh-CN" altLang="pt-BR" dirty="0"/>
              <a:t>   </a:t>
            </a:r>
            <a:r>
              <a:rPr lang="zh-CN" altLang="pt-BR" dirty="0">
                <a:latin typeface="楷体_GB2312" pitchFamily="49" charset="-122"/>
              </a:rPr>
              <a:t> </a:t>
            </a:r>
            <a:r>
              <a:rPr lang="pt-BR" altLang="zh-CN" dirty="0">
                <a:latin typeface="楷体_GB2312" pitchFamily="49" charset="-122"/>
              </a:rPr>
              <a:t>B</a:t>
            </a:r>
            <a:r>
              <a:rPr lang="pt-BR" altLang="zh-CN" dirty="0"/>
              <a:t> </a:t>
            </a:r>
            <a:r>
              <a:rPr lang="pt-BR" altLang="zh-CN" dirty="0">
                <a:latin typeface="楷体_GB2312" pitchFamily="49" charset="-122"/>
              </a:rPr>
              <a:t> </a:t>
            </a:r>
            <a:r>
              <a:rPr lang="zh-CN" altLang="pt-BR" dirty="0">
                <a:latin typeface="楷体_GB2312" pitchFamily="49" charset="-122"/>
              </a:rPr>
              <a:t>新型器件</a:t>
            </a:r>
          </a:p>
          <a:p>
            <a:pPr indent="200025"/>
            <a:r>
              <a:rPr lang="zh-CN" altLang="pt-BR" dirty="0">
                <a:latin typeface="楷体_GB2312" pitchFamily="49" charset="-122"/>
              </a:rPr>
              <a:t> </a:t>
            </a:r>
            <a:r>
              <a:rPr lang="zh-CN" altLang="en-US" dirty="0">
                <a:latin typeface="楷体_GB2312" pitchFamily="49" charset="-122"/>
              </a:rPr>
              <a:t>  </a:t>
            </a:r>
            <a:r>
              <a:rPr lang="en-US" altLang="zh-CN" dirty="0">
                <a:latin typeface="楷体_GB2312" pitchFamily="49" charset="-122"/>
              </a:rPr>
              <a:t>C</a:t>
            </a:r>
            <a:r>
              <a:rPr lang="en-US" altLang="zh-CN" dirty="0"/>
              <a:t> </a:t>
            </a:r>
            <a:r>
              <a:rPr lang="en-US" altLang="zh-CN" dirty="0">
                <a:latin typeface="楷体_GB2312" pitchFamily="49" charset="-122"/>
              </a:rPr>
              <a:t> </a:t>
            </a:r>
            <a:r>
              <a:rPr lang="zh-CN" altLang="en-US" dirty="0">
                <a:latin typeface="楷体_GB2312" pitchFamily="49" charset="-122"/>
              </a:rPr>
              <a:t>流水技术</a:t>
            </a:r>
            <a:r>
              <a:rPr lang="zh-CN" altLang="en-US" dirty="0"/>
              <a:t> </a:t>
            </a:r>
            <a:r>
              <a:rPr lang="zh-CN" altLang="en-US" dirty="0">
                <a:latin typeface="楷体_GB2312" pitchFamily="49" charset="-122"/>
              </a:rPr>
              <a:t>  </a:t>
            </a:r>
            <a:r>
              <a:rPr lang="en-US" altLang="zh-CN" dirty="0">
                <a:latin typeface="楷体_GB2312" pitchFamily="49" charset="-122"/>
              </a:rPr>
              <a:t>D</a:t>
            </a:r>
            <a:r>
              <a:rPr lang="en-US" altLang="zh-CN" dirty="0"/>
              <a:t> </a:t>
            </a:r>
            <a:r>
              <a:rPr lang="en-US" altLang="zh-CN" dirty="0">
                <a:latin typeface="楷体_GB2312" pitchFamily="49" charset="-122"/>
              </a:rPr>
              <a:t> </a:t>
            </a:r>
            <a:r>
              <a:rPr lang="zh-CN" altLang="en-US" dirty="0">
                <a:latin typeface="楷体_GB2312" pitchFamily="49" charset="-122"/>
              </a:rPr>
              <a:t>两套相互独立的读写电路</a:t>
            </a:r>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FDD01295-31DD-47DE-887C-2AB82FAE9DC2}" type="slidenum">
              <a:rPr lang="en-US" altLang="zh-CN"/>
              <a:pPr>
                <a:defRPr/>
              </a:pPr>
              <a:t>168</a:t>
            </a:fld>
            <a:endParaRPr lang="en-US" altLang="zh-CN"/>
          </a:p>
        </p:txBody>
      </p:sp>
      <p:sp>
        <p:nvSpPr>
          <p:cNvPr id="182275" name="Rectangle 4"/>
          <p:cNvSpPr>
            <a:spLocks noChangeArrowheads="1"/>
          </p:cNvSpPr>
          <p:nvPr/>
        </p:nvSpPr>
        <p:spPr bwMode="auto">
          <a:xfrm>
            <a:off x="179388" y="177800"/>
            <a:ext cx="8785225" cy="649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p>
            <a:pPr indent="66675"/>
            <a:r>
              <a:rPr lang="en-US" altLang="zh-CN" dirty="0">
                <a:latin typeface="楷体_GB2312" pitchFamily="49" charset="-122"/>
              </a:rPr>
              <a:t>15.</a:t>
            </a:r>
            <a:r>
              <a:rPr lang="zh-CN" altLang="en-US" dirty="0">
                <a:latin typeface="楷体_GB2312" pitchFamily="49" charset="-122"/>
              </a:rPr>
              <a:t>下列说法中正确的是</a:t>
            </a:r>
            <a:r>
              <a:rPr lang="zh-CN" altLang="en-US" u="sng" dirty="0">
                <a:latin typeface="楷体_GB2312" pitchFamily="49" charset="-122"/>
              </a:rPr>
              <a:t>  </a:t>
            </a:r>
            <a:r>
              <a:rPr lang="en-US" altLang="zh-CN" u="sng" dirty="0">
                <a:latin typeface="楷体_GB2312" pitchFamily="49" charset="-122"/>
              </a:rPr>
              <a:t>D   </a:t>
            </a:r>
            <a:r>
              <a:rPr lang="zh-CN" altLang="en-US" dirty="0">
                <a:latin typeface="楷体_GB2312" pitchFamily="49" charset="-122"/>
              </a:rPr>
              <a:t>。</a:t>
            </a:r>
          </a:p>
          <a:p>
            <a:pPr indent="66675"/>
            <a:r>
              <a:rPr lang="zh-CN" altLang="en-US" dirty="0">
                <a:latin typeface="楷体_GB2312" pitchFamily="49" charset="-122"/>
              </a:rPr>
              <a:t>   </a:t>
            </a:r>
            <a:r>
              <a:rPr lang="en-US" altLang="zh-CN" dirty="0">
                <a:latin typeface="楷体_GB2312" pitchFamily="49" charset="-122"/>
              </a:rPr>
              <a:t>A.</a:t>
            </a:r>
            <a:r>
              <a:rPr lang="zh-CN" altLang="en-US" dirty="0">
                <a:latin typeface="楷体_GB2312" pitchFamily="49" charset="-122"/>
              </a:rPr>
              <a:t>多体交叉存储器主要解决扩充容量问题。</a:t>
            </a:r>
          </a:p>
          <a:p>
            <a:pPr indent="66675"/>
            <a:r>
              <a:rPr lang="zh-CN" altLang="en-US" dirty="0">
                <a:latin typeface="楷体_GB2312" pitchFamily="49" charset="-122"/>
              </a:rPr>
              <a:t>   </a:t>
            </a:r>
            <a:r>
              <a:rPr lang="en-US" altLang="zh-CN" dirty="0">
                <a:latin typeface="楷体_GB2312" pitchFamily="49" charset="-122"/>
              </a:rPr>
              <a:t>B. cache</a:t>
            </a:r>
            <a:r>
              <a:rPr lang="zh-CN" altLang="en-US" dirty="0">
                <a:latin typeface="楷体_GB2312" pitchFamily="49" charset="-122"/>
              </a:rPr>
              <a:t>与主存统一编址，</a:t>
            </a:r>
            <a:r>
              <a:rPr lang="en-US" altLang="zh-CN" dirty="0">
                <a:latin typeface="楷体_GB2312" pitchFamily="49" charset="-122"/>
              </a:rPr>
              <a:t>cache</a:t>
            </a:r>
            <a:r>
              <a:rPr lang="zh-CN" altLang="en-US" dirty="0">
                <a:latin typeface="楷体_GB2312" pitchFamily="49" charset="-122"/>
              </a:rPr>
              <a:t>的地址空间</a:t>
            </a:r>
          </a:p>
          <a:p>
            <a:pPr indent="66675"/>
            <a:r>
              <a:rPr lang="zh-CN" altLang="en-US" dirty="0">
                <a:latin typeface="楷体_GB2312" pitchFamily="49" charset="-122"/>
              </a:rPr>
              <a:t>      是主存地址空间的一部分。</a:t>
            </a:r>
          </a:p>
          <a:p>
            <a:pPr indent="66675"/>
            <a:r>
              <a:rPr lang="zh-CN" altLang="en-US" dirty="0">
                <a:latin typeface="楷体_GB2312" pitchFamily="49" charset="-122"/>
              </a:rPr>
              <a:t>   </a:t>
            </a:r>
            <a:r>
              <a:rPr lang="en-US" altLang="zh-CN" dirty="0">
                <a:latin typeface="楷体_GB2312" pitchFamily="49" charset="-122"/>
              </a:rPr>
              <a:t>C. </a:t>
            </a:r>
            <a:r>
              <a:rPr lang="zh-CN" altLang="en-US" dirty="0">
                <a:latin typeface="楷体_GB2312" pitchFamily="49" charset="-122"/>
              </a:rPr>
              <a:t>主存都是由易失性的随机读写存储器构成的。</a:t>
            </a:r>
          </a:p>
          <a:p>
            <a:pPr indent="66675"/>
            <a:r>
              <a:rPr lang="zh-CN" altLang="en-US" dirty="0">
                <a:latin typeface="楷体_GB2312" pitchFamily="49" charset="-122"/>
              </a:rPr>
              <a:t>   </a:t>
            </a:r>
            <a:r>
              <a:rPr lang="en-US" altLang="zh-CN" dirty="0">
                <a:latin typeface="楷体_GB2312" pitchFamily="49" charset="-122"/>
              </a:rPr>
              <a:t>D. cache</a:t>
            </a:r>
            <a:r>
              <a:rPr lang="zh-CN" altLang="en-US" dirty="0">
                <a:latin typeface="楷体_GB2312" pitchFamily="49" charset="-122"/>
              </a:rPr>
              <a:t>的功能全部由硬件实现。</a:t>
            </a:r>
          </a:p>
          <a:p>
            <a:pPr indent="66675"/>
            <a:r>
              <a:rPr lang="en-US" altLang="zh-CN" dirty="0">
                <a:latin typeface="楷体_GB2312" pitchFamily="49" charset="-122"/>
              </a:rPr>
              <a:t>16. </a:t>
            </a:r>
            <a:r>
              <a:rPr lang="zh-CN" altLang="en-US" dirty="0">
                <a:latin typeface="楷体_GB2312" pitchFamily="49" charset="-122"/>
              </a:rPr>
              <a:t>在</a:t>
            </a:r>
            <a:r>
              <a:rPr lang="en-US" altLang="zh-CN" dirty="0">
                <a:latin typeface="楷体_GB2312" pitchFamily="49" charset="-122"/>
              </a:rPr>
              <a:t>cache</a:t>
            </a:r>
            <a:r>
              <a:rPr lang="zh-CN" altLang="en-US" dirty="0">
                <a:latin typeface="楷体_GB2312" pitchFamily="49" charset="-122"/>
              </a:rPr>
              <a:t>的地址映射中，若主存中的任意一块均可</a:t>
            </a:r>
          </a:p>
          <a:p>
            <a:pPr indent="66675"/>
            <a:r>
              <a:rPr lang="zh-CN" altLang="en-US" dirty="0">
                <a:latin typeface="楷体_GB2312" pitchFamily="49" charset="-122"/>
              </a:rPr>
              <a:t>    映射到</a:t>
            </a:r>
            <a:r>
              <a:rPr lang="en-US" altLang="zh-CN" dirty="0">
                <a:latin typeface="楷体_GB2312" pitchFamily="49" charset="-122"/>
              </a:rPr>
              <a:t>cache</a:t>
            </a:r>
            <a:r>
              <a:rPr lang="zh-CN" altLang="en-US" dirty="0">
                <a:latin typeface="楷体_GB2312" pitchFamily="49" charset="-122"/>
              </a:rPr>
              <a:t>内的任意一块的位置上，则这种方法</a:t>
            </a:r>
          </a:p>
          <a:p>
            <a:pPr indent="66675"/>
            <a:r>
              <a:rPr lang="zh-CN" altLang="en-US" dirty="0">
                <a:latin typeface="楷体_GB2312" pitchFamily="49" charset="-122"/>
              </a:rPr>
              <a:t>    称为</a:t>
            </a:r>
            <a:r>
              <a:rPr lang="zh-CN" altLang="en-US" u="sng" dirty="0">
                <a:latin typeface="楷体_GB2312" pitchFamily="49" charset="-122"/>
              </a:rPr>
              <a:t>  </a:t>
            </a:r>
            <a:r>
              <a:rPr lang="en-US" altLang="zh-CN" u="sng" dirty="0">
                <a:latin typeface="楷体_GB2312" pitchFamily="49" charset="-122"/>
              </a:rPr>
              <a:t>A  </a:t>
            </a:r>
            <a:r>
              <a:rPr lang="zh-CN" altLang="en-US" dirty="0">
                <a:latin typeface="楷体_GB2312" pitchFamily="49" charset="-122"/>
              </a:rPr>
              <a:t>。</a:t>
            </a:r>
          </a:p>
          <a:p>
            <a:pPr indent="66675"/>
            <a:r>
              <a:rPr lang="zh-CN" altLang="en-US" dirty="0">
                <a:latin typeface="楷体_GB2312" pitchFamily="49" charset="-122"/>
              </a:rPr>
              <a:t>    </a:t>
            </a:r>
            <a:r>
              <a:rPr lang="en-US" altLang="zh-CN" dirty="0">
                <a:latin typeface="楷体_GB2312" pitchFamily="49" charset="-122"/>
              </a:rPr>
              <a:t>A. </a:t>
            </a:r>
            <a:r>
              <a:rPr lang="zh-CN" altLang="en-US" dirty="0">
                <a:latin typeface="楷体_GB2312" pitchFamily="49" charset="-122"/>
              </a:rPr>
              <a:t>全相联映射      </a:t>
            </a:r>
            <a:r>
              <a:rPr lang="en-US" altLang="zh-CN" dirty="0">
                <a:latin typeface="楷体_GB2312" pitchFamily="49" charset="-122"/>
              </a:rPr>
              <a:t>B</a:t>
            </a:r>
            <a:r>
              <a:rPr lang="zh-CN" altLang="en-US" dirty="0">
                <a:latin typeface="楷体_GB2312" pitchFamily="49" charset="-122"/>
              </a:rPr>
              <a:t>．直接映射 </a:t>
            </a:r>
          </a:p>
          <a:p>
            <a:pPr indent="66675"/>
            <a:r>
              <a:rPr lang="zh-CN" altLang="en-US" dirty="0">
                <a:latin typeface="楷体_GB2312" pitchFamily="49" charset="-122"/>
              </a:rPr>
              <a:t>    </a:t>
            </a:r>
            <a:r>
              <a:rPr lang="en-US" altLang="zh-CN" dirty="0">
                <a:latin typeface="楷体_GB2312" pitchFamily="49" charset="-122"/>
              </a:rPr>
              <a:t>C</a:t>
            </a:r>
            <a:r>
              <a:rPr lang="zh-CN" altLang="en-US" dirty="0">
                <a:latin typeface="楷体_GB2312" pitchFamily="49" charset="-122"/>
              </a:rPr>
              <a:t>．组相联映射    </a:t>
            </a:r>
            <a:r>
              <a:rPr lang="en-US" altLang="zh-CN" dirty="0">
                <a:latin typeface="楷体_GB2312" pitchFamily="49" charset="-122"/>
              </a:rPr>
              <a:t>D</a:t>
            </a:r>
            <a:r>
              <a:rPr lang="zh-CN" altLang="en-US" dirty="0">
                <a:latin typeface="楷体_GB2312" pitchFamily="49" charset="-122"/>
              </a:rPr>
              <a:t>．混合映射</a:t>
            </a:r>
          </a:p>
          <a:p>
            <a:pPr indent="66675"/>
            <a:r>
              <a:rPr lang="en-US" altLang="zh-CN" dirty="0">
                <a:latin typeface="楷体_GB2312" pitchFamily="49" charset="-122"/>
              </a:rPr>
              <a:t>17. </a:t>
            </a:r>
            <a:r>
              <a:rPr lang="zh-CN" altLang="en-US" dirty="0">
                <a:latin typeface="楷体_GB2312" pitchFamily="49" charset="-122"/>
              </a:rPr>
              <a:t>双端口存储器和多模块交叉存储器属于并行存储</a:t>
            </a:r>
          </a:p>
          <a:p>
            <a:pPr indent="66675"/>
            <a:r>
              <a:rPr lang="zh-CN" altLang="en-US" dirty="0">
                <a:latin typeface="楷体_GB2312" pitchFamily="49" charset="-122"/>
              </a:rPr>
              <a:t>    器结构，其中前者采用（</a:t>
            </a:r>
            <a:r>
              <a:rPr lang="en-US" altLang="zh-CN" dirty="0">
                <a:latin typeface="楷体_GB2312" pitchFamily="49" charset="-122"/>
              </a:rPr>
              <a:t>B </a:t>
            </a:r>
            <a:r>
              <a:rPr lang="zh-CN" altLang="en-US" dirty="0">
                <a:latin typeface="楷体_GB2312" pitchFamily="49" charset="-122"/>
              </a:rPr>
              <a:t>）并行技术，后者采</a:t>
            </a:r>
          </a:p>
          <a:p>
            <a:pPr indent="66675"/>
            <a:r>
              <a:rPr lang="zh-CN" altLang="en-US" dirty="0">
                <a:latin typeface="楷体_GB2312" pitchFamily="49" charset="-122"/>
              </a:rPr>
              <a:t>    用（</a:t>
            </a:r>
            <a:r>
              <a:rPr lang="en-US" altLang="zh-CN" dirty="0">
                <a:latin typeface="楷体_GB2312" pitchFamily="49" charset="-122"/>
              </a:rPr>
              <a:t>A </a:t>
            </a:r>
            <a:r>
              <a:rPr lang="zh-CN" altLang="en-US" dirty="0">
                <a:latin typeface="楷体_GB2312" pitchFamily="49" charset="-122"/>
              </a:rPr>
              <a:t>）并行技术。</a:t>
            </a:r>
          </a:p>
          <a:p>
            <a:pPr indent="66675"/>
            <a:r>
              <a:rPr lang="zh-CN" altLang="en-US" dirty="0">
                <a:latin typeface="楷体_GB2312" pitchFamily="49" charset="-122"/>
              </a:rPr>
              <a:t>    </a:t>
            </a:r>
            <a:r>
              <a:rPr lang="en-US" altLang="zh-CN" dirty="0">
                <a:latin typeface="楷体_GB2312" pitchFamily="49" charset="-122"/>
              </a:rPr>
              <a:t>A. </a:t>
            </a:r>
            <a:r>
              <a:rPr lang="zh-CN" altLang="en-US" dirty="0">
                <a:latin typeface="楷体_GB2312" pitchFamily="49" charset="-122"/>
              </a:rPr>
              <a:t>时间  </a:t>
            </a:r>
            <a:r>
              <a:rPr lang="en-US" altLang="zh-CN" dirty="0">
                <a:latin typeface="楷体_GB2312" pitchFamily="49" charset="-122"/>
              </a:rPr>
              <a:t>B</a:t>
            </a:r>
            <a:r>
              <a:rPr lang="zh-CN" altLang="en-US" dirty="0">
                <a:latin typeface="楷体_GB2312" pitchFamily="49" charset="-122"/>
              </a:rPr>
              <a:t>．空间 </a:t>
            </a:r>
            <a:r>
              <a:rPr lang="en-US" altLang="zh-CN" dirty="0">
                <a:latin typeface="楷体_GB2312" pitchFamily="49" charset="-122"/>
              </a:rPr>
              <a:t>C</a:t>
            </a:r>
            <a:r>
              <a:rPr lang="zh-CN" altLang="en-US" dirty="0">
                <a:latin typeface="楷体_GB2312" pitchFamily="49" charset="-122"/>
              </a:rPr>
              <a:t>．时间和空间  </a:t>
            </a:r>
            <a:r>
              <a:rPr lang="en-US" altLang="zh-CN" dirty="0">
                <a:latin typeface="楷体_GB2312" pitchFamily="49" charset="-122"/>
              </a:rPr>
              <a:t>D</a:t>
            </a:r>
            <a:r>
              <a:rPr lang="zh-CN" altLang="en-US" dirty="0">
                <a:latin typeface="楷体_GB2312" pitchFamily="49" charset="-122"/>
              </a:rPr>
              <a:t>．都不是</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800" b="0" i="0" u="none" strike="noStrike" cap="none" normalizeH="0" baseline="0" smtClean="0">
            <a:ln>
              <a:noFill/>
            </a:ln>
            <a:solidFill>
              <a:schemeClr val="tx1"/>
            </a:solidFill>
            <a:effectLst/>
            <a:latin typeface="Arial" charset="0"/>
            <a:ea typeface="楷体_GB2312" pitchFamily="49"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800" b="0" i="0" u="none" strike="noStrike" cap="none" normalizeH="0" baseline="0" smtClean="0">
            <a:ln>
              <a:noFill/>
            </a:ln>
            <a:solidFill>
              <a:schemeClr val="tx1"/>
            </a:solidFill>
            <a:effectLst/>
            <a:latin typeface="Arial" charset="0"/>
            <a:ea typeface="楷体_GB2312" pitchFamily="49"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20999</TotalTime>
  <Words>17162</Words>
  <Application>Microsoft Office PowerPoint</Application>
  <PresentationFormat>全屏显示(4:3)</PresentationFormat>
  <Paragraphs>1352</Paragraphs>
  <Slides>168</Slides>
  <Notes>10</Notes>
  <HiddenSlides>2</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168</vt:i4>
      </vt:variant>
    </vt:vector>
  </HeadingPairs>
  <TitlesOfParts>
    <vt:vector size="171" baseType="lpstr">
      <vt:lpstr>Network</vt:lpstr>
      <vt:lpstr>位图图像</vt:lpstr>
      <vt:lpstr>Equation</vt:lpstr>
      <vt:lpstr>第三章 存储器系统</vt:lpstr>
      <vt:lpstr>3.1存储器概述</vt:lpstr>
      <vt:lpstr>PowerPoint 演示文稿</vt:lpstr>
      <vt:lpstr>PowerPoint 演示文稿</vt:lpstr>
      <vt:lpstr>PowerPoint 演示文稿</vt:lpstr>
      <vt:lpstr>PowerPoint 演示文稿</vt:lpstr>
      <vt:lpstr>3.1.2  存储器分级结构</vt:lpstr>
      <vt:lpstr>3.1.2  存储器分级结构</vt:lpstr>
      <vt:lpstr>PowerPoint 演示文稿</vt:lpstr>
      <vt:lpstr>3.1.4 主存储器的技术指标</vt:lpstr>
      <vt:lpstr>3.2 SRAM存储器</vt:lpstr>
      <vt:lpstr>3.2 SRAM存储器</vt:lpstr>
      <vt:lpstr>3.2 SRAM存储器</vt:lpstr>
      <vt:lpstr>3.2 SRAM存储器</vt:lpstr>
      <vt:lpstr>PowerPoint 演示文稿</vt:lpstr>
      <vt:lpstr>PowerPoint 演示文稿</vt:lpstr>
      <vt:lpstr>PowerPoint 演示文稿</vt:lpstr>
      <vt:lpstr>PowerPoint 演示文稿</vt:lpstr>
      <vt:lpstr>PowerPoint 演示文稿</vt:lpstr>
      <vt:lpstr>PowerPoint 演示文稿</vt:lpstr>
      <vt:lpstr>3.3 DRAM存储器</vt:lpstr>
      <vt:lpstr>3.3 DRAM存储器</vt:lpstr>
      <vt:lpstr>PowerPoint 演示文稿</vt:lpstr>
      <vt:lpstr>3.3 DRAM存储器</vt:lpstr>
      <vt:lpstr>3.3 DRAM存储器</vt:lpstr>
      <vt:lpstr>PowerPoint 演示文稿</vt:lpstr>
      <vt:lpstr>PowerPoint 演示文稿</vt:lpstr>
      <vt:lpstr>PowerPoint 演示文稿</vt:lpstr>
      <vt:lpstr>3.3 DRAM存储器</vt:lpstr>
      <vt:lpstr>3.3 DRAM存储器</vt:lpstr>
      <vt:lpstr>3.3 DRAM存储器</vt:lpstr>
      <vt:lpstr>PowerPoint 演示文稿</vt:lpstr>
      <vt:lpstr>3.3 DRAM存储器</vt:lpstr>
      <vt:lpstr>3.3 DRAM存储器</vt:lpstr>
      <vt:lpstr>3.3 DRAM存储器</vt:lpstr>
      <vt:lpstr>PowerPoint 演示文稿</vt:lpstr>
      <vt:lpstr>3.3 DRAM存储器</vt:lpstr>
      <vt:lpstr>3.4 只读存储器和闪速存储器</vt:lpstr>
      <vt:lpstr>3.4 只读存储器和闪速存储器</vt:lpstr>
      <vt:lpstr>3.4  只读存储器和闪速存储器</vt:lpstr>
      <vt:lpstr>PowerPoint 演示文稿</vt:lpstr>
      <vt:lpstr>3.4 只读存储器和闪速存储器</vt:lpstr>
      <vt:lpstr>3.4  只读存储器和闪速存储器</vt:lpstr>
      <vt:lpstr>3.4 只读存储器和闪速存储器</vt:lpstr>
      <vt:lpstr>3.4  只读存储器和闪速存储器</vt:lpstr>
      <vt:lpstr>3.5  并行存储器</vt:lpstr>
      <vt:lpstr>3.5  并行存储器</vt:lpstr>
      <vt:lpstr>3.5  并行存储器</vt:lpstr>
      <vt:lpstr>3.5  并行存储器</vt:lpstr>
      <vt:lpstr>3.5  并行存储器</vt:lpstr>
      <vt:lpstr>3.5.1双端口存储器</vt:lpstr>
      <vt:lpstr>3.5  并行存储器</vt:lpstr>
      <vt:lpstr>3.5  并行存储器</vt:lpstr>
      <vt:lpstr>  </vt:lpstr>
      <vt:lpstr>例5 设存储器容量为32字，字长64位，模块数m=4，分别用顺序方式和交叉方式进行组织。存储周期T=200ns，数据总线宽度为64位，总线传送周期=50ns。若连续读出4个字，问顺序存储器和交叉存储器的带宽各是多少?</vt:lpstr>
      <vt:lpstr>PowerPoint 演示文稿</vt:lpstr>
      <vt:lpstr>二模块交叉存储器举例</vt:lpstr>
      <vt:lpstr>二模块交叉存储器举例</vt:lpstr>
      <vt:lpstr>3.6 Cache存储器</vt:lpstr>
      <vt:lpstr>3.6 Cache存储器</vt:lpstr>
      <vt:lpstr>3.6 Cache存储器</vt:lpstr>
      <vt:lpstr>3.6 Cache存储器</vt:lpstr>
      <vt:lpstr>3.6 Cache存储器</vt:lpstr>
      <vt:lpstr>3.6 Cache存储器</vt:lpstr>
      <vt:lpstr>[例6]CPU执行一段程序时，cache完成存取的次数为1900次，主存完成存取的次数为100次，已知cache存取周期为50ns，主存存取周期为250ns，求cache/主存系统的效率和平均访问时间。 </vt:lpstr>
      <vt:lpstr>3.6.2主存与Cache的地址映射</vt:lpstr>
      <vt:lpstr>一、全相联的映射方式</vt:lpstr>
      <vt:lpstr>PowerPoint 演示文稿</vt:lpstr>
      <vt:lpstr>    全相联的映射方式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三、组相联映射方式</vt:lpstr>
      <vt:lpstr>3、组相联映射方式</vt:lpstr>
      <vt:lpstr>PowerPoint 演示文稿</vt:lpstr>
      <vt:lpstr>PowerPoint 演示文稿</vt:lpstr>
      <vt:lpstr>PowerPoint 演示文稿</vt:lpstr>
      <vt:lpstr>3.6.3替换策略</vt:lpstr>
      <vt:lpstr>PowerPoint 演示文稿</vt:lpstr>
      <vt:lpstr>PowerPoint 演示文稿</vt:lpstr>
      <vt:lpstr>3.6.4写操作策略</vt:lpstr>
      <vt:lpstr>PowerPoint 演示文稿</vt:lpstr>
      <vt:lpstr>PowerPoint 演示文稿</vt:lpstr>
      <vt:lpstr>3.7 虚拟存储器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 章 小 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杨旭东</dc:creator>
  <cp:lastModifiedBy>msi</cp:lastModifiedBy>
  <cp:revision>516</cp:revision>
  <dcterms:created xsi:type="dcterms:W3CDTF">2008-05-19T20:46:00Z</dcterms:created>
  <dcterms:modified xsi:type="dcterms:W3CDTF">2021-10-09T14:18:48Z</dcterms:modified>
</cp:coreProperties>
</file>
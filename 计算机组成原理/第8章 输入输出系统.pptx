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sldIdLst>
    <p:sldId id="257" r:id="rId2"/>
    <p:sldId id="446" r:id="rId3"/>
    <p:sldId id="447" r:id="rId4"/>
    <p:sldId id="528" r:id="rId5"/>
    <p:sldId id="452" r:id="rId6"/>
    <p:sldId id="364" r:id="rId7"/>
    <p:sldId id="365" r:id="rId8"/>
    <p:sldId id="318" r:id="rId9"/>
    <p:sldId id="405" r:id="rId10"/>
    <p:sldId id="453" r:id="rId11"/>
    <p:sldId id="368" r:id="rId12"/>
    <p:sldId id="369" r:id="rId13"/>
    <p:sldId id="370" r:id="rId14"/>
    <p:sldId id="366" r:id="rId15"/>
    <p:sldId id="296" r:id="rId16"/>
    <p:sldId id="371" r:id="rId17"/>
    <p:sldId id="372" r:id="rId18"/>
    <p:sldId id="307" r:id="rId19"/>
    <p:sldId id="291" r:id="rId20"/>
    <p:sldId id="262" r:id="rId21"/>
    <p:sldId id="261" r:id="rId22"/>
    <p:sldId id="407" r:id="rId23"/>
    <p:sldId id="454" r:id="rId24"/>
    <p:sldId id="265" r:id="rId25"/>
    <p:sldId id="308" r:id="rId26"/>
    <p:sldId id="455" r:id="rId27"/>
    <p:sldId id="266" r:id="rId28"/>
    <p:sldId id="320" r:id="rId29"/>
    <p:sldId id="321" r:id="rId30"/>
    <p:sldId id="322" r:id="rId31"/>
    <p:sldId id="323" r:id="rId32"/>
    <p:sldId id="409" r:id="rId33"/>
    <p:sldId id="299" r:id="rId34"/>
    <p:sldId id="410" r:id="rId35"/>
    <p:sldId id="412" r:id="rId36"/>
    <p:sldId id="431" r:id="rId37"/>
    <p:sldId id="375" r:id="rId38"/>
    <p:sldId id="357" r:id="rId39"/>
    <p:sldId id="362" r:id="rId40"/>
    <p:sldId id="360" r:id="rId41"/>
    <p:sldId id="432" r:id="rId42"/>
    <p:sldId id="433" r:id="rId43"/>
    <p:sldId id="436" r:id="rId44"/>
    <p:sldId id="434" r:id="rId45"/>
    <p:sldId id="403" r:id="rId46"/>
    <p:sldId id="414" r:id="rId47"/>
    <p:sldId id="437" r:id="rId48"/>
    <p:sldId id="440" r:id="rId49"/>
    <p:sldId id="442" r:id="rId50"/>
    <p:sldId id="326" r:id="rId51"/>
    <p:sldId id="389" r:id="rId52"/>
    <p:sldId id="327" r:id="rId53"/>
    <p:sldId id="328" r:id="rId54"/>
    <p:sldId id="273" r:id="rId55"/>
    <p:sldId id="329" r:id="rId56"/>
    <p:sldId id="376" r:id="rId57"/>
    <p:sldId id="302" r:id="rId58"/>
    <p:sldId id="331" r:id="rId59"/>
    <p:sldId id="428" r:id="rId60"/>
    <p:sldId id="443" r:id="rId61"/>
    <p:sldId id="332" r:id="rId62"/>
    <p:sldId id="333" r:id="rId63"/>
    <p:sldId id="334" r:id="rId64"/>
    <p:sldId id="279" r:id="rId65"/>
    <p:sldId id="335" r:id="rId66"/>
    <p:sldId id="336" r:id="rId67"/>
    <p:sldId id="337" r:id="rId68"/>
    <p:sldId id="355" r:id="rId69"/>
    <p:sldId id="444" r:id="rId70"/>
    <p:sldId id="339" r:id="rId71"/>
    <p:sldId id="343" r:id="rId72"/>
    <p:sldId id="425" r:id="rId73"/>
    <p:sldId id="421" r:id="rId74"/>
    <p:sldId id="315" r:id="rId75"/>
    <p:sldId id="317" r:id="rId76"/>
    <p:sldId id="602" r:id="rId77"/>
  </p:sldIdLst>
  <p:sldSz cx="9144000" cy="6858000" type="screen4x3"/>
  <p:notesSz cx="6858000" cy="9144000"/>
  <p:custDataLst>
    <p:tags r:id="rId79"/>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0" userDrawn="1">
          <p15:clr>
            <a:srgbClr val="A4A3A4"/>
          </p15:clr>
        </p15:guide>
        <p15:guide id="2" pos="28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FFFF"/>
    <a:srgbClr val="66FFFF"/>
    <a:srgbClr val="0066FF"/>
    <a:srgbClr val="00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28" autoAdjust="0"/>
    <p:restoredTop sz="94660"/>
  </p:normalViewPr>
  <p:slideViewPr>
    <p:cSldViewPr showGuides="1">
      <p:cViewPr varScale="1">
        <p:scale>
          <a:sx n="74" d="100"/>
          <a:sy n="74" d="100"/>
        </p:scale>
        <p:origin x="1757" y="77"/>
      </p:cViewPr>
      <p:guideLst>
        <p:guide orient="horz" pos="2170"/>
        <p:guide pos="2882"/>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4003"/>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_rels/viewProps.xml.rels><?xml version="1.0" encoding="UTF-8" standalone="yes"?>
<Relationships xmlns="http://schemas.openxmlformats.org/package/2006/relationships"><Relationship Id="rId1"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charset="0"/>
              </a:defRPr>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charset="0"/>
              </a:defRPr>
            </a:lvl1pPr>
          </a:lstStyle>
          <a:p>
            <a:pPr>
              <a:defRPr/>
            </a:pPr>
            <a:endParaRPr lang="en-US" altLang="zh-CN"/>
          </a:p>
        </p:txBody>
      </p:sp>
      <p:sp>
        <p:nvSpPr>
          <p:cNvPr id="942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anose="02020603050405020304" charset="0"/>
              </a:defRPr>
            </a:lvl1pPr>
          </a:lstStyle>
          <a:p>
            <a:pPr>
              <a:defRPr/>
            </a:pPr>
            <a:fld id="{B06B321A-B186-4BDF-BCC2-B0C4FAEEC6EF}"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551B9358-8199-479E-9590-9727AFB03429}" type="slidenum">
              <a:rPr lang="en-US" altLang="zh-CN" smtClean="0">
                <a:latin typeface="Times New Roman" panose="02020603050405020304" charset="0"/>
              </a:rPr>
              <a:t>15</a:t>
            </a:fld>
            <a:endParaRPr lang="en-US" altLang="zh-CN">
              <a:latin typeface="Times New Roman" panose="02020603050405020304" charset="0"/>
            </a:endParaRPr>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noFill/>
        </p:spPr>
        <p:txBody>
          <a:bodyPr/>
          <a:lstStyle/>
          <a:p>
            <a:pPr eaLnBrk="1" hangingPunct="1"/>
            <a:r>
              <a:rPr lang="en-US" altLang="zh-CN">
                <a:latin typeface="Times New Roman" panose="02020603050405020304" charset="0"/>
              </a:rPr>
              <a:t>(1)</a:t>
            </a:r>
            <a:r>
              <a:rPr lang="zh-CN" altLang="en-US">
                <a:latin typeface="Times New Roman" panose="02020603050405020304" charset="0"/>
              </a:rPr>
              <a:t>先向</a:t>
            </a:r>
            <a:r>
              <a:rPr lang="en-US" altLang="zh-CN">
                <a:latin typeface="Times New Roman" panose="02020603050405020304" charset="0"/>
              </a:rPr>
              <a:t>I/O</a:t>
            </a:r>
            <a:r>
              <a:rPr lang="zh-CN" altLang="en-US">
                <a:latin typeface="Times New Roman" panose="02020603050405020304" charset="0"/>
              </a:rPr>
              <a:t>设备发出命令字，请求进行数据传送；</a:t>
            </a:r>
          </a:p>
          <a:p>
            <a:pPr eaLnBrk="1" hangingPunct="1"/>
            <a:r>
              <a:rPr lang="en-US" altLang="zh-CN">
                <a:latin typeface="Times New Roman" panose="02020603050405020304" charset="0"/>
              </a:rPr>
              <a:t>(2)</a:t>
            </a:r>
            <a:r>
              <a:rPr lang="zh-CN" altLang="en-US">
                <a:latin typeface="Times New Roman" panose="02020603050405020304" charset="0"/>
              </a:rPr>
              <a:t>从</a:t>
            </a:r>
            <a:r>
              <a:rPr lang="en-US" altLang="zh-CN">
                <a:latin typeface="Times New Roman" panose="02020603050405020304" charset="0"/>
              </a:rPr>
              <a:t>I/O</a:t>
            </a:r>
            <a:r>
              <a:rPr lang="zh-CN" altLang="en-US">
                <a:latin typeface="Times New Roman" panose="02020603050405020304" charset="0"/>
              </a:rPr>
              <a:t>接口读入状态字；</a:t>
            </a:r>
          </a:p>
          <a:p>
            <a:pPr eaLnBrk="1" hangingPunct="1"/>
            <a:r>
              <a:rPr lang="en-US" altLang="zh-CN">
                <a:latin typeface="Times New Roman" panose="02020603050405020304" charset="0"/>
              </a:rPr>
              <a:t>(3)</a:t>
            </a:r>
            <a:r>
              <a:rPr lang="zh-CN" altLang="en-US">
                <a:latin typeface="Times New Roman" panose="02020603050405020304" charset="0"/>
              </a:rPr>
              <a:t>检查状态字中的标志，看看数据交换是否可以进行；</a:t>
            </a:r>
          </a:p>
          <a:p>
            <a:pPr eaLnBrk="1" hangingPunct="1"/>
            <a:r>
              <a:rPr lang="en-US" altLang="zh-CN">
                <a:latin typeface="Times New Roman" panose="02020603050405020304" charset="0"/>
              </a:rPr>
              <a:t>(4)</a:t>
            </a:r>
            <a:r>
              <a:rPr lang="zh-CN" altLang="en-US">
                <a:latin typeface="Times New Roman" panose="02020603050405020304" charset="0"/>
              </a:rPr>
              <a:t>假如这个设备没有准备就绪，则第</a:t>
            </a:r>
            <a:r>
              <a:rPr lang="en-US" altLang="zh-CN">
                <a:latin typeface="Times New Roman" panose="02020603050405020304" charset="0"/>
              </a:rPr>
              <a:t>(2)</a:t>
            </a:r>
            <a:r>
              <a:rPr lang="zh-CN" altLang="en-US">
                <a:latin typeface="Times New Roman" panose="02020603050405020304" charset="0"/>
              </a:rPr>
              <a:t>、第</a:t>
            </a:r>
            <a:r>
              <a:rPr lang="en-US" altLang="zh-CN">
                <a:latin typeface="Times New Roman" panose="02020603050405020304" charset="0"/>
              </a:rPr>
              <a:t>(3)</a:t>
            </a:r>
            <a:r>
              <a:rPr lang="zh-CN" altLang="en-US">
                <a:latin typeface="Times New Roman" panose="02020603050405020304" charset="0"/>
              </a:rPr>
              <a:t>步重复进行，一直到这个设备准备好交换数据，发出准备就绪信号</a:t>
            </a:r>
            <a:r>
              <a:rPr lang="zh-CN" altLang="en-US">
                <a:latin typeface="Arial" panose="020B0604020202020204" pitchFamily="34" charset="0"/>
              </a:rPr>
              <a:t>“</a:t>
            </a:r>
            <a:r>
              <a:rPr lang="en-US" altLang="zh-CN">
                <a:latin typeface="Times New Roman" panose="02020603050405020304" charset="0"/>
              </a:rPr>
              <a:t>Ready</a:t>
            </a:r>
            <a:r>
              <a:rPr lang="en-US" altLang="zh-CN">
                <a:latin typeface="Arial" panose="020B0604020202020204" pitchFamily="34" charset="0"/>
              </a:rPr>
              <a:t>”</a:t>
            </a:r>
            <a:r>
              <a:rPr lang="zh-CN" altLang="en-US">
                <a:latin typeface="Times New Roman" panose="02020603050405020304" charset="0"/>
              </a:rPr>
              <a:t>为止；</a:t>
            </a:r>
          </a:p>
          <a:p>
            <a:pPr eaLnBrk="1" hangingPunct="1"/>
            <a:r>
              <a:rPr lang="en-US" altLang="zh-CN">
                <a:latin typeface="Times New Roman" panose="02020603050405020304" charset="0"/>
              </a:rPr>
              <a:t>(5)CPU</a:t>
            </a:r>
            <a:r>
              <a:rPr lang="zh-CN" altLang="en-US">
                <a:latin typeface="Times New Roman" panose="02020603050405020304" charset="0"/>
              </a:rPr>
              <a:t>从</a:t>
            </a:r>
            <a:r>
              <a:rPr lang="en-US" altLang="zh-CN">
                <a:latin typeface="Times New Roman" panose="02020603050405020304" charset="0"/>
              </a:rPr>
              <a:t>I/O</a:t>
            </a:r>
            <a:r>
              <a:rPr lang="zh-CN" altLang="en-US">
                <a:latin typeface="Times New Roman" panose="02020603050405020304" charset="0"/>
              </a:rPr>
              <a:t>接口的数据缓冲寄存器输入数据，或者将数据从</a:t>
            </a:r>
            <a:r>
              <a:rPr lang="en-US" altLang="zh-CN">
                <a:latin typeface="Times New Roman" panose="02020603050405020304" charset="0"/>
              </a:rPr>
              <a:t>CPU</a:t>
            </a:r>
            <a:r>
              <a:rPr lang="zh-CN" altLang="en-US">
                <a:latin typeface="Times New Roman" panose="02020603050405020304" charset="0"/>
              </a:rPr>
              <a:t>输出至接口的数据缓冲寄存器。与此同时，</a:t>
            </a:r>
            <a:r>
              <a:rPr lang="en-US" altLang="zh-CN">
                <a:latin typeface="Times New Roman" panose="02020603050405020304" charset="0"/>
              </a:rPr>
              <a:t>CPU</a:t>
            </a:r>
            <a:r>
              <a:rPr lang="zh-CN" altLang="en-US">
                <a:latin typeface="Times New Roman" panose="02020603050405020304" charset="0"/>
              </a:rPr>
              <a:t>将接口中的状态标志复位。</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charset="0"/>
                <a:ea typeface="宋体" panose="02010600030101010101" pitchFamily="2" charset="-122"/>
              </a:defRPr>
            </a:lvl9pPr>
          </a:lstStyle>
          <a:p>
            <a:pPr eaLnBrk="1" hangingPunct="1">
              <a:spcBef>
                <a:spcPct val="0"/>
              </a:spcBef>
            </a:pPr>
            <a:fld id="{550C516E-8FD7-43C6-9C56-F0B1FE7E7F02}" type="slidenum">
              <a:rPr lang="en-US" altLang="zh-CN" smtClean="0"/>
              <a:t>23</a:t>
            </a:fld>
            <a:endParaRPr lang="en-US" altLang="zh-CN"/>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当</a:t>
            </a:r>
            <a:r>
              <a:rPr lang="en-US" altLang="zh-CN">
                <a:ea typeface="宋体" panose="02010600030101010101" pitchFamily="2" charset="-122"/>
              </a:rPr>
              <a:t>CPU</a:t>
            </a:r>
            <a:r>
              <a:rPr lang="zh-CN" altLang="en-US">
                <a:ea typeface="宋体" panose="02010600030101010101" pitchFamily="2" charset="-122"/>
              </a:rPr>
              <a:t>响应中断时，由硬件直接产生一个固定的地址</a:t>
            </a:r>
            <a:r>
              <a:rPr lang="en-US" altLang="zh-CN">
                <a:ea typeface="宋体" panose="02010600030101010101" pitchFamily="2" charset="-122"/>
              </a:rPr>
              <a:t>(</a:t>
            </a:r>
            <a:r>
              <a:rPr lang="zh-CN" altLang="en-US">
                <a:ea typeface="宋体" panose="02010600030101010101" pitchFamily="2" charset="-122"/>
              </a:rPr>
              <a:t>即向量地址</a:t>
            </a:r>
            <a:r>
              <a:rPr lang="en-US" altLang="zh-CN">
                <a:ea typeface="宋体" panose="02010600030101010101" pitchFamily="2" charset="-122"/>
              </a:rPr>
              <a:t>)</a:t>
            </a:r>
            <a:r>
              <a:rPr lang="zh-CN" altLang="en-US">
                <a:ea typeface="宋体" panose="02010600030101010101" pitchFamily="2" charset="-122"/>
              </a:rPr>
              <a:t>，由向量地址指出每个中断源设备的中断服务程序入口，这种方法通常称为向量中断。显然，每个中断源分别有一个中断服务程序，而每个中断服务程序又有自己的向量地址。当</a:t>
            </a:r>
            <a:r>
              <a:rPr lang="en-US" altLang="zh-CN">
                <a:ea typeface="宋体" panose="02010600030101010101" pitchFamily="2" charset="-122"/>
              </a:rPr>
              <a:t>CPU</a:t>
            </a:r>
            <a:r>
              <a:rPr lang="zh-CN" altLang="en-US">
                <a:ea typeface="宋体" panose="02010600030101010101" pitchFamily="2" charset="-122"/>
              </a:rPr>
              <a:t>识别出某中断源时，由硬件直接产生一个与该中断源对应的向量地址，很快便引入中断服务程序。向量中断要求在硬件设计时考虑所有中断源的向量地址，而实际中断时只能产生一个向量地址。图</a:t>
            </a:r>
            <a:r>
              <a:rPr lang="en-US" altLang="zh-CN">
                <a:ea typeface="宋体" panose="02010600030101010101" pitchFamily="2" charset="-122"/>
              </a:rPr>
              <a:t>8.8</a:t>
            </a:r>
            <a:r>
              <a:rPr lang="zh-CN" altLang="en-US">
                <a:ea typeface="宋体" panose="02010600030101010101" pitchFamily="2" charset="-122"/>
              </a:rPr>
              <a:t>中上面部分即为中断向量产生逻辑，它是由编码电路实现的。</a:t>
            </a:r>
          </a:p>
          <a:p>
            <a:pPr eaLnBrk="1" hangingPunct="1"/>
            <a:r>
              <a:rPr lang="zh-CN" altLang="en-US">
                <a:ea typeface="宋体" panose="02010600030101010101" pitchFamily="2" charset="-122"/>
              </a:rPr>
              <a:t>有些计算机中由硬件产生的向量地址不是直接地址，而是一个</a:t>
            </a:r>
            <a:r>
              <a:rPr lang="zh-CN" altLang="en-US">
                <a:latin typeface="Arial" panose="020B0604020202020204" pitchFamily="34" charset="0"/>
                <a:ea typeface="宋体" panose="02010600030101010101" pitchFamily="2" charset="-122"/>
              </a:rPr>
              <a:t>“</a:t>
            </a:r>
            <a:r>
              <a:rPr lang="zh-CN" altLang="en-US">
                <a:ea typeface="宋体" panose="02010600030101010101" pitchFamily="2" charset="-122"/>
              </a:rPr>
              <a:t>位移量</a:t>
            </a:r>
            <a:r>
              <a:rPr lang="zh-CN" altLang="en-US">
                <a:latin typeface="Arial" panose="020B0604020202020204" pitchFamily="34" charset="0"/>
                <a:ea typeface="宋体" panose="02010600030101010101" pitchFamily="2" charset="-122"/>
              </a:rPr>
              <a:t>”</a:t>
            </a:r>
            <a:r>
              <a:rPr lang="zh-CN" altLang="en-US">
                <a:ea typeface="宋体" panose="02010600030101010101" pitchFamily="2" charset="-122"/>
              </a:rPr>
              <a:t>，这个位移量加上</a:t>
            </a:r>
            <a:r>
              <a:rPr lang="en-US" altLang="zh-CN">
                <a:ea typeface="宋体" panose="02010600030101010101" pitchFamily="2" charset="-122"/>
              </a:rPr>
              <a:t>CPU</a:t>
            </a:r>
            <a:r>
              <a:rPr lang="zh-CN" altLang="en-US">
                <a:ea typeface="宋体" panose="02010600030101010101" pitchFamily="2" charset="-122"/>
              </a:rPr>
              <a:t>某寄存器里存放的基地址，最后得到中断处理程序的入口地址。</a:t>
            </a:r>
          </a:p>
          <a:p>
            <a:pPr eaLnBrk="1" hangingPunct="1"/>
            <a:r>
              <a:rPr lang="zh-CN" altLang="en-US">
                <a:ea typeface="宋体" panose="02010600030101010101" pitchFamily="2" charset="-122"/>
              </a:rPr>
              <a:t>还有一种采用向量地址转移的方法。假设有</a:t>
            </a:r>
            <a:r>
              <a:rPr lang="en-US" altLang="zh-CN">
                <a:ea typeface="宋体" panose="02010600030101010101" pitchFamily="2" charset="-122"/>
              </a:rPr>
              <a:t>8</a:t>
            </a:r>
            <a:r>
              <a:rPr lang="zh-CN" altLang="en-US">
                <a:ea typeface="宋体" panose="02010600030101010101" pitchFamily="2" charset="-122"/>
              </a:rPr>
              <a:t>个中断源，由优先级编码电路产生</a:t>
            </a:r>
            <a:r>
              <a:rPr lang="en-US" altLang="zh-CN">
                <a:ea typeface="宋体" panose="02010600030101010101" pitchFamily="2" charset="-122"/>
              </a:rPr>
              <a:t>8</a:t>
            </a:r>
            <a:r>
              <a:rPr lang="zh-CN" altLang="en-US">
                <a:ea typeface="宋体" panose="02010600030101010101" pitchFamily="2" charset="-122"/>
              </a:rPr>
              <a:t>个对应的固定地址码</a:t>
            </a:r>
            <a:r>
              <a:rPr lang="en-US" altLang="zh-CN">
                <a:ea typeface="宋体" panose="02010600030101010101" pitchFamily="2" charset="-122"/>
              </a:rPr>
              <a:t>(</a:t>
            </a:r>
            <a:r>
              <a:rPr lang="zh-CN" altLang="en-US">
                <a:ea typeface="宋体" panose="02010600030101010101" pitchFamily="2" charset="-122"/>
              </a:rPr>
              <a:t>例如</a:t>
            </a:r>
            <a:r>
              <a:rPr lang="en-US" altLang="zh-CN">
                <a:ea typeface="宋体" panose="02010600030101010101" pitchFamily="2" charset="-122"/>
              </a:rPr>
              <a:t>0</a:t>
            </a:r>
            <a:r>
              <a:rPr lang="zh-CN" altLang="en-US">
                <a:ea typeface="宋体" panose="02010600030101010101" pitchFamily="2" charset="-122"/>
              </a:rPr>
              <a:t>，</a:t>
            </a:r>
            <a:r>
              <a:rPr lang="en-US" altLang="zh-CN">
                <a:ea typeface="宋体" panose="02010600030101010101" pitchFamily="2" charset="-122"/>
              </a:rPr>
              <a:t>1</a:t>
            </a:r>
            <a:r>
              <a:rPr lang="zh-CN" altLang="en-US">
                <a:ea typeface="宋体" panose="02010600030101010101" pitchFamily="2" charset="-122"/>
              </a:rPr>
              <a:t>，</a:t>
            </a:r>
            <a:r>
              <a:rPr lang="en-US" altLang="zh-CN">
                <a:ea typeface="宋体" panose="02010600030101010101" pitchFamily="2" charset="-122"/>
              </a:rPr>
              <a:t>2</a:t>
            </a:r>
            <a:r>
              <a:rPr lang="zh-CN" altLang="en-US">
                <a:ea typeface="宋体" panose="02010600030101010101" pitchFamily="2" charset="-122"/>
              </a:rPr>
              <a:t>，</a:t>
            </a:r>
            <a:r>
              <a:rPr lang="en-US" altLang="zh-CN">
                <a:latin typeface="Arial" panose="020B0604020202020204" pitchFamily="34" charset="0"/>
                <a:ea typeface="宋体" panose="02010600030101010101" pitchFamily="2" charset="-122"/>
              </a:rPr>
              <a:t>…</a:t>
            </a:r>
            <a:r>
              <a:rPr lang="zh-CN" altLang="en-US">
                <a:ea typeface="宋体" panose="02010600030101010101" pitchFamily="2" charset="-122"/>
              </a:rPr>
              <a:t>，</a:t>
            </a:r>
            <a:r>
              <a:rPr lang="en-US" altLang="zh-CN">
                <a:ea typeface="宋体" panose="02010600030101010101" pitchFamily="2" charset="-122"/>
              </a:rPr>
              <a:t>7)</a:t>
            </a:r>
            <a:r>
              <a:rPr lang="zh-CN" altLang="en-US">
                <a:ea typeface="宋体" panose="02010600030101010101" pitchFamily="2" charset="-122"/>
              </a:rPr>
              <a:t>，这</a:t>
            </a:r>
            <a:r>
              <a:rPr lang="en-US" altLang="zh-CN">
                <a:ea typeface="宋体" panose="02010600030101010101" pitchFamily="2" charset="-122"/>
              </a:rPr>
              <a:t>8</a:t>
            </a:r>
            <a:r>
              <a:rPr lang="zh-CN" altLang="en-US">
                <a:ea typeface="宋体" panose="02010600030101010101" pitchFamily="2" charset="-122"/>
              </a:rPr>
              <a:t>个单元中存放的是转移指令，通过转移指令可转入设备各自的中断服务程序入口。这种方法允许中断处理程序放在内存中任何地方，非常灵活。</a:t>
            </a:r>
          </a:p>
          <a:p>
            <a:pPr eaLnBrk="1" hangingPunct="1"/>
            <a:endParaRPr lang="en-US" altLang="zh-CN">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B73F10E3-7869-4BD7-940F-5B5A1CD10E60}" type="slidenum">
              <a:rPr lang="en-US" altLang="zh-CN" smtClean="0">
                <a:latin typeface="Times New Roman" panose="02020603050405020304" charset="0"/>
              </a:rPr>
              <a:t>24</a:t>
            </a:fld>
            <a:endParaRPr lang="en-US" altLang="zh-CN">
              <a:latin typeface="Times New Roman" panose="02020603050405020304" charset="0"/>
            </a:endParaRPr>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noFill/>
        </p:spPr>
        <p:txBody>
          <a:bodyPr/>
          <a:lstStyle/>
          <a:p>
            <a:pPr eaLnBrk="1" hangingPunct="1"/>
            <a:r>
              <a:rPr lang="en-US" altLang="zh-CN">
                <a:latin typeface="Times New Roman" panose="02020603050405020304" charset="0"/>
              </a:rPr>
              <a:t>①</a:t>
            </a:r>
            <a:r>
              <a:rPr lang="zh-CN" altLang="en-US">
                <a:latin typeface="Times New Roman" panose="02020603050405020304" charset="0"/>
              </a:rPr>
              <a:t>表示由程序启动外设，将该外设接口的</a:t>
            </a:r>
            <a:r>
              <a:rPr lang="zh-CN" altLang="en-US">
                <a:latin typeface="Arial" panose="020B0604020202020204" pitchFamily="34" charset="0"/>
              </a:rPr>
              <a:t>“</a:t>
            </a:r>
            <a:r>
              <a:rPr lang="zh-CN" altLang="en-US">
                <a:latin typeface="Times New Roman" panose="02020603050405020304" charset="0"/>
              </a:rPr>
              <a:t>忙</a:t>
            </a:r>
            <a:r>
              <a:rPr lang="zh-CN" altLang="en-US">
                <a:latin typeface="Arial" panose="020B0604020202020204" pitchFamily="34" charset="0"/>
              </a:rPr>
              <a:t>”</a:t>
            </a:r>
            <a:r>
              <a:rPr lang="zh-CN" altLang="en-US">
                <a:latin typeface="Times New Roman" panose="02020603050405020304" charset="0"/>
              </a:rPr>
              <a:t>标志</a:t>
            </a:r>
            <a:r>
              <a:rPr lang="en-US" altLang="zh-CN">
                <a:latin typeface="Times New Roman" panose="02020603050405020304" charset="0"/>
              </a:rPr>
              <a:t>BS</a:t>
            </a:r>
            <a:r>
              <a:rPr lang="zh-CN" altLang="en-US">
                <a:latin typeface="Times New Roman" panose="02020603050405020304" charset="0"/>
              </a:rPr>
              <a:t>置</a:t>
            </a:r>
            <a:r>
              <a:rPr lang="zh-CN" altLang="en-US">
                <a:latin typeface="Arial" panose="020B0604020202020204" pitchFamily="34" charset="0"/>
              </a:rPr>
              <a:t>“</a:t>
            </a:r>
            <a:r>
              <a:rPr lang="en-US" altLang="zh-CN">
                <a:latin typeface="Times New Roman" panose="02020603050405020304" charset="0"/>
              </a:rPr>
              <a:t>1</a:t>
            </a:r>
            <a:r>
              <a:rPr lang="en-US" altLang="zh-CN">
                <a:latin typeface="Arial" panose="020B0604020202020204" pitchFamily="34" charset="0"/>
              </a:rPr>
              <a:t>”</a:t>
            </a:r>
            <a:r>
              <a:rPr lang="zh-CN" altLang="en-US">
                <a:latin typeface="Times New Roman" panose="02020603050405020304" charset="0"/>
              </a:rPr>
              <a:t>，</a:t>
            </a:r>
            <a:r>
              <a:rPr lang="zh-CN" altLang="en-US">
                <a:latin typeface="Arial" panose="020B0604020202020204" pitchFamily="34" charset="0"/>
              </a:rPr>
              <a:t>“</a:t>
            </a:r>
            <a:r>
              <a:rPr lang="zh-CN" altLang="en-US">
                <a:latin typeface="Times New Roman" panose="02020603050405020304" charset="0"/>
              </a:rPr>
              <a:t>准备就绪</a:t>
            </a:r>
            <a:r>
              <a:rPr lang="zh-CN" altLang="en-US">
                <a:latin typeface="Arial" panose="020B0604020202020204" pitchFamily="34" charset="0"/>
              </a:rPr>
              <a:t>”</a:t>
            </a:r>
            <a:r>
              <a:rPr lang="zh-CN" altLang="en-US">
                <a:latin typeface="Times New Roman" panose="02020603050405020304" charset="0"/>
              </a:rPr>
              <a:t>标志</a:t>
            </a:r>
            <a:r>
              <a:rPr lang="en-US" altLang="zh-CN">
                <a:latin typeface="Times New Roman" panose="02020603050405020304" charset="0"/>
              </a:rPr>
              <a:t>RD</a:t>
            </a:r>
            <a:r>
              <a:rPr lang="zh-CN" altLang="en-US">
                <a:latin typeface="Times New Roman" panose="02020603050405020304" charset="0"/>
              </a:rPr>
              <a:t>清</a:t>
            </a:r>
            <a:r>
              <a:rPr lang="zh-CN" altLang="en-US">
                <a:latin typeface="Arial" panose="020B0604020202020204" pitchFamily="34" charset="0"/>
              </a:rPr>
              <a:t>“</a:t>
            </a:r>
            <a:r>
              <a:rPr lang="en-US" altLang="zh-CN">
                <a:latin typeface="Times New Roman" panose="02020603050405020304" charset="0"/>
              </a:rPr>
              <a:t>0</a:t>
            </a:r>
            <a:r>
              <a:rPr lang="en-US" altLang="zh-CN">
                <a:latin typeface="Arial" panose="020B0604020202020204" pitchFamily="34" charset="0"/>
              </a:rPr>
              <a:t>”</a:t>
            </a:r>
            <a:r>
              <a:rPr lang="zh-CN" altLang="en-US">
                <a:latin typeface="Times New Roman" panose="02020603050405020304" charset="0"/>
              </a:rPr>
              <a:t>；</a:t>
            </a:r>
          </a:p>
          <a:p>
            <a:pPr eaLnBrk="1" hangingPunct="1"/>
            <a:r>
              <a:rPr lang="zh-CN" altLang="en-US">
                <a:latin typeface="Times New Roman" panose="02020603050405020304" charset="0"/>
              </a:rPr>
              <a:t>②表示接口向外设发出启动信号；</a:t>
            </a:r>
          </a:p>
          <a:p>
            <a:pPr eaLnBrk="1" hangingPunct="1"/>
            <a:r>
              <a:rPr lang="zh-CN" altLang="en-US">
                <a:latin typeface="Times New Roman" panose="02020603050405020304" charset="0"/>
              </a:rPr>
              <a:t>③表示数据由外设传送到接口的缓冲寄存器；</a:t>
            </a:r>
          </a:p>
          <a:p>
            <a:pPr eaLnBrk="1" hangingPunct="1"/>
            <a:r>
              <a:rPr lang="zh-CN" altLang="en-US">
                <a:latin typeface="Times New Roman" panose="02020603050405020304" charset="0"/>
              </a:rPr>
              <a:t>④表示当设备动作结束或缓冲寄存器数据填满时，设备向接口送出一控制信号，将数据</a:t>
            </a:r>
            <a:r>
              <a:rPr lang="zh-CN" altLang="en-US">
                <a:latin typeface="Arial" panose="020B0604020202020204" pitchFamily="34" charset="0"/>
              </a:rPr>
              <a:t>“</a:t>
            </a:r>
            <a:r>
              <a:rPr lang="zh-CN" altLang="en-US">
                <a:latin typeface="Times New Roman" panose="02020603050405020304" charset="0"/>
              </a:rPr>
              <a:t>准备就绪</a:t>
            </a:r>
            <a:r>
              <a:rPr lang="zh-CN" altLang="en-US">
                <a:latin typeface="Arial" panose="020B0604020202020204" pitchFamily="34" charset="0"/>
              </a:rPr>
              <a:t>”</a:t>
            </a:r>
            <a:r>
              <a:rPr lang="zh-CN" altLang="en-US">
                <a:latin typeface="Times New Roman" panose="02020603050405020304" charset="0"/>
              </a:rPr>
              <a:t>标志</a:t>
            </a:r>
            <a:r>
              <a:rPr lang="en-US" altLang="zh-CN">
                <a:latin typeface="Times New Roman" panose="02020603050405020304" charset="0"/>
              </a:rPr>
              <a:t>RD</a:t>
            </a:r>
            <a:r>
              <a:rPr lang="zh-CN" altLang="en-US">
                <a:latin typeface="Times New Roman" panose="02020603050405020304" charset="0"/>
              </a:rPr>
              <a:t>置</a:t>
            </a:r>
            <a:r>
              <a:rPr lang="zh-CN" altLang="en-US">
                <a:latin typeface="Arial" panose="020B0604020202020204" pitchFamily="34" charset="0"/>
              </a:rPr>
              <a:t>“</a:t>
            </a:r>
            <a:r>
              <a:rPr lang="en-US" altLang="zh-CN">
                <a:latin typeface="Times New Roman" panose="02020603050405020304" charset="0"/>
              </a:rPr>
              <a:t>1</a:t>
            </a:r>
            <a:r>
              <a:rPr lang="en-US" altLang="zh-CN">
                <a:latin typeface="Arial" panose="020B0604020202020204" pitchFamily="34" charset="0"/>
              </a:rPr>
              <a:t>”</a:t>
            </a:r>
            <a:r>
              <a:rPr lang="zh-CN" altLang="en-US">
                <a:latin typeface="Times New Roman" panose="02020603050405020304" charset="0"/>
              </a:rPr>
              <a:t>；</a:t>
            </a:r>
          </a:p>
          <a:p>
            <a:pPr eaLnBrk="1" hangingPunct="1"/>
            <a:r>
              <a:rPr lang="zh-CN" altLang="en-US">
                <a:latin typeface="Times New Roman" panose="02020603050405020304" charset="0"/>
              </a:rPr>
              <a:t>⑤表示允许中断标志</a:t>
            </a:r>
            <a:r>
              <a:rPr lang="en-US" altLang="zh-CN">
                <a:latin typeface="Times New Roman" panose="02020603050405020304" charset="0"/>
              </a:rPr>
              <a:t>EI</a:t>
            </a:r>
            <a:r>
              <a:rPr lang="zh-CN" altLang="en-US">
                <a:latin typeface="Times New Roman" panose="02020603050405020304" charset="0"/>
              </a:rPr>
              <a:t>为</a:t>
            </a:r>
            <a:r>
              <a:rPr lang="zh-CN" altLang="en-US">
                <a:latin typeface="Arial" panose="020B0604020202020204" pitchFamily="34" charset="0"/>
              </a:rPr>
              <a:t>“</a:t>
            </a:r>
            <a:r>
              <a:rPr lang="en-US" altLang="zh-CN">
                <a:latin typeface="Times New Roman" panose="02020603050405020304" charset="0"/>
              </a:rPr>
              <a:t>1</a:t>
            </a:r>
            <a:r>
              <a:rPr lang="en-US" altLang="zh-CN">
                <a:latin typeface="Arial" panose="020B0604020202020204" pitchFamily="34" charset="0"/>
              </a:rPr>
              <a:t>”</a:t>
            </a:r>
            <a:r>
              <a:rPr lang="zh-CN" altLang="en-US">
                <a:latin typeface="Times New Roman" panose="02020603050405020304" charset="0"/>
              </a:rPr>
              <a:t>时，接口向</a:t>
            </a:r>
            <a:r>
              <a:rPr lang="en-US" altLang="zh-CN">
                <a:latin typeface="Times New Roman" panose="02020603050405020304" charset="0"/>
              </a:rPr>
              <a:t>CPU</a:t>
            </a:r>
            <a:r>
              <a:rPr lang="zh-CN" altLang="en-US">
                <a:latin typeface="Times New Roman" panose="02020603050405020304" charset="0"/>
              </a:rPr>
              <a:t>发出中断请求信号；</a:t>
            </a:r>
          </a:p>
          <a:p>
            <a:pPr eaLnBrk="1" hangingPunct="1"/>
            <a:r>
              <a:rPr lang="zh-CN" altLang="en-US">
                <a:latin typeface="Times New Roman" panose="02020603050405020304" charset="0"/>
              </a:rPr>
              <a:t>⑥表示在一条指令执行末尾</a:t>
            </a:r>
            <a:r>
              <a:rPr lang="en-US" altLang="zh-CN">
                <a:latin typeface="Times New Roman" panose="02020603050405020304" charset="0"/>
              </a:rPr>
              <a:t>CPU</a:t>
            </a:r>
            <a:r>
              <a:rPr lang="zh-CN" altLang="en-US">
                <a:latin typeface="Times New Roman" panose="02020603050405020304" charset="0"/>
              </a:rPr>
              <a:t>检查中断请求线，将中断请求线的请求信号接收到</a:t>
            </a:r>
            <a:r>
              <a:rPr lang="zh-CN" altLang="en-US">
                <a:latin typeface="Arial" panose="020B0604020202020204" pitchFamily="34" charset="0"/>
              </a:rPr>
              <a:t>“</a:t>
            </a:r>
            <a:r>
              <a:rPr lang="zh-CN" altLang="en-US">
                <a:latin typeface="Times New Roman" panose="02020603050405020304" charset="0"/>
              </a:rPr>
              <a:t>中断请求</a:t>
            </a:r>
            <a:r>
              <a:rPr lang="zh-CN" altLang="en-US">
                <a:latin typeface="Arial" panose="020B0604020202020204" pitchFamily="34" charset="0"/>
              </a:rPr>
              <a:t>”</a:t>
            </a:r>
            <a:r>
              <a:rPr lang="zh-CN" altLang="en-US">
                <a:latin typeface="Times New Roman" panose="02020603050405020304" charset="0"/>
              </a:rPr>
              <a:t>标志</a:t>
            </a:r>
            <a:r>
              <a:rPr lang="en-US" altLang="zh-CN">
                <a:latin typeface="Times New Roman" panose="02020603050405020304" charset="0"/>
              </a:rPr>
              <a:t>IR</a:t>
            </a:r>
            <a:r>
              <a:rPr lang="zh-CN" altLang="en-US">
                <a:latin typeface="Times New Roman" panose="02020603050405020304" charset="0"/>
              </a:rPr>
              <a:t>；</a:t>
            </a:r>
          </a:p>
          <a:p>
            <a:pPr eaLnBrk="1" hangingPunct="1"/>
            <a:r>
              <a:rPr lang="zh-CN" altLang="en-US">
                <a:latin typeface="Times New Roman" panose="02020603050405020304" charset="0"/>
              </a:rPr>
              <a:t>⑦表示如果</a:t>
            </a:r>
            <a:r>
              <a:rPr lang="zh-CN" altLang="en-US">
                <a:latin typeface="Arial" panose="020B0604020202020204" pitchFamily="34" charset="0"/>
              </a:rPr>
              <a:t>“</a:t>
            </a:r>
            <a:r>
              <a:rPr lang="zh-CN" altLang="en-US">
                <a:latin typeface="Times New Roman" panose="02020603050405020304" charset="0"/>
              </a:rPr>
              <a:t>中断屏蔽</a:t>
            </a:r>
            <a:r>
              <a:rPr lang="zh-CN" altLang="en-US">
                <a:latin typeface="Arial" panose="020B0604020202020204" pitchFamily="34" charset="0"/>
              </a:rPr>
              <a:t>”</a:t>
            </a:r>
            <a:r>
              <a:rPr lang="zh-CN" altLang="en-US">
                <a:latin typeface="Times New Roman" panose="02020603050405020304" charset="0"/>
              </a:rPr>
              <a:t>标志</a:t>
            </a:r>
            <a:r>
              <a:rPr lang="en-US" altLang="zh-CN">
                <a:latin typeface="Times New Roman" panose="02020603050405020304" charset="0"/>
              </a:rPr>
              <a:t>IM</a:t>
            </a:r>
            <a:r>
              <a:rPr lang="zh-CN" altLang="en-US">
                <a:latin typeface="Times New Roman" panose="02020603050405020304" charset="0"/>
              </a:rPr>
              <a:t>为</a:t>
            </a:r>
            <a:r>
              <a:rPr lang="zh-CN" altLang="en-US">
                <a:latin typeface="Arial" panose="020B0604020202020204" pitchFamily="34" charset="0"/>
              </a:rPr>
              <a:t>“</a:t>
            </a:r>
            <a:r>
              <a:rPr lang="en-US" altLang="zh-CN">
                <a:latin typeface="Times New Roman" panose="02020603050405020304" charset="0"/>
              </a:rPr>
              <a:t>0</a:t>
            </a:r>
            <a:r>
              <a:rPr lang="en-US" altLang="zh-CN">
                <a:latin typeface="Arial" panose="020B0604020202020204" pitchFamily="34" charset="0"/>
              </a:rPr>
              <a:t>”</a:t>
            </a:r>
            <a:r>
              <a:rPr lang="zh-CN" altLang="en-US">
                <a:latin typeface="Times New Roman" panose="02020603050405020304" charset="0"/>
              </a:rPr>
              <a:t>时，</a:t>
            </a:r>
            <a:r>
              <a:rPr lang="en-US" altLang="zh-CN">
                <a:latin typeface="Times New Roman" panose="02020603050405020304" charset="0"/>
              </a:rPr>
              <a:t>CPU</a:t>
            </a:r>
            <a:r>
              <a:rPr lang="zh-CN" altLang="en-US">
                <a:latin typeface="Times New Roman" panose="02020603050405020304" charset="0"/>
              </a:rPr>
              <a:t>在一条指令执行结束后受理外设的中断请求，向外设发出响应中断信号并关闭中断；</a:t>
            </a:r>
          </a:p>
          <a:p>
            <a:pPr eaLnBrk="1" hangingPunct="1"/>
            <a:r>
              <a:rPr lang="zh-CN" altLang="en-US">
                <a:latin typeface="Times New Roman" panose="02020603050405020304" charset="0"/>
              </a:rPr>
              <a:t>⑧表示转向该设备的中断服务程序入口；</a:t>
            </a:r>
          </a:p>
          <a:p>
            <a:pPr eaLnBrk="1" hangingPunct="1"/>
            <a:r>
              <a:rPr lang="zh-CN" altLang="en-US">
                <a:latin typeface="Times New Roman" panose="02020603050405020304" charset="0"/>
              </a:rPr>
              <a:t>⑨表示在中断服务程序通过输入指令把接口中数据缓冲寄存器的数据读至</a:t>
            </a:r>
            <a:r>
              <a:rPr lang="en-US" altLang="zh-CN">
                <a:latin typeface="Times New Roman" panose="02020603050405020304" charset="0"/>
              </a:rPr>
              <a:t>CPU</a:t>
            </a:r>
            <a:r>
              <a:rPr lang="zh-CN" altLang="en-US">
                <a:latin typeface="Times New Roman" panose="02020603050405020304" charset="0"/>
              </a:rPr>
              <a:t>中的寄存器；</a:t>
            </a:r>
          </a:p>
          <a:p>
            <a:pPr eaLnBrk="1" hangingPunct="1"/>
            <a:r>
              <a:rPr lang="zh-CN" altLang="en-US">
                <a:latin typeface="Times New Roman" panose="02020603050405020304" charset="0"/>
              </a:rPr>
              <a:t>（</a:t>
            </a:r>
            <a:r>
              <a:rPr lang="en-US" altLang="zh-CN">
                <a:latin typeface="Times New Roman" panose="02020603050405020304" charset="0"/>
              </a:rPr>
              <a:t>10</a:t>
            </a:r>
            <a:r>
              <a:rPr lang="zh-CN" altLang="en-US">
                <a:latin typeface="Times New Roman" panose="02020603050405020304" charset="0"/>
              </a:rPr>
              <a:t>）表示</a:t>
            </a:r>
            <a:r>
              <a:rPr lang="en-US" altLang="zh-CN">
                <a:latin typeface="Times New Roman" panose="02020603050405020304" charset="0"/>
              </a:rPr>
              <a:t>CPU</a:t>
            </a:r>
            <a:r>
              <a:rPr lang="zh-CN" altLang="en-US">
                <a:latin typeface="Times New Roman" panose="02020603050405020304" charset="0"/>
              </a:rPr>
              <a:t>发出控制信号</a:t>
            </a:r>
            <a:r>
              <a:rPr lang="en-US" altLang="zh-CN">
                <a:latin typeface="Times New Roman" panose="02020603050405020304" charset="0"/>
              </a:rPr>
              <a:t>C</a:t>
            </a:r>
            <a:r>
              <a:rPr lang="zh-CN" altLang="en-US">
                <a:latin typeface="Times New Roman" panose="02020603050405020304" charset="0"/>
              </a:rPr>
              <a:t>将接口中的</a:t>
            </a:r>
            <a:r>
              <a:rPr lang="en-US" altLang="zh-CN">
                <a:latin typeface="Times New Roman" panose="02020603050405020304" charset="0"/>
              </a:rPr>
              <a:t>BS</a:t>
            </a:r>
            <a:r>
              <a:rPr lang="zh-CN" altLang="en-US">
                <a:latin typeface="Times New Roman" panose="02020603050405020304" charset="0"/>
              </a:rPr>
              <a:t>和</a:t>
            </a:r>
            <a:r>
              <a:rPr lang="en-US" altLang="zh-CN">
                <a:latin typeface="Times New Roman" panose="02020603050405020304" charset="0"/>
              </a:rPr>
              <a:t>RD</a:t>
            </a:r>
            <a:r>
              <a:rPr lang="zh-CN" altLang="en-US">
                <a:latin typeface="Times New Roman" panose="02020603050405020304" charset="0"/>
              </a:rPr>
              <a:t>标志复位。</a:t>
            </a:r>
          </a:p>
          <a:p>
            <a:pPr eaLnBrk="1" hangingPunct="1"/>
            <a:endParaRPr lang="en-US" altLang="zh-CN">
              <a:latin typeface="Times New Roman" panose="020206030504050203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p:spPr>
        <p:txBody>
          <a:bodyPr/>
          <a:lstStyle/>
          <a:p>
            <a:endParaRPr lang="zh-CN" altLang="en-US"/>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ln>
          </p:spPr>
          <p:txBody>
            <a:bodyPr wrap="none" anchor="ctr"/>
            <a:lstStyle/>
            <a:p>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ln>
          </p:spPr>
          <p:txBody>
            <a:bodyPr wrap="none" anchor="ctr"/>
            <a:lstStyle/>
            <a:p>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ln>
          </p:spPr>
          <p:txBody>
            <a:bodyPr wrap="none" anchor="ctr"/>
            <a:lstStyle/>
            <a:p>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ln>
          </p:spPr>
          <p:txBody>
            <a:bodyPr wrap="none" anchor="ctr"/>
            <a:lstStyle/>
            <a:p>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ln>
          </p:spPr>
          <p:txBody>
            <a:bodyPr wrap="none" anchor="ctr"/>
            <a:lstStyle/>
            <a:p>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ln>
          </p:spPr>
          <p:txBody>
            <a:bodyPr wrap="none" anchor="ctr"/>
            <a:lstStyle/>
            <a:p>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ln>
          </p:spPr>
          <p:txBody>
            <a:bodyPr wrap="none" anchor="ctr"/>
            <a:lstStyle/>
            <a:p>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ln>
          </p:spPr>
          <p:txBody>
            <a:bodyPr wrap="none" anchor="ctr"/>
            <a:lstStyle/>
            <a:p>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ln>
          </p:spPr>
          <p:txBody>
            <a:bodyPr wrap="none" anchor="ctr"/>
            <a:lstStyle/>
            <a:p>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ln>
          </p:spPr>
          <p:txBody>
            <a:bodyPr wrap="none" anchor="ctr"/>
            <a:lstStyle/>
            <a:p>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ln>
          </p:spPr>
          <p:txBody>
            <a:bodyPr wrap="none" anchor="ctr"/>
            <a:lstStyle/>
            <a:p>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ln>
          </p:spPr>
          <p:txBody>
            <a:bodyPr wrap="none" anchor="ctr"/>
            <a:lstStyle/>
            <a:p>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ln>
          </p:spPr>
          <p:txBody>
            <a:bodyPr wrap="none" anchor="ctr"/>
            <a:lstStyle/>
            <a:p>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ln>
          </p:spPr>
          <p:txBody>
            <a:bodyPr wrap="none" anchor="ctr"/>
            <a:lstStyle/>
            <a:p>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ln>
          </p:spPr>
          <p:txBody>
            <a:bodyPr wrap="none" anchor="ctr"/>
            <a:lstStyle/>
            <a:p>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ln>
          </p:spPr>
          <p:txBody>
            <a:bodyPr wrap="none" anchor="ctr"/>
            <a:lstStyle/>
            <a:p>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ln>
          </p:spPr>
          <p:txBody>
            <a:bodyPr wrap="none" anchor="ctr"/>
            <a:lstStyle/>
            <a:p>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ln>
          </p:spPr>
          <p:txBody>
            <a:bodyPr wrap="none" anchor="ctr"/>
            <a:lstStyle/>
            <a:p>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ln>
          </p:spPr>
          <p:txBody>
            <a:bodyPr wrap="none" anchor="ctr"/>
            <a:lstStyle/>
            <a:p>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ln>
          </p:spPr>
          <p:txBody>
            <a:bodyPr wrap="none" anchor="ctr"/>
            <a:lstStyle/>
            <a:p>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ln>
          </p:spPr>
          <p:txBody>
            <a:bodyPr wrap="none" anchor="ctr"/>
            <a:lstStyle/>
            <a:p>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ln>
          </p:spPr>
          <p:txBody>
            <a:bodyPr wrap="none" anchor="ctr"/>
            <a:lstStyle/>
            <a:p>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ln>
          </p:spPr>
          <p:txBody>
            <a:bodyPr wrap="none" anchor="ctr"/>
            <a:lstStyle/>
            <a:p>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ln>
          </p:spPr>
          <p:txBody>
            <a:bodyPr wrap="none" anchor="ctr"/>
            <a:lstStyle/>
            <a:p>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ln>
          </p:spPr>
          <p:txBody>
            <a:bodyPr wrap="none" anchor="ctr"/>
            <a:lstStyle/>
            <a:p>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ln>
          </p:spPr>
          <p:txBody>
            <a:bodyPr wrap="none" anchor="ctr"/>
            <a:lstStyle/>
            <a:p>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ln>
          </p:spPr>
          <p:txBody>
            <a:bodyPr wrap="none" anchor="ctr"/>
            <a:lstStyle/>
            <a:p>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ln>
          </p:spPr>
          <p:txBody>
            <a:bodyPr wrap="none" anchor="ctr"/>
            <a:lstStyle/>
            <a:p>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ln>
          </p:spPr>
          <p:txBody>
            <a:bodyPr wrap="none" anchor="ctr"/>
            <a:lstStyle/>
            <a:p>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ln>
          </p:spPr>
          <p:txBody>
            <a:bodyPr wrap="none" anchor="ctr"/>
            <a:lstStyle/>
            <a:p>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ln>
          </p:spPr>
          <p:txBody>
            <a:bodyPr wrap="none" anchor="ctr"/>
            <a:lstStyle/>
            <a:p>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31480CBC-9A9E-422D-9757-8A16FDDC3B08}"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282E338D-5A82-4380-A7F4-08F2036A711A}"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6F1F7D0D-6AA8-4D0F-9D27-E92748350871}"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48364070-C2AA-463B-8FC1-AE1E3921CBDA}"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9999F78B-CC3B-45A2-A864-52368465D804}"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1D3DF090-7567-425D-8B06-6B7D9BBB47CE}"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E0EBC286-BD23-451D-95B9-738F9C4D821D}"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EF7836FF-B01E-4DAA-B2EE-2DCD0A85966A}"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8258A2BB-9E83-4340-B2AB-EEF488795B6A}"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F66A944E-1EEB-4D62-867D-FE4C102E9EE8}"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1C82C14E-CF47-4227-861F-7C2316A7DD13}"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ln>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defRPr sz="1000"/>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000"/>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t" anchorCtr="0" compatLnSpc="1"/>
          <a:lstStyle>
            <a:lvl1pPr algn="r">
              <a:defRPr sz="1000"/>
            </a:lvl1pPr>
          </a:lstStyle>
          <a:p>
            <a:pPr>
              <a:defRPr/>
            </a:pPr>
            <a:fld id="{F823FEAD-CEE9-4C59-8598-CA64B9A8E8CF}" type="slidenum">
              <a:rPr lang="en-US" altLang="zh-CN"/>
              <a:t>‹#›</a:t>
            </a:fld>
            <a:endParaRPr lang="en-US" altLang="zh-CN"/>
          </a:p>
        </p:txBody>
      </p:sp>
      <p:grpSp>
        <p:nvGrpSpPr>
          <p:cNvPr id="1032" name="Group 8"/>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ln>
          </p:spPr>
          <p:txBody>
            <a:bodyPr wrap="none" anchor="ctr"/>
            <a:lstStyle/>
            <a:p>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ln>
          </p:spPr>
          <p:txBody>
            <a:bodyPr wrap="none" anchor="ctr"/>
            <a:lstStyle/>
            <a:p>
              <a:endParaRPr lang="zh-CN" altLang="en-US"/>
            </a:p>
          </p:txBody>
        </p:sp>
        <p:sp>
          <p:nvSpPr>
            <p:cNvPr id="1035" name="Oval 11"/>
            <p:cNvSpPr>
              <a:spLocks noChangeArrowheads="1"/>
            </p:cNvSpPr>
            <p:nvPr/>
          </p:nvSpPr>
          <p:spPr bwMode="auto">
            <a:xfrm>
              <a:off x="5360" y="960"/>
              <a:ext cx="77" cy="80"/>
            </a:xfrm>
            <a:prstGeom prst="ellipse">
              <a:avLst/>
            </a:prstGeom>
            <a:solidFill>
              <a:schemeClr val="tx2"/>
            </a:solidFill>
            <a:ln w="9525">
              <a:noFill/>
              <a:round/>
            </a:ln>
          </p:spPr>
          <p:txBody>
            <a:bodyPr wrap="none" anchor="ctr"/>
            <a:lstStyle/>
            <a:p>
              <a:endParaRPr lang="zh-CN" altLang="en-US"/>
            </a:p>
          </p:txBody>
        </p:sp>
        <p:sp>
          <p:nvSpPr>
            <p:cNvPr id="1036" name="Oval 12"/>
            <p:cNvSpPr>
              <a:spLocks noChangeArrowheads="1"/>
            </p:cNvSpPr>
            <p:nvPr/>
          </p:nvSpPr>
          <p:spPr bwMode="auto">
            <a:xfrm>
              <a:off x="5136" y="1072"/>
              <a:ext cx="80" cy="77"/>
            </a:xfrm>
            <a:prstGeom prst="ellipse">
              <a:avLst/>
            </a:prstGeom>
            <a:solidFill>
              <a:schemeClr val="tx2"/>
            </a:solidFill>
            <a:ln w="9525">
              <a:noFill/>
              <a:round/>
            </a:ln>
          </p:spPr>
          <p:txBody>
            <a:bodyPr wrap="none" anchor="ctr"/>
            <a:lstStyle/>
            <a:p>
              <a:endParaRPr lang="zh-CN" altLang="en-US"/>
            </a:p>
          </p:txBody>
        </p:sp>
        <p:sp>
          <p:nvSpPr>
            <p:cNvPr id="1037" name="Oval 13"/>
            <p:cNvSpPr>
              <a:spLocks noChangeArrowheads="1"/>
            </p:cNvSpPr>
            <p:nvPr/>
          </p:nvSpPr>
          <p:spPr bwMode="auto">
            <a:xfrm>
              <a:off x="5248" y="1072"/>
              <a:ext cx="79" cy="77"/>
            </a:xfrm>
            <a:prstGeom prst="ellipse">
              <a:avLst/>
            </a:prstGeom>
            <a:solidFill>
              <a:schemeClr val="tx2"/>
            </a:solidFill>
            <a:ln w="9525">
              <a:noFill/>
              <a:round/>
            </a:ln>
          </p:spPr>
          <p:txBody>
            <a:bodyPr wrap="none" anchor="ctr"/>
            <a:lstStyle/>
            <a:p>
              <a:endParaRPr lang="zh-CN" altLang="en-US"/>
            </a:p>
          </p:txBody>
        </p:sp>
        <p:sp>
          <p:nvSpPr>
            <p:cNvPr id="1038" name="Oval 14"/>
            <p:cNvSpPr>
              <a:spLocks noChangeArrowheads="1"/>
            </p:cNvSpPr>
            <p:nvPr/>
          </p:nvSpPr>
          <p:spPr bwMode="auto">
            <a:xfrm>
              <a:off x="5360" y="1072"/>
              <a:ext cx="77" cy="77"/>
            </a:xfrm>
            <a:prstGeom prst="ellipse">
              <a:avLst/>
            </a:prstGeom>
            <a:solidFill>
              <a:schemeClr val="tx2"/>
            </a:solidFill>
            <a:ln w="9525">
              <a:noFill/>
              <a:round/>
            </a:ln>
          </p:spPr>
          <p:txBody>
            <a:bodyPr wrap="none" anchor="ctr"/>
            <a:lstStyle/>
            <a:p>
              <a:endParaRPr lang="zh-CN" altLang="en-US"/>
            </a:p>
          </p:txBody>
        </p:sp>
        <p:sp>
          <p:nvSpPr>
            <p:cNvPr id="1039" name="Oval 15"/>
            <p:cNvSpPr>
              <a:spLocks noChangeArrowheads="1"/>
            </p:cNvSpPr>
            <p:nvPr/>
          </p:nvSpPr>
          <p:spPr bwMode="auto">
            <a:xfrm>
              <a:off x="5472" y="1072"/>
              <a:ext cx="77" cy="77"/>
            </a:xfrm>
            <a:prstGeom prst="ellipse">
              <a:avLst/>
            </a:prstGeom>
            <a:solidFill>
              <a:schemeClr val="accent2"/>
            </a:solidFill>
            <a:ln w="9525">
              <a:noFill/>
              <a:round/>
            </a:ln>
          </p:spPr>
          <p:txBody>
            <a:bodyPr wrap="none" anchor="ctr"/>
            <a:lstStyle/>
            <a:p>
              <a:endParaRPr lang="zh-CN" altLang="en-US"/>
            </a:p>
          </p:txBody>
        </p:sp>
        <p:sp>
          <p:nvSpPr>
            <p:cNvPr id="1040" name="Oval 16"/>
            <p:cNvSpPr>
              <a:spLocks noChangeArrowheads="1"/>
            </p:cNvSpPr>
            <p:nvPr/>
          </p:nvSpPr>
          <p:spPr bwMode="auto">
            <a:xfrm>
              <a:off x="5136" y="1184"/>
              <a:ext cx="80" cy="77"/>
            </a:xfrm>
            <a:prstGeom prst="ellipse">
              <a:avLst/>
            </a:prstGeom>
            <a:solidFill>
              <a:schemeClr val="tx2"/>
            </a:solidFill>
            <a:ln w="9525">
              <a:noFill/>
              <a:round/>
            </a:ln>
          </p:spPr>
          <p:txBody>
            <a:bodyPr wrap="none" anchor="ctr"/>
            <a:lstStyle/>
            <a:p>
              <a:endParaRPr lang="zh-CN" altLang="en-US"/>
            </a:p>
          </p:txBody>
        </p:sp>
        <p:sp>
          <p:nvSpPr>
            <p:cNvPr id="1041" name="Oval 17"/>
            <p:cNvSpPr>
              <a:spLocks noChangeArrowheads="1"/>
            </p:cNvSpPr>
            <p:nvPr/>
          </p:nvSpPr>
          <p:spPr bwMode="auto">
            <a:xfrm>
              <a:off x="5248" y="1184"/>
              <a:ext cx="79" cy="77"/>
            </a:xfrm>
            <a:prstGeom prst="ellipse">
              <a:avLst/>
            </a:prstGeom>
            <a:solidFill>
              <a:schemeClr val="tx2"/>
            </a:solidFill>
            <a:ln w="9525">
              <a:noFill/>
              <a:round/>
            </a:ln>
          </p:spPr>
          <p:txBody>
            <a:bodyPr wrap="none" anchor="ctr"/>
            <a:lstStyle/>
            <a:p>
              <a:endParaRPr lang="zh-CN" altLang="en-US"/>
            </a:p>
          </p:txBody>
        </p:sp>
        <p:sp>
          <p:nvSpPr>
            <p:cNvPr id="1042" name="Oval 18"/>
            <p:cNvSpPr>
              <a:spLocks noChangeArrowheads="1"/>
            </p:cNvSpPr>
            <p:nvPr/>
          </p:nvSpPr>
          <p:spPr bwMode="auto">
            <a:xfrm>
              <a:off x="5360" y="1184"/>
              <a:ext cx="77" cy="77"/>
            </a:xfrm>
            <a:prstGeom prst="ellipse">
              <a:avLst/>
            </a:prstGeom>
            <a:solidFill>
              <a:schemeClr val="accent2"/>
            </a:solidFill>
            <a:ln w="9525">
              <a:noFill/>
              <a:round/>
            </a:ln>
          </p:spPr>
          <p:txBody>
            <a:bodyPr wrap="none" anchor="ctr"/>
            <a:lstStyle/>
            <a:p>
              <a:endParaRPr lang="zh-CN" altLang="en-US"/>
            </a:p>
          </p:txBody>
        </p:sp>
        <p:sp>
          <p:nvSpPr>
            <p:cNvPr id="1043" name="Oval 19"/>
            <p:cNvSpPr>
              <a:spLocks noChangeArrowheads="1"/>
            </p:cNvSpPr>
            <p:nvPr/>
          </p:nvSpPr>
          <p:spPr bwMode="auto">
            <a:xfrm>
              <a:off x="5472" y="1184"/>
              <a:ext cx="77" cy="77"/>
            </a:xfrm>
            <a:prstGeom prst="ellipse">
              <a:avLst/>
            </a:prstGeom>
            <a:solidFill>
              <a:schemeClr val="accent2"/>
            </a:solidFill>
            <a:ln w="9525">
              <a:noFill/>
              <a:round/>
            </a:ln>
          </p:spPr>
          <p:txBody>
            <a:bodyPr wrap="none" anchor="ctr"/>
            <a:lstStyle/>
            <a:p>
              <a:endParaRPr lang="zh-CN" altLang="en-US"/>
            </a:p>
          </p:txBody>
        </p:sp>
        <p:sp>
          <p:nvSpPr>
            <p:cNvPr id="1044" name="Oval 20"/>
            <p:cNvSpPr>
              <a:spLocks noChangeArrowheads="1"/>
            </p:cNvSpPr>
            <p:nvPr/>
          </p:nvSpPr>
          <p:spPr bwMode="auto">
            <a:xfrm>
              <a:off x="5584" y="1184"/>
              <a:ext cx="80" cy="77"/>
            </a:xfrm>
            <a:prstGeom prst="ellipse">
              <a:avLst/>
            </a:prstGeom>
            <a:solidFill>
              <a:schemeClr val="accent1"/>
            </a:solidFill>
            <a:ln w="9525">
              <a:noFill/>
              <a:round/>
            </a:ln>
          </p:spPr>
          <p:txBody>
            <a:bodyPr wrap="none" anchor="ctr"/>
            <a:lstStyle/>
            <a:p>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ln>
          </p:spPr>
          <p:txBody>
            <a:bodyPr wrap="none" anchor="ctr"/>
            <a:lstStyle/>
            <a:p>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ln>
          </p:spPr>
          <p:txBody>
            <a:bodyPr wrap="none" anchor="ctr"/>
            <a:lstStyle/>
            <a:p>
              <a:endParaRPr lang="zh-CN" altLang="en-US"/>
            </a:p>
          </p:txBody>
        </p:sp>
        <p:sp>
          <p:nvSpPr>
            <p:cNvPr id="1047" name="Oval 23"/>
            <p:cNvSpPr>
              <a:spLocks noChangeArrowheads="1"/>
            </p:cNvSpPr>
            <p:nvPr/>
          </p:nvSpPr>
          <p:spPr bwMode="auto">
            <a:xfrm>
              <a:off x="5360" y="1296"/>
              <a:ext cx="77" cy="80"/>
            </a:xfrm>
            <a:prstGeom prst="ellipse">
              <a:avLst/>
            </a:prstGeom>
            <a:solidFill>
              <a:schemeClr val="accent2"/>
            </a:solidFill>
            <a:ln w="9525">
              <a:noFill/>
              <a:round/>
            </a:ln>
          </p:spPr>
          <p:txBody>
            <a:bodyPr wrap="none" anchor="ctr"/>
            <a:lstStyle/>
            <a:p>
              <a:endParaRPr lang="zh-CN" altLang="en-US"/>
            </a:p>
          </p:txBody>
        </p:sp>
        <p:sp>
          <p:nvSpPr>
            <p:cNvPr id="1048" name="Oval 24"/>
            <p:cNvSpPr>
              <a:spLocks noChangeArrowheads="1"/>
            </p:cNvSpPr>
            <p:nvPr/>
          </p:nvSpPr>
          <p:spPr bwMode="auto">
            <a:xfrm>
              <a:off x="5472" y="1296"/>
              <a:ext cx="77" cy="80"/>
            </a:xfrm>
            <a:prstGeom prst="ellipse">
              <a:avLst/>
            </a:prstGeom>
            <a:solidFill>
              <a:schemeClr val="accent1"/>
            </a:solidFill>
            <a:ln w="9525">
              <a:noFill/>
              <a:round/>
            </a:ln>
          </p:spPr>
          <p:txBody>
            <a:bodyPr wrap="none" anchor="ctr"/>
            <a:lstStyle/>
            <a:p>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ln>
          </p:spPr>
          <p:txBody>
            <a:bodyPr wrap="none" anchor="ctr"/>
            <a:lstStyle/>
            <a:p>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ln>
          </p:spPr>
          <p:txBody>
            <a:bodyPr wrap="none" anchor="ctr"/>
            <a:lstStyle/>
            <a:p>
              <a:endParaRPr lang="zh-CN" altLang="en-US"/>
            </a:p>
          </p:txBody>
        </p:sp>
        <p:sp>
          <p:nvSpPr>
            <p:cNvPr id="1051" name="Oval 27"/>
            <p:cNvSpPr>
              <a:spLocks noChangeArrowheads="1"/>
            </p:cNvSpPr>
            <p:nvPr/>
          </p:nvSpPr>
          <p:spPr bwMode="auto">
            <a:xfrm>
              <a:off x="5360" y="1408"/>
              <a:ext cx="77" cy="80"/>
            </a:xfrm>
            <a:prstGeom prst="ellipse">
              <a:avLst/>
            </a:prstGeom>
            <a:solidFill>
              <a:schemeClr val="accent1"/>
            </a:solidFill>
            <a:ln w="9525">
              <a:noFill/>
              <a:round/>
            </a:ln>
          </p:spPr>
          <p:txBody>
            <a:bodyPr wrap="none" anchor="ctr"/>
            <a:lstStyle/>
            <a:p>
              <a:endParaRPr lang="zh-CN" altLang="en-US"/>
            </a:p>
          </p:txBody>
        </p:sp>
        <p:sp>
          <p:nvSpPr>
            <p:cNvPr id="1052" name="Oval 28"/>
            <p:cNvSpPr>
              <a:spLocks noChangeArrowheads="1"/>
            </p:cNvSpPr>
            <p:nvPr/>
          </p:nvSpPr>
          <p:spPr bwMode="auto">
            <a:xfrm>
              <a:off x="5472" y="1408"/>
              <a:ext cx="77" cy="80"/>
            </a:xfrm>
            <a:prstGeom prst="ellipse">
              <a:avLst/>
            </a:prstGeom>
            <a:solidFill>
              <a:schemeClr val="accent1"/>
            </a:solidFill>
            <a:ln w="9525">
              <a:noFill/>
              <a:round/>
            </a:ln>
          </p:spPr>
          <p:txBody>
            <a:bodyPr wrap="none" anchor="ctr"/>
            <a:lstStyle/>
            <a:p>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ln>
          </p:spPr>
          <p:txBody>
            <a:bodyPr wrap="none" anchor="ctr"/>
            <a:lstStyle/>
            <a:p>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ln>
          </p:spPr>
          <p:txBody>
            <a:bodyPr wrap="none" anchor="ctr"/>
            <a:lstStyle/>
            <a:p>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ln>
          </p:spPr>
          <p:txBody>
            <a:bodyPr wrap="none" anchor="ctr"/>
            <a:lstStyle/>
            <a:p>
              <a:endParaRPr lang="zh-CN" altLang="en-US"/>
            </a:p>
          </p:txBody>
        </p:sp>
        <p:sp>
          <p:nvSpPr>
            <p:cNvPr id="1056" name="Oval 32"/>
            <p:cNvSpPr>
              <a:spLocks noChangeArrowheads="1"/>
            </p:cNvSpPr>
            <p:nvPr/>
          </p:nvSpPr>
          <p:spPr bwMode="auto">
            <a:xfrm>
              <a:off x="5360" y="1520"/>
              <a:ext cx="77" cy="79"/>
            </a:xfrm>
            <a:prstGeom prst="ellipse">
              <a:avLst/>
            </a:prstGeom>
            <a:solidFill>
              <a:schemeClr val="accent1"/>
            </a:solidFill>
            <a:ln w="9525">
              <a:noFill/>
              <a:round/>
            </a:ln>
          </p:spPr>
          <p:txBody>
            <a:bodyPr wrap="none" anchor="ctr"/>
            <a:lstStyle/>
            <a:p>
              <a:endParaRPr lang="zh-CN" altLang="en-US"/>
            </a:p>
          </p:txBody>
        </p:sp>
        <p:sp>
          <p:nvSpPr>
            <p:cNvPr id="1057" name="Oval 33"/>
            <p:cNvSpPr>
              <a:spLocks noChangeArrowheads="1"/>
            </p:cNvSpPr>
            <p:nvPr/>
          </p:nvSpPr>
          <p:spPr bwMode="auto">
            <a:xfrm>
              <a:off x="5472" y="1520"/>
              <a:ext cx="77" cy="79"/>
            </a:xfrm>
            <a:prstGeom prst="ellipse">
              <a:avLst/>
            </a:prstGeom>
            <a:solidFill>
              <a:schemeClr val="folHlink"/>
            </a:solidFill>
            <a:ln w="9525">
              <a:noFill/>
              <a:round/>
            </a:ln>
          </p:spPr>
          <p:txBody>
            <a:bodyPr wrap="none" anchor="ctr"/>
            <a:lstStyle/>
            <a:p>
              <a:endParaRPr lang="zh-CN" altLang="en-US"/>
            </a:p>
          </p:txBody>
        </p:sp>
        <p:sp>
          <p:nvSpPr>
            <p:cNvPr id="1058" name="Oval 34"/>
            <p:cNvSpPr>
              <a:spLocks noChangeArrowheads="1"/>
            </p:cNvSpPr>
            <p:nvPr/>
          </p:nvSpPr>
          <p:spPr bwMode="auto">
            <a:xfrm>
              <a:off x="5136" y="1632"/>
              <a:ext cx="80" cy="77"/>
            </a:xfrm>
            <a:prstGeom prst="ellipse">
              <a:avLst/>
            </a:prstGeom>
            <a:solidFill>
              <a:schemeClr val="accent1"/>
            </a:solidFill>
            <a:ln w="9525">
              <a:noFill/>
              <a:round/>
            </a:ln>
          </p:spPr>
          <p:txBody>
            <a:bodyPr wrap="none" anchor="ctr"/>
            <a:lstStyle/>
            <a:p>
              <a:endParaRPr lang="zh-CN" altLang="en-US"/>
            </a:p>
          </p:txBody>
        </p:sp>
        <p:sp>
          <p:nvSpPr>
            <p:cNvPr id="1059" name="Oval 35"/>
            <p:cNvSpPr>
              <a:spLocks noChangeArrowheads="1"/>
            </p:cNvSpPr>
            <p:nvPr/>
          </p:nvSpPr>
          <p:spPr bwMode="auto">
            <a:xfrm>
              <a:off x="5248" y="1632"/>
              <a:ext cx="79" cy="77"/>
            </a:xfrm>
            <a:prstGeom prst="ellipse">
              <a:avLst/>
            </a:prstGeom>
            <a:solidFill>
              <a:schemeClr val="accent1"/>
            </a:solidFill>
            <a:ln w="9525">
              <a:noFill/>
              <a:round/>
            </a:ln>
          </p:spPr>
          <p:txBody>
            <a:bodyPr wrap="none" anchor="ctr"/>
            <a:lstStyle/>
            <a:p>
              <a:endParaRPr lang="zh-CN" altLang="en-US"/>
            </a:p>
          </p:txBody>
        </p:sp>
        <p:sp>
          <p:nvSpPr>
            <p:cNvPr id="1060" name="Oval 36"/>
            <p:cNvSpPr>
              <a:spLocks noChangeArrowheads="1"/>
            </p:cNvSpPr>
            <p:nvPr/>
          </p:nvSpPr>
          <p:spPr bwMode="auto">
            <a:xfrm>
              <a:off x="5360" y="1632"/>
              <a:ext cx="77" cy="77"/>
            </a:xfrm>
            <a:prstGeom prst="ellipse">
              <a:avLst/>
            </a:prstGeom>
            <a:solidFill>
              <a:schemeClr val="folHlink"/>
            </a:solidFill>
            <a:ln w="9525">
              <a:noFill/>
              <a:round/>
            </a:ln>
          </p:spPr>
          <p:txBody>
            <a:bodyPr wrap="none" anchor="ctr"/>
            <a:lstStyle/>
            <a:p>
              <a:endParaRPr lang="zh-CN" altLang="en-US"/>
            </a:p>
          </p:txBody>
        </p:sp>
        <p:sp>
          <p:nvSpPr>
            <p:cNvPr id="1061" name="Oval 37"/>
            <p:cNvSpPr>
              <a:spLocks noChangeArrowheads="1"/>
            </p:cNvSpPr>
            <p:nvPr/>
          </p:nvSpPr>
          <p:spPr bwMode="auto">
            <a:xfrm>
              <a:off x="5472" y="1632"/>
              <a:ext cx="77" cy="77"/>
            </a:xfrm>
            <a:prstGeom prst="ellipse">
              <a:avLst/>
            </a:prstGeom>
            <a:solidFill>
              <a:schemeClr val="folHlink"/>
            </a:solidFill>
            <a:ln w="9525">
              <a:noFill/>
              <a:round/>
            </a:ln>
          </p:spPr>
          <p:txBody>
            <a:bodyPr wrap="none" anchor="ctr"/>
            <a:lstStyle/>
            <a:p>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ln>
          </p:spPr>
          <p:txBody>
            <a:bodyPr wrap="none" anchor="ctr"/>
            <a:lstStyle/>
            <a:p>
              <a:endParaRPr lang="zh-CN" altLang="en-US"/>
            </a:p>
          </p:txBody>
        </p:sp>
        <p:sp>
          <p:nvSpPr>
            <p:cNvPr id="1063" name="Oval 39"/>
            <p:cNvSpPr>
              <a:spLocks noChangeArrowheads="1"/>
            </p:cNvSpPr>
            <p:nvPr/>
          </p:nvSpPr>
          <p:spPr bwMode="auto">
            <a:xfrm>
              <a:off x="5472" y="1744"/>
              <a:ext cx="77" cy="80"/>
            </a:xfrm>
            <a:prstGeom prst="ellipse">
              <a:avLst/>
            </a:prstGeom>
            <a:solidFill>
              <a:schemeClr val="folHlink"/>
            </a:solidFill>
            <a:ln w="9525">
              <a:noFill/>
              <a:round/>
            </a:ln>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slideLayout" Target="../slideLayouts/slideLayout2.xml"/><Relationship Id="rId3" Type="http://schemas.openxmlformats.org/officeDocument/2006/relationships/tags" Target="../tags/tag5.xml"/><Relationship Id="rId21" Type="http://schemas.openxmlformats.org/officeDocument/2006/relationships/tags" Target="../tags/tag23.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tags" Target="../tags/tag27.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tags" Target="../tags/tag26.xm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tags" Target="../tags/tag25.xml"/><Relationship Id="rId10" Type="http://schemas.openxmlformats.org/officeDocument/2006/relationships/tags" Target="../tags/tag12.xml"/><Relationship Id="rId19" Type="http://schemas.openxmlformats.org/officeDocument/2006/relationships/tags" Target="../tags/tag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8.8.swf" TargetMode="Externa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8.9.swf" TargetMode="External"/><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8.10.swf" TargetMode="Externa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oleObject" Target="../embeddings/oleObject5.bin"/></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oleObject" Target="../embeddings/oleObject7.bin"/></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8.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oleObject" Target="../embeddings/oleObject8.bin"/><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oleObject" Target="../embeddings/oleObject9.bin"/><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file:///G:\&#35745;&#31639;&#26426;&#32452;&#25104;&#21407;&#29702;\Chap08\8.3.htm"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8.14.swf" TargetMode="External"/><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6.xml.rels><?xml version="1.0" encoding="UTF-8" standalone="yes"?>
<Relationships xmlns="http://schemas.openxmlformats.org/package/2006/relationships"><Relationship Id="rId3" Type="http://schemas.openxmlformats.org/officeDocument/2006/relationships/hyperlink" Target="8.15.swf" TargetMode="External"/><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oleObject" Target="../embeddings/oleObject10.bin"/><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0.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8.20.swf" TargetMode="Externa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7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4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p>
            <a:fld id="{96AFD143-0415-4158-8D72-EB6B4A680E29}" type="slidenum">
              <a:rPr lang="en-US" altLang="zh-CN" smtClean="0"/>
              <a:t>1</a:t>
            </a:fld>
            <a:endParaRPr lang="en-US" altLang="zh-CN"/>
          </a:p>
        </p:txBody>
      </p:sp>
      <p:sp>
        <p:nvSpPr>
          <p:cNvPr id="3075" name="Rectangle 2"/>
          <p:cNvSpPr>
            <a:spLocks noGrp="1" noChangeArrowheads="1"/>
          </p:cNvSpPr>
          <p:nvPr>
            <p:ph type="title"/>
          </p:nvPr>
        </p:nvSpPr>
        <p:spPr>
          <a:xfrm>
            <a:off x="1117600" y="1196975"/>
            <a:ext cx="6172200" cy="762000"/>
          </a:xfrm>
        </p:spPr>
        <p:txBody>
          <a:bodyPr/>
          <a:lstStyle/>
          <a:p>
            <a:pPr eaLnBrk="1" hangingPunct="1"/>
            <a:r>
              <a:rPr lang="zh-CN" altLang="en-US" sz="4800">
                <a:latin typeface="宋体" panose="02010600030101010101" pitchFamily="2" charset="-122"/>
              </a:rPr>
              <a:t>第八章 输入输出系统</a:t>
            </a:r>
          </a:p>
        </p:txBody>
      </p:sp>
      <p:sp>
        <p:nvSpPr>
          <p:cNvPr id="2" name="文本框 1"/>
          <p:cNvSpPr txBox="1"/>
          <p:nvPr>
            <p:custDataLst>
              <p:tags r:id="rId1"/>
            </p:custDataLst>
          </p:nvPr>
        </p:nvSpPr>
        <p:spPr>
          <a:xfrm>
            <a:off x="1403985" y="2493010"/>
            <a:ext cx="5816600" cy="2676525"/>
          </a:xfrm>
          <a:prstGeom prst="rect">
            <a:avLst/>
          </a:prstGeom>
          <a:noFill/>
        </p:spPr>
        <p:txBody>
          <a:bodyPr wrap="square" rtlCol="0">
            <a:spAutoFit/>
          </a:bodyPr>
          <a:lstStyle/>
          <a:p>
            <a:r>
              <a:rPr lang="en-US" altLang="zh-CN" sz="2800" b="0">
                <a:solidFill>
                  <a:schemeClr val="tx1"/>
                </a:solidFill>
                <a:latin typeface="+mj-lt"/>
                <a:cs typeface="+mj-lt"/>
              </a:rPr>
              <a:t>8.1 </a:t>
            </a:r>
            <a:r>
              <a:rPr lang="en-US" altLang="zh-CN" sz="2800" b="0" dirty="0">
                <a:solidFill>
                  <a:schemeClr val="tx1"/>
                </a:solidFill>
                <a:latin typeface="+mj-lt"/>
                <a:ea typeface="微软雅黑" panose="020B0503020204020204" pitchFamily="34" charset="-122"/>
                <a:cs typeface="+mj-lt"/>
                <a:sym typeface="+mn-ea"/>
              </a:rPr>
              <a:t>CPU</a:t>
            </a:r>
            <a:r>
              <a:rPr lang="zh-CN" altLang="en-US" sz="2800" b="0" dirty="0">
                <a:solidFill>
                  <a:schemeClr val="tx1"/>
                </a:solidFill>
                <a:latin typeface="+mj-lt"/>
                <a:ea typeface="微软雅黑" panose="020B0503020204020204" pitchFamily="34" charset="-122"/>
                <a:cs typeface="+mj-lt"/>
                <a:sym typeface="+mn-ea"/>
              </a:rPr>
              <a:t>与外设之间的信息交换方式</a:t>
            </a:r>
            <a:endParaRPr lang="zh-CN" sz="2800" b="0" dirty="0">
              <a:solidFill>
                <a:schemeClr val="tx1"/>
              </a:solidFill>
              <a:latin typeface="+mj-lt"/>
              <a:ea typeface="微软雅黑" panose="020B0503020204020204" pitchFamily="34" charset="-122"/>
              <a:cs typeface="+mj-lt"/>
              <a:sym typeface="+mn-ea"/>
            </a:endParaRPr>
          </a:p>
          <a:p>
            <a:r>
              <a:rPr lang="en-US" altLang="zh-CN" sz="2800" b="0">
                <a:solidFill>
                  <a:schemeClr val="tx1"/>
                </a:solidFill>
                <a:latin typeface="+mj-lt"/>
                <a:cs typeface="+mj-lt"/>
              </a:rPr>
              <a:t>8.2</a:t>
            </a:r>
            <a:r>
              <a:rPr lang="zh-CN" altLang="en-US" sz="2800" b="0" dirty="0">
                <a:solidFill>
                  <a:schemeClr val="tx1"/>
                </a:solidFill>
                <a:latin typeface="+mj-lt"/>
                <a:ea typeface="微软雅黑" panose="020B0503020204020204" pitchFamily="34" charset="-122"/>
                <a:cs typeface="+mj-lt"/>
              </a:rPr>
              <a:t> </a:t>
            </a:r>
            <a:r>
              <a:rPr lang="zh-CN" altLang="en-US" sz="2800" b="0" dirty="0">
                <a:solidFill>
                  <a:schemeClr val="tx1"/>
                </a:solidFill>
                <a:latin typeface="+mj-lt"/>
                <a:ea typeface="微软雅黑" panose="020B0503020204020204" pitchFamily="34" charset="-122"/>
                <a:cs typeface="+mj-lt"/>
                <a:sym typeface="+mn-ea"/>
              </a:rPr>
              <a:t>程序查询方式</a:t>
            </a:r>
          </a:p>
          <a:p>
            <a:pPr algn="l">
              <a:buClrTx/>
              <a:buSzTx/>
              <a:buFontTx/>
            </a:pPr>
            <a:r>
              <a:rPr lang="zh-CN" altLang="en-US" sz="2800" b="0" dirty="0">
                <a:solidFill>
                  <a:schemeClr val="tx1"/>
                </a:solidFill>
                <a:latin typeface="+mj-lt"/>
                <a:ea typeface="微软雅黑" panose="020B0503020204020204" pitchFamily="34" charset="-122"/>
                <a:cs typeface="+mj-lt"/>
              </a:rPr>
              <a:t>8.</a:t>
            </a:r>
            <a:r>
              <a:rPr lang="en-US" altLang="zh-CN" sz="2800" b="0" dirty="0">
                <a:solidFill>
                  <a:schemeClr val="tx1"/>
                </a:solidFill>
                <a:latin typeface="+mj-lt"/>
                <a:ea typeface="微软雅黑" panose="020B0503020204020204" pitchFamily="34" charset="-122"/>
                <a:cs typeface="+mj-lt"/>
              </a:rPr>
              <a:t>3</a:t>
            </a:r>
            <a:r>
              <a:rPr lang="zh-CN" altLang="en-US" sz="2800" b="0" dirty="0">
                <a:solidFill>
                  <a:schemeClr val="tx1"/>
                </a:solidFill>
                <a:latin typeface="+mj-lt"/>
                <a:ea typeface="微软雅黑" panose="020B0503020204020204" pitchFamily="34" charset="-122"/>
                <a:cs typeface="+mj-lt"/>
              </a:rPr>
              <a:t> 程序中断方式</a:t>
            </a:r>
            <a:endParaRPr lang="zh-CN" altLang="en-US" sz="2800" b="0" dirty="0">
              <a:solidFill>
                <a:schemeClr val="tx1"/>
              </a:solidFill>
              <a:latin typeface="+mj-lt"/>
              <a:ea typeface="微软雅黑" panose="020B0503020204020204" pitchFamily="34" charset="-122"/>
              <a:cs typeface="+mj-lt"/>
              <a:sym typeface="+mn-ea"/>
            </a:endParaRPr>
          </a:p>
          <a:p>
            <a:r>
              <a:rPr lang="en-US" altLang="zh-CN" sz="2800" b="0" dirty="0">
                <a:solidFill>
                  <a:schemeClr val="tx1"/>
                </a:solidFill>
                <a:latin typeface="+mj-lt"/>
                <a:ea typeface="微软雅黑" panose="020B0503020204020204" pitchFamily="34" charset="-122"/>
                <a:cs typeface="+mj-lt"/>
                <a:sym typeface="+mn-ea"/>
              </a:rPr>
              <a:t>8.4 DMA</a:t>
            </a:r>
            <a:r>
              <a:rPr lang="zh-CN" altLang="en-US" sz="2800" b="0" dirty="0">
                <a:solidFill>
                  <a:schemeClr val="tx1"/>
                </a:solidFill>
                <a:latin typeface="+mj-lt"/>
                <a:ea typeface="微软雅黑" panose="020B0503020204020204" pitchFamily="34" charset="-122"/>
                <a:cs typeface="+mj-lt"/>
                <a:sym typeface="+mn-ea"/>
              </a:rPr>
              <a:t>方式</a:t>
            </a:r>
          </a:p>
          <a:p>
            <a:r>
              <a:rPr lang="en-US" altLang="zh-CN" sz="2800" b="0" dirty="0">
                <a:solidFill>
                  <a:schemeClr val="tx1"/>
                </a:solidFill>
                <a:latin typeface="+mj-lt"/>
                <a:ea typeface="微软雅黑" panose="020B0503020204020204" pitchFamily="34" charset="-122"/>
                <a:cs typeface="+mj-lt"/>
                <a:sym typeface="+mn-ea"/>
              </a:rPr>
              <a:t>8.5 </a:t>
            </a:r>
            <a:r>
              <a:rPr lang="zh-CN" altLang="en-US" sz="2800" b="0" dirty="0">
                <a:solidFill>
                  <a:schemeClr val="tx1"/>
                </a:solidFill>
                <a:latin typeface="+mj-lt"/>
                <a:ea typeface="微软雅黑" panose="020B0503020204020204" pitchFamily="34" charset="-122"/>
                <a:cs typeface="+mj-lt"/>
                <a:sym typeface="+mn-ea"/>
              </a:rPr>
              <a:t>通道方式</a:t>
            </a:r>
          </a:p>
          <a:p>
            <a:r>
              <a:rPr lang="en-US" altLang="zh-CN" sz="2800" b="0" dirty="0">
                <a:solidFill>
                  <a:schemeClr val="tx1"/>
                </a:solidFill>
                <a:latin typeface="+mj-lt"/>
                <a:ea typeface="微软雅黑" panose="020B0503020204020204" pitchFamily="34" charset="-122"/>
                <a:cs typeface="+mj-lt"/>
                <a:sym typeface="+mn-ea"/>
              </a:rPr>
              <a:t>8.6 </a:t>
            </a:r>
            <a:r>
              <a:rPr lang="zh-CN" altLang="en-US" sz="2800" b="0" dirty="0">
                <a:solidFill>
                  <a:schemeClr val="tx1"/>
                </a:solidFill>
                <a:latin typeface="+mj-lt"/>
                <a:ea typeface="微软雅黑" panose="020B0503020204020204" pitchFamily="34" charset="-122"/>
                <a:cs typeface="+mj-lt"/>
                <a:sym typeface="+mn-ea"/>
              </a:rPr>
              <a:t>通用</a:t>
            </a:r>
            <a:r>
              <a:rPr lang="en-US" altLang="zh-CN" sz="2800" b="0" dirty="0">
                <a:solidFill>
                  <a:schemeClr val="tx1"/>
                </a:solidFill>
                <a:latin typeface="+mj-lt"/>
                <a:ea typeface="微软雅黑" panose="020B0503020204020204" pitchFamily="34" charset="-122"/>
                <a:cs typeface="+mj-lt"/>
                <a:sym typeface="+mn-ea"/>
              </a:rPr>
              <a:t>I/O</a:t>
            </a:r>
            <a:r>
              <a:rPr lang="zh-CN" altLang="en-US" sz="2800" b="0" dirty="0">
                <a:solidFill>
                  <a:schemeClr val="tx1"/>
                </a:solidFill>
                <a:latin typeface="+mj-lt"/>
                <a:ea typeface="微软雅黑" panose="020B0503020204020204" pitchFamily="34" charset="-122"/>
                <a:cs typeface="+mj-lt"/>
                <a:sym typeface="+mn-ea"/>
              </a:rPr>
              <a:t>标准接口</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fld id="{C1DA51FB-0676-4EAA-A4F2-D9362F433740}" type="slidenum">
              <a:rPr lang="en-US" altLang="zh-CN" sz="1000" smtClean="0"/>
              <a:t>2</a:t>
            </a:fld>
            <a:endParaRPr lang="en-US" altLang="zh-CN" sz="1000"/>
          </a:p>
        </p:txBody>
      </p:sp>
      <p:sp>
        <p:nvSpPr>
          <p:cNvPr id="5124" name="Rectangle 3"/>
          <p:cNvSpPr>
            <a:spLocks noGrp="1" noChangeArrowheads="1"/>
          </p:cNvSpPr>
          <p:nvPr>
            <p:ph type="body" idx="1"/>
          </p:nvPr>
        </p:nvSpPr>
        <p:spPr>
          <a:xfrm>
            <a:off x="179512" y="188640"/>
            <a:ext cx="8352928" cy="6480720"/>
          </a:xfrm>
        </p:spPr>
        <p:txBody>
          <a:bodyPr/>
          <a:lstStyle/>
          <a:p>
            <a:pPr marL="0" indent="0">
              <a:lnSpc>
                <a:spcPct val="120000"/>
              </a:lnSpc>
              <a:spcBef>
                <a:spcPts val="0"/>
              </a:spcBef>
              <a:buNone/>
            </a:pPr>
            <a:r>
              <a:rPr lang="en-US" altLang="zh-CN" sz="3600" b="1" dirty="0">
                <a:latin typeface="+mn-ea"/>
                <a:cs typeface="Times New Roman" panose="02020603050405020304" charset="0"/>
              </a:rPr>
              <a:t>8.1 </a:t>
            </a:r>
            <a:r>
              <a:rPr lang="en-US" altLang="zh-CN" sz="3600" b="1" dirty="0">
                <a:latin typeface="+mn-ea"/>
              </a:rPr>
              <a:t>CPU</a:t>
            </a:r>
            <a:r>
              <a:rPr lang="zh-CN" altLang="en-US" sz="3600" b="1" dirty="0">
                <a:latin typeface="+mn-ea"/>
              </a:rPr>
              <a:t>与外设之间的信息交换方式</a:t>
            </a:r>
            <a:br>
              <a:rPr lang="en-US" altLang="zh-CN" sz="2800" dirty="0">
                <a:latin typeface="+mn-ea"/>
              </a:rPr>
            </a:br>
            <a:r>
              <a:rPr lang="en-US" altLang="zh-CN" sz="3200" b="1" dirty="0">
                <a:latin typeface="+mn-ea"/>
                <a:cs typeface="Times New Roman" panose="02020603050405020304" charset="0"/>
              </a:rPr>
              <a:t>8.1.1 </a:t>
            </a:r>
            <a:r>
              <a:rPr lang="zh-CN" altLang="en-US" sz="3200" b="1" dirty="0">
                <a:latin typeface="+mn-ea"/>
                <a:cs typeface="Times New Roman" panose="02020603050405020304" charset="0"/>
              </a:rPr>
              <a:t>输入</a:t>
            </a:r>
            <a:r>
              <a:rPr lang="en-US" altLang="zh-CN" sz="3200" b="1" dirty="0">
                <a:latin typeface="+mn-ea"/>
              </a:rPr>
              <a:t>/</a:t>
            </a:r>
            <a:r>
              <a:rPr lang="zh-CN" altLang="en-US" sz="3200" b="1" dirty="0">
                <a:latin typeface="+mn-ea"/>
              </a:rPr>
              <a:t>输出接口与端口</a:t>
            </a:r>
          </a:p>
          <a:p>
            <a:pPr>
              <a:lnSpc>
                <a:spcPct val="120000"/>
              </a:lnSpc>
              <a:spcBef>
                <a:spcPts val="0"/>
              </a:spcBef>
            </a:pPr>
            <a:r>
              <a:rPr lang="zh-CN" altLang="en-US" sz="3200" dirty="0">
                <a:latin typeface="+mn-ea"/>
              </a:rPr>
              <a:t>外围设备的种类相当繁多，有机械式和电动式，也有电子式和其他形式。其输入信号，可以是数字式的电压，也可以是模拟式的电压和电流。从信息传输速率来讲，相差也很悬殊。</a:t>
            </a:r>
            <a:endParaRPr lang="en-US" altLang="zh-CN" sz="3200" dirty="0">
              <a:latin typeface="+mn-ea"/>
            </a:endParaRPr>
          </a:p>
          <a:p>
            <a:pPr>
              <a:lnSpc>
                <a:spcPct val="120000"/>
              </a:lnSpc>
              <a:spcBef>
                <a:spcPts val="0"/>
              </a:spcBef>
            </a:pPr>
            <a:r>
              <a:rPr lang="en-US" altLang="zh-CN" sz="3200" dirty="0">
                <a:latin typeface="+mn-ea"/>
              </a:rPr>
              <a:t>CPU</a:t>
            </a:r>
            <a:r>
              <a:rPr lang="zh-CN" altLang="en-US" sz="3200" dirty="0">
                <a:latin typeface="+mn-ea"/>
              </a:rPr>
              <a:t>通过</a:t>
            </a:r>
            <a:r>
              <a:rPr lang="en-US" altLang="zh-CN" sz="3200" dirty="0">
                <a:latin typeface="+mn-ea"/>
              </a:rPr>
              <a:t>I/O</a:t>
            </a:r>
            <a:r>
              <a:rPr lang="zh-CN" altLang="en-US" sz="3200" dirty="0">
                <a:latin typeface="+mn-ea"/>
              </a:rPr>
              <a:t>接口与外设连接</a:t>
            </a:r>
            <a:endParaRPr lang="en-US" altLang="zh-CN" sz="3200" dirty="0">
              <a:latin typeface="+mn-ea"/>
            </a:endParaRPr>
          </a:p>
          <a:p>
            <a:pPr marL="349250" lvl="1" indent="0">
              <a:lnSpc>
                <a:spcPct val="120000"/>
              </a:lnSpc>
              <a:spcBef>
                <a:spcPts val="0"/>
              </a:spcBef>
              <a:buNone/>
            </a:pPr>
            <a:r>
              <a:rPr lang="zh-CN" altLang="en-US" sz="3200" dirty="0">
                <a:latin typeface="+mn-ea"/>
              </a:rPr>
              <a:t>如何把高速工作的主机与不同速度工作的外围设备相连接，保证高速的主机和不同速度的外设之间的高效和可靠的交互？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fld id="{B3E79804-CB25-4E9B-86D2-73E83ACFEE9D}" type="slidenum">
              <a:rPr lang="en-US" altLang="zh-CN" sz="1000" smtClean="0"/>
              <a:t>3</a:t>
            </a:fld>
            <a:endParaRPr lang="en-US" altLang="zh-CN" sz="1000"/>
          </a:p>
        </p:txBody>
      </p:sp>
      <p:sp>
        <p:nvSpPr>
          <p:cNvPr id="7" name="Rectangle 3"/>
          <p:cNvSpPr txBox="1">
            <a:spLocks noChangeArrowheads="1"/>
          </p:cNvSpPr>
          <p:nvPr/>
        </p:nvSpPr>
        <p:spPr bwMode="auto">
          <a:xfrm>
            <a:off x="265430" y="142240"/>
            <a:ext cx="7653020" cy="149352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L="0" indent="0">
              <a:lnSpc>
                <a:spcPct val="110000"/>
              </a:lnSpc>
              <a:spcBef>
                <a:spcPts val="0"/>
              </a:spcBef>
              <a:buFont typeface="Wingdings" panose="05000000000000000000" pitchFamily="2" charset="2"/>
              <a:buNone/>
            </a:pPr>
            <a:r>
              <a:rPr lang="en-US" altLang="zh-CN" sz="3200" b="1" kern="0" dirty="0">
                <a:latin typeface="+mn-ea"/>
                <a:cs typeface="Times New Roman" panose="02020603050405020304" charset="0"/>
              </a:rPr>
              <a:t>8.1.1 </a:t>
            </a:r>
            <a:r>
              <a:rPr lang="zh-CN" altLang="en-US" sz="3200" b="1" kern="0" dirty="0">
                <a:latin typeface="+mn-ea"/>
                <a:cs typeface="Times New Roman" panose="02020603050405020304" charset="0"/>
              </a:rPr>
              <a:t>输入</a:t>
            </a:r>
            <a:r>
              <a:rPr lang="en-US" altLang="zh-CN" sz="3200" b="1" kern="0" dirty="0">
                <a:latin typeface="+mn-ea"/>
              </a:rPr>
              <a:t>/</a:t>
            </a:r>
            <a:r>
              <a:rPr lang="zh-CN" altLang="en-US" sz="3200" b="1" kern="0" dirty="0">
                <a:latin typeface="+mn-ea"/>
              </a:rPr>
              <a:t>输出接口与端口</a:t>
            </a:r>
          </a:p>
          <a:p>
            <a:pPr>
              <a:lnSpc>
                <a:spcPct val="110000"/>
              </a:lnSpc>
              <a:spcBef>
                <a:spcPts val="0"/>
              </a:spcBef>
            </a:pPr>
            <a:r>
              <a:rPr lang="en-US" altLang="zh-CN" sz="2800" dirty="0">
                <a:latin typeface="+mn-ea"/>
              </a:rPr>
              <a:t>I/O</a:t>
            </a:r>
            <a:r>
              <a:rPr lang="zh-CN" altLang="en-US" sz="2800" dirty="0">
                <a:latin typeface="+mn-ea"/>
              </a:rPr>
              <a:t>接口是由半导体介质构成的逻辑电路，它作为一个转换器，保证外部设备用计算机系统特性所要求的形式发送和接收信息。</a:t>
            </a:r>
            <a:endParaRPr lang="zh-CN" altLang="en-US" sz="2800" kern="0" dirty="0">
              <a:latin typeface="+mn-ea"/>
            </a:endParaRPr>
          </a:p>
        </p:txBody>
      </p:sp>
      <p:sp>
        <p:nvSpPr>
          <p:cNvPr id="6" name="Rectangle 3"/>
          <p:cNvSpPr txBox="1">
            <a:spLocks noChangeArrowheads="1"/>
          </p:cNvSpPr>
          <p:nvPr>
            <p:custDataLst>
              <p:tags r:id="rId1"/>
            </p:custDataLst>
          </p:nvPr>
        </p:nvSpPr>
        <p:spPr bwMode="auto">
          <a:xfrm>
            <a:off x="251460" y="2190115"/>
            <a:ext cx="8771890" cy="168211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nSpc>
                <a:spcPct val="110000"/>
              </a:lnSpc>
              <a:spcBef>
                <a:spcPts val="0"/>
              </a:spcBef>
            </a:pPr>
            <a:r>
              <a:rPr lang="zh-CN" altLang="en-US" sz="2800" dirty="0">
                <a:latin typeface="+mn-ea"/>
                <a:sym typeface="+mn-ea"/>
              </a:rPr>
              <a:t>端口：接口内部设置的可被</a:t>
            </a:r>
            <a:r>
              <a:rPr lang="en-US" altLang="zh-CN" sz="2800" dirty="0">
                <a:latin typeface="+mn-ea"/>
                <a:sym typeface="+mn-ea"/>
              </a:rPr>
              <a:t>CPU</a:t>
            </a:r>
            <a:r>
              <a:rPr lang="zh-CN" altLang="en-US" sz="2800" dirty="0">
                <a:latin typeface="+mn-ea"/>
                <a:sym typeface="+mn-ea"/>
              </a:rPr>
              <a:t>直接访问的寄存器。</a:t>
            </a:r>
            <a:endParaRPr lang="zh-CN" altLang="en-US" sz="2800" kern="0" dirty="0">
              <a:latin typeface="+mn-ea"/>
            </a:endParaRPr>
          </a:p>
          <a:p>
            <a:pPr>
              <a:lnSpc>
                <a:spcPct val="110000"/>
              </a:lnSpc>
              <a:spcBef>
                <a:spcPts val="0"/>
              </a:spcBef>
            </a:pPr>
            <a:r>
              <a:rPr lang="zh-CN" altLang="en-US" sz="2800" dirty="0">
                <a:latin typeface="+mn-ea"/>
              </a:rPr>
              <a:t>端口类型：命令口（控制口）、状态口、数据口。</a:t>
            </a:r>
            <a:endParaRPr lang="zh-CN" altLang="en-US" sz="2800" kern="0" dirty="0">
              <a:latin typeface="+mn-ea"/>
            </a:endParaRPr>
          </a:p>
        </p:txBody>
      </p:sp>
      <p:grpSp>
        <p:nvGrpSpPr>
          <p:cNvPr id="54" name="组合 53"/>
          <p:cNvGrpSpPr/>
          <p:nvPr/>
        </p:nvGrpSpPr>
        <p:grpSpPr>
          <a:xfrm>
            <a:off x="1000686" y="3645145"/>
            <a:ext cx="6771172" cy="2664296"/>
            <a:chOff x="1000984" y="4142099"/>
            <a:chExt cx="6771172" cy="2664296"/>
          </a:xfrm>
        </p:grpSpPr>
        <p:sp>
          <p:nvSpPr>
            <p:cNvPr id="55" name="矩形 54"/>
            <p:cNvSpPr/>
            <p:nvPr>
              <p:custDataLst>
                <p:tags r:id="rId2"/>
              </p:custDataLst>
            </p:nvPr>
          </p:nvSpPr>
          <p:spPr bwMode="auto">
            <a:xfrm>
              <a:off x="3347864" y="4142099"/>
              <a:ext cx="2016224" cy="2664296"/>
            </a:xfrm>
            <a:prstGeom prst="rect">
              <a:avLst/>
            </a:prstGeom>
            <a:noFill/>
            <a:ln w="12700"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6" name="矩形 55"/>
            <p:cNvSpPr/>
            <p:nvPr>
              <p:custDataLst>
                <p:tags r:id="rId3"/>
              </p:custDataLst>
            </p:nvPr>
          </p:nvSpPr>
          <p:spPr bwMode="auto">
            <a:xfrm>
              <a:off x="1257212" y="5863883"/>
              <a:ext cx="936104"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dirty="0">
                  <a:latin typeface="微软雅黑" panose="020B0503020204020204" pitchFamily="34" charset="-122"/>
                  <a:ea typeface="微软雅黑" panose="020B0503020204020204" pitchFamily="34" charset="-122"/>
                </a:rPr>
                <a:t>寄存器</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57" name="矩形 56"/>
            <p:cNvSpPr/>
            <p:nvPr>
              <p:custDataLst>
                <p:tags r:id="rId4"/>
              </p:custDataLst>
            </p:nvPr>
          </p:nvSpPr>
          <p:spPr bwMode="auto">
            <a:xfrm>
              <a:off x="1000984" y="4266513"/>
              <a:ext cx="1433766" cy="2491190"/>
            </a:xfrm>
            <a:prstGeom prst="rect">
              <a:avLst/>
            </a:prstGeom>
            <a:noFill/>
            <a:ln w="12700"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8" name="矩形 57"/>
            <p:cNvSpPr/>
            <p:nvPr>
              <p:custDataLst>
                <p:tags r:id="rId5"/>
              </p:custDataLst>
            </p:nvPr>
          </p:nvSpPr>
          <p:spPr bwMode="auto">
            <a:xfrm>
              <a:off x="6404004" y="4350438"/>
              <a:ext cx="1368152" cy="2268417"/>
            </a:xfrm>
            <a:prstGeom prst="rect">
              <a:avLst/>
            </a:prstGeom>
            <a:noFill/>
            <a:ln w="12700"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9" name="矩形 58"/>
            <p:cNvSpPr/>
            <p:nvPr>
              <p:custDataLst>
                <p:tags r:id="rId6"/>
              </p:custDataLst>
            </p:nvPr>
          </p:nvSpPr>
          <p:spPr bwMode="auto">
            <a:xfrm>
              <a:off x="1374354" y="4557194"/>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dirty="0">
                  <a:latin typeface="微软雅黑" panose="020B0503020204020204" pitchFamily="34" charset="-122"/>
                  <a:ea typeface="微软雅黑" panose="020B0503020204020204" pitchFamily="34" charset="-122"/>
                </a:rPr>
                <a:t>CPU</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60" name="矩形 59"/>
            <p:cNvSpPr/>
            <p:nvPr>
              <p:custDataLst>
                <p:tags r:id="rId7"/>
              </p:custDataLst>
            </p:nvPr>
          </p:nvSpPr>
          <p:spPr bwMode="auto">
            <a:xfrm>
              <a:off x="3955490" y="4350421"/>
              <a:ext cx="1120634"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接口</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61" name="矩形 60"/>
            <p:cNvSpPr/>
            <p:nvPr>
              <p:custDataLst>
                <p:tags r:id="rId8"/>
              </p:custDataLst>
            </p:nvPr>
          </p:nvSpPr>
          <p:spPr bwMode="auto">
            <a:xfrm>
              <a:off x="2692970" y="5717163"/>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rPr>
                <a:t>DB</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62" name="矩形 61"/>
            <p:cNvSpPr/>
            <p:nvPr>
              <p:custDataLst>
                <p:tags r:id="rId9"/>
              </p:custDataLst>
            </p:nvPr>
          </p:nvSpPr>
          <p:spPr bwMode="auto">
            <a:xfrm>
              <a:off x="2676220" y="4863293"/>
              <a:ext cx="428923"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rPr>
                <a:t>CB</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63" name="矩形 62"/>
            <p:cNvSpPr/>
            <p:nvPr>
              <p:custDataLst>
                <p:tags r:id="rId10"/>
              </p:custDataLst>
            </p:nvPr>
          </p:nvSpPr>
          <p:spPr bwMode="auto">
            <a:xfrm>
              <a:off x="5461745" y="6059805"/>
              <a:ext cx="585882"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a:t>
              </a:r>
            </a:p>
          </p:txBody>
        </p:sp>
        <p:sp>
          <p:nvSpPr>
            <p:cNvPr id="64" name="矩形 63"/>
            <p:cNvSpPr/>
            <p:nvPr>
              <p:custDataLst>
                <p:tags r:id="rId11"/>
              </p:custDataLst>
            </p:nvPr>
          </p:nvSpPr>
          <p:spPr bwMode="auto">
            <a:xfrm>
              <a:off x="5475048" y="5283397"/>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状态信号</a:t>
              </a:r>
            </a:p>
          </p:txBody>
        </p:sp>
        <p:sp>
          <p:nvSpPr>
            <p:cNvPr id="65" name="矩形 64"/>
            <p:cNvSpPr/>
            <p:nvPr>
              <p:custDataLst>
                <p:tags r:id="rId12"/>
              </p:custDataLst>
            </p:nvPr>
          </p:nvSpPr>
          <p:spPr bwMode="auto">
            <a:xfrm>
              <a:off x="5475048" y="4839440"/>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zh-CN" altLang="en-US" sz="1400" dirty="0">
                  <a:latin typeface="微软雅黑" panose="020B0503020204020204" pitchFamily="34" charset="-122"/>
                  <a:ea typeface="微软雅黑" panose="020B0503020204020204" pitchFamily="34" charset="-122"/>
                </a:rPr>
                <a:t>控制信号</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66" name="矩形 65"/>
            <p:cNvSpPr/>
            <p:nvPr>
              <p:custDataLst>
                <p:tags r:id="rId13"/>
              </p:custDataLst>
            </p:nvPr>
          </p:nvSpPr>
          <p:spPr bwMode="auto">
            <a:xfrm>
              <a:off x="6804248" y="4799301"/>
              <a:ext cx="648072" cy="691264"/>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外</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设</a:t>
              </a:r>
            </a:p>
          </p:txBody>
        </p:sp>
        <p:sp>
          <p:nvSpPr>
            <p:cNvPr id="67" name="矩形 66"/>
            <p:cNvSpPr/>
            <p:nvPr>
              <p:custDataLst>
                <p:tags r:id="rId14"/>
              </p:custDataLst>
            </p:nvPr>
          </p:nvSpPr>
          <p:spPr bwMode="auto">
            <a:xfrm>
              <a:off x="3896223" y="5396573"/>
              <a:ext cx="1158144"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状态口</a:t>
              </a:r>
            </a:p>
          </p:txBody>
        </p:sp>
        <p:sp>
          <p:nvSpPr>
            <p:cNvPr id="68" name="矩形 67"/>
            <p:cNvSpPr/>
            <p:nvPr>
              <p:custDataLst>
                <p:tags r:id="rId15"/>
              </p:custDataLst>
            </p:nvPr>
          </p:nvSpPr>
          <p:spPr bwMode="auto">
            <a:xfrm>
              <a:off x="3905202" y="5855745"/>
              <a:ext cx="1162971"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数据口</a:t>
              </a:r>
            </a:p>
          </p:txBody>
        </p:sp>
        <p:sp>
          <p:nvSpPr>
            <p:cNvPr id="69" name="矩形 68"/>
            <p:cNvSpPr/>
            <p:nvPr>
              <p:custDataLst>
                <p:tags r:id="rId16"/>
              </p:custDataLst>
            </p:nvPr>
          </p:nvSpPr>
          <p:spPr bwMode="auto">
            <a:xfrm>
              <a:off x="3896222" y="4937401"/>
              <a:ext cx="1158145"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dirty="0">
                  <a:latin typeface="微软雅黑" panose="020B0503020204020204" pitchFamily="34" charset="-122"/>
                  <a:ea typeface="微软雅黑" panose="020B0503020204020204" pitchFamily="34" charset="-122"/>
                </a:rPr>
                <a:t>控制口</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70" name="左右箭头 69"/>
            <p:cNvSpPr/>
            <p:nvPr>
              <p:custDataLst>
                <p:tags r:id="rId17"/>
              </p:custDataLst>
            </p:nvPr>
          </p:nvSpPr>
          <p:spPr bwMode="auto">
            <a:xfrm>
              <a:off x="2434750" y="5100469"/>
              <a:ext cx="905164" cy="198022"/>
            </a:xfrm>
            <a:prstGeom prst="lef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1" name="左右箭头 70"/>
            <p:cNvSpPr/>
            <p:nvPr>
              <p:custDataLst>
                <p:tags r:id="rId18"/>
              </p:custDataLst>
            </p:nvPr>
          </p:nvSpPr>
          <p:spPr bwMode="auto">
            <a:xfrm>
              <a:off x="2217169" y="5926853"/>
              <a:ext cx="1672131" cy="217824"/>
            </a:xfrm>
            <a:prstGeom prst="lef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2" name="右箭头 71"/>
            <p:cNvSpPr/>
            <p:nvPr>
              <p:custDataLst>
                <p:tags r:id="rId19"/>
              </p:custDataLst>
            </p:nvPr>
          </p:nvSpPr>
          <p:spPr bwMode="auto">
            <a:xfrm>
              <a:off x="2444275" y="6409455"/>
              <a:ext cx="881535" cy="220338"/>
            </a:xfrm>
            <a:prstGeom prs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3" name="左右箭头 72"/>
            <p:cNvSpPr/>
            <p:nvPr>
              <p:custDataLst>
                <p:tags r:id="rId20"/>
              </p:custDataLst>
            </p:nvPr>
          </p:nvSpPr>
          <p:spPr bwMode="auto">
            <a:xfrm>
              <a:off x="5076124" y="5889232"/>
              <a:ext cx="1304027" cy="218917"/>
            </a:xfrm>
            <a:prstGeom prst="lef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74" name="直接箭头连接符 73"/>
            <p:cNvCxnSpPr>
              <a:endCxn id="67" idx="3"/>
            </p:cNvCxnSpPr>
            <p:nvPr>
              <p:custDataLst>
                <p:tags r:id="rId21"/>
              </p:custDataLst>
            </p:nvPr>
          </p:nvCxnSpPr>
          <p:spPr bwMode="auto">
            <a:xfrm flipH="1" flipV="1">
              <a:off x="5054367" y="5576593"/>
              <a:ext cx="1349637" cy="3982"/>
            </a:xfrm>
            <a:prstGeom prst="straightConnector1">
              <a:avLst/>
            </a:prstGeom>
            <a:solidFill>
              <a:schemeClr val="accent1"/>
            </a:solidFill>
            <a:ln w="9525" cap="flat" cmpd="sng" algn="ctr">
              <a:solidFill>
                <a:schemeClr val="tx1"/>
              </a:solidFill>
              <a:prstDash val="solid"/>
              <a:round/>
              <a:headEnd type="none" w="med" len="med"/>
              <a:tailEnd type="triangle" w="med" len="med"/>
            </a:ln>
            <a:effectLst/>
          </p:spPr>
        </p:cxnSp>
        <p:cxnSp>
          <p:nvCxnSpPr>
            <p:cNvPr id="75" name="直接箭头连接符 74"/>
            <p:cNvCxnSpPr>
              <a:stCxn id="69" idx="3"/>
            </p:cNvCxnSpPr>
            <p:nvPr>
              <p:custDataLst>
                <p:tags r:id="rId22"/>
              </p:custDataLst>
            </p:nvPr>
          </p:nvCxnSpPr>
          <p:spPr bwMode="auto">
            <a:xfrm>
              <a:off x="5054367" y="5117421"/>
              <a:ext cx="1325784" cy="0"/>
            </a:xfrm>
            <a:prstGeom prst="straightConnector1">
              <a:avLst/>
            </a:prstGeom>
            <a:solidFill>
              <a:schemeClr val="accent1"/>
            </a:solidFill>
            <a:ln w="9525" cap="flat" cmpd="sng" algn="ctr">
              <a:solidFill>
                <a:schemeClr val="tx1"/>
              </a:solidFill>
              <a:prstDash val="solid"/>
              <a:round/>
              <a:headEnd type="none" w="med" len="med"/>
              <a:tailEnd type="triangle" w="med" len="med"/>
            </a:ln>
            <a:effectLst/>
          </p:spPr>
        </p:cxnSp>
        <p:sp>
          <p:nvSpPr>
            <p:cNvPr id="76" name="矩形 75"/>
            <p:cNvSpPr/>
            <p:nvPr>
              <p:custDataLst>
                <p:tags r:id="rId23"/>
              </p:custDataLst>
            </p:nvPr>
          </p:nvSpPr>
          <p:spPr bwMode="auto">
            <a:xfrm>
              <a:off x="2686067" y="6172285"/>
              <a:ext cx="428923"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rPr>
                <a:t>AB</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cxnSp>
          <p:nvCxnSpPr>
            <p:cNvPr id="77" name="肘形连接符 76"/>
            <p:cNvCxnSpPr>
              <a:stCxn id="67" idx="1"/>
            </p:cNvCxnSpPr>
            <p:nvPr>
              <p:custDataLst>
                <p:tags r:id="rId24"/>
              </p:custDataLst>
            </p:nvPr>
          </p:nvCxnSpPr>
          <p:spPr bwMode="auto">
            <a:xfrm rot="10800000" flipV="1">
              <a:off x="3635897" y="5576592"/>
              <a:ext cx="260327" cy="422097"/>
            </a:xfrm>
            <a:prstGeom prst="bentConnector2">
              <a:avLst/>
            </a:prstGeom>
            <a:solidFill>
              <a:schemeClr val="accent1"/>
            </a:solidFill>
            <a:ln w="9525" cap="flat" cmpd="sng" algn="ctr">
              <a:solidFill>
                <a:schemeClr val="tx1"/>
              </a:solidFill>
              <a:prstDash val="solid"/>
              <a:round/>
              <a:headEnd type="none" w="med" len="med"/>
              <a:tailEnd type="triangle" w="med" len="med"/>
            </a:ln>
            <a:effectLst/>
          </p:spPr>
        </p:cxnSp>
        <p:cxnSp>
          <p:nvCxnSpPr>
            <p:cNvPr id="78" name="肘形连接符 77"/>
            <p:cNvCxnSpPr>
              <a:endCxn id="69" idx="1"/>
            </p:cNvCxnSpPr>
            <p:nvPr>
              <p:custDataLst>
                <p:tags r:id="rId25"/>
              </p:custDataLst>
            </p:nvPr>
          </p:nvCxnSpPr>
          <p:spPr bwMode="auto">
            <a:xfrm rot="5400000" flipH="1" flipV="1">
              <a:off x="3230955" y="5333425"/>
              <a:ext cx="881271" cy="449264"/>
            </a:xfrm>
            <a:prstGeom prst="bentConnector2">
              <a:avLst/>
            </a:prstGeom>
            <a:solidFill>
              <a:schemeClr val="accent1"/>
            </a:solidFill>
            <a:ln w="12700" cap="flat" cmpd="sng" algn="ctr">
              <a:solidFill>
                <a:schemeClr val="tx1"/>
              </a:solidFill>
              <a:prstDash val="solid"/>
              <a:round/>
              <a:headEnd type="none" w="med" len="med"/>
              <a:tailEnd type="triangle" w="med" len="med"/>
            </a:ln>
            <a:effectLst/>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fld id="{B3E79804-CB25-4E9B-86D2-73E83ACFEE9D}" type="slidenum">
              <a:rPr lang="en-US" altLang="zh-CN" sz="1000" smtClean="0"/>
              <a:t>4</a:t>
            </a:fld>
            <a:endParaRPr lang="en-US" altLang="zh-CN" sz="1000"/>
          </a:p>
        </p:txBody>
      </p:sp>
      <p:sp>
        <p:nvSpPr>
          <p:cNvPr id="7" name="Rectangle 3"/>
          <p:cNvSpPr txBox="1">
            <a:spLocks noChangeArrowheads="1"/>
          </p:cNvSpPr>
          <p:nvPr/>
        </p:nvSpPr>
        <p:spPr bwMode="auto">
          <a:xfrm>
            <a:off x="323850" y="476885"/>
            <a:ext cx="7719060" cy="328612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nSpc>
                <a:spcPct val="110000"/>
              </a:lnSpc>
              <a:spcBef>
                <a:spcPts val="0"/>
              </a:spcBef>
            </a:pPr>
            <a:r>
              <a:rPr lang="zh-CN" altLang="en-US" sz="2800" dirty="0">
                <a:latin typeface="+mn-ea"/>
                <a:sym typeface="+mn-ea"/>
              </a:rPr>
              <a:t>为了便于</a:t>
            </a:r>
            <a:r>
              <a:rPr lang="en-US" altLang="zh-CN" sz="2800" dirty="0">
                <a:latin typeface="+mn-ea"/>
                <a:sym typeface="+mn-ea"/>
              </a:rPr>
              <a:t>CPU</a:t>
            </a:r>
            <a:r>
              <a:rPr lang="zh-CN" altLang="en-US" sz="2800" dirty="0">
                <a:latin typeface="+mn-ea"/>
                <a:sym typeface="+mn-ea"/>
              </a:rPr>
              <a:t>访问端口，也需要对端口安排地址。通常有两种不同的编址方式：统一编址、独立编址。</a:t>
            </a:r>
            <a:endParaRPr lang="en-US" altLang="zh-CN" sz="2800" dirty="0">
              <a:latin typeface="+mn-ea"/>
            </a:endParaRPr>
          </a:p>
          <a:p>
            <a:pPr>
              <a:lnSpc>
                <a:spcPct val="110000"/>
              </a:lnSpc>
              <a:spcBef>
                <a:spcPts val="0"/>
              </a:spcBef>
            </a:pPr>
            <a:r>
              <a:rPr lang="en-US" altLang="zh-CN" sz="2800" dirty="0">
                <a:latin typeface="+mn-ea"/>
              </a:rPr>
              <a:t>CPU</a:t>
            </a:r>
            <a:r>
              <a:rPr lang="zh-CN" altLang="en-US" sz="2800" dirty="0">
                <a:latin typeface="+mn-ea"/>
              </a:rPr>
              <a:t>的</a:t>
            </a:r>
            <a:r>
              <a:rPr lang="en-US" altLang="zh-CN" sz="2800" dirty="0">
                <a:latin typeface="+mn-ea"/>
              </a:rPr>
              <a:t>I/O</a:t>
            </a:r>
            <a:r>
              <a:rPr lang="zh-CN" altLang="en-US" sz="2800" dirty="0">
                <a:latin typeface="+mn-ea"/>
              </a:rPr>
              <a:t>操作实际上分为两个传输阶段：</a:t>
            </a:r>
            <a:br>
              <a:rPr lang="zh-CN" altLang="en-US" sz="2800" dirty="0">
                <a:latin typeface="+mn-ea"/>
              </a:rPr>
            </a:br>
            <a:r>
              <a:rPr lang="en-US" altLang="zh-CN" sz="2800" dirty="0">
                <a:latin typeface="+mn-ea"/>
              </a:rPr>
              <a:t>I/O</a:t>
            </a:r>
            <a:r>
              <a:rPr lang="zh-CN" altLang="en-US" sz="2800" dirty="0">
                <a:latin typeface="+mn-ea"/>
              </a:rPr>
              <a:t>接口与外设之间的数据传送</a:t>
            </a:r>
            <a:br>
              <a:rPr lang="zh-CN" altLang="en-US" sz="2800" dirty="0">
                <a:latin typeface="+mn-ea"/>
              </a:rPr>
            </a:br>
            <a:r>
              <a:rPr lang="en-US" altLang="zh-CN" sz="2800" dirty="0">
                <a:latin typeface="+mn-ea"/>
              </a:rPr>
              <a:t>CPU</a:t>
            </a:r>
            <a:r>
              <a:rPr lang="zh-CN" altLang="en-US" sz="2800" dirty="0">
                <a:latin typeface="+mn-ea"/>
              </a:rPr>
              <a:t>与</a:t>
            </a:r>
            <a:r>
              <a:rPr lang="en-US" altLang="zh-CN" sz="2800" dirty="0">
                <a:latin typeface="+mn-ea"/>
              </a:rPr>
              <a:t>I/O</a:t>
            </a:r>
            <a:r>
              <a:rPr lang="zh-CN" altLang="en-US" sz="2800" dirty="0">
                <a:latin typeface="+mn-ea"/>
              </a:rPr>
              <a:t>接口之间的数据传送</a:t>
            </a:r>
            <a:endParaRPr lang="zh-CN" altLang="en-US" sz="2800" kern="0" dirty="0">
              <a:latin typeface="+mn-ea"/>
            </a:endParaRPr>
          </a:p>
        </p:txBody>
      </p:sp>
      <p:grpSp>
        <p:nvGrpSpPr>
          <p:cNvPr id="40" name="组合 39"/>
          <p:cNvGrpSpPr/>
          <p:nvPr/>
        </p:nvGrpSpPr>
        <p:grpSpPr>
          <a:xfrm>
            <a:off x="679376" y="3784210"/>
            <a:ext cx="6771172" cy="2664296"/>
            <a:chOff x="1000984" y="4142099"/>
            <a:chExt cx="6771172" cy="2664296"/>
          </a:xfrm>
        </p:grpSpPr>
        <p:sp>
          <p:nvSpPr>
            <p:cNvPr id="2" name="矩形 1"/>
            <p:cNvSpPr/>
            <p:nvPr/>
          </p:nvSpPr>
          <p:spPr bwMode="auto">
            <a:xfrm>
              <a:off x="3347864" y="4142099"/>
              <a:ext cx="2016224" cy="2664296"/>
            </a:xfrm>
            <a:prstGeom prst="rect">
              <a:avLst/>
            </a:prstGeom>
            <a:noFill/>
            <a:ln w="12700"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矩形 2"/>
            <p:cNvSpPr/>
            <p:nvPr/>
          </p:nvSpPr>
          <p:spPr bwMode="auto">
            <a:xfrm>
              <a:off x="1257212" y="5863883"/>
              <a:ext cx="936104"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dirty="0">
                  <a:latin typeface="微软雅黑" panose="020B0503020204020204" pitchFamily="34" charset="-122"/>
                  <a:ea typeface="微软雅黑" panose="020B0503020204020204" pitchFamily="34" charset="-122"/>
                </a:rPr>
                <a:t>寄存器</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9" name="矩形 8"/>
            <p:cNvSpPr/>
            <p:nvPr/>
          </p:nvSpPr>
          <p:spPr bwMode="auto">
            <a:xfrm>
              <a:off x="1000984" y="4266513"/>
              <a:ext cx="1433766" cy="2491190"/>
            </a:xfrm>
            <a:prstGeom prst="rect">
              <a:avLst/>
            </a:prstGeom>
            <a:noFill/>
            <a:ln w="12700"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矩形 11"/>
            <p:cNvSpPr/>
            <p:nvPr/>
          </p:nvSpPr>
          <p:spPr bwMode="auto">
            <a:xfrm>
              <a:off x="6404004" y="4350438"/>
              <a:ext cx="1368152" cy="2268417"/>
            </a:xfrm>
            <a:prstGeom prst="rect">
              <a:avLst/>
            </a:prstGeom>
            <a:noFill/>
            <a:ln w="12700"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矩形 12"/>
            <p:cNvSpPr/>
            <p:nvPr/>
          </p:nvSpPr>
          <p:spPr bwMode="auto">
            <a:xfrm>
              <a:off x="1374354" y="4557194"/>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dirty="0">
                  <a:latin typeface="微软雅黑" panose="020B0503020204020204" pitchFamily="34" charset="-122"/>
                  <a:ea typeface="微软雅黑" panose="020B0503020204020204" pitchFamily="34" charset="-122"/>
                </a:rPr>
                <a:t>CPU</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4" name="矩形 13"/>
            <p:cNvSpPr/>
            <p:nvPr/>
          </p:nvSpPr>
          <p:spPr bwMode="auto">
            <a:xfrm>
              <a:off x="3955490" y="4350421"/>
              <a:ext cx="1120634"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接口</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5" name="矩形 14"/>
            <p:cNvSpPr/>
            <p:nvPr/>
          </p:nvSpPr>
          <p:spPr bwMode="auto">
            <a:xfrm>
              <a:off x="2692970" y="5717163"/>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rPr>
                <a:t>DB</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6" name="矩形 15"/>
            <p:cNvSpPr/>
            <p:nvPr/>
          </p:nvSpPr>
          <p:spPr bwMode="auto">
            <a:xfrm>
              <a:off x="2676220" y="4863293"/>
              <a:ext cx="428923"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rPr>
                <a:t>CB</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7" name="矩形 16"/>
            <p:cNvSpPr/>
            <p:nvPr/>
          </p:nvSpPr>
          <p:spPr bwMode="auto">
            <a:xfrm>
              <a:off x="5461745" y="6059805"/>
              <a:ext cx="585882"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a:t>
              </a:r>
            </a:p>
          </p:txBody>
        </p:sp>
        <p:sp>
          <p:nvSpPr>
            <p:cNvPr id="18" name="矩形 17"/>
            <p:cNvSpPr/>
            <p:nvPr/>
          </p:nvSpPr>
          <p:spPr bwMode="auto">
            <a:xfrm>
              <a:off x="5475048" y="5283397"/>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状态信号</a:t>
              </a:r>
            </a:p>
          </p:txBody>
        </p:sp>
        <p:sp>
          <p:nvSpPr>
            <p:cNvPr id="19" name="矩形 18"/>
            <p:cNvSpPr/>
            <p:nvPr/>
          </p:nvSpPr>
          <p:spPr bwMode="auto">
            <a:xfrm>
              <a:off x="5475048" y="4839440"/>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zh-CN" altLang="en-US" sz="1400" dirty="0">
                  <a:latin typeface="微软雅黑" panose="020B0503020204020204" pitchFamily="34" charset="-122"/>
                  <a:ea typeface="微软雅黑" panose="020B0503020204020204" pitchFamily="34" charset="-122"/>
                </a:rPr>
                <a:t>控制信号</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20" name="矩形 19"/>
            <p:cNvSpPr/>
            <p:nvPr/>
          </p:nvSpPr>
          <p:spPr bwMode="auto">
            <a:xfrm>
              <a:off x="6804248" y="4799301"/>
              <a:ext cx="648072" cy="691264"/>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外</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设</a:t>
              </a:r>
            </a:p>
          </p:txBody>
        </p:sp>
        <p:sp>
          <p:nvSpPr>
            <p:cNvPr id="21" name="矩形 20"/>
            <p:cNvSpPr/>
            <p:nvPr/>
          </p:nvSpPr>
          <p:spPr bwMode="auto">
            <a:xfrm>
              <a:off x="3896223" y="5396573"/>
              <a:ext cx="1158144"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状态口</a:t>
              </a:r>
            </a:p>
          </p:txBody>
        </p:sp>
        <p:sp>
          <p:nvSpPr>
            <p:cNvPr id="22" name="矩形 21"/>
            <p:cNvSpPr/>
            <p:nvPr/>
          </p:nvSpPr>
          <p:spPr bwMode="auto">
            <a:xfrm>
              <a:off x="3905202" y="5855745"/>
              <a:ext cx="1162971"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数据口</a:t>
              </a:r>
            </a:p>
          </p:txBody>
        </p:sp>
        <p:sp>
          <p:nvSpPr>
            <p:cNvPr id="23" name="矩形 22"/>
            <p:cNvSpPr/>
            <p:nvPr/>
          </p:nvSpPr>
          <p:spPr bwMode="auto">
            <a:xfrm>
              <a:off x="3896222" y="4937401"/>
              <a:ext cx="1158145"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dirty="0">
                  <a:latin typeface="微软雅黑" panose="020B0503020204020204" pitchFamily="34" charset="-122"/>
                  <a:ea typeface="微软雅黑" panose="020B0503020204020204" pitchFamily="34" charset="-122"/>
                </a:rPr>
                <a:t>控制口</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4" name="左右箭头 3"/>
            <p:cNvSpPr/>
            <p:nvPr/>
          </p:nvSpPr>
          <p:spPr bwMode="auto">
            <a:xfrm>
              <a:off x="2434750" y="5100469"/>
              <a:ext cx="905164" cy="198022"/>
            </a:xfrm>
            <a:prstGeom prst="lef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4" name="左右箭头 23"/>
            <p:cNvSpPr/>
            <p:nvPr/>
          </p:nvSpPr>
          <p:spPr bwMode="auto">
            <a:xfrm>
              <a:off x="2217169" y="5926853"/>
              <a:ext cx="1672131" cy="217824"/>
            </a:xfrm>
            <a:prstGeom prst="lef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 name="右箭头 4"/>
            <p:cNvSpPr/>
            <p:nvPr/>
          </p:nvSpPr>
          <p:spPr bwMode="auto">
            <a:xfrm>
              <a:off x="2444275" y="6409455"/>
              <a:ext cx="881535" cy="220338"/>
            </a:xfrm>
            <a:prstGeom prs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6" name="左右箭头 25"/>
            <p:cNvSpPr/>
            <p:nvPr/>
          </p:nvSpPr>
          <p:spPr bwMode="auto">
            <a:xfrm>
              <a:off x="5076124" y="5889232"/>
              <a:ext cx="1304027" cy="218917"/>
            </a:xfrm>
            <a:prstGeom prst="lef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25" name="直接箭头连接符 24"/>
            <p:cNvCxnSpPr>
              <a:endCxn id="21" idx="3"/>
            </p:cNvCxnSpPr>
            <p:nvPr/>
          </p:nvCxnSpPr>
          <p:spPr bwMode="auto">
            <a:xfrm flipH="1" flipV="1">
              <a:off x="5054367" y="5576593"/>
              <a:ext cx="1349637" cy="3982"/>
            </a:xfrm>
            <a:prstGeom prst="straightConnector1">
              <a:avLst/>
            </a:prstGeom>
            <a:solidFill>
              <a:schemeClr val="accent1"/>
            </a:solidFill>
            <a:ln w="9525" cap="flat" cmpd="sng" algn="ctr">
              <a:solidFill>
                <a:schemeClr val="tx1"/>
              </a:solidFill>
              <a:prstDash val="solid"/>
              <a:round/>
              <a:headEnd type="none" w="med" len="med"/>
              <a:tailEnd type="triangle" w="med" len="med"/>
            </a:ln>
            <a:effectLst/>
          </p:spPr>
        </p:cxnSp>
        <p:cxnSp>
          <p:nvCxnSpPr>
            <p:cNvPr id="29" name="直接箭头连接符 28"/>
            <p:cNvCxnSpPr>
              <a:stCxn id="23" idx="3"/>
            </p:cNvCxnSpPr>
            <p:nvPr/>
          </p:nvCxnSpPr>
          <p:spPr bwMode="auto">
            <a:xfrm>
              <a:off x="5054367" y="5117421"/>
              <a:ext cx="1325784" cy="0"/>
            </a:xfrm>
            <a:prstGeom prst="straightConnector1">
              <a:avLst/>
            </a:prstGeom>
            <a:solidFill>
              <a:schemeClr val="accent1"/>
            </a:solidFill>
            <a:ln w="9525" cap="flat" cmpd="sng" algn="ctr">
              <a:solidFill>
                <a:schemeClr val="tx1"/>
              </a:solidFill>
              <a:prstDash val="solid"/>
              <a:round/>
              <a:headEnd type="none" w="med" len="med"/>
              <a:tailEnd type="triangle" w="med" len="med"/>
            </a:ln>
            <a:effectLst/>
          </p:spPr>
        </p:cxnSp>
        <p:sp>
          <p:nvSpPr>
            <p:cNvPr id="32" name="矩形 31"/>
            <p:cNvSpPr/>
            <p:nvPr/>
          </p:nvSpPr>
          <p:spPr bwMode="auto">
            <a:xfrm>
              <a:off x="2686067" y="6172285"/>
              <a:ext cx="428923"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rPr>
                <a:t>AB</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cxnSp>
          <p:nvCxnSpPr>
            <p:cNvPr id="31" name="肘形连接符 30"/>
            <p:cNvCxnSpPr>
              <a:stCxn id="21" idx="1"/>
            </p:cNvCxnSpPr>
            <p:nvPr/>
          </p:nvCxnSpPr>
          <p:spPr bwMode="auto">
            <a:xfrm rot="10800000" flipV="1">
              <a:off x="3635897" y="5576592"/>
              <a:ext cx="260327" cy="422097"/>
            </a:xfrm>
            <a:prstGeom prst="bentConnector2">
              <a:avLst/>
            </a:prstGeom>
            <a:solidFill>
              <a:schemeClr val="accent1"/>
            </a:solidFill>
            <a:ln w="9525" cap="flat" cmpd="sng" algn="ctr">
              <a:solidFill>
                <a:schemeClr val="tx1"/>
              </a:solidFill>
              <a:prstDash val="solid"/>
              <a:round/>
              <a:headEnd type="none" w="med" len="med"/>
              <a:tailEnd type="triangle" w="med" len="med"/>
            </a:ln>
            <a:effectLst/>
          </p:spPr>
        </p:cxnSp>
        <p:cxnSp>
          <p:nvCxnSpPr>
            <p:cNvPr id="34" name="肘形连接符 33"/>
            <p:cNvCxnSpPr>
              <a:endCxn id="23" idx="1"/>
            </p:cNvCxnSpPr>
            <p:nvPr/>
          </p:nvCxnSpPr>
          <p:spPr bwMode="auto">
            <a:xfrm rot="5400000" flipH="1" flipV="1">
              <a:off x="3230955" y="5333425"/>
              <a:ext cx="881271" cy="449264"/>
            </a:xfrm>
            <a:prstGeom prst="bentConnector2">
              <a:avLst/>
            </a:prstGeom>
            <a:solidFill>
              <a:schemeClr val="accent1"/>
            </a:solidFill>
            <a:ln w="12700" cap="flat" cmpd="sng" algn="ctr">
              <a:solidFill>
                <a:schemeClr val="tx1"/>
              </a:solidFill>
              <a:prstDash val="solid"/>
              <a:round/>
              <a:headEnd type="none" w="med" len="med"/>
              <a:tailEnd type="triangle" w="med" len="med"/>
            </a:ln>
            <a:effectLst/>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p:cNvSpPr>
            <a:spLocks noGrp="1"/>
          </p:cNvSpPr>
          <p:nvPr>
            <p:ph type="sldNum" sz="quarter" idx="12"/>
          </p:nvPr>
        </p:nvSpPr>
        <p:spPr>
          <a:noFill/>
        </p:spPr>
        <p:txBody>
          <a:bodyPr/>
          <a:lstStyle/>
          <a:p>
            <a:fld id="{06C00306-D641-4A44-8E39-B23904E70118}" type="slidenum">
              <a:rPr lang="en-US" altLang="zh-CN" smtClean="0"/>
              <a:t>5</a:t>
            </a:fld>
            <a:endParaRPr lang="en-US" altLang="zh-CN"/>
          </a:p>
        </p:txBody>
      </p:sp>
      <p:sp>
        <p:nvSpPr>
          <p:cNvPr id="5123" name="Rectangle 4"/>
          <p:cNvSpPr>
            <a:spLocks noChangeArrowheads="1"/>
          </p:cNvSpPr>
          <p:nvPr/>
        </p:nvSpPr>
        <p:spPr bwMode="auto">
          <a:xfrm>
            <a:off x="213063" y="179623"/>
            <a:ext cx="8763000" cy="6528435"/>
          </a:xfrm>
          <a:prstGeom prst="rect">
            <a:avLst/>
          </a:prstGeom>
          <a:solidFill>
            <a:schemeClr val="bg1"/>
          </a:solidFill>
          <a:ln w="12700">
            <a:noFill/>
            <a:miter lim="800000"/>
            <a:headEnd type="none" w="sm" len="sm"/>
            <a:tailEnd type="none" w="sm" len="sm"/>
          </a:ln>
        </p:spPr>
        <p:txBody>
          <a:bodyPr>
            <a:spAutoFit/>
          </a:bodyPr>
          <a:lstStyle/>
          <a:p>
            <a:pPr>
              <a:lnSpc>
                <a:spcPct val="130000"/>
              </a:lnSpc>
              <a:spcAft>
                <a:spcPts val="600"/>
              </a:spcAft>
            </a:pPr>
            <a:r>
              <a:rPr lang="en-US" altLang="zh-CN" sz="3200" b="1" dirty="0">
                <a:latin typeface="+mn-ea"/>
                <a:ea typeface="+mn-ea"/>
                <a:cs typeface="Times New Roman" panose="02020603050405020304" charset="0"/>
              </a:rPr>
              <a:t>8.1.2  </a:t>
            </a:r>
            <a:r>
              <a:rPr lang="zh-CN" altLang="en-US" sz="3200" b="1" dirty="0">
                <a:latin typeface="+mn-ea"/>
                <a:ea typeface="+mn-ea"/>
                <a:cs typeface="Times New Roman" panose="02020603050405020304" charset="0"/>
              </a:rPr>
              <a:t>输入</a:t>
            </a:r>
            <a:r>
              <a:rPr lang="en-US" altLang="zh-CN" sz="3200" b="1" dirty="0">
                <a:latin typeface="+mn-ea"/>
                <a:ea typeface="+mn-ea"/>
              </a:rPr>
              <a:t>/</a:t>
            </a:r>
            <a:r>
              <a:rPr lang="zh-CN" altLang="en-US" sz="3200" b="1" dirty="0">
                <a:latin typeface="+mn-ea"/>
                <a:ea typeface="+mn-ea"/>
              </a:rPr>
              <a:t>输出操作的一般过程</a:t>
            </a:r>
            <a:endParaRPr lang="en-US" altLang="zh-CN" sz="3200" b="1" dirty="0">
              <a:latin typeface="+mn-ea"/>
              <a:ea typeface="+mn-ea"/>
            </a:endParaRPr>
          </a:p>
          <a:p>
            <a:pPr marL="457200" indent="-457200">
              <a:lnSpc>
                <a:spcPct val="130000"/>
              </a:lnSpc>
              <a:buClr>
                <a:srgbClr val="0066FF"/>
              </a:buClr>
              <a:buFont typeface="Wingdings" panose="05000000000000000000" pitchFamily="2" charset="2"/>
              <a:buChar char="n"/>
            </a:pPr>
            <a:r>
              <a:rPr lang="zh-CN" altLang="en-US" sz="2600" b="1" dirty="0">
                <a:latin typeface="+mn-ea"/>
                <a:ea typeface="+mn-ea"/>
              </a:rPr>
              <a:t>输入设备同</a:t>
            </a:r>
            <a:r>
              <a:rPr lang="en-US" altLang="zh-CN" sz="2600" b="1" dirty="0">
                <a:latin typeface="+mn-ea"/>
                <a:ea typeface="+mn-ea"/>
              </a:rPr>
              <a:t>CPU</a:t>
            </a:r>
            <a:r>
              <a:rPr lang="zh-CN" altLang="en-US" sz="2600" b="1" dirty="0">
                <a:latin typeface="+mn-ea"/>
                <a:ea typeface="+mn-ea"/>
              </a:rPr>
              <a:t>交换数据</a:t>
            </a:r>
          </a:p>
          <a:p>
            <a:pPr marL="457200" indent="-457200">
              <a:lnSpc>
                <a:spcPct val="130000"/>
              </a:lnSpc>
              <a:buFont typeface="Wingdings" panose="05000000000000000000" pitchFamily="2" charset="2"/>
              <a:buChar char="Ø"/>
            </a:pPr>
            <a:r>
              <a:rPr lang="en-US" altLang="zh-CN" sz="2600" dirty="0">
                <a:latin typeface="+mn-ea"/>
                <a:ea typeface="+mn-ea"/>
              </a:rPr>
              <a:t>CPU</a:t>
            </a:r>
            <a:r>
              <a:rPr lang="zh-CN" altLang="en-US" sz="2600" dirty="0">
                <a:latin typeface="+mn-ea"/>
                <a:ea typeface="+mn-ea"/>
              </a:rPr>
              <a:t>把一个地址值放在地址总线上，选择某一输入设备；</a:t>
            </a:r>
          </a:p>
          <a:p>
            <a:pPr marL="457200" indent="-457200">
              <a:lnSpc>
                <a:spcPct val="130000"/>
              </a:lnSpc>
              <a:buFont typeface="Wingdings" panose="05000000000000000000" pitchFamily="2" charset="2"/>
              <a:buChar char="Ø"/>
            </a:pPr>
            <a:r>
              <a:rPr lang="en-US" altLang="zh-CN" sz="2600" dirty="0">
                <a:latin typeface="+mn-ea"/>
                <a:ea typeface="+mn-ea"/>
              </a:rPr>
              <a:t>CPU</a:t>
            </a:r>
            <a:r>
              <a:rPr lang="zh-CN" altLang="en-US" sz="2600" dirty="0">
                <a:latin typeface="+mn-ea"/>
                <a:ea typeface="+mn-ea"/>
              </a:rPr>
              <a:t>等候输入设备的数据变为有效；</a:t>
            </a:r>
          </a:p>
          <a:p>
            <a:pPr marL="457200" indent="-457200">
              <a:lnSpc>
                <a:spcPct val="130000"/>
              </a:lnSpc>
              <a:buFont typeface="Wingdings" panose="05000000000000000000" pitchFamily="2" charset="2"/>
              <a:buChar char="Ø"/>
            </a:pPr>
            <a:r>
              <a:rPr lang="en-US" altLang="zh-CN" sz="2600" dirty="0">
                <a:latin typeface="+mn-ea"/>
                <a:ea typeface="+mn-ea"/>
              </a:rPr>
              <a:t>CPU</a:t>
            </a:r>
            <a:r>
              <a:rPr lang="zh-CN" altLang="en-US" sz="2600" dirty="0">
                <a:latin typeface="+mn-ea"/>
                <a:ea typeface="+mn-ea"/>
              </a:rPr>
              <a:t>从数据总线读入数据，并放在一个相应的寄存器中。</a:t>
            </a:r>
          </a:p>
          <a:p>
            <a:pPr marL="457200" indent="-457200">
              <a:lnSpc>
                <a:spcPct val="130000"/>
              </a:lnSpc>
              <a:buClr>
                <a:srgbClr val="0066FF"/>
              </a:buClr>
              <a:buFont typeface="Wingdings" panose="05000000000000000000" pitchFamily="2" charset="2"/>
              <a:buChar char="n"/>
            </a:pPr>
            <a:r>
              <a:rPr lang="zh-CN" altLang="en-US" sz="2600" b="1" dirty="0">
                <a:latin typeface="+mn-ea"/>
                <a:ea typeface="+mn-ea"/>
              </a:rPr>
              <a:t>输出设备同</a:t>
            </a:r>
            <a:r>
              <a:rPr lang="en-US" altLang="zh-CN" sz="2600" b="1" dirty="0">
                <a:latin typeface="+mn-ea"/>
                <a:ea typeface="+mn-ea"/>
              </a:rPr>
              <a:t>CPU</a:t>
            </a:r>
            <a:r>
              <a:rPr lang="zh-CN" altLang="en-US" sz="2600" b="1" dirty="0">
                <a:latin typeface="+mn-ea"/>
                <a:ea typeface="+mn-ea"/>
              </a:rPr>
              <a:t>交换数据</a:t>
            </a:r>
            <a:endParaRPr lang="zh-CN" altLang="en-US" sz="2600" dirty="0">
              <a:latin typeface="+mn-ea"/>
              <a:ea typeface="+mn-ea"/>
            </a:endParaRPr>
          </a:p>
          <a:p>
            <a:pPr marL="457200" indent="-457200">
              <a:lnSpc>
                <a:spcPct val="130000"/>
              </a:lnSpc>
              <a:buFont typeface="Wingdings" panose="05000000000000000000" pitchFamily="2" charset="2"/>
              <a:buChar char="Ø"/>
            </a:pPr>
            <a:r>
              <a:rPr lang="en-US" altLang="zh-CN" sz="2600" dirty="0">
                <a:latin typeface="+mn-ea"/>
                <a:ea typeface="+mn-ea"/>
              </a:rPr>
              <a:t>CPU</a:t>
            </a:r>
            <a:r>
              <a:rPr lang="zh-CN" altLang="en-US" sz="2600" dirty="0">
                <a:latin typeface="+mn-ea"/>
                <a:ea typeface="+mn-ea"/>
              </a:rPr>
              <a:t>把一个地址值放在地址总线上，选择某一输出设备；</a:t>
            </a:r>
          </a:p>
          <a:p>
            <a:pPr marL="457200" indent="-457200">
              <a:lnSpc>
                <a:spcPct val="130000"/>
              </a:lnSpc>
              <a:buFont typeface="Wingdings" panose="05000000000000000000" pitchFamily="2" charset="2"/>
              <a:buChar char="Ø"/>
            </a:pPr>
            <a:r>
              <a:rPr lang="en-US" altLang="zh-CN" sz="2600" dirty="0">
                <a:latin typeface="+mn-ea"/>
                <a:ea typeface="+mn-ea"/>
              </a:rPr>
              <a:t>CPU</a:t>
            </a:r>
            <a:r>
              <a:rPr lang="zh-CN" altLang="en-US" sz="2600" dirty="0">
                <a:latin typeface="+mn-ea"/>
                <a:ea typeface="+mn-ea"/>
              </a:rPr>
              <a:t>把数据放在数据总线上；</a:t>
            </a:r>
          </a:p>
          <a:p>
            <a:pPr marL="457200" indent="-457200">
              <a:lnSpc>
                <a:spcPct val="130000"/>
              </a:lnSpc>
              <a:buFont typeface="Wingdings" panose="05000000000000000000" pitchFamily="2" charset="2"/>
              <a:buChar char="Ø"/>
            </a:pPr>
            <a:r>
              <a:rPr lang="zh-CN" altLang="en-US" sz="2600" dirty="0">
                <a:latin typeface="+mn-ea"/>
                <a:ea typeface="+mn-ea"/>
              </a:rPr>
              <a:t>输出设备认为数据有效，从而把数据取走。</a:t>
            </a:r>
          </a:p>
          <a:p>
            <a:pPr>
              <a:lnSpc>
                <a:spcPct val="130000"/>
              </a:lnSpc>
            </a:pPr>
            <a:r>
              <a:rPr lang="zh-CN" altLang="en-US" sz="2600" dirty="0">
                <a:latin typeface="+mn-ea"/>
                <a:ea typeface="+mn-ea"/>
              </a:rPr>
              <a:t>　　问题的关键在于：</a:t>
            </a:r>
            <a:r>
              <a:rPr lang="zh-CN" altLang="en-US" sz="2600" b="1" dirty="0">
                <a:solidFill>
                  <a:srgbClr val="FF0000"/>
                </a:solidFill>
                <a:latin typeface="+mn-ea"/>
                <a:ea typeface="+mn-ea"/>
              </a:rPr>
              <a:t>究竟什么时候数据才变为有效</a:t>
            </a:r>
            <a:r>
              <a:rPr lang="en-US" altLang="zh-CN" sz="2600" dirty="0">
                <a:latin typeface="+mn-ea"/>
                <a:ea typeface="+mn-ea"/>
              </a:rPr>
              <a:t>? </a:t>
            </a:r>
          </a:p>
          <a:p>
            <a:pPr>
              <a:lnSpc>
                <a:spcPct val="130000"/>
              </a:lnSpc>
            </a:pPr>
            <a:r>
              <a:rPr lang="en-US" altLang="zh-CN" sz="2600" dirty="0">
                <a:latin typeface="+mn-ea"/>
                <a:ea typeface="+mn-ea"/>
              </a:rPr>
              <a:t>    </a:t>
            </a:r>
            <a:r>
              <a:rPr lang="zh-CN" altLang="en-US" sz="2600" dirty="0">
                <a:latin typeface="+mn-ea"/>
                <a:ea typeface="+mn-ea"/>
              </a:rPr>
              <a:t>由于输入</a:t>
            </a:r>
            <a:r>
              <a:rPr lang="en-US" altLang="zh-CN" sz="2600" dirty="0">
                <a:latin typeface="+mn-ea"/>
                <a:ea typeface="+mn-ea"/>
              </a:rPr>
              <a:t>/</a:t>
            </a:r>
            <a:r>
              <a:rPr lang="zh-CN" altLang="en-US" sz="2600" dirty="0">
                <a:latin typeface="+mn-ea"/>
                <a:ea typeface="+mn-ea"/>
              </a:rPr>
              <a:t>输出设备本身的速度差异很大，因此，对于不同速度的外围设备，需要有不同的定时方式。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2"/>
          </p:nvPr>
        </p:nvSpPr>
        <p:spPr>
          <a:noFill/>
        </p:spPr>
        <p:txBody>
          <a:bodyPr/>
          <a:lstStyle/>
          <a:p>
            <a:fld id="{90D9D75F-367C-44EB-97D0-893B376937FF}" type="slidenum">
              <a:rPr lang="en-US" altLang="zh-CN" smtClean="0"/>
              <a:t>6</a:t>
            </a:fld>
            <a:endParaRPr lang="en-US" altLang="zh-CN"/>
          </a:p>
        </p:txBody>
      </p:sp>
      <p:sp>
        <p:nvSpPr>
          <p:cNvPr id="6147" name="Rectangle 2"/>
          <p:cNvSpPr>
            <a:spLocks noChangeArrowheads="1"/>
          </p:cNvSpPr>
          <p:nvPr/>
        </p:nvSpPr>
        <p:spPr bwMode="auto">
          <a:xfrm>
            <a:off x="179512" y="157477"/>
            <a:ext cx="8640960" cy="6592574"/>
          </a:xfrm>
          <a:prstGeom prst="rect">
            <a:avLst/>
          </a:prstGeom>
          <a:noFill/>
          <a:ln w="12700">
            <a:noFill/>
            <a:miter lim="800000"/>
            <a:headEnd type="none" w="sm" len="sm"/>
            <a:tailEnd type="none" w="sm" len="sm"/>
          </a:ln>
        </p:spPr>
        <p:txBody>
          <a:bodyPr wrap="square" anchor="ctr">
            <a:spAutoFit/>
          </a:bodyPr>
          <a:lstStyle/>
          <a:p>
            <a:pPr>
              <a:lnSpc>
                <a:spcPct val="120000"/>
              </a:lnSpc>
            </a:pPr>
            <a:r>
              <a:rPr lang="en-US" altLang="zh-CN" sz="3200" b="1" dirty="0">
                <a:latin typeface="+mn-ea"/>
                <a:ea typeface="+mn-ea"/>
                <a:cs typeface="Times New Roman" panose="02020603050405020304" charset="0"/>
              </a:rPr>
              <a:t>8.1.3  I/O</a:t>
            </a:r>
            <a:r>
              <a:rPr lang="zh-CN" altLang="en-US" sz="3200" b="1" dirty="0">
                <a:latin typeface="+mn-ea"/>
                <a:ea typeface="+mn-ea"/>
                <a:cs typeface="Times New Roman" panose="02020603050405020304" charset="0"/>
              </a:rPr>
              <a:t>接口与外设间的数据传送方式</a:t>
            </a:r>
            <a:endParaRPr lang="en-US" altLang="zh-CN" sz="3200" b="1" dirty="0">
              <a:latin typeface="+mn-ea"/>
              <a:ea typeface="+mn-ea"/>
              <a:cs typeface="Times New Roman" panose="02020603050405020304" charset="0"/>
            </a:endParaRPr>
          </a:p>
          <a:p>
            <a:pPr marL="0" lvl="3">
              <a:lnSpc>
                <a:spcPct val="120000"/>
              </a:lnSpc>
            </a:pPr>
            <a:r>
              <a:rPr lang="en-US" altLang="zh-CN" sz="3200" dirty="0">
                <a:latin typeface="+mn-ea"/>
                <a:ea typeface="+mn-ea"/>
              </a:rPr>
              <a:t>1.</a:t>
            </a:r>
            <a:r>
              <a:rPr lang="zh-CN" altLang="en-US" sz="3200" dirty="0">
                <a:latin typeface="+mn-ea"/>
                <a:ea typeface="+mn-ea"/>
              </a:rPr>
              <a:t>速度极慢或简单的外围设备</a:t>
            </a:r>
            <a:endParaRPr lang="en-US" altLang="zh-CN" sz="3200" dirty="0">
              <a:latin typeface="+mn-ea"/>
              <a:ea typeface="+mn-ea"/>
            </a:endParaRPr>
          </a:p>
          <a:p>
            <a:pPr marL="0" lvl="3">
              <a:lnSpc>
                <a:spcPct val="120000"/>
              </a:lnSpc>
            </a:pPr>
            <a:r>
              <a:rPr lang="en-US" altLang="zh-CN" sz="3200" dirty="0">
                <a:latin typeface="+mn-ea"/>
                <a:ea typeface="+mn-ea"/>
              </a:rPr>
              <a:t>    </a:t>
            </a:r>
            <a:r>
              <a:rPr lang="zh-CN" altLang="en-US" sz="3200" b="1" dirty="0">
                <a:latin typeface="+mn-ea"/>
                <a:ea typeface="+mn-ea"/>
              </a:rPr>
              <a:t>采用无条件传送方式</a:t>
            </a:r>
          </a:p>
          <a:p>
            <a:pPr>
              <a:lnSpc>
                <a:spcPct val="120000"/>
              </a:lnSpc>
            </a:pPr>
            <a:r>
              <a:rPr lang="zh-CN" altLang="en-US" sz="3200" dirty="0">
                <a:latin typeface="+mn-ea"/>
                <a:ea typeface="+mn-ea"/>
              </a:rPr>
              <a:t>　　对这类设备，如机械开关、显示二极管等等，</a:t>
            </a:r>
            <a:r>
              <a:rPr lang="en-US" altLang="zh-CN" sz="3200" dirty="0">
                <a:latin typeface="+mn-ea"/>
                <a:ea typeface="+mn-ea"/>
              </a:rPr>
              <a:t>CPU</a:t>
            </a:r>
            <a:r>
              <a:rPr lang="zh-CN" altLang="en-US" sz="3200" dirty="0">
                <a:latin typeface="+mn-ea"/>
                <a:ea typeface="+mn-ea"/>
              </a:rPr>
              <a:t>总是能足够快地作出响应。换句话说，对机械开关来讲，</a:t>
            </a:r>
            <a:r>
              <a:rPr lang="en-US" altLang="zh-CN" sz="3200" dirty="0">
                <a:latin typeface="+mn-ea"/>
                <a:ea typeface="+mn-ea"/>
              </a:rPr>
              <a:t>CPU</a:t>
            </a:r>
            <a:r>
              <a:rPr lang="zh-CN" altLang="en-US" sz="3200" dirty="0">
                <a:latin typeface="+mn-ea"/>
                <a:ea typeface="+mn-ea"/>
              </a:rPr>
              <a:t>可以认为输入的数据一直有效，因为机械开关的动作相对</a:t>
            </a:r>
            <a:r>
              <a:rPr lang="en-US" altLang="zh-CN" sz="3200" dirty="0">
                <a:latin typeface="+mn-ea"/>
                <a:ea typeface="+mn-ea"/>
              </a:rPr>
              <a:t>CPU</a:t>
            </a:r>
            <a:r>
              <a:rPr lang="zh-CN" altLang="en-US" sz="3200" dirty="0">
                <a:latin typeface="+mn-ea"/>
                <a:ea typeface="+mn-ea"/>
              </a:rPr>
              <a:t>的速度来讲是非常慢的，对显示二极管来讲，</a:t>
            </a:r>
            <a:r>
              <a:rPr lang="en-US" altLang="zh-CN" sz="3200" dirty="0">
                <a:latin typeface="+mn-ea"/>
                <a:ea typeface="+mn-ea"/>
              </a:rPr>
              <a:t>CPU</a:t>
            </a:r>
            <a:r>
              <a:rPr lang="zh-CN" altLang="en-US" sz="3200" dirty="0">
                <a:latin typeface="+mn-ea"/>
                <a:ea typeface="+mn-ea"/>
              </a:rPr>
              <a:t>可以认为输出一定准备就绪，因为只要给出数据，显示二极管就能进行显示，所以，在这种情况下，</a:t>
            </a:r>
            <a:r>
              <a:rPr lang="en-US" altLang="zh-CN" sz="3200" dirty="0">
                <a:latin typeface="+mn-ea"/>
                <a:ea typeface="+mn-ea"/>
              </a:rPr>
              <a:t>CPU</a:t>
            </a:r>
            <a:r>
              <a:rPr lang="zh-CN" altLang="en-US" sz="3200" dirty="0">
                <a:latin typeface="+mn-ea"/>
                <a:ea typeface="+mn-ea"/>
              </a:rPr>
              <a:t>只要接收或发送数据就可以了。</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2"/>
          </p:nvPr>
        </p:nvSpPr>
        <p:spPr>
          <a:noFill/>
        </p:spPr>
        <p:txBody>
          <a:bodyPr/>
          <a:lstStyle/>
          <a:p>
            <a:fld id="{BCD1FEFB-C66F-4AF3-8E9E-AF8997190839}" type="slidenum">
              <a:rPr lang="en-US" altLang="zh-CN" smtClean="0"/>
              <a:t>7</a:t>
            </a:fld>
            <a:endParaRPr lang="en-US" altLang="zh-CN"/>
          </a:p>
        </p:txBody>
      </p:sp>
      <p:sp>
        <p:nvSpPr>
          <p:cNvPr id="7171" name="Rectangle 2"/>
          <p:cNvSpPr>
            <a:spLocks noChangeArrowheads="1"/>
          </p:cNvSpPr>
          <p:nvPr/>
        </p:nvSpPr>
        <p:spPr bwMode="auto">
          <a:xfrm>
            <a:off x="228600" y="178281"/>
            <a:ext cx="8735888" cy="3884140"/>
          </a:xfrm>
          <a:prstGeom prst="rect">
            <a:avLst/>
          </a:prstGeom>
          <a:solidFill>
            <a:schemeClr val="bg1"/>
          </a:solidFill>
          <a:ln w="12700">
            <a:noFill/>
            <a:miter lim="800000"/>
            <a:headEnd type="none" w="sm" len="sm"/>
            <a:tailEnd type="none" w="sm" len="sm"/>
          </a:ln>
        </p:spPr>
        <p:txBody>
          <a:bodyPr wrap="square" anchor="ctr">
            <a:spAutoFit/>
          </a:bodyPr>
          <a:lstStyle/>
          <a:p>
            <a:pPr>
              <a:lnSpc>
                <a:spcPct val="110000"/>
              </a:lnSpc>
            </a:pPr>
            <a:r>
              <a:rPr lang="en-US" altLang="zh-CN" sz="3200" dirty="0">
                <a:latin typeface="宋体" panose="02010600030101010101" pitchFamily="2" charset="-122"/>
              </a:rPr>
              <a:t>2.</a:t>
            </a:r>
            <a:r>
              <a:rPr lang="zh-CN" altLang="en-US" sz="3200" dirty="0">
                <a:latin typeface="宋体" panose="02010600030101010101" pitchFamily="2" charset="-122"/>
              </a:rPr>
              <a:t>慢速或中速的外围设备</a:t>
            </a:r>
            <a:endParaRPr lang="en-US" altLang="zh-CN" sz="3200" dirty="0">
              <a:latin typeface="宋体" panose="02010600030101010101" pitchFamily="2" charset="-122"/>
            </a:endParaRPr>
          </a:p>
          <a:p>
            <a:pPr>
              <a:lnSpc>
                <a:spcPct val="110000"/>
              </a:lnSpc>
            </a:pPr>
            <a:r>
              <a:rPr lang="en-US" altLang="zh-CN" sz="3200" dirty="0">
                <a:latin typeface="宋体" panose="02010600030101010101" pitchFamily="2" charset="-122"/>
              </a:rPr>
              <a:t>    </a:t>
            </a:r>
            <a:r>
              <a:rPr lang="zh-CN" altLang="en-US" sz="3200" b="1" dirty="0"/>
              <a:t>应答方式（异步传送方式）</a:t>
            </a:r>
            <a:endParaRPr lang="zh-CN" altLang="en-US" sz="3200" b="1" dirty="0">
              <a:latin typeface="宋体" panose="02010600030101010101" pitchFamily="2" charset="-122"/>
            </a:endParaRPr>
          </a:p>
          <a:p>
            <a:pPr>
              <a:lnSpc>
                <a:spcPct val="110000"/>
              </a:lnSpc>
            </a:pPr>
            <a:r>
              <a:rPr lang="zh-CN" altLang="en-US" sz="3200" dirty="0">
                <a:latin typeface="宋体" panose="02010600030101010101" pitchFamily="2" charset="-122"/>
              </a:rPr>
              <a:t>　　由于这类设备的速度和</a:t>
            </a:r>
            <a:r>
              <a:rPr lang="en-US" altLang="zh-CN" sz="3200" dirty="0">
                <a:latin typeface="宋体" panose="02010600030101010101" pitchFamily="2" charset="-122"/>
              </a:rPr>
              <a:t>CPU</a:t>
            </a:r>
            <a:r>
              <a:rPr lang="zh-CN" altLang="en-US" sz="3200" dirty="0">
                <a:latin typeface="宋体" panose="02010600030101010101" pitchFamily="2" charset="-122"/>
              </a:rPr>
              <a:t>的速度并不在一个数量级，或者由于设备</a:t>
            </a:r>
            <a:r>
              <a:rPr lang="en-US" altLang="zh-CN" sz="3200" dirty="0">
                <a:latin typeface="宋体" panose="02010600030101010101" pitchFamily="2" charset="-122"/>
              </a:rPr>
              <a:t>(</a:t>
            </a:r>
            <a:r>
              <a:rPr lang="zh-CN" altLang="en-US" sz="3200" dirty="0">
                <a:latin typeface="宋体" panose="02010600030101010101" pitchFamily="2" charset="-122"/>
              </a:rPr>
              <a:t>如键盘</a:t>
            </a:r>
            <a:r>
              <a:rPr lang="en-US" altLang="zh-CN" sz="3200" dirty="0">
                <a:latin typeface="宋体" panose="02010600030101010101" pitchFamily="2" charset="-122"/>
              </a:rPr>
              <a:t>)</a:t>
            </a:r>
            <a:r>
              <a:rPr lang="zh-CN" altLang="en-US" sz="3200" dirty="0">
                <a:latin typeface="宋体" panose="02010600030101010101" pitchFamily="2" charset="-122"/>
              </a:rPr>
              <a:t>本身是在不规则时间间隔下操作的，因此，</a:t>
            </a:r>
            <a:r>
              <a:rPr lang="en-US" altLang="zh-CN" sz="3200" dirty="0">
                <a:latin typeface="宋体" panose="02010600030101010101" pitchFamily="2" charset="-122"/>
              </a:rPr>
              <a:t>CPU</a:t>
            </a:r>
            <a:r>
              <a:rPr lang="zh-CN" altLang="en-US" sz="3200" dirty="0">
                <a:latin typeface="宋体" panose="02010600030101010101" pitchFamily="2" charset="-122"/>
              </a:rPr>
              <a:t>与这类设备之间的数据交换通常采用异步定时方式。其定时过程如下：</a:t>
            </a:r>
          </a:p>
        </p:txBody>
      </p:sp>
      <p:sp>
        <p:nvSpPr>
          <p:cNvPr id="7172" name="Line 4"/>
          <p:cNvSpPr>
            <a:spLocks noChangeShapeType="1"/>
          </p:cNvSpPr>
          <p:nvPr/>
        </p:nvSpPr>
        <p:spPr bwMode="auto">
          <a:xfrm>
            <a:off x="914400" y="4114800"/>
            <a:ext cx="0" cy="0"/>
          </a:xfrm>
          <a:prstGeom prst="line">
            <a:avLst/>
          </a:prstGeom>
          <a:noFill/>
          <a:ln w="12700">
            <a:solidFill>
              <a:schemeClr val="tx1"/>
            </a:solidFill>
            <a:round/>
            <a:headEnd type="none" w="sm" len="sm"/>
            <a:tailEnd type="none" w="sm" len="sm"/>
          </a:ln>
        </p:spPr>
        <p:txBody>
          <a:bodyPr wrap="none"/>
          <a:lstStyle/>
          <a:p>
            <a:endParaRPr lang="zh-CN" altLang="en-US"/>
          </a:p>
        </p:txBody>
      </p:sp>
      <p:graphicFrame>
        <p:nvGraphicFramePr>
          <p:cNvPr id="7173" name="Object 5"/>
          <p:cNvGraphicFramePr>
            <a:graphicFrameLocks noChangeAspect="1"/>
          </p:cNvGraphicFramePr>
          <p:nvPr/>
        </p:nvGraphicFramePr>
        <p:xfrm>
          <a:off x="479455" y="4122704"/>
          <a:ext cx="8305800" cy="2544763"/>
        </p:xfrm>
        <a:graphic>
          <a:graphicData uri="http://schemas.openxmlformats.org/presentationml/2006/ole">
            <mc:AlternateContent xmlns:mc="http://schemas.openxmlformats.org/markup-compatibility/2006">
              <mc:Choice xmlns:v="urn:schemas-microsoft-com:vml" Requires="v">
                <p:oleObj name="位图图像" r:id="rId2" imgW="7334250" imgH="1800225" progId="PBrush">
                  <p:embed/>
                </p:oleObj>
              </mc:Choice>
              <mc:Fallback>
                <p:oleObj name="位图图像" r:id="rId2" imgW="7334250" imgH="1800225" progId="PBrush">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455" y="4122704"/>
                        <a:ext cx="8305800" cy="254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noFill/>
        </p:spPr>
        <p:txBody>
          <a:bodyPr/>
          <a:lstStyle/>
          <a:p>
            <a:fld id="{737F4673-A60B-42D4-9AAA-0D94721DA6AB}" type="slidenum">
              <a:rPr lang="en-US" altLang="zh-CN" smtClean="0"/>
              <a:t>8</a:t>
            </a:fld>
            <a:endParaRPr lang="en-US" altLang="zh-CN"/>
          </a:p>
        </p:txBody>
      </p:sp>
      <p:sp>
        <p:nvSpPr>
          <p:cNvPr id="8195" name="Rectangle 1031"/>
          <p:cNvSpPr>
            <a:spLocks noChangeArrowheads="1"/>
          </p:cNvSpPr>
          <p:nvPr/>
        </p:nvSpPr>
        <p:spPr bwMode="auto">
          <a:xfrm>
            <a:off x="323528" y="701988"/>
            <a:ext cx="8496944" cy="5262979"/>
          </a:xfrm>
          <a:prstGeom prst="rect">
            <a:avLst/>
          </a:prstGeom>
          <a:noFill/>
          <a:ln w="12700">
            <a:noFill/>
            <a:miter lim="800000"/>
            <a:headEnd type="none" w="sm" len="sm"/>
            <a:tailEnd type="none" w="sm" len="sm"/>
          </a:ln>
        </p:spPr>
        <p:txBody>
          <a:bodyPr wrap="square" anchor="ctr">
            <a:spAutoFit/>
          </a:bodyPr>
          <a:lstStyle/>
          <a:p>
            <a:pPr marL="0" lvl="3">
              <a:lnSpc>
                <a:spcPct val="150000"/>
              </a:lnSpc>
            </a:pPr>
            <a:r>
              <a:rPr lang="en-US" altLang="zh-CN" sz="3200" dirty="0">
                <a:latin typeface="宋体" panose="02010600030101010101" pitchFamily="2" charset="-122"/>
              </a:rPr>
              <a:t>3.</a:t>
            </a:r>
            <a:r>
              <a:rPr lang="zh-CN" altLang="en-US" sz="3200" dirty="0">
                <a:latin typeface="宋体" panose="02010600030101010101" pitchFamily="2" charset="-122"/>
              </a:rPr>
              <a:t>高速的外围设备</a:t>
            </a:r>
            <a:endParaRPr lang="en-US" altLang="zh-CN" sz="3200" dirty="0">
              <a:latin typeface="宋体" panose="02010600030101010101" pitchFamily="2" charset="-122"/>
            </a:endParaRPr>
          </a:p>
          <a:p>
            <a:pPr marL="0" lvl="3">
              <a:lnSpc>
                <a:spcPct val="150000"/>
              </a:lnSpc>
            </a:pPr>
            <a:r>
              <a:rPr lang="zh-CN" altLang="en-US" sz="3200" b="1" dirty="0"/>
              <a:t>       同步传送方式</a:t>
            </a:r>
          </a:p>
          <a:p>
            <a:pPr>
              <a:lnSpc>
                <a:spcPct val="150000"/>
              </a:lnSpc>
            </a:pPr>
            <a:r>
              <a:rPr lang="zh-CN" altLang="en-US" sz="3200" dirty="0">
                <a:latin typeface="宋体" panose="02010600030101010101" pitchFamily="2" charset="-122"/>
              </a:rPr>
              <a:t>　　由于这类外设是以相等的时间间隔操作的，而</a:t>
            </a:r>
            <a:r>
              <a:rPr lang="en-US" altLang="zh-CN" sz="3200" dirty="0">
                <a:latin typeface="宋体" panose="02010600030101010101" pitchFamily="2" charset="-122"/>
              </a:rPr>
              <a:t>CPU</a:t>
            </a:r>
            <a:r>
              <a:rPr lang="zh-CN" altLang="en-US" sz="3200" dirty="0">
                <a:latin typeface="宋体" panose="02010600030101010101" pitchFamily="2" charset="-122"/>
              </a:rPr>
              <a:t>也是以等间隔的速率执行输入</a:t>
            </a:r>
            <a:r>
              <a:rPr lang="en-US" altLang="zh-CN" sz="3200" dirty="0">
                <a:latin typeface="宋体" panose="02010600030101010101" pitchFamily="2" charset="-122"/>
              </a:rPr>
              <a:t>/</a:t>
            </a:r>
            <a:r>
              <a:rPr lang="zh-CN" altLang="en-US" sz="3200" dirty="0">
                <a:latin typeface="宋体" panose="02010600030101010101" pitchFamily="2" charset="-122"/>
              </a:rPr>
              <a:t>输出指令的 ，因此，这种方式叫做同步定时方式。一旦</a:t>
            </a:r>
            <a:r>
              <a:rPr lang="en-US" altLang="zh-CN" sz="3200" dirty="0">
                <a:latin typeface="宋体" panose="02010600030101010101" pitchFamily="2" charset="-122"/>
              </a:rPr>
              <a:t>CPU</a:t>
            </a:r>
            <a:r>
              <a:rPr lang="zh-CN" altLang="en-US" sz="3200" dirty="0">
                <a:latin typeface="宋体" panose="02010600030101010101" pitchFamily="2" charset="-122"/>
              </a:rPr>
              <a:t>和外设发生同步，它们之间的数据交换便靠时钟脉冲控制来进行。</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149224" y="887933"/>
            <a:ext cx="8861425" cy="5838825"/>
          </a:xfrm>
          <a:prstGeom prst="rect">
            <a:avLst/>
          </a:prstGeom>
        </p:spPr>
        <p:txBody>
          <a:bodyPr/>
          <a:lstStyle/>
          <a:p>
            <a:pPr marL="342900" indent="-342900" algn="l">
              <a:lnSpc>
                <a:spcPct val="130000"/>
              </a:lnSpc>
              <a:spcBef>
                <a:spcPts val="0"/>
              </a:spcBef>
              <a:spcAft>
                <a:spcPts val="1200"/>
              </a:spcAft>
              <a:defRPr/>
            </a:pPr>
            <a:r>
              <a:rPr lang="zh-CN" altLang="en-US" sz="2800" b="1" dirty="0">
                <a:solidFill>
                  <a:srgbClr val="FF0000"/>
                </a:solidFill>
                <a:latin typeface="微软雅黑" panose="020B0503020204020204" pitchFamily="34" charset="-122"/>
                <a:ea typeface="微软雅黑" panose="020B0503020204020204" pitchFamily="34" charset="-122"/>
              </a:rPr>
              <a:t>   </a:t>
            </a:r>
            <a:r>
              <a:rPr lang="zh-CN" altLang="en-US" sz="2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利用下面例子理解</a:t>
            </a:r>
            <a:r>
              <a:rPr lang="en-US" altLang="zh-CN" sz="2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CPU</a:t>
            </a:r>
            <a:r>
              <a:rPr lang="zh-CN" altLang="en-US" sz="2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对</a:t>
            </a:r>
            <a:r>
              <a:rPr lang="en-US" altLang="zh-CN" sz="2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I/O</a:t>
            </a:r>
            <a:r>
              <a:rPr lang="zh-CN" altLang="en-US" sz="2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的控制方式</a:t>
            </a:r>
            <a:endParaRPr lang="en-US" altLang="zh-CN" sz="2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l">
              <a:lnSpc>
                <a:spcPct val="130000"/>
              </a:lnSpc>
              <a:spcBef>
                <a:spcPts val="0"/>
              </a:spcBef>
              <a:defRPr/>
            </a:pP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幼儿园老师带</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10</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个孩子，要给每个孩子分</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块糖，假设孩子们把</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块糖都吃完，分配方法如下：</a:t>
            </a:r>
            <a:endPar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l">
              <a:lnSpc>
                <a:spcPct val="130000"/>
              </a:lnSpc>
              <a:spcBef>
                <a:spcPts val="0"/>
              </a:spcBef>
              <a:defRPr/>
            </a:pP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）先给孩子甲一块糖，盯着甲吃完，然后给第二块，盯着甲吃完；在接着给孩子乙，</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直到第</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10</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个孩子吃完</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块糖。</a:t>
            </a:r>
            <a:endPar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l">
              <a:lnSpc>
                <a:spcPct val="130000"/>
              </a:lnSpc>
              <a:spcBef>
                <a:spcPts val="0"/>
              </a:spcBef>
              <a:defRPr/>
            </a:pP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）每人发一块糖吃，吃完举手，在发第二块，期间老师可以做其它事。</a:t>
            </a:r>
            <a:endPar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l">
              <a:lnSpc>
                <a:spcPct val="130000"/>
              </a:lnSpc>
              <a:spcBef>
                <a:spcPts val="0"/>
              </a:spcBef>
              <a:defRPr/>
            </a:pP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）每人发</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块糖吃，吃完举手，期间老师做其它事。</a:t>
            </a:r>
            <a:endPar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l">
              <a:lnSpc>
                <a:spcPct val="130000"/>
              </a:lnSpc>
              <a:spcBef>
                <a:spcPts val="0"/>
              </a:spcBef>
              <a:defRPr/>
            </a:pP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）权力下发，交另一个人分管。</a:t>
            </a:r>
            <a:endParaRPr lang="zh-CN" altLang="en-US" sz="2800" b="1" kern="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1"/>
          <p:cNvSpPr/>
          <p:nvPr/>
        </p:nvSpPr>
        <p:spPr>
          <a:xfrm>
            <a:off x="291330" y="165746"/>
            <a:ext cx="7802136" cy="646331"/>
          </a:xfrm>
          <a:prstGeom prst="rect">
            <a:avLst/>
          </a:prstGeom>
        </p:spPr>
        <p:txBody>
          <a:bodyPr wrap="none">
            <a:spAutoFit/>
          </a:bodyPr>
          <a:lstStyle/>
          <a:p>
            <a:r>
              <a:rPr lang="en-US" altLang="zh-CN" sz="3600" b="1" dirty="0">
                <a:latin typeface="+mn-ea"/>
                <a:ea typeface="+mn-ea"/>
                <a:cs typeface="Times New Roman" panose="02020603050405020304" charset="0"/>
              </a:rPr>
              <a:t>8.1.4 CPU</a:t>
            </a:r>
            <a:r>
              <a:rPr lang="zh-CN" altLang="en-US" sz="3600" b="1" dirty="0">
                <a:latin typeface="+mn-ea"/>
                <a:ea typeface="+mn-ea"/>
                <a:cs typeface="Times New Roman" panose="02020603050405020304" charset="0"/>
              </a:rPr>
              <a:t>与</a:t>
            </a:r>
            <a:r>
              <a:rPr lang="en-US" altLang="zh-CN" sz="3600" b="1" dirty="0">
                <a:latin typeface="+mn-ea"/>
                <a:ea typeface="+mn-ea"/>
                <a:cs typeface="Times New Roman" panose="02020603050405020304" charset="0"/>
              </a:rPr>
              <a:t>I/O</a:t>
            </a:r>
            <a:r>
              <a:rPr lang="zh-CN" altLang="en-US" sz="3600" b="1" dirty="0">
                <a:latin typeface="+mn-ea"/>
                <a:ea typeface="+mn-ea"/>
                <a:cs typeface="Times New Roman" panose="02020603050405020304" charset="0"/>
              </a:rPr>
              <a:t>接口之间的数据传送</a:t>
            </a:r>
            <a:endParaRPr lang="zh-CN" altLang="en-US" sz="3600" b="1" dirty="0">
              <a:latin typeface="+mn-ea"/>
              <a:ea typeface="+mn-ea"/>
            </a:endParaRPr>
          </a:p>
        </p:txBody>
      </p:sp>
      <p:sp>
        <p:nvSpPr>
          <p:cNvPr id="5" name="Rectangle 6"/>
          <p:cNvSpPr>
            <a:spLocks noChangeArrowheads="1"/>
          </p:cNvSpPr>
          <p:nvPr/>
        </p:nvSpPr>
        <p:spPr bwMode="auto">
          <a:xfrm>
            <a:off x="149224" y="144480"/>
            <a:ext cx="8796160" cy="344709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square" tIns="0" bIns="0" anchor="ctr">
            <a:spAutoFit/>
          </a:bodyPr>
          <a:lstStyle/>
          <a:p>
            <a:pPr marL="0" lvl="1" eaLnBrk="1" hangingPunct="1"/>
            <a:r>
              <a:rPr lang="zh-CN" altLang="en-US" sz="3200" b="1" dirty="0">
                <a:solidFill>
                  <a:srgbClr val="FF0000"/>
                </a:solidFill>
                <a:latin typeface="+mn-ea"/>
              </a:rPr>
              <a:t>    在计算机系统中，</a:t>
            </a:r>
            <a:r>
              <a:rPr lang="en-US" altLang="zh-CN" sz="3200" b="1" dirty="0">
                <a:solidFill>
                  <a:srgbClr val="FF0000"/>
                </a:solidFill>
                <a:latin typeface="+mn-ea"/>
              </a:rPr>
              <a:t>CPU</a:t>
            </a:r>
            <a:r>
              <a:rPr lang="zh-CN" altLang="en-US" sz="3200" b="1" dirty="0">
                <a:solidFill>
                  <a:srgbClr val="FF0000"/>
                </a:solidFill>
                <a:latin typeface="+mn-ea"/>
              </a:rPr>
              <a:t>管理外围设备有下面几种方式：</a:t>
            </a:r>
            <a:endParaRPr lang="en-US" altLang="zh-CN" sz="3200" b="1" dirty="0">
              <a:solidFill>
                <a:srgbClr val="FF0000"/>
              </a:solidFill>
              <a:latin typeface="+mn-ea"/>
            </a:endParaRPr>
          </a:p>
          <a:p>
            <a:pPr marL="0" lvl="1" eaLnBrk="1" hangingPunct="1"/>
            <a:r>
              <a:rPr lang="en-US" altLang="zh-CN" sz="3200" b="1" dirty="0">
                <a:solidFill>
                  <a:srgbClr val="FF0000"/>
                </a:solidFill>
                <a:latin typeface="+mn-ea"/>
              </a:rPr>
              <a:t>    </a:t>
            </a:r>
            <a:r>
              <a:rPr lang="zh-CN" altLang="en-US" sz="3200" b="1" dirty="0">
                <a:solidFill>
                  <a:srgbClr val="FF0000"/>
                </a:solidFill>
                <a:latin typeface="+mn-ea"/>
              </a:rPr>
              <a:t>无条件传送方式（简单</a:t>
            </a:r>
            <a:r>
              <a:rPr lang="en-US" altLang="zh-CN" sz="3200" b="1" dirty="0">
                <a:solidFill>
                  <a:srgbClr val="FF0000"/>
                </a:solidFill>
                <a:latin typeface="+mn-ea"/>
              </a:rPr>
              <a:t>I/O</a:t>
            </a:r>
            <a:r>
              <a:rPr lang="zh-CN" altLang="en-US" sz="3200" b="1" dirty="0">
                <a:solidFill>
                  <a:srgbClr val="FF0000"/>
                </a:solidFill>
                <a:latin typeface="+mn-ea"/>
              </a:rPr>
              <a:t>方式）</a:t>
            </a:r>
            <a:endParaRPr lang="en-US" altLang="zh-CN" sz="3200" b="1" dirty="0">
              <a:solidFill>
                <a:srgbClr val="FF0000"/>
              </a:solidFill>
              <a:latin typeface="+mn-ea"/>
            </a:endParaRPr>
          </a:p>
          <a:p>
            <a:pPr marL="0" lvl="1" eaLnBrk="1" hangingPunct="1"/>
            <a:r>
              <a:rPr lang="zh-CN" altLang="en-US" sz="3200" b="1" dirty="0">
                <a:solidFill>
                  <a:srgbClr val="FF0000"/>
                </a:solidFill>
                <a:latin typeface="+mn-ea"/>
              </a:rPr>
              <a:t>    程序查询（轮询）方式</a:t>
            </a:r>
          </a:p>
          <a:p>
            <a:pPr marL="0" lvl="1" eaLnBrk="1" hangingPunct="1"/>
            <a:r>
              <a:rPr lang="zh-CN" altLang="en-US" sz="3200" b="1" dirty="0">
                <a:solidFill>
                  <a:srgbClr val="FF0000"/>
                </a:solidFill>
                <a:latin typeface="+mn-ea"/>
              </a:rPr>
              <a:t>    程序中断方式</a:t>
            </a:r>
          </a:p>
          <a:p>
            <a:pPr marL="0" lvl="1" eaLnBrk="1" hangingPunct="1"/>
            <a:r>
              <a:rPr lang="zh-CN" altLang="en-US" sz="3200" b="1" dirty="0">
                <a:solidFill>
                  <a:srgbClr val="FF0000"/>
                </a:solidFill>
                <a:latin typeface="+mn-ea"/>
              </a:rPr>
              <a:t>    直接内存访问（</a:t>
            </a:r>
            <a:r>
              <a:rPr lang="en-US" altLang="zh-CN" sz="3200" b="1" dirty="0">
                <a:solidFill>
                  <a:srgbClr val="FF0000"/>
                </a:solidFill>
                <a:latin typeface="+mn-ea"/>
              </a:rPr>
              <a:t>DMA</a:t>
            </a:r>
            <a:r>
              <a:rPr lang="zh-CN" altLang="en-US" sz="3200" b="1" dirty="0">
                <a:solidFill>
                  <a:srgbClr val="FF0000"/>
                </a:solidFill>
                <a:latin typeface="+mn-ea"/>
              </a:rPr>
              <a:t>）方式</a:t>
            </a:r>
          </a:p>
          <a:p>
            <a:pPr marL="0" lvl="1" eaLnBrk="1" hangingPunct="1"/>
            <a:r>
              <a:rPr lang="zh-CN" altLang="en-US" sz="3200" b="1" dirty="0">
                <a:solidFill>
                  <a:srgbClr val="FF0000"/>
                </a:solidFill>
                <a:latin typeface="+mn-ea"/>
              </a:rPr>
              <a:t>    通道和输入</a:t>
            </a:r>
            <a:r>
              <a:rPr lang="en-US" altLang="zh-CN" sz="3200" b="1" dirty="0">
                <a:solidFill>
                  <a:srgbClr val="FF0000"/>
                </a:solidFill>
                <a:latin typeface="+mn-ea"/>
              </a:rPr>
              <a:t>/</a:t>
            </a:r>
            <a:r>
              <a:rPr lang="zh-CN" altLang="en-US" sz="3200" b="1" dirty="0">
                <a:solidFill>
                  <a:srgbClr val="FF0000"/>
                </a:solidFill>
                <a:latin typeface="+mn-ea"/>
              </a:rPr>
              <a:t>输出处理器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167937" y="142340"/>
            <a:ext cx="8856984" cy="6669360"/>
          </a:xfrm>
          <a:solidFill>
            <a:schemeClr val="bg1"/>
          </a:solidFill>
        </p:spPr>
        <p:txBody>
          <a:bodyPr/>
          <a:lstStyle/>
          <a:p>
            <a:pPr marL="0" indent="0" eaLnBrk="1" hangingPunct="1">
              <a:buNone/>
            </a:pPr>
            <a:r>
              <a:rPr lang="en-US" altLang="zh-CN" sz="2400" b="1" dirty="0">
                <a:latin typeface="+mn-ea"/>
              </a:rPr>
              <a:t>1. </a:t>
            </a:r>
            <a:r>
              <a:rPr lang="zh-CN" altLang="en-US" sz="2400" b="1" dirty="0">
                <a:latin typeface="+mn-ea"/>
              </a:rPr>
              <a:t>无条件传送方式（简单</a:t>
            </a:r>
            <a:r>
              <a:rPr lang="en-US" altLang="zh-CN" sz="2400" b="1" dirty="0">
                <a:latin typeface="+mn-ea"/>
              </a:rPr>
              <a:t>I/O</a:t>
            </a:r>
            <a:r>
              <a:rPr lang="zh-CN" altLang="en-US" sz="2400" b="1" dirty="0">
                <a:latin typeface="+mn-ea"/>
              </a:rPr>
              <a:t>方式）</a:t>
            </a:r>
          </a:p>
          <a:p>
            <a:pPr marL="0" indent="0">
              <a:buNone/>
            </a:pPr>
            <a:r>
              <a:rPr lang="zh-CN" altLang="en-US" sz="2400" dirty="0">
                <a:latin typeface="+mn-ea"/>
              </a:rPr>
              <a:t>    外设已具备了与</a:t>
            </a:r>
            <a:r>
              <a:rPr lang="en-US" altLang="zh-CN" sz="2400" dirty="0">
                <a:latin typeface="+mn-ea"/>
              </a:rPr>
              <a:t>CPU</a:t>
            </a:r>
            <a:r>
              <a:rPr lang="zh-CN" altLang="en-US" sz="2400" dirty="0">
                <a:latin typeface="+mn-ea"/>
              </a:rPr>
              <a:t>交换数据的条件，即外设已准备好与</a:t>
            </a:r>
            <a:r>
              <a:rPr lang="en-US" altLang="zh-CN" sz="2400" dirty="0">
                <a:latin typeface="+mn-ea"/>
              </a:rPr>
              <a:t>CPU</a:t>
            </a:r>
            <a:r>
              <a:rPr lang="zh-CN" altLang="en-US" sz="2400" dirty="0">
                <a:latin typeface="+mn-ea"/>
              </a:rPr>
              <a:t>交换数据。对输入设备而言，输入设备的数据已经准备就绪，</a:t>
            </a:r>
            <a:r>
              <a:rPr lang="en-US" altLang="zh-CN" sz="2400" dirty="0">
                <a:latin typeface="+mn-ea"/>
              </a:rPr>
              <a:t>CPU</a:t>
            </a:r>
            <a:r>
              <a:rPr lang="zh-CN" altLang="en-US" sz="2400" dirty="0">
                <a:latin typeface="+mn-ea"/>
              </a:rPr>
              <a:t>可以随时来读取这个数据。对输出设备而言，输出设备的数据接收寄存器已空，可以随时接收</a:t>
            </a:r>
            <a:r>
              <a:rPr lang="en-US" altLang="zh-CN" sz="2400" dirty="0">
                <a:latin typeface="+mn-ea"/>
              </a:rPr>
              <a:t>CPU</a:t>
            </a:r>
            <a:r>
              <a:rPr lang="zh-CN" altLang="en-US" sz="2400" dirty="0">
                <a:latin typeface="+mn-ea"/>
              </a:rPr>
              <a:t>送来的数据。</a:t>
            </a:r>
            <a:r>
              <a:rPr lang="en-US" altLang="zh-CN" sz="2400" dirty="0">
                <a:latin typeface="+mn-ea"/>
              </a:rPr>
              <a:t> </a:t>
            </a:r>
          </a:p>
          <a:p>
            <a:pPr marL="0" indent="0">
              <a:buNone/>
            </a:pPr>
            <a:r>
              <a:rPr lang="en-US" altLang="zh-CN" sz="2400" b="1" dirty="0">
                <a:latin typeface="+mn-ea"/>
              </a:rPr>
              <a:t>2. </a:t>
            </a:r>
            <a:r>
              <a:rPr lang="zh-CN" altLang="en-US" sz="2400" b="1" dirty="0">
                <a:latin typeface="+mn-ea"/>
              </a:rPr>
              <a:t>程序查询（轮询）方式</a:t>
            </a:r>
          </a:p>
          <a:p>
            <a:pPr marL="0" indent="0">
              <a:buNone/>
            </a:pPr>
            <a:r>
              <a:rPr lang="zh-CN" altLang="en-US" sz="2400" dirty="0">
                <a:latin typeface="+mn-ea"/>
              </a:rPr>
              <a:t>    所谓查询，就是询问外部设备的工作状态，通过这一状态来判定外设是否已具备了与</a:t>
            </a:r>
            <a:r>
              <a:rPr lang="en-US" altLang="zh-CN" sz="2400" dirty="0">
                <a:latin typeface="+mn-ea"/>
              </a:rPr>
              <a:t>CPU</a:t>
            </a:r>
            <a:r>
              <a:rPr lang="zh-CN" altLang="en-US" sz="2400" dirty="0">
                <a:latin typeface="+mn-ea"/>
              </a:rPr>
              <a:t>交换数据的条件，即外设是否已准备好与</a:t>
            </a:r>
            <a:r>
              <a:rPr lang="en-US" altLang="zh-CN" sz="2400" dirty="0">
                <a:latin typeface="+mn-ea"/>
              </a:rPr>
              <a:t>CPU</a:t>
            </a:r>
            <a:r>
              <a:rPr lang="zh-CN" altLang="en-US" sz="2400" dirty="0">
                <a:latin typeface="+mn-ea"/>
              </a:rPr>
              <a:t>交换数据。</a:t>
            </a:r>
            <a:endParaRPr lang="en-US" altLang="zh-CN" sz="2400" dirty="0">
              <a:latin typeface="+mn-ea"/>
            </a:endParaRPr>
          </a:p>
          <a:p>
            <a:pPr marL="0" indent="0">
              <a:buNone/>
            </a:pPr>
            <a:r>
              <a:rPr lang="en-US" altLang="zh-CN" sz="2400" dirty="0">
                <a:latin typeface="+mn-ea"/>
              </a:rPr>
              <a:t>    </a:t>
            </a:r>
            <a:r>
              <a:rPr lang="zh-CN" altLang="en-US" sz="2400" dirty="0">
                <a:latin typeface="+mn-ea"/>
              </a:rPr>
              <a:t>程序查询方式是早期计算机中使用的一种方式。数据在</a:t>
            </a:r>
            <a:r>
              <a:rPr lang="en-US" altLang="zh-CN" sz="2400" dirty="0">
                <a:latin typeface="+mn-ea"/>
              </a:rPr>
              <a:t>CPU</a:t>
            </a:r>
            <a:r>
              <a:rPr lang="zh-CN" altLang="en-US" sz="2400" dirty="0">
                <a:latin typeface="+mn-ea"/>
              </a:rPr>
              <a:t>和外围设备之间的传送完全靠计算机程序控制，查询方式的优点是</a:t>
            </a:r>
            <a:r>
              <a:rPr lang="en-US" altLang="zh-CN" sz="2400" dirty="0">
                <a:latin typeface="+mn-ea"/>
              </a:rPr>
              <a:t>CPU</a:t>
            </a:r>
            <a:r>
              <a:rPr lang="zh-CN" altLang="en-US" sz="2400" dirty="0">
                <a:latin typeface="+mn-ea"/>
              </a:rPr>
              <a:t>的操作和外围设备的操作能够同步，而且硬件结构比较简单。但问题是，外围设备动作很慢，程序进入查询循环时将白白浪费掉</a:t>
            </a:r>
            <a:r>
              <a:rPr lang="en-US" altLang="zh-CN" sz="2400" dirty="0">
                <a:latin typeface="+mn-ea"/>
              </a:rPr>
              <a:t>CPU</a:t>
            </a:r>
            <a:r>
              <a:rPr lang="zh-CN" altLang="en-US" sz="2400" dirty="0">
                <a:latin typeface="+mn-ea"/>
              </a:rPr>
              <a:t>很多时间。</a:t>
            </a:r>
            <a:r>
              <a:rPr lang="en-US" altLang="zh-CN" sz="2400" dirty="0">
                <a:latin typeface="+mn-ea"/>
              </a:rPr>
              <a:t>CPU</a:t>
            </a:r>
            <a:r>
              <a:rPr lang="zh-CN" altLang="en-US" sz="2400" dirty="0">
                <a:latin typeface="+mn-ea"/>
              </a:rPr>
              <a:t>此时只能等待，不能处理其他业务。因此当前除单片机外，很少使用程序查询方式。</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2"/>
          </p:nvPr>
        </p:nvSpPr>
        <p:spPr>
          <a:noFill/>
        </p:spPr>
        <p:txBody>
          <a:bodyPr/>
          <a:lstStyle/>
          <a:p>
            <a:fld id="{D214CE55-8EF9-4193-98CF-D3871761A5E9}" type="slidenum">
              <a:rPr lang="en-US" altLang="zh-CN" smtClean="0"/>
              <a:t>11</a:t>
            </a:fld>
            <a:endParaRPr lang="en-US" altLang="zh-CN"/>
          </a:p>
        </p:txBody>
      </p:sp>
      <p:sp>
        <p:nvSpPr>
          <p:cNvPr id="11267" name="Rectangle 5"/>
          <p:cNvSpPr>
            <a:spLocks noChangeArrowheads="1"/>
          </p:cNvSpPr>
          <p:nvPr/>
        </p:nvSpPr>
        <p:spPr bwMode="auto">
          <a:xfrm>
            <a:off x="304800" y="457200"/>
            <a:ext cx="7543800" cy="5262245"/>
          </a:xfrm>
          <a:prstGeom prst="rect">
            <a:avLst/>
          </a:prstGeom>
          <a:noFill/>
          <a:ln w="12700">
            <a:noFill/>
            <a:miter lim="800000"/>
            <a:headEnd type="none" w="sm" len="sm"/>
            <a:tailEnd type="none" w="sm" len="sm"/>
          </a:ln>
        </p:spPr>
        <p:txBody>
          <a:bodyPr>
            <a:spAutoFit/>
          </a:bodyPr>
          <a:lstStyle/>
          <a:p>
            <a:r>
              <a:rPr lang="en-US" altLang="zh-CN" sz="2800" b="1" dirty="0">
                <a:latin typeface="宋体" panose="02010600030101010101" pitchFamily="2" charset="-122"/>
              </a:rPr>
              <a:t>3. </a:t>
            </a:r>
            <a:r>
              <a:rPr lang="zh-CN" altLang="en-US" sz="2800" b="1" dirty="0">
                <a:latin typeface="宋体" panose="02010600030101010101" pitchFamily="2" charset="-122"/>
              </a:rPr>
              <a:t>程序中断方式</a:t>
            </a:r>
          </a:p>
          <a:p>
            <a:r>
              <a:rPr lang="zh-CN" altLang="en-US" sz="2800" dirty="0">
                <a:latin typeface="宋体" panose="02010600030101010101" pitchFamily="2" charset="-122"/>
              </a:rPr>
              <a:t>　　中断是外围设备“主动”通知</a:t>
            </a:r>
            <a:r>
              <a:rPr lang="en-US" altLang="zh-CN" sz="2800" dirty="0">
                <a:latin typeface="宋体" panose="02010600030101010101" pitchFamily="2" charset="-122"/>
              </a:rPr>
              <a:t>CPU</a:t>
            </a:r>
            <a:r>
              <a:rPr lang="zh-CN" altLang="en-US" sz="2800" dirty="0">
                <a:latin typeface="宋体" panose="02010600030101010101" pitchFamily="2" charset="-122"/>
              </a:rPr>
              <a:t>，准备送出输入数据或接收输出数据的一种方法。  </a:t>
            </a:r>
          </a:p>
          <a:p>
            <a:r>
              <a:rPr lang="zh-CN" altLang="en-US" sz="2800" dirty="0">
                <a:latin typeface="宋体" panose="02010600030101010101" pitchFamily="2" charset="-122"/>
              </a:rPr>
              <a:t>    通常，当一个中断发生时，</a:t>
            </a:r>
            <a:r>
              <a:rPr lang="en-US" altLang="zh-CN" sz="2800" dirty="0">
                <a:latin typeface="宋体" panose="02010600030101010101" pitchFamily="2" charset="-122"/>
              </a:rPr>
              <a:t>CPU</a:t>
            </a:r>
            <a:r>
              <a:rPr lang="zh-CN" altLang="en-US" sz="2800" dirty="0">
                <a:latin typeface="宋体" panose="02010600030101010101" pitchFamily="2" charset="-122"/>
              </a:rPr>
              <a:t>暂停它的现行程序，而转向中断处理程序，从而可以输入或输出一个数据。当中断处理完毕后，</a:t>
            </a:r>
            <a:r>
              <a:rPr lang="en-US" altLang="zh-CN" sz="2800" dirty="0">
                <a:latin typeface="宋体" panose="02010600030101010101" pitchFamily="2" charset="-122"/>
              </a:rPr>
              <a:t>CPU</a:t>
            </a:r>
            <a:r>
              <a:rPr lang="zh-CN" altLang="en-US" sz="2800" dirty="0">
                <a:latin typeface="宋体" panose="02010600030101010101" pitchFamily="2" charset="-122"/>
              </a:rPr>
              <a:t>又返回到它原来的任务，并从它停止的地方开始执行程序。可以看出，它节省了</a:t>
            </a:r>
            <a:r>
              <a:rPr lang="en-US" altLang="zh-CN" sz="2800" dirty="0">
                <a:latin typeface="宋体" panose="02010600030101010101" pitchFamily="2" charset="-122"/>
              </a:rPr>
              <a:t>CPU</a:t>
            </a:r>
            <a:r>
              <a:rPr lang="zh-CN" altLang="en-US" sz="2800" dirty="0">
                <a:latin typeface="宋体" panose="02010600030101010101" pitchFamily="2" charset="-122"/>
              </a:rPr>
              <a:t>宝贵的时间，是管理</a:t>
            </a:r>
            <a:r>
              <a:rPr lang="en-US" altLang="zh-CN" sz="2800" dirty="0">
                <a:latin typeface="宋体" panose="02010600030101010101" pitchFamily="2" charset="-122"/>
              </a:rPr>
              <a:t>I/O</a:t>
            </a:r>
            <a:r>
              <a:rPr lang="zh-CN" altLang="en-US" sz="2800" dirty="0">
                <a:latin typeface="宋体" panose="02010600030101010101" pitchFamily="2" charset="-122"/>
              </a:rPr>
              <a:t>操作的一个比较有效的方法。中断方式一般适用于随机出现的服务，并且一旦提出要求，应立即进行。同程序查询方式相比，硬件结构相对复杂一些，服务开销时间较大。</a:t>
            </a:r>
            <a:endParaRPr lang="zh-CN" alt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p:spPr>
        <p:txBody>
          <a:bodyPr/>
          <a:lstStyle/>
          <a:p>
            <a:fld id="{617064CE-D8AF-4502-9CB3-A9A2B6CE67B1}" type="slidenum">
              <a:rPr lang="en-US" altLang="zh-CN" smtClean="0"/>
              <a:t>12</a:t>
            </a:fld>
            <a:endParaRPr lang="en-US" altLang="zh-CN"/>
          </a:p>
        </p:txBody>
      </p:sp>
      <p:sp>
        <p:nvSpPr>
          <p:cNvPr id="12291" name="Rectangle 2"/>
          <p:cNvSpPr>
            <a:spLocks noChangeArrowheads="1"/>
          </p:cNvSpPr>
          <p:nvPr/>
        </p:nvSpPr>
        <p:spPr bwMode="auto">
          <a:xfrm>
            <a:off x="304800" y="304800"/>
            <a:ext cx="8534400" cy="6123940"/>
          </a:xfrm>
          <a:prstGeom prst="rect">
            <a:avLst/>
          </a:prstGeom>
          <a:solidFill>
            <a:schemeClr val="bg1"/>
          </a:solidFill>
          <a:ln w="12700">
            <a:noFill/>
            <a:miter lim="800000"/>
            <a:headEnd type="none" w="sm" len="sm"/>
            <a:tailEnd type="none" w="sm" len="sm"/>
          </a:ln>
        </p:spPr>
        <p:txBody>
          <a:bodyPr>
            <a:spAutoFit/>
          </a:bodyPr>
          <a:lstStyle/>
          <a:p>
            <a:pPr>
              <a:tabLst>
                <a:tab pos="3136900" algn="l"/>
              </a:tabLst>
            </a:pPr>
            <a:r>
              <a:rPr lang="en-US" altLang="zh-CN" sz="2800" b="1" dirty="0">
                <a:latin typeface="宋体" panose="02010600030101010101" pitchFamily="2" charset="-122"/>
              </a:rPr>
              <a:t>4. </a:t>
            </a:r>
            <a:r>
              <a:rPr lang="zh-CN" altLang="en-US" sz="2800" b="1" dirty="0">
                <a:latin typeface="宋体" panose="02010600030101010101" pitchFamily="2" charset="-122"/>
              </a:rPr>
              <a:t>直接内存访问</a:t>
            </a:r>
            <a:r>
              <a:rPr lang="en-US" altLang="zh-CN" sz="2800" b="1" dirty="0">
                <a:latin typeface="宋体" panose="02010600030101010101" pitchFamily="2" charset="-122"/>
              </a:rPr>
              <a:t>(DMA)</a:t>
            </a:r>
            <a:r>
              <a:rPr lang="zh-CN" altLang="en-US" sz="2800" b="1" dirty="0">
                <a:latin typeface="宋体" panose="02010600030101010101" pitchFamily="2" charset="-122"/>
              </a:rPr>
              <a:t>方式</a:t>
            </a:r>
          </a:p>
          <a:p>
            <a:pPr>
              <a:tabLst>
                <a:tab pos="3136900" algn="l"/>
              </a:tabLst>
            </a:pPr>
            <a:r>
              <a:rPr lang="zh-CN" altLang="en-US" sz="2800" dirty="0">
                <a:latin typeface="宋体" panose="02010600030101010101" pitchFamily="2" charset="-122"/>
              </a:rPr>
              <a:t>　　用中断方式交换数据时，每处理一次</a:t>
            </a:r>
            <a:r>
              <a:rPr lang="en-US" altLang="zh-CN" sz="2800" dirty="0">
                <a:latin typeface="宋体" panose="02010600030101010101" pitchFamily="2" charset="-122"/>
              </a:rPr>
              <a:t>I/O</a:t>
            </a:r>
            <a:r>
              <a:rPr lang="zh-CN" altLang="en-US" sz="2800" dirty="0">
                <a:latin typeface="宋体" panose="02010600030101010101" pitchFamily="2" charset="-122"/>
              </a:rPr>
              <a:t>交换，约需几十微秒到几百微秒。对于一些高速的外围设备，以及成组交换数据的情况，仍然显得速度太慢。直接内存访问</a:t>
            </a:r>
            <a:r>
              <a:rPr lang="en-US" altLang="zh-CN" sz="2800" dirty="0">
                <a:latin typeface="宋体" panose="02010600030101010101" pitchFamily="2" charset="-122"/>
              </a:rPr>
              <a:t>(DMA)</a:t>
            </a:r>
            <a:r>
              <a:rPr lang="zh-CN" altLang="en-US" sz="2800" dirty="0">
                <a:latin typeface="宋体" panose="02010600030101010101" pitchFamily="2" charset="-122"/>
              </a:rPr>
              <a:t>方式是一种完全由硬件执行</a:t>
            </a:r>
            <a:r>
              <a:rPr lang="en-US" altLang="zh-CN" sz="2800" dirty="0">
                <a:latin typeface="宋体" panose="02010600030101010101" pitchFamily="2" charset="-122"/>
              </a:rPr>
              <a:t>I/O</a:t>
            </a:r>
            <a:r>
              <a:rPr lang="zh-CN" altLang="en-US" sz="2800" dirty="0">
                <a:latin typeface="宋体" panose="02010600030101010101" pitchFamily="2" charset="-122"/>
              </a:rPr>
              <a:t>交换的工作方式。</a:t>
            </a:r>
          </a:p>
          <a:p>
            <a:pPr>
              <a:tabLst>
                <a:tab pos="3136900" algn="l"/>
              </a:tabLst>
            </a:pPr>
            <a:r>
              <a:rPr lang="zh-CN" altLang="en-US" sz="2800" dirty="0">
                <a:latin typeface="宋体" panose="02010600030101010101" pitchFamily="2" charset="-122"/>
              </a:rPr>
              <a:t>    这种方式既考虑到中断响应，同时又要节约中断开销。此时，</a:t>
            </a:r>
            <a:r>
              <a:rPr lang="en-US" altLang="zh-CN" sz="2800" dirty="0">
                <a:latin typeface="宋体" panose="02010600030101010101" pitchFamily="2" charset="-122"/>
              </a:rPr>
              <a:t>DMA</a:t>
            </a:r>
            <a:r>
              <a:rPr lang="zh-CN" altLang="en-US" sz="2800" dirty="0">
                <a:latin typeface="宋体" panose="02010600030101010101" pitchFamily="2" charset="-122"/>
              </a:rPr>
              <a:t>控制器从</a:t>
            </a:r>
            <a:r>
              <a:rPr lang="en-US" altLang="zh-CN" sz="2800" dirty="0">
                <a:latin typeface="宋体" panose="02010600030101010101" pitchFamily="2" charset="-122"/>
              </a:rPr>
              <a:t>CPU</a:t>
            </a:r>
            <a:r>
              <a:rPr lang="zh-CN" altLang="en-US" sz="2800" dirty="0">
                <a:latin typeface="宋体" panose="02010600030101010101" pitchFamily="2" charset="-122"/>
              </a:rPr>
              <a:t>完全接管对总线的控制，数据交换不经过</a:t>
            </a:r>
            <a:r>
              <a:rPr lang="en-US" altLang="zh-CN" sz="2800" dirty="0">
                <a:latin typeface="宋体" panose="02010600030101010101" pitchFamily="2" charset="-122"/>
              </a:rPr>
              <a:t>CPU</a:t>
            </a:r>
            <a:r>
              <a:rPr lang="zh-CN" altLang="en-US" sz="2800" dirty="0">
                <a:latin typeface="宋体" panose="02010600030101010101" pitchFamily="2" charset="-122"/>
              </a:rPr>
              <a:t>，而直接在内存和外围设备之间进行，以高速传送数据。主要优点是数据传送速度很高，传送速率仅受到内存访问时间的限制。与中断方式相比，需要更多的硬件。</a:t>
            </a:r>
          </a:p>
          <a:p>
            <a:pPr>
              <a:tabLst>
                <a:tab pos="3136900" algn="l"/>
              </a:tabLst>
            </a:pPr>
            <a:r>
              <a:rPr lang="zh-CN" altLang="en-US" sz="2800" dirty="0">
                <a:latin typeface="宋体" panose="02010600030101010101" pitchFamily="2" charset="-122"/>
              </a:rPr>
              <a:t>    </a:t>
            </a:r>
            <a:r>
              <a:rPr lang="en-US" altLang="zh-CN" sz="2800" dirty="0">
                <a:latin typeface="宋体" panose="02010600030101010101" pitchFamily="2" charset="-122"/>
              </a:rPr>
              <a:t>DMA</a:t>
            </a:r>
            <a:r>
              <a:rPr lang="zh-CN" altLang="en-US" sz="2800" dirty="0">
                <a:latin typeface="宋体" panose="02010600030101010101" pitchFamily="2" charset="-122"/>
              </a:rPr>
              <a:t>方式适用于内存和高速外围设备之间大批数据交换的场合。</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p:spPr>
        <p:txBody>
          <a:bodyPr/>
          <a:lstStyle/>
          <a:p>
            <a:fld id="{37B51C46-2FDA-42B4-8429-BE1138B69182}" type="slidenum">
              <a:rPr lang="en-US" altLang="zh-CN" smtClean="0"/>
              <a:t>13</a:t>
            </a:fld>
            <a:endParaRPr lang="en-US" altLang="zh-CN"/>
          </a:p>
        </p:txBody>
      </p:sp>
      <p:sp>
        <p:nvSpPr>
          <p:cNvPr id="13315" name="Rectangle 2"/>
          <p:cNvSpPr>
            <a:spLocks noChangeArrowheads="1"/>
          </p:cNvSpPr>
          <p:nvPr/>
        </p:nvSpPr>
        <p:spPr bwMode="auto">
          <a:xfrm>
            <a:off x="207374" y="348211"/>
            <a:ext cx="8733963" cy="6249035"/>
          </a:xfrm>
          <a:prstGeom prst="rect">
            <a:avLst/>
          </a:prstGeom>
          <a:solidFill>
            <a:schemeClr val="bg1"/>
          </a:solidFill>
          <a:ln w="12700">
            <a:noFill/>
            <a:miter lim="800000"/>
            <a:headEnd type="none" w="sm" len="sm"/>
            <a:tailEnd type="none" w="sm" len="sm"/>
          </a:ln>
        </p:spPr>
        <p:txBody>
          <a:bodyPr wrap="square">
            <a:spAutoFit/>
          </a:bodyPr>
          <a:lstStyle/>
          <a:p>
            <a:pPr>
              <a:lnSpc>
                <a:spcPct val="130000"/>
              </a:lnSpc>
              <a:tabLst>
                <a:tab pos="3136900" algn="l"/>
              </a:tabLst>
            </a:pPr>
            <a:r>
              <a:rPr lang="en-US" altLang="zh-CN" sz="2800" b="1" dirty="0">
                <a:latin typeface="宋体" panose="02010600030101010101" pitchFamily="2" charset="-122"/>
              </a:rPr>
              <a:t>5. </a:t>
            </a:r>
            <a:r>
              <a:rPr lang="zh-CN" altLang="en-US" sz="2800" b="1" dirty="0">
                <a:latin typeface="宋体" panose="02010600030101010101" pitchFamily="2" charset="-122"/>
              </a:rPr>
              <a:t>通道方式和输入</a:t>
            </a:r>
            <a:r>
              <a:rPr lang="en-US" altLang="zh-CN" sz="2800" b="1" dirty="0">
                <a:latin typeface="宋体" panose="02010600030101010101" pitchFamily="2" charset="-122"/>
              </a:rPr>
              <a:t>/</a:t>
            </a:r>
            <a:r>
              <a:rPr lang="zh-CN" altLang="en-US" sz="2800" b="1" dirty="0">
                <a:latin typeface="宋体" panose="02010600030101010101" pitchFamily="2" charset="-122"/>
              </a:rPr>
              <a:t>输出处理器</a:t>
            </a:r>
            <a:r>
              <a:rPr lang="zh-CN" altLang="en-US" sz="2800" dirty="0">
                <a:latin typeface="宋体" panose="02010600030101010101" pitchFamily="2" charset="-122"/>
              </a:rPr>
              <a:t>　　</a:t>
            </a:r>
          </a:p>
          <a:p>
            <a:pPr>
              <a:lnSpc>
                <a:spcPct val="130000"/>
              </a:lnSpc>
              <a:tabLst>
                <a:tab pos="3136900" algn="l"/>
              </a:tabLst>
            </a:pPr>
            <a:r>
              <a:rPr lang="zh-CN" altLang="en-US" sz="2800" dirty="0">
                <a:latin typeface="宋体" panose="02010600030101010101" pitchFamily="2" charset="-122"/>
              </a:rPr>
              <a:t>    </a:t>
            </a:r>
            <a:r>
              <a:rPr lang="en-US" altLang="zh-CN" sz="2800" dirty="0">
                <a:latin typeface="宋体" panose="02010600030101010101" pitchFamily="2" charset="-122"/>
              </a:rPr>
              <a:t>DMA</a:t>
            </a:r>
            <a:r>
              <a:rPr lang="zh-CN" altLang="en-US" sz="2800" dirty="0">
                <a:latin typeface="宋体" panose="02010600030101010101" pitchFamily="2" charset="-122"/>
              </a:rPr>
              <a:t>方式的出现已经减轻了</a:t>
            </a:r>
            <a:r>
              <a:rPr lang="en-US" altLang="zh-CN" sz="2800" dirty="0">
                <a:latin typeface="宋体" panose="02010600030101010101" pitchFamily="2" charset="-122"/>
              </a:rPr>
              <a:t>CPU</a:t>
            </a:r>
            <a:r>
              <a:rPr lang="zh-CN" altLang="en-US" sz="2800" dirty="0">
                <a:latin typeface="宋体" panose="02010600030101010101" pitchFamily="2" charset="-122"/>
              </a:rPr>
              <a:t>对</a:t>
            </a:r>
            <a:r>
              <a:rPr lang="en-US" altLang="zh-CN" sz="2800" dirty="0">
                <a:latin typeface="宋体" panose="02010600030101010101" pitchFamily="2" charset="-122"/>
              </a:rPr>
              <a:t>I/O</a:t>
            </a:r>
            <a:r>
              <a:rPr lang="zh-CN" altLang="en-US" sz="2800" dirty="0">
                <a:latin typeface="宋体" panose="02010600030101010101" pitchFamily="2" charset="-122"/>
              </a:rPr>
              <a:t>操作的控制，使得</a:t>
            </a:r>
            <a:r>
              <a:rPr lang="en-US" altLang="zh-CN" sz="2800" dirty="0">
                <a:latin typeface="宋体" panose="02010600030101010101" pitchFamily="2" charset="-122"/>
              </a:rPr>
              <a:t>CPU</a:t>
            </a:r>
            <a:r>
              <a:rPr lang="zh-CN" altLang="en-US" sz="2800" dirty="0">
                <a:latin typeface="宋体" panose="02010600030101010101" pitchFamily="2" charset="-122"/>
              </a:rPr>
              <a:t>的效率有显著的提高，而通道的出现则进一步提高了</a:t>
            </a:r>
            <a:r>
              <a:rPr lang="en-US" altLang="zh-CN" sz="2800" dirty="0">
                <a:latin typeface="宋体" panose="02010600030101010101" pitchFamily="2" charset="-122"/>
              </a:rPr>
              <a:t>CPU</a:t>
            </a:r>
            <a:r>
              <a:rPr lang="zh-CN" altLang="en-US" sz="2800" dirty="0">
                <a:latin typeface="宋体" panose="02010600030101010101" pitchFamily="2" charset="-122"/>
              </a:rPr>
              <a:t>的效率。这是因为，</a:t>
            </a:r>
            <a:r>
              <a:rPr lang="en-US" altLang="zh-CN" sz="2800" dirty="0">
                <a:latin typeface="宋体" panose="02010600030101010101" pitchFamily="2" charset="-122"/>
              </a:rPr>
              <a:t>CPU</a:t>
            </a:r>
            <a:r>
              <a:rPr lang="zh-CN" altLang="en-US" sz="2800" dirty="0">
                <a:latin typeface="宋体" panose="02010600030101010101" pitchFamily="2" charset="-122"/>
              </a:rPr>
              <a:t>将部分权力下放给通道。</a:t>
            </a:r>
          </a:p>
          <a:p>
            <a:pPr>
              <a:lnSpc>
                <a:spcPct val="130000"/>
              </a:lnSpc>
              <a:tabLst>
                <a:tab pos="3136900" algn="l"/>
              </a:tabLst>
            </a:pPr>
            <a:r>
              <a:rPr lang="zh-CN" altLang="en-US" sz="2800" dirty="0">
                <a:latin typeface="宋体" panose="02010600030101010101" pitchFamily="2" charset="-122"/>
              </a:rPr>
              <a:t>    通道是一个具有特殊功能的处理器，它可以实现对外围设备的统一管理和外围设备与内存之间的数据传送。更进一步，现代的很多高性能计算机系统为输入</a:t>
            </a:r>
            <a:r>
              <a:rPr lang="en-US" altLang="zh-CN" sz="2800" dirty="0">
                <a:latin typeface="宋体" panose="02010600030101010101" pitchFamily="2" charset="-122"/>
              </a:rPr>
              <a:t>/</a:t>
            </a:r>
            <a:r>
              <a:rPr lang="zh-CN" altLang="en-US" sz="2800" dirty="0">
                <a:latin typeface="宋体" panose="02010600030101010101" pitchFamily="2" charset="-122"/>
              </a:rPr>
              <a:t>输出操作配置专用的处理器，称为输入输出处理器</a:t>
            </a:r>
            <a:r>
              <a:rPr lang="en-US" altLang="zh-CN" sz="2800" dirty="0">
                <a:latin typeface="宋体" panose="02010600030101010101" pitchFamily="2" charset="-122"/>
              </a:rPr>
              <a:t>(IOP)</a:t>
            </a:r>
            <a:r>
              <a:rPr lang="zh-CN" altLang="en-US" sz="2800" dirty="0">
                <a:latin typeface="宋体" panose="02010600030101010101" pitchFamily="2" charset="-122"/>
              </a:rPr>
              <a:t>或者外围处理器，大大提高了</a:t>
            </a:r>
            <a:r>
              <a:rPr lang="en-US" altLang="zh-CN" sz="2800" dirty="0">
                <a:latin typeface="宋体" panose="02010600030101010101" pitchFamily="2" charset="-122"/>
              </a:rPr>
              <a:t>CPU</a:t>
            </a:r>
            <a:r>
              <a:rPr lang="zh-CN" altLang="en-US" sz="2800" dirty="0">
                <a:latin typeface="宋体" panose="02010600030101010101" pitchFamily="2" charset="-122"/>
              </a:rPr>
              <a:t>的工作效率。然而这种提高</a:t>
            </a:r>
            <a:r>
              <a:rPr lang="en-US" altLang="zh-CN" sz="2800" dirty="0">
                <a:latin typeface="宋体" panose="02010600030101010101" pitchFamily="2" charset="-122"/>
              </a:rPr>
              <a:t>CPU</a:t>
            </a:r>
            <a:r>
              <a:rPr lang="zh-CN" altLang="en-US" sz="2800" dirty="0">
                <a:latin typeface="宋体" panose="02010600030101010101" pitchFamily="2" charset="-122"/>
              </a:rPr>
              <a:t>效率的办法是以花费更多硬件为代价的。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p:spPr>
        <p:txBody>
          <a:bodyPr/>
          <a:lstStyle/>
          <a:p>
            <a:fld id="{EAD3A16F-8DBE-40E2-9509-041510C59B4E}" type="slidenum">
              <a:rPr lang="en-US" altLang="zh-CN" smtClean="0"/>
              <a:t>14</a:t>
            </a:fld>
            <a:endParaRPr lang="en-US" altLang="zh-CN"/>
          </a:p>
        </p:txBody>
      </p:sp>
      <p:sp>
        <p:nvSpPr>
          <p:cNvPr id="14340" name="Rectangle 3"/>
          <p:cNvSpPr>
            <a:spLocks noChangeArrowheads="1"/>
          </p:cNvSpPr>
          <p:nvPr/>
        </p:nvSpPr>
        <p:spPr bwMode="auto">
          <a:xfrm>
            <a:off x="274081" y="188640"/>
            <a:ext cx="7579568" cy="2062103"/>
          </a:xfrm>
          <a:prstGeom prst="rect">
            <a:avLst/>
          </a:prstGeom>
          <a:noFill/>
          <a:ln w="12700">
            <a:noFill/>
            <a:miter lim="800000"/>
            <a:headEnd type="none" w="sm" len="sm"/>
            <a:tailEnd type="none" w="sm" len="sm"/>
          </a:ln>
        </p:spPr>
        <p:txBody>
          <a:bodyPr wrap="square" anchor="ctr">
            <a:spAutoFit/>
          </a:bodyPr>
          <a:lstStyle/>
          <a:p>
            <a:pPr eaLnBrk="0" hangingPunct="0"/>
            <a:r>
              <a:rPr lang="en-US" altLang="zh-CN" sz="3200" dirty="0">
                <a:latin typeface="宋体" panose="02010600030101010101" pitchFamily="2" charset="-122"/>
              </a:rPr>
              <a:t>    </a:t>
            </a:r>
            <a:r>
              <a:rPr lang="zh-CN" altLang="en-US" sz="3200" dirty="0">
                <a:latin typeface="宋体" panose="02010600030101010101" pitchFamily="2" charset="-122"/>
              </a:rPr>
              <a:t>程序查询方式和程序中断方式适用于数据传输率比较低的外围设备，而</a:t>
            </a:r>
            <a:r>
              <a:rPr lang="en-US" altLang="zh-CN" sz="3200" dirty="0">
                <a:latin typeface="宋体" panose="02010600030101010101" pitchFamily="2" charset="-122"/>
              </a:rPr>
              <a:t>DMA</a:t>
            </a:r>
            <a:r>
              <a:rPr lang="zh-CN" altLang="en-US" sz="3200" dirty="0">
                <a:latin typeface="宋体" panose="02010600030101010101" pitchFamily="2" charset="-122"/>
              </a:rPr>
              <a:t>方式、通道方式和</a:t>
            </a:r>
            <a:r>
              <a:rPr lang="en-US" altLang="zh-CN" sz="3200" dirty="0">
                <a:latin typeface="宋体" panose="02010600030101010101" pitchFamily="2" charset="-122"/>
              </a:rPr>
              <a:t>IOP</a:t>
            </a:r>
            <a:r>
              <a:rPr lang="zh-CN" altLang="en-US" sz="3200" dirty="0">
                <a:latin typeface="宋体" panose="02010600030101010101" pitchFamily="2" charset="-122"/>
              </a:rPr>
              <a:t>方式适用于数据传输率比较高的设备。</a:t>
            </a:r>
          </a:p>
        </p:txBody>
      </p:sp>
      <p:pic>
        <p:nvPicPr>
          <p:cNvPr id="757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963" y="2306481"/>
            <a:ext cx="7957413"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p>
            <a:fld id="{3B293098-4E4C-4DA8-9121-B1EA4FF79D27}" type="slidenum">
              <a:rPr lang="en-US" altLang="zh-CN" smtClean="0"/>
              <a:t>15</a:t>
            </a:fld>
            <a:endParaRPr lang="en-US" altLang="zh-CN"/>
          </a:p>
        </p:txBody>
      </p:sp>
      <p:sp>
        <p:nvSpPr>
          <p:cNvPr id="15363" name="Rectangle 2"/>
          <p:cNvSpPr>
            <a:spLocks noGrp="1" noChangeArrowheads="1"/>
          </p:cNvSpPr>
          <p:nvPr>
            <p:ph type="title"/>
          </p:nvPr>
        </p:nvSpPr>
        <p:spPr>
          <a:xfrm>
            <a:off x="468313" y="188913"/>
            <a:ext cx="7543800" cy="792162"/>
          </a:xfrm>
        </p:spPr>
        <p:txBody>
          <a:bodyPr/>
          <a:lstStyle/>
          <a:p>
            <a:pPr eaLnBrk="1" hangingPunct="1"/>
            <a:r>
              <a:rPr lang="en-US" altLang="zh-CN" sz="3600">
                <a:latin typeface="宋体" panose="02010600030101010101" pitchFamily="2" charset="-122"/>
              </a:rPr>
              <a:t>8.2 </a:t>
            </a:r>
            <a:r>
              <a:rPr lang="zh-CN" altLang="en-US" sz="3600">
                <a:latin typeface="宋体" panose="02010600030101010101" pitchFamily="2" charset="-122"/>
              </a:rPr>
              <a:t>程序查询方式</a:t>
            </a:r>
          </a:p>
        </p:txBody>
      </p:sp>
      <p:sp>
        <p:nvSpPr>
          <p:cNvPr id="15364" name="Rectangle 13"/>
          <p:cNvSpPr>
            <a:spLocks noChangeArrowheads="1"/>
          </p:cNvSpPr>
          <p:nvPr/>
        </p:nvSpPr>
        <p:spPr bwMode="auto">
          <a:xfrm>
            <a:off x="533400" y="1143000"/>
            <a:ext cx="3613150" cy="641350"/>
          </a:xfrm>
          <a:prstGeom prst="rect">
            <a:avLst/>
          </a:prstGeom>
          <a:noFill/>
          <a:ln w="12700">
            <a:noFill/>
            <a:miter lim="800000"/>
            <a:headEnd type="none" w="sm" len="sm"/>
            <a:tailEnd type="none" w="sm" len="sm"/>
          </a:ln>
        </p:spPr>
        <p:txBody>
          <a:bodyPr wrap="none">
            <a:spAutoFit/>
          </a:bodyPr>
          <a:lstStyle/>
          <a:p>
            <a:r>
              <a:rPr lang="zh-CN" altLang="en-US" sz="3600">
                <a:solidFill>
                  <a:srgbClr val="FF0000"/>
                </a:solidFill>
                <a:latin typeface="宋体" panose="02010600030101010101" pitchFamily="2" charset="-122"/>
              </a:rPr>
              <a:t>一直需要</a:t>
            </a:r>
            <a:r>
              <a:rPr lang="en-US" altLang="zh-CN" sz="3600">
                <a:solidFill>
                  <a:srgbClr val="FF0000"/>
                </a:solidFill>
                <a:latin typeface="宋体" panose="02010600030101010101" pitchFamily="2" charset="-122"/>
              </a:rPr>
              <a:t>CPU</a:t>
            </a:r>
            <a:r>
              <a:rPr lang="zh-CN" altLang="en-US" sz="3600">
                <a:solidFill>
                  <a:srgbClr val="FF0000"/>
                </a:solidFill>
                <a:latin typeface="宋体" panose="02010600030101010101" pitchFamily="2" charset="-122"/>
              </a:rPr>
              <a:t>参与</a:t>
            </a:r>
          </a:p>
        </p:txBody>
      </p:sp>
      <p:sp>
        <p:nvSpPr>
          <p:cNvPr id="15365" name="Rectangle 14"/>
          <p:cNvSpPr>
            <a:spLocks noChangeArrowheads="1"/>
          </p:cNvSpPr>
          <p:nvPr/>
        </p:nvSpPr>
        <p:spPr bwMode="auto">
          <a:xfrm>
            <a:off x="457200" y="1905000"/>
            <a:ext cx="8077200" cy="4578350"/>
          </a:xfrm>
          <a:prstGeom prst="rect">
            <a:avLst/>
          </a:prstGeom>
          <a:noFill/>
          <a:ln w="12700">
            <a:noFill/>
            <a:miter lim="800000"/>
            <a:headEnd type="none" w="sm" len="sm"/>
            <a:tailEnd type="none" w="sm" len="sm"/>
          </a:ln>
        </p:spPr>
        <p:txBody>
          <a:bodyPr>
            <a:spAutoFit/>
          </a:bodyPr>
          <a:lstStyle/>
          <a:p>
            <a:pPr>
              <a:spcBef>
                <a:spcPct val="50000"/>
              </a:spcBef>
            </a:pPr>
            <a:r>
              <a:rPr lang="en-US" altLang="zh-CN" sz="2800" dirty="0">
                <a:latin typeface="宋体" panose="02010600030101010101" pitchFamily="2" charset="-122"/>
              </a:rPr>
              <a:t>1</a:t>
            </a:r>
            <a:r>
              <a:rPr lang="zh-CN" altLang="en-US" sz="2800" dirty="0">
                <a:latin typeface="宋体" panose="02010600030101010101" pitchFamily="2" charset="-122"/>
              </a:rPr>
              <a:t>、设备编址</a:t>
            </a:r>
          </a:p>
          <a:p>
            <a:pPr>
              <a:spcBef>
                <a:spcPct val="50000"/>
              </a:spcBef>
            </a:pPr>
            <a:r>
              <a:rPr lang="zh-CN" altLang="en-US" sz="2800" dirty="0">
                <a:latin typeface="宋体" panose="02010600030101010101" pitchFamily="2" charset="-122"/>
              </a:rPr>
              <a:t>    </a:t>
            </a:r>
            <a:r>
              <a:rPr kumimoji="1" lang="zh-CN" altLang="en-US" sz="2800" dirty="0">
                <a:latin typeface="宋体" panose="02010600030101010101" pitchFamily="2" charset="-122"/>
              </a:rPr>
              <a:t>通常将</a:t>
            </a:r>
            <a:r>
              <a:rPr kumimoji="1" lang="en-US" altLang="zh-CN" sz="2800" dirty="0">
                <a:latin typeface="宋体" panose="02010600030101010101" pitchFamily="2" charset="-122"/>
              </a:rPr>
              <a:t>I/O</a:t>
            </a:r>
            <a:r>
              <a:rPr kumimoji="1" lang="zh-CN" altLang="en-US" sz="2800" dirty="0">
                <a:latin typeface="宋体" panose="02010600030101010101" pitchFamily="2" charset="-122"/>
              </a:rPr>
              <a:t>设备码视为地址码，对</a:t>
            </a:r>
            <a:r>
              <a:rPr kumimoji="1" lang="en-US" altLang="zh-CN" sz="2800" dirty="0">
                <a:latin typeface="宋体" panose="02010600030101010101" pitchFamily="2" charset="-122"/>
              </a:rPr>
              <a:t>I/O</a:t>
            </a:r>
            <a:r>
              <a:rPr kumimoji="1" lang="zh-CN" altLang="en-US" sz="2800" dirty="0">
                <a:latin typeface="宋体" panose="02010600030101010101" pitchFamily="2" charset="-122"/>
              </a:rPr>
              <a:t>地址码的编址可采用两种方式：统一编址或单独编址。  </a:t>
            </a:r>
          </a:p>
          <a:p>
            <a:pPr>
              <a:spcBef>
                <a:spcPct val="50000"/>
              </a:spcBef>
            </a:pPr>
            <a:r>
              <a:rPr kumimoji="1" lang="zh-CN" altLang="en-US" sz="2800" dirty="0">
                <a:latin typeface="宋体" panose="02010600030101010101" pitchFamily="2" charset="-122"/>
              </a:rPr>
              <a:t>    统一编址就是将</a:t>
            </a:r>
            <a:r>
              <a:rPr kumimoji="1" lang="en-US" altLang="zh-CN" sz="2800" dirty="0">
                <a:latin typeface="宋体" panose="02010600030101010101" pitchFamily="2" charset="-122"/>
              </a:rPr>
              <a:t>I/O</a:t>
            </a:r>
            <a:r>
              <a:rPr kumimoji="1" lang="zh-CN" altLang="en-US" sz="2800" dirty="0">
                <a:latin typeface="宋体" panose="02010600030101010101" pitchFamily="2" charset="-122"/>
              </a:rPr>
              <a:t>地址看作是存储器地址的一部分（如</a:t>
            </a:r>
            <a:r>
              <a:rPr kumimoji="1" lang="en-US" altLang="zh-CN" sz="2800" dirty="0">
                <a:latin typeface="宋体" panose="02010600030101010101" pitchFamily="2" charset="-122"/>
              </a:rPr>
              <a:t>64K</a:t>
            </a:r>
            <a:r>
              <a:rPr kumimoji="1" lang="zh-CN" altLang="en-US" sz="2800" dirty="0">
                <a:latin typeface="宋体" panose="02010600030101010101" pitchFamily="2" charset="-122"/>
              </a:rPr>
              <a:t>地址的存储空间中，划出</a:t>
            </a:r>
            <a:r>
              <a:rPr kumimoji="1" lang="en-US" altLang="zh-CN" sz="2800" dirty="0">
                <a:latin typeface="宋体" panose="02010600030101010101" pitchFamily="2" charset="-122"/>
              </a:rPr>
              <a:t>8K</a:t>
            </a:r>
            <a:r>
              <a:rPr kumimoji="1" lang="zh-CN" altLang="en-US" sz="2800" dirty="0">
                <a:latin typeface="宋体" panose="02010600030101010101" pitchFamily="2" charset="-122"/>
              </a:rPr>
              <a:t>地址作为</a:t>
            </a:r>
            <a:r>
              <a:rPr kumimoji="1" lang="en-US" altLang="zh-CN" sz="2800" dirty="0">
                <a:latin typeface="宋体" panose="02010600030101010101" pitchFamily="2" charset="-122"/>
              </a:rPr>
              <a:t>I/O</a:t>
            </a:r>
            <a:r>
              <a:rPr kumimoji="1" lang="zh-CN" altLang="en-US" sz="2800" dirty="0">
                <a:latin typeface="宋体" panose="02010600030101010101" pitchFamily="2" charset="-122"/>
              </a:rPr>
              <a:t>的地址，凡是在这</a:t>
            </a:r>
            <a:r>
              <a:rPr kumimoji="1" lang="en-US" altLang="zh-CN" sz="2800" dirty="0">
                <a:latin typeface="宋体" panose="02010600030101010101" pitchFamily="2" charset="-122"/>
              </a:rPr>
              <a:t>8K</a:t>
            </a:r>
            <a:r>
              <a:rPr kumimoji="1" lang="zh-CN" altLang="en-US" sz="2800" dirty="0">
                <a:latin typeface="宋体" panose="02010600030101010101" pitchFamily="2" charset="-122"/>
              </a:rPr>
              <a:t>地址范围内的访问，就是对</a:t>
            </a:r>
            <a:r>
              <a:rPr kumimoji="1" lang="en-US" altLang="zh-CN" sz="2800" dirty="0">
                <a:latin typeface="宋体" panose="02010600030101010101" pitchFamily="2" charset="-122"/>
              </a:rPr>
              <a:t>I/O</a:t>
            </a:r>
            <a:r>
              <a:rPr kumimoji="1" lang="zh-CN" altLang="en-US" sz="2800" dirty="0">
                <a:latin typeface="宋体" panose="02010600030101010101" pitchFamily="2" charset="-122"/>
              </a:rPr>
              <a:t>的访问），所用的指令与访存指令相似。 </a:t>
            </a:r>
          </a:p>
          <a:p>
            <a:pPr>
              <a:spcBef>
                <a:spcPct val="50000"/>
              </a:spcBef>
            </a:pPr>
            <a:r>
              <a:rPr kumimoji="1" lang="zh-CN" altLang="en-US" sz="2800" dirty="0">
                <a:latin typeface="宋体" panose="02010600030101010101" pitchFamily="2" charset="-122"/>
              </a:rPr>
              <a:t>    单独编址是指</a:t>
            </a:r>
            <a:r>
              <a:rPr kumimoji="1" lang="en-US" altLang="zh-CN" sz="2800" dirty="0">
                <a:latin typeface="宋体" panose="02010600030101010101" pitchFamily="2" charset="-122"/>
              </a:rPr>
              <a:t>I/O</a:t>
            </a:r>
            <a:r>
              <a:rPr kumimoji="1" lang="zh-CN" altLang="en-US" sz="2800" dirty="0">
                <a:latin typeface="宋体" panose="02010600030101010101" pitchFamily="2" charset="-122"/>
              </a:rPr>
              <a:t>地址和存储器地址是分开的，所有对</a:t>
            </a:r>
            <a:r>
              <a:rPr kumimoji="1" lang="en-US" altLang="zh-CN" sz="2800" dirty="0">
                <a:latin typeface="宋体" panose="02010600030101010101" pitchFamily="2" charset="-122"/>
              </a:rPr>
              <a:t>I/O</a:t>
            </a:r>
            <a:r>
              <a:rPr kumimoji="1" lang="zh-CN" altLang="en-US" sz="2800" dirty="0">
                <a:latin typeface="宋体" panose="02010600030101010101" pitchFamily="2" charset="-122"/>
              </a:rPr>
              <a:t>的访问必须有专用的</a:t>
            </a:r>
            <a:r>
              <a:rPr kumimoji="1" lang="en-US" altLang="zh-CN" sz="2800" dirty="0">
                <a:latin typeface="宋体" panose="02010600030101010101" pitchFamily="2" charset="-122"/>
              </a:rPr>
              <a:t>I/O</a:t>
            </a:r>
            <a:r>
              <a:rPr kumimoji="1" lang="zh-CN" altLang="en-US" sz="2800" dirty="0">
                <a:latin typeface="宋体" panose="02010600030101010101" pitchFamily="2" charset="-122"/>
              </a:rPr>
              <a:t>指令。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p:spPr>
        <p:txBody>
          <a:bodyPr/>
          <a:lstStyle/>
          <a:p>
            <a:fld id="{3652B823-22DE-45DD-AB3E-803E23C707E4}" type="slidenum">
              <a:rPr lang="en-US" altLang="zh-CN" smtClean="0"/>
              <a:t>16</a:t>
            </a:fld>
            <a:endParaRPr lang="en-US" altLang="zh-CN"/>
          </a:p>
        </p:txBody>
      </p:sp>
      <p:sp>
        <p:nvSpPr>
          <p:cNvPr id="16387" name="Rectangle 1028"/>
          <p:cNvSpPr>
            <a:spLocks noChangeArrowheads="1"/>
          </p:cNvSpPr>
          <p:nvPr/>
        </p:nvSpPr>
        <p:spPr bwMode="auto">
          <a:xfrm>
            <a:off x="228600" y="304800"/>
            <a:ext cx="7696200" cy="2057400"/>
          </a:xfrm>
          <a:prstGeom prst="rect">
            <a:avLst/>
          </a:prstGeom>
          <a:noFill/>
          <a:ln w="9525">
            <a:noFill/>
            <a:miter lim="800000"/>
          </a:ln>
        </p:spPr>
        <p:txBody>
          <a:bodyPr/>
          <a:lstStyle/>
          <a:p>
            <a:pPr marL="342900" indent="-342900">
              <a:spcBef>
                <a:spcPct val="20000"/>
              </a:spcBef>
              <a:buClr>
                <a:schemeClr val="tx2"/>
              </a:buClr>
              <a:buSzPct val="70000"/>
              <a:buFont typeface="Wingdings" panose="05000000000000000000" pitchFamily="2" charset="2"/>
              <a:buNone/>
            </a:pPr>
            <a:r>
              <a:rPr lang="en-US" altLang="zh-CN" sz="2800">
                <a:latin typeface="宋体" panose="02010600030101010101" pitchFamily="2" charset="-122"/>
              </a:rPr>
              <a:t>2</a:t>
            </a:r>
            <a:r>
              <a:rPr lang="zh-CN" altLang="en-US" sz="2800">
                <a:latin typeface="宋体" panose="02010600030101010101" pitchFamily="2" charset="-122"/>
              </a:rPr>
              <a:t>、输入输出指令</a:t>
            </a:r>
          </a:p>
          <a:p>
            <a:pPr marL="342900" indent="-342900">
              <a:spcBef>
                <a:spcPct val="20000"/>
              </a:spcBef>
              <a:buClr>
                <a:schemeClr val="tx2"/>
              </a:buClr>
              <a:buSzPct val="70000"/>
              <a:buFont typeface="Wingdings" panose="05000000000000000000" pitchFamily="2" charset="2"/>
              <a:buNone/>
            </a:pPr>
            <a:r>
              <a:rPr lang="zh-CN" altLang="en-US" sz="2800" b="1">
                <a:latin typeface="宋体" panose="02010600030101010101" pitchFamily="2" charset="-122"/>
              </a:rPr>
              <a:t>   输入输出指令功能：控制、测试、传送数据</a:t>
            </a:r>
          </a:p>
          <a:p>
            <a:pPr marL="342900" indent="-342900">
              <a:spcBef>
                <a:spcPct val="20000"/>
              </a:spcBef>
              <a:buClr>
                <a:schemeClr val="tx2"/>
              </a:buClr>
              <a:buSzPct val="70000"/>
              <a:buFont typeface="Wingdings" panose="05000000000000000000" pitchFamily="2" charset="2"/>
              <a:buNone/>
            </a:pPr>
            <a:r>
              <a:rPr lang="zh-CN" altLang="en-US" sz="2800">
                <a:latin typeface="宋体" panose="02010600030101010101" pitchFamily="2" charset="-122"/>
              </a:rPr>
              <a:t>      不同的机器，所采用的</a:t>
            </a:r>
            <a:r>
              <a:rPr lang="en-US" altLang="zh-CN" sz="2800">
                <a:latin typeface="宋体" panose="02010600030101010101" pitchFamily="2" charset="-122"/>
              </a:rPr>
              <a:t>I/O</a:t>
            </a:r>
            <a:r>
              <a:rPr lang="zh-CN" altLang="en-US" sz="2800">
                <a:latin typeface="宋体" panose="02010600030101010101" pitchFamily="2" charset="-122"/>
              </a:rPr>
              <a:t>指令格式和操作也不相同，如某机的</a:t>
            </a:r>
            <a:r>
              <a:rPr lang="en-US" altLang="zh-CN" sz="2800">
                <a:latin typeface="宋体" panose="02010600030101010101" pitchFamily="2" charset="-122"/>
              </a:rPr>
              <a:t>I/O</a:t>
            </a:r>
            <a:r>
              <a:rPr lang="zh-CN" altLang="en-US" sz="2800">
                <a:latin typeface="宋体" panose="02010600030101010101" pitchFamily="2" charset="-122"/>
              </a:rPr>
              <a:t>指令格式：</a:t>
            </a:r>
          </a:p>
        </p:txBody>
      </p:sp>
      <p:graphicFrame>
        <p:nvGraphicFramePr>
          <p:cNvPr id="16388" name="Object 1039"/>
          <p:cNvGraphicFramePr>
            <a:graphicFrameLocks noChangeAspect="1"/>
          </p:cNvGraphicFramePr>
          <p:nvPr/>
        </p:nvGraphicFramePr>
        <p:xfrm>
          <a:off x="609600" y="2438400"/>
          <a:ext cx="8077200" cy="4227513"/>
        </p:xfrm>
        <a:graphic>
          <a:graphicData uri="http://schemas.openxmlformats.org/presentationml/2006/ole">
            <mc:AlternateContent xmlns:mc="http://schemas.openxmlformats.org/markup-compatibility/2006">
              <mc:Choice xmlns:v="urn:schemas-microsoft-com:vml" Requires="v">
                <p:oleObj name="位图图像" r:id="rId2" imgW="6753225" imgH="3533775" progId="PBrush">
                  <p:embed/>
                </p:oleObj>
              </mc:Choice>
              <mc:Fallback>
                <p:oleObj name="位图图像" r:id="rId2" imgW="6753225" imgH="3533775" progId="PBrush">
                  <p:embed/>
                  <p:pic>
                    <p:nvPicPr>
                      <p:cNvPr id="0" name="Object 10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438400"/>
                        <a:ext cx="8077200" cy="422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p:spPr>
        <p:txBody>
          <a:bodyPr/>
          <a:lstStyle/>
          <a:p>
            <a:fld id="{265B1498-6625-44E7-B148-F10EE21D3335}" type="slidenum">
              <a:rPr lang="en-US" altLang="zh-CN" smtClean="0"/>
              <a:t>17</a:t>
            </a:fld>
            <a:endParaRPr lang="en-US" altLang="zh-CN"/>
          </a:p>
        </p:txBody>
      </p:sp>
      <p:pic>
        <p:nvPicPr>
          <p:cNvPr id="17411" name="Picture 2"/>
          <p:cNvPicPr>
            <a:picLocks noChangeAspect="1" noChangeArrowheads="1"/>
          </p:cNvPicPr>
          <p:nvPr/>
        </p:nvPicPr>
        <p:blipFill>
          <a:blip r:embed="rId2"/>
          <a:srcRect/>
          <a:stretch>
            <a:fillRect/>
          </a:stretch>
        </p:blipFill>
        <p:spPr bwMode="auto">
          <a:xfrm>
            <a:off x="457200" y="2514600"/>
            <a:ext cx="7086600" cy="3733800"/>
          </a:xfrm>
          <a:prstGeom prst="rect">
            <a:avLst/>
          </a:prstGeom>
          <a:noFill/>
          <a:ln w="9525">
            <a:noFill/>
            <a:miter lim="800000"/>
            <a:headEnd/>
            <a:tailEnd/>
          </a:ln>
        </p:spPr>
      </p:pic>
      <p:sp>
        <p:nvSpPr>
          <p:cNvPr id="17413" name="Rectangle 4"/>
          <p:cNvSpPr>
            <a:spLocks noChangeArrowheads="1"/>
          </p:cNvSpPr>
          <p:nvPr/>
        </p:nvSpPr>
        <p:spPr bwMode="auto">
          <a:xfrm>
            <a:off x="228600" y="304800"/>
            <a:ext cx="7543800" cy="2057400"/>
          </a:xfrm>
          <a:prstGeom prst="rect">
            <a:avLst/>
          </a:prstGeom>
          <a:noFill/>
          <a:ln w="9525">
            <a:noFill/>
            <a:miter lim="800000"/>
          </a:ln>
        </p:spPr>
        <p:txBody>
          <a:bodyPr/>
          <a:lstStyle/>
          <a:p>
            <a:pPr marL="342900" indent="-342900">
              <a:spcBef>
                <a:spcPct val="20000"/>
              </a:spcBef>
              <a:buClr>
                <a:schemeClr val="tx2"/>
              </a:buClr>
              <a:buSzPct val="70000"/>
              <a:buFont typeface="Wingdings" panose="05000000000000000000" pitchFamily="2" charset="2"/>
              <a:buNone/>
            </a:pPr>
            <a:r>
              <a:rPr lang="en-US" altLang="zh-CN" sz="2800" dirty="0">
                <a:latin typeface="宋体" panose="02010600030101010101" pitchFamily="2" charset="-122"/>
              </a:rPr>
              <a:t>3</a:t>
            </a:r>
            <a:r>
              <a:rPr lang="zh-CN" altLang="en-US" sz="2800" dirty="0">
                <a:latin typeface="宋体" panose="02010600030101010101" pitchFamily="2" charset="-122"/>
              </a:rPr>
              <a:t>、程序查询方式的接口</a:t>
            </a:r>
          </a:p>
          <a:p>
            <a:pPr marL="692150" lvl="1" indent="-347980">
              <a:spcBef>
                <a:spcPct val="20000"/>
              </a:spcBef>
              <a:buClr>
                <a:schemeClr val="accent2"/>
              </a:buClr>
              <a:buSzPct val="70000"/>
              <a:buFont typeface="Wingdings" panose="05000000000000000000" pitchFamily="2" charset="2"/>
              <a:buChar char="l"/>
            </a:pPr>
            <a:r>
              <a:rPr lang="zh-CN" altLang="en-US" sz="2800" dirty="0">
                <a:latin typeface="宋体" panose="02010600030101010101" pitchFamily="2" charset="-122"/>
              </a:rPr>
              <a:t>设备选择电路</a:t>
            </a:r>
          </a:p>
          <a:p>
            <a:pPr marL="692150" lvl="1" indent="-347980">
              <a:spcBef>
                <a:spcPct val="20000"/>
              </a:spcBef>
              <a:buClr>
                <a:schemeClr val="accent2"/>
              </a:buClr>
              <a:buSzPct val="70000"/>
              <a:buFont typeface="Wingdings" panose="05000000000000000000" pitchFamily="2" charset="2"/>
              <a:buChar char="l"/>
            </a:pPr>
            <a:r>
              <a:rPr lang="zh-CN" altLang="en-US" sz="2800" dirty="0">
                <a:latin typeface="宋体" panose="02010600030101010101" pitchFamily="2" charset="-122"/>
              </a:rPr>
              <a:t>数据缓冲寄存器</a:t>
            </a:r>
          </a:p>
          <a:p>
            <a:pPr marL="692150" lvl="1" indent="-347980">
              <a:spcBef>
                <a:spcPct val="20000"/>
              </a:spcBef>
              <a:buClr>
                <a:schemeClr val="accent2"/>
              </a:buClr>
              <a:buSzPct val="70000"/>
              <a:buFont typeface="Wingdings" panose="05000000000000000000" pitchFamily="2" charset="2"/>
              <a:buChar char="l"/>
            </a:pPr>
            <a:r>
              <a:rPr lang="zh-CN" altLang="en-US" sz="2800">
                <a:latin typeface="宋体" panose="02010600030101010101" pitchFamily="2" charset="-122"/>
              </a:rPr>
              <a:t>设备状态标志</a:t>
            </a:r>
            <a:endParaRPr lang="zh-CN" altLang="en-US" sz="2800" dirty="0">
              <a:latin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p>
            <a:fld id="{C0B64E5B-2245-4B7C-84D4-21F3DA96E197}" type="slidenum">
              <a:rPr lang="en-US" altLang="zh-CN" smtClean="0"/>
              <a:t>18</a:t>
            </a:fld>
            <a:endParaRPr lang="en-US" altLang="zh-CN"/>
          </a:p>
        </p:txBody>
      </p:sp>
      <p:sp>
        <p:nvSpPr>
          <p:cNvPr id="18435" name="Rectangle 2"/>
          <p:cNvSpPr>
            <a:spLocks noGrp="1" noChangeArrowheads="1"/>
          </p:cNvSpPr>
          <p:nvPr>
            <p:ph type="title"/>
          </p:nvPr>
        </p:nvSpPr>
        <p:spPr>
          <a:xfrm>
            <a:off x="468313" y="188913"/>
            <a:ext cx="7543800" cy="714375"/>
          </a:xfrm>
        </p:spPr>
        <p:txBody>
          <a:bodyPr/>
          <a:lstStyle/>
          <a:p>
            <a:pPr eaLnBrk="1" hangingPunct="1"/>
            <a:r>
              <a:rPr lang="en-US" altLang="zh-CN" sz="2800">
                <a:latin typeface="宋体" panose="02010600030101010101" pitchFamily="2" charset="-122"/>
              </a:rPr>
              <a:t>4</a:t>
            </a:r>
            <a:r>
              <a:rPr lang="zh-CN" altLang="en-US" sz="2800">
                <a:latin typeface="宋体" panose="02010600030101010101" pitchFamily="2" charset="-122"/>
              </a:rPr>
              <a:t>、程序查询输入</a:t>
            </a:r>
            <a:r>
              <a:rPr lang="en-US" altLang="zh-CN" sz="2800">
                <a:latin typeface="宋体" panose="02010600030101010101" pitchFamily="2" charset="-122"/>
              </a:rPr>
              <a:t>/</a:t>
            </a:r>
            <a:r>
              <a:rPr lang="zh-CN" altLang="en-US" sz="2800">
                <a:latin typeface="宋体" panose="02010600030101010101" pitchFamily="2" charset="-122"/>
              </a:rPr>
              <a:t>输出方式</a:t>
            </a:r>
          </a:p>
        </p:txBody>
      </p:sp>
      <p:pic>
        <p:nvPicPr>
          <p:cNvPr id="18436" name="Picture 3" descr="8a3"/>
          <p:cNvPicPr>
            <a:picLocks noChangeAspect="1" noChangeArrowheads="1"/>
          </p:cNvPicPr>
          <p:nvPr/>
        </p:nvPicPr>
        <p:blipFill>
          <a:blip r:embed="rId2"/>
          <a:srcRect/>
          <a:stretch>
            <a:fillRect/>
          </a:stretch>
        </p:blipFill>
        <p:spPr bwMode="auto">
          <a:xfrm>
            <a:off x="539750" y="1125538"/>
            <a:ext cx="7200900" cy="53340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p>
            <a:fld id="{B8276DF8-89E8-4E32-B368-9A3667B9B085}" type="slidenum">
              <a:rPr lang="en-US" altLang="zh-CN" smtClean="0"/>
              <a:t>19</a:t>
            </a:fld>
            <a:endParaRPr lang="en-US" altLang="zh-CN"/>
          </a:p>
        </p:txBody>
      </p:sp>
      <p:sp>
        <p:nvSpPr>
          <p:cNvPr id="19459" name="Rectangle 2"/>
          <p:cNvSpPr>
            <a:spLocks noGrp="1" noChangeArrowheads="1"/>
          </p:cNvSpPr>
          <p:nvPr>
            <p:ph type="title"/>
          </p:nvPr>
        </p:nvSpPr>
        <p:spPr>
          <a:xfrm>
            <a:off x="395288" y="188913"/>
            <a:ext cx="7543800" cy="725487"/>
          </a:xfrm>
        </p:spPr>
        <p:txBody>
          <a:bodyPr/>
          <a:lstStyle/>
          <a:p>
            <a:pPr eaLnBrk="1" hangingPunct="1"/>
            <a:r>
              <a:rPr lang="en-US" altLang="zh-CN">
                <a:cs typeface="Times New Roman" panose="02020603050405020304" charset="0"/>
              </a:rPr>
              <a:t>8.3 </a:t>
            </a:r>
            <a:r>
              <a:rPr lang="zh-CN" altLang="en-US"/>
              <a:t>程序中断方式</a:t>
            </a:r>
          </a:p>
        </p:txBody>
      </p:sp>
      <p:sp>
        <p:nvSpPr>
          <p:cNvPr id="19460" name="Rectangle 6"/>
          <p:cNvSpPr>
            <a:spLocks noGrp="1" noChangeArrowheads="1"/>
          </p:cNvSpPr>
          <p:nvPr>
            <p:ph type="body" idx="1"/>
          </p:nvPr>
        </p:nvSpPr>
        <p:spPr>
          <a:xfrm>
            <a:off x="395288" y="908050"/>
            <a:ext cx="7705725" cy="3313113"/>
          </a:xfrm>
          <a:noFill/>
        </p:spPr>
        <p:txBody>
          <a:bodyPr/>
          <a:lstStyle/>
          <a:p>
            <a:pPr eaLnBrk="1" hangingPunct="1">
              <a:buFont typeface="Wingdings" panose="05000000000000000000" pitchFamily="2" charset="2"/>
              <a:buNone/>
            </a:pPr>
            <a:r>
              <a:rPr lang="en-US" altLang="zh-CN" sz="3200">
                <a:latin typeface="宋体" panose="02010600030101010101" pitchFamily="2" charset="-122"/>
              </a:rPr>
              <a:t>8.3.1</a:t>
            </a:r>
            <a:r>
              <a:rPr lang="zh-CN" altLang="en-US" sz="3200">
                <a:latin typeface="宋体" panose="02010600030101010101" pitchFamily="2" charset="-122"/>
              </a:rPr>
              <a:t>中断的概念  </a:t>
            </a:r>
          </a:p>
          <a:p>
            <a:pPr eaLnBrk="1" hangingPunct="1"/>
            <a:r>
              <a:rPr lang="zh-CN" altLang="en-US" sz="2800">
                <a:latin typeface="宋体" panose="02010600030101010101" pitchFamily="2" charset="-122"/>
              </a:rPr>
              <a:t> 中断（</a:t>
            </a:r>
            <a:r>
              <a:rPr lang="en-US" altLang="zh-CN" sz="2800">
                <a:latin typeface="宋体" panose="02010600030101010101" pitchFamily="2" charset="-122"/>
              </a:rPr>
              <a:t>Interrupt</a:t>
            </a:r>
            <a:r>
              <a:rPr lang="zh-CN" altLang="en-US" sz="2800">
                <a:latin typeface="宋体" panose="02010600030101010101" pitchFamily="2" charset="-122"/>
              </a:rPr>
              <a:t>）是指</a:t>
            </a:r>
            <a:r>
              <a:rPr lang="en-US" altLang="zh-CN" sz="2800">
                <a:latin typeface="宋体" panose="02010600030101010101" pitchFamily="2" charset="-122"/>
              </a:rPr>
              <a:t>CPU</a:t>
            </a:r>
            <a:r>
              <a:rPr lang="zh-CN" altLang="en-US" sz="2800">
                <a:latin typeface="宋体" panose="02010600030101010101" pitchFamily="2" charset="-122"/>
              </a:rPr>
              <a:t>暂时中止现行程序，转去处理随机发生的紧急事件，处理完后自动返回原程序的技术。中断系统是计算机实现中断功能的软硬件总称。一般在</a:t>
            </a:r>
            <a:r>
              <a:rPr lang="en-US" altLang="zh-CN" sz="2800">
                <a:latin typeface="宋体" panose="02010600030101010101" pitchFamily="2" charset="-122"/>
              </a:rPr>
              <a:t>CPU</a:t>
            </a:r>
            <a:r>
              <a:rPr lang="zh-CN" altLang="en-US" sz="2800">
                <a:latin typeface="宋体" panose="02010600030101010101" pitchFamily="2" charset="-122"/>
              </a:rPr>
              <a:t>中设置中断机构，在外设接口中设置中断控制器，在软件上设置相应的中断服务程序。</a:t>
            </a:r>
          </a:p>
        </p:txBody>
      </p:sp>
      <p:pic>
        <p:nvPicPr>
          <p:cNvPr id="19461" name="Picture 7" descr="8a4"/>
          <p:cNvPicPr>
            <a:picLocks noChangeAspect="1" noChangeArrowheads="1"/>
          </p:cNvPicPr>
          <p:nvPr/>
        </p:nvPicPr>
        <p:blipFill>
          <a:blip r:embed="rId2"/>
          <a:srcRect/>
          <a:stretch>
            <a:fillRect/>
          </a:stretch>
        </p:blipFill>
        <p:spPr bwMode="auto">
          <a:xfrm>
            <a:off x="827088" y="4221163"/>
            <a:ext cx="7273925" cy="2146300"/>
          </a:xfrm>
          <a:prstGeom prst="rect">
            <a:avLst/>
          </a:prstGeom>
          <a:noFill/>
          <a:ln w="9525">
            <a:noFill/>
            <a:miter lim="800000"/>
            <a:headEnd/>
            <a:tailEnd/>
          </a:ln>
        </p:spPr>
      </p:pic>
      <p:sp>
        <p:nvSpPr>
          <p:cNvPr id="10248" name="Rectangle 8"/>
          <p:cNvSpPr>
            <a:spLocks noChangeArrowheads="1"/>
          </p:cNvSpPr>
          <p:nvPr/>
        </p:nvSpPr>
        <p:spPr bwMode="auto">
          <a:xfrm>
            <a:off x="467360" y="3068955"/>
            <a:ext cx="8135938" cy="3081338"/>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800">
                <a:latin typeface="宋体" panose="02010600030101010101" pitchFamily="2" charset="-122"/>
              </a:rPr>
              <a:t>    </a:t>
            </a:r>
            <a:r>
              <a:rPr lang="zh-CN" altLang="en-US" sz="2800">
                <a:latin typeface="宋体" panose="02010600030101010101" pitchFamily="2" charset="-122"/>
              </a:rPr>
              <a:t>主程序只是在设备</a:t>
            </a:r>
            <a:r>
              <a:rPr lang="en-US" altLang="zh-CN" sz="2800">
                <a:latin typeface="宋体" panose="02010600030101010101" pitchFamily="2" charset="-122"/>
              </a:rPr>
              <a:t>A</a:t>
            </a:r>
            <a:r>
              <a:rPr lang="zh-CN" altLang="en-US" sz="2800">
                <a:latin typeface="宋体" panose="02010600030101010101" pitchFamily="2" charset="-122"/>
              </a:rPr>
              <a:t>，</a:t>
            </a:r>
            <a:r>
              <a:rPr lang="en-US" altLang="zh-CN" sz="2800">
                <a:latin typeface="宋体" panose="02010600030101010101" pitchFamily="2" charset="-122"/>
              </a:rPr>
              <a:t>B</a:t>
            </a:r>
            <a:r>
              <a:rPr lang="zh-CN" altLang="en-US" sz="2800">
                <a:latin typeface="宋体" panose="02010600030101010101" pitchFamily="2" charset="-122"/>
              </a:rPr>
              <a:t>，</a:t>
            </a:r>
            <a:r>
              <a:rPr lang="en-US" altLang="zh-CN" sz="2800">
                <a:latin typeface="宋体" panose="02010600030101010101" pitchFamily="2" charset="-122"/>
              </a:rPr>
              <a:t>C</a:t>
            </a:r>
            <a:r>
              <a:rPr lang="zh-CN" altLang="en-US" sz="2800">
                <a:latin typeface="宋体" panose="02010600030101010101" pitchFamily="2" charset="-122"/>
              </a:rPr>
              <a:t>数据准备就绪时，才去处理</a:t>
            </a:r>
            <a:r>
              <a:rPr lang="en-US" altLang="zh-CN" sz="2800">
                <a:latin typeface="宋体" panose="02010600030101010101" pitchFamily="2" charset="-122"/>
              </a:rPr>
              <a:t>A</a:t>
            </a:r>
            <a:r>
              <a:rPr lang="zh-CN" altLang="en-US" sz="2800">
                <a:latin typeface="宋体" panose="02010600030101010101" pitchFamily="2" charset="-122"/>
              </a:rPr>
              <a:t>，</a:t>
            </a:r>
            <a:r>
              <a:rPr lang="en-US" altLang="zh-CN" sz="2800">
                <a:latin typeface="宋体" panose="02010600030101010101" pitchFamily="2" charset="-122"/>
              </a:rPr>
              <a:t>B </a:t>
            </a:r>
            <a:r>
              <a:rPr lang="zh-CN" altLang="en-US" sz="2800">
                <a:latin typeface="宋体" panose="02010600030101010101" pitchFamily="2" charset="-122"/>
              </a:rPr>
              <a:t>，</a:t>
            </a:r>
            <a:r>
              <a:rPr lang="en-US" altLang="zh-CN" sz="2800">
                <a:latin typeface="宋体" panose="02010600030101010101" pitchFamily="2" charset="-122"/>
              </a:rPr>
              <a:t>C</a:t>
            </a:r>
            <a:r>
              <a:rPr lang="zh-CN" altLang="en-US" sz="2800">
                <a:latin typeface="宋体" panose="02010600030101010101" pitchFamily="2" charset="-122"/>
              </a:rPr>
              <a:t>，进行数据交换。在速度较慢的外围设备准备自己的数据时，</a:t>
            </a:r>
            <a:r>
              <a:rPr lang="en-US" altLang="zh-CN" sz="2800">
                <a:latin typeface="宋体" panose="02010600030101010101" pitchFamily="2" charset="-122"/>
              </a:rPr>
              <a:t>CPU</a:t>
            </a:r>
            <a:r>
              <a:rPr lang="zh-CN" altLang="en-US" sz="2800">
                <a:latin typeface="宋体" panose="02010600030101010101" pitchFamily="2" charset="-122"/>
              </a:rPr>
              <a:t>照常执行自己的主程序 。在这个意义上说，</a:t>
            </a:r>
            <a:r>
              <a:rPr lang="en-US" altLang="zh-CN" sz="2800">
                <a:latin typeface="宋体" panose="02010600030101010101" pitchFamily="2" charset="-122"/>
              </a:rPr>
              <a:t>CPU</a:t>
            </a:r>
            <a:r>
              <a:rPr lang="zh-CN" altLang="en-US" sz="2800">
                <a:latin typeface="宋体" panose="02010600030101010101" pitchFamily="2" charset="-122"/>
              </a:rPr>
              <a:t>和外围设备的一些操作是并行地进行的，因而同串行进行的程序查询方式相比，计算机系统的效率大大提高了。</a:t>
            </a:r>
          </a:p>
          <a:p>
            <a:pPr eaLnBrk="0" hangingPunct="0"/>
            <a:r>
              <a:rPr lang="zh-CN" altLang="en-US" sz="2800">
                <a:latin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48"/>
                                        </p:tgtEl>
                                        <p:attrNameLst>
                                          <p:attrName>style.visibility</p:attrName>
                                        </p:attrNameLst>
                                      </p:cBhvr>
                                      <p:to>
                                        <p:strVal val="visible"/>
                                      </p:to>
                                    </p:set>
                                    <p:animEffect transition="in" filter="dissolve">
                                      <p:cBhvr>
                                        <p:cTn id="7" dur="500"/>
                                        <p:tgtEl>
                                          <p:spTgt spid="10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p>
            <a:fld id="{ABEE48C3-90F7-4185-9A7E-91D9DF487860}" type="slidenum">
              <a:rPr lang="en-US" altLang="zh-CN" smtClean="0"/>
              <a:t>20</a:t>
            </a:fld>
            <a:endParaRPr lang="en-US" altLang="zh-CN"/>
          </a:p>
        </p:txBody>
      </p:sp>
      <p:sp>
        <p:nvSpPr>
          <p:cNvPr id="20483" name="Rectangle 3"/>
          <p:cNvSpPr>
            <a:spLocks noGrp="1" noChangeArrowheads="1"/>
          </p:cNvSpPr>
          <p:nvPr>
            <p:ph type="body" idx="1"/>
          </p:nvPr>
        </p:nvSpPr>
        <p:spPr>
          <a:xfrm>
            <a:off x="250825" y="208350"/>
            <a:ext cx="8640763" cy="6526213"/>
          </a:xfrm>
        </p:spPr>
        <p:txBody>
          <a:bodyPr/>
          <a:lstStyle/>
          <a:p>
            <a:pPr eaLnBrk="1" hangingPunct="1">
              <a:lnSpc>
                <a:spcPct val="110000"/>
              </a:lnSpc>
              <a:spcBef>
                <a:spcPts val="0"/>
              </a:spcBef>
            </a:pPr>
            <a:r>
              <a:rPr lang="zh-CN" altLang="en-US" sz="2400" dirty="0">
                <a:latin typeface="宋体" panose="02010600030101010101" pitchFamily="2" charset="-122"/>
              </a:rPr>
              <a:t>中断系统的典型应用包括：</a:t>
            </a:r>
          </a:p>
          <a:p>
            <a:pPr lvl="1" eaLnBrk="1" hangingPunct="1">
              <a:lnSpc>
                <a:spcPct val="110000"/>
              </a:lnSpc>
              <a:spcBef>
                <a:spcPts val="0"/>
              </a:spcBef>
              <a:buFont typeface="Wingdings" panose="05000000000000000000" pitchFamily="2" charset="2"/>
              <a:buNone/>
            </a:pPr>
            <a:r>
              <a:rPr lang="en-US" altLang="zh-CN" sz="2400" dirty="0">
                <a:latin typeface="宋体" panose="02010600030101010101" pitchFamily="2" charset="-122"/>
              </a:rPr>
              <a:t>(1)</a:t>
            </a:r>
            <a:r>
              <a:rPr lang="zh-CN" altLang="en-US" sz="2400" dirty="0">
                <a:latin typeface="宋体" panose="02010600030101010101" pitchFamily="2" charset="-122"/>
              </a:rPr>
              <a:t>实现</a:t>
            </a:r>
            <a:r>
              <a:rPr lang="en-US" altLang="zh-CN" sz="2400" dirty="0">
                <a:latin typeface="宋体" panose="02010600030101010101" pitchFamily="2" charset="-122"/>
              </a:rPr>
              <a:t>CPU</a:t>
            </a:r>
            <a:r>
              <a:rPr lang="zh-CN" altLang="en-US" sz="2400" dirty="0">
                <a:latin typeface="宋体" panose="02010600030101010101" pitchFamily="2" charset="-122"/>
              </a:rPr>
              <a:t>与外界进行信息交换的握手联络； </a:t>
            </a:r>
          </a:p>
          <a:p>
            <a:pPr lvl="1" eaLnBrk="1" hangingPunct="1">
              <a:lnSpc>
                <a:spcPct val="110000"/>
              </a:lnSpc>
              <a:spcBef>
                <a:spcPts val="0"/>
              </a:spcBef>
              <a:buNone/>
            </a:pPr>
            <a:r>
              <a:rPr lang="en-US" altLang="zh-CN" sz="2400" dirty="0">
                <a:latin typeface="宋体" panose="02010600030101010101" pitchFamily="2" charset="-122"/>
              </a:rPr>
              <a:t>(2)</a:t>
            </a:r>
            <a:r>
              <a:rPr lang="zh-CN" altLang="en-US" sz="2400" dirty="0">
                <a:latin typeface="宋体" panose="02010600030101010101" pitchFamily="2" charset="-122"/>
              </a:rPr>
              <a:t>故障处理；</a:t>
            </a:r>
          </a:p>
          <a:p>
            <a:pPr lvl="1" eaLnBrk="1" hangingPunct="1">
              <a:lnSpc>
                <a:spcPct val="110000"/>
              </a:lnSpc>
              <a:spcBef>
                <a:spcPts val="0"/>
              </a:spcBef>
              <a:buFont typeface="Wingdings" panose="05000000000000000000" pitchFamily="2" charset="2"/>
              <a:buNone/>
            </a:pPr>
            <a:r>
              <a:rPr lang="en-US" altLang="zh-CN" sz="2400" dirty="0">
                <a:latin typeface="宋体" panose="02010600030101010101" pitchFamily="2" charset="-122"/>
              </a:rPr>
              <a:t>(3)</a:t>
            </a:r>
            <a:r>
              <a:rPr lang="zh-CN" altLang="en-US" sz="2400" dirty="0">
                <a:latin typeface="宋体" panose="02010600030101010101" pitchFamily="2" charset="-122"/>
              </a:rPr>
              <a:t>实时处理；</a:t>
            </a:r>
          </a:p>
          <a:p>
            <a:pPr lvl="1" eaLnBrk="1" hangingPunct="1">
              <a:lnSpc>
                <a:spcPct val="110000"/>
              </a:lnSpc>
              <a:spcBef>
                <a:spcPts val="0"/>
              </a:spcBef>
              <a:buNone/>
            </a:pPr>
            <a:r>
              <a:rPr lang="en-US" altLang="zh-CN" sz="2400" dirty="0">
                <a:latin typeface="宋体" panose="02010600030101010101" pitchFamily="2" charset="-122"/>
              </a:rPr>
              <a:t>(4)</a:t>
            </a:r>
            <a:r>
              <a:rPr lang="zh-CN" altLang="en-US" sz="2400" dirty="0">
                <a:latin typeface="宋体" panose="02010600030101010101" pitchFamily="2" charset="-122"/>
              </a:rPr>
              <a:t>程序调度； </a:t>
            </a:r>
          </a:p>
          <a:p>
            <a:pPr lvl="1" eaLnBrk="1" hangingPunct="1">
              <a:lnSpc>
                <a:spcPct val="110000"/>
              </a:lnSpc>
              <a:spcBef>
                <a:spcPts val="0"/>
              </a:spcBef>
              <a:buFont typeface="Wingdings" panose="05000000000000000000" pitchFamily="2" charset="2"/>
              <a:buNone/>
            </a:pPr>
            <a:r>
              <a:rPr lang="en-US" altLang="zh-CN" sz="2400" dirty="0">
                <a:latin typeface="宋体" panose="02010600030101010101" pitchFamily="2" charset="-122"/>
              </a:rPr>
              <a:t>(5)</a:t>
            </a:r>
            <a:r>
              <a:rPr lang="zh-CN" altLang="en-US" sz="2400" dirty="0">
                <a:latin typeface="宋体" panose="02010600030101010101" pitchFamily="2" charset="-122"/>
              </a:rPr>
              <a:t>软中断（程序自愿中断）。</a:t>
            </a:r>
          </a:p>
          <a:p>
            <a:pPr eaLnBrk="1" hangingPunct="1">
              <a:lnSpc>
                <a:spcPct val="110000"/>
              </a:lnSpc>
              <a:spcBef>
                <a:spcPts val="0"/>
              </a:spcBef>
            </a:pPr>
            <a:r>
              <a:rPr lang="zh-CN" altLang="en-US" sz="2400" dirty="0">
                <a:latin typeface="宋体" panose="02010600030101010101" pitchFamily="2" charset="-122"/>
              </a:rPr>
              <a:t>中断源：能够向</a:t>
            </a:r>
            <a:r>
              <a:rPr lang="en-US" altLang="zh-CN" sz="2400" dirty="0">
                <a:latin typeface="宋体" panose="02010600030101010101" pitchFamily="2" charset="-122"/>
              </a:rPr>
              <a:t>CPU</a:t>
            </a:r>
            <a:r>
              <a:rPr lang="zh-CN" altLang="en-US" sz="2400" dirty="0">
                <a:latin typeface="宋体" panose="02010600030101010101" pitchFamily="2" charset="-122"/>
              </a:rPr>
              <a:t>发出中断请求的事件</a:t>
            </a:r>
            <a:r>
              <a:rPr lang="en-US" altLang="zh-CN" sz="2400" dirty="0">
                <a:latin typeface="宋体" panose="02010600030101010101" pitchFamily="2" charset="-122"/>
              </a:rPr>
              <a:t>,</a:t>
            </a:r>
            <a:r>
              <a:rPr lang="zh-CN" altLang="en-US" sz="2400" dirty="0">
                <a:latin typeface="宋体" panose="02010600030101010101" pitchFamily="2" charset="-122"/>
              </a:rPr>
              <a:t>常见中断源有：</a:t>
            </a:r>
          </a:p>
          <a:p>
            <a:pPr lvl="1" eaLnBrk="1" hangingPunct="1">
              <a:lnSpc>
                <a:spcPct val="110000"/>
              </a:lnSpc>
              <a:spcBef>
                <a:spcPts val="0"/>
              </a:spcBef>
            </a:pPr>
            <a:r>
              <a:rPr lang="zh-CN" altLang="en-US" sz="2400" dirty="0">
                <a:latin typeface="宋体" panose="02010600030101010101" pitchFamily="2" charset="-122"/>
              </a:rPr>
              <a:t>输入、输出设备中断。如键盘、打印机等工作过程中已做好接收或发送准备。</a:t>
            </a:r>
          </a:p>
          <a:p>
            <a:pPr lvl="1" eaLnBrk="1" hangingPunct="1">
              <a:lnSpc>
                <a:spcPct val="110000"/>
              </a:lnSpc>
              <a:spcBef>
                <a:spcPts val="0"/>
              </a:spcBef>
            </a:pPr>
            <a:r>
              <a:rPr lang="zh-CN" altLang="en-US" sz="2400" dirty="0">
                <a:latin typeface="宋体" panose="02010600030101010101" pitchFamily="2" charset="-122"/>
              </a:rPr>
              <a:t>数据通道中断。如磁盘、磁带等要同主机进行数据交换等。</a:t>
            </a:r>
          </a:p>
          <a:p>
            <a:pPr lvl="1" eaLnBrk="1" hangingPunct="1">
              <a:lnSpc>
                <a:spcPct val="110000"/>
              </a:lnSpc>
              <a:spcBef>
                <a:spcPts val="0"/>
              </a:spcBef>
            </a:pPr>
            <a:r>
              <a:rPr lang="zh-CN" altLang="en-US" sz="2400" dirty="0">
                <a:latin typeface="宋体" panose="02010600030101010101" pitchFamily="2" charset="-122"/>
              </a:rPr>
              <a:t>实时时钟中断。</a:t>
            </a:r>
          </a:p>
          <a:p>
            <a:pPr lvl="1" eaLnBrk="1" hangingPunct="1">
              <a:lnSpc>
                <a:spcPct val="110000"/>
              </a:lnSpc>
              <a:spcBef>
                <a:spcPts val="0"/>
              </a:spcBef>
            </a:pPr>
            <a:r>
              <a:rPr lang="zh-CN" altLang="en-US" sz="2400" dirty="0">
                <a:latin typeface="宋体" panose="02010600030101010101" pitchFamily="2" charset="-122"/>
              </a:rPr>
              <a:t>故障中断。例如电源掉电、设备故障等要求</a:t>
            </a:r>
            <a:r>
              <a:rPr lang="en-US" altLang="zh-CN" sz="2400" dirty="0">
                <a:latin typeface="宋体" panose="02010600030101010101" pitchFamily="2" charset="-122"/>
              </a:rPr>
              <a:t>CPU</a:t>
            </a:r>
            <a:r>
              <a:rPr lang="zh-CN" altLang="en-US" sz="2400" dirty="0">
                <a:latin typeface="宋体" panose="02010600030101010101" pitchFamily="2" charset="-122"/>
              </a:rPr>
              <a:t>进行紧急处理等。</a:t>
            </a:r>
          </a:p>
          <a:p>
            <a:pPr lvl="1" eaLnBrk="1" hangingPunct="1">
              <a:lnSpc>
                <a:spcPct val="110000"/>
              </a:lnSpc>
              <a:spcBef>
                <a:spcPts val="0"/>
              </a:spcBef>
            </a:pPr>
            <a:r>
              <a:rPr lang="zh-CN" altLang="en-US" sz="2400" dirty="0">
                <a:latin typeface="宋体" panose="02010600030101010101" pitchFamily="2" charset="-122"/>
              </a:rPr>
              <a:t>系统中断。如运算过程出现溢出、数据格式非法，数据传送过程出现校验错，控制器遇到非法指令等等。</a:t>
            </a:r>
          </a:p>
          <a:p>
            <a:pPr lvl="1" eaLnBrk="1" hangingPunct="1">
              <a:lnSpc>
                <a:spcPct val="110000"/>
              </a:lnSpc>
              <a:spcBef>
                <a:spcPts val="0"/>
              </a:spcBef>
            </a:pPr>
            <a:r>
              <a:rPr lang="zh-CN" altLang="en-US" sz="2400" dirty="0">
                <a:latin typeface="宋体" panose="02010600030101010101" pitchFamily="2" charset="-122"/>
              </a:rPr>
              <a:t>为了调试程序而设置的中断。</a:t>
            </a:r>
          </a:p>
        </p:txBody>
      </p:sp>
      <p:sp>
        <p:nvSpPr>
          <p:cNvPr id="20484" name="Rectangle 5"/>
          <p:cNvSpPr>
            <a:spLocks noChangeArrowheads="1"/>
          </p:cNvSpPr>
          <p:nvPr/>
        </p:nvSpPr>
        <p:spPr bwMode="auto">
          <a:xfrm>
            <a:off x="1692275" y="4868863"/>
            <a:ext cx="7626350" cy="4876800"/>
          </a:xfrm>
          <a:prstGeom prst="rect">
            <a:avLst/>
          </a:prstGeom>
          <a:noFill/>
          <a:ln w="9525">
            <a:noFill/>
            <a:miter lim="800000"/>
          </a:ln>
        </p:spPr>
        <p:txBody>
          <a:bodyPr/>
          <a:lstStyle/>
          <a:p>
            <a:pPr marL="1281430" lvl="3" indent="-292100">
              <a:spcBef>
                <a:spcPct val="20000"/>
              </a:spcBef>
              <a:buClr>
                <a:schemeClr val="tx2"/>
              </a:buClr>
              <a:buSzPct val="75000"/>
              <a:buFont typeface="Wingdings" panose="05000000000000000000" pitchFamily="2" charset="2"/>
              <a:buChar char="§"/>
            </a:pPr>
            <a:endParaRPr lang="zh-CN"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p>
            <a:fld id="{D7F03297-891C-4FDB-8BF6-44C735E52436}" type="slidenum">
              <a:rPr lang="en-US" altLang="zh-CN" smtClean="0"/>
              <a:t>21</a:t>
            </a:fld>
            <a:endParaRPr lang="en-US" altLang="zh-CN"/>
          </a:p>
        </p:txBody>
      </p:sp>
      <p:pic>
        <p:nvPicPr>
          <p:cNvPr id="21507" name="Picture 7" descr="8a5"/>
          <p:cNvPicPr>
            <a:picLocks noChangeAspect="1" noChangeArrowheads="1"/>
          </p:cNvPicPr>
          <p:nvPr/>
        </p:nvPicPr>
        <p:blipFill>
          <a:blip r:embed="rId2"/>
          <a:srcRect/>
          <a:stretch>
            <a:fillRect/>
          </a:stretch>
        </p:blipFill>
        <p:spPr bwMode="auto">
          <a:xfrm>
            <a:off x="684213" y="1125538"/>
            <a:ext cx="6767512" cy="4837112"/>
          </a:xfrm>
          <a:prstGeom prst="rect">
            <a:avLst/>
          </a:prstGeom>
          <a:noFill/>
          <a:ln w="9525">
            <a:noFill/>
            <a:miter lim="800000"/>
            <a:headEnd/>
            <a:tailEnd/>
          </a:ln>
        </p:spPr>
      </p:pic>
      <p:sp>
        <p:nvSpPr>
          <p:cNvPr id="21508" name="Rectangle 9"/>
          <p:cNvSpPr>
            <a:spLocks noChangeArrowheads="1"/>
          </p:cNvSpPr>
          <p:nvPr/>
        </p:nvSpPr>
        <p:spPr bwMode="auto">
          <a:xfrm>
            <a:off x="771525" y="258763"/>
            <a:ext cx="4514850" cy="519112"/>
          </a:xfrm>
          <a:prstGeom prst="rect">
            <a:avLst/>
          </a:prstGeom>
          <a:noFill/>
          <a:ln w="12700">
            <a:noFill/>
            <a:miter lim="800000"/>
            <a:headEnd type="none" w="sm" len="sm"/>
            <a:tailEnd type="none" w="sm" len="sm"/>
          </a:ln>
        </p:spPr>
        <p:txBody>
          <a:bodyPr wrap="none" anchor="ctr">
            <a:spAutoFit/>
          </a:bodyPr>
          <a:lstStyle/>
          <a:p>
            <a:pPr eaLnBrk="0" hangingPunct="0"/>
            <a:r>
              <a:rPr lang="zh-CN" altLang="en-US" sz="2800"/>
              <a:t>中断处理过程的详细流程图</a:t>
            </a:r>
            <a:r>
              <a:rPr lang="zh-CN" altLang="en-US"/>
              <a:t> </a:t>
            </a:r>
          </a:p>
        </p:txBody>
      </p:sp>
      <p:sp>
        <p:nvSpPr>
          <p:cNvPr id="11276" name="Rectangle 12"/>
          <p:cNvSpPr>
            <a:spLocks noChangeArrowheads="1"/>
          </p:cNvSpPr>
          <p:nvPr/>
        </p:nvSpPr>
        <p:spPr bwMode="auto">
          <a:xfrm>
            <a:off x="152400" y="3657600"/>
            <a:ext cx="8569325" cy="2282825"/>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b="1">
                <a:latin typeface="宋体" panose="02010600030101010101" pitchFamily="2" charset="-122"/>
              </a:rPr>
              <a:t>    (1)</a:t>
            </a:r>
            <a:r>
              <a:rPr lang="en-US" altLang="zh-CN" sz="2400">
                <a:latin typeface="宋体" panose="02010600030101010101" pitchFamily="2" charset="-122"/>
              </a:rPr>
              <a:t> </a:t>
            </a:r>
            <a:r>
              <a:rPr lang="zh-CN" altLang="en-US" sz="2400">
                <a:latin typeface="宋体" panose="02010600030101010101" pitchFamily="2" charset="-122"/>
              </a:rPr>
              <a:t>尽管外界中断请求是随机的，但</a:t>
            </a:r>
            <a:r>
              <a:rPr lang="en-US" altLang="zh-CN" sz="2400">
                <a:latin typeface="宋体" panose="02010600030101010101" pitchFamily="2" charset="-122"/>
              </a:rPr>
              <a:t>CPU</a:t>
            </a:r>
            <a:r>
              <a:rPr lang="zh-CN" altLang="en-US" sz="2400">
                <a:latin typeface="宋体" panose="02010600030101010101" pitchFamily="2" charset="-122"/>
              </a:rPr>
              <a:t>只有在当前一条指令执行完毕后，即转入公操作时才受理设备的中断请求，这样才不致于使当前指令的执行受到干扰。</a:t>
            </a:r>
            <a:r>
              <a:rPr lang="zh-CN" altLang="en-US" sz="2400" b="1">
                <a:latin typeface="宋体" panose="02010600030101010101" pitchFamily="2" charset="-122"/>
              </a:rPr>
              <a:t>公操作</a:t>
            </a:r>
            <a:r>
              <a:rPr lang="zh-CN" altLang="en-US" sz="2400">
                <a:latin typeface="宋体" panose="02010600030101010101" pitchFamily="2" charset="-122"/>
              </a:rPr>
              <a:t>是指一条指令执行结束后</a:t>
            </a:r>
            <a:r>
              <a:rPr lang="en-US" altLang="zh-CN" sz="2400">
                <a:latin typeface="宋体" panose="02010600030101010101" pitchFamily="2" charset="-122"/>
              </a:rPr>
              <a:t>CPU</a:t>
            </a:r>
            <a:r>
              <a:rPr lang="zh-CN" altLang="en-US" sz="2400">
                <a:latin typeface="宋体" panose="02010600030101010101" pitchFamily="2" charset="-122"/>
              </a:rPr>
              <a:t>所进行的操作，如中断处理、直接内存传送、取下条指令等 。若有中断请求信号，则</a:t>
            </a:r>
            <a:r>
              <a:rPr lang="en-US" altLang="zh-CN" sz="2400">
                <a:latin typeface="宋体" panose="02010600030101010101" pitchFamily="2" charset="-122"/>
              </a:rPr>
              <a:t>CPU</a:t>
            </a:r>
            <a:r>
              <a:rPr lang="zh-CN" altLang="en-US" sz="2400">
                <a:latin typeface="宋体" panose="02010600030101010101" pitchFamily="2" charset="-122"/>
              </a:rPr>
              <a:t>转入“中断周期”，受理外界中断。</a:t>
            </a:r>
          </a:p>
        </p:txBody>
      </p:sp>
      <p:sp>
        <p:nvSpPr>
          <p:cNvPr id="2" name="椭圆 1"/>
          <p:cNvSpPr/>
          <p:nvPr/>
        </p:nvSpPr>
        <p:spPr bwMode="auto">
          <a:xfrm>
            <a:off x="3347864" y="2348880"/>
            <a:ext cx="1368152" cy="576064"/>
          </a:xfrm>
          <a:prstGeom prst="ellipse">
            <a:avLst/>
          </a:prstGeom>
          <a:solidFill>
            <a:schemeClr val="accent1">
              <a:alpha val="0"/>
            </a:schemeClr>
          </a:solidFill>
          <a:ln w="38100" cap="flat"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76"/>
                                        </p:tgtEl>
                                        <p:attrNameLst>
                                          <p:attrName>style.visibility</p:attrName>
                                        </p:attrNameLst>
                                      </p:cBhvr>
                                      <p:to>
                                        <p:strVal val="visible"/>
                                      </p:to>
                                    </p:set>
                                    <p:animEffect transition="in" filter="dissolve">
                                      <p:cBhvr>
                                        <p:cTn id="7" dur="500"/>
                                        <p:tgtEl>
                                          <p:spTgt spid="1127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6" grpId="0" animBg="1" autoUpdateAnimBg="0"/>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p>
            <a:fld id="{D7F03297-891C-4FDB-8BF6-44C735E52436}" type="slidenum">
              <a:rPr lang="en-US" altLang="zh-CN" smtClean="0"/>
              <a:t>22</a:t>
            </a:fld>
            <a:endParaRPr lang="en-US" altLang="zh-CN"/>
          </a:p>
        </p:txBody>
      </p:sp>
      <p:pic>
        <p:nvPicPr>
          <p:cNvPr id="21507" name="Picture 7" descr="8a5"/>
          <p:cNvPicPr>
            <a:picLocks noChangeAspect="1" noChangeArrowheads="1"/>
          </p:cNvPicPr>
          <p:nvPr/>
        </p:nvPicPr>
        <p:blipFill>
          <a:blip r:embed="rId2"/>
          <a:srcRect/>
          <a:stretch>
            <a:fillRect/>
          </a:stretch>
        </p:blipFill>
        <p:spPr bwMode="auto">
          <a:xfrm>
            <a:off x="684213" y="1125538"/>
            <a:ext cx="6767512" cy="4837112"/>
          </a:xfrm>
          <a:prstGeom prst="rect">
            <a:avLst/>
          </a:prstGeom>
          <a:noFill/>
          <a:ln w="9525">
            <a:noFill/>
            <a:miter lim="800000"/>
            <a:headEnd/>
            <a:tailEnd/>
          </a:ln>
        </p:spPr>
      </p:pic>
      <p:sp>
        <p:nvSpPr>
          <p:cNvPr id="21508" name="Rectangle 9"/>
          <p:cNvSpPr>
            <a:spLocks noChangeArrowheads="1"/>
          </p:cNvSpPr>
          <p:nvPr/>
        </p:nvSpPr>
        <p:spPr bwMode="auto">
          <a:xfrm>
            <a:off x="771525" y="258763"/>
            <a:ext cx="4514850" cy="519112"/>
          </a:xfrm>
          <a:prstGeom prst="rect">
            <a:avLst/>
          </a:prstGeom>
          <a:noFill/>
          <a:ln w="12700">
            <a:noFill/>
            <a:miter lim="800000"/>
            <a:headEnd type="none" w="sm" len="sm"/>
            <a:tailEnd type="none" w="sm" len="sm"/>
          </a:ln>
        </p:spPr>
        <p:txBody>
          <a:bodyPr wrap="none" anchor="ctr">
            <a:spAutoFit/>
          </a:bodyPr>
          <a:lstStyle/>
          <a:p>
            <a:pPr eaLnBrk="0" hangingPunct="0"/>
            <a:r>
              <a:rPr lang="zh-CN" altLang="en-US" sz="2800"/>
              <a:t>中断处理过程的详细流程图</a:t>
            </a:r>
            <a:r>
              <a:rPr lang="zh-CN" altLang="en-US"/>
              <a:t> </a:t>
            </a:r>
          </a:p>
        </p:txBody>
      </p:sp>
      <p:sp>
        <p:nvSpPr>
          <p:cNvPr id="11274" name="Rectangle 10"/>
          <p:cNvSpPr>
            <a:spLocks noChangeArrowheads="1"/>
          </p:cNvSpPr>
          <p:nvPr/>
        </p:nvSpPr>
        <p:spPr bwMode="auto">
          <a:xfrm>
            <a:off x="108272" y="836930"/>
            <a:ext cx="8569325" cy="1938020"/>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b="1">
                <a:latin typeface="宋体" panose="02010600030101010101" pitchFamily="2" charset="-122"/>
              </a:rPr>
              <a:t>    (4)</a:t>
            </a:r>
            <a:r>
              <a:rPr lang="zh-CN" altLang="en-US" sz="2400">
                <a:latin typeface="宋体" panose="02010600030101010101" pitchFamily="2" charset="-122"/>
              </a:rPr>
              <a:t>中断处理过程是由硬件和软件结合来完成的。</a:t>
            </a:r>
            <a:r>
              <a:rPr lang="zh-CN" altLang="en-US" sz="2400" b="1">
                <a:latin typeface="宋体" panose="02010600030101010101" pitchFamily="2" charset="-122"/>
              </a:rPr>
              <a:t>中断周期</a:t>
            </a:r>
            <a:r>
              <a:rPr lang="zh-CN" altLang="en-US" sz="2400">
                <a:latin typeface="宋体" panose="02010600030101010101" pitchFamily="2" charset="-122"/>
              </a:rPr>
              <a:t>由硬件实现，而中断服务程序由机器指令序列实现。后者除执行保存现场、恢复现场、开放中断并返回主程序任务外，还需对请求中断的设备进行服务，使其同</a:t>
            </a:r>
            <a:r>
              <a:rPr lang="en-US" altLang="zh-CN" sz="2400">
                <a:latin typeface="宋体" panose="02010600030101010101" pitchFamily="2" charset="-122"/>
              </a:rPr>
              <a:t>CPU</a:t>
            </a:r>
            <a:r>
              <a:rPr lang="zh-CN" altLang="en-US" sz="2400">
                <a:latin typeface="宋体" panose="02010600030101010101" pitchFamily="2" charset="-122"/>
              </a:rPr>
              <a:t>交换一个字的数据，或作其他服务。</a:t>
            </a:r>
            <a:r>
              <a:rPr lang="zh-CN" altLang="en-US"/>
              <a:t> </a:t>
            </a:r>
          </a:p>
        </p:txBody>
      </p:sp>
      <p:sp>
        <p:nvSpPr>
          <p:cNvPr id="11275" name="Rectangle 11"/>
          <p:cNvSpPr>
            <a:spLocks noChangeArrowheads="1"/>
          </p:cNvSpPr>
          <p:nvPr/>
        </p:nvSpPr>
        <p:spPr bwMode="auto">
          <a:xfrm>
            <a:off x="107375" y="692820"/>
            <a:ext cx="4033201" cy="5632311"/>
          </a:xfrm>
          <a:prstGeom prst="rect">
            <a:avLst/>
          </a:prstGeom>
          <a:solidFill>
            <a:srgbClr val="CCFFFF"/>
          </a:solidFill>
          <a:ln w="12700">
            <a:noFill/>
            <a:miter lim="800000"/>
            <a:headEnd type="none" w="sm" len="sm"/>
            <a:tailEnd type="none" w="sm" len="sm"/>
          </a:ln>
        </p:spPr>
        <p:txBody>
          <a:bodyPr wrap="square" anchor="ctr">
            <a:spAutoFit/>
          </a:bodyPr>
          <a:lstStyle/>
          <a:p>
            <a:r>
              <a:rPr lang="en-US" altLang="zh-CN" sz="2000" b="1" dirty="0">
                <a:latin typeface="宋体" panose="02010600030101010101" pitchFamily="2" charset="-122"/>
              </a:rPr>
              <a:t>    (3)</a:t>
            </a:r>
            <a:r>
              <a:rPr lang="zh-CN" altLang="en-US" sz="2000" dirty="0">
                <a:latin typeface="宋体" panose="02010600030101010101" pitchFamily="2" charset="-122"/>
              </a:rPr>
              <a:t>当</a:t>
            </a:r>
            <a:r>
              <a:rPr lang="en-US" altLang="zh-CN" sz="2000" dirty="0">
                <a:latin typeface="宋体" panose="02010600030101010101" pitchFamily="2" charset="-122"/>
              </a:rPr>
              <a:t>CPU</a:t>
            </a:r>
            <a:r>
              <a:rPr lang="zh-CN" altLang="en-US" sz="2000" dirty="0">
                <a:latin typeface="宋体" panose="02010600030101010101" pitchFamily="2" charset="-122"/>
              </a:rPr>
              <a:t>响应中断后，正要去执行中断服务程序时，可能有另一个新的中断源向它发出中断请求。为了不致造成混乱，在</a:t>
            </a:r>
            <a:r>
              <a:rPr lang="en-US" altLang="zh-CN" sz="2000" dirty="0">
                <a:latin typeface="宋体" panose="02010600030101010101" pitchFamily="2" charset="-122"/>
              </a:rPr>
              <a:t>CPU</a:t>
            </a:r>
            <a:r>
              <a:rPr lang="zh-CN" altLang="en-US" sz="2000" dirty="0">
                <a:latin typeface="宋体" panose="02010600030101010101" pitchFamily="2" charset="-122"/>
              </a:rPr>
              <a:t>的中断管理部件中必须有一个</a:t>
            </a:r>
            <a:r>
              <a:rPr lang="zh-CN" altLang="en-US" sz="2000" b="1" dirty="0">
                <a:latin typeface="宋体" panose="02010600030101010101" pitchFamily="2" charset="-122"/>
              </a:rPr>
              <a:t>中断屏蔽</a:t>
            </a:r>
            <a:r>
              <a:rPr lang="zh-CN" altLang="en-US" sz="2000" dirty="0">
                <a:latin typeface="宋体" panose="02010600030101010101" pitchFamily="2" charset="-122"/>
              </a:rPr>
              <a:t>触发器，它可以在程序的控制下置“</a:t>
            </a:r>
            <a:r>
              <a:rPr lang="en-US" altLang="zh-CN" sz="2000" dirty="0">
                <a:latin typeface="宋体" panose="02010600030101010101" pitchFamily="2" charset="-122"/>
              </a:rPr>
              <a:t>1”(</a:t>
            </a:r>
            <a:r>
              <a:rPr lang="zh-CN" altLang="en-US" sz="2000" dirty="0">
                <a:latin typeface="宋体" panose="02010600030101010101" pitchFamily="2" charset="-122"/>
              </a:rPr>
              <a:t>设置屏蔽</a:t>
            </a:r>
            <a:r>
              <a:rPr lang="en-US" altLang="zh-CN" sz="2000" dirty="0">
                <a:latin typeface="宋体" panose="02010600030101010101" pitchFamily="2" charset="-122"/>
              </a:rPr>
              <a:t>)</a:t>
            </a:r>
            <a:r>
              <a:rPr lang="zh-CN" altLang="en-US" sz="2000" dirty="0">
                <a:latin typeface="宋体" panose="02010600030101010101" pitchFamily="2" charset="-122"/>
              </a:rPr>
              <a:t>，或置“</a:t>
            </a:r>
            <a:r>
              <a:rPr lang="en-US" altLang="zh-CN" sz="2000" dirty="0">
                <a:latin typeface="宋体" panose="02010600030101010101" pitchFamily="2" charset="-122"/>
              </a:rPr>
              <a:t>0”(</a:t>
            </a:r>
            <a:r>
              <a:rPr lang="zh-CN" altLang="en-US" sz="2000" dirty="0">
                <a:latin typeface="宋体" panose="02010600030101010101" pitchFamily="2" charset="-122"/>
              </a:rPr>
              <a:t>取掉屏蔽</a:t>
            </a:r>
            <a:r>
              <a:rPr lang="en-US" altLang="zh-CN" sz="2000" dirty="0">
                <a:latin typeface="宋体" panose="02010600030101010101" pitchFamily="2" charset="-122"/>
              </a:rPr>
              <a:t>)</a:t>
            </a:r>
            <a:r>
              <a:rPr lang="zh-CN" altLang="en-US" sz="2000" dirty="0">
                <a:latin typeface="宋体" panose="02010600030101010101" pitchFamily="2" charset="-122"/>
              </a:rPr>
              <a:t>。</a:t>
            </a:r>
            <a:endParaRPr lang="en-US" altLang="zh-CN" sz="2000" dirty="0">
              <a:latin typeface="宋体" panose="02010600030101010101" pitchFamily="2" charset="-122"/>
            </a:endParaRPr>
          </a:p>
          <a:p>
            <a:r>
              <a:rPr lang="en-US" altLang="zh-CN" sz="2000" dirty="0">
                <a:latin typeface="宋体" panose="02010600030101010101" pitchFamily="2" charset="-122"/>
              </a:rPr>
              <a:t>    CPU</a:t>
            </a:r>
            <a:r>
              <a:rPr lang="zh-CN" altLang="en-US" sz="2000" dirty="0">
                <a:latin typeface="宋体" panose="02010600030101010101" pitchFamily="2" charset="-122"/>
              </a:rPr>
              <a:t>接受中断请求并作出响应时把中断屏蔽标志置“</a:t>
            </a:r>
            <a:r>
              <a:rPr lang="en-US" altLang="zh-CN" sz="2000" dirty="0">
                <a:latin typeface="宋体" panose="02010600030101010101" pitchFamily="2" charset="-122"/>
              </a:rPr>
              <a:t>1”</a:t>
            </a:r>
            <a:r>
              <a:rPr lang="zh-CN" altLang="en-US" sz="2000" dirty="0">
                <a:latin typeface="宋体" panose="02010600030101010101" pitchFamily="2" charset="-122"/>
              </a:rPr>
              <a:t>，即关闭中断。在</a:t>
            </a:r>
            <a:r>
              <a:rPr lang="en-US" altLang="zh-CN" sz="2000" dirty="0">
                <a:latin typeface="宋体" panose="02010600030101010101" pitchFamily="2" charset="-122"/>
              </a:rPr>
              <a:t>CPU</a:t>
            </a:r>
            <a:r>
              <a:rPr lang="zh-CN" altLang="en-US" sz="2000" dirty="0">
                <a:latin typeface="宋体" panose="02010600030101010101" pitchFamily="2" charset="-122"/>
              </a:rPr>
              <a:t>把中断服务程序执行完毕以后，重新使中断屏蔽标志置“</a:t>
            </a:r>
            <a:r>
              <a:rPr lang="en-US" altLang="zh-CN" sz="2000" dirty="0">
                <a:latin typeface="宋体" panose="02010600030101010101" pitchFamily="2" charset="-122"/>
              </a:rPr>
              <a:t>0”</a:t>
            </a:r>
            <a:r>
              <a:rPr lang="zh-CN" altLang="en-US" sz="2000" dirty="0">
                <a:latin typeface="宋体" panose="02010600030101010101" pitchFamily="2" charset="-122"/>
              </a:rPr>
              <a:t>，即开放中断，并返回主程序。</a:t>
            </a:r>
            <a:endParaRPr lang="en-US" altLang="zh-CN" sz="2000" dirty="0">
              <a:latin typeface="宋体" panose="02010600030101010101" pitchFamily="2" charset="-122"/>
            </a:endParaRPr>
          </a:p>
          <a:p>
            <a:r>
              <a:rPr lang="en-US" altLang="zh-CN" sz="2000" dirty="0">
                <a:latin typeface="宋体" panose="02010600030101010101" pitchFamily="2" charset="-122"/>
              </a:rPr>
              <a:t>    </a:t>
            </a:r>
            <a:r>
              <a:rPr lang="zh-CN" altLang="en-US" sz="2000" dirty="0">
                <a:latin typeface="宋体" panose="02010600030101010101" pitchFamily="2" charset="-122"/>
              </a:rPr>
              <a:t>因此，中断服务程序的最后必须有两条指令，即开中断指令和返主指令，同时在硬件上要保证返主指令执行以后才受理新的中断请求。</a:t>
            </a:r>
          </a:p>
        </p:txBody>
      </p:sp>
      <p:sp>
        <p:nvSpPr>
          <p:cNvPr id="11277" name="Rectangle 13"/>
          <p:cNvSpPr>
            <a:spLocks noChangeArrowheads="1"/>
          </p:cNvSpPr>
          <p:nvPr/>
        </p:nvSpPr>
        <p:spPr bwMode="auto">
          <a:xfrm>
            <a:off x="107375" y="837446"/>
            <a:ext cx="8569325" cy="1917700"/>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b="1" dirty="0">
                <a:latin typeface="宋体" panose="02010600030101010101" pitchFamily="2" charset="-122"/>
              </a:rPr>
              <a:t>    (2)</a:t>
            </a:r>
            <a:r>
              <a:rPr lang="en-US" altLang="zh-CN" sz="2400" dirty="0">
                <a:latin typeface="宋体" panose="02010600030101010101" pitchFamily="2" charset="-122"/>
              </a:rPr>
              <a:t> </a:t>
            </a:r>
            <a:r>
              <a:rPr lang="zh-CN" altLang="en-US" sz="2400" dirty="0">
                <a:latin typeface="宋体" panose="02010600030101010101" pitchFamily="2" charset="-122"/>
              </a:rPr>
              <a:t>为了在中断服务程序执行完毕以后正确地返回到原来主程序被中断的断点</a:t>
            </a:r>
            <a:r>
              <a:rPr lang="en-US" altLang="zh-CN" sz="2400" dirty="0">
                <a:latin typeface="宋体" panose="02010600030101010101" pitchFamily="2" charset="-122"/>
              </a:rPr>
              <a:t>(PC</a:t>
            </a:r>
            <a:r>
              <a:rPr lang="zh-CN" altLang="en-US" sz="2400" dirty="0">
                <a:latin typeface="宋体" panose="02010600030101010101" pitchFamily="2" charset="-122"/>
              </a:rPr>
              <a:t>内容</a:t>
            </a:r>
            <a:r>
              <a:rPr lang="en-US" altLang="zh-CN" sz="2400" dirty="0">
                <a:latin typeface="宋体" panose="02010600030101010101" pitchFamily="2" charset="-122"/>
              </a:rPr>
              <a:t>)</a:t>
            </a:r>
            <a:r>
              <a:rPr lang="zh-CN" altLang="en-US" sz="2400" dirty="0">
                <a:latin typeface="宋体" panose="02010600030101010101" pitchFamily="2" charset="-122"/>
              </a:rPr>
              <a:t>而继续执行主程序，必须把程序计数器</a:t>
            </a:r>
            <a:r>
              <a:rPr lang="en-US" altLang="zh-CN" sz="2400" dirty="0">
                <a:latin typeface="宋体" panose="02010600030101010101" pitchFamily="2" charset="-122"/>
              </a:rPr>
              <a:t>PC</a:t>
            </a:r>
            <a:r>
              <a:rPr lang="zh-CN" altLang="en-US" sz="2400" dirty="0">
                <a:latin typeface="宋体" panose="02010600030101010101" pitchFamily="2" charset="-122"/>
              </a:rPr>
              <a:t>的内容，以及当前指令执行结束后</a:t>
            </a:r>
            <a:r>
              <a:rPr lang="en-US" altLang="zh-CN" sz="2400" dirty="0">
                <a:latin typeface="宋体" panose="02010600030101010101" pitchFamily="2" charset="-122"/>
              </a:rPr>
              <a:t>CPU</a:t>
            </a:r>
            <a:r>
              <a:rPr lang="zh-CN" altLang="en-US" sz="2400" dirty="0">
                <a:latin typeface="宋体" panose="02010600030101010101" pitchFamily="2" charset="-122"/>
              </a:rPr>
              <a:t>的状态</a:t>
            </a:r>
            <a:r>
              <a:rPr lang="en-US" altLang="zh-CN" sz="2400" dirty="0">
                <a:latin typeface="宋体" panose="02010600030101010101" pitchFamily="2" charset="-122"/>
              </a:rPr>
              <a:t>(</a:t>
            </a:r>
            <a:r>
              <a:rPr lang="zh-CN" altLang="en-US" sz="2400" dirty="0">
                <a:latin typeface="宋体" panose="02010600030101010101" pitchFamily="2" charset="-122"/>
              </a:rPr>
              <a:t>包括寄存器的内容和一些状态标志位</a:t>
            </a:r>
            <a:r>
              <a:rPr lang="en-US" altLang="zh-CN" sz="2400" dirty="0">
                <a:latin typeface="宋体" panose="02010600030101010101" pitchFamily="2" charset="-122"/>
              </a:rPr>
              <a:t>)</a:t>
            </a:r>
            <a:r>
              <a:rPr lang="zh-CN" altLang="en-US" sz="2400" dirty="0">
                <a:latin typeface="宋体" panose="02010600030101010101" pitchFamily="2" charset="-122"/>
              </a:rPr>
              <a:t>都保存到堆栈中去。这些操作叫做</a:t>
            </a:r>
            <a:r>
              <a:rPr lang="zh-CN" altLang="en-US" sz="2400" b="1" dirty="0">
                <a:latin typeface="宋体" panose="02010600030101010101" pitchFamily="2" charset="-122"/>
              </a:rPr>
              <a:t>保存现场</a:t>
            </a:r>
            <a:r>
              <a:rPr lang="zh-CN" altLang="en-US" sz="2400" dirty="0">
                <a:latin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77"/>
                                        </p:tgtEl>
                                        <p:attrNameLst>
                                          <p:attrName>style.visibility</p:attrName>
                                        </p:attrNameLst>
                                      </p:cBhvr>
                                      <p:to>
                                        <p:strVal val="visible"/>
                                      </p:to>
                                    </p:set>
                                    <p:animEffect transition="in" filter="dissolve">
                                      <p:cBhvr>
                                        <p:cTn id="7" dur="500"/>
                                        <p:tgtEl>
                                          <p:spTgt spid="11277"/>
                                        </p:tgtEl>
                                      </p:cBhvr>
                                    </p:animEffect>
                                  </p:childTnLst>
                                  <p:subTnLst>
                                    <p:set>
                                      <p:cBhvr override="childStyle">
                                        <p:cTn dur="1" fill="hold" display="0" masterRel="nextClick" afterEffect="1"/>
                                        <p:tgtEl>
                                          <p:spTgt spid="11277"/>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275"/>
                                        </p:tgtEl>
                                        <p:attrNameLst>
                                          <p:attrName>style.visibility</p:attrName>
                                        </p:attrNameLst>
                                      </p:cBhvr>
                                      <p:to>
                                        <p:strVal val="visible"/>
                                      </p:to>
                                    </p:set>
                                    <p:animEffect transition="in" filter="dissolve">
                                      <p:cBhvr>
                                        <p:cTn id="12" dur="500"/>
                                        <p:tgtEl>
                                          <p:spTgt spid="11275"/>
                                        </p:tgtEl>
                                      </p:cBhvr>
                                    </p:animEffect>
                                  </p:childTnLst>
                                  <p:subTnLst>
                                    <p:set>
                                      <p:cBhvr override="childStyle">
                                        <p:cTn dur="1" fill="hold" display="0" masterRel="nextClick" afterEffect="1"/>
                                        <p:tgtEl>
                                          <p:spTgt spid="11275"/>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274"/>
                                        </p:tgtEl>
                                        <p:attrNameLst>
                                          <p:attrName>style.visibility</p:attrName>
                                        </p:attrNameLst>
                                      </p:cBhvr>
                                      <p:to>
                                        <p:strVal val="visible"/>
                                      </p:to>
                                    </p:set>
                                    <p:animEffect transition="in" filter="dissolve">
                                      <p:cBhvr>
                                        <p:cTn id="17" dur="500"/>
                                        <p:tgtEl>
                                          <p:spTgt spid="11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4" grpId="0" bldLvl="0" animBg="1" autoUpdateAnimBg="0"/>
      <p:bldP spid="11275" grpId="0" bldLvl="0" animBg="1" autoUpdateAnimBg="0"/>
      <p:bldP spid="11277" grpId="0"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fld id="{698AA947-FCD0-4861-B598-97FCC6916952}" type="slidenum">
              <a:rPr lang="en-US" altLang="zh-CN" sz="1000" smtClean="0"/>
              <a:t>23</a:t>
            </a:fld>
            <a:endParaRPr lang="en-US" altLang="zh-CN" sz="1000"/>
          </a:p>
        </p:txBody>
      </p:sp>
      <p:sp>
        <p:nvSpPr>
          <p:cNvPr id="17412" name="Rectangle 3"/>
          <p:cNvSpPr>
            <a:spLocks noGrp="1" noChangeArrowheads="1"/>
          </p:cNvSpPr>
          <p:nvPr>
            <p:ph type="body" idx="1"/>
          </p:nvPr>
        </p:nvSpPr>
        <p:spPr>
          <a:xfrm>
            <a:off x="179512" y="332656"/>
            <a:ext cx="8075613" cy="5760640"/>
          </a:xfrm>
        </p:spPr>
        <p:txBody>
          <a:bodyPr/>
          <a:lstStyle/>
          <a:p>
            <a:pPr marL="0" indent="0" eaLnBrk="1" hangingPunct="1">
              <a:lnSpc>
                <a:spcPct val="120000"/>
              </a:lnSpc>
              <a:spcBef>
                <a:spcPts val="0"/>
              </a:spcBef>
              <a:spcAft>
                <a:spcPts val="600"/>
              </a:spcAft>
              <a:buNone/>
            </a:pPr>
            <a:r>
              <a:rPr lang="en-US" altLang="zh-CN" sz="2800" dirty="0">
                <a:latin typeface="+mn-ea"/>
                <a:cs typeface="Times New Roman" panose="02020603050405020304" charset="0"/>
              </a:rPr>
              <a:t>8.3</a:t>
            </a:r>
            <a:r>
              <a:rPr lang="en-US" altLang="zh-CN" sz="2800" dirty="0">
                <a:latin typeface="+mn-ea"/>
              </a:rPr>
              <a:t>.2 </a:t>
            </a:r>
            <a:r>
              <a:rPr lang="zh-CN" altLang="en-US" sz="2800" dirty="0">
                <a:latin typeface="+mn-ea"/>
              </a:rPr>
              <a:t>中断服务程序入口地址的获取</a:t>
            </a:r>
          </a:p>
          <a:p>
            <a:pPr eaLnBrk="1" hangingPunct="1">
              <a:lnSpc>
                <a:spcPct val="120000"/>
              </a:lnSpc>
              <a:spcBef>
                <a:spcPts val="0"/>
              </a:spcBef>
            </a:pPr>
            <a:r>
              <a:rPr lang="zh-CN" altLang="en-US" sz="2800" dirty="0">
                <a:latin typeface="+mn-ea"/>
              </a:rPr>
              <a:t>向量中断：</a:t>
            </a:r>
          </a:p>
          <a:p>
            <a:pPr lvl="1" eaLnBrk="1" hangingPunct="1">
              <a:lnSpc>
                <a:spcPct val="120000"/>
              </a:lnSpc>
              <a:spcBef>
                <a:spcPts val="0"/>
              </a:spcBef>
            </a:pPr>
            <a:r>
              <a:rPr lang="zh-CN" altLang="en-US" sz="2800" dirty="0">
                <a:latin typeface="+mn-ea"/>
              </a:rPr>
              <a:t>当</a:t>
            </a:r>
            <a:r>
              <a:rPr lang="en-US" altLang="zh-CN" sz="2800" dirty="0">
                <a:latin typeface="+mn-ea"/>
              </a:rPr>
              <a:t>CPU</a:t>
            </a:r>
            <a:r>
              <a:rPr lang="zh-CN" altLang="en-US" sz="2800" dirty="0">
                <a:latin typeface="+mn-ea"/>
              </a:rPr>
              <a:t>响应中断时，由硬件直接产生一个固定的地址</a:t>
            </a:r>
            <a:r>
              <a:rPr lang="en-US" altLang="zh-CN" sz="2800" dirty="0">
                <a:latin typeface="+mn-ea"/>
              </a:rPr>
              <a:t>(</a:t>
            </a:r>
            <a:r>
              <a:rPr lang="zh-CN" altLang="en-US" sz="2800" dirty="0">
                <a:latin typeface="+mn-ea"/>
              </a:rPr>
              <a:t>即向量地址</a:t>
            </a:r>
            <a:r>
              <a:rPr lang="en-US" altLang="zh-CN" sz="2800" dirty="0">
                <a:latin typeface="+mn-ea"/>
              </a:rPr>
              <a:t>)</a:t>
            </a:r>
          </a:p>
          <a:p>
            <a:pPr lvl="1" eaLnBrk="1" hangingPunct="1">
              <a:lnSpc>
                <a:spcPct val="120000"/>
              </a:lnSpc>
              <a:spcBef>
                <a:spcPts val="0"/>
              </a:spcBef>
            </a:pPr>
            <a:r>
              <a:rPr lang="zh-CN" altLang="en-US" sz="2800" dirty="0">
                <a:latin typeface="+mn-ea"/>
              </a:rPr>
              <a:t>由向量地址指出每个中断源设备的中断服务程序入口，这种方法通常称为向量中断。</a:t>
            </a:r>
            <a:endParaRPr lang="en-US" altLang="zh-CN" sz="2800" dirty="0">
              <a:latin typeface="+mn-ea"/>
            </a:endParaRPr>
          </a:p>
          <a:p>
            <a:pPr eaLnBrk="1" hangingPunct="1">
              <a:lnSpc>
                <a:spcPct val="120000"/>
              </a:lnSpc>
              <a:spcBef>
                <a:spcPts val="0"/>
              </a:spcBef>
            </a:pPr>
            <a:r>
              <a:rPr lang="zh-CN" altLang="en-US" sz="2800" dirty="0">
                <a:latin typeface="+mn-ea"/>
              </a:rPr>
              <a:t>查询中断：</a:t>
            </a:r>
          </a:p>
          <a:p>
            <a:pPr lvl="1" eaLnBrk="1" hangingPunct="1">
              <a:lnSpc>
                <a:spcPct val="120000"/>
              </a:lnSpc>
              <a:spcBef>
                <a:spcPts val="0"/>
              </a:spcBef>
            </a:pPr>
            <a:r>
              <a:rPr lang="zh-CN" altLang="en-US" sz="2800" dirty="0">
                <a:latin typeface="+mn-ea"/>
              </a:rPr>
              <a:t>硬件不直接提供中断服务程序的入口地址，而是为所有中断安排一个公共的中断服务程序</a:t>
            </a:r>
            <a:endParaRPr lang="en-US" altLang="zh-CN" sz="2800" dirty="0">
              <a:latin typeface="+mn-ea"/>
            </a:endParaRPr>
          </a:p>
          <a:p>
            <a:pPr lvl="1" eaLnBrk="1" hangingPunct="1">
              <a:lnSpc>
                <a:spcPct val="120000"/>
              </a:lnSpc>
              <a:spcBef>
                <a:spcPts val="0"/>
              </a:spcBef>
            </a:pPr>
            <a:r>
              <a:rPr lang="zh-CN" altLang="en-US" sz="2800" dirty="0">
                <a:latin typeface="+mn-ea"/>
              </a:rPr>
              <a:t>由该公共程序查询和跳转至相应中断服务子程序入口</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p>
            <a:fld id="{04B65623-516E-4683-8B44-448A6624B8CF}" type="slidenum">
              <a:rPr lang="en-US" altLang="zh-CN" smtClean="0"/>
              <a:t>24</a:t>
            </a:fld>
            <a:endParaRPr lang="en-US" altLang="zh-CN"/>
          </a:p>
        </p:txBody>
      </p:sp>
      <p:sp>
        <p:nvSpPr>
          <p:cNvPr id="22531" name="Rectangle 2"/>
          <p:cNvSpPr>
            <a:spLocks noGrp="1" noChangeArrowheads="1"/>
          </p:cNvSpPr>
          <p:nvPr>
            <p:ph type="title"/>
          </p:nvPr>
        </p:nvSpPr>
        <p:spPr>
          <a:xfrm>
            <a:off x="457200" y="122238"/>
            <a:ext cx="7543800" cy="785812"/>
          </a:xfrm>
        </p:spPr>
        <p:txBody>
          <a:bodyPr/>
          <a:lstStyle/>
          <a:p>
            <a:pPr eaLnBrk="1" hangingPunct="1"/>
            <a:r>
              <a:rPr lang="en-US" altLang="zh-CN" sz="3600" dirty="0">
                <a:latin typeface="+mn-ea"/>
                <a:ea typeface="+mn-ea"/>
                <a:cs typeface="Times New Roman" panose="02020603050405020304" charset="0"/>
              </a:rPr>
              <a:t>8.3</a:t>
            </a:r>
            <a:r>
              <a:rPr lang="en-US" altLang="zh-CN" sz="3600" dirty="0">
                <a:latin typeface="+mn-ea"/>
                <a:ea typeface="+mn-ea"/>
              </a:rPr>
              <a:t>.3</a:t>
            </a:r>
            <a:r>
              <a:rPr lang="zh-CN" altLang="en-US" sz="3600" dirty="0">
                <a:latin typeface="+mn-ea"/>
                <a:ea typeface="+mn-ea"/>
              </a:rPr>
              <a:t>程序中断方式的基本</a:t>
            </a:r>
            <a:r>
              <a:rPr lang="en-US" altLang="zh-CN" sz="3600" dirty="0">
                <a:latin typeface="+mn-ea"/>
                <a:ea typeface="+mn-ea"/>
              </a:rPr>
              <a:t>I/O</a:t>
            </a:r>
            <a:r>
              <a:rPr lang="zh-CN" altLang="en-US" sz="3600" dirty="0">
                <a:latin typeface="+mn-ea"/>
                <a:ea typeface="+mn-ea"/>
              </a:rPr>
              <a:t>接口</a:t>
            </a:r>
          </a:p>
        </p:txBody>
      </p:sp>
      <p:pic>
        <p:nvPicPr>
          <p:cNvPr id="22532" name="Picture 4" descr="8a6"/>
          <p:cNvPicPr>
            <a:picLocks noChangeAspect="1" noChangeArrowheads="1"/>
          </p:cNvPicPr>
          <p:nvPr/>
        </p:nvPicPr>
        <p:blipFill>
          <a:blip r:embed="rId3"/>
          <a:srcRect/>
          <a:stretch>
            <a:fillRect/>
          </a:stretch>
        </p:blipFill>
        <p:spPr bwMode="auto">
          <a:xfrm>
            <a:off x="395288" y="836613"/>
            <a:ext cx="8101012" cy="4392612"/>
          </a:xfrm>
          <a:prstGeom prst="rect">
            <a:avLst/>
          </a:prstGeom>
          <a:noFill/>
          <a:ln w="9525">
            <a:noFill/>
            <a:miter lim="800000"/>
            <a:headEnd/>
            <a:tailEnd/>
          </a:ln>
        </p:spPr>
      </p:pic>
      <p:sp>
        <p:nvSpPr>
          <p:cNvPr id="15365" name="Rectangle 5"/>
          <p:cNvSpPr>
            <a:spLocks noChangeArrowheads="1"/>
          </p:cNvSpPr>
          <p:nvPr/>
        </p:nvSpPr>
        <p:spPr bwMode="auto">
          <a:xfrm>
            <a:off x="609600" y="5257800"/>
            <a:ext cx="7874000" cy="822325"/>
          </a:xfrm>
          <a:prstGeom prst="rect">
            <a:avLst/>
          </a:prstGeom>
          <a:noFill/>
          <a:ln w="12700">
            <a:noFill/>
            <a:miter lim="800000"/>
            <a:headEnd type="none" w="sm" len="sm"/>
            <a:tailEnd type="none" w="sm" len="sm"/>
          </a:ln>
        </p:spPr>
        <p:txBody>
          <a:bodyPr>
            <a:spAutoFit/>
          </a:bodyPr>
          <a:lstStyle/>
          <a:p>
            <a:r>
              <a:rPr lang="en-US" altLang="zh-CN" sz="2400">
                <a:latin typeface="宋体" panose="02010600030101010101" pitchFamily="2" charset="-122"/>
              </a:rPr>
              <a:t>①</a:t>
            </a:r>
            <a:r>
              <a:rPr lang="zh-CN" altLang="en-US" sz="2400">
                <a:latin typeface="宋体" panose="02010600030101010101" pitchFamily="2" charset="-122"/>
              </a:rPr>
              <a:t>表示由程序启动外设，将该外设接口的“忙”标志</a:t>
            </a:r>
            <a:r>
              <a:rPr lang="en-US" altLang="zh-CN" sz="2400">
                <a:latin typeface="宋体" panose="02010600030101010101" pitchFamily="2" charset="-122"/>
              </a:rPr>
              <a:t>BS</a:t>
            </a:r>
            <a:r>
              <a:rPr lang="zh-CN" altLang="en-US" sz="2400">
                <a:latin typeface="宋体" panose="02010600030101010101" pitchFamily="2" charset="-122"/>
              </a:rPr>
              <a:t>置“</a:t>
            </a:r>
            <a:r>
              <a:rPr lang="en-US" altLang="zh-CN" sz="2400">
                <a:latin typeface="宋体" panose="02010600030101010101" pitchFamily="2" charset="-122"/>
              </a:rPr>
              <a:t>1”</a:t>
            </a:r>
            <a:r>
              <a:rPr lang="zh-CN" altLang="en-US" sz="2400">
                <a:latin typeface="宋体" panose="02010600030101010101" pitchFamily="2" charset="-122"/>
              </a:rPr>
              <a:t>，“准备就绪”标志</a:t>
            </a:r>
            <a:r>
              <a:rPr lang="en-US" altLang="zh-CN" sz="2400">
                <a:latin typeface="宋体" panose="02010600030101010101" pitchFamily="2" charset="-122"/>
              </a:rPr>
              <a:t>RD</a:t>
            </a:r>
            <a:r>
              <a:rPr lang="zh-CN" altLang="en-US" sz="2400">
                <a:latin typeface="宋体" panose="02010600030101010101" pitchFamily="2" charset="-122"/>
              </a:rPr>
              <a:t>清“</a:t>
            </a:r>
            <a:r>
              <a:rPr lang="en-US" altLang="zh-CN" sz="2400">
                <a:latin typeface="宋体" panose="02010600030101010101" pitchFamily="2" charset="-122"/>
              </a:rPr>
              <a:t>0”</a:t>
            </a:r>
            <a:r>
              <a:rPr lang="zh-CN" altLang="en-US" sz="2400">
                <a:latin typeface="宋体" panose="02010600030101010101" pitchFamily="2" charset="-122"/>
              </a:rPr>
              <a:t>；</a:t>
            </a:r>
          </a:p>
        </p:txBody>
      </p:sp>
      <p:sp>
        <p:nvSpPr>
          <p:cNvPr id="15366" name="Rectangle 6"/>
          <p:cNvSpPr>
            <a:spLocks noChangeArrowheads="1"/>
          </p:cNvSpPr>
          <p:nvPr/>
        </p:nvSpPr>
        <p:spPr bwMode="auto">
          <a:xfrm>
            <a:off x="609600" y="5257800"/>
            <a:ext cx="4756150" cy="457200"/>
          </a:xfrm>
          <a:prstGeom prst="rect">
            <a:avLst/>
          </a:prstGeom>
          <a:noFill/>
          <a:ln w="12700">
            <a:noFill/>
            <a:miter lim="800000"/>
            <a:headEnd type="none" w="sm" len="sm"/>
            <a:tailEnd type="none" w="sm" len="sm"/>
          </a:ln>
        </p:spPr>
        <p:txBody>
          <a:bodyPr wrap="none">
            <a:spAutoFit/>
          </a:bodyPr>
          <a:lstStyle/>
          <a:p>
            <a:pPr>
              <a:spcBef>
                <a:spcPct val="30000"/>
              </a:spcBef>
            </a:pPr>
            <a:r>
              <a:rPr lang="en-US" altLang="zh-CN" sz="2400"/>
              <a:t>②</a:t>
            </a:r>
            <a:r>
              <a:rPr lang="zh-CN" altLang="en-US" sz="2400"/>
              <a:t>表示接口向外设发出启动信号；</a:t>
            </a:r>
          </a:p>
        </p:txBody>
      </p:sp>
      <p:sp>
        <p:nvSpPr>
          <p:cNvPr id="15367" name="Rectangle 7"/>
          <p:cNvSpPr>
            <a:spLocks noChangeArrowheads="1"/>
          </p:cNvSpPr>
          <p:nvPr/>
        </p:nvSpPr>
        <p:spPr bwMode="auto">
          <a:xfrm>
            <a:off x="609600" y="5257800"/>
            <a:ext cx="6280150" cy="457200"/>
          </a:xfrm>
          <a:prstGeom prst="rect">
            <a:avLst/>
          </a:prstGeom>
          <a:noFill/>
          <a:ln w="12700">
            <a:noFill/>
            <a:miter lim="800000"/>
            <a:headEnd type="none" w="sm" len="sm"/>
            <a:tailEnd type="none" w="sm" len="sm"/>
          </a:ln>
        </p:spPr>
        <p:txBody>
          <a:bodyPr wrap="none">
            <a:spAutoFit/>
          </a:bodyPr>
          <a:lstStyle/>
          <a:p>
            <a:r>
              <a:rPr lang="en-US" altLang="zh-CN" sz="2400"/>
              <a:t>③</a:t>
            </a:r>
            <a:r>
              <a:rPr lang="zh-CN" altLang="en-US" sz="2400"/>
              <a:t>表示数据由外设传送到接口的缓冲寄存器；</a:t>
            </a:r>
          </a:p>
        </p:txBody>
      </p:sp>
      <p:sp>
        <p:nvSpPr>
          <p:cNvPr id="15368" name="Rectangle 8"/>
          <p:cNvSpPr>
            <a:spLocks noChangeArrowheads="1"/>
          </p:cNvSpPr>
          <p:nvPr/>
        </p:nvSpPr>
        <p:spPr bwMode="auto">
          <a:xfrm>
            <a:off x="609600" y="5257800"/>
            <a:ext cx="7920038" cy="1187450"/>
          </a:xfrm>
          <a:prstGeom prst="rect">
            <a:avLst/>
          </a:prstGeom>
          <a:noFill/>
          <a:ln w="12700">
            <a:noFill/>
            <a:miter lim="800000"/>
            <a:headEnd type="none" w="sm" len="sm"/>
            <a:tailEnd type="none" w="sm" len="sm"/>
          </a:ln>
        </p:spPr>
        <p:txBody>
          <a:bodyPr>
            <a:spAutoFit/>
          </a:bodyPr>
          <a:lstStyle/>
          <a:p>
            <a:r>
              <a:rPr lang="en-US" altLang="zh-CN" sz="2400">
                <a:latin typeface="宋体" panose="02010600030101010101" pitchFamily="2" charset="-122"/>
              </a:rPr>
              <a:t>④</a:t>
            </a:r>
            <a:r>
              <a:rPr lang="zh-CN" altLang="en-US" sz="2400">
                <a:latin typeface="宋体" panose="02010600030101010101" pitchFamily="2" charset="-122"/>
              </a:rPr>
              <a:t>表示当设备动作结束或缓冲寄存器数据填满时，设备向接口送出一控制信号，将数据“准备就绪”标志</a:t>
            </a:r>
            <a:r>
              <a:rPr lang="en-US" altLang="zh-CN" sz="2400">
                <a:latin typeface="宋体" panose="02010600030101010101" pitchFamily="2" charset="-122"/>
              </a:rPr>
              <a:t>RD</a:t>
            </a:r>
            <a:r>
              <a:rPr lang="zh-CN" altLang="en-US" sz="2400">
                <a:latin typeface="宋体" panose="02010600030101010101" pitchFamily="2" charset="-122"/>
              </a:rPr>
              <a:t>置“</a:t>
            </a:r>
            <a:r>
              <a:rPr lang="en-US" altLang="zh-CN" sz="2400">
                <a:latin typeface="宋体" panose="02010600030101010101" pitchFamily="2" charset="-122"/>
              </a:rPr>
              <a:t>1”</a:t>
            </a:r>
            <a:r>
              <a:rPr lang="zh-CN" altLang="en-US" sz="2400">
                <a:latin typeface="宋体" panose="02010600030101010101" pitchFamily="2" charset="-122"/>
              </a:rPr>
              <a:t>；</a:t>
            </a:r>
          </a:p>
        </p:txBody>
      </p:sp>
      <p:sp>
        <p:nvSpPr>
          <p:cNvPr id="15369" name="Rectangle 9"/>
          <p:cNvSpPr>
            <a:spLocks noChangeArrowheads="1"/>
          </p:cNvSpPr>
          <p:nvPr/>
        </p:nvSpPr>
        <p:spPr bwMode="auto">
          <a:xfrm>
            <a:off x="609600" y="5257800"/>
            <a:ext cx="7596188" cy="822325"/>
          </a:xfrm>
          <a:prstGeom prst="rect">
            <a:avLst/>
          </a:prstGeom>
          <a:noFill/>
          <a:ln w="12700">
            <a:noFill/>
            <a:miter lim="800000"/>
            <a:headEnd type="none" w="sm" len="sm"/>
            <a:tailEnd type="none" w="sm" len="sm"/>
          </a:ln>
        </p:spPr>
        <p:txBody>
          <a:bodyPr>
            <a:spAutoFit/>
          </a:bodyPr>
          <a:lstStyle/>
          <a:p>
            <a:r>
              <a:rPr lang="en-US" altLang="zh-CN" sz="2400">
                <a:latin typeface="宋体" panose="02010600030101010101" pitchFamily="2" charset="-122"/>
              </a:rPr>
              <a:t>⑤</a:t>
            </a:r>
            <a:r>
              <a:rPr lang="zh-CN" altLang="en-US" sz="2400">
                <a:latin typeface="宋体" panose="02010600030101010101" pitchFamily="2" charset="-122"/>
              </a:rPr>
              <a:t>表示允许中断标志</a:t>
            </a:r>
            <a:r>
              <a:rPr lang="en-US" altLang="zh-CN" sz="2400">
                <a:latin typeface="宋体" panose="02010600030101010101" pitchFamily="2" charset="-122"/>
              </a:rPr>
              <a:t>EI</a:t>
            </a:r>
            <a:r>
              <a:rPr lang="zh-CN" altLang="en-US" sz="2400">
                <a:latin typeface="宋体" panose="02010600030101010101" pitchFamily="2" charset="-122"/>
              </a:rPr>
              <a:t>为“</a:t>
            </a:r>
            <a:r>
              <a:rPr lang="en-US" altLang="zh-CN" sz="2400">
                <a:latin typeface="宋体" panose="02010600030101010101" pitchFamily="2" charset="-122"/>
              </a:rPr>
              <a:t>1”</a:t>
            </a:r>
            <a:r>
              <a:rPr lang="zh-CN" altLang="en-US" sz="2400">
                <a:latin typeface="宋体" panose="02010600030101010101" pitchFamily="2" charset="-122"/>
              </a:rPr>
              <a:t>时，接口向</a:t>
            </a:r>
            <a:r>
              <a:rPr lang="en-US" altLang="zh-CN" sz="2400">
                <a:latin typeface="宋体" panose="02010600030101010101" pitchFamily="2" charset="-122"/>
              </a:rPr>
              <a:t>CPU</a:t>
            </a:r>
            <a:r>
              <a:rPr lang="zh-CN" altLang="en-US" sz="2400">
                <a:latin typeface="宋体" panose="02010600030101010101" pitchFamily="2" charset="-122"/>
              </a:rPr>
              <a:t>发出中断请求信号；</a:t>
            </a:r>
          </a:p>
        </p:txBody>
      </p:sp>
      <p:sp>
        <p:nvSpPr>
          <p:cNvPr id="15370" name="Rectangle 10"/>
          <p:cNvSpPr>
            <a:spLocks noChangeArrowheads="1"/>
          </p:cNvSpPr>
          <p:nvPr/>
        </p:nvSpPr>
        <p:spPr bwMode="auto">
          <a:xfrm>
            <a:off x="609600" y="5181600"/>
            <a:ext cx="7920038" cy="822325"/>
          </a:xfrm>
          <a:prstGeom prst="rect">
            <a:avLst/>
          </a:prstGeom>
          <a:noFill/>
          <a:ln w="12700">
            <a:noFill/>
            <a:miter lim="800000"/>
            <a:headEnd type="none" w="sm" len="sm"/>
            <a:tailEnd type="none" w="sm" len="sm"/>
          </a:ln>
        </p:spPr>
        <p:txBody>
          <a:bodyPr>
            <a:spAutoFit/>
          </a:bodyPr>
          <a:lstStyle/>
          <a:p>
            <a:r>
              <a:rPr lang="en-US" altLang="zh-CN" sz="2400">
                <a:latin typeface="宋体" panose="02010600030101010101" pitchFamily="2" charset="-122"/>
              </a:rPr>
              <a:t>⑥</a:t>
            </a:r>
            <a:r>
              <a:rPr lang="zh-CN" altLang="en-US" sz="2400">
                <a:latin typeface="宋体" panose="02010600030101010101" pitchFamily="2" charset="-122"/>
              </a:rPr>
              <a:t>表示在一条指令执行末尾</a:t>
            </a:r>
            <a:r>
              <a:rPr lang="en-US" altLang="zh-CN" sz="2400">
                <a:latin typeface="宋体" panose="02010600030101010101" pitchFamily="2" charset="-122"/>
              </a:rPr>
              <a:t>CPU</a:t>
            </a:r>
            <a:r>
              <a:rPr lang="zh-CN" altLang="en-US" sz="2400">
                <a:latin typeface="宋体" panose="02010600030101010101" pitchFamily="2" charset="-122"/>
              </a:rPr>
              <a:t>检查中断请求线，</a:t>
            </a:r>
          </a:p>
          <a:p>
            <a:r>
              <a:rPr lang="zh-CN" altLang="en-US" sz="2400">
                <a:latin typeface="宋体" panose="02010600030101010101" pitchFamily="2" charset="-122"/>
              </a:rPr>
              <a:t>将中断请求线的请求信号接收到“中断请求”标志</a:t>
            </a:r>
            <a:r>
              <a:rPr lang="en-US" altLang="zh-CN" sz="2400">
                <a:latin typeface="宋体" panose="02010600030101010101" pitchFamily="2" charset="-122"/>
              </a:rPr>
              <a:t>IR</a:t>
            </a:r>
            <a:r>
              <a:rPr lang="zh-CN" altLang="en-US" sz="2400">
                <a:latin typeface="宋体" panose="02010600030101010101" pitchFamily="2" charset="-122"/>
              </a:rPr>
              <a:t>；</a:t>
            </a:r>
          </a:p>
        </p:txBody>
      </p:sp>
      <p:sp>
        <p:nvSpPr>
          <p:cNvPr id="15371" name="Rectangle 11"/>
          <p:cNvSpPr>
            <a:spLocks noChangeArrowheads="1"/>
          </p:cNvSpPr>
          <p:nvPr/>
        </p:nvSpPr>
        <p:spPr bwMode="auto">
          <a:xfrm>
            <a:off x="533400" y="5257800"/>
            <a:ext cx="7993063" cy="1187450"/>
          </a:xfrm>
          <a:prstGeom prst="rect">
            <a:avLst/>
          </a:prstGeom>
          <a:noFill/>
          <a:ln w="12700">
            <a:noFill/>
            <a:miter lim="800000"/>
            <a:headEnd type="none" w="sm" len="sm"/>
            <a:tailEnd type="none" w="sm" len="sm"/>
          </a:ln>
        </p:spPr>
        <p:txBody>
          <a:bodyPr>
            <a:spAutoFit/>
          </a:bodyPr>
          <a:lstStyle/>
          <a:p>
            <a:pPr>
              <a:spcBef>
                <a:spcPct val="30000"/>
              </a:spcBef>
            </a:pPr>
            <a:r>
              <a:rPr lang="en-US" altLang="zh-CN" sz="2400">
                <a:latin typeface="宋体" panose="02010600030101010101" pitchFamily="2" charset="-122"/>
              </a:rPr>
              <a:t>⑦</a:t>
            </a:r>
            <a:r>
              <a:rPr lang="zh-CN" altLang="en-US" sz="2400">
                <a:latin typeface="宋体" panose="02010600030101010101" pitchFamily="2" charset="-122"/>
              </a:rPr>
              <a:t>表示如果“中断屏蔽”标志</a:t>
            </a:r>
            <a:r>
              <a:rPr lang="en-US" altLang="zh-CN" sz="2400">
                <a:latin typeface="宋体" panose="02010600030101010101" pitchFamily="2" charset="-122"/>
              </a:rPr>
              <a:t>IM</a:t>
            </a:r>
            <a:r>
              <a:rPr lang="zh-CN" altLang="en-US" sz="2400">
                <a:latin typeface="宋体" panose="02010600030101010101" pitchFamily="2" charset="-122"/>
              </a:rPr>
              <a:t>为“</a:t>
            </a:r>
            <a:r>
              <a:rPr lang="en-US" altLang="zh-CN" sz="2400">
                <a:latin typeface="宋体" panose="02010600030101010101" pitchFamily="2" charset="-122"/>
              </a:rPr>
              <a:t>0”</a:t>
            </a:r>
            <a:r>
              <a:rPr lang="zh-CN" altLang="en-US" sz="2400">
                <a:latin typeface="宋体" panose="02010600030101010101" pitchFamily="2" charset="-122"/>
              </a:rPr>
              <a:t>时，</a:t>
            </a:r>
            <a:r>
              <a:rPr lang="en-US" altLang="zh-CN" sz="2400">
                <a:latin typeface="宋体" panose="02010600030101010101" pitchFamily="2" charset="-122"/>
              </a:rPr>
              <a:t>CPU</a:t>
            </a:r>
            <a:r>
              <a:rPr lang="zh-CN" altLang="en-US" sz="2400">
                <a:latin typeface="宋体" panose="02010600030101010101" pitchFamily="2" charset="-122"/>
              </a:rPr>
              <a:t>在一条指令执行结束后受理外设的中断请求，向外设发出响应中断信号并关闭中断；</a:t>
            </a:r>
          </a:p>
        </p:txBody>
      </p:sp>
      <p:sp>
        <p:nvSpPr>
          <p:cNvPr id="15372" name="Rectangle 12"/>
          <p:cNvSpPr>
            <a:spLocks noChangeArrowheads="1"/>
          </p:cNvSpPr>
          <p:nvPr/>
        </p:nvSpPr>
        <p:spPr bwMode="auto">
          <a:xfrm>
            <a:off x="609600" y="5257800"/>
            <a:ext cx="5670550" cy="457200"/>
          </a:xfrm>
          <a:prstGeom prst="rect">
            <a:avLst/>
          </a:prstGeom>
          <a:noFill/>
          <a:ln w="12700">
            <a:noFill/>
            <a:miter lim="800000"/>
            <a:headEnd type="none" w="sm" len="sm"/>
            <a:tailEnd type="none" w="sm" len="sm"/>
          </a:ln>
        </p:spPr>
        <p:txBody>
          <a:bodyPr wrap="none">
            <a:spAutoFit/>
          </a:bodyPr>
          <a:lstStyle/>
          <a:p>
            <a:r>
              <a:rPr lang="en-US" altLang="zh-CN" sz="2400"/>
              <a:t>⑧</a:t>
            </a:r>
            <a:r>
              <a:rPr lang="zh-CN" altLang="en-US" sz="2400"/>
              <a:t>表示转向该设备的中断服务程序入口；</a:t>
            </a:r>
          </a:p>
        </p:txBody>
      </p:sp>
      <p:sp>
        <p:nvSpPr>
          <p:cNvPr id="15373" name="Rectangle 13"/>
          <p:cNvSpPr>
            <a:spLocks noChangeArrowheads="1"/>
          </p:cNvSpPr>
          <p:nvPr/>
        </p:nvSpPr>
        <p:spPr bwMode="auto">
          <a:xfrm>
            <a:off x="609600" y="5257800"/>
            <a:ext cx="7777163" cy="822325"/>
          </a:xfrm>
          <a:prstGeom prst="rect">
            <a:avLst/>
          </a:prstGeom>
          <a:noFill/>
          <a:ln w="12700">
            <a:noFill/>
            <a:miter lim="800000"/>
            <a:headEnd type="none" w="sm" len="sm"/>
            <a:tailEnd type="none" w="sm" len="sm"/>
          </a:ln>
        </p:spPr>
        <p:txBody>
          <a:bodyPr>
            <a:spAutoFit/>
          </a:bodyPr>
          <a:lstStyle/>
          <a:p>
            <a:r>
              <a:rPr lang="en-US" altLang="zh-CN" sz="2400">
                <a:latin typeface="宋体" panose="02010600030101010101" pitchFamily="2" charset="-122"/>
              </a:rPr>
              <a:t>⑨</a:t>
            </a:r>
            <a:r>
              <a:rPr lang="zh-CN" altLang="en-US" sz="2400">
                <a:latin typeface="宋体" panose="02010600030101010101" pitchFamily="2" charset="-122"/>
              </a:rPr>
              <a:t>表示在中断服务程序通过输入指令把接口中数据缓冲寄存器的数据读至</a:t>
            </a:r>
            <a:r>
              <a:rPr lang="en-US" altLang="zh-CN" sz="2400">
                <a:latin typeface="宋体" panose="02010600030101010101" pitchFamily="2" charset="-122"/>
              </a:rPr>
              <a:t>CPU</a:t>
            </a:r>
            <a:r>
              <a:rPr lang="zh-CN" altLang="en-US" sz="2400">
                <a:latin typeface="宋体" panose="02010600030101010101" pitchFamily="2" charset="-122"/>
              </a:rPr>
              <a:t>中的寄存器；</a:t>
            </a:r>
          </a:p>
        </p:txBody>
      </p:sp>
      <p:sp>
        <p:nvSpPr>
          <p:cNvPr id="15374" name="Rectangle 14"/>
          <p:cNvSpPr>
            <a:spLocks noChangeArrowheads="1"/>
          </p:cNvSpPr>
          <p:nvPr/>
        </p:nvSpPr>
        <p:spPr bwMode="auto">
          <a:xfrm>
            <a:off x="609600" y="5257800"/>
            <a:ext cx="8108950" cy="457200"/>
          </a:xfrm>
          <a:prstGeom prst="rect">
            <a:avLst/>
          </a:prstGeom>
          <a:noFill/>
          <a:ln w="12700">
            <a:noFill/>
            <a:miter lim="800000"/>
            <a:headEnd type="none" w="sm" len="sm"/>
            <a:tailEnd type="none" w="sm" len="sm"/>
          </a:ln>
        </p:spPr>
        <p:txBody>
          <a:bodyPr wrap="none">
            <a:spAutoFit/>
          </a:bodyPr>
          <a:lstStyle/>
          <a:p>
            <a:r>
              <a:rPr lang="zh-CN" altLang="en-US" sz="2400">
                <a:latin typeface="宋体" panose="02010600030101010101" pitchFamily="2" charset="-122"/>
              </a:rPr>
              <a:t>（</a:t>
            </a:r>
            <a:r>
              <a:rPr lang="en-US" altLang="zh-CN" sz="2400">
                <a:latin typeface="宋体" panose="02010600030101010101" pitchFamily="2" charset="-122"/>
              </a:rPr>
              <a:t>10</a:t>
            </a:r>
            <a:r>
              <a:rPr lang="zh-CN" altLang="en-US" sz="2400">
                <a:latin typeface="宋体" panose="02010600030101010101" pitchFamily="2" charset="-122"/>
              </a:rPr>
              <a:t>）表示</a:t>
            </a:r>
            <a:r>
              <a:rPr lang="en-US" altLang="zh-CN" sz="2400">
                <a:latin typeface="宋体" panose="02010600030101010101" pitchFamily="2" charset="-122"/>
              </a:rPr>
              <a:t>CPU</a:t>
            </a:r>
            <a:r>
              <a:rPr lang="zh-CN" altLang="en-US" sz="2400">
                <a:latin typeface="宋体" panose="02010600030101010101" pitchFamily="2" charset="-122"/>
              </a:rPr>
              <a:t>发出控制信号</a:t>
            </a:r>
            <a:r>
              <a:rPr lang="en-US" altLang="zh-CN" sz="2400">
                <a:latin typeface="宋体" panose="02010600030101010101" pitchFamily="2" charset="-122"/>
              </a:rPr>
              <a:t>C</a:t>
            </a:r>
            <a:r>
              <a:rPr lang="zh-CN" altLang="en-US" sz="2400">
                <a:latin typeface="宋体" panose="02010600030101010101" pitchFamily="2" charset="-122"/>
              </a:rPr>
              <a:t>将接口中的</a:t>
            </a:r>
            <a:r>
              <a:rPr lang="en-US" altLang="zh-CN" sz="2400">
                <a:latin typeface="宋体" panose="02010600030101010101" pitchFamily="2" charset="-122"/>
              </a:rPr>
              <a:t>BS</a:t>
            </a:r>
            <a:r>
              <a:rPr lang="zh-CN" altLang="en-US" sz="2400">
                <a:latin typeface="宋体" panose="02010600030101010101" pitchFamily="2" charset="-122"/>
              </a:rPr>
              <a:t>和</a:t>
            </a:r>
            <a:r>
              <a:rPr lang="en-US" altLang="zh-CN" sz="2400">
                <a:latin typeface="宋体" panose="02010600030101010101" pitchFamily="2" charset="-122"/>
              </a:rPr>
              <a:t>RD</a:t>
            </a:r>
            <a:r>
              <a:rPr lang="zh-CN" altLang="en-US" sz="2400">
                <a:latin typeface="宋体" panose="02010600030101010101" pitchFamily="2" charset="-122"/>
              </a:rPr>
              <a:t>标志复位。</a:t>
            </a:r>
          </a:p>
        </p:txBody>
      </p:sp>
      <p:sp>
        <p:nvSpPr>
          <p:cNvPr id="15376" name="Rectangle 16"/>
          <p:cNvSpPr>
            <a:spLocks noChangeArrowheads="1"/>
          </p:cNvSpPr>
          <p:nvPr/>
        </p:nvSpPr>
        <p:spPr bwMode="auto">
          <a:xfrm>
            <a:off x="381000" y="5181600"/>
            <a:ext cx="8208963" cy="1187450"/>
          </a:xfrm>
          <a:prstGeom prst="rect">
            <a:avLst/>
          </a:prstGeom>
          <a:noFill/>
          <a:ln w="12700">
            <a:noFill/>
            <a:miter lim="800000"/>
            <a:headEnd type="none" w="sm" len="sm"/>
            <a:tailEnd type="none" w="sm" len="sm"/>
          </a:ln>
        </p:spPr>
        <p:txBody>
          <a:bodyPr>
            <a:spAutoFit/>
          </a:bodyPr>
          <a:lstStyle/>
          <a:p>
            <a:pPr>
              <a:spcBef>
                <a:spcPct val="20000"/>
              </a:spcBef>
              <a:buClr>
                <a:schemeClr val="tx2"/>
              </a:buClr>
              <a:buSzPct val="70000"/>
              <a:buFont typeface="Wingdings" panose="05000000000000000000" pitchFamily="2" charset="2"/>
              <a:buNone/>
            </a:pPr>
            <a:r>
              <a:rPr lang="zh-CN" altLang="en-US" sz="2400"/>
              <a:t>设备选择器：设备选择器用来判别总线上送出的地址（或称呼叫的设备）是否为本设备，它实际上是设备地址的译码比较电路。</a:t>
            </a:r>
          </a:p>
        </p:txBody>
      </p:sp>
      <p:sp>
        <p:nvSpPr>
          <p:cNvPr id="15377" name="Rectangle 17"/>
          <p:cNvSpPr>
            <a:spLocks noChangeArrowheads="1"/>
          </p:cNvSpPr>
          <p:nvPr/>
        </p:nvSpPr>
        <p:spPr bwMode="auto">
          <a:xfrm>
            <a:off x="533400" y="5181600"/>
            <a:ext cx="8135938" cy="1187450"/>
          </a:xfrm>
          <a:prstGeom prst="rect">
            <a:avLst/>
          </a:prstGeom>
          <a:noFill/>
          <a:ln w="12700">
            <a:noFill/>
            <a:miter lim="800000"/>
            <a:headEnd type="none" w="sm" len="sm"/>
            <a:tailEnd type="none" w="sm" len="sm"/>
          </a:ln>
        </p:spPr>
        <p:txBody>
          <a:bodyPr>
            <a:spAutoFit/>
          </a:bodyPr>
          <a:lstStyle/>
          <a:p>
            <a:pPr>
              <a:spcBef>
                <a:spcPct val="20000"/>
              </a:spcBef>
              <a:buClr>
                <a:schemeClr val="tx2"/>
              </a:buClr>
              <a:buSzPct val="70000"/>
              <a:buFont typeface="Wingdings" panose="05000000000000000000" pitchFamily="2" charset="2"/>
              <a:buNone/>
            </a:pPr>
            <a:r>
              <a:rPr lang="zh-CN" altLang="en-US" sz="2400">
                <a:latin typeface="宋体" panose="02010600030101010101" pitchFamily="2" charset="-122"/>
              </a:rPr>
              <a:t>准备就绪的标志</a:t>
            </a:r>
            <a:r>
              <a:rPr lang="en-US" altLang="zh-CN" sz="2400">
                <a:latin typeface="宋体" panose="02010600030101010101" pitchFamily="2" charset="-122"/>
              </a:rPr>
              <a:t>(RD)</a:t>
            </a:r>
            <a:r>
              <a:rPr lang="zh-CN" altLang="en-US" sz="2400">
                <a:latin typeface="宋体" panose="02010600030101010101" pitchFamily="2" charset="-122"/>
              </a:rPr>
              <a:t>：一旦设备做好一次数据的接收或发送，便发出一个设备动作完毕信号 ，使</a:t>
            </a:r>
            <a:r>
              <a:rPr lang="en-US" altLang="zh-CN" sz="2400">
                <a:latin typeface="宋体" panose="02010600030101010101" pitchFamily="2" charset="-122"/>
              </a:rPr>
              <a:t>RD</a:t>
            </a:r>
            <a:r>
              <a:rPr lang="zh-CN" altLang="en-US" sz="2400">
                <a:latin typeface="宋体" panose="02010600030101010101" pitchFamily="2" charset="-122"/>
              </a:rPr>
              <a:t>标志置“</a:t>
            </a:r>
            <a:r>
              <a:rPr lang="en-US" altLang="zh-CN" sz="2400">
                <a:latin typeface="宋体" panose="02010600030101010101" pitchFamily="2" charset="-122"/>
              </a:rPr>
              <a:t>1”</a:t>
            </a:r>
            <a:r>
              <a:rPr lang="zh-CN" altLang="en-US" sz="2400">
                <a:latin typeface="宋体" panose="02010600030101010101" pitchFamily="2" charset="-122"/>
              </a:rPr>
              <a:t>。在中断方式中，该标志用作为中断源触发器，简称中断触发器。 </a:t>
            </a:r>
          </a:p>
        </p:txBody>
      </p:sp>
      <p:sp>
        <p:nvSpPr>
          <p:cNvPr id="15378" name="Rectangle 18"/>
          <p:cNvSpPr>
            <a:spLocks noChangeArrowheads="1"/>
          </p:cNvSpPr>
          <p:nvPr/>
        </p:nvSpPr>
        <p:spPr bwMode="auto">
          <a:xfrm>
            <a:off x="457200" y="5105400"/>
            <a:ext cx="8135938" cy="1552575"/>
          </a:xfrm>
          <a:prstGeom prst="rect">
            <a:avLst/>
          </a:prstGeom>
          <a:noFill/>
          <a:ln w="12700">
            <a:noFill/>
            <a:miter lim="800000"/>
            <a:headEnd type="none" w="sm" len="sm"/>
            <a:tailEnd type="none" w="sm" len="sm"/>
          </a:ln>
        </p:spPr>
        <p:txBody>
          <a:bodyPr>
            <a:spAutoFit/>
          </a:bodyPr>
          <a:lstStyle/>
          <a:p>
            <a:pPr>
              <a:spcBef>
                <a:spcPct val="20000"/>
              </a:spcBef>
              <a:buClr>
                <a:schemeClr val="tx2"/>
              </a:buClr>
              <a:buSzPct val="70000"/>
              <a:buFont typeface="Wingdings" panose="05000000000000000000" pitchFamily="2" charset="2"/>
              <a:buNone/>
            </a:pPr>
            <a:r>
              <a:rPr lang="zh-CN" altLang="en-US" sz="2400">
                <a:latin typeface="宋体" panose="02010600030101010101" pitchFamily="2" charset="-122"/>
              </a:rPr>
              <a:t>允许中断触发器</a:t>
            </a:r>
            <a:r>
              <a:rPr lang="en-US" altLang="zh-CN" sz="2400">
                <a:latin typeface="宋体" panose="02010600030101010101" pitchFamily="2" charset="-122"/>
              </a:rPr>
              <a:t>(EI)</a:t>
            </a:r>
            <a:r>
              <a:rPr lang="zh-CN" altLang="en-US" sz="2400">
                <a:latin typeface="宋体" panose="02010600030101010101" pitchFamily="2" charset="-122"/>
              </a:rPr>
              <a:t>：可用程序指令来置位。</a:t>
            </a:r>
            <a:r>
              <a:rPr lang="en-US" altLang="zh-CN" sz="2400">
                <a:latin typeface="宋体" panose="02010600030101010101" pitchFamily="2" charset="-122"/>
              </a:rPr>
              <a:t>EI</a:t>
            </a:r>
            <a:r>
              <a:rPr lang="zh-CN" altLang="en-US" sz="2400">
                <a:latin typeface="宋体" panose="02010600030101010101" pitchFamily="2" charset="-122"/>
              </a:rPr>
              <a:t>为“</a:t>
            </a:r>
            <a:r>
              <a:rPr lang="en-US" altLang="zh-CN" sz="2400">
                <a:latin typeface="宋体" panose="02010600030101010101" pitchFamily="2" charset="-122"/>
              </a:rPr>
              <a:t>1”</a:t>
            </a:r>
            <a:r>
              <a:rPr lang="zh-CN" altLang="en-US" sz="2400">
                <a:latin typeface="宋体" panose="02010600030101010101" pitchFamily="2" charset="-122"/>
              </a:rPr>
              <a:t>时，某设备可以向</a:t>
            </a:r>
            <a:r>
              <a:rPr lang="en-US" altLang="zh-CN" sz="2400">
                <a:latin typeface="宋体" panose="02010600030101010101" pitchFamily="2" charset="-122"/>
              </a:rPr>
              <a:t>CPU</a:t>
            </a:r>
            <a:r>
              <a:rPr lang="zh-CN" altLang="en-US" sz="2400">
                <a:latin typeface="宋体" panose="02010600030101010101" pitchFamily="2" charset="-122"/>
              </a:rPr>
              <a:t>发出中断请求；</a:t>
            </a:r>
            <a:r>
              <a:rPr lang="en-US" altLang="zh-CN" sz="2400">
                <a:latin typeface="宋体" panose="02010600030101010101" pitchFamily="2" charset="-122"/>
              </a:rPr>
              <a:t>EI</a:t>
            </a:r>
            <a:r>
              <a:rPr lang="zh-CN" altLang="en-US" sz="2400">
                <a:latin typeface="宋体" panose="02010600030101010101" pitchFamily="2" charset="-122"/>
              </a:rPr>
              <a:t>为“</a:t>
            </a:r>
            <a:r>
              <a:rPr lang="en-US" altLang="zh-CN" sz="2400">
                <a:latin typeface="宋体" panose="02010600030101010101" pitchFamily="2" charset="-122"/>
              </a:rPr>
              <a:t>0”</a:t>
            </a:r>
            <a:r>
              <a:rPr lang="zh-CN" altLang="en-US" sz="2400">
                <a:latin typeface="宋体" panose="02010600030101010101" pitchFamily="2" charset="-122"/>
              </a:rPr>
              <a:t>时，不能向</a:t>
            </a:r>
            <a:r>
              <a:rPr lang="en-US" altLang="zh-CN" sz="2400">
                <a:latin typeface="宋体" panose="02010600030101010101" pitchFamily="2" charset="-122"/>
              </a:rPr>
              <a:t>CPU</a:t>
            </a:r>
            <a:r>
              <a:rPr lang="zh-CN" altLang="en-US" sz="2400">
                <a:latin typeface="宋体" panose="02010600030101010101" pitchFamily="2" charset="-122"/>
              </a:rPr>
              <a:t>发出中断请求。设置</a:t>
            </a:r>
            <a:r>
              <a:rPr lang="en-US" altLang="zh-CN" sz="2400">
                <a:latin typeface="宋体" panose="02010600030101010101" pitchFamily="2" charset="-122"/>
              </a:rPr>
              <a:t>EI</a:t>
            </a:r>
            <a:r>
              <a:rPr lang="zh-CN" altLang="en-US" sz="2400">
                <a:latin typeface="宋体" panose="02010600030101010101" pitchFamily="2" charset="-122"/>
              </a:rPr>
              <a:t>标志的目的，就是通过软件来控制是否允许某设备发出中断请求。 </a:t>
            </a:r>
          </a:p>
        </p:txBody>
      </p:sp>
      <p:sp>
        <p:nvSpPr>
          <p:cNvPr id="15379" name="Rectangle 19"/>
          <p:cNvSpPr>
            <a:spLocks noChangeArrowheads="1"/>
          </p:cNvSpPr>
          <p:nvPr/>
        </p:nvSpPr>
        <p:spPr bwMode="auto">
          <a:xfrm>
            <a:off x="533400" y="5257800"/>
            <a:ext cx="8135938" cy="1187450"/>
          </a:xfrm>
          <a:prstGeom prst="rect">
            <a:avLst/>
          </a:prstGeom>
          <a:noFill/>
          <a:ln w="12700">
            <a:noFill/>
            <a:miter lim="800000"/>
            <a:headEnd type="none" w="sm" len="sm"/>
            <a:tailEnd type="none" w="sm" len="sm"/>
          </a:ln>
        </p:spPr>
        <p:txBody>
          <a:bodyPr>
            <a:spAutoFit/>
          </a:bodyPr>
          <a:lstStyle/>
          <a:p>
            <a:pPr>
              <a:spcBef>
                <a:spcPct val="20000"/>
              </a:spcBef>
              <a:buClr>
                <a:schemeClr val="tx2"/>
              </a:buClr>
              <a:buSzPct val="70000"/>
              <a:buFont typeface="Wingdings" panose="05000000000000000000" pitchFamily="2" charset="2"/>
              <a:buNone/>
            </a:pPr>
            <a:r>
              <a:rPr lang="zh-CN" altLang="en-US" sz="2400">
                <a:latin typeface="宋体" panose="02010600030101010101" pitchFamily="2" charset="-122"/>
              </a:rPr>
              <a:t>中断请求触发器</a:t>
            </a:r>
            <a:r>
              <a:rPr lang="en-US" altLang="zh-CN" sz="2400">
                <a:latin typeface="宋体" panose="02010600030101010101" pitchFamily="2" charset="-122"/>
              </a:rPr>
              <a:t>(IR)</a:t>
            </a:r>
            <a:r>
              <a:rPr lang="zh-CN" altLang="en-US" sz="2400">
                <a:latin typeface="宋体" panose="02010600030101010101" pitchFamily="2" charset="-122"/>
              </a:rPr>
              <a:t>：它暂存中断请求线上由设备发出的中断请求信号。当</a:t>
            </a:r>
            <a:r>
              <a:rPr lang="en-US" altLang="zh-CN" sz="2400">
                <a:latin typeface="宋体" panose="02010600030101010101" pitchFamily="2" charset="-122"/>
              </a:rPr>
              <a:t>IR</a:t>
            </a:r>
            <a:r>
              <a:rPr lang="zh-CN" altLang="en-US" sz="2400">
                <a:latin typeface="宋体" panose="02010600030101010101" pitchFamily="2" charset="-122"/>
              </a:rPr>
              <a:t>标志为“</a:t>
            </a:r>
            <a:r>
              <a:rPr lang="en-US" altLang="zh-CN" sz="2400">
                <a:latin typeface="宋体" panose="02010600030101010101" pitchFamily="2" charset="-122"/>
              </a:rPr>
              <a:t>1”</a:t>
            </a:r>
            <a:r>
              <a:rPr lang="zh-CN" altLang="en-US" sz="2400">
                <a:latin typeface="宋体" panose="02010600030101010101" pitchFamily="2" charset="-122"/>
              </a:rPr>
              <a:t>时，表示设备发出了中断请求。</a:t>
            </a:r>
            <a:r>
              <a:rPr lang="zh-CN" altLang="en-US"/>
              <a:t> </a:t>
            </a:r>
          </a:p>
        </p:txBody>
      </p:sp>
      <p:sp>
        <p:nvSpPr>
          <p:cNvPr id="15380" name="Rectangle 20"/>
          <p:cNvSpPr>
            <a:spLocks noChangeArrowheads="1"/>
          </p:cNvSpPr>
          <p:nvPr/>
        </p:nvSpPr>
        <p:spPr bwMode="auto">
          <a:xfrm>
            <a:off x="533400" y="5181600"/>
            <a:ext cx="8135938" cy="1187450"/>
          </a:xfrm>
          <a:prstGeom prst="rect">
            <a:avLst/>
          </a:prstGeom>
          <a:noFill/>
          <a:ln w="12700">
            <a:noFill/>
            <a:miter lim="800000"/>
            <a:headEnd type="none" w="sm" len="sm"/>
            <a:tailEnd type="none" w="sm" len="sm"/>
          </a:ln>
        </p:spPr>
        <p:txBody>
          <a:bodyPr>
            <a:spAutoFit/>
          </a:bodyPr>
          <a:lstStyle/>
          <a:p>
            <a:pPr>
              <a:spcBef>
                <a:spcPct val="20000"/>
              </a:spcBef>
              <a:buClr>
                <a:schemeClr val="tx2"/>
              </a:buClr>
              <a:buSzPct val="70000"/>
              <a:buFont typeface="Wingdings" panose="05000000000000000000" pitchFamily="2" charset="2"/>
              <a:buNone/>
            </a:pPr>
            <a:r>
              <a:rPr lang="zh-CN" altLang="en-US" sz="2400">
                <a:latin typeface="宋体" panose="02010600030101010101" pitchFamily="2" charset="-122"/>
              </a:rPr>
              <a:t>中断屏蔽触发器</a:t>
            </a:r>
            <a:r>
              <a:rPr lang="en-US" altLang="zh-CN" sz="2400">
                <a:latin typeface="宋体" panose="02010600030101010101" pitchFamily="2" charset="-122"/>
              </a:rPr>
              <a:t>(IM)</a:t>
            </a:r>
            <a:r>
              <a:rPr lang="zh-CN" altLang="en-US" sz="2400">
                <a:latin typeface="宋体" panose="02010600030101010101" pitchFamily="2" charset="-122"/>
              </a:rPr>
              <a:t>：是</a:t>
            </a:r>
            <a:r>
              <a:rPr lang="en-US" altLang="zh-CN" sz="2400">
                <a:latin typeface="宋体" panose="02010600030101010101" pitchFamily="2" charset="-122"/>
              </a:rPr>
              <a:t>CPU</a:t>
            </a:r>
            <a:r>
              <a:rPr lang="zh-CN" altLang="en-US" sz="2400">
                <a:latin typeface="宋体" panose="02010600030101010101" pitchFamily="2" charset="-122"/>
              </a:rPr>
              <a:t>是否受理中断或批准中断的标志。</a:t>
            </a:r>
            <a:r>
              <a:rPr lang="en-US" altLang="zh-CN" sz="2400">
                <a:latin typeface="宋体" panose="02010600030101010101" pitchFamily="2" charset="-122"/>
              </a:rPr>
              <a:t>IM</a:t>
            </a:r>
            <a:r>
              <a:rPr lang="zh-CN" altLang="en-US" sz="2400">
                <a:latin typeface="宋体" panose="02010600030101010101" pitchFamily="2" charset="-122"/>
              </a:rPr>
              <a:t>标志为“</a:t>
            </a:r>
            <a:r>
              <a:rPr lang="en-US" altLang="zh-CN" sz="2400">
                <a:latin typeface="宋体" panose="02010600030101010101" pitchFamily="2" charset="-122"/>
              </a:rPr>
              <a:t>0”</a:t>
            </a:r>
            <a:r>
              <a:rPr lang="zh-CN" altLang="en-US" sz="2400">
                <a:latin typeface="宋体" panose="02010600030101010101" pitchFamily="2" charset="-122"/>
              </a:rPr>
              <a:t>时，</a:t>
            </a:r>
            <a:r>
              <a:rPr lang="en-US" altLang="zh-CN" sz="2400">
                <a:latin typeface="宋体" panose="02010600030101010101" pitchFamily="2" charset="-122"/>
              </a:rPr>
              <a:t>CPU</a:t>
            </a:r>
            <a:r>
              <a:rPr lang="zh-CN" altLang="en-US" sz="2400">
                <a:latin typeface="宋体" panose="02010600030101010101" pitchFamily="2" charset="-122"/>
              </a:rPr>
              <a:t>可以受理外界的中断请求，反之，</a:t>
            </a:r>
            <a:r>
              <a:rPr lang="en-US" altLang="zh-CN" sz="2400">
                <a:latin typeface="宋体" panose="02010600030101010101" pitchFamily="2" charset="-122"/>
              </a:rPr>
              <a:t>IM</a:t>
            </a:r>
            <a:r>
              <a:rPr lang="zh-CN" altLang="en-US" sz="2400">
                <a:latin typeface="宋体" panose="02010600030101010101" pitchFamily="2" charset="-122"/>
              </a:rPr>
              <a:t>标志为“</a:t>
            </a:r>
            <a:r>
              <a:rPr lang="en-US" altLang="zh-CN" sz="2400">
                <a:latin typeface="宋体" panose="02010600030101010101" pitchFamily="2" charset="-122"/>
              </a:rPr>
              <a:t>1”</a:t>
            </a:r>
            <a:r>
              <a:rPr lang="zh-CN" altLang="en-US" sz="2400">
                <a:latin typeface="宋体" panose="02010600030101010101" pitchFamily="2" charset="-122"/>
              </a:rPr>
              <a:t>时，</a:t>
            </a:r>
            <a:r>
              <a:rPr lang="en-US" altLang="zh-CN" sz="2400">
                <a:latin typeface="宋体" panose="02010600030101010101" pitchFamily="2" charset="-122"/>
              </a:rPr>
              <a:t>CPU</a:t>
            </a:r>
            <a:r>
              <a:rPr lang="zh-CN" altLang="en-US" sz="2400">
                <a:latin typeface="宋体" panose="02010600030101010101" pitchFamily="2" charset="-122"/>
              </a:rPr>
              <a:t>不受理外界的中断。</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76"/>
                                        </p:tgtEl>
                                        <p:attrNameLst>
                                          <p:attrName>style.visibility</p:attrName>
                                        </p:attrNameLst>
                                      </p:cBhvr>
                                      <p:to>
                                        <p:strVal val="visible"/>
                                      </p:to>
                                    </p:set>
                                    <p:animEffect transition="in" filter="dissolve">
                                      <p:cBhvr>
                                        <p:cTn id="7" dur="500"/>
                                        <p:tgtEl>
                                          <p:spTgt spid="15376"/>
                                        </p:tgtEl>
                                      </p:cBhvr>
                                    </p:animEffect>
                                  </p:childTnLst>
                                  <p:subTnLst>
                                    <p:set>
                                      <p:cBhvr override="childStyle">
                                        <p:cTn dur="1" fill="hold" display="0" masterRel="nextClick" afterEffect="1"/>
                                        <p:tgtEl>
                                          <p:spTgt spid="15376"/>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377"/>
                                        </p:tgtEl>
                                        <p:attrNameLst>
                                          <p:attrName>style.visibility</p:attrName>
                                        </p:attrNameLst>
                                      </p:cBhvr>
                                      <p:to>
                                        <p:strVal val="visible"/>
                                      </p:to>
                                    </p:set>
                                    <p:animEffect transition="in" filter="dissolve">
                                      <p:cBhvr>
                                        <p:cTn id="12" dur="500"/>
                                        <p:tgtEl>
                                          <p:spTgt spid="15377"/>
                                        </p:tgtEl>
                                      </p:cBhvr>
                                    </p:animEffect>
                                  </p:childTnLst>
                                  <p:subTnLst>
                                    <p:set>
                                      <p:cBhvr override="childStyle">
                                        <p:cTn dur="1" fill="hold" display="0" masterRel="nextClick" afterEffect="1"/>
                                        <p:tgtEl>
                                          <p:spTgt spid="1537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378"/>
                                        </p:tgtEl>
                                        <p:attrNameLst>
                                          <p:attrName>style.visibility</p:attrName>
                                        </p:attrNameLst>
                                      </p:cBhvr>
                                      <p:to>
                                        <p:strVal val="visible"/>
                                      </p:to>
                                    </p:set>
                                    <p:animEffect transition="in" filter="dissolve">
                                      <p:cBhvr>
                                        <p:cTn id="17" dur="500"/>
                                        <p:tgtEl>
                                          <p:spTgt spid="15378"/>
                                        </p:tgtEl>
                                      </p:cBhvr>
                                    </p:animEffect>
                                  </p:childTnLst>
                                  <p:subTnLst>
                                    <p:set>
                                      <p:cBhvr override="childStyle">
                                        <p:cTn dur="1" fill="hold" display="0" masterRel="nextClick" afterEffect="1"/>
                                        <p:tgtEl>
                                          <p:spTgt spid="15378"/>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379"/>
                                        </p:tgtEl>
                                        <p:attrNameLst>
                                          <p:attrName>style.visibility</p:attrName>
                                        </p:attrNameLst>
                                      </p:cBhvr>
                                      <p:to>
                                        <p:strVal val="visible"/>
                                      </p:to>
                                    </p:set>
                                    <p:animEffect transition="in" filter="dissolve">
                                      <p:cBhvr>
                                        <p:cTn id="22" dur="500"/>
                                        <p:tgtEl>
                                          <p:spTgt spid="15379"/>
                                        </p:tgtEl>
                                      </p:cBhvr>
                                    </p:animEffect>
                                  </p:childTnLst>
                                  <p:subTnLst>
                                    <p:set>
                                      <p:cBhvr override="childStyle">
                                        <p:cTn dur="1" fill="hold" display="0" masterRel="nextClick" afterEffect="1"/>
                                        <p:tgtEl>
                                          <p:spTgt spid="15379"/>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380"/>
                                        </p:tgtEl>
                                        <p:attrNameLst>
                                          <p:attrName>style.visibility</p:attrName>
                                        </p:attrNameLst>
                                      </p:cBhvr>
                                      <p:to>
                                        <p:strVal val="visible"/>
                                      </p:to>
                                    </p:set>
                                    <p:animEffect transition="in" filter="dissolve">
                                      <p:cBhvr>
                                        <p:cTn id="27" dur="500"/>
                                        <p:tgtEl>
                                          <p:spTgt spid="15380"/>
                                        </p:tgtEl>
                                      </p:cBhvr>
                                    </p:animEffect>
                                  </p:childTnLst>
                                  <p:subTnLst>
                                    <p:set>
                                      <p:cBhvr override="childStyle">
                                        <p:cTn dur="1" fill="hold" display="0" masterRel="nextClick" afterEffect="1"/>
                                        <p:tgtEl>
                                          <p:spTgt spid="15380"/>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365"/>
                                        </p:tgtEl>
                                        <p:attrNameLst>
                                          <p:attrName>style.visibility</p:attrName>
                                        </p:attrNameLst>
                                      </p:cBhvr>
                                      <p:to>
                                        <p:strVal val="visible"/>
                                      </p:to>
                                    </p:set>
                                    <p:animEffect transition="in" filter="dissolve">
                                      <p:cBhvr>
                                        <p:cTn id="32" dur="500"/>
                                        <p:tgtEl>
                                          <p:spTgt spid="15365"/>
                                        </p:tgtEl>
                                      </p:cBhvr>
                                    </p:animEffect>
                                  </p:childTnLst>
                                  <p:subTnLst>
                                    <p:set>
                                      <p:cBhvr override="childStyle">
                                        <p:cTn dur="1" fill="hold" display="0" masterRel="nextClick" afterEffect="1"/>
                                        <p:tgtEl>
                                          <p:spTgt spid="15365"/>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366"/>
                                        </p:tgtEl>
                                        <p:attrNameLst>
                                          <p:attrName>style.visibility</p:attrName>
                                        </p:attrNameLst>
                                      </p:cBhvr>
                                      <p:to>
                                        <p:strVal val="visible"/>
                                      </p:to>
                                    </p:set>
                                    <p:animEffect transition="in" filter="dissolve">
                                      <p:cBhvr>
                                        <p:cTn id="37" dur="500"/>
                                        <p:tgtEl>
                                          <p:spTgt spid="15366"/>
                                        </p:tgtEl>
                                      </p:cBhvr>
                                    </p:animEffect>
                                  </p:childTnLst>
                                  <p:subTnLst>
                                    <p:set>
                                      <p:cBhvr override="childStyle">
                                        <p:cTn dur="1" fill="hold" display="0" masterRel="nextClick" afterEffect="1"/>
                                        <p:tgtEl>
                                          <p:spTgt spid="15366"/>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5367"/>
                                        </p:tgtEl>
                                        <p:attrNameLst>
                                          <p:attrName>style.visibility</p:attrName>
                                        </p:attrNameLst>
                                      </p:cBhvr>
                                      <p:to>
                                        <p:strVal val="visible"/>
                                      </p:to>
                                    </p:set>
                                    <p:animEffect transition="in" filter="dissolve">
                                      <p:cBhvr>
                                        <p:cTn id="42" dur="500"/>
                                        <p:tgtEl>
                                          <p:spTgt spid="15367"/>
                                        </p:tgtEl>
                                      </p:cBhvr>
                                    </p:animEffect>
                                  </p:childTnLst>
                                  <p:subTnLst>
                                    <p:set>
                                      <p:cBhvr override="childStyle">
                                        <p:cTn dur="1" fill="hold" display="0" masterRel="nextClick" afterEffect="1"/>
                                        <p:tgtEl>
                                          <p:spTgt spid="15367"/>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5368"/>
                                        </p:tgtEl>
                                        <p:attrNameLst>
                                          <p:attrName>style.visibility</p:attrName>
                                        </p:attrNameLst>
                                      </p:cBhvr>
                                      <p:to>
                                        <p:strVal val="visible"/>
                                      </p:to>
                                    </p:set>
                                    <p:animEffect transition="in" filter="dissolve">
                                      <p:cBhvr>
                                        <p:cTn id="47" dur="500"/>
                                        <p:tgtEl>
                                          <p:spTgt spid="15368"/>
                                        </p:tgtEl>
                                      </p:cBhvr>
                                    </p:animEffect>
                                  </p:childTnLst>
                                  <p:subTnLst>
                                    <p:set>
                                      <p:cBhvr override="childStyle">
                                        <p:cTn dur="1" fill="hold" display="0" masterRel="nextClick" afterEffect="1"/>
                                        <p:tgtEl>
                                          <p:spTgt spid="15368"/>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5369"/>
                                        </p:tgtEl>
                                        <p:attrNameLst>
                                          <p:attrName>style.visibility</p:attrName>
                                        </p:attrNameLst>
                                      </p:cBhvr>
                                      <p:to>
                                        <p:strVal val="visible"/>
                                      </p:to>
                                    </p:set>
                                    <p:animEffect transition="in" filter="dissolve">
                                      <p:cBhvr>
                                        <p:cTn id="52" dur="500"/>
                                        <p:tgtEl>
                                          <p:spTgt spid="15369"/>
                                        </p:tgtEl>
                                      </p:cBhvr>
                                    </p:animEffect>
                                  </p:childTnLst>
                                  <p:subTnLst>
                                    <p:set>
                                      <p:cBhvr override="childStyle">
                                        <p:cTn dur="1" fill="hold" display="0" masterRel="nextClick" afterEffect="1"/>
                                        <p:tgtEl>
                                          <p:spTgt spid="15369"/>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5370"/>
                                        </p:tgtEl>
                                        <p:attrNameLst>
                                          <p:attrName>style.visibility</p:attrName>
                                        </p:attrNameLst>
                                      </p:cBhvr>
                                      <p:to>
                                        <p:strVal val="visible"/>
                                      </p:to>
                                    </p:set>
                                    <p:animEffect transition="in" filter="dissolve">
                                      <p:cBhvr>
                                        <p:cTn id="57" dur="500"/>
                                        <p:tgtEl>
                                          <p:spTgt spid="15370"/>
                                        </p:tgtEl>
                                      </p:cBhvr>
                                    </p:animEffect>
                                  </p:childTnLst>
                                  <p:subTnLst>
                                    <p:set>
                                      <p:cBhvr override="childStyle">
                                        <p:cTn dur="1" fill="hold" display="0" masterRel="nextClick" afterEffect="1"/>
                                        <p:tgtEl>
                                          <p:spTgt spid="15370"/>
                                        </p:tgtEl>
                                        <p:attrNameLst>
                                          <p:attrName>style.visibility</p:attrName>
                                        </p:attrNameLst>
                                      </p:cBhvr>
                                      <p:to>
                                        <p:strVal val="hidden"/>
                                      </p:to>
                                    </p:set>
                                  </p:sub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5371"/>
                                        </p:tgtEl>
                                        <p:attrNameLst>
                                          <p:attrName>style.visibility</p:attrName>
                                        </p:attrNameLst>
                                      </p:cBhvr>
                                      <p:to>
                                        <p:strVal val="visible"/>
                                      </p:to>
                                    </p:set>
                                    <p:animEffect transition="in" filter="dissolve">
                                      <p:cBhvr>
                                        <p:cTn id="62" dur="500"/>
                                        <p:tgtEl>
                                          <p:spTgt spid="15371"/>
                                        </p:tgtEl>
                                      </p:cBhvr>
                                    </p:animEffect>
                                  </p:childTnLst>
                                  <p:subTnLst>
                                    <p:set>
                                      <p:cBhvr override="childStyle">
                                        <p:cTn dur="1" fill="hold" display="0" masterRel="nextClick" afterEffect="1"/>
                                        <p:tgtEl>
                                          <p:spTgt spid="15371"/>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5372"/>
                                        </p:tgtEl>
                                        <p:attrNameLst>
                                          <p:attrName>style.visibility</p:attrName>
                                        </p:attrNameLst>
                                      </p:cBhvr>
                                      <p:to>
                                        <p:strVal val="visible"/>
                                      </p:to>
                                    </p:set>
                                    <p:animEffect transition="in" filter="dissolve">
                                      <p:cBhvr>
                                        <p:cTn id="67" dur="500"/>
                                        <p:tgtEl>
                                          <p:spTgt spid="15372"/>
                                        </p:tgtEl>
                                      </p:cBhvr>
                                    </p:animEffect>
                                  </p:childTnLst>
                                  <p:subTnLst>
                                    <p:set>
                                      <p:cBhvr override="childStyle">
                                        <p:cTn dur="1" fill="hold" display="0" masterRel="nextClick" afterEffect="1"/>
                                        <p:tgtEl>
                                          <p:spTgt spid="15372"/>
                                        </p:tgtEl>
                                        <p:attrNameLst>
                                          <p:attrName>style.visibility</p:attrName>
                                        </p:attrNameLst>
                                      </p:cBhvr>
                                      <p:to>
                                        <p:strVal val="hidden"/>
                                      </p:to>
                                    </p:set>
                                  </p:sub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5373"/>
                                        </p:tgtEl>
                                        <p:attrNameLst>
                                          <p:attrName>style.visibility</p:attrName>
                                        </p:attrNameLst>
                                      </p:cBhvr>
                                      <p:to>
                                        <p:strVal val="visible"/>
                                      </p:to>
                                    </p:set>
                                    <p:animEffect transition="in" filter="dissolve">
                                      <p:cBhvr>
                                        <p:cTn id="72" dur="500"/>
                                        <p:tgtEl>
                                          <p:spTgt spid="15373"/>
                                        </p:tgtEl>
                                      </p:cBhvr>
                                    </p:animEffect>
                                  </p:childTnLst>
                                  <p:subTnLst>
                                    <p:set>
                                      <p:cBhvr override="childStyle">
                                        <p:cTn dur="1" fill="hold" display="0" masterRel="nextClick" afterEffect="1"/>
                                        <p:tgtEl>
                                          <p:spTgt spid="15373"/>
                                        </p:tgtEl>
                                        <p:attrNameLst>
                                          <p:attrName>style.visibility</p:attrName>
                                        </p:attrNameLst>
                                      </p:cBhvr>
                                      <p:to>
                                        <p:strVal val="hidden"/>
                                      </p:to>
                                    </p:set>
                                  </p:sub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5374"/>
                                        </p:tgtEl>
                                        <p:attrNameLst>
                                          <p:attrName>style.visibility</p:attrName>
                                        </p:attrNameLst>
                                      </p:cBhvr>
                                      <p:to>
                                        <p:strVal val="visible"/>
                                      </p:to>
                                    </p:set>
                                    <p:animEffect transition="in" filter="dissolve">
                                      <p:cBhvr>
                                        <p:cTn id="77" dur="500"/>
                                        <p:tgtEl>
                                          <p:spTgt spid="15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autoUpdateAnimBg="0"/>
      <p:bldP spid="15366" grpId="0" autoUpdateAnimBg="0"/>
      <p:bldP spid="15367" grpId="0" autoUpdateAnimBg="0"/>
      <p:bldP spid="15368" grpId="0" autoUpdateAnimBg="0"/>
      <p:bldP spid="15369" grpId="0" autoUpdateAnimBg="0"/>
      <p:bldP spid="15370" grpId="0" autoUpdateAnimBg="0"/>
      <p:bldP spid="15371" grpId="0" autoUpdateAnimBg="0"/>
      <p:bldP spid="15372" grpId="0" autoUpdateAnimBg="0"/>
      <p:bldP spid="15373" grpId="0" autoUpdateAnimBg="0"/>
      <p:bldP spid="15374" grpId="0" autoUpdateAnimBg="0"/>
      <p:bldP spid="15376" grpId="0" autoUpdateAnimBg="0"/>
      <p:bldP spid="15377" grpId="0" autoUpdateAnimBg="0"/>
      <p:bldP spid="15378" grpId="0" autoUpdateAnimBg="0"/>
      <p:bldP spid="15379" grpId="0" autoUpdateAnimBg="0"/>
      <p:bldP spid="15380"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p:spPr>
        <p:txBody>
          <a:bodyPr/>
          <a:lstStyle/>
          <a:p>
            <a:fld id="{8EC81A08-F2D2-4411-9A0C-4C355936662E}" type="slidenum">
              <a:rPr lang="en-US" altLang="zh-CN" smtClean="0"/>
              <a:t>25</a:t>
            </a:fld>
            <a:endParaRPr lang="en-US" altLang="zh-CN"/>
          </a:p>
        </p:txBody>
      </p:sp>
      <p:sp>
        <p:nvSpPr>
          <p:cNvPr id="23555" name="Rectangle 2"/>
          <p:cNvSpPr>
            <a:spLocks noGrp="1" noChangeArrowheads="1"/>
          </p:cNvSpPr>
          <p:nvPr>
            <p:ph type="title"/>
          </p:nvPr>
        </p:nvSpPr>
        <p:spPr>
          <a:xfrm>
            <a:off x="250825" y="0"/>
            <a:ext cx="7543800" cy="930275"/>
          </a:xfrm>
        </p:spPr>
        <p:txBody>
          <a:bodyPr/>
          <a:lstStyle/>
          <a:p>
            <a:pPr eaLnBrk="1" hangingPunct="1"/>
            <a:r>
              <a:rPr lang="en-US" altLang="zh-CN" dirty="0"/>
              <a:t>8.3.4 </a:t>
            </a:r>
            <a:r>
              <a:rPr lang="zh-CN" altLang="en-US" dirty="0"/>
              <a:t>单级中断</a:t>
            </a:r>
          </a:p>
        </p:txBody>
      </p:sp>
      <p:sp>
        <p:nvSpPr>
          <p:cNvPr id="17413" name="Rectangle 5"/>
          <p:cNvSpPr>
            <a:spLocks noChangeArrowheads="1"/>
          </p:cNvSpPr>
          <p:nvPr/>
        </p:nvSpPr>
        <p:spPr bwMode="auto">
          <a:xfrm>
            <a:off x="250825" y="981075"/>
            <a:ext cx="8569325" cy="1187450"/>
          </a:xfrm>
          <a:prstGeom prst="rect">
            <a:avLst/>
          </a:prstGeom>
          <a:noFill/>
          <a:ln w="12700">
            <a:noFill/>
            <a:miter lim="800000"/>
            <a:headEnd type="none" w="sm" len="sm"/>
            <a:tailEnd type="none" w="sm" len="sm"/>
          </a:ln>
        </p:spPr>
        <p:txBody>
          <a:bodyPr anchor="ctr">
            <a:spAutoFit/>
          </a:bodyPr>
          <a:lstStyle/>
          <a:p>
            <a:r>
              <a:rPr lang="en-US" altLang="zh-CN" sz="2400" b="1">
                <a:latin typeface="宋体" panose="02010600030101010101" pitchFamily="2" charset="-122"/>
              </a:rPr>
              <a:t>1.</a:t>
            </a:r>
            <a:r>
              <a:rPr lang="zh-CN" altLang="en-US" sz="2400" b="1">
                <a:latin typeface="宋体" panose="02010600030101010101" pitchFamily="2" charset="-122"/>
              </a:rPr>
              <a:t>单级中断的概念</a:t>
            </a:r>
            <a:endParaRPr lang="zh-CN" altLang="en-US" sz="2400">
              <a:latin typeface="宋体" panose="02010600030101010101" pitchFamily="2" charset="-122"/>
            </a:endParaRPr>
          </a:p>
          <a:p>
            <a:r>
              <a:rPr lang="zh-CN" altLang="en-US" sz="2400">
                <a:latin typeface="宋体" panose="02010600030101010101" pitchFamily="2" charset="-122"/>
              </a:rPr>
              <a:t>　　根据计算机系统对中断处理的策略不同，可分为</a:t>
            </a:r>
            <a:r>
              <a:rPr lang="zh-CN" altLang="en-US" sz="2400" b="1">
                <a:latin typeface="宋体" panose="02010600030101010101" pitchFamily="2" charset="-122"/>
              </a:rPr>
              <a:t>单级中断系统</a:t>
            </a:r>
            <a:r>
              <a:rPr lang="zh-CN" altLang="en-US" sz="2400">
                <a:latin typeface="宋体" panose="02010600030101010101" pitchFamily="2" charset="-122"/>
              </a:rPr>
              <a:t>和</a:t>
            </a:r>
            <a:r>
              <a:rPr lang="zh-CN" altLang="en-US" sz="2400" b="1">
                <a:latin typeface="宋体" panose="02010600030101010101" pitchFamily="2" charset="-122"/>
              </a:rPr>
              <a:t>多级中断系统</a:t>
            </a:r>
            <a:r>
              <a:rPr lang="zh-CN" altLang="en-US" sz="2400">
                <a:latin typeface="宋体" panose="02010600030101010101" pitchFamily="2" charset="-122"/>
              </a:rPr>
              <a:t>。</a:t>
            </a:r>
          </a:p>
        </p:txBody>
      </p:sp>
      <p:pic>
        <p:nvPicPr>
          <p:cNvPr id="17415" name="Picture 7" descr="8"/>
          <p:cNvPicPr>
            <a:picLocks noChangeAspect="1" noChangeArrowheads="1"/>
          </p:cNvPicPr>
          <p:nvPr/>
        </p:nvPicPr>
        <p:blipFill>
          <a:blip r:embed="rId2"/>
          <a:srcRect/>
          <a:stretch>
            <a:fillRect/>
          </a:stretch>
        </p:blipFill>
        <p:spPr bwMode="auto">
          <a:xfrm>
            <a:off x="395288" y="3284538"/>
            <a:ext cx="7921625" cy="3313112"/>
          </a:xfrm>
          <a:prstGeom prst="rect">
            <a:avLst/>
          </a:prstGeom>
          <a:noFill/>
          <a:ln w="9525">
            <a:noFill/>
            <a:miter lim="800000"/>
            <a:headEnd/>
            <a:tailEnd/>
          </a:ln>
        </p:spPr>
      </p:pic>
      <p:sp>
        <p:nvSpPr>
          <p:cNvPr id="17416" name="Rectangle 8"/>
          <p:cNvSpPr>
            <a:spLocks noChangeArrowheads="1"/>
          </p:cNvSpPr>
          <p:nvPr/>
        </p:nvSpPr>
        <p:spPr bwMode="auto">
          <a:xfrm>
            <a:off x="304800" y="990600"/>
            <a:ext cx="8424863" cy="2282825"/>
          </a:xfrm>
          <a:prstGeom prst="rect">
            <a:avLst/>
          </a:prstGeom>
          <a:noFill/>
          <a:ln w="12700">
            <a:noFill/>
            <a:miter lim="800000"/>
            <a:headEnd type="none" w="sm" len="sm"/>
            <a:tailEnd type="none" w="sm" len="sm"/>
          </a:ln>
        </p:spPr>
        <p:txBody>
          <a:bodyPr>
            <a:spAutoFit/>
          </a:bodyPr>
          <a:lstStyle/>
          <a:p>
            <a:r>
              <a:rPr lang="zh-CN" altLang="en-US" sz="2400">
                <a:latin typeface="宋体" panose="02010600030101010101" pitchFamily="2" charset="-122"/>
              </a:rPr>
              <a:t>　　单级中断系统是中断结构中最基本的形式。在单级中断系统中，所有的中断源都属于同一级，所有中断源触发器排成一行，其优先次序是离</a:t>
            </a:r>
            <a:r>
              <a:rPr lang="en-US" altLang="zh-CN" sz="2400">
                <a:latin typeface="宋体" panose="02010600030101010101" pitchFamily="2" charset="-122"/>
              </a:rPr>
              <a:t>CPU</a:t>
            </a:r>
            <a:r>
              <a:rPr lang="zh-CN" altLang="en-US" sz="2400">
                <a:latin typeface="宋体" panose="02010600030101010101" pitchFamily="2" charset="-122"/>
              </a:rPr>
              <a:t>近的优先权高。当响应某一中断请求时，执行该中断源的中断服务程序。在此过程中，不允许其他中断源再打断中断服务程序，即使优先权比它高的中断源也不能再打断。单级中断示意图和系统结构图如下：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413"/>
                                        </p:tgtEl>
                                        <p:attrNameLst>
                                          <p:attrName>style.visibility</p:attrName>
                                        </p:attrNameLst>
                                      </p:cBhvr>
                                      <p:to>
                                        <p:strVal val="visible"/>
                                      </p:to>
                                    </p:set>
                                    <p:animEffect transition="in" filter="dissolve">
                                      <p:cBhvr>
                                        <p:cTn id="7" dur="500"/>
                                        <p:tgtEl>
                                          <p:spTgt spid="17413"/>
                                        </p:tgtEl>
                                      </p:cBhvr>
                                    </p:animEffect>
                                  </p:childTnLst>
                                  <p:subTnLst>
                                    <p:set>
                                      <p:cBhvr override="childStyle">
                                        <p:cTn dur="1" fill="hold" display="0" masterRel="nextClick" afterEffect="1"/>
                                        <p:tgtEl>
                                          <p:spTgt spid="1741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416"/>
                                        </p:tgtEl>
                                        <p:attrNameLst>
                                          <p:attrName>style.visibility</p:attrName>
                                        </p:attrNameLst>
                                      </p:cBhvr>
                                      <p:to>
                                        <p:strVal val="visible"/>
                                      </p:to>
                                    </p:set>
                                    <p:animEffect transition="in" filter="dissolve">
                                      <p:cBhvr>
                                        <p:cTn id="12" dur="500"/>
                                        <p:tgtEl>
                                          <p:spTgt spid="17416"/>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7415"/>
                                        </p:tgtEl>
                                        <p:attrNameLst>
                                          <p:attrName>style.visibility</p:attrName>
                                        </p:attrNameLst>
                                      </p:cBhvr>
                                      <p:to>
                                        <p:strVal val="visible"/>
                                      </p:to>
                                    </p:set>
                                    <p:animEffect transition="in" filter="dissolve">
                                      <p:cBhvr>
                                        <p:cTn id="16" dur="500"/>
                                        <p:tgtEl>
                                          <p:spTgt spid="17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autoUpdateAnimBg="0"/>
      <p:bldP spid="17416"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7"/>
          <p:cNvSpPr>
            <a:spLocks noChangeArrowheads="1"/>
          </p:cNvSpPr>
          <p:nvPr/>
        </p:nvSpPr>
        <p:spPr bwMode="auto">
          <a:xfrm>
            <a:off x="224595" y="184572"/>
            <a:ext cx="8686800" cy="2308324"/>
          </a:xfrm>
          <a:prstGeom prst="rect">
            <a:avLst/>
          </a:prstGeom>
          <a:solidFill>
            <a:schemeClr val="bg1"/>
          </a:solidFill>
          <a:ln w="12700">
            <a:noFill/>
            <a:miter lim="800000"/>
            <a:headEnd type="none" w="sm" len="sm"/>
            <a:tailEnd type="none" w="sm" len="sm"/>
          </a:ln>
        </p:spPr>
        <p:txBody>
          <a:bodyPr anchor="ctr">
            <a:spAutoFit/>
          </a:bodyPr>
          <a:lstStyle/>
          <a:p>
            <a:r>
              <a:rPr lang="en-US" altLang="zh-CN" sz="2400" b="1" dirty="0">
                <a:latin typeface="宋体" panose="02010600030101010101" pitchFamily="2" charset="-122"/>
              </a:rPr>
              <a:t>2.</a:t>
            </a:r>
            <a:r>
              <a:rPr lang="zh-CN" altLang="en-US" sz="2400" b="1" dirty="0">
                <a:latin typeface="宋体" panose="02010600030101010101" pitchFamily="2" charset="-122"/>
              </a:rPr>
              <a:t>单级中断源的识别</a:t>
            </a:r>
          </a:p>
          <a:p>
            <a:r>
              <a:rPr lang="zh-CN" altLang="en-US" sz="2400" dirty="0">
                <a:latin typeface="宋体" panose="02010600030101010101" pitchFamily="2" charset="-122"/>
              </a:rPr>
              <a:t>　　如何确定中断源，并转入被响应的中断服务程序入口地址，是中断处理首先要解决的问题。 </a:t>
            </a:r>
          </a:p>
          <a:p>
            <a:r>
              <a:rPr lang="zh-CN" altLang="en-US" sz="2400" dirty="0">
                <a:latin typeface="宋体" panose="02010600030101010101" pitchFamily="2" charset="-122"/>
              </a:rPr>
              <a:t>　　在单级中断中，采用</a:t>
            </a:r>
            <a:r>
              <a:rPr lang="zh-CN" altLang="en-US" sz="2400" b="1" dirty="0">
                <a:latin typeface="宋体" panose="02010600030101010101" pitchFamily="2" charset="-122"/>
              </a:rPr>
              <a:t>串行排队链法</a:t>
            </a:r>
            <a:r>
              <a:rPr lang="zh-CN" altLang="en-US" sz="2400" dirty="0">
                <a:latin typeface="宋体" panose="02010600030101010101" pitchFamily="2" charset="-122"/>
              </a:rPr>
              <a:t>来实现具有公共请求线的中断源判优识别。</a:t>
            </a:r>
          </a:p>
          <a:p>
            <a:r>
              <a:rPr lang="zh-CN" altLang="en-US" sz="2400" dirty="0">
                <a:latin typeface="宋体" panose="02010600030101010101" pitchFamily="2" charset="-122"/>
              </a:rPr>
              <a:t>    确定中断源     转入被响应的中断服务程序入口地址</a:t>
            </a:r>
          </a:p>
        </p:txBody>
      </p:sp>
      <p:sp>
        <p:nvSpPr>
          <p:cNvPr id="24580" name="Line 11"/>
          <p:cNvSpPr>
            <a:spLocks noChangeShapeType="1"/>
          </p:cNvSpPr>
          <p:nvPr/>
        </p:nvSpPr>
        <p:spPr bwMode="auto">
          <a:xfrm>
            <a:off x="2514600" y="2362200"/>
            <a:ext cx="609600" cy="0"/>
          </a:xfrm>
          <a:prstGeom prst="line">
            <a:avLst/>
          </a:prstGeom>
          <a:noFill/>
          <a:ln w="12700">
            <a:solidFill>
              <a:schemeClr val="tx1"/>
            </a:solidFill>
            <a:round/>
            <a:headEnd type="none" w="sm" len="sm"/>
            <a:tailEnd type="triangle" w="med" len="med"/>
          </a:ln>
        </p:spPr>
        <p:txBody>
          <a:bodyPr wrap="none"/>
          <a:lstStyle/>
          <a:p>
            <a:endParaRPr lang="zh-CN" altLang="en-US"/>
          </a:p>
        </p:txBody>
      </p:sp>
      <p:pic>
        <p:nvPicPr>
          <p:cNvPr id="7" name="Picture 8">
            <a:hlinkClick r:id="rId2"/>
          </p:cNvPr>
          <p:cNvPicPr>
            <a:picLocks noChangeAspect="1" noChangeArrowheads="1"/>
          </p:cNvPicPr>
          <p:nvPr/>
        </p:nvPicPr>
        <p:blipFill>
          <a:blip r:embed="rId3"/>
          <a:srcRect/>
          <a:stretch>
            <a:fillRect/>
          </a:stretch>
        </p:blipFill>
        <p:spPr bwMode="auto">
          <a:xfrm>
            <a:off x="8345957" y="4683889"/>
            <a:ext cx="409575" cy="381000"/>
          </a:xfrm>
          <a:prstGeom prst="rect">
            <a:avLst/>
          </a:prstGeom>
          <a:noFill/>
          <a:ln w="9525">
            <a:noFill/>
            <a:miter lim="800000"/>
            <a:headEnd/>
            <a:tailEnd/>
          </a:ln>
        </p:spPr>
      </p:pic>
      <p:graphicFrame>
        <p:nvGraphicFramePr>
          <p:cNvPr id="9" name="Object 9"/>
          <p:cNvGraphicFramePr>
            <a:graphicFrameLocks noChangeAspect="1"/>
          </p:cNvGraphicFramePr>
          <p:nvPr/>
        </p:nvGraphicFramePr>
        <p:xfrm>
          <a:off x="376995" y="2636912"/>
          <a:ext cx="8534400" cy="4050362"/>
        </p:xfrm>
        <a:graphic>
          <a:graphicData uri="http://schemas.openxmlformats.org/presentationml/2006/ole">
            <mc:AlternateContent xmlns:mc="http://schemas.openxmlformats.org/markup-compatibility/2006">
              <mc:Choice xmlns:v="urn:schemas-microsoft-com:vml" Requires="v">
                <p:oleObj name="位图图像" r:id="rId4" imgW="7200900" imgH="3943350" progId="PBrush">
                  <p:embed/>
                </p:oleObj>
              </mc:Choice>
              <mc:Fallback>
                <p:oleObj name="位图图像" r:id="rId4" imgW="7200900" imgH="3943350" progId="PBrush">
                  <p:embed/>
                  <p:pic>
                    <p:nvPicPr>
                      <p:cNvPr id="0" name="图片 758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6995" y="2636912"/>
                        <a:ext cx="8534400" cy="4050362"/>
                      </a:xfrm>
                      <a:prstGeom prst="rect">
                        <a:avLst/>
                      </a:prstGeom>
                      <a:noFill/>
                      <a:ln>
                        <a:noFill/>
                      </a:ln>
                      <a:effectLst/>
                    </p:spPr>
                  </p:pic>
                </p:oleObj>
              </mc:Fallback>
            </mc:AlternateContent>
          </a:graphicData>
        </a:graphic>
      </p:graphicFrame>
      <p:sp>
        <p:nvSpPr>
          <p:cNvPr id="10" name="Rectangle 10"/>
          <p:cNvSpPr>
            <a:spLocks noChangeArrowheads="1"/>
          </p:cNvSpPr>
          <p:nvPr/>
        </p:nvSpPr>
        <p:spPr bwMode="auto">
          <a:xfrm>
            <a:off x="4198570" y="5074549"/>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1</a:t>
            </a:r>
          </a:p>
        </p:txBody>
      </p:sp>
      <p:sp>
        <p:nvSpPr>
          <p:cNvPr id="11" name="Rectangle 11"/>
          <p:cNvSpPr>
            <a:spLocks noChangeArrowheads="1"/>
          </p:cNvSpPr>
          <p:nvPr/>
        </p:nvSpPr>
        <p:spPr bwMode="auto">
          <a:xfrm>
            <a:off x="2353370" y="624647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1</a:t>
            </a:r>
          </a:p>
        </p:txBody>
      </p:sp>
      <p:sp>
        <p:nvSpPr>
          <p:cNvPr id="12" name="Rectangle 12"/>
          <p:cNvSpPr>
            <a:spLocks noChangeArrowheads="1"/>
          </p:cNvSpPr>
          <p:nvPr/>
        </p:nvSpPr>
        <p:spPr bwMode="auto">
          <a:xfrm>
            <a:off x="2449531" y="544879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1</a:t>
            </a:r>
          </a:p>
        </p:txBody>
      </p:sp>
      <p:sp>
        <p:nvSpPr>
          <p:cNvPr id="13" name="Rectangle 13"/>
          <p:cNvSpPr>
            <a:spLocks noChangeArrowheads="1"/>
          </p:cNvSpPr>
          <p:nvPr/>
        </p:nvSpPr>
        <p:spPr bwMode="auto">
          <a:xfrm>
            <a:off x="1314545" y="544879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0</a:t>
            </a:r>
          </a:p>
        </p:txBody>
      </p:sp>
      <p:sp>
        <p:nvSpPr>
          <p:cNvPr id="14" name="Rectangle 14"/>
          <p:cNvSpPr>
            <a:spLocks noChangeArrowheads="1"/>
          </p:cNvSpPr>
          <p:nvPr/>
        </p:nvSpPr>
        <p:spPr bwMode="auto">
          <a:xfrm>
            <a:off x="6638895" y="624647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0</a:t>
            </a:r>
          </a:p>
        </p:txBody>
      </p:sp>
      <p:sp>
        <p:nvSpPr>
          <p:cNvPr id="15" name="Rectangle 15"/>
          <p:cNvSpPr>
            <a:spLocks noChangeArrowheads="1"/>
          </p:cNvSpPr>
          <p:nvPr/>
        </p:nvSpPr>
        <p:spPr bwMode="auto">
          <a:xfrm>
            <a:off x="2018670" y="5074549"/>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0</a:t>
            </a:r>
          </a:p>
        </p:txBody>
      </p:sp>
      <p:sp>
        <p:nvSpPr>
          <p:cNvPr id="16" name="Rectangle 16"/>
          <p:cNvSpPr>
            <a:spLocks noChangeArrowheads="1"/>
          </p:cNvSpPr>
          <p:nvPr/>
        </p:nvSpPr>
        <p:spPr bwMode="auto">
          <a:xfrm>
            <a:off x="6346492" y="5074549"/>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1</a:t>
            </a:r>
          </a:p>
        </p:txBody>
      </p:sp>
      <p:sp>
        <p:nvSpPr>
          <p:cNvPr id="17" name="Rectangle 17"/>
          <p:cNvSpPr>
            <a:spLocks noChangeArrowheads="1"/>
          </p:cNvSpPr>
          <p:nvPr/>
        </p:nvSpPr>
        <p:spPr bwMode="auto">
          <a:xfrm>
            <a:off x="3295745" y="5506670"/>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0</a:t>
            </a:r>
          </a:p>
        </p:txBody>
      </p:sp>
      <p:sp>
        <p:nvSpPr>
          <p:cNvPr id="18" name="Rectangle 18"/>
          <p:cNvSpPr>
            <a:spLocks noChangeArrowheads="1"/>
          </p:cNvSpPr>
          <p:nvPr/>
        </p:nvSpPr>
        <p:spPr bwMode="auto">
          <a:xfrm>
            <a:off x="4486970" y="6246475"/>
            <a:ext cx="338138" cy="457200"/>
          </a:xfrm>
          <a:prstGeom prst="rect">
            <a:avLst/>
          </a:prstGeom>
          <a:noFill/>
          <a:ln w="12700">
            <a:noFill/>
            <a:miter lim="800000"/>
            <a:headEnd type="none" w="sm" len="sm"/>
            <a:tailEnd type="none" w="sm" len="sm"/>
          </a:ln>
        </p:spPr>
        <p:txBody>
          <a:bodyPr>
            <a:spAutoFit/>
          </a:bodyPr>
          <a:lstStyle/>
          <a:p>
            <a:r>
              <a:rPr lang="en-US" altLang="zh-CN" sz="2400" b="1">
                <a:solidFill>
                  <a:srgbClr val="FF3300"/>
                </a:solidFill>
                <a:latin typeface="宋体" panose="02010600030101010101" pitchFamily="2" charset="-122"/>
              </a:rPr>
              <a:t>0</a:t>
            </a:r>
          </a:p>
        </p:txBody>
      </p:sp>
      <p:sp>
        <p:nvSpPr>
          <p:cNvPr id="19" name="Rectangle 19"/>
          <p:cNvSpPr>
            <a:spLocks noChangeArrowheads="1"/>
          </p:cNvSpPr>
          <p:nvPr/>
        </p:nvSpPr>
        <p:spPr bwMode="auto">
          <a:xfrm>
            <a:off x="5406195" y="555102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1</a:t>
            </a:r>
          </a:p>
        </p:txBody>
      </p:sp>
      <p:sp>
        <p:nvSpPr>
          <p:cNvPr id="20" name="Rectangle 20"/>
          <p:cNvSpPr>
            <a:spLocks noChangeArrowheads="1"/>
          </p:cNvSpPr>
          <p:nvPr/>
        </p:nvSpPr>
        <p:spPr bwMode="auto">
          <a:xfrm>
            <a:off x="6244395" y="5551025"/>
            <a:ext cx="304800" cy="457200"/>
          </a:xfrm>
          <a:prstGeom prst="rect">
            <a:avLst/>
          </a:prstGeom>
          <a:noFill/>
          <a:ln w="12700">
            <a:noFill/>
            <a:miter lim="800000"/>
            <a:headEnd type="none" w="sm" len="sm"/>
            <a:tailEnd type="none" w="sm" len="sm"/>
          </a:ln>
        </p:spPr>
        <p:txBody>
          <a:bodyPr>
            <a:spAutoFit/>
          </a:bodyPr>
          <a:lstStyle/>
          <a:p>
            <a:r>
              <a:rPr lang="en-US" altLang="zh-CN" sz="2400" b="1">
                <a:solidFill>
                  <a:srgbClr val="FF3300"/>
                </a:solidFill>
                <a:latin typeface="宋体" panose="02010600030101010101" pitchFamily="2" charset="-122"/>
              </a:rPr>
              <a:t>0</a:t>
            </a:r>
          </a:p>
        </p:txBody>
      </p:sp>
      <p:sp>
        <p:nvSpPr>
          <p:cNvPr id="21" name="Rectangle 22"/>
          <p:cNvSpPr>
            <a:spLocks noChangeArrowheads="1"/>
          </p:cNvSpPr>
          <p:nvPr/>
        </p:nvSpPr>
        <p:spPr bwMode="auto">
          <a:xfrm>
            <a:off x="4057745" y="5506670"/>
            <a:ext cx="338138" cy="457200"/>
          </a:xfrm>
          <a:prstGeom prst="rect">
            <a:avLst/>
          </a:prstGeom>
          <a:noFill/>
          <a:ln w="12700">
            <a:noFill/>
            <a:miter lim="800000"/>
            <a:headEnd type="none" w="sm" len="sm"/>
            <a:tailEnd type="none" w="sm" len="sm"/>
          </a:ln>
        </p:spPr>
        <p:txBody>
          <a:bodyPr>
            <a:spAutoFit/>
          </a:bodyPr>
          <a:lstStyle/>
          <a:p>
            <a:r>
              <a:rPr lang="en-US" altLang="zh-CN" sz="2400" b="1">
                <a:solidFill>
                  <a:srgbClr val="FF3300"/>
                </a:solidFill>
                <a:latin typeface="宋体" panose="02010600030101010101" pitchFamily="2" charset="-122"/>
              </a:rPr>
              <a:t>1</a:t>
            </a:r>
          </a:p>
        </p:txBody>
      </p:sp>
      <p:sp>
        <p:nvSpPr>
          <p:cNvPr id="22" name="Rectangle 23"/>
          <p:cNvSpPr>
            <a:spLocks noChangeArrowheads="1"/>
          </p:cNvSpPr>
          <p:nvPr/>
        </p:nvSpPr>
        <p:spPr bwMode="auto">
          <a:xfrm>
            <a:off x="2202895" y="395234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0</a:t>
            </a:r>
          </a:p>
        </p:txBody>
      </p:sp>
      <p:sp>
        <p:nvSpPr>
          <p:cNvPr id="23" name="Rectangle 24"/>
          <p:cNvSpPr>
            <a:spLocks noChangeArrowheads="1"/>
          </p:cNvSpPr>
          <p:nvPr/>
        </p:nvSpPr>
        <p:spPr bwMode="auto">
          <a:xfrm>
            <a:off x="4567995" y="395234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1</a:t>
            </a:r>
          </a:p>
        </p:txBody>
      </p:sp>
      <p:sp>
        <p:nvSpPr>
          <p:cNvPr id="24" name="Rectangle 25"/>
          <p:cNvSpPr>
            <a:spLocks noChangeArrowheads="1"/>
          </p:cNvSpPr>
          <p:nvPr/>
        </p:nvSpPr>
        <p:spPr bwMode="auto">
          <a:xfrm>
            <a:off x="6777795" y="409585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0</a:t>
            </a:r>
          </a:p>
        </p:txBody>
      </p:sp>
      <p:sp>
        <p:nvSpPr>
          <p:cNvPr id="25" name="Rectangle 26"/>
          <p:cNvSpPr>
            <a:spLocks noChangeArrowheads="1"/>
          </p:cNvSpPr>
          <p:nvPr/>
        </p:nvSpPr>
        <p:spPr bwMode="auto">
          <a:xfrm>
            <a:off x="1291395" y="4751425"/>
            <a:ext cx="381000"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anose="02010600030101010101" pitchFamily="2" charset="-122"/>
              </a:rPr>
              <a:t>1</a:t>
            </a:r>
          </a:p>
        </p:txBody>
      </p:sp>
      <p:sp>
        <p:nvSpPr>
          <p:cNvPr id="26" name="Rectangle 27"/>
          <p:cNvSpPr>
            <a:spLocks noChangeArrowheads="1"/>
          </p:cNvSpPr>
          <p:nvPr/>
        </p:nvSpPr>
        <p:spPr bwMode="auto">
          <a:xfrm>
            <a:off x="3501195" y="2564904"/>
            <a:ext cx="1981200" cy="1854696"/>
          </a:xfrm>
          <a:prstGeom prst="rect">
            <a:avLst/>
          </a:prstGeom>
          <a:noFill/>
          <a:ln w="28575">
            <a:solidFill>
              <a:srgbClr val="FF3300"/>
            </a:solidFill>
            <a:miter lim="800000"/>
            <a:headEnd type="none" w="sm" len="sm"/>
            <a:tailEnd type="none" w="sm" len="sm"/>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500"/>
                                        <p:tgtEl>
                                          <p:spTgt spid="10"/>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dissolv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dissolve">
                                      <p:cBhvr>
                                        <p:cTn id="20" dur="500"/>
                                        <p:tgtEl>
                                          <p:spTgt spid="11"/>
                                        </p:tgtEl>
                                      </p:cBhvr>
                                    </p:animEffect>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dissolve">
                                      <p:cBhvr>
                                        <p:cTn id="24" dur="500"/>
                                        <p:tgtEl>
                                          <p:spTgt spid="18"/>
                                        </p:tgtEl>
                                      </p:cBhvr>
                                    </p:animEffect>
                                  </p:childTnLst>
                                </p:cTn>
                              </p:par>
                            </p:childTnLst>
                          </p:cTn>
                        </p:par>
                        <p:par>
                          <p:cTn id="25" fill="hold">
                            <p:stCondLst>
                              <p:cond delay="1000"/>
                            </p:stCondLst>
                            <p:childTnLst>
                              <p:par>
                                <p:cTn id="26" presetID="9"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dissolv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dissolv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dissolv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dissolv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dissolve">
                                      <p:cBhvr>
                                        <p:cTn id="48" dur="500"/>
                                        <p:tgtEl>
                                          <p:spTgt spid="21"/>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dissolv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dissolv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dissolve">
                                      <p:cBhvr>
                                        <p:cTn id="63" dur="500"/>
                                        <p:tgtEl>
                                          <p:spTgt spid="25"/>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dissolv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dissolve">
                                      <p:cBhvr>
                                        <p:cTn id="73" dur="500"/>
                                        <p:tgtEl>
                                          <p:spTgt spid="23"/>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dissolve">
                                      <p:cBhvr>
                                        <p:cTn id="78" dur="500"/>
                                        <p:tgtEl>
                                          <p:spTgt spid="24"/>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dissolve">
                                      <p:cBhvr>
                                        <p:cTn id="8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P spid="12" grpId="0" autoUpdateAnimBg="0"/>
      <p:bldP spid="13" grpId="0" autoUpdateAnimBg="0"/>
      <p:bldP spid="14" grpId="0" autoUpdateAnimBg="0"/>
      <p:bldP spid="15" grpId="0" autoUpdateAnimBg="0"/>
      <p:bldP spid="16" grpId="0" autoUpdateAnimBg="0"/>
      <p:bldP spid="17" grpId="0" autoUpdateAnimBg="0"/>
      <p:bldP spid="18" grpId="0" autoUpdateAnimBg="0"/>
      <p:bldP spid="19" grpId="0" autoUpdateAnimBg="0"/>
      <p:bldP spid="20" grpId="0" autoUpdateAnimBg="0"/>
      <p:bldP spid="21" grpId="0" autoUpdateAnimBg="0"/>
      <p:bldP spid="22" grpId="0" autoUpdateAnimBg="0"/>
      <p:bldP spid="23" grpId="0" autoUpdateAnimBg="0"/>
      <p:bldP spid="24" grpId="0" autoUpdateAnimBg="0"/>
      <p:bldP spid="25" grpId="0" autoUpdateAnimBg="0"/>
      <p:bldP spid="2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p:spPr>
        <p:txBody>
          <a:bodyPr/>
          <a:lstStyle/>
          <a:p>
            <a:fld id="{2568ADAB-7D30-4D71-98BA-F699A3422CA1}" type="slidenum">
              <a:rPr lang="en-US" altLang="zh-CN" smtClean="0"/>
              <a:t>27</a:t>
            </a:fld>
            <a:endParaRPr lang="en-US" altLang="zh-CN"/>
          </a:p>
        </p:txBody>
      </p:sp>
      <p:sp>
        <p:nvSpPr>
          <p:cNvPr id="24579" name="Rectangle 7"/>
          <p:cNvSpPr>
            <a:spLocks noChangeArrowheads="1"/>
          </p:cNvSpPr>
          <p:nvPr/>
        </p:nvSpPr>
        <p:spPr bwMode="auto">
          <a:xfrm>
            <a:off x="236800" y="481572"/>
            <a:ext cx="8686800" cy="5367020"/>
          </a:xfrm>
          <a:prstGeom prst="rect">
            <a:avLst/>
          </a:prstGeom>
          <a:solidFill>
            <a:schemeClr val="bg1"/>
          </a:solidFill>
          <a:ln w="12700">
            <a:noFill/>
            <a:miter lim="800000"/>
            <a:headEnd type="none" w="sm" len="sm"/>
            <a:tailEnd type="none" w="sm" len="sm"/>
          </a:ln>
        </p:spPr>
        <p:txBody>
          <a:bodyPr anchor="ctr">
            <a:spAutoFit/>
          </a:bodyPr>
          <a:lstStyle/>
          <a:p>
            <a:pPr>
              <a:lnSpc>
                <a:spcPct val="130000"/>
              </a:lnSpc>
            </a:pPr>
            <a:r>
              <a:rPr lang="en-US" altLang="zh-CN" sz="2400" b="1" dirty="0">
                <a:latin typeface="宋体" panose="02010600030101010101" pitchFamily="2" charset="-122"/>
              </a:rPr>
              <a:t>3.</a:t>
            </a:r>
            <a:r>
              <a:rPr lang="zh-CN" altLang="en-US" sz="2400" b="1" dirty="0">
                <a:latin typeface="宋体" panose="02010600030101010101" pitchFamily="2" charset="-122"/>
              </a:rPr>
              <a:t>中断向量的产生</a:t>
            </a:r>
            <a:endParaRPr lang="zh-CN" altLang="en-US" sz="2400" dirty="0">
              <a:latin typeface="宋体" panose="02010600030101010101" pitchFamily="2" charset="-122"/>
            </a:endParaRPr>
          </a:p>
          <a:p>
            <a:pPr>
              <a:lnSpc>
                <a:spcPct val="130000"/>
              </a:lnSpc>
            </a:pPr>
            <a:r>
              <a:rPr lang="zh-CN" altLang="en-US" sz="2400" dirty="0">
                <a:latin typeface="宋体" panose="02010600030101010101" pitchFamily="2" charset="-122"/>
              </a:rPr>
              <a:t>　　由于存储器的地址码是一串布尔量的序列，因此常常把地址码称为</a:t>
            </a:r>
            <a:r>
              <a:rPr lang="zh-CN" altLang="en-US" sz="2400" b="1" dirty="0">
                <a:latin typeface="宋体" panose="02010600030101010101" pitchFamily="2" charset="-122"/>
              </a:rPr>
              <a:t>向量地址</a:t>
            </a:r>
            <a:r>
              <a:rPr lang="zh-CN" altLang="en-US" sz="2400" dirty="0">
                <a:latin typeface="宋体" panose="02010600030101010101" pitchFamily="2" charset="-122"/>
              </a:rPr>
              <a:t>。</a:t>
            </a:r>
          </a:p>
          <a:p>
            <a:pPr>
              <a:lnSpc>
                <a:spcPct val="130000"/>
              </a:lnSpc>
            </a:pPr>
            <a:r>
              <a:rPr lang="zh-CN" altLang="en-US" sz="2400" dirty="0">
                <a:latin typeface="宋体" panose="02010600030101010101" pitchFamily="2" charset="-122"/>
              </a:rPr>
              <a:t>　　当</a:t>
            </a:r>
            <a:r>
              <a:rPr lang="en-US" altLang="zh-CN" sz="2400" dirty="0">
                <a:latin typeface="宋体" panose="02010600030101010101" pitchFamily="2" charset="-122"/>
              </a:rPr>
              <a:t>CPU</a:t>
            </a:r>
            <a:r>
              <a:rPr lang="zh-CN" altLang="en-US" sz="2400" dirty="0">
                <a:latin typeface="宋体" panose="02010600030101010101" pitchFamily="2" charset="-122"/>
              </a:rPr>
              <a:t>响应中断时，由硬件直接产生一个固定的地址</a:t>
            </a:r>
            <a:r>
              <a:rPr lang="en-US" altLang="zh-CN" sz="2400" dirty="0">
                <a:latin typeface="宋体" panose="02010600030101010101" pitchFamily="2" charset="-122"/>
              </a:rPr>
              <a:t>(</a:t>
            </a:r>
            <a:r>
              <a:rPr lang="zh-CN" altLang="en-US" sz="2400" dirty="0">
                <a:latin typeface="宋体" panose="02010600030101010101" pitchFamily="2" charset="-122"/>
              </a:rPr>
              <a:t>即向量地址</a:t>
            </a:r>
            <a:r>
              <a:rPr lang="en-US" altLang="zh-CN" sz="2400" dirty="0">
                <a:latin typeface="宋体" panose="02010600030101010101" pitchFamily="2" charset="-122"/>
              </a:rPr>
              <a:t>)</a:t>
            </a:r>
            <a:r>
              <a:rPr lang="zh-CN" altLang="en-US" sz="2400" dirty="0">
                <a:latin typeface="宋体" panose="02010600030101010101" pitchFamily="2" charset="-122"/>
              </a:rPr>
              <a:t>，由向量地址指出每个中断源设备的中断服务程序入口，这种方法通常称为</a:t>
            </a:r>
            <a:r>
              <a:rPr lang="zh-CN" altLang="en-US" sz="2400" b="1" dirty="0">
                <a:latin typeface="宋体" panose="02010600030101010101" pitchFamily="2" charset="-122"/>
              </a:rPr>
              <a:t>向量中断</a:t>
            </a:r>
            <a:r>
              <a:rPr lang="zh-CN" altLang="en-US" sz="2400" dirty="0">
                <a:latin typeface="宋体" panose="02010600030101010101" pitchFamily="2" charset="-122"/>
              </a:rPr>
              <a:t>。</a:t>
            </a:r>
          </a:p>
          <a:p>
            <a:pPr>
              <a:lnSpc>
                <a:spcPct val="130000"/>
              </a:lnSpc>
            </a:pPr>
            <a:r>
              <a:rPr lang="zh-CN" altLang="en-US" sz="2400" dirty="0">
                <a:latin typeface="宋体" panose="02010600030101010101" pitchFamily="2" charset="-122"/>
              </a:rPr>
              <a:t>    每个中断源分别有一个中断服务程序，而每个中断服务程序都有自己的向量地址。当</a:t>
            </a:r>
            <a:r>
              <a:rPr lang="en-US" altLang="zh-CN" sz="2400" dirty="0">
                <a:latin typeface="宋体" panose="02010600030101010101" pitchFamily="2" charset="-122"/>
              </a:rPr>
              <a:t>CPU</a:t>
            </a:r>
            <a:r>
              <a:rPr lang="zh-CN" altLang="en-US" sz="2400" dirty="0">
                <a:latin typeface="宋体" panose="02010600030101010101" pitchFamily="2" charset="-122"/>
              </a:rPr>
              <a:t>识别出某中断源时，由硬件直接产生一个与该中断源对应的向量地址，很快便引入中断服务程序。向量中断要求在硬件设计时考虑所有中断源的向量地址，而实际中断时只能产生一个向量地址。</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p>
            <a:fld id="{01865B2A-1EFB-45DB-AFB6-282AF8D2E2BB}" type="slidenum">
              <a:rPr lang="en-US" altLang="zh-CN" smtClean="0"/>
              <a:t>28</a:t>
            </a:fld>
            <a:endParaRPr lang="en-US" altLang="zh-CN"/>
          </a:p>
        </p:txBody>
      </p:sp>
      <p:sp>
        <p:nvSpPr>
          <p:cNvPr id="26627" name="Rectangle 1026"/>
          <p:cNvSpPr>
            <a:spLocks noGrp="1" noChangeArrowheads="1"/>
          </p:cNvSpPr>
          <p:nvPr>
            <p:ph type="title"/>
          </p:nvPr>
        </p:nvSpPr>
        <p:spPr>
          <a:xfrm>
            <a:off x="323850" y="188913"/>
            <a:ext cx="7543800" cy="714375"/>
          </a:xfrm>
        </p:spPr>
        <p:txBody>
          <a:bodyPr/>
          <a:lstStyle/>
          <a:p>
            <a:pPr eaLnBrk="1" hangingPunct="1"/>
            <a:r>
              <a:rPr lang="en-US" altLang="zh-CN" dirty="0">
                <a:cs typeface="Times New Roman" panose="02020603050405020304" charset="0"/>
              </a:rPr>
              <a:t>8.3.5 </a:t>
            </a:r>
            <a:r>
              <a:rPr lang="zh-CN" altLang="en-US" dirty="0"/>
              <a:t>多级中断</a:t>
            </a:r>
          </a:p>
        </p:txBody>
      </p:sp>
      <p:sp>
        <p:nvSpPr>
          <p:cNvPr id="26628" name="Rectangle 1027"/>
          <p:cNvSpPr>
            <a:spLocks noChangeArrowheads="1"/>
          </p:cNvSpPr>
          <p:nvPr/>
        </p:nvSpPr>
        <p:spPr bwMode="auto">
          <a:xfrm>
            <a:off x="323850" y="1090613"/>
            <a:ext cx="8351838" cy="1825625"/>
          </a:xfrm>
          <a:prstGeom prst="rect">
            <a:avLst/>
          </a:prstGeom>
          <a:noFill/>
          <a:ln w="12700">
            <a:noFill/>
            <a:miter lim="800000"/>
            <a:headEnd type="none" w="sm" len="sm"/>
            <a:tailEnd type="none" w="sm" len="sm"/>
          </a:ln>
        </p:spPr>
        <p:txBody>
          <a:bodyPr tIns="0" bIns="0" anchor="ctr">
            <a:spAutoFit/>
          </a:bodyPr>
          <a:lstStyle/>
          <a:p>
            <a:r>
              <a:rPr lang="en-US" altLang="zh-CN" sz="2400" b="1">
                <a:latin typeface="宋体" panose="02010600030101010101" pitchFamily="2" charset="-122"/>
              </a:rPr>
              <a:t>1.</a:t>
            </a:r>
            <a:r>
              <a:rPr lang="zh-CN" altLang="en-US" sz="2400" b="1">
                <a:latin typeface="宋体" panose="02010600030101010101" pitchFamily="2" charset="-122"/>
              </a:rPr>
              <a:t>多级中断的概念</a:t>
            </a:r>
            <a:endParaRPr lang="zh-CN" altLang="en-US" sz="2400">
              <a:latin typeface="宋体" panose="02010600030101010101" pitchFamily="2" charset="-122"/>
            </a:endParaRPr>
          </a:p>
          <a:p>
            <a:r>
              <a:rPr lang="zh-CN" altLang="en-US" sz="2400">
                <a:latin typeface="宋体" panose="02010600030101010101" pitchFamily="2" charset="-122"/>
              </a:rPr>
              <a:t>　　多级中断系统是指计算机系统中有相当多的中断源，根据各中断事件的轻重缓急程度不同而分成若干级别，每一中断级分配给一个优先权。优先权高的中断级可以打断优先权低的中断服务程序，以程序嵌套方式进行工作。</a:t>
            </a:r>
          </a:p>
        </p:txBody>
      </p:sp>
      <p:pic>
        <p:nvPicPr>
          <p:cNvPr id="26629" name="Picture 1028"/>
          <p:cNvPicPr>
            <a:picLocks noChangeAspect="1" noChangeArrowheads="1"/>
          </p:cNvPicPr>
          <p:nvPr/>
        </p:nvPicPr>
        <p:blipFill>
          <a:blip r:embed="rId2"/>
          <a:srcRect/>
          <a:stretch>
            <a:fillRect/>
          </a:stretch>
        </p:blipFill>
        <p:spPr bwMode="auto">
          <a:xfrm>
            <a:off x="395288" y="3213100"/>
            <a:ext cx="8351837" cy="248602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2"/>
          </p:nvPr>
        </p:nvSpPr>
        <p:spPr>
          <a:noFill/>
        </p:spPr>
        <p:txBody>
          <a:bodyPr/>
          <a:lstStyle/>
          <a:p>
            <a:fld id="{BA5CC388-B60E-4B19-9599-6B19B22C8C66}" type="slidenum">
              <a:rPr lang="en-US" altLang="zh-CN" smtClean="0"/>
              <a:t>29</a:t>
            </a:fld>
            <a:endParaRPr lang="en-US" altLang="zh-CN"/>
          </a:p>
        </p:txBody>
      </p:sp>
      <p:pic>
        <p:nvPicPr>
          <p:cNvPr id="27651" name="Picture 2" descr="8a9"/>
          <p:cNvPicPr>
            <a:picLocks noChangeAspect="1" noChangeArrowheads="1"/>
          </p:cNvPicPr>
          <p:nvPr/>
        </p:nvPicPr>
        <p:blipFill>
          <a:blip r:embed="rId2"/>
          <a:srcRect/>
          <a:stretch>
            <a:fillRect/>
          </a:stretch>
        </p:blipFill>
        <p:spPr bwMode="auto">
          <a:xfrm>
            <a:off x="250825" y="1412875"/>
            <a:ext cx="7777163" cy="5256213"/>
          </a:xfrm>
          <a:prstGeom prst="rect">
            <a:avLst/>
          </a:prstGeom>
          <a:noFill/>
          <a:ln w="9525">
            <a:noFill/>
            <a:miter lim="800000"/>
            <a:headEnd/>
            <a:tailEnd/>
          </a:ln>
        </p:spPr>
      </p:pic>
      <p:sp>
        <p:nvSpPr>
          <p:cNvPr id="27652" name="Rectangle 3"/>
          <p:cNvSpPr>
            <a:spLocks noChangeArrowheads="1"/>
          </p:cNvSpPr>
          <p:nvPr/>
        </p:nvSpPr>
        <p:spPr bwMode="auto">
          <a:xfrm>
            <a:off x="179388" y="188913"/>
            <a:ext cx="7921625" cy="1187450"/>
          </a:xfrm>
          <a:prstGeom prst="rect">
            <a:avLst/>
          </a:prstGeom>
          <a:noFill/>
          <a:ln w="12700">
            <a:noFill/>
            <a:miter lim="800000"/>
            <a:headEnd type="none" w="sm" len="sm"/>
            <a:tailEnd type="none" w="sm" len="sm"/>
          </a:ln>
        </p:spPr>
        <p:txBody>
          <a:bodyPr anchor="ctr">
            <a:spAutoFit/>
          </a:bodyPr>
          <a:lstStyle/>
          <a:p>
            <a:pPr eaLnBrk="0" hangingPunct="0"/>
            <a:r>
              <a:rPr lang="en-US" altLang="zh-CN" sz="2400">
                <a:latin typeface="宋体" panose="02010600030101010101" pitchFamily="2" charset="-122"/>
              </a:rPr>
              <a:t>    </a:t>
            </a:r>
            <a:r>
              <a:rPr lang="zh-CN" altLang="en-US" sz="2400">
                <a:latin typeface="宋体" panose="02010600030101010101" pitchFamily="2" charset="-122"/>
              </a:rPr>
              <a:t>根据系统的配置不同，多级中断分为一维多级中断和二维多级中断。</a:t>
            </a:r>
            <a:r>
              <a:rPr lang="zh-CN" altLang="en-US" sz="2400"/>
              <a:t>一维多级中断指每一级中断里只有一个中断源，而二维多级中断指每一级中断里又有多个中断源。</a:t>
            </a:r>
            <a:r>
              <a:rPr lang="zh-CN" altLang="en-US"/>
              <a:t> </a:t>
            </a:r>
            <a:r>
              <a:rPr lang="zh-CN" altLang="en-US" sz="2400">
                <a:latin typeface="宋体" panose="02010600030101010101" pitchFamily="2" charset="-122"/>
              </a:rPr>
              <a:t> </a:t>
            </a:r>
          </a:p>
        </p:txBody>
      </p:sp>
      <p:pic>
        <p:nvPicPr>
          <p:cNvPr id="27653" name="Picture 4">
            <a:hlinkClick r:id="rId3"/>
          </p:cNvPr>
          <p:cNvPicPr>
            <a:picLocks noChangeAspect="1" noChangeArrowheads="1"/>
          </p:cNvPicPr>
          <p:nvPr/>
        </p:nvPicPr>
        <p:blipFill>
          <a:blip r:embed="rId4"/>
          <a:srcRect/>
          <a:stretch>
            <a:fillRect/>
          </a:stretch>
        </p:blipFill>
        <p:spPr bwMode="auto">
          <a:xfrm>
            <a:off x="8243888" y="5084763"/>
            <a:ext cx="409575" cy="381000"/>
          </a:xfrm>
          <a:prstGeom prst="rect">
            <a:avLst/>
          </a:prstGeom>
          <a:noFill/>
          <a:ln w="9525">
            <a:noFill/>
            <a:miter lim="800000"/>
            <a:headEnd/>
            <a:tailEnd/>
          </a:ln>
        </p:spPr>
      </p:pic>
      <p:sp>
        <p:nvSpPr>
          <p:cNvPr id="68613" name="Rectangle 5"/>
          <p:cNvSpPr>
            <a:spLocks noChangeArrowheads="1"/>
          </p:cNvSpPr>
          <p:nvPr/>
        </p:nvSpPr>
        <p:spPr bwMode="auto">
          <a:xfrm>
            <a:off x="179388" y="188913"/>
            <a:ext cx="8569325" cy="3013075"/>
          </a:xfrm>
          <a:prstGeom prst="rect">
            <a:avLst/>
          </a:prstGeom>
          <a:solidFill>
            <a:srgbClr val="CCFFFF"/>
          </a:solidFill>
          <a:ln w="12700">
            <a:noFill/>
            <a:miter lim="800000"/>
            <a:headEnd type="none" w="sm" len="sm"/>
            <a:tailEnd type="none" w="sm" len="sm"/>
          </a:ln>
        </p:spPr>
        <p:txBody>
          <a:bodyPr>
            <a:spAutoFit/>
          </a:bodyPr>
          <a:lstStyle/>
          <a:p>
            <a:r>
              <a:rPr lang="en-US" altLang="zh-CN" sz="2400">
                <a:latin typeface="宋体" panose="02010600030101010101" pitchFamily="2" charset="-122"/>
              </a:rPr>
              <a:t>(1)</a:t>
            </a:r>
            <a:r>
              <a:rPr lang="zh-CN" altLang="en-US" sz="2400">
                <a:latin typeface="宋体" panose="02010600030101010101" pitchFamily="2" charset="-122"/>
              </a:rPr>
              <a:t>一个系统若有</a:t>
            </a:r>
            <a:r>
              <a:rPr lang="en-US" altLang="zh-CN" sz="2400">
                <a:latin typeface="宋体" panose="02010600030101010101" pitchFamily="2" charset="-122"/>
              </a:rPr>
              <a:t>n</a:t>
            </a:r>
            <a:r>
              <a:rPr lang="zh-CN" altLang="en-US" sz="2400">
                <a:latin typeface="宋体" panose="02010600030101010101" pitchFamily="2" charset="-122"/>
              </a:rPr>
              <a:t>级中断，在</a:t>
            </a:r>
            <a:r>
              <a:rPr lang="en-US" altLang="zh-CN" sz="2400">
                <a:latin typeface="宋体" panose="02010600030101010101" pitchFamily="2" charset="-122"/>
              </a:rPr>
              <a:t>CPU</a:t>
            </a:r>
            <a:r>
              <a:rPr lang="zh-CN" altLang="en-US" sz="2400">
                <a:latin typeface="宋体" panose="02010600030101010101" pitchFamily="2" charset="-122"/>
              </a:rPr>
              <a:t>中就有</a:t>
            </a:r>
            <a:r>
              <a:rPr lang="en-US" altLang="zh-CN" sz="2400">
                <a:latin typeface="宋体" panose="02010600030101010101" pitchFamily="2" charset="-122"/>
              </a:rPr>
              <a:t>n</a:t>
            </a:r>
            <a:r>
              <a:rPr lang="zh-CN" altLang="en-US" sz="2400">
                <a:latin typeface="宋体" panose="02010600030101010101" pitchFamily="2" charset="-122"/>
              </a:rPr>
              <a:t>个中断请求触发器，总称为中断请求寄存器；与之对应的有</a:t>
            </a:r>
            <a:r>
              <a:rPr lang="en-US" altLang="zh-CN" sz="2400">
                <a:latin typeface="宋体" panose="02010600030101010101" pitchFamily="2" charset="-122"/>
              </a:rPr>
              <a:t>n</a:t>
            </a:r>
            <a:r>
              <a:rPr lang="zh-CN" altLang="en-US" sz="2400">
                <a:latin typeface="宋体" panose="02010600030101010101" pitchFamily="2" charset="-122"/>
              </a:rPr>
              <a:t>个中断屏蔽触发器，总称为中断屏蔽寄存器。与单级中断不同，在多级中断中，中断屏蔽寄存器的内容是一个很重要的程序现场，因此在响应中断时，需要把中断屏蔽寄存器的内容保存起来，并设置新的中断屏蔽状态。一般在某一级中断被响应后，要置“</a:t>
            </a:r>
            <a:r>
              <a:rPr lang="en-US" altLang="zh-CN" sz="2400">
                <a:latin typeface="宋体" panose="02010600030101010101" pitchFamily="2" charset="-122"/>
              </a:rPr>
              <a:t>1 ”(</a:t>
            </a:r>
            <a:r>
              <a:rPr lang="zh-CN" altLang="en-US" sz="2400">
                <a:latin typeface="宋体" panose="02010600030101010101" pitchFamily="2" charset="-122"/>
              </a:rPr>
              <a:t>关闭</a:t>
            </a:r>
            <a:r>
              <a:rPr lang="en-US" altLang="zh-CN" sz="2400">
                <a:latin typeface="宋体" panose="02010600030101010101" pitchFamily="2" charset="-122"/>
              </a:rPr>
              <a:t>)</a:t>
            </a:r>
            <a:r>
              <a:rPr lang="zh-CN" altLang="en-US" sz="2400">
                <a:latin typeface="宋体" panose="02010600030101010101" pitchFamily="2" charset="-122"/>
              </a:rPr>
              <a:t>本级和优先权低于本级的中断屏蔽触发器，置“</a:t>
            </a:r>
            <a:r>
              <a:rPr lang="en-US" altLang="zh-CN" sz="2400">
                <a:latin typeface="宋体" panose="02010600030101010101" pitchFamily="2" charset="-122"/>
              </a:rPr>
              <a:t>0”(</a:t>
            </a:r>
            <a:r>
              <a:rPr lang="zh-CN" altLang="en-US" sz="2400">
                <a:latin typeface="宋体" panose="02010600030101010101" pitchFamily="2" charset="-122"/>
              </a:rPr>
              <a:t>开放</a:t>
            </a:r>
            <a:r>
              <a:rPr lang="en-US" altLang="zh-CN" sz="2400">
                <a:latin typeface="宋体" panose="02010600030101010101" pitchFamily="2" charset="-122"/>
              </a:rPr>
              <a:t>)</a:t>
            </a:r>
            <a:r>
              <a:rPr lang="zh-CN" altLang="en-US" sz="2400">
                <a:latin typeface="宋体" panose="02010600030101010101" pitchFamily="2" charset="-122"/>
              </a:rPr>
              <a:t>更高级的中断屏蔽触发器，以此来实现正常的中断嵌套。</a:t>
            </a:r>
          </a:p>
        </p:txBody>
      </p:sp>
      <p:sp>
        <p:nvSpPr>
          <p:cNvPr id="68614" name="Rectangle 6"/>
          <p:cNvSpPr>
            <a:spLocks noChangeArrowheads="1"/>
          </p:cNvSpPr>
          <p:nvPr/>
        </p:nvSpPr>
        <p:spPr bwMode="auto">
          <a:xfrm>
            <a:off x="179388" y="188913"/>
            <a:ext cx="8713787" cy="3013075"/>
          </a:xfrm>
          <a:prstGeom prst="rect">
            <a:avLst/>
          </a:prstGeom>
          <a:solidFill>
            <a:srgbClr val="CCFFFF"/>
          </a:solidFill>
          <a:ln w="12700">
            <a:noFill/>
            <a:miter lim="800000"/>
            <a:headEnd type="none" w="sm" len="sm"/>
            <a:tailEnd type="none" w="sm" len="sm"/>
          </a:ln>
        </p:spPr>
        <p:txBody>
          <a:bodyPr>
            <a:spAutoFit/>
          </a:bodyPr>
          <a:lstStyle/>
          <a:p>
            <a:r>
              <a:rPr lang="en-US" altLang="zh-CN" sz="2400" dirty="0">
                <a:latin typeface="宋体" panose="02010600030101010101" pitchFamily="2" charset="-122"/>
              </a:rPr>
              <a:t>(2)</a:t>
            </a:r>
            <a:r>
              <a:rPr lang="zh-CN" altLang="en-US" sz="2400" dirty="0">
                <a:latin typeface="宋体" panose="02010600030101010101" pitchFamily="2" charset="-122"/>
              </a:rPr>
              <a:t>多级中断中的每一级可以有一个或多个中断源。在多级中断之间可以实现中断嵌套，但是同一级内的中断是不能嵌套的，必须是处理完一个中断后再响应和处理同一级内其他中断源。</a:t>
            </a:r>
          </a:p>
          <a:p>
            <a:r>
              <a:rPr lang="en-US" altLang="zh-CN" sz="2400" dirty="0">
                <a:latin typeface="宋体" panose="02010600030101010101" pitchFamily="2" charset="-122"/>
              </a:rPr>
              <a:t>(3)</a:t>
            </a:r>
            <a:r>
              <a:rPr lang="zh-CN" altLang="en-US" sz="2400" dirty="0">
                <a:latin typeface="宋体" panose="02010600030101010101" pitchFamily="2" charset="-122"/>
              </a:rPr>
              <a:t>一般都希望有较快的中断响应时间，因此响应哪一级中断和哪一个中断源，是由硬件逻辑实现，不是用程序实现。另外，在二维中断结构中，除了有中断优先级排队电路确定优先响应中断级外，还要确定优先响应的中断源，一般级间采用独立请求方式，级内通过链式查询的硬件逻辑来实现。</a:t>
            </a:r>
          </a:p>
        </p:txBody>
      </p:sp>
      <p:sp>
        <p:nvSpPr>
          <p:cNvPr id="68615" name="Rectangle 7"/>
          <p:cNvSpPr>
            <a:spLocks noChangeArrowheads="1"/>
          </p:cNvSpPr>
          <p:nvPr/>
        </p:nvSpPr>
        <p:spPr bwMode="auto">
          <a:xfrm>
            <a:off x="179388" y="188913"/>
            <a:ext cx="8713787" cy="2282825"/>
          </a:xfrm>
          <a:prstGeom prst="rect">
            <a:avLst/>
          </a:prstGeom>
          <a:solidFill>
            <a:srgbClr val="CCFFFF"/>
          </a:solidFill>
          <a:ln w="12700">
            <a:noFill/>
            <a:miter lim="800000"/>
            <a:headEnd type="none" w="sm" len="sm"/>
            <a:tailEnd type="none" w="sm" len="sm"/>
          </a:ln>
        </p:spPr>
        <p:txBody>
          <a:bodyPr>
            <a:spAutoFit/>
          </a:bodyPr>
          <a:lstStyle/>
          <a:p>
            <a:r>
              <a:rPr lang="en-US" altLang="zh-CN" sz="2400" dirty="0">
                <a:latin typeface="宋体" panose="02010600030101010101" pitchFamily="2" charset="-122"/>
              </a:rPr>
              <a:t>(4)</a:t>
            </a:r>
            <a:r>
              <a:rPr lang="zh-CN" altLang="en-US" sz="2400" dirty="0">
                <a:latin typeface="宋体" panose="02010600030101010101" pitchFamily="2" charset="-122"/>
              </a:rPr>
              <a:t>和单级中断情况类似，在多级中断中也使用中断堆栈保存现场信息。使用堆栈保存现场的好处是：</a:t>
            </a:r>
          </a:p>
          <a:p>
            <a:r>
              <a:rPr lang="zh-CN" altLang="en-US" sz="2400" dirty="0">
                <a:latin typeface="宋体" panose="02010600030101010101" pitchFamily="2" charset="-122"/>
              </a:rPr>
              <a:t>    </a:t>
            </a:r>
            <a:r>
              <a:rPr lang="en-US" altLang="zh-CN" sz="2400" dirty="0">
                <a:latin typeface="宋体" panose="02010600030101010101" pitchFamily="2" charset="-122"/>
              </a:rPr>
              <a:t>a.</a:t>
            </a:r>
            <a:r>
              <a:rPr lang="zh-CN" altLang="en-US" sz="2400" dirty="0">
                <a:latin typeface="宋体" panose="02010600030101010101" pitchFamily="2" charset="-122"/>
              </a:rPr>
              <a:t>控制逻辑简单，保存和恢复现场的过程按先进后出顺序进行。</a:t>
            </a:r>
          </a:p>
          <a:p>
            <a:r>
              <a:rPr lang="zh-CN" altLang="en-US" sz="2400" dirty="0">
                <a:latin typeface="宋体" panose="02010600030101010101" pitchFamily="2" charset="-122"/>
              </a:rPr>
              <a:t>    </a:t>
            </a:r>
            <a:r>
              <a:rPr lang="en-US" altLang="zh-CN" sz="2400" dirty="0">
                <a:latin typeface="宋体" panose="02010600030101010101" pitchFamily="2" charset="-122"/>
              </a:rPr>
              <a:t>b.</a:t>
            </a:r>
            <a:r>
              <a:rPr lang="zh-CN" altLang="en-US" sz="2400" dirty="0">
                <a:latin typeface="宋体" panose="02010600030101010101" pitchFamily="2" charset="-122"/>
              </a:rPr>
              <a:t>每一级中断不必单独设置现场保护区，各级中断现场可按其顺序放在同一个栈里。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8613"/>
                                        </p:tgtEl>
                                        <p:attrNameLst>
                                          <p:attrName>style.visibility</p:attrName>
                                        </p:attrNameLst>
                                      </p:cBhvr>
                                      <p:to>
                                        <p:strVal val="visible"/>
                                      </p:to>
                                    </p:set>
                                    <p:animEffect transition="in" filter="dissolve">
                                      <p:cBhvr>
                                        <p:cTn id="7" dur="500"/>
                                        <p:tgtEl>
                                          <p:spTgt spid="68613"/>
                                        </p:tgtEl>
                                      </p:cBhvr>
                                    </p:animEffect>
                                  </p:childTnLst>
                                  <p:subTnLst>
                                    <p:set>
                                      <p:cBhvr override="childStyle">
                                        <p:cTn dur="1" fill="hold" display="0" masterRel="nextClick" afterEffect="1"/>
                                        <p:tgtEl>
                                          <p:spTgt spid="6861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8614"/>
                                        </p:tgtEl>
                                        <p:attrNameLst>
                                          <p:attrName>style.visibility</p:attrName>
                                        </p:attrNameLst>
                                      </p:cBhvr>
                                      <p:to>
                                        <p:strVal val="visible"/>
                                      </p:to>
                                    </p:set>
                                    <p:animEffect transition="in" filter="dissolve">
                                      <p:cBhvr>
                                        <p:cTn id="12" dur="500"/>
                                        <p:tgtEl>
                                          <p:spTgt spid="68614"/>
                                        </p:tgtEl>
                                      </p:cBhvr>
                                    </p:animEffect>
                                  </p:childTnLst>
                                  <p:subTnLst>
                                    <p:set>
                                      <p:cBhvr override="childStyle">
                                        <p:cTn dur="1" fill="hold" display="0" masterRel="nextClick" afterEffect="1"/>
                                        <p:tgtEl>
                                          <p:spTgt spid="6861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8615"/>
                                        </p:tgtEl>
                                        <p:attrNameLst>
                                          <p:attrName>style.visibility</p:attrName>
                                        </p:attrNameLst>
                                      </p:cBhvr>
                                      <p:to>
                                        <p:strVal val="visible"/>
                                      </p:to>
                                    </p:set>
                                    <p:animEffect transition="in" filter="dissolve">
                                      <p:cBhvr>
                                        <p:cTn id="17" dur="500"/>
                                        <p:tgtEl>
                                          <p:spTgt spid="68615"/>
                                        </p:tgtEl>
                                      </p:cBhvr>
                                    </p:animEffect>
                                  </p:childTnLst>
                                  <p:subTnLst>
                                    <p:set>
                                      <p:cBhvr override="childStyle">
                                        <p:cTn dur="1" fill="hold" display="0" masterRel="nextClick" afterEffect="1"/>
                                        <p:tgtEl>
                                          <p:spTgt spid="6861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3" grpId="0" animBg="1" autoUpdateAnimBg="0"/>
      <p:bldP spid="68614" grpId="0" animBg="1" autoUpdateAnimBg="0"/>
      <p:bldP spid="68615"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2"/>
          </p:nvPr>
        </p:nvSpPr>
        <p:spPr>
          <a:noFill/>
        </p:spPr>
        <p:txBody>
          <a:bodyPr/>
          <a:lstStyle/>
          <a:p>
            <a:fld id="{C690CB07-83AA-4D20-B938-7A335856855E}" type="slidenum">
              <a:rPr lang="en-US" altLang="zh-CN" smtClean="0"/>
              <a:t>30</a:t>
            </a:fld>
            <a:endParaRPr lang="en-US" altLang="zh-CN"/>
          </a:p>
        </p:txBody>
      </p:sp>
      <p:sp>
        <p:nvSpPr>
          <p:cNvPr id="28675" name="Rectangle 1026"/>
          <p:cNvSpPr>
            <a:spLocks noChangeArrowheads="1"/>
          </p:cNvSpPr>
          <p:nvPr/>
        </p:nvSpPr>
        <p:spPr bwMode="auto">
          <a:xfrm>
            <a:off x="179388" y="188913"/>
            <a:ext cx="7921625" cy="1552575"/>
          </a:xfrm>
          <a:prstGeom prst="rect">
            <a:avLst/>
          </a:prstGeom>
          <a:noFill/>
          <a:ln w="12700">
            <a:noFill/>
            <a:miter lim="800000"/>
            <a:headEnd type="none" w="sm" len="sm"/>
            <a:tailEnd type="none" w="sm" len="sm"/>
          </a:ln>
        </p:spPr>
        <p:txBody>
          <a:bodyPr anchor="ctr">
            <a:spAutoFit/>
          </a:bodyPr>
          <a:lstStyle/>
          <a:p>
            <a:r>
              <a:rPr lang="en-US" altLang="zh-CN" sz="2400" b="1">
                <a:latin typeface="宋体" panose="02010600030101010101" pitchFamily="2" charset="-122"/>
              </a:rPr>
              <a:t>2.</a:t>
            </a:r>
            <a:r>
              <a:rPr lang="zh-CN" altLang="en-US" sz="2400" b="1">
                <a:latin typeface="宋体" panose="02010600030101010101" pitchFamily="2" charset="-122"/>
              </a:rPr>
              <a:t>多级中断源的识别</a:t>
            </a:r>
          </a:p>
          <a:p>
            <a:r>
              <a:rPr lang="zh-CN" altLang="en-US" sz="2400">
                <a:latin typeface="宋体" panose="02010600030101010101" pitchFamily="2" charset="-122"/>
              </a:rPr>
              <a:t>　　在多级中断中，每一级均有一根中断请求线送往</a:t>
            </a:r>
            <a:r>
              <a:rPr lang="en-US" altLang="zh-CN" sz="2400">
                <a:latin typeface="宋体" panose="02010600030101010101" pitchFamily="2" charset="-122"/>
              </a:rPr>
              <a:t>CPU</a:t>
            </a:r>
            <a:r>
              <a:rPr lang="zh-CN" altLang="en-US" sz="2400">
                <a:latin typeface="宋体" panose="02010600030101010101" pitchFamily="2" charset="-122"/>
              </a:rPr>
              <a:t>的中断优先级排队电路，对每一级赋予了不同的优先级。显然这种结构就是独立请求方式的逻辑结构。</a:t>
            </a:r>
          </a:p>
        </p:txBody>
      </p:sp>
      <p:sp>
        <p:nvSpPr>
          <p:cNvPr id="28676" name="Rectangle 1028"/>
          <p:cNvSpPr>
            <a:spLocks noChangeArrowheads="1"/>
          </p:cNvSpPr>
          <p:nvPr/>
        </p:nvSpPr>
        <p:spPr bwMode="auto">
          <a:xfrm>
            <a:off x="323850" y="6165850"/>
            <a:ext cx="8261350" cy="457200"/>
          </a:xfrm>
          <a:prstGeom prst="rect">
            <a:avLst/>
          </a:prstGeom>
          <a:noFill/>
          <a:ln w="12700">
            <a:noFill/>
            <a:miter lim="800000"/>
            <a:headEnd type="none" w="sm" len="sm"/>
            <a:tailEnd type="none" w="sm" len="sm"/>
          </a:ln>
        </p:spPr>
        <p:txBody>
          <a:bodyPr wrap="none" anchor="ctr">
            <a:spAutoFit/>
          </a:bodyPr>
          <a:lstStyle/>
          <a:p>
            <a:pPr eaLnBrk="0" hangingPunct="0"/>
            <a:r>
              <a:rPr lang="zh-CN" altLang="en-US" sz="2400">
                <a:latin typeface="宋体" panose="02010600030101010101" pitchFamily="2" charset="-122"/>
              </a:rPr>
              <a:t>独立请求方式的中断优先级排队与中断向量产生的逻辑结构 </a:t>
            </a:r>
          </a:p>
        </p:txBody>
      </p:sp>
      <p:pic>
        <p:nvPicPr>
          <p:cNvPr id="28677" name="Picture 1029">
            <a:hlinkClick r:id="rId2"/>
          </p:cNvPr>
          <p:cNvPicPr>
            <a:picLocks noChangeAspect="1" noChangeArrowheads="1"/>
          </p:cNvPicPr>
          <p:nvPr/>
        </p:nvPicPr>
        <p:blipFill>
          <a:blip r:embed="rId3"/>
          <a:srcRect/>
          <a:stretch>
            <a:fillRect/>
          </a:stretch>
        </p:blipFill>
        <p:spPr bwMode="auto">
          <a:xfrm>
            <a:off x="8243888" y="3860800"/>
            <a:ext cx="409575" cy="381000"/>
          </a:xfrm>
          <a:prstGeom prst="rect">
            <a:avLst/>
          </a:prstGeom>
          <a:noFill/>
          <a:ln w="9525">
            <a:noFill/>
            <a:miter lim="800000"/>
            <a:headEnd/>
            <a:tailEnd/>
          </a:ln>
        </p:spPr>
      </p:pic>
      <p:sp>
        <p:nvSpPr>
          <p:cNvPr id="69638" name="Rectangle 1030"/>
          <p:cNvSpPr>
            <a:spLocks noChangeArrowheads="1"/>
          </p:cNvSpPr>
          <p:nvPr/>
        </p:nvSpPr>
        <p:spPr bwMode="auto">
          <a:xfrm>
            <a:off x="228600" y="228600"/>
            <a:ext cx="7921625" cy="1552575"/>
          </a:xfrm>
          <a:prstGeom prst="rect">
            <a:avLst/>
          </a:prstGeom>
          <a:solidFill>
            <a:srgbClr val="CCFFFF"/>
          </a:solidFill>
          <a:ln w="12700">
            <a:noFill/>
            <a:miter lim="800000"/>
            <a:headEnd type="none" w="sm" len="sm"/>
            <a:tailEnd type="none" w="sm" len="sm"/>
          </a:ln>
        </p:spPr>
        <p:txBody>
          <a:bodyPr anchor="ctr">
            <a:spAutoFit/>
          </a:bodyPr>
          <a:lstStyle/>
          <a:p>
            <a:r>
              <a:rPr lang="zh-CN" altLang="en-US" sz="2400">
                <a:latin typeface="宋体" panose="02010600030101010101" pitchFamily="2" charset="-122"/>
              </a:rPr>
              <a:t>假设中断请求源</a:t>
            </a:r>
            <a:r>
              <a:rPr lang="en-US" altLang="zh-CN" sz="2400">
                <a:latin typeface="宋体" panose="02010600030101010101" pitchFamily="2" charset="-122"/>
              </a:rPr>
              <a:t>1</a:t>
            </a:r>
            <a:r>
              <a:rPr lang="zh-CN" altLang="en-US" sz="2400">
                <a:latin typeface="宋体" panose="02010600030101010101" pitchFamily="2" charset="-122"/>
              </a:rPr>
              <a:t>的优先级最高，请求源</a:t>
            </a:r>
            <a:r>
              <a:rPr lang="en-US" altLang="zh-CN" sz="2400">
                <a:latin typeface="宋体" panose="02010600030101010101" pitchFamily="2" charset="-122"/>
              </a:rPr>
              <a:t>4</a:t>
            </a:r>
            <a:r>
              <a:rPr lang="zh-CN" altLang="en-US" sz="2400">
                <a:latin typeface="宋体" panose="02010600030101010101" pitchFamily="2" charset="-122"/>
              </a:rPr>
              <a:t>的优先级最低。中断请求寄存器的内容为</a:t>
            </a:r>
            <a:r>
              <a:rPr lang="en-US" altLang="zh-CN" sz="2400">
                <a:latin typeface="宋体" panose="02010600030101010101" pitchFamily="2" charset="-122"/>
              </a:rPr>
              <a:t>1111</a:t>
            </a:r>
            <a:r>
              <a:rPr lang="zh-CN" altLang="en-US" sz="2400">
                <a:latin typeface="宋体" panose="02010600030101010101" pitchFamily="2" charset="-122"/>
              </a:rPr>
              <a:t>，中断屏蔽寄存器的内容为</a:t>
            </a:r>
            <a:r>
              <a:rPr lang="en-US" altLang="zh-CN" sz="2400">
                <a:latin typeface="宋体" panose="02010600030101010101" pitchFamily="2" charset="-122"/>
              </a:rPr>
              <a:t>0010</a:t>
            </a:r>
            <a:r>
              <a:rPr lang="zh-CN" altLang="en-US" sz="2400">
                <a:latin typeface="宋体" panose="02010600030101010101" pitchFamily="2" charset="-122"/>
              </a:rPr>
              <a:t>，那么进入排队器的中断请求是</a:t>
            </a:r>
            <a:r>
              <a:rPr lang="en-US" altLang="zh-CN" sz="2400">
                <a:latin typeface="宋体" panose="02010600030101010101" pitchFamily="2" charset="-122"/>
              </a:rPr>
              <a:t>1101</a:t>
            </a:r>
            <a:r>
              <a:rPr lang="zh-CN" altLang="en-US" sz="2400">
                <a:latin typeface="宋体" panose="02010600030101010101" pitchFamily="2" charset="-122"/>
              </a:rPr>
              <a:t>。排队器的输出为</a:t>
            </a:r>
            <a:r>
              <a:rPr lang="en-US" altLang="zh-CN" sz="2400">
                <a:latin typeface="宋体" panose="02010600030101010101" pitchFamily="2" charset="-122"/>
              </a:rPr>
              <a:t>1000</a:t>
            </a:r>
            <a:r>
              <a:rPr lang="zh-CN" altLang="en-US" sz="2400">
                <a:latin typeface="宋体" panose="02010600030101010101" pitchFamily="2" charset="-122"/>
              </a:rPr>
              <a:t>。由编码器产生中断源</a:t>
            </a:r>
            <a:r>
              <a:rPr lang="en-US" altLang="zh-CN" sz="2400">
                <a:latin typeface="宋体" panose="02010600030101010101" pitchFamily="2" charset="-122"/>
              </a:rPr>
              <a:t>1</a:t>
            </a:r>
            <a:r>
              <a:rPr lang="zh-CN" altLang="en-US" sz="2400">
                <a:latin typeface="宋体" panose="02010600030101010101" pitchFamily="2" charset="-122"/>
              </a:rPr>
              <a:t>所对应的向量地址。　　</a:t>
            </a:r>
          </a:p>
        </p:txBody>
      </p:sp>
      <p:sp>
        <p:nvSpPr>
          <p:cNvPr id="69639" name="Rectangle 1031"/>
          <p:cNvSpPr>
            <a:spLocks noChangeArrowheads="1"/>
          </p:cNvSpPr>
          <p:nvPr/>
        </p:nvSpPr>
        <p:spPr bwMode="auto">
          <a:xfrm>
            <a:off x="228600" y="228600"/>
            <a:ext cx="7921625" cy="1552575"/>
          </a:xfrm>
          <a:prstGeom prst="rect">
            <a:avLst/>
          </a:prstGeom>
          <a:solidFill>
            <a:srgbClr val="CCFFFF"/>
          </a:solidFill>
          <a:ln w="12700">
            <a:noFill/>
            <a:miter lim="800000"/>
            <a:headEnd type="none" w="sm" len="sm"/>
            <a:tailEnd type="none" w="sm" len="sm"/>
          </a:ln>
        </p:spPr>
        <p:txBody>
          <a:bodyPr anchor="ctr">
            <a:spAutoFit/>
          </a:bodyPr>
          <a:lstStyle/>
          <a:p>
            <a:r>
              <a:rPr lang="zh-CN" altLang="en-US" sz="2400" dirty="0">
                <a:latin typeface="宋体" panose="02010600030101010101" pitchFamily="2" charset="-122"/>
              </a:rPr>
              <a:t>在多级中断中，如果每一级请求线上还连接有多个中断源设备，那么在识别中断源时，还需要进一步用串行链式方式查询。这意味着要用二维方式来设计中断排队逻辑。 </a:t>
            </a:r>
          </a:p>
          <a:p>
            <a:endParaRPr lang="en-US" altLang="zh-CN" sz="2400" dirty="0">
              <a:latin typeface="宋体" panose="02010600030101010101" pitchFamily="2" charset="-122"/>
            </a:endParaRPr>
          </a:p>
        </p:txBody>
      </p:sp>
      <p:pic>
        <p:nvPicPr>
          <p:cNvPr id="28680" name="Picture 1027" descr="8a10"/>
          <p:cNvPicPr>
            <a:picLocks noChangeAspect="1" noChangeArrowheads="1"/>
          </p:cNvPicPr>
          <p:nvPr/>
        </p:nvPicPr>
        <p:blipFill>
          <a:blip r:embed="rId4"/>
          <a:srcRect/>
          <a:stretch>
            <a:fillRect/>
          </a:stretch>
        </p:blipFill>
        <p:spPr bwMode="auto">
          <a:xfrm>
            <a:off x="468313" y="1773238"/>
            <a:ext cx="7416800" cy="4319587"/>
          </a:xfrm>
          <a:prstGeom prst="rect">
            <a:avLst/>
          </a:prstGeom>
          <a:noFill/>
          <a:ln w="9525">
            <a:noFill/>
            <a:miter lim="800000"/>
            <a:headEnd/>
            <a:tailEnd/>
          </a:ln>
        </p:spPr>
      </p:pic>
      <p:grpSp>
        <p:nvGrpSpPr>
          <p:cNvPr id="2" name="Group 1055"/>
          <p:cNvGrpSpPr/>
          <p:nvPr/>
        </p:nvGrpSpPr>
        <p:grpSpPr bwMode="auto">
          <a:xfrm>
            <a:off x="4716463" y="5157788"/>
            <a:ext cx="2411412" cy="396875"/>
            <a:chOff x="2971" y="3249"/>
            <a:chExt cx="1519" cy="250"/>
          </a:xfrm>
        </p:grpSpPr>
        <p:sp>
          <p:nvSpPr>
            <p:cNvPr id="28703" name="Rectangle 1034"/>
            <p:cNvSpPr>
              <a:spLocks noChangeArrowheads="1"/>
            </p:cNvSpPr>
            <p:nvPr/>
          </p:nvSpPr>
          <p:spPr bwMode="auto">
            <a:xfrm>
              <a:off x="3878" y="3249"/>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1</a:t>
              </a:r>
            </a:p>
          </p:txBody>
        </p:sp>
        <p:sp>
          <p:nvSpPr>
            <p:cNvPr id="28704" name="Rectangle 1038"/>
            <p:cNvSpPr>
              <a:spLocks noChangeArrowheads="1"/>
            </p:cNvSpPr>
            <p:nvPr/>
          </p:nvSpPr>
          <p:spPr bwMode="auto">
            <a:xfrm>
              <a:off x="3424" y="3249"/>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sp>
          <p:nvSpPr>
            <p:cNvPr id="28705" name="Rectangle 1039"/>
            <p:cNvSpPr>
              <a:spLocks noChangeArrowheads="1"/>
            </p:cNvSpPr>
            <p:nvPr/>
          </p:nvSpPr>
          <p:spPr bwMode="auto">
            <a:xfrm>
              <a:off x="2971" y="3249"/>
              <a:ext cx="204"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0</a:t>
              </a:r>
            </a:p>
          </p:txBody>
        </p:sp>
        <p:sp>
          <p:nvSpPr>
            <p:cNvPr id="28706" name="Rectangle 1040"/>
            <p:cNvSpPr>
              <a:spLocks noChangeArrowheads="1"/>
            </p:cNvSpPr>
            <p:nvPr/>
          </p:nvSpPr>
          <p:spPr bwMode="auto">
            <a:xfrm>
              <a:off x="4286" y="3249"/>
              <a:ext cx="204"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grpSp>
      <p:grpSp>
        <p:nvGrpSpPr>
          <p:cNvPr id="3" name="Group 1042"/>
          <p:cNvGrpSpPr/>
          <p:nvPr/>
        </p:nvGrpSpPr>
        <p:grpSpPr bwMode="auto">
          <a:xfrm>
            <a:off x="1187450" y="5157788"/>
            <a:ext cx="2411413" cy="396875"/>
            <a:chOff x="748" y="3249"/>
            <a:chExt cx="1519" cy="250"/>
          </a:xfrm>
        </p:grpSpPr>
        <p:sp>
          <p:nvSpPr>
            <p:cNvPr id="28699" name="Rectangle 1032"/>
            <p:cNvSpPr>
              <a:spLocks noChangeArrowheads="1"/>
            </p:cNvSpPr>
            <p:nvPr/>
          </p:nvSpPr>
          <p:spPr bwMode="auto">
            <a:xfrm>
              <a:off x="1247" y="3249"/>
              <a:ext cx="205"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sp>
          <p:nvSpPr>
            <p:cNvPr id="28700" name="Rectangle 1033"/>
            <p:cNvSpPr>
              <a:spLocks noChangeArrowheads="1"/>
            </p:cNvSpPr>
            <p:nvPr/>
          </p:nvSpPr>
          <p:spPr bwMode="auto">
            <a:xfrm>
              <a:off x="748" y="3249"/>
              <a:ext cx="205"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sp>
          <p:nvSpPr>
            <p:cNvPr id="28701" name="Rectangle 1035"/>
            <p:cNvSpPr>
              <a:spLocks noChangeArrowheads="1"/>
            </p:cNvSpPr>
            <p:nvPr/>
          </p:nvSpPr>
          <p:spPr bwMode="auto">
            <a:xfrm>
              <a:off x="1655" y="3249"/>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1</a:t>
              </a:r>
            </a:p>
          </p:txBody>
        </p:sp>
        <p:sp>
          <p:nvSpPr>
            <p:cNvPr id="28702" name="Rectangle 1041"/>
            <p:cNvSpPr>
              <a:spLocks noChangeArrowheads="1"/>
            </p:cNvSpPr>
            <p:nvPr/>
          </p:nvSpPr>
          <p:spPr bwMode="auto">
            <a:xfrm>
              <a:off x="2064" y="3249"/>
              <a:ext cx="203"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grpSp>
      <p:grpSp>
        <p:nvGrpSpPr>
          <p:cNvPr id="4" name="Group 1044"/>
          <p:cNvGrpSpPr/>
          <p:nvPr/>
        </p:nvGrpSpPr>
        <p:grpSpPr bwMode="auto">
          <a:xfrm>
            <a:off x="1258888" y="4221163"/>
            <a:ext cx="5510212" cy="396875"/>
            <a:chOff x="748" y="2976"/>
            <a:chExt cx="3471" cy="250"/>
          </a:xfrm>
        </p:grpSpPr>
        <p:sp>
          <p:nvSpPr>
            <p:cNvPr id="28695" name="Rectangle 1045"/>
            <p:cNvSpPr>
              <a:spLocks noChangeArrowheads="1"/>
            </p:cNvSpPr>
            <p:nvPr/>
          </p:nvSpPr>
          <p:spPr bwMode="auto">
            <a:xfrm>
              <a:off x="1837" y="2976"/>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1</a:t>
              </a:r>
            </a:p>
          </p:txBody>
        </p:sp>
        <p:sp>
          <p:nvSpPr>
            <p:cNvPr id="28696" name="Rectangle 1046"/>
            <p:cNvSpPr>
              <a:spLocks noChangeArrowheads="1"/>
            </p:cNvSpPr>
            <p:nvPr/>
          </p:nvSpPr>
          <p:spPr bwMode="auto">
            <a:xfrm>
              <a:off x="748" y="2976"/>
              <a:ext cx="205"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sp>
          <p:nvSpPr>
            <p:cNvPr id="28697" name="Rectangle 1047"/>
            <p:cNvSpPr>
              <a:spLocks noChangeArrowheads="1"/>
            </p:cNvSpPr>
            <p:nvPr/>
          </p:nvSpPr>
          <p:spPr bwMode="auto">
            <a:xfrm>
              <a:off x="4014" y="2976"/>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1</a:t>
              </a:r>
            </a:p>
          </p:txBody>
        </p:sp>
        <p:sp>
          <p:nvSpPr>
            <p:cNvPr id="28698" name="Rectangle 1048"/>
            <p:cNvSpPr>
              <a:spLocks noChangeArrowheads="1"/>
            </p:cNvSpPr>
            <p:nvPr/>
          </p:nvSpPr>
          <p:spPr bwMode="auto">
            <a:xfrm>
              <a:off x="2925" y="2976"/>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grpSp>
      <p:grpSp>
        <p:nvGrpSpPr>
          <p:cNvPr id="5" name="Group 1054"/>
          <p:cNvGrpSpPr/>
          <p:nvPr/>
        </p:nvGrpSpPr>
        <p:grpSpPr bwMode="auto">
          <a:xfrm>
            <a:off x="1258888" y="2781300"/>
            <a:ext cx="5222875" cy="396875"/>
            <a:chOff x="793" y="1752"/>
            <a:chExt cx="3290" cy="250"/>
          </a:xfrm>
        </p:grpSpPr>
        <p:sp>
          <p:nvSpPr>
            <p:cNvPr id="28691" name="Rectangle 1050"/>
            <p:cNvSpPr>
              <a:spLocks noChangeArrowheads="1"/>
            </p:cNvSpPr>
            <p:nvPr/>
          </p:nvSpPr>
          <p:spPr bwMode="auto">
            <a:xfrm>
              <a:off x="1746" y="1752"/>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sp>
          <p:nvSpPr>
            <p:cNvPr id="28692" name="Rectangle 1051"/>
            <p:cNvSpPr>
              <a:spLocks noChangeArrowheads="1"/>
            </p:cNvSpPr>
            <p:nvPr/>
          </p:nvSpPr>
          <p:spPr bwMode="auto">
            <a:xfrm>
              <a:off x="793" y="1752"/>
              <a:ext cx="205"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sp>
          <p:nvSpPr>
            <p:cNvPr id="28693" name="Rectangle 1052"/>
            <p:cNvSpPr>
              <a:spLocks noChangeArrowheads="1"/>
            </p:cNvSpPr>
            <p:nvPr/>
          </p:nvSpPr>
          <p:spPr bwMode="auto">
            <a:xfrm>
              <a:off x="3878" y="1752"/>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sp>
          <p:nvSpPr>
            <p:cNvPr id="28694" name="Rectangle 1053"/>
            <p:cNvSpPr>
              <a:spLocks noChangeArrowheads="1"/>
            </p:cNvSpPr>
            <p:nvPr/>
          </p:nvSpPr>
          <p:spPr bwMode="auto">
            <a:xfrm>
              <a:off x="2789" y="1752"/>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grpSp>
      <p:grpSp>
        <p:nvGrpSpPr>
          <p:cNvPr id="6" name="组合 36"/>
          <p:cNvGrpSpPr/>
          <p:nvPr/>
        </p:nvGrpSpPr>
        <p:grpSpPr bwMode="auto">
          <a:xfrm>
            <a:off x="1981200" y="3352800"/>
            <a:ext cx="5035550" cy="473075"/>
            <a:chOff x="1981200" y="3352800"/>
            <a:chExt cx="5035202" cy="473075"/>
          </a:xfrm>
        </p:grpSpPr>
        <p:grpSp>
          <p:nvGrpSpPr>
            <p:cNvPr id="28686" name="组合 35"/>
            <p:cNvGrpSpPr/>
            <p:nvPr/>
          </p:nvGrpSpPr>
          <p:grpSpPr bwMode="auto">
            <a:xfrm>
              <a:off x="1981200" y="3352800"/>
              <a:ext cx="3590932" cy="473075"/>
              <a:chOff x="1981200" y="3352800"/>
              <a:chExt cx="3662370" cy="473075"/>
            </a:xfrm>
          </p:grpSpPr>
          <p:sp>
            <p:nvSpPr>
              <p:cNvPr id="28688" name="Rectangle 1057"/>
              <p:cNvSpPr>
                <a:spLocks noChangeArrowheads="1"/>
              </p:cNvSpPr>
              <p:nvPr/>
            </p:nvSpPr>
            <p:spPr bwMode="auto">
              <a:xfrm>
                <a:off x="3466341" y="3429000"/>
                <a:ext cx="333831" cy="396875"/>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1</a:t>
                </a:r>
              </a:p>
            </p:txBody>
          </p:sp>
          <p:sp>
            <p:nvSpPr>
              <p:cNvPr id="28689" name="Rectangle 1058"/>
              <p:cNvSpPr>
                <a:spLocks noChangeArrowheads="1"/>
              </p:cNvSpPr>
              <p:nvPr/>
            </p:nvSpPr>
            <p:spPr bwMode="auto">
              <a:xfrm>
                <a:off x="1981200" y="3352800"/>
                <a:ext cx="333831" cy="396875"/>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0</a:t>
                </a:r>
              </a:p>
            </p:txBody>
          </p:sp>
          <p:sp>
            <p:nvSpPr>
              <p:cNvPr id="28690" name="Rectangle 1060"/>
              <p:cNvSpPr>
                <a:spLocks noChangeArrowheads="1"/>
              </p:cNvSpPr>
              <p:nvPr/>
            </p:nvSpPr>
            <p:spPr bwMode="auto">
              <a:xfrm>
                <a:off x="5342308" y="3429000"/>
                <a:ext cx="301262" cy="396875"/>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grpSp>
        <p:sp>
          <p:nvSpPr>
            <p:cNvPr id="28687" name="Rectangle 1060"/>
            <p:cNvSpPr>
              <a:spLocks noChangeArrowheads="1"/>
            </p:cNvSpPr>
            <p:nvPr/>
          </p:nvSpPr>
          <p:spPr bwMode="auto">
            <a:xfrm>
              <a:off x="6715140" y="3429000"/>
              <a:ext cx="301262" cy="396875"/>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9638"/>
                                        </p:tgtEl>
                                        <p:attrNameLst>
                                          <p:attrName>style.visibility</p:attrName>
                                        </p:attrNameLst>
                                      </p:cBhvr>
                                      <p:to>
                                        <p:strVal val="visible"/>
                                      </p:to>
                                    </p:set>
                                    <p:animEffect transition="in" filter="dissolve">
                                      <p:cBhvr>
                                        <p:cTn id="7" dur="500"/>
                                        <p:tgtEl>
                                          <p:spTgt spid="696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dissolv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69639"/>
                                        </p:tgtEl>
                                        <p:attrNameLst>
                                          <p:attrName>style.visibility</p:attrName>
                                        </p:attrNameLst>
                                      </p:cBhvr>
                                      <p:to>
                                        <p:strVal val="visible"/>
                                      </p:to>
                                    </p:set>
                                    <p:animEffect transition="in" filter="dissolve">
                                      <p:cBhvr>
                                        <p:cTn id="36" dur="500"/>
                                        <p:tgtEl>
                                          <p:spTgt spid="69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8" grpId="0" animBg="1" autoUpdateAnimBg="0"/>
      <p:bldP spid="69639"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p:spPr>
        <p:txBody>
          <a:bodyPr/>
          <a:lstStyle/>
          <a:p>
            <a:fld id="{6BDA7C8C-A0D8-4E6B-A8A7-FF30E50B1843}" type="slidenum">
              <a:rPr lang="en-US" altLang="zh-CN" smtClean="0"/>
              <a:t>31</a:t>
            </a:fld>
            <a:endParaRPr lang="en-US" altLang="zh-CN"/>
          </a:p>
        </p:txBody>
      </p:sp>
      <p:pic>
        <p:nvPicPr>
          <p:cNvPr id="29699" name="Picture 1027"/>
          <p:cNvPicPr>
            <a:picLocks noChangeAspect="1" noChangeArrowheads="1"/>
          </p:cNvPicPr>
          <p:nvPr/>
        </p:nvPicPr>
        <p:blipFill>
          <a:blip r:embed="rId2"/>
          <a:srcRect/>
          <a:stretch>
            <a:fillRect/>
          </a:stretch>
        </p:blipFill>
        <p:spPr bwMode="auto">
          <a:xfrm>
            <a:off x="228600" y="228600"/>
            <a:ext cx="7561263" cy="3409950"/>
          </a:xfrm>
          <a:prstGeom prst="rect">
            <a:avLst/>
          </a:prstGeom>
          <a:noFill/>
          <a:ln w="9525">
            <a:noFill/>
            <a:miter lim="800000"/>
            <a:headEnd/>
            <a:tailEnd/>
          </a:ln>
        </p:spPr>
      </p:pic>
      <p:sp>
        <p:nvSpPr>
          <p:cNvPr id="29700" name="Rectangle 1029"/>
          <p:cNvSpPr>
            <a:spLocks noChangeArrowheads="1"/>
          </p:cNvSpPr>
          <p:nvPr/>
        </p:nvSpPr>
        <p:spPr bwMode="auto">
          <a:xfrm>
            <a:off x="179388" y="3573463"/>
            <a:ext cx="8713787" cy="3106737"/>
          </a:xfrm>
          <a:prstGeom prst="rect">
            <a:avLst/>
          </a:prstGeom>
          <a:noFill/>
          <a:ln w="12700">
            <a:noFill/>
            <a:miter lim="800000"/>
            <a:headEnd type="none" w="sm" len="sm"/>
            <a:tailEnd type="none" w="sm" len="sm"/>
          </a:ln>
        </p:spPr>
        <p:txBody>
          <a:bodyPr>
            <a:spAutoFit/>
          </a:bodyPr>
          <a:lstStyle/>
          <a:p>
            <a:r>
              <a:rPr lang="zh-CN" altLang="en-US" sz="2200" dirty="0">
                <a:latin typeface="宋体" panose="02010600030101010101" pitchFamily="2" charset="-122"/>
              </a:rPr>
              <a:t>例</a:t>
            </a:r>
            <a:r>
              <a:rPr lang="en-US" altLang="zh-CN" sz="2200" dirty="0">
                <a:latin typeface="宋体" panose="02010600030101010101" pitchFamily="2" charset="-122"/>
              </a:rPr>
              <a:t>1</a:t>
            </a:r>
            <a:r>
              <a:rPr lang="zh-CN" altLang="en-US" sz="2200" dirty="0">
                <a:latin typeface="宋体" panose="02010600030101010101" pitchFamily="2" charset="-122"/>
              </a:rPr>
              <a:t>、参见图所示的二维中断系统。请问：</a:t>
            </a:r>
          </a:p>
          <a:p>
            <a:r>
              <a:rPr lang="en-US" altLang="zh-CN" sz="2200" dirty="0">
                <a:latin typeface="宋体" panose="02010600030101010101" pitchFamily="2" charset="-122"/>
              </a:rPr>
              <a:t>(1)</a:t>
            </a:r>
            <a:r>
              <a:rPr lang="zh-CN" altLang="en-US" sz="2200" dirty="0">
                <a:latin typeface="宋体" panose="02010600030101010101" pitchFamily="2" charset="-122"/>
              </a:rPr>
              <a:t>在中断情况下，</a:t>
            </a:r>
            <a:r>
              <a:rPr lang="en-US" altLang="zh-CN" sz="2200" dirty="0">
                <a:latin typeface="宋体" panose="02010600030101010101" pitchFamily="2" charset="-122"/>
              </a:rPr>
              <a:t>CPU</a:t>
            </a:r>
            <a:r>
              <a:rPr lang="zh-CN" altLang="en-US" sz="2200" dirty="0">
                <a:latin typeface="宋体" panose="02010600030101010101" pitchFamily="2" charset="-122"/>
              </a:rPr>
              <a:t>和设备的优先级如何考虑</a:t>
            </a:r>
            <a:r>
              <a:rPr lang="en-US" altLang="zh-CN" sz="2200" dirty="0">
                <a:latin typeface="宋体" panose="02010600030101010101" pitchFamily="2" charset="-122"/>
              </a:rPr>
              <a:t>?</a:t>
            </a:r>
            <a:r>
              <a:rPr lang="zh-CN" altLang="en-US" sz="2200" dirty="0">
                <a:latin typeface="宋体" panose="02010600030101010101" pitchFamily="2" charset="-122"/>
              </a:rPr>
              <a:t>请按降序排列各设备的中断优先级。</a:t>
            </a:r>
          </a:p>
          <a:p>
            <a:r>
              <a:rPr lang="en-US" altLang="zh-CN" sz="2200" dirty="0">
                <a:latin typeface="宋体" panose="02010600030101010101" pitchFamily="2" charset="-122"/>
              </a:rPr>
              <a:t>(2)</a:t>
            </a:r>
            <a:r>
              <a:rPr lang="zh-CN" altLang="en-US" sz="2200" dirty="0">
                <a:latin typeface="宋体" panose="02010600030101010101" pitchFamily="2" charset="-122"/>
              </a:rPr>
              <a:t>若</a:t>
            </a:r>
            <a:r>
              <a:rPr lang="en-US" altLang="zh-CN" sz="2200" dirty="0">
                <a:latin typeface="宋体" panose="02010600030101010101" pitchFamily="2" charset="-122"/>
              </a:rPr>
              <a:t>CPU</a:t>
            </a:r>
            <a:r>
              <a:rPr lang="zh-CN" altLang="en-US" sz="2200" dirty="0">
                <a:latin typeface="宋体" panose="02010600030101010101" pitchFamily="2" charset="-122"/>
              </a:rPr>
              <a:t>现执行设备</a:t>
            </a:r>
            <a:r>
              <a:rPr lang="en-US" altLang="zh-CN" sz="2200" dirty="0">
                <a:latin typeface="宋体" panose="02010600030101010101" pitchFamily="2" charset="-122"/>
              </a:rPr>
              <a:t>B</a:t>
            </a:r>
            <a:r>
              <a:rPr lang="zh-CN" altLang="en-US" sz="2200" dirty="0">
                <a:latin typeface="宋体" panose="02010600030101010101" pitchFamily="2" charset="-122"/>
              </a:rPr>
              <a:t>的中断服务程序，</a:t>
            </a:r>
            <a:r>
              <a:rPr lang="en-US" altLang="zh-CN" sz="2200" dirty="0">
                <a:latin typeface="宋体" panose="02010600030101010101" pitchFamily="2" charset="-122"/>
              </a:rPr>
              <a:t>IM2</a:t>
            </a:r>
            <a:r>
              <a:rPr lang="zh-CN" altLang="en-US" sz="2200" dirty="0">
                <a:latin typeface="宋体" panose="02010600030101010101" pitchFamily="2" charset="-122"/>
              </a:rPr>
              <a:t>，</a:t>
            </a:r>
            <a:r>
              <a:rPr lang="en-US" altLang="zh-CN" sz="2200" dirty="0">
                <a:latin typeface="宋体" panose="02010600030101010101" pitchFamily="2" charset="-122"/>
              </a:rPr>
              <a:t>IM1</a:t>
            </a:r>
            <a:r>
              <a:rPr lang="zh-CN" altLang="en-US" sz="2200" dirty="0">
                <a:latin typeface="宋体" panose="02010600030101010101" pitchFamily="2" charset="-122"/>
              </a:rPr>
              <a:t>，</a:t>
            </a:r>
            <a:r>
              <a:rPr lang="en-US" altLang="zh-CN" sz="2200" dirty="0">
                <a:latin typeface="宋体" panose="02010600030101010101" pitchFamily="2" charset="-122"/>
              </a:rPr>
              <a:t>IM0</a:t>
            </a:r>
            <a:r>
              <a:rPr lang="zh-CN" altLang="en-US" sz="2200" dirty="0">
                <a:latin typeface="宋体" panose="02010600030101010101" pitchFamily="2" charset="-122"/>
              </a:rPr>
              <a:t>的状态是什么</a:t>
            </a:r>
            <a:r>
              <a:rPr lang="en-US" altLang="zh-CN" sz="2200" dirty="0">
                <a:latin typeface="宋体" panose="02010600030101010101" pitchFamily="2" charset="-122"/>
              </a:rPr>
              <a:t>?</a:t>
            </a:r>
            <a:r>
              <a:rPr lang="zh-CN" altLang="en-US" sz="2200" dirty="0">
                <a:latin typeface="宋体" panose="02010600030101010101" pitchFamily="2" charset="-122"/>
              </a:rPr>
              <a:t>如果</a:t>
            </a:r>
            <a:r>
              <a:rPr lang="en-US" altLang="zh-CN" sz="2200" dirty="0">
                <a:latin typeface="宋体" panose="02010600030101010101" pitchFamily="2" charset="-122"/>
              </a:rPr>
              <a:t>CPU</a:t>
            </a:r>
            <a:r>
              <a:rPr lang="zh-CN" altLang="en-US" sz="2200" dirty="0">
                <a:latin typeface="宋体" panose="02010600030101010101" pitchFamily="2" charset="-122"/>
              </a:rPr>
              <a:t>执行设备</a:t>
            </a:r>
            <a:r>
              <a:rPr lang="en-US" altLang="zh-CN" sz="2200" dirty="0">
                <a:latin typeface="宋体" panose="02010600030101010101" pitchFamily="2" charset="-122"/>
              </a:rPr>
              <a:t>D</a:t>
            </a:r>
            <a:r>
              <a:rPr lang="zh-CN" altLang="en-US" sz="2200" dirty="0">
                <a:latin typeface="宋体" panose="02010600030101010101" pitchFamily="2" charset="-122"/>
              </a:rPr>
              <a:t>的中断服务程序，</a:t>
            </a:r>
            <a:r>
              <a:rPr lang="en-US" altLang="zh-CN" sz="2200" dirty="0">
                <a:latin typeface="宋体" panose="02010600030101010101" pitchFamily="2" charset="-122"/>
              </a:rPr>
              <a:t>IM2</a:t>
            </a:r>
            <a:r>
              <a:rPr lang="zh-CN" altLang="en-US" sz="2200" dirty="0">
                <a:latin typeface="宋体" panose="02010600030101010101" pitchFamily="2" charset="-122"/>
              </a:rPr>
              <a:t>，</a:t>
            </a:r>
            <a:r>
              <a:rPr lang="en-US" altLang="zh-CN" sz="2200" dirty="0">
                <a:latin typeface="宋体" panose="02010600030101010101" pitchFamily="2" charset="-122"/>
              </a:rPr>
              <a:t>IM1</a:t>
            </a:r>
            <a:r>
              <a:rPr lang="zh-CN" altLang="en-US" sz="2200" dirty="0">
                <a:latin typeface="宋体" panose="02010600030101010101" pitchFamily="2" charset="-122"/>
              </a:rPr>
              <a:t>，</a:t>
            </a:r>
            <a:r>
              <a:rPr lang="en-US" altLang="zh-CN" sz="2200" dirty="0">
                <a:latin typeface="宋体" panose="02010600030101010101" pitchFamily="2" charset="-122"/>
              </a:rPr>
              <a:t>IM0</a:t>
            </a:r>
            <a:r>
              <a:rPr lang="zh-CN" altLang="en-US" sz="2200" dirty="0">
                <a:latin typeface="宋体" panose="02010600030101010101" pitchFamily="2" charset="-122"/>
              </a:rPr>
              <a:t>的状态又是什么</a:t>
            </a:r>
            <a:r>
              <a:rPr lang="en-US" altLang="zh-CN" sz="2200" dirty="0">
                <a:latin typeface="宋体" panose="02010600030101010101" pitchFamily="2" charset="-122"/>
              </a:rPr>
              <a:t>? </a:t>
            </a:r>
          </a:p>
          <a:p>
            <a:r>
              <a:rPr lang="en-US" altLang="zh-CN" sz="2200" dirty="0">
                <a:latin typeface="宋体" panose="02010600030101010101" pitchFamily="2" charset="-122"/>
              </a:rPr>
              <a:t>(3)</a:t>
            </a:r>
            <a:r>
              <a:rPr lang="zh-CN" altLang="en-US" sz="2200" dirty="0">
                <a:latin typeface="宋体" panose="02010600030101010101" pitchFamily="2" charset="-122"/>
              </a:rPr>
              <a:t>每一级的</a:t>
            </a:r>
            <a:r>
              <a:rPr lang="en-US" altLang="zh-CN" sz="2200" dirty="0">
                <a:latin typeface="宋体" panose="02010600030101010101" pitchFamily="2" charset="-122"/>
              </a:rPr>
              <a:t>IM</a:t>
            </a:r>
            <a:r>
              <a:rPr lang="zh-CN" altLang="en-US" sz="2200" dirty="0">
                <a:latin typeface="宋体" panose="02010600030101010101" pitchFamily="2" charset="-122"/>
              </a:rPr>
              <a:t>能否对某个优先级的个别设备单独进行屏蔽</a:t>
            </a:r>
            <a:r>
              <a:rPr lang="en-US" altLang="zh-CN" sz="2200" dirty="0">
                <a:latin typeface="宋体" panose="02010600030101010101" pitchFamily="2" charset="-122"/>
              </a:rPr>
              <a:t>?</a:t>
            </a:r>
            <a:r>
              <a:rPr lang="zh-CN" altLang="en-US" sz="2200" dirty="0">
                <a:latin typeface="宋体" panose="02010600030101010101" pitchFamily="2" charset="-122"/>
              </a:rPr>
              <a:t>如果不能，采取什么办法可达到目的</a:t>
            </a:r>
            <a:r>
              <a:rPr lang="en-US" altLang="zh-CN" sz="2200" dirty="0">
                <a:latin typeface="宋体" panose="02010600030101010101" pitchFamily="2" charset="-122"/>
              </a:rPr>
              <a:t>?</a:t>
            </a:r>
          </a:p>
          <a:p>
            <a:r>
              <a:rPr lang="en-US" altLang="zh-CN" sz="2200" dirty="0">
                <a:latin typeface="宋体" panose="02010600030101010101" pitchFamily="2" charset="-122"/>
              </a:rPr>
              <a:t>(4)</a:t>
            </a:r>
            <a:r>
              <a:rPr lang="zh-CN" altLang="en-US" sz="2200" dirty="0">
                <a:latin typeface="宋体" panose="02010600030101010101" pitchFamily="2" charset="-122"/>
              </a:rPr>
              <a:t>假如设备</a:t>
            </a:r>
            <a:r>
              <a:rPr lang="en-US" altLang="zh-CN" sz="2200" dirty="0">
                <a:latin typeface="宋体" panose="02010600030101010101" pitchFamily="2" charset="-122"/>
              </a:rPr>
              <a:t>C</a:t>
            </a:r>
            <a:r>
              <a:rPr lang="zh-CN" altLang="en-US" sz="2200" dirty="0">
                <a:latin typeface="宋体" panose="02010600030101010101" pitchFamily="2" charset="-122"/>
              </a:rPr>
              <a:t>一提出中断请求，</a:t>
            </a:r>
            <a:r>
              <a:rPr lang="en-US" altLang="zh-CN" sz="2200" dirty="0">
                <a:latin typeface="宋体" panose="02010600030101010101" pitchFamily="2" charset="-122"/>
              </a:rPr>
              <a:t>CPU</a:t>
            </a:r>
            <a:r>
              <a:rPr lang="zh-CN" altLang="en-US" sz="2200" dirty="0">
                <a:latin typeface="宋体" panose="02010600030101010101" pitchFamily="2" charset="-122"/>
              </a:rPr>
              <a:t>立即进行响应，如何调整才能满足此要求</a:t>
            </a:r>
            <a:r>
              <a:rPr lang="en-US" altLang="zh-CN" sz="2200" dirty="0">
                <a:latin typeface="宋体" panose="02010600030101010101" pitchFamily="2" charset="-122"/>
              </a:rPr>
              <a:t>?</a:t>
            </a:r>
          </a:p>
        </p:txBody>
      </p:sp>
      <p:sp>
        <p:nvSpPr>
          <p:cNvPr id="70662" name="Rectangle 1030"/>
          <p:cNvSpPr>
            <a:spLocks noChangeArrowheads="1"/>
          </p:cNvSpPr>
          <p:nvPr/>
        </p:nvSpPr>
        <p:spPr bwMode="auto">
          <a:xfrm>
            <a:off x="304800" y="3886200"/>
            <a:ext cx="8497888" cy="1223963"/>
          </a:xfrm>
          <a:prstGeom prst="rect">
            <a:avLst/>
          </a:prstGeom>
          <a:solidFill>
            <a:srgbClr val="CCFFFF"/>
          </a:solidFill>
          <a:ln w="9525">
            <a:noFill/>
            <a:miter lim="800000"/>
          </a:ln>
        </p:spPr>
        <p:txBody>
          <a:bodyPr/>
          <a:lstStyle/>
          <a:p>
            <a:pPr marL="342900" indent="-342900">
              <a:lnSpc>
                <a:spcPct val="90000"/>
              </a:lnSpc>
              <a:spcBef>
                <a:spcPct val="20000"/>
              </a:spcBef>
              <a:buClr>
                <a:schemeClr val="tx2"/>
              </a:buClr>
              <a:buSzPct val="70000"/>
              <a:buFont typeface="Wingdings" panose="05000000000000000000" pitchFamily="2" charset="2"/>
              <a:buNone/>
            </a:pPr>
            <a:r>
              <a:rPr lang="en-US" altLang="zh-CN" sz="2400" dirty="0">
                <a:latin typeface="宋体" panose="02010600030101010101" pitchFamily="2" charset="-122"/>
              </a:rPr>
              <a:t>(4)</a:t>
            </a:r>
            <a:r>
              <a:rPr lang="zh-CN" altLang="en-US" sz="2400" dirty="0">
                <a:latin typeface="宋体" panose="02010600030101010101" pitchFamily="2" charset="-122"/>
              </a:rPr>
              <a:t>要使设备</a:t>
            </a:r>
            <a:r>
              <a:rPr lang="en-US" altLang="zh-CN" sz="2400" dirty="0">
                <a:latin typeface="宋体" panose="02010600030101010101" pitchFamily="2" charset="-122"/>
              </a:rPr>
              <a:t>C</a:t>
            </a:r>
            <a:r>
              <a:rPr lang="zh-CN" altLang="en-US" sz="2400" dirty="0">
                <a:latin typeface="宋体" panose="02010600030101010101" pitchFamily="2" charset="-122"/>
              </a:rPr>
              <a:t>的中断请求及时得到响应，可将设备</a:t>
            </a:r>
            <a:r>
              <a:rPr lang="en-US" altLang="zh-CN" sz="2400" dirty="0">
                <a:latin typeface="宋体" panose="02010600030101010101" pitchFamily="2" charset="-122"/>
              </a:rPr>
              <a:t>C</a:t>
            </a:r>
            <a:r>
              <a:rPr lang="zh-CN" altLang="en-US" sz="2400" dirty="0">
                <a:latin typeface="宋体" panose="02010600030101010101" pitchFamily="2" charset="-122"/>
              </a:rPr>
              <a:t>从第</a:t>
            </a:r>
            <a:r>
              <a:rPr lang="en-US" altLang="zh-CN" sz="2400" dirty="0">
                <a:latin typeface="宋体" panose="02010600030101010101" pitchFamily="2" charset="-122"/>
              </a:rPr>
              <a:t>2</a:t>
            </a:r>
            <a:r>
              <a:rPr lang="zh-CN" altLang="en-US" sz="2400" dirty="0">
                <a:latin typeface="宋体" panose="02010600030101010101" pitchFamily="2" charset="-122"/>
              </a:rPr>
              <a:t>级取出来，单独放在第</a:t>
            </a:r>
            <a:r>
              <a:rPr lang="en-US" altLang="zh-CN" sz="2400" dirty="0">
                <a:latin typeface="宋体" panose="02010600030101010101" pitchFamily="2" charset="-122"/>
              </a:rPr>
              <a:t>3</a:t>
            </a:r>
            <a:r>
              <a:rPr lang="zh-CN" altLang="en-US" sz="2400" dirty="0">
                <a:latin typeface="宋体" panose="02010600030101010101" pitchFamily="2" charset="-122"/>
              </a:rPr>
              <a:t>级上，使第</a:t>
            </a:r>
            <a:r>
              <a:rPr lang="en-US" altLang="zh-CN" sz="2400" dirty="0">
                <a:latin typeface="宋体" panose="02010600030101010101" pitchFamily="2" charset="-122"/>
              </a:rPr>
              <a:t>3</a:t>
            </a:r>
            <a:r>
              <a:rPr lang="zh-CN" altLang="en-US" sz="2400" dirty="0">
                <a:latin typeface="宋体" panose="02010600030101010101" pitchFamily="2" charset="-122"/>
              </a:rPr>
              <a:t>级的优先级最高，即令</a:t>
            </a:r>
            <a:r>
              <a:rPr lang="en-US" altLang="zh-CN" sz="2400" dirty="0">
                <a:latin typeface="宋体" panose="02010600030101010101" pitchFamily="2" charset="-122"/>
              </a:rPr>
              <a:t>IM3=0</a:t>
            </a:r>
            <a:r>
              <a:rPr lang="zh-CN" altLang="en-US" sz="2400" dirty="0">
                <a:latin typeface="宋体" panose="02010600030101010101" pitchFamily="2" charset="-122"/>
              </a:rPr>
              <a:t>即可。</a:t>
            </a:r>
          </a:p>
        </p:txBody>
      </p:sp>
      <p:sp>
        <p:nvSpPr>
          <p:cNvPr id="70663" name="Rectangle 1031"/>
          <p:cNvSpPr>
            <a:spLocks noChangeArrowheads="1"/>
          </p:cNvSpPr>
          <p:nvPr/>
        </p:nvSpPr>
        <p:spPr bwMode="auto">
          <a:xfrm>
            <a:off x="250825" y="5373688"/>
            <a:ext cx="8642350" cy="790575"/>
          </a:xfrm>
          <a:prstGeom prst="rect">
            <a:avLst/>
          </a:prstGeom>
          <a:solidFill>
            <a:srgbClr val="CCFFFF"/>
          </a:solidFill>
          <a:ln w="9525">
            <a:noFill/>
            <a:miter lim="800000"/>
          </a:ln>
        </p:spPr>
        <p:txBody>
          <a:bodyPr/>
          <a:lstStyle/>
          <a:p>
            <a:pPr marL="342900" indent="-342900">
              <a:lnSpc>
                <a:spcPct val="90000"/>
              </a:lnSpc>
              <a:spcBef>
                <a:spcPct val="20000"/>
              </a:spcBef>
              <a:buClr>
                <a:schemeClr val="tx2"/>
              </a:buClr>
              <a:buSzPct val="70000"/>
              <a:buFont typeface="Wingdings" panose="05000000000000000000" pitchFamily="2" charset="2"/>
              <a:buNone/>
            </a:pPr>
            <a:r>
              <a:rPr lang="en-US" altLang="zh-CN" sz="2400" dirty="0">
                <a:latin typeface="宋体" panose="02010600030101010101" pitchFamily="2" charset="-122"/>
              </a:rPr>
              <a:t>(1)</a:t>
            </a:r>
            <a:r>
              <a:rPr lang="zh-CN" altLang="en-US" sz="2400" dirty="0">
                <a:latin typeface="宋体" panose="02010600030101010101" pitchFamily="2" charset="-122"/>
              </a:rPr>
              <a:t>在中断情况下，</a:t>
            </a:r>
            <a:r>
              <a:rPr lang="en-US" altLang="zh-CN" sz="2400" dirty="0">
                <a:latin typeface="宋体" panose="02010600030101010101" pitchFamily="2" charset="-122"/>
              </a:rPr>
              <a:t>CPU</a:t>
            </a:r>
            <a:r>
              <a:rPr lang="zh-CN" altLang="en-US" sz="2400" dirty="0">
                <a:latin typeface="宋体" panose="02010600030101010101" pitchFamily="2" charset="-122"/>
              </a:rPr>
              <a:t>的优先级最低。各设备的优先次序是：</a:t>
            </a:r>
            <a:r>
              <a:rPr lang="en-US" altLang="zh-CN" sz="2400" dirty="0">
                <a:latin typeface="宋体" panose="02010600030101010101" pitchFamily="2" charset="-122"/>
              </a:rPr>
              <a:t>A→B→C→D→E→F→G→H→I→CPU</a:t>
            </a:r>
            <a:r>
              <a:rPr lang="zh-CN" altLang="en-US" sz="2400" dirty="0">
                <a:latin typeface="宋体" panose="02010600030101010101" pitchFamily="2" charset="-122"/>
              </a:rPr>
              <a:t>。</a:t>
            </a:r>
          </a:p>
        </p:txBody>
      </p:sp>
      <p:sp>
        <p:nvSpPr>
          <p:cNvPr id="70664" name="Rectangle 1032"/>
          <p:cNvSpPr>
            <a:spLocks noChangeArrowheads="1"/>
          </p:cNvSpPr>
          <p:nvPr/>
        </p:nvSpPr>
        <p:spPr bwMode="auto">
          <a:xfrm>
            <a:off x="228772" y="2348508"/>
            <a:ext cx="8642350" cy="720725"/>
          </a:xfrm>
          <a:prstGeom prst="rect">
            <a:avLst/>
          </a:prstGeom>
          <a:solidFill>
            <a:srgbClr val="CCFFFF"/>
          </a:solidFill>
          <a:ln w="9525">
            <a:noFill/>
            <a:miter lim="800000"/>
          </a:ln>
        </p:spPr>
        <p:txBody>
          <a:bodyPr/>
          <a:lstStyle/>
          <a:p>
            <a:pPr marL="342900" indent="-342900">
              <a:lnSpc>
                <a:spcPct val="90000"/>
              </a:lnSpc>
              <a:spcBef>
                <a:spcPct val="20000"/>
              </a:spcBef>
              <a:buClr>
                <a:schemeClr val="tx2"/>
              </a:buClr>
              <a:buSzPct val="70000"/>
              <a:buFont typeface="Wingdings" panose="05000000000000000000" pitchFamily="2" charset="2"/>
              <a:buNone/>
            </a:pPr>
            <a:r>
              <a:rPr lang="en-US" altLang="zh-CN" sz="2400" dirty="0">
                <a:latin typeface="宋体" panose="02010600030101010101" pitchFamily="2" charset="-122"/>
              </a:rPr>
              <a:t>(2)</a:t>
            </a:r>
            <a:r>
              <a:rPr lang="zh-CN" altLang="en-US" sz="2400" dirty="0">
                <a:latin typeface="宋体" panose="02010600030101010101" pitchFamily="2" charset="-122"/>
              </a:rPr>
              <a:t>执行设备</a:t>
            </a:r>
            <a:r>
              <a:rPr lang="en-US" altLang="zh-CN" sz="2400" dirty="0">
                <a:latin typeface="宋体" panose="02010600030101010101" pitchFamily="2" charset="-122"/>
              </a:rPr>
              <a:t>B</a:t>
            </a:r>
            <a:r>
              <a:rPr lang="zh-CN" altLang="en-US" sz="2400" dirty="0">
                <a:latin typeface="宋体" panose="02010600030101010101" pitchFamily="2" charset="-122"/>
              </a:rPr>
              <a:t>的中断服务程序时</a:t>
            </a:r>
            <a:r>
              <a:rPr lang="en-US" altLang="zh-CN" sz="2400" dirty="0">
                <a:latin typeface="宋体" panose="02010600030101010101" pitchFamily="2" charset="-122"/>
              </a:rPr>
              <a:t>IM2IM1IM0=111</a:t>
            </a:r>
            <a:r>
              <a:rPr lang="zh-CN" altLang="en-US" sz="2400" dirty="0">
                <a:latin typeface="宋体" panose="02010600030101010101" pitchFamily="2" charset="-122"/>
              </a:rPr>
              <a:t>；执行设备</a:t>
            </a:r>
            <a:r>
              <a:rPr lang="en-US" altLang="zh-CN" sz="2400" dirty="0">
                <a:latin typeface="宋体" panose="02010600030101010101" pitchFamily="2" charset="-122"/>
              </a:rPr>
              <a:t>D</a:t>
            </a:r>
            <a:r>
              <a:rPr lang="zh-CN" altLang="en-US" sz="2400" dirty="0">
                <a:latin typeface="宋体" panose="02010600030101010101" pitchFamily="2" charset="-122"/>
              </a:rPr>
              <a:t>的中断服务程序时，</a:t>
            </a:r>
            <a:r>
              <a:rPr lang="en-US" altLang="zh-CN" sz="2400" dirty="0">
                <a:latin typeface="宋体" panose="02010600030101010101" pitchFamily="2" charset="-122"/>
              </a:rPr>
              <a:t>IM2IM1IM0=011</a:t>
            </a:r>
            <a:r>
              <a:rPr lang="zh-CN" altLang="en-US" sz="2400" dirty="0">
                <a:latin typeface="宋体" panose="02010600030101010101" pitchFamily="2" charset="-122"/>
              </a:rPr>
              <a:t>。</a:t>
            </a:r>
          </a:p>
        </p:txBody>
      </p:sp>
      <p:sp>
        <p:nvSpPr>
          <p:cNvPr id="70665" name="Rectangle 1033"/>
          <p:cNvSpPr>
            <a:spLocks noChangeArrowheads="1"/>
          </p:cNvSpPr>
          <p:nvPr/>
        </p:nvSpPr>
        <p:spPr bwMode="auto">
          <a:xfrm>
            <a:off x="199808" y="1340445"/>
            <a:ext cx="8497888" cy="1008063"/>
          </a:xfrm>
          <a:prstGeom prst="rect">
            <a:avLst/>
          </a:prstGeom>
          <a:solidFill>
            <a:srgbClr val="CCFFFF"/>
          </a:solidFill>
          <a:ln w="9525">
            <a:noFill/>
            <a:miter lim="800000"/>
          </a:ln>
        </p:spPr>
        <p:txBody>
          <a:bodyPr/>
          <a:lstStyle/>
          <a:p>
            <a:pPr marL="342900" indent="-342900">
              <a:lnSpc>
                <a:spcPct val="90000"/>
              </a:lnSpc>
              <a:spcBef>
                <a:spcPct val="20000"/>
              </a:spcBef>
              <a:buClr>
                <a:schemeClr val="tx2"/>
              </a:buClr>
              <a:buSzPct val="70000"/>
              <a:buFont typeface="Wingdings" panose="05000000000000000000" pitchFamily="2" charset="2"/>
              <a:buNone/>
            </a:pPr>
            <a:r>
              <a:rPr lang="en-US" altLang="zh-CN" sz="2400" dirty="0">
                <a:latin typeface="宋体" panose="02010600030101010101" pitchFamily="2" charset="-122"/>
              </a:rPr>
              <a:t>(3)</a:t>
            </a:r>
            <a:r>
              <a:rPr lang="zh-CN" altLang="en-US" sz="2400" dirty="0">
                <a:latin typeface="宋体" panose="02010600030101010101" pitchFamily="2" charset="-122"/>
              </a:rPr>
              <a:t>每一级的</a:t>
            </a:r>
            <a:r>
              <a:rPr lang="en-US" altLang="zh-CN" sz="2400" dirty="0">
                <a:latin typeface="宋体" panose="02010600030101010101" pitchFamily="2" charset="-122"/>
              </a:rPr>
              <a:t>IM</a:t>
            </a:r>
            <a:r>
              <a:rPr lang="zh-CN" altLang="en-US" sz="2400" dirty="0">
                <a:latin typeface="宋体" panose="02010600030101010101" pitchFamily="2" charset="-122"/>
              </a:rPr>
              <a:t>标志不能对某个优先级的个别设备进行单独屏蔽。可将接口中的</a:t>
            </a:r>
            <a:r>
              <a:rPr lang="en-US" altLang="zh-CN" sz="2400" dirty="0">
                <a:latin typeface="宋体" panose="02010600030101010101" pitchFamily="2" charset="-122"/>
              </a:rPr>
              <a:t>EI(</a:t>
            </a:r>
            <a:r>
              <a:rPr lang="zh-CN" altLang="en-US" sz="2400" dirty="0">
                <a:latin typeface="宋体" panose="02010600030101010101" pitchFamily="2" charset="-122"/>
              </a:rPr>
              <a:t>中断允许</a:t>
            </a:r>
            <a:r>
              <a:rPr lang="en-US" altLang="zh-CN" sz="2400" dirty="0">
                <a:latin typeface="宋体" panose="02010600030101010101" pitchFamily="2" charset="-122"/>
              </a:rPr>
              <a:t>)</a:t>
            </a:r>
            <a:r>
              <a:rPr lang="zh-CN" altLang="en-US" sz="2400" dirty="0">
                <a:latin typeface="宋体" panose="02010600030101010101" pitchFamily="2" charset="-122"/>
              </a:rPr>
              <a:t>标志清“</a:t>
            </a:r>
            <a:r>
              <a:rPr lang="en-US" altLang="zh-CN" sz="2400" dirty="0">
                <a:latin typeface="宋体" panose="02010600030101010101" pitchFamily="2" charset="-122"/>
              </a:rPr>
              <a:t>0”</a:t>
            </a:r>
            <a:r>
              <a:rPr lang="zh-CN" altLang="en-US" sz="2400" dirty="0">
                <a:latin typeface="宋体" panose="02010600030101010101" pitchFamily="2" charset="-122"/>
              </a:rPr>
              <a:t>，它禁止设备发出中断请求。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663"/>
                                        </p:tgtEl>
                                        <p:attrNameLst>
                                          <p:attrName>style.visibility</p:attrName>
                                        </p:attrNameLst>
                                      </p:cBhvr>
                                      <p:to>
                                        <p:strVal val="visible"/>
                                      </p:to>
                                    </p:set>
                                    <p:animEffect transition="in" filter="dissolve">
                                      <p:cBhvr>
                                        <p:cTn id="7" dur="500"/>
                                        <p:tgtEl>
                                          <p:spTgt spid="70663"/>
                                        </p:tgtEl>
                                      </p:cBhvr>
                                    </p:animEffect>
                                  </p:childTnLst>
                                  <p:subTnLst>
                                    <p:set>
                                      <p:cBhvr override="childStyle">
                                        <p:cTn dur="1" fill="hold" display="0" masterRel="nextClick" afterEffect="1"/>
                                        <p:tgtEl>
                                          <p:spTgt spid="7066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0664"/>
                                        </p:tgtEl>
                                        <p:attrNameLst>
                                          <p:attrName>style.visibility</p:attrName>
                                        </p:attrNameLst>
                                      </p:cBhvr>
                                      <p:to>
                                        <p:strVal val="visible"/>
                                      </p:to>
                                    </p:set>
                                    <p:animEffect transition="in" filter="dissolve">
                                      <p:cBhvr>
                                        <p:cTn id="12" dur="500"/>
                                        <p:tgtEl>
                                          <p:spTgt spid="70664"/>
                                        </p:tgtEl>
                                      </p:cBhvr>
                                    </p:animEffect>
                                  </p:childTnLst>
                                  <p:subTnLst>
                                    <p:set>
                                      <p:cBhvr override="childStyle">
                                        <p:cTn dur="1" fill="hold" display="0" masterRel="nextClick" afterEffect="1"/>
                                        <p:tgtEl>
                                          <p:spTgt spid="7066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0665"/>
                                        </p:tgtEl>
                                        <p:attrNameLst>
                                          <p:attrName>style.visibility</p:attrName>
                                        </p:attrNameLst>
                                      </p:cBhvr>
                                      <p:to>
                                        <p:strVal val="visible"/>
                                      </p:to>
                                    </p:set>
                                    <p:animEffect transition="in" filter="dissolve">
                                      <p:cBhvr>
                                        <p:cTn id="17" dur="500"/>
                                        <p:tgtEl>
                                          <p:spTgt spid="70665"/>
                                        </p:tgtEl>
                                      </p:cBhvr>
                                    </p:animEffect>
                                  </p:childTnLst>
                                  <p:subTnLst>
                                    <p:set>
                                      <p:cBhvr override="childStyle">
                                        <p:cTn dur="1" fill="hold" display="0" masterRel="nextClick" afterEffect="1"/>
                                        <p:tgtEl>
                                          <p:spTgt spid="70665"/>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0662"/>
                                        </p:tgtEl>
                                        <p:attrNameLst>
                                          <p:attrName>style.visibility</p:attrName>
                                        </p:attrNameLst>
                                      </p:cBhvr>
                                      <p:to>
                                        <p:strVal val="visible"/>
                                      </p:to>
                                    </p:set>
                                    <p:animEffect transition="in" filter="dissolve">
                                      <p:cBhvr>
                                        <p:cTn id="22" dur="500"/>
                                        <p:tgtEl>
                                          <p:spTgt spid="70662"/>
                                        </p:tgtEl>
                                      </p:cBhvr>
                                    </p:animEffect>
                                  </p:childTnLst>
                                  <p:subTnLst>
                                    <p:set>
                                      <p:cBhvr override="childStyle">
                                        <p:cTn dur="1" fill="hold" display="0" masterRel="nextClick" afterEffect="1"/>
                                        <p:tgtEl>
                                          <p:spTgt spid="7066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2" grpId="0" animBg="1" autoUpdateAnimBg="0"/>
      <p:bldP spid="70663" grpId="0" animBg="1" autoUpdateAnimBg="0"/>
      <p:bldP spid="70664" grpId="0" animBg="1" autoUpdateAnimBg="0"/>
      <p:bldP spid="70665"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p>
            <a:fld id="{CA90ABFE-5978-481A-A9B9-EFD004D7FF41}" type="slidenum">
              <a:rPr lang="en-US" altLang="zh-CN" smtClean="0"/>
              <a:t>32</a:t>
            </a:fld>
            <a:endParaRPr lang="en-US" altLang="zh-CN"/>
          </a:p>
        </p:txBody>
      </p:sp>
      <p:sp>
        <p:nvSpPr>
          <p:cNvPr id="30723" name="Rectangle 5"/>
          <p:cNvSpPr>
            <a:spLocks noChangeArrowheads="1"/>
          </p:cNvSpPr>
          <p:nvPr/>
        </p:nvSpPr>
        <p:spPr bwMode="auto">
          <a:xfrm>
            <a:off x="228600" y="3352800"/>
            <a:ext cx="8569325" cy="3013075"/>
          </a:xfrm>
          <a:prstGeom prst="rect">
            <a:avLst/>
          </a:prstGeom>
          <a:noFill/>
          <a:ln w="12700">
            <a:noFill/>
            <a:miter lim="800000"/>
            <a:headEnd type="none" w="sm" len="sm"/>
            <a:tailEnd type="none" w="sm" len="sm"/>
          </a:ln>
        </p:spPr>
        <p:txBody>
          <a:bodyPr>
            <a:spAutoFit/>
          </a:bodyPr>
          <a:lstStyle/>
          <a:p>
            <a:r>
              <a:rPr lang="zh-CN" altLang="en-US" sz="2400">
                <a:latin typeface="宋体" panose="02010600030101010101" pitchFamily="2" charset="-122"/>
              </a:rPr>
              <a:t>参见例</a:t>
            </a:r>
            <a:r>
              <a:rPr lang="en-US" altLang="zh-CN" sz="2400">
                <a:latin typeface="宋体" panose="02010600030101010101" pitchFamily="2" charset="-122"/>
              </a:rPr>
              <a:t>1</a:t>
            </a:r>
            <a:r>
              <a:rPr lang="zh-CN" altLang="en-US" sz="2400">
                <a:latin typeface="宋体" panose="02010600030101010101" pitchFamily="2" charset="-122"/>
              </a:rPr>
              <a:t>所示的系统，只考虑</a:t>
            </a:r>
            <a:r>
              <a:rPr lang="en-US" altLang="zh-CN" sz="2400">
                <a:latin typeface="宋体" panose="02010600030101010101" pitchFamily="2" charset="-122"/>
              </a:rPr>
              <a:t>A</a:t>
            </a:r>
            <a:r>
              <a:rPr lang="zh-CN" altLang="en-US" sz="2400">
                <a:latin typeface="宋体" panose="02010600030101010101" pitchFamily="2" charset="-122"/>
              </a:rPr>
              <a:t>，</a:t>
            </a:r>
            <a:r>
              <a:rPr lang="en-US" altLang="zh-CN" sz="2400">
                <a:latin typeface="宋体" panose="02010600030101010101" pitchFamily="2" charset="-122"/>
              </a:rPr>
              <a:t>B</a:t>
            </a:r>
            <a:r>
              <a:rPr lang="zh-CN" altLang="en-US" sz="2400">
                <a:latin typeface="宋体" panose="02010600030101010101" pitchFamily="2" charset="-122"/>
              </a:rPr>
              <a:t>，</a:t>
            </a:r>
            <a:r>
              <a:rPr lang="en-US" altLang="zh-CN" sz="2400">
                <a:latin typeface="宋体" panose="02010600030101010101" pitchFamily="2" charset="-122"/>
              </a:rPr>
              <a:t>C</a:t>
            </a:r>
            <a:r>
              <a:rPr lang="zh-CN" altLang="en-US" sz="2400">
                <a:latin typeface="宋体" panose="02010600030101010101" pitchFamily="2" charset="-122"/>
              </a:rPr>
              <a:t>三个设备组成的单级中断结构，它要求</a:t>
            </a:r>
            <a:r>
              <a:rPr lang="en-US" altLang="zh-CN" sz="2400">
                <a:latin typeface="宋体" panose="02010600030101010101" pitchFamily="2" charset="-122"/>
              </a:rPr>
              <a:t>CPU</a:t>
            </a:r>
            <a:r>
              <a:rPr lang="zh-CN" altLang="en-US" sz="2400">
                <a:latin typeface="宋体" panose="02010600030101010101" pitchFamily="2" charset="-122"/>
              </a:rPr>
              <a:t>在执行完当前指令时对中断请求进行服务。假设：</a:t>
            </a:r>
            <a:r>
              <a:rPr lang="en-US" altLang="zh-CN" sz="2400">
                <a:latin typeface="宋体" panose="02010600030101010101" pitchFamily="2" charset="-122"/>
              </a:rPr>
              <a:t>(1)CPU“</a:t>
            </a:r>
            <a:r>
              <a:rPr lang="zh-CN" altLang="en-US" sz="2400">
                <a:latin typeface="宋体" panose="02010600030101010101" pitchFamily="2" charset="-122"/>
              </a:rPr>
              <a:t>中断批准”机构在响应一个新的中断之前，先要让被中断的程序的一条指令一定要执行完毕；</a:t>
            </a:r>
            <a:r>
              <a:rPr lang="en-US" altLang="zh-CN" sz="2400">
                <a:latin typeface="宋体" panose="02010600030101010101" pitchFamily="2" charset="-122"/>
              </a:rPr>
              <a:t>(2)T</a:t>
            </a:r>
            <a:r>
              <a:rPr lang="en-US" altLang="zh-CN" sz="2400" baseline="-25000">
                <a:latin typeface="宋体" panose="02010600030101010101" pitchFamily="2" charset="-122"/>
              </a:rPr>
              <a:t>DC</a:t>
            </a:r>
            <a:r>
              <a:rPr lang="zh-CN" altLang="en-US" sz="2400">
                <a:latin typeface="宋体" panose="02010600030101010101" pitchFamily="2" charset="-122"/>
              </a:rPr>
              <a:t>为查询链中每个设备的延迟时间；</a:t>
            </a:r>
            <a:r>
              <a:rPr lang="en-US" altLang="zh-CN" sz="2400">
                <a:latin typeface="宋体" panose="02010600030101010101" pitchFamily="2" charset="-122"/>
              </a:rPr>
              <a:t>(3)T</a:t>
            </a:r>
            <a:r>
              <a:rPr lang="en-US" altLang="zh-CN" sz="2400" baseline="-25000">
                <a:latin typeface="宋体" panose="02010600030101010101" pitchFamily="2" charset="-122"/>
              </a:rPr>
              <a:t>A</a:t>
            </a:r>
            <a:r>
              <a:rPr lang="zh-CN" altLang="en-US" sz="2400">
                <a:latin typeface="宋体" panose="02010600030101010101" pitchFamily="2" charset="-122"/>
              </a:rPr>
              <a:t>，</a:t>
            </a:r>
            <a:r>
              <a:rPr lang="en-US" altLang="zh-CN" sz="2400">
                <a:latin typeface="宋体" panose="02010600030101010101" pitchFamily="2" charset="-122"/>
              </a:rPr>
              <a:t>T</a:t>
            </a:r>
            <a:r>
              <a:rPr lang="en-US" altLang="zh-CN" sz="2400" baseline="-25000">
                <a:latin typeface="宋体" panose="02010600030101010101" pitchFamily="2" charset="-122"/>
              </a:rPr>
              <a:t>B</a:t>
            </a:r>
            <a:r>
              <a:rPr lang="zh-CN" altLang="en-US" sz="2400">
                <a:latin typeface="宋体" panose="02010600030101010101" pitchFamily="2" charset="-122"/>
              </a:rPr>
              <a:t>，</a:t>
            </a:r>
            <a:r>
              <a:rPr lang="en-US" altLang="zh-CN" sz="2400">
                <a:latin typeface="宋体" panose="02010600030101010101" pitchFamily="2" charset="-122"/>
              </a:rPr>
              <a:t>T</a:t>
            </a:r>
            <a:r>
              <a:rPr lang="en-US" altLang="zh-CN" sz="2400" baseline="-25000">
                <a:latin typeface="宋体" panose="02010600030101010101" pitchFamily="2" charset="-122"/>
              </a:rPr>
              <a:t>C</a:t>
            </a:r>
            <a:r>
              <a:rPr lang="zh-CN" altLang="en-US" sz="2400">
                <a:latin typeface="宋体" panose="02010600030101010101" pitchFamily="2" charset="-122"/>
              </a:rPr>
              <a:t>分别为设备</a:t>
            </a:r>
            <a:r>
              <a:rPr lang="en-US" altLang="zh-CN" sz="2400">
                <a:latin typeface="宋体" panose="02010600030101010101" pitchFamily="2" charset="-122"/>
              </a:rPr>
              <a:t>A</a:t>
            </a:r>
            <a:r>
              <a:rPr lang="zh-CN" altLang="en-US" sz="2400">
                <a:latin typeface="宋体" panose="02010600030101010101" pitchFamily="2" charset="-122"/>
              </a:rPr>
              <a:t>，</a:t>
            </a:r>
            <a:r>
              <a:rPr lang="en-US" altLang="zh-CN" sz="2400">
                <a:latin typeface="宋体" panose="02010600030101010101" pitchFamily="2" charset="-122"/>
              </a:rPr>
              <a:t>B</a:t>
            </a:r>
            <a:r>
              <a:rPr lang="zh-CN" altLang="en-US" sz="2400">
                <a:latin typeface="宋体" panose="02010600030101010101" pitchFamily="2" charset="-122"/>
              </a:rPr>
              <a:t>，</a:t>
            </a:r>
            <a:r>
              <a:rPr lang="en-US" altLang="zh-CN" sz="2400">
                <a:latin typeface="宋体" panose="02010600030101010101" pitchFamily="2" charset="-122"/>
              </a:rPr>
              <a:t>C</a:t>
            </a:r>
            <a:r>
              <a:rPr lang="zh-CN" altLang="en-US" sz="2400">
                <a:latin typeface="宋体" panose="02010600030101010101" pitchFamily="2" charset="-122"/>
              </a:rPr>
              <a:t>的服务程序所需的执行时间； </a:t>
            </a:r>
            <a:r>
              <a:rPr lang="en-US" altLang="zh-CN" sz="2400">
                <a:latin typeface="宋体" panose="02010600030101010101" pitchFamily="2" charset="-122"/>
              </a:rPr>
              <a:t>(4)T</a:t>
            </a:r>
            <a:r>
              <a:rPr lang="en-US" altLang="zh-CN" sz="2400" baseline="-25000">
                <a:latin typeface="宋体" panose="02010600030101010101" pitchFamily="2" charset="-122"/>
              </a:rPr>
              <a:t>S</a:t>
            </a:r>
            <a:r>
              <a:rPr lang="en-US" altLang="zh-CN" sz="2400">
                <a:latin typeface="宋体" panose="02010600030101010101" pitchFamily="2" charset="-122"/>
              </a:rPr>
              <a:t>,T</a:t>
            </a:r>
            <a:r>
              <a:rPr lang="en-US" altLang="zh-CN" sz="2400" baseline="-25000">
                <a:latin typeface="宋体" panose="02010600030101010101" pitchFamily="2" charset="-122"/>
              </a:rPr>
              <a:t>R</a:t>
            </a:r>
            <a:r>
              <a:rPr lang="zh-CN" altLang="en-US" sz="2400">
                <a:latin typeface="宋体" panose="02010600030101010101" pitchFamily="2" charset="-122"/>
              </a:rPr>
              <a:t>为保存现场和恢复现场所需的时间；</a:t>
            </a:r>
            <a:r>
              <a:rPr lang="en-US" altLang="zh-CN" sz="2400">
                <a:latin typeface="宋体" panose="02010600030101010101" pitchFamily="2" charset="-122"/>
              </a:rPr>
              <a:t>(5)</a:t>
            </a:r>
            <a:r>
              <a:rPr lang="zh-CN" altLang="en-US" sz="2400">
                <a:latin typeface="宋体" panose="02010600030101010101" pitchFamily="2" charset="-122"/>
              </a:rPr>
              <a:t>主存工作周期为</a:t>
            </a:r>
            <a:r>
              <a:rPr lang="en-US" altLang="zh-CN" sz="2400">
                <a:latin typeface="宋体" panose="02010600030101010101" pitchFamily="2" charset="-122"/>
              </a:rPr>
              <a:t>T</a:t>
            </a:r>
            <a:r>
              <a:rPr lang="en-US" altLang="zh-CN" sz="2400" baseline="-25000">
                <a:latin typeface="宋体" panose="02010600030101010101" pitchFamily="2" charset="-122"/>
              </a:rPr>
              <a:t>M</a:t>
            </a:r>
            <a:r>
              <a:rPr lang="zh-CN" altLang="en-US" sz="2400">
                <a:latin typeface="宋体" panose="02010600030101010101" pitchFamily="2" charset="-122"/>
              </a:rPr>
              <a:t>。 试问：就这个中断请求环境来说，系统在什么情况下达到中断饱和</a:t>
            </a:r>
            <a:r>
              <a:rPr lang="en-US" altLang="zh-CN" sz="2400">
                <a:latin typeface="宋体" panose="02010600030101010101" pitchFamily="2" charset="-122"/>
              </a:rPr>
              <a:t>?</a:t>
            </a:r>
          </a:p>
        </p:txBody>
      </p:sp>
      <p:graphicFrame>
        <p:nvGraphicFramePr>
          <p:cNvPr id="30725" name="Object 9"/>
          <p:cNvGraphicFramePr>
            <a:graphicFrameLocks noChangeAspect="1"/>
          </p:cNvGraphicFramePr>
          <p:nvPr/>
        </p:nvGraphicFramePr>
        <p:xfrm>
          <a:off x="381000" y="609600"/>
          <a:ext cx="8229600" cy="2259013"/>
        </p:xfrm>
        <a:graphic>
          <a:graphicData uri="http://schemas.openxmlformats.org/presentationml/2006/ole">
            <mc:AlternateContent xmlns:mc="http://schemas.openxmlformats.org/markup-compatibility/2006">
              <mc:Choice xmlns:v="urn:schemas-microsoft-com:vml" Requires="v">
                <p:oleObj name="位图图像" r:id="rId2" imgW="5934075" imgH="1628775" progId="PBrush">
                  <p:embed/>
                </p:oleObj>
              </mc:Choice>
              <mc:Fallback>
                <p:oleObj name="位图图像" r:id="rId2" imgW="5934075" imgH="1628775" progId="PBrush">
                  <p:embed/>
                  <p:pic>
                    <p:nvPicPr>
                      <p:cNvPr id="0" name="图片 668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609600"/>
                        <a:ext cx="8229600" cy="225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11" name="Object 11"/>
          <p:cNvGraphicFramePr>
            <a:graphicFrameLocks noChangeAspect="1"/>
          </p:cNvGraphicFramePr>
          <p:nvPr/>
        </p:nvGraphicFramePr>
        <p:xfrm>
          <a:off x="304800" y="152400"/>
          <a:ext cx="8534400" cy="3103563"/>
        </p:xfrm>
        <a:graphic>
          <a:graphicData uri="http://schemas.openxmlformats.org/presentationml/2006/ole">
            <mc:AlternateContent xmlns:mc="http://schemas.openxmlformats.org/markup-compatibility/2006">
              <mc:Choice xmlns:v="urn:schemas-microsoft-com:vml" Requires="v">
                <p:oleObj name="位图图像" r:id="rId4" imgW="5172075" imgH="2667000" progId="PBrush">
                  <p:embed/>
                </p:oleObj>
              </mc:Choice>
              <mc:Fallback>
                <p:oleObj name="位图图像" r:id="rId4" imgW="5172075" imgH="2667000" progId="PBrush">
                  <p:embed/>
                  <p:pic>
                    <p:nvPicPr>
                      <p:cNvPr id="0" name="图片 668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152400"/>
                        <a:ext cx="8534400" cy="3103563"/>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611"/>
                                        </p:tgtEl>
                                        <p:attrNameLst>
                                          <p:attrName>style.visibility</p:attrName>
                                        </p:attrNameLst>
                                      </p:cBhvr>
                                      <p:to>
                                        <p:strVal val="visible"/>
                                      </p:to>
                                    </p:set>
                                    <p:animEffect transition="in" filter="dissolve">
                                      <p:cBhvr>
                                        <p:cTn id="7" dur="500"/>
                                        <p:tgtEl>
                                          <p:spTgt spid="25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p>
            <a:fld id="{CA90ABFE-5978-481A-A9B9-EFD004D7FF41}" type="slidenum">
              <a:rPr lang="en-US" altLang="zh-CN" smtClean="0"/>
              <a:t>33</a:t>
            </a:fld>
            <a:endParaRPr lang="en-US" altLang="zh-CN"/>
          </a:p>
        </p:txBody>
      </p:sp>
      <p:sp>
        <p:nvSpPr>
          <p:cNvPr id="25607" name="Rectangle 7"/>
          <p:cNvSpPr>
            <a:spLocks noChangeArrowheads="1"/>
          </p:cNvSpPr>
          <p:nvPr/>
        </p:nvSpPr>
        <p:spPr bwMode="auto">
          <a:xfrm>
            <a:off x="189672" y="3459480"/>
            <a:ext cx="8686800" cy="3013075"/>
          </a:xfrm>
          <a:prstGeom prst="rect">
            <a:avLst/>
          </a:prstGeom>
          <a:solidFill>
            <a:srgbClr val="CCFFFF"/>
          </a:solidFill>
          <a:ln w="12700">
            <a:noFill/>
            <a:miter lim="800000"/>
            <a:headEnd type="none" w="sm" len="sm"/>
            <a:tailEnd type="none" w="sm" len="sm"/>
          </a:ln>
        </p:spPr>
        <p:txBody>
          <a:bodyPr>
            <a:spAutoFit/>
          </a:bodyPr>
          <a:lstStyle/>
          <a:p>
            <a:r>
              <a:rPr lang="en-US" altLang="zh-CN" sz="2400" dirty="0">
                <a:latin typeface="宋体" panose="02010600030101010101" pitchFamily="2" charset="-122"/>
              </a:rPr>
              <a:t>    </a:t>
            </a:r>
            <a:r>
              <a:rPr lang="zh-CN" altLang="en-US" sz="2400" dirty="0">
                <a:latin typeface="宋体" panose="02010600030101010101" pitchFamily="2" charset="-122"/>
              </a:rPr>
              <a:t>假设执行一条指令的时间也为</a:t>
            </a:r>
            <a:r>
              <a:rPr lang="en-US" altLang="zh-CN" sz="2400" dirty="0">
                <a:latin typeface="宋体" panose="02010600030101010101" pitchFamily="2" charset="-122"/>
              </a:rPr>
              <a:t>T</a:t>
            </a:r>
            <a:r>
              <a:rPr lang="en-US" altLang="zh-CN" sz="2400" baseline="-25000" dirty="0">
                <a:latin typeface="宋体" panose="02010600030101010101" pitchFamily="2" charset="-122"/>
              </a:rPr>
              <a:t>M</a:t>
            </a:r>
            <a:r>
              <a:rPr lang="zh-CN" altLang="en-US" sz="2400" dirty="0">
                <a:latin typeface="宋体" panose="02010600030101010101" pitchFamily="2" charset="-122"/>
              </a:rPr>
              <a:t>。如果三个设备同时发出中断请求，那么依次分别处理设备</a:t>
            </a:r>
            <a:r>
              <a:rPr lang="en-US" altLang="zh-CN" sz="2400" dirty="0">
                <a:latin typeface="宋体" panose="02010600030101010101" pitchFamily="2" charset="-122"/>
              </a:rPr>
              <a:t>A</a:t>
            </a:r>
            <a:r>
              <a:rPr lang="zh-CN" altLang="en-US" sz="2400" dirty="0">
                <a:latin typeface="宋体" panose="02010600030101010101" pitchFamily="2" charset="-122"/>
              </a:rPr>
              <a:t>、设备</a:t>
            </a:r>
            <a:r>
              <a:rPr lang="en-US" altLang="zh-CN" sz="2400" dirty="0">
                <a:latin typeface="宋体" panose="02010600030101010101" pitchFamily="2" charset="-122"/>
              </a:rPr>
              <a:t>B</a:t>
            </a:r>
            <a:r>
              <a:rPr lang="zh-CN" altLang="en-US" sz="2400" dirty="0">
                <a:latin typeface="宋体" panose="02010600030101010101" pitchFamily="2" charset="-122"/>
              </a:rPr>
              <a:t>、设备</a:t>
            </a:r>
            <a:r>
              <a:rPr lang="en-US" altLang="zh-CN" sz="2400" dirty="0">
                <a:latin typeface="宋体" panose="02010600030101010101" pitchFamily="2" charset="-122"/>
              </a:rPr>
              <a:t>C</a:t>
            </a:r>
            <a:r>
              <a:rPr lang="zh-CN" altLang="en-US" sz="2400" dirty="0">
                <a:latin typeface="宋体" panose="02010600030101010101" pitchFamily="2" charset="-122"/>
              </a:rPr>
              <a:t>的时间如下：</a:t>
            </a:r>
          </a:p>
          <a:p>
            <a:r>
              <a:rPr lang="zh-CN" altLang="en-US" sz="2400" dirty="0">
                <a:latin typeface="宋体" panose="02010600030101010101" pitchFamily="2" charset="-122"/>
              </a:rPr>
              <a:t>    </a:t>
            </a:r>
            <a:r>
              <a:rPr lang="en-US" altLang="zh-CN" sz="2400" dirty="0" err="1">
                <a:latin typeface="宋体" panose="02010600030101010101" pitchFamily="2" charset="-122"/>
              </a:rPr>
              <a:t>t</a:t>
            </a:r>
            <a:r>
              <a:rPr lang="en-US" altLang="zh-CN" sz="2400" baseline="-25000" dirty="0" err="1">
                <a:latin typeface="宋体" panose="02010600030101010101" pitchFamily="2" charset="-122"/>
              </a:rPr>
              <a:t>A</a:t>
            </a:r>
            <a:r>
              <a:rPr lang="en-US" altLang="zh-CN" sz="2400" dirty="0">
                <a:latin typeface="宋体" panose="02010600030101010101" pitchFamily="2" charset="-122"/>
              </a:rPr>
              <a:t>=2T</a:t>
            </a:r>
            <a:r>
              <a:rPr lang="en-US" altLang="zh-CN" sz="2400" baseline="-25000" dirty="0">
                <a:latin typeface="宋体" panose="02010600030101010101" pitchFamily="2" charset="-122"/>
              </a:rPr>
              <a:t>M</a:t>
            </a:r>
            <a:r>
              <a:rPr lang="en-US" altLang="zh-CN" sz="2400" dirty="0">
                <a:latin typeface="宋体" panose="02010600030101010101" pitchFamily="2" charset="-122"/>
              </a:rPr>
              <a:t>+T</a:t>
            </a:r>
            <a:r>
              <a:rPr lang="en-US" altLang="zh-CN" sz="2400" baseline="-25000" dirty="0">
                <a:latin typeface="宋体" panose="02010600030101010101" pitchFamily="2" charset="-122"/>
              </a:rPr>
              <a:t>DC</a:t>
            </a:r>
            <a:r>
              <a:rPr lang="en-US" altLang="zh-CN" sz="2400" dirty="0">
                <a:latin typeface="宋体" panose="02010600030101010101" pitchFamily="2" charset="-122"/>
              </a:rPr>
              <a:t>+T</a:t>
            </a:r>
            <a:r>
              <a:rPr lang="en-US" altLang="zh-CN" sz="2400" baseline="-25000" dirty="0">
                <a:latin typeface="宋体" panose="02010600030101010101" pitchFamily="2" charset="-122"/>
              </a:rPr>
              <a:t>S</a:t>
            </a:r>
            <a:r>
              <a:rPr lang="en-US" altLang="zh-CN" sz="2400" dirty="0">
                <a:latin typeface="宋体" panose="02010600030101010101" pitchFamily="2" charset="-122"/>
              </a:rPr>
              <a:t>+T</a:t>
            </a:r>
            <a:r>
              <a:rPr lang="en-US" altLang="zh-CN" sz="2400" baseline="-25000" dirty="0">
                <a:latin typeface="宋体" panose="02010600030101010101" pitchFamily="2" charset="-122"/>
              </a:rPr>
              <a:t>A</a:t>
            </a:r>
            <a:r>
              <a:rPr lang="en-US" altLang="zh-CN" sz="2400" dirty="0">
                <a:latin typeface="宋体" panose="02010600030101010101" pitchFamily="2" charset="-122"/>
              </a:rPr>
              <a:t>+T</a:t>
            </a:r>
            <a:r>
              <a:rPr lang="en-US" altLang="zh-CN" sz="2400" baseline="-25000" dirty="0">
                <a:latin typeface="宋体" panose="02010600030101010101" pitchFamily="2" charset="-122"/>
              </a:rPr>
              <a:t>R</a:t>
            </a:r>
            <a:r>
              <a:rPr lang="zh-CN" altLang="en-US" sz="2400" dirty="0">
                <a:latin typeface="宋体" panose="02010600030101010101" pitchFamily="2" charset="-122"/>
              </a:rPr>
              <a:t>、</a:t>
            </a:r>
          </a:p>
          <a:p>
            <a:r>
              <a:rPr lang="zh-CN" altLang="en-US" sz="2400" dirty="0">
                <a:latin typeface="宋体" panose="02010600030101010101" pitchFamily="2" charset="-122"/>
              </a:rPr>
              <a:t>    </a:t>
            </a:r>
            <a:r>
              <a:rPr lang="en-US" altLang="zh-CN" sz="2400" dirty="0" err="1">
                <a:latin typeface="宋体" panose="02010600030101010101" pitchFamily="2" charset="-122"/>
              </a:rPr>
              <a:t>t</a:t>
            </a:r>
            <a:r>
              <a:rPr lang="en-US" altLang="zh-CN" sz="2400" baseline="-25000" dirty="0" err="1">
                <a:latin typeface="宋体" panose="02010600030101010101" pitchFamily="2" charset="-122"/>
              </a:rPr>
              <a:t>B</a:t>
            </a:r>
            <a:r>
              <a:rPr lang="en-US" altLang="zh-CN" sz="2400" dirty="0">
                <a:latin typeface="宋体" panose="02010600030101010101" pitchFamily="2" charset="-122"/>
              </a:rPr>
              <a:t>=2T</a:t>
            </a:r>
            <a:r>
              <a:rPr lang="en-US" altLang="zh-CN" sz="2400" baseline="-25000" dirty="0">
                <a:latin typeface="宋体" panose="02010600030101010101" pitchFamily="2" charset="-122"/>
              </a:rPr>
              <a:t>M</a:t>
            </a:r>
            <a:r>
              <a:rPr lang="en-US" altLang="zh-CN" sz="2400" dirty="0">
                <a:latin typeface="宋体" panose="02010600030101010101" pitchFamily="2" charset="-122"/>
              </a:rPr>
              <a:t>+2T</a:t>
            </a:r>
            <a:r>
              <a:rPr lang="en-US" altLang="zh-CN" sz="2400" baseline="-25000" dirty="0">
                <a:latin typeface="宋体" panose="02010600030101010101" pitchFamily="2" charset="-122"/>
              </a:rPr>
              <a:t>DC</a:t>
            </a:r>
            <a:r>
              <a:rPr lang="en-US" altLang="zh-CN" sz="2400" dirty="0">
                <a:latin typeface="宋体" panose="02010600030101010101" pitchFamily="2" charset="-122"/>
              </a:rPr>
              <a:t>+T</a:t>
            </a:r>
            <a:r>
              <a:rPr lang="en-US" altLang="zh-CN" sz="2400" baseline="-25000" dirty="0">
                <a:latin typeface="宋体" panose="02010600030101010101" pitchFamily="2" charset="-122"/>
              </a:rPr>
              <a:t>S</a:t>
            </a:r>
            <a:r>
              <a:rPr lang="en-US" altLang="zh-CN" sz="2400" dirty="0">
                <a:latin typeface="宋体" panose="02010600030101010101" pitchFamily="2" charset="-122"/>
              </a:rPr>
              <a:t>+T</a:t>
            </a:r>
            <a:r>
              <a:rPr lang="en-US" altLang="zh-CN" sz="2400" baseline="-25000" dirty="0">
                <a:latin typeface="宋体" panose="02010600030101010101" pitchFamily="2" charset="-122"/>
              </a:rPr>
              <a:t>B</a:t>
            </a:r>
            <a:r>
              <a:rPr lang="en-US" altLang="zh-CN" sz="2400" dirty="0">
                <a:latin typeface="宋体" panose="02010600030101010101" pitchFamily="2" charset="-122"/>
              </a:rPr>
              <a:t>+T</a:t>
            </a:r>
            <a:r>
              <a:rPr lang="en-US" altLang="zh-CN" sz="2400" baseline="-25000" dirty="0">
                <a:latin typeface="宋体" panose="02010600030101010101" pitchFamily="2" charset="-122"/>
              </a:rPr>
              <a:t>R</a:t>
            </a:r>
            <a:r>
              <a:rPr lang="zh-CN" altLang="en-US" sz="2400" dirty="0">
                <a:latin typeface="宋体" panose="02010600030101010101" pitchFamily="2" charset="-122"/>
              </a:rPr>
              <a:t>、</a:t>
            </a:r>
          </a:p>
          <a:p>
            <a:r>
              <a:rPr lang="zh-CN" altLang="en-US" sz="2400" dirty="0">
                <a:latin typeface="宋体" panose="02010600030101010101" pitchFamily="2" charset="-122"/>
              </a:rPr>
              <a:t>    </a:t>
            </a:r>
            <a:r>
              <a:rPr lang="en-US" altLang="zh-CN" sz="2400" dirty="0" err="1">
                <a:latin typeface="宋体" panose="02010600030101010101" pitchFamily="2" charset="-122"/>
              </a:rPr>
              <a:t>t</a:t>
            </a:r>
            <a:r>
              <a:rPr lang="en-US" altLang="zh-CN" sz="2400" baseline="-25000" dirty="0" err="1">
                <a:latin typeface="宋体" panose="02010600030101010101" pitchFamily="2" charset="-122"/>
              </a:rPr>
              <a:t>C</a:t>
            </a:r>
            <a:r>
              <a:rPr lang="en-US" altLang="zh-CN" sz="2400" dirty="0">
                <a:latin typeface="宋体" panose="02010600030101010101" pitchFamily="2" charset="-122"/>
              </a:rPr>
              <a:t>=2T</a:t>
            </a:r>
            <a:r>
              <a:rPr lang="en-US" altLang="zh-CN" sz="2400" baseline="-25000" dirty="0">
                <a:latin typeface="宋体" panose="02010600030101010101" pitchFamily="2" charset="-122"/>
              </a:rPr>
              <a:t>M</a:t>
            </a:r>
            <a:r>
              <a:rPr lang="en-US" altLang="zh-CN" sz="2400" dirty="0">
                <a:latin typeface="宋体" panose="02010600030101010101" pitchFamily="2" charset="-122"/>
              </a:rPr>
              <a:t>+3T</a:t>
            </a:r>
            <a:r>
              <a:rPr lang="en-US" altLang="zh-CN" sz="2400" baseline="-25000" dirty="0">
                <a:latin typeface="宋体" panose="02010600030101010101" pitchFamily="2" charset="-122"/>
              </a:rPr>
              <a:t>DC</a:t>
            </a:r>
            <a:r>
              <a:rPr lang="en-US" altLang="zh-CN" sz="2400" dirty="0">
                <a:latin typeface="宋体" panose="02010600030101010101" pitchFamily="2" charset="-122"/>
              </a:rPr>
              <a:t>+T</a:t>
            </a:r>
            <a:r>
              <a:rPr lang="en-US" altLang="zh-CN" sz="2400" baseline="-25000" dirty="0">
                <a:latin typeface="宋体" panose="02010600030101010101" pitchFamily="2" charset="-122"/>
              </a:rPr>
              <a:t>S</a:t>
            </a:r>
            <a:r>
              <a:rPr lang="en-US" altLang="zh-CN" sz="2400" dirty="0">
                <a:latin typeface="宋体" panose="02010600030101010101" pitchFamily="2" charset="-122"/>
              </a:rPr>
              <a:t>+T</a:t>
            </a:r>
            <a:r>
              <a:rPr lang="en-US" altLang="zh-CN" sz="2400" baseline="-25000" dirty="0">
                <a:latin typeface="宋体" panose="02010600030101010101" pitchFamily="2" charset="-122"/>
              </a:rPr>
              <a:t>C</a:t>
            </a:r>
            <a:r>
              <a:rPr lang="en-US" altLang="zh-CN" sz="2400" dirty="0">
                <a:latin typeface="宋体" panose="02010600030101010101" pitchFamily="2" charset="-122"/>
              </a:rPr>
              <a:t>+T</a:t>
            </a:r>
            <a:r>
              <a:rPr lang="en-US" altLang="zh-CN" sz="2400" baseline="-25000" dirty="0">
                <a:latin typeface="宋体" panose="02010600030101010101" pitchFamily="2" charset="-122"/>
              </a:rPr>
              <a:t>R</a:t>
            </a:r>
          </a:p>
          <a:p>
            <a:r>
              <a:rPr lang="en-US" altLang="zh-CN" sz="2400" dirty="0">
                <a:latin typeface="宋体" panose="02010600030101010101" pitchFamily="2" charset="-122"/>
              </a:rPr>
              <a:t>   </a:t>
            </a:r>
            <a:r>
              <a:rPr lang="zh-CN" altLang="en-US" sz="2400" dirty="0">
                <a:latin typeface="宋体" panose="02010600030101010101" pitchFamily="2" charset="-122"/>
              </a:rPr>
              <a:t>处理三个设备所需的总时间为：</a:t>
            </a:r>
            <a:r>
              <a:rPr lang="en-US" altLang="zh-CN" sz="2400" dirty="0">
                <a:latin typeface="宋体" panose="02010600030101010101" pitchFamily="2" charset="-122"/>
              </a:rPr>
              <a:t>T=</a:t>
            </a:r>
            <a:r>
              <a:rPr lang="en-US" altLang="zh-CN" sz="2400" dirty="0" err="1">
                <a:latin typeface="宋体" panose="02010600030101010101" pitchFamily="2" charset="-122"/>
              </a:rPr>
              <a:t>t</a:t>
            </a:r>
            <a:r>
              <a:rPr lang="en-US" altLang="zh-CN" sz="2400" baseline="-25000" dirty="0" err="1">
                <a:latin typeface="宋体" panose="02010600030101010101" pitchFamily="2" charset="-122"/>
              </a:rPr>
              <a:t>A</a:t>
            </a:r>
            <a:r>
              <a:rPr lang="en-US" altLang="zh-CN" sz="2400" dirty="0" err="1">
                <a:latin typeface="宋体" panose="02010600030101010101" pitchFamily="2" charset="-122"/>
              </a:rPr>
              <a:t>+t</a:t>
            </a:r>
            <a:r>
              <a:rPr lang="en-US" altLang="zh-CN" sz="2400" baseline="-25000" dirty="0" err="1">
                <a:latin typeface="宋体" panose="02010600030101010101" pitchFamily="2" charset="-122"/>
              </a:rPr>
              <a:t>B</a:t>
            </a:r>
            <a:r>
              <a:rPr lang="en-US" altLang="zh-CN" sz="2400" dirty="0" err="1">
                <a:latin typeface="宋体" panose="02010600030101010101" pitchFamily="2" charset="-122"/>
              </a:rPr>
              <a:t>+t</a:t>
            </a:r>
            <a:r>
              <a:rPr lang="en-US" altLang="zh-CN" sz="2400" baseline="-25000" dirty="0" err="1">
                <a:latin typeface="宋体" panose="02010600030101010101" pitchFamily="2" charset="-122"/>
              </a:rPr>
              <a:t>C</a:t>
            </a:r>
            <a:endParaRPr lang="en-US" altLang="zh-CN" sz="2400" baseline="-25000" dirty="0">
              <a:latin typeface="宋体" panose="02010600030101010101" pitchFamily="2" charset="-122"/>
            </a:endParaRPr>
          </a:p>
          <a:p>
            <a:r>
              <a:rPr lang="en-US" altLang="zh-CN" sz="2400" dirty="0">
                <a:latin typeface="宋体" panose="02010600030101010101" pitchFamily="2" charset="-122"/>
              </a:rPr>
              <a:t>   T</a:t>
            </a:r>
            <a:r>
              <a:rPr lang="zh-CN" altLang="en-US" sz="2400" dirty="0">
                <a:latin typeface="宋体" panose="02010600030101010101" pitchFamily="2" charset="-122"/>
              </a:rPr>
              <a:t>是达到中断饱和的最小时间，</a:t>
            </a:r>
          </a:p>
          <a:p>
            <a:r>
              <a:rPr lang="zh-CN" altLang="en-US" sz="2400" dirty="0">
                <a:latin typeface="宋体" panose="02010600030101010101" pitchFamily="2" charset="-122"/>
              </a:rPr>
              <a:t>   即中断极限频率为：</a:t>
            </a:r>
            <a:r>
              <a:rPr lang="en-US" altLang="zh-CN" sz="2400" dirty="0">
                <a:latin typeface="宋体" panose="02010600030101010101" pitchFamily="2" charset="-122"/>
              </a:rPr>
              <a:t>f=1/T</a:t>
            </a:r>
          </a:p>
        </p:txBody>
      </p:sp>
      <p:graphicFrame>
        <p:nvGraphicFramePr>
          <p:cNvPr id="30725" name="Object 9"/>
          <p:cNvGraphicFramePr>
            <a:graphicFrameLocks noChangeAspect="1"/>
          </p:cNvGraphicFramePr>
          <p:nvPr/>
        </p:nvGraphicFramePr>
        <p:xfrm>
          <a:off x="381000" y="609600"/>
          <a:ext cx="8229600" cy="2259013"/>
        </p:xfrm>
        <a:graphic>
          <a:graphicData uri="http://schemas.openxmlformats.org/presentationml/2006/ole">
            <mc:AlternateContent xmlns:mc="http://schemas.openxmlformats.org/markup-compatibility/2006">
              <mc:Choice xmlns:v="urn:schemas-microsoft-com:vml" Requires="v">
                <p:oleObj name="位图图像" r:id="rId2" imgW="5934075" imgH="1628775" progId="PBrush">
                  <p:embed/>
                </p:oleObj>
              </mc:Choice>
              <mc:Fallback>
                <p:oleObj name="位图图像" r:id="rId2" imgW="5934075" imgH="1628775" progId="PBrush">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609600"/>
                        <a:ext cx="8229600" cy="225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11" name="Object 11"/>
          <p:cNvGraphicFramePr>
            <a:graphicFrameLocks noChangeAspect="1"/>
          </p:cNvGraphicFramePr>
          <p:nvPr/>
        </p:nvGraphicFramePr>
        <p:xfrm>
          <a:off x="179511" y="188640"/>
          <a:ext cx="3999677" cy="3164160"/>
        </p:xfrm>
        <a:graphic>
          <a:graphicData uri="http://schemas.openxmlformats.org/presentationml/2006/ole">
            <mc:AlternateContent xmlns:mc="http://schemas.openxmlformats.org/markup-compatibility/2006">
              <mc:Choice xmlns:v="urn:schemas-microsoft-com:vml" Requires="v">
                <p:oleObj name="位图图像" r:id="rId4" imgW="5172075" imgH="2667000" progId="PBrush">
                  <p:embed/>
                </p:oleObj>
              </mc:Choice>
              <mc:Fallback>
                <p:oleObj name="位图图像" r:id="rId4" imgW="5172075" imgH="2667000" progId="PBrush">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1" y="188640"/>
                        <a:ext cx="3999677" cy="3164160"/>
                      </a:xfrm>
                      <a:prstGeom prst="rect">
                        <a:avLst/>
                      </a:prstGeom>
                      <a:noFill/>
                      <a:ln>
                        <a:noFill/>
                      </a:ln>
                      <a:effec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6632"/>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课内练习</a:t>
            </a:r>
          </a:p>
        </p:txBody>
      </p:sp>
      <p:sp>
        <p:nvSpPr>
          <p:cNvPr id="7" name="TextBox 6"/>
          <p:cNvSpPr txBox="1"/>
          <p:nvPr>
            <p:custDataLst>
              <p:tags r:id="rId1"/>
            </p:custDataLst>
          </p:nvPr>
        </p:nvSpPr>
        <p:spPr>
          <a:xfrm>
            <a:off x="301700" y="996332"/>
            <a:ext cx="8525810" cy="560102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20000"/>
              </a:lnSpc>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响应中断时，进入“中断周期”，采用硬件方法保护并更新程序计数器</a:t>
            </a:r>
            <a:r>
              <a:rPr lang="en-US" altLang="zh-CN" sz="2000" b="1" dirty="0">
                <a:latin typeface="微软雅黑" panose="020B0503020204020204" pitchFamily="34" charset="-122"/>
                <a:ea typeface="微软雅黑" panose="020B0503020204020204" pitchFamily="34" charset="-122"/>
              </a:rPr>
              <a:t>PC</a:t>
            </a:r>
            <a:r>
              <a:rPr lang="zh-CN" altLang="zh-CN" sz="2000" b="1" dirty="0">
                <a:latin typeface="微软雅黑" panose="020B0503020204020204" pitchFamily="34" charset="-122"/>
                <a:ea typeface="微软雅黑" panose="020B0503020204020204" pitchFamily="34" charset="-122"/>
              </a:rPr>
              <a:t>内容，而不是由软件完成，是为了</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a:t>
            </a:r>
          </a:p>
          <a:p>
            <a:pPr>
              <a:lnSpc>
                <a:spcPct val="120000"/>
              </a:lnSpc>
            </a:pPr>
            <a:r>
              <a:rPr lang="en-US" altLang="zh-CN" sz="2000" b="1" dirty="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能进入中断处理程序，并能正确返回源程序 </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节省主存空间 </a:t>
            </a:r>
          </a:p>
          <a:p>
            <a:pPr>
              <a:lnSpc>
                <a:spcPct val="120000"/>
              </a:lnSpc>
            </a:pPr>
            <a:r>
              <a:rPr lang="en-US" altLang="zh-CN" sz="2000" b="1" dirty="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提高处理机速度 </a:t>
            </a:r>
            <a:r>
              <a:rPr lang="en-US" altLang="zh-CN" sz="2000" b="1" dirty="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易于编制中断处理程序</a:t>
            </a:r>
          </a:p>
          <a:p>
            <a:pPr marL="342900" indent="-342900">
              <a:lnSpc>
                <a:spcPct val="120000"/>
              </a:lnSpc>
              <a:buFont typeface="Wingdings" panose="05000000000000000000" pitchFamily="2" charset="2"/>
              <a:buChar char="l"/>
            </a:pPr>
            <a:r>
              <a:rPr lang="zh-CN" altLang="zh-CN" sz="2000" b="1" dirty="0">
                <a:latin typeface="微软雅黑" panose="020B0503020204020204" pitchFamily="34" charset="-122"/>
                <a:ea typeface="微软雅黑" panose="020B0503020204020204" pitchFamily="34" charset="-122"/>
              </a:rPr>
              <a:t>某中断系统中，每抽取一个输入数据就需要中断</a:t>
            </a:r>
            <a:r>
              <a:rPr lang="en-US" altLang="zh-CN" sz="2000" b="1" dirty="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一次，中断处理程序接受取样的数据，并将其保存到主存缓冲区内。该中断处理需要</a:t>
            </a:r>
            <a:r>
              <a:rPr lang="en-US" altLang="zh-CN" sz="2000" b="1" dirty="0">
                <a:latin typeface="微软雅黑" panose="020B0503020204020204" pitchFamily="34" charset="-122"/>
                <a:ea typeface="微软雅黑" panose="020B0503020204020204" pitchFamily="34" charset="-122"/>
              </a:rPr>
              <a:t>x</a:t>
            </a:r>
            <a:r>
              <a:rPr lang="zh-CN" altLang="zh-CN" sz="2000" b="1" dirty="0">
                <a:latin typeface="微软雅黑" panose="020B0503020204020204" pitchFamily="34" charset="-122"/>
                <a:ea typeface="微软雅黑" panose="020B0503020204020204" pitchFamily="34" charset="-122"/>
              </a:rPr>
              <a:t>秒。另一方面，缓冲区内每存储</a:t>
            </a:r>
            <a:r>
              <a:rPr lang="en-US" altLang="zh-CN" sz="2000" b="1" dirty="0">
                <a:latin typeface="微软雅黑" panose="020B0503020204020204" pitchFamily="34" charset="-122"/>
                <a:ea typeface="微软雅黑" panose="020B0503020204020204" pitchFamily="34" charset="-122"/>
              </a:rPr>
              <a:t>N</a:t>
            </a:r>
            <a:r>
              <a:rPr lang="zh-CN" altLang="zh-CN" sz="2000" b="1" dirty="0">
                <a:latin typeface="微软雅黑" panose="020B0503020204020204" pitchFamily="34" charset="-122"/>
                <a:ea typeface="微软雅黑" panose="020B0503020204020204" pitchFamily="34" charset="-122"/>
              </a:rPr>
              <a:t>个数据，主程序就将其取出进行处理，这种处理需要</a:t>
            </a:r>
            <a:r>
              <a:rPr lang="en-US" altLang="zh-CN" sz="2000" b="1" dirty="0">
                <a:latin typeface="微软雅黑" panose="020B0503020204020204" pitchFamily="34" charset="-122"/>
                <a:ea typeface="微软雅黑" panose="020B0503020204020204" pitchFamily="34" charset="-122"/>
              </a:rPr>
              <a:t>y</a:t>
            </a:r>
            <a:r>
              <a:rPr lang="zh-CN" altLang="zh-CN" sz="2000" b="1" dirty="0">
                <a:latin typeface="微软雅黑" panose="020B0503020204020204" pitchFamily="34" charset="-122"/>
                <a:ea typeface="微软雅黑" panose="020B0503020204020204" pitchFamily="34" charset="-122"/>
              </a:rPr>
              <a:t>秒。因此该系统可以跟踪到每秒</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次中断请求。</a:t>
            </a:r>
          </a:p>
          <a:p>
            <a:pPr>
              <a:lnSpc>
                <a:spcPct val="120000"/>
              </a:lnSpc>
            </a:pPr>
            <a:r>
              <a:rPr lang="en-US" altLang="zh-CN" sz="2000" b="1" dirty="0">
                <a:latin typeface="微软雅黑" panose="020B0503020204020204" pitchFamily="34" charset="-122"/>
                <a:ea typeface="微软雅黑" panose="020B0503020204020204" pitchFamily="34" charset="-122"/>
              </a:rPr>
              <a:t>     A. N/(</a:t>
            </a:r>
            <a:r>
              <a:rPr lang="en-US" altLang="zh-CN" sz="2000" b="1" dirty="0" err="1">
                <a:latin typeface="微软雅黑" panose="020B0503020204020204" pitchFamily="34" charset="-122"/>
                <a:ea typeface="微软雅黑" panose="020B0503020204020204" pitchFamily="34" charset="-122"/>
              </a:rPr>
              <a:t>Nx+y</a:t>
            </a:r>
            <a:r>
              <a:rPr lang="en-US" altLang="zh-CN" sz="2000" b="1" dirty="0">
                <a:latin typeface="微软雅黑" panose="020B0503020204020204" pitchFamily="34" charset="-122"/>
                <a:ea typeface="微软雅黑" panose="020B0503020204020204" pitchFamily="34" charset="-122"/>
              </a:rPr>
              <a:t>)    B. N/(</a:t>
            </a:r>
            <a:r>
              <a:rPr lang="en-US" altLang="zh-CN" sz="2000" b="1" dirty="0" err="1">
                <a:latin typeface="微软雅黑" panose="020B0503020204020204" pitchFamily="34" charset="-122"/>
                <a:ea typeface="微软雅黑" panose="020B0503020204020204" pitchFamily="34" charset="-122"/>
              </a:rPr>
              <a:t>x+y</a:t>
            </a:r>
            <a:r>
              <a:rPr lang="en-US" altLang="zh-CN" sz="2000" b="1" dirty="0">
                <a:latin typeface="微软雅黑" panose="020B0503020204020204" pitchFamily="34" charset="-122"/>
                <a:ea typeface="微软雅黑" panose="020B0503020204020204" pitchFamily="34" charset="-122"/>
              </a:rPr>
              <a:t>)N    C. min[1/x,1/y]   D. max[1/x,1/y]</a:t>
            </a:r>
            <a:endParaRPr lang="zh-CN" altLang="zh-CN" sz="2000" b="1" dirty="0">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某机器</a:t>
            </a:r>
            <a:r>
              <a:rPr lang="en-US" altLang="zh-CN" sz="2000" b="1" dirty="0">
                <a:latin typeface="微软雅黑" panose="020B0503020204020204" pitchFamily="34" charset="-122"/>
                <a:ea typeface="微软雅黑" panose="020B0503020204020204" pitchFamily="34" charset="-122"/>
              </a:rPr>
              <a:t>CPU</a:t>
            </a:r>
            <a:r>
              <a:rPr lang="zh-CN" altLang="en-US" sz="2000" b="1" dirty="0">
                <a:latin typeface="微软雅黑" panose="020B0503020204020204" pitchFamily="34" charset="-122"/>
                <a:ea typeface="微软雅黑" panose="020B0503020204020204" pitchFamily="34" charset="-122"/>
              </a:rPr>
              <a:t>中有</a:t>
            </a:r>
            <a:r>
              <a:rPr lang="en-US" altLang="zh-CN" sz="2000" b="1" dirty="0">
                <a:latin typeface="微软雅黑" panose="020B0503020204020204" pitchFamily="34" charset="-122"/>
                <a:ea typeface="微软雅黑" panose="020B0503020204020204" pitchFamily="34" charset="-122"/>
              </a:rPr>
              <a:t>16</a:t>
            </a:r>
            <a:r>
              <a:rPr lang="zh-CN" altLang="en-US" sz="2000" b="1" dirty="0">
                <a:latin typeface="微软雅黑" panose="020B0503020204020204" pitchFamily="34" charset="-122"/>
                <a:ea typeface="微软雅黑" panose="020B0503020204020204" pitchFamily="34" charset="-122"/>
              </a:rPr>
              <a:t>个通用寄存器，运行某中断处理程序时仅用到其中</a:t>
            </a: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个寄存器，请问响应中断而进入该中断处理程序时是否要将通用寄存器的内容保存到主存中去？</a:t>
            </a:r>
            <a:endParaRPr lang="en-US" altLang="zh-CN" sz="2000" b="1" dirty="0">
              <a:latin typeface="微软雅黑" panose="020B0503020204020204" pitchFamily="34" charset="-122"/>
              <a:ea typeface="微软雅黑" panose="020B0503020204020204" pitchFamily="34" charset="-122"/>
            </a:endParaRPr>
          </a:p>
          <a:p>
            <a:pPr>
              <a:lnSpc>
                <a:spcPct val="120000"/>
              </a:lnSpc>
            </a:pPr>
            <a:r>
              <a:rPr lang="en-US" altLang="zh-CN" sz="2000" b="1" dirty="0">
                <a:latin typeface="微软雅黑" panose="020B0503020204020204" pitchFamily="34" charset="-122"/>
                <a:ea typeface="微软雅黑" panose="020B0503020204020204" pitchFamily="34" charset="-122"/>
              </a:rPr>
              <a:t>    A. </a:t>
            </a:r>
            <a:r>
              <a:rPr lang="zh-CN" altLang="en-US" sz="2000" b="1" dirty="0">
                <a:latin typeface="微软雅黑" panose="020B0503020204020204" pitchFamily="34" charset="-122"/>
                <a:ea typeface="微软雅黑" panose="020B0503020204020204" pitchFamily="34" charset="-122"/>
              </a:rPr>
              <a:t>是</a:t>
            </a:r>
            <a:r>
              <a:rPr lang="en-US" altLang="zh-CN" sz="2000" b="1" dirty="0">
                <a:latin typeface="微软雅黑" panose="020B0503020204020204" pitchFamily="34" charset="-122"/>
                <a:ea typeface="微软雅黑" panose="020B0503020204020204" pitchFamily="34" charset="-122"/>
              </a:rPr>
              <a:t>        B. </a:t>
            </a:r>
            <a:r>
              <a:rPr lang="zh-CN" altLang="en-US" sz="2000" b="1" dirty="0">
                <a:latin typeface="微软雅黑" panose="020B0503020204020204" pitchFamily="34" charset="-122"/>
                <a:ea typeface="微软雅黑" panose="020B0503020204020204" pitchFamily="34" charset="-122"/>
              </a:rPr>
              <a:t>否</a:t>
            </a:r>
            <a:endParaRPr lang="en-US" altLang="zh-CN" sz="2000" b="1" dirty="0">
              <a:latin typeface="微软雅黑" panose="020B0503020204020204" pitchFamily="34" charset="-122"/>
              <a:ea typeface="微软雅黑" panose="020B0503020204020204" pitchFamily="34" charset="-122"/>
            </a:endParaRPr>
          </a:p>
          <a:p>
            <a:pPr>
              <a:lnSpc>
                <a:spcPct val="120000"/>
              </a:lnSpc>
            </a:pPr>
            <a:r>
              <a:rPr lang="zh-CN" altLang="en-US" sz="2000" b="1" dirty="0">
                <a:latin typeface="微软雅黑" panose="020B0503020204020204" pitchFamily="34" charset="-122"/>
                <a:ea typeface="微软雅黑" panose="020B0503020204020204" pitchFamily="34" charset="-122"/>
              </a:rPr>
              <a:t>    需要保存（         ）个寄存器？</a:t>
            </a:r>
          </a:p>
          <a:p>
            <a:pPr>
              <a:lnSpc>
                <a:spcPct val="120000"/>
              </a:lnSpc>
            </a:pPr>
            <a:r>
              <a:rPr lang="en-US" altLang="zh-CN" sz="2000" b="1" dirty="0">
                <a:latin typeface="微软雅黑" panose="020B0503020204020204" pitchFamily="34" charset="-122"/>
                <a:ea typeface="微软雅黑" panose="020B0503020204020204" pitchFamily="34" charset="-122"/>
              </a:rPr>
              <a:t>    A. 16        B. 2        C. 8        D. 0</a:t>
            </a:r>
            <a:endParaRPr lang="zh-CN" altLang="zh-CN" sz="2000" b="1" dirty="0">
              <a:latin typeface="微软雅黑" panose="020B0503020204020204" pitchFamily="34" charset="-122"/>
              <a:ea typeface="微软雅黑" panose="020B0503020204020204" pitchFamily="34" charset="-122"/>
            </a:endParaRPr>
          </a:p>
        </p:txBody>
      </p:sp>
      <p:sp>
        <p:nvSpPr>
          <p:cNvPr id="9" name="椭圆 8"/>
          <p:cNvSpPr/>
          <p:nvPr/>
        </p:nvSpPr>
        <p:spPr bwMode="auto">
          <a:xfrm>
            <a:off x="577652" y="166069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6" name="椭圆 5"/>
          <p:cNvSpPr/>
          <p:nvPr/>
        </p:nvSpPr>
        <p:spPr bwMode="auto">
          <a:xfrm>
            <a:off x="570867" y="386120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8" name="椭圆 7"/>
          <p:cNvSpPr/>
          <p:nvPr/>
        </p:nvSpPr>
        <p:spPr bwMode="auto">
          <a:xfrm>
            <a:off x="488810" y="530237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10" name="椭圆 9"/>
          <p:cNvSpPr/>
          <p:nvPr/>
        </p:nvSpPr>
        <p:spPr bwMode="auto">
          <a:xfrm>
            <a:off x="1737703" y="6050227"/>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8518" y="96040"/>
            <a:ext cx="1826141" cy="584775"/>
          </a:xfrm>
          <a:prstGeom prst="rect">
            <a:avLst/>
          </a:prstGeom>
        </p:spPr>
        <p:txBody>
          <a:bodyPr wrap="none">
            <a:spAutoFit/>
          </a:bodyPr>
          <a:lstStyle/>
          <a:p>
            <a:pPr lvl="0">
              <a:spcBef>
                <a:spcPts val="0"/>
              </a:spcBef>
            </a:pPr>
            <a:r>
              <a:rPr lang="zh-CN" altLang="en-US" sz="32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课内练习</a:t>
            </a:r>
          </a:p>
        </p:txBody>
      </p:sp>
      <p:pic>
        <p:nvPicPr>
          <p:cNvPr id="10" name="Picture 1028"/>
          <p:cNvPicPr>
            <a:picLocks noChangeAspect="1" noChangeArrowheads="1"/>
          </p:cNvPicPr>
          <p:nvPr/>
        </p:nvPicPr>
        <p:blipFill>
          <a:blip r:embed="rId2"/>
          <a:srcRect/>
          <a:stretch>
            <a:fillRect/>
          </a:stretch>
        </p:blipFill>
        <p:spPr bwMode="auto">
          <a:xfrm>
            <a:off x="318518" y="738690"/>
            <a:ext cx="7561263" cy="3409950"/>
          </a:xfrm>
          <a:prstGeom prst="rect">
            <a:avLst/>
          </a:prstGeom>
          <a:noFill/>
          <a:ln w="9525">
            <a:noFill/>
            <a:miter lim="800000"/>
            <a:headEnd/>
            <a:tailEnd/>
          </a:ln>
        </p:spPr>
      </p:pic>
      <p:sp>
        <p:nvSpPr>
          <p:cNvPr id="11" name="Rectangle 1029"/>
          <p:cNvSpPr>
            <a:spLocks noChangeArrowheads="1"/>
          </p:cNvSpPr>
          <p:nvPr/>
        </p:nvSpPr>
        <p:spPr bwMode="auto">
          <a:xfrm>
            <a:off x="164139" y="4293096"/>
            <a:ext cx="8964612" cy="2400657"/>
          </a:xfrm>
          <a:prstGeom prst="rect">
            <a:avLst/>
          </a:prstGeom>
          <a:noFill/>
          <a:ln w="12700">
            <a:noFill/>
            <a:miter lim="800000"/>
            <a:headEnd type="none" w="sm" len="sm"/>
            <a:tailEnd type="none" w="sm" len="sm"/>
          </a:ln>
        </p:spPr>
        <p:txBody>
          <a:bodyPr>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图中二维中断系统</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当</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对设备</a:t>
            </a:r>
            <a:r>
              <a:rPr lang="en-US" altLang="zh-CN" sz="2000"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的中断请求进行服务时，如果</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提出请求，</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能够响应吗？</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能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不能 </a:t>
            </a: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若</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现执行</a:t>
            </a:r>
            <a:r>
              <a:rPr lang="en-US" altLang="zh-CN" sz="2000" dirty="0">
                <a:latin typeface="微软雅黑" panose="020B0503020204020204" pitchFamily="34" charset="-122"/>
                <a:ea typeface="微软雅黑" panose="020B0503020204020204" pitchFamily="34" charset="-122"/>
              </a:rPr>
              <a:t>E</a:t>
            </a:r>
            <a:r>
              <a:rPr lang="zh-CN" altLang="en-US" sz="2000" dirty="0">
                <a:latin typeface="微软雅黑" panose="020B0503020204020204" pitchFamily="34" charset="-122"/>
                <a:ea typeface="微软雅黑" panose="020B0503020204020204" pitchFamily="34" charset="-122"/>
              </a:rPr>
              <a:t>的中断服务程序，</a:t>
            </a:r>
            <a:r>
              <a:rPr lang="en-US" altLang="zh-CN" sz="2000" dirty="0">
                <a:latin typeface="微软雅黑" panose="020B0503020204020204" pitchFamily="34" charset="-122"/>
                <a:ea typeface="微软雅黑" panose="020B0503020204020204" pitchFamily="34" charset="-122"/>
              </a:rPr>
              <a:t>IM2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IM1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IM0</a:t>
            </a:r>
            <a:r>
              <a:rPr lang="zh-CN" altLang="en-US" sz="2000" dirty="0">
                <a:latin typeface="微软雅黑" panose="020B0503020204020204" pitchFamily="34" charset="-122"/>
                <a:ea typeface="微软雅黑" panose="020B0503020204020204" pitchFamily="34" charset="-122"/>
              </a:rPr>
              <a:t>的状态是</a:t>
            </a:r>
            <a:r>
              <a:rPr lang="zh-CN" altLang="en-US" sz="2000" u="sng"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p>
          <a:p>
            <a:pPr marL="342900" indent="-342900">
              <a:lnSpc>
                <a:spcPct val="150000"/>
              </a:lnSpc>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执行设备</a:t>
            </a:r>
            <a:r>
              <a:rPr lang="en-US" altLang="zh-CN" sz="2000" dirty="0">
                <a:latin typeface="微软雅黑" panose="020B0503020204020204" pitchFamily="34" charset="-122"/>
                <a:ea typeface="微软雅黑" panose="020B0503020204020204" pitchFamily="34" charset="-122"/>
              </a:rPr>
              <a:t>H</a:t>
            </a:r>
            <a:r>
              <a:rPr lang="zh-CN" altLang="en-US" sz="2000" dirty="0">
                <a:latin typeface="微软雅黑" panose="020B0503020204020204" pitchFamily="34" charset="-122"/>
                <a:ea typeface="微软雅黑" panose="020B0503020204020204" pitchFamily="34" charset="-122"/>
              </a:rPr>
              <a:t>的中断服务程序，</a:t>
            </a:r>
            <a:r>
              <a:rPr lang="en-US" altLang="zh-CN" sz="2000" dirty="0">
                <a:latin typeface="微软雅黑" panose="020B0503020204020204" pitchFamily="34" charset="-122"/>
                <a:ea typeface="微软雅黑" panose="020B0503020204020204" pitchFamily="34" charset="-122"/>
              </a:rPr>
              <a:t>IM2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IM1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IM0</a:t>
            </a:r>
            <a:r>
              <a:rPr lang="zh-CN" altLang="en-US" sz="2000" dirty="0">
                <a:latin typeface="微软雅黑" panose="020B0503020204020204" pitchFamily="34" charset="-122"/>
                <a:ea typeface="微软雅黑" panose="020B0503020204020204" pitchFamily="34" charset="-122"/>
              </a:rPr>
              <a:t>的状态是</a:t>
            </a:r>
            <a:r>
              <a:rPr lang="zh-CN" altLang="en-US" sz="2000" u="sng"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3" name="矩形 2"/>
          <p:cNvSpPr/>
          <p:nvPr/>
        </p:nvSpPr>
        <p:spPr>
          <a:xfrm>
            <a:off x="7261298" y="5680498"/>
            <a:ext cx="1026243" cy="461665"/>
          </a:xfrm>
          <a:prstGeom prst="rect">
            <a:avLst/>
          </a:prstGeom>
        </p:spPr>
        <p:txBody>
          <a:bodyPr wrap="none">
            <a:spAutoFit/>
          </a:bodyPr>
          <a:lstStyle/>
          <a:p>
            <a:pPr marL="342900" indent="-342900" eaLnBrk="0" hangingPunct="0"/>
            <a:r>
              <a:rPr lang="en-US" altLang="zh-CN" sz="2400" b="1" dirty="0">
                <a:solidFill>
                  <a:srgbClr val="FF0000"/>
                </a:solidFill>
                <a:latin typeface="微软雅黑" panose="020B0503020204020204" pitchFamily="34" charset="-122"/>
                <a:ea typeface="微软雅黑" panose="020B0503020204020204" pitchFamily="34" charset="-122"/>
              </a:rPr>
              <a:t>0 1 1 </a:t>
            </a:r>
          </a:p>
        </p:txBody>
      </p:sp>
      <p:sp>
        <p:nvSpPr>
          <p:cNvPr id="12" name="椭圆 11"/>
          <p:cNvSpPr/>
          <p:nvPr/>
        </p:nvSpPr>
        <p:spPr bwMode="auto">
          <a:xfrm>
            <a:off x="1691680" y="520116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13" name="矩形 12"/>
          <p:cNvSpPr/>
          <p:nvPr/>
        </p:nvSpPr>
        <p:spPr>
          <a:xfrm>
            <a:off x="7269323" y="6163844"/>
            <a:ext cx="1026243" cy="461665"/>
          </a:xfrm>
          <a:prstGeom prst="rect">
            <a:avLst/>
          </a:prstGeom>
        </p:spPr>
        <p:txBody>
          <a:bodyPr wrap="none">
            <a:spAutoFit/>
          </a:bodyPr>
          <a:lstStyle/>
          <a:p>
            <a:pPr marL="342900" indent="-342900" eaLnBrk="0" hangingPunct="0"/>
            <a:r>
              <a:rPr lang="en-US" altLang="zh-CN" sz="2400" b="1" dirty="0">
                <a:solidFill>
                  <a:srgbClr val="FF0000"/>
                </a:solidFill>
                <a:latin typeface="微软雅黑" panose="020B0503020204020204" pitchFamily="34" charset="-122"/>
                <a:ea typeface="微软雅黑" panose="020B0503020204020204" pitchFamily="34" charset="-122"/>
              </a:rPr>
              <a:t>0 0 1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课内练习</a:t>
            </a:r>
          </a:p>
        </p:txBody>
      </p:sp>
      <p:sp>
        <p:nvSpPr>
          <p:cNvPr id="10" name="TextBox 9"/>
          <p:cNvSpPr txBox="1"/>
          <p:nvPr>
            <p:custDataLst>
              <p:tags r:id="rId1"/>
            </p:custDataLst>
          </p:nvPr>
        </p:nvSpPr>
        <p:spPr>
          <a:xfrm>
            <a:off x="322587" y="1052736"/>
            <a:ext cx="8525810" cy="2400657"/>
          </a:xfrm>
          <a:prstGeom prst="rect">
            <a:avLst/>
          </a:prstGeom>
        </p:spPr>
        <p:style>
          <a:lnRef idx="1">
            <a:schemeClr val="accent4"/>
          </a:lnRef>
          <a:fillRef idx="2">
            <a:schemeClr val="accent4"/>
          </a:fillRef>
          <a:effectRef idx="1">
            <a:schemeClr val="accent4"/>
          </a:effectRef>
          <a:fontRef idx="minor">
            <a:schemeClr val="dk1"/>
          </a:fontRef>
        </p:style>
        <p:txBody>
          <a:bodyPr vert="horz" wrap="square" rtlCol="0" anchor="ctr">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某计算机的</a:t>
            </a:r>
            <a:r>
              <a:rPr lang="en-US" altLang="zh-CN" sz="2000" dirty="0">
                <a:latin typeface="微软雅黑" panose="020B0503020204020204" pitchFamily="34" charset="-122"/>
                <a:ea typeface="微软雅黑" panose="020B0503020204020204" pitchFamily="34" charset="-122"/>
              </a:rPr>
              <a:t>CPU</a:t>
            </a:r>
            <a:r>
              <a:rPr lang="zh-CN" altLang="zh-CN" sz="2000" dirty="0">
                <a:latin typeface="微软雅黑" panose="020B0503020204020204" pitchFamily="34" charset="-122"/>
                <a:ea typeface="微软雅黑" panose="020B0503020204020204" pitchFamily="34" charset="-122"/>
              </a:rPr>
              <a:t>主频为</a:t>
            </a:r>
            <a:r>
              <a:rPr lang="en-US" altLang="zh-CN" sz="2000" dirty="0">
                <a:latin typeface="微软雅黑" panose="020B0503020204020204" pitchFamily="34" charset="-122"/>
                <a:ea typeface="微软雅黑" panose="020B0503020204020204" pitchFamily="34" charset="-122"/>
              </a:rPr>
              <a:t>500MHz</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CPI</a:t>
            </a:r>
            <a:r>
              <a:rPr lang="zh-CN" altLang="zh-CN" sz="2000" dirty="0">
                <a:latin typeface="微软雅黑" panose="020B0503020204020204" pitchFamily="34" charset="-122"/>
                <a:ea typeface="微软雅黑" panose="020B0503020204020204" pitchFamily="34" charset="-122"/>
              </a:rPr>
              <a:t>为</a:t>
            </a:r>
            <a:r>
              <a:rPr lang="en-US" altLang="zh-CN" sz="2000" dirty="0">
                <a:latin typeface="微软雅黑" panose="020B0503020204020204" pitchFamily="34" charset="-122"/>
                <a:ea typeface="微软雅黑" panose="020B0503020204020204" pitchFamily="34" charset="-122"/>
              </a:rPr>
              <a:t>5(</a:t>
            </a:r>
            <a:r>
              <a:rPr lang="zh-CN" altLang="zh-CN" sz="2000" dirty="0">
                <a:latin typeface="微软雅黑" panose="020B0503020204020204" pitchFamily="34" charset="-122"/>
                <a:ea typeface="微软雅黑" panose="020B0503020204020204" pitchFamily="34" charset="-122"/>
              </a:rPr>
              <a:t>即执行每条指令平均需</a:t>
            </a:r>
            <a:r>
              <a:rPr lang="en-US" altLang="zh-CN" sz="2000" dirty="0">
                <a:latin typeface="微软雅黑" panose="020B0503020204020204" pitchFamily="34" charset="-122"/>
                <a:ea typeface="微软雅黑" panose="020B0503020204020204" pitchFamily="34" charset="-122"/>
              </a:rPr>
              <a:t>5</a:t>
            </a:r>
            <a:r>
              <a:rPr lang="zh-CN" altLang="zh-CN" sz="2000" dirty="0">
                <a:latin typeface="微软雅黑" panose="020B0503020204020204" pitchFamily="34" charset="-122"/>
                <a:ea typeface="微软雅黑" panose="020B0503020204020204" pitchFamily="34" charset="-122"/>
              </a:rPr>
              <a:t>个时钟周期</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。假定某外设的数据传输率为</a:t>
            </a:r>
            <a:r>
              <a:rPr lang="en-US" altLang="zh-CN" sz="2000" dirty="0">
                <a:latin typeface="微软雅黑" panose="020B0503020204020204" pitchFamily="34" charset="-122"/>
                <a:ea typeface="微软雅黑" panose="020B0503020204020204" pitchFamily="34" charset="-122"/>
              </a:rPr>
              <a:t>0.5MB/s</a:t>
            </a:r>
            <a:r>
              <a:rPr lang="zh-CN" altLang="zh-CN" sz="2000" dirty="0">
                <a:latin typeface="微软雅黑" panose="020B0503020204020204" pitchFamily="34" charset="-122"/>
                <a:ea typeface="微软雅黑" panose="020B0503020204020204" pitchFamily="34" charset="-122"/>
              </a:rPr>
              <a:t>，采用中断方式与主机进行数据传送，以</a:t>
            </a:r>
            <a:r>
              <a:rPr lang="en-US" altLang="zh-CN" sz="2000" dirty="0">
                <a:latin typeface="微软雅黑" panose="020B0503020204020204" pitchFamily="34" charset="-122"/>
                <a:ea typeface="微软雅黑" panose="020B0503020204020204" pitchFamily="34" charset="-122"/>
              </a:rPr>
              <a:t>32</a:t>
            </a:r>
            <a:r>
              <a:rPr lang="zh-CN" altLang="zh-CN" sz="2000" dirty="0">
                <a:latin typeface="微软雅黑" panose="020B0503020204020204" pitchFamily="34" charset="-122"/>
                <a:ea typeface="微软雅黑" panose="020B0503020204020204" pitchFamily="34" charset="-122"/>
              </a:rPr>
              <a:t>位为传输单位，对应的中断服务程序包含</a:t>
            </a:r>
            <a:r>
              <a:rPr lang="en-US" altLang="zh-CN" sz="2000" dirty="0">
                <a:latin typeface="微软雅黑" panose="020B0503020204020204" pitchFamily="34" charset="-122"/>
                <a:ea typeface="微软雅黑" panose="020B0503020204020204" pitchFamily="34" charset="-122"/>
              </a:rPr>
              <a:t>18</a:t>
            </a:r>
            <a:r>
              <a:rPr lang="zh-CN" altLang="zh-CN" sz="2000" dirty="0">
                <a:latin typeface="微软雅黑" panose="020B0503020204020204" pitchFamily="34" charset="-122"/>
                <a:ea typeface="微软雅黑" panose="020B0503020204020204" pitchFamily="34" charset="-122"/>
              </a:rPr>
              <a:t>条指令，中断服务的其他开销相当于</a:t>
            </a:r>
            <a:r>
              <a:rPr lang="en-US" altLang="zh-CN" sz="2000" dirty="0">
                <a:latin typeface="微软雅黑" panose="020B0503020204020204" pitchFamily="34" charset="-122"/>
                <a:ea typeface="微软雅黑" panose="020B0503020204020204" pitchFamily="34" charset="-122"/>
              </a:rPr>
              <a:t>2</a:t>
            </a:r>
            <a:r>
              <a:rPr lang="zh-CN" altLang="zh-CN" sz="2000" dirty="0">
                <a:latin typeface="微软雅黑" panose="020B0503020204020204" pitchFamily="34" charset="-122"/>
                <a:ea typeface="微软雅黑" panose="020B0503020204020204" pitchFamily="34" charset="-122"/>
              </a:rPr>
              <a:t>条指令的执行时间。在中断方式下，</a:t>
            </a:r>
            <a:r>
              <a:rPr lang="en-US" altLang="zh-CN" sz="2000" dirty="0">
                <a:latin typeface="微软雅黑" panose="020B0503020204020204" pitchFamily="34" charset="-122"/>
                <a:ea typeface="微软雅黑" panose="020B0503020204020204" pitchFamily="34" charset="-122"/>
              </a:rPr>
              <a:t>CPU</a:t>
            </a:r>
            <a:r>
              <a:rPr lang="zh-CN" altLang="zh-CN" sz="2000" dirty="0">
                <a:latin typeface="微软雅黑" panose="020B0503020204020204" pitchFamily="34" charset="-122"/>
                <a:ea typeface="微软雅黑" panose="020B0503020204020204" pitchFamily="34" charset="-122"/>
              </a:rPr>
              <a:t>用于该外设</a:t>
            </a:r>
            <a:r>
              <a:rPr lang="en-US" altLang="zh-CN" sz="2000" dirty="0">
                <a:latin typeface="微软雅黑" panose="020B0503020204020204" pitchFamily="34" charset="-122"/>
                <a:ea typeface="微软雅黑" panose="020B0503020204020204" pitchFamily="34" charset="-122"/>
              </a:rPr>
              <a:t>I/O</a:t>
            </a:r>
            <a:r>
              <a:rPr lang="zh-CN" altLang="zh-CN" sz="2000" dirty="0">
                <a:latin typeface="微软雅黑" panose="020B0503020204020204" pitchFamily="34" charset="-122"/>
                <a:ea typeface="微软雅黑" panose="020B0503020204020204" pitchFamily="34" charset="-122"/>
              </a:rPr>
              <a:t>的时间占整个</a:t>
            </a:r>
            <a:r>
              <a:rPr lang="en-US" altLang="zh-CN" sz="2000" dirty="0">
                <a:latin typeface="微软雅黑" panose="020B0503020204020204" pitchFamily="34" charset="-122"/>
                <a:ea typeface="微软雅黑" panose="020B0503020204020204" pitchFamily="34" charset="-122"/>
              </a:rPr>
              <a:t>CPU</a:t>
            </a:r>
            <a:r>
              <a:rPr lang="zh-CN" altLang="zh-CN" sz="2000" dirty="0">
                <a:latin typeface="微软雅黑" panose="020B0503020204020204" pitchFamily="34" charset="-122"/>
                <a:ea typeface="微软雅黑" panose="020B0503020204020204" pitchFamily="34" charset="-122"/>
              </a:rPr>
              <a:t>时间的百分比是多少？</a:t>
            </a:r>
          </a:p>
        </p:txBody>
      </p:sp>
      <p:sp>
        <p:nvSpPr>
          <p:cNvPr id="6" name="Rectangle 2"/>
          <p:cNvSpPr>
            <a:spLocks noChangeArrowheads="1"/>
          </p:cNvSpPr>
          <p:nvPr/>
        </p:nvSpPr>
        <p:spPr bwMode="auto">
          <a:xfrm>
            <a:off x="322587" y="3546367"/>
            <a:ext cx="8712968" cy="2400657"/>
          </a:xfrm>
          <a:prstGeom prst="rect">
            <a:avLst/>
          </a:prstGeom>
          <a:noFill/>
          <a:ln w="9525">
            <a:noFill/>
            <a:miter lim="800000"/>
          </a:ln>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解：</a:t>
            </a:r>
            <a:r>
              <a:rPr lang="en-US" altLang="zh-CN" sz="2000" b="1" dirty="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中断一次时传输</a:t>
            </a:r>
            <a:r>
              <a:rPr lang="en-US" altLang="zh-CN" sz="2000" b="1" dirty="0">
                <a:latin typeface="微软雅黑" panose="020B0503020204020204" pitchFamily="34" charset="-122"/>
                <a:ea typeface="微软雅黑" panose="020B0503020204020204" pitchFamily="34" charset="-122"/>
              </a:rPr>
              <a:t>32</a:t>
            </a:r>
            <a:r>
              <a:rPr lang="zh-CN" altLang="zh-CN" sz="2000" b="1" dirty="0">
                <a:latin typeface="微软雅黑" panose="020B0503020204020204" pitchFamily="34" charset="-122"/>
                <a:ea typeface="微软雅黑" panose="020B0503020204020204" pitchFamily="34" charset="-122"/>
              </a:rPr>
              <a:t>位数据所需时间</a:t>
            </a:r>
            <a:r>
              <a:rPr lang="en-US" altLang="zh-CN" sz="2000" b="1" dirty="0">
                <a:latin typeface="微软雅黑" panose="020B0503020204020204" pitchFamily="34" charset="-122"/>
                <a:ea typeface="微软雅黑" panose="020B0503020204020204" pitchFamily="34" charset="-122"/>
              </a:rPr>
              <a:t> t=4B/r=4B/0.5MB=8</a:t>
            </a:r>
            <a:r>
              <a:rPr lang="zh-CN" altLang="zh-CN" sz="2000" b="1" dirty="0">
                <a:latin typeface="微软雅黑" panose="020B0503020204020204" pitchFamily="34" charset="-122"/>
                <a:ea typeface="微软雅黑" panose="020B0503020204020204" pitchFamily="34" charset="-122"/>
              </a:rPr>
              <a:t>μ</a:t>
            </a:r>
            <a:r>
              <a:rPr lang="en-US" altLang="zh-CN" sz="2000" b="1" dirty="0">
                <a:latin typeface="微软雅黑" panose="020B0503020204020204" pitchFamily="34" charset="-122"/>
                <a:ea typeface="微软雅黑" panose="020B0503020204020204" pitchFamily="34" charset="-122"/>
              </a:rPr>
              <a:t>s</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已知</a:t>
            </a:r>
            <a:r>
              <a:rPr lang="zh-CN" altLang="en-US" sz="2000" b="1" dirty="0">
                <a:latin typeface="微软雅黑" panose="020B0503020204020204" pitchFamily="34" charset="-122"/>
                <a:ea typeface="微软雅黑" panose="020B0503020204020204" pitchFamily="34" charset="-122"/>
              </a:rPr>
              <a:t>执行的指令数</a:t>
            </a:r>
            <a:r>
              <a:rPr lang="en-US" altLang="zh-CN" sz="2000" b="1" dirty="0">
                <a:latin typeface="微软雅黑" panose="020B0503020204020204" pitchFamily="34" charset="-122"/>
                <a:ea typeface="微软雅黑" panose="020B0503020204020204" pitchFamily="34" charset="-122"/>
              </a:rPr>
              <a:t>IN=18+2=20</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CPI=5</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f=500MHz</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则求得</a:t>
            </a:r>
            <a:r>
              <a:rPr lang="en-US" altLang="zh-CN" sz="2000" b="1" dirty="0" err="1">
                <a:latin typeface="微软雅黑" panose="020B0503020204020204" pitchFamily="34" charset="-122"/>
                <a:ea typeface="微软雅黑" panose="020B0503020204020204" pitchFamily="34" charset="-122"/>
              </a:rPr>
              <a:t>tcpu</a:t>
            </a:r>
            <a:r>
              <a:rPr lang="zh-CN" altLang="zh-CN" sz="2000" b="1" dirty="0">
                <a:latin typeface="微软雅黑" panose="020B0503020204020204" pitchFamily="34" charset="-122"/>
                <a:ea typeface="微软雅黑" panose="020B0503020204020204" pitchFamily="34" charset="-122"/>
              </a:rPr>
              <a:t>为：</a:t>
            </a:r>
            <a:r>
              <a:rPr lang="en-US" altLang="zh-CN" sz="2000" b="1" dirty="0" err="1">
                <a:latin typeface="微软雅黑" panose="020B0503020204020204" pitchFamily="34" charset="-122"/>
                <a:ea typeface="微软雅黑" panose="020B0503020204020204" pitchFamily="34" charset="-122"/>
              </a:rPr>
              <a:t>tcpu</a:t>
            </a:r>
            <a:r>
              <a:rPr lang="en-US" altLang="zh-CN" sz="2000" b="1" dirty="0">
                <a:latin typeface="微软雅黑" panose="020B0503020204020204" pitchFamily="34" charset="-122"/>
                <a:ea typeface="微软雅黑" panose="020B0503020204020204" pitchFamily="34" charset="-122"/>
              </a:rPr>
              <a:t>=IN * CPI / f = 20 * 5 / 500 = 0.2</a:t>
            </a:r>
            <a:r>
              <a:rPr lang="zh-CN" altLang="zh-CN" sz="2000" b="1" dirty="0">
                <a:latin typeface="微软雅黑" panose="020B0503020204020204" pitchFamily="34" charset="-122"/>
                <a:ea typeface="微软雅黑" panose="020B0503020204020204" pitchFamily="34" charset="-122"/>
              </a:rPr>
              <a:t>μ</a:t>
            </a:r>
            <a:r>
              <a:rPr lang="en-US" altLang="zh-CN" sz="2000" b="1" dirty="0">
                <a:latin typeface="微软雅黑" panose="020B0503020204020204" pitchFamily="34" charset="-122"/>
                <a:ea typeface="微软雅黑" panose="020B0503020204020204" pitchFamily="34" charset="-122"/>
              </a:rPr>
              <a:t>s</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CPU</a:t>
            </a:r>
            <a:r>
              <a:rPr lang="zh-CN" altLang="zh-CN" sz="2000" b="1" dirty="0">
                <a:latin typeface="微软雅黑" panose="020B0503020204020204" pitchFamily="34" charset="-122"/>
                <a:ea typeface="微软雅黑" panose="020B0503020204020204" pitchFamily="34" charset="-122"/>
              </a:rPr>
              <a:t>用于外设的时间占整个</a:t>
            </a:r>
            <a:r>
              <a:rPr lang="en-US" altLang="zh-CN" sz="2000" b="1" dirty="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时间的百分比</a:t>
            </a:r>
            <a:r>
              <a:rPr lang="en-US" altLang="zh-CN" sz="2000" b="1" dirty="0">
                <a:latin typeface="微软雅黑" panose="020B0503020204020204" pitchFamily="34" charset="-122"/>
                <a:ea typeface="微软雅黑" panose="020B0503020204020204" pitchFamily="34" charset="-122"/>
              </a:rPr>
              <a:t>P</a:t>
            </a:r>
            <a:r>
              <a:rPr lang="zh-CN" altLang="zh-CN" sz="2000" b="1" dirty="0">
                <a:latin typeface="微软雅黑" panose="020B0503020204020204" pitchFamily="34" charset="-122"/>
                <a:ea typeface="微软雅黑" panose="020B0503020204020204" pitchFamily="34" charset="-122"/>
              </a:rPr>
              <a:t>为：</a:t>
            </a:r>
          </a:p>
          <a:p>
            <a:pPr>
              <a:lnSpc>
                <a:spcPct val="150000"/>
              </a:lnSpc>
            </a:pPr>
            <a:r>
              <a:rPr lang="en-US" altLang="zh-CN" sz="2000" b="1" dirty="0">
                <a:latin typeface="微软雅黑" panose="020B0503020204020204" pitchFamily="34" charset="-122"/>
                <a:ea typeface="微软雅黑" panose="020B0503020204020204" pitchFamily="34" charset="-122"/>
              </a:rPr>
              <a:t>        P = </a:t>
            </a:r>
            <a:r>
              <a:rPr lang="en-US" altLang="zh-CN" sz="2000" b="1" dirty="0" err="1">
                <a:latin typeface="微软雅黑" panose="020B0503020204020204" pitchFamily="34" charset="-122"/>
                <a:ea typeface="微软雅黑" panose="020B0503020204020204" pitchFamily="34" charset="-122"/>
              </a:rPr>
              <a:t>tcpu</a:t>
            </a:r>
            <a:r>
              <a:rPr lang="en-US" altLang="zh-CN" sz="2000" b="1" dirty="0">
                <a:latin typeface="微软雅黑" panose="020B0503020204020204" pitchFamily="34" charset="-122"/>
                <a:ea typeface="微软雅黑" panose="020B0503020204020204" pitchFamily="34" charset="-122"/>
              </a:rPr>
              <a:t> / t = 0.2</a:t>
            </a:r>
            <a:r>
              <a:rPr lang="zh-CN" altLang="zh-CN" sz="2000" b="1" dirty="0">
                <a:latin typeface="微软雅黑" panose="020B0503020204020204" pitchFamily="34" charset="-122"/>
                <a:ea typeface="微软雅黑" panose="020B0503020204020204" pitchFamily="34" charset="-122"/>
              </a:rPr>
              <a:t>μ</a:t>
            </a:r>
            <a:r>
              <a:rPr lang="en-US" altLang="zh-CN" sz="2000" b="1" dirty="0">
                <a:latin typeface="微软雅黑" panose="020B0503020204020204" pitchFamily="34" charset="-122"/>
                <a:ea typeface="微软雅黑" panose="020B0503020204020204" pitchFamily="34" charset="-122"/>
              </a:rPr>
              <a:t>s / 8</a:t>
            </a:r>
            <a:r>
              <a:rPr lang="zh-CN" altLang="zh-CN" sz="2000" b="1" dirty="0">
                <a:latin typeface="微软雅黑" panose="020B0503020204020204" pitchFamily="34" charset="-122"/>
                <a:ea typeface="微软雅黑" panose="020B0503020204020204" pitchFamily="34" charset="-122"/>
              </a:rPr>
              <a:t>μ</a:t>
            </a:r>
            <a:r>
              <a:rPr lang="en-US" altLang="zh-CN" sz="2000" b="1" dirty="0">
                <a:latin typeface="微软雅黑" panose="020B0503020204020204" pitchFamily="34" charset="-122"/>
                <a:ea typeface="微软雅黑" panose="020B0503020204020204" pitchFamily="34" charset="-122"/>
              </a:rPr>
              <a:t>s = 2.5%</a:t>
            </a:r>
            <a:endParaRPr lang="zh-CN" altLang="zh-CN" sz="20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2"/>
          </p:nvPr>
        </p:nvSpPr>
        <p:spPr>
          <a:noFill/>
        </p:spPr>
        <p:txBody>
          <a:bodyPr/>
          <a:lstStyle/>
          <a:p>
            <a:fld id="{B30E5741-9925-43A7-8A48-01859B3C174B}" type="slidenum">
              <a:rPr lang="en-US" altLang="zh-CN" smtClean="0"/>
              <a:t>37</a:t>
            </a:fld>
            <a:endParaRPr lang="en-US" altLang="zh-CN"/>
          </a:p>
        </p:txBody>
      </p:sp>
      <p:sp>
        <p:nvSpPr>
          <p:cNvPr id="34819" name="Rectangle 2"/>
          <p:cNvSpPr>
            <a:spLocks noChangeArrowheads="1"/>
          </p:cNvSpPr>
          <p:nvPr/>
        </p:nvSpPr>
        <p:spPr bwMode="auto">
          <a:xfrm>
            <a:off x="179388" y="115888"/>
            <a:ext cx="8713787" cy="3415030"/>
          </a:xfrm>
          <a:prstGeom prst="rect">
            <a:avLst/>
          </a:prstGeom>
          <a:solidFill>
            <a:srgbClr val="CCFFFF"/>
          </a:solidFill>
          <a:ln w="12700">
            <a:noFill/>
            <a:miter lim="800000"/>
            <a:headEnd type="none" w="sm" len="sm"/>
            <a:tailEnd type="none" w="sm" len="sm"/>
          </a:ln>
        </p:spPr>
        <p:txBody>
          <a:bodyPr>
            <a:spAutoFit/>
          </a:bodyPr>
          <a:lstStyle/>
          <a:p>
            <a:r>
              <a:rPr lang="en-US" altLang="zh-CN" sz="2400" dirty="0"/>
              <a:t>【</a:t>
            </a:r>
            <a:r>
              <a:rPr lang="zh-CN" altLang="en-US" sz="2400" dirty="0"/>
              <a:t>例</a:t>
            </a:r>
            <a:r>
              <a:rPr lang="en-US" altLang="zh-CN" sz="2400" dirty="0"/>
              <a:t>】</a:t>
            </a:r>
            <a:r>
              <a:rPr lang="zh-CN" altLang="en-US" sz="2400" dirty="0">
                <a:latin typeface="宋体" panose="02010600030101010101" pitchFamily="2" charset="-122"/>
              </a:rPr>
              <a:t>某计算机的外部设备具有三级中断功能，中断响应次序基本上由硬件排队电路决定，但可利用各个外部设备控制器中的中断屏蔽控制位来封锁本设备的中断请求信号。设所有中断处理程序的执行时间相同，均为</a:t>
            </a:r>
            <a:r>
              <a:rPr lang="en-US" altLang="zh-CN" sz="2400" dirty="0">
                <a:latin typeface="宋体" panose="02010600030101010101" pitchFamily="2" charset="-122"/>
              </a:rPr>
              <a:t>T</a:t>
            </a:r>
            <a:r>
              <a:rPr lang="zh-CN" altLang="en-US" sz="2400" dirty="0">
                <a:latin typeface="宋体" panose="02010600030101010101" pitchFamily="2" charset="-122"/>
              </a:rPr>
              <a:t>，在</a:t>
            </a:r>
            <a:r>
              <a:rPr lang="en-US" altLang="zh-CN" sz="2400" dirty="0">
                <a:latin typeface="宋体" panose="02010600030101010101" pitchFamily="2" charset="-122"/>
              </a:rPr>
              <a:t>5T</a:t>
            </a:r>
            <a:r>
              <a:rPr lang="zh-CN" altLang="en-US" sz="2400" dirty="0">
                <a:latin typeface="宋体" panose="02010600030101010101" pitchFamily="2" charset="-122"/>
              </a:rPr>
              <a:t>时间内共发生</a:t>
            </a:r>
            <a:r>
              <a:rPr lang="en-US" altLang="zh-CN" sz="2400" dirty="0">
                <a:latin typeface="宋体" panose="02010600030101010101" pitchFamily="2" charset="-122"/>
              </a:rPr>
              <a:t>5</a:t>
            </a:r>
            <a:r>
              <a:rPr lang="zh-CN" altLang="en-US" sz="2400" dirty="0">
                <a:latin typeface="宋体" panose="02010600030101010101" pitchFamily="2" charset="-122"/>
              </a:rPr>
              <a:t>次中断请求信号。如图示。</a:t>
            </a:r>
          </a:p>
          <a:p>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）请给出图示各个中断处理程序占用的时间段及中断程序完成的次序。</a:t>
            </a:r>
          </a:p>
          <a:p>
            <a:r>
              <a:rPr lang="zh-CN" altLang="en-US" sz="2400" dirty="0">
                <a:latin typeface="宋体" panose="02010600030101010101" pitchFamily="2" charset="-122"/>
              </a:rPr>
              <a:t>（</a:t>
            </a:r>
            <a:r>
              <a:rPr lang="en-US" altLang="zh-CN" sz="2400" dirty="0">
                <a:latin typeface="宋体" panose="02010600030101010101" pitchFamily="2" charset="-122"/>
              </a:rPr>
              <a:t>2</a:t>
            </a:r>
            <a:r>
              <a:rPr lang="zh-CN" altLang="en-US" sz="2400" dirty="0">
                <a:latin typeface="宋体" panose="02010600030101010101" pitchFamily="2" charset="-122"/>
              </a:rPr>
              <a:t>）软件进行干预，当执行中断处理程序③时，屏蔽二级中断。请图示各个中断处理程序占用的时间段及中断程序完成的次序。</a:t>
            </a:r>
          </a:p>
        </p:txBody>
      </p:sp>
      <p:pic>
        <p:nvPicPr>
          <p:cNvPr id="34820" name="Picture 3"/>
          <p:cNvPicPr>
            <a:picLocks noChangeAspect="1" noChangeArrowheads="1"/>
          </p:cNvPicPr>
          <p:nvPr/>
        </p:nvPicPr>
        <p:blipFill>
          <a:blip r:embed="rId2"/>
          <a:srcRect/>
          <a:stretch>
            <a:fillRect/>
          </a:stretch>
        </p:blipFill>
        <p:spPr bwMode="auto">
          <a:xfrm>
            <a:off x="250825" y="3644900"/>
            <a:ext cx="8208963" cy="247015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p:spPr>
        <p:txBody>
          <a:bodyPr/>
          <a:lstStyle/>
          <a:p>
            <a:fld id="{FAA3A23A-F238-41B6-9833-89486B421F6B}" type="slidenum">
              <a:rPr lang="en-US" altLang="zh-CN" smtClean="0"/>
              <a:t>38</a:t>
            </a:fld>
            <a:endParaRPr lang="en-US" altLang="zh-CN"/>
          </a:p>
        </p:txBody>
      </p:sp>
      <p:pic>
        <p:nvPicPr>
          <p:cNvPr id="35843" name="Picture 52"/>
          <p:cNvPicPr>
            <a:picLocks noChangeAspect="1" noChangeArrowheads="1"/>
          </p:cNvPicPr>
          <p:nvPr/>
        </p:nvPicPr>
        <p:blipFill>
          <a:blip r:embed="rId2"/>
          <a:srcRect/>
          <a:stretch>
            <a:fillRect/>
          </a:stretch>
        </p:blipFill>
        <p:spPr bwMode="auto">
          <a:xfrm>
            <a:off x="152400" y="152400"/>
            <a:ext cx="8704263" cy="6327775"/>
          </a:xfrm>
          <a:prstGeom prst="rect">
            <a:avLst/>
          </a:prstGeom>
          <a:noFill/>
          <a:ln w="9525">
            <a:noFill/>
            <a:miter lim="800000"/>
            <a:headEnd/>
            <a:tailEnd/>
          </a:ln>
        </p:spPr>
      </p:pic>
      <p:grpSp>
        <p:nvGrpSpPr>
          <p:cNvPr id="2" name="Group 53"/>
          <p:cNvGrpSpPr/>
          <p:nvPr/>
        </p:nvGrpSpPr>
        <p:grpSpPr bwMode="auto">
          <a:xfrm>
            <a:off x="3132138" y="1196975"/>
            <a:ext cx="2663825" cy="936625"/>
            <a:chOff x="1973" y="754"/>
            <a:chExt cx="1678" cy="590"/>
          </a:xfrm>
        </p:grpSpPr>
        <p:sp>
          <p:nvSpPr>
            <p:cNvPr id="35863" name="Line 54"/>
            <p:cNvSpPr>
              <a:spLocks noChangeShapeType="1"/>
            </p:cNvSpPr>
            <p:nvPr/>
          </p:nvSpPr>
          <p:spPr bwMode="auto">
            <a:xfrm>
              <a:off x="1973" y="754"/>
              <a:ext cx="1678" cy="0"/>
            </a:xfrm>
            <a:prstGeom prst="line">
              <a:avLst/>
            </a:prstGeom>
            <a:noFill/>
            <a:ln w="38100">
              <a:solidFill>
                <a:srgbClr val="FF3300"/>
              </a:solidFill>
              <a:round/>
              <a:headEnd type="none" w="sm" len="sm"/>
              <a:tailEnd type="none" w="sm" len="sm"/>
            </a:ln>
          </p:spPr>
          <p:txBody>
            <a:bodyPr wrap="none"/>
            <a:lstStyle/>
            <a:p>
              <a:endParaRPr lang="zh-CN" altLang="en-US"/>
            </a:p>
          </p:txBody>
        </p:sp>
        <p:sp>
          <p:nvSpPr>
            <p:cNvPr id="35864" name="Line 55"/>
            <p:cNvSpPr>
              <a:spLocks noChangeShapeType="1"/>
            </p:cNvSpPr>
            <p:nvPr/>
          </p:nvSpPr>
          <p:spPr bwMode="auto">
            <a:xfrm>
              <a:off x="3651" y="754"/>
              <a:ext cx="0" cy="590"/>
            </a:xfrm>
            <a:prstGeom prst="line">
              <a:avLst/>
            </a:prstGeom>
            <a:noFill/>
            <a:ln w="38100">
              <a:solidFill>
                <a:srgbClr val="FF3300"/>
              </a:solidFill>
              <a:round/>
              <a:headEnd type="none" w="sm" len="sm"/>
              <a:tailEnd type="none" w="sm" len="sm"/>
            </a:ln>
          </p:spPr>
          <p:txBody>
            <a:bodyPr wrap="none"/>
            <a:lstStyle/>
            <a:p>
              <a:endParaRPr lang="zh-CN" altLang="en-US"/>
            </a:p>
          </p:txBody>
        </p:sp>
        <p:sp>
          <p:nvSpPr>
            <p:cNvPr id="35865" name="Line 56"/>
            <p:cNvSpPr>
              <a:spLocks noChangeShapeType="1"/>
            </p:cNvSpPr>
            <p:nvPr/>
          </p:nvSpPr>
          <p:spPr bwMode="auto">
            <a:xfrm>
              <a:off x="1973" y="1344"/>
              <a:ext cx="1678" cy="0"/>
            </a:xfrm>
            <a:prstGeom prst="line">
              <a:avLst/>
            </a:prstGeom>
            <a:noFill/>
            <a:ln w="38100">
              <a:solidFill>
                <a:srgbClr val="FF3300"/>
              </a:solidFill>
              <a:round/>
              <a:headEnd type="none" w="sm" len="sm"/>
              <a:tailEnd type="none" w="sm" len="sm"/>
            </a:ln>
          </p:spPr>
          <p:txBody>
            <a:bodyPr wrap="none"/>
            <a:lstStyle/>
            <a:p>
              <a:endParaRPr lang="zh-CN" altLang="en-US"/>
            </a:p>
          </p:txBody>
        </p:sp>
      </p:grpSp>
      <p:grpSp>
        <p:nvGrpSpPr>
          <p:cNvPr id="3" name="Group 57"/>
          <p:cNvGrpSpPr/>
          <p:nvPr/>
        </p:nvGrpSpPr>
        <p:grpSpPr bwMode="auto">
          <a:xfrm>
            <a:off x="3132138" y="2133600"/>
            <a:ext cx="3887787" cy="863600"/>
            <a:chOff x="1973" y="1344"/>
            <a:chExt cx="2449" cy="544"/>
          </a:xfrm>
        </p:grpSpPr>
        <p:sp>
          <p:nvSpPr>
            <p:cNvPr id="35860" name="Line 58"/>
            <p:cNvSpPr>
              <a:spLocks noChangeShapeType="1"/>
            </p:cNvSpPr>
            <p:nvPr/>
          </p:nvSpPr>
          <p:spPr bwMode="auto">
            <a:xfrm>
              <a:off x="1973" y="1344"/>
              <a:ext cx="2449" cy="0"/>
            </a:xfrm>
            <a:prstGeom prst="line">
              <a:avLst/>
            </a:prstGeom>
            <a:noFill/>
            <a:ln w="38100">
              <a:solidFill>
                <a:srgbClr val="00FF00"/>
              </a:solidFill>
              <a:round/>
              <a:headEnd type="none" w="sm" len="sm"/>
              <a:tailEnd type="none" w="sm" len="sm"/>
            </a:ln>
          </p:spPr>
          <p:txBody>
            <a:bodyPr wrap="none"/>
            <a:lstStyle/>
            <a:p>
              <a:endParaRPr lang="zh-CN" altLang="en-US"/>
            </a:p>
          </p:txBody>
        </p:sp>
        <p:sp>
          <p:nvSpPr>
            <p:cNvPr id="35861" name="Line 59"/>
            <p:cNvSpPr>
              <a:spLocks noChangeShapeType="1"/>
            </p:cNvSpPr>
            <p:nvPr/>
          </p:nvSpPr>
          <p:spPr bwMode="auto">
            <a:xfrm>
              <a:off x="4422" y="1344"/>
              <a:ext cx="0" cy="544"/>
            </a:xfrm>
            <a:prstGeom prst="line">
              <a:avLst/>
            </a:prstGeom>
            <a:noFill/>
            <a:ln w="28575">
              <a:solidFill>
                <a:srgbClr val="00FF00"/>
              </a:solidFill>
              <a:round/>
              <a:headEnd type="none" w="sm" len="sm"/>
              <a:tailEnd type="none" w="sm" len="sm"/>
            </a:ln>
          </p:spPr>
          <p:txBody>
            <a:bodyPr wrap="none"/>
            <a:lstStyle/>
            <a:p>
              <a:endParaRPr lang="zh-CN" altLang="en-US"/>
            </a:p>
          </p:txBody>
        </p:sp>
        <p:sp>
          <p:nvSpPr>
            <p:cNvPr id="35862" name="Line 60"/>
            <p:cNvSpPr>
              <a:spLocks noChangeShapeType="1"/>
            </p:cNvSpPr>
            <p:nvPr/>
          </p:nvSpPr>
          <p:spPr bwMode="auto">
            <a:xfrm>
              <a:off x="1973" y="1888"/>
              <a:ext cx="2449" cy="0"/>
            </a:xfrm>
            <a:prstGeom prst="line">
              <a:avLst/>
            </a:prstGeom>
            <a:noFill/>
            <a:ln w="38100">
              <a:solidFill>
                <a:srgbClr val="00FF00"/>
              </a:solidFill>
              <a:round/>
              <a:headEnd type="none" w="sm" len="sm"/>
              <a:tailEnd type="none" w="sm" len="sm"/>
            </a:ln>
          </p:spPr>
          <p:txBody>
            <a:bodyPr wrap="none"/>
            <a:lstStyle/>
            <a:p>
              <a:endParaRPr lang="zh-CN" altLang="en-US"/>
            </a:p>
          </p:txBody>
        </p:sp>
      </p:grpSp>
      <p:grpSp>
        <p:nvGrpSpPr>
          <p:cNvPr id="4" name="Group 61"/>
          <p:cNvGrpSpPr/>
          <p:nvPr/>
        </p:nvGrpSpPr>
        <p:grpSpPr bwMode="auto">
          <a:xfrm>
            <a:off x="3132138" y="2997200"/>
            <a:ext cx="5040312" cy="503238"/>
            <a:chOff x="1973" y="1888"/>
            <a:chExt cx="3175" cy="317"/>
          </a:xfrm>
        </p:grpSpPr>
        <p:sp>
          <p:nvSpPr>
            <p:cNvPr id="35858" name="Line 62"/>
            <p:cNvSpPr>
              <a:spLocks noChangeShapeType="1"/>
            </p:cNvSpPr>
            <p:nvPr/>
          </p:nvSpPr>
          <p:spPr bwMode="auto">
            <a:xfrm>
              <a:off x="1973" y="1888"/>
              <a:ext cx="3175" cy="0"/>
            </a:xfrm>
            <a:prstGeom prst="line">
              <a:avLst/>
            </a:prstGeom>
            <a:noFill/>
            <a:ln w="38100">
              <a:solidFill>
                <a:srgbClr val="0066FF"/>
              </a:solidFill>
              <a:round/>
              <a:headEnd type="none" w="sm" len="sm"/>
              <a:tailEnd type="none" w="sm" len="sm"/>
            </a:ln>
          </p:spPr>
          <p:txBody>
            <a:bodyPr wrap="none"/>
            <a:lstStyle/>
            <a:p>
              <a:endParaRPr lang="zh-CN" altLang="en-US"/>
            </a:p>
          </p:txBody>
        </p:sp>
        <p:sp>
          <p:nvSpPr>
            <p:cNvPr id="35859" name="Line 63"/>
            <p:cNvSpPr>
              <a:spLocks noChangeShapeType="1"/>
            </p:cNvSpPr>
            <p:nvPr/>
          </p:nvSpPr>
          <p:spPr bwMode="auto">
            <a:xfrm>
              <a:off x="5148" y="1888"/>
              <a:ext cx="0" cy="317"/>
            </a:xfrm>
            <a:prstGeom prst="line">
              <a:avLst/>
            </a:prstGeom>
            <a:noFill/>
            <a:ln w="38100">
              <a:solidFill>
                <a:srgbClr val="0066FF"/>
              </a:solidFill>
              <a:round/>
              <a:headEnd type="none" w="sm" len="sm"/>
              <a:tailEnd type="none" w="sm" len="sm"/>
            </a:ln>
          </p:spPr>
          <p:txBody>
            <a:bodyPr wrap="none"/>
            <a:lstStyle/>
            <a:p>
              <a:endParaRPr lang="zh-CN" altLang="en-US"/>
            </a:p>
          </p:txBody>
        </p:sp>
      </p:grpSp>
      <p:sp>
        <p:nvSpPr>
          <p:cNvPr id="110656" name="Line 64"/>
          <p:cNvSpPr>
            <a:spLocks noChangeShapeType="1"/>
          </p:cNvSpPr>
          <p:nvPr/>
        </p:nvSpPr>
        <p:spPr bwMode="auto">
          <a:xfrm flipH="1">
            <a:off x="7019925" y="3500438"/>
            <a:ext cx="1152525" cy="0"/>
          </a:xfrm>
          <a:prstGeom prst="line">
            <a:avLst/>
          </a:prstGeom>
          <a:noFill/>
          <a:ln w="38100">
            <a:solidFill>
              <a:srgbClr val="0066FF"/>
            </a:solidFill>
            <a:round/>
            <a:headEnd type="none" w="sm" len="sm"/>
            <a:tailEnd type="none" w="sm" len="sm"/>
          </a:ln>
        </p:spPr>
        <p:txBody>
          <a:bodyPr wrap="none"/>
          <a:lstStyle/>
          <a:p>
            <a:endParaRPr lang="zh-CN" altLang="en-US"/>
          </a:p>
        </p:txBody>
      </p:sp>
      <p:sp>
        <p:nvSpPr>
          <p:cNvPr id="110657" name="Line 65"/>
          <p:cNvSpPr>
            <a:spLocks noChangeShapeType="1"/>
          </p:cNvSpPr>
          <p:nvPr/>
        </p:nvSpPr>
        <p:spPr bwMode="auto">
          <a:xfrm>
            <a:off x="7019925" y="3500438"/>
            <a:ext cx="0" cy="433387"/>
          </a:xfrm>
          <a:prstGeom prst="line">
            <a:avLst/>
          </a:prstGeom>
          <a:noFill/>
          <a:ln w="38100">
            <a:solidFill>
              <a:srgbClr val="00FF00"/>
            </a:solidFill>
            <a:round/>
            <a:headEnd type="none" w="sm" len="sm"/>
            <a:tailEnd type="none" w="sm" len="sm"/>
          </a:ln>
        </p:spPr>
        <p:txBody>
          <a:bodyPr wrap="none"/>
          <a:lstStyle/>
          <a:p>
            <a:endParaRPr lang="zh-CN" altLang="en-US"/>
          </a:p>
        </p:txBody>
      </p:sp>
      <p:sp>
        <p:nvSpPr>
          <p:cNvPr id="110658" name="Line 66"/>
          <p:cNvSpPr>
            <a:spLocks noChangeShapeType="1"/>
          </p:cNvSpPr>
          <p:nvPr/>
        </p:nvSpPr>
        <p:spPr bwMode="auto">
          <a:xfrm flipH="1">
            <a:off x="5795963" y="3933825"/>
            <a:ext cx="1223962" cy="0"/>
          </a:xfrm>
          <a:prstGeom prst="line">
            <a:avLst/>
          </a:prstGeom>
          <a:noFill/>
          <a:ln w="28575">
            <a:solidFill>
              <a:srgbClr val="00FF00"/>
            </a:solidFill>
            <a:round/>
            <a:headEnd type="none" w="sm" len="sm"/>
            <a:tailEnd type="none" w="sm" len="sm"/>
          </a:ln>
        </p:spPr>
        <p:txBody>
          <a:bodyPr wrap="none"/>
          <a:lstStyle/>
          <a:p>
            <a:endParaRPr lang="zh-CN" altLang="en-US"/>
          </a:p>
        </p:txBody>
      </p:sp>
      <p:sp>
        <p:nvSpPr>
          <p:cNvPr id="110659" name="Line 67"/>
          <p:cNvSpPr>
            <a:spLocks noChangeShapeType="1"/>
          </p:cNvSpPr>
          <p:nvPr/>
        </p:nvSpPr>
        <p:spPr bwMode="auto">
          <a:xfrm>
            <a:off x="5795963" y="3933825"/>
            <a:ext cx="0" cy="935038"/>
          </a:xfrm>
          <a:prstGeom prst="line">
            <a:avLst/>
          </a:prstGeom>
          <a:noFill/>
          <a:ln w="38100">
            <a:solidFill>
              <a:srgbClr val="FF3300"/>
            </a:solidFill>
            <a:round/>
            <a:headEnd type="none" w="sm" len="sm"/>
            <a:tailEnd type="none" w="sm" len="sm"/>
          </a:ln>
        </p:spPr>
        <p:txBody>
          <a:bodyPr wrap="none"/>
          <a:lstStyle/>
          <a:p>
            <a:endParaRPr lang="zh-CN" altLang="en-US"/>
          </a:p>
        </p:txBody>
      </p:sp>
      <p:sp>
        <p:nvSpPr>
          <p:cNvPr id="110660" name="Line 68"/>
          <p:cNvSpPr>
            <a:spLocks noChangeShapeType="1"/>
          </p:cNvSpPr>
          <p:nvPr/>
        </p:nvSpPr>
        <p:spPr bwMode="auto">
          <a:xfrm>
            <a:off x="5795963" y="4868863"/>
            <a:ext cx="1223962" cy="0"/>
          </a:xfrm>
          <a:prstGeom prst="line">
            <a:avLst/>
          </a:prstGeom>
          <a:noFill/>
          <a:ln w="38100">
            <a:solidFill>
              <a:srgbClr val="00FF00"/>
            </a:solidFill>
            <a:round/>
            <a:headEnd type="none" w="sm" len="sm"/>
            <a:tailEnd type="none" w="sm" len="sm"/>
          </a:ln>
        </p:spPr>
        <p:txBody>
          <a:bodyPr wrap="none"/>
          <a:lstStyle/>
          <a:p>
            <a:endParaRPr lang="zh-CN" altLang="en-US"/>
          </a:p>
        </p:txBody>
      </p:sp>
      <p:sp>
        <p:nvSpPr>
          <p:cNvPr id="110661" name="Line 69"/>
          <p:cNvSpPr>
            <a:spLocks noChangeShapeType="1"/>
          </p:cNvSpPr>
          <p:nvPr/>
        </p:nvSpPr>
        <p:spPr bwMode="auto">
          <a:xfrm>
            <a:off x="7019925" y="4868863"/>
            <a:ext cx="0" cy="504825"/>
          </a:xfrm>
          <a:prstGeom prst="line">
            <a:avLst/>
          </a:prstGeom>
          <a:noFill/>
          <a:ln w="38100">
            <a:solidFill>
              <a:srgbClr val="00FF00"/>
            </a:solidFill>
            <a:round/>
            <a:headEnd type="none" w="sm" len="sm"/>
            <a:tailEnd type="none" w="sm" len="sm"/>
          </a:ln>
        </p:spPr>
        <p:txBody>
          <a:bodyPr wrap="none"/>
          <a:lstStyle/>
          <a:p>
            <a:endParaRPr lang="zh-CN" altLang="en-US"/>
          </a:p>
        </p:txBody>
      </p:sp>
      <p:sp>
        <p:nvSpPr>
          <p:cNvPr id="110662" name="Line 70"/>
          <p:cNvSpPr>
            <a:spLocks noChangeShapeType="1"/>
          </p:cNvSpPr>
          <p:nvPr/>
        </p:nvSpPr>
        <p:spPr bwMode="auto">
          <a:xfrm>
            <a:off x="7019925" y="5373688"/>
            <a:ext cx="1081088" cy="0"/>
          </a:xfrm>
          <a:prstGeom prst="line">
            <a:avLst/>
          </a:prstGeom>
          <a:noFill/>
          <a:ln w="38100">
            <a:solidFill>
              <a:srgbClr val="0066FF"/>
            </a:solidFill>
            <a:round/>
            <a:headEnd type="none" w="sm" len="sm"/>
            <a:tailEnd type="none" w="sm" len="sm"/>
          </a:ln>
        </p:spPr>
        <p:txBody>
          <a:bodyPr wrap="none"/>
          <a:lstStyle/>
          <a:p>
            <a:endParaRPr lang="zh-CN" altLang="en-US"/>
          </a:p>
        </p:txBody>
      </p:sp>
      <p:sp>
        <p:nvSpPr>
          <p:cNvPr id="110663" name="Line 71"/>
          <p:cNvSpPr>
            <a:spLocks noChangeShapeType="1"/>
          </p:cNvSpPr>
          <p:nvPr/>
        </p:nvSpPr>
        <p:spPr bwMode="auto">
          <a:xfrm>
            <a:off x="8101013" y="5373688"/>
            <a:ext cx="0" cy="431800"/>
          </a:xfrm>
          <a:prstGeom prst="line">
            <a:avLst/>
          </a:prstGeom>
          <a:noFill/>
          <a:ln w="38100">
            <a:solidFill>
              <a:srgbClr val="0066FF"/>
            </a:solidFill>
            <a:round/>
            <a:headEnd type="none" w="sm" len="sm"/>
            <a:tailEnd type="none" w="sm" len="sm"/>
          </a:ln>
        </p:spPr>
        <p:txBody>
          <a:bodyPr wrap="none"/>
          <a:lstStyle/>
          <a:p>
            <a:endParaRPr lang="zh-CN" altLang="en-US"/>
          </a:p>
        </p:txBody>
      </p:sp>
      <p:sp>
        <p:nvSpPr>
          <p:cNvPr id="110664" name="Line 72"/>
          <p:cNvSpPr>
            <a:spLocks noChangeShapeType="1"/>
          </p:cNvSpPr>
          <p:nvPr/>
        </p:nvSpPr>
        <p:spPr bwMode="auto">
          <a:xfrm flipH="1">
            <a:off x="3132138" y="5805488"/>
            <a:ext cx="4968875" cy="0"/>
          </a:xfrm>
          <a:prstGeom prst="line">
            <a:avLst/>
          </a:prstGeom>
          <a:noFill/>
          <a:ln w="38100">
            <a:solidFill>
              <a:srgbClr val="0066FF"/>
            </a:solidFill>
            <a:round/>
            <a:headEnd type="none" w="sm" len="sm"/>
            <a:tailEnd type="none" w="sm" len="sm"/>
          </a:ln>
        </p:spPr>
        <p:txBody>
          <a:bodyPr wrap="none"/>
          <a:lstStyle/>
          <a:p>
            <a:endParaRPr lang="zh-CN" altLang="en-US"/>
          </a:p>
        </p:txBody>
      </p:sp>
      <p:sp>
        <p:nvSpPr>
          <p:cNvPr id="110665" name="Line 73"/>
          <p:cNvSpPr>
            <a:spLocks noChangeShapeType="1"/>
          </p:cNvSpPr>
          <p:nvPr/>
        </p:nvSpPr>
        <p:spPr bwMode="auto">
          <a:xfrm>
            <a:off x="3132138" y="5805488"/>
            <a:ext cx="0" cy="503237"/>
          </a:xfrm>
          <a:prstGeom prst="line">
            <a:avLst/>
          </a:prstGeom>
          <a:noFill/>
          <a:ln w="38100">
            <a:solidFill>
              <a:schemeClr val="tx1"/>
            </a:solidFill>
            <a:round/>
            <a:headEnd type="none" w="sm" len="sm"/>
            <a:tailEnd type="stealth" w="lg" len="lg"/>
          </a:ln>
        </p:spPr>
        <p:txBody>
          <a:bodyPr wrap="none"/>
          <a:lstStyle/>
          <a:p>
            <a:endParaRPr lang="zh-CN" altLang="en-US"/>
          </a:p>
        </p:txBody>
      </p:sp>
      <p:pic>
        <p:nvPicPr>
          <p:cNvPr id="110667" name="Picture 75"/>
          <p:cNvPicPr>
            <a:picLocks noChangeAspect="1" noChangeArrowheads="1"/>
          </p:cNvPicPr>
          <p:nvPr/>
        </p:nvPicPr>
        <p:blipFill>
          <a:blip r:embed="rId3"/>
          <a:srcRect/>
          <a:stretch>
            <a:fillRect/>
          </a:stretch>
        </p:blipFill>
        <p:spPr bwMode="auto">
          <a:xfrm>
            <a:off x="152400" y="152400"/>
            <a:ext cx="8839200" cy="6502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0656"/>
                                        </p:tgtEl>
                                        <p:attrNameLst>
                                          <p:attrName>style.visibility</p:attrName>
                                        </p:attrNameLst>
                                      </p:cBhvr>
                                      <p:to>
                                        <p:strVal val="visible"/>
                                      </p:to>
                                    </p:set>
                                    <p:animEffect transition="in" filter="dissolve">
                                      <p:cBhvr>
                                        <p:cTn id="22" dur="500"/>
                                        <p:tgtEl>
                                          <p:spTgt spid="11065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0657"/>
                                        </p:tgtEl>
                                        <p:attrNameLst>
                                          <p:attrName>style.visibility</p:attrName>
                                        </p:attrNameLst>
                                      </p:cBhvr>
                                      <p:to>
                                        <p:strVal val="visible"/>
                                      </p:to>
                                    </p:set>
                                    <p:animEffect transition="in" filter="dissolve">
                                      <p:cBhvr>
                                        <p:cTn id="27" dur="500"/>
                                        <p:tgtEl>
                                          <p:spTgt spid="11065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10658"/>
                                        </p:tgtEl>
                                        <p:attrNameLst>
                                          <p:attrName>style.visibility</p:attrName>
                                        </p:attrNameLst>
                                      </p:cBhvr>
                                      <p:to>
                                        <p:strVal val="visible"/>
                                      </p:to>
                                    </p:set>
                                    <p:animEffect transition="in" filter="dissolve">
                                      <p:cBhvr>
                                        <p:cTn id="32" dur="500"/>
                                        <p:tgtEl>
                                          <p:spTgt spid="11065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10659"/>
                                        </p:tgtEl>
                                        <p:attrNameLst>
                                          <p:attrName>style.visibility</p:attrName>
                                        </p:attrNameLst>
                                      </p:cBhvr>
                                      <p:to>
                                        <p:strVal val="visible"/>
                                      </p:to>
                                    </p:set>
                                    <p:animEffect transition="in" filter="dissolve">
                                      <p:cBhvr>
                                        <p:cTn id="37" dur="500"/>
                                        <p:tgtEl>
                                          <p:spTgt spid="11065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10660"/>
                                        </p:tgtEl>
                                        <p:attrNameLst>
                                          <p:attrName>style.visibility</p:attrName>
                                        </p:attrNameLst>
                                      </p:cBhvr>
                                      <p:to>
                                        <p:strVal val="visible"/>
                                      </p:to>
                                    </p:set>
                                    <p:animEffect transition="in" filter="dissolve">
                                      <p:cBhvr>
                                        <p:cTn id="42" dur="500"/>
                                        <p:tgtEl>
                                          <p:spTgt spid="11066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10661"/>
                                        </p:tgtEl>
                                        <p:attrNameLst>
                                          <p:attrName>style.visibility</p:attrName>
                                        </p:attrNameLst>
                                      </p:cBhvr>
                                      <p:to>
                                        <p:strVal val="visible"/>
                                      </p:to>
                                    </p:set>
                                    <p:animEffect transition="in" filter="dissolve">
                                      <p:cBhvr>
                                        <p:cTn id="47" dur="500"/>
                                        <p:tgtEl>
                                          <p:spTgt spid="110661"/>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10662"/>
                                        </p:tgtEl>
                                        <p:attrNameLst>
                                          <p:attrName>style.visibility</p:attrName>
                                        </p:attrNameLst>
                                      </p:cBhvr>
                                      <p:to>
                                        <p:strVal val="visible"/>
                                      </p:to>
                                    </p:set>
                                    <p:animEffect transition="in" filter="dissolve">
                                      <p:cBhvr>
                                        <p:cTn id="52" dur="500"/>
                                        <p:tgtEl>
                                          <p:spTgt spid="11066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10663"/>
                                        </p:tgtEl>
                                        <p:attrNameLst>
                                          <p:attrName>style.visibility</p:attrName>
                                        </p:attrNameLst>
                                      </p:cBhvr>
                                      <p:to>
                                        <p:strVal val="visible"/>
                                      </p:to>
                                    </p:set>
                                    <p:animEffect transition="in" filter="dissolve">
                                      <p:cBhvr>
                                        <p:cTn id="57" dur="500"/>
                                        <p:tgtEl>
                                          <p:spTgt spid="110663"/>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10664"/>
                                        </p:tgtEl>
                                        <p:attrNameLst>
                                          <p:attrName>style.visibility</p:attrName>
                                        </p:attrNameLst>
                                      </p:cBhvr>
                                      <p:to>
                                        <p:strVal val="visible"/>
                                      </p:to>
                                    </p:set>
                                    <p:animEffect transition="in" filter="dissolve">
                                      <p:cBhvr>
                                        <p:cTn id="62" dur="500"/>
                                        <p:tgtEl>
                                          <p:spTgt spid="110664"/>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10665"/>
                                        </p:tgtEl>
                                        <p:attrNameLst>
                                          <p:attrName>style.visibility</p:attrName>
                                        </p:attrNameLst>
                                      </p:cBhvr>
                                      <p:to>
                                        <p:strVal val="visible"/>
                                      </p:to>
                                    </p:set>
                                    <p:animEffect transition="in" filter="dissolve">
                                      <p:cBhvr>
                                        <p:cTn id="67" dur="500"/>
                                        <p:tgtEl>
                                          <p:spTgt spid="110665"/>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110667"/>
                                        </p:tgtEl>
                                        <p:attrNameLst>
                                          <p:attrName>style.visibility</p:attrName>
                                        </p:attrNameLst>
                                      </p:cBhvr>
                                      <p:to>
                                        <p:strVal val="visible"/>
                                      </p:to>
                                    </p:set>
                                    <p:animEffect transition="in" filter="dissolve">
                                      <p:cBhvr>
                                        <p:cTn id="72" dur="500"/>
                                        <p:tgtEl>
                                          <p:spTgt spid="110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56" grpId="0" animBg="1"/>
      <p:bldP spid="110657" grpId="0" animBg="1"/>
      <p:bldP spid="110658" grpId="0" animBg="1"/>
      <p:bldP spid="110659" grpId="0" animBg="1"/>
      <p:bldP spid="110660" grpId="0" animBg="1"/>
      <p:bldP spid="110661" grpId="0" animBg="1"/>
      <p:bldP spid="110662" grpId="0" animBg="1"/>
      <p:bldP spid="110663" grpId="0" animBg="1"/>
      <p:bldP spid="110664" grpId="0" animBg="1"/>
      <p:bldP spid="11066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a:noFill/>
        </p:spPr>
        <p:txBody>
          <a:bodyPr/>
          <a:lstStyle/>
          <a:p>
            <a:fld id="{42E3532A-CBB4-445D-B1D4-E0D079A28CE0}" type="slidenum">
              <a:rPr lang="en-US" altLang="zh-CN" smtClean="0"/>
              <a:t>39</a:t>
            </a:fld>
            <a:endParaRPr lang="en-US" altLang="zh-CN"/>
          </a:p>
        </p:txBody>
      </p:sp>
      <p:sp>
        <p:nvSpPr>
          <p:cNvPr id="36867" name="Rectangle 2"/>
          <p:cNvSpPr>
            <a:spLocks noChangeArrowheads="1"/>
          </p:cNvSpPr>
          <p:nvPr/>
        </p:nvSpPr>
        <p:spPr bwMode="auto">
          <a:xfrm>
            <a:off x="179388" y="115888"/>
            <a:ext cx="8713787" cy="822325"/>
          </a:xfrm>
          <a:prstGeom prst="rect">
            <a:avLst/>
          </a:prstGeom>
          <a:solidFill>
            <a:srgbClr val="CCFFFF"/>
          </a:solidFill>
          <a:ln w="12700">
            <a:noFill/>
            <a:miter lim="800000"/>
            <a:headEnd type="none" w="sm" len="sm"/>
            <a:tailEnd type="none" w="sm" len="sm"/>
          </a:ln>
        </p:spPr>
        <p:txBody>
          <a:bodyPr>
            <a:spAutoFit/>
          </a:bodyPr>
          <a:lstStyle/>
          <a:p>
            <a:r>
              <a:rPr lang="zh-CN" altLang="en-US" sz="2400">
                <a:latin typeface="宋体" panose="02010600030101010101" pitchFamily="2" charset="-122"/>
              </a:rPr>
              <a:t>（</a:t>
            </a:r>
            <a:r>
              <a:rPr lang="en-US" altLang="zh-CN" sz="2400">
                <a:latin typeface="宋体" panose="02010600030101010101" pitchFamily="2" charset="-122"/>
              </a:rPr>
              <a:t>2</a:t>
            </a:r>
            <a:r>
              <a:rPr lang="zh-CN" altLang="en-US" sz="2400">
                <a:latin typeface="宋体" panose="02010600030101010101" pitchFamily="2" charset="-122"/>
              </a:rPr>
              <a:t>）软件进行干预，当执行中断处理程序③时，屏蔽二级中断。请图示各个中断处理程序占用的时间段及中断程序完成的次序。</a:t>
            </a:r>
          </a:p>
        </p:txBody>
      </p:sp>
      <p:pic>
        <p:nvPicPr>
          <p:cNvPr id="36868" name="Picture 3"/>
          <p:cNvPicPr>
            <a:picLocks noChangeAspect="1" noChangeArrowheads="1"/>
          </p:cNvPicPr>
          <p:nvPr/>
        </p:nvPicPr>
        <p:blipFill>
          <a:blip r:embed="rId2"/>
          <a:srcRect/>
          <a:stretch>
            <a:fillRect/>
          </a:stretch>
        </p:blipFill>
        <p:spPr bwMode="auto">
          <a:xfrm>
            <a:off x="468313" y="2636838"/>
            <a:ext cx="8208962" cy="2470150"/>
          </a:xfrm>
          <a:prstGeom prst="rect">
            <a:avLst/>
          </a:prstGeom>
          <a:noFill/>
          <a:ln w="9525">
            <a:noFill/>
            <a:miter lim="800000"/>
            <a:headEnd/>
            <a:tailEnd/>
          </a:ln>
        </p:spPr>
      </p:pic>
      <p:sp>
        <p:nvSpPr>
          <p:cNvPr id="36869" name="Rectangle 6"/>
          <p:cNvSpPr>
            <a:spLocks noChangeArrowheads="1"/>
          </p:cNvSpPr>
          <p:nvPr/>
        </p:nvSpPr>
        <p:spPr bwMode="auto">
          <a:xfrm>
            <a:off x="179388" y="981075"/>
            <a:ext cx="8713787" cy="1187450"/>
          </a:xfrm>
          <a:prstGeom prst="rect">
            <a:avLst/>
          </a:prstGeom>
          <a:solidFill>
            <a:srgbClr val="CCFFFF"/>
          </a:solidFill>
          <a:ln w="12700">
            <a:noFill/>
            <a:miter lim="800000"/>
            <a:headEnd type="none" w="sm" len="sm"/>
            <a:tailEnd type="none" w="sm" len="sm"/>
          </a:ln>
        </p:spPr>
        <p:txBody>
          <a:bodyPr>
            <a:spAutoFit/>
          </a:bodyPr>
          <a:lstStyle/>
          <a:p>
            <a:r>
              <a:rPr lang="en-US" altLang="zh-CN" sz="2400">
                <a:latin typeface="宋体" panose="02010600030101010101" pitchFamily="2" charset="-122"/>
              </a:rPr>
              <a:t>   </a:t>
            </a:r>
            <a:r>
              <a:rPr lang="zh-CN" altLang="en-US" sz="2400">
                <a:latin typeface="宋体" panose="02010600030101010101" pitchFamily="2" charset="-122"/>
              </a:rPr>
              <a:t>由于进行了软件干预，当执行</a:t>
            </a:r>
            <a:r>
              <a:rPr lang="zh-CN" altLang="en-US" sz="2400"/>
              <a:t>③</a:t>
            </a:r>
            <a:r>
              <a:rPr lang="zh-CN" altLang="en-US" sz="2400">
                <a:latin typeface="宋体" panose="02010600030101010101" pitchFamily="2" charset="-122"/>
              </a:rPr>
              <a:t>的中断服务时，不能被</a:t>
            </a:r>
            <a:r>
              <a:rPr lang="zh-CN" altLang="en-US" sz="2400"/>
              <a:t>②</a:t>
            </a:r>
            <a:r>
              <a:rPr lang="zh-CN" altLang="en-US" sz="2400">
                <a:latin typeface="宋体" panose="02010600030101010101" pitchFamily="2" charset="-122"/>
              </a:rPr>
              <a:t>打断。所以中断处理程序占用的时间段及中断程序完成的次序如图。</a:t>
            </a:r>
          </a:p>
        </p:txBody>
      </p:sp>
      <p:pic>
        <p:nvPicPr>
          <p:cNvPr id="115742" name="Picture 30"/>
          <p:cNvPicPr>
            <a:picLocks noChangeAspect="1" noChangeArrowheads="1"/>
          </p:cNvPicPr>
          <p:nvPr/>
        </p:nvPicPr>
        <p:blipFill>
          <a:blip r:embed="rId3"/>
          <a:srcRect/>
          <a:stretch>
            <a:fillRect/>
          </a:stretch>
        </p:blipFill>
        <p:spPr bwMode="auto">
          <a:xfrm>
            <a:off x="179388" y="2276475"/>
            <a:ext cx="8713787" cy="43926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5742"/>
                                        </p:tgtEl>
                                        <p:attrNameLst>
                                          <p:attrName>style.visibility</p:attrName>
                                        </p:attrNameLst>
                                      </p:cBhvr>
                                      <p:to>
                                        <p:strVal val="visible"/>
                                      </p:to>
                                    </p:set>
                                    <p:animEffect transition="in" filter="dissolve">
                                      <p:cBhvr>
                                        <p:cTn id="7" dur="500"/>
                                        <p:tgtEl>
                                          <p:spTgt spid="115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a:noFill/>
        </p:spPr>
        <p:txBody>
          <a:bodyPr/>
          <a:lstStyle/>
          <a:p>
            <a:fld id="{A86603C6-325A-43F7-B43D-944F9E59163F}" type="slidenum">
              <a:rPr lang="en-US" altLang="zh-CN" smtClean="0"/>
              <a:t>40</a:t>
            </a:fld>
            <a:endParaRPr lang="en-US" altLang="zh-CN"/>
          </a:p>
        </p:txBody>
      </p:sp>
      <p:sp>
        <p:nvSpPr>
          <p:cNvPr id="37891" name="Rectangle 4"/>
          <p:cNvSpPr>
            <a:spLocks noChangeArrowheads="1"/>
          </p:cNvSpPr>
          <p:nvPr/>
        </p:nvSpPr>
        <p:spPr bwMode="auto">
          <a:xfrm>
            <a:off x="179388" y="115888"/>
            <a:ext cx="8713787" cy="2306955"/>
          </a:xfrm>
          <a:prstGeom prst="rect">
            <a:avLst/>
          </a:prstGeom>
          <a:solidFill>
            <a:srgbClr val="CCFFFF"/>
          </a:solidFill>
          <a:ln w="12700">
            <a:noFill/>
            <a:miter lim="800000"/>
            <a:headEnd type="none" w="sm" len="sm"/>
            <a:tailEnd type="none" w="sm" len="sm"/>
          </a:ln>
        </p:spPr>
        <p:txBody>
          <a:bodyPr>
            <a:spAutoFit/>
          </a:bodyPr>
          <a:lstStyle/>
          <a:p>
            <a:r>
              <a:rPr lang="en-US" altLang="zh-CN" sz="2400" dirty="0">
                <a:latin typeface="宋体" panose="02010600030101010101" pitchFamily="2" charset="-122"/>
              </a:rPr>
              <a:t>【</a:t>
            </a:r>
            <a:r>
              <a:rPr lang="zh-CN" altLang="en-US" sz="2400" dirty="0">
                <a:latin typeface="宋体" panose="02010600030101010101" pitchFamily="2" charset="-122"/>
              </a:rPr>
              <a:t>例</a:t>
            </a:r>
            <a:r>
              <a:rPr lang="en-US" altLang="zh-CN" sz="2400" dirty="0">
                <a:latin typeface="宋体" panose="02010600030101010101" pitchFamily="2" charset="-122"/>
              </a:rPr>
              <a:t>】</a:t>
            </a:r>
            <a:r>
              <a:rPr lang="zh-CN" altLang="en-US" sz="2400" dirty="0">
                <a:latin typeface="宋体" panose="02010600030101010101" pitchFamily="2" charset="-122"/>
              </a:rPr>
              <a:t>一个</a:t>
            </a:r>
            <a:r>
              <a:rPr lang="en-US" altLang="zh-CN" sz="2400" dirty="0">
                <a:latin typeface="宋体" panose="02010600030101010101" pitchFamily="2" charset="-122"/>
              </a:rPr>
              <a:t>8</a:t>
            </a:r>
            <a:r>
              <a:rPr lang="zh-CN" altLang="en-US" sz="2400" dirty="0">
                <a:latin typeface="宋体" panose="02010600030101010101" pitchFamily="2" charset="-122"/>
              </a:rPr>
              <a:t>级中断响应从高到低的优先顺序是：</a:t>
            </a:r>
            <a:r>
              <a:rPr lang="en-US" altLang="zh-CN" sz="2400" dirty="0">
                <a:latin typeface="宋体" panose="02010600030101010101" pitchFamily="2" charset="-122"/>
              </a:rPr>
              <a:t>1-2-3-4-5-6-7-8</a:t>
            </a:r>
            <a:r>
              <a:rPr lang="zh-CN" altLang="en-US" sz="2400" dirty="0">
                <a:latin typeface="宋体" panose="02010600030101010101" pitchFamily="2" charset="-122"/>
              </a:rPr>
              <a:t>，设置中断屏蔽寄存器后，中断程序的处理优先顺序是：</a:t>
            </a:r>
            <a:r>
              <a:rPr lang="en-US" altLang="zh-CN" sz="2400" dirty="0">
                <a:latin typeface="宋体" panose="02010600030101010101" pitchFamily="2" charset="-122"/>
              </a:rPr>
              <a:t>1-3-5-7-2-4-6-8</a:t>
            </a:r>
            <a:r>
              <a:rPr lang="zh-CN" altLang="en-US" sz="2400" dirty="0">
                <a:latin typeface="宋体" panose="02010600030101010101" pitchFamily="2" charset="-122"/>
              </a:rPr>
              <a:t>，如果</a:t>
            </a:r>
            <a:r>
              <a:rPr lang="en-US" altLang="zh-CN" sz="2400" dirty="0">
                <a:latin typeface="宋体" panose="02010600030101010101" pitchFamily="2" charset="-122"/>
              </a:rPr>
              <a:t>CPU</a:t>
            </a:r>
            <a:r>
              <a:rPr lang="zh-CN" altLang="en-US" sz="2400" dirty="0">
                <a:latin typeface="宋体" panose="02010600030101010101" pitchFamily="2" charset="-122"/>
              </a:rPr>
              <a:t>在执行一个应用程序时有</a:t>
            </a:r>
            <a:r>
              <a:rPr lang="en-US" altLang="zh-CN" sz="2400" dirty="0">
                <a:latin typeface="宋体" panose="02010600030101010101" pitchFamily="2" charset="-122"/>
              </a:rPr>
              <a:t>5</a:t>
            </a:r>
            <a:r>
              <a:rPr lang="zh-CN" altLang="en-US" sz="2400" dirty="0">
                <a:latin typeface="宋体" panose="02010600030101010101" pitchFamily="2" charset="-122"/>
              </a:rPr>
              <a:t>、</a:t>
            </a:r>
            <a:r>
              <a:rPr lang="en-US" altLang="zh-CN" sz="2400" dirty="0">
                <a:latin typeface="宋体" panose="02010600030101010101" pitchFamily="2" charset="-122"/>
              </a:rPr>
              <a:t>6</a:t>
            </a:r>
            <a:r>
              <a:rPr lang="zh-CN" altLang="en-US" sz="2400" dirty="0">
                <a:latin typeface="宋体" panose="02010600030101010101" pitchFamily="2" charset="-122"/>
              </a:rPr>
              <a:t>、</a:t>
            </a:r>
            <a:r>
              <a:rPr lang="en-US" altLang="zh-CN" sz="2400" dirty="0">
                <a:latin typeface="宋体" panose="02010600030101010101" pitchFamily="2" charset="-122"/>
              </a:rPr>
              <a:t>7</a:t>
            </a:r>
            <a:r>
              <a:rPr lang="zh-CN" altLang="en-US" sz="2400" dirty="0">
                <a:latin typeface="宋体" panose="02010600030101010101" pitchFamily="2" charset="-122"/>
              </a:rPr>
              <a:t>、</a:t>
            </a:r>
            <a:r>
              <a:rPr lang="en-US" altLang="zh-CN" sz="2400" dirty="0">
                <a:latin typeface="宋体" panose="02010600030101010101" pitchFamily="2" charset="-122"/>
              </a:rPr>
              <a:t>8</a:t>
            </a:r>
            <a:r>
              <a:rPr lang="zh-CN" altLang="en-US" sz="2400" dirty="0">
                <a:latin typeface="宋体" panose="02010600030101010101" pitchFamily="2" charset="-122"/>
              </a:rPr>
              <a:t>级</a:t>
            </a:r>
            <a:r>
              <a:rPr lang="en-US" altLang="zh-CN" sz="2400" dirty="0">
                <a:latin typeface="宋体" panose="02010600030101010101" pitchFamily="2" charset="-122"/>
              </a:rPr>
              <a:t>4</a:t>
            </a:r>
            <a:r>
              <a:rPr lang="zh-CN" altLang="en-US" sz="2400" dirty="0">
                <a:latin typeface="宋体" panose="02010600030101010101" pitchFamily="2" charset="-122"/>
              </a:rPr>
              <a:t>个中断同时到达，</a:t>
            </a:r>
            <a:r>
              <a:rPr lang="en-US" altLang="zh-CN" sz="2400" dirty="0">
                <a:latin typeface="宋体" panose="02010600030101010101" pitchFamily="2" charset="-122"/>
              </a:rPr>
              <a:t>CPU</a:t>
            </a:r>
            <a:r>
              <a:rPr lang="zh-CN" altLang="en-US" sz="2400" dirty="0">
                <a:latin typeface="宋体" panose="02010600030101010101" pitchFamily="2" charset="-122"/>
              </a:rPr>
              <a:t>在按优先顺序处理到第</a:t>
            </a:r>
            <a:r>
              <a:rPr lang="en-US" altLang="zh-CN" sz="2400" dirty="0">
                <a:latin typeface="宋体" panose="02010600030101010101" pitchFamily="2" charset="-122"/>
              </a:rPr>
              <a:t>3</a:t>
            </a:r>
            <a:r>
              <a:rPr lang="zh-CN" altLang="en-US" sz="2400" dirty="0">
                <a:latin typeface="宋体" panose="02010600030101010101" pitchFamily="2" charset="-122"/>
              </a:rPr>
              <a:t>个中断请求的过程中又有一个</a:t>
            </a:r>
            <a:r>
              <a:rPr lang="en-US" altLang="zh-CN" sz="2400" dirty="0">
                <a:latin typeface="宋体" panose="02010600030101010101" pitchFamily="2" charset="-122"/>
              </a:rPr>
              <a:t>3</a:t>
            </a:r>
            <a:r>
              <a:rPr lang="zh-CN" altLang="en-US" sz="2400" dirty="0">
                <a:latin typeface="宋体" panose="02010600030101010101" pitchFamily="2" charset="-122"/>
              </a:rPr>
              <a:t>中断请求到达</a:t>
            </a:r>
            <a:r>
              <a:rPr lang="en-US" altLang="zh-CN" sz="2400" dirty="0">
                <a:latin typeface="宋体" panose="02010600030101010101" pitchFamily="2" charset="-122"/>
              </a:rPr>
              <a:t>CPU</a:t>
            </a:r>
            <a:r>
              <a:rPr lang="zh-CN" altLang="en-US" sz="2400" dirty="0">
                <a:latin typeface="宋体" panose="02010600030101010101" pitchFamily="2" charset="-122"/>
              </a:rPr>
              <a:t>，试画出</a:t>
            </a:r>
            <a:r>
              <a:rPr lang="en-US" altLang="zh-CN" sz="2400" dirty="0">
                <a:latin typeface="宋体" panose="02010600030101010101" pitchFamily="2" charset="-122"/>
              </a:rPr>
              <a:t>CPU</a:t>
            </a:r>
            <a:r>
              <a:rPr lang="zh-CN" altLang="en-US" sz="2400" dirty="0">
                <a:latin typeface="宋体" panose="02010600030101010101" pitchFamily="2" charset="-122"/>
              </a:rPr>
              <a:t>执行这些中断处理程序的顺序示意图。</a:t>
            </a:r>
          </a:p>
        </p:txBody>
      </p:sp>
      <p:pic>
        <p:nvPicPr>
          <p:cNvPr id="37941" name="Picture 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030" y="2549406"/>
            <a:ext cx="8385642"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12"/>
          </p:nvPr>
        </p:nvSpPr>
        <p:spPr>
          <a:noFill/>
        </p:spPr>
        <p:txBody>
          <a:bodyPr/>
          <a:lstStyle/>
          <a:p>
            <a:fld id="{66FDF782-FC5E-4D00-BE1C-829C645CE769}" type="slidenum">
              <a:rPr lang="en-US" altLang="zh-CN" smtClean="0"/>
              <a:t>41</a:t>
            </a:fld>
            <a:endParaRPr lang="en-US" altLang="zh-CN"/>
          </a:p>
        </p:txBody>
      </p:sp>
      <p:sp>
        <p:nvSpPr>
          <p:cNvPr id="39939" name="Rectangle 2"/>
          <p:cNvSpPr>
            <a:spLocks noChangeArrowheads="1"/>
          </p:cNvSpPr>
          <p:nvPr/>
        </p:nvSpPr>
        <p:spPr bwMode="auto">
          <a:xfrm>
            <a:off x="250825" y="188913"/>
            <a:ext cx="8740775" cy="3046095"/>
          </a:xfrm>
          <a:prstGeom prst="rect">
            <a:avLst/>
          </a:prstGeom>
          <a:solidFill>
            <a:srgbClr val="CCFFFF"/>
          </a:solidFill>
          <a:ln w="12700">
            <a:noFill/>
            <a:miter lim="800000"/>
            <a:headEnd type="none" w="sm" len="sm"/>
            <a:tailEnd type="none" w="sm" len="sm"/>
          </a:ln>
        </p:spPr>
        <p:txBody>
          <a:bodyPr>
            <a:spAutoFit/>
          </a:bodyPr>
          <a:lstStyle/>
          <a:p>
            <a:r>
              <a:rPr lang="en-US" altLang="zh-CN" sz="2400" dirty="0">
                <a:latin typeface="宋体" panose="02010600030101010101" pitchFamily="2" charset="-122"/>
              </a:rPr>
              <a:t>P2</a:t>
            </a:r>
            <a:r>
              <a:rPr lang="en-US" sz="2400" dirty="0">
                <a:latin typeface="宋体" panose="02010600030101010101" pitchFamily="2" charset="-122"/>
              </a:rPr>
              <a:t>77-</a:t>
            </a:r>
            <a:r>
              <a:rPr lang="en-US" altLang="zh-CN" sz="2400" dirty="0">
                <a:latin typeface="宋体" panose="02010600030101010101" pitchFamily="2" charset="-122"/>
              </a:rPr>
              <a:t>8 </a:t>
            </a:r>
            <a:r>
              <a:rPr lang="zh-CN" altLang="en-US" sz="2400" dirty="0">
                <a:latin typeface="宋体" panose="02010600030101010101" pitchFamily="2" charset="-122"/>
              </a:rPr>
              <a:t>设某机有</a:t>
            </a:r>
            <a:r>
              <a:rPr lang="en-US" altLang="zh-CN" sz="2400" dirty="0">
                <a:latin typeface="宋体" panose="02010600030101010101" pitchFamily="2" charset="-122"/>
              </a:rPr>
              <a:t>5</a:t>
            </a:r>
            <a:r>
              <a:rPr lang="zh-CN" altLang="en-US" sz="2400" dirty="0">
                <a:latin typeface="宋体" panose="02010600030101010101" pitchFamily="2" charset="-122"/>
              </a:rPr>
              <a:t>级中断：</a:t>
            </a:r>
            <a:r>
              <a:rPr lang="en-US" altLang="zh-CN" sz="2400" dirty="0">
                <a:latin typeface="宋体" panose="02010600030101010101" pitchFamily="2" charset="-122"/>
              </a:rPr>
              <a:t>L0</a:t>
            </a:r>
            <a:r>
              <a:rPr lang="en-US" altLang="zh-CN" sz="2400" dirty="0">
                <a:latin typeface="Times New Roman" panose="02020603050405020304" charset="0"/>
              </a:rPr>
              <a:t>—</a:t>
            </a:r>
            <a:r>
              <a:rPr lang="en-US" altLang="zh-CN" sz="2400" dirty="0">
                <a:latin typeface="宋体" panose="02010600030101010101" pitchFamily="2" charset="-122"/>
              </a:rPr>
              <a:t>L4,</a:t>
            </a:r>
            <a:r>
              <a:rPr lang="zh-CN" altLang="en-US" sz="2400" dirty="0">
                <a:latin typeface="宋体" panose="02010600030101010101" pitchFamily="2" charset="-122"/>
              </a:rPr>
              <a:t>优先次序为</a:t>
            </a:r>
            <a:r>
              <a:rPr lang="en-US" altLang="zh-CN" sz="2400" dirty="0">
                <a:latin typeface="宋体" panose="02010600030101010101" pitchFamily="2" charset="-122"/>
              </a:rPr>
              <a:t>L0</a:t>
            </a:r>
            <a:r>
              <a:rPr lang="zh-CN" altLang="en-US" sz="2400" dirty="0">
                <a:latin typeface="宋体" panose="02010600030101010101" pitchFamily="2" charset="-122"/>
              </a:rPr>
              <a:t>最高</a:t>
            </a:r>
            <a:r>
              <a:rPr lang="en-US" altLang="zh-CN" sz="2400" dirty="0">
                <a:latin typeface="宋体" panose="02010600030101010101" pitchFamily="2" charset="-122"/>
              </a:rPr>
              <a:t>,L1</a:t>
            </a:r>
            <a:r>
              <a:rPr lang="zh-CN" altLang="en-US" sz="2400" dirty="0">
                <a:latin typeface="宋体" panose="02010600030101010101" pitchFamily="2" charset="-122"/>
              </a:rPr>
              <a:t>次之</a:t>
            </a:r>
            <a:r>
              <a:rPr lang="en-US" altLang="zh-CN" sz="2400" dirty="0">
                <a:latin typeface="宋体" panose="02010600030101010101" pitchFamily="2" charset="-122"/>
              </a:rPr>
              <a:t>,L4</a:t>
            </a:r>
            <a:r>
              <a:rPr lang="zh-CN" altLang="en-US" sz="2400" dirty="0">
                <a:latin typeface="宋体" panose="02010600030101010101" pitchFamily="2" charset="-122"/>
              </a:rPr>
              <a:t>最低。现要求将中断程序的处理次序改为</a:t>
            </a:r>
            <a:r>
              <a:rPr lang="en-US" altLang="zh-CN" sz="2400" dirty="0">
                <a:latin typeface="宋体" panose="02010600030101010101" pitchFamily="2" charset="-122"/>
              </a:rPr>
              <a:t>L1-L3-L0-L4-L2</a:t>
            </a:r>
            <a:r>
              <a:rPr lang="zh-CN" altLang="en-US" sz="2400" dirty="0">
                <a:latin typeface="宋体" panose="02010600030101010101" pitchFamily="2" charset="-122"/>
              </a:rPr>
              <a:t>，试问：</a:t>
            </a:r>
          </a:p>
          <a:p>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）下表中各级中断处理程序的各中断级屏蔽值如何设置（每级对应一位，该位为</a:t>
            </a:r>
            <a:r>
              <a:rPr lang="zh-CN" altLang="en-US" sz="2400" dirty="0">
                <a:latin typeface="Times New Roman" panose="02020603050405020304" charset="0"/>
              </a:rPr>
              <a:t>“</a:t>
            </a:r>
            <a:r>
              <a:rPr lang="en-US" altLang="zh-CN" sz="2400" dirty="0">
                <a:latin typeface="宋体" panose="02010600030101010101" pitchFamily="2" charset="-122"/>
              </a:rPr>
              <a:t>0</a:t>
            </a:r>
            <a:r>
              <a:rPr lang="en-US" altLang="zh-CN" sz="2400" dirty="0">
                <a:latin typeface="Times New Roman" panose="02020603050405020304" charset="0"/>
              </a:rPr>
              <a:t>”</a:t>
            </a:r>
            <a:r>
              <a:rPr lang="zh-CN" altLang="en-US" sz="2400" dirty="0">
                <a:latin typeface="宋体" panose="02010600030101010101" pitchFamily="2" charset="-122"/>
              </a:rPr>
              <a:t>表示允许中断，该位为</a:t>
            </a:r>
            <a:r>
              <a:rPr lang="zh-CN" altLang="en-US" sz="2400" dirty="0">
                <a:latin typeface="Times New Roman" panose="02020603050405020304" charset="0"/>
              </a:rPr>
              <a:t>“</a:t>
            </a:r>
            <a:r>
              <a:rPr lang="en-US" altLang="zh-CN" sz="2400" dirty="0">
                <a:latin typeface="宋体" panose="02010600030101010101" pitchFamily="2" charset="-122"/>
              </a:rPr>
              <a:t>1</a:t>
            </a:r>
            <a:r>
              <a:rPr lang="en-US" altLang="zh-CN" sz="2400" dirty="0">
                <a:latin typeface="Times New Roman" panose="02020603050405020304" charset="0"/>
              </a:rPr>
              <a:t>”</a:t>
            </a:r>
            <a:r>
              <a:rPr lang="zh-CN" altLang="en-US" sz="2400" dirty="0">
                <a:latin typeface="宋体" panose="02010600030101010101" pitchFamily="2" charset="-122"/>
              </a:rPr>
              <a:t>表示中断屏蔽）？</a:t>
            </a:r>
          </a:p>
          <a:p>
            <a:r>
              <a:rPr lang="zh-CN" altLang="en-US" sz="2400" dirty="0">
                <a:latin typeface="宋体" panose="02010600030101010101" pitchFamily="2" charset="-122"/>
              </a:rPr>
              <a:t>（</a:t>
            </a:r>
            <a:r>
              <a:rPr lang="en-US" altLang="zh-CN" sz="2400" dirty="0">
                <a:latin typeface="宋体" panose="02010600030101010101" pitchFamily="2" charset="-122"/>
              </a:rPr>
              <a:t>2</a:t>
            </a:r>
            <a:r>
              <a:rPr lang="zh-CN" altLang="en-US" sz="2400" dirty="0">
                <a:latin typeface="宋体" panose="02010600030101010101" pitchFamily="2" charset="-122"/>
              </a:rPr>
              <a:t>）若这</a:t>
            </a:r>
            <a:r>
              <a:rPr lang="en-US" altLang="zh-CN" sz="2400" dirty="0">
                <a:latin typeface="宋体" panose="02010600030101010101" pitchFamily="2" charset="-122"/>
              </a:rPr>
              <a:t>5</a:t>
            </a:r>
            <a:r>
              <a:rPr lang="zh-CN" altLang="en-US" sz="2400" dirty="0">
                <a:latin typeface="宋体" panose="02010600030101010101" pitchFamily="2" charset="-122"/>
              </a:rPr>
              <a:t>级中断同时都发出中断请求，按更改后的次序画出进入各级中断处理程序的过程示意图。</a:t>
            </a:r>
          </a:p>
        </p:txBody>
      </p:sp>
      <p:graphicFrame>
        <p:nvGraphicFramePr>
          <p:cNvPr id="135275" name="Group 107"/>
          <p:cNvGraphicFramePr>
            <a:graphicFrameLocks noGrp="1"/>
          </p:cNvGraphicFramePr>
          <p:nvPr/>
        </p:nvGraphicFramePr>
        <p:xfrm>
          <a:off x="304800" y="3276600"/>
          <a:ext cx="8534400" cy="3219450"/>
        </p:xfrm>
        <a:graphic>
          <a:graphicData uri="http://schemas.openxmlformats.org/drawingml/2006/table">
            <a:tbl>
              <a:tblPr/>
              <a:tblGrid>
                <a:gridCol w="2533650">
                  <a:extLst>
                    <a:ext uri="{9D8B030D-6E8A-4147-A177-3AD203B41FA5}">
                      <a16:colId xmlns:a16="http://schemas.microsoft.com/office/drawing/2014/main" val="20000"/>
                    </a:ext>
                  </a:extLst>
                </a:gridCol>
                <a:gridCol w="1182688">
                  <a:extLst>
                    <a:ext uri="{9D8B030D-6E8A-4147-A177-3AD203B41FA5}">
                      <a16:colId xmlns:a16="http://schemas.microsoft.com/office/drawing/2014/main" val="20001"/>
                    </a:ext>
                  </a:extLst>
                </a:gridCol>
                <a:gridCol w="1185862">
                  <a:extLst>
                    <a:ext uri="{9D8B030D-6E8A-4147-A177-3AD203B41FA5}">
                      <a16:colId xmlns:a16="http://schemas.microsoft.com/office/drawing/2014/main" val="20002"/>
                    </a:ext>
                  </a:extLst>
                </a:gridCol>
                <a:gridCol w="1182688">
                  <a:extLst>
                    <a:ext uri="{9D8B030D-6E8A-4147-A177-3AD203B41FA5}">
                      <a16:colId xmlns:a16="http://schemas.microsoft.com/office/drawing/2014/main" val="20003"/>
                    </a:ext>
                  </a:extLst>
                </a:gridCol>
                <a:gridCol w="1263650">
                  <a:extLst>
                    <a:ext uri="{9D8B030D-6E8A-4147-A177-3AD203B41FA5}">
                      <a16:colId xmlns:a16="http://schemas.microsoft.com/office/drawing/2014/main" val="20004"/>
                    </a:ext>
                  </a:extLst>
                </a:gridCol>
                <a:gridCol w="1185862">
                  <a:extLst>
                    <a:ext uri="{9D8B030D-6E8A-4147-A177-3AD203B41FA5}">
                      <a16:colId xmlns:a16="http://schemas.microsoft.com/office/drawing/2014/main" val="20005"/>
                    </a:ext>
                  </a:extLst>
                </a:gridCol>
              </a:tblGrid>
              <a:tr h="533400">
                <a:tc rowSpan="2">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中断处理程序</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gridSpan="5">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中断处理级屏蔽位</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584200">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L0</a:t>
                      </a: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L1</a:t>
                      </a: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L2</a:t>
                      </a: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L3</a:t>
                      </a: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L4</a:t>
                      </a: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级</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101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L0</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L1</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L2</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L3</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L4</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中断处理程序</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35256" name="Rectangle 88"/>
          <p:cNvSpPr>
            <a:spLocks noChangeArrowheads="1"/>
          </p:cNvSpPr>
          <p:nvPr/>
        </p:nvSpPr>
        <p:spPr bwMode="auto">
          <a:xfrm>
            <a:off x="2895600" y="4343400"/>
            <a:ext cx="5638800" cy="457200"/>
          </a:xfrm>
          <a:prstGeom prst="rect">
            <a:avLst/>
          </a:prstGeom>
          <a:noFill/>
          <a:ln w="12700">
            <a:noFill/>
            <a:miter lim="800000"/>
            <a:headEnd type="none" w="sm" len="sm"/>
            <a:tailEnd type="none" w="sm" len="sm"/>
          </a:ln>
        </p:spPr>
        <p:txBody>
          <a:bodyPr>
            <a:spAutoFit/>
          </a:bodyPr>
          <a:lstStyle/>
          <a:p>
            <a:r>
              <a:rPr lang="en-US" altLang="zh-CN" sz="2400">
                <a:latin typeface="宋体" panose="02010600030101010101" pitchFamily="2" charset="-122"/>
              </a:rPr>
              <a:t>  </a:t>
            </a:r>
            <a:r>
              <a:rPr lang="en-US" altLang="zh-CN" sz="2400">
                <a:solidFill>
                  <a:srgbClr val="FF0000"/>
                </a:solidFill>
                <a:latin typeface="宋体" panose="02010600030101010101" pitchFamily="2" charset="-122"/>
              </a:rPr>
              <a:t>1       </a:t>
            </a:r>
            <a:r>
              <a:rPr lang="en-US" altLang="zh-CN" sz="2400">
                <a:latin typeface="宋体" panose="02010600030101010101" pitchFamily="2" charset="-122"/>
              </a:rPr>
              <a:t>0</a:t>
            </a:r>
            <a:r>
              <a:rPr lang="en-US" altLang="zh-CN" sz="2400">
                <a:solidFill>
                  <a:srgbClr val="FF0000"/>
                </a:solidFill>
                <a:latin typeface="宋体" panose="02010600030101010101" pitchFamily="2" charset="-122"/>
              </a:rPr>
              <a:t>       1       </a:t>
            </a:r>
            <a:r>
              <a:rPr lang="en-US" altLang="zh-CN" sz="2400">
                <a:latin typeface="宋体" panose="02010600030101010101" pitchFamily="2" charset="-122"/>
              </a:rPr>
              <a:t>0</a:t>
            </a:r>
            <a:r>
              <a:rPr lang="en-US" altLang="zh-CN" sz="2400">
                <a:solidFill>
                  <a:srgbClr val="FF0000"/>
                </a:solidFill>
                <a:latin typeface="宋体" panose="02010600030101010101" pitchFamily="2" charset="-122"/>
              </a:rPr>
              <a:t>       1</a:t>
            </a:r>
          </a:p>
        </p:txBody>
      </p:sp>
      <p:sp>
        <p:nvSpPr>
          <p:cNvPr id="135276" name="Rectangle 108"/>
          <p:cNvSpPr>
            <a:spLocks noChangeArrowheads="1"/>
          </p:cNvSpPr>
          <p:nvPr/>
        </p:nvSpPr>
        <p:spPr bwMode="auto">
          <a:xfrm>
            <a:off x="2895600" y="4724400"/>
            <a:ext cx="5638800" cy="457200"/>
          </a:xfrm>
          <a:prstGeom prst="rect">
            <a:avLst/>
          </a:prstGeom>
          <a:noFill/>
          <a:ln w="12700">
            <a:noFill/>
            <a:miter lim="800000"/>
            <a:headEnd type="none" w="sm" len="sm"/>
            <a:tailEnd type="none" w="sm" len="sm"/>
          </a:ln>
        </p:spPr>
        <p:txBody>
          <a:bodyPr>
            <a:spAutoFit/>
          </a:bodyPr>
          <a:lstStyle/>
          <a:p>
            <a:r>
              <a:rPr lang="en-US" altLang="zh-CN" sz="2400">
                <a:solidFill>
                  <a:srgbClr val="FF0000"/>
                </a:solidFill>
                <a:latin typeface="宋体" panose="02010600030101010101" pitchFamily="2" charset="-122"/>
              </a:rPr>
              <a:t>  1       1       1       1       1</a:t>
            </a:r>
          </a:p>
        </p:txBody>
      </p:sp>
      <p:sp>
        <p:nvSpPr>
          <p:cNvPr id="135277" name="Rectangle 109"/>
          <p:cNvSpPr>
            <a:spLocks noChangeArrowheads="1"/>
          </p:cNvSpPr>
          <p:nvPr/>
        </p:nvSpPr>
        <p:spPr bwMode="auto">
          <a:xfrm>
            <a:off x="2895600" y="5105400"/>
            <a:ext cx="5638800" cy="457200"/>
          </a:xfrm>
          <a:prstGeom prst="rect">
            <a:avLst/>
          </a:prstGeom>
          <a:noFill/>
          <a:ln w="12700">
            <a:noFill/>
            <a:miter lim="800000"/>
            <a:headEnd type="none" w="sm" len="sm"/>
            <a:tailEnd type="none" w="sm" len="sm"/>
          </a:ln>
        </p:spPr>
        <p:txBody>
          <a:bodyPr>
            <a:spAutoFit/>
          </a:bodyPr>
          <a:lstStyle/>
          <a:p>
            <a:r>
              <a:rPr lang="en-US" altLang="zh-CN" sz="2400">
                <a:solidFill>
                  <a:srgbClr val="FF0000"/>
                </a:solidFill>
                <a:latin typeface="宋体" panose="02010600030101010101" pitchFamily="2" charset="-122"/>
              </a:rPr>
              <a:t>  </a:t>
            </a:r>
            <a:r>
              <a:rPr lang="en-US" altLang="zh-CN" sz="2400">
                <a:latin typeface="宋体" panose="02010600030101010101" pitchFamily="2" charset="-122"/>
              </a:rPr>
              <a:t>0       0</a:t>
            </a:r>
            <a:r>
              <a:rPr lang="en-US" altLang="zh-CN" sz="2400">
                <a:solidFill>
                  <a:srgbClr val="FF0000"/>
                </a:solidFill>
                <a:latin typeface="宋体" panose="02010600030101010101" pitchFamily="2" charset="-122"/>
              </a:rPr>
              <a:t>       1       </a:t>
            </a:r>
            <a:r>
              <a:rPr lang="en-US" altLang="zh-CN" sz="2400">
                <a:latin typeface="宋体" panose="02010600030101010101" pitchFamily="2" charset="-122"/>
              </a:rPr>
              <a:t>0       0</a:t>
            </a:r>
          </a:p>
        </p:txBody>
      </p:sp>
      <p:sp>
        <p:nvSpPr>
          <p:cNvPr id="135278" name="Rectangle 110"/>
          <p:cNvSpPr>
            <a:spLocks noChangeArrowheads="1"/>
          </p:cNvSpPr>
          <p:nvPr/>
        </p:nvSpPr>
        <p:spPr bwMode="auto">
          <a:xfrm>
            <a:off x="2895600" y="5486400"/>
            <a:ext cx="5638800" cy="457200"/>
          </a:xfrm>
          <a:prstGeom prst="rect">
            <a:avLst/>
          </a:prstGeom>
          <a:noFill/>
          <a:ln w="12700">
            <a:noFill/>
            <a:miter lim="800000"/>
            <a:headEnd type="none" w="sm" len="sm"/>
            <a:tailEnd type="none" w="sm" len="sm"/>
          </a:ln>
        </p:spPr>
        <p:txBody>
          <a:bodyPr>
            <a:spAutoFit/>
          </a:bodyPr>
          <a:lstStyle/>
          <a:p>
            <a:r>
              <a:rPr lang="en-US" altLang="zh-CN" sz="2400">
                <a:solidFill>
                  <a:srgbClr val="FF0000"/>
                </a:solidFill>
                <a:latin typeface="宋体" panose="02010600030101010101" pitchFamily="2" charset="-122"/>
              </a:rPr>
              <a:t>  1       </a:t>
            </a:r>
            <a:r>
              <a:rPr lang="en-US" altLang="zh-CN" sz="2400">
                <a:latin typeface="宋体" panose="02010600030101010101" pitchFamily="2" charset="-122"/>
              </a:rPr>
              <a:t>0</a:t>
            </a:r>
            <a:r>
              <a:rPr lang="en-US" altLang="zh-CN" sz="2400">
                <a:solidFill>
                  <a:srgbClr val="FF0000"/>
                </a:solidFill>
                <a:latin typeface="宋体" panose="02010600030101010101" pitchFamily="2" charset="-122"/>
              </a:rPr>
              <a:t>       1       1       1</a:t>
            </a:r>
          </a:p>
        </p:txBody>
      </p:sp>
      <p:sp>
        <p:nvSpPr>
          <p:cNvPr id="135279" name="Rectangle 111"/>
          <p:cNvSpPr>
            <a:spLocks noChangeArrowheads="1"/>
          </p:cNvSpPr>
          <p:nvPr/>
        </p:nvSpPr>
        <p:spPr bwMode="auto">
          <a:xfrm>
            <a:off x="2895600" y="5867400"/>
            <a:ext cx="5638800" cy="457200"/>
          </a:xfrm>
          <a:prstGeom prst="rect">
            <a:avLst/>
          </a:prstGeom>
          <a:noFill/>
          <a:ln w="12700">
            <a:noFill/>
            <a:miter lim="800000"/>
            <a:headEnd type="none" w="sm" len="sm"/>
            <a:tailEnd type="none" w="sm" len="sm"/>
          </a:ln>
        </p:spPr>
        <p:txBody>
          <a:bodyPr>
            <a:spAutoFit/>
          </a:bodyPr>
          <a:lstStyle/>
          <a:p>
            <a:r>
              <a:rPr lang="en-US" altLang="zh-CN" sz="2400">
                <a:solidFill>
                  <a:srgbClr val="FF0000"/>
                </a:solidFill>
                <a:latin typeface="宋体" panose="02010600030101010101" pitchFamily="2" charset="-122"/>
              </a:rPr>
              <a:t>  </a:t>
            </a:r>
            <a:r>
              <a:rPr lang="en-US" altLang="zh-CN" sz="2400">
                <a:latin typeface="宋体" panose="02010600030101010101" pitchFamily="2" charset="-122"/>
              </a:rPr>
              <a:t>0</a:t>
            </a:r>
            <a:r>
              <a:rPr lang="en-US" altLang="zh-CN" sz="2400">
                <a:solidFill>
                  <a:srgbClr val="FF0000"/>
                </a:solidFill>
                <a:latin typeface="宋体" panose="02010600030101010101" pitchFamily="2" charset="-122"/>
              </a:rPr>
              <a:t>       </a:t>
            </a:r>
            <a:r>
              <a:rPr lang="en-US" altLang="zh-CN" sz="2400">
                <a:latin typeface="宋体" panose="02010600030101010101" pitchFamily="2" charset="-122"/>
              </a:rPr>
              <a:t>0</a:t>
            </a:r>
            <a:r>
              <a:rPr lang="en-US" altLang="zh-CN" sz="2400">
                <a:solidFill>
                  <a:srgbClr val="FF0000"/>
                </a:solidFill>
                <a:latin typeface="宋体" panose="02010600030101010101" pitchFamily="2" charset="-122"/>
              </a:rPr>
              <a:t>       1       </a:t>
            </a:r>
            <a:r>
              <a:rPr lang="en-US" altLang="zh-CN" sz="2400">
                <a:latin typeface="宋体" panose="02010600030101010101" pitchFamily="2" charset="-122"/>
              </a:rPr>
              <a:t>0</a:t>
            </a:r>
            <a:r>
              <a:rPr lang="en-US" altLang="zh-CN" sz="2400">
                <a:solidFill>
                  <a:srgbClr val="FF0000"/>
                </a:solidFill>
                <a:latin typeface="宋体" panose="02010600030101010101" pitchFamily="2" charset="-122"/>
              </a:rPr>
              <a:t>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276"/>
                                        </p:tgtEl>
                                        <p:attrNameLst>
                                          <p:attrName>style.visibility</p:attrName>
                                        </p:attrNameLst>
                                      </p:cBhvr>
                                      <p:to>
                                        <p:strVal val="visible"/>
                                      </p:to>
                                    </p:set>
                                    <p:animEffect transition="in" filter="dissolve">
                                      <p:cBhvr>
                                        <p:cTn id="7" dur="500"/>
                                        <p:tgtEl>
                                          <p:spTgt spid="1352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5278"/>
                                        </p:tgtEl>
                                        <p:attrNameLst>
                                          <p:attrName>style.visibility</p:attrName>
                                        </p:attrNameLst>
                                      </p:cBhvr>
                                      <p:to>
                                        <p:strVal val="visible"/>
                                      </p:to>
                                    </p:set>
                                    <p:animEffect transition="in" filter="dissolve">
                                      <p:cBhvr>
                                        <p:cTn id="12" dur="500"/>
                                        <p:tgtEl>
                                          <p:spTgt spid="13527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5256"/>
                                        </p:tgtEl>
                                        <p:attrNameLst>
                                          <p:attrName>style.visibility</p:attrName>
                                        </p:attrNameLst>
                                      </p:cBhvr>
                                      <p:to>
                                        <p:strVal val="visible"/>
                                      </p:to>
                                    </p:set>
                                    <p:animEffect transition="in" filter="dissolve">
                                      <p:cBhvr>
                                        <p:cTn id="17" dur="500"/>
                                        <p:tgtEl>
                                          <p:spTgt spid="13525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5279"/>
                                        </p:tgtEl>
                                        <p:attrNameLst>
                                          <p:attrName>style.visibility</p:attrName>
                                        </p:attrNameLst>
                                      </p:cBhvr>
                                      <p:to>
                                        <p:strVal val="visible"/>
                                      </p:to>
                                    </p:set>
                                    <p:animEffect transition="in" filter="dissolve">
                                      <p:cBhvr>
                                        <p:cTn id="22" dur="500"/>
                                        <p:tgtEl>
                                          <p:spTgt spid="13527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5277"/>
                                        </p:tgtEl>
                                        <p:attrNameLst>
                                          <p:attrName>style.visibility</p:attrName>
                                        </p:attrNameLst>
                                      </p:cBhvr>
                                      <p:to>
                                        <p:strVal val="visible"/>
                                      </p:to>
                                    </p:set>
                                    <p:animEffect transition="in" filter="dissolve">
                                      <p:cBhvr>
                                        <p:cTn id="27" dur="500"/>
                                        <p:tgtEl>
                                          <p:spTgt spid="135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256" grpId="0" autoUpdateAnimBg="0"/>
      <p:bldP spid="135276" grpId="0" autoUpdateAnimBg="0"/>
      <p:bldP spid="135277" grpId="0" autoUpdateAnimBg="0"/>
      <p:bldP spid="135278" grpId="0" autoUpdateAnimBg="0"/>
      <p:bldP spid="135279"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2"/>
          </p:nvPr>
        </p:nvSpPr>
        <p:spPr>
          <a:noFill/>
        </p:spPr>
        <p:txBody>
          <a:bodyPr/>
          <a:lstStyle/>
          <a:p>
            <a:fld id="{5292BCCD-20F1-4ACB-B1BE-782FD21BBD87}" type="slidenum">
              <a:rPr lang="en-US" altLang="zh-CN" smtClean="0"/>
              <a:t>42</a:t>
            </a:fld>
            <a:endParaRPr lang="en-US" altLang="zh-CN"/>
          </a:p>
        </p:txBody>
      </p:sp>
      <p:sp>
        <p:nvSpPr>
          <p:cNvPr id="40963" name="Rectangle 2"/>
          <p:cNvSpPr>
            <a:spLocks noChangeArrowheads="1"/>
          </p:cNvSpPr>
          <p:nvPr/>
        </p:nvSpPr>
        <p:spPr bwMode="auto">
          <a:xfrm>
            <a:off x="250825" y="188913"/>
            <a:ext cx="8740775" cy="1552575"/>
          </a:xfrm>
          <a:prstGeom prst="rect">
            <a:avLst/>
          </a:prstGeom>
          <a:solidFill>
            <a:srgbClr val="CCFFFF"/>
          </a:solidFill>
          <a:ln w="12700">
            <a:noFill/>
            <a:miter lim="800000"/>
            <a:headEnd type="none" w="sm" len="sm"/>
            <a:tailEnd type="none" w="sm" len="sm"/>
          </a:ln>
        </p:spPr>
        <p:txBody>
          <a:bodyPr>
            <a:spAutoFit/>
          </a:bodyPr>
          <a:lstStyle/>
          <a:p>
            <a:r>
              <a:rPr lang="en-US" altLang="zh-CN" sz="2400">
                <a:latin typeface="宋体" panose="02010600030101010101" pitchFamily="2" charset="-122"/>
              </a:rPr>
              <a:t>5</a:t>
            </a:r>
            <a:r>
              <a:rPr lang="zh-CN" altLang="en-US" sz="2400">
                <a:latin typeface="宋体" panose="02010600030101010101" pitchFamily="2" charset="-122"/>
              </a:rPr>
              <a:t>级中断</a:t>
            </a:r>
            <a:r>
              <a:rPr lang="en-US" altLang="zh-CN" sz="2400">
                <a:latin typeface="宋体" panose="02010600030101010101" pitchFamily="2" charset="-122"/>
              </a:rPr>
              <a:t>L0</a:t>
            </a:r>
            <a:r>
              <a:rPr lang="en-US" altLang="zh-CN" sz="2400">
                <a:latin typeface="Times New Roman" panose="02020603050405020304" charset="0"/>
              </a:rPr>
              <a:t>—</a:t>
            </a:r>
            <a:r>
              <a:rPr lang="en-US" altLang="zh-CN" sz="2400">
                <a:latin typeface="宋体" panose="02010600030101010101" pitchFamily="2" charset="-122"/>
              </a:rPr>
              <a:t>L4,</a:t>
            </a:r>
            <a:r>
              <a:rPr lang="zh-CN" altLang="en-US" sz="2400">
                <a:latin typeface="宋体" panose="02010600030101010101" pitchFamily="2" charset="-122"/>
              </a:rPr>
              <a:t>优先次序为</a:t>
            </a:r>
            <a:r>
              <a:rPr lang="en-US" altLang="zh-CN" sz="2400">
                <a:latin typeface="宋体" panose="02010600030101010101" pitchFamily="2" charset="-122"/>
              </a:rPr>
              <a:t>L0</a:t>
            </a:r>
            <a:r>
              <a:rPr lang="zh-CN" altLang="en-US" sz="2400">
                <a:latin typeface="宋体" panose="02010600030101010101" pitchFamily="2" charset="-122"/>
              </a:rPr>
              <a:t>最高</a:t>
            </a:r>
            <a:r>
              <a:rPr lang="en-US" altLang="zh-CN" sz="2400">
                <a:latin typeface="宋体" panose="02010600030101010101" pitchFamily="2" charset="-122"/>
              </a:rPr>
              <a:t>,L1</a:t>
            </a:r>
            <a:r>
              <a:rPr lang="zh-CN" altLang="en-US" sz="2400">
                <a:latin typeface="宋体" panose="02010600030101010101" pitchFamily="2" charset="-122"/>
              </a:rPr>
              <a:t>次之</a:t>
            </a:r>
            <a:r>
              <a:rPr lang="en-US" altLang="zh-CN" sz="2400">
                <a:latin typeface="宋体" panose="02010600030101010101" pitchFamily="2" charset="-122"/>
              </a:rPr>
              <a:t>,L4</a:t>
            </a:r>
            <a:r>
              <a:rPr lang="zh-CN" altLang="en-US" sz="2400">
                <a:latin typeface="宋体" panose="02010600030101010101" pitchFamily="2" charset="-122"/>
              </a:rPr>
              <a:t>最低。现要求将中断程序的处理次序改为</a:t>
            </a:r>
            <a:r>
              <a:rPr lang="en-US" altLang="zh-CN" sz="2400">
                <a:latin typeface="宋体" panose="02010600030101010101" pitchFamily="2" charset="-122"/>
              </a:rPr>
              <a:t>L1-L3-L0-L4-L2</a:t>
            </a:r>
            <a:r>
              <a:rPr lang="zh-CN" altLang="en-US" sz="2400">
                <a:latin typeface="宋体" panose="02010600030101010101" pitchFamily="2" charset="-122"/>
              </a:rPr>
              <a:t>，若这</a:t>
            </a:r>
            <a:r>
              <a:rPr lang="en-US" altLang="zh-CN" sz="2400">
                <a:latin typeface="宋体" panose="02010600030101010101" pitchFamily="2" charset="-122"/>
              </a:rPr>
              <a:t>5</a:t>
            </a:r>
            <a:r>
              <a:rPr lang="zh-CN" altLang="en-US" sz="2400">
                <a:latin typeface="宋体" panose="02010600030101010101" pitchFamily="2" charset="-122"/>
              </a:rPr>
              <a:t>级中断同时都发出中断请求，按更改后的次序画出进入各级中断处理程序的过程示意图。</a:t>
            </a:r>
          </a:p>
        </p:txBody>
      </p:sp>
      <p:pic>
        <p:nvPicPr>
          <p:cNvPr id="675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755" y="1983358"/>
            <a:ext cx="8084669"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207" y="310167"/>
            <a:ext cx="8364696" cy="6215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圆角矩形 2"/>
          <p:cNvSpPr/>
          <p:nvPr/>
        </p:nvSpPr>
        <p:spPr bwMode="auto">
          <a:xfrm>
            <a:off x="339207" y="3212977"/>
            <a:ext cx="3944761" cy="3312368"/>
          </a:xfrm>
          <a:prstGeom prst="roundRect">
            <a:avLst/>
          </a:prstGeom>
          <a:noFill/>
          <a:ln w="57150" cap="flat"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 name="矩形标注 3"/>
          <p:cNvSpPr/>
          <p:nvPr/>
        </p:nvSpPr>
        <p:spPr bwMode="auto">
          <a:xfrm>
            <a:off x="199049" y="1052736"/>
            <a:ext cx="2808312" cy="1368152"/>
          </a:xfrm>
          <a:prstGeom prst="wedgeRectCallout">
            <a:avLst>
              <a:gd name="adj1" fmla="val -13936"/>
              <a:gd name="adj2" fmla="val 99470"/>
            </a:avLst>
          </a:prstGeom>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vert="horz" wrap="none" lIns="91440" tIns="45720" rIns="91440" bIns="45720" numCol="1" rtlCol="0" anchor="t" anchorCtr="0" compatLnSpc="1"/>
          <a:lstStyle/>
          <a:p>
            <a:pPr lvl="0" algn="ct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中断响应</a:t>
            </a:r>
            <a:endParaRPr lang="en-US" altLang="zh-CN"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lvl="0" algn="ct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硬件优先级</a:t>
            </a:r>
          </a:p>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2" name="圆角矩形 11"/>
          <p:cNvSpPr/>
          <p:nvPr/>
        </p:nvSpPr>
        <p:spPr bwMode="auto">
          <a:xfrm>
            <a:off x="5222591" y="3230720"/>
            <a:ext cx="3299833" cy="3312368"/>
          </a:xfrm>
          <a:prstGeom prst="roundRect">
            <a:avLst/>
          </a:prstGeom>
          <a:noFill/>
          <a:ln w="57150" cap="flat"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矩形标注 12"/>
          <p:cNvSpPr/>
          <p:nvPr/>
        </p:nvSpPr>
        <p:spPr bwMode="auto">
          <a:xfrm>
            <a:off x="6012160" y="1268760"/>
            <a:ext cx="2872731" cy="1406292"/>
          </a:xfrm>
          <a:prstGeom prst="wedgeRectCallout">
            <a:avLst>
              <a:gd name="adj1" fmla="val -19491"/>
              <a:gd name="adj2" fmla="val 82333"/>
            </a:avLst>
          </a:prstGeom>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vert="horz" wrap="none" lIns="91440" tIns="45720" rIns="91440" bIns="45720" numCol="1" rtlCol="0" anchor="t" anchorCtr="0" compatLnSpc="1"/>
          <a:lstStyle/>
          <a:p>
            <a:pPr lvl="0" algn="ct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中断处理</a:t>
            </a:r>
            <a:endParaRPr lang="en-US" altLang="zh-CN"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lvl="0" algn="ct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软件优先级</a:t>
            </a:r>
          </a:p>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4" name="矩形 13"/>
          <p:cNvSpPr/>
          <p:nvPr/>
        </p:nvSpPr>
        <p:spPr>
          <a:xfrm>
            <a:off x="23838" y="39142"/>
            <a:ext cx="9036496" cy="1005788"/>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rPr>
              <a:t>  </a:t>
            </a:r>
            <a:r>
              <a:rPr lang="zh-CN" altLang="en-US" sz="24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当同时有多个中断源请求中断时，按中断响应次序响应中断；</a:t>
            </a:r>
            <a:endParaRPr lang="en-US" altLang="zh-CN" sz="24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130000"/>
              </a:lnSpc>
            </a:pPr>
            <a:r>
              <a:rPr lang="zh-CN" altLang="en-US" sz="24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进入中断服务程序后，按中断处理次序决定是否响应更高级的中断</a:t>
            </a:r>
            <a:r>
              <a:rPr lang="zh-CN" altLang="en-US" sz="2400" b="1" dirty="0">
                <a:solidFill>
                  <a:srgbClr val="FF0000"/>
                </a:solidFill>
                <a:latin typeface="微软雅黑" panose="020B0503020204020204" pitchFamily="34" charset="-122"/>
                <a:ea typeface="微软雅黑" panose="020B0503020204020204" pitchFamily="34" charset="-122"/>
              </a:rPr>
              <a:t>。</a:t>
            </a:r>
            <a:endParaRPr kumimoji="1" lang="zh-CN" altLang="en-US"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2" grpId="0" animBg="1"/>
      <p:bldP spid="13" grpId="0" animBg="1"/>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noFill/>
        </p:spPr>
        <p:txBody>
          <a:bodyPr/>
          <a:lstStyle/>
          <a:p>
            <a:fld id="{9ED96ADB-CA8A-49B9-9BEE-A6BCC2A755DE}" type="slidenum">
              <a:rPr lang="en-US" altLang="zh-CN" smtClean="0"/>
              <a:t>44</a:t>
            </a:fld>
            <a:endParaRPr lang="en-US" altLang="zh-CN"/>
          </a:p>
        </p:txBody>
      </p:sp>
      <p:sp>
        <p:nvSpPr>
          <p:cNvPr id="6" name="Rectangle 5"/>
          <p:cNvSpPr>
            <a:spLocks noChangeArrowheads="1"/>
          </p:cNvSpPr>
          <p:nvPr/>
        </p:nvSpPr>
        <p:spPr bwMode="auto">
          <a:xfrm>
            <a:off x="107950" y="141163"/>
            <a:ext cx="8890000" cy="1198880"/>
          </a:xfrm>
          <a:prstGeom prst="rect">
            <a:avLst/>
          </a:prstGeom>
        </p:spPr>
        <p:style>
          <a:lnRef idx="1">
            <a:schemeClr val="accent2"/>
          </a:lnRef>
          <a:fillRef idx="2">
            <a:schemeClr val="accent2"/>
          </a:fillRef>
          <a:effectRef idx="1">
            <a:schemeClr val="accent2"/>
          </a:effectRef>
          <a:fontRef idx="minor">
            <a:schemeClr val="dk1"/>
          </a:fontRef>
        </p:style>
        <p:txBody>
          <a:bodyPr anchor="ctr">
            <a:spAutoFit/>
          </a:bodyPr>
          <a:lstStyle/>
          <a:p>
            <a:r>
              <a:rPr lang="zh-CN" altLang="zh-CN" sz="2400" dirty="0">
                <a:solidFill>
                  <a:srgbClr val="FF0000"/>
                </a:solidFill>
                <a:latin typeface="微软雅黑" panose="020B0503020204020204" pitchFamily="34" charset="-122"/>
                <a:ea typeface="微软雅黑" panose="020B0503020204020204" pitchFamily="34" charset="-122"/>
              </a:rPr>
              <a:t>练习题：</a:t>
            </a:r>
            <a:r>
              <a:rPr lang="zh-CN" altLang="zh-CN" sz="2400" dirty="0">
                <a:latin typeface="微软雅黑" panose="020B0503020204020204" pitchFamily="34" charset="-122"/>
                <a:ea typeface="微软雅黑" panose="020B0503020204020204" pitchFamily="34" charset="-122"/>
              </a:rPr>
              <a:t>设某机有四个中断源</a:t>
            </a:r>
            <a:r>
              <a:rPr lang="en-US" altLang="zh-CN" sz="2400" dirty="0">
                <a:latin typeface="微软雅黑" panose="020B0503020204020204" pitchFamily="34" charset="-122"/>
                <a:ea typeface="微软雅黑" panose="020B0503020204020204" pitchFamily="34" charset="-122"/>
              </a:rPr>
              <a:t>A</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B</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D</a:t>
            </a:r>
            <a:r>
              <a:rPr lang="zh-CN" altLang="zh-CN" sz="2400" dirty="0">
                <a:latin typeface="微软雅黑" panose="020B0503020204020204" pitchFamily="34" charset="-122"/>
                <a:ea typeface="微软雅黑" panose="020B0503020204020204" pitchFamily="34" charset="-122"/>
              </a:rPr>
              <a:t>，其硬件排队优先次序为</a:t>
            </a:r>
            <a:r>
              <a:rPr lang="en-US" altLang="zh-CN" sz="2400" dirty="0">
                <a:latin typeface="微软雅黑" panose="020B0503020204020204" pitchFamily="34" charset="-122"/>
                <a:ea typeface="微软雅黑" panose="020B0503020204020204" pitchFamily="34" charset="-122"/>
              </a:rPr>
              <a:t>A,B,C,D</a:t>
            </a:r>
            <a:r>
              <a:rPr lang="zh-CN" altLang="zh-CN" sz="2400" dirty="0">
                <a:latin typeface="微软雅黑" panose="020B0503020204020204" pitchFamily="34" charset="-122"/>
                <a:ea typeface="微软雅黑" panose="020B0503020204020204" pitchFamily="34" charset="-122"/>
              </a:rPr>
              <a:t>，现要求将中断处理次序改为</a:t>
            </a:r>
            <a:r>
              <a:rPr lang="en-US" altLang="zh-CN" sz="2400" dirty="0">
                <a:latin typeface="微软雅黑" panose="020B0503020204020204" pitchFamily="34" charset="-122"/>
                <a:ea typeface="微软雅黑" panose="020B0503020204020204" pitchFamily="34" charset="-122"/>
              </a:rPr>
              <a:t>D,A,C,B</a:t>
            </a:r>
            <a:r>
              <a:rPr lang="zh-CN"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）写出每个中断源对应的屏蔽字。</a:t>
            </a:r>
            <a:endParaRPr lang="zh-CN" altLang="en-US" sz="2400" dirty="0">
              <a:latin typeface="微软雅黑" panose="020B0503020204020204" pitchFamily="34" charset="-122"/>
              <a:ea typeface="微软雅黑" panose="020B0503020204020204" pitchFamily="34" charset="-122"/>
            </a:endParaRPr>
          </a:p>
        </p:txBody>
      </p:sp>
      <p:sp>
        <p:nvSpPr>
          <p:cNvPr id="7" name="Rectangle 5"/>
          <p:cNvSpPr>
            <a:spLocks noChangeArrowheads="1"/>
          </p:cNvSpPr>
          <p:nvPr/>
        </p:nvSpPr>
        <p:spPr bwMode="auto">
          <a:xfrm>
            <a:off x="152400" y="3318083"/>
            <a:ext cx="8801100" cy="830997"/>
          </a:xfrm>
          <a:prstGeom prst="rect">
            <a:avLst/>
          </a:prstGeom>
        </p:spPr>
        <p:style>
          <a:lnRef idx="1">
            <a:schemeClr val="accent2"/>
          </a:lnRef>
          <a:fillRef idx="2">
            <a:schemeClr val="accent2"/>
          </a:fillRef>
          <a:effectRef idx="1">
            <a:schemeClr val="accent2"/>
          </a:effectRef>
          <a:fontRef idx="minor">
            <a:schemeClr val="dk1"/>
          </a:fontRef>
        </p:style>
        <p:txBody>
          <a:bodyPr anchor="ctr">
            <a:spAutoFit/>
          </a:bodyPr>
          <a:lstStyle/>
          <a:p>
            <a:pPr>
              <a:defRPr/>
            </a:pP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zh-CN" sz="2400" dirty="0">
                <a:latin typeface="微软雅黑" panose="020B0503020204020204" pitchFamily="34" charset="-122"/>
                <a:ea typeface="微软雅黑" panose="020B0503020204020204" pitchFamily="34" charset="-122"/>
              </a:rPr>
              <a:t>）按下图时间轴给出的四个中断源的请求时刻，画出</a:t>
            </a:r>
            <a:r>
              <a:rPr lang="en-US" altLang="zh-CN" sz="2400" dirty="0">
                <a:latin typeface="微软雅黑" panose="020B0503020204020204" pitchFamily="34" charset="-122"/>
                <a:ea typeface="微软雅黑" panose="020B0503020204020204" pitchFamily="34" charset="-122"/>
              </a:rPr>
              <a:t>CPU</a:t>
            </a:r>
            <a:r>
              <a:rPr lang="zh-CN" altLang="zh-CN" sz="2400" dirty="0">
                <a:latin typeface="微软雅黑" panose="020B0503020204020204" pitchFamily="34" charset="-122"/>
                <a:ea typeface="微软雅黑" panose="020B0503020204020204" pitchFamily="34" charset="-122"/>
              </a:rPr>
              <a:t>执行程序的轨迹。设每个中断源的中断服务程序时间均为</a:t>
            </a:r>
            <a:r>
              <a:rPr lang="en-US" altLang="zh-CN" sz="2400" dirty="0">
                <a:latin typeface="微软雅黑" panose="020B0503020204020204" pitchFamily="34" charset="-122"/>
                <a:ea typeface="微软雅黑" panose="020B0503020204020204" pitchFamily="34" charset="-122"/>
              </a:rPr>
              <a:t>20s</a:t>
            </a:r>
            <a:r>
              <a:rPr lang="zh-CN" altLang="zh-CN" sz="2400" dirty="0">
                <a:latin typeface="微软雅黑" panose="020B0503020204020204" pitchFamily="34" charset="-122"/>
                <a:ea typeface="微软雅黑" panose="020B0503020204020204" pitchFamily="34" charset="-122"/>
              </a:rPr>
              <a:t>。</a:t>
            </a:r>
            <a:endParaRPr lang="zh-CN" altLang="en-US" sz="2400" dirty="0">
              <a:latin typeface="宋体" panose="02010600030101010101" pitchFamily="2" charset="-122"/>
            </a:endParaRPr>
          </a:p>
        </p:txBody>
      </p:sp>
      <p:pic>
        <p:nvPicPr>
          <p:cNvPr id="655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412776"/>
            <a:ext cx="7704856" cy="1872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4293097"/>
            <a:ext cx="7128792"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393478"/>
            <a:ext cx="7992888" cy="1909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4293096"/>
            <a:ext cx="8208912" cy="237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noFill/>
        </p:spPr>
        <p:txBody>
          <a:bodyPr/>
          <a:lstStyle/>
          <a:p>
            <a:fld id="{9ED96ADB-CA8A-49B9-9BEE-A6BCC2A755DE}" type="slidenum">
              <a:rPr lang="en-US" altLang="zh-CN" smtClean="0"/>
              <a:t>45</a:t>
            </a:fld>
            <a:endParaRPr lang="en-US" altLang="zh-CN"/>
          </a:p>
        </p:txBody>
      </p:sp>
      <p:pic>
        <p:nvPicPr>
          <p:cNvPr id="50179" name="Picture 4"/>
          <p:cNvPicPr>
            <a:picLocks noChangeAspect="1" noChangeArrowheads="1"/>
          </p:cNvPicPr>
          <p:nvPr/>
        </p:nvPicPr>
        <p:blipFill>
          <a:blip r:embed="rId2"/>
          <a:srcRect/>
          <a:stretch>
            <a:fillRect/>
          </a:stretch>
        </p:blipFill>
        <p:spPr bwMode="auto">
          <a:xfrm>
            <a:off x="152400" y="1678742"/>
            <a:ext cx="8801100" cy="1600200"/>
          </a:xfrm>
          <a:prstGeom prst="rect">
            <a:avLst/>
          </a:prstGeom>
          <a:noFill/>
          <a:ln w="12700">
            <a:noFill/>
            <a:miter lim="800000"/>
            <a:headEnd type="none" w="sm" len="sm"/>
            <a:tailEnd type="none" w="sm" len="sm"/>
          </a:ln>
          <a:effectLst/>
        </p:spPr>
      </p:pic>
      <p:sp>
        <p:nvSpPr>
          <p:cNvPr id="6" name="Rectangle 5"/>
          <p:cNvSpPr>
            <a:spLocks noChangeArrowheads="1"/>
          </p:cNvSpPr>
          <p:nvPr/>
        </p:nvSpPr>
        <p:spPr bwMode="auto">
          <a:xfrm>
            <a:off x="107950" y="124619"/>
            <a:ext cx="8890000" cy="1476375"/>
          </a:xfrm>
          <a:prstGeom prst="rect">
            <a:avLst/>
          </a:prstGeom>
        </p:spPr>
        <p:style>
          <a:lnRef idx="1">
            <a:schemeClr val="accent2"/>
          </a:lnRef>
          <a:fillRef idx="2">
            <a:schemeClr val="accent2"/>
          </a:fillRef>
          <a:effectRef idx="1">
            <a:schemeClr val="accent2"/>
          </a:effectRef>
          <a:fontRef idx="minor">
            <a:schemeClr val="dk1"/>
          </a:fontRef>
        </p:style>
        <p:txBody>
          <a:bodyPr anchor="ctr">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rPr>
              <a:t>练习题：</a:t>
            </a:r>
            <a:r>
              <a:rPr lang="zh-CN" altLang="en-US" dirty="0">
                <a:latin typeface="微软雅黑" panose="020B0503020204020204" pitchFamily="34" charset="-122"/>
                <a:ea typeface="微软雅黑" panose="020B0503020204020204" pitchFamily="34" charset="-122"/>
              </a:rPr>
              <a:t>某计算机的外部设备具有五级中断功能，中断响应次序基本上由硬件排队电路决定，中断响应从高到低的优先顺序是：</a:t>
            </a:r>
            <a:r>
              <a:rPr lang="en-US" altLang="zh-CN" dirty="0">
                <a:latin typeface="微软雅黑" panose="020B0503020204020204" pitchFamily="34" charset="-122"/>
                <a:ea typeface="微软雅黑" panose="020B0503020204020204" pitchFamily="34" charset="-122"/>
              </a:rPr>
              <a:t>1→2→3→4→5</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spcBef>
                <a:spcPts val="0"/>
              </a:spcBef>
              <a:defRPr/>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）通过软件进行干预，将中断程序的处理次序改为：</a:t>
            </a:r>
            <a:r>
              <a:rPr lang="en-US" altLang="zh-CN" dirty="0">
                <a:latin typeface="微软雅黑" panose="020B0503020204020204" pitchFamily="34" charset="-122"/>
                <a:ea typeface="微软雅黑" panose="020B0503020204020204" pitchFamily="34" charset="-122"/>
              </a:rPr>
              <a:t>1→3→5→2→4</a:t>
            </a:r>
            <a:r>
              <a:rPr lang="zh-CN" altLang="en-US" dirty="0">
                <a:latin typeface="微软雅黑" panose="020B0503020204020204" pitchFamily="34" charset="-122"/>
                <a:ea typeface="微软雅黑" panose="020B0503020204020204" pitchFamily="34" charset="-122"/>
              </a:rPr>
              <a:t>，如何设置各中断级屏蔽值（每级对应一位，该位为“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表示允许中断，该位为“</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表示中断屏蔽）。</a:t>
            </a:r>
          </a:p>
        </p:txBody>
      </p:sp>
      <p:sp>
        <p:nvSpPr>
          <p:cNvPr id="7" name="Rectangle 5"/>
          <p:cNvSpPr>
            <a:spLocks noChangeArrowheads="1"/>
          </p:cNvSpPr>
          <p:nvPr/>
        </p:nvSpPr>
        <p:spPr bwMode="auto">
          <a:xfrm>
            <a:off x="152400" y="3289300"/>
            <a:ext cx="8801100" cy="708025"/>
          </a:xfrm>
          <a:prstGeom prst="rect">
            <a:avLst/>
          </a:prstGeom>
        </p:spPr>
        <p:style>
          <a:lnRef idx="1">
            <a:schemeClr val="accent2"/>
          </a:lnRef>
          <a:fillRef idx="2">
            <a:schemeClr val="accent2"/>
          </a:fillRef>
          <a:effectRef idx="1">
            <a:schemeClr val="accent2"/>
          </a:effectRef>
          <a:fontRef idx="minor">
            <a:schemeClr val="dk1"/>
          </a:fontRef>
        </p:style>
        <p:txBody>
          <a:bodyPr anchor="ctr">
            <a:spAutoFit/>
          </a:bodyPr>
          <a:lstStyle/>
          <a:p>
            <a:pPr>
              <a:defRPr/>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）设所有</a:t>
            </a:r>
            <a:r>
              <a:rPr lang="zh-CN" altLang="en-US" dirty="0">
                <a:latin typeface="微软雅黑" panose="020B0503020204020204" pitchFamily="34" charset="-122"/>
                <a:ea typeface="微软雅黑" panose="020B0503020204020204" pitchFamily="34" charset="-122"/>
              </a:rPr>
              <a:t>中断处理</a:t>
            </a:r>
            <a:r>
              <a:rPr lang="zh-CN" altLang="en-US" sz="2000" dirty="0">
                <a:latin typeface="微软雅黑" panose="020B0503020204020204" pitchFamily="34" charset="-122"/>
                <a:ea typeface="微软雅黑" panose="020B0503020204020204" pitchFamily="34" charset="-122"/>
              </a:rPr>
              <a:t>程序的执行时间相同，均为</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，试画出</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响应这些中断的顺序示意图。</a:t>
            </a:r>
            <a:endParaRPr lang="zh-CN" altLang="en-US" sz="2400" dirty="0">
              <a:latin typeface="微软雅黑" panose="020B0503020204020204" pitchFamily="34" charset="-122"/>
              <a:ea typeface="微软雅黑" panose="020B0503020204020204" pitchFamily="34" charset="-122"/>
            </a:endParaRPr>
          </a:p>
        </p:txBody>
      </p:sp>
      <p:pic>
        <p:nvPicPr>
          <p:cNvPr id="50182" name="Picture 5"/>
          <p:cNvPicPr>
            <a:picLocks noChangeAspect="1" noChangeArrowheads="1"/>
          </p:cNvPicPr>
          <p:nvPr/>
        </p:nvPicPr>
        <p:blipFill>
          <a:blip r:embed="rId3"/>
          <a:srcRect/>
          <a:stretch>
            <a:fillRect/>
          </a:stretch>
        </p:blipFill>
        <p:spPr bwMode="auto">
          <a:xfrm>
            <a:off x="280988" y="4084638"/>
            <a:ext cx="8539162" cy="2690812"/>
          </a:xfrm>
          <a:prstGeom prst="rect">
            <a:avLst/>
          </a:prstGeom>
          <a:noFill/>
          <a:ln w="12700">
            <a:noFill/>
            <a:miter lim="800000"/>
            <a:headEnd type="none" w="sm" len="sm"/>
            <a:tailEnd type="none" w="sm" len="sm"/>
          </a:ln>
          <a:effectLst/>
        </p:spPr>
      </p:pic>
      <p:graphicFrame>
        <p:nvGraphicFramePr>
          <p:cNvPr id="9" name="Group 107"/>
          <p:cNvGraphicFramePr>
            <a:graphicFrameLocks noGrp="1"/>
          </p:cNvGraphicFramePr>
          <p:nvPr/>
        </p:nvGraphicFramePr>
        <p:xfrm>
          <a:off x="67217" y="1678742"/>
          <a:ext cx="8964488" cy="2974393"/>
        </p:xfrm>
        <a:graphic>
          <a:graphicData uri="http://schemas.openxmlformats.org/drawingml/2006/table">
            <a:tbl>
              <a:tblPr/>
              <a:tblGrid>
                <a:gridCol w="2661588">
                  <a:extLst>
                    <a:ext uri="{9D8B030D-6E8A-4147-A177-3AD203B41FA5}">
                      <a16:colId xmlns:a16="http://schemas.microsoft.com/office/drawing/2014/main" val="20000"/>
                    </a:ext>
                  </a:extLst>
                </a:gridCol>
                <a:gridCol w="1242618">
                  <a:extLst>
                    <a:ext uri="{9D8B030D-6E8A-4147-A177-3AD203B41FA5}">
                      <a16:colId xmlns:a16="http://schemas.microsoft.com/office/drawing/2014/main" val="20001"/>
                    </a:ext>
                  </a:extLst>
                </a:gridCol>
                <a:gridCol w="1244250">
                  <a:extLst>
                    <a:ext uri="{9D8B030D-6E8A-4147-A177-3AD203B41FA5}">
                      <a16:colId xmlns:a16="http://schemas.microsoft.com/office/drawing/2014/main" val="20002"/>
                    </a:ext>
                  </a:extLst>
                </a:gridCol>
                <a:gridCol w="1242619">
                  <a:extLst>
                    <a:ext uri="{9D8B030D-6E8A-4147-A177-3AD203B41FA5}">
                      <a16:colId xmlns:a16="http://schemas.microsoft.com/office/drawing/2014/main" val="20003"/>
                    </a:ext>
                  </a:extLst>
                </a:gridCol>
                <a:gridCol w="1327528">
                  <a:extLst>
                    <a:ext uri="{9D8B030D-6E8A-4147-A177-3AD203B41FA5}">
                      <a16:colId xmlns:a16="http://schemas.microsoft.com/office/drawing/2014/main" val="20004"/>
                    </a:ext>
                  </a:extLst>
                </a:gridCol>
                <a:gridCol w="1245885">
                  <a:extLst>
                    <a:ext uri="{9D8B030D-6E8A-4147-A177-3AD203B41FA5}">
                      <a16:colId xmlns:a16="http://schemas.microsoft.com/office/drawing/2014/main" val="20005"/>
                    </a:ext>
                  </a:extLst>
                </a:gridCol>
              </a:tblGrid>
              <a:tr h="444449">
                <a:tc rowSpan="2">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中断处理程序</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gridSpan="5">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中断处理级屏蔽位</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444449">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2</a:t>
                      </a: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3</a:t>
                      </a: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4</a:t>
                      </a: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5</a:t>
                      </a: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级</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08549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2</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3</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4</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5</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中断处理程序</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0" lang="zh-CN"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pic>
        <p:nvPicPr>
          <p:cNvPr id="10" name="Picture 29"/>
          <p:cNvPicPr>
            <a:picLocks noChangeAspect="1" noChangeArrowheads="1"/>
          </p:cNvPicPr>
          <p:nvPr/>
        </p:nvPicPr>
        <p:blipFill>
          <a:blip r:embed="rId4"/>
          <a:srcRect/>
          <a:stretch>
            <a:fillRect/>
          </a:stretch>
        </p:blipFill>
        <p:spPr bwMode="auto">
          <a:xfrm>
            <a:off x="67310" y="134303"/>
            <a:ext cx="8889999" cy="3154799"/>
          </a:xfrm>
          <a:prstGeom prst="rect">
            <a:avLst/>
          </a:prstGeom>
          <a:noFill/>
          <a:ln w="12700">
            <a:noFill/>
            <a:miter lim="800000"/>
            <a:headEnd type="none" w="sm" len="sm"/>
            <a:tailEnd type="none" w="sm" len="sm"/>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12896"/>
            <a:ext cx="9144000" cy="283083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30000"/>
              </a:lnSpc>
              <a:spcBef>
                <a:spcPts val="0"/>
              </a:spcBef>
              <a:buClr>
                <a:schemeClr val="tx2"/>
              </a:buClr>
              <a:buSzPct val="70000"/>
              <a:buFont typeface="Wingdings" panose="05000000000000000000" pitchFamily="2" charset="2"/>
              <a:buNone/>
            </a:pPr>
            <a:r>
              <a:rPr lang="zh-CN" altLang="en-US" b="1" dirty="0">
                <a:solidFill>
                  <a:srgbClr val="FF0000"/>
                </a:solidFill>
                <a:latin typeface="微软雅黑" panose="020B0503020204020204" pitchFamily="34" charset="-122"/>
                <a:ea typeface="微软雅黑" panose="020B0503020204020204" pitchFamily="34" charset="-122"/>
              </a:rPr>
              <a:t>练习题：</a:t>
            </a:r>
            <a:r>
              <a:rPr lang="zh-CN" altLang="en-US" b="1" dirty="0">
                <a:latin typeface="微软雅黑" panose="020B0503020204020204" pitchFamily="34" charset="-122"/>
                <a:ea typeface="微软雅黑" panose="020B0503020204020204" pitchFamily="34" charset="-122"/>
              </a:rPr>
              <a:t>某计算机的中断系统有</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个中断源，每个中断源对应一个屏蔽码，该位为“</a:t>
            </a:r>
            <a:r>
              <a:rPr lang="en-US" altLang="zh-CN" b="1" dirty="0">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表示允许中断，该位为“</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表示中断屏蔽。中断响应的优先次序为</a:t>
            </a:r>
            <a:r>
              <a:rPr lang="en-US" altLang="zh-CN" b="1" dirty="0">
                <a:latin typeface="微软雅黑" panose="020B0503020204020204" pitchFamily="34" charset="-122"/>
                <a:ea typeface="微软雅黑" panose="020B0503020204020204" pitchFamily="34" charset="-122"/>
              </a:rPr>
              <a:t>1→2→3→4</a:t>
            </a:r>
            <a:r>
              <a:rPr lang="zh-CN" altLang="en-US" b="1" dirty="0">
                <a:latin typeface="微软雅黑" panose="020B0503020204020204" pitchFamily="34" charset="-122"/>
                <a:ea typeface="微软雅黑" panose="020B0503020204020204" pitchFamily="34" charset="-122"/>
              </a:rPr>
              <a:t>，中断的处理次序和中断的响应次序是一致的。</a:t>
            </a:r>
          </a:p>
          <a:p>
            <a:pPr>
              <a:lnSpc>
                <a:spcPct val="120000"/>
              </a:lnSpc>
              <a:spcBef>
                <a:spcPts val="0"/>
              </a:spcBef>
              <a:buClr>
                <a:schemeClr val="tx2"/>
              </a:buClr>
              <a:buSzPct val="70000"/>
            </a:pP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）各级中断处理程序的各中断级屏蔽值如何设置，完成</a:t>
            </a:r>
            <a:r>
              <a:rPr kumimoji="1" lang="en-US" altLang="zh-CN" b="1" dirty="0">
                <a:latin typeface="微软雅黑" panose="020B0503020204020204" pitchFamily="34" charset="-122"/>
                <a:ea typeface="微软雅黑" panose="020B0503020204020204" pitchFamily="34" charset="-122"/>
              </a:rPr>
              <a:t>CPU</a:t>
            </a:r>
            <a:r>
              <a:rPr kumimoji="1" lang="zh-CN" altLang="en-US" b="1" dirty="0">
                <a:latin typeface="微软雅黑" panose="020B0503020204020204" pitchFamily="34" charset="-122"/>
                <a:ea typeface="微软雅黑" panose="020B0503020204020204" pitchFamily="34" charset="-122"/>
              </a:rPr>
              <a:t>的运动轨迹。</a:t>
            </a:r>
            <a:endParaRPr kumimoji="1" lang="en-US" altLang="zh-CN" b="1" dirty="0">
              <a:latin typeface="微软雅黑" panose="020B0503020204020204" pitchFamily="34" charset="-122"/>
              <a:ea typeface="微软雅黑" panose="020B0503020204020204" pitchFamily="34" charset="-122"/>
            </a:endParaRPr>
          </a:p>
          <a:p>
            <a:pPr>
              <a:lnSpc>
                <a:spcPct val="120000"/>
              </a:lnSpc>
              <a:spcBef>
                <a:spcPts val="0"/>
              </a:spcBef>
              <a:buClr>
                <a:schemeClr val="tx2"/>
              </a:buClr>
              <a:buSzPct val="70000"/>
            </a:pPr>
            <a:r>
              <a:rPr kumimoji="1" lang="en-US" altLang="zh-CN" b="1" dirty="0">
                <a:latin typeface="微软雅黑" panose="020B0503020204020204" pitchFamily="34" charset="-122"/>
                <a:ea typeface="微软雅黑" panose="020B0503020204020204" pitchFamily="34" charset="-122"/>
              </a:rPr>
              <a:t> </a:t>
            </a:r>
            <a:r>
              <a:rPr kumimoji="1" lang="zh-CN" altLang="en-US" b="1" dirty="0">
                <a:latin typeface="微软雅黑" panose="020B0503020204020204" pitchFamily="34" charset="-122"/>
                <a:ea typeface="微软雅黑" panose="020B0503020204020204" pitchFamily="34" charset="-122"/>
              </a:rPr>
              <a:t>  （</a:t>
            </a:r>
            <a:r>
              <a:rPr kumimoji="1" lang="en-US" altLang="zh-CN" b="1" dirty="0">
                <a:latin typeface="微软雅黑" panose="020B0503020204020204" pitchFamily="34" charset="-122"/>
                <a:ea typeface="微软雅黑" panose="020B0503020204020204" pitchFamily="34" charset="-122"/>
              </a:rPr>
              <a:t>2</a:t>
            </a:r>
            <a:r>
              <a:rPr kumimoji="1" lang="zh-CN" altLang="en-US" b="1" dirty="0">
                <a:latin typeface="微软雅黑" panose="020B0503020204020204" pitchFamily="34" charset="-122"/>
                <a:ea typeface="微软雅黑" panose="020B0503020204020204" pitchFamily="34" charset="-122"/>
              </a:rPr>
              <a:t>）在不改变中断响应次序的条件下，通过改写屏蔽码可以改变中断处理次序，要使中断处理次序改为</a:t>
            </a:r>
            <a:r>
              <a:rPr kumimoji="1" lang="en-US" altLang="zh-CN" b="1" dirty="0">
                <a:latin typeface="微软雅黑" panose="020B0503020204020204" pitchFamily="34" charset="-122"/>
                <a:ea typeface="微软雅黑" panose="020B0503020204020204" pitchFamily="34" charset="-122"/>
              </a:rPr>
              <a:t>1→4→3→2</a:t>
            </a:r>
            <a:r>
              <a:rPr kumimoji="1" lang="zh-CN" altLang="en-US" b="1" dirty="0">
                <a:latin typeface="微软雅黑" panose="020B0503020204020204" pitchFamily="34" charset="-122"/>
                <a:ea typeface="微软雅黑" panose="020B0503020204020204" pitchFamily="34" charset="-122"/>
              </a:rPr>
              <a:t>，则</a:t>
            </a:r>
            <a:r>
              <a:rPr lang="zh-CN" altLang="en-US" b="1" dirty="0">
                <a:latin typeface="微软雅黑" panose="020B0503020204020204" pitchFamily="34" charset="-122"/>
                <a:ea typeface="微软雅黑" panose="020B0503020204020204" pitchFamily="34" charset="-122"/>
              </a:rPr>
              <a:t>各级中断处理程序的各中断级屏蔽值如何设置。</a:t>
            </a:r>
            <a:endParaRPr lang="en-US" altLang="zh-CN" b="1" dirty="0">
              <a:latin typeface="微软雅黑" panose="020B0503020204020204" pitchFamily="34" charset="-122"/>
              <a:ea typeface="微软雅黑" panose="020B0503020204020204" pitchFamily="34" charset="-122"/>
            </a:endParaRPr>
          </a:p>
          <a:p>
            <a:pPr>
              <a:lnSpc>
                <a:spcPct val="120000"/>
              </a:lnSpc>
              <a:spcBef>
                <a:spcPts val="0"/>
              </a:spcBef>
              <a:buClr>
                <a:schemeClr val="tx2"/>
              </a:buClr>
              <a:buSzPct val="70000"/>
            </a:pPr>
            <a:r>
              <a:rPr kumimoji="1" lang="zh-CN" altLang="en-US" b="1" dirty="0">
                <a:latin typeface="微软雅黑" panose="020B0503020204020204" pitchFamily="34" charset="-122"/>
                <a:ea typeface="微软雅黑" panose="020B0503020204020204" pitchFamily="34" charset="-122"/>
              </a:rPr>
              <a:t>   （</a:t>
            </a:r>
            <a:r>
              <a:rPr kumimoji="1" lang="en-US" altLang="zh-CN" b="1" dirty="0">
                <a:latin typeface="微软雅黑" panose="020B0503020204020204" pitchFamily="34" charset="-122"/>
                <a:ea typeface="微软雅黑" panose="020B0503020204020204" pitchFamily="34" charset="-122"/>
              </a:rPr>
              <a:t>3</a:t>
            </a:r>
            <a:r>
              <a:rPr kumimoji="1" lang="zh-CN" altLang="en-US"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当同时有多个中断源请求中断时，如何按中断响应次序和中断处理次序响应中断。</a:t>
            </a:r>
            <a:endParaRPr lang="en-US" altLang="zh-CN" b="1" dirty="0">
              <a:latin typeface="微软雅黑" panose="020B0503020204020204" pitchFamily="34" charset="-122"/>
              <a:ea typeface="微软雅黑" panose="020B0503020204020204" pitchFamily="34" charset="-122"/>
            </a:endParaRPr>
          </a:p>
          <a:p>
            <a:pPr>
              <a:lnSpc>
                <a:spcPct val="120000"/>
              </a:lnSpc>
              <a:spcBef>
                <a:spcPts val="0"/>
              </a:spcBef>
              <a:buClr>
                <a:schemeClr val="tx2"/>
              </a:buClr>
              <a:buSzPct val="70000"/>
            </a:pP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）按（</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）的设置，完成此时</a:t>
            </a:r>
            <a:r>
              <a:rPr kumimoji="1" lang="en-US" altLang="zh-CN" b="1" dirty="0">
                <a:latin typeface="微软雅黑" panose="020B0503020204020204" pitchFamily="34" charset="-122"/>
                <a:ea typeface="微软雅黑" panose="020B0503020204020204" pitchFamily="34" charset="-122"/>
              </a:rPr>
              <a:t>CPU</a:t>
            </a:r>
            <a:r>
              <a:rPr kumimoji="1" lang="zh-CN" altLang="en-US" b="1" dirty="0">
                <a:latin typeface="微软雅黑" panose="020B0503020204020204" pitchFamily="34" charset="-122"/>
                <a:ea typeface="微软雅黑" panose="020B0503020204020204" pitchFamily="34" charset="-122"/>
              </a:rPr>
              <a:t>的运动轨迹。 </a:t>
            </a:r>
          </a:p>
        </p:txBody>
      </p:sp>
      <p:pic>
        <p:nvPicPr>
          <p:cNvPr id="706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52" y="3036302"/>
            <a:ext cx="9029700" cy="3759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23644"/>
            <a:ext cx="9144000" cy="1421928"/>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20000"/>
              </a:lnSpc>
              <a:spcBef>
                <a:spcPts val="0"/>
              </a:spcBef>
              <a:buClr>
                <a:schemeClr val="tx2"/>
              </a:buClr>
              <a:buSzPct val="70000"/>
              <a:buFont typeface="Wingdings" panose="05000000000000000000" pitchFamily="2" charset="2"/>
              <a:buNone/>
            </a:pPr>
            <a:r>
              <a:rPr lang="zh-CN" altLang="en-US" b="1" dirty="0">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答案：</a:t>
            </a:r>
            <a:r>
              <a:rPr lang="zh-CN" altLang="en-US" b="1" dirty="0">
                <a:latin typeface="微软雅黑" panose="020B0503020204020204" pitchFamily="34" charset="-122"/>
                <a:ea typeface="微软雅黑" panose="020B0503020204020204" pitchFamily="34" charset="-122"/>
              </a:rPr>
              <a:t>某计算机的中断系统有</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个中断源，每个中断源对应一个屏蔽码，该位为“</a:t>
            </a:r>
            <a:r>
              <a:rPr lang="en-US" altLang="zh-CN" b="1" dirty="0">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表示允许中断，该位为“</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表示中断屏蔽。中断响应的优先次序为</a:t>
            </a:r>
            <a:r>
              <a:rPr lang="en-US" altLang="zh-CN" b="1" dirty="0">
                <a:latin typeface="微软雅黑" panose="020B0503020204020204" pitchFamily="34" charset="-122"/>
                <a:ea typeface="微软雅黑" panose="020B0503020204020204" pitchFamily="34" charset="-122"/>
              </a:rPr>
              <a:t>1→2→3→4</a:t>
            </a:r>
            <a:r>
              <a:rPr lang="zh-CN" altLang="en-US" b="1" dirty="0">
                <a:latin typeface="微软雅黑" panose="020B0503020204020204" pitchFamily="34" charset="-122"/>
                <a:ea typeface="微软雅黑" panose="020B0503020204020204" pitchFamily="34" charset="-122"/>
              </a:rPr>
              <a:t>，中断的处理次序和中断的响应次序是一致的。</a:t>
            </a:r>
          </a:p>
          <a:p>
            <a:pPr>
              <a:lnSpc>
                <a:spcPct val="120000"/>
              </a:lnSpc>
              <a:spcBef>
                <a:spcPts val="0"/>
              </a:spcBef>
              <a:buClr>
                <a:schemeClr val="tx2"/>
              </a:buClr>
              <a:buSzPct val="70000"/>
            </a:pP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）各级中断处理程序的各中断级屏蔽值如何设置，完成</a:t>
            </a:r>
            <a:r>
              <a:rPr kumimoji="1" lang="en-US" altLang="zh-CN" b="1" dirty="0">
                <a:latin typeface="微软雅黑" panose="020B0503020204020204" pitchFamily="34" charset="-122"/>
                <a:ea typeface="微软雅黑" panose="020B0503020204020204" pitchFamily="34" charset="-122"/>
              </a:rPr>
              <a:t>CPU</a:t>
            </a:r>
            <a:r>
              <a:rPr kumimoji="1" lang="zh-CN" altLang="en-US" b="1" dirty="0">
                <a:latin typeface="微软雅黑" panose="020B0503020204020204" pitchFamily="34" charset="-122"/>
                <a:ea typeface="微软雅黑" panose="020B0503020204020204" pitchFamily="34" charset="-122"/>
              </a:rPr>
              <a:t>的运动轨迹。</a:t>
            </a:r>
          </a:p>
        </p:txBody>
      </p:sp>
      <p:graphicFrame>
        <p:nvGraphicFramePr>
          <p:cNvPr id="4" name="对象 3"/>
          <p:cNvGraphicFramePr>
            <a:graphicFrameLocks noChangeAspect="1"/>
          </p:cNvGraphicFramePr>
          <p:nvPr/>
        </p:nvGraphicFramePr>
        <p:xfrm>
          <a:off x="67937" y="1528192"/>
          <a:ext cx="9025069" cy="1828800"/>
        </p:xfrm>
        <a:graphic>
          <a:graphicData uri="http://schemas.openxmlformats.org/presentationml/2006/ole">
            <mc:AlternateContent xmlns:mc="http://schemas.openxmlformats.org/markup-compatibility/2006">
              <mc:Choice xmlns:v="urn:schemas-microsoft-com:vml" Requires="v">
                <p:oleObj name="位图图像" r:id="rId2" imgW="7962900" imgH="2590800" progId="PBrush">
                  <p:embed/>
                </p:oleObj>
              </mc:Choice>
              <mc:Fallback>
                <p:oleObj name="位图图像" r:id="rId2" imgW="7962900" imgH="2590800" progId="PBrush">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37" y="1528192"/>
                        <a:ext cx="9025069" cy="1828800"/>
                      </a:xfrm>
                      <a:prstGeom prst="rect">
                        <a:avLst/>
                      </a:prstGeom>
                      <a:noFill/>
                      <a:ln>
                        <a:noFill/>
                      </a:ln>
                      <a:effectLst/>
                    </p:spPr>
                  </p:pic>
                </p:oleObj>
              </mc:Fallback>
            </mc:AlternateContent>
          </a:graphicData>
        </a:graphic>
      </p:graphicFrame>
      <p:pic>
        <p:nvPicPr>
          <p:cNvPr id="7168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90" y="3413442"/>
            <a:ext cx="9039225"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1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23644"/>
            <a:ext cx="9144000" cy="175432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20000"/>
              </a:lnSpc>
              <a:spcBef>
                <a:spcPts val="0"/>
              </a:spcBef>
              <a:buClr>
                <a:schemeClr val="tx2"/>
              </a:buClr>
              <a:buSzPct val="70000"/>
              <a:buFont typeface="Wingdings" panose="05000000000000000000" pitchFamily="2" charset="2"/>
              <a:buNone/>
            </a:pPr>
            <a:r>
              <a:rPr lang="zh-CN" altLang="en-US" b="1" dirty="0">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答案：</a:t>
            </a:r>
            <a:r>
              <a:rPr lang="zh-CN" altLang="en-US" b="1" dirty="0">
                <a:latin typeface="微软雅黑" panose="020B0503020204020204" pitchFamily="34" charset="-122"/>
                <a:ea typeface="微软雅黑" panose="020B0503020204020204" pitchFamily="34" charset="-122"/>
              </a:rPr>
              <a:t>某计算机的中断系统有</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个中断源，每个中断源对应一个屏蔽码，该位为“</a:t>
            </a:r>
            <a:r>
              <a:rPr lang="en-US" altLang="zh-CN" b="1" dirty="0">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表示允许中断，该位为“</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表示中断屏蔽。中断响应的优先次序为</a:t>
            </a:r>
            <a:r>
              <a:rPr lang="en-US" altLang="zh-CN" b="1" dirty="0">
                <a:latin typeface="微软雅黑" panose="020B0503020204020204" pitchFamily="34" charset="-122"/>
                <a:ea typeface="微软雅黑" panose="020B0503020204020204" pitchFamily="34" charset="-122"/>
              </a:rPr>
              <a:t>1→2→3→4</a:t>
            </a:r>
            <a:r>
              <a:rPr lang="zh-CN" altLang="en-US" b="1" dirty="0">
                <a:latin typeface="微软雅黑" panose="020B0503020204020204" pitchFamily="34" charset="-122"/>
                <a:ea typeface="微软雅黑" panose="020B0503020204020204" pitchFamily="34" charset="-122"/>
              </a:rPr>
              <a:t>，中断的处理次序和中断的响应次序是一致的。</a:t>
            </a:r>
          </a:p>
          <a:p>
            <a:pPr>
              <a:lnSpc>
                <a:spcPct val="120000"/>
              </a:lnSpc>
              <a:spcBef>
                <a:spcPts val="0"/>
              </a:spcBef>
              <a:buClr>
                <a:schemeClr val="tx2"/>
              </a:buClr>
              <a:buSzPct val="70000"/>
            </a:pPr>
            <a:r>
              <a:rPr kumimoji="1" lang="zh-CN" altLang="en-US" b="1" dirty="0">
                <a:latin typeface="微软雅黑" panose="020B0503020204020204" pitchFamily="34" charset="-122"/>
                <a:ea typeface="微软雅黑" panose="020B0503020204020204" pitchFamily="34" charset="-122"/>
              </a:rPr>
              <a:t>   （</a:t>
            </a:r>
            <a:r>
              <a:rPr kumimoji="1" lang="en-US" altLang="zh-CN" b="1" dirty="0">
                <a:latin typeface="微软雅黑" panose="020B0503020204020204" pitchFamily="34" charset="-122"/>
                <a:ea typeface="微软雅黑" panose="020B0503020204020204" pitchFamily="34" charset="-122"/>
              </a:rPr>
              <a:t>2</a:t>
            </a:r>
            <a:r>
              <a:rPr kumimoji="1" lang="zh-CN" altLang="en-US" b="1" dirty="0">
                <a:latin typeface="微软雅黑" panose="020B0503020204020204" pitchFamily="34" charset="-122"/>
                <a:ea typeface="微软雅黑" panose="020B0503020204020204" pitchFamily="34" charset="-122"/>
              </a:rPr>
              <a:t>）在不改变中断响应次序的条件下，通过改写屏蔽码可以改变中断处理次序，要使中断处理次序改为</a:t>
            </a:r>
            <a:r>
              <a:rPr kumimoji="1" lang="en-US" altLang="zh-CN" b="1" dirty="0">
                <a:latin typeface="微软雅黑" panose="020B0503020204020204" pitchFamily="34" charset="-122"/>
                <a:ea typeface="微软雅黑" panose="020B0503020204020204" pitchFamily="34" charset="-122"/>
              </a:rPr>
              <a:t>1→4→3→2</a:t>
            </a:r>
            <a:r>
              <a:rPr kumimoji="1" lang="zh-CN" altLang="en-US" b="1" dirty="0">
                <a:latin typeface="微软雅黑" panose="020B0503020204020204" pitchFamily="34" charset="-122"/>
                <a:ea typeface="微软雅黑" panose="020B0503020204020204" pitchFamily="34" charset="-122"/>
              </a:rPr>
              <a:t>，则</a:t>
            </a:r>
            <a:r>
              <a:rPr lang="zh-CN" altLang="en-US" b="1" dirty="0">
                <a:latin typeface="微软雅黑" panose="020B0503020204020204" pitchFamily="34" charset="-122"/>
                <a:ea typeface="微软雅黑" panose="020B0503020204020204" pitchFamily="34" charset="-122"/>
              </a:rPr>
              <a:t>各级中断处理程序的各中断级屏蔽值如何设置。</a:t>
            </a:r>
            <a:endParaRPr lang="en-US" altLang="zh-CN" b="1" dirty="0">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ChangeAspect="1"/>
          </p:cNvGraphicFramePr>
          <p:nvPr/>
        </p:nvGraphicFramePr>
        <p:xfrm>
          <a:off x="76508" y="1891318"/>
          <a:ext cx="8959988" cy="1909774"/>
        </p:xfrm>
        <a:graphic>
          <a:graphicData uri="http://schemas.openxmlformats.org/presentationml/2006/ole">
            <mc:AlternateContent xmlns:mc="http://schemas.openxmlformats.org/markup-compatibility/2006">
              <mc:Choice xmlns:v="urn:schemas-microsoft-com:vml" Requires="v">
                <p:oleObj name="位图图像" r:id="rId2" imgW="7934325" imgH="2581275" progId="PBrush">
                  <p:embed/>
                </p:oleObj>
              </mc:Choice>
              <mc:Fallback>
                <p:oleObj name="位图图像" r:id="rId2" imgW="7934325" imgH="2581275" progId="PBrush">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08" y="1891318"/>
                        <a:ext cx="8959988" cy="1909774"/>
                      </a:xfrm>
                      <a:prstGeom prst="rect">
                        <a:avLst/>
                      </a:prstGeom>
                      <a:noFill/>
                      <a:ln>
                        <a:noFill/>
                      </a:ln>
                      <a:effectLst/>
                    </p:spPr>
                  </p:pic>
                </p:oleObj>
              </mc:Fallback>
            </mc:AlternateContent>
          </a:graphicData>
        </a:graphic>
      </p:graphicFrame>
      <p:sp>
        <p:nvSpPr>
          <p:cNvPr id="6" name="矩形 5"/>
          <p:cNvSpPr/>
          <p:nvPr/>
        </p:nvSpPr>
        <p:spPr>
          <a:xfrm>
            <a:off x="0" y="3863782"/>
            <a:ext cx="9144000" cy="39658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20000"/>
              </a:lnSpc>
              <a:spcBef>
                <a:spcPts val="0"/>
              </a:spcBef>
              <a:buClr>
                <a:schemeClr val="tx2"/>
              </a:buClr>
              <a:buSzPct val="70000"/>
              <a:buFont typeface="Wingdings" panose="05000000000000000000" pitchFamily="2" charset="2"/>
              <a:buNone/>
            </a:pPr>
            <a:r>
              <a:rPr kumimoji="1" lang="zh-CN" altLang="en-US" b="1" dirty="0">
                <a:latin typeface="微软雅黑" panose="020B0503020204020204" pitchFamily="34" charset="-122"/>
                <a:ea typeface="微软雅黑" panose="020B0503020204020204" pitchFamily="34" charset="-122"/>
              </a:rPr>
              <a:t>（</a:t>
            </a:r>
            <a:r>
              <a:rPr kumimoji="1" lang="en-US" altLang="zh-CN" b="1" dirty="0">
                <a:latin typeface="微软雅黑" panose="020B0503020204020204" pitchFamily="34" charset="-122"/>
                <a:ea typeface="微软雅黑" panose="020B0503020204020204" pitchFamily="34" charset="-122"/>
              </a:rPr>
              <a:t>3</a:t>
            </a:r>
            <a:r>
              <a:rPr kumimoji="1" lang="zh-CN" altLang="en-US"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当同时有多个中断源请求中断时，如何按中断响应次序和中断处理次序响应中断。</a:t>
            </a:r>
            <a:endParaRPr kumimoji="1" lang="zh-CN" altLang="en-US" b="1" dirty="0">
              <a:latin typeface="微软雅黑" panose="020B0503020204020204" pitchFamily="34" charset="-122"/>
              <a:ea typeface="微软雅黑" panose="020B0503020204020204" pitchFamily="34" charset="-122"/>
            </a:endParaRPr>
          </a:p>
        </p:txBody>
      </p:sp>
      <p:sp>
        <p:nvSpPr>
          <p:cNvPr id="7" name="矩形 6"/>
          <p:cNvSpPr/>
          <p:nvPr/>
        </p:nvSpPr>
        <p:spPr>
          <a:xfrm>
            <a:off x="46494" y="4377878"/>
            <a:ext cx="9036496" cy="113505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       当同时有多个中断源请求中断时，按中断响应次序响应中断；进入中断服务程序后，按中断处理次序决定是否响应更高级的中断。</a:t>
            </a:r>
            <a:endParaRPr kumimoji="1" lang="zh-CN" altLang="en-US" sz="24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70138"/>
            <a:ext cx="9144000" cy="1421928"/>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20000"/>
              </a:lnSpc>
              <a:spcBef>
                <a:spcPts val="0"/>
              </a:spcBef>
              <a:buClr>
                <a:schemeClr val="tx2"/>
              </a:buClr>
              <a:buSzPct val="70000"/>
              <a:buFont typeface="Wingdings" panose="05000000000000000000" pitchFamily="2" charset="2"/>
              <a:buNone/>
            </a:pPr>
            <a:r>
              <a:rPr lang="zh-CN" altLang="en-US" b="1" dirty="0">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答案：</a:t>
            </a:r>
            <a:r>
              <a:rPr lang="zh-CN" altLang="en-US" b="1" dirty="0">
                <a:latin typeface="微软雅黑" panose="020B0503020204020204" pitchFamily="34" charset="-122"/>
                <a:ea typeface="微软雅黑" panose="020B0503020204020204" pitchFamily="34" charset="-122"/>
              </a:rPr>
              <a:t>某计算机的中断系统有</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个中断源，每个中断源对应一个屏蔽码，该位为“</a:t>
            </a:r>
            <a:r>
              <a:rPr lang="en-US" altLang="zh-CN" b="1" dirty="0">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表示允许中断，该位为“</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表示中断屏蔽。中断响应的优先次序为</a:t>
            </a:r>
            <a:r>
              <a:rPr lang="en-US" altLang="zh-CN" b="1" dirty="0">
                <a:latin typeface="微软雅黑" panose="020B0503020204020204" pitchFamily="34" charset="-122"/>
                <a:ea typeface="微软雅黑" panose="020B0503020204020204" pitchFamily="34" charset="-122"/>
              </a:rPr>
              <a:t>1→2→3→4</a:t>
            </a:r>
            <a:r>
              <a:rPr lang="zh-CN" altLang="en-US" b="1" dirty="0">
                <a:latin typeface="微软雅黑" panose="020B0503020204020204" pitchFamily="34" charset="-122"/>
                <a:ea typeface="微软雅黑" panose="020B0503020204020204" pitchFamily="34" charset="-122"/>
              </a:rPr>
              <a:t>，中断的处理次序和中断的响应次序是一致的。</a:t>
            </a:r>
          </a:p>
          <a:p>
            <a:pPr>
              <a:lnSpc>
                <a:spcPct val="120000"/>
              </a:lnSpc>
              <a:spcBef>
                <a:spcPts val="0"/>
              </a:spcBef>
              <a:buClr>
                <a:schemeClr val="tx2"/>
              </a:buClr>
              <a:buSzPct val="70000"/>
            </a:pP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）按（</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）的设置（</a:t>
            </a:r>
            <a:r>
              <a:rPr kumimoji="1" lang="zh-CN" altLang="en-US" b="1" dirty="0">
                <a:latin typeface="微软雅黑" panose="020B0503020204020204" pitchFamily="34" charset="-122"/>
                <a:ea typeface="微软雅黑" panose="020B0503020204020204" pitchFamily="34" charset="-122"/>
              </a:rPr>
              <a:t>中断处理次序改为</a:t>
            </a:r>
            <a:r>
              <a:rPr kumimoji="1" lang="en-US" altLang="zh-CN" b="1" dirty="0">
                <a:latin typeface="微软雅黑" panose="020B0503020204020204" pitchFamily="34" charset="-122"/>
                <a:ea typeface="微软雅黑" panose="020B0503020204020204" pitchFamily="34" charset="-122"/>
              </a:rPr>
              <a:t>1→4→3→2</a:t>
            </a:r>
            <a:r>
              <a:rPr kumimoji="1" lang="zh-CN" altLang="en-US"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，完成此时</a:t>
            </a:r>
            <a:r>
              <a:rPr kumimoji="1" lang="en-US" altLang="zh-CN" b="1" dirty="0">
                <a:latin typeface="微软雅黑" panose="020B0503020204020204" pitchFamily="34" charset="-122"/>
                <a:ea typeface="微软雅黑" panose="020B0503020204020204" pitchFamily="34" charset="-122"/>
              </a:rPr>
              <a:t>CPU</a:t>
            </a:r>
            <a:r>
              <a:rPr kumimoji="1" lang="zh-CN" altLang="en-US" b="1" dirty="0">
                <a:latin typeface="微软雅黑" panose="020B0503020204020204" pitchFamily="34" charset="-122"/>
                <a:ea typeface="微软雅黑" panose="020B0503020204020204" pitchFamily="34" charset="-122"/>
              </a:rPr>
              <a:t>的运动轨迹。 </a:t>
            </a:r>
          </a:p>
        </p:txBody>
      </p:sp>
      <p:pic>
        <p:nvPicPr>
          <p:cNvPr id="757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2" y="1531278"/>
            <a:ext cx="90678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a:noFill/>
        </p:spPr>
        <p:txBody>
          <a:bodyPr/>
          <a:lstStyle/>
          <a:p>
            <a:fld id="{DCC68EEF-BDBA-4840-82AD-67DF575D4F31}" type="slidenum">
              <a:rPr lang="en-US" altLang="zh-CN" smtClean="0"/>
              <a:t>50</a:t>
            </a:fld>
            <a:endParaRPr lang="en-US" altLang="zh-CN"/>
          </a:p>
        </p:txBody>
      </p:sp>
      <p:sp>
        <p:nvSpPr>
          <p:cNvPr id="53251" name="Rectangle 2"/>
          <p:cNvSpPr>
            <a:spLocks noGrp="1" noChangeArrowheads="1"/>
          </p:cNvSpPr>
          <p:nvPr>
            <p:ph type="title"/>
          </p:nvPr>
        </p:nvSpPr>
        <p:spPr>
          <a:xfrm>
            <a:off x="179388" y="115888"/>
            <a:ext cx="7543800" cy="714375"/>
          </a:xfrm>
        </p:spPr>
        <p:txBody>
          <a:bodyPr/>
          <a:lstStyle/>
          <a:p>
            <a:pPr eaLnBrk="1" hangingPunct="1"/>
            <a:r>
              <a:rPr lang="en-US" altLang="zh-CN">
                <a:cs typeface="Times New Roman" panose="02020603050405020304" charset="0"/>
              </a:rPr>
              <a:t>8.4  DMA</a:t>
            </a:r>
            <a:r>
              <a:rPr lang="zh-CN" altLang="en-US"/>
              <a:t>方式</a:t>
            </a:r>
          </a:p>
        </p:txBody>
      </p:sp>
      <p:sp>
        <p:nvSpPr>
          <p:cNvPr id="53252" name="Rectangle 3"/>
          <p:cNvSpPr>
            <a:spLocks noChangeArrowheads="1"/>
          </p:cNvSpPr>
          <p:nvPr/>
        </p:nvSpPr>
        <p:spPr bwMode="auto">
          <a:xfrm>
            <a:off x="179388" y="893763"/>
            <a:ext cx="8785225" cy="2676525"/>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b="1">
                <a:latin typeface="宋体" panose="02010600030101010101" pitchFamily="2" charset="-122"/>
              </a:rPr>
              <a:t>    8.4.1 DMA</a:t>
            </a:r>
            <a:r>
              <a:rPr lang="zh-CN" altLang="en-US" sz="2400" b="1">
                <a:latin typeface="宋体" panose="02010600030101010101" pitchFamily="2" charset="-122"/>
              </a:rPr>
              <a:t>的基本概念 </a:t>
            </a:r>
            <a:r>
              <a:rPr lang="zh-CN" altLang="en-US" sz="2400" b="1" i="1">
                <a:latin typeface="宋体" panose="02010600030101010101" pitchFamily="2" charset="-122"/>
              </a:rPr>
              <a:t>　　　</a:t>
            </a:r>
            <a:r>
              <a:rPr lang="zh-CN" altLang="en-US" sz="2400" b="1" i="1">
                <a:latin typeface="宋体" panose="02010600030101010101" pitchFamily="2" charset="-122"/>
                <a:hlinkClick r:id="rId2" action="ppaction://hlinkfile"/>
              </a:rPr>
              <a:t> </a:t>
            </a:r>
            <a:endParaRPr lang="zh-CN" altLang="en-US" sz="2400" b="1">
              <a:latin typeface="宋体" panose="02010600030101010101" pitchFamily="2" charset="-122"/>
            </a:endParaRPr>
          </a:p>
          <a:p>
            <a:r>
              <a:rPr lang="zh-CN" altLang="en-US" sz="2400" b="1">
                <a:latin typeface="宋体" panose="02010600030101010101" pitchFamily="2" charset="-122"/>
              </a:rPr>
              <a:t>　　直接内存访问</a:t>
            </a:r>
            <a:r>
              <a:rPr lang="en-US" altLang="zh-CN" sz="2400" b="1">
                <a:latin typeface="宋体" panose="02010600030101010101" pitchFamily="2" charset="-122"/>
              </a:rPr>
              <a:t>(DMA)</a:t>
            </a:r>
            <a:r>
              <a:rPr lang="zh-CN" altLang="en-US" sz="2400">
                <a:latin typeface="宋体" panose="02010600030101010101" pitchFamily="2" charset="-122"/>
              </a:rPr>
              <a:t>是一种完全由硬件执行</a:t>
            </a:r>
            <a:r>
              <a:rPr lang="en-US" altLang="zh-CN" sz="2400">
                <a:latin typeface="宋体" panose="02010600030101010101" pitchFamily="2" charset="-122"/>
              </a:rPr>
              <a:t>I/O</a:t>
            </a:r>
            <a:r>
              <a:rPr lang="zh-CN" altLang="en-US" sz="2400">
                <a:latin typeface="宋体" panose="02010600030101010101" pitchFamily="2" charset="-122"/>
              </a:rPr>
              <a:t>交换的工作方式。在这种方式中，</a:t>
            </a:r>
            <a:r>
              <a:rPr lang="en-US" altLang="zh-CN" sz="2400">
                <a:latin typeface="宋体" panose="02010600030101010101" pitchFamily="2" charset="-122"/>
              </a:rPr>
              <a:t>DMA</a:t>
            </a:r>
            <a:r>
              <a:rPr lang="zh-CN" altLang="en-US" sz="2400">
                <a:latin typeface="宋体" panose="02010600030101010101" pitchFamily="2" charset="-122"/>
              </a:rPr>
              <a:t>控制器从</a:t>
            </a:r>
            <a:r>
              <a:rPr lang="en-US" altLang="zh-CN" sz="2400">
                <a:latin typeface="宋体" panose="02010600030101010101" pitchFamily="2" charset="-122"/>
              </a:rPr>
              <a:t>CPU</a:t>
            </a:r>
            <a:r>
              <a:rPr lang="zh-CN" altLang="en-US" sz="2400">
                <a:latin typeface="宋体" panose="02010600030101010101" pitchFamily="2" charset="-122"/>
              </a:rPr>
              <a:t>完全接管对总线的控制，数据交换不经过</a:t>
            </a:r>
            <a:r>
              <a:rPr lang="en-US" altLang="zh-CN" sz="2400">
                <a:latin typeface="宋体" panose="02010600030101010101" pitchFamily="2" charset="-122"/>
              </a:rPr>
              <a:t>CPU</a:t>
            </a:r>
            <a:r>
              <a:rPr lang="zh-CN" altLang="en-US" sz="2400">
                <a:latin typeface="宋体" panose="02010600030101010101" pitchFamily="2" charset="-122"/>
              </a:rPr>
              <a:t>，而直接在内存和</a:t>
            </a:r>
            <a:r>
              <a:rPr lang="en-US" altLang="zh-CN" sz="2400">
                <a:latin typeface="宋体" panose="02010600030101010101" pitchFamily="2" charset="-122"/>
              </a:rPr>
              <a:t>I/O</a:t>
            </a:r>
            <a:r>
              <a:rPr lang="zh-CN" altLang="en-US" sz="2400">
                <a:latin typeface="宋体" panose="02010600030101010101" pitchFamily="2" charset="-122"/>
              </a:rPr>
              <a:t>设备之间进行。</a:t>
            </a:r>
            <a:r>
              <a:rPr lang="en-US" altLang="zh-CN" sz="2400">
                <a:latin typeface="宋体" panose="02010600030101010101" pitchFamily="2" charset="-122"/>
              </a:rPr>
              <a:t>DMA</a:t>
            </a:r>
            <a:r>
              <a:rPr lang="zh-CN" altLang="en-US" sz="2400">
                <a:latin typeface="宋体" panose="02010600030101010101" pitchFamily="2" charset="-122"/>
              </a:rPr>
              <a:t>方式一般用于高速传送成组数据。</a:t>
            </a:r>
            <a:r>
              <a:rPr lang="en-US" altLang="zh-CN" sz="2400">
                <a:latin typeface="宋体" panose="02010600030101010101" pitchFamily="2" charset="-122"/>
              </a:rPr>
              <a:t>DMA</a:t>
            </a:r>
            <a:r>
              <a:rPr lang="zh-CN" altLang="en-US" sz="2400">
                <a:latin typeface="宋体" panose="02010600030101010101" pitchFamily="2" charset="-122"/>
              </a:rPr>
              <a:t>控制器将向内存发出地址和控制信号，修改地址，对传送的字的个数计数，并且以中断方式向</a:t>
            </a:r>
            <a:r>
              <a:rPr lang="en-US" altLang="zh-CN" sz="2400">
                <a:latin typeface="宋体" panose="02010600030101010101" pitchFamily="2" charset="-122"/>
              </a:rPr>
              <a:t>CPU</a:t>
            </a:r>
            <a:r>
              <a:rPr lang="zh-CN" altLang="en-US" sz="2400">
                <a:latin typeface="宋体" panose="02010600030101010101" pitchFamily="2" charset="-122"/>
              </a:rPr>
              <a:t>报告传送操作的结束。</a:t>
            </a:r>
          </a:p>
        </p:txBody>
      </p:sp>
      <p:pic>
        <p:nvPicPr>
          <p:cNvPr id="53253" name="Picture 4"/>
          <p:cNvPicPr>
            <a:picLocks noChangeAspect="1" noChangeArrowheads="1"/>
          </p:cNvPicPr>
          <p:nvPr/>
        </p:nvPicPr>
        <p:blipFill>
          <a:blip r:embed="rId3"/>
          <a:srcRect/>
          <a:stretch>
            <a:fillRect/>
          </a:stretch>
        </p:blipFill>
        <p:spPr bwMode="auto">
          <a:xfrm>
            <a:off x="395288" y="3716338"/>
            <a:ext cx="7921625" cy="2520950"/>
          </a:xfrm>
          <a:prstGeom prst="rect">
            <a:avLst/>
          </a:prstGeom>
          <a:noFill/>
          <a:ln w="9525">
            <a:noFill/>
            <a:miter lim="800000"/>
            <a:headEnd/>
            <a:tailEnd/>
          </a:ln>
        </p:spPr>
      </p:pic>
      <p:sp>
        <p:nvSpPr>
          <p:cNvPr id="74757" name="Rectangle 5"/>
          <p:cNvSpPr>
            <a:spLocks noChangeArrowheads="1"/>
          </p:cNvSpPr>
          <p:nvPr/>
        </p:nvSpPr>
        <p:spPr bwMode="auto">
          <a:xfrm>
            <a:off x="179388" y="849313"/>
            <a:ext cx="8785225" cy="2678112"/>
          </a:xfrm>
          <a:prstGeom prst="rect">
            <a:avLst/>
          </a:prstGeom>
          <a:solidFill>
            <a:srgbClr val="CCFFFF"/>
          </a:solidFill>
          <a:ln w="12700">
            <a:noFill/>
            <a:miter lim="800000"/>
            <a:headEnd type="none" w="sm" len="sm"/>
            <a:tailEnd type="none" w="sm" len="sm"/>
          </a:ln>
        </p:spPr>
        <p:txBody>
          <a:bodyPr anchor="ctr">
            <a:spAutoFit/>
          </a:bodyPr>
          <a:lstStyle/>
          <a:p>
            <a:r>
              <a:rPr lang="zh-CN" altLang="en-US" sz="2400">
                <a:latin typeface="宋体" panose="02010600030101010101" pitchFamily="2" charset="-122"/>
              </a:rPr>
              <a:t>　</a:t>
            </a:r>
            <a:r>
              <a:rPr lang="en-US" altLang="zh-CN" sz="2400">
                <a:latin typeface="宋体" panose="02010600030101010101" pitchFamily="2" charset="-122"/>
              </a:rPr>
              <a:t>  DMA</a:t>
            </a:r>
            <a:r>
              <a:rPr lang="zh-CN" altLang="en-US" sz="2400">
                <a:latin typeface="宋体" panose="02010600030101010101" pitchFamily="2" charset="-122"/>
              </a:rPr>
              <a:t>方式的主要优点是速度快。由于</a:t>
            </a:r>
            <a:r>
              <a:rPr lang="en-US" altLang="zh-CN" sz="2400">
                <a:latin typeface="宋体" panose="02010600030101010101" pitchFamily="2" charset="-122"/>
              </a:rPr>
              <a:t>CPU</a:t>
            </a:r>
            <a:r>
              <a:rPr lang="zh-CN" altLang="en-US" sz="2400">
                <a:latin typeface="宋体" panose="02010600030101010101" pitchFamily="2" charset="-122"/>
              </a:rPr>
              <a:t>根本不参加传送操作，因此就省去了</a:t>
            </a:r>
            <a:r>
              <a:rPr lang="en-US" altLang="zh-CN" sz="2400">
                <a:latin typeface="宋体" panose="02010600030101010101" pitchFamily="2" charset="-122"/>
              </a:rPr>
              <a:t>CPU</a:t>
            </a:r>
            <a:r>
              <a:rPr lang="zh-CN" altLang="en-US" sz="2400">
                <a:latin typeface="宋体" panose="02010600030101010101" pitchFamily="2" charset="-122"/>
              </a:rPr>
              <a:t>取指令、取数、送数等操作。在数据传送过程中，没有保存现场、恢复现场之类的工作。内存地址修改、传送字个数的计数等等，也不是由软件实现，而是用硬件线路直接实现的。所以</a:t>
            </a:r>
            <a:r>
              <a:rPr lang="en-US" altLang="zh-CN" sz="2400">
                <a:latin typeface="宋体" panose="02010600030101010101" pitchFamily="2" charset="-122"/>
              </a:rPr>
              <a:t>DMA</a:t>
            </a:r>
            <a:r>
              <a:rPr lang="zh-CN" altLang="en-US" sz="2400">
                <a:latin typeface="宋体" panose="02010600030101010101" pitchFamily="2" charset="-122"/>
              </a:rPr>
              <a:t>方式能满足高速</a:t>
            </a:r>
            <a:r>
              <a:rPr lang="en-US" altLang="zh-CN" sz="2400">
                <a:latin typeface="宋体" panose="02010600030101010101" pitchFamily="2" charset="-122"/>
              </a:rPr>
              <a:t>I/O</a:t>
            </a:r>
            <a:r>
              <a:rPr lang="zh-CN" altLang="en-US" sz="2400">
                <a:latin typeface="宋体" panose="02010600030101010101" pitchFamily="2" charset="-122"/>
              </a:rPr>
              <a:t>设备的要求，也有利于</a:t>
            </a:r>
            <a:r>
              <a:rPr lang="en-US" altLang="zh-CN" sz="2400">
                <a:latin typeface="宋体" panose="02010600030101010101" pitchFamily="2" charset="-122"/>
              </a:rPr>
              <a:t>CPU</a:t>
            </a:r>
            <a:r>
              <a:rPr lang="zh-CN" altLang="en-US" sz="2400">
                <a:latin typeface="宋体" panose="02010600030101010101" pitchFamily="2" charset="-122"/>
              </a:rPr>
              <a:t>效率的发挥。</a:t>
            </a:r>
            <a:endParaRPr lang="en-US" altLang="zh-CN" sz="2400">
              <a:latin typeface="宋体" panose="02010600030101010101" pitchFamily="2" charset="-122"/>
            </a:endParaRPr>
          </a:p>
          <a:p>
            <a:endParaRPr lang="en-US" altLang="zh-CN" sz="240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p>
            <a:fld id="{2E8B0CCB-0710-4A24-8DE5-BD11CF3A5F28}" type="slidenum">
              <a:rPr lang="en-US" altLang="zh-CN" smtClean="0"/>
              <a:t>51</a:t>
            </a:fld>
            <a:endParaRPr lang="en-US" altLang="zh-CN"/>
          </a:p>
        </p:txBody>
      </p:sp>
      <p:sp>
        <p:nvSpPr>
          <p:cNvPr id="54275" name="Rectangle 2"/>
          <p:cNvSpPr>
            <a:spLocks noGrp="1" noChangeArrowheads="1"/>
          </p:cNvSpPr>
          <p:nvPr>
            <p:ph type="title"/>
          </p:nvPr>
        </p:nvSpPr>
        <p:spPr>
          <a:xfrm>
            <a:off x="179388" y="115888"/>
            <a:ext cx="7543800" cy="714375"/>
          </a:xfrm>
        </p:spPr>
        <p:txBody>
          <a:bodyPr/>
          <a:lstStyle/>
          <a:p>
            <a:pPr eaLnBrk="1" hangingPunct="1"/>
            <a:r>
              <a:rPr lang="en-US" altLang="zh-CN">
                <a:cs typeface="Times New Roman" panose="02020603050405020304" charset="0"/>
              </a:rPr>
              <a:t>8.4  DMA</a:t>
            </a:r>
            <a:r>
              <a:rPr lang="zh-CN" altLang="en-US"/>
              <a:t>方式</a:t>
            </a:r>
          </a:p>
        </p:txBody>
      </p:sp>
      <p:sp>
        <p:nvSpPr>
          <p:cNvPr id="54276" name="Rectangle 6"/>
          <p:cNvSpPr>
            <a:spLocks noChangeArrowheads="1"/>
          </p:cNvSpPr>
          <p:nvPr/>
        </p:nvSpPr>
        <p:spPr bwMode="auto">
          <a:xfrm>
            <a:off x="204788" y="798513"/>
            <a:ext cx="8785225" cy="6002337"/>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b="1">
                <a:latin typeface="宋体" panose="02010600030101010101" pitchFamily="2" charset="-122"/>
              </a:rPr>
              <a:t>    </a:t>
            </a:r>
            <a:r>
              <a:rPr lang="en-US" altLang="zh-CN" sz="2400">
                <a:latin typeface="宋体" panose="02010600030101010101" pitchFamily="2" charset="-122"/>
              </a:rPr>
              <a:t>DMA</a:t>
            </a:r>
            <a:r>
              <a:rPr lang="zh-CN" altLang="en-US" sz="2400">
                <a:latin typeface="宋体" panose="02010600030101010101" pitchFamily="2" charset="-122"/>
              </a:rPr>
              <a:t>至少能执行以下一些基本操作：</a:t>
            </a:r>
          </a:p>
          <a:p>
            <a:r>
              <a:rPr lang="zh-CN" altLang="en-US" sz="2400">
                <a:latin typeface="宋体" panose="02010600030101010101" pitchFamily="2" charset="-122"/>
              </a:rPr>
              <a:t>　　</a:t>
            </a:r>
            <a:r>
              <a:rPr lang="en-US" altLang="zh-CN" sz="2400">
                <a:latin typeface="宋体" panose="02010600030101010101" pitchFamily="2" charset="-122"/>
              </a:rPr>
              <a:t>(1)</a:t>
            </a:r>
            <a:r>
              <a:rPr lang="zh-CN" altLang="en-US" sz="2400">
                <a:latin typeface="宋体" panose="02010600030101010101" pitchFamily="2" charset="-122"/>
              </a:rPr>
              <a:t>从外围设备发出</a:t>
            </a:r>
            <a:r>
              <a:rPr lang="en-US" altLang="zh-CN" sz="2400">
                <a:latin typeface="宋体" panose="02010600030101010101" pitchFamily="2" charset="-122"/>
              </a:rPr>
              <a:t>DMA</a:t>
            </a:r>
            <a:r>
              <a:rPr lang="zh-CN" altLang="en-US" sz="2400">
                <a:latin typeface="宋体" panose="02010600030101010101" pitchFamily="2" charset="-122"/>
              </a:rPr>
              <a:t>请求；</a:t>
            </a:r>
          </a:p>
          <a:p>
            <a:r>
              <a:rPr lang="zh-CN" altLang="en-US" sz="2400">
                <a:latin typeface="宋体" panose="02010600030101010101" pitchFamily="2" charset="-122"/>
              </a:rPr>
              <a:t>　　</a:t>
            </a:r>
            <a:r>
              <a:rPr lang="en-US" altLang="zh-CN" sz="2400">
                <a:latin typeface="宋体" panose="02010600030101010101" pitchFamily="2" charset="-122"/>
              </a:rPr>
              <a:t>(2)CPU</a:t>
            </a:r>
            <a:r>
              <a:rPr lang="zh-CN" altLang="en-US" sz="2400">
                <a:latin typeface="宋体" panose="02010600030101010101" pitchFamily="2" charset="-122"/>
              </a:rPr>
              <a:t>响应请求，把</a:t>
            </a:r>
            <a:r>
              <a:rPr lang="en-US" altLang="zh-CN" sz="2400">
                <a:latin typeface="宋体" panose="02010600030101010101" pitchFamily="2" charset="-122"/>
              </a:rPr>
              <a:t>CPU</a:t>
            </a:r>
            <a:r>
              <a:rPr lang="zh-CN" altLang="en-US" sz="2400">
                <a:latin typeface="宋体" panose="02010600030101010101" pitchFamily="2" charset="-122"/>
              </a:rPr>
              <a:t>工作改成</a:t>
            </a:r>
            <a:r>
              <a:rPr lang="en-US" altLang="zh-CN" sz="2400">
                <a:latin typeface="宋体" panose="02010600030101010101" pitchFamily="2" charset="-122"/>
              </a:rPr>
              <a:t>DMA</a:t>
            </a:r>
            <a:r>
              <a:rPr lang="zh-CN" altLang="en-US" sz="2400">
                <a:latin typeface="宋体" panose="02010600030101010101" pitchFamily="2" charset="-122"/>
              </a:rPr>
              <a:t>操作方式，</a:t>
            </a:r>
            <a:r>
              <a:rPr lang="en-US" altLang="zh-CN" sz="2400">
                <a:latin typeface="宋体" panose="02010600030101010101" pitchFamily="2" charset="-122"/>
              </a:rPr>
              <a:t>DMA</a:t>
            </a:r>
            <a:r>
              <a:rPr lang="zh-CN" altLang="en-US" sz="2400">
                <a:latin typeface="宋体" panose="02010600030101010101" pitchFamily="2" charset="-122"/>
              </a:rPr>
              <a:t>控制器从</a:t>
            </a:r>
            <a:r>
              <a:rPr lang="en-US" altLang="zh-CN" sz="2400">
                <a:latin typeface="宋体" panose="02010600030101010101" pitchFamily="2" charset="-122"/>
              </a:rPr>
              <a:t>CPU</a:t>
            </a:r>
            <a:r>
              <a:rPr lang="zh-CN" altLang="en-US" sz="2400">
                <a:latin typeface="宋体" panose="02010600030101010101" pitchFamily="2" charset="-122"/>
              </a:rPr>
              <a:t>接管总线的控制；</a:t>
            </a:r>
          </a:p>
          <a:p>
            <a:r>
              <a:rPr lang="zh-CN" altLang="en-US" sz="2400">
                <a:latin typeface="宋体" panose="02010600030101010101" pitchFamily="2" charset="-122"/>
              </a:rPr>
              <a:t>　　</a:t>
            </a:r>
            <a:r>
              <a:rPr lang="en-US" altLang="zh-CN" sz="2400">
                <a:latin typeface="宋体" panose="02010600030101010101" pitchFamily="2" charset="-122"/>
              </a:rPr>
              <a:t>(3)</a:t>
            </a:r>
            <a:r>
              <a:rPr lang="zh-CN" altLang="en-US" sz="2400">
                <a:latin typeface="宋体" panose="02010600030101010101" pitchFamily="2" charset="-122"/>
              </a:rPr>
              <a:t>由</a:t>
            </a:r>
            <a:r>
              <a:rPr lang="en-US" altLang="zh-CN" sz="2400">
                <a:latin typeface="宋体" panose="02010600030101010101" pitchFamily="2" charset="-122"/>
              </a:rPr>
              <a:t>DMA</a:t>
            </a:r>
            <a:r>
              <a:rPr lang="zh-CN" altLang="en-US" sz="2400">
                <a:latin typeface="宋体" panose="02010600030101010101" pitchFamily="2" charset="-122"/>
              </a:rPr>
              <a:t>控制器对内存寻址，即决定数据传送的内存单元地址及数据传送个数的计数，并执行数据传送的操作；</a:t>
            </a:r>
          </a:p>
          <a:p>
            <a:r>
              <a:rPr lang="zh-CN" altLang="en-US" sz="2400">
                <a:latin typeface="宋体" panose="02010600030101010101" pitchFamily="2" charset="-122"/>
              </a:rPr>
              <a:t>　　</a:t>
            </a:r>
            <a:r>
              <a:rPr lang="en-US" altLang="zh-CN" sz="2400">
                <a:latin typeface="宋体" panose="02010600030101010101" pitchFamily="2" charset="-122"/>
              </a:rPr>
              <a:t>(4)</a:t>
            </a:r>
            <a:r>
              <a:rPr lang="zh-CN" altLang="en-US" sz="2400">
                <a:latin typeface="宋体" panose="02010600030101010101" pitchFamily="2" charset="-122"/>
              </a:rPr>
              <a:t>向</a:t>
            </a:r>
            <a:r>
              <a:rPr lang="en-US" altLang="zh-CN" sz="2400">
                <a:latin typeface="宋体" panose="02010600030101010101" pitchFamily="2" charset="-122"/>
              </a:rPr>
              <a:t>CPU</a:t>
            </a:r>
            <a:r>
              <a:rPr lang="zh-CN" altLang="en-US" sz="2400">
                <a:latin typeface="宋体" panose="02010600030101010101" pitchFamily="2" charset="-122"/>
              </a:rPr>
              <a:t>报告</a:t>
            </a:r>
            <a:r>
              <a:rPr lang="en-US" altLang="zh-CN" sz="2400">
                <a:latin typeface="宋体" panose="02010600030101010101" pitchFamily="2" charset="-122"/>
              </a:rPr>
              <a:t>DMA</a:t>
            </a:r>
            <a:r>
              <a:rPr lang="zh-CN" altLang="en-US" sz="2400">
                <a:latin typeface="宋体" panose="02010600030101010101" pitchFamily="2" charset="-122"/>
              </a:rPr>
              <a:t>操作的结束。</a:t>
            </a:r>
          </a:p>
          <a:p>
            <a:r>
              <a:rPr lang="zh-CN" altLang="en-US" sz="2400" b="1">
                <a:latin typeface="宋体" panose="02010600030101010101" pitchFamily="2" charset="-122"/>
              </a:rPr>
              <a:t>    注意 在</a:t>
            </a:r>
            <a:r>
              <a:rPr lang="en-US" altLang="zh-CN" sz="2400" b="1">
                <a:latin typeface="宋体" panose="02010600030101010101" pitchFamily="2" charset="-122"/>
              </a:rPr>
              <a:t>DMA</a:t>
            </a:r>
            <a:r>
              <a:rPr lang="zh-CN" altLang="en-US" sz="2400" b="1">
                <a:latin typeface="宋体" panose="02010600030101010101" pitchFamily="2" charset="-122"/>
              </a:rPr>
              <a:t>方式中，一批数据传送前的准备工作，以及传送结束后的处理工作，均由管理程序承担，而</a:t>
            </a:r>
            <a:r>
              <a:rPr lang="en-US" altLang="zh-CN" sz="2400" b="1">
                <a:latin typeface="宋体" panose="02010600030101010101" pitchFamily="2" charset="-122"/>
              </a:rPr>
              <a:t>DMA</a:t>
            </a:r>
            <a:r>
              <a:rPr lang="zh-CN" altLang="en-US" sz="2400" b="1">
                <a:latin typeface="宋体" panose="02010600030101010101" pitchFamily="2" charset="-122"/>
              </a:rPr>
              <a:t>控制器仅负责数据传送的工作。    </a:t>
            </a:r>
          </a:p>
          <a:p>
            <a:r>
              <a:rPr lang="zh-CN" altLang="en-US" sz="2400">
                <a:latin typeface="宋体" panose="02010600030101010101" pitchFamily="2" charset="-122"/>
              </a:rPr>
              <a:t>   总结：</a:t>
            </a:r>
            <a:r>
              <a:rPr lang="en-US" altLang="zh-CN" sz="2400">
                <a:latin typeface="宋体" panose="02010600030101010101" pitchFamily="2" charset="-122"/>
              </a:rPr>
              <a:t>DMA</a:t>
            </a:r>
            <a:r>
              <a:rPr lang="zh-CN" altLang="en-US" sz="2400">
                <a:latin typeface="宋体" panose="02010600030101010101" pitchFamily="2" charset="-122"/>
              </a:rPr>
              <a:t>方式一般用于高速传送成组数据，直接在内存和</a:t>
            </a:r>
            <a:r>
              <a:rPr lang="en-US" altLang="zh-CN" sz="2400">
                <a:latin typeface="宋体" panose="02010600030101010101" pitchFamily="2" charset="-122"/>
              </a:rPr>
              <a:t>I/O</a:t>
            </a:r>
            <a:r>
              <a:rPr lang="zh-CN" altLang="en-US" sz="2400">
                <a:latin typeface="宋体" panose="02010600030101010101" pitchFamily="2" charset="-122"/>
              </a:rPr>
              <a:t>设备之间进行。由</a:t>
            </a:r>
            <a:r>
              <a:rPr lang="en-US" altLang="zh-CN" sz="2400">
                <a:latin typeface="宋体" panose="02010600030101010101" pitchFamily="2" charset="-122"/>
              </a:rPr>
              <a:t>DMA</a:t>
            </a:r>
            <a:r>
              <a:rPr lang="zh-CN" altLang="en-US" sz="2400">
                <a:latin typeface="宋体" panose="02010600030101010101" pitchFamily="2" charset="-122"/>
              </a:rPr>
              <a:t>控制器给出当前正在传送的数据的主存地址，并统计传送数据的个数以确定一组数据的传送是否已结束。在主存中要开辟连续地址的专用缓冲器，用来提供或接收传送的数据。在数据传送前和结束后要通过程序或中断方式对缓冲器和</a:t>
            </a:r>
            <a:r>
              <a:rPr lang="en-US" altLang="zh-CN" sz="2400">
                <a:latin typeface="宋体" panose="02010600030101010101" pitchFamily="2" charset="-122"/>
              </a:rPr>
              <a:t>DMA</a:t>
            </a:r>
            <a:r>
              <a:rPr lang="zh-CN" altLang="en-US" sz="2400">
                <a:latin typeface="宋体" panose="02010600030101010101" pitchFamily="2" charset="-122"/>
              </a:rPr>
              <a:t>控制器进行预处理和后处理。</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2"/>
          </p:nvPr>
        </p:nvSpPr>
        <p:spPr>
          <a:noFill/>
        </p:spPr>
        <p:txBody>
          <a:bodyPr/>
          <a:lstStyle/>
          <a:p>
            <a:fld id="{99283B88-D97D-4F6D-B08D-605272D92135}" type="slidenum">
              <a:rPr lang="en-US" altLang="zh-CN" smtClean="0"/>
              <a:t>52</a:t>
            </a:fld>
            <a:endParaRPr lang="en-US" altLang="zh-CN"/>
          </a:p>
        </p:txBody>
      </p:sp>
      <p:sp>
        <p:nvSpPr>
          <p:cNvPr id="55299" name="Rectangle 2"/>
          <p:cNvSpPr>
            <a:spLocks noChangeArrowheads="1"/>
          </p:cNvSpPr>
          <p:nvPr/>
        </p:nvSpPr>
        <p:spPr bwMode="auto">
          <a:xfrm>
            <a:off x="179388" y="150654"/>
            <a:ext cx="7715250" cy="1538605"/>
          </a:xfrm>
          <a:prstGeom prst="rect">
            <a:avLst/>
          </a:prstGeom>
          <a:noFill/>
          <a:ln w="12700">
            <a:noFill/>
            <a:miter lim="800000"/>
            <a:headEnd type="none" w="sm" len="sm"/>
            <a:tailEnd type="none" w="sm" len="sm"/>
          </a:ln>
        </p:spPr>
        <p:txBody>
          <a:bodyPr tIns="0" bIns="0" anchor="ctr">
            <a:spAutoFit/>
          </a:bodyPr>
          <a:lstStyle/>
          <a:p>
            <a:r>
              <a:rPr lang="en-US" altLang="zh-CN" sz="2800" b="1">
                <a:latin typeface="宋体" panose="02010600030101010101" pitchFamily="2" charset="-122"/>
              </a:rPr>
              <a:t>8.4.2 DMA</a:t>
            </a:r>
            <a:r>
              <a:rPr lang="zh-CN" altLang="en-US" sz="2800" b="1">
                <a:latin typeface="宋体" panose="02010600030101010101" pitchFamily="2" charset="-122"/>
              </a:rPr>
              <a:t>传送方式　</a:t>
            </a:r>
            <a:r>
              <a:rPr lang="zh-CN" altLang="en-US" sz="2400" b="1" i="1">
                <a:latin typeface="宋体" panose="02010600030101010101" pitchFamily="2" charset="-122"/>
              </a:rPr>
              <a:t>　　　　　　　　</a:t>
            </a:r>
            <a:endParaRPr lang="zh-CN" altLang="en-US" sz="2400" b="1">
              <a:latin typeface="宋体" panose="02010600030101010101" pitchFamily="2" charset="-122"/>
            </a:endParaRPr>
          </a:p>
          <a:p>
            <a:r>
              <a:rPr lang="zh-CN" altLang="en-US" sz="2400">
                <a:latin typeface="宋体" panose="02010600030101010101" pitchFamily="2" charset="-122"/>
              </a:rPr>
              <a:t>　　</a:t>
            </a:r>
            <a:r>
              <a:rPr lang="en-US" altLang="zh-CN" sz="2400">
                <a:latin typeface="宋体" panose="02010600030101010101" pitchFamily="2" charset="-122"/>
              </a:rPr>
              <a:t>DMA</a:t>
            </a:r>
            <a:r>
              <a:rPr lang="zh-CN" altLang="en-US" sz="2400">
                <a:latin typeface="宋体" panose="02010600030101010101" pitchFamily="2" charset="-122"/>
              </a:rPr>
              <a:t>技术的出现，使得外围设备可以通过</a:t>
            </a:r>
            <a:r>
              <a:rPr lang="en-US" altLang="zh-CN" sz="2400">
                <a:latin typeface="宋体" panose="02010600030101010101" pitchFamily="2" charset="-122"/>
              </a:rPr>
              <a:t>DMA</a:t>
            </a:r>
            <a:r>
              <a:rPr lang="zh-CN" altLang="en-US" sz="2400">
                <a:latin typeface="宋体" panose="02010600030101010101" pitchFamily="2" charset="-122"/>
              </a:rPr>
              <a:t>控制器直接访问内存，与此同时，</a:t>
            </a:r>
            <a:r>
              <a:rPr lang="en-US" altLang="zh-CN" sz="2400">
                <a:latin typeface="宋体" panose="02010600030101010101" pitchFamily="2" charset="-122"/>
              </a:rPr>
              <a:t>CPU</a:t>
            </a:r>
            <a:r>
              <a:rPr lang="zh-CN" altLang="en-US" sz="2400">
                <a:latin typeface="宋体" panose="02010600030101010101" pitchFamily="2" charset="-122"/>
              </a:rPr>
              <a:t>可以继续执行程序。</a:t>
            </a:r>
            <a:r>
              <a:rPr lang="en-US" altLang="zh-CN" sz="2400">
                <a:latin typeface="宋体" panose="02010600030101010101" pitchFamily="2" charset="-122"/>
              </a:rPr>
              <a:t>DMA</a:t>
            </a:r>
            <a:r>
              <a:rPr lang="zh-CN" altLang="en-US" sz="2400">
                <a:latin typeface="宋体" panose="02010600030101010101" pitchFamily="2" charset="-122"/>
              </a:rPr>
              <a:t>控制器与</a:t>
            </a:r>
            <a:r>
              <a:rPr lang="en-US" altLang="zh-CN" sz="2400">
                <a:latin typeface="宋体" panose="02010600030101010101" pitchFamily="2" charset="-122"/>
              </a:rPr>
              <a:t>CPU</a:t>
            </a:r>
            <a:r>
              <a:rPr lang="zh-CN" altLang="en-US" sz="2400">
                <a:latin typeface="宋体" panose="02010600030101010101" pitchFamily="2" charset="-122"/>
              </a:rPr>
              <a:t>分时使用内存通常采用以下三种方法：</a:t>
            </a:r>
          </a:p>
        </p:txBody>
      </p:sp>
      <p:pic>
        <p:nvPicPr>
          <p:cNvPr id="55300" name="Picture 3" descr="8"/>
          <p:cNvPicPr>
            <a:picLocks noChangeAspect="1" noChangeArrowheads="1"/>
          </p:cNvPicPr>
          <p:nvPr/>
        </p:nvPicPr>
        <p:blipFill>
          <a:blip r:embed="rId2"/>
          <a:srcRect/>
          <a:stretch>
            <a:fillRect/>
          </a:stretch>
        </p:blipFill>
        <p:spPr bwMode="auto">
          <a:xfrm>
            <a:off x="684213" y="1773238"/>
            <a:ext cx="6696075" cy="2303462"/>
          </a:xfrm>
          <a:prstGeom prst="rect">
            <a:avLst/>
          </a:prstGeom>
          <a:noFill/>
          <a:ln w="9525">
            <a:noFill/>
            <a:miter lim="800000"/>
            <a:headEnd/>
            <a:tailEnd/>
          </a:ln>
        </p:spPr>
      </p:pic>
      <p:sp>
        <p:nvSpPr>
          <p:cNvPr id="75780" name="Rectangle 4"/>
          <p:cNvSpPr>
            <a:spLocks noChangeArrowheads="1"/>
          </p:cNvSpPr>
          <p:nvPr/>
        </p:nvSpPr>
        <p:spPr bwMode="auto">
          <a:xfrm>
            <a:off x="250825" y="4005263"/>
            <a:ext cx="8424863" cy="2677656"/>
          </a:xfrm>
          <a:prstGeom prst="rect">
            <a:avLst/>
          </a:prstGeom>
          <a:noFill/>
          <a:ln w="12700">
            <a:noFill/>
            <a:miter lim="800000"/>
            <a:headEnd type="none" w="sm" len="sm"/>
            <a:tailEnd type="none" w="sm" len="sm"/>
          </a:ln>
        </p:spPr>
        <p:txBody>
          <a:bodyPr>
            <a:spAutoFit/>
          </a:bodyPr>
          <a:lstStyle/>
          <a:p>
            <a:r>
              <a:rPr lang="en-US" altLang="zh-CN" sz="2400" dirty="0">
                <a:latin typeface="宋体" panose="02010600030101010101" pitchFamily="2" charset="-122"/>
              </a:rPr>
              <a:t>1.</a:t>
            </a:r>
            <a:r>
              <a:rPr lang="zh-CN" altLang="en-US" sz="2400" dirty="0">
                <a:latin typeface="宋体" panose="02010600030101010101" pitchFamily="2" charset="-122"/>
              </a:rPr>
              <a:t>成组连续传送方式（停止</a:t>
            </a:r>
            <a:r>
              <a:rPr lang="en-US" altLang="zh-CN" sz="2400" dirty="0">
                <a:latin typeface="宋体" panose="02010600030101010101" pitchFamily="2" charset="-122"/>
              </a:rPr>
              <a:t>CPU</a:t>
            </a:r>
            <a:r>
              <a:rPr lang="zh-CN" altLang="en-US" sz="2400" dirty="0">
                <a:latin typeface="宋体" panose="02010600030101010101" pitchFamily="2" charset="-122"/>
              </a:rPr>
              <a:t>访问内存）</a:t>
            </a:r>
          </a:p>
          <a:p>
            <a:r>
              <a:rPr lang="zh-CN" altLang="en-US" sz="2400" dirty="0">
                <a:latin typeface="宋体" panose="02010600030101010101" pitchFamily="2" charset="-122"/>
              </a:rPr>
              <a:t>　　外围设备要求传送一批数据时，由</a:t>
            </a:r>
            <a:r>
              <a:rPr lang="en-US" altLang="zh-CN" sz="2400" dirty="0">
                <a:latin typeface="宋体" panose="02010600030101010101" pitchFamily="2" charset="-122"/>
              </a:rPr>
              <a:t>DMA</a:t>
            </a:r>
            <a:r>
              <a:rPr lang="zh-CN" altLang="en-US" sz="2400" dirty="0">
                <a:latin typeface="宋体" panose="02010600030101010101" pitchFamily="2" charset="-122"/>
              </a:rPr>
              <a:t>控制器发一个停止信号给</a:t>
            </a:r>
            <a:r>
              <a:rPr lang="en-US" altLang="zh-CN" sz="2400" dirty="0">
                <a:latin typeface="宋体" panose="02010600030101010101" pitchFamily="2" charset="-122"/>
              </a:rPr>
              <a:t>CPU</a:t>
            </a:r>
            <a:r>
              <a:rPr lang="zh-CN" altLang="en-US" sz="2400" dirty="0">
                <a:latin typeface="宋体" panose="02010600030101010101" pitchFamily="2" charset="-122"/>
              </a:rPr>
              <a:t>，要求</a:t>
            </a:r>
            <a:r>
              <a:rPr lang="en-US" altLang="zh-CN" sz="2400" dirty="0">
                <a:latin typeface="宋体" panose="02010600030101010101" pitchFamily="2" charset="-122"/>
              </a:rPr>
              <a:t>CPU</a:t>
            </a:r>
            <a:r>
              <a:rPr lang="zh-CN" altLang="en-US" sz="2400" dirty="0">
                <a:latin typeface="宋体" panose="02010600030101010101" pitchFamily="2" charset="-122"/>
              </a:rPr>
              <a:t>放弃对地址总线、数据总线和有关控制总线的使用权。</a:t>
            </a:r>
            <a:r>
              <a:rPr lang="en-US" altLang="zh-CN" sz="2400" dirty="0">
                <a:latin typeface="宋体" panose="02010600030101010101" pitchFamily="2" charset="-122"/>
              </a:rPr>
              <a:t>DMA</a:t>
            </a:r>
            <a:r>
              <a:rPr lang="zh-CN" altLang="en-US" sz="2400" dirty="0">
                <a:latin typeface="宋体" panose="02010600030101010101" pitchFamily="2" charset="-122"/>
              </a:rPr>
              <a:t>控制器获得总线控制权后，开始进行数据传送。在一批数据传送完毕后，</a:t>
            </a:r>
            <a:r>
              <a:rPr lang="en-US" altLang="zh-CN" sz="2400" dirty="0">
                <a:latin typeface="宋体" panose="02010600030101010101" pitchFamily="2" charset="-122"/>
              </a:rPr>
              <a:t>DMA</a:t>
            </a:r>
            <a:r>
              <a:rPr lang="zh-CN" altLang="en-US" sz="2400" dirty="0">
                <a:latin typeface="宋体" panose="02010600030101010101" pitchFamily="2" charset="-122"/>
              </a:rPr>
              <a:t>控制器通知</a:t>
            </a:r>
            <a:r>
              <a:rPr lang="en-US" altLang="zh-CN" sz="2400" dirty="0">
                <a:latin typeface="宋体" panose="02010600030101010101" pitchFamily="2" charset="-122"/>
              </a:rPr>
              <a:t>CPU</a:t>
            </a:r>
            <a:r>
              <a:rPr lang="zh-CN" altLang="en-US" sz="2400" dirty="0">
                <a:latin typeface="宋体" panose="02010600030101010101" pitchFamily="2" charset="-122"/>
              </a:rPr>
              <a:t>可以使用内存，并把总线控制权交还给</a:t>
            </a:r>
            <a:r>
              <a:rPr lang="en-US" altLang="zh-CN" sz="2400" dirty="0">
                <a:latin typeface="宋体" panose="02010600030101010101" pitchFamily="2" charset="-122"/>
              </a:rPr>
              <a:t>CPU</a:t>
            </a:r>
            <a:r>
              <a:rPr lang="zh-CN" altLang="en-US" sz="2400" dirty="0">
                <a:latin typeface="宋体" panose="02010600030101010101" pitchFamily="2" charset="-122"/>
              </a:rPr>
              <a:t>。在这种</a:t>
            </a:r>
            <a:r>
              <a:rPr lang="en-US" altLang="zh-CN" sz="2400" dirty="0">
                <a:latin typeface="宋体" panose="02010600030101010101" pitchFamily="2" charset="-122"/>
              </a:rPr>
              <a:t>DMA</a:t>
            </a:r>
            <a:r>
              <a:rPr lang="zh-CN" altLang="en-US" sz="2400" dirty="0">
                <a:latin typeface="宋体" panose="02010600030101010101" pitchFamily="2" charset="-122"/>
              </a:rPr>
              <a:t>传送过程中，</a:t>
            </a:r>
            <a:r>
              <a:rPr lang="en-US" altLang="zh-CN" sz="2400" dirty="0">
                <a:latin typeface="宋体" panose="02010600030101010101" pitchFamily="2" charset="-122"/>
              </a:rPr>
              <a:t>CPU</a:t>
            </a:r>
            <a:r>
              <a:rPr lang="zh-CN" altLang="en-US" sz="2400" dirty="0">
                <a:latin typeface="宋体" panose="02010600030101010101" pitchFamily="2" charset="-122"/>
              </a:rPr>
              <a:t>基本处于不工作状态或者说保持状态。</a:t>
            </a:r>
            <a:r>
              <a:rPr lang="zh-CN" altLang="en-US" dirty="0"/>
              <a:t>                  </a:t>
            </a:r>
          </a:p>
        </p:txBody>
      </p:sp>
      <p:sp>
        <p:nvSpPr>
          <p:cNvPr id="75781" name="Rectangle 5"/>
          <p:cNvSpPr>
            <a:spLocks noChangeArrowheads="1"/>
          </p:cNvSpPr>
          <p:nvPr/>
        </p:nvSpPr>
        <p:spPr bwMode="auto">
          <a:xfrm>
            <a:off x="304800" y="4134947"/>
            <a:ext cx="8229600" cy="2449513"/>
          </a:xfrm>
          <a:prstGeom prst="rect">
            <a:avLst/>
          </a:prstGeom>
          <a:noFill/>
          <a:ln w="9525">
            <a:noFill/>
            <a:miter lim="800000"/>
          </a:ln>
        </p:spPr>
        <p:txBody>
          <a:bodyPr/>
          <a:lstStyle/>
          <a:p>
            <a:pPr marL="342900" indent="-342900" algn="just">
              <a:spcBef>
                <a:spcPct val="20000"/>
              </a:spcBef>
              <a:buClr>
                <a:schemeClr val="tx2"/>
              </a:buClr>
              <a:buSzPct val="70000"/>
              <a:buFont typeface="Wingdings" panose="05000000000000000000" pitchFamily="2" charset="2"/>
              <a:buChar char="l"/>
            </a:pPr>
            <a:r>
              <a:rPr lang="zh-CN" altLang="en-US" sz="2400" dirty="0">
                <a:latin typeface="宋体" panose="02010600030101010101" pitchFamily="2" charset="-122"/>
              </a:rPr>
              <a:t>优点</a:t>
            </a:r>
            <a:r>
              <a:rPr lang="en-US" altLang="zh-CN" sz="2400" dirty="0">
                <a:latin typeface="宋体" panose="02010600030101010101" pitchFamily="2" charset="-122"/>
                <a:cs typeface="Times New Roman" panose="02020603050405020304" charset="0"/>
              </a:rPr>
              <a:t>: </a:t>
            </a:r>
            <a:r>
              <a:rPr lang="zh-CN" altLang="en-US" sz="2400" dirty="0">
                <a:latin typeface="宋体" panose="02010600030101010101" pitchFamily="2" charset="-122"/>
              </a:rPr>
              <a:t>控制简单，它适用于数据传输率很高的设备进行成组传送。</a:t>
            </a:r>
            <a:endParaRPr lang="zh-CN" altLang="en-US" sz="2400" dirty="0">
              <a:latin typeface="宋体" panose="02010600030101010101" pitchFamily="2" charset="-122"/>
              <a:cs typeface="Times New Roman" panose="02020603050405020304" charset="0"/>
            </a:endParaRPr>
          </a:p>
          <a:p>
            <a:pPr marL="342900" indent="-342900" algn="just">
              <a:spcBef>
                <a:spcPct val="20000"/>
              </a:spcBef>
              <a:buClr>
                <a:schemeClr val="tx2"/>
              </a:buClr>
              <a:buSzPct val="70000"/>
              <a:buFont typeface="Wingdings" panose="05000000000000000000" pitchFamily="2" charset="2"/>
              <a:buChar char="l"/>
            </a:pPr>
            <a:r>
              <a:rPr lang="zh-CN" altLang="en-US" sz="2400" dirty="0">
                <a:latin typeface="宋体" panose="02010600030101010101" pitchFamily="2" charset="-122"/>
              </a:rPr>
              <a:t>缺点</a:t>
            </a:r>
            <a:r>
              <a:rPr lang="en-US" altLang="zh-CN" sz="2400" dirty="0">
                <a:latin typeface="宋体" panose="02010600030101010101" pitchFamily="2" charset="-122"/>
                <a:cs typeface="Times New Roman" panose="02020603050405020304" charset="0"/>
              </a:rPr>
              <a:t>: </a:t>
            </a:r>
            <a:r>
              <a:rPr lang="zh-CN" altLang="en-US" sz="2400" dirty="0">
                <a:latin typeface="宋体" panose="02010600030101010101" pitchFamily="2" charset="-122"/>
              </a:rPr>
              <a:t>在</a:t>
            </a:r>
            <a:r>
              <a:rPr lang="en-US" altLang="zh-CN" sz="2400" dirty="0">
                <a:latin typeface="宋体" panose="02010600030101010101" pitchFamily="2" charset="-122"/>
                <a:cs typeface="Times New Roman" panose="02020603050405020304" charset="0"/>
              </a:rPr>
              <a:t>DMA</a:t>
            </a:r>
            <a:r>
              <a:rPr lang="zh-CN" altLang="en-US" sz="2400" dirty="0">
                <a:latin typeface="宋体" panose="02010600030101010101" pitchFamily="2" charset="-122"/>
              </a:rPr>
              <a:t>控制器访内阶段，内存的效能没有充分发挥，相当一部分内存工作周期是空闲的。这是因为，外围设备传送两个数据之间的间隔一般总是大于内存存储周期，即使高速</a:t>
            </a:r>
            <a:r>
              <a:rPr lang="en-US" altLang="zh-CN" sz="2400" dirty="0">
                <a:latin typeface="宋体" panose="02010600030101010101" pitchFamily="2" charset="-122"/>
                <a:cs typeface="Times New Roman" panose="02020603050405020304" charset="0"/>
              </a:rPr>
              <a:t>I/O</a:t>
            </a:r>
            <a:r>
              <a:rPr lang="zh-CN" altLang="en-US" sz="2400" dirty="0">
                <a:latin typeface="宋体" panose="02010600030101010101" pitchFamily="2" charset="-122"/>
              </a:rPr>
              <a:t>设备也是如此。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75780"/>
                                        </p:tgtEl>
                                        <p:attrNameLst>
                                          <p:attrName>style.visibility</p:attrName>
                                        </p:attrNameLst>
                                      </p:cBhvr>
                                      <p:to>
                                        <p:strVal val="visible"/>
                                      </p:to>
                                    </p:set>
                                    <p:animEffect transition="in" filter="dissolve">
                                      <p:cBhvr>
                                        <p:cTn id="11" dur="500"/>
                                        <p:tgtEl>
                                          <p:spTgt spid="75780"/>
                                        </p:tgtEl>
                                      </p:cBhvr>
                                    </p:animEffect>
                                  </p:childTnLst>
                                  <p:subTnLst>
                                    <p:set>
                                      <p:cBhvr override="childStyle">
                                        <p:cTn dur="1" fill="hold" display="0" masterRel="nextClick" afterEffect="1"/>
                                        <p:tgtEl>
                                          <p:spTgt spid="75780"/>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5781"/>
                                        </p:tgtEl>
                                        <p:attrNameLst>
                                          <p:attrName>style.visibility</p:attrName>
                                        </p:attrNameLst>
                                      </p:cBhvr>
                                      <p:to>
                                        <p:strVal val="visible"/>
                                      </p:to>
                                    </p:set>
                                    <p:animEffect transition="in" filter="dissolve">
                                      <p:cBhvr>
                                        <p:cTn id="16" dur="500"/>
                                        <p:tgtEl>
                                          <p:spTgt spid="7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autoUpdateAnimBg="0"/>
      <p:bldP spid="75781"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xfrm>
            <a:off x="6553200" y="6572200"/>
            <a:ext cx="2133600" cy="457200"/>
          </a:xfrm>
          <a:noFill/>
        </p:spPr>
        <p:txBody>
          <a:bodyPr/>
          <a:lstStyle/>
          <a:p>
            <a:fld id="{082E54AA-5EE2-4962-B3A2-237F72042E48}" type="slidenum">
              <a:rPr lang="en-US" altLang="zh-CN" smtClean="0"/>
              <a:t>53</a:t>
            </a:fld>
            <a:endParaRPr lang="en-US" altLang="zh-CN"/>
          </a:p>
        </p:txBody>
      </p:sp>
      <p:sp>
        <p:nvSpPr>
          <p:cNvPr id="77828" name="Rectangle 4"/>
          <p:cNvSpPr>
            <a:spLocks noChangeArrowheads="1"/>
          </p:cNvSpPr>
          <p:nvPr/>
        </p:nvSpPr>
        <p:spPr bwMode="auto">
          <a:xfrm>
            <a:off x="228600" y="2324330"/>
            <a:ext cx="8640763" cy="4524315"/>
          </a:xfrm>
          <a:prstGeom prst="rect">
            <a:avLst/>
          </a:prstGeom>
          <a:noFill/>
          <a:ln w="12700">
            <a:noFill/>
            <a:miter lim="800000"/>
            <a:headEnd type="none" w="sm" len="sm"/>
            <a:tailEnd type="none" w="sm" len="sm"/>
          </a:ln>
        </p:spPr>
        <p:txBody>
          <a:bodyPr anchor="ctr">
            <a:spAutoFit/>
          </a:bodyPr>
          <a:lstStyle/>
          <a:p>
            <a:pPr eaLnBrk="0" hangingPunct="0"/>
            <a:r>
              <a:rPr lang="en-US" altLang="zh-CN" sz="2400" dirty="0">
                <a:latin typeface="宋体" panose="02010600030101010101" pitchFamily="2" charset="-122"/>
              </a:rPr>
              <a:t>2.</a:t>
            </a:r>
            <a:r>
              <a:rPr lang="zh-CN" altLang="en-US" sz="2400" dirty="0">
                <a:latin typeface="宋体" panose="02010600030101010101" pitchFamily="2" charset="-122"/>
              </a:rPr>
              <a:t>周期挪用（单字传送方式，周期窃取方式）</a:t>
            </a:r>
          </a:p>
          <a:p>
            <a:pPr eaLnBrk="0" hangingPunct="0"/>
            <a:r>
              <a:rPr lang="zh-CN" altLang="en-US" sz="2400" dirty="0">
                <a:latin typeface="宋体" panose="02010600030101010101" pitchFamily="2" charset="-122"/>
              </a:rPr>
              <a:t>　　当</a:t>
            </a:r>
            <a:r>
              <a:rPr lang="en-US" altLang="zh-CN" sz="2400" dirty="0">
                <a:latin typeface="宋体" panose="02010600030101010101" pitchFamily="2" charset="-122"/>
              </a:rPr>
              <a:t>I/O</a:t>
            </a:r>
            <a:r>
              <a:rPr lang="zh-CN" altLang="en-US" sz="2400" dirty="0">
                <a:latin typeface="宋体" panose="02010600030101010101" pitchFamily="2" charset="-122"/>
              </a:rPr>
              <a:t>设备没有</a:t>
            </a:r>
            <a:r>
              <a:rPr lang="en-US" altLang="zh-CN" sz="2400" dirty="0">
                <a:latin typeface="宋体" panose="02010600030101010101" pitchFamily="2" charset="-122"/>
              </a:rPr>
              <a:t>DMA</a:t>
            </a:r>
            <a:r>
              <a:rPr lang="zh-CN" altLang="en-US" sz="2400" dirty="0">
                <a:latin typeface="宋体" panose="02010600030101010101" pitchFamily="2" charset="-122"/>
              </a:rPr>
              <a:t>请求时，</a:t>
            </a:r>
            <a:r>
              <a:rPr lang="en-US" altLang="zh-CN" sz="2400" dirty="0">
                <a:latin typeface="宋体" panose="02010600030101010101" pitchFamily="2" charset="-122"/>
              </a:rPr>
              <a:t>CPU</a:t>
            </a:r>
            <a:r>
              <a:rPr lang="zh-CN" altLang="en-US" sz="2400" dirty="0">
                <a:latin typeface="宋体" panose="02010600030101010101" pitchFamily="2" charset="-122"/>
              </a:rPr>
              <a:t>按程序要求访问内存；一旦</a:t>
            </a:r>
            <a:r>
              <a:rPr lang="en-US" altLang="zh-CN" sz="2400" dirty="0">
                <a:latin typeface="宋体" panose="02010600030101010101" pitchFamily="2" charset="-122"/>
              </a:rPr>
              <a:t>I/O</a:t>
            </a:r>
            <a:r>
              <a:rPr lang="zh-CN" altLang="en-US" sz="2400" dirty="0">
                <a:latin typeface="宋体" panose="02010600030101010101" pitchFamily="2" charset="-122"/>
              </a:rPr>
              <a:t>设备有</a:t>
            </a:r>
            <a:r>
              <a:rPr lang="en-US" altLang="zh-CN" sz="2400" dirty="0">
                <a:latin typeface="宋体" panose="02010600030101010101" pitchFamily="2" charset="-122"/>
              </a:rPr>
              <a:t>DMA</a:t>
            </a:r>
            <a:r>
              <a:rPr lang="zh-CN" altLang="en-US" sz="2400" dirty="0">
                <a:latin typeface="宋体" panose="02010600030101010101" pitchFamily="2" charset="-122"/>
              </a:rPr>
              <a:t>请求，则由</a:t>
            </a:r>
            <a:r>
              <a:rPr lang="en-US" altLang="zh-CN" sz="2400" dirty="0">
                <a:latin typeface="宋体" panose="02010600030101010101" pitchFamily="2" charset="-122"/>
              </a:rPr>
              <a:t>I/O</a:t>
            </a:r>
            <a:r>
              <a:rPr lang="zh-CN" altLang="en-US" sz="2400" dirty="0">
                <a:latin typeface="宋体" panose="02010600030101010101" pitchFamily="2" charset="-122"/>
              </a:rPr>
              <a:t>设备挪用一个或几个内存周期。</a:t>
            </a:r>
          </a:p>
          <a:p>
            <a:pPr eaLnBrk="0" hangingPunct="0"/>
            <a:r>
              <a:rPr lang="zh-CN" altLang="en-US" sz="2400" dirty="0">
                <a:latin typeface="宋体" panose="02010600030101010101" pitchFamily="2" charset="-122"/>
              </a:rPr>
              <a:t>    </a:t>
            </a:r>
            <a:r>
              <a:rPr lang="en-US" altLang="zh-CN" sz="2400" dirty="0">
                <a:latin typeface="宋体" panose="02010600030101010101" pitchFamily="2" charset="-122"/>
              </a:rPr>
              <a:t>I/O</a:t>
            </a:r>
            <a:r>
              <a:rPr lang="zh-CN" altLang="en-US" sz="2400" dirty="0">
                <a:latin typeface="宋体" panose="02010600030101010101" pitchFamily="2" charset="-122"/>
              </a:rPr>
              <a:t>设备要求</a:t>
            </a:r>
            <a:r>
              <a:rPr lang="en-US" altLang="zh-CN" sz="2400" dirty="0">
                <a:latin typeface="宋体" panose="02010600030101010101" pitchFamily="2" charset="-122"/>
              </a:rPr>
              <a:t>DMA</a:t>
            </a:r>
            <a:r>
              <a:rPr lang="zh-CN" altLang="en-US" sz="2400" dirty="0">
                <a:latin typeface="宋体" panose="02010600030101010101" pitchFamily="2" charset="-122"/>
              </a:rPr>
              <a:t>传送时可能遇到两种情况：</a:t>
            </a:r>
          </a:p>
          <a:p>
            <a:pPr eaLnBrk="0" hangingPunct="0"/>
            <a:r>
              <a:rPr lang="zh-CN" altLang="en-US" sz="2400" dirty="0">
                <a:latin typeface="宋体" panose="02010600030101010101" pitchFamily="2" charset="-122"/>
              </a:rPr>
              <a:t>　　</a:t>
            </a:r>
            <a:r>
              <a:rPr lang="en-US" altLang="zh-CN" sz="2400" dirty="0">
                <a:latin typeface="宋体" panose="02010600030101010101" pitchFamily="2" charset="-122"/>
              </a:rPr>
              <a:t>(1)</a:t>
            </a:r>
            <a:r>
              <a:rPr lang="zh-CN" altLang="en-US" sz="2400" dirty="0">
                <a:latin typeface="宋体" panose="02010600030101010101" pitchFamily="2" charset="-122"/>
              </a:rPr>
              <a:t>此时</a:t>
            </a:r>
            <a:r>
              <a:rPr lang="en-US" altLang="zh-CN" sz="2400" dirty="0">
                <a:latin typeface="宋体" panose="02010600030101010101" pitchFamily="2" charset="-122"/>
              </a:rPr>
              <a:t>CPU</a:t>
            </a:r>
            <a:r>
              <a:rPr lang="zh-CN" altLang="en-US" sz="2400" dirty="0">
                <a:latin typeface="宋体" panose="02010600030101010101" pitchFamily="2" charset="-122"/>
              </a:rPr>
              <a:t>不需要访内，如</a:t>
            </a:r>
            <a:r>
              <a:rPr lang="en-US" altLang="zh-CN" sz="2400" dirty="0">
                <a:latin typeface="宋体" panose="02010600030101010101" pitchFamily="2" charset="-122"/>
              </a:rPr>
              <a:t>CPU</a:t>
            </a:r>
            <a:r>
              <a:rPr lang="zh-CN" altLang="en-US" sz="2400" dirty="0">
                <a:latin typeface="宋体" panose="02010600030101010101" pitchFamily="2" charset="-122"/>
              </a:rPr>
              <a:t>正在执行乘法指令。由于乘法指令执行时间较长，此时</a:t>
            </a:r>
            <a:r>
              <a:rPr lang="en-US" altLang="zh-CN" sz="2400" dirty="0">
                <a:latin typeface="宋体" panose="02010600030101010101" pitchFamily="2" charset="-122"/>
              </a:rPr>
              <a:t>I/O</a:t>
            </a:r>
            <a:r>
              <a:rPr lang="zh-CN" altLang="en-US" sz="2400" dirty="0">
                <a:latin typeface="宋体" panose="02010600030101010101" pitchFamily="2" charset="-122"/>
              </a:rPr>
              <a:t>访内与</a:t>
            </a:r>
            <a:r>
              <a:rPr lang="en-US" altLang="zh-CN" sz="2400" dirty="0">
                <a:latin typeface="宋体" panose="02010600030101010101" pitchFamily="2" charset="-122"/>
              </a:rPr>
              <a:t>CPU</a:t>
            </a:r>
            <a:r>
              <a:rPr lang="zh-CN" altLang="en-US" sz="2400" dirty="0">
                <a:latin typeface="宋体" panose="02010600030101010101" pitchFamily="2" charset="-122"/>
              </a:rPr>
              <a:t>访内没有冲突，即</a:t>
            </a:r>
            <a:r>
              <a:rPr lang="en-US" altLang="zh-CN" sz="2400" dirty="0">
                <a:latin typeface="宋体" panose="02010600030101010101" pitchFamily="2" charset="-122"/>
              </a:rPr>
              <a:t>I/O</a:t>
            </a:r>
            <a:r>
              <a:rPr lang="zh-CN" altLang="en-US" sz="2400" dirty="0">
                <a:latin typeface="宋体" panose="02010600030101010101" pitchFamily="2" charset="-122"/>
              </a:rPr>
              <a:t>设备挪用一二个内存周期对</a:t>
            </a:r>
            <a:r>
              <a:rPr lang="en-US" altLang="zh-CN" sz="2400" dirty="0">
                <a:latin typeface="宋体" panose="02010600030101010101" pitchFamily="2" charset="-122"/>
              </a:rPr>
              <a:t>CPU</a:t>
            </a:r>
            <a:r>
              <a:rPr lang="zh-CN" altLang="en-US" sz="2400" dirty="0">
                <a:latin typeface="宋体" panose="02010600030101010101" pitchFamily="2" charset="-122"/>
              </a:rPr>
              <a:t>执行程序没有任何影响。</a:t>
            </a:r>
          </a:p>
          <a:p>
            <a:pPr eaLnBrk="0" hangingPunct="0"/>
            <a:r>
              <a:rPr lang="zh-CN" altLang="en-US" sz="2400" dirty="0">
                <a:latin typeface="宋体" panose="02010600030101010101" pitchFamily="2" charset="-122"/>
              </a:rPr>
              <a:t>　　</a:t>
            </a:r>
            <a:r>
              <a:rPr lang="en-US" altLang="zh-CN" sz="2400" dirty="0">
                <a:latin typeface="宋体" panose="02010600030101010101" pitchFamily="2" charset="-122"/>
              </a:rPr>
              <a:t>(2)I/O</a:t>
            </a:r>
            <a:r>
              <a:rPr lang="zh-CN" altLang="en-US" sz="2400" dirty="0">
                <a:latin typeface="宋体" panose="02010600030101010101" pitchFamily="2" charset="-122"/>
              </a:rPr>
              <a:t>设备要求访内时</a:t>
            </a:r>
            <a:r>
              <a:rPr lang="en-US" altLang="zh-CN" sz="2400" dirty="0">
                <a:latin typeface="宋体" panose="02010600030101010101" pitchFamily="2" charset="-122"/>
              </a:rPr>
              <a:t>CPU</a:t>
            </a:r>
            <a:r>
              <a:rPr lang="zh-CN" altLang="en-US" sz="2400" dirty="0">
                <a:latin typeface="宋体" panose="02010600030101010101" pitchFamily="2" charset="-122"/>
              </a:rPr>
              <a:t>也要求访内，这就产生了访内冲突，</a:t>
            </a:r>
            <a:r>
              <a:rPr lang="zh-CN" altLang="en-US" sz="2400" dirty="0"/>
              <a:t>此时</a:t>
            </a:r>
            <a:r>
              <a:rPr lang="en-US" altLang="zh-CN" sz="2400" dirty="0">
                <a:latin typeface="宋体" panose="02010600030101010101" pitchFamily="2" charset="-122"/>
              </a:rPr>
              <a:t>I/O</a:t>
            </a:r>
            <a:r>
              <a:rPr lang="zh-CN" altLang="en-US" sz="2400" dirty="0">
                <a:latin typeface="宋体" panose="02010600030101010101" pitchFamily="2" charset="-122"/>
              </a:rPr>
              <a:t>设备访内优先，因为</a:t>
            </a:r>
            <a:r>
              <a:rPr lang="en-US" altLang="zh-CN" sz="2400" dirty="0">
                <a:latin typeface="宋体" panose="02010600030101010101" pitchFamily="2" charset="-122"/>
              </a:rPr>
              <a:t>I/O</a:t>
            </a:r>
            <a:r>
              <a:rPr lang="zh-CN" altLang="en-US" sz="2400" dirty="0">
                <a:latin typeface="宋体" panose="02010600030101010101" pitchFamily="2" charset="-122"/>
              </a:rPr>
              <a:t>访内有时间要求，前一个</a:t>
            </a:r>
            <a:r>
              <a:rPr lang="en-US" altLang="zh-CN" sz="2400" dirty="0">
                <a:latin typeface="宋体" panose="02010600030101010101" pitchFamily="2" charset="-122"/>
              </a:rPr>
              <a:t>I/O</a:t>
            </a:r>
            <a:r>
              <a:rPr lang="zh-CN" altLang="en-US" sz="2400" dirty="0">
                <a:latin typeface="宋体" panose="02010600030101010101" pitchFamily="2" charset="-122"/>
              </a:rPr>
              <a:t>数据必须在下一个访内请求到来之前存取完毕。这种情况下</a:t>
            </a:r>
            <a:r>
              <a:rPr lang="en-US" altLang="zh-CN" sz="2400" dirty="0">
                <a:latin typeface="宋体" panose="02010600030101010101" pitchFamily="2" charset="-122"/>
              </a:rPr>
              <a:t>CPU</a:t>
            </a:r>
            <a:r>
              <a:rPr lang="zh-CN" altLang="en-US" sz="2400" dirty="0">
                <a:latin typeface="宋体" panose="02010600030101010101" pitchFamily="2" charset="-122"/>
              </a:rPr>
              <a:t>执行访内指令的过程中插入</a:t>
            </a:r>
            <a:r>
              <a:rPr lang="en-US" altLang="zh-CN" sz="2400" dirty="0">
                <a:latin typeface="宋体" panose="02010600030101010101" pitchFamily="2" charset="-122"/>
              </a:rPr>
              <a:t>DMA</a:t>
            </a:r>
            <a:r>
              <a:rPr lang="zh-CN" altLang="en-US" sz="2400" dirty="0">
                <a:latin typeface="宋体" panose="02010600030101010101" pitchFamily="2" charset="-122"/>
              </a:rPr>
              <a:t>请求，</a:t>
            </a:r>
            <a:r>
              <a:rPr lang="en-US" altLang="zh-CN" sz="2400" dirty="0">
                <a:latin typeface="宋体" panose="02010600030101010101" pitchFamily="2" charset="-122"/>
              </a:rPr>
              <a:t>I/O</a:t>
            </a:r>
            <a:r>
              <a:rPr lang="zh-CN" altLang="en-US" sz="2400" dirty="0">
                <a:latin typeface="宋体" panose="02010600030101010101" pitchFamily="2" charset="-122"/>
              </a:rPr>
              <a:t>设备挪用了一二个内存周期，</a:t>
            </a:r>
            <a:r>
              <a:rPr lang="en-US" altLang="zh-CN" sz="2400" dirty="0">
                <a:latin typeface="宋体" panose="02010600030101010101" pitchFamily="2" charset="-122"/>
              </a:rPr>
              <a:t>CPU</a:t>
            </a:r>
            <a:r>
              <a:rPr lang="zh-CN" altLang="en-US" sz="2400" dirty="0">
                <a:latin typeface="宋体" panose="02010600030101010101" pitchFamily="2" charset="-122"/>
              </a:rPr>
              <a:t>延缓了对指令的执行。</a:t>
            </a:r>
          </a:p>
        </p:txBody>
      </p:sp>
      <p:pic>
        <p:nvPicPr>
          <p:cNvPr id="56324" name="Picture 6"/>
          <p:cNvPicPr>
            <a:picLocks noChangeAspect="1" noChangeArrowheads="1"/>
          </p:cNvPicPr>
          <p:nvPr/>
        </p:nvPicPr>
        <p:blipFill>
          <a:blip r:embed="rId2"/>
          <a:srcRect/>
          <a:stretch>
            <a:fillRect/>
          </a:stretch>
        </p:blipFill>
        <p:spPr bwMode="auto">
          <a:xfrm>
            <a:off x="250825" y="107950"/>
            <a:ext cx="7632700" cy="2168525"/>
          </a:xfrm>
          <a:prstGeom prst="rect">
            <a:avLst/>
          </a:prstGeom>
          <a:noFill/>
          <a:ln w="9525">
            <a:noFill/>
            <a:miter lim="800000"/>
            <a:headEnd/>
            <a:tailEnd/>
          </a:ln>
        </p:spPr>
      </p:pic>
      <p:sp>
        <p:nvSpPr>
          <p:cNvPr id="77832" name="Rectangle 8"/>
          <p:cNvSpPr>
            <a:spLocks noChangeArrowheads="1"/>
          </p:cNvSpPr>
          <p:nvPr/>
        </p:nvSpPr>
        <p:spPr bwMode="auto">
          <a:xfrm>
            <a:off x="323850" y="2602113"/>
            <a:ext cx="8640763" cy="2647950"/>
          </a:xfrm>
          <a:prstGeom prst="rect">
            <a:avLst/>
          </a:prstGeom>
          <a:noFill/>
          <a:ln w="12700">
            <a:noFill/>
            <a:miter lim="800000"/>
            <a:headEnd type="none" w="sm" len="sm"/>
            <a:tailEnd type="none" w="sm" len="sm"/>
          </a:ln>
        </p:spPr>
        <p:txBody>
          <a:bodyPr anchor="ctr">
            <a:spAutoFit/>
          </a:bodyPr>
          <a:lstStyle/>
          <a:p>
            <a:pPr eaLnBrk="0" hangingPunct="0"/>
            <a:r>
              <a:rPr lang="zh-CN" altLang="en-US" sz="2400">
                <a:latin typeface="宋体" panose="02010600030101010101" pitchFamily="2" charset="-122"/>
              </a:rPr>
              <a:t>　　与停止</a:t>
            </a:r>
            <a:r>
              <a:rPr lang="en-US" altLang="zh-CN" sz="2400">
                <a:latin typeface="宋体" panose="02010600030101010101" pitchFamily="2" charset="-122"/>
              </a:rPr>
              <a:t>CPU</a:t>
            </a:r>
            <a:r>
              <a:rPr lang="zh-CN" altLang="en-US" sz="2400">
                <a:latin typeface="宋体" panose="02010600030101010101" pitchFamily="2" charset="-122"/>
              </a:rPr>
              <a:t>访内的</a:t>
            </a:r>
            <a:r>
              <a:rPr lang="en-US" altLang="zh-CN" sz="2400">
                <a:latin typeface="宋体" panose="02010600030101010101" pitchFamily="2" charset="-122"/>
              </a:rPr>
              <a:t>DMA</a:t>
            </a:r>
            <a:r>
              <a:rPr lang="zh-CN" altLang="en-US" sz="2400">
                <a:latin typeface="宋体" panose="02010600030101010101" pitchFamily="2" charset="-122"/>
              </a:rPr>
              <a:t>方法比较，周期挪用的方法既实现了</a:t>
            </a:r>
            <a:r>
              <a:rPr lang="en-US" altLang="zh-CN" sz="2400">
                <a:latin typeface="宋体" panose="02010600030101010101" pitchFamily="2" charset="-122"/>
              </a:rPr>
              <a:t>I/O</a:t>
            </a:r>
            <a:r>
              <a:rPr lang="zh-CN" altLang="en-US" sz="2400">
                <a:latin typeface="宋体" panose="02010600030101010101" pitchFamily="2" charset="-122"/>
              </a:rPr>
              <a:t>传送，又较好地发挥了内存和</a:t>
            </a:r>
            <a:r>
              <a:rPr lang="en-US" altLang="zh-CN" sz="2400">
                <a:latin typeface="宋体" panose="02010600030101010101" pitchFamily="2" charset="-122"/>
              </a:rPr>
              <a:t>CPU</a:t>
            </a:r>
            <a:r>
              <a:rPr lang="zh-CN" altLang="en-US" sz="2400">
                <a:latin typeface="宋体" panose="02010600030101010101" pitchFamily="2" charset="-122"/>
              </a:rPr>
              <a:t>的效率，是一种广泛采用的方法。但是</a:t>
            </a:r>
            <a:r>
              <a:rPr lang="en-US" altLang="zh-CN" sz="2400">
                <a:latin typeface="宋体" panose="02010600030101010101" pitchFamily="2" charset="-122"/>
              </a:rPr>
              <a:t>I/O</a:t>
            </a:r>
            <a:r>
              <a:rPr lang="zh-CN" altLang="en-US" sz="2400">
                <a:latin typeface="宋体" panose="02010600030101010101" pitchFamily="2" charset="-122"/>
              </a:rPr>
              <a:t>设备每一次周期挪用都有申请总线控制权、建立总线控制权和归还总线控制权的过程，所以传送一个字对内存来说要占用一个周期，但对</a:t>
            </a:r>
            <a:r>
              <a:rPr lang="en-US" altLang="zh-CN" sz="2400">
                <a:latin typeface="宋体" panose="02010600030101010101" pitchFamily="2" charset="-122"/>
              </a:rPr>
              <a:t>DMA</a:t>
            </a:r>
            <a:r>
              <a:rPr lang="zh-CN" altLang="en-US" sz="2400">
                <a:latin typeface="宋体" panose="02010600030101010101" pitchFamily="2" charset="-122"/>
              </a:rPr>
              <a:t>控制器来说一般要</a:t>
            </a:r>
            <a:r>
              <a:rPr lang="en-US" altLang="zh-CN" sz="2400">
                <a:latin typeface="宋体" panose="02010600030101010101" pitchFamily="2" charset="-122"/>
              </a:rPr>
              <a:t>2—5</a:t>
            </a:r>
            <a:r>
              <a:rPr lang="zh-CN" altLang="en-US" sz="2400">
                <a:latin typeface="宋体" panose="02010600030101010101" pitchFamily="2" charset="-122"/>
              </a:rPr>
              <a:t>个内存周期</a:t>
            </a:r>
            <a:r>
              <a:rPr lang="en-US" altLang="zh-CN" sz="2400">
                <a:latin typeface="宋体" panose="02010600030101010101" pitchFamily="2" charset="-122"/>
              </a:rPr>
              <a:t>(</a:t>
            </a:r>
            <a:r>
              <a:rPr lang="zh-CN" altLang="en-US" sz="2400">
                <a:latin typeface="宋体" panose="02010600030101010101" pitchFamily="2" charset="-122"/>
              </a:rPr>
              <a:t>视逻辑线路的延迟而定</a:t>
            </a:r>
            <a:r>
              <a:rPr lang="en-US" altLang="zh-CN" sz="2400">
                <a:latin typeface="宋体" panose="02010600030101010101" pitchFamily="2" charset="-122"/>
              </a:rPr>
              <a:t>)</a:t>
            </a:r>
            <a:r>
              <a:rPr lang="zh-CN" altLang="en-US" sz="2400">
                <a:latin typeface="宋体" panose="02010600030101010101" pitchFamily="2" charset="-122"/>
              </a:rPr>
              <a:t>。因此，周期挪用的方法适用于</a:t>
            </a:r>
            <a:r>
              <a:rPr lang="en-US" altLang="zh-CN" sz="2400">
                <a:latin typeface="宋体" panose="02010600030101010101" pitchFamily="2" charset="-122"/>
              </a:rPr>
              <a:t>I/O</a:t>
            </a:r>
            <a:r>
              <a:rPr lang="zh-CN" altLang="en-US" sz="2400">
                <a:latin typeface="宋体" panose="02010600030101010101" pitchFamily="2" charset="-122"/>
              </a:rPr>
              <a:t>设备读写周期大于内存存储周期的情况。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828"/>
                                        </p:tgtEl>
                                        <p:attrNameLst>
                                          <p:attrName>style.visibility</p:attrName>
                                        </p:attrNameLst>
                                      </p:cBhvr>
                                      <p:to>
                                        <p:strVal val="visible"/>
                                      </p:to>
                                    </p:set>
                                    <p:animEffect transition="in" filter="dissolve">
                                      <p:cBhvr>
                                        <p:cTn id="7" dur="500"/>
                                        <p:tgtEl>
                                          <p:spTgt spid="77828"/>
                                        </p:tgtEl>
                                      </p:cBhvr>
                                    </p:animEffect>
                                  </p:childTnLst>
                                  <p:subTnLst>
                                    <p:set>
                                      <p:cBhvr override="childStyle">
                                        <p:cTn dur="1" fill="hold" display="0" masterRel="nextClick" afterEffect="1"/>
                                        <p:tgtEl>
                                          <p:spTgt spid="7782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832"/>
                                        </p:tgtEl>
                                        <p:attrNameLst>
                                          <p:attrName>style.visibility</p:attrName>
                                        </p:attrNameLst>
                                      </p:cBhvr>
                                      <p:to>
                                        <p:strVal val="visible"/>
                                      </p:to>
                                    </p:set>
                                    <p:animEffect transition="in" filter="dissolve">
                                      <p:cBhvr>
                                        <p:cTn id="12" dur="500"/>
                                        <p:tgtEl>
                                          <p:spTgt spid="77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8" grpId="0" autoUpdateAnimBg="0"/>
      <p:bldP spid="77832"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p:spPr>
        <p:txBody>
          <a:bodyPr/>
          <a:lstStyle/>
          <a:p>
            <a:fld id="{5694EFB0-EFC7-4431-B1C0-12BED63D577F}" type="slidenum">
              <a:rPr lang="en-US" altLang="zh-CN" smtClean="0"/>
              <a:t>54</a:t>
            </a:fld>
            <a:endParaRPr lang="en-US" altLang="zh-CN"/>
          </a:p>
        </p:txBody>
      </p:sp>
      <p:sp>
        <p:nvSpPr>
          <p:cNvPr id="57347" name="Rectangle 4"/>
          <p:cNvSpPr>
            <a:spLocks noChangeArrowheads="1"/>
          </p:cNvSpPr>
          <p:nvPr/>
        </p:nvSpPr>
        <p:spPr bwMode="auto">
          <a:xfrm>
            <a:off x="3257550" y="2814638"/>
            <a:ext cx="9144000" cy="0"/>
          </a:xfrm>
          <a:prstGeom prst="rect">
            <a:avLst/>
          </a:prstGeom>
          <a:noFill/>
          <a:ln w="12700">
            <a:noFill/>
            <a:miter lim="800000"/>
            <a:headEnd type="none" w="sm" len="sm"/>
            <a:tailEnd type="none" w="sm" len="sm"/>
          </a:ln>
        </p:spPr>
        <p:txBody>
          <a:bodyPr>
            <a:spAutoFit/>
          </a:bodyPr>
          <a:lstStyle/>
          <a:p>
            <a:endParaRPr lang="zh-CN" altLang="en-US"/>
          </a:p>
        </p:txBody>
      </p:sp>
      <p:pic>
        <p:nvPicPr>
          <p:cNvPr id="57348" name="Picture 9" descr="8"/>
          <p:cNvPicPr>
            <a:picLocks noChangeAspect="1" noChangeArrowheads="1"/>
          </p:cNvPicPr>
          <p:nvPr/>
        </p:nvPicPr>
        <p:blipFill>
          <a:blip r:embed="rId2"/>
          <a:srcRect/>
          <a:stretch>
            <a:fillRect/>
          </a:stretch>
        </p:blipFill>
        <p:spPr bwMode="auto">
          <a:xfrm>
            <a:off x="323850" y="0"/>
            <a:ext cx="7488238" cy="2420938"/>
          </a:xfrm>
          <a:prstGeom prst="rect">
            <a:avLst/>
          </a:prstGeom>
          <a:noFill/>
          <a:ln w="9525">
            <a:noFill/>
            <a:miter lim="800000"/>
            <a:headEnd/>
            <a:tailEnd/>
          </a:ln>
        </p:spPr>
      </p:pic>
      <p:sp>
        <p:nvSpPr>
          <p:cNvPr id="36874" name="Rectangle 10"/>
          <p:cNvSpPr>
            <a:spLocks noChangeArrowheads="1"/>
          </p:cNvSpPr>
          <p:nvPr/>
        </p:nvSpPr>
        <p:spPr bwMode="auto">
          <a:xfrm>
            <a:off x="228600" y="2491333"/>
            <a:ext cx="8713788" cy="4154984"/>
          </a:xfrm>
          <a:prstGeom prst="rect">
            <a:avLst/>
          </a:prstGeom>
          <a:noFill/>
          <a:ln w="12700">
            <a:noFill/>
            <a:miter lim="800000"/>
            <a:headEnd type="none" w="sm" len="sm"/>
            <a:tailEnd type="none" w="sm" len="sm"/>
          </a:ln>
        </p:spPr>
        <p:txBody>
          <a:bodyPr anchor="ctr">
            <a:spAutoFit/>
          </a:bodyPr>
          <a:lstStyle/>
          <a:p>
            <a:pPr eaLnBrk="0" hangingPunct="0"/>
            <a:r>
              <a:rPr lang="en-US" altLang="zh-CN" sz="2400" dirty="0">
                <a:latin typeface="宋体" panose="02010600030101010101" pitchFamily="2" charset="-122"/>
              </a:rPr>
              <a:t>3.</a:t>
            </a:r>
            <a:r>
              <a:rPr lang="zh-CN" altLang="en-US" sz="2400" dirty="0">
                <a:latin typeface="宋体" panose="02010600030101010101" pitchFamily="2" charset="-122"/>
              </a:rPr>
              <a:t>透明</a:t>
            </a:r>
            <a:r>
              <a:rPr lang="en-US" altLang="zh-CN" sz="2400" dirty="0">
                <a:latin typeface="宋体" panose="02010600030101010101" pitchFamily="2" charset="-122"/>
              </a:rPr>
              <a:t>DMA</a:t>
            </a:r>
            <a:r>
              <a:rPr lang="zh-CN" altLang="en-US" sz="2400" dirty="0">
                <a:latin typeface="宋体" panose="02010600030101010101" pitchFamily="2" charset="-122"/>
              </a:rPr>
              <a:t>方式（</a:t>
            </a:r>
            <a:r>
              <a:rPr lang="en-US" altLang="zh-CN" sz="2400" dirty="0">
                <a:latin typeface="宋体" panose="02010600030101010101" pitchFamily="2" charset="-122"/>
              </a:rPr>
              <a:t>DMA</a:t>
            </a:r>
            <a:r>
              <a:rPr lang="zh-CN" altLang="en-US" sz="2400" dirty="0">
                <a:latin typeface="宋体" panose="02010600030101010101" pitchFamily="2" charset="-122"/>
              </a:rPr>
              <a:t>与</a:t>
            </a:r>
            <a:r>
              <a:rPr lang="en-US" altLang="zh-CN" sz="2400" dirty="0">
                <a:latin typeface="宋体" panose="02010600030101010101" pitchFamily="2" charset="-122"/>
              </a:rPr>
              <a:t>CPU</a:t>
            </a:r>
            <a:r>
              <a:rPr lang="zh-CN" altLang="en-US" sz="2400" dirty="0">
                <a:latin typeface="宋体" panose="02010600030101010101" pitchFamily="2" charset="-122"/>
              </a:rPr>
              <a:t>交替操作方式、总线周期分时方式）</a:t>
            </a:r>
          </a:p>
          <a:p>
            <a:pPr eaLnBrk="0" hangingPunct="0"/>
            <a:r>
              <a:rPr lang="zh-CN" altLang="en-US" sz="2400" dirty="0">
                <a:latin typeface="宋体" panose="02010600030101010101" pitchFamily="2" charset="-122"/>
              </a:rPr>
              <a:t>　　如果</a:t>
            </a:r>
            <a:r>
              <a:rPr lang="en-US" altLang="zh-CN" sz="2400" dirty="0">
                <a:latin typeface="宋体" panose="02010600030101010101" pitchFamily="2" charset="-122"/>
              </a:rPr>
              <a:t>CPU</a:t>
            </a:r>
            <a:r>
              <a:rPr lang="zh-CN" altLang="en-US" sz="2400" dirty="0">
                <a:latin typeface="宋体" panose="02010600030101010101" pitchFamily="2" charset="-122"/>
              </a:rPr>
              <a:t>的工作周期比内存存取周期长很多，此时采用交替访内的方法可以使</a:t>
            </a:r>
            <a:r>
              <a:rPr lang="en-US" altLang="zh-CN" sz="2400" dirty="0">
                <a:latin typeface="宋体" panose="02010600030101010101" pitchFamily="2" charset="-122"/>
              </a:rPr>
              <a:t>DMA</a:t>
            </a:r>
            <a:r>
              <a:rPr lang="zh-CN" altLang="en-US" sz="2400" dirty="0">
                <a:latin typeface="宋体" panose="02010600030101010101" pitchFamily="2" charset="-122"/>
              </a:rPr>
              <a:t>传送和</a:t>
            </a:r>
            <a:r>
              <a:rPr lang="en-US" altLang="zh-CN" sz="2400" dirty="0">
                <a:latin typeface="宋体" panose="02010600030101010101" pitchFamily="2" charset="-122"/>
              </a:rPr>
              <a:t>CPU</a:t>
            </a:r>
            <a:r>
              <a:rPr lang="zh-CN" altLang="en-US" sz="2400" dirty="0">
                <a:latin typeface="宋体" panose="02010600030101010101" pitchFamily="2" charset="-122"/>
              </a:rPr>
              <a:t>同时发挥最高的效率。假设</a:t>
            </a:r>
            <a:r>
              <a:rPr lang="en-US" altLang="zh-CN" sz="2400" dirty="0">
                <a:latin typeface="宋体" panose="02010600030101010101" pitchFamily="2" charset="-122"/>
              </a:rPr>
              <a:t>CPU</a:t>
            </a:r>
            <a:r>
              <a:rPr lang="zh-CN" altLang="en-US" sz="2400" dirty="0">
                <a:latin typeface="宋体" panose="02010600030101010101" pitchFamily="2" charset="-122"/>
              </a:rPr>
              <a:t>工作周期为 </a:t>
            </a:r>
            <a:r>
              <a:rPr lang="en-US" altLang="zh-CN" sz="2400" dirty="0">
                <a:latin typeface="宋体" panose="02010600030101010101" pitchFamily="2" charset="-122"/>
              </a:rPr>
              <a:t>1.2μs</a:t>
            </a:r>
            <a:r>
              <a:rPr lang="zh-CN" altLang="en-US" sz="2400" dirty="0">
                <a:latin typeface="宋体" panose="02010600030101010101" pitchFamily="2" charset="-122"/>
              </a:rPr>
              <a:t>，内存存取周期小于</a:t>
            </a:r>
            <a:r>
              <a:rPr lang="en-US" altLang="zh-CN" sz="2400" dirty="0">
                <a:latin typeface="宋体" panose="02010600030101010101" pitchFamily="2" charset="-122"/>
              </a:rPr>
              <a:t>0.6μs</a:t>
            </a:r>
            <a:r>
              <a:rPr lang="zh-CN" altLang="en-US" sz="2400" dirty="0">
                <a:latin typeface="宋体" panose="02010600030101010101" pitchFamily="2" charset="-122"/>
              </a:rPr>
              <a:t>，那么一个</a:t>
            </a:r>
            <a:r>
              <a:rPr lang="en-US" altLang="zh-CN" sz="2400" dirty="0">
                <a:latin typeface="宋体" panose="02010600030101010101" pitchFamily="2" charset="-122"/>
              </a:rPr>
              <a:t>CPU</a:t>
            </a:r>
            <a:r>
              <a:rPr lang="zh-CN" altLang="en-US" sz="2400" dirty="0">
                <a:latin typeface="宋体" panose="02010600030101010101" pitchFamily="2" charset="-122"/>
              </a:rPr>
              <a:t>周期可分为</a:t>
            </a:r>
            <a:r>
              <a:rPr lang="en-US" altLang="zh-CN" sz="2400" dirty="0">
                <a:latin typeface="宋体" panose="02010600030101010101" pitchFamily="2" charset="-122"/>
              </a:rPr>
              <a:t>C1</a:t>
            </a:r>
            <a:r>
              <a:rPr lang="zh-CN" altLang="en-US" sz="2400" dirty="0">
                <a:latin typeface="宋体" panose="02010600030101010101" pitchFamily="2" charset="-122"/>
              </a:rPr>
              <a:t>和</a:t>
            </a:r>
            <a:r>
              <a:rPr lang="en-US" altLang="zh-CN" sz="2400" dirty="0">
                <a:latin typeface="宋体" panose="02010600030101010101" pitchFamily="2" charset="-122"/>
              </a:rPr>
              <a:t>C2</a:t>
            </a:r>
            <a:r>
              <a:rPr lang="zh-CN" altLang="en-US" sz="2400" dirty="0">
                <a:latin typeface="宋体" panose="02010600030101010101" pitchFamily="2" charset="-122"/>
              </a:rPr>
              <a:t>两个分周期，其中</a:t>
            </a:r>
            <a:r>
              <a:rPr lang="en-US" altLang="zh-CN" sz="2400" dirty="0">
                <a:latin typeface="宋体" panose="02010600030101010101" pitchFamily="2" charset="-122"/>
              </a:rPr>
              <a:t>C1</a:t>
            </a:r>
            <a:r>
              <a:rPr lang="zh-CN" altLang="en-US" sz="2400" dirty="0">
                <a:latin typeface="宋体" panose="02010600030101010101" pitchFamily="2" charset="-122"/>
              </a:rPr>
              <a:t>供</a:t>
            </a:r>
            <a:r>
              <a:rPr lang="en-US" altLang="zh-CN" sz="2400" dirty="0">
                <a:latin typeface="宋体" panose="02010600030101010101" pitchFamily="2" charset="-122"/>
              </a:rPr>
              <a:t>DMA</a:t>
            </a:r>
            <a:r>
              <a:rPr lang="zh-CN" altLang="en-US" sz="2400" dirty="0">
                <a:latin typeface="宋体" panose="02010600030101010101" pitchFamily="2" charset="-122"/>
              </a:rPr>
              <a:t>控制器访内，</a:t>
            </a:r>
            <a:r>
              <a:rPr lang="en-US" altLang="zh-CN" sz="2400" dirty="0">
                <a:latin typeface="宋体" panose="02010600030101010101" pitchFamily="2" charset="-122"/>
              </a:rPr>
              <a:t>C2</a:t>
            </a:r>
            <a:r>
              <a:rPr lang="zh-CN" altLang="en-US" sz="2400" dirty="0">
                <a:latin typeface="宋体" panose="02010600030101010101" pitchFamily="2" charset="-122"/>
              </a:rPr>
              <a:t>专供</a:t>
            </a:r>
            <a:r>
              <a:rPr lang="en-US" altLang="zh-CN" sz="2400" dirty="0">
                <a:latin typeface="宋体" panose="02010600030101010101" pitchFamily="2" charset="-122"/>
              </a:rPr>
              <a:t>CPU</a:t>
            </a:r>
            <a:r>
              <a:rPr lang="zh-CN" altLang="en-US" sz="2400" dirty="0">
                <a:latin typeface="宋体" panose="02010600030101010101" pitchFamily="2" charset="-122"/>
              </a:rPr>
              <a:t>访内。               </a:t>
            </a:r>
          </a:p>
          <a:p>
            <a:pPr eaLnBrk="0" hangingPunct="0"/>
            <a:r>
              <a:rPr lang="zh-CN" altLang="en-US" sz="2400" dirty="0">
                <a:latin typeface="宋体" panose="02010600030101010101" pitchFamily="2" charset="-122"/>
              </a:rPr>
              <a:t>    这种方式不需要总线使用权的申请、建立和归还过程，总线使用权是通过</a:t>
            </a:r>
            <a:r>
              <a:rPr lang="en-US" altLang="zh-CN" sz="2400" dirty="0">
                <a:latin typeface="宋体" panose="02010600030101010101" pitchFamily="2" charset="-122"/>
              </a:rPr>
              <a:t>C1</a:t>
            </a:r>
            <a:r>
              <a:rPr lang="zh-CN" altLang="en-US" sz="2400" dirty="0">
                <a:latin typeface="宋体" panose="02010600030101010101" pitchFamily="2" charset="-122"/>
              </a:rPr>
              <a:t>和</a:t>
            </a:r>
            <a:r>
              <a:rPr lang="en-US" altLang="zh-CN" sz="2400" dirty="0">
                <a:latin typeface="宋体" panose="02010600030101010101" pitchFamily="2" charset="-122"/>
              </a:rPr>
              <a:t>C2</a:t>
            </a:r>
            <a:r>
              <a:rPr lang="zh-CN" altLang="en-US" sz="2400" dirty="0">
                <a:latin typeface="宋体" panose="02010600030101010101" pitchFamily="2" charset="-122"/>
              </a:rPr>
              <a:t>分时进行的。</a:t>
            </a:r>
            <a:r>
              <a:rPr lang="en-US" altLang="zh-CN" sz="2400" dirty="0">
                <a:latin typeface="宋体" panose="02010600030101010101" pitchFamily="2" charset="-122"/>
              </a:rPr>
              <a:t>CPU</a:t>
            </a:r>
            <a:r>
              <a:rPr lang="zh-CN" altLang="en-US" sz="2400" dirty="0">
                <a:latin typeface="宋体" panose="02010600030101010101" pitchFamily="2" charset="-122"/>
              </a:rPr>
              <a:t>和</a:t>
            </a:r>
            <a:r>
              <a:rPr lang="en-US" altLang="zh-CN" sz="2400" dirty="0">
                <a:latin typeface="宋体" panose="02010600030101010101" pitchFamily="2" charset="-122"/>
              </a:rPr>
              <a:t>DMA</a:t>
            </a:r>
            <a:r>
              <a:rPr lang="zh-CN" altLang="en-US" sz="2400" dirty="0">
                <a:latin typeface="宋体" panose="02010600030101010101" pitchFamily="2" charset="-122"/>
              </a:rPr>
              <a:t>控制器各自有自己的访内地址寄存器、数据寄存器和读</a:t>
            </a:r>
            <a:r>
              <a:rPr lang="en-US" altLang="zh-CN" sz="2400" dirty="0">
                <a:latin typeface="宋体" panose="02010600030101010101" pitchFamily="2" charset="-122"/>
              </a:rPr>
              <a:t>/</a:t>
            </a:r>
            <a:r>
              <a:rPr lang="zh-CN" altLang="en-US" sz="2400" dirty="0">
                <a:latin typeface="宋体" panose="02010600030101010101" pitchFamily="2" charset="-122"/>
              </a:rPr>
              <a:t>写信号等控制寄存器。对于总线，这是用</a:t>
            </a:r>
            <a:r>
              <a:rPr lang="en-US" altLang="zh-CN" sz="2400" dirty="0">
                <a:latin typeface="宋体" panose="02010600030101010101" pitchFamily="2" charset="-122"/>
              </a:rPr>
              <a:t>C1</a:t>
            </a:r>
            <a:r>
              <a:rPr lang="zh-CN" altLang="en-US" sz="2400" dirty="0">
                <a:latin typeface="宋体" panose="02010600030101010101" pitchFamily="2" charset="-122"/>
              </a:rPr>
              <a:t>，</a:t>
            </a:r>
            <a:r>
              <a:rPr lang="en-US" altLang="zh-CN" sz="2400" dirty="0">
                <a:latin typeface="宋体" panose="02010600030101010101" pitchFamily="2" charset="-122"/>
              </a:rPr>
              <a:t>C2</a:t>
            </a:r>
            <a:r>
              <a:rPr lang="zh-CN" altLang="en-US" sz="2400" dirty="0">
                <a:latin typeface="宋体" panose="02010600030101010101" pitchFamily="2" charset="-122"/>
              </a:rPr>
              <a:t>控制的一个多路转换器，这种总线控制权的转移几乎不需要什么时间，所以</a:t>
            </a:r>
            <a:r>
              <a:rPr lang="en-US" altLang="zh-CN" sz="2400" dirty="0">
                <a:latin typeface="宋体" panose="02010600030101010101" pitchFamily="2" charset="-122"/>
              </a:rPr>
              <a:t>DMA</a:t>
            </a:r>
            <a:r>
              <a:rPr lang="zh-CN" altLang="en-US" sz="2400" dirty="0">
                <a:latin typeface="宋体" panose="02010600030101010101" pitchFamily="2" charset="-122"/>
              </a:rPr>
              <a:t>传送效率是很高的。</a:t>
            </a:r>
          </a:p>
        </p:txBody>
      </p:sp>
      <p:sp>
        <p:nvSpPr>
          <p:cNvPr id="36875" name="Rectangle 11"/>
          <p:cNvSpPr>
            <a:spLocks noChangeArrowheads="1"/>
          </p:cNvSpPr>
          <p:nvPr/>
        </p:nvSpPr>
        <p:spPr bwMode="auto">
          <a:xfrm>
            <a:off x="152400" y="2667000"/>
            <a:ext cx="8785225" cy="2282825"/>
          </a:xfrm>
          <a:prstGeom prst="rect">
            <a:avLst/>
          </a:prstGeom>
          <a:noFill/>
          <a:ln w="12700">
            <a:noFill/>
            <a:miter lim="800000"/>
            <a:headEnd type="none" w="sm" len="sm"/>
            <a:tailEnd type="none" w="sm" len="sm"/>
          </a:ln>
        </p:spPr>
        <p:txBody>
          <a:bodyPr anchor="ctr">
            <a:spAutoFit/>
          </a:bodyPr>
          <a:lstStyle/>
          <a:p>
            <a:pPr eaLnBrk="0" hangingPunct="0"/>
            <a:r>
              <a:rPr lang="zh-CN" altLang="en-US" sz="2400" dirty="0">
                <a:latin typeface="宋体" panose="02010600030101010101" pitchFamily="2" charset="-122"/>
              </a:rPr>
              <a:t>　　这种传送方式又称为“透明的</a:t>
            </a:r>
            <a:r>
              <a:rPr lang="en-US" altLang="zh-CN" sz="2400" dirty="0">
                <a:latin typeface="宋体" panose="02010600030101010101" pitchFamily="2" charset="-122"/>
              </a:rPr>
              <a:t>DMA”</a:t>
            </a:r>
            <a:r>
              <a:rPr lang="zh-CN" altLang="en-US" sz="2400" dirty="0">
                <a:latin typeface="宋体" panose="02010600030101010101" pitchFamily="2" charset="-122"/>
              </a:rPr>
              <a:t>方式，其来由是这种</a:t>
            </a:r>
            <a:r>
              <a:rPr lang="en-US" altLang="zh-CN" sz="2400" dirty="0">
                <a:latin typeface="宋体" panose="02010600030101010101" pitchFamily="2" charset="-122"/>
              </a:rPr>
              <a:t>DMA</a:t>
            </a:r>
            <a:r>
              <a:rPr lang="zh-CN" altLang="en-US" sz="2400" dirty="0">
                <a:latin typeface="宋体" panose="02010600030101010101" pitchFamily="2" charset="-122"/>
              </a:rPr>
              <a:t>传送对</a:t>
            </a:r>
            <a:r>
              <a:rPr lang="en-US" altLang="zh-CN" sz="2400" dirty="0">
                <a:latin typeface="宋体" panose="02010600030101010101" pitchFamily="2" charset="-122"/>
              </a:rPr>
              <a:t>CPU</a:t>
            </a:r>
            <a:r>
              <a:rPr lang="zh-CN" altLang="en-US" sz="2400" dirty="0">
                <a:latin typeface="宋体" panose="02010600030101010101" pitchFamily="2" charset="-122"/>
              </a:rPr>
              <a:t>来说，如同透明的玻璃一般，没有任何感觉或影响。在透明的</a:t>
            </a:r>
            <a:r>
              <a:rPr lang="en-US" altLang="zh-CN" sz="2400" dirty="0">
                <a:latin typeface="宋体" panose="02010600030101010101" pitchFamily="2" charset="-122"/>
              </a:rPr>
              <a:t>DMA</a:t>
            </a:r>
            <a:r>
              <a:rPr lang="zh-CN" altLang="en-US" sz="2400" dirty="0">
                <a:latin typeface="宋体" panose="02010600030101010101" pitchFamily="2" charset="-122"/>
              </a:rPr>
              <a:t>方式下工作，</a:t>
            </a:r>
            <a:r>
              <a:rPr lang="en-US" altLang="zh-CN" sz="2400" dirty="0">
                <a:latin typeface="宋体" panose="02010600030101010101" pitchFamily="2" charset="-122"/>
              </a:rPr>
              <a:t>CPU</a:t>
            </a:r>
            <a:r>
              <a:rPr lang="zh-CN" altLang="en-US" sz="2400" dirty="0">
                <a:latin typeface="宋体" panose="02010600030101010101" pitchFamily="2" charset="-122"/>
              </a:rPr>
              <a:t>既不停止主程序的运行，也不进入等待状态，是一种高效率的工作方式。当然，相应的硬件逻辑也就更加复杂。</a:t>
            </a:r>
          </a:p>
          <a:p>
            <a:pPr eaLnBrk="0" hangingPunct="0"/>
            <a:r>
              <a:rPr lang="zh-CN" altLang="en-US" sz="2400" dirty="0">
                <a:latin typeface="宋体" panose="02010600030101010101" pitchFamily="2" charset="-122"/>
              </a:rPr>
              <a:t>    前提条件：</a:t>
            </a:r>
            <a:r>
              <a:rPr lang="en-US" altLang="zh-CN" sz="2400" dirty="0">
                <a:latin typeface="宋体" panose="02010600030101010101" pitchFamily="2" charset="-122"/>
              </a:rPr>
              <a:t>CPU</a:t>
            </a:r>
            <a:r>
              <a:rPr lang="zh-CN" altLang="en-US" sz="2400" dirty="0">
                <a:latin typeface="宋体" panose="02010600030101010101" pitchFamily="2" charset="-122"/>
              </a:rPr>
              <a:t>的工作周期比内存存取周期长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874"/>
                                        </p:tgtEl>
                                        <p:attrNameLst>
                                          <p:attrName>style.visibility</p:attrName>
                                        </p:attrNameLst>
                                      </p:cBhvr>
                                      <p:to>
                                        <p:strVal val="visible"/>
                                      </p:to>
                                    </p:set>
                                    <p:animEffect transition="in" filter="dissolve">
                                      <p:cBhvr>
                                        <p:cTn id="7" dur="500"/>
                                        <p:tgtEl>
                                          <p:spTgt spid="36874"/>
                                        </p:tgtEl>
                                      </p:cBhvr>
                                    </p:animEffect>
                                  </p:childTnLst>
                                  <p:subTnLst>
                                    <p:set>
                                      <p:cBhvr override="childStyle">
                                        <p:cTn dur="1" fill="hold" display="0" masterRel="nextClick" afterEffect="1"/>
                                        <p:tgtEl>
                                          <p:spTgt spid="3687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875"/>
                                        </p:tgtEl>
                                        <p:attrNameLst>
                                          <p:attrName>style.visibility</p:attrName>
                                        </p:attrNameLst>
                                      </p:cBhvr>
                                      <p:to>
                                        <p:strVal val="visible"/>
                                      </p:to>
                                    </p:set>
                                    <p:animEffect transition="in" filter="dissolve">
                                      <p:cBhvr>
                                        <p:cTn id="12" dur="500"/>
                                        <p:tgtEl>
                                          <p:spTgt spid="36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4" grpId="0" autoUpdateAnimBg="0"/>
      <p:bldP spid="36875"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a:spLocks noGrp="1"/>
          </p:cNvSpPr>
          <p:nvPr>
            <p:ph type="sldNum" sz="quarter" idx="12"/>
          </p:nvPr>
        </p:nvSpPr>
        <p:spPr>
          <a:noFill/>
        </p:spPr>
        <p:txBody>
          <a:bodyPr/>
          <a:lstStyle/>
          <a:p>
            <a:fld id="{3FFD5B7C-C8B6-4C0E-BED6-6C431D51645C}" type="slidenum">
              <a:rPr lang="en-US" altLang="zh-CN" smtClean="0"/>
              <a:t>55</a:t>
            </a:fld>
            <a:endParaRPr lang="en-US" altLang="zh-CN"/>
          </a:p>
        </p:txBody>
      </p:sp>
      <p:sp>
        <p:nvSpPr>
          <p:cNvPr id="58371" name="Rectangle 6"/>
          <p:cNvSpPr>
            <a:spLocks noChangeArrowheads="1"/>
          </p:cNvSpPr>
          <p:nvPr/>
        </p:nvSpPr>
        <p:spPr bwMode="auto">
          <a:xfrm>
            <a:off x="323850" y="188913"/>
            <a:ext cx="7634288" cy="731837"/>
          </a:xfrm>
          <a:prstGeom prst="rect">
            <a:avLst/>
          </a:prstGeom>
          <a:noFill/>
          <a:ln w="12700">
            <a:noFill/>
            <a:miter lim="800000"/>
            <a:headEnd type="none" w="sm" len="sm"/>
            <a:tailEnd type="none" w="sm" len="sm"/>
          </a:ln>
        </p:spPr>
        <p:txBody>
          <a:bodyPr tIns="0" bIns="0" anchor="ctr">
            <a:spAutoFit/>
          </a:bodyPr>
          <a:lstStyle/>
          <a:p>
            <a:r>
              <a:rPr lang="en-US" altLang="zh-CN" sz="4800" b="1">
                <a:latin typeface="宋体" panose="02010600030101010101" pitchFamily="2" charset="-122"/>
              </a:rPr>
              <a:t>8.4.3 </a:t>
            </a:r>
            <a:r>
              <a:rPr lang="zh-CN" altLang="en-US" sz="4800" b="1">
                <a:latin typeface="宋体" panose="02010600030101010101" pitchFamily="2" charset="-122"/>
              </a:rPr>
              <a:t>基本的</a:t>
            </a:r>
            <a:r>
              <a:rPr lang="en-US" altLang="zh-CN" sz="4800" b="1">
                <a:latin typeface="宋体" panose="02010600030101010101" pitchFamily="2" charset="-122"/>
              </a:rPr>
              <a:t>DMA</a:t>
            </a:r>
            <a:r>
              <a:rPr lang="zh-CN" altLang="en-US" sz="4800" b="1">
                <a:latin typeface="宋体" panose="02010600030101010101" pitchFamily="2" charset="-122"/>
              </a:rPr>
              <a:t>控制器</a:t>
            </a:r>
            <a:endParaRPr lang="zh-CN" altLang="en-US" sz="2400">
              <a:latin typeface="宋体" panose="02010600030101010101" pitchFamily="2" charset="-122"/>
            </a:endParaRPr>
          </a:p>
        </p:txBody>
      </p:sp>
      <p:sp>
        <p:nvSpPr>
          <p:cNvPr id="58372" name="Rectangle 15"/>
          <p:cNvSpPr>
            <a:spLocks noChangeArrowheads="1"/>
          </p:cNvSpPr>
          <p:nvPr/>
        </p:nvSpPr>
        <p:spPr bwMode="auto">
          <a:xfrm>
            <a:off x="228600" y="990600"/>
            <a:ext cx="7634288" cy="1582738"/>
          </a:xfrm>
          <a:prstGeom prst="rect">
            <a:avLst/>
          </a:prstGeom>
          <a:noFill/>
          <a:ln w="12700">
            <a:noFill/>
            <a:miter lim="800000"/>
            <a:headEnd type="none" w="sm" len="sm"/>
            <a:tailEnd type="none" w="sm" len="sm"/>
          </a:ln>
        </p:spPr>
        <p:txBody>
          <a:bodyPr tIns="0" bIns="0" anchor="ctr">
            <a:spAutoFit/>
          </a:bodyPr>
          <a:lstStyle/>
          <a:p>
            <a:r>
              <a:rPr lang="en-US" altLang="zh-CN" sz="3200" b="1">
                <a:latin typeface="宋体" panose="02010600030101010101" pitchFamily="2" charset="-122"/>
              </a:rPr>
              <a:t>1.DMA</a:t>
            </a:r>
            <a:r>
              <a:rPr lang="zh-CN" altLang="en-US" sz="3200" b="1">
                <a:latin typeface="宋体" panose="02010600030101010101" pitchFamily="2" charset="-122"/>
              </a:rPr>
              <a:t>控制器的基本组成</a:t>
            </a:r>
            <a:endParaRPr lang="zh-CN" altLang="en-US" sz="2400">
              <a:latin typeface="宋体" panose="02010600030101010101" pitchFamily="2" charset="-122"/>
            </a:endParaRPr>
          </a:p>
          <a:p>
            <a:r>
              <a:rPr lang="zh-CN" altLang="en-US" sz="2400">
                <a:latin typeface="宋体" panose="02010600030101010101" pitchFamily="2" charset="-122"/>
              </a:rPr>
              <a:t>　　一个</a:t>
            </a:r>
            <a:r>
              <a:rPr lang="en-US" altLang="zh-CN" sz="2400">
                <a:latin typeface="宋体" panose="02010600030101010101" pitchFamily="2" charset="-122"/>
              </a:rPr>
              <a:t>DMA</a:t>
            </a:r>
            <a:r>
              <a:rPr lang="zh-CN" altLang="en-US" sz="2400">
                <a:latin typeface="宋体" panose="02010600030101010101" pitchFamily="2" charset="-122"/>
              </a:rPr>
              <a:t>控制器，实际上是采用</a:t>
            </a:r>
            <a:r>
              <a:rPr lang="en-US" altLang="zh-CN" sz="2400">
                <a:latin typeface="宋体" panose="02010600030101010101" pitchFamily="2" charset="-122"/>
              </a:rPr>
              <a:t>DMA</a:t>
            </a:r>
            <a:r>
              <a:rPr lang="zh-CN" altLang="en-US" sz="2400">
                <a:latin typeface="宋体" panose="02010600030101010101" pitchFamily="2" charset="-122"/>
              </a:rPr>
              <a:t>方式的外围设备与系统总线之间的接口电路。这个接口电路是在中断接口的基础上再加</a:t>
            </a:r>
            <a:r>
              <a:rPr lang="en-US" altLang="zh-CN" sz="2400">
                <a:latin typeface="宋体" panose="02010600030101010101" pitchFamily="2" charset="-122"/>
              </a:rPr>
              <a:t>DMA</a:t>
            </a:r>
            <a:r>
              <a:rPr lang="zh-CN" altLang="en-US" sz="2400">
                <a:latin typeface="宋体" panose="02010600030101010101" pitchFamily="2" charset="-122"/>
              </a:rPr>
              <a:t>机构组成。</a:t>
            </a:r>
          </a:p>
        </p:txBody>
      </p:sp>
      <p:pic>
        <p:nvPicPr>
          <p:cNvPr id="58373" name="Picture 22" descr="8a14"/>
          <p:cNvPicPr>
            <a:picLocks noChangeAspect="1" noChangeArrowheads="1"/>
          </p:cNvPicPr>
          <p:nvPr/>
        </p:nvPicPr>
        <p:blipFill>
          <a:blip r:embed="rId2"/>
          <a:srcRect/>
          <a:stretch>
            <a:fillRect/>
          </a:stretch>
        </p:blipFill>
        <p:spPr bwMode="auto">
          <a:xfrm>
            <a:off x="457200" y="3048000"/>
            <a:ext cx="7775575" cy="3670300"/>
          </a:xfrm>
          <a:prstGeom prst="rect">
            <a:avLst/>
          </a:prstGeom>
          <a:noFill/>
          <a:ln w="9525">
            <a:noFill/>
            <a:miter lim="800000"/>
            <a:headEnd/>
            <a:tailEnd/>
          </a:ln>
        </p:spPr>
      </p:pic>
      <p:sp>
        <p:nvSpPr>
          <p:cNvPr id="78871" name="Rectangle 23"/>
          <p:cNvSpPr>
            <a:spLocks noChangeArrowheads="1"/>
          </p:cNvSpPr>
          <p:nvPr/>
        </p:nvSpPr>
        <p:spPr bwMode="auto">
          <a:xfrm>
            <a:off x="152400" y="990600"/>
            <a:ext cx="8713788" cy="155257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anose="02010600030101010101" pitchFamily="2" charset="-122"/>
              </a:rPr>
              <a:t>(1)</a:t>
            </a:r>
            <a:r>
              <a:rPr lang="zh-CN" altLang="en-US" sz="2400" b="1">
                <a:latin typeface="宋体" panose="02010600030101010101" pitchFamily="2" charset="-122"/>
              </a:rPr>
              <a:t>内存地址计数器</a:t>
            </a:r>
            <a:r>
              <a:rPr lang="zh-CN" altLang="en-US" sz="2400">
                <a:latin typeface="宋体" panose="02010600030101010101" pitchFamily="2" charset="-122"/>
              </a:rPr>
              <a:t> 存放内存中要交换的数据的地址。在</a:t>
            </a:r>
            <a:r>
              <a:rPr lang="en-US" altLang="zh-CN" sz="2400">
                <a:latin typeface="宋体" panose="02010600030101010101" pitchFamily="2" charset="-122"/>
              </a:rPr>
              <a:t>DMA</a:t>
            </a:r>
            <a:r>
              <a:rPr lang="zh-CN" altLang="en-US" sz="2400">
                <a:latin typeface="宋体" panose="02010600030101010101" pitchFamily="2" charset="-122"/>
              </a:rPr>
              <a:t>传送前，通过程序将数据在内存中的起始位置</a:t>
            </a:r>
            <a:r>
              <a:rPr lang="en-US" altLang="zh-CN" sz="2400">
                <a:latin typeface="宋体" panose="02010600030101010101" pitchFamily="2" charset="-122"/>
              </a:rPr>
              <a:t>(</a:t>
            </a:r>
            <a:r>
              <a:rPr lang="zh-CN" altLang="en-US" sz="2400">
                <a:latin typeface="宋体" panose="02010600030101010101" pitchFamily="2" charset="-122"/>
              </a:rPr>
              <a:t>首地址</a:t>
            </a:r>
            <a:r>
              <a:rPr lang="en-US" altLang="zh-CN" sz="2400">
                <a:latin typeface="宋体" panose="02010600030101010101" pitchFamily="2" charset="-122"/>
              </a:rPr>
              <a:t>)</a:t>
            </a:r>
            <a:r>
              <a:rPr lang="zh-CN" altLang="en-US" sz="2400">
                <a:latin typeface="宋体" panose="02010600030101010101" pitchFamily="2" charset="-122"/>
              </a:rPr>
              <a:t>送到内存地址计数器。当</a:t>
            </a:r>
            <a:r>
              <a:rPr lang="en-US" altLang="zh-CN" sz="2400">
                <a:latin typeface="宋体" panose="02010600030101010101" pitchFamily="2" charset="-122"/>
              </a:rPr>
              <a:t>DMA</a:t>
            </a:r>
            <a:r>
              <a:rPr lang="zh-CN" altLang="en-US" sz="2400">
                <a:latin typeface="宋体" panose="02010600030101010101" pitchFamily="2" charset="-122"/>
              </a:rPr>
              <a:t>传送时，每交换一次数据，将地址计数器加“</a:t>
            </a:r>
            <a:r>
              <a:rPr lang="en-US" altLang="zh-CN" sz="2400">
                <a:latin typeface="宋体" panose="02010600030101010101" pitchFamily="2" charset="-122"/>
              </a:rPr>
              <a:t>1”</a:t>
            </a:r>
            <a:r>
              <a:rPr lang="zh-CN" altLang="en-US" sz="2400">
                <a:latin typeface="宋体" panose="02010600030101010101" pitchFamily="2" charset="-122"/>
              </a:rPr>
              <a:t>，以增量方式给出内存中要交换的一批数据的地址。</a:t>
            </a:r>
            <a:endParaRPr lang="zh-CN" altLang="en-US"/>
          </a:p>
        </p:txBody>
      </p:sp>
      <p:sp>
        <p:nvSpPr>
          <p:cNvPr id="78872" name="Rectangle 24"/>
          <p:cNvSpPr>
            <a:spLocks noChangeArrowheads="1"/>
          </p:cNvSpPr>
          <p:nvPr/>
        </p:nvSpPr>
        <p:spPr bwMode="auto">
          <a:xfrm>
            <a:off x="152400" y="990600"/>
            <a:ext cx="8713788" cy="1917700"/>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anose="02010600030101010101" pitchFamily="2" charset="-122"/>
              </a:rPr>
              <a:t>(2)</a:t>
            </a:r>
            <a:r>
              <a:rPr lang="zh-CN" altLang="en-US" sz="2400" b="1">
                <a:latin typeface="宋体" panose="02010600030101010101" pitchFamily="2" charset="-122"/>
              </a:rPr>
              <a:t>字计数器 </a:t>
            </a:r>
            <a:r>
              <a:rPr lang="zh-CN" altLang="en-US" sz="2400">
                <a:latin typeface="宋体" panose="02010600030101010101" pitchFamily="2" charset="-122"/>
              </a:rPr>
              <a:t>用于记录传送数据块的长度</a:t>
            </a:r>
            <a:r>
              <a:rPr lang="en-US" altLang="zh-CN" sz="2400">
                <a:latin typeface="宋体" panose="02010600030101010101" pitchFamily="2" charset="-122"/>
              </a:rPr>
              <a:t>(</a:t>
            </a:r>
            <a:r>
              <a:rPr lang="zh-CN" altLang="en-US" sz="2400">
                <a:latin typeface="宋体" panose="02010600030101010101" pitchFamily="2" charset="-122"/>
              </a:rPr>
              <a:t>多少字数</a:t>
            </a:r>
            <a:r>
              <a:rPr lang="en-US" altLang="zh-CN" sz="2400">
                <a:latin typeface="宋体" panose="02010600030101010101" pitchFamily="2" charset="-122"/>
              </a:rPr>
              <a:t>)</a:t>
            </a:r>
            <a:r>
              <a:rPr lang="zh-CN" altLang="en-US" sz="2400">
                <a:latin typeface="宋体" panose="02010600030101010101" pitchFamily="2" charset="-122"/>
              </a:rPr>
              <a:t>。其内容也是在数据传送之前由程序预置，交换的字数通常以补码形式表示。在</a:t>
            </a:r>
            <a:r>
              <a:rPr lang="en-US" altLang="zh-CN" sz="2400">
                <a:latin typeface="宋体" panose="02010600030101010101" pitchFamily="2" charset="-122"/>
              </a:rPr>
              <a:t>DMA</a:t>
            </a:r>
            <a:r>
              <a:rPr lang="zh-CN" altLang="en-US" sz="2400">
                <a:latin typeface="宋体" panose="02010600030101010101" pitchFamily="2" charset="-122"/>
              </a:rPr>
              <a:t>传送时，每传送一个字，字计数器就加“</a:t>
            </a:r>
            <a:r>
              <a:rPr lang="en-US" altLang="zh-CN" sz="2400">
                <a:latin typeface="宋体" panose="02010600030101010101" pitchFamily="2" charset="-122"/>
              </a:rPr>
              <a:t>1” </a:t>
            </a:r>
            <a:r>
              <a:rPr lang="zh-CN" altLang="en-US" sz="2400">
                <a:latin typeface="宋体" panose="02010600030101010101" pitchFamily="2" charset="-122"/>
              </a:rPr>
              <a:t>，当计数器溢出即最高位产生进位时，表示这批数据传送完毕，于是引起</a:t>
            </a:r>
            <a:r>
              <a:rPr lang="en-US" altLang="zh-CN" sz="2400">
                <a:latin typeface="宋体" panose="02010600030101010101" pitchFamily="2" charset="-122"/>
              </a:rPr>
              <a:t>DMA</a:t>
            </a:r>
            <a:r>
              <a:rPr lang="zh-CN" altLang="en-US" sz="2400">
                <a:latin typeface="宋体" panose="02010600030101010101" pitchFamily="2" charset="-122"/>
              </a:rPr>
              <a:t>控制器向</a:t>
            </a:r>
            <a:r>
              <a:rPr lang="en-US" altLang="zh-CN" sz="2400">
                <a:latin typeface="宋体" panose="02010600030101010101" pitchFamily="2" charset="-122"/>
              </a:rPr>
              <a:t>CPU</a:t>
            </a:r>
            <a:r>
              <a:rPr lang="zh-CN" altLang="en-US" sz="2400">
                <a:latin typeface="宋体" panose="02010600030101010101" pitchFamily="2" charset="-122"/>
              </a:rPr>
              <a:t>发中断信号。</a:t>
            </a:r>
          </a:p>
        </p:txBody>
      </p:sp>
      <p:sp>
        <p:nvSpPr>
          <p:cNvPr id="78873" name="Rectangle 25"/>
          <p:cNvSpPr>
            <a:spLocks noChangeArrowheads="1"/>
          </p:cNvSpPr>
          <p:nvPr/>
        </p:nvSpPr>
        <p:spPr bwMode="auto">
          <a:xfrm>
            <a:off x="152400" y="990600"/>
            <a:ext cx="8713788" cy="1827213"/>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anose="02010600030101010101" pitchFamily="2" charset="-122"/>
              </a:rPr>
              <a:t>(3)</a:t>
            </a:r>
            <a:r>
              <a:rPr lang="zh-CN" altLang="en-US" sz="2400" b="1">
                <a:latin typeface="宋体" panose="02010600030101010101" pitchFamily="2" charset="-122"/>
              </a:rPr>
              <a:t>数据缓冲寄存器</a:t>
            </a:r>
            <a:r>
              <a:rPr lang="zh-CN" altLang="en-US" sz="2400">
                <a:latin typeface="宋体" panose="02010600030101010101" pitchFamily="2" charset="-122"/>
              </a:rPr>
              <a:t> 用于暂存每次传送的数据</a:t>
            </a:r>
            <a:r>
              <a:rPr lang="en-US" altLang="zh-CN" sz="2400">
                <a:latin typeface="宋体" panose="02010600030101010101" pitchFamily="2" charset="-122"/>
              </a:rPr>
              <a:t>(</a:t>
            </a:r>
            <a:r>
              <a:rPr lang="zh-CN" altLang="en-US" sz="2400">
                <a:latin typeface="宋体" panose="02010600030101010101" pitchFamily="2" charset="-122"/>
              </a:rPr>
              <a:t>一个字</a:t>
            </a:r>
            <a:r>
              <a:rPr lang="en-US" altLang="zh-CN" sz="2400">
                <a:latin typeface="宋体" panose="02010600030101010101" pitchFamily="2" charset="-122"/>
              </a:rPr>
              <a:t>)</a:t>
            </a:r>
            <a:r>
              <a:rPr lang="zh-CN" altLang="en-US" sz="2400">
                <a:latin typeface="宋体" panose="02010600030101010101" pitchFamily="2" charset="-122"/>
              </a:rPr>
              <a:t>。当输入时，由设备</a:t>
            </a:r>
            <a:r>
              <a:rPr lang="en-US" altLang="zh-CN" sz="2400">
                <a:latin typeface="宋体" panose="02010600030101010101" pitchFamily="2" charset="-122"/>
              </a:rPr>
              <a:t>(</a:t>
            </a:r>
            <a:r>
              <a:rPr lang="zh-CN" altLang="en-US" sz="2400">
                <a:latin typeface="宋体" panose="02010600030101010101" pitchFamily="2" charset="-122"/>
              </a:rPr>
              <a:t>如磁盘</a:t>
            </a:r>
            <a:r>
              <a:rPr lang="en-US" altLang="zh-CN" sz="2400">
                <a:latin typeface="宋体" panose="02010600030101010101" pitchFamily="2" charset="-122"/>
              </a:rPr>
              <a:t>)</a:t>
            </a:r>
            <a:r>
              <a:rPr lang="zh-CN" altLang="en-US" sz="2400">
                <a:latin typeface="宋体" panose="02010600030101010101" pitchFamily="2" charset="-122"/>
              </a:rPr>
              <a:t>送往数据缓冲寄存器，再由缓冲寄存器通过数据总线送到内存。反之，输出时，由内存通过数据总线送到数据缓冲寄存器，然后再送到设备。</a:t>
            </a:r>
            <a:endParaRPr lang="zh-CN" altLang="en-US"/>
          </a:p>
          <a:p>
            <a:pPr eaLnBrk="0" hangingPunct="0"/>
            <a:endParaRPr lang="en-US" altLang="zh-CN"/>
          </a:p>
        </p:txBody>
      </p:sp>
      <p:sp>
        <p:nvSpPr>
          <p:cNvPr id="78874" name="Rectangle 26"/>
          <p:cNvSpPr>
            <a:spLocks noChangeArrowheads="1"/>
          </p:cNvSpPr>
          <p:nvPr/>
        </p:nvSpPr>
        <p:spPr bwMode="auto">
          <a:xfrm>
            <a:off x="152400" y="990600"/>
            <a:ext cx="8785225" cy="1917700"/>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anose="02010600030101010101" pitchFamily="2" charset="-122"/>
              </a:rPr>
              <a:t>(4)“DMA</a:t>
            </a:r>
            <a:r>
              <a:rPr lang="zh-CN" altLang="en-US" sz="2400" b="1">
                <a:latin typeface="宋体" panose="02010600030101010101" pitchFamily="2" charset="-122"/>
              </a:rPr>
              <a:t>请求”标志 </a:t>
            </a:r>
            <a:r>
              <a:rPr lang="zh-CN" altLang="en-US" sz="2400">
                <a:latin typeface="宋体" panose="02010600030101010101" pitchFamily="2" charset="-122"/>
              </a:rPr>
              <a:t>设备准备好一个数据字后，使“</a:t>
            </a:r>
            <a:r>
              <a:rPr lang="en-US" altLang="zh-CN" sz="2400">
                <a:latin typeface="宋体" panose="02010600030101010101" pitchFamily="2" charset="-122"/>
              </a:rPr>
              <a:t>DMA</a:t>
            </a:r>
            <a:r>
              <a:rPr lang="zh-CN" altLang="en-US" sz="2400">
                <a:latin typeface="宋体" panose="02010600030101010101" pitchFamily="2" charset="-122"/>
              </a:rPr>
              <a:t>请求”标志置“</a:t>
            </a:r>
            <a:r>
              <a:rPr lang="en-US" altLang="zh-CN" sz="2400">
                <a:latin typeface="宋体" panose="02010600030101010101" pitchFamily="2" charset="-122"/>
              </a:rPr>
              <a:t>1”</a:t>
            </a:r>
            <a:r>
              <a:rPr lang="zh-CN" altLang="en-US" sz="2400">
                <a:latin typeface="宋体" panose="02010600030101010101" pitchFamily="2" charset="-122"/>
              </a:rPr>
              <a:t>，向“控制</a:t>
            </a:r>
            <a:r>
              <a:rPr lang="en-US" altLang="zh-CN" sz="2400">
                <a:latin typeface="宋体" panose="02010600030101010101" pitchFamily="2" charset="-122"/>
              </a:rPr>
              <a:t>/</a:t>
            </a:r>
            <a:r>
              <a:rPr lang="zh-CN" altLang="en-US" sz="2400">
                <a:latin typeface="宋体" panose="02010600030101010101" pitchFamily="2" charset="-122"/>
              </a:rPr>
              <a:t>状态”逻辑发出</a:t>
            </a:r>
            <a:r>
              <a:rPr lang="en-US" altLang="zh-CN" sz="2400">
                <a:latin typeface="宋体" panose="02010600030101010101" pitchFamily="2" charset="-122"/>
              </a:rPr>
              <a:t>DMA</a:t>
            </a:r>
            <a:r>
              <a:rPr lang="zh-CN" altLang="en-US" sz="2400">
                <a:latin typeface="宋体" panose="02010600030101010101" pitchFamily="2" charset="-122"/>
              </a:rPr>
              <a:t>请求，后者又向</a:t>
            </a:r>
            <a:r>
              <a:rPr lang="en-US" altLang="zh-CN" sz="2400">
                <a:latin typeface="宋体" panose="02010600030101010101" pitchFamily="2" charset="-122"/>
              </a:rPr>
              <a:t>CPU</a:t>
            </a:r>
            <a:r>
              <a:rPr lang="zh-CN" altLang="en-US" sz="2400">
                <a:latin typeface="宋体" panose="02010600030101010101" pitchFamily="2" charset="-122"/>
              </a:rPr>
              <a:t>发出总线使用权的请求</a:t>
            </a:r>
            <a:r>
              <a:rPr lang="en-US" altLang="zh-CN" sz="2400">
                <a:latin typeface="宋体" panose="02010600030101010101" pitchFamily="2" charset="-122"/>
              </a:rPr>
              <a:t>(HOLD)</a:t>
            </a:r>
            <a:r>
              <a:rPr lang="zh-CN" altLang="en-US" sz="2400">
                <a:latin typeface="宋体" panose="02010600030101010101" pitchFamily="2" charset="-122"/>
              </a:rPr>
              <a:t>，</a:t>
            </a:r>
            <a:r>
              <a:rPr lang="en-US" altLang="zh-CN" sz="2400">
                <a:latin typeface="宋体" panose="02010600030101010101" pitchFamily="2" charset="-122"/>
              </a:rPr>
              <a:t>CPU</a:t>
            </a:r>
            <a:r>
              <a:rPr lang="zh-CN" altLang="en-US" sz="2400">
                <a:latin typeface="宋体" panose="02010600030101010101" pitchFamily="2" charset="-122"/>
              </a:rPr>
              <a:t>响应此请求后发回响应信号</a:t>
            </a:r>
            <a:r>
              <a:rPr lang="en-US" altLang="zh-CN" sz="2400">
                <a:latin typeface="宋体" panose="02010600030101010101" pitchFamily="2" charset="-122"/>
              </a:rPr>
              <a:t>HLDA</a:t>
            </a:r>
            <a:r>
              <a:rPr lang="zh-CN" altLang="en-US" sz="2400">
                <a:latin typeface="宋体" panose="02010600030101010101" pitchFamily="2" charset="-122"/>
              </a:rPr>
              <a:t>，“控制</a:t>
            </a:r>
            <a:r>
              <a:rPr lang="en-US" altLang="zh-CN" sz="2400">
                <a:latin typeface="宋体" panose="02010600030101010101" pitchFamily="2" charset="-122"/>
              </a:rPr>
              <a:t>/</a:t>
            </a:r>
            <a:r>
              <a:rPr lang="zh-CN" altLang="en-US" sz="2400">
                <a:latin typeface="宋体" panose="02010600030101010101" pitchFamily="2" charset="-122"/>
              </a:rPr>
              <a:t>状态”逻辑接收此信号后发出</a:t>
            </a:r>
            <a:r>
              <a:rPr lang="en-US" altLang="zh-CN" sz="2400">
                <a:latin typeface="宋体" panose="02010600030101010101" pitchFamily="2" charset="-122"/>
              </a:rPr>
              <a:t>DMA</a:t>
            </a:r>
            <a:r>
              <a:rPr lang="zh-CN" altLang="en-US" sz="2400">
                <a:latin typeface="宋体" panose="02010600030101010101" pitchFamily="2" charset="-122"/>
              </a:rPr>
              <a:t>响应信号，使“</a:t>
            </a:r>
            <a:r>
              <a:rPr lang="en-US" altLang="zh-CN" sz="2400">
                <a:latin typeface="宋体" panose="02010600030101010101" pitchFamily="2" charset="-122"/>
              </a:rPr>
              <a:t>DMA</a:t>
            </a:r>
            <a:r>
              <a:rPr lang="zh-CN" altLang="en-US" sz="2400">
                <a:latin typeface="宋体" panose="02010600030101010101" pitchFamily="2" charset="-122"/>
              </a:rPr>
              <a:t>请求”标志复位，为交换下一个字做好准备。</a:t>
            </a:r>
            <a:r>
              <a:rPr lang="zh-CN" altLang="en-US"/>
              <a:t> </a:t>
            </a:r>
          </a:p>
        </p:txBody>
      </p:sp>
      <p:sp>
        <p:nvSpPr>
          <p:cNvPr id="78875" name="Rectangle 27"/>
          <p:cNvSpPr>
            <a:spLocks noChangeArrowheads="1"/>
          </p:cNvSpPr>
          <p:nvPr/>
        </p:nvSpPr>
        <p:spPr bwMode="auto">
          <a:xfrm>
            <a:off x="152400" y="990600"/>
            <a:ext cx="8496300" cy="155257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anose="02010600030101010101" pitchFamily="2" charset="-122"/>
              </a:rPr>
              <a:t>(5)“</a:t>
            </a:r>
            <a:r>
              <a:rPr lang="zh-CN" altLang="en-US" sz="2400" b="1">
                <a:latin typeface="宋体" panose="02010600030101010101" pitchFamily="2" charset="-122"/>
              </a:rPr>
              <a:t>控制</a:t>
            </a:r>
            <a:r>
              <a:rPr lang="en-US" altLang="zh-CN" sz="2400" b="1">
                <a:latin typeface="宋体" panose="02010600030101010101" pitchFamily="2" charset="-122"/>
              </a:rPr>
              <a:t>/</a:t>
            </a:r>
            <a:r>
              <a:rPr lang="zh-CN" altLang="en-US" sz="2400" b="1">
                <a:latin typeface="宋体" panose="02010600030101010101" pitchFamily="2" charset="-122"/>
              </a:rPr>
              <a:t>状态”逻辑</a:t>
            </a:r>
            <a:r>
              <a:rPr lang="zh-CN" altLang="en-US" sz="2400">
                <a:latin typeface="宋体" panose="02010600030101010101" pitchFamily="2" charset="-122"/>
              </a:rPr>
              <a:t> 由控制和时序电路以及状态标志等组成，用于修改内存地址计数器和字计数器，指定传送类型</a:t>
            </a:r>
            <a:r>
              <a:rPr lang="en-US" altLang="zh-CN" sz="2400">
                <a:latin typeface="宋体" panose="02010600030101010101" pitchFamily="2" charset="-122"/>
              </a:rPr>
              <a:t>(</a:t>
            </a:r>
            <a:r>
              <a:rPr lang="zh-CN" altLang="en-US" sz="2400">
                <a:latin typeface="宋体" panose="02010600030101010101" pitchFamily="2" charset="-122"/>
              </a:rPr>
              <a:t>输入或输出</a:t>
            </a:r>
            <a:r>
              <a:rPr lang="en-US" altLang="zh-CN" sz="2400">
                <a:latin typeface="宋体" panose="02010600030101010101" pitchFamily="2" charset="-122"/>
              </a:rPr>
              <a:t>)</a:t>
            </a:r>
            <a:r>
              <a:rPr lang="zh-CN" altLang="en-US" sz="2400">
                <a:latin typeface="宋体" panose="02010600030101010101" pitchFamily="2" charset="-122"/>
              </a:rPr>
              <a:t>，并对“</a:t>
            </a:r>
            <a:r>
              <a:rPr lang="en-US" altLang="zh-CN" sz="2400">
                <a:latin typeface="宋体" panose="02010600030101010101" pitchFamily="2" charset="-122"/>
              </a:rPr>
              <a:t>DMA</a:t>
            </a:r>
            <a:r>
              <a:rPr lang="zh-CN" altLang="en-US" sz="2400">
                <a:latin typeface="宋体" panose="02010600030101010101" pitchFamily="2" charset="-122"/>
              </a:rPr>
              <a:t>请求”信号和</a:t>
            </a:r>
            <a:r>
              <a:rPr lang="en-US" altLang="zh-CN" sz="2400">
                <a:latin typeface="宋体" panose="02010600030101010101" pitchFamily="2" charset="-122"/>
              </a:rPr>
              <a:t>CPU</a:t>
            </a:r>
            <a:r>
              <a:rPr lang="zh-CN" altLang="en-US" sz="2400">
                <a:latin typeface="宋体" panose="02010600030101010101" pitchFamily="2" charset="-122"/>
              </a:rPr>
              <a:t>响应信号进行协调和同步。 </a:t>
            </a:r>
          </a:p>
        </p:txBody>
      </p:sp>
      <p:sp>
        <p:nvSpPr>
          <p:cNvPr id="78876" name="Rectangle 28"/>
          <p:cNvSpPr>
            <a:spLocks noChangeArrowheads="1"/>
          </p:cNvSpPr>
          <p:nvPr/>
        </p:nvSpPr>
        <p:spPr bwMode="auto">
          <a:xfrm>
            <a:off x="228600" y="990600"/>
            <a:ext cx="8496300" cy="1827213"/>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anose="02010600030101010101" pitchFamily="2" charset="-122"/>
              </a:rPr>
              <a:t>(6)</a:t>
            </a:r>
            <a:r>
              <a:rPr lang="zh-CN" altLang="en-US" sz="2400" b="1">
                <a:latin typeface="宋体" panose="02010600030101010101" pitchFamily="2" charset="-122"/>
              </a:rPr>
              <a:t>中断机构</a:t>
            </a:r>
            <a:r>
              <a:rPr lang="zh-CN" altLang="en-US" sz="2400">
                <a:latin typeface="宋体" panose="02010600030101010101" pitchFamily="2" charset="-122"/>
              </a:rPr>
              <a:t> 当字计数器溢出时</a:t>
            </a:r>
            <a:r>
              <a:rPr lang="en-US" altLang="zh-CN" sz="2400">
                <a:latin typeface="宋体" panose="02010600030101010101" pitchFamily="2" charset="-122"/>
              </a:rPr>
              <a:t>(</a:t>
            </a:r>
            <a:r>
              <a:rPr lang="zh-CN" altLang="en-US" sz="2400">
                <a:latin typeface="宋体" panose="02010600030101010101" pitchFamily="2" charset="-122"/>
              </a:rPr>
              <a:t>全</a:t>
            </a:r>
            <a:r>
              <a:rPr lang="en-US" altLang="zh-CN" sz="2400">
                <a:latin typeface="宋体" panose="02010600030101010101" pitchFamily="2" charset="-122"/>
              </a:rPr>
              <a:t>0)</a:t>
            </a:r>
            <a:r>
              <a:rPr lang="zh-CN" altLang="en-US" sz="2400">
                <a:latin typeface="宋体" panose="02010600030101010101" pitchFamily="2" charset="-122"/>
              </a:rPr>
              <a:t>，一组数据交换完毕，由溢出信号触发中断机构，向</a:t>
            </a:r>
            <a:r>
              <a:rPr lang="en-US" altLang="zh-CN" sz="2400">
                <a:latin typeface="宋体" panose="02010600030101010101" pitchFamily="2" charset="-122"/>
              </a:rPr>
              <a:t>CPU</a:t>
            </a:r>
            <a:r>
              <a:rPr lang="zh-CN" altLang="en-US" sz="2400">
                <a:latin typeface="宋体" panose="02010600030101010101" pitchFamily="2" charset="-122"/>
              </a:rPr>
              <a:t>提出中断报告。报告一组数据传送结束。</a:t>
            </a:r>
          </a:p>
          <a:p>
            <a:pPr eaLnBrk="0" hangingPunct="0"/>
            <a:endParaRPr lang="zh-CN" altLang="en-US" sz="2400">
              <a:latin typeface="宋体" panose="02010600030101010101" pitchFamily="2" charset="-122"/>
            </a:endParaRPr>
          </a:p>
          <a:p>
            <a:pPr eaLnBrk="0" hangingPunct="0"/>
            <a:endParaRPr lang="en-US" altLang="zh-CN"/>
          </a:p>
        </p:txBody>
      </p:sp>
      <p:pic>
        <p:nvPicPr>
          <p:cNvPr id="58380" name="Picture 29">
            <a:hlinkClick r:id="rId3"/>
          </p:cNvPr>
          <p:cNvPicPr>
            <a:picLocks noChangeAspect="1" noChangeArrowheads="1"/>
          </p:cNvPicPr>
          <p:nvPr/>
        </p:nvPicPr>
        <p:blipFill>
          <a:blip r:embed="rId4"/>
          <a:srcRect/>
          <a:stretch>
            <a:fillRect/>
          </a:stretch>
        </p:blipFill>
        <p:spPr bwMode="auto">
          <a:xfrm>
            <a:off x="8305800" y="4876800"/>
            <a:ext cx="409575" cy="381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871"/>
                                        </p:tgtEl>
                                        <p:attrNameLst>
                                          <p:attrName>style.visibility</p:attrName>
                                        </p:attrNameLst>
                                      </p:cBhvr>
                                      <p:to>
                                        <p:strVal val="visible"/>
                                      </p:to>
                                    </p:set>
                                    <p:animEffect transition="in" filter="dissolve">
                                      <p:cBhvr>
                                        <p:cTn id="7" dur="500"/>
                                        <p:tgtEl>
                                          <p:spTgt spid="78871"/>
                                        </p:tgtEl>
                                      </p:cBhvr>
                                    </p:animEffect>
                                  </p:childTnLst>
                                  <p:subTnLst>
                                    <p:set>
                                      <p:cBhvr override="childStyle">
                                        <p:cTn dur="1" fill="hold" display="0" masterRel="nextClick" afterEffect="1"/>
                                        <p:tgtEl>
                                          <p:spTgt spid="7887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8872"/>
                                        </p:tgtEl>
                                        <p:attrNameLst>
                                          <p:attrName>style.visibility</p:attrName>
                                        </p:attrNameLst>
                                      </p:cBhvr>
                                      <p:to>
                                        <p:strVal val="visible"/>
                                      </p:to>
                                    </p:set>
                                    <p:animEffect transition="in" filter="dissolve">
                                      <p:cBhvr>
                                        <p:cTn id="12" dur="500"/>
                                        <p:tgtEl>
                                          <p:spTgt spid="78872"/>
                                        </p:tgtEl>
                                      </p:cBhvr>
                                    </p:animEffect>
                                  </p:childTnLst>
                                  <p:subTnLst>
                                    <p:set>
                                      <p:cBhvr override="childStyle">
                                        <p:cTn dur="1" fill="hold" display="0" masterRel="nextClick" afterEffect="1"/>
                                        <p:tgtEl>
                                          <p:spTgt spid="7887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8873"/>
                                        </p:tgtEl>
                                        <p:attrNameLst>
                                          <p:attrName>style.visibility</p:attrName>
                                        </p:attrNameLst>
                                      </p:cBhvr>
                                      <p:to>
                                        <p:strVal val="visible"/>
                                      </p:to>
                                    </p:set>
                                    <p:animEffect transition="in" filter="dissolve">
                                      <p:cBhvr>
                                        <p:cTn id="17" dur="500"/>
                                        <p:tgtEl>
                                          <p:spTgt spid="78873"/>
                                        </p:tgtEl>
                                      </p:cBhvr>
                                    </p:animEffect>
                                  </p:childTnLst>
                                  <p:subTnLst>
                                    <p:set>
                                      <p:cBhvr override="childStyle">
                                        <p:cTn dur="1" fill="hold" display="0" masterRel="nextClick" afterEffect="1"/>
                                        <p:tgtEl>
                                          <p:spTgt spid="78873"/>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8874"/>
                                        </p:tgtEl>
                                        <p:attrNameLst>
                                          <p:attrName>style.visibility</p:attrName>
                                        </p:attrNameLst>
                                      </p:cBhvr>
                                      <p:to>
                                        <p:strVal val="visible"/>
                                      </p:to>
                                    </p:set>
                                    <p:animEffect transition="in" filter="dissolve">
                                      <p:cBhvr>
                                        <p:cTn id="22" dur="500"/>
                                        <p:tgtEl>
                                          <p:spTgt spid="78874"/>
                                        </p:tgtEl>
                                      </p:cBhvr>
                                    </p:animEffect>
                                  </p:childTnLst>
                                  <p:subTnLst>
                                    <p:set>
                                      <p:cBhvr override="childStyle">
                                        <p:cTn dur="1" fill="hold" display="0" masterRel="nextClick" afterEffect="1"/>
                                        <p:tgtEl>
                                          <p:spTgt spid="78874"/>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8875"/>
                                        </p:tgtEl>
                                        <p:attrNameLst>
                                          <p:attrName>style.visibility</p:attrName>
                                        </p:attrNameLst>
                                      </p:cBhvr>
                                      <p:to>
                                        <p:strVal val="visible"/>
                                      </p:to>
                                    </p:set>
                                    <p:animEffect transition="in" filter="dissolve">
                                      <p:cBhvr>
                                        <p:cTn id="27" dur="500"/>
                                        <p:tgtEl>
                                          <p:spTgt spid="78875"/>
                                        </p:tgtEl>
                                      </p:cBhvr>
                                    </p:animEffect>
                                  </p:childTnLst>
                                  <p:subTnLst>
                                    <p:set>
                                      <p:cBhvr override="childStyle">
                                        <p:cTn dur="1" fill="hold" display="0" masterRel="nextClick" afterEffect="1"/>
                                        <p:tgtEl>
                                          <p:spTgt spid="78875"/>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8876"/>
                                        </p:tgtEl>
                                        <p:attrNameLst>
                                          <p:attrName>style.visibility</p:attrName>
                                        </p:attrNameLst>
                                      </p:cBhvr>
                                      <p:to>
                                        <p:strVal val="visible"/>
                                      </p:to>
                                    </p:set>
                                    <p:animEffect transition="in" filter="dissolve">
                                      <p:cBhvr>
                                        <p:cTn id="32" dur="500"/>
                                        <p:tgtEl>
                                          <p:spTgt spid="78876"/>
                                        </p:tgtEl>
                                      </p:cBhvr>
                                    </p:animEffect>
                                  </p:childTnLst>
                                  <p:subTnLst>
                                    <p:set>
                                      <p:cBhvr override="childStyle">
                                        <p:cTn dur="1" fill="hold" display="0" masterRel="nextClick" afterEffect="1"/>
                                        <p:tgtEl>
                                          <p:spTgt spid="7887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71" grpId="0" animBg="1" autoUpdateAnimBg="0"/>
      <p:bldP spid="78872" grpId="0" animBg="1" autoUpdateAnimBg="0"/>
      <p:bldP spid="78873" grpId="0" animBg="1" autoUpdateAnimBg="0"/>
      <p:bldP spid="78874" grpId="0" animBg="1" autoUpdateAnimBg="0"/>
      <p:bldP spid="78875" grpId="0" animBg="1" autoUpdateAnimBg="0"/>
      <p:bldP spid="78876"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a:spLocks noGrp="1"/>
          </p:cNvSpPr>
          <p:nvPr>
            <p:ph type="sldNum" sz="quarter" idx="12"/>
          </p:nvPr>
        </p:nvSpPr>
        <p:spPr>
          <a:noFill/>
        </p:spPr>
        <p:txBody>
          <a:bodyPr/>
          <a:lstStyle/>
          <a:p>
            <a:fld id="{5777BEB0-B821-4F29-A858-0407B5FCA08B}" type="slidenum">
              <a:rPr lang="en-US" altLang="zh-CN" smtClean="0"/>
              <a:t>56</a:t>
            </a:fld>
            <a:endParaRPr lang="en-US" altLang="zh-CN"/>
          </a:p>
        </p:txBody>
      </p:sp>
      <p:sp>
        <p:nvSpPr>
          <p:cNvPr id="59395" name="Rectangle 2"/>
          <p:cNvSpPr>
            <a:spLocks noChangeArrowheads="1"/>
          </p:cNvSpPr>
          <p:nvPr/>
        </p:nvSpPr>
        <p:spPr bwMode="auto">
          <a:xfrm>
            <a:off x="323850" y="188913"/>
            <a:ext cx="7634288" cy="731837"/>
          </a:xfrm>
          <a:prstGeom prst="rect">
            <a:avLst/>
          </a:prstGeom>
          <a:noFill/>
          <a:ln w="12700">
            <a:noFill/>
            <a:miter lim="800000"/>
            <a:headEnd type="none" w="sm" len="sm"/>
            <a:tailEnd type="none" w="sm" len="sm"/>
          </a:ln>
        </p:spPr>
        <p:txBody>
          <a:bodyPr tIns="0" bIns="0" anchor="ctr">
            <a:spAutoFit/>
          </a:bodyPr>
          <a:lstStyle/>
          <a:p>
            <a:r>
              <a:rPr lang="en-US" altLang="zh-CN" sz="4800" b="1">
                <a:latin typeface="宋体" panose="02010600030101010101" pitchFamily="2" charset="-122"/>
              </a:rPr>
              <a:t>8.4.3 </a:t>
            </a:r>
            <a:r>
              <a:rPr lang="zh-CN" altLang="en-US" sz="4800" b="1">
                <a:latin typeface="宋体" panose="02010600030101010101" pitchFamily="2" charset="-122"/>
              </a:rPr>
              <a:t>基本的</a:t>
            </a:r>
            <a:r>
              <a:rPr lang="en-US" altLang="zh-CN" sz="4800" b="1">
                <a:latin typeface="宋体" panose="02010600030101010101" pitchFamily="2" charset="-122"/>
              </a:rPr>
              <a:t>DMA</a:t>
            </a:r>
            <a:r>
              <a:rPr lang="zh-CN" altLang="en-US" sz="4800" b="1">
                <a:latin typeface="宋体" panose="02010600030101010101" pitchFamily="2" charset="-122"/>
              </a:rPr>
              <a:t>控制器</a:t>
            </a:r>
            <a:endParaRPr lang="zh-CN" altLang="en-US" sz="2400">
              <a:latin typeface="宋体" panose="02010600030101010101" pitchFamily="2" charset="-122"/>
            </a:endParaRPr>
          </a:p>
        </p:txBody>
      </p:sp>
      <p:sp>
        <p:nvSpPr>
          <p:cNvPr id="59396" name="Rectangle 12"/>
          <p:cNvSpPr>
            <a:spLocks noChangeArrowheads="1"/>
          </p:cNvSpPr>
          <p:nvPr/>
        </p:nvSpPr>
        <p:spPr bwMode="auto">
          <a:xfrm>
            <a:off x="304800" y="1066800"/>
            <a:ext cx="6911975" cy="1309688"/>
          </a:xfrm>
          <a:prstGeom prst="rect">
            <a:avLst/>
          </a:prstGeom>
          <a:noFill/>
          <a:ln w="12700">
            <a:noFill/>
            <a:miter lim="800000"/>
            <a:headEnd type="none" w="sm" len="sm"/>
            <a:tailEnd type="none" w="sm" len="sm"/>
          </a:ln>
        </p:spPr>
        <p:txBody>
          <a:bodyPr anchor="ctr">
            <a:spAutoFit/>
          </a:bodyPr>
          <a:lstStyle/>
          <a:p>
            <a:r>
              <a:rPr lang="en-US" altLang="zh-CN" sz="3200" b="1">
                <a:latin typeface="宋体" panose="02010600030101010101" pitchFamily="2" charset="-122"/>
              </a:rPr>
              <a:t>2.DMA</a:t>
            </a:r>
            <a:r>
              <a:rPr lang="zh-CN" altLang="en-US" sz="3200" b="1">
                <a:latin typeface="宋体" panose="02010600030101010101" pitchFamily="2" charset="-122"/>
              </a:rPr>
              <a:t>数据传送过程</a:t>
            </a:r>
            <a:r>
              <a:rPr lang="zh-CN" altLang="en-US" sz="2400" b="1">
                <a:latin typeface="宋体" panose="02010600030101010101" pitchFamily="2" charset="-122"/>
              </a:rPr>
              <a:t> </a:t>
            </a:r>
            <a:endParaRPr lang="zh-CN" altLang="en-US" sz="2400">
              <a:latin typeface="宋体" panose="02010600030101010101" pitchFamily="2" charset="-122"/>
            </a:endParaRPr>
          </a:p>
          <a:p>
            <a:r>
              <a:rPr lang="zh-CN" altLang="en-US" sz="2400">
                <a:latin typeface="宋体" panose="02010600030101010101" pitchFamily="2" charset="-122"/>
              </a:rPr>
              <a:t>　　</a:t>
            </a:r>
            <a:r>
              <a:rPr lang="en-US" altLang="zh-CN" sz="2400">
                <a:latin typeface="宋体" panose="02010600030101010101" pitchFamily="2" charset="-122"/>
              </a:rPr>
              <a:t>DMA</a:t>
            </a:r>
            <a:r>
              <a:rPr lang="zh-CN" altLang="en-US" sz="2400">
                <a:latin typeface="宋体" panose="02010600030101010101" pitchFamily="2" charset="-122"/>
              </a:rPr>
              <a:t>的数据块传送过程可分为三个阶段：传送前预处理；正式传送；传送后处理。</a:t>
            </a:r>
          </a:p>
        </p:txBody>
      </p:sp>
      <p:sp>
        <p:nvSpPr>
          <p:cNvPr id="131085" name="Rectangle 13"/>
          <p:cNvSpPr>
            <a:spLocks noChangeArrowheads="1"/>
          </p:cNvSpPr>
          <p:nvPr/>
        </p:nvSpPr>
        <p:spPr bwMode="auto">
          <a:xfrm>
            <a:off x="228600" y="1066800"/>
            <a:ext cx="8458200" cy="155257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zh-CN" altLang="en-US" sz="2400" b="1">
                <a:latin typeface="宋体" panose="02010600030101010101" pitchFamily="2" charset="-122"/>
              </a:rPr>
              <a:t>预处理</a:t>
            </a:r>
            <a:r>
              <a:rPr lang="zh-CN" altLang="en-US" sz="2400">
                <a:latin typeface="宋体" panose="02010600030101010101" pitchFamily="2" charset="-122"/>
              </a:rPr>
              <a:t> 由</a:t>
            </a:r>
            <a:r>
              <a:rPr lang="en-US" altLang="zh-CN" sz="2400">
                <a:latin typeface="宋体" panose="02010600030101010101" pitchFamily="2" charset="-122"/>
              </a:rPr>
              <a:t>CPU</a:t>
            </a:r>
            <a:r>
              <a:rPr lang="zh-CN" altLang="en-US" sz="2400">
                <a:latin typeface="宋体" panose="02010600030101010101" pitchFamily="2" charset="-122"/>
              </a:rPr>
              <a:t>执行几条输入输出指令，测试设备状态，向</a:t>
            </a:r>
            <a:r>
              <a:rPr lang="en-US" altLang="zh-CN" sz="2400">
                <a:latin typeface="宋体" panose="02010600030101010101" pitchFamily="2" charset="-122"/>
              </a:rPr>
              <a:t>DMA</a:t>
            </a:r>
            <a:r>
              <a:rPr lang="zh-CN" altLang="en-US" sz="2400">
                <a:latin typeface="宋体" panose="02010600030101010101" pitchFamily="2" charset="-122"/>
              </a:rPr>
              <a:t>控制器的设备地址寄存器中送入设备号并启动设备，向内存地址计数器中送入起始地址，向字计数器中送入交换的数据字个数。在这些工作完成后，</a:t>
            </a:r>
            <a:r>
              <a:rPr lang="en-US" altLang="zh-CN" sz="2400">
                <a:latin typeface="宋体" panose="02010600030101010101" pitchFamily="2" charset="-122"/>
              </a:rPr>
              <a:t>CPU</a:t>
            </a:r>
            <a:r>
              <a:rPr lang="zh-CN" altLang="en-US" sz="2400">
                <a:latin typeface="宋体" panose="02010600030101010101" pitchFamily="2" charset="-122"/>
              </a:rPr>
              <a:t>继续执行原来的主程序。 </a:t>
            </a:r>
          </a:p>
        </p:txBody>
      </p:sp>
      <p:sp>
        <p:nvSpPr>
          <p:cNvPr id="131086" name="Rectangle 14"/>
          <p:cNvSpPr>
            <a:spLocks noChangeArrowheads="1"/>
          </p:cNvSpPr>
          <p:nvPr/>
        </p:nvSpPr>
        <p:spPr bwMode="auto">
          <a:xfrm>
            <a:off x="228600" y="1066800"/>
            <a:ext cx="8713788" cy="155257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zh-CN" altLang="en-US" sz="2400" b="1">
                <a:latin typeface="宋体" panose="02010600030101010101" pitchFamily="2" charset="-122"/>
              </a:rPr>
              <a:t>正式传送 </a:t>
            </a:r>
            <a:r>
              <a:rPr lang="zh-CN" altLang="en-US" sz="2400">
                <a:latin typeface="宋体" panose="02010600030101010101" pitchFamily="2" charset="-122"/>
              </a:rPr>
              <a:t>当外设准备好发送数据</a:t>
            </a:r>
            <a:r>
              <a:rPr lang="en-US" altLang="zh-CN" sz="2400">
                <a:latin typeface="宋体" panose="02010600030101010101" pitchFamily="2" charset="-122"/>
              </a:rPr>
              <a:t>(</a:t>
            </a:r>
            <a:r>
              <a:rPr lang="zh-CN" altLang="en-US" sz="2400">
                <a:latin typeface="宋体" panose="02010600030101010101" pitchFamily="2" charset="-122"/>
              </a:rPr>
              <a:t>输入</a:t>
            </a:r>
            <a:r>
              <a:rPr lang="en-US" altLang="zh-CN" sz="2400">
                <a:latin typeface="宋体" panose="02010600030101010101" pitchFamily="2" charset="-122"/>
              </a:rPr>
              <a:t>)</a:t>
            </a:r>
            <a:r>
              <a:rPr lang="zh-CN" altLang="en-US" sz="2400">
                <a:latin typeface="宋体" panose="02010600030101010101" pitchFamily="2" charset="-122"/>
              </a:rPr>
              <a:t>或接受数据</a:t>
            </a:r>
            <a:r>
              <a:rPr lang="en-US" altLang="zh-CN" sz="2400">
                <a:latin typeface="宋体" panose="02010600030101010101" pitchFamily="2" charset="-122"/>
              </a:rPr>
              <a:t>(</a:t>
            </a:r>
            <a:r>
              <a:rPr lang="zh-CN" altLang="en-US" sz="2400">
                <a:latin typeface="宋体" panose="02010600030101010101" pitchFamily="2" charset="-122"/>
              </a:rPr>
              <a:t>输出</a:t>
            </a:r>
            <a:r>
              <a:rPr lang="en-US" altLang="zh-CN" sz="2400">
                <a:latin typeface="宋体" panose="02010600030101010101" pitchFamily="2" charset="-122"/>
              </a:rPr>
              <a:t>)</a:t>
            </a:r>
            <a:r>
              <a:rPr lang="zh-CN" altLang="en-US" sz="2400">
                <a:latin typeface="宋体" panose="02010600030101010101" pitchFamily="2" charset="-122"/>
              </a:rPr>
              <a:t>时，它发出</a:t>
            </a:r>
            <a:r>
              <a:rPr lang="en-US" altLang="zh-CN" sz="2400">
                <a:latin typeface="宋体" panose="02010600030101010101" pitchFamily="2" charset="-122"/>
              </a:rPr>
              <a:t>DMA</a:t>
            </a:r>
            <a:r>
              <a:rPr lang="zh-CN" altLang="en-US" sz="2400">
                <a:latin typeface="宋体" panose="02010600030101010101" pitchFamily="2" charset="-122"/>
              </a:rPr>
              <a:t>请求，由</a:t>
            </a:r>
            <a:r>
              <a:rPr lang="en-US" altLang="zh-CN" sz="2400">
                <a:latin typeface="宋体" panose="02010600030101010101" pitchFamily="2" charset="-122"/>
              </a:rPr>
              <a:t>DMA</a:t>
            </a:r>
            <a:r>
              <a:rPr lang="zh-CN" altLang="en-US" sz="2400">
                <a:latin typeface="宋体" panose="02010600030101010101" pitchFamily="2" charset="-122"/>
              </a:rPr>
              <a:t>控制器向</a:t>
            </a:r>
            <a:r>
              <a:rPr lang="en-US" altLang="zh-CN" sz="2400">
                <a:latin typeface="宋体" panose="02010600030101010101" pitchFamily="2" charset="-122"/>
              </a:rPr>
              <a:t>CPU</a:t>
            </a:r>
            <a:r>
              <a:rPr lang="zh-CN" altLang="en-US" sz="2400">
                <a:latin typeface="宋体" panose="02010600030101010101" pitchFamily="2" charset="-122"/>
              </a:rPr>
              <a:t>发出总线使用权的请求</a:t>
            </a:r>
            <a:r>
              <a:rPr lang="en-US" altLang="zh-CN" sz="2400">
                <a:latin typeface="宋体" panose="02010600030101010101" pitchFamily="2" charset="-122"/>
              </a:rPr>
              <a:t>(HOLD)</a:t>
            </a:r>
            <a:r>
              <a:rPr lang="zh-CN" altLang="en-US" sz="2400">
                <a:latin typeface="宋体" panose="02010600030101010101" pitchFamily="2" charset="-122"/>
              </a:rPr>
              <a:t>。由</a:t>
            </a:r>
            <a:r>
              <a:rPr lang="en-US" altLang="zh-CN" sz="2400">
                <a:latin typeface="宋体" panose="02010600030101010101" pitchFamily="2" charset="-122"/>
              </a:rPr>
              <a:t>DMA</a:t>
            </a:r>
            <a:r>
              <a:rPr lang="zh-CN" altLang="en-US" sz="2400">
                <a:latin typeface="宋体" panose="02010600030101010101" pitchFamily="2" charset="-122"/>
              </a:rPr>
              <a:t>控制器控制外设与主存之间的数据交换。</a:t>
            </a:r>
          </a:p>
          <a:p>
            <a:pPr eaLnBrk="0" hangingPunct="0"/>
            <a:endParaRPr lang="en-US" altLang="zh-CN" sz="2400">
              <a:latin typeface="宋体" panose="02010600030101010101" pitchFamily="2" charset="-122"/>
            </a:endParaRPr>
          </a:p>
        </p:txBody>
      </p:sp>
      <p:pic>
        <p:nvPicPr>
          <p:cNvPr id="59399" name="Picture 15"/>
          <p:cNvPicPr>
            <a:picLocks noChangeAspect="1" noChangeArrowheads="1"/>
          </p:cNvPicPr>
          <p:nvPr/>
        </p:nvPicPr>
        <p:blipFill>
          <a:blip r:embed="rId2"/>
          <a:srcRect/>
          <a:stretch>
            <a:fillRect/>
          </a:stretch>
        </p:blipFill>
        <p:spPr bwMode="auto">
          <a:xfrm>
            <a:off x="304800" y="2895600"/>
            <a:ext cx="7777163" cy="3962400"/>
          </a:xfrm>
          <a:prstGeom prst="rect">
            <a:avLst/>
          </a:prstGeom>
          <a:noFill/>
          <a:ln w="9525">
            <a:noFill/>
            <a:miter lim="800000"/>
            <a:headEnd/>
            <a:tailEnd/>
          </a:ln>
        </p:spPr>
      </p:pic>
      <p:pic>
        <p:nvPicPr>
          <p:cNvPr id="59400" name="Picture 16">
            <a:hlinkClick r:id="rId3"/>
          </p:cNvPr>
          <p:cNvPicPr>
            <a:picLocks noChangeAspect="1" noChangeArrowheads="1"/>
          </p:cNvPicPr>
          <p:nvPr/>
        </p:nvPicPr>
        <p:blipFill>
          <a:blip r:embed="rId4"/>
          <a:srcRect/>
          <a:stretch>
            <a:fillRect/>
          </a:stretch>
        </p:blipFill>
        <p:spPr bwMode="auto">
          <a:xfrm>
            <a:off x="8382000" y="4114800"/>
            <a:ext cx="409575" cy="381000"/>
          </a:xfrm>
          <a:prstGeom prst="rect">
            <a:avLst/>
          </a:prstGeom>
          <a:noFill/>
          <a:ln w="9525">
            <a:noFill/>
            <a:miter lim="800000"/>
            <a:headEnd/>
            <a:tailEnd/>
          </a:ln>
        </p:spPr>
      </p:pic>
      <p:sp>
        <p:nvSpPr>
          <p:cNvPr id="131089" name="Rectangle 17"/>
          <p:cNvSpPr>
            <a:spLocks noChangeArrowheads="1"/>
          </p:cNvSpPr>
          <p:nvPr/>
        </p:nvSpPr>
        <p:spPr bwMode="auto">
          <a:xfrm>
            <a:off x="228600" y="1066800"/>
            <a:ext cx="8713788" cy="155257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zh-CN" altLang="en-US" sz="2400" b="1">
                <a:latin typeface="宋体" panose="02010600030101010101" pitchFamily="2" charset="-122"/>
              </a:rPr>
              <a:t>后处理</a:t>
            </a:r>
            <a:r>
              <a:rPr lang="zh-CN" altLang="en-US" sz="2400">
                <a:latin typeface="宋体" panose="02010600030101010101" pitchFamily="2" charset="-122"/>
              </a:rPr>
              <a:t> 一旦</a:t>
            </a:r>
            <a:r>
              <a:rPr lang="en-US" altLang="zh-CN" sz="2400">
                <a:latin typeface="宋体" panose="02010600030101010101" pitchFamily="2" charset="-122"/>
              </a:rPr>
              <a:t>DMA</a:t>
            </a:r>
            <a:r>
              <a:rPr lang="zh-CN" altLang="en-US" sz="2400">
                <a:latin typeface="宋体" panose="02010600030101010101" pitchFamily="2" charset="-122"/>
              </a:rPr>
              <a:t>的中断请求得到响应，</a:t>
            </a:r>
            <a:r>
              <a:rPr lang="en-US" altLang="zh-CN" sz="2400">
                <a:latin typeface="宋体" panose="02010600030101010101" pitchFamily="2" charset="-122"/>
              </a:rPr>
              <a:t>CPU</a:t>
            </a:r>
            <a:r>
              <a:rPr lang="zh-CN" altLang="en-US" sz="2400">
                <a:latin typeface="宋体" panose="02010600030101010101" pitchFamily="2" charset="-122"/>
              </a:rPr>
              <a:t>停止主程序的执行，转去执行中断服务程序做一些</a:t>
            </a:r>
            <a:r>
              <a:rPr lang="en-US" altLang="zh-CN" sz="2400">
                <a:latin typeface="宋体" panose="02010600030101010101" pitchFamily="2" charset="-122"/>
              </a:rPr>
              <a:t>DMA</a:t>
            </a:r>
            <a:r>
              <a:rPr lang="zh-CN" altLang="en-US" sz="2400">
                <a:latin typeface="宋体" panose="02010600030101010101" pitchFamily="2" charset="-122"/>
              </a:rPr>
              <a:t>的结束处理工作。即若需要继续交换数据，则又要对</a:t>
            </a:r>
            <a:r>
              <a:rPr lang="en-US" altLang="zh-CN" sz="2400">
                <a:latin typeface="宋体" panose="02010600030101010101" pitchFamily="2" charset="-122"/>
              </a:rPr>
              <a:t>DMA</a:t>
            </a:r>
            <a:r>
              <a:rPr lang="zh-CN" altLang="en-US" sz="2400">
                <a:latin typeface="宋体" panose="02010600030101010101" pitchFamily="2" charset="-122"/>
              </a:rPr>
              <a:t>进行初始化；若不需要交换数据，则停止外设；若为出错，则转错误诊断及处理程序。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1085"/>
                                        </p:tgtEl>
                                        <p:attrNameLst>
                                          <p:attrName>style.visibility</p:attrName>
                                        </p:attrNameLst>
                                      </p:cBhvr>
                                      <p:to>
                                        <p:strVal val="visible"/>
                                      </p:to>
                                    </p:set>
                                    <p:animEffect transition="in" filter="dissolve">
                                      <p:cBhvr>
                                        <p:cTn id="7" dur="500"/>
                                        <p:tgtEl>
                                          <p:spTgt spid="131085"/>
                                        </p:tgtEl>
                                      </p:cBhvr>
                                    </p:animEffect>
                                  </p:childTnLst>
                                  <p:subTnLst>
                                    <p:set>
                                      <p:cBhvr override="childStyle">
                                        <p:cTn dur="1" fill="hold" display="0" masterRel="nextClick" afterEffect="1"/>
                                        <p:tgtEl>
                                          <p:spTgt spid="13108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1086"/>
                                        </p:tgtEl>
                                        <p:attrNameLst>
                                          <p:attrName>style.visibility</p:attrName>
                                        </p:attrNameLst>
                                      </p:cBhvr>
                                      <p:to>
                                        <p:strVal val="visible"/>
                                      </p:to>
                                    </p:set>
                                    <p:animEffect transition="in" filter="dissolve">
                                      <p:cBhvr>
                                        <p:cTn id="12" dur="500"/>
                                        <p:tgtEl>
                                          <p:spTgt spid="131086"/>
                                        </p:tgtEl>
                                      </p:cBhvr>
                                    </p:animEffect>
                                  </p:childTnLst>
                                  <p:subTnLst>
                                    <p:set>
                                      <p:cBhvr override="childStyle">
                                        <p:cTn dur="1" fill="hold" display="0" masterRel="nextClick" afterEffect="1"/>
                                        <p:tgtEl>
                                          <p:spTgt spid="13108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1089"/>
                                        </p:tgtEl>
                                        <p:attrNameLst>
                                          <p:attrName>style.visibility</p:attrName>
                                        </p:attrNameLst>
                                      </p:cBhvr>
                                      <p:to>
                                        <p:strVal val="visible"/>
                                      </p:to>
                                    </p:set>
                                    <p:animEffect transition="in" filter="dissolve">
                                      <p:cBhvr>
                                        <p:cTn id="17" dur="500"/>
                                        <p:tgtEl>
                                          <p:spTgt spid="131089"/>
                                        </p:tgtEl>
                                      </p:cBhvr>
                                    </p:animEffect>
                                  </p:childTnLst>
                                  <p:subTnLst>
                                    <p:set>
                                      <p:cBhvr override="childStyle">
                                        <p:cTn dur="1" fill="hold" display="0" masterRel="nextClick" afterEffect="1"/>
                                        <p:tgtEl>
                                          <p:spTgt spid="13108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85" grpId="0" animBg="1" autoUpdateAnimBg="0"/>
      <p:bldP spid="131086" grpId="0" animBg="1" autoUpdateAnimBg="0"/>
      <p:bldP spid="131089"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p:spPr>
        <p:txBody>
          <a:bodyPr/>
          <a:lstStyle/>
          <a:p>
            <a:fld id="{68830600-F0B5-4E12-B08F-7E8E1F40DDDF}" type="slidenum">
              <a:rPr lang="en-US" altLang="zh-CN" smtClean="0"/>
              <a:t>57</a:t>
            </a:fld>
            <a:endParaRPr lang="en-US" altLang="zh-CN"/>
          </a:p>
        </p:txBody>
      </p:sp>
      <p:sp>
        <p:nvSpPr>
          <p:cNvPr id="60419" name="Rectangle 2"/>
          <p:cNvSpPr>
            <a:spLocks noGrp="1" noChangeArrowheads="1"/>
          </p:cNvSpPr>
          <p:nvPr>
            <p:ph type="title"/>
          </p:nvPr>
        </p:nvSpPr>
        <p:spPr>
          <a:xfrm>
            <a:off x="250825" y="0"/>
            <a:ext cx="7543800" cy="785813"/>
          </a:xfrm>
        </p:spPr>
        <p:txBody>
          <a:bodyPr/>
          <a:lstStyle/>
          <a:p>
            <a:pPr eaLnBrk="1" hangingPunct="1"/>
            <a:r>
              <a:rPr lang="en-US" altLang="zh-CN">
                <a:latin typeface="宋体" panose="02010600030101010101" pitchFamily="2" charset="-122"/>
              </a:rPr>
              <a:t>8.4.4</a:t>
            </a:r>
            <a:r>
              <a:rPr lang="zh-CN" altLang="en-US">
                <a:latin typeface="宋体" panose="02010600030101010101" pitchFamily="2" charset="-122"/>
              </a:rPr>
              <a:t>选择型和多路型</a:t>
            </a:r>
            <a:r>
              <a:rPr lang="en-US" altLang="zh-CN">
                <a:latin typeface="宋体" panose="02010600030101010101" pitchFamily="2" charset="-122"/>
              </a:rPr>
              <a:t>DMA</a:t>
            </a:r>
            <a:r>
              <a:rPr lang="zh-CN" altLang="en-US">
                <a:latin typeface="宋体" panose="02010600030101010101" pitchFamily="2" charset="-122"/>
              </a:rPr>
              <a:t>控制器</a:t>
            </a:r>
          </a:p>
        </p:txBody>
      </p:sp>
      <p:pic>
        <p:nvPicPr>
          <p:cNvPr id="60420" name="Picture 5" descr="8a16"/>
          <p:cNvPicPr>
            <a:picLocks noChangeAspect="1" noChangeArrowheads="1"/>
          </p:cNvPicPr>
          <p:nvPr/>
        </p:nvPicPr>
        <p:blipFill>
          <a:blip r:embed="rId2"/>
          <a:srcRect/>
          <a:stretch>
            <a:fillRect/>
          </a:stretch>
        </p:blipFill>
        <p:spPr bwMode="auto">
          <a:xfrm>
            <a:off x="395288" y="3068638"/>
            <a:ext cx="7200900" cy="3498850"/>
          </a:xfrm>
          <a:prstGeom prst="rect">
            <a:avLst/>
          </a:prstGeom>
          <a:noFill/>
          <a:ln w="9525">
            <a:noFill/>
            <a:miter lim="800000"/>
            <a:headEnd/>
            <a:tailEnd/>
          </a:ln>
        </p:spPr>
      </p:pic>
      <p:sp>
        <p:nvSpPr>
          <p:cNvPr id="60421" name="Rectangle 6"/>
          <p:cNvSpPr>
            <a:spLocks noChangeArrowheads="1"/>
          </p:cNvSpPr>
          <p:nvPr/>
        </p:nvSpPr>
        <p:spPr bwMode="auto">
          <a:xfrm>
            <a:off x="179388" y="1052513"/>
            <a:ext cx="7777162" cy="1460500"/>
          </a:xfrm>
          <a:prstGeom prst="rect">
            <a:avLst/>
          </a:prstGeom>
          <a:noFill/>
          <a:ln w="12700">
            <a:noFill/>
            <a:miter lim="800000"/>
            <a:headEnd type="none" w="sm" len="sm"/>
            <a:tailEnd type="none" w="sm" len="sm"/>
          </a:ln>
        </p:spPr>
        <p:txBody>
          <a:bodyPr tIns="0" bIns="0" anchor="ctr">
            <a:spAutoFit/>
          </a:bodyPr>
          <a:lstStyle/>
          <a:p>
            <a:pPr eaLnBrk="0" hangingPunct="0"/>
            <a:r>
              <a:rPr lang="en-US" altLang="zh-CN" sz="2400">
                <a:latin typeface="宋体" panose="02010600030101010101" pitchFamily="2" charset="-122"/>
              </a:rPr>
              <a:t>1.</a:t>
            </a:r>
            <a:r>
              <a:rPr lang="zh-CN" altLang="en-US" sz="2400">
                <a:latin typeface="宋体" panose="02010600030101010101" pitchFamily="2" charset="-122"/>
              </a:rPr>
              <a:t>选择型</a:t>
            </a:r>
            <a:r>
              <a:rPr lang="en-US" altLang="zh-CN" sz="2400">
                <a:latin typeface="宋体" panose="02010600030101010101" pitchFamily="2" charset="-122"/>
              </a:rPr>
              <a:t>DMA</a:t>
            </a:r>
            <a:r>
              <a:rPr lang="zh-CN" altLang="en-US" sz="2400">
                <a:latin typeface="宋体" panose="02010600030101010101" pitchFamily="2" charset="-122"/>
              </a:rPr>
              <a:t>控制器</a:t>
            </a:r>
          </a:p>
          <a:p>
            <a:pPr eaLnBrk="0" hangingPunct="0"/>
            <a:r>
              <a:rPr lang="zh-CN" altLang="en-US" sz="2400">
                <a:latin typeface="宋体" panose="02010600030101010101" pitchFamily="2" charset="-122"/>
              </a:rPr>
              <a:t>　　选择型</a:t>
            </a:r>
            <a:r>
              <a:rPr lang="en-US" altLang="zh-CN" sz="2400">
                <a:latin typeface="宋体" panose="02010600030101010101" pitchFamily="2" charset="-122"/>
              </a:rPr>
              <a:t>DMA</a:t>
            </a:r>
            <a:r>
              <a:rPr lang="zh-CN" altLang="en-US" sz="2400">
                <a:latin typeface="宋体" panose="02010600030101010101" pitchFamily="2" charset="-122"/>
              </a:rPr>
              <a:t>控制器在物理上可以连接多个设备，而在逻辑上只允许连接一个设备。换句话说，在某一段时间内只能为一个设备服务。</a:t>
            </a:r>
          </a:p>
        </p:txBody>
      </p:sp>
      <p:sp>
        <p:nvSpPr>
          <p:cNvPr id="43016" name="AutoShape 8"/>
          <p:cNvSpPr>
            <a:spLocks noChangeArrowheads="1"/>
          </p:cNvSpPr>
          <p:nvPr/>
        </p:nvSpPr>
        <p:spPr bwMode="auto">
          <a:xfrm>
            <a:off x="755650" y="5589588"/>
            <a:ext cx="1871663" cy="215900"/>
          </a:xfrm>
          <a:prstGeom prst="rightArrow">
            <a:avLst>
              <a:gd name="adj1" fmla="val 50000"/>
              <a:gd name="adj2" fmla="val 216728"/>
            </a:avLst>
          </a:prstGeom>
          <a:solidFill>
            <a:srgbClr val="FF3300"/>
          </a:solidFill>
          <a:ln w="12700">
            <a:solidFill>
              <a:schemeClr val="tx1"/>
            </a:solidFill>
            <a:miter lim="800000"/>
            <a:headEnd type="none" w="sm" len="sm"/>
            <a:tailEnd type="none" w="sm" len="sm"/>
          </a:ln>
        </p:spPr>
        <p:txBody>
          <a:bodyPr wrap="none" anchor="ctr"/>
          <a:lstStyle/>
          <a:p>
            <a:endParaRPr lang="zh-CN" altLang="en-US"/>
          </a:p>
        </p:txBody>
      </p:sp>
      <p:sp>
        <p:nvSpPr>
          <p:cNvPr id="43018" name="Rectangle 10"/>
          <p:cNvSpPr>
            <a:spLocks noChangeArrowheads="1"/>
          </p:cNvSpPr>
          <p:nvPr/>
        </p:nvSpPr>
        <p:spPr bwMode="auto">
          <a:xfrm>
            <a:off x="228600" y="990600"/>
            <a:ext cx="8610600" cy="1917700"/>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a:latin typeface="宋体" panose="02010600030101010101" pitchFamily="2" charset="-122"/>
              </a:rPr>
              <a:t>    </a:t>
            </a:r>
            <a:r>
              <a:rPr lang="zh-CN" altLang="en-US" sz="2400">
                <a:latin typeface="宋体" panose="02010600030101010101" pitchFamily="2" charset="-122"/>
              </a:rPr>
              <a:t>在预置阶段，给出所选择的设备号。只为所选设备服务。下次预置再根据</a:t>
            </a:r>
            <a:r>
              <a:rPr lang="en-US" altLang="zh-CN" sz="2400">
                <a:latin typeface="宋体" panose="02010600030101010101" pitchFamily="2" charset="-122"/>
              </a:rPr>
              <a:t>I/O</a:t>
            </a:r>
            <a:r>
              <a:rPr lang="zh-CN" altLang="en-US" sz="2400">
                <a:latin typeface="宋体" panose="02010600030101010101" pitchFamily="2" charset="-122"/>
              </a:rPr>
              <a:t>指令指出的设备号，为另一选择的设备服务。</a:t>
            </a:r>
          </a:p>
          <a:p>
            <a:r>
              <a:rPr lang="zh-CN" altLang="en-US" sz="2400">
                <a:latin typeface="宋体" panose="02010600030101010101" pitchFamily="2" charset="-122"/>
              </a:rPr>
              <a:t>　　选择型</a:t>
            </a:r>
            <a:r>
              <a:rPr lang="en-US" altLang="zh-CN" sz="2400">
                <a:latin typeface="宋体" panose="02010600030101010101" pitchFamily="2" charset="-122"/>
              </a:rPr>
              <a:t>DMA</a:t>
            </a:r>
            <a:r>
              <a:rPr lang="zh-CN" altLang="en-US" sz="2400">
                <a:latin typeface="宋体" panose="02010600030101010101" pitchFamily="2" charset="-122"/>
              </a:rPr>
              <a:t>控制器只增加少量硬件，达到了为多个外围设备服务的目的，适合数据传输率很高、接近内存存取速度的设备。在很快地传送完一个数据块后，控制器又可为其他设备服务。</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016"/>
                                        </p:tgtEl>
                                        <p:attrNameLst>
                                          <p:attrName>style.visibility</p:attrName>
                                        </p:attrNameLst>
                                      </p:cBhvr>
                                      <p:to>
                                        <p:strVal val="visible"/>
                                      </p:to>
                                    </p:set>
                                    <p:animEffect transition="in" filter="dissolve">
                                      <p:cBhvr>
                                        <p:cTn id="7" dur="500"/>
                                        <p:tgtEl>
                                          <p:spTgt spid="430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018"/>
                                        </p:tgtEl>
                                        <p:attrNameLst>
                                          <p:attrName>style.visibility</p:attrName>
                                        </p:attrNameLst>
                                      </p:cBhvr>
                                      <p:to>
                                        <p:strVal val="visible"/>
                                      </p:to>
                                    </p:set>
                                    <p:animEffect transition="in" filter="dissolve">
                                      <p:cBhvr>
                                        <p:cTn id="12" dur="500"/>
                                        <p:tgtEl>
                                          <p:spTgt spid="43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6" grpId="0" animBg="1"/>
      <p:bldP spid="43018"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p:spPr>
        <p:txBody>
          <a:bodyPr/>
          <a:lstStyle/>
          <a:p>
            <a:fld id="{8D5D3550-4C8E-441D-AA63-7193ED115A68}" type="slidenum">
              <a:rPr lang="en-US" altLang="zh-CN" smtClean="0"/>
              <a:t>58</a:t>
            </a:fld>
            <a:endParaRPr lang="en-US" altLang="zh-CN"/>
          </a:p>
        </p:txBody>
      </p:sp>
      <p:sp>
        <p:nvSpPr>
          <p:cNvPr id="61443" name="Rectangle 5"/>
          <p:cNvSpPr>
            <a:spLocks noChangeArrowheads="1"/>
          </p:cNvSpPr>
          <p:nvPr/>
        </p:nvSpPr>
        <p:spPr bwMode="auto">
          <a:xfrm>
            <a:off x="228600" y="228600"/>
            <a:ext cx="8713788" cy="1917700"/>
          </a:xfrm>
          <a:prstGeom prst="rect">
            <a:avLst/>
          </a:prstGeom>
          <a:solidFill>
            <a:schemeClr val="bg1"/>
          </a:solidFill>
          <a:ln w="12700">
            <a:noFill/>
            <a:miter lim="800000"/>
            <a:headEnd type="none" w="sm" len="sm"/>
            <a:tailEnd type="none" w="sm" len="sm"/>
          </a:ln>
        </p:spPr>
        <p:txBody>
          <a:bodyPr anchor="ctr">
            <a:spAutoFit/>
          </a:bodyPr>
          <a:lstStyle/>
          <a:p>
            <a:r>
              <a:rPr lang="en-US" altLang="zh-CN" sz="2400">
                <a:latin typeface="宋体" panose="02010600030101010101" pitchFamily="2" charset="-122"/>
              </a:rPr>
              <a:t>2.</a:t>
            </a:r>
            <a:r>
              <a:rPr lang="zh-CN" altLang="en-US" sz="2400">
                <a:latin typeface="宋体" panose="02010600030101010101" pitchFamily="2" charset="-122"/>
              </a:rPr>
              <a:t>多路型</a:t>
            </a:r>
            <a:r>
              <a:rPr lang="en-US" altLang="zh-CN" sz="2400">
                <a:latin typeface="宋体" panose="02010600030101010101" pitchFamily="2" charset="-122"/>
              </a:rPr>
              <a:t>DMA</a:t>
            </a:r>
            <a:r>
              <a:rPr lang="zh-CN" altLang="en-US" sz="2400">
                <a:latin typeface="宋体" panose="02010600030101010101" pitchFamily="2" charset="-122"/>
              </a:rPr>
              <a:t>控制器</a:t>
            </a:r>
          </a:p>
          <a:p>
            <a:r>
              <a:rPr lang="zh-CN" altLang="en-US" sz="2400">
                <a:latin typeface="宋体" panose="02010600030101010101" pitchFamily="2" charset="-122"/>
              </a:rPr>
              <a:t>　　选择型</a:t>
            </a:r>
            <a:r>
              <a:rPr lang="en-US" altLang="zh-CN" sz="2400">
                <a:latin typeface="宋体" panose="02010600030101010101" pitchFamily="2" charset="-122"/>
              </a:rPr>
              <a:t>DMA</a:t>
            </a:r>
            <a:r>
              <a:rPr lang="zh-CN" altLang="en-US" sz="2400">
                <a:latin typeface="宋体" panose="02010600030101010101" pitchFamily="2" charset="-122"/>
              </a:rPr>
              <a:t>控制器不适用于慢速设备。但多路型</a:t>
            </a:r>
            <a:r>
              <a:rPr lang="en-US" altLang="zh-CN" sz="2400">
                <a:latin typeface="宋体" panose="02010600030101010101" pitchFamily="2" charset="-122"/>
              </a:rPr>
              <a:t>DMA</a:t>
            </a:r>
            <a:r>
              <a:rPr lang="zh-CN" altLang="en-US" sz="2400">
                <a:latin typeface="宋体" panose="02010600030101010101" pitchFamily="2" charset="-122"/>
              </a:rPr>
              <a:t>控制器适合于同时为多个慢速外围设备服务。多路型</a:t>
            </a:r>
            <a:r>
              <a:rPr lang="en-US" altLang="zh-CN" sz="2400">
                <a:latin typeface="宋体" panose="02010600030101010101" pitchFamily="2" charset="-122"/>
              </a:rPr>
              <a:t>DMA</a:t>
            </a:r>
            <a:r>
              <a:rPr lang="zh-CN" altLang="en-US" sz="2400">
                <a:latin typeface="宋体" panose="02010600030101010101" pitchFamily="2" charset="-122"/>
              </a:rPr>
              <a:t>不仅在物理上可以连接多个外围设备，而且在逻辑上也允许这些外围设备同时工作，各设备以字节交叉方式通过</a:t>
            </a:r>
            <a:r>
              <a:rPr lang="en-US" altLang="zh-CN" sz="2400">
                <a:latin typeface="宋体" panose="02010600030101010101" pitchFamily="2" charset="-122"/>
              </a:rPr>
              <a:t>DMA</a:t>
            </a:r>
            <a:r>
              <a:rPr lang="zh-CN" altLang="en-US" sz="2400">
                <a:latin typeface="宋体" panose="02010600030101010101" pitchFamily="2" charset="-122"/>
              </a:rPr>
              <a:t>控制器进行数据传送。</a:t>
            </a:r>
            <a:r>
              <a:rPr lang="zh-CN" altLang="en-US"/>
              <a:t> </a:t>
            </a:r>
          </a:p>
        </p:txBody>
      </p:sp>
      <p:graphicFrame>
        <p:nvGraphicFramePr>
          <p:cNvPr id="61445" name="Object 9"/>
          <p:cNvGraphicFramePr>
            <a:graphicFrameLocks noChangeAspect="1"/>
          </p:cNvGraphicFramePr>
          <p:nvPr/>
        </p:nvGraphicFramePr>
        <p:xfrm>
          <a:off x="467995" y="2277110"/>
          <a:ext cx="7848600" cy="4206875"/>
        </p:xfrm>
        <a:graphic>
          <a:graphicData uri="http://schemas.openxmlformats.org/presentationml/2006/ole">
            <mc:AlternateContent xmlns:mc="http://schemas.openxmlformats.org/markup-compatibility/2006">
              <mc:Choice xmlns:v="urn:schemas-microsoft-com:vml" Requires="v">
                <p:oleObj name="位图图像" r:id="rId2" imgW="6648450" imgH="3562350" progId="PBrush">
                  <p:embed/>
                </p:oleObj>
              </mc:Choice>
              <mc:Fallback>
                <p:oleObj name="位图图像" r:id="rId2" imgW="6648450" imgH="3562350" progId="PBrush">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995" y="2277110"/>
                        <a:ext cx="7848600" cy="420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课内练习</a:t>
            </a:r>
          </a:p>
        </p:txBody>
      </p:sp>
      <p:sp>
        <p:nvSpPr>
          <p:cNvPr id="10" name="TextBox 9"/>
          <p:cNvSpPr txBox="1"/>
          <p:nvPr>
            <p:custDataLst>
              <p:tags r:id="rId1"/>
            </p:custDataLst>
          </p:nvPr>
        </p:nvSpPr>
        <p:spPr>
          <a:xfrm>
            <a:off x="150637" y="1073727"/>
            <a:ext cx="8876234" cy="2292935"/>
          </a:xfrm>
          <a:prstGeom prst="rect">
            <a:avLst/>
          </a:prstGeom>
        </p:spPr>
        <p:style>
          <a:lnRef idx="1">
            <a:schemeClr val="accent4"/>
          </a:lnRef>
          <a:fillRef idx="2">
            <a:schemeClr val="accent4"/>
          </a:fillRef>
          <a:effectRef idx="1">
            <a:schemeClr val="accent4"/>
          </a:effectRef>
          <a:fontRef idx="minor">
            <a:schemeClr val="dk1"/>
          </a:fontRef>
        </p:style>
        <p:txBody>
          <a:bodyPr vert="horz" wrap="square" rtlCol="0" anchor="ctr">
            <a:spAutoFit/>
          </a:bodyPr>
          <a:lstStyle/>
          <a:p>
            <a:pPr>
              <a:lnSpc>
                <a:spcPct val="130000"/>
              </a:lnSpc>
            </a:pPr>
            <a:r>
              <a:rPr lang="zh-CN" altLang="zh-CN" sz="2200" dirty="0">
                <a:latin typeface="微软雅黑" panose="020B0503020204020204" pitchFamily="34" charset="-122"/>
                <a:ea typeface="微软雅黑" panose="020B0503020204020204" pitchFamily="34" charset="-122"/>
              </a:rPr>
              <a:t>某计算机的</a:t>
            </a:r>
            <a:r>
              <a:rPr lang="en-US" altLang="zh-CN" sz="2200" dirty="0">
                <a:latin typeface="微软雅黑" panose="020B0503020204020204" pitchFamily="34" charset="-122"/>
                <a:ea typeface="微软雅黑" panose="020B0503020204020204" pitchFamily="34" charset="-122"/>
              </a:rPr>
              <a:t>CPU</a:t>
            </a:r>
            <a:r>
              <a:rPr lang="zh-CN" altLang="zh-CN" sz="2200" dirty="0">
                <a:latin typeface="微软雅黑" panose="020B0503020204020204" pitchFamily="34" charset="-122"/>
                <a:ea typeface="微软雅黑" panose="020B0503020204020204" pitchFamily="34" charset="-122"/>
              </a:rPr>
              <a:t>主频为</a:t>
            </a:r>
            <a:r>
              <a:rPr lang="en-US" altLang="zh-CN" sz="2200" dirty="0">
                <a:latin typeface="微软雅黑" panose="020B0503020204020204" pitchFamily="34" charset="-122"/>
                <a:ea typeface="微软雅黑" panose="020B0503020204020204" pitchFamily="34" charset="-122"/>
              </a:rPr>
              <a:t>500MHz</a:t>
            </a:r>
            <a:r>
              <a:rPr lang="zh-CN" altLang="zh-CN" sz="2200" dirty="0">
                <a:latin typeface="微软雅黑" panose="020B0503020204020204" pitchFamily="34" charset="-122"/>
                <a:ea typeface="微软雅黑" panose="020B0503020204020204" pitchFamily="34" charset="-122"/>
              </a:rPr>
              <a:t>，假定某外设的数据传输率为</a:t>
            </a:r>
            <a:r>
              <a:rPr lang="en-US" altLang="zh-CN" sz="2200" dirty="0">
                <a:latin typeface="微软雅黑" panose="020B0503020204020204" pitchFamily="34" charset="-122"/>
                <a:ea typeface="微软雅黑" panose="020B0503020204020204" pitchFamily="34" charset="-122"/>
              </a:rPr>
              <a:t>5MB/s</a:t>
            </a:r>
            <a:r>
              <a:rPr lang="zh-CN" altLang="zh-CN" sz="2200" dirty="0">
                <a:latin typeface="微软雅黑" panose="020B0503020204020204" pitchFamily="34" charset="-122"/>
                <a:ea typeface="微软雅黑" panose="020B0503020204020204" pitchFamily="34" charset="-122"/>
              </a:rPr>
              <a:t>，采用</a:t>
            </a:r>
            <a:r>
              <a:rPr lang="en-US" altLang="zh-CN" sz="2200" dirty="0">
                <a:latin typeface="微软雅黑" panose="020B0503020204020204" pitchFamily="34" charset="-122"/>
                <a:ea typeface="微软雅黑" panose="020B0503020204020204" pitchFamily="34" charset="-122"/>
              </a:rPr>
              <a:t>DMA</a:t>
            </a:r>
            <a:r>
              <a:rPr lang="zh-CN" altLang="zh-CN" sz="2200" dirty="0">
                <a:latin typeface="微软雅黑" panose="020B0503020204020204" pitchFamily="34" charset="-122"/>
                <a:ea typeface="微软雅黑" panose="020B0503020204020204" pitchFamily="34" charset="-122"/>
              </a:rPr>
              <a:t>方式与主机进行数据传送，每次</a:t>
            </a:r>
            <a:r>
              <a:rPr lang="en-US" altLang="zh-CN" sz="2200" dirty="0">
                <a:latin typeface="微软雅黑" panose="020B0503020204020204" pitchFamily="34" charset="-122"/>
                <a:ea typeface="微软雅黑" panose="020B0503020204020204" pitchFamily="34" charset="-122"/>
              </a:rPr>
              <a:t>DMA</a:t>
            </a:r>
            <a:r>
              <a:rPr lang="zh-CN" altLang="zh-CN" sz="2200" dirty="0">
                <a:latin typeface="微软雅黑" panose="020B0503020204020204" pitchFamily="34" charset="-122"/>
                <a:ea typeface="微软雅黑" panose="020B0503020204020204" pitchFamily="34" charset="-122"/>
              </a:rPr>
              <a:t>传送大小为</a:t>
            </a:r>
            <a:r>
              <a:rPr lang="en-US" altLang="zh-CN" sz="2200" dirty="0">
                <a:latin typeface="微软雅黑" panose="020B0503020204020204" pitchFamily="34" charset="-122"/>
                <a:ea typeface="微软雅黑" panose="020B0503020204020204" pitchFamily="34" charset="-122"/>
              </a:rPr>
              <a:t>5000B</a:t>
            </a:r>
            <a:r>
              <a:rPr lang="zh-CN" altLang="zh-CN" sz="2200" dirty="0">
                <a:latin typeface="微软雅黑" panose="020B0503020204020204" pitchFamily="34" charset="-122"/>
                <a:ea typeface="微软雅黑" panose="020B0503020204020204" pitchFamily="34" charset="-122"/>
              </a:rPr>
              <a:t>，且</a:t>
            </a:r>
            <a:r>
              <a:rPr lang="en-US" altLang="zh-CN" sz="2200" dirty="0">
                <a:latin typeface="微软雅黑" panose="020B0503020204020204" pitchFamily="34" charset="-122"/>
                <a:ea typeface="微软雅黑" panose="020B0503020204020204" pitchFamily="34" charset="-122"/>
              </a:rPr>
              <a:t>DMA</a:t>
            </a:r>
            <a:r>
              <a:rPr lang="zh-CN" altLang="zh-CN" sz="2200" dirty="0">
                <a:latin typeface="微软雅黑" panose="020B0503020204020204" pitchFamily="34" charset="-122"/>
                <a:ea typeface="微软雅黑" panose="020B0503020204020204" pitchFamily="34" charset="-122"/>
              </a:rPr>
              <a:t>预处理和后处理的总开销为</a:t>
            </a:r>
            <a:r>
              <a:rPr lang="en-US" altLang="zh-CN" sz="2200" dirty="0">
                <a:latin typeface="微软雅黑" panose="020B0503020204020204" pitchFamily="34" charset="-122"/>
                <a:ea typeface="微软雅黑" panose="020B0503020204020204" pitchFamily="34" charset="-122"/>
              </a:rPr>
              <a:t>500</a:t>
            </a:r>
            <a:r>
              <a:rPr lang="zh-CN" altLang="zh-CN" sz="2200" dirty="0">
                <a:latin typeface="微软雅黑" panose="020B0503020204020204" pitchFamily="34" charset="-122"/>
                <a:ea typeface="微软雅黑" panose="020B0503020204020204" pitchFamily="34" charset="-122"/>
              </a:rPr>
              <a:t>个时钟周期，则</a:t>
            </a:r>
            <a:r>
              <a:rPr lang="en-US" altLang="zh-CN" sz="2200" dirty="0">
                <a:latin typeface="微软雅黑" panose="020B0503020204020204" pitchFamily="34" charset="-122"/>
                <a:ea typeface="微软雅黑" panose="020B0503020204020204" pitchFamily="34" charset="-122"/>
              </a:rPr>
              <a:t>CPU</a:t>
            </a:r>
            <a:r>
              <a:rPr lang="zh-CN" altLang="zh-CN" sz="2200" dirty="0">
                <a:latin typeface="微软雅黑" panose="020B0503020204020204" pitchFamily="34" charset="-122"/>
                <a:ea typeface="微软雅黑" panose="020B0503020204020204" pitchFamily="34" charset="-122"/>
              </a:rPr>
              <a:t>用于该外设</a:t>
            </a:r>
            <a:r>
              <a:rPr lang="en-US" altLang="zh-CN" sz="2200" dirty="0">
                <a:latin typeface="微软雅黑" panose="020B0503020204020204" pitchFamily="34" charset="-122"/>
                <a:ea typeface="微软雅黑" panose="020B0503020204020204" pitchFamily="34" charset="-122"/>
              </a:rPr>
              <a:t>I/O</a:t>
            </a:r>
            <a:r>
              <a:rPr lang="zh-CN" altLang="zh-CN" sz="2200" dirty="0">
                <a:latin typeface="微软雅黑" panose="020B0503020204020204" pitchFamily="34" charset="-122"/>
                <a:ea typeface="微软雅黑" panose="020B0503020204020204" pitchFamily="34" charset="-122"/>
              </a:rPr>
              <a:t>的时间占整个</a:t>
            </a:r>
            <a:r>
              <a:rPr lang="en-US" altLang="zh-CN" sz="2200" dirty="0">
                <a:latin typeface="微软雅黑" panose="020B0503020204020204" pitchFamily="34" charset="-122"/>
                <a:ea typeface="微软雅黑" panose="020B0503020204020204" pitchFamily="34" charset="-122"/>
              </a:rPr>
              <a:t>CPU</a:t>
            </a:r>
            <a:r>
              <a:rPr lang="zh-CN" altLang="zh-CN" sz="2200" dirty="0">
                <a:latin typeface="微软雅黑" panose="020B0503020204020204" pitchFamily="34" charset="-122"/>
                <a:ea typeface="微软雅黑" panose="020B0503020204020204" pitchFamily="34" charset="-122"/>
              </a:rPr>
              <a:t>时间的百分比是多少？</a:t>
            </a:r>
            <a:r>
              <a:rPr lang="en-US" altLang="zh-CN"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假设</a:t>
            </a:r>
            <a:r>
              <a:rPr lang="en-US" altLang="zh-CN" sz="2200" dirty="0">
                <a:latin typeface="微软雅黑" panose="020B0503020204020204" pitchFamily="34" charset="-122"/>
                <a:ea typeface="微软雅黑" panose="020B0503020204020204" pitchFamily="34" charset="-122"/>
              </a:rPr>
              <a:t>DMA</a:t>
            </a:r>
            <a:r>
              <a:rPr lang="zh-CN" altLang="zh-CN" sz="2200" dirty="0">
                <a:latin typeface="微软雅黑" panose="020B0503020204020204" pitchFamily="34" charset="-122"/>
                <a:ea typeface="微软雅黑" panose="020B0503020204020204" pitchFamily="34" charset="-122"/>
              </a:rPr>
              <a:t>与</a:t>
            </a:r>
            <a:r>
              <a:rPr lang="en-US" altLang="zh-CN" sz="2200" dirty="0">
                <a:latin typeface="微软雅黑" panose="020B0503020204020204" pitchFamily="34" charset="-122"/>
                <a:ea typeface="微软雅黑" panose="020B0503020204020204" pitchFamily="34" charset="-122"/>
              </a:rPr>
              <a:t>CPU</a:t>
            </a:r>
            <a:r>
              <a:rPr lang="zh-CN" altLang="zh-CN" sz="2200" dirty="0">
                <a:latin typeface="微软雅黑" panose="020B0503020204020204" pitchFamily="34" charset="-122"/>
                <a:ea typeface="微软雅黑" panose="020B0503020204020204" pitchFamily="34" charset="-122"/>
              </a:rPr>
              <a:t>之间没有访存冲突</a:t>
            </a:r>
            <a:r>
              <a:rPr lang="en-US" altLang="zh-CN"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 。</a:t>
            </a:r>
          </a:p>
        </p:txBody>
      </p:sp>
      <p:sp>
        <p:nvSpPr>
          <p:cNvPr id="3" name="矩形 2"/>
          <p:cNvSpPr/>
          <p:nvPr/>
        </p:nvSpPr>
        <p:spPr>
          <a:xfrm>
            <a:off x="226624" y="3448250"/>
            <a:ext cx="8615325" cy="2492990"/>
          </a:xfrm>
          <a:prstGeom prst="rect">
            <a:avLst/>
          </a:prstGeom>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rPr>
              <a:t>解：</a:t>
            </a:r>
            <a:r>
              <a:rPr lang="en-US" altLang="zh-CN" sz="2400" b="1" dirty="0">
                <a:latin typeface="微软雅黑" panose="020B0503020204020204" pitchFamily="34" charset="-122"/>
                <a:ea typeface="微软雅黑" panose="020B0503020204020204" pitchFamily="34" charset="-122"/>
              </a:rPr>
              <a:t>DMA</a:t>
            </a:r>
            <a:r>
              <a:rPr lang="zh-CN" altLang="zh-CN" sz="2400" b="1" dirty="0">
                <a:latin typeface="微软雅黑" panose="020B0503020204020204" pitchFamily="34" charset="-122"/>
                <a:ea typeface="微软雅黑" panose="020B0503020204020204" pitchFamily="34" charset="-122"/>
              </a:rPr>
              <a:t>传送一个数据块所需时间</a:t>
            </a:r>
            <a:endParaRPr lang="en-US" altLang="zh-CN" sz="2400" b="1" dirty="0">
              <a:latin typeface="微软雅黑" panose="020B0503020204020204" pitchFamily="34" charset="-122"/>
              <a:ea typeface="微软雅黑" panose="020B0503020204020204" pitchFamily="34" charset="-122"/>
            </a:endParaRPr>
          </a:p>
          <a:p>
            <a:pPr>
              <a:lnSpc>
                <a:spcPct val="130000"/>
              </a:lnSpc>
            </a:pPr>
            <a:r>
              <a:rPr lang="en-US" altLang="zh-CN" sz="2400" b="1" dirty="0">
                <a:latin typeface="微软雅黑" panose="020B0503020204020204" pitchFamily="34" charset="-122"/>
                <a:ea typeface="微软雅黑" panose="020B0503020204020204" pitchFamily="34" charset="-122"/>
              </a:rPr>
              <a:t>       t= 5000B/r = 5000B/5MB = 1000</a:t>
            </a:r>
            <a:r>
              <a:rPr lang="zh-CN" altLang="zh-CN" sz="2400" b="1" dirty="0">
                <a:latin typeface="微软雅黑" panose="020B0503020204020204" pitchFamily="34" charset="-122"/>
                <a:ea typeface="微软雅黑" panose="020B0503020204020204" pitchFamily="34" charset="-122"/>
              </a:rPr>
              <a:t>μ</a:t>
            </a:r>
            <a:r>
              <a:rPr lang="en-US" altLang="zh-CN" sz="2400" b="1" dirty="0">
                <a:latin typeface="微软雅黑" panose="020B0503020204020204" pitchFamily="34" charset="-122"/>
                <a:ea typeface="微软雅黑" panose="020B0503020204020204" pitchFamily="34" charset="-122"/>
              </a:rPr>
              <a:t>s</a:t>
            </a:r>
            <a:endParaRPr lang="zh-CN" altLang="zh-CN" sz="2400" b="1" dirty="0">
              <a:latin typeface="微软雅黑" panose="020B0503020204020204" pitchFamily="34" charset="-122"/>
              <a:ea typeface="微软雅黑" panose="020B0503020204020204" pitchFamily="34" charset="-122"/>
            </a:endParaRPr>
          </a:p>
          <a:p>
            <a:pPr>
              <a:lnSpc>
                <a:spcPct val="130000"/>
              </a:lnSpc>
            </a:pP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tcpu</a:t>
            </a:r>
            <a:r>
              <a:rPr lang="en-US" altLang="zh-CN" sz="2400" b="1" dirty="0">
                <a:latin typeface="微软雅黑" panose="020B0503020204020204" pitchFamily="34" charset="-122"/>
                <a:ea typeface="微软雅黑" panose="020B0503020204020204" pitchFamily="34" charset="-122"/>
              </a:rPr>
              <a:t> = </a:t>
            </a:r>
            <a:r>
              <a:rPr lang="en-US" altLang="zh-CN" sz="2400" b="1" dirty="0" err="1">
                <a:latin typeface="微软雅黑" panose="020B0503020204020204" pitchFamily="34" charset="-122"/>
                <a:ea typeface="微软雅黑" panose="020B0503020204020204" pitchFamily="34" charset="-122"/>
              </a:rPr>
              <a:t>Nc</a:t>
            </a:r>
            <a:r>
              <a:rPr lang="en-US" altLang="zh-CN" sz="2400" b="1" dirty="0">
                <a:latin typeface="微软雅黑" panose="020B0503020204020204" pitchFamily="34" charset="-122"/>
                <a:ea typeface="微软雅黑" panose="020B0503020204020204" pitchFamily="34" charset="-122"/>
              </a:rPr>
              <a:t> / f = 500 / 500 = 1</a:t>
            </a:r>
            <a:r>
              <a:rPr lang="zh-CN" altLang="zh-CN" sz="2400" b="1" dirty="0">
                <a:latin typeface="微软雅黑" panose="020B0503020204020204" pitchFamily="34" charset="-122"/>
                <a:ea typeface="微软雅黑" panose="020B0503020204020204" pitchFamily="34" charset="-122"/>
              </a:rPr>
              <a:t>μ</a:t>
            </a:r>
            <a:r>
              <a:rPr lang="en-US" altLang="zh-CN" sz="2400" b="1" dirty="0">
                <a:latin typeface="微软雅黑" panose="020B0503020204020204" pitchFamily="34" charset="-122"/>
                <a:ea typeface="微软雅黑" panose="020B0503020204020204" pitchFamily="34" charset="-122"/>
              </a:rPr>
              <a:t>s</a:t>
            </a:r>
            <a:endParaRPr lang="zh-CN" altLang="zh-CN" sz="2400" b="1" dirty="0">
              <a:latin typeface="微软雅黑" panose="020B0503020204020204" pitchFamily="34" charset="-122"/>
              <a:ea typeface="微软雅黑" panose="020B0503020204020204" pitchFamily="34" charset="-122"/>
            </a:endParaRPr>
          </a:p>
          <a:p>
            <a:pPr>
              <a:lnSpc>
                <a:spcPct val="130000"/>
              </a:lnSpc>
            </a:pPr>
            <a:r>
              <a:rPr lang="en-US" altLang="zh-CN" sz="2400" b="1" dirty="0">
                <a:latin typeface="微软雅黑" panose="020B0503020204020204" pitchFamily="34" charset="-122"/>
                <a:ea typeface="微软雅黑" panose="020B0503020204020204" pitchFamily="34" charset="-122"/>
              </a:rPr>
              <a:t>        CPU</a:t>
            </a:r>
            <a:r>
              <a:rPr lang="zh-CN" altLang="zh-CN" sz="2400" b="1" dirty="0">
                <a:latin typeface="微软雅黑" panose="020B0503020204020204" pitchFamily="34" charset="-122"/>
                <a:ea typeface="微软雅黑" panose="020B0503020204020204" pitchFamily="34" charset="-122"/>
              </a:rPr>
              <a:t>用于外设的时间占整个</a:t>
            </a:r>
            <a:r>
              <a:rPr lang="en-US" altLang="zh-CN" sz="2400" b="1" dirty="0">
                <a:latin typeface="微软雅黑" panose="020B0503020204020204" pitchFamily="34" charset="-122"/>
                <a:ea typeface="微软雅黑" panose="020B0503020204020204" pitchFamily="34" charset="-122"/>
              </a:rPr>
              <a:t>CPU</a:t>
            </a:r>
            <a:r>
              <a:rPr lang="zh-CN" altLang="zh-CN" sz="2400" b="1" dirty="0">
                <a:latin typeface="微软雅黑" panose="020B0503020204020204" pitchFamily="34" charset="-122"/>
                <a:ea typeface="微软雅黑" panose="020B0503020204020204" pitchFamily="34" charset="-122"/>
              </a:rPr>
              <a:t>时间的百分比</a:t>
            </a:r>
            <a:r>
              <a:rPr lang="en-US" altLang="zh-CN" sz="2400" b="1" dirty="0">
                <a:latin typeface="微软雅黑" panose="020B0503020204020204" pitchFamily="34" charset="-122"/>
                <a:ea typeface="微软雅黑" panose="020B0503020204020204" pitchFamily="34" charset="-122"/>
              </a:rPr>
              <a:t>P</a:t>
            </a:r>
            <a:r>
              <a:rPr lang="zh-CN" altLang="zh-CN" sz="2400" b="1" dirty="0">
                <a:latin typeface="微软雅黑" panose="020B0503020204020204" pitchFamily="34" charset="-122"/>
                <a:ea typeface="微软雅黑" panose="020B0503020204020204" pitchFamily="34" charset="-122"/>
              </a:rPr>
              <a:t>为：</a:t>
            </a:r>
          </a:p>
          <a:p>
            <a:pPr>
              <a:lnSpc>
                <a:spcPct val="130000"/>
              </a:lnSpc>
            </a:pPr>
            <a:r>
              <a:rPr lang="en-US" altLang="zh-CN" sz="2400" b="1" dirty="0">
                <a:latin typeface="微软雅黑" panose="020B0503020204020204" pitchFamily="34" charset="-122"/>
                <a:ea typeface="微软雅黑" panose="020B0503020204020204" pitchFamily="34" charset="-122"/>
              </a:rPr>
              <a:t>        P = </a:t>
            </a:r>
            <a:r>
              <a:rPr lang="en-US" altLang="zh-CN" sz="2400" b="1" dirty="0" err="1">
                <a:latin typeface="微软雅黑" panose="020B0503020204020204" pitchFamily="34" charset="-122"/>
                <a:ea typeface="微软雅黑" panose="020B0503020204020204" pitchFamily="34" charset="-122"/>
              </a:rPr>
              <a:t>tcpu</a:t>
            </a:r>
            <a:r>
              <a:rPr lang="en-US" altLang="zh-CN" sz="2400" b="1" dirty="0">
                <a:latin typeface="微软雅黑" panose="020B0503020204020204" pitchFamily="34" charset="-122"/>
                <a:ea typeface="微软雅黑" panose="020B0503020204020204" pitchFamily="34" charset="-122"/>
              </a:rPr>
              <a:t>/ t = 1</a:t>
            </a:r>
            <a:r>
              <a:rPr lang="zh-CN" altLang="zh-CN" sz="2400" b="1" dirty="0">
                <a:latin typeface="微软雅黑" panose="020B0503020204020204" pitchFamily="34" charset="-122"/>
                <a:ea typeface="微软雅黑" panose="020B0503020204020204" pitchFamily="34" charset="-122"/>
              </a:rPr>
              <a:t>μ</a:t>
            </a:r>
            <a:r>
              <a:rPr lang="en-US" altLang="zh-CN" sz="2400" b="1" dirty="0">
                <a:latin typeface="微软雅黑" panose="020B0503020204020204" pitchFamily="34" charset="-122"/>
                <a:ea typeface="微软雅黑" panose="020B0503020204020204" pitchFamily="34" charset="-122"/>
              </a:rPr>
              <a:t>s / 1000</a:t>
            </a:r>
            <a:r>
              <a:rPr lang="zh-CN" altLang="zh-CN" sz="2400" b="1" dirty="0">
                <a:latin typeface="微软雅黑" panose="020B0503020204020204" pitchFamily="34" charset="-122"/>
                <a:ea typeface="微软雅黑" panose="020B0503020204020204" pitchFamily="34" charset="-122"/>
              </a:rPr>
              <a:t>μ</a:t>
            </a:r>
            <a:r>
              <a:rPr lang="en-US" altLang="zh-CN" sz="2400" b="1" dirty="0">
                <a:latin typeface="微软雅黑" panose="020B0503020204020204" pitchFamily="34" charset="-122"/>
                <a:ea typeface="微软雅黑" panose="020B0503020204020204" pitchFamily="34" charset="-122"/>
              </a:rPr>
              <a:t>s = 0.1%</a:t>
            </a:r>
            <a:endParaRPr lang="zh-CN" altLang="zh-CN" sz="24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6632"/>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课内练习</a:t>
            </a:r>
          </a:p>
        </p:txBody>
      </p:sp>
      <p:sp>
        <p:nvSpPr>
          <p:cNvPr id="7" name="TextBox 6"/>
          <p:cNvSpPr txBox="1"/>
          <p:nvPr>
            <p:custDataLst>
              <p:tags r:id="rId1"/>
            </p:custDataLst>
          </p:nvPr>
        </p:nvSpPr>
        <p:spPr>
          <a:xfrm>
            <a:off x="179512" y="1096283"/>
            <a:ext cx="8856984"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b="1" dirty="0">
                <a:latin typeface="微软雅黑" panose="020B0503020204020204" pitchFamily="34" charset="-122"/>
                <a:ea typeface="微软雅黑" panose="020B0503020204020204" pitchFamily="34" charset="-122"/>
              </a:rPr>
              <a:t>采用</a:t>
            </a:r>
            <a:r>
              <a:rPr lang="en-US" altLang="zh-CN" sz="2000" b="1" dirty="0">
                <a:latin typeface="微软雅黑" panose="020B0503020204020204" pitchFamily="34" charset="-122"/>
                <a:ea typeface="微软雅黑" panose="020B0503020204020204" pitchFamily="34" charset="-122"/>
              </a:rPr>
              <a:t>DMA</a:t>
            </a:r>
            <a:r>
              <a:rPr lang="zh-CN" altLang="zh-CN" sz="2000" b="1" dirty="0">
                <a:latin typeface="微软雅黑" panose="020B0503020204020204" pitchFamily="34" charset="-122"/>
                <a:ea typeface="微软雅黑" panose="020B0503020204020204" pitchFamily="34" charset="-122"/>
              </a:rPr>
              <a:t>方式传送数据时，每传送一个数据就要占用一个</a:t>
            </a: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的时间周期。</a:t>
            </a:r>
          </a:p>
          <a:p>
            <a:pPr>
              <a:lnSpc>
                <a:spcPct val="150000"/>
              </a:lnSpc>
            </a:pPr>
            <a:r>
              <a:rPr lang="en-US" altLang="zh-CN" sz="2000" b="1" dirty="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指令周期</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机器周期</a:t>
            </a:r>
            <a:r>
              <a:rPr lang="en-US" altLang="zh-CN" sz="2000" b="1" dirty="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存储周期</a:t>
            </a:r>
            <a:r>
              <a:rPr lang="en-US" altLang="zh-CN" sz="2000" b="1" dirty="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总线周期</a:t>
            </a:r>
          </a:p>
          <a:p>
            <a:pPr marL="342900" indent="-342900">
              <a:lnSpc>
                <a:spcPct val="150000"/>
              </a:lnSpc>
              <a:buFont typeface="Wingdings" panose="05000000000000000000" pitchFamily="2" charset="2"/>
              <a:buChar char="l"/>
            </a:pPr>
            <a:r>
              <a:rPr lang="zh-CN" altLang="zh-CN" sz="2000" b="1" dirty="0">
                <a:latin typeface="微软雅黑" panose="020B0503020204020204" pitchFamily="34" charset="-122"/>
                <a:ea typeface="微软雅黑" panose="020B0503020204020204" pitchFamily="34" charset="-122"/>
              </a:rPr>
              <a:t>周期挪用方式常用于</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方式的输入</a:t>
            </a:r>
            <a:r>
              <a:rPr lang="en-US" altLang="zh-CN"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输出中 。</a:t>
            </a:r>
          </a:p>
          <a:p>
            <a:pPr>
              <a:lnSpc>
                <a:spcPct val="150000"/>
              </a:lnSpc>
            </a:pPr>
            <a:r>
              <a:rPr lang="en-US" altLang="zh-CN" sz="2000" b="1" dirty="0">
                <a:latin typeface="微软雅黑" panose="020B0503020204020204" pitchFamily="34" charset="-122"/>
                <a:ea typeface="微软雅黑" panose="020B0503020204020204" pitchFamily="34" charset="-122"/>
              </a:rPr>
              <a:t>     A. DMA          B. </a:t>
            </a:r>
            <a:r>
              <a:rPr lang="zh-CN" altLang="zh-CN" sz="2000" b="1" dirty="0">
                <a:latin typeface="微软雅黑" panose="020B0503020204020204" pitchFamily="34" charset="-122"/>
                <a:ea typeface="微软雅黑" panose="020B0503020204020204" pitchFamily="34" charset="-122"/>
              </a:rPr>
              <a:t>中断</a:t>
            </a:r>
            <a:r>
              <a:rPr lang="en-US" altLang="zh-CN" sz="2000" b="1" dirty="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程序传送</a:t>
            </a:r>
            <a:r>
              <a:rPr lang="en-US" altLang="zh-CN" sz="2000" b="1" dirty="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通道 </a:t>
            </a:r>
          </a:p>
          <a:p>
            <a:pPr marL="342900" indent="-342900">
              <a:lnSpc>
                <a:spcPct val="150000"/>
              </a:lnSpc>
              <a:buFont typeface="Wingdings" panose="05000000000000000000" pitchFamily="2" charset="2"/>
              <a:buChar char="l"/>
            </a:pPr>
            <a:r>
              <a:rPr lang="zh-CN" altLang="zh-CN" sz="2000" b="1" dirty="0">
                <a:latin typeface="微软雅黑" panose="020B0503020204020204" pitchFamily="34" charset="-122"/>
                <a:ea typeface="微软雅黑" panose="020B0503020204020204" pitchFamily="34" charset="-122"/>
              </a:rPr>
              <a:t>微型机系统中，主机和硬盘进行数据交换一般采用</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a:t>
            </a:r>
          </a:p>
          <a:p>
            <a:pPr>
              <a:lnSpc>
                <a:spcPct val="150000"/>
              </a:lnSpc>
            </a:pPr>
            <a:r>
              <a:rPr lang="en-US" altLang="zh-CN" sz="2000" b="1" dirty="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程序中断控制</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直接存储器访问</a:t>
            </a:r>
            <a:r>
              <a:rPr lang="en-US" altLang="zh-CN" sz="2000" b="1" dirty="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程序直接控制</a:t>
            </a:r>
            <a:r>
              <a:rPr lang="en-US" altLang="zh-CN" sz="2000" b="1" dirty="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通道控制</a:t>
            </a:r>
          </a:p>
          <a:p>
            <a:pPr marL="342900" indent="-342900">
              <a:lnSpc>
                <a:spcPct val="150000"/>
              </a:lnSpc>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DMA</a:t>
            </a:r>
            <a:r>
              <a:rPr lang="zh-CN" altLang="zh-CN" sz="2000" b="1" dirty="0">
                <a:latin typeface="微软雅黑" panose="020B0503020204020204" pitchFamily="34" charset="-122"/>
                <a:ea typeface="微软雅黑" panose="020B0503020204020204" pitchFamily="34" charset="-122"/>
              </a:rPr>
              <a:t>的数据传送是以</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为单位进行的。</a:t>
            </a:r>
          </a:p>
          <a:p>
            <a:pPr>
              <a:lnSpc>
                <a:spcPct val="150000"/>
              </a:lnSpc>
            </a:pPr>
            <a:r>
              <a:rPr lang="en-US" altLang="zh-CN" sz="2000" b="1" dirty="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字节</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字</a:t>
            </a:r>
            <a:r>
              <a:rPr lang="en-US" altLang="zh-CN" sz="2000" b="1" dirty="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数据块</a:t>
            </a:r>
            <a:r>
              <a:rPr lang="en-US" altLang="zh-CN" sz="2000" b="1" dirty="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位</a:t>
            </a:r>
          </a:p>
          <a:p>
            <a:pPr marL="342900" indent="-342900">
              <a:lnSpc>
                <a:spcPct val="150000"/>
              </a:lnSpc>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DMA</a:t>
            </a:r>
            <a:r>
              <a:rPr lang="zh-CN" altLang="zh-CN" sz="2000" b="1" dirty="0">
                <a:latin typeface="微软雅黑" panose="020B0503020204020204" pitchFamily="34" charset="-122"/>
                <a:ea typeface="微软雅黑" panose="020B0503020204020204" pitchFamily="34" charset="-122"/>
              </a:rPr>
              <a:t>方式是在</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之间建立直接的数据通路。</a:t>
            </a:r>
          </a:p>
          <a:p>
            <a:pPr>
              <a:lnSpc>
                <a:spcPct val="150000"/>
              </a:lnSpc>
            </a:pPr>
            <a:r>
              <a:rPr lang="en-US" altLang="zh-CN" sz="2000" b="1" dirty="0">
                <a:latin typeface="微软雅黑" panose="020B0503020204020204" pitchFamily="34" charset="-122"/>
                <a:ea typeface="微软雅黑" panose="020B0503020204020204" pitchFamily="34" charset="-122"/>
              </a:rPr>
              <a:t>     A. CPU</a:t>
            </a:r>
            <a:r>
              <a:rPr lang="zh-CN" altLang="zh-CN" sz="2000" b="1" dirty="0">
                <a:latin typeface="微软雅黑" panose="020B0503020204020204" pitchFamily="34" charset="-122"/>
                <a:ea typeface="微软雅黑" panose="020B0503020204020204" pitchFamily="34" charset="-122"/>
              </a:rPr>
              <a:t>与外围设备</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主存与外围设备</a:t>
            </a:r>
            <a:r>
              <a:rPr lang="en-US" altLang="zh-CN" sz="2000" b="1" dirty="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外设与外设</a:t>
            </a:r>
            <a:r>
              <a:rPr lang="en-US" altLang="zh-CN" sz="2000" b="1" dirty="0">
                <a:latin typeface="微软雅黑" panose="020B0503020204020204" pitchFamily="34" charset="-122"/>
                <a:ea typeface="微软雅黑" panose="020B0503020204020204" pitchFamily="34" charset="-122"/>
              </a:rPr>
              <a:t>   D. CPU</a:t>
            </a:r>
            <a:r>
              <a:rPr lang="zh-CN" altLang="zh-CN" sz="2000" b="1" dirty="0">
                <a:latin typeface="微软雅黑" panose="020B0503020204020204" pitchFamily="34" charset="-122"/>
                <a:ea typeface="微软雅黑" panose="020B0503020204020204" pitchFamily="34" charset="-122"/>
              </a:rPr>
              <a:t>与主存</a:t>
            </a:r>
          </a:p>
        </p:txBody>
      </p:sp>
      <p:sp>
        <p:nvSpPr>
          <p:cNvPr id="9" name="椭圆 8"/>
          <p:cNvSpPr/>
          <p:nvPr/>
        </p:nvSpPr>
        <p:spPr bwMode="auto">
          <a:xfrm>
            <a:off x="3908404" y="156196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6" name="椭圆 5"/>
          <p:cNvSpPr/>
          <p:nvPr/>
        </p:nvSpPr>
        <p:spPr bwMode="auto">
          <a:xfrm>
            <a:off x="438969" y="248528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8" name="椭圆 7"/>
          <p:cNvSpPr/>
          <p:nvPr/>
        </p:nvSpPr>
        <p:spPr bwMode="auto">
          <a:xfrm>
            <a:off x="2601561" y="3395092"/>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10" name="椭圆 9"/>
          <p:cNvSpPr/>
          <p:nvPr/>
        </p:nvSpPr>
        <p:spPr bwMode="auto">
          <a:xfrm>
            <a:off x="3372247" y="429309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11" name="椭圆 10"/>
          <p:cNvSpPr/>
          <p:nvPr/>
        </p:nvSpPr>
        <p:spPr bwMode="auto">
          <a:xfrm>
            <a:off x="2809668" y="520938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P spid="10" grpId="0" animBg="1"/>
      <p:bldP spid="1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p:spPr>
        <p:txBody>
          <a:bodyPr/>
          <a:lstStyle/>
          <a:p>
            <a:fld id="{11381868-DD6E-4CD3-8CC5-E27EC5136F8C}" type="slidenum">
              <a:rPr lang="en-US" altLang="zh-CN" smtClean="0"/>
              <a:t>61</a:t>
            </a:fld>
            <a:endParaRPr lang="en-US" altLang="zh-CN"/>
          </a:p>
        </p:txBody>
      </p:sp>
      <p:sp>
        <p:nvSpPr>
          <p:cNvPr id="65539" name="Rectangle 6"/>
          <p:cNvSpPr>
            <a:spLocks noChangeArrowheads="1"/>
          </p:cNvSpPr>
          <p:nvPr/>
        </p:nvSpPr>
        <p:spPr bwMode="auto">
          <a:xfrm>
            <a:off x="250825" y="154188"/>
            <a:ext cx="7543800" cy="714375"/>
          </a:xfrm>
          <a:prstGeom prst="rect">
            <a:avLst/>
          </a:prstGeom>
          <a:noFill/>
          <a:ln w="9525">
            <a:noFill/>
            <a:miter lim="800000"/>
          </a:ln>
        </p:spPr>
        <p:txBody>
          <a:bodyPr anchor="b"/>
          <a:lstStyle/>
          <a:p>
            <a:r>
              <a:rPr lang="en-US" altLang="zh-CN" sz="3900" b="1" dirty="0">
                <a:solidFill>
                  <a:schemeClr val="tx2"/>
                </a:solidFill>
                <a:cs typeface="Times New Roman" panose="02020603050405020304" charset="0"/>
              </a:rPr>
              <a:t>8.5 </a:t>
            </a:r>
            <a:r>
              <a:rPr lang="zh-CN" altLang="en-US" sz="3900" b="1" dirty="0">
                <a:solidFill>
                  <a:schemeClr val="tx2"/>
                </a:solidFill>
              </a:rPr>
              <a:t>通道方式</a:t>
            </a:r>
          </a:p>
        </p:txBody>
      </p:sp>
      <p:sp>
        <p:nvSpPr>
          <p:cNvPr id="65540" name="Rectangle 7"/>
          <p:cNvSpPr>
            <a:spLocks noChangeArrowheads="1"/>
          </p:cNvSpPr>
          <p:nvPr/>
        </p:nvSpPr>
        <p:spPr bwMode="auto">
          <a:xfrm>
            <a:off x="381000" y="923075"/>
            <a:ext cx="8077200" cy="5775960"/>
          </a:xfrm>
          <a:prstGeom prst="rect">
            <a:avLst/>
          </a:prstGeom>
          <a:noFill/>
          <a:ln w="12700">
            <a:noFill/>
            <a:miter lim="800000"/>
            <a:headEnd type="none" w="sm" len="sm"/>
            <a:tailEnd type="none" w="sm" len="sm"/>
          </a:ln>
        </p:spPr>
        <p:txBody>
          <a:bodyPr>
            <a:spAutoFit/>
          </a:bodyPr>
          <a:lstStyle/>
          <a:p>
            <a:pPr>
              <a:lnSpc>
                <a:spcPct val="120000"/>
              </a:lnSpc>
            </a:pPr>
            <a:r>
              <a:rPr lang="en-US" altLang="zh-CN" sz="2800" dirty="0">
                <a:latin typeface="宋体" panose="02010600030101010101" pitchFamily="2" charset="-122"/>
              </a:rPr>
              <a:t>8.5.1 </a:t>
            </a:r>
            <a:r>
              <a:rPr lang="zh-CN" altLang="en-US" sz="2800" dirty="0">
                <a:latin typeface="宋体" panose="02010600030101010101" pitchFamily="2" charset="-122"/>
              </a:rPr>
              <a:t>通道的功能 　　　　　　</a:t>
            </a:r>
          </a:p>
          <a:p>
            <a:pPr>
              <a:lnSpc>
                <a:spcPct val="120000"/>
              </a:lnSpc>
            </a:pPr>
            <a:r>
              <a:rPr lang="en-US" altLang="zh-CN" sz="2800" b="1" dirty="0">
                <a:latin typeface="宋体" panose="02010600030101010101" pitchFamily="2" charset="-122"/>
              </a:rPr>
              <a:t>1.</a:t>
            </a:r>
            <a:r>
              <a:rPr lang="zh-CN" altLang="en-US" sz="2800" b="1" dirty="0">
                <a:latin typeface="宋体" panose="02010600030101010101" pitchFamily="2" charset="-122"/>
              </a:rPr>
              <a:t>通道的功能</a:t>
            </a:r>
          </a:p>
          <a:p>
            <a:pPr>
              <a:lnSpc>
                <a:spcPct val="120000"/>
              </a:lnSpc>
            </a:pPr>
            <a:r>
              <a:rPr lang="zh-CN" altLang="en-US" sz="2800" dirty="0">
                <a:latin typeface="宋体" panose="02010600030101010101" pitchFamily="2" charset="-122"/>
              </a:rPr>
              <a:t>　　</a:t>
            </a:r>
            <a:r>
              <a:rPr lang="en-US" altLang="zh-CN" sz="2800" dirty="0">
                <a:latin typeface="宋体" panose="02010600030101010101" pitchFamily="2" charset="-122"/>
              </a:rPr>
              <a:t>“</a:t>
            </a:r>
            <a:r>
              <a:rPr lang="zh-CN" altLang="en-US" sz="2800" dirty="0">
                <a:latin typeface="宋体" panose="02010600030101010101" pitchFamily="2" charset="-122"/>
              </a:rPr>
              <a:t>通道”是计算机系统中代替</a:t>
            </a:r>
            <a:r>
              <a:rPr lang="en-US" altLang="zh-CN" sz="2800" dirty="0">
                <a:latin typeface="宋体" panose="02010600030101010101" pitchFamily="2" charset="-122"/>
              </a:rPr>
              <a:t>CPU</a:t>
            </a:r>
            <a:r>
              <a:rPr lang="zh-CN" altLang="en-US" sz="2800" dirty="0">
                <a:latin typeface="宋体" panose="02010600030101010101" pitchFamily="2" charset="-122"/>
              </a:rPr>
              <a:t>管理控制外设的独立部件，是一种能执行有限</a:t>
            </a:r>
            <a:r>
              <a:rPr lang="en-US" altLang="zh-CN" sz="2800" dirty="0">
                <a:latin typeface="宋体" panose="02010600030101010101" pitchFamily="2" charset="-122"/>
              </a:rPr>
              <a:t>I/O</a:t>
            </a:r>
            <a:r>
              <a:rPr lang="zh-CN" altLang="en-US" sz="2800" dirty="0">
                <a:latin typeface="宋体" panose="02010600030101010101" pitchFamily="2" charset="-122"/>
              </a:rPr>
              <a:t>指令集合（通道命令的）</a:t>
            </a:r>
            <a:r>
              <a:rPr lang="en-US" altLang="zh-CN" sz="2800" dirty="0">
                <a:latin typeface="宋体" panose="02010600030101010101" pitchFamily="2" charset="-122"/>
              </a:rPr>
              <a:t>I/O</a:t>
            </a:r>
            <a:r>
              <a:rPr lang="zh-CN" altLang="en-US" sz="2800" dirty="0">
                <a:latin typeface="宋体" panose="02010600030101010101" pitchFamily="2" charset="-122"/>
              </a:rPr>
              <a:t>处理机，因此通道是一个特殊功能的处理器。它有自己的指令和程序专门负责数据输入输出的传输控制。</a:t>
            </a:r>
          </a:p>
          <a:p>
            <a:pPr>
              <a:lnSpc>
                <a:spcPct val="120000"/>
              </a:lnSpc>
            </a:pPr>
            <a:r>
              <a:rPr lang="zh-CN" altLang="en-US" sz="2800" dirty="0">
                <a:latin typeface="宋体" panose="02010600030101010101" pitchFamily="2" charset="-122"/>
              </a:rPr>
              <a:t>    </a:t>
            </a:r>
            <a:r>
              <a:rPr lang="en-US" altLang="zh-CN" sz="2800" dirty="0">
                <a:latin typeface="宋体" panose="02010600030101010101" pitchFamily="2" charset="-122"/>
              </a:rPr>
              <a:t>CPU</a:t>
            </a:r>
            <a:r>
              <a:rPr lang="zh-CN" altLang="en-US" sz="2800" dirty="0">
                <a:latin typeface="宋体" panose="02010600030101010101" pitchFamily="2" charset="-122"/>
              </a:rPr>
              <a:t>将“传输控制”的功能下放给通道后只负责“数据处理”功能。这样，通道与</a:t>
            </a:r>
            <a:r>
              <a:rPr lang="en-US" altLang="zh-CN" sz="2800" dirty="0">
                <a:latin typeface="宋体" panose="02010600030101010101" pitchFamily="2" charset="-122"/>
              </a:rPr>
              <a:t>CPU</a:t>
            </a:r>
            <a:r>
              <a:rPr lang="zh-CN" altLang="en-US" sz="2800" dirty="0">
                <a:latin typeface="宋体" panose="02010600030101010101" pitchFamily="2" charset="-122"/>
              </a:rPr>
              <a:t>分时使用内存，实现了</a:t>
            </a:r>
            <a:r>
              <a:rPr lang="en-US" altLang="zh-CN" sz="2800" dirty="0">
                <a:latin typeface="宋体" panose="02010600030101010101" pitchFamily="2" charset="-122"/>
              </a:rPr>
              <a:t>CPU</a:t>
            </a:r>
            <a:r>
              <a:rPr lang="zh-CN" altLang="en-US" sz="2800" dirty="0">
                <a:latin typeface="宋体" panose="02010600030101010101" pitchFamily="2" charset="-122"/>
              </a:rPr>
              <a:t>内部运算与</a:t>
            </a:r>
            <a:r>
              <a:rPr lang="en-US" altLang="zh-CN" sz="2800" dirty="0">
                <a:latin typeface="宋体" panose="02010600030101010101" pitchFamily="2" charset="-122"/>
              </a:rPr>
              <a:t>I/O</a:t>
            </a:r>
            <a:r>
              <a:rPr lang="zh-CN" altLang="en-US" sz="2800" dirty="0">
                <a:latin typeface="宋体" panose="02010600030101010101" pitchFamily="2" charset="-122"/>
              </a:rPr>
              <a:t>设备的平行工作，进一步提高了</a:t>
            </a:r>
            <a:r>
              <a:rPr lang="en-US" altLang="zh-CN" sz="2800" dirty="0">
                <a:latin typeface="宋体" panose="02010600030101010101" pitchFamily="2" charset="-122"/>
              </a:rPr>
              <a:t>CPU</a:t>
            </a:r>
            <a:r>
              <a:rPr lang="zh-CN" altLang="en-US" sz="2800" dirty="0">
                <a:latin typeface="宋体" panose="02010600030101010101" pitchFamily="2" charset="-122"/>
              </a:rPr>
              <a:t>的效率。</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a:spLocks noGrp="1"/>
          </p:cNvSpPr>
          <p:nvPr>
            <p:ph type="sldNum" sz="quarter" idx="12"/>
          </p:nvPr>
        </p:nvSpPr>
        <p:spPr>
          <a:noFill/>
        </p:spPr>
        <p:txBody>
          <a:bodyPr/>
          <a:lstStyle/>
          <a:p>
            <a:fld id="{E0EB8B16-96DC-4810-8DBA-5AF5F74FF51B}" type="slidenum">
              <a:rPr lang="en-US" altLang="zh-CN" smtClean="0"/>
              <a:t>62</a:t>
            </a:fld>
            <a:endParaRPr lang="en-US" altLang="zh-CN"/>
          </a:p>
        </p:txBody>
      </p:sp>
      <p:pic>
        <p:nvPicPr>
          <p:cNvPr id="66563" name="Picture 4" descr="8a19a">
            <a:hlinkClick r:id="rId2"/>
          </p:cNvPr>
          <p:cNvPicPr>
            <a:picLocks noChangeAspect="1" noChangeArrowheads="1"/>
          </p:cNvPicPr>
          <p:nvPr/>
        </p:nvPicPr>
        <p:blipFill>
          <a:blip r:embed="rId3"/>
          <a:srcRect/>
          <a:stretch>
            <a:fillRect/>
          </a:stretch>
        </p:blipFill>
        <p:spPr bwMode="auto">
          <a:xfrm>
            <a:off x="323850" y="0"/>
            <a:ext cx="7056438" cy="4321175"/>
          </a:xfrm>
          <a:prstGeom prst="rect">
            <a:avLst/>
          </a:prstGeom>
          <a:noFill/>
          <a:ln w="9525">
            <a:noFill/>
            <a:miter lim="800000"/>
            <a:headEnd/>
            <a:tailEnd/>
          </a:ln>
        </p:spPr>
      </p:pic>
      <p:sp>
        <p:nvSpPr>
          <p:cNvPr id="82949" name="Rectangle 5"/>
          <p:cNvSpPr>
            <a:spLocks noChangeArrowheads="1"/>
          </p:cNvSpPr>
          <p:nvPr/>
        </p:nvSpPr>
        <p:spPr bwMode="auto">
          <a:xfrm>
            <a:off x="358775" y="4495800"/>
            <a:ext cx="8785225" cy="1552575"/>
          </a:xfrm>
          <a:prstGeom prst="rect">
            <a:avLst/>
          </a:prstGeom>
          <a:noFill/>
          <a:ln w="12700">
            <a:noFill/>
            <a:miter lim="800000"/>
            <a:headEnd type="none" w="sm" len="sm"/>
            <a:tailEnd type="none" w="sm" len="sm"/>
          </a:ln>
        </p:spPr>
        <p:txBody>
          <a:bodyPr anchor="ctr">
            <a:spAutoFit/>
          </a:bodyPr>
          <a:lstStyle/>
          <a:p>
            <a:pPr eaLnBrk="0" hangingPunct="0"/>
            <a:r>
              <a:rPr lang="zh-CN" altLang="en-US" sz="2400">
                <a:latin typeface="宋体" panose="02010600030101010101" pitchFamily="2" charset="-122"/>
              </a:rPr>
              <a:t>有两种类型的总线：</a:t>
            </a:r>
          </a:p>
          <a:p>
            <a:pPr eaLnBrk="0" hangingPunct="0"/>
            <a:r>
              <a:rPr lang="zh-CN" altLang="en-US" sz="2400" b="1">
                <a:latin typeface="宋体" panose="02010600030101010101" pitchFamily="2" charset="-122"/>
              </a:rPr>
              <a:t>系统总线 </a:t>
            </a:r>
            <a:r>
              <a:rPr lang="en-US" altLang="zh-CN" sz="2400" b="1">
                <a:latin typeface="宋体" panose="02010600030101010101" pitchFamily="2" charset="-122"/>
              </a:rPr>
              <a:t>- </a:t>
            </a:r>
            <a:r>
              <a:rPr lang="zh-CN" altLang="en-US" sz="2400">
                <a:latin typeface="宋体" panose="02010600030101010101" pitchFamily="2" charset="-122"/>
              </a:rPr>
              <a:t>承担通道与内存、</a:t>
            </a:r>
            <a:r>
              <a:rPr lang="en-US" altLang="zh-CN" sz="2400">
                <a:latin typeface="宋体" panose="02010600030101010101" pitchFamily="2" charset="-122"/>
              </a:rPr>
              <a:t>CPU</a:t>
            </a:r>
            <a:r>
              <a:rPr lang="zh-CN" altLang="en-US" sz="2400">
                <a:latin typeface="宋体" panose="02010600030101010101" pitchFamily="2" charset="-122"/>
              </a:rPr>
              <a:t>与内存之间的数据传输任务。</a:t>
            </a:r>
          </a:p>
          <a:p>
            <a:pPr eaLnBrk="0" hangingPunct="0"/>
            <a:r>
              <a:rPr lang="zh-CN" altLang="en-US" sz="2400" b="1">
                <a:latin typeface="宋体" panose="02010600030101010101" pitchFamily="2" charset="-122"/>
              </a:rPr>
              <a:t>通道总线（</a:t>
            </a:r>
            <a:r>
              <a:rPr lang="en-US" altLang="zh-CN" sz="2400">
                <a:latin typeface="宋体" panose="02010600030101010101" pitchFamily="2" charset="-122"/>
              </a:rPr>
              <a:t>I/O</a:t>
            </a:r>
            <a:r>
              <a:rPr lang="zh-CN" altLang="en-US" sz="2400">
                <a:latin typeface="宋体" panose="02010600030101010101" pitchFamily="2" charset="-122"/>
              </a:rPr>
              <a:t>总线）</a:t>
            </a:r>
            <a:r>
              <a:rPr lang="en-US" altLang="zh-CN" sz="2400">
                <a:latin typeface="宋体" panose="02010600030101010101" pitchFamily="2" charset="-122"/>
              </a:rPr>
              <a:t>- </a:t>
            </a:r>
            <a:r>
              <a:rPr lang="zh-CN" altLang="en-US" sz="2400">
                <a:latin typeface="宋体" panose="02010600030101010101" pitchFamily="2" charset="-122"/>
              </a:rPr>
              <a:t>承担外围设备与通道之间的数据传送任务。这两类总线可以分别按照各自的时序同时进行工作。 </a:t>
            </a:r>
          </a:p>
        </p:txBody>
      </p:sp>
      <p:sp>
        <p:nvSpPr>
          <p:cNvPr id="82950" name="Rectangle 6"/>
          <p:cNvSpPr>
            <a:spLocks noChangeArrowheads="1"/>
          </p:cNvSpPr>
          <p:nvPr/>
        </p:nvSpPr>
        <p:spPr bwMode="auto">
          <a:xfrm>
            <a:off x="228600" y="4343400"/>
            <a:ext cx="8351838" cy="2282825"/>
          </a:xfrm>
          <a:prstGeom prst="rect">
            <a:avLst/>
          </a:prstGeom>
          <a:noFill/>
          <a:ln w="12700">
            <a:noFill/>
            <a:miter lim="800000"/>
            <a:headEnd type="none" w="sm" len="sm"/>
            <a:tailEnd type="none" w="sm" len="sm"/>
          </a:ln>
        </p:spPr>
        <p:txBody>
          <a:bodyPr anchor="ctr">
            <a:spAutoFit/>
          </a:bodyPr>
          <a:lstStyle/>
          <a:p>
            <a:pPr eaLnBrk="0" hangingPunct="0"/>
            <a:r>
              <a:rPr lang="zh-CN" altLang="en-US" sz="2400">
                <a:latin typeface="宋体" panose="02010600030101010101" pitchFamily="2" charset="-122"/>
              </a:rPr>
              <a:t>通道总线可以接若干个</a:t>
            </a:r>
            <a:r>
              <a:rPr lang="en-US" altLang="zh-CN" sz="2400">
                <a:latin typeface="宋体" panose="02010600030101010101" pitchFamily="2" charset="-122"/>
              </a:rPr>
              <a:t>I/O</a:t>
            </a:r>
            <a:r>
              <a:rPr lang="zh-CN" altLang="en-US" sz="2400">
                <a:latin typeface="宋体" panose="02010600030101010101" pitchFamily="2" charset="-122"/>
              </a:rPr>
              <a:t>模块，一个</a:t>
            </a:r>
            <a:r>
              <a:rPr lang="en-US" altLang="zh-CN" sz="2400">
                <a:latin typeface="宋体" panose="02010600030101010101" pitchFamily="2" charset="-122"/>
              </a:rPr>
              <a:t>I/O</a:t>
            </a:r>
            <a:r>
              <a:rPr lang="zh-CN" altLang="en-US" sz="2400">
                <a:latin typeface="宋体" panose="02010600030101010101" pitchFamily="2" charset="-122"/>
              </a:rPr>
              <a:t>模块可以接一个或多个设备。因此，从逻辑结构上讲，</a:t>
            </a:r>
            <a:r>
              <a:rPr lang="en-US" altLang="zh-CN" sz="2400">
                <a:latin typeface="宋体" panose="02010600030101010101" pitchFamily="2" charset="-122"/>
              </a:rPr>
              <a:t>I/O</a:t>
            </a:r>
            <a:r>
              <a:rPr lang="zh-CN" altLang="en-US" sz="2400">
                <a:latin typeface="宋体" panose="02010600030101010101" pitchFamily="2" charset="-122"/>
              </a:rPr>
              <a:t>系统一般具有四级连接：</a:t>
            </a:r>
            <a:r>
              <a:rPr lang="en-US" altLang="zh-CN" sz="2400" b="1">
                <a:latin typeface="宋体" panose="02010600030101010101" pitchFamily="2" charset="-122"/>
              </a:rPr>
              <a:t>CPU</a:t>
            </a:r>
            <a:r>
              <a:rPr lang="zh-CN" altLang="en-US" sz="2400" b="1">
                <a:latin typeface="宋体" panose="02010600030101010101" pitchFamily="2" charset="-122"/>
              </a:rPr>
              <a:t>与存储器</a:t>
            </a:r>
            <a:r>
              <a:rPr lang="en-US" altLang="zh-CN" sz="2400" b="1">
                <a:latin typeface="宋体" panose="02010600030101010101" pitchFamily="2" charset="-122"/>
              </a:rPr>
              <a:t>&lt;--&gt;</a:t>
            </a:r>
            <a:r>
              <a:rPr lang="zh-CN" altLang="en-US" sz="2400" b="1">
                <a:latin typeface="宋体" panose="02010600030101010101" pitchFamily="2" charset="-122"/>
              </a:rPr>
              <a:t>通道</a:t>
            </a:r>
            <a:r>
              <a:rPr lang="en-US" altLang="zh-CN" sz="2400" b="1">
                <a:latin typeface="宋体" panose="02010600030101010101" pitchFamily="2" charset="-122"/>
              </a:rPr>
              <a:t>&lt;--&gt;I/O</a:t>
            </a:r>
            <a:r>
              <a:rPr lang="zh-CN" altLang="en-US" sz="2400" b="1">
                <a:latin typeface="宋体" panose="02010600030101010101" pitchFamily="2" charset="-122"/>
              </a:rPr>
              <a:t>模块</a:t>
            </a:r>
            <a:r>
              <a:rPr lang="en-US" altLang="zh-CN" sz="2400" b="1">
                <a:latin typeface="宋体" panose="02010600030101010101" pitchFamily="2" charset="-122"/>
              </a:rPr>
              <a:t>&lt;--&gt;</a:t>
            </a:r>
            <a:r>
              <a:rPr lang="zh-CN" altLang="en-US" sz="2400" b="1">
                <a:latin typeface="宋体" panose="02010600030101010101" pitchFamily="2" charset="-122"/>
              </a:rPr>
              <a:t>外围设备</a:t>
            </a:r>
            <a:r>
              <a:rPr lang="zh-CN" altLang="en-US" sz="2400">
                <a:latin typeface="宋体" panose="02010600030101010101" pitchFamily="2" charset="-122"/>
              </a:rPr>
              <a:t>。为了便于通道对各设备的统一管理，通道与</a:t>
            </a:r>
            <a:r>
              <a:rPr lang="en-US" altLang="zh-CN" sz="2400">
                <a:latin typeface="宋体" panose="02010600030101010101" pitchFamily="2" charset="-122"/>
              </a:rPr>
              <a:t>I/O</a:t>
            </a:r>
            <a:r>
              <a:rPr lang="zh-CN" altLang="en-US" sz="2400">
                <a:latin typeface="宋体" panose="02010600030101010101" pitchFamily="2" charset="-122"/>
              </a:rPr>
              <a:t>模块之间用统一的标准接口，</a:t>
            </a:r>
            <a:r>
              <a:rPr lang="en-US" altLang="zh-CN" sz="2400">
                <a:latin typeface="宋体" panose="02010600030101010101" pitchFamily="2" charset="-122"/>
              </a:rPr>
              <a:t>I/O</a:t>
            </a:r>
            <a:r>
              <a:rPr lang="zh-CN" altLang="en-US" sz="2400">
                <a:latin typeface="宋体" panose="02010600030101010101" pitchFamily="2" charset="-122"/>
              </a:rPr>
              <a:t>模块与设备之间则根据设备要求不同而采用专用接口。</a:t>
            </a:r>
          </a:p>
        </p:txBody>
      </p:sp>
      <p:sp>
        <p:nvSpPr>
          <p:cNvPr id="82951" name="Rectangle 7"/>
          <p:cNvSpPr>
            <a:spLocks noChangeArrowheads="1"/>
          </p:cNvSpPr>
          <p:nvPr/>
        </p:nvSpPr>
        <p:spPr bwMode="auto">
          <a:xfrm>
            <a:off x="228600" y="4419600"/>
            <a:ext cx="8351838" cy="1917700"/>
          </a:xfrm>
          <a:prstGeom prst="rect">
            <a:avLst/>
          </a:prstGeom>
          <a:noFill/>
          <a:ln w="12700">
            <a:noFill/>
            <a:miter lim="800000"/>
            <a:headEnd type="none" w="sm" len="sm"/>
            <a:tailEnd type="none" w="sm" len="sm"/>
          </a:ln>
        </p:spPr>
        <p:txBody>
          <a:bodyPr anchor="ctr">
            <a:spAutoFit/>
          </a:bodyPr>
          <a:lstStyle/>
          <a:p>
            <a:pPr eaLnBrk="0" hangingPunct="0"/>
            <a:r>
              <a:rPr lang="zh-CN" altLang="en-US" sz="2400">
                <a:latin typeface="宋体" panose="02010600030101010101" pitchFamily="2" charset="-122"/>
              </a:rPr>
              <a:t>具有通道的机器一般是大型计算机和服务器，数据流通量很大。如果所有外设都接在一个通道上，那么通道将成为限制系统效能的瓶颈。因此大型计算机的</a:t>
            </a:r>
            <a:r>
              <a:rPr lang="en-US" altLang="zh-CN" sz="2400">
                <a:latin typeface="宋体" panose="02010600030101010101" pitchFamily="2" charset="-122"/>
              </a:rPr>
              <a:t>I/O</a:t>
            </a:r>
            <a:r>
              <a:rPr lang="zh-CN" altLang="en-US" sz="2400">
                <a:latin typeface="宋体" panose="02010600030101010101" pitchFamily="2" charset="-122"/>
              </a:rPr>
              <a:t>系统一般接有多个通道。当然，设立多个通道的另一好处是，对不同类型的</a:t>
            </a:r>
            <a:r>
              <a:rPr lang="en-US" altLang="zh-CN" sz="2400">
                <a:latin typeface="宋体" panose="02010600030101010101" pitchFamily="2" charset="-122"/>
              </a:rPr>
              <a:t>I/O</a:t>
            </a:r>
            <a:r>
              <a:rPr lang="zh-CN" altLang="en-US" sz="2400">
                <a:latin typeface="宋体" panose="02010600030101010101" pitchFamily="2" charset="-122"/>
              </a:rPr>
              <a:t>设备可以进行分类管理。  </a:t>
            </a:r>
          </a:p>
        </p:txBody>
      </p:sp>
      <p:sp>
        <p:nvSpPr>
          <p:cNvPr id="82952" name="Rectangle 8"/>
          <p:cNvSpPr>
            <a:spLocks noChangeArrowheads="1"/>
          </p:cNvSpPr>
          <p:nvPr/>
        </p:nvSpPr>
        <p:spPr bwMode="auto">
          <a:xfrm>
            <a:off x="228600" y="4495800"/>
            <a:ext cx="8351838" cy="1979613"/>
          </a:xfrm>
          <a:prstGeom prst="rect">
            <a:avLst/>
          </a:prstGeom>
          <a:noFill/>
          <a:ln w="12700">
            <a:noFill/>
            <a:miter lim="800000"/>
            <a:headEnd type="none" w="sm" len="sm"/>
            <a:tailEnd type="none" w="sm" len="sm"/>
          </a:ln>
        </p:spPr>
        <p:txBody>
          <a:bodyPr anchor="ctr">
            <a:spAutoFit/>
          </a:bodyPr>
          <a:lstStyle/>
          <a:p>
            <a:pPr eaLnBrk="0" hangingPunct="0"/>
            <a:r>
              <a:rPr lang="zh-CN" altLang="en-US" sz="2400">
                <a:latin typeface="宋体" panose="02010600030101010101" pitchFamily="2" charset="-122"/>
              </a:rPr>
              <a:t>存储管理部件的主要任务是根据事先确定的优先次序，决定下一周期由哪个部件使用存储总线访问存储器。通道与</a:t>
            </a:r>
            <a:r>
              <a:rPr lang="en-US" altLang="zh-CN" sz="2400">
                <a:latin typeface="宋体" panose="02010600030101010101" pitchFamily="2" charset="-122"/>
              </a:rPr>
              <a:t>CPU</a:t>
            </a:r>
            <a:r>
              <a:rPr lang="zh-CN" altLang="en-US" sz="2400">
                <a:latin typeface="宋体" panose="02010600030101010101" pitchFamily="2" charset="-122"/>
              </a:rPr>
              <a:t>同时要求访存储器时，通道优先权高于</a:t>
            </a:r>
            <a:r>
              <a:rPr lang="en-US" altLang="zh-CN" sz="2400">
                <a:latin typeface="宋体" panose="02010600030101010101" pitchFamily="2" charset="-122"/>
              </a:rPr>
              <a:t>CPU</a:t>
            </a:r>
            <a:r>
              <a:rPr lang="zh-CN" altLang="en-US" sz="2400">
                <a:latin typeface="宋体" panose="02010600030101010101" pitchFamily="2" charset="-122"/>
              </a:rPr>
              <a:t>。在多个通道有访存请求时，选择通道优先权高于多路通道，因为前者一般连接高速设备。</a:t>
            </a:r>
            <a:r>
              <a:rPr lang="zh-CN" altLang="en-US" sz="2800">
                <a:latin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949"/>
                                        </p:tgtEl>
                                        <p:attrNameLst>
                                          <p:attrName>style.visibility</p:attrName>
                                        </p:attrNameLst>
                                      </p:cBhvr>
                                      <p:to>
                                        <p:strVal val="visible"/>
                                      </p:to>
                                    </p:set>
                                    <p:animEffect transition="in" filter="dissolve">
                                      <p:cBhvr>
                                        <p:cTn id="7" dur="500"/>
                                        <p:tgtEl>
                                          <p:spTgt spid="82949"/>
                                        </p:tgtEl>
                                      </p:cBhvr>
                                    </p:animEffect>
                                  </p:childTnLst>
                                  <p:subTnLst>
                                    <p:set>
                                      <p:cBhvr override="childStyle">
                                        <p:cTn dur="1" fill="hold" display="0" masterRel="nextClick" afterEffect="1"/>
                                        <p:tgtEl>
                                          <p:spTgt spid="8294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950"/>
                                        </p:tgtEl>
                                        <p:attrNameLst>
                                          <p:attrName>style.visibility</p:attrName>
                                        </p:attrNameLst>
                                      </p:cBhvr>
                                      <p:to>
                                        <p:strVal val="visible"/>
                                      </p:to>
                                    </p:set>
                                    <p:animEffect transition="in" filter="dissolve">
                                      <p:cBhvr>
                                        <p:cTn id="12" dur="500"/>
                                        <p:tgtEl>
                                          <p:spTgt spid="82950"/>
                                        </p:tgtEl>
                                      </p:cBhvr>
                                    </p:animEffect>
                                  </p:childTnLst>
                                  <p:subTnLst>
                                    <p:set>
                                      <p:cBhvr override="childStyle">
                                        <p:cTn dur="1" fill="hold" display="0" masterRel="nextClick" afterEffect="1"/>
                                        <p:tgtEl>
                                          <p:spTgt spid="82950"/>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2951"/>
                                        </p:tgtEl>
                                        <p:attrNameLst>
                                          <p:attrName>style.visibility</p:attrName>
                                        </p:attrNameLst>
                                      </p:cBhvr>
                                      <p:to>
                                        <p:strVal val="visible"/>
                                      </p:to>
                                    </p:set>
                                    <p:animEffect transition="in" filter="dissolve">
                                      <p:cBhvr>
                                        <p:cTn id="17" dur="500"/>
                                        <p:tgtEl>
                                          <p:spTgt spid="82951"/>
                                        </p:tgtEl>
                                      </p:cBhvr>
                                    </p:animEffect>
                                  </p:childTnLst>
                                  <p:subTnLst>
                                    <p:set>
                                      <p:cBhvr override="childStyle">
                                        <p:cTn dur="1" fill="hold" display="0" masterRel="nextClick" afterEffect="1"/>
                                        <p:tgtEl>
                                          <p:spTgt spid="82951"/>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2952"/>
                                        </p:tgtEl>
                                        <p:attrNameLst>
                                          <p:attrName>style.visibility</p:attrName>
                                        </p:attrNameLst>
                                      </p:cBhvr>
                                      <p:to>
                                        <p:strVal val="visible"/>
                                      </p:to>
                                    </p:set>
                                    <p:animEffect transition="in" filter="dissolve">
                                      <p:cBhvr>
                                        <p:cTn id="22" dur="500"/>
                                        <p:tgtEl>
                                          <p:spTgt spid="82952"/>
                                        </p:tgtEl>
                                      </p:cBhvr>
                                    </p:animEffect>
                                  </p:childTnLst>
                                  <p:subTnLst>
                                    <p:set>
                                      <p:cBhvr override="childStyle">
                                        <p:cTn dur="1" fill="hold" display="0" masterRel="nextClick" afterEffect="1"/>
                                        <p:tgtEl>
                                          <p:spTgt spid="8295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 grpId="0" autoUpdateAnimBg="0"/>
      <p:bldP spid="82950" grpId="0" autoUpdateAnimBg="0"/>
      <p:bldP spid="82951" grpId="0" autoUpdateAnimBg="0"/>
      <p:bldP spid="82952"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p:cNvSpPr>
            <a:spLocks noGrp="1"/>
          </p:cNvSpPr>
          <p:nvPr>
            <p:ph type="sldNum" sz="quarter" idx="12"/>
          </p:nvPr>
        </p:nvSpPr>
        <p:spPr>
          <a:noFill/>
        </p:spPr>
        <p:txBody>
          <a:bodyPr/>
          <a:lstStyle/>
          <a:p>
            <a:fld id="{65F2833D-50D0-4804-8AF4-A140BF5F7460}" type="slidenum">
              <a:rPr lang="en-US" altLang="zh-CN" smtClean="0"/>
              <a:t>63</a:t>
            </a:fld>
            <a:endParaRPr lang="en-US" altLang="zh-CN"/>
          </a:p>
        </p:txBody>
      </p:sp>
      <p:sp>
        <p:nvSpPr>
          <p:cNvPr id="67587" name="Rectangle 5"/>
          <p:cNvSpPr>
            <a:spLocks noChangeArrowheads="1"/>
          </p:cNvSpPr>
          <p:nvPr/>
        </p:nvSpPr>
        <p:spPr bwMode="auto">
          <a:xfrm>
            <a:off x="152400" y="228600"/>
            <a:ext cx="8812213" cy="6442075"/>
          </a:xfrm>
          <a:prstGeom prst="rect">
            <a:avLst/>
          </a:prstGeom>
          <a:solidFill>
            <a:schemeClr val="bg1"/>
          </a:solidFill>
          <a:ln w="12700">
            <a:noFill/>
            <a:miter lim="800000"/>
            <a:headEnd type="none" w="sm" len="sm"/>
            <a:tailEnd type="none" w="sm" len="sm"/>
          </a:ln>
        </p:spPr>
        <p:txBody>
          <a:bodyPr anchor="ctr">
            <a:spAutoFit/>
          </a:bodyPr>
          <a:lstStyle/>
          <a:p>
            <a:r>
              <a:rPr lang="zh-CN" altLang="en-US" sz="2600" b="1">
                <a:latin typeface="宋体" panose="02010600030101010101" pitchFamily="2" charset="-122"/>
              </a:rPr>
              <a:t>通道的基本功能</a:t>
            </a:r>
          </a:p>
          <a:p>
            <a:r>
              <a:rPr lang="zh-CN" altLang="en-US" sz="2600">
                <a:latin typeface="宋体" panose="02010600030101010101" pitchFamily="2" charset="-122"/>
              </a:rPr>
              <a:t>    执行通道指令，组织外围设备和内存进行数据传输，按</a:t>
            </a:r>
            <a:r>
              <a:rPr lang="en-US" altLang="zh-CN" sz="2600">
                <a:latin typeface="宋体" panose="02010600030101010101" pitchFamily="2" charset="-122"/>
              </a:rPr>
              <a:t>I/O</a:t>
            </a:r>
            <a:r>
              <a:rPr lang="zh-CN" altLang="en-US" sz="2600">
                <a:latin typeface="宋体" panose="02010600030101010101" pitchFamily="2" charset="-122"/>
              </a:rPr>
              <a:t>指令要求启动外围设备，向</a:t>
            </a:r>
            <a:r>
              <a:rPr lang="en-US" altLang="zh-CN" sz="2600">
                <a:latin typeface="宋体" panose="02010600030101010101" pitchFamily="2" charset="-122"/>
              </a:rPr>
              <a:t>CPU</a:t>
            </a:r>
            <a:r>
              <a:rPr lang="zh-CN" altLang="en-US" sz="2600">
                <a:latin typeface="宋体" panose="02010600030101010101" pitchFamily="2" charset="-122"/>
              </a:rPr>
              <a:t>报告中断等，具体有以下五项任务： </a:t>
            </a:r>
          </a:p>
          <a:p>
            <a:r>
              <a:rPr lang="zh-CN" altLang="en-US" sz="2600">
                <a:latin typeface="宋体" panose="02010600030101010101" pitchFamily="2" charset="-122"/>
              </a:rPr>
              <a:t>    </a:t>
            </a:r>
            <a:r>
              <a:rPr lang="en-US" altLang="zh-CN" sz="2600">
                <a:latin typeface="宋体" panose="02010600030101010101" pitchFamily="2" charset="-122"/>
              </a:rPr>
              <a:t>(1)</a:t>
            </a:r>
            <a:r>
              <a:rPr lang="zh-CN" altLang="en-US" sz="2600">
                <a:latin typeface="宋体" panose="02010600030101010101" pitchFamily="2" charset="-122"/>
              </a:rPr>
              <a:t>接受</a:t>
            </a:r>
            <a:r>
              <a:rPr lang="en-US" altLang="zh-CN" sz="2600">
                <a:latin typeface="宋体" panose="02010600030101010101" pitchFamily="2" charset="-122"/>
              </a:rPr>
              <a:t>CPU</a:t>
            </a:r>
            <a:r>
              <a:rPr lang="zh-CN" altLang="en-US" sz="2600">
                <a:latin typeface="宋体" panose="02010600030101010101" pitchFamily="2" charset="-122"/>
              </a:rPr>
              <a:t>的</a:t>
            </a:r>
            <a:r>
              <a:rPr lang="en-US" altLang="zh-CN" sz="2600">
                <a:latin typeface="宋体" panose="02010600030101010101" pitchFamily="2" charset="-122"/>
              </a:rPr>
              <a:t>I/O</a:t>
            </a:r>
            <a:r>
              <a:rPr lang="zh-CN" altLang="en-US" sz="2600">
                <a:latin typeface="宋体" panose="02010600030101010101" pitchFamily="2" charset="-122"/>
              </a:rPr>
              <a:t>指令，按指令要求与指定的外围设备进行通信。 </a:t>
            </a:r>
          </a:p>
          <a:p>
            <a:r>
              <a:rPr lang="zh-CN" altLang="en-US" sz="2600">
                <a:latin typeface="宋体" panose="02010600030101010101" pitchFamily="2" charset="-122"/>
              </a:rPr>
              <a:t>    </a:t>
            </a:r>
            <a:r>
              <a:rPr lang="en-US" altLang="zh-CN" sz="2600">
                <a:latin typeface="宋体" panose="02010600030101010101" pitchFamily="2" charset="-122"/>
              </a:rPr>
              <a:t>(2)</a:t>
            </a:r>
            <a:r>
              <a:rPr lang="zh-CN" altLang="en-US" sz="2600">
                <a:latin typeface="宋体" panose="02010600030101010101" pitchFamily="2" charset="-122"/>
              </a:rPr>
              <a:t>从存储器选取属于该通道程序的通道指令，经译码后向</a:t>
            </a:r>
            <a:r>
              <a:rPr lang="en-US" altLang="zh-CN" sz="2600">
                <a:latin typeface="宋体" panose="02010600030101010101" pitchFamily="2" charset="-122"/>
              </a:rPr>
              <a:t>I/O</a:t>
            </a:r>
            <a:r>
              <a:rPr lang="zh-CN" altLang="en-US" sz="2600">
                <a:latin typeface="宋体" panose="02010600030101010101" pitchFamily="2" charset="-122"/>
              </a:rPr>
              <a:t>控制模块器发送各种命令。  </a:t>
            </a:r>
          </a:p>
          <a:p>
            <a:r>
              <a:rPr lang="zh-CN" altLang="en-US" sz="2600">
                <a:latin typeface="宋体" panose="02010600030101010101" pitchFamily="2" charset="-122"/>
              </a:rPr>
              <a:t>    </a:t>
            </a:r>
            <a:r>
              <a:rPr lang="en-US" altLang="zh-CN" sz="2600">
                <a:latin typeface="宋体" panose="02010600030101010101" pitchFamily="2" charset="-122"/>
              </a:rPr>
              <a:t>(3)</a:t>
            </a:r>
            <a:r>
              <a:rPr lang="zh-CN" altLang="en-US" sz="2600">
                <a:latin typeface="宋体" panose="02010600030101010101" pitchFamily="2" charset="-122"/>
              </a:rPr>
              <a:t>组织外围设备和</a:t>
            </a:r>
            <a:r>
              <a:rPr lang="zh-CN" altLang="en-US" sz="2600"/>
              <a:t>存储器</a:t>
            </a:r>
            <a:r>
              <a:rPr lang="zh-CN" altLang="en-US" sz="2600">
                <a:latin typeface="宋体" panose="02010600030101010101" pitchFamily="2" charset="-122"/>
              </a:rPr>
              <a:t>之间进行数据传送，并根据需要提供数据缓存的空间，以及提供数据存入</a:t>
            </a:r>
            <a:r>
              <a:rPr lang="zh-CN" altLang="en-US" sz="2600"/>
              <a:t>存储器</a:t>
            </a:r>
            <a:r>
              <a:rPr lang="zh-CN" altLang="en-US" sz="2600">
                <a:latin typeface="宋体" panose="02010600030101010101" pitchFamily="2" charset="-122"/>
              </a:rPr>
              <a:t>的地址和传送的数据量。 </a:t>
            </a:r>
          </a:p>
          <a:p>
            <a:r>
              <a:rPr lang="zh-CN" altLang="en-US" sz="2600">
                <a:latin typeface="宋体" panose="02010600030101010101" pitchFamily="2" charset="-122"/>
              </a:rPr>
              <a:t>    </a:t>
            </a:r>
            <a:r>
              <a:rPr lang="en-US" altLang="zh-CN" sz="2600">
                <a:latin typeface="宋体" panose="02010600030101010101" pitchFamily="2" charset="-122"/>
              </a:rPr>
              <a:t>(4)</a:t>
            </a:r>
            <a:r>
              <a:rPr lang="zh-CN" altLang="en-US" sz="2600">
                <a:latin typeface="宋体" panose="02010600030101010101" pitchFamily="2" charset="-122"/>
              </a:rPr>
              <a:t>从外围设备得到设备的状态信息，形成并保存通道本身的状态信息，根据要求将这些状态信息送到</a:t>
            </a:r>
            <a:r>
              <a:rPr lang="zh-CN" altLang="en-US" sz="2600"/>
              <a:t>存储器</a:t>
            </a:r>
            <a:r>
              <a:rPr lang="zh-CN" altLang="en-US" sz="2600">
                <a:latin typeface="宋体" panose="02010600030101010101" pitchFamily="2" charset="-122"/>
              </a:rPr>
              <a:t>的指定单元，供</a:t>
            </a:r>
            <a:r>
              <a:rPr lang="en-US" altLang="zh-CN" sz="2600">
                <a:latin typeface="宋体" panose="02010600030101010101" pitchFamily="2" charset="-122"/>
              </a:rPr>
              <a:t>CPU</a:t>
            </a:r>
            <a:r>
              <a:rPr lang="zh-CN" altLang="en-US" sz="2600">
                <a:latin typeface="宋体" panose="02010600030101010101" pitchFamily="2" charset="-122"/>
              </a:rPr>
              <a:t>使用。</a:t>
            </a:r>
          </a:p>
          <a:p>
            <a:r>
              <a:rPr lang="zh-CN" altLang="en-US" sz="2600">
                <a:latin typeface="宋体" panose="02010600030101010101" pitchFamily="2" charset="-122"/>
              </a:rPr>
              <a:t>    </a:t>
            </a:r>
            <a:r>
              <a:rPr lang="en-US" altLang="zh-CN" sz="2600">
                <a:latin typeface="宋体" panose="02010600030101010101" pitchFamily="2" charset="-122"/>
              </a:rPr>
              <a:t>(5)</a:t>
            </a:r>
            <a:r>
              <a:rPr lang="zh-CN" altLang="en-US" sz="2600">
                <a:latin typeface="宋体" panose="02010600030101010101" pitchFamily="2" charset="-122"/>
              </a:rPr>
              <a:t>将外围设备的中断请求和通道本身的中断请求，按次序及时报告</a:t>
            </a:r>
            <a:r>
              <a:rPr lang="en-US" altLang="zh-CN" sz="2600">
                <a:latin typeface="宋体" panose="02010600030101010101" pitchFamily="2" charset="-122"/>
              </a:rPr>
              <a:t>CPU</a:t>
            </a:r>
            <a:r>
              <a:rPr lang="zh-CN" altLang="en-US" sz="2600">
                <a:latin typeface="宋体" panose="02010600030101010101" pitchFamily="2" charset="-122"/>
              </a:rPr>
              <a:t>。</a:t>
            </a:r>
            <a:endParaRPr lang="zh-CN" altLang="en-US" sz="26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a:spLocks noGrp="1"/>
          </p:cNvSpPr>
          <p:nvPr>
            <p:ph type="sldNum" sz="quarter" idx="12"/>
          </p:nvPr>
        </p:nvSpPr>
        <p:spPr>
          <a:noFill/>
        </p:spPr>
        <p:txBody>
          <a:bodyPr/>
          <a:lstStyle/>
          <a:p>
            <a:fld id="{AC9B27D5-101B-4104-BE7C-C5D5599F7A95}" type="slidenum">
              <a:rPr lang="en-US" altLang="zh-CN" smtClean="0"/>
              <a:t>64</a:t>
            </a:fld>
            <a:endParaRPr lang="en-US" altLang="zh-CN"/>
          </a:p>
        </p:txBody>
      </p:sp>
      <p:sp>
        <p:nvSpPr>
          <p:cNvPr id="68611" name="Rectangle 6"/>
          <p:cNvSpPr>
            <a:spLocks noChangeArrowheads="1"/>
          </p:cNvSpPr>
          <p:nvPr/>
        </p:nvSpPr>
        <p:spPr bwMode="auto">
          <a:xfrm>
            <a:off x="250825" y="260350"/>
            <a:ext cx="8713788" cy="6299200"/>
          </a:xfrm>
          <a:prstGeom prst="rect">
            <a:avLst/>
          </a:prstGeom>
          <a:solidFill>
            <a:schemeClr val="bg1"/>
          </a:solidFill>
          <a:ln w="12700">
            <a:noFill/>
            <a:miter lim="800000"/>
            <a:headEnd type="none" w="sm" len="sm"/>
            <a:tailEnd type="none" w="sm" len="sm"/>
          </a:ln>
        </p:spPr>
        <p:txBody>
          <a:bodyPr anchor="ctr">
            <a:spAutoFit/>
          </a:bodyPr>
          <a:lstStyle/>
          <a:p>
            <a:r>
              <a:rPr lang="en-US" altLang="zh-CN" sz="2400" b="1">
                <a:latin typeface="宋体" panose="02010600030101010101" pitchFamily="2" charset="-122"/>
              </a:rPr>
              <a:t>2.CPU</a:t>
            </a:r>
            <a:r>
              <a:rPr lang="zh-CN" altLang="en-US" sz="2400" b="1">
                <a:latin typeface="宋体" panose="02010600030101010101" pitchFamily="2" charset="-122"/>
              </a:rPr>
              <a:t>对通道的管理</a:t>
            </a:r>
            <a:r>
              <a:rPr lang="zh-CN" altLang="en-US" sz="2400">
                <a:latin typeface="宋体" panose="02010600030101010101" pitchFamily="2" charset="-122"/>
              </a:rPr>
              <a:t> </a:t>
            </a:r>
          </a:p>
          <a:p>
            <a:r>
              <a:rPr lang="zh-CN" altLang="en-US" sz="2400">
                <a:latin typeface="宋体" panose="02010600030101010101" pitchFamily="2" charset="-122"/>
              </a:rPr>
              <a:t>　　</a:t>
            </a:r>
            <a:r>
              <a:rPr lang="en-US" altLang="zh-CN" sz="2400">
                <a:latin typeface="宋体" panose="02010600030101010101" pitchFamily="2" charset="-122"/>
              </a:rPr>
              <a:t>CPU</a:t>
            </a:r>
            <a:r>
              <a:rPr lang="zh-CN" altLang="en-US" sz="2400">
                <a:latin typeface="宋体" panose="02010600030101010101" pitchFamily="2" charset="-122"/>
              </a:rPr>
              <a:t>是通过执行</a:t>
            </a:r>
            <a:r>
              <a:rPr lang="en-US" altLang="zh-CN" sz="2400">
                <a:latin typeface="宋体" panose="02010600030101010101" pitchFamily="2" charset="-122"/>
              </a:rPr>
              <a:t>I/O</a:t>
            </a:r>
            <a:r>
              <a:rPr lang="zh-CN" altLang="en-US" sz="2400">
                <a:latin typeface="宋体" panose="02010600030101010101" pitchFamily="2" charset="-122"/>
              </a:rPr>
              <a:t>指令以及处理来自通道的中断，实现对通道的管理。来自通道的中断有两种，一种是数据传送结束中断，另一种是故障中断。 </a:t>
            </a:r>
          </a:p>
          <a:p>
            <a:r>
              <a:rPr lang="zh-CN" altLang="en-US" sz="2400">
                <a:latin typeface="宋体" panose="02010600030101010101" pitchFamily="2" charset="-122"/>
              </a:rPr>
              <a:t>　　管态 </a:t>
            </a:r>
            <a:r>
              <a:rPr lang="en-US" altLang="zh-CN" sz="2400">
                <a:latin typeface="宋体" panose="02010600030101010101" pitchFamily="2" charset="-122"/>
              </a:rPr>
              <a:t>CPU</a:t>
            </a:r>
            <a:r>
              <a:rPr lang="zh-CN" altLang="en-US" sz="2400">
                <a:latin typeface="宋体" panose="02010600030101010101" pitchFamily="2" charset="-122"/>
              </a:rPr>
              <a:t>运行操作系统的管理程序的状态。</a:t>
            </a:r>
          </a:p>
          <a:p>
            <a:r>
              <a:rPr lang="zh-CN" altLang="en-US" sz="2400">
                <a:latin typeface="宋体" panose="02010600030101010101" pitchFamily="2" charset="-122"/>
              </a:rPr>
              <a:t>　　目态 </a:t>
            </a:r>
            <a:r>
              <a:rPr lang="en-US" altLang="zh-CN" sz="2400">
                <a:latin typeface="宋体" panose="02010600030101010101" pitchFamily="2" charset="-122"/>
              </a:rPr>
              <a:t>CPU</a:t>
            </a:r>
            <a:r>
              <a:rPr lang="zh-CN" altLang="en-US" sz="2400">
                <a:latin typeface="宋体" panose="02010600030101010101" pitchFamily="2" charset="-122"/>
              </a:rPr>
              <a:t>执行目的程序时的状态。</a:t>
            </a:r>
          </a:p>
          <a:p>
            <a:r>
              <a:rPr lang="zh-CN" altLang="en-US" sz="2400">
                <a:latin typeface="宋体" panose="02010600030101010101" pitchFamily="2" charset="-122"/>
              </a:rPr>
              <a:t>　　大型计算机的软、硬件资源为多个用户所共享，而不是分给某个用户专用，所以大型计算机的</a:t>
            </a:r>
            <a:r>
              <a:rPr lang="en-US" altLang="zh-CN" sz="2400">
                <a:latin typeface="宋体" panose="02010600030101010101" pitchFamily="2" charset="-122"/>
              </a:rPr>
              <a:t>I/O</a:t>
            </a:r>
            <a:r>
              <a:rPr lang="zh-CN" altLang="en-US" sz="2400">
                <a:latin typeface="宋体" panose="02010600030101010101" pitchFamily="2" charset="-122"/>
              </a:rPr>
              <a:t>指令都是管态指令，</a:t>
            </a:r>
            <a:r>
              <a:rPr lang="en-US" altLang="zh-CN" sz="2400">
                <a:latin typeface="宋体" panose="02010600030101010101" pitchFamily="2" charset="-122"/>
              </a:rPr>
              <a:t>CPU</a:t>
            </a:r>
            <a:r>
              <a:rPr lang="zh-CN" altLang="en-US" sz="2400">
                <a:latin typeface="宋体" panose="02010600030101010101" pitchFamily="2" charset="-122"/>
              </a:rPr>
              <a:t>处于管态时，才能运行</a:t>
            </a:r>
            <a:r>
              <a:rPr lang="en-US" altLang="zh-CN" sz="2400">
                <a:latin typeface="宋体" panose="02010600030101010101" pitchFamily="2" charset="-122"/>
              </a:rPr>
              <a:t>I/O</a:t>
            </a:r>
            <a:r>
              <a:rPr lang="zh-CN" altLang="en-US" sz="2400">
                <a:latin typeface="宋体" panose="02010600030101010101" pitchFamily="2" charset="-122"/>
              </a:rPr>
              <a:t>指令，目态时不能运行</a:t>
            </a:r>
            <a:r>
              <a:rPr lang="en-US" altLang="zh-CN" sz="2400">
                <a:latin typeface="宋体" panose="02010600030101010101" pitchFamily="2" charset="-122"/>
              </a:rPr>
              <a:t>I/O</a:t>
            </a:r>
            <a:r>
              <a:rPr lang="zh-CN" altLang="en-US" sz="2400">
                <a:latin typeface="宋体" panose="02010600030101010101" pitchFamily="2" charset="-122"/>
              </a:rPr>
              <a:t>指令。</a:t>
            </a:r>
          </a:p>
          <a:p>
            <a:r>
              <a:rPr lang="en-US" altLang="zh-CN" sz="2400" b="1">
                <a:latin typeface="宋体" panose="02010600030101010101" pitchFamily="2" charset="-122"/>
              </a:rPr>
              <a:t>3.</a:t>
            </a:r>
            <a:r>
              <a:rPr lang="zh-CN" altLang="en-US" sz="2400" b="1">
                <a:latin typeface="宋体" panose="02010600030101010101" pitchFamily="2" charset="-122"/>
              </a:rPr>
              <a:t>通道对设备控制器的管理</a:t>
            </a:r>
            <a:r>
              <a:rPr lang="zh-CN" altLang="en-US" sz="2400">
                <a:latin typeface="宋体" panose="02010600030101010101" pitchFamily="2" charset="-122"/>
              </a:rPr>
              <a:t> </a:t>
            </a:r>
          </a:p>
          <a:p>
            <a:r>
              <a:rPr lang="zh-CN" altLang="en-US" sz="2400">
                <a:latin typeface="宋体" panose="02010600030101010101" pitchFamily="2" charset="-122"/>
              </a:rPr>
              <a:t>　　通道通过使用通道指令来控制</a:t>
            </a:r>
            <a:r>
              <a:rPr lang="en-US" altLang="zh-CN" sz="2400">
                <a:latin typeface="宋体" panose="02010600030101010101" pitchFamily="2" charset="-122"/>
              </a:rPr>
              <a:t>I/O</a:t>
            </a:r>
            <a:r>
              <a:rPr lang="zh-CN" altLang="en-US" sz="2400">
                <a:latin typeface="宋体" panose="02010600030101010101" pitchFamily="2" charset="-122"/>
              </a:rPr>
              <a:t>模块进行数据传送操作，并以通道状态字接收</a:t>
            </a:r>
            <a:r>
              <a:rPr lang="en-US" altLang="zh-CN" sz="2400">
                <a:latin typeface="宋体" panose="02010600030101010101" pitchFamily="2" charset="-122"/>
              </a:rPr>
              <a:t>I/O</a:t>
            </a:r>
            <a:r>
              <a:rPr lang="zh-CN" altLang="en-US" sz="2400">
                <a:latin typeface="宋体" panose="02010600030101010101" pitchFamily="2" charset="-122"/>
              </a:rPr>
              <a:t>控制模块反映的外围设备的状态。因此， </a:t>
            </a:r>
            <a:r>
              <a:rPr lang="en-US" altLang="zh-CN" sz="2400">
                <a:latin typeface="宋体" panose="02010600030101010101" pitchFamily="2" charset="-122"/>
              </a:rPr>
              <a:t>I/O</a:t>
            </a:r>
            <a:r>
              <a:rPr lang="zh-CN" altLang="en-US" sz="2400">
                <a:latin typeface="宋体" panose="02010600030101010101" pitchFamily="2" charset="-122"/>
              </a:rPr>
              <a:t>模块是通道对</a:t>
            </a:r>
            <a:r>
              <a:rPr lang="en-US" altLang="zh-CN" sz="2400">
                <a:latin typeface="宋体" panose="02010600030101010101" pitchFamily="2" charset="-122"/>
              </a:rPr>
              <a:t>I/O</a:t>
            </a:r>
            <a:r>
              <a:rPr lang="zh-CN" altLang="en-US" sz="2400">
                <a:latin typeface="宋体" panose="02010600030101010101" pitchFamily="2" charset="-122"/>
              </a:rPr>
              <a:t>设备实现传输控制的执行机构。</a:t>
            </a:r>
            <a:r>
              <a:rPr lang="en-US" altLang="zh-CN" sz="2400">
                <a:latin typeface="宋体" panose="02010600030101010101" pitchFamily="2" charset="-122"/>
              </a:rPr>
              <a:t>I/O</a:t>
            </a:r>
            <a:r>
              <a:rPr lang="zh-CN" altLang="en-US" sz="2400">
                <a:latin typeface="宋体" panose="02010600030101010101" pitchFamily="2" charset="-122"/>
              </a:rPr>
              <a:t>模块的具体任务如下：</a:t>
            </a:r>
          </a:p>
          <a:p>
            <a:r>
              <a:rPr lang="zh-CN" altLang="en-US" sz="2400">
                <a:latin typeface="宋体" panose="02010600030101010101" pitchFamily="2" charset="-122"/>
              </a:rPr>
              <a:t>  </a:t>
            </a:r>
            <a:r>
              <a:rPr lang="en-US" altLang="zh-CN" sz="2400">
                <a:latin typeface="宋体" panose="02010600030101010101" pitchFamily="2" charset="-122"/>
              </a:rPr>
              <a:t>(1)</a:t>
            </a:r>
            <a:r>
              <a:rPr lang="zh-CN" altLang="en-US" sz="2400">
                <a:latin typeface="宋体" panose="02010600030101010101" pitchFamily="2" charset="-122"/>
              </a:rPr>
              <a:t>从通道接受通道指令，控制外围设备完成所要求的操作； </a:t>
            </a:r>
          </a:p>
          <a:p>
            <a:r>
              <a:rPr lang="zh-CN" altLang="en-US" sz="2400">
                <a:latin typeface="宋体" panose="02010600030101010101" pitchFamily="2" charset="-122"/>
              </a:rPr>
              <a:t>  </a:t>
            </a:r>
            <a:r>
              <a:rPr lang="en-US" altLang="zh-CN" sz="2400">
                <a:latin typeface="宋体" panose="02010600030101010101" pitchFamily="2" charset="-122"/>
              </a:rPr>
              <a:t>(2)</a:t>
            </a:r>
            <a:r>
              <a:rPr lang="zh-CN" altLang="en-US" sz="2400">
                <a:latin typeface="宋体" panose="02010600030101010101" pitchFamily="2" charset="-122"/>
              </a:rPr>
              <a:t>向通道反映外围设备的状态； </a:t>
            </a:r>
          </a:p>
          <a:p>
            <a:r>
              <a:rPr lang="zh-CN" altLang="en-US" sz="2400">
                <a:latin typeface="宋体" panose="02010600030101010101" pitchFamily="2" charset="-122"/>
              </a:rPr>
              <a:t>  </a:t>
            </a:r>
            <a:r>
              <a:rPr lang="en-US" altLang="zh-CN" sz="2400">
                <a:latin typeface="宋体" panose="02010600030101010101" pitchFamily="2" charset="-122"/>
              </a:rPr>
              <a:t>(3)</a:t>
            </a:r>
            <a:r>
              <a:rPr lang="zh-CN" altLang="en-US" sz="2400">
                <a:latin typeface="宋体" panose="02010600030101010101" pitchFamily="2" charset="-122"/>
              </a:rPr>
              <a:t>将各种外围设备的不同信号转换成通道能识别的标准信号。</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p>
            <a:fld id="{CB880C47-0944-4558-A7F8-A5EF77FF9E8B}" type="slidenum">
              <a:rPr lang="en-US" altLang="zh-CN" smtClean="0"/>
              <a:t>65</a:t>
            </a:fld>
            <a:endParaRPr lang="en-US" altLang="zh-CN"/>
          </a:p>
        </p:txBody>
      </p:sp>
      <p:sp>
        <p:nvSpPr>
          <p:cNvPr id="69635" name="Rectangle 2"/>
          <p:cNvSpPr>
            <a:spLocks noChangeArrowheads="1"/>
          </p:cNvSpPr>
          <p:nvPr/>
        </p:nvSpPr>
        <p:spPr bwMode="auto">
          <a:xfrm>
            <a:off x="152400" y="631984"/>
            <a:ext cx="8736013" cy="5446395"/>
          </a:xfrm>
          <a:prstGeom prst="rect">
            <a:avLst/>
          </a:prstGeom>
          <a:solidFill>
            <a:schemeClr val="bg1"/>
          </a:solidFill>
          <a:ln w="12700">
            <a:noFill/>
            <a:miter lim="800000"/>
            <a:headEnd type="none" w="sm" len="sm"/>
            <a:tailEnd type="none" w="sm" len="sm"/>
          </a:ln>
        </p:spPr>
        <p:txBody>
          <a:bodyPr anchor="ctr">
            <a:spAutoFit/>
          </a:bodyPr>
          <a:lstStyle/>
          <a:p>
            <a:r>
              <a:rPr lang="en-US" altLang="zh-CN" sz="3600" b="1">
                <a:latin typeface="宋体" panose="02010600030101010101" pitchFamily="2" charset="-122"/>
              </a:rPr>
              <a:t>8.5.2</a:t>
            </a:r>
            <a:r>
              <a:rPr lang="zh-CN" altLang="en-US" sz="3600" b="1">
                <a:latin typeface="宋体" panose="02010600030101010101" pitchFamily="2" charset="-122"/>
              </a:rPr>
              <a:t>　通道的类型</a:t>
            </a:r>
          </a:p>
          <a:p>
            <a:r>
              <a:rPr lang="zh-CN" altLang="en-US" sz="3200" b="1">
                <a:latin typeface="宋体" panose="02010600030101010101" pitchFamily="2" charset="-122"/>
              </a:rPr>
              <a:t>   </a:t>
            </a:r>
            <a:r>
              <a:rPr lang="zh-CN" altLang="en-US" sz="2800">
                <a:latin typeface="宋体" panose="02010600030101010101" pitchFamily="2" charset="-122"/>
              </a:rPr>
              <a:t>根据工作方式分为</a:t>
            </a:r>
            <a:r>
              <a:rPr lang="zh-CN" altLang="en-US" sz="2800"/>
              <a:t>选择通道和多路通道。</a:t>
            </a:r>
            <a:r>
              <a:rPr lang="zh-CN" altLang="en-US" sz="3200" b="1">
                <a:latin typeface="宋体" panose="02010600030101010101" pitchFamily="2" charset="-122"/>
              </a:rPr>
              <a:t>　</a:t>
            </a:r>
            <a:r>
              <a:rPr lang="zh-CN" altLang="en-US" sz="2400" b="1">
                <a:latin typeface="宋体" panose="02010600030101010101" pitchFamily="2" charset="-122"/>
              </a:rPr>
              <a:t>　</a:t>
            </a:r>
          </a:p>
          <a:p>
            <a:r>
              <a:rPr lang="en-US" altLang="zh-CN" sz="2800">
                <a:latin typeface="宋体" panose="02010600030101010101" pitchFamily="2" charset="-122"/>
              </a:rPr>
              <a:t>1. </a:t>
            </a:r>
            <a:r>
              <a:rPr lang="zh-CN" altLang="en-US" sz="2800">
                <a:latin typeface="宋体" panose="02010600030101010101" pitchFamily="2" charset="-122"/>
              </a:rPr>
              <a:t>选择通道</a:t>
            </a:r>
          </a:p>
          <a:p>
            <a:r>
              <a:rPr lang="zh-CN" altLang="en-US" sz="2800">
                <a:latin typeface="宋体" panose="02010600030101010101" pitchFamily="2" charset="-122"/>
              </a:rPr>
              <a:t>　　选择通道又称高速通道，在物理上它可以连接多个设备，但是这些设备不能同时工作，在某一段时间内通道只能选择一个设备进行工作。只有当这个设备的通道程序全部执行完毕后，才能执行其他设备的通道程序。</a:t>
            </a:r>
          </a:p>
          <a:p>
            <a:r>
              <a:rPr lang="zh-CN" altLang="en-US" sz="2800">
                <a:latin typeface="宋体" panose="02010600030101010101" pitchFamily="2" charset="-122"/>
              </a:rPr>
              <a:t>　　选择通道主要用于连接高速外围设备，如磁盘、磁带等。</a:t>
            </a:r>
            <a:r>
              <a:rPr lang="zh-CN" altLang="en-US" sz="2800"/>
              <a:t>数据传送以成组（数据块）方式进行，每次传送一个数据块，因此，传送速率很高。</a:t>
            </a:r>
            <a:r>
              <a:rPr lang="zh-CN" altLang="en-US" sz="2800">
                <a:latin typeface="宋体" panose="02010600030101010101" pitchFamily="2" charset="-122"/>
              </a:rPr>
              <a:t>通道在传送两个字节之间已很少空闲，所以在数据传送期间只为一台设备服务是合理的。</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p:spPr>
        <p:txBody>
          <a:bodyPr/>
          <a:lstStyle/>
          <a:p>
            <a:fld id="{A4BD4605-7CD2-4772-BA10-FF27EDC193FC}" type="slidenum">
              <a:rPr lang="en-US" altLang="zh-CN" smtClean="0"/>
              <a:t>66</a:t>
            </a:fld>
            <a:endParaRPr lang="en-US" altLang="zh-CN"/>
          </a:p>
        </p:txBody>
      </p:sp>
      <p:sp>
        <p:nvSpPr>
          <p:cNvPr id="70659" name="Rectangle 2"/>
          <p:cNvSpPr>
            <a:spLocks noChangeArrowheads="1"/>
          </p:cNvSpPr>
          <p:nvPr/>
        </p:nvSpPr>
        <p:spPr bwMode="auto">
          <a:xfrm>
            <a:off x="304800" y="228600"/>
            <a:ext cx="7543800" cy="1373188"/>
          </a:xfrm>
          <a:prstGeom prst="rect">
            <a:avLst/>
          </a:prstGeom>
          <a:noFill/>
          <a:ln w="12700">
            <a:noFill/>
            <a:miter lim="800000"/>
            <a:headEnd type="none" w="sm" len="sm"/>
            <a:tailEnd type="none" w="sm" len="sm"/>
          </a:ln>
        </p:spPr>
        <p:txBody>
          <a:bodyPr anchor="ctr">
            <a:spAutoFit/>
          </a:bodyPr>
          <a:lstStyle/>
          <a:p>
            <a:r>
              <a:rPr lang="en-US" altLang="zh-CN" sz="2800">
                <a:latin typeface="宋体" panose="02010600030101010101" pitchFamily="2" charset="-122"/>
              </a:rPr>
              <a:t>2.</a:t>
            </a:r>
            <a:r>
              <a:rPr lang="zh-CN" altLang="en-US" sz="2800">
                <a:latin typeface="宋体" panose="02010600030101010101" pitchFamily="2" charset="-122"/>
              </a:rPr>
              <a:t>多路通道</a:t>
            </a:r>
          </a:p>
          <a:p>
            <a:r>
              <a:rPr lang="zh-CN" altLang="en-US" sz="2800">
                <a:latin typeface="宋体" panose="02010600030101010101" pitchFamily="2" charset="-122"/>
              </a:rPr>
              <a:t>    在同一时间内能处理多个</a:t>
            </a:r>
            <a:r>
              <a:rPr lang="en-US" altLang="zh-CN" sz="2800">
                <a:latin typeface="宋体" panose="02010600030101010101" pitchFamily="2" charset="-122"/>
              </a:rPr>
              <a:t>I/O</a:t>
            </a:r>
            <a:r>
              <a:rPr lang="zh-CN" altLang="en-US" sz="2800">
                <a:latin typeface="宋体" panose="02010600030101010101" pitchFamily="2" charset="-122"/>
              </a:rPr>
              <a:t>设备的数据传输，分为数组多路通道和字节多路通道。</a:t>
            </a:r>
          </a:p>
        </p:txBody>
      </p:sp>
      <p:sp>
        <p:nvSpPr>
          <p:cNvPr id="86019" name="Rectangle 3"/>
          <p:cNvSpPr>
            <a:spLocks noChangeArrowheads="1"/>
          </p:cNvSpPr>
          <p:nvPr/>
        </p:nvSpPr>
        <p:spPr bwMode="auto">
          <a:xfrm>
            <a:off x="228600" y="762000"/>
            <a:ext cx="8458200" cy="3081338"/>
          </a:xfrm>
          <a:prstGeom prst="rect">
            <a:avLst/>
          </a:prstGeom>
          <a:solidFill>
            <a:schemeClr val="bg1"/>
          </a:solidFill>
          <a:ln w="12700">
            <a:noFill/>
            <a:miter lim="800000"/>
            <a:headEnd type="none" w="sm" len="sm"/>
            <a:tailEnd type="none" w="sm" len="sm"/>
          </a:ln>
        </p:spPr>
        <p:txBody>
          <a:bodyPr anchor="ctr">
            <a:spAutoFit/>
          </a:bodyPr>
          <a:lstStyle/>
          <a:p>
            <a:r>
              <a:rPr lang="zh-CN" altLang="en-US" sz="2800">
                <a:latin typeface="宋体" panose="02010600030101010101" pitchFamily="2" charset="-122"/>
              </a:rPr>
              <a:t>（</a:t>
            </a:r>
            <a:r>
              <a:rPr lang="en-US" altLang="zh-CN" sz="2800">
                <a:latin typeface="宋体" panose="02010600030101010101" pitchFamily="2" charset="-122"/>
              </a:rPr>
              <a:t>2</a:t>
            </a:r>
            <a:r>
              <a:rPr lang="zh-CN" altLang="en-US" sz="2800">
                <a:latin typeface="宋体" panose="02010600030101010101" pitchFamily="2" charset="-122"/>
              </a:rPr>
              <a:t>）字节多路通道</a:t>
            </a:r>
          </a:p>
          <a:p>
            <a:r>
              <a:rPr lang="zh-CN" altLang="en-US" sz="2800">
                <a:latin typeface="宋体" panose="02010600030101010101" pitchFamily="2" charset="-122"/>
              </a:rPr>
              <a:t>　　字节多路通道主要用于连接大量的低速设备，如键盘、打印机等等。例如数据传输率是</a:t>
            </a:r>
            <a:r>
              <a:rPr lang="en-US" altLang="zh-CN" sz="2800">
                <a:latin typeface="宋体" panose="02010600030101010101" pitchFamily="2" charset="-122"/>
              </a:rPr>
              <a:t>1000B/s</a:t>
            </a:r>
            <a:r>
              <a:rPr lang="zh-CN" altLang="en-US" sz="2800">
                <a:latin typeface="宋体" panose="02010600030101010101" pitchFamily="2" charset="-122"/>
              </a:rPr>
              <a:t>，即传送</a:t>
            </a:r>
            <a:r>
              <a:rPr lang="en-US" altLang="zh-CN" sz="2800">
                <a:latin typeface="宋体" panose="02010600030101010101" pitchFamily="2" charset="-122"/>
              </a:rPr>
              <a:t>1</a:t>
            </a:r>
            <a:r>
              <a:rPr lang="zh-CN" altLang="en-US" sz="2800">
                <a:latin typeface="宋体" panose="02010600030101010101" pitchFamily="2" charset="-122"/>
              </a:rPr>
              <a:t>个字节的间隔是</a:t>
            </a:r>
            <a:r>
              <a:rPr lang="en-US" altLang="zh-CN" sz="2800">
                <a:latin typeface="宋体" panose="02010600030101010101" pitchFamily="2" charset="-122"/>
              </a:rPr>
              <a:t>1ms</a:t>
            </a:r>
            <a:r>
              <a:rPr lang="zh-CN" altLang="en-US" sz="2800">
                <a:latin typeface="宋体" panose="02010600030101010101" pitchFamily="2" charset="-122"/>
              </a:rPr>
              <a:t>，而通道从设备接收或发送一个字节只需要几百纳秒，因此通道在传送两个字节之间有很多空闲时间，字节多路通道正是利用这个空闲时间为其他设备服务。</a:t>
            </a:r>
          </a:p>
        </p:txBody>
      </p:sp>
      <p:sp>
        <p:nvSpPr>
          <p:cNvPr id="86020" name="Rectangle 4"/>
          <p:cNvSpPr>
            <a:spLocks noChangeArrowheads="1"/>
          </p:cNvSpPr>
          <p:nvPr/>
        </p:nvSpPr>
        <p:spPr bwMode="auto">
          <a:xfrm>
            <a:off x="228600" y="762000"/>
            <a:ext cx="8534400" cy="5643563"/>
          </a:xfrm>
          <a:prstGeom prst="rect">
            <a:avLst/>
          </a:prstGeom>
          <a:solidFill>
            <a:schemeClr val="bg1"/>
          </a:solidFill>
          <a:ln w="12700">
            <a:noFill/>
            <a:miter lim="800000"/>
            <a:headEnd type="none" w="sm" len="sm"/>
            <a:tailEnd type="none" w="sm" len="sm"/>
          </a:ln>
        </p:spPr>
        <p:txBody>
          <a:bodyPr anchor="ctr">
            <a:spAutoFit/>
          </a:bodyPr>
          <a:lstStyle/>
          <a:p>
            <a:r>
              <a:rPr lang="zh-CN" altLang="en-US" sz="2800">
                <a:latin typeface="宋体" panose="02010600030101010101" pitchFamily="2" charset="-122"/>
              </a:rPr>
              <a:t>（</a:t>
            </a:r>
            <a:r>
              <a:rPr lang="en-US" altLang="zh-CN" sz="2800">
                <a:latin typeface="宋体" panose="02010600030101010101" pitchFamily="2" charset="-122"/>
              </a:rPr>
              <a:t>1</a:t>
            </a:r>
            <a:r>
              <a:rPr lang="zh-CN" altLang="en-US" sz="2800">
                <a:latin typeface="宋体" panose="02010600030101010101" pitchFamily="2" charset="-122"/>
              </a:rPr>
              <a:t>）数组多路通道</a:t>
            </a:r>
          </a:p>
          <a:p>
            <a:r>
              <a:rPr lang="zh-CN" altLang="en-US" sz="2800">
                <a:latin typeface="宋体" panose="02010600030101010101" pitchFamily="2" charset="-122"/>
              </a:rPr>
              <a:t>　　基本思想：当某设备进行数据传送时，通道只为该设备服务；当设备在执行寻址等控制性动作时，通道暂时断开与这个设备的连接，挂起该设备的通道程序，去为其他设备服务，即执行其他设备的通道程序。</a:t>
            </a:r>
          </a:p>
          <a:p>
            <a:r>
              <a:rPr lang="zh-CN" altLang="en-US" sz="2800">
                <a:latin typeface="宋体" panose="02010600030101010101" pitchFamily="2" charset="-122"/>
              </a:rPr>
              <a:t>　　数组多路通道不仅在物理上可以连接多个设备，而且在一段时间内能交替执行多个设备的通道程序，换句话说在逻辑上可以连接多个设备，这些设备应是高速设备。</a:t>
            </a:r>
          </a:p>
          <a:p>
            <a:r>
              <a:rPr lang="zh-CN" altLang="en-US" sz="2800">
                <a:latin typeface="宋体" panose="02010600030101010101" pitchFamily="2" charset="-122"/>
              </a:rPr>
              <a:t>　　由于数组多路通道既保留了选择通道高速传送数据的优点，又充分利用了控制性操作的时间间隔为其他设备服务，使通道效率充分得到发挥，因此数组多路通道在实际系统中得到较多应用。</a:t>
            </a:r>
          </a:p>
        </p:txBody>
      </p:sp>
      <p:sp>
        <p:nvSpPr>
          <p:cNvPr id="86021" name="Rectangle 5"/>
          <p:cNvSpPr>
            <a:spLocks noChangeArrowheads="1"/>
          </p:cNvSpPr>
          <p:nvPr/>
        </p:nvSpPr>
        <p:spPr bwMode="auto">
          <a:xfrm>
            <a:off x="228600" y="152400"/>
            <a:ext cx="8740775" cy="6497638"/>
          </a:xfrm>
          <a:prstGeom prst="rect">
            <a:avLst/>
          </a:prstGeom>
          <a:solidFill>
            <a:schemeClr val="bg1"/>
          </a:solidFill>
          <a:ln w="12700">
            <a:noFill/>
            <a:miter lim="800000"/>
            <a:headEnd type="none" w="sm" len="sm"/>
            <a:tailEnd type="none" w="sm" len="sm"/>
          </a:ln>
        </p:spPr>
        <p:txBody>
          <a:bodyPr anchor="ctr">
            <a:spAutoFit/>
          </a:bodyPr>
          <a:lstStyle/>
          <a:p>
            <a:r>
              <a:rPr lang="en-US" altLang="zh-CN" sz="2400" dirty="0">
                <a:latin typeface="宋体" panose="02010600030101010101" pitchFamily="2" charset="-122"/>
              </a:rPr>
              <a:t>    </a:t>
            </a:r>
            <a:r>
              <a:rPr lang="zh-CN" altLang="en-US" sz="2800" dirty="0">
                <a:latin typeface="宋体" panose="02010600030101010101" pitchFamily="2" charset="-122"/>
              </a:rPr>
              <a:t>字节多路通道和数组多路通道的共同之处：</a:t>
            </a:r>
          </a:p>
          <a:p>
            <a:r>
              <a:rPr lang="zh-CN" altLang="en-US" sz="2800" dirty="0">
                <a:latin typeface="宋体" panose="02010600030101010101" pitchFamily="2" charset="-122"/>
              </a:rPr>
              <a:t>    都是多路通道，在一段时间内能交替执行多个设备的通道程序，使这些设备同时工作。 </a:t>
            </a:r>
          </a:p>
          <a:p>
            <a:r>
              <a:rPr lang="zh-CN" altLang="en-US" sz="2800" dirty="0">
                <a:latin typeface="宋体" panose="02010600030101010101" pitchFamily="2" charset="-122"/>
              </a:rPr>
              <a:t>    字节多路通道和数组多路通道的不同之处：</a:t>
            </a:r>
          </a:p>
          <a:p>
            <a:r>
              <a:rPr lang="zh-CN" altLang="en-US" sz="2800" dirty="0">
                <a:latin typeface="宋体" panose="02010600030101010101" pitchFamily="2" charset="-122"/>
              </a:rPr>
              <a:t>    </a:t>
            </a:r>
            <a:r>
              <a:rPr lang="en-US" altLang="zh-CN" sz="2800" dirty="0">
                <a:latin typeface="宋体" panose="02010600030101010101" pitchFamily="2" charset="-122"/>
              </a:rPr>
              <a:t>(1)</a:t>
            </a:r>
            <a:r>
              <a:rPr lang="zh-CN" altLang="en-US" sz="2800" dirty="0">
                <a:latin typeface="宋体" panose="02010600030101010101" pitchFamily="2" charset="-122"/>
              </a:rPr>
              <a:t>数组多路通道允许多个设备同时工作，但只允许一个设备进行传输型操作，其他设备进行控制型操作。而字节多路通道不仅允许多个设备同时操作，而且也允许它们同时进行传输型操作。</a:t>
            </a:r>
          </a:p>
          <a:p>
            <a:r>
              <a:rPr lang="zh-CN" altLang="en-US" sz="2800" dirty="0">
                <a:latin typeface="宋体" panose="02010600030101010101" pitchFamily="2" charset="-122"/>
              </a:rPr>
              <a:t>    </a:t>
            </a:r>
            <a:r>
              <a:rPr lang="en-US" altLang="zh-CN" sz="2800" dirty="0">
                <a:latin typeface="宋体" panose="02010600030101010101" pitchFamily="2" charset="-122"/>
              </a:rPr>
              <a:t>(2)</a:t>
            </a:r>
            <a:r>
              <a:rPr lang="zh-CN" altLang="en-US" sz="2800" dirty="0">
                <a:latin typeface="宋体" panose="02010600030101010101" pitchFamily="2" charset="-122"/>
              </a:rPr>
              <a:t>数组多路通道与设备之间数据传送的基本单位是数据块，通道必须为一个设备传送完一个数据块以后，才能为别的设备传送数据块。而字节多路通道与设备之间数据传送的基本单位是字节，通道为一个设备传送一个字节后，又可以为另一个设备传送一个字节，因此各设备与通道之间的数据传送是以字节为单位交替进行。</a:t>
            </a:r>
          </a:p>
          <a:p>
            <a:endParaRPr lang="en-US" altLang="zh-CN" sz="2800"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6020"/>
                                        </p:tgtEl>
                                        <p:attrNameLst>
                                          <p:attrName>style.visibility</p:attrName>
                                        </p:attrNameLst>
                                      </p:cBhvr>
                                      <p:to>
                                        <p:strVal val="visible"/>
                                      </p:to>
                                    </p:set>
                                    <p:animEffect transition="in" filter="dissolve">
                                      <p:cBhvr>
                                        <p:cTn id="7" dur="500"/>
                                        <p:tgtEl>
                                          <p:spTgt spid="86020"/>
                                        </p:tgtEl>
                                      </p:cBhvr>
                                    </p:animEffect>
                                  </p:childTnLst>
                                  <p:subTnLst>
                                    <p:set>
                                      <p:cBhvr override="childStyle">
                                        <p:cTn dur="1" fill="hold" display="0" masterRel="nextClick" afterEffect="1"/>
                                        <p:tgtEl>
                                          <p:spTgt spid="8602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6019"/>
                                        </p:tgtEl>
                                        <p:attrNameLst>
                                          <p:attrName>style.visibility</p:attrName>
                                        </p:attrNameLst>
                                      </p:cBhvr>
                                      <p:to>
                                        <p:strVal val="visible"/>
                                      </p:to>
                                    </p:set>
                                    <p:animEffect transition="in" filter="dissolve">
                                      <p:cBhvr>
                                        <p:cTn id="12" dur="500"/>
                                        <p:tgtEl>
                                          <p:spTgt spid="86019"/>
                                        </p:tgtEl>
                                      </p:cBhvr>
                                    </p:animEffect>
                                  </p:childTnLst>
                                  <p:subTnLst>
                                    <p:set>
                                      <p:cBhvr override="childStyle">
                                        <p:cTn dur="1" fill="hold" display="0" masterRel="nextClick" afterEffect="1"/>
                                        <p:tgtEl>
                                          <p:spTgt spid="86019"/>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6021"/>
                                        </p:tgtEl>
                                        <p:attrNameLst>
                                          <p:attrName>style.visibility</p:attrName>
                                        </p:attrNameLst>
                                      </p:cBhvr>
                                      <p:to>
                                        <p:strVal val="visible"/>
                                      </p:to>
                                    </p:set>
                                    <p:animEffect transition="in" filter="dissolve">
                                      <p:cBhvr>
                                        <p:cTn id="17" dur="500"/>
                                        <p:tgtEl>
                                          <p:spTgt spid="86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animBg="1" autoUpdateAnimBg="0"/>
      <p:bldP spid="86020" grpId="0" animBg="1" autoUpdateAnimBg="0"/>
      <p:bldP spid="86021"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2"/>
          </p:nvPr>
        </p:nvSpPr>
        <p:spPr>
          <a:noFill/>
        </p:spPr>
        <p:txBody>
          <a:bodyPr/>
          <a:lstStyle/>
          <a:p>
            <a:fld id="{598E2AA8-569F-4369-8E6B-2B96209937D6}" type="slidenum">
              <a:rPr lang="en-US" altLang="zh-CN" smtClean="0"/>
              <a:t>67</a:t>
            </a:fld>
            <a:endParaRPr lang="en-US" altLang="zh-CN"/>
          </a:p>
        </p:txBody>
      </p:sp>
      <p:sp>
        <p:nvSpPr>
          <p:cNvPr id="71683" name="Rectangle 3"/>
          <p:cNvSpPr>
            <a:spLocks noChangeArrowheads="1"/>
          </p:cNvSpPr>
          <p:nvPr/>
        </p:nvSpPr>
        <p:spPr bwMode="auto">
          <a:xfrm>
            <a:off x="304800" y="609600"/>
            <a:ext cx="7848600" cy="5691188"/>
          </a:xfrm>
          <a:prstGeom prst="rect">
            <a:avLst/>
          </a:prstGeom>
          <a:noFill/>
          <a:ln w="12700">
            <a:noFill/>
            <a:miter lim="800000"/>
            <a:headEnd type="none" w="sm" len="sm"/>
            <a:tailEnd type="none" w="sm" len="sm"/>
          </a:ln>
        </p:spPr>
        <p:txBody>
          <a:bodyPr>
            <a:spAutoFit/>
          </a:bodyPr>
          <a:lstStyle/>
          <a:p>
            <a:r>
              <a:rPr lang="en-US" altLang="zh-CN" sz="3200" b="1">
                <a:latin typeface="宋体" panose="02010600030101010101" pitchFamily="2" charset="-122"/>
              </a:rPr>
              <a:t>8.5.3 </a:t>
            </a:r>
            <a:r>
              <a:rPr lang="zh-CN" altLang="en-US" sz="3200" b="1">
                <a:latin typeface="宋体" panose="02010600030101010101" pitchFamily="2" charset="-122"/>
              </a:rPr>
              <a:t>通道结构的发展</a:t>
            </a:r>
            <a:r>
              <a:rPr lang="zh-CN" altLang="en-US" sz="2400">
                <a:latin typeface="宋体" panose="02010600030101010101" pitchFamily="2" charset="-122"/>
              </a:rPr>
              <a:t>　</a:t>
            </a:r>
          </a:p>
          <a:p>
            <a:r>
              <a:rPr lang="zh-CN" altLang="en-US" sz="2400">
                <a:latin typeface="宋体" panose="02010600030101010101" pitchFamily="2" charset="-122"/>
              </a:rPr>
              <a:t>　　　　　　</a:t>
            </a:r>
          </a:p>
          <a:p>
            <a:r>
              <a:rPr lang="zh-CN" altLang="en-US" sz="2400">
                <a:latin typeface="宋体" panose="02010600030101010101" pitchFamily="2" charset="-122"/>
              </a:rPr>
              <a:t>　　通道结构的进一步发展，出现了两种计算机</a:t>
            </a:r>
            <a:r>
              <a:rPr lang="en-US" altLang="zh-CN" sz="2400">
                <a:latin typeface="宋体" panose="02010600030101010101" pitchFamily="2" charset="-122"/>
              </a:rPr>
              <a:t>I/O</a:t>
            </a:r>
            <a:r>
              <a:rPr lang="zh-CN" altLang="en-US" sz="2400">
                <a:latin typeface="宋体" panose="02010600030101010101" pitchFamily="2" charset="-122"/>
              </a:rPr>
              <a:t>系统结构： </a:t>
            </a:r>
          </a:p>
          <a:p>
            <a:r>
              <a:rPr lang="zh-CN" altLang="en-US" sz="2400" b="1">
                <a:latin typeface="宋体" panose="02010600030101010101" pitchFamily="2" charset="-122"/>
              </a:rPr>
              <a:t>    </a:t>
            </a:r>
            <a:r>
              <a:rPr lang="en-US" altLang="zh-CN" sz="2400" b="1">
                <a:latin typeface="宋体" panose="02010600030101010101" pitchFamily="2" charset="-122"/>
              </a:rPr>
              <a:t>1.</a:t>
            </a:r>
            <a:r>
              <a:rPr lang="zh-CN" altLang="en-US" sz="2400" b="1">
                <a:latin typeface="宋体" panose="02010600030101010101" pitchFamily="2" charset="-122"/>
              </a:rPr>
              <a:t>输入输出处理器</a:t>
            </a:r>
            <a:r>
              <a:rPr lang="en-US" altLang="zh-CN" sz="2400" b="1">
                <a:latin typeface="宋体" panose="02010600030101010101" pitchFamily="2" charset="-122"/>
              </a:rPr>
              <a:t>(IOP)</a:t>
            </a:r>
            <a:r>
              <a:rPr lang="en-US" altLang="zh-CN" sz="2400">
                <a:latin typeface="宋体" panose="02010600030101010101" pitchFamily="2" charset="-122"/>
              </a:rPr>
              <a:t> </a:t>
            </a:r>
            <a:r>
              <a:rPr lang="zh-CN" altLang="en-US" sz="2400">
                <a:latin typeface="宋体" panose="02010600030101010101" pitchFamily="2" charset="-122"/>
              </a:rPr>
              <a:t>是通道结构的</a:t>
            </a:r>
            <a:r>
              <a:rPr lang="en-US" altLang="zh-CN" sz="2400">
                <a:latin typeface="宋体" panose="02010600030101010101" pitchFamily="2" charset="-122"/>
              </a:rPr>
              <a:t>I/O</a:t>
            </a:r>
            <a:r>
              <a:rPr lang="zh-CN" altLang="en-US" sz="2400">
                <a:latin typeface="宋体" panose="02010600030101010101" pitchFamily="2" charset="-122"/>
              </a:rPr>
              <a:t>处理器。</a:t>
            </a:r>
            <a:r>
              <a:rPr lang="en-US" altLang="zh-CN" sz="2400">
                <a:latin typeface="宋体" panose="02010600030101010101" pitchFamily="2" charset="-122"/>
              </a:rPr>
              <a:t>IOP</a:t>
            </a:r>
            <a:r>
              <a:rPr lang="zh-CN" altLang="en-US" sz="2400">
                <a:latin typeface="宋体" panose="02010600030101010101" pitchFamily="2" charset="-122"/>
              </a:rPr>
              <a:t>可以和</a:t>
            </a:r>
            <a:r>
              <a:rPr lang="en-US" altLang="zh-CN" sz="2400">
                <a:latin typeface="宋体" panose="02010600030101010101" pitchFamily="2" charset="-122"/>
              </a:rPr>
              <a:t>CPU</a:t>
            </a:r>
            <a:r>
              <a:rPr lang="zh-CN" altLang="en-US" sz="2400">
                <a:latin typeface="宋体" panose="02010600030101010101" pitchFamily="2" charset="-122"/>
              </a:rPr>
              <a:t>并行工作，提供高速的</a:t>
            </a:r>
            <a:r>
              <a:rPr lang="en-US" altLang="zh-CN" sz="2400">
                <a:latin typeface="宋体" panose="02010600030101010101" pitchFamily="2" charset="-122"/>
              </a:rPr>
              <a:t>DMA</a:t>
            </a:r>
            <a:r>
              <a:rPr lang="zh-CN" altLang="en-US" sz="2400">
                <a:latin typeface="宋体" panose="02010600030101010101" pitchFamily="2" charset="-122"/>
              </a:rPr>
              <a:t>处理能力，实现数据的高速传送。但是它不是独立于</a:t>
            </a:r>
            <a:r>
              <a:rPr lang="en-US" altLang="zh-CN" sz="2400">
                <a:latin typeface="宋体" panose="02010600030101010101" pitchFamily="2" charset="-122"/>
              </a:rPr>
              <a:t>CPU</a:t>
            </a:r>
            <a:r>
              <a:rPr lang="zh-CN" altLang="en-US" sz="2400">
                <a:latin typeface="宋体" panose="02010600030101010101" pitchFamily="2" charset="-122"/>
              </a:rPr>
              <a:t>工作的，而是主机的一个部件。有些</a:t>
            </a:r>
            <a:r>
              <a:rPr lang="en-US" altLang="zh-CN" sz="2400">
                <a:latin typeface="宋体" panose="02010600030101010101" pitchFamily="2" charset="-122"/>
              </a:rPr>
              <a:t>IOP</a:t>
            </a:r>
            <a:r>
              <a:rPr lang="zh-CN" altLang="en-US" sz="2400">
                <a:latin typeface="宋体" panose="02010600030101010101" pitchFamily="2" charset="-122"/>
              </a:rPr>
              <a:t>例如</a:t>
            </a:r>
            <a:r>
              <a:rPr lang="en-US" altLang="zh-CN" sz="2400">
                <a:latin typeface="宋体" panose="02010600030101010101" pitchFamily="2" charset="-122"/>
              </a:rPr>
              <a:t>Intel 8089 IOP</a:t>
            </a:r>
            <a:r>
              <a:rPr lang="zh-CN" altLang="en-US" sz="2400">
                <a:latin typeface="宋体" panose="02010600030101010101" pitchFamily="2" charset="-122"/>
              </a:rPr>
              <a:t>，还提供数据的变换、搜索以及字装配</a:t>
            </a:r>
            <a:r>
              <a:rPr lang="en-US" altLang="zh-CN" sz="2400">
                <a:latin typeface="宋体" panose="02010600030101010101" pitchFamily="2" charset="-122"/>
              </a:rPr>
              <a:t>/</a:t>
            </a:r>
            <a:r>
              <a:rPr lang="zh-CN" altLang="en-US" sz="2400">
                <a:latin typeface="宋体" panose="02010600030101010101" pitchFamily="2" charset="-122"/>
              </a:rPr>
              <a:t>拆卸能力。这类</a:t>
            </a:r>
            <a:r>
              <a:rPr lang="en-US" altLang="zh-CN" sz="2400">
                <a:latin typeface="宋体" panose="02010600030101010101" pitchFamily="2" charset="-122"/>
              </a:rPr>
              <a:t>IOP</a:t>
            </a:r>
            <a:r>
              <a:rPr lang="zh-CN" altLang="en-US" sz="2400">
                <a:latin typeface="宋体" panose="02010600030101010101" pitchFamily="2" charset="-122"/>
              </a:rPr>
              <a:t>广泛应用于中小型及微型计算机中。</a:t>
            </a:r>
          </a:p>
          <a:p>
            <a:r>
              <a:rPr lang="zh-CN" altLang="en-US" sz="2400" b="1">
                <a:latin typeface="宋体" panose="02010600030101010101" pitchFamily="2" charset="-122"/>
              </a:rPr>
              <a:t>    </a:t>
            </a:r>
            <a:r>
              <a:rPr lang="en-US" altLang="zh-CN" sz="2400" b="1">
                <a:latin typeface="宋体" panose="02010600030101010101" pitchFamily="2" charset="-122"/>
              </a:rPr>
              <a:t>2.</a:t>
            </a:r>
            <a:r>
              <a:rPr lang="zh-CN" altLang="en-US" sz="2400" b="1">
                <a:latin typeface="宋体" panose="02010600030101010101" pitchFamily="2" charset="-122"/>
              </a:rPr>
              <a:t>外围处理机</a:t>
            </a:r>
            <a:r>
              <a:rPr lang="en-US" altLang="zh-CN" sz="2400" b="1">
                <a:latin typeface="宋体" panose="02010600030101010101" pitchFamily="2" charset="-122"/>
              </a:rPr>
              <a:t>(PPU)</a:t>
            </a:r>
            <a:r>
              <a:rPr lang="en-US" altLang="zh-CN" sz="2400">
                <a:latin typeface="宋体" panose="02010600030101010101" pitchFamily="2" charset="-122"/>
              </a:rPr>
              <a:t> PPU</a:t>
            </a:r>
            <a:r>
              <a:rPr lang="zh-CN" altLang="en-US" sz="2400">
                <a:latin typeface="宋体" panose="02010600030101010101" pitchFamily="2" charset="-122"/>
              </a:rPr>
              <a:t>基本上是独立于主机工作的，它有自己的指令系统，完成算术</a:t>
            </a:r>
            <a:r>
              <a:rPr lang="en-US" altLang="zh-CN" sz="2400">
                <a:latin typeface="宋体" panose="02010600030101010101" pitchFamily="2" charset="-122"/>
              </a:rPr>
              <a:t>/</a:t>
            </a:r>
            <a:r>
              <a:rPr lang="zh-CN" altLang="en-US" sz="2400">
                <a:latin typeface="宋体" panose="02010600030101010101" pitchFamily="2" charset="-122"/>
              </a:rPr>
              <a:t>逻辑运算，读</a:t>
            </a:r>
            <a:r>
              <a:rPr lang="en-US" altLang="zh-CN" sz="2400">
                <a:latin typeface="宋体" panose="02010600030101010101" pitchFamily="2" charset="-122"/>
              </a:rPr>
              <a:t>/</a:t>
            </a:r>
            <a:r>
              <a:rPr lang="zh-CN" altLang="en-US" sz="2400">
                <a:latin typeface="宋体" panose="02010600030101010101" pitchFamily="2" charset="-122"/>
              </a:rPr>
              <a:t>写主存储器，与外设交换信息等。有的外围处理机干脆就选用已有的通用机。外围处理机</a:t>
            </a:r>
            <a:r>
              <a:rPr lang="en-US" altLang="zh-CN" sz="2400">
                <a:latin typeface="宋体" panose="02010600030101010101" pitchFamily="2" charset="-122"/>
              </a:rPr>
              <a:t>I/O</a:t>
            </a:r>
            <a:r>
              <a:rPr lang="zh-CN" altLang="en-US" sz="2400">
                <a:latin typeface="宋体" panose="02010600030101010101" pitchFamily="2" charset="-122"/>
              </a:rPr>
              <a:t>方式一般应用于大型高效率的计算机系统中。</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p:spPr>
        <p:txBody>
          <a:bodyPr/>
          <a:lstStyle/>
          <a:p>
            <a:fld id="{7B07A730-CBB5-46AD-AE9B-DED6EF07425B}" type="slidenum">
              <a:rPr lang="en-US" altLang="zh-CN" smtClean="0"/>
              <a:t>68</a:t>
            </a:fld>
            <a:endParaRPr lang="en-US" altLang="zh-CN"/>
          </a:p>
        </p:txBody>
      </p:sp>
      <p:sp>
        <p:nvSpPr>
          <p:cNvPr id="72707" name="Rectangle 6"/>
          <p:cNvSpPr>
            <a:spLocks noChangeArrowheads="1"/>
          </p:cNvSpPr>
          <p:nvPr/>
        </p:nvSpPr>
        <p:spPr bwMode="auto">
          <a:xfrm>
            <a:off x="179388" y="170180"/>
            <a:ext cx="8785225" cy="4399915"/>
          </a:xfrm>
          <a:prstGeom prst="rect">
            <a:avLst/>
          </a:prstGeom>
          <a:solidFill>
            <a:srgbClr val="CCFFFF"/>
          </a:solidFill>
          <a:ln w="12700">
            <a:noFill/>
            <a:miter lim="800000"/>
            <a:headEnd type="none" w="sm" len="sm"/>
            <a:tailEnd type="none" w="sm" len="sm"/>
          </a:ln>
        </p:spPr>
        <p:txBody>
          <a:bodyPr anchor="ctr">
            <a:spAutoFit/>
          </a:bodyPr>
          <a:lstStyle/>
          <a:p>
            <a:r>
              <a:rPr lang="en-US" altLang="zh-CN" sz="2800">
                <a:latin typeface="宋体" panose="02010600030101010101" pitchFamily="2" charset="-122"/>
              </a:rPr>
              <a:t>P27</a:t>
            </a:r>
            <a:r>
              <a:rPr lang="en-US" sz="2800">
                <a:latin typeface="宋体" panose="02010600030101010101" pitchFamily="2" charset="-122"/>
              </a:rPr>
              <a:t>8-16</a:t>
            </a:r>
            <a:r>
              <a:rPr lang="en-US" altLang="zh-CN" sz="2800">
                <a:latin typeface="宋体" panose="02010600030101010101" pitchFamily="2" charset="-122"/>
              </a:rPr>
              <a:t> </a:t>
            </a:r>
            <a:r>
              <a:rPr lang="zh-CN" altLang="en-US" sz="2800">
                <a:latin typeface="宋体" panose="02010600030101010101" pitchFamily="2" charset="-122"/>
              </a:rPr>
              <a:t>比较通道、</a:t>
            </a:r>
            <a:r>
              <a:rPr lang="en-US" altLang="zh-CN" sz="2800">
                <a:latin typeface="宋体" panose="02010600030101010101" pitchFamily="2" charset="-122"/>
              </a:rPr>
              <a:t>DMA</a:t>
            </a:r>
            <a:r>
              <a:rPr lang="zh-CN" altLang="en-US" sz="2800">
                <a:latin typeface="宋体" panose="02010600030101010101" pitchFamily="2" charset="-122"/>
              </a:rPr>
              <a:t>、中断三种基本</a:t>
            </a:r>
            <a:r>
              <a:rPr lang="en-US" altLang="zh-CN" sz="2800">
                <a:latin typeface="宋体" panose="02010600030101010101" pitchFamily="2" charset="-122"/>
              </a:rPr>
              <a:t>I/O</a:t>
            </a:r>
            <a:r>
              <a:rPr lang="zh-CN" altLang="en-US" sz="2800">
                <a:latin typeface="宋体" panose="02010600030101010101" pitchFamily="2" charset="-122"/>
              </a:rPr>
              <a:t>方式的异同点。</a:t>
            </a:r>
          </a:p>
          <a:p>
            <a:r>
              <a:rPr lang="zh-CN" altLang="en-US" sz="2800">
                <a:latin typeface="宋体" panose="02010600030101010101" pitchFamily="2" charset="-122"/>
              </a:rPr>
              <a:t>   （</a:t>
            </a:r>
            <a:r>
              <a:rPr lang="en-US" altLang="zh-CN" sz="2800">
                <a:latin typeface="宋体" panose="02010600030101010101" pitchFamily="2" charset="-122"/>
              </a:rPr>
              <a:t>1</a:t>
            </a:r>
            <a:r>
              <a:rPr lang="zh-CN" altLang="en-US" sz="2800">
                <a:latin typeface="宋体" panose="02010600030101010101" pitchFamily="2" charset="-122"/>
              </a:rPr>
              <a:t>）通道方式：可以实现对外设的统一管理和外设与内存之间的数据传送，大大提高了</a:t>
            </a:r>
            <a:r>
              <a:rPr lang="en-US" altLang="zh-CN" sz="2800">
                <a:latin typeface="宋体" panose="02010600030101010101" pitchFamily="2" charset="-122"/>
              </a:rPr>
              <a:t>CPU</a:t>
            </a:r>
            <a:r>
              <a:rPr lang="zh-CN" altLang="en-US" sz="2800">
                <a:latin typeface="宋体" panose="02010600030101010101" pitchFamily="2" charset="-122"/>
              </a:rPr>
              <a:t>的工作效率。</a:t>
            </a:r>
          </a:p>
          <a:p>
            <a:r>
              <a:rPr lang="zh-CN" altLang="en-US" sz="2800">
                <a:latin typeface="宋体" panose="02010600030101010101" pitchFamily="2" charset="-122"/>
              </a:rPr>
              <a:t>   （</a:t>
            </a:r>
            <a:r>
              <a:rPr lang="en-US" altLang="zh-CN" sz="2800">
                <a:latin typeface="宋体" panose="02010600030101010101" pitchFamily="2" charset="-122"/>
              </a:rPr>
              <a:t>2</a:t>
            </a:r>
            <a:r>
              <a:rPr lang="zh-CN" altLang="en-US" sz="2800">
                <a:latin typeface="宋体" panose="02010600030101010101" pitchFamily="2" charset="-122"/>
              </a:rPr>
              <a:t>）</a:t>
            </a:r>
            <a:r>
              <a:rPr lang="en-US" altLang="zh-CN" sz="2800">
                <a:latin typeface="宋体" panose="02010600030101010101" pitchFamily="2" charset="-122"/>
              </a:rPr>
              <a:t>DMA</a:t>
            </a:r>
            <a:r>
              <a:rPr lang="zh-CN" altLang="en-US" sz="2800">
                <a:latin typeface="宋体" panose="02010600030101010101" pitchFamily="2" charset="-122"/>
              </a:rPr>
              <a:t>方式：数据传送速度很高，传送速率仅受到内存访问时间的限制。需要更多硬件，适用于内存和高速外设之间大批数据交换的场合。</a:t>
            </a:r>
          </a:p>
          <a:p>
            <a:r>
              <a:rPr lang="zh-CN" altLang="en-US" sz="2800">
                <a:latin typeface="宋体" panose="02010600030101010101" pitchFamily="2" charset="-122"/>
              </a:rPr>
              <a:t>   （</a:t>
            </a:r>
            <a:r>
              <a:rPr lang="en-US" altLang="zh-CN" sz="2800">
                <a:latin typeface="宋体" panose="02010600030101010101" pitchFamily="2" charset="-122"/>
              </a:rPr>
              <a:t>3</a:t>
            </a:r>
            <a:r>
              <a:rPr lang="zh-CN" altLang="en-US" sz="2800">
                <a:latin typeface="宋体" panose="02010600030101010101" pitchFamily="2" charset="-122"/>
              </a:rPr>
              <a:t>）中断方式：一般适用于随机出现的服务，且一旦提出要求应立即进行，节省了</a:t>
            </a:r>
            <a:r>
              <a:rPr lang="en-US" altLang="zh-CN" sz="2800">
                <a:latin typeface="宋体" panose="02010600030101010101" pitchFamily="2" charset="-122"/>
              </a:rPr>
              <a:t>CPU</a:t>
            </a:r>
            <a:r>
              <a:rPr lang="zh-CN" altLang="en-US" sz="2800">
                <a:latin typeface="宋体" panose="02010600030101010101" pitchFamily="2" charset="-122"/>
              </a:rPr>
              <a:t>的时间开销，但硬件结构稍复杂一些。</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6632"/>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课内练习</a:t>
            </a:r>
          </a:p>
        </p:txBody>
      </p:sp>
      <p:sp>
        <p:nvSpPr>
          <p:cNvPr id="7" name="TextBox 6"/>
          <p:cNvSpPr txBox="1"/>
          <p:nvPr>
            <p:custDataLst>
              <p:tags r:id="rId1"/>
            </p:custDataLst>
          </p:nvPr>
        </p:nvSpPr>
        <p:spPr>
          <a:xfrm>
            <a:off x="254610" y="950529"/>
            <a:ext cx="8649514"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b="1" dirty="0">
                <a:latin typeface="微软雅黑" panose="020B0503020204020204" pitchFamily="34" charset="-122"/>
                <a:ea typeface="微软雅黑" panose="020B0503020204020204" pitchFamily="34" charset="-122"/>
              </a:rPr>
              <a:t>通道程序是由</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组成。</a:t>
            </a:r>
          </a:p>
          <a:p>
            <a:pPr>
              <a:lnSpc>
                <a:spcPct val="150000"/>
              </a:lnSpc>
            </a:pPr>
            <a:r>
              <a:rPr lang="en-US" altLang="zh-CN" sz="2000" b="1" dirty="0">
                <a:latin typeface="微软雅黑" panose="020B0503020204020204" pitchFamily="34" charset="-122"/>
                <a:ea typeface="微软雅黑" panose="020B0503020204020204" pitchFamily="34" charset="-122"/>
              </a:rPr>
              <a:t>     A. I/O</a:t>
            </a:r>
            <a:r>
              <a:rPr lang="zh-CN" altLang="zh-CN" sz="2000" b="1" dirty="0">
                <a:latin typeface="微软雅黑" panose="020B0503020204020204" pitchFamily="34" charset="-122"/>
                <a:ea typeface="微软雅黑" panose="020B0503020204020204" pitchFamily="34" charset="-122"/>
              </a:rPr>
              <a:t>指令</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通道指令（通道控制字）</a:t>
            </a:r>
            <a:r>
              <a:rPr lang="en-US" altLang="zh-CN" sz="2000" b="1" dirty="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通道状态字</a:t>
            </a:r>
            <a:r>
              <a:rPr lang="en-US" altLang="zh-CN" sz="2000" b="1" dirty="0">
                <a:latin typeface="微软雅黑" panose="020B0503020204020204" pitchFamily="34" charset="-122"/>
                <a:ea typeface="微软雅黑" panose="020B0503020204020204" pitchFamily="34" charset="-122"/>
              </a:rPr>
              <a:t>  D. </a:t>
            </a:r>
            <a:r>
              <a:rPr lang="zh-CN" altLang="en-US" sz="2000" b="1" dirty="0">
                <a:latin typeface="微软雅黑" panose="020B0503020204020204" pitchFamily="34" charset="-122"/>
                <a:ea typeface="微软雅黑" panose="020B0503020204020204" pitchFamily="34" charset="-122"/>
              </a:rPr>
              <a:t>机器指令</a:t>
            </a:r>
            <a:endParaRPr lang="zh-CN"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b="1" dirty="0">
                <a:latin typeface="微软雅黑" panose="020B0503020204020204" pitchFamily="34" charset="-122"/>
                <a:ea typeface="微软雅黑" panose="020B0503020204020204" pitchFamily="34" charset="-122"/>
              </a:rPr>
              <a:t>常用于大型计算机的控制方式是</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a:t>
            </a:r>
          </a:p>
          <a:p>
            <a:pPr>
              <a:lnSpc>
                <a:spcPct val="150000"/>
              </a:lnSpc>
            </a:pPr>
            <a:r>
              <a:rPr lang="en-US" altLang="zh-CN" sz="2000" b="1" dirty="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程序查询方式</a:t>
            </a:r>
            <a:r>
              <a:rPr lang="en-US" altLang="zh-CN" sz="2000" b="1" dirty="0">
                <a:latin typeface="微软雅黑" panose="020B0503020204020204" pitchFamily="34" charset="-122"/>
                <a:ea typeface="微软雅黑" panose="020B0503020204020204" pitchFamily="34" charset="-122"/>
              </a:rPr>
              <a:t>      B. DMA</a:t>
            </a:r>
            <a:r>
              <a:rPr lang="zh-CN" altLang="zh-CN" sz="2000" b="1" dirty="0">
                <a:latin typeface="微软雅黑" panose="020B0503020204020204" pitchFamily="34" charset="-122"/>
                <a:ea typeface="微软雅黑" panose="020B0503020204020204" pitchFamily="34" charset="-122"/>
              </a:rPr>
              <a:t>方式</a:t>
            </a:r>
            <a:r>
              <a:rPr lang="en-US" altLang="zh-CN" sz="2000" b="1" dirty="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中断方式</a:t>
            </a:r>
            <a:r>
              <a:rPr lang="en-US" altLang="zh-CN" sz="2000" b="1" dirty="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通道方式</a:t>
            </a:r>
          </a:p>
          <a:p>
            <a:pPr marL="342900" indent="-342900">
              <a:lnSpc>
                <a:spcPct val="150000"/>
              </a:lnSpc>
              <a:buFont typeface="Wingdings" panose="05000000000000000000" pitchFamily="2" charset="2"/>
              <a:buChar char="l"/>
            </a:pPr>
            <a:r>
              <a:rPr lang="zh-CN" altLang="zh-CN" sz="2000" b="1" dirty="0">
                <a:latin typeface="微软雅黑" panose="020B0503020204020204" pitchFamily="34" charset="-122"/>
                <a:ea typeface="微软雅黑" panose="020B0503020204020204" pitchFamily="34" charset="-122"/>
              </a:rPr>
              <a:t>在采用</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的情况下，除非计算机等待数据，否则无法传送数据给计算机。</a:t>
            </a:r>
          </a:p>
          <a:p>
            <a:pPr>
              <a:lnSpc>
                <a:spcPct val="150000"/>
              </a:lnSpc>
            </a:pPr>
            <a:r>
              <a:rPr lang="en-US" altLang="zh-CN" sz="2000" b="1" dirty="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程序查询方式</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中断方式</a:t>
            </a:r>
            <a:r>
              <a:rPr lang="en-US" altLang="zh-CN" sz="2000" b="1" dirty="0">
                <a:latin typeface="微软雅黑" panose="020B0503020204020204" pitchFamily="34" charset="-122"/>
                <a:ea typeface="微软雅黑" panose="020B0503020204020204" pitchFamily="34" charset="-122"/>
              </a:rPr>
              <a:t>      C. DMA</a:t>
            </a:r>
            <a:r>
              <a:rPr lang="zh-CN" altLang="zh-CN" sz="2000" b="1" dirty="0">
                <a:latin typeface="微软雅黑" panose="020B0503020204020204" pitchFamily="34" charset="-122"/>
                <a:ea typeface="微软雅黑" panose="020B0503020204020204" pitchFamily="34" charset="-122"/>
              </a:rPr>
              <a:t>方式</a:t>
            </a:r>
            <a:r>
              <a:rPr lang="en-US" altLang="zh-CN" sz="2000" b="1" dirty="0">
                <a:latin typeface="微软雅黑" panose="020B0503020204020204" pitchFamily="34" charset="-122"/>
                <a:ea typeface="微软雅黑" panose="020B0503020204020204" pitchFamily="34" charset="-122"/>
              </a:rPr>
              <a:t>      D. </a:t>
            </a:r>
            <a:r>
              <a:rPr lang="zh-CN" altLang="en-US" sz="2000" b="1" dirty="0">
                <a:latin typeface="微软雅黑" panose="020B0503020204020204" pitchFamily="34" charset="-122"/>
                <a:ea typeface="微软雅黑" panose="020B0503020204020204" pitchFamily="34" charset="-122"/>
              </a:rPr>
              <a:t>通道</a:t>
            </a:r>
            <a:r>
              <a:rPr lang="zh-CN" altLang="zh-CN" sz="2000" b="1" dirty="0">
                <a:latin typeface="微软雅黑" panose="020B0503020204020204" pitchFamily="34" charset="-122"/>
                <a:ea typeface="微软雅黑" panose="020B0503020204020204" pitchFamily="34" charset="-122"/>
              </a:rPr>
              <a:t>方式</a:t>
            </a:r>
          </a:p>
          <a:p>
            <a:pPr marL="342900" indent="-342900">
              <a:lnSpc>
                <a:spcPct val="150000"/>
              </a:lnSpc>
              <a:buFont typeface="Wingdings" panose="05000000000000000000" pitchFamily="2" charset="2"/>
              <a:buChar char="l"/>
            </a:pPr>
            <a:r>
              <a:rPr lang="zh-CN" altLang="zh-CN" sz="2000" b="1" dirty="0">
                <a:latin typeface="微软雅黑" panose="020B0503020204020204" pitchFamily="34" charset="-122"/>
                <a:ea typeface="微软雅黑" panose="020B0503020204020204" pitchFamily="34" charset="-122"/>
              </a:rPr>
              <a:t>通道是特殊的处理器</a:t>
            </a:r>
            <a:r>
              <a:rPr lang="en-US" altLang="zh-CN"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它有自己的</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，因此具有较强的并行工作能力。</a:t>
            </a:r>
          </a:p>
          <a:p>
            <a:pPr>
              <a:lnSpc>
                <a:spcPct val="150000"/>
              </a:lnSpc>
            </a:pPr>
            <a:r>
              <a:rPr lang="en-US" altLang="zh-CN" sz="2000" b="1" dirty="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运算器</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存储器</a:t>
            </a:r>
            <a:r>
              <a:rPr lang="en-US" altLang="zh-CN" sz="2000" b="1" dirty="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指令和程序</a:t>
            </a:r>
            <a:r>
              <a:rPr lang="en-US" altLang="zh-CN" sz="2000" b="1" dirty="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以上均有</a:t>
            </a:r>
          </a:p>
        </p:txBody>
      </p:sp>
      <p:sp>
        <p:nvSpPr>
          <p:cNvPr id="9" name="椭圆 8"/>
          <p:cNvSpPr/>
          <p:nvPr/>
        </p:nvSpPr>
        <p:spPr bwMode="auto">
          <a:xfrm>
            <a:off x="1920807" y="142230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6" name="椭圆 5"/>
          <p:cNvSpPr/>
          <p:nvPr/>
        </p:nvSpPr>
        <p:spPr bwMode="auto">
          <a:xfrm>
            <a:off x="6564982" y="2343684"/>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8" name="椭圆 7"/>
          <p:cNvSpPr/>
          <p:nvPr/>
        </p:nvSpPr>
        <p:spPr bwMode="auto">
          <a:xfrm>
            <a:off x="520502" y="372136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
        <p:nvSpPr>
          <p:cNvPr id="10" name="椭圆 9"/>
          <p:cNvSpPr/>
          <p:nvPr/>
        </p:nvSpPr>
        <p:spPr bwMode="auto">
          <a:xfrm>
            <a:off x="3775720" y="506902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P spid="1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p:cNvSpPr>
            <a:spLocks noGrp="1"/>
          </p:cNvSpPr>
          <p:nvPr>
            <p:ph type="sldNum" sz="quarter" idx="12"/>
          </p:nvPr>
        </p:nvSpPr>
        <p:spPr>
          <a:noFill/>
        </p:spPr>
        <p:txBody>
          <a:bodyPr/>
          <a:lstStyle/>
          <a:p>
            <a:fld id="{C36B6F2A-3C09-4BB2-8AC5-4F385607EEEF}" type="slidenum">
              <a:rPr lang="en-US" altLang="zh-CN" smtClean="0"/>
              <a:t>70</a:t>
            </a:fld>
            <a:endParaRPr lang="en-US" altLang="zh-CN"/>
          </a:p>
        </p:txBody>
      </p:sp>
      <p:sp>
        <p:nvSpPr>
          <p:cNvPr id="73732" name="Rectangle 3"/>
          <p:cNvSpPr>
            <a:spLocks noChangeArrowheads="1"/>
          </p:cNvSpPr>
          <p:nvPr/>
        </p:nvSpPr>
        <p:spPr bwMode="auto">
          <a:xfrm>
            <a:off x="145665" y="710077"/>
            <a:ext cx="8785225" cy="3413760"/>
          </a:xfrm>
          <a:prstGeom prst="rect">
            <a:avLst/>
          </a:prstGeom>
          <a:solidFill>
            <a:schemeClr val="bg1"/>
          </a:solidFill>
          <a:ln w="12700">
            <a:noFill/>
            <a:miter lim="800000"/>
            <a:headEnd type="none" w="sm" len="sm"/>
            <a:tailEnd type="none" w="sm" len="sm"/>
          </a:ln>
        </p:spPr>
        <p:txBody>
          <a:bodyPr anchor="ctr">
            <a:spAutoFit/>
          </a:bodyPr>
          <a:lstStyle/>
          <a:p>
            <a:pPr marL="0" lvl="1">
              <a:lnSpc>
                <a:spcPct val="120000"/>
              </a:lnSpc>
            </a:pPr>
            <a:r>
              <a:rPr lang="en-US" altLang="zh-CN" sz="3600" b="1" dirty="0">
                <a:latin typeface="+mn-ea"/>
                <a:ea typeface="+mn-ea"/>
                <a:cs typeface="Times New Roman" panose="02020603050405020304" charset="0"/>
              </a:rPr>
              <a:t>8.6 </a:t>
            </a:r>
            <a:r>
              <a:rPr lang="zh-CN" altLang="en-US" sz="3600" b="1" dirty="0">
                <a:latin typeface="+mn-ea"/>
                <a:ea typeface="+mn-ea"/>
              </a:rPr>
              <a:t>通用</a:t>
            </a:r>
            <a:r>
              <a:rPr lang="en-US" altLang="zh-CN" sz="3600" b="1" dirty="0">
                <a:latin typeface="+mn-ea"/>
                <a:ea typeface="+mn-ea"/>
              </a:rPr>
              <a:t>I/O</a:t>
            </a:r>
            <a:r>
              <a:rPr lang="zh-CN" altLang="en-US" sz="3600" b="1" dirty="0">
                <a:latin typeface="+mn-ea"/>
                <a:ea typeface="+mn-ea"/>
              </a:rPr>
              <a:t>接口标准</a:t>
            </a:r>
          </a:p>
          <a:p>
            <a:pPr marL="0" lvl="1" eaLnBrk="1" hangingPunct="1">
              <a:lnSpc>
                <a:spcPct val="120000"/>
              </a:lnSpc>
            </a:pPr>
            <a:r>
              <a:rPr lang="en-US" altLang="zh-CN" sz="2400" dirty="0">
                <a:latin typeface="+mn-ea"/>
                <a:ea typeface="+mn-ea"/>
              </a:rPr>
              <a:t>8.6.1 </a:t>
            </a:r>
            <a:r>
              <a:rPr lang="zh-CN" altLang="zh-CN" sz="2400" dirty="0">
                <a:latin typeface="+mn-ea"/>
                <a:ea typeface="+mn-ea"/>
              </a:rPr>
              <a:t>并行I/O标准接口SCSI</a:t>
            </a:r>
            <a:r>
              <a:rPr lang="en-US" altLang="zh-CN" sz="2400" dirty="0">
                <a:latin typeface="+mn-ea"/>
                <a:ea typeface="+mn-ea"/>
              </a:rPr>
              <a:t> </a:t>
            </a:r>
          </a:p>
          <a:p>
            <a:pPr marL="0" lvl="1" eaLnBrk="1" hangingPunct="1">
              <a:lnSpc>
                <a:spcPct val="120000"/>
              </a:lnSpc>
            </a:pPr>
            <a:r>
              <a:rPr lang="en-US" altLang="zh-CN" sz="2400" dirty="0">
                <a:latin typeface="+mn-ea"/>
                <a:ea typeface="+mn-ea"/>
              </a:rPr>
              <a:t>    SCSI(Small Computer System Interface)</a:t>
            </a:r>
            <a:r>
              <a:rPr lang="zh-CN" altLang="en-US" sz="2400" dirty="0">
                <a:latin typeface="+mn-ea"/>
                <a:ea typeface="+mn-ea"/>
              </a:rPr>
              <a:t>是小型计算机系统接口的简称，其设计思想来源于</a:t>
            </a:r>
            <a:r>
              <a:rPr lang="en-US" altLang="zh-CN" sz="2400" dirty="0">
                <a:latin typeface="+mn-ea"/>
                <a:ea typeface="+mn-ea"/>
              </a:rPr>
              <a:t>IBM</a:t>
            </a:r>
            <a:r>
              <a:rPr lang="zh-CN" altLang="en-US" sz="2400" dirty="0">
                <a:latin typeface="+mn-ea"/>
                <a:ea typeface="+mn-ea"/>
              </a:rPr>
              <a:t>大型机系统的</a:t>
            </a:r>
            <a:r>
              <a:rPr lang="en-US" altLang="zh-CN" sz="2400" dirty="0">
                <a:latin typeface="+mn-ea"/>
                <a:ea typeface="+mn-ea"/>
              </a:rPr>
              <a:t>I/O</a:t>
            </a:r>
            <a:r>
              <a:rPr lang="zh-CN" altLang="en-US" sz="2400" dirty="0">
                <a:latin typeface="+mn-ea"/>
                <a:ea typeface="+mn-ea"/>
              </a:rPr>
              <a:t>通道结构，目的是使</a:t>
            </a:r>
            <a:r>
              <a:rPr lang="en-US" altLang="zh-CN" sz="2400" dirty="0">
                <a:latin typeface="+mn-ea"/>
                <a:ea typeface="+mn-ea"/>
              </a:rPr>
              <a:t>CPU</a:t>
            </a:r>
            <a:r>
              <a:rPr lang="zh-CN" altLang="en-US" sz="2400" dirty="0">
                <a:latin typeface="+mn-ea"/>
                <a:ea typeface="+mn-ea"/>
              </a:rPr>
              <a:t>摆脱对各种设备的繁杂控制。它是一个高速智能接口，可以混接各种磁盘、光盘、磁带机、打印机、扫描仪、条码阅读器以及通信设备。</a:t>
            </a:r>
          </a:p>
        </p:txBody>
      </p:sp>
      <p:pic>
        <p:nvPicPr>
          <p:cNvPr id="5" name="Picture 1028" descr="8a20"/>
          <p:cNvPicPr>
            <a:picLocks noChangeAspect="1" noChangeArrowheads="1"/>
          </p:cNvPicPr>
          <p:nvPr/>
        </p:nvPicPr>
        <p:blipFill>
          <a:blip r:embed="rId2"/>
          <a:srcRect/>
          <a:stretch>
            <a:fillRect/>
          </a:stretch>
        </p:blipFill>
        <p:spPr bwMode="auto">
          <a:xfrm>
            <a:off x="395697" y="4148786"/>
            <a:ext cx="8208962" cy="1944687"/>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p:cNvSpPr>
            <a:spLocks noGrp="1"/>
          </p:cNvSpPr>
          <p:nvPr>
            <p:ph type="sldNum" sz="quarter" idx="12"/>
          </p:nvPr>
        </p:nvSpPr>
        <p:spPr>
          <a:noFill/>
        </p:spPr>
        <p:txBody>
          <a:bodyPr/>
          <a:lstStyle/>
          <a:p>
            <a:fld id="{09902EE3-7AB7-43F6-B305-CD37B41D24AC}" type="slidenum">
              <a:rPr lang="en-US" altLang="zh-CN" smtClean="0"/>
              <a:t>71</a:t>
            </a:fld>
            <a:endParaRPr lang="en-US" altLang="zh-CN"/>
          </a:p>
        </p:txBody>
      </p:sp>
      <p:sp>
        <p:nvSpPr>
          <p:cNvPr id="77827" name="Rectangle 4"/>
          <p:cNvSpPr>
            <a:spLocks noChangeArrowheads="1"/>
          </p:cNvSpPr>
          <p:nvPr/>
        </p:nvSpPr>
        <p:spPr bwMode="auto">
          <a:xfrm>
            <a:off x="144787" y="61328"/>
            <a:ext cx="8856984" cy="4508927"/>
          </a:xfrm>
          <a:prstGeom prst="rect">
            <a:avLst/>
          </a:prstGeom>
          <a:solidFill>
            <a:schemeClr val="bg1"/>
          </a:solidFill>
          <a:ln w="12700">
            <a:noFill/>
            <a:miter lim="800000"/>
            <a:headEnd type="none" w="sm" len="sm"/>
            <a:tailEnd type="none" w="sm" len="sm"/>
          </a:ln>
        </p:spPr>
        <p:txBody>
          <a:bodyPr wrap="square" tIns="0" bIns="0" anchor="ctr">
            <a:spAutoFit/>
          </a:bodyPr>
          <a:lstStyle/>
          <a:p>
            <a:pPr>
              <a:spcAft>
                <a:spcPts val="0"/>
              </a:spcAft>
            </a:pPr>
            <a:r>
              <a:rPr lang="en-US" altLang="zh-CN" sz="2400" dirty="0">
                <a:latin typeface="+mn-ea"/>
                <a:ea typeface="+mn-ea"/>
              </a:rPr>
              <a:t>8.6.2 </a:t>
            </a:r>
            <a:r>
              <a:rPr lang="zh-CN" altLang="zh-CN" sz="2400" dirty="0">
                <a:latin typeface="+mn-ea"/>
                <a:ea typeface="+mn-ea"/>
              </a:rPr>
              <a:t>串行I/O标准接口IEEE1394</a:t>
            </a:r>
            <a:endParaRPr lang="en-US" altLang="zh-CN" sz="2400" dirty="0">
              <a:latin typeface="+mn-ea"/>
              <a:ea typeface="+mn-ea"/>
            </a:endParaRPr>
          </a:p>
          <a:p>
            <a:pPr marL="0" lvl="1">
              <a:spcAft>
                <a:spcPts val="0"/>
              </a:spcAft>
            </a:pPr>
            <a:r>
              <a:rPr lang="zh-CN" altLang="en-US" sz="2400" dirty="0">
                <a:latin typeface="+mn-ea"/>
                <a:ea typeface="+mn-ea"/>
              </a:rPr>
              <a:t>  　</a:t>
            </a:r>
            <a:r>
              <a:rPr lang="en-US" altLang="zh-CN" sz="2400" dirty="0">
                <a:latin typeface="+mn-ea"/>
                <a:ea typeface="+mn-ea"/>
              </a:rPr>
              <a:t>IEEE1394</a:t>
            </a:r>
            <a:r>
              <a:rPr lang="zh-CN" altLang="en-US" sz="2400" dirty="0">
                <a:latin typeface="+mn-ea"/>
                <a:ea typeface="+mn-ea"/>
              </a:rPr>
              <a:t>为接口可以将微机与电视、音响、摄录放一体机、数据存档系统、数字相机、彩色打印机、图像采集卡等连接起来，构成了一个标准的家庭网络环境。满足了多媒体应用的需要。该标准并不局限于家庭环境，</a:t>
            </a:r>
            <a:endParaRPr lang="en-US" altLang="zh-CN" sz="2400" dirty="0">
              <a:latin typeface="+mn-ea"/>
              <a:ea typeface="+mn-ea"/>
            </a:endParaRPr>
          </a:p>
          <a:p>
            <a:pPr marL="0" lvl="1">
              <a:spcAft>
                <a:spcPts val="0"/>
              </a:spcAft>
            </a:pPr>
            <a:r>
              <a:rPr lang="zh-CN" altLang="en-US" sz="2400" dirty="0">
                <a:latin typeface="+mn-ea"/>
                <a:ea typeface="+mn-ea"/>
              </a:rPr>
              <a:t>同样适用于多种计算机外设</a:t>
            </a:r>
            <a:endParaRPr lang="en-US" altLang="zh-CN" sz="2400" dirty="0">
              <a:latin typeface="+mn-ea"/>
              <a:ea typeface="+mn-ea"/>
            </a:endParaRPr>
          </a:p>
          <a:p>
            <a:pPr marL="0" lvl="1">
              <a:spcAft>
                <a:spcPts val="0"/>
              </a:spcAft>
            </a:pPr>
            <a:r>
              <a:rPr lang="zh-CN" altLang="en-US" sz="2400" dirty="0">
                <a:latin typeface="+mn-ea"/>
                <a:ea typeface="+mn-ea"/>
              </a:rPr>
              <a:t>和远程网中。　　</a:t>
            </a:r>
          </a:p>
          <a:p>
            <a:pPr marL="0" lvl="1" algn="just" eaLnBrk="1" hangingPunct="1">
              <a:spcAft>
                <a:spcPts val="0"/>
              </a:spcAft>
            </a:pPr>
            <a:r>
              <a:rPr lang="zh-CN" altLang="en-US" sz="2400" dirty="0">
                <a:latin typeface="+mn-ea"/>
                <a:ea typeface="+mn-ea"/>
              </a:rPr>
              <a:t> </a:t>
            </a:r>
            <a:r>
              <a:rPr lang="en-US" altLang="zh-CN" sz="2400" dirty="0">
                <a:latin typeface="+mn-ea"/>
                <a:ea typeface="+mn-ea"/>
              </a:rPr>
              <a:t>IEEE1394</a:t>
            </a:r>
            <a:r>
              <a:rPr lang="zh-CN" altLang="en-US" sz="2400" dirty="0">
                <a:latin typeface="+mn-ea"/>
                <a:ea typeface="+mn-ea"/>
              </a:rPr>
              <a:t>有以下主要特点：</a:t>
            </a:r>
            <a:endParaRPr lang="en-US" altLang="zh-CN" sz="2400" dirty="0">
              <a:latin typeface="+mn-ea"/>
              <a:ea typeface="+mn-ea"/>
            </a:endParaRPr>
          </a:p>
          <a:p>
            <a:pPr marL="0" lvl="1" algn="just" eaLnBrk="1" hangingPunct="1">
              <a:spcAft>
                <a:spcPts val="0"/>
              </a:spcAft>
            </a:pPr>
            <a:r>
              <a:rPr lang="en-US" altLang="zh-CN" sz="2400" dirty="0">
                <a:latin typeface="+mn-ea"/>
                <a:ea typeface="+mn-ea"/>
                <a:cs typeface="Times New Roman" panose="02020603050405020304" charset="0"/>
              </a:rPr>
              <a:t> (1)</a:t>
            </a:r>
            <a:r>
              <a:rPr lang="zh-CN" altLang="en-US" sz="2400" dirty="0">
                <a:latin typeface="+mn-ea"/>
                <a:ea typeface="+mn-ea"/>
              </a:rPr>
              <a:t>数据传送的高速性；</a:t>
            </a:r>
            <a:endParaRPr lang="en-US" altLang="zh-CN" sz="2400" dirty="0">
              <a:latin typeface="+mn-ea"/>
              <a:ea typeface="+mn-ea"/>
            </a:endParaRPr>
          </a:p>
          <a:p>
            <a:pPr marL="0" lvl="1" algn="just" eaLnBrk="1" hangingPunct="1">
              <a:spcAft>
                <a:spcPts val="0"/>
              </a:spcAft>
            </a:pPr>
            <a:r>
              <a:rPr lang="en-US" altLang="zh-CN" sz="2400" dirty="0">
                <a:latin typeface="+mn-ea"/>
                <a:ea typeface="+mn-ea"/>
                <a:cs typeface="Times New Roman" panose="02020603050405020304" charset="0"/>
              </a:rPr>
              <a:t> (2)</a:t>
            </a:r>
            <a:r>
              <a:rPr lang="zh-CN" altLang="en-US" sz="2400" dirty="0">
                <a:latin typeface="+mn-ea"/>
                <a:ea typeface="+mn-ea"/>
              </a:rPr>
              <a:t>数据传送的实时性；</a:t>
            </a:r>
            <a:endParaRPr lang="zh-CN" altLang="en-US" sz="2400" dirty="0">
              <a:latin typeface="+mn-ea"/>
              <a:ea typeface="+mn-ea"/>
              <a:cs typeface="Times New Roman" panose="02020603050405020304" charset="0"/>
            </a:endParaRPr>
          </a:p>
          <a:p>
            <a:pPr marL="0" lvl="1" algn="just" eaLnBrk="1" hangingPunct="1">
              <a:spcAft>
                <a:spcPts val="0"/>
              </a:spcAft>
            </a:pPr>
            <a:r>
              <a:rPr lang="en-US" altLang="zh-CN" sz="2400" dirty="0">
                <a:latin typeface="+mn-ea"/>
                <a:ea typeface="+mn-ea"/>
                <a:cs typeface="Times New Roman" panose="02020603050405020304" charset="0"/>
              </a:rPr>
              <a:t> (3)</a:t>
            </a:r>
            <a:r>
              <a:rPr lang="zh-CN" altLang="en-US" sz="2400" dirty="0">
                <a:latin typeface="+mn-ea"/>
                <a:ea typeface="+mn-ea"/>
              </a:rPr>
              <a:t>体积小易安装，连接</a:t>
            </a:r>
            <a:endParaRPr lang="en-US" altLang="zh-CN" sz="2400" dirty="0">
              <a:latin typeface="+mn-ea"/>
              <a:ea typeface="+mn-ea"/>
            </a:endParaRPr>
          </a:p>
          <a:p>
            <a:pPr marL="0" lvl="1" algn="just" eaLnBrk="1" hangingPunct="1">
              <a:spcAft>
                <a:spcPts val="0"/>
              </a:spcAft>
            </a:pPr>
            <a:r>
              <a:rPr lang="en-US" altLang="zh-CN" sz="2400" dirty="0">
                <a:latin typeface="+mn-ea"/>
                <a:ea typeface="+mn-ea"/>
              </a:rPr>
              <a:t>    </a:t>
            </a:r>
            <a:r>
              <a:rPr lang="zh-CN" altLang="en-US" sz="2400" dirty="0">
                <a:latin typeface="+mn-ea"/>
                <a:ea typeface="+mn-ea"/>
              </a:rPr>
              <a:t>方</a:t>
            </a:r>
            <a:r>
              <a:rPr lang="zh-CN" altLang="en-US" sz="2400" dirty="0">
                <a:latin typeface="宋体" panose="02010600030101010101" pitchFamily="2" charset="-122"/>
              </a:rPr>
              <a:t>便。</a:t>
            </a:r>
          </a:p>
        </p:txBody>
      </p:sp>
      <p:pic>
        <p:nvPicPr>
          <p:cNvPr id="4" name="Picture 4" descr="8a21"/>
          <p:cNvPicPr>
            <a:picLocks noChangeAspect="1" noChangeArrowheads="1"/>
          </p:cNvPicPr>
          <p:nvPr/>
        </p:nvPicPr>
        <p:blipFill>
          <a:blip r:embed="rId2"/>
          <a:srcRect/>
          <a:stretch>
            <a:fillRect/>
          </a:stretch>
        </p:blipFill>
        <p:spPr bwMode="auto">
          <a:xfrm>
            <a:off x="4151684" y="1689233"/>
            <a:ext cx="4416363" cy="2862455"/>
          </a:xfrm>
          <a:prstGeom prst="rect">
            <a:avLst/>
          </a:prstGeom>
          <a:noFill/>
          <a:ln w="9525">
            <a:noFill/>
            <a:miter lim="800000"/>
            <a:headEnd/>
            <a:tailEnd/>
          </a:ln>
        </p:spPr>
      </p:pic>
      <p:sp>
        <p:nvSpPr>
          <p:cNvPr id="5" name="Rectangle 6"/>
          <p:cNvSpPr>
            <a:spLocks noChangeArrowheads="1"/>
          </p:cNvSpPr>
          <p:nvPr/>
        </p:nvSpPr>
        <p:spPr bwMode="auto">
          <a:xfrm>
            <a:off x="223774" y="4552372"/>
            <a:ext cx="8717563" cy="2306955"/>
          </a:xfrm>
          <a:prstGeom prst="rect">
            <a:avLst/>
          </a:prstGeom>
          <a:solidFill>
            <a:schemeClr val="bg1"/>
          </a:solidFill>
          <a:ln w="12700">
            <a:noFill/>
            <a:miter lim="800000"/>
            <a:headEnd type="none" w="sm" len="sm"/>
            <a:tailEnd type="none" w="sm" len="sm"/>
          </a:ln>
        </p:spPr>
        <p:txBody>
          <a:bodyPr wrap="square" anchor="ctr">
            <a:spAutoFit/>
          </a:bodyPr>
          <a:lstStyle/>
          <a:p>
            <a:r>
              <a:rPr lang="en-US" altLang="zh-CN" sz="2400" dirty="0">
                <a:latin typeface="宋体" panose="02010600030101010101" pitchFamily="2" charset="-122"/>
              </a:rPr>
              <a:t>    IEEE1394</a:t>
            </a:r>
            <a:r>
              <a:rPr lang="zh-CN" altLang="en-US" sz="2400" dirty="0">
                <a:latin typeface="宋体" panose="02010600030101010101" pitchFamily="2" charset="-122"/>
              </a:rPr>
              <a:t>是一种高速串行</a:t>
            </a:r>
            <a:r>
              <a:rPr lang="en-US" altLang="zh-CN" sz="2400" dirty="0">
                <a:latin typeface="宋体" panose="02010600030101010101" pitchFamily="2" charset="-122"/>
              </a:rPr>
              <a:t>I/O</a:t>
            </a:r>
            <a:r>
              <a:rPr lang="zh-CN" altLang="en-US" sz="2400" dirty="0">
                <a:latin typeface="宋体" panose="02010600030101010101" pitchFamily="2" charset="-122"/>
              </a:rPr>
              <a:t>标准接口。英特尔、微软等公司联手制定的</a:t>
            </a:r>
            <a:r>
              <a:rPr lang="en-US" altLang="zh-CN" sz="2400" dirty="0">
                <a:latin typeface="宋体" panose="02010600030101010101" pitchFamily="2" charset="-122"/>
              </a:rPr>
              <a:t>PC98</a:t>
            </a:r>
            <a:r>
              <a:rPr lang="zh-CN" altLang="en-US" sz="2400" dirty="0">
                <a:latin typeface="宋体" panose="02010600030101010101" pitchFamily="2" charset="-122"/>
              </a:rPr>
              <a:t>系统设计指南中已明确将</a:t>
            </a:r>
            <a:r>
              <a:rPr lang="en-US" altLang="zh-CN" sz="2400" dirty="0">
                <a:latin typeface="宋体" panose="02010600030101010101" pitchFamily="2" charset="-122"/>
              </a:rPr>
              <a:t>1394</a:t>
            </a:r>
            <a:r>
              <a:rPr lang="zh-CN" altLang="en-US" sz="2400" dirty="0">
                <a:latin typeface="宋体" panose="02010600030101010101" pitchFamily="2" charset="-122"/>
              </a:rPr>
              <a:t>列为</a:t>
            </a:r>
            <a:r>
              <a:rPr lang="en-US" altLang="zh-CN" sz="2400" dirty="0">
                <a:latin typeface="宋体" panose="02010600030101010101" pitchFamily="2" charset="-122"/>
              </a:rPr>
              <a:t>1998</a:t>
            </a:r>
            <a:r>
              <a:rPr lang="zh-CN" altLang="en-US" sz="2400" dirty="0">
                <a:latin typeface="宋体" panose="02010600030101010101" pitchFamily="2" charset="-122"/>
              </a:rPr>
              <a:t>年以后的新一代个人机新标准。</a:t>
            </a:r>
          </a:p>
          <a:p>
            <a:r>
              <a:rPr lang="zh-CN" altLang="en-US" sz="2400" dirty="0">
                <a:latin typeface="宋体" panose="02010600030101010101" pitchFamily="2" charset="-122"/>
              </a:rPr>
              <a:t>　　另一个重大特点是：被连接装置的关系是平等的，不用</a:t>
            </a:r>
            <a:r>
              <a:rPr lang="en-US" altLang="zh-CN" sz="2400" dirty="0">
                <a:latin typeface="宋体" panose="02010600030101010101" pitchFamily="2" charset="-122"/>
              </a:rPr>
              <a:t>PC</a:t>
            </a:r>
            <a:r>
              <a:rPr lang="zh-CN" altLang="en-US" sz="2400" dirty="0">
                <a:latin typeface="宋体" panose="02010600030101010101" pitchFamily="2" charset="-122"/>
              </a:rPr>
              <a:t>介入也能自成系统。这意味着</a:t>
            </a:r>
            <a:r>
              <a:rPr lang="en-US" altLang="zh-CN" sz="2400" dirty="0">
                <a:latin typeface="宋体" panose="02010600030101010101" pitchFamily="2" charset="-122"/>
              </a:rPr>
              <a:t>1394</a:t>
            </a:r>
            <a:r>
              <a:rPr lang="zh-CN" altLang="en-US" sz="2400" dirty="0">
                <a:latin typeface="宋体" panose="02010600030101010101" pitchFamily="2" charset="-122"/>
              </a:rPr>
              <a:t>在家电等消费类设备的连接应用方面有很好的前景。</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3"/>
          <p:cNvSpPr>
            <a:spLocks noGrp="1"/>
          </p:cNvSpPr>
          <p:nvPr>
            <p:ph type="sldNum" sz="quarter" idx="12"/>
          </p:nvPr>
        </p:nvSpPr>
        <p:spPr>
          <a:noFill/>
        </p:spPr>
        <p:txBody>
          <a:bodyPr/>
          <a:lstStyle/>
          <a:p>
            <a:fld id="{C2C2FE89-9F99-4ECB-96A9-4F4F495C8CD8}" type="slidenum">
              <a:rPr lang="en-US" altLang="zh-CN" smtClean="0"/>
              <a:t>72</a:t>
            </a:fld>
            <a:endParaRPr lang="en-US" altLang="zh-CN"/>
          </a:p>
        </p:txBody>
      </p:sp>
      <p:sp>
        <p:nvSpPr>
          <p:cNvPr id="90115" name="Rectangle 4"/>
          <p:cNvSpPr>
            <a:spLocks noChangeArrowheads="1"/>
          </p:cNvSpPr>
          <p:nvPr/>
        </p:nvSpPr>
        <p:spPr bwMode="auto">
          <a:xfrm>
            <a:off x="107121" y="1236503"/>
            <a:ext cx="8888104" cy="3876675"/>
          </a:xfrm>
          <a:prstGeom prst="rect">
            <a:avLst/>
          </a:prstGeom>
          <a:noFill/>
          <a:ln w="12700">
            <a:noFill/>
            <a:miter lim="800000"/>
            <a:headEnd type="none" w="sm" len="sm"/>
            <a:tailEnd type="none" w="sm" len="sm"/>
          </a:ln>
        </p:spPr>
        <p:txBody>
          <a:bodyPr wrap="square" anchor="ctr">
            <a:spAutoFit/>
          </a:bodyPr>
          <a:lstStyle/>
          <a:p>
            <a:pPr indent="266700">
              <a:lnSpc>
                <a:spcPct val="150000"/>
              </a:lnSpc>
            </a:pPr>
            <a:r>
              <a:rPr lang="zh-CN" sz="44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练习题</a:t>
            </a:r>
          </a:p>
          <a:p>
            <a:pPr indent="266700">
              <a:lnSpc>
                <a:spcPct val="150000"/>
              </a:lnSpc>
            </a:pPr>
            <a:r>
              <a:rPr lang="en-US" altLang="zh-CN" sz="24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 </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简述计算机系统中，</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CPU</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对外围设备的管理方式。   </a:t>
            </a:r>
          </a:p>
          <a:p>
            <a:pPr indent="266700">
              <a:lnSpc>
                <a:spcPct val="150000"/>
              </a:lnSpc>
            </a:pP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计算机系统中</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CPU</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与外设进行信息交互有几种方式，</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CPU</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的介入程度如何。</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p>
          <a:p>
            <a:pPr indent="266700">
              <a:lnSpc>
                <a:spcPct val="150000"/>
              </a:lnSpc>
            </a:pP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3. </a:t>
            </a:r>
            <a:r>
              <a:rPr lang="zh-CN"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简述何谓中断源，有哪些常见的中断源。</a:t>
            </a:r>
            <a:endPar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indent="266700">
              <a:lnSpc>
                <a:spcPct val="150000"/>
              </a:lnSpc>
            </a:pP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4. </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通道、</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DMA</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、中断三种基本</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I/O</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方式的异同点。</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3"/>
          <p:cNvSpPr>
            <a:spLocks noGrp="1"/>
          </p:cNvSpPr>
          <p:nvPr>
            <p:ph type="sldNum" sz="quarter" idx="12"/>
          </p:nvPr>
        </p:nvSpPr>
        <p:spPr>
          <a:noFill/>
        </p:spPr>
        <p:txBody>
          <a:bodyPr/>
          <a:lstStyle/>
          <a:p>
            <a:fld id="{C2C2FE89-9F99-4ECB-96A9-4F4F495C8CD8}" type="slidenum">
              <a:rPr lang="en-US" altLang="zh-CN" smtClean="0"/>
              <a:t>73</a:t>
            </a:fld>
            <a:endParaRPr lang="en-US" altLang="zh-CN"/>
          </a:p>
        </p:txBody>
      </p:sp>
      <p:sp>
        <p:nvSpPr>
          <p:cNvPr id="90115" name="Rectangle 4"/>
          <p:cNvSpPr>
            <a:spLocks noChangeArrowheads="1"/>
          </p:cNvSpPr>
          <p:nvPr/>
        </p:nvSpPr>
        <p:spPr bwMode="auto">
          <a:xfrm>
            <a:off x="132089" y="814391"/>
            <a:ext cx="8888641" cy="5262245"/>
          </a:xfrm>
          <a:prstGeom prst="rect">
            <a:avLst/>
          </a:prstGeom>
          <a:solidFill>
            <a:srgbClr val="CCFFFF"/>
          </a:solidFill>
          <a:ln w="12700">
            <a:noFill/>
            <a:miter lim="800000"/>
            <a:headEnd type="none" w="sm" len="sm"/>
            <a:tailEnd type="none" w="sm" len="sm"/>
          </a:ln>
        </p:spPr>
        <p:txBody>
          <a:bodyPr wrap="square" anchor="ctr">
            <a:spAutoFit/>
          </a:bodyPr>
          <a:lstStyle/>
          <a:p>
            <a:pPr indent="266700"/>
            <a:r>
              <a:rPr lang="zh-CN" altLang="en-US" sz="1200" dirty="0">
                <a:latin typeface="微软雅黑" panose="020B0503020204020204" pitchFamily="34" charset="-122"/>
                <a:ea typeface="微软雅黑" panose="020B0503020204020204" pitchFamily="34" charset="-122"/>
              </a:rPr>
              <a:t>答案</a:t>
            </a:r>
            <a:endParaRPr lang="en-US" altLang="zh-CN" sz="1200" dirty="0">
              <a:latin typeface="微软雅黑" panose="020B0503020204020204" pitchFamily="34" charset="-122"/>
              <a:ea typeface="微软雅黑" panose="020B0503020204020204" pitchFamily="34" charset="-122"/>
            </a:endParaRPr>
          </a:p>
          <a:p>
            <a:pPr indent="266700"/>
            <a:r>
              <a:rPr lang="en-US" altLang="zh-CN" sz="1200" b="1" dirty="0">
                <a:latin typeface="微软雅黑" panose="020B0503020204020204" pitchFamily="34" charset="-122"/>
                <a:ea typeface="微软雅黑" panose="020B0503020204020204" pitchFamily="34" charset="-122"/>
              </a:rPr>
              <a:t> 1</a:t>
            </a:r>
            <a:r>
              <a:rPr lang="zh-CN" altLang="en-US" sz="1200" b="1" dirty="0">
                <a:latin typeface="微软雅黑" panose="020B0503020204020204" pitchFamily="34" charset="-122"/>
                <a:ea typeface="微软雅黑" panose="020B0503020204020204" pitchFamily="34" charset="-122"/>
              </a:rPr>
              <a:t>．简述计算机系统中，</a:t>
            </a:r>
            <a:r>
              <a:rPr lang="en-US" altLang="zh-CN" sz="1200" b="1" dirty="0">
                <a:latin typeface="微软雅黑" panose="020B0503020204020204" pitchFamily="34" charset="-122"/>
                <a:ea typeface="微软雅黑" panose="020B0503020204020204" pitchFamily="34" charset="-122"/>
              </a:rPr>
              <a:t>CPU</a:t>
            </a:r>
            <a:r>
              <a:rPr lang="zh-CN" altLang="en-US" sz="1200" b="1" dirty="0">
                <a:latin typeface="微软雅黑" panose="020B0503020204020204" pitchFamily="34" charset="-122"/>
                <a:ea typeface="微软雅黑" panose="020B0503020204020204" pitchFamily="34" charset="-122"/>
              </a:rPr>
              <a:t>对外围设备的管理方式。</a:t>
            </a:r>
          </a:p>
          <a:p>
            <a:pPr indent="266700"/>
            <a:r>
              <a:rPr lang="zh-CN" altLang="en-US" sz="1200" dirty="0">
                <a:latin typeface="微软雅黑" panose="020B0503020204020204" pitchFamily="34" charset="-122"/>
                <a:ea typeface="微软雅黑" panose="020B0503020204020204" pitchFamily="34" charset="-122"/>
              </a:rPr>
              <a:t> 在计算机系统中，</a:t>
            </a:r>
            <a:r>
              <a:rPr lang="en-US" altLang="zh-CN" sz="1200" dirty="0">
                <a:latin typeface="微软雅黑" panose="020B0503020204020204" pitchFamily="34" charset="-122"/>
                <a:ea typeface="微软雅黑" panose="020B0503020204020204" pitchFamily="34" charset="-122"/>
              </a:rPr>
              <a:t>CPU</a:t>
            </a:r>
            <a:r>
              <a:rPr lang="zh-CN" altLang="en-US" sz="1200" dirty="0">
                <a:latin typeface="微软雅黑" panose="020B0503020204020204" pitchFamily="34" charset="-122"/>
                <a:ea typeface="微软雅黑" panose="020B0503020204020204" pitchFamily="34" charset="-122"/>
              </a:rPr>
              <a:t>对外围设备的管理有以下五种方式</a:t>
            </a:r>
            <a:r>
              <a:rPr lang="zh-CN" altLang="en-US" sz="12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200"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sz="1200" dirty="0">
                <a:latin typeface="微软雅黑" panose="020B0503020204020204" pitchFamily="34" charset="-122"/>
                <a:ea typeface="微软雅黑" panose="020B0503020204020204" pitchFamily="34" charset="-122"/>
              </a:rPr>
              <a:t>无条件传送方式；</a:t>
            </a: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程序查询方式；</a:t>
            </a:r>
            <a:r>
              <a:rPr lang="en-US" altLang="zh-CN" sz="1200" dirty="0">
                <a:latin typeface="微软雅黑" panose="020B0503020204020204" pitchFamily="34" charset="-122"/>
                <a:ea typeface="微软雅黑" panose="020B0503020204020204" pitchFamily="34" charset="-122"/>
              </a:rPr>
              <a:t>(3)</a:t>
            </a:r>
            <a:r>
              <a:rPr lang="zh-CN" altLang="en-US" sz="1200" dirty="0">
                <a:latin typeface="微软雅黑" panose="020B0503020204020204" pitchFamily="34" charset="-122"/>
                <a:ea typeface="微软雅黑" panose="020B0503020204020204" pitchFamily="34" charset="-122"/>
              </a:rPr>
              <a:t>程序中断方式；</a:t>
            </a:r>
            <a:r>
              <a:rPr lang="en-US" altLang="zh-CN" sz="1200" dirty="0">
                <a:latin typeface="微软雅黑" panose="020B0503020204020204" pitchFamily="34" charset="-122"/>
                <a:ea typeface="微软雅黑" panose="020B0503020204020204" pitchFamily="34" charset="-122"/>
              </a:rPr>
              <a:t>(4)</a:t>
            </a:r>
            <a:r>
              <a:rPr lang="zh-CN" altLang="en-US" sz="1200" dirty="0">
                <a:latin typeface="微软雅黑" panose="020B0503020204020204" pitchFamily="34" charset="-122"/>
                <a:ea typeface="微软雅黑" panose="020B0503020204020204" pitchFamily="34" charset="-122"/>
              </a:rPr>
              <a:t>直接存储器访问</a:t>
            </a:r>
            <a:r>
              <a:rPr lang="en-US" altLang="zh-CN" sz="1200" dirty="0">
                <a:latin typeface="微软雅黑" panose="020B0503020204020204" pitchFamily="34" charset="-122"/>
                <a:ea typeface="微软雅黑" panose="020B0503020204020204" pitchFamily="34" charset="-122"/>
              </a:rPr>
              <a:t>(DMA)</a:t>
            </a:r>
            <a:r>
              <a:rPr lang="zh-CN" altLang="en-US" sz="1200" dirty="0">
                <a:latin typeface="微软雅黑" panose="020B0503020204020204" pitchFamily="34" charset="-122"/>
                <a:ea typeface="微软雅黑" panose="020B0503020204020204" pitchFamily="34" charset="-122"/>
              </a:rPr>
              <a:t>方式；</a:t>
            </a:r>
            <a:r>
              <a:rPr lang="en-US" altLang="zh-CN" sz="1200" dirty="0">
                <a:latin typeface="微软雅黑" panose="020B0503020204020204" pitchFamily="34" charset="-122"/>
                <a:ea typeface="微软雅黑" panose="020B0503020204020204" pitchFamily="34" charset="-122"/>
              </a:rPr>
              <a:t>(5)</a:t>
            </a:r>
            <a:r>
              <a:rPr lang="zh-CN" altLang="en-US" sz="1200" dirty="0">
                <a:latin typeface="微软雅黑" panose="020B0503020204020204" pitchFamily="34" charset="-122"/>
                <a:ea typeface="微软雅黑" panose="020B0503020204020204" pitchFamily="34" charset="-122"/>
              </a:rPr>
              <a:t>通道和输入输出</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方式。</a:t>
            </a:r>
          </a:p>
          <a:p>
            <a:pPr indent="266700"/>
            <a:r>
              <a:rPr lang="en-US" altLang="zh-CN" sz="1200" b="1" dirty="0">
                <a:latin typeface="微软雅黑" panose="020B0503020204020204" pitchFamily="34" charset="-122"/>
                <a:ea typeface="微软雅黑" panose="020B0503020204020204" pitchFamily="34" charset="-122"/>
              </a:rPr>
              <a:t> 2</a:t>
            </a:r>
            <a:r>
              <a:rPr lang="zh-CN" altLang="en-US" sz="1200" b="1" dirty="0">
                <a:latin typeface="微软雅黑" panose="020B0503020204020204" pitchFamily="34" charset="-122"/>
                <a:ea typeface="微软雅黑" panose="020B0503020204020204" pitchFamily="34" charset="-122"/>
              </a:rPr>
              <a:t>．计算机系统中</a:t>
            </a:r>
            <a:r>
              <a:rPr lang="en-US" altLang="zh-CN" sz="1200" b="1" dirty="0">
                <a:latin typeface="微软雅黑" panose="020B0503020204020204" pitchFamily="34" charset="-122"/>
                <a:ea typeface="微软雅黑" panose="020B0503020204020204" pitchFamily="34" charset="-122"/>
              </a:rPr>
              <a:t>CPU</a:t>
            </a:r>
            <a:r>
              <a:rPr lang="zh-CN" altLang="en-US" sz="1200" b="1" dirty="0">
                <a:latin typeface="微软雅黑" panose="020B0503020204020204" pitchFamily="34" charset="-122"/>
                <a:ea typeface="微软雅黑" panose="020B0503020204020204" pitchFamily="34" charset="-122"/>
              </a:rPr>
              <a:t>与外设进行信息交互有几种方式，</a:t>
            </a:r>
            <a:r>
              <a:rPr lang="en-US" altLang="zh-CN" sz="1200" b="1" dirty="0">
                <a:latin typeface="微软雅黑" panose="020B0503020204020204" pitchFamily="34" charset="-122"/>
                <a:ea typeface="微软雅黑" panose="020B0503020204020204" pitchFamily="34" charset="-122"/>
              </a:rPr>
              <a:t>CPU</a:t>
            </a:r>
            <a:r>
              <a:rPr lang="zh-CN" altLang="en-US" sz="1200" b="1" dirty="0">
                <a:latin typeface="微软雅黑" panose="020B0503020204020204" pitchFamily="34" charset="-122"/>
                <a:ea typeface="微软雅黑" panose="020B0503020204020204" pitchFamily="34" charset="-122"/>
              </a:rPr>
              <a:t>的介入程度如何。</a:t>
            </a:r>
          </a:p>
          <a:p>
            <a:pPr indent="266700"/>
            <a:r>
              <a:rPr lang="zh-CN" altLang="en-US" sz="1200" dirty="0">
                <a:latin typeface="微软雅黑" panose="020B0503020204020204" pitchFamily="34" charset="-122"/>
                <a:ea typeface="微软雅黑" panose="020B0503020204020204" pitchFamily="34" charset="-122"/>
              </a:rPr>
              <a:t> 计算机系统中</a:t>
            </a:r>
            <a:r>
              <a:rPr lang="en-US" altLang="zh-CN" sz="1200" dirty="0">
                <a:latin typeface="微软雅黑" panose="020B0503020204020204" pitchFamily="34" charset="-122"/>
                <a:ea typeface="微软雅黑" panose="020B0503020204020204" pitchFamily="34" charset="-122"/>
              </a:rPr>
              <a:t>CPU</a:t>
            </a:r>
            <a:r>
              <a:rPr lang="zh-CN" altLang="en-US" sz="1200" dirty="0">
                <a:latin typeface="微软雅黑" panose="020B0503020204020204" pitchFamily="34" charset="-122"/>
                <a:ea typeface="微软雅黑" panose="020B0503020204020204" pitchFamily="34" charset="-122"/>
              </a:rPr>
              <a:t>与外设进行信息交互有</a:t>
            </a:r>
            <a:r>
              <a:rPr lang="en-US" altLang="zh-CN" sz="1200" dirty="0">
                <a:latin typeface="微软雅黑" panose="020B0503020204020204" pitchFamily="34" charset="-122"/>
                <a:ea typeface="微软雅黑" panose="020B0503020204020204" pitchFamily="34" charset="-122"/>
              </a:rPr>
              <a:t>5</a:t>
            </a:r>
            <a:r>
              <a:rPr lang="zh-CN" altLang="en-US" sz="1200" dirty="0">
                <a:latin typeface="微软雅黑" panose="020B0503020204020204" pitchFamily="34" charset="-122"/>
                <a:ea typeface="微软雅黑" panose="020B0503020204020204" pitchFamily="34" charset="-122"/>
              </a:rPr>
              <a:t>种方式：无条件传送方式、程序查询方式、程序中断方式、直接存储器访问</a:t>
            </a:r>
            <a:r>
              <a:rPr lang="en-US" altLang="zh-CN" sz="1200" dirty="0">
                <a:latin typeface="微软雅黑" panose="020B0503020204020204" pitchFamily="34" charset="-122"/>
                <a:ea typeface="微软雅黑" panose="020B0503020204020204" pitchFamily="34" charset="-122"/>
              </a:rPr>
              <a:t>(DMA)</a:t>
            </a:r>
            <a:r>
              <a:rPr lang="zh-CN" altLang="en-US" sz="1200" dirty="0">
                <a:latin typeface="微软雅黑" panose="020B0503020204020204" pitchFamily="34" charset="-122"/>
                <a:ea typeface="微软雅黑" panose="020B0503020204020204" pitchFamily="34" charset="-122"/>
              </a:rPr>
              <a:t>方式、通道和输入输出</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方式。 </a:t>
            </a:r>
          </a:p>
          <a:p>
            <a:pPr indent="266700"/>
            <a:r>
              <a:rPr lang="zh-CN" altLang="en-US" sz="1200" dirty="0">
                <a:latin typeface="微软雅黑" panose="020B0503020204020204" pitchFamily="34" charset="-122"/>
                <a:ea typeface="微软雅黑" panose="020B0503020204020204" pitchFamily="34" charset="-122"/>
              </a:rPr>
              <a:t>  这些方式中，无条件传送方式和程序查询方式一直需要</a:t>
            </a:r>
            <a:r>
              <a:rPr lang="en-US" altLang="zh-CN" sz="1200" dirty="0">
                <a:latin typeface="微软雅黑" panose="020B0503020204020204" pitchFamily="34" charset="-122"/>
                <a:ea typeface="微软雅黑" panose="020B0503020204020204" pitchFamily="34" charset="-122"/>
              </a:rPr>
              <a:t>CPU</a:t>
            </a:r>
            <a:r>
              <a:rPr lang="zh-CN" altLang="en-US" sz="1200" dirty="0">
                <a:latin typeface="微软雅黑" panose="020B0503020204020204" pitchFamily="34" charset="-122"/>
                <a:ea typeface="微软雅黑" panose="020B0503020204020204" pitchFamily="34" charset="-122"/>
              </a:rPr>
              <a:t>参与，中断方式则需要响应中断，并且每次中断只能传输一个数据，</a:t>
            </a:r>
            <a:r>
              <a:rPr lang="en-US" altLang="zh-CN" sz="1200" dirty="0">
                <a:latin typeface="微软雅黑" panose="020B0503020204020204" pitchFamily="34" charset="-122"/>
                <a:ea typeface="微软雅黑" panose="020B0503020204020204" pitchFamily="34" charset="-122"/>
              </a:rPr>
              <a:t>DMA</a:t>
            </a:r>
            <a:r>
              <a:rPr lang="zh-CN" altLang="en-US" sz="1200" dirty="0">
                <a:latin typeface="微软雅黑" panose="020B0503020204020204" pitchFamily="34" charset="-122"/>
                <a:ea typeface="微软雅黑" panose="020B0503020204020204" pitchFamily="34" charset="-122"/>
              </a:rPr>
              <a:t>方式每中断一次，</a:t>
            </a:r>
            <a:r>
              <a:rPr lang="en-US" altLang="zh-CN" sz="1200" dirty="0">
                <a:latin typeface="微软雅黑" panose="020B0503020204020204" pitchFamily="34" charset="-122"/>
                <a:ea typeface="微软雅黑" panose="020B0503020204020204" pitchFamily="34" charset="-122"/>
              </a:rPr>
              <a:t>CPU</a:t>
            </a:r>
            <a:r>
              <a:rPr lang="zh-CN" altLang="en-US" sz="1200" dirty="0">
                <a:latin typeface="微软雅黑" panose="020B0503020204020204" pitchFamily="34" charset="-122"/>
                <a:ea typeface="微软雅黑" panose="020B0503020204020204" pitchFamily="34" charset="-122"/>
              </a:rPr>
              <a:t>可以传输成组的数据，而通道方式下</a:t>
            </a:r>
            <a:r>
              <a:rPr lang="en-US" altLang="zh-CN" sz="1200" dirty="0">
                <a:latin typeface="微软雅黑" panose="020B0503020204020204" pitchFamily="34" charset="-122"/>
                <a:ea typeface="微软雅黑" panose="020B0503020204020204" pitchFamily="34" charset="-122"/>
              </a:rPr>
              <a:t>IOP</a:t>
            </a:r>
            <a:r>
              <a:rPr lang="zh-CN" altLang="en-US" sz="1200" dirty="0">
                <a:latin typeface="微软雅黑" panose="020B0503020204020204" pitchFamily="34" charset="-122"/>
                <a:ea typeface="微软雅黑" panose="020B0503020204020204" pitchFamily="34" charset="-122"/>
              </a:rPr>
              <a:t>可以实现对外设的统一管理和外设与内存之间的数据传输，无须</a:t>
            </a:r>
            <a:r>
              <a:rPr lang="en-US" altLang="zh-CN" sz="1200" dirty="0">
                <a:latin typeface="微软雅黑" panose="020B0503020204020204" pitchFamily="34" charset="-122"/>
                <a:ea typeface="微软雅黑" panose="020B0503020204020204" pitchFamily="34" charset="-122"/>
              </a:rPr>
              <a:t>CPU</a:t>
            </a:r>
            <a:r>
              <a:rPr lang="zh-CN" altLang="en-US" sz="1200" dirty="0">
                <a:latin typeface="微软雅黑" panose="020B0503020204020204" pitchFamily="34" charset="-122"/>
                <a:ea typeface="微软雅黑" panose="020B0503020204020204" pitchFamily="34" charset="-122"/>
              </a:rPr>
              <a:t>干预。</a:t>
            </a:r>
            <a:endParaRPr lang="en-US" altLang="zh-CN" sz="1200" dirty="0">
              <a:latin typeface="微软雅黑" panose="020B0503020204020204" pitchFamily="34" charset="-122"/>
              <a:ea typeface="微软雅黑" panose="020B0503020204020204" pitchFamily="34" charset="-122"/>
            </a:endParaRPr>
          </a:p>
          <a:p>
            <a:r>
              <a:rPr lang="en-US" altLang="zh-CN" sz="1200" b="1" dirty="0">
                <a:latin typeface="微软雅黑" panose="020B0503020204020204" pitchFamily="34" charset="-122"/>
                <a:ea typeface="微软雅黑" panose="020B0503020204020204" pitchFamily="34" charset="-122"/>
              </a:rPr>
              <a:t>      3.  </a:t>
            </a:r>
            <a:r>
              <a:rPr lang="zh-CN" altLang="zh-CN" sz="1200" b="1" dirty="0">
                <a:latin typeface="微软雅黑" panose="020B0503020204020204" pitchFamily="34" charset="-122"/>
                <a:ea typeface="微软雅黑" panose="020B0503020204020204" pitchFamily="34" charset="-122"/>
              </a:rPr>
              <a:t>何谓中断源，有哪些常见的中断源。</a:t>
            </a:r>
            <a:endParaRPr lang="en-US" altLang="zh-CN" sz="1200" b="1"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中断源：能够向</a:t>
            </a:r>
            <a:r>
              <a:rPr lang="en-US" altLang="zh-CN" sz="1200" dirty="0">
                <a:latin typeface="微软雅黑" panose="020B0503020204020204" pitchFamily="34" charset="-122"/>
                <a:ea typeface="微软雅黑" panose="020B0503020204020204" pitchFamily="34" charset="-122"/>
              </a:rPr>
              <a:t>CPU</a:t>
            </a:r>
            <a:r>
              <a:rPr lang="zh-CN" altLang="zh-CN" sz="1200" dirty="0">
                <a:latin typeface="微软雅黑" panose="020B0503020204020204" pitchFamily="34" charset="-122"/>
                <a:ea typeface="微软雅黑" panose="020B0503020204020204" pitchFamily="34" charset="-122"/>
              </a:rPr>
              <a:t>发出中断请求的事件。</a:t>
            </a:r>
          </a:p>
          <a:p>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常见中断源有：</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1</a:t>
            </a:r>
            <a:r>
              <a:rPr lang="zh-CN" altLang="zh-CN" sz="1200" dirty="0">
                <a:latin typeface="微软雅黑" panose="020B0503020204020204" pitchFamily="34" charset="-122"/>
                <a:ea typeface="微软雅黑" panose="020B0503020204020204" pitchFamily="34" charset="-122"/>
              </a:rPr>
              <a:t>）输入、输出设备中断。如键盘、打印机等工作过程中已做好接收或发送准备。</a:t>
            </a:r>
          </a:p>
          <a:p>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2</a:t>
            </a:r>
            <a:r>
              <a:rPr lang="zh-CN" altLang="zh-CN" sz="1200" dirty="0">
                <a:latin typeface="微软雅黑" panose="020B0503020204020204" pitchFamily="34" charset="-122"/>
                <a:ea typeface="微软雅黑" panose="020B0503020204020204" pitchFamily="34" charset="-122"/>
              </a:rPr>
              <a:t>）数据通道中断。如磁盘、磁带等要同主机进行数据交换等。</a:t>
            </a:r>
          </a:p>
          <a:p>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3</a:t>
            </a:r>
            <a:r>
              <a:rPr lang="zh-CN" altLang="zh-CN" sz="1200" dirty="0">
                <a:latin typeface="微软雅黑" panose="020B0503020204020204" pitchFamily="34" charset="-122"/>
                <a:ea typeface="微软雅黑" panose="020B0503020204020204" pitchFamily="34" charset="-122"/>
              </a:rPr>
              <a:t>）实时时钟中断。</a:t>
            </a:r>
          </a:p>
          <a:p>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4</a:t>
            </a:r>
            <a:r>
              <a:rPr lang="zh-CN" altLang="zh-CN" sz="1200" dirty="0">
                <a:latin typeface="微软雅黑" panose="020B0503020204020204" pitchFamily="34" charset="-122"/>
                <a:ea typeface="微软雅黑" panose="020B0503020204020204" pitchFamily="34" charset="-122"/>
              </a:rPr>
              <a:t>）故障中断。例如电源掉电、设备故障等要求</a:t>
            </a:r>
            <a:r>
              <a:rPr lang="en-US" altLang="zh-CN" sz="1200" dirty="0">
                <a:latin typeface="微软雅黑" panose="020B0503020204020204" pitchFamily="34" charset="-122"/>
                <a:ea typeface="微软雅黑" panose="020B0503020204020204" pitchFamily="34" charset="-122"/>
              </a:rPr>
              <a:t>CPU</a:t>
            </a:r>
            <a:r>
              <a:rPr lang="zh-CN" altLang="zh-CN" sz="1200" dirty="0">
                <a:latin typeface="微软雅黑" panose="020B0503020204020204" pitchFamily="34" charset="-122"/>
                <a:ea typeface="微软雅黑" panose="020B0503020204020204" pitchFamily="34" charset="-122"/>
              </a:rPr>
              <a:t>进行紧急处理等。</a:t>
            </a:r>
          </a:p>
          <a:p>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5</a:t>
            </a:r>
            <a:r>
              <a:rPr lang="zh-CN" altLang="zh-CN" sz="1200" dirty="0">
                <a:latin typeface="微软雅黑" panose="020B0503020204020204" pitchFamily="34" charset="-122"/>
                <a:ea typeface="微软雅黑" panose="020B0503020204020204" pitchFamily="34" charset="-122"/>
              </a:rPr>
              <a:t>）系统中断。如运算过程出现溢出、数据格式非法，数据传送过程出现校验错，控制器遇到非法指令等等。</a:t>
            </a:r>
          </a:p>
          <a:p>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6</a:t>
            </a:r>
            <a:r>
              <a:rPr lang="zh-CN" altLang="zh-CN" sz="1200" dirty="0">
                <a:latin typeface="微软雅黑" panose="020B0503020204020204" pitchFamily="34" charset="-122"/>
                <a:ea typeface="微软雅黑" panose="020B0503020204020204" pitchFamily="34" charset="-122"/>
              </a:rPr>
              <a:t>）为了调试程序而设置的中断。</a:t>
            </a:r>
          </a:p>
          <a:p>
            <a:r>
              <a:rPr lang="en-US" altLang="zh-CN" sz="1200" b="1" dirty="0">
                <a:latin typeface="微软雅黑" panose="020B0503020204020204" pitchFamily="34" charset="-122"/>
                <a:ea typeface="微软雅黑" panose="020B0503020204020204" pitchFamily="34" charset="-122"/>
              </a:rPr>
              <a:t>      4</a:t>
            </a:r>
            <a:r>
              <a:rPr lang="en-US" altLang="zh-CN" sz="1200" b="1">
                <a:latin typeface="微软雅黑" panose="020B0503020204020204" pitchFamily="34" charset="-122"/>
                <a:ea typeface="微软雅黑" panose="020B0503020204020204" pitchFamily="34" charset="-122"/>
              </a:rPr>
              <a:t>.  </a:t>
            </a:r>
            <a:r>
              <a:rPr lang="zh-CN" altLang="en-US" sz="1200" b="1">
                <a:latin typeface="微软雅黑" panose="020B0503020204020204" pitchFamily="34" charset="-122"/>
                <a:ea typeface="微软雅黑" panose="020B0503020204020204" pitchFamily="34" charset="-122"/>
              </a:rPr>
              <a:t>通道</a:t>
            </a:r>
            <a:r>
              <a:rPr lang="zh-CN" altLang="en-US" sz="1200" b="1" dirty="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DMA</a:t>
            </a:r>
            <a:r>
              <a:rPr lang="zh-CN" altLang="en-US" sz="1200" b="1" dirty="0">
                <a:latin typeface="微软雅黑" panose="020B0503020204020204" pitchFamily="34" charset="-122"/>
                <a:ea typeface="微软雅黑" panose="020B0503020204020204" pitchFamily="34" charset="-122"/>
              </a:rPr>
              <a:t>、中断三种基本</a:t>
            </a:r>
            <a:r>
              <a:rPr lang="en-US" altLang="zh-CN" sz="1200" b="1" dirty="0">
                <a:latin typeface="微软雅黑" panose="020B0503020204020204" pitchFamily="34" charset="-122"/>
                <a:ea typeface="微软雅黑" panose="020B0503020204020204" pitchFamily="34" charset="-122"/>
              </a:rPr>
              <a:t>I/O</a:t>
            </a:r>
            <a:r>
              <a:rPr lang="zh-CN" altLang="en-US" sz="1200" b="1" dirty="0">
                <a:latin typeface="微软雅黑" panose="020B0503020204020204" pitchFamily="34" charset="-122"/>
                <a:ea typeface="微软雅黑" panose="020B0503020204020204" pitchFamily="34" charset="-122"/>
              </a:rPr>
              <a:t>方式的异同点。</a:t>
            </a:r>
          </a:p>
          <a:p>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）通道方式：</a:t>
            </a:r>
            <a:r>
              <a:rPr lang="zh-CN" altLang="en-US" sz="1200" dirty="0">
                <a:latin typeface="微软雅黑" panose="020B0503020204020204" pitchFamily="34" charset="-122"/>
                <a:ea typeface="微软雅黑" panose="020B0503020204020204" pitchFamily="34" charset="-122"/>
                <a:sym typeface="+mn-ea"/>
              </a:rPr>
              <a:t>通道是一个特殊功能的处理器，有自己的指令和程序专门负责数据输入输出的传输控制。</a:t>
            </a:r>
            <a:r>
              <a:rPr lang="zh-CN" altLang="en-US" sz="1200" dirty="0">
                <a:latin typeface="微软雅黑" panose="020B0503020204020204" pitchFamily="34" charset="-122"/>
                <a:ea typeface="微软雅黑" panose="020B0503020204020204" pitchFamily="34" charset="-122"/>
              </a:rPr>
              <a:t>可以实现对外设的统一管理和外设与内存之间的数据传送，大大提高了</a:t>
            </a:r>
            <a:r>
              <a:rPr lang="en-US" altLang="zh-CN" sz="1200" dirty="0">
                <a:latin typeface="微软雅黑" panose="020B0503020204020204" pitchFamily="34" charset="-122"/>
                <a:ea typeface="微软雅黑" panose="020B0503020204020204" pitchFamily="34" charset="-122"/>
              </a:rPr>
              <a:t>CPU</a:t>
            </a:r>
            <a:r>
              <a:rPr lang="zh-CN" altLang="en-US" sz="1200" dirty="0">
                <a:latin typeface="微软雅黑" panose="020B0503020204020204" pitchFamily="34" charset="-122"/>
                <a:ea typeface="微软雅黑" panose="020B0503020204020204" pitchFamily="34" charset="-122"/>
              </a:rPr>
              <a:t>的工作效率。</a:t>
            </a:r>
          </a:p>
          <a:p>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DMA</a:t>
            </a:r>
            <a:r>
              <a:rPr lang="zh-CN" altLang="en-US" sz="1200" dirty="0">
                <a:latin typeface="微软雅黑" panose="020B0503020204020204" pitchFamily="34" charset="-122"/>
                <a:ea typeface="微软雅黑" panose="020B0503020204020204" pitchFamily="34" charset="-122"/>
              </a:rPr>
              <a:t>方式：</a:t>
            </a:r>
            <a:r>
              <a:rPr lang="zh-CN" altLang="en-US" sz="1200" dirty="0">
                <a:latin typeface="微软雅黑" panose="020B0503020204020204" pitchFamily="34" charset="-122"/>
                <a:ea typeface="微软雅黑" panose="020B0503020204020204" pitchFamily="34" charset="-122"/>
                <a:sym typeface="+mn-ea"/>
              </a:rPr>
              <a:t>直接内存访问</a:t>
            </a:r>
            <a:r>
              <a:rPr lang="en-US" altLang="zh-CN" sz="1200" dirty="0">
                <a:latin typeface="微软雅黑" panose="020B0503020204020204" pitchFamily="34" charset="-122"/>
                <a:ea typeface="微软雅黑" panose="020B0503020204020204" pitchFamily="34" charset="-122"/>
                <a:sym typeface="+mn-ea"/>
              </a:rPr>
              <a:t>(DMA)</a:t>
            </a:r>
            <a:r>
              <a:rPr lang="zh-CN" altLang="en-US" sz="1200" dirty="0">
                <a:latin typeface="微软雅黑" panose="020B0503020204020204" pitchFamily="34" charset="-122"/>
                <a:ea typeface="微软雅黑" panose="020B0503020204020204" pitchFamily="34" charset="-122"/>
                <a:sym typeface="+mn-ea"/>
              </a:rPr>
              <a:t>是一种完全由硬件执行</a:t>
            </a:r>
            <a:r>
              <a:rPr lang="en-US" altLang="zh-CN" sz="1200" dirty="0">
                <a:latin typeface="微软雅黑" panose="020B0503020204020204" pitchFamily="34" charset="-122"/>
                <a:ea typeface="微软雅黑" panose="020B0503020204020204" pitchFamily="34" charset="-122"/>
                <a:sym typeface="+mn-ea"/>
              </a:rPr>
              <a:t>I/O</a:t>
            </a:r>
            <a:r>
              <a:rPr lang="zh-CN" altLang="en-US" sz="1200" dirty="0">
                <a:latin typeface="微软雅黑" panose="020B0503020204020204" pitchFamily="34" charset="-122"/>
                <a:ea typeface="微软雅黑" panose="020B0503020204020204" pitchFamily="34" charset="-122"/>
                <a:sym typeface="+mn-ea"/>
              </a:rPr>
              <a:t>交换的工作方式。在这种方式中，</a:t>
            </a:r>
            <a:r>
              <a:rPr lang="en-US" altLang="zh-CN" sz="1200" dirty="0">
                <a:latin typeface="微软雅黑" panose="020B0503020204020204" pitchFamily="34" charset="-122"/>
                <a:ea typeface="微软雅黑" panose="020B0503020204020204" pitchFamily="34" charset="-122"/>
                <a:sym typeface="+mn-ea"/>
              </a:rPr>
              <a:t>DMA</a:t>
            </a:r>
            <a:r>
              <a:rPr lang="zh-CN" altLang="en-US" sz="1200" dirty="0">
                <a:latin typeface="微软雅黑" panose="020B0503020204020204" pitchFamily="34" charset="-122"/>
                <a:ea typeface="微软雅黑" panose="020B0503020204020204" pitchFamily="34" charset="-122"/>
                <a:sym typeface="+mn-ea"/>
              </a:rPr>
              <a:t>控制器从</a:t>
            </a:r>
            <a:r>
              <a:rPr lang="en-US" altLang="zh-CN" sz="1200" dirty="0">
                <a:latin typeface="微软雅黑" panose="020B0503020204020204" pitchFamily="34" charset="-122"/>
                <a:ea typeface="微软雅黑" panose="020B0503020204020204" pitchFamily="34" charset="-122"/>
                <a:sym typeface="+mn-ea"/>
              </a:rPr>
              <a:t>CPU</a:t>
            </a:r>
            <a:r>
              <a:rPr lang="zh-CN" altLang="en-US" sz="1200" dirty="0">
                <a:latin typeface="微软雅黑" panose="020B0503020204020204" pitchFamily="34" charset="-122"/>
                <a:ea typeface="微软雅黑" panose="020B0503020204020204" pitchFamily="34" charset="-122"/>
                <a:sym typeface="+mn-ea"/>
              </a:rPr>
              <a:t>完全接管对总线的控制，数据交换不经过</a:t>
            </a:r>
            <a:r>
              <a:rPr lang="en-US" altLang="zh-CN" sz="1200" dirty="0">
                <a:latin typeface="微软雅黑" panose="020B0503020204020204" pitchFamily="34" charset="-122"/>
                <a:ea typeface="微软雅黑" panose="020B0503020204020204" pitchFamily="34" charset="-122"/>
                <a:sym typeface="+mn-ea"/>
              </a:rPr>
              <a:t>CPU</a:t>
            </a:r>
            <a:r>
              <a:rPr lang="zh-CN" altLang="en-US" sz="1200" dirty="0">
                <a:latin typeface="微软雅黑" panose="020B0503020204020204" pitchFamily="34" charset="-122"/>
                <a:ea typeface="微软雅黑" panose="020B0503020204020204" pitchFamily="34" charset="-122"/>
                <a:sym typeface="+mn-ea"/>
              </a:rPr>
              <a:t>，而直接在内存和</a:t>
            </a:r>
            <a:r>
              <a:rPr lang="en-US" altLang="zh-CN" sz="1200" dirty="0">
                <a:latin typeface="微软雅黑" panose="020B0503020204020204" pitchFamily="34" charset="-122"/>
                <a:ea typeface="微软雅黑" panose="020B0503020204020204" pitchFamily="34" charset="-122"/>
                <a:sym typeface="+mn-ea"/>
              </a:rPr>
              <a:t>I/O</a:t>
            </a:r>
            <a:r>
              <a:rPr lang="zh-CN" altLang="en-US" sz="1200" dirty="0">
                <a:latin typeface="微软雅黑" panose="020B0503020204020204" pitchFamily="34" charset="-122"/>
                <a:ea typeface="微软雅黑" panose="020B0503020204020204" pitchFamily="34" charset="-122"/>
                <a:sym typeface="+mn-ea"/>
              </a:rPr>
              <a:t>设备之间进行。</a:t>
            </a:r>
            <a:r>
              <a:rPr lang="zh-CN" altLang="en-US" sz="1200" dirty="0">
                <a:latin typeface="微软雅黑" panose="020B0503020204020204" pitchFamily="34" charset="-122"/>
                <a:ea typeface="微软雅黑" panose="020B0503020204020204" pitchFamily="34" charset="-122"/>
              </a:rPr>
              <a:t>数据传送速度很高，传送速率仅受到内存访问时间的限制。需要更多硬件，适用于内存和高速外设之间大批数据交换的场合。</a:t>
            </a:r>
          </a:p>
          <a:p>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3</a:t>
            </a:r>
            <a:r>
              <a:rPr lang="zh-CN" altLang="en-US" sz="1200" dirty="0">
                <a:latin typeface="微软雅黑" panose="020B0503020204020204" pitchFamily="34" charset="-122"/>
                <a:ea typeface="微软雅黑" panose="020B0503020204020204" pitchFamily="34" charset="-122"/>
              </a:rPr>
              <a:t>）中断方式：</a:t>
            </a:r>
            <a:r>
              <a:rPr lang="zh-CN" altLang="en-US" sz="1200">
                <a:latin typeface="宋体" panose="02010600030101010101" pitchFamily="2" charset="-122"/>
                <a:sym typeface="+mn-ea"/>
              </a:rPr>
              <a:t>当某一外设的数据准备就绪后，它“主动”向</a:t>
            </a:r>
            <a:r>
              <a:rPr lang="en-US" altLang="zh-CN" sz="1200">
                <a:latin typeface="宋体" panose="02010600030101010101" pitchFamily="2" charset="-122"/>
                <a:sym typeface="+mn-ea"/>
              </a:rPr>
              <a:t>CPU</a:t>
            </a:r>
            <a:r>
              <a:rPr lang="zh-CN" altLang="en-US" sz="1200">
                <a:latin typeface="宋体" panose="02010600030101010101" pitchFamily="2" charset="-122"/>
                <a:sym typeface="+mn-ea"/>
              </a:rPr>
              <a:t>发出请求信号。</a:t>
            </a:r>
            <a:r>
              <a:rPr lang="en-US" altLang="zh-CN" sz="1200">
                <a:latin typeface="宋体" panose="02010600030101010101" pitchFamily="2" charset="-122"/>
                <a:sym typeface="+mn-ea"/>
              </a:rPr>
              <a:t>CPU</a:t>
            </a:r>
            <a:r>
              <a:rPr lang="zh-CN" altLang="en-US" sz="1200">
                <a:latin typeface="宋体" panose="02010600030101010101" pitchFamily="2" charset="-122"/>
                <a:sym typeface="+mn-ea"/>
              </a:rPr>
              <a:t>响应中断请求后，暂停运行主程序，自动转移到该设备的中断服务子程序，为该设备进行服务，结束时返回主程序。</a:t>
            </a:r>
            <a:r>
              <a:rPr lang="zh-CN" altLang="en-US" sz="1200" dirty="0">
                <a:latin typeface="微软雅黑" panose="020B0503020204020204" pitchFamily="34" charset="-122"/>
                <a:ea typeface="微软雅黑" panose="020B0503020204020204" pitchFamily="34" charset="-122"/>
              </a:rPr>
              <a:t>一般适用于随机出现的服务，且一旦提出要求应立即进行，节省了</a:t>
            </a:r>
            <a:r>
              <a:rPr lang="en-US" altLang="zh-CN" sz="1200" dirty="0">
                <a:latin typeface="微软雅黑" panose="020B0503020204020204" pitchFamily="34" charset="-122"/>
                <a:ea typeface="微软雅黑" panose="020B0503020204020204" pitchFamily="34" charset="-122"/>
              </a:rPr>
              <a:t>CPU</a:t>
            </a:r>
            <a:r>
              <a:rPr lang="zh-CN" altLang="en-US" sz="1200" dirty="0">
                <a:latin typeface="微软雅黑" panose="020B0503020204020204" pitchFamily="34" charset="-122"/>
                <a:ea typeface="微软雅黑" panose="020B0503020204020204" pitchFamily="34" charset="-122"/>
              </a:rPr>
              <a:t>的时间开销，但硬件结构稍复杂一些。</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12"/>
          </p:nvPr>
        </p:nvSpPr>
        <p:spPr>
          <a:noFill/>
        </p:spPr>
        <p:txBody>
          <a:bodyPr/>
          <a:lstStyle/>
          <a:p>
            <a:fld id="{439162D5-D448-4475-928F-CCACEFACABE2}" type="slidenum">
              <a:rPr lang="en-US" altLang="zh-CN" smtClean="0"/>
              <a:t>74</a:t>
            </a:fld>
            <a:endParaRPr lang="en-US" altLang="zh-CN"/>
          </a:p>
        </p:txBody>
      </p:sp>
      <p:sp>
        <p:nvSpPr>
          <p:cNvPr id="82947" name="Rectangle 3"/>
          <p:cNvSpPr>
            <a:spLocks noGrp="1" noChangeArrowheads="1"/>
          </p:cNvSpPr>
          <p:nvPr>
            <p:ph type="body" idx="1"/>
          </p:nvPr>
        </p:nvSpPr>
        <p:spPr>
          <a:xfrm>
            <a:off x="179388" y="1169670"/>
            <a:ext cx="8785225" cy="5688013"/>
          </a:xfrm>
          <a:solidFill>
            <a:schemeClr val="bg1"/>
          </a:solidFill>
        </p:spPr>
        <p:txBody>
          <a:bodyPr/>
          <a:lstStyle/>
          <a:p>
            <a:pPr eaLnBrk="1" hangingPunct="1">
              <a:lnSpc>
                <a:spcPct val="80000"/>
              </a:lnSpc>
            </a:pPr>
            <a:r>
              <a:rPr lang="en-US" altLang="zh-CN" sz="2800" b="1">
                <a:latin typeface="宋体" panose="02010600030101010101" pitchFamily="2" charset="-122"/>
              </a:rPr>
              <a:t>CPU</a:t>
            </a:r>
            <a:r>
              <a:rPr lang="zh-CN" altLang="en-US" sz="2800" b="1">
                <a:latin typeface="宋体" panose="02010600030101010101" pitchFamily="2" charset="-122"/>
              </a:rPr>
              <a:t>与外围设备的</a:t>
            </a:r>
            <a:r>
              <a:rPr lang="zh-CN" sz="2800" b="1">
                <a:latin typeface="宋体" panose="02010600030101010101" pitchFamily="2" charset="-122"/>
              </a:rPr>
              <a:t>信息交互方式：</a:t>
            </a:r>
            <a:r>
              <a:rPr lang="zh-CN" sz="2800">
                <a:latin typeface="宋体" panose="02010600030101010101" pitchFamily="2" charset="-122"/>
              </a:rPr>
              <a:t>各种交互方式的特点及</a:t>
            </a:r>
            <a:r>
              <a:rPr lang="en-US" altLang="zh-CN" sz="2800">
                <a:latin typeface="宋体" panose="02010600030101010101" pitchFamily="2" charset="-122"/>
              </a:rPr>
              <a:t>CPU</a:t>
            </a:r>
            <a:r>
              <a:rPr lang="zh-CN" altLang="en-US" sz="2800">
                <a:latin typeface="宋体" panose="02010600030101010101" pitchFamily="2" charset="-122"/>
              </a:rPr>
              <a:t>介入的程度。</a:t>
            </a:r>
          </a:p>
          <a:p>
            <a:pPr eaLnBrk="1" hangingPunct="1">
              <a:lnSpc>
                <a:spcPct val="80000"/>
              </a:lnSpc>
            </a:pPr>
            <a:r>
              <a:rPr lang="zh-CN" altLang="en-US" sz="2800" b="1">
                <a:latin typeface="宋体" panose="02010600030101010101" pitchFamily="2" charset="-122"/>
              </a:rPr>
              <a:t>程序查询方式：</a:t>
            </a:r>
            <a:r>
              <a:rPr lang="zh-CN" altLang="en-US" sz="2800">
                <a:latin typeface="宋体" panose="02010600030101010101" pitchFamily="2" charset="-122"/>
              </a:rPr>
              <a:t>基本概念、接口、输入</a:t>
            </a:r>
            <a:r>
              <a:rPr lang="en-US" altLang="zh-CN" sz="2800">
                <a:latin typeface="宋体" panose="02010600030101010101" pitchFamily="2" charset="-122"/>
              </a:rPr>
              <a:t>/</a:t>
            </a:r>
            <a:r>
              <a:rPr lang="zh-CN" altLang="en-US" sz="2800">
                <a:latin typeface="宋体" panose="02010600030101010101" pitchFamily="2" charset="-122"/>
              </a:rPr>
              <a:t>输出方式。</a:t>
            </a:r>
          </a:p>
          <a:p>
            <a:pPr eaLnBrk="1" hangingPunct="1">
              <a:lnSpc>
                <a:spcPct val="80000"/>
              </a:lnSpc>
            </a:pPr>
            <a:r>
              <a:rPr lang="zh-CN" altLang="en-US" sz="2800" b="1">
                <a:latin typeface="宋体" panose="02010600030101010101" pitchFamily="2" charset="-122"/>
              </a:rPr>
              <a:t>程序中断方式：</a:t>
            </a:r>
            <a:r>
              <a:rPr lang="zh-CN" altLang="en-US" sz="2800">
                <a:latin typeface="宋体" panose="02010600030101010101" pitchFamily="2" charset="-122"/>
              </a:rPr>
              <a:t>中断的基本概念、中断服务程序入口地址的获取、中断方式的基本</a:t>
            </a:r>
            <a:r>
              <a:rPr lang="en-US" altLang="zh-CN" sz="2800">
                <a:latin typeface="宋体" panose="02010600030101010101" pitchFamily="2" charset="-122"/>
              </a:rPr>
              <a:t>I/O</a:t>
            </a:r>
            <a:r>
              <a:rPr lang="zh-CN" altLang="en-US" sz="2800">
                <a:latin typeface="宋体" panose="02010600030101010101" pitchFamily="2" charset="-122"/>
              </a:rPr>
              <a:t>接口、单级中断与多级中断、</a:t>
            </a:r>
            <a:r>
              <a:rPr lang="zh-CN" altLang="en-US" sz="2800">
                <a:latin typeface="宋体" panose="02010600030101010101" pitchFamily="2" charset="-122"/>
                <a:sym typeface="+mn-ea"/>
              </a:rPr>
              <a:t>各级中断处理程序中各</a:t>
            </a:r>
            <a:r>
              <a:rPr lang="zh-CN" altLang="en-US" sz="2800">
                <a:latin typeface="宋体" panose="02010600030101010101" pitchFamily="2" charset="-122"/>
              </a:rPr>
              <a:t>中断级屏蔽值的设置、中断处理程序执行顺序的示意图。 </a:t>
            </a:r>
          </a:p>
          <a:p>
            <a:pPr eaLnBrk="1" hangingPunct="1">
              <a:lnSpc>
                <a:spcPct val="80000"/>
              </a:lnSpc>
            </a:pPr>
            <a:r>
              <a:rPr lang="en-US" altLang="zh-CN" sz="2800" b="1">
                <a:latin typeface="宋体" panose="02010600030101010101" pitchFamily="2" charset="-122"/>
              </a:rPr>
              <a:t>DMA</a:t>
            </a:r>
            <a:r>
              <a:rPr lang="zh-CN" altLang="en-US" sz="2800" b="1">
                <a:latin typeface="宋体" panose="02010600030101010101" pitchFamily="2" charset="-122"/>
              </a:rPr>
              <a:t>方式：</a:t>
            </a:r>
            <a:r>
              <a:rPr lang="en-US" altLang="zh-CN" sz="2800">
                <a:latin typeface="宋体" panose="02010600030101010101" pitchFamily="2" charset="-122"/>
              </a:rPr>
              <a:t>DMA</a:t>
            </a:r>
            <a:r>
              <a:rPr lang="zh-CN" altLang="en-US" sz="2800">
                <a:latin typeface="宋体" panose="02010600030101010101" pitchFamily="2" charset="-122"/>
              </a:rPr>
              <a:t>的基本概念、传送方式、基本的</a:t>
            </a:r>
            <a:r>
              <a:rPr lang="en-US" altLang="zh-CN" sz="2800">
                <a:latin typeface="宋体" panose="02010600030101010101" pitchFamily="2" charset="-122"/>
              </a:rPr>
              <a:t>DMA</a:t>
            </a:r>
            <a:r>
              <a:rPr lang="zh-CN" altLang="en-US" sz="2800">
                <a:latin typeface="宋体" panose="02010600030101010101" pitchFamily="2" charset="-122"/>
              </a:rPr>
              <a:t>控制器、选择型和多路型</a:t>
            </a:r>
            <a:r>
              <a:rPr lang="en-US" altLang="zh-CN" sz="2800">
                <a:latin typeface="宋体" panose="02010600030101010101" pitchFamily="2" charset="-122"/>
              </a:rPr>
              <a:t>DMA</a:t>
            </a:r>
            <a:r>
              <a:rPr lang="zh-CN" altLang="en-US" sz="2800">
                <a:latin typeface="宋体" panose="02010600030101010101" pitchFamily="2" charset="-122"/>
              </a:rPr>
              <a:t>控制器。</a:t>
            </a:r>
          </a:p>
          <a:p>
            <a:pPr eaLnBrk="1" hangingPunct="1">
              <a:lnSpc>
                <a:spcPct val="80000"/>
              </a:lnSpc>
            </a:pPr>
            <a:r>
              <a:rPr lang="zh-CN" altLang="en-US" sz="2800" b="1">
                <a:latin typeface="宋体" panose="02010600030101010101" pitchFamily="2" charset="-122"/>
                <a:sym typeface="+mn-ea"/>
              </a:rPr>
              <a:t>通道方式：</a:t>
            </a:r>
            <a:r>
              <a:rPr lang="zh-CN" altLang="en-US" sz="2800">
                <a:latin typeface="宋体" panose="02010600030101010101" pitchFamily="2" charset="-122"/>
                <a:sym typeface="+mn-ea"/>
              </a:rPr>
              <a:t>通道的功能、类型、通道结构的发展。</a:t>
            </a:r>
          </a:p>
          <a:p>
            <a:pPr eaLnBrk="1" hangingPunct="1">
              <a:lnSpc>
                <a:spcPct val="80000"/>
              </a:lnSpc>
            </a:pPr>
            <a:r>
              <a:rPr lang="zh-CN" altLang="en-US" sz="2800" b="1">
                <a:latin typeface="宋体" panose="02010600030101010101" pitchFamily="2" charset="-122"/>
                <a:sym typeface="+mn-ea"/>
              </a:rPr>
              <a:t>通用</a:t>
            </a:r>
            <a:r>
              <a:rPr lang="en-US" altLang="zh-CN" sz="2800" b="1">
                <a:latin typeface="宋体" panose="02010600030101010101" pitchFamily="2" charset="-122"/>
                <a:sym typeface="+mn-ea"/>
              </a:rPr>
              <a:t>I/O</a:t>
            </a:r>
            <a:r>
              <a:rPr lang="zh-CN" altLang="en-US" sz="2800" b="1">
                <a:latin typeface="宋体" panose="02010600030101010101" pitchFamily="2" charset="-122"/>
                <a:sym typeface="+mn-ea"/>
              </a:rPr>
              <a:t>标准接口：</a:t>
            </a:r>
            <a:r>
              <a:rPr lang="zh-CN" altLang="en-US" sz="2800">
                <a:latin typeface="宋体" panose="02010600030101010101" pitchFamily="2" charset="-122"/>
                <a:sym typeface="+mn-ea"/>
              </a:rPr>
              <a:t>并行</a:t>
            </a:r>
            <a:r>
              <a:rPr lang="en-US" altLang="zh-CN" sz="2800">
                <a:latin typeface="宋体" panose="02010600030101010101" pitchFamily="2" charset="-122"/>
                <a:sym typeface="+mn-ea"/>
              </a:rPr>
              <a:t>I/O</a:t>
            </a:r>
            <a:r>
              <a:rPr lang="zh-CN" altLang="en-US" sz="2800">
                <a:latin typeface="宋体" panose="02010600030101010101" pitchFamily="2" charset="-122"/>
                <a:sym typeface="+mn-ea"/>
              </a:rPr>
              <a:t>标准接口</a:t>
            </a:r>
            <a:r>
              <a:rPr lang="en-US" altLang="zh-CN" sz="2800">
                <a:latin typeface="宋体" panose="02010600030101010101" pitchFamily="2" charset="-122"/>
                <a:sym typeface="+mn-ea"/>
              </a:rPr>
              <a:t>SCSI</a:t>
            </a:r>
            <a:r>
              <a:rPr lang="zh-CN" altLang="en-US" sz="2800">
                <a:latin typeface="宋体" panose="02010600030101010101" pitchFamily="2" charset="-122"/>
                <a:sym typeface="+mn-ea"/>
              </a:rPr>
              <a:t>、串行</a:t>
            </a:r>
            <a:r>
              <a:rPr lang="en-US" altLang="zh-CN" sz="2800">
                <a:latin typeface="宋体" panose="02010600030101010101" pitchFamily="2" charset="-122"/>
                <a:sym typeface="+mn-ea"/>
              </a:rPr>
              <a:t>I/O</a:t>
            </a:r>
            <a:r>
              <a:rPr lang="zh-CN" altLang="en-US" sz="2800">
                <a:latin typeface="宋体" panose="02010600030101010101" pitchFamily="2" charset="-122"/>
                <a:sym typeface="+mn-ea"/>
              </a:rPr>
              <a:t>标准接口</a:t>
            </a:r>
            <a:r>
              <a:rPr lang="en-US" altLang="zh-CN" sz="2800">
                <a:latin typeface="宋体" panose="02010600030101010101" pitchFamily="2" charset="-122"/>
                <a:sym typeface="+mn-ea"/>
              </a:rPr>
              <a:t>IEEE 1394</a:t>
            </a:r>
            <a:endParaRPr lang="zh-CN" altLang="en-US" sz="2800">
              <a:latin typeface="宋体" panose="02010600030101010101" pitchFamily="2" charset="-122"/>
              <a:sym typeface="+mn-ea"/>
            </a:endParaRPr>
          </a:p>
          <a:p>
            <a:pPr eaLnBrk="1" hangingPunct="1">
              <a:lnSpc>
                <a:spcPct val="80000"/>
              </a:lnSpc>
            </a:pPr>
            <a:endParaRPr lang="zh-CN" altLang="en-US" sz="2800">
              <a:latin typeface="宋体" panose="02010600030101010101" pitchFamily="2" charset="-122"/>
            </a:endParaRPr>
          </a:p>
        </p:txBody>
      </p:sp>
      <p:sp>
        <p:nvSpPr>
          <p:cNvPr id="82948" name="Rectangle 4"/>
          <p:cNvSpPr>
            <a:spLocks noChangeArrowheads="1"/>
          </p:cNvSpPr>
          <p:nvPr/>
        </p:nvSpPr>
        <p:spPr bwMode="auto">
          <a:xfrm>
            <a:off x="250825" y="115888"/>
            <a:ext cx="3313113" cy="641350"/>
          </a:xfrm>
          <a:prstGeom prst="rect">
            <a:avLst/>
          </a:prstGeom>
          <a:noFill/>
          <a:ln w="12700">
            <a:noFill/>
            <a:miter lim="800000"/>
            <a:headEnd type="none" w="sm" len="sm"/>
            <a:tailEnd type="none" w="sm" len="sm"/>
          </a:ln>
        </p:spPr>
        <p:txBody>
          <a:bodyPr>
            <a:spAutoFit/>
          </a:bodyPr>
          <a:lstStyle/>
          <a:p>
            <a:r>
              <a:rPr lang="zh-CN" altLang="en-US" sz="3600" b="1">
                <a:solidFill>
                  <a:schemeClr val="tx2"/>
                </a:solidFill>
                <a:latin typeface="宋体" panose="02010600030101010101" pitchFamily="2" charset="-122"/>
              </a:rPr>
              <a:t>本 章 小 结</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a:spLocks noGrp="1"/>
          </p:cNvSpPr>
          <p:nvPr>
            <p:ph type="sldNum" sz="quarter" idx="12"/>
          </p:nvPr>
        </p:nvSpPr>
        <p:spPr>
          <a:noFill/>
        </p:spPr>
        <p:txBody>
          <a:bodyPr/>
          <a:lstStyle/>
          <a:p>
            <a:fld id="{C6EE3DAE-EB9A-4DA6-923F-E6111DAF8886}" type="slidenum">
              <a:rPr lang="en-US" altLang="zh-CN" smtClean="0"/>
              <a:t>75</a:t>
            </a:fld>
            <a:endParaRPr lang="en-US" altLang="zh-CN"/>
          </a:p>
        </p:txBody>
      </p:sp>
      <p:sp>
        <p:nvSpPr>
          <p:cNvPr id="83971" name="Rectangle 3"/>
          <p:cNvSpPr>
            <a:spLocks noGrp="1" noChangeArrowheads="1"/>
          </p:cNvSpPr>
          <p:nvPr>
            <p:ph type="body" idx="1"/>
          </p:nvPr>
        </p:nvSpPr>
        <p:spPr>
          <a:xfrm>
            <a:off x="179388" y="836613"/>
            <a:ext cx="8785225" cy="5616575"/>
          </a:xfrm>
          <a:solidFill>
            <a:schemeClr val="bg1"/>
          </a:solidFill>
        </p:spPr>
        <p:txBody>
          <a:bodyPr/>
          <a:lstStyle/>
          <a:p>
            <a:pPr eaLnBrk="1" hangingPunct="1">
              <a:lnSpc>
                <a:spcPct val="80000"/>
              </a:lnSpc>
            </a:pPr>
            <a:r>
              <a:rPr lang="en-US" altLang="zh-CN" sz="2400">
                <a:latin typeface="宋体" panose="02010600030101010101" pitchFamily="2" charset="-122"/>
              </a:rPr>
              <a:t>P276 1</a:t>
            </a:r>
            <a:r>
              <a:rPr lang="zh-CN" altLang="en-US" sz="2400">
                <a:latin typeface="宋体" panose="02010600030101010101" pitchFamily="2" charset="-122"/>
              </a:rPr>
              <a:t>、</a:t>
            </a:r>
            <a:r>
              <a:rPr lang="en-US" altLang="zh-CN" sz="2400">
                <a:latin typeface="宋体" panose="02010600030101010101" pitchFamily="2" charset="-122"/>
              </a:rPr>
              <a:t>2</a:t>
            </a:r>
            <a:r>
              <a:rPr lang="zh-CN" altLang="en-US" sz="2400">
                <a:latin typeface="宋体" panose="02010600030101010101" pitchFamily="2" charset="-122"/>
              </a:rPr>
              <a:t>、</a:t>
            </a:r>
            <a:r>
              <a:rPr lang="en-US" altLang="zh-CN" sz="2400">
                <a:latin typeface="宋体" panose="02010600030101010101" pitchFamily="2" charset="-122"/>
              </a:rPr>
              <a:t>3</a:t>
            </a:r>
          </a:p>
          <a:p>
            <a:pPr eaLnBrk="1" hangingPunct="1">
              <a:lnSpc>
                <a:spcPct val="80000"/>
              </a:lnSpc>
            </a:pPr>
            <a:r>
              <a:rPr lang="en-US" altLang="zh-CN" sz="2400">
                <a:latin typeface="宋体" panose="02010600030101010101" pitchFamily="2" charset="-122"/>
              </a:rPr>
              <a:t>P277 4</a:t>
            </a:r>
            <a:r>
              <a:rPr lang="zh-CN" altLang="en-US" sz="2400">
                <a:latin typeface="宋体" panose="02010600030101010101" pitchFamily="2" charset="-122"/>
              </a:rPr>
              <a:t>、</a:t>
            </a:r>
            <a:r>
              <a:rPr lang="en-US" altLang="zh-CN" sz="2400">
                <a:latin typeface="宋体" panose="02010600030101010101" pitchFamily="2" charset="-122"/>
              </a:rPr>
              <a:t>8</a:t>
            </a:r>
            <a:r>
              <a:rPr lang="zh-CN" altLang="en-US" sz="2400">
                <a:latin typeface="宋体" panose="02010600030101010101" pitchFamily="2" charset="-122"/>
              </a:rPr>
              <a:t>、</a:t>
            </a:r>
            <a:r>
              <a:rPr lang="en-US" altLang="zh-CN" sz="2400">
                <a:latin typeface="宋体" panose="02010600030101010101" pitchFamily="2" charset="-122"/>
              </a:rPr>
              <a:t>9</a:t>
            </a:r>
            <a:r>
              <a:rPr lang="zh-CN" altLang="en-US" sz="2400">
                <a:latin typeface="宋体" panose="02010600030101010101" pitchFamily="2" charset="-122"/>
              </a:rPr>
              <a:t>、</a:t>
            </a:r>
            <a:r>
              <a:rPr lang="en-US" altLang="zh-CN" sz="2400">
                <a:latin typeface="宋体" panose="02010600030101010101" pitchFamily="2" charset="-122"/>
              </a:rPr>
              <a:t>11</a:t>
            </a:r>
          </a:p>
          <a:p>
            <a:pPr eaLnBrk="1" hangingPunct="1">
              <a:lnSpc>
                <a:spcPct val="80000"/>
              </a:lnSpc>
            </a:pPr>
            <a:r>
              <a:rPr lang="en-US" altLang="zh-CN" sz="2400">
                <a:latin typeface="宋体" panose="02010600030101010101" pitchFamily="2" charset="-122"/>
              </a:rPr>
              <a:t>P278 16</a:t>
            </a:r>
          </a:p>
        </p:txBody>
      </p:sp>
      <p:sp>
        <p:nvSpPr>
          <p:cNvPr id="83972" name="Rectangle 4"/>
          <p:cNvSpPr>
            <a:spLocks noChangeArrowheads="1"/>
          </p:cNvSpPr>
          <p:nvPr/>
        </p:nvSpPr>
        <p:spPr bwMode="auto">
          <a:xfrm>
            <a:off x="250825" y="115888"/>
            <a:ext cx="3529013" cy="645160"/>
          </a:xfrm>
          <a:prstGeom prst="rect">
            <a:avLst/>
          </a:prstGeom>
          <a:noFill/>
          <a:ln w="12700">
            <a:noFill/>
            <a:miter lim="800000"/>
            <a:headEnd type="none" w="sm" len="sm"/>
            <a:tailEnd type="none" w="sm" len="sm"/>
          </a:ln>
        </p:spPr>
        <p:txBody>
          <a:bodyPr>
            <a:spAutoFit/>
          </a:bodyPr>
          <a:lstStyle/>
          <a:p>
            <a:r>
              <a:rPr lang="zh-CN" altLang="en-US" sz="3600" b="1">
                <a:solidFill>
                  <a:schemeClr val="tx2"/>
                </a:solidFill>
                <a:latin typeface="宋体" panose="02010600030101010101" pitchFamily="2" charset="-122"/>
              </a:rPr>
              <a:t>本 章 作</a:t>
            </a:r>
            <a:r>
              <a:rPr lang="en-US" altLang="zh-CN" sz="3600" b="1">
                <a:solidFill>
                  <a:schemeClr val="tx2"/>
                </a:solidFill>
                <a:latin typeface="宋体" panose="02010600030101010101" pitchFamily="2" charset="-122"/>
              </a:rPr>
              <a:t> </a:t>
            </a:r>
            <a:r>
              <a:rPr lang="zh-CN" altLang="en-US" sz="3600" b="1">
                <a:solidFill>
                  <a:schemeClr val="tx2"/>
                </a:solidFill>
                <a:latin typeface="宋体" panose="02010600030101010101" pitchFamily="2" charset="-122"/>
              </a:rPr>
              <a:t>业</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a:spLocks noGrp="1"/>
          </p:cNvSpPr>
          <p:nvPr>
            <p:ph type="sldNum" sz="quarter" idx="12"/>
          </p:nvPr>
        </p:nvSpPr>
        <p:spPr>
          <a:noFill/>
        </p:spPr>
        <p:txBody>
          <a:bodyPr/>
          <a:lstStyle/>
          <a:p>
            <a:fld id="{C6EE3DAE-EB9A-4DA6-923F-E6111DAF8886}" type="slidenum">
              <a:rPr lang="en-US" altLang="zh-CN" smtClean="0"/>
              <a:t>76</a:t>
            </a:fld>
            <a:endParaRPr lang="en-US" altLang="zh-CN"/>
          </a:p>
        </p:txBody>
      </p:sp>
      <p:sp>
        <p:nvSpPr>
          <p:cNvPr id="83972" name="Rectangle 4"/>
          <p:cNvSpPr>
            <a:spLocks noChangeArrowheads="1"/>
          </p:cNvSpPr>
          <p:nvPr/>
        </p:nvSpPr>
        <p:spPr bwMode="auto">
          <a:xfrm>
            <a:off x="250825" y="115888"/>
            <a:ext cx="3529013" cy="645160"/>
          </a:xfrm>
          <a:prstGeom prst="rect">
            <a:avLst/>
          </a:prstGeom>
          <a:noFill/>
          <a:ln w="12700">
            <a:noFill/>
            <a:miter lim="800000"/>
            <a:headEnd type="none" w="sm" len="sm"/>
            <a:tailEnd type="none" w="sm" len="sm"/>
          </a:ln>
        </p:spPr>
        <p:txBody>
          <a:bodyPr>
            <a:spAutoFit/>
          </a:bodyPr>
          <a:lstStyle/>
          <a:p>
            <a:r>
              <a:rPr lang="zh-CN" altLang="en-US" sz="3600" b="1">
                <a:solidFill>
                  <a:schemeClr val="tx2"/>
                </a:solidFill>
                <a:latin typeface="宋体" panose="02010600030101010101" pitchFamily="2" charset="-122"/>
              </a:rPr>
              <a:t>部分答案</a:t>
            </a:r>
          </a:p>
        </p:txBody>
      </p:sp>
      <p:graphicFrame>
        <p:nvGraphicFramePr>
          <p:cNvPr id="3" name="对象 2"/>
          <p:cNvGraphicFramePr/>
          <p:nvPr>
            <p:custDataLst>
              <p:tags r:id="rId1"/>
            </p:custDataLst>
          </p:nvPr>
        </p:nvGraphicFramePr>
        <p:xfrm>
          <a:off x="755650" y="1268730"/>
          <a:ext cx="2015490" cy="2045335"/>
        </p:xfrm>
        <a:graphic>
          <a:graphicData uri="http://schemas.openxmlformats.org/presentationml/2006/ole">
            <mc:AlternateContent xmlns:mc="http://schemas.openxmlformats.org/markup-compatibility/2006">
              <mc:Choice xmlns:v="urn:schemas-microsoft-com:vml" Requires="v">
                <p:oleObj r:id="rId3" imgW="781050" imgH="819150" progId="Paint.Picture">
                  <p:embed/>
                </p:oleObj>
              </mc:Choice>
              <mc:Fallback>
                <p:oleObj r:id="rId3" imgW="781050" imgH="819150" progId="Paint.Picture">
                  <p:embed/>
                  <p:pic>
                    <p:nvPicPr>
                      <p:cNvPr id="0" name="图片 3"/>
                      <p:cNvPicPr/>
                      <p:nvPr/>
                    </p:nvPicPr>
                    <p:blipFill>
                      <a:blip r:embed="rId4"/>
                      <a:stretch>
                        <a:fillRect/>
                      </a:stretch>
                    </p:blipFill>
                    <p:spPr>
                      <a:xfrm>
                        <a:off x="755650" y="1268730"/>
                        <a:ext cx="2015490" cy="2045335"/>
                      </a:xfrm>
                      <a:prstGeom prst="rect">
                        <a:avLst/>
                      </a:prstGeom>
                    </p:spPr>
                  </p:pic>
                </p:oleObj>
              </mc:Fallback>
            </mc:AlternateContent>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RhYjRlMmM3ZTAzYTNmMjdlMWUyOGVkOWUyMDQ0MD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68</TotalTime>
  <Words>12456</Words>
  <Application>Microsoft Office PowerPoint</Application>
  <PresentationFormat>全屏显示(4:3)</PresentationFormat>
  <Paragraphs>621</Paragraphs>
  <Slides>76</Slides>
  <Notes>3</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76</vt:i4>
      </vt:variant>
    </vt:vector>
  </HeadingPairs>
  <TitlesOfParts>
    <vt:vector size="85" baseType="lpstr">
      <vt:lpstr>黑体</vt:lpstr>
      <vt:lpstr>宋体</vt:lpstr>
      <vt:lpstr>微软雅黑</vt:lpstr>
      <vt:lpstr>Arial</vt:lpstr>
      <vt:lpstr>Times New Roman</vt:lpstr>
      <vt:lpstr>Wingdings</vt:lpstr>
      <vt:lpstr>Network</vt:lpstr>
      <vt:lpstr>位图图像</vt:lpstr>
      <vt:lpstr>Paintbrush Picture</vt:lpstr>
      <vt:lpstr>第八章 输入输出系统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8.2 程序查询方式</vt:lpstr>
      <vt:lpstr>PowerPoint 演示文稿</vt:lpstr>
      <vt:lpstr>PowerPoint 演示文稿</vt:lpstr>
      <vt:lpstr>4、程序查询输入/输出方式</vt:lpstr>
      <vt:lpstr>8.3 程序中断方式</vt:lpstr>
      <vt:lpstr>PowerPoint 演示文稿</vt:lpstr>
      <vt:lpstr>PowerPoint 演示文稿</vt:lpstr>
      <vt:lpstr>PowerPoint 演示文稿</vt:lpstr>
      <vt:lpstr>PowerPoint 演示文稿</vt:lpstr>
      <vt:lpstr>8.3.3程序中断方式的基本I/O接口</vt:lpstr>
      <vt:lpstr>8.3.4 单级中断</vt:lpstr>
      <vt:lpstr>PowerPoint 演示文稿</vt:lpstr>
      <vt:lpstr>PowerPoint 演示文稿</vt:lpstr>
      <vt:lpstr>8.3.5 多级中断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8.4  DMA方式</vt:lpstr>
      <vt:lpstr>8.4  DMA方式</vt:lpstr>
      <vt:lpstr>PowerPoint 演示文稿</vt:lpstr>
      <vt:lpstr>PowerPoint 演示文稿</vt:lpstr>
      <vt:lpstr>PowerPoint 演示文稿</vt:lpstr>
      <vt:lpstr>PowerPoint 演示文稿</vt:lpstr>
      <vt:lpstr>PowerPoint 演示文稿</vt:lpstr>
      <vt:lpstr>8.4.4选择型和多路型DMA控制器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Ningbo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   输入输出系统</dc:title>
  <dc:creator>杨旭东</dc:creator>
  <cp:lastModifiedBy>清晨 张</cp:lastModifiedBy>
  <cp:revision>541</cp:revision>
  <dcterms:created xsi:type="dcterms:W3CDTF">2008-05-19T20:46:00Z</dcterms:created>
  <dcterms:modified xsi:type="dcterms:W3CDTF">2024-01-02T16:16:00Z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F913BAE7CB544374B767B7248F6D2BE8_12</vt:lpwstr>
  </property>
  <property fmtid="{D5CDD505-2E9C-101B-9397-08002B2CF9AE}" pid="3" name="KSOProductBuildVer">
    <vt:lpwstr>2052-12.1.0.15712</vt:lpwstr>
  </property>
</Properties>
</file>
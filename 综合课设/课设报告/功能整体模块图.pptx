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06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F6696-A484-607D-D87B-A1E0E691C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7BCD5C-89F5-DB48-7990-1D337324B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7489E-277B-E085-DCE1-9DAC1867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97A37-0683-5004-CC7B-1BA05707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90F67-70F2-670F-DFAD-7FB2A2CC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90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A0EFC-D43F-1632-F619-86F8FFB0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0C440-4F4F-44CA-0C81-D0A12655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444A0-54C3-B655-E33A-FF1C3739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B9EBF-5D4E-8756-6B98-091213DC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C87A6-C8EB-2F1C-DBA4-2EFB1496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84822-F715-9C37-B4CB-613E33E9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F8845-B406-1107-8F50-01D061AD8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AF922-752A-609D-BD66-DFEF5BC8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67E43F-0119-2783-8FB5-93B330FC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B8C269-2F99-FB33-25FB-4E47E5CB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9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FBD57-D9E5-A728-AB55-BBE3A9BD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4BDA6-FEE4-FD67-3183-2DC9C2B8A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144AF5-3ED2-401D-29F8-7A78ED7FB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8F4746-DF46-F80E-08AD-2F0E26A6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B10F0-9A56-9ED2-9EC1-3E47DB94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BD7F37-09EE-461A-8BD4-A50ED777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657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5B8FA-3758-62FD-32F6-1523A3CF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3B1AC-994A-E15B-859A-5AE5C388A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C955DA-0586-FD3D-A030-829C24616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31289F-1C31-B9EC-637E-16786CE09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ACDCBD-8126-4116-0455-E0540B7A3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AC25-652F-5E55-0580-DFC79E8E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192FFB-763F-DC39-B37D-A8C078BFA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8758E5-0B1B-C5A4-1961-41247FBD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6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7DDB4-72F0-A2AB-CAA7-9DBD78B5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566F38-35D6-8164-D517-D205DABD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4709CC-EA51-0871-1A97-0A2C80AF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E6453B-4AAC-CE6E-66DE-7D29B0A5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8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86CB4B-38A1-E6ED-B8A8-108BFB5E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EDAB0C-6C6D-165E-1860-08AFF5DC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7AA1D3-A487-8359-7F54-4794F336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41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02731-27D6-F347-EF01-7F8027BB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DB32D-67EA-55E2-E446-BC965285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BB39D8-A2EC-EC25-0C28-0B9C56157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0A7E6-66E3-0F07-8DA5-28811FEF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2DC58E-670C-D0A8-368B-E73CCFDBA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D9DD4-4076-33E9-DE15-E64532EB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35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04E8F-A288-1B85-DC82-C1D6FFB8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B95512-AA55-CEC5-4A0E-77356D879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FF4011-57A2-0F61-1913-C833DA438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8DC148-48DC-03EB-C9AE-771604D7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483A64-1E26-9FB0-1979-5EC5BCBE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C759D4-41CA-D7E9-0295-2FFDE87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9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1BA66-74CE-58A5-BB57-C4A75619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48317-A5F5-566B-98EC-1069790C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9936AA-7582-847A-8AC1-DBA3C2D9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45AF83-85A4-AEAF-DC03-C1924491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1B554-045C-AFC4-4A05-BAF799C8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04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9F2565-8664-A204-69D6-85EB6106C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51FF48-541A-9881-1997-22964B93C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4CA52-C3C4-30DC-9BC3-8E3A86F3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E0B3C-64EC-E9E6-85F3-8034BAB4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07F34-7EBA-4027-ABC7-C5992790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15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541051-57AC-D0B7-03FE-553E47FD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10A60-9E5B-21BC-B36B-71D9AEAB0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28BF28-00C2-82FF-AF6D-EBDCBCD81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5E21B-F9D9-4C05-BC0E-BAF1666F147E}" type="datetimeFigureOut">
              <a:rPr lang="zh-CN" altLang="en-US" smtClean="0"/>
              <a:t>2024-07-05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2A480-4035-DD69-910F-68AB02ADF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5E952-1699-0D51-3D6A-518EABA3B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E13E6-8EEB-4756-9A2C-F85B3DE7A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AD92C781-1AD6-5322-63BF-787DEC4B4AF7}"/>
              </a:ext>
            </a:extLst>
          </p:cNvPr>
          <p:cNvGrpSpPr/>
          <p:nvPr/>
        </p:nvGrpSpPr>
        <p:grpSpPr>
          <a:xfrm>
            <a:off x="-391885" y="10881"/>
            <a:ext cx="14448607" cy="6687304"/>
            <a:chOff x="-391885" y="10881"/>
            <a:chExt cx="14448607" cy="6687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EB13307-2BED-A3C1-C4FE-F339B624C484}"/>
                </a:ext>
              </a:extLst>
            </p:cNvPr>
            <p:cNvSpPr/>
            <p:nvPr/>
          </p:nvSpPr>
          <p:spPr>
            <a:xfrm>
              <a:off x="4582886" y="10881"/>
              <a:ext cx="3026228" cy="101237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00" b="1" dirty="0">
                  <a:solidFill>
                    <a:schemeClr val="tx1"/>
                  </a:solidFill>
                </a:rPr>
                <a:t>汽车门店管理系统</a:t>
              </a:r>
              <a:endParaRPr lang="en-US" altLang="zh-CN" sz="19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559A224-AC35-7991-B067-546EB840F629}"/>
                </a:ext>
              </a:extLst>
            </p:cNvPr>
            <p:cNvSpPr/>
            <p:nvPr/>
          </p:nvSpPr>
          <p:spPr>
            <a:xfrm>
              <a:off x="364673" y="1883220"/>
              <a:ext cx="1436914" cy="70757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00" b="1" dirty="0">
                  <a:solidFill>
                    <a:schemeClr val="bg1"/>
                  </a:solidFill>
                </a:rPr>
                <a:t>系统管理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118E626-F98C-A550-35E6-5B8F1B7D56BC}"/>
                </a:ext>
              </a:extLst>
            </p:cNvPr>
            <p:cNvSpPr/>
            <p:nvPr/>
          </p:nvSpPr>
          <p:spPr>
            <a:xfrm>
              <a:off x="3706586" y="1899548"/>
              <a:ext cx="1436914" cy="70757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00" b="1" dirty="0">
                  <a:solidFill>
                    <a:schemeClr val="bg1"/>
                  </a:solidFill>
                </a:rPr>
                <a:t>系统监控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9C7AB0C-B817-66AB-923B-AF8305DF3959}"/>
                </a:ext>
              </a:extLst>
            </p:cNvPr>
            <p:cNvSpPr/>
            <p:nvPr/>
          </p:nvSpPr>
          <p:spPr>
            <a:xfrm>
              <a:off x="7048499" y="1883220"/>
              <a:ext cx="1436914" cy="70757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00" b="1" dirty="0">
                  <a:solidFill>
                    <a:schemeClr val="bg1"/>
                  </a:solidFill>
                </a:rPr>
                <a:t>流程管理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B9A38A8-3E06-AE0C-FF15-1314B94612B8}"/>
                </a:ext>
              </a:extLst>
            </p:cNvPr>
            <p:cNvSpPr/>
            <p:nvPr/>
          </p:nvSpPr>
          <p:spPr>
            <a:xfrm>
              <a:off x="10390413" y="1883219"/>
              <a:ext cx="1436914" cy="70757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00" b="1" dirty="0">
                  <a:solidFill>
                    <a:schemeClr val="bg1"/>
                  </a:solidFill>
                </a:rPr>
                <a:t>业务功能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C4934C9-2E6B-84DE-1EF4-6D05CD24FFC7}"/>
                </a:ext>
              </a:extLst>
            </p:cNvPr>
            <p:cNvSpPr/>
            <p:nvPr/>
          </p:nvSpPr>
          <p:spPr>
            <a:xfrm>
              <a:off x="-391885" y="3314699"/>
              <a:ext cx="2950029" cy="1970314"/>
            </a:xfrm>
            <a:prstGeom prst="roundRect">
              <a:avLst>
                <a:gd name="adj" fmla="val 719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solidFill>
                  <a:schemeClr val="bg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721644-631F-42D2-7F9E-A6ECF13DC278}"/>
                </a:ext>
              </a:extLst>
            </p:cNvPr>
            <p:cNvSpPr/>
            <p:nvPr/>
          </p:nvSpPr>
          <p:spPr>
            <a:xfrm>
              <a:off x="-315685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通知公告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26777F4-F837-08B5-E8B7-AD6A04189BD3}"/>
                </a:ext>
              </a:extLst>
            </p:cNvPr>
            <p:cNvSpPr/>
            <p:nvPr/>
          </p:nvSpPr>
          <p:spPr>
            <a:xfrm>
              <a:off x="642259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用户管理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20C3BA8-A989-BBE5-1724-B9B73D1F7DAF}"/>
                </a:ext>
              </a:extLst>
            </p:cNvPr>
            <p:cNvSpPr/>
            <p:nvPr/>
          </p:nvSpPr>
          <p:spPr>
            <a:xfrm>
              <a:off x="1600203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角色管理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CE2701-E2A1-85F5-DF9F-33814A39D80B}"/>
                </a:ext>
              </a:extLst>
            </p:cNvPr>
            <p:cNvSpPr/>
            <p:nvPr/>
          </p:nvSpPr>
          <p:spPr>
            <a:xfrm>
              <a:off x="-321126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部门管理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DF092A0-4438-1325-B56B-984FD821BF61}"/>
                </a:ext>
              </a:extLst>
            </p:cNvPr>
            <p:cNvSpPr/>
            <p:nvPr/>
          </p:nvSpPr>
          <p:spPr>
            <a:xfrm>
              <a:off x="636818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菜单管理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16EF73C-CEF1-B1B0-F4B1-8271A47FD458}"/>
                </a:ext>
              </a:extLst>
            </p:cNvPr>
            <p:cNvSpPr/>
            <p:nvPr/>
          </p:nvSpPr>
          <p:spPr>
            <a:xfrm>
              <a:off x="1594762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字典管理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EDB3D17-A8FD-1ABD-E1D2-07C04A164231}"/>
                </a:ext>
              </a:extLst>
            </p:cNvPr>
            <p:cNvSpPr/>
            <p:nvPr/>
          </p:nvSpPr>
          <p:spPr>
            <a:xfrm>
              <a:off x="636818" y="4659085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岗位管理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6A368B3-2BF6-F715-B14D-8C2C712D0343}"/>
                </a:ext>
              </a:extLst>
            </p:cNvPr>
            <p:cNvSpPr/>
            <p:nvPr/>
          </p:nvSpPr>
          <p:spPr>
            <a:xfrm>
              <a:off x="1594762" y="4659085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参数设置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855241F-B60A-9E3D-6638-D2723AC3905F}"/>
                </a:ext>
              </a:extLst>
            </p:cNvPr>
            <p:cNvSpPr/>
            <p:nvPr/>
          </p:nvSpPr>
          <p:spPr>
            <a:xfrm>
              <a:off x="-321126" y="4659084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客户管理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2B04A28-6692-0D18-65E8-64ECBCF3FC9D}"/>
                </a:ext>
              </a:extLst>
            </p:cNvPr>
            <p:cNvSpPr/>
            <p:nvPr/>
          </p:nvSpPr>
          <p:spPr>
            <a:xfrm>
              <a:off x="2944587" y="3759856"/>
              <a:ext cx="2950029" cy="1080000"/>
            </a:xfrm>
            <a:prstGeom prst="roundRect">
              <a:avLst>
                <a:gd name="adj" fmla="val 719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solidFill>
                  <a:schemeClr val="bg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5CF5577-8C00-87D9-C8F4-61E399B93D61}"/>
                </a:ext>
              </a:extLst>
            </p:cNvPr>
            <p:cNvSpPr/>
            <p:nvPr/>
          </p:nvSpPr>
          <p:spPr>
            <a:xfrm>
              <a:off x="3020787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数据监控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5595F31-FE14-1667-1532-474185BC55B4}"/>
                </a:ext>
              </a:extLst>
            </p:cNvPr>
            <p:cNvSpPr/>
            <p:nvPr/>
          </p:nvSpPr>
          <p:spPr>
            <a:xfrm>
              <a:off x="3978731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服务监控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7B77C61-D348-4CAB-DFCE-89F4DB29CD2D}"/>
                </a:ext>
              </a:extLst>
            </p:cNvPr>
            <p:cNvSpPr/>
            <p:nvPr/>
          </p:nvSpPr>
          <p:spPr>
            <a:xfrm>
              <a:off x="4936675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日志管理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F76EFE6D-F6F0-3A5F-5CE8-A22F37D0E9A0}"/>
                </a:ext>
              </a:extLst>
            </p:cNvPr>
            <p:cNvSpPr/>
            <p:nvPr/>
          </p:nvSpPr>
          <p:spPr>
            <a:xfrm>
              <a:off x="6291941" y="3733799"/>
              <a:ext cx="2950029" cy="1080000"/>
            </a:xfrm>
            <a:prstGeom prst="roundRect">
              <a:avLst>
                <a:gd name="adj" fmla="val 719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solidFill>
                  <a:schemeClr val="bg1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09E1EAF-4392-16AF-33C4-4FDD0326E54E}"/>
                </a:ext>
              </a:extLst>
            </p:cNvPr>
            <p:cNvSpPr/>
            <p:nvPr/>
          </p:nvSpPr>
          <p:spPr>
            <a:xfrm>
              <a:off x="7173684" y="4066971"/>
              <a:ext cx="1186546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审核流程定义</a:t>
              </a: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B8A568D-50B2-A3D5-5896-462C09276A34}"/>
                </a:ext>
              </a:extLst>
            </p:cNvPr>
            <p:cNvSpPr/>
            <p:nvPr/>
          </p:nvSpPr>
          <p:spPr>
            <a:xfrm>
              <a:off x="9633855" y="3314699"/>
              <a:ext cx="2950029" cy="1970314"/>
            </a:xfrm>
            <a:prstGeom prst="roundRect">
              <a:avLst>
                <a:gd name="adj" fmla="val 719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solidFill>
                  <a:schemeClr val="bg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133817F-5A62-3505-8D10-830C581E9AC0}"/>
                </a:ext>
              </a:extLst>
            </p:cNvPr>
            <p:cNvSpPr/>
            <p:nvPr/>
          </p:nvSpPr>
          <p:spPr>
            <a:xfrm>
              <a:off x="9710055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续保询价信息管理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30D23B6-CA6D-6D40-7488-26E3561EA78B}"/>
                </a:ext>
              </a:extLst>
            </p:cNvPr>
            <p:cNvSpPr/>
            <p:nvPr/>
          </p:nvSpPr>
          <p:spPr>
            <a:xfrm>
              <a:off x="10667999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购车询价信息管理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63FE1EE-3539-D09A-0347-E306C2C7D44D}"/>
                </a:ext>
              </a:extLst>
            </p:cNvPr>
            <p:cNvSpPr/>
            <p:nvPr/>
          </p:nvSpPr>
          <p:spPr>
            <a:xfrm>
              <a:off x="11625943" y="3526971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试驾预约信息管理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FAC4B8D-320D-B7B0-285B-6846CA2E0F8D}"/>
                </a:ext>
              </a:extLst>
            </p:cNvPr>
            <p:cNvSpPr/>
            <p:nvPr/>
          </p:nvSpPr>
          <p:spPr>
            <a:xfrm>
              <a:off x="9704614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养修预约服务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19AE68D0-C5E8-00CC-1E40-0A6F5F725D8A}"/>
                </a:ext>
              </a:extLst>
            </p:cNvPr>
            <p:cNvSpPr/>
            <p:nvPr/>
          </p:nvSpPr>
          <p:spPr>
            <a:xfrm>
              <a:off x="10662558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养修套餐审核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BC1C8C3-CD47-D15F-4B20-9F08925DDCF6}"/>
                </a:ext>
              </a:extLst>
            </p:cNvPr>
            <p:cNvSpPr/>
            <p:nvPr/>
          </p:nvSpPr>
          <p:spPr>
            <a:xfrm>
              <a:off x="11620502" y="4093028"/>
              <a:ext cx="881743" cy="4136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b="1" dirty="0">
                  <a:solidFill>
                    <a:schemeClr val="tx1"/>
                  </a:solidFill>
                </a:rPr>
                <a:t>在线客户信息管理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D17C989F-3C34-0927-2462-2056866191DA}"/>
                </a:ext>
              </a:extLst>
            </p:cNvPr>
            <p:cNvGrpSpPr/>
            <p:nvPr/>
          </p:nvGrpSpPr>
          <p:grpSpPr>
            <a:xfrm>
              <a:off x="11106693" y="5607300"/>
              <a:ext cx="2950029" cy="1080000"/>
              <a:chOff x="2944587" y="3759856"/>
              <a:chExt cx="2950029" cy="1080000"/>
            </a:xfrm>
          </p:grpSpPr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523ED1E5-3D92-D272-9859-3CAD9CDD6049}"/>
                  </a:ext>
                </a:extLst>
              </p:cNvPr>
              <p:cNvSpPr/>
              <p:nvPr/>
            </p:nvSpPr>
            <p:spPr>
              <a:xfrm>
                <a:off x="2944587" y="3759856"/>
                <a:ext cx="2950029" cy="1080000"/>
              </a:xfrm>
              <a:prstGeom prst="roundRect">
                <a:avLst>
                  <a:gd name="adj" fmla="val 7198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9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66417193-AD87-1248-FD81-9ADEEF935A9B}"/>
                  </a:ext>
                </a:extLst>
              </p:cNvPr>
              <p:cNvSpPr/>
              <p:nvPr/>
            </p:nvSpPr>
            <p:spPr>
              <a:xfrm>
                <a:off x="3020787" y="4093028"/>
                <a:ext cx="881743" cy="4136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900" b="1" dirty="0">
                    <a:solidFill>
                      <a:schemeClr val="bg1"/>
                    </a:solidFill>
                  </a:rPr>
                  <a:t>套餐审核列表</a:t>
                </a: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17EC94E-02BB-05FD-ABC7-4B2437FC6850}"/>
                  </a:ext>
                </a:extLst>
              </p:cNvPr>
              <p:cNvSpPr/>
              <p:nvPr/>
            </p:nvSpPr>
            <p:spPr>
              <a:xfrm>
                <a:off x="3978731" y="4093028"/>
                <a:ext cx="881743" cy="4136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900" b="1" dirty="0">
                    <a:solidFill>
                      <a:schemeClr val="bg1"/>
                    </a:solidFill>
                  </a:rPr>
                  <a:t>我的待办</a:t>
                </a: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3BA06E9E-6B67-C079-94E2-EA7533D9884E}"/>
                  </a:ext>
                </a:extLst>
              </p:cNvPr>
              <p:cNvSpPr/>
              <p:nvPr/>
            </p:nvSpPr>
            <p:spPr>
              <a:xfrm>
                <a:off x="4936675" y="4093028"/>
                <a:ext cx="881743" cy="4136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900" b="1" dirty="0">
                    <a:solidFill>
                      <a:schemeClr val="bg1"/>
                    </a:solidFill>
                  </a:rPr>
                  <a:t>我的已办</a:t>
                </a:r>
              </a:p>
            </p:txBody>
          </p:sp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A14C6D5-FBD9-61EC-34B3-0E795821BC57}"/>
                </a:ext>
              </a:extLst>
            </p:cNvPr>
            <p:cNvCxnSpPr>
              <a:cxnSpLocks/>
              <a:stCxn id="4" idx="3"/>
              <a:endCxn id="5" idx="0"/>
            </p:cNvCxnSpPr>
            <p:nvPr/>
          </p:nvCxnSpPr>
          <p:spPr>
            <a:xfrm flipH="1">
              <a:off x="1083130" y="874995"/>
              <a:ext cx="3942937" cy="1008225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4F100228-1DFE-63BE-6201-9AA71D9FCA1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4425043" y="1023253"/>
              <a:ext cx="1168037" cy="876295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070F2297-920E-AFF4-2E71-0663183EC71E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6598922" y="995463"/>
              <a:ext cx="1168034" cy="887757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337B4006-5ED4-2131-6CA7-726EAC7E99D9}"/>
                </a:ext>
              </a:extLst>
            </p:cNvPr>
            <p:cNvCxnSpPr>
              <a:cxnSpLocks/>
              <a:stCxn id="4" idx="5"/>
              <a:endCxn id="8" idx="0"/>
            </p:cNvCxnSpPr>
            <p:nvPr/>
          </p:nvCxnSpPr>
          <p:spPr>
            <a:xfrm>
              <a:off x="7165933" y="874995"/>
              <a:ext cx="3942937" cy="1008224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箭头: 下 91">
              <a:extLst>
                <a:ext uri="{FF2B5EF4-FFF2-40B4-BE49-F238E27FC236}">
                  <a16:creationId xmlns:a16="http://schemas.microsoft.com/office/drawing/2014/main" id="{B6DE0229-815C-F159-B709-A55806D56200}"/>
                </a:ext>
              </a:extLst>
            </p:cNvPr>
            <p:cNvSpPr/>
            <p:nvPr/>
          </p:nvSpPr>
          <p:spPr>
            <a:xfrm>
              <a:off x="900250" y="2659742"/>
              <a:ext cx="320040" cy="586739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箭头: 下 93">
              <a:extLst>
                <a:ext uri="{FF2B5EF4-FFF2-40B4-BE49-F238E27FC236}">
                  <a16:creationId xmlns:a16="http://schemas.microsoft.com/office/drawing/2014/main" id="{A5407038-08E8-0367-F1BE-CBE9A621CF42}"/>
                </a:ext>
              </a:extLst>
            </p:cNvPr>
            <p:cNvSpPr/>
            <p:nvPr/>
          </p:nvSpPr>
          <p:spPr>
            <a:xfrm>
              <a:off x="4259581" y="2659742"/>
              <a:ext cx="320040" cy="586739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箭头: 下 96">
              <a:extLst>
                <a:ext uri="{FF2B5EF4-FFF2-40B4-BE49-F238E27FC236}">
                  <a16:creationId xmlns:a16="http://schemas.microsoft.com/office/drawing/2014/main" id="{5B5A070A-FC91-16D1-A9C8-E56F33BF1AEC}"/>
                </a:ext>
              </a:extLst>
            </p:cNvPr>
            <p:cNvSpPr/>
            <p:nvPr/>
          </p:nvSpPr>
          <p:spPr>
            <a:xfrm>
              <a:off x="7618761" y="2659742"/>
              <a:ext cx="320040" cy="586739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箭头: 下 97">
              <a:extLst>
                <a:ext uri="{FF2B5EF4-FFF2-40B4-BE49-F238E27FC236}">
                  <a16:creationId xmlns:a16="http://schemas.microsoft.com/office/drawing/2014/main" id="{61E2546E-7163-115E-67D1-5EEBCDA9E92C}"/>
                </a:ext>
              </a:extLst>
            </p:cNvPr>
            <p:cNvSpPr/>
            <p:nvPr/>
          </p:nvSpPr>
          <p:spPr>
            <a:xfrm>
              <a:off x="10978283" y="2659742"/>
              <a:ext cx="320040" cy="586739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945925F-3250-F850-4BE9-1E7326C2EF19}"/>
                </a:ext>
              </a:extLst>
            </p:cNvPr>
            <p:cNvGrpSpPr/>
            <p:nvPr/>
          </p:nvGrpSpPr>
          <p:grpSpPr>
            <a:xfrm>
              <a:off x="7400106" y="5618185"/>
              <a:ext cx="2950029" cy="1080000"/>
              <a:chOff x="6683826" y="5618185"/>
              <a:chExt cx="2950029" cy="1080000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2F501F17-3907-55E1-A454-4D5309FC72D3}"/>
                  </a:ext>
                </a:extLst>
              </p:cNvPr>
              <p:cNvGrpSpPr/>
              <p:nvPr/>
            </p:nvGrpSpPr>
            <p:grpSpPr>
              <a:xfrm>
                <a:off x="6683826" y="5618185"/>
                <a:ext cx="2950029" cy="1080000"/>
                <a:chOff x="2944587" y="3759856"/>
                <a:chExt cx="2950029" cy="1080000"/>
              </a:xfrm>
            </p:grpSpPr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452E321E-A975-1BF7-E878-56DBB375431A}"/>
                    </a:ext>
                  </a:extLst>
                </p:cNvPr>
                <p:cNvSpPr/>
                <p:nvPr/>
              </p:nvSpPr>
              <p:spPr>
                <a:xfrm>
                  <a:off x="2944587" y="3759856"/>
                  <a:ext cx="2950029" cy="1080000"/>
                </a:xfrm>
                <a:prstGeom prst="roundRect">
                  <a:avLst>
                    <a:gd name="adj" fmla="val 719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9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B5FF398B-B5C8-50E0-112D-2F160B6934C8}"/>
                    </a:ext>
                  </a:extLst>
                </p:cNvPr>
                <p:cNvSpPr/>
                <p:nvPr/>
              </p:nvSpPr>
              <p:spPr>
                <a:xfrm>
                  <a:off x="3020787" y="4093028"/>
                  <a:ext cx="881743" cy="413657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900" b="1" dirty="0">
                      <a:solidFill>
                        <a:schemeClr val="bg1"/>
                      </a:solidFill>
                    </a:rPr>
                    <a:t>养修信息预约</a:t>
                  </a:r>
                </a:p>
              </p:txBody>
            </p:sp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3488A7F1-E5AF-24CF-BF30-C154D8FA18C0}"/>
                    </a:ext>
                  </a:extLst>
                </p:cNvPr>
                <p:cNvSpPr/>
                <p:nvPr/>
              </p:nvSpPr>
              <p:spPr>
                <a:xfrm>
                  <a:off x="3978731" y="4093028"/>
                  <a:ext cx="881743" cy="413657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900" b="1" dirty="0">
                      <a:solidFill>
                        <a:schemeClr val="bg1"/>
                      </a:solidFill>
                    </a:rPr>
                    <a:t>养修服务单项</a:t>
                  </a:r>
                </a:p>
              </p:txBody>
            </p:sp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E6D4C93-63D6-C524-3E90-2C2CE35D1361}"/>
                    </a:ext>
                  </a:extLst>
                </p:cNvPr>
                <p:cNvSpPr/>
                <p:nvPr/>
              </p:nvSpPr>
              <p:spPr>
                <a:xfrm>
                  <a:off x="4936675" y="4093028"/>
                  <a:ext cx="881743" cy="413657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900" b="1" dirty="0">
                      <a:solidFill>
                        <a:schemeClr val="bg1"/>
                      </a:solidFill>
                    </a:rPr>
                    <a:t>服务结算单</a:t>
                  </a:r>
                </a:p>
              </p:txBody>
            </p:sp>
          </p:grp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BBAE3556-0B03-A783-7E59-6619BCF2439C}"/>
                  </a:ext>
                </a:extLst>
              </p:cNvPr>
              <p:cNvSpPr/>
              <p:nvPr/>
            </p:nvSpPr>
            <p:spPr>
              <a:xfrm>
                <a:off x="6765061" y="5733234"/>
                <a:ext cx="871672" cy="87167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F425ACF3-1F7B-1F5D-3F16-BCE74EC6E3A5}"/>
                  </a:ext>
                </a:extLst>
              </p:cNvPr>
              <p:cNvSpPr/>
              <p:nvPr/>
            </p:nvSpPr>
            <p:spPr>
              <a:xfrm>
                <a:off x="7694225" y="5733234"/>
                <a:ext cx="871672" cy="87167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CA250472-788C-34B2-F03C-DC0FFD44EC7A}"/>
                  </a:ext>
                </a:extLst>
              </p:cNvPr>
              <p:cNvSpPr/>
              <p:nvPr/>
            </p:nvSpPr>
            <p:spPr>
              <a:xfrm>
                <a:off x="8669614" y="5733234"/>
                <a:ext cx="871672" cy="87167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0" name="箭头: 下 109">
              <a:extLst>
                <a:ext uri="{FF2B5EF4-FFF2-40B4-BE49-F238E27FC236}">
                  <a16:creationId xmlns:a16="http://schemas.microsoft.com/office/drawing/2014/main" id="{B4F777EF-A212-831C-C481-6707D1CD7A74}"/>
                </a:ext>
              </a:extLst>
            </p:cNvPr>
            <p:cNvSpPr/>
            <p:nvPr/>
          </p:nvSpPr>
          <p:spPr>
            <a:xfrm rot="1713713">
              <a:off x="9497429" y="4578403"/>
              <a:ext cx="427363" cy="1059152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箭头: 下 110">
              <a:extLst>
                <a:ext uri="{FF2B5EF4-FFF2-40B4-BE49-F238E27FC236}">
                  <a16:creationId xmlns:a16="http://schemas.microsoft.com/office/drawing/2014/main" id="{1EB9CDC6-FF35-3604-C9E7-08AEEBB3F685}"/>
                </a:ext>
              </a:extLst>
            </p:cNvPr>
            <p:cNvSpPr/>
            <p:nvPr/>
          </p:nvSpPr>
          <p:spPr>
            <a:xfrm rot="19886287" flipH="1">
              <a:off x="11230179" y="4580079"/>
              <a:ext cx="427363" cy="1059152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355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D9272F28-53C2-A45A-1F79-3EFA1F7E107C}"/>
              </a:ext>
            </a:extLst>
          </p:cNvPr>
          <p:cNvGrpSpPr/>
          <p:nvPr/>
        </p:nvGrpSpPr>
        <p:grpSpPr>
          <a:xfrm>
            <a:off x="1889522" y="1057841"/>
            <a:ext cx="9476523" cy="5125245"/>
            <a:chOff x="1889522" y="1057841"/>
            <a:chExt cx="9476523" cy="512524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BB93808-9AFC-3670-C3CE-47C5C3CA1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8363" y="1531936"/>
              <a:ext cx="1040266" cy="1461640"/>
            </a:xfrm>
            <a:prstGeom prst="rect">
              <a:avLst/>
            </a:prstGeom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E9ACD355-74F3-8156-7C64-85E4C93402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25" y="1057842"/>
              <a:ext cx="3333750" cy="2409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72A7F7A-622B-B775-025D-1F6999DEC24B}"/>
                </a:ext>
              </a:extLst>
            </p:cNvPr>
            <p:cNvSpPr/>
            <p:nvPr/>
          </p:nvSpPr>
          <p:spPr>
            <a:xfrm>
              <a:off x="9013371" y="1531936"/>
              <a:ext cx="2352674" cy="14616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Controller</a:t>
              </a:r>
            </a:p>
            <a:p>
              <a:pPr algn="ctr"/>
              <a:r>
                <a:rPr lang="zh-CN" altLang="en-US" sz="2800" dirty="0"/>
                <a:t>控制层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A8C38C3-A0CF-5F75-180C-C2905DDCA88F}"/>
                </a:ext>
              </a:extLst>
            </p:cNvPr>
            <p:cNvSpPr/>
            <p:nvPr/>
          </p:nvSpPr>
          <p:spPr>
            <a:xfrm>
              <a:off x="9013371" y="4721446"/>
              <a:ext cx="2352674" cy="14616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Service</a:t>
              </a:r>
            </a:p>
            <a:p>
              <a:pPr algn="ctr"/>
              <a:r>
                <a:rPr lang="zh-CN" altLang="en-US" sz="2800" dirty="0"/>
                <a:t>业务逻辑处理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F2404F6-4EFE-50AA-BBB7-E39C531BA303}"/>
                </a:ext>
              </a:extLst>
            </p:cNvPr>
            <p:cNvSpPr/>
            <p:nvPr/>
          </p:nvSpPr>
          <p:spPr>
            <a:xfrm>
              <a:off x="4919663" y="4721446"/>
              <a:ext cx="2352674" cy="14616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Mapper</a:t>
              </a:r>
            </a:p>
            <a:p>
              <a:pPr algn="ctr"/>
              <a:r>
                <a:rPr lang="zh-CN" altLang="en-US" sz="2800" dirty="0"/>
                <a:t>持久层</a:t>
              </a:r>
            </a:p>
          </p:txBody>
        </p:sp>
        <p:pic>
          <p:nvPicPr>
            <p:cNvPr id="1032" name="Picture 8" descr="数据库图标图片免费下载_PNG素材_编号ve9iwjjk6_图精灵">
              <a:extLst>
                <a:ext uri="{FF2B5EF4-FFF2-40B4-BE49-F238E27FC236}">
                  <a16:creationId xmlns:a16="http://schemas.microsoft.com/office/drawing/2014/main" id="{BAD96468-B27C-B184-7601-DB38B5705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522" y="4721446"/>
              <a:ext cx="1537948" cy="1461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246B190-E1E7-7D56-9F12-C8EAAAF0EFCD}"/>
                </a:ext>
              </a:extLst>
            </p:cNvPr>
            <p:cNvCxnSpPr>
              <a:cxnSpLocks/>
            </p:cNvCxnSpPr>
            <p:nvPr/>
          </p:nvCxnSpPr>
          <p:spPr>
            <a:xfrm>
              <a:off x="3427470" y="2013862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A6BDB9F-C525-E438-CE73-CAE21F3D8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7470" y="2471062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66D3E39-C2D4-89BB-32BF-D00BE2E94772}"/>
                </a:ext>
              </a:extLst>
            </p:cNvPr>
            <p:cNvCxnSpPr>
              <a:cxnSpLocks/>
            </p:cNvCxnSpPr>
            <p:nvPr/>
          </p:nvCxnSpPr>
          <p:spPr>
            <a:xfrm>
              <a:off x="7444299" y="2013862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4D6306B-1C25-FE82-BCB3-AAB5CC022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4299" y="2471062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1E3A545-9D6C-9816-9A6D-B23899850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4299" y="5214257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2CE4EAA-07AD-245E-D331-917594BB60D7}"/>
                </a:ext>
              </a:extLst>
            </p:cNvPr>
            <p:cNvCxnSpPr>
              <a:cxnSpLocks/>
            </p:cNvCxnSpPr>
            <p:nvPr/>
          </p:nvCxnSpPr>
          <p:spPr>
            <a:xfrm>
              <a:off x="7444299" y="5671457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ABA96B40-5458-EAD7-C84D-7665C6893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7470" y="5214257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AF46AB6-F577-53F2-EFC2-F56AF9D190AE}"/>
                </a:ext>
              </a:extLst>
            </p:cNvPr>
            <p:cNvCxnSpPr>
              <a:cxnSpLocks/>
            </p:cNvCxnSpPr>
            <p:nvPr/>
          </p:nvCxnSpPr>
          <p:spPr>
            <a:xfrm>
              <a:off x="3427470" y="5671457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BB4B3259-77C3-976F-5087-1123275FB9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70734" y="3862630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11D16BF-3291-DABD-2CBC-5963D2C97F1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9702336" y="3862630"/>
              <a:ext cx="1368000" cy="0"/>
            </a:xfrm>
            <a:prstGeom prst="straightConnector1">
              <a:avLst/>
            </a:prstGeom>
            <a:ln w="25400">
              <a:headEnd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C1E6D5B-065D-5073-728E-A09BD7505C5C}"/>
                </a:ext>
              </a:extLst>
            </p:cNvPr>
            <p:cNvSpPr txBox="1"/>
            <p:nvPr/>
          </p:nvSpPr>
          <p:spPr>
            <a:xfrm>
              <a:off x="2201296" y="1057842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浏览器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73D4734-C1D5-791D-4A62-04337C0877DD}"/>
                </a:ext>
              </a:extLst>
            </p:cNvPr>
            <p:cNvSpPr txBox="1"/>
            <p:nvPr/>
          </p:nvSpPr>
          <p:spPr>
            <a:xfrm>
              <a:off x="5092452" y="1057841"/>
              <a:ext cx="2197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Tomcat</a:t>
              </a:r>
              <a:r>
                <a:rPr lang="zh-CN" altLang="en-US" sz="2400" dirty="0"/>
                <a:t>服务器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AD08595-0307-5E47-D617-6A772B5F6D52}"/>
                </a:ext>
              </a:extLst>
            </p:cNvPr>
            <p:cNvSpPr txBox="1"/>
            <p:nvPr/>
          </p:nvSpPr>
          <p:spPr>
            <a:xfrm>
              <a:off x="1974496" y="399625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数据库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E1A9A65-9361-92E8-37A6-2D135F45A0A8}"/>
                </a:ext>
              </a:extLst>
            </p:cNvPr>
            <p:cNvSpPr txBox="1"/>
            <p:nvPr/>
          </p:nvSpPr>
          <p:spPr>
            <a:xfrm>
              <a:off x="3633250" y="1629907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发起请求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EE72A41-0F84-0F34-2D4A-06D732244F7E}"/>
                </a:ext>
              </a:extLst>
            </p:cNvPr>
            <p:cNvSpPr txBox="1"/>
            <p:nvPr/>
          </p:nvSpPr>
          <p:spPr>
            <a:xfrm>
              <a:off x="3633250" y="2562525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响应数据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1776C1C-A559-9636-8E57-FE92946F22D0}"/>
                </a:ext>
              </a:extLst>
            </p:cNvPr>
            <p:cNvSpPr txBox="1"/>
            <p:nvPr/>
          </p:nvSpPr>
          <p:spPr>
            <a:xfrm>
              <a:off x="7608166" y="1613194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接受请求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34C1E68-3C59-9AEC-FD5E-47AB5D290FD8}"/>
                </a:ext>
              </a:extLst>
            </p:cNvPr>
            <p:cNvSpPr txBox="1"/>
            <p:nvPr/>
          </p:nvSpPr>
          <p:spPr>
            <a:xfrm>
              <a:off x="7608166" y="2551096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响应数据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8D0E51C-046B-6E60-BE0E-4EDB411EBE91}"/>
                </a:ext>
              </a:extLst>
            </p:cNvPr>
            <p:cNvSpPr txBox="1"/>
            <p:nvPr/>
          </p:nvSpPr>
          <p:spPr>
            <a:xfrm>
              <a:off x="9393069" y="3356172"/>
              <a:ext cx="461665" cy="10244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/>
                <a:t>业务处理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A66D45F-F579-A258-809B-E58BBED30AE7}"/>
                </a:ext>
              </a:extLst>
            </p:cNvPr>
            <p:cNvSpPr txBox="1"/>
            <p:nvPr/>
          </p:nvSpPr>
          <p:spPr>
            <a:xfrm>
              <a:off x="10456273" y="3356172"/>
              <a:ext cx="461665" cy="10244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dirty="0"/>
                <a:t>处理结果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52ACCF3-2E33-1B23-D108-51EE85C8CA25}"/>
                </a:ext>
              </a:extLst>
            </p:cNvPr>
            <p:cNvSpPr txBox="1"/>
            <p:nvPr/>
          </p:nvSpPr>
          <p:spPr>
            <a:xfrm>
              <a:off x="7608166" y="5715000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响应数据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24A7DC2-1AD0-7C0C-974C-0A342F73D1F9}"/>
                </a:ext>
              </a:extLst>
            </p:cNvPr>
            <p:cNvSpPr txBox="1"/>
            <p:nvPr/>
          </p:nvSpPr>
          <p:spPr>
            <a:xfrm>
              <a:off x="7608166" y="4875703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调用方法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36F605A-BBE1-AE53-63C6-0A700D976A73}"/>
                </a:ext>
              </a:extLst>
            </p:cNvPr>
            <p:cNvSpPr txBox="1"/>
            <p:nvPr/>
          </p:nvSpPr>
          <p:spPr>
            <a:xfrm>
              <a:off x="3562549" y="5725886"/>
              <a:ext cx="1040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响应数据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EEB24F7-798B-1417-ECA3-036077AD3BD3}"/>
                </a:ext>
              </a:extLst>
            </p:cNvPr>
            <p:cNvSpPr txBox="1"/>
            <p:nvPr/>
          </p:nvSpPr>
          <p:spPr>
            <a:xfrm>
              <a:off x="3557048" y="4875703"/>
              <a:ext cx="12864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操作数据库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659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9A17861-5419-78AD-FDE2-587C7031F74B}"/>
              </a:ext>
            </a:extLst>
          </p:cNvPr>
          <p:cNvGrpSpPr/>
          <p:nvPr/>
        </p:nvGrpSpPr>
        <p:grpSpPr>
          <a:xfrm>
            <a:off x="772885" y="1970314"/>
            <a:ext cx="10507777" cy="2189506"/>
            <a:chOff x="772885" y="1970314"/>
            <a:chExt cx="10507777" cy="218950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1AAE80F-A123-8CA1-E107-406AC9FD237A}"/>
                </a:ext>
              </a:extLst>
            </p:cNvPr>
            <p:cNvGrpSpPr/>
            <p:nvPr/>
          </p:nvGrpSpPr>
          <p:grpSpPr>
            <a:xfrm>
              <a:off x="772885" y="1970314"/>
              <a:ext cx="2242457" cy="2155372"/>
              <a:chOff x="1796143" y="1970314"/>
              <a:chExt cx="2242457" cy="215537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B838B54-8E73-4609-4CEB-163C49F2656C}"/>
                  </a:ext>
                </a:extLst>
              </p:cNvPr>
              <p:cNvSpPr/>
              <p:nvPr/>
            </p:nvSpPr>
            <p:spPr>
              <a:xfrm>
                <a:off x="1796143" y="1970314"/>
                <a:ext cx="1099457" cy="21553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/>
                  <a:t>前端浏览器</a:t>
                </a:r>
              </a:p>
            </p:txBody>
          </p: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B6B2567B-4CAC-771D-18E1-D7597A150F65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2895600" y="3048000"/>
                <a:ext cx="1143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CEFD8F6-F8B9-4472-A63D-67CD7DEE4832}"/>
                </a:ext>
              </a:extLst>
            </p:cNvPr>
            <p:cNvGrpSpPr/>
            <p:nvPr/>
          </p:nvGrpSpPr>
          <p:grpSpPr>
            <a:xfrm>
              <a:off x="3015342" y="1970314"/>
              <a:ext cx="2242457" cy="2155372"/>
              <a:chOff x="1796143" y="1970314"/>
              <a:chExt cx="2242457" cy="2155372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99BC03E-8C1B-C78F-3D72-97A07AA22E5F}"/>
                  </a:ext>
                </a:extLst>
              </p:cNvPr>
              <p:cNvSpPr/>
              <p:nvPr/>
            </p:nvSpPr>
            <p:spPr>
              <a:xfrm>
                <a:off x="1796143" y="1970314"/>
                <a:ext cx="1099457" cy="21553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/>
                  <a:t>控制层</a:t>
                </a:r>
              </a:p>
            </p:txBody>
          </p: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234A939B-C461-7A69-99FD-552DD721F0B8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895600" y="3048000"/>
                <a:ext cx="1143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662231C-293E-4F23-D329-158DC9763BBD}"/>
                </a:ext>
              </a:extLst>
            </p:cNvPr>
            <p:cNvGrpSpPr/>
            <p:nvPr/>
          </p:nvGrpSpPr>
          <p:grpSpPr>
            <a:xfrm>
              <a:off x="5257799" y="1970314"/>
              <a:ext cx="2242457" cy="2155372"/>
              <a:chOff x="1796143" y="1970314"/>
              <a:chExt cx="2242457" cy="2155372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DFD4FD-3579-A64B-8034-64290F5D3019}"/>
                  </a:ext>
                </a:extLst>
              </p:cNvPr>
              <p:cNvSpPr/>
              <p:nvPr/>
            </p:nvSpPr>
            <p:spPr>
              <a:xfrm>
                <a:off x="1796143" y="1970314"/>
                <a:ext cx="1099457" cy="21553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/>
                  <a:t>业务层</a:t>
                </a:r>
                <a:endParaRPr lang="en-US" altLang="zh-CN" sz="2400" dirty="0"/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4985BEE-EE63-9987-C36B-240A31FECBDA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2895600" y="3048000"/>
                <a:ext cx="1143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80E5637-CD83-6117-FC14-A775DAD4C49B}"/>
                </a:ext>
              </a:extLst>
            </p:cNvPr>
            <p:cNvGrpSpPr/>
            <p:nvPr/>
          </p:nvGrpSpPr>
          <p:grpSpPr>
            <a:xfrm>
              <a:off x="7500257" y="1970314"/>
              <a:ext cx="2242457" cy="2155372"/>
              <a:chOff x="1796143" y="1970314"/>
              <a:chExt cx="2242457" cy="21553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001A2FB-D9CE-661B-047B-BC440D6540D8}"/>
                  </a:ext>
                </a:extLst>
              </p:cNvPr>
              <p:cNvSpPr/>
              <p:nvPr/>
            </p:nvSpPr>
            <p:spPr>
              <a:xfrm>
                <a:off x="1796143" y="1970314"/>
                <a:ext cx="1099457" cy="21553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/>
                  <a:t>持久层</a:t>
                </a:r>
              </a:p>
            </p:txBody>
          </p: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A1DE187F-D51F-1AE4-4B18-2235B1A7F175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>
              <a:xfrm>
                <a:off x="2895600" y="3048000"/>
                <a:ext cx="1143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" name="Picture 8" descr="数据库图标图片免费下载_PNG素材_编号ve9iwjjk6_图精灵">
              <a:extLst>
                <a:ext uri="{FF2B5EF4-FFF2-40B4-BE49-F238E27FC236}">
                  <a16:creationId xmlns:a16="http://schemas.microsoft.com/office/drawing/2014/main" id="{FAE416F8-D193-4CFF-46FE-0FCD6906E0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2714" y="2698180"/>
              <a:ext cx="1537948" cy="1461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D5C9A05-D2B3-7F06-CD26-30BD7309DC27}"/>
                </a:ext>
              </a:extLst>
            </p:cNvPr>
            <p:cNvSpPr txBox="1"/>
            <p:nvPr/>
          </p:nvSpPr>
          <p:spPr>
            <a:xfrm>
              <a:off x="9827688" y="1972991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数据库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0750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2A25FED-9DFA-6D88-6231-FCF672177EB8}"/>
              </a:ext>
            </a:extLst>
          </p:cNvPr>
          <p:cNvGrpSpPr/>
          <p:nvPr/>
        </p:nvGrpSpPr>
        <p:grpSpPr>
          <a:xfrm>
            <a:off x="1572532" y="1077685"/>
            <a:ext cx="9910436" cy="4265749"/>
            <a:chOff x="1572532" y="1077685"/>
            <a:chExt cx="9910436" cy="4265749"/>
          </a:xfrm>
        </p:grpSpPr>
        <p:pic>
          <p:nvPicPr>
            <p:cNvPr id="4" name="图片 3" descr="第一个MyBatis程序-CSDN博客">
              <a:extLst>
                <a:ext uri="{FF2B5EF4-FFF2-40B4-BE49-F238E27FC236}">
                  <a16:creationId xmlns:a16="http://schemas.microsoft.com/office/drawing/2014/main" id="{50DB27E1-26D2-35A3-A017-7353929A3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2532" y="1077685"/>
              <a:ext cx="9910436" cy="4265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A455A34-4E0A-1BAD-8673-09090E6058AD}"/>
                </a:ext>
              </a:extLst>
            </p:cNvPr>
            <p:cNvSpPr/>
            <p:nvPr/>
          </p:nvSpPr>
          <p:spPr>
            <a:xfrm>
              <a:off x="8828314" y="5050971"/>
              <a:ext cx="2654654" cy="292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874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126</Words>
  <Application>Microsoft Office PowerPoint</Application>
  <PresentationFormat>宽屏</PresentationFormat>
  <Paragraphs>54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清晨 张</dc:creator>
  <cp:lastModifiedBy>清晨 张</cp:lastModifiedBy>
  <cp:revision>88</cp:revision>
  <dcterms:created xsi:type="dcterms:W3CDTF">2024-07-04T16:49:18Z</dcterms:created>
  <dcterms:modified xsi:type="dcterms:W3CDTF">2024-07-04T23:56:50Z</dcterms:modified>
</cp:coreProperties>
</file>
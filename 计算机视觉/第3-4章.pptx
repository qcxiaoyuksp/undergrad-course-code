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 id="294" r:id="rId40"/>
    <p:sldId id="348" r:id="rId41"/>
    <p:sldId id="295" r:id="rId42"/>
    <p:sldId id="349" r:id="rId43"/>
    <p:sldId id="350" r:id="rId44"/>
    <p:sldId id="296" r:id="rId45"/>
    <p:sldId id="297" r:id="rId46"/>
    <p:sldId id="298" r:id="rId47"/>
    <p:sldId id="299" r:id="rId48"/>
    <p:sldId id="300" r:id="rId49"/>
    <p:sldId id="301" r:id="rId50"/>
    <p:sldId id="302" r:id="rId51"/>
    <p:sldId id="303" r:id="rId52"/>
    <p:sldId id="481" r:id="rId53"/>
    <p:sldId id="304" r:id="rId54"/>
    <p:sldId id="305" r:id="rId55"/>
    <p:sldId id="306" r:id="rId56"/>
    <p:sldId id="307" r:id="rId57"/>
    <p:sldId id="308" r:id="rId58"/>
    <p:sldId id="309" r:id="rId59"/>
    <p:sldId id="310" r:id="rId60"/>
    <p:sldId id="351" r:id="rId61"/>
    <p:sldId id="311" r:id="rId62"/>
    <p:sldId id="312" r:id="rId63"/>
    <p:sldId id="313" r:id="rId64"/>
    <p:sldId id="438" r:id="rId65"/>
    <p:sldId id="439" r:id="rId66"/>
    <p:sldId id="353" r:id="rId67"/>
    <p:sldId id="315" r:id="rId68"/>
    <p:sldId id="316" r:id="rId69"/>
    <p:sldId id="317" r:id="rId70"/>
    <p:sldId id="318" r:id="rId71"/>
    <p:sldId id="355" r:id="rId72"/>
    <p:sldId id="319" r:id="rId73"/>
    <p:sldId id="320" r:id="rId74"/>
    <p:sldId id="536" r:id="rId75"/>
    <p:sldId id="537" r:id="rId76"/>
    <p:sldId id="321" r:id="rId77"/>
    <p:sldId id="324" r:id="rId78"/>
    <p:sldId id="356" r:id="rId79"/>
    <p:sldId id="325" r:id="rId80"/>
    <p:sldId id="326" r:id="rId81"/>
    <p:sldId id="327" r:id="rId82"/>
    <p:sldId id="407" r:id="rId83"/>
    <p:sldId id="357" r:id="rId84"/>
    <p:sldId id="408" r:id="rId85"/>
    <p:sldId id="409" r:id="rId86"/>
    <p:sldId id="328" r:id="rId87"/>
    <p:sldId id="329" r:id="rId88"/>
    <p:sldId id="410" r:id="rId89"/>
    <p:sldId id="330" r:id="rId90"/>
    <p:sldId id="331" r:id="rId91"/>
    <p:sldId id="332" r:id="rId92"/>
    <p:sldId id="411" r:id="rId93"/>
    <p:sldId id="433" r:id="rId94"/>
    <p:sldId id="334" r:id="rId95"/>
    <p:sldId id="335" r:id="rId96"/>
    <p:sldId id="336" r:id="rId97"/>
    <p:sldId id="571" r:id="rId98"/>
    <p:sldId id="337" r:id="rId99"/>
    <p:sldId id="570" r:id="rId100"/>
    <p:sldId id="338" r:id="rId101"/>
    <p:sldId id="339" r:id="rId103"/>
    <p:sldId id="575" r:id="rId104"/>
    <p:sldId id="593" r:id="rId105"/>
    <p:sldId id="576" r:id="rId106"/>
    <p:sldId id="578" r:id="rId107"/>
    <p:sldId id="579" r:id="rId108"/>
    <p:sldId id="580" r:id="rId109"/>
    <p:sldId id="574" r:id="rId110"/>
    <p:sldId id="581" r:id="rId111"/>
    <p:sldId id="340" r:id="rId112"/>
    <p:sldId id="582" r:id="rId113"/>
    <p:sldId id="341" r:id="rId114"/>
    <p:sldId id="583" r:id="rId115"/>
    <p:sldId id="342" r:id="rId116"/>
    <p:sldId id="343" r:id="rId117"/>
    <p:sldId id="344" r:id="rId118"/>
    <p:sldId id="345" r:id="rId119"/>
    <p:sldId id="610" r:id="rId120"/>
    <p:sldId id="346" r:id="rId121"/>
    <p:sldId id="347" r:id="rId122"/>
  </p:sldIdLst>
  <p:sldSz cx="12192000" cy="6858000"/>
  <p:notesSz cx="6858000" cy="9144000"/>
  <p:custDataLst>
    <p:tags r:id="rId1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2" userDrawn="1">
          <p15:clr>
            <a:srgbClr val="A4A3A4"/>
          </p15:clr>
        </p15:guide>
        <p15:guide id="2" pos="37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22"/>
        <p:guide pos="379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7" Type="http://schemas.openxmlformats.org/officeDocument/2006/relationships/tags" Target="tags/tag256.xml"/><Relationship Id="rId126" Type="http://schemas.openxmlformats.org/officeDocument/2006/relationships/commentAuthors" Target="commentAuthors.xml"/><Relationship Id="rId125" Type="http://schemas.openxmlformats.org/officeDocument/2006/relationships/tableStyles" Target="tableStyles.xml"/><Relationship Id="rId124" Type="http://schemas.openxmlformats.org/officeDocument/2006/relationships/viewProps" Target="viewProps.xml"/><Relationship Id="rId123" Type="http://schemas.openxmlformats.org/officeDocument/2006/relationships/presProps" Target="presProps.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notesMaster" Target="notesMasters/notesMaster1.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所有像素的阈值集合形成了一个曲面，称为阈值曲面。这个曲面反映了图像中不同区域阈值的变化。这个曲面可以被视为一个二维图像（像素位置）到一维值（阈值）的映射。</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microsoft.com/office/2007/relationships/media" Target="file:///C:\Users\Administrator\AppData\Roaming\Yozo_Office\Temp\fc\968467201615187995629\&#35745;&#31639;&#26426;&#35270;&#35273;&#25945;&#31243;&#65288;&#31532;3&#29256;&#65289;PPT&#31532;04&#31456;.pptx\ppt\media\media2.m4a" TargetMode="External"/><Relationship Id="rId2" Type="http://schemas.openxmlformats.org/officeDocument/2006/relationships/video" Target="file:///C:\Users\Administrator\AppData\Roaming\Yozo_Office\Temp\fc\968467201615187995629\&#35745;&#31639;&#26426;&#35270;&#35273;&#25945;&#31243;&#65288;&#31532;3&#29256;&#65289;PPT&#31532;04&#31456;.pptx\ppt\media\media2.m4a" TargetMode="Externa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tags" Target="../tags/tag6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tags" Target="../tags/tag6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tags" Target="../tags/tag67.xml"/><Relationship Id="rId4" Type="http://schemas.openxmlformats.org/officeDocument/2006/relationships/image" Target="../media/image7.png"/><Relationship Id="rId3" Type="http://schemas.openxmlformats.org/officeDocument/2006/relationships/tags" Target="../tags/tag66.xml"/><Relationship Id="rId2" Type="http://schemas.openxmlformats.org/officeDocument/2006/relationships/image" Target="../media/image6.png"/><Relationship Id="rId1" Type="http://schemas.openxmlformats.org/officeDocument/2006/relationships/tags" Target="../tags/tag6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tags" Target="../tags/tag6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tags" Target="../tags/tag6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tags" Target="../tags/tag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tags" Target="../tags/tag7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tags" Target="../tags/tag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6.emf"/><Relationship Id="rId3" Type="http://schemas.openxmlformats.org/officeDocument/2006/relationships/tags" Target="../tags/tag75.xml"/><Relationship Id="rId2" Type="http://schemas.openxmlformats.org/officeDocument/2006/relationships/image" Target="../media/image17.jpeg"/><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image" Target="../media/image18.jpeg"/><Relationship Id="rId3" Type="http://schemas.openxmlformats.org/officeDocument/2006/relationships/tags" Target="../tags/tag77.xml"/><Relationship Id="rId2" Type="http://schemas.openxmlformats.org/officeDocument/2006/relationships/image" Target="../media/image16.emf"/><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jpeg"/><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emf"/></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emf"/></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emf"/><Relationship Id="rId1" Type="http://schemas.openxmlformats.org/officeDocument/2006/relationships/image" Target="../media/image29.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emf"/></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emf"/><Relationship Id="rId1" Type="http://schemas.openxmlformats.org/officeDocument/2006/relationships/image" Target="../media/image32.emf"/></Relationships>
</file>

<file path=ppt/slides/_rels/slide39.x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oleObject" Target="../embeddings/oleObject3.bin"/><Relationship Id="rId7" Type="http://schemas.openxmlformats.org/officeDocument/2006/relationships/tags" Target="../tags/tag85.xml"/><Relationship Id="rId6" Type="http://schemas.openxmlformats.org/officeDocument/2006/relationships/image" Target="../media/image34.png"/><Relationship Id="rId5" Type="http://schemas.openxmlformats.org/officeDocument/2006/relationships/tags" Target="../tags/tag84.xml"/><Relationship Id="rId4" Type="http://schemas.openxmlformats.org/officeDocument/2006/relationships/image" Target="../media/image33.wmf"/><Relationship Id="rId3" Type="http://schemas.openxmlformats.org/officeDocument/2006/relationships/oleObject" Target="../embeddings/oleObject2.bin"/><Relationship Id="rId2" Type="http://schemas.openxmlformats.org/officeDocument/2006/relationships/tags" Target="../tags/tag83.xml"/><Relationship Id="rId13" Type="http://schemas.openxmlformats.org/officeDocument/2006/relationships/vmlDrawing" Target="../drawings/vmlDrawing2.vml"/><Relationship Id="rId12" Type="http://schemas.openxmlformats.org/officeDocument/2006/relationships/slideLayout" Target="../slideLayouts/slideLayout2.xml"/><Relationship Id="rId11" Type="http://schemas.openxmlformats.org/officeDocument/2006/relationships/image" Target="../media/image36.wmf"/><Relationship Id="rId10" Type="http://schemas.openxmlformats.org/officeDocument/2006/relationships/oleObject" Target="../embeddings/oleObject4.bin"/><Relationship Id="rId1" Type="http://schemas.openxmlformats.org/officeDocument/2006/relationships/tags" Target="../tags/tag82.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37.wmf"/><Relationship Id="rId1" Type="http://schemas.openxmlformats.org/officeDocument/2006/relationships/oleObject" Target="../embeddings/oleObject5.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emf"/></Relationships>
</file>

<file path=ppt/slides/_rels/slide42.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1.xml"/><Relationship Id="rId7" Type="http://schemas.openxmlformats.org/officeDocument/2006/relationships/image" Target="../media/image41.wmf"/><Relationship Id="rId6" Type="http://schemas.openxmlformats.org/officeDocument/2006/relationships/oleObject" Target="../embeddings/oleObject8.bin"/><Relationship Id="rId5" Type="http://schemas.openxmlformats.org/officeDocument/2006/relationships/tags" Target="../tags/tag86.xml"/><Relationship Id="rId4" Type="http://schemas.openxmlformats.org/officeDocument/2006/relationships/image" Target="../media/image40.wmf"/><Relationship Id="rId3" Type="http://schemas.openxmlformats.org/officeDocument/2006/relationships/oleObject" Target="../embeddings/oleObject7.bin"/><Relationship Id="rId2" Type="http://schemas.openxmlformats.org/officeDocument/2006/relationships/image" Target="../media/image39.wmf"/><Relationship Id="rId1"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3.emf"/><Relationship Id="rId1" Type="http://schemas.openxmlformats.org/officeDocument/2006/relationships/image" Target="../media/image42.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oleObject" Target="../embeddings/oleObject11.bin"/><Relationship Id="rId7" Type="http://schemas.openxmlformats.org/officeDocument/2006/relationships/tags" Target="../tags/tag89.xml"/><Relationship Id="rId6" Type="http://schemas.openxmlformats.org/officeDocument/2006/relationships/image" Target="../media/image45.wmf"/><Relationship Id="rId5" Type="http://schemas.openxmlformats.org/officeDocument/2006/relationships/oleObject" Target="../embeddings/oleObject10.bin"/><Relationship Id="rId4" Type="http://schemas.openxmlformats.org/officeDocument/2006/relationships/image" Target="../media/image44.wmf"/><Relationship Id="rId3" Type="http://schemas.openxmlformats.org/officeDocument/2006/relationships/oleObject" Target="../embeddings/oleObject9.bin"/><Relationship Id="rId2" Type="http://schemas.openxmlformats.org/officeDocument/2006/relationships/tags" Target="../tags/tag88.xml"/><Relationship Id="rId15" Type="http://schemas.openxmlformats.org/officeDocument/2006/relationships/vmlDrawing" Target="../drawings/vmlDrawing5.vml"/><Relationship Id="rId14" Type="http://schemas.openxmlformats.org/officeDocument/2006/relationships/slideLayout" Target="../slideLayouts/slideLayout2.xml"/><Relationship Id="rId13" Type="http://schemas.openxmlformats.org/officeDocument/2006/relationships/image" Target="../media/image48.png"/><Relationship Id="rId12" Type="http://schemas.openxmlformats.org/officeDocument/2006/relationships/tags" Target="../tags/tag90.xml"/><Relationship Id="rId11" Type="http://schemas.openxmlformats.org/officeDocument/2006/relationships/image" Target="../media/image47.wmf"/><Relationship Id="rId10" Type="http://schemas.openxmlformats.org/officeDocument/2006/relationships/oleObject" Target="../embeddings/oleObject12.bin"/><Relationship Id="rId1" Type="http://schemas.openxmlformats.org/officeDocument/2006/relationships/tags" Target="../tags/tag8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image" Target="../media/image50.wmf"/><Relationship Id="rId1" Type="http://schemas.openxmlformats.org/officeDocument/2006/relationships/oleObject" Target="../embeddings/oleObject13.bin"/></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tags" Target="../tags/tag94.xml"/><Relationship Id="rId4" Type="http://schemas.openxmlformats.org/officeDocument/2006/relationships/image" Target="../media/image53.png"/><Relationship Id="rId3" Type="http://schemas.openxmlformats.org/officeDocument/2006/relationships/tags" Target="../tags/tag93.xml"/><Relationship Id="rId2" Type="http://schemas.openxmlformats.org/officeDocument/2006/relationships/image" Target="../media/image52.wmf"/><Relationship Id="rId1" Type="http://schemas.openxmlformats.org/officeDocument/2006/relationships/oleObject" Target="../embeddings/oleObject14.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1.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image" Target="../media/image55.wmf"/><Relationship Id="rId1" Type="http://schemas.openxmlformats.org/officeDocument/2006/relationships/oleObject" Target="../embeddings/oleObject15.bin"/></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1.xml"/><Relationship Id="rId3" Type="http://schemas.openxmlformats.org/officeDocument/2006/relationships/image" Target="../media/image57.png"/><Relationship Id="rId2" Type="http://schemas.openxmlformats.org/officeDocument/2006/relationships/image" Target="../media/image56.wmf"/><Relationship Id="rId1" Type="http://schemas.openxmlformats.org/officeDocument/2006/relationships/oleObject" Target="../embeddings/oleObject16.bin"/></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8.emf"/></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xml"/><Relationship Id="rId2" Type="http://schemas.openxmlformats.org/officeDocument/2006/relationships/image" Target="../media/image59.wmf"/><Relationship Id="rId1" Type="http://schemas.openxmlformats.org/officeDocument/2006/relationships/oleObject" Target="../embeddings/oleObject1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0.em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1.emf"/></Relationships>
</file>

<file path=ppt/slides/_rels/slide5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3.wmf"/><Relationship Id="rId7" Type="http://schemas.openxmlformats.org/officeDocument/2006/relationships/oleObject" Target="../embeddings/oleObject19.bin"/><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image" Target="../media/image62.wmf"/><Relationship Id="rId2" Type="http://schemas.openxmlformats.org/officeDocument/2006/relationships/oleObject" Target="../embeddings/oleObject18.bin"/><Relationship Id="rId10" Type="http://schemas.openxmlformats.org/officeDocument/2006/relationships/vmlDrawing" Target="../drawings/vmlDrawing11.vml"/><Relationship Id="rId1" Type="http://schemas.openxmlformats.org/officeDocument/2006/relationships/tags" Target="../tags/tag97.xml"/></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5.wmf"/><Relationship Id="rId7" Type="http://schemas.openxmlformats.org/officeDocument/2006/relationships/oleObject" Target="../embeddings/oleObject21.bin"/><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image" Target="../media/image64.wmf"/><Relationship Id="rId2" Type="http://schemas.openxmlformats.org/officeDocument/2006/relationships/oleObject" Target="../embeddings/oleObject20.bin"/><Relationship Id="rId10" Type="http://schemas.openxmlformats.org/officeDocument/2006/relationships/vmlDrawing" Target="../drawings/vmlDrawing12.vml"/><Relationship Id="rId1" Type="http://schemas.openxmlformats.org/officeDocument/2006/relationships/tags" Target="../tags/tag101.xml"/></Relationships>
</file>

<file path=ppt/slides/_rels/slide59.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67.wmf"/><Relationship Id="rId5" Type="http://schemas.openxmlformats.org/officeDocument/2006/relationships/oleObject" Target="../embeddings/oleObject23.bin"/><Relationship Id="rId4" Type="http://schemas.openxmlformats.org/officeDocument/2006/relationships/tags" Target="../tags/tag106.xml"/><Relationship Id="rId3" Type="http://schemas.openxmlformats.org/officeDocument/2006/relationships/image" Target="../media/image66.wmf"/><Relationship Id="rId2" Type="http://schemas.openxmlformats.org/officeDocument/2006/relationships/oleObject" Target="../embeddings/oleObject22.bin"/><Relationship Id="rId1" Type="http://schemas.openxmlformats.org/officeDocument/2006/relationships/tags" Target="../tags/tag105.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tags" Target="../tags/tag10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9.png"/><Relationship Id="rId1" Type="http://schemas.openxmlformats.org/officeDocument/2006/relationships/tags" Target="../tags/tag108.xml"/></Relationships>
</file>

<file path=ppt/slides/_rels/slide62.xml.rels><?xml version="1.0" encoding="UTF-8" standalone="yes"?>
<Relationships xmlns="http://schemas.openxmlformats.org/package/2006/relationships"><Relationship Id="rId9" Type="http://schemas.openxmlformats.org/officeDocument/2006/relationships/image" Target="../media/image73.wmf"/><Relationship Id="rId8" Type="http://schemas.openxmlformats.org/officeDocument/2006/relationships/oleObject" Target="../embeddings/oleObject26.bin"/><Relationship Id="rId7" Type="http://schemas.openxmlformats.org/officeDocument/2006/relationships/tags" Target="../tags/tag110.xml"/><Relationship Id="rId6" Type="http://schemas.openxmlformats.org/officeDocument/2006/relationships/image" Target="../media/image72.wmf"/><Relationship Id="rId5" Type="http://schemas.openxmlformats.org/officeDocument/2006/relationships/oleObject" Target="../embeddings/oleObject25.bin"/><Relationship Id="rId4" Type="http://schemas.openxmlformats.org/officeDocument/2006/relationships/tags" Target="../tags/tag109.xml"/><Relationship Id="rId3" Type="http://schemas.openxmlformats.org/officeDocument/2006/relationships/image" Target="../media/image71.wmf"/><Relationship Id="rId2" Type="http://schemas.openxmlformats.org/officeDocument/2006/relationships/oleObject" Target="../embeddings/oleObject24.bin"/><Relationship Id="rId11" Type="http://schemas.openxmlformats.org/officeDocument/2006/relationships/vmlDrawing" Target="../drawings/vmlDrawing14.vml"/><Relationship Id="rId10" Type="http://schemas.openxmlformats.org/officeDocument/2006/relationships/slideLayout" Target="../slideLayouts/slideLayout1.xml"/><Relationship Id="rId1" Type="http://schemas.openxmlformats.org/officeDocument/2006/relationships/image" Target="../media/image70.emf"/></Relationships>
</file>

<file path=ppt/slides/_rels/slide63.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1" Type="http://schemas.openxmlformats.org/officeDocument/2006/relationships/slideLayout" Target="../slideLayouts/slideLayout7.xml"/><Relationship Id="rId10" Type="http://schemas.openxmlformats.org/officeDocument/2006/relationships/tags" Target="../tags/tag119.xml"/><Relationship Id="rId1" Type="http://schemas.openxmlformats.org/officeDocument/2006/relationships/tags" Target="../tags/tag111.xml"/></Relationships>
</file>

<file path=ppt/slides/_rels/slide64.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9" Type="http://schemas.openxmlformats.org/officeDocument/2006/relationships/slideLayout" Target="../slideLayouts/slideLayout7.xml"/><Relationship Id="rId18" Type="http://schemas.openxmlformats.org/officeDocument/2006/relationships/tags" Target="../tags/tag136.xml"/><Relationship Id="rId17" Type="http://schemas.openxmlformats.org/officeDocument/2006/relationships/image" Target="../media/image74.png"/><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0.xml"/></Relationships>
</file>

<file path=ppt/slides/_rels/slide65.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1" Type="http://schemas.openxmlformats.org/officeDocument/2006/relationships/slideLayout" Target="../slideLayouts/slideLayout7.xml"/><Relationship Id="rId10" Type="http://schemas.openxmlformats.org/officeDocument/2006/relationships/tags" Target="../tags/tag145.xml"/><Relationship Id="rId1" Type="http://schemas.openxmlformats.org/officeDocument/2006/relationships/tags" Target="../tags/tag13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7.png"/><Relationship Id="rId1" Type="http://schemas.openxmlformats.org/officeDocument/2006/relationships/image" Target="../media/image76.emf"/></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9.png"/><Relationship Id="rId1" Type="http://schemas.openxmlformats.org/officeDocument/2006/relationships/image" Target="../media/image78.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0.emf"/></Relationships>
</file>

<file path=ppt/slides/_rels/slide73.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9" Type="http://schemas.openxmlformats.org/officeDocument/2006/relationships/slideLayout" Target="../slideLayouts/slideLayout7.xml"/><Relationship Id="rId48" Type="http://schemas.openxmlformats.org/officeDocument/2006/relationships/tags" Target="../tags/tag192.xml"/><Relationship Id="rId47" Type="http://schemas.openxmlformats.org/officeDocument/2006/relationships/image" Target="../media/image74.png"/><Relationship Id="rId46" Type="http://schemas.openxmlformats.org/officeDocument/2006/relationships/tags" Target="../tags/tag191.xml"/><Relationship Id="rId45" Type="http://schemas.openxmlformats.org/officeDocument/2006/relationships/tags" Target="../tags/tag190.xml"/><Relationship Id="rId44" Type="http://schemas.openxmlformats.org/officeDocument/2006/relationships/tags" Target="../tags/tag189.xml"/><Relationship Id="rId43" Type="http://schemas.openxmlformats.org/officeDocument/2006/relationships/tags" Target="../tags/tag188.xml"/><Relationship Id="rId42" Type="http://schemas.openxmlformats.org/officeDocument/2006/relationships/tags" Target="../tags/tag187.xml"/><Relationship Id="rId41" Type="http://schemas.openxmlformats.org/officeDocument/2006/relationships/tags" Target="../tags/tag186.xml"/><Relationship Id="rId40" Type="http://schemas.openxmlformats.org/officeDocument/2006/relationships/tags" Target="../tags/tag185.xml"/><Relationship Id="rId4" Type="http://schemas.openxmlformats.org/officeDocument/2006/relationships/tags" Target="../tags/tag149.xml"/><Relationship Id="rId39" Type="http://schemas.openxmlformats.org/officeDocument/2006/relationships/tags" Target="../tags/tag184.xml"/><Relationship Id="rId38" Type="http://schemas.openxmlformats.org/officeDocument/2006/relationships/tags" Target="../tags/tag183.xml"/><Relationship Id="rId37" Type="http://schemas.openxmlformats.org/officeDocument/2006/relationships/tags" Target="../tags/tag182.xml"/><Relationship Id="rId36" Type="http://schemas.openxmlformats.org/officeDocument/2006/relationships/tags" Target="../tags/tag181.xml"/><Relationship Id="rId35" Type="http://schemas.openxmlformats.org/officeDocument/2006/relationships/tags" Target="../tags/tag180.xml"/><Relationship Id="rId34" Type="http://schemas.openxmlformats.org/officeDocument/2006/relationships/tags" Target="../tags/tag179.xml"/><Relationship Id="rId33" Type="http://schemas.openxmlformats.org/officeDocument/2006/relationships/tags" Target="../tags/tag178.xml"/><Relationship Id="rId32" Type="http://schemas.openxmlformats.org/officeDocument/2006/relationships/tags" Target="../tags/tag177.xml"/><Relationship Id="rId31" Type="http://schemas.openxmlformats.org/officeDocument/2006/relationships/tags" Target="../tags/tag176.xml"/><Relationship Id="rId30" Type="http://schemas.openxmlformats.org/officeDocument/2006/relationships/tags" Target="../tags/tag175.xml"/><Relationship Id="rId3" Type="http://schemas.openxmlformats.org/officeDocument/2006/relationships/tags" Target="../tags/tag148.xml"/><Relationship Id="rId29" Type="http://schemas.openxmlformats.org/officeDocument/2006/relationships/tags" Target="../tags/tag174.xml"/><Relationship Id="rId28" Type="http://schemas.openxmlformats.org/officeDocument/2006/relationships/tags" Target="../tags/tag173.xml"/><Relationship Id="rId27" Type="http://schemas.openxmlformats.org/officeDocument/2006/relationships/tags" Target="../tags/tag172.xml"/><Relationship Id="rId26" Type="http://schemas.openxmlformats.org/officeDocument/2006/relationships/tags" Target="../tags/tag171.xml"/><Relationship Id="rId25" Type="http://schemas.openxmlformats.org/officeDocument/2006/relationships/tags" Target="../tags/tag170.xml"/><Relationship Id="rId24" Type="http://schemas.openxmlformats.org/officeDocument/2006/relationships/tags" Target="../tags/tag169.xml"/><Relationship Id="rId23" Type="http://schemas.openxmlformats.org/officeDocument/2006/relationships/tags" Target="../tags/tag168.xml"/><Relationship Id="rId22" Type="http://schemas.openxmlformats.org/officeDocument/2006/relationships/tags" Target="../tags/tag167.xml"/><Relationship Id="rId21" Type="http://schemas.openxmlformats.org/officeDocument/2006/relationships/tags" Target="../tags/tag166.xml"/><Relationship Id="rId20" Type="http://schemas.openxmlformats.org/officeDocument/2006/relationships/tags" Target="../tags/tag165.xml"/><Relationship Id="rId2" Type="http://schemas.openxmlformats.org/officeDocument/2006/relationships/tags" Target="../tags/tag147.xml"/><Relationship Id="rId19" Type="http://schemas.openxmlformats.org/officeDocument/2006/relationships/tags" Target="../tags/tag164.xml"/><Relationship Id="rId18" Type="http://schemas.openxmlformats.org/officeDocument/2006/relationships/tags" Target="../tags/tag163.xml"/><Relationship Id="rId17" Type="http://schemas.openxmlformats.org/officeDocument/2006/relationships/tags" Target="../tags/tag162.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74.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3" Type="http://schemas.openxmlformats.org/officeDocument/2006/relationships/slideLayout" Target="../slideLayouts/slideLayout7.xml"/><Relationship Id="rId42" Type="http://schemas.openxmlformats.org/officeDocument/2006/relationships/tags" Target="../tags/tag234.xml"/><Relationship Id="rId41" Type="http://schemas.openxmlformats.org/officeDocument/2006/relationships/tags" Target="../tags/tag233.xml"/><Relationship Id="rId40" Type="http://schemas.openxmlformats.org/officeDocument/2006/relationships/tags" Target="../tags/tag232.xml"/><Relationship Id="rId4" Type="http://schemas.openxmlformats.org/officeDocument/2006/relationships/tags" Target="../tags/tag196.xml"/><Relationship Id="rId39" Type="http://schemas.openxmlformats.org/officeDocument/2006/relationships/tags" Target="../tags/tag231.xml"/><Relationship Id="rId38" Type="http://schemas.openxmlformats.org/officeDocument/2006/relationships/tags" Target="../tags/tag230.xml"/><Relationship Id="rId37" Type="http://schemas.openxmlformats.org/officeDocument/2006/relationships/tags" Target="../tags/tag229.xml"/><Relationship Id="rId36" Type="http://schemas.openxmlformats.org/officeDocument/2006/relationships/tags" Target="../tags/tag228.xml"/><Relationship Id="rId35" Type="http://schemas.openxmlformats.org/officeDocument/2006/relationships/tags" Target="../tags/tag227.xml"/><Relationship Id="rId34" Type="http://schemas.openxmlformats.org/officeDocument/2006/relationships/tags" Target="../tags/tag226.xml"/><Relationship Id="rId33" Type="http://schemas.openxmlformats.org/officeDocument/2006/relationships/tags" Target="../tags/tag225.xml"/><Relationship Id="rId32" Type="http://schemas.openxmlformats.org/officeDocument/2006/relationships/tags" Target="../tags/tag224.xml"/><Relationship Id="rId31" Type="http://schemas.openxmlformats.org/officeDocument/2006/relationships/tags" Target="../tags/tag223.xml"/><Relationship Id="rId30" Type="http://schemas.openxmlformats.org/officeDocument/2006/relationships/tags" Target="../tags/tag222.xml"/><Relationship Id="rId3" Type="http://schemas.openxmlformats.org/officeDocument/2006/relationships/tags" Target="../tags/tag195.xml"/><Relationship Id="rId29" Type="http://schemas.openxmlformats.org/officeDocument/2006/relationships/tags" Target="../tags/tag221.xml"/><Relationship Id="rId28" Type="http://schemas.openxmlformats.org/officeDocument/2006/relationships/tags" Target="../tags/tag220.xml"/><Relationship Id="rId27" Type="http://schemas.openxmlformats.org/officeDocument/2006/relationships/tags" Target="../tags/tag219.xml"/><Relationship Id="rId26" Type="http://schemas.openxmlformats.org/officeDocument/2006/relationships/tags" Target="../tags/tag218.xml"/><Relationship Id="rId25" Type="http://schemas.openxmlformats.org/officeDocument/2006/relationships/tags" Target="../tags/tag217.xml"/><Relationship Id="rId24" Type="http://schemas.openxmlformats.org/officeDocument/2006/relationships/tags" Target="../tags/tag216.xml"/><Relationship Id="rId23" Type="http://schemas.openxmlformats.org/officeDocument/2006/relationships/tags" Target="../tags/tag215.xml"/><Relationship Id="rId22" Type="http://schemas.openxmlformats.org/officeDocument/2006/relationships/tags" Target="../tags/tag214.xml"/><Relationship Id="rId21" Type="http://schemas.openxmlformats.org/officeDocument/2006/relationships/tags" Target="../tags/tag213.xml"/><Relationship Id="rId20" Type="http://schemas.openxmlformats.org/officeDocument/2006/relationships/tags" Target="../tags/tag212.xml"/><Relationship Id="rId2" Type="http://schemas.openxmlformats.org/officeDocument/2006/relationships/tags" Target="../tags/tag194.xml"/><Relationship Id="rId19" Type="http://schemas.openxmlformats.org/officeDocument/2006/relationships/tags" Target="../tags/tag211.xml"/><Relationship Id="rId18" Type="http://schemas.openxmlformats.org/officeDocument/2006/relationships/tags" Target="../tags/tag210.xml"/><Relationship Id="rId17" Type="http://schemas.openxmlformats.org/officeDocument/2006/relationships/tags" Target="../tags/tag209.xml"/><Relationship Id="rId16" Type="http://schemas.openxmlformats.org/officeDocument/2006/relationships/tags" Target="../tags/tag208.xml"/><Relationship Id="rId15" Type="http://schemas.openxmlformats.org/officeDocument/2006/relationships/tags" Target="../tags/tag207.xml"/><Relationship Id="rId14" Type="http://schemas.openxmlformats.org/officeDocument/2006/relationships/tags" Target="../tags/tag206.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tags" Target="../tags/tag193.xml"/></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xml"/><Relationship Id="rId2" Type="http://schemas.openxmlformats.org/officeDocument/2006/relationships/image" Target="../media/image81.wmf"/><Relationship Id="rId1" Type="http://schemas.openxmlformats.org/officeDocument/2006/relationships/oleObject" Target="../embeddings/oleObject27.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image" Target="../media/image85.emf"/><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7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4.emf"/><Relationship Id="rId1" Type="http://schemas.openxmlformats.org/officeDocument/2006/relationships/image" Target="../media/image93.png"/></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image" Target="../media/image95.png"/><Relationship Id="rId1" Type="http://schemas.openxmlformats.org/officeDocument/2006/relationships/tags" Target="../tags/tag240.xml"/></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tags" Target="../tags/tag245.xml"/><Relationship Id="rId4" Type="http://schemas.openxmlformats.org/officeDocument/2006/relationships/image" Target="../media/image96.wmf"/><Relationship Id="rId3" Type="http://schemas.openxmlformats.org/officeDocument/2006/relationships/oleObject" Target="../embeddings/oleObject28.bin"/><Relationship Id="rId2" Type="http://schemas.openxmlformats.org/officeDocument/2006/relationships/tags" Target="../tags/tag244.xml"/><Relationship Id="rId1" Type="http://schemas.openxmlformats.org/officeDocument/2006/relationships/tags" Target="../tags/tag243.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8.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4.emf"/><Relationship Id="rId2" Type="http://schemas.openxmlformats.org/officeDocument/2006/relationships/tags" Target="../tags/tag246.xml"/><Relationship Id="rId1" Type="http://schemas.openxmlformats.org/officeDocument/2006/relationships/image" Target="../media/image99.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1.png"/><Relationship Id="rId1" Type="http://schemas.openxmlformats.org/officeDocument/2006/relationships/image" Target="../media/image100.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3.emf"/><Relationship Id="rId1" Type="http://schemas.openxmlformats.org/officeDocument/2006/relationships/image" Target="../media/image102.png"/></Relationships>
</file>

<file path=ppt/slides/_rels/slide8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3.emf"/><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8.emf"/><Relationship Id="rId1" Type="http://schemas.openxmlformats.org/officeDocument/2006/relationships/tags" Target="../tags/tag250.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8.emf"/></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9.emf"/></Relationships>
</file>

<file path=ppt/slides/_rels/slide93.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1.xml"/><Relationship Id="rId3" Type="http://schemas.openxmlformats.org/officeDocument/2006/relationships/image" Target="../media/image111.wmf"/><Relationship Id="rId2" Type="http://schemas.openxmlformats.org/officeDocument/2006/relationships/oleObject" Target="../embeddings/oleObject29.bin"/><Relationship Id="rId1" Type="http://schemas.openxmlformats.org/officeDocument/2006/relationships/image" Target="../media/image110.emf"/></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2.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3.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14.jpe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5.png"/><Relationship Id="rId1" Type="http://schemas.openxmlformats.org/officeDocument/2006/relationships/tags" Target="../tags/tag251.xml"/></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1.xml"/><Relationship Id="rId2" Type="http://schemas.openxmlformats.org/officeDocument/2006/relationships/image" Target="../media/image116.wmf"/><Relationship Id="rId1" Type="http://schemas.openxmlformats.org/officeDocument/2006/relationships/oleObject" Target="../embeddings/oleObject30.bin"/></Relationships>
</file>

<file path=ppt/slides/_rels/slide104.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1.xml"/><Relationship Id="rId3" Type="http://schemas.openxmlformats.org/officeDocument/2006/relationships/image" Target="../media/image116.wmf"/><Relationship Id="rId2" Type="http://schemas.openxmlformats.org/officeDocument/2006/relationships/oleObject" Target="../embeddings/oleObject31.bin"/><Relationship Id="rId1" Type="http://schemas.openxmlformats.org/officeDocument/2006/relationships/image" Target="../media/image117.png"/></Relationships>
</file>

<file path=ppt/slides/_rels/slide10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0.png"/><Relationship Id="rId7" Type="http://schemas.openxmlformats.org/officeDocument/2006/relationships/tags" Target="../tags/tag252.xml"/><Relationship Id="rId6" Type="http://schemas.openxmlformats.org/officeDocument/2006/relationships/image" Target="../media/image119.wmf"/><Relationship Id="rId5" Type="http://schemas.openxmlformats.org/officeDocument/2006/relationships/oleObject" Target="../embeddings/oleObject34.bin"/><Relationship Id="rId4" Type="http://schemas.openxmlformats.org/officeDocument/2006/relationships/image" Target="../media/image118.wmf"/><Relationship Id="rId3" Type="http://schemas.openxmlformats.org/officeDocument/2006/relationships/oleObject" Target="../embeddings/oleObject33.bin"/><Relationship Id="rId2" Type="http://schemas.openxmlformats.org/officeDocument/2006/relationships/image" Target="../media/image116.wmf"/><Relationship Id="rId10" Type="http://schemas.openxmlformats.org/officeDocument/2006/relationships/vmlDrawing" Target="../drawings/vmlDrawing20.vml"/><Relationship Id="rId1" Type="http://schemas.openxmlformats.org/officeDocument/2006/relationships/oleObject" Target="../embeddings/oleObject32.bin"/></Relationships>
</file>

<file path=ppt/slides/_rels/slide106.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image" Target="../media/image119.wmf"/><Relationship Id="rId4" Type="http://schemas.openxmlformats.org/officeDocument/2006/relationships/oleObject" Target="../embeddings/oleObject36.bin"/><Relationship Id="rId3" Type="http://schemas.openxmlformats.org/officeDocument/2006/relationships/image" Target="../media/image116.wmf"/><Relationship Id="rId2" Type="http://schemas.openxmlformats.org/officeDocument/2006/relationships/oleObject" Target="../embeddings/oleObject35.bin"/><Relationship Id="rId1" Type="http://schemas.openxmlformats.org/officeDocument/2006/relationships/image" Target="../media/image121.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2.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53.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6.png"/></Relationships>
</file>

<file path=ppt/slides/_rels/slide1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3.png"/><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image" Target="../media/image127.jpeg"/></Relationships>
</file>

<file path=ppt/slides/_rels/slide1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7.jpeg"/><Relationship Id="rId2" Type="http://schemas.openxmlformats.org/officeDocument/2006/relationships/image" Target="../media/image129.png"/><Relationship Id="rId1" Type="http://schemas.openxmlformats.org/officeDocument/2006/relationships/image" Target="../media/image128.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0.jpe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1.emf"/></Relationships>
</file>

<file path=ppt/slides/_rels/slide1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4.emf"/><Relationship Id="rId2" Type="http://schemas.openxmlformats.org/officeDocument/2006/relationships/image" Target="../media/image133.emf"/><Relationship Id="rId1" Type="http://schemas.openxmlformats.org/officeDocument/2006/relationships/image" Target="../media/image13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5.emf"/></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3" name="任意多边形 274433"/>
          <p:cNvSpPr/>
          <p:nvPr/>
        </p:nvSpPr>
        <p:spPr>
          <a:xfrm flipH="1" flipV="1">
            <a:off x="3600450" y="0"/>
            <a:ext cx="8582025" cy="1236663"/>
          </a:xfrm>
          <a:custGeom>
            <a:avLst/>
            <a:gdLst/>
            <a:ahLst/>
            <a:cxnLst/>
            <a:pathLst>
              <a:path w="13514" h="1946">
                <a:moveTo>
                  <a:pt x="0" y="0"/>
                </a:moveTo>
                <a:lnTo>
                  <a:pt x="12179" y="0"/>
                </a:lnTo>
                <a:lnTo>
                  <a:pt x="13514" y="1946"/>
                </a:lnTo>
                <a:lnTo>
                  <a:pt x="13" y="1946"/>
                </a:lnTo>
                <a:cubicBezTo>
                  <a:pt x="13" y="1297"/>
                  <a:pt x="0" y="648"/>
                  <a:pt x="0" y="0"/>
                </a:cubicBezTo>
                <a:lnTo>
                  <a:pt x="0" y="0"/>
                </a:lnTo>
                <a:close/>
              </a:path>
            </a:pathLst>
          </a:custGeom>
          <a:solidFill>
            <a:srgbClr val="68746D"/>
          </a:solidFill>
          <a:ln w="12700">
            <a:noFill/>
          </a:ln>
        </p:spPr>
        <p:txBody>
          <a:bodyPr/>
          <a:p>
            <a:endParaRPr lang="zh-CN" altLang="en-US"/>
          </a:p>
        </p:txBody>
      </p:sp>
      <p:sp>
        <p:nvSpPr>
          <p:cNvPr id="274434" name="任意多边形 274434"/>
          <p:cNvSpPr/>
          <p:nvPr/>
        </p:nvSpPr>
        <p:spPr>
          <a:xfrm flipH="1" flipV="1">
            <a:off x="0" y="1368425"/>
            <a:ext cx="12168188" cy="1871663"/>
          </a:xfrm>
          <a:custGeom>
            <a:avLst/>
            <a:gdLst/>
            <a:ahLst/>
            <a:cxnLst/>
            <a:pathLst>
              <a:path w="19162" h="2948">
                <a:moveTo>
                  <a:pt x="13245" y="0"/>
                </a:moveTo>
                <a:lnTo>
                  <a:pt x="19162" y="0"/>
                </a:lnTo>
                <a:lnTo>
                  <a:pt x="19162" y="568"/>
                </a:lnTo>
                <a:lnTo>
                  <a:pt x="13594" y="568"/>
                </a:lnTo>
                <a:lnTo>
                  <a:pt x="12488" y="2948"/>
                </a:lnTo>
                <a:lnTo>
                  <a:pt x="11874" y="2948"/>
                </a:lnTo>
                <a:lnTo>
                  <a:pt x="11874" y="2948"/>
                </a:lnTo>
                <a:lnTo>
                  <a:pt x="1437" y="2948"/>
                </a:lnTo>
                <a:lnTo>
                  <a:pt x="291" y="2948"/>
                </a:lnTo>
                <a:lnTo>
                  <a:pt x="0" y="2948"/>
                </a:lnTo>
                <a:lnTo>
                  <a:pt x="0" y="2330"/>
                </a:lnTo>
                <a:lnTo>
                  <a:pt x="1437" y="2330"/>
                </a:lnTo>
                <a:lnTo>
                  <a:pt x="1437" y="2332"/>
                </a:lnTo>
                <a:lnTo>
                  <a:pt x="12160" y="2332"/>
                </a:lnTo>
                <a:lnTo>
                  <a:pt x="13245" y="0"/>
                </a:lnTo>
                <a:close/>
              </a:path>
            </a:pathLst>
          </a:custGeom>
          <a:solidFill>
            <a:srgbClr val="BC8268"/>
          </a:solidFill>
          <a:ln w="12700">
            <a:noFill/>
          </a:ln>
        </p:spPr>
        <p:txBody>
          <a:bodyPr/>
          <a:p>
            <a:endParaRPr lang="zh-CN" altLang="en-US"/>
          </a:p>
        </p:txBody>
      </p:sp>
      <p:sp>
        <p:nvSpPr>
          <p:cNvPr id="274435" name="矩形 274435"/>
          <p:cNvSpPr/>
          <p:nvPr/>
        </p:nvSpPr>
        <p:spPr>
          <a:xfrm>
            <a:off x="4608513" y="215900"/>
            <a:ext cx="4702175" cy="706755"/>
          </a:xfrm>
          <a:prstGeom prst="rect">
            <a:avLst/>
          </a:prstGeom>
          <a:noFill/>
          <a:ln w="9525">
            <a:noFill/>
          </a:ln>
        </p:spPr>
        <p:txBody>
          <a:bodyPr wrap="none" anchor="t" anchorCtr="0">
            <a:spAutoFit/>
          </a:bodyPr>
          <a:p>
            <a:pPr>
              <a:spcAft>
                <a:spcPts val="0"/>
              </a:spcAft>
            </a:pPr>
            <a:r>
              <a:rPr lang="zh-CN" altLang="en-US" sz="4000" b="1">
                <a:solidFill>
                  <a:schemeClr val="bg1"/>
                </a:solidFill>
                <a:latin typeface="微软雅黑" panose="020B0503020204020204" charset="-122"/>
                <a:ea typeface="微软雅黑" panose="020B0503020204020204" charset="-122"/>
              </a:rPr>
              <a:t>第</a:t>
            </a:r>
            <a:r>
              <a:rPr lang="en-US" altLang="zh-CN" sz="4000" b="1">
                <a:solidFill>
                  <a:schemeClr val="bg1"/>
                </a:solidFill>
                <a:latin typeface="微软雅黑" panose="020B0503020204020204" charset="-122"/>
                <a:ea typeface="微软雅黑" panose="020B0503020204020204" charset="-122"/>
              </a:rPr>
              <a:t>3</a:t>
            </a:r>
            <a:r>
              <a:rPr lang="zh-CN" altLang="en-US" sz="4000" b="1">
                <a:solidFill>
                  <a:schemeClr val="bg1"/>
                </a:solidFill>
                <a:latin typeface="微软雅黑" panose="020B0503020204020204" charset="-122"/>
                <a:ea typeface="微软雅黑" panose="020B0503020204020204" charset="-122"/>
              </a:rPr>
              <a:t>章	显著性检测</a:t>
            </a:r>
            <a:r>
              <a:rPr lang="zh-CN" altLang="en-US" sz="4000">
                <a:solidFill>
                  <a:schemeClr val="bg1"/>
                </a:solidFill>
                <a:latin typeface="微软雅黑" panose="020B0503020204020204" charset="-122"/>
                <a:ea typeface="微软雅黑" panose="020B0503020204020204" charset="-122"/>
              </a:rPr>
              <a:t> </a:t>
            </a:r>
            <a:endParaRPr lang="zh-CN" altLang="en-US" sz="4000">
              <a:solidFill>
                <a:schemeClr val="bg1"/>
              </a:solidFill>
              <a:latin typeface="微软雅黑" panose="020B0503020204020204" charset="-122"/>
              <a:ea typeface="微软雅黑" panose="020B0503020204020204" charset="-122"/>
              <a:sym typeface="Arial" panose="020B0604020202020204" pitchFamily="34" charset="0"/>
            </a:endParaRPr>
          </a:p>
        </p:txBody>
      </p:sp>
      <p:sp>
        <p:nvSpPr>
          <p:cNvPr id="274436" name="任意多边形 274436"/>
          <p:cNvSpPr/>
          <p:nvPr/>
        </p:nvSpPr>
        <p:spPr>
          <a:xfrm flipH="1">
            <a:off x="0" y="0"/>
            <a:ext cx="4140200" cy="2879725"/>
          </a:xfrm>
          <a:custGeom>
            <a:avLst/>
            <a:gdLst/>
            <a:ahLst/>
            <a:cxnLst/>
            <a:pathLst>
              <a:path w="6519" h="4535">
                <a:moveTo>
                  <a:pt x="1269" y="0"/>
                </a:moveTo>
                <a:lnTo>
                  <a:pt x="6519" y="0"/>
                </a:lnTo>
                <a:lnTo>
                  <a:pt x="6519" y="4535"/>
                </a:lnTo>
                <a:lnTo>
                  <a:pt x="1799" y="4535"/>
                </a:lnTo>
                <a:lnTo>
                  <a:pt x="0" y="2330"/>
                </a:lnTo>
                <a:lnTo>
                  <a:pt x="1269" y="0"/>
                </a:lnTo>
                <a:close/>
              </a:path>
            </a:pathLst>
          </a:custGeom>
          <a:blipFill rotWithShape="1">
            <a:blip r:embed="rId1"/>
            <a:stretch>
              <a:fillRect/>
            </a:stretch>
          </a:blipFill>
          <a:ln w="12700">
            <a:noFill/>
          </a:ln>
        </p:spPr>
        <p:txBody>
          <a:bodyPr/>
          <a:p>
            <a:endParaRPr lang="zh-CN" altLang="en-US"/>
          </a:p>
        </p:txBody>
      </p:sp>
      <p:sp>
        <p:nvSpPr>
          <p:cNvPr id="274437" name="任意多边形 274437"/>
          <p:cNvSpPr/>
          <p:nvPr/>
        </p:nvSpPr>
        <p:spPr>
          <a:xfrm flipH="1" flipV="1">
            <a:off x="2879725" y="0"/>
            <a:ext cx="1419225" cy="2879725"/>
          </a:xfrm>
          <a:custGeom>
            <a:avLst/>
            <a:gdLst/>
            <a:ahLst/>
            <a:cxnLst/>
            <a:pathLst>
              <a:path w="2234" h="4535">
                <a:moveTo>
                  <a:pt x="1299" y="0"/>
                </a:moveTo>
                <a:lnTo>
                  <a:pt x="2234" y="0"/>
                </a:lnTo>
                <a:lnTo>
                  <a:pt x="929" y="2747"/>
                </a:lnTo>
                <a:lnTo>
                  <a:pt x="2184" y="4522"/>
                </a:lnTo>
                <a:lnTo>
                  <a:pt x="1288" y="4535"/>
                </a:lnTo>
                <a:lnTo>
                  <a:pt x="0" y="2737"/>
                </a:lnTo>
                <a:lnTo>
                  <a:pt x="1299" y="0"/>
                </a:lnTo>
                <a:lnTo>
                  <a:pt x="1299" y="0"/>
                </a:lnTo>
                <a:close/>
              </a:path>
            </a:pathLst>
          </a:custGeom>
          <a:solidFill>
            <a:srgbClr val="D5D7C4"/>
          </a:solidFill>
          <a:ln w="12700">
            <a:noFill/>
          </a:ln>
        </p:spPr>
        <p:txBody>
          <a:bodyPr/>
          <a:p>
            <a:endParaRPr lang="zh-CN" altLang="en-US"/>
          </a:p>
        </p:txBody>
      </p:sp>
      <p:sp>
        <p:nvSpPr>
          <p:cNvPr id="274438" name="矩形 274438"/>
          <p:cNvSpPr/>
          <p:nvPr/>
        </p:nvSpPr>
        <p:spPr>
          <a:xfrm>
            <a:off x="4392613" y="1871663"/>
            <a:ext cx="7378700" cy="4554220"/>
          </a:xfrm>
          <a:prstGeom prst="rect">
            <a:avLst/>
          </a:prstGeom>
          <a:noFill/>
          <a:ln w="9525">
            <a:noFill/>
          </a:ln>
        </p:spPr>
        <p:txBody>
          <a:bodyPr anchor="t" anchorCtr="0">
            <a:spAutoFit/>
          </a:bodyPr>
          <a:p>
            <a:pPr algn="just" defTabSz="719455">
              <a:lnSpc>
                <a:spcPct val="125000"/>
              </a:lnSpc>
              <a:spcAft>
                <a:spcPts val="60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显著性是一个与主观感知相关联的概念，视觉显著性常归因于场景区域在底层特性方面的变化或对比而导致的综合结果</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zh-CN" altLang="en-US" sz="2400">
                <a:latin typeface="微软雅黑" panose="020B0503020204020204" charset="-122"/>
                <a:ea typeface="微软雅黑" panose="020B0503020204020204" charset="-122"/>
              </a:rPr>
              <a:t>	显著性在中间语义层次上表达了图像的特性</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zh-CN" altLang="en-US" sz="2400">
                <a:latin typeface="微软雅黑" panose="020B0503020204020204" charset="-122"/>
                <a:ea typeface="微软雅黑" panose="020B0503020204020204" charset="-122"/>
              </a:rPr>
              <a:t>	对于显著性的可靠估计往往并不需要对任何实际场景内容的高层理解</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zh-CN" altLang="en-US" sz="2400">
                <a:latin typeface="微软雅黑" panose="020B0503020204020204" charset="-122"/>
                <a:ea typeface="微软雅黑" panose="020B0503020204020204" charset="-122"/>
              </a:rPr>
              <a:t>	不同的显著性可用其易感知性来描述</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zh-CN" altLang="en-US" sz="2400">
                <a:latin typeface="微软雅黑" panose="020B0503020204020204" charset="-122"/>
                <a:ea typeface="微软雅黑" panose="020B0503020204020204" charset="-122"/>
              </a:rPr>
              <a:t>	图像中的显著极值的有效提取对于图像分析和处理具有重要的意义和应用价值</a:t>
            </a:r>
            <a:endParaRPr lang="zh-CN" altLang="en-US" sz="2400">
              <a:latin typeface="微软雅黑" panose="020B0503020204020204" charset="-122"/>
              <a:ea typeface="微软雅黑" panose="020B0503020204020204" charset="-122"/>
            </a:endParaRPr>
          </a:p>
        </p:txBody>
      </p:sp>
      <p:pic>
        <p:nvPicPr>
          <p:cNvPr id="274440" name="media2.m4a" descr="C:/Users/Administrator/AppData/Roaming/Yozo_Office/Temp/fc/968467201615187995629/计算机视觉教程（第3版）PPT第04章.pptx/ppt/media/image3.png">
            <a:hlinkClick r:id="" action="ppaction://media"/>
          </p:cNvPr>
          <p:cNvPicPr>
            <a:picLocks noChangeAspect="1"/>
          </p:cNvPicPr>
          <p:nvPr>
            <a:videoFile r:link="rId2"/>
            <p:extLst>
              <p:ext uri="{DAA4B4D4-6D71-4841-9C94-3DE7FCFB9230}">
                <p14:media xmlns:p14="http://schemas.microsoft.com/office/powerpoint/2010/main" r:link="rId3"/>
              </p:ext>
            </p:extLst>
          </p:nvPr>
        </p:nvPicPr>
        <p:blipFill>
          <a:blip r:embed="rId4"/>
          <a:stretch>
            <a:fillRect/>
          </a:stretch>
        </p:blipFill>
        <p:spPr>
          <a:xfrm>
            <a:off x="11671300" y="6337300"/>
            <a:ext cx="304800" cy="3048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444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274440"/>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7" name="任意多边形 275457"/>
          <p:cNvSpPr/>
          <p:nvPr/>
        </p:nvSpPr>
        <p:spPr>
          <a:xfrm flipH="1">
            <a:off x="0" y="0"/>
            <a:ext cx="4140200" cy="2879725"/>
          </a:xfrm>
          <a:custGeom>
            <a:avLst/>
            <a:gdLst/>
            <a:ahLst/>
            <a:cxnLst/>
            <a:pathLst>
              <a:path w="6519" h="4535">
                <a:moveTo>
                  <a:pt x="1269" y="0"/>
                </a:moveTo>
                <a:lnTo>
                  <a:pt x="6519" y="0"/>
                </a:lnTo>
                <a:lnTo>
                  <a:pt x="6519" y="4535"/>
                </a:lnTo>
                <a:lnTo>
                  <a:pt x="1799" y="4535"/>
                </a:lnTo>
                <a:lnTo>
                  <a:pt x="0" y="2330"/>
                </a:lnTo>
                <a:lnTo>
                  <a:pt x="1269" y="0"/>
                </a:lnTo>
                <a:close/>
              </a:path>
            </a:pathLst>
          </a:custGeom>
          <a:blipFill rotWithShape="0">
            <a:blip r:embed="rId1"/>
            <a:stretch>
              <a:fillRect/>
            </a:stretch>
          </a:blipFill>
          <a:ln w="12700">
            <a:noFill/>
          </a:ln>
        </p:spPr>
        <p:txBody>
          <a:bodyPr/>
          <a:p>
            <a:endParaRPr lang="zh-CN" altLang="en-US"/>
          </a:p>
        </p:txBody>
      </p:sp>
      <p:sp>
        <p:nvSpPr>
          <p:cNvPr id="275458" name="任意多边形 275458"/>
          <p:cNvSpPr/>
          <p:nvPr/>
        </p:nvSpPr>
        <p:spPr>
          <a:xfrm flipH="1" flipV="1">
            <a:off x="3600450" y="0"/>
            <a:ext cx="8582025" cy="1236663"/>
          </a:xfrm>
          <a:custGeom>
            <a:avLst/>
            <a:gdLst/>
            <a:ahLst/>
            <a:cxnLst/>
            <a:pathLst>
              <a:path w="13514" h="1946">
                <a:moveTo>
                  <a:pt x="0" y="0"/>
                </a:moveTo>
                <a:lnTo>
                  <a:pt x="12179" y="0"/>
                </a:lnTo>
                <a:lnTo>
                  <a:pt x="13514" y="1946"/>
                </a:lnTo>
                <a:lnTo>
                  <a:pt x="13" y="1946"/>
                </a:lnTo>
                <a:cubicBezTo>
                  <a:pt x="13" y="1297"/>
                  <a:pt x="0" y="648"/>
                  <a:pt x="0" y="0"/>
                </a:cubicBezTo>
                <a:lnTo>
                  <a:pt x="0" y="0"/>
                </a:lnTo>
                <a:close/>
              </a:path>
            </a:pathLst>
          </a:custGeom>
          <a:solidFill>
            <a:srgbClr val="68746D"/>
          </a:solidFill>
          <a:ln w="12700">
            <a:noFill/>
          </a:ln>
        </p:spPr>
        <p:txBody>
          <a:bodyPr/>
          <a:p>
            <a:endParaRPr lang="zh-CN" altLang="en-US"/>
          </a:p>
        </p:txBody>
      </p:sp>
      <p:sp>
        <p:nvSpPr>
          <p:cNvPr id="275459" name="任意多边形 275459"/>
          <p:cNvSpPr/>
          <p:nvPr/>
        </p:nvSpPr>
        <p:spPr>
          <a:xfrm flipH="1" flipV="1">
            <a:off x="0" y="1368425"/>
            <a:ext cx="12168188" cy="1871663"/>
          </a:xfrm>
          <a:custGeom>
            <a:avLst/>
            <a:gdLst/>
            <a:ahLst/>
            <a:cxnLst/>
            <a:pathLst>
              <a:path w="19162" h="2948">
                <a:moveTo>
                  <a:pt x="13245" y="0"/>
                </a:moveTo>
                <a:lnTo>
                  <a:pt x="19162" y="0"/>
                </a:lnTo>
                <a:lnTo>
                  <a:pt x="19162" y="568"/>
                </a:lnTo>
                <a:lnTo>
                  <a:pt x="13594" y="568"/>
                </a:lnTo>
                <a:lnTo>
                  <a:pt x="12488" y="2948"/>
                </a:lnTo>
                <a:lnTo>
                  <a:pt x="11874" y="2948"/>
                </a:lnTo>
                <a:lnTo>
                  <a:pt x="11874" y="2948"/>
                </a:lnTo>
                <a:lnTo>
                  <a:pt x="1437" y="2948"/>
                </a:lnTo>
                <a:lnTo>
                  <a:pt x="291" y="2948"/>
                </a:lnTo>
                <a:lnTo>
                  <a:pt x="0" y="2948"/>
                </a:lnTo>
                <a:lnTo>
                  <a:pt x="0" y="2330"/>
                </a:lnTo>
                <a:lnTo>
                  <a:pt x="1437" y="2330"/>
                </a:lnTo>
                <a:lnTo>
                  <a:pt x="1437" y="2332"/>
                </a:lnTo>
                <a:lnTo>
                  <a:pt x="12160" y="2332"/>
                </a:lnTo>
                <a:lnTo>
                  <a:pt x="13245" y="0"/>
                </a:lnTo>
                <a:close/>
              </a:path>
            </a:pathLst>
          </a:custGeom>
          <a:solidFill>
            <a:srgbClr val="BC8268"/>
          </a:solidFill>
          <a:ln w="12700">
            <a:noFill/>
          </a:ln>
        </p:spPr>
        <p:txBody>
          <a:bodyPr/>
          <a:p>
            <a:endParaRPr lang="zh-CN" altLang="en-US"/>
          </a:p>
        </p:txBody>
      </p:sp>
      <p:sp>
        <p:nvSpPr>
          <p:cNvPr id="275460" name="任意多边形 275460"/>
          <p:cNvSpPr/>
          <p:nvPr/>
        </p:nvSpPr>
        <p:spPr>
          <a:xfrm flipH="1" flipV="1">
            <a:off x="2879725" y="0"/>
            <a:ext cx="1419225" cy="2879725"/>
          </a:xfrm>
          <a:custGeom>
            <a:avLst/>
            <a:gdLst/>
            <a:ahLst/>
            <a:cxnLst/>
            <a:pathLst>
              <a:path w="2234" h="4535">
                <a:moveTo>
                  <a:pt x="1299" y="0"/>
                </a:moveTo>
                <a:lnTo>
                  <a:pt x="2234" y="0"/>
                </a:lnTo>
                <a:lnTo>
                  <a:pt x="929" y="2747"/>
                </a:lnTo>
                <a:lnTo>
                  <a:pt x="2184" y="4522"/>
                </a:lnTo>
                <a:lnTo>
                  <a:pt x="1288" y="4535"/>
                </a:lnTo>
                <a:lnTo>
                  <a:pt x="0" y="2737"/>
                </a:lnTo>
                <a:lnTo>
                  <a:pt x="1299" y="0"/>
                </a:lnTo>
                <a:lnTo>
                  <a:pt x="1299" y="0"/>
                </a:lnTo>
                <a:close/>
              </a:path>
            </a:pathLst>
          </a:custGeom>
          <a:solidFill>
            <a:srgbClr val="D5D7C4"/>
          </a:solidFill>
          <a:ln w="12700">
            <a:noFill/>
          </a:ln>
        </p:spPr>
        <p:txBody>
          <a:bodyPr/>
          <a:p>
            <a:endParaRPr lang="zh-CN" altLang="en-US"/>
          </a:p>
        </p:txBody>
      </p:sp>
      <p:sp>
        <p:nvSpPr>
          <p:cNvPr id="275461" name="矩形 275461"/>
          <p:cNvSpPr/>
          <p:nvPr/>
        </p:nvSpPr>
        <p:spPr>
          <a:xfrm>
            <a:off x="4608513" y="215900"/>
            <a:ext cx="3598862" cy="706755"/>
          </a:xfrm>
          <a:prstGeom prst="rect">
            <a:avLst/>
          </a:prstGeom>
          <a:noFill/>
          <a:ln w="9525">
            <a:noFill/>
          </a:ln>
        </p:spPr>
        <p:txBody>
          <a:bodyPr anchor="t" anchorCtr="0">
            <a:spAutoFit/>
          </a:bodyPr>
          <a:p>
            <a:pPr>
              <a:spcAft>
                <a:spcPts val="0"/>
              </a:spcAft>
            </a:pPr>
            <a:r>
              <a:rPr lang="zh-CN" altLang="en-US" sz="4000" b="1">
                <a:solidFill>
                  <a:schemeClr val="bg1"/>
                </a:solidFill>
                <a:latin typeface="Arial" panose="020B0604020202020204" pitchFamily="34" charset="0"/>
                <a:ea typeface="微软雅黑" panose="020B0503020204020204" charset="-122"/>
                <a:sym typeface="Arial" panose="020B0604020202020204" pitchFamily="34" charset="0"/>
              </a:rPr>
              <a:t>目 录 </a:t>
            </a:r>
            <a:r>
              <a:rPr lang="en-US" altLang="zh-CN" sz="2800">
                <a:solidFill>
                  <a:schemeClr val="bg1"/>
                </a:solidFill>
                <a:latin typeface="Arial" panose="020B0604020202020204" pitchFamily="34" charset="0"/>
                <a:ea typeface="微软雅黑" panose="020B0503020204020204" charset="-122"/>
                <a:sym typeface="Arial" panose="020B0604020202020204" pitchFamily="34" charset="0"/>
              </a:rPr>
              <a:t>contents</a:t>
            </a:r>
            <a:endParaRPr lang="en-US" altLang="zh-CN" sz="28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75462" name="矩形 275462"/>
          <p:cNvSpPr/>
          <p:nvPr/>
        </p:nvSpPr>
        <p:spPr>
          <a:xfrm>
            <a:off x="4679950" y="2087563"/>
            <a:ext cx="6119813" cy="3999865"/>
          </a:xfrm>
          <a:prstGeom prst="rect">
            <a:avLst/>
          </a:prstGeom>
          <a:noFill/>
          <a:ln w="9525">
            <a:noFill/>
          </a:ln>
        </p:spPr>
        <p:txBody>
          <a:bodyPr anchor="t" anchorCtr="0">
            <a:spAutoFit/>
          </a:bodyPr>
          <a:p>
            <a:pPr defTabSz="1079500">
              <a:lnSpc>
                <a:spcPct val="200000"/>
              </a:lnSpc>
              <a:spcBef>
                <a:spcPts val="600"/>
              </a:spcBef>
              <a:spcAft>
                <a:spcPts val="60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a:latin typeface="微软雅黑" panose="020B0503020204020204" charset="-122"/>
                <a:ea typeface="微软雅黑" panose="020B0503020204020204" charset="-122"/>
              </a:rPr>
              <a:t>显著性概述</a:t>
            </a:r>
            <a:endParaRPr lang="zh-CN" altLang="en-US" sz="2800">
              <a:latin typeface="微软雅黑" panose="020B0503020204020204" charset="-122"/>
              <a:ea typeface="微软雅黑" panose="020B0503020204020204" charset="-122"/>
            </a:endParaRPr>
          </a:p>
          <a:p>
            <a:pPr defTabSz="1079500">
              <a:lnSpc>
                <a:spcPct val="200000"/>
              </a:lnSpc>
              <a:spcBef>
                <a:spcPts val="600"/>
              </a:spcBef>
              <a:spcAft>
                <a:spcPts val="60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a:p>
            <a:pPr defTabSz="1079500">
              <a:lnSpc>
                <a:spcPct val="200000"/>
              </a:lnSpc>
              <a:spcBef>
                <a:spcPts val="600"/>
              </a:spcBef>
              <a:spcAft>
                <a:spcPts val="60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a:p>
            <a:pPr defTabSz="1079500">
              <a:lnSpc>
                <a:spcPct val="200000"/>
              </a:lnSpc>
              <a:spcBef>
                <a:spcPts val="600"/>
              </a:spcBef>
              <a:spcAft>
                <a:spcPts val="60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a:latin typeface="微软雅黑" panose="020B0503020204020204" charset="-122"/>
                <a:ea typeface="微软雅黑" panose="020B0503020204020204" charset="-122"/>
              </a:rPr>
              <a:t>显著目标区域提取及效果评价</a:t>
            </a:r>
            <a:endParaRPr lang="zh-CN" altLang="en-US" sz="2800">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1" name="矩形 276481"/>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6482" name="矩形 276482"/>
          <p:cNvSpPr/>
          <p:nvPr/>
        </p:nvSpPr>
        <p:spPr>
          <a:xfrm>
            <a:off x="2879725" y="1152525"/>
            <a:ext cx="7559675" cy="5215890"/>
          </a:xfrm>
          <a:prstGeom prst="rect">
            <a:avLst/>
          </a:prstGeom>
          <a:noFill/>
          <a:ln w="9525">
            <a:noFill/>
          </a:ln>
        </p:spPr>
        <p:txBody>
          <a:bodyPr anchor="t" anchorCtr="0">
            <a:spAutoFit/>
          </a:bodyPr>
          <a:p>
            <a:pPr algn="just" defTabSz="719455">
              <a:lnSpc>
                <a:spcPct val="150000"/>
              </a:lnSpc>
              <a:spcBef>
                <a:spcPts val="600"/>
              </a:spcBef>
              <a:spcAft>
                <a:spcPts val="1200"/>
              </a:spcAft>
            </a:pPr>
            <a:r>
              <a:rPr lang="en-US" altLang="zh-CN"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显著性指能使一个特征、图像点、图像区域或目标的鉴别性或相对于其环境更显眼的量</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特性</a:t>
            </a:r>
            <a:endParaRPr lang="zh-CN" altLang="en-US" sz="2400">
              <a:latin typeface="微软雅黑" panose="020B0503020204020204" charset="-122"/>
              <a:ea typeface="微软雅黑" panose="020B0503020204020204" charset="-122"/>
            </a:endParaRPr>
          </a:p>
          <a:p>
            <a:pPr algn="just" defTabSz="719455">
              <a:lnSpc>
                <a:spcPct val="150000"/>
              </a:lnSpc>
              <a:spcBef>
                <a:spcPts val="600"/>
              </a:spcBef>
              <a:spcAft>
                <a:spcPts val="1200"/>
              </a:spcAft>
            </a:pPr>
            <a:r>
              <a:rPr lang="zh-CN" altLang="en-US" sz="2400" b="1">
                <a:latin typeface="微软雅黑" panose="020B0503020204020204" charset="-122"/>
                <a:ea typeface="微软雅黑" panose="020B0503020204020204" charset="-122"/>
              </a:rPr>
              <a:t>显著性的内涵</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1200"/>
              </a:spcAft>
            </a:pPr>
            <a:r>
              <a:rPr lang="zh-CN" altLang="en-US"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显著性与人对世界的</a:t>
            </a:r>
            <a:r>
              <a:rPr lang="zh-CN" altLang="en-US" sz="2400">
                <a:solidFill>
                  <a:srgbClr val="FF0000"/>
                </a:solidFill>
                <a:latin typeface="微软雅黑" panose="020B0503020204020204" charset="-122"/>
                <a:ea typeface="微软雅黑" panose="020B0503020204020204" charset="-122"/>
              </a:rPr>
              <a:t>关注</a:t>
            </a:r>
            <a:r>
              <a:rPr lang="zh-CN" altLang="en-US" sz="2400">
                <a:latin typeface="微软雅黑" panose="020B0503020204020204" charset="-122"/>
                <a:ea typeface="微软雅黑" panose="020B0503020204020204" charset="-122"/>
              </a:rPr>
              <a:t>或</a:t>
            </a:r>
            <a:r>
              <a:rPr lang="zh-CN" altLang="en-US" sz="2400">
                <a:solidFill>
                  <a:srgbClr val="FF0000"/>
                </a:solidFill>
                <a:latin typeface="微软雅黑" panose="020B0503020204020204" charset="-122"/>
                <a:ea typeface="微软雅黑" panose="020B0503020204020204" charset="-122"/>
              </a:rPr>
              <a:t>注意</a:t>
            </a:r>
            <a:r>
              <a:rPr lang="zh-CN" altLang="en-US" sz="2400">
                <a:latin typeface="微软雅黑" panose="020B0503020204020204" charset="-122"/>
                <a:ea typeface="微软雅黑" panose="020B0503020204020204" charset="-122"/>
              </a:rPr>
              <a:t>有关。关注或注意是一个心理学概念，是心理过程的一种具有共性的特征，属于认知过程的内容</a:t>
            </a:r>
            <a:endParaRPr lang="zh-CN" altLang="en-US" sz="2400">
              <a:latin typeface="微软雅黑" panose="020B0503020204020204" charset="-122"/>
              <a:ea typeface="微软雅黑" panose="020B0503020204020204" charset="-122"/>
            </a:endParaRPr>
          </a:p>
          <a:p>
            <a:pPr algn="just" defTabSz="719455">
              <a:lnSpc>
                <a:spcPct val="150000"/>
              </a:lnSpc>
              <a:spcBef>
                <a:spcPts val="600"/>
              </a:spcBef>
              <a:spcAft>
                <a:spcPts val="1200"/>
              </a:spcAft>
            </a:pPr>
            <a:r>
              <a:rPr lang="zh-CN" altLang="en-US" sz="2400">
                <a:latin typeface="微软雅黑" panose="020B0503020204020204" charset="-122"/>
                <a:ea typeface="微软雅黑" panose="020B0503020204020204" charset="-122"/>
              </a:rPr>
              <a:t>	作为一个中层的语义线索，显著性可帮助填补低层特征和高层类别间的鸿沟</a:t>
            </a:r>
            <a:endParaRPr lang="zh-CN" altLang="en-US" sz="2400" b="1">
              <a:latin typeface="微软雅黑" panose="020B0503020204020204" charset="-122"/>
              <a:ea typeface="微软雅黑" panose="020B0503020204020204" charset="-122"/>
            </a:endParaRPr>
          </a:p>
        </p:txBody>
      </p:sp>
      <p:pic>
        <p:nvPicPr>
          <p:cNvPr id="100" name="图片 99"/>
          <p:cNvPicPr/>
          <p:nvPr>
            <p:custDataLst>
              <p:tags r:id="rId1"/>
            </p:custDataLst>
          </p:nvPr>
        </p:nvPicPr>
        <p:blipFill>
          <a:blip r:embed="rId2"/>
          <a:stretch>
            <a:fillRect/>
          </a:stretch>
        </p:blipFill>
        <p:spPr>
          <a:xfrm>
            <a:off x="396240" y="2138680"/>
            <a:ext cx="2211705" cy="173037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zh-CN" altLang="en-US" sz="2000">
                <a:latin typeface="微软雅黑" panose="020B0503020204020204" charset="-122"/>
                <a:ea typeface="微软雅黑" panose="020B0503020204020204" charset="-122"/>
              </a:rPr>
              <a:t>(1)	</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高层语义特征：人在观察中经常注意到的对象（如人脸、汽车等）经常对应图像中的显著区域，本身具有一定的认知语义含义</a:t>
            </a:r>
            <a:endParaRPr lang="zh-CN" altLang="en-US" sz="2000">
              <a:latin typeface="微软雅黑" panose="020B0503020204020204" charset="-122"/>
              <a:ea typeface="微软雅黑" panose="020B0503020204020204" charset="-122"/>
            </a:endParaRPr>
          </a:p>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(2)</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认知稳定性：显著区域对场景亮度、对象位置、朝向、尺度、以及观察条件等比较鲁棒</a:t>
            </a:r>
            <a:endParaRPr lang="zh-CN" altLang="en-US" sz="2000">
              <a:latin typeface="微软雅黑" panose="020B0503020204020204" charset="-122"/>
              <a:ea typeface="微软雅黑" panose="020B0503020204020204" charset="-122"/>
            </a:endParaRPr>
          </a:p>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(3)</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全局稀缺性：从全局范围来看，显著区域出现的频率比较低（局部、稀少），且不容易由图像中的其他区域复合而得到</a:t>
            </a:r>
            <a:endParaRPr lang="zh-CN" altLang="en-US" sz="2000">
              <a:latin typeface="微软雅黑" panose="020B0503020204020204" charset="-122"/>
              <a:ea typeface="微软雅黑" panose="020B0503020204020204" charset="-122"/>
            </a:endParaRPr>
          </a:p>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(4)</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局部差异性：显著区域总是与周围区域具有明显的特性（颜色、边缘、朝向）差异</a:t>
            </a:r>
            <a:endParaRPr lang="zh-CN" altLang="en-US" sz="2000">
              <a:latin typeface="微软雅黑" panose="020B0503020204020204" charset="-122"/>
              <a:ea typeface="微软雅黑" panose="020B0503020204020204" charset="-122"/>
            </a:endParaRPr>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zh-CN" altLang="en-US" sz="2000">
                <a:latin typeface="微软雅黑" panose="020B0503020204020204" charset="-122"/>
                <a:ea typeface="微软雅黑" panose="020B0503020204020204" charset="-122"/>
              </a:rPr>
              <a:t>(1)	</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高层语义特征：人在观察中经常注意到的对象（如人脸、汽车等）经常对应图像中的显著区域，本身具有一定的认知语义含义</a:t>
            </a:r>
            <a:endParaRPr lang="zh-CN" altLang="en-US" sz="2000">
              <a:latin typeface="微软雅黑" panose="020B0503020204020204" charset="-122"/>
              <a:ea typeface="微软雅黑" panose="020B0503020204020204" charset="-122"/>
            </a:endParaRPr>
          </a:p>
          <a:p>
            <a:pPr algn="l" defTabSz="914400">
              <a:lnSpc>
                <a:spcPct val="100000"/>
              </a:lnSpc>
              <a:spcBef>
                <a:spcPts val="600"/>
              </a:spcBef>
              <a:spcAft>
                <a:spcPts val="0"/>
              </a:spcAft>
              <a:buClrTx/>
              <a:buSzTx/>
              <a:buNone/>
            </a:pPr>
            <a:r>
              <a:rPr lang="zh-CN" altLang="en-US" sz="1800"/>
              <a:t>图像的语义分为</a:t>
            </a:r>
            <a:r>
              <a:rPr lang="zh-CN" altLang="en-US" sz="1800">
                <a:solidFill>
                  <a:srgbClr val="FF0000"/>
                </a:solidFill>
              </a:rPr>
              <a:t>视觉层</a:t>
            </a:r>
            <a:r>
              <a:rPr lang="zh-CN" altLang="en-US" sz="1800"/>
              <a:t>、</a:t>
            </a:r>
            <a:r>
              <a:rPr lang="zh-CN" altLang="en-US" sz="1800">
                <a:solidFill>
                  <a:srgbClr val="FF0000"/>
                </a:solidFill>
              </a:rPr>
              <a:t>对象层</a:t>
            </a:r>
            <a:r>
              <a:rPr lang="zh-CN" altLang="en-US" sz="1800"/>
              <a:t>和</a:t>
            </a:r>
            <a:r>
              <a:rPr lang="zh-CN" altLang="en-US" sz="1800">
                <a:solidFill>
                  <a:srgbClr val="FF0000"/>
                </a:solidFill>
              </a:rPr>
              <a:t>概念层</a:t>
            </a:r>
            <a:r>
              <a:rPr lang="zh-CN" altLang="en-US" sz="1800"/>
              <a:t>。</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视觉层即通常所理解的</a:t>
            </a:r>
            <a:r>
              <a:rPr lang="zh-CN" altLang="en-US" sz="1800">
                <a:solidFill>
                  <a:srgbClr val="FF0000"/>
                </a:solidFill>
              </a:rPr>
              <a:t>底层</a:t>
            </a:r>
            <a:r>
              <a:rPr lang="zh-CN" altLang="en-US" sz="1800"/>
              <a:t>，即</a:t>
            </a:r>
            <a:r>
              <a:rPr lang="zh-CN" altLang="en-US" sz="1800">
                <a:solidFill>
                  <a:srgbClr val="FF0000"/>
                </a:solidFill>
              </a:rPr>
              <a:t>颜色</a:t>
            </a:r>
            <a:r>
              <a:rPr lang="zh-CN" altLang="en-US" sz="1800"/>
              <a:t>、</a:t>
            </a:r>
            <a:r>
              <a:rPr lang="zh-CN" altLang="en-US" sz="1800">
                <a:solidFill>
                  <a:srgbClr val="FF0000"/>
                </a:solidFill>
              </a:rPr>
              <a:t>纹理</a:t>
            </a:r>
            <a:r>
              <a:rPr lang="zh-CN" altLang="en-US" sz="1800"/>
              <a:t>和</a:t>
            </a:r>
            <a:r>
              <a:rPr lang="zh-CN" altLang="en-US" sz="1800">
                <a:solidFill>
                  <a:srgbClr val="FF0000"/>
                </a:solidFill>
              </a:rPr>
              <a:t>形状</a:t>
            </a:r>
            <a:r>
              <a:rPr lang="zh-CN" altLang="en-US" sz="1800"/>
              <a:t>等等，这些特征都被称为</a:t>
            </a:r>
            <a:r>
              <a:rPr lang="zh-CN" altLang="en-US" sz="1800">
                <a:solidFill>
                  <a:srgbClr val="FF0000"/>
                </a:solidFill>
              </a:rPr>
              <a:t>底层特征语义</a:t>
            </a:r>
            <a:r>
              <a:rPr lang="zh-CN" altLang="en-US" sz="1800"/>
              <a:t>；</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对象层即</a:t>
            </a:r>
            <a:r>
              <a:rPr lang="zh-CN" altLang="en-US" sz="1800">
                <a:solidFill>
                  <a:srgbClr val="FF0000"/>
                </a:solidFill>
              </a:rPr>
              <a:t>中间</a:t>
            </a:r>
            <a:r>
              <a:rPr lang="zh-CN" altLang="en-US" sz="1800"/>
              <a:t>层，通常包含了属性特征等，就是某一对象在某一时刻的状态；</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概念层是</a:t>
            </a:r>
            <a:r>
              <a:rPr lang="zh-CN" altLang="en-US" sz="1800">
                <a:solidFill>
                  <a:srgbClr val="FF0000"/>
                </a:solidFill>
              </a:rPr>
              <a:t>高层</a:t>
            </a:r>
            <a:r>
              <a:rPr lang="zh-CN" altLang="en-US" sz="1800"/>
              <a:t>，是图像表达出的最接近人类理解的东西。</a:t>
            </a:r>
            <a:endParaRPr lang="zh-CN" altLang="en-US" sz="1800"/>
          </a:p>
          <a:p>
            <a:pPr marL="285750" indent="-285750" algn="l" defTabSz="914400">
              <a:lnSpc>
                <a:spcPct val="100000"/>
              </a:lnSpc>
              <a:spcBef>
                <a:spcPts val="600"/>
              </a:spcBef>
              <a:buClrTx/>
              <a:buSzTx/>
              <a:buFont typeface="Arial" panose="020B0604020202020204" pitchFamily="34" charset="0"/>
              <a:buChar char="•"/>
            </a:pPr>
            <a:endParaRPr lang="zh-CN" altLang="en-US" sz="1800"/>
          </a:p>
          <a:p>
            <a:pPr algn="l" defTabSz="914400">
              <a:lnSpc>
                <a:spcPct val="100000"/>
              </a:lnSpc>
              <a:spcBef>
                <a:spcPts val="600"/>
              </a:spcBef>
              <a:buClrTx/>
              <a:buSzTx/>
              <a:buNone/>
            </a:pPr>
            <a:r>
              <a:rPr lang="zh-CN" altLang="en-US" sz="1800"/>
              <a:t>通俗点说，比如一张图上有沙子，蓝天，海水等，视觉层是一块块的区分，对象层是沙子、蓝天和海水这些，概念层就是海滩，这是这张图表现出的语义。</a:t>
            </a:r>
            <a:endParaRPr lang="zh-CN" altLang="en-US" sz="1800"/>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zh-CN" altLang="en-US" sz="2000">
                <a:latin typeface="微软雅黑" panose="020B0503020204020204" charset="-122"/>
                <a:ea typeface="微软雅黑" panose="020B0503020204020204" charset="-122"/>
              </a:rPr>
              <a:t>(1)	</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高层语义特征：人在观察中经常注意到的对象（如人脸、汽车等）经常对应图像中的显著区域，本身具有一定的认知语义含义</a:t>
            </a:r>
            <a:endParaRPr lang="zh-CN" altLang="en-US" sz="2000">
              <a:latin typeface="微软雅黑" panose="020B0503020204020204" charset="-122"/>
              <a:ea typeface="微软雅黑" panose="020B0503020204020204" charset="-122"/>
            </a:endParaRPr>
          </a:p>
          <a:p>
            <a:pPr algn="l" defTabSz="914400">
              <a:lnSpc>
                <a:spcPct val="100000"/>
              </a:lnSpc>
              <a:spcBef>
                <a:spcPts val="600"/>
              </a:spcBef>
              <a:spcAft>
                <a:spcPts val="0"/>
              </a:spcAft>
              <a:buClrTx/>
              <a:buSzTx/>
              <a:buNone/>
            </a:pPr>
            <a:r>
              <a:rPr lang="zh-CN" altLang="en-US" sz="1800"/>
              <a:t>图像的语义分为</a:t>
            </a:r>
            <a:r>
              <a:rPr lang="zh-CN" altLang="en-US" sz="1800">
                <a:solidFill>
                  <a:srgbClr val="FF0000"/>
                </a:solidFill>
              </a:rPr>
              <a:t>视觉层</a:t>
            </a:r>
            <a:r>
              <a:rPr lang="zh-CN" altLang="en-US" sz="1800"/>
              <a:t>、</a:t>
            </a:r>
            <a:r>
              <a:rPr lang="zh-CN" altLang="en-US" sz="1800">
                <a:solidFill>
                  <a:srgbClr val="FF0000"/>
                </a:solidFill>
              </a:rPr>
              <a:t>对象层</a:t>
            </a:r>
            <a:r>
              <a:rPr lang="zh-CN" altLang="en-US" sz="1800"/>
              <a:t>和</a:t>
            </a:r>
            <a:r>
              <a:rPr lang="zh-CN" altLang="en-US" sz="1800">
                <a:solidFill>
                  <a:srgbClr val="FF0000"/>
                </a:solidFill>
              </a:rPr>
              <a:t>概念层</a:t>
            </a:r>
            <a:r>
              <a:rPr lang="zh-CN" altLang="en-US" sz="1800"/>
              <a:t>。</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视觉层即通常所理解的</a:t>
            </a:r>
            <a:r>
              <a:rPr lang="zh-CN" altLang="en-US" sz="1800">
                <a:solidFill>
                  <a:srgbClr val="FF0000"/>
                </a:solidFill>
              </a:rPr>
              <a:t>底层</a:t>
            </a:r>
            <a:r>
              <a:rPr lang="zh-CN" altLang="en-US" sz="1800"/>
              <a:t>，即</a:t>
            </a:r>
            <a:r>
              <a:rPr lang="zh-CN" altLang="en-US" sz="1800">
                <a:solidFill>
                  <a:srgbClr val="FF0000"/>
                </a:solidFill>
              </a:rPr>
              <a:t>颜色</a:t>
            </a:r>
            <a:r>
              <a:rPr lang="zh-CN" altLang="en-US" sz="1800"/>
              <a:t>、</a:t>
            </a:r>
            <a:r>
              <a:rPr lang="zh-CN" altLang="en-US" sz="1800">
                <a:solidFill>
                  <a:srgbClr val="FF0000"/>
                </a:solidFill>
              </a:rPr>
              <a:t>纹理</a:t>
            </a:r>
            <a:r>
              <a:rPr lang="zh-CN" altLang="en-US" sz="1800"/>
              <a:t>和</a:t>
            </a:r>
            <a:r>
              <a:rPr lang="zh-CN" altLang="en-US" sz="1800">
                <a:solidFill>
                  <a:srgbClr val="FF0000"/>
                </a:solidFill>
              </a:rPr>
              <a:t>形状</a:t>
            </a:r>
            <a:r>
              <a:rPr lang="zh-CN" altLang="en-US" sz="1800"/>
              <a:t>等等，这些特征都被称为</a:t>
            </a:r>
            <a:r>
              <a:rPr lang="zh-CN" altLang="en-US" sz="1800">
                <a:solidFill>
                  <a:srgbClr val="FF0000"/>
                </a:solidFill>
              </a:rPr>
              <a:t>底层特征语义</a:t>
            </a:r>
            <a:r>
              <a:rPr lang="zh-CN" altLang="en-US" sz="1800"/>
              <a:t>；</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对象层即</a:t>
            </a:r>
            <a:r>
              <a:rPr lang="zh-CN" altLang="en-US" sz="1800">
                <a:solidFill>
                  <a:srgbClr val="FF0000"/>
                </a:solidFill>
              </a:rPr>
              <a:t>中间</a:t>
            </a:r>
            <a:r>
              <a:rPr lang="zh-CN" altLang="en-US" sz="1800"/>
              <a:t>层，通常包含了属性特征等，就是某一对象在某一时刻的状态；</a:t>
            </a:r>
            <a:endParaRPr lang="zh-CN" altLang="en-US" sz="1800"/>
          </a:p>
          <a:p>
            <a:pPr marL="285750" indent="-285750" algn="l" defTabSz="914400">
              <a:lnSpc>
                <a:spcPct val="100000"/>
              </a:lnSpc>
              <a:spcBef>
                <a:spcPts val="600"/>
              </a:spcBef>
              <a:spcAft>
                <a:spcPts val="0"/>
              </a:spcAft>
              <a:buClrTx/>
              <a:buSzTx/>
              <a:buFont typeface="Arial" panose="020B0604020202020204" pitchFamily="34" charset="0"/>
              <a:buChar char="•"/>
            </a:pPr>
            <a:r>
              <a:rPr lang="zh-CN" altLang="en-US" sz="1800"/>
              <a:t>概念层是</a:t>
            </a:r>
            <a:r>
              <a:rPr lang="zh-CN" altLang="en-US" sz="1800">
                <a:solidFill>
                  <a:srgbClr val="FF0000"/>
                </a:solidFill>
              </a:rPr>
              <a:t>高层</a:t>
            </a:r>
            <a:r>
              <a:rPr lang="zh-CN" altLang="en-US" sz="1800"/>
              <a:t>，是图像表达出的最接近人类理解的东西。</a:t>
            </a:r>
            <a:endParaRPr lang="zh-CN" altLang="en-US" sz="1800"/>
          </a:p>
          <a:p>
            <a:pPr algn="l" defTabSz="914400">
              <a:lnSpc>
                <a:spcPct val="100000"/>
              </a:lnSpc>
              <a:spcBef>
                <a:spcPts val="600"/>
              </a:spcBef>
              <a:buClrTx/>
              <a:buSzTx/>
              <a:buNone/>
            </a:pPr>
            <a:endParaRPr lang="zh-CN" altLang="en-US" sz="1800"/>
          </a:p>
          <a:p>
            <a:pPr algn="l" defTabSz="914400">
              <a:lnSpc>
                <a:spcPct val="100000"/>
              </a:lnSpc>
              <a:spcBef>
                <a:spcPts val="600"/>
              </a:spcBef>
              <a:buClrTx/>
              <a:buSzTx/>
              <a:buNone/>
            </a:pPr>
            <a:r>
              <a:rPr lang="zh-CN" altLang="en-US" sz="1800"/>
              <a:t>通俗点说，比如一张图上有沙子，蓝天，海水等，视觉层是一块块的区分，对象层是沙子、蓝天和海水这些，概念层就是海滩，这是这张图表现出的语义。</a:t>
            </a:r>
            <a:endParaRPr lang="zh-CN" altLang="en-US" sz="1800"/>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pic>
        <p:nvPicPr>
          <p:cNvPr id="110" name="图片 109"/>
          <p:cNvPicPr/>
          <p:nvPr>
            <p:custDataLst>
              <p:tags r:id="rId1"/>
            </p:custDataLst>
          </p:nvPr>
        </p:nvPicPr>
        <p:blipFill>
          <a:blip r:embed="rId2"/>
          <a:stretch>
            <a:fillRect/>
          </a:stretch>
        </p:blipFill>
        <p:spPr>
          <a:xfrm>
            <a:off x="3173730" y="102870"/>
            <a:ext cx="5599430" cy="528891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480945"/>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zh-CN" altLang="en-US" sz="2000">
                <a:latin typeface="微软雅黑" panose="020B0503020204020204" charset="-122"/>
                <a:ea typeface="微软雅黑" panose="020B0503020204020204" charset="-122"/>
              </a:rPr>
              <a:t>(1)	</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高层语义特征：人在观察中经常注意到的对象（如人脸、汽车等）经常对应图像中的显著区域，本身具有一定的认知语义含义</a:t>
            </a:r>
            <a:endParaRPr lang="zh-CN" altLang="en-US" sz="2000">
              <a:latin typeface="微软雅黑" panose="020B0503020204020204" charset="-122"/>
              <a:ea typeface="微软雅黑" panose="020B0503020204020204" charset="-122"/>
            </a:endParaRPr>
          </a:p>
          <a:p>
            <a:pPr algn="l" defTabSz="914400">
              <a:lnSpc>
                <a:spcPct val="100000"/>
              </a:lnSpc>
              <a:spcBef>
                <a:spcPts val="600"/>
              </a:spcBef>
              <a:spcAft>
                <a:spcPts val="0"/>
              </a:spcAft>
              <a:buClrTx/>
              <a:buSzTx/>
              <a:buNone/>
            </a:pPr>
            <a:r>
              <a:rPr lang="zh-CN" altLang="en-US" sz="1800"/>
              <a:t>1图像的低层特征:</a:t>
            </a:r>
            <a:endParaRPr lang="zh-CN" altLang="en-US" sz="1800"/>
          </a:p>
          <a:p>
            <a:pPr algn="l" defTabSz="914400">
              <a:lnSpc>
                <a:spcPct val="100000"/>
              </a:lnSpc>
              <a:spcBef>
                <a:spcPts val="600"/>
              </a:spcBef>
              <a:spcAft>
                <a:spcPts val="0"/>
              </a:spcAft>
              <a:buClrTx/>
              <a:buSzTx/>
              <a:buNone/>
            </a:pPr>
            <a:r>
              <a:rPr lang="zh-CN" altLang="en-US" sz="1800"/>
              <a:t>图像底层特征指的是：轮廓、边缘、颜色、纹理和形状特征。</a:t>
            </a:r>
            <a:endParaRPr lang="zh-CN" altLang="en-US" sz="1800"/>
          </a:p>
          <a:p>
            <a:pPr algn="l" defTabSz="914400">
              <a:lnSpc>
                <a:spcPct val="100000"/>
              </a:lnSpc>
              <a:spcBef>
                <a:spcPts val="600"/>
              </a:spcBef>
              <a:spcAft>
                <a:spcPts val="0"/>
              </a:spcAft>
              <a:buClrTx/>
              <a:buSzTx/>
              <a:buNone/>
            </a:pPr>
            <a:r>
              <a:rPr lang="en-US" altLang="zh-CN" sz="1800"/>
              <a:t>      </a:t>
            </a:r>
            <a:r>
              <a:rPr lang="zh-CN" altLang="en-US" sz="1800"/>
              <a:t>边缘和轮廓能反映图像内容；如果能对边缘和关键点进行可靠提取的话，很多视觉问题就基本上得到了解决。图像的低层的特征语义信息比较少，但是目标位置准确；</a:t>
            </a:r>
            <a:endParaRPr lang="zh-CN" altLang="en-US" sz="1800"/>
          </a:p>
          <a:p>
            <a:pPr algn="l" defTabSz="914400">
              <a:lnSpc>
                <a:spcPct val="100000"/>
              </a:lnSpc>
              <a:spcBef>
                <a:spcPts val="600"/>
              </a:spcBef>
              <a:spcAft>
                <a:spcPts val="0"/>
              </a:spcAft>
              <a:buClrTx/>
              <a:buSzTx/>
              <a:buNone/>
            </a:pPr>
            <a:r>
              <a:rPr lang="zh-CN" altLang="en-US" sz="1800"/>
              <a:t>2图像的高层特征:</a:t>
            </a:r>
            <a:endParaRPr lang="zh-CN" altLang="en-US" sz="1800"/>
          </a:p>
          <a:p>
            <a:pPr algn="l" defTabSz="914400">
              <a:lnSpc>
                <a:spcPct val="100000"/>
              </a:lnSpc>
              <a:spcBef>
                <a:spcPts val="600"/>
              </a:spcBef>
              <a:spcAft>
                <a:spcPts val="0"/>
              </a:spcAft>
              <a:buClrTx/>
              <a:buSzTx/>
              <a:buNone/>
            </a:pPr>
            <a:r>
              <a:rPr lang="en-US" altLang="zh-CN" sz="1800"/>
              <a:t>      </a:t>
            </a:r>
            <a:r>
              <a:rPr lang="zh-CN" altLang="en-US" sz="1800"/>
              <a:t>图像的高层语义特征值得是我们所能看的东西，比如对一张人脸提取低层特征我们可以提取到连的轮廓、鼻子、眼睛之类的，那么高层的特征就显示为一张人脸。高层的特征语义信息比较丰富，但是目标位置比较粗略。</a:t>
            </a:r>
            <a:endParaRPr lang="zh-CN" altLang="en-US" sz="1800"/>
          </a:p>
          <a:p>
            <a:pPr algn="l" defTabSz="914400">
              <a:lnSpc>
                <a:spcPct val="100000"/>
              </a:lnSpc>
              <a:spcBef>
                <a:spcPts val="600"/>
              </a:spcBef>
              <a:buClrTx/>
              <a:buSzTx/>
              <a:buNone/>
            </a:pPr>
            <a:r>
              <a:rPr lang="zh-CN" altLang="en-US" sz="2000">
                <a:latin typeface="微软雅黑" panose="020B0503020204020204" charset="-122"/>
                <a:ea typeface="微软雅黑" panose="020B0503020204020204" charset="-122"/>
              </a:rPr>
              <a:t>愈深层特征包含的高层语义性愈强、分辨能力也愈强。我们把图像的视觉特征称为视觉空间 (visual space)，把种类的语义信息称为语义空间 (semantic space)</a:t>
            </a:r>
            <a:endParaRPr lang="zh-CN" altLang="en-US" sz="2000">
              <a:latin typeface="微软雅黑" panose="020B0503020204020204" charset="-122"/>
              <a:ea typeface="微软雅黑" panose="020B0503020204020204" charset="-122"/>
            </a:endParaRPr>
          </a:p>
          <a:p>
            <a:pPr algn="l" defTabSz="914400">
              <a:lnSpc>
                <a:spcPct val="100000"/>
              </a:lnSpc>
              <a:spcBef>
                <a:spcPts val="600"/>
              </a:spcBef>
              <a:buClrTx/>
              <a:buSzTx/>
              <a:buNone/>
            </a:pPr>
            <a:endParaRPr lang="zh-CN" altLang="en-US" sz="1800"/>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(2)</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认知稳定性：显著区域对场景亮度、对象位置、朝向、尺度、以及观察条件等比较鲁棒，即显著性的表现不仅突出还比较恒定。</a:t>
            </a:r>
            <a:endParaRPr lang="zh-CN" altLang="en-US" sz="2000">
              <a:latin typeface="微软雅黑" panose="020B0503020204020204" charset="-122"/>
              <a:ea typeface="微软雅黑" panose="020B0503020204020204" charset="-122"/>
            </a:endParaRPr>
          </a:p>
          <a:p>
            <a:pPr marL="898525" indent="-539750" algn="just" defTabSz="719455">
              <a:lnSpc>
                <a:spcPct val="130000"/>
              </a:lnSpc>
              <a:spcBef>
                <a:spcPts val="600"/>
              </a:spcBef>
              <a:spcAft>
                <a:spcPts val="600"/>
              </a:spcAft>
            </a:pPr>
            <a:endParaRPr lang="zh-CN" altLang="en-US" sz="2000">
              <a:latin typeface="微软雅黑" panose="020B0503020204020204" charset="-122"/>
              <a:ea typeface="微软雅黑" panose="020B0503020204020204" charset="-122"/>
            </a:endParaRPr>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0" y="3766820"/>
            <a:ext cx="4344035" cy="253555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4344035" y="3767455"/>
            <a:ext cx="4053840" cy="253555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8346440" y="3766820"/>
            <a:ext cx="3846195" cy="2534920"/>
          </a:xfrm>
          <a:prstGeom prst="rect">
            <a:avLst/>
          </a:prstGeom>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(3)</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全局稀缺性：从全局范围来看，显著区域出现的频率比较低（局部、稀少），且不容易由图像中的其他区域复合而得到</a:t>
            </a:r>
            <a:endParaRPr lang="zh-CN" altLang="en-US" sz="2000">
              <a:latin typeface="微软雅黑" panose="020B0503020204020204" charset="-122"/>
              <a:ea typeface="微软雅黑" panose="020B0503020204020204" charset="-122"/>
            </a:endParaRPr>
          </a:p>
          <a:p>
            <a:pPr marL="898525" indent="-539750" algn="just" defTabSz="719455">
              <a:lnSpc>
                <a:spcPct val="130000"/>
              </a:lnSpc>
              <a:spcBef>
                <a:spcPts val="600"/>
              </a:spcBef>
              <a:spcAft>
                <a:spcPts val="600"/>
              </a:spcAft>
            </a:pPr>
            <a:endParaRPr lang="zh-CN" altLang="en-US" sz="2000">
              <a:latin typeface="微软雅黑" panose="020B0503020204020204" charset="-122"/>
              <a:ea typeface="微软雅黑" panose="020B0503020204020204" charset="-122"/>
            </a:endParaRPr>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pic>
        <p:nvPicPr>
          <p:cNvPr id="111" name="图片 110"/>
          <p:cNvPicPr/>
          <p:nvPr>
            <p:custDataLst>
              <p:tags r:id="rId1"/>
            </p:custDataLst>
          </p:nvPr>
        </p:nvPicPr>
        <p:blipFill>
          <a:blip r:embed="rId2"/>
          <a:stretch>
            <a:fillRect/>
          </a:stretch>
        </p:blipFill>
        <p:spPr>
          <a:xfrm>
            <a:off x="2646045" y="3675380"/>
            <a:ext cx="6899275" cy="260540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矩形 277505"/>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7506" name="矩形 277506"/>
          <p:cNvSpPr/>
          <p:nvPr/>
        </p:nvSpPr>
        <p:spPr>
          <a:xfrm>
            <a:off x="138430" y="2786380"/>
            <a:ext cx="11669395" cy="3583305"/>
          </a:xfrm>
          <a:prstGeom prst="rect">
            <a:avLst/>
          </a:prstGeom>
          <a:noFill/>
          <a:ln w="9525">
            <a:noFill/>
          </a:ln>
        </p:spPr>
        <p:txBody>
          <a:bodyPr wrap="square" anchor="t" anchorCtr="0">
            <a:noAutofit/>
          </a:bodyPr>
          <a:p>
            <a:pPr marL="898525" indent="-539750" algn="just" defTabSz="719455">
              <a:lnSpc>
                <a:spcPct val="130000"/>
              </a:lnSpc>
              <a:spcBef>
                <a:spcPts val="600"/>
              </a:spcBef>
              <a:spcAft>
                <a:spcPts val="600"/>
              </a:spcAft>
            </a:pPr>
            <a:r>
              <a:rPr lang="en-US" altLang="zh-CN" sz="2000">
                <a:latin typeface="Arial" panose="020B0604020202020204" pitchFamily="34" charset="0"/>
                <a:ea typeface="微软雅黑" panose="020B0503020204020204" charset="-122"/>
              </a:rPr>
              <a:t>(4)</a:t>
            </a:r>
            <a:r>
              <a:rPr lang="en-US" altLang="zh-CN" sz="2000">
                <a:latin typeface="微软雅黑" panose="020B0503020204020204" charset="-122"/>
                <a:ea typeface="微软雅黑" panose="020B0503020204020204" charset="-122"/>
              </a:rPr>
              <a:t>	</a:t>
            </a:r>
            <a:r>
              <a:rPr lang="zh-CN" altLang="en-US" sz="2000">
                <a:latin typeface="微软雅黑" panose="020B0503020204020204" charset="-122"/>
                <a:ea typeface="微软雅黑" panose="020B0503020204020204" charset="-122"/>
              </a:rPr>
              <a:t>局部差异性：显著区域总是与周围区域具有明显的特性（颜色、边缘、朝向、梯度、边界、纹理、形状）差异</a:t>
            </a:r>
            <a:endParaRPr lang="zh-CN" altLang="en-US" sz="2000">
              <a:latin typeface="微软雅黑" panose="020B0503020204020204" charset="-122"/>
              <a:ea typeface="微软雅黑" panose="020B0503020204020204" charset="-122"/>
            </a:endParaRPr>
          </a:p>
        </p:txBody>
      </p:sp>
      <p:sp>
        <p:nvSpPr>
          <p:cNvPr id="277507" name="矩形 277507"/>
          <p:cNvSpPr/>
          <p:nvPr/>
        </p:nvSpPr>
        <p:spPr>
          <a:xfrm>
            <a:off x="1984216" y="1260475"/>
            <a:ext cx="23164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显著区域的特点</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7215" y="1835785"/>
            <a:ext cx="11114405" cy="645160"/>
          </a:xfrm>
          <a:prstGeom prst="rect">
            <a:avLst/>
          </a:prstGeom>
          <a:noFill/>
        </p:spPr>
        <p:txBody>
          <a:bodyPr wrap="square" rtlCol="0">
            <a:spAutoFit/>
          </a:bodyPr>
          <a:p>
            <a:pPr>
              <a:spcAft>
                <a:spcPts val="0"/>
              </a:spcAft>
            </a:pPr>
            <a:r>
              <a:rPr lang="zh-CN" altLang="en-US"/>
              <a:t>图像中孤立的亮度极值点、边缘点、角点都可以看做是图像中的显著点，但这里讨论的是图像中的显著区域</a:t>
            </a:r>
            <a:endParaRPr lang="zh-CN" altLang="en-US"/>
          </a:p>
          <a:p>
            <a:pPr>
              <a:spcBef>
                <a:spcPts val="0"/>
              </a:spcBef>
            </a:pPr>
            <a:r>
              <a:rPr lang="en-US" altLang="zh-CN"/>
              <a:t>----</a:t>
            </a:r>
            <a:r>
              <a:rPr lang="zh-CN" altLang="en-US"/>
              <a:t>具有连通性的区域，以下是显著区域的特点：</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3801110" y="3641090"/>
            <a:ext cx="4344035" cy="2535555"/>
          </a:xfrm>
          <a:prstGeom prst="rect">
            <a:avLst/>
          </a:prstGeom>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29" name="矩形 278529"/>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8531" name="矩形 278531"/>
          <p:cNvSpPr/>
          <p:nvPr/>
        </p:nvSpPr>
        <p:spPr>
          <a:xfrm>
            <a:off x="1984217" y="1260475"/>
            <a:ext cx="26212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显著图质量的评价</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18160" y="2221230"/>
            <a:ext cx="11033760" cy="368300"/>
          </a:xfrm>
          <a:prstGeom prst="rect">
            <a:avLst/>
          </a:prstGeom>
          <a:noFill/>
        </p:spPr>
        <p:txBody>
          <a:bodyPr wrap="square" rtlCol="0">
            <a:spAutoFit/>
          </a:bodyPr>
          <a:p>
            <a:pPr>
              <a:spcAft>
                <a:spcPts val="0"/>
              </a:spcAft>
            </a:pPr>
            <a:r>
              <a:rPr lang="zh-CN" altLang="en-US"/>
              <a:t>显著性检测中，输入的是一幅原始图像，输出的是由该图像中各个像素的显著性构成的显著图（显著图像）</a:t>
            </a:r>
            <a:endParaRPr lang="zh-CN" altLang="en-US"/>
          </a:p>
        </p:txBody>
      </p:sp>
      <p:pic>
        <p:nvPicPr>
          <p:cNvPr id="113" name="图片 112"/>
          <p:cNvPicPr/>
          <p:nvPr>
            <p:custDataLst>
              <p:tags r:id="rId1"/>
            </p:custDataLst>
          </p:nvPr>
        </p:nvPicPr>
        <p:blipFill>
          <a:blip r:embed="rId2"/>
          <a:srcRect t="14382" b="16601"/>
          <a:stretch>
            <a:fillRect/>
          </a:stretch>
        </p:blipFill>
        <p:spPr>
          <a:xfrm>
            <a:off x="1928495" y="2873375"/>
            <a:ext cx="7982585" cy="254762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29" name="矩形 278529"/>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8530" name="矩形 278530"/>
          <p:cNvSpPr/>
          <p:nvPr/>
        </p:nvSpPr>
        <p:spPr>
          <a:xfrm>
            <a:off x="956945" y="1945005"/>
            <a:ext cx="10382885" cy="3833495"/>
          </a:xfrm>
          <a:prstGeom prst="rect">
            <a:avLst/>
          </a:prstGeom>
          <a:noFill/>
          <a:ln w="9525">
            <a:noFill/>
          </a:ln>
        </p:spPr>
        <p:txBody>
          <a:bodyPr wrap="square" anchor="t" anchorCtr="0">
            <a:spAutoFit/>
          </a:bodyPr>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显著图反映了图像中各部分吸引人注意的程度</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rPr>
              <a:t>显著图的质量是评价显著性检测算法好坏的重要标准，也与显著区域的特点密切关联</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(1)	</a:t>
            </a:r>
            <a:r>
              <a:rPr lang="zh-CN" altLang="en-US" sz="2400">
                <a:latin typeface="微软雅黑" panose="020B0503020204020204" charset="-122"/>
                <a:ea typeface="微软雅黑" panose="020B0503020204020204" charset="-122"/>
              </a:rPr>
              <a:t>能突出最为显著的物体（与人感知一致）</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(2)	</a:t>
            </a:r>
            <a:r>
              <a:rPr lang="zh-CN" altLang="en-US" sz="2400">
                <a:latin typeface="微软雅黑" panose="020B0503020204020204" charset="-122"/>
                <a:ea typeface="微软雅黑" panose="020B0503020204020204" charset="-122"/>
              </a:rPr>
              <a:t>能使整个显著物体各部分具有比较一致的突出程度（完整提取目标）</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(3)	</a:t>
            </a:r>
            <a:r>
              <a:rPr lang="zh-CN" altLang="en-US" sz="2400">
                <a:latin typeface="微软雅黑" panose="020B0503020204020204" charset="-122"/>
                <a:ea typeface="微软雅黑" panose="020B0503020204020204" charset="-122"/>
              </a:rPr>
              <a:t>能给出精确完整的显著物体边界（分离）</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pPr>
            <a:r>
              <a:rPr lang="en-US" altLang="zh-CN" sz="2400">
                <a:latin typeface="微软雅黑" panose="020B0503020204020204" charset="-122"/>
                <a:ea typeface="微软雅黑" panose="020B0503020204020204" charset="-122"/>
              </a:rPr>
              <a:t>(4)	</a:t>
            </a:r>
            <a:r>
              <a:rPr lang="zh-CN" altLang="en-US" sz="2400">
                <a:latin typeface="微软雅黑" panose="020B0503020204020204" charset="-122"/>
                <a:ea typeface="微软雅黑" panose="020B0503020204020204" charset="-122"/>
              </a:rPr>
              <a:t>能给出全分辨率的检测结果（实用）</a:t>
            </a:r>
            <a:endParaRPr lang="zh-CN" altLang="en-US" sz="2400">
              <a:latin typeface="微软雅黑" panose="020B0503020204020204" charset="-122"/>
              <a:ea typeface="微软雅黑" panose="020B0503020204020204" charset="-122"/>
            </a:endParaRPr>
          </a:p>
        </p:txBody>
      </p:sp>
      <p:sp>
        <p:nvSpPr>
          <p:cNvPr id="278531" name="矩形 278531"/>
          <p:cNvSpPr/>
          <p:nvPr/>
        </p:nvSpPr>
        <p:spPr>
          <a:xfrm>
            <a:off x="1984217" y="1260475"/>
            <a:ext cx="26212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显著图质量的评价</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4" name="矩形 279554"/>
          <p:cNvSpPr/>
          <p:nvPr/>
        </p:nvSpPr>
        <p:spPr>
          <a:xfrm>
            <a:off x="909955" y="1783080"/>
            <a:ext cx="10556875" cy="4159250"/>
          </a:xfrm>
          <a:prstGeom prst="rect">
            <a:avLst/>
          </a:prstGeom>
          <a:noFill/>
          <a:ln w="9525">
            <a:noFill/>
          </a:ln>
        </p:spPr>
        <p:txBody>
          <a:bodyPr wrap="square" anchor="t" anchorCtr="0">
            <a:spAutoFit/>
          </a:bodyPr>
          <a:p>
            <a:pPr marL="342900" indent="-342900" algn="just" defTabSz="719455">
              <a:lnSpc>
                <a:spcPct val="130000"/>
              </a:lnSpc>
              <a:spcBef>
                <a:spcPts val="600"/>
              </a:spcBef>
              <a:spcAft>
                <a:spcPts val="0"/>
              </a:spcAft>
              <a:buFont typeface="Arial" panose="020B0604020202020204" pitchFamily="34" charset="0"/>
              <a:buChar char="•"/>
            </a:pPr>
            <a:r>
              <a:rPr lang="zh-CN" altLang="en-US" sz="2400">
                <a:latin typeface="微软雅黑" panose="020B0503020204020204" charset="-122"/>
                <a:ea typeface="微软雅黑" panose="020B0503020204020204" charset="-122"/>
              </a:rPr>
              <a:t>视觉注意力机制（Visual Attention Mechanism，VA）显著性概念与心理学中的视觉注意有密切联系。</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Arial" panose="020B0604020202020204" pitchFamily="34" charset="0"/>
              <a:buChar char="•"/>
            </a:pPr>
            <a:r>
              <a:rPr lang="zh-CN" altLang="en-US" sz="2400">
                <a:latin typeface="微软雅黑" panose="020B0503020204020204" charset="-122"/>
                <a:ea typeface="微软雅黑" panose="020B0503020204020204" charset="-122"/>
              </a:rPr>
              <a:t>人类视觉注意理论假设人类视觉系统只处理环境的一部分细节，而几乎不考虑余下的部分。视觉注意力机制使人们能够在复杂的视觉环境中快速地定位感兴趣的目标。</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buFont typeface="Arial" panose="020B0604020202020204" pitchFamily="34" charset="0"/>
              <a:buChar char="•"/>
            </a:pPr>
            <a:r>
              <a:rPr lang="zh-CN" altLang="en-US" sz="2400">
                <a:latin typeface="微软雅黑" panose="020B0503020204020204" charset="-122"/>
                <a:ea typeface="微软雅黑" panose="020B0503020204020204" charset="-122"/>
              </a:rPr>
              <a:t>即面对一个场景时，人类自动地对感兴趣区域进行处理而选择性地忽略不感兴趣区域，这些人们感兴趣区域被称之为显著性区域。</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pPr>
            <a:endParaRPr lang="zh-CN" altLang="en-US" sz="2400">
              <a:latin typeface="微软雅黑" panose="020B0503020204020204" charset="-122"/>
              <a:ea typeface="微软雅黑" panose="020B0503020204020204" charset="-122"/>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4" name="矩形 279554"/>
          <p:cNvSpPr/>
          <p:nvPr/>
        </p:nvSpPr>
        <p:spPr>
          <a:xfrm>
            <a:off x="909955" y="1783080"/>
            <a:ext cx="10556875" cy="3996055"/>
          </a:xfrm>
          <a:prstGeom prst="rect">
            <a:avLst/>
          </a:prstGeom>
          <a:noFill/>
          <a:ln w="9525">
            <a:noFill/>
          </a:ln>
        </p:spPr>
        <p:txBody>
          <a:bodyPr wrap="square" anchor="t" anchorCtr="0">
            <a:spAutoFit/>
          </a:bodyPr>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视觉注意力机制有两个基本特征：</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Wingdings" panose="05000000000000000000" charset="0"/>
              <a:buChar char="Ø"/>
            </a:pPr>
            <a:r>
              <a:rPr lang="zh-CN" altLang="en-US" sz="2400">
                <a:latin typeface="微软雅黑" panose="020B0503020204020204" charset="-122"/>
                <a:ea typeface="微软雅黑" panose="020B0503020204020204" charset="-122"/>
              </a:rPr>
              <a:t>指向性（表现为对出现在同一时段的多个刺激有选择性）</a:t>
            </a:r>
            <a:endParaRPr lang="zh-CN" altLang="en-US" sz="2400">
              <a:latin typeface="微软雅黑" panose="020B0503020204020204" charset="-122"/>
              <a:ea typeface="微软雅黑" panose="020B0503020204020204" charset="-122"/>
            </a:endParaRPr>
          </a:p>
          <a:p>
            <a:pPr indent="457200" algn="just" defTabSz="719455" fontAlgn="auto">
              <a:lnSpc>
                <a:spcPct val="130000"/>
              </a:lnSpc>
              <a:spcBef>
                <a:spcPts val="600"/>
              </a:spcBef>
              <a:spcAft>
                <a:spcPts val="0"/>
              </a:spcAft>
              <a:buNone/>
            </a:pPr>
            <a:r>
              <a:rPr lang="en-US" altLang="zh-CN">
                <a:latin typeface="微软雅黑" panose="020B0503020204020204" charset="-122"/>
                <a:ea typeface="微软雅黑" panose="020B0503020204020204" charset="-122"/>
              </a:rPr>
              <a:t>表现为对同一时间出来的多种刺激有选择性，这种选择可以是基于对象的特征，如颜色、形状、大小、运动等，也可以是基于对象的位置、距离、深度等信息。指向性有助于我们在复杂的视觉环境中快速定位到感兴趣的对象，从而更有效地获取和处理信息。</a:t>
            </a:r>
            <a:endParaRPr lang="en-US" altLang="zh-CN">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Wingdings" panose="05000000000000000000" charset="0"/>
              <a:buChar char="Ø"/>
            </a:pPr>
            <a:r>
              <a:rPr lang="zh-CN" altLang="en-US" sz="2400">
                <a:latin typeface="微软雅黑" panose="020B0503020204020204" charset="-122"/>
                <a:ea typeface="微软雅黑" panose="020B0503020204020204" charset="-122"/>
              </a:rPr>
              <a:t>集中性（表现为对干扰性刺激的抑制能力）</a:t>
            </a:r>
            <a:endParaRPr lang="zh-CN" altLang="en-US" sz="2400">
              <a:latin typeface="微软雅黑" panose="020B0503020204020204" charset="-122"/>
              <a:ea typeface="微软雅黑" panose="020B0503020204020204" charset="-122"/>
            </a:endParaRPr>
          </a:p>
          <a:p>
            <a:pPr indent="457200" algn="just" defTabSz="719455" fontAlgn="auto">
              <a:lnSpc>
                <a:spcPct val="130000"/>
              </a:lnSpc>
              <a:spcBef>
                <a:spcPts val="600"/>
              </a:spcBef>
              <a:buClrTx/>
              <a:buSzTx/>
              <a:buFontTx/>
              <a:buNone/>
            </a:pPr>
            <a:r>
              <a:rPr lang="en-US" altLang="zh-CN" sz="1800">
                <a:latin typeface="微软雅黑" panose="020B0503020204020204" charset="-122"/>
                <a:ea typeface="微软雅黑" panose="020B0503020204020204" charset="-122"/>
              </a:rPr>
              <a:t>心理活动或意识停留在被选择对象上的强度或紧张度。在视觉注意力机制中，集中性表现为对所选择的视觉对象进行深入、细致的信息处理，同时抑制其他干扰刺激的干扰。这种集中性可以帮助我们更加专注地处理所选择的对象，提高信息处理的效率和准确性。	</a:t>
            </a:r>
            <a:endParaRPr lang="en-US" altLang="zh-CN" sz="1800">
              <a:latin typeface="微软雅黑" panose="020B0503020204020204" charset="-122"/>
              <a:ea typeface="微软雅黑" panose="020B0503020204020204" charset="-122"/>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4" name="矩形 279554"/>
          <p:cNvSpPr/>
          <p:nvPr/>
        </p:nvSpPr>
        <p:spPr>
          <a:xfrm>
            <a:off x="909955" y="1871980"/>
            <a:ext cx="10556875" cy="4738370"/>
          </a:xfrm>
          <a:prstGeom prst="rect">
            <a:avLst/>
          </a:prstGeom>
          <a:noFill/>
          <a:ln w="9525">
            <a:noFill/>
          </a:ln>
        </p:spPr>
        <p:txBody>
          <a:bodyPr wrap="square" anchor="t" anchorCtr="0">
            <a:noAutofit/>
          </a:bodyPr>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rPr>
              <a:t>	注意力机制主要分为两大类：</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Wingdings" panose="05000000000000000000" charset="0"/>
              <a:buChar char="Ø"/>
            </a:pPr>
            <a:r>
              <a:rPr lang="zh-CN" altLang="en-US" sz="2400">
                <a:latin typeface="微软雅黑" panose="020B0503020204020204" charset="-122"/>
                <a:ea typeface="微软雅黑" panose="020B0503020204020204" charset="-122"/>
              </a:rPr>
              <a:t>自底向上数据驱动的预注意机制</a:t>
            </a:r>
            <a:endParaRPr lang="zh-CN" altLang="en-US" sz="2400">
              <a:latin typeface="微软雅黑" panose="020B0503020204020204" charset="-122"/>
              <a:ea typeface="微软雅黑" panose="020B0503020204020204" charset="-122"/>
            </a:endParaRPr>
          </a:p>
          <a:p>
            <a:pPr indent="0" algn="just" defTabSz="719455">
              <a:lnSpc>
                <a:spcPct val="130000"/>
              </a:lnSpc>
              <a:spcBef>
                <a:spcPts val="600"/>
              </a:spcBef>
              <a:spcAft>
                <a:spcPts val="0"/>
              </a:spcAft>
              <a:buNone/>
            </a:pPr>
            <a:r>
              <a:rPr lang="zh-CN" altLang="en-US">
                <a:latin typeface="微软雅黑" panose="020B0503020204020204" charset="-122"/>
                <a:ea typeface="微软雅黑" panose="020B0503020204020204" charset="-122"/>
              </a:rPr>
              <a:t>一种由底层数据驱动的注意机制，也称为自底向上的显著性目标检测。这种机制主要</a:t>
            </a:r>
            <a:r>
              <a:rPr lang="zh-CN" altLang="en-US">
                <a:solidFill>
                  <a:srgbClr val="FF0000"/>
                </a:solidFill>
                <a:latin typeface="微软雅黑" panose="020B0503020204020204" charset="-122"/>
                <a:ea typeface="微软雅黑" panose="020B0503020204020204" charset="-122"/>
              </a:rPr>
              <a:t>依赖于图像中的低级特征</a:t>
            </a:r>
            <a:r>
              <a:rPr lang="zh-CN" altLang="en-US">
                <a:latin typeface="微软雅黑" panose="020B0503020204020204" charset="-122"/>
                <a:ea typeface="微软雅黑" panose="020B0503020204020204" charset="-122"/>
              </a:rPr>
              <a:t>，如颜色、亮度、方向、纹理等，来自动地</a:t>
            </a:r>
            <a:r>
              <a:rPr lang="zh-CN" altLang="en-US">
                <a:solidFill>
                  <a:srgbClr val="FF0000"/>
                </a:solidFill>
                <a:latin typeface="微软雅黑" panose="020B0503020204020204" charset="-122"/>
                <a:ea typeface="微软雅黑" panose="020B0503020204020204" charset="-122"/>
              </a:rPr>
              <a:t>引导视觉注意力</a:t>
            </a:r>
            <a:r>
              <a:rPr lang="zh-CN" altLang="en-US">
                <a:latin typeface="微软雅黑" panose="020B0503020204020204" charset="-122"/>
                <a:ea typeface="微软雅黑" panose="020B0503020204020204" charset="-122"/>
              </a:rPr>
              <a:t>。在没有先验知识的情况下，这种机制能够快速地</a:t>
            </a:r>
            <a:r>
              <a:rPr lang="zh-CN" altLang="en-US">
                <a:solidFill>
                  <a:srgbClr val="FF0000"/>
                </a:solidFill>
                <a:latin typeface="微软雅黑" panose="020B0503020204020204" charset="-122"/>
                <a:ea typeface="微软雅黑" panose="020B0503020204020204" charset="-122"/>
              </a:rPr>
              <a:t>检测出与周围环境有明显差异或强对比度的区域</a:t>
            </a:r>
            <a:r>
              <a:rPr lang="zh-CN" altLang="en-US">
                <a:latin typeface="微软雅黑" panose="020B0503020204020204" charset="-122"/>
                <a:ea typeface="微软雅黑" panose="020B0503020204020204" charset="-122"/>
              </a:rPr>
              <a:t>，从而将这些区域作为显著性目标。例如，在一群黑羊中有一只白羊，自底向上的注意机制会自动地将视点引导到这只白羊上。这种机制是自动的、快速的，并且不依赖于高级的认知过程或任务需求</a:t>
            </a:r>
            <a:r>
              <a:rPr lang="zh-CN" altLang="en-US" sz="1600">
                <a:latin typeface="微软雅黑" panose="020B0503020204020204" charset="-122"/>
                <a:ea typeface="微软雅黑" panose="020B0503020204020204" charset="-122"/>
              </a:rPr>
              <a:t>。</a:t>
            </a:r>
            <a:endParaRPr lang="zh-CN" altLang="en-US" sz="1600">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Wingdings" panose="05000000000000000000" charset="0"/>
              <a:buChar char="Ø"/>
            </a:pPr>
            <a:r>
              <a:rPr lang="zh-CN" altLang="en-US" sz="2400">
                <a:latin typeface="微软雅黑" panose="020B0503020204020204" charset="-122"/>
                <a:ea typeface="微软雅黑" panose="020B0503020204020204" charset="-122"/>
              </a:rPr>
              <a:t>自顶向下任务驱动的后注意机制</a:t>
            </a:r>
            <a:endParaRPr lang="zh-CN" altLang="en-US" sz="2400">
              <a:latin typeface="微软雅黑" panose="020B0503020204020204" charset="-122"/>
              <a:ea typeface="微软雅黑" panose="020B0503020204020204" charset="-122"/>
            </a:endParaRPr>
          </a:p>
          <a:p>
            <a:pPr indent="0" algn="just" defTabSz="719455">
              <a:lnSpc>
                <a:spcPct val="130000"/>
              </a:lnSpc>
              <a:spcBef>
                <a:spcPts val="600"/>
              </a:spcBef>
              <a:buNone/>
            </a:pPr>
            <a:r>
              <a:rPr lang="zh-CN" altLang="en-US">
                <a:latin typeface="微软雅黑" panose="020B0503020204020204" charset="-122"/>
                <a:ea typeface="微软雅黑" panose="020B0503020204020204" charset="-122"/>
              </a:rPr>
              <a:t>一种由高层认知任务驱动的注意机制。在这种机制中，视觉注意力是</a:t>
            </a:r>
            <a:r>
              <a:rPr lang="zh-CN" altLang="en-US">
                <a:solidFill>
                  <a:srgbClr val="FF0000"/>
                </a:solidFill>
                <a:latin typeface="微软雅黑" panose="020B0503020204020204" charset="-122"/>
                <a:ea typeface="微软雅黑" panose="020B0503020204020204" charset="-122"/>
              </a:rPr>
              <a:t>由人的意识或任务需求</a:t>
            </a:r>
            <a:r>
              <a:rPr lang="zh-CN" altLang="en-US">
                <a:latin typeface="微软雅黑" panose="020B0503020204020204" charset="-122"/>
                <a:ea typeface="微软雅黑" panose="020B0503020204020204" charset="-122"/>
              </a:rPr>
              <a:t>来指导的。也就是说，人会在意识的控制下，根据当前的任务需求来主动地选择并关注特定的视觉对象或区域。例如，在监视器视图中，虽然高大的建筑可能更加显眼，但如果任务是需要找人，那么视觉注意力就会集中在人身上，而不是建筑上。这种机制需要意识的参与，并且依赖于高级的认知过程，如记忆、推理等。</a:t>
            </a:r>
            <a:endParaRPr lang="zh-CN" altLang="en-US">
              <a:latin typeface="微软雅黑" panose="020B0503020204020204" charset="-122"/>
              <a:ea typeface="微软雅黑" panose="020B0503020204020204" charset="-122"/>
            </a:endParaRPr>
          </a:p>
          <a:p>
            <a:pPr algn="just" defTabSz="719455">
              <a:lnSpc>
                <a:spcPct val="130000"/>
              </a:lnSpc>
              <a:spcBef>
                <a:spcPts val="600"/>
              </a:spcBef>
            </a:pPr>
            <a:endParaRPr lang="zh-CN" altLang="en-US">
              <a:latin typeface="微软雅黑" panose="020B0503020204020204" charset="-122"/>
              <a:ea typeface="微软雅黑" panose="020B0503020204020204" charset="-122"/>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4" name="矩形 279554"/>
          <p:cNvSpPr/>
          <p:nvPr/>
        </p:nvSpPr>
        <p:spPr>
          <a:xfrm>
            <a:off x="909955" y="1871980"/>
            <a:ext cx="10556875" cy="4738370"/>
          </a:xfrm>
          <a:prstGeom prst="rect">
            <a:avLst/>
          </a:prstGeom>
          <a:noFill/>
          <a:ln w="9525">
            <a:noFill/>
          </a:ln>
        </p:spPr>
        <p:txBody>
          <a:bodyPr wrap="square" anchor="t" anchorCtr="0">
            <a:noAutofit/>
          </a:bodyPr>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rPr>
              <a:t>	注意力机制主要分为两大类：</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spcAft>
                <a:spcPts val="0"/>
              </a:spcAft>
              <a:buFont typeface="Wingdings" panose="05000000000000000000" charset="0"/>
              <a:buChar char="Ø"/>
            </a:pPr>
            <a:r>
              <a:rPr lang="zh-CN" altLang="en-US" sz="2400">
                <a:latin typeface="微软雅黑" panose="020B0503020204020204" charset="-122"/>
                <a:ea typeface="微软雅黑" panose="020B0503020204020204" charset="-122"/>
              </a:rPr>
              <a:t>自底向上数据驱动的预注意机制</a:t>
            </a: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buFont typeface="Wingdings" panose="05000000000000000000" charset="0"/>
              <a:buChar char="Ø"/>
            </a:pP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buFont typeface="Wingdings" panose="05000000000000000000" charset="0"/>
              <a:buChar char="Ø"/>
            </a:pPr>
            <a:endParaRPr lang="zh-CN" altLang="en-US" sz="2400">
              <a:latin typeface="微软雅黑" panose="020B0503020204020204" charset="-122"/>
              <a:ea typeface="微软雅黑" panose="020B0503020204020204" charset="-122"/>
            </a:endParaRPr>
          </a:p>
          <a:p>
            <a:pPr marL="342900" indent="-342900" algn="just" defTabSz="719455">
              <a:lnSpc>
                <a:spcPct val="130000"/>
              </a:lnSpc>
              <a:spcBef>
                <a:spcPts val="600"/>
              </a:spcBef>
              <a:buFont typeface="Wingdings" panose="05000000000000000000" charset="0"/>
              <a:buChar char="Ø"/>
            </a:pPr>
            <a:r>
              <a:rPr lang="zh-CN" altLang="en-US" sz="2400">
                <a:latin typeface="微软雅黑" panose="020B0503020204020204" charset="-122"/>
                <a:ea typeface="微软雅黑" panose="020B0503020204020204" charset="-122"/>
              </a:rPr>
              <a:t>自顶向下任务驱动的后注意机制</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pPr>
            <a:endParaRPr lang="zh-CN" altLang="en-US">
              <a:latin typeface="微软雅黑" panose="020B0503020204020204" charset="-122"/>
              <a:ea typeface="微软雅黑" panose="020B0503020204020204" charset="-122"/>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
        <p:nvSpPr>
          <p:cNvPr id="2" name="右箭头 1"/>
          <p:cNvSpPr/>
          <p:nvPr/>
        </p:nvSpPr>
        <p:spPr>
          <a:xfrm>
            <a:off x="6096000" y="2480310"/>
            <a:ext cx="1170305" cy="5854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右箭头 2"/>
          <p:cNvSpPr/>
          <p:nvPr>
            <p:custDataLst>
              <p:tags r:id="rId1"/>
            </p:custDataLst>
          </p:nvPr>
        </p:nvSpPr>
        <p:spPr>
          <a:xfrm>
            <a:off x="6096000" y="4140200"/>
            <a:ext cx="1170305" cy="5854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7506970" y="2588895"/>
            <a:ext cx="4147185" cy="398780"/>
          </a:xfrm>
          <a:prstGeom prst="rect">
            <a:avLst/>
          </a:prstGeom>
          <a:noFill/>
        </p:spPr>
        <p:txBody>
          <a:bodyPr wrap="square" rtlCol="0" anchor="t">
            <a:spAutoFit/>
          </a:bodyPr>
          <a:p>
            <a:pPr>
              <a:spcAft>
                <a:spcPts val="0"/>
              </a:spcAft>
            </a:pPr>
            <a:r>
              <a:rPr lang="zh-CN" altLang="en-US" sz="2000"/>
              <a:t>筛选出可能感兴趣的区域或对象</a:t>
            </a:r>
            <a:endParaRPr lang="zh-CN" altLang="en-US" sz="2000"/>
          </a:p>
        </p:txBody>
      </p:sp>
      <p:sp>
        <p:nvSpPr>
          <p:cNvPr id="5" name="文本框 4"/>
          <p:cNvSpPr txBox="1"/>
          <p:nvPr/>
        </p:nvSpPr>
        <p:spPr>
          <a:xfrm>
            <a:off x="7496175" y="4233545"/>
            <a:ext cx="4157980" cy="398780"/>
          </a:xfrm>
          <a:prstGeom prst="rect">
            <a:avLst/>
          </a:prstGeom>
          <a:noFill/>
        </p:spPr>
        <p:txBody>
          <a:bodyPr wrap="square" rtlCol="0" anchor="t">
            <a:spAutoFit/>
          </a:bodyPr>
          <a:p>
            <a:pPr>
              <a:spcAft>
                <a:spcPts val="0"/>
              </a:spcAft>
            </a:pPr>
            <a:r>
              <a:rPr lang="zh-CN" altLang="en-US" sz="2000"/>
              <a:t>专注地处理与当前任务相关的对象</a:t>
            </a:r>
            <a:endParaRPr lang="zh-CN" altLang="en-US" sz="2000"/>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1166495" y="1853565"/>
            <a:ext cx="9347200" cy="570865"/>
          </a:xfrm>
          <a:prstGeom prst="rect">
            <a:avLst/>
          </a:prstGeom>
          <a:noFill/>
        </p:spPr>
        <p:txBody>
          <a:bodyPr wrap="square" rtlCol="0" anchor="t">
            <a:spAutoFit/>
          </a:bodyPr>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sym typeface="+mn-ea"/>
              </a:rPr>
              <a:t>用计算机来模拟人类视觉注意机制的模型称为视觉注意力模型</a:t>
            </a:r>
            <a:endParaRPr lang="zh-CN" altLang="en-US" sz="2400">
              <a:latin typeface="微软雅黑" panose="020B0503020204020204" charset="-122"/>
              <a:ea typeface="微软雅黑" panose="020B0503020204020204" charset="-122"/>
              <a:sym typeface="+mn-ea"/>
            </a:endParaRPr>
          </a:p>
        </p:txBody>
      </p:sp>
      <p:pic>
        <p:nvPicPr>
          <p:cNvPr id="114" name="图片 113"/>
          <p:cNvPicPr/>
          <p:nvPr>
            <p:custDataLst>
              <p:tags r:id="rId1"/>
            </p:custDataLst>
          </p:nvPr>
        </p:nvPicPr>
        <p:blipFill>
          <a:blip r:embed="rId2"/>
          <a:srcRect t="13750"/>
          <a:stretch>
            <a:fillRect/>
          </a:stretch>
        </p:blipFill>
        <p:spPr>
          <a:xfrm>
            <a:off x="1242060" y="2424430"/>
            <a:ext cx="9187815" cy="424243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1166495" y="1853565"/>
            <a:ext cx="9347200" cy="570865"/>
          </a:xfrm>
          <a:prstGeom prst="rect">
            <a:avLst/>
          </a:prstGeom>
          <a:noFill/>
        </p:spPr>
        <p:txBody>
          <a:bodyPr wrap="square" rtlCol="0" anchor="t">
            <a:spAutoFit/>
          </a:bodyPr>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sym typeface="+mn-ea"/>
              </a:rPr>
              <a:t>用计算机来模拟人类视觉注意机制的模型称为视觉注意力模型</a:t>
            </a:r>
            <a:endParaRPr lang="zh-CN" altLang="en-US" sz="2400">
              <a:latin typeface="微软雅黑" panose="020B0503020204020204" charset="-122"/>
              <a:ea typeface="微软雅黑" panose="020B0503020204020204" charset="-122"/>
              <a:sym typeface="+mn-ea"/>
            </a:endParaRPr>
          </a:p>
        </p:txBody>
      </p:sp>
      <p:sp>
        <p:nvSpPr>
          <p:cNvPr id="3" name="文本框 2"/>
          <p:cNvSpPr txBox="1"/>
          <p:nvPr/>
        </p:nvSpPr>
        <p:spPr>
          <a:xfrm>
            <a:off x="1242060" y="2614295"/>
            <a:ext cx="9326245" cy="1938020"/>
          </a:xfrm>
          <a:prstGeom prst="rect">
            <a:avLst/>
          </a:prstGeom>
          <a:noFill/>
        </p:spPr>
        <p:txBody>
          <a:bodyPr wrap="square" rtlCol="0" anchor="t">
            <a:spAutoFit/>
          </a:bodyPr>
          <a:p>
            <a:pPr indent="0" fontAlgn="auto">
              <a:lnSpc>
                <a:spcPct val="150000"/>
              </a:lnSpc>
              <a:spcAft>
                <a:spcPts val="0"/>
              </a:spcAft>
            </a:pPr>
            <a:r>
              <a:rPr lang="zh-CN" altLang="en-US" sz="2000"/>
              <a:t>一幅图像中提取人眼所能观察到的引人注意的焦点，相对计算机而言，就是确定该图像中含有特殊视觉刺激分布模式从而拥有较高感知优先级的显著区域。人类所具有的仅由外界环境视觉刺激所驱动的自底向上的选择性视觉注意力机制就源于此。事实上，自底向上的图像显著性检测就是在这种思想基础上提出来的。</a:t>
            </a:r>
            <a:endParaRPr lang="zh-CN" altLang="en-US" sz="2000"/>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
        <p:nvSpPr>
          <p:cNvPr id="3" name="文本框 2"/>
          <p:cNvSpPr txBox="1"/>
          <p:nvPr/>
        </p:nvSpPr>
        <p:spPr>
          <a:xfrm>
            <a:off x="638810" y="2075815"/>
            <a:ext cx="5761990" cy="3784600"/>
          </a:xfrm>
          <a:prstGeom prst="rect">
            <a:avLst/>
          </a:prstGeom>
          <a:noFill/>
        </p:spPr>
        <p:txBody>
          <a:bodyPr wrap="square" rtlCol="0" anchor="t">
            <a:spAutoFit/>
          </a:bodyPr>
          <a:p>
            <a:pPr>
              <a:spcAft>
                <a:spcPts val="0"/>
              </a:spcAft>
            </a:pPr>
            <a:r>
              <a:rPr lang="zh-CN" altLang="en-US" sz="2000"/>
              <a:t>例如，有一种典型的基于生物模型的预注意机制模型的基本思想是：</a:t>
            </a:r>
            <a:endParaRPr lang="zh-CN" altLang="en-US" sz="2000"/>
          </a:p>
          <a:p>
            <a:endParaRPr lang="zh-CN" altLang="en-US" sz="2000"/>
          </a:p>
          <a:p>
            <a:pPr>
              <a:spcBef>
                <a:spcPts val="0"/>
              </a:spcBef>
            </a:pPr>
            <a:r>
              <a:rPr lang="zh-CN" altLang="en-US" sz="2000"/>
              <a:t>在图像中通过线性滤波提取颜色特征、亮度特征和方向特征 (低层视觉特征)， 并通过高斯金字塔、中央-周边差算子和归一化处理后形成12张颜色特征地图、6张亮度特征地图和 24张方向特征地图。先将这些特征地图分别结合形成颜色、亮度、方向的关注图， 再将3种特征的关注图线性融合生成显著图， 最后通过一个两层的赢者通吃(WTA)神经网络获得显著区域。</a:t>
            </a:r>
            <a:endParaRPr lang="zh-CN" altLang="en-US" sz="2000"/>
          </a:p>
          <a:p>
            <a:endParaRPr lang="zh-CN" altLang="en-US" sz="2000"/>
          </a:p>
        </p:txBody>
      </p:sp>
      <p:pic>
        <p:nvPicPr>
          <p:cNvPr id="115" name="图片 114"/>
          <p:cNvPicPr/>
          <p:nvPr>
            <p:custDataLst>
              <p:tags r:id="rId1"/>
            </p:custDataLst>
          </p:nvPr>
        </p:nvPicPr>
        <p:blipFill>
          <a:blip r:embed="rId2"/>
          <a:stretch>
            <a:fillRect/>
          </a:stretch>
        </p:blipFill>
        <p:spPr>
          <a:xfrm>
            <a:off x="6400800" y="574675"/>
            <a:ext cx="5405120" cy="586740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矩形 279553"/>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79555" name="矩形 279555"/>
          <p:cNvSpPr/>
          <p:nvPr/>
        </p:nvSpPr>
        <p:spPr>
          <a:xfrm>
            <a:off x="1246347" y="1260475"/>
            <a:ext cx="32308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视觉注意力机制和模型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669925" y="1853565"/>
            <a:ext cx="9843770" cy="570865"/>
          </a:xfrm>
          <a:prstGeom prst="rect">
            <a:avLst/>
          </a:prstGeom>
          <a:noFill/>
        </p:spPr>
        <p:txBody>
          <a:bodyPr wrap="square" rtlCol="0" anchor="t">
            <a:spAutoFit/>
          </a:bodyPr>
          <a:p>
            <a:pPr algn="just" defTabSz="719455">
              <a:lnSpc>
                <a:spcPct val="130000"/>
              </a:lnSpc>
              <a:spcBef>
                <a:spcPts val="600"/>
              </a:spcBef>
              <a:spcAft>
                <a:spcPts val="0"/>
              </a:spcAft>
            </a:pPr>
            <a:r>
              <a:rPr lang="zh-CN" altLang="en-US" sz="2400">
                <a:latin typeface="微软雅黑" panose="020B0503020204020204" charset="-122"/>
                <a:ea typeface="微软雅黑" panose="020B0503020204020204" charset="-122"/>
                <a:sym typeface="+mn-ea"/>
              </a:rPr>
              <a:t>一个视觉注意力模型对图像中的显著区域用视觉注意力（</a:t>
            </a:r>
            <a:r>
              <a:rPr lang="en-US" altLang="zh-CN" sz="2400">
                <a:latin typeface="微软雅黑" panose="020B0503020204020204" charset="-122"/>
                <a:ea typeface="微软雅黑" panose="020B0503020204020204" charset="-122"/>
                <a:sym typeface="+mn-ea"/>
              </a:rPr>
              <a:t>VA</a:t>
            </a:r>
            <a:r>
              <a:rPr lang="zh-CN" altLang="en-US" sz="2400">
                <a:latin typeface="微软雅黑" panose="020B0503020204020204" charset="-122"/>
                <a:ea typeface="微软雅黑" panose="020B0503020204020204" charset="-122"/>
                <a:sym typeface="+mn-ea"/>
              </a:rPr>
              <a:t>）图来表示</a:t>
            </a:r>
            <a:endParaRPr lang="zh-CN" altLang="en-US" sz="2400">
              <a:latin typeface="微软雅黑" panose="020B0503020204020204" charset="-122"/>
              <a:ea typeface="微软雅黑" panose="020B0503020204020204" charset="-122"/>
              <a:sym typeface="+mn-ea"/>
            </a:endParaRPr>
          </a:p>
        </p:txBody>
      </p:sp>
      <p:sp>
        <p:nvSpPr>
          <p:cNvPr id="3" name="文本框 2"/>
          <p:cNvSpPr txBox="1"/>
          <p:nvPr/>
        </p:nvSpPr>
        <p:spPr>
          <a:xfrm>
            <a:off x="581660" y="2690495"/>
            <a:ext cx="10486390" cy="1568450"/>
          </a:xfrm>
          <a:prstGeom prst="rect">
            <a:avLst/>
          </a:prstGeom>
          <a:noFill/>
        </p:spPr>
        <p:txBody>
          <a:bodyPr wrap="square" rtlCol="0" anchor="t">
            <a:spAutoFit/>
          </a:bodyPr>
          <a:p>
            <a:pPr>
              <a:spcAft>
                <a:spcPts val="0"/>
              </a:spcAft>
            </a:pPr>
            <a:r>
              <a:rPr lang="zh-CN" altLang="en-US" sz="2400"/>
              <a:t>若图像中某个像素与它周围区域由某种特征（如形状、颜色等）构成的模式在图像其他相同形态区域中出现的频率越高，则该像素的 VA 值越低，反之 VA值越高。该模型能很好地辨别出显著特征和非显著特征，但是如果图像模式不够显著， 则效果可能不理想。</a:t>
            </a:r>
            <a:endParaRPr lang="zh-CN" altLang="en-US" sz="2400"/>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7" name="矩形 280577"/>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0578" name="矩形 280578"/>
          <p:cNvSpPr/>
          <p:nvPr/>
        </p:nvSpPr>
        <p:spPr>
          <a:xfrm>
            <a:off x="576580" y="1800225"/>
            <a:ext cx="11438255" cy="3707765"/>
          </a:xfrm>
          <a:prstGeom prst="rect">
            <a:avLst/>
          </a:prstGeom>
          <a:noFill/>
          <a:ln w="9525">
            <a:noFill/>
          </a:ln>
        </p:spPr>
        <p:txBody>
          <a:bodyPr wrap="square" anchor="t" anchorCtr="0">
            <a:spAutoFit/>
          </a:bodyPr>
          <a:p>
            <a:pPr algn="just" defTabSz="719455">
              <a:lnSpc>
                <a:spcPct val="125000"/>
              </a:lnSpc>
              <a:spcAft>
                <a:spcPts val="600"/>
              </a:spcAft>
            </a:pPr>
            <a:r>
              <a:rPr lang="en-US" altLang="zh-CN" sz="2400">
                <a:latin typeface="微软雅黑" panose="020B0503020204020204" charset="-122"/>
                <a:ea typeface="微软雅黑" panose="020B0503020204020204" charset="-122"/>
              </a:rPr>
              <a:t>(1)	</a:t>
            </a:r>
            <a:r>
              <a:rPr lang="zh-CN" altLang="en-US" sz="2400">
                <a:latin typeface="微软雅黑" panose="020B0503020204020204" charset="-122"/>
                <a:ea typeface="微软雅黑" panose="020B0503020204020204" charset="-122"/>
              </a:rPr>
              <a:t>对图像信号的处理域：空域</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变换域</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en-US" altLang="zh-CN" sz="2400">
                <a:latin typeface="微软雅黑" panose="020B0503020204020204" charset="-122"/>
                <a:ea typeface="微软雅黑" panose="020B0503020204020204" charset="-122"/>
              </a:rPr>
              <a:t>(2)	</a:t>
            </a:r>
            <a:r>
              <a:rPr lang="zh-CN" altLang="en-US" sz="2400">
                <a:latin typeface="微软雅黑" panose="020B0503020204020204" charset="-122"/>
                <a:ea typeface="微软雅黑" panose="020B0503020204020204" charset="-122"/>
              </a:rPr>
              <a:t>检测算法的流程：</a:t>
            </a:r>
            <a:r>
              <a:rPr lang="zh-CN" altLang="en-US" sz="2400">
                <a:solidFill>
                  <a:srgbClr val="FF0000"/>
                </a:solidFill>
                <a:latin typeface="微软雅黑" panose="020B0503020204020204" charset="-122"/>
                <a:ea typeface="微软雅黑" panose="020B0503020204020204" charset="-122"/>
              </a:rPr>
              <a:t>自底向上</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自顶向下</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en-US" altLang="zh-CN" sz="2400">
                <a:latin typeface="微软雅黑" panose="020B0503020204020204" charset="-122"/>
                <a:ea typeface="微软雅黑" panose="020B0503020204020204" charset="-122"/>
              </a:rPr>
              <a:t>(3)	</a:t>
            </a:r>
            <a:r>
              <a:rPr lang="zh-CN" altLang="en-US" sz="2400">
                <a:latin typeface="微软雅黑" panose="020B0503020204020204" charset="-122"/>
                <a:ea typeface="微软雅黑" panose="020B0503020204020204" charset="-122"/>
              </a:rPr>
              <a:t>考虑计算对象：基于注视点</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人眼关注位置</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显著区域</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en-US" altLang="zh-CN" sz="2400">
                <a:latin typeface="微软雅黑" panose="020B0503020204020204" charset="-122"/>
                <a:ea typeface="微软雅黑" panose="020B0503020204020204" charset="-122"/>
              </a:rPr>
              <a:t>(4)	</a:t>
            </a:r>
            <a:r>
              <a:rPr lang="zh-CN" altLang="en-US" sz="2400">
                <a:latin typeface="微软雅黑" panose="020B0503020204020204" charset="-122"/>
                <a:ea typeface="微软雅黑" panose="020B0503020204020204" charset="-122"/>
              </a:rPr>
              <a:t>检测结果分辨率：像素级的方法和基于区域（包括超像素）的方法</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en-US" altLang="zh-CN" sz="2400">
                <a:latin typeface="微软雅黑" panose="020B0503020204020204" charset="-122"/>
                <a:ea typeface="微软雅黑" panose="020B0503020204020204" charset="-122"/>
              </a:rPr>
              <a:t>(5)	</a:t>
            </a:r>
            <a:r>
              <a:rPr lang="zh-CN" altLang="en-US" sz="2400">
                <a:latin typeface="微软雅黑" panose="020B0503020204020204" charset="-122"/>
                <a:ea typeface="微软雅黑" panose="020B0503020204020204" charset="-122"/>
              </a:rPr>
              <a:t>考虑辅助信息：将检测方法分为仅利用图像自身信息的内部方法和还利用图像“周边”信息的外部方法</a:t>
            </a:r>
            <a:endParaRPr lang="zh-CN" altLang="en-US" sz="2400">
              <a:latin typeface="微软雅黑" panose="020B0503020204020204" charset="-122"/>
              <a:ea typeface="微软雅黑" panose="020B0503020204020204" charset="-122"/>
            </a:endParaRPr>
          </a:p>
          <a:p>
            <a:pPr algn="just" defTabSz="719455">
              <a:lnSpc>
                <a:spcPct val="125000"/>
              </a:lnSpc>
              <a:spcBef>
                <a:spcPts val="0"/>
              </a:spcBef>
              <a:spcAft>
                <a:spcPts val="600"/>
              </a:spcAft>
            </a:pPr>
            <a:r>
              <a:rPr lang="en-US" altLang="zh-CN" sz="2400">
                <a:latin typeface="微软雅黑" panose="020B0503020204020204" charset="-122"/>
                <a:ea typeface="微软雅黑" panose="020B0503020204020204" charset="-122"/>
              </a:rPr>
              <a:t>(6)	</a:t>
            </a:r>
            <a:r>
              <a:rPr lang="zh-CN" altLang="en-US" sz="2400">
                <a:latin typeface="微软雅黑" panose="020B0503020204020204" charset="-122"/>
                <a:ea typeface="微软雅黑" panose="020B0503020204020204" charset="-122"/>
              </a:rPr>
              <a:t>显著性与主观感知相关联，所以除可借助计算模型也可考虑仿生学的方法</a:t>
            </a:r>
            <a:endParaRPr lang="zh-CN" altLang="en-US" sz="2400" b="1">
              <a:latin typeface="微软雅黑" panose="020B0503020204020204" charset="-122"/>
              <a:ea typeface="微软雅黑" panose="020B0503020204020204" charset="-122"/>
            </a:endParaRPr>
          </a:p>
        </p:txBody>
      </p:sp>
      <p:sp>
        <p:nvSpPr>
          <p:cNvPr id="280579" name="矩形 280579"/>
          <p:cNvSpPr/>
          <p:nvPr/>
        </p:nvSpPr>
        <p:spPr>
          <a:xfrm>
            <a:off x="1979613" y="1260475"/>
            <a:ext cx="2926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显著性检测方法分类</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1" name="矩形 281601"/>
          <p:cNvSpPr/>
          <p:nvPr/>
        </p:nvSpPr>
        <p:spPr>
          <a:xfrm>
            <a:off x="1511300" y="323850"/>
            <a:ext cx="2700338"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3.1  </a:t>
            </a:r>
            <a:r>
              <a:rPr lang="zh-CN" altLang="en-US" sz="2800" b="1">
                <a:latin typeface="微软雅黑" panose="020B0503020204020204" charset="-122"/>
                <a:ea typeface="微软雅黑" panose="020B0503020204020204" charset="-122"/>
              </a:rPr>
              <a:t>显著性概述</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1602" name="矩形 281602"/>
          <p:cNvSpPr/>
          <p:nvPr/>
        </p:nvSpPr>
        <p:spPr>
          <a:xfrm>
            <a:off x="2700338" y="1944688"/>
            <a:ext cx="8280400" cy="983615"/>
          </a:xfrm>
          <a:prstGeom prst="rect">
            <a:avLst/>
          </a:prstGeom>
          <a:noFill/>
          <a:ln w="9525">
            <a:noFill/>
          </a:ln>
        </p:spPr>
        <p:txBody>
          <a:bodyPr anchor="t" anchorCtr="0">
            <a:spAutoFit/>
          </a:bodyPr>
          <a:p>
            <a:pPr defTabSz="719455">
              <a:spcBef>
                <a:spcPts val="600"/>
              </a:spcBef>
              <a:spcAft>
                <a:spcPts val="600"/>
              </a:spcAft>
            </a:pPr>
            <a:r>
              <a:rPr lang="en-US" altLang="zh-CN"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主要有</a:t>
            </a:r>
            <a:r>
              <a:rPr lang="en-US" altLang="zh-CN" sz="2400">
                <a:latin typeface="Arial" panose="020B0604020202020204" pitchFamily="34" charset="0"/>
                <a:ea typeface="微软雅黑" panose="020B0503020204020204" charset="-122"/>
              </a:rPr>
              <a:t>5</a:t>
            </a:r>
            <a:r>
              <a:rPr lang="zh-CN" altLang="en-US" sz="2400">
                <a:latin typeface="微软雅黑" panose="020B0503020204020204" charset="-122"/>
                <a:ea typeface="微软雅黑" panose="020B0503020204020204" charset="-122"/>
              </a:rPr>
              <a:t>个模块，输入和输出可有不同的形式</a:t>
            </a:r>
            <a:endParaRPr lang="zh-CN" altLang="en-US" sz="2400">
              <a:latin typeface="微软雅黑" panose="020B0503020204020204" charset="-122"/>
              <a:ea typeface="微软雅黑" panose="020B0503020204020204" charset="-122"/>
            </a:endParaRPr>
          </a:p>
          <a:p>
            <a:pPr defTabSz="719455">
              <a:spcBef>
                <a:spcPts val="600"/>
              </a:spcBef>
              <a:spcAft>
                <a:spcPts val="600"/>
              </a:spcAft>
            </a:pPr>
            <a:r>
              <a:rPr lang="zh-CN" altLang="en-US" sz="2400">
                <a:latin typeface="微软雅黑" panose="020B0503020204020204" charset="-122"/>
                <a:ea typeface="微软雅黑" panose="020B0503020204020204" charset="-122"/>
              </a:rPr>
              <a:t>	其他</a:t>
            </a:r>
            <a:r>
              <a:rPr lang="en-US" altLang="zh-CN" sz="2400">
                <a:latin typeface="Arial" panose="020B0604020202020204" pitchFamily="34" charset="0"/>
                <a:ea typeface="微软雅黑" panose="020B0503020204020204" charset="-122"/>
              </a:rPr>
              <a:t>3</a:t>
            </a:r>
            <a:r>
              <a:rPr lang="zh-CN" altLang="en-US" sz="2400">
                <a:latin typeface="微软雅黑" panose="020B0503020204020204" charset="-122"/>
                <a:ea typeface="微软雅黑" panose="020B0503020204020204" charset="-122"/>
              </a:rPr>
              <a:t>个模块也列出了一些常用的方法和技术</a:t>
            </a:r>
            <a:endParaRPr lang="zh-CN" altLang="en-US" sz="2400" b="1">
              <a:latin typeface="微软雅黑" panose="020B0503020204020204" charset="-122"/>
              <a:ea typeface="微软雅黑" panose="020B0503020204020204" charset="-122"/>
            </a:endParaRPr>
          </a:p>
        </p:txBody>
      </p:sp>
      <p:sp>
        <p:nvSpPr>
          <p:cNvPr id="281603" name="矩形 281603"/>
          <p:cNvSpPr/>
          <p:nvPr/>
        </p:nvSpPr>
        <p:spPr>
          <a:xfrm>
            <a:off x="1979613" y="1260475"/>
            <a:ext cx="20116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基本检测流程</a:t>
            </a:r>
            <a:endParaRPr lang="zh-CN" altLang="en-US" sz="2400" b="1">
              <a:latin typeface="微软雅黑" panose="020B0503020204020204" charset="-122"/>
              <a:ea typeface="微软雅黑" panose="020B0503020204020204" charset="-122"/>
            </a:endParaRPr>
          </a:p>
        </p:txBody>
      </p:sp>
      <p:pic>
        <p:nvPicPr>
          <p:cNvPr id="281604" name="图片 281604" descr="C:/Users/Administrator/AppData/Roaming/Yozo_Office/Temp/fc/968467201615187995629/计算机视觉教程（第3版）PPT第04章.pptx/ppt/media/image6.emf"/>
          <p:cNvPicPr/>
          <p:nvPr/>
        </p:nvPicPr>
        <p:blipFill>
          <a:blip r:embed="rId1"/>
          <a:stretch>
            <a:fillRect/>
          </a:stretch>
        </p:blipFill>
        <p:spPr>
          <a:xfrm>
            <a:off x="1555115" y="3143250"/>
            <a:ext cx="9359900" cy="3059113"/>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5" name="矩形 28262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2626" name="矩形 282626"/>
          <p:cNvSpPr/>
          <p:nvPr/>
        </p:nvSpPr>
        <p:spPr>
          <a:xfrm>
            <a:off x="285750" y="1979930"/>
            <a:ext cx="11377930" cy="2586990"/>
          </a:xfrm>
          <a:prstGeom prst="rect">
            <a:avLst/>
          </a:prstGeom>
          <a:noFill/>
          <a:ln w="9525">
            <a:noFill/>
          </a:ln>
        </p:spPr>
        <p:txBody>
          <a:bodyPr wrap="square" anchor="t" anchorCtr="0">
            <a:spAutoFit/>
          </a:bodyPr>
          <a:p>
            <a:pPr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计算对比度的方法主要分为</a:t>
            </a:r>
            <a:r>
              <a:rPr lang="en-US" altLang="zh-CN" sz="2400">
                <a:latin typeface="Arial" panose="020B0604020202020204" pitchFamily="34" charset="0"/>
                <a:ea typeface="微软雅黑" panose="020B0503020204020204" charset="-122"/>
              </a:rPr>
              <a:t>3</a:t>
            </a:r>
            <a:r>
              <a:rPr lang="zh-CN" altLang="en-US" sz="2400">
                <a:latin typeface="微软雅黑" panose="020B0503020204020204" charset="-122"/>
                <a:ea typeface="微软雅黑" panose="020B0503020204020204" charset="-122"/>
              </a:rPr>
              <a:t>大类：</a:t>
            </a:r>
            <a:endParaRPr lang="zh-CN" altLang="en-US" sz="2400">
              <a:latin typeface="微软雅黑" panose="020B0503020204020204" charset="-122"/>
              <a:ea typeface="微软雅黑" panose="020B0503020204020204" charset="-122"/>
            </a:endParaRPr>
          </a:p>
          <a:p>
            <a:pPr defTabSz="719455">
              <a:lnSpc>
                <a:spcPct val="130000"/>
              </a:lnSpc>
              <a:spcBef>
                <a:spcPts val="1500"/>
              </a:spcBef>
              <a:spcAft>
                <a:spcPts val="0"/>
              </a:spcAft>
            </a:pPr>
            <a:r>
              <a:rPr lang="en-US" altLang="zh-CN" sz="2400">
                <a:latin typeface="Arial" panose="020B0604020202020204" pitchFamily="34" charset="0"/>
                <a:ea typeface="微软雅黑" panose="020B0503020204020204" charset="-122"/>
              </a:rPr>
              <a:t>(1)</a:t>
            </a:r>
            <a:r>
              <a:rPr lang="zh-CN" altLang="en-US" sz="2400">
                <a:latin typeface="微软雅黑" panose="020B0503020204020204" charset="-122"/>
                <a:ea typeface="微软雅黑" panose="020B0503020204020204" charset="-122"/>
              </a:rPr>
              <a:t>利用局部对比度先验知识将</a:t>
            </a:r>
            <a:r>
              <a:rPr lang="zh-CN" altLang="en-US" sz="2400">
                <a:solidFill>
                  <a:srgbClr val="FF0000"/>
                </a:solidFill>
                <a:latin typeface="微软雅黑" panose="020B0503020204020204" charset="-122"/>
                <a:ea typeface="微软雅黑" panose="020B0503020204020204" charset="-122"/>
              </a:rPr>
              <a:t>每个像素仅仅与图像局部</a:t>
            </a:r>
            <a:r>
              <a:rPr lang="zh-CN" altLang="en-US" sz="2400">
                <a:latin typeface="微软雅黑" panose="020B0503020204020204" charset="-122"/>
                <a:ea typeface="微软雅黑" panose="020B0503020204020204" charset="-122"/>
              </a:rPr>
              <a:t>中某些像素比较</a:t>
            </a:r>
            <a:endParaRPr lang="zh-CN" altLang="en-US" sz="2400">
              <a:latin typeface="微软雅黑" panose="020B0503020204020204" charset="-122"/>
              <a:ea typeface="微软雅黑" panose="020B0503020204020204" charset="-122"/>
            </a:endParaRPr>
          </a:p>
          <a:p>
            <a:pPr defTabSz="719455">
              <a:lnSpc>
                <a:spcPct val="130000"/>
              </a:lnSpc>
              <a:spcBef>
                <a:spcPts val="1500"/>
              </a:spcBef>
              <a:spcAft>
                <a:spcPts val="0"/>
              </a:spcAft>
            </a:pPr>
            <a:r>
              <a:rPr lang="en-US" altLang="zh-CN" sz="2400">
                <a:latin typeface="Arial" panose="020B0604020202020204" pitchFamily="34" charset="0"/>
                <a:ea typeface="微软雅黑" panose="020B0503020204020204" charset="-122"/>
              </a:rPr>
              <a:t>(2)</a:t>
            </a:r>
            <a:r>
              <a:rPr lang="zh-CN" altLang="en-US" sz="2400">
                <a:latin typeface="微软雅黑" panose="020B0503020204020204" charset="-122"/>
                <a:ea typeface="微软雅黑" panose="020B0503020204020204" charset="-122"/>
              </a:rPr>
              <a:t>利用全局对比度先验知识将</a:t>
            </a:r>
            <a:r>
              <a:rPr lang="zh-CN" altLang="en-US" sz="2400">
                <a:solidFill>
                  <a:srgbClr val="FF0000"/>
                </a:solidFill>
                <a:latin typeface="微软雅黑" panose="020B0503020204020204" charset="-122"/>
                <a:ea typeface="微软雅黑" panose="020B0503020204020204" charset="-122"/>
              </a:rPr>
              <a:t>目标像素与图像中其余所有像素</a:t>
            </a:r>
            <a:r>
              <a:rPr lang="zh-CN" altLang="en-US" sz="2400">
                <a:latin typeface="微软雅黑" panose="020B0503020204020204" charset="-122"/>
                <a:ea typeface="微软雅黑" panose="020B0503020204020204" charset="-122"/>
              </a:rPr>
              <a:t>进行特征差异度计算</a:t>
            </a:r>
            <a:endParaRPr lang="zh-CN" altLang="en-US" sz="2400">
              <a:latin typeface="微软雅黑" panose="020B0503020204020204" charset="-122"/>
              <a:ea typeface="微软雅黑" panose="020B0503020204020204" charset="-122"/>
            </a:endParaRPr>
          </a:p>
          <a:p>
            <a:pPr defTabSz="719455">
              <a:lnSpc>
                <a:spcPct val="130000"/>
              </a:lnSpc>
              <a:spcBef>
                <a:spcPts val="1500"/>
              </a:spcBef>
            </a:pPr>
            <a:r>
              <a:rPr lang="en-US" altLang="zh-CN" sz="2400">
                <a:latin typeface="Arial" panose="020B0604020202020204" pitchFamily="34" charset="0"/>
                <a:ea typeface="微软雅黑" panose="020B0503020204020204" charset="-122"/>
              </a:rPr>
              <a:t>(3)</a:t>
            </a:r>
            <a:r>
              <a:rPr lang="zh-CN" altLang="en-US" sz="2400">
                <a:latin typeface="微软雅黑" panose="020B0503020204020204" charset="-122"/>
                <a:ea typeface="微软雅黑" panose="020B0503020204020204" charset="-122"/>
              </a:rPr>
              <a:t>利用背景先验知识背景先验：</a:t>
            </a:r>
            <a:r>
              <a:rPr lang="zh-CN" altLang="en-US" sz="2400">
                <a:solidFill>
                  <a:srgbClr val="FF0000"/>
                </a:solidFill>
                <a:latin typeface="微软雅黑" panose="020B0503020204020204" charset="-122"/>
                <a:ea typeface="微软雅黑" panose="020B0503020204020204" charset="-122"/>
              </a:rPr>
              <a:t>图像的四周对应背景</a:t>
            </a:r>
            <a:endParaRPr lang="zh-CN" altLang="en-US" sz="2400">
              <a:solidFill>
                <a:srgbClr val="FF0000"/>
              </a:solidFill>
              <a:latin typeface="微软雅黑" panose="020B0503020204020204" charset="-122"/>
              <a:ea typeface="微软雅黑" panose="020B0503020204020204" charset="-122"/>
            </a:endParaRPr>
          </a:p>
        </p:txBody>
      </p:sp>
      <p:sp>
        <p:nvSpPr>
          <p:cNvPr id="282627" name="矩形 282627"/>
          <p:cNvSpPr/>
          <p:nvPr/>
        </p:nvSpPr>
        <p:spPr>
          <a:xfrm>
            <a:off x="1979613" y="1260475"/>
            <a:ext cx="17068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对比度检测</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5" name="矩形 28262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2627" name="矩形 282627"/>
          <p:cNvSpPr/>
          <p:nvPr/>
        </p:nvSpPr>
        <p:spPr>
          <a:xfrm>
            <a:off x="1979613" y="1260475"/>
            <a:ext cx="17068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对比度检测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1292225" y="2096770"/>
            <a:ext cx="9813925" cy="3692525"/>
          </a:xfrm>
          <a:prstGeom prst="rect">
            <a:avLst/>
          </a:prstGeom>
          <a:noFill/>
        </p:spPr>
        <p:txBody>
          <a:bodyPr wrap="square" rtlCol="0" anchor="t">
            <a:spAutoFit/>
          </a:bodyPr>
          <a:p>
            <a:pPr>
              <a:spcAft>
                <a:spcPts val="0"/>
              </a:spcAft>
            </a:pPr>
            <a:r>
              <a:rPr lang="zh-CN" altLang="en-US"/>
              <a:t>1. 利用局部对比度先验知识</a:t>
            </a:r>
            <a:endParaRPr lang="zh-CN" altLang="en-US"/>
          </a:p>
          <a:p>
            <a:pPr>
              <a:spcBef>
                <a:spcPts val="0"/>
              </a:spcBef>
              <a:spcAft>
                <a:spcPts val="0"/>
              </a:spcAft>
            </a:pPr>
            <a:r>
              <a:rPr lang="zh-CN" altLang="en-US">
                <a:solidFill>
                  <a:srgbClr val="FF0000"/>
                </a:solidFill>
              </a:rPr>
              <a:t>基本思想</a:t>
            </a:r>
            <a:r>
              <a:rPr lang="zh-CN" altLang="en-US"/>
              <a:t>：将每个像</a:t>
            </a:r>
            <a:r>
              <a:rPr lang="zh-CN" altLang="en-US">
                <a:sym typeface="+mn-ea"/>
              </a:rPr>
              <a:t>素</a:t>
            </a:r>
            <a:r>
              <a:rPr lang="zh-CN" altLang="en-US"/>
              <a:t>（超像素）仅仅与图像局部中某些像素（超像素）比较。</a:t>
            </a:r>
            <a:endParaRPr lang="zh-CN" altLang="en-US"/>
          </a:p>
          <a:p>
            <a:endParaRPr lang="zh-CN" altLang="en-US"/>
          </a:p>
          <a:p>
            <a:pPr>
              <a:spcBef>
                <a:spcPts val="0"/>
              </a:spcBef>
              <a:spcAft>
                <a:spcPts val="0"/>
              </a:spcAft>
            </a:pPr>
            <a:r>
              <a:rPr lang="zh-CN" altLang="en-US"/>
              <a:t>常见的有4种形式：</a:t>
            </a:r>
            <a:endParaRPr lang="zh-CN" altLang="en-US"/>
          </a:p>
          <a:p>
            <a:endParaRPr lang="zh-CN" altLang="en-US"/>
          </a:p>
          <a:p>
            <a:pPr>
              <a:spcBef>
                <a:spcPts val="0"/>
              </a:spcBef>
              <a:spcAft>
                <a:spcPts val="0"/>
              </a:spcAft>
            </a:pPr>
            <a:r>
              <a:rPr lang="zh-CN" altLang="en-US"/>
              <a:t>        ① 将像素或超像素仅与</a:t>
            </a:r>
            <a:r>
              <a:rPr lang="zh-CN" altLang="en-US">
                <a:solidFill>
                  <a:srgbClr val="FF0000"/>
                </a:solidFill>
              </a:rPr>
              <a:t>相邻</a:t>
            </a:r>
            <a:r>
              <a:rPr lang="zh-CN" altLang="en-US"/>
              <a:t>的像素或超像素比较；</a:t>
            </a:r>
            <a:endParaRPr lang="zh-CN" altLang="en-US"/>
          </a:p>
          <a:p>
            <a:endParaRPr lang="zh-CN" altLang="en-US"/>
          </a:p>
          <a:p>
            <a:pPr>
              <a:spcBef>
                <a:spcPts val="0"/>
              </a:spcBef>
              <a:spcAft>
                <a:spcPts val="0"/>
              </a:spcAft>
            </a:pPr>
            <a:r>
              <a:rPr lang="zh-CN" altLang="en-US"/>
              <a:t>        ② 将目标像素运用滑动窗口的方法求与</a:t>
            </a:r>
            <a:r>
              <a:rPr lang="zh-CN" altLang="en-US">
                <a:solidFill>
                  <a:srgbClr val="FF0000"/>
                </a:solidFill>
              </a:rPr>
              <a:t>窗口内</a:t>
            </a:r>
            <a:r>
              <a:rPr lang="zh-CN" altLang="en-US"/>
              <a:t>其他像素的差异度；</a:t>
            </a:r>
            <a:endParaRPr lang="zh-CN" altLang="en-US"/>
          </a:p>
          <a:p>
            <a:endParaRPr lang="zh-CN" altLang="en-US"/>
          </a:p>
          <a:p>
            <a:pPr>
              <a:spcBef>
                <a:spcPts val="0"/>
              </a:spcBef>
              <a:spcAft>
                <a:spcPts val="0"/>
              </a:spcAft>
            </a:pPr>
            <a:r>
              <a:rPr lang="zh-CN" altLang="en-US"/>
              <a:t>        ③ 利用多尺度方法在</a:t>
            </a:r>
            <a:r>
              <a:rPr lang="zh-CN" altLang="en-US">
                <a:solidFill>
                  <a:srgbClr val="FF0000"/>
                </a:solidFill>
              </a:rPr>
              <a:t>多个分辨率</a:t>
            </a:r>
            <a:r>
              <a:rPr lang="zh-CN" altLang="en-US"/>
              <a:t>上计算对比度；</a:t>
            </a:r>
            <a:endParaRPr lang="zh-CN" altLang="en-US"/>
          </a:p>
          <a:p>
            <a:endParaRPr lang="zh-CN" altLang="en-US"/>
          </a:p>
          <a:p>
            <a:pPr>
              <a:spcBef>
                <a:spcPts val="0"/>
              </a:spcBef>
            </a:pPr>
            <a:r>
              <a:rPr lang="zh-CN" altLang="en-US"/>
              <a:t>        ④ 利用</a:t>
            </a:r>
            <a:r>
              <a:rPr lang="zh-CN" altLang="en-US">
                <a:solidFill>
                  <a:srgbClr val="FF0000"/>
                </a:solidFill>
              </a:rPr>
              <a:t>中心-周边</a:t>
            </a:r>
            <a:r>
              <a:rPr lang="zh-CN" altLang="en-US"/>
              <a:t>区域的关系计算对比度。</a:t>
            </a:r>
            <a:endParaRPr lang="zh-CN" altLang="en-US"/>
          </a:p>
          <a:p>
            <a:endParaRPr lang="zh-CN" altLang="en-US"/>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5" name="矩形 28262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2627" name="矩形 282627"/>
          <p:cNvSpPr/>
          <p:nvPr/>
        </p:nvSpPr>
        <p:spPr>
          <a:xfrm>
            <a:off x="1979613" y="1260475"/>
            <a:ext cx="17068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对比度检测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570230" y="2221230"/>
            <a:ext cx="11051540" cy="3692525"/>
          </a:xfrm>
          <a:prstGeom prst="rect">
            <a:avLst/>
          </a:prstGeom>
          <a:noFill/>
        </p:spPr>
        <p:txBody>
          <a:bodyPr wrap="square" rtlCol="0" anchor="t">
            <a:spAutoFit/>
          </a:bodyPr>
          <a:p>
            <a:pPr>
              <a:spcAft>
                <a:spcPts val="0"/>
              </a:spcAft>
            </a:pPr>
            <a:r>
              <a:rPr lang="zh-CN" altLang="en-US"/>
              <a:t>2. 利用全局对比度先验知识</a:t>
            </a:r>
            <a:endParaRPr lang="zh-CN" altLang="en-US"/>
          </a:p>
          <a:p>
            <a:pPr>
              <a:spcBef>
                <a:spcPts val="0"/>
              </a:spcBef>
              <a:spcAft>
                <a:spcPts val="0"/>
              </a:spcAft>
            </a:pPr>
            <a:r>
              <a:rPr lang="zh-CN" altLang="en-US">
                <a:solidFill>
                  <a:srgbClr val="FF0000"/>
                </a:solidFill>
              </a:rPr>
              <a:t>基本思想</a:t>
            </a:r>
            <a:r>
              <a:rPr lang="zh-CN" altLang="en-US"/>
              <a:t>：将目标像素与图像中其余所有像素进行特征差异度计算。</a:t>
            </a:r>
            <a:endParaRPr lang="zh-CN" altLang="en-US"/>
          </a:p>
          <a:p>
            <a:endParaRPr lang="zh-CN" altLang="en-US"/>
          </a:p>
          <a:p>
            <a:pPr indent="0" algn="just" fontAlgn="auto">
              <a:lnSpc>
                <a:spcPct val="150000"/>
              </a:lnSpc>
              <a:spcBef>
                <a:spcPts val="0"/>
              </a:spcBef>
              <a:spcAft>
                <a:spcPts val="0"/>
              </a:spcAft>
            </a:pPr>
            <a:r>
              <a:rPr lang="zh-CN" altLang="en-US"/>
              <a:t>        全局对比度的基本思想是：</a:t>
            </a:r>
            <a:endParaRPr lang="zh-CN" altLang="en-US"/>
          </a:p>
          <a:p>
            <a:pPr indent="0" algn="just" fontAlgn="auto">
              <a:lnSpc>
                <a:spcPct val="150000"/>
              </a:lnSpc>
              <a:spcBef>
                <a:spcPts val="0"/>
              </a:spcBef>
              <a:spcAft>
                <a:spcPts val="0"/>
              </a:spcAft>
            </a:pPr>
            <a:r>
              <a:rPr lang="zh-CN" altLang="en-US"/>
              <a:t>将目标像素或超像素与图像中</a:t>
            </a:r>
            <a:r>
              <a:rPr lang="zh-CN" altLang="en-US">
                <a:solidFill>
                  <a:srgbClr val="FF0000"/>
                </a:solidFill>
              </a:rPr>
              <a:t>其余所有像素或超像素</a:t>
            </a:r>
            <a:r>
              <a:rPr lang="zh-CN" altLang="en-US"/>
              <a:t>进行特征差异度计算，最后将这些</a:t>
            </a:r>
            <a:r>
              <a:rPr lang="zh-CN" altLang="en-US">
                <a:solidFill>
                  <a:srgbClr val="FF0000"/>
                </a:solidFill>
              </a:rPr>
              <a:t>差异度累加</a:t>
            </a:r>
            <a:r>
              <a:rPr lang="zh-CN" altLang="en-US"/>
              <a:t>作为目标像素或超像素的全局对比度。</a:t>
            </a:r>
            <a:endParaRPr lang="zh-CN" altLang="en-US"/>
          </a:p>
          <a:p>
            <a:pPr indent="0" algn="just" fontAlgn="auto">
              <a:lnSpc>
                <a:spcPct val="150000"/>
              </a:lnSpc>
              <a:spcBef>
                <a:spcPts val="0"/>
              </a:spcBef>
              <a:spcAft>
                <a:spcPts val="0"/>
              </a:spcAft>
            </a:pPr>
            <a:r>
              <a:rPr lang="zh-CN" altLang="en-US"/>
              <a:t>相比于基于局部对比度的方法， 基于全局对比度的方法在将</a:t>
            </a:r>
            <a:r>
              <a:rPr lang="zh-CN" altLang="en-US">
                <a:solidFill>
                  <a:srgbClr val="FF0000"/>
                </a:solidFill>
              </a:rPr>
              <a:t>大尺度物体</a:t>
            </a:r>
            <a:r>
              <a:rPr lang="zh-CN" altLang="en-US"/>
              <a:t>从其周围环境中提取出来时，能够在目标边界或邻域产生较高的显著性值。</a:t>
            </a:r>
            <a:endParaRPr lang="zh-CN" altLang="en-US"/>
          </a:p>
          <a:p>
            <a:pPr indent="0" algn="just" fontAlgn="auto">
              <a:lnSpc>
                <a:spcPct val="150000"/>
              </a:lnSpc>
              <a:spcBef>
                <a:spcPts val="0"/>
              </a:spcBef>
            </a:pPr>
            <a:r>
              <a:rPr lang="zh-CN" altLang="en-US"/>
              <a:t>另外，对全局的考虑可比较均匀地给相似图像区域分配接近的显著性值， 从而均匀地突出整个对象。</a:t>
            </a:r>
            <a:endParaRPr lang="zh-CN" altLang="en-US"/>
          </a:p>
          <a:p>
            <a:endParaRPr lang="zh-CN" altLang="en-US"/>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5" name="矩形 28262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2627" name="矩形 282627"/>
          <p:cNvSpPr/>
          <p:nvPr/>
        </p:nvSpPr>
        <p:spPr>
          <a:xfrm>
            <a:off x="1979613" y="1260475"/>
            <a:ext cx="17068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对比度检测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700405" y="2495550"/>
            <a:ext cx="10871835" cy="2861310"/>
          </a:xfrm>
          <a:prstGeom prst="rect">
            <a:avLst/>
          </a:prstGeom>
          <a:noFill/>
        </p:spPr>
        <p:txBody>
          <a:bodyPr wrap="square" rtlCol="0" anchor="t">
            <a:spAutoFit/>
          </a:bodyPr>
          <a:p>
            <a:pPr algn="just">
              <a:spcAft>
                <a:spcPts val="0"/>
              </a:spcAft>
            </a:pPr>
            <a:r>
              <a:rPr lang="zh-CN" altLang="en-US"/>
              <a:t>3. 利用背景先验知识</a:t>
            </a:r>
            <a:endParaRPr lang="zh-CN" altLang="en-US"/>
          </a:p>
          <a:p>
            <a:pPr algn="just">
              <a:spcBef>
                <a:spcPts val="0"/>
              </a:spcBef>
              <a:spcAft>
                <a:spcPts val="0"/>
              </a:spcAft>
            </a:pPr>
            <a:r>
              <a:rPr lang="zh-CN" altLang="en-US">
                <a:solidFill>
                  <a:srgbClr val="FF0000"/>
                </a:solidFill>
              </a:rPr>
              <a:t>基本思想</a:t>
            </a:r>
            <a:r>
              <a:rPr lang="zh-CN" altLang="en-US"/>
              <a:t>：显著性区域图像的四周对应背景。</a:t>
            </a:r>
            <a:endParaRPr lang="zh-CN" altLang="en-US"/>
          </a:p>
          <a:p>
            <a:pPr algn="just"/>
            <a:endParaRPr lang="zh-CN" altLang="en-US"/>
          </a:p>
          <a:p>
            <a:pPr indent="0" algn="just" fontAlgn="auto">
              <a:lnSpc>
                <a:spcPct val="150000"/>
              </a:lnSpc>
              <a:spcBef>
                <a:spcPts val="0"/>
              </a:spcBef>
              <a:spcAft>
                <a:spcPts val="0"/>
              </a:spcAft>
            </a:pPr>
            <a:r>
              <a:rPr lang="zh-CN" altLang="en-US"/>
              <a:t>        有的方法将一个区域的显著性定义为该区域到图像四周（边框）的最短加权距离。</a:t>
            </a:r>
            <a:endParaRPr lang="zh-CN" altLang="en-US"/>
          </a:p>
          <a:p>
            <a:pPr indent="0" algn="just" fontAlgn="auto">
              <a:lnSpc>
                <a:spcPct val="150000"/>
              </a:lnSpc>
              <a:spcBef>
                <a:spcPts val="0"/>
              </a:spcBef>
              <a:spcAft>
                <a:spcPts val="0"/>
              </a:spcAft>
            </a:pPr>
            <a:r>
              <a:rPr lang="zh-CN" altLang="en-US"/>
              <a:t>这里，实际上利用了背景先验，即图像的四周对应背景。对人造物拍摄的照片一般满足这个条件，即目标 物体经常集中在图像的内部区域，并远离图像边界。</a:t>
            </a:r>
            <a:endParaRPr lang="zh-CN" altLang="en-US"/>
          </a:p>
          <a:p>
            <a:pPr indent="0" algn="just" fontAlgn="auto">
              <a:lnSpc>
                <a:spcPct val="150000"/>
              </a:lnSpc>
              <a:spcBef>
                <a:spcPts val="0"/>
              </a:spcBef>
            </a:pPr>
            <a:r>
              <a:rPr lang="zh-CN" altLang="en-US"/>
              <a:t>算法的主要思想就是首先检查出背景区域， 进而得到目标区域。</a:t>
            </a:r>
            <a:endParaRPr lang="zh-CN" altLang="en-US"/>
          </a:p>
          <a:p>
            <a:pPr algn="just"/>
            <a:endParaRPr lang="zh-CN" altLang="en-US"/>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49" name="矩形 283649"/>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3650" name="矩形 283650"/>
          <p:cNvSpPr/>
          <p:nvPr/>
        </p:nvSpPr>
        <p:spPr>
          <a:xfrm>
            <a:off x="516255" y="1945005"/>
            <a:ext cx="11362055" cy="3545840"/>
          </a:xfrm>
          <a:prstGeom prst="rect">
            <a:avLst/>
          </a:prstGeom>
          <a:noFill/>
          <a:ln w="9525">
            <a:noFill/>
          </a:ln>
        </p:spPr>
        <p:txBody>
          <a:bodyPr wrap="square" anchor="t" anchorCtr="0">
            <a:spAutoFit/>
          </a:bodyPr>
          <a:p>
            <a:pPr defTabSz="719455">
              <a:lnSpc>
                <a:spcPct val="130000"/>
              </a:lnSpc>
              <a:spcBef>
                <a:spcPts val="600"/>
              </a:spcBef>
              <a:spcAft>
                <a:spcPts val="300"/>
              </a:spcAft>
            </a:pPr>
            <a:r>
              <a:rPr lang="en-US" altLang="zh-CN" sz="2400">
                <a:latin typeface="微软雅黑" panose="020B0503020204020204" charset="-122"/>
                <a:ea typeface="微软雅黑" panose="020B0503020204020204" charset="-122"/>
              </a:rPr>
              <a:t>	</a:t>
            </a:r>
            <a:r>
              <a:rPr lang="zh-CN" altLang="en-US" sz="2400" b="1">
                <a:latin typeface="微软雅黑" panose="020B0503020204020204" charset="-122"/>
                <a:ea typeface="微软雅黑" panose="020B0503020204020204" charset="-122"/>
              </a:rPr>
              <a:t>基于直方图对比度的算法</a:t>
            </a:r>
            <a:endParaRPr lang="zh-CN" altLang="en-US" sz="2400" b="1">
              <a:latin typeface="微软雅黑" panose="020B0503020204020204" charset="-122"/>
              <a:ea typeface="微软雅黑" panose="020B0503020204020204" charset="-122"/>
            </a:endParaRPr>
          </a:p>
          <a:p>
            <a:pPr algn="just"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	一个像素的显著性是该像素与图像中所有其他像素之间的颜色</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灰度的对比度之和</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600"/>
              </a:spcAft>
            </a:pP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很容易看出具有</a:t>
            </a:r>
            <a:r>
              <a:rPr lang="zh-CN" altLang="en-US" sz="2400">
                <a:solidFill>
                  <a:srgbClr val="FF0000"/>
                </a:solidFill>
                <a:latin typeface="微软雅黑" panose="020B0503020204020204" charset="-122"/>
                <a:ea typeface="微软雅黑" panose="020B0503020204020204" charset="-122"/>
              </a:rPr>
              <a:t>相同颜色</a:t>
            </a:r>
            <a:r>
              <a:rPr lang="en-US" altLang="zh-CN" sz="2400">
                <a:solidFill>
                  <a:srgbClr val="FF0000"/>
                </a:solidFill>
                <a:latin typeface="微软雅黑" panose="020B0503020204020204" charset="-122"/>
                <a:ea typeface="微软雅黑" panose="020B0503020204020204" charset="-122"/>
              </a:rPr>
              <a:t>/</a:t>
            </a:r>
            <a:r>
              <a:rPr lang="zh-CN" altLang="en-US" sz="2400">
                <a:solidFill>
                  <a:srgbClr val="FF0000"/>
                </a:solidFill>
                <a:latin typeface="微软雅黑" panose="020B0503020204020204" charset="-122"/>
                <a:ea typeface="微软雅黑" panose="020B0503020204020204" charset="-122"/>
              </a:rPr>
              <a:t>灰度</a:t>
            </a:r>
            <a:r>
              <a:rPr lang="zh-CN" altLang="en-US" sz="2400">
                <a:latin typeface="微软雅黑" panose="020B0503020204020204" charset="-122"/>
                <a:ea typeface="微软雅黑" panose="020B0503020204020204" charset="-122"/>
              </a:rPr>
              <a:t>的像素会具有</a:t>
            </a:r>
            <a:r>
              <a:rPr lang="zh-CN" altLang="en-US" sz="2400">
                <a:solidFill>
                  <a:srgbClr val="FF0000"/>
                </a:solidFill>
                <a:latin typeface="微软雅黑" panose="020B0503020204020204" charset="-122"/>
                <a:ea typeface="微软雅黑" panose="020B0503020204020204" charset="-122"/>
              </a:rPr>
              <a:t>相同的显著性值</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如果将对应具有相同颜色</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灰度值</a:t>
            </a:r>
            <a:r>
              <a:rPr lang="en-US" altLang="zh-CN" sz="2400" i="1">
                <a:latin typeface="Arial" panose="020B0604020202020204" pitchFamily="34" charset="0"/>
                <a:ea typeface="微软雅黑" panose="020B0503020204020204" charset="-122"/>
              </a:rPr>
              <a:t>c</a:t>
            </a:r>
            <a:r>
              <a:rPr lang="en-US" altLang="zh-CN" sz="2400" i="1" baseline="-25000">
                <a:latin typeface="Arial" panose="020B0604020202020204" pitchFamily="34" charset="0"/>
                <a:ea typeface="微软雅黑" panose="020B0503020204020204" charset="-122"/>
              </a:rPr>
              <a:t>i</a:t>
            </a:r>
            <a:r>
              <a:rPr lang="zh-CN" altLang="en-US" sz="2400">
                <a:latin typeface="微软雅黑" panose="020B0503020204020204" charset="-122"/>
                <a:ea typeface="微软雅黑" panose="020B0503020204020204" charset="-122"/>
              </a:rPr>
              <a:t>的像素</a:t>
            </a:r>
            <a:r>
              <a:rPr lang="en-US" altLang="zh-CN" sz="2400" i="1">
                <a:latin typeface="Arial" panose="020B0604020202020204" pitchFamily="34" charset="0"/>
                <a:ea typeface="微软雅黑" panose="020B0503020204020204" charset="-122"/>
              </a:rPr>
              <a:t>I</a:t>
            </a:r>
            <a:r>
              <a:rPr lang="en-US" altLang="zh-CN" sz="2400" i="1" baseline="-25000">
                <a:latin typeface="Arial" panose="020B0604020202020204" pitchFamily="34" charset="0"/>
                <a:ea typeface="微软雅黑" panose="020B0503020204020204" charset="-122"/>
              </a:rPr>
              <a:t>i</a:t>
            </a:r>
            <a:r>
              <a:rPr lang="zh-CN" altLang="en-US" sz="2400">
                <a:latin typeface="微软雅黑" panose="020B0503020204020204" charset="-122"/>
                <a:ea typeface="微软雅黑" panose="020B0503020204020204" charset="-122"/>
              </a:rPr>
              <a:t>分在同一组，相同颜色的像素的显著性为：</a:t>
            </a:r>
            <a:endParaRPr lang="zh-CN" altLang="en-US" sz="2400">
              <a:latin typeface="微软雅黑" panose="020B0503020204020204" charset="-122"/>
              <a:ea typeface="微软雅黑" panose="020B0503020204020204" charset="-122"/>
            </a:endParaRPr>
          </a:p>
        </p:txBody>
      </p:sp>
      <p:sp>
        <p:nvSpPr>
          <p:cNvPr id="283651" name="矩形 283651"/>
          <p:cNvSpPr/>
          <p:nvPr/>
        </p:nvSpPr>
        <p:spPr>
          <a:xfrm>
            <a:off x="1979613" y="1260475"/>
            <a:ext cx="2591435" cy="460375"/>
          </a:xfrm>
          <a:prstGeom prst="rect">
            <a:avLst/>
          </a:prstGeom>
          <a:noFill/>
          <a:ln w="9525">
            <a:noFill/>
          </a:ln>
        </p:spPr>
        <p:txBody>
          <a:bodyPr wrap="none" anchor="t" anchorCtr="0">
            <a:spAutoFit/>
          </a:bodyPr>
          <a:p>
            <a:pPr>
              <a:spcAft>
                <a:spcPts val="0"/>
              </a:spcAft>
            </a:pPr>
            <a:r>
              <a:rPr lang="en-US" altLang="zh-CN" sz="2400" b="1">
                <a:latin typeface="微软雅黑" panose="020B0503020204020204" charset="-122"/>
                <a:ea typeface="微软雅黑" panose="020B0503020204020204" charset="-122"/>
              </a:rPr>
              <a:t>1.</a:t>
            </a:r>
            <a:r>
              <a:rPr lang="zh-CN" altLang="en-US" sz="2400" b="1">
                <a:latin typeface="微软雅黑" panose="020B0503020204020204" charset="-122"/>
                <a:ea typeface="微软雅黑" panose="020B0503020204020204" charset="-122"/>
              </a:rPr>
              <a:t>基于对比度幅值</a:t>
            </a:r>
            <a:endParaRPr lang="zh-CN" altLang="en-US" sz="2400" b="1">
              <a:latin typeface="微软雅黑" panose="020B0503020204020204" charset="-122"/>
              <a:ea typeface="微软雅黑" panose="020B0503020204020204" charset="-122"/>
            </a:endParaRPr>
          </a:p>
        </p:txBody>
      </p:sp>
      <p:pic>
        <p:nvPicPr>
          <p:cNvPr id="283652" name="图片 283652" descr="C:/Users/Administrator/AppData/Roaming/Yozo_Office/Temp/fc/968467201615187995629/计算机视觉教程（第3版）PPT第04章.pptx/ppt/media/image7.emf"/>
          <p:cNvPicPr/>
          <p:nvPr/>
        </p:nvPicPr>
        <p:blipFill>
          <a:blip r:embed="rId1"/>
          <a:stretch>
            <a:fillRect/>
          </a:stretch>
        </p:blipFill>
        <p:spPr>
          <a:xfrm>
            <a:off x="2120583" y="3669348"/>
            <a:ext cx="2592387" cy="649287"/>
          </a:xfrm>
          <a:prstGeom prst="rect">
            <a:avLst/>
          </a:prstGeom>
          <a:noFill/>
          <a:ln w="9525">
            <a:noFill/>
          </a:ln>
        </p:spPr>
      </p:pic>
      <p:pic>
        <p:nvPicPr>
          <p:cNvPr id="283653" name="图片 283653" descr="C:/Users/Administrator/AppData/Roaming/Yozo_Office/Temp/fc/968467201615187995629/计算机视觉教程（第3版）PPT第04章.pptx/ppt/media/image8.emf"/>
          <p:cNvPicPr/>
          <p:nvPr/>
        </p:nvPicPr>
        <p:blipFill>
          <a:blip r:embed="rId2"/>
          <a:stretch>
            <a:fillRect/>
          </a:stretch>
        </p:blipFill>
        <p:spPr>
          <a:xfrm>
            <a:off x="5709920" y="3669348"/>
            <a:ext cx="5219700" cy="431800"/>
          </a:xfrm>
          <a:prstGeom prst="rect">
            <a:avLst/>
          </a:prstGeom>
          <a:noFill/>
          <a:ln w="9525">
            <a:noFill/>
          </a:ln>
        </p:spPr>
      </p:pic>
      <p:pic>
        <p:nvPicPr>
          <p:cNvPr id="283654" name="图片 283654" descr="C:/Users/Administrator/AppData/Roaming/Yozo_Office/Temp/fc/968467201615187995629/计算机视觉教程（第3版）PPT第04章.pptx/ppt/media/image9.emf"/>
          <p:cNvPicPr/>
          <p:nvPr/>
        </p:nvPicPr>
        <p:blipFill>
          <a:blip r:embed="rId3"/>
          <a:stretch>
            <a:fillRect/>
          </a:stretch>
        </p:blipFill>
        <p:spPr>
          <a:xfrm>
            <a:off x="3415665" y="5472113"/>
            <a:ext cx="3421063" cy="863600"/>
          </a:xfrm>
          <a:prstGeom prst="rect">
            <a:avLst/>
          </a:prstGeom>
          <a:noFill/>
          <a:ln w="9525">
            <a:noFill/>
          </a:ln>
        </p:spPr>
      </p:pic>
      <p:sp>
        <p:nvSpPr>
          <p:cNvPr id="283655" name="矩形 283655"/>
          <p:cNvSpPr/>
          <p:nvPr/>
        </p:nvSpPr>
        <p:spPr>
          <a:xfrm>
            <a:off x="7305675" y="5472430"/>
            <a:ext cx="4323715" cy="429895"/>
          </a:xfrm>
          <a:prstGeom prst="rect">
            <a:avLst/>
          </a:prstGeom>
          <a:noFill/>
          <a:ln w="9525">
            <a:noFill/>
          </a:ln>
        </p:spPr>
        <p:txBody>
          <a:bodyPr wrap="square" anchor="t" anchorCtr="0">
            <a:spAutoFit/>
          </a:bodyPr>
          <a:p>
            <a:pPr>
              <a:spcAft>
                <a:spcPts val="0"/>
              </a:spcAft>
            </a:pPr>
            <a:r>
              <a:rPr lang="zh-CN" altLang="en-US" sz="2200">
                <a:latin typeface="微软雅黑" panose="020B0503020204020204" charset="-122"/>
                <a:ea typeface="微软雅黑" panose="020B0503020204020204" charset="-122"/>
              </a:rPr>
              <a:t>对应直方图表达，计算快捷</a:t>
            </a:r>
            <a:endParaRPr lang="zh-CN" altLang="en-US" sz="2200">
              <a:latin typeface="微软雅黑" panose="020B0503020204020204" charset="-122"/>
              <a:ea typeface="微软雅黑" panose="020B0503020204020204" charset="-122"/>
            </a:endParaRPr>
          </a:p>
        </p:txBody>
      </p:sp>
      <p:sp>
        <p:nvSpPr>
          <p:cNvPr id="2" name="文本框 1"/>
          <p:cNvSpPr txBox="1"/>
          <p:nvPr/>
        </p:nvSpPr>
        <p:spPr>
          <a:xfrm>
            <a:off x="4970145" y="3733165"/>
            <a:ext cx="680085" cy="368300"/>
          </a:xfrm>
          <a:prstGeom prst="rect">
            <a:avLst/>
          </a:prstGeom>
          <a:noFill/>
        </p:spPr>
        <p:txBody>
          <a:bodyPr wrap="square" rtlCol="0">
            <a:spAutoFit/>
          </a:bodyPr>
          <a:p>
            <a:pPr>
              <a:spcAft>
                <a:spcPts val="0"/>
              </a:spcAft>
            </a:pPr>
            <a:r>
              <a:rPr lang="zh-CN" altLang="en-US"/>
              <a:t>展开</a:t>
            </a:r>
            <a:endParaRPr lang="zh-CN" altLang="en-US"/>
          </a:p>
        </p:txBody>
      </p:sp>
      <p:cxnSp>
        <p:nvCxnSpPr>
          <p:cNvPr id="3" name="直接箭头连接符 2"/>
          <p:cNvCxnSpPr/>
          <p:nvPr/>
        </p:nvCxnSpPr>
        <p:spPr>
          <a:xfrm>
            <a:off x="5692775" y="5979160"/>
            <a:ext cx="1266190" cy="6038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7508875" y="6336030"/>
            <a:ext cx="2578100" cy="368300"/>
          </a:xfrm>
          <a:prstGeom prst="rect">
            <a:avLst/>
          </a:prstGeom>
          <a:noFill/>
        </p:spPr>
        <p:txBody>
          <a:bodyPr wrap="square" rtlCol="0">
            <a:spAutoFit/>
          </a:bodyPr>
          <a:p>
            <a:pPr>
              <a:spcAft>
                <a:spcPts val="0"/>
              </a:spcAft>
            </a:pPr>
            <a:r>
              <a:rPr lang="zh-CN" altLang="en-US"/>
              <a:t>为某一颜色的概率</a:t>
            </a:r>
            <a:endParaRPr lang="zh-CN" altLang="en-US"/>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49" name="矩形 283649"/>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3651" name="矩形 283651"/>
          <p:cNvSpPr/>
          <p:nvPr/>
        </p:nvSpPr>
        <p:spPr>
          <a:xfrm>
            <a:off x="1979613" y="1260475"/>
            <a:ext cx="23164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基于对比度幅值</a:t>
            </a:r>
            <a:endParaRPr lang="zh-CN" altLang="en-US" sz="2400" b="1">
              <a:latin typeface="微软雅黑" panose="020B0503020204020204" charset="-122"/>
              <a:ea typeface="微软雅黑" panose="020B0503020204020204" charset="-122"/>
            </a:endParaRPr>
          </a:p>
        </p:txBody>
      </p:sp>
      <p:pic>
        <p:nvPicPr>
          <p:cNvPr id="116" name="图片 115"/>
          <p:cNvPicPr/>
          <p:nvPr>
            <p:custDataLst>
              <p:tags r:id="rId1"/>
            </p:custDataLst>
          </p:nvPr>
        </p:nvPicPr>
        <p:blipFill>
          <a:blip r:embed="rId2"/>
          <a:stretch>
            <a:fillRect/>
          </a:stretch>
        </p:blipFill>
        <p:spPr>
          <a:xfrm>
            <a:off x="6242050" y="2033905"/>
            <a:ext cx="5486400" cy="3657600"/>
          </a:xfrm>
          <a:prstGeom prst="rect">
            <a:avLst/>
          </a:prstGeom>
          <a:noFill/>
          <a:ln w="9525">
            <a:noFill/>
          </a:ln>
        </p:spPr>
      </p:pic>
      <p:sp>
        <p:nvSpPr>
          <p:cNvPr id="2" name="文本框 1"/>
          <p:cNvSpPr txBox="1"/>
          <p:nvPr/>
        </p:nvSpPr>
        <p:spPr>
          <a:xfrm>
            <a:off x="1628140" y="2338705"/>
            <a:ext cx="4885690" cy="368300"/>
          </a:xfrm>
          <a:prstGeom prst="rect">
            <a:avLst/>
          </a:prstGeom>
          <a:noFill/>
        </p:spPr>
        <p:txBody>
          <a:bodyPr wrap="square" rtlCol="0">
            <a:spAutoFit/>
          </a:bodyPr>
          <a:p>
            <a:pPr>
              <a:spcAft>
                <a:spcPts val="0"/>
              </a:spcAft>
            </a:pPr>
            <a:r>
              <a:rPr lang="en-US" altLang="zh-CN" i="1"/>
              <a:t>D</a:t>
            </a:r>
            <a:r>
              <a:rPr lang="en-US" altLang="zh-CN" i="1" baseline="-25000"/>
              <a:t>C</a:t>
            </a:r>
            <a:r>
              <a:rPr lang="zh-CN" altLang="en-US"/>
              <a:t>表示在</a:t>
            </a:r>
            <a:r>
              <a:rPr lang="en-US" altLang="zh-CN"/>
              <a:t>L*a*b*</a:t>
            </a:r>
            <a:r>
              <a:rPr lang="zh-CN" altLang="en-US"/>
              <a:t>空间</a:t>
            </a:r>
            <a:r>
              <a:rPr lang="en-US" altLang="zh-CN"/>
              <a:t>(</a:t>
            </a:r>
            <a:r>
              <a:rPr lang="zh-CN" altLang="en-US">
                <a:solidFill>
                  <a:srgbClr val="FF0000"/>
                </a:solidFill>
              </a:rPr>
              <a:t>色差空间</a:t>
            </a:r>
            <a:r>
              <a:rPr lang="en-US" altLang="zh-CN"/>
              <a:t>)</a:t>
            </a:r>
            <a:r>
              <a:rPr lang="zh-CN" altLang="en-US"/>
              <a:t>的颜色距离</a:t>
            </a:r>
            <a:endParaRPr lang="zh-CN" altLang="en-US"/>
          </a:p>
        </p:txBody>
      </p:sp>
      <p:pic>
        <p:nvPicPr>
          <p:cNvPr id="3" name="图片 283654" descr="C:/Users/Administrator/AppData/Roaming/Yozo_Office/Temp/fc/968467201615187995629/计算机视觉教程（第3版）PPT第04章.pptx/ppt/media/image9.emf"/>
          <p:cNvPicPr/>
          <p:nvPr>
            <p:custDataLst>
              <p:tags r:id="rId3"/>
            </p:custDataLst>
          </p:nvPr>
        </p:nvPicPr>
        <p:blipFill>
          <a:blip r:embed="rId4"/>
          <a:stretch>
            <a:fillRect/>
          </a:stretch>
        </p:blipFill>
        <p:spPr>
          <a:xfrm>
            <a:off x="5688965" y="966788"/>
            <a:ext cx="3421063" cy="863600"/>
          </a:xfrm>
          <a:prstGeom prst="rect">
            <a:avLst/>
          </a:prstGeom>
          <a:noFill/>
          <a:ln w="9525">
            <a:noFill/>
          </a:ln>
        </p:spPr>
      </p:pic>
      <p:sp>
        <p:nvSpPr>
          <p:cNvPr id="4" name="文本框 3"/>
          <p:cNvSpPr txBox="1"/>
          <p:nvPr/>
        </p:nvSpPr>
        <p:spPr>
          <a:xfrm>
            <a:off x="767080" y="3107055"/>
            <a:ext cx="6096000" cy="2584450"/>
          </a:xfrm>
          <a:prstGeom prst="rect">
            <a:avLst/>
          </a:prstGeom>
          <a:noFill/>
        </p:spPr>
        <p:txBody>
          <a:bodyPr wrap="square" rtlCol="0" anchor="t">
            <a:spAutoFit/>
          </a:bodyPr>
          <a:p>
            <a:pPr>
              <a:spcAft>
                <a:spcPts val="0"/>
              </a:spcAft>
            </a:pPr>
            <a:r>
              <a:rPr lang="zh-CN" altLang="en-US"/>
              <a:t>Lab是由一个亮度通道（channel）和两个颜色通道组成的。在Lab颜色空间中，每个颜色用L、a、b三个数字表示，各个分量的含义是这样的：</a:t>
            </a:r>
            <a:endParaRPr lang="zh-CN" altLang="en-US"/>
          </a:p>
          <a:p>
            <a:endParaRPr lang="zh-CN" altLang="en-US"/>
          </a:p>
          <a:p>
            <a:pPr>
              <a:spcBef>
                <a:spcPts val="0"/>
              </a:spcBef>
              <a:spcAft>
                <a:spcPts val="0"/>
              </a:spcAft>
            </a:pPr>
            <a:r>
              <a:rPr lang="zh-CN" altLang="en-US"/>
              <a:t>- L*代表亮度</a:t>
            </a:r>
            <a:endParaRPr lang="zh-CN" altLang="en-US"/>
          </a:p>
          <a:p>
            <a:endParaRPr lang="zh-CN" altLang="en-US"/>
          </a:p>
          <a:p>
            <a:pPr>
              <a:spcBef>
                <a:spcPts val="0"/>
              </a:spcBef>
              <a:spcAft>
                <a:spcPts val="0"/>
              </a:spcAft>
            </a:pPr>
            <a:r>
              <a:rPr lang="zh-CN" altLang="en-US"/>
              <a:t>- a*代表从绿色到红色的分量</a:t>
            </a:r>
            <a:endParaRPr lang="zh-CN" altLang="en-US"/>
          </a:p>
          <a:p>
            <a:endParaRPr lang="zh-CN" altLang="en-US"/>
          </a:p>
          <a:p>
            <a:pPr>
              <a:spcBef>
                <a:spcPts val="0"/>
              </a:spcBef>
            </a:pPr>
            <a:r>
              <a:rPr lang="zh-CN" altLang="en-US"/>
              <a:t>- b*代表从蓝色到黄色的分量</a:t>
            </a:r>
            <a:endParaRPr lang="zh-CN" altLang="en-US"/>
          </a:p>
        </p:txBody>
      </p:sp>
      <p:cxnSp>
        <p:nvCxnSpPr>
          <p:cNvPr id="5" name="直接箭头连接符 4"/>
          <p:cNvCxnSpPr/>
          <p:nvPr/>
        </p:nvCxnSpPr>
        <p:spPr>
          <a:xfrm flipH="1">
            <a:off x="4308475" y="1573530"/>
            <a:ext cx="3598545" cy="7912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49" name="矩形 283649"/>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3651" name="矩形 283651"/>
          <p:cNvSpPr/>
          <p:nvPr/>
        </p:nvSpPr>
        <p:spPr>
          <a:xfrm>
            <a:off x="1979613" y="1260475"/>
            <a:ext cx="23164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基于对比度幅值</a:t>
            </a:r>
            <a:endParaRPr lang="zh-CN" altLang="en-US" sz="2400" b="1">
              <a:latin typeface="微软雅黑" panose="020B0503020204020204" charset="-122"/>
              <a:ea typeface="微软雅黑" panose="020B0503020204020204" charset="-122"/>
            </a:endParaRPr>
          </a:p>
        </p:txBody>
      </p:sp>
      <p:pic>
        <p:nvPicPr>
          <p:cNvPr id="3" name="图片 283654" descr="C:/Users/Administrator/AppData/Roaming/Yozo_Office/Temp/fc/968467201615187995629/计算机视觉教程（第3版）PPT第04章.pptx/ppt/media/image9.emf"/>
          <p:cNvPicPr/>
          <p:nvPr>
            <p:custDataLst>
              <p:tags r:id="rId1"/>
            </p:custDataLst>
          </p:nvPr>
        </p:nvPicPr>
        <p:blipFill>
          <a:blip r:embed="rId2"/>
          <a:stretch>
            <a:fillRect/>
          </a:stretch>
        </p:blipFill>
        <p:spPr>
          <a:xfrm>
            <a:off x="6863080" y="626428"/>
            <a:ext cx="3421063" cy="863600"/>
          </a:xfrm>
          <a:prstGeom prst="rect">
            <a:avLst/>
          </a:prstGeom>
          <a:noFill/>
          <a:ln w="9525">
            <a:noFill/>
          </a:ln>
        </p:spPr>
      </p:pic>
      <p:sp>
        <p:nvSpPr>
          <p:cNvPr id="5" name="文本框 4"/>
          <p:cNvSpPr txBox="1"/>
          <p:nvPr/>
        </p:nvSpPr>
        <p:spPr>
          <a:xfrm>
            <a:off x="1336675" y="2221230"/>
            <a:ext cx="8947785" cy="2861310"/>
          </a:xfrm>
          <a:prstGeom prst="rect">
            <a:avLst/>
          </a:prstGeom>
          <a:noFill/>
        </p:spPr>
        <p:txBody>
          <a:bodyPr wrap="square" rtlCol="0" anchor="t">
            <a:spAutoFit/>
          </a:bodyPr>
          <a:p>
            <a:pPr>
              <a:spcAft>
                <a:spcPts val="0"/>
              </a:spcAft>
            </a:pPr>
            <a:r>
              <a:rPr lang="zh-CN" altLang="en-US"/>
              <a:t>彩色图片每个颜色通道由</a:t>
            </a:r>
            <a:r>
              <a:rPr lang="en-US" altLang="zh-CN"/>
              <a:t>256</a:t>
            </a:r>
            <a:r>
              <a:rPr lang="zh-CN" altLang="en-US"/>
              <a:t>个值，计算量为</a:t>
            </a:r>
            <a:r>
              <a:rPr lang="en-US" altLang="zh-CN"/>
              <a:t>256</a:t>
            </a:r>
            <a:r>
              <a:rPr lang="en-US"/>
              <a:t>*256*256</a:t>
            </a:r>
            <a:endParaRPr lang="en-US"/>
          </a:p>
          <a:p>
            <a:endParaRPr lang="en-US" altLang="en-US"/>
          </a:p>
          <a:p>
            <a:pPr>
              <a:spcBef>
                <a:spcPts val="0"/>
              </a:spcBef>
              <a:spcAft>
                <a:spcPts val="0"/>
              </a:spcAft>
            </a:pPr>
            <a:r>
              <a:rPr lang="zh-CN" altLang="en-US"/>
              <a:t>基于直方图对比度算法的优化</a:t>
            </a:r>
            <a:r>
              <a:rPr lang="en-US" altLang="zh-CN"/>
              <a:t>-</a:t>
            </a:r>
            <a:r>
              <a:rPr lang="zh-CN" altLang="en-US"/>
              <a:t>缩减颜色空间</a:t>
            </a:r>
            <a:endParaRPr lang="zh-CN" altLang="en-US"/>
          </a:p>
          <a:p>
            <a:endParaRPr lang="zh-CN" altLang="en-US"/>
          </a:p>
          <a:p>
            <a:pPr>
              <a:spcBef>
                <a:spcPts val="0"/>
              </a:spcBef>
              <a:spcAft>
                <a:spcPts val="0"/>
              </a:spcAft>
            </a:pPr>
            <a:r>
              <a:rPr lang="zh-CN" altLang="en-US"/>
              <a:t>        （1）缩减颜色空间，将每个通道化为12个颜色。</a:t>
            </a:r>
            <a:endParaRPr lang="zh-CN" altLang="en-US"/>
          </a:p>
          <a:p>
            <a:endParaRPr lang="zh-CN" altLang="en-US"/>
          </a:p>
          <a:p>
            <a:pPr>
              <a:spcBef>
                <a:spcPts val="0"/>
              </a:spcBef>
            </a:pPr>
            <a:r>
              <a:rPr lang="zh-CN" altLang="en-US"/>
              <a:t>        （2）将颜色进行量化，进而减少计算量；如将颜色量化到12个不同的值， 这样颜色总数为 12x12x12=1728。同时丢弃部分频率较小的颜色， 用相近的颜色代替(在Lab颜色空间计算距离)。</a:t>
            </a:r>
            <a:endParaRPr lang="zh-CN" altLang="en-US"/>
          </a:p>
          <a:p>
            <a:endParaRPr lang="zh-CN" altLang="en-US"/>
          </a:p>
        </p:txBody>
      </p:sp>
      <p:grpSp>
        <p:nvGrpSpPr>
          <p:cNvPr id="8" name="组合 7"/>
          <p:cNvGrpSpPr/>
          <p:nvPr/>
        </p:nvGrpSpPr>
        <p:grpSpPr>
          <a:xfrm>
            <a:off x="3888740" y="4649470"/>
            <a:ext cx="6244590" cy="2063368"/>
            <a:chOff x="849" y="3112"/>
            <a:chExt cx="7930" cy="2795"/>
          </a:xfrm>
        </p:grpSpPr>
        <p:grpSp>
          <p:nvGrpSpPr>
            <p:cNvPr id="2" name="组合 1"/>
            <p:cNvGrpSpPr/>
            <p:nvPr/>
          </p:nvGrpSpPr>
          <p:grpSpPr>
            <a:xfrm>
              <a:off x="849" y="3112"/>
              <a:ext cx="7186" cy="2795"/>
              <a:chOff x="849" y="3112"/>
              <a:chExt cx="7186" cy="2795"/>
            </a:xfrm>
          </p:grpSpPr>
          <p:pic>
            <p:nvPicPr>
              <p:cNvPr id="100" name="图片 99"/>
              <p:cNvPicPr/>
              <p:nvPr>
                <p:custDataLst>
                  <p:tags r:id="rId3"/>
                </p:custDataLst>
              </p:nvPr>
            </p:nvPicPr>
            <p:blipFill>
              <a:blip r:embed="rId4"/>
              <a:stretch>
                <a:fillRect/>
              </a:stretch>
            </p:blipFill>
            <p:spPr>
              <a:xfrm>
                <a:off x="849" y="3112"/>
                <a:ext cx="7186" cy="2692"/>
              </a:xfrm>
              <a:prstGeom prst="rect">
                <a:avLst/>
              </a:prstGeom>
              <a:noFill/>
              <a:ln w="9525">
                <a:noFill/>
              </a:ln>
            </p:spPr>
          </p:pic>
          <p:sp>
            <p:nvSpPr>
              <p:cNvPr id="4" name="矩形 3"/>
              <p:cNvSpPr/>
              <p:nvPr>
                <p:custDataLst>
                  <p:tags r:id="rId5"/>
                </p:custDataLst>
              </p:nvPr>
            </p:nvSpPr>
            <p:spPr>
              <a:xfrm>
                <a:off x="951" y="5319"/>
                <a:ext cx="6982" cy="58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 name="文本框 5"/>
            <p:cNvSpPr txBox="1"/>
            <p:nvPr>
              <p:custDataLst>
                <p:tags r:id="rId6"/>
              </p:custDataLst>
            </p:nvPr>
          </p:nvSpPr>
          <p:spPr>
            <a:xfrm>
              <a:off x="1193" y="5489"/>
              <a:ext cx="1080" cy="373"/>
            </a:xfrm>
            <a:prstGeom prst="rect">
              <a:avLst/>
            </a:prstGeom>
            <a:noFill/>
          </p:spPr>
          <p:txBody>
            <a:bodyPr wrap="square" rtlCol="0">
              <a:spAutoFit/>
            </a:bodyPr>
            <a:p>
              <a:pPr algn="ctr">
                <a:spcAft>
                  <a:spcPts val="0"/>
                </a:spcAft>
              </a:pPr>
              <a:r>
                <a:rPr lang="zh-CN" altLang="en-US" sz="1200"/>
                <a:t>原图</a:t>
              </a:r>
              <a:endParaRPr lang="zh-CN" altLang="en-US" sz="1200"/>
            </a:p>
          </p:txBody>
        </p:sp>
        <p:sp>
          <p:nvSpPr>
            <p:cNvPr id="7" name="文本框 6"/>
            <p:cNvSpPr txBox="1"/>
            <p:nvPr>
              <p:custDataLst>
                <p:tags r:id="rId7"/>
              </p:custDataLst>
            </p:nvPr>
          </p:nvSpPr>
          <p:spPr>
            <a:xfrm>
              <a:off x="3444" y="5489"/>
              <a:ext cx="2304" cy="373"/>
            </a:xfrm>
            <a:prstGeom prst="rect">
              <a:avLst/>
            </a:prstGeom>
            <a:noFill/>
          </p:spPr>
          <p:txBody>
            <a:bodyPr wrap="square" rtlCol="0">
              <a:spAutoFit/>
            </a:bodyPr>
            <a:p>
              <a:pPr algn="ctr">
                <a:spcAft>
                  <a:spcPts val="0"/>
                </a:spcAft>
              </a:pPr>
              <a:r>
                <a:rPr lang="zh-CN" altLang="en-US" sz="1200"/>
                <a:t>色彩直方图</a:t>
              </a:r>
              <a:endParaRPr lang="zh-CN" altLang="en-US" sz="1200"/>
            </a:p>
          </p:txBody>
        </p:sp>
        <p:sp>
          <p:nvSpPr>
            <p:cNvPr id="9" name="文本框 8"/>
            <p:cNvSpPr txBox="1"/>
            <p:nvPr>
              <p:custDataLst>
                <p:tags r:id="rId8"/>
              </p:custDataLst>
            </p:nvPr>
          </p:nvSpPr>
          <p:spPr>
            <a:xfrm>
              <a:off x="6019" y="5489"/>
              <a:ext cx="2760" cy="373"/>
            </a:xfrm>
            <a:prstGeom prst="rect">
              <a:avLst/>
            </a:prstGeom>
            <a:noFill/>
          </p:spPr>
          <p:txBody>
            <a:bodyPr wrap="square" rtlCol="0">
              <a:spAutoFit/>
            </a:bodyPr>
            <a:p>
              <a:pPr algn="ctr">
                <a:spcAft>
                  <a:spcPts val="0"/>
                </a:spcAft>
              </a:pPr>
              <a:r>
                <a:rPr lang="zh-CN" altLang="en-US" sz="1200"/>
                <a:t>量化颜色表示</a:t>
              </a:r>
              <a:endParaRPr lang="zh-CN" altLang="en-US" sz="1200"/>
            </a:p>
          </p:txBody>
        </p:sp>
      </p:gr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3" name="矩形 284673"/>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4674" name="矩形 284674"/>
          <p:cNvSpPr/>
          <p:nvPr/>
        </p:nvSpPr>
        <p:spPr>
          <a:xfrm>
            <a:off x="953135" y="1945005"/>
            <a:ext cx="10746740" cy="4403725"/>
          </a:xfrm>
          <a:prstGeom prst="rect">
            <a:avLst/>
          </a:prstGeom>
          <a:noFill/>
          <a:ln w="9525">
            <a:noFill/>
          </a:ln>
        </p:spPr>
        <p:txBody>
          <a:bodyPr wrap="square" anchor="t" anchorCtr="0">
            <a:spAutoFit/>
          </a:bodyPr>
          <a:p>
            <a:pPr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	</a:t>
            </a:r>
            <a:r>
              <a:rPr lang="zh-CN" altLang="en-US" sz="2400" b="1">
                <a:latin typeface="Times New Roman" panose="02020603050405020304" charset="0"/>
                <a:ea typeface="微软雅黑" panose="020B0503020204020204" charset="-122"/>
                <a:cs typeface="Times New Roman" panose="02020603050405020304" charset="0"/>
              </a:rPr>
              <a:t>基于区域对比度的算法</a:t>
            </a:r>
            <a:endParaRPr lang="zh-CN" altLang="en-US" sz="2400" b="1">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600"/>
              </a:spcBef>
              <a:spcAft>
                <a:spcPts val="600"/>
              </a:spcAft>
            </a:pPr>
            <a:r>
              <a:rPr lang="zh-CN" altLang="en-US" sz="2400">
                <a:latin typeface="Times New Roman" panose="02020603050405020304" charset="0"/>
                <a:ea typeface="微软雅黑" panose="020B0503020204020204" charset="-122"/>
                <a:cs typeface="Times New Roman" panose="02020603050405020304" charset="0"/>
              </a:rPr>
              <a:t>	将输入图像初步分成多个区域，通过计算区域对比度（</a:t>
            </a:r>
            <a:r>
              <a:rPr lang="en-US" altLang="zh-CN" sz="2400">
                <a:latin typeface="Times New Roman" panose="02020603050405020304" charset="0"/>
                <a:ea typeface="微软雅黑" panose="020B0503020204020204" charset="-122"/>
                <a:cs typeface="Times New Roman" panose="02020603050405020304" charset="0"/>
              </a:rPr>
              <a:t>RC</a:t>
            </a:r>
            <a:r>
              <a:rPr lang="zh-CN" altLang="en-US" sz="2400">
                <a:latin typeface="Times New Roman" panose="02020603050405020304" charset="0"/>
                <a:ea typeface="微软雅黑" panose="020B0503020204020204" charset="-122"/>
                <a:cs typeface="Times New Roman" panose="02020603050405020304" charset="0"/>
              </a:rPr>
              <a:t>）获取其显著性值</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2400"/>
              </a:spcBef>
              <a:spcAft>
                <a:spcPts val="600"/>
              </a:spcAft>
            </a:pPr>
            <a:r>
              <a:rPr lang="zh-CN" altLang="en-US" sz="2400" i="1">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D</a:t>
            </a:r>
            <a:r>
              <a:rPr lang="en-US" altLang="zh-CN" sz="2400" baseline="-25000">
                <a:latin typeface="Times New Roman" panose="02020603050405020304" charset="0"/>
                <a:ea typeface="微软雅黑" panose="020B0503020204020204" charset="-122"/>
                <a:cs typeface="Times New Roman" panose="02020603050405020304" charset="0"/>
              </a:rPr>
              <a:t>c</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R</a:t>
            </a:r>
            <a:r>
              <a:rPr lang="en-US" altLang="zh-CN" sz="2400" i="1" baseline="-25000">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R</a:t>
            </a:r>
            <a:r>
              <a:rPr lang="en-US" altLang="zh-CN" sz="2400" i="1" baseline="-25000">
                <a:latin typeface="Times New Roman" panose="02020603050405020304" charset="0"/>
                <a:ea typeface="微软雅黑" panose="020B0503020204020204" charset="-122"/>
                <a:cs typeface="Times New Roman" panose="02020603050405020304" charset="0"/>
              </a:rPr>
              <a:t>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度量区域间在</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baseline="300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a</a:t>
            </a:r>
            <a:r>
              <a:rPr lang="en-US" altLang="zh-CN" sz="2400" baseline="300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b</a:t>
            </a:r>
            <a:r>
              <a:rPr lang="en-US" altLang="zh-CN" sz="2400" baseline="300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空间中的颜色距离</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20000"/>
              </a:lnSpc>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20000"/>
              </a:lnSpc>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600"/>
              </a:spcBef>
              <a:spcAft>
                <a:spcPts val="0"/>
              </a:spcAft>
            </a:pPr>
            <a:r>
              <a:rPr lang="zh-CN" altLang="en-US" sz="2000">
                <a:latin typeface="Times New Roman" panose="02020603050405020304" charset="0"/>
                <a:ea typeface="微软雅黑" panose="020B0503020204020204" charset="-122"/>
                <a:cs typeface="Times New Roman" panose="02020603050405020304" charset="0"/>
              </a:rPr>
              <a:t>    引入空间信息以</a:t>
            </a:r>
            <a:endParaRPr lang="zh-CN" altLang="en-US" sz="2000">
              <a:latin typeface="Times New Roman" panose="02020603050405020304" charset="0"/>
              <a:ea typeface="微软雅黑" panose="020B0503020204020204" charset="-122"/>
              <a:cs typeface="Times New Roman" panose="02020603050405020304" charset="0"/>
            </a:endParaRPr>
          </a:p>
          <a:p>
            <a:pPr algn="just" defTabSz="719455">
              <a:lnSpc>
                <a:spcPct val="110000"/>
              </a:lnSpc>
              <a:spcBef>
                <a:spcPts val="600"/>
              </a:spcBef>
            </a:pPr>
            <a:r>
              <a:rPr lang="zh-CN" altLang="en-US" sz="2000">
                <a:latin typeface="Times New Roman" panose="02020603050405020304" charset="0"/>
                <a:ea typeface="微软雅黑" panose="020B0503020204020204" charset="-122"/>
                <a:cs typeface="Times New Roman" panose="02020603050405020304" charset="0"/>
              </a:rPr>
              <a:t>      调整区域权重</a:t>
            </a:r>
            <a:endParaRPr lang="zh-CN" altLang="en-US" sz="2000">
              <a:latin typeface="Times New Roman" panose="02020603050405020304" charset="0"/>
              <a:ea typeface="微软雅黑" panose="020B0503020204020204" charset="-122"/>
              <a:cs typeface="Times New Roman" panose="02020603050405020304" charset="0"/>
            </a:endParaRPr>
          </a:p>
        </p:txBody>
      </p:sp>
      <p:sp>
        <p:nvSpPr>
          <p:cNvPr id="284675" name="矩形 284675"/>
          <p:cNvSpPr/>
          <p:nvPr/>
        </p:nvSpPr>
        <p:spPr>
          <a:xfrm>
            <a:off x="1979613" y="1260475"/>
            <a:ext cx="23164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基于对比度幅值</a:t>
            </a:r>
            <a:endParaRPr lang="zh-CN" altLang="en-US" sz="2400" b="1">
              <a:latin typeface="微软雅黑" panose="020B0503020204020204" charset="-122"/>
              <a:ea typeface="微软雅黑" panose="020B0503020204020204" charset="-122"/>
            </a:endParaRPr>
          </a:p>
        </p:txBody>
      </p:sp>
      <p:pic>
        <p:nvPicPr>
          <p:cNvPr id="284676" name="图片 284676" descr="C:/Users/Administrator/AppData/Roaming/Yozo_Office/Temp/fc/968467201615187995629/计算机视觉教程（第3版）PPT第04章.pptx/ppt/media/image10.emf"/>
          <p:cNvPicPr/>
          <p:nvPr/>
        </p:nvPicPr>
        <p:blipFill>
          <a:blip r:embed="rId1"/>
          <a:stretch>
            <a:fillRect/>
          </a:stretch>
        </p:blipFill>
        <p:spPr>
          <a:xfrm>
            <a:off x="4137660" y="3249930"/>
            <a:ext cx="3671888" cy="719138"/>
          </a:xfrm>
          <a:prstGeom prst="rect">
            <a:avLst/>
          </a:prstGeom>
          <a:noFill/>
          <a:ln w="9525">
            <a:noFill/>
          </a:ln>
        </p:spPr>
      </p:pic>
      <p:pic>
        <p:nvPicPr>
          <p:cNvPr id="284677" name="图片 284677" descr="C:/Users/Administrator/AppData/Roaming/Yozo_Office/Temp/fc/968467201615187995629/计算机视觉教程（第3版）PPT第04章.pptx/ppt/media/image11.emf"/>
          <p:cNvPicPr/>
          <p:nvPr/>
        </p:nvPicPr>
        <p:blipFill>
          <a:blip r:embed="rId2"/>
          <a:stretch>
            <a:fillRect/>
          </a:stretch>
        </p:blipFill>
        <p:spPr>
          <a:xfrm>
            <a:off x="3896995" y="4464050"/>
            <a:ext cx="4859338" cy="792163"/>
          </a:xfrm>
          <a:prstGeom prst="rect">
            <a:avLst/>
          </a:prstGeom>
          <a:noFill/>
          <a:ln w="9525">
            <a:noFill/>
          </a:ln>
        </p:spPr>
      </p:pic>
      <p:pic>
        <p:nvPicPr>
          <p:cNvPr id="284678" name="图片 284678" descr="C:/Users/Administrator/AppData/Roaming/Yozo_Office/Temp/fc/968467201615187995629/计算机视觉教程（第3版）PPT第04章.pptx/ppt/media/image12.emf"/>
          <p:cNvPicPr/>
          <p:nvPr/>
        </p:nvPicPr>
        <p:blipFill>
          <a:blip r:embed="rId3"/>
          <a:stretch>
            <a:fillRect/>
          </a:stretch>
        </p:blipFill>
        <p:spPr>
          <a:xfrm>
            <a:off x="3847783" y="5485130"/>
            <a:ext cx="5940425" cy="863600"/>
          </a:xfrm>
          <a:prstGeom prst="rect">
            <a:avLst/>
          </a:prstGeom>
          <a:noFill/>
          <a:ln w="9525">
            <a:noFill/>
          </a:ln>
        </p:spPr>
      </p:pic>
      <p:pic>
        <p:nvPicPr>
          <p:cNvPr id="101" name="图片 100"/>
          <p:cNvPicPr/>
          <p:nvPr/>
        </p:nvPicPr>
        <p:blipFill>
          <a:blip r:embed="rId4"/>
          <a:stretch>
            <a:fillRect/>
          </a:stretch>
        </p:blipFill>
        <p:spPr>
          <a:xfrm>
            <a:off x="3298508" y="3354070"/>
            <a:ext cx="6791325" cy="280035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fill="hold"/>
                                        <p:tgtEl>
                                          <p:spTgt spid="101"/>
                                        </p:tgtEl>
                                        <p:attrNameLst>
                                          <p:attrName>ppt_x</p:attrName>
                                        </p:attrNameLst>
                                      </p:cBhvr>
                                      <p:tavLst>
                                        <p:tav tm="0">
                                          <p:val>
                                            <p:strVal val="#ppt_x"/>
                                          </p:val>
                                        </p:tav>
                                        <p:tav tm="100000">
                                          <p:val>
                                            <p:strVal val="#ppt_x"/>
                                          </p:val>
                                        </p:tav>
                                      </p:tavLst>
                                    </p:anim>
                                    <p:anim calcmode="lin" valueType="num">
                                      <p:cBhvr additive="base">
                                        <p:cTn id="8"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7" name="矩形 285697"/>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5698" name="矩形 285698"/>
          <p:cNvSpPr/>
          <p:nvPr/>
        </p:nvSpPr>
        <p:spPr>
          <a:xfrm>
            <a:off x="1090930" y="1871980"/>
            <a:ext cx="10248900" cy="1875790"/>
          </a:xfrm>
          <a:prstGeom prst="rect">
            <a:avLst/>
          </a:prstGeom>
          <a:noFill/>
          <a:ln w="9525">
            <a:noFill/>
          </a:ln>
        </p:spPr>
        <p:txBody>
          <a:bodyPr wrap="square" anchor="t" anchorCtr="0">
            <a:spAutoFit/>
          </a:bodyPr>
          <a:p>
            <a:pPr algn="just" defTabSz="719455">
              <a:lnSpc>
                <a:spcPct val="114000"/>
              </a:lnSpc>
              <a:spcAft>
                <a:spcPts val="60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考虑图像中对比度的整体分布因素</a:t>
            </a:r>
            <a:endParaRPr lang="zh-CN" altLang="en-US" sz="2400">
              <a:latin typeface="微软雅黑" panose="020B0503020204020204" charset="-122"/>
              <a:ea typeface="微软雅黑" panose="020B0503020204020204" charset="-122"/>
            </a:endParaRPr>
          </a:p>
          <a:p>
            <a:pPr algn="just" defTabSz="719455">
              <a:lnSpc>
                <a:spcPct val="114000"/>
              </a:lnSpc>
              <a:spcBef>
                <a:spcPts val="0"/>
              </a:spcBef>
              <a:spcAft>
                <a:spcPts val="600"/>
              </a:spcAft>
            </a:pPr>
            <a:r>
              <a:rPr lang="zh-CN" altLang="en-US" sz="2300">
                <a:latin typeface="微软雅黑" panose="020B0503020204020204" charset="-122"/>
                <a:ea typeface="微软雅黑" panose="020B0503020204020204" charset="-122"/>
              </a:rPr>
              <a:t>	图</a:t>
            </a:r>
            <a:r>
              <a:rPr lang="en-US" altLang="zh-CN" sz="2300">
                <a:latin typeface="Arial" panose="020B0604020202020204" pitchFamily="34" charset="0"/>
                <a:ea typeface="微软雅黑" panose="020B0503020204020204" charset="-122"/>
              </a:rPr>
              <a:t>(a)</a:t>
            </a:r>
            <a:r>
              <a:rPr lang="zh-CN" altLang="en-US" sz="2300">
                <a:latin typeface="微软雅黑" panose="020B0503020204020204" charset="-122"/>
                <a:ea typeface="微软雅黑" panose="020B0503020204020204" charset="-122"/>
              </a:rPr>
              <a:t>为原始图像（小方框为前、背景图像），图</a:t>
            </a:r>
            <a:r>
              <a:rPr lang="en-US" altLang="zh-CN" sz="2300">
                <a:latin typeface="Arial" panose="020B0604020202020204" pitchFamily="34" charset="0"/>
                <a:ea typeface="微软雅黑" panose="020B0503020204020204" charset="-122"/>
              </a:rPr>
              <a:t>(b)</a:t>
            </a:r>
            <a:r>
              <a:rPr lang="zh-CN" altLang="en-US" sz="2300">
                <a:latin typeface="微软雅黑" panose="020B0503020204020204" charset="-122"/>
                <a:ea typeface="微软雅黑" panose="020B0503020204020204" charset="-122"/>
              </a:rPr>
              <a:t>为理想结果（前景）</a:t>
            </a:r>
            <a:endParaRPr lang="zh-CN" altLang="en-US" sz="2300">
              <a:latin typeface="微软雅黑" panose="020B0503020204020204" charset="-122"/>
              <a:ea typeface="微软雅黑" panose="020B0503020204020204" charset="-122"/>
            </a:endParaRPr>
          </a:p>
          <a:p>
            <a:pPr algn="just" defTabSz="719455">
              <a:lnSpc>
                <a:spcPct val="114000"/>
              </a:lnSpc>
              <a:spcBef>
                <a:spcPts val="0"/>
              </a:spcBef>
              <a:spcAft>
                <a:spcPts val="600"/>
              </a:spcAft>
            </a:pPr>
            <a:r>
              <a:rPr lang="zh-CN" altLang="en-US" sz="2300">
                <a:latin typeface="微软雅黑" panose="020B0503020204020204" charset="-122"/>
                <a:ea typeface="微软雅黑" panose="020B0503020204020204" charset="-122"/>
              </a:rPr>
              <a:t>	以图</a:t>
            </a:r>
            <a:r>
              <a:rPr lang="en-US" altLang="zh-CN" sz="2300">
                <a:latin typeface="Arial" panose="020B0604020202020204" pitchFamily="34" charset="0"/>
                <a:ea typeface="微软雅黑" panose="020B0503020204020204" charset="-122"/>
              </a:rPr>
              <a:t>(c)</a:t>
            </a:r>
            <a:r>
              <a:rPr lang="zh-CN" altLang="en-US" sz="2300">
                <a:latin typeface="微软雅黑" panose="020B0503020204020204" charset="-122"/>
                <a:ea typeface="微软雅黑" panose="020B0503020204020204" charset="-122"/>
              </a:rPr>
              <a:t>中的标记像素为中心，大的显著性数值主要分布在其右下方。以图</a:t>
            </a:r>
            <a:r>
              <a:rPr lang="en-US" altLang="zh-CN" sz="2300">
                <a:latin typeface="Arial" panose="020B0604020202020204" pitchFamily="34" charset="0"/>
                <a:ea typeface="微软雅黑" panose="020B0503020204020204" charset="-122"/>
              </a:rPr>
              <a:t>(d)</a:t>
            </a:r>
            <a:r>
              <a:rPr lang="zh-CN" altLang="en-US" sz="2300">
                <a:latin typeface="微软雅黑" panose="020B0503020204020204" charset="-122"/>
                <a:ea typeface="微软雅黑" panose="020B0503020204020204" charset="-122"/>
              </a:rPr>
              <a:t>中的标记像素为中心，大的显著性数值则在各个方向上的分布都差不多</a:t>
            </a:r>
            <a:endParaRPr lang="zh-CN" altLang="en-US" sz="2300">
              <a:latin typeface="微软雅黑" panose="020B0503020204020204" charset="-122"/>
              <a:ea typeface="微软雅黑" panose="020B0503020204020204" charset="-122"/>
            </a:endParaRPr>
          </a:p>
        </p:txBody>
      </p:sp>
      <p:sp>
        <p:nvSpPr>
          <p:cNvPr id="285699" name="矩形 285699"/>
          <p:cNvSpPr/>
          <p:nvPr/>
        </p:nvSpPr>
        <p:spPr>
          <a:xfrm>
            <a:off x="1979613" y="1260475"/>
            <a:ext cx="2591435" cy="460375"/>
          </a:xfrm>
          <a:prstGeom prst="rect">
            <a:avLst/>
          </a:prstGeom>
          <a:noFill/>
          <a:ln w="9525">
            <a:noFill/>
          </a:ln>
        </p:spPr>
        <p:txBody>
          <a:bodyPr wrap="none" anchor="t" anchorCtr="0">
            <a:spAutoFit/>
          </a:bodyPr>
          <a:p>
            <a:pPr>
              <a:spcAft>
                <a:spcPts val="0"/>
              </a:spcAft>
            </a:pPr>
            <a:r>
              <a:rPr lang="en-US" altLang="zh-CN" sz="2400" b="1">
                <a:latin typeface="微软雅黑" panose="020B0503020204020204" charset="-122"/>
                <a:ea typeface="微软雅黑" panose="020B0503020204020204" charset="-122"/>
              </a:rPr>
              <a:t>2.</a:t>
            </a:r>
            <a:r>
              <a:rPr lang="zh-CN" altLang="en-US" sz="2400" b="1">
                <a:latin typeface="微软雅黑" panose="020B0503020204020204" charset="-122"/>
                <a:ea typeface="微软雅黑" panose="020B0503020204020204" charset="-122"/>
              </a:rPr>
              <a:t>基于对比度分布</a:t>
            </a:r>
            <a:endParaRPr lang="zh-CN" altLang="en-US" sz="2400" b="1">
              <a:latin typeface="微软雅黑" panose="020B0503020204020204" charset="-122"/>
              <a:ea typeface="微软雅黑" panose="020B0503020204020204" charset="-122"/>
            </a:endParaRPr>
          </a:p>
        </p:txBody>
      </p:sp>
      <p:pic>
        <p:nvPicPr>
          <p:cNvPr id="285700" name="图片 285700" descr="C:/Users/Administrator/AppData/Roaming/Yozo_Office/Temp/fc/968467201615187995629/计算机视觉教程（第3版）PPT第04章.pptx/ppt/media/image13.emf"/>
          <p:cNvPicPr/>
          <p:nvPr/>
        </p:nvPicPr>
        <p:blipFill>
          <a:blip r:embed="rId1"/>
          <a:stretch>
            <a:fillRect/>
          </a:stretch>
        </p:blipFill>
        <p:spPr>
          <a:xfrm>
            <a:off x="1979613" y="4140200"/>
            <a:ext cx="8783637" cy="2160588"/>
          </a:xfrm>
          <a:prstGeom prst="rect">
            <a:avLst/>
          </a:prstGeom>
          <a:noFill/>
          <a:ln w="9525">
            <a:noFill/>
          </a:ln>
        </p:spPr>
      </p:pic>
      <p:cxnSp>
        <p:nvCxnSpPr>
          <p:cNvPr id="2" name="直接箭头连接符 1"/>
          <p:cNvCxnSpPr/>
          <p:nvPr/>
        </p:nvCxnSpPr>
        <p:spPr>
          <a:xfrm>
            <a:off x="7648575" y="4891405"/>
            <a:ext cx="301625" cy="1689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flipH="1" flipV="1">
            <a:off x="9795510" y="4865370"/>
            <a:ext cx="283845" cy="15684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flipV="1">
            <a:off x="10230485" y="4577715"/>
            <a:ext cx="11430" cy="2876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flipH="1">
            <a:off x="10133330" y="5189855"/>
            <a:ext cx="85725" cy="31686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1" name="矩形 286721"/>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6722" name="矩形 286722"/>
          <p:cNvSpPr/>
          <p:nvPr/>
        </p:nvSpPr>
        <p:spPr>
          <a:xfrm>
            <a:off x="1367155" y="1934845"/>
            <a:ext cx="9507855" cy="2094230"/>
          </a:xfrm>
          <a:prstGeom prst="rect">
            <a:avLst/>
          </a:prstGeom>
          <a:noFill/>
          <a:ln w="9525">
            <a:noFill/>
          </a:ln>
        </p:spPr>
        <p:txBody>
          <a:bodyPr wrap="square" anchor="t" anchorCtr="0">
            <a:spAutoFit/>
          </a:bodyPr>
          <a:p>
            <a:pPr algn="just" defTabSz="719455">
              <a:lnSpc>
                <a:spcPct val="120000"/>
              </a:lnSpc>
              <a:spcAft>
                <a:spcPts val="600"/>
              </a:spcAft>
            </a:pPr>
            <a:r>
              <a:rPr lang="en-US" altLang="zh-CN"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(1)</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对图像进行超像素分割</a:t>
            </a:r>
            <a:endParaRPr lang="zh-CN" altLang="en-US" sz="2400">
              <a:latin typeface="微软雅黑" panose="020B0503020204020204" charset="-122"/>
              <a:ea typeface="微软雅黑" panose="020B0503020204020204" charset="-122"/>
            </a:endParaRPr>
          </a:p>
          <a:p>
            <a:pPr algn="just" defTabSz="719455">
              <a:lnSpc>
                <a:spcPct val="120000"/>
              </a:lnSpc>
              <a:spcBef>
                <a:spcPts val="0"/>
              </a:spcBef>
              <a:spcAft>
                <a:spcPts val="600"/>
              </a:spcAft>
            </a:pPr>
            <a:r>
              <a:rPr lang="zh-CN" altLang="en-US"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(2)</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计算超像素的最大环绕对比度</a:t>
            </a:r>
            <a:endParaRPr lang="zh-CN" altLang="en-US" sz="2400">
              <a:latin typeface="微软雅黑" panose="020B0503020204020204" charset="-122"/>
              <a:ea typeface="微软雅黑" panose="020B0503020204020204" charset="-122"/>
            </a:endParaRPr>
          </a:p>
          <a:p>
            <a:pPr algn="just" defTabSz="719455">
              <a:lnSpc>
                <a:spcPct val="120000"/>
              </a:lnSpc>
              <a:spcBef>
                <a:spcPts val="0"/>
              </a:spcBef>
              <a:spcAft>
                <a:spcPts val="600"/>
              </a:spcAft>
            </a:pPr>
            <a:r>
              <a:rPr lang="zh-CN" altLang="en-US"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(3)</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计算相对对比度方差</a:t>
            </a:r>
            <a:endParaRPr lang="zh-CN" altLang="en-US" sz="2400">
              <a:latin typeface="微软雅黑" panose="020B0503020204020204" charset="-122"/>
              <a:ea typeface="微软雅黑" panose="020B0503020204020204" charset="-122"/>
            </a:endParaRPr>
          </a:p>
          <a:p>
            <a:pPr algn="just" defTabSz="719455">
              <a:lnSpc>
                <a:spcPct val="120000"/>
              </a:lnSpc>
              <a:spcBef>
                <a:spcPts val="0"/>
              </a:spcBef>
              <a:spcAft>
                <a:spcPts val="600"/>
              </a:spcAft>
            </a:pPr>
            <a:r>
              <a:rPr lang="zh-CN" altLang="en-US"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(4)</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将该方差数值转换为显著性值</a:t>
            </a:r>
            <a:endParaRPr lang="zh-CN" altLang="en-US" sz="2400">
              <a:latin typeface="微软雅黑" panose="020B0503020204020204" charset="-122"/>
              <a:ea typeface="微软雅黑" panose="020B0503020204020204" charset="-122"/>
            </a:endParaRPr>
          </a:p>
        </p:txBody>
      </p:sp>
      <p:sp>
        <p:nvSpPr>
          <p:cNvPr id="286723" name="矩形 286723"/>
          <p:cNvSpPr/>
          <p:nvPr/>
        </p:nvSpPr>
        <p:spPr>
          <a:xfrm>
            <a:off x="1979613" y="1260475"/>
            <a:ext cx="29260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基于对比度分布流程</a:t>
            </a:r>
            <a:endParaRPr lang="zh-CN" altLang="en-US" sz="2400" b="1">
              <a:latin typeface="微软雅黑" panose="020B0503020204020204" charset="-122"/>
              <a:ea typeface="微软雅黑" panose="020B0503020204020204" charset="-122"/>
            </a:endParaRPr>
          </a:p>
        </p:txBody>
      </p:sp>
      <p:pic>
        <p:nvPicPr>
          <p:cNvPr id="286724" name="图片 286724" descr="C:/Users/Administrator/AppData/Roaming/Yozo_Office/Temp/fc/968467201615187995629/计算机视觉教程（第3版）PPT第04章.pptx/ppt/media/image14.emf"/>
          <p:cNvPicPr/>
          <p:nvPr/>
        </p:nvPicPr>
        <p:blipFill>
          <a:blip r:embed="rId1"/>
          <a:srcRect l="304" r="304"/>
          <a:stretch>
            <a:fillRect/>
          </a:stretch>
        </p:blipFill>
        <p:spPr>
          <a:xfrm>
            <a:off x="179388" y="4176713"/>
            <a:ext cx="11880850" cy="1979612"/>
          </a:xfrm>
          <a:prstGeom prst="rect">
            <a:avLst/>
          </a:prstGeom>
          <a:noFill/>
          <a:ln w="9525">
            <a:noFill/>
          </a:ln>
        </p:spPr>
      </p:pic>
      <p:sp>
        <p:nvSpPr>
          <p:cNvPr id="2" name="文本框 1"/>
          <p:cNvSpPr txBox="1"/>
          <p:nvPr/>
        </p:nvSpPr>
        <p:spPr>
          <a:xfrm>
            <a:off x="8614410" y="1991995"/>
            <a:ext cx="1353820" cy="368300"/>
          </a:xfrm>
          <a:prstGeom prst="rect">
            <a:avLst/>
          </a:prstGeom>
          <a:noFill/>
        </p:spPr>
        <p:txBody>
          <a:bodyPr wrap="square" rtlCol="0">
            <a:spAutoFit/>
          </a:bodyPr>
          <a:p>
            <a:pPr>
              <a:spcAft>
                <a:spcPts val="0"/>
              </a:spcAft>
            </a:pPr>
            <a:r>
              <a:rPr lang="zh-CN" altLang="en-US"/>
              <a:t>减少计算量</a:t>
            </a:r>
            <a:endParaRPr lang="zh-CN" altLang="en-US"/>
          </a:p>
        </p:txBody>
      </p:sp>
      <p:sp>
        <p:nvSpPr>
          <p:cNvPr id="3" name="文本框 2"/>
          <p:cNvSpPr txBox="1"/>
          <p:nvPr/>
        </p:nvSpPr>
        <p:spPr>
          <a:xfrm>
            <a:off x="8870315" y="2486025"/>
            <a:ext cx="2999740" cy="368300"/>
          </a:xfrm>
          <a:prstGeom prst="rect">
            <a:avLst/>
          </a:prstGeom>
          <a:noFill/>
        </p:spPr>
        <p:txBody>
          <a:bodyPr wrap="square" rtlCol="0">
            <a:spAutoFit/>
          </a:bodyPr>
          <a:p>
            <a:pPr>
              <a:spcAft>
                <a:spcPts val="0"/>
              </a:spcAft>
            </a:pPr>
            <a:r>
              <a:rPr lang="zh-CN" altLang="en-US"/>
              <a:t>获得多个方向的对比度值</a:t>
            </a:r>
            <a:endParaRPr lang="zh-CN" altLang="en-US"/>
          </a:p>
        </p:txBody>
      </p:sp>
      <p:sp>
        <p:nvSpPr>
          <p:cNvPr id="4" name="文本框 3"/>
          <p:cNvSpPr txBox="1"/>
          <p:nvPr/>
        </p:nvSpPr>
        <p:spPr>
          <a:xfrm>
            <a:off x="8655050" y="3073400"/>
            <a:ext cx="2999740" cy="368300"/>
          </a:xfrm>
          <a:prstGeom prst="rect">
            <a:avLst/>
          </a:prstGeom>
          <a:noFill/>
        </p:spPr>
        <p:txBody>
          <a:bodyPr wrap="square" rtlCol="0">
            <a:spAutoFit/>
          </a:bodyPr>
          <a:p>
            <a:pPr>
              <a:spcAft>
                <a:spcPts val="0"/>
              </a:spcAft>
            </a:pPr>
            <a:r>
              <a:rPr lang="zh-CN" altLang="en-US"/>
              <a:t>考虑各个方向的对比度</a:t>
            </a:r>
            <a:endParaRPr lang="zh-CN" altLang="en-US"/>
          </a:p>
        </p:txBody>
      </p:sp>
      <p:sp>
        <p:nvSpPr>
          <p:cNvPr id="5" name="文本框 4"/>
          <p:cNvSpPr txBox="1"/>
          <p:nvPr/>
        </p:nvSpPr>
        <p:spPr>
          <a:xfrm>
            <a:off x="8655050" y="3660775"/>
            <a:ext cx="2999740" cy="368300"/>
          </a:xfrm>
          <a:prstGeom prst="rect">
            <a:avLst/>
          </a:prstGeom>
          <a:noFill/>
        </p:spPr>
        <p:txBody>
          <a:bodyPr wrap="square" rtlCol="0">
            <a:spAutoFit/>
          </a:bodyPr>
          <a:p>
            <a:pPr>
              <a:spcAft>
                <a:spcPts val="0"/>
              </a:spcAft>
            </a:pPr>
            <a:r>
              <a:rPr lang="zh-CN" altLang="en-US"/>
              <a:t>显示显著性内容</a:t>
            </a:r>
            <a:endParaRPr lang="zh-CN" altLang="en-US"/>
          </a:p>
        </p:txBody>
      </p:sp>
      <p:sp>
        <p:nvSpPr>
          <p:cNvPr id="6" name="右箭头 5"/>
          <p:cNvSpPr/>
          <p:nvPr/>
        </p:nvSpPr>
        <p:spPr>
          <a:xfrm>
            <a:off x="7051040" y="2060575"/>
            <a:ext cx="703580" cy="2997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右箭头 6"/>
          <p:cNvSpPr/>
          <p:nvPr/>
        </p:nvSpPr>
        <p:spPr>
          <a:xfrm>
            <a:off x="7367905" y="2634615"/>
            <a:ext cx="703580" cy="2997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右箭头 7"/>
          <p:cNvSpPr/>
          <p:nvPr/>
        </p:nvSpPr>
        <p:spPr>
          <a:xfrm>
            <a:off x="6980555" y="3134360"/>
            <a:ext cx="703580" cy="2997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右箭头 8"/>
          <p:cNvSpPr/>
          <p:nvPr/>
        </p:nvSpPr>
        <p:spPr>
          <a:xfrm>
            <a:off x="7367905" y="3719195"/>
            <a:ext cx="703580" cy="2997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a:spcAft>
                <a:spcPts val="0"/>
              </a:spcAft>
            </a:pPr>
            <a:fld id="{49AE70B2-8BF9-45C0-BB95-33D1B9D3A854}" type="slidenum">
              <a:rPr lang="zh-CN" altLang="en-US" smtClean="0"/>
            </a:fld>
            <a:endParaRPr lang="zh-CN" altLang="en-US"/>
          </a:p>
        </p:txBody>
      </p:sp>
      <p:sp>
        <p:nvSpPr>
          <p:cNvPr id="286721" name="矩形 286721"/>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6723" name="矩形 286723"/>
          <p:cNvSpPr/>
          <p:nvPr/>
        </p:nvSpPr>
        <p:spPr>
          <a:xfrm>
            <a:off x="1979613" y="1260475"/>
            <a:ext cx="20116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对比度的定义</a:t>
            </a:r>
            <a:endParaRPr lang="zh-CN" altLang="en-US" sz="2400" b="1">
              <a:latin typeface="微软雅黑" panose="020B0503020204020204" charset="-122"/>
              <a:ea typeface="微软雅黑" panose="020B0503020204020204" charset="-122"/>
            </a:endParaRPr>
          </a:p>
        </p:txBody>
      </p:sp>
      <p:sp>
        <p:nvSpPr>
          <p:cNvPr id="5" name="文本框 4"/>
          <p:cNvSpPr txBox="1"/>
          <p:nvPr/>
        </p:nvSpPr>
        <p:spPr>
          <a:xfrm>
            <a:off x="1022985" y="1779270"/>
            <a:ext cx="9799320" cy="922020"/>
          </a:xfrm>
          <a:prstGeom prst="rect">
            <a:avLst/>
          </a:prstGeom>
          <a:noFill/>
        </p:spPr>
        <p:txBody>
          <a:bodyPr wrap="square" rtlCol="0">
            <a:spAutoFit/>
          </a:bodyPr>
          <a:p>
            <a:pPr indent="0" fontAlgn="auto">
              <a:lnSpc>
                <a:spcPct val="150000"/>
              </a:lnSpc>
              <a:spcAft>
                <a:spcPts val="0"/>
              </a:spcAft>
            </a:pPr>
            <a:r>
              <a:rPr lang="zh-CN" altLang="en-US">
                <a:latin typeface="Times New Roman" panose="02020603050405020304" charset="0"/>
                <a:cs typeface="Times New Roman" panose="02020603050405020304" charset="0"/>
              </a:rPr>
              <a:t>将各个超像素记为</a:t>
            </a:r>
            <a:r>
              <a:rPr lang="en-US" altLang="zh-CN" i="1">
                <a:latin typeface="Times New Roman" panose="02020603050405020304" charset="0"/>
                <a:cs typeface="Times New Roman" panose="02020603050405020304" charset="0"/>
              </a:rPr>
              <a:t>R</a:t>
            </a:r>
            <a:r>
              <a:rPr lang="en-US" altLang="zh-CN" i="1" baseline="-25000">
                <a:latin typeface="Times New Roman" panose="02020603050405020304" charset="0"/>
                <a:cs typeface="Times New Roman" panose="02020603050405020304" charset="0"/>
              </a:rPr>
              <a:t>i</a:t>
            </a:r>
            <a:r>
              <a:rPr lang="zh-CN" altLang="en-US">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i=1,2,...,N</a:t>
            </a:r>
            <a:r>
              <a:rPr lang="zh-CN" altLang="en-US" i="1">
                <a:latin typeface="Times New Roman" panose="02020603050405020304" charset="0"/>
                <a:cs typeface="Times New Roman" panose="02020603050405020304" charset="0"/>
              </a:rPr>
              <a:t>。</a:t>
            </a:r>
            <a:r>
              <a:rPr lang="zh-CN" altLang="en-US">
                <a:latin typeface="Times New Roman" panose="02020603050405020304" charset="0"/>
                <a:cs typeface="Times New Roman" panose="02020603050405020304" charset="0"/>
              </a:rPr>
              <a:t>一个超像素区域的显著性与该区域相对其他区域的彩色区域成比例，</a:t>
            </a:r>
            <a:r>
              <a:rPr lang="zh-CN" altLang="en-US">
                <a:solidFill>
                  <a:srgbClr val="FF0000"/>
                </a:solidFill>
                <a:latin typeface="Times New Roman" panose="02020603050405020304" charset="0"/>
                <a:cs typeface="Times New Roman" panose="02020603050405020304" charset="0"/>
              </a:rPr>
              <a:t>且与其他区域的空间距离成比例</a:t>
            </a:r>
            <a:r>
              <a:rPr lang="zh-CN" altLang="en-US">
                <a:latin typeface="Times New Roman" panose="02020603050405020304" charset="0"/>
                <a:cs typeface="Times New Roman" panose="02020603050405020304" charset="0"/>
              </a:rPr>
              <a:t>。那么两个超像素区域</a:t>
            </a:r>
            <a:r>
              <a:rPr lang="en-US" altLang="zh-CN" i="1">
                <a:latin typeface="Times New Roman" panose="02020603050405020304" charset="0"/>
                <a:cs typeface="Times New Roman" panose="02020603050405020304" charset="0"/>
              </a:rPr>
              <a:t>R</a:t>
            </a:r>
            <a:r>
              <a:rPr lang="en-US" altLang="zh-CN" i="1" baseline="-25000">
                <a:latin typeface="Times New Roman" panose="02020603050405020304" charset="0"/>
                <a:cs typeface="Times New Roman" panose="02020603050405020304" charset="0"/>
              </a:rPr>
              <a:t>i</a:t>
            </a:r>
            <a:r>
              <a:rPr lang="zh-CN" altLang="en-US">
                <a:latin typeface="Times New Roman" panose="02020603050405020304" charset="0"/>
                <a:cs typeface="Times New Roman" panose="02020603050405020304" charset="0"/>
              </a:rPr>
              <a:t>和</a:t>
            </a:r>
            <a:r>
              <a:rPr lang="en-US" altLang="zh-CN" i="1">
                <a:latin typeface="Times New Roman" panose="02020603050405020304" charset="0"/>
                <a:cs typeface="Times New Roman" panose="02020603050405020304" charset="0"/>
              </a:rPr>
              <a:t>R</a:t>
            </a:r>
            <a:r>
              <a:rPr lang="en-US" altLang="zh-CN" i="1" baseline="-25000">
                <a:latin typeface="Times New Roman" panose="02020603050405020304" charset="0"/>
                <a:cs typeface="Times New Roman" panose="02020603050405020304" charset="0"/>
              </a:rPr>
              <a:t>j</a:t>
            </a:r>
            <a:r>
              <a:rPr lang="zh-CN" altLang="en-US">
                <a:latin typeface="Times New Roman" panose="02020603050405020304" charset="0"/>
                <a:cs typeface="Times New Roman" panose="02020603050405020304" charset="0"/>
              </a:rPr>
              <a:t>之间的显著性可定义为</a:t>
            </a:r>
            <a:endParaRPr lang="zh-CN" altLang="en-US">
              <a:latin typeface="Times New Roman" panose="02020603050405020304" charset="0"/>
              <a:cs typeface="Times New Roman" panose="02020603050405020304" charset="0"/>
            </a:endParaRPr>
          </a:p>
        </p:txBody>
      </p:sp>
      <p:graphicFrame>
        <p:nvGraphicFramePr>
          <p:cNvPr id="6" name="对象 5">
            <a:hlinkClick r:id="" action="ppaction://ole?verb="/>
          </p:cNvPr>
          <p:cNvGraphicFramePr>
            <a:graphicFrameLocks noChangeAspect="1"/>
          </p:cNvGraphicFramePr>
          <p:nvPr/>
        </p:nvGraphicFramePr>
        <p:xfrm>
          <a:off x="3714750" y="2670175"/>
          <a:ext cx="4551680" cy="885825"/>
        </p:xfrm>
        <a:graphic>
          <a:graphicData uri="http://schemas.openxmlformats.org/presentationml/2006/ole">
            <mc:AlternateContent xmlns:mc="http://schemas.openxmlformats.org/markup-compatibility/2006">
              <mc:Choice xmlns:v="urn:schemas-microsoft-com:vml" Requires="v">
                <p:oleObj spid="_x0000_s1025" name="" r:id="rId1" imgW="2349500" imgH="457200" progId="Equation.KSEE3">
                  <p:embed/>
                </p:oleObj>
              </mc:Choice>
              <mc:Fallback>
                <p:oleObj name="" r:id="rId1" imgW="2349500" imgH="457200" progId="Equation.KSEE3">
                  <p:embed/>
                  <p:pic>
                    <p:nvPicPr>
                      <p:cNvPr id="0" name="图片 1024"/>
                      <p:cNvPicPr/>
                      <p:nvPr/>
                    </p:nvPicPr>
                    <p:blipFill>
                      <a:blip r:embed="rId2"/>
                      <a:stretch>
                        <a:fillRect/>
                      </a:stretch>
                    </p:blipFill>
                    <p:spPr>
                      <a:xfrm>
                        <a:off x="3714750" y="2670175"/>
                        <a:ext cx="4551680" cy="885825"/>
                      </a:xfrm>
                      <a:prstGeom prst="rect">
                        <a:avLst/>
                      </a:prstGeom>
                    </p:spPr>
                  </p:pic>
                </p:oleObj>
              </mc:Fallback>
            </mc:AlternateContent>
          </a:graphicData>
        </a:graphic>
      </p:graphicFrame>
      <p:sp>
        <p:nvSpPr>
          <p:cNvPr id="7" name="文本框 6"/>
          <p:cNvSpPr txBox="1"/>
          <p:nvPr/>
        </p:nvSpPr>
        <p:spPr>
          <a:xfrm>
            <a:off x="4135755" y="3896360"/>
            <a:ext cx="4064000" cy="368300"/>
          </a:xfrm>
          <a:prstGeom prst="rect">
            <a:avLst/>
          </a:prstGeom>
          <a:noFill/>
        </p:spPr>
        <p:txBody>
          <a:bodyPr wrap="square" rtlCol="0">
            <a:spAutoFit/>
          </a:bodyPr>
          <a:p>
            <a:pPr>
              <a:spcAft>
                <a:spcPts val="0"/>
              </a:spcAft>
            </a:pPr>
            <a:r>
              <a:rPr lang="zh-CN" altLang="en-US">
                <a:latin typeface="Times New Roman" panose="02020603050405020304" charset="0"/>
                <a:cs typeface="Times New Roman" panose="02020603050405020304" charset="0"/>
              </a:rPr>
              <a:t>其中</a:t>
            </a:r>
            <a:r>
              <a:rPr lang="en-US" altLang="zh-CN" i="1">
                <a:latin typeface="Times New Roman" panose="02020603050405020304" charset="0"/>
                <a:cs typeface="Times New Roman" panose="02020603050405020304" charset="0"/>
              </a:rPr>
              <a:t>D</a:t>
            </a:r>
            <a:r>
              <a:rPr lang="en-US" altLang="zh-CN" i="1" baseline="-25000">
                <a:latin typeface="Times New Roman" panose="02020603050405020304" charset="0"/>
                <a:cs typeface="Times New Roman" panose="02020603050405020304" charset="0"/>
              </a:rPr>
              <a:t>s</a:t>
            </a:r>
            <a:r>
              <a:rPr lang="zh-CN" altLang="en-US">
                <a:latin typeface="Times New Roman" panose="02020603050405020304" charset="0"/>
                <a:cs typeface="Times New Roman" panose="02020603050405020304" charset="0"/>
              </a:rPr>
              <a:t>是空间距离，</a:t>
            </a:r>
            <a:r>
              <a:rPr lang="en-US" altLang="zh-CN" i="1">
                <a:latin typeface="Times New Roman" panose="02020603050405020304" charset="0"/>
                <a:cs typeface="Times New Roman" panose="02020603050405020304" charset="0"/>
              </a:rPr>
              <a:t>D</a:t>
            </a:r>
            <a:r>
              <a:rPr lang="en-US" altLang="zh-CN" i="1" baseline="-25000">
                <a:latin typeface="Times New Roman" panose="02020603050405020304" charset="0"/>
                <a:cs typeface="Times New Roman" panose="02020603050405020304" charset="0"/>
              </a:rPr>
              <a:t>c</a:t>
            </a:r>
            <a:r>
              <a:rPr lang="zh-CN" altLang="en-US">
                <a:latin typeface="Times New Roman" panose="02020603050405020304" charset="0"/>
                <a:cs typeface="Times New Roman" panose="02020603050405020304" charset="0"/>
              </a:rPr>
              <a:t>是颜色距离</a:t>
            </a:r>
            <a:endParaRPr lang="zh-CN" altLang="en-US">
              <a:latin typeface="Times New Roman" panose="02020603050405020304" charset="0"/>
              <a:cs typeface="Times New Roman" panose="02020603050405020304" charset="0"/>
            </a:endParaRPr>
          </a:p>
        </p:txBody>
      </p:sp>
      <p:pic>
        <p:nvPicPr>
          <p:cNvPr id="102" name="图片 101"/>
          <p:cNvPicPr/>
          <p:nvPr/>
        </p:nvPicPr>
        <p:blipFill>
          <a:blip r:embed="rId3"/>
          <a:stretch>
            <a:fillRect/>
          </a:stretch>
        </p:blipFill>
        <p:spPr>
          <a:xfrm>
            <a:off x="631825" y="4281805"/>
            <a:ext cx="3702685" cy="2349500"/>
          </a:xfrm>
          <a:prstGeom prst="rect">
            <a:avLst/>
          </a:prstGeom>
          <a:noFill/>
          <a:ln w="9525">
            <a:noFill/>
          </a:ln>
        </p:spPr>
      </p:pic>
      <p:sp>
        <p:nvSpPr>
          <p:cNvPr id="8" name="文本框 7"/>
          <p:cNvSpPr txBox="1"/>
          <p:nvPr/>
        </p:nvSpPr>
        <p:spPr>
          <a:xfrm>
            <a:off x="4670425" y="4795520"/>
            <a:ext cx="7114540" cy="645160"/>
          </a:xfrm>
          <a:prstGeom prst="rect">
            <a:avLst/>
          </a:prstGeom>
          <a:noFill/>
        </p:spPr>
        <p:txBody>
          <a:bodyPr wrap="square" rtlCol="0" anchor="t">
            <a:spAutoFit/>
          </a:bodyPr>
          <a:p>
            <a:pPr>
              <a:spcAft>
                <a:spcPts val="0"/>
              </a:spcAft>
            </a:pPr>
            <a:r>
              <a:rPr lang="zh-CN" altLang="en-US"/>
              <a:t>（a）是原始图像，（b）是基于人类视角的分割图（groundtruth），（c）是超像素分割的图像，（d）是基于（c）进行分割的图像。</a:t>
            </a:r>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5" name="矩形 28774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7746" name="矩形 287746"/>
          <p:cNvSpPr/>
          <p:nvPr/>
        </p:nvSpPr>
        <p:spPr>
          <a:xfrm>
            <a:off x="1054735" y="1945005"/>
            <a:ext cx="10539730" cy="1641475"/>
          </a:xfrm>
          <a:prstGeom prst="rect">
            <a:avLst/>
          </a:prstGeom>
          <a:noFill/>
          <a:ln w="9525">
            <a:noFill/>
          </a:ln>
        </p:spPr>
        <p:txBody>
          <a:bodyPr wrap="square" anchor="t" anchorCtr="0">
            <a:spAutoFit/>
          </a:bodyPr>
          <a:p>
            <a:pPr algn="just" defTabSz="719455">
              <a:lnSpc>
                <a:spcPct val="14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选取一个超像素，取</a:t>
            </a:r>
            <a:r>
              <a:rPr lang="en-US" altLang="zh-CN" sz="2400">
                <a:latin typeface="微软雅黑" panose="020B0503020204020204" charset="-122"/>
                <a:ea typeface="微软雅黑" panose="020B0503020204020204" charset="-122"/>
              </a:rPr>
              <a:t>16</a:t>
            </a:r>
            <a:r>
              <a:rPr lang="zh-CN" altLang="en-US" sz="2400">
                <a:latin typeface="微软雅黑" panose="020B0503020204020204" charset="-122"/>
                <a:ea typeface="微软雅黑" panose="020B0503020204020204" charset="-122"/>
              </a:rPr>
              <a:t>个方向上最大对比度值，然后画成直方图，对属于内部的超像素区域，其各个方向的最大对比度值都比较大；而对属于外部的超像素区域，其各个方向的最大对比度值有比较大的差别</a:t>
            </a:r>
            <a:endParaRPr lang="zh-CN" altLang="en-US" sz="2000">
              <a:latin typeface="微软雅黑" panose="020B0503020204020204" charset="-122"/>
              <a:ea typeface="微软雅黑" panose="020B0503020204020204" charset="-122"/>
            </a:endParaRPr>
          </a:p>
        </p:txBody>
      </p:sp>
      <p:sp>
        <p:nvSpPr>
          <p:cNvPr id="287747" name="矩形 287747"/>
          <p:cNvSpPr/>
          <p:nvPr/>
        </p:nvSpPr>
        <p:spPr>
          <a:xfrm>
            <a:off x="1979613" y="1260475"/>
            <a:ext cx="2316480" cy="460375"/>
          </a:xfrm>
          <a:prstGeom prst="rect">
            <a:avLst/>
          </a:prstGeom>
          <a:noFill/>
          <a:ln w="9525">
            <a:noFill/>
          </a:ln>
        </p:spPr>
        <p:txBody>
          <a:bodyPr wrap="none" anchor="t" anchorCtr="0">
            <a:spAutoFit/>
          </a:bodyPr>
          <a:p>
            <a:pPr>
              <a:spcAft>
                <a:spcPts val="0"/>
              </a:spcAft>
            </a:pPr>
            <a:r>
              <a:rPr lang="zh-CN" altLang="en-US" sz="2400" b="1">
                <a:latin typeface="微软雅黑" panose="020B0503020204020204" charset="-122"/>
                <a:ea typeface="微软雅黑" panose="020B0503020204020204" charset="-122"/>
              </a:rPr>
              <a:t>对比度分布计算</a:t>
            </a:r>
            <a:endParaRPr lang="zh-CN" altLang="en-US" sz="2400" b="1">
              <a:latin typeface="微软雅黑" panose="020B0503020204020204" charset="-122"/>
              <a:ea typeface="微软雅黑" panose="020B0503020204020204" charset="-122"/>
            </a:endParaRPr>
          </a:p>
        </p:txBody>
      </p:sp>
      <p:pic>
        <p:nvPicPr>
          <p:cNvPr id="287748" name="图片 287748" descr="C:/Users/Administrator/AppData/Roaming/Yozo_Office/Temp/fc/968467201615187995629/计算机视觉教程（第3版）PPT第04章.pptx/ppt/media/image15.emf"/>
          <p:cNvPicPr/>
          <p:nvPr/>
        </p:nvPicPr>
        <p:blipFill>
          <a:blip r:embed="rId1"/>
          <a:stretch>
            <a:fillRect/>
          </a:stretch>
        </p:blipFill>
        <p:spPr>
          <a:xfrm>
            <a:off x="2160588" y="3779838"/>
            <a:ext cx="9359900" cy="2447925"/>
          </a:xfrm>
          <a:prstGeom prst="rect">
            <a:avLst/>
          </a:prstGeom>
          <a:noFill/>
          <a:ln w="9525">
            <a:noFill/>
          </a:ln>
        </p:spPr>
      </p:pic>
      <p:cxnSp>
        <p:nvCxnSpPr>
          <p:cNvPr id="2" name="直接箭头连接符 1"/>
          <p:cNvCxnSpPr/>
          <p:nvPr/>
        </p:nvCxnSpPr>
        <p:spPr>
          <a:xfrm flipH="1">
            <a:off x="3393440" y="5265420"/>
            <a:ext cx="2056765" cy="941070"/>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2361565" y="6421755"/>
            <a:ext cx="2308225" cy="368300"/>
          </a:xfrm>
          <a:prstGeom prst="rect">
            <a:avLst/>
          </a:prstGeom>
          <a:noFill/>
        </p:spPr>
        <p:txBody>
          <a:bodyPr wrap="square" rtlCol="0">
            <a:spAutoFit/>
          </a:bodyPr>
          <a:p>
            <a:pPr>
              <a:spcAft>
                <a:spcPts val="0"/>
              </a:spcAft>
            </a:pPr>
            <a:r>
              <a:rPr lang="zh-CN" altLang="en-US"/>
              <a:t>标准方差直方图</a:t>
            </a:r>
            <a:endParaRPr lang="zh-CN" altLang="en-US"/>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69" name="矩形 288769"/>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8770" name="矩形 288770"/>
          <p:cNvSpPr/>
          <p:nvPr/>
        </p:nvSpPr>
        <p:spPr>
          <a:xfrm>
            <a:off x="1415415" y="1945005"/>
            <a:ext cx="10188575" cy="1050290"/>
          </a:xfrm>
          <a:prstGeom prst="rect">
            <a:avLst/>
          </a:prstGeom>
          <a:noFill/>
          <a:ln w="9525">
            <a:noFill/>
          </a:ln>
        </p:spPr>
        <p:txBody>
          <a:bodyPr wrap="square" anchor="t" anchorCtr="0">
            <a:spAutoFit/>
          </a:bodyPr>
          <a:p>
            <a:pPr algn="just" defTabSz="719455">
              <a:lnSpc>
                <a:spcPct val="130000"/>
              </a:lnSpc>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属于显著物体内部的超像素区域的相对标准方差（</a:t>
            </a:r>
            <a:r>
              <a:rPr lang="en-US" altLang="zh-CN" sz="2400">
                <a:latin typeface="微软雅黑" panose="020B0503020204020204" charset="-122"/>
                <a:ea typeface="微软雅黑" panose="020B0503020204020204" charset="-122"/>
              </a:rPr>
              <a:t>RSD</a:t>
            </a:r>
            <a:r>
              <a:rPr lang="zh-CN" altLang="en-US" sz="2400">
                <a:latin typeface="微软雅黑" panose="020B0503020204020204" charset="-122"/>
                <a:ea typeface="微软雅黑" panose="020B0503020204020204" charset="-122"/>
              </a:rPr>
              <a:t>）比属于显著物体外部的超像素区域的相对标准方差小（显著性与相对标准方差成反比）</a:t>
            </a:r>
            <a:endParaRPr lang="zh-CN" altLang="en-US" sz="2000">
              <a:latin typeface="微软雅黑" panose="020B0503020204020204" charset="-122"/>
              <a:ea typeface="微软雅黑" panose="020B0503020204020204" charset="-122"/>
            </a:endParaRPr>
          </a:p>
        </p:txBody>
      </p:sp>
      <p:sp>
        <p:nvSpPr>
          <p:cNvPr id="288771" name="矩形 288771"/>
          <p:cNvSpPr/>
          <p:nvPr/>
        </p:nvSpPr>
        <p:spPr>
          <a:xfrm>
            <a:off x="2339975"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显著性图</a:t>
            </a:r>
            <a:endParaRPr lang="zh-CN" altLang="en-US" sz="2400" b="1">
              <a:latin typeface="微软雅黑" panose="020B0503020204020204" charset="-122"/>
              <a:ea typeface="微软雅黑" panose="020B0503020204020204" charset="-122"/>
            </a:endParaRPr>
          </a:p>
        </p:txBody>
      </p:sp>
      <p:grpSp>
        <p:nvGrpSpPr>
          <p:cNvPr id="2" name="组合 1"/>
          <p:cNvGrpSpPr/>
          <p:nvPr/>
        </p:nvGrpSpPr>
        <p:grpSpPr>
          <a:xfrm>
            <a:off x="1951355" y="3564255"/>
            <a:ext cx="8460105" cy="2700020"/>
            <a:chOff x="3073" y="5613"/>
            <a:chExt cx="13323" cy="4252"/>
          </a:xfrm>
        </p:grpSpPr>
        <p:sp>
          <p:nvSpPr>
            <p:cNvPr id="288772" name="矩形 288772"/>
            <p:cNvSpPr/>
            <p:nvPr/>
          </p:nvSpPr>
          <p:spPr>
            <a:xfrm>
              <a:off x="3413" y="5613"/>
              <a:ext cx="26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相对标准方差</a:t>
              </a:r>
              <a:endParaRPr lang="zh-CN" altLang="en-US" sz="2000">
                <a:latin typeface="微软雅黑" panose="020B0503020204020204" charset="-122"/>
                <a:ea typeface="微软雅黑" panose="020B0503020204020204" charset="-122"/>
              </a:endParaRPr>
            </a:p>
          </p:txBody>
        </p:sp>
        <p:sp>
          <p:nvSpPr>
            <p:cNvPr id="288773" name="矩形 288773"/>
            <p:cNvSpPr/>
            <p:nvPr/>
          </p:nvSpPr>
          <p:spPr>
            <a:xfrm>
              <a:off x="7156" y="5613"/>
              <a:ext cx="18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显著性图</a:t>
              </a:r>
              <a:endParaRPr lang="zh-CN" altLang="en-US" sz="2000">
                <a:latin typeface="微软雅黑" panose="020B0503020204020204" charset="-122"/>
                <a:ea typeface="微软雅黑" panose="020B0503020204020204" charset="-122"/>
              </a:endParaRPr>
            </a:p>
          </p:txBody>
        </p:sp>
        <p:sp>
          <p:nvSpPr>
            <p:cNvPr id="288774" name="矩形 288774"/>
            <p:cNvSpPr/>
            <p:nvPr/>
          </p:nvSpPr>
          <p:spPr>
            <a:xfrm>
              <a:off x="10216" y="5613"/>
              <a:ext cx="22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后处理结果</a:t>
              </a:r>
              <a:endParaRPr lang="zh-CN" altLang="en-US" sz="2000">
                <a:latin typeface="微软雅黑" panose="020B0503020204020204" charset="-122"/>
                <a:ea typeface="微软雅黑" panose="020B0503020204020204" charset="-122"/>
              </a:endParaRPr>
            </a:p>
          </p:txBody>
        </p:sp>
        <p:sp>
          <p:nvSpPr>
            <p:cNvPr id="288775" name="矩形 288775"/>
            <p:cNvSpPr/>
            <p:nvPr/>
          </p:nvSpPr>
          <p:spPr>
            <a:xfrm>
              <a:off x="14186" y="5613"/>
              <a:ext cx="10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真值</a:t>
              </a:r>
              <a:endParaRPr lang="zh-CN" altLang="en-US" sz="2000">
                <a:latin typeface="微软雅黑" panose="020B0503020204020204" charset="-122"/>
                <a:ea typeface="微软雅黑" panose="020B0503020204020204" charset="-122"/>
              </a:endParaRPr>
            </a:p>
          </p:txBody>
        </p:sp>
        <p:pic>
          <p:nvPicPr>
            <p:cNvPr id="288776" name="图片 288776" descr="C:/Users/Administrator/AppData/Roaming/Yozo_Office/Temp/fc/968467201615187995629/计算机视觉教程（第3版）PPT第04章.pptx/ppt/media/image16.emf"/>
            <p:cNvPicPr/>
            <p:nvPr/>
          </p:nvPicPr>
          <p:blipFill>
            <a:blip r:embed="rId1"/>
            <a:stretch>
              <a:fillRect/>
            </a:stretch>
          </p:blipFill>
          <p:spPr>
            <a:xfrm>
              <a:off x="3073" y="6350"/>
              <a:ext cx="13323" cy="3515"/>
            </a:xfrm>
            <a:prstGeom prst="rect">
              <a:avLst/>
            </a:prstGeom>
            <a:noFill/>
            <a:ln w="9525">
              <a:noFill/>
            </a:ln>
          </p:spPr>
        </p:pic>
      </p:grpSp>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7" name="矩形 290817"/>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0818" name="矩形 290818"/>
          <p:cNvSpPr/>
          <p:nvPr/>
        </p:nvSpPr>
        <p:spPr>
          <a:xfrm>
            <a:off x="1179830" y="1945005"/>
            <a:ext cx="9620250" cy="4389755"/>
          </a:xfrm>
          <a:prstGeom prst="rect">
            <a:avLst/>
          </a:prstGeom>
          <a:noFill/>
          <a:ln w="9525">
            <a:noFill/>
          </a:ln>
        </p:spPr>
        <p:txBody>
          <a:bodyPr wrap="square" anchor="t" anchorCtr="0">
            <a:spAutoFit/>
          </a:bodyPr>
          <a:p>
            <a:pPr algn="just"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	</a:t>
            </a:r>
            <a:r>
              <a:rPr lang="zh-CN" altLang="en-US" sz="2400">
                <a:latin typeface="Times New Roman" panose="02020603050405020304" charset="0"/>
                <a:ea typeface="微软雅黑" panose="020B0503020204020204" charset="-122"/>
                <a:cs typeface="Times New Roman" panose="02020603050405020304" charset="0"/>
              </a:rPr>
              <a:t>来自各个区域的方向对比度（</a:t>
            </a:r>
            <a:r>
              <a:rPr lang="en-US" altLang="zh-CN" sz="2400">
                <a:latin typeface="Times New Roman" panose="02020603050405020304" charset="0"/>
                <a:ea typeface="微软雅黑" panose="020B0503020204020204" charset="-122"/>
                <a:cs typeface="Times New Roman" panose="02020603050405020304" charset="0"/>
              </a:rPr>
              <a:t>DC</a:t>
            </a:r>
            <a:r>
              <a:rPr lang="zh-CN" altLang="en-US"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f  </a:t>
            </a:r>
            <a:r>
              <a:rPr lang="zh-CN" altLang="en-US" sz="2400">
                <a:latin typeface="Times New Roman" panose="02020603050405020304" charset="0"/>
                <a:ea typeface="微软雅黑" panose="020B0503020204020204" charset="-122"/>
                <a:cs typeface="Times New Roman" panose="02020603050405020304" charset="0"/>
              </a:rPr>
              <a:t>是</a:t>
            </a:r>
            <a:r>
              <a:rPr lang="en-US" altLang="zh-CN" sz="2400">
                <a:latin typeface="Times New Roman" panose="02020603050405020304" charset="0"/>
                <a:ea typeface="微软雅黑" panose="020B0503020204020204" charset="-122"/>
                <a:cs typeface="Times New Roman" panose="02020603050405020304" charset="0"/>
              </a:rPr>
              <a:t>Lab</a:t>
            </a:r>
            <a:r>
              <a:rPr lang="zh-CN" altLang="en-US" sz="2400">
                <a:latin typeface="Times New Roman" panose="02020603050405020304" charset="0"/>
                <a:ea typeface="微软雅黑" panose="020B0503020204020204" charset="-122"/>
                <a:cs typeface="Times New Roman" panose="02020603050405020304" charset="0"/>
              </a:rPr>
              <a:t>空间的具有</a:t>
            </a:r>
            <a:r>
              <a:rPr lang="en-US" altLang="zh-CN" sz="2400">
                <a:latin typeface="Times New Roman" panose="02020603050405020304" charset="0"/>
                <a:ea typeface="微软雅黑" panose="020B0503020204020204" charset="-122"/>
                <a:cs typeface="Times New Roman" panose="02020603050405020304" charset="0"/>
              </a:rPr>
              <a:t>K</a:t>
            </a:r>
            <a:r>
              <a:rPr lang="zh-CN" altLang="en-US" sz="2400">
                <a:latin typeface="Times New Roman" panose="02020603050405020304" charset="0"/>
                <a:ea typeface="微软雅黑" panose="020B0503020204020204" charset="-122"/>
                <a:cs typeface="Times New Roman" panose="02020603050405020304" charset="0"/>
              </a:rPr>
              <a:t>个色彩的输入图像</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600"/>
              </a:spcBef>
              <a:spcAft>
                <a:spcPts val="600"/>
              </a:spcAft>
            </a:pPr>
            <a:r>
              <a:rPr lang="zh-CN" altLang="en-US" sz="2400">
                <a:latin typeface="Times New Roman" panose="02020603050405020304" charset="0"/>
                <a:ea typeface="微软雅黑" panose="020B0503020204020204" charset="-122"/>
                <a:cs typeface="Times New Roman" panose="02020603050405020304" charset="0"/>
              </a:rPr>
              <a:t>	前景与背景像素的方向对比度分布很不一样</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600"/>
              </a:spcBef>
              <a:spcAft>
                <a:spcPts val="600"/>
              </a:spcAft>
            </a:pPr>
            <a:r>
              <a:rPr lang="zh-CN" altLang="en-US" sz="2400">
                <a:latin typeface="Times New Roman" panose="02020603050405020304" charset="0"/>
                <a:ea typeface="微软雅黑" panose="020B0503020204020204" charset="-122"/>
                <a:cs typeface="Times New Roman" panose="02020603050405020304" charset="0"/>
              </a:rPr>
              <a:t>	用最小方向对比度（</a:t>
            </a:r>
            <a:r>
              <a:rPr lang="en-US" altLang="zh-CN" sz="2400">
                <a:solidFill>
                  <a:srgbClr val="FF0000"/>
                </a:solidFill>
                <a:latin typeface="Times New Roman" panose="02020603050405020304" charset="0"/>
                <a:ea typeface="微软雅黑" panose="020B0503020204020204" charset="-122"/>
                <a:cs typeface="Times New Roman" panose="02020603050405020304" charset="0"/>
              </a:rPr>
              <a:t>MDC</a:t>
            </a:r>
            <a:r>
              <a:rPr lang="zh-CN" altLang="en-US" sz="2400">
                <a:latin typeface="Times New Roman" panose="02020603050405020304" charset="0"/>
                <a:ea typeface="微软雅黑" panose="020B0503020204020204" charset="-122"/>
                <a:cs typeface="Times New Roman" panose="02020603050405020304" charset="0"/>
              </a:rPr>
              <a:t>），即所有方向中对比度最小的</a:t>
            </a:r>
            <a:r>
              <a:rPr lang="en-US" altLang="zh-CN" sz="2400">
                <a:latin typeface="Times New Roman" panose="02020603050405020304" charset="0"/>
                <a:ea typeface="微软雅黑" panose="020B0503020204020204" charset="-122"/>
                <a:cs typeface="Times New Roman" panose="02020603050405020304" charset="0"/>
              </a:rPr>
              <a:t>DC</a:t>
            </a:r>
            <a:r>
              <a:rPr lang="zh-CN" altLang="en-US" sz="2400">
                <a:latin typeface="Times New Roman" panose="02020603050405020304" charset="0"/>
                <a:ea typeface="微软雅黑" panose="020B0503020204020204" charset="-122"/>
                <a:cs typeface="Times New Roman" panose="02020603050405020304" charset="0"/>
              </a:rPr>
              <a:t>值，作为初始的显著性的度量值</a:t>
            </a:r>
            <a:r>
              <a:rPr lang="en-US" altLang="zh-CN" sz="2400" i="1">
                <a:latin typeface="Times New Roman" panose="02020603050405020304" charset="0"/>
                <a:ea typeface="微软雅黑" panose="020B0503020204020204" charset="-122"/>
                <a:cs typeface="Times New Roman" panose="02020603050405020304" charset="0"/>
              </a:rPr>
              <a:t>S</a:t>
            </a:r>
            <a:r>
              <a:rPr lang="zh-CN" altLang="en-US" sz="2400">
                <a:latin typeface="Times New Roman" panose="02020603050405020304" charset="0"/>
                <a:ea typeface="微软雅黑" panose="020B0503020204020204" charset="-122"/>
                <a:cs typeface="Times New Roman" panose="02020603050405020304" charset="0"/>
              </a:rPr>
              <a:t>：</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spcBef>
                <a:spcPts val="600"/>
              </a:spcBef>
            </a:pP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290819" name="矩形 290819"/>
          <p:cNvSpPr/>
          <p:nvPr/>
        </p:nvSpPr>
        <p:spPr>
          <a:xfrm>
            <a:off x="2339975" y="1260475"/>
            <a:ext cx="2591435" cy="460375"/>
          </a:xfrm>
          <a:prstGeom prst="rect">
            <a:avLst/>
          </a:prstGeom>
          <a:noFill/>
          <a:ln w="9525">
            <a:noFill/>
          </a:ln>
        </p:spPr>
        <p:txBody>
          <a:bodyPr wrap="none" anchor="t" anchorCtr="0">
            <a:spAutoFit/>
          </a:bodyPr>
          <a:p>
            <a:pPr algn="l" defTabSz="719455">
              <a:spcAft>
                <a:spcPts val="0"/>
              </a:spcAft>
            </a:pPr>
            <a:r>
              <a:rPr lang="en-US" altLang="zh-CN" sz="2400" b="1">
                <a:latin typeface="微软雅黑" panose="020B0503020204020204" charset="-122"/>
                <a:ea typeface="微软雅黑" panose="020B0503020204020204" charset="-122"/>
                <a:sym typeface="+mn-ea"/>
              </a:rPr>
              <a:t>3.</a:t>
            </a:r>
            <a:r>
              <a:rPr lang="zh-CN" altLang="en-US" sz="2400" b="1">
                <a:latin typeface="微软雅黑" panose="020B0503020204020204" charset="-122"/>
                <a:ea typeface="微软雅黑" panose="020B0503020204020204" charset="-122"/>
              </a:rPr>
              <a:t>最小方向对比度</a:t>
            </a:r>
            <a:endParaRPr lang="zh-CN" altLang="en-US" sz="2400" b="1">
              <a:latin typeface="微软雅黑" panose="020B0503020204020204" charset="-122"/>
              <a:ea typeface="微软雅黑" panose="020B0503020204020204" charset="-122"/>
            </a:endParaRPr>
          </a:p>
        </p:txBody>
      </p:sp>
      <p:pic>
        <p:nvPicPr>
          <p:cNvPr id="290820" name="图片 290820" descr="C:/Users/Administrator/AppData/Roaming/Yozo_Office/Temp/fc/968467201615187995629/计算机视觉教程（第3版）PPT第04章.pptx/ppt/media/image18.emf"/>
          <p:cNvPicPr/>
          <p:nvPr/>
        </p:nvPicPr>
        <p:blipFill>
          <a:blip r:embed="rId1">
            <a:lum bright="-48000" contrast="72000"/>
          </a:blip>
          <a:stretch>
            <a:fillRect/>
          </a:stretch>
        </p:blipFill>
        <p:spPr>
          <a:xfrm>
            <a:off x="3559810" y="2849563"/>
            <a:ext cx="4859338" cy="936625"/>
          </a:xfrm>
          <a:prstGeom prst="rect">
            <a:avLst/>
          </a:prstGeom>
          <a:noFill/>
          <a:ln w="9525">
            <a:noFill/>
          </a:ln>
        </p:spPr>
      </p:pic>
      <p:pic>
        <p:nvPicPr>
          <p:cNvPr id="290821" name="图片 290821" descr="C:/Users/Administrator/AppData/Roaming/Yozo_Office/Temp/fc/968467201615187995629/计算机视觉教程（第3版）PPT第04章.pptx/ppt/media/image19.emf"/>
          <p:cNvPicPr/>
          <p:nvPr/>
        </p:nvPicPr>
        <p:blipFill>
          <a:blip r:embed="rId2">
            <a:lum bright="-6000" contrast="24000"/>
          </a:blip>
          <a:stretch>
            <a:fillRect/>
          </a:stretch>
        </p:blipFill>
        <p:spPr>
          <a:xfrm>
            <a:off x="2404428" y="5617528"/>
            <a:ext cx="6911975" cy="1008062"/>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3" name="矩形 289793"/>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89794" name="矩形 289794"/>
          <p:cNvSpPr/>
          <p:nvPr/>
        </p:nvSpPr>
        <p:spPr>
          <a:xfrm>
            <a:off x="1746885" y="1945005"/>
            <a:ext cx="9053195" cy="1198880"/>
          </a:xfrm>
          <a:prstGeom prst="rect">
            <a:avLst/>
          </a:prstGeom>
          <a:noFill/>
          <a:ln w="9525">
            <a:noFill/>
          </a:ln>
        </p:spPr>
        <p:txBody>
          <a:bodyPr wrap="square" anchor="t" anchorCtr="0">
            <a:spAutoFit/>
          </a:bodyPr>
          <a:p>
            <a:pPr algn="just" defTabSz="719455">
              <a:lnSpc>
                <a:spcPct val="150000"/>
              </a:lnSpc>
              <a:spcAft>
                <a:spcPts val="0"/>
              </a:spcAft>
            </a:pPr>
            <a:r>
              <a:rPr lang="en-US" altLang="zh-CN" sz="2400">
                <a:latin typeface="Calibri" panose="020F0502020204030204" charset="0"/>
                <a:ea typeface="宋体" panose="02010600030101010101" pitchFamily="2" charset="-122"/>
              </a:rPr>
              <a:t>	</a:t>
            </a:r>
            <a:r>
              <a:rPr lang="zh-CN" altLang="en-US" sz="2400">
                <a:latin typeface="微软雅黑" panose="020B0503020204020204" charset="-122"/>
                <a:ea typeface="微软雅黑" panose="020B0503020204020204" charset="-122"/>
              </a:rPr>
              <a:t>将目标像素</a:t>
            </a:r>
            <a:r>
              <a:rPr lang="en-US" altLang="zh-CN" sz="2400" i="1">
                <a:latin typeface="Arial" panose="020B0604020202020204" pitchFamily="34" charset="0"/>
                <a:ea typeface="微软雅黑" panose="020B0503020204020204" charset="-122"/>
              </a:rPr>
              <a:t>i </a:t>
            </a:r>
            <a:r>
              <a:rPr lang="zh-CN" altLang="en-US" sz="2400">
                <a:latin typeface="微软雅黑" panose="020B0503020204020204" charset="-122"/>
                <a:ea typeface="微软雅黑" panose="020B0503020204020204" charset="-122"/>
              </a:rPr>
              <a:t>看作视场中心，则整幅图像可相对于</a:t>
            </a:r>
            <a:r>
              <a:rPr lang="en-US" altLang="zh-CN" sz="2400" i="1">
                <a:latin typeface="Arial" panose="020B0604020202020204" pitchFamily="34" charset="0"/>
                <a:ea typeface="微软雅黑" panose="020B0503020204020204" charset="-122"/>
              </a:rPr>
              <a:t>i </a:t>
            </a:r>
            <a:r>
              <a:rPr lang="zh-CN" altLang="en-US" sz="2400">
                <a:latin typeface="微软雅黑" panose="020B0503020204020204" charset="-122"/>
                <a:ea typeface="微软雅黑" panose="020B0503020204020204" charset="-122"/>
              </a:rPr>
              <a:t>的位置被划分成若干个区域（左上</a:t>
            </a:r>
            <a:r>
              <a:rPr lang="en-US" altLang="zh-CN" sz="2400">
                <a:latin typeface="微软雅黑" panose="020B0503020204020204" charset="-122"/>
                <a:ea typeface="微软雅黑" panose="020B0503020204020204" charset="-122"/>
              </a:rPr>
              <a:t>TL</a:t>
            </a:r>
            <a:r>
              <a:rPr lang="zh-CN" altLang="en-US" sz="2400">
                <a:latin typeface="微软雅黑" panose="020B0503020204020204" charset="-122"/>
                <a:ea typeface="微软雅黑" panose="020B0503020204020204" charset="-122"/>
              </a:rPr>
              <a:t>、右上</a:t>
            </a:r>
            <a:r>
              <a:rPr lang="en-US" altLang="zh-CN" sz="2400">
                <a:latin typeface="微软雅黑" panose="020B0503020204020204" charset="-122"/>
                <a:ea typeface="微软雅黑" panose="020B0503020204020204" charset="-122"/>
              </a:rPr>
              <a:t>TR</a:t>
            </a:r>
            <a:r>
              <a:rPr lang="zh-CN" altLang="en-US" sz="2400">
                <a:latin typeface="微软雅黑" panose="020B0503020204020204" charset="-122"/>
                <a:ea typeface="微软雅黑" panose="020B0503020204020204" charset="-122"/>
              </a:rPr>
              <a:t>、左下</a:t>
            </a:r>
            <a:r>
              <a:rPr lang="en-US" altLang="zh-CN" sz="2400">
                <a:latin typeface="微软雅黑" panose="020B0503020204020204" charset="-122"/>
                <a:ea typeface="微软雅黑" panose="020B0503020204020204" charset="-122"/>
              </a:rPr>
              <a:t>BL</a:t>
            </a:r>
            <a:r>
              <a:rPr lang="zh-CN" altLang="en-US" sz="2400">
                <a:latin typeface="微软雅黑" panose="020B0503020204020204" charset="-122"/>
                <a:ea typeface="微软雅黑" panose="020B0503020204020204" charset="-122"/>
              </a:rPr>
              <a:t>、右下</a:t>
            </a:r>
            <a:r>
              <a:rPr lang="en-US" altLang="zh-CN" sz="2400">
                <a:latin typeface="微软雅黑" panose="020B0503020204020204" charset="-122"/>
                <a:ea typeface="微软雅黑" panose="020B0503020204020204" charset="-122"/>
              </a:rPr>
              <a:t>BR</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p:txBody>
      </p:sp>
      <p:sp>
        <p:nvSpPr>
          <p:cNvPr id="289795" name="矩形 289795"/>
          <p:cNvSpPr/>
          <p:nvPr/>
        </p:nvSpPr>
        <p:spPr>
          <a:xfrm>
            <a:off x="2339975" y="1260475"/>
            <a:ext cx="3314065"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最小方向对比度</a:t>
            </a:r>
            <a:r>
              <a:rPr lang="en-US" altLang="zh-CN" sz="2400" b="1">
                <a:latin typeface="微软雅黑" panose="020B0503020204020204" charset="-122"/>
                <a:ea typeface="微软雅黑" panose="020B0503020204020204" charset="-122"/>
              </a:rPr>
              <a:t>(MDC)</a:t>
            </a:r>
            <a:endParaRPr lang="en-US" altLang="zh-CN" sz="2400" b="1">
              <a:latin typeface="微软雅黑" panose="020B0503020204020204" charset="-122"/>
              <a:ea typeface="微软雅黑" panose="020B0503020204020204" charset="-122"/>
            </a:endParaRPr>
          </a:p>
        </p:txBody>
      </p:sp>
      <p:sp>
        <p:nvSpPr>
          <p:cNvPr id="289796" name="矩形 289796"/>
          <p:cNvSpPr/>
          <p:nvPr/>
        </p:nvSpPr>
        <p:spPr>
          <a:xfrm>
            <a:off x="9005729" y="3600450"/>
            <a:ext cx="1198880" cy="829945"/>
          </a:xfrm>
          <a:prstGeom prst="rect">
            <a:avLst/>
          </a:prstGeom>
          <a:noFill/>
          <a:ln w="9525">
            <a:noFill/>
          </a:ln>
        </p:spPr>
        <p:txBody>
          <a:bodyPr wrap="none" anchor="t" anchorCtr="0">
            <a:spAutoFit/>
          </a:bodyPr>
          <a:p>
            <a:pPr algn="ctr">
              <a:lnSpc>
                <a:spcPct val="120000"/>
              </a:lnSpc>
              <a:spcAft>
                <a:spcPts val="0"/>
              </a:spcAft>
            </a:pPr>
            <a:r>
              <a:rPr lang="zh-CN" altLang="en-US" sz="2000">
                <a:latin typeface="微软雅黑" panose="020B0503020204020204" charset="-122"/>
                <a:ea typeface="微软雅黑" panose="020B0503020204020204" charset="-122"/>
              </a:rPr>
              <a:t>各方向</a:t>
            </a:r>
            <a:endParaRPr lang="zh-CN" altLang="en-US" sz="2000">
              <a:latin typeface="微软雅黑" panose="020B0503020204020204" charset="-122"/>
              <a:ea typeface="微软雅黑" panose="020B0503020204020204" charset="-122"/>
            </a:endParaRPr>
          </a:p>
          <a:p>
            <a:pPr algn="ctr">
              <a:lnSpc>
                <a:spcPct val="120000"/>
              </a:lnSpc>
              <a:spcBef>
                <a:spcPts val="0"/>
              </a:spcBef>
            </a:pPr>
            <a:r>
              <a:rPr lang="zh-CN" altLang="en-US" sz="2000">
                <a:latin typeface="微软雅黑" panose="020B0503020204020204" charset="-122"/>
                <a:ea typeface="微软雅黑" panose="020B0503020204020204" charset="-122"/>
              </a:rPr>
              <a:t>都比较大</a:t>
            </a:r>
            <a:endParaRPr lang="zh-CN" altLang="en-US" sz="2000">
              <a:latin typeface="微软雅黑" panose="020B0503020204020204" charset="-122"/>
              <a:ea typeface="微软雅黑" panose="020B0503020204020204" charset="-122"/>
            </a:endParaRPr>
          </a:p>
        </p:txBody>
      </p:sp>
      <p:sp>
        <p:nvSpPr>
          <p:cNvPr id="289797" name="矩形 289797"/>
          <p:cNvSpPr/>
          <p:nvPr/>
        </p:nvSpPr>
        <p:spPr>
          <a:xfrm>
            <a:off x="9005729" y="5040313"/>
            <a:ext cx="1198880" cy="768350"/>
          </a:xfrm>
          <a:prstGeom prst="rect">
            <a:avLst/>
          </a:prstGeom>
          <a:noFill/>
          <a:ln w="9525">
            <a:noFill/>
          </a:ln>
        </p:spPr>
        <p:txBody>
          <a:bodyPr wrap="none" anchor="t" anchorCtr="0">
            <a:spAutoFit/>
          </a:bodyPr>
          <a:p>
            <a:pPr algn="ctr">
              <a:lnSpc>
                <a:spcPct val="120000"/>
              </a:lnSpc>
              <a:spcAft>
                <a:spcPts val="0"/>
              </a:spcAft>
            </a:pPr>
            <a:r>
              <a:rPr lang="zh-CN" altLang="en-US" sz="2000">
                <a:latin typeface="微软雅黑" panose="020B0503020204020204" charset="-122"/>
                <a:ea typeface="微软雅黑" panose="020B0503020204020204" charset="-122"/>
              </a:rPr>
              <a:t>有的方向</a:t>
            </a:r>
            <a:endParaRPr lang="zh-CN" altLang="en-US" sz="2000">
              <a:latin typeface="微软雅黑" panose="020B0503020204020204" charset="-122"/>
              <a:ea typeface="微软雅黑" panose="020B0503020204020204" charset="-122"/>
            </a:endParaRPr>
          </a:p>
          <a:p>
            <a:pPr algn="ctr">
              <a:spcBef>
                <a:spcPts val="0"/>
              </a:spcBef>
            </a:pPr>
            <a:r>
              <a:rPr lang="zh-CN" altLang="en-US" sz="2000">
                <a:latin typeface="微软雅黑" panose="020B0503020204020204" charset="-122"/>
                <a:ea typeface="微软雅黑" panose="020B0503020204020204" charset="-122"/>
              </a:rPr>
              <a:t>比较小</a:t>
            </a:r>
            <a:endParaRPr lang="zh-CN" altLang="en-US" sz="2000">
              <a:latin typeface="微软雅黑" panose="020B0503020204020204" charset="-122"/>
              <a:ea typeface="微软雅黑" panose="020B0503020204020204" charset="-122"/>
            </a:endParaRPr>
          </a:p>
        </p:txBody>
      </p:sp>
      <p:pic>
        <p:nvPicPr>
          <p:cNvPr id="289798" name="图片 289798" descr="C:/Users/Administrator/AppData/Roaming/Yozo_Office/Temp/fc/968467201615187995629/计算机视觉教程（第3版）PPT第04章.pptx/ppt/media/image17.emf"/>
          <p:cNvPicPr/>
          <p:nvPr/>
        </p:nvPicPr>
        <p:blipFill>
          <a:blip r:embed="rId1"/>
          <a:srcRect t="2" r="37161" b="12787"/>
          <a:stretch>
            <a:fillRect/>
          </a:stretch>
        </p:blipFill>
        <p:spPr>
          <a:xfrm>
            <a:off x="2054225" y="3075940"/>
            <a:ext cx="6737350" cy="363728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1" name="矩形 291841"/>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1842" name="矩形 291842"/>
          <p:cNvSpPr/>
          <p:nvPr/>
        </p:nvSpPr>
        <p:spPr>
          <a:xfrm>
            <a:off x="2879725" y="1871663"/>
            <a:ext cx="7920038" cy="2158365"/>
          </a:xfrm>
          <a:prstGeom prst="rect">
            <a:avLst/>
          </a:prstGeom>
          <a:noFill/>
          <a:ln w="9525">
            <a:noFill/>
          </a:ln>
        </p:spPr>
        <p:txBody>
          <a:bodyPr anchor="t" anchorCtr="0">
            <a:spAutoFit/>
          </a:bodyPr>
          <a:p>
            <a:pPr algn="just" defTabSz="719455">
              <a:lnSpc>
                <a:spcPct val="140000"/>
              </a:lnSpc>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为了降低计算复杂度，对颜色进行量化</a:t>
            </a:r>
            <a:endParaRPr lang="zh-CN" altLang="en-US" sz="2400">
              <a:latin typeface="微软雅黑" panose="020B0503020204020204" charset="-122"/>
              <a:ea typeface="微软雅黑" panose="020B0503020204020204" charset="-122"/>
            </a:endParaRPr>
          </a:p>
          <a:p>
            <a:pPr algn="just" defTabSz="719455">
              <a:lnSpc>
                <a:spcPct val="140000"/>
              </a:lnSpc>
              <a:spcBef>
                <a:spcPts val="0"/>
              </a:spcBef>
              <a:spcAft>
                <a:spcPts val="0"/>
              </a:spcAft>
            </a:pPr>
            <a:r>
              <a:rPr lang="zh-CN" altLang="en-US" sz="2400">
                <a:latin typeface="微软雅黑" panose="020B0503020204020204" charset="-122"/>
                <a:ea typeface="微软雅黑" panose="020B0503020204020204" charset="-122"/>
              </a:rPr>
              <a:t>	简单的颜色量化，可能会导致两种相似的颜色量化到两种取值，进而得到的显著性在视觉上不连续。</a:t>
            </a:r>
            <a:endParaRPr lang="zh-CN" altLang="en-US" sz="2400">
              <a:latin typeface="微软雅黑" panose="020B0503020204020204" charset="-122"/>
              <a:ea typeface="微软雅黑" panose="020B0503020204020204" charset="-122"/>
            </a:endParaRPr>
          </a:p>
          <a:p>
            <a:pPr algn="just" defTabSz="719455">
              <a:lnSpc>
                <a:spcPct val="140000"/>
              </a:lnSpc>
              <a:spcBef>
                <a:spcPts val="0"/>
              </a:spcBef>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借助</a:t>
            </a:r>
            <a:r>
              <a:rPr lang="zh-CN" altLang="en-US" sz="2400">
                <a:solidFill>
                  <a:srgbClr val="FF0000"/>
                </a:solidFill>
                <a:latin typeface="微软雅黑" panose="020B0503020204020204" charset="-122"/>
                <a:ea typeface="微软雅黑" panose="020B0503020204020204" charset="-122"/>
              </a:rPr>
              <a:t>边界连通性</a:t>
            </a:r>
            <a:r>
              <a:rPr lang="zh-CN" altLang="en-US" sz="2400">
                <a:latin typeface="微软雅黑" panose="020B0503020204020204" charset="-122"/>
                <a:ea typeface="微软雅黑" panose="020B0503020204020204" charset="-122"/>
              </a:rPr>
              <a:t>的平滑来消除这种问题</a:t>
            </a:r>
            <a:endParaRPr lang="zh-CN" altLang="en-US" sz="2400">
              <a:latin typeface="微软雅黑" panose="020B0503020204020204" charset="-122"/>
              <a:ea typeface="微软雅黑" panose="020B0503020204020204" charset="-122"/>
            </a:endParaRPr>
          </a:p>
        </p:txBody>
      </p:sp>
      <p:sp>
        <p:nvSpPr>
          <p:cNvPr id="291843" name="矩形 291843"/>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显著性平滑</a:t>
            </a:r>
            <a:endParaRPr lang="zh-CN" altLang="en-US" sz="2400" b="1">
              <a:latin typeface="微软雅黑" panose="020B0503020204020204" charset="-122"/>
              <a:ea typeface="微软雅黑" panose="020B0503020204020204" charset="-122"/>
            </a:endParaRPr>
          </a:p>
        </p:txBody>
      </p:sp>
      <p:pic>
        <p:nvPicPr>
          <p:cNvPr id="291844" name="图片 291844" descr="C:/Users/Administrator/AppData/Roaming/Yozo_Office/Temp/fc/968467201615187995629/计算机视觉教程（第3版）PPT第04章.pptx/ppt/media/image20.emf"/>
          <p:cNvPicPr/>
          <p:nvPr/>
        </p:nvPicPr>
        <p:blipFill>
          <a:blip r:embed="rId1"/>
          <a:srcRect l="-11" r="76927" b="23996"/>
          <a:stretch>
            <a:fillRect/>
          </a:stretch>
        </p:blipFill>
        <p:spPr>
          <a:xfrm>
            <a:off x="7559675" y="4248150"/>
            <a:ext cx="2447925" cy="1798638"/>
          </a:xfrm>
          <a:prstGeom prst="rect">
            <a:avLst/>
          </a:prstGeom>
          <a:noFill/>
          <a:ln w="9525">
            <a:noFill/>
          </a:ln>
        </p:spPr>
      </p:pic>
      <p:pic>
        <p:nvPicPr>
          <p:cNvPr id="291845" name="图片 291845" descr="C:/Users/Administrator/AppData/Roaming/Yozo_Office/Temp/fc/968467201615187995629/计算机视觉教程（第3版）PPT第04章.pptx/ppt/media/image17.emf"/>
          <p:cNvPicPr/>
          <p:nvPr/>
        </p:nvPicPr>
        <p:blipFill>
          <a:blip r:embed="rId2"/>
          <a:srcRect l="62437" t="24352" r="19363" b="40160"/>
          <a:stretch>
            <a:fillRect/>
          </a:stretch>
        </p:blipFill>
        <p:spPr>
          <a:xfrm>
            <a:off x="3959225" y="4248150"/>
            <a:ext cx="2447925" cy="1798638"/>
          </a:xfrm>
          <a:prstGeom prst="rect">
            <a:avLst/>
          </a:prstGeom>
          <a:noFill/>
          <a:ln w="9525">
            <a:noFill/>
          </a:ln>
        </p:spPr>
      </p:pic>
      <p:sp>
        <p:nvSpPr>
          <p:cNvPr id="291846" name="右箭头 291846"/>
          <p:cNvSpPr/>
          <p:nvPr/>
        </p:nvSpPr>
        <p:spPr>
          <a:xfrm>
            <a:off x="6588125" y="4957763"/>
            <a:ext cx="719138" cy="360362"/>
          </a:xfrm>
          <a:prstGeom prst="rightArrow">
            <a:avLst>
              <a:gd name="adj1" fmla="val 50000"/>
              <a:gd name="adj2" fmla="val 49880"/>
            </a:avLst>
          </a:prstGeom>
          <a:solidFill>
            <a:srgbClr val="FFFF00"/>
          </a:solidFill>
          <a:ln w="9525" cap="flat" cmpd="sng">
            <a:solidFill>
              <a:srgbClr val="FF00FF"/>
            </a:solidFill>
            <a:prstDash val="solid"/>
            <a:miter/>
            <a:headEnd type="none" w="med" len="med"/>
            <a:tailEnd type="none" w="med" len="med"/>
          </a:ln>
        </p:spPr>
        <p:txBody>
          <a:bodyPr anchor="t" anchorCtr="0"/>
          <a:p>
            <a:endParaRPr lang="zh-CN" altLang="en-US">
              <a:latin typeface="Times New Roman" panose="02020603050405020304" charset="0"/>
              <a:ea typeface="宋体" panose="02010600030101010101" pitchFamily="2" charset="-122"/>
            </a:endParaRPr>
          </a:p>
        </p:txBody>
      </p:sp>
      <p:sp>
        <p:nvSpPr>
          <p:cNvPr id="291847" name="矩形 291847"/>
          <p:cNvSpPr/>
          <p:nvPr/>
        </p:nvSpPr>
        <p:spPr>
          <a:xfrm>
            <a:off x="9936163" y="4751388"/>
            <a:ext cx="900112" cy="706755"/>
          </a:xfrm>
          <a:prstGeom prst="rect">
            <a:avLst/>
          </a:prstGeom>
          <a:noFill/>
          <a:ln w="9525">
            <a:noFill/>
          </a:ln>
        </p:spPr>
        <p:txBody>
          <a:bodyPr anchor="t" anchorCtr="0">
            <a:spAutoFit/>
          </a:bodyPr>
          <a:p>
            <a:pPr algn="r">
              <a:spcAft>
                <a:spcPts val="0"/>
              </a:spcAft>
            </a:pPr>
            <a:r>
              <a:rPr lang="zh-CN" altLang="en-US" sz="2000">
                <a:latin typeface="微软雅黑" panose="020B0503020204020204" charset="-122"/>
                <a:ea typeface="微软雅黑" panose="020B0503020204020204" charset="-122"/>
              </a:rPr>
              <a:t>平滑结果</a:t>
            </a:r>
            <a:endParaRPr lang="zh-CN" altLang="en-US" sz="2000">
              <a:latin typeface="微软雅黑" panose="020B0503020204020204" charset="-122"/>
              <a:ea typeface="微软雅黑" panose="020B0503020204020204" charset="-122"/>
            </a:endParaRPr>
          </a:p>
        </p:txBody>
      </p:sp>
      <p:sp>
        <p:nvSpPr>
          <p:cNvPr id="291848" name="矩形 291848"/>
          <p:cNvSpPr/>
          <p:nvPr/>
        </p:nvSpPr>
        <p:spPr>
          <a:xfrm>
            <a:off x="2879725" y="4751388"/>
            <a:ext cx="900113" cy="706755"/>
          </a:xfrm>
          <a:prstGeom prst="rect">
            <a:avLst/>
          </a:prstGeom>
          <a:noFill/>
          <a:ln w="9525">
            <a:noFill/>
          </a:ln>
        </p:spPr>
        <p:txBody>
          <a:bodyPr anchor="t" anchorCtr="0">
            <a:spAutoFit/>
          </a:bodyPr>
          <a:p>
            <a:pPr algn="ctr">
              <a:spcAft>
                <a:spcPts val="0"/>
              </a:spcAft>
            </a:pPr>
            <a:r>
              <a:rPr lang="zh-CN" altLang="en-US" sz="2000">
                <a:latin typeface="微软雅黑" panose="020B0503020204020204" charset="-122"/>
                <a:ea typeface="微软雅黑" panose="020B0503020204020204" charset="-122"/>
              </a:rPr>
              <a:t>初始度量</a:t>
            </a:r>
            <a:endParaRPr lang="zh-CN" altLang="en-US" sz="20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1" name="矩形 291841"/>
          <p:cNvSpPr/>
          <p:nvPr>
            <p:custDataLst>
              <p:tags r:id="rId1"/>
            </p:custDataLst>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1843" name="矩形 291843"/>
          <p:cNvSpPr/>
          <p:nvPr>
            <p:custDataLst>
              <p:tags r:id="rId2"/>
            </p:custDataLst>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边界连通性</a:t>
            </a:r>
            <a:endParaRPr lang="zh-CN" altLang="en-US" sz="2400" b="1">
              <a:latin typeface="微软雅黑" panose="020B0503020204020204" charset="-122"/>
              <a:ea typeface="微软雅黑" panose="020B0503020204020204" charset="-122"/>
            </a:endParaRPr>
          </a:p>
        </p:txBody>
      </p:sp>
      <p:sp>
        <p:nvSpPr>
          <p:cNvPr id="4" name="文本框 3"/>
          <p:cNvSpPr txBox="1"/>
          <p:nvPr/>
        </p:nvSpPr>
        <p:spPr>
          <a:xfrm>
            <a:off x="823595" y="1918335"/>
            <a:ext cx="10293350" cy="922020"/>
          </a:xfrm>
          <a:prstGeom prst="rect">
            <a:avLst/>
          </a:prstGeom>
          <a:noFill/>
        </p:spPr>
        <p:txBody>
          <a:bodyPr wrap="square" rtlCol="0">
            <a:spAutoFit/>
          </a:bodyPr>
          <a:p>
            <a:pPr>
              <a:spcAft>
                <a:spcPts val="0"/>
              </a:spcAft>
            </a:pPr>
            <a:r>
              <a:rPr lang="zh-CN" altLang="en-US"/>
              <a:t>一般情况下，</a:t>
            </a:r>
            <a:r>
              <a:rPr lang="zh-CN" altLang="en-US">
                <a:solidFill>
                  <a:srgbClr val="FF0000"/>
                </a:solidFill>
              </a:rPr>
              <a:t>背景区域与图像边界的连通性要远大于前景区域与边界的连接程度</a:t>
            </a:r>
            <a:r>
              <a:rPr lang="zh-CN" altLang="en-US"/>
              <a:t>，所以可借助边界连通性确定背景。先对图像依据颜色进行分区，令</a:t>
            </a:r>
            <a:r>
              <a:rPr lang="en-US" altLang="zh-CN" i="1">
                <a:latin typeface="Times New Roman" panose="02020603050405020304" charset="0"/>
                <a:cs typeface="Times New Roman" panose="02020603050405020304" charset="0"/>
              </a:rPr>
              <a:t>R</a:t>
            </a:r>
            <a:r>
              <a:rPr lang="en-US" altLang="zh-CN" i="1" baseline="-25000">
                <a:latin typeface="Times New Roman" panose="02020603050405020304" charset="0"/>
                <a:cs typeface="Times New Roman" panose="02020603050405020304" charset="0"/>
              </a:rPr>
              <a:t>q</a:t>
            </a:r>
            <a:r>
              <a:rPr lang="zh-CN" altLang="en-US"/>
              <a:t>表示具有</a:t>
            </a:r>
            <a:r>
              <a:rPr lang="zh-CN" altLang="en-US">
                <a:solidFill>
                  <a:srgbClr val="FF0000"/>
                </a:solidFill>
              </a:rPr>
              <a:t>相同量化颜色的像素区域</a:t>
            </a:r>
            <a:r>
              <a:rPr lang="zh-CN" altLang="en-US"/>
              <a:t>，则</a:t>
            </a:r>
            <a:r>
              <a:rPr lang="en-US" altLang="zh-CN" i="1">
                <a:solidFill>
                  <a:srgbClr val="FF0000"/>
                </a:solidFill>
                <a:latin typeface="Times New Roman" panose="02020603050405020304" charset="0"/>
                <a:cs typeface="Times New Roman" panose="02020603050405020304" charset="0"/>
                <a:sym typeface="+mn-ea"/>
              </a:rPr>
              <a:t>R</a:t>
            </a:r>
            <a:r>
              <a:rPr lang="en-US" altLang="zh-CN" i="1" baseline="-25000">
                <a:solidFill>
                  <a:srgbClr val="FF0000"/>
                </a:solidFill>
                <a:latin typeface="Times New Roman" panose="02020603050405020304" charset="0"/>
                <a:cs typeface="Times New Roman" panose="02020603050405020304" charset="0"/>
                <a:sym typeface="+mn-ea"/>
              </a:rPr>
              <a:t>q</a:t>
            </a:r>
            <a:r>
              <a:rPr lang="zh-CN" altLang="en-US"/>
              <a:t>的边界连通性可按照下面公式计算：</a:t>
            </a:r>
            <a:endParaRPr lang="zh-CN" altLang="en-US"/>
          </a:p>
        </p:txBody>
      </p:sp>
      <p:graphicFrame>
        <p:nvGraphicFramePr>
          <p:cNvPr id="6" name="对象 5">
            <a:hlinkClick r:id="" action="ppaction://ole?verb="/>
          </p:cNvPr>
          <p:cNvGraphicFramePr>
            <a:graphicFrameLocks noChangeAspect="1"/>
          </p:cNvGraphicFramePr>
          <p:nvPr/>
        </p:nvGraphicFramePr>
        <p:xfrm>
          <a:off x="4532630" y="2654935"/>
          <a:ext cx="2397125" cy="1391285"/>
        </p:xfrm>
        <a:graphic>
          <a:graphicData uri="http://schemas.openxmlformats.org/presentationml/2006/ole">
            <mc:AlternateContent xmlns:mc="http://schemas.openxmlformats.org/markup-compatibility/2006">
              <mc:Choice xmlns:v="urn:schemas-microsoft-com:vml" Requires="v">
                <p:oleObj spid="_x0000_s1025" name="" r:id="rId3" imgW="1181100" imgH="685800" progId="Equation.KSEE3">
                  <p:embed/>
                </p:oleObj>
              </mc:Choice>
              <mc:Fallback>
                <p:oleObj name="" r:id="rId3" imgW="1181100" imgH="685800" progId="Equation.KSEE3">
                  <p:embed/>
                  <p:pic>
                    <p:nvPicPr>
                      <p:cNvPr id="0" name="图片 1024"/>
                      <p:cNvPicPr/>
                      <p:nvPr/>
                    </p:nvPicPr>
                    <p:blipFill>
                      <a:blip r:embed="rId4"/>
                      <a:stretch>
                        <a:fillRect/>
                      </a:stretch>
                    </p:blipFill>
                    <p:spPr>
                      <a:xfrm>
                        <a:off x="4532630" y="2654935"/>
                        <a:ext cx="2397125" cy="1391285"/>
                      </a:xfrm>
                      <a:prstGeom prst="rect">
                        <a:avLst/>
                      </a:prstGeom>
                    </p:spPr>
                  </p:pic>
                </p:oleObj>
              </mc:Fallback>
            </mc:AlternateContent>
          </a:graphicData>
        </a:graphic>
      </p:graphicFrame>
      <p:grpSp>
        <p:nvGrpSpPr>
          <p:cNvPr id="9" name="组合 8"/>
          <p:cNvGrpSpPr/>
          <p:nvPr/>
        </p:nvGrpSpPr>
        <p:grpSpPr>
          <a:xfrm>
            <a:off x="1071245" y="4169410"/>
            <a:ext cx="9320530" cy="457200"/>
            <a:chOff x="2753" y="6566"/>
            <a:chExt cx="14678" cy="720"/>
          </a:xfrm>
        </p:grpSpPr>
        <p:sp>
          <p:nvSpPr>
            <p:cNvPr id="7" name="文本框 6"/>
            <p:cNvSpPr txBox="1"/>
            <p:nvPr/>
          </p:nvSpPr>
          <p:spPr>
            <a:xfrm>
              <a:off x="2753" y="6706"/>
              <a:ext cx="14678" cy="580"/>
            </a:xfrm>
            <a:prstGeom prst="rect">
              <a:avLst/>
            </a:prstGeom>
            <a:noFill/>
          </p:spPr>
          <p:txBody>
            <a:bodyPr wrap="square" rtlCol="0">
              <a:spAutoFit/>
            </a:bodyPr>
            <a:p>
              <a:pPr>
                <a:spcAft>
                  <a:spcPts val="0"/>
                </a:spcAft>
              </a:pPr>
              <a:r>
                <a:rPr lang="zh-CN" altLang="en-US"/>
                <a:t>其中，</a:t>
              </a:r>
              <a:r>
                <a:rPr lang="en-US" altLang="zh-CN"/>
                <a:t>         </a:t>
              </a:r>
              <a:r>
                <a:rPr lang="zh-CN" altLang="en-US"/>
                <a:t>在像素</a:t>
              </a:r>
              <a:r>
                <a:rPr lang="en-US" altLang="zh-CN" i="1">
                  <a:latin typeface="Times New Roman" panose="02020603050405020304" charset="0"/>
                  <a:cs typeface="Times New Roman" panose="02020603050405020304" charset="0"/>
                </a:rPr>
                <a:t>j</a:t>
              </a:r>
              <a:r>
                <a:rPr lang="zh-CN" altLang="en-US"/>
                <a:t>是边界像素是为</a:t>
              </a:r>
              <a:r>
                <a:rPr lang="en-US" altLang="zh-CN"/>
                <a:t>1</a:t>
              </a:r>
              <a:r>
                <a:rPr lang="zh-CN" altLang="en-US"/>
                <a:t>，否则为</a:t>
              </a:r>
              <a:r>
                <a:rPr lang="en-US" altLang="zh-CN"/>
                <a:t>0</a:t>
              </a:r>
              <a:r>
                <a:rPr lang="zh-CN" altLang="en-US"/>
                <a:t>；</a:t>
              </a:r>
              <a:r>
                <a:rPr lang="en-US" altLang="zh-CN"/>
                <a:t>|</a:t>
              </a:r>
              <a:r>
                <a:rPr lang="en-US" altLang="zh-CN" i="1">
                  <a:latin typeface="Times New Roman" panose="02020603050405020304" charset="0"/>
                  <a:cs typeface="Times New Roman" panose="02020603050405020304" charset="0"/>
                  <a:sym typeface="+mn-ea"/>
                </a:rPr>
                <a:t>R</a:t>
              </a:r>
              <a:r>
                <a:rPr lang="en-US" altLang="zh-CN" i="1" baseline="-25000">
                  <a:latin typeface="Times New Roman" panose="02020603050405020304" charset="0"/>
                  <a:cs typeface="Times New Roman" panose="02020603050405020304" charset="0"/>
                  <a:sym typeface="+mn-ea"/>
                </a:rPr>
                <a:t>q</a:t>
              </a:r>
              <a:r>
                <a:rPr lang="en-US" altLang="zh-CN">
                  <a:latin typeface="Times New Roman" panose="02020603050405020304" charset="0"/>
                  <a:cs typeface="Times New Roman" panose="02020603050405020304" charset="0"/>
                  <a:sym typeface="+mn-ea"/>
                </a:rPr>
                <a:t>|</a:t>
              </a:r>
              <a:r>
                <a:rPr lang="zh-CN" altLang="en-US">
                  <a:latin typeface="Times New Roman" panose="02020603050405020304" charset="0"/>
                  <a:cs typeface="Times New Roman" panose="02020603050405020304" charset="0"/>
                  <a:sym typeface="+mn-ea"/>
                </a:rPr>
                <a:t>表示具有相同量化色彩</a:t>
              </a:r>
              <a:r>
                <a:rPr lang="en-US" altLang="zh-CN" i="1">
                  <a:latin typeface="Times New Roman" panose="02020603050405020304" charset="0"/>
                  <a:cs typeface="Times New Roman" panose="02020603050405020304" charset="0"/>
                  <a:sym typeface="+mn-ea"/>
                </a:rPr>
                <a:t>q</a:t>
              </a:r>
              <a:r>
                <a:rPr lang="zh-CN" altLang="en-US">
                  <a:latin typeface="Times New Roman" panose="02020603050405020304" charset="0"/>
                  <a:cs typeface="Times New Roman" panose="02020603050405020304" charset="0"/>
                  <a:sym typeface="+mn-ea"/>
                </a:rPr>
                <a:t>的像素个数。</a:t>
              </a:r>
              <a:endParaRPr lang="zh-CN" altLang="en-US">
                <a:latin typeface="Times New Roman" panose="02020603050405020304" charset="0"/>
                <a:cs typeface="Times New Roman" panose="02020603050405020304" charset="0"/>
                <a:sym typeface="+mn-ea"/>
              </a:endParaRPr>
            </a:p>
          </p:txBody>
        </p:sp>
        <p:pic>
          <p:nvPicPr>
            <p:cNvPr id="8" name="图片 7"/>
            <p:cNvPicPr>
              <a:picLocks noChangeAspect="1"/>
            </p:cNvPicPr>
            <p:nvPr>
              <p:custDataLst>
                <p:tags r:id="rId5"/>
              </p:custDataLst>
            </p:nvPr>
          </p:nvPicPr>
          <p:blipFill>
            <a:blip r:embed="rId6"/>
            <a:stretch>
              <a:fillRect/>
            </a:stretch>
          </p:blipFill>
          <p:spPr>
            <a:xfrm>
              <a:off x="3856" y="6566"/>
              <a:ext cx="1020" cy="720"/>
            </a:xfrm>
            <a:prstGeom prst="rect">
              <a:avLst/>
            </a:prstGeom>
          </p:spPr>
        </p:pic>
      </p:grpSp>
      <p:sp>
        <p:nvSpPr>
          <p:cNvPr id="10" name="文本框 9"/>
          <p:cNvSpPr txBox="1"/>
          <p:nvPr>
            <p:custDataLst>
              <p:tags r:id="rId7"/>
            </p:custDataLst>
          </p:nvPr>
        </p:nvSpPr>
        <p:spPr>
          <a:xfrm>
            <a:off x="1071245" y="4677410"/>
            <a:ext cx="4064000" cy="368300"/>
          </a:xfrm>
          <a:prstGeom prst="rect">
            <a:avLst/>
          </a:prstGeom>
          <a:noFill/>
        </p:spPr>
        <p:txBody>
          <a:bodyPr wrap="square" rtlCol="0">
            <a:spAutoFit/>
          </a:bodyPr>
          <a:p>
            <a:pPr>
              <a:spcAft>
                <a:spcPts val="0"/>
              </a:spcAft>
            </a:pPr>
            <a:r>
              <a:rPr lang="zh-CN" altLang="en-US"/>
              <a:t>用边界连通性加权的</a:t>
            </a:r>
            <a:r>
              <a:rPr lang="en-US" altLang="zh-CN" i="1">
                <a:latin typeface="Times New Roman" panose="02020603050405020304" charset="0"/>
                <a:cs typeface="Times New Roman" panose="02020603050405020304" charset="0"/>
                <a:sym typeface="+mn-ea"/>
              </a:rPr>
              <a:t>R</a:t>
            </a:r>
            <a:r>
              <a:rPr lang="en-US" altLang="zh-CN" i="1" baseline="-25000">
                <a:latin typeface="Times New Roman" panose="02020603050405020304" charset="0"/>
                <a:cs typeface="Times New Roman" panose="02020603050405020304" charset="0"/>
                <a:sym typeface="+mn-ea"/>
              </a:rPr>
              <a:t>q</a:t>
            </a:r>
            <a:r>
              <a:rPr lang="zh-CN" altLang="en-US"/>
              <a:t>的平局显著性为：</a:t>
            </a:r>
            <a:endParaRPr lang="zh-CN" altLang="en-US"/>
          </a:p>
        </p:txBody>
      </p:sp>
      <p:graphicFrame>
        <p:nvGraphicFramePr>
          <p:cNvPr id="11" name="对象 10">
            <a:hlinkClick r:id="" action="ppaction://ole?verb="/>
          </p:cNvPr>
          <p:cNvGraphicFramePr>
            <a:graphicFrameLocks noChangeAspect="1"/>
          </p:cNvGraphicFramePr>
          <p:nvPr/>
        </p:nvGraphicFramePr>
        <p:xfrm>
          <a:off x="5311140" y="4754880"/>
          <a:ext cx="5750560" cy="628650"/>
        </p:xfrm>
        <a:graphic>
          <a:graphicData uri="http://schemas.openxmlformats.org/presentationml/2006/ole">
            <mc:AlternateContent xmlns:mc="http://schemas.openxmlformats.org/markup-compatibility/2006">
              <mc:Choice xmlns:v="urn:schemas-microsoft-com:vml" Requires="v">
                <p:oleObj spid="_x0000_s1026" name="" r:id="rId8" imgW="3136900" imgH="342900" progId="Equation.KSEE3">
                  <p:embed/>
                </p:oleObj>
              </mc:Choice>
              <mc:Fallback>
                <p:oleObj name="" r:id="rId8" imgW="3136900" imgH="342900" progId="Equation.KSEE3">
                  <p:embed/>
                  <p:pic>
                    <p:nvPicPr>
                      <p:cNvPr id="0" name="图片 1025"/>
                      <p:cNvPicPr/>
                      <p:nvPr/>
                    </p:nvPicPr>
                    <p:blipFill>
                      <a:blip r:embed="rId9"/>
                      <a:stretch>
                        <a:fillRect/>
                      </a:stretch>
                    </p:blipFill>
                    <p:spPr>
                      <a:xfrm>
                        <a:off x="5311140" y="4754880"/>
                        <a:ext cx="5750560" cy="628650"/>
                      </a:xfrm>
                      <a:prstGeom prst="rect">
                        <a:avLst/>
                      </a:prstGeom>
                    </p:spPr>
                  </p:pic>
                </p:oleObj>
              </mc:Fallback>
            </mc:AlternateContent>
          </a:graphicData>
        </a:graphic>
      </p:graphicFrame>
      <p:sp>
        <p:nvSpPr>
          <p:cNvPr id="12" name="文本框 11"/>
          <p:cNvSpPr txBox="1"/>
          <p:nvPr/>
        </p:nvSpPr>
        <p:spPr>
          <a:xfrm>
            <a:off x="1127125" y="5326380"/>
            <a:ext cx="9744075" cy="368300"/>
          </a:xfrm>
          <a:prstGeom prst="rect">
            <a:avLst/>
          </a:prstGeom>
          <a:noFill/>
        </p:spPr>
        <p:txBody>
          <a:bodyPr wrap="square" rtlCol="0">
            <a:spAutoFit/>
          </a:bodyPr>
          <a:p>
            <a:pPr>
              <a:spcAft>
                <a:spcPts val="0"/>
              </a:spcAft>
            </a:pPr>
            <a:r>
              <a:rPr lang="zh-CN" altLang="en-US"/>
              <a:t>其中</a:t>
            </a:r>
            <a:r>
              <a:rPr lang="en-US" altLang="zh-CN" i="1">
                <a:latin typeface="Times New Roman" panose="02020603050405020304" charset="0"/>
                <a:cs typeface="Times New Roman" panose="02020603050405020304" charset="0"/>
              </a:rPr>
              <a:t>W</a:t>
            </a:r>
            <a:r>
              <a:rPr lang="zh-CN" altLang="en-US"/>
              <a:t>是控制边界连接的权重。最终的平滑显著性是平均显著性和初始显著性的组合</a:t>
            </a:r>
            <a:endParaRPr lang="zh-CN" altLang="en-US"/>
          </a:p>
        </p:txBody>
      </p:sp>
      <p:graphicFrame>
        <p:nvGraphicFramePr>
          <p:cNvPr id="13" name="对象 12">
            <a:hlinkClick r:id="" action="ppaction://ole?verb="/>
          </p:cNvPr>
          <p:cNvGraphicFramePr>
            <a:graphicFrameLocks noChangeAspect="1"/>
          </p:cNvGraphicFramePr>
          <p:nvPr/>
        </p:nvGraphicFramePr>
        <p:xfrm>
          <a:off x="4046855" y="5809615"/>
          <a:ext cx="3163570" cy="705485"/>
        </p:xfrm>
        <a:graphic>
          <a:graphicData uri="http://schemas.openxmlformats.org/presentationml/2006/ole">
            <mc:AlternateContent xmlns:mc="http://schemas.openxmlformats.org/markup-compatibility/2006">
              <mc:Choice xmlns:v="urn:schemas-microsoft-com:vml" Requires="v">
                <p:oleObj spid="_x0000_s1027" name="" r:id="rId10" imgW="1879600" imgH="419100" progId="Equation.KSEE3">
                  <p:embed/>
                </p:oleObj>
              </mc:Choice>
              <mc:Fallback>
                <p:oleObj name="" r:id="rId10" imgW="1879600" imgH="419100" progId="Equation.KSEE3">
                  <p:embed/>
                  <p:pic>
                    <p:nvPicPr>
                      <p:cNvPr id="0" name="图片 1026"/>
                      <p:cNvPicPr/>
                      <p:nvPr/>
                    </p:nvPicPr>
                    <p:blipFill>
                      <a:blip r:embed="rId11"/>
                      <a:stretch>
                        <a:fillRect/>
                      </a:stretch>
                    </p:blipFill>
                    <p:spPr>
                      <a:xfrm>
                        <a:off x="4046855" y="5809615"/>
                        <a:ext cx="3163570" cy="705485"/>
                      </a:xfrm>
                      <a:prstGeom prst="rect">
                        <a:avLst/>
                      </a:prstGeom>
                    </p:spPr>
                  </p:pic>
                </p:oleObj>
              </mc:Fallback>
            </mc:AlternateContent>
          </a:graphicData>
        </a:graphic>
      </p:graphicFrame>
      <p:cxnSp>
        <p:nvCxnSpPr>
          <p:cNvPr id="2" name="直接箭头连接符 1"/>
          <p:cNvCxnSpPr/>
          <p:nvPr/>
        </p:nvCxnSpPr>
        <p:spPr>
          <a:xfrm>
            <a:off x="8364220" y="5227320"/>
            <a:ext cx="810260" cy="7543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8797925" y="5989320"/>
            <a:ext cx="2204720" cy="645160"/>
          </a:xfrm>
          <a:prstGeom prst="rect">
            <a:avLst/>
          </a:prstGeom>
          <a:noFill/>
        </p:spPr>
        <p:txBody>
          <a:bodyPr wrap="square" rtlCol="0">
            <a:spAutoFit/>
          </a:bodyPr>
          <a:p>
            <a:pPr>
              <a:spcAft>
                <a:spcPts val="0"/>
              </a:spcAft>
            </a:pPr>
            <a:r>
              <a:rPr lang="zh-CN" altLang="en-US"/>
              <a:t>已获得的像素</a:t>
            </a:r>
            <a:r>
              <a:rPr lang="en-US" altLang="zh-CN"/>
              <a:t> </a:t>
            </a:r>
            <a:r>
              <a:rPr lang="en-US" altLang="zh-CN" i="1">
                <a:latin typeface="Times New Roman" panose="02020603050405020304" charset="0"/>
                <a:cs typeface="Times New Roman" panose="02020603050405020304" charset="0"/>
              </a:rPr>
              <a:t>j</a:t>
            </a:r>
            <a:r>
              <a:rPr lang="en-US" altLang="zh-CN"/>
              <a:t> </a:t>
            </a:r>
            <a:r>
              <a:rPr lang="zh-CN" altLang="en-US"/>
              <a:t>的最小方向对比度</a:t>
            </a:r>
            <a:endParaRPr lang="zh-CN"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5" name="矩形 29286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2866" name="矩形 292866"/>
          <p:cNvSpPr/>
          <p:nvPr/>
        </p:nvSpPr>
        <p:spPr>
          <a:xfrm>
            <a:off x="1071245" y="1871980"/>
            <a:ext cx="10403205" cy="1753235"/>
          </a:xfrm>
          <a:prstGeom prst="rect">
            <a:avLst/>
          </a:prstGeom>
          <a:noFill/>
          <a:ln w="9525">
            <a:noFill/>
          </a:ln>
        </p:spPr>
        <p:txBody>
          <a:bodyPr wrap="square" anchor="t" anchorCtr="0">
            <a:spAutoFit/>
          </a:bodyPr>
          <a:p>
            <a:pPr algn="just" defTabSz="719455">
              <a:lnSpc>
                <a:spcPct val="150000"/>
              </a:lnSpc>
              <a:spcAft>
                <a:spcPts val="0"/>
              </a:spcAft>
            </a:pPr>
            <a:r>
              <a:rPr lang="zh-CN" altLang="en-US">
                <a:latin typeface="Times New Roman" panose="02020603050405020304" charset="0"/>
                <a:ea typeface="微软雅黑" panose="020B0503020204020204" charset="-122"/>
                <a:cs typeface="Times New Roman" panose="02020603050405020304" charset="0"/>
              </a:rPr>
              <a:t>增加前景和背景区域之间的对比度，使用基于标记的</a:t>
            </a:r>
            <a:r>
              <a:rPr lang="zh-CN" altLang="en-US">
                <a:solidFill>
                  <a:srgbClr val="FF0000"/>
                </a:solidFill>
                <a:latin typeface="Times New Roman" panose="02020603050405020304" charset="0"/>
                <a:ea typeface="微软雅黑" panose="020B0503020204020204" charset="-122"/>
                <a:cs typeface="Times New Roman" panose="02020603050405020304" charset="0"/>
              </a:rPr>
              <a:t>分水岭算法</a:t>
            </a:r>
            <a:r>
              <a:rPr lang="zh-CN" altLang="en-US">
                <a:latin typeface="Times New Roman" panose="02020603050405020304" charset="0"/>
                <a:ea typeface="微软雅黑" panose="020B0503020204020204" charset="-122"/>
                <a:cs typeface="Times New Roman" panose="02020603050405020304" charset="0"/>
              </a:rPr>
              <a:t>增强显著性，首先确定二值化阈值</a:t>
            </a:r>
            <a:r>
              <a:rPr lang="en-US" altLang="zh-CN" i="1">
                <a:latin typeface="Times New Roman" panose="02020603050405020304" charset="0"/>
                <a:ea typeface="微软雅黑" panose="020B0503020204020204" charset="-122"/>
                <a:cs typeface="Times New Roman" panose="02020603050405020304" charset="0"/>
              </a:rPr>
              <a:t>T</a:t>
            </a:r>
            <a:r>
              <a:rPr lang="zh-CN" altLang="en-US">
                <a:latin typeface="Times New Roman" panose="02020603050405020304" charset="0"/>
                <a:ea typeface="微软雅黑" panose="020B0503020204020204" charset="-122"/>
                <a:cs typeface="Times New Roman" panose="02020603050405020304" charset="0"/>
              </a:rPr>
              <a:t>，对平滑后的显著性图像</a:t>
            </a:r>
            <a:r>
              <a:rPr lang="en-US" altLang="zh-CN" i="1">
                <a:latin typeface="Times New Roman" panose="02020603050405020304" charset="0"/>
                <a:ea typeface="微软雅黑" panose="020B0503020204020204" charset="-122"/>
                <a:cs typeface="Times New Roman" panose="02020603050405020304" charset="0"/>
              </a:rPr>
              <a:t>S</a:t>
            </a:r>
            <a:r>
              <a:rPr lang="en-US" altLang="zh-CN" i="1" baseline="-25000">
                <a:latin typeface="Times New Roman" panose="02020603050405020304" charset="0"/>
                <a:ea typeface="微软雅黑" panose="020B0503020204020204" charset="-122"/>
                <a:cs typeface="Times New Roman" panose="02020603050405020304" charset="0"/>
              </a:rPr>
              <a:t>smooth</a:t>
            </a:r>
            <a:r>
              <a:rPr lang="zh-CN" altLang="en-US">
                <a:latin typeface="Times New Roman" panose="02020603050405020304" charset="0"/>
                <a:ea typeface="微软雅黑" panose="020B0503020204020204" charset="-122"/>
                <a:cs typeface="Times New Roman" panose="02020603050405020304" charset="0"/>
              </a:rPr>
              <a:t>进行分割，然后使用可靠的条件讲一些像素标记为前景</a:t>
            </a:r>
            <a:r>
              <a:rPr lang="en-US" altLang="zh-CN">
                <a:latin typeface="Times New Roman" panose="02020603050405020304" charset="0"/>
                <a:ea typeface="微软雅黑" panose="020B0503020204020204" charset="-122"/>
                <a:cs typeface="Times New Roman" panose="02020603050405020304" charset="0"/>
              </a:rPr>
              <a:t>(</a:t>
            </a:r>
            <a:r>
              <a:rPr lang="en-US" altLang="zh-CN" i="1">
                <a:latin typeface="Times New Roman" panose="02020603050405020304" charset="0"/>
                <a:ea typeface="微软雅黑" panose="020B0503020204020204" charset="-122"/>
                <a:cs typeface="Times New Roman" panose="02020603050405020304" charset="0"/>
              </a:rPr>
              <a:t>F</a:t>
            </a:r>
            <a:r>
              <a:rPr lang="en-US" altLang="zh-CN">
                <a:latin typeface="Times New Roman" panose="02020603050405020304" charset="0"/>
                <a:ea typeface="微软雅黑" panose="020B0503020204020204" charset="-122"/>
                <a:cs typeface="Times New Roman" panose="02020603050405020304" charset="0"/>
              </a:rPr>
              <a:t>)</a:t>
            </a:r>
            <a:r>
              <a:rPr lang="zh-CN" altLang="en-US">
                <a:latin typeface="Times New Roman" panose="02020603050405020304" charset="0"/>
                <a:ea typeface="微软雅黑" panose="020B0503020204020204" charset="-122"/>
                <a:cs typeface="Times New Roman" panose="02020603050405020304" charset="0"/>
              </a:rPr>
              <a:t>或背景</a:t>
            </a:r>
            <a:r>
              <a:rPr lang="en-US" altLang="zh-CN">
                <a:latin typeface="Times New Roman" panose="02020603050405020304" charset="0"/>
                <a:ea typeface="微软雅黑" panose="020B0503020204020204" charset="-122"/>
                <a:cs typeface="Times New Roman" panose="02020603050405020304" charset="0"/>
              </a:rPr>
              <a:t>(</a:t>
            </a:r>
            <a:r>
              <a:rPr lang="en-US" altLang="zh-CN" i="1">
                <a:latin typeface="Times New Roman" panose="02020603050405020304" charset="0"/>
                <a:ea typeface="微软雅黑" panose="020B0503020204020204" charset="-122"/>
                <a:cs typeface="Times New Roman" panose="02020603050405020304" charset="0"/>
              </a:rPr>
              <a:t>B</a:t>
            </a:r>
            <a:r>
              <a:rPr lang="en-US" altLang="zh-CN">
                <a:latin typeface="Times New Roman" panose="02020603050405020304" charset="0"/>
                <a:ea typeface="微软雅黑" panose="020B0503020204020204" charset="-122"/>
                <a:cs typeface="Times New Roman" panose="02020603050405020304" charset="0"/>
              </a:rPr>
              <a:t>)</a:t>
            </a:r>
            <a:r>
              <a:rPr lang="zh-CN" altLang="en-US">
                <a:latin typeface="Times New Roman" panose="02020603050405020304" charset="0"/>
                <a:ea typeface="微软雅黑" panose="020B0503020204020204" charset="-122"/>
                <a:cs typeface="Times New Roman" panose="02020603050405020304" charset="0"/>
              </a:rPr>
              <a:t>，其它像素标记为</a:t>
            </a:r>
            <a:r>
              <a:rPr lang="en-US" altLang="zh-CN">
                <a:latin typeface="Times New Roman" panose="02020603050405020304" charset="0"/>
                <a:ea typeface="微软雅黑" panose="020B0503020204020204" charset="-122"/>
                <a:cs typeface="Times New Roman" panose="02020603050405020304" charset="0"/>
              </a:rPr>
              <a:t>(</a:t>
            </a:r>
            <a:r>
              <a:rPr lang="en-US" altLang="zh-CN" i="1">
                <a:latin typeface="Times New Roman" panose="02020603050405020304" charset="0"/>
                <a:ea typeface="微软雅黑" panose="020B0503020204020204" charset="-122"/>
                <a:cs typeface="Times New Roman" panose="02020603050405020304" charset="0"/>
              </a:rPr>
              <a:t>U</a:t>
            </a:r>
            <a:r>
              <a:rPr lang="en-US" altLang="zh-CN">
                <a:latin typeface="Times New Roman" panose="02020603050405020304" charset="0"/>
                <a:ea typeface="微软雅黑" panose="020B0503020204020204" charset="-122"/>
                <a:cs typeface="Times New Roman" panose="02020603050405020304" charset="0"/>
              </a:rPr>
              <a:t>)</a:t>
            </a:r>
            <a:r>
              <a:rPr lang="zh-CN" altLang="en-US">
                <a:latin typeface="Times New Roman" panose="02020603050405020304" charset="0"/>
                <a:ea typeface="微软雅黑" panose="020B0503020204020204" charset="-122"/>
                <a:cs typeface="Times New Roman" panose="02020603050405020304" charset="0"/>
              </a:rPr>
              <a:t>，其中</a:t>
            </a:r>
            <a:r>
              <a:rPr lang="en-US" altLang="zh-CN" i="1">
                <a:latin typeface="Times New Roman" panose="02020603050405020304" charset="0"/>
                <a:ea typeface="微软雅黑" panose="020B0503020204020204" charset="-122"/>
                <a:cs typeface="Times New Roman" panose="02020603050405020304" charset="0"/>
              </a:rPr>
              <a:t>P</a:t>
            </a:r>
            <a:r>
              <a:rPr lang="zh-CN" altLang="en-US">
                <a:latin typeface="Times New Roman" panose="02020603050405020304" charset="0"/>
                <a:ea typeface="微软雅黑" panose="020B0503020204020204" charset="-122"/>
                <a:cs typeface="Times New Roman" panose="02020603050405020304" charset="0"/>
              </a:rPr>
              <a:t>是控制初始标记区域的参数：</a:t>
            </a:r>
            <a:endParaRPr lang="zh-CN" altLang="en-US">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a:latin typeface="Times New Roman" panose="02020603050405020304" charset="0"/>
              <a:ea typeface="微软雅黑" panose="020B0503020204020204" charset="-122"/>
              <a:cs typeface="Times New Roman" panose="02020603050405020304" charset="0"/>
            </a:endParaRPr>
          </a:p>
        </p:txBody>
      </p:sp>
      <p:sp>
        <p:nvSpPr>
          <p:cNvPr id="292867" name="矩形 29286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显著性增强</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4251960" y="3488690"/>
          <a:ext cx="3504565" cy="1242695"/>
        </p:xfrm>
        <a:graphic>
          <a:graphicData uri="http://schemas.openxmlformats.org/presentationml/2006/ole">
            <mc:AlternateContent xmlns:mc="http://schemas.openxmlformats.org/markup-compatibility/2006">
              <mc:Choice xmlns:v="urn:schemas-microsoft-com:vml" Requires="v">
                <p:oleObj spid="_x0000_s2049" name="" r:id="rId1" imgW="2005965" imgH="711200" progId="Equation.KSEE3">
                  <p:embed/>
                </p:oleObj>
              </mc:Choice>
              <mc:Fallback>
                <p:oleObj name="" r:id="rId1" imgW="2005965" imgH="711200" progId="Equation.KSEE3">
                  <p:embed/>
                  <p:pic>
                    <p:nvPicPr>
                      <p:cNvPr id="0" name="图片 2048"/>
                      <p:cNvPicPr/>
                      <p:nvPr/>
                    </p:nvPicPr>
                    <p:blipFill>
                      <a:blip r:embed="rId2"/>
                      <a:stretch>
                        <a:fillRect/>
                      </a:stretch>
                    </p:blipFill>
                    <p:spPr>
                      <a:xfrm>
                        <a:off x="4251960" y="3488690"/>
                        <a:ext cx="3504565" cy="124269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5" name="矩形 29286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2866" name="矩形 292866"/>
          <p:cNvSpPr/>
          <p:nvPr/>
        </p:nvSpPr>
        <p:spPr>
          <a:xfrm>
            <a:off x="774065" y="1871980"/>
            <a:ext cx="10026015" cy="506730"/>
          </a:xfrm>
          <a:prstGeom prst="rect">
            <a:avLst/>
          </a:prstGeom>
          <a:noFill/>
          <a:ln w="9525">
            <a:noFill/>
          </a:ln>
        </p:spPr>
        <p:txBody>
          <a:bodyPr wrap="square" anchor="t" anchorCtr="0">
            <a:spAutoFit/>
          </a:bodyPr>
          <a:p>
            <a:pPr algn="just" defTabSz="719455">
              <a:lnSpc>
                <a:spcPct val="150000"/>
              </a:lnSpc>
              <a:spcBef>
                <a:spcPts val="0"/>
              </a:spcBef>
              <a:spcAft>
                <a:spcPts val="0"/>
              </a:spcAft>
            </a:pPr>
            <a:r>
              <a:rPr lang="zh-CN" altLang="en-US">
                <a:latin typeface="微软雅黑" panose="020B0503020204020204" charset="-122"/>
                <a:ea typeface="微软雅黑" panose="020B0503020204020204" charset="-122"/>
                <a:sym typeface="+mn-ea"/>
              </a:rPr>
              <a:t>如图</a:t>
            </a:r>
            <a:r>
              <a:rPr lang="en-US" altLang="zh-CN">
                <a:latin typeface="微软雅黑" panose="020B0503020204020204" charset="-122"/>
                <a:ea typeface="微软雅黑" panose="020B0503020204020204" charset="-122"/>
                <a:sym typeface="+mn-ea"/>
              </a:rPr>
              <a:t>b</a:t>
            </a:r>
            <a:r>
              <a:rPr lang="zh-CN" altLang="en-US">
                <a:latin typeface="微软雅黑" panose="020B0503020204020204" charset="-122"/>
                <a:ea typeface="微软雅黑" panose="020B0503020204020204" charset="-122"/>
                <a:sym typeface="+mn-ea"/>
              </a:rPr>
              <a:t>所示，前景像素为红色、背景像素为绿色，部分像素没有被标记，调整</a:t>
            </a:r>
            <a:r>
              <a:rPr lang="en-US" altLang="zh-CN" i="1">
                <a:latin typeface="微软雅黑" panose="020B0503020204020204" charset="-122"/>
                <a:ea typeface="微软雅黑" panose="020B0503020204020204" charset="-122"/>
                <a:sym typeface="+mn-ea"/>
              </a:rPr>
              <a:t>P </a:t>
            </a:r>
            <a:r>
              <a:rPr lang="zh-CN" altLang="en-US">
                <a:latin typeface="微软雅黑" panose="020B0503020204020204" charset="-122"/>
                <a:ea typeface="微软雅黑" panose="020B0503020204020204" charset="-122"/>
                <a:sym typeface="+mn-ea"/>
              </a:rPr>
              <a:t>来调整标记区域。</a:t>
            </a:r>
            <a:endParaRPr lang="zh-CN" altLang="en-US">
              <a:latin typeface="微软雅黑" panose="020B0503020204020204" charset="-122"/>
              <a:ea typeface="微软雅黑" panose="020B0503020204020204" charset="-122"/>
            </a:endParaRPr>
          </a:p>
        </p:txBody>
      </p:sp>
      <p:sp>
        <p:nvSpPr>
          <p:cNvPr id="292867" name="矩形 29286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显著性增强</a:t>
            </a:r>
            <a:endParaRPr lang="zh-CN" altLang="en-US" sz="2400" b="1">
              <a:latin typeface="微软雅黑" panose="020B0503020204020204" charset="-122"/>
              <a:ea typeface="微软雅黑" panose="020B0503020204020204" charset="-122"/>
            </a:endParaRPr>
          </a:p>
        </p:txBody>
      </p:sp>
      <p:grpSp>
        <p:nvGrpSpPr>
          <p:cNvPr id="2" name="组合 1"/>
          <p:cNvGrpSpPr/>
          <p:nvPr/>
        </p:nvGrpSpPr>
        <p:grpSpPr>
          <a:xfrm>
            <a:off x="1805305" y="2926080"/>
            <a:ext cx="8496300" cy="2520950"/>
            <a:chOff x="4253" y="5895"/>
            <a:chExt cx="13380" cy="3970"/>
          </a:xfrm>
        </p:grpSpPr>
        <p:sp>
          <p:nvSpPr>
            <p:cNvPr id="292868" name="矩形 292868"/>
            <p:cNvSpPr/>
            <p:nvPr/>
          </p:nvSpPr>
          <p:spPr>
            <a:xfrm>
              <a:off x="11235" y="5895"/>
              <a:ext cx="2688" cy="628"/>
            </a:xfrm>
            <a:prstGeom prst="rect">
              <a:avLst/>
            </a:prstGeom>
            <a:noFill/>
            <a:ln w="9525">
              <a:noFill/>
            </a:ln>
          </p:spPr>
          <p:txBody>
            <a:bodyPr wrap="none" anchor="t" anchorCtr="0">
              <a:spAutoFit/>
            </a:bodyPr>
            <a:p>
              <a:pPr algn="ctr">
                <a:spcAft>
                  <a:spcPts val="0"/>
                </a:spcAft>
              </a:pPr>
              <a:r>
                <a:rPr lang="zh-CN" altLang="en-US" sz="2000">
                  <a:latin typeface="微软雅黑" panose="020B0503020204020204" charset="-122"/>
                  <a:ea typeface="微软雅黑" panose="020B0503020204020204" charset="-122"/>
                </a:rPr>
                <a:t>最终标记区域</a:t>
              </a:r>
              <a:endParaRPr lang="zh-CN" altLang="en-US" sz="2000">
                <a:latin typeface="微软雅黑" panose="020B0503020204020204" charset="-122"/>
                <a:ea typeface="微软雅黑" panose="020B0503020204020204" charset="-122"/>
              </a:endParaRPr>
            </a:p>
          </p:txBody>
        </p:sp>
        <p:sp>
          <p:nvSpPr>
            <p:cNvPr id="292869" name="矩形 292869"/>
            <p:cNvSpPr/>
            <p:nvPr/>
          </p:nvSpPr>
          <p:spPr>
            <a:xfrm>
              <a:off x="7776" y="5895"/>
              <a:ext cx="2688" cy="628"/>
            </a:xfrm>
            <a:prstGeom prst="rect">
              <a:avLst/>
            </a:prstGeom>
            <a:noFill/>
            <a:ln w="9525">
              <a:noFill/>
            </a:ln>
          </p:spPr>
          <p:txBody>
            <a:bodyPr wrap="none" anchor="t" anchorCtr="0">
              <a:spAutoFit/>
            </a:bodyPr>
            <a:p>
              <a:pPr algn="ctr">
                <a:spcAft>
                  <a:spcPts val="0"/>
                </a:spcAft>
              </a:pPr>
              <a:r>
                <a:rPr lang="zh-CN" altLang="en-US" sz="2000">
                  <a:latin typeface="微软雅黑" panose="020B0503020204020204" charset="-122"/>
                  <a:ea typeface="微软雅黑" panose="020B0503020204020204" charset="-122"/>
                </a:rPr>
                <a:t>初始标记区域</a:t>
              </a:r>
              <a:endParaRPr lang="zh-CN" altLang="en-US" sz="2000">
                <a:latin typeface="微软雅黑" panose="020B0503020204020204" charset="-122"/>
                <a:ea typeface="微软雅黑" panose="020B0503020204020204" charset="-122"/>
              </a:endParaRPr>
            </a:p>
          </p:txBody>
        </p:sp>
        <p:sp>
          <p:nvSpPr>
            <p:cNvPr id="292870" name="矩形 292870"/>
            <p:cNvSpPr/>
            <p:nvPr/>
          </p:nvSpPr>
          <p:spPr>
            <a:xfrm>
              <a:off x="4875" y="5895"/>
              <a:ext cx="18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平滑结果</a:t>
              </a:r>
              <a:endParaRPr lang="zh-CN" altLang="en-US" sz="2000">
                <a:latin typeface="微软雅黑" panose="020B0503020204020204" charset="-122"/>
                <a:ea typeface="微软雅黑" panose="020B0503020204020204" charset="-122"/>
              </a:endParaRPr>
            </a:p>
          </p:txBody>
        </p:sp>
        <p:sp>
          <p:nvSpPr>
            <p:cNvPr id="292871" name="矩形 292871"/>
            <p:cNvSpPr/>
            <p:nvPr/>
          </p:nvSpPr>
          <p:spPr>
            <a:xfrm>
              <a:off x="15365" y="5895"/>
              <a:ext cx="1088" cy="628"/>
            </a:xfrm>
            <a:prstGeom prst="rect">
              <a:avLst/>
            </a:prstGeom>
            <a:noFill/>
            <a:ln w="9525">
              <a:noFill/>
            </a:ln>
          </p:spPr>
          <p:txBody>
            <a:bodyPr wrap="none" anchor="t" anchorCtr="0">
              <a:spAutoFit/>
            </a:bodyPr>
            <a:p>
              <a:pPr>
                <a:spcAft>
                  <a:spcPts val="0"/>
                </a:spcAft>
              </a:pPr>
              <a:r>
                <a:rPr lang="zh-CN" altLang="en-US" sz="2000">
                  <a:latin typeface="微软雅黑" panose="020B0503020204020204" charset="-122"/>
                  <a:ea typeface="微软雅黑" panose="020B0503020204020204" charset="-122"/>
                </a:rPr>
                <a:t>真值</a:t>
              </a:r>
              <a:endParaRPr lang="zh-CN" altLang="en-US" sz="2000">
                <a:latin typeface="微软雅黑" panose="020B0503020204020204" charset="-122"/>
                <a:ea typeface="微软雅黑" panose="020B0503020204020204" charset="-122"/>
              </a:endParaRPr>
            </a:p>
          </p:txBody>
        </p:sp>
        <p:pic>
          <p:nvPicPr>
            <p:cNvPr id="292872" name="图片 292872" descr="C:/Users/Administrator/AppData/Roaming/Yozo_Office/Temp/fc/968467201615187995629/计算机视觉教程（第3版）PPT第04章.pptx/ppt/media/image21.emf"/>
            <p:cNvPicPr/>
            <p:nvPr/>
          </p:nvPicPr>
          <p:blipFill>
            <a:blip r:embed="rId1"/>
            <a:stretch>
              <a:fillRect/>
            </a:stretch>
          </p:blipFill>
          <p:spPr>
            <a:xfrm>
              <a:off x="4253" y="6578"/>
              <a:ext cx="13380" cy="3287"/>
            </a:xfrm>
            <a:prstGeom prst="rect">
              <a:avLst/>
            </a:prstGeom>
            <a:noFill/>
            <a:ln w="9525">
              <a:noFill/>
            </a:ln>
          </p:spPr>
        </p:pic>
      </p:gr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5" name="矩形 292865"/>
          <p:cNvSpPr/>
          <p:nvPr/>
        </p:nvSpPr>
        <p:spPr>
          <a:xfrm>
            <a:off x="1511300" y="323850"/>
            <a:ext cx="396081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3.2  </a:t>
            </a:r>
            <a:r>
              <a:rPr lang="zh-CN" altLang="en-US" sz="2800" b="1">
                <a:latin typeface="微软雅黑" panose="020B0503020204020204" charset="-122"/>
                <a:ea typeface="微软雅黑" panose="020B0503020204020204" charset="-122"/>
              </a:rPr>
              <a:t>基于对比度的检测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2866" name="矩形 292866"/>
          <p:cNvSpPr/>
          <p:nvPr/>
        </p:nvSpPr>
        <p:spPr>
          <a:xfrm>
            <a:off x="774065" y="1871980"/>
            <a:ext cx="10026015" cy="506730"/>
          </a:xfrm>
          <a:prstGeom prst="rect">
            <a:avLst/>
          </a:prstGeom>
          <a:noFill/>
          <a:ln w="9525">
            <a:noFill/>
          </a:ln>
        </p:spPr>
        <p:txBody>
          <a:bodyPr wrap="square" anchor="t" anchorCtr="0">
            <a:spAutoFit/>
          </a:bodyPr>
          <a:p>
            <a:pPr algn="just" defTabSz="719455">
              <a:lnSpc>
                <a:spcPct val="150000"/>
              </a:lnSpc>
              <a:spcBef>
                <a:spcPts val="0"/>
              </a:spcBef>
              <a:spcAft>
                <a:spcPts val="0"/>
              </a:spcAft>
            </a:pPr>
            <a:r>
              <a:rPr lang="zh-CN" altLang="en-US">
                <a:latin typeface="微软雅黑" panose="020B0503020204020204" charset="-122"/>
                <a:ea typeface="微软雅黑" panose="020B0503020204020204" charset="-122"/>
                <a:sym typeface="+mn-ea"/>
              </a:rPr>
              <a:t>如图</a:t>
            </a:r>
            <a:r>
              <a:rPr lang="en-US" altLang="zh-CN">
                <a:latin typeface="微软雅黑" panose="020B0503020204020204" charset="-122"/>
                <a:ea typeface="微软雅黑" panose="020B0503020204020204" charset="-122"/>
                <a:sym typeface="+mn-ea"/>
              </a:rPr>
              <a:t>b</a:t>
            </a:r>
            <a:r>
              <a:rPr lang="zh-CN" altLang="en-US">
                <a:latin typeface="微软雅黑" panose="020B0503020204020204" charset="-122"/>
                <a:ea typeface="微软雅黑" panose="020B0503020204020204" charset="-122"/>
                <a:sym typeface="+mn-ea"/>
              </a:rPr>
              <a:t>所示，前景像素为红色、背景像素为绿色，部分像素没有被标记。</a:t>
            </a:r>
            <a:endParaRPr lang="zh-CN" altLang="en-US">
              <a:latin typeface="微软雅黑" panose="020B0503020204020204" charset="-122"/>
              <a:ea typeface="微软雅黑" panose="020B0503020204020204" charset="-122"/>
            </a:endParaRPr>
          </a:p>
        </p:txBody>
      </p:sp>
      <p:sp>
        <p:nvSpPr>
          <p:cNvPr id="292867" name="矩形 29286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显著性增强</a:t>
            </a:r>
            <a:endParaRPr lang="zh-CN" altLang="en-US" sz="2400" b="1">
              <a:latin typeface="微软雅黑" panose="020B0503020204020204" charset="-122"/>
              <a:ea typeface="微软雅黑" panose="020B0503020204020204" charset="-122"/>
            </a:endParaRPr>
          </a:p>
        </p:txBody>
      </p:sp>
      <p:sp>
        <p:nvSpPr>
          <p:cNvPr id="3" name="文本框 2"/>
          <p:cNvSpPr txBox="1"/>
          <p:nvPr/>
        </p:nvSpPr>
        <p:spPr>
          <a:xfrm>
            <a:off x="1395095" y="2640965"/>
            <a:ext cx="8783955" cy="368300"/>
          </a:xfrm>
          <a:prstGeom prst="rect">
            <a:avLst/>
          </a:prstGeom>
          <a:noFill/>
        </p:spPr>
        <p:txBody>
          <a:bodyPr wrap="square" rtlCol="0">
            <a:spAutoFit/>
          </a:bodyPr>
          <a:p>
            <a:pPr>
              <a:spcAft>
                <a:spcPts val="0"/>
              </a:spcAft>
            </a:pPr>
            <a:r>
              <a:rPr lang="zh-CN" altLang="en-US"/>
              <a:t>接下来使用分水岭算法将所有像素分别标记为前景、背景、分水岭</a:t>
            </a:r>
            <a:endParaRPr lang="zh-CN" altLang="en-US"/>
          </a:p>
        </p:txBody>
      </p:sp>
      <p:graphicFrame>
        <p:nvGraphicFramePr>
          <p:cNvPr id="4" name="对象 3">
            <a:hlinkClick r:id="" action="ppaction://ole?verb="/>
          </p:cNvPr>
          <p:cNvGraphicFramePr>
            <a:graphicFrameLocks noChangeAspect="1"/>
          </p:cNvGraphicFramePr>
          <p:nvPr/>
        </p:nvGraphicFramePr>
        <p:xfrm>
          <a:off x="3251200" y="3216275"/>
          <a:ext cx="4562475" cy="1403985"/>
        </p:xfrm>
        <a:graphic>
          <a:graphicData uri="http://schemas.openxmlformats.org/presentationml/2006/ole">
            <mc:AlternateContent xmlns:mc="http://schemas.openxmlformats.org/markup-compatibility/2006">
              <mc:Choice xmlns:v="urn:schemas-microsoft-com:vml" Requires="v">
                <p:oleObj spid="_x0000_s3073" name="" r:id="rId1" imgW="2311400" imgH="711200" progId="Equation.KSEE3">
                  <p:embed/>
                </p:oleObj>
              </mc:Choice>
              <mc:Fallback>
                <p:oleObj name="" r:id="rId1" imgW="2311400" imgH="711200" progId="Equation.KSEE3">
                  <p:embed/>
                  <p:pic>
                    <p:nvPicPr>
                      <p:cNvPr id="0" name="图片 3072"/>
                      <p:cNvPicPr/>
                      <p:nvPr/>
                    </p:nvPicPr>
                    <p:blipFill>
                      <a:blip r:embed="rId2"/>
                      <a:stretch>
                        <a:fillRect/>
                      </a:stretch>
                    </p:blipFill>
                    <p:spPr>
                      <a:xfrm>
                        <a:off x="3251200" y="3216275"/>
                        <a:ext cx="4562475" cy="1403985"/>
                      </a:xfrm>
                      <a:prstGeom prst="rect">
                        <a:avLst/>
                      </a:prstGeom>
                    </p:spPr>
                  </p:pic>
                </p:oleObj>
              </mc:Fallback>
            </mc:AlternateContent>
          </a:graphicData>
        </a:graphic>
      </p:graphicFrame>
      <p:grpSp>
        <p:nvGrpSpPr>
          <p:cNvPr id="8" name="组合 7"/>
          <p:cNvGrpSpPr/>
          <p:nvPr/>
        </p:nvGrpSpPr>
        <p:grpSpPr>
          <a:xfrm>
            <a:off x="1208405" y="5081270"/>
            <a:ext cx="9380855" cy="645160"/>
            <a:chOff x="2452" y="8002"/>
            <a:chExt cx="16372" cy="1016"/>
          </a:xfrm>
        </p:grpSpPr>
        <p:sp>
          <p:nvSpPr>
            <p:cNvPr id="5" name="文本框 4"/>
            <p:cNvSpPr txBox="1"/>
            <p:nvPr/>
          </p:nvSpPr>
          <p:spPr>
            <a:xfrm>
              <a:off x="2452" y="8002"/>
              <a:ext cx="16372" cy="1016"/>
            </a:xfrm>
            <a:prstGeom prst="rect">
              <a:avLst/>
            </a:prstGeom>
            <a:noFill/>
          </p:spPr>
          <p:txBody>
            <a:bodyPr wrap="square" rtlCol="0">
              <a:spAutoFit/>
            </a:bodyPr>
            <a:p>
              <a:pPr>
                <a:spcAft>
                  <a:spcPts val="0"/>
                </a:spcAft>
              </a:pPr>
              <a:r>
                <a:rPr lang="zh-CN" altLang="en-US"/>
                <a:t>其中，</a:t>
              </a:r>
              <a:r>
                <a:rPr lang="en-US" altLang="zh-CN"/>
                <a:t>            </a:t>
              </a:r>
              <a:r>
                <a:rPr lang="zh-CN" altLang="en-US"/>
                <a:t>和</a:t>
              </a:r>
              <a:r>
                <a:rPr lang="en-US" altLang="zh-CN"/>
                <a:t>               </a:t>
              </a:r>
              <a:r>
                <a:rPr lang="zh-CN" altLang="en-US"/>
                <a:t>用来控制增强的强度，小的数值表示前景像素赋予更大的显著性，而背景被赋予小的显著性</a:t>
              </a:r>
              <a:endParaRPr lang="zh-CN" altLang="en-US">
                <a:latin typeface="微软雅黑" panose="020B0503020204020204" charset="-122"/>
                <a:ea typeface="微软雅黑" panose="020B0503020204020204" charset="-122"/>
              </a:endParaRPr>
            </a:p>
          </p:txBody>
        </p:sp>
        <p:graphicFrame>
          <p:nvGraphicFramePr>
            <p:cNvPr id="6" name="对象 5">
              <a:hlinkClick r:id="" action="ppaction://ole?verb="/>
            </p:cNvPr>
            <p:cNvGraphicFramePr>
              <a:graphicFrameLocks noChangeAspect="1"/>
            </p:cNvGraphicFramePr>
            <p:nvPr/>
          </p:nvGraphicFramePr>
          <p:xfrm>
            <a:off x="3685" y="8058"/>
            <a:ext cx="1244" cy="463"/>
          </p:xfrm>
          <a:graphic>
            <a:graphicData uri="http://schemas.openxmlformats.org/presentationml/2006/ole">
              <mc:AlternateContent xmlns:mc="http://schemas.openxmlformats.org/markup-compatibility/2006">
                <mc:Choice xmlns:v="urn:schemas-microsoft-com:vml" Requires="v">
                  <p:oleObj spid="_x0000_s3074" name="" r:id="rId3" imgW="545465" imgH="203200" progId="Equation.KSEE3">
                    <p:embed/>
                  </p:oleObj>
                </mc:Choice>
                <mc:Fallback>
                  <p:oleObj name="" r:id="rId3" imgW="545465" imgH="203200" progId="Equation.KSEE3">
                    <p:embed/>
                    <p:pic>
                      <p:nvPicPr>
                        <p:cNvPr id="0" name="图片 3073"/>
                        <p:cNvPicPr/>
                        <p:nvPr/>
                      </p:nvPicPr>
                      <p:blipFill>
                        <a:blip r:embed="rId4"/>
                        <a:stretch>
                          <a:fillRect/>
                        </a:stretch>
                      </p:blipFill>
                      <p:spPr>
                        <a:xfrm>
                          <a:off x="3685" y="8058"/>
                          <a:ext cx="1244" cy="463"/>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custDataLst>
                <p:tags r:id="rId5"/>
              </p:custDataLst>
            </p:nvPr>
          </p:nvGraphicFramePr>
          <p:xfrm>
            <a:off x="5715" y="8058"/>
            <a:ext cx="1244" cy="463"/>
          </p:xfrm>
          <a:graphic>
            <a:graphicData uri="http://schemas.openxmlformats.org/presentationml/2006/ole">
              <mc:AlternateContent xmlns:mc="http://schemas.openxmlformats.org/markup-compatibility/2006">
                <mc:Choice xmlns:v="urn:schemas-microsoft-com:vml" Requires="v">
                  <p:oleObj spid="_x0000_s2" name="" r:id="rId6" imgW="545465" imgH="203200" progId="Equation.KSEE3">
                    <p:embed/>
                  </p:oleObj>
                </mc:Choice>
                <mc:Fallback>
                  <p:oleObj name="" r:id="rId6" imgW="545465" imgH="203200" progId="Equation.KSEE3">
                    <p:embed/>
                    <p:pic>
                      <p:nvPicPr>
                        <p:cNvPr id="0" name="图片 3073"/>
                        <p:cNvPicPr/>
                        <p:nvPr/>
                      </p:nvPicPr>
                      <p:blipFill>
                        <a:blip r:embed="rId7"/>
                        <a:stretch>
                          <a:fillRect/>
                        </a:stretch>
                      </p:blipFill>
                      <p:spPr>
                        <a:xfrm>
                          <a:off x="5715" y="8058"/>
                          <a:ext cx="1244" cy="463"/>
                        </a:xfrm>
                        <a:prstGeom prst="rect">
                          <a:avLst/>
                        </a:prstGeom>
                      </p:spPr>
                    </p:pic>
                  </p:oleObj>
                </mc:Fallback>
              </mc:AlternateContent>
            </a:graphicData>
          </a:graphic>
        </p:graphicFrame>
      </p:gr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89" name="矩形 293889"/>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3890" name="矩形 293890"/>
          <p:cNvSpPr/>
          <p:nvPr/>
        </p:nvSpPr>
        <p:spPr>
          <a:xfrm>
            <a:off x="1885950" y="1871980"/>
            <a:ext cx="8734425" cy="1124585"/>
          </a:xfrm>
          <a:prstGeom prst="rect">
            <a:avLst/>
          </a:prstGeom>
          <a:noFill/>
          <a:ln w="9525">
            <a:noFill/>
          </a:ln>
        </p:spPr>
        <p:txBody>
          <a:bodyPr wrap="square" anchor="t" anchorCtr="0">
            <a:spAutoFit/>
          </a:bodyPr>
          <a:p>
            <a:pPr defTabSz="719455">
              <a:lnSpc>
                <a:spcPct val="140000"/>
              </a:lnSpc>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在复杂背景下，基于（逐个）像素或者超像素低层特征的方法很难获得鲁棒的显著性结果</a:t>
            </a:r>
            <a:endParaRPr lang="zh-CN" altLang="en-US" sz="2400" b="1">
              <a:latin typeface="微软雅黑" panose="020B0503020204020204" charset="-122"/>
              <a:ea typeface="微软雅黑" panose="020B0503020204020204" charset="-122"/>
            </a:endParaRPr>
          </a:p>
        </p:txBody>
      </p:sp>
      <p:sp>
        <p:nvSpPr>
          <p:cNvPr id="293891" name="矩形 293891"/>
          <p:cNvSpPr/>
          <p:nvPr/>
        </p:nvSpPr>
        <p:spPr>
          <a:xfrm>
            <a:off x="2339975" y="1260475"/>
            <a:ext cx="1981835" cy="460375"/>
          </a:xfrm>
          <a:prstGeom prst="rect">
            <a:avLst/>
          </a:prstGeom>
          <a:noFill/>
          <a:ln w="9525">
            <a:noFill/>
          </a:ln>
        </p:spPr>
        <p:txBody>
          <a:bodyPr wrap="none" anchor="t" anchorCtr="0">
            <a:spAutoFit/>
          </a:bodyPr>
          <a:p>
            <a:pPr defTabSz="719455">
              <a:spcAft>
                <a:spcPts val="0"/>
              </a:spcAft>
            </a:pPr>
            <a:r>
              <a:rPr lang="en-US" altLang="zh-CN" sz="2400" b="1">
                <a:latin typeface="微软雅黑" panose="020B0503020204020204" charset="-122"/>
                <a:ea typeface="微软雅黑" panose="020B0503020204020204" charset="-122"/>
              </a:rPr>
              <a:t>1.</a:t>
            </a:r>
            <a:r>
              <a:rPr lang="zh-CN" altLang="en-US" sz="2400" b="1">
                <a:latin typeface="微软雅黑" panose="020B0503020204020204" charset="-122"/>
                <a:ea typeface="微软雅黑" panose="020B0503020204020204" charset="-122"/>
              </a:rPr>
              <a:t>区域显著性</a:t>
            </a:r>
            <a:endParaRPr lang="zh-CN" altLang="en-US" sz="2400" b="1">
              <a:latin typeface="微软雅黑" panose="020B0503020204020204" charset="-122"/>
              <a:ea typeface="微软雅黑" panose="020B0503020204020204" charset="-122"/>
            </a:endParaRPr>
          </a:p>
        </p:txBody>
      </p:sp>
      <p:pic>
        <p:nvPicPr>
          <p:cNvPr id="293892" name="图片 293892" descr="C:/Users/Administrator/AppData/Roaming/Yozo_Office/Temp/fc/968467201615187995629/计算机视觉教程（第3版）PPT第04章.pptx/ppt/media/image22.emf"/>
          <p:cNvPicPr/>
          <p:nvPr/>
        </p:nvPicPr>
        <p:blipFill>
          <a:blip r:embed="rId1"/>
          <a:stretch>
            <a:fillRect/>
          </a:stretch>
        </p:blipFill>
        <p:spPr>
          <a:xfrm>
            <a:off x="2855595" y="2996248"/>
            <a:ext cx="6480175" cy="2160587"/>
          </a:xfrm>
          <a:prstGeom prst="rect">
            <a:avLst/>
          </a:prstGeom>
          <a:noFill/>
          <a:ln w="9525">
            <a:noFill/>
          </a:ln>
        </p:spPr>
      </p:pic>
      <p:pic>
        <p:nvPicPr>
          <p:cNvPr id="293893" name="图片 293893" descr="C:/Users/Administrator/AppData/Roaming/Yozo_Office/Temp/fc/968467201615187995629/计算机视觉教程（第3版）PPT第04章.pptx/ppt/media/image23.emf"/>
          <p:cNvPicPr/>
          <p:nvPr/>
        </p:nvPicPr>
        <p:blipFill>
          <a:blip r:embed="rId2"/>
          <a:stretch>
            <a:fillRect/>
          </a:stretch>
        </p:blipFill>
        <p:spPr>
          <a:xfrm>
            <a:off x="1439863" y="5257800"/>
            <a:ext cx="10223500" cy="1008063"/>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3" name="矩形 294913"/>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4914" name="矩形 294914"/>
          <p:cNvSpPr/>
          <p:nvPr/>
        </p:nvSpPr>
        <p:spPr>
          <a:xfrm>
            <a:off x="1167130" y="1871980"/>
            <a:ext cx="10172700" cy="3542030"/>
          </a:xfrm>
          <a:prstGeom prst="rect">
            <a:avLst/>
          </a:prstGeom>
          <a:noFill/>
          <a:ln w="9525">
            <a:noFill/>
          </a:ln>
        </p:spPr>
        <p:txBody>
          <a:bodyPr wrap="square" anchor="t" anchorCtr="0">
            <a:spAutoFit/>
          </a:bodyPr>
          <a:p>
            <a:pPr defTabSz="719455">
              <a:lnSpc>
                <a:spcPct val="140000"/>
              </a:lnSpc>
              <a:spcBef>
                <a:spcPts val="600"/>
              </a:spcBef>
              <a:spcAft>
                <a:spcPts val="600"/>
              </a:spcAft>
            </a:pPr>
            <a:r>
              <a:rPr lang="en-US" altLang="zh-CN"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将图像划分为</a:t>
            </a:r>
            <a:r>
              <a:rPr lang="en-US" altLang="zh-CN" sz="2400">
                <a:latin typeface="微软雅黑" panose="020B0503020204020204" charset="-122"/>
                <a:ea typeface="微软雅黑" panose="020B0503020204020204" charset="-122"/>
              </a:rPr>
              <a:t>M</a:t>
            </a:r>
            <a:r>
              <a:rPr lang="zh-CN" altLang="en-US" sz="2400">
                <a:latin typeface="微软雅黑" panose="020B0503020204020204" charset="-122"/>
                <a:ea typeface="微软雅黑" panose="020B0503020204020204" charset="-122"/>
              </a:rPr>
              <a:t>个超像素</a:t>
            </a:r>
            <a:r>
              <a:rPr lang="en-US" altLang="zh-CN" sz="2400" i="1">
                <a:latin typeface="微软雅黑" panose="020B0503020204020204" charset="-122"/>
                <a:ea typeface="微软雅黑" panose="020B0503020204020204" charset="-122"/>
              </a:rPr>
              <a:t>P</a:t>
            </a:r>
            <a:r>
              <a:rPr lang="en-US" altLang="zh-CN" sz="2400" i="1" baseline="-25000">
                <a:latin typeface="微软雅黑" panose="020B0503020204020204" charset="-122"/>
                <a:ea typeface="微软雅黑" panose="020B0503020204020204" charset="-122"/>
              </a:rPr>
              <a:t>i</a:t>
            </a:r>
            <a:r>
              <a:rPr lang="zh-CN" altLang="en-US" sz="2400">
                <a:latin typeface="微软雅黑" panose="020B0503020204020204" charset="-122"/>
                <a:ea typeface="微软雅黑" panose="020B0503020204020204" charset="-122"/>
              </a:rPr>
              <a:t>，将其视为种子，从目标种子出发，用区域生长策略会产生一系列（嵌套的）周围区域，最可能的目标区域可根据下面</a:t>
            </a:r>
            <a:r>
              <a:rPr lang="en-US" altLang="zh-CN" sz="2400">
                <a:latin typeface="微软雅黑" panose="020B0503020204020204" charset="-122"/>
                <a:ea typeface="微软雅黑" panose="020B0503020204020204" charset="-122"/>
              </a:rPr>
              <a:t>3</a:t>
            </a:r>
            <a:r>
              <a:rPr lang="zh-CN" altLang="en-US" sz="2400">
                <a:latin typeface="微软雅黑" panose="020B0503020204020204" charset="-122"/>
                <a:ea typeface="微软雅黑" panose="020B0503020204020204" charset="-122"/>
              </a:rPr>
              <a:t>个因素决定：</a:t>
            </a:r>
            <a:endParaRPr lang="zh-CN" altLang="en-US" sz="2400" b="1">
              <a:latin typeface="微软雅黑" panose="020B0503020204020204" charset="-122"/>
              <a:ea typeface="微软雅黑" panose="020B0503020204020204" charset="-122"/>
            </a:endParaRPr>
          </a:p>
          <a:p>
            <a:pPr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(1)	</a:t>
            </a:r>
            <a:r>
              <a:rPr lang="zh-CN" altLang="en-US" sz="2400">
                <a:latin typeface="微软雅黑" panose="020B0503020204020204" charset="-122"/>
                <a:ea typeface="微软雅黑" panose="020B0503020204020204" charset="-122"/>
              </a:rPr>
              <a:t>这个区域与其外部周边区域之间是否有</a:t>
            </a:r>
            <a:r>
              <a:rPr lang="zh-CN" altLang="en-US" sz="2400">
                <a:solidFill>
                  <a:srgbClr val="FF0000"/>
                </a:solidFill>
                <a:latin typeface="微软雅黑" panose="020B0503020204020204" charset="-122"/>
                <a:ea typeface="微软雅黑" panose="020B0503020204020204" charset="-122"/>
              </a:rPr>
              <a:t>很高</a:t>
            </a:r>
            <a:r>
              <a:rPr lang="zh-CN" altLang="en-US" sz="2400">
                <a:latin typeface="微软雅黑" panose="020B0503020204020204" charset="-122"/>
                <a:ea typeface="微软雅黑" panose="020B0503020204020204" charset="-122"/>
              </a:rPr>
              <a:t>的</a:t>
            </a:r>
            <a:r>
              <a:rPr lang="zh-CN" altLang="en-US" sz="2400">
                <a:solidFill>
                  <a:srgbClr val="FF0000"/>
                </a:solidFill>
                <a:latin typeface="微软雅黑" panose="020B0503020204020204" charset="-122"/>
                <a:ea typeface="微软雅黑" panose="020B0503020204020204" charset="-122"/>
              </a:rPr>
              <a:t>对比度</a:t>
            </a:r>
            <a:endParaRPr lang="zh-CN" altLang="en-US" sz="2400">
              <a:solidFill>
                <a:srgbClr val="FF0000"/>
              </a:solidFill>
              <a:latin typeface="微软雅黑" panose="020B0503020204020204" charset="-122"/>
              <a:ea typeface="微软雅黑" panose="020B0503020204020204" charset="-122"/>
            </a:endParaRPr>
          </a:p>
          <a:p>
            <a:pPr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(2)	</a:t>
            </a:r>
            <a:r>
              <a:rPr lang="zh-CN" altLang="en-US" sz="2400">
                <a:latin typeface="微软雅黑" panose="020B0503020204020204" charset="-122"/>
                <a:ea typeface="微软雅黑" panose="020B0503020204020204" charset="-122"/>
              </a:rPr>
              <a:t>这个区域内部是否只有</a:t>
            </a:r>
            <a:r>
              <a:rPr lang="zh-CN" altLang="en-US" sz="2400">
                <a:solidFill>
                  <a:srgbClr val="FF0000"/>
                </a:solidFill>
                <a:latin typeface="微软雅黑" panose="020B0503020204020204" charset="-122"/>
                <a:ea typeface="微软雅黑" panose="020B0503020204020204" charset="-122"/>
              </a:rPr>
              <a:t>很低</a:t>
            </a:r>
            <a:r>
              <a:rPr lang="zh-CN" altLang="en-US" sz="2400">
                <a:latin typeface="微软雅黑" panose="020B0503020204020204" charset="-122"/>
                <a:ea typeface="微软雅黑" panose="020B0503020204020204" charset="-122"/>
              </a:rPr>
              <a:t>的</a:t>
            </a:r>
            <a:r>
              <a:rPr lang="zh-CN" altLang="en-US" sz="2400">
                <a:solidFill>
                  <a:srgbClr val="FF0000"/>
                </a:solidFill>
                <a:latin typeface="微软雅黑" panose="020B0503020204020204" charset="-122"/>
                <a:ea typeface="微软雅黑" panose="020B0503020204020204" charset="-122"/>
              </a:rPr>
              <a:t>对比度</a:t>
            </a:r>
            <a:r>
              <a:rPr lang="zh-CN" altLang="en-US" sz="2400">
                <a:latin typeface="微软雅黑" panose="020B0503020204020204" charset="-122"/>
                <a:ea typeface="微软雅黑" panose="020B0503020204020204" charset="-122"/>
              </a:rPr>
              <a:t>（即很平滑）</a:t>
            </a:r>
            <a:endParaRPr lang="zh-CN" altLang="en-US" sz="2400">
              <a:latin typeface="微软雅黑" panose="020B0503020204020204" charset="-122"/>
              <a:ea typeface="微软雅黑" panose="020B0503020204020204" charset="-122"/>
            </a:endParaRPr>
          </a:p>
          <a:p>
            <a:pPr defTabSz="719455">
              <a:lnSpc>
                <a:spcPct val="130000"/>
              </a:lnSpc>
              <a:spcBef>
                <a:spcPts val="600"/>
              </a:spcBef>
              <a:spcAft>
                <a:spcPts val="600"/>
              </a:spcAft>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(3)	</a:t>
            </a:r>
            <a:r>
              <a:rPr lang="zh-CN" altLang="en-US" sz="2400">
                <a:latin typeface="微软雅黑" panose="020B0503020204020204" charset="-122"/>
                <a:ea typeface="微软雅黑" panose="020B0503020204020204" charset="-122"/>
              </a:rPr>
              <a:t>这个区域的面积</a:t>
            </a:r>
            <a:r>
              <a:rPr lang="zh-CN" altLang="en-US" sz="2400">
                <a:solidFill>
                  <a:srgbClr val="FF0000"/>
                </a:solidFill>
                <a:latin typeface="微软雅黑" panose="020B0503020204020204" charset="-122"/>
                <a:ea typeface="微软雅黑" panose="020B0503020204020204" charset="-122"/>
              </a:rPr>
              <a:t>不能太小</a:t>
            </a:r>
            <a:r>
              <a:rPr lang="zh-CN" altLang="en-US" sz="2400">
                <a:latin typeface="微软雅黑" panose="020B0503020204020204" charset="-122"/>
                <a:ea typeface="微软雅黑" panose="020B0503020204020204" charset="-122"/>
              </a:rPr>
              <a:t>，否则噪声影响过大</a:t>
            </a:r>
            <a:endParaRPr lang="zh-CN" altLang="en-US" sz="2400">
              <a:latin typeface="微软雅黑" panose="020B0503020204020204" charset="-122"/>
              <a:ea typeface="微软雅黑" panose="020B0503020204020204" charset="-122"/>
            </a:endParaRPr>
          </a:p>
        </p:txBody>
      </p:sp>
      <p:sp>
        <p:nvSpPr>
          <p:cNvPr id="294915" name="矩形 294915"/>
          <p:cNvSpPr/>
          <p:nvPr/>
        </p:nvSpPr>
        <p:spPr>
          <a:xfrm>
            <a:off x="2339975" y="1260475"/>
            <a:ext cx="302641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最稳定区域（</a:t>
            </a:r>
            <a:r>
              <a:rPr lang="en-US" altLang="zh-CN" sz="2400" b="1">
                <a:latin typeface="微软雅黑" panose="020B0503020204020204" charset="-122"/>
                <a:ea typeface="微软雅黑" panose="020B0503020204020204" charset="-122"/>
              </a:rPr>
              <a:t>MSR</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a:spcAft>
                <a:spcPts val="0"/>
              </a:spcAft>
            </a:pPr>
            <a:fld id="{49AE70B2-8BF9-45C0-BB95-33D1B9D3A854}" type="slidenum">
              <a:rPr lang="zh-CN" altLang="en-US" smtClean="0"/>
            </a:fld>
            <a:endParaRPr lang="zh-CN" altLang="en-US"/>
          </a:p>
        </p:txBody>
      </p:sp>
      <p:sp>
        <p:nvSpPr>
          <p:cNvPr id="294913" name="矩形 294913"/>
          <p:cNvSpPr/>
          <p:nvPr>
            <p:custDataLst>
              <p:tags r:id="rId1"/>
            </p:custDataLst>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4915" name="矩形 294915"/>
          <p:cNvSpPr/>
          <p:nvPr>
            <p:custDataLst>
              <p:tags r:id="rId2"/>
            </p:custDataLst>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最稳定区域</a:t>
            </a:r>
            <a:endParaRPr lang="zh-CN" altLang="en-US" sz="2400" b="1">
              <a:latin typeface="微软雅黑" panose="020B0503020204020204" charset="-122"/>
              <a:ea typeface="微软雅黑" panose="020B0503020204020204" charset="-122"/>
            </a:endParaRPr>
          </a:p>
        </p:txBody>
      </p:sp>
      <p:sp>
        <p:nvSpPr>
          <p:cNvPr id="5" name="文本框 4"/>
          <p:cNvSpPr txBox="1"/>
          <p:nvPr/>
        </p:nvSpPr>
        <p:spPr>
          <a:xfrm>
            <a:off x="1511300" y="2023110"/>
            <a:ext cx="4064000" cy="368300"/>
          </a:xfrm>
          <a:prstGeom prst="rect">
            <a:avLst/>
          </a:prstGeom>
          <a:noFill/>
        </p:spPr>
        <p:txBody>
          <a:bodyPr wrap="square" rtlCol="0">
            <a:spAutoFit/>
          </a:bodyPr>
          <a:p>
            <a:pPr>
              <a:spcAft>
                <a:spcPts val="0"/>
              </a:spcAft>
            </a:pPr>
            <a:r>
              <a:rPr lang="zh-CN" altLang="en-US"/>
              <a:t>将三个因素结合起来有一个打分公式：</a:t>
            </a:r>
            <a:endParaRPr lang="zh-CN" altLang="en-US"/>
          </a:p>
        </p:txBody>
      </p:sp>
      <p:graphicFrame>
        <p:nvGraphicFramePr>
          <p:cNvPr id="6" name="对象 5">
            <a:hlinkClick r:id="" action="ppaction://ole?verb="/>
          </p:cNvPr>
          <p:cNvGraphicFramePr>
            <a:graphicFrameLocks noChangeAspect="1"/>
          </p:cNvGraphicFramePr>
          <p:nvPr/>
        </p:nvGraphicFramePr>
        <p:xfrm>
          <a:off x="2139315" y="2548255"/>
          <a:ext cx="6737985" cy="601345"/>
        </p:xfrm>
        <a:graphic>
          <a:graphicData uri="http://schemas.openxmlformats.org/presentationml/2006/ole">
            <mc:AlternateContent xmlns:mc="http://schemas.openxmlformats.org/markup-compatibility/2006">
              <mc:Choice xmlns:v="urn:schemas-microsoft-com:vml" Requires="v">
                <p:oleObj spid="_x0000_s1025" name="" r:id="rId3" imgW="2705100" imgH="241300" progId="Equation.KSEE3">
                  <p:embed/>
                </p:oleObj>
              </mc:Choice>
              <mc:Fallback>
                <p:oleObj name="" r:id="rId3" imgW="2705100" imgH="241300" progId="Equation.KSEE3">
                  <p:embed/>
                  <p:pic>
                    <p:nvPicPr>
                      <p:cNvPr id="0" name="图片 1024"/>
                      <p:cNvPicPr/>
                      <p:nvPr/>
                    </p:nvPicPr>
                    <p:blipFill>
                      <a:blip r:embed="rId4"/>
                      <a:stretch>
                        <a:fillRect/>
                      </a:stretch>
                    </p:blipFill>
                    <p:spPr>
                      <a:xfrm>
                        <a:off x="2139315" y="2548255"/>
                        <a:ext cx="6737985" cy="601345"/>
                      </a:xfrm>
                      <a:prstGeom prst="rect">
                        <a:avLst/>
                      </a:prstGeom>
                    </p:spPr>
                  </p:pic>
                </p:oleObj>
              </mc:Fallback>
            </mc:AlternateContent>
          </a:graphicData>
        </a:graphic>
      </p:graphicFrame>
      <p:sp>
        <p:nvSpPr>
          <p:cNvPr id="7" name="文本框 6"/>
          <p:cNvSpPr txBox="1"/>
          <p:nvPr/>
        </p:nvSpPr>
        <p:spPr>
          <a:xfrm>
            <a:off x="1226185" y="3211830"/>
            <a:ext cx="9581515" cy="645160"/>
          </a:xfrm>
          <a:prstGeom prst="rect">
            <a:avLst/>
          </a:prstGeom>
          <a:noFill/>
        </p:spPr>
        <p:txBody>
          <a:bodyPr wrap="square" rtlCol="0">
            <a:spAutoFit/>
          </a:bodyPr>
          <a:p>
            <a:pPr>
              <a:spcAft>
                <a:spcPts val="0"/>
              </a:spcAft>
            </a:pPr>
            <a:r>
              <a:rPr lang="zh-CN" altLang="en-US"/>
              <a:t>其中</a:t>
            </a:r>
            <a:r>
              <a:rPr lang="zh-CN" altLang="en-US">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C</a:t>
            </a:r>
            <a:r>
              <a:rPr lang="en-US" altLang="zh-CN" i="1" baseline="-25000">
                <a:latin typeface="Times New Roman" panose="02020603050405020304" charset="0"/>
                <a:cs typeface="Times New Roman" panose="02020603050405020304" charset="0"/>
              </a:rPr>
              <a:t>E </a:t>
            </a:r>
            <a:r>
              <a:rPr lang="zh-CN" altLang="en-US">
                <a:latin typeface="Times New Roman" panose="02020603050405020304" charset="0"/>
                <a:cs typeface="Times New Roman" panose="02020603050405020304" charset="0"/>
              </a:rPr>
              <a:t>和</a:t>
            </a:r>
            <a:r>
              <a:rPr lang="en-US" altLang="zh-CN" i="1">
                <a:latin typeface="Times New Roman" panose="02020603050405020304" charset="0"/>
                <a:cs typeface="Times New Roman" panose="02020603050405020304" charset="0"/>
              </a:rPr>
              <a:t>C</a:t>
            </a:r>
            <a:r>
              <a:rPr lang="en-US" altLang="zh-CN" i="1" baseline="-25000">
                <a:latin typeface="Times New Roman" panose="02020603050405020304" charset="0"/>
                <a:cs typeface="Times New Roman" panose="02020603050405020304" charset="0"/>
              </a:rPr>
              <a:t>I </a:t>
            </a:r>
            <a:r>
              <a:rPr lang="zh-CN" altLang="en-US">
                <a:latin typeface="Times New Roman" panose="02020603050405020304" charset="0"/>
                <a:cs typeface="Times New Roman" panose="02020603050405020304" charset="0"/>
              </a:rPr>
              <a:t>表示区域</a:t>
            </a:r>
            <a:r>
              <a:rPr lang="en-US" altLang="zh-CN">
                <a:latin typeface="Times New Roman" panose="02020603050405020304" charset="0"/>
                <a:cs typeface="Times New Roman" panose="02020603050405020304" charset="0"/>
              </a:rPr>
              <a:t> </a:t>
            </a:r>
            <a:r>
              <a:rPr lang="en-US" altLang="zh-CN" b="1" i="1">
                <a:latin typeface="Times New Roman" panose="02020603050405020304" charset="0"/>
                <a:cs typeface="Times New Roman" panose="02020603050405020304" charset="0"/>
              </a:rPr>
              <a:t>R</a:t>
            </a:r>
            <a:r>
              <a:rPr lang="en-US" altLang="zh-CN" b="1" i="1" baseline="-25000">
                <a:latin typeface="Times New Roman" panose="02020603050405020304" charset="0"/>
                <a:cs typeface="Times New Roman" panose="02020603050405020304" charset="0"/>
              </a:rPr>
              <a:t>i,j</a:t>
            </a:r>
            <a:r>
              <a:rPr lang="en-US" altLang="zh-CN" i="1" baseline="-25000">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与外部周围区域的对比度和</a:t>
            </a:r>
            <a:r>
              <a:rPr lang="zh-CN" altLang="en-US"/>
              <a:t>自身内部的对比度，</a:t>
            </a:r>
            <a:r>
              <a:rPr lang="en-US" altLang="zh-CN" i="1"/>
              <a:t>A</a:t>
            </a:r>
            <a:r>
              <a:rPr lang="en-US" altLang="zh-CN"/>
              <a:t>(</a:t>
            </a:r>
            <a:r>
              <a:rPr lang="en-US" altLang="zh-CN" i="1">
                <a:latin typeface="Times New Roman" panose="02020603050405020304" charset="0"/>
                <a:cs typeface="Times New Roman" panose="02020603050405020304" charset="0"/>
                <a:sym typeface="+mn-ea"/>
              </a:rPr>
              <a:t>R</a:t>
            </a:r>
            <a:r>
              <a:rPr lang="en-US" altLang="zh-CN" i="1" baseline="-25000">
                <a:latin typeface="Times New Roman" panose="02020603050405020304" charset="0"/>
                <a:cs typeface="Times New Roman" panose="02020603050405020304" charset="0"/>
                <a:sym typeface="+mn-ea"/>
              </a:rPr>
              <a:t>i,j</a:t>
            </a:r>
            <a:r>
              <a:rPr lang="en-US" altLang="zh-CN"/>
              <a:t>)</a:t>
            </a:r>
            <a:r>
              <a:rPr lang="zh-CN" altLang="en-US"/>
              <a:t>起抑制面积大小的作用。分别计算如下：</a:t>
            </a:r>
            <a:endParaRPr lang="zh-CN" altLang="en-US"/>
          </a:p>
        </p:txBody>
      </p:sp>
      <p:graphicFrame>
        <p:nvGraphicFramePr>
          <p:cNvPr id="3" name="对象 2">
            <a:hlinkClick r:id="" action="ppaction://ole?verb="/>
          </p:cNvPr>
          <p:cNvGraphicFramePr>
            <a:graphicFrameLocks noChangeAspect="1"/>
          </p:cNvGraphicFramePr>
          <p:nvPr/>
        </p:nvGraphicFramePr>
        <p:xfrm>
          <a:off x="721360" y="3977640"/>
          <a:ext cx="3766820" cy="802640"/>
        </p:xfrm>
        <a:graphic>
          <a:graphicData uri="http://schemas.openxmlformats.org/presentationml/2006/ole">
            <mc:AlternateContent xmlns:mc="http://schemas.openxmlformats.org/markup-compatibility/2006">
              <mc:Choice xmlns:v="urn:schemas-microsoft-com:vml" Requires="v">
                <p:oleObj spid="_x0000_s4097" name="" r:id="rId5" imgW="2145665" imgH="457200" progId="Equation.KSEE3">
                  <p:embed/>
                </p:oleObj>
              </mc:Choice>
              <mc:Fallback>
                <p:oleObj name="" r:id="rId5" imgW="2145665" imgH="457200" progId="Equation.KSEE3">
                  <p:embed/>
                  <p:pic>
                    <p:nvPicPr>
                      <p:cNvPr id="0" name="图片 4096"/>
                      <p:cNvPicPr/>
                      <p:nvPr/>
                    </p:nvPicPr>
                    <p:blipFill>
                      <a:blip r:embed="rId6"/>
                      <a:stretch>
                        <a:fillRect/>
                      </a:stretch>
                    </p:blipFill>
                    <p:spPr>
                      <a:xfrm>
                        <a:off x="721360" y="3977640"/>
                        <a:ext cx="3766820" cy="80264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custDataLst>
              <p:tags r:id="rId7"/>
            </p:custDataLst>
          </p:nvPr>
        </p:nvGraphicFramePr>
        <p:xfrm>
          <a:off x="731838" y="4780280"/>
          <a:ext cx="3790315" cy="802640"/>
        </p:xfrm>
        <a:graphic>
          <a:graphicData uri="http://schemas.openxmlformats.org/presentationml/2006/ole">
            <mc:AlternateContent xmlns:mc="http://schemas.openxmlformats.org/markup-compatibility/2006">
              <mc:Choice xmlns:v="urn:schemas-microsoft-com:vml" Requires="v">
                <p:oleObj spid="_x0000_s2" name="" r:id="rId8" imgW="2159000" imgH="457200" progId="Equation.KSEE3">
                  <p:embed/>
                </p:oleObj>
              </mc:Choice>
              <mc:Fallback>
                <p:oleObj name="" r:id="rId8" imgW="2159000" imgH="457200" progId="Equation.KSEE3">
                  <p:embed/>
                  <p:pic>
                    <p:nvPicPr>
                      <p:cNvPr id="0" name="图片 4096"/>
                      <p:cNvPicPr/>
                      <p:nvPr/>
                    </p:nvPicPr>
                    <p:blipFill>
                      <a:blip r:embed="rId9"/>
                      <a:stretch>
                        <a:fillRect/>
                      </a:stretch>
                    </p:blipFill>
                    <p:spPr>
                      <a:xfrm>
                        <a:off x="731838" y="4780280"/>
                        <a:ext cx="3790315" cy="80264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5725795" y="3752850"/>
          <a:ext cx="2759075" cy="953135"/>
        </p:xfrm>
        <a:graphic>
          <a:graphicData uri="http://schemas.openxmlformats.org/presentationml/2006/ole">
            <mc:AlternateContent xmlns:mc="http://schemas.openxmlformats.org/markup-compatibility/2006">
              <mc:Choice xmlns:v="urn:schemas-microsoft-com:vml" Requires="v">
                <p:oleObj spid="_x0000_s4098" name="" r:id="rId10" imgW="1397000" imgH="482600" progId="Equation.KSEE3">
                  <p:embed/>
                </p:oleObj>
              </mc:Choice>
              <mc:Fallback>
                <p:oleObj name="" r:id="rId10" imgW="1397000" imgH="482600" progId="Equation.KSEE3">
                  <p:embed/>
                  <p:pic>
                    <p:nvPicPr>
                      <p:cNvPr id="0" name="图片 4097"/>
                      <p:cNvPicPr/>
                      <p:nvPr/>
                    </p:nvPicPr>
                    <p:blipFill>
                      <a:blip r:embed="rId11"/>
                      <a:stretch>
                        <a:fillRect/>
                      </a:stretch>
                    </p:blipFill>
                    <p:spPr>
                      <a:xfrm>
                        <a:off x="5725795" y="3752850"/>
                        <a:ext cx="2759075" cy="953135"/>
                      </a:xfrm>
                      <a:prstGeom prst="rect">
                        <a:avLst/>
                      </a:prstGeom>
                    </p:spPr>
                  </p:pic>
                </p:oleObj>
              </mc:Fallback>
            </mc:AlternateContent>
          </a:graphicData>
        </a:graphic>
      </p:graphicFrame>
      <p:sp>
        <p:nvSpPr>
          <p:cNvPr id="10" name="文本框 9"/>
          <p:cNvSpPr txBox="1"/>
          <p:nvPr/>
        </p:nvSpPr>
        <p:spPr>
          <a:xfrm>
            <a:off x="567055" y="5646420"/>
            <a:ext cx="9325610" cy="368300"/>
          </a:xfrm>
          <a:prstGeom prst="rect">
            <a:avLst/>
          </a:prstGeom>
          <a:noFill/>
        </p:spPr>
        <p:txBody>
          <a:bodyPr wrap="square" rtlCol="0">
            <a:spAutoFit/>
          </a:bodyPr>
          <a:p>
            <a:pPr>
              <a:spcAft>
                <a:spcPts val="0"/>
              </a:spcAft>
            </a:pPr>
            <a:r>
              <a:rPr lang="en-US" altLang="zh-CN" i="1">
                <a:latin typeface="Times New Roman" panose="02020603050405020304" charset="0"/>
                <a:cs typeface="Times New Roman" panose="02020603050405020304" charset="0"/>
              </a:rPr>
              <a:t>J  </a:t>
            </a:r>
            <a:r>
              <a:rPr lang="zh-CN" altLang="en-US">
                <a:latin typeface="Times New Roman" panose="02020603050405020304" charset="0"/>
                <a:cs typeface="Times New Roman" panose="02020603050405020304" charset="0"/>
              </a:rPr>
              <a:t>和</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K  </a:t>
            </a:r>
            <a:r>
              <a:rPr lang="zh-CN" altLang="en-US">
                <a:latin typeface="Times New Roman" panose="02020603050405020304" charset="0"/>
                <a:cs typeface="Times New Roman" panose="02020603050405020304" charset="0"/>
              </a:rPr>
              <a:t>表示超像素对的数量，</a:t>
            </a:r>
            <a:r>
              <a:rPr lang="en-US" altLang="zh-CN" i="1">
                <a:latin typeface="Times New Roman" panose="02020603050405020304" charset="0"/>
                <a:cs typeface="Times New Roman" panose="02020603050405020304" charset="0"/>
              </a:rPr>
              <a:t>D</a:t>
            </a:r>
            <a:r>
              <a:rPr lang="en-US" altLang="zh-CN" i="1" baseline="-25000">
                <a:latin typeface="Times New Roman" panose="02020603050405020304" charset="0"/>
                <a:cs typeface="Times New Roman" panose="02020603050405020304" charset="0"/>
              </a:rPr>
              <a:t>C</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p,q</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表示两个像素的色彩空间欧式距离</a:t>
            </a:r>
            <a:endParaRPr lang="zh-CN" altLang="en-US">
              <a:latin typeface="Times New Roman" panose="02020603050405020304" charset="0"/>
              <a:cs typeface="Times New Roman" panose="02020603050405020304" charset="0"/>
            </a:endParaRPr>
          </a:p>
        </p:txBody>
      </p:sp>
      <p:pic>
        <p:nvPicPr>
          <p:cNvPr id="11" name="图片 10"/>
          <p:cNvPicPr>
            <a:picLocks noChangeAspect="1"/>
          </p:cNvPicPr>
          <p:nvPr>
            <p:custDataLst>
              <p:tags r:id="rId12"/>
            </p:custDataLst>
          </p:nvPr>
        </p:nvPicPr>
        <p:blipFill>
          <a:blip r:embed="rId13"/>
          <a:stretch>
            <a:fillRect/>
          </a:stretch>
        </p:blipFill>
        <p:spPr>
          <a:xfrm>
            <a:off x="586105" y="6133465"/>
            <a:ext cx="972820" cy="381000"/>
          </a:xfrm>
          <a:prstGeom prst="rect">
            <a:avLst/>
          </a:prstGeom>
        </p:spPr>
      </p:pic>
      <p:sp>
        <p:nvSpPr>
          <p:cNvPr id="12" name="文本框 11"/>
          <p:cNvSpPr txBox="1"/>
          <p:nvPr/>
        </p:nvSpPr>
        <p:spPr>
          <a:xfrm>
            <a:off x="1558925" y="6146165"/>
            <a:ext cx="4064000" cy="368300"/>
          </a:xfrm>
          <a:prstGeom prst="rect">
            <a:avLst/>
          </a:prstGeom>
          <a:noFill/>
        </p:spPr>
        <p:txBody>
          <a:bodyPr wrap="square" rtlCol="0">
            <a:spAutoFit/>
          </a:bodyPr>
          <a:p>
            <a:pPr>
              <a:spcAft>
                <a:spcPts val="0"/>
              </a:spcAft>
            </a:pPr>
            <a:r>
              <a:rPr lang="zh-CN" altLang="en-US">
                <a:latin typeface="Times New Roman" panose="02020603050405020304" charset="0"/>
                <a:cs typeface="Times New Roman" panose="02020603050405020304" charset="0"/>
              </a:rPr>
              <a:t>在超像素</a:t>
            </a:r>
            <a:r>
              <a:rPr lang="en-US" altLang="zh-CN" i="1">
                <a:latin typeface="Times New Roman" panose="02020603050405020304" charset="0"/>
                <a:cs typeface="Times New Roman" panose="02020603050405020304" charset="0"/>
              </a:rPr>
              <a:t>q</a:t>
            </a:r>
            <a:r>
              <a:rPr lang="zh-CN" altLang="en-US">
                <a:latin typeface="Times New Roman" panose="02020603050405020304" charset="0"/>
                <a:cs typeface="Times New Roman" panose="02020603050405020304" charset="0"/>
              </a:rPr>
              <a:t>是</a:t>
            </a:r>
            <a:r>
              <a:rPr lang="en-US" altLang="zh-CN" i="1">
                <a:latin typeface="Times New Roman" panose="02020603050405020304" charset="0"/>
                <a:cs typeface="Times New Roman" panose="02020603050405020304" charset="0"/>
              </a:rPr>
              <a:t>p</a:t>
            </a:r>
            <a:r>
              <a:rPr lang="zh-CN" altLang="en-US">
                <a:latin typeface="Times New Roman" panose="02020603050405020304" charset="0"/>
                <a:cs typeface="Times New Roman" panose="02020603050405020304" charset="0"/>
              </a:rPr>
              <a:t>的邻域时取</a:t>
            </a:r>
            <a:r>
              <a:rPr lang="en-US" altLang="zh-CN">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，否则取</a:t>
            </a:r>
            <a:r>
              <a:rPr lang="en-US" altLang="zh-CN">
                <a:latin typeface="Times New Roman" panose="02020603050405020304" charset="0"/>
                <a:cs typeface="Times New Roman" panose="02020603050405020304" charset="0"/>
              </a:rPr>
              <a:t>0</a:t>
            </a:r>
            <a:endParaRPr lang="en-US" altLang="zh-CN">
              <a:latin typeface="Times New Roman" panose="02020603050405020304" charset="0"/>
              <a:cs typeface="Times New Roman" panose="02020603050405020304" charset="0"/>
            </a:endParaRPr>
          </a:p>
        </p:txBody>
      </p:sp>
      <p:sp>
        <p:nvSpPr>
          <p:cNvPr id="14" name="文本框 13"/>
          <p:cNvSpPr txBox="1"/>
          <p:nvPr/>
        </p:nvSpPr>
        <p:spPr>
          <a:xfrm>
            <a:off x="5662295" y="4780280"/>
            <a:ext cx="5274945" cy="645160"/>
          </a:xfrm>
          <a:prstGeom prst="rect">
            <a:avLst/>
          </a:prstGeom>
          <a:noFill/>
        </p:spPr>
        <p:txBody>
          <a:bodyPr wrap="square" rtlCol="0">
            <a:spAutoFit/>
          </a:bodyPr>
          <a:p>
            <a:pPr>
              <a:spcAft>
                <a:spcPts val="0"/>
              </a:spcAft>
            </a:pPr>
            <a:r>
              <a:rPr lang="en-US" altLang="zh-CN" i="1"/>
              <a:t>A</a:t>
            </a:r>
            <a:r>
              <a:rPr lang="en-US" altLang="zh-CN" i="1" baseline="-25000"/>
              <a:t>i,j</a:t>
            </a:r>
            <a:r>
              <a:rPr lang="zh-CN" altLang="en-US"/>
              <a:t>表示表示区域</a:t>
            </a:r>
            <a:r>
              <a:rPr lang="en-US" altLang="zh-CN" i="1">
                <a:latin typeface="Times New Roman" panose="02020603050405020304" charset="0"/>
                <a:cs typeface="Times New Roman" panose="02020603050405020304" charset="0"/>
                <a:sym typeface="+mn-ea"/>
              </a:rPr>
              <a:t>R</a:t>
            </a:r>
            <a:r>
              <a:rPr lang="en-US" altLang="zh-CN" i="1" baseline="-25000">
                <a:latin typeface="Times New Roman" panose="02020603050405020304" charset="0"/>
                <a:cs typeface="Times New Roman" panose="02020603050405020304" charset="0"/>
                <a:sym typeface="+mn-ea"/>
              </a:rPr>
              <a:t>i,j</a:t>
            </a:r>
            <a:r>
              <a:rPr lang="zh-CN" altLang="en-US">
                <a:latin typeface="Times New Roman" panose="02020603050405020304" charset="0"/>
                <a:cs typeface="Times New Roman" panose="02020603050405020304" charset="0"/>
                <a:sym typeface="+mn-ea"/>
              </a:rPr>
              <a:t>的归一化面积，面积小于</a:t>
            </a:r>
            <a:r>
              <a:rPr lang="en-US" altLang="zh-CN" i="1">
                <a:latin typeface="Times New Roman" panose="02020603050405020304" charset="0"/>
                <a:cs typeface="Times New Roman" panose="02020603050405020304" charset="0"/>
                <a:sym typeface="+mn-ea"/>
              </a:rPr>
              <a:t>T</a:t>
            </a:r>
            <a:r>
              <a:rPr lang="en-US" altLang="zh-CN" i="1" baseline="-25000">
                <a:latin typeface="Times New Roman" panose="02020603050405020304" charset="0"/>
                <a:cs typeface="Times New Roman" panose="02020603050405020304" charset="0"/>
                <a:sym typeface="+mn-ea"/>
              </a:rPr>
              <a:t>A</a:t>
            </a:r>
            <a:r>
              <a:rPr lang="zh-CN" altLang="en-US">
                <a:latin typeface="Times New Roman" panose="02020603050405020304" charset="0"/>
                <a:cs typeface="Times New Roman" panose="02020603050405020304" charset="0"/>
                <a:sym typeface="+mn-ea"/>
              </a:rPr>
              <a:t>的小区域受到抑制</a:t>
            </a:r>
            <a:endParaRPr lang="zh-CN" altLang="en-US">
              <a:latin typeface="Times New Roman" panose="02020603050405020304" charset="0"/>
              <a:cs typeface="Times New Roman" panose="02020603050405020304" charset="0"/>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7" name="矩形 295937"/>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5938" name="矩形 295938"/>
          <p:cNvSpPr/>
          <p:nvPr/>
        </p:nvSpPr>
        <p:spPr>
          <a:xfrm>
            <a:off x="2399030" y="1674495"/>
            <a:ext cx="7441565" cy="977265"/>
          </a:xfrm>
          <a:prstGeom prst="rect">
            <a:avLst/>
          </a:prstGeom>
          <a:noFill/>
          <a:ln w="9525">
            <a:noFill/>
          </a:ln>
        </p:spPr>
        <p:txBody>
          <a:bodyPr wrap="square" anchor="t" anchorCtr="0">
            <a:spAutoFit/>
          </a:bodyPr>
          <a:p>
            <a:pPr algn="l" defTabSz="719455">
              <a:lnSpc>
                <a:spcPct val="120000"/>
              </a:lnSpc>
              <a:spcAft>
                <a:spcPts val="0"/>
              </a:spcAft>
            </a:pPr>
            <a:r>
              <a:rPr lang="en-US" altLang="zh-CN" sz="2400">
                <a:latin typeface="微软雅黑" panose="020B0503020204020204" charset="-122"/>
                <a:ea typeface="微软雅黑" panose="020B0503020204020204" charset="-122"/>
              </a:rPr>
              <a:t>6</a:t>
            </a:r>
            <a:r>
              <a:rPr lang="zh-CN" altLang="en-US" sz="2400">
                <a:latin typeface="微软雅黑" panose="020B0503020204020204" charset="-122"/>
                <a:ea typeface="微软雅黑" panose="020B0503020204020204" charset="-122"/>
              </a:rPr>
              <a:t>个得分：      </a:t>
            </a:r>
            <a:r>
              <a:rPr lang="en-US" altLang="zh-CN" sz="2400">
                <a:latin typeface="Arial" panose="020B0604020202020204" pitchFamily="34" charset="0"/>
                <a:ea typeface="微软雅黑" panose="020B0503020204020204" charset="-122"/>
              </a:rPr>
              <a:t>1.04</a:t>
            </a:r>
            <a:r>
              <a:rPr lang="zh-CN" altLang="en-US" sz="2400">
                <a:latin typeface="微软雅黑" panose="020B0503020204020204" charset="-122"/>
                <a:ea typeface="微软雅黑" panose="020B0503020204020204" charset="-122"/>
              </a:rPr>
              <a:t>，</a:t>
            </a:r>
            <a:r>
              <a:rPr lang="en-US" altLang="zh-CN" sz="2400">
                <a:latin typeface="Arial" panose="020B0604020202020204" pitchFamily="34" charset="0"/>
                <a:ea typeface="微软雅黑" panose="020B0503020204020204" charset="-122"/>
              </a:rPr>
              <a:t>4.65</a:t>
            </a:r>
            <a:r>
              <a:rPr lang="zh-CN" altLang="en-US" sz="2400">
                <a:latin typeface="微软雅黑" panose="020B0503020204020204" charset="-122"/>
                <a:ea typeface="微软雅黑" panose="020B0503020204020204" charset="-122"/>
              </a:rPr>
              <a:t>、</a:t>
            </a:r>
            <a:r>
              <a:rPr lang="en-US" altLang="zh-CN" sz="2400">
                <a:latin typeface="Arial" panose="020B0604020202020204" pitchFamily="34" charset="0"/>
                <a:ea typeface="微软雅黑" panose="020B0503020204020204" charset="-122"/>
              </a:rPr>
              <a:t>19.25</a:t>
            </a:r>
            <a:r>
              <a:rPr lang="zh-CN" altLang="en-US" sz="2400">
                <a:latin typeface="微软雅黑" panose="020B0503020204020204" charset="-122"/>
                <a:ea typeface="微软雅黑" panose="020B0503020204020204" charset="-122"/>
              </a:rPr>
              <a:t>、</a:t>
            </a:r>
            <a:r>
              <a:rPr lang="en-US" altLang="zh-CN" sz="2400" b="1" u="sng">
                <a:latin typeface="Arial" panose="020B0604020202020204" pitchFamily="34" charset="0"/>
                <a:ea typeface="微软雅黑" panose="020B0503020204020204" charset="-122"/>
              </a:rPr>
              <a:t>21.94</a:t>
            </a:r>
            <a:r>
              <a:rPr lang="zh-CN" altLang="en-US" sz="2400">
                <a:latin typeface="微软雅黑" panose="020B0503020204020204" charset="-122"/>
                <a:ea typeface="微软雅黑" panose="020B0503020204020204" charset="-122"/>
              </a:rPr>
              <a:t>、</a:t>
            </a:r>
            <a:r>
              <a:rPr lang="en-US" altLang="zh-CN" sz="2400">
                <a:latin typeface="Arial" panose="020B0604020202020204" pitchFamily="34" charset="0"/>
                <a:ea typeface="微软雅黑" panose="020B0503020204020204" charset="-122"/>
              </a:rPr>
              <a:t>20.6</a:t>
            </a:r>
            <a:r>
              <a:rPr lang="zh-CN" altLang="en-US" sz="2400">
                <a:latin typeface="微软雅黑" panose="020B0503020204020204" charset="-122"/>
                <a:ea typeface="微软雅黑" panose="020B0503020204020204" charset="-122"/>
              </a:rPr>
              <a:t>、</a:t>
            </a:r>
            <a:r>
              <a:rPr lang="en-US" altLang="zh-CN" sz="2400">
                <a:latin typeface="Arial" panose="020B0604020202020204" pitchFamily="34" charset="0"/>
                <a:ea typeface="微软雅黑" panose="020B0503020204020204" charset="-122"/>
              </a:rPr>
              <a:t>0.0</a:t>
            </a:r>
            <a:endParaRPr lang="en-US" altLang="zh-CN" sz="2400">
              <a:latin typeface="Arial" panose="020B0604020202020204" pitchFamily="34" charset="0"/>
              <a:ea typeface="微软雅黑" panose="020B0503020204020204" charset="-122"/>
            </a:endParaRPr>
          </a:p>
          <a:p>
            <a:pPr algn="l" defTabSz="719455">
              <a:lnSpc>
                <a:spcPct val="120000"/>
              </a:lnSpc>
              <a:spcBef>
                <a:spcPts val="0"/>
              </a:spcBef>
              <a:spcAft>
                <a:spcPts val="0"/>
              </a:spcAft>
            </a:pPr>
            <a:r>
              <a:rPr lang="zh-CN" altLang="en-US" sz="2400" b="1">
                <a:latin typeface="Arial" panose="020B0604020202020204" pitchFamily="34" charset="0"/>
                <a:ea typeface="微软雅黑" panose="020B0503020204020204" charset="-122"/>
              </a:rPr>
              <a:t>取得分最高的区域为最稳定区域</a:t>
            </a:r>
            <a:endParaRPr lang="zh-CN" altLang="en-US" sz="2400" b="1">
              <a:latin typeface="Arial" panose="020B0604020202020204" pitchFamily="34" charset="0"/>
              <a:ea typeface="微软雅黑" panose="020B0503020204020204" charset="-122"/>
            </a:endParaRPr>
          </a:p>
        </p:txBody>
      </p:sp>
      <p:sp>
        <p:nvSpPr>
          <p:cNvPr id="295939" name="矩形 295939"/>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最稳定区域</a:t>
            </a:r>
            <a:endParaRPr lang="zh-CN" altLang="en-US" sz="2400" b="1">
              <a:latin typeface="微软雅黑" panose="020B0503020204020204" charset="-122"/>
              <a:ea typeface="微软雅黑" panose="020B0503020204020204" charset="-122"/>
            </a:endParaRPr>
          </a:p>
        </p:txBody>
      </p:sp>
      <p:pic>
        <p:nvPicPr>
          <p:cNvPr id="295940" name="图片 295940" descr="C:/Users/Administrator/AppData/Roaming/Yozo_Office/Temp/fc/968467201615187995629/计算机视觉教程（第3版）PPT第04章.pptx/ppt/media/image24.emf"/>
          <p:cNvPicPr/>
          <p:nvPr/>
        </p:nvPicPr>
        <p:blipFill>
          <a:blip r:embed="rId1"/>
          <a:stretch>
            <a:fillRect/>
          </a:stretch>
        </p:blipFill>
        <p:spPr>
          <a:xfrm>
            <a:off x="2339658" y="2592388"/>
            <a:ext cx="7920037" cy="3671887"/>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1" name="矩形 296961"/>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6962" name="矩形 296962"/>
          <p:cNvSpPr/>
          <p:nvPr/>
        </p:nvSpPr>
        <p:spPr>
          <a:xfrm>
            <a:off x="1648460" y="2016125"/>
            <a:ext cx="9730105" cy="3322955"/>
          </a:xfrm>
          <a:prstGeom prst="rect">
            <a:avLst/>
          </a:prstGeom>
          <a:noFill/>
          <a:ln w="9525">
            <a:noFill/>
          </a:ln>
        </p:spPr>
        <p:txBody>
          <a:bodyPr wrap="square" anchor="t" anchorCtr="0">
            <a:spAutoFit/>
          </a:bodyPr>
          <a:p>
            <a:pPr algn="l" defTabSz="719455">
              <a:lnSpc>
                <a:spcPct val="150000"/>
              </a:lnSpc>
              <a:spcBef>
                <a:spcPts val="600"/>
              </a:spcBef>
              <a:spcAft>
                <a:spcPts val="600"/>
              </a:spcAft>
            </a:pPr>
            <a:r>
              <a:rPr lang="zh-CN" altLang="en-US" sz="2400" b="1">
                <a:latin typeface="微软雅黑" panose="020B0503020204020204" charset="-122"/>
                <a:ea typeface="微软雅黑" panose="020B0503020204020204" charset="-122"/>
              </a:rPr>
              <a:t>边界连通性</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2400">
                <a:latin typeface="微软雅黑" panose="020B0503020204020204" charset="-122"/>
                <a:ea typeface="微软雅黑" panose="020B0503020204020204" charset="-122"/>
                <a:sym typeface="+mn-ea"/>
              </a:rPr>
              <a:t>显著性检测当中常用两种先验：</a:t>
            </a:r>
            <a:endParaRPr lang="zh-CN" altLang="en-US" sz="2400">
              <a:latin typeface="微软雅黑" panose="020B0503020204020204" charset="-122"/>
              <a:ea typeface="微软雅黑" panose="020B0503020204020204" charset="-122"/>
              <a:sym typeface="+mn-ea"/>
            </a:endParaRPr>
          </a:p>
          <a:p>
            <a:pPr algn="just" defTabSz="719455">
              <a:lnSpc>
                <a:spcPct val="150000"/>
              </a:lnSpc>
              <a:spcBef>
                <a:spcPts val="600"/>
              </a:spcBef>
              <a:spcAft>
                <a:spcPts val="600"/>
              </a:spcAft>
            </a:pPr>
            <a:r>
              <a:rPr lang="zh-CN" altLang="en-US" sz="2400">
                <a:solidFill>
                  <a:srgbClr val="FF0000"/>
                </a:solidFill>
                <a:latin typeface="微软雅黑" panose="020B0503020204020204" charset="-122"/>
                <a:ea typeface="微软雅黑" panose="020B0503020204020204" charset="-122"/>
                <a:sym typeface="+mn-ea"/>
              </a:rPr>
              <a:t>边界先验</a:t>
            </a:r>
            <a:r>
              <a:rPr lang="zh-CN" altLang="en-US" sz="2400">
                <a:latin typeface="微软雅黑" panose="020B0503020204020204" charset="-122"/>
                <a:ea typeface="微软雅黑" panose="020B0503020204020204" charset="-122"/>
                <a:sym typeface="+mn-ea"/>
              </a:rPr>
              <a:t>认为图像的边界大部分对应背景区域，</a:t>
            </a:r>
            <a:endParaRPr lang="zh-CN" altLang="en-US" sz="2400">
              <a:latin typeface="微软雅黑" panose="020B0503020204020204" charset="-122"/>
              <a:ea typeface="微软雅黑" panose="020B0503020204020204" charset="-122"/>
              <a:sym typeface="+mn-ea"/>
            </a:endParaRPr>
          </a:p>
          <a:p>
            <a:pPr algn="just" defTabSz="719455">
              <a:lnSpc>
                <a:spcPct val="150000"/>
              </a:lnSpc>
              <a:spcBef>
                <a:spcPts val="600"/>
              </a:spcBef>
              <a:spcAft>
                <a:spcPts val="600"/>
              </a:spcAft>
            </a:pPr>
            <a:r>
              <a:rPr lang="zh-CN" altLang="en-US" sz="2400">
                <a:solidFill>
                  <a:srgbClr val="FF0000"/>
                </a:solidFill>
                <a:latin typeface="微软雅黑" panose="020B0503020204020204" charset="-122"/>
                <a:ea typeface="微软雅黑" panose="020B0503020204020204" charset="-122"/>
                <a:sym typeface="+mn-ea"/>
              </a:rPr>
              <a:t>连通性先验</a:t>
            </a:r>
            <a:r>
              <a:rPr lang="zh-CN" altLang="en-US" sz="2400">
                <a:latin typeface="微软雅黑" panose="020B0503020204020204" charset="-122"/>
                <a:ea typeface="微软雅黑" panose="020B0503020204020204" charset="-122"/>
                <a:sym typeface="+mn-ea"/>
              </a:rPr>
              <a:t>认为背景区域（比前景区域）更多地与图像的边界连在一起。</a:t>
            </a:r>
            <a:r>
              <a:rPr lang="zh-CN" altLang="en-US" sz="2400">
                <a:latin typeface="微软雅黑" panose="020B0503020204020204" charset="-122"/>
                <a:ea typeface="微软雅黑" panose="020B0503020204020204" charset="-122"/>
              </a:rPr>
              <a:t>	</a:t>
            </a:r>
            <a:endParaRPr lang="zh-CN" altLang="en-US" sz="2000">
              <a:latin typeface="微软雅黑" panose="020B0503020204020204" charset="-122"/>
              <a:ea typeface="微软雅黑" panose="020B0503020204020204" charset="-122"/>
            </a:endParaRPr>
          </a:p>
        </p:txBody>
      </p:sp>
      <p:sp>
        <p:nvSpPr>
          <p:cNvPr id="296963" name="矩形 296963"/>
          <p:cNvSpPr/>
          <p:nvPr/>
        </p:nvSpPr>
        <p:spPr>
          <a:xfrm>
            <a:off x="2339975" y="1260475"/>
            <a:ext cx="1981835" cy="460375"/>
          </a:xfrm>
          <a:prstGeom prst="rect">
            <a:avLst/>
          </a:prstGeom>
          <a:noFill/>
          <a:ln w="9525">
            <a:noFill/>
          </a:ln>
        </p:spPr>
        <p:txBody>
          <a:bodyPr wrap="none" anchor="t" anchorCtr="0">
            <a:spAutoFit/>
          </a:bodyPr>
          <a:p>
            <a:pPr defTabSz="719455">
              <a:spcAft>
                <a:spcPts val="0"/>
              </a:spcAft>
            </a:pPr>
            <a:r>
              <a:rPr lang="en-US" altLang="zh-CN" sz="2400" b="1">
                <a:latin typeface="微软雅黑" panose="020B0503020204020204" charset="-122"/>
                <a:ea typeface="微软雅黑" panose="020B0503020204020204" charset="-122"/>
              </a:rPr>
              <a:t>2.</a:t>
            </a: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4919345" y="1610360"/>
            <a:ext cx="5949315" cy="368300"/>
          </a:xfrm>
          <a:prstGeom prst="rect">
            <a:avLst/>
          </a:prstGeom>
          <a:noFill/>
        </p:spPr>
        <p:txBody>
          <a:bodyPr wrap="square" rtlCol="0">
            <a:spAutoFit/>
          </a:bodyPr>
          <a:p>
            <a:pPr>
              <a:spcAft>
                <a:spcPts val="0"/>
              </a:spcAft>
            </a:pPr>
            <a:r>
              <a:rPr lang="zh-CN" altLang="en-US"/>
              <a:t>获得最稳定区域后，再进一步计算其显著性</a:t>
            </a:r>
            <a:endParaRPr lang="zh-CN" altLang="en-US"/>
          </a:p>
        </p:txBody>
      </p:sp>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1" name="矩形 296961"/>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6962" name="矩形 296962"/>
          <p:cNvSpPr/>
          <p:nvPr/>
        </p:nvSpPr>
        <p:spPr>
          <a:xfrm>
            <a:off x="1648460" y="2016125"/>
            <a:ext cx="9730105" cy="645160"/>
          </a:xfrm>
          <a:prstGeom prst="rect">
            <a:avLst/>
          </a:prstGeom>
          <a:noFill/>
          <a:ln w="9525">
            <a:noFill/>
          </a:ln>
        </p:spPr>
        <p:txBody>
          <a:bodyPr wrap="square" anchor="t" anchorCtr="0">
            <a:spAutoFit/>
          </a:bodyPr>
          <a:p>
            <a:pPr algn="l" defTabSz="719455">
              <a:lnSpc>
                <a:spcPct val="150000"/>
              </a:lnSpc>
              <a:spcBef>
                <a:spcPts val="600"/>
              </a:spcBef>
              <a:spcAft>
                <a:spcPts val="600"/>
              </a:spcAft>
            </a:pPr>
            <a:r>
              <a:rPr lang="zh-CN" altLang="en-US" sz="2400" b="1">
                <a:latin typeface="微软雅黑" panose="020B0503020204020204" charset="-122"/>
                <a:ea typeface="微软雅黑" panose="020B0503020204020204" charset="-122"/>
              </a:rPr>
              <a:t>边界连通性</a:t>
            </a:r>
            <a:endParaRPr lang="zh-CN" altLang="en-US" sz="2000">
              <a:latin typeface="微软雅黑" panose="020B0503020204020204" charset="-122"/>
              <a:ea typeface="微软雅黑" panose="020B0503020204020204" charset="-122"/>
            </a:endParaRPr>
          </a:p>
        </p:txBody>
      </p:sp>
      <p:sp>
        <p:nvSpPr>
          <p:cNvPr id="296963" name="矩形 296963"/>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803275" y="2748280"/>
            <a:ext cx="10783570" cy="1845310"/>
          </a:xfrm>
          <a:prstGeom prst="rect">
            <a:avLst/>
          </a:prstGeom>
          <a:noFill/>
        </p:spPr>
        <p:txBody>
          <a:bodyPr wrap="square" rtlCol="0">
            <a:spAutoFit/>
          </a:bodyPr>
          <a:p>
            <a:pPr>
              <a:spcAft>
                <a:spcPts val="0"/>
              </a:spcAft>
            </a:pPr>
            <a:r>
              <a:rPr lang="zh-CN" altLang="en-US" sz="2400">
                <a:latin typeface="微软雅黑" panose="020B0503020204020204" charset="-122"/>
                <a:ea typeface="微软雅黑" panose="020B0503020204020204" charset="-122"/>
                <a:sym typeface="+mn-ea"/>
              </a:rPr>
              <a:t>将两种先验结合</a:t>
            </a:r>
            <a:r>
              <a:rPr lang="zh-CN" altLang="en-US" sz="2400">
                <a:latin typeface="微软雅黑" panose="020B0503020204020204" charset="-122"/>
                <a:ea typeface="微软雅黑" panose="020B0503020204020204" charset="-122"/>
              </a:rPr>
              <a:t>，可制定一个衡量给定图像区域</a:t>
            </a:r>
            <a:r>
              <a:rPr lang="zh-CN" altLang="en-US" sz="2400">
                <a:solidFill>
                  <a:srgbClr val="FF0000"/>
                </a:solidFill>
                <a:latin typeface="微软雅黑" panose="020B0503020204020204" charset="-122"/>
                <a:ea typeface="微软雅黑" panose="020B0503020204020204" charset="-122"/>
              </a:rPr>
              <a:t>属于背景大小可能性的参数</a:t>
            </a:r>
            <a:r>
              <a:rPr lang="zh-CN" altLang="en-US" sz="2400">
                <a:latin typeface="微软雅黑" panose="020B0503020204020204" charset="-122"/>
                <a:ea typeface="微软雅黑" panose="020B0503020204020204" charset="-122"/>
              </a:rPr>
              <a:t>，成为</a:t>
            </a:r>
            <a:r>
              <a:rPr lang="zh-CN" altLang="en-US" sz="2400">
                <a:solidFill>
                  <a:srgbClr val="FF0000"/>
                </a:solidFill>
                <a:latin typeface="微软雅黑" panose="020B0503020204020204" charset="-122"/>
                <a:ea typeface="微软雅黑" panose="020B0503020204020204" charset="-122"/>
              </a:rPr>
              <a:t>边界连通性（BC）</a:t>
            </a:r>
            <a:r>
              <a:rPr lang="zh-CN" altLang="en-US"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sym typeface="+mn-ea"/>
              </a:rPr>
              <a:t>一个图像中区域和整幅图像边界重叠的长度与该区域面积的平方根的比值。这个比值可以衡量给定图像区域属于背景的可能性，</a:t>
            </a:r>
            <a:r>
              <a:rPr lang="zh-CN" altLang="en-US" sz="2400">
                <a:solidFill>
                  <a:srgbClr val="FF0000"/>
                </a:solidFill>
                <a:latin typeface="微软雅黑" panose="020B0503020204020204" charset="-122"/>
                <a:ea typeface="微软雅黑" panose="020B0503020204020204" charset="-122"/>
                <a:sym typeface="+mn-ea"/>
              </a:rPr>
              <a:t>前面最稳定区域可以被认定是一个检测到的区域</a:t>
            </a:r>
            <a:r>
              <a:rPr lang="zh-CN" altLang="en-US" sz="2400">
                <a:latin typeface="微软雅黑" panose="020B0503020204020204" charset="-122"/>
                <a:ea typeface="微软雅黑" panose="020B0503020204020204" charset="-122"/>
                <a:sym typeface="+mn-ea"/>
              </a:rPr>
              <a:t>，其边界连通性可以如下计算：</a:t>
            </a:r>
            <a:endParaRPr lang="zh-CN" altLang="en-US" sz="2400">
              <a:latin typeface="微软雅黑" panose="020B0503020204020204" charset="-122"/>
              <a:ea typeface="微软雅黑" panose="020B0503020204020204" charset="-122"/>
            </a:endParaRPr>
          </a:p>
          <a:p>
            <a:endParaRPr lang="zh-CN" altLang="en-US"/>
          </a:p>
        </p:txBody>
      </p:sp>
      <p:graphicFrame>
        <p:nvGraphicFramePr>
          <p:cNvPr id="3" name="对象 2">
            <a:hlinkClick r:id="" action="ppaction://ole?verb="/>
          </p:cNvPr>
          <p:cNvGraphicFramePr>
            <a:graphicFrameLocks noChangeAspect="1"/>
          </p:cNvGraphicFramePr>
          <p:nvPr/>
        </p:nvGraphicFramePr>
        <p:xfrm>
          <a:off x="4288790" y="4442460"/>
          <a:ext cx="3155950" cy="1311275"/>
        </p:xfrm>
        <a:graphic>
          <a:graphicData uri="http://schemas.openxmlformats.org/presentationml/2006/ole">
            <mc:AlternateContent xmlns:mc="http://schemas.openxmlformats.org/markup-compatibility/2006">
              <mc:Choice xmlns:v="urn:schemas-microsoft-com:vml" Requires="v">
                <p:oleObj spid="_x0000_s2049" name="" r:id="rId1" imgW="1803400" imgH="749300" progId="Equation.KSEE3">
                  <p:embed/>
                </p:oleObj>
              </mc:Choice>
              <mc:Fallback>
                <p:oleObj name="" r:id="rId1" imgW="1803400" imgH="749300" progId="Equation.KSEE3">
                  <p:embed/>
                  <p:pic>
                    <p:nvPicPr>
                      <p:cNvPr id="0" name="图片 2048"/>
                      <p:cNvPicPr/>
                      <p:nvPr/>
                    </p:nvPicPr>
                    <p:blipFill>
                      <a:blip r:embed="rId2"/>
                      <a:stretch>
                        <a:fillRect/>
                      </a:stretch>
                    </p:blipFill>
                    <p:spPr>
                      <a:xfrm>
                        <a:off x="4288790" y="4442460"/>
                        <a:ext cx="3155950" cy="1311275"/>
                      </a:xfrm>
                      <a:prstGeom prst="rect">
                        <a:avLst/>
                      </a:prstGeom>
                    </p:spPr>
                  </p:pic>
                </p:oleObj>
              </mc:Fallback>
            </mc:AlternateContent>
          </a:graphicData>
        </a:graphic>
      </p:graphicFrame>
      <p:sp>
        <p:nvSpPr>
          <p:cNvPr id="4" name="文本框 3"/>
          <p:cNvSpPr txBox="1"/>
          <p:nvPr>
            <p:custDataLst>
              <p:tags r:id="rId3"/>
            </p:custDataLst>
          </p:nvPr>
        </p:nvSpPr>
        <p:spPr>
          <a:xfrm>
            <a:off x="923925" y="5884545"/>
            <a:ext cx="10783570" cy="645160"/>
          </a:xfrm>
          <a:prstGeom prst="rect">
            <a:avLst/>
          </a:prstGeom>
          <a:noFill/>
        </p:spPr>
        <p:txBody>
          <a:bodyPr wrap="square" rtlCol="0">
            <a:spAutoFit/>
          </a:bodyPr>
          <a:p>
            <a:pPr>
              <a:spcAft>
                <a:spcPts val="0"/>
              </a:spcAft>
            </a:pPr>
            <a:r>
              <a:rPr lang="zh-CN" altLang="en-US">
                <a:latin typeface="Times New Roman" panose="02020603050405020304" charset="0"/>
                <a:cs typeface="Times New Roman" panose="02020603050405020304" charset="0"/>
              </a:rPr>
              <a:t>其中，</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P</a:t>
            </a:r>
            <a:r>
              <a:rPr lang="en-US" altLang="zh-CN">
                <a:latin typeface="Times New Roman" panose="02020603050405020304" charset="0"/>
                <a:cs typeface="Times New Roman" panose="02020603050405020304" charset="0"/>
              </a:rPr>
              <a:t>}</a:t>
            </a:r>
            <a:r>
              <a:rPr lang="zh-CN" altLang="en-US">
                <a:latin typeface="Times New Roman" panose="02020603050405020304" charset="0"/>
                <a:cs typeface="Times New Roman" panose="02020603050405020304" charset="0"/>
              </a:rPr>
              <a:t>代表所有超像素，</a:t>
            </a:r>
            <a:r>
              <a:rPr lang="en-US" altLang="zh-CN">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P</a:t>
            </a:r>
            <a:r>
              <a:rPr lang="en-US" altLang="zh-CN" i="1" baseline="-25000">
                <a:latin typeface="Times New Roman" panose="02020603050405020304" charset="0"/>
                <a:cs typeface="Times New Roman" panose="02020603050405020304" charset="0"/>
              </a:rPr>
              <a:t>B</a:t>
            </a:r>
            <a:r>
              <a:rPr lang="en-US" altLang="zh-CN">
                <a:latin typeface="Times New Roman" panose="02020603050405020304" charset="0"/>
                <a:cs typeface="Times New Roman" panose="02020603050405020304" charset="0"/>
              </a:rPr>
              <a:t>}</a:t>
            </a:r>
            <a:r>
              <a:rPr lang="zh-CN" altLang="en-US">
                <a:latin typeface="Times New Roman" panose="02020603050405020304" charset="0"/>
                <a:cs typeface="Times New Roman" panose="02020603050405020304" charset="0"/>
              </a:rPr>
              <a:t>代表图像边界上的所有超像素，</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在超像素属于最稳定区域时取</a:t>
            </a:r>
            <a:r>
              <a:rPr lang="en-US" altLang="zh-CN">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，否则取</a:t>
            </a:r>
            <a:r>
              <a:rPr lang="en-US" altLang="zh-CN">
                <a:latin typeface="Times New Roman" panose="02020603050405020304" charset="0"/>
                <a:cs typeface="Times New Roman" panose="02020603050405020304" charset="0"/>
              </a:rPr>
              <a:t>0</a:t>
            </a:r>
            <a:endParaRPr lang="en-US" altLang="zh-CN">
              <a:latin typeface="Times New Roman" panose="02020603050405020304" charset="0"/>
              <a:cs typeface="Times New Roman" panose="02020603050405020304" charset="0"/>
            </a:endParaRPr>
          </a:p>
        </p:txBody>
      </p:sp>
      <p:pic>
        <p:nvPicPr>
          <p:cNvPr id="5" name="图片 4"/>
          <p:cNvPicPr>
            <a:picLocks noChangeAspect="1"/>
          </p:cNvPicPr>
          <p:nvPr>
            <p:custDataLst>
              <p:tags r:id="rId4"/>
            </p:custDataLst>
          </p:nvPr>
        </p:nvPicPr>
        <p:blipFill>
          <a:blip r:embed="rId5"/>
          <a:stretch>
            <a:fillRect/>
          </a:stretch>
        </p:blipFill>
        <p:spPr>
          <a:xfrm>
            <a:off x="7444740" y="5939155"/>
            <a:ext cx="875665" cy="254635"/>
          </a:xfrm>
          <a:prstGeom prst="rect">
            <a:avLst/>
          </a:prstGeom>
        </p:spPr>
      </p:pic>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5" name="矩形 297985"/>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7986" name="矩形 297986"/>
          <p:cNvSpPr/>
          <p:nvPr/>
        </p:nvSpPr>
        <p:spPr>
          <a:xfrm>
            <a:off x="1015365" y="1640840"/>
            <a:ext cx="10610850" cy="3138170"/>
          </a:xfrm>
          <a:prstGeom prst="rect">
            <a:avLst/>
          </a:prstGeom>
          <a:noFill/>
          <a:ln w="9525">
            <a:noFill/>
          </a:ln>
        </p:spPr>
        <p:txBody>
          <a:bodyPr wrap="square" anchor="t" anchorCtr="0">
            <a:spAutoFit/>
          </a:bodyPr>
          <a:p>
            <a:pPr algn="l" defTabSz="719455">
              <a:lnSpc>
                <a:spcPct val="150000"/>
              </a:lnSpc>
              <a:spcBef>
                <a:spcPts val="600"/>
              </a:spcBef>
              <a:spcAft>
                <a:spcPts val="600"/>
              </a:spcAft>
            </a:pPr>
            <a:r>
              <a:rPr lang="zh-CN" altLang="en-US" sz="2400" b="1">
                <a:latin typeface="微软雅黑" panose="020B0503020204020204" charset="-122"/>
                <a:ea typeface="微软雅黑" panose="020B0503020204020204" charset="-122"/>
              </a:rPr>
              <a:t>颜色空间分布</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2400">
                <a:solidFill>
                  <a:srgbClr val="FF0000"/>
                </a:solidFill>
                <a:latin typeface="微软雅黑" panose="020B0503020204020204" charset="-122"/>
                <a:ea typeface="微软雅黑" panose="020B0503020204020204" charset="-122"/>
              </a:rPr>
              <a:t>	</a:t>
            </a:r>
            <a:r>
              <a:rPr lang="zh-CN" altLang="en-US" sz="1600">
                <a:solidFill>
                  <a:srgbClr val="FF0000"/>
                </a:solidFill>
                <a:latin typeface="微软雅黑" panose="020B0503020204020204" charset="-122"/>
                <a:ea typeface="微软雅黑" panose="020B0503020204020204" charset="-122"/>
              </a:rPr>
              <a:t>表示某个特定区域颜色在图像中其他地方出现的可能性</a:t>
            </a:r>
            <a:endParaRPr lang="zh-CN" altLang="en-US" sz="1600">
              <a:solidFill>
                <a:srgbClr val="FF0000"/>
              </a:solidFill>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1600">
                <a:latin typeface="微软雅黑" panose="020B0503020204020204" charset="-122"/>
                <a:ea typeface="微软雅黑" panose="020B0503020204020204" charset="-122"/>
              </a:rPr>
              <a:t>	实际中，背景区域颜色常分布在整幅图像上，即在空间分布上方差很高；而前景区域颜色常分布比较紧凑，在空间分布上方差较小。在空间上分布较紧凑的区域颜色将会比在空间上分布较广泛的区域颜色更显著</a:t>
            </a:r>
            <a:endParaRPr lang="zh-CN" altLang="en-US" sz="1600">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1600">
                <a:latin typeface="微软雅黑" panose="020B0503020204020204" charset="-122"/>
                <a:ea typeface="微软雅黑" panose="020B0503020204020204" charset="-122"/>
              </a:rPr>
              <a:t>对最稳定区域，其颜色空间分布情况（即其平均颜色在图像中其它区域出现的可能性），可以用与该最稳定区域颜色类似的所有区域空间上的加权平方差来表示：</a:t>
            </a:r>
            <a:endParaRPr lang="zh-CN" altLang="en-US" sz="1600">
              <a:latin typeface="微软雅黑" panose="020B0503020204020204" charset="-122"/>
              <a:ea typeface="微软雅黑" panose="020B0503020204020204" charset="-122"/>
            </a:endParaRPr>
          </a:p>
        </p:txBody>
      </p:sp>
      <p:sp>
        <p:nvSpPr>
          <p:cNvPr id="297987" name="矩形 29798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3469640" y="4900295"/>
          <a:ext cx="4750435" cy="685165"/>
        </p:xfrm>
        <a:graphic>
          <a:graphicData uri="http://schemas.openxmlformats.org/presentationml/2006/ole">
            <mc:AlternateContent xmlns:mc="http://schemas.openxmlformats.org/markup-compatibility/2006">
              <mc:Choice xmlns:v="urn:schemas-microsoft-com:vml" Requires="v">
                <p:oleObj spid="_x0000_s3073" name="" r:id="rId1" imgW="2641600" imgH="381000" progId="Equation.KSEE3">
                  <p:embed/>
                </p:oleObj>
              </mc:Choice>
              <mc:Fallback>
                <p:oleObj name="" r:id="rId1" imgW="2641600" imgH="381000" progId="Equation.KSEE3">
                  <p:embed/>
                  <p:pic>
                    <p:nvPicPr>
                      <p:cNvPr id="0" name="图片 3072"/>
                      <p:cNvPicPr/>
                      <p:nvPr/>
                    </p:nvPicPr>
                    <p:blipFill>
                      <a:blip r:embed="rId2"/>
                      <a:stretch>
                        <a:fillRect/>
                      </a:stretch>
                    </p:blipFill>
                    <p:spPr>
                      <a:xfrm>
                        <a:off x="3469640" y="4900295"/>
                        <a:ext cx="4750435" cy="685165"/>
                      </a:xfrm>
                      <a:prstGeom prst="rect">
                        <a:avLst/>
                      </a:prstGeom>
                    </p:spPr>
                  </p:pic>
                </p:oleObj>
              </mc:Fallback>
            </mc:AlternateContent>
          </a:graphicData>
        </a:graphic>
      </p:graphicFrame>
      <p:sp>
        <p:nvSpPr>
          <p:cNvPr id="3" name="文本框 2"/>
          <p:cNvSpPr txBox="1"/>
          <p:nvPr/>
        </p:nvSpPr>
        <p:spPr>
          <a:xfrm>
            <a:off x="1435100" y="5665470"/>
            <a:ext cx="9700260" cy="368300"/>
          </a:xfrm>
          <a:prstGeom prst="rect">
            <a:avLst/>
          </a:prstGeom>
          <a:noFill/>
        </p:spPr>
        <p:txBody>
          <a:bodyPr wrap="square" rtlCol="0">
            <a:spAutoFit/>
          </a:bodyPr>
          <a:p>
            <a:pPr>
              <a:spcAft>
                <a:spcPts val="0"/>
              </a:spcAft>
            </a:pPr>
            <a:r>
              <a:rPr lang="en-US" altLang="zh-CN" i="1">
                <a:latin typeface="Times New Roman" panose="02020603050405020304" charset="0"/>
                <a:cs typeface="Times New Roman" panose="02020603050405020304" charset="0"/>
              </a:rPr>
              <a:t>q</a:t>
            </a:r>
            <a:r>
              <a:rPr lang="en-US" altLang="zh-CN" i="1" baseline="-25000">
                <a:latin typeface="Times New Roman" panose="02020603050405020304" charset="0"/>
                <a:cs typeface="Times New Roman" panose="02020603050405020304" charset="0"/>
              </a:rPr>
              <a:t>L</a:t>
            </a:r>
            <a:r>
              <a:rPr lang="zh-CN" altLang="en-US">
                <a:latin typeface="Times New Roman" panose="02020603050405020304" charset="0"/>
                <a:cs typeface="Times New Roman" panose="02020603050405020304" charset="0"/>
              </a:rPr>
              <a:t>表示超像素</a:t>
            </a:r>
            <a:r>
              <a:rPr lang="en-US" altLang="zh-CN" i="1">
                <a:latin typeface="Times New Roman" panose="02020603050405020304" charset="0"/>
                <a:cs typeface="Times New Roman" panose="02020603050405020304" charset="0"/>
              </a:rPr>
              <a:t>q</a:t>
            </a:r>
            <a:r>
              <a:rPr lang="zh-CN" altLang="en-US">
                <a:latin typeface="Times New Roman" panose="02020603050405020304" charset="0"/>
                <a:cs typeface="Times New Roman" panose="02020603050405020304" charset="0"/>
              </a:rPr>
              <a:t>的位置，</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表示与</a:t>
            </a:r>
            <a:r>
              <a:rPr lang="en-US" altLang="zh-CN">
                <a:latin typeface="Times New Roman" panose="02020603050405020304" charset="0"/>
                <a:cs typeface="Times New Roman" panose="02020603050405020304" charset="0"/>
              </a:rPr>
              <a:t>MSR</a:t>
            </a:r>
            <a:r>
              <a:rPr lang="zh-CN" altLang="en-US">
                <a:latin typeface="Times New Roman" panose="02020603050405020304" charset="0"/>
                <a:cs typeface="Times New Roman" panose="02020603050405020304" charset="0"/>
              </a:rPr>
              <a:t>颜色类似的所有区域在空间加权上的平均位置，</a:t>
            </a:r>
            <a:endParaRPr lang="zh-CN" altLang="en-US">
              <a:latin typeface="Times New Roman" panose="02020603050405020304" charset="0"/>
              <a:cs typeface="Times New Roman" panose="02020603050405020304" charset="0"/>
            </a:endParaRPr>
          </a:p>
        </p:txBody>
      </p:sp>
      <p:pic>
        <p:nvPicPr>
          <p:cNvPr id="4" name="图片 3"/>
          <p:cNvPicPr>
            <a:picLocks noChangeAspect="1"/>
          </p:cNvPicPr>
          <p:nvPr>
            <p:custDataLst>
              <p:tags r:id="rId3"/>
            </p:custDataLst>
          </p:nvPr>
        </p:nvPicPr>
        <p:blipFill>
          <a:blip r:embed="rId4"/>
          <a:stretch>
            <a:fillRect/>
          </a:stretch>
        </p:blipFill>
        <p:spPr>
          <a:xfrm>
            <a:off x="3970020" y="5670550"/>
            <a:ext cx="855345" cy="387350"/>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1690370" y="6113780"/>
            <a:ext cx="1168400" cy="382270"/>
          </a:xfrm>
          <a:prstGeom prst="rect">
            <a:avLst/>
          </a:prstGeom>
        </p:spPr>
      </p:pic>
      <p:sp>
        <p:nvSpPr>
          <p:cNvPr id="6" name="文本框 5"/>
          <p:cNvSpPr txBox="1"/>
          <p:nvPr/>
        </p:nvSpPr>
        <p:spPr>
          <a:xfrm>
            <a:off x="2764155" y="6111240"/>
            <a:ext cx="4064000" cy="368300"/>
          </a:xfrm>
          <a:prstGeom prst="rect">
            <a:avLst/>
          </a:prstGeom>
          <a:noFill/>
        </p:spPr>
        <p:txBody>
          <a:bodyPr wrap="square" rtlCol="0">
            <a:spAutoFit/>
          </a:bodyPr>
          <a:p>
            <a:pPr>
              <a:spcAft>
                <a:spcPts val="0"/>
              </a:spcAft>
            </a:pPr>
            <a:r>
              <a:rPr lang="zh-CN" altLang="en-US"/>
              <a:t>表示</a:t>
            </a:r>
            <a:r>
              <a:rPr lang="en-US" altLang="zh-CN"/>
              <a:t>MSR</a:t>
            </a:r>
            <a:r>
              <a:rPr lang="zh-CN" altLang="en-US"/>
              <a:t>与超像素之间的颜色相似度</a:t>
            </a:r>
            <a:endParaRPr lang="zh-CN" altLang="en-US"/>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5" name="矩形 297985"/>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7986" name="矩形 297986"/>
          <p:cNvSpPr/>
          <p:nvPr/>
        </p:nvSpPr>
        <p:spPr>
          <a:xfrm>
            <a:off x="1015365" y="1682115"/>
            <a:ext cx="10610850" cy="1353185"/>
          </a:xfrm>
          <a:prstGeom prst="rect">
            <a:avLst/>
          </a:prstGeom>
          <a:noFill/>
          <a:ln w="9525">
            <a:noFill/>
          </a:ln>
        </p:spPr>
        <p:txBody>
          <a:bodyPr wrap="square" anchor="t" anchorCtr="0">
            <a:spAutoFit/>
          </a:bodyPr>
          <a:p>
            <a:pPr algn="l" defTabSz="719455">
              <a:lnSpc>
                <a:spcPct val="150000"/>
              </a:lnSpc>
              <a:spcBef>
                <a:spcPts val="600"/>
              </a:spcBef>
              <a:spcAft>
                <a:spcPts val="600"/>
              </a:spcAft>
            </a:pPr>
            <a:r>
              <a:rPr lang="zh-CN" altLang="en-US" sz="2400" b="1">
                <a:latin typeface="微软雅黑" panose="020B0503020204020204" charset="-122"/>
                <a:ea typeface="微软雅黑" panose="020B0503020204020204" charset="-122"/>
              </a:rPr>
              <a:t>颜色空间分布</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2400">
                <a:latin typeface="微软雅黑" panose="020B0503020204020204" charset="-122"/>
                <a:ea typeface="微软雅黑" panose="020B0503020204020204" charset="-122"/>
              </a:rPr>
              <a:t>	</a:t>
            </a:r>
            <a:endParaRPr lang="zh-CN" altLang="en-US" sz="1600">
              <a:latin typeface="微软雅黑" panose="020B0503020204020204" charset="-122"/>
              <a:ea typeface="微软雅黑" panose="020B0503020204020204" charset="-122"/>
            </a:endParaRPr>
          </a:p>
        </p:txBody>
      </p:sp>
      <p:sp>
        <p:nvSpPr>
          <p:cNvPr id="297987" name="矩形 29798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sp>
        <p:nvSpPr>
          <p:cNvPr id="7" name="文本框 6"/>
          <p:cNvSpPr txBox="1"/>
          <p:nvPr/>
        </p:nvSpPr>
        <p:spPr>
          <a:xfrm>
            <a:off x="617220" y="2480945"/>
            <a:ext cx="11009630" cy="398780"/>
          </a:xfrm>
          <a:prstGeom prst="rect">
            <a:avLst/>
          </a:prstGeom>
          <a:noFill/>
        </p:spPr>
        <p:txBody>
          <a:bodyPr wrap="square" rtlCol="0">
            <a:spAutoFit/>
          </a:bodyPr>
          <a:p>
            <a:pPr>
              <a:spcAft>
                <a:spcPts val="0"/>
              </a:spcAft>
            </a:pPr>
            <a:r>
              <a:rPr lang="zh-CN" altLang="en-US" sz="2000"/>
              <a:t>结合考虑边界连通性和颜色空间分布两个参数，可以给定一个显著性的特征，即新的显著性值为：</a:t>
            </a:r>
            <a:endParaRPr lang="zh-CN" altLang="en-US" sz="2000"/>
          </a:p>
        </p:txBody>
      </p:sp>
      <p:graphicFrame>
        <p:nvGraphicFramePr>
          <p:cNvPr id="8" name="对象 7">
            <a:hlinkClick r:id="" action="ppaction://ole?verb="/>
          </p:cNvPr>
          <p:cNvGraphicFramePr>
            <a:graphicFrameLocks noChangeAspect="1"/>
          </p:cNvGraphicFramePr>
          <p:nvPr/>
        </p:nvGraphicFramePr>
        <p:xfrm>
          <a:off x="2081530" y="3213735"/>
          <a:ext cx="7141210" cy="516255"/>
        </p:xfrm>
        <a:graphic>
          <a:graphicData uri="http://schemas.openxmlformats.org/presentationml/2006/ole">
            <mc:AlternateContent xmlns:mc="http://schemas.openxmlformats.org/markup-compatibility/2006">
              <mc:Choice xmlns:v="urn:schemas-microsoft-com:vml" Requires="v">
                <p:oleObj spid="_x0000_s4097" name="" r:id="rId1" imgW="3162300" imgH="228600" progId="Equation.KSEE3">
                  <p:embed/>
                </p:oleObj>
              </mc:Choice>
              <mc:Fallback>
                <p:oleObj name="" r:id="rId1" imgW="3162300" imgH="228600" progId="Equation.KSEE3">
                  <p:embed/>
                  <p:pic>
                    <p:nvPicPr>
                      <p:cNvPr id="0" name="图片 4096"/>
                      <p:cNvPicPr/>
                      <p:nvPr/>
                    </p:nvPicPr>
                    <p:blipFill>
                      <a:blip r:embed="rId2"/>
                      <a:stretch>
                        <a:fillRect/>
                      </a:stretch>
                    </p:blipFill>
                    <p:spPr>
                      <a:xfrm>
                        <a:off x="2081530" y="3213735"/>
                        <a:ext cx="7141210" cy="516255"/>
                      </a:xfrm>
                      <a:prstGeom prst="rect">
                        <a:avLst/>
                      </a:prstGeom>
                    </p:spPr>
                  </p:pic>
                </p:oleObj>
              </mc:Fallback>
            </mc:AlternateContent>
          </a:graphicData>
        </a:graphic>
      </p:graphicFrame>
      <p:sp>
        <p:nvSpPr>
          <p:cNvPr id="9" name="文本框 8"/>
          <p:cNvSpPr txBox="1"/>
          <p:nvPr>
            <p:custDataLst>
              <p:tags r:id="rId3"/>
            </p:custDataLst>
          </p:nvPr>
        </p:nvSpPr>
        <p:spPr>
          <a:xfrm>
            <a:off x="1621790" y="3969385"/>
            <a:ext cx="7788275" cy="368300"/>
          </a:xfrm>
          <a:prstGeom prst="rect">
            <a:avLst/>
          </a:prstGeom>
          <a:noFill/>
        </p:spPr>
        <p:txBody>
          <a:bodyPr wrap="square" rtlCol="0">
            <a:spAutoFit/>
          </a:bodyPr>
          <a:p>
            <a:pPr>
              <a:spcAft>
                <a:spcPts val="0"/>
              </a:spcAft>
            </a:pPr>
            <a:r>
              <a:rPr lang="en-US" altLang="zh-CN" i="1">
                <a:latin typeface="Times New Roman" panose="02020603050405020304" charset="0"/>
                <a:cs typeface="Times New Roman" panose="02020603050405020304" charset="0"/>
              </a:rPr>
              <a:t>W</a:t>
            </a:r>
            <a:r>
              <a:rPr lang="en-US" altLang="zh-CN" i="1" baseline="-25000">
                <a:latin typeface="Times New Roman" panose="02020603050405020304" charset="0"/>
                <a:cs typeface="Times New Roman" panose="02020603050405020304" charset="0"/>
              </a:rPr>
              <a:t>b</a:t>
            </a:r>
            <a:r>
              <a:rPr lang="zh-CN" altLang="en-US">
                <a:latin typeface="Times New Roman" panose="02020603050405020304" charset="0"/>
                <a:cs typeface="Times New Roman" panose="02020603050405020304" charset="0"/>
              </a:rPr>
              <a:t>和</a:t>
            </a:r>
            <a:r>
              <a:rPr lang="en-US" altLang="zh-CN" i="1">
                <a:latin typeface="Times New Roman" panose="02020603050405020304" charset="0"/>
                <a:cs typeface="Times New Roman" panose="02020603050405020304" charset="0"/>
              </a:rPr>
              <a:t>W</a:t>
            </a:r>
            <a:r>
              <a:rPr lang="en-US" altLang="zh-CN" i="1" baseline="-25000">
                <a:latin typeface="Times New Roman" panose="02020603050405020304" charset="0"/>
                <a:cs typeface="Times New Roman" panose="02020603050405020304" charset="0"/>
              </a:rPr>
              <a:t>c</a:t>
            </a:r>
            <a:r>
              <a:rPr lang="zh-CN" altLang="en-US">
                <a:latin typeface="Times New Roman" panose="02020603050405020304" charset="0"/>
                <a:cs typeface="Times New Roman" panose="02020603050405020304" charset="0"/>
              </a:rPr>
              <a:t>是</a:t>
            </a:r>
            <a:r>
              <a:rPr lang="zh-CN" altLang="en-US"/>
              <a:t>控制两个参数的权重</a:t>
            </a:r>
            <a:endParaRPr lang="zh-CN" altLang="en-US"/>
          </a:p>
        </p:txBody>
      </p:sp>
      <p:sp>
        <p:nvSpPr>
          <p:cNvPr id="2" name="矩形 1"/>
          <p:cNvSpPr/>
          <p:nvPr/>
        </p:nvSpPr>
        <p:spPr>
          <a:xfrm>
            <a:off x="5001260" y="3180715"/>
            <a:ext cx="1162050" cy="52578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4"/>
            </p:custDataLst>
          </p:nvPr>
        </p:nvSpPr>
        <p:spPr>
          <a:xfrm>
            <a:off x="7941310" y="3208655"/>
            <a:ext cx="1162050" cy="52578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5" name="矩形 297985"/>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7986" name="矩形 297986"/>
          <p:cNvSpPr/>
          <p:nvPr/>
        </p:nvSpPr>
        <p:spPr>
          <a:xfrm>
            <a:off x="1015365" y="1682115"/>
            <a:ext cx="10610850" cy="1353185"/>
          </a:xfrm>
          <a:prstGeom prst="rect">
            <a:avLst/>
          </a:prstGeom>
          <a:noFill/>
          <a:ln w="9525">
            <a:noFill/>
          </a:ln>
        </p:spPr>
        <p:txBody>
          <a:bodyPr wrap="square" anchor="t" anchorCtr="0">
            <a:spAutoFit/>
          </a:bodyPr>
          <a:p>
            <a:pPr algn="l" defTabSz="719455">
              <a:lnSpc>
                <a:spcPct val="150000"/>
              </a:lnSpc>
              <a:spcBef>
                <a:spcPts val="600"/>
              </a:spcBef>
              <a:spcAft>
                <a:spcPts val="600"/>
              </a:spcAft>
            </a:pPr>
            <a:r>
              <a:rPr lang="zh-CN" altLang="en-US" sz="2400" b="1">
                <a:latin typeface="微软雅黑" panose="020B0503020204020204" charset="-122"/>
                <a:ea typeface="微软雅黑" panose="020B0503020204020204" charset="-122"/>
              </a:rPr>
              <a:t>颜色空间分布</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600"/>
              </a:spcAft>
            </a:pPr>
            <a:r>
              <a:rPr lang="zh-CN" altLang="en-US" sz="2400">
                <a:latin typeface="微软雅黑" panose="020B0503020204020204" charset="-122"/>
                <a:ea typeface="微软雅黑" panose="020B0503020204020204" charset="-122"/>
              </a:rPr>
              <a:t>	</a:t>
            </a:r>
            <a:endParaRPr lang="zh-CN" altLang="en-US" sz="1600">
              <a:latin typeface="微软雅黑" panose="020B0503020204020204" charset="-122"/>
              <a:ea typeface="微软雅黑" panose="020B0503020204020204" charset="-122"/>
            </a:endParaRPr>
          </a:p>
        </p:txBody>
      </p:sp>
      <p:sp>
        <p:nvSpPr>
          <p:cNvPr id="297987" name="矩形 297987"/>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sp>
        <p:nvSpPr>
          <p:cNvPr id="7" name="文本框 6"/>
          <p:cNvSpPr txBox="1"/>
          <p:nvPr/>
        </p:nvSpPr>
        <p:spPr>
          <a:xfrm>
            <a:off x="889000" y="2321560"/>
            <a:ext cx="10581005" cy="1206500"/>
          </a:xfrm>
          <a:prstGeom prst="rect">
            <a:avLst/>
          </a:prstGeom>
          <a:noFill/>
        </p:spPr>
        <p:txBody>
          <a:bodyPr wrap="square" rtlCol="0">
            <a:noAutofit/>
          </a:bodyPr>
          <a:p>
            <a:pPr indent="0" fontAlgn="auto">
              <a:lnSpc>
                <a:spcPct val="150000"/>
              </a:lnSpc>
              <a:spcAft>
                <a:spcPts val="0"/>
              </a:spcAft>
            </a:pPr>
            <a:r>
              <a:rPr lang="zh-CN" altLang="en-US">
                <a:latin typeface="Times New Roman" panose="02020603050405020304" charset="0"/>
                <a:cs typeface="Times New Roman" panose="02020603050405020304" charset="0"/>
              </a:rPr>
              <a:t>对于每一个种子超像素</a:t>
            </a:r>
            <a:r>
              <a:rPr lang="en-US" altLang="zh-CN">
                <a:latin typeface="Times New Roman" panose="02020603050405020304" charset="0"/>
                <a:cs typeface="Times New Roman" panose="02020603050405020304" charset="0"/>
              </a:rPr>
              <a:t> </a:t>
            </a:r>
            <a:r>
              <a:rPr lang="en-US" altLang="zh-CN" i="1">
                <a:latin typeface="Times New Roman" panose="02020603050405020304" charset="0"/>
                <a:cs typeface="Times New Roman" panose="02020603050405020304" charset="0"/>
              </a:rPr>
              <a:t>P</a:t>
            </a:r>
            <a:r>
              <a:rPr lang="en-US" altLang="zh-CN" i="1" baseline="-25000">
                <a:latin typeface="Times New Roman" panose="02020603050405020304" charset="0"/>
                <a:cs typeface="Times New Roman" panose="02020603050405020304" charset="0"/>
              </a:rPr>
              <a:t>i</a:t>
            </a:r>
            <a:r>
              <a:rPr lang="zh-CN" altLang="en-US">
                <a:latin typeface="Times New Roman" panose="02020603050405020304" charset="0"/>
                <a:cs typeface="Times New Roman" panose="02020603050405020304" charset="0"/>
              </a:rPr>
              <a:t>，都会生成与之相对应的最稳定区域</a:t>
            </a:r>
            <a:r>
              <a:rPr lang="en-US" altLang="zh-CN">
                <a:latin typeface="Times New Roman" panose="02020603050405020304" charset="0"/>
                <a:cs typeface="Times New Roman" panose="02020603050405020304" charset="0"/>
              </a:rPr>
              <a:t>MSR</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i=1,...,</a:t>
            </a:r>
            <a:r>
              <a:rPr lang="en-US" altLang="zh-CN" i="1">
                <a:latin typeface="Times New Roman" panose="02020603050405020304" charset="0"/>
                <a:cs typeface="Times New Roman" panose="02020603050405020304" charset="0"/>
              </a:rPr>
              <a:t>M</a:t>
            </a:r>
            <a:r>
              <a:rPr lang="en-US" altLang="zh-CN">
                <a:latin typeface="Times New Roman" panose="02020603050405020304" charset="0"/>
                <a:cs typeface="Times New Roman" panose="02020603050405020304" charset="0"/>
              </a:rPr>
              <a:t>. </a:t>
            </a:r>
            <a:r>
              <a:rPr lang="zh-CN" altLang="en-US">
                <a:latin typeface="Times New Roman" panose="02020603050405020304" charset="0"/>
                <a:cs typeface="Times New Roman" panose="02020603050405020304" charset="0"/>
              </a:rPr>
              <a:t>一方面，</a:t>
            </a:r>
            <a:r>
              <a:rPr lang="en-US" altLang="zh-CN" i="1">
                <a:latin typeface="Times New Roman" panose="02020603050405020304" charset="0"/>
                <a:cs typeface="Times New Roman" panose="02020603050405020304" charset="0"/>
              </a:rPr>
              <a:t>MSR</a:t>
            </a:r>
            <a:r>
              <a:rPr lang="en-US" altLang="zh-CN" i="1" baseline="-25000">
                <a:latin typeface="Times New Roman" panose="02020603050405020304" charset="0"/>
                <a:cs typeface="Times New Roman" panose="02020603050405020304" charset="0"/>
              </a:rPr>
              <a:t>i </a:t>
            </a:r>
            <a:r>
              <a:rPr lang="zh-CN" altLang="en-US">
                <a:latin typeface="Times New Roman" panose="02020603050405020304" charset="0"/>
                <a:cs typeface="Times New Roman" panose="02020603050405020304" charset="0"/>
              </a:rPr>
              <a:t>中还会包括种子超像素外的其它超像素；另一方面，</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i</a:t>
            </a:r>
            <a:r>
              <a:rPr lang="zh-CN" altLang="en-US">
                <a:latin typeface="Times New Roman" panose="02020603050405020304" charset="0"/>
                <a:cs typeface="Times New Roman" panose="02020603050405020304" charset="0"/>
              </a:rPr>
              <a:t>也有可能属于不同的</a:t>
            </a:r>
            <a:r>
              <a:rPr lang="en-US" altLang="zh-CN">
                <a:latin typeface="Times New Roman" panose="02020603050405020304" charset="0"/>
                <a:cs typeface="Times New Roman" panose="02020603050405020304" charset="0"/>
              </a:rPr>
              <a:t>MSR</a:t>
            </a:r>
            <a:r>
              <a:rPr lang="zh-CN" altLang="en-US">
                <a:latin typeface="Times New Roman" panose="02020603050405020304" charset="0"/>
                <a:cs typeface="Times New Roman" panose="02020603050405020304" charset="0"/>
              </a:rPr>
              <a:t>。这样，一个超像素</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i </a:t>
            </a:r>
            <a:r>
              <a:rPr lang="zh-CN" altLang="en-US">
                <a:latin typeface="Times New Roman" panose="02020603050405020304" charset="0"/>
                <a:cs typeface="Times New Roman" panose="02020603050405020304" charset="0"/>
              </a:rPr>
              <a:t>的显著性可以定义为包含该</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i </a:t>
            </a:r>
            <a:r>
              <a:rPr lang="zh-CN" altLang="en-US">
                <a:latin typeface="Times New Roman" panose="02020603050405020304" charset="0"/>
                <a:cs typeface="Times New Roman" panose="02020603050405020304" charset="0"/>
              </a:rPr>
              <a:t>的所有</a:t>
            </a:r>
            <a:r>
              <a:rPr lang="en-US" altLang="zh-CN">
                <a:latin typeface="Times New Roman" panose="02020603050405020304" charset="0"/>
                <a:cs typeface="Times New Roman" panose="02020603050405020304" charset="0"/>
              </a:rPr>
              <a:t>MSR</a:t>
            </a:r>
            <a:r>
              <a:rPr lang="zh-CN" altLang="en-US">
                <a:latin typeface="Times New Roman" panose="02020603050405020304" charset="0"/>
                <a:cs typeface="Times New Roman" panose="02020603050405020304" charset="0"/>
              </a:rPr>
              <a:t>的显著性的平均值：</a:t>
            </a:r>
            <a:endParaRPr lang="zh-CN" altLang="en-US">
              <a:latin typeface="Times New Roman" panose="02020603050405020304" charset="0"/>
              <a:cs typeface="Times New Roman" panose="02020603050405020304" charset="0"/>
            </a:endParaRPr>
          </a:p>
        </p:txBody>
      </p:sp>
      <p:graphicFrame>
        <p:nvGraphicFramePr>
          <p:cNvPr id="4" name="对象 3">
            <a:hlinkClick r:id="" action="ppaction://ole?verb="/>
          </p:cNvPr>
          <p:cNvGraphicFramePr>
            <a:graphicFrameLocks noChangeAspect="1"/>
          </p:cNvGraphicFramePr>
          <p:nvPr/>
        </p:nvGraphicFramePr>
        <p:xfrm>
          <a:off x="3854450" y="3676650"/>
          <a:ext cx="4115435" cy="1735455"/>
        </p:xfrm>
        <a:graphic>
          <a:graphicData uri="http://schemas.openxmlformats.org/presentationml/2006/ole">
            <mc:AlternateContent xmlns:mc="http://schemas.openxmlformats.org/markup-compatibility/2006">
              <mc:Choice xmlns:v="urn:schemas-microsoft-com:vml" Requires="v">
                <p:oleObj spid="_x0000_s1025" name="" r:id="rId1" imgW="2108200" imgH="889000" progId="Equation.KSEE3">
                  <p:embed/>
                </p:oleObj>
              </mc:Choice>
              <mc:Fallback>
                <p:oleObj name="" r:id="rId1" imgW="2108200" imgH="889000" progId="Equation.KSEE3">
                  <p:embed/>
                  <p:pic>
                    <p:nvPicPr>
                      <p:cNvPr id="0" name="图片 1024"/>
                      <p:cNvPicPr/>
                      <p:nvPr/>
                    </p:nvPicPr>
                    <p:blipFill>
                      <a:blip r:embed="rId2"/>
                      <a:stretch>
                        <a:fillRect/>
                      </a:stretch>
                    </p:blipFill>
                    <p:spPr>
                      <a:xfrm>
                        <a:off x="3854450" y="3676650"/>
                        <a:ext cx="4115435" cy="1735455"/>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5" name="文本框 4"/>
              <p:cNvSpPr txBox="1"/>
              <p:nvPr/>
            </p:nvSpPr>
            <p:spPr>
              <a:xfrm>
                <a:off x="1767840" y="5777230"/>
                <a:ext cx="6376035" cy="394970"/>
              </a:xfrm>
              <a:prstGeom prst="rect">
                <a:avLst/>
              </a:prstGeom>
              <a:noFill/>
            </p:spPr>
            <p:txBody>
              <a:bodyPr wrap="square" rtlCol="0">
                <a:spAutoFit/>
              </a:bodyPr>
              <a:p>
                <a:pPr>
                  <a:spcAft>
                    <a:spcPts val="0"/>
                  </a:spcAft>
                </a:pPr>
                <a:r>
                  <a:rPr lang="zh-CN" altLang="en-US"/>
                  <a:t>其中，</a:t>
                </a:r>
                <a14:m>
                  <m:oMath xmlns:m="http://schemas.openxmlformats.org/officeDocument/2006/math">
                    <m:r>
                      <a:rPr lang="en-US" altLang="zh-CN" i="1">
                        <a:latin typeface="Cambria Math" panose="02040503050406030204" charset="0"/>
                        <a:cs typeface="Cambria Math" panose="02040503050406030204" charset="0"/>
                      </a:rPr>
                      <m:t>𝛿</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𝑀𝑆𝑅</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在超像素</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i</a:t>
                </a:r>
                <a:r>
                  <a:rPr lang="zh-CN" altLang="en-US">
                    <a:latin typeface="Times New Roman" panose="02020603050405020304" charset="0"/>
                    <a:cs typeface="Times New Roman" panose="02020603050405020304" charset="0"/>
                    <a:sym typeface="+mn-ea"/>
                  </a:rPr>
                  <a:t>属于</a:t>
                </a:r>
                <a:r>
                  <a:rPr lang="en-US" altLang="zh-CN" i="1">
                    <a:latin typeface="Times New Roman" panose="02020603050405020304" charset="0"/>
                    <a:cs typeface="Times New Roman" panose="02020603050405020304" charset="0"/>
                    <a:sym typeface="+mn-ea"/>
                  </a:rPr>
                  <a:t>MSR</a:t>
                </a:r>
                <a:r>
                  <a:rPr lang="en-US" altLang="zh-CN" i="1" baseline="-25000">
                    <a:latin typeface="Times New Roman" panose="02020603050405020304" charset="0"/>
                    <a:cs typeface="Times New Roman" panose="02020603050405020304" charset="0"/>
                    <a:sym typeface="+mn-ea"/>
                  </a:rPr>
                  <a:t>i </a:t>
                </a:r>
                <a:r>
                  <a:rPr lang="zh-CN" altLang="en-US">
                    <a:latin typeface="Times New Roman" panose="02020603050405020304" charset="0"/>
                    <a:cs typeface="Times New Roman" panose="02020603050405020304" charset="0"/>
                    <a:sym typeface="+mn-ea"/>
                  </a:rPr>
                  <a:t>时取</a:t>
                </a:r>
                <a:r>
                  <a:rPr lang="en-US" altLang="zh-CN">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，否则取</a:t>
                </a:r>
                <a:r>
                  <a:rPr lang="en-US" altLang="zh-CN">
                    <a:latin typeface="Times New Roman" panose="02020603050405020304" charset="0"/>
                    <a:cs typeface="Times New Roman" panose="02020603050405020304" charset="0"/>
                    <a:sym typeface="+mn-ea"/>
                  </a:rPr>
                  <a:t>0</a:t>
                </a:r>
                <a:r>
                  <a:rPr lang="zh-CN" altLang="en-US">
                    <a:latin typeface="Times New Roman" panose="02020603050405020304" charset="0"/>
                    <a:cs typeface="Times New Roman" panose="02020603050405020304" charset="0"/>
                    <a:sym typeface="+mn-ea"/>
                  </a:rPr>
                  <a:t>。</a:t>
                </a:r>
                <a:endParaRPr lang="zh-CN" altLang="en-US">
                  <a:latin typeface="Times New Roman" panose="02020603050405020304" charset="0"/>
                  <a:cs typeface="Times New Roman" panose="02020603050405020304"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1767840" y="5777230"/>
                <a:ext cx="6376035" cy="39497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09" name="矩形 299009"/>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9010" name="矩形 299010"/>
          <p:cNvSpPr/>
          <p:nvPr/>
        </p:nvSpPr>
        <p:spPr>
          <a:xfrm>
            <a:off x="2339975"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显著性计算</a:t>
            </a:r>
            <a:endParaRPr lang="zh-CN" altLang="en-US" sz="2400" b="1">
              <a:latin typeface="微软雅黑" panose="020B0503020204020204" charset="-122"/>
              <a:ea typeface="微软雅黑" panose="020B0503020204020204" charset="-122"/>
            </a:endParaRPr>
          </a:p>
        </p:txBody>
      </p:sp>
      <p:pic>
        <p:nvPicPr>
          <p:cNvPr id="299011" name="图片 299011" descr="C:/Users/Administrator/AppData/Roaming/Yozo_Office/Temp/fc/968467201615187995629/计算机视觉教程（第3版）PPT第04章.pptx/ppt/media/image25.emf"/>
          <p:cNvPicPr/>
          <p:nvPr/>
        </p:nvPicPr>
        <p:blipFill>
          <a:blip r:embed="rId1"/>
          <a:stretch>
            <a:fillRect/>
          </a:stretch>
        </p:blipFill>
        <p:spPr>
          <a:xfrm>
            <a:off x="2519363" y="3240088"/>
            <a:ext cx="8640762" cy="2879725"/>
          </a:xfrm>
          <a:prstGeom prst="rect">
            <a:avLst/>
          </a:prstGeom>
          <a:noFill/>
          <a:ln w="9525">
            <a:noFill/>
          </a:ln>
        </p:spPr>
      </p:pic>
      <p:sp>
        <p:nvSpPr>
          <p:cNvPr id="299012" name="矩形 299012"/>
          <p:cNvSpPr/>
          <p:nvPr/>
        </p:nvSpPr>
        <p:spPr>
          <a:xfrm>
            <a:off x="3024188" y="2232025"/>
            <a:ext cx="1800225" cy="829945"/>
          </a:xfrm>
          <a:prstGeom prst="rect">
            <a:avLst/>
          </a:prstGeom>
          <a:noFill/>
          <a:ln w="9525">
            <a:noFill/>
          </a:ln>
        </p:spPr>
        <p:txBody>
          <a:bodyPr anchor="t" anchorCtr="0">
            <a:spAutoFit/>
          </a:bodyPr>
          <a:p>
            <a:pPr algn="ctr">
              <a:spcAft>
                <a:spcPts val="0"/>
              </a:spcAft>
            </a:pPr>
            <a:r>
              <a:rPr lang="zh-CN" altLang="en-US" sz="2400">
                <a:latin typeface="微软雅黑" panose="020B0503020204020204" charset="-122"/>
                <a:ea typeface="微软雅黑" panose="020B0503020204020204" charset="-122"/>
              </a:rPr>
              <a:t>仅使用边界连通性</a:t>
            </a:r>
            <a:endParaRPr lang="zh-CN" altLang="en-US" sz="2400">
              <a:latin typeface="微软雅黑" panose="020B0503020204020204" charset="-122"/>
              <a:ea typeface="微软雅黑" panose="020B0503020204020204" charset="-122"/>
            </a:endParaRPr>
          </a:p>
        </p:txBody>
      </p:sp>
      <p:sp>
        <p:nvSpPr>
          <p:cNvPr id="299013" name="矩形 299013"/>
          <p:cNvSpPr/>
          <p:nvPr/>
        </p:nvSpPr>
        <p:spPr>
          <a:xfrm>
            <a:off x="5759450" y="2232025"/>
            <a:ext cx="2009775" cy="829945"/>
          </a:xfrm>
          <a:prstGeom prst="rect">
            <a:avLst/>
          </a:prstGeom>
          <a:noFill/>
          <a:ln w="9525">
            <a:noFill/>
          </a:ln>
        </p:spPr>
        <p:txBody>
          <a:bodyPr anchor="t" anchorCtr="0">
            <a:spAutoFit/>
          </a:bodyPr>
          <a:p>
            <a:pPr algn="ctr">
              <a:spcAft>
                <a:spcPts val="0"/>
              </a:spcAft>
            </a:pPr>
            <a:r>
              <a:rPr lang="zh-CN" altLang="en-US" sz="2400">
                <a:latin typeface="微软雅黑" panose="020B0503020204020204" charset="-122"/>
                <a:ea typeface="微软雅黑" panose="020B0503020204020204" charset="-122"/>
              </a:rPr>
              <a:t>仅使用颜色空间分布</a:t>
            </a:r>
            <a:endParaRPr lang="zh-CN" altLang="en-US" sz="2400">
              <a:latin typeface="微软雅黑" panose="020B0503020204020204" charset="-122"/>
              <a:ea typeface="微软雅黑" panose="020B0503020204020204" charset="-122"/>
            </a:endParaRPr>
          </a:p>
        </p:txBody>
      </p:sp>
      <p:sp>
        <p:nvSpPr>
          <p:cNvPr id="299014" name="矩形 299014"/>
          <p:cNvSpPr/>
          <p:nvPr/>
        </p:nvSpPr>
        <p:spPr>
          <a:xfrm>
            <a:off x="8640763" y="2232025"/>
            <a:ext cx="1885950" cy="829945"/>
          </a:xfrm>
          <a:prstGeom prst="rect">
            <a:avLst/>
          </a:prstGeom>
          <a:noFill/>
          <a:ln w="9525">
            <a:noFill/>
          </a:ln>
        </p:spPr>
        <p:txBody>
          <a:bodyPr anchor="t" anchorCtr="0">
            <a:spAutoFit/>
          </a:bodyPr>
          <a:p>
            <a:pPr algn="ctr">
              <a:spcAft>
                <a:spcPts val="0"/>
              </a:spcAft>
            </a:pPr>
            <a:r>
              <a:rPr lang="zh-CN" altLang="en-US" sz="2400">
                <a:latin typeface="微软雅黑" panose="020B0503020204020204" charset="-122"/>
                <a:ea typeface="微软雅黑" panose="020B0503020204020204" charset="-122"/>
              </a:rPr>
              <a:t>结合</a:t>
            </a:r>
            <a:endParaRPr lang="zh-CN" altLang="en-US" sz="2400">
              <a:latin typeface="微软雅黑" panose="020B0503020204020204" charset="-122"/>
              <a:ea typeface="微软雅黑" panose="020B0503020204020204" charset="-122"/>
            </a:endParaRPr>
          </a:p>
          <a:p>
            <a:pPr algn="ctr">
              <a:spcBef>
                <a:spcPts val="0"/>
              </a:spcBef>
            </a:pPr>
            <a:r>
              <a:rPr lang="zh-CN" altLang="en-US" sz="2400">
                <a:latin typeface="微软雅黑" panose="020B0503020204020204" charset="-122"/>
                <a:ea typeface="微软雅黑" panose="020B0503020204020204" charset="-122"/>
              </a:rPr>
              <a:t>两个指标</a:t>
            </a:r>
            <a:endParaRPr lang="zh-CN" altLang="en-US" sz="24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09" name="矩形 299009"/>
          <p:cNvSpPr/>
          <p:nvPr/>
        </p:nvSpPr>
        <p:spPr>
          <a:xfrm>
            <a:off x="1511300" y="323850"/>
            <a:ext cx="467995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3.3  </a:t>
            </a:r>
            <a:r>
              <a:rPr lang="zh-CN" altLang="en-US" sz="2800" b="1">
                <a:latin typeface="微软雅黑" panose="020B0503020204020204" charset="-122"/>
                <a:ea typeface="微软雅黑" panose="020B0503020204020204" charset="-122"/>
              </a:rPr>
              <a:t>基于最稳定区域的检测</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99010" name="矩形 299010"/>
          <p:cNvSpPr/>
          <p:nvPr/>
        </p:nvSpPr>
        <p:spPr>
          <a:xfrm>
            <a:off x="2339975"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显著性后处理</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1083945" y="2444750"/>
            <a:ext cx="10135235" cy="2306955"/>
          </a:xfrm>
          <a:prstGeom prst="rect">
            <a:avLst/>
          </a:prstGeom>
          <a:noFill/>
        </p:spPr>
        <p:txBody>
          <a:bodyPr wrap="square" rtlCol="0">
            <a:spAutoFit/>
          </a:bodyPr>
          <a:p>
            <a:pPr>
              <a:spcAft>
                <a:spcPts val="0"/>
              </a:spcAft>
            </a:pPr>
            <a:r>
              <a:rPr lang="zh-CN" altLang="en-US">
                <a:latin typeface="Times New Roman" panose="02020603050405020304" charset="0"/>
                <a:cs typeface="Times New Roman" panose="02020603050405020304" charset="0"/>
              </a:rPr>
              <a:t>显著性平滑：超像素上进行平滑滤波器滤波</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pPr>
              <a:spcBef>
                <a:spcPts val="0"/>
              </a:spcBef>
            </a:pPr>
            <a:r>
              <a:rPr lang="zh-CN" altLang="en-US">
                <a:latin typeface="Times New Roman" panose="02020603050405020304" charset="0"/>
                <a:cs typeface="Times New Roman" panose="02020603050405020304" charset="0"/>
              </a:rPr>
              <a:t>显著性增强：进一步增加前景背景的对比度，这里使用一个扩展的</a:t>
            </a:r>
            <a:r>
              <a:rPr lang="en-US" altLang="zh-CN">
                <a:latin typeface="Times New Roman" panose="02020603050405020304" charset="0"/>
                <a:cs typeface="Times New Roman" panose="02020603050405020304" charset="0"/>
              </a:rPr>
              <a:t>Sigmoid</a:t>
            </a:r>
            <a:r>
              <a:rPr lang="zh-CN" altLang="en-US">
                <a:latin typeface="Times New Roman" panose="02020603050405020304" charset="0"/>
                <a:cs typeface="Times New Roman" panose="02020603050405020304" charset="0"/>
              </a:rPr>
              <a:t>函数对显著性进行自适应增强。其中</a:t>
            </a:r>
            <a:r>
              <a:rPr lang="en-US" altLang="zh-CN" i="1">
                <a:latin typeface="Times New Roman" panose="02020603050405020304" charset="0"/>
                <a:cs typeface="Times New Roman" panose="02020603050405020304" charset="0"/>
              </a:rPr>
              <a:t>T</a:t>
            </a:r>
            <a:r>
              <a:rPr lang="en-US" altLang="zh-CN" i="1" baseline="-25000">
                <a:latin typeface="Times New Roman" panose="02020603050405020304" charset="0"/>
                <a:cs typeface="Times New Roman" panose="02020603050405020304" charset="0"/>
              </a:rPr>
              <a:t>d</a:t>
            </a:r>
            <a:r>
              <a:rPr lang="zh-CN" altLang="en-US">
                <a:latin typeface="Times New Roman" panose="02020603050405020304" charset="0"/>
                <a:cs typeface="Times New Roman" panose="02020603050405020304" charset="0"/>
              </a:rPr>
              <a:t>是阈值，</a:t>
            </a:r>
            <a:r>
              <a:rPr lang="en-US" altLang="zh-CN" i="1">
                <a:latin typeface="Times New Roman" panose="02020603050405020304" charset="0"/>
                <a:cs typeface="Times New Roman" panose="02020603050405020304" charset="0"/>
              </a:rPr>
              <a:t>k</a:t>
            </a:r>
            <a:r>
              <a:rPr lang="zh-CN" altLang="en-US">
                <a:latin typeface="Times New Roman" panose="02020603050405020304" charset="0"/>
                <a:cs typeface="Times New Roman" panose="02020603050405020304" charset="0"/>
              </a:rPr>
              <a:t>是增强强度</a:t>
            </a:r>
            <a:endParaRPr lang="zh-CN" altLang="en-US">
              <a:latin typeface="Times New Roman" panose="02020603050405020304" charset="0"/>
              <a:cs typeface="Times New Roman" panose="02020603050405020304" charset="0"/>
            </a:endParaRPr>
          </a:p>
          <a:p>
            <a:endParaRPr lang="zh-CN" altLang="en-US"/>
          </a:p>
          <a:p>
            <a:endParaRPr lang="zh-CN" altLang="en-US"/>
          </a:p>
          <a:p>
            <a:endParaRPr lang="zh-CN" altLang="en-US"/>
          </a:p>
          <a:p>
            <a:endParaRPr lang="zh-CN" altLang="en-US"/>
          </a:p>
        </p:txBody>
      </p:sp>
      <p:graphicFrame>
        <p:nvGraphicFramePr>
          <p:cNvPr id="3" name="对象 2">
            <a:hlinkClick r:id="" action="ppaction://ole?verb="/>
          </p:cNvPr>
          <p:cNvGraphicFramePr>
            <a:graphicFrameLocks noChangeAspect="1"/>
          </p:cNvGraphicFramePr>
          <p:nvPr/>
        </p:nvGraphicFramePr>
        <p:xfrm>
          <a:off x="4164330" y="3983355"/>
          <a:ext cx="3348355" cy="1038860"/>
        </p:xfrm>
        <a:graphic>
          <a:graphicData uri="http://schemas.openxmlformats.org/presentationml/2006/ole">
            <mc:AlternateContent xmlns:mc="http://schemas.openxmlformats.org/markup-compatibility/2006">
              <mc:Choice xmlns:v="urn:schemas-microsoft-com:vml" Requires="v">
                <p:oleObj spid="_x0000_s5121" name="" r:id="rId1" imgW="2005965" imgH="622300" progId="Equation.KSEE3">
                  <p:embed/>
                </p:oleObj>
              </mc:Choice>
              <mc:Fallback>
                <p:oleObj name="" r:id="rId1" imgW="2005965" imgH="622300" progId="Equation.KSEE3">
                  <p:embed/>
                  <p:pic>
                    <p:nvPicPr>
                      <p:cNvPr id="0" name="图片 5120"/>
                      <p:cNvPicPr/>
                      <p:nvPr/>
                    </p:nvPicPr>
                    <p:blipFill>
                      <a:blip r:embed="rId2"/>
                      <a:stretch>
                        <a:fillRect/>
                      </a:stretch>
                    </p:blipFill>
                    <p:spPr>
                      <a:xfrm>
                        <a:off x="4164330" y="3983355"/>
                        <a:ext cx="3348355" cy="1038860"/>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3" name="矩形 300033"/>
          <p:cNvSpPr/>
          <p:nvPr/>
        </p:nvSpPr>
        <p:spPr>
          <a:xfrm>
            <a:off x="1511300" y="323850"/>
            <a:ext cx="558006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b="1">
                <a:latin typeface="微软雅黑" panose="020B0503020204020204" charset="-122"/>
                <a:ea typeface="微软雅黑" panose="020B0503020204020204" charset="-122"/>
              </a:rPr>
              <a:t>显著目标区域提取及效果评价</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0034" name="矩形 300034"/>
          <p:cNvSpPr/>
          <p:nvPr/>
        </p:nvSpPr>
        <p:spPr>
          <a:xfrm>
            <a:off x="3311525" y="2129155"/>
            <a:ext cx="8416290" cy="4107815"/>
          </a:xfrm>
          <a:prstGeom prst="rect">
            <a:avLst/>
          </a:prstGeom>
          <a:noFill/>
          <a:ln w="9525">
            <a:noFill/>
          </a:ln>
        </p:spPr>
        <p:txBody>
          <a:bodyPr wrap="square" anchor="t" anchorCtr="0">
            <a:spAutoFit/>
          </a:bodyPr>
          <a:p>
            <a:pPr defTabSz="719455">
              <a:lnSpc>
                <a:spcPct val="150000"/>
              </a:lnSpc>
              <a:spcBef>
                <a:spcPts val="600"/>
              </a:spcBef>
              <a:spcAft>
                <a:spcPts val="0"/>
              </a:spcAft>
            </a:pPr>
            <a:r>
              <a:rPr lang="en-US" altLang="zh-CN" sz="2400">
                <a:latin typeface="Arial" panose="020B0604020202020204" pitchFamily="34" charset="0"/>
                <a:ea typeface="微软雅黑" panose="020B0503020204020204" charset="-122"/>
              </a:rPr>
              <a:t>(1)</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直接阈值分割：简单阈值或自适应阈值</a:t>
            </a:r>
            <a:endParaRPr lang="zh-CN" altLang="en-US" sz="2400">
              <a:latin typeface="微软雅黑" panose="020B0503020204020204" charset="-122"/>
              <a:ea typeface="微软雅黑" panose="020B0503020204020204" charset="-122"/>
            </a:endParaRPr>
          </a:p>
          <a:p>
            <a:pPr defTabSz="719455">
              <a:lnSpc>
                <a:spcPct val="150000"/>
              </a:lnSpc>
              <a:spcBef>
                <a:spcPts val="600"/>
              </a:spcBef>
              <a:spcAft>
                <a:spcPts val="0"/>
              </a:spcAft>
            </a:pPr>
            <a:r>
              <a:rPr lang="en-US" altLang="zh-CN" sz="2400">
                <a:latin typeface="Arial" panose="020B0604020202020204" pitchFamily="34" charset="0"/>
                <a:ea typeface="微软雅黑" panose="020B0503020204020204" charset="-122"/>
              </a:rPr>
              <a:t>(2)</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基于交互图像分割：二值化图像对原图操作</a:t>
            </a:r>
            <a:endParaRPr lang="zh-CN" altLang="en-US" sz="2400" b="1">
              <a:latin typeface="微软雅黑" panose="020B0503020204020204" charset="-122"/>
              <a:ea typeface="微软雅黑" panose="020B0503020204020204" charset="-122"/>
            </a:endParaRPr>
          </a:p>
          <a:p>
            <a:pPr defTabSz="719455">
              <a:lnSpc>
                <a:spcPct val="150000"/>
              </a:lnSpc>
              <a:spcBef>
                <a:spcPts val="600"/>
              </a:spcBef>
              <a:spcAft>
                <a:spcPts val="1200"/>
              </a:spcAft>
            </a:pPr>
            <a:r>
              <a:rPr lang="en-US" altLang="zh-CN" sz="2400">
                <a:latin typeface="Arial" panose="020B0604020202020204" pitchFamily="34" charset="0"/>
                <a:ea typeface="微软雅黑" panose="020B0503020204020204" charset="-122"/>
              </a:rPr>
              <a:t>(3)</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结合矩形窗定位：提前定义矩形窗位置</a:t>
            </a:r>
            <a:endParaRPr lang="zh-CN" altLang="en-US" sz="2400" b="1">
              <a:latin typeface="微软雅黑" panose="020B0503020204020204" charset="-122"/>
              <a:ea typeface="微软雅黑" panose="020B0503020204020204" charset="-122"/>
            </a:endParaRPr>
          </a:p>
          <a:p>
            <a:pPr defTabSz="719455">
              <a:lnSpc>
                <a:spcPct val="150000"/>
              </a:lnSpc>
              <a:spcBef>
                <a:spcPts val="1800"/>
              </a:spcBef>
              <a:spcAft>
                <a:spcPts val="0"/>
              </a:spcAft>
            </a:pPr>
            <a:r>
              <a:rPr lang="en-US" altLang="zh-CN" sz="2400">
                <a:latin typeface="Arial" panose="020B0604020202020204" pitchFamily="34" charset="0"/>
                <a:ea typeface="微软雅黑" panose="020B0503020204020204" charset="-122"/>
              </a:rPr>
              <a:t>(1)</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显著图计算</a:t>
            </a:r>
            <a:endParaRPr lang="zh-CN" altLang="en-US" sz="2400">
              <a:latin typeface="微软雅黑" panose="020B0503020204020204" charset="-122"/>
              <a:ea typeface="微软雅黑" panose="020B0503020204020204" charset="-122"/>
            </a:endParaRPr>
          </a:p>
          <a:p>
            <a:pPr defTabSz="719455">
              <a:lnSpc>
                <a:spcPct val="150000"/>
              </a:lnSpc>
              <a:spcBef>
                <a:spcPts val="600"/>
              </a:spcBef>
              <a:spcAft>
                <a:spcPts val="0"/>
              </a:spcAft>
            </a:pPr>
            <a:r>
              <a:rPr lang="en-US" altLang="zh-CN" sz="2400">
                <a:latin typeface="Arial" panose="020B0604020202020204" pitchFamily="34" charset="0"/>
                <a:ea typeface="微软雅黑" panose="020B0503020204020204" charset="-122"/>
              </a:rPr>
              <a:t>(2)</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初始显著区域定位</a:t>
            </a:r>
            <a:endParaRPr lang="zh-CN" altLang="en-US" sz="2400">
              <a:latin typeface="微软雅黑" panose="020B0503020204020204" charset="-122"/>
              <a:ea typeface="微软雅黑" panose="020B0503020204020204" charset="-122"/>
            </a:endParaRPr>
          </a:p>
          <a:p>
            <a:pPr defTabSz="719455">
              <a:lnSpc>
                <a:spcPct val="150000"/>
              </a:lnSpc>
              <a:spcBef>
                <a:spcPts val="600"/>
              </a:spcBef>
            </a:pPr>
            <a:r>
              <a:rPr lang="en-US" altLang="zh-CN" sz="2400">
                <a:latin typeface="Arial" panose="020B0604020202020204" pitchFamily="34" charset="0"/>
                <a:ea typeface="微软雅黑" panose="020B0503020204020204" charset="-122"/>
              </a:rPr>
              <a:t>(3)</a:t>
            </a: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精细显著区域提取</a:t>
            </a:r>
            <a:endParaRPr lang="zh-CN" altLang="en-US" sz="2400" b="1">
              <a:latin typeface="微软雅黑" panose="020B0503020204020204" charset="-122"/>
              <a:ea typeface="微软雅黑" panose="020B0503020204020204" charset="-122"/>
            </a:endParaRPr>
          </a:p>
        </p:txBody>
      </p:sp>
      <p:sp>
        <p:nvSpPr>
          <p:cNvPr id="300035" name="矩形 300035"/>
          <p:cNvSpPr/>
          <p:nvPr/>
        </p:nvSpPr>
        <p:spPr>
          <a:xfrm>
            <a:off x="2339975" y="1260475"/>
            <a:ext cx="26212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显著目标区域提取</a:t>
            </a:r>
            <a:endParaRPr lang="zh-CN" altLang="en-US" sz="2400" b="1">
              <a:latin typeface="微软雅黑" panose="020B0503020204020204" charset="-122"/>
              <a:ea typeface="微软雅黑" panose="020B0503020204020204" charset="-122"/>
            </a:endParaRPr>
          </a:p>
        </p:txBody>
      </p:sp>
      <p:sp>
        <p:nvSpPr>
          <p:cNvPr id="300036" name="五边形 300036"/>
          <p:cNvSpPr/>
          <p:nvPr/>
        </p:nvSpPr>
        <p:spPr>
          <a:xfrm>
            <a:off x="549910" y="2557463"/>
            <a:ext cx="2520950" cy="719137"/>
          </a:xfrm>
          <a:prstGeom prst="homePlate">
            <a:avLst>
              <a:gd name="adj" fmla="val 48801"/>
            </a:avLst>
          </a:prstGeom>
          <a:solidFill>
            <a:srgbClr val="BC8268"/>
          </a:solidFill>
          <a:ln w="12700" cap="flat" cmpd="sng">
            <a:solidFill>
              <a:srgbClr val="BC8268"/>
            </a:solidFill>
            <a:prstDash val="solid"/>
            <a:miter/>
            <a:headEnd type="none" w="med" len="med"/>
            <a:tailEnd type="none" w="med" len="med"/>
          </a:ln>
        </p:spPr>
        <p:txBody>
          <a:bodyPr anchor="ctr" anchorCtr="0"/>
          <a:p>
            <a:pPr algn="ctr">
              <a:spcAft>
                <a:spcPts val="0"/>
              </a:spcAft>
            </a:pPr>
            <a:r>
              <a:rPr lang="zh-CN" altLang="en-US" sz="2000">
                <a:solidFill>
                  <a:srgbClr val="FFFFFF"/>
                </a:solidFill>
                <a:latin typeface="微软雅黑" panose="020B0503020204020204" charset="-122"/>
                <a:ea typeface="微软雅黑" panose="020B0503020204020204" charset="-122"/>
                <a:sym typeface="+mn-ea"/>
              </a:rPr>
              <a:t>不同提取框架</a:t>
            </a:r>
            <a:endParaRPr lang="zh-CN" altLang="en-US" sz="2000">
              <a:solidFill>
                <a:srgbClr val="FFFFFF"/>
              </a:solidFill>
              <a:latin typeface="微软雅黑" panose="020B0503020204020204" charset="-122"/>
              <a:ea typeface="微软雅黑" panose="020B0503020204020204" charset="-122"/>
            </a:endParaRPr>
          </a:p>
        </p:txBody>
      </p:sp>
      <p:sp>
        <p:nvSpPr>
          <p:cNvPr id="300037" name="五边形 300037"/>
          <p:cNvSpPr/>
          <p:nvPr/>
        </p:nvSpPr>
        <p:spPr>
          <a:xfrm>
            <a:off x="549910" y="4680268"/>
            <a:ext cx="2520950" cy="720725"/>
          </a:xfrm>
          <a:prstGeom prst="homePlate">
            <a:avLst>
              <a:gd name="adj" fmla="val 48693"/>
            </a:avLst>
          </a:prstGeom>
          <a:solidFill>
            <a:srgbClr val="BC8268"/>
          </a:solidFill>
          <a:ln w="12700" cap="flat" cmpd="sng">
            <a:solidFill>
              <a:srgbClr val="BC8268"/>
            </a:solidFill>
            <a:prstDash val="solid"/>
            <a:miter/>
            <a:headEnd type="none" w="med" len="med"/>
            <a:tailEnd type="none" w="med" len="med"/>
          </a:ln>
        </p:spPr>
        <p:txBody>
          <a:bodyPr anchor="ctr" anchorCtr="0"/>
          <a:p>
            <a:pPr algn="ctr">
              <a:spcAft>
                <a:spcPts val="0"/>
              </a:spcAft>
            </a:pPr>
            <a:r>
              <a:rPr lang="zh-CN" altLang="en-US" sz="2000">
                <a:solidFill>
                  <a:srgbClr val="FFFFFF"/>
                </a:solidFill>
                <a:latin typeface="微软雅黑" panose="020B0503020204020204" charset="-122"/>
                <a:ea typeface="微软雅黑" panose="020B0503020204020204" charset="-122"/>
                <a:sym typeface="+mn-ea"/>
              </a:rPr>
              <a:t>提取主要步骤</a:t>
            </a:r>
            <a:endParaRPr lang="zh-CN" altLang="en-US" sz="2000">
              <a:solidFill>
                <a:srgbClr val="FFFFFF"/>
              </a:solidFill>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7" name="矩形 301057"/>
          <p:cNvSpPr/>
          <p:nvPr/>
        </p:nvSpPr>
        <p:spPr>
          <a:xfrm>
            <a:off x="1511300" y="323850"/>
            <a:ext cx="558006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b="1">
                <a:latin typeface="微软雅黑" panose="020B0503020204020204" charset="-122"/>
                <a:ea typeface="微软雅黑" panose="020B0503020204020204" charset="-122"/>
              </a:rPr>
              <a:t>显著目标区域提取及效果评价</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1058" name="矩形 301058"/>
          <p:cNvSpPr/>
          <p:nvPr/>
        </p:nvSpPr>
        <p:spPr>
          <a:xfrm>
            <a:off x="2519363" y="1260475"/>
            <a:ext cx="3230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显著目标区域效果评价</a:t>
            </a:r>
            <a:endParaRPr lang="zh-CN" altLang="en-US" sz="2400" b="1">
              <a:latin typeface="微软雅黑" panose="020B0503020204020204" charset="-122"/>
              <a:ea typeface="微软雅黑" panose="020B0503020204020204" charset="-122"/>
            </a:endParaRPr>
          </a:p>
        </p:txBody>
      </p:sp>
      <p:pic>
        <p:nvPicPr>
          <p:cNvPr id="301059" name="图片 301059" descr="C:/Users/Administrator/AppData/Roaming/Yozo_Office/Temp/fc/968467201615187995629/计算机视觉教程（第3版）PPT第04章.pptx/ppt/media/image26.emf"/>
          <p:cNvPicPr/>
          <p:nvPr/>
        </p:nvPicPr>
        <p:blipFill>
          <a:blip r:embed="rId1"/>
          <a:stretch>
            <a:fillRect/>
          </a:stretch>
        </p:blipFill>
        <p:spPr>
          <a:xfrm>
            <a:off x="2053590" y="2100898"/>
            <a:ext cx="7920038" cy="395922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1" name="矩形 302081"/>
          <p:cNvSpPr/>
          <p:nvPr/>
        </p:nvSpPr>
        <p:spPr>
          <a:xfrm>
            <a:off x="1511300" y="323850"/>
            <a:ext cx="558006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b="1">
                <a:latin typeface="微软雅黑" panose="020B0503020204020204" charset="-122"/>
                <a:ea typeface="微软雅黑" panose="020B0503020204020204" charset="-122"/>
              </a:rPr>
              <a:t>显著目标区域提取及效果评价</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2083" name="矩形 302083"/>
          <p:cNvSpPr/>
          <p:nvPr/>
        </p:nvSpPr>
        <p:spPr>
          <a:xfrm>
            <a:off x="2519363" y="1260475"/>
            <a:ext cx="3230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显著目标区域效果评价</a:t>
            </a:r>
            <a:endParaRPr lang="zh-CN" altLang="en-US" sz="2400" b="1">
              <a:latin typeface="微软雅黑" panose="020B0503020204020204" charset="-122"/>
              <a:ea typeface="微软雅黑" panose="020B0503020204020204" charset="-122"/>
            </a:endParaRPr>
          </a:p>
        </p:txBody>
      </p:sp>
      <p:pic>
        <p:nvPicPr>
          <p:cNvPr id="302084" name="图片 302084" descr="C:/Users/Administrator/AppData/Roaming/Yozo_Office/Temp/fc/968467201615187995629/计算机视觉教程（第3版）PPT第04章.pptx/ppt/media/image27.emf"/>
          <p:cNvPicPr/>
          <p:nvPr/>
        </p:nvPicPr>
        <p:blipFill>
          <a:blip r:embed="rId1"/>
          <a:srcRect b="1888"/>
          <a:stretch>
            <a:fillRect/>
          </a:stretch>
        </p:blipFill>
        <p:spPr>
          <a:xfrm>
            <a:off x="2372678" y="2090738"/>
            <a:ext cx="6480175" cy="2089150"/>
          </a:xfrm>
          <a:prstGeom prst="rect">
            <a:avLst/>
          </a:prstGeom>
          <a:noFill/>
          <a:ln w="9525">
            <a:noFill/>
          </a:ln>
        </p:spPr>
      </p:pic>
      <p:sp>
        <p:nvSpPr>
          <p:cNvPr id="2" name="文本框 1"/>
          <p:cNvSpPr txBox="1"/>
          <p:nvPr/>
        </p:nvSpPr>
        <p:spPr>
          <a:xfrm>
            <a:off x="2016760" y="4471035"/>
            <a:ext cx="7960360" cy="1723390"/>
          </a:xfrm>
          <a:prstGeom prst="rect">
            <a:avLst/>
          </a:prstGeom>
          <a:noFill/>
        </p:spPr>
        <p:txBody>
          <a:bodyPr wrap="square" rtlCol="0" anchor="t">
            <a:spAutoFit/>
          </a:bodyPr>
          <a:p>
            <a:pPr lvl="0" indent="0" algn="l">
              <a:lnSpc>
                <a:spcPct val="132000"/>
              </a:lnSpc>
              <a:spcBef>
                <a:spcPct val="20000"/>
              </a:spcBef>
              <a:spcAft>
                <a:spcPts val="0"/>
              </a:spcAft>
              <a:buClr>
                <a:srgbClr val="00B050"/>
              </a:buClr>
              <a:buSzTx/>
              <a:buFont typeface="Wingdings" panose="05000000000000000000" charset="0"/>
              <a:buNone/>
            </a:pPr>
            <a:r>
              <a:rPr sz="1600">
                <a:solidFill>
                  <a:schemeClr val="tx1">
                    <a:lumMod val="75000"/>
                    <a:lumOff val="25000"/>
                  </a:schemeClr>
                </a:solidFill>
                <a:latin typeface="Times New Roman" panose="02020603050405020304" charset="0"/>
                <a:cs typeface="Times New Roman" panose="02020603050405020304" charset="0"/>
                <a:sym typeface="+mn-ea"/>
              </a:rPr>
              <a:t>表中的指标解释如下。</a:t>
            </a:r>
            <a:endParaRPr sz="1600">
              <a:solidFill>
                <a:schemeClr val="tx1">
                  <a:lumMod val="75000"/>
                  <a:lumOff val="25000"/>
                </a:schemeClr>
              </a:solidFill>
              <a:latin typeface="Times New Roman" panose="02020603050405020304" charset="0"/>
              <a:cs typeface="Times New Roman" panose="02020603050405020304" charset="0"/>
              <a:sym typeface="+mn-ea"/>
            </a:endParaRPr>
          </a:p>
          <a:p>
            <a:pPr marL="342900" lvl="0" indent="-342900" algn="l">
              <a:lnSpc>
                <a:spcPct val="132000"/>
              </a:lnSpc>
              <a:spcBef>
                <a:spcPts val="20"/>
              </a:spcBef>
              <a:spcAft>
                <a:spcPts val="0"/>
              </a:spcAft>
              <a:buClr>
                <a:srgbClr val="00B050"/>
              </a:buClr>
              <a:buSzTx/>
              <a:buFont typeface="Wingdings" panose="05000000000000000000" charset="0"/>
              <a:buChar char="Ø"/>
            </a:pPr>
            <a:r>
              <a:rPr sz="1600" i="1">
                <a:solidFill>
                  <a:schemeClr val="tx1">
                    <a:lumMod val="75000"/>
                    <a:lumOff val="25000"/>
                  </a:schemeClr>
                </a:solidFill>
                <a:latin typeface="Times New Roman" panose="02020603050405020304" charset="0"/>
                <a:cs typeface="Times New Roman" panose="02020603050405020304" charset="0"/>
                <a:sym typeface="+mn-ea"/>
              </a:rPr>
              <a:t>T</a:t>
            </a:r>
            <a:r>
              <a:rPr sz="1600" i="1" baseline="-25000">
                <a:solidFill>
                  <a:schemeClr val="tx1">
                    <a:lumMod val="75000"/>
                    <a:lumOff val="25000"/>
                  </a:schemeClr>
                </a:solidFill>
                <a:latin typeface="Times New Roman" panose="02020603050405020304" charset="0"/>
                <a:cs typeface="Times New Roman" panose="02020603050405020304" charset="0"/>
                <a:sym typeface="+mn-ea"/>
              </a:rPr>
              <a:t>P</a:t>
            </a:r>
            <a:r>
              <a:rPr sz="1600">
                <a:solidFill>
                  <a:schemeClr val="tx1">
                    <a:lumMod val="75000"/>
                    <a:lumOff val="25000"/>
                  </a:schemeClr>
                </a:solidFill>
                <a:latin typeface="Times New Roman" panose="02020603050405020304" charset="0"/>
                <a:cs typeface="Times New Roman" panose="02020603050405020304" charset="0"/>
                <a:sym typeface="+mn-ea"/>
              </a:rPr>
              <a:t>表示True Positive，即真正：将正类预测为正类的数量。</a:t>
            </a:r>
            <a:endParaRPr sz="1600">
              <a:solidFill>
                <a:schemeClr val="tx1">
                  <a:lumMod val="75000"/>
                  <a:lumOff val="25000"/>
                </a:schemeClr>
              </a:solidFill>
              <a:latin typeface="Times New Roman" panose="02020603050405020304" charset="0"/>
              <a:cs typeface="Times New Roman" panose="02020603050405020304" charset="0"/>
              <a:sym typeface="+mn-ea"/>
            </a:endParaRPr>
          </a:p>
          <a:p>
            <a:pPr marL="342900" lvl="0" indent="-342900" algn="l">
              <a:lnSpc>
                <a:spcPct val="132000"/>
              </a:lnSpc>
              <a:spcBef>
                <a:spcPts val="20"/>
              </a:spcBef>
              <a:spcAft>
                <a:spcPts val="0"/>
              </a:spcAft>
              <a:buClr>
                <a:srgbClr val="00B050"/>
              </a:buClr>
              <a:buSzTx/>
              <a:buFont typeface="Wingdings" panose="05000000000000000000" charset="0"/>
              <a:buChar char="Ø"/>
            </a:pPr>
            <a:r>
              <a:rPr sz="1600" i="1">
                <a:solidFill>
                  <a:schemeClr val="tx1">
                    <a:lumMod val="75000"/>
                    <a:lumOff val="25000"/>
                  </a:schemeClr>
                </a:solidFill>
                <a:latin typeface="Times New Roman" panose="02020603050405020304" charset="0"/>
                <a:cs typeface="Times New Roman" panose="02020603050405020304" charset="0"/>
                <a:sym typeface="+mn-ea"/>
              </a:rPr>
              <a:t>F</a:t>
            </a:r>
            <a:r>
              <a:rPr sz="1600" i="1" baseline="-25000">
                <a:solidFill>
                  <a:schemeClr val="tx1">
                    <a:lumMod val="75000"/>
                    <a:lumOff val="25000"/>
                  </a:schemeClr>
                </a:solidFill>
                <a:latin typeface="Times New Roman" panose="02020603050405020304" charset="0"/>
                <a:cs typeface="Times New Roman" panose="02020603050405020304" charset="0"/>
                <a:sym typeface="+mn-ea"/>
              </a:rPr>
              <a:t>P</a:t>
            </a:r>
            <a:r>
              <a:rPr sz="1600">
                <a:solidFill>
                  <a:schemeClr val="tx1">
                    <a:lumMod val="75000"/>
                    <a:lumOff val="25000"/>
                  </a:schemeClr>
                </a:solidFill>
                <a:latin typeface="Times New Roman" panose="02020603050405020304" charset="0"/>
                <a:cs typeface="Times New Roman" panose="02020603050405020304" charset="0"/>
                <a:sym typeface="+mn-ea"/>
              </a:rPr>
              <a:t>表示False Positive，即假正：将负类预测为正类的数量，可以称为误报率</a:t>
            </a:r>
            <a:r>
              <a:rPr lang="zh-CN" sz="1600">
                <a:solidFill>
                  <a:schemeClr val="tx1">
                    <a:lumMod val="75000"/>
                    <a:lumOff val="25000"/>
                  </a:schemeClr>
                </a:solidFill>
                <a:latin typeface="Times New Roman" panose="02020603050405020304" charset="0"/>
                <a:cs typeface="Times New Roman" panose="02020603050405020304" charset="0"/>
                <a:sym typeface="+mn-ea"/>
              </a:rPr>
              <a:t>。</a:t>
            </a:r>
            <a:endParaRPr sz="1600">
              <a:solidFill>
                <a:schemeClr val="tx1">
                  <a:lumMod val="75000"/>
                  <a:lumOff val="25000"/>
                </a:schemeClr>
              </a:solidFill>
              <a:latin typeface="Times New Roman" panose="02020603050405020304" charset="0"/>
              <a:cs typeface="Times New Roman" panose="02020603050405020304" charset="0"/>
              <a:sym typeface="+mn-ea"/>
            </a:endParaRPr>
          </a:p>
          <a:p>
            <a:pPr marL="342900" lvl="0" indent="-342900" algn="l">
              <a:lnSpc>
                <a:spcPct val="132000"/>
              </a:lnSpc>
              <a:spcBef>
                <a:spcPts val="20"/>
              </a:spcBef>
              <a:spcAft>
                <a:spcPts val="0"/>
              </a:spcAft>
              <a:buClr>
                <a:srgbClr val="00B050"/>
              </a:buClr>
              <a:buSzTx/>
              <a:buFont typeface="Wingdings" panose="05000000000000000000" charset="0"/>
              <a:buChar char="Ø"/>
            </a:pPr>
            <a:r>
              <a:rPr sz="1600" i="1">
                <a:solidFill>
                  <a:schemeClr val="tx1">
                    <a:lumMod val="75000"/>
                    <a:lumOff val="25000"/>
                  </a:schemeClr>
                </a:solidFill>
                <a:latin typeface="Times New Roman" panose="02020603050405020304" charset="0"/>
                <a:cs typeface="Times New Roman" panose="02020603050405020304" charset="0"/>
                <a:sym typeface="+mn-ea"/>
              </a:rPr>
              <a:t>T</a:t>
            </a:r>
            <a:r>
              <a:rPr sz="1600" i="1" baseline="-25000">
                <a:solidFill>
                  <a:schemeClr val="tx1">
                    <a:lumMod val="75000"/>
                    <a:lumOff val="25000"/>
                  </a:schemeClr>
                </a:solidFill>
                <a:latin typeface="Times New Roman" panose="02020603050405020304" charset="0"/>
                <a:cs typeface="Times New Roman" panose="02020603050405020304" charset="0"/>
                <a:sym typeface="+mn-ea"/>
              </a:rPr>
              <a:t>N</a:t>
            </a:r>
            <a:r>
              <a:rPr sz="1600">
                <a:solidFill>
                  <a:schemeClr val="tx1">
                    <a:lumMod val="75000"/>
                    <a:lumOff val="25000"/>
                  </a:schemeClr>
                </a:solidFill>
                <a:latin typeface="Times New Roman" panose="02020603050405020304" charset="0"/>
                <a:cs typeface="Times New Roman" panose="02020603050405020304" charset="0"/>
                <a:sym typeface="+mn-ea"/>
              </a:rPr>
              <a:t>表示True Negative，即真负：将负类预测为负类的数量。</a:t>
            </a:r>
            <a:endParaRPr sz="1600">
              <a:solidFill>
                <a:schemeClr val="tx1">
                  <a:lumMod val="75000"/>
                  <a:lumOff val="25000"/>
                </a:schemeClr>
              </a:solidFill>
              <a:latin typeface="Times New Roman" panose="02020603050405020304" charset="0"/>
              <a:cs typeface="Times New Roman" panose="02020603050405020304" charset="0"/>
              <a:sym typeface="+mn-ea"/>
            </a:endParaRPr>
          </a:p>
          <a:p>
            <a:pPr marL="342900" lvl="0" indent="-342900" algn="l">
              <a:lnSpc>
                <a:spcPct val="132000"/>
              </a:lnSpc>
              <a:spcBef>
                <a:spcPts val="20"/>
              </a:spcBef>
              <a:buClr>
                <a:srgbClr val="00B050"/>
              </a:buClr>
              <a:buSzTx/>
              <a:buFont typeface="Wingdings" panose="05000000000000000000" charset="0"/>
              <a:buChar char="Ø"/>
            </a:pPr>
            <a:r>
              <a:rPr sz="1600" i="1">
                <a:solidFill>
                  <a:schemeClr val="tx1">
                    <a:lumMod val="75000"/>
                    <a:lumOff val="25000"/>
                  </a:schemeClr>
                </a:solidFill>
                <a:latin typeface="Times New Roman" panose="02020603050405020304" charset="0"/>
                <a:cs typeface="Times New Roman" panose="02020603050405020304" charset="0"/>
                <a:sym typeface="+mn-ea"/>
              </a:rPr>
              <a:t>F</a:t>
            </a:r>
            <a:r>
              <a:rPr sz="1600" i="1" baseline="-25000">
                <a:solidFill>
                  <a:schemeClr val="tx1">
                    <a:lumMod val="75000"/>
                    <a:lumOff val="25000"/>
                  </a:schemeClr>
                </a:solidFill>
                <a:latin typeface="Times New Roman" panose="02020603050405020304" charset="0"/>
                <a:cs typeface="Times New Roman" panose="02020603050405020304" charset="0"/>
                <a:sym typeface="+mn-ea"/>
              </a:rPr>
              <a:t>N</a:t>
            </a:r>
            <a:r>
              <a:rPr sz="1600">
                <a:solidFill>
                  <a:schemeClr val="tx1">
                    <a:lumMod val="75000"/>
                    <a:lumOff val="25000"/>
                  </a:schemeClr>
                </a:solidFill>
                <a:latin typeface="Times New Roman" panose="02020603050405020304" charset="0"/>
                <a:cs typeface="Times New Roman" panose="02020603050405020304" charset="0"/>
                <a:sym typeface="+mn-ea"/>
              </a:rPr>
              <a:t>表示False Negative，即假负：将正类预测为负类的数量，可以称为漏报率</a:t>
            </a:r>
            <a:r>
              <a:rPr sz="1600">
                <a:solidFill>
                  <a:schemeClr val="tx1">
                    <a:lumMod val="75000"/>
                    <a:lumOff val="25000"/>
                  </a:schemeClr>
                </a:solidFill>
                <a:sym typeface="+mn-ea"/>
              </a:rPr>
              <a:t>。</a:t>
            </a:r>
            <a:endParaRPr lang="zh-CN" altLang="en-US" sz="1600">
              <a:solidFill>
                <a:schemeClr val="tx1">
                  <a:lumMod val="75000"/>
                  <a:lumOff val="25000"/>
                </a:schemeClr>
              </a:solidFill>
              <a:sym typeface="+mn-ea"/>
            </a:endParaRPr>
          </a:p>
        </p:txBody>
      </p:sp>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评估指标</a:t>
            </a:r>
          </a:p>
        </p:txBody>
      </p:sp>
      <p:sp>
        <p:nvSpPr>
          <p:cNvPr id="8" name="内容占位符 2"/>
          <p:cNvSpPr>
            <a:spLocks noGrp="1"/>
          </p:cNvSpPr>
          <p:nvPr>
            <p:ph idx="1"/>
          </p:nvPr>
        </p:nvSpPr>
        <p:spPr>
          <a:xfrm>
            <a:off x="773662" y="1313748"/>
            <a:ext cx="8446181" cy="533122"/>
          </a:xfrm>
        </p:spPr>
        <p:txBody>
          <a:bodyPr>
            <a:normAutofit/>
          </a:bodyPr>
          <a:lstStyle/>
          <a:p>
            <a:pPr marL="0" indent="0">
              <a:lnSpc>
                <a:spcPct val="132000"/>
              </a:lnSpc>
              <a:buClr>
                <a:srgbClr val="00B050"/>
              </a:buClr>
              <a:buNone/>
            </a:pPr>
            <a:r>
              <a:rPr lang="en-US" b="1" dirty="0">
                <a:solidFill>
                  <a:schemeClr val="tx1"/>
                </a:solidFill>
              </a:rPr>
              <a:t> </a:t>
            </a:r>
            <a:r>
              <a:rPr b="1" dirty="0">
                <a:solidFill>
                  <a:schemeClr val="tx1"/>
                </a:solidFill>
              </a:rPr>
              <a:t>准确率</a:t>
            </a:r>
            <a:endParaRPr b="1" dirty="0">
              <a:solidFill>
                <a:schemeClr val="tx1"/>
              </a:solidFill>
            </a:endParaRPr>
          </a:p>
        </p:txBody>
      </p:sp>
      <p:sp>
        <p:nvSpPr>
          <p:cNvPr id="10" name="内容占位符 5"/>
          <p:cNvSpPr>
            <a:spLocks noGrp="1"/>
          </p:cNvSpPr>
          <p:nvPr/>
        </p:nvSpPr>
        <p:spPr>
          <a:xfrm>
            <a:off x="773430" y="1652905"/>
            <a:ext cx="11227435" cy="980440"/>
          </a:xfrm>
          <a:prstGeom prst="rect">
            <a:avLst/>
          </a:prstGeom>
        </p:spPr>
        <p:txBody>
          <a:bodyPr vert="horz" lIns="121853" tIns="60926" rIns="121853" bIns="60926" rtlCol="0">
            <a:normAutofit/>
          </a:bodyPr>
          <a:lstStyle/>
          <a:p>
            <a:pPr indent="0">
              <a:lnSpc>
                <a:spcPct val="132000"/>
              </a:lnSpc>
              <a:spcBef>
                <a:spcPct val="20000"/>
              </a:spcBef>
              <a:spcAft>
                <a:spcPts val="0"/>
              </a:spcAft>
              <a:buClr>
                <a:srgbClr val="00B050"/>
              </a:buClr>
              <a:buSzPct val="100000"/>
              <a:buNone/>
            </a:pPr>
            <a:r>
              <a:rPr>
                <a:solidFill>
                  <a:schemeClr val="tx1">
                    <a:lumMod val="75000"/>
                    <a:lumOff val="25000"/>
                  </a:schemeClr>
                </a:solidFill>
              </a:rPr>
              <a:t>最简单、最常使用的评估指标就是准确率（Accuracy），它可以从某种意义上判断出一个模型是否有效</a:t>
            </a:r>
            <a:r>
              <a:rPr lang="zh-CN">
                <a:solidFill>
                  <a:schemeClr val="tx1">
                    <a:lumMod val="75000"/>
                    <a:lumOff val="25000"/>
                  </a:schemeClr>
                </a:solidFill>
              </a:rPr>
              <a:t>。</a:t>
            </a:r>
            <a:endParaRPr lang="zh-CN">
              <a:solidFill>
                <a:schemeClr val="tx1">
                  <a:lumMod val="75000"/>
                  <a:lumOff val="25000"/>
                </a:schemeClr>
              </a:solidFill>
            </a:endParaRPr>
          </a:p>
        </p:txBody>
      </p:sp>
      <p:graphicFrame>
        <p:nvGraphicFramePr>
          <p:cNvPr id="3" name="对象 -2147482238"/>
          <p:cNvGraphicFramePr>
            <a:graphicFrameLocks noChangeAspect="1"/>
          </p:cNvGraphicFramePr>
          <p:nvPr>
            <p:custDataLst>
              <p:tags r:id="rId1"/>
            </p:custDataLst>
          </p:nvPr>
        </p:nvGraphicFramePr>
        <p:xfrm>
          <a:off x="3976269" y="2313435"/>
          <a:ext cx="3747135" cy="869950"/>
        </p:xfrm>
        <a:graphic>
          <a:graphicData uri="http://schemas.openxmlformats.org/presentationml/2006/ole">
            <mc:AlternateContent xmlns:mc="http://schemas.openxmlformats.org/markup-compatibility/2006">
              <mc:Choice xmlns:v="urn:schemas-microsoft-com:vml" Requires="v">
                <p:oleObj spid="_x0000_s3076" name="" r:id="rId2" imgW="1524000" imgH="355600" progId="Equation.DSMT4">
                  <p:embed/>
                </p:oleObj>
              </mc:Choice>
              <mc:Fallback>
                <p:oleObj name="" r:id="rId2" imgW="1524000" imgH="355600" progId="Equation.DSMT4">
                  <p:embed/>
                  <p:pic>
                    <p:nvPicPr>
                      <p:cNvPr id="0" name="图片 3075"/>
                      <p:cNvPicPr/>
                      <p:nvPr/>
                    </p:nvPicPr>
                    <p:blipFill>
                      <a:blip r:embed="rId3"/>
                      <a:stretch>
                        <a:fillRect/>
                      </a:stretch>
                    </p:blipFill>
                    <p:spPr>
                      <a:xfrm>
                        <a:off x="3976269" y="2313435"/>
                        <a:ext cx="3747135" cy="869950"/>
                      </a:xfrm>
                      <a:prstGeom prst="rect">
                        <a:avLst/>
                      </a:prstGeom>
                      <a:noFill/>
                      <a:ln w="38100">
                        <a:noFill/>
                        <a:miter/>
                      </a:ln>
                    </p:spPr>
                  </p:pic>
                </p:oleObj>
              </mc:Fallback>
            </mc:AlternateContent>
          </a:graphicData>
        </a:graphic>
      </p:graphicFrame>
      <p:sp>
        <p:nvSpPr>
          <p:cNvPr id="100" name="矩形 99"/>
          <p:cNvSpPr/>
          <p:nvPr/>
        </p:nvSpPr>
        <p:spPr>
          <a:xfrm>
            <a:off x="2486539" y="3277346"/>
            <a:ext cx="7509409" cy="795875"/>
          </a:xfrm>
          <a:prstGeom prst="rect">
            <a:avLst/>
          </a:prstGeom>
        </p:spPr>
        <p:txBody>
          <a:bodyPr vert="horz" lIns="121853" tIns="60926" rIns="121853" bIns="60926" rtlCol="0">
            <a:normAutofit/>
          </a:bodyPr>
          <a:lstStyle/>
          <a:p>
            <a:pPr lvl="0" algn="l">
              <a:lnSpc>
                <a:spcPct val="132000"/>
              </a:lnSpc>
              <a:spcBef>
                <a:spcPct val="20000"/>
              </a:spcBef>
              <a:spcAft>
                <a:spcPts val="0"/>
              </a:spcAft>
              <a:buClr>
                <a:srgbClr val="00B050"/>
              </a:buClr>
              <a:buSzTx/>
              <a:buFontTx/>
            </a:pPr>
            <a:r>
              <a:rPr lang="en-US" sz="1600">
                <a:solidFill>
                  <a:schemeClr val="tx1">
                    <a:lumMod val="75000"/>
                    <a:lumOff val="25000"/>
                  </a:schemeClr>
                </a:solidFill>
                <a:sym typeface="+mn-ea"/>
              </a:rPr>
              <a:t>在正、负样本不均衡的情况下，准确率作为评估指标是不合适的。</a:t>
            </a:r>
            <a:endParaRPr lang="en-US" sz="1600">
              <a:solidFill>
                <a:schemeClr val="tx1">
                  <a:lumMod val="75000"/>
                  <a:lumOff val="25000"/>
                </a:schemeClr>
              </a:solidFill>
              <a:sym typeface="+mn-ea"/>
            </a:endParaRPr>
          </a:p>
        </p:txBody>
      </p:sp>
      <p:sp>
        <p:nvSpPr>
          <p:cNvPr id="11" name="内容占位符 2"/>
          <p:cNvSpPr>
            <a:spLocks noGrp="1"/>
          </p:cNvSpPr>
          <p:nvPr>
            <p:custDataLst>
              <p:tags r:id="rId4"/>
            </p:custDataLst>
          </p:nvPr>
        </p:nvSpPr>
        <p:spPr>
          <a:xfrm>
            <a:off x="773430" y="3742055"/>
            <a:ext cx="7988935" cy="53340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Clr>
                <a:srgbClr val="00B050"/>
              </a:buClr>
              <a:buNone/>
            </a:pPr>
            <a:r>
              <a:rPr lang="en-US" b="1" dirty="0">
                <a:solidFill>
                  <a:schemeClr val="tx1"/>
                </a:solidFill>
              </a:rPr>
              <a:t> </a:t>
            </a:r>
            <a:r>
              <a:rPr b="1" dirty="0">
                <a:solidFill>
                  <a:schemeClr val="tx1"/>
                </a:solidFill>
              </a:rPr>
              <a:t>查准率</a:t>
            </a:r>
            <a:endParaRPr lang="zh-CN" b="1" dirty="0">
              <a:solidFill>
                <a:schemeClr val="tx1"/>
              </a:solidFill>
            </a:endParaRPr>
          </a:p>
        </p:txBody>
      </p:sp>
      <p:sp>
        <p:nvSpPr>
          <p:cNvPr id="12" name="内容占位符 5"/>
          <p:cNvSpPr>
            <a:spLocks noGrp="1"/>
          </p:cNvSpPr>
          <p:nvPr>
            <p:custDataLst>
              <p:tags r:id="rId5"/>
            </p:custDataLst>
          </p:nvPr>
        </p:nvSpPr>
        <p:spPr>
          <a:xfrm>
            <a:off x="822960" y="4223385"/>
            <a:ext cx="10539095" cy="1259840"/>
          </a:xfrm>
          <a:prstGeom prst="rect">
            <a:avLst/>
          </a:prstGeom>
        </p:spPr>
        <p:txBody>
          <a:bodyPr vert="horz" lIns="121853" tIns="60926" rIns="121853" bIns="60926" rtlCol="0">
            <a:normAutofit lnSpcReduction="10000"/>
          </a:bodyPr>
          <a:lstStyle/>
          <a:p>
            <a:pPr indent="0">
              <a:lnSpc>
                <a:spcPct val="132000"/>
              </a:lnSpc>
              <a:spcBef>
                <a:spcPct val="20000"/>
              </a:spcBef>
              <a:spcAft>
                <a:spcPts val="0"/>
              </a:spcAft>
              <a:buClr>
                <a:srgbClr val="00B050"/>
              </a:buClr>
              <a:buSzPct val="100000"/>
              <a:buNone/>
            </a:pPr>
            <a:r>
              <a:rPr lang="en-US">
                <a:solidFill>
                  <a:schemeClr val="tx1">
                    <a:lumMod val="75000"/>
                    <a:lumOff val="25000"/>
                  </a:schemeClr>
                </a:solidFill>
              </a:rPr>
              <a:t>       </a:t>
            </a:r>
            <a:r>
              <a:rPr>
                <a:solidFill>
                  <a:schemeClr val="tx1">
                    <a:lumMod val="75000"/>
                    <a:lumOff val="25000"/>
                  </a:schemeClr>
                </a:solidFill>
              </a:rPr>
              <a:t>查准率（Precision）又叫精确率，它表示被正确检索的样本数与被检索到的样本总数之比，简单地说查准率是识别正确的结果在所识别出的结果中所占的比例。</a:t>
            </a:r>
            <a:endParaRPr>
              <a:solidFill>
                <a:schemeClr val="tx1">
                  <a:lumMod val="75000"/>
                  <a:lumOff val="25000"/>
                </a:schemeClr>
              </a:solidFill>
            </a:endParaRPr>
          </a:p>
        </p:txBody>
      </p:sp>
      <p:graphicFrame>
        <p:nvGraphicFramePr>
          <p:cNvPr id="13" name="对象 -2147482237"/>
          <p:cNvGraphicFramePr>
            <a:graphicFrameLocks noChangeAspect="1"/>
          </p:cNvGraphicFramePr>
          <p:nvPr>
            <p:custDataLst>
              <p:tags r:id="rId6"/>
            </p:custDataLst>
          </p:nvPr>
        </p:nvGraphicFramePr>
        <p:xfrm>
          <a:off x="4620405" y="5155522"/>
          <a:ext cx="2951480" cy="927100"/>
        </p:xfrm>
        <a:graphic>
          <a:graphicData uri="http://schemas.openxmlformats.org/presentationml/2006/ole">
            <mc:AlternateContent xmlns:mc="http://schemas.openxmlformats.org/markup-compatibility/2006">
              <mc:Choice xmlns:v="urn:schemas-microsoft-com:vml" Requires="v">
                <p:oleObj spid="_x0000_s14" name="" r:id="rId7" imgW="1091565" imgH="342900" progId="Equation.DSMT4">
                  <p:embed/>
                </p:oleObj>
              </mc:Choice>
              <mc:Fallback>
                <p:oleObj name="" r:id="rId7" imgW="1091565" imgH="342900" progId="Equation.DSMT4">
                  <p:embed/>
                  <p:pic>
                    <p:nvPicPr>
                      <p:cNvPr id="0" name="图片 10"/>
                      <p:cNvPicPr/>
                      <p:nvPr/>
                    </p:nvPicPr>
                    <p:blipFill>
                      <a:blip r:embed="rId8"/>
                      <a:stretch>
                        <a:fillRect/>
                      </a:stretch>
                    </p:blipFill>
                    <p:spPr>
                      <a:xfrm>
                        <a:off x="4620405" y="5155522"/>
                        <a:ext cx="2951480" cy="9271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评估指标</a:t>
            </a:r>
          </a:p>
        </p:txBody>
      </p:sp>
      <p:sp>
        <p:nvSpPr>
          <p:cNvPr id="8" name="内容占位符 2"/>
          <p:cNvSpPr>
            <a:spLocks noGrp="1"/>
          </p:cNvSpPr>
          <p:nvPr>
            <p:ph idx="1"/>
          </p:nvPr>
        </p:nvSpPr>
        <p:spPr>
          <a:xfrm>
            <a:off x="773662" y="1558223"/>
            <a:ext cx="8446181" cy="533122"/>
          </a:xfrm>
        </p:spPr>
        <p:txBody>
          <a:bodyPr>
            <a:normAutofit/>
          </a:bodyPr>
          <a:lstStyle/>
          <a:p>
            <a:pPr marL="0" indent="0">
              <a:lnSpc>
                <a:spcPct val="132000"/>
              </a:lnSpc>
              <a:buClr>
                <a:srgbClr val="00B050"/>
              </a:buClr>
              <a:buNone/>
            </a:pPr>
            <a:r>
              <a:rPr b="1" dirty="0">
                <a:solidFill>
                  <a:schemeClr val="tx1"/>
                </a:solidFill>
              </a:rPr>
              <a:t>召回率</a:t>
            </a:r>
            <a:endParaRPr b="1" dirty="0">
              <a:solidFill>
                <a:schemeClr val="tx1"/>
              </a:solidFill>
            </a:endParaRPr>
          </a:p>
        </p:txBody>
      </p:sp>
      <p:sp>
        <p:nvSpPr>
          <p:cNvPr id="10" name="内容占位符 5"/>
          <p:cNvSpPr>
            <a:spLocks noGrp="1"/>
          </p:cNvSpPr>
          <p:nvPr/>
        </p:nvSpPr>
        <p:spPr>
          <a:xfrm>
            <a:off x="951865" y="2091055"/>
            <a:ext cx="10431780" cy="1336040"/>
          </a:xfrm>
          <a:prstGeom prst="rect">
            <a:avLst/>
          </a:prstGeom>
        </p:spPr>
        <p:txBody>
          <a:bodyPr vert="horz" lIns="121853" tIns="60926" rIns="121853" bIns="60926" rtlCol="0">
            <a:normAutofit/>
          </a:bodyPr>
          <a:lstStyle/>
          <a:p>
            <a:pPr indent="0">
              <a:lnSpc>
                <a:spcPct val="132000"/>
              </a:lnSpc>
              <a:spcBef>
                <a:spcPct val="20000"/>
              </a:spcBef>
              <a:spcAft>
                <a:spcPts val="0"/>
              </a:spcAft>
              <a:buClr>
                <a:srgbClr val="00B050"/>
              </a:buClr>
              <a:buSzPct val="100000"/>
              <a:buNone/>
            </a:pPr>
            <a:r>
              <a:rPr lang="en-US">
                <a:solidFill>
                  <a:schemeClr val="tx1">
                    <a:lumMod val="75000"/>
                    <a:lumOff val="25000"/>
                  </a:schemeClr>
                </a:solidFill>
              </a:rPr>
              <a:t>       </a:t>
            </a:r>
            <a:r>
              <a:rPr>
                <a:solidFill>
                  <a:schemeClr val="tx1">
                    <a:lumMod val="75000"/>
                    <a:lumOff val="25000"/>
                  </a:schemeClr>
                </a:solidFill>
              </a:rPr>
              <a:t>召回率（Recall）又叫查全率，它表示被正确检索的样本数与应当被检索到的样本数之比。从概念上看，查准率和召回率是一对相互矛盾的指标，一般而言，查准率高时，召回率往往偏低；召回率高时，查准率往往偏低。</a:t>
            </a:r>
            <a:endParaRPr>
              <a:solidFill>
                <a:schemeClr val="tx1">
                  <a:lumMod val="75000"/>
                  <a:lumOff val="25000"/>
                </a:schemeClr>
              </a:solidFill>
            </a:endParaRPr>
          </a:p>
        </p:txBody>
      </p:sp>
      <p:graphicFrame>
        <p:nvGraphicFramePr>
          <p:cNvPr id="3" name="对象 -2147482360"/>
          <p:cNvGraphicFramePr>
            <a:graphicFrameLocks noChangeAspect="1"/>
          </p:cNvGraphicFramePr>
          <p:nvPr>
            <p:custDataLst>
              <p:tags r:id="rId1"/>
            </p:custDataLst>
          </p:nvPr>
        </p:nvGraphicFramePr>
        <p:xfrm>
          <a:off x="4615051" y="3267066"/>
          <a:ext cx="2480288" cy="925983"/>
        </p:xfrm>
        <a:graphic>
          <a:graphicData uri="http://schemas.openxmlformats.org/presentationml/2006/ole">
            <mc:AlternateContent xmlns:mc="http://schemas.openxmlformats.org/markup-compatibility/2006">
              <mc:Choice xmlns:v="urn:schemas-microsoft-com:vml" Requires="v">
                <p:oleObj spid="_x0000_s3076" name="" r:id="rId2" imgW="951865" imgH="355600" progId="Equation.DSMT4">
                  <p:embed/>
                </p:oleObj>
              </mc:Choice>
              <mc:Fallback>
                <p:oleObj name="" r:id="rId2" imgW="951865" imgH="355600" progId="Equation.DSMT4">
                  <p:embed/>
                  <p:pic>
                    <p:nvPicPr>
                      <p:cNvPr id="0" name="图片 3075"/>
                      <p:cNvPicPr/>
                      <p:nvPr/>
                    </p:nvPicPr>
                    <p:blipFill>
                      <a:blip r:embed="rId3"/>
                      <a:stretch>
                        <a:fillRect/>
                      </a:stretch>
                    </p:blipFill>
                    <p:spPr>
                      <a:xfrm>
                        <a:off x="4615051" y="3267066"/>
                        <a:ext cx="2480288" cy="925983"/>
                      </a:xfrm>
                      <a:prstGeom prst="rect">
                        <a:avLst/>
                      </a:prstGeom>
                      <a:noFill/>
                      <a:ln w="38100">
                        <a:noFill/>
                        <a:miter/>
                      </a:ln>
                    </p:spPr>
                  </p:pic>
                </p:oleObj>
              </mc:Fallback>
            </mc:AlternateContent>
          </a:graphicData>
        </a:graphic>
      </p:graphicFrame>
      <p:sp>
        <p:nvSpPr>
          <p:cNvPr id="11" name="内容占位符 2"/>
          <p:cNvSpPr>
            <a:spLocks noGrp="1"/>
          </p:cNvSpPr>
          <p:nvPr>
            <p:custDataLst>
              <p:tags r:id="rId4"/>
            </p:custDataLst>
          </p:nvPr>
        </p:nvSpPr>
        <p:spPr>
          <a:xfrm>
            <a:off x="859155" y="3659505"/>
            <a:ext cx="8101330" cy="53340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Clr>
                <a:srgbClr val="00B050"/>
              </a:buClr>
              <a:buNone/>
            </a:pPr>
            <a:r>
              <a:rPr b="1" dirty="0">
                <a:solidFill>
                  <a:schemeClr val="tx1"/>
                </a:solidFill>
              </a:rPr>
              <a:t>F1值</a:t>
            </a:r>
            <a:endParaRPr b="1" dirty="0">
              <a:solidFill>
                <a:schemeClr val="tx1"/>
              </a:solidFill>
            </a:endParaRPr>
          </a:p>
        </p:txBody>
      </p:sp>
      <p:sp>
        <p:nvSpPr>
          <p:cNvPr id="13" name="内容占位符 5"/>
          <p:cNvSpPr>
            <a:spLocks noGrp="1"/>
          </p:cNvSpPr>
          <p:nvPr>
            <p:custDataLst>
              <p:tags r:id="rId5"/>
            </p:custDataLst>
          </p:nvPr>
        </p:nvSpPr>
        <p:spPr>
          <a:xfrm>
            <a:off x="902335" y="4340860"/>
            <a:ext cx="10339070" cy="1336040"/>
          </a:xfrm>
          <a:prstGeom prst="rect">
            <a:avLst/>
          </a:prstGeom>
        </p:spPr>
        <p:txBody>
          <a:bodyPr vert="horz" lIns="121853" tIns="60926" rIns="121853" bIns="60926" rtlCol="0">
            <a:normAutofit/>
          </a:bodyPr>
          <a:lstStyle/>
          <a:p>
            <a:pPr indent="0">
              <a:lnSpc>
                <a:spcPct val="132000"/>
              </a:lnSpc>
              <a:spcBef>
                <a:spcPct val="20000"/>
              </a:spcBef>
              <a:spcAft>
                <a:spcPts val="0"/>
              </a:spcAft>
              <a:buClr>
                <a:srgbClr val="00B050"/>
              </a:buClr>
              <a:buSzPct val="100000"/>
              <a:buNone/>
            </a:pPr>
            <a:r>
              <a:rPr lang="en-US">
                <a:solidFill>
                  <a:schemeClr val="tx1">
                    <a:lumMod val="75000"/>
                    <a:lumOff val="25000"/>
                  </a:schemeClr>
                </a:solidFill>
              </a:rPr>
              <a:t>    </a:t>
            </a:r>
            <a:r>
              <a:rPr>
                <a:solidFill>
                  <a:schemeClr val="tx1">
                    <a:lumMod val="75000"/>
                    <a:lumOff val="25000"/>
                  </a:schemeClr>
                </a:solidFill>
              </a:rPr>
              <a:t>F1值（F1 Score）是统计学中用来衡量二分类模型精度的一种指标。它同时兼顾了分类模型的查准率和召回率。F1值可以看作模型查准率和召回率的一种调和平均，它的最大值是1，最小值是0。</a:t>
            </a:r>
            <a:endParaRPr>
              <a:solidFill>
                <a:schemeClr val="tx1">
                  <a:lumMod val="75000"/>
                  <a:lumOff val="25000"/>
                </a:schemeClr>
              </a:solidFill>
            </a:endParaRPr>
          </a:p>
        </p:txBody>
      </p:sp>
      <p:graphicFrame>
        <p:nvGraphicFramePr>
          <p:cNvPr id="14" name="对象 -2147482183"/>
          <p:cNvGraphicFramePr>
            <a:graphicFrameLocks noChangeAspect="1"/>
          </p:cNvGraphicFramePr>
          <p:nvPr>
            <p:custDataLst>
              <p:tags r:id="rId6"/>
            </p:custDataLst>
          </p:nvPr>
        </p:nvGraphicFramePr>
        <p:xfrm>
          <a:off x="4059992" y="5474295"/>
          <a:ext cx="3590325" cy="885364"/>
        </p:xfrm>
        <a:graphic>
          <a:graphicData uri="http://schemas.openxmlformats.org/presentationml/2006/ole">
            <mc:AlternateContent xmlns:mc="http://schemas.openxmlformats.org/markup-compatibility/2006">
              <mc:Choice xmlns:v="urn:schemas-microsoft-com:vml" Requires="v">
                <p:oleObj spid="_x0000_s15" name="" r:id="rId7" imgW="1383665" imgH="355600" progId="Equation.DSMT4">
                  <p:embed/>
                </p:oleObj>
              </mc:Choice>
              <mc:Fallback>
                <p:oleObj name="" r:id="rId7" imgW="1383665" imgH="355600" progId="Equation.DSMT4">
                  <p:embed/>
                  <p:pic>
                    <p:nvPicPr>
                      <p:cNvPr id="0" name="图片 10"/>
                      <p:cNvPicPr/>
                      <p:nvPr/>
                    </p:nvPicPr>
                    <p:blipFill>
                      <a:blip r:embed="rId8"/>
                      <a:stretch>
                        <a:fillRect/>
                      </a:stretch>
                    </p:blipFill>
                    <p:spPr>
                      <a:xfrm>
                        <a:off x="4059992" y="5474295"/>
                        <a:ext cx="3590325" cy="885364"/>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0" algn="l">
              <a:lnSpc>
                <a:spcPct val="132000"/>
              </a:lnSpc>
              <a:buClr>
                <a:srgbClr val="00B050"/>
              </a:buClr>
              <a:buSzTx/>
              <a:buNone/>
            </a:pPr>
            <a:r>
              <a:rPr b="1" dirty="0">
                <a:solidFill>
                  <a:schemeClr val="tx1"/>
                </a:solidFill>
              </a:rPr>
              <a:t>敏感性</a:t>
            </a:r>
            <a:endParaRPr b="1" dirty="0">
              <a:solidFill>
                <a:schemeClr val="tx1"/>
              </a:solidFill>
            </a:endParaRPr>
          </a:p>
          <a:p>
            <a:r>
              <a:rPr spc="0">
                <a:solidFill>
                  <a:schemeClr val="tx1">
                    <a:lumMod val="75000"/>
                    <a:lumOff val="25000"/>
                  </a:schemeClr>
                </a:solidFill>
              </a:rPr>
              <a:t>敏感性</a:t>
            </a:r>
            <a:r>
              <a:rPr lang="en-US" spc="0">
                <a:solidFill>
                  <a:schemeClr val="tx1">
                    <a:lumMod val="75000"/>
                    <a:lumOff val="25000"/>
                  </a:schemeClr>
                </a:solidFill>
              </a:rPr>
              <a:t>(sensitivity)</a:t>
            </a:r>
            <a:r>
              <a:rPr spc="0">
                <a:solidFill>
                  <a:schemeClr val="tx1">
                    <a:lumMod val="75000"/>
                    <a:lumOff val="25000"/>
                  </a:schemeClr>
                </a:solidFill>
              </a:rPr>
              <a:t>也称真阳性率，反应某种方法判定某病变的漏诊率。敏感性一般以百分数表示，敏感性越高，则漏诊率越低。用来筛查某种疾病的方法必须敏感性高，这样才能减少漏诊。</a:t>
            </a:r>
            <a:endParaRPr spc="0">
              <a:solidFill>
                <a:schemeClr val="tx1">
                  <a:lumMod val="75000"/>
                  <a:lumOff val="25000"/>
                </a:schemeClr>
              </a:solidFill>
            </a:endParaRPr>
          </a:p>
          <a:p>
            <a:endParaRPr spc="0">
              <a:solidFill>
                <a:schemeClr val="tx1">
                  <a:lumMod val="75000"/>
                  <a:lumOff val="25000"/>
                </a:schemeClr>
              </a:solidFill>
            </a:endParaRPr>
          </a:p>
          <a:p>
            <a:endParaRPr lang="zh-CN" altLang="en-US"/>
          </a:p>
          <a:p>
            <a:pPr marL="0" algn="l">
              <a:lnSpc>
                <a:spcPct val="132000"/>
              </a:lnSpc>
              <a:buClr>
                <a:srgbClr val="00B050"/>
              </a:buClr>
              <a:buSzTx/>
              <a:buNone/>
            </a:pPr>
            <a:r>
              <a:rPr b="1" dirty="0">
                <a:solidFill>
                  <a:schemeClr val="tx1"/>
                </a:solidFill>
              </a:rPr>
              <a:t>特异性</a:t>
            </a:r>
            <a:endParaRPr b="1" dirty="0">
              <a:solidFill>
                <a:schemeClr val="tx1"/>
              </a:solidFill>
            </a:endParaRPr>
          </a:p>
          <a:p>
            <a:pPr algn="l">
              <a:buClrTx/>
              <a:buSzTx/>
            </a:pPr>
            <a:r>
              <a:rPr spc="0">
                <a:solidFill>
                  <a:schemeClr val="tx1">
                    <a:lumMod val="75000"/>
                    <a:lumOff val="25000"/>
                  </a:schemeClr>
                </a:solidFill>
              </a:rPr>
              <a:t>特异性</a:t>
            </a:r>
            <a:r>
              <a:rPr lang="en-US" spc="0">
                <a:solidFill>
                  <a:schemeClr val="tx1">
                    <a:lumMod val="75000"/>
                    <a:lumOff val="25000"/>
                  </a:schemeClr>
                </a:solidFill>
              </a:rPr>
              <a:t>(specificity)</a:t>
            </a:r>
            <a:r>
              <a:rPr spc="0">
                <a:solidFill>
                  <a:schemeClr val="tx1">
                    <a:lumMod val="75000"/>
                    <a:lumOff val="25000"/>
                  </a:schemeClr>
                </a:solidFill>
              </a:rPr>
              <a:t>也称真阴性率</a:t>
            </a:r>
            <a:r>
              <a:rPr lang="zh-CN" spc="0">
                <a:solidFill>
                  <a:schemeClr val="tx1">
                    <a:lumMod val="75000"/>
                    <a:lumOff val="25000"/>
                  </a:schemeClr>
                </a:solidFill>
              </a:rPr>
              <a:t>或</a:t>
            </a:r>
            <a:r>
              <a:rPr>
                <a:solidFill>
                  <a:schemeClr val="tx1">
                    <a:lumMod val="75000"/>
                    <a:lumOff val="25000"/>
                  </a:schemeClr>
                </a:solidFill>
                <a:sym typeface="+mn-ea"/>
              </a:rPr>
              <a:t>假阳性率</a:t>
            </a:r>
            <a:r>
              <a:rPr spc="0">
                <a:solidFill>
                  <a:schemeClr val="tx1">
                    <a:lumMod val="75000"/>
                    <a:lumOff val="25000"/>
                  </a:schemeClr>
                </a:solidFill>
              </a:rPr>
              <a:t>，反应某种方法判定某病变的误诊率。特异性一般也以百分数表示，特异性越高，则误诊率越低。用来筛查某种疾病的方法并不一定要求特异性特别高，在一个合理的范围即可接受。</a:t>
            </a:r>
            <a:endParaRPr spc="0">
              <a:solidFill>
                <a:schemeClr val="tx1">
                  <a:lumMod val="75000"/>
                  <a:lumOff val="25000"/>
                </a:schemeClr>
              </a:solidFill>
            </a:endParaRPr>
          </a:p>
        </p:txBody>
      </p:sp>
      <p:sp>
        <p:nvSpPr>
          <p:cNvPr id="5" name="标题 4"/>
          <p:cNvSpPr>
            <a:spLocks noGrp="1"/>
          </p:cNvSpPr>
          <p:nvPr>
            <p:ph type="title"/>
            <p:custDataLst>
              <p:tags r:id="rId1"/>
            </p:custDataLst>
          </p:nvPr>
        </p:nvSpPr>
        <p:spPr/>
        <p:txBody>
          <a:bodyPr/>
          <a:lstStyle/>
          <a:p>
            <a:pPr>
              <a:spcAft>
                <a:spcPts val="0"/>
              </a:spcAft>
            </a:pPr>
            <a:r>
              <a:t>评估指标</a:t>
            </a:r>
          </a:p>
        </p:txBody>
      </p:sp>
      <p:graphicFrame>
        <p:nvGraphicFramePr>
          <p:cNvPr id="6" name="对象 5">
            <a:hlinkClick r:id="" action="ppaction://ole?verb="/>
          </p:cNvPr>
          <p:cNvGraphicFramePr>
            <a:graphicFrameLocks noChangeAspect="1"/>
          </p:cNvGraphicFramePr>
          <p:nvPr/>
        </p:nvGraphicFramePr>
        <p:xfrm>
          <a:off x="4710430" y="2941955"/>
          <a:ext cx="2573655" cy="745490"/>
        </p:xfrm>
        <a:graphic>
          <a:graphicData uri="http://schemas.openxmlformats.org/presentationml/2006/ole">
            <mc:AlternateContent xmlns:mc="http://schemas.openxmlformats.org/markup-compatibility/2006">
              <mc:Choice xmlns:v="urn:schemas-microsoft-com:vml" Requires="v">
                <p:oleObj spid="_x0000_s5121" name="" r:id="rId2" imgW="1358900" imgH="393700" progId="Equation.KSEE3">
                  <p:embed/>
                </p:oleObj>
              </mc:Choice>
              <mc:Fallback>
                <p:oleObj name="" r:id="rId2" imgW="1358900" imgH="393700" progId="Equation.KSEE3">
                  <p:embed/>
                  <p:pic>
                    <p:nvPicPr>
                      <p:cNvPr id="0" name="图片 5120"/>
                      <p:cNvPicPr/>
                      <p:nvPr/>
                    </p:nvPicPr>
                    <p:blipFill>
                      <a:blip r:embed="rId3"/>
                      <a:stretch>
                        <a:fillRect/>
                      </a:stretch>
                    </p:blipFill>
                    <p:spPr>
                      <a:xfrm>
                        <a:off x="4710430" y="2941955"/>
                        <a:ext cx="2573655" cy="74549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custDataLst>
              <p:tags r:id="rId4"/>
            </p:custDataLst>
          </p:nvPr>
        </p:nvGraphicFramePr>
        <p:xfrm>
          <a:off x="4793933" y="5504180"/>
          <a:ext cx="2597150" cy="745490"/>
        </p:xfrm>
        <a:graphic>
          <a:graphicData uri="http://schemas.openxmlformats.org/presentationml/2006/ole">
            <mc:AlternateContent xmlns:mc="http://schemas.openxmlformats.org/markup-compatibility/2006">
              <mc:Choice xmlns:v="urn:schemas-microsoft-com:vml" Requires="v">
                <p:oleObj spid="_x0000_s2" name="" r:id="rId5" imgW="1371600" imgH="393700" progId="Equation.KSEE3">
                  <p:embed/>
                </p:oleObj>
              </mc:Choice>
              <mc:Fallback>
                <p:oleObj name="" r:id="rId5" imgW="1371600" imgH="393700" progId="Equation.KSEE3">
                  <p:embed/>
                  <p:pic>
                    <p:nvPicPr>
                      <p:cNvPr id="0" name="图片 5120"/>
                      <p:cNvPicPr/>
                      <p:nvPr/>
                    </p:nvPicPr>
                    <p:blipFill>
                      <a:blip r:embed="rId6"/>
                      <a:stretch>
                        <a:fillRect/>
                      </a:stretch>
                    </p:blipFill>
                    <p:spPr>
                      <a:xfrm>
                        <a:off x="4793933" y="5504180"/>
                        <a:ext cx="2597150" cy="745490"/>
                      </a:xfrm>
                      <a:prstGeom prst="rect">
                        <a:avLst/>
                      </a:prstGeom>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评估指标</a:t>
            </a:r>
          </a:p>
        </p:txBody>
      </p:sp>
      <p:sp>
        <p:nvSpPr>
          <p:cNvPr id="8" name="内容占位符 2"/>
          <p:cNvSpPr>
            <a:spLocks noGrp="1"/>
          </p:cNvSpPr>
          <p:nvPr>
            <p:ph idx="1"/>
          </p:nvPr>
        </p:nvSpPr>
        <p:spPr>
          <a:xfrm>
            <a:off x="773662" y="1275013"/>
            <a:ext cx="8446181" cy="533122"/>
          </a:xfrm>
        </p:spPr>
        <p:txBody>
          <a:bodyPr>
            <a:normAutofit/>
          </a:bodyPr>
          <a:lstStyle/>
          <a:p>
            <a:pPr marL="0" indent="0">
              <a:lnSpc>
                <a:spcPct val="132000"/>
              </a:lnSpc>
              <a:buClr>
                <a:srgbClr val="00B050"/>
              </a:buClr>
              <a:buNone/>
            </a:pPr>
            <a:r>
              <a:rPr b="1" dirty="0">
                <a:solidFill>
                  <a:schemeClr val="tx1"/>
                </a:solidFill>
              </a:rPr>
              <a:t>ROC与AUC</a:t>
            </a:r>
            <a:endParaRPr b="1" dirty="0">
              <a:solidFill>
                <a:schemeClr val="tx1"/>
              </a:solidFill>
            </a:endParaRPr>
          </a:p>
        </p:txBody>
      </p:sp>
      <p:sp>
        <p:nvSpPr>
          <p:cNvPr id="10" name="内容占位符 5"/>
          <p:cNvSpPr>
            <a:spLocks noGrp="1"/>
          </p:cNvSpPr>
          <p:nvPr/>
        </p:nvSpPr>
        <p:spPr>
          <a:xfrm>
            <a:off x="297180" y="1764030"/>
            <a:ext cx="11675110" cy="2901315"/>
          </a:xfrm>
          <a:prstGeom prst="rect">
            <a:avLst/>
          </a:prstGeom>
        </p:spPr>
        <p:txBody>
          <a:bodyPr vert="horz" lIns="121853" tIns="60926" rIns="121853" bIns="60926" rtlCol="0">
            <a:normAutofit/>
          </a:bodyPr>
          <a:lstStyle/>
          <a:p>
            <a:pPr indent="0">
              <a:lnSpc>
                <a:spcPct val="132000"/>
              </a:lnSpc>
              <a:spcBef>
                <a:spcPct val="20000"/>
              </a:spcBef>
              <a:spcAft>
                <a:spcPts val="0"/>
              </a:spcAft>
              <a:buClr>
                <a:srgbClr val="00B050"/>
              </a:buClr>
              <a:buSzPct val="100000"/>
              <a:buNone/>
            </a:pPr>
            <a:r>
              <a:rPr>
                <a:solidFill>
                  <a:schemeClr val="tx1">
                    <a:lumMod val="75000"/>
                    <a:lumOff val="25000"/>
                  </a:schemeClr>
                </a:solidFill>
              </a:rPr>
              <a:t>受试者工作特征曲线（Receiver Operating Characteristic Curve，ROC）源于军事领域，而后在医学领域应用甚广，其名称也正是来自医学领域。</a:t>
            </a:r>
            <a:endParaRPr>
              <a:solidFill>
                <a:schemeClr val="tx1">
                  <a:lumMod val="75000"/>
                  <a:lumOff val="25000"/>
                </a:schemeClr>
              </a:solidFill>
            </a:endParaRPr>
          </a:p>
          <a:p>
            <a:pPr indent="0">
              <a:lnSpc>
                <a:spcPct val="132000"/>
              </a:lnSpc>
              <a:spcBef>
                <a:spcPct val="20000"/>
              </a:spcBef>
              <a:buClr>
                <a:srgbClr val="00B050"/>
              </a:buClr>
              <a:buSzPct val="100000"/>
              <a:buNone/>
            </a:pPr>
            <a:r>
              <a:rPr lang="en-US">
                <a:solidFill>
                  <a:schemeClr val="tx1">
                    <a:lumMod val="75000"/>
                    <a:lumOff val="25000"/>
                  </a:schemeClr>
                </a:solidFill>
              </a:rPr>
              <a:t> ROC</a:t>
            </a:r>
            <a:r>
              <a:rPr>
                <a:solidFill>
                  <a:schemeClr val="tx1">
                    <a:lumMod val="75000"/>
                    <a:lumOff val="25000"/>
                  </a:schemeClr>
                </a:solidFill>
              </a:rPr>
              <a:t>的x轴表示假阳性率（False Positive Rate，FPR），y轴表示真阳性率（True Positive Rate，TPR），也就是召回率。ROC越陡，表示模型效果越好。</a:t>
            </a:r>
            <a:endParaRPr>
              <a:solidFill>
                <a:schemeClr val="tx1">
                  <a:lumMod val="75000"/>
                  <a:lumOff val="25000"/>
                </a:schemeClr>
              </a:solidFill>
            </a:endParaRPr>
          </a:p>
          <a:p>
            <a:pPr indent="0">
              <a:lnSpc>
                <a:spcPct val="132000"/>
              </a:lnSpc>
              <a:spcBef>
                <a:spcPct val="20000"/>
              </a:spcBef>
              <a:buClr>
                <a:srgbClr val="00B050"/>
              </a:buClr>
              <a:buSzPct val="100000"/>
              <a:buNone/>
            </a:pPr>
            <a:r>
              <a:rPr>
                <a:solidFill>
                  <a:schemeClr val="tx1">
                    <a:lumMod val="75000"/>
                    <a:lumOff val="25000"/>
                  </a:schemeClr>
                </a:solidFill>
              </a:rPr>
              <a:t>曲线下面积（Area Under Curve，AUC）表示ROC与坐标轴围成的面积，显然这个面积的数值不会大于1。又由于ROC一般都处于y=x这条直线的上方，因此AUC的取值范围为0.5～1。AUC越大表示模型效果越好。</a:t>
            </a:r>
            <a:endParaRPr>
              <a:solidFill>
                <a:schemeClr val="tx1">
                  <a:lumMod val="75000"/>
                  <a:lumOff val="25000"/>
                </a:schemeClr>
              </a:solidFill>
            </a:endParaRPr>
          </a:p>
        </p:txBody>
      </p:sp>
      <p:pic>
        <p:nvPicPr>
          <p:cNvPr id="100" name="图片 99"/>
          <p:cNvPicPr/>
          <p:nvPr>
            <p:custDataLst>
              <p:tags r:id="rId1"/>
            </p:custDataLst>
          </p:nvPr>
        </p:nvPicPr>
        <p:blipFill>
          <a:blip r:embed="rId2"/>
          <a:stretch>
            <a:fillRect/>
          </a:stretch>
        </p:blipFill>
        <p:spPr>
          <a:xfrm>
            <a:off x="3738245" y="4191635"/>
            <a:ext cx="4792980" cy="24892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1" name="矩形 302081"/>
          <p:cNvSpPr/>
          <p:nvPr/>
        </p:nvSpPr>
        <p:spPr>
          <a:xfrm>
            <a:off x="1511300" y="323850"/>
            <a:ext cx="558006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b="1">
                <a:latin typeface="微软雅黑" panose="020B0503020204020204" charset="-122"/>
                <a:ea typeface="微软雅黑" panose="020B0503020204020204" charset="-122"/>
              </a:rPr>
              <a:t>显著目标区域提取及效果评价</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2082" name="矩形 302082"/>
          <p:cNvSpPr/>
          <p:nvPr/>
        </p:nvSpPr>
        <p:spPr>
          <a:xfrm>
            <a:off x="1444308" y="2053590"/>
            <a:ext cx="9178925" cy="460375"/>
          </a:xfrm>
          <a:prstGeom prst="rect">
            <a:avLst/>
          </a:prstGeom>
          <a:noFill/>
          <a:ln w="9525">
            <a:noFill/>
          </a:ln>
        </p:spPr>
        <p:txBody>
          <a:bodyPr anchor="t" anchorCtr="0">
            <a:spAutoFit/>
          </a:bodyPr>
          <a:p>
            <a:pPr defTabSz="719455">
              <a:spcBef>
                <a:spcPts val="900"/>
              </a:spcBef>
              <a:spcAft>
                <a:spcPts val="300"/>
              </a:spcAft>
            </a:pPr>
            <a:r>
              <a:rPr lang="en-US" altLang="zh-CN" sz="2400">
                <a:latin typeface="Times New Roman" panose="02020603050405020304" charset="0"/>
                <a:ea typeface="微软雅黑" panose="020B0503020204020204" charset="-122"/>
                <a:cs typeface="Times New Roman" panose="02020603050405020304" charset="0"/>
              </a:rPr>
              <a:t>PR</a:t>
            </a:r>
            <a:r>
              <a:rPr lang="zh-CN" altLang="en-US" sz="2400">
                <a:latin typeface="Times New Roman" panose="02020603050405020304" charset="0"/>
                <a:ea typeface="微软雅黑" panose="020B0503020204020204" charset="-122"/>
                <a:cs typeface="Times New Roman" panose="02020603050405020304" charset="0"/>
              </a:rPr>
              <a:t>曲线：在横轴为查全率，纵轴为查准率的坐标系中的曲线</a:t>
            </a: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02083" name="矩形 302083"/>
          <p:cNvSpPr/>
          <p:nvPr/>
        </p:nvSpPr>
        <p:spPr>
          <a:xfrm>
            <a:off x="2519363" y="1260475"/>
            <a:ext cx="3230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显著目标区域效果评价</a:t>
            </a:r>
            <a:endParaRPr lang="zh-CN" altLang="en-US" sz="2400" b="1">
              <a:latin typeface="微软雅黑" panose="020B0503020204020204" charset="-122"/>
              <a:ea typeface="微软雅黑" panose="020B0503020204020204" charset="-122"/>
            </a:endParaRPr>
          </a:p>
        </p:txBody>
      </p:sp>
      <p:pic>
        <p:nvPicPr>
          <p:cNvPr id="101" name="图片 100"/>
          <p:cNvPicPr/>
          <p:nvPr>
            <p:custDataLst>
              <p:tags r:id="rId1"/>
            </p:custDataLst>
          </p:nvPr>
        </p:nvPicPr>
        <p:blipFill>
          <a:blip r:embed="rId2"/>
          <a:stretch>
            <a:fillRect/>
          </a:stretch>
        </p:blipFill>
        <p:spPr>
          <a:xfrm>
            <a:off x="2198370" y="2701925"/>
            <a:ext cx="7285355" cy="390842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5" name="矩形 303105"/>
          <p:cNvSpPr/>
          <p:nvPr/>
        </p:nvSpPr>
        <p:spPr>
          <a:xfrm>
            <a:off x="1511300" y="323850"/>
            <a:ext cx="5580063"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3.4  </a:t>
            </a:r>
            <a:r>
              <a:rPr lang="zh-CN" altLang="en-US" sz="2800" b="1">
                <a:latin typeface="微软雅黑" panose="020B0503020204020204" charset="-122"/>
                <a:ea typeface="微软雅黑" panose="020B0503020204020204" charset="-122"/>
              </a:rPr>
              <a:t>显著目标区域提取及效果评价</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3106" name="矩形 303106"/>
          <p:cNvSpPr/>
          <p:nvPr/>
        </p:nvSpPr>
        <p:spPr>
          <a:xfrm>
            <a:off x="311785" y="1837055"/>
            <a:ext cx="11028045" cy="4431030"/>
          </a:xfrm>
          <a:prstGeom prst="rect">
            <a:avLst/>
          </a:prstGeom>
          <a:noFill/>
          <a:ln w="9525">
            <a:noFill/>
          </a:ln>
        </p:spPr>
        <p:txBody>
          <a:bodyPr wrap="square" anchor="t" anchorCtr="0">
            <a:spAutoFit/>
          </a:bodyPr>
          <a:p>
            <a:pPr defTabSz="719455">
              <a:lnSpc>
                <a:spcPct val="150000"/>
              </a:lnSpc>
              <a:spcAft>
                <a:spcPts val="600"/>
              </a:spcAft>
            </a:pPr>
            <a:r>
              <a:rPr lang="en-US" altLang="zh-CN" sz="2400" i="1">
                <a:latin typeface="Arial" panose="020B0604020202020204" pitchFamily="34" charset="0"/>
                <a:ea typeface="微软雅黑" panose="020B0503020204020204" charset="-122"/>
              </a:rPr>
              <a:t>F</a:t>
            </a:r>
            <a:r>
              <a:rPr lang="en-US" altLang="zh-CN" sz="2400">
                <a:latin typeface="Arial" panose="020B0604020202020204" pitchFamily="34" charset="0"/>
                <a:ea typeface="微软雅黑" panose="020B0503020204020204" charset="-122"/>
              </a:rPr>
              <a:t>-</a:t>
            </a:r>
            <a:r>
              <a:rPr lang="zh-CN" altLang="en-US" sz="2400">
                <a:latin typeface="微软雅黑" panose="020B0503020204020204" charset="-122"/>
                <a:ea typeface="微软雅黑" panose="020B0503020204020204" charset="-122"/>
              </a:rPr>
              <a:t>测度（也称</a:t>
            </a:r>
            <a:r>
              <a:rPr lang="en-US" altLang="zh-CN" sz="2400" i="1">
                <a:latin typeface="Arial" panose="020B0604020202020204" pitchFamily="34" charset="0"/>
                <a:ea typeface="微软雅黑" panose="020B0503020204020204" charset="-122"/>
              </a:rPr>
              <a:t>F</a:t>
            </a:r>
            <a:r>
              <a:rPr lang="en-US" altLang="zh-CN" sz="2400">
                <a:latin typeface="Arial" panose="020B0604020202020204" pitchFamily="34" charset="0"/>
                <a:ea typeface="微软雅黑" panose="020B0503020204020204" charset="-122"/>
              </a:rPr>
              <a:t>-</a:t>
            </a:r>
            <a:r>
              <a:rPr lang="zh-CN" altLang="en-US" sz="2400">
                <a:latin typeface="微软雅黑" panose="020B0503020204020204" charset="-122"/>
                <a:ea typeface="微软雅黑" panose="020B0503020204020204" charset="-122"/>
              </a:rPr>
              <a:t>分数）</a:t>
            </a:r>
            <a:endParaRPr lang="zh-CN" altLang="en-US" sz="2400">
              <a:latin typeface="微软雅黑" panose="020B0503020204020204" charset="-122"/>
              <a:ea typeface="微软雅黑" panose="020B0503020204020204" charset="-122"/>
            </a:endParaRPr>
          </a:p>
          <a:p>
            <a:pPr defTabSz="719455">
              <a:lnSpc>
                <a:spcPct val="150000"/>
              </a:lnSpc>
              <a:spcAft>
                <a:spcPts val="600"/>
              </a:spcAft>
            </a:pPr>
            <a:endParaRPr lang="zh-CN" altLang="en-US" sz="2400">
              <a:latin typeface="微软雅黑" panose="020B0503020204020204" charset="-122"/>
              <a:ea typeface="微软雅黑" panose="020B0503020204020204" charset="-122"/>
            </a:endParaRPr>
          </a:p>
          <a:p>
            <a:pPr defTabSz="719455">
              <a:lnSpc>
                <a:spcPct val="150000"/>
              </a:lnSpc>
              <a:spcBef>
                <a:spcPts val="0"/>
              </a:spcBef>
              <a:spcAft>
                <a:spcPts val="600"/>
              </a:spcAft>
            </a:pPr>
            <a:r>
              <a:rPr lang="zh-CN" altLang="en-US" sz="2400">
                <a:latin typeface="微软雅黑" panose="020B0503020204020204" charset="-122"/>
                <a:ea typeface="微软雅黑" panose="020B0503020204020204" charset="-122"/>
              </a:rPr>
              <a:t>平均误差（</a:t>
            </a:r>
            <a:r>
              <a:rPr lang="en-US" altLang="zh-CN" sz="2400">
                <a:latin typeface="微软雅黑" panose="020B0503020204020204" charset="-122"/>
                <a:ea typeface="微软雅黑" panose="020B0503020204020204" charset="-122"/>
              </a:rPr>
              <a:t>ME</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defTabSz="719455">
              <a:lnSpc>
                <a:spcPct val="150000"/>
              </a:lnSpc>
              <a:spcAft>
                <a:spcPts val="600"/>
              </a:spcAft>
            </a:pPr>
            <a:endParaRPr lang="zh-CN" altLang="en-US" sz="2400">
              <a:latin typeface="微软雅黑" panose="020B0503020204020204" charset="-122"/>
              <a:ea typeface="微软雅黑" panose="020B0503020204020204" charset="-122"/>
            </a:endParaRPr>
          </a:p>
          <a:p>
            <a:pPr defTabSz="719455">
              <a:lnSpc>
                <a:spcPct val="150000"/>
              </a:lnSpc>
              <a:spcBef>
                <a:spcPts val="0"/>
              </a:spcBef>
              <a:spcAft>
                <a:spcPts val="600"/>
              </a:spcAft>
            </a:pPr>
            <a:r>
              <a:rPr lang="zh-CN" altLang="en-US" sz="2400">
                <a:latin typeface="微软雅黑" panose="020B0503020204020204" charset="-122"/>
                <a:ea typeface="微软雅黑" panose="020B0503020204020204" charset="-122"/>
              </a:rPr>
              <a:t>平均绝对误差（</a:t>
            </a:r>
            <a:r>
              <a:rPr lang="en-US" altLang="zh-CN" sz="2400">
                <a:latin typeface="微软雅黑" panose="020B0503020204020204" charset="-122"/>
                <a:ea typeface="微软雅黑" panose="020B0503020204020204" charset="-122"/>
              </a:rPr>
              <a:t>MAE</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defTabSz="719455">
              <a:lnSpc>
                <a:spcPct val="150000"/>
              </a:lnSpc>
              <a:spcAft>
                <a:spcPts val="600"/>
              </a:spcAft>
            </a:pPr>
            <a:endParaRPr lang="zh-CN" altLang="en-US" sz="2400">
              <a:latin typeface="微软雅黑" panose="020B0503020204020204" charset="-122"/>
              <a:ea typeface="微软雅黑" panose="020B0503020204020204" charset="-122"/>
            </a:endParaRPr>
          </a:p>
          <a:p>
            <a:pPr defTabSz="719455">
              <a:lnSpc>
                <a:spcPct val="150000"/>
              </a:lnSpc>
              <a:spcBef>
                <a:spcPts val="0"/>
              </a:spcBef>
              <a:spcAft>
                <a:spcPts val="600"/>
              </a:spcAft>
            </a:pPr>
            <a:r>
              <a:rPr lang="zh-CN" altLang="en-US" sz="2400">
                <a:latin typeface="微软雅黑" panose="020B0503020204020204" charset="-122"/>
                <a:ea typeface="微软雅黑" panose="020B0503020204020204" charset="-122"/>
              </a:rPr>
              <a:t>均方根误差（</a:t>
            </a:r>
            <a:r>
              <a:rPr lang="en-US" altLang="zh-CN" sz="2400">
                <a:latin typeface="微软雅黑" panose="020B0503020204020204" charset="-122"/>
                <a:ea typeface="微软雅黑" panose="020B0503020204020204" charset="-122"/>
              </a:rPr>
              <a:t>RMSE</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p:txBody>
      </p:sp>
      <p:sp>
        <p:nvSpPr>
          <p:cNvPr id="303107" name="矩形 303107"/>
          <p:cNvSpPr/>
          <p:nvPr/>
        </p:nvSpPr>
        <p:spPr>
          <a:xfrm>
            <a:off x="2519363" y="1260475"/>
            <a:ext cx="3230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显著目标区域效果评价</a:t>
            </a:r>
            <a:endParaRPr lang="zh-CN" altLang="en-US" sz="2400" b="1">
              <a:latin typeface="微软雅黑" panose="020B0503020204020204" charset="-122"/>
              <a:ea typeface="微软雅黑" panose="020B0503020204020204" charset="-122"/>
            </a:endParaRPr>
          </a:p>
        </p:txBody>
      </p:sp>
      <p:pic>
        <p:nvPicPr>
          <p:cNvPr id="303109" name="图片 303109" descr="C:/Users/Administrator/AppData/Roaming/Yozo_Office/Temp/fc/968467201615187995629/计算机视觉教程（第3版）PPT第04章.pptx/ppt/media/image29.emf"/>
          <p:cNvPicPr/>
          <p:nvPr/>
        </p:nvPicPr>
        <p:blipFill>
          <a:blip r:embed="rId1"/>
          <a:stretch>
            <a:fillRect/>
          </a:stretch>
        </p:blipFill>
        <p:spPr>
          <a:xfrm>
            <a:off x="3596323" y="1837055"/>
            <a:ext cx="2374900" cy="863600"/>
          </a:xfrm>
          <a:prstGeom prst="rect">
            <a:avLst/>
          </a:prstGeom>
          <a:noFill/>
          <a:ln w="9525">
            <a:noFill/>
          </a:ln>
        </p:spPr>
      </p:pic>
      <p:sp>
        <p:nvSpPr>
          <p:cNvPr id="2" name="文本框 1"/>
          <p:cNvSpPr txBox="1"/>
          <p:nvPr/>
        </p:nvSpPr>
        <p:spPr>
          <a:xfrm>
            <a:off x="6583680" y="1946275"/>
            <a:ext cx="4387215" cy="645160"/>
          </a:xfrm>
          <a:prstGeom prst="rect">
            <a:avLst/>
          </a:prstGeom>
          <a:noFill/>
        </p:spPr>
        <p:txBody>
          <a:bodyPr wrap="square" rtlCol="0">
            <a:spAutoFit/>
          </a:bodyPr>
          <a:p>
            <a:pPr>
              <a:spcAft>
                <a:spcPts val="0"/>
              </a:spcAft>
            </a:pPr>
            <a:r>
              <a:rPr lang="en-US" altLang="zh-CN">
                <a:latin typeface="Times New Roman" panose="02020603050405020304" charset="0"/>
                <a:cs typeface="Times New Roman" panose="02020603050405020304" charset="0"/>
              </a:rPr>
              <a:t>用来衡量算法或系统的性能。</a:t>
            </a:r>
            <a:r>
              <a:rPr lang="en-US" altLang="zh-CN" i="1">
                <a:latin typeface="Times New Roman" panose="02020603050405020304" charset="0"/>
                <a:cs typeface="Times New Roman" panose="02020603050405020304" charset="0"/>
              </a:rPr>
              <a:t>P</a:t>
            </a:r>
            <a:r>
              <a:rPr lang="zh-CN" altLang="en-US">
                <a:latin typeface="Times New Roman" panose="02020603050405020304" charset="0"/>
                <a:cs typeface="Times New Roman" panose="02020603050405020304" charset="0"/>
              </a:rPr>
              <a:t>是查准率，</a:t>
            </a:r>
            <a:r>
              <a:rPr lang="en-US" altLang="zh-CN" i="1">
                <a:latin typeface="Times New Roman" panose="02020603050405020304" charset="0"/>
                <a:cs typeface="Times New Roman" panose="02020603050405020304" charset="0"/>
              </a:rPr>
              <a:t>R</a:t>
            </a:r>
            <a:r>
              <a:rPr lang="zh-CN" altLang="en-US">
                <a:latin typeface="Times New Roman" panose="02020603050405020304" charset="0"/>
                <a:cs typeface="Times New Roman" panose="02020603050405020304" charset="0"/>
              </a:rPr>
              <a:t>是召回率</a:t>
            </a:r>
            <a:r>
              <a:rPr lang="en-US" altLang="zh-CN">
                <a:latin typeface="Times New Roman" panose="02020603050405020304" charset="0"/>
                <a:cs typeface="Times New Roman" panose="02020603050405020304" charset="0"/>
              </a:rPr>
              <a:t>,k</a:t>
            </a:r>
            <a:r>
              <a:rPr lang="zh-CN" altLang="en-US">
                <a:latin typeface="Times New Roman" panose="02020603050405020304" charset="0"/>
                <a:cs typeface="Times New Roman" panose="02020603050405020304" charset="0"/>
              </a:rPr>
              <a:t>取</a:t>
            </a:r>
            <a:r>
              <a:rPr lang="en-US" altLang="zh-CN">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就是</a:t>
            </a:r>
            <a:r>
              <a:rPr lang="en-US" altLang="zh-CN">
                <a:latin typeface="Times New Roman" panose="02020603050405020304" charset="0"/>
                <a:cs typeface="Times New Roman" panose="02020603050405020304" charset="0"/>
              </a:rPr>
              <a:t>F1-score</a:t>
            </a:r>
            <a:endParaRPr lang="en-US" altLang="zh-CN">
              <a:latin typeface="Times New Roman" panose="02020603050405020304" charset="0"/>
              <a:cs typeface="Times New Roman" panose="02020603050405020304" charset="0"/>
            </a:endParaRPr>
          </a:p>
        </p:txBody>
      </p:sp>
      <p:graphicFrame>
        <p:nvGraphicFramePr>
          <p:cNvPr id="3" name="对象 2">
            <a:hlinkClick r:id="" action="ppaction://ole?verb="/>
          </p:cNvPr>
          <p:cNvGraphicFramePr>
            <a:graphicFrameLocks noChangeAspect="1"/>
          </p:cNvGraphicFramePr>
          <p:nvPr/>
        </p:nvGraphicFramePr>
        <p:xfrm>
          <a:off x="3292475" y="3210560"/>
          <a:ext cx="2018665" cy="635635"/>
        </p:xfrm>
        <a:graphic>
          <a:graphicData uri="http://schemas.openxmlformats.org/presentationml/2006/ole">
            <mc:AlternateContent xmlns:mc="http://schemas.openxmlformats.org/markup-compatibility/2006">
              <mc:Choice xmlns:v="urn:schemas-microsoft-com:vml" Requires="v">
                <p:oleObj spid="_x0000_s6145" name="" r:id="rId2" imgW="1371600" imgH="431800" progId="Equation.KSEE3">
                  <p:embed/>
                </p:oleObj>
              </mc:Choice>
              <mc:Fallback>
                <p:oleObj name="" r:id="rId2" imgW="1371600" imgH="431800" progId="Equation.KSEE3">
                  <p:embed/>
                  <p:pic>
                    <p:nvPicPr>
                      <p:cNvPr id="0" name="图片 6144"/>
                      <p:cNvPicPr/>
                      <p:nvPr/>
                    </p:nvPicPr>
                    <p:blipFill>
                      <a:blip r:embed="rId3"/>
                      <a:stretch>
                        <a:fillRect/>
                      </a:stretch>
                    </p:blipFill>
                    <p:spPr>
                      <a:xfrm>
                        <a:off x="3292475" y="3210560"/>
                        <a:ext cx="2018665" cy="63563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custDataLst>
              <p:tags r:id="rId4"/>
            </p:custDataLst>
          </p:nvPr>
        </p:nvGraphicFramePr>
        <p:xfrm>
          <a:off x="3746183" y="4478338"/>
          <a:ext cx="2225040" cy="637540"/>
        </p:xfrm>
        <a:graphic>
          <a:graphicData uri="http://schemas.openxmlformats.org/presentationml/2006/ole">
            <mc:AlternateContent xmlns:mc="http://schemas.openxmlformats.org/markup-compatibility/2006">
              <mc:Choice xmlns:v="urn:schemas-microsoft-com:vml" Requires="v">
                <p:oleObj spid="_x0000_s5" name="" r:id="rId5" imgW="1511300" imgH="431800" progId="Equation.KSEE3">
                  <p:embed/>
                </p:oleObj>
              </mc:Choice>
              <mc:Fallback>
                <p:oleObj name="" r:id="rId5" imgW="1511300" imgH="431800" progId="Equation.KSEE3">
                  <p:embed/>
                  <p:pic>
                    <p:nvPicPr>
                      <p:cNvPr id="0" name="图片 6144"/>
                      <p:cNvPicPr/>
                      <p:nvPr/>
                    </p:nvPicPr>
                    <p:blipFill>
                      <a:blip r:embed="rId6"/>
                      <a:stretch>
                        <a:fillRect/>
                      </a:stretch>
                    </p:blipFill>
                    <p:spPr>
                      <a:xfrm>
                        <a:off x="3746183" y="4478338"/>
                        <a:ext cx="2225040" cy="63754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custDataLst>
              <p:tags r:id="rId7"/>
            </p:custDataLst>
          </p:nvPr>
        </p:nvGraphicFramePr>
        <p:xfrm>
          <a:off x="3746183" y="5598161"/>
          <a:ext cx="2301240" cy="713105"/>
        </p:xfrm>
        <a:graphic>
          <a:graphicData uri="http://schemas.openxmlformats.org/presentationml/2006/ole">
            <mc:AlternateContent xmlns:mc="http://schemas.openxmlformats.org/markup-compatibility/2006">
              <mc:Choice xmlns:v="urn:schemas-microsoft-com:vml" Requires="v">
                <p:oleObj spid="_x0000_s7" name="" r:id="rId8" imgW="1562100" imgH="482600" progId="Equation.KSEE3">
                  <p:embed/>
                </p:oleObj>
              </mc:Choice>
              <mc:Fallback>
                <p:oleObj name="" r:id="rId8" imgW="1562100" imgH="482600" progId="Equation.KSEE3">
                  <p:embed/>
                  <p:pic>
                    <p:nvPicPr>
                      <p:cNvPr id="0" name="图片 6144"/>
                      <p:cNvPicPr/>
                      <p:nvPr/>
                    </p:nvPicPr>
                    <p:blipFill>
                      <a:blip r:embed="rId9"/>
                      <a:stretch>
                        <a:fillRect/>
                      </a:stretch>
                    </p:blipFill>
                    <p:spPr>
                      <a:xfrm>
                        <a:off x="3746183" y="5598161"/>
                        <a:ext cx="2301240" cy="71310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custDataLst>
              <p:tags r:id="rId1"/>
            </p:custDataLst>
          </p:nvPr>
        </p:nvSpPr>
        <p:spPr>
          <a:xfrm>
            <a:off x="1219200" y="1460818"/>
            <a:ext cx="5796280" cy="4914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请简要描述显著性后处理的两个步骤。</a:t>
            </a:r>
            <a:endParaRPr lang="zh-CN" altLang="en-US" sz="2600">
              <a:solidFill>
                <a:srgbClr val="000000"/>
              </a:solidFill>
              <a:latin typeface="微软雅黑" panose="020B0503020204020204" charset="-122"/>
              <a:ea typeface="微软雅黑" panose="020B0503020204020204" charset="-122"/>
            </a:endParaRPr>
          </a:p>
        </p:txBody>
      </p:sp>
      <p:sp>
        <p:nvSpPr>
          <p:cNvPr id="11" name="圆角矩形 10"/>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6083"/>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custDataLst>
              <p:tags r:id="rId1"/>
            </p:custDataLst>
          </p:nvPr>
        </p:nvSpPr>
        <p:spPr>
          <a:xfrm>
            <a:off x="1219200" y="1260792"/>
            <a:ext cx="9428480" cy="89154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在正、负样本不均衡的情况下，以下评估指标作为模型有效性的判断标准不合适的是？</a:t>
            </a:r>
            <a:endParaRPr lang="zh-CN" altLang="en-US" sz="2600">
              <a:solidFill>
                <a:srgbClr val="000000"/>
              </a:solidFill>
              <a:latin typeface="微软雅黑" panose="020B0503020204020204" charset="-122"/>
              <a:ea typeface="微软雅黑" panose="020B0503020204020204" charset="-122"/>
            </a:endParaRPr>
          </a:p>
        </p:txBody>
      </p:sp>
      <p:sp>
        <p:nvSpPr>
          <p:cNvPr id="11" name="文本框 10"/>
          <p:cNvSpPr txBox="1"/>
          <p:nvPr>
            <p:custDataLst>
              <p:tags r:id="rId2"/>
            </p:custDataLst>
          </p:nvPr>
        </p:nvSpPr>
        <p:spPr>
          <a:xfrm>
            <a:off x="2438400" y="2861786"/>
            <a:ext cx="1173480" cy="4914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准确率</a:t>
            </a:r>
            <a:endParaRPr lang="zh-CN" altLang="en-US" sz="2600">
              <a:solidFill>
                <a:srgbClr val="000000"/>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3"/>
            </p:custDataLst>
          </p:nvPr>
        </p:nvSpPr>
        <p:spPr>
          <a:xfrm>
            <a:off x="1571625" y="2849880"/>
            <a:ext cx="514350" cy="514350"/>
          </a:xfrm>
          <a:prstGeom prst="ellipse">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3" name="文本框 12"/>
          <p:cNvSpPr txBox="1"/>
          <p:nvPr>
            <p:custDataLst>
              <p:tags r:id="rId4"/>
            </p:custDataLst>
          </p:nvPr>
        </p:nvSpPr>
        <p:spPr>
          <a:xfrm>
            <a:off x="2438400" y="3719036"/>
            <a:ext cx="1173480" cy="4914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查准率</a:t>
            </a:r>
            <a:endParaRPr lang="zh-CN" altLang="en-US" sz="2600">
              <a:solidFill>
                <a:srgbClr val="000000"/>
              </a:solidFill>
              <a:latin typeface="微软雅黑" panose="020B0503020204020204" charset="-122"/>
              <a:ea typeface="微软雅黑" panose="020B0503020204020204" charset="-122"/>
            </a:endParaRPr>
          </a:p>
        </p:txBody>
      </p:sp>
      <p:sp>
        <p:nvSpPr>
          <p:cNvPr id="14" name="椭圆 13"/>
          <p:cNvSpPr>
            <a:spLocks noChangeAspect="1"/>
          </p:cNvSpPr>
          <p:nvPr>
            <p:custDataLst>
              <p:tags r:id="rId5"/>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5" name="文本框 14"/>
          <p:cNvSpPr txBox="1"/>
          <p:nvPr>
            <p:custDataLst>
              <p:tags r:id="rId6"/>
            </p:custDataLst>
          </p:nvPr>
        </p:nvSpPr>
        <p:spPr>
          <a:xfrm>
            <a:off x="2438400" y="4576286"/>
            <a:ext cx="1173480" cy="4914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召回率</a:t>
            </a:r>
            <a:endParaRPr lang="zh-CN" altLang="en-US" sz="2600">
              <a:solidFill>
                <a:srgbClr val="000000"/>
              </a:solidFill>
              <a:latin typeface="微软雅黑" panose="020B0503020204020204" charset="-122"/>
              <a:ea typeface="微软雅黑" panose="020B0503020204020204" charset="-122"/>
            </a:endParaRPr>
          </a:p>
        </p:txBody>
      </p:sp>
      <p:sp>
        <p:nvSpPr>
          <p:cNvPr id="16" name="椭圆 15"/>
          <p:cNvSpPr>
            <a:spLocks noChangeAspect="1"/>
          </p:cNvSpPr>
          <p:nvPr>
            <p:custDataLst>
              <p:tags r:id="rId7"/>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7" name="文本框 16"/>
          <p:cNvSpPr txBox="1"/>
          <p:nvPr>
            <p:custDataLst>
              <p:tags r:id="rId8"/>
            </p:custDataLst>
          </p:nvPr>
        </p:nvSpPr>
        <p:spPr>
          <a:xfrm>
            <a:off x="2438400" y="5433536"/>
            <a:ext cx="882015" cy="49149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spcAft>
                <a:spcPts val="0"/>
              </a:spcAft>
              <a:buNone/>
            </a:pPr>
            <a:r>
              <a:rPr lang="zh-CN" altLang="en-US" sz="2600">
                <a:solidFill>
                  <a:srgbClr val="000000"/>
                </a:solidFill>
                <a:latin typeface="微软雅黑" panose="020B0503020204020204" charset="-122"/>
                <a:ea typeface="微软雅黑" panose="020B0503020204020204" charset="-122"/>
              </a:rPr>
              <a:t>F1值</a:t>
            </a:r>
            <a:endParaRPr lang="zh-CN" altLang="en-US" sz="2600">
              <a:solidFill>
                <a:srgbClr val="000000"/>
              </a:solidFill>
              <a:latin typeface="微软雅黑" panose="020B0503020204020204" charset="-122"/>
              <a:ea typeface="微软雅黑" panose="020B0503020204020204" charset="-122"/>
            </a:endParaRPr>
          </a:p>
        </p:txBody>
      </p:sp>
      <p:sp>
        <p:nvSpPr>
          <p:cNvPr id="18" name="椭圆 17"/>
          <p:cNvSpPr>
            <a:spLocks noChangeAspect="1"/>
          </p:cNvSpPr>
          <p:nvPr>
            <p:custDataLst>
              <p:tags r:id="rId9"/>
            </p:custDataLst>
          </p:nvPr>
        </p:nvSpPr>
        <p:spPr>
          <a:xfrm>
            <a:off x="1571625" y="54216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9" name="圆角矩形 18"/>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11"/>
            </p:custDataLst>
          </p:nvPr>
        </p:nvGrpSpPr>
        <p:grpSpPr>
          <a:xfrm>
            <a:off x="0" y="0"/>
            <a:ext cx="12192000" cy="635000"/>
            <a:chOff x="0" y="0"/>
            <a:chExt cx="19200" cy="1000"/>
          </a:xfrm>
        </p:grpSpPr>
        <p:sp>
          <p:nvSpPr>
            <p:cNvPr id="5"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6083"/>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151890" y="1931670"/>
            <a:ext cx="9753600" cy="2143125"/>
          </a:xfrm>
          <a:prstGeom prst="rect">
            <a:avLst/>
          </a:prstGeom>
          <a:noFill/>
        </p:spPr>
        <p:txBody>
          <a:bodyPr wrap="square" rtlCol="0" anchor="ctr" anchorCtr="0">
            <a:noAutofit/>
          </a:bodyPr>
          <a:p>
            <a:pPr lvl="0" algn="l">
              <a:spcAft>
                <a:spcPts val="0"/>
              </a:spcAft>
              <a:buNone/>
            </a:pPr>
            <a:r>
              <a:rPr lang="zh-CN" altLang="en-US">
                <a:solidFill>
                  <a:srgbClr val="000000"/>
                </a:solidFill>
                <a:latin typeface="微软雅黑" panose="020B0503020204020204" charset="-122"/>
                <a:ea typeface="微软雅黑" panose="020B0503020204020204" charset="-122"/>
                <a:sym typeface="+mn-ea"/>
              </a:rPr>
              <a:t>假设有一个用于检测某种疾病的二分类模型，该模型将样本分为患病（阳性）和不患病（阴性）两类。我们有一个包含100个样本的测试集，其中50个样本是真正患病的（正例），另外50个样本是不患病的（负例）。该模型在测试集上的表现如下：真阳性（TP）：模型正确预测为患病，实际也患病的样本数 = 40假阳性（FP）：模型错误预测为患病，实际未患病的样本数 = 10真阴性（TN）：模型正确预测为未患病，实际也未患病的样本数 = 40假阴性（FN）：模型错误预测为未患病，实际患病的样本数 = 10</a:t>
            </a:r>
            <a:endParaRPr lang="zh-CN" altLang="en-US">
              <a:solidFill>
                <a:srgbClr val="000000"/>
              </a:solidFill>
              <a:latin typeface="微软雅黑" panose="020B0503020204020204" charset="-122"/>
              <a:ea typeface="微软雅黑" panose="020B0503020204020204" charset="-122"/>
              <a:sym typeface="+mn-ea"/>
            </a:endParaRPr>
          </a:p>
          <a:p>
            <a:pPr lvl="0" algn="l">
              <a:spcBef>
                <a:spcPts val="0"/>
              </a:spcBef>
              <a:spcAft>
                <a:spcPts val="0"/>
              </a:spcAft>
              <a:buNone/>
            </a:pPr>
            <a:r>
              <a:rPr lang="zh-CN" altLang="en-US">
                <a:solidFill>
                  <a:srgbClr val="000000"/>
                </a:solidFill>
                <a:latin typeface="微软雅黑" panose="020B0503020204020204" charset="-122"/>
                <a:ea typeface="微软雅黑" panose="020B0503020204020204" charset="-122"/>
                <a:sym typeface="+mn-ea"/>
              </a:rPr>
              <a:t>请计算以下指标（</a:t>
            </a:r>
            <a:r>
              <a:rPr lang="zh-CN" altLang="en-US">
                <a:solidFill>
                  <a:srgbClr val="FF0000"/>
                </a:solidFill>
                <a:latin typeface="微软雅黑" panose="020B0503020204020204" charset="-122"/>
                <a:ea typeface="微软雅黑" panose="020B0503020204020204" charset="-122"/>
                <a:sym typeface="+mn-ea"/>
              </a:rPr>
              <a:t>小数形式填空</a:t>
            </a:r>
            <a:r>
              <a:rPr lang="zh-CN" altLang="en-US">
                <a:solidFill>
                  <a:srgbClr val="000000"/>
                </a:solidFill>
                <a:latin typeface="微软雅黑" panose="020B0503020204020204" charset="-122"/>
                <a:ea typeface="微软雅黑" panose="020B0503020204020204" charset="-122"/>
                <a:sym typeface="+mn-ea"/>
              </a:rPr>
              <a:t>）： 敏感性 = TP / (TP + FN)</a:t>
            </a:r>
            <a:r>
              <a:rPr lang="zh-CN" altLang="en-US">
                <a:solidFill>
                  <a:srgbClr val="639EF4"/>
                </a:solidFill>
                <a:latin typeface="微软雅黑" panose="020B0503020204020204" charset="-122"/>
                <a:ea typeface="微软雅黑" panose="020B0503020204020204" charset="-122"/>
                <a:sym typeface="+mn-ea"/>
              </a:rPr>
              <a:t>[填空1]</a:t>
            </a:r>
            <a:r>
              <a:rPr lang="zh-CN" altLang="en-US">
                <a:solidFill>
                  <a:srgbClr val="000000"/>
                </a:solidFill>
                <a:latin typeface="微软雅黑" panose="020B0503020204020204" charset="-122"/>
                <a:ea typeface="微软雅黑" panose="020B0503020204020204" charset="-122"/>
                <a:sym typeface="+mn-ea"/>
              </a:rPr>
              <a:t> </a:t>
            </a:r>
            <a:endParaRPr lang="zh-CN" altLang="en-US">
              <a:solidFill>
                <a:srgbClr val="000000"/>
              </a:solidFill>
              <a:latin typeface="微软雅黑" panose="020B0503020204020204" charset="-122"/>
              <a:ea typeface="微软雅黑" panose="020B0503020204020204" charset="-122"/>
              <a:sym typeface="+mn-ea"/>
            </a:endParaRPr>
          </a:p>
          <a:p>
            <a:pPr lvl="0" algn="l">
              <a:spcBef>
                <a:spcPts val="0"/>
              </a:spcBef>
              <a:spcAft>
                <a:spcPts val="0"/>
              </a:spcAft>
              <a:buNone/>
            </a:pPr>
            <a:r>
              <a:rPr lang="en-US" altLang="zh-CN">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特异性 = TN / (TN + FP) </a:t>
            </a:r>
            <a:r>
              <a:rPr lang="zh-CN" altLang="en-US">
                <a:solidFill>
                  <a:srgbClr val="639EF4"/>
                </a:solidFill>
                <a:latin typeface="微软雅黑" panose="020B0503020204020204" charset="-122"/>
                <a:ea typeface="微软雅黑" panose="020B0503020204020204" charset="-122"/>
                <a:sym typeface="+mn-ea"/>
              </a:rPr>
              <a:t>[填空2]</a:t>
            </a:r>
            <a:endParaRPr lang="zh-CN" altLang="en-US">
              <a:solidFill>
                <a:srgbClr val="639EF4"/>
              </a:solidFill>
              <a:latin typeface="微软雅黑" panose="020B0503020204020204" charset="-122"/>
              <a:ea typeface="微软雅黑" panose="020B0503020204020204" charset="-122"/>
              <a:sym typeface="+mn-ea"/>
            </a:endParaRPr>
          </a:p>
          <a:p>
            <a:pPr lvl="0" algn="l">
              <a:spcBef>
                <a:spcPts val="0"/>
              </a:spcBef>
              <a:spcAft>
                <a:spcPts val="0"/>
              </a:spcAft>
              <a:buNone/>
            </a:pPr>
            <a:r>
              <a:rPr lang="zh-CN" altLang="en-US">
                <a:solidFill>
                  <a:srgbClr val="000000"/>
                </a:solidFill>
                <a:latin typeface="微软雅黑" panose="020B0503020204020204" charset="-122"/>
                <a:ea typeface="微软雅黑" panose="020B0503020204020204" charset="-122"/>
                <a:sym typeface="+mn-ea"/>
              </a:rPr>
              <a:t> 查准率 = TP / (TP + FP)</a:t>
            </a:r>
            <a:r>
              <a:rPr lang="zh-CN" altLang="en-US">
                <a:solidFill>
                  <a:srgbClr val="639EF4"/>
                </a:solidFill>
                <a:latin typeface="微软雅黑" panose="020B0503020204020204" charset="-122"/>
                <a:ea typeface="微软雅黑" panose="020B0503020204020204" charset="-122"/>
                <a:sym typeface="+mn-ea"/>
              </a:rPr>
              <a:t>[填空3]</a:t>
            </a:r>
            <a:r>
              <a:rPr lang="zh-CN" altLang="en-US">
                <a:solidFill>
                  <a:srgbClr val="000000"/>
                </a:solidFill>
                <a:latin typeface="微软雅黑" panose="020B0503020204020204" charset="-122"/>
                <a:ea typeface="微软雅黑" panose="020B0503020204020204" charset="-122"/>
                <a:sym typeface="+mn-ea"/>
              </a:rPr>
              <a:t> </a:t>
            </a:r>
            <a:endParaRPr lang="zh-CN" altLang="en-US">
              <a:solidFill>
                <a:srgbClr val="000000"/>
              </a:solidFill>
              <a:latin typeface="微软雅黑" panose="020B0503020204020204" charset="-122"/>
              <a:ea typeface="微软雅黑" panose="020B0503020204020204" charset="-122"/>
              <a:sym typeface="+mn-ea"/>
            </a:endParaRPr>
          </a:p>
          <a:p>
            <a:pPr lvl="0" algn="l">
              <a:spcBef>
                <a:spcPts val="0"/>
              </a:spcBef>
              <a:spcAft>
                <a:spcPts val="0"/>
              </a:spcAft>
              <a:buNone/>
            </a:pPr>
            <a:r>
              <a:rPr lang="zh-CN" altLang="en-US">
                <a:solidFill>
                  <a:srgbClr val="000000"/>
                </a:solidFill>
                <a:latin typeface="微软雅黑" panose="020B0503020204020204" charset="-122"/>
                <a:ea typeface="微软雅黑" panose="020B0503020204020204" charset="-122"/>
                <a:sym typeface="+mn-ea"/>
              </a:rPr>
              <a:t> 召回率 = TP / (TP + FN)</a:t>
            </a:r>
            <a:r>
              <a:rPr lang="zh-CN" altLang="en-US">
                <a:solidFill>
                  <a:srgbClr val="639EF4"/>
                </a:solidFill>
                <a:latin typeface="微软雅黑" panose="020B0503020204020204" charset="-122"/>
                <a:ea typeface="微软雅黑" panose="020B0503020204020204" charset="-122"/>
                <a:sym typeface="+mn-ea"/>
              </a:rPr>
              <a:t>[填空4]</a:t>
            </a:r>
            <a:r>
              <a:rPr lang="zh-CN" altLang="en-US">
                <a:solidFill>
                  <a:srgbClr val="000000"/>
                </a:solidFill>
                <a:latin typeface="微软雅黑" panose="020B0503020204020204" charset="-122"/>
                <a:ea typeface="微软雅黑" panose="020B0503020204020204" charset="-122"/>
                <a:sym typeface="+mn-ea"/>
              </a:rPr>
              <a:t> </a:t>
            </a:r>
            <a:endParaRPr lang="zh-CN" altLang="en-US">
              <a:solidFill>
                <a:srgbClr val="000000"/>
              </a:solidFill>
              <a:latin typeface="微软雅黑" panose="020B0503020204020204" charset="-122"/>
              <a:ea typeface="微软雅黑" panose="020B0503020204020204" charset="-122"/>
              <a:sym typeface="+mn-ea"/>
            </a:endParaRPr>
          </a:p>
          <a:p>
            <a:pPr lvl="0" algn="l">
              <a:spcBef>
                <a:spcPts val="0"/>
              </a:spcBef>
              <a:buNone/>
            </a:pPr>
            <a:r>
              <a:rPr lang="zh-CN" altLang="en-US">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准确率 = (TP + TN) / (TP + FP + TN + FN)</a:t>
            </a:r>
            <a:r>
              <a:rPr lang="zh-CN" altLang="en-US">
                <a:solidFill>
                  <a:srgbClr val="639EF4"/>
                </a:solidFill>
                <a:latin typeface="微软雅黑" panose="020B0503020204020204" charset="-122"/>
                <a:ea typeface="微软雅黑" panose="020B0503020204020204" charset="-122"/>
                <a:sym typeface="+mn-ea"/>
              </a:rPr>
              <a:t>[填空5]</a:t>
            </a:r>
            <a:r>
              <a:rPr lang="zh-CN" altLang="en-US">
                <a:solidFill>
                  <a:srgbClr val="000000"/>
                </a:solidFill>
                <a:latin typeface="微软雅黑" panose="020B0503020204020204" charset="-122"/>
                <a:ea typeface="微软雅黑" panose="020B0503020204020204" charset="-122"/>
                <a:sym typeface="+mn-ea"/>
              </a:rPr>
              <a:t> </a:t>
            </a:r>
            <a:endParaRPr lang="zh-CN" altLang="en-US">
              <a:solidFill>
                <a:srgbClr val="000000"/>
              </a:solidFill>
              <a:latin typeface="微软雅黑" panose="020B0503020204020204" charset="-122"/>
              <a:ea typeface="微软雅黑" panose="020B0503020204020204" charset="-122"/>
              <a:sym typeface="+mn-ea"/>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5A03"/>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4129" name="任意多边形 304129"/>
          <p:cNvSpPr/>
          <p:nvPr/>
        </p:nvSpPr>
        <p:spPr>
          <a:xfrm>
            <a:off x="7951788" y="2236788"/>
            <a:ext cx="4240212" cy="2900362"/>
          </a:xfrm>
          <a:custGeom>
            <a:avLst/>
            <a:gdLst/>
            <a:ahLst/>
            <a:cxnLst/>
            <a:pathLst>
              <a:path w="6676" h="4567">
                <a:moveTo>
                  <a:pt x="1299" y="0"/>
                </a:moveTo>
                <a:lnTo>
                  <a:pt x="6676" y="0"/>
                </a:lnTo>
                <a:lnTo>
                  <a:pt x="6676" y="4567"/>
                </a:lnTo>
                <a:lnTo>
                  <a:pt x="1842" y="4567"/>
                </a:lnTo>
                <a:lnTo>
                  <a:pt x="0" y="2346"/>
                </a:lnTo>
                <a:lnTo>
                  <a:pt x="1299" y="0"/>
                </a:lnTo>
                <a:close/>
              </a:path>
            </a:pathLst>
          </a:custGeom>
          <a:blipFill rotWithShape="1">
            <a:blip r:embed="rId1"/>
            <a:stretch>
              <a:fillRect/>
            </a:stretch>
          </a:blipFill>
          <a:ln w="12700">
            <a:noFill/>
          </a:ln>
        </p:spPr>
        <p:txBody>
          <a:bodyPr/>
          <a:p>
            <a:endParaRPr lang="zh-CN" altLang="en-US"/>
          </a:p>
        </p:txBody>
      </p:sp>
      <p:sp>
        <p:nvSpPr>
          <p:cNvPr id="304130" name="任意多边形 304130"/>
          <p:cNvSpPr/>
          <p:nvPr/>
        </p:nvSpPr>
        <p:spPr>
          <a:xfrm>
            <a:off x="7939088" y="2236788"/>
            <a:ext cx="1757362" cy="2900362"/>
          </a:xfrm>
          <a:custGeom>
            <a:avLst/>
            <a:gdLst/>
            <a:ahLst/>
            <a:cxnLst/>
            <a:pathLst>
              <a:path w="2765" h="4567">
                <a:moveTo>
                  <a:pt x="1299" y="0"/>
                </a:moveTo>
                <a:lnTo>
                  <a:pt x="2234" y="0"/>
                </a:lnTo>
                <a:lnTo>
                  <a:pt x="929" y="2355"/>
                </a:lnTo>
                <a:lnTo>
                  <a:pt x="2765" y="4567"/>
                </a:lnTo>
                <a:lnTo>
                  <a:pt x="1842" y="4567"/>
                </a:lnTo>
                <a:lnTo>
                  <a:pt x="0" y="2346"/>
                </a:lnTo>
                <a:lnTo>
                  <a:pt x="1299" y="0"/>
                </a:lnTo>
                <a:close/>
              </a:path>
            </a:pathLst>
          </a:custGeom>
          <a:solidFill>
            <a:srgbClr val="E38279"/>
          </a:solidFill>
          <a:ln w="12700">
            <a:noFill/>
          </a:ln>
        </p:spPr>
        <p:txBody>
          <a:bodyPr/>
          <a:p>
            <a:endParaRPr lang="zh-CN" altLang="en-US"/>
          </a:p>
        </p:txBody>
      </p:sp>
      <p:sp>
        <p:nvSpPr>
          <p:cNvPr id="304131" name="任意多边形 304131"/>
          <p:cNvSpPr/>
          <p:nvPr/>
        </p:nvSpPr>
        <p:spPr>
          <a:xfrm>
            <a:off x="0" y="3536950"/>
            <a:ext cx="8866188" cy="1600200"/>
          </a:xfrm>
          <a:custGeom>
            <a:avLst/>
            <a:gdLst/>
            <a:ahLst/>
            <a:cxnLst/>
            <a:pathLst>
              <a:path w="13963" h="2519">
                <a:moveTo>
                  <a:pt x="0" y="0"/>
                </a:moveTo>
                <a:lnTo>
                  <a:pt x="11872" y="0"/>
                </a:lnTo>
                <a:lnTo>
                  <a:pt x="13963" y="2519"/>
                </a:lnTo>
                <a:lnTo>
                  <a:pt x="0" y="2519"/>
                </a:lnTo>
                <a:lnTo>
                  <a:pt x="0" y="0"/>
                </a:lnTo>
                <a:close/>
              </a:path>
            </a:pathLst>
          </a:custGeom>
          <a:solidFill>
            <a:srgbClr val="68746D"/>
          </a:solidFill>
          <a:ln w="12700">
            <a:noFill/>
          </a:ln>
        </p:spPr>
        <p:txBody>
          <a:bodyPr/>
          <a:p>
            <a:endParaRPr lang="zh-CN" altLang="en-US"/>
          </a:p>
        </p:txBody>
      </p:sp>
      <p:sp>
        <p:nvSpPr>
          <p:cNvPr id="304132" name="任意多边形 304132"/>
          <p:cNvSpPr/>
          <p:nvPr/>
        </p:nvSpPr>
        <p:spPr>
          <a:xfrm>
            <a:off x="0" y="1792288"/>
            <a:ext cx="12192000" cy="1573212"/>
          </a:xfrm>
          <a:custGeom>
            <a:avLst/>
            <a:gdLst/>
            <a:ahLst/>
            <a:cxnLst/>
            <a:pathLst>
              <a:path w="19199" h="2479">
                <a:moveTo>
                  <a:pt x="13271" y="0"/>
                </a:moveTo>
                <a:lnTo>
                  <a:pt x="19199" y="0"/>
                </a:lnTo>
                <a:lnTo>
                  <a:pt x="19199" y="478"/>
                </a:lnTo>
                <a:lnTo>
                  <a:pt x="13621" y="478"/>
                </a:lnTo>
                <a:lnTo>
                  <a:pt x="12512" y="2479"/>
                </a:lnTo>
                <a:lnTo>
                  <a:pt x="11898" y="2479"/>
                </a:lnTo>
                <a:lnTo>
                  <a:pt x="11898" y="2479"/>
                </a:lnTo>
                <a:lnTo>
                  <a:pt x="1439" y="2479"/>
                </a:lnTo>
                <a:lnTo>
                  <a:pt x="292" y="2479"/>
                </a:lnTo>
                <a:lnTo>
                  <a:pt x="0" y="2479"/>
                </a:lnTo>
                <a:lnTo>
                  <a:pt x="0" y="1959"/>
                </a:lnTo>
                <a:lnTo>
                  <a:pt x="1439" y="1959"/>
                </a:lnTo>
                <a:lnTo>
                  <a:pt x="1439" y="1962"/>
                </a:lnTo>
                <a:lnTo>
                  <a:pt x="12184" y="1962"/>
                </a:lnTo>
                <a:lnTo>
                  <a:pt x="13271" y="0"/>
                </a:lnTo>
                <a:close/>
              </a:path>
            </a:pathLst>
          </a:custGeom>
          <a:solidFill>
            <a:srgbClr val="BC8268"/>
          </a:solidFill>
          <a:ln w="12700">
            <a:noFill/>
          </a:ln>
        </p:spPr>
        <p:txBody>
          <a:bodyPr/>
          <a:p>
            <a:endParaRPr lang="zh-CN" altLang="en-US"/>
          </a:p>
        </p:txBody>
      </p:sp>
      <p:sp>
        <p:nvSpPr>
          <p:cNvPr id="304133" name="矩形 304133"/>
          <p:cNvSpPr/>
          <p:nvPr/>
        </p:nvSpPr>
        <p:spPr>
          <a:xfrm>
            <a:off x="423863" y="2025650"/>
            <a:ext cx="7092950" cy="829945"/>
          </a:xfrm>
          <a:prstGeom prst="rect">
            <a:avLst/>
          </a:prstGeom>
          <a:noFill/>
          <a:ln w="9525">
            <a:noFill/>
          </a:ln>
        </p:spPr>
        <p:txBody>
          <a:bodyPr anchor="t" anchorCtr="0">
            <a:spAutoFit/>
          </a:bodyPr>
          <a:p>
            <a:pPr algn="dist">
              <a:spcAft>
                <a:spcPts val="0"/>
              </a:spcAft>
            </a:pPr>
            <a:r>
              <a:rPr lang="zh-CN" altLang="en-US" sz="4800" b="1">
                <a:latin typeface="Arial" panose="020B0604020202020204" pitchFamily="34" charset="0"/>
                <a:ea typeface="微软雅黑" panose="020B0503020204020204" charset="-122"/>
                <a:sym typeface="Arial" panose="020B0604020202020204" pitchFamily="34" charset="0"/>
              </a:rPr>
              <a:t>谢谢观看，祝学习进步！</a:t>
            </a:r>
            <a:endParaRPr lang="zh-CN" altLang="en-US" sz="5400" b="1">
              <a:latin typeface="Arial" panose="020B0604020202020204" pitchFamily="34" charset="0"/>
              <a:ea typeface="微软雅黑" panose="020B0503020204020204" charset="-122"/>
              <a:sym typeface="Arial" panose="020B0604020202020204" pitchFamily="34" charset="0"/>
            </a:endParaRPr>
          </a:p>
        </p:txBody>
      </p:sp>
      <p:sp>
        <p:nvSpPr>
          <p:cNvPr id="304134" name="矩形 304134"/>
          <p:cNvSpPr/>
          <p:nvPr/>
        </p:nvSpPr>
        <p:spPr>
          <a:xfrm>
            <a:off x="0" y="6089650"/>
            <a:ext cx="12192000" cy="777875"/>
          </a:xfrm>
          <a:prstGeom prst="rect">
            <a:avLst/>
          </a:prstGeom>
          <a:solidFill>
            <a:srgbClr val="EBEDEA"/>
          </a:solidFill>
          <a:ln w="12700">
            <a:noFill/>
          </a:ln>
        </p:spPr>
        <p:txBody>
          <a:bodyPr anchor="t" anchorCtr="0"/>
          <a:p>
            <a:endParaRPr lang="zh-CN" altLang="en-US">
              <a:latin typeface="Times New Roman" panose="02020603050405020304"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6177" name="任意多边形 306177"/>
          <p:cNvSpPr/>
          <p:nvPr/>
        </p:nvSpPr>
        <p:spPr>
          <a:xfrm flipH="1" flipV="1">
            <a:off x="3600450" y="0"/>
            <a:ext cx="8582025" cy="1236663"/>
          </a:xfrm>
          <a:custGeom>
            <a:avLst/>
            <a:gdLst/>
            <a:ahLst/>
            <a:cxnLst/>
            <a:pathLst>
              <a:path w="13514" h="1946">
                <a:moveTo>
                  <a:pt x="0" y="0"/>
                </a:moveTo>
                <a:lnTo>
                  <a:pt x="12179" y="0"/>
                </a:lnTo>
                <a:lnTo>
                  <a:pt x="13514" y="1946"/>
                </a:lnTo>
                <a:lnTo>
                  <a:pt x="13" y="1946"/>
                </a:lnTo>
                <a:cubicBezTo>
                  <a:pt x="13" y="1297"/>
                  <a:pt x="0" y="648"/>
                  <a:pt x="0" y="0"/>
                </a:cubicBezTo>
                <a:lnTo>
                  <a:pt x="0" y="0"/>
                </a:lnTo>
                <a:close/>
              </a:path>
            </a:pathLst>
          </a:custGeom>
          <a:solidFill>
            <a:srgbClr val="68746D"/>
          </a:solidFill>
          <a:ln w="12700">
            <a:noFill/>
          </a:ln>
        </p:spPr>
        <p:txBody>
          <a:bodyPr/>
          <a:p>
            <a:endParaRPr lang="zh-CN" altLang="en-US"/>
          </a:p>
        </p:txBody>
      </p:sp>
      <p:sp>
        <p:nvSpPr>
          <p:cNvPr id="306178" name="任意多边形 306178"/>
          <p:cNvSpPr/>
          <p:nvPr/>
        </p:nvSpPr>
        <p:spPr>
          <a:xfrm flipH="1" flipV="1">
            <a:off x="0" y="1368425"/>
            <a:ext cx="12168188" cy="1871663"/>
          </a:xfrm>
          <a:custGeom>
            <a:avLst/>
            <a:gdLst/>
            <a:ahLst/>
            <a:cxnLst/>
            <a:pathLst>
              <a:path w="19162" h="2948">
                <a:moveTo>
                  <a:pt x="13245" y="0"/>
                </a:moveTo>
                <a:lnTo>
                  <a:pt x="19162" y="0"/>
                </a:lnTo>
                <a:lnTo>
                  <a:pt x="19162" y="568"/>
                </a:lnTo>
                <a:lnTo>
                  <a:pt x="13594" y="568"/>
                </a:lnTo>
                <a:lnTo>
                  <a:pt x="12488" y="2948"/>
                </a:lnTo>
                <a:lnTo>
                  <a:pt x="11874" y="2948"/>
                </a:lnTo>
                <a:lnTo>
                  <a:pt x="11874" y="2948"/>
                </a:lnTo>
                <a:lnTo>
                  <a:pt x="1437" y="2948"/>
                </a:lnTo>
                <a:lnTo>
                  <a:pt x="291" y="2948"/>
                </a:lnTo>
                <a:lnTo>
                  <a:pt x="0" y="2948"/>
                </a:lnTo>
                <a:lnTo>
                  <a:pt x="0" y="2330"/>
                </a:lnTo>
                <a:lnTo>
                  <a:pt x="1437" y="2330"/>
                </a:lnTo>
                <a:lnTo>
                  <a:pt x="1437" y="2332"/>
                </a:lnTo>
                <a:lnTo>
                  <a:pt x="12160" y="2332"/>
                </a:lnTo>
                <a:lnTo>
                  <a:pt x="13245" y="0"/>
                </a:lnTo>
                <a:close/>
              </a:path>
            </a:pathLst>
          </a:custGeom>
          <a:solidFill>
            <a:srgbClr val="BC8268"/>
          </a:solidFill>
          <a:ln w="12700">
            <a:noFill/>
          </a:ln>
        </p:spPr>
        <p:txBody>
          <a:bodyPr/>
          <a:p>
            <a:endParaRPr lang="zh-CN" altLang="en-US"/>
          </a:p>
        </p:txBody>
      </p:sp>
      <p:sp>
        <p:nvSpPr>
          <p:cNvPr id="306179" name="任意多边形 306179"/>
          <p:cNvSpPr/>
          <p:nvPr/>
        </p:nvSpPr>
        <p:spPr>
          <a:xfrm flipH="1">
            <a:off x="0" y="0"/>
            <a:ext cx="4140200" cy="2879725"/>
          </a:xfrm>
          <a:custGeom>
            <a:avLst/>
            <a:gdLst/>
            <a:ahLst/>
            <a:cxnLst/>
            <a:pathLst>
              <a:path w="6519" h="4535">
                <a:moveTo>
                  <a:pt x="1269" y="0"/>
                </a:moveTo>
                <a:lnTo>
                  <a:pt x="6519" y="0"/>
                </a:lnTo>
                <a:lnTo>
                  <a:pt x="6519" y="4535"/>
                </a:lnTo>
                <a:lnTo>
                  <a:pt x="1799" y="4535"/>
                </a:lnTo>
                <a:lnTo>
                  <a:pt x="0" y="2330"/>
                </a:lnTo>
                <a:lnTo>
                  <a:pt x="1269" y="0"/>
                </a:lnTo>
                <a:close/>
              </a:path>
            </a:pathLst>
          </a:custGeom>
          <a:blipFill rotWithShape="1">
            <a:blip r:embed="rId1"/>
            <a:stretch>
              <a:fillRect/>
            </a:stretch>
          </a:blipFill>
          <a:ln w="12700">
            <a:noFill/>
          </a:ln>
        </p:spPr>
        <p:txBody>
          <a:bodyPr/>
          <a:p>
            <a:endParaRPr lang="zh-CN" altLang="en-US"/>
          </a:p>
        </p:txBody>
      </p:sp>
      <p:sp>
        <p:nvSpPr>
          <p:cNvPr id="306180" name="任意多边形 306180"/>
          <p:cNvSpPr/>
          <p:nvPr/>
        </p:nvSpPr>
        <p:spPr>
          <a:xfrm flipH="1" flipV="1">
            <a:off x="2879725" y="0"/>
            <a:ext cx="1419225" cy="2879725"/>
          </a:xfrm>
          <a:custGeom>
            <a:avLst/>
            <a:gdLst/>
            <a:ahLst/>
            <a:cxnLst/>
            <a:pathLst>
              <a:path w="2234" h="4535">
                <a:moveTo>
                  <a:pt x="1299" y="0"/>
                </a:moveTo>
                <a:lnTo>
                  <a:pt x="2234" y="0"/>
                </a:lnTo>
                <a:lnTo>
                  <a:pt x="929" y="2747"/>
                </a:lnTo>
                <a:lnTo>
                  <a:pt x="2184" y="4522"/>
                </a:lnTo>
                <a:lnTo>
                  <a:pt x="1288" y="4535"/>
                </a:lnTo>
                <a:lnTo>
                  <a:pt x="0" y="2737"/>
                </a:lnTo>
                <a:lnTo>
                  <a:pt x="1299" y="0"/>
                </a:lnTo>
                <a:lnTo>
                  <a:pt x="1299" y="0"/>
                </a:lnTo>
                <a:close/>
              </a:path>
            </a:pathLst>
          </a:custGeom>
          <a:solidFill>
            <a:srgbClr val="D5D7C4"/>
          </a:solidFill>
          <a:ln w="12700">
            <a:noFill/>
          </a:ln>
        </p:spPr>
        <p:txBody>
          <a:bodyPr/>
          <a:p>
            <a:endParaRPr lang="zh-CN" altLang="en-US"/>
          </a:p>
        </p:txBody>
      </p:sp>
      <p:sp>
        <p:nvSpPr>
          <p:cNvPr id="306181" name="矩形 306181"/>
          <p:cNvSpPr/>
          <p:nvPr/>
        </p:nvSpPr>
        <p:spPr>
          <a:xfrm>
            <a:off x="4392613" y="1871663"/>
            <a:ext cx="7378700" cy="4485005"/>
          </a:xfrm>
          <a:prstGeom prst="rect">
            <a:avLst/>
          </a:prstGeom>
          <a:noFill/>
          <a:ln w="9525">
            <a:noFill/>
          </a:ln>
        </p:spPr>
        <p:txBody>
          <a:bodyPr anchor="t" anchorCtr="0">
            <a:spAutoFit/>
          </a:bodyPr>
          <a:p>
            <a:pPr algn="just" defTabSz="719455">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目标分割指将感兴趣的目标区域从图像中分离并提取出来，也可看作是基元检测的一种推广，更一般的称谓是图像分割</a:t>
            </a:r>
            <a:endParaRPr lang="zh-CN" altLang="en-US" sz="2400">
              <a:latin typeface="微软雅黑" panose="020B0503020204020204" charset="-122"/>
              <a:ea typeface="微软雅黑" panose="020B0503020204020204" charset="-122"/>
            </a:endParaRPr>
          </a:p>
          <a:p>
            <a:pPr algn="just" defTabSz="719455">
              <a:lnSpc>
                <a:spcPct val="130000"/>
              </a:lnSpc>
              <a:spcBef>
                <a:spcPts val="600"/>
              </a:spcBef>
            </a:pPr>
            <a:r>
              <a:rPr lang="zh-CN" altLang="en-US" sz="2400">
                <a:latin typeface="微软雅黑" panose="020B0503020204020204" charset="-122"/>
                <a:ea typeface="微软雅黑" panose="020B0503020204020204" charset="-122"/>
              </a:rPr>
              <a:t>	要将目标从图像中分割出来，有两类方法。一类方法基于目标的轮廓或边界，如果能确定目标轮廓，就可将目标与图像中的其他部分区分开。另一类方法是基于区域的，即考虑所有属于目标区域的像素（包括边界和内部像素），如果能确定出每个属于目标的像素，就可获得完整的目标</a:t>
            </a:r>
            <a:endParaRPr lang="zh-CN" altLang="en-US" sz="2400">
              <a:latin typeface="微软雅黑" panose="020B0503020204020204" charset="-122"/>
              <a:ea typeface="微软雅黑" panose="020B0503020204020204" charset="-122"/>
            </a:endParaRPr>
          </a:p>
        </p:txBody>
      </p:sp>
      <p:sp>
        <p:nvSpPr>
          <p:cNvPr id="306182" name="矩形 306182"/>
          <p:cNvSpPr/>
          <p:nvPr/>
        </p:nvSpPr>
        <p:spPr>
          <a:xfrm>
            <a:off x="4608513" y="215900"/>
            <a:ext cx="4194175" cy="706755"/>
          </a:xfrm>
          <a:prstGeom prst="rect">
            <a:avLst/>
          </a:prstGeom>
          <a:noFill/>
          <a:ln w="9525">
            <a:noFill/>
          </a:ln>
        </p:spPr>
        <p:txBody>
          <a:bodyPr wrap="none" anchor="t" anchorCtr="0">
            <a:spAutoFit/>
          </a:bodyPr>
          <a:p>
            <a:pPr>
              <a:spcAft>
                <a:spcPts val="0"/>
              </a:spcAft>
            </a:pPr>
            <a:r>
              <a:rPr lang="zh-CN" altLang="en-US" sz="4000" b="1">
                <a:solidFill>
                  <a:schemeClr val="bg1"/>
                </a:solidFill>
                <a:latin typeface="微软雅黑" panose="020B0503020204020204" charset="-122"/>
                <a:ea typeface="微软雅黑" panose="020B0503020204020204" charset="-122"/>
              </a:rPr>
              <a:t>第</a:t>
            </a:r>
            <a:r>
              <a:rPr lang="en-US" altLang="zh-CN" sz="4000" b="1">
                <a:solidFill>
                  <a:schemeClr val="bg1"/>
                </a:solidFill>
                <a:latin typeface="Arial" panose="020B0604020202020204" pitchFamily="34" charset="0"/>
                <a:ea typeface="微软雅黑" panose="020B0503020204020204" charset="-122"/>
              </a:rPr>
              <a:t>4</a:t>
            </a:r>
            <a:r>
              <a:rPr lang="zh-CN" altLang="en-US" sz="4000" b="1">
                <a:solidFill>
                  <a:schemeClr val="bg1"/>
                </a:solidFill>
                <a:latin typeface="微软雅黑" panose="020B0503020204020204" charset="-122"/>
                <a:ea typeface="微软雅黑" panose="020B0503020204020204" charset="-122"/>
              </a:rPr>
              <a:t>章	目标分割</a:t>
            </a:r>
            <a:r>
              <a:rPr lang="zh-CN" altLang="en-US" sz="4000">
                <a:solidFill>
                  <a:schemeClr val="bg1"/>
                </a:solidFill>
                <a:latin typeface="微软雅黑" panose="020B0503020204020204" charset="-122"/>
                <a:ea typeface="微软雅黑" panose="020B0503020204020204" charset="-122"/>
              </a:rPr>
              <a:t> </a:t>
            </a:r>
            <a:endParaRPr lang="zh-CN" altLang="en-US" sz="4000">
              <a:solidFill>
                <a:schemeClr val="bg1"/>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1" name="任意多边形 307201"/>
          <p:cNvSpPr/>
          <p:nvPr/>
        </p:nvSpPr>
        <p:spPr>
          <a:xfrm flipH="1">
            <a:off x="0" y="0"/>
            <a:ext cx="4140200" cy="2879725"/>
          </a:xfrm>
          <a:custGeom>
            <a:avLst/>
            <a:gdLst/>
            <a:ahLst/>
            <a:cxnLst/>
            <a:pathLst>
              <a:path w="6519" h="4535">
                <a:moveTo>
                  <a:pt x="1269" y="0"/>
                </a:moveTo>
                <a:lnTo>
                  <a:pt x="6519" y="0"/>
                </a:lnTo>
                <a:lnTo>
                  <a:pt x="6519" y="4535"/>
                </a:lnTo>
                <a:lnTo>
                  <a:pt x="1799" y="4535"/>
                </a:lnTo>
                <a:lnTo>
                  <a:pt x="0" y="2330"/>
                </a:lnTo>
                <a:lnTo>
                  <a:pt x="1269" y="0"/>
                </a:lnTo>
                <a:close/>
              </a:path>
            </a:pathLst>
          </a:custGeom>
          <a:blipFill rotWithShape="0">
            <a:blip r:embed="rId1"/>
            <a:stretch>
              <a:fillRect/>
            </a:stretch>
          </a:blipFill>
          <a:ln w="12700">
            <a:noFill/>
          </a:ln>
        </p:spPr>
        <p:txBody>
          <a:bodyPr/>
          <a:p>
            <a:endParaRPr lang="zh-CN" altLang="en-US"/>
          </a:p>
        </p:txBody>
      </p:sp>
      <p:sp>
        <p:nvSpPr>
          <p:cNvPr id="307202" name="任意多边形 307202"/>
          <p:cNvSpPr/>
          <p:nvPr/>
        </p:nvSpPr>
        <p:spPr>
          <a:xfrm flipH="1" flipV="1">
            <a:off x="3600450" y="0"/>
            <a:ext cx="8582025" cy="1236663"/>
          </a:xfrm>
          <a:custGeom>
            <a:avLst/>
            <a:gdLst/>
            <a:ahLst/>
            <a:cxnLst/>
            <a:pathLst>
              <a:path w="13514" h="1946">
                <a:moveTo>
                  <a:pt x="0" y="0"/>
                </a:moveTo>
                <a:lnTo>
                  <a:pt x="12179" y="0"/>
                </a:lnTo>
                <a:lnTo>
                  <a:pt x="13514" y="1946"/>
                </a:lnTo>
                <a:lnTo>
                  <a:pt x="13" y="1946"/>
                </a:lnTo>
                <a:cubicBezTo>
                  <a:pt x="13" y="1297"/>
                  <a:pt x="0" y="648"/>
                  <a:pt x="0" y="0"/>
                </a:cubicBezTo>
                <a:lnTo>
                  <a:pt x="0" y="0"/>
                </a:lnTo>
                <a:close/>
              </a:path>
            </a:pathLst>
          </a:custGeom>
          <a:solidFill>
            <a:srgbClr val="68746D"/>
          </a:solidFill>
          <a:ln w="12700">
            <a:noFill/>
          </a:ln>
        </p:spPr>
        <p:txBody>
          <a:bodyPr/>
          <a:p>
            <a:endParaRPr lang="zh-CN" altLang="en-US"/>
          </a:p>
        </p:txBody>
      </p:sp>
      <p:sp>
        <p:nvSpPr>
          <p:cNvPr id="307203" name="任意多边形 307203"/>
          <p:cNvSpPr/>
          <p:nvPr/>
        </p:nvSpPr>
        <p:spPr>
          <a:xfrm flipH="1" flipV="1">
            <a:off x="0" y="1368425"/>
            <a:ext cx="12168188" cy="1871663"/>
          </a:xfrm>
          <a:custGeom>
            <a:avLst/>
            <a:gdLst/>
            <a:ahLst/>
            <a:cxnLst/>
            <a:pathLst>
              <a:path w="19162" h="2948">
                <a:moveTo>
                  <a:pt x="13245" y="0"/>
                </a:moveTo>
                <a:lnTo>
                  <a:pt x="19162" y="0"/>
                </a:lnTo>
                <a:lnTo>
                  <a:pt x="19162" y="568"/>
                </a:lnTo>
                <a:lnTo>
                  <a:pt x="13594" y="568"/>
                </a:lnTo>
                <a:lnTo>
                  <a:pt x="12488" y="2948"/>
                </a:lnTo>
                <a:lnTo>
                  <a:pt x="11874" y="2948"/>
                </a:lnTo>
                <a:lnTo>
                  <a:pt x="11874" y="2948"/>
                </a:lnTo>
                <a:lnTo>
                  <a:pt x="1437" y="2948"/>
                </a:lnTo>
                <a:lnTo>
                  <a:pt x="291" y="2948"/>
                </a:lnTo>
                <a:lnTo>
                  <a:pt x="0" y="2948"/>
                </a:lnTo>
                <a:lnTo>
                  <a:pt x="0" y="2330"/>
                </a:lnTo>
                <a:lnTo>
                  <a:pt x="1437" y="2330"/>
                </a:lnTo>
                <a:lnTo>
                  <a:pt x="1437" y="2332"/>
                </a:lnTo>
                <a:lnTo>
                  <a:pt x="12160" y="2332"/>
                </a:lnTo>
                <a:lnTo>
                  <a:pt x="13245" y="0"/>
                </a:lnTo>
                <a:close/>
              </a:path>
            </a:pathLst>
          </a:custGeom>
          <a:solidFill>
            <a:srgbClr val="BC8268"/>
          </a:solidFill>
          <a:ln w="12700">
            <a:noFill/>
          </a:ln>
        </p:spPr>
        <p:txBody>
          <a:bodyPr/>
          <a:p>
            <a:endParaRPr lang="zh-CN" altLang="en-US"/>
          </a:p>
        </p:txBody>
      </p:sp>
      <p:sp>
        <p:nvSpPr>
          <p:cNvPr id="307204" name="任意多边形 307204"/>
          <p:cNvSpPr/>
          <p:nvPr/>
        </p:nvSpPr>
        <p:spPr>
          <a:xfrm flipH="1" flipV="1">
            <a:off x="2879725" y="0"/>
            <a:ext cx="1419225" cy="2879725"/>
          </a:xfrm>
          <a:custGeom>
            <a:avLst/>
            <a:gdLst/>
            <a:ahLst/>
            <a:cxnLst/>
            <a:pathLst>
              <a:path w="2234" h="4535">
                <a:moveTo>
                  <a:pt x="1299" y="0"/>
                </a:moveTo>
                <a:lnTo>
                  <a:pt x="2234" y="0"/>
                </a:lnTo>
                <a:lnTo>
                  <a:pt x="929" y="2747"/>
                </a:lnTo>
                <a:lnTo>
                  <a:pt x="2184" y="4522"/>
                </a:lnTo>
                <a:lnTo>
                  <a:pt x="1288" y="4535"/>
                </a:lnTo>
                <a:lnTo>
                  <a:pt x="0" y="2737"/>
                </a:lnTo>
                <a:lnTo>
                  <a:pt x="1299" y="0"/>
                </a:lnTo>
                <a:lnTo>
                  <a:pt x="1299" y="0"/>
                </a:lnTo>
                <a:close/>
              </a:path>
            </a:pathLst>
          </a:custGeom>
          <a:solidFill>
            <a:srgbClr val="D5D7C4"/>
          </a:solidFill>
          <a:ln w="12700">
            <a:noFill/>
          </a:ln>
        </p:spPr>
        <p:txBody>
          <a:bodyPr/>
          <a:p>
            <a:endParaRPr lang="zh-CN" altLang="en-US"/>
          </a:p>
        </p:txBody>
      </p:sp>
      <p:sp>
        <p:nvSpPr>
          <p:cNvPr id="307205" name="矩形 307205"/>
          <p:cNvSpPr/>
          <p:nvPr/>
        </p:nvSpPr>
        <p:spPr>
          <a:xfrm>
            <a:off x="4608513" y="215900"/>
            <a:ext cx="3598862" cy="706755"/>
          </a:xfrm>
          <a:prstGeom prst="rect">
            <a:avLst/>
          </a:prstGeom>
          <a:noFill/>
          <a:ln w="9525">
            <a:noFill/>
          </a:ln>
        </p:spPr>
        <p:txBody>
          <a:bodyPr anchor="t" anchorCtr="0">
            <a:spAutoFit/>
          </a:bodyPr>
          <a:p>
            <a:pPr>
              <a:spcAft>
                <a:spcPts val="0"/>
              </a:spcAft>
            </a:pPr>
            <a:r>
              <a:rPr lang="zh-CN" altLang="en-US" sz="4000" b="1">
                <a:solidFill>
                  <a:schemeClr val="bg1"/>
                </a:solidFill>
                <a:latin typeface="Arial" panose="020B0604020202020204" pitchFamily="34" charset="0"/>
                <a:ea typeface="微软雅黑" panose="020B0503020204020204" charset="-122"/>
                <a:sym typeface="Arial" panose="020B0604020202020204" pitchFamily="34" charset="0"/>
              </a:rPr>
              <a:t>目 录 </a:t>
            </a:r>
            <a:r>
              <a:rPr lang="en-US" altLang="zh-CN" sz="2800">
                <a:solidFill>
                  <a:schemeClr val="bg1"/>
                </a:solidFill>
                <a:latin typeface="Arial" panose="020B0604020202020204" pitchFamily="34" charset="0"/>
                <a:ea typeface="微软雅黑" panose="020B0503020204020204" charset="-122"/>
                <a:sym typeface="Arial" panose="020B0604020202020204" pitchFamily="34" charset="0"/>
              </a:rPr>
              <a:t>contents</a:t>
            </a:r>
            <a:endParaRPr lang="en-US" altLang="zh-CN" sz="28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07206" name="矩形 307206"/>
          <p:cNvSpPr/>
          <p:nvPr/>
        </p:nvSpPr>
        <p:spPr>
          <a:xfrm>
            <a:off x="4679950" y="2087563"/>
            <a:ext cx="6119813" cy="4246245"/>
          </a:xfrm>
          <a:prstGeom prst="rect">
            <a:avLst/>
          </a:prstGeom>
          <a:noFill/>
          <a:ln w="9525">
            <a:noFill/>
          </a:ln>
        </p:spPr>
        <p:txBody>
          <a:bodyPr anchor="t" anchorCtr="0">
            <a:spAutoFit/>
          </a:bodyPr>
          <a:p>
            <a:pPr defTabSz="1079500">
              <a:lnSpc>
                <a:spcPct val="150000"/>
              </a:lnSpc>
              <a:spcBef>
                <a:spcPts val="600"/>
              </a:spcBef>
              <a:spcAft>
                <a:spcPts val="120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a:latin typeface="微软雅黑" panose="020B0503020204020204" charset="-122"/>
                <a:ea typeface="微软雅黑" panose="020B0503020204020204" charset="-122"/>
              </a:rPr>
              <a:t>轮廓搜索</a:t>
            </a:r>
            <a:endParaRPr lang="zh-CN" altLang="en-US" sz="2800">
              <a:latin typeface="微软雅黑" panose="020B0503020204020204" charset="-122"/>
              <a:ea typeface="微软雅黑" panose="020B0503020204020204" charset="-122"/>
            </a:endParaRPr>
          </a:p>
          <a:p>
            <a:pPr defTabSz="1079500">
              <a:lnSpc>
                <a:spcPct val="150000"/>
              </a:lnSpc>
              <a:spcBef>
                <a:spcPts val="600"/>
              </a:spcBef>
              <a:spcAft>
                <a:spcPts val="1200"/>
              </a:spcAft>
            </a:pPr>
            <a:r>
              <a:rPr lang="en-US" altLang="zh-CN" sz="2800" b="1">
                <a:latin typeface="Arial" panose="020B0604020202020204" pitchFamily="34" charset="0"/>
                <a:ea typeface="微软雅黑" panose="020B0503020204020204" charset="-122"/>
                <a:sym typeface="Arial" panose="020B0604020202020204" pitchFamily="34" charset="0"/>
              </a:rPr>
              <a:t>4.2	</a:t>
            </a:r>
            <a:r>
              <a:rPr lang="zh-CN" altLang="en-US" sz="2800">
                <a:latin typeface="微软雅黑" panose="020B0503020204020204" charset="-122"/>
                <a:ea typeface="微软雅黑" panose="020B0503020204020204" charset="-122"/>
              </a:rPr>
              <a:t>主动轮廓模型</a:t>
            </a:r>
            <a:endParaRPr lang="zh-CN" altLang="en-US" sz="2800" b="1">
              <a:latin typeface="微软雅黑" panose="020B0503020204020204" charset="-122"/>
              <a:ea typeface="微软雅黑" panose="020B0503020204020204" charset="-122"/>
              <a:sym typeface="Arial" panose="020B0604020202020204" pitchFamily="34" charset="0"/>
            </a:endParaRPr>
          </a:p>
          <a:p>
            <a:pPr defTabSz="1079500">
              <a:lnSpc>
                <a:spcPct val="150000"/>
              </a:lnSpc>
              <a:spcBef>
                <a:spcPts val="600"/>
              </a:spcBef>
              <a:spcAft>
                <a:spcPts val="120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sym typeface="Arial" panose="020B0604020202020204" pitchFamily="34" charset="0"/>
            </a:endParaRPr>
          </a:p>
          <a:p>
            <a:pPr defTabSz="1079500">
              <a:lnSpc>
                <a:spcPct val="150000"/>
              </a:lnSpc>
              <a:spcBef>
                <a:spcPts val="600"/>
              </a:spcBef>
              <a:spcAft>
                <a:spcPts val="120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a:latin typeface="微软雅黑" panose="020B0503020204020204" charset="-122"/>
                <a:ea typeface="微软雅黑" panose="020B0503020204020204" charset="-122"/>
              </a:rPr>
              <a:t>特色阈值方法</a:t>
            </a:r>
            <a:endParaRPr lang="zh-CN" altLang="en-US" sz="2800">
              <a:latin typeface="微软雅黑" panose="020B0503020204020204" charset="-122"/>
              <a:ea typeface="微软雅黑" panose="020B0503020204020204" charset="-122"/>
            </a:endParaRPr>
          </a:p>
          <a:p>
            <a:pPr defTabSz="1079500">
              <a:lnSpc>
                <a:spcPct val="150000"/>
              </a:lnSpc>
              <a:spcBef>
                <a:spcPts val="600"/>
              </a:spcBef>
              <a:spcAft>
                <a:spcPts val="1200"/>
              </a:spcAft>
            </a:pPr>
            <a:r>
              <a:rPr lang="en-US" altLang="zh-CN" sz="2800" b="1">
                <a:latin typeface="Arial" panose="020B0604020202020204" pitchFamily="34" charset="0"/>
                <a:ea typeface="微软雅黑" panose="020B0503020204020204" charset="-122"/>
                <a:sym typeface="Arial" panose="020B0604020202020204" pitchFamily="34" charset="0"/>
              </a:rPr>
              <a:t>4.5	</a:t>
            </a:r>
            <a:r>
              <a:rPr lang="zh-CN" altLang="en-US" sz="2800">
                <a:latin typeface="微软雅黑" panose="020B0503020204020204" charset="-122"/>
                <a:ea typeface="微软雅黑" panose="020B0503020204020204" charset="-122"/>
              </a:rPr>
              <a:t>特征空间聚类</a:t>
            </a:r>
            <a:endParaRPr lang="zh-CN" altLang="en-US" sz="2800" b="1">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5" name="矩形 308225"/>
          <p:cNvSpPr/>
          <p:nvPr/>
        </p:nvSpPr>
        <p:spPr>
          <a:xfrm>
            <a:off x="1511300" y="323850"/>
            <a:ext cx="252095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b="1">
                <a:latin typeface="微软雅黑" panose="020B0503020204020204" charset="-122"/>
                <a:ea typeface="微软雅黑" panose="020B0503020204020204" charset="-122"/>
              </a:rPr>
              <a:t>轮廓搜索</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8226" name="矩形 308226"/>
          <p:cNvSpPr/>
          <p:nvPr/>
        </p:nvSpPr>
        <p:spPr>
          <a:xfrm>
            <a:off x="757555" y="1979930"/>
            <a:ext cx="10782300" cy="2543810"/>
          </a:xfrm>
          <a:prstGeom prst="rect">
            <a:avLst/>
          </a:prstGeom>
          <a:noFill/>
          <a:ln w="9525">
            <a:noFill/>
          </a:ln>
        </p:spPr>
        <p:txBody>
          <a:bodyPr wrap="square" anchor="t" anchorCtr="0">
            <a:noAutofit/>
          </a:bodyPr>
          <a:p>
            <a:pPr algn="just" defTabSz="719455">
              <a:lnSpc>
                <a:spcPct val="130000"/>
              </a:lnSpc>
              <a:spcAft>
                <a:spcPts val="600"/>
              </a:spcAft>
            </a:pPr>
            <a:r>
              <a:rPr lang="zh-CN" altLang="en-US" sz="2400">
                <a:latin typeface="微软雅黑" panose="020B0503020204020204" charset="-122"/>
                <a:ea typeface="微软雅黑" panose="020B0503020204020204" charset="-122"/>
              </a:rPr>
              <a:t>轮廓搜索是一种基于轮廓的目标分割方法，和边缘检测类似。与先</a:t>
            </a:r>
            <a:r>
              <a:rPr lang="zh-CN" altLang="en-US" sz="2400">
                <a:solidFill>
                  <a:srgbClr val="FF0000"/>
                </a:solidFill>
                <a:latin typeface="微软雅黑" panose="020B0503020204020204" charset="-122"/>
                <a:ea typeface="微软雅黑" panose="020B0503020204020204" charset="-122"/>
              </a:rPr>
              <a:t>检测边缘点</a:t>
            </a:r>
            <a:r>
              <a:rPr lang="zh-CN" altLang="en-US" sz="2400">
                <a:latin typeface="微软雅黑" panose="020B0503020204020204" charset="-122"/>
                <a:ea typeface="微软雅黑" panose="020B0503020204020204" charset="-122"/>
              </a:rPr>
              <a:t>，再将</a:t>
            </a:r>
            <a:r>
              <a:rPr lang="zh-CN" altLang="en-US" sz="2400">
                <a:solidFill>
                  <a:srgbClr val="FF0000"/>
                </a:solidFill>
                <a:latin typeface="微软雅黑" panose="020B0503020204020204" charset="-122"/>
                <a:ea typeface="微软雅黑" panose="020B0503020204020204" charset="-122"/>
              </a:rPr>
              <a:t>边界点连接起来</a:t>
            </a:r>
            <a:r>
              <a:rPr lang="zh-CN" altLang="en-US" sz="2400">
                <a:latin typeface="微软雅黑" panose="020B0503020204020204" charset="-122"/>
                <a:ea typeface="微软雅黑" panose="020B0503020204020204" charset="-122"/>
              </a:rPr>
              <a:t>构成目标边界的方式不同，轮廓搜索将</a:t>
            </a:r>
            <a:r>
              <a:rPr lang="zh-CN" altLang="en-US" sz="2400">
                <a:solidFill>
                  <a:srgbClr val="FF0000"/>
                </a:solidFill>
                <a:latin typeface="微软雅黑" panose="020B0503020204020204" charset="-122"/>
                <a:ea typeface="微软雅黑" panose="020B0503020204020204" charset="-122"/>
              </a:rPr>
              <a:t>检测边缘点</a:t>
            </a:r>
            <a:r>
              <a:rPr lang="zh-CN" altLang="en-US" sz="2400">
                <a:latin typeface="微软雅黑" panose="020B0503020204020204" charset="-122"/>
                <a:ea typeface="微软雅黑" panose="020B0503020204020204" charset="-122"/>
              </a:rPr>
              <a:t>和</a:t>
            </a:r>
            <a:r>
              <a:rPr lang="zh-CN" altLang="en-US" sz="2400">
                <a:solidFill>
                  <a:srgbClr val="FF0000"/>
                </a:solidFill>
                <a:latin typeface="微软雅黑" panose="020B0503020204020204" charset="-122"/>
                <a:ea typeface="微软雅黑" panose="020B0503020204020204" charset="-122"/>
              </a:rPr>
              <a:t>连接边界点交替进行</a:t>
            </a:r>
            <a:r>
              <a:rPr lang="zh-CN" altLang="en-US" sz="2400">
                <a:latin typeface="微软雅黑" panose="020B0503020204020204" charset="-122"/>
                <a:ea typeface="微软雅黑" panose="020B0503020204020204" charset="-122"/>
              </a:rPr>
              <a:t>，一边检测一边连接构成轮廓，这种方法考虑的是全局信息。</a:t>
            </a:r>
            <a:endParaRPr lang="zh-CN" altLang="en-US" sz="24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5" name="矩形 308225"/>
          <p:cNvSpPr/>
          <p:nvPr/>
        </p:nvSpPr>
        <p:spPr>
          <a:xfrm>
            <a:off x="1511300" y="323850"/>
            <a:ext cx="252095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b="1">
                <a:latin typeface="微软雅黑" panose="020B0503020204020204" charset="-122"/>
                <a:ea typeface="微软雅黑" panose="020B0503020204020204" charset="-122"/>
              </a:rPr>
              <a:t>轮廓搜索</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8226" name="矩形 308226"/>
          <p:cNvSpPr/>
          <p:nvPr/>
        </p:nvSpPr>
        <p:spPr>
          <a:xfrm>
            <a:off x="821055" y="1979930"/>
            <a:ext cx="10718800" cy="2968625"/>
          </a:xfrm>
          <a:prstGeom prst="rect">
            <a:avLst/>
          </a:prstGeom>
          <a:noFill/>
          <a:ln w="9525">
            <a:noFill/>
          </a:ln>
        </p:spPr>
        <p:txBody>
          <a:bodyPr wrap="square" anchor="t" anchorCtr="0">
            <a:spAutoFit/>
          </a:bodyPr>
          <a:p>
            <a:pPr algn="just" defTabSz="719455">
              <a:lnSpc>
                <a:spcPct val="130000"/>
              </a:lnSpc>
              <a:spcAft>
                <a:spcPts val="0"/>
              </a:spcAft>
            </a:pPr>
            <a:r>
              <a:rPr lang="en-US" altLang="zh-CN" sz="2400">
                <a:latin typeface="微软雅黑" panose="020B0503020204020204" charset="-122"/>
                <a:ea typeface="微软雅黑" panose="020B0503020204020204" charset="-122"/>
              </a:rPr>
              <a:t>	</a:t>
            </a:r>
            <a:r>
              <a:rPr lang="zh-CN" altLang="en-US" sz="2400">
                <a:latin typeface="Times New Roman" panose="02020603050405020304" charset="0"/>
                <a:ea typeface="微软雅黑" panose="020B0503020204020204" charset="-122"/>
                <a:cs typeface="Times New Roman" panose="02020603050405020304" charset="0"/>
              </a:rPr>
              <a:t>一个</a:t>
            </a:r>
            <a:r>
              <a:rPr lang="zh-CN" altLang="en-US" sz="2400" b="1">
                <a:latin typeface="Times New Roman" panose="02020603050405020304" charset="0"/>
                <a:ea typeface="微软雅黑" panose="020B0503020204020204" charset="-122"/>
                <a:cs typeface="Times New Roman" panose="02020603050405020304" charset="0"/>
              </a:rPr>
              <a:t>图</a:t>
            </a:r>
            <a:r>
              <a:rPr lang="zh-CN" altLang="en-US" sz="2400">
                <a:latin typeface="Times New Roman" panose="02020603050405020304" charset="0"/>
                <a:ea typeface="微软雅黑" panose="020B0503020204020204" charset="-122"/>
                <a:cs typeface="Times New Roman" panose="02020603050405020304" charset="0"/>
              </a:rPr>
              <a:t>可表示为</a:t>
            </a:r>
            <a:r>
              <a:rPr lang="en-US" altLang="zh-CN" sz="2400" i="1">
                <a:latin typeface="Times New Roman" panose="02020603050405020304" charset="0"/>
                <a:ea typeface="微软雅黑" panose="020B0503020204020204" charset="-122"/>
                <a:cs typeface="Times New Roman" panose="02020603050405020304" charset="0"/>
              </a:rPr>
              <a:t>G</a:t>
            </a:r>
            <a:r>
              <a:rPr lang="en-US" altLang="zh-CN" sz="2400">
                <a:latin typeface="Times New Roman" panose="02020603050405020304" charset="0"/>
                <a:ea typeface="微软雅黑" panose="020B0503020204020204" charset="-122"/>
                <a:cs typeface="Times New Roman" panose="02020603050405020304" charset="0"/>
              </a:rPr>
              <a:t> = [</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A</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，其中</a:t>
            </a:r>
            <a:r>
              <a:rPr lang="en-US" altLang="zh-CN" sz="2400" i="1">
                <a:latin typeface="Times New Roman" panose="02020603050405020304" charset="0"/>
                <a:ea typeface="微软雅黑" panose="020B0503020204020204" charset="-122"/>
                <a:cs typeface="Times New Roman" panose="02020603050405020304" charset="0"/>
              </a:rPr>
              <a:t>N</a:t>
            </a:r>
            <a:r>
              <a:rPr lang="zh-CN" altLang="en-US" sz="2400">
                <a:latin typeface="Times New Roman" panose="02020603050405020304" charset="0"/>
                <a:ea typeface="微软雅黑" panose="020B0503020204020204" charset="-122"/>
                <a:cs typeface="Times New Roman" panose="02020603050405020304" charset="0"/>
              </a:rPr>
              <a:t>是一个有限非空的</a:t>
            </a:r>
            <a:r>
              <a:rPr lang="zh-CN" altLang="en-US" sz="2400" b="1">
                <a:latin typeface="Times New Roman" panose="02020603050405020304" charset="0"/>
                <a:ea typeface="微软雅黑" panose="020B0503020204020204" charset="-122"/>
                <a:cs typeface="Times New Roman" panose="02020603050405020304" charset="0"/>
              </a:rPr>
              <a:t>结点集</a:t>
            </a:r>
            <a:r>
              <a:rPr lang="zh-CN" altLang="en-US"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A</a:t>
            </a:r>
            <a:r>
              <a:rPr lang="zh-CN" altLang="en-US" sz="2400">
                <a:latin typeface="Times New Roman" panose="02020603050405020304" charset="0"/>
                <a:ea typeface="微软雅黑" panose="020B0503020204020204" charset="-122"/>
                <a:cs typeface="Times New Roman" panose="02020603050405020304" charset="0"/>
              </a:rPr>
              <a:t>是一个无序结点对的集。集</a:t>
            </a:r>
            <a:r>
              <a:rPr lang="en-US" altLang="zh-CN" sz="2400" i="1">
                <a:latin typeface="Times New Roman" panose="02020603050405020304" charset="0"/>
                <a:ea typeface="微软雅黑" panose="020B0503020204020204" charset="-122"/>
                <a:cs typeface="Times New Roman" panose="02020603050405020304" charset="0"/>
              </a:rPr>
              <a:t>A</a:t>
            </a:r>
            <a:r>
              <a:rPr lang="zh-CN" altLang="en-US" sz="2400">
                <a:latin typeface="Times New Roman" panose="02020603050405020304" charset="0"/>
                <a:ea typeface="微软雅黑" panose="020B0503020204020204" charset="-122"/>
                <a:cs typeface="Times New Roman" panose="02020603050405020304" charset="0"/>
              </a:rPr>
              <a:t>中的每个</a:t>
            </a:r>
            <a:r>
              <a:rPr lang="zh-CN" altLang="en-US" sz="2400" b="1">
                <a:latin typeface="Times New Roman" panose="02020603050405020304" charset="0"/>
                <a:ea typeface="微软雅黑" panose="020B0503020204020204" charset="-122"/>
                <a:cs typeface="Times New Roman" panose="02020603050405020304" charset="0"/>
              </a:rPr>
              <a:t>结点对</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称为一段</a:t>
            </a:r>
            <a:r>
              <a:rPr lang="zh-CN" altLang="en-US" sz="2400" b="1">
                <a:latin typeface="Times New Roman" panose="02020603050405020304" charset="0"/>
                <a:ea typeface="微软雅黑" panose="020B0503020204020204" charset="-122"/>
                <a:cs typeface="Times New Roman" panose="02020603050405020304" charset="0"/>
              </a:rPr>
              <a:t>弧</a:t>
            </a:r>
            <a:r>
              <a:rPr lang="zh-CN" altLang="en-US"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400" i="1">
                <a:latin typeface="Times New Roman" panose="02020603050405020304" charset="0"/>
                <a:ea typeface="微软雅黑" panose="020B0503020204020204" charset="-122"/>
                <a:cs typeface="Times New Roman" panose="02020603050405020304" charset="0"/>
              </a:rPr>
              <a:t> N</a:t>
            </a:r>
            <a:r>
              <a:rPr lang="zh-CN" altLang="en-US"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j</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a:latin typeface="Times New Roman" panose="02020603050405020304" charset="0"/>
                <a:ea typeface="微软雅黑" panose="020B0503020204020204" charset="-122"/>
                <a:cs typeface="Times New Roman" panose="02020603050405020304" charset="0"/>
                <a:sym typeface="Symbol" panose="05050102010706020507" pitchFamily="18" charset="2"/>
              </a:rPr>
              <a:t></a:t>
            </a:r>
            <a:r>
              <a:rPr lang="en-US" altLang="zh-CN" sz="2400" i="1">
                <a:latin typeface="Times New Roman" panose="02020603050405020304" charset="0"/>
                <a:ea typeface="微软雅黑" panose="020B0503020204020204" charset="-122"/>
                <a:cs typeface="Times New Roman" panose="02020603050405020304" charset="0"/>
              </a:rPr>
              <a:t> N</a:t>
            </a:r>
            <a:r>
              <a:rPr lang="zh-CN" altLang="en-US" sz="2400">
                <a:latin typeface="Times New Roman" panose="02020603050405020304" charset="0"/>
                <a:ea typeface="微软雅黑" panose="020B0503020204020204" charset="-122"/>
                <a:cs typeface="Times New Roman" panose="02020603050405020304" charset="0"/>
              </a:rPr>
              <a:t>）</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r>
              <a:rPr lang="zh-CN" altLang="en-US" sz="2400">
                <a:latin typeface="Times New Roman" panose="02020603050405020304" charset="0"/>
                <a:ea typeface="微软雅黑" panose="020B0503020204020204" charset="-122"/>
                <a:cs typeface="Times New Roman" panose="02020603050405020304" charset="0"/>
              </a:rPr>
              <a:t>	对任一段弧</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j</a:t>
            </a:r>
            <a:r>
              <a:rPr lang="en-US" altLang="zh-CN" sz="2400">
                <a:latin typeface="Times New Roman" panose="02020603050405020304" charset="0"/>
                <a:ea typeface="微软雅黑" panose="020B0503020204020204" charset="-122"/>
                <a:cs typeface="Times New Roman" panose="02020603050405020304" charset="0"/>
              </a:rPr>
              <a:t>)</a:t>
            </a:r>
            <a:endParaRPr lang="en-US" altLang="zh-CN"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r>
              <a:rPr lang="zh-CN" altLang="en-US" sz="2400">
                <a:latin typeface="Times New Roman" panose="02020603050405020304" charset="0"/>
                <a:ea typeface="微软雅黑" panose="020B0503020204020204" charset="-122"/>
                <a:cs typeface="Times New Roman" panose="02020603050405020304" charset="0"/>
              </a:rPr>
              <a:t>都可定义一个代价，记</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r>
              <a:rPr lang="zh-CN" altLang="en-US" sz="2400">
                <a:latin typeface="Times New Roman" panose="02020603050405020304" charset="0"/>
                <a:ea typeface="微软雅黑" panose="020B0503020204020204" charset="-122"/>
                <a:cs typeface="Times New Roman" panose="02020603050405020304" charset="0"/>
              </a:rPr>
              <a:t>为</a:t>
            </a:r>
            <a:r>
              <a:rPr lang="en-US" altLang="zh-CN" sz="2400" i="1">
                <a:latin typeface="Times New Roman" panose="02020603050405020304" charset="0"/>
                <a:ea typeface="微软雅黑" panose="020B0503020204020204" charset="-122"/>
                <a:cs typeface="Times New Roman" panose="02020603050405020304" charset="0"/>
              </a:rPr>
              <a:t>c</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n</a:t>
            </a:r>
            <a:r>
              <a:rPr lang="en-US" altLang="zh-CN" sz="2400" i="1" baseline="-25000">
                <a:latin typeface="Times New Roman" panose="02020603050405020304" charset="0"/>
                <a:ea typeface="微软雅黑" panose="020B0503020204020204" charset="-122"/>
                <a:cs typeface="Times New Roman" panose="02020603050405020304" charset="0"/>
              </a:rPr>
              <a:t>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，通路的总代</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30000"/>
              </a:lnSpc>
            </a:pPr>
            <a:r>
              <a:rPr lang="zh-CN" altLang="en-US" sz="2400">
                <a:latin typeface="Times New Roman" panose="02020603050405020304" charset="0"/>
                <a:ea typeface="微软雅黑" panose="020B0503020204020204" charset="-122"/>
                <a:cs typeface="Times New Roman" panose="02020603050405020304" charset="0"/>
              </a:rPr>
              <a:t>价为	</a:t>
            </a: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08227" name="矩形 308227"/>
          <p:cNvSpPr/>
          <p:nvPr/>
        </p:nvSpPr>
        <p:spPr>
          <a:xfrm>
            <a:off x="2524761" y="1260475"/>
            <a:ext cx="10972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图搜索</a:t>
            </a:r>
            <a:endParaRPr lang="zh-CN" altLang="en-US" sz="2400" b="1">
              <a:latin typeface="微软雅黑" panose="020B0503020204020204" charset="-122"/>
              <a:ea typeface="微软雅黑" panose="020B0503020204020204" charset="-122"/>
            </a:endParaRPr>
          </a:p>
        </p:txBody>
      </p:sp>
      <p:pic>
        <p:nvPicPr>
          <p:cNvPr id="308228" name="图片 308228" descr="C:/Users/Administrator/AppData/Roaming/Yozo_Office/Temp/fc/1629533961615188032025/计算机视觉教程（第3版）PPT第05章.pptx/ppt/media/image6.emf"/>
          <p:cNvPicPr/>
          <p:nvPr/>
        </p:nvPicPr>
        <p:blipFill>
          <a:blip r:embed="rId1"/>
          <a:stretch>
            <a:fillRect/>
          </a:stretch>
        </p:blipFill>
        <p:spPr>
          <a:xfrm>
            <a:off x="4690428" y="3360420"/>
            <a:ext cx="5038725" cy="2700338"/>
          </a:xfrm>
          <a:prstGeom prst="rect">
            <a:avLst/>
          </a:prstGeom>
          <a:noFill/>
          <a:ln w="9525">
            <a:noFill/>
          </a:ln>
        </p:spPr>
      </p:pic>
      <p:pic>
        <p:nvPicPr>
          <p:cNvPr id="308229" name="图片 308229" descr="C:/Users/Administrator/AppData/Roaming/Yozo_Office/Temp/fc/1629533961615188032025/计算机视觉教程（第3版）PPT第05章.pptx/ppt/media/image7.png"/>
          <p:cNvPicPr/>
          <p:nvPr/>
        </p:nvPicPr>
        <p:blipFill>
          <a:blip r:embed="rId2"/>
          <a:stretch>
            <a:fillRect/>
          </a:stretch>
        </p:blipFill>
        <p:spPr>
          <a:xfrm>
            <a:off x="1717040" y="4855845"/>
            <a:ext cx="2232025" cy="900113"/>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49" name="矩形 309249"/>
          <p:cNvSpPr/>
          <p:nvPr/>
        </p:nvSpPr>
        <p:spPr>
          <a:xfrm>
            <a:off x="1511300" y="323850"/>
            <a:ext cx="252095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b="1">
                <a:latin typeface="微软雅黑" panose="020B0503020204020204" charset="-122"/>
                <a:ea typeface="微软雅黑" panose="020B0503020204020204" charset="-122"/>
              </a:rPr>
              <a:t>轮廓搜索</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09250" name="矩形 309250"/>
          <p:cNvSpPr/>
          <p:nvPr/>
        </p:nvSpPr>
        <p:spPr>
          <a:xfrm>
            <a:off x="2700338" y="2879725"/>
            <a:ext cx="2447925" cy="2861310"/>
          </a:xfrm>
          <a:prstGeom prst="rect">
            <a:avLst/>
          </a:prstGeom>
          <a:noFill/>
          <a:ln w="9525">
            <a:noFill/>
          </a:ln>
        </p:spPr>
        <p:txBody>
          <a:bodyPr anchor="t" anchorCtr="0">
            <a:spAutoFit/>
          </a:bodyPr>
          <a:p>
            <a:pPr algn="just" defTabSz="719455">
              <a:lnSpc>
                <a:spcPct val="150000"/>
              </a:lnSpc>
              <a:spcAft>
                <a:spcPts val="0"/>
              </a:spcAft>
            </a:pPr>
            <a:r>
              <a:rPr lang="en-US" altLang="zh-CN"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利用图搜索技术从上向下可检测出如图所示的对应大梯度边缘元素的边界段	</a:t>
            </a:r>
            <a:endParaRPr lang="zh-CN" altLang="en-US" sz="2400">
              <a:latin typeface="微软雅黑" panose="020B0503020204020204" charset="-122"/>
              <a:ea typeface="微软雅黑" panose="020B0503020204020204" charset="-122"/>
            </a:endParaRPr>
          </a:p>
        </p:txBody>
      </p:sp>
      <p:sp>
        <p:nvSpPr>
          <p:cNvPr id="309251" name="矩形 309251"/>
          <p:cNvSpPr/>
          <p:nvPr/>
        </p:nvSpPr>
        <p:spPr>
          <a:xfrm>
            <a:off x="2524761" y="1260475"/>
            <a:ext cx="10972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图搜索</a:t>
            </a:r>
            <a:endParaRPr lang="zh-CN" altLang="en-US" sz="2400" b="1">
              <a:latin typeface="微软雅黑" panose="020B0503020204020204" charset="-122"/>
              <a:ea typeface="微软雅黑" panose="020B0503020204020204" charset="-122"/>
            </a:endParaRPr>
          </a:p>
        </p:txBody>
      </p:sp>
      <p:sp>
        <p:nvSpPr>
          <p:cNvPr id="309252" name="五边形 309252"/>
          <p:cNvSpPr/>
          <p:nvPr/>
        </p:nvSpPr>
        <p:spPr>
          <a:xfrm>
            <a:off x="3240088" y="2087563"/>
            <a:ext cx="1800225" cy="539750"/>
          </a:xfrm>
          <a:prstGeom prst="homePlate">
            <a:avLst>
              <a:gd name="adj" fmla="val 48763"/>
            </a:avLst>
          </a:prstGeom>
          <a:solidFill>
            <a:srgbClr val="BC8268"/>
          </a:solidFill>
          <a:ln w="12700" cap="flat" cmpd="sng">
            <a:solidFill>
              <a:srgbClr val="BC8268"/>
            </a:solidFill>
            <a:prstDash val="solid"/>
            <a:miter/>
            <a:headEnd type="none" w="med" len="med"/>
            <a:tailEnd type="none" w="med" len="med"/>
          </a:ln>
        </p:spPr>
        <p:txBody>
          <a:bodyPr anchor="ctr" anchorCtr="0"/>
          <a:p>
            <a:pPr algn="ctr">
              <a:spcAft>
                <a:spcPts val="0"/>
              </a:spcAft>
            </a:pPr>
            <a:r>
              <a:rPr lang="zh-CN" altLang="en-US" sz="2000" b="1">
                <a:solidFill>
                  <a:srgbClr val="FFFFFF"/>
                </a:solidFill>
                <a:latin typeface="Calibri" panose="020F0502020204030204" charset="0"/>
                <a:ea typeface="宋体" panose="02010600030101010101" pitchFamily="2" charset="-122"/>
                <a:sym typeface="+mn-ea"/>
              </a:rPr>
              <a:t>代价函数</a:t>
            </a:r>
            <a:endParaRPr lang="zh-CN" altLang="en-US" sz="2000" b="1">
              <a:solidFill>
                <a:srgbClr val="FFFFFF"/>
              </a:solidFill>
              <a:latin typeface="Calibri" panose="020F0502020204030204" charset="0"/>
              <a:ea typeface="宋体" panose="02010600030101010101" pitchFamily="2" charset="-122"/>
            </a:endParaRPr>
          </a:p>
        </p:txBody>
      </p:sp>
      <p:pic>
        <p:nvPicPr>
          <p:cNvPr id="309253" name="图片 309253" descr="C:/Users/Administrator/AppData/Roaming/Yozo_Office/Temp/fc/1629533961615188032025/计算机视觉教程（第3版）PPT第05章.pptx/ppt/media/image8.emf"/>
          <p:cNvPicPr/>
          <p:nvPr/>
        </p:nvPicPr>
        <p:blipFill>
          <a:blip r:embed="rId1"/>
          <a:stretch>
            <a:fillRect/>
          </a:stretch>
        </p:blipFill>
        <p:spPr>
          <a:xfrm>
            <a:off x="5580063" y="2879725"/>
            <a:ext cx="5940425" cy="3240088"/>
          </a:xfrm>
          <a:prstGeom prst="rect">
            <a:avLst/>
          </a:prstGeom>
          <a:noFill/>
          <a:ln w="9525">
            <a:noFill/>
          </a:ln>
        </p:spPr>
      </p:pic>
      <p:pic>
        <p:nvPicPr>
          <p:cNvPr id="309254" name="图片 309254" descr="C:/Users/Administrator/AppData/Roaming/Yozo_Office/Temp/fc/1629533961615188032025/计算机视觉教程（第3版）PPT第05章.pptx/ppt/media/image9.png"/>
          <p:cNvPicPr/>
          <p:nvPr/>
        </p:nvPicPr>
        <p:blipFill>
          <a:blip r:embed="rId2"/>
          <a:stretch>
            <a:fillRect/>
          </a:stretch>
        </p:blipFill>
        <p:spPr>
          <a:xfrm>
            <a:off x="5580063" y="2087563"/>
            <a:ext cx="4032250" cy="50482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3" name="矩形 310273"/>
          <p:cNvSpPr/>
          <p:nvPr/>
        </p:nvSpPr>
        <p:spPr>
          <a:xfrm>
            <a:off x="1511300" y="323850"/>
            <a:ext cx="252095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b="1">
                <a:latin typeface="微软雅黑" panose="020B0503020204020204" charset="-122"/>
                <a:ea typeface="微软雅黑" panose="020B0503020204020204" charset="-122"/>
              </a:rPr>
              <a:t>轮廓搜索</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pic>
        <p:nvPicPr>
          <p:cNvPr id="310274" name="图片 310274" descr="C:/Users/Administrator/AppData/Roaming/Yozo_Office/Temp/fc/1629533961615188032025/计算机视觉教程（第3版）PPT第05章.pptx/ppt/media/image10.emf"/>
          <p:cNvPicPr/>
          <p:nvPr/>
        </p:nvPicPr>
        <p:blipFill>
          <a:blip r:embed="rId1"/>
          <a:stretch>
            <a:fillRect/>
          </a:stretch>
        </p:blipFill>
        <p:spPr>
          <a:xfrm>
            <a:off x="2519363" y="1223963"/>
            <a:ext cx="8280400" cy="5111750"/>
          </a:xfrm>
          <a:prstGeom prst="rect">
            <a:avLst/>
          </a:prstGeom>
          <a:noFill/>
          <a:ln w="9525">
            <a:noFill/>
          </a:ln>
        </p:spPr>
      </p:pic>
      <p:sp>
        <p:nvSpPr>
          <p:cNvPr id="310275" name="矩形 310275"/>
          <p:cNvSpPr/>
          <p:nvPr/>
        </p:nvSpPr>
        <p:spPr>
          <a:xfrm>
            <a:off x="2524761" y="1260475"/>
            <a:ext cx="1097280" cy="460375"/>
          </a:xfrm>
          <a:prstGeom prst="rect">
            <a:avLst/>
          </a:prstGeom>
          <a:noFill/>
          <a:ln w="9525">
            <a:noFill/>
          </a:ln>
        </p:spPr>
        <p:txBody>
          <a:bodyPr wrap="none" anchor="t" anchorCtr="0">
            <a:spAutoFit/>
          </a:bodyPr>
          <a:p>
            <a:pPr algn="just" defTabSz="719455">
              <a:spcAft>
                <a:spcPts val="0"/>
              </a:spcAft>
            </a:pPr>
            <a:r>
              <a:rPr lang="zh-CN" altLang="en-US" sz="2400" b="1">
                <a:latin typeface="微软雅黑" panose="020B0503020204020204" charset="-122"/>
                <a:ea typeface="微软雅黑" panose="020B0503020204020204" charset="-122"/>
              </a:rPr>
              <a:t>图搜索</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1219200" y="635000"/>
            <a:ext cx="97536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计算下图从上到下搜索的路径：</a:t>
            </a:r>
            <a:endParaRPr lang="zh-CN" altLang="en-US" sz="2600">
              <a:solidFill>
                <a:srgbClr val="000000"/>
              </a:solidFill>
              <a:latin typeface="微软雅黑" panose="020B0503020204020204" charset="-122"/>
              <a:ea typeface="微软雅黑" panose="020B0503020204020204" charset="-122"/>
            </a:endParaRPr>
          </a:p>
        </p:txBody>
      </p:sp>
      <p:sp>
        <p:nvSpPr>
          <p:cNvPr id="6" name="圆角矩形 5"/>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aphicFrame>
        <p:nvGraphicFramePr>
          <p:cNvPr id="14" name="表格 13"/>
          <p:cNvGraphicFramePr/>
          <p:nvPr>
            <p:custDataLst>
              <p:tags r:id="rId3"/>
            </p:custDataLst>
          </p:nvPr>
        </p:nvGraphicFramePr>
        <p:xfrm>
          <a:off x="2533015" y="2404745"/>
          <a:ext cx="3419635" cy="2604940"/>
        </p:xfrm>
        <a:graphic>
          <a:graphicData uri="http://schemas.openxmlformats.org/drawingml/2006/table">
            <a:tbl>
              <a:tblPr firstRow="1" bandRow="1">
                <a:tableStyleId>{5C22544A-7EE6-4342-B048-85BDC9FD1C3A}</a:tableStyleId>
              </a:tblPr>
              <a:tblGrid>
                <a:gridCol w="360000"/>
                <a:gridCol w="1080135"/>
                <a:gridCol w="1079500"/>
                <a:gridCol w="900000"/>
              </a:tblGrid>
              <a:tr h="367030">
                <a:tc>
                  <a:txBody>
                    <a:bodyPr/>
                    <a:p>
                      <a:pPr>
                        <a:buNone/>
                      </a:pPr>
                      <a:endParaRPr lang="zh-CN" altLang="en-US"/>
                    </a:p>
                  </a:txBody>
                  <a:tcPr>
                    <a:lnL>
                      <a:noFill/>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a:noFill/>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367200">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a:noFill/>
                    </a:lnB>
                    <a:noFill/>
                  </a:tcPr>
                </a:tc>
              </a:tr>
            </a:tbl>
          </a:graphicData>
        </a:graphic>
      </p:graphicFrame>
      <p:grpSp>
        <p:nvGrpSpPr>
          <p:cNvPr id="19" name="组合 18"/>
          <p:cNvGrpSpPr/>
          <p:nvPr/>
        </p:nvGrpSpPr>
        <p:grpSpPr>
          <a:xfrm>
            <a:off x="2847340" y="2729865"/>
            <a:ext cx="2250440" cy="92710"/>
            <a:chOff x="4484" y="4299"/>
            <a:chExt cx="3544" cy="146"/>
          </a:xfrm>
        </p:grpSpPr>
        <p:sp>
          <p:nvSpPr>
            <p:cNvPr id="15" name="椭圆 14"/>
            <p:cNvSpPr/>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custDataLst>
                <p:tags r:id="rId4"/>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custDataLst>
                <p:tags r:id="rId5"/>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0" name="组合 19"/>
          <p:cNvGrpSpPr/>
          <p:nvPr/>
        </p:nvGrpSpPr>
        <p:grpSpPr>
          <a:xfrm>
            <a:off x="2847340" y="3660140"/>
            <a:ext cx="2250440" cy="92710"/>
            <a:chOff x="4484" y="4299"/>
            <a:chExt cx="3544" cy="146"/>
          </a:xfrm>
        </p:grpSpPr>
        <p:sp>
          <p:nvSpPr>
            <p:cNvPr id="21" name="椭圆 20"/>
            <p:cNvSpPr/>
            <p:nvPr>
              <p:custDataLst>
                <p:tags r:id="rId6"/>
              </p:custDataLst>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custDataLst>
                <p:tags r:id="rId7"/>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custDataLst>
                <p:tags r:id="rId8"/>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4" name="组合 23"/>
          <p:cNvGrpSpPr/>
          <p:nvPr/>
        </p:nvGrpSpPr>
        <p:grpSpPr>
          <a:xfrm>
            <a:off x="2847340" y="4590415"/>
            <a:ext cx="2250440" cy="92710"/>
            <a:chOff x="4484" y="4299"/>
            <a:chExt cx="3544" cy="146"/>
          </a:xfrm>
        </p:grpSpPr>
        <p:sp>
          <p:nvSpPr>
            <p:cNvPr id="25" name="椭圆 24"/>
            <p:cNvSpPr/>
            <p:nvPr>
              <p:custDataLst>
                <p:tags r:id="rId9"/>
              </p:custDataLst>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10"/>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custDataLst>
                <p:tags r:id="rId11"/>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8" name="文本框 27"/>
          <p:cNvSpPr txBox="1"/>
          <p:nvPr/>
        </p:nvSpPr>
        <p:spPr>
          <a:xfrm>
            <a:off x="2449830"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29" name="文本框 28"/>
          <p:cNvSpPr txBox="1"/>
          <p:nvPr>
            <p:custDataLst>
              <p:tags r:id="rId12"/>
            </p:custDataLst>
          </p:nvPr>
        </p:nvSpPr>
        <p:spPr>
          <a:xfrm>
            <a:off x="3528695" y="245491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0" name="文本框 29"/>
          <p:cNvSpPr txBox="1"/>
          <p:nvPr>
            <p:custDataLst>
              <p:tags r:id="rId13"/>
            </p:custDataLst>
          </p:nvPr>
        </p:nvSpPr>
        <p:spPr>
          <a:xfrm>
            <a:off x="4657725"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cxnSp>
        <p:nvCxnSpPr>
          <p:cNvPr id="31" name="直接箭头连接符 30"/>
          <p:cNvCxnSpPr/>
          <p:nvPr/>
        </p:nvCxnSpPr>
        <p:spPr>
          <a:xfrm>
            <a:off x="2435225" y="2197735"/>
            <a:ext cx="210248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custDataLst>
              <p:tags r:id="rId14"/>
            </p:custDataLst>
          </p:nvPr>
        </p:nvCxnSpPr>
        <p:spPr>
          <a:xfrm>
            <a:off x="2441575" y="2197735"/>
            <a:ext cx="0" cy="16078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4611370" y="1957070"/>
            <a:ext cx="280035" cy="368300"/>
          </a:xfrm>
          <a:prstGeom prst="rect">
            <a:avLst/>
          </a:prstGeom>
          <a:noFill/>
        </p:spPr>
        <p:txBody>
          <a:bodyPr wrap="square" rtlCol="0">
            <a:spAutoFit/>
          </a:bodyPr>
          <a:p>
            <a:r>
              <a:rPr lang="en-US" altLang="zh-CN" i="1">
                <a:latin typeface="Times New Roman" panose="02020603050405020304" charset="0"/>
                <a:cs typeface="Times New Roman" panose="02020603050405020304" charset="0"/>
              </a:rPr>
              <a:t>x</a:t>
            </a:r>
            <a:endParaRPr lang="en-US" altLang="zh-CN" i="1">
              <a:latin typeface="Times New Roman" panose="02020603050405020304" charset="0"/>
              <a:cs typeface="Times New Roman" panose="02020603050405020304" charset="0"/>
            </a:endParaRPr>
          </a:p>
        </p:txBody>
      </p:sp>
      <p:sp>
        <p:nvSpPr>
          <p:cNvPr id="34" name="文本框 33"/>
          <p:cNvSpPr txBox="1"/>
          <p:nvPr>
            <p:custDataLst>
              <p:tags r:id="rId15"/>
            </p:custDataLst>
          </p:nvPr>
        </p:nvSpPr>
        <p:spPr>
          <a:xfrm>
            <a:off x="1995805" y="3660140"/>
            <a:ext cx="280035" cy="368300"/>
          </a:xfrm>
          <a:prstGeom prst="rect">
            <a:avLst/>
          </a:prstGeom>
          <a:noFill/>
        </p:spPr>
        <p:txBody>
          <a:bodyPr wrap="square" rtlCol="0">
            <a:spAutoFit/>
          </a:bodyPr>
          <a:p>
            <a:r>
              <a:rPr lang="en-US" altLang="zh-CN" i="1">
                <a:latin typeface="Times New Roman" panose="02020603050405020304" charset="0"/>
                <a:cs typeface="Times New Roman" panose="02020603050405020304" charset="0"/>
              </a:rPr>
              <a:t>y</a:t>
            </a:r>
            <a:endParaRPr lang="en-US" altLang="zh-CN" i="1">
              <a:latin typeface="Times New Roman" panose="02020603050405020304" charset="0"/>
              <a:cs typeface="Times New Roman" panose="02020603050405020304" charset="0"/>
            </a:endParaRPr>
          </a:p>
        </p:txBody>
      </p:sp>
      <p:sp>
        <p:nvSpPr>
          <p:cNvPr id="35" name="文本框 34"/>
          <p:cNvSpPr txBox="1"/>
          <p:nvPr>
            <p:custDataLst>
              <p:tags r:id="rId16"/>
            </p:custDataLst>
          </p:nvPr>
        </p:nvSpPr>
        <p:spPr>
          <a:xfrm>
            <a:off x="2449830" y="329184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36" name="文本框 35"/>
          <p:cNvSpPr txBox="1"/>
          <p:nvPr>
            <p:custDataLst>
              <p:tags r:id="rId17"/>
            </p:custDataLst>
          </p:nvPr>
        </p:nvSpPr>
        <p:spPr>
          <a:xfrm>
            <a:off x="3528695"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7" name="文本框 36"/>
          <p:cNvSpPr txBox="1"/>
          <p:nvPr>
            <p:custDataLst>
              <p:tags r:id="rId18"/>
            </p:custDataLst>
          </p:nvPr>
        </p:nvSpPr>
        <p:spPr>
          <a:xfrm>
            <a:off x="4657725" y="329184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8" name="文本框 37"/>
          <p:cNvSpPr txBox="1"/>
          <p:nvPr>
            <p:custDataLst>
              <p:tags r:id="rId19"/>
            </p:custDataLst>
          </p:nvPr>
        </p:nvSpPr>
        <p:spPr>
          <a:xfrm>
            <a:off x="2449830"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39" name="文本框 38"/>
          <p:cNvSpPr txBox="1"/>
          <p:nvPr>
            <p:custDataLst>
              <p:tags r:id="rId20"/>
            </p:custDataLst>
          </p:nvPr>
        </p:nvSpPr>
        <p:spPr>
          <a:xfrm>
            <a:off x="3528695" y="430403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40" name="文本框 39"/>
          <p:cNvSpPr txBox="1"/>
          <p:nvPr>
            <p:custDataLst>
              <p:tags r:id="rId21"/>
            </p:custDataLst>
          </p:nvPr>
        </p:nvSpPr>
        <p:spPr>
          <a:xfrm>
            <a:off x="4657725"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graphicFrame>
        <p:nvGraphicFramePr>
          <p:cNvPr id="41" name="表格 40"/>
          <p:cNvGraphicFramePr/>
          <p:nvPr>
            <p:custDataLst>
              <p:tags r:id="rId22"/>
            </p:custDataLst>
          </p:nvPr>
        </p:nvGraphicFramePr>
        <p:xfrm>
          <a:off x="5669915" y="2404745"/>
          <a:ext cx="2879725" cy="2604940"/>
        </p:xfrm>
        <a:graphic>
          <a:graphicData uri="http://schemas.openxmlformats.org/drawingml/2006/table">
            <a:tbl>
              <a:tblPr firstRow="1" bandRow="1">
                <a:tableStyleId>{5C22544A-7EE6-4342-B048-85BDC9FD1C3A}</a:tableStyleId>
              </a:tblPr>
              <a:tblGrid>
                <a:gridCol w="360000"/>
                <a:gridCol w="1080135"/>
                <a:gridCol w="1079500"/>
                <a:gridCol w="360000"/>
              </a:tblGrid>
              <a:tr h="367030">
                <a:tc>
                  <a:txBody>
                    <a:bodyPr/>
                    <a:p>
                      <a:pPr>
                        <a:buNone/>
                      </a:pPr>
                      <a:endParaRPr lang="zh-CN" altLang="en-US"/>
                    </a:p>
                  </a:txBody>
                  <a:tcPr>
                    <a:lnL>
                      <a:noFill/>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a:noFill/>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367200">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a:noFill/>
                    </a:lnB>
                    <a:noFill/>
                  </a:tcPr>
                </a:tc>
              </a:tr>
            </a:tbl>
          </a:graphicData>
        </a:graphic>
      </p:graphicFrame>
      <p:grpSp>
        <p:nvGrpSpPr>
          <p:cNvPr id="61" name="组合 60"/>
          <p:cNvGrpSpPr/>
          <p:nvPr/>
        </p:nvGrpSpPr>
        <p:grpSpPr>
          <a:xfrm>
            <a:off x="5983605" y="2731135"/>
            <a:ext cx="2252345" cy="1953895"/>
            <a:chOff x="9020" y="4299"/>
            <a:chExt cx="3547" cy="3077"/>
          </a:xfrm>
        </p:grpSpPr>
        <p:sp>
          <p:nvSpPr>
            <p:cNvPr id="43" name="椭圆 42"/>
            <p:cNvSpPr/>
            <p:nvPr>
              <p:custDataLst>
                <p:tags r:id="rId23"/>
              </p:custDataLst>
            </p:nvPr>
          </p:nvSpPr>
          <p:spPr>
            <a:xfrm>
              <a:off x="9020"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custDataLst>
                <p:tags r:id="rId24"/>
              </p:custDataLst>
            </p:nvPr>
          </p:nvSpPr>
          <p:spPr>
            <a:xfrm>
              <a:off x="10719"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椭圆 44"/>
            <p:cNvSpPr/>
            <p:nvPr>
              <p:custDataLst>
                <p:tags r:id="rId25"/>
              </p:custDataLst>
            </p:nvPr>
          </p:nvSpPr>
          <p:spPr>
            <a:xfrm>
              <a:off x="12418"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椭圆 46"/>
            <p:cNvSpPr/>
            <p:nvPr>
              <p:custDataLst>
                <p:tags r:id="rId26"/>
              </p:custDataLst>
            </p:nvPr>
          </p:nvSpPr>
          <p:spPr>
            <a:xfrm>
              <a:off x="9021"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椭圆 47"/>
            <p:cNvSpPr/>
            <p:nvPr>
              <p:custDataLst>
                <p:tags r:id="rId27"/>
              </p:custDataLst>
            </p:nvPr>
          </p:nvSpPr>
          <p:spPr>
            <a:xfrm>
              <a:off x="10720"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椭圆 48"/>
            <p:cNvSpPr/>
            <p:nvPr>
              <p:custDataLst>
                <p:tags r:id="rId28"/>
              </p:custDataLst>
            </p:nvPr>
          </p:nvSpPr>
          <p:spPr>
            <a:xfrm>
              <a:off x="12419"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椭圆 50"/>
            <p:cNvSpPr/>
            <p:nvPr>
              <p:custDataLst>
                <p:tags r:id="rId29"/>
              </p:custDataLst>
            </p:nvPr>
          </p:nvSpPr>
          <p:spPr>
            <a:xfrm>
              <a:off x="9023"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椭圆 51"/>
            <p:cNvSpPr/>
            <p:nvPr>
              <p:custDataLst>
                <p:tags r:id="rId30"/>
              </p:custDataLst>
            </p:nvPr>
          </p:nvSpPr>
          <p:spPr>
            <a:xfrm>
              <a:off x="10722"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椭圆 52"/>
            <p:cNvSpPr/>
            <p:nvPr>
              <p:custDataLst>
                <p:tags r:id="rId31"/>
              </p:custDataLst>
            </p:nvPr>
          </p:nvSpPr>
          <p:spPr>
            <a:xfrm>
              <a:off x="12421"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2" name="文本框 61"/>
          <p:cNvSpPr txBox="1"/>
          <p:nvPr>
            <p:custDataLst>
              <p:tags r:id="rId32"/>
            </p:custDataLst>
          </p:nvPr>
        </p:nvSpPr>
        <p:spPr>
          <a:xfrm>
            <a:off x="5588000" y="240474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a:t>
            </a:r>
            <a:endParaRPr lang="en-US" altLang="zh-CN">
              <a:latin typeface="Times New Roman" panose="02020603050405020304" charset="0"/>
              <a:cs typeface="Times New Roman" panose="02020603050405020304" charset="0"/>
            </a:endParaRPr>
          </a:p>
        </p:txBody>
      </p:sp>
      <p:sp>
        <p:nvSpPr>
          <p:cNvPr id="63" name="文本框 62"/>
          <p:cNvSpPr txBox="1"/>
          <p:nvPr>
            <p:custDataLst>
              <p:tags r:id="rId33"/>
            </p:custDataLst>
          </p:nvPr>
        </p:nvSpPr>
        <p:spPr>
          <a:xfrm>
            <a:off x="6666865"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a:t>
            </a:r>
            <a:endParaRPr lang="en-US" altLang="zh-CN">
              <a:latin typeface="Times New Roman" panose="02020603050405020304" charset="0"/>
              <a:cs typeface="Times New Roman" panose="02020603050405020304" charset="0"/>
            </a:endParaRPr>
          </a:p>
        </p:txBody>
      </p:sp>
      <p:sp>
        <p:nvSpPr>
          <p:cNvPr id="64" name="文本框 63"/>
          <p:cNvSpPr txBox="1"/>
          <p:nvPr>
            <p:custDataLst>
              <p:tags r:id="rId34"/>
            </p:custDataLst>
          </p:nvPr>
        </p:nvSpPr>
        <p:spPr>
          <a:xfrm>
            <a:off x="7743825" y="240982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a:t>
            </a:r>
            <a:endParaRPr lang="en-US" altLang="zh-CN">
              <a:latin typeface="Times New Roman" panose="02020603050405020304" charset="0"/>
              <a:cs typeface="Times New Roman" panose="02020603050405020304" charset="0"/>
            </a:endParaRPr>
          </a:p>
        </p:txBody>
      </p:sp>
      <p:sp>
        <p:nvSpPr>
          <p:cNvPr id="65" name="文本框 64"/>
          <p:cNvSpPr txBox="1"/>
          <p:nvPr>
            <p:custDataLst>
              <p:tags r:id="rId35"/>
            </p:custDataLst>
          </p:nvPr>
        </p:nvSpPr>
        <p:spPr>
          <a:xfrm>
            <a:off x="5588000"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66" name="文本框 65"/>
          <p:cNvSpPr txBox="1"/>
          <p:nvPr>
            <p:custDataLst>
              <p:tags r:id="rId36"/>
            </p:custDataLst>
          </p:nvPr>
        </p:nvSpPr>
        <p:spPr>
          <a:xfrm>
            <a:off x="6666865"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a:t>
            </a:r>
            <a:endParaRPr lang="en-US" altLang="zh-CN">
              <a:latin typeface="Times New Roman" panose="02020603050405020304" charset="0"/>
              <a:cs typeface="Times New Roman" panose="02020603050405020304" charset="0"/>
            </a:endParaRPr>
          </a:p>
        </p:txBody>
      </p:sp>
      <p:sp>
        <p:nvSpPr>
          <p:cNvPr id="67" name="文本框 66"/>
          <p:cNvSpPr txBox="1"/>
          <p:nvPr>
            <p:custDataLst>
              <p:tags r:id="rId37"/>
            </p:custDataLst>
          </p:nvPr>
        </p:nvSpPr>
        <p:spPr>
          <a:xfrm>
            <a:off x="7743825" y="329882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68" name="文本框 67"/>
          <p:cNvSpPr txBox="1"/>
          <p:nvPr>
            <p:custDataLst>
              <p:tags r:id="rId38"/>
            </p:custDataLst>
          </p:nvPr>
        </p:nvSpPr>
        <p:spPr>
          <a:xfrm>
            <a:off x="5588000" y="425386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69" name="文本框 68"/>
          <p:cNvSpPr txBox="1"/>
          <p:nvPr>
            <p:custDataLst>
              <p:tags r:id="rId39"/>
            </p:custDataLst>
          </p:nvPr>
        </p:nvSpPr>
        <p:spPr>
          <a:xfrm>
            <a:off x="6666865"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70" name="文本框 69"/>
          <p:cNvSpPr txBox="1"/>
          <p:nvPr>
            <p:custDataLst>
              <p:tags r:id="rId40"/>
            </p:custDataLst>
          </p:nvPr>
        </p:nvSpPr>
        <p:spPr>
          <a:xfrm>
            <a:off x="7743825" y="425894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grpSp>
        <p:nvGrpSpPr>
          <p:cNvPr id="11" name="组合 10"/>
          <p:cNvGrpSpPr/>
          <p:nvPr>
            <p:custDataLst>
              <p:tags r:id="rId41"/>
            </p:custDataLst>
          </p:nvPr>
        </p:nvGrpSpPr>
        <p:grpSpPr>
          <a:xfrm>
            <a:off x="0" y="0"/>
            <a:ext cx="12192000" cy="635000"/>
            <a:chOff x="0" y="0"/>
            <a:chExt cx="19200" cy="1000"/>
          </a:xfrm>
        </p:grpSpPr>
        <p:sp>
          <p:nvSpPr>
            <p:cNvPr id="7" name="TitleBackground"/>
            <p:cNvSpPr/>
            <p:nvPr>
              <p:custDataLst>
                <p:tags r:id="rId4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ColorBlock"/>
            <p:cNvSpPr/>
            <p:nvPr>
              <p:custDataLst>
                <p:tags r:id="rId4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TypeText"/>
            <p:cNvSpPr txBox="1"/>
            <p:nvPr>
              <p:custDataLst>
                <p:tags r:id="rId4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10" name="TipText"/>
            <p:cNvSpPr txBox="1"/>
            <p:nvPr>
              <p:custDataLst>
                <p:tags r:id="rId4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64B7"/>
          <p:cNvPicPr>
            <a:picLocks noChangeAspect="1"/>
          </p:cNvPicPr>
          <p:nvPr>
            <p:custDataLst>
              <p:tags r:id="rId46"/>
            </p:custDataLst>
          </p:nvPr>
        </p:nvPicPr>
        <p:blipFill>
          <a:blip r:embed="rId47"/>
          <a:stretch>
            <a:fillRect/>
          </a:stretch>
        </p:blipFill>
        <p:spPr>
          <a:xfrm>
            <a:off x="10642600" y="63500"/>
            <a:ext cx="1422400" cy="508000"/>
          </a:xfrm>
          <a:prstGeom prst="rect">
            <a:avLst/>
          </a:prstGeom>
        </p:spPr>
      </p:pic>
    </p:spTree>
    <p:custDataLst>
      <p:tags r:id="rId48"/>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 name="表格 13"/>
          <p:cNvGraphicFramePr/>
          <p:nvPr>
            <p:custDataLst>
              <p:tags r:id="rId1"/>
            </p:custDataLst>
          </p:nvPr>
        </p:nvGraphicFramePr>
        <p:xfrm>
          <a:off x="2533015" y="2404745"/>
          <a:ext cx="3419635" cy="2604940"/>
        </p:xfrm>
        <a:graphic>
          <a:graphicData uri="http://schemas.openxmlformats.org/drawingml/2006/table">
            <a:tbl>
              <a:tblPr firstRow="1" bandRow="1">
                <a:tableStyleId>{5C22544A-7EE6-4342-B048-85BDC9FD1C3A}</a:tableStyleId>
              </a:tblPr>
              <a:tblGrid>
                <a:gridCol w="360000"/>
                <a:gridCol w="1080135"/>
                <a:gridCol w="1079500"/>
                <a:gridCol w="900000"/>
              </a:tblGrid>
              <a:tr h="367030">
                <a:tc>
                  <a:txBody>
                    <a:bodyPr/>
                    <a:p>
                      <a:pPr>
                        <a:buNone/>
                      </a:pPr>
                      <a:endParaRPr lang="zh-CN" altLang="en-US"/>
                    </a:p>
                  </a:txBody>
                  <a:tcPr>
                    <a:lnL>
                      <a:noFill/>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a:noFill/>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367200">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a:noFill/>
                    </a:lnB>
                    <a:noFill/>
                  </a:tcPr>
                </a:tc>
              </a:tr>
            </a:tbl>
          </a:graphicData>
        </a:graphic>
      </p:graphicFrame>
      <p:grpSp>
        <p:nvGrpSpPr>
          <p:cNvPr id="19" name="组合 18"/>
          <p:cNvGrpSpPr/>
          <p:nvPr/>
        </p:nvGrpSpPr>
        <p:grpSpPr>
          <a:xfrm>
            <a:off x="2847340" y="2729865"/>
            <a:ext cx="2250440" cy="92710"/>
            <a:chOff x="4484" y="4299"/>
            <a:chExt cx="3544" cy="146"/>
          </a:xfrm>
        </p:grpSpPr>
        <p:sp>
          <p:nvSpPr>
            <p:cNvPr id="15" name="椭圆 14"/>
            <p:cNvSpPr/>
            <p:nvPr>
              <p:custDataLst>
                <p:tags r:id="rId2"/>
              </p:custDataLst>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custDataLst>
                <p:tags r:id="rId3"/>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custDataLst>
                <p:tags r:id="rId4"/>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0" name="组合 19"/>
          <p:cNvGrpSpPr/>
          <p:nvPr/>
        </p:nvGrpSpPr>
        <p:grpSpPr>
          <a:xfrm>
            <a:off x="2847340" y="3660140"/>
            <a:ext cx="2250440" cy="92710"/>
            <a:chOff x="4484" y="4299"/>
            <a:chExt cx="3544" cy="146"/>
          </a:xfrm>
        </p:grpSpPr>
        <p:sp>
          <p:nvSpPr>
            <p:cNvPr id="21" name="椭圆 20"/>
            <p:cNvSpPr/>
            <p:nvPr>
              <p:custDataLst>
                <p:tags r:id="rId5"/>
              </p:custDataLst>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custDataLst>
                <p:tags r:id="rId6"/>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custDataLst>
                <p:tags r:id="rId7"/>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4" name="组合 23"/>
          <p:cNvGrpSpPr/>
          <p:nvPr/>
        </p:nvGrpSpPr>
        <p:grpSpPr>
          <a:xfrm>
            <a:off x="2847340" y="4590415"/>
            <a:ext cx="2250440" cy="92710"/>
            <a:chOff x="4484" y="4299"/>
            <a:chExt cx="3544" cy="146"/>
          </a:xfrm>
        </p:grpSpPr>
        <p:sp>
          <p:nvSpPr>
            <p:cNvPr id="25" name="椭圆 24"/>
            <p:cNvSpPr/>
            <p:nvPr>
              <p:custDataLst>
                <p:tags r:id="rId8"/>
              </p:custDataLst>
            </p:nvPr>
          </p:nvSpPr>
          <p:spPr>
            <a:xfrm>
              <a:off x="4484"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9"/>
              </p:custDataLst>
            </p:nvPr>
          </p:nvSpPr>
          <p:spPr>
            <a:xfrm>
              <a:off x="6183"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custDataLst>
                <p:tags r:id="rId10"/>
              </p:custDataLst>
            </p:nvPr>
          </p:nvSpPr>
          <p:spPr>
            <a:xfrm>
              <a:off x="7882"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8" name="文本框 27"/>
          <p:cNvSpPr txBox="1"/>
          <p:nvPr>
            <p:custDataLst>
              <p:tags r:id="rId11"/>
            </p:custDataLst>
          </p:nvPr>
        </p:nvSpPr>
        <p:spPr>
          <a:xfrm>
            <a:off x="2449830"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29" name="文本框 28"/>
          <p:cNvSpPr txBox="1"/>
          <p:nvPr>
            <p:custDataLst>
              <p:tags r:id="rId12"/>
            </p:custDataLst>
          </p:nvPr>
        </p:nvSpPr>
        <p:spPr>
          <a:xfrm>
            <a:off x="3528695" y="245491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0" name="文本框 29"/>
          <p:cNvSpPr txBox="1"/>
          <p:nvPr>
            <p:custDataLst>
              <p:tags r:id="rId13"/>
            </p:custDataLst>
          </p:nvPr>
        </p:nvSpPr>
        <p:spPr>
          <a:xfrm>
            <a:off x="4657725"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cxnSp>
        <p:nvCxnSpPr>
          <p:cNvPr id="31" name="直接箭头连接符 30"/>
          <p:cNvCxnSpPr/>
          <p:nvPr>
            <p:custDataLst>
              <p:tags r:id="rId14"/>
            </p:custDataLst>
          </p:nvPr>
        </p:nvCxnSpPr>
        <p:spPr>
          <a:xfrm>
            <a:off x="2435225" y="2197735"/>
            <a:ext cx="2102485"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custDataLst>
              <p:tags r:id="rId15"/>
            </p:custDataLst>
          </p:nvPr>
        </p:nvCxnSpPr>
        <p:spPr>
          <a:xfrm>
            <a:off x="2441575" y="2197735"/>
            <a:ext cx="0" cy="16078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3" name="文本框 32"/>
          <p:cNvSpPr txBox="1"/>
          <p:nvPr>
            <p:custDataLst>
              <p:tags r:id="rId16"/>
            </p:custDataLst>
          </p:nvPr>
        </p:nvSpPr>
        <p:spPr>
          <a:xfrm>
            <a:off x="4611370" y="1957070"/>
            <a:ext cx="280035" cy="368300"/>
          </a:xfrm>
          <a:prstGeom prst="rect">
            <a:avLst/>
          </a:prstGeom>
          <a:noFill/>
        </p:spPr>
        <p:txBody>
          <a:bodyPr wrap="square" rtlCol="0">
            <a:spAutoFit/>
          </a:bodyPr>
          <a:p>
            <a:r>
              <a:rPr lang="en-US" altLang="zh-CN" i="1">
                <a:latin typeface="Times New Roman" panose="02020603050405020304" charset="0"/>
                <a:cs typeface="Times New Roman" panose="02020603050405020304" charset="0"/>
              </a:rPr>
              <a:t>x</a:t>
            </a:r>
            <a:endParaRPr lang="en-US" altLang="zh-CN" i="1">
              <a:latin typeface="Times New Roman" panose="02020603050405020304" charset="0"/>
              <a:cs typeface="Times New Roman" panose="02020603050405020304" charset="0"/>
            </a:endParaRPr>
          </a:p>
        </p:txBody>
      </p:sp>
      <p:sp>
        <p:nvSpPr>
          <p:cNvPr id="34" name="文本框 33"/>
          <p:cNvSpPr txBox="1"/>
          <p:nvPr>
            <p:custDataLst>
              <p:tags r:id="rId17"/>
            </p:custDataLst>
          </p:nvPr>
        </p:nvSpPr>
        <p:spPr>
          <a:xfrm>
            <a:off x="1995805" y="3660140"/>
            <a:ext cx="280035" cy="368300"/>
          </a:xfrm>
          <a:prstGeom prst="rect">
            <a:avLst/>
          </a:prstGeom>
          <a:noFill/>
        </p:spPr>
        <p:txBody>
          <a:bodyPr wrap="square" rtlCol="0">
            <a:spAutoFit/>
          </a:bodyPr>
          <a:p>
            <a:r>
              <a:rPr lang="en-US" altLang="zh-CN" i="1">
                <a:latin typeface="Times New Roman" panose="02020603050405020304" charset="0"/>
                <a:cs typeface="Times New Roman" panose="02020603050405020304" charset="0"/>
              </a:rPr>
              <a:t>y</a:t>
            </a:r>
            <a:endParaRPr lang="en-US" altLang="zh-CN" i="1">
              <a:latin typeface="Times New Roman" panose="02020603050405020304" charset="0"/>
              <a:cs typeface="Times New Roman" panose="02020603050405020304" charset="0"/>
            </a:endParaRPr>
          </a:p>
        </p:txBody>
      </p:sp>
      <p:sp>
        <p:nvSpPr>
          <p:cNvPr id="35" name="文本框 34"/>
          <p:cNvSpPr txBox="1"/>
          <p:nvPr>
            <p:custDataLst>
              <p:tags r:id="rId18"/>
            </p:custDataLst>
          </p:nvPr>
        </p:nvSpPr>
        <p:spPr>
          <a:xfrm>
            <a:off x="2449830" y="329184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36" name="文本框 35"/>
          <p:cNvSpPr txBox="1"/>
          <p:nvPr>
            <p:custDataLst>
              <p:tags r:id="rId19"/>
            </p:custDataLst>
          </p:nvPr>
        </p:nvSpPr>
        <p:spPr>
          <a:xfrm>
            <a:off x="3528695"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7" name="文本框 36"/>
          <p:cNvSpPr txBox="1"/>
          <p:nvPr>
            <p:custDataLst>
              <p:tags r:id="rId20"/>
            </p:custDataLst>
          </p:nvPr>
        </p:nvSpPr>
        <p:spPr>
          <a:xfrm>
            <a:off x="4657725" y="329184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38" name="文本框 37"/>
          <p:cNvSpPr txBox="1"/>
          <p:nvPr>
            <p:custDataLst>
              <p:tags r:id="rId21"/>
            </p:custDataLst>
          </p:nvPr>
        </p:nvSpPr>
        <p:spPr>
          <a:xfrm>
            <a:off x="2449830"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39" name="文本框 38"/>
          <p:cNvSpPr txBox="1"/>
          <p:nvPr>
            <p:custDataLst>
              <p:tags r:id="rId22"/>
            </p:custDataLst>
          </p:nvPr>
        </p:nvSpPr>
        <p:spPr>
          <a:xfrm>
            <a:off x="3528695" y="4304030"/>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40" name="文本框 39"/>
          <p:cNvSpPr txBox="1"/>
          <p:nvPr>
            <p:custDataLst>
              <p:tags r:id="rId23"/>
            </p:custDataLst>
          </p:nvPr>
        </p:nvSpPr>
        <p:spPr>
          <a:xfrm>
            <a:off x="4657725"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graphicFrame>
        <p:nvGraphicFramePr>
          <p:cNvPr id="41" name="表格 40"/>
          <p:cNvGraphicFramePr/>
          <p:nvPr>
            <p:custDataLst>
              <p:tags r:id="rId24"/>
            </p:custDataLst>
          </p:nvPr>
        </p:nvGraphicFramePr>
        <p:xfrm>
          <a:off x="5669915" y="2404745"/>
          <a:ext cx="2879725" cy="2604940"/>
        </p:xfrm>
        <a:graphic>
          <a:graphicData uri="http://schemas.openxmlformats.org/drawingml/2006/table">
            <a:tbl>
              <a:tblPr firstRow="1" bandRow="1">
                <a:tableStyleId>{5C22544A-7EE6-4342-B048-85BDC9FD1C3A}</a:tableStyleId>
              </a:tblPr>
              <a:tblGrid>
                <a:gridCol w="360045"/>
                <a:gridCol w="1080135"/>
                <a:gridCol w="1079500"/>
                <a:gridCol w="360000"/>
              </a:tblGrid>
              <a:tr h="367030">
                <a:tc>
                  <a:txBody>
                    <a:bodyPr/>
                    <a:p>
                      <a:pPr>
                        <a:buNone/>
                      </a:pPr>
                      <a:endParaRPr lang="zh-CN" altLang="en-US"/>
                    </a:p>
                  </a:txBody>
                  <a:tcPr>
                    <a:lnL>
                      <a:noFill/>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a:noFill/>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a:noFill/>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935355">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w="12700" cmpd="sng">
                      <a:solidFill>
                        <a:schemeClr val="tx1"/>
                      </a:solidFill>
                      <a:prstDash val="solid"/>
                    </a:lnB>
                    <a:noFill/>
                  </a:tcPr>
                </a:tc>
              </a:tr>
              <a:tr h="367200">
                <a:tc>
                  <a:txBody>
                    <a:bodyPr/>
                    <a:p>
                      <a:pPr>
                        <a:buNone/>
                      </a:pPr>
                      <a:endParaRPr lang="zh-CN" altLang="en-US"/>
                    </a:p>
                  </a:txBody>
                  <a:tcPr>
                    <a:lnL>
                      <a:noFill/>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a:noFill/>
                    </a:lnB>
                    <a:noFill/>
                  </a:tcPr>
                </a:tc>
                <a:tc>
                  <a:txBody>
                    <a:bodyPr/>
                    <a:p>
                      <a:pPr>
                        <a:buNone/>
                      </a:pPr>
                      <a:endParaRPr lang="zh-CN" altLang="en-US"/>
                    </a:p>
                  </a:txBody>
                  <a:tcPr>
                    <a:lnL w="12700" cmpd="sng">
                      <a:solidFill>
                        <a:schemeClr val="tx1"/>
                      </a:solidFill>
                      <a:prstDash val="solid"/>
                    </a:lnL>
                    <a:lnR>
                      <a:noFill/>
                    </a:lnR>
                    <a:lnT w="12700" cmpd="sng">
                      <a:solidFill>
                        <a:schemeClr val="tx1"/>
                      </a:solidFill>
                      <a:prstDash val="solid"/>
                    </a:lnT>
                    <a:lnB>
                      <a:noFill/>
                    </a:lnB>
                    <a:noFill/>
                  </a:tcPr>
                </a:tc>
              </a:tr>
            </a:tbl>
          </a:graphicData>
        </a:graphic>
      </p:graphicFrame>
      <p:grpSp>
        <p:nvGrpSpPr>
          <p:cNvPr id="61" name="组合 60"/>
          <p:cNvGrpSpPr/>
          <p:nvPr/>
        </p:nvGrpSpPr>
        <p:grpSpPr>
          <a:xfrm>
            <a:off x="5983605" y="2731135"/>
            <a:ext cx="2252345" cy="1953895"/>
            <a:chOff x="9020" y="4299"/>
            <a:chExt cx="3547" cy="3077"/>
          </a:xfrm>
        </p:grpSpPr>
        <p:sp>
          <p:nvSpPr>
            <p:cNvPr id="43" name="椭圆 42"/>
            <p:cNvSpPr/>
            <p:nvPr>
              <p:custDataLst>
                <p:tags r:id="rId25"/>
              </p:custDataLst>
            </p:nvPr>
          </p:nvSpPr>
          <p:spPr>
            <a:xfrm>
              <a:off x="9020"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custDataLst>
                <p:tags r:id="rId26"/>
              </p:custDataLst>
            </p:nvPr>
          </p:nvSpPr>
          <p:spPr>
            <a:xfrm>
              <a:off x="10719"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椭圆 44"/>
            <p:cNvSpPr/>
            <p:nvPr>
              <p:custDataLst>
                <p:tags r:id="rId27"/>
              </p:custDataLst>
            </p:nvPr>
          </p:nvSpPr>
          <p:spPr>
            <a:xfrm>
              <a:off x="12418" y="4299"/>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椭圆 46"/>
            <p:cNvSpPr/>
            <p:nvPr>
              <p:custDataLst>
                <p:tags r:id="rId28"/>
              </p:custDataLst>
            </p:nvPr>
          </p:nvSpPr>
          <p:spPr>
            <a:xfrm>
              <a:off x="9021"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椭圆 47"/>
            <p:cNvSpPr/>
            <p:nvPr>
              <p:custDataLst>
                <p:tags r:id="rId29"/>
              </p:custDataLst>
            </p:nvPr>
          </p:nvSpPr>
          <p:spPr>
            <a:xfrm>
              <a:off x="10720"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椭圆 48"/>
            <p:cNvSpPr/>
            <p:nvPr>
              <p:custDataLst>
                <p:tags r:id="rId30"/>
              </p:custDataLst>
            </p:nvPr>
          </p:nvSpPr>
          <p:spPr>
            <a:xfrm>
              <a:off x="12419" y="5764"/>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椭圆 50"/>
            <p:cNvSpPr/>
            <p:nvPr>
              <p:custDataLst>
                <p:tags r:id="rId31"/>
              </p:custDataLst>
            </p:nvPr>
          </p:nvSpPr>
          <p:spPr>
            <a:xfrm>
              <a:off x="9023"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椭圆 51"/>
            <p:cNvSpPr/>
            <p:nvPr>
              <p:custDataLst>
                <p:tags r:id="rId32"/>
              </p:custDataLst>
            </p:nvPr>
          </p:nvSpPr>
          <p:spPr>
            <a:xfrm>
              <a:off x="10722"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椭圆 52"/>
            <p:cNvSpPr/>
            <p:nvPr>
              <p:custDataLst>
                <p:tags r:id="rId33"/>
              </p:custDataLst>
            </p:nvPr>
          </p:nvSpPr>
          <p:spPr>
            <a:xfrm>
              <a:off x="12421" y="7230"/>
              <a:ext cx="147" cy="14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2" name="文本框 61"/>
          <p:cNvSpPr txBox="1"/>
          <p:nvPr>
            <p:custDataLst>
              <p:tags r:id="rId34"/>
            </p:custDataLst>
          </p:nvPr>
        </p:nvSpPr>
        <p:spPr>
          <a:xfrm>
            <a:off x="5588000" y="240474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a:t>
            </a:r>
            <a:endParaRPr lang="en-US" altLang="zh-CN">
              <a:latin typeface="Times New Roman" panose="02020603050405020304" charset="0"/>
              <a:cs typeface="Times New Roman" panose="02020603050405020304" charset="0"/>
            </a:endParaRPr>
          </a:p>
        </p:txBody>
      </p:sp>
      <p:sp>
        <p:nvSpPr>
          <p:cNvPr id="63" name="文本框 62"/>
          <p:cNvSpPr txBox="1"/>
          <p:nvPr>
            <p:custDataLst>
              <p:tags r:id="rId35"/>
            </p:custDataLst>
          </p:nvPr>
        </p:nvSpPr>
        <p:spPr>
          <a:xfrm>
            <a:off x="6666865" y="2428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a:t>
            </a:r>
            <a:endParaRPr lang="en-US" altLang="zh-CN">
              <a:latin typeface="Times New Roman" panose="02020603050405020304" charset="0"/>
              <a:cs typeface="Times New Roman" panose="02020603050405020304" charset="0"/>
            </a:endParaRPr>
          </a:p>
        </p:txBody>
      </p:sp>
      <p:sp>
        <p:nvSpPr>
          <p:cNvPr id="64" name="文本框 63"/>
          <p:cNvSpPr txBox="1"/>
          <p:nvPr>
            <p:custDataLst>
              <p:tags r:id="rId36"/>
            </p:custDataLst>
          </p:nvPr>
        </p:nvSpPr>
        <p:spPr>
          <a:xfrm>
            <a:off x="7743825" y="240982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a:t>
            </a:r>
            <a:endParaRPr lang="en-US" altLang="zh-CN">
              <a:latin typeface="Times New Roman" panose="02020603050405020304" charset="0"/>
              <a:cs typeface="Times New Roman" panose="02020603050405020304" charset="0"/>
            </a:endParaRPr>
          </a:p>
        </p:txBody>
      </p:sp>
      <p:sp>
        <p:nvSpPr>
          <p:cNvPr id="65" name="文本框 64"/>
          <p:cNvSpPr txBox="1"/>
          <p:nvPr>
            <p:custDataLst>
              <p:tags r:id="rId37"/>
            </p:custDataLst>
          </p:nvPr>
        </p:nvSpPr>
        <p:spPr>
          <a:xfrm>
            <a:off x="5588000"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(7)</a:t>
            </a:r>
            <a:endParaRPr lang="en-US" altLang="zh-CN">
              <a:latin typeface="Times New Roman" panose="02020603050405020304" charset="0"/>
              <a:cs typeface="Times New Roman" panose="02020603050405020304" charset="0"/>
            </a:endParaRPr>
          </a:p>
        </p:txBody>
      </p:sp>
      <p:sp>
        <p:nvSpPr>
          <p:cNvPr id="66" name="文本框 65"/>
          <p:cNvSpPr txBox="1"/>
          <p:nvPr>
            <p:custDataLst>
              <p:tags r:id="rId38"/>
            </p:custDataLst>
          </p:nvPr>
        </p:nvSpPr>
        <p:spPr>
          <a:xfrm>
            <a:off x="6666865" y="331787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(3)</a:t>
            </a:r>
            <a:endParaRPr lang="en-US" altLang="zh-CN">
              <a:latin typeface="Times New Roman" panose="02020603050405020304" charset="0"/>
              <a:cs typeface="Times New Roman" panose="02020603050405020304" charset="0"/>
            </a:endParaRPr>
          </a:p>
        </p:txBody>
      </p:sp>
      <p:sp>
        <p:nvSpPr>
          <p:cNvPr id="67" name="文本框 66"/>
          <p:cNvSpPr txBox="1"/>
          <p:nvPr>
            <p:custDataLst>
              <p:tags r:id="rId39"/>
            </p:custDataLst>
          </p:nvPr>
        </p:nvSpPr>
        <p:spPr>
          <a:xfrm>
            <a:off x="7743825" y="329882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68" name="文本框 67"/>
          <p:cNvSpPr txBox="1"/>
          <p:nvPr>
            <p:custDataLst>
              <p:tags r:id="rId40"/>
            </p:custDataLst>
          </p:nvPr>
        </p:nvSpPr>
        <p:spPr>
          <a:xfrm>
            <a:off x="5588000" y="425386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69" name="文本框 68"/>
          <p:cNvSpPr txBox="1"/>
          <p:nvPr>
            <p:custDataLst>
              <p:tags r:id="rId41"/>
            </p:custDataLst>
          </p:nvPr>
        </p:nvSpPr>
        <p:spPr>
          <a:xfrm>
            <a:off x="6666865" y="427799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(4)</a:t>
            </a:r>
            <a:endParaRPr lang="en-US" altLang="zh-CN">
              <a:latin typeface="Times New Roman" panose="02020603050405020304" charset="0"/>
              <a:cs typeface="Times New Roman" panose="02020603050405020304" charset="0"/>
            </a:endParaRPr>
          </a:p>
        </p:txBody>
      </p:sp>
      <p:sp>
        <p:nvSpPr>
          <p:cNvPr id="70" name="文本框 69"/>
          <p:cNvSpPr txBox="1"/>
          <p:nvPr>
            <p:custDataLst>
              <p:tags r:id="rId42"/>
            </p:custDataLst>
          </p:nvPr>
        </p:nvSpPr>
        <p:spPr>
          <a:xfrm>
            <a:off x="7743825" y="4258945"/>
            <a:ext cx="39751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p:txBody>
      </p:sp>
      <p:sp>
        <p:nvSpPr>
          <p:cNvPr id="2" name="文本框 1"/>
          <p:cNvSpPr txBox="1"/>
          <p:nvPr/>
        </p:nvSpPr>
        <p:spPr>
          <a:xfrm>
            <a:off x="1384935" y="1266190"/>
            <a:ext cx="6096000" cy="491490"/>
          </a:xfrm>
          <a:prstGeom prst="rect">
            <a:avLst/>
          </a:prstGeom>
          <a:noFill/>
        </p:spPr>
        <p:txBody>
          <a:bodyPr wrap="square" rtlCol="0" anchor="t">
            <a:spAutoFit/>
          </a:bodyPr>
          <a:p>
            <a:r>
              <a:rPr lang="zh-CN" altLang="en-US" sz="2600">
                <a:solidFill>
                  <a:srgbClr val="000000"/>
                </a:solidFill>
                <a:latin typeface="微软雅黑" panose="020B0503020204020204" charset="-122"/>
                <a:ea typeface="微软雅黑" panose="020B0503020204020204" charset="-122"/>
                <a:sym typeface="+mn-ea"/>
              </a:rPr>
              <a:t>计算下图从上到下搜索的路径</a:t>
            </a:r>
            <a:endParaRPr lang="zh-CN" altLang="en-US" sz="2600">
              <a:solidFill>
                <a:srgbClr val="000000"/>
              </a:solidFill>
              <a:latin typeface="微软雅黑" panose="020B0503020204020204" charset="-122"/>
              <a:ea typeface="微软雅黑" panose="020B0503020204020204" charset="-122"/>
              <a:sym typeface="+mn-ea"/>
            </a:endParaRPr>
          </a:p>
        </p:txBody>
      </p:sp>
      <p:cxnSp>
        <p:nvCxnSpPr>
          <p:cNvPr id="3" name="直接连接符 2"/>
          <p:cNvCxnSpPr/>
          <p:nvPr/>
        </p:nvCxnSpPr>
        <p:spPr>
          <a:xfrm>
            <a:off x="4500245" y="2420620"/>
            <a:ext cx="6350" cy="772795"/>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4500245" y="3193415"/>
            <a:ext cx="2052955" cy="5715"/>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a:off x="6556375" y="3179445"/>
            <a:ext cx="2540" cy="972185"/>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flipH="1">
            <a:off x="5549900" y="4157980"/>
            <a:ext cx="1021715" cy="7620"/>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flipH="1">
            <a:off x="5551170" y="4151630"/>
            <a:ext cx="6350" cy="1100455"/>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7" name="矩形 311297"/>
          <p:cNvSpPr/>
          <p:nvPr/>
        </p:nvSpPr>
        <p:spPr>
          <a:xfrm>
            <a:off x="1511300" y="323850"/>
            <a:ext cx="252095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4.1  </a:t>
            </a:r>
            <a:r>
              <a:rPr lang="zh-CN" altLang="en-US" sz="2800" b="1">
                <a:latin typeface="微软雅黑" panose="020B0503020204020204" charset="-122"/>
                <a:ea typeface="微软雅黑" panose="020B0503020204020204" charset="-122"/>
              </a:rPr>
              <a:t>轮廓搜索</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1299" name="矩形 311299"/>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动态规划</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723265" y="1626870"/>
            <a:ext cx="10683875" cy="3138170"/>
          </a:xfrm>
          <a:prstGeom prst="rect">
            <a:avLst/>
          </a:prstGeom>
          <a:noFill/>
        </p:spPr>
        <p:txBody>
          <a:bodyPr wrap="square" rtlCol="0">
            <a:spAutoFit/>
          </a:bodyPr>
          <a:p>
            <a:pPr indent="0" fontAlgn="auto">
              <a:lnSpc>
                <a:spcPct val="150000"/>
              </a:lnSpc>
              <a:spcAft>
                <a:spcPts val="0"/>
              </a:spcAft>
            </a:pPr>
            <a:r>
              <a:rPr lang="zh-CN" altLang="en-US" sz="2000"/>
              <a:t>求得最小代价的计算量非常大，很多时候只需要求得亚最优解即可，因此采用一种启发性的知识减少搜索量，该方法成为动态规划。</a:t>
            </a:r>
            <a:endParaRPr lang="zh-CN" altLang="en-US" sz="2000"/>
          </a:p>
          <a:p>
            <a:pPr indent="0" fontAlgn="auto">
              <a:lnSpc>
                <a:spcPct val="150000"/>
              </a:lnSpc>
            </a:pPr>
            <a:endParaRPr lang="zh-CN" altLang="en-US" sz="2000"/>
          </a:p>
          <a:p>
            <a:pPr indent="0" fontAlgn="auto">
              <a:lnSpc>
                <a:spcPct val="150000"/>
              </a:lnSpc>
              <a:spcBef>
                <a:spcPts val="0"/>
              </a:spcBef>
              <a:spcAft>
                <a:spcPts val="0"/>
              </a:spcAft>
            </a:pPr>
            <a:r>
              <a:rPr lang="zh-CN" altLang="en-US" sz="2400">
                <a:latin typeface="Times New Roman" panose="02020603050405020304" charset="0"/>
                <a:cs typeface="Times New Roman" panose="02020603050405020304" charset="0"/>
              </a:rPr>
              <a:t>令</a:t>
            </a:r>
            <a:r>
              <a:rPr lang="en-US" altLang="zh-CN" sz="2400" i="1">
                <a:latin typeface="Times New Roman" panose="02020603050405020304" charset="0"/>
                <a:cs typeface="Times New Roman" panose="02020603050405020304" charset="0"/>
              </a:rPr>
              <a:t>r</a:t>
            </a:r>
            <a:r>
              <a:rPr lang="en-US" altLang="zh-CN" sz="2400">
                <a:latin typeface="Times New Roman" panose="02020603050405020304" charset="0"/>
                <a:cs typeface="Times New Roman" panose="02020603050405020304" charset="0"/>
              </a:rPr>
              <a:t>(</a:t>
            </a:r>
            <a:r>
              <a:rPr lang="en-US" altLang="zh-CN" sz="2400" i="1">
                <a:latin typeface="Times New Roman" panose="02020603050405020304" charset="0"/>
                <a:cs typeface="Times New Roman" panose="02020603050405020304" charset="0"/>
              </a:rPr>
              <a:t>n</a:t>
            </a:r>
            <a:r>
              <a:rPr lang="en-US" altLang="zh-CN" sz="2400">
                <a:latin typeface="Times New Roman" panose="02020603050405020304" charset="0"/>
                <a:cs typeface="Times New Roman" panose="02020603050405020304" charset="0"/>
              </a:rPr>
              <a:t>)</a:t>
            </a:r>
            <a:r>
              <a:rPr lang="zh-CN" altLang="en-US" sz="2400">
                <a:latin typeface="Times New Roman" panose="02020603050405020304" charset="0"/>
                <a:cs typeface="Times New Roman" panose="02020603050405020304" charset="0"/>
              </a:rPr>
              <a:t>为从起始点</a:t>
            </a:r>
            <a:r>
              <a:rPr lang="en-US" altLang="zh-CN" sz="2400" i="1">
                <a:solidFill>
                  <a:srgbClr val="FF0000"/>
                </a:solidFill>
                <a:latin typeface="Times New Roman" panose="02020603050405020304" charset="0"/>
                <a:cs typeface="Times New Roman" panose="02020603050405020304" charset="0"/>
              </a:rPr>
              <a:t>s</a:t>
            </a:r>
            <a:r>
              <a:rPr lang="zh-CN" altLang="en-US" sz="2400">
                <a:latin typeface="Times New Roman" panose="02020603050405020304" charset="0"/>
                <a:cs typeface="Times New Roman" panose="02020603050405020304" charset="0"/>
              </a:rPr>
              <a:t>出发经过顶点</a:t>
            </a:r>
            <a:r>
              <a:rPr lang="en-US" altLang="zh-CN" sz="2400" i="1">
                <a:solidFill>
                  <a:srgbClr val="FF0000"/>
                </a:solidFill>
                <a:latin typeface="Times New Roman" panose="02020603050405020304" charset="0"/>
                <a:cs typeface="Times New Roman" panose="02020603050405020304" charset="0"/>
              </a:rPr>
              <a:t>n</a:t>
            </a:r>
            <a:r>
              <a:rPr lang="zh-CN" altLang="en-US" sz="2400">
                <a:latin typeface="Times New Roman" panose="02020603050405020304" charset="0"/>
                <a:cs typeface="Times New Roman" panose="02020603050405020304" charset="0"/>
              </a:rPr>
              <a:t>到达</a:t>
            </a:r>
            <a:r>
              <a:rPr lang="zh-CN" altLang="en-US" sz="2400">
                <a:solidFill>
                  <a:srgbClr val="FF0000"/>
                </a:solidFill>
                <a:latin typeface="Times New Roman" panose="02020603050405020304" charset="0"/>
                <a:cs typeface="Times New Roman" panose="02020603050405020304" charset="0"/>
              </a:rPr>
              <a:t>目标点</a:t>
            </a:r>
            <a:r>
              <a:rPr lang="zh-CN" altLang="en-US" sz="2400">
                <a:latin typeface="Times New Roman" panose="02020603050405020304" charset="0"/>
                <a:cs typeface="Times New Roman" panose="02020603050405020304" charset="0"/>
              </a:rPr>
              <a:t>的最小代价通路的估计代价，</a:t>
            </a:r>
            <a:endParaRPr lang="zh-CN" altLang="en-US" sz="2400">
              <a:latin typeface="Times New Roman" panose="02020603050405020304" charset="0"/>
              <a:cs typeface="Times New Roman" panose="02020603050405020304" charset="0"/>
            </a:endParaRPr>
          </a:p>
          <a:p>
            <a:pPr indent="0" fontAlgn="auto">
              <a:lnSpc>
                <a:spcPct val="150000"/>
              </a:lnSpc>
              <a:spcBef>
                <a:spcPts val="0"/>
              </a:spcBef>
              <a:spcAft>
                <a:spcPts val="0"/>
              </a:spcAft>
            </a:pPr>
            <a:r>
              <a:rPr lang="zh-CN" altLang="en-US" sz="2400">
                <a:latin typeface="Times New Roman" panose="02020603050405020304" charset="0"/>
                <a:cs typeface="Times New Roman" panose="02020603050405020304" charset="0"/>
              </a:rPr>
              <a:t>其中</a:t>
            </a:r>
            <a:r>
              <a:rPr lang="en-US" altLang="zh-CN" sz="2400" i="1">
                <a:solidFill>
                  <a:srgbClr val="FF0000"/>
                </a:solidFill>
                <a:latin typeface="Times New Roman" panose="02020603050405020304" charset="0"/>
                <a:cs typeface="Times New Roman" panose="02020603050405020304" charset="0"/>
              </a:rPr>
              <a:t>s</a:t>
            </a:r>
            <a:r>
              <a:rPr lang="zh-CN" altLang="en-US" sz="2400">
                <a:latin typeface="Times New Roman" panose="02020603050405020304" charset="0"/>
                <a:cs typeface="Times New Roman" panose="02020603050405020304" charset="0"/>
              </a:rPr>
              <a:t>到达</a:t>
            </a:r>
            <a:r>
              <a:rPr lang="en-US" altLang="zh-CN" sz="2400" i="1">
                <a:solidFill>
                  <a:srgbClr val="FF0000"/>
                </a:solidFill>
                <a:latin typeface="Times New Roman" panose="02020603050405020304" charset="0"/>
                <a:cs typeface="Times New Roman" panose="02020603050405020304" charset="0"/>
              </a:rPr>
              <a:t>n</a:t>
            </a:r>
            <a:r>
              <a:rPr lang="zh-CN" altLang="en-US" sz="2400">
                <a:latin typeface="Times New Roman" panose="02020603050405020304" charset="0"/>
                <a:cs typeface="Times New Roman" panose="02020603050405020304" charset="0"/>
              </a:rPr>
              <a:t>的最小代价通路记为</a:t>
            </a:r>
            <a:r>
              <a:rPr lang="en-US" altLang="zh-CN" sz="2400" i="1">
                <a:solidFill>
                  <a:srgbClr val="FF0000"/>
                </a:solidFill>
                <a:latin typeface="Times New Roman" panose="02020603050405020304" charset="0"/>
                <a:cs typeface="Times New Roman" panose="02020603050405020304" charset="0"/>
              </a:rPr>
              <a:t>g(n)</a:t>
            </a:r>
            <a:r>
              <a:rPr lang="zh-CN" altLang="en-US" sz="2400">
                <a:latin typeface="Times New Roman" panose="02020603050405020304" charset="0"/>
                <a:cs typeface="Times New Roman" panose="02020603050405020304" charset="0"/>
              </a:rPr>
              <a:t>，从顶点</a:t>
            </a:r>
            <a:r>
              <a:rPr lang="en-US" altLang="zh-CN" sz="2400" i="1">
                <a:solidFill>
                  <a:srgbClr val="FF0000"/>
                </a:solidFill>
                <a:latin typeface="Times New Roman" panose="02020603050405020304" charset="0"/>
                <a:cs typeface="Times New Roman" panose="02020603050405020304" charset="0"/>
              </a:rPr>
              <a:t>n</a:t>
            </a:r>
            <a:r>
              <a:rPr lang="zh-CN" altLang="en-US" sz="2400">
                <a:latin typeface="Times New Roman" panose="02020603050405020304" charset="0"/>
                <a:cs typeface="Times New Roman" panose="02020603050405020304" charset="0"/>
              </a:rPr>
              <a:t>到达</a:t>
            </a:r>
            <a:r>
              <a:rPr lang="zh-CN" altLang="en-US" sz="2400">
                <a:solidFill>
                  <a:srgbClr val="FF0000"/>
                </a:solidFill>
                <a:latin typeface="Times New Roman" panose="02020603050405020304" charset="0"/>
                <a:cs typeface="Times New Roman" panose="02020603050405020304" charset="0"/>
              </a:rPr>
              <a:t>目标点</a:t>
            </a:r>
            <a:r>
              <a:rPr lang="zh-CN" altLang="en-US" sz="2400">
                <a:latin typeface="Times New Roman" panose="02020603050405020304" charset="0"/>
                <a:cs typeface="Times New Roman" panose="02020603050405020304" charset="0"/>
              </a:rPr>
              <a:t>的最小代价是</a:t>
            </a:r>
            <a:r>
              <a:rPr lang="en-US" altLang="zh-CN" sz="2400" i="1">
                <a:solidFill>
                  <a:srgbClr val="FF0000"/>
                </a:solidFill>
                <a:latin typeface="Times New Roman" panose="02020603050405020304" charset="0"/>
                <a:cs typeface="Times New Roman" panose="02020603050405020304" charset="0"/>
              </a:rPr>
              <a:t>h(n)</a:t>
            </a:r>
            <a:endParaRPr lang="en-US" altLang="zh-CN" sz="2400">
              <a:latin typeface="Times New Roman" panose="02020603050405020304" charset="0"/>
              <a:cs typeface="Times New Roman" panose="02020603050405020304" charset="0"/>
            </a:endParaRPr>
          </a:p>
          <a:p>
            <a:pPr indent="0" fontAlgn="auto">
              <a:lnSpc>
                <a:spcPct val="150000"/>
              </a:lnSpc>
              <a:spcBef>
                <a:spcPts val="0"/>
              </a:spcBef>
            </a:pPr>
            <a:r>
              <a:rPr lang="zh-CN" altLang="en-US" sz="2400">
                <a:latin typeface="Times New Roman" panose="02020603050405020304" charset="0"/>
                <a:cs typeface="Times New Roman" panose="02020603050405020304" charset="0"/>
              </a:rPr>
              <a:t>那么从</a:t>
            </a:r>
            <a:r>
              <a:rPr lang="en-US" altLang="zh-CN" sz="2400" i="1">
                <a:solidFill>
                  <a:srgbClr val="FF0000"/>
                </a:solidFill>
                <a:latin typeface="Times New Roman" panose="02020603050405020304" charset="0"/>
                <a:cs typeface="Times New Roman" panose="02020603050405020304" charset="0"/>
              </a:rPr>
              <a:t>s</a:t>
            </a:r>
            <a:r>
              <a:rPr lang="zh-CN" altLang="en-US" sz="2400">
                <a:latin typeface="Times New Roman" panose="02020603050405020304" charset="0"/>
                <a:cs typeface="Times New Roman" panose="02020603050405020304" charset="0"/>
              </a:rPr>
              <a:t>点到</a:t>
            </a:r>
            <a:r>
              <a:rPr lang="zh-CN" altLang="en-US" sz="2400">
                <a:solidFill>
                  <a:srgbClr val="FF0000"/>
                </a:solidFill>
                <a:latin typeface="Times New Roman" panose="02020603050405020304" charset="0"/>
                <a:cs typeface="Times New Roman" panose="02020603050405020304" charset="0"/>
              </a:rPr>
              <a:t>目标点</a:t>
            </a:r>
            <a:r>
              <a:rPr lang="zh-CN" altLang="en-US" sz="2400">
                <a:latin typeface="Times New Roman" panose="02020603050405020304" charset="0"/>
                <a:cs typeface="Times New Roman" panose="02020603050405020304" charset="0"/>
              </a:rPr>
              <a:t>的总代价就是</a:t>
            </a:r>
            <a:r>
              <a:rPr lang="en-US" altLang="zh-CN" sz="2400" i="1">
                <a:solidFill>
                  <a:srgbClr val="FF0000"/>
                </a:solidFill>
                <a:latin typeface="Times New Roman" panose="02020603050405020304" charset="0"/>
                <a:cs typeface="Times New Roman" panose="02020603050405020304" charset="0"/>
                <a:sym typeface="+mn-ea"/>
              </a:rPr>
              <a:t>g(n)</a:t>
            </a:r>
            <a:r>
              <a:rPr lang="zh-CN" altLang="en-US" sz="2400">
                <a:latin typeface="Times New Roman" panose="02020603050405020304" charset="0"/>
                <a:cs typeface="Times New Roman" panose="02020603050405020304" charset="0"/>
              </a:rPr>
              <a:t>和</a:t>
            </a:r>
            <a:r>
              <a:rPr lang="en-US" altLang="zh-CN" sz="2400" i="1">
                <a:solidFill>
                  <a:srgbClr val="FF0000"/>
                </a:solidFill>
                <a:latin typeface="Times New Roman" panose="02020603050405020304" charset="0"/>
                <a:cs typeface="Times New Roman" panose="02020603050405020304" charset="0"/>
                <a:sym typeface="+mn-ea"/>
              </a:rPr>
              <a:t>h(n)</a:t>
            </a:r>
            <a:r>
              <a:rPr lang="zh-CN" altLang="en-US" sz="2400">
                <a:latin typeface="Times New Roman" panose="02020603050405020304" charset="0"/>
                <a:cs typeface="Times New Roman" panose="02020603050405020304" charset="0"/>
              </a:rPr>
              <a:t>的和</a:t>
            </a:r>
            <a:endParaRPr lang="zh-CN" altLang="en-US" sz="2400">
              <a:latin typeface="Times New Roman" panose="02020603050405020304" charset="0"/>
              <a:cs typeface="Times New Roman" panose="02020603050405020304" charset="0"/>
            </a:endParaRPr>
          </a:p>
        </p:txBody>
      </p:sp>
      <p:graphicFrame>
        <p:nvGraphicFramePr>
          <p:cNvPr id="3" name="对象 2">
            <a:hlinkClick r:id="" action="ppaction://ole?verb="/>
          </p:cNvPr>
          <p:cNvGraphicFramePr>
            <a:graphicFrameLocks noChangeAspect="1"/>
          </p:cNvGraphicFramePr>
          <p:nvPr/>
        </p:nvGraphicFramePr>
        <p:xfrm>
          <a:off x="3244850" y="5088255"/>
          <a:ext cx="4990465" cy="897255"/>
        </p:xfrm>
        <a:graphic>
          <a:graphicData uri="http://schemas.openxmlformats.org/presentationml/2006/ole">
            <mc:AlternateContent xmlns:mc="http://schemas.openxmlformats.org/markup-compatibility/2006">
              <mc:Choice xmlns:v="urn:schemas-microsoft-com:vml" Requires="v">
                <p:oleObj spid="_x0000_s6145" name="" r:id="rId1" imgW="1130300" imgH="203200" progId="Equation.KSEE3">
                  <p:embed/>
                </p:oleObj>
              </mc:Choice>
              <mc:Fallback>
                <p:oleObj name="" r:id="rId1" imgW="1130300" imgH="203200" progId="Equation.KSEE3">
                  <p:embed/>
                  <p:pic>
                    <p:nvPicPr>
                      <p:cNvPr id="0" name="图片 6144"/>
                      <p:cNvPicPr/>
                      <p:nvPr/>
                    </p:nvPicPr>
                    <p:blipFill>
                      <a:blip r:embed="rId2"/>
                      <a:stretch>
                        <a:fillRect/>
                      </a:stretch>
                    </p:blipFill>
                    <p:spPr>
                      <a:xfrm>
                        <a:off x="3244850" y="5088255"/>
                        <a:ext cx="4990465" cy="89725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69" name="矩形 314369"/>
          <p:cNvSpPr/>
          <p:nvPr/>
        </p:nvSpPr>
        <p:spPr>
          <a:xfrm>
            <a:off x="1511300" y="323850"/>
            <a:ext cx="306070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4.2  </a:t>
            </a:r>
            <a:r>
              <a:rPr lang="zh-CN" altLang="en-US" sz="2800" b="1">
                <a:latin typeface="微软雅黑" panose="020B0503020204020204" charset="-122"/>
                <a:ea typeface="微软雅黑" panose="020B0503020204020204" charset="-122"/>
              </a:rPr>
              <a:t>主动轮廓模型</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4370" name="矩形 314370"/>
          <p:cNvSpPr/>
          <p:nvPr/>
        </p:nvSpPr>
        <p:spPr>
          <a:xfrm>
            <a:off x="529590" y="2012315"/>
            <a:ext cx="11066145" cy="1529715"/>
          </a:xfrm>
          <a:prstGeom prst="rect">
            <a:avLst/>
          </a:prstGeom>
          <a:noFill/>
          <a:ln w="9525">
            <a:noFill/>
          </a:ln>
        </p:spPr>
        <p:txBody>
          <a:bodyPr wrap="square" anchor="t" anchorCtr="0">
            <a:spAutoFit/>
          </a:bodyPr>
          <a:p>
            <a:pPr defTabSz="647700">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主动轮廓也是一种基于边缘信息的目标分割方法，首先围绕目标初始化一个封闭的曲线，然后进一步改变曲线的形状逐渐逼近真是的轮廓，在这个过程当中曲线逐渐拟合真正的轮廓。主动轮廓也叫蛇轮廓。</a:t>
            </a:r>
            <a:endParaRPr lang="zh-CN" altLang="en-US" sz="2400">
              <a:latin typeface="微软雅黑" panose="020B0503020204020204" charset="-122"/>
              <a:ea typeface="微软雅黑" panose="020B0503020204020204" charset="-122"/>
            </a:endParaRPr>
          </a:p>
        </p:txBody>
      </p:sp>
      <p:sp>
        <p:nvSpPr>
          <p:cNvPr id="314371" name="矩形 314371"/>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主动轮廓</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69" name="矩形 314369"/>
          <p:cNvSpPr/>
          <p:nvPr/>
        </p:nvSpPr>
        <p:spPr>
          <a:xfrm>
            <a:off x="1511300" y="323850"/>
            <a:ext cx="306070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4.2  </a:t>
            </a:r>
            <a:r>
              <a:rPr lang="zh-CN" altLang="en-US" sz="2800" b="1">
                <a:latin typeface="微软雅黑" panose="020B0503020204020204" charset="-122"/>
                <a:ea typeface="微软雅黑" panose="020B0503020204020204" charset="-122"/>
              </a:rPr>
              <a:t>主动轮廓模型</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4370" name="矩形 314370"/>
          <p:cNvSpPr/>
          <p:nvPr/>
        </p:nvSpPr>
        <p:spPr>
          <a:xfrm>
            <a:off x="1418590" y="1945005"/>
            <a:ext cx="4677410" cy="570865"/>
          </a:xfrm>
          <a:prstGeom prst="rect">
            <a:avLst/>
          </a:prstGeom>
          <a:noFill/>
          <a:ln w="9525">
            <a:noFill/>
          </a:ln>
        </p:spPr>
        <p:txBody>
          <a:bodyPr wrap="square" anchor="t" anchorCtr="0">
            <a:spAutoFit/>
          </a:bodyPr>
          <a:p>
            <a:pPr defTabSz="647700">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图像上一组排序的点的集合</a:t>
            </a:r>
            <a:endParaRPr lang="zh-CN" altLang="en-US" sz="2400">
              <a:latin typeface="微软雅黑" panose="020B0503020204020204" charset="-122"/>
              <a:ea typeface="微软雅黑" panose="020B0503020204020204" charset="-122"/>
            </a:endParaRPr>
          </a:p>
        </p:txBody>
      </p:sp>
      <p:sp>
        <p:nvSpPr>
          <p:cNvPr id="314371" name="矩形 314371"/>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主动轮廓</a:t>
            </a:r>
            <a:endParaRPr lang="zh-CN" altLang="en-US" sz="2400" b="1">
              <a:latin typeface="微软雅黑" panose="020B0503020204020204" charset="-122"/>
              <a:ea typeface="微软雅黑" panose="020B0503020204020204" charset="-122"/>
            </a:endParaRPr>
          </a:p>
        </p:txBody>
      </p:sp>
      <p:pic>
        <p:nvPicPr>
          <p:cNvPr id="314372" name="图片 314372" descr="C:/Users/Administrator/AppData/Roaming/Yozo_Office/Temp/fc/1629533961615188032025/计算机视觉教程（第3版）PPT第05章.pptx/ppt/media/image12.png"/>
          <p:cNvPicPr/>
          <p:nvPr/>
        </p:nvPicPr>
        <p:blipFill>
          <a:blip r:embed="rId1"/>
          <a:stretch>
            <a:fillRect/>
          </a:stretch>
        </p:blipFill>
        <p:spPr>
          <a:xfrm>
            <a:off x="2700338" y="2589530"/>
            <a:ext cx="2305050" cy="539750"/>
          </a:xfrm>
          <a:prstGeom prst="rect">
            <a:avLst/>
          </a:prstGeom>
          <a:noFill/>
          <a:ln w="9525">
            <a:noFill/>
          </a:ln>
        </p:spPr>
      </p:pic>
      <p:pic>
        <p:nvPicPr>
          <p:cNvPr id="314373" name="图片 314373" descr="C:/Users/Administrator/AppData/Roaming/Yozo_Office/Temp/fc/1629533961615188032025/计算机视觉教程（第3版）PPT第05章.pptx/ppt/media/image13.png"/>
          <p:cNvPicPr/>
          <p:nvPr/>
        </p:nvPicPr>
        <p:blipFill>
          <a:blip r:embed="rId2"/>
          <a:stretch>
            <a:fillRect/>
          </a:stretch>
        </p:blipFill>
        <p:spPr>
          <a:xfrm>
            <a:off x="2107248" y="3940493"/>
            <a:ext cx="3600450" cy="504825"/>
          </a:xfrm>
          <a:prstGeom prst="rect">
            <a:avLst/>
          </a:prstGeom>
          <a:noFill/>
          <a:ln w="9525">
            <a:noFill/>
          </a:ln>
        </p:spPr>
      </p:pic>
      <p:pic>
        <p:nvPicPr>
          <p:cNvPr id="314374" name="图片 314374" descr="C:/Users/Administrator/AppData/Roaming/Yozo_Office/Temp/fc/1629533961615188032025/计算机视觉教程（第3版）PPT第05章.pptx/ppt/media/image14.png"/>
          <p:cNvPicPr/>
          <p:nvPr/>
        </p:nvPicPr>
        <p:blipFill>
          <a:blip r:embed="rId3"/>
          <a:stretch>
            <a:fillRect/>
          </a:stretch>
        </p:blipFill>
        <p:spPr>
          <a:xfrm>
            <a:off x="1418273" y="5501958"/>
            <a:ext cx="3889375" cy="503237"/>
          </a:xfrm>
          <a:prstGeom prst="rect">
            <a:avLst/>
          </a:prstGeom>
          <a:noFill/>
          <a:ln w="9525">
            <a:noFill/>
          </a:ln>
        </p:spPr>
      </p:pic>
      <p:pic>
        <p:nvPicPr>
          <p:cNvPr id="314375" name="图片 314375" descr="C:/Users/Administrator/AppData/Roaming/Yozo_Office/Temp/fc/1629533961615188032025/计算机视觉教程（第3版）PPT第05章.pptx/ppt/media/image15.emf"/>
          <p:cNvPicPr/>
          <p:nvPr/>
        </p:nvPicPr>
        <p:blipFill>
          <a:blip r:embed="rId4"/>
          <a:stretch>
            <a:fillRect/>
          </a:stretch>
        </p:blipFill>
        <p:spPr>
          <a:xfrm>
            <a:off x="6480175" y="1800225"/>
            <a:ext cx="4824413" cy="4500563"/>
          </a:xfrm>
          <a:prstGeom prst="rect">
            <a:avLst/>
          </a:prstGeom>
          <a:noFill/>
          <a:ln w="9525">
            <a:noFill/>
          </a:ln>
        </p:spPr>
      </p:pic>
      <p:sp>
        <p:nvSpPr>
          <p:cNvPr id="2" name="矩形 314370"/>
          <p:cNvSpPr/>
          <p:nvPr>
            <p:custDataLst>
              <p:tags r:id="rId5"/>
            </p:custDataLst>
          </p:nvPr>
        </p:nvSpPr>
        <p:spPr>
          <a:xfrm>
            <a:off x="1511300" y="3275330"/>
            <a:ext cx="4677410" cy="570865"/>
          </a:xfrm>
          <a:prstGeom prst="rect">
            <a:avLst/>
          </a:prstGeom>
          <a:noFill/>
          <a:ln w="9525">
            <a:noFill/>
          </a:ln>
        </p:spPr>
        <p:txBody>
          <a:bodyPr wrap="square" anchor="t" anchorCtr="0">
            <a:spAutoFit/>
          </a:bodyPr>
          <a:p>
            <a:pPr defTabSz="647700">
              <a:lnSpc>
                <a:spcPct val="130000"/>
              </a:lnSpc>
              <a:spcBef>
                <a:spcPts val="600"/>
              </a:spcBef>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每个点可以表示为</a:t>
            </a:r>
            <a:endParaRPr lang="zh-CN" altLang="en-US" sz="2400">
              <a:latin typeface="微软雅黑" panose="020B0503020204020204" charset="-122"/>
              <a:ea typeface="微软雅黑" panose="020B0503020204020204" charset="-122"/>
            </a:endParaRPr>
          </a:p>
        </p:txBody>
      </p:sp>
      <p:sp>
        <p:nvSpPr>
          <p:cNvPr id="3" name="矩形 314370"/>
          <p:cNvSpPr/>
          <p:nvPr>
            <p:custDataLst>
              <p:tags r:id="rId6"/>
            </p:custDataLst>
          </p:nvPr>
        </p:nvSpPr>
        <p:spPr>
          <a:xfrm>
            <a:off x="614045" y="4760595"/>
            <a:ext cx="5692775" cy="570865"/>
          </a:xfrm>
          <a:prstGeom prst="rect">
            <a:avLst/>
          </a:prstGeom>
          <a:noFill/>
          <a:ln w="9525">
            <a:noFill/>
          </a:ln>
        </p:spPr>
        <p:txBody>
          <a:bodyPr wrap="square" anchor="t" anchorCtr="0">
            <a:spAutoFit/>
          </a:bodyPr>
          <a:p>
            <a:pPr defTabSz="647700">
              <a:lnSpc>
                <a:spcPct val="130000"/>
              </a:lnSpc>
              <a:spcBef>
                <a:spcPts val="600"/>
              </a:spcBef>
              <a:spcAft>
                <a:spcPts val="0"/>
              </a:spcAft>
            </a:pPr>
            <a:r>
              <a:rPr lang="zh-CN" altLang="en-US" sz="2400">
                <a:latin typeface="微软雅黑" panose="020B0503020204020204" charset="-122"/>
                <a:ea typeface="微软雅黑" panose="020B0503020204020204" charset="-122"/>
              </a:rPr>
              <a:t>通过求解最小能量迭代逼近目标轮廓</a:t>
            </a:r>
            <a:endParaRPr lang="zh-CN" altLang="en-US" sz="2400">
              <a:latin typeface="微软雅黑" panose="020B0503020204020204" charset="-122"/>
              <a:ea typeface="微软雅黑" panose="020B0503020204020204" charset="-122"/>
            </a:endParaRPr>
          </a:p>
        </p:txBody>
      </p:sp>
      <p:sp>
        <p:nvSpPr>
          <p:cNvPr id="4" name="文本框 3"/>
          <p:cNvSpPr txBox="1"/>
          <p:nvPr/>
        </p:nvSpPr>
        <p:spPr>
          <a:xfrm>
            <a:off x="1798955" y="6391910"/>
            <a:ext cx="1533525" cy="368300"/>
          </a:xfrm>
          <a:prstGeom prst="rect">
            <a:avLst/>
          </a:prstGeom>
          <a:noFill/>
        </p:spPr>
        <p:txBody>
          <a:bodyPr wrap="square" rtlCol="0">
            <a:spAutoFit/>
          </a:bodyPr>
          <a:p>
            <a:pPr>
              <a:spcAft>
                <a:spcPts val="0"/>
              </a:spcAft>
            </a:pPr>
            <a:r>
              <a:rPr lang="zh-CN" altLang="en-US"/>
              <a:t>内部能量</a:t>
            </a:r>
            <a:endParaRPr lang="zh-CN" altLang="en-US"/>
          </a:p>
        </p:txBody>
      </p:sp>
      <p:sp>
        <p:nvSpPr>
          <p:cNvPr id="5" name="文本框 4"/>
          <p:cNvSpPr txBox="1"/>
          <p:nvPr>
            <p:custDataLst>
              <p:tags r:id="rId7"/>
            </p:custDataLst>
          </p:nvPr>
        </p:nvSpPr>
        <p:spPr>
          <a:xfrm>
            <a:off x="4491355" y="6391910"/>
            <a:ext cx="1533525" cy="368300"/>
          </a:xfrm>
          <a:prstGeom prst="rect">
            <a:avLst/>
          </a:prstGeom>
          <a:noFill/>
        </p:spPr>
        <p:txBody>
          <a:bodyPr wrap="square" rtlCol="0">
            <a:spAutoFit/>
          </a:bodyPr>
          <a:p>
            <a:pPr>
              <a:spcAft>
                <a:spcPts val="0"/>
              </a:spcAft>
            </a:pPr>
            <a:r>
              <a:rPr lang="zh-CN" altLang="en-US"/>
              <a:t>外部能量</a:t>
            </a:r>
            <a:endParaRPr lang="zh-CN" altLang="en-US"/>
          </a:p>
        </p:txBody>
      </p:sp>
      <p:cxnSp>
        <p:nvCxnSpPr>
          <p:cNvPr id="6" name="直接箭头连接符 5"/>
          <p:cNvCxnSpPr/>
          <p:nvPr/>
        </p:nvCxnSpPr>
        <p:spPr>
          <a:xfrm flipH="1">
            <a:off x="2645410" y="6019165"/>
            <a:ext cx="338455" cy="3130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a:off x="4660265" y="6010910"/>
            <a:ext cx="254000" cy="36385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flipV="1">
            <a:off x="8233410" y="1709420"/>
            <a:ext cx="914400" cy="169354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7175500" y="1260475"/>
            <a:ext cx="2413000" cy="368300"/>
          </a:xfrm>
          <a:prstGeom prst="rect">
            <a:avLst/>
          </a:prstGeom>
          <a:noFill/>
        </p:spPr>
        <p:txBody>
          <a:bodyPr wrap="square" rtlCol="0">
            <a:spAutoFit/>
          </a:bodyPr>
          <a:p>
            <a:pPr>
              <a:spcAft>
                <a:spcPts val="0"/>
              </a:spcAft>
            </a:pPr>
            <a:r>
              <a:rPr lang="zh-CN" altLang="en-US"/>
              <a:t>邻域内最大梯度像素</a:t>
            </a:r>
            <a:endParaRPr lang="zh-CN" altLang="en-US"/>
          </a:p>
        </p:txBody>
      </p:sp>
    </p:spTree>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3" name="矩形 315393"/>
          <p:cNvSpPr/>
          <p:nvPr/>
        </p:nvSpPr>
        <p:spPr>
          <a:xfrm>
            <a:off x="1511300" y="323850"/>
            <a:ext cx="306070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4.2  </a:t>
            </a:r>
            <a:r>
              <a:rPr lang="zh-CN" altLang="en-US" sz="2800" b="1">
                <a:latin typeface="微软雅黑" panose="020B0503020204020204" charset="-122"/>
                <a:ea typeface="微软雅黑" panose="020B0503020204020204" charset="-122"/>
              </a:rPr>
              <a:t>主动轮廓模型</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5394" name="矩形 315394"/>
          <p:cNvSpPr/>
          <p:nvPr/>
        </p:nvSpPr>
        <p:spPr>
          <a:xfrm>
            <a:off x="180340" y="1965325"/>
            <a:ext cx="10963910" cy="3723005"/>
          </a:xfrm>
          <a:prstGeom prst="rect">
            <a:avLst/>
          </a:prstGeom>
          <a:noFill/>
          <a:ln w="9525">
            <a:noFill/>
          </a:ln>
        </p:spPr>
        <p:txBody>
          <a:bodyPr wrap="square" anchor="t" anchorCtr="0">
            <a:spAutoFit/>
          </a:bodyPr>
          <a:p>
            <a:pPr algn="ctr" defTabSz="719455">
              <a:lnSpc>
                <a:spcPct val="150000"/>
              </a:lnSpc>
              <a:spcBef>
                <a:spcPts val="600"/>
              </a:spcBef>
              <a:spcAft>
                <a:spcPts val="0"/>
              </a:spcAft>
            </a:pPr>
            <a:r>
              <a:rPr lang="zh-CN" altLang="en-US" sz="2400" b="1">
                <a:latin typeface="微软雅黑" panose="020B0503020204020204" charset="-122"/>
                <a:ea typeface="微软雅黑" panose="020B0503020204020204" charset="-122"/>
              </a:rPr>
              <a:t>内部能量函数</a:t>
            </a:r>
            <a:endParaRPr lang="zh-CN" altLang="en-US" sz="2400" b="1">
              <a:latin typeface="微软雅黑" panose="020B0503020204020204" charset="-122"/>
              <a:ea typeface="微软雅黑" panose="020B0503020204020204" charset="-122"/>
            </a:endParaRPr>
          </a:p>
          <a:p>
            <a:pPr algn="just" defTabSz="719455">
              <a:lnSpc>
                <a:spcPct val="150000"/>
              </a:lnSpc>
              <a:spcBef>
                <a:spcPts val="600"/>
              </a:spcBef>
              <a:spcAft>
                <a:spcPts val="0"/>
              </a:spcAft>
            </a:pPr>
            <a:r>
              <a:rPr lang="zh-CN" altLang="en-US" sz="2400">
                <a:latin typeface="微软雅黑" panose="020B0503020204020204" charset="-122"/>
                <a:ea typeface="微软雅黑" panose="020B0503020204020204" charset="-122"/>
              </a:rPr>
              <a:t>用来推动主动轮廓形状的改变，并保持轮廓上点之间的距离不要太远或太近</a:t>
            </a:r>
            <a:endParaRPr lang="zh-CN" altLang="en-US" sz="2400">
              <a:latin typeface="微软雅黑" panose="020B0503020204020204" charset="-122"/>
              <a:ea typeface="微软雅黑" panose="020B0503020204020204" charset="-122"/>
            </a:endParaRPr>
          </a:p>
          <a:p>
            <a:pPr defTabSz="719455">
              <a:lnSpc>
                <a:spcPct val="150000"/>
              </a:lnSpc>
            </a:pPr>
            <a:endParaRPr lang="zh-CN" altLang="en-US" sz="2400" b="1">
              <a:latin typeface="微软雅黑" panose="020B0503020204020204" charset="-122"/>
              <a:ea typeface="微软雅黑" panose="020B0503020204020204" charset="-122"/>
            </a:endParaRPr>
          </a:p>
          <a:p>
            <a:pPr defTabSz="719455">
              <a:lnSpc>
                <a:spcPct val="150000"/>
              </a:lnSpc>
            </a:pPr>
            <a:endParaRPr lang="zh-CN" altLang="en-US" sz="2400" b="1">
              <a:latin typeface="微软雅黑" panose="020B0503020204020204" charset="-122"/>
              <a:ea typeface="微软雅黑" panose="020B0503020204020204" charset="-122"/>
            </a:endParaRPr>
          </a:p>
          <a:p>
            <a:pPr defTabSz="719455">
              <a:lnSpc>
                <a:spcPct val="150000"/>
              </a:lnSpc>
              <a:spcBef>
                <a:spcPts val="0"/>
              </a:spcBef>
              <a:spcAft>
                <a:spcPts val="0"/>
              </a:spcAft>
            </a:pPr>
            <a:r>
              <a:rPr lang="en-US" altLang="zh-CN" sz="2400">
                <a:latin typeface="Arial" panose="020B0604020202020204" pitchFamily="34" charset="0"/>
                <a:ea typeface="微软雅黑" panose="020B0503020204020204" charset="-122"/>
              </a:rPr>
              <a:t>(1)</a:t>
            </a:r>
            <a:r>
              <a:rPr lang="zh-CN" altLang="en-US" sz="2400">
                <a:latin typeface="微软雅黑" panose="020B0503020204020204" charset="-122"/>
                <a:ea typeface="微软雅黑" panose="020B0503020204020204" charset="-122"/>
              </a:rPr>
              <a:t>　连续能量</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曲线变直</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defTabSz="719455">
              <a:lnSpc>
                <a:spcPct val="150000"/>
              </a:lnSpc>
              <a:spcBef>
                <a:spcPts val="1800"/>
              </a:spcBef>
            </a:pPr>
            <a:r>
              <a:rPr lang="en-US" altLang="zh-CN" sz="2400">
                <a:latin typeface="Arial" panose="020B0604020202020204" pitchFamily="34" charset="0"/>
                <a:ea typeface="微软雅黑" panose="020B0503020204020204" charset="-122"/>
              </a:rPr>
              <a:t>(2)</a:t>
            </a:r>
            <a:r>
              <a:rPr lang="zh-CN" altLang="en-US" sz="2400">
                <a:latin typeface="微软雅黑" panose="020B0503020204020204" charset="-122"/>
                <a:ea typeface="微软雅黑" panose="020B0503020204020204" charset="-122"/>
              </a:rPr>
              <a:t>　膨胀力</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轮廓扩张或收缩</a:t>
            </a:r>
            <a:r>
              <a:rPr lang="en-US" altLang="zh-CN" sz="2400">
                <a:latin typeface="微软雅黑" panose="020B0503020204020204" charset="-122"/>
                <a:ea typeface="微软雅黑" panose="020B0503020204020204" charset="-122"/>
              </a:rPr>
              <a:t>)</a:t>
            </a:r>
            <a:r>
              <a:rPr lang="zh-CN" altLang="en-US" sz="2400">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p:txBody>
      </p:sp>
      <p:sp>
        <p:nvSpPr>
          <p:cNvPr id="315395" name="矩形 315395"/>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能量函数</a:t>
            </a:r>
            <a:endParaRPr lang="zh-CN" altLang="en-US" sz="2400" b="1">
              <a:latin typeface="微软雅黑" panose="020B0503020204020204" charset="-122"/>
              <a:ea typeface="微软雅黑" panose="020B0503020204020204" charset="-122"/>
            </a:endParaRPr>
          </a:p>
        </p:txBody>
      </p:sp>
      <p:pic>
        <p:nvPicPr>
          <p:cNvPr id="315396" name="图片 315396" descr="C:/Users/Administrator/AppData/Roaming/Yozo_Office/Temp/fc/1629533961615188032025/计算机视觉教程（第3版）PPT第05章.pptx/ppt/media/image16.png"/>
          <p:cNvPicPr/>
          <p:nvPr/>
        </p:nvPicPr>
        <p:blipFill>
          <a:blip r:embed="rId1"/>
          <a:stretch>
            <a:fillRect/>
          </a:stretch>
        </p:blipFill>
        <p:spPr>
          <a:xfrm>
            <a:off x="3211513" y="3508693"/>
            <a:ext cx="4679950" cy="576262"/>
          </a:xfrm>
          <a:prstGeom prst="rect">
            <a:avLst/>
          </a:prstGeom>
          <a:noFill/>
          <a:ln w="9525">
            <a:noFill/>
          </a:ln>
        </p:spPr>
      </p:pic>
      <p:pic>
        <p:nvPicPr>
          <p:cNvPr id="315397" name="图片 315397" descr="C:/Users/Administrator/AppData/Roaming/Yozo_Office/Temp/fc/1629533961615188032025/计算机视觉教程（第3版）PPT第05章.pptx/ppt/media/image17.png"/>
          <p:cNvPicPr/>
          <p:nvPr/>
        </p:nvPicPr>
        <p:blipFill>
          <a:blip r:embed="rId2"/>
          <a:stretch>
            <a:fillRect/>
          </a:stretch>
        </p:blipFill>
        <p:spPr>
          <a:xfrm>
            <a:off x="4409123" y="4197350"/>
            <a:ext cx="4464050" cy="792163"/>
          </a:xfrm>
          <a:prstGeom prst="rect">
            <a:avLst/>
          </a:prstGeom>
          <a:noFill/>
          <a:ln w="9525">
            <a:noFill/>
          </a:ln>
        </p:spPr>
      </p:pic>
      <p:pic>
        <p:nvPicPr>
          <p:cNvPr id="315398" name="图片 315398" descr="C:/Users/Administrator/AppData/Roaming/Yozo_Office/Temp/fc/1629533961615188032025/计算机视觉教程（第3版）PPT第05章.pptx/ppt/media/image18.png"/>
          <p:cNvPicPr/>
          <p:nvPr/>
        </p:nvPicPr>
        <p:blipFill>
          <a:blip r:embed="rId3"/>
          <a:stretch>
            <a:fillRect/>
          </a:stretch>
        </p:blipFill>
        <p:spPr>
          <a:xfrm>
            <a:off x="4502468" y="5221288"/>
            <a:ext cx="2879725" cy="466725"/>
          </a:xfrm>
          <a:prstGeom prst="rect">
            <a:avLst/>
          </a:prstGeom>
          <a:noFill/>
          <a:ln w="9525">
            <a:noFill/>
          </a:ln>
        </p:spPr>
      </p:pic>
      <mc:AlternateContent xmlns:mc="http://schemas.openxmlformats.org/markup-compatibility/2006">
        <mc:Choice xmlns:a14="http://schemas.microsoft.com/office/drawing/2010/main" Requires="a14">
          <p:sp>
            <p:nvSpPr>
              <p:cNvPr id="2" name="文本框 1"/>
              <p:cNvSpPr txBox="1"/>
              <p:nvPr/>
            </p:nvSpPr>
            <p:spPr>
              <a:xfrm>
                <a:off x="9029065" y="4084955"/>
                <a:ext cx="2861945" cy="922020"/>
              </a:xfrm>
              <a:prstGeom prst="rect">
                <a:avLst/>
              </a:prstGeom>
              <a:noFill/>
            </p:spPr>
            <p:txBody>
              <a:bodyPr wrap="square" rtlCol="0">
                <a:spAutoFit/>
              </a:bodyPr>
              <a:p>
                <a:pPr>
                  <a:spcAft>
                    <a:spcPts val="0"/>
                  </a:spcAft>
                </a:pPr>
                <a:r>
                  <a:rPr lang="en-US" altLang="zh-CN"/>
                  <a:t>I(V)</a:t>
                </a:r>
                <a:r>
                  <a:rPr lang="zh-CN" altLang="en-US"/>
                  <a:t>是轮廓各点的平均距离</a:t>
                </a:r>
                <a:endParaRPr lang="zh-CN" altLang="en-US"/>
              </a:p>
              <a:p>
                <a14:m>
                  <m:oMath xmlns:m="http://schemas.openxmlformats.org/officeDocument/2006/math">
                    <m:r>
                      <a:rPr lang="en-US" altLang="zh-CN" i="1">
                        <a:latin typeface="Cambria Math" panose="02040503050406030204" charset="0"/>
                        <a:cs typeface="Cambria Math" panose="02040503050406030204" charset="0"/>
                      </a:rPr>
                      <m:t>𝛾</m:t>
                    </m:r>
                  </m:oMath>
                </a14:m>
                <a:r>
                  <a:rPr lang="zh-CN" altLang="en-US">
                    <a:latin typeface="Cambria Math" panose="02040503050406030204" charset="0"/>
                    <a:cs typeface="Cambria Math" panose="02040503050406030204" charset="0"/>
                  </a:rPr>
                  <a:t>是加权系数</a:t>
                </a:r>
                <a:r>
                  <a:rPr lang="en-US" altLang="zh-CN">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a:t>
                </a:r>
                <a:r>
                  <a:rPr lang="en-US" altLang="zh-CN" i="1">
                    <a:latin typeface="Cambria Math" panose="02040503050406030204" charset="0"/>
                    <a:cs typeface="Cambria Math" panose="02040503050406030204" charset="0"/>
                  </a:rPr>
                  <a:t>v‘ </a:t>
                </a:r>
                <a:r>
                  <a:rPr lang="en-US" altLang="zh-CN" i="1" baseline="-25000">
                    <a:latin typeface="Cambria Math" panose="02040503050406030204" charset="0"/>
                    <a:cs typeface="Cambria Math" panose="02040503050406030204" charset="0"/>
                  </a:rPr>
                  <a:t>i</a:t>
                </a:r>
                <a:r>
                  <a:rPr lang="en-US" altLang="zh-CN" i="1">
                    <a:latin typeface="Cambria Math" panose="02040503050406030204" charset="0"/>
                    <a:cs typeface="Cambria Math" panose="02040503050406030204" charset="0"/>
                  </a:rPr>
                  <a:t> </a:t>
                </a:r>
                <a:r>
                  <a:rPr lang="zh-CN" altLang="en-US">
                    <a:latin typeface="Cambria Math" panose="02040503050406030204" charset="0"/>
                    <a:cs typeface="Cambria Math" panose="02040503050406030204" charset="0"/>
                  </a:rPr>
                  <a:t>邻域内最大梯度位置像素</a:t>
                </a:r>
                <a:endParaRPr lang="zh-CN" altLang="en-US">
                  <a:latin typeface="Cambria Math" panose="02040503050406030204" charset="0"/>
                  <a:cs typeface="Cambria Math" panose="02040503050406030204"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9029065" y="4084955"/>
                <a:ext cx="2861945" cy="922020"/>
              </a:xfrm>
              <a:prstGeom prst="rect">
                <a:avLst/>
              </a:prstGeom>
              <a:blipFill rotWithShape="1">
                <a:blip r:embed="rId4"/>
                <a:stretch>
                  <a:fillRect/>
                </a:stretch>
              </a:blipFill>
            </p:spPr>
            <p:txBody>
              <a:bodyPr/>
              <a:lstStyle/>
              <a:p>
                <a:r>
                  <a:rPr lang="zh-CN" altLang="en-US">
                    <a:noFill/>
                  </a:rPr>
                  <a:t> </a:t>
                </a:r>
              </a:p>
            </p:txBody>
          </p:sp>
        </mc:Fallback>
      </mc:AlternateContent>
      <p:sp>
        <p:nvSpPr>
          <p:cNvPr id="3" name="文本框 2"/>
          <p:cNvSpPr txBox="1"/>
          <p:nvPr/>
        </p:nvSpPr>
        <p:spPr>
          <a:xfrm>
            <a:off x="7665720" y="5320030"/>
            <a:ext cx="4225290" cy="368300"/>
          </a:xfrm>
          <a:prstGeom prst="rect">
            <a:avLst/>
          </a:prstGeom>
          <a:noFill/>
        </p:spPr>
        <p:txBody>
          <a:bodyPr wrap="square" rtlCol="0">
            <a:spAutoFit/>
          </a:bodyPr>
          <a:p>
            <a:pPr>
              <a:spcAft>
                <a:spcPts val="0"/>
              </a:spcAft>
            </a:pPr>
            <a:r>
              <a:rPr lang="en-US" altLang="zh-CN"/>
              <a:t>n</a:t>
            </a:r>
            <a:r>
              <a:rPr lang="en-US" altLang="zh-CN" baseline="-25000"/>
              <a:t>i</a:t>
            </a:r>
            <a:r>
              <a:rPr lang="zh-CN" altLang="en-US"/>
              <a:t>是沿轮廓</a:t>
            </a:r>
            <a:r>
              <a:rPr lang="en-US" altLang="zh-CN"/>
              <a:t>V</a:t>
            </a:r>
            <a:r>
              <a:rPr lang="zh-CN" altLang="en-US"/>
              <a:t>方向上向外的法线向量</a:t>
            </a:r>
            <a:endParaRPr lang="zh-CN" altLang="en-US"/>
          </a:p>
        </p:txBody>
      </p:sp>
    </p:spTree>
  </p:cSld>
  <p:clrMapOvr>
    <a:masterClrMapping/>
  </p:clrMapOvr>
  <p:transition spd="slow"/>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7" name="矩形 316417"/>
          <p:cNvSpPr/>
          <p:nvPr/>
        </p:nvSpPr>
        <p:spPr>
          <a:xfrm>
            <a:off x="1511300" y="323850"/>
            <a:ext cx="3060700" cy="86169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4.2  </a:t>
            </a:r>
            <a:r>
              <a:rPr lang="zh-CN" altLang="en-US" sz="2800" b="1">
                <a:latin typeface="微软雅黑" panose="020B0503020204020204" charset="-122"/>
                <a:ea typeface="微软雅黑" panose="020B0503020204020204" charset="-122"/>
              </a:rPr>
              <a:t>主动轮廓模型</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6418" name="矩形 316418"/>
          <p:cNvSpPr/>
          <p:nvPr/>
        </p:nvSpPr>
        <p:spPr>
          <a:xfrm>
            <a:off x="1350645" y="1945005"/>
            <a:ext cx="9846310" cy="4338320"/>
          </a:xfrm>
          <a:prstGeom prst="rect">
            <a:avLst/>
          </a:prstGeom>
          <a:noFill/>
          <a:ln w="9525">
            <a:noFill/>
          </a:ln>
        </p:spPr>
        <p:txBody>
          <a:bodyPr wrap="square" anchor="t" anchorCtr="0">
            <a:spAutoFit/>
          </a:bodyPr>
          <a:p>
            <a:pPr algn="ctr" defTabSz="719455">
              <a:lnSpc>
                <a:spcPct val="150000"/>
              </a:lnSpc>
              <a:spcBef>
                <a:spcPts val="600"/>
              </a:spcBef>
              <a:spcAft>
                <a:spcPts val="0"/>
              </a:spcAft>
            </a:pPr>
            <a:r>
              <a:rPr lang="zh-CN" altLang="en-US" sz="2400" b="1">
                <a:latin typeface="微软雅黑" panose="020B0503020204020204" charset="-122"/>
                <a:ea typeface="微软雅黑" panose="020B0503020204020204" charset="-122"/>
              </a:rPr>
              <a:t>外部能量函数</a:t>
            </a:r>
            <a:endParaRPr lang="zh-CN" altLang="en-US" sz="2400" b="1">
              <a:latin typeface="微软雅黑" panose="020B0503020204020204" charset="-122"/>
              <a:ea typeface="微软雅黑" panose="020B0503020204020204" charset="-122"/>
            </a:endParaRPr>
          </a:p>
          <a:p>
            <a:pPr defTabSz="719455">
              <a:lnSpc>
                <a:spcPct val="150000"/>
              </a:lnSpc>
              <a:spcBef>
                <a:spcPts val="1200"/>
              </a:spcBef>
              <a:spcAft>
                <a:spcPts val="600"/>
              </a:spcAft>
            </a:pPr>
            <a:r>
              <a:rPr lang="zh-CN" altLang="en-US"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作用是将变形模板向感兴趣的特征位置吸引</a:t>
            </a:r>
            <a:endParaRPr lang="zh-CN" altLang="en-US" sz="2400">
              <a:latin typeface="微软雅黑" panose="020B0503020204020204" charset="-122"/>
              <a:ea typeface="微软雅黑" panose="020B0503020204020204" charset="-122"/>
            </a:endParaRPr>
          </a:p>
          <a:p>
            <a:pPr defTabSz="719455">
              <a:lnSpc>
                <a:spcPct val="150000"/>
              </a:lnSpc>
              <a:spcBef>
                <a:spcPts val="1200"/>
              </a:spcBef>
              <a:spcAft>
                <a:spcPts val="600"/>
              </a:spcAft>
            </a:pPr>
            <a:endParaRPr lang="zh-CN" altLang="en-US" sz="2400" b="1">
              <a:latin typeface="微软雅黑" panose="020B0503020204020204" charset="-122"/>
              <a:ea typeface="微软雅黑" panose="020B0503020204020204" charset="-122"/>
            </a:endParaRPr>
          </a:p>
          <a:p>
            <a:pPr defTabSz="719455">
              <a:lnSpc>
                <a:spcPct val="150000"/>
              </a:lnSpc>
              <a:spcBef>
                <a:spcPts val="1200"/>
              </a:spcBef>
              <a:spcAft>
                <a:spcPts val="600"/>
              </a:spcAft>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(1)</a:t>
            </a:r>
            <a:r>
              <a:rPr lang="zh-CN" altLang="en-US" sz="2400">
                <a:latin typeface="微软雅黑" panose="020B0503020204020204" charset="-122"/>
                <a:ea typeface="微软雅黑" panose="020B0503020204020204" charset="-122"/>
              </a:rPr>
              <a:t>　图像灰度能量</a:t>
            </a:r>
            <a:endParaRPr lang="zh-CN" altLang="en-US" sz="2400">
              <a:latin typeface="微软雅黑" panose="020B0503020204020204" charset="-122"/>
              <a:ea typeface="微软雅黑" panose="020B0503020204020204" charset="-122"/>
            </a:endParaRPr>
          </a:p>
          <a:p>
            <a:pPr defTabSz="719455">
              <a:lnSpc>
                <a:spcPct val="150000"/>
              </a:lnSpc>
              <a:spcBef>
                <a:spcPts val="1200"/>
              </a:spcBef>
              <a:spcAft>
                <a:spcPts val="600"/>
              </a:spcAft>
            </a:pPr>
            <a:r>
              <a:rPr lang="zh-CN" altLang="en-US" sz="2400">
                <a:latin typeface="微软雅黑" panose="020B0503020204020204" charset="-122"/>
                <a:ea typeface="微软雅黑" panose="020B0503020204020204" charset="-122"/>
              </a:rPr>
              <a:t>	</a:t>
            </a:r>
            <a:r>
              <a:rPr lang="en-US" altLang="zh-CN" sz="2400">
                <a:latin typeface="微软雅黑" panose="020B0503020204020204" charset="-122"/>
                <a:ea typeface="微软雅黑" panose="020B0503020204020204" charset="-122"/>
              </a:rPr>
              <a:t>(2)</a:t>
            </a:r>
            <a:r>
              <a:rPr lang="zh-CN" altLang="en-US" sz="2400">
                <a:latin typeface="微软雅黑" panose="020B0503020204020204" charset="-122"/>
                <a:ea typeface="微软雅黑" panose="020B0503020204020204" charset="-122"/>
              </a:rPr>
              <a:t>　图像梯度能量</a:t>
            </a:r>
            <a:endParaRPr lang="zh-CN" altLang="en-US" sz="2400">
              <a:latin typeface="微软雅黑" panose="020B0503020204020204" charset="-122"/>
              <a:ea typeface="微软雅黑" panose="020B0503020204020204" charset="-122"/>
            </a:endParaRPr>
          </a:p>
          <a:p>
            <a:pPr defTabSz="719455">
              <a:lnSpc>
                <a:spcPct val="150000"/>
              </a:lnSpc>
              <a:spcBef>
                <a:spcPts val="0"/>
              </a:spcBef>
              <a:spcAft>
                <a:spcPts val="600"/>
              </a:spcAft>
            </a:pPr>
            <a:r>
              <a:rPr lang="zh-CN" altLang="en-US" sz="2400" b="1">
                <a:latin typeface="微软雅黑" panose="020B0503020204020204" charset="-122"/>
                <a:ea typeface="微软雅黑" panose="020B0503020204020204" charset="-122"/>
              </a:rPr>
              <a:t>	能量函数归一化	 </a:t>
            </a:r>
            <a:r>
              <a:rPr lang="en-US" altLang="zh-CN" sz="2400">
                <a:latin typeface="微软雅黑" panose="020B0503020204020204" charset="-122"/>
                <a:ea typeface="微软雅黑" panose="020B0503020204020204" charset="-122"/>
                <a:sym typeface="Symbol" panose="05050102010706020507" pitchFamily="18" charset="2"/>
              </a:rPr>
              <a:t> </a:t>
            </a:r>
            <a:r>
              <a:rPr lang="en-US" altLang="zh-CN" sz="2400">
                <a:latin typeface="微软雅黑" panose="020B0503020204020204" charset="-122"/>
                <a:ea typeface="微软雅黑" panose="020B0503020204020204" charset="-122"/>
              </a:rPr>
              <a:t>[0, 1]</a:t>
            </a:r>
            <a:endParaRPr lang="en-US" altLang="zh-CN" sz="2400" b="1">
              <a:latin typeface="微软雅黑" panose="020B0503020204020204" charset="-122"/>
              <a:ea typeface="微软雅黑" panose="020B0503020204020204" charset="-122"/>
            </a:endParaRPr>
          </a:p>
        </p:txBody>
      </p:sp>
      <p:sp>
        <p:nvSpPr>
          <p:cNvPr id="316419" name="矩形 316419"/>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能量函数</a:t>
            </a:r>
            <a:endParaRPr lang="zh-CN" altLang="en-US" sz="2400" b="1">
              <a:latin typeface="微软雅黑" panose="020B0503020204020204" charset="-122"/>
              <a:ea typeface="微软雅黑" panose="020B0503020204020204" charset="-122"/>
            </a:endParaRPr>
          </a:p>
        </p:txBody>
      </p:sp>
      <p:pic>
        <p:nvPicPr>
          <p:cNvPr id="316420" name="图片 316420" descr="C:/Users/Administrator/AppData/Roaming/Yozo_Office/Temp/fc/1629533961615188032025/计算机视觉教程（第3版）PPT第05章.pptx/ppt/media/image19.png"/>
          <p:cNvPicPr/>
          <p:nvPr/>
        </p:nvPicPr>
        <p:blipFill>
          <a:blip r:embed="rId1"/>
          <a:stretch>
            <a:fillRect/>
          </a:stretch>
        </p:blipFill>
        <p:spPr>
          <a:xfrm>
            <a:off x="5040313" y="3311525"/>
            <a:ext cx="5399087" cy="539750"/>
          </a:xfrm>
          <a:prstGeom prst="rect">
            <a:avLst/>
          </a:prstGeom>
          <a:noFill/>
          <a:ln w="9525">
            <a:noFill/>
          </a:ln>
        </p:spPr>
      </p:pic>
      <p:pic>
        <p:nvPicPr>
          <p:cNvPr id="316421" name="图片 316421" descr="C:/Users/Administrator/AppData/Roaming/Yozo_Office/Temp/fc/1629533961615188032025/计算机视觉教程（第3版）PPT第05章.pptx/ppt/media/image20.png"/>
          <p:cNvPicPr/>
          <p:nvPr/>
        </p:nvPicPr>
        <p:blipFill>
          <a:blip r:embed="rId2"/>
          <a:stretch>
            <a:fillRect/>
          </a:stretch>
        </p:blipFill>
        <p:spPr>
          <a:xfrm>
            <a:off x="5663248" y="4319588"/>
            <a:ext cx="2160587" cy="468312"/>
          </a:xfrm>
          <a:prstGeom prst="rect">
            <a:avLst/>
          </a:prstGeom>
          <a:noFill/>
          <a:ln w="9525">
            <a:noFill/>
          </a:ln>
        </p:spPr>
      </p:pic>
      <p:pic>
        <p:nvPicPr>
          <p:cNvPr id="316422" name="图片 316422" descr="C:/Users/Administrator/AppData/Roaming/Yozo_Office/Temp/fc/1629533961615188032025/计算机视觉教程（第3版）PPT第05章.pptx/ppt/media/image21.png"/>
          <p:cNvPicPr/>
          <p:nvPr/>
        </p:nvPicPr>
        <p:blipFill>
          <a:blip r:embed="rId3"/>
          <a:stretch>
            <a:fillRect/>
          </a:stretch>
        </p:blipFill>
        <p:spPr>
          <a:xfrm>
            <a:off x="5307648" y="5205095"/>
            <a:ext cx="3060700" cy="468313"/>
          </a:xfrm>
          <a:prstGeom prst="rect">
            <a:avLst/>
          </a:prstGeom>
          <a:noFill/>
          <a:ln w="9525">
            <a:noFill/>
          </a:ln>
        </p:spPr>
      </p:pic>
      <p:sp>
        <p:nvSpPr>
          <p:cNvPr id="2" name="右箭头 1"/>
          <p:cNvSpPr/>
          <p:nvPr/>
        </p:nvSpPr>
        <p:spPr>
          <a:xfrm>
            <a:off x="8157210" y="4363085"/>
            <a:ext cx="525145" cy="3302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9088120" y="4363085"/>
            <a:ext cx="2108835" cy="368300"/>
          </a:xfrm>
          <a:prstGeom prst="rect">
            <a:avLst/>
          </a:prstGeom>
          <a:noFill/>
        </p:spPr>
        <p:txBody>
          <a:bodyPr wrap="square" rtlCol="0">
            <a:spAutoFit/>
          </a:bodyPr>
          <a:p>
            <a:pPr>
              <a:spcAft>
                <a:spcPts val="0"/>
              </a:spcAft>
            </a:pPr>
            <a:r>
              <a:rPr lang="zh-CN" altLang="en-US"/>
              <a:t>对应点的灰度值</a:t>
            </a:r>
            <a:endParaRPr lang="zh-CN" altLang="en-US"/>
          </a:p>
        </p:txBody>
      </p:sp>
      <p:sp>
        <p:nvSpPr>
          <p:cNvPr id="4" name="右箭头 3"/>
          <p:cNvSpPr/>
          <p:nvPr>
            <p:custDataLst>
              <p:tags r:id="rId4"/>
            </p:custDataLst>
          </p:nvPr>
        </p:nvSpPr>
        <p:spPr>
          <a:xfrm>
            <a:off x="8445500" y="5274310"/>
            <a:ext cx="525145" cy="3302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5"/>
            </p:custDataLst>
          </p:nvPr>
        </p:nvSpPr>
        <p:spPr>
          <a:xfrm>
            <a:off x="9325610" y="5305425"/>
            <a:ext cx="2752090" cy="368300"/>
          </a:xfrm>
          <a:prstGeom prst="rect">
            <a:avLst/>
          </a:prstGeom>
          <a:noFill/>
        </p:spPr>
        <p:txBody>
          <a:bodyPr wrap="square" rtlCol="0">
            <a:spAutoFit/>
          </a:bodyPr>
          <a:p>
            <a:pPr>
              <a:spcAft>
                <a:spcPts val="0"/>
              </a:spcAft>
            </a:pPr>
            <a:r>
              <a:rPr lang="zh-CN" altLang="en-US"/>
              <a:t>法线和梯度值的内积</a:t>
            </a:r>
            <a:endParaRPr lang="zh-CN" altLang="en-US"/>
          </a:p>
        </p:txBody>
      </p:sp>
    </p:spTree>
  </p:cSld>
  <p:clrMapOvr>
    <a:masterClrMapping/>
  </p:clrMapOvr>
  <p:transition spd="slow"/>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1" name="矩形 317441"/>
          <p:cNvSpPr/>
          <p:nvPr/>
        </p:nvSpPr>
        <p:spPr>
          <a:xfrm>
            <a:off x="1511300" y="323850"/>
            <a:ext cx="3060700" cy="733425"/>
          </a:xfrm>
          <a:prstGeom prst="rect">
            <a:avLst/>
          </a:prstGeom>
          <a:solidFill>
            <a:srgbClr val="EBEDEA"/>
          </a:solidFill>
          <a:ln w="9525">
            <a:noFill/>
          </a:ln>
        </p:spPr>
        <p:txBody>
          <a:bodyPr lIns="0" tIns="0" rIns="0" bIns="0" anchor="t" anchorCtr="0">
            <a:no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 name="文本框 1"/>
          <p:cNvSpPr txBox="1"/>
          <p:nvPr/>
        </p:nvSpPr>
        <p:spPr>
          <a:xfrm>
            <a:off x="1511300" y="1656715"/>
            <a:ext cx="9291320" cy="2861310"/>
          </a:xfrm>
          <a:prstGeom prst="rect">
            <a:avLst/>
          </a:prstGeom>
          <a:noFill/>
        </p:spPr>
        <p:txBody>
          <a:bodyPr wrap="square" rtlCol="0">
            <a:spAutoFit/>
          </a:bodyPr>
          <a:p>
            <a:pPr indent="0" fontAlgn="auto">
              <a:lnSpc>
                <a:spcPct val="150000"/>
              </a:lnSpc>
              <a:spcAft>
                <a:spcPts val="0"/>
              </a:spcAft>
            </a:pPr>
            <a:r>
              <a:rPr lang="zh-CN" altLang="en-US" sz="2400"/>
              <a:t>在基于区域和检测区域的方法中，最常用的是</a:t>
            </a:r>
            <a:r>
              <a:rPr lang="zh-CN" altLang="en-US" sz="2400">
                <a:solidFill>
                  <a:srgbClr val="FF0000"/>
                </a:solidFill>
              </a:rPr>
              <a:t>阈值化</a:t>
            </a:r>
            <a:r>
              <a:rPr lang="zh-CN" altLang="en-US" sz="2400"/>
              <a:t>技术，其它类似技术，例如像素聚类方法等，都可以看做阈值化技术的推广</a:t>
            </a:r>
            <a:endParaRPr lang="zh-CN" altLang="en-US" sz="2400"/>
          </a:p>
          <a:p>
            <a:pPr indent="0" fontAlgn="auto">
              <a:lnSpc>
                <a:spcPct val="150000"/>
              </a:lnSpc>
              <a:spcBef>
                <a:spcPts val="0"/>
              </a:spcBef>
              <a:spcAft>
                <a:spcPts val="0"/>
              </a:spcAft>
            </a:pPr>
            <a:r>
              <a:rPr lang="zh-CN" altLang="en-US" sz="2400"/>
              <a:t>优点：</a:t>
            </a:r>
            <a:endParaRPr lang="zh-CN" altLang="en-US" sz="2400"/>
          </a:p>
          <a:p>
            <a:pPr indent="0" fontAlgn="auto">
              <a:lnSpc>
                <a:spcPct val="150000"/>
              </a:lnSpc>
              <a:spcBef>
                <a:spcPts val="0"/>
              </a:spcBef>
              <a:spcAft>
                <a:spcPts val="0"/>
              </a:spcAft>
            </a:pPr>
            <a:r>
              <a:rPr lang="en-US" altLang="zh-CN" sz="2400"/>
              <a:t>1.</a:t>
            </a:r>
            <a:r>
              <a:rPr lang="zh-CN" altLang="en-US" sz="2400"/>
              <a:t>概念简单</a:t>
            </a:r>
            <a:endParaRPr lang="zh-CN" altLang="en-US" sz="2400"/>
          </a:p>
          <a:p>
            <a:pPr indent="0" fontAlgn="auto">
              <a:lnSpc>
                <a:spcPct val="150000"/>
              </a:lnSpc>
              <a:spcBef>
                <a:spcPts val="0"/>
              </a:spcBef>
            </a:pPr>
            <a:r>
              <a:rPr lang="en-US" altLang="zh-CN" sz="2400"/>
              <a:t>2.</a:t>
            </a:r>
            <a:r>
              <a:rPr lang="zh-CN" altLang="en-US" sz="2400"/>
              <a:t>计算简便</a:t>
            </a:r>
            <a:endParaRPr lang="zh-CN" altLang="en-US" sz="2400"/>
          </a:p>
        </p:txBody>
      </p:sp>
    </p:spTree>
  </p:cSld>
  <p:clrMapOvr>
    <a:masterClrMapping/>
  </p:clrMapOvr>
  <p:transition spd="slow"/>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1" name="矩形 317441"/>
          <p:cNvSpPr/>
          <p:nvPr/>
        </p:nvSpPr>
        <p:spPr>
          <a:xfrm>
            <a:off x="1511300" y="323850"/>
            <a:ext cx="3060700" cy="733425"/>
          </a:xfrm>
          <a:prstGeom prst="rect">
            <a:avLst/>
          </a:prstGeom>
          <a:solidFill>
            <a:srgbClr val="EBEDEA"/>
          </a:solidFill>
          <a:ln w="9525">
            <a:noFill/>
          </a:ln>
        </p:spPr>
        <p:txBody>
          <a:bodyPr lIns="0" tIns="0" rIns="0" bIns="0" anchor="t" anchorCtr="0">
            <a:no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2" name="文本框 1"/>
          <p:cNvSpPr txBox="1"/>
          <p:nvPr/>
        </p:nvSpPr>
        <p:spPr>
          <a:xfrm>
            <a:off x="1511300" y="1656715"/>
            <a:ext cx="9291320" cy="3415030"/>
          </a:xfrm>
          <a:prstGeom prst="rect">
            <a:avLst/>
          </a:prstGeom>
          <a:noFill/>
        </p:spPr>
        <p:txBody>
          <a:bodyPr wrap="square" rtlCol="0">
            <a:spAutoFit/>
          </a:bodyPr>
          <a:p>
            <a:pPr indent="0" fontAlgn="auto">
              <a:lnSpc>
                <a:spcPct val="150000"/>
              </a:lnSpc>
              <a:spcAft>
                <a:spcPts val="0"/>
              </a:spcAft>
            </a:pPr>
            <a:r>
              <a:rPr lang="zh-CN" sz="2400"/>
              <a:t>利用阈值分割一般都对图像灰度分布有一定的假设。</a:t>
            </a:r>
            <a:endParaRPr lang="zh-CN" sz="2400"/>
          </a:p>
          <a:p>
            <a:pPr indent="0" fontAlgn="auto">
              <a:lnSpc>
                <a:spcPct val="150000"/>
              </a:lnSpc>
            </a:pPr>
            <a:endParaRPr lang="zh-CN" sz="2400"/>
          </a:p>
          <a:p>
            <a:pPr indent="0" fontAlgn="auto">
              <a:lnSpc>
                <a:spcPct val="150000"/>
              </a:lnSpc>
              <a:spcBef>
                <a:spcPts val="0"/>
              </a:spcBef>
            </a:pPr>
            <a:r>
              <a:rPr lang="zh-CN" sz="2400">
                <a:solidFill>
                  <a:srgbClr val="FF0000"/>
                </a:solidFill>
              </a:rPr>
              <a:t>最常用的阈值分割模型可表述为</a:t>
            </a:r>
            <a:r>
              <a:rPr lang="zh-CN" sz="2400"/>
              <a:t>：假设图像都是由具有</a:t>
            </a:r>
            <a:r>
              <a:rPr lang="zh-CN" sz="2400">
                <a:solidFill>
                  <a:srgbClr val="FF0000"/>
                </a:solidFill>
              </a:rPr>
              <a:t>单峰</a:t>
            </a:r>
            <a:r>
              <a:rPr lang="zh-CN" sz="2400"/>
              <a:t>灰度分布的</a:t>
            </a:r>
            <a:r>
              <a:rPr lang="zh-CN" sz="2400">
                <a:solidFill>
                  <a:srgbClr val="FF0000"/>
                </a:solidFill>
              </a:rPr>
              <a:t>目标</a:t>
            </a:r>
            <a:r>
              <a:rPr lang="zh-CN" sz="2400"/>
              <a:t>和</a:t>
            </a:r>
            <a:r>
              <a:rPr lang="zh-CN" sz="2400">
                <a:solidFill>
                  <a:srgbClr val="FF0000"/>
                </a:solidFill>
              </a:rPr>
              <a:t>背景</a:t>
            </a:r>
            <a:r>
              <a:rPr lang="zh-CN" sz="2400"/>
              <a:t>组成，在目标和背景</a:t>
            </a:r>
            <a:r>
              <a:rPr lang="zh-CN" sz="2400">
                <a:solidFill>
                  <a:srgbClr val="FF0000"/>
                </a:solidFill>
              </a:rPr>
              <a:t>内部</a:t>
            </a:r>
            <a:r>
              <a:rPr lang="zh-CN" sz="2400"/>
              <a:t>的相邻像素间的</a:t>
            </a:r>
            <a:r>
              <a:rPr lang="zh-CN" sz="2400">
                <a:solidFill>
                  <a:srgbClr val="FF0000"/>
                </a:solidFill>
              </a:rPr>
              <a:t>灰度值</a:t>
            </a:r>
            <a:r>
              <a:rPr lang="zh-CN" sz="2400"/>
              <a:t>都是</a:t>
            </a:r>
            <a:r>
              <a:rPr lang="zh-CN" sz="2400">
                <a:solidFill>
                  <a:srgbClr val="FF0000"/>
                </a:solidFill>
              </a:rPr>
              <a:t>高度相关</a:t>
            </a:r>
            <a:r>
              <a:rPr lang="zh-CN" sz="2400"/>
              <a:t>的，但在目标和背景交界处两边的像素在灰度值上有着很大的差别。</a:t>
            </a:r>
            <a:endParaRPr lang="zh-CN" sz="2400"/>
          </a:p>
        </p:txBody>
      </p:sp>
    </p:spTree>
  </p:cSld>
  <p:clrMapOvr>
    <a:masterClrMapping/>
  </p:clrMapOvr>
  <p:transition spd="slow"/>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1" name="矩形 31744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7442" name="矩形 317442"/>
          <p:cNvSpPr/>
          <p:nvPr/>
        </p:nvSpPr>
        <p:spPr>
          <a:xfrm>
            <a:off x="1354455" y="1945005"/>
            <a:ext cx="10127615" cy="460375"/>
          </a:xfrm>
          <a:prstGeom prst="rect">
            <a:avLst/>
          </a:prstGeom>
          <a:noFill/>
          <a:ln w="9525">
            <a:noFill/>
          </a:ln>
        </p:spPr>
        <p:txBody>
          <a:bodyPr wrap="square" anchor="t" anchorCtr="0">
            <a:spAutoFit/>
          </a:bodyPr>
          <a:p>
            <a:pPr>
              <a:spcAft>
                <a:spcPts val="0"/>
              </a:spcAft>
            </a:pPr>
            <a:r>
              <a:rPr lang="zh-CN" altLang="en-US" sz="2400">
                <a:latin typeface="微软雅黑" panose="020B0503020204020204" charset="-122"/>
                <a:ea typeface="微软雅黑" panose="020B0503020204020204" charset="-122"/>
              </a:rPr>
              <a:t>一副灰度值在</a:t>
            </a:r>
            <a:r>
              <a:rPr lang="en-US" altLang="zh-CN" sz="2400" i="1">
                <a:latin typeface="Arial" panose="020B0604020202020204" pitchFamily="34" charset="0"/>
                <a:ea typeface="微软雅黑" panose="020B0503020204020204" charset="-122"/>
                <a:sym typeface="+mn-ea"/>
              </a:rPr>
              <a:t>g</a:t>
            </a:r>
            <a:r>
              <a:rPr lang="en-US" altLang="zh-CN" sz="2400" baseline="-25000">
                <a:latin typeface="Arial" panose="020B0604020202020204" pitchFamily="34" charset="0"/>
                <a:ea typeface="微软雅黑" panose="020B0503020204020204" charset="-122"/>
                <a:sym typeface="+mn-ea"/>
              </a:rPr>
              <a:t>min</a:t>
            </a:r>
            <a:r>
              <a:rPr lang="zh-CN" altLang="en-US" sz="2400">
                <a:latin typeface="Arial" panose="020B0604020202020204" pitchFamily="34" charset="0"/>
                <a:ea typeface="微软雅黑" panose="020B0503020204020204" charset="-122"/>
                <a:sym typeface="+mn-ea"/>
              </a:rPr>
              <a:t>和</a:t>
            </a:r>
            <a:r>
              <a:rPr lang="en-US" altLang="zh-CN" sz="2400" i="1">
                <a:latin typeface="Arial" panose="020B0604020202020204" pitchFamily="34" charset="0"/>
                <a:ea typeface="微软雅黑" panose="020B0503020204020204" charset="-122"/>
                <a:sym typeface="+mn-ea"/>
              </a:rPr>
              <a:t>g</a:t>
            </a:r>
            <a:r>
              <a:rPr lang="en-US" altLang="zh-CN" sz="2400" baseline="-25000">
                <a:latin typeface="Arial" panose="020B0604020202020204" pitchFamily="34" charset="0"/>
                <a:ea typeface="微软雅黑" panose="020B0503020204020204" charset="-122"/>
                <a:sym typeface="+mn-ea"/>
              </a:rPr>
              <a:t>max</a:t>
            </a:r>
            <a:r>
              <a:rPr lang="zh-CN" altLang="en-US" sz="2400">
                <a:latin typeface="Arial" panose="020B0604020202020204" pitchFamily="34" charset="0"/>
                <a:ea typeface="微软雅黑" panose="020B0503020204020204" charset="-122"/>
                <a:sym typeface="+mn-ea"/>
              </a:rPr>
              <a:t>之间的图像，可以确定</a:t>
            </a:r>
            <a:r>
              <a:rPr lang="zh-CN" altLang="en-US" sz="2400">
                <a:latin typeface="微软雅黑" panose="020B0503020204020204" charset="-122"/>
                <a:ea typeface="微软雅黑" panose="020B0503020204020204" charset="-122"/>
              </a:rPr>
              <a:t>灰度阈值</a:t>
            </a:r>
            <a:r>
              <a:rPr lang="en-US" altLang="zh-CN" sz="2400" i="1">
                <a:latin typeface="Arial" panose="020B0604020202020204" pitchFamily="34" charset="0"/>
                <a:ea typeface="微软雅黑" panose="020B0503020204020204" charset="-122"/>
              </a:rPr>
              <a:t>T</a:t>
            </a:r>
            <a:r>
              <a:rPr lang="zh-CN" altLang="en-US" sz="2400">
                <a:latin typeface="微软雅黑" panose="020B0503020204020204" charset="-122"/>
                <a:ea typeface="微软雅黑" panose="020B0503020204020204" charset="-122"/>
              </a:rPr>
              <a:t>（</a:t>
            </a:r>
            <a:r>
              <a:rPr lang="en-US" altLang="zh-CN" sz="2400" i="1">
                <a:latin typeface="Arial" panose="020B0604020202020204" pitchFamily="34" charset="0"/>
                <a:ea typeface="微软雅黑" panose="020B0503020204020204" charset="-122"/>
              </a:rPr>
              <a:t>g</a:t>
            </a:r>
            <a:r>
              <a:rPr lang="en-US" altLang="zh-CN" sz="2400" baseline="-25000">
                <a:latin typeface="Arial" panose="020B0604020202020204" pitchFamily="34" charset="0"/>
                <a:ea typeface="微软雅黑" panose="020B0503020204020204" charset="-122"/>
              </a:rPr>
              <a:t>min</a:t>
            </a:r>
            <a:r>
              <a:rPr lang="en-US" altLang="zh-CN" sz="2400" i="1">
                <a:latin typeface="Arial" panose="020B0604020202020204" pitchFamily="34" charset="0"/>
                <a:ea typeface="微软雅黑" panose="020B0503020204020204" charset="-122"/>
              </a:rPr>
              <a:t> &lt; T &lt; g</a:t>
            </a:r>
            <a:r>
              <a:rPr lang="en-US" altLang="zh-CN" sz="2400" baseline="-25000">
                <a:latin typeface="Arial" panose="020B0604020202020204" pitchFamily="34" charset="0"/>
                <a:ea typeface="微软雅黑" panose="020B0503020204020204" charset="-122"/>
              </a:rPr>
              <a:t>max</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p:txBody>
      </p:sp>
      <p:sp>
        <p:nvSpPr>
          <p:cNvPr id="317443" name="矩形 317443"/>
          <p:cNvSpPr/>
          <p:nvPr/>
        </p:nvSpPr>
        <p:spPr>
          <a:xfrm>
            <a:off x="2535079" y="1260475"/>
            <a:ext cx="2011680" cy="460375"/>
          </a:xfrm>
          <a:prstGeom prst="rect">
            <a:avLst/>
          </a:prstGeom>
          <a:noFill/>
          <a:ln w="9525">
            <a:noFill/>
          </a:ln>
        </p:spPr>
        <p:txBody>
          <a:bodyPr wrap="none" anchor="t" anchorCtr="0">
            <a:spAutoFit/>
          </a:bodyPr>
          <a:p>
            <a:pPr algn="ctr" defTabSz="719455">
              <a:spcAft>
                <a:spcPts val="0"/>
              </a:spcAft>
            </a:pPr>
            <a:r>
              <a:rPr lang="zh-CN" altLang="en-US" sz="2400" b="1">
                <a:latin typeface="微软雅黑" panose="020B0503020204020204" charset="-122"/>
                <a:ea typeface="微软雅黑" panose="020B0503020204020204" charset="-122"/>
              </a:rPr>
              <a:t>阈值分割模型</a:t>
            </a:r>
            <a:endParaRPr lang="zh-CN" altLang="en-US" sz="2400" b="1">
              <a:latin typeface="微软雅黑" panose="020B0503020204020204" charset="-122"/>
              <a:ea typeface="微软雅黑" panose="020B0503020204020204" charset="-122"/>
            </a:endParaRPr>
          </a:p>
        </p:txBody>
      </p:sp>
      <p:pic>
        <p:nvPicPr>
          <p:cNvPr id="317444" name="图片 317444" descr="C:/Users/Administrator/AppData/Roaming/Yozo_Office/Temp/fc/1629533961615188032025/计算机视觉教程（第3版）PPT第05章.pptx/ppt/media/image22.png"/>
          <p:cNvPicPr/>
          <p:nvPr/>
        </p:nvPicPr>
        <p:blipFill>
          <a:blip r:embed="rId1"/>
          <a:stretch>
            <a:fillRect/>
          </a:stretch>
        </p:blipFill>
        <p:spPr>
          <a:xfrm>
            <a:off x="4140200" y="2519363"/>
            <a:ext cx="4319588" cy="1008062"/>
          </a:xfrm>
          <a:prstGeom prst="rect">
            <a:avLst/>
          </a:prstGeom>
          <a:noFill/>
          <a:ln w="9525">
            <a:noFill/>
          </a:ln>
        </p:spPr>
      </p:pic>
      <p:pic>
        <p:nvPicPr>
          <p:cNvPr id="317445" name="图片 317445" descr="C:/Users/Administrator/AppData/Roaming/Yozo_Office/Temp/fc/1629533961615188032025/计算机视觉教程（第3版）PPT第05章.pptx/ppt/media/image23.emf"/>
          <p:cNvPicPr/>
          <p:nvPr/>
        </p:nvPicPr>
        <p:blipFill>
          <a:blip r:embed="rId2"/>
          <a:stretch>
            <a:fillRect/>
          </a:stretch>
        </p:blipFill>
        <p:spPr>
          <a:xfrm>
            <a:off x="3060700" y="3671888"/>
            <a:ext cx="7199313" cy="2592387"/>
          </a:xfrm>
          <a:prstGeom prst="rect">
            <a:avLst/>
          </a:prstGeom>
          <a:noFill/>
          <a:ln w="9525">
            <a:noFill/>
          </a:ln>
        </p:spPr>
      </p:pic>
      <p:sp>
        <p:nvSpPr>
          <p:cNvPr id="2" name="文本框 1"/>
          <p:cNvSpPr txBox="1"/>
          <p:nvPr/>
        </p:nvSpPr>
        <p:spPr>
          <a:xfrm>
            <a:off x="1013460" y="2854960"/>
            <a:ext cx="3075940" cy="368300"/>
          </a:xfrm>
          <a:prstGeom prst="rect">
            <a:avLst/>
          </a:prstGeom>
          <a:noFill/>
        </p:spPr>
        <p:txBody>
          <a:bodyPr wrap="square" rtlCol="0">
            <a:spAutoFit/>
          </a:bodyPr>
          <a:p>
            <a:pPr>
              <a:spcAft>
                <a:spcPts val="0"/>
              </a:spcAft>
            </a:pPr>
            <a:r>
              <a:rPr lang="zh-CN" altLang="en-US"/>
              <a:t>选取单阈值分割后的图像为</a:t>
            </a:r>
            <a:endParaRPr lang="zh-CN" altLang="en-US"/>
          </a:p>
        </p:txBody>
      </p:sp>
    </p:spTree>
  </p:cSld>
  <p:clrMapOvr>
    <a:masterClrMapping/>
  </p:clrMapOvr>
  <p:transition spd="slow"/>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89" name="Picture 2" descr="070101"/>
          <p:cNvPicPr>
            <a:picLocks noChangeAspect="1"/>
          </p:cNvPicPr>
          <p:nvPr>
            <p:ph type="body" idx="4294967295"/>
            <p:custDataLst>
              <p:tags r:id="rId1"/>
            </p:custDataLst>
          </p:nvPr>
        </p:nvPicPr>
        <p:blipFill>
          <a:blip r:embed="rId2"/>
          <a:stretch>
            <a:fillRect/>
          </a:stretch>
        </p:blipFill>
        <p:spPr>
          <a:xfrm>
            <a:off x="4051935" y="323850"/>
            <a:ext cx="8010525" cy="6289675"/>
          </a:xfrm>
        </p:spPr>
      </p:pic>
      <p:sp>
        <p:nvSpPr>
          <p:cNvPr id="317441" name="矩形 317441"/>
          <p:cNvSpPr/>
          <p:nvPr>
            <p:custDataLst>
              <p:tags r:id="rId3"/>
            </p:custDataLst>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7443" name="矩形 317443"/>
          <p:cNvSpPr/>
          <p:nvPr>
            <p:custDataLst>
              <p:tags r:id="rId4"/>
            </p:custDataLst>
          </p:nvPr>
        </p:nvSpPr>
        <p:spPr>
          <a:xfrm>
            <a:off x="2535079" y="1260475"/>
            <a:ext cx="2011680" cy="460375"/>
          </a:xfrm>
          <a:prstGeom prst="rect">
            <a:avLst/>
          </a:prstGeom>
          <a:noFill/>
          <a:ln w="9525">
            <a:noFill/>
          </a:ln>
        </p:spPr>
        <p:txBody>
          <a:bodyPr wrap="none" anchor="t" anchorCtr="0">
            <a:spAutoFit/>
          </a:bodyPr>
          <a:p>
            <a:pPr algn="ctr" defTabSz="719455">
              <a:spcAft>
                <a:spcPts val="0"/>
              </a:spcAft>
            </a:pPr>
            <a:r>
              <a:rPr lang="zh-CN" altLang="en-US" sz="2400" b="1">
                <a:latin typeface="微软雅黑" panose="020B0503020204020204" charset="-122"/>
                <a:ea typeface="微软雅黑" panose="020B0503020204020204" charset="-122"/>
              </a:rPr>
              <a:t>阈值分割模型</a:t>
            </a:r>
            <a:endParaRPr lang="zh-CN" altLang="en-US" sz="2400" b="1">
              <a:latin typeface="微软雅黑" panose="020B0503020204020204" charset="-122"/>
              <a:ea typeface="微软雅黑" panose="020B050302020402020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1" name="矩形 317441"/>
          <p:cNvSpPr/>
          <p:nvPr>
            <p:custDataLst>
              <p:tags r:id="rId1"/>
            </p:custDataLst>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7443" name="矩形 317443"/>
          <p:cNvSpPr/>
          <p:nvPr>
            <p:custDataLst>
              <p:tags r:id="rId2"/>
            </p:custDataLst>
          </p:nvPr>
        </p:nvSpPr>
        <p:spPr>
          <a:xfrm>
            <a:off x="2535079" y="1260475"/>
            <a:ext cx="2011680" cy="460375"/>
          </a:xfrm>
          <a:prstGeom prst="rect">
            <a:avLst/>
          </a:prstGeom>
          <a:noFill/>
          <a:ln w="9525">
            <a:noFill/>
          </a:ln>
        </p:spPr>
        <p:txBody>
          <a:bodyPr wrap="none" anchor="t" anchorCtr="0">
            <a:spAutoFit/>
          </a:bodyPr>
          <a:p>
            <a:pPr algn="ctr" defTabSz="719455">
              <a:spcAft>
                <a:spcPts val="0"/>
              </a:spcAft>
            </a:pPr>
            <a:r>
              <a:rPr lang="zh-CN" altLang="en-US" sz="2400" b="1">
                <a:latin typeface="微软雅黑" panose="020B0503020204020204" charset="-122"/>
                <a:ea typeface="微软雅黑" panose="020B0503020204020204" charset="-122"/>
              </a:rPr>
              <a:t>阈值分割模型</a:t>
            </a:r>
            <a:endParaRPr lang="zh-CN" altLang="en-US" sz="2400" b="1">
              <a:latin typeface="微软雅黑" panose="020B0503020204020204" charset="-122"/>
              <a:ea typeface="微软雅黑" panose="020B0503020204020204" charset="-122"/>
            </a:endParaRPr>
          </a:p>
        </p:txBody>
      </p:sp>
      <p:sp>
        <p:nvSpPr>
          <p:cNvPr id="2" name="文本框 1"/>
          <p:cNvSpPr txBox="1"/>
          <p:nvPr/>
        </p:nvSpPr>
        <p:spPr>
          <a:xfrm>
            <a:off x="1322070" y="2166620"/>
            <a:ext cx="9225280" cy="460375"/>
          </a:xfrm>
          <a:prstGeom prst="rect">
            <a:avLst/>
          </a:prstGeom>
          <a:noFill/>
        </p:spPr>
        <p:txBody>
          <a:bodyPr wrap="square" rtlCol="0">
            <a:spAutoFit/>
          </a:bodyPr>
          <a:p>
            <a:pPr>
              <a:spcAft>
                <a:spcPts val="0"/>
              </a:spcAft>
            </a:pPr>
            <a:r>
              <a:rPr lang="zh-CN" altLang="en-US" sz="2400"/>
              <a:t>更一般的情况下是多阈值的情况，阈值分割后的图像可以表示为</a:t>
            </a:r>
            <a:endParaRPr lang="zh-CN" altLang="en-US" sz="2400"/>
          </a:p>
        </p:txBody>
      </p:sp>
      <p:graphicFrame>
        <p:nvGraphicFramePr>
          <p:cNvPr id="3" name="对象 2">
            <a:hlinkClick r:id="" action="ppaction://ole?verb="/>
          </p:cNvPr>
          <p:cNvGraphicFramePr>
            <a:graphicFrameLocks noChangeAspect="1"/>
          </p:cNvGraphicFramePr>
          <p:nvPr/>
        </p:nvGraphicFramePr>
        <p:xfrm>
          <a:off x="1767205" y="2783205"/>
          <a:ext cx="8911590" cy="703580"/>
        </p:xfrm>
        <a:graphic>
          <a:graphicData uri="http://schemas.openxmlformats.org/presentationml/2006/ole">
            <mc:AlternateContent xmlns:mc="http://schemas.openxmlformats.org/markup-compatibility/2006">
              <mc:Choice xmlns:v="urn:schemas-microsoft-com:vml" Requires="v">
                <p:oleObj spid="_x0000_s1025" name="" r:id="rId3" imgW="2895600" imgH="228600" progId="Equation.KSEE3">
                  <p:embed/>
                </p:oleObj>
              </mc:Choice>
              <mc:Fallback>
                <p:oleObj name="" r:id="rId3" imgW="2895600" imgH="228600" progId="Equation.KSEE3">
                  <p:embed/>
                  <p:pic>
                    <p:nvPicPr>
                      <p:cNvPr id="0" name="图片 1024"/>
                      <p:cNvPicPr/>
                      <p:nvPr/>
                    </p:nvPicPr>
                    <p:blipFill>
                      <a:blip r:embed="rId4"/>
                      <a:stretch>
                        <a:fillRect/>
                      </a:stretch>
                    </p:blipFill>
                    <p:spPr>
                      <a:xfrm>
                        <a:off x="1767205" y="2783205"/>
                        <a:ext cx="8911590" cy="703580"/>
                      </a:xfrm>
                      <a:prstGeom prst="rect">
                        <a:avLst/>
                      </a:prstGeom>
                    </p:spPr>
                  </p:pic>
                </p:oleObj>
              </mc:Fallback>
            </mc:AlternateContent>
          </a:graphicData>
        </a:graphic>
      </p:graphicFrame>
      <p:sp>
        <p:nvSpPr>
          <p:cNvPr id="4" name="文本框 3"/>
          <p:cNvSpPr txBox="1"/>
          <p:nvPr>
            <p:custDataLst>
              <p:tags r:id="rId5"/>
            </p:custDataLst>
          </p:nvPr>
        </p:nvSpPr>
        <p:spPr>
          <a:xfrm>
            <a:off x="1322070" y="3883025"/>
            <a:ext cx="9225280" cy="460375"/>
          </a:xfrm>
          <a:prstGeom prst="rect">
            <a:avLst/>
          </a:prstGeom>
          <a:noFill/>
        </p:spPr>
        <p:txBody>
          <a:bodyPr wrap="square" rtlCol="0">
            <a:spAutoFit/>
          </a:bodyPr>
          <a:p>
            <a:pPr>
              <a:spcAft>
                <a:spcPts val="0"/>
              </a:spcAft>
            </a:pPr>
            <a:r>
              <a:rPr lang="zh-CN" altLang="en-US" sz="2400">
                <a:latin typeface="Times New Roman" panose="02020603050405020304" charset="0"/>
                <a:cs typeface="Times New Roman" panose="02020603050405020304" charset="0"/>
              </a:rPr>
              <a:t>式中</a:t>
            </a:r>
            <a:r>
              <a:rPr lang="en-US" altLang="zh-CN" sz="2400" i="1">
                <a:latin typeface="Times New Roman" panose="02020603050405020304" charset="0"/>
                <a:cs typeface="Times New Roman" panose="02020603050405020304" charset="0"/>
              </a:rPr>
              <a:t>T</a:t>
            </a:r>
            <a:r>
              <a:rPr lang="en-US" altLang="zh-CN" sz="2400" i="1" baseline="-25000">
                <a:latin typeface="Times New Roman" panose="02020603050405020304" charset="0"/>
                <a:cs typeface="Times New Roman" panose="02020603050405020304" charset="0"/>
              </a:rPr>
              <a:t>k</a:t>
            </a:r>
            <a:r>
              <a:rPr lang="zh-CN" altLang="en-US" sz="2400">
                <a:latin typeface="Times New Roman" panose="02020603050405020304" charset="0"/>
                <a:cs typeface="Times New Roman" panose="02020603050405020304" charset="0"/>
              </a:rPr>
              <a:t>是一系列分割阈值，</a:t>
            </a:r>
            <a:r>
              <a:rPr lang="en-US" altLang="zh-CN" sz="2400" i="1">
                <a:latin typeface="Times New Roman" panose="02020603050405020304" charset="0"/>
                <a:cs typeface="Times New Roman" panose="02020603050405020304" charset="0"/>
              </a:rPr>
              <a:t>k</a:t>
            </a:r>
            <a:r>
              <a:rPr lang="zh-CN" altLang="en-US" sz="2400">
                <a:latin typeface="Times New Roman" panose="02020603050405020304" charset="0"/>
                <a:cs typeface="Times New Roman" panose="02020603050405020304" charset="0"/>
              </a:rPr>
              <a:t>表示分割后图像各区域的标号。</a:t>
            </a:r>
            <a:endParaRPr lang="zh-CN" altLang="en-US" sz="2400">
              <a:latin typeface="Times New Roman" panose="02020603050405020304" charset="0"/>
              <a:cs typeface="Times New Roman" panose="02020603050405020304" charset="0"/>
            </a:endParaRPr>
          </a:p>
        </p:txBody>
      </p:sp>
      <p:pic>
        <p:nvPicPr>
          <p:cNvPr id="100" name="图片 99"/>
          <p:cNvPicPr/>
          <p:nvPr/>
        </p:nvPicPr>
        <p:blipFill>
          <a:blip r:embed="rId6"/>
          <a:stretch>
            <a:fillRect/>
          </a:stretch>
        </p:blipFill>
        <p:spPr>
          <a:xfrm>
            <a:off x="3402965" y="1906905"/>
            <a:ext cx="6111240" cy="42919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5" name="矩形 318465"/>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8466" name="矩形 318466"/>
          <p:cNvSpPr/>
          <p:nvPr/>
        </p:nvSpPr>
        <p:spPr>
          <a:xfrm>
            <a:off x="1113155" y="1945005"/>
            <a:ext cx="9867900" cy="4544060"/>
          </a:xfrm>
          <a:prstGeom prst="rect">
            <a:avLst/>
          </a:prstGeom>
          <a:noFill/>
          <a:ln w="9525">
            <a:noFill/>
          </a:ln>
        </p:spPr>
        <p:txBody>
          <a:bodyPr wrap="square" anchor="t" anchorCtr="0">
            <a:spAutoFit/>
          </a:bodyPr>
          <a:p>
            <a:pPr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	</a:t>
            </a:r>
            <a:r>
              <a:rPr lang="zh-CN" altLang="en-US" sz="2400">
                <a:latin typeface="Times New Roman" panose="02020603050405020304" charset="0"/>
                <a:ea typeface="微软雅黑" panose="020B0503020204020204" charset="-122"/>
                <a:cs typeface="Times New Roman" panose="02020603050405020304" charset="0"/>
              </a:rPr>
              <a:t>由上可知，阈值分割最关键问题是选取合适的阈值</a:t>
            </a: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30000"/>
              </a:lnSpc>
              <a:spcBef>
                <a:spcPts val="600"/>
              </a:spcBef>
              <a:spcAft>
                <a:spcPts val="600"/>
              </a:spcAft>
            </a:pP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①	</a:t>
            </a:r>
            <a:r>
              <a:rPr lang="zh-CN" altLang="en-US" sz="2400" b="1">
                <a:latin typeface="Times New Roman" panose="02020603050405020304" charset="0"/>
                <a:ea typeface="微软雅黑" panose="020B0503020204020204" charset="-122"/>
                <a:cs typeface="Times New Roman" panose="02020603050405020304" charset="0"/>
              </a:rPr>
              <a:t>全局阈值</a:t>
            </a:r>
            <a:r>
              <a:rPr lang="zh-CN" altLang="en-US" sz="2400">
                <a:latin typeface="Times New Roman" panose="02020603050405020304" charset="0"/>
                <a:ea typeface="微软雅黑" panose="020B0503020204020204" charset="-122"/>
                <a:cs typeface="Times New Roman" panose="02020603050405020304" charset="0"/>
              </a:rPr>
              <a:t>：仅根据各个图像像素的本身性质</a:t>
            </a:r>
            <a:r>
              <a:rPr lang="en-US" altLang="zh-CN" sz="2400" i="1">
                <a:latin typeface="Times New Roman" panose="02020603050405020304" charset="0"/>
                <a:ea typeface="微软雅黑" panose="020B0503020204020204" charset="-122"/>
                <a:cs typeface="Times New Roman" panose="02020603050405020304" charset="0"/>
              </a:rPr>
              <a:t>f</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来选取而得到的阈值</a:t>
            </a: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②	</a:t>
            </a:r>
            <a:r>
              <a:rPr lang="zh-CN" altLang="en-US" sz="2400" b="1">
                <a:latin typeface="Times New Roman" panose="02020603050405020304" charset="0"/>
                <a:ea typeface="微软雅黑" panose="020B0503020204020204" charset="-122"/>
                <a:cs typeface="Times New Roman" panose="02020603050405020304" charset="0"/>
              </a:rPr>
              <a:t>局部阈值</a:t>
            </a:r>
            <a:r>
              <a:rPr lang="zh-CN" altLang="en-US" sz="2400">
                <a:latin typeface="Times New Roman" panose="02020603050405020304" charset="0"/>
                <a:ea typeface="微软雅黑" panose="020B0503020204020204" charset="-122"/>
                <a:cs typeface="Times New Roman" panose="02020603050405020304" charset="0"/>
              </a:rPr>
              <a:t>：根据像素的本身性质</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f</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和像素周围局部区域性质</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q</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来选取而得到的阈值</a:t>
            </a: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30000"/>
              </a:lnSpc>
              <a:spcBef>
                <a:spcPts val="600"/>
              </a:spcBef>
              <a:spcAft>
                <a:spcPts val="600"/>
              </a:spcAft>
            </a:pPr>
            <a:r>
              <a:rPr lang="en-US" altLang="zh-CN" sz="2400">
                <a:latin typeface="Times New Roman" panose="02020603050405020304" charset="0"/>
                <a:ea typeface="微软雅黑" panose="020B0503020204020204" charset="-122"/>
                <a:cs typeface="Times New Roman" panose="02020603050405020304" charset="0"/>
              </a:rPr>
              <a:t>③	</a:t>
            </a:r>
            <a:r>
              <a:rPr lang="zh-CN" altLang="en-US" sz="2400" b="1">
                <a:latin typeface="Times New Roman" panose="02020603050405020304" charset="0"/>
                <a:ea typeface="微软雅黑" panose="020B0503020204020204" charset="-122"/>
                <a:cs typeface="Times New Roman" panose="02020603050405020304" charset="0"/>
              </a:rPr>
              <a:t>动态阈值</a:t>
            </a:r>
            <a:r>
              <a:rPr lang="zh-CN" altLang="en-US" sz="2400">
                <a:latin typeface="Times New Roman" panose="02020603050405020304" charset="0"/>
                <a:ea typeface="微软雅黑" panose="020B0503020204020204" charset="-122"/>
                <a:cs typeface="Times New Roman" panose="02020603050405020304" charset="0"/>
              </a:rPr>
              <a:t>：根据像素本身性质</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f</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、周围局部区域性质</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q</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和像素位置坐标</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 </a:t>
            </a:r>
            <a:r>
              <a:rPr lang="en-US" altLang="zh-CN" sz="2400" i="1">
                <a:latin typeface="Times New Roman" panose="02020603050405020304" charset="0"/>
                <a:ea typeface="微软雅黑" panose="020B0503020204020204" charset="-122"/>
                <a:cs typeface="Times New Roman" panose="02020603050405020304" charset="0"/>
              </a:rPr>
              <a:t>y</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来选取</a:t>
            </a: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18467" name="矩形 318467"/>
          <p:cNvSpPr/>
          <p:nvPr/>
        </p:nvSpPr>
        <p:spPr>
          <a:xfrm>
            <a:off x="2535079" y="1260475"/>
            <a:ext cx="2011680" cy="460375"/>
          </a:xfrm>
          <a:prstGeom prst="rect">
            <a:avLst/>
          </a:prstGeom>
          <a:noFill/>
          <a:ln w="9525">
            <a:noFill/>
          </a:ln>
        </p:spPr>
        <p:txBody>
          <a:bodyPr wrap="none" anchor="t" anchorCtr="0">
            <a:spAutoFit/>
          </a:bodyPr>
          <a:p>
            <a:pPr algn="ctr" defTabSz="719455">
              <a:spcAft>
                <a:spcPts val="0"/>
              </a:spcAft>
            </a:pPr>
            <a:r>
              <a:rPr lang="zh-CN" altLang="en-US" sz="2400" b="1">
                <a:latin typeface="微软雅黑" panose="020B0503020204020204" charset="-122"/>
                <a:ea typeface="微软雅黑" panose="020B0503020204020204" charset="-122"/>
              </a:rPr>
              <a:t>阈值分割方法</a:t>
            </a:r>
            <a:endParaRPr lang="zh-CN" altLang="en-US" sz="2400" b="1">
              <a:latin typeface="微软雅黑" panose="020B0503020204020204" charset="-122"/>
              <a:ea typeface="微软雅黑" panose="020B0503020204020204" charset="-122"/>
            </a:endParaRPr>
          </a:p>
        </p:txBody>
      </p:sp>
      <p:pic>
        <p:nvPicPr>
          <p:cNvPr id="318468" name="图片 318468" descr="C:/Users/Administrator/AppData/Roaming/Yozo_Office/Temp/fc/1629533961615188032025/计算机视觉教程（第3版）PPT第05章.pptx/ppt/media/image24.png"/>
          <p:cNvPicPr/>
          <p:nvPr/>
        </p:nvPicPr>
        <p:blipFill>
          <a:blip r:embed="rId1"/>
          <a:stretch>
            <a:fillRect/>
          </a:stretch>
        </p:blipFill>
        <p:spPr>
          <a:xfrm>
            <a:off x="4319588" y="2519363"/>
            <a:ext cx="5040312" cy="541337"/>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89" name="矩形 31948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19490" name="矩形 319490"/>
          <p:cNvSpPr/>
          <p:nvPr/>
        </p:nvSpPr>
        <p:spPr>
          <a:xfrm>
            <a:off x="1929130" y="1945005"/>
            <a:ext cx="9246235" cy="2540635"/>
          </a:xfrm>
          <a:prstGeom prst="rect">
            <a:avLst/>
          </a:prstGeom>
          <a:noFill/>
          <a:ln w="9525">
            <a:noFill/>
          </a:ln>
        </p:spPr>
        <p:txBody>
          <a:bodyPr wrap="square" anchor="t" anchorCtr="0">
            <a:spAutoFit/>
          </a:bodyPr>
          <a:p>
            <a:pPr defTabSz="647700">
              <a:lnSpc>
                <a:spcPct val="140000"/>
              </a:lnSpc>
              <a:spcBef>
                <a:spcPts val="600"/>
              </a:spcBef>
              <a:spcAft>
                <a:spcPts val="600"/>
              </a:spcAft>
            </a:pPr>
            <a:r>
              <a:rPr lang="en-US" altLang="zh-CN" sz="2400" b="1">
                <a:latin typeface="微软雅黑" panose="020B0503020204020204" charset="-122"/>
                <a:ea typeface="微软雅黑" panose="020B0503020204020204" charset="-122"/>
              </a:rPr>
              <a:t>	</a:t>
            </a:r>
            <a:r>
              <a:rPr lang="zh-CN" altLang="en-US" sz="2400" b="1">
                <a:latin typeface="微软雅黑" panose="020B0503020204020204" charset="-122"/>
                <a:ea typeface="微软雅黑" panose="020B0503020204020204" charset="-122"/>
              </a:rPr>
              <a:t>极小值点阈值</a:t>
            </a:r>
            <a:endParaRPr lang="zh-CN" altLang="en-US" sz="2400" b="1">
              <a:latin typeface="微软雅黑" panose="020B0503020204020204" charset="-122"/>
              <a:ea typeface="微软雅黑" panose="020B0503020204020204" charset="-122"/>
            </a:endParaRPr>
          </a:p>
          <a:p>
            <a:pPr marL="0" lvl="1" indent="0" algn="just" defTabSz="647700">
              <a:lnSpc>
                <a:spcPct val="150000"/>
              </a:lnSpc>
              <a:spcBef>
                <a:spcPts val="600"/>
              </a:spcBef>
              <a:spcAft>
                <a:spcPts val="600"/>
              </a:spcAft>
            </a:pPr>
            <a:r>
              <a:rPr lang="zh-CN" altLang="en-US" sz="2400">
                <a:latin typeface="微软雅黑" panose="020B0503020204020204" charset="-122"/>
                <a:ea typeface="微软雅黑" panose="020B0503020204020204" charset="-122"/>
              </a:rPr>
              <a:t>	将直方图的包络看作一条曲线，则选取直方图的谷可借助求曲线极小值的方法</a:t>
            </a:r>
            <a:endParaRPr lang="zh-CN" altLang="en-US" sz="2400">
              <a:latin typeface="微软雅黑" panose="020B0503020204020204" charset="-122"/>
              <a:ea typeface="微软雅黑" panose="020B0503020204020204" charset="-122"/>
            </a:endParaRPr>
          </a:p>
          <a:p>
            <a:pPr marL="0" lvl="1" indent="0" defTabSz="647700">
              <a:lnSpc>
                <a:spcPct val="140000"/>
              </a:lnSpc>
              <a:spcBef>
                <a:spcPts val="600"/>
              </a:spcBef>
              <a:spcAft>
                <a:spcPts val="600"/>
              </a:spcAft>
            </a:pPr>
            <a:r>
              <a:rPr lang="zh-CN" altLang="en-US"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设用</a:t>
            </a:r>
            <a:r>
              <a:rPr lang="en-US" altLang="zh-CN" sz="2400" i="1">
                <a:latin typeface="Arial" panose="020B0604020202020204" pitchFamily="34" charset="0"/>
                <a:ea typeface="微软雅黑" panose="020B0503020204020204" charset="-122"/>
              </a:rPr>
              <a:t>h</a:t>
            </a:r>
            <a:r>
              <a:rPr lang="en-US" altLang="zh-CN" sz="2400">
                <a:latin typeface="Arial" panose="020B0604020202020204" pitchFamily="34" charset="0"/>
                <a:ea typeface="微软雅黑" panose="020B0503020204020204" charset="-122"/>
              </a:rPr>
              <a:t>(</a:t>
            </a:r>
            <a:r>
              <a:rPr lang="en-US" altLang="zh-CN" sz="2400" i="1">
                <a:latin typeface="Arial" panose="020B0604020202020204" pitchFamily="34" charset="0"/>
                <a:ea typeface="微软雅黑" panose="020B0503020204020204" charset="-122"/>
              </a:rPr>
              <a:t>z</a:t>
            </a:r>
            <a:r>
              <a:rPr lang="en-US" altLang="zh-CN" sz="2400">
                <a:latin typeface="Arial" panose="020B0604020202020204" pitchFamily="34" charset="0"/>
                <a:ea typeface="微软雅黑" panose="020B0503020204020204" charset="-122"/>
              </a:rPr>
              <a:t>)</a:t>
            </a:r>
            <a:r>
              <a:rPr lang="zh-CN" altLang="en-US" sz="2400">
                <a:latin typeface="微软雅黑" panose="020B0503020204020204" charset="-122"/>
                <a:ea typeface="微软雅黑" panose="020B0503020204020204" charset="-122"/>
              </a:rPr>
              <a:t>代表直方图，那么极小值点应满足以下条件：</a:t>
            </a:r>
            <a:endParaRPr lang="zh-CN" altLang="en-US" sz="2400" b="1">
              <a:latin typeface="微软雅黑" panose="020B0503020204020204" charset="-122"/>
              <a:ea typeface="微软雅黑" panose="020B0503020204020204" charset="-122"/>
            </a:endParaRPr>
          </a:p>
        </p:txBody>
      </p:sp>
      <p:sp>
        <p:nvSpPr>
          <p:cNvPr id="319491" name="矩形 319491"/>
          <p:cNvSpPr/>
          <p:nvPr/>
        </p:nvSpPr>
        <p:spPr>
          <a:xfrm>
            <a:off x="2519363" y="1260475"/>
            <a:ext cx="23164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全局阈值的选取</a:t>
            </a:r>
            <a:endParaRPr lang="zh-CN" altLang="en-US" sz="2400" b="1">
              <a:latin typeface="微软雅黑" panose="020B0503020204020204" charset="-122"/>
              <a:ea typeface="微软雅黑" panose="020B0503020204020204" charset="-122"/>
            </a:endParaRPr>
          </a:p>
        </p:txBody>
      </p:sp>
      <p:pic>
        <p:nvPicPr>
          <p:cNvPr id="319492" name="图片 319492" descr="C:/Users/Administrator/AppData/Roaming/Yozo_Office/Temp/fc/1629533961615188032025/计算机视觉教程（第3版）PPT第05章.pptx/ppt/media/image25.png"/>
          <p:cNvPicPr/>
          <p:nvPr/>
        </p:nvPicPr>
        <p:blipFill>
          <a:blip r:embed="rId1"/>
          <a:stretch>
            <a:fillRect/>
          </a:stretch>
        </p:blipFill>
        <p:spPr>
          <a:xfrm>
            <a:off x="4661535" y="4967288"/>
            <a:ext cx="3781425" cy="1008062"/>
          </a:xfrm>
          <a:prstGeom prst="rect">
            <a:avLst/>
          </a:prstGeom>
          <a:noFill/>
          <a:ln w="9525">
            <a:noFill/>
          </a:ln>
        </p:spPr>
      </p:pic>
      <p:grpSp>
        <p:nvGrpSpPr>
          <p:cNvPr id="4" name="组合 3"/>
          <p:cNvGrpSpPr/>
          <p:nvPr/>
        </p:nvGrpSpPr>
        <p:grpSpPr>
          <a:xfrm>
            <a:off x="2861945" y="2878455"/>
            <a:ext cx="7199630" cy="2592070"/>
            <a:chOff x="4041" y="4644"/>
            <a:chExt cx="11338" cy="4082"/>
          </a:xfrm>
        </p:grpSpPr>
        <p:pic>
          <p:nvPicPr>
            <p:cNvPr id="317445" name="图片 317445" descr="C:/Users/Administrator/AppData/Roaming/Yozo_Office/Temp/fc/1629533961615188032025/计算机视觉教程（第3版）PPT第05章.pptx/ppt/media/image23.emf"/>
            <p:cNvPicPr/>
            <p:nvPr>
              <p:custDataLst>
                <p:tags r:id="rId2"/>
              </p:custDataLst>
            </p:nvPr>
          </p:nvPicPr>
          <p:blipFill>
            <a:blip r:embed="rId3"/>
            <a:stretch>
              <a:fillRect/>
            </a:stretch>
          </p:blipFill>
          <p:spPr>
            <a:xfrm>
              <a:off x="4041" y="4644"/>
              <a:ext cx="11338" cy="4082"/>
            </a:xfrm>
            <a:prstGeom prst="rect">
              <a:avLst/>
            </a:prstGeom>
            <a:noFill/>
            <a:ln w="9525">
              <a:noFill/>
            </a:ln>
          </p:spPr>
        </p:pic>
        <p:sp>
          <p:nvSpPr>
            <p:cNvPr id="3" name="任意多边形 2"/>
            <p:cNvSpPr/>
            <p:nvPr/>
          </p:nvSpPr>
          <p:spPr>
            <a:xfrm>
              <a:off x="8567" y="5866"/>
              <a:ext cx="2350" cy="1409"/>
            </a:xfrm>
            <a:custGeom>
              <a:avLst/>
              <a:gdLst>
                <a:gd name="connisteX0" fmla="*/ 0 w 1492227"/>
                <a:gd name="connsiteY0" fmla="*/ 847097 h 937234"/>
                <a:gd name="connisteX1" fmla="*/ 278130 w 1492227"/>
                <a:gd name="connsiteY1" fmla="*/ 7 h 937234"/>
                <a:gd name="connisteX2" fmla="*/ 680085 w 1492227"/>
                <a:gd name="connsiteY2" fmla="*/ 834397 h 937234"/>
                <a:gd name="connisteX3" fmla="*/ 859155 w 1492227"/>
                <a:gd name="connsiteY3" fmla="*/ 840747 h 937234"/>
                <a:gd name="connisteX4" fmla="*/ 1063625 w 1492227"/>
                <a:gd name="connsiteY4" fmla="*/ 364497 h 937234"/>
                <a:gd name="connisteX5" fmla="*/ 1397635 w 1492227"/>
                <a:gd name="connsiteY5" fmla="*/ 847097 h 937234"/>
                <a:gd name="connisteX6" fmla="*/ 1490345 w 1492227"/>
                <a:gd name="connsiteY6" fmla="*/ 828682 h 937234"/>
                <a:gd name="connisteX7" fmla="*/ 1452880 w 1492227"/>
                <a:gd name="connsiteY7" fmla="*/ 853447 h 93723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rect l="l" t="t" r="r" b="b"/>
              <a:pathLst>
                <a:path w="1492228" h="937234">
                  <a:moveTo>
                    <a:pt x="0" y="847097"/>
                  </a:moveTo>
                  <a:cubicBezTo>
                    <a:pt x="47625" y="661042"/>
                    <a:pt x="142240" y="2547"/>
                    <a:pt x="278130" y="7"/>
                  </a:cubicBezTo>
                  <a:cubicBezTo>
                    <a:pt x="414020" y="-2533"/>
                    <a:pt x="563880" y="666122"/>
                    <a:pt x="680085" y="834397"/>
                  </a:cubicBezTo>
                  <a:cubicBezTo>
                    <a:pt x="796290" y="1002672"/>
                    <a:pt x="782320" y="934727"/>
                    <a:pt x="859155" y="840747"/>
                  </a:cubicBezTo>
                  <a:cubicBezTo>
                    <a:pt x="935990" y="746767"/>
                    <a:pt x="955675" y="363227"/>
                    <a:pt x="1063625" y="364497"/>
                  </a:cubicBezTo>
                  <a:cubicBezTo>
                    <a:pt x="1171575" y="365767"/>
                    <a:pt x="1312545" y="754387"/>
                    <a:pt x="1397635" y="847097"/>
                  </a:cubicBezTo>
                  <a:cubicBezTo>
                    <a:pt x="1482725" y="939807"/>
                    <a:pt x="1479550" y="827412"/>
                    <a:pt x="1490345" y="828682"/>
                  </a:cubicBezTo>
                  <a:cubicBezTo>
                    <a:pt x="1501140" y="829952"/>
                    <a:pt x="1462405" y="848367"/>
                    <a:pt x="1452880" y="853447"/>
                  </a:cubicBezTo>
                </a:path>
              </a:pathLst>
            </a:cu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3" name="矩形 32051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0514" name="矩形 320514"/>
          <p:cNvSpPr/>
          <p:nvPr/>
        </p:nvSpPr>
        <p:spPr>
          <a:xfrm>
            <a:off x="890905" y="1713230"/>
            <a:ext cx="10512425" cy="2722880"/>
          </a:xfrm>
          <a:prstGeom prst="rect">
            <a:avLst/>
          </a:prstGeom>
          <a:noFill/>
          <a:ln w="9525">
            <a:noFill/>
          </a:ln>
        </p:spPr>
        <p:txBody>
          <a:bodyPr wrap="square" anchor="t" anchorCtr="0">
            <a:spAutoFit/>
          </a:bodyPr>
          <a:p>
            <a:pPr defTabSz="647700">
              <a:lnSpc>
                <a:spcPct val="140000"/>
              </a:lnSpc>
              <a:spcBef>
                <a:spcPts val="600"/>
              </a:spcBef>
              <a:spcAft>
                <a:spcPts val="600"/>
              </a:spcAft>
            </a:pPr>
            <a:r>
              <a:rPr lang="en-US" altLang="zh-CN" b="1">
                <a:latin typeface="微软雅黑" panose="020B0503020204020204" charset="-122"/>
                <a:ea typeface="微软雅黑" panose="020B0503020204020204" charset="-122"/>
              </a:rPr>
              <a:t>	</a:t>
            </a:r>
            <a:r>
              <a:rPr lang="zh-CN" altLang="en-US" b="1">
                <a:latin typeface="微软雅黑" panose="020B0503020204020204" charset="-122"/>
                <a:ea typeface="微软雅黑" panose="020B0503020204020204" charset="-122"/>
              </a:rPr>
              <a:t>最优阈值		</a:t>
            </a:r>
            <a:endParaRPr lang="zh-CN" altLang="en-US" b="1">
              <a:latin typeface="微软雅黑" panose="020B0503020204020204" charset="-122"/>
              <a:ea typeface="微软雅黑" panose="020B0503020204020204" charset="-122"/>
            </a:endParaRPr>
          </a:p>
          <a:p>
            <a:pPr defTabSz="647700">
              <a:lnSpc>
                <a:spcPct val="140000"/>
              </a:lnSpc>
              <a:spcBef>
                <a:spcPts val="600"/>
              </a:spcBef>
              <a:spcAft>
                <a:spcPts val="600"/>
              </a:spcAft>
            </a:pPr>
            <a:r>
              <a:rPr lang="zh-CN" altLang="en-US">
                <a:latin typeface="微软雅黑" panose="020B0503020204020204" charset="-122"/>
                <a:ea typeface="微软雅黑" panose="020B0503020204020204" charset="-122"/>
              </a:rPr>
              <a:t>目标和背景部分交错，无法用一个全局阈值把他们分开，这时希望能减小误分割的概率，而选取最优阈值的方法。设一副图像仅包含两个主要的灰度值目标（</a:t>
            </a:r>
            <a:r>
              <a:rPr lang="zh-CN" altLang="en-US">
                <a:solidFill>
                  <a:srgbClr val="FF0000"/>
                </a:solidFill>
                <a:latin typeface="微软雅黑" panose="020B0503020204020204" charset="-122"/>
                <a:ea typeface="微软雅黑" panose="020B0503020204020204" charset="-122"/>
              </a:rPr>
              <a:t>目标和背景</a:t>
            </a:r>
            <a:r>
              <a:rPr lang="zh-CN" altLang="en-US">
                <a:latin typeface="微软雅黑" panose="020B0503020204020204" charset="-122"/>
                <a:ea typeface="微软雅黑" panose="020B0503020204020204" charset="-122"/>
              </a:rPr>
              <a:t>），它的直方图可看成</a:t>
            </a:r>
            <a:r>
              <a:rPr lang="zh-CN" altLang="en-US">
                <a:solidFill>
                  <a:srgbClr val="FF0000"/>
                </a:solidFill>
                <a:latin typeface="微软雅黑" panose="020B0503020204020204" charset="-122"/>
                <a:ea typeface="微软雅黑" panose="020B0503020204020204" charset="-122"/>
              </a:rPr>
              <a:t>灰度值概率密度函数</a:t>
            </a:r>
            <a:r>
              <a:rPr lang="en-US" altLang="zh-CN" i="1">
                <a:solidFill>
                  <a:srgbClr val="FF0000"/>
                </a:solidFill>
                <a:latin typeface="微软雅黑" panose="020B0503020204020204" charset="-122"/>
                <a:ea typeface="微软雅黑" panose="020B0503020204020204" charset="-122"/>
              </a:rPr>
              <a:t>p</a:t>
            </a:r>
            <a:r>
              <a:rPr lang="en-US" altLang="zh-CN">
                <a:solidFill>
                  <a:srgbClr val="FF0000"/>
                </a:solidFill>
                <a:latin typeface="微软雅黑" panose="020B0503020204020204" charset="-122"/>
                <a:ea typeface="微软雅黑" panose="020B0503020204020204" charset="-122"/>
              </a:rPr>
              <a:t>(</a:t>
            </a:r>
            <a:r>
              <a:rPr lang="en-US" altLang="zh-CN" i="1">
                <a:solidFill>
                  <a:srgbClr val="FF0000"/>
                </a:solidFill>
                <a:latin typeface="微软雅黑" panose="020B0503020204020204" charset="-122"/>
                <a:ea typeface="微软雅黑" panose="020B0503020204020204" charset="-122"/>
              </a:rPr>
              <a:t>z</a:t>
            </a:r>
            <a:r>
              <a:rPr lang="en-US" altLang="zh-CN">
                <a:solidFill>
                  <a:srgbClr val="FF0000"/>
                </a:solidFill>
                <a:latin typeface="微软雅黑" panose="020B0503020204020204" charset="-122"/>
                <a:ea typeface="微软雅黑" panose="020B0503020204020204" charset="-122"/>
              </a:rPr>
              <a:t>)</a:t>
            </a:r>
            <a:r>
              <a:rPr lang="zh-CN" altLang="en-US">
                <a:solidFill>
                  <a:srgbClr val="FF0000"/>
                </a:solidFill>
                <a:latin typeface="微软雅黑" panose="020B0503020204020204" charset="-122"/>
                <a:ea typeface="微软雅黑" panose="020B0503020204020204" charset="-122"/>
              </a:rPr>
              <a:t>的一个近似</a:t>
            </a:r>
            <a:r>
              <a:rPr lang="zh-CN" altLang="en-US">
                <a:latin typeface="微软雅黑" panose="020B0503020204020204" charset="-122"/>
                <a:ea typeface="微软雅黑" panose="020B0503020204020204" charset="-122"/>
              </a:rPr>
              <a:t>。这个密度函数实际上</a:t>
            </a:r>
            <a:r>
              <a:rPr lang="zh-CN" altLang="en-US">
                <a:solidFill>
                  <a:srgbClr val="FF0000"/>
                </a:solidFill>
                <a:latin typeface="微软雅黑" panose="020B0503020204020204" charset="-122"/>
                <a:ea typeface="微软雅黑" panose="020B0503020204020204" charset="-122"/>
              </a:rPr>
              <a:t>表示目标和背景的两个单峰密度函数之和</a:t>
            </a:r>
            <a:r>
              <a:rPr lang="zh-CN" altLang="en-US">
                <a:latin typeface="微软雅黑" panose="020B0503020204020204" charset="-122"/>
                <a:ea typeface="微软雅黑" panose="020B0503020204020204" charset="-122"/>
              </a:rPr>
              <a:t>。如果已知函数密度形式，那么有可能选取一个最优的阈值把图像分成两类区域而使误差最小。</a:t>
            </a:r>
            <a:endParaRPr lang="zh-CN" altLang="en-US" b="1">
              <a:latin typeface="微软雅黑" panose="020B0503020204020204" charset="-122"/>
              <a:ea typeface="微软雅黑" panose="020B0503020204020204" charset="-122"/>
            </a:endParaRPr>
          </a:p>
          <a:p>
            <a:pPr defTabSz="647700">
              <a:lnSpc>
                <a:spcPct val="140000"/>
              </a:lnSpc>
              <a:spcBef>
                <a:spcPts val="600"/>
              </a:spcBef>
              <a:spcAft>
                <a:spcPts val="600"/>
              </a:spcAft>
            </a:pPr>
            <a:r>
              <a:rPr lang="zh-CN" altLang="en-US">
                <a:latin typeface="微软雅黑" panose="020B0503020204020204" charset="-122"/>
                <a:ea typeface="微软雅黑" panose="020B0503020204020204" charset="-122"/>
              </a:rPr>
              <a:t>考虑混有加性高斯噪声的图像，它的混合概率密度如下</a:t>
            </a:r>
            <a:endParaRPr lang="zh-CN" altLang="en-US" b="1">
              <a:latin typeface="微软雅黑" panose="020B0503020204020204" charset="-122"/>
              <a:ea typeface="微软雅黑" panose="020B0503020204020204" charset="-122"/>
            </a:endParaRPr>
          </a:p>
        </p:txBody>
      </p:sp>
      <p:sp>
        <p:nvSpPr>
          <p:cNvPr id="320515" name="矩形 320515"/>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a:t>
            </a:r>
            <a:endParaRPr lang="zh-CN" altLang="en-US" sz="2400" b="1">
              <a:latin typeface="微软雅黑" panose="020B0503020204020204" charset="-122"/>
              <a:ea typeface="微软雅黑" panose="020B0503020204020204" charset="-122"/>
            </a:endParaRPr>
          </a:p>
        </p:txBody>
      </p:sp>
      <p:pic>
        <p:nvPicPr>
          <p:cNvPr id="320516" name="图片 320516" descr="C:/Users/Administrator/AppData/Roaming/Yozo_Office/Temp/fc/1629533961615188032025/计算机视觉教程（第3版）PPT第05章.pptx/ppt/media/image26.png"/>
          <p:cNvPicPr/>
          <p:nvPr/>
        </p:nvPicPr>
        <p:blipFill>
          <a:blip r:embed="rId1"/>
          <a:srcRect r="980"/>
          <a:stretch>
            <a:fillRect/>
          </a:stretch>
        </p:blipFill>
        <p:spPr>
          <a:xfrm>
            <a:off x="2006918" y="4424998"/>
            <a:ext cx="8280400" cy="973137"/>
          </a:xfrm>
          <a:prstGeom prst="rect">
            <a:avLst/>
          </a:prstGeom>
          <a:noFill/>
          <a:ln w="9525">
            <a:noFill/>
          </a:ln>
        </p:spPr>
      </p:pic>
      <mc:AlternateContent xmlns:mc="http://schemas.openxmlformats.org/markup-compatibility/2006">
        <mc:Choice xmlns:a14="http://schemas.microsoft.com/office/drawing/2010/main" Requires="a14">
          <p:sp>
            <p:nvSpPr>
              <p:cNvPr id="2" name="文本框 1"/>
              <p:cNvSpPr txBox="1"/>
              <p:nvPr/>
            </p:nvSpPr>
            <p:spPr>
              <a:xfrm>
                <a:off x="1169035" y="5686425"/>
                <a:ext cx="9683115" cy="645160"/>
              </a:xfrm>
              <a:prstGeom prst="rect">
                <a:avLst/>
              </a:prstGeom>
              <a:noFill/>
            </p:spPr>
            <p:txBody>
              <a:bodyPr wrap="square" rtlCol="0">
                <a:spAutoFit/>
              </a:bodyPr>
              <a:p>
                <a:pPr>
                  <a:spcAft>
                    <a:spcPts val="0"/>
                  </a:spcAft>
                </a:pPr>
                <a:r>
                  <a:rPr lang="zh-CN" altLang="en-US">
                    <a:latin typeface="Times New Roman" panose="02020603050405020304" charset="0"/>
                    <a:cs typeface="Times New Roman" panose="02020603050405020304" charset="0"/>
                  </a:rPr>
                  <a:t>其中，</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𝜇</m:t>
                        </m:r>
                      </m:e>
                      <m:sub>
                        <m:r>
                          <a:rPr lang="en-US" altLang="zh-CN" i="1">
                            <a:latin typeface="Cambria Math" panose="02040503050406030204" charset="0"/>
                            <a:ea typeface="MS Mincho" charset="0"/>
                            <a:cs typeface="Cambria Math" panose="02040503050406030204" charset="0"/>
                          </a:rPr>
                          <m:t>1</m:t>
                        </m:r>
                      </m:sub>
                    </m:sSub>
                  </m:oMath>
                </a14:m>
                <a:r>
                  <a:rPr lang="zh-CN" altLang="en-US">
                    <a:latin typeface="Times New Roman" panose="02020603050405020304" charset="0"/>
                    <a:cs typeface="Times New Roman" panose="02020603050405020304" charset="0"/>
                  </a:rPr>
                  <a:t>和</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𝜇</m:t>
                        </m:r>
                      </m:e>
                      <m:sub>
                        <m:r>
                          <a:rPr lang="en-US" altLang="zh-CN" i="1">
                            <a:latin typeface="Cambria Math" panose="02040503050406030204" charset="0"/>
                            <a:ea typeface="MS Mincho" charset="0"/>
                            <a:cs typeface="Cambria Math" panose="02040503050406030204" charset="0"/>
                          </a:rPr>
                          <m:t>2</m:t>
                        </m:r>
                      </m:sub>
                    </m:sSub>
                  </m:oMath>
                </a14:m>
                <a:r>
                  <a:rPr lang="zh-CN" altLang="en-US">
                    <a:latin typeface="Times New Roman" panose="02020603050405020304" charset="0"/>
                    <a:cs typeface="Times New Roman" panose="02020603050405020304" charset="0"/>
                  </a:rPr>
                  <a:t>分别是背景和目标区域的平均灰度值，</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𝜎</m:t>
                        </m:r>
                      </m:e>
                      <m:sub>
                        <m:r>
                          <a:rPr lang="en-US" altLang="zh-CN" i="1">
                            <a:latin typeface="Cambria Math" panose="02040503050406030204" charset="0"/>
                            <a:ea typeface="MS Mincho" charset="0"/>
                            <a:cs typeface="Cambria Math" panose="02040503050406030204" charset="0"/>
                          </a:rPr>
                          <m:t>1</m:t>
                        </m:r>
                      </m:sub>
                    </m:sSub>
                  </m:oMath>
                </a14:m>
                <a:r>
                  <a:rPr lang="zh-CN" altLang="en-US">
                    <a:latin typeface="Times New Roman" panose="02020603050405020304" charset="0"/>
                    <a:cs typeface="Times New Roman" panose="02020603050405020304" charset="0"/>
                  </a:rPr>
                  <a:t>和</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𝜎</m:t>
                        </m:r>
                      </m:e>
                      <m:sub>
                        <m:r>
                          <a:rPr lang="en-US" altLang="zh-CN" i="1">
                            <a:latin typeface="Cambria Math" panose="02040503050406030204" charset="0"/>
                            <a:ea typeface="MS Mincho" charset="0"/>
                            <a:cs typeface="Cambria Math" panose="02040503050406030204" charset="0"/>
                          </a:rPr>
                          <m:t>2</m:t>
                        </m:r>
                      </m:sub>
                    </m:sSub>
                  </m:oMath>
                </a14:m>
                <a:r>
                  <a:rPr lang="zh-CN" altLang="en-US">
                    <a:latin typeface="Times New Roman" panose="02020603050405020304" charset="0"/>
                    <a:cs typeface="Times New Roman" panose="02020603050405020304" charset="0"/>
                  </a:rPr>
                  <a:t>分别是均值的均方差，</a:t>
                </a:r>
                <a:r>
                  <a:rPr lang="en-US" altLang="zh-CN" i="1">
                    <a:latin typeface="Times New Roman" panose="02020603050405020304" charset="0"/>
                    <a:cs typeface="Times New Roman" panose="02020603050405020304" charset="0"/>
                  </a:rPr>
                  <a:t>P</a:t>
                </a:r>
                <a:r>
                  <a:rPr lang="en-US" altLang="zh-CN" i="1" baseline="-25000">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和</a:t>
                </a:r>
                <a:r>
                  <a:rPr lang="en-US" altLang="zh-CN" i="1">
                    <a:latin typeface="Times New Roman" panose="02020603050405020304" charset="0"/>
                    <a:cs typeface="Times New Roman" panose="02020603050405020304" charset="0"/>
                  </a:rPr>
                  <a:t>P</a:t>
                </a:r>
                <a:r>
                  <a:rPr lang="en-US" altLang="zh-CN" i="1" baseline="-25000">
                    <a:latin typeface="Times New Roman" panose="02020603050405020304" charset="0"/>
                    <a:cs typeface="Times New Roman" panose="02020603050405020304" charset="0"/>
                  </a:rPr>
                  <a:t>2</a:t>
                </a:r>
                <a:r>
                  <a:rPr lang="zh-CN" altLang="en-US">
                    <a:latin typeface="Times New Roman" panose="02020603050405020304" charset="0"/>
                    <a:cs typeface="Times New Roman" panose="02020603050405020304" charset="0"/>
                  </a:rPr>
                  <a:t>分别是背景和目标区域灰度值的先验概率。这里</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1</a:t>
                </a:r>
                <a:r>
                  <a:rPr lang="en-US" altLang="zh-CN" i="1">
                    <a:latin typeface="Times New Roman" panose="02020603050405020304" charset="0"/>
                    <a:cs typeface="Times New Roman" panose="02020603050405020304" charset="0"/>
                    <a:sym typeface="+mn-ea"/>
                  </a:rPr>
                  <a:t>+P</a:t>
                </a:r>
                <a:r>
                  <a:rPr lang="en-US" altLang="zh-CN" i="1" baseline="-25000">
                    <a:latin typeface="Times New Roman" panose="02020603050405020304" charset="0"/>
                    <a:cs typeface="Times New Roman" panose="02020603050405020304" charset="0"/>
                    <a:sym typeface="+mn-ea"/>
                  </a:rPr>
                  <a:t>2</a:t>
                </a:r>
                <a:r>
                  <a:rPr lang="en-US" altLang="zh-CN" i="1">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，所以这里面有</a:t>
                </a:r>
                <a:r>
                  <a:rPr lang="en-US" altLang="zh-CN">
                    <a:latin typeface="Times New Roman" panose="02020603050405020304" charset="0"/>
                    <a:cs typeface="Times New Roman" panose="02020603050405020304" charset="0"/>
                    <a:sym typeface="+mn-ea"/>
                  </a:rPr>
                  <a:t>5</a:t>
                </a:r>
                <a:r>
                  <a:rPr lang="zh-CN" altLang="en-US">
                    <a:latin typeface="Times New Roman" panose="02020603050405020304" charset="0"/>
                    <a:cs typeface="Times New Roman" panose="02020603050405020304" charset="0"/>
                    <a:sym typeface="+mn-ea"/>
                  </a:rPr>
                  <a:t>个未知参数。</a:t>
                </a:r>
                <a:endParaRPr lang="zh-CN" altLang="en-US">
                  <a:latin typeface="Times New Roman" panose="02020603050405020304" charset="0"/>
                  <a:cs typeface="Times New Roman" panose="02020603050405020304" charset="0"/>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1169035" y="5686425"/>
                <a:ext cx="9683115" cy="645160"/>
              </a:xfrm>
              <a:prstGeom prst="rect">
                <a:avLst/>
              </a:prstGeom>
              <a:blipFill rotWithShape="1">
                <a:blip r:embed="rId2"/>
                <a:stretch>
                  <a:fillRect/>
                </a:stretch>
              </a:blipFill>
            </p:spPr>
            <p:txBody>
              <a:bodyPr/>
              <a:lstStyle/>
              <a:p>
                <a:r>
                  <a:rPr lang="zh-CN" altLang="en-US">
                    <a:noFill/>
                  </a:rPr>
                  <a:t> </a:t>
                </a:r>
              </a:p>
            </p:txBody>
          </p:sp>
        </mc:Fallback>
      </mc:AlternateContent>
      <p:sp>
        <p:nvSpPr>
          <p:cNvPr id="3" name="文本框 2"/>
          <p:cNvSpPr txBox="1"/>
          <p:nvPr/>
        </p:nvSpPr>
        <p:spPr>
          <a:xfrm>
            <a:off x="3535680" y="6331585"/>
            <a:ext cx="5441950" cy="368300"/>
          </a:xfrm>
          <a:prstGeom prst="rect">
            <a:avLst/>
          </a:prstGeom>
          <a:noFill/>
        </p:spPr>
        <p:txBody>
          <a:bodyPr wrap="square" rtlCol="0">
            <a:spAutoFit/>
          </a:bodyPr>
          <a:p>
            <a:pPr>
              <a:spcAft>
                <a:spcPts val="0"/>
              </a:spcAft>
            </a:pPr>
            <a:r>
              <a:rPr lang="zh-CN" altLang="en-US">
                <a:solidFill>
                  <a:srgbClr val="FF0000"/>
                </a:solidFill>
              </a:rPr>
              <a:t>以上表示了有噪声的，符合高斯分布的图像</a:t>
            </a:r>
            <a:endParaRPr lang="zh-CN" altLang="en-US">
              <a:solidFill>
                <a:srgbClr val="FF0000"/>
              </a:solidFill>
            </a:endParaRPr>
          </a:p>
        </p:txBody>
      </p:sp>
    </p:spTree>
  </p:cSld>
  <p:clrMapOvr>
    <a:masterClrMapping/>
  </p:clrMapOvr>
  <p:transition spd="slow"/>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3" name="矩形 32051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20514" name="矩形 320514"/>
              <p:cNvSpPr/>
              <p:nvPr/>
            </p:nvSpPr>
            <p:spPr>
              <a:xfrm>
                <a:off x="890905" y="1713230"/>
                <a:ext cx="10512425" cy="1641475"/>
              </a:xfrm>
              <a:prstGeom prst="rect">
                <a:avLst/>
              </a:prstGeom>
              <a:noFill/>
              <a:ln w="9525">
                <a:noFill/>
              </a:ln>
            </p:spPr>
            <p:txBody>
              <a:bodyPr wrap="square" anchor="t" anchorCtr="0">
                <a:spAutoFit/>
              </a:bodyPr>
              <a:p>
                <a:pPr defTabSz="647700">
                  <a:lnSpc>
                    <a:spcPct val="140000"/>
                  </a:lnSpc>
                  <a:spcBef>
                    <a:spcPts val="600"/>
                  </a:spcBef>
                  <a:spcAft>
                    <a:spcPts val="0"/>
                  </a:spcAft>
                </a:pPr>
                <a:r>
                  <a:rPr lang="en-US" altLang="zh-CN" sz="2400" b="1">
                    <a:latin typeface="微软雅黑" panose="020B0503020204020204" charset="-122"/>
                    <a:ea typeface="微软雅黑" panose="020B0503020204020204" charset="-122"/>
                  </a:rPr>
                  <a:t>	</a:t>
                </a:r>
                <a:r>
                  <a:rPr lang="zh-CN" altLang="en-US" sz="2400" b="1">
                    <a:latin typeface="微软雅黑" panose="020B0503020204020204" charset="-122"/>
                    <a:ea typeface="微软雅黑" panose="020B0503020204020204" charset="-122"/>
                  </a:rPr>
                  <a:t>最优阈值		</a:t>
                </a:r>
                <a:r>
                  <a:rPr lang="zh-CN" altLang="en-US" sz="2400">
                    <a:latin typeface="Times New Roman" panose="02020603050405020304" charset="0"/>
                    <a:ea typeface="黑体" panose="02010609060101010101" charset="-122"/>
                    <a:cs typeface="Times New Roman" panose="02020603050405020304" charset="0"/>
                  </a:rPr>
                  <a:t>现在看图，其中画出了两个灰度概率密度函数，假设</a:t>
                </a:r>
                <a14:m>
                  <m:oMath xmlns:m="http://schemas.openxmlformats.org/officeDocument/2006/math">
                    <m:sSub>
                      <m:sSubPr>
                        <m:ctrlPr>
                          <a:rPr lang="en-US" altLang="zh-CN" sz="2400" i="1">
                            <a:latin typeface="Cambria Math" panose="02040503050406030204" charset="0"/>
                            <a:ea typeface="黑体" panose="02010609060101010101" charset="-122"/>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𝜇</m:t>
                        </m:r>
                      </m:e>
                      <m:sub>
                        <m:r>
                          <a:rPr lang="en-US" altLang="zh-CN" sz="2400" i="1">
                            <a:latin typeface="Cambria Math" panose="02040503050406030204" charset="0"/>
                            <a:ea typeface="MS Mincho" charset="0"/>
                            <a:cs typeface="Cambria Math" panose="02040503050406030204" charset="0"/>
                          </a:rPr>
                          <m:t>1</m:t>
                        </m:r>
                      </m:sub>
                    </m:sSub>
                    <m:r>
                      <a:rPr lang="en-US" altLang="zh-CN" sz="2400" i="1">
                        <a:latin typeface="Cambria Math" panose="02040503050406030204" charset="0"/>
                        <a:ea typeface="MS Mincho" charset="0"/>
                        <a:cs typeface="Cambria Math" panose="02040503050406030204" charset="0"/>
                      </a:rPr>
                      <m:t>&lt;</m:t>
                    </m:r>
                    <m:sSub>
                      <m:sSubPr>
                        <m:ctrlPr>
                          <a:rPr lang="en-US" altLang="zh-CN" sz="2400" i="1">
                            <a:latin typeface="Cambria Math" panose="02040503050406030204" charset="0"/>
                            <a:ea typeface="黑体" panose="02010609060101010101" charset="-122"/>
                            <a:cs typeface="Cambria Math" panose="02040503050406030204" charset="0"/>
                          </a:rPr>
                        </m:ctrlPr>
                      </m:sSubPr>
                      <m:e>
                        <m:r>
                          <a:rPr lang="en-US" altLang="zh-CN" sz="2400" i="1">
                            <a:latin typeface="Cambria Math" panose="02040503050406030204" charset="0"/>
                            <a:ea typeface="MS Mincho" charset="0"/>
                            <a:cs typeface="Cambria Math" panose="02040503050406030204" charset="0"/>
                          </a:rPr>
                          <m:t>𝜇</m:t>
                        </m:r>
                      </m:e>
                      <m:sub>
                        <m:r>
                          <a:rPr lang="en-US" altLang="zh-CN" sz="2400" i="1">
                            <a:latin typeface="Cambria Math" panose="02040503050406030204" charset="0"/>
                            <a:ea typeface="MS Mincho" charset="0"/>
                            <a:cs typeface="Cambria Math" panose="02040503050406030204" charset="0"/>
                          </a:rPr>
                          <m:t>2</m:t>
                        </m:r>
                      </m:sub>
                    </m:sSub>
                    <m:r>
                      <a:rPr lang="en-US" altLang="zh-CN" sz="2400" i="1">
                        <a:latin typeface="Cambria Math" panose="02040503050406030204" charset="0"/>
                        <a:ea typeface="MS Mincho" charset="0"/>
                        <a:cs typeface="Cambria Math" panose="02040503050406030204" charset="0"/>
                      </a:rPr>
                      <m:t>,</m:t>
                    </m:r>
                  </m:oMath>
                </a14:m>
                <a:r>
                  <a:rPr lang="zh-CN" altLang="en-US" sz="2400">
                    <a:latin typeface="Times New Roman" panose="02020603050405020304" charset="0"/>
                    <a:ea typeface="黑体" panose="02010609060101010101" charset="-122"/>
                    <a:cs typeface="Times New Roman" panose="02020603050405020304" charset="0"/>
                  </a:rPr>
                  <a:t>需要一个阈值</a:t>
                </a:r>
                <a:r>
                  <a:rPr lang="en-US" altLang="zh-CN" sz="2400" i="1">
                    <a:latin typeface="Times New Roman" panose="02020603050405020304" charset="0"/>
                    <a:ea typeface="黑体" panose="02010609060101010101" charset="-122"/>
                    <a:cs typeface="Times New Roman" panose="02020603050405020304" charset="0"/>
                  </a:rPr>
                  <a:t>T</a:t>
                </a:r>
                <a:r>
                  <a:rPr lang="zh-CN" altLang="en-US" sz="2400">
                    <a:latin typeface="Times New Roman" panose="02020603050405020304" charset="0"/>
                    <a:ea typeface="黑体" panose="02010609060101010101" charset="-122"/>
                    <a:cs typeface="Times New Roman" panose="02020603050405020304" charset="0"/>
                  </a:rPr>
                  <a:t>，使得灰度值小于</a:t>
                </a:r>
                <a:r>
                  <a:rPr lang="en-US" altLang="zh-CN" sz="2400" i="1">
                    <a:latin typeface="Times New Roman" panose="02020603050405020304" charset="0"/>
                    <a:ea typeface="黑体" panose="02010609060101010101" charset="-122"/>
                    <a:cs typeface="Times New Roman" panose="02020603050405020304" charset="0"/>
                  </a:rPr>
                  <a:t>T </a:t>
                </a:r>
                <a:r>
                  <a:rPr lang="zh-CN" altLang="en-US" sz="2400">
                    <a:latin typeface="Times New Roman" panose="02020603050405020304" charset="0"/>
                    <a:ea typeface="黑体" panose="02010609060101010101" charset="-122"/>
                    <a:cs typeface="Times New Roman" panose="02020603050405020304" charset="0"/>
                  </a:rPr>
                  <a:t>的被分割为背景，灰度值大于</a:t>
                </a:r>
                <a:r>
                  <a:rPr lang="en-US" altLang="zh-CN" sz="2400" i="1">
                    <a:latin typeface="Times New Roman" panose="02020603050405020304" charset="0"/>
                    <a:ea typeface="黑体" panose="02010609060101010101" charset="-122"/>
                    <a:cs typeface="Times New Roman" panose="02020603050405020304" charset="0"/>
                  </a:rPr>
                  <a:t>T </a:t>
                </a:r>
                <a:r>
                  <a:rPr lang="zh-CN" altLang="en-US" sz="2400">
                    <a:latin typeface="Times New Roman" panose="02020603050405020304" charset="0"/>
                    <a:ea typeface="黑体" panose="02010609060101010101" charset="-122"/>
                    <a:cs typeface="Times New Roman" panose="02020603050405020304" charset="0"/>
                  </a:rPr>
                  <a:t>的被分割为前景</a:t>
                </a:r>
                <a:endParaRPr lang="zh-CN" altLang="en-US" sz="2400">
                  <a:latin typeface="Times New Roman" panose="02020603050405020304" charset="0"/>
                  <a:ea typeface="黑体" panose="02010609060101010101" charset="-122"/>
                  <a:cs typeface="Times New Roman" panose="02020603050405020304" charset="0"/>
                </a:endParaRPr>
              </a:p>
            </p:txBody>
          </p:sp>
        </mc:Choice>
        <mc:Fallback>
          <p:sp>
            <p:nvSpPr>
              <p:cNvPr id="320514" name="矩形 320514"/>
              <p:cNvSpPr>
                <a:spLocks noRot="1" noChangeAspect="1" noMove="1" noResize="1" noEditPoints="1" noAdjustHandles="1" noChangeArrowheads="1" noChangeShapeType="1" noTextEdit="1"/>
              </p:cNvSpPr>
              <p:nvPr/>
            </p:nvSpPr>
            <p:spPr>
              <a:xfrm>
                <a:off x="890905" y="1713230"/>
                <a:ext cx="10512425" cy="1641475"/>
              </a:xfrm>
              <a:prstGeom prst="rect">
                <a:avLst/>
              </a:prstGeom>
              <a:blipFill rotWithShape="1">
                <a:blip r:embed="rId1"/>
                <a:stretch>
                  <a:fillRect/>
                </a:stretch>
              </a:blipFill>
              <a:ln w="9525">
                <a:noFill/>
              </a:ln>
            </p:spPr>
            <p:txBody>
              <a:bodyPr/>
              <a:lstStyle/>
              <a:p>
                <a:r>
                  <a:rPr lang="zh-CN" altLang="en-US">
                    <a:noFill/>
                  </a:rPr>
                  <a:t> </a:t>
                </a:r>
              </a:p>
            </p:txBody>
          </p:sp>
        </mc:Fallback>
      </mc:AlternateContent>
      <p:sp>
        <p:nvSpPr>
          <p:cNvPr id="320515" name="矩形 320515"/>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a:t>
            </a:r>
            <a:endParaRPr lang="zh-CN" altLang="en-US" sz="2400" b="1">
              <a:latin typeface="微软雅黑" panose="020B0503020204020204" charset="-122"/>
              <a:ea typeface="微软雅黑" panose="020B0503020204020204" charset="-122"/>
            </a:endParaRPr>
          </a:p>
        </p:txBody>
      </p:sp>
      <p:pic>
        <p:nvPicPr>
          <p:cNvPr id="320517" name="图片 320517" descr="C:/Users/Administrator/AppData/Roaming/Yozo_Office/Temp/fc/1629533961615188032025/计算机视觉教程（第3版）PPT第05章.pptx/ppt/media/image27.emf"/>
          <p:cNvPicPr/>
          <p:nvPr/>
        </p:nvPicPr>
        <p:blipFill>
          <a:blip r:embed="rId2"/>
          <a:srcRect t="1332" b="1334"/>
          <a:stretch>
            <a:fillRect/>
          </a:stretch>
        </p:blipFill>
        <p:spPr>
          <a:xfrm>
            <a:off x="2151380" y="3700780"/>
            <a:ext cx="7559675" cy="2700338"/>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7" name="矩形 321537"/>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1538" name="矩形 321538"/>
          <p:cNvSpPr/>
          <p:nvPr/>
        </p:nvSpPr>
        <p:spPr>
          <a:xfrm>
            <a:off x="772795" y="1804035"/>
            <a:ext cx="10234930" cy="953135"/>
          </a:xfrm>
          <a:prstGeom prst="rect">
            <a:avLst/>
          </a:prstGeom>
          <a:noFill/>
          <a:ln w="9525">
            <a:noFill/>
          </a:ln>
        </p:spPr>
        <p:txBody>
          <a:bodyPr wrap="square" anchor="t" anchorCtr="0">
            <a:spAutoFit/>
          </a:bodyPr>
          <a:p>
            <a:pPr defTabSz="647700">
              <a:lnSpc>
                <a:spcPct val="140000"/>
              </a:lnSpc>
              <a:spcBef>
                <a:spcPts val="600"/>
              </a:spcBef>
              <a:spcAft>
                <a:spcPts val="600"/>
              </a:spcAft>
            </a:pPr>
            <a:r>
              <a:rPr lang="zh-CN" altLang="en-US" sz="2000">
                <a:latin typeface="微软雅黑" panose="020B0503020204020204" charset="-122"/>
                <a:ea typeface="微软雅黑" panose="020B0503020204020204" charset="-122"/>
              </a:rPr>
              <a:t>考虑分割的概率，将一个目标像素错误的划分为背景的概率，和一个背景像素错误被分为目标的概率分别是</a:t>
            </a:r>
            <a:endParaRPr lang="zh-CN" altLang="en-US" sz="2000">
              <a:latin typeface="微软雅黑" panose="020B0503020204020204" charset="-122"/>
              <a:ea typeface="微软雅黑" panose="020B0503020204020204" charset="-122"/>
            </a:endParaRPr>
          </a:p>
        </p:txBody>
      </p:sp>
      <p:sp>
        <p:nvSpPr>
          <p:cNvPr id="321539" name="矩形 321539"/>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a:t>
            </a:r>
            <a:endParaRPr lang="zh-CN" altLang="en-US" sz="2400" b="1">
              <a:latin typeface="微软雅黑" panose="020B0503020204020204" charset="-122"/>
              <a:ea typeface="微软雅黑" panose="020B0503020204020204" charset="-122"/>
            </a:endParaRPr>
          </a:p>
        </p:txBody>
      </p:sp>
      <p:pic>
        <p:nvPicPr>
          <p:cNvPr id="321540" name="图片 321540" descr="C:/Users/Administrator/AppData/Roaming/Yozo_Office/Temp/fc/1629533961615188032025/计算机视觉教程（第3版）PPT第05章.pptx/ppt/media/image28.png"/>
          <p:cNvPicPr/>
          <p:nvPr/>
        </p:nvPicPr>
        <p:blipFill>
          <a:blip r:embed="rId1"/>
          <a:srcRect b="53583"/>
          <a:stretch>
            <a:fillRect/>
          </a:stretch>
        </p:blipFill>
        <p:spPr>
          <a:xfrm>
            <a:off x="3059430" y="2359660"/>
            <a:ext cx="2519045" cy="1069340"/>
          </a:xfrm>
          <a:prstGeom prst="rect">
            <a:avLst/>
          </a:prstGeom>
          <a:noFill/>
          <a:ln w="9525">
            <a:noFill/>
          </a:ln>
        </p:spPr>
      </p:pic>
      <p:pic>
        <p:nvPicPr>
          <p:cNvPr id="321541" name="图片 321541" descr="C:/Users/Administrator/AppData/Roaming/Yozo_Office/Temp/fc/1629533961615188032025/计算机视觉教程（第3版）PPT第05章.pptx/ppt/media/image29.png"/>
          <p:cNvPicPr/>
          <p:nvPr/>
        </p:nvPicPr>
        <p:blipFill>
          <a:blip r:embed="rId2"/>
          <a:stretch>
            <a:fillRect/>
          </a:stretch>
        </p:blipFill>
        <p:spPr>
          <a:xfrm>
            <a:off x="3542030" y="3502660"/>
            <a:ext cx="3887788" cy="541338"/>
          </a:xfrm>
          <a:prstGeom prst="rect">
            <a:avLst/>
          </a:prstGeom>
          <a:noFill/>
          <a:ln w="9525">
            <a:noFill/>
          </a:ln>
        </p:spPr>
      </p:pic>
      <p:pic>
        <p:nvPicPr>
          <p:cNvPr id="321542" name="图片 321542" descr="C:/Users/Administrator/AppData/Roaming/Yozo_Office/Temp/fc/1629533961615188032025/计算机视觉教程（第3版）PPT第05章.pptx/ppt/media/image30.png"/>
          <p:cNvPicPr/>
          <p:nvPr/>
        </p:nvPicPr>
        <p:blipFill>
          <a:blip r:embed="rId3"/>
          <a:stretch>
            <a:fillRect/>
          </a:stretch>
        </p:blipFill>
        <p:spPr>
          <a:xfrm>
            <a:off x="7760335" y="4104005"/>
            <a:ext cx="2952750" cy="504825"/>
          </a:xfrm>
          <a:prstGeom prst="rect">
            <a:avLst/>
          </a:prstGeom>
          <a:noFill/>
          <a:ln w="9525">
            <a:noFill/>
          </a:ln>
        </p:spPr>
      </p:pic>
      <p:pic>
        <p:nvPicPr>
          <p:cNvPr id="321543" name="图片 321543" descr="C:/Users/Administrator/AppData/Roaming/Yozo_Office/Temp/fc/1629533961615188032025/计算机视觉教程（第3版）PPT第05章.pptx/ppt/media/image31.png"/>
          <p:cNvPicPr/>
          <p:nvPr/>
        </p:nvPicPr>
        <p:blipFill>
          <a:blip r:embed="rId4"/>
          <a:stretch>
            <a:fillRect/>
          </a:stretch>
        </p:blipFill>
        <p:spPr>
          <a:xfrm>
            <a:off x="3541713" y="5415915"/>
            <a:ext cx="5040312" cy="1079500"/>
          </a:xfrm>
          <a:prstGeom prst="rect">
            <a:avLst/>
          </a:prstGeom>
          <a:noFill/>
          <a:ln w="9525">
            <a:noFill/>
          </a:ln>
        </p:spPr>
      </p:pic>
      <p:pic>
        <p:nvPicPr>
          <p:cNvPr id="2" name="图片 321540" descr="C:/Users/Administrator/AppData/Roaming/Yozo_Office/Temp/fc/1629533961615188032025/计算机视觉教程（第3版）PPT第05章.pptx/ppt/media/image28.png"/>
          <p:cNvPicPr/>
          <p:nvPr>
            <p:custDataLst>
              <p:tags r:id="rId5"/>
            </p:custDataLst>
          </p:nvPr>
        </p:nvPicPr>
        <p:blipFill>
          <a:blip r:embed="rId1"/>
          <a:srcRect t="52591"/>
          <a:stretch>
            <a:fillRect/>
          </a:stretch>
        </p:blipFill>
        <p:spPr>
          <a:xfrm>
            <a:off x="6096000" y="2293620"/>
            <a:ext cx="2519045" cy="1092200"/>
          </a:xfrm>
          <a:prstGeom prst="rect">
            <a:avLst/>
          </a:prstGeom>
          <a:noFill/>
          <a:ln w="9525">
            <a:noFill/>
          </a:ln>
        </p:spPr>
      </p:pic>
      <p:sp>
        <p:nvSpPr>
          <p:cNvPr id="3" name="文本框 2"/>
          <p:cNvSpPr txBox="1"/>
          <p:nvPr/>
        </p:nvSpPr>
        <p:spPr>
          <a:xfrm>
            <a:off x="561975" y="3589020"/>
            <a:ext cx="4064000" cy="368300"/>
          </a:xfrm>
          <a:prstGeom prst="rect">
            <a:avLst/>
          </a:prstGeom>
          <a:noFill/>
        </p:spPr>
        <p:txBody>
          <a:bodyPr wrap="square" rtlCol="0">
            <a:spAutoFit/>
          </a:bodyPr>
          <a:p>
            <a:pPr>
              <a:spcAft>
                <a:spcPts val="0"/>
              </a:spcAft>
            </a:pPr>
            <a:r>
              <a:rPr lang="zh-CN" altLang="en-US"/>
              <a:t>总的误差概率可以表示为</a:t>
            </a:r>
            <a:endParaRPr lang="zh-CN" altLang="en-US"/>
          </a:p>
        </p:txBody>
      </p:sp>
      <p:sp>
        <p:nvSpPr>
          <p:cNvPr id="4" name="文本框 3"/>
          <p:cNvSpPr txBox="1"/>
          <p:nvPr>
            <p:custDataLst>
              <p:tags r:id="rId6"/>
            </p:custDataLst>
          </p:nvPr>
        </p:nvSpPr>
        <p:spPr>
          <a:xfrm>
            <a:off x="561975" y="4172585"/>
            <a:ext cx="7030720" cy="368300"/>
          </a:xfrm>
          <a:prstGeom prst="rect">
            <a:avLst/>
          </a:prstGeom>
          <a:noFill/>
        </p:spPr>
        <p:txBody>
          <a:bodyPr wrap="square" rtlCol="0">
            <a:spAutoFit/>
          </a:bodyPr>
          <a:p>
            <a:pPr>
              <a:spcAft>
                <a:spcPts val="0"/>
              </a:spcAft>
            </a:pPr>
            <a:r>
              <a:rPr lang="zh-CN" altLang="en-US"/>
              <a:t>为求使得该误差最小的阈值，可将</a:t>
            </a:r>
            <a:r>
              <a:rPr lang="en-US" altLang="zh-CN"/>
              <a:t>E(T)</a:t>
            </a:r>
            <a:r>
              <a:rPr lang="zh-CN" altLang="en-US"/>
              <a:t>对</a:t>
            </a:r>
            <a:r>
              <a:rPr lang="en-US" altLang="zh-CN"/>
              <a:t>T</a:t>
            </a:r>
            <a:r>
              <a:rPr lang="zh-CN" altLang="en-US"/>
              <a:t>求导，并令导数为零得到：</a:t>
            </a:r>
            <a:endParaRPr lang="zh-CN" altLang="en-US"/>
          </a:p>
        </p:txBody>
      </p:sp>
      <p:sp>
        <p:nvSpPr>
          <p:cNvPr id="5" name="矩形 4"/>
          <p:cNvSpPr/>
          <p:nvPr/>
        </p:nvSpPr>
        <p:spPr>
          <a:xfrm>
            <a:off x="5539105" y="4151630"/>
            <a:ext cx="1904365" cy="40767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直接箭头连接符 5"/>
          <p:cNvCxnSpPr/>
          <p:nvPr/>
        </p:nvCxnSpPr>
        <p:spPr>
          <a:xfrm flipV="1">
            <a:off x="7473950" y="3842385"/>
            <a:ext cx="828675" cy="2844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8451215" y="3619500"/>
            <a:ext cx="1842135" cy="368300"/>
          </a:xfrm>
          <a:prstGeom prst="rect">
            <a:avLst/>
          </a:prstGeom>
          <a:noFill/>
          <a:ln>
            <a:solidFill>
              <a:srgbClr val="FF0000"/>
            </a:solidFill>
          </a:ln>
        </p:spPr>
        <p:txBody>
          <a:bodyPr wrap="square" rtlCol="0">
            <a:spAutoFit/>
          </a:bodyPr>
          <a:p>
            <a:pPr algn="ctr">
              <a:spcAft>
                <a:spcPts val="0"/>
              </a:spcAft>
            </a:pPr>
            <a:r>
              <a:rPr lang="zh-CN" altLang="en-US"/>
              <a:t>极小点阈值法</a:t>
            </a:r>
            <a:endParaRPr lang="zh-CN" altLang="en-US"/>
          </a:p>
        </p:txBody>
      </p:sp>
      <p:sp>
        <p:nvSpPr>
          <p:cNvPr id="8" name="文本框 7"/>
          <p:cNvSpPr txBox="1"/>
          <p:nvPr/>
        </p:nvSpPr>
        <p:spPr>
          <a:xfrm>
            <a:off x="784860" y="4924425"/>
            <a:ext cx="10505440" cy="368300"/>
          </a:xfrm>
          <a:prstGeom prst="rect">
            <a:avLst/>
          </a:prstGeom>
          <a:noFill/>
        </p:spPr>
        <p:txBody>
          <a:bodyPr wrap="square" rtlCol="0">
            <a:spAutoFit/>
          </a:bodyPr>
          <a:p>
            <a:pPr>
              <a:spcAft>
                <a:spcPts val="0"/>
              </a:spcAft>
            </a:pPr>
            <a:r>
              <a:rPr lang="zh-CN" altLang="en-US"/>
              <a:t>将这个结果带入到混合概率密度公式中，并求解，</a:t>
            </a:r>
            <a:r>
              <a:rPr lang="zh-CN" altLang="en-US">
                <a:solidFill>
                  <a:srgbClr val="FF0000"/>
                </a:solidFill>
              </a:rPr>
              <a:t>如果两个区域的方差相等</a:t>
            </a:r>
            <a:r>
              <a:rPr lang="zh-CN" altLang="en-US"/>
              <a:t>，则得到一个最优阈值公式</a:t>
            </a:r>
            <a:endParaRPr lang="en-US" altLang="zh-CN"/>
          </a:p>
        </p:txBody>
      </p:sp>
      <p:pic>
        <p:nvPicPr>
          <p:cNvPr id="320517" name="图片 320517" descr="C:/Users/Administrator/AppData/Roaming/Yozo_Office/Temp/fc/1629533961615188032025/计算机视觉教程（第3版）PPT第05章.pptx/ppt/media/image27.emf"/>
          <p:cNvPicPr/>
          <p:nvPr>
            <p:custDataLst>
              <p:tags r:id="rId7"/>
            </p:custDataLst>
          </p:nvPr>
        </p:nvPicPr>
        <p:blipFill>
          <a:blip r:embed="rId8"/>
          <a:srcRect t="1332" b="1334"/>
          <a:stretch>
            <a:fillRect/>
          </a:stretch>
        </p:blipFill>
        <p:spPr>
          <a:xfrm>
            <a:off x="5983605" y="125730"/>
            <a:ext cx="4599305" cy="185166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1" name="矩形 32256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2562" name="矩形 322562"/>
          <p:cNvSpPr/>
          <p:nvPr/>
        </p:nvSpPr>
        <p:spPr>
          <a:xfrm>
            <a:off x="944880" y="1871980"/>
            <a:ext cx="9745980" cy="2158365"/>
          </a:xfrm>
          <a:prstGeom prst="rect">
            <a:avLst/>
          </a:prstGeom>
          <a:noFill/>
          <a:ln w="9525">
            <a:noFill/>
          </a:ln>
        </p:spPr>
        <p:txBody>
          <a:bodyPr wrap="square" anchor="t" anchorCtr="0">
            <a:spAutoFit/>
          </a:bodyPr>
          <a:p>
            <a:pPr algn="just" defTabSz="719455">
              <a:lnSpc>
                <a:spcPct val="140000"/>
              </a:lnSpc>
              <a:spcBef>
                <a:spcPts val="600"/>
              </a:spcBef>
              <a:spcAft>
                <a:spcPts val="600"/>
              </a:spcAft>
            </a:pPr>
            <a:r>
              <a:rPr lang="zh-CN" sz="2400">
                <a:latin typeface="微软雅黑" panose="020B0503020204020204" charset="-122"/>
                <a:ea typeface="微软雅黑" panose="020B0503020204020204" charset="-122"/>
              </a:rPr>
              <a:t>在实际应用中，含有目标和背景两类区域的图像不一定总是呈现双峰形式，特别是当图像中目标和背景面积相差较大时，直方图的一个峰会淹没在另一个峰的缓坡里，直方图基本上是单峰形式。为了解决这类问题，可以通过对直方图的</a:t>
            </a:r>
            <a:r>
              <a:rPr lang="zh-CN" sz="2400">
                <a:solidFill>
                  <a:srgbClr val="FF0000"/>
                </a:solidFill>
                <a:latin typeface="微软雅黑" panose="020B0503020204020204" charset="-122"/>
                <a:ea typeface="微软雅黑" panose="020B0503020204020204" charset="-122"/>
              </a:rPr>
              <a:t>凹度</a:t>
            </a:r>
            <a:r>
              <a:rPr lang="zh-CN" sz="2400">
                <a:latin typeface="微软雅黑" panose="020B0503020204020204" charset="-122"/>
                <a:ea typeface="微软雅黑" panose="020B0503020204020204" charset="-122"/>
              </a:rPr>
              <a:t>进行分析，以找到合适的阈值。</a:t>
            </a:r>
            <a:endParaRPr lang="zh-CN" sz="2400">
              <a:latin typeface="Arial" panose="020B0604020202020204" pitchFamily="34" charset="0"/>
              <a:ea typeface="微软雅黑" panose="020B0503020204020204" charset="-122"/>
            </a:endParaRPr>
          </a:p>
        </p:txBody>
      </p:sp>
      <p:sp>
        <p:nvSpPr>
          <p:cNvPr id="322563" name="矩形 322563"/>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a:t>
            </a:r>
            <a:endParaRPr lang="zh-CN" altLang="en-US" sz="2400" b="1">
              <a:latin typeface="微软雅黑" panose="020B0503020204020204" charset="-122"/>
              <a:ea typeface="微软雅黑" panose="020B0503020204020204" charset="-122"/>
            </a:endParaRPr>
          </a:p>
        </p:txBody>
      </p:sp>
      <p:pic>
        <p:nvPicPr>
          <p:cNvPr id="2" name="图片 322564" descr="C:/Users/Administrator/AppData/Roaming/Yozo_Office/Temp/fc/1629533961615188032025/计算机视觉教程（第3版）PPT第05章.pptx/ppt/media/image32.emf"/>
          <p:cNvPicPr/>
          <p:nvPr>
            <p:custDataLst>
              <p:tags r:id="rId1"/>
            </p:custDataLst>
          </p:nvPr>
        </p:nvPicPr>
        <p:blipFill>
          <a:blip r:embed="rId2"/>
          <a:stretch>
            <a:fillRect/>
          </a:stretch>
        </p:blipFill>
        <p:spPr>
          <a:xfrm>
            <a:off x="3273425" y="4147820"/>
            <a:ext cx="4364990" cy="253619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1" name="矩形 32256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2562" name="矩形 322562"/>
          <p:cNvSpPr/>
          <p:nvPr/>
        </p:nvSpPr>
        <p:spPr>
          <a:xfrm>
            <a:off x="765175" y="1871980"/>
            <a:ext cx="10432415" cy="4632325"/>
          </a:xfrm>
          <a:prstGeom prst="rect">
            <a:avLst/>
          </a:prstGeom>
          <a:noFill/>
          <a:ln w="9525">
            <a:noFill/>
          </a:ln>
        </p:spPr>
        <p:txBody>
          <a:bodyPr wrap="square" anchor="t" anchorCtr="0">
            <a:spAutoFit/>
          </a:bodyPr>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图像的直方图可以看做平面上的一个区域</a:t>
            </a:r>
            <a:endParaRPr lang="zh-CN" altLang="en-US" sz="2400">
              <a:latin typeface="微软雅黑" panose="020B0503020204020204" charset="-122"/>
              <a:ea typeface="微软雅黑" panose="020B0503020204020204" charset="-122"/>
            </a:endParaRPr>
          </a:p>
          <a:p>
            <a:pPr algn="just" defTabSz="719455">
              <a:lnSpc>
                <a:spcPct val="140000"/>
              </a:lnSpc>
              <a:spcBef>
                <a:spcPts val="600"/>
              </a:spcBef>
              <a:spcAft>
                <a:spcPts val="600"/>
              </a:spcAft>
            </a:pPr>
            <a:r>
              <a:rPr lang="zh-CN" altLang="en-US" sz="2400" b="1">
                <a:latin typeface="微软雅黑" panose="020B0503020204020204" charset="-122"/>
                <a:ea typeface="微软雅黑" panose="020B0503020204020204" charset="-122"/>
              </a:rPr>
              <a:t>最大凸残差阈值	</a:t>
            </a:r>
            <a:r>
              <a:rPr lang="en-US" altLang="zh-CN"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对直方图凹度进行分析，</a:t>
            </a:r>
            <a:r>
              <a:rPr lang="zh-CN" altLang="en-US" sz="2400" b="1">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计算这个区域</a:t>
            </a:r>
            <a:endParaRPr lang="zh-CN" altLang="en-US" sz="2400">
              <a:latin typeface="微软雅黑" panose="020B0503020204020204" charset="-122"/>
              <a:ea typeface="微软雅黑" panose="020B0503020204020204" charset="-122"/>
            </a:endParaRPr>
          </a:p>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的凸包（见图</a:t>
            </a:r>
            <a:r>
              <a:rPr lang="en-US" altLang="zh-CN" sz="2400">
                <a:latin typeface="Arial" panose="020B0604020202020204" pitchFamily="34" charset="0"/>
                <a:ea typeface="微软雅黑" panose="020B0503020204020204" charset="-122"/>
              </a:rPr>
              <a:t>5.3.4</a:t>
            </a:r>
            <a:endParaRPr lang="en-US" altLang="zh-CN" sz="2400">
              <a:latin typeface="Arial" panose="020B0604020202020204" pitchFamily="34" charset="0"/>
              <a:ea typeface="微软雅黑" panose="020B0503020204020204" charset="-122"/>
            </a:endParaRPr>
          </a:p>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中各前后相连的细</a:t>
            </a:r>
            <a:endParaRPr lang="zh-CN" altLang="en-US" sz="2400">
              <a:latin typeface="微软雅黑" panose="020B0503020204020204" charset="-122"/>
              <a:ea typeface="微软雅黑" panose="020B0503020204020204" charset="-122"/>
            </a:endParaRPr>
          </a:p>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直线段）并检测凸</a:t>
            </a:r>
            <a:endParaRPr lang="zh-CN" altLang="en-US" sz="2400">
              <a:latin typeface="微软雅黑" panose="020B0503020204020204" charset="-122"/>
              <a:ea typeface="微软雅黑" panose="020B0503020204020204" charset="-122"/>
            </a:endParaRPr>
          </a:p>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残差最大处可得到</a:t>
            </a:r>
            <a:endParaRPr lang="zh-CN" altLang="en-US" sz="2400">
              <a:latin typeface="微软雅黑" panose="020B0503020204020204" charset="-122"/>
              <a:ea typeface="微软雅黑" panose="020B0503020204020204" charset="-122"/>
            </a:endParaRPr>
          </a:p>
          <a:p>
            <a:pPr algn="just" defTabSz="719455">
              <a:lnSpc>
                <a:spcPct val="140000"/>
              </a:lnSpc>
              <a:spcBef>
                <a:spcPts val="600"/>
              </a:spcBef>
              <a:spcAft>
                <a:spcPts val="600"/>
              </a:spcAft>
            </a:pPr>
            <a:r>
              <a:rPr lang="zh-CN" altLang="en-US" sz="2400">
                <a:latin typeface="微软雅黑" panose="020B0503020204020204" charset="-122"/>
                <a:ea typeface="微软雅黑" panose="020B0503020204020204" charset="-122"/>
              </a:rPr>
              <a:t>一个分割阈值</a:t>
            </a:r>
            <a:r>
              <a:rPr lang="en-US" altLang="zh-CN" sz="2400" i="1">
                <a:latin typeface="Arial" panose="020B0604020202020204" pitchFamily="34" charset="0"/>
                <a:ea typeface="微软雅黑" panose="020B0503020204020204" charset="-122"/>
              </a:rPr>
              <a:t>T</a:t>
            </a:r>
            <a:endParaRPr lang="en-US" altLang="zh-CN" sz="2400" b="1">
              <a:latin typeface="Arial" panose="020B0604020202020204" pitchFamily="34" charset="0"/>
              <a:ea typeface="微软雅黑" panose="020B0503020204020204" charset="-122"/>
            </a:endParaRPr>
          </a:p>
        </p:txBody>
      </p:sp>
      <p:sp>
        <p:nvSpPr>
          <p:cNvPr id="322563" name="矩形 322563"/>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全局阈值</a:t>
            </a:r>
            <a:endParaRPr lang="zh-CN" altLang="en-US" sz="2400" b="1">
              <a:latin typeface="微软雅黑" panose="020B0503020204020204" charset="-122"/>
              <a:ea typeface="微软雅黑" panose="020B0503020204020204" charset="-122"/>
            </a:endParaRPr>
          </a:p>
        </p:txBody>
      </p:sp>
      <p:pic>
        <p:nvPicPr>
          <p:cNvPr id="322564" name="图片 322564" descr="C:/Users/Administrator/AppData/Roaming/Yozo_Office/Temp/fc/1629533961615188032025/计算机视觉教程（第3版）PPT第05章.pptx/ppt/media/image32.emf"/>
          <p:cNvPicPr/>
          <p:nvPr/>
        </p:nvPicPr>
        <p:blipFill>
          <a:blip r:embed="rId1"/>
          <a:stretch>
            <a:fillRect/>
          </a:stretch>
        </p:blipFill>
        <p:spPr>
          <a:xfrm>
            <a:off x="4776470" y="3438208"/>
            <a:ext cx="6119813" cy="341947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5" name="矩形 323585"/>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3586" name="矩形 323586"/>
          <p:cNvSpPr/>
          <p:nvPr/>
        </p:nvSpPr>
        <p:spPr>
          <a:xfrm>
            <a:off x="3419475" y="2987675"/>
            <a:ext cx="539750" cy="1938020"/>
          </a:xfrm>
          <a:prstGeom prst="rect">
            <a:avLst/>
          </a:prstGeom>
          <a:noFill/>
          <a:ln w="9525">
            <a:noFill/>
          </a:ln>
        </p:spPr>
        <p:txBody>
          <a:bodyPr anchor="t" anchorCtr="0">
            <a:spAutoFit/>
          </a:bodyPr>
          <a:p>
            <a:pPr>
              <a:spcAft>
                <a:spcPts val="0"/>
              </a:spcAft>
            </a:pPr>
            <a:r>
              <a:rPr lang="zh-CN" altLang="en-US" sz="2400" b="1">
                <a:latin typeface="微软雅黑" panose="020B0503020204020204" charset="-122"/>
                <a:ea typeface="微软雅黑" panose="020B0503020204020204" charset="-122"/>
              </a:rPr>
              <a:t>直方图变换</a:t>
            </a:r>
            <a:endParaRPr lang="zh-CN" altLang="en-US" sz="2400" b="1">
              <a:latin typeface="微软雅黑" panose="020B0503020204020204" charset="-122"/>
              <a:ea typeface="微软雅黑" panose="020B0503020204020204" charset="-122"/>
            </a:endParaRPr>
          </a:p>
        </p:txBody>
      </p:sp>
      <p:sp>
        <p:nvSpPr>
          <p:cNvPr id="323587" name="矩形 323587"/>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局部阈值</a:t>
            </a:r>
            <a:endParaRPr lang="zh-CN" altLang="en-US" sz="2400" b="1">
              <a:latin typeface="微软雅黑" panose="020B0503020204020204" charset="-122"/>
              <a:ea typeface="微软雅黑" panose="020B0503020204020204" charset="-122"/>
            </a:endParaRPr>
          </a:p>
        </p:txBody>
      </p:sp>
      <p:pic>
        <p:nvPicPr>
          <p:cNvPr id="323588" name="图片 323588" descr="C:/Users/Administrator/AppData/Roaming/Yozo_Office/Temp/fc/1629533961615188032025/计算机视觉教程（第3版）PPT第05章.pptx/ppt/media/image33.emf"/>
          <p:cNvPicPr/>
          <p:nvPr/>
        </p:nvPicPr>
        <p:blipFill>
          <a:blip r:embed="rId1"/>
          <a:stretch>
            <a:fillRect/>
          </a:stretch>
        </p:blipFill>
        <p:spPr>
          <a:xfrm>
            <a:off x="4140200" y="1511300"/>
            <a:ext cx="7199313" cy="4860925"/>
          </a:xfrm>
          <a:prstGeom prst="rect">
            <a:avLst/>
          </a:prstGeom>
          <a:noFill/>
          <a:ln w="9525">
            <a:noFill/>
          </a:ln>
        </p:spPr>
      </p:pic>
      <p:sp>
        <p:nvSpPr>
          <p:cNvPr id="2" name="文本框 1"/>
          <p:cNvSpPr txBox="1"/>
          <p:nvPr/>
        </p:nvSpPr>
        <p:spPr>
          <a:xfrm>
            <a:off x="647065" y="2766695"/>
            <a:ext cx="2591435" cy="2584450"/>
          </a:xfrm>
          <a:prstGeom prst="rect">
            <a:avLst/>
          </a:prstGeom>
          <a:noFill/>
        </p:spPr>
        <p:txBody>
          <a:bodyPr wrap="square" rtlCol="0">
            <a:spAutoFit/>
          </a:bodyPr>
          <a:p>
            <a:pPr indent="0" fontAlgn="auto">
              <a:lnSpc>
                <a:spcPct val="150000"/>
              </a:lnSpc>
              <a:spcAft>
                <a:spcPts val="0"/>
              </a:spcAft>
            </a:pPr>
            <a:r>
              <a:rPr lang="zh-CN" altLang="en-US" b="1"/>
              <a:t>直方图变换</a:t>
            </a:r>
            <a:r>
              <a:rPr lang="zh-CN" altLang="en-US"/>
              <a:t>的思想是用像素邻域的局部性质对原有的直方图进行变换。</a:t>
            </a:r>
            <a:endParaRPr lang="zh-CN" altLang="en-US"/>
          </a:p>
          <a:p>
            <a:pPr marL="285750" indent="-285750" fontAlgn="auto">
              <a:lnSpc>
                <a:spcPct val="150000"/>
              </a:lnSpc>
              <a:spcBef>
                <a:spcPts val="0"/>
              </a:spcBef>
              <a:spcAft>
                <a:spcPts val="0"/>
              </a:spcAft>
              <a:buFont typeface="Wingdings" panose="05000000000000000000" charset="0"/>
              <a:buChar char="Ø"/>
            </a:pPr>
            <a:r>
              <a:rPr lang="zh-CN" altLang="en-US">
                <a:solidFill>
                  <a:srgbClr val="FF0000"/>
                </a:solidFill>
              </a:rPr>
              <a:t>使得峰变高，谷变低</a:t>
            </a:r>
            <a:endParaRPr lang="zh-CN" altLang="en-US">
              <a:solidFill>
                <a:srgbClr val="FF0000"/>
              </a:solidFill>
            </a:endParaRPr>
          </a:p>
          <a:p>
            <a:pPr marL="285750" indent="-285750" fontAlgn="auto">
              <a:lnSpc>
                <a:spcPct val="150000"/>
              </a:lnSpc>
              <a:spcBef>
                <a:spcPts val="0"/>
              </a:spcBef>
              <a:buFont typeface="Wingdings" panose="05000000000000000000" charset="0"/>
              <a:buChar char="Ø"/>
            </a:pPr>
            <a:r>
              <a:rPr lang="zh-CN" altLang="en-US">
                <a:solidFill>
                  <a:srgbClr val="FF0000"/>
                </a:solidFill>
              </a:rPr>
              <a:t>峰变谷，谷变峰</a:t>
            </a:r>
            <a:endParaRPr lang="zh-CN" altLang="en-US">
              <a:solidFill>
                <a:srgbClr val="FF0000"/>
              </a:solidFill>
            </a:endParaRPr>
          </a:p>
          <a:p>
            <a:pPr indent="0" fontAlgn="auto">
              <a:lnSpc>
                <a:spcPct val="150000"/>
              </a:lnSpc>
            </a:pPr>
            <a:endParaRPr lang="zh-CN" altLang="en-US">
              <a:solidFill>
                <a:srgbClr val="FF0000"/>
              </a:solidFill>
            </a:endParaRPr>
          </a:p>
        </p:txBody>
      </p:sp>
    </p:spTree>
  </p:cSld>
  <p:clrMapOvr>
    <a:masterClrMapping/>
  </p:clrMapOvr>
  <p:transition spd="slow"/>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09" name="矩形 32460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4610" name="矩形 324610"/>
          <p:cNvSpPr/>
          <p:nvPr/>
        </p:nvSpPr>
        <p:spPr>
          <a:xfrm>
            <a:off x="1785303" y="1616075"/>
            <a:ext cx="4679950" cy="2306955"/>
          </a:xfrm>
          <a:prstGeom prst="rect">
            <a:avLst/>
          </a:prstGeom>
          <a:noFill/>
          <a:ln w="9525">
            <a:noFill/>
          </a:ln>
        </p:spPr>
        <p:txBody>
          <a:bodyPr anchor="t" anchorCtr="0">
            <a:spAutoFit/>
          </a:bodyPr>
          <a:p>
            <a:pPr algn="ctr" defTabSz="719455">
              <a:lnSpc>
                <a:spcPct val="150000"/>
              </a:lnSpc>
              <a:spcAft>
                <a:spcPts val="0"/>
              </a:spcAft>
            </a:pPr>
            <a:r>
              <a:rPr lang="zh-CN" altLang="en-US" sz="2400" b="1">
                <a:latin typeface="微软雅黑" panose="020B0503020204020204" charset="-122"/>
                <a:ea typeface="微软雅黑" panose="020B0503020204020204" charset="-122"/>
              </a:rPr>
              <a:t>直方图变换</a:t>
            </a:r>
            <a:endParaRPr lang="zh-CN" altLang="en-US" sz="2400" b="1">
              <a:latin typeface="微软雅黑" panose="020B0503020204020204" charset="-122"/>
              <a:ea typeface="微软雅黑" panose="020B0503020204020204" charset="-122"/>
            </a:endParaRPr>
          </a:p>
          <a:p>
            <a:pPr defTabSz="719455">
              <a:lnSpc>
                <a:spcPct val="150000"/>
              </a:lnSpc>
              <a:spcBef>
                <a:spcPts val="0"/>
              </a:spcBef>
              <a:spcAft>
                <a:spcPts val="0"/>
              </a:spcAft>
            </a:pPr>
            <a:r>
              <a:rPr lang="en-US" altLang="zh-CN" sz="2400">
                <a:latin typeface="微软雅黑" panose="020B0503020204020204" charset="-122"/>
                <a:ea typeface="微软雅黑" panose="020B0503020204020204" charset="-122"/>
              </a:rPr>
              <a:t>①	</a:t>
            </a:r>
            <a:r>
              <a:rPr lang="zh-CN" altLang="en-US" sz="2400">
                <a:latin typeface="微软雅黑" panose="020B0503020204020204" charset="-122"/>
                <a:ea typeface="微软雅黑" panose="020B0503020204020204" charset="-122"/>
              </a:rPr>
              <a:t>具有低梯度值像素的直方图</a:t>
            </a:r>
            <a:endParaRPr lang="zh-CN" altLang="en-US" sz="2400">
              <a:latin typeface="微软雅黑" panose="020B0503020204020204" charset="-122"/>
              <a:ea typeface="微软雅黑" panose="020B0503020204020204" charset="-122"/>
            </a:endParaRPr>
          </a:p>
          <a:p>
            <a:pPr defTabSz="719455">
              <a:lnSpc>
                <a:spcPct val="150000"/>
              </a:lnSpc>
              <a:spcBef>
                <a:spcPts val="0"/>
              </a:spcBef>
            </a:pPr>
            <a:r>
              <a:rPr lang="en-US" altLang="zh-CN" sz="2400">
                <a:latin typeface="微软雅黑" panose="020B0503020204020204" charset="-122"/>
                <a:ea typeface="微软雅黑" panose="020B0503020204020204" charset="-122"/>
              </a:rPr>
              <a:t>②	</a:t>
            </a:r>
            <a:r>
              <a:rPr lang="zh-CN" altLang="en-US" sz="2400">
                <a:latin typeface="微软雅黑" panose="020B0503020204020204" charset="-122"/>
                <a:ea typeface="微软雅黑" panose="020B0503020204020204" charset="-122"/>
              </a:rPr>
              <a:t>具有高梯度值像素的直方图</a:t>
            </a:r>
            <a:endParaRPr lang="zh-CN" altLang="en-US" sz="2400" b="1">
              <a:latin typeface="微软雅黑" panose="020B0503020204020204" charset="-122"/>
              <a:ea typeface="微软雅黑" panose="020B0503020204020204" charset="-122"/>
            </a:endParaRPr>
          </a:p>
          <a:p>
            <a:pPr defTabSz="719455">
              <a:lnSpc>
                <a:spcPct val="150000"/>
              </a:lnSpc>
            </a:pPr>
            <a:endParaRPr lang="zh-CN" altLang="en-US" sz="2400" b="1">
              <a:latin typeface="微软雅黑" panose="020B0503020204020204" charset="-122"/>
              <a:ea typeface="微软雅黑" panose="020B0503020204020204" charset="-122"/>
            </a:endParaRPr>
          </a:p>
        </p:txBody>
      </p:sp>
      <p:sp>
        <p:nvSpPr>
          <p:cNvPr id="324611" name="矩形 324611"/>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局部阈值</a:t>
            </a:r>
            <a:endParaRPr lang="zh-CN" altLang="en-US" sz="2400" b="1">
              <a:latin typeface="微软雅黑" panose="020B0503020204020204" charset="-122"/>
              <a:ea typeface="微软雅黑" panose="020B0503020204020204" charset="-122"/>
            </a:endParaRPr>
          </a:p>
        </p:txBody>
      </p:sp>
      <p:pic>
        <p:nvPicPr>
          <p:cNvPr id="324612" name="图片 324612" descr="C:/Users/Administrator/AppData/Roaming/Yozo_Office/Temp/fc/1629533961615188032025/计算机视觉教程（第3版）PPT第05章.pptx/ppt/media/image34.emf"/>
          <p:cNvPicPr/>
          <p:nvPr/>
        </p:nvPicPr>
        <p:blipFill>
          <a:blip r:embed="rId1"/>
          <a:srcRect t="1315" b="31"/>
          <a:stretch>
            <a:fillRect/>
          </a:stretch>
        </p:blipFill>
        <p:spPr>
          <a:xfrm>
            <a:off x="1109028" y="3719195"/>
            <a:ext cx="8928100" cy="2881313"/>
          </a:xfrm>
          <a:prstGeom prst="rect">
            <a:avLst/>
          </a:prstGeom>
          <a:noFill/>
          <a:ln w="9525">
            <a:noFill/>
          </a:ln>
        </p:spPr>
      </p:pic>
      <p:sp>
        <p:nvSpPr>
          <p:cNvPr id="2" name="文本框 1"/>
          <p:cNvSpPr txBox="1"/>
          <p:nvPr/>
        </p:nvSpPr>
        <p:spPr>
          <a:xfrm>
            <a:off x="7536180" y="1987550"/>
            <a:ext cx="4064000" cy="829945"/>
          </a:xfrm>
          <a:prstGeom prst="rect">
            <a:avLst/>
          </a:prstGeom>
          <a:noFill/>
        </p:spPr>
        <p:txBody>
          <a:bodyPr wrap="square" rtlCol="0">
            <a:spAutoFit/>
          </a:bodyPr>
          <a:p>
            <a:pPr>
              <a:spcAft>
                <a:spcPts val="0"/>
              </a:spcAft>
            </a:pPr>
            <a:r>
              <a:rPr lang="zh-CN" altLang="en-US" sz="2400"/>
              <a:t>获取像素梯度值</a:t>
            </a:r>
            <a:r>
              <a:rPr lang="en-US" altLang="zh-CN" sz="2400" i="1">
                <a:latin typeface="Times New Roman" panose="02020603050405020304" charset="0"/>
                <a:cs typeface="Times New Roman" panose="02020603050405020304" charset="0"/>
              </a:rPr>
              <a:t>g</a:t>
            </a:r>
            <a:r>
              <a:rPr lang="zh-CN" altLang="en-US" sz="2400"/>
              <a:t>，利用一下加权公式进行变换。</a:t>
            </a:r>
            <a:endParaRPr lang="zh-CN" altLang="en-US" sz="2400"/>
          </a:p>
        </p:txBody>
      </p:sp>
      <p:graphicFrame>
        <p:nvGraphicFramePr>
          <p:cNvPr id="3" name="对象 2">
            <a:hlinkClick r:id="" action="ppaction://ole?verb="/>
          </p:cNvPr>
          <p:cNvGraphicFramePr>
            <a:graphicFrameLocks noChangeAspect="1"/>
          </p:cNvGraphicFramePr>
          <p:nvPr/>
        </p:nvGraphicFramePr>
        <p:xfrm>
          <a:off x="8456295" y="2990850"/>
          <a:ext cx="1964690" cy="876300"/>
        </p:xfrm>
        <a:graphic>
          <a:graphicData uri="http://schemas.openxmlformats.org/presentationml/2006/ole">
            <mc:AlternateContent xmlns:mc="http://schemas.openxmlformats.org/markup-compatibility/2006">
              <mc:Choice xmlns:v="urn:schemas-microsoft-com:vml" Requires="v">
                <p:oleObj spid="_x0000_s1025" name="" r:id="rId2" imgW="939800" imgH="419100" progId="Equation.KSEE3">
                  <p:embed/>
                </p:oleObj>
              </mc:Choice>
              <mc:Fallback>
                <p:oleObj name="" r:id="rId2" imgW="939800" imgH="419100" progId="Equation.KSEE3">
                  <p:embed/>
                  <p:pic>
                    <p:nvPicPr>
                      <p:cNvPr id="0" name="图片 1024"/>
                      <p:cNvPicPr/>
                      <p:nvPr/>
                    </p:nvPicPr>
                    <p:blipFill>
                      <a:blip r:embed="rId3"/>
                      <a:stretch>
                        <a:fillRect/>
                      </a:stretch>
                    </p:blipFill>
                    <p:spPr>
                      <a:xfrm>
                        <a:off x="8456295" y="2990850"/>
                        <a:ext cx="1964690" cy="876300"/>
                      </a:xfrm>
                      <a:prstGeom prst="rect">
                        <a:avLst/>
                      </a:prstGeom>
                    </p:spPr>
                  </p:pic>
                </p:oleObj>
              </mc:Fallback>
            </mc:AlternateContent>
          </a:graphicData>
        </a:graphic>
      </p:graphicFrame>
      <p:sp>
        <p:nvSpPr>
          <p:cNvPr id="4" name="文本框 3"/>
          <p:cNvSpPr txBox="1"/>
          <p:nvPr/>
        </p:nvSpPr>
        <p:spPr>
          <a:xfrm>
            <a:off x="6465570" y="800100"/>
            <a:ext cx="5225415" cy="460375"/>
          </a:xfrm>
          <a:prstGeom prst="rect">
            <a:avLst/>
          </a:prstGeom>
          <a:noFill/>
        </p:spPr>
        <p:txBody>
          <a:bodyPr wrap="square" rtlCol="0">
            <a:spAutoFit/>
          </a:bodyPr>
          <a:p>
            <a:pPr>
              <a:spcAft>
                <a:spcPts val="0"/>
              </a:spcAft>
            </a:pPr>
            <a:r>
              <a:rPr lang="zh-CN" altLang="en-US" sz="2400">
                <a:solidFill>
                  <a:srgbClr val="FF0000"/>
                </a:solidFill>
              </a:rPr>
              <a:t>边缘梯度值比较高！一阶导数</a:t>
            </a:r>
            <a:endParaRPr lang="zh-CN" altLang="en-US" sz="2400">
              <a:solidFill>
                <a:srgbClr val="FF0000"/>
              </a:solidFill>
            </a:endParaRPr>
          </a:p>
        </p:txBody>
      </p:sp>
    </p:spTree>
  </p:cSld>
  <p:clrMapOvr>
    <a:masterClrMapping/>
  </p:clrMapOvr>
  <p:transition spd="slow"/>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3" name="矩形 32563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5634" name="矩形 325634"/>
          <p:cNvSpPr/>
          <p:nvPr/>
        </p:nvSpPr>
        <p:spPr>
          <a:xfrm>
            <a:off x="2136775" y="1656080"/>
            <a:ext cx="8458835" cy="1198880"/>
          </a:xfrm>
          <a:prstGeom prst="rect">
            <a:avLst/>
          </a:prstGeom>
          <a:noFill/>
          <a:ln w="9525">
            <a:noFill/>
          </a:ln>
        </p:spPr>
        <p:txBody>
          <a:bodyPr wrap="square" anchor="t" anchorCtr="0">
            <a:spAutoFit/>
          </a:bodyPr>
          <a:p>
            <a:pPr algn="ctr" defTabSz="719455">
              <a:lnSpc>
                <a:spcPct val="150000"/>
              </a:lnSpc>
              <a:spcAft>
                <a:spcPts val="0"/>
              </a:spcAft>
            </a:pPr>
            <a:r>
              <a:rPr lang="zh-CN" altLang="en-US" sz="2400" b="1">
                <a:latin typeface="微软雅黑" panose="020B0503020204020204" charset="-122"/>
                <a:ea typeface="微软雅黑" panose="020B0503020204020204" charset="-122"/>
              </a:rPr>
              <a:t>加权直方图</a:t>
            </a:r>
            <a:endParaRPr lang="zh-CN" altLang="en-US" sz="2400" b="1">
              <a:latin typeface="微软雅黑" panose="020B0503020204020204" charset="-122"/>
              <a:ea typeface="微软雅黑" panose="020B0503020204020204" charset="-122"/>
            </a:endParaRPr>
          </a:p>
          <a:p>
            <a:pPr defTabSz="719455">
              <a:lnSpc>
                <a:spcPct val="150000"/>
              </a:lnSpc>
              <a:spcBef>
                <a:spcPts val="0"/>
              </a:spcBef>
            </a:pPr>
            <a:r>
              <a:rPr lang="zh-CN" altLang="en-US" sz="2400" b="1">
                <a:latin typeface="微软雅黑" panose="020B0503020204020204" charset="-122"/>
                <a:ea typeface="微软雅黑" panose="020B0503020204020204" charset="-122"/>
                <a:sym typeface="+mn-ea"/>
              </a:rPr>
              <a:t>直方图变换的</a:t>
            </a:r>
            <a:r>
              <a:rPr lang="zh-CN" altLang="en-US" sz="2400">
                <a:latin typeface="微软雅黑" panose="020B0503020204020204" charset="-122"/>
                <a:ea typeface="微软雅黑" panose="020B0503020204020204" charset="-122"/>
              </a:rPr>
              <a:t>目的赋给具有高梯度值的像素权重大一些</a:t>
            </a:r>
            <a:endParaRPr lang="zh-CN" altLang="en-US" sz="2400" b="1">
              <a:latin typeface="微软雅黑" panose="020B0503020204020204" charset="-122"/>
              <a:ea typeface="微软雅黑" panose="020B0503020204020204" charset="-122"/>
            </a:endParaRPr>
          </a:p>
        </p:txBody>
      </p:sp>
      <p:sp>
        <p:nvSpPr>
          <p:cNvPr id="325635" name="矩形 325635"/>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局部阈值</a:t>
            </a:r>
            <a:endParaRPr lang="zh-CN" altLang="en-US" sz="2400" b="1">
              <a:latin typeface="微软雅黑" panose="020B0503020204020204" charset="-122"/>
              <a:ea typeface="微软雅黑" panose="020B0503020204020204" charset="-122"/>
            </a:endParaRPr>
          </a:p>
        </p:txBody>
      </p:sp>
      <p:pic>
        <p:nvPicPr>
          <p:cNvPr id="325636" name="图片 325636" descr="F:\Book-ed\Second-7\S=CCV\ppt-for-web\Pic-f\060307.jpg"/>
          <p:cNvPicPr/>
          <p:nvPr/>
        </p:nvPicPr>
        <p:blipFill>
          <a:blip r:embed="rId1"/>
          <a:stretch>
            <a:fillRect/>
          </a:stretch>
        </p:blipFill>
        <p:spPr>
          <a:xfrm>
            <a:off x="2700338" y="3384550"/>
            <a:ext cx="8280400" cy="2879725"/>
          </a:xfrm>
          <a:prstGeom prst="rect">
            <a:avLst/>
          </a:prstGeom>
          <a:noFill/>
          <a:ln w="9525">
            <a:noFill/>
          </a:ln>
        </p:spPr>
      </p:pic>
      <p:sp>
        <p:nvSpPr>
          <p:cNvPr id="325637" name="矩形 325637"/>
          <p:cNvSpPr/>
          <p:nvPr/>
        </p:nvSpPr>
        <p:spPr>
          <a:xfrm>
            <a:off x="5080000" y="2952750"/>
            <a:ext cx="5694363" cy="398780"/>
          </a:xfrm>
          <a:prstGeom prst="rect">
            <a:avLst/>
          </a:prstGeom>
          <a:noFill/>
          <a:ln w="9525">
            <a:noFill/>
          </a:ln>
        </p:spPr>
        <p:txBody>
          <a:bodyPr anchor="t" anchorCtr="0">
            <a:spAutoFit/>
          </a:bodyPr>
          <a:p>
            <a:pPr>
              <a:spcAft>
                <a:spcPts val="0"/>
              </a:spcAft>
            </a:pPr>
            <a:r>
              <a:rPr lang="zh-CN" altLang="en-US" sz="2000">
                <a:latin typeface="微软雅黑" panose="020B0503020204020204" charset="-122"/>
                <a:ea typeface="微软雅黑" panose="020B0503020204020204" charset="-122"/>
              </a:rPr>
              <a:t>原始直方图               谷更深了           单峰对应谷</a:t>
            </a:r>
            <a:endParaRPr lang="zh-CN" altLang="en-US" sz="2000">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7" name="矩形 326657"/>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6658" name="矩形 326658"/>
          <p:cNvSpPr/>
          <p:nvPr/>
        </p:nvSpPr>
        <p:spPr>
          <a:xfrm>
            <a:off x="3240088" y="1619250"/>
            <a:ext cx="7559675" cy="2158365"/>
          </a:xfrm>
          <a:prstGeom prst="rect">
            <a:avLst/>
          </a:prstGeom>
          <a:noFill/>
          <a:ln w="9525">
            <a:noFill/>
          </a:ln>
        </p:spPr>
        <p:txBody>
          <a:bodyPr anchor="t" anchorCtr="0">
            <a:spAutoFit/>
          </a:bodyPr>
          <a:p>
            <a:pPr algn="ctr" defTabSz="719455">
              <a:lnSpc>
                <a:spcPct val="140000"/>
              </a:lnSpc>
              <a:spcAft>
                <a:spcPts val="0"/>
              </a:spcAft>
            </a:pPr>
            <a:r>
              <a:rPr lang="zh-CN" altLang="en-US" sz="2400" b="1">
                <a:latin typeface="微软雅黑" panose="020B0503020204020204" charset="-122"/>
                <a:ea typeface="微软雅黑" panose="020B0503020204020204" charset="-122"/>
              </a:rPr>
              <a:t>灰度</a:t>
            </a:r>
            <a:r>
              <a:rPr lang="en-US" altLang="zh-CN" sz="2400" b="1">
                <a:latin typeface="微软雅黑" panose="020B0503020204020204" charset="-122"/>
                <a:ea typeface="微软雅黑" panose="020B0503020204020204" charset="-122"/>
              </a:rPr>
              <a:t>-</a:t>
            </a:r>
            <a:r>
              <a:rPr lang="zh-CN" altLang="en-US" sz="2400" b="1">
                <a:latin typeface="微软雅黑" panose="020B0503020204020204" charset="-122"/>
                <a:ea typeface="微软雅黑" panose="020B0503020204020204" charset="-122"/>
              </a:rPr>
              <a:t>梯度散射图</a:t>
            </a:r>
            <a:endParaRPr lang="zh-CN" altLang="en-US" sz="2400" b="1">
              <a:latin typeface="微软雅黑" panose="020B0503020204020204" charset="-122"/>
              <a:ea typeface="微软雅黑" panose="020B0503020204020204" charset="-122"/>
            </a:endParaRPr>
          </a:p>
          <a:p>
            <a:pPr defTabSz="719455">
              <a:lnSpc>
                <a:spcPct val="140000"/>
              </a:lnSpc>
              <a:spcBef>
                <a:spcPts val="0"/>
              </a:spcBef>
            </a:pPr>
            <a:r>
              <a:rPr lang="zh-CN" altLang="en-US" sz="2400" b="1">
                <a:latin typeface="微软雅黑" panose="020B0503020204020204" charset="-122"/>
                <a:ea typeface="微软雅黑" panose="020B0503020204020204" charset="-122"/>
              </a:rPr>
              <a:t>	</a:t>
            </a:r>
            <a:r>
              <a:rPr lang="en-US" altLang="zh-CN" sz="2400" b="1">
                <a:latin typeface="Arial" panose="020B0604020202020204" pitchFamily="34" charset="0"/>
                <a:ea typeface="微软雅黑" panose="020B0503020204020204" charset="-122"/>
              </a:rPr>
              <a:t>2-D</a:t>
            </a:r>
            <a:r>
              <a:rPr lang="zh-CN" altLang="en-US" sz="2400" b="1">
                <a:latin typeface="微软雅黑" panose="020B0503020204020204" charset="-122"/>
                <a:ea typeface="微软雅黑" panose="020B0503020204020204" charset="-122"/>
              </a:rPr>
              <a:t>直方图</a:t>
            </a:r>
            <a:r>
              <a:rPr lang="zh-CN" altLang="en-US" sz="2400">
                <a:latin typeface="微软雅黑" panose="020B0503020204020204" charset="-122"/>
                <a:ea typeface="微软雅黑" panose="020B0503020204020204" charset="-122"/>
              </a:rPr>
              <a:t>：一个是灰度值，另一个是梯度值，统计值是同时具有某一个灰度值和梯度值的像素个数</a:t>
            </a:r>
            <a:endParaRPr lang="zh-CN" altLang="en-US" sz="2400" b="1">
              <a:latin typeface="微软雅黑" panose="020B0503020204020204" charset="-122"/>
              <a:ea typeface="微软雅黑" panose="020B0503020204020204" charset="-122"/>
            </a:endParaRPr>
          </a:p>
          <a:p>
            <a:pPr defTabSz="719455">
              <a:lnSpc>
                <a:spcPct val="140000"/>
              </a:lnSpc>
            </a:pPr>
            <a:endParaRPr lang="zh-CN" altLang="en-US" sz="2400" b="1">
              <a:latin typeface="微软雅黑" panose="020B0503020204020204" charset="-122"/>
              <a:ea typeface="微软雅黑" panose="020B0503020204020204" charset="-122"/>
            </a:endParaRPr>
          </a:p>
        </p:txBody>
      </p:sp>
      <p:sp>
        <p:nvSpPr>
          <p:cNvPr id="326659" name="矩形 326659"/>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局部阈值</a:t>
            </a:r>
            <a:endParaRPr lang="zh-CN" altLang="en-US" sz="2400" b="1">
              <a:latin typeface="微软雅黑" panose="020B0503020204020204" charset="-122"/>
              <a:ea typeface="微软雅黑" panose="020B0503020204020204" charset="-122"/>
            </a:endParaRPr>
          </a:p>
        </p:txBody>
      </p:sp>
      <p:pic>
        <p:nvPicPr>
          <p:cNvPr id="326660" name="图片 326660" descr="F:\Book-ed\Second-7\S=CCV\ppt-for-web\Pic-f\060308.jpg"/>
          <p:cNvPicPr/>
          <p:nvPr/>
        </p:nvPicPr>
        <p:blipFill>
          <a:blip r:embed="rId1"/>
          <a:srcRect l="2" r="914"/>
          <a:stretch>
            <a:fillRect/>
          </a:stretch>
        </p:blipFill>
        <p:spPr>
          <a:xfrm>
            <a:off x="437198" y="3320098"/>
            <a:ext cx="8280400" cy="3060700"/>
          </a:xfrm>
          <a:prstGeom prst="rect">
            <a:avLst/>
          </a:prstGeom>
          <a:noFill/>
          <a:ln w="9525">
            <a:noFill/>
          </a:ln>
        </p:spPr>
      </p:pic>
      <p:sp>
        <p:nvSpPr>
          <p:cNvPr id="2" name="文本框 1"/>
          <p:cNvSpPr txBox="1"/>
          <p:nvPr/>
        </p:nvSpPr>
        <p:spPr>
          <a:xfrm>
            <a:off x="9112885" y="3909695"/>
            <a:ext cx="2531745" cy="608965"/>
          </a:xfrm>
          <a:prstGeom prst="rect">
            <a:avLst/>
          </a:prstGeom>
          <a:noFill/>
        </p:spPr>
        <p:txBody>
          <a:bodyPr wrap="square" rtlCol="0">
            <a:noAutofit/>
          </a:bodyPr>
          <a:p>
            <a:pPr>
              <a:spcAft>
                <a:spcPts val="0"/>
              </a:spcAft>
            </a:pPr>
            <a:r>
              <a:rPr lang="zh-CN" altLang="en-US"/>
              <a:t>高梯度值像素的权为</a:t>
            </a:r>
            <a:r>
              <a:rPr lang="en-US" altLang="zh-CN"/>
              <a:t>0</a:t>
            </a:r>
            <a:r>
              <a:rPr lang="zh-CN" altLang="en-US"/>
              <a:t>，</a:t>
            </a:r>
            <a:endParaRPr lang="zh-CN" altLang="en-US"/>
          </a:p>
          <a:p>
            <a:pPr>
              <a:spcBef>
                <a:spcPts val="0"/>
              </a:spcBef>
            </a:pPr>
            <a:r>
              <a:rPr lang="zh-CN" altLang="en-US"/>
              <a:t>低梯度值像素的权为</a:t>
            </a:r>
            <a:r>
              <a:rPr lang="en-US" altLang="zh-CN"/>
              <a:t>1</a:t>
            </a:r>
            <a:endParaRPr lang="en-US" altLang="zh-CN"/>
          </a:p>
        </p:txBody>
      </p:sp>
    </p:spTree>
  </p:cSld>
  <p:clrMapOvr>
    <a:masterClrMapping/>
  </p:clrMapOvr>
  <p:transition spd="slow"/>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1" name="矩形 32768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7682" name="矩形 327682"/>
          <p:cNvSpPr/>
          <p:nvPr/>
        </p:nvSpPr>
        <p:spPr>
          <a:xfrm>
            <a:off x="751840" y="1720850"/>
            <a:ext cx="10688320" cy="4236085"/>
          </a:xfrm>
          <a:prstGeom prst="rect">
            <a:avLst/>
          </a:prstGeom>
          <a:noFill/>
          <a:ln w="9525">
            <a:noFill/>
          </a:ln>
        </p:spPr>
        <p:txBody>
          <a:bodyPr wrap="square" anchor="t" anchorCtr="0">
            <a:spAutoFit/>
          </a:bodyPr>
          <a:p>
            <a:pPr algn="just" defTabSz="719455">
              <a:lnSpc>
                <a:spcPct val="130000"/>
              </a:lnSpc>
              <a:spcAft>
                <a:spcPts val="600"/>
              </a:spcAft>
            </a:pPr>
            <a:r>
              <a:rPr lang="zh-CN" altLang="en-US" sz="2400">
                <a:latin typeface="微软雅黑" panose="020B0503020204020204" charset="-122"/>
                <a:ea typeface="微软雅黑" panose="020B0503020204020204" charset="-122"/>
              </a:rPr>
              <a:t>当图像有不同的</a:t>
            </a:r>
            <a:r>
              <a:rPr lang="zh-CN" altLang="en-US" sz="2400">
                <a:solidFill>
                  <a:srgbClr val="FF0000"/>
                </a:solidFill>
                <a:latin typeface="微软雅黑" panose="020B0503020204020204" charset="-122"/>
                <a:ea typeface="微软雅黑" panose="020B0503020204020204" charset="-122"/>
              </a:rPr>
              <a:t>照度变化</a:t>
            </a:r>
            <a:r>
              <a:rPr lang="zh-CN" altLang="en-US" sz="2400">
                <a:latin typeface="微软雅黑" panose="020B0503020204020204" charset="-122"/>
                <a:ea typeface="微软雅黑" panose="020B0503020204020204" charset="-122"/>
              </a:rPr>
              <a:t>（例如光照），或各处对比度不同，如果只用一个固定的阈值对全局进行分割，则可能不能兼顾图像各处的不同灰度情况而使分割效果受到影响。</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r>
              <a:rPr lang="zh-CN" altLang="en-US" sz="2400">
                <a:solidFill>
                  <a:srgbClr val="FF0000"/>
                </a:solidFill>
                <a:latin typeface="微软雅黑" panose="020B0503020204020204" charset="-122"/>
                <a:ea typeface="微软雅黑" panose="020B0503020204020204" charset="-122"/>
              </a:rPr>
              <a:t>解决方法</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r>
              <a:rPr lang="zh-CN" altLang="en-US" sz="2400">
                <a:latin typeface="微软雅黑" panose="020B0503020204020204" charset="-122"/>
                <a:ea typeface="微软雅黑" panose="020B0503020204020204" charset="-122"/>
              </a:rPr>
              <a:t>用与像素相关的一些列阈值对图像各部分分别进行分割，这种与坐标相关的阈值叫做</a:t>
            </a:r>
            <a:r>
              <a:rPr lang="zh-CN" altLang="en-US" sz="2400">
                <a:solidFill>
                  <a:srgbClr val="FF0000"/>
                </a:solidFill>
                <a:latin typeface="微软雅黑" panose="020B0503020204020204" charset="-122"/>
                <a:ea typeface="微软雅黑" panose="020B0503020204020204" charset="-122"/>
              </a:rPr>
              <a:t>动态阈值</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r>
              <a:rPr lang="zh-CN" altLang="en-US" sz="2400">
                <a:latin typeface="微软雅黑" panose="020B0503020204020204" charset="-122"/>
                <a:ea typeface="微软雅黑" panose="020B0503020204020204" charset="-122"/>
              </a:rPr>
              <a:t>采用随着空间位置变化的阈值来对图像各部分进行分割的方法</a:t>
            </a:r>
            <a:r>
              <a:rPr lang="zh-CN" altLang="en-US" sz="2400">
                <a:solidFill>
                  <a:srgbClr val="FF0000"/>
                </a:solidFill>
                <a:latin typeface="微软雅黑" panose="020B0503020204020204" charset="-122"/>
                <a:ea typeface="微软雅黑" panose="020B0503020204020204" charset="-122"/>
              </a:rPr>
              <a:t>也叫做变化阈值</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endParaRPr lang="zh-CN" altLang="en-US" sz="2400">
              <a:latin typeface="微软雅黑" panose="020B0503020204020204" charset="-122"/>
              <a:ea typeface="微软雅黑" panose="020B0503020204020204" charset="-122"/>
            </a:endParaRPr>
          </a:p>
        </p:txBody>
      </p:sp>
      <p:sp>
        <p:nvSpPr>
          <p:cNvPr id="327683" name="矩形 327683"/>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动态阈值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1" name="矩形 32768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7682" name="矩形 327682"/>
          <p:cNvSpPr/>
          <p:nvPr/>
        </p:nvSpPr>
        <p:spPr>
          <a:xfrm>
            <a:off x="419100" y="1729105"/>
            <a:ext cx="11320145" cy="4561840"/>
          </a:xfrm>
          <a:prstGeom prst="rect">
            <a:avLst/>
          </a:prstGeom>
          <a:noFill/>
          <a:ln w="9525">
            <a:noFill/>
          </a:ln>
        </p:spPr>
        <p:txBody>
          <a:bodyPr wrap="square" anchor="t" anchorCtr="0">
            <a:spAutoFit/>
          </a:bodyPr>
          <a:p>
            <a:pPr algn="just" defTabSz="719455">
              <a:lnSpc>
                <a:spcPct val="130000"/>
              </a:lnSpc>
              <a:spcAft>
                <a:spcPts val="600"/>
              </a:spcAft>
            </a:pPr>
            <a:r>
              <a:rPr lang="zh-CN" altLang="en-US" sz="2400">
                <a:latin typeface="微软雅黑" panose="020B0503020204020204" charset="-122"/>
                <a:ea typeface="微软雅黑" panose="020B0503020204020204" charset="-122"/>
              </a:rPr>
              <a:t>首先将图像分解成一系列子图像，这些子图像可以互相重叠，也可以只相邻。如果子图像比较小，那么由照度或者对比度的空间变化带了的问题也比较小，此时可以采用上述的任一种方法选取阈值。</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r>
              <a:rPr lang="zh-CN" altLang="en-US" sz="2400">
                <a:latin typeface="微软雅黑" panose="020B0503020204020204" charset="-122"/>
                <a:ea typeface="微软雅黑" panose="020B0503020204020204" charset="-122"/>
              </a:rPr>
              <a:t>通过对这些子图像选取的阈值进行插值，就可以得到对图像中的每一个像素进行分割所需的阈值（</a:t>
            </a:r>
            <a:r>
              <a:rPr lang="zh-CN" altLang="en-US" sz="2400">
                <a:solidFill>
                  <a:srgbClr val="FF0000"/>
                </a:solidFill>
                <a:latin typeface="微软雅黑" panose="020B0503020204020204" charset="-122"/>
                <a:ea typeface="微软雅黑" panose="020B0503020204020204" charset="-122"/>
              </a:rPr>
              <a:t>如果子图像是重叠的，那么对于重叠区域中的像素，可能会有多个阈值。在这种情况下，可以通过差值或插值的方法来确定每个像素的最终阈值。</a:t>
            </a:r>
            <a:r>
              <a:rPr lang="zh-CN" altLang="en-US" sz="2400">
                <a:latin typeface="微软雅黑" panose="020B0503020204020204" charset="-122"/>
                <a:ea typeface="微软雅黑" panose="020B0503020204020204" charset="-122"/>
              </a:rPr>
              <a:t>）。分割就是将每个像素都和与之对应的阈值相比较而实现的。这里对应每个像素的阈值组成图像（幅度轴）上的一个曲边，也叫做</a:t>
            </a:r>
            <a:r>
              <a:rPr lang="zh-CN" altLang="en-US" sz="2400">
                <a:solidFill>
                  <a:srgbClr val="FF0000"/>
                </a:solidFill>
                <a:latin typeface="微软雅黑" panose="020B0503020204020204" charset="-122"/>
                <a:ea typeface="微软雅黑" panose="020B0503020204020204" charset="-122"/>
              </a:rPr>
              <a:t>阈值曲面</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p:txBody>
      </p:sp>
      <p:sp>
        <p:nvSpPr>
          <p:cNvPr id="327683" name="矩形 327683"/>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动态阈值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1" name="矩形 32768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7682" name="矩形 327682"/>
          <p:cNvSpPr/>
          <p:nvPr/>
        </p:nvSpPr>
        <p:spPr>
          <a:xfrm>
            <a:off x="143510" y="1861185"/>
            <a:ext cx="11810365" cy="4686935"/>
          </a:xfrm>
          <a:prstGeom prst="rect">
            <a:avLst/>
          </a:prstGeom>
          <a:noFill/>
          <a:ln w="9525">
            <a:noFill/>
          </a:ln>
        </p:spPr>
        <p:txBody>
          <a:bodyPr wrap="square" anchor="t" anchorCtr="0">
            <a:noAutofit/>
          </a:bodyPr>
          <a:p>
            <a:pPr algn="just" defTabSz="719455">
              <a:lnSpc>
                <a:spcPct val="130000"/>
              </a:lnSpc>
              <a:spcAft>
                <a:spcPts val="600"/>
              </a:spcAft>
            </a:pPr>
            <a:r>
              <a:rPr lang="zh-CN" altLang="en-US" sz="2400">
                <a:latin typeface="Arial" panose="020B0604020202020204" pitchFamily="34" charset="0"/>
                <a:ea typeface="微软雅黑" panose="020B0503020204020204" charset="-122"/>
              </a:rPr>
              <a:t>实现步骤：</a:t>
            </a:r>
            <a:endParaRPr lang="en-US" altLang="zh-CN" sz="2400">
              <a:latin typeface="Arial" panose="020B0604020202020204" pitchFamily="34" charset="0"/>
              <a:ea typeface="微软雅黑" panose="020B0503020204020204" charset="-122"/>
            </a:endParaRPr>
          </a:p>
          <a:p>
            <a:pPr algn="just" defTabSz="719455">
              <a:lnSpc>
                <a:spcPct val="130000"/>
              </a:lnSpc>
              <a:spcAft>
                <a:spcPts val="600"/>
              </a:spcAft>
            </a:pPr>
            <a:r>
              <a:rPr lang="en-US" altLang="zh-CN" sz="2400">
                <a:latin typeface="Arial" panose="020B0604020202020204" pitchFamily="34" charset="0"/>
                <a:ea typeface="微软雅黑" panose="020B0503020204020204" charset="-122"/>
              </a:rPr>
              <a:t>(1)</a:t>
            </a:r>
            <a:r>
              <a:rPr lang="zh-CN" altLang="en-US" sz="2400">
                <a:latin typeface="微软雅黑" panose="020B0503020204020204" charset="-122"/>
                <a:ea typeface="微软雅黑" panose="020B0503020204020204" charset="-122"/>
              </a:rPr>
              <a:t>　将整幅图像分成一系列互相之间有一定重叠（如</a:t>
            </a:r>
            <a:r>
              <a:rPr lang="en-US" altLang="zh-CN" sz="2400">
                <a:latin typeface="Arial" panose="020B0604020202020204" pitchFamily="34" charset="0"/>
                <a:ea typeface="微软雅黑" panose="020B0503020204020204" charset="-122"/>
              </a:rPr>
              <a:t>50%</a:t>
            </a:r>
            <a:r>
              <a:rPr lang="zh-CN" altLang="en-US" sz="2400">
                <a:latin typeface="微软雅黑" panose="020B0503020204020204" charset="-122"/>
                <a:ea typeface="微软雅黑" panose="020B0503020204020204" charset="-122"/>
              </a:rPr>
              <a:t>）的子图像</a:t>
            </a:r>
            <a:endParaRPr lang="zh-CN" altLang="en-US" sz="2400">
              <a:latin typeface="微软雅黑" panose="020B0503020204020204" charset="-122"/>
              <a:ea typeface="微软雅黑" panose="020B0503020204020204" charset="-122"/>
            </a:endParaRPr>
          </a:p>
          <a:p>
            <a:pPr algn="just" defTabSz="719455">
              <a:lnSpc>
                <a:spcPct val="130000"/>
              </a:lnSpc>
              <a:spcBef>
                <a:spcPts val="0"/>
              </a:spcBef>
              <a:spcAft>
                <a:spcPts val="600"/>
              </a:spcAft>
            </a:pPr>
            <a:r>
              <a:rPr lang="en-US" altLang="zh-CN" sz="2400">
                <a:latin typeface="Arial" panose="020B0604020202020204" pitchFamily="34" charset="0"/>
                <a:ea typeface="微软雅黑" panose="020B0503020204020204" charset="-122"/>
              </a:rPr>
              <a:t>(2)</a:t>
            </a:r>
            <a:r>
              <a:rPr lang="zh-CN" altLang="en-US" sz="2400">
                <a:latin typeface="微软雅黑" panose="020B0503020204020204" charset="-122"/>
                <a:ea typeface="微软雅黑" panose="020B0503020204020204" charset="-122"/>
              </a:rPr>
              <a:t>　作出每个子图像的直方图</a:t>
            </a:r>
            <a:endParaRPr lang="zh-CN" altLang="en-US" sz="2400">
              <a:latin typeface="微软雅黑" panose="020B0503020204020204" charset="-122"/>
              <a:ea typeface="微软雅黑" panose="020B0503020204020204" charset="-122"/>
            </a:endParaRPr>
          </a:p>
          <a:p>
            <a:pPr algn="just" defTabSz="719455">
              <a:lnSpc>
                <a:spcPct val="130000"/>
              </a:lnSpc>
              <a:spcBef>
                <a:spcPts val="0"/>
              </a:spcBef>
              <a:spcAft>
                <a:spcPts val="600"/>
              </a:spcAft>
            </a:pPr>
            <a:r>
              <a:rPr lang="en-US" altLang="zh-CN" sz="2400">
                <a:latin typeface="Arial" panose="020B0604020202020204" pitchFamily="34" charset="0"/>
                <a:ea typeface="微软雅黑" panose="020B0503020204020204" charset="-122"/>
              </a:rPr>
              <a:t>(3)</a:t>
            </a:r>
            <a:r>
              <a:rPr lang="zh-CN" altLang="en-US" sz="2400">
                <a:latin typeface="微软雅黑" panose="020B0503020204020204" charset="-122"/>
                <a:ea typeface="微软雅黑" panose="020B0503020204020204" charset="-122"/>
              </a:rPr>
              <a:t>　检测各个子图像的直方图是否为双峰的，对双峰的采用前面介绍的最优阈值法确定一个阈值</a:t>
            </a:r>
            <a:endParaRPr lang="zh-CN" altLang="en-US" sz="2400">
              <a:latin typeface="微软雅黑" panose="020B0503020204020204" charset="-122"/>
              <a:ea typeface="微软雅黑" panose="020B0503020204020204" charset="-122"/>
            </a:endParaRPr>
          </a:p>
          <a:p>
            <a:pPr algn="just" defTabSz="719455">
              <a:lnSpc>
                <a:spcPct val="130000"/>
              </a:lnSpc>
              <a:spcBef>
                <a:spcPts val="0"/>
              </a:spcBef>
              <a:spcAft>
                <a:spcPts val="600"/>
              </a:spcAft>
            </a:pPr>
            <a:r>
              <a:rPr lang="en-US" altLang="zh-CN" sz="2400">
                <a:latin typeface="Arial" panose="020B0604020202020204" pitchFamily="34" charset="0"/>
                <a:ea typeface="微软雅黑" panose="020B0503020204020204" charset="-122"/>
              </a:rPr>
              <a:t>(4)</a:t>
            </a:r>
            <a:r>
              <a:rPr lang="zh-CN" altLang="en-US" sz="2400">
                <a:latin typeface="微软雅黑" panose="020B0503020204020204" charset="-122"/>
                <a:ea typeface="微软雅黑" panose="020B0503020204020204" charset="-122"/>
              </a:rPr>
              <a:t>　以对直方图为双峰的子图像选取的阈值为基础，通过插值得到所有子图像的阈值</a:t>
            </a:r>
            <a:endParaRPr lang="zh-CN" altLang="en-US" sz="2400">
              <a:latin typeface="微软雅黑" panose="020B0503020204020204" charset="-122"/>
              <a:ea typeface="微软雅黑" panose="020B0503020204020204" charset="-122"/>
            </a:endParaRPr>
          </a:p>
          <a:p>
            <a:pPr algn="just" defTabSz="719455">
              <a:lnSpc>
                <a:spcPct val="130000"/>
              </a:lnSpc>
              <a:spcBef>
                <a:spcPts val="0"/>
              </a:spcBef>
              <a:spcAft>
                <a:spcPts val="600"/>
              </a:spcAft>
            </a:pPr>
            <a:r>
              <a:rPr lang="en-US" altLang="zh-CN" sz="2400">
                <a:latin typeface="Arial" panose="020B0604020202020204" pitchFamily="34" charset="0"/>
                <a:ea typeface="微软雅黑" panose="020B0503020204020204" charset="-122"/>
              </a:rPr>
              <a:t>(5)</a:t>
            </a:r>
            <a:r>
              <a:rPr lang="zh-CN" altLang="en-US" sz="2400">
                <a:latin typeface="微软雅黑" panose="020B0503020204020204" charset="-122"/>
                <a:ea typeface="微软雅黑" panose="020B0503020204020204" charset="-122"/>
              </a:rPr>
              <a:t>　根据各子图像的阈值再通过插值得到所有像素的阈值，然后对图像进行分割</a:t>
            </a:r>
            <a:endParaRPr lang="zh-CN" altLang="en-US" sz="2400">
              <a:latin typeface="微软雅黑" panose="020B0503020204020204" charset="-122"/>
              <a:ea typeface="微软雅黑" panose="020B0503020204020204" charset="-122"/>
            </a:endParaRPr>
          </a:p>
          <a:p>
            <a:pPr algn="just" defTabSz="719455">
              <a:lnSpc>
                <a:spcPct val="130000"/>
              </a:lnSpc>
              <a:spcAft>
                <a:spcPts val="600"/>
              </a:spcAft>
            </a:pPr>
            <a:endParaRPr lang="zh-CN" altLang="en-US" sz="2400" b="1">
              <a:latin typeface="微软雅黑" panose="020B0503020204020204" charset="-122"/>
              <a:ea typeface="微软雅黑" panose="020B0503020204020204" charset="-122"/>
            </a:endParaRPr>
          </a:p>
        </p:txBody>
      </p:sp>
      <p:sp>
        <p:nvSpPr>
          <p:cNvPr id="327683" name="矩形 327683"/>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动态阈值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5" name="矩形 328705"/>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4.3  </a:t>
            </a:r>
            <a:r>
              <a:rPr lang="zh-CN" altLang="en-US" sz="2800" b="1">
                <a:latin typeface="微软雅黑" panose="020B0503020204020204" charset="-122"/>
                <a:ea typeface="微软雅黑" panose="020B0503020204020204" charset="-122"/>
              </a:rPr>
              <a:t>基本阈值技术</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8706" name="矩形 328706"/>
          <p:cNvSpPr/>
          <p:nvPr/>
        </p:nvSpPr>
        <p:spPr>
          <a:xfrm>
            <a:off x="3240088" y="1871663"/>
            <a:ext cx="7991475" cy="1753235"/>
          </a:xfrm>
          <a:prstGeom prst="rect">
            <a:avLst/>
          </a:prstGeom>
          <a:noFill/>
          <a:ln w="9525">
            <a:noFill/>
          </a:ln>
        </p:spPr>
        <p:txBody>
          <a:bodyPr anchor="t" anchorCtr="0">
            <a:spAutoFit/>
          </a:bodyPr>
          <a:p>
            <a:pPr defTabSz="719455">
              <a:lnSpc>
                <a:spcPct val="150000"/>
              </a:lnSpc>
              <a:spcAft>
                <a:spcPts val="0"/>
              </a:spcAft>
            </a:pPr>
            <a:r>
              <a:rPr lang="en-US" altLang="zh-CN"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(a) </a:t>
            </a:r>
            <a:r>
              <a:rPr lang="zh-CN" altLang="en-US" sz="2400">
                <a:latin typeface="微软雅黑" panose="020B0503020204020204" charset="-122"/>
                <a:ea typeface="微软雅黑" panose="020B0503020204020204" charset="-122"/>
              </a:rPr>
              <a:t>具有一定的灰度梯度的图像</a:t>
            </a:r>
            <a:endParaRPr lang="zh-CN" altLang="en-US" sz="2400">
              <a:latin typeface="微软雅黑" panose="020B0503020204020204" charset="-122"/>
              <a:ea typeface="微软雅黑" panose="020B0503020204020204" charset="-122"/>
            </a:endParaRPr>
          </a:p>
          <a:p>
            <a:pPr defTabSz="719455">
              <a:lnSpc>
                <a:spcPct val="150000"/>
              </a:lnSpc>
              <a:spcBef>
                <a:spcPts val="0"/>
              </a:spcBef>
              <a:spcAft>
                <a:spcPts val="0"/>
              </a:spcAft>
            </a:pPr>
            <a:r>
              <a:rPr lang="zh-CN" altLang="en-US"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(b) </a:t>
            </a:r>
            <a:r>
              <a:rPr lang="zh-CN" altLang="en-US" sz="2400">
                <a:latin typeface="微软雅黑" panose="020B0503020204020204" charset="-122"/>
                <a:ea typeface="微软雅黑" panose="020B0503020204020204" charset="-122"/>
              </a:rPr>
              <a:t>用全局取阈值分割得到的结果</a:t>
            </a:r>
            <a:endParaRPr lang="zh-CN" altLang="en-US" sz="2400">
              <a:latin typeface="微软雅黑" panose="020B0503020204020204" charset="-122"/>
              <a:ea typeface="微软雅黑" panose="020B0503020204020204" charset="-122"/>
            </a:endParaRPr>
          </a:p>
          <a:p>
            <a:pPr defTabSz="719455">
              <a:lnSpc>
                <a:spcPct val="150000"/>
              </a:lnSpc>
              <a:spcBef>
                <a:spcPts val="0"/>
              </a:spcBef>
            </a:pPr>
            <a:r>
              <a:rPr lang="zh-CN" altLang="en-US" sz="2400">
                <a:latin typeface="微软雅黑" panose="020B0503020204020204" charset="-122"/>
                <a:ea typeface="微软雅黑" panose="020B0503020204020204" charset="-122"/>
              </a:rPr>
              <a:t>	</a:t>
            </a:r>
            <a:r>
              <a:rPr lang="en-US" altLang="zh-CN" sz="2400">
                <a:latin typeface="Arial" panose="020B0604020202020204" pitchFamily="34" charset="0"/>
                <a:ea typeface="微软雅黑" panose="020B0503020204020204" charset="-122"/>
              </a:rPr>
              <a:t>(c) </a:t>
            </a:r>
            <a:r>
              <a:rPr lang="zh-CN" altLang="en-US" sz="2400">
                <a:latin typeface="微软雅黑" panose="020B0503020204020204" charset="-122"/>
                <a:ea typeface="微软雅黑" panose="020B0503020204020204" charset="-122"/>
              </a:rPr>
              <a:t>分区网格	</a:t>
            </a:r>
            <a:r>
              <a:rPr lang="en-US" altLang="zh-CN" sz="2400">
                <a:latin typeface="Arial" panose="020B0604020202020204" pitchFamily="34" charset="0"/>
                <a:ea typeface="微软雅黑" panose="020B0503020204020204" charset="-122"/>
              </a:rPr>
              <a:t>(d) </a:t>
            </a:r>
            <a:r>
              <a:rPr lang="zh-CN" altLang="en-US" sz="2400">
                <a:latin typeface="微软雅黑" panose="020B0503020204020204" charset="-122"/>
                <a:ea typeface="微软雅黑" panose="020B0503020204020204" charset="-122"/>
              </a:rPr>
              <a:t>阈值曲面	</a:t>
            </a:r>
            <a:r>
              <a:rPr lang="en-US" altLang="zh-CN" sz="2400">
                <a:latin typeface="Arial" panose="020B0604020202020204" pitchFamily="34" charset="0"/>
                <a:ea typeface="微软雅黑" panose="020B0503020204020204" charset="-122"/>
              </a:rPr>
              <a:t>(e) </a:t>
            </a:r>
            <a:r>
              <a:rPr lang="zh-CN" altLang="en-US" sz="2400">
                <a:latin typeface="微软雅黑" panose="020B0503020204020204" charset="-122"/>
                <a:ea typeface="微软雅黑" panose="020B0503020204020204" charset="-122"/>
              </a:rPr>
              <a:t>分割结果图</a:t>
            </a:r>
            <a:endParaRPr lang="zh-CN" altLang="en-US" sz="2400" b="1">
              <a:latin typeface="微软雅黑" panose="020B0503020204020204" charset="-122"/>
              <a:ea typeface="微软雅黑" panose="020B0503020204020204" charset="-122"/>
            </a:endParaRPr>
          </a:p>
        </p:txBody>
      </p:sp>
      <p:sp>
        <p:nvSpPr>
          <p:cNvPr id="328707" name="矩形 328707"/>
          <p:cNvSpPr/>
          <p:nvPr/>
        </p:nvSpPr>
        <p:spPr>
          <a:xfrm>
            <a:off x="2519363" y="1260475"/>
            <a:ext cx="14020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动态阈值</a:t>
            </a:r>
            <a:endParaRPr lang="zh-CN" altLang="en-US" sz="2400" b="1">
              <a:latin typeface="微软雅黑" panose="020B0503020204020204" charset="-122"/>
              <a:ea typeface="微软雅黑" panose="020B0503020204020204" charset="-122"/>
            </a:endParaRPr>
          </a:p>
        </p:txBody>
      </p:sp>
      <p:pic>
        <p:nvPicPr>
          <p:cNvPr id="328708" name="图片 328708" descr="F:\Book-ed\Second-7\S=CCV\ppt-for-web\Pic-f\060309.jpg"/>
          <p:cNvPicPr/>
          <p:nvPr/>
        </p:nvPicPr>
        <p:blipFill>
          <a:blip r:embed="rId1"/>
          <a:stretch>
            <a:fillRect/>
          </a:stretch>
        </p:blipFill>
        <p:spPr>
          <a:xfrm>
            <a:off x="1800225" y="3707130"/>
            <a:ext cx="9720263" cy="252095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0" name="矩形 329730"/>
          <p:cNvSpPr/>
          <p:nvPr/>
        </p:nvSpPr>
        <p:spPr>
          <a:xfrm>
            <a:off x="743585" y="1871980"/>
            <a:ext cx="10308590" cy="4661535"/>
          </a:xfrm>
          <a:prstGeom prst="rect">
            <a:avLst/>
          </a:prstGeom>
          <a:noFill/>
          <a:ln w="9525">
            <a:noFill/>
          </a:ln>
        </p:spPr>
        <p:txBody>
          <a:bodyPr wrap="square" anchor="t" anchorCtr="0">
            <a:spAutoFit/>
          </a:bodyPr>
          <a:p>
            <a:pPr defTabSz="719455">
              <a:lnSpc>
                <a:spcPct val="150000"/>
              </a:lnSpc>
              <a:spcAft>
                <a:spcPts val="0"/>
              </a:spcAft>
            </a:pPr>
            <a:r>
              <a:rPr>
                <a:latin typeface="微软雅黑" panose="020B0503020204020204" charset="-122"/>
                <a:ea typeface="微软雅黑" panose="020B0503020204020204" charset="-122"/>
              </a:rPr>
              <a:t>“多分辨率阈值”是一个相对专业的术语，通常在图像处理、信号处理或者数据分析等领域中使用。其基本思想是在不同的分辨率或尺度下应用阈值处理。这有助于在</a:t>
            </a:r>
            <a:r>
              <a:rPr>
                <a:solidFill>
                  <a:srgbClr val="FF0000"/>
                </a:solidFill>
                <a:latin typeface="微软雅黑" panose="020B0503020204020204" charset="-122"/>
                <a:ea typeface="微软雅黑" panose="020B0503020204020204" charset="-122"/>
              </a:rPr>
              <a:t>不同层次上捕获和提取数据的特征或信息</a:t>
            </a:r>
            <a:r>
              <a:rPr>
                <a:latin typeface="微软雅黑" panose="020B0503020204020204" charset="-122"/>
                <a:ea typeface="微软雅黑" panose="020B0503020204020204" charset="-122"/>
              </a:rPr>
              <a:t>。</a:t>
            </a:r>
            <a:endParaRPr sz="2400">
              <a:latin typeface="微软雅黑" panose="020B0503020204020204" charset="-122"/>
              <a:ea typeface="微软雅黑" panose="020B0503020204020204" charset="-122"/>
            </a:endParaRPr>
          </a:p>
          <a:p>
            <a:pPr defTabSz="719455">
              <a:lnSpc>
                <a:spcPct val="150000"/>
              </a:lnSpc>
              <a:spcAft>
                <a:spcPts val="0"/>
              </a:spcAft>
            </a:pPr>
            <a:r>
              <a:rPr>
                <a:latin typeface="微软雅黑" panose="020B0503020204020204" charset="-122"/>
                <a:ea typeface="微软雅黑" panose="020B0503020204020204" charset="-122"/>
              </a:rPr>
              <a:t>在图像处理中，例如，</a:t>
            </a:r>
            <a:r>
              <a:rPr>
                <a:solidFill>
                  <a:srgbClr val="FF0000"/>
                </a:solidFill>
                <a:latin typeface="微软雅黑" panose="020B0503020204020204" charset="-122"/>
                <a:ea typeface="微软雅黑" panose="020B0503020204020204" charset="-122"/>
              </a:rPr>
              <a:t>当处理一张图片时，可能需要在低分辨率下应用一个阈值来检测大的、明显的特征，而在高分辨率下应用另一个阈值来检测更精细、更小的特征。这样，可以在多个层次上理解和处理图像，从而得到更全面的信息。</a:t>
            </a:r>
            <a:endParaRPr>
              <a:solidFill>
                <a:srgbClr val="FF0000"/>
              </a:solidFill>
              <a:latin typeface="微软雅黑" panose="020B0503020204020204" charset="-122"/>
              <a:ea typeface="微软雅黑" panose="020B0503020204020204" charset="-122"/>
            </a:endParaRPr>
          </a:p>
          <a:p>
            <a:pPr defTabSz="719455">
              <a:lnSpc>
                <a:spcPct val="150000"/>
              </a:lnSpc>
              <a:spcAft>
                <a:spcPts val="0"/>
              </a:spcAft>
            </a:pPr>
            <a:r>
              <a:rPr>
                <a:latin typeface="微软雅黑" panose="020B0503020204020204" charset="-122"/>
                <a:ea typeface="微软雅黑" panose="020B0503020204020204" charset="-122"/>
              </a:rPr>
              <a:t>具体的实现方式取决于应用的需求和数据的特性。例如，可以使用</a:t>
            </a:r>
            <a:r>
              <a:rPr>
                <a:solidFill>
                  <a:srgbClr val="FF0000"/>
                </a:solidFill>
                <a:latin typeface="微软雅黑" panose="020B0503020204020204" charset="-122"/>
                <a:ea typeface="微软雅黑" panose="020B0503020204020204" charset="-122"/>
              </a:rPr>
              <a:t>小波变换</a:t>
            </a:r>
            <a:r>
              <a:rPr>
                <a:latin typeface="微软雅黑" panose="020B0503020204020204" charset="-122"/>
                <a:ea typeface="微软雅黑" panose="020B0503020204020204" charset="-122"/>
              </a:rPr>
              <a:t>、金字塔分解或其他多尺度分析方法来实现多分辨率处理，然后在每个分辨率级别上应用适当的阈值。</a:t>
            </a:r>
            <a:endParaRPr>
              <a:latin typeface="微软雅黑" panose="020B0503020204020204" charset="-122"/>
              <a:ea typeface="微软雅黑" panose="020B0503020204020204" charset="-122"/>
            </a:endParaRPr>
          </a:p>
          <a:p>
            <a:pPr defTabSz="719455">
              <a:lnSpc>
                <a:spcPct val="150000"/>
              </a:lnSpc>
              <a:spcAft>
                <a:spcPts val="0"/>
              </a:spcAft>
            </a:pPr>
            <a:r>
              <a:rPr>
                <a:latin typeface="微软雅黑" panose="020B0503020204020204" charset="-122"/>
                <a:ea typeface="微软雅黑" panose="020B0503020204020204" charset="-122"/>
              </a:rPr>
              <a:t>需要注意的是，“多分辨率阈值”并没有一个固定的、标准的定义或实现方式。它更多地是一种方法或策略，需要根据具体的应用场景来定制和实现。因此，如果需要在特定的项目或应用中使用多分辨率阈值，建议深入了解相关领域的文献和资料，以便找到最适合自己需求的解决方案。</a:t>
            </a:r>
            <a:endParaRPr>
              <a:latin typeface="微软雅黑" panose="020B0503020204020204" charset="-122"/>
              <a:ea typeface="微软雅黑" panose="020B0503020204020204" charset="-122"/>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0" name="矩形 329730"/>
          <p:cNvSpPr/>
          <p:nvPr/>
        </p:nvSpPr>
        <p:spPr>
          <a:xfrm>
            <a:off x="1139825" y="1833245"/>
            <a:ext cx="9912350" cy="4523105"/>
          </a:xfrm>
          <a:prstGeom prst="rect">
            <a:avLst/>
          </a:prstGeom>
          <a:noFill/>
          <a:ln w="9525">
            <a:noFill/>
          </a:ln>
        </p:spPr>
        <p:txBody>
          <a:bodyPr wrap="square" anchor="t" anchorCtr="0">
            <a:spAutoFit/>
          </a:bodyPr>
          <a:p>
            <a:pPr defTabSz="719455">
              <a:lnSpc>
                <a:spcPct val="150000"/>
              </a:lnSpc>
              <a:spcAft>
                <a:spcPts val="0"/>
              </a:spcAft>
            </a:pPr>
            <a:r>
              <a:rPr lang="zh-CN" altLang="en-US" sz="2400" b="1">
                <a:latin typeface="微软雅黑" panose="020B0503020204020204" charset="-122"/>
                <a:ea typeface="微软雅黑" panose="020B0503020204020204" charset="-122"/>
              </a:rPr>
              <a:t>小波变换</a:t>
            </a:r>
            <a:r>
              <a:rPr lang="zh-CN" altLang="en-US" sz="2400">
                <a:latin typeface="微软雅黑" panose="020B0503020204020204" charset="-122"/>
                <a:ea typeface="微软雅黑" panose="020B0503020204020204" charset="-122"/>
              </a:rPr>
              <a:t>：</a:t>
            </a:r>
            <a:r>
              <a:rPr lang="en-US" altLang="zh-CN" sz="2400">
                <a:latin typeface="微软雅黑" panose="020B0503020204020204" charset="-122"/>
                <a:ea typeface="微软雅黑" panose="020B0503020204020204" charset="-122"/>
              </a:rPr>
              <a:t>	</a:t>
            </a:r>
            <a:endParaRPr lang="en-US" altLang="zh-CN" sz="2400">
              <a:latin typeface="微软雅黑" panose="020B0503020204020204" charset="-122"/>
              <a:ea typeface="微软雅黑" panose="020B0503020204020204" charset="-122"/>
            </a:endParaRPr>
          </a:p>
          <a:p>
            <a:pPr defTabSz="719455">
              <a:lnSpc>
                <a:spcPct val="150000"/>
              </a:lnSpc>
              <a:spcAft>
                <a:spcPts val="0"/>
              </a:spcAft>
            </a:pPr>
            <a:r>
              <a:rPr lang="zh-CN" altLang="en-US" sz="2400">
                <a:latin typeface="微软雅黑" panose="020B0503020204020204" charset="-122"/>
                <a:ea typeface="微软雅黑" panose="020B0503020204020204" charset="-122"/>
              </a:rPr>
              <a:t>小波变换在图像处理中是一种非常重要的工具，具有多分辨率分析的特性，可以将图像信息在不同层次上进行分解和提取。小波变换通过将图像信号分解为由原始小波位移和缩放之后的一组小波，可以捕捉到图像中的局部特征，并在不同尺度上进行分析。</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zh-CN" altLang="en-US" sz="2400">
                <a:solidFill>
                  <a:srgbClr val="FF0000"/>
                </a:solidFill>
                <a:latin typeface="微软雅黑" panose="020B0503020204020204" charset="-122"/>
                <a:ea typeface="微软雅黑" panose="020B0503020204020204" charset="-122"/>
              </a:rPr>
              <a:t>主要步骤</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en-US" altLang="zh-CN" sz="2400">
                <a:latin typeface="微软雅黑" panose="020B0503020204020204" charset="-122"/>
                <a:ea typeface="微软雅黑" panose="020B0503020204020204" charset="-122"/>
              </a:rPr>
              <a:t>1.</a:t>
            </a:r>
            <a:r>
              <a:rPr lang="zh-CN" altLang="en-US" sz="2400">
                <a:latin typeface="微软雅黑" panose="020B0503020204020204" charset="-122"/>
                <a:ea typeface="微软雅黑" panose="020B0503020204020204" charset="-122"/>
              </a:rPr>
              <a:t>确定分割区域的类数</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en-US" altLang="zh-CN" sz="2400">
                <a:latin typeface="微软雅黑" panose="020B0503020204020204" charset="-122"/>
                <a:ea typeface="微软雅黑" panose="020B0503020204020204" charset="-122"/>
              </a:rPr>
              <a:t>2.</a:t>
            </a:r>
            <a:r>
              <a:rPr lang="zh-CN" altLang="en-US" sz="2400">
                <a:latin typeface="微软雅黑" panose="020B0503020204020204" charset="-122"/>
                <a:ea typeface="微软雅黑" panose="020B0503020204020204" charset="-122"/>
              </a:rPr>
              <a:t>确定最优阈值</a:t>
            </a:r>
            <a:endParaRPr lang="zh-CN" altLang="en-US" sz="2400">
              <a:latin typeface="微软雅黑" panose="020B0503020204020204" charset="-122"/>
              <a:ea typeface="微软雅黑" panose="020B0503020204020204" charset="-122"/>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0" name="矩形 329730"/>
          <p:cNvSpPr/>
          <p:nvPr/>
        </p:nvSpPr>
        <p:spPr>
          <a:xfrm>
            <a:off x="1139825" y="1833245"/>
            <a:ext cx="9912350" cy="4523105"/>
          </a:xfrm>
          <a:prstGeom prst="rect">
            <a:avLst/>
          </a:prstGeom>
          <a:noFill/>
          <a:ln w="9525">
            <a:noFill/>
          </a:ln>
        </p:spPr>
        <p:txBody>
          <a:bodyPr wrap="square" anchor="t" anchorCtr="0">
            <a:spAutoFit/>
          </a:bodyPr>
          <a:p>
            <a:pPr defTabSz="719455">
              <a:lnSpc>
                <a:spcPct val="150000"/>
              </a:lnSpc>
              <a:spcAft>
                <a:spcPts val="0"/>
              </a:spcAft>
            </a:pPr>
            <a:r>
              <a:rPr lang="zh-CN" altLang="en-US" sz="2400" b="1">
                <a:latin typeface="微软雅黑" panose="020B0503020204020204" charset="-122"/>
                <a:ea typeface="微软雅黑" panose="020B0503020204020204" charset="-122"/>
              </a:rPr>
              <a:t>小波变换</a:t>
            </a:r>
            <a:r>
              <a:rPr lang="zh-CN" altLang="en-US" sz="2400">
                <a:latin typeface="微软雅黑" panose="020B0503020204020204" charset="-122"/>
                <a:ea typeface="微软雅黑" panose="020B0503020204020204" charset="-122"/>
              </a:rPr>
              <a:t>：</a:t>
            </a:r>
            <a:r>
              <a:rPr lang="en-US" altLang="zh-CN" sz="2400">
                <a:latin typeface="微软雅黑" panose="020B0503020204020204" charset="-122"/>
                <a:ea typeface="微软雅黑" panose="020B0503020204020204" charset="-122"/>
              </a:rPr>
              <a:t>	</a:t>
            </a:r>
            <a:endParaRPr lang="en-US" altLang="zh-CN" sz="2400">
              <a:latin typeface="微软雅黑" panose="020B0503020204020204" charset="-122"/>
              <a:ea typeface="微软雅黑" panose="020B0503020204020204" charset="-122"/>
            </a:endParaRPr>
          </a:p>
          <a:p>
            <a:pPr defTabSz="719455">
              <a:lnSpc>
                <a:spcPct val="150000"/>
              </a:lnSpc>
              <a:spcAft>
                <a:spcPts val="0"/>
              </a:spcAft>
            </a:pPr>
            <a:r>
              <a:rPr lang="zh-CN" altLang="en-US" sz="2400">
                <a:latin typeface="微软雅黑" panose="020B0503020204020204" charset="-122"/>
                <a:ea typeface="微软雅黑" panose="020B0503020204020204" charset="-122"/>
              </a:rPr>
              <a:t>小波变换在图像处理中是一种非常重要的工具，具有多分辨率分析的特性，可以将图像信息在不同层次上进行分解和提取。小波变换通过将图像信号分解为由原始小波位移和缩放之后的一组小波，可以捕捉到图像中的局部特征，并在不同尺度上进行分析。</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zh-CN" altLang="en-US" sz="2400">
                <a:solidFill>
                  <a:srgbClr val="FF0000"/>
                </a:solidFill>
                <a:latin typeface="微软雅黑" panose="020B0503020204020204" charset="-122"/>
                <a:ea typeface="微软雅黑" panose="020B0503020204020204" charset="-122"/>
              </a:rPr>
              <a:t>主要步骤</a:t>
            </a:r>
            <a:r>
              <a:rPr lang="zh-CN" altLang="en-US" sz="2400">
                <a:latin typeface="微软雅黑" panose="020B0503020204020204" charset="-122"/>
                <a:ea typeface="微软雅黑" panose="020B0503020204020204" charset="-122"/>
              </a:rPr>
              <a:t>：</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en-US" altLang="zh-CN" sz="2400">
                <a:latin typeface="微软雅黑" panose="020B0503020204020204" charset="-122"/>
                <a:ea typeface="微软雅黑" panose="020B0503020204020204" charset="-122"/>
              </a:rPr>
              <a:t>1.</a:t>
            </a:r>
            <a:r>
              <a:rPr lang="zh-CN" altLang="en-US" sz="2400">
                <a:latin typeface="微软雅黑" panose="020B0503020204020204" charset="-122"/>
                <a:ea typeface="微软雅黑" panose="020B0503020204020204" charset="-122"/>
              </a:rPr>
              <a:t>确定分割区域的类数</a:t>
            </a:r>
            <a:endParaRPr lang="zh-CN" altLang="en-US" sz="2400">
              <a:latin typeface="微软雅黑" panose="020B0503020204020204" charset="-122"/>
              <a:ea typeface="微软雅黑" panose="020B0503020204020204" charset="-122"/>
            </a:endParaRPr>
          </a:p>
          <a:p>
            <a:pPr defTabSz="719455">
              <a:lnSpc>
                <a:spcPct val="150000"/>
              </a:lnSpc>
              <a:spcAft>
                <a:spcPts val="0"/>
              </a:spcAft>
            </a:pPr>
            <a:r>
              <a:rPr lang="en-US" altLang="zh-CN" sz="2400">
                <a:latin typeface="微软雅黑" panose="020B0503020204020204" charset="-122"/>
                <a:ea typeface="微软雅黑" panose="020B0503020204020204" charset="-122"/>
              </a:rPr>
              <a:t>2.</a:t>
            </a:r>
            <a:r>
              <a:rPr lang="zh-CN" altLang="en-US" sz="2400">
                <a:latin typeface="微软雅黑" panose="020B0503020204020204" charset="-122"/>
                <a:ea typeface="微软雅黑" panose="020B0503020204020204" charset="-122"/>
              </a:rPr>
              <a:t>确定最优阈值</a:t>
            </a:r>
            <a:endParaRPr lang="zh-CN" altLang="en-US" sz="2400">
              <a:latin typeface="微软雅黑" panose="020B0503020204020204" charset="-122"/>
              <a:ea typeface="微软雅黑" panose="020B0503020204020204" charset="-122"/>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pic>
        <p:nvPicPr>
          <p:cNvPr id="100" name="图片 99"/>
          <p:cNvPicPr/>
          <p:nvPr>
            <p:custDataLst>
              <p:tags r:id="rId1"/>
            </p:custDataLst>
          </p:nvPr>
        </p:nvPicPr>
        <p:blipFill>
          <a:blip r:embed="rId2"/>
          <a:stretch>
            <a:fillRect/>
          </a:stretch>
        </p:blipFill>
        <p:spPr>
          <a:xfrm>
            <a:off x="683895" y="50800"/>
            <a:ext cx="10258425" cy="653034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0" name="矩形 329730"/>
          <p:cNvSpPr/>
          <p:nvPr/>
        </p:nvSpPr>
        <p:spPr>
          <a:xfrm>
            <a:off x="1139825" y="1821180"/>
            <a:ext cx="9912350" cy="2306955"/>
          </a:xfrm>
          <a:prstGeom prst="rect">
            <a:avLst/>
          </a:prstGeom>
          <a:noFill/>
          <a:ln w="9525">
            <a:noFill/>
          </a:ln>
        </p:spPr>
        <p:txBody>
          <a:bodyPr wrap="square" anchor="t" anchorCtr="0">
            <a:spAutoFit/>
          </a:bodyPr>
          <a:p>
            <a:pPr defTabSz="719455">
              <a:lnSpc>
                <a:spcPct val="150000"/>
              </a:lnSpc>
              <a:spcAft>
                <a:spcPts val="0"/>
              </a:spcAft>
            </a:pPr>
            <a:r>
              <a:rPr lang="en-US" altLang="zh-CN" sz="2400">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sym typeface="+mn-ea"/>
              </a:rPr>
              <a:t>确定分割区域的类数</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rPr>
              <a:t>首先将图像直方图进行小波分解，利用粗分辨率下的直方图信息确定分割区域的类数。引入相当于低通滤波器的尺度函数</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，则图像直方图</a:t>
            </a:r>
            <a:r>
              <a:rPr lang="en-US" altLang="zh-CN" sz="2400" i="1">
                <a:latin typeface="Times New Roman" panose="02020603050405020304" charset="0"/>
                <a:ea typeface="微软雅黑" panose="020B0503020204020204" charset="-122"/>
                <a:cs typeface="Times New Roman" panose="02020603050405020304" charset="0"/>
              </a:rPr>
              <a:t>H</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的低通分量可表示为：</a:t>
            </a: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3721100" y="4333240"/>
          <a:ext cx="5160645" cy="760095"/>
        </p:xfrm>
        <a:graphic>
          <a:graphicData uri="http://schemas.openxmlformats.org/presentationml/2006/ole">
            <mc:AlternateContent xmlns:mc="http://schemas.openxmlformats.org/markup-compatibility/2006">
              <mc:Choice xmlns:v="urn:schemas-microsoft-com:vml" Requires="v">
                <p:oleObj spid="_x0000_s1025" name="" r:id="rId1" imgW="1638300" imgH="241300" progId="Equation.KSEE3">
                  <p:embed/>
                </p:oleObj>
              </mc:Choice>
              <mc:Fallback>
                <p:oleObj name="" r:id="rId1" imgW="1638300" imgH="241300" progId="Equation.KSEE3">
                  <p:embed/>
                  <p:pic>
                    <p:nvPicPr>
                      <p:cNvPr id="0" name="图片 1024"/>
                      <p:cNvPicPr/>
                      <p:nvPr/>
                    </p:nvPicPr>
                    <p:blipFill>
                      <a:blip r:embed="rId2"/>
                      <a:stretch>
                        <a:fillRect/>
                      </a:stretch>
                    </p:blipFill>
                    <p:spPr>
                      <a:xfrm>
                        <a:off x="3721100" y="4333240"/>
                        <a:ext cx="5160645" cy="76009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29730" name="矩形 329730"/>
              <p:cNvSpPr/>
              <p:nvPr/>
            </p:nvSpPr>
            <p:spPr>
              <a:xfrm>
                <a:off x="224790" y="1821180"/>
                <a:ext cx="11454765" cy="4802505"/>
              </a:xfrm>
              <a:prstGeom prst="rect">
                <a:avLst/>
              </a:prstGeom>
              <a:noFill/>
              <a:ln w="9525">
                <a:noFill/>
              </a:ln>
            </p:spPr>
            <p:txBody>
              <a:bodyPr wrap="square" anchor="t" anchorCtr="0">
                <a:spAutoFit/>
              </a:bodyPr>
              <a:p>
                <a:pPr defTabSz="719455">
                  <a:lnSpc>
                    <a:spcPct val="150000"/>
                  </a:lnSpc>
                  <a:spcAft>
                    <a:spcPts val="0"/>
                  </a:spcAft>
                </a:pPr>
                <a:r>
                  <a:rPr lang="en-US" altLang="zh-CN" sz="2400">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sym typeface="+mn-ea"/>
                  </a:rPr>
                  <a:t>确定分割区域的类数</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rPr>
                  <a:t>设原始图像的分辨率是</a:t>
                </a:r>
                <a:r>
                  <a:rPr lang="en-US" altLang="zh-CN" sz="2400">
                    <a:latin typeface="Times New Roman" panose="02020603050405020304" charset="0"/>
                    <a:ea typeface="微软雅黑" panose="020B0503020204020204" charset="-122"/>
                    <a:cs typeface="Times New Roman" panose="02020603050405020304" charset="0"/>
                  </a:rPr>
                  <a:t>1</a:t>
                </a:r>
                <a:r>
                  <a:rPr lang="zh-CN" altLang="en-US" sz="2400">
                    <a:latin typeface="Times New Roman" panose="02020603050405020304" charset="0"/>
                    <a:ea typeface="微软雅黑" panose="020B0503020204020204" charset="-122"/>
                    <a:cs typeface="Times New Roman" panose="02020603050405020304" charset="0"/>
                  </a:rPr>
                  <a:t>，最低的分辨率是</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rPr>
                  <a:t>I</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则尺度</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rPr>
                  <a:t>和</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I</a:t>
                </a:r>
                <a:r>
                  <a:rPr lang="zh-CN" altLang="en-US" sz="2400">
                    <a:latin typeface="Times New Roman" panose="02020603050405020304" charset="0"/>
                    <a:ea typeface="微软雅黑" panose="020B0503020204020204" charset="-122"/>
                    <a:cs typeface="Times New Roman" panose="02020603050405020304" charset="0"/>
                  </a:rPr>
                  <a:t>之间的各阶小波变换可表示为</a:t>
                </a:r>
                <a:r>
                  <a:rPr lang="en-US" altLang="zh-CN" sz="2400">
                    <a:latin typeface="Times New Roman" panose="02020603050405020304" charset="0"/>
                    <a:ea typeface="微软雅黑" panose="020B0503020204020204" charset="-122"/>
                    <a:cs typeface="Times New Roman" panose="02020603050405020304" charset="0"/>
                  </a:rPr>
                  <a:t>{</a:t>
                </a:r>
                <a14:m>
                  <m:oMath xmlns:m="http://schemas.openxmlformats.org/officeDocument/2006/math">
                    <m:sSub>
                      <m:sSubPr>
                        <m:ctrlPr>
                          <a:rPr lang="en-US" altLang="zh-CN" sz="2400" i="1">
                            <a:latin typeface="Cambria Math" panose="02040503050406030204" charset="0"/>
                            <a:ea typeface="微软雅黑" panose="020B0503020204020204" charset="-122"/>
                            <a:cs typeface="Cambria Math" panose="02040503050406030204" charset="0"/>
                          </a:rPr>
                        </m:ctrlPr>
                      </m:sSubPr>
                      <m:e>
                        <m:r>
                          <a:rPr lang="en-US" altLang="zh-CN" sz="2400" i="1">
                            <a:latin typeface="Cambria Math" panose="02040503050406030204" charset="0"/>
                            <a:ea typeface="微软雅黑" panose="020B0503020204020204" charset="-122"/>
                            <a:cs typeface="Cambria Math" panose="02040503050406030204" charset="0"/>
                          </a:rPr>
                          <m:t>𝑊</m:t>
                        </m:r>
                      </m:e>
                      <m:sub>
                        <m:sSup>
                          <m:sSupPr>
                            <m:ctrlPr>
                              <a:rPr lang="en-US" altLang="zh-CN" sz="2400" i="1">
                                <a:latin typeface="Cambria Math" panose="02040503050406030204" charset="0"/>
                                <a:ea typeface="微软雅黑" panose="020B0503020204020204" charset="-122"/>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微软雅黑" panose="020B0503020204020204" charset="-122"/>
                                <a:cs typeface="Cambria Math" panose="02040503050406030204" charset="0"/>
                              </a:rPr>
                              <m:t>𝑖</m:t>
                            </m:r>
                          </m:sup>
                        </m:sSup>
                      </m:sub>
                    </m:sSub>
                  </m:oMath>
                </a14:m>
                <a:r>
                  <a:rPr lang="en-US" altLang="zh-CN" sz="2400" i="1">
                    <a:latin typeface="Times New Roman" panose="02020603050405020304" charset="0"/>
                    <a:ea typeface="微软雅黑" panose="020B0503020204020204" charset="-122"/>
                    <a:cs typeface="Times New Roman" panose="02020603050405020304" charset="0"/>
                  </a:rPr>
                  <a:t>H</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x</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a:latin typeface="Times New Roman" panose="02020603050405020304" charset="0"/>
                    <a:ea typeface="微软雅黑" panose="020B0503020204020204" charset="-122"/>
                    <a:cs typeface="Times New Roman" panose="02020603050405020304" charset="0"/>
                    <a:sym typeface="+mn-ea"/>
                  </a:rPr>
                  <a:t>,1≤</a:t>
                </a:r>
                <a:r>
                  <a:rPr lang="en-US" altLang="zh-CN" sz="2400" i="1">
                    <a:latin typeface="Times New Roman" panose="02020603050405020304" charset="0"/>
                    <a:ea typeface="微软雅黑" panose="020B0503020204020204" charset="-122"/>
                    <a:cs typeface="Times New Roman" panose="02020603050405020304" charset="0"/>
                    <a:sym typeface="+mn-ea"/>
                  </a:rPr>
                  <a:t>i</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i="1">
                    <a:latin typeface="Times New Roman" panose="02020603050405020304" charset="0"/>
                    <a:ea typeface="微软雅黑" panose="020B0503020204020204" charset="-122"/>
                    <a:cs typeface="Times New Roman" panose="02020603050405020304" charset="0"/>
                    <a:sym typeface="+mn-ea"/>
                  </a:rPr>
                  <a:t>I</a:t>
                </a:r>
                <a:r>
                  <a:rPr lang="en-US" altLang="zh-CN" sz="2400">
                    <a:latin typeface="Times New Roman" panose="02020603050405020304" charset="0"/>
                    <a:ea typeface="微软雅黑" panose="020B0503020204020204" charset="-122"/>
                    <a:cs typeface="Times New Roman" panose="02020603050405020304" charset="0"/>
                    <a:sym typeface="+mn-ea"/>
                  </a:rPr>
                  <a:t>}</a:t>
                </a:r>
                <a:r>
                  <a:rPr lang="zh-CN" altLang="en-US" sz="2400">
                    <a:latin typeface="Times New Roman" panose="02020603050405020304" charset="0"/>
                    <a:ea typeface="微软雅黑" panose="020B0503020204020204" charset="-122"/>
                    <a:cs typeface="Times New Roman" panose="02020603050405020304" charset="0"/>
                    <a:sym typeface="+mn-ea"/>
                  </a:rPr>
                  <a:t>。可以证明，对尺度为</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I</a:t>
                </a:r>
                <a:r>
                  <a:rPr lang="zh-CN" altLang="en-US" sz="2400">
                    <a:latin typeface="Times New Roman" panose="02020603050405020304" charset="0"/>
                    <a:ea typeface="微软雅黑" panose="020B0503020204020204" charset="-122"/>
                    <a:cs typeface="Times New Roman" panose="02020603050405020304" charset="0"/>
                    <a:sym typeface="+mn-ea"/>
                  </a:rPr>
                  <a:t>时被平滑掉的高频部分可以用</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sym typeface="+mn-ea"/>
                  </a:rPr>
                  <a:t>和</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I</a:t>
                </a:r>
                <a:r>
                  <a:rPr lang="zh-CN" altLang="en-US" sz="2400">
                    <a:latin typeface="Times New Roman" panose="02020603050405020304" charset="0"/>
                    <a:ea typeface="微软雅黑" panose="020B0503020204020204" charset="-122"/>
                    <a:cs typeface="Times New Roman" panose="02020603050405020304" charset="0"/>
                    <a:sym typeface="+mn-ea"/>
                  </a:rPr>
                  <a:t>之间的小波变换来恢复。这里集合</a:t>
                </a:r>
                <a:r>
                  <a:rPr lang="en-US" altLang="zh-CN" sz="2400">
                    <a:latin typeface="Times New Roman" panose="02020603050405020304" charset="0"/>
                    <a:ea typeface="微软雅黑" panose="020B0503020204020204" charset="-122"/>
                    <a:cs typeface="Times New Roman" panose="02020603050405020304" charset="0"/>
                    <a:sym typeface="+mn-ea"/>
                  </a:rPr>
                  <a:t>{</a:t>
                </a:r>
                <a14:m>
                  <m:oMath xmlns:m="http://schemas.openxmlformats.org/officeDocument/2006/math">
                    <m:sSub>
                      <m:sSubPr>
                        <m:ctrlPr>
                          <a:rPr lang="en-US" altLang="zh-CN" sz="2400" i="1">
                            <a:latin typeface="Cambria Math" panose="02040503050406030204" charset="0"/>
                            <a:ea typeface="微软雅黑" panose="020B0503020204020204" charset="-122"/>
                            <a:cs typeface="Cambria Math" panose="02040503050406030204" charset="0"/>
                          </a:rPr>
                        </m:ctrlPr>
                      </m:sSubPr>
                      <m:e>
                        <m:r>
                          <a:rPr lang="en-US" altLang="zh-CN" sz="2400" i="1">
                            <a:latin typeface="Cambria Math" panose="02040503050406030204" charset="0"/>
                            <a:ea typeface="微软雅黑" panose="020B0503020204020204" charset="-122"/>
                            <a:cs typeface="Cambria Math" panose="02040503050406030204" charset="0"/>
                          </a:rPr>
                          <m:t>𝑆</m:t>
                        </m:r>
                      </m:e>
                      <m:sub>
                        <m:sSup>
                          <m:sSupPr>
                            <m:ctrlPr>
                              <a:rPr lang="en-US" altLang="zh-CN" sz="2400" i="1">
                                <a:latin typeface="Cambria Math" panose="02040503050406030204" charset="0"/>
                                <a:ea typeface="微软雅黑" panose="020B0503020204020204" charset="-122"/>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微软雅黑" panose="020B0503020204020204" charset="-122"/>
                                <a:cs typeface="Cambria Math" panose="02040503050406030204" charset="0"/>
                              </a:rPr>
                              <m:t>𝑖</m:t>
                            </m:r>
                          </m:sup>
                        </m:sSup>
                      </m:sub>
                    </m:sSub>
                    <m:r>
                      <a:rPr lang="en-US" altLang="zh-CN" sz="2400" i="1">
                        <a:latin typeface="Times New Roman" panose="02020603050405020304" charset="0"/>
                        <a:ea typeface="微软雅黑" panose="020B0503020204020204" charset="-122"/>
                        <a:cs typeface="Times New Roman" panose="02020603050405020304" charset="0"/>
                        <a:sym typeface="+mn-ea"/>
                      </a:rPr>
                      <m:t>𝐻</m:t>
                    </m:r>
                    <m:r>
                      <a:rPr lang="en-US" altLang="zh-CN" sz="2400">
                        <a:latin typeface="Times New Roman" panose="02020603050405020304" charset="0"/>
                        <a:ea typeface="微软雅黑" panose="020B0503020204020204" charset="-122"/>
                        <a:cs typeface="Times New Roman" panose="02020603050405020304" charset="0"/>
                        <a:sym typeface="+mn-ea"/>
                      </a:rPr>
                      <m:t>(</m:t>
                    </m:r>
                    <m:r>
                      <a:rPr lang="en-US" altLang="zh-CN" sz="2400" i="1">
                        <a:latin typeface="Times New Roman" panose="02020603050405020304" charset="0"/>
                        <a:ea typeface="微软雅黑" panose="020B0503020204020204" charset="-122"/>
                        <a:cs typeface="Times New Roman" panose="02020603050405020304" charset="0"/>
                        <a:sym typeface="+mn-ea"/>
                      </a:rPr>
                      <m:t>𝑥</m:t>
                    </m:r>
                    <m:r>
                      <a:rPr lang="en-US" altLang="zh-CN" sz="2400">
                        <a:latin typeface="Times New Roman" panose="02020603050405020304" charset="0"/>
                        <a:ea typeface="微软雅黑" panose="020B0503020204020204" charset="-122"/>
                        <a:cs typeface="Times New Roman" panose="02020603050405020304" charset="0"/>
                        <a:sym typeface="+mn-ea"/>
                      </a:rPr>
                      <m:t>)</m:t>
                    </m:r>
                    <m:r>
                      <a:rPr lang="en-US" altLang="zh-CN" sz="2400">
                        <a:latin typeface="Times New Roman" panose="02020603050405020304" charset="0"/>
                        <a:ea typeface="微软雅黑" panose="020B0503020204020204" charset="-122"/>
                        <a:cs typeface="Times New Roman" panose="02020603050405020304" charset="0"/>
                        <a:sym typeface="+mn-ea"/>
                      </a:rPr>
                      <m:t>,</m:t>
                    </m:r>
                    <m:sSub>
                      <m:sSubPr>
                        <m:ctrlPr>
                          <a:rPr lang="en-US" altLang="zh-CN" sz="2400" i="1">
                            <a:latin typeface="Cambria Math" panose="02040503050406030204" charset="0"/>
                            <a:ea typeface="微软雅黑" panose="020B0503020204020204" charset="-122"/>
                            <a:cs typeface="Cambria Math" panose="02040503050406030204" charset="0"/>
                          </a:rPr>
                        </m:ctrlPr>
                      </m:sSubPr>
                      <m:e>
                        <m:r>
                          <a:rPr lang="en-US" altLang="zh-CN" sz="2400" i="1">
                            <a:latin typeface="Cambria Math" panose="02040503050406030204" charset="0"/>
                            <a:ea typeface="微软雅黑" panose="020B0503020204020204" charset="-122"/>
                            <a:cs typeface="Cambria Math" panose="02040503050406030204" charset="0"/>
                          </a:rPr>
                          <m:t>𝑊</m:t>
                        </m:r>
                      </m:e>
                      <m:sub>
                        <m:sSup>
                          <m:sSupPr>
                            <m:ctrlPr>
                              <a:rPr lang="en-US" altLang="zh-CN" sz="2400" i="1">
                                <a:latin typeface="Cambria Math" panose="02040503050406030204" charset="0"/>
                                <a:ea typeface="微软雅黑" panose="020B0503020204020204" charset="-122"/>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微软雅黑" panose="020B0503020204020204" charset="-122"/>
                                <a:cs typeface="Cambria Math" panose="02040503050406030204" charset="0"/>
                              </a:rPr>
                              <m:t>𝑖</m:t>
                            </m:r>
                          </m:sup>
                        </m:sSup>
                      </m:sub>
                    </m:sSub>
                  </m:oMath>
                </a14:m>
                <a:r>
                  <a:rPr lang="en-US" altLang="zh-CN" sz="2400" i="1">
                    <a:latin typeface="Times New Roman" panose="02020603050405020304" charset="0"/>
                    <a:ea typeface="微软雅黑" panose="020B0503020204020204" charset="-122"/>
                    <a:cs typeface="Times New Roman" panose="02020603050405020304" charset="0"/>
                    <a:sym typeface="+mn-ea"/>
                  </a:rPr>
                  <a:t>H</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i="1">
                    <a:latin typeface="Times New Roman" panose="02020603050405020304" charset="0"/>
                    <a:ea typeface="微软雅黑" panose="020B0503020204020204" charset="-122"/>
                    <a:cs typeface="Times New Roman" panose="02020603050405020304" charset="0"/>
                    <a:sym typeface="+mn-ea"/>
                  </a:rPr>
                  <a:t>x</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a:latin typeface="Times New Roman" panose="02020603050405020304" charset="0"/>
                    <a:ea typeface="微软雅黑" panose="020B0503020204020204" charset="-122"/>
                    <a:cs typeface="Times New Roman" panose="02020603050405020304" charset="0"/>
                    <a:sym typeface="+mn-ea"/>
                  </a:rPr>
                  <a:t>,1≤</a:t>
                </a:r>
                <a:r>
                  <a:rPr lang="en-US" altLang="zh-CN" sz="2400" i="1">
                    <a:latin typeface="Times New Roman" panose="02020603050405020304" charset="0"/>
                    <a:ea typeface="微软雅黑" panose="020B0503020204020204" charset="-122"/>
                    <a:cs typeface="Times New Roman" panose="02020603050405020304" charset="0"/>
                    <a:sym typeface="+mn-ea"/>
                  </a:rPr>
                  <a:t>i</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i="1">
                    <a:latin typeface="Times New Roman" panose="02020603050405020304" charset="0"/>
                    <a:ea typeface="微软雅黑" panose="020B0503020204020204" charset="-122"/>
                    <a:cs typeface="Times New Roman" panose="02020603050405020304" charset="0"/>
                    <a:sym typeface="+mn-ea"/>
                  </a:rPr>
                  <a:t>I</a:t>
                </a:r>
                <a:r>
                  <a:rPr lang="en-US" altLang="zh-CN" sz="2400">
                    <a:latin typeface="Times New Roman" panose="02020603050405020304" charset="0"/>
                    <a:ea typeface="微软雅黑" panose="020B0503020204020204" charset="-122"/>
                    <a:cs typeface="Times New Roman" panose="02020603050405020304" charset="0"/>
                    <a:sym typeface="+mn-ea"/>
                  </a:rPr>
                  <a:t>}</a:t>
                </a:r>
                <a:r>
                  <a:rPr lang="zh-CN" altLang="en-US" sz="2400">
                    <a:latin typeface="Times New Roman" panose="02020603050405020304" charset="0"/>
                    <a:ea typeface="微软雅黑" panose="020B0503020204020204" charset="-122"/>
                    <a:cs typeface="Times New Roman" panose="02020603050405020304" charset="0"/>
                    <a:sym typeface="+mn-ea"/>
                  </a:rPr>
                  <a:t>就是直方图的多分辨率小波分解表示。</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sym typeface="+mn-ea"/>
                  </a:rPr>
                  <a:t>具体现在分辨率为</a:t>
                </a:r>
                <a:r>
                  <a:rPr lang="en-US" altLang="zh-CN" sz="2800" b="1" i="1">
                    <a:solidFill>
                      <a:srgbClr val="FF0000"/>
                    </a:solidFill>
                    <a:latin typeface="Times New Roman" panose="02020603050405020304" charset="0"/>
                    <a:ea typeface="微软雅黑" panose="020B0503020204020204" charset="-122"/>
                    <a:cs typeface="Times New Roman" panose="02020603050405020304" charset="0"/>
                    <a:sym typeface="+mn-ea"/>
                  </a:rPr>
                  <a:t>2</a:t>
                </a:r>
                <a:r>
                  <a:rPr lang="en-US" altLang="zh-CN" sz="2800" b="1" i="1" baseline="30000">
                    <a:solidFill>
                      <a:srgbClr val="FF0000"/>
                    </a:solidFill>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sym typeface="+mn-ea"/>
                  </a:rPr>
                  <a:t>时确定初始的分割类数。可以通过</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直方图独立峰</a:t>
                </a:r>
                <a:r>
                  <a:rPr lang="zh-CN" altLang="en-US" sz="2400">
                    <a:latin typeface="Times New Roman" panose="02020603050405020304" charset="0"/>
                    <a:ea typeface="微软雅黑" panose="020B0503020204020204" charset="-122"/>
                    <a:cs typeface="Times New Roman" panose="02020603050405020304" charset="0"/>
                    <a:sym typeface="+mn-ea"/>
                  </a:rPr>
                  <a:t>的数量确定。这里独立峰应满足三个条件：</a:t>
                </a:r>
                <a:r>
                  <a:rPr lang="en-US" altLang="zh-CN" sz="2400">
                    <a:latin typeface="Times New Roman" panose="02020603050405020304" charset="0"/>
                    <a:ea typeface="微软雅黑" panose="020B0503020204020204" charset="-122"/>
                    <a:cs typeface="Times New Roman" panose="02020603050405020304" charset="0"/>
                    <a:sym typeface="+mn-ea"/>
                  </a:rPr>
                  <a:t>1).</a:t>
                </a:r>
                <a:r>
                  <a:rPr lang="zh-CN" altLang="en-US" sz="2400">
                    <a:latin typeface="Times New Roman" panose="02020603050405020304" charset="0"/>
                    <a:ea typeface="微软雅黑" panose="020B0503020204020204" charset="-122"/>
                    <a:cs typeface="Times New Roman" panose="02020603050405020304" charset="0"/>
                    <a:sym typeface="+mn-ea"/>
                  </a:rPr>
                  <a:t>具有一定的灰度范围；</a:t>
                </a:r>
                <a:r>
                  <a:rPr lang="en-US" altLang="zh-CN" sz="24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具有一定的峰下面积；</a:t>
                </a:r>
                <a:r>
                  <a:rPr lang="en-US" altLang="zh-CN" sz="2400">
                    <a:latin typeface="Times New Roman" panose="02020603050405020304" charset="0"/>
                    <a:ea typeface="微软雅黑" panose="020B0503020204020204" charset="-122"/>
                    <a:cs typeface="Times New Roman" panose="02020603050405020304" charset="0"/>
                    <a:sym typeface="+mn-ea"/>
                  </a:rPr>
                  <a:t>3).</a:t>
                </a:r>
                <a:r>
                  <a:rPr lang="zh-CN" altLang="en-US" sz="2400">
                    <a:latin typeface="Times New Roman" panose="02020603050405020304" charset="0"/>
                    <a:ea typeface="微软雅黑" panose="020B0503020204020204" charset="-122"/>
                    <a:cs typeface="Times New Roman" panose="02020603050405020304" charset="0"/>
                    <a:sym typeface="+mn-ea"/>
                  </a:rPr>
                  <a:t>具有一定的峰谷差。</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mc:Choice>
        <mc:Fallback>
          <p:sp>
            <p:nvSpPr>
              <p:cNvPr id="329730" name="矩形 329730"/>
              <p:cNvSpPr>
                <a:spLocks noRot="1" noChangeAspect="1" noMove="1" noResize="1" noEditPoints="1" noAdjustHandles="1" noChangeArrowheads="1" noChangeShapeType="1" noTextEdit="1"/>
              </p:cNvSpPr>
              <p:nvPr/>
            </p:nvSpPr>
            <p:spPr>
              <a:xfrm>
                <a:off x="224790" y="1821180"/>
                <a:ext cx="11454765" cy="4802505"/>
              </a:xfrm>
              <a:prstGeom prst="rect">
                <a:avLst/>
              </a:prstGeom>
              <a:blipFill rotWithShape="1">
                <a:blip r:embed="rId1"/>
                <a:stretch>
                  <a:fillRect/>
                </a:stretch>
              </a:blipFill>
              <a:ln w="9525">
                <a:noFill/>
              </a:ln>
            </p:spPr>
            <p:txBody>
              <a:bodyPr/>
              <a:lstStyle/>
              <a:p>
                <a:r>
                  <a:rPr lang="zh-CN" altLang="en-US">
                    <a:noFill/>
                  </a:rPr>
                  <a:t> </a:t>
                </a:r>
              </a:p>
            </p:txBody>
          </p:sp>
        </mc:Fallback>
      </mc:AlternateContent>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168265" y="1182370"/>
          <a:ext cx="5160645" cy="760095"/>
        </p:xfrm>
        <a:graphic>
          <a:graphicData uri="http://schemas.openxmlformats.org/presentationml/2006/ole">
            <mc:AlternateContent xmlns:mc="http://schemas.openxmlformats.org/markup-compatibility/2006">
              <mc:Choice xmlns:v="urn:schemas-microsoft-com:vml" Requires="v">
                <p:oleObj spid="_x0000_s1025" name="" r:id="rId2" imgW="1638300" imgH="241300" progId="Equation.KSEE3">
                  <p:embed/>
                </p:oleObj>
              </mc:Choice>
              <mc:Fallback>
                <p:oleObj name="" r:id="rId2" imgW="1638300" imgH="241300" progId="Equation.KSEE3">
                  <p:embed/>
                  <p:pic>
                    <p:nvPicPr>
                      <p:cNvPr id="0" name="图片 1024"/>
                      <p:cNvPicPr/>
                      <p:nvPr/>
                    </p:nvPicPr>
                    <p:blipFill>
                      <a:blip r:embed="rId3"/>
                      <a:stretch>
                        <a:fillRect/>
                      </a:stretch>
                    </p:blipFill>
                    <p:spPr>
                      <a:xfrm>
                        <a:off x="5168265" y="1182370"/>
                        <a:ext cx="5160645" cy="76009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0" name="矩形 329730"/>
          <p:cNvSpPr/>
          <p:nvPr/>
        </p:nvSpPr>
        <p:spPr>
          <a:xfrm>
            <a:off x="217805" y="1821180"/>
            <a:ext cx="11461750" cy="4521835"/>
          </a:xfrm>
          <a:prstGeom prst="rect">
            <a:avLst/>
          </a:prstGeom>
          <a:noFill/>
          <a:ln w="9525">
            <a:noFill/>
          </a:ln>
        </p:spPr>
        <p:txBody>
          <a:bodyPr wrap="square" anchor="t" anchorCtr="0">
            <a:noAutofit/>
          </a:bodyPr>
          <a:p>
            <a:pPr defTabSz="719455">
              <a:lnSpc>
                <a:spcPct val="150000"/>
              </a:lnSpc>
              <a:spcAft>
                <a:spcPts val="0"/>
              </a:spcAft>
            </a:pPr>
            <a:r>
              <a:rPr lang="en-US" altLang="zh-CN" sz="24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确定最优阈值</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sz="2000">
                <a:latin typeface="Times New Roman" panose="02020603050405020304" charset="0"/>
                <a:ea typeface="微软雅黑" panose="020B0503020204020204" charset="-122"/>
                <a:cs typeface="Times New Roman" panose="02020603050405020304" charset="0"/>
              </a:rPr>
              <a:t>确定初始的分割类数之后，可利用多分辨率的层次结构在直方图相邻峰之间确定最优阈值。这个首先在低分辨率上进行，然后逐渐向高层推进，直到最高的分辨率层。如选高斯函数作为平滑函数，选取小波函数为</a:t>
            </a:r>
            <a:r>
              <a:rPr lang="en-US" altLang="zh-CN" sz="2000" i="1">
                <a:latin typeface="Times New Roman" panose="02020603050405020304" charset="0"/>
                <a:ea typeface="微软雅黑" panose="020B0503020204020204" charset="-122"/>
                <a:cs typeface="Times New Roman" panose="02020603050405020304" charset="0"/>
              </a:rPr>
              <a:t>D</a:t>
            </a:r>
            <a:r>
              <a:rPr lang="en-US" altLang="zh-CN" sz="2000">
                <a:latin typeface="Times New Roman" panose="02020603050405020304" charset="0"/>
                <a:ea typeface="微软雅黑" panose="020B0503020204020204" charset="-122"/>
                <a:cs typeface="Times New Roman" panose="02020603050405020304" charset="0"/>
              </a:rPr>
              <a:t>(</a:t>
            </a:r>
            <a:r>
              <a:rPr lang="en-US" altLang="zh-CN" sz="2000" i="1">
                <a:latin typeface="Times New Roman" panose="02020603050405020304" charset="0"/>
                <a:ea typeface="微软雅黑" panose="020B0503020204020204" charset="-122"/>
                <a:cs typeface="Times New Roman" panose="02020603050405020304" charset="0"/>
              </a:rPr>
              <a:t>x</a:t>
            </a:r>
            <a:r>
              <a:rPr lang="en-US" altLang="zh-CN" sz="2000">
                <a:latin typeface="Times New Roman" panose="02020603050405020304" charset="0"/>
                <a:ea typeface="微软雅黑" panose="020B0503020204020204" charset="-122"/>
                <a:cs typeface="Times New Roman" panose="02020603050405020304" charset="0"/>
              </a:rPr>
              <a:t>)</a:t>
            </a:r>
            <a:r>
              <a:rPr lang="zh-CN" altLang="en-US" sz="2000">
                <a:latin typeface="Times New Roman" panose="02020603050405020304" charset="0"/>
                <a:ea typeface="微软雅黑" panose="020B0503020204020204" charset="-122"/>
                <a:cs typeface="Times New Roman" panose="02020603050405020304" charset="0"/>
              </a:rPr>
              <a:t>：</a:t>
            </a:r>
            <a:endParaRPr lang="zh-CN" altLang="en-US" sz="2000">
              <a:latin typeface="Times New Roman" panose="02020603050405020304" charset="0"/>
              <a:ea typeface="微软雅黑" panose="020B0503020204020204" charset="-122"/>
              <a:cs typeface="Times New Roman" panose="02020603050405020304" charset="0"/>
            </a:endParaRPr>
          </a:p>
          <a:p>
            <a:pPr defTabSz="719455">
              <a:lnSpc>
                <a:spcPct val="150000"/>
              </a:lnSpc>
              <a:spcAft>
                <a:spcPts val="0"/>
              </a:spcAft>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000">
                <a:latin typeface="Times New Roman" panose="02020603050405020304" charset="0"/>
                <a:ea typeface="微软雅黑" panose="020B0503020204020204" charset="-122"/>
                <a:cs typeface="Times New Roman" panose="02020603050405020304" charset="0"/>
                <a:sym typeface="+mn-ea"/>
              </a:rPr>
              <a:t>则</a:t>
            </a:r>
            <a:r>
              <a:rPr lang="en-US" altLang="zh-CN" sz="2000" i="1">
                <a:latin typeface="Times New Roman" panose="02020603050405020304" charset="0"/>
                <a:ea typeface="微软雅黑" panose="020B0503020204020204" charset="-122"/>
                <a:cs typeface="Times New Roman" panose="02020603050405020304" charset="0"/>
                <a:sym typeface="+mn-ea"/>
              </a:rPr>
              <a:t>D</a:t>
            </a:r>
            <a:r>
              <a:rPr lang="en-US" altLang="zh-CN" sz="2000">
                <a:latin typeface="Times New Roman" panose="02020603050405020304" charset="0"/>
                <a:ea typeface="微软雅黑" panose="020B0503020204020204" charset="-122"/>
                <a:cs typeface="Times New Roman" panose="02020603050405020304" charset="0"/>
                <a:sym typeface="+mn-ea"/>
              </a:rPr>
              <a:t>(</a:t>
            </a:r>
            <a:r>
              <a:rPr lang="en-US" altLang="zh-CN" sz="2000" i="1">
                <a:latin typeface="Times New Roman" panose="02020603050405020304" charset="0"/>
                <a:ea typeface="微软雅黑" panose="020B0503020204020204" charset="-122"/>
                <a:cs typeface="Times New Roman" panose="02020603050405020304" charset="0"/>
                <a:sym typeface="+mn-ea"/>
              </a:rPr>
              <a:t>x</a:t>
            </a:r>
            <a:r>
              <a:rPr lang="en-US" altLang="zh-CN" sz="2000">
                <a:latin typeface="Times New Roman" panose="02020603050405020304" charset="0"/>
                <a:ea typeface="微软雅黑" panose="020B0503020204020204" charset="-122"/>
                <a:cs typeface="Times New Roman" panose="02020603050405020304" charset="0"/>
                <a:sym typeface="+mn-ea"/>
              </a:rPr>
              <a:t>)</a:t>
            </a:r>
            <a:r>
              <a:rPr lang="zh-CN" altLang="en-US" sz="2000">
                <a:latin typeface="Times New Roman" panose="02020603050405020304" charset="0"/>
                <a:ea typeface="微软雅黑" panose="020B0503020204020204" charset="-122"/>
                <a:cs typeface="Times New Roman" panose="02020603050405020304" charset="0"/>
                <a:sym typeface="+mn-ea"/>
              </a:rPr>
              <a:t>对应的二进小波变换为：</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000">
                <a:latin typeface="Times New Roman" panose="02020603050405020304" charset="0"/>
                <a:ea typeface="微软雅黑" panose="020B0503020204020204" charset="-122"/>
                <a:cs typeface="Times New Roman" panose="02020603050405020304" charset="0"/>
                <a:sym typeface="+mn-ea"/>
              </a:rPr>
              <a:t>由上式可知，小波变换的</a:t>
            </a:r>
            <a:r>
              <a:rPr lang="en-US" altLang="zh-CN" sz="2000">
                <a:latin typeface="Times New Roman" panose="02020603050405020304" charset="0"/>
                <a:ea typeface="微软雅黑" panose="020B0503020204020204" charset="-122"/>
                <a:cs typeface="Times New Roman" panose="02020603050405020304" charset="0"/>
                <a:sym typeface="+mn-ea"/>
              </a:rPr>
              <a:t>0</a:t>
            </a:r>
            <a:r>
              <a:rPr lang="zh-CN" altLang="en-US" sz="2000">
                <a:latin typeface="Times New Roman" panose="02020603050405020304" charset="0"/>
                <a:ea typeface="微软雅黑" panose="020B0503020204020204" charset="-122"/>
                <a:cs typeface="Times New Roman" panose="02020603050405020304" charset="0"/>
                <a:sym typeface="+mn-ea"/>
              </a:rPr>
              <a:t>交叉位置对应分辨</a:t>
            </a:r>
            <a:r>
              <a:rPr lang="en-US" altLang="zh-CN" sz="2000" b="1" i="1">
                <a:latin typeface="Times New Roman" panose="02020603050405020304" charset="0"/>
                <a:ea typeface="微软雅黑" panose="020B0503020204020204" charset="-122"/>
                <a:cs typeface="Times New Roman" panose="02020603050405020304" charset="0"/>
                <a:sym typeface="+mn-ea"/>
              </a:rPr>
              <a:t>2</a:t>
            </a:r>
            <a:r>
              <a:rPr lang="en-US" altLang="zh-CN" sz="2000" b="1" i="1" baseline="30000">
                <a:latin typeface="Times New Roman" panose="02020603050405020304" charset="0"/>
                <a:ea typeface="微软雅黑" panose="020B0503020204020204" charset="-122"/>
                <a:cs typeface="Times New Roman" panose="02020603050405020304" charset="0"/>
                <a:sym typeface="+mn-ea"/>
              </a:rPr>
              <a:t>i</a:t>
            </a:r>
            <a:r>
              <a:rPr lang="zh-CN" altLang="en-US" sz="2000">
                <a:latin typeface="Times New Roman" panose="02020603050405020304" charset="0"/>
                <a:ea typeface="微软雅黑" panose="020B0503020204020204" charset="-122"/>
                <a:cs typeface="Times New Roman" panose="02020603050405020304" charset="0"/>
                <a:sym typeface="+mn-ea"/>
              </a:rPr>
              <a:t>时低通信号</a:t>
            </a:r>
            <a:r>
              <a:rPr lang="en-US" altLang="zh-CN" sz="2000">
                <a:latin typeface="Times New Roman" panose="02020603050405020304" charset="0"/>
                <a:ea typeface="微软雅黑" panose="020B0503020204020204" charset="-122"/>
                <a:cs typeface="Times New Roman" panose="02020603050405020304" charset="0"/>
                <a:sym typeface="+mn-ea"/>
              </a:rPr>
              <a:t>                             </a:t>
            </a:r>
            <a:r>
              <a:rPr lang="zh-CN" altLang="en-US" sz="2000">
                <a:latin typeface="Times New Roman" panose="02020603050405020304" charset="0"/>
                <a:ea typeface="微软雅黑" panose="020B0503020204020204" charset="-122"/>
                <a:cs typeface="Times New Roman" panose="02020603050405020304" charset="0"/>
                <a:sym typeface="+mn-ea"/>
              </a:rPr>
              <a:t>的剧烈变化点。当尺度</a:t>
            </a:r>
            <a:r>
              <a:rPr lang="en-US" altLang="zh-CN" sz="2000" b="1" i="1">
                <a:latin typeface="Times New Roman" panose="02020603050405020304" charset="0"/>
                <a:ea typeface="微软雅黑" panose="020B0503020204020204" charset="-122"/>
                <a:cs typeface="Times New Roman" panose="02020603050405020304" charset="0"/>
                <a:sym typeface="+mn-ea"/>
              </a:rPr>
              <a:t>2</a:t>
            </a:r>
            <a:r>
              <a:rPr lang="en-US" altLang="zh-CN" sz="2000" b="1" i="1" baseline="30000">
                <a:latin typeface="Times New Roman" panose="02020603050405020304" charset="0"/>
                <a:ea typeface="微软雅黑" panose="020B0503020204020204" charset="-122"/>
                <a:cs typeface="Times New Roman" panose="02020603050405020304" charset="0"/>
                <a:sym typeface="+mn-ea"/>
              </a:rPr>
              <a:t>i</a:t>
            </a:r>
            <a:r>
              <a:rPr lang="zh-CN" altLang="en-US" sz="2000">
                <a:latin typeface="Times New Roman" panose="02020603050405020304" charset="0"/>
                <a:ea typeface="微软雅黑" panose="020B0503020204020204" charset="-122"/>
                <a:cs typeface="Times New Roman" panose="02020603050405020304" charset="0"/>
                <a:sym typeface="+mn-ea"/>
              </a:rPr>
              <a:t>减小时，信号局部信息增多；而当</a:t>
            </a:r>
            <a:r>
              <a:rPr lang="en-US" altLang="zh-CN" sz="2000" b="1" i="1">
                <a:latin typeface="Times New Roman" panose="02020603050405020304" charset="0"/>
                <a:ea typeface="微软雅黑" panose="020B0503020204020204" charset="-122"/>
                <a:cs typeface="Times New Roman" panose="02020603050405020304" charset="0"/>
                <a:sym typeface="+mn-ea"/>
              </a:rPr>
              <a:t>2</a:t>
            </a:r>
            <a:r>
              <a:rPr lang="en-US" altLang="zh-CN" sz="2000" b="1" i="1" baseline="30000">
                <a:latin typeface="Times New Roman" panose="02020603050405020304" charset="0"/>
                <a:ea typeface="微软雅黑" panose="020B0503020204020204" charset="-122"/>
                <a:cs typeface="Times New Roman" panose="02020603050405020304" charset="0"/>
                <a:sym typeface="+mn-ea"/>
              </a:rPr>
              <a:t>i</a:t>
            </a:r>
            <a:r>
              <a:rPr lang="zh-CN" altLang="en-US" sz="2000">
                <a:latin typeface="Times New Roman" panose="02020603050405020304" charset="0"/>
                <a:ea typeface="微软雅黑" panose="020B0503020204020204" charset="-122"/>
                <a:cs typeface="Times New Roman" panose="02020603050405020304" charset="0"/>
                <a:sym typeface="+mn-ea"/>
              </a:rPr>
              <a:t>增大时，信号中结构较大的轮廓比较明显</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168265" y="1182370"/>
          <a:ext cx="5160645" cy="760095"/>
        </p:xfrm>
        <a:graphic>
          <a:graphicData uri="http://schemas.openxmlformats.org/presentationml/2006/ole">
            <mc:AlternateContent xmlns:mc="http://schemas.openxmlformats.org/markup-compatibility/2006">
              <mc:Choice xmlns:v="urn:schemas-microsoft-com:vml" Requires="v">
                <p:oleObj spid="_x0000_s1025" name="" r:id="rId1" imgW="1638300" imgH="241300" progId="Equation.KSEE3">
                  <p:embed/>
                </p:oleObj>
              </mc:Choice>
              <mc:Fallback>
                <p:oleObj name="" r:id="rId1" imgW="1638300" imgH="241300" progId="Equation.KSEE3">
                  <p:embed/>
                  <p:pic>
                    <p:nvPicPr>
                      <p:cNvPr id="0" name="图片 1024"/>
                      <p:cNvPicPr/>
                      <p:nvPr/>
                    </p:nvPicPr>
                    <p:blipFill>
                      <a:blip r:embed="rId2"/>
                      <a:stretch>
                        <a:fillRect/>
                      </a:stretch>
                    </p:blipFill>
                    <p:spPr>
                      <a:xfrm>
                        <a:off x="5168265" y="1182370"/>
                        <a:ext cx="5160645" cy="76009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3849370" y="3424555"/>
          <a:ext cx="2104390" cy="901700"/>
        </p:xfrm>
        <a:graphic>
          <a:graphicData uri="http://schemas.openxmlformats.org/presentationml/2006/ole">
            <mc:AlternateContent xmlns:mc="http://schemas.openxmlformats.org/markup-compatibility/2006">
              <mc:Choice xmlns:v="urn:schemas-microsoft-com:vml" Requires="v">
                <p:oleObj spid="_x0000_s2049" name="" r:id="rId3" imgW="977900" imgH="419100" progId="Equation.KSEE3">
                  <p:embed/>
                </p:oleObj>
              </mc:Choice>
              <mc:Fallback>
                <p:oleObj name="" r:id="rId3" imgW="977900" imgH="419100" progId="Equation.KSEE3">
                  <p:embed/>
                  <p:pic>
                    <p:nvPicPr>
                      <p:cNvPr id="0" name="图片 2048"/>
                      <p:cNvPicPr/>
                      <p:nvPr/>
                    </p:nvPicPr>
                    <p:blipFill>
                      <a:blip r:embed="rId4"/>
                      <a:stretch>
                        <a:fillRect/>
                      </a:stretch>
                    </p:blipFill>
                    <p:spPr>
                      <a:xfrm>
                        <a:off x="3849370" y="3424555"/>
                        <a:ext cx="2104390" cy="90170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3849370" y="4340860"/>
          <a:ext cx="4968240" cy="854075"/>
        </p:xfrm>
        <a:graphic>
          <a:graphicData uri="http://schemas.openxmlformats.org/presentationml/2006/ole">
            <mc:AlternateContent xmlns:mc="http://schemas.openxmlformats.org/markup-compatibility/2006">
              <mc:Choice xmlns:v="urn:schemas-microsoft-com:vml" Requires="v">
                <p:oleObj spid="_x0000_s2050" name="" r:id="rId5" imgW="2438400" imgH="419100" progId="Equation.KSEE3">
                  <p:embed/>
                </p:oleObj>
              </mc:Choice>
              <mc:Fallback>
                <p:oleObj name="" r:id="rId5" imgW="2438400" imgH="419100" progId="Equation.KSEE3">
                  <p:embed/>
                  <p:pic>
                    <p:nvPicPr>
                      <p:cNvPr id="0" name="图片 2049"/>
                      <p:cNvPicPr/>
                      <p:nvPr/>
                    </p:nvPicPr>
                    <p:blipFill>
                      <a:blip r:embed="rId6"/>
                      <a:stretch>
                        <a:fillRect/>
                      </a:stretch>
                    </p:blipFill>
                    <p:spPr>
                      <a:xfrm>
                        <a:off x="3849370" y="4340860"/>
                        <a:ext cx="4968240" cy="854075"/>
                      </a:xfrm>
                      <a:prstGeom prst="rect">
                        <a:avLst/>
                      </a:prstGeom>
                    </p:spPr>
                  </p:pic>
                </p:oleObj>
              </mc:Fallback>
            </mc:AlternateContent>
          </a:graphicData>
        </a:graphic>
      </p:graphicFrame>
      <p:pic>
        <p:nvPicPr>
          <p:cNvPr id="5" name="图片 4"/>
          <p:cNvPicPr>
            <a:picLocks noChangeAspect="1"/>
          </p:cNvPicPr>
          <p:nvPr>
            <p:custDataLst>
              <p:tags r:id="rId7"/>
            </p:custDataLst>
          </p:nvPr>
        </p:nvPicPr>
        <p:blipFill>
          <a:blip r:embed="rId8"/>
          <a:stretch>
            <a:fillRect/>
          </a:stretch>
        </p:blipFill>
        <p:spPr>
          <a:xfrm>
            <a:off x="6746875" y="5236845"/>
            <a:ext cx="1758950" cy="419100"/>
          </a:xfrm>
          <a:prstGeom prst="rect">
            <a:avLst/>
          </a:prstGeom>
        </p:spPr>
      </p:pic>
    </p:spTree>
  </p:cSld>
  <p:clrMapOvr>
    <a:masterClrMapping/>
  </p:clrMapOvr>
  <p:transition spd="slow"/>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329730" name="矩形 329730"/>
              <p:cNvSpPr/>
              <p:nvPr/>
            </p:nvSpPr>
            <p:spPr>
              <a:xfrm>
                <a:off x="217805" y="1821180"/>
                <a:ext cx="11461750" cy="4521835"/>
              </a:xfrm>
              <a:prstGeom prst="rect">
                <a:avLst/>
              </a:prstGeom>
              <a:noFill/>
              <a:ln w="9525">
                <a:noFill/>
              </a:ln>
            </p:spPr>
            <p:txBody>
              <a:bodyPr wrap="square" anchor="t" anchorCtr="0">
                <a:noAutofit/>
              </a:bodyPr>
              <a:p>
                <a:pPr defTabSz="719455">
                  <a:lnSpc>
                    <a:spcPct val="150000"/>
                  </a:lnSpc>
                  <a:spcAft>
                    <a:spcPts val="0"/>
                  </a:spcAft>
                </a:pPr>
                <a:r>
                  <a:rPr lang="en-US" altLang="zh-CN" sz="24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确定最优阈值</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sym typeface="+mn-ea"/>
                  </a:rPr>
                  <a:t>对直方图来说，</a:t>
                </a:r>
                <a14:m>
                  <m:oMath xmlns:m="http://schemas.openxmlformats.org/officeDocument/2006/math">
                    <m:sSub>
                      <m:sSubPr>
                        <m:ctrlPr>
                          <a:rPr lang="en-US" altLang="zh-CN" sz="2400" i="1">
                            <a:latin typeface="Cambria Math" panose="02040503050406030204" charset="0"/>
                            <a:ea typeface="微软雅黑" panose="020B0503020204020204" charset="-122"/>
                            <a:cs typeface="Cambria Math" panose="02040503050406030204" charset="0"/>
                          </a:rPr>
                        </m:ctrlPr>
                      </m:sSubPr>
                      <m:e>
                        <m:r>
                          <a:rPr lang="en-US" altLang="zh-CN" sz="2400" i="1">
                            <a:latin typeface="Cambria Math" panose="02040503050406030204" charset="0"/>
                            <a:ea typeface="微软雅黑" panose="020B0503020204020204" charset="-122"/>
                            <a:cs typeface="Cambria Math" panose="02040503050406030204" charset="0"/>
                          </a:rPr>
                          <m:t>𝑆</m:t>
                        </m:r>
                      </m:e>
                      <m:sub>
                        <m:sSup>
                          <m:sSupPr>
                            <m:ctrlPr>
                              <a:rPr lang="en-US" altLang="zh-CN" sz="2400" i="1">
                                <a:latin typeface="Cambria Math" panose="02040503050406030204" charset="0"/>
                                <a:ea typeface="微软雅黑" panose="020B0503020204020204" charset="-122"/>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微软雅黑" panose="020B0503020204020204" charset="-122"/>
                                <a:cs typeface="Cambria Math" panose="02040503050406030204" charset="0"/>
                              </a:rPr>
                              <m:t>𝑖</m:t>
                            </m:r>
                          </m:sup>
                        </m:sSup>
                      </m:sub>
                    </m:sSub>
                    <m:r>
                      <a:rPr lang="en-US" altLang="zh-CN" sz="2400" i="1">
                        <a:latin typeface="Times New Roman" panose="02020603050405020304" charset="0"/>
                        <a:ea typeface="微软雅黑" panose="020B0503020204020204" charset="-122"/>
                        <a:cs typeface="Times New Roman" panose="02020603050405020304" charset="0"/>
                        <a:sym typeface="+mn-ea"/>
                      </a:rPr>
                      <m:t>𝐻</m:t>
                    </m:r>
                    <m:r>
                      <a:rPr lang="en-US" altLang="zh-CN" sz="2400">
                        <a:latin typeface="Times New Roman" panose="02020603050405020304" charset="0"/>
                        <a:ea typeface="微软雅黑" panose="020B0503020204020204" charset="-122"/>
                        <a:cs typeface="Times New Roman" panose="02020603050405020304" charset="0"/>
                        <a:sym typeface="+mn-ea"/>
                      </a:rPr>
                      <m:t>(</m:t>
                    </m:r>
                    <m:r>
                      <a:rPr lang="en-US" altLang="zh-CN" sz="2400" i="1">
                        <a:latin typeface="Times New Roman" panose="02020603050405020304" charset="0"/>
                        <a:ea typeface="微软雅黑" panose="020B0503020204020204" charset="-122"/>
                        <a:cs typeface="Times New Roman" panose="02020603050405020304" charset="0"/>
                        <a:sym typeface="+mn-ea"/>
                      </a:rPr>
                      <m:t>𝑥</m:t>
                    </m:r>
                    <m:r>
                      <a:rPr lang="en-US" altLang="zh-CN" sz="2400">
                        <a:latin typeface="Times New Roman" panose="02020603050405020304" charset="0"/>
                        <a:ea typeface="微软雅黑" panose="020B0503020204020204" charset="-122"/>
                        <a:cs typeface="Times New Roman" panose="02020603050405020304" charset="0"/>
                        <a:sym typeface="+mn-ea"/>
                      </a:rPr>
                      <m:t>)</m:t>
                    </m:r>
                  </m:oMath>
                </a14:m>
                <a:r>
                  <a:rPr lang="zh-CN" altLang="en-US" sz="2400">
                    <a:latin typeface="Times New Roman" panose="02020603050405020304" charset="0"/>
                    <a:ea typeface="微软雅黑" panose="020B0503020204020204" charset="-122"/>
                    <a:cs typeface="Times New Roman" panose="02020603050405020304" charset="0"/>
                    <a:sym typeface="+mn-ea"/>
                  </a:rPr>
                  <a:t>是一个分辨率下的近似信号，</a:t>
                </a:r>
                <a14:m>
                  <m:oMath xmlns:m="http://schemas.openxmlformats.org/officeDocument/2006/math">
                    <m:sSub>
                      <m:sSubPr>
                        <m:ctrlPr>
                          <a:rPr lang="en-US" altLang="zh-CN" sz="2400" i="1">
                            <a:latin typeface="Cambria Math" panose="02040503050406030204" charset="0"/>
                            <a:ea typeface="微软雅黑" panose="020B0503020204020204" charset="-122"/>
                            <a:cs typeface="Cambria Math" panose="02040503050406030204" charset="0"/>
                          </a:rPr>
                        </m:ctrlPr>
                      </m:sSubPr>
                      <m:e>
                        <m:r>
                          <a:rPr lang="en-US" altLang="zh-CN" sz="2400" i="1">
                            <a:latin typeface="Cambria Math" panose="02040503050406030204" charset="0"/>
                            <a:ea typeface="微软雅黑" panose="020B0503020204020204" charset="-122"/>
                            <a:cs typeface="Cambria Math" panose="02040503050406030204" charset="0"/>
                          </a:rPr>
                          <m:t>𝑊</m:t>
                        </m:r>
                      </m:e>
                      <m:sub>
                        <m:sSup>
                          <m:sSupPr>
                            <m:ctrlPr>
                              <a:rPr lang="en-US" altLang="zh-CN" sz="2400" i="1">
                                <a:latin typeface="Cambria Math" panose="02040503050406030204" charset="0"/>
                                <a:ea typeface="微软雅黑" panose="020B0503020204020204" charset="-122"/>
                                <a:cs typeface="Cambria Math" panose="02040503050406030204" charset="0"/>
                              </a:rPr>
                            </m:ctrlPr>
                          </m:sSupPr>
                          <m:e>
                            <m:r>
                              <a:rPr lang="en-US" altLang="zh-CN" sz="2400" i="1">
                                <a:latin typeface="Cambria Math" panose="02040503050406030204" charset="0"/>
                                <a:ea typeface="MS Mincho" charset="0"/>
                                <a:cs typeface="Cambria Math" panose="02040503050406030204" charset="0"/>
                              </a:rPr>
                              <m:t>2</m:t>
                            </m:r>
                          </m:e>
                          <m:sup>
                            <m:r>
                              <a:rPr lang="en-US" altLang="zh-CN" sz="2400" i="1">
                                <a:latin typeface="Cambria Math" panose="02040503050406030204" charset="0"/>
                                <a:ea typeface="微软雅黑" panose="020B0503020204020204" charset="-122"/>
                                <a:cs typeface="Cambria Math" panose="02040503050406030204" charset="0"/>
                              </a:rPr>
                              <m:t>𝑖</m:t>
                            </m:r>
                          </m:sup>
                        </m:sSup>
                      </m:sub>
                    </m:sSub>
                  </m:oMath>
                </a14:m>
                <a:r>
                  <a:rPr lang="en-US" altLang="zh-CN" sz="2400" i="1">
                    <a:latin typeface="Times New Roman" panose="02020603050405020304" charset="0"/>
                    <a:ea typeface="微软雅黑" panose="020B0503020204020204" charset="-122"/>
                    <a:cs typeface="Times New Roman" panose="02020603050405020304" charset="0"/>
                    <a:sym typeface="+mn-ea"/>
                  </a:rPr>
                  <a:t>H</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i="1">
                    <a:latin typeface="Times New Roman" panose="02020603050405020304" charset="0"/>
                    <a:ea typeface="微软雅黑" panose="020B0503020204020204" charset="-122"/>
                    <a:cs typeface="Times New Roman" panose="02020603050405020304" charset="0"/>
                    <a:sym typeface="+mn-ea"/>
                  </a:rPr>
                  <a:t>x</a:t>
                </a:r>
                <a:r>
                  <a:rPr lang="en-US" altLang="zh-CN" sz="2400">
                    <a:latin typeface="Times New Roman" panose="02020603050405020304" charset="0"/>
                    <a:ea typeface="微软雅黑" panose="020B0503020204020204" charset="-122"/>
                    <a:cs typeface="Times New Roman" panose="02020603050405020304" charset="0"/>
                    <a:sym typeface="+mn-ea"/>
                  </a:rPr>
                  <a:t>)</a:t>
                </a:r>
                <a:r>
                  <a:rPr lang="zh-CN" altLang="en-US" sz="2400">
                    <a:latin typeface="Times New Roman" panose="02020603050405020304" charset="0"/>
                    <a:ea typeface="微软雅黑" panose="020B0503020204020204" charset="-122"/>
                    <a:cs typeface="Times New Roman" panose="02020603050405020304" charset="0"/>
                    <a:sym typeface="+mn-ea"/>
                  </a:rPr>
                  <a:t>代表不同分辨率下的细节信号，它们联合构成直方图的多分辨率的小波分解表达，给定一个直方图，可以考虑使用其多分辨率小波分解表达式中的零交叉点和极值点来确定直方图的峰点和谷点。</a:t>
                </a:r>
                <a:endParaRPr lang="zh-CN" altLang="en-US" sz="2400">
                  <a:latin typeface="Times New Roman" panose="02020603050405020304" charset="0"/>
                  <a:ea typeface="微软雅黑" panose="020B0503020204020204" charset="-122"/>
                  <a:cs typeface="Times New Roman" panose="02020603050405020304" charset="0"/>
                  <a:sym typeface="+mn-ea"/>
                </a:endParaRPr>
              </a:p>
              <a:p>
                <a:pPr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mc:Choice>
        <mc:Fallback>
          <p:sp>
            <p:nvSpPr>
              <p:cNvPr id="329730" name="矩形 329730"/>
              <p:cNvSpPr>
                <a:spLocks noRot="1" noChangeAspect="1" noMove="1" noResize="1" noEditPoints="1" noAdjustHandles="1" noChangeArrowheads="1" noChangeShapeType="1" noTextEdit="1"/>
              </p:cNvSpPr>
              <p:nvPr/>
            </p:nvSpPr>
            <p:spPr>
              <a:xfrm>
                <a:off x="217805" y="1821180"/>
                <a:ext cx="11461750" cy="4521835"/>
              </a:xfrm>
              <a:prstGeom prst="rect">
                <a:avLst/>
              </a:prstGeom>
              <a:blipFill rotWithShape="1">
                <a:blip r:embed="rId1"/>
                <a:stretch>
                  <a:fillRect r="-1850"/>
                </a:stretch>
              </a:blipFill>
              <a:ln w="9525">
                <a:noFill/>
              </a:ln>
            </p:spPr>
            <p:txBody>
              <a:bodyPr/>
              <a:lstStyle/>
              <a:p>
                <a:r>
                  <a:rPr lang="zh-CN" altLang="en-US">
                    <a:noFill/>
                  </a:rPr>
                  <a:t> </a:t>
                </a:r>
              </a:p>
            </p:txBody>
          </p:sp>
        </mc:Fallback>
      </mc:AlternateContent>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168265" y="500380"/>
          <a:ext cx="5160645" cy="760095"/>
        </p:xfrm>
        <a:graphic>
          <a:graphicData uri="http://schemas.openxmlformats.org/presentationml/2006/ole">
            <mc:AlternateContent xmlns:mc="http://schemas.openxmlformats.org/markup-compatibility/2006">
              <mc:Choice xmlns:v="urn:schemas-microsoft-com:vml" Requires="v">
                <p:oleObj spid="_x0000_s1025" name="" r:id="rId2" imgW="1638300" imgH="241300" progId="Equation.KSEE3">
                  <p:embed/>
                </p:oleObj>
              </mc:Choice>
              <mc:Fallback>
                <p:oleObj name="" r:id="rId2" imgW="1638300" imgH="241300" progId="Equation.KSEE3">
                  <p:embed/>
                  <p:pic>
                    <p:nvPicPr>
                      <p:cNvPr id="0" name="图片 1024"/>
                      <p:cNvPicPr/>
                      <p:nvPr/>
                    </p:nvPicPr>
                    <p:blipFill>
                      <a:blip r:embed="rId3"/>
                      <a:stretch>
                        <a:fillRect/>
                      </a:stretch>
                    </p:blipFill>
                    <p:spPr>
                      <a:xfrm>
                        <a:off x="5168265" y="500380"/>
                        <a:ext cx="5160645" cy="76009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5072380" y="1346200"/>
          <a:ext cx="4968240" cy="854075"/>
        </p:xfrm>
        <a:graphic>
          <a:graphicData uri="http://schemas.openxmlformats.org/presentationml/2006/ole">
            <mc:AlternateContent xmlns:mc="http://schemas.openxmlformats.org/markup-compatibility/2006">
              <mc:Choice xmlns:v="urn:schemas-microsoft-com:vml" Requires="v">
                <p:oleObj spid="_x0000_s2050" name="" r:id="rId4" imgW="2438400" imgH="419100" progId="Equation.KSEE3">
                  <p:embed/>
                </p:oleObj>
              </mc:Choice>
              <mc:Fallback>
                <p:oleObj name="" r:id="rId4" imgW="2438400" imgH="419100" progId="Equation.KSEE3">
                  <p:embed/>
                  <p:pic>
                    <p:nvPicPr>
                      <p:cNvPr id="0" name="图片 2049"/>
                      <p:cNvPicPr/>
                      <p:nvPr/>
                    </p:nvPicPr>
                    <p:blipFill>
                      <a:blip r:embed="rId5"/>
                      <a:stretch>
                        <a:fillRect/>
                      </a:stretch>
                    </p:blipFill>
                    <p:spPr>
                      <a:xfrm>
                        <a:off x="5072380" y="1346200"/>
                        <a:ext cx="4968240" cy="854075"/>
                      </a:xfrm>
                      <a:prstGeom prst="rect">
                        <a:avLst/>
                      </a:prstGeom>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29" name="矩形 32972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29731" name="矩形 329731"/>
          <p:cNvSpPr/>
          <p:nvPr/>
        </p:nvSpPr>
        <p:spPr>
          <a:xfrm>
            <a:off x="2519363" y="1260475"/>
            <a:ext cx="20116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多分辨率阈值</a:t>
            </a:r>
            <a:endParaRPr lang="zh-CN" altLang="en-US" sz="2400" b="1">
              <a:latin typeface="微软雅黑" panose="020B0503020204020204" charset="-122"/>
              <a:ea typeface="微软雅黑" panose="020B0503020204020204" charset="-122"/>
            </a:endParaRPr>
          </a:p>
        </p:txBody>
      </p:sp>
      <p:pic>
        <p:nvPicPr>
          <p:cNvPr id="329732" name="图片 329732" descr="F:\Book-ed\Second-7\S=CCV\ppt-for-web\Pic-f\060401.jpg"/>
          <p:cNvPicPr/>
          <p:nvPr/>
        </p:nvPicPr>
        <p:blipFill>
          <a:blip r:embed="rId1"/>
          <a:srcRect b="952"/>
          <a:stretch>
            <a:fillRect/>
          </a:stretch>
        </p:blipFill>
        <p:spPr>
          <a:xfrm>
            <a:off x="111760" y="1848803"/>
            <a:ext cx="6911975" cy="3743325"/>
          </a:xfrm>
          <a:prstGeom prst="rect">
            <a:avLst/>
          </a:prstGeom>
          <a:noFill/>
          <a:ln w="9525">
            <a:noFill/>
          </a:ln>
        </p:spPr>
      </p:pic>
      <p:sp>
        <p:nvSpPr>
          <p:cNvPr id="2" name="文本框 1"/>
          <p:cNvSpPr txBox="1"/>
          <p:nvPr/>
        </p:nvSpPr>
        <p:spPr>
          <a:xfrm>
            <a:off x="6937375" y="2073910"/>
            <a:ext cx="4915535" cy="2584450"/>
          </a:xfrm>
          <a:prstGeom prst="rect">
            <a:avLst/>
          </a:prstGeom>
          <a:noFill/>
        </p:spPr>
        <p:txBody>
          <a:bodyPr wrap="square" rtlCol="0">
            <a:spAutoFit/>
          </a:bodyPr>
          <a:p>
            <a:r>
              <a:rPr lang="zh-CN" altLang="en-US"/>
              <a:t>多分辨率阈值选取有四个原则：</a:t>
            </a:r>
            <a:endParaRPr lang="zh-CN" altLang="en-US"/>
          </a:p>
          <a:p>
            <a:r>
              <a:rPr lang="en-US" altLang="zh-CN"/>
              <a:t>1.</a:t>
            </a:r>
            <a:r>
              <a:rPr lang="zh-CN" altLang="en-US"/>
              <a:t>用从</a:t>
            </a:r>
            <a:r>
              <a:rPr lang="zh-CN" altLang="en-US">
                <a:solidFill>
                  <a:srgbClr val="FF0000"/>
                </a:solidFill>
              </a:rPr>
              <a:t>负值</a:t>
            </a:r>
            <a:r>
              <a:rPr lang="zh-CN" altLang="en-US"/>
              <a:t>变化到</a:t>
            </a:r>
            <a:r>
              <a:rPr lang="zh-CN" altLang="en-US">
                <a:solidFill>
                  <a:srgbClr val="FF0000"/>
                </a:solidFill>
              </a:rPr>
              <a:t>正值</a:t>
            </a:r>
            <a:r>
              <a:rPr lang="zh-CN" altLang="en-US"/>
              <a:t>的</a:t>
            </a:r>
            <a:r>
              <a:rPr lang="zh-CN" altLang="en-US">
                <a:solidFill>
                  <a:srgbClr val="FF0000"/>
                </a:solidFill>
              </a:rPr>
              <a:t>零交叉点</a:t>
            </a:r>
            <a:r>
              <a:rPr lang="zh-CN" altLang="en-US"/>
              <a:t>确定</a:t>
            </a:r>
            <a:r>
              <a:rPr lang="zh-CN" altLang="en-US">
                <a:solidFill>
                  <a:srgbClr val="FF0000"/>
                </a:solidFill>
              </a:rPr>
              <a:t>峰</a:t>
            </a:r>
            <a:r>
              <a:rPr lang="zh-CN" altLang="en-US"/>
              <a:t>的起点（图中</a:t>
            </a:r>
            <a:r>
              <a:rPr lang="zh-CN" altLang="en-US">
                <a:sym typeface="+mn-ea"/>
              </a:rPr>
              <a:t>各</a:t>
            </a:r>
            <a:r>
              <a:rPr lang="en-US" altLang="zh-CN">
                <a:solidFill>
                  <a:srgbClr val="FF0000"/>
                </a:solidFill>
              </a:rPr>
              <a:t>s</a:t>
            </a:r>
            <a:r>
              <a:rPr lang="zh-CN" altLang="en-US"/>
              <a:t>点）</a:t>
            </a:r>
            <a:endParaRPr lang="zh-CN" altLang="en-US"/>
          </a:p>
          <a:p>
            <a:r>
              <a:rPr lang="en-US" altLang="zh-CN"/>
              <a:t>2.</a:t>
            </a:r>
            <a:r>
              <a:rPr lang="zh-CN" altLang="en-US">
                <a:sym typeface="+mn-ea"/>
              </a:rPr>
              <a:t>用从</a:t>
            </a:r>
            <a:r>
              <a:rPr lang="zh-CN" altLang="en-US">
                <a:solidFill>
                  <a:srgbClr val="FF0000"/>
                </a:solidFill>
                <a:sym typeface="+mn-ea"/>
              </a:rPr>
              <a:t>正值</a:t>
            </a:r>
            <a:r>
              <a:rPr lang="zh-CN" altLang="en-US">
                <a:sym typeface="+mn-ea"/>
              </a:rPr>
              <a:t>变化到</a:t>
            </a:r>
            <a:r>
              <a:rPr lang="zh-CN" altLang="en-US">
                <a:solidFill>
                  <a:srgbClr val="FF0000"/>
                </a:solidFill>
                <a:sym typeface="+mn-ea"/>
              </a:rPr>
              <a:t>负值</a:t>
            </a:r>
            <a:r>
              <a:rPr lang="zh-CN" altLang="en-US">
                <a:sym typeface="+mn-ea"/>
              </a:rPr>
              <a:t>的</a:t>
            </a:r>
            <a:r>
              <a:rPr lang="zh-CN" altLang="en-US">
                <a:solidFill>
                  <a:srgbClr val="FF0000"/>
                </a:solidFill>
                <a:sym typeface="+mn-ea"/>
              </a:rPr>
              <a:t>零交叉点</a:t>
            </a:r>
            <a:r>
              <a:rPr lang="zh-CN" altLang="en-US">
                <a:sym typeface="+mn-ea"/>
              </a:rPr>
              <a:t>确定</a:t>
            </a:r>
            <a:r>
              <a:rPr lang="zh-CN" altLang="en-US">
                <a:solidFill>
                  <a:srgbClr val="FF0000"/>
                </a:solidFill>
                <a:sym typeface="+mn-ea"/>
              </a:rPr>
              <a:t>峰</a:t>
            </a:r>
            <a:r>
              <a:rPr lang="zh-CN" altLang="en-US">
                <a:sym typeface="+mn-ea"/>
              </a:rPr>
              <a:t>的终点（图中各</a:t>
            </a:r>
            <a:r>
              <a:rPr lang="en-US" altLang="zh-CN">
                <a:solidFill>
                  <a:srgbClr val="FF0000"/>
                </a:solidFill>
                <a:sym typeface="+mn-ea"/>
              </a:rPr>
              <a:t>e</a:t>
            </a:r>
            <a:r>
              <a:rPr lang="zh-CN" altLang="en-US">
                <a:sym typeface="+mn-ea"/>
              </a:rPr>
              <a:t>点）</a:t>
            </a:r>
            <a:endParaRPr lang="zh-CN" altLang="en-US">
              <a:sym typeface="+mn-ea"/>
            </a:endParaRPr>
          </a:p>
          <a:p>
            <a:r>
              <a:rPr lang="en-US" altLang="zh-CN"/>
              <a:t>3.</a:t>
            </a:r>
            <a:r>
              <a:rPr lang="zh-CN" altLang="en-US"/>
              <a:t>用前后</a:t>
            </a:r>
            <a:r>
              <a:rPr lang="zh-CN" altLang="en-US">
                <a:solidFill>
                  <a:srgbClr val="FF0000"/>
                </a:solidFill>
              </a:rPr>
              <a:t>相邻</a:t>
            </a:r>
            <a:r>
              <a:rPr lang="zh-CN" altLang="en-US"/>
              <a:t>的</a:t>
            </a:r>
            <a:r>
              <a:rPr lang="zh-CN" altLang="en-US">
                <a:solidFill>
                  <a:srgbClr val="FF0000"/>
                </a:solidFill>
              </a:rPr>
              <a:t>起点</a:t>
            </a:r>
            <a:r>
              <a:rPr lang="zh-CN" altLang="en-US"/>
              <a:t>和</a:t>
            </a:r>
            <a:r>
              <a:rPr lang="zh-CN" altLang="en-US">
                <a:solidFill>
                  <a:srgbClr val="FF0000"/>
                </a:solidFill>
              </a:rPr>
              <a:t>终点</a:t>
            </a:r>
            <a:r>
              <a:rPr lang="zh-CN" altLang="en-US"/>
              <a:t>间的</a:t>
            </a:r>
            <a:r>
              <a:rPr lang="zh-CN" altLang="en-US">
                <a:solidFill>
                  <a:srgbClr val="FF0000"/>
                </a:solidFill>
              </a:rPr>
              <a:t>最大值</a:t>
            </a:r>
            <a:r>
              <a:rPr lang="zh-CN" altLang="en-US"/>
              <a:t>点确定</a:t>
            </a:r>
            <a:r>
              <a:rPr lang="zh-CN" altLang="en-US">
                <a:solidFill>
                  <a:srgbClr val="FF0000"/>
                </a:solidFill>
              </a:rPr>
              <a:t>峰</a:t>
            </a:r>
            <a:r>
              <a:rPr lang="zh-CN" altLang="en-US"/>
              <a:t>的位置（图中各</a:t>
            </a:r>
            <a:r>
              <a:rPr lang="en-US" altLang="zh-CN">
                <a:solidFill>
                  <a:srgbClr val="FF0000"/>
                </a:solidFill>
              </a:rPr>
              <a:t>T</a:t>
            </a:r>
            <a:r>
              <a:rPr lang="zh-CN" altLang="en-US"/>
              <a:t>点）</a:t>
            </a:r>
            <a:endParaRPr lang="zh-CN" altLang="en-US"/>
          </a:p>
          <a:p>
            <a:r>
              <a:rPr lang="en-US" altLang="zh-CN"/>
              <a:t>4.</a:t>
            </a:r>
            <a:r>
              <a:rPr lang="zh-CN" altLang="en-US"/>
              <a:t>用前一个峰的</a:t>
            </a:r>
            <a:r>
              <a:rPr lang="zh-CN" altLang="en-US">
                <a:solidFill>
                  <a:srgbClr val="FF0000"/>
                </a:solidFill>
              </a:rPr>
              <a:t>终点</a:t>
            </a:r>
            <a:r>
              <a:rPr lang="zh-CN" altLang="en-US"/>
              <a:t>和后一个峰的</a:t>
            </a:r>
            <a:r>
              <a:rPr lang="zh-CN" altLang="en-US">
                <a:solidFill>
                  <a:srgbClr val="FF0000"/>
                </a:solidFill>
              </a:rPr>
              <a:t>起点</a:t>
            </a:r>
            <a:r>
              <a:rPr lang="zh-CN" altLang="en-US"/>
              <a:t>间的</a:t>
            </a:r>
            <a:r>
              <a:rPr lang="zh-CN" altLang="en-US">
                <a:solidFill>
                  <a:srgbClr val="FF0000"/>
                </a:solidFill>
              </a:rPr>
              <a:t>最小值</a:t>
            </a:r>
            <a:r>
              <a:rPr lang="zh-CN" altLang="en-US"/>
              <a:t>确定两个峰之间</a:t>
            </a:r>
            <a:r>
              <a:rPr lang="zh-CN" altLang="en-US">
                <a:solidFill>
                  <a:srgbClr val="FF0000"/>
                </a:solidFill>
              </a:rPr>
              <a:t>谷点</a:t>
            </a:r>
            <a:r>
              <a:rPr lang="zh-CN" altLang="en-US"/>
              <a:t>的位置（图中各</a:t>
            </a:r>
            <a:r>
              <a:rPr lang="en-US" altLang="zh-CN">
                <a:solidFill>
                  <a:srgbClr val="FF0000"/>
                </a:solidFill>
              </a:rPr>
              <a:t>B</a:t>
            </a:r>
            <a:r>
              <a:rPr lang="zh-CN" altLang="en-US"/>
              <a:t>点）</a:t>
            </a:r>
            <a:endParaRPr lang="zh-CN" altLang="en-US"/>
          </a:p>
        </p:txBody>
      </p:sp>
    </p:spTree>
  </p:cSld>
  <p:clrMapOvr>
    <a:masterClrMapping/>
  </p:clrMapOvr>
  <p:transition spd="slow"/>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3" name="矩形 33075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0754" name="矩形 330754"/>
          <p:cNvSpPr/>
          <p:nvPr/>
        </p:nvSpPr>
        <p:spPr>
          <a:xfrm>
            <a:off x="756285" y="1871980"/>
            <a:ext cx="10187940" cy="2861310"/>
          </a:xfrm>
          <a:prstGeom prst="rect">
            <a:avLst/>
          </a:prstGeom>
          <a:noFill/>
          <a:ln w="9525">
            <a:noFill/>
          </a:ln>
        </p:spPr>
        <p:txBody>
          <a:bodyPr wrap="square" anchor="t" anchorCtr="0">
            <a:spAutoFit/>
          </a:bodyPr>
          <a:p>
            <a:pPr algn="just" defTabSz="719455">
              <a:lnSpc>
                <a:spcPct val="150000"/>
              </a:lnSpc>
              <a:spcAft>
                <a:spcPts val="0"/>
              </a:spcAft>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sym typeface="+mn-ea"/>
              </a:rPr>
              <a:t>一般的分割方法认为边界没有宽度，但实际上边界是存在宽度的，</a:t>
            </a:r>
            <a:r>
              <a:rPr lang="zh-CN" altLang="en-US" sz="2400" b="1">
                <a:latin typeface="微软雅黑" panose="020B0503020204020204" charset="-122"/>
                <a:ea typeface="微软雅黑" panose="020B0503020204020204" charset="-122"/>
              </a:rPr>
              <a:t>过渡区</a:t>
            </a:r>
            <a:r>
              <a:rPr lang="zh-CN" altLang="en-US" sz="2400">
                <a:latin typeface="微软雅黑" panose="020B0503020204020204" charset="-122"/>
                <a:ea typeface="微软雅黑" panose="020B0503020204020204" charset="-122"/>
              </a:rPr>
              <a:t>本身也是图像中一个特殊的区域。一方面它将背景和目标或不同的区域分隔开来，具有边界的特点；另一方面，它面积不为零，具有区域的特点</a:t>
            </a:r>
            <a:endParaRPr lang="zh-CN" altLang="en-US" sz="2400">
              <a:latin typeface="微软雅黑" panose="020B0503020204020204" charset="-122"/>
              <a:ea typeface="微软雅黑" panose="020B0503020204020204" charset="-122"/>
            </a:endParaRPr>
          </a:p>
          <a:p>
            <a:pPr defTabSz="719455">
              <a:lnSpc>
                <a:spcPct val="150000"/>
              </a:lnSpc>
            </a:pPr>
            <a:endParaRPr lang="zh-CN" altLang="en-US" sz="2400">
              <a:latin typeface="微软雅黑" panose="020B0503020204020204" charset="-122"/>
              <a:ea typeface="微软雅黑" panose="020B0503020204020204" charset="-122"/>
            </a:endParaRPr>
          </a:p>
        </p:txBody>
      </p:sp>
      <p:sp>
        <p:nvSpPr>
          <p:cNvPr id="330755" name="矩形 330755"/>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3" name="矩形 33075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0754" name="矩形 330754"/>
          <p:cNvSpPr/>
          <p:nvPr/>
        </p:nvSpPr>
        <p:spPr>
          <a:xfrm>
            <a:off x="756285" y="1871980"/>
            <a:ext cx="10187940" cy="4523105"/>
          </a:xfrm>
          <a:prstGeom prst="rect">
            <a:avLst/>
          </a:prstGeom>
          <a:noFill/>
          <a:ln w="9525">
            <a:noFill/>
          </a:ln>
        </p:spPr>
        <p:txBody>
          <a:bodyPr wrap="square" anchor="t" anchorCtr="0">
            <a:spAutoFit/>
          </a:bodyPr>
          <a:p>
            <a:pPr algn="just"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rPr>
              <a:t>过渡区可借助图像的有效平均梯度（</a:t>
            </a:r>
            <a:r>
              <a:rPr lang="en-US" altLang="zh-CN" sz="2400">
                <a:latin typeface="Times New Roman" panose="02020603050405020304" charset="0"/>
                <a:ea typeface="微软雅黑" panose="020B0503020204020204" charset="-122"/>
                <a:cs typeface="Times New Roman" panose="02020603050405020304" charset="0"/>
              </a:rPr>
              <a:t>EAG</a:t>
            </a:r>
            <a:r>
              <a:rPr lang="zh-CN" altLang="en-US" sz="2400">
                <a:latin typeface="Times New Roman" panose="02020603050405020304" charset="0"/>
                <a:ea typeface="微软雅黑" panose="020B0503020204020204" charset="-122"/>
                <a:cs typeface="Times New Roman" panose="02020603050405020304" charset="0"/>
              </a:rPr>
              <a:t>）的计算和对图像灰度的剪切变换来确定，给定原始图像</a:t>
            </a:r>
            <a:r>
              <a:rPr lang="en-US" altLang="zh-CN" sz="2400" i="1">
                <a:latin typeface="Times New Roman" panose="02020603050405020304" charset="0"/>
                <a:ea typeface="微软雅黑" panose="020B0503020204020204" charset="-122"/>
                <a:cs typeface="Times New Roman" panose="02020603050405020304" charset="0"/>
              </a:rPr>
              <a:t>f</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i,j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i,j,f</a:t>
            </a:r>
            <a:r>
              <a:rPr lang="zh-CN" altLang="en-US" sz="2400">
                <a:latin typeface="Times New Roman" panose="02020603050405020304" charset="0"/>
                <a:ea typeface="微软雅黑" panose="020B0503020204020204" charset="-122"/>
                <a:cs typeface="Times New Roman" panose="02020603050405020304" charset="0"/>
              </a:rPr>
              <a:t>都属于整数集合</a:t>
            </a:r>
            <a:r>
              <a:rPr lang="en-US" altLang="zh-CN" sz="2400">
                <a:latin typeface="Times New Roman" panose="02020603050405020304" charset="0"/>
                <a:ea typeface="微软雅黑" panose="020B0503020204020204" charset="-122"/>
                <a:cs typeface="Times New Roman" panose="02020603050405020304" charset="0"/>
              </a:rPr>
              <a:t>Z</a:t>
            </a:r>
            <a:r>
              <a:rPr lang="zh-CN" altLang="en-US" sz="2400">
                <a:latin typeface="Times New Roman" panose="02020603050405020304" charset="0"/>
                <a:ea typeface="微软雅黑" panose="020B0503020204020204" charset="-122"/>
                <a:cs typeface="Times New Roman" panose="02020603050405020304" charset="0"/>
              </a:rPr>
              <a:t>。再假设</a:t>
            </a:r>
            <a:r>
              <a:rPr lang="en-US" altLang="zh-CN" sz="2400" i="1">
                <a:latin typeface="Times New Roman" panose="02020603050405020304" charset="0"/>
                <a:ea typeface="微软雅黑" panose="020B0503020204020204" charset="-122"/>
                <a:cs typeface="Times New Roman" panose="02020603050405020304" charset="0"/>
              </a:rPr>
              <a:t>g</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i,j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代表</a:t>
            </a:r>
            <a:r>
              <a:rPr lang="en-US" altLang="zh-CN" sz="2400" i="1">
                <a:latin typeface="Times New Roman" panose="02020603050405020304" charset="0"/>
                <a:ea typeface="微软雅黑" panose="020B0503020204020204" charset="-122"/>
                <a:cs typeface="Times New Roman" panose="02020603050405020304" charset="0"/>
              </a:rPr>
              <a:t>f</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i,j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的梯度图，则</a:t>
            </a:r>
            <a:r>
              <a:rPr lang="en-US" altLang="zh-CN" sz="2400">
                <a:latin typeface="Times New Roman" panose="02020603050405020304" charset="0"/>
                <a:ea typeface="微软雅黑" panose="020B0503020204020204" charset="-122"/>
                <a:cs typeface="Times New Roman" panose="02020603050405020304" charset="0"/>
              </a:rPr>
              <a:t>EAG</a:t>
            </a:r>
            <a:r>
              <a:rPr lang="zh-CN" altLang="en-US" sz="2400">
                <a:latin typeface="Times New Roman" panose="02020603050405020304" charset="0"/>
                <a:ea typeface="微软雅黑" panose="020B0503020204020204" charset="-122"/>
                <a:cs typeface="Times New Roman" panose="02020603050405020304" charset="0"/>
              </a:rPr>
              <a:t>可定义为</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Aft>
                <a:spcPts val="0"/>
              </a:spcAft>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Aft>
                <a:spcPts val="0"/>
              </a:spcAft>
            </a:pPr>
            <a:r>
              <a:rPr lang="zh-CN" altLang="en-US" sz="2400">
                <a:latin typeface="Times New Roman" panose="02020603050405020304" charset="0"/>
                <a:ea typeface="微软雅黑" panose="020B0503020204020204" charset="-122"/>
                <a:cs typeface="Times New Roman" panose="02020603050405020304" charset="0"/>
              </a:rPr>
              <a:t>其中：</a:t>
            </a:r>
            <a:r>
              <a:rPr lang="en-US" altLang="zh-CN" sz="2400">
                <a:latin typeface="Times New Roman" panose="02020603050405020304" charset="0"/>
                <a:ea typeface="微软雅黑" panose="020B0503020204020204" charset="-122"/>
                <a:cs typeface="Times New Roman" panose="02020603050405020304" charset="0"/>
              </a:rPr>
              <a:t> TG</a:t>
            </a:r>
            <a:r>
              <a:rPr lang="zh-CN" altLang="en-US" sz="2400">
                <a:latin typeface="Times New Roman" panose="02020603050405020304" charset="0"/>
                <a:ea typeface="微软雅黑" panose="020B0503020204020204" charset="-122"/>
                <a:cs typeface="Times New Roman" panose="02020603050405020304" charset="0"/>
              </a:rPr>
              <a:t>为梯度图的总梯度值，</a:t>
            </a:r>
            <a:r>
              <a:rPr lang="en-US" altLang="zh-CN" sz="2400">
                <a:latin typeface="Times New Roman" panose="02020603050405020304" charset="0"/>
                <a:ea typeface="微软雅黑" panose="020B0503020204020204" charset="-122"/>
                <a:cs typeface="Times New Roman" panose="02020603050405020304" charset="0"/>
              </a:rPr>
              <a:t>TP</a:t>
            </a:r>
            <a:r>
              <a:rPr lang="zh-CN" altLang="en-US" sz="2400">
                <a:latin typeface="Times New Roman" panose="02020603050405020304" charset="0"/>
                <a:ea typeface="微软雅黑" panose="020B0503020204020204" charset="-122"/>
                <a:cs typeface="Times New Roman" panose="02020603050405020304" charset="0"/>
              </a:rPr>
              <a:t>为梯度图中非零梯度像素的总数，这里</a:t>
            </a:r>
            <a:r>
              <a:rPr lang="en-US" altLang="zh-CN" sz="2400" i="1">
                <a:latin typeface="Times New Roman" panose="02020603050405020304" charset="0"/>
                <a:ea typeface="微软雅黑" panose="020B0503020204020204" charset="-122"/>
                <a:cs typeface="Times New Roman" panose="02020603050405020304" charset="0"/>
              </a:rPr>
              <a:t>p</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i,j</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定义为</a:t>
            </a: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50000"/>
              </a:lnSpc>
            </a:pP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30755" name="矩形 330755"/>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0756" name="图片 330756" descr="C:/Users/Administrator/AppData/Roaming/Yozo_Office/Temp/fc/1629533961615188032025/计算机视觉教程（第3版）PPT第05章.pptx/ppt/media/image39.png"/>
          <p:cNvPicPr/>
          <p:nvPr/>
        </p:nvPicPr>
        <p:blipFill>
          <a:blip r:embed="rId1"/>
          <a:stretch>
            <a:fillRect/>
          </a:stretch>
        </p:blipFill>
        <p:spPr>
          <a:xfrm>
            <a:off x="4072255" y="3613150"/>
            <a:ext cx="1871663" cy="865188"/>
          </a:xfrm>
          <a:prstGeom prst="rect">
            <a:avLst/>
          </a:prstGeom>
          <a:noFill/>
          <a:ln w="9525">
            <a:noFill/>
          </a:ln>
        </p:spPr>
      </p:pic>
      <p:pic>
        <p:nvPicPr>
          <p:cNvPr id="330757" name="图片 330757" descr="C:/Users/Administrator/AppData/Roaming/Yozo_Office/Temp/fc/1629533961615188032025/计算机视觉教程（第3版）PPT第05章.pptx/ppt/media/image40.png"/>
          <p:cNvPicPr/>
          <p:nvPr/>
        </p:nvPicPr>
        <p:blipFill>
          <a:blip r:embed="rId2"/>
          <a:stretch>
            <a:fillRect/>
          </a:stretch>
        </p:blipFill>
        <p:spPr>
          <a:xfrm>
            <a:off x="6905308" y="3281363"/>
            <a:ext cx="1981200" cy="1439862"/>
          </a:xfrm>
          <a:prstGeom prst="rect">
            <a:avLst/>
          </a:prstGeom>
          <a:noFill/>
          <a:ln w="9525">
            <a:noFill/>
          </a:ln>
        </p:spPr>
      </p:pic>
      <p:pic>
        <p:nvPicPr>
          <p:cNvPr id="330758" name="图片 330758" descr="C:/Users/Administrator/AppData/Roaming/Yozo_Office/Temp/fc/1629533961615188032025/计算机视觉教程（第3版）PPT第05章.pptx/ppt/media/image41.png"/>
          <p:cNvPicPr/>
          <p:nvPr/>
        </p:nvPicPr>
        <p:blipFill>
          <a:blip r:embed="rId3"/>
          <a:stretch>
            <a:fillRect/>
          </a:stretch>
        </p:blipFill>
        <p:spPr>
          <a:xfrm>
            <a:off x="3329305" y="5507673"/>
            <a:ext cx="3959225" cy="936625"/>
          </a:xfrm>
          <a:prstGeom prst="rect">
            <a:avLst/>
          </a:prstGeom>
          <a:noFill/>
          <a:ln w="9525">
            <a:noFill/>
          </a:ln>
        </p:spPr>
      </p:pic>
      <p:sp>
        <p:nvSpPr>
          <p:cNvPr id="330759" name="五边形 330759"/>
          <p:cNvSpPr/>
          <p:nvPr/>
        </p:nvSpPr>
        <p:spPr>
          <a:xfrm>
            <a:off x="1442720" y="3685223"/>
            <a:ext cx="2519363" cy="720725"/>
          </a:xfrm>
          <a:prstGeom prst="homePlate">
            <a:avLst>
              <a:gd name="adj" fmla="val 48663"/>
            </a:avLst>
          </a:prstGeom>
          <a:solidFill>
            <a:srgbClr val="BC8268"/>
          </a:solidFill>
          <a:ln w="12700" cap="flat" cmpd="sng">
            <a:solidFill>
              <a:srgbClr val="BC8268"/>
            </a:solidFill>
            <a:prstDash val="solid"/>
            <a:miter/>
            <a:headEnd type="none" w="med" len="med"/>
            <a:tailEnd type="none" w="med" len="med"/>
          </a:ln>
        </p:spPr>
        <p:txBody>
          <a:bodyPr anchor="ctr" anchorCtr="0"/>
          <a:p>
            <a:pPr algn="ctr">
              <a:spcAft>
                <a:spcPts val="0"/>
              </a:spcAft>
            </a:pPr>
            <a:r>
              <a:rPr lang="zh-CN" altLang="en-US" sz="2000" b="1">
                <a:solidFill>
                  <a:srgbClr val="FFFFFF"/>
                </a:solidFill>
                <a:latin typeface="微软雅黑" panose="020B0503020204020204" charset="-122"/>
                <a:ea typeface="微软雅黑" panose="020B0503020204020204" charset="-122"/>
                <a:sym typeface="+mn-ea"/>
              </a:rPr>
              <a:t>有效平均梯度</a:t>
            </a:r>
            <a:endParaRPr lang="zh-CN" altLang="en-US" sz="2000">
              <a:solidFill>
                <a:srgbClr val="FFFFFF"/>
              </a:solidFill>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3" name="矩形 330753"/>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0755" name="矩形 330755"/>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sp>
        <p:nvSpPr>
          <p:cNvPr id="2" name="矩形 330754"/>
          <p:cNvSpPr/>
          <p:nvPr>
            <p:custDataLst>
              <p:tags r:id="rId1"/>
            </p:custDataLst>
          </p:nvPr>
        </p:nvSpPr>
        <p:spPr>
          <a:xfrm>
            <a:off x="756285" y="1871980"/>
            <a:ext cx="10187940" cy="3969385"/>
          </a:xfrm>
          <a:prstGeom prst="rect">
            <a:avLst/>
          </a:prstGeom>
          <a:noFill/>
          <a:ln w="9525">
            <a:noFill/>
          </a:ln>
        </p:spPr>
        <p:txBody>
          <a:bodyPr wrap="square" anchor="t" anchorCtr="0">
            <a:spAutoFit/>
          </a:bodyPr>
          <a:p>
            <a:pPr defTabSz="719455">
              <a:lnSpc>
                <a:spcPct val="150000"/>
              </a:lnSpc>
            </a:pPr>
            <a:r>
              <a:rPr lang="zh-CN" sz="2400">
                <a:latin typeface="Times New Roman" panose="02020603050405020304" charset="0"/>
                <a:ea typeface="微软雅黑" panose="020B0503020204020204" charset="-122"/>
                <a:cs typeface="Times New Roman" panose="02020603050405020304" charset="0"/>
              </a:rPr>
              <a:t>可知，在计算</a:t>
            </a:r>
            <a:r>
              <a:rPr lang="en-US" altLang="zh-CN" sz="2400">
                <a:latin typeface="Times New Roman" panose="02020603050405020304" charset="0"/>
                <a:ea typeface="微软雅黑" panose="020B0503020204020204" charset="-122"/>
                <a:cs typeface="Times New Roman" panose="02020603050405020304" charset="0"/>
              </a:rPr>
              <a:t>EAG</a:t>
            </a:r>
            <a:r>
              <a:rPr lang="zh-CN" altLang="en-US" sz="2400">
                <a:latin typeface="Times New Roman" panose="02020603050405020304" charset="0"/>
                <a:ea typeface="微软雅黑" panose="020B0503020204020204" charset="-122"/>
                <a:cs typeface="Times New Roman" panose="02020603050405020304" charset="0"/>
              </a:rPr>
              <a:t>时，只用到梯度不为</a:t>
            </a:r>
            <a:r>
              <a:rPr lang="en-US" altLang="zh-CN" sz="2400">
                <a:latin typeface="Times New Roman" panose="02020603050405020304" charset="0"/>
                <a:ea typeface="微软雅黑" panose="020B0503020204020204" charset="-122"/>
                <a:cs typeface="Times New Roman" panose="02020603050405020304" charset="0"/>
              </a:rPr>
              <a:t>0</a:t>
            </a:r>
            <a:r>
              <a:rPr lang="zh-CN" altLang="en-US" sz="2400">
                <a:latin typeface="Times New Roman" panose="02020603050405020304" charset="0"/>
                <a:ea typeface="微软雅黑" panose="020B0503020204020204" charset="-122"/>
                <a:cs typeface="Times New Roman" panose="02020603050405020304" charset="0"/>
              </a:rPr>
              <a:t>的像素，除去了领梯度像素的影响，因此被称为有效梯度，</a:t>
            </a:r>
            <a:r>
              <a:rPr lang="en-US" altLang="zh-CN" sz="2400">
                <a:latin typeface="Times New Roman" panose="02020603050405020304" charset="0"/>
                <a:ea typeface="微软雅黑" panose="020B0503020204020204" charset="-122"/>
                <a:cs typeface="Times New Roman" panose="02020603050405020304" charset="0"/>
              </a:rPr>
              <a:t>EAG</a:t>
            </a:r>
            <a:r>
              <a:rPr lang="zh-CN" altLang="en-US" sz="2400">
                <a:latin typeface="Times New Roman" panose="02020603050405020304" charset="0"/>
                <a:ea typeface="微软雅黑" panose="020B0503020204020204" charset="-122"/>
                <a:cs typeface="Times New Roman" panose="02020603050405020304" charset="0"/>
              </a:rPr>
              <a:t>是图中非零梯度像素梯度的平均值，它代表了图像中一个有选择的统计量。</a:t>
            </a:r>
            <a:endParaRPr lang="zh-CN" altLang="en-US" sz="2400">
              <a:latin typeface="Times New Roman" panose="02020603050405020304" charset="0"/>
              <a:ea typeface="微软雅黑" panose="020B0503020204020204" charset="-122"/>
              <a:cs typeface="Times New Roman" panose="02020603050405020304" charset="0"/>
            </a:endParaRPr>
          </a:p>
          <a:p>
            <a:pPr defTabSz="719455">
              <a:lnSpc>
                <a:spcPct val="150000"/>
              </a:lnSpc>
            </a:pPr>
            <a:r>
              <a:rPr lang="zh-CN" altLang="en-US" sz="2400">
                <a:latin typeface="Times New Roman" panose="02020603050405020304" charset="0"/>
                <a:ea typeface="微软雅黑" panose="020B0503020204020204" charset="-122"/>
                <a:cs typeface="Times New Roman" panose="02020603050405020304" charset="0"/>
              </a:rPr>
              <a:t>进一步，为了减少各种干扰的影响，定义以下特殊的剪切变换。与一般剪切操作的不同之处是它把被剪切了的部分设成剪切值。这样避免了一般剪切在剪切边缘造成较大的反差而产生的不良影响。距剪切部分的灰度值和全图灰度值的关系。这类剪切可分为高端剪切与低端剪切两种。</a:t>
            </a:r>
            <a:endParaRPr lang="zh-CN" altLang="en-US" sz="2400">
              <a:latin typeface="Times New Roman" panose="02020603050405020304" charset="0"/>
              <a:ea typeface="微软雅黑" panose="020B0503020204020204" charset="-122"/>
              <a:cs typeface="Times New Roman" panose="02020603050405020304" charset="0"/>
            </a:endParaRPr>
          </a:p>
        </p:txBody>
      </p:sp>
    </p:spTree>
  </p:cSld>
  <p:clrMapOvr>
    <a:masterClrMapping/>
  </p:clrMapOvr>
  <p:transition spd="slow"/>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7" name="矩形 331777"/>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1778" name="矩形 331778"/>
          <p:cNvSpPr/>
          <p:nvPr/>
        </p:nvSpPr>
        <p:spPr>
          <a:xfrm>
            <a:off x="1024890" y="1260475"/>
            <a:ext cx="9919335" cy="4933315"/>
          </a:xfrm>
          <a:prstGeom prst="rect">
            <a:avLst/>
          </a:prstGeom>
          <a:noFill/>
          <a:ln w="9525">
            <a:noFill/>
          </a:ln>
        </p:spPr>
        <p:txBody>
          <a:bodyPr wrap="square" anchor="t" anchorCtr="0">
            <a:noAutofit/>
          </a:bodyPr>
          <a:p>
            <a:pPr algn="ctr" defTabSz="719455">
              <a:lnSpc>
                <a:spcPct val="150000"/>
              </a:lnSpc>
              <a:spcAft>
                <a:spcPts val="0"/>
              </a:spcAft>
            </a:pPr>
            <a:r>
              <a:rPr lang="zh-CN" altLang="en-US" sz="2400" b="1">
                <a:latin typeface="微软雅黑" panose="020B0503020204020204" charset="-122"/>
                <a:ea typeface="微软雅黑" panose="020B0503020204020204" charset="-122"/>
              </a:rPr>
              <a:t>剪切变换</a:t>
            </a:r>
            <a:endParaRPr lang="zh-CN" altLang="en-US" sz="2400" b="1">
              <a:latin typeface="微软雅黑" panose="020B0503020204020204" charset="-122"/>
              <a:ea typeface="微软雅黑" panose="020B0503020204020204" charset="-122"/>
            </a:endParaRPr>
          </a:p>
          <a:p>
            <a:pPr algn="just" defTabSz="719455">
              <a:lnSpc>
                <a:spcPct val="150000"/>
              </a:lnSpc>
              <a:spcBef>
                <a:spcPts val="0"/>
              </a:spcBef>
            </a:pPr>
            <a:r>
              <a:rPr lang="zh-CN" altLang="en-US" sz="2000">
                <a:latin typeface="微软雅黑" panose="020B0503020204020204" charset="-122"/>
                <a:ea typeface="微软雅黑" panose="020B0503020204020204" charset="-122"/>
              </a:rPr>
              <a:t>	</a:t>
            </a:r>
            <a:r>
              <a:rPr lang="zh-CN" altLang="en-US" sz="2000">
                <a:latin typeface="Times New Roman" panose="02020603050405020304" charset="0"/>
                <a:ea typeface="微软雅黑" panose="020B0503020204020204" charset="-122"/>
                <a:cs typeface="Times New Roman" panose="02020603050405020304" charset="0"/>
                <a:sym typeface="+mn-ea"/>
              </a:rPr>
              <a:t>距剪切部分的灰度值和全图灰度值的关系。这类剪切可分为高端剪切与低端剪切两种。设</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为剪切值，则剪切后的图像可表示为：</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r>
              <a:rPr lang="zh-CN" altLang="en-US" sz="2000">
                <a:latin typeface="Times New Roman" panose="02020603050405020304" charset="0"/>
                <a:ea typeface="微软雅黑" panose="020B0503020204020204" charset="-122"/>
                <a:cs typeface="Times New Roman" panose="02020603050405020304" charset="0"/>
                <a:sym typeface="+mn-ea"/>
              </a:rPr>
              <a:t>如果对这样剪切后的图梯度，和其梯度函数必然与剪切值</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有关。由此得到的</a:t>
            </a:r>
            <a:r>
              <a:rPr lang="en-US" altLang="zh-CN" sz="2000">
                <a:latin typeface="Times New Roman" panose="02020603050405020304" charset="0"/>
                <a:ea typeface="微软雅黑" panose="020B0503020204020204" charset="-122"/>
                <a:cs typeface="Times New Roman" panose="02020603050405020304" charset="0"/>
                <a:sym typeface="+mn-ea"/>
              </a:rPr>
              <a:t>EAG</a:t>
            </a:r>
            <a:r>
              <a:rPr lang="zh-CN" altLang="en-US" sz="2000">
                <a:latin typeface="Times New Roman" panose="02020603050405020304" charset="0"/>
                <a:ea typeface="微软雅黑" panose="020B0503020204020204" charset="-122"/>
                <a:cs typeface="Times New Roman" panose="02020603050405020304" charset="0"/>
                <a:sym typeface="+mn-ea"/>
              </a:rPr>
              <a:t>也变成了剪切值</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的函数</a:t>
            </a:r>
            <a:r>
              <a:rPr lang="en-US" altLang="zh-CN" sz="2000">
                <a:latin typeface="Times New Roman" panose="02020603050405020304" charset="0"/>
                <a:ea typeface="微软雅黑" panose="020B0503020204020204" charset="-122"/>
                <a:cs typeface="Times New Roman" panose="02020603050405020304" charset="0"/>
                <a:sym typeface="+mn-ea"/>
              </a:rPr>
              <a:t>EAG(L)</a:t>
            </a:r>
            <a:r>
              <a:rPr lang="zh-CN" altLang="en-US" sz="2000">
                <a:latin typeface="Times New Roman" panose="02020603050405020304" charset="0"/>
                <a:ea typeface="微软雅黑" panose="020B0503020204020204" charset="-122"/>
                <a:cs typeface="Times New Roman" panose="02020603050405020304" charset="0"/>
                <a:sym typeface="+mn-ea"/>
              </a:rPr>
              <a:t>。注意</a:t>
            </a:r>
            <a:r>
              <a:rPr lang="en-US" altLang="zh-CN" sz="2000">
                <a:latin typeface="Times New Roman" panose="02020603050405020304" charset="0"/>
                <a:ea typeface="微软雅黑" panose="020B0503020204020204" charset="-122"/>
                <a:cs typeface="Times New Roman" panose="02020603050405020304" charset="0"/>
                <a:sym typeface="+mn-ea"/>
              </a:rPr>
              <a:t>EAG(L)</a:t>
            </a:r>
            <a:r>
              <a:rPr lang="zh-CN" altLang="en-US" sz="2000">
                <a:latin typeface="Times New Roman" panose="02020603050405020304" charset="0"/>
                <a:ea typeface="微软雅黑" panose="020B0503020204020204" charset="-122"/>
                <a:cs typeface="Times New Roman" panose="02020603050405020304" charset="0"/>
                <a:sym typeface="+mn-ea"/>
              </a:rPr>
              <a:t>的剪切方式也有关。对应高端和低端剪切的</a:t>
            </a:r>
            <a:r>
              <a:rPr lang="en-US" altLang="zh-CN" sz="2000">
                <a:latin typeface="Times New Roman" panose="02020603050405020304" charset="0"/>
                <a:ea typeface="微软雅黑" panose="020B0503020204020204" charset="-122"/>
                <a:cs typeface="Times New Roman" panose="02020603050405020304" charset="0"/>
                <a:sym typeface="+mn-ea"/>
              </a:rPr>
              <a:t>EAG(L)</a:t>
            </a:r>
            <a:r>
              <a:rPr lang="zh-CN" altLang="en-US" sz="2000">
                <a:latin typeface="Times New Roman" panose="02020603050405020304" charset="0"/>
                <a:ea typeface="微软雅黑" panose="020B0503020204020204" charset="-122"/>
                <a:cs typeface="Times New Roman" panose="02020603050405020304" charset="0"/>
                <a:sym typeface="+mn-ea"/>
              </a:rPr>
              <a:t>可分别写成</a:t>
            </a:r>
            <a:r>
              <a:rPr lang="en-US" altLang="zh-CN" sz="2000">
                <a:latin typeface="Times New Roman" panose="02020603050405020304" charset="0"/>
                <a:ea typeface="微软雅黑" panose="020B0503020204020204" charset="-122"/>
                <a:cs typeface="Times New Roman" panose="02020603050405020304" charset="0"/>
                <a:sym typeface="+mn-ea"/>
              </a:rPr>
              <a:t>EAG</a:t>
            </a:r>
            <a:r>
              <a:rPr lang="en-US" altLang="zh-CN" sz="2000" baseline="-25000">
                <a:latin typeface="Times New Roman" panose="02020603050405020304" charset="0"/>
                <a:ea typeface="微软雅黑" panose="020B0503020204020204" charset="-122"/>
                <a:cs typeface="Times New Roman" panose="02020603050405020304" charset="0"/>
                <a:sym typeface="+mn-ea"/>
              </a:rPr>
              <a:t>high</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和</a:t>
            </a:r>
            <a:r>
              <a:rPr lang="en-US" altLang="zh-CN" sz="2000">
                <a:latin typeface="Times New Roman" panose="02020603050405020304" charset="0"/>
                <a:ea typeface="微软雅黑" panose="020B0503020204020204" charset="-122"/>
                <a:cs typeface="Times New Roman" panose="02020603050405020304" charset="0"/>
                <a:sym typeface="+mn-ea"/>
              </a:rPr>
              <a:t>EAG</a:t>
            </a:r>
            <a:r>
              <a:rPr lang="en-US" altLang="zh-CN" sz="2000" baseline="-25000">
                <a:latin typeface="Times New Roman" panose="02020603050405020304" charset="0"/>
                <a:ea typeface="微软雅黑" panose="020B0503020204020204" charset="-122"/>
                <a:cs typeface="Times New Roman" panose="02020603050405020304" charset="0"/>
                <a:sym typeface="+mn-ea"/>
              </a:rPr>
              <a:t>low</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微软雅黑" panose="020B0503020204020204" charset="-122"/>
              <a:ea typeface="微软雅黑" panose="020B0503020204020204" charset="-122"/>
            </a:endParaRPr>
          </a:p>
          <a:p>
            <a:pPr defTabSz="719455">
              <a:lnSpc>
                <a:spcPct val="150000"/>
              </a:lnSpc>
            </a:pPr>
            <a:endParaRPr lang="zh-CN" altLang="en-US" sz="2400">
              <a:latin typeface="微软雅黑" panose="020B0503020204020204" charset="-122"/>
              <a:ea typeface="微软雅黑" panose="020B0503020204020204" charset="-122"/>
            </a:endParaRPr>
          </a:p>
        </p:txBody>
      </p:sp>
      <p:sp>
        <p:nvSpPr>
          <p:cNvPr id="331779" name="矩形 331779"/>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1780" name="图片 331780" descr="C:/Users/Administrator/AppData/Roaming/Yozo_Office/Temp/fc/1629533961615188032025/计算机视觉教程（第3版）PPT第05章.pptx/ppt/media/image42.png"/>
          <p:cNvPicPr/>
          <p:nvPr/>
        </p:nvPicPr>
        <p:blipFill>
          <a:blip r:embed="rId1"/>
          <a:stretch>
            <a:fillRect/>
          </a:stretch>
        </p:blipFill>
        <p:spPr>
          <a:xfrm>
            <a:off x="3906520" y="2908300"/>
            <a:ext cx="4378960" cy="1637665"/>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1" name="矩形 33280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2802" name="矩形 332802"/>
          <p:cNvSpPr/>
          <p:nvPr/>
        </p:nvSpPr>
        <p:spPr>
          <a:xfrm>
            <a:off x="845185" y="1720850"/>
            <a:ext cx="10144125" cy="3969385"/>
          </a:xfrm>
          <a:prstGeom prst="rect">
            <a:avLst/>
          </a:prstGeom>
          <a:noFill/>
          <a:ln w="9525">
            <a:noFill/>
          </a:ln>
        </p:spPr>
        <p:txBody>
          <a:bodyPr wrap="square" anchor="t" anchorCtr="0">
            <a:spAutoFit/>
          </a:bodyPr>
          <a:p>
            <a:pPr algn="ctr" defTabSz="719455">
              <a:lnSpc>
                <a:spcPct val="150000"/>
              </a:lnSpc>
              <a:spcAft>
                <a:spcPts val="0"/>
              </a:spcAft>
            </a:pPr>
            <a:r>
              <a:rPr lang="zh-CN" altLang="en-US" sz="2400" b="1">
                <a:latin typeface="微软雅黑" panose="020B0503020204020204" charset="-122"/>
                <a:ea typeface="微软雅黑" panose="020B0503020204020204" charset="-122"/>
              </a:rPr>
              <a:t>有效平均梯度的极值点</a:t>
            </a:r>
            <a:endParaRPr lang="zh-CN" altLang="en-US" sz="2400" b="1">
              <a:latin typeface="微软雅黑" panose="020B0503020204020204" charset="-122"/>
              <a:ea typeface="微软雅黑" panose="020B0503020204020204" charset="-122"/>
            </a:endParaRPr>
          </a:p>
          <a:p>
            <a:pPr algn="just" defTabSz="719455">
              <a:lnSpc>
                <a:spcPct val="150000"/>
              </a:lnSpc>
              <a:spcBef>
                <a:spcPts val="0"/>
              </a:spcBef>
            </a:pPr>
            <a:r>
              <a:rPr lang="zh-CN" altLang="en-US" sz="2400">
                <a:latin typeface="Times New Roman" panose="02020603050405020304" charset="0"/>
                <a:ea typeface="微软雅黑" panose="020B0503020204020204" charset="-122"/>
                <a:cs typeface="Times New Roman" panose="02020603050405020304" charset="0"/>
              </a:rPr>
              <a:t>典型的</a:t>
            </a:r>
            <a:r>
              <a:rPr lang="en-US" altLang="zh-CN" sz="2400">
                <a:latin typeface="Times New Roman" panose="02020603050405020304" charset="0"/>
                <a:ea typeface="微软雅黑" panose="020B0503020204020204" charset="-122"/>
                <a:cs typeface="Times New Roman" panose="02020603050405020304" charset="0"/>
              </a:rPr>
              <a:t>EAG</a:t>
            </a:r>
            <a:r>
              <a:rPr lang="en-US" altLang="zh-CN" sz="2400" baseline="-25000">
                <a:latin typeface="Times New Roman" panose="02020603050405020304" charset="0"/>
                <a:ea typeface="微软雅黑" panose="020B0503020204020204" charset="-122"/>
                <a:cs typeface="Times New Roman" panose="02020603050405020304" charset="0"/>
              </a:rPr>
              <a:t>high</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和</a:t>
            </a:r>
            <a:r>
              <a:rPr lang="en-US" altLang="zh-CN" sz="2400">
                <a:latin typeface="Times New Roman" panose="02020603050405020304" charset="0"/>
                <a:ea typeface="微软雅黑" panose="020B0503020204020204" charset="-122"/>
                <a:cs typeface="Times New Roman" panose="02020603050405020304" charset="0"/>
              </a:rPr>
              <a:t>EAG</a:t>
            </a:r>
            <a:r>
              <a:rPr lang="en-US" altLang="zh-CN" sz="2400" baseline="-25000">
                <a:latin typeface="Times New Roman" panose="02020603050405020304" charset="0"/>
                <a:ea typeface="微软雅黑" panose="020B0503020204020204" charset="-122"/>
                <a:cs typeface="Times New Roman" panose="02020603050405020304" charset="0"/>
              </a:rPr>
              <a:t>low</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曲线都是单峰曲线，即它们各有一个极值</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32803" name="矩形 332803"/>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2806" name="图片 332806" descr="F:\Book-ed\Second-7\S=CCV\ppt-for-web\Pic-f\060402.jpg"/>
          <p:cNvPicPr/>
          <p:nvPr/>
        </p:nvPicPr>
        <p:blipFill>
          <a:blip r:embed="rId1"/>
          <a:stretch>
            <a:fillRect/>
          </a:stretch>
        </p:blipFill>
        <p:spPr>
          <a:xfrm>
            <a:off x="653098" y="3075940"/>
            <a:ext cx="4679950" cy="3167063"/>
          </a:xfrm>
          <a:prstGeom prst="rect">
            <a:avLst/>
          </a:prstGeom>
          <a:noFill/>
          <a:ln w="9525">
            <a:noFill/>
          </a:ln>
        </p:spPr>
      </p:pic>
      <p:sp>
        <p:nvSpPr>
          <p:cNvPr id="2" name="文本框 1"/>
          <p:cNvSpPr txBox="1"/>
          <p:nvPr/>
        </p:nvSpPr>
        <p:spPr>
          <a:xfrm>
            <a:off x="3300730" y="3075940"/>
            <a:ext cx="1536065" cy="645160"/>
          </a:xfrm>
          <a:prstGeom prst="rect">
            <a:avLst/>
          </a:prstGeom>
          <a:noFill/>
        </p:spPr>
        <p:txBody>
          <a:bodyPr wrap="square" rtlCol="0">
            <a:spAutoFit/>
          </a:bodyPr>
          <a:p>
            <a:r>
              <a:rPr lang="en-US" altLang="zh-CN"/>
              <a:t>TG</a:t>
            </a:r>
            <a:r>
              <a:rPr lang="zh-CN" altLang="en-US"/>
              <a:t>总梯度</a:t>
            </a:r>
            <a:endParaRPr lang="zh-CN" altLang="en-US"/>
          </a:p>
          <a:p>
            <a:r>
              <a:rPr lang="en-US" altLang="zh-CN"/>
              <a:t>TP</a:t>
            </a:r>
            <a:r>
              <a:rPr lang="zh-CN" altLang="en-US"/>
              <a:t>非零梯度</a:t>
            </a:r>
            <a:endParaRPr lang="zh-CN" altLang="en-US"/>
          </a:p>
        </p:txBody>
      </p:sp>
      <p:sp>
        <p:nvSpPr>
          <p:cNvPr id="3" name="矩形 332802"/>
          <p:cNvSpPr/>
          <p:nvPr>
            <p:custDataLst>
              <p:tags r:id="rId2"/>
            </p:custDataLst>
          </p:nvPr>
        </p:nvSpPr>
        <p:spPr>
          <a:xfrm>
            <a:off x="5794375" y="3000375"/>
            <a:ext cx="5450205" cy="3614420"/>
          </a:xfrm>
          <a:prstGeom prst="rect">
            <a:avLst/>
          </a:prstGeom>
          <a:noFill/>
          <a:ln w="9525">
            <a:noFill/>
          </a:ln>
        </p:spPr>
        <p:txBody>
          <a:bodyPr wrap="square" anchor="t" anchorCtr="0">
            <a:noAutofit/>
          </a:bodyPr>
          <a:p>
            <a:pPr algn="just" defTabSz="719455">
              <a:lnSpc>
                <a:spcPct val="150000"/>
              </a:lnSpc>
              <a:spcBef>
                <a:spcPts val="0"/>
              </a:spcBef>
            </a:pPr>
            <a:r>
              <a:rPr lang="en-US" altLang="zh-CN" sz="2000">
                <a:latin typeface="Times New Roman" panose="02020603050405020304" charset="0"/>
                <a:ea typeface="微软雅黑" panose="020B0503020204020204" charset="-122"/>
                <a:cs typeface="Times New Roman" panose="02020603050405020304" charset="0"/>
              </a:rPr>
              <a:t>TG</a:t>
            </a:r>
            <a:r>
              <a:rPr lang="zh-CN" altLang="en-US" sz="2000">
                <a:latin typeface="Times New Roman" panose="02020603050405020304" charset="0"/>
                <a:ea typeface="微软雅黑" panose="020B0503020204020204" charset="-122"/>
                <a:cs typeface="Times New Roman" panose="02020603050405020304" charset="0"/>
              </a:rPr>
              <a:t>减少原因：</a:t>
            </a:r>
            <a:r>
              <a:rPr lang="en-US" altLang="zh-CN" sz="2000">
                <a:latin typeface="Times New Roman" panose="02020603050405020304" charset="0"/>
                <a:ea typeface="微软雅黑" panose="020B0503020204020204" charset="-122"/>
                <a:cs typeface="Times New Roman" panose="02020603050405020304" charset="0"/>
              </a:rPr>
              <a:t>1.</a:t>
            </a:r>
            <a:r>
              <a:rPr lang="zh-CN" altLang="en-US" sz="2000">
                <a:latin typeface="Times New Roman" panose="02020603050405020304" charset="0"/>
                <a:ea typeface="微软雅黑" panose="020B0503020204020204" charset="-122"/>
                <a:cs typeface="Times New Roman" panose="02020603050405020304" charset="0"/>
              </a:rPr>
              <a:t>像素减少；</a:t>
            </a:r>
            <a:r>
              <a:rPr lang="en-US" altLang="zh-CN" sz="2000">
                <a:latin typeface="Times New Roman" panose="02020603050405020304" charset="0"/>
                <a:ea typeface="微软雅黑" panose="020B0503020204020204" charset="-122"/>
                <a:cs typeface="Times New Roman" panose="02020603050405020304" charset="0"/>
              </a:rPr>
              <a:t>2</a:t>
            </a:r>
            <a:r>
              <a:rPr lang="zh-CN" altLang="en-US" sz="2000">
                <a:latin typeface="Times New Roman" panose="02020603050405020304" charset="0"/>
                <a:ea typeface="微软雅黑" panose="020B0503020204020204" charset="-122"/>
                <a:cs typeface="Times New Roman" panose="02020603050405020304" charset="0"/>
              </a:rPr>
              <a:t>像素间对比度减少</a:t>
            </a:r>
            <a:endParaRPr lang="zh-CN" altLang="en-US" sz="20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r>
              <a:rPr lang="en-US" altLang="zh-CN" sz="2000">
                <a:latin typeface="Times New Roman" panose="02020603050405020304" charset="0"/>
                <a:ea typeface="微软雅黑" panose="020B0503020204020204" charset="-122"/>
                <a:cs typeface="Times New Roman" panose="02020603050405020304" charset="0"/>
              </a:rPr>
              <a:t>TP</a:t>
            </a:r>
            <a:r>
              <a:rPr lang="zh-CN" altLang="en-US" sz="2000">
                <a:latin typeface="Times New Roman" panose="02020603050405020304" charset="0"/>
                <a:ea typeface="微软雅黑" panose="020B0503020204020204" charset="-122"/>
                <a:cs typeface="Times New Roman" panose="02020603050405020304" charset="0"/>
                <a:sym typeface="+mn-ea"/>
              </a:rPr>
              <a:t>减少原因：随着</a:t>
            </a:r>
            <a:r>
              <a:rPr lang="en-US" altLang="zh-CN" sz="2000">
                <a:latin typeface="Times New Roman" panose="02020603050405020304" charset="0"/>
                <a:ea typeface="微软雅黑" panose="020B0503020204020204" charset="-122"/>
                <a:cs typeface="Times New Roman" panose="02020603050405020304" charset="0"/>
                <a:sym typeface="+mn-ea"/>
              </a:rPr>
              <a:t>L</a:t>
            </a:r>
            <a:r>
              <a:rPr lang="zh-CN" altLang="en-US" sz="2000">
                <a:latin typeface="Times New Roman" panose="02020603050405020304" charset="0"/>
                <a:ea typeface="微软雅黑" panose="020B0503020204020204" charset="-122"/>
                <a:cs typeface="Times New Roman" panose="02020603050405020304" charset="0"/>
                <a:sym typeface="+mn-ea"/>
              </a:rPr>
              <a:t>增加，被剪切的像素多</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r>
              <a:rPr lang="zh-CN" altLang="en-US" sz="2000">
                <a:latin typeface="Times New Roman" panose="02020603050405020304" charset="0"/>
                <a:ea typeface="微软雅黑" panose="020B0503020204020204" charset="-122"/>
                <a:cs typeface="Times New Roman" panose="02020603050405020304" charset="0"/>
                <a:sym typeface="+mn-ea"/>
              </a:rPr>
              <a:t>由于是</a:t>
            </a:r>
            <a:r>
              <a:rPr lang="en-US" altLang="zh-CN" sz="2000">
                <a:latin typeface="Times New Roman" panose="02020603050405020304" charset="0"/>
                <a:ea typeface="微软雅黑" panose="020B0503020204020204" charset="-122"/>
                <a:cs typeface="Times New Roman" panose="02020603050405020304" charset="0"/>
                <a:sym typeface="+mn-ea"/>
              </a:rPr>
              <a:t>TG</a:t>
            </a:r>
            <a:r>
              <a:rPr lang="zh-CN" altLang="en-US" sz="2000">
                <a:latin typeface="Times New Roman" panose="02020603050405020304" charset="0"/>
                <a:ea typeface="微软雅黑" panose="020B0503020204020204" charset="-122"/>
                <a:cs typeface="Times New Roman" panose="02020603050405020304" charset="0"/>
                <a:sym typeface="+mn-ea"/>
              </a:rPr>
              <a:t>和</a:t>
            </a:r>
            <a:r>
              <a:rPr lang="en-US" altLang="zh-CN" sz="2000">
                <a:latin typeface="Times New Roman" panose="02020603050405020304" charset="0"/>
                <a:ea typeface="微软雅黑" panose="020B0503020204020204" charset="-122"/>
                <a:cs typeface="Times New Roman" panose="02020603050405020304" charset="0"/>
                <a:sym typeface="+mn-ea"/>
              </a:rPr>
              <a:t>TP</a:t>
            </a:r>
            <a:r>
              <a:rPr lang="zh-CN" altLang="en-US" sz="2000">
                <a:latin typeface="Times New Roman" panose="02020603050405020304" charset="0"/>
                <a:ea typeface="微软雅黑" panose="020B0503020204020204" charset="-122"/>
                <a:cs typeface="Times New Roman" panose="02020603050405020304" charset="0"/>
                <a:sym typeface="+mn-ea"/>
              </a:rPr>
              <a:t>的比值，所以</a:t>
            </a:r>
            <a:r>
              <a:rPr lang="en-US" altLang="zh-CN" sz="2000">
                <a:latin typeface="Times New Roman" panose="02020603050405020304" charset="0"/>
                <a:ea typeface="微软雅黑" panose="020B0503020204020204" charset="-122"/>
                <a:cs typeface="Times New Roman" panose="02020603050405020304" charset="0"/>
                <a:sym typeface="+mn-ea"/>
              </a:rPr>
              <a:t>EAG</a:t>
            </a:r>
            <a:r>
              <a:rPr lang="en-US" altLang="zh-CN" sz="2000" baseline="-25000">
                <a:latin typeface="Times New Roman" panose="02020603050405020304" charset="0"/>
                <a:ea typeface="微软雅黑" panose="020B0503020204020204" charset="-122"/>
                <a:cs typeface="Times New Roman" panose="02020603050405020304" charset="0"/>
                <a:sym typeface="+mn-ea"/>
              </a:rPr>
              <a:t>low</a:t>
            </a:r>
            <a:r>
              <a:rPr lang="en-US" altLang="zh-CN" sz="2000">
                <a:latin typeface="Times New Roman" panose="02020603050405020304" charset="0"/>
                <a:ea typeface="微软雅黑" panose="020B0503020204020204" charset="-122"/>
                <a:cs typeface="Times New Roman" panose="02020603050405020304" charset="0"/>
                <a:sym typeface="+mn-ea"/>
              </a:rPr>
              <a:t>(</a:t>
            </a:r>
            <a:r>
              <a:rPr lang="en-US" altLang="zh-CN" sz="2000" i="1">
                <a:latin typeface="Times New Roman" panose="02020603050405020304" charset="0"/>
                <a:ea typeface="微软雅黑" panose="020B0503020204020204" charset="-122"/>
                <a:cs typeface="Times New Roman" panose="02020603050405020304" charset="0"/>
                <a:sym typeface="+mn-ea"/>
              </a:rPr>
              <a:t>L</a:t>
            </a:r>
            <a:r>
              <a:rPr lang="en-US" altLang="zh-CN" sz="2000">
                <a:latin typeface="Times New Roman" panose="02020603050405020304" charset="0"/>
                <a:ea typeface="微软雅黑" panose="020B0503020204020204" charset="-122"/>
                <a:cs typeface="Times New Roman" panose="02020603050405020304" charset="0"/>
                <a:sym typeface="+mn-ea"/>
              </a:rPr>
              <a:t>)</a:t>
            </a:r>
            <a:r>
              <a:rPr lang="zh-CN" altLang="en-US" sz="2000">
                <a:latin typeface="Times New Roman" panose="02020603050405020304" charset="0"/>
                <a:ea typeface="微软雅黑" panose="020B0503020204020204" charset="-122"/>
                <a:cs typeface="Times New Roman" panose="02020603050405020304" charset="0"/>
                <a:sym typeface="+mn-ea"/>
              </a:rPr>
              <a:t>存在一个极大值。</a:t>
            </a: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Bef>
                <a:spcPts val="0"/>
              </a:spcBef>
            </a:pPr>
            <a:endParaRPr lang="zh-CN" altLang="en-US" sz="20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30756" name="图片 330756" descr="C:/Users/Administrator/AppData/Roaming/Yozo_Office/Temp/fc/1629533961615188032025/计算机视觉教程（第3版）PPT第05章.pptx/ppt/media/image39.png"/>
          <p:cNvPicPr/>
          <p:nvPr>
            <p:custDataLst>
              <p:tags r:id="rId3"/>
            </p:custDataLst>
          </p:nvPr>
        </p:nvPicPr>
        <p:blipFill>
          <a:blip r:embed="rId4"/>
          <a:stretch>
            <a:fillRect/>
          </a:stretch>
        </p:blipFill>
        <p:spPr>
          <a:xfrm>
            <a:off x="7479665" y="4432935"/>
            <a:ext cx="1871663" cy="865188"/>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1" name="矩形 332801"/>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2802" name="矩形 332802"/>
          <p:cNvSpPr/>
          <p:nvPr/>
        </p:nvSpPr>
        <p:spPr>
          <a:xfrm>
            <a:off x="845185" y="1720850"/>
            <a:ext cx="10144125" cy="4523105"/>
          </a:xfrm>
          <a:prstGeom prst="rect">
            <a:avLst/>
          </a:prstGeom>
          <a:noFill/>
          <a:ln w="9525">
            <a:noFill/>
          </a:ln>
        </p:spPr>
        <p:txBody>
          <a:bodyPr wrap="square" anchor="t" anchorCtr="0">
            <a:spAutoFit/>
          </a:bodyPr>
          <a:p>
            <a:pPr algn="ctr" defTabSz="719455">
              <a:lnSpc>
                <a:spcPct val="150000"/>
              </a:lnSpc>
              <a:spcAft>
                <a:spcPts val="0"/>
              </a:spcAft>
            </a:pPr>
            <a:r>
              <a:rPr lang="zh-CN" altLang="en-US" sz="2400" b="1">
                <a:latin typeface="微软雅黑" panose="020B0503020204020204" charset="-122"/>
                <a:ea typeface="微软雅黑" panose="020B0503020204020204" charset="-122"/>
              </a:rPr>
              <a:t>有效平均梯度的极值点</a:t>
            </a:r>
            <a:endParaRPr lang="zh-CN" altLang="en-US" sz="2400" b="1">
              <a:latin typeface="微软雅黑" panose="020B0503020204020204" charset="-122"/>
              <a:ea typeface="微软雅黑" panose="020B0503020204020204" charset="-122"/>
            </a:endParaRPr>
          </a:p>
          <a:p>
            <a:pPr algn="just" defTabSz="719455">
              <a:lnSpc>
                <a:spcPct val="150000"/>
              </a:lnSpc>
              <a:spcBef>
                <a:spcPts val="0"/>
              </a:spcBef>
            </a:pPr>
            <a:r>
              <a:rPr lang="zh-CN" altLang="en-US" sz="2400">
                <a:latin typeface="Times New Roman" panose="02020603050405020304" charset="0"/>
                <a:ea typeface="微软雅黑" panose="020B0503020204020204" charset="-122"/>
                <a:cs typeface="Times New Roman" panose="02020603050405020304" charset="0"/>
              </a:rPr>
              <a:t>典型的</a:t>
            </a:r>
            <a:r>
              <a:rPr lang="en-US" altLang="zh-CN" sz="2400">
                <a:latin typeface="Times New Roman" panose="02020603050405020304" charset="0"/>
                <a:ea typeface="微软雅黑" panose="020B0503020204020204" charset="-122"/>
                <a:cs typeface="Times New Roman" panose="02020603050405020304" charset="0"/>
              </a:rPr>
              <a:t>EAG</a:t>
            </a:r>
            <a:r>
              <a:rPr lang="en-US" altLang="zh-CN" sz="2400" baseline="-25000">
                <a:latin typeface="Times New Roman" panose="02020603050405020304" charset="0"/>
                <a:ea typeface="微软雅黑" panose="020B0503020204020204" charset="-122"/>
                <a:cs typeface="Times New Roman" panose="02020603050405020304" charset="0"/>
              </a:rPr>
              <a:t>high</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和</a:t>
            </a:r>
            <a:r>
              <a:rPr lang="en-US" altLang="zh-CN" sz="2400">
                <a:latin typeface="Times New Roman" panose="02020603050405020304" charset="0"/>
                <a:ea typeface="微软雅黑" panose="020B0503020204020204" charset="-122"/>
                <a:cs typeface="Times New Roman" panose="02020603050405020304" charset="0"/>
              </a:rPr>
              <a:t>EAG</a:t>
            </a:r>
            <a:r>
              <a:rPr lang="en-US" altLang="zh-CN" sz="2400" baseline="-25000">
                <a:latin typeface="Times New Roman" panose="02020603050405020304" charset="0"/>
                <a:ea typeface="微软雅黑" panose="020B0503020204020204" charset="-122"/>
                <a:cs typeface="Times New Roman" panose="02020603050405020304" charset="0"/>
              </a:rPr>
              <a:t>low</a:t>
            </a:r>
            <a:r>
              <a:rPr lang="en-US" altLang="zh-CN" sz="2400">
                <a:latin typeface="Times New Roman" panose="02020603050405020304" charset="0"/>
                <a:ea typeface="微软雅黑" panose="020B0503020204020204" charset="-122"/>
                <a:cs typeface="Times New Roman" panose="02020603050405020304" charset="0"/>
              </a:rPr>
              <a:t>(</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a:latin typeface="Times New Roman" panose="02020603050405020304" charset="0"/>
                <a:ea typeface="微软雅黑" panose="020B0503020204020204" charset="-122"/>
                <a:cs typeface="Times New Roman" panose="02020603050405020304" charset="0"/>
              </a:rPr>
              <a:t>)</a:t>
            </a:r>
            <a:r>
              <a:rPr lang="zh-CN" altLang="en-US" sz="2400">
                <a:latin typeface="Times New Roman" panose="02020603050405020304" charset="0"/>
                <a:ea typeface="微软雅黑" panose="020B0503020204020204" charset="-122"/>
                <a:cs typeface="Times New Roman" panose="02020603050405020304" charset="0"/>
              </a:rPr>
              <a:t>曲线都是单峰曲线，即它们各有一个极值</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i="1" baseline="-25000">
                <a:latin typeface="Times New Roman" panose="02020603050405020304" charset="0"/>
                <a:ea typeface="微软雅黑" panose="020B0503020204020204" charset="-122"/>
                <a:cs typeface="Times New Roman" panose="02020603050405020304" charset="0"/>
              </a:rPr>
              <a:t>high</a:t>
            </a:r>
            <a:r>
              <a:rPr lang="zh-CN" altLang="en-US" sz="2400">
                <a:latin typeface="Times New Roman" panose="02020603050405020304" charset="0"/>
                <a:ea typeface="微软雅黑" panose="020B0503020204020204" charset="-122"/>
                <a:cs typeface="Times New Roman" panose="02020603050405020304" charset="0"/>
              </a:rPr>
              <a:t>和</a:t>
            </a:r>
            <a:r>
              <a:rPr lang="en-US" altLang="zh-CN" sz="2400" i="1">
                <a:latin typeface="Times New Roman" panose="02020603050405020304" charset="0"/>
                <a:ea typeface="微软雅黑" panose="020B0503020204020204" charset="-122"/>
                <a:cs typeface="Times New Roman" panose="02020603050405020304" charset="0"/>
              </a:rPr>
              <a:t>L</a:t>
            </a:r>
            <a:r>
              <a:rPr lang="en-US" altLang="zh-CN" sz="2400" i="1" baseline="-25000">
                <a:latin typeface="Times New Roman" panose="02020603050405020304" charset="0"/>
                <a:ea typeface="微软雅黑" panose="020B0503020204020204" charset="-122"/>
                <a:cs typeface="Times New Roman" panose="02020603050405020304" charset="0"/>
              </a:rPr>
              <a:t>low</a:t>
            </a:r>
            <a:r>
              <a:rPr lang="zh-CN" altLang="en-US" sz="2400">
                <a:latin typeface="Times New Roman" panose="02020603050405020304" charset="0"/>
                <a:ea typeface="微软雅黑" panose="020B0503020204020204" charset="-122"/>
                <a:cs typeface="Times New Roman" panose="02020603050405020304" charset="0"/>
              </a:rPr>
              <a:t>对应灰度集上的两个特殊值，</a:t>
            </a:r>
            <a:endParaRPr lang="zh-CN" altLang="en-US" sz="2400">
              <a:latin typeface="Times New Roman" panose="02020603050405020304" charset="0"/>
              <a:ea typeface="微软雅黑" panose="020B0503020204020204" charset="-122"/>
              <a:cs typeface="Times New Roman" panose="02020603050405020304" charset="0"/>
            </a:endParaRPr>
          </a:p>
          <a:p>
            <a:pPr algn="just" defTabSz="719455">
              <a:lnSpc>
                <a:spcPct val="150000"/>
              </a:lnSpc>
              <a:spcBef>
                <a:spcPts val="0"/>
              </a:spcBef>
            </a:pPr>
            <a:r>
              <a:rPr lang="zh-CN" altLang="en-US" sz="2400">
                <a:latin typeface="Times New Roman" panose="02020603050405020304" charset="0"/>
                <a:ea typeface="微软雅黑" panose="020B0503020204020204" charset="-122"/>
                <a:cs typeface="Times New Roman" panose="02020603050405020304" charset="0"/>
              </a:rPr>
              <a:t>共同确认出过渡区</a:t>
            </a:r>
            <a:endParaRPr lang="zh-CN" altLang="en-US" sz="2400">
              <a:latin typeface="Times New Roman" panose="02020603050405020304" charset="0"/>
              <a:ea typeface="微软雅黑" panose="020B0503020204020204" charset="-122"/>
              <a:cs typeface="Times New Roman" panose="02020603050405020304" charset="0"/>
            </a:endParaRPr>
          </a:p>
        </p:txBody>
      </p:sp>
      <p:sp>
        <p:nvSpPr>
          <p:cNvPr id="332803" name="矩形 332803"/>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2804" name="图片 332804" descr="C:/Users/Administrator/AppData/Roaming/Yozo_Office/Temp/fc/1629533961615188032025/计算机视觉教程（第3版）PPT第05章.pptx/ppt/media/image43.png"/>
          <p:cNvPicPr/>
          <p:nvPr/>
        </p:nvPicPr>
        <p:blipFill>
          <a:blip r:embed="rId1"/>
          <a:stretch>
            <a:fillRect/>
          </a:stretch>
        </p:blipFill>
        <p:spPr>
          <a:xfrm>
            <a:off x="2277428" y="3255010"/>
            <a:ext cx="3889375" cy="790575"/>
          </a:xfrm>
          <a:prstGeom prst="rect">
            <a:avLst/>
          </a:prstGeom>
          <a:noFill/>
          <a:ln w="9525">
            <a:noFill/>
          </a:ln>
        </p:spPr>
      </p:pic>
      <p:pic>
        <p:nvPicPr>
          <p:cNvPr id="332805" name="图片 332805" descr="C:/Users/Administrator/AppData/Roaming/Yozo_Office/Temp/fc/1629533961615188032025/计算机视觉教程（第3版）PPT第05章.pptx/ppt/media/image44.png"/>
          <p:cNvPicPr/>
          <p:nvPr/>
        </p:nvPicPr>
        <p:blipFill>
          <a:blip r:embed="rId2"/>
          <a:srcRect b="4012"/>
          <a:stretch>
            <a:fillRect/>
          </a:stretch>
        </p:blipFill>
        <p:spPr>
          <a:xfrm>
            <a:off x="2277428" y="4096068"/>
            <a:ext cx="3889375" cy="863600"/>
          </a:xfrm>
          <a:prstGeom prst="rect">
            <a:avLst/>
          </a:prstGeom>
          <a:noFill/>
          <a:ln w="9525">
            <a:noFill/>
          </a:ln>
        </p:spPr>
      </p:pic>
      <p:pic>
        <p:nvPicPr>
          <p:cNvPr id="332806" name="图片 332806" descr="F:\Book-ed\Second-7\S=CCV\ppt-for-web\Pic-f\060402.jpg"/>
          <p:cNvPicPr/>
          <p:nvPr/>
        </p:nvPicPr>
        <p:blipFill>
          <a:blip r:embed="rId3"/>
          <a:stretch>
            <a:fillRect/>
          </a:stretch>
        </p:blipFill>
        <p:spPr>
          <a:xfrm>
            <a:off x="6659563" y="3024505"/>
            <a:ext cx="4679950" cy="3167063"/>
          </a:xfrm>
          <a:prstGeom prst="rect">
            <a:avLst/>
          </a:prstGeom>
          <a:noFill/>
          <a:ln w="9525">
            <a:noFill/>
          </a:ln>
        </p:spPr>
      </p:pic>
      <p:sp>
        <p:nvSpPr>
          <p:cNvPr id="2" name="文本框 1"/>
          <p:cNvSpPr txBox="1"/>
          <p:nvPr/>
        </p:nvSpPr>
        <p:spPr>
          <a:xfrm>
            <a:off x="10081895" y="3255010"/>
            <a:ext cx="1536065" cy="645160"/>
          </a:xfrm>
          <a:prstGeom prst="rect">
            <a:avLst/>
          </a:prstGeom>
          <a:noFill/>
        </p:spPr>
        <p:txBody>
          <a:bodyPr wrap="square" rtlCol="0">
            <a:spAutoFit/>
          </a:bodyPr>
          <a:p>
            <a:r>
              <a:rPr lang="en-US" altLang="zh-CN"/>
              <a:t>TG</a:t>
            </a:r>
            <a:r>
              <a:rPr lang="zh-CN" altLang="en-US"/>
              <a:t>总梯度</a:t>
            </a:r>
            <a:endParaRPr lang="zh-CN" altLang="en-US"/>
          </a:p>
          <a:p>
            <a:r>
              <a:rPr lang="en-US" altLang="zh-CN"/>
              <a:t>TP</a:t>
            </a:r>
            <a:r>
              <a:rPr lang="zh-CN" altLang="en-US"/>
              <a:t>非零梯度</a:t>
            </a:r>
            <a:endParaRPr lang="zh-CN" altLang="en-US"/>
          </a:p>
        </p:txBody>
      </p:sp>
    </p:spTree>
  </p:cSld>
  <p:clrMapOvr>
    <a:masterClrMapping/>
  </p:clrMapOvr>
  <p:transition spd="slow"/>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5" name="矩形 333825"/>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3826" name="矩形 333826"/>
          <p:cNvSpPr/>
          <p:nvPr/>
        </p:nvSpPr>
        <p:spPr>
          <a:xfrm>
            <a:off x="284480" y="1939290"/>
            <a:ext cx="11749405" cy="4799965"/>
          </a:xfrm>
          <a:prstGeom prst="rect">
            <a:avLst/>
          </a:prstGeom>
          <a:noFill/>
          <a:ln w="9525">
            <a:noFill/>
          </a:ln>
        </p:spPr>
        <p:txBody>
          <a:bodyPr wrap="square" anchor="t" anchorCtr="0">
            <a:spAutoFit/>
          </a:bodyPr>
          <a:p>
            <a:pPr algn="just" defTabSz="719455">
              <a:lnSpc>
                <a:spcPct val="150000"/>
              </a:lnSpc>
              <a:spcAft>
                <a:spcPts val="0"/>
              </a:spcAft>
            </a:pPr>
            <a:r>
              <a:rPr lang="zh-CN" altLang="en-US" sz="2400">
                <a:latin typeface="微软雅黑" panose="020B0503020204020204" charset="-122"/>
                <a:ea typeface="微软雅黑" panose="020B0503020204020204" charset="-122"/>
              </a:rPr>
              <a:t>过渡区处于目标和背景之间，而目标和背景之间的边界又在过渡区之中，所以可借助过渡区来帮助选取阈值。</a:t>
            </a:r>
            <a:endParaRPr lang="zh-CN" altLang="en-US" sz="2400">
              <a:latin typeface="微软雅黑" panose="020B0503020204020204" charset="-122"/>
              <a:ea typeface="微软雅黑" panose="020B0503020204020204" charset="-122"/>
            </a:endParaRPr>
          </a:p>
          <a:p>
            <a:pPr algn="just" defTabSz="719455">
              <a:lnSpc>
                <a:spcPct val="150000"/>
              </a:lnSpc>
              <a:spcAft>
                <a:spcPts val="0"/>
              </a:spcAft>
            </a:pPr>
            <a:endParaRPr lang="zh-CN" altLang="en-US" sz="2400">
              <a:latin typeface="微软雅黑" panose="020B0503020204020204" charset="-122"/>
              <a:ea typeface="微软雅黑" panose="020B0503020204020204" charset="-122"/>
            </a:endParaRPr>
          </a:p>
          <a:p>
            <a:pPr algn="just" defTabSz="719455">
              <a:lnSpc>
                <a:spcPct val="150000"/>
              </a:lnSpc>
              <a:spcAft>
                <a:spcPts val="0"/>
              </a:spcAft>
            </a:pPr>
            <a:r>
              <a:rPr lang="zh-CN" altLang="en-US" sz="2400">
                <a:latin typeface="微软雅黑" panose="020B0503020204020204" charset="-122"/>
                <a:ea typeface="微软雅黑" panose="020B0503020204020204" charset="-122"/>
              </a:rPr>
              <a:t>两个极值点有</a:t>
            </a:r>
            <a:r>
              <a:rPr lang="en-US" altLang="zh-CN" sz="2400">
                <a:latin typeface="微软雅黑" panose="020B0503020204020204" charset="-122"/>
                <a:ea typeface="微软雅黑" panose="020B0503020204020204" charset="-122"/>
              </a:rPr>
              <a:t>3</a:t>
            </a:r>
            <a:r>
              <a:rPr lang="zh-CN" altLang="en-US" sz="2400">
                <a:latin typeface="微软雅黑" panose="020B0503020204020204" charset="-122"/>
                <a:ea typeface="微软雅黑" panose="020B0503020204020204" charset="-122"/>
              </a:rPr>
              <a:t>个重要性质。</a:t>
            </a:r>
            <a:endParaRPr lang="zh-CN" altLang="en-US" sz="2400">
              <a:latin typeface="微软雅黑" panose="020B0503020204020204" charset="-122"/>
              <a:ea typeface="微软雅黑" panose="020B0503020204020204" charset="-122"/>
            </a:endParaRPr>
          </a:p>
          <a:p>
            <a:pPr algn="just" defTabSz="719455">
              <a:lnSpc>
                <a:spcPct val="150000"/>
              </a:lnSpc>
              <a:spcAft>
                <a:spcPts val="0"/>
              </a:spcAft>
            </a:pPr>
            <a:r>
              <a:rPr lang="en-US" altLang="zh-CN">
                <a:latin typeface="微软雅黑" panose="020B0503020204020204" charset="-122"/>
                <a:ea typeface="微软雅黑" panose="020B0503020204020204" charset="-122"/>
              </a:rPr>
              <a:t>1</a:t>
            </a:r>
            <a:r>
              <a:rPr lang="zh-CN" altLang="en-US">
                <a:latin typeface="微软雅黑" panose="020B0503020204020204" charset="-122"/>
                <a:ea typeface="微软雅黑" panose="020B0503020204020204" charset="-122"/>
              </a:rPr>
              <a:t>）对于每个过渡区，</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high</a:t>
            </a:r>
            <a:r>
              <a:rPr lang="zh-CN" altLang="en-US">
                <a:latin typeface="Times New Roman" panose="02020603050405020304" charset="0"/>
                <a:ea typeface="微软雅黑" panose="020B0503020204020204" charset="-122"/>
                <a:cs typeface="Times New Roman" panose="02020603050405020304" charset="0"/>
                <a:sym typeface="+mn-ea"/>
              </a:rPr>
              <a:t>和</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low</a:t>
            </a:r>
            <a:r>
              <a:rPr lang="zh-CN" altLang="en-US">
                <a:latin typeface="微软雅黑" panose="020B0503020204020204" charset="-122"/>
                <a:ea typeface="微软雅黑" panose="020B0503020204020204" charset="-122"/>
              </a:rPr>
              <a:t>总是存在且只有一个。</a:t>
            </a:r>
            <a:endParaRPr lang="zh-CN" altLang="en-US">
              <a:latin typeface="微软雅黑" panose="020B0503020204020204" charset="-122"/>
              <a:ea typeface="微软雅黑" panose="020B0503020204020204" charset="-122"/>
            </a:endParaRPr>
          </a:p>
          <a:p>
            <a:pPr algn="just" defTabSz="719455">
              <a:lnSpc>
                <a:spcPct val="150000"/>
              </a:lnSpc>
              <a:spcAft>
                <a:spcPts val="0"/>
              </a:spcAft>
            </a:pPr>
            <a:r>
              <a:rPr lang="en-US" altLang="zh-CN">
                <a:latin typeface="微软雅黑" panose="020B0503020204020204" charset="-122"/>
                <a:ea typeface="微软雅黑" panose="020B0503020204020204" charset="-122"/>
              </a:rPr>
              <a:t>2</a:t>
            </a:r>
            <a:r>
              <a:rPr lang="zh-CN" altLang="en-US">
                <a:latin typeface="微软雅黑" panose="020B0503020204020204" charset="-122"/>
                <a:ea typeface="微软雅黑" panose="020B0503020204020204" charset="-122"/>
              </a:rPr>
              <a:t>）</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high</a:t>
            </a:r>
            <a:r>
              <a:rPr lang="zh-CN" altLang="en-US">
                <a:latin typeface="Times New Roman" panose="02020603050405020304" charset="0"/>
                <a:ea typeface="微软雅黑" panose="020B0503020204020204" charset="-122"/>
                <a:cs typeface="Times New Roman" panose="02020603050405020304" charset="0"/>
                <a:sym typeface="+mn-ea"/>
              </a:rPr>
              <a:t>和</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low</a:t>
            </a:r>
            <a:r>
              <a:rPr lang="zh-CN" altLang="en-US">
                <a:latin typeface="微软雅黑" panose="020B0503020204020204" charset="-122"/>
                <a:ea typeface="微软雅黑" panose="020B0503020204020204" charset="-122"/>
              </a:rPr>
              <a:t>所对应的灰度值都具有明显的像素特性区分能力。</a:t>
            </a:r>
            <a:endParaRPr lang="zh-CN" altLang="en-US">
              <a:latin typeface="微软雅黑" panose="020B0503020204020204" charset="-122"/>
              <a:ea typeface="微软雅黑" panose="020B0503020204020204" charset="-122"/>
            </a:endParaRPr>
          </a:p>
          <a:p>
            <a:pPr algn="just" defTabSz="719455">
              <a:lnSpc>
                <a:spcPct val="150000"/>
              </a:lnSpc>
              <a:spcAft>
                <a:spcPts val="0"/>
              </a:spcAft>
            </a:pPr>
            <a:r>
              <a:rPr lang="en-US" altLang="zh-CN">
                <a:latin typeface="微软雅黑" panose="020B0503020204020204" charset="-122"/>
                <a:ea typeface="微软雅黑" panose="020B0503020204020204" charset="-122"/>
              </a:rPr>
              <a:t>3</a:t>
            </a:r>
            <a:r>
              <a:rPr lang="zh-CN" altLang="en-US">
                <a:latin typeface="微软雅黑" panose="020B0503020204020204" charset="-122"/>
                <a:ea typeface="微软雅黑" panose="020B0503020204020204" charset="-122"/>
              </a:rPr>
              <a:t>）对于一个过渡区，</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high</a:t>
            </a:r>
            <a:r>
              <a:rPr lang="zh-CN" altLang="en-US">
                <a:latin typeface="Times New Roman" panose="02020603050405020304" charset="0"/>
                <a:ea typeface="微软雅黑" panose="020B0503020204020204" charset="-122"/>
                <a:cs typeface="Times New Roman" panose="02020603050405020304" charset="0"/>
                <a:sym typeface="+mn-ea"/>
              </a:rPr>
              <a:t>不会比</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low</a:t>
            </a:r>
            <a:r>
              <a:rPr lang="zh-CN" altLang="en-US">
                <a:latin typeface="Times New Roman" panose="02020603050405020304" charset="0"/>
                <a:ea typeface="微软雅黑" panose="020B0503020204020204" charset="-122"/>
                <a:cs typeface="Times New Roman" panose="02020603050405020304" charset="0"/>
                <a:sym typeface="+mn-ea"/>
              </a:rPr>
              <a:t>小。</a:t>
            </a:r>
            <a:endParaRPr lang="zh-CN" altLang="en-US">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Aft>
                <a:spcPts val="0"/>
              </a:spcAft>
            </a:pPr>
            <a:endParaRPr lang="zh-CN" altLang="en-US">
              <a:latin typeface="Times New Roman" panose="02020603050405020304" charset="0"/>
              <a:ea typeface="微软雅黑" panose="020B0503020204020204" charset="-122"/>
              <a:cs typeface="Times New Roman" panose="02020603050405020304" charset="0"/>
              <a:sym typeface="+mn-ea"/>
            </a:endParaRPr>
          </a:p>
          <a:p>
            <a:pPr algn="just" defTabSz="719455">
              <a:lnSpc>
                <a:spcPct val="150000"/>
              </a:lnSpc>
              <a:spcAft>
                <a:spcPts val="0"/>
              </a:spcAft>
            </a:pPr>
            <a:r>
              <a:rPr lang="zh-CN" altLang="en-US">
                <a:latin typeface="Times New Roman" panose="02020603050405020304" charset="0"/>
                <a:ea typeface="微软雅黑" panose="020B0503020204020204" charset="-122"/>
                <a:cs typeface="Times New Roman" panose="02020603050405020304" charset="0"/>
                <a:sym typeface="+mn-ea"/>
              </a:rPr>
              <a:t>阈值可以用</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high</a:t>
            </a:r>
            <a:r>
              <a:rPr lang="zh-CN" altLang="en-US">
                <a:latin typeface="Times New Roman" panose="02020603050405020304" charset="0"/>
                <a:ea typeface="微软雅黑" panose="020B0503020204020204" charset="-122"/>
                <a:cs typeface="Times New Roman" panose="02020603050405020304" charset="0"/>
                <a:sym typeface="+mn-ea"/>
              </a:rPr>
              <a:t>和</a:t>
            </a:r>
            <a:r>
              <a:rPr lang="en-US" altLang="zh-CN" i="1">
                <a:latin typeface="Times New Roman" panose="02020603050405020304" charset="0"/>
                <a:ea typeface="微软雅黑" panose="020B0503020204020204" charset="-122"/>
                <a:cs typeface="Times New Roman" panose="02020603050405020304" charset="0"/>
                <a:sym typeface="+mn-ea"/>
              </a:rPr>
              <a:t>L</a:t>
            </a:r>
            <a:r>
              <a:rPr lang="en-US" altLang="zh-CN" i="1" baseline="-25000">
                <a:latin typeface="Times New Roman" panose="02020603050405020304" charset="0"/>
                <a:ea typeface="微软雅黑" panose="020B0503020204020204" charset="-122"/>
                <a:cs typeface="Times New Roman" panose="02020603050405020304" charset="0"/>
                <a:sym typeface="+mn-ea"/>
              </a:rPr>
              <a:t>low</a:t>
            </a:r>
            <a:r>
              <a:rPr lang="zh-CN" altLang="en-US">
                <a:latin typeface="Times New Roman" panose="02020603050405020304" charset="0"/>
                <a:ea typeface="微软雅黑" panose="020B0503020204020204" charset="-122"/>
                <a:cs typeface="Times New Roman" panose="02020603050405020304" charset="0"/>
                <a:sym typeface="+mn-ea"/>
              </a:rPr>
              <a:t>计算。</a:t>
            </a:r>
            <a:endParaRPr lang="zh-CN" altLang="en-US">
              <a:latin typeface="微软雅黑" panose="020B0503020204020204" charset="-122"/>
              <a:ea typeface="微软雅黑" panose="020B0503020204020204" charset="-122"/>
            </a:endParaRPr>
          </a:p>
          <a:p>
            <a:pPr algn="just" defTabSz="719455">
              <a:lnSpc>
                <a:spcPct val="150000"/>
              </a:lnSpc>
              <a:spcAft>
                <a:spcPts val="0"/>
              </a:spcAft>
            </a:pPr>
            <a:endParaRPr lang="zh-CN" altLang="en-US">
              <a:latin typeface="微软雅黑" panose="020B0503020204020204" charset="-122"/>
              <a:ea typeface="微软雅黑" panose="020B0503020204020204" charset="-122"/>
            </a:endParaRPr>
          </a:p>
        </p:txBody>
      </p:sp>
      <p:sp>
        <p:nvSpPr>
          <p:cNvPr id="333827" name="矩形 333827"/>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3828" name="图片 333828" descr="F:\Book-ed\Second-7\S=CCV\ppt-for-web\Pic-f\060403.jpg"/>
          <p:cNvPicPr/>
          <p:nvPr/>
        </p:nvPicPr>
        <p:blipFill>
          <a:blip r:embed="rId1"/>
          <a:stretch>
            <a:fillRect/>
          </a:stretch>
        </p:blipFill>
        <p:spPr>
          <a:xfrm>
            <a:off x="6633210" y="3285173"/>
            <a:ext cx="5400675" cy="3455987"/>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49" name="矩形 334849"/>
          <p:cNvSpPr/>
          <p:nvPr/>
        </p:nvSpPr>
        <p:spPr>
          <a:xfrm>
            <a:off x="1511300" y="323850"/>
            <a:ext cx="3060700" cy="1292225"/>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4.4  </a:t>
            </a:r>
            <a:r>
              <a:rPr lang="zh-CN" altLang="en-US" sz="2800" b="1">
                <a:latin typeface="微软雅黑" panose="020B0503020204020204" charset="-122"/>
                <a:ea typeface="微软雅黑" panose="020B0503020204020204" charset="-122"/>
              </a:rPr>
              <a:t>特色阈值方法</a:t>
            </a:r>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endParaRPr>
          </a:p>
          <a:p>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4850" name="矩形 334850"/>
          <p:cNvSpPr/>
          <p:nvPr/>
        </p:nvSpPr>
        <p:spPr>
          <a:xfrm>
            <a:off x="284480" y="2091055"/>
            <a:ext cx="3258820" cy="3830955"/>
          </a:xfrm>
          <a:prstGeom prst="rect">
            <a:avLst/>
          </a:prstGeom>
          <a:noFill/>
          <a:ln w="9525">
            <a:noFill/>
          </a:ln>
        </p:spPr>
        <p:txBody>
          <a:bodyPr wrap="square" anchor="t" anchorCtr="0">
            <a:spAutoFit/>
          </a:bodyPr>
          <a:p>
            <a:pPr algn="l" defTabSz="574675">
              <a:lnSpc>
                <a:spcPct val="150000"/>
              </a:lnSpc>
              <a:spcAft>
                <a:spcPts val="0"/>
              </a:spcAft>
              <a:tabLst>
                <a:tab pos="0" algn="l"/>
              </a:tabLst>
            </a:pPr>
            <a:r>
              <a:rPr lang="en-US" altLang="zh-CN">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rPr>
              <a:t>多过渡区时，三个重要性质仍成立。</a:t>
            </a:r>
            <a:endParaRPr lang="zh-CN" altLang="en-US">
              <a:latin typeface="微软雅黑" panose="020B0503020204020204" charset="-122"/>
              <a:ea typeface="微软雅黑" panose="020B0503020204020204" charset="-122"/>
            </a:endParaRPr>
          </a:p>
          <a:p>
            <a:pPr algn="l" defTabSz="574675">
              <a:lnSpc>
                <a:spcPct val="150000"/>
              </a:lnSpc>
              <a:spcAft>
                <a:spcPts val="0"/>
              </a:spcAft>
              <a:tabLst>
                <a:tab pos="0" algn="l"/>
              </a:tabLst>
            </a:pPr>
            <a:r>
              <a:rPr lang="zh-CN" altLang="en-US">
                <a:latin typeface="微软雅黑" panose="020B0503020204020204" charset="-122"/>
                <a:ea typeface="微软雅黑" panose="020B0503020204020204" charset="-122"/>
              </a:rPr>
              <a:t>图</a:t>
            </a:r>
            <a:r>
              <a:rPr lang="en-US" altLang="zh-CN">
                <a:latin typeface="微软雅黑" panose="020B0503020204020204" charset="-122"/>
                <a:ea typeface="微软雅黑" panose="020B0503020204020204" charset="-122"/>
              </a:rPr>
              <a:t>a</a:t>
            </a:r>
            <a:r>
              <a:rPr lang="zh-CN" altLang="en-US">
                <a:latin typeface="微软雅黑" panose="020B0503020204020204" charset="-122"/>
                <a:ea typeface="微软雅黑" panose="020B0503020204020204" charset="-122"/>
              </a:rPr>
              <a:t>中的剖面有两个越阶，对应两个过渡区，反映在梯度上的两个峰。</a:t>
            </a:r>
            <a:endParaRPr lang="zh-CN" altLang="en-US">
              <a:latin typeface="微软雅黑" panose="020B0503020204020204" charset="-122"/>
              <a:ea typeface="微软雅黑" panose="020B0503020204020204" charset="-122"/>
            </a:endParaRPr>
          </a:p>
          <a:p>
            <a:pPr algn="l" defTabSz="574675">
              <a:lnSpc>
                <a:spcPct val="150000"/>
              </a:lnSpc>
              <a:spcAft>
                <a:spcPts val="0"/>
              </a:spcAft>
              <a:tabLst>
                <a:tab pos="0" algn="l"/>
              </a:tabLst>
            </a:pPr>
            <a:r>
              <a:rPr lang="zh-CN" altLang="en-US">
                <a:latin typeface="微软雅黑" panose="020B0503020204020204" charset="-122"/>
                <a:ea typeface="微软雅黑" panose="020B0503020204020204" charset="-122"/>
              </a:rPr>
              <a:t>图</a:t>
            </a:r>
            <a:r>
              <a:rPr lang="en-US" altLang="zh-CN">
                <a:latin typeface="微软雅黑" panose="020B0503020204020204" charset="-122"/>
                <a:ea typeface="微软雅黑" panose="020B0503020204020204" charset="-122"/>
              </a:rPr>
              <a:t>b</a:t>
            </a:r>
            <a:r>
              <a:rPr lang="zh-CN" altLang="en-US">
                <a:latin typeface="微软雅黑" panose="020B0503020204020204" charset="-122"/>
                <a:ea typeface="微软雅黑" panose="020B0503020204020204" charset="-122"/>
              </a:rPr>
              <a:t>中由此得到的</a:t>
            </a:r>
            <a:r>
              <a:rPr lang="en-US" altLang="zh-CN">
                <a:latin typeface="Times New Roman" panose="02020603050405020304" charset="0"/>
                <a:ea typeface="微软雅黑" panose="020B0503020204020204" charset="-122"/>
                <a:cs typeface="Times New Roman" panose="02020603050405020304" charset="0"/>
                <a:sym typeface="+mn-ea"/>
              </a:rPr>
              <a:t>EAG</a:t>
            </a:r>
            <a:r>
              <a:rPr lang="en-US" altLang="zh-CN" baseline="-25000">
                <a:latin typeface="Times New Roman" panose="02020603050405020304" charset="0"/>
                <a:ea typeface="微软雅黑" panose="020B0503020204020204" charset="-122"/>
                <a:cs typeface="Times New Roman" panose="02020603050405020304" charset="0"/>
                <a:sym typeface="+mn-ea"/>
              </a:rPr>
              <a:t>high</a:t>
            </a:r>
            <a:r>
              <a:rPr lang="en-US" altLang="zh-CN">
                <a:latin typeface="Times New Roman" panose="02020603050405020304" charset="0"/>
                <a:ea typeface="微软雅黑" panose="020B0503020204020204" charset="-122"/>
                <a:cs typeface="Times New Roman" panose="02020603050405020304" charset="0"/>
                <a:sym typeface="+mn-ea"/>
              </a:rPr>
              <a:t>(L)</a:t>
            </a:r>
            <a:r>
              <a:rPr lang="zh-CN" altLang="en-US">
                <a:latin typeface="Times New Roman" panose="02020603050405020304" charset="0"/>
                <a:ea typeface="微软雅黑" panose="020B0503020204020204" charset="-122"/>
                <a:cs typeface="Times New Roman" panose="02020603050405020304" charset="0"/>
                <a:sym typeface="+mn-ea"/>
              </a:rPr>
              <a:t>和</a:t>
            </a:r>
            <a:r>
              <a:rPr lang="en-US" altLang="zh-CN">
                <a:latin typeface="Times New Roman" panose="02020603050405020304" charset="0"/>
                <a:ea typeface="微软雅黑" panose="020B0503020204020204" charset="-122"/>
                <a:cs typeface="Times New Roman" panose="02020603050405020304" charset="0"/>
                <a:sym typeface="+mn-ea"/>
              </a:rPr>
              <a:t>EAG</a:t>
            </a:r>
            <a:r>
              <a:rPr lang="en-US" altLang="zh-CN" baseline="-25000">
                <a:latin typeface="Times New Roman" panose="02020603050405020304" charset="0"/>
                <a:ea typeface="微软雅黑" panose="020B0503020204020204" charset="-122"/>
                <a:cs typeface="Times New Roman" panose="02020603050405020304" charset="0"/>
                <a:sym typeface="+mn-ea"/>
              </a:rPr>
              <a:t>low</a:t>
            </a:r>
            <a:r>
              <a:rPr lang="en-US" altLang="zh-CN">
                <a:latin typeface="Times New Roman" panose="02020603050405020304" charset="0"/>
                <a:ea typeface="微软雅黑" panose="020B0503020204020204" charset="-122"/>
                <a:cs typeface="Times New Roman" panose="02020603050405020304" charset="0"/>
                <a:sym typeface="+mn-ea"/>
              </a:rPr>
              <a:t>(L)</a:t>
            </a:r>
            <a:r>
              <a:rPr lang="zh-CN" altLang="en-US">
                <a:latin typeface="Times New Roman" panose="02020603050405020304" charset="0"/>
                <a:ea typeface="微软雅黑" panose="020B0503020204020204" charset="-122"/>
                <a:cs typeface="Times New Roman" panose="02020603050405020304" charset="0"/>
                <a:sym typeface="+mn-ea"/>
              </a:rPr>
              <a:t>曲线。</a:t>
            </a:r>
            <a:endParaRPr lang="zh-CN" altLang="en-US">
              <a:latin typeface="Times New Roman" panose="02020603050405020304" charset="0"/>
              <a:ea typeface="微软雅黑" panose="020B0503020204020204" charset="-122"/>
              <a:cs typeface="Times New Roman" panose="02020603050405020304" charset="0"/>
              <a:sym typeface="+mn-ea"/>
            </a:endParaRPr>
          </a:p>
          <a:p>
            <a:pPr algn="l" defTabSz="574675">
              <a:lnSpc>
                <a:spcPct val="150000"/>
              </a:lnSpc>
              <a:spcAft>
                <a:spcPts val="0"/>
              </a:spcAft>
              <a:tabLst>
                <a:tab pos="0" algn="l"/>
              </a:tabLst>
            </a:pPr>
            <a:r>
              <a:rPr lang="zh-CN" altLang="en-US">
                <a:latin typeface="Times New Roman" panose="02020603050405020304" charset="0"/>
                <a:ea typeface="微软雅黑" panose="020B0503020204020204" charset="-122"/>
                <a:cs typeface="Times New Roman" panose="02020603050405020304" charset="0"/>
                <a:sym typeface="+mn-ea"/>
              </a:rPr>
              <a:t>四个极值点以何为阈值看实际情况。</a:t>
            </a:r>
            <a:endParaRPr lang="zh-CN" altLang="en-US">
              <a:latin typeface="Times New Roman" panose="02020603050405020304" charset="0"/>
              <a:ea typeface="微软雅黑" panose="020B0503020204020204" charset="-122"/>
              <a:cs typeface="Times New Roman" panose="02020603050405020304" charset="0"/>
              <a:sym typeface="+mn-ea"/>
            </a:endParaRPr>
          </a:p>
        </p:txBody>
      </p:sp>
      <p:sp>
        <p:nvSpPr>
          <p:cNvPr id="334851" name="矩形 334851"/>
          <p:cNvSpPr/>
          <p:nvPr/>
        </p:nvSpPr>
        <p:spPr>
          <a:xfrm>
            <a:off x="2519363" y="1260475"/>
            <a:ext cx="17068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过渡区阈值</a:t>
            </a:r>
            <a:endParaRPr lang="zh-CN" altLang="en-US" sz="2400" b="1">
              <a:latin typeface="微软雅黑" panose="020B0503020204020204" charset="-122"/>
              <a:ea typeface="微软雅黑" panose="020B0503020204020204" charset="-122"/>
            </a:endParaRPr>
          </a:p>
        </p:txBody>
      </p:sp>
      <p:pic>
        <p:nvPicPr>
          <p:cNvPr id="334852" name="图片 334852" descr="C:/Users/Administrator/AppData/Roaming/Yozo_Office/Temp/fc/1629533961615188032025/计算机视觉教程（第3版）PPT第05章.pptx/ppt/media/image47.emf"/>
          <p:cNvPicPr/>
          <p:nvPr/>
        </p:nvPicPr>
        <p:blipFill>
          <a:blip r:embed="rId1"/>
          <a:stretch>
            <a:fillRect/>
          </a:stretch>
        </p:blipFill>
        <p:spPr>
          <a:xfrm>
            <a:off x="3600450" y="1944688"/>
            <a:ext cx="7991475" cy="4319587"/>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3" name="矩形 335873"/>
          <p:cNvSpPr/>
          <p:nvPr/>
        </p:nvSpPr>
        <p:spPr>
          <a:xfrm>
            <a:off x="1511300" y="323850"/>
            <a:ext cx="306070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4.5  </a:t>
            </a:r>
            <a:r>
              <a:rPr lang="zh-CN" altLang="en-US" sz="2800" b="1">
                <a:latin typeface="微软雅黑" panose="020B0503020204020204" charset="-122"/>
                <a:ea typeface="微软雅黑" panose="020B0503020204020204" charset="-122"/>
              </a:rPr>
              <a:t>特征空间聚类</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5874" name="矩形 335874"/>
          <p:cNvSpPr/>
          <p:nvPr/>
        </p:nvSpPr>
        <p:spPr>
          <a:xfrm>
            <a:off x="729615" y="1968500"/>
            <a:ext cx="10991215" cy="4453255"/>
          </a:xfrm>
          <a:prstGeom prst="rect">
            <a:avLst/>
          </a:prstGeom>
          <a:noFill/>
          <a:ln w="9525">
            <a:noFill/>
          </a:ln>
        </p:spPr>
        <p:txBody>
          <a:bodyPr wrap="square" anchor="t" anchorCtr="0">
            <a:noAutofit/>
          </a:bodyPr>
          <a:p>
            <a:pPr defTabSz="719455">
              <a:lnSpc>
                <a:spcPct val="150000"/>
              </a:lnSpc>
              <a:spcBef>
                <a:spcPts val="600"/>
              </a:spcBef>
              <a:spcAft>
                <a:spcPts val="0"/>
              </a:spcAft>
            </a:pPr>
            <a:r>
              <a:rPr lang="en-US" altLang="zh-CN" sz="2000">
                <a:latin typeface="Times New Roman" panose="02020603050405020304" charset="0"/>
                <a:ea typeface="微软雅黑" panose="020B0503020204020204" charset="-122"/>
                <a:cs typeface="Times New Roman" panose="02020603050405020304" charset="0"/>
              </a:rPr>
              <a:t>	</a:t>
            </a:r>
            <a:r>
              <a:rPr lang="zh-CN" altLang="en-US" sz="2000">
                <a:latin typeface="Times New Roman" panose="02020603050405020304" charset="0"/>
                <a:ea typeface="微软雅黑" panose="020B0503020204020204" charset="-122"/>
                <a:cs typeface="Times New Roman" panose="02020603050405020304" charset="0"/>
              </a:rPr>
              <a:t>将一个空间分为</a:t>
            </a:r>
            <a:r>
              <a:rPr lang="en-US" altLang="zh-CN" sz="2000">
                <a:latin typeface="Times New Roman" panose="02020603050405020304" charset="0"/>
                <a:ea typeface="微软雅黑" panose="020B0503020204020204" charset="-122"/>
                <a:cs typeface="Times New Roman" panose="02020603050405020304" charset="0"/>
              </a:rPr>
              <a:t>K</a:t>
            </a:r>
            <a:r>
              <a:rPr lang="zh-CN" altLang="en-US" sz="2000">
                <a:latin typeface="Times New Roman" panose="02020603050405020304" charset="0"/>
                <a:ea typeface="微软雅黑" panose="020B0503020204020204" charset="-122"/>
                <a:cs typeface="Times New Roman" panose="02020603050405020304" charset="0"/>
              </a:rPr>
              <a:t>类的常见方法，令</a:t>
            </a:r>
            <a:r>
              <a:rPr lang="en-US" altLang="zh-CN" sz="2000" b="1">
                <a:latin typeface="Times New Roman" panose="02020603050405020304" charset="0"/>
                <a:ea typeface="微软雅黑" panose="020B0503020204020204" charset="-122"/>
                <a:cs typeface="Times New Roman" panose="02020603050405020304" charset="0"/>
              </a:rPr>
              <a:t>x</a:t>
            </a:r>
            <a:r>
              <a:rPr lang="en-US" altLang="zh-CN" sz="2000">
                <a:latin typeface="Times New Roman" panose="02020603050405020304" charset="0"/>
                <a:ea typeface="微软雅黑" panose="020B0503020204020204" charset="-122"/>
                <a:cs typeface="Times New Roman" panose="02020603050405020304" charset="0"/>
              </a:rPr>
              <a:t>=(x</a:t>
            </a:r>
            <a:r>
              <a:rPr lang="en-US" altLang="zh-CN" sz="2000" baseline="-25000">
                <a:latin typeface="Times New Roman" panose="02020603050405020304" charset="0"/>
                <a:ea typeface="微软雅黑" panose="020B0503020204020204" charset="-122"/>
                <a:cs typeface="Times New Roman" panose="02020603050405020304" charset="0"/>
              </a:rPr>
              <a:t>1</a:t>
            </a:r>
            <a:r>
              <a:rPr lang="en-US" altLang="zh-CN" sz="2000">
                <a:latin typeface="Times New Roman" panose="02020603050405020304" charset="0"/>
                <a:ea typeface="微软雅黑" panose="020B0503020204020204" charset="-122"/>
                <a:cs typeface="Times New Roman" panose="02020603050405020304" charset="0"/>
              </a:rPr>
              <a:t>,x</a:t>
            </a:r>
            <a:r>
              <a:rPr lang="en-US" altLang="zh-CN" sz="2000" baseline="-25000">
                <a:latin typeface="Times New Roman" panose="02020603050405020304" charset="0"/>
                <a:ea typeface="微软雅黑" panose="020B0503020204020204" charset="-122"/>
                <a:cs typeface="Times New Roman" panose="02020603050405020304" charset="0"/>
              </a:rPr>
              <a:t>2</a:t>
            </a:r>
            <a:r>
              <a:rPr lang="en-US" altLang="zh-CN" sz="2000">
                <a:latin typeface="Times New Roman" panose="02020603050405020304" charset="0"/>
                <a:ea typeface="微软雅黑" panose="020B0503020204020204" charset="-122"/>
                <a:cs typeface="Times New Roman" panose="02020603050405020304" charset="0"/>
              </a:rPr>
              <a:t>)</a:t>
            </a:r>
            <a:r>
              <a:rPr lang="zh-CN" altLang="en-US" sz="2000">
                <a:latin typeface="Times New Roman" panose="02020603050405020304" charset="0"/>
                <a:ea typeface="微软雅黑" panose="020B0503020204020204" charset="-122"/>
                <a:cs typeface="Times New Roman" panose="02020603050405020304" charset="0"/>
              </a:rPr>
              <a:t>代表特征空间坐标，</a:t>
            </a:r>
            <a:r>
              <a:rPr lang="en-US" altLang="zh-CN" sz="2000">
                <a:latin typeface="Times New Roman" panose="02020603050405020304" charset="0"/>
                <a:ea typeface="微软雅黑" panose="020B0503020204020204" charset="-122"/>
                <a:cs typeface="Times New Roman" panose="02020603050405020304" charset="0"/>
              </a:rPr>
              <a:t>g(x)</a:t>
            </a:r>
            <a:r>
              <a:rPr lang="zh-CN" altLang="en-US" sz="2000">
                <a:latin typeface="Times New Roman" panose="02020603050405020304" charset="0"/>
                <a:ea typeface="微软雅黑" panose="020B0503020204020204" charset="-122"/>
                <a:cs typeface="Times New Roman" panose="02020603050405020304" charset="0"/>
              </a:rPr>
              <a:t>代表这个位置的特征值，</a:t>
            </a:r>
            <a:r>
              <a:rPr lang="en-US" altLang="zh-CN" sz="2000" b="1" i="1">
                <a:latin typeface="Arial" panose="020B0604020202020204" pitchFamily="34" charset="0"/>
                <a:ea typeface="微软雅黑" panose="020B0503020204020204" charset="-122"/>
                <a:sym typeface="+mn-ea"/>
              </a:rPr>
              <a:t>K</a:t>
            </a:r>
            <a:r>
              <a:rPr lang="en-US" altLang="zh-CN" sz="2000" b="1">
                <a:latin typeface="Arial" panose="020B0604020202020204" pitchFamily="34" charset="0"/>
                <a:ea typeface="微软雅黑" panose="020B0503020204020204" charset="-122"/>
                <a:sym typeface="+mn-ea"/>
              </a:rPr>
              <a:t>-</a:t>
            </a:r>
            <a:r>
              <a:rPr lang="zh-CN" altLang="en-US" sz="2000" b="1">
                <a:latin typeface="微软雅黑" panose="020B0503020204020204" charset="-122"/>
                <a:ea typeface="微软雅黑" panose="020B0503020204020204" charset="-122"/>
                <a:sym typeface="+mn-ea"/>
              </a:rPr>
              <a:t>均值聚类</a:t>
            </a:r>
            <a:r>
              <a:rPr lang="zh-CN" altLang="en-US" sz="2000">
                <a:latin typeface="微软雅黑" panose="020B0503020204020204" charset="-122"/>
                <a:ea typeface="微软雅黑" panose="020B0503020204020204" charset="-122"/>
                <a:sym typeface="+mn-ea"/>
              </a:rPr>
              <a:t>是要最小化如下指标：</a:t>
            </a:r>
            <a:endParaRPr lang="en-US" altLang="zh-CN" sz="2000">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spcAft>
                <a:spcPts val="0"/>
              </a:spcAft>
            </a:pPr>
            <a:endParaRPr lang="en-US" altLang="zh-CN" sz="2400">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spcAft>
                <a:spcPts val="0"/>
              </a:spcAft>
            </a:pPr>
            <a:r>
              <a:rPr lang="en-US" altLang="zh-CN">
                <a:latin typeface="Times New Roman" panose="02020603050405020304" charset="0"/>
                <a:ea typeface="微软雅黑" panose="020B0503020204020204" charset="-122"/>
                <a:cs typeface="Times New Roman" panose="02020603050405020304" charset="0"/>
              </a:rPr>
              <a:t>(1)	</a:t>
            </a:r>
            <a:r>
              <a:rPr lang="zh-CN" altLang="en-US">
                <a:latin typeface="Times New Roman" panose="02020603050405020304" charset="0"/>
                <a:ea typeface="微软雅黑" panose="020B0503020204020204" charset="-122"/>
                <a:cs typeface="Times New Roman" panose="02020603050405020304" charset="0"/>
              </a:rPr>
              <a:t>（在特征空间）任意选</a:t>
            </a:r>
            <a:r>
              <a:rPr lang="en-US" altLang="zh-CN" i="1">
                <a:latin typeface="Times New Roman" panose="02020603050405020304" charset="0"/>
                <a:ea typeface="微软雅黑" panose="020B0503020204020204" charset="-122"/>
                <a:cs typeface="Times New Roman" panose="02020603050405020304" charset="0"/>
              </a:rPr>
              <a:t>K</a:t>
            </a:r>
            <a:r>
              <a:rPr lang="zh-CN" altLang="en-US">
                <a:latin typeface="Times New Roman" panose="02020603050405020304" charset="0"/>
                <a:ea typeface="微软雅黑" panose="020B0503020204020204" charset="-122"/>
                <a:cs typeface="Times New Roman" panose="02020603050405020304" charset="0"/>
              </a:rPr>
              <a:t>个初始类均值</a:t>
            </a:r>
            <a:endParaRPr lang="zh-CN" altLang="en-US">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spcAft>
                <a:spcPts val="0"/>
              </a:spcAft>
            </a:pPr>
            <a:r>
              <a:rPr lang="en-US" altLang="zh-CN">
                <a:latin typeface="Times New Roman" panose="02020603050405020304" charset="0"/>
                <a:ea typeface="微软雅黑" panose="020B0503020204020204" charset="-122"/>
                <a:cs typeface="Times New Roman" panose="02020603050405020304" charset="0"/>
              </a:rPr>
              <a:t>(2)	</a:t>
            </a:r>
            <a:r>
              <a:rPr lang="zh-CN" altLang="en-US">
                <a:latin typeface="Times New Roman" panose="02020603050405020304" charset="0"/>
                <a:ea typeface="微软雅黑" panose="020B0503020204020204" charset="-122"/>
                <a:cs typeface="Times New Roman" panose="02020603050405020304" charset="0"/>
              </a:rPr>
              <a:t>特征点赋类</a:t>
            </a:r>
            <a:endParaRPr lang="zh-CN" altLang="en-US">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pPr>
            <a:endParaRPr lang="zh-CN" altLang="en-US">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spcAft>
                <a:spcPts val="0"/>
              </a:spcAft>
            </a:pPr>
            <a:r>
              <a:rPr lang="en-US" altLang="zh-CN">
                <a:latin typeface="Times New Roman" panose="02020603050405020304" charset="0"/>
                <a:ea typeface="微软雅黑" panose="020B0503020204020204" charset="-122"/>
                <a:cs typeface="Times New Roman" panose="02020603050405020304" charset="0"/>
              </a:rPr>
              <a:t>(3)	</a:t>
            </a:r>
            <a:r>
              <a:rPr lang="zh-CN" altLang="en-US">
                <a:latin typeface="Times New Roman" panose="02020603050405020304" charset="0"/>
                <a:ea typeface="微软雅黑" panose="020B0503020204020204" charset="-122"/>
                <a:cs typeface="Times New Roman" panose="02020603050405020304" charset="0"/>
              </a:rPr>
              <a:t>更新类均值</a:t>
            </a:r>
            <a:endParaRPr lang="zh-CN" altLang="en-US">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pPr>
            <a:endParaRPr lang="zh-CN" altLang="en-US">
              <a:latin typeface="Times New Roman" panose="02020603050405020304" charset="0"/>
              <a:ea typeface="微软雅黑" panose="020B0503020204020204" charset="-122"/>
              <a:cs typeface="Times New Roman" panose="02020603050405020304" charset="0"/>
            </a:endParaRPr>
          </a:p>
          <a:p>
            <a:pPr defTabSz="719455">
              <a:lnSpc>
                <a:spcPct val="150000"/>
              </a:lnSpc>
              <a:spcBef>
                <a:spcPts val="600"/>
              </a:spcBef>
            </a:pPr>
            <a:r>
              <a:rPr lang="en-US" altLang="zh-CN">
                <a:latin typeface="Times New Roman" panose="02020603050405020304" charset="0"/>
                <a:ea typeface="微软雅黑" panose="020B0503020204020204" charset="-122"/>
                <a:cs typeface="Times New Roman" panose="02020603050405020304" charset="0"/>
              </a:rPr>
              <a:t>(4)	</a:t>
            </a:r>
            <a:r>
              <a:rPr lang="zh-CN" altLang="en-US">
                <a:latin typeface="Times New Roman" panose="02020603050405020304" charset="0"/>
                <a:ea typeface="微软雅黑" panose="020B0503020204020204" charset="-122"/>
                <a:cs typeface="Times New Roman" panose="02020603050405020304" charset="0"/>
              </a:rPr>
              <a:t>判断算法收敛</a:t>
            </a:r>
            <a:endParaRPr lang="zh-CN" altLang="en-US">
              <a:latin typeface="Times New Roman" panose="02020603050405020304" charset="0"/>
              <a:ea typeface="微软雅黑" panose="020B0503020204020204" charset="-122"/>
              <a:cs typeface="Times New Roman" panose="02020603050405020304" charset="0"/>
            </a:endParaRPr>
          </a:p>
        </p:txBody>
      </p:sp>
      <p:sp>
        <p:nvSpPr>
          <p:cNvPr id="335875" name="矩形 335875"/>
          <p:cNvSpPr/>
          <p:nvPr/>
        </p:nvSpPr>
        <p:spPr>
          <a:xfrm>
            <a:off x="2519363" y="1260475"/>
            <a:ext cx="1724025" cy="460375"/>
          </a:xfrm>
          <a:prstGeom prst="rect">
            <a:avLst/>
          </a:prstGeom>
          <a:noFill/>
          <a:ln w="9525">
            <a:noFill/>
          </a:ln>
        </p:spPr>
        <p:txBody>
          <a:bodyPr wrap="none" anchor="t" anchorCtr="0">
            <a:spAutoFit/>
          </a:bodyPr>
          <a:p>
            <a:pPr defTabSz="719455">
              <a:spcAft>
                <a:spcPts val="0"/>
              </a:spcAft>
            </a:pPr>
            <a:r>
              <a:rPr lang="en-US" altLang="zh-CN" sz="2400" b="1" i="1">
                <a:latin typeface="Arial" panose="020B0604020202020204" pitchFamily="34" charset="0"/>
                <a:ea typeface="微软雅黑" panose="020B0503020204020204" charset="-122"/>
              </a:rPr>
              <a:t>K</a:t>
            </a:r>
            <a:r>
              <a:rPr lang="en-US" altLang="zh-CN" sz="2400" b="1">
                <a:latin typeface="Arial" panose="020B0604020202020204" pitchFamily="34" charset="0"/>
                <a:ea typeface="微软雅黑" panose="020B0503020204020204" charset="-122"/>
              </a:rPr>
              <a:t>-</a:t>
            </a:r>
            <a:r>
              <a:rPr lang="zh-CN" altLang="en-US" sz="2400" b="1">
                <a:latin typeface="微软雅黑" panose="020B0503020204020204" charset="-122"/>
                <a:ea typeface="微软雅黑" panose="020B0503020204020204" charset="-122"/>
              </a:rPr>
              <a:t>均值聚类</a:t>
            </a:r>
            <a:endParaRPr lang="zh-CN" altLang="en-US" sz="2400" b="1">
              <a:latin typeface="微软雅黑" panose="020B0503020204020204" charset="-122"/>
              <a:ea typeface="微软雅黑" panose="020B0503020204020204" charset="-122"/>
            </a:endParaRPr>
          </a:p>
        </p:txBody>
      </p:sp>
      <p:pic>
        <p:nvPicPr>
          <p:cNvPr id="335877" name="图片 335877" descr="C:/Users/Administrator/AppData/Roaming/Yozo_Office/Temp/fc/1629533961615188032025/计算机视觉教程（第3版）PPT第05章.pptx/ppt/media/image48.png"/>
          <p:cNvPicPr/>
          <p:nvPr/>
        </p:nvPicPr>
        <p:blipFill>
          <a:blip r:embed="rId1"/>
          <a:srcRect l="1176" t="7143" r="1147" b="8"/>
          <a:stretch>
            <a:fillRect/>
          </a:stretch>
        </p:blipFill>
        <p:spPr>
          <a:xfrm>
            <a:off x="5208905" y="2515553"/>
            <a:ext cx="3455988" cy="1079500"/>
          </a:xfrm>
          <a:prstGeom prst="rect">
            <a:avLst/>
          </a:prstGeom>
          <a:noFill/>
          <a:ln w="9525">
            <a:noFill/>
          </a:ln>
        </p:spPr>
      </p:pic>
      <p:pic>
        <p:nvPicPr>
          <p:cNvPr id="335878" name="图片 335878" descr="C:/Users/Administrator/AppData/Roaming/Yozo_Office/Temp/fc/1629533961615188032025/计算机视觉教程（第3版）PPT第05章.pptx/ppt/media/image49.emf"/>
          <p:cNvPicPr/>
          <p:nvPr/>
        </p:nvPicPr>
        <p:blipFill>
          <a:blip r:embed="rId2"/>
          <a:stretch>
            <a:fillRect/>
          </a:stretch>
        </p:blipFill>
        <p:spPr>
          <a:xfrm>
            <a:off x="2980055" y="4306570"/>
            <a:ext cx="5400675" cy="649288"/>
          </a:xfrm>
          <a:prstGeom prst="rect">
            <a:avLst/>
          </a:prstGeom>
          <a:noFill/>
          <a:ln w="9525">
            <a:noFill/>
          </a:ln>
        </p:spPr>
      </p:pic>
      <p:pic>
        <p:nvPicPr>
          <p:cNvPr id="335879" name="图片 335879" descr="C:/Users/Administrator/AppData/Roaming/Yozo_Office/Temp/fc/1629533961615188032025/计算机视觉教程（第3版）PPT第05章.pptx/ppt/media/image50.emf"/>
          <p:cNvPicPr/>
          <p:nvPr/>
        </p:nvPicPr>
        <p:blipFill>
          <a:blip r:embed="rId3"/>
          <a:stretch>
            <a:fillRect/>
          </a:stretch>
        </p:blipFill>
        <p:spPr>
          <a:xfrm>
            <a:off x="3287395" y="5150803"/>
            <a:ext cx="2808288" cy="900112"/>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3" name="矩形 335873"/>
          <p:cNvSpPr/>
          <p:nvPr/>
        </p:nvSpPr>
        <p:spPr>
          <a:xfrm>
            <a:off x="1511300" y="323850"/>
            <a:ext cx="306070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4.5  </a:t>
            </a:r>
            <a:r>
              <a:rPr lang="zh-CN" altLang="en-US" sz="2800" b="1">
                <a:latin typeface="微软雅黑" panose="020B0503020204020204" charset="-122"/>
                <a:ea typeface="微软雅黑" panose="020B0503020204020204" charset="-122"/>
              </a:rPr>
              <a:t>特征空间聚类</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5874" name="矩形 335874"/>
          <p:cNvSpPr/>
          <p:nvPr/>
        </p:nvSpPr>
        <p:spPr>
          <a:xfrm>
            <a:off x="729615" y="1968500"/>
            <a:ext cx="10991215" cy="4453255"/>
          </a:xfrm>
          <a:prstGeom prst="rect">
            <a:avLst/>
          </a:prstGeom>
          <a:noFill/>
          <a:ln w="9525">
            <a:noFill/>
          </a:ln>
        </p:spPr>
        <p:txBody>
          <a:bodyPr wrap="square" anchor="t" anchorCtr="0">
            <a:noAutofit/>
          </a:bodyPr>
          <a:p>
            <a:pPr defTabSz="719455">
              <a:lnSpc>
                <a:spcPct val="150000"/>
              </a:lnSpc>
              <a:spcBef>
                <a:spcPts val="600"/>
              </a:spcBef>
              <a:spcAft>
                <a:spcPts val="0"/>
              </a:spcAft>
            </a:pPr>
            <a:r>
              <a:rPr sz="2000">
                <a:ea typeface="微软雅黑" panose="020B0503020204020204" charset="-122"/>
              </a:rPr>
              <a:t>K-均值聚类算法的工作流程大致如下：</a:t>
            </a:r>
            <a:endParaRPr sz="2000">
              <a:ea typeface="微软雅黑" panose="020B0503020204020204" charset="-122"/>
            </a:endParaRPr>
          </a:p>
          <a:p>
            <a:pPr defTabSz="719455">
              <a:lnSpc>
                <a:spcPct val="150000"/>
              </a:lnSpc>
              <a:spcBef>
                <a:spcPts val="600"/>
              </a:spcBef>
              <a:spcAft>
                <a:spcPts val="0"/>
              </a:spcAft>
            </a:pPr>
            <a:endParaRPr sz="2000">
              <a:ea typeface="微软雅黑" panose="020B0503020204020204" charset="-122"/>
            </a:endParaRPr>
          </a:p>
          <a:p>
            <a:pPr defTabSz="719455">
              <a:lnSpc>
                <a:spcPct val="150000"/>
              </a:lnSpc>
              <a:spcBef>
                <a:spcPts val="600"/>
              </a:spcBef>
              <a:spcAft>
                <a:spcPts val="0"/>
              </a:spcAft>
            </a:pPr>
            <a:r>
              <a:rPr lang="en-US" sz="2000">
                <a:solidFill>
                  <a:srgbClr val="FF0000"/>
                </a:solidFill>
                <a:ea typeface="微软雅黑" panose="020B0503020204020204" charset="-122"/>
              </a:rPr>
              <a:t>1.</a:t>
            </a:r>
            <a:r>
              <a:rPr sz="2000">
                <a:solidFill>
                  <a:srgbClr val="FF0000"/>
                </a:solidFill>
                <a:ea typeface="微软雅黑" panose="020B0503020204020204" charset="-122"/>
              </a:rPr>
              <a:t>初始化</a:t>
            </a:r>
            <a:r>
              <a:rPr sz="2000">
                <a:ea typeface="微软雅黑" panose="020B0503020204020204" charset="-122"/>
              </a:rPr>
              <a:t>：随机选择K个数据点作为初始的聚类中心。</a:t>
            </a:r>
            <a:endParaRPr sz="2000">
              <a:ea typeface="微软雅黑" panose="020B0503020204020204" charset="-122"/>
            </a:endParaRPr>
          </a:p>
          <a:p>
            <a:pPr defTabSz="719455">
              <a:lnSpc>
                <a:spcPct val="150000"/>
              </a:lnSpc>
              <a:spcBef>
                <a:spcPts val="600"/>
              </a:spcBef>
              <a:spcAft>
                <a:spcPts val="0"/>
              </a:spcAft>
            </a:pPr>
            <a:r>
              <a:rPr lang="en-US" sz="2000">
                <a:solidFill>
                  <a:srgbClr val="FF0000"/>
                </a:solidFill>
                <a:ea typeface="微软雅黑" panose="020B0503020204020204" charset="-122"/>
              </a:rPr>
              <a:t>2.</a:t>
            </a:r>
            <a:r>
              <a:rPr sz="2000">
                <a:solidFill>
                  <a:srgbClr val="FF0000"/>
                </a:solidFill>
                <a:ea typeface="微软雅黑" panose="020B0503020204020204" charset="-122"/>
              </a:rPr>
              <a:t>分配数据点到簇</a:t>
            </a:r>
            <a:r>
              <a:rPr sz="2000">
                <a:ea typeface="微软雅黑" panose="020B0503020204020204" charset="-122"/>
              </a:rPr>
              <a:t>：计算每个数据点到每个聚类中心的距离（通常是欧氏距离），然后将每个数据点分配到最近的聚类中心所对应的簇中。</a:t>
            </a:r>
            <a:endParaRPr sz="2000">
              <a:ea typeface="微软雅黑" panose="020B0503020204020204" charset="-122"/>
            </a:endParaRPr>
          </a:p>
          <a:p>
            <a:pPr defTabSz="719455">
              <a:lnSpc>
                <a:spcPct val="150000"/>
              </a:lnSpc>
              <a:spcBef>
                <a:spcPts val="600"/>
              </a:spcBef>
              <a:spcAft>
                <a:spcPts val="0"/>
              </a:spcAft>
            </a:pPr>
            <a:r>
              <a:rPr lang="en-US" sz="2000">
                <a:solidFill>
                  <a:srgbClr val="FF0000"/>
                </a:solidFill>
                <a:ea typeface="微软雅黑" panose="020B0503020204020204" charset="-122"/>
              </a:rPr>
              <a:t>3.</a:t>
            </a:r>
            <a:r>
              <a:rPr sz="2000">
                <a:solidFill>
                  <a:srgbClr val="FF0000"/>
                </a:solidFill>
                <a:ea typeface="微软雅黑" panose="020B0503020204020204" charset="-122"/>
              </a:rPr>
              <a:t>更新聚类中心</a:t>
            </a:r>
            <a:r>
              <a:rPr sz="2000">
                <a:ea typeface="微软雅黑" panose="020B0503020204020204" charset="-122"/>
              </a:rPr>
              <a:t>：对于每个簇，重新计算其聚类中心，通常取该簇内所有数据点的平均值。</a:t>
            </a:r>
            <a:endParaRPr sz="2000">
              <a:ea typeface="微软雅黑" panose="020B0503020204020204" charset="-122"/>
            </a:endParaRPr>
          </a:p>
          <a:p>
            <a:pPr defTabSz="719455">
              <a:lnSpc>
                <a:spcPct val="150000"/>
              </a:lnSpc>
              <a:spcBef>
                <a:spcPts val="600"/>
              </a:spcBef>
              <a:spcAft>
                <a:spcPts val="0"/>
              </a:spcAft>
            </a:pPr>
            <a:r>
              <a:rPr lang="en-US" sz="2000">
                <a:solidFill>
                  <a:srgbClr val="FF0000"/>
                </a:solidFill>
                <a:ea typeface="微软雅黑" panose="020B0503020204020204" charset="-122"/>
              </a:rPr>
              <a:t>4.</a:t>
            </a:r>
            <a:r>
              <a:rPr sz="2000">
                <a:solidFill>
                  <a:srgbClr val="FF0000"/>
                </a:solidFill>
                <a:ea typeface="微软雅黑" panose="020B0503020204020204" charset="-122"/>
              </a:rPr>
              <a:t>迭代</a:t>
            </a:r>
            <a:r>
              <a:rPr sz="2000">
                <a:ea typeface="微软雅黑" panose="020B0503020204020204" charset="-122"/>
              </a:rPr>
              <a:t>：重复步骤2和3，直到聚类中心不再发生显著变化，或者达到预定的迭代次数。</a:t>
            </a:r>
            <a:endParaRPr sz="2000">
              <a:ea typeface="微软雅黑" panose="020B0503020204020204" charset="-122"/>
            </a:endParaRPr>
          </a:p>
        </p:txBody>
      </p:sp>
      <p:sp>
        <p:nvSpPr>
          <p:cNvPr id="335875" name="矩形 335875"/>
          <p:cNvSpPr/>
          <p:nvPr/>
        </p:nvSpPr>
        <p:spPr>
          <a:xfrm>
            <a:off x="2519363" y="1260475"/>
            <a:ext cx="1724025" cy="460375"/>
          </a:xfrm>
          <a:prstGeom prst="rect">
            <a:avLst/>
          </a:prstGeom>
          <a:noFill/>
          <a:ln w="9525">
            <a:noFill/>
          </a:ln>
        </p:spPr>
        <p:txBody>
          <a:bodyPr wrap="none" anchor="t" anchorCtr="0">
            <a:spAutoFit/>
          </a:bodyPr>
          <a:p>
            <a:pPr defTabSz="719455">
              <a:spcAft>
                <a:spcPts val="0"/>
              </a:spcAft>
            </a:pPr>
            <a:r>
              <a:rPr lang="en-US" altLang="zh-CN" sz="2400" b="1" i="1">
                <a:latin typeface="Arial" panose="020B0604020202020204" pitchFamily="34" charset="0"/>
                <a:ea typeface="微软雅黑" panose="020B0503020204020204" charset="-122"/>
              </a:rPr>
              <a:t>K</a:t>
            </a:r>
            <a:r>
              <a:rPr lang="en-US" altLang="zh-CN" sz="2400" b="1">
                <a:latin typeface="Arial" panose="020B0604020202020204" pitchFamily="34" charset="0"/>
                <a:ea typeface="微软雅黑" panose="020B0503020204020204" charset="-122"/>
              </a:rPr>
              <a:t>-</a:t>
            </a:r>
            <a:r>
              <a:rPr lang="zh-CN" altLang="en-US" sz="2400" b="1">
                <a:latin typeface="微软雅黑" panose="020B0503020204020204" charset="-122"/>
                <a:ea typeface="微软雅黑" panose="020B0503020204020204" charset="-122"/>
              </a:rPr>
              <a:t>均值聚类</a:t>
            </a:r>
            <a:endParaRPr lang="zh-CN" altLang="en-US" sz="2400" b="1">
              <a:latin typeface="微软雅黑" panose="020B0503020204020204" charset="-122"/>
              <a:ea typeface="微软雅黑" panose="020B0503020204020204" charset="-122"/>
            </a:endParaRPr>
          </a:p>
        </p:txBody>
      </p:sp>
    </p:spTree>
  </p:cSld>
  <p:clrMapOvr>
    <a:masterClrMapping/>
  </p:clrMapOvr>
  <p:transition spd="slow"/>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6897" name="矩形 336897"/>
          <p:cNvSpPr/>
          <p:nvPr/>
        </p:nvSpPr>
        <p:spPr>
          <a:xfrm>
            <a:off x="1511300" y="323850"/>
            <a:ext cx="3060700" cy="430530"/>
          </a:xfrm>
          <a:prstGeom prst="rect">
            <a:avLst/>
          </a:prstGeom>
          <a:solidFill>
            <a:srgbClr val="EBEDEA"/>
          </a:solidFill>
          <a:ln w="9525">
            <a:noFill/>
          </a:ln>
        </p:spPr>
        <p:txBody>
          <a:bodyPr lIns="0" tIns="0" rIns="0" bIns="0" anchor="t" anchorCtr="0">
            <a:spAutoFit/>
          </a:bodyPr>
          <a:p>
            <a:pPr>
              <a:spcAft>
                <a:spcPts val="0"/>
              </a:spcAft>
            </a:pPr>
            <a:r>
              <a:rPr lang="en-US" altLang="zh-CN" sz="2800" b="1">
                <a:latin typeface="Arial" panose="020B0604020202020204" pitchFamily="34" charset="0"/>
                <a:ea typeface="微软雅黑" panose="020B0503020204020204" charset="-122"/>
                <a:sym typeface="Arial" panose="020B0604020202020204" pitchFamily="34" charset="0"/>
              </a:rPr>
              <a:t>4.5  </a:t>
            </a:r>
            <a:r>
              <a:rPr lang="zh-CN" altLang="en-US" sz="2800" b="1">
                <a:latin typeface="微软雅黑" panose="020B0503020204020204" charset="-122"/>
                <a:ea typeface="微软雅黑" panose="020B0503020204020204" charset="-122"/>
              </a:rPr>
              <a:t>特征空间聚类</a:t>
            </a:r>
            <a:endParaRPr lang="zh-CN" altLang="en-US" sz="2800" b="1">
              <a:latin typeface="微软雅黑" panose="020B0503020204020204" charset="-122"/>
              <a:ea typeface="微软雅黑" panose="020B0503020204020204" charset="-122"/>
              <a:sym typeface="Arial" panose="020B0604020202020204" pitchFamily="34" charset="0"/>
            </a:endParaRPr>
          </a:p>
        </p:txBody>
      </p:sp>
      <p:sp>
        <p:nvSpPr>
          <p:cNvPr id="336898" name="矩形 336898"/>
          <p:cNvSpPr/>
          <p:nvPr/>
        </p:nvSpPr>
        <p:spPr>
          <a:xfrm>
            <a:off x="2395220" y="1871980"/>
            <a:ext cx="8387080" cy="1198880"/>
          </a:xfrm>
          <a:prstGeom prst="rect">
            <a:avLst/>
          </a:prstGeom>
          <a:noFill/>
          <a:ln w="9525">
            <a:noFill/>
          </a:ln>
        </p:spPr>
        <p:txBody>
          <a:bodyPr wrap="square" anchor="t" anchorCtr="0">
            <a:spAutoFit/>
          </a:bodyPr>
          <a:p>
            <a:pPr algn="just">
              <a:lnSpc>
                <a:spcPct val="150000"/>
              </a:lnSpc>
              <a:spcAft>
                <a:spcPts val="0"/>
              </a:spcAft>
            </a:pPr>
            <a:r>
              <a:rPr lang="zh-CN" altLang="en-US" sz="2400">
                <a:latin typeface="微软雅黑" panose="020B0503020204020204" charset="-122"/>
                <a:ea typeface="微软雅黑" panose="020B0503020204020204" charset="-122"/>
              </a:rPr>
              <a:t>一种非参数迭代技术，</a:t>
            </a:r>
            <a:r>
              <a:rPr lang="zh-CN" altLang="en-US" sz="2400" b="1">
                <a:latin typeface="微软雅黑" panose="020B0503020204020204" charset="-122"/>
                <a:ea typeface="微软雅黑" panose="020B0503020204020204" charset="-122"/>
              </a:rPr>
              <a:t>均移</a:t>
            </a:r>
            <a:r>
              <a:rPr lang="zh-CN" altLang="en-US" sz="2400">
                <a:latin typeface="微软雅黑" panose="020B0503020204020204" charset="-122"/>
                <a:ea typeface="微软雅黑" panose="020B0503020204020204" charset="-122"/>
              </a:rPr>
              <a:t>指偏移的均值向量</a:t>
            </a:r>
            <a:endParaRPr lang="zh-CN" altLang="en-US" sz="2400">
              <a:latin typeface="微软雅黑" panose="020B0503020204020204" charset="-122"/>
              <a:ea typeface="微软雅黑" panose="020B0503020204020204" charset="-122"/>
            </a:endParaRPr>
          </a:p>
          <a:p>
            <a:pPr algn="just">
              <a:lnSpc>
                <a:spcPct val="150000"/>
              </a:lnSpc>
              <a:spcBef>
                <a:spcPts val="0"/>
              </a:spcBef>
            </a:pPr>
            <a:r>
              <a:rPr lang="zh-CN" altLang="en-US" sz="2400">
                <a:latin typeface="微软雅黑" panose="020B0503020204020204" charset="-122"/>
                <a:ea typeface="微软雅黑" panose="020B0503020204020204" charset="-122"/>
              </a:rPr>
              <a:t>通过迭代计算密度核的均值来聚类的中心</a:t>
            </a:r>
            <a:endParaRPr lang="zh-CN" altLang="en-US" sz="2400">
              <a:latin typeface="微软雅黑" panose="020B0503020204020204" charset="-122"/>
              <a:ea typeface="微软雅黑" panose="020B0503020204020204" charset="-122"/>
            </a:endParaRPr>
          </a:p>
        </p:txBody>
      </p:sp>
      <p:sp>
        <p:nvSpPr>
          <p:cNvPr id="336899" name="矩形 336899"/>
          <p:cNvSpPr/>
          <p:nvPr/>
        </p:nvSpPr>
        <p:spPr>
          <a:xfrm>
            <a:off x="2519363" y="1260475"/>
            <a:ext cx="2621280" cy="460375"/>
          </a:xfrm>
          <a:prstGeom prst="rect">
            <a:avLst/>
          </a:prstGeom>
          <a:noFill/>
          <a:ln w="9525">
            <a:noFill/>
          </a:ln>
        </p:spPr>
        <p:txBody>
          <a:bodyPr wrap="none" anchor="t" anchorCtr="0">
            <a:spAutoFit/>
          </a:bodyPr>
          <a:p>
            <a:pPr defTabSz="719455">
              <a:spcAft>
                <a:spcPts val="0"/>
              </a:spcAft>
            </a:pPr>
            <a:r>
              <a:rPr lang="zh-CN" altLang="en-US" sz="2400" b="1">
                <a:latin typeface="微软雅黑" panose="020B0503020204020204" charset="-122"/>
                <a:ea typeface="微软雅黑" panose="020B0503020204020204" charset="-122"/>
              </a:rPr>
              <a:t>均移确定聚类中心</a:t>
            </a:r>
            <a:endParaRPr lang="zh-CN" altLang="en-US" sz="2400" b="1">
              <a:latin typeface="微软雅黑" panose="020B0503020204020204" charset="-122"/>
              <a:ea typeface="微软雅黑" panose="020B0503020204020204" charset="-122"/>
            </a:endParaRPr>
          </a:p>
        </p:txBody>
      </p:sp>
      <p:pic>
        <p:nvPicPr>
          <p:cNvPr id="336900" name="图片 336900" descr="C:/Users/Administrator/AppData/Roaming/Yozo_Office/Temp/fc/1629533961615188032025/计算机视觉教程（第3版）PPT第05章.pptx/ppt/media/image51.emf"/>
          <p:cNvPicPr/>
          <p:nvPr/>
        </p:nvPicPr>
        <p:blipFill>
          <a:blip r:embed="rId1"/>
          <a:srcRect l="420" r="856"/>
          <a:stretch>
            <a:fillRect/>
          </a:stretch>
        </p:blipFill>
        <p:spPr>
          <a:xfrm>
            <a:off x="1439863" y="3311525"/>
            <a:ext cx="10260012" cy="2952750"/>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1" name="任意多边形 337921"/>
          <p:cNvSpPr/>
          <p:nvPr/>
        </p:nvSpPr>
        <p:spPr>
          <a:xfrm>
            <a:off x="7951788" y="2236788"/>
            <a:ext cx="4240212" cy="2900362"/>
          </a:xfrm>
          <a:custGeom>
            <a:avLst/>
            <a:gdLst/>
            <a:ahLst/>
            <a:cxnLst/>
            <a:pathLst>
              <a:path w="6676" h="4567">
                <a:moveTo>
                  <a:pt x="1299" y="0"/>
                </a:moveTo>
                <a:lnTo>
                  <a:pt x="6676" y="0"/>
                </a:lnTo>
                <a:lnTo>
                  <a:pt x="6676" y="4567"/>
                </a:lnTo>
                <a:lnTo>
                  <a:pt x="1842" y="4567"/>
                </a:lnTo>
                <a:lnTo>
                  <a:pt x="0" y="2346"/>
                </a:lnTo>
                <a:lnTo>
                  <a:pt x="1299" y="0"/>
                </a:lnTo>
                <a:close/>
              </a:path>
            </a:pathLst>
          </a:custGeom>
          <a:blipFill rotWithShape="1">
            <a:blip r:embed="rId1"/>
            <a:stretch>
              <a:fillRect/>
            </a:stretch>
          </a:blipFill>
          <a:ln w="12700">
            <a:noFill/>
          </a:ln>
        </p:spPr>
        <p:txBody>
          <a:bodyPr/>
          <a:p>
            <a:endParaRPr lang="zh-CN" altLang="en-US"/>
          </a:p>
        </p:txBody>
      </p:sp>
      <p:sp>
        <p:nvSpPr>
          <p:cNvPr id="337922" name="任意多边形 337922"/>
          <p:cNvSpPr/>
          <p:nvPr/>
        </p:nvSpPr>
        <p:spPr>
          <a:xfrm>
            <a:off x="7939088" y="2236788"/>
            <a:ext cx="1757362" cy="2900362"/>
          </a:xfrm>
          <a:custGeom>
            <a:avLst/>
            <a:gdLst/>
            <a:ahLst/>
            <a:cxnLst/>
            <a:pathLst>
              <a:path w="2765" h="4567">
                <a:moveTo>
                  <a:pt x="1299" y="0"/>
                </a:moveTo>
                <a:lnTo>
                  <a:pt x="2234" y="0"/>
                </a:lnTo>
                <a:lnTo>
                  <a:pt x="929" y="2355"/>
                </a:lnTo>
                <a:lnTo>
                  <a:pt x="2765" y="4567"/>
                </a:lnTo>
                <a:lnTo>
                  <a:pt x="1842" y="4567"/>
                </a:lnTo>
                <a:lnTo>
                  <a:pt x="0" y="2346"/>
                </a:lnTo>
                <a:lnTo>
                  <a:pt x="1299" y="0"/>
                </a:lnTo>
                <a:close/>
              </a:path>
            </a:pathLst>
          </a:custGeom>
          <a:solidFill>
            <a:srgbClr val="E38279"/>
          </a:solidFill>
          <a:ln w="12700">
            <a:noFill/>
          </a:ln>
        </p:spPr>
        <p:txBody>
          <a:bodyPr/>
          <a:p>
            <a:endParaRPr lang="zh-CN" altLang="en-US"/>
          </a:p>
        </p:txBody>
      </p:sp>
      <p:sp>
        <p:nvSpPr>
          <p:cNvPr id="337923" name="任意多边形 337923"/>
          <p:cNvSpPr/>
          <p:nvPr/>
        </p:nvSpPr>
        <p:spPr>
          <a:xfrm>
            <a:off x="0" y="3536950"/>
            <a:ext cx="8866188" cy="1600200"/>
          </a:xfrm>
          <a:custGeom>
            <a:avLst/>
            <a:gdLst/>
            <a:ahLst/>
            <a:cxnLst/>
            <a:pathLst>
              <a:path w="13963" h="2519">
                <a:moveTo>
                  <a:pt x="0" y="0"/>
                </a:moveTo>
                <a:lnTo>
                  <a:pt x="11872" y="0"/>
                </a:lnTo>
                <a:lnTo>
                  <a:pt x="13963" y="2519"/>
                </a:lnTo>
                <a:lnTo>
                  <a:pt x="0" y="2519"/>
                </a:lnTo>
                <a:lnTo>
                  <a:pt x="0" y="0"/>
                </a:lnTo>
                <a:close/>
              </a:path>
            </a:pathLst>
          </a:custGeom>
          <a:solidFill>
            <a:srgbClr val="68746D"/>
          </a:solidFill>
          <a:ln w="12700">
            <a:noFill/>
          </a:ln>
        </p:spPr>
        <p:txBody>
          <a:bodyPr/>
          <a:p>
            <a:endParaRPr lang="zh-CN" altLang="en-US"/>
          </a:p>
        </p:txBody>
      </p:sp>
      <p:sp>
        <p:nvSpPr>
          <p:cNvPr id="337924" name="任意多边形 337924"/>
          <p:cNvSpPr/>
          <p:nvPr/>
        </p:nvSpPr>
        <p:spPr>
          <a:xfrm>
            <a:off x="0" y="1792288"/>
            <a:ext cx="12192000" cy="1573212"/>
          </a:xfrm>
          <a:custGeom>
            <a:avLst/>
            <a:gdLst/>
            <a:ahLst/>
            <a:cxnLst/>
            <a:pathLst>
              <a:path w="19199" h="2479">
                <a:moveTo>
                  <a:pt x="13271" y="0"/>
                </a:moveTo>
                <a:lnTo>
                  <a:pt x="19199" y="0"/>
                </a:lnTo>
                <a:lnTo>
                  <a:pt x="19199" y="478"/>
                </a:lnTo>
                <a:lnTo>
                  <a:pt x="13621" y="478"/>
                </a:lnTo>
                <a:lnTo>
                  <a:pt x="12512" y="2479"/>
                </a:lnTo>
                <a:lnTo>
                  <a:pt x="11898" y="2479"/>
                </a:lnTo>
                <a:lnTo>
                  <a:pt x="11898" y="2479"/>
                </a:lnTo>
                <a:lnTo>
                  <a:pt x="1439" y="2479"/>
                </a:lnTo>
                <a:lnTo>
                  <a:pt x="292" y="2479"/>
                </a:lnTo>
                <a:lnTo>
                  <a:pt x="0" y="2479"/>
                </a:lnTo>
                <a:lnTo>
                  <a:pt x="0" y="1959"/>
                </a:lnTo>
                <a:lnTo>
                  <a:pt x="1439" y="1959"/>
                </a:lnTo>
                <a:lnTo>
                  <a:pt x="1439" y="1962"/>
                </a:lnTo>
                <a:lnTo>
                  <a:pt x="12184" y="1962"/>
                </a:lnTo>
                <a:lnTo>
                  <a:pt x="13271" y="0"/>
                </a:lnTo>
                <a:close/>
              </a:path>
            </a:pathLst>
          </a:custGeom>
          <a:solidFill>
            <a:srgbClr val="BC8268"/>
          </a:solidFill>
          <a:ln w="12700">
            <a:noFill/>
          </a:ln>
        </p:spPr>
        <p:txBody>
          <a:bodyPr/>
          <a:p>
            <a:endParaRPr lang="zh-CN" altLang="en-US"/>
          </a:p>
        </p:txBody>
      </p:sp>
      <p:sp>
        <p:nvSpPr>
          <p:cNvPr id="337925" name="矩形 337925"/>
          <p:cNvSpPr/>
          <p:nvPr/>
        </p:nvSpPr>
        <p:spPr>
          <a:xfrm>
            <a:off x="423863" y="2025650"/>
            <a:ext cx="7092950" cy="829945"/>
          </a:xfrm>
          <a:prstGeom prst="rect">
            <a:avLst/>
          </a:prstGeom>
          <a:noFill/>
          <a:ln w="9525">
            <a:noFill/>
          </a:ln>
        </p:spPr>
        <p:txBody>
          <a:bodyPr anchor="t" anchorCtr="0">
            <a:spAutoFit/>
          </a:bodyPr>
          <a:p>
            <a:pPr algn="dist">
              <a:spcAft>
                <a:spcPts val="0"/>
              </a:spcAft>
            </a:pPr>
            <a:r>
              <a:rPr lang="zh-CN" altLang="en-US" sz="4800" b="1">
                <a:latin typeface="Arial" panose="020B0604020202020204" pitchFamily="34" charset="0"/>
                <a:ea typeface="微软雅黑" panose="020B0503020204020204" charset="-122"/>
                <a:sym typeface="Arial" panose="020B0604020202020204" pitchFamily="34" charset="0"/>
              </a:rPr>
              <a:t>谢谢观看，祝学习进步！</a:t>
            </a:r>
            <a:endParaRPr lang="zh-CN" altLang="en-US" sz="5400" b="1">
              <a:latin typeface="Arial" panose="020B0604020202020204" pitchFamily="34" charset="0"/>
              <a:ea typeface="微软雅黑" panose="020B0503020204020204" charset="-122"/>
              <a:sym typeface="Arial" panose="020B0604020202020204" pitchFamily="34" charset="0"/>
            </a:endParaRPr>
          </a:p>
        </p:txBody>
      </p:sp>
      <p:sp>
        <p:nvSpPr>
          <p:cNvPr id="337926" name="矩形 337926"/>
          <p:cNvSpPr/>
          <p:nvPr/>
        </p:nvSpPr>
        <p:spPr>
          <a:xfrm>
            <a:off x="0" y="6089650"/>
            <a:ext cx="12192000" cy="777875"/>
          </a:xfrm>
          <a:prstGeom prst="rect">
            <a:avLst/>
          </a:prstGeom>
          <a:solidFill>
            <a:srgbClr val="EBEDEA"/>
          </a:solidFill>
          <a:ln w="12700">
            <a:noFill/>
          </a:ln>
        </p:spPr>
        <p:txBody>
          <a:bodyPr anchor="t" anchorCtr="0"/>
          <a:p>
            <a:endParaRPr lang="zh-CN" altLang="en-US">
              <a:latin typeface="Times New Roman" panose="02020603050405020304"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RAINPROBLEM" val="ProblemBody"/>
</p:tagLst>
</file>

<file path=ppt/tags/tag112.xml><?xml version="1.0" encoding="utf-8"?>
<p:tagLst xmlns:p="http://schemas.openxmlformats.org/presentationml/2006/main">
  <p:tag name="RAINPROBLEM" val="ProblemSubmit"/>
  <p:tag name="RAINPROBLEMTYPE" val="ShortAnswer"/>
</p:tagLst>
</file>

<file path=ppt/tags/tag113.xml><?xml version="1.0" encoding="utf-8"?>
<p:tagLst xmlns:p="http://schemas.openxmlformats.org/presentationml/2006/main">
  <p:tag name="RAINPROBLEMTYPE" val="ProblemTypeMarker"/>
</p:tagLst>
</file>

<file path=ppt/tags/tag114.xml><?xml version="1.0" encoding="utf-8"?>
<p:tagLst xmlns:p="http://schemas.openxmlformats.org/presentationml/2006/main">
  <p:tag name="RAINPROBLEMTYPE" val="ProblemTypeMarker"/>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TYPE" val="ProblemTypeMarker"/>
</p:tagLst>
</file>

<file path=ppt/tags/tag118.xml><?xml version="1.0" encoding="utf-8"?>
<p:tagLst xmlns:p="http://schemas.openxmlformats.org/presentationml/2006/main">
  <p:tag name="RAINPROBLEM" val="ProblemSetting"/>
  <p:tag name="RAINPROBLEMTYPE" val="ShortAnswer"/>
</p:tagLst>
</file>

<file path=ppt/tags/tag119.xml><?xml version="1.0" encoding="utf-8"?>
<p:tagLst xmlns:p="http://schemas.openxmlformats.org/presentationml/2006/main">
  <p:tag name="RAINPROBLEM" val="ShortAnswer"/>
  <p:tag name="PROBLEMSCORE" val="10.0"/>
  <p:tag name="PROBLEMPROVIDER" val="AI"/>
  <p:tag name="PROBLEMVOICEALLOWED" val="False"/>
</p:tagLst>
</file>

<file path=ppt/tags/tag120.xml><?xml version="1.0" encoding="utf-8"?>
<p:tagLst xmlns:p="http://schemas.openxmlformats.org/presentationml/2006/main">
  <p:tag name="RAINPROBLEM" val="ProblemBody"/>
</p:tagLst>
</file>

<file path=ppt/tags/tag121.xml><?xml version="1.0" encoding="utf-8"?>
<p:tagLst xmlns:p="http://schemas.openxmlformats.org/presentationml/2006/main">
  <p:tag name="RAINPROBLEM" val="ProblemItem"/>
</p:tagLst>
</file>

<file path=ppt/tags/tag122.xml><?xml version="1.0" encoding="utf-8"?>
<p:tagLst xmlns:p="http://schemas.openxmlformats.org/presentationml/2006/main">
  <p:tag name="RAINPROBLEM" val="ProblemBullet"/>
  <p:tag name="RAINPROBLEMTYPE" val="MultipleChoice"/>
  <p:tag name="RAINBULLET" val="Correct"/>
</p:tagLst>
</file>

<file path=ppt/tags/tag123.xml><?xml version="1.0" encoding="utf-8"?>
<p:tagLst xmlns:p="http://schemas.openxmlformats.org/presentationml/2006/main">
  <p:tag name="RAINPROBLEM" val="ProblemItem"/>
</p:tagLst>
</file>

<file path=ppt/tags/tag124.xml><?xml version="1.0" encoding="utf-8"?>
<p:tagLst xmlns:p="http://schemas.openxmlformats.org/presentationml/2006/main">
  <p:tag name="RAINPROBLEM" val="ProblemBullet"/>
  <p:tag name="RAINPROBLEMTYPE" val="MultipleChoice"/>
  <p:tag name="RAINBULLET" val="Wrong"/>
</p:tagLst>
</file>

<file path=ppt/tags/tag125.xml><?xml version="1.0" encoding="utf-8"?>
<p:tagLst xmlns:p="http://schemas.openxmlformats.org/presentationml/2006/main">
  <p:tag name="RAINPROBLEM" val="ProblemItem"/>
</p:tagLst>
</file>

<file path=ppt/tags/tag126.xml><?xml version="1.0" encoding="utf-8"?>
<p:tagLst xmlns:p="http://schemas.openxmlformats.org/presentationml/2006/main">
  <p:tag name="RAINPROBLEM" val="ProblemBullet"/>
  <p:tag name="RAINPROBLEMTYPE" val="MultipleChoice"/>
  <p:tag name="RAINBULLET" val="Wrong"/>
</p:tagLst>
</file>

<file path=ppt/tags/tag127.xml><?xml version="1.0" encoding="utf-8"?>
<p:tagLst xmlns:p="http://schemas.openxmlformats.org/presentationml/2006/main">
  <p:tag name="RAINPROBLEM" val="ProblemItem"/>
</p:tagLst>
</file>

<file path=ppt/tags/tag128.xml><?xml version="1.0" encoding="utf-8"?>
<p:tagLst xmlns:p="http://schemas.openxmlformats.org/presentationml/2006/main">
  <p:tag name="RAINPROBLEM" val="ProblemBullet"/>
  <p:tag name="RAINPROBLEMTYPE" val="MultipleChoice"/>
  <p:tag name="RAINBULLET" val="Wrong"/>
</p:tagLst>
</file>

<file path=ppt/tags/tag129.xml><?xml version="1.0" encoding="utf-8"?>
<p:tagLst xmlns:p="http://schemas.openxmlformats.org/presentationml/2006/main">
  <p:tag name="RAINPROBLEM" val="ProblemSubmit"/>
  <p:tag name="RAINPROBLEMTYPE" val="MultipleChoice"/>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TYPE" val="ProblemTypeMarker"/>
</p:tagLst>
</file>

<file path=ppt/tags/tag132.xml><?xml version="1.0" encoding="utf-8"?>
<p:tagLst xmlns:p="http://schemas.openxmlformats.org/presentationml/2006/main">
  <p:tag name="RAINPROBLEMTYPE" val="ProblemTypeMarker"/>
</p:tagLst>
</file>

<file path=ppt/tags/tag133.xml><?xml version="1.0" encoding="utf-8"?>
<p:tagLst xmlns:p="http://schemas.openxmlformats.org/presentationml/2006/main">
  <p:tag name="RAINPROBLEMTYPE" val="ProblemTypeMarker"/>
</p:tagLst>
</file>

<file path=ppt/tags/tag134.xml><?xml version="1.0" encoding="utf-8"?>
<p:tagLst xmlns:p="http://schemas.openxmlformats.org/presentationml/2006/main">
  <p:tag name="RAINPROBLEMTYPE" val="ProblemTypeMarker"/>
</p:tagLst>
</file>

<file path=ppt/tags/tag135.xml><?xml version="1.0" encoding="utf-8"?>
<p:tagLst xmlns:p="http://schemas.openxmlformats.org/presentationml/2006/main">
  <p:tag name="RAINPROBLEM" val="ProblemSetting"/>
  <p:tag name="RAINPROBLEMTYPE" val="MultipleChoice"/>
</p:tagLst>
</file>

<file path=ppt/tags/tag136.xml><?xml version="1.0" encoding="utf-8"?>
<p:tagLst xmlns:p="http://schemas.openxmlformats.org/presentationml/2006/main">
  <p:tag name="RAINPROBLEM" val="MultipleChoice"/>
  <p:tag name="PROBLEMSCORE" val="1.0"/>
  <p:tag name="PROBLEMPROVIDER" val="AI"/>
</p:tagLst>
</file>

<file path=ppt/tags/tag137.xml><?xml version="1.0" encoding="utf-8"?>
<p:tagLst xmlns:p="http://schemas.openxmlformats.org/presentationml/2006/main">
  <p:tag name="RAINPROBLEM" val="ProblemBody"/>
</p:tagLst>
</file>

<file path=ppt/tags/tag138.xml><?xml version="1.0" encoding="utf-8"?>
<p:tagLst xmlns:p="http://schemas.openxmlformats.org/presentationml/2006/main">
  <p:tag name="RAINPROBLEM" val="ProblemSubmit"/>
  <p:tag name="RAINPROBLEMTYPE" val="FillBlank"/>
</p:tagLst>
</file>

<file path=ppt/tags/tag139.xml><?xml version="1.0" encoding="utf-8"?>
<p:tagLst xmlns:p="http://schemas.openxmlformats.org/presentationml/2006/main">
  <p:tag name="RAINPROBLEMTYPE" val="ProblemTypeMarker"/>
</p:tagLst>
</file>

<file path=ppt/tags/tag140.xml><?xml version="1.0" encoding="utf-8"?>
<p:tagLst xmlns:p="http://schemas.openxmlformats.org/presentationml/2006/main">
  <p:tag name="RAINPROBLEMTYPE" val="ProblemTypeMarker"/>
</p:tagLst>
</file>

<file path=ppt/tags/tag141.xml><?xml version="1.0" encoding="utf-8"?>
<p:tagLst xmlns:p="http://schemas.openxmlformats.org/presentationml/2006/main">
  <p:tag name="RAINPROBLEMTYPE" val="ProblemTypeMarker"/>
</p:tagLst>
</file>

<file path=ppt/tags/tag142.xml><?xml version="1.0" encoding="utf-8"?>
<p:tagLst xmlns:p="http://schemas.openxmlformats.org/presentationml/2006/main">
  <p:tag name="RAINPROBLEMTYPE" val="ProblemTypeMarker"/>
</p:tagLst>
</file>

<file path=ppt/tags/tag143.xml><?xml version="1.0" encoding="utf-8"?>
<p:tagLst xmlns:p="http://schemas.openxmlformats.org/presentationml/2006/main">
  <p:tag name="RAINPROBLEMTYPE" val="ProblemTypeMarker"/>
</p:tagLst>
</file>

<file path=ppt/tags/tag144.xml><?xml version="1.0" encoding="utf-8"?>
<p:tagLst xmlns:p="http://schemas.openxmlformats.org/presentationml/2006/main">
  <p:tag name="RAINPROBLEM" val="ProblemSetting"/>
  <p:tag name="RAINPROBLEMTYPE" val="FillBlank"/>
</p:tagLst>
</file>

<file path=ppt/tags/tag145.xml><?xml version="1.0" encoding="utf-8"?>
<p:tagLst xmlns:p="http://schemas.openxmlformats.org/presentationml/2006/main">
  <p:tag name="RAINPROBLEM" val="FillBlank"/>
  <p:tag name="PROBLEMSCORE" val="100.0"/>
  <p:tag name="PROBLEMBLANK" val="[{&quot;num&quot;:1,&quot;caseSensitive&quot;:false,&quot;fuzzyMatch&quot;:false,&quot;Score&quot;:20.0,&quot;answers&quot;:[&quot;0.8&quot;]},{&quot;num&quot;:2,&quot;caseSensitive&quot;:false,&quot;fuzzyMatch&quot;:false,&quot;Score&quot;:20.0,&quot;answers&quot;:[&quot;0.8&quot;]},{&quot;num&quot;:3,&quot;caseSensitive&quot;:false,&quot;fuzzyMatch&quot;:false,&quot;Score&quot;:20.0,&quot;answers&quot;:[&quot;0.8&quot;]},{&quot;num&quot;:4,&quot;caseSensitive&quot;:false,&quot;fuzzyMatch&quot;:false,&quot;Score&quot;:20.0,&quot;answers&quot;:[&quot;0.8&quot;]},{&quot;num&quot;:5,&quot;caseSensitive&quot;:false,&quot;fuzzyMatch&quot;:false,&quot;Score&quot;:20.0,&quot;answers&quot;:[&quot;0.8&quot;]}]"/>
  <p:tag name="PROBLEMBLANKKEYWORD" val="填空"/>
  <p:tag name="PROBLEMBLANKORDER" val="true"/>
</p:tagLst>
</file>

<file path=ppt/tags/tag146.xml><?xml version="1.0" encoding="utf-8"?>
<p:tagLst xmlns:p="http://schemas.openxmlformats.org/presentationml/2006/main">
  <p:tag name="RAINPROBLEM" val="ProblemBody"/>
</p:tagLst>
</file>

<file path=ppt/tags/tag147.xml><?xml version="1.0" encoding="utf-8"?>
<p:tagLst xmlns:p="http://schemas.openxmlformats.org/presentationml/2006/main">
  <p:tag name="RAINPROBLEM" val="ProblemSubmit"/>
  <p:tag name="RAINPROBLEMTYPE" val="ShortAnswer"/>
</p:tagLst>
</file>

<file path=ppt/tags/tag148.xml><?xml version="1.0" encoding="utf-8"?>
<p:tagLst xmlns:p="http://schemas.openxmlformats.org/presentationml/2006/main">
  <p:tag name="TABLE_ENDDRAG_ORIGIN_RECT" val="340*294"/>
  <p:tag name="TABLE_ENDDRAG_RECT" val="174*211*340*294"/>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TABLE_ENDDRAG_ORIGIN_RECT" val="340*294"/>
  <p:tag name="TABLE_ENDDRAG_RECT" val="174*211*340*294"/>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RAINPROBLEMTYPE" val="ProblemTypeMarker"/>
</p:tagLst>
</file>

<file path=ppt/tags/tag187.xml><?xml version="1.0" encoding="utf-8"?>
<p:tagLst xmlns:p="http://schemas.openxmlformats.org/presentationml/2006/main">
  <p:tag name="RAINPROBLEMTYPE" val="ProblemTypeMarker"/>
</p:tagLst>
</file>

<file path=ppt/tags/tag188.xml><?xml version="1.0" encoding="utf-8"?>
<p:tagLst xmlns:p="http://schemas.openxmlformats.org/presentationml/2006/main">
  <p:tag name="RAINPROBLEMTYPE" val="ProblemTypeMarker"/>
</p:tagLst>
</file>

<file path=ppt/tags/tag189.xml><?xml version="1.0" encoding="utf-8"?>
<p:tagLst xmlns:p="http://schemas.openxmlformats.org/presentationml/2006/main">
  <p:tag name="RAINPROBLEMTYPE" val="ProblemTypeMarker"/>
</p:tagLst>
</file>

<file path=ppt/tags/tag190.xml><?xml version="1.0" encoding="utf-8"?>
<p:tagLst xmlns:p="http://schemas.openxmlformats.org/presentationml/2006/main">
  <p:tag name="RAINPROBLEMTYPE" val="ProblemTypeMarker"/>
</p:tagLst>
</file>

<file path=ppt/tags/tag191.xml><?xml version="1.0" encoding="utf-8"?>
<p:tagLst xmlns:p="http://schemas.openxmlformats.org/presentationml/2006/main">
  <p:tag name="RAINPROBLEM" val="ProblemSetting"/>
  <p:tag name="RAINPROBLEMTYPE" val="ShortAnswer"/>
</p:tagLst>
</file>

<file path=ppt/tags/tag192.xml><?xml version="1.0" encoding="utf-8"?>
<p:tagLst xmlns:p="http://schemas.openxmlformats.org/presentationml/2006/main">
  <p:tag name="RAINPROBLEM" val="ShortAnswer"/>
  <p:tag name="PROBLEMSCORE" val="100.0"/>
  <p:tag name="PROBLEMVOICEALLOWED" val="False"/>
</p:tagLst>
</file>

<file path=ppt/tags/tag193.xml><?xml version="1.0" encoding="utf-8"?>
<p:tagLst xmlns:p="http://schemas.openxmlformats.org/presentationml/2006/main">
  <p:tag name="TABLE_ENDDRAG_ORIGIN_RECT" val="340*294"/>
  <p:tag name="TABLE_ENDDRAG_RECT" val="174*211*340*294"/>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TABLE_ENDDRAG_ORIGIN_RECT" val="340*294"/>
  <p:tag name="TABLE_ENDDRAG_RECT" val="174*211*340*294"/>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commondata" val="eyJoZGlkIjoiYjJjYzgzOGY4YjYyMmYyZjZlMTZhMTcxYjk4ODY5MzY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18130</Words>
  <Application>WPS 演示</Application>
  <PresentationFormat>宽屏</PresentationFormat>
  <Paragraphs>1405</Paragraphs>
  <Slides>119</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36</vt:i4>
      </vt:variant>
      <vt:variant>
        <vt:lpstr>幻灯片标题</vt:lpstr>
      </vt:variant>
      <vt:variant>
        <vt:i4>119</vt:i4>
      </vt:variant>
    </vt:vector>
  </HeadingPairs>
  <TitlesOfParts>
    <vt:vector size="169" baseType="lpstr">
      <vt:lpstr>Arial</vt:lpstr>
      <vt:lpstr>宋体</vt:lpstr>
      <vt:lpstr>Wingdings</vt:lpstr>
      <vt:lpstr>Wingdings</vt:lpstr>
      <vt:lpstr>微软雅黑</vt:lpstr>
      <vt:lpstr>Arial Unicode MS</vt:lpstr>
      <vt:lpstr>Calibri</vt:lpstr>
      <vt:lpstr>Times New Roman</vt:lpstr>
      <vt:lpstr>Cambria Math</vt:lpstr>
      <vt:lpstr>Symbol</vt:lpstr>
      <vt:lpstr>MS Mincho</vt:lpstr>
      <vt:lpstr>Segoe Print</vt:lpstr>
      <vt:lpstr>黑体</vt:lpstr>
      <vt:lpstr>WPS</vt:lpstr>
      <vt:lpstr>Equation.KSEE3</vt:lpstr>
      <vt:lpstr>Equation.KSEE3</vt:lpstr>
      <vt:lpstr>Equation.KSEE3</vt:lpstr>
      <vt:lpstr>Equation.KSEE3</vt:lpstr>
      <vt:lpstr>Equation.KSEE3</vt:lpstr>
      <vt:lpstr>Equation.KSEE3</vt:lpstr>
      <vt:lpstr>Equation.KSEE3</vt:lpstr>
      <vt:lpstr>Equation.KSEE3</vt:lpstr>
      <vt:lpstr>Equation.KSEE3</vt:lpstr>
      <vt:lpstr>Equation.DSMT4</vt:lpstr>
      <vt:lpstr>Equation.DSMT4</vt:lpstr>
      <vt:lpstr>Equation.KSEE3</vt:lpstr>
      <vt:lpstr>Equation.DSMT4</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评估指标</vt:lpstr>
      <vt:lpstr>评估指标</vt:lpstr>
      <vt:lpstr>评估指标</vt:lpstr>
      <vt:lpstr>评估指标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Zane</cp:lastModifiedBy>
  <cp:revision>305</cp:revision>
  <dcterms:created xsi:type="dcterms:W3CDTF">2019-06-19T02:08:00Z</dcterms:created>
  <dcterms:modified xsi:type="dcterms:W3CDTF">2024-03-14T03:24:55Z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E1315049F85E4FF39F14C716ABE29E67_11</vt:lpwstr>
  </property>
</Properties>
</file>
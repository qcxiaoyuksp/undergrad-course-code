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95" r:id="rId5"/>
    <p:sldId id="257" r:id="rId6"/>
    <p:sldId id="262" r:id="rId7"/>
    <p:sldId id="279" r:id="rId8"/>
    <p:sldId id="280" r:id="rId9"/>
    <p:sldId id="322" r:id="rId10"/>
    <p:sldId id="258" r:id="rId11"/>
    <p:sldId id="285" r:id="rId12"/>
    <p:sldId id="324" r:id="rId13"/>
    <p:sldId id="284" r:id="rId14"/>
    <p:sldId id="259" r:id="rId15"/>
    <p:sldId id="289" r:id="rId16"/>
    <p:sldId id="288" r:id="rId17"/>
    <p:sldId id="290" r:id="rId18"/>
    <p:sldId id="291" r:id="rId19"/>
    <p:sldId id="293" r:id="rId20"/>
    <p:sldId id="292" r:id="rId21"/>
    <p:sldId id="317" r:id="rId22"/>
    <p:sldId id="318" r:id="rId23"/>
    <p:sldId id="319" r:id="rId24"/>
    <p:sldId id="320" r:id="rId25"/>
    <p:sldId id="277" r:id="rId26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71BCD3"/>
    <a:srgbClr val="ABDBE5"/>
    <a:srgbClr val="BBEAEF"/>
    <a:srgbClr val="4BA3D2"/>
    <a:srgbClr val="3785B5"/>
    <a:srgbClr val="595959"/>
    <a:srgbClr val="7DC8E9"/>
    <a:srgbClr val="E9E9E9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8" autoAdjust="0"/>
    <p:restoredTop sz="95331" autoAdjust="0"/>
  </p:normalViewPr>
  <p:slideViewPr>
    <p:cSldViewPr snapToGrid="0" showGuides="1">
      <p:cViewPr>
        <p:scale>
          <a:sx n="66" d="100"/>
          <a:sy n="66" d="100"/>
        </p:scale>
        <p:origin x="1938" y="840"/>
      </p:cViewPr>
      <p:guideLst>
        <p:guide orient="horz" pos="2141"/>
        <p:guide pos="38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A9F87-6427-4A87-B6EA-05C8F5273A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6FFF4-40A8-46AA-957F-1D7A8E8D87C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6FFF4-40A8-46AA-957F-1D7A8E8D8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6FFF4-40A8-46AA-957F-1D7A8E8D8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6FFF4-40A8-46AA-957F-1D7A8E8D8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6FFF4-40A8-46AA-957F-1D7A8E8D8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379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3795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EF52E81-C8EB-44C3-9EF2-093147253BA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6FFF4-40A8-46AA-957F-1D7A8E8D8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7D52DC-2AC0-40EB-AE3E-9EAE589A44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6FFF4-40A8-46AA-957F-1D7A8E8D8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86050" y="514350"/>
            <a:ext cx="4573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6FFF4-40A8-46AA-957F-1D7A8E8D8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5F38-1521-4E6F-B25A-D9D1586592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1F0-DF57-4001-BDEB-80A03BF5FE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5F38-1521-4E6F-B25A-D9D1586592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1F0-DF57-4001-BDEB-80A03BF5FE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5F38-1521-4E6F-B25A-D9D1586592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1F0-DF57-4001-BDEB-80A03BF5FE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5F38-1521-4E6F-B25A-D9D1586592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1F0-DF57-4001-BDEB-80A03BF5FE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5F38-1521-4E6F-B25A-D9D1586592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1F0-DF57-4001-BDEB-80A03BF5FE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5F38-1521-4E6F-B25A-D9D1586592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1F0-DF57-4001-BDEB-80A03BF5FE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5F38-1521-4E6F-B25A-D9D1586592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1F0-DF57-4001-BDEB-80A03BF5FE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5F38-1521-4E6F-B25A-D9D1586592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1F0-DF57-4001-BDEB-80A03BF5FE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5F38-1521-4E6F-B25A-D9D1586592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1F0-DF57-4001-BDEB-80A03BF5FE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5F38-1521-4E6F-B25A-D9D1586592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1F0-DF57-4001-BDEB-80A03BF5FE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5F38-1521-4E6F-B25A-D9D1586592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0F1F0-DF57-4001-BDEB-80A03BF5FE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B2B0-692A-46A2-956F-D87A1A3CFB5B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584FB-8213-408C-973A-0BFE315A5B2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B5F38-1521-4E6F-B25A-D9D1586592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0F1F0-DF57-4001-BDEB-80A03BF5FEB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themeOverride" Target="../theme/themeOverride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themeOverride" Target="../theme/themeOverride5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9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0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包含 无脊椎动物, 动物&#10;&#10;已生成极高可信度的说明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0" y="1119770"/>
            <a:ext cx="5478100" cy="4618460"/>
          </a:xfrm>
          <a:prstGeom prst="rect">
            <a:avLst/>
          </a:prstGeom>
        </p:spPr>
      </p:pic>
      <p:sp>
        <p:nvSpPr>
          <p:cNvPr id="4" name="TextBox 26"/>
          <p:cNvSpPr txBox="1"/>
          <p:nvPr/>
        </p:nvSpPr>
        <p:spPr>
          <a:xfrm>
            <a:off x="5262775" y="2092760"/>
            <a:ext cx="62788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随机森林算法模型</a:t>
            </a:r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讲解</a:t>
            </a:r>
            <a:endParaRPr lang="zh-CN" altLang="en-US" sz="4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78395" y="4883150"/>
            <a:ext cx="3726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汇报人：杨奕轩</a:t>
            </a:r>
            <a:r>
              <a:rPr lang="en-US" altLang="zh-CN"/>
              <a:t> </a:t>
            </a:r>
            <a:r>
              <a:rPr lang="zh-CN" altLang="en-US"/>
              <a:t>时间：</a:t>
            </a:r>
            <a:r>
              <a:rPr lang="en-US" altLang="zh-CN"/>
              <a:t>2023.12.09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图片包含 无脊椎动物, 动物&#10;&#10;已生成极高可信度的说明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52588" flipV="1">
            <a:off x="9101677" y="546243"/>
            <a:ext cx="2642568" cy="2227888"/>
          </a:xfrm>
          <a:prstGeom prst="rect">
            <a:avLst/>
          </a:prstGeom>
        </p:spPr>
      </p:pic>
      <p:pic>
        <p:nvPicPr>
          <p:cNvPr id="19" name="图片 18" descr="图片包含 无脊椎动物, 动物&#10;&#10;已生成极高可信度的说明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924">
            <a:off x="446660" y="4567482"/>
            <a:ext cx="2642568" cy="222788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544" y="-406578"/>
            <a:ext cx="219891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600" dirty="0">
                <a:solidFill>
                  <a:srgbClr val="71BCD3"/>
                </a:solidFill>
              </a:rPr>
              <a:t>C</a:t>
            </a:r>
            <a:endParaRPr lang="zh-CN" altLang="en-US" sz="16600" dirty="0">
              <a:solidFill>
                <a:srgbClr val="71BCD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3001" y="501362"/>
            <a:ext cx="4093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rgbClr val="71BCD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ONTENTS</a:t>
            </a:r>
            <a:endParaRPr lang="zh-CN" altLang="en-US" sz="4800" dirty="0">
              <a:solidFill>
                <a:srgbClr val="71BCD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58593" y="501362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71BCD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目录</a:t>
            </a:r>
            <a:endParaRPr lang="zh-CN" altLang="en-US" sz="4000" b="1" dirty="0">
              <a:solidFill>
                <a:srgbClr val="71BCD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菱形 5"/>
          <p:cNvSpPr/>
          <p:nvPr/>
        </p:nvSpPr>
        <p:spPr>
          <a:xfrm>
            <a:off x="4758199" y="1209248"/>
            <a:ext cx="1774372" cy="1868041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菱形 6"/>
          <p:cNvSpPr/>
          <p:nvPr/>
        </p:nvSpPr>
        <p:spPr>
          <a:xfrm>
            <a:off x="5851073" y="2240300"/>
            <a:ext cx="1774372" cy="1868041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菱形 7"/>
          <p:cNvSpPr/>
          <p:nvPr/>
        </p:nvSpPr>
        <p:spPr>
          <a:xfrm>
            <a:off x="4758199" y="3334514"/>
            <a:ext cx="1774372" cy="1868041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792179" y="1779886"/>
            <a:ext cx="30589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20000"/>
              </a:lnSpc>
            </a:pPr>
            <a:r>
              <a:rPr lang="zh-CN" altLang="en-US" sz="2000" b="1" dirty="0">
                <a:solidFill>
                  <a:srgbClr val="1E519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集成算法</a:t>
            </a:r>
            <a:r>
              <a:rPr lang="zh-CN" altLang="en-US" sz="2000" b="1" dirty="0">
                <a:solidFill>
                  <a:srgbClr val="1E519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000" b="1" dirty="0">
              <a:solidFill>
                <a:srgbClr val="1E519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36029" y="1723676"/>
            <a:ext cx="8599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chemeClr val="bg1"/>
                </a:solidFill>
              </a:rPr>
              <a:t>01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46656" y="2874159"/>
            <a:ext cx="30589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20000"/>
              </a:lnSpc>
            </a:pPr>
            <a:r>
              <a:rPr lang="zh-CN" altLang="en-US" sz="2000" b="1" dirty="0">
                <a:solidFill>
                  <a:srgbClr val="1E519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随机森林算法</a:t>
            </a:r>
            <a:r>
              <a:rPr lang="zh-CN" altLang="en-US" sz="2000" b="1" dirty="0">
                <a:solidFill>
                  <a:srgbClr val="1E519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000" b="1" dirty="0">
              <a:solidFill>
                <a:srgbClr val="1E519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17186" y="2785260"/>
            <a:ext cx="85997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chemeClr val="bg1"/>
                </a:solidFill>
              </a:rPr>
              <a:t>02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57833" y="4038030"/>
            <a:ext cx="30589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20000"/>
              </a:lnSpc>
            </a:pPr>
            <a:r>
              <a:rPr lang="zh-CN" altLang="en-US" sz="2000" b="1" dirty="0">
                <a:solidFill>
                  <a:srgbClr val="1E519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</a:t>
            </a:r>
            <a:r>
              <a:rPr lang="zh-CN" altLang="en-US" sz="2000" b="1" dirty="0">
                <a:solidFill>
                  <a:srgbClr val="1E519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讲解</a:t>
            </a:r>
            <a:endParaRPr lang="zh-CN" altLang="en-US" sz="2000" b="1" dirty="0">
              <a:solidFill>
                <a:srgbClr val="1E519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214308" y="3930385"/>
            <a:ext cx="85997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chemeClr val="bg1"/>
                </a:solidFill>
              </a:rPr>
              <a:t>03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无脊椎动物, 动物&#10;&#10;已生成极高可信度的说明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81600" y="1165682"/>
            <a:ext cx="6320588" cy="5328740"/>
          </a:xfrm>
          <a:prstGeom prst="rect">
            <a:avLst/>
          </a:prstGeom>
        </p:spPr>
      </p:pic>
      <p:sp>
        <p:nvSpPr>
          <p:cNvPr id="4" name="TextBox 11"/>
          <p:cNvSpPr txBox="1"/>
          <p:nvPr/>
        </p:nvSpPr>
        <p:spPr>
          <a:xfrm>
            <a:off x="3717107" y="2558368"/>
            <a:ext cx="3731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b="1" dirty="0">
                <a:solidFill>
                  <a:srgbClr val="3785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3785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endParaRPr lang="en-US" altLang="zh-CN" sz="2400" b="1" dirty="0">
              <a:solidFill>
                <a:srgbClr val="3785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endParaRPr lang="en-US" altLang="zh-CN" sz="2400" b="1" dirty="0">
              <a:solidFill>
                <a:srgbClr val="3785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endParaRPr lang="en-US" altLang="zh-CN" sz="2400" b="1" dirty="0">
              <a:solidFill>
                <a:srgbClr val="3785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3"/>
          <p:cNvSpPr txBox="1"/>
          <p:nvPr/>
        </p:nvSpPr>
        <p:spPr>
          <a:xfrm>
            <a:off x="1199611" y="4579748"/>
            <a:ext cx="220528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7DC8E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PART 01</a:t>
            </a:r>
            <a:endParaRPr lang="zh-CN" altLang="en-US" sz="3600" dirty="0">
              <a:solidFill>
                <a:srgbClr val="7DC8E9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199611" y="2498384"/>
            <a:ext cx="1662602" cy="1662602"/>
          </a:xfrm>
          <a:prstGeom prst="ellipse">
            <a:avLst/>
          </a:prstGeom>
          <a:solidFill>
            <a:srgbClr val="7D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0" dirty="0">
              <a:solidFill>
                <a:srgbClr val="080808"/>
              </a:solidFill>
              <a:latin typeface="+mj-ea"/>
              <a:ea typeface="+mj-ea"/>
            </a:endParaRPr>
          </a:p>
        </p:txBody>
      </p:sp>
      <p:sp>
        <p:nvSpPr>
          <p:cNvPr id="7" name="TextBox 13"/>
          <p:cNvSpPr txBox="1"/>
          <p:nvPr/>
        </p:nvSpPr>
        <p:spPr>
          <a:xfrm>
            <a:off x="1555405" y="2768921"/>
            <a:ext cx="113612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72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72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18007" y="3435531"/>
            <a:ext cx="2926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3785B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集成算法</a:t>
            </a:r>
            <a:r>
              <a:rPr lang="zh-CN" altLang="en-US" sz="3600" b="1" dirty="0">
                <a:solidFill>
                  <a:srgbClr val="3785B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模型</a:t>
            </a:r>
            <a:endParaRPr lang="zh-CN" altLang="en-US" sz="3600" b="1" dirty="0">
              <a:solidFill>
                <a:srgbClr val="3785B5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箭头: 右 2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379620" y="393793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集成算法</a:t>
            </a:r>
            <a:r>
              <a:rPr lang="zh-CN" altLang="en-US" sz="3200" dirty="0"/>
              <a:t>模型</a:t>
            </a:r>
            <a:endParaRPr lang="zh-CN" altLang="en-US" sz="3200" dirty="0"/>
          </a:p>
        </p:txBody>
      </p:sp>
      <p:sp>
        <p:nvSpPr>
          <p:cNvPr id="9" name="文本框 8"/>
          <p:cNvSpPr txBox="1"/>
          <p:nvPr/>
        </p:nvSpPr>
        <p:spPr>
          <a:xfrm>
            <a:off x="1328420" y="1306195"/>
            <a:ext cx="5669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算法目的：让机器学习效果更好，单个不行，群殴走起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28420" y="2003425"/>
            <a:ext cx="41402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分类：</a:t>
            </a:r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</a:rPr>
              <a:t>Bagging、Boosting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、</a:t>
            </a:r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</a:rPr>
              <a:t>Stacking</a:t>
            </a:r>
            <a:endParaRPr lang="en-US" altLang="zh-CN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328420" y="2700655"/>
                <a:ext cx="5852795" cy="484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altLang="zh-CN">
                    <a:latin typeface="Microsoft YaHei Regular" panose="020B0503020204020204" charset="-122"/>
                    <a:ea typeface="Microsoft YaHei Regular" panose="020B0503020204020204" charset="-122"/>
                    <a:cs typeface="Microsoft YaHei Regular" panose="020B0503020204020204" charset="-122"/>
                  </a:rPr>
                  <a:t>Bangging:</a:t>
                </a:r>
                <a:r>
                  <a:rPr lang="zh-CN" altLang="en-US">
                    <a:latin typeface="Microsoft YaHei Regular" panose="020B0503020204020204" charset="-122"/>
                    <a:ea typeface="Microsoft YaHei Regular" panose="020B0503020204020204" charset="-122"/>
                    <a:cs typeface="Microsoft YaHei Regular" panose="020B0503020204020204" charset="-122"/>
                  </a:rPr>
                  <a:t>训练多个分类器取平均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icrosoft YaHei Regular" panose="020B0503020204020204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charset="0"/>
                        <a:ea typeface="Microsoft YaHei Regular" panose="020B0503020204020204" charset="-122"/>
                        <a:cs typeface="Cambria Math" panose="02040503050406030204" charset="0"/>
                      </a:rPr>
                      <m:t> = 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  <m:t> = 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ea typeface="Microsoft YaHei Regular" panose="020B0503020204020204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Microsoft YaHei Regular" panose="020B0503020204020204" charset="-122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ea typeface="Microsoft YaHei Regular" panose="020B0503020204020204" charset="-122"/>
                                <a:cs typeface="Cambria Math" panose="02040503050406030204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charset="0"/>
                                <a:ea typeface="Microsoft YaHei Regular" panose="020B0503020204020204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Microsoft YaHei Regular" panose="020B0503020204020204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endParaRPr lang="en-US" altLang="zh-CN" i="1">
                  <a:latin typeface="Microsoft YaHei Regular" panose="020B0503020204020204" charset="-122"/>
                  <a:ea typeface="Microsoft YaHei Regular" panose="020B0503020204020204" charset="-122"/>
                  <a:cs typeface="Microsoft YaHei Regular" panose="020B0503020204020204" charset="-122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420" y="2700655"/>
                <a:ext cx="5852795" cy="484505"/>
              </a:xfrm>
              <a:prstGeom prst="rect">
                <a:avLst/>
              </a:prstGeom>
              <a:blipFill rotWithShape="1">
                <a:blip r:embed="rId1"/>
                <a:stretch>
                  <a:fillRect r="-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/>
          <p:cNvSpPr txBox="1"/>
          <p:nvPr/>
        </p:nvSpPr>
        <p:spPr>
          <a:xfrm>
            <a:off x="1328420" y="3398520"/>
            <a:ext cx="5554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Boosting: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从弱学习器开始加强，通过加权来进行训练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181215" y="4218305"/>
            <a:ext cx="3154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（加入一棵树，要比原来强）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79855" y="5038090"/>
            <a:ext cx="57410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Stacking: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聚合多个分类或回归模型（可以分阶段来做）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379855" y="3980180"/>
                <a:ext cx="6035040" cy="844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𝑎𝑟𝑔𝑚𝑖𝑛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，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𝑚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ℎ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855" y="3980180"/>
                <a:ext cx="6035040" cy="844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箭头: 右 20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379620" y="393793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集成算法</a:t>
            </a:r>
            <a:r>
              <a:rPr lang="zh-CN" altLang="en-US" sz="3200" dirty="0"/>
              <a:t>模型</a:t>
            </a:r>
            <a:endParaRPr lang="zh-CN" altLang="en-US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256540" y="1223010"/>
            <a:ext cx="17018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Bagging算法</a:t>
            </a:r>
            <a:endParaRPr lang="zh-CN" altLang="en-US" sz="2000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56540" y="1743075"/>
            <a:ext cx="11927205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    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Bagging 即 boostrap aggregating，其中boostrap是一种有放回的抽样方法，抽样策略是简单的随机抽样。其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原理很直接，把多个基础模型放到一起，最后再求平均值即可，这里可以把决策树当作基础模型，其实基本上所有集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成策略都是以树模型为基础的，公式如下：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5260" y="3551555"/>
            <a:ext cx="12070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    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首先对数据集进行随机采样，分别训练多个树模型，最终将其结果整合在一起即可，思想还是非常容易理解的，其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  <a:p>
            <a:pPr algn="l"/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</a:rPr>
              <a:t> 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中最具代表性的算法就是随机森林。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17500" y="4772025"/>
            <a:ext cx="119278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     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1.并联形式，可以快速地得到各个基础模型，它们之间不会相互干扰，但是其中也存在问题，不能确保加进来的每一个基础树模型都对结果产生促进作用，可能有个别树模型反而拉后腿。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     2. 可以进行可视化展示，树模型本身就具有这个优势，每一个树模型都具有实际意义。</a:t>
            </a:r>
            <a:endParaRPr lang="en-US" altLang="zh-CN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     3. 相当于半自动进行特征选择，总是会先用最好的特征，这在特征工程中一定程度上省时省力，适用于较高维度的数据，并且还可以进行特征重要性评估。</a:t>
            </a:r>
            <a:endParaRPr lang="en-US" altLang="zh-CN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01040" y="4300220"/>
            <a:ext cx="29743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bagging集成策略的特点</a:t>
            </a:r>
            <a:endParaRPr lang="zh-CN" altLang="en-US" sz="2000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533900" y="2665095"/>
                <a:ext cx="2446020" cy="87503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ea typeface="Microsoft YaHei Regular" panose="020B0503020204020204" charset="-122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ea typeface="Microsoft YaHei Regular" panose="020B0503020204020204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icrosoft YaHei Regular" panose="020B0503020204020204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ea typeface="Microsoft YaHei Regular" panose="020B0503020204020204" charset="-122"/>
                          <a:cs typeface="Cambria Math" panose="02040503050406030204" charset="0"/>
                        </a:rPr>
                        <m:t> = 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ea typeface="Microsoft YaHei Regular" panose="020B0503020204020204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ea typeface="Microsoft YaHei Regular" panose="020B0503020204020204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ea typeface="Microsoft YaHei Regular" panose="020B0503020204020204" charset="-122"/>
                              <a:cs typeface="Cambria Math" panose="02040503050406030204" charset="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zh-CN" i="1">
                              <a:latin typeface="Cambria Math" panose="02040503050406030204" charset="0"/>
                              <a:ea typeface="Microsoft YaHei Regular" panose="020B0503020204020204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icrosoft YaHei Regular" panose="020B0503020204020204" charset="-122"/>
                              <a:cs typeface="Cambria Math" panose="02040503050406030204" charset="0"/>
                            </a:rPr>
                            <m:t>𝑚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icrosoft YaHei Regular" panose="020B0503020204020204" charset="-122"/>
                              <a:cs typeface="Cambria Math" panose="02040503050406030204" charset="0"/>
                            </a:rPr>
                            <m:t> = 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icrosoft YaHei Regular" panose="020B0503020204020204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ea typeface="Microsoft YaHei Regular" panose="020B0503020204020204" charset="-122"/>
                              <a:cs typeface="Cambria Math" panose="02040503050406030204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ea typeface="Microsoft YaHei Regular" panose="020B0503020204020204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ea typeface="Microsoft YaHei Regular" panose="020B0503020204020204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Microsoft YaHei Regular" panose="020B0503020204020204" charset="-122"/>
                                  <a:cs typeface="Cambria Math" panose="02040503050406030204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charset="0"/>
                                  <a:ea typeface="Microsoft YaHei Regular" panose="020B0503020204020204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ea typeface="Microsoft YaHei Regular" panose="020B0503020204020204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900" y="2665095"/>
                <a:ext cx="2446020" cy="87503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箭头: 右 16"/>
          <p:cNvSpPr/>
          <p:nvPr/>
        </p:nvSpPr>
        <p:spPr>
          <a:xfrm>
            <a:off x="256674" y="46395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379620" y="393793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集成算法</a:t>
            </a:r>
            <a:r>
              <a:rPr lang="zh-CN" altLang="en-US" sz="3200" dirty="0"/>
              <a:t>模型</a:t>
            </a:r>
            <a:endParaRPr lang="zh-CN" altLang="en-US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256540" y="1222375"/>
            <a:ext cx="17710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Boosting算法</a:t>
            </a:r>
            <a:endParaRPr lang="zh-CN" altLang="en-US" sz="2000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8770" y="1621155"/>
            <a:ext cx="1175829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       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Boosting 算法的核心思想就在于要使得整体的效果越来越好，整体队伍是非常优秀的，一般效果的树模型想加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入进来是不行的，只要最强的树模型。怎么才能做到呢？先来看一下boosting 算法的基本公式：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73050" y="3081020"/>
                <a:ext cx="11925935" cy="11988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algn="l"/>
                <a:r>
                  <a:rPr lang="en-US" altLang="zh-CN">
                    <a:latin typeface="Microsoft YaHei Regular" panose="020B0503020204020204" charset="-122"/>
                    <a:ea typeface="Microsoft YaHei Regular" panose="020B0503020204020204" charset="-122"/>
                  </a:rPr>
                  <a:t>       </a:t>
                </a:r>
                <a:r>
                  <a:rPr lang="zh-CN" altLang="en-US">
                    <a:latin typeface="Microsoft YaHei Regular" panose="020B0503020204020204" charset="-122"/>
                    <a:ea typeface="Microsoft YaHei Regular" panose="020B0503020204020204" charset="-122"/>
                  </a:rPr>
                  <a:t>通俗的解释就是把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>
                    <a:latin typeface="Microsoft YaHei Regular" panose="020B0503020204020204" charset="-122"/>
                    <a:ea typeface="Microsoft YaHei Regular" panose="020B0503020204020204" charset="-122"/>
                    <a:cs typeface="Microsoft YaHei Regular" panose="020B0503020204020204" charset="-122"/>
                    <a:sym typeface="+mn-ea"/>
                  </a:rPr>
                  <a:t>当作前一轮得到的整体，这个整体中可能已经包含多个树模型，当再往这个整体中加</a:t>
                </a:r>
                <a:endParaRPr lang="zh-CN" altLang="en-US">
                  <a:latin typeface="Microsoft YaHei Regular" panose="020B0503020204020204" charset="-122"/>
                  <a:ea typeface="Microsoft YaHei Regular" panose="020B0503020204020204" charset="-122"/>
                  <a:cs typeface="Microsoft YaHei Regular" panose="020B0503020204020204" charset="-122"/>
                  <a:sym typeface="+mn-ea"/>
                </a:endParaRPr>
              </a:p>
              <a:p>
                <a:pPr algn="l"/>
                <a:r>
                  <a:rPr lang="zh-CN" altLang="en-US">
                    <a:latin typeface="Microsoft YaHei Regular" panose="020B0503020204020204" charset="-122"/>
                    <a:ea typeface="Microsoft YaHei Regular" panose="020B0503020204020204" charset="-122"/>
                    <a:cs typeface="Microsoft YaHei Regular" panose="020B0503020204020204" charset="-122"/>
                    <a:sym typeface="+mn-ea"/>
                  </a:rPr>
                  <a:t>入一个树模型的时候，需要满足一个条件——新加入的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icrosoft YaHei Regular" panose="020B0503020204020204" charset="-122"/>
                        <a:cs typeface="Cambria Math" panose="02040503050406030204" charset="0"/>
                        <a:sym typeface="+mn-ea"/>
                      </a:rPr>
                      <m:t>ℎ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ea typeface="Microsoft YaHei Regular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ea typeface="Microsoft YaHei Regular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Microsoft YaHei Regular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ea typeface="Microsoft YaHei Regular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>
                    <a:latin typeface="Microsoft YaHei Regular" panose="020B0503020204020204" charset="-122"/>
                    <a:ea typeface="Microsoft YaHei Regular" panose="020B0503020204020204" charset="-122"/>
                    <a:sym typeface="+mn-ea"/>
                  </a:rPr>
                  <a:t>与前一轮的整体组合完之后，效果要比之前好。怎么评估</a:t>
                </a:r>
                <a:endParaRPr lang="zh-CN" altLang="en-US">
                  <a:latin typeface="Microsoft YaHei Regular" panose="020B0503020204020204" charset="-122"/>
                  <a:ea typeface="Microsoft YaHei Regular" panose="020B0503020204020204" charset="-122"/>
                  <a:sym typeface="+mn-ea"/>
                </a:endParaRPr>
              </a:p>
              <a:p>
                <a:pPr algn="l"/>
                <a:r>
                  <a:rPr lang="zh-CN" altLang="en-US">
                    <a:latin typeface="Microsoft YaHei Regular" panose="020B0503020204020204" charset="-122"/>
                    <a:ea typeface="Microsoft YaHei Regular" panose="020B0503020204020204" charset="-122"/>
                    <a:sym typeface="+mn-ea"/>
                  </a:rPr>
                  <a:t>这个好坏呢？就是看整体模型的损失是不是有所下降。</a:t>
                </a:r>
                <a:endParaRPr lang="zh-CN" altLang="en-US">
                  <a:latin typeface="Microsoft YaHei Regular" panose="020B0503020204020204" charset="-122"/>
                  <a:ea typeface="Microsoft YaHei Regular" panose="020B0503020204020204" charset="-122"/>
                </a:endParaRPr>
              </a:p>
              <a:p>
                <a:pPr algn="l"/>
                <a:endParaRPr lang="en-US" altLang="zh-CN">
                  <a:latin typeface="Microsoft YaHei Regular" panose="020B0503020204020204" charset="-122"/>
                  <a:ea typeface="Microsoft YaHei Regular" panose="020B0503020204020204" charset="-122"/>
                  <a:cs typeface="Microsoft YaHei Regular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50" y="3081020"/>
                <a:ext cx="11925935" cy="1198880"/>
              </a:xfrm>
              <a:prstGeom prst="rect">
                <a:avLst/>
              </a:prstGeom>
              <a:blipFill rotWithShape="1">
                <a:blip r:embed="rId1"/>
                <a:stretch>
                  <a:fillRect r="-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0" y="4279900"/>
            <a:ext cx="11873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                          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 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pic>
        <p:nvPicPr>
          <p:cNvPr id="11" name="图片 10" descr="截屏2023-11-14 11.43.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330" y="4115435"/>
            <a:ext cx="5245735" cy="25495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842260" y="2292350"/>
                <a:ext cx="5982335" cy="8445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𝑎𝑟𝑔𝑚𝑖𝑛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，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𝑚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ℎ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260" y="2292350"/>
                <a:ext cx="5982335" cy="844550"/>
              </a:xfrm>
              <a:prstGeom prst="rect">
                <a:avLst/>
              </a:prstGeom>
              <a:blipFill rotWithShape="1">
                <a:blip r:embed="rId3"/>
                <a:stretch>
                  <a:fillRect r="-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318770" y="4451985"/>
            <a:ext cx="63550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算法思想：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 </a:t>
            </a:r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</a:rPr>
              <a:t>    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发现有的样本拟合的好，有的样本拟合的不好，那么下一个模型要额外注意哪些没拟合好的数据，之前拟合好的数据权重调低一点，没拟合好的数据权重调高一点。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箭头: 右 16"/>
          <p:cNvSpPr/>
          <p:nvPr/>
        </p:nvSpPr>
        <p:spPr>
          <a:xfrm>
            <a:off x="256674" y="46395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379620" y="393793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集成算法</a:t>
            </a:r>
            <a:r>
              <a:rPr lang="zh-CN" altLang="en-US" sz="3200" dirty="0"/>
              <a:t>模型</a:t>
            </a:r>
            <a:endParaRPr lang="zh-CN" altLang="en-US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256540" y="1222375"/>
            <a:ext cx="1724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00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Stacking</a:t>
            </a:r>
            <a:r>
              <a:rPr lang="zh-CN" altLang="en-US" sz="200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算法</a:t>
            </a:r>
            <a:endParaRPr lang="zh-CN" altLang="en-US" sz="2000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3070" y="1621155"/>
            <a:ext cx="11656695" cy="20300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    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将个体学习器结合在一起的时候使用的方法叫做结合策略。对于分类问题，我们可以使用投票法来选择输出最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多的类。对于回归问题，我们可以将分类器输出的结果求平均值。</a:t>
            </a:r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  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      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上面说的投票法和平均法都是很有效的结合策略，还有一种结合策略是使用另外一个机器学习算法来将个体机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器学习器的结果结合在一起，这个方法就是Stacking。在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这种方法中，我们把个体学习器叫做初级学习器，用于结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合的学习器叫做次级学习器或元学习器（meta-learner），次级学习器用于训练的数据叫做次级训练集。次级训练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集是在训练集上用初级学习器得到的。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1960" y="3235325"/>
            <a:ext cx="5141595" cy="34994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33070" y="3484880"/>
            <a:ext cx="6355080" cy="28917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>
                <a:latin typeface="Microsoft YaHei Regular" panose="020B0503020204020204" charset="-122"/>
                <a:ea typeface="Microsoft YaHei Regular" panose="020B0503020204020204" charset="-122"/>
              </a:rPr>
              <a:t>算法步骤：</a:t>
            </a:r>
            <a:endParaRPr lang="zh-CN" altLang="en-US" sz="2000">
              <a:latin typeface="Microsoft YaHei Regular" panose="020B0503020204020204" charset="-122"/>
              <a:ea typeface="Microsoft YaHei Regular" panose="020B0503020204020204" charset="-122"/>
            </a:endParaRPr>
          </a:p>
          <a:p>
            <a:pPr algn="l"/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</a:rPr>
              <a:t>1.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训练出来个体学习器，也就是初级学习器。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  <a:p>
            <a:pPr algn="l"/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</a:rPr>
              <a:t>2.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使用训练出来的个体学习器来得预测的结果，这个预测的结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果当做次级学习器的训练集。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  <a:p>
            <a:pPr algn="l"/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</a:rPr>
              <a:t>3.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是用初级学习器预测的结果训练出次级学习器，得到我们最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后训练的模型。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  <a:p>
            <a:pPr algn="l"/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如果想要预测一个数据的输出，只需要把这条数据用初级学习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器预测，然后将预测后的结果用次级学习器预测便可。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  <a:p>
            <a:pPr algn="l"/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无脊椎动物, 动物&#10;&#10;已生成极高可信度的说明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81600" y="1165682"/>
            <a:ext cx="6320588" cy="5328740"/>
          </a:xfrm>
          <a:prstGeom prst="rect">
            <a:avLst/>
          </a:prstGeom>
        </p:spPr>
      </p:pic>
      <p:sp>
        <p:nvSpPr>
          <p:cNvPr id="4" name="TextBox 11"/>
          <p:cNvSpPr txBox="1"/>
          <p:nvPr/>
        </p:nvSpPr>
        <p:spPr>
          <a:xfrm>
            <a:off x="3717107" y="2558368"/>
            <a:ext cx="373109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b="1" dirty="0">
                <a:solidFill>
                  <a:srgbClr val="3785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3785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2400" b="1" dirty="0">
                <a:solidFill>
                  <a:srgbClr val="3785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二部分</a:t>
            </a:r>
            <a:endParaRPr lang="en-US" altLang="zh-CN" sz="2400" b="1" dirty="0">
              <a:solidFill>
                <a:srgbClr val="3785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endParaRPr lang="en-US" altLang="zh-CN" sz="2400" b="1" dirty="0">
              <a:solidFill>
                <a:srgbClr val="3785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endParaRPr lang="en-US" altLang="zh-CN" sz="2400" b="1" dirty="0">
              <a:solidFill>
                <a:srgbClr val="3785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3"/>
          <p:cNvSpPr txBox="1"/>
          <p:nvPr/>
        </p:nvSpPr>
        <p:spPr>
          <a:xfrm>
            <a:off x="1199611" y="4579748"/>
            <a:ext cx="220528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7DC8E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PART 01</a:t>
            </a:r>
            <a:endParaRPr lang="zh-CN" altLang="en-US" sz="3600" dirty="0">
              <a:solidFill>
                <a:srgbClr val="7DC8E9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199611" y="2498384"/>
            <a:ext cx="1662602" cy="1662602"/>
          </a:xfrm>
          <a:prstGeom prst="ellipse">
            <a:avLst/>
          </a:prstGeom>
          <a:solidFill>
            <a:srgbClr val="7D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0" dirty="0">
              <a:solidFill>
                <a:srgbClr val="080808"/>
              </a:solidFill>
              <a:latin typeface="+mj-ea"/>
              <a:ea typeface="+mj-ea"/>
            </a:endParaRPr>
          </a:p>
        </p:txBody>
      </p:sp>
      <p:sp>
        <p:nvSpPr>
          <p:cNvPr id="7" name="TextBox 13"/>
          <p:cNvSpPr txBox="1"/>
          <p:nvPr/>
        </p:nvSpPr>
        <p:spPr>
          <a:xfrm>
            <a:off x="1555405" y="2768921"/>
            <a:ext cx="113612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72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02</a:t>
            </a:r>
            <a:endParaRPr lang="zh-CN" altLang="en-US" sz="72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18007" y="3435531"/>
            <a:ext cx="3840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3785B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随机森林算法</a:t>
            </a:r>
            <a:r>
              <a:rPr lang="zh-CN" altLang="en-US" sz="3600" b="1" dirty="0">
                <a:solidFill>
                  <a:srgbClr val="3785B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模型</a:t>
            </a:r>
            <a:endParaRPr lang="zh-CN" altLang="en-US" sz="3600" b="1" dirty="0">
              <a:solidFill>
                <a:srgbClr val="3785B5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9078919" y="2395609"/>
            <a:ext cx="2456795" cy="4685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13" tIns="22857" rIns="45713" bIns="22857">
            <a:spAutoFit/>
          </a:bodyPr>
          <a:lstStyle/>
          <a:p>
            <a:pPr defTabSz="1088390">
              <a:lnSpc>
                <a:spcPct val="200000"/>
              </a:lnSpc>
            </a:pPr>
            <a:r>
              <a:rPr lang="en-US" sz="1600" b="1" dirty="0">
                <a:solidFill>
                  <a:schemeClr val="bg1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New Idea</a:t>
            </a:r>
            <a:endParaRPr lang="en-US" sz="1600" b="1" dirty="0">
              <a:solidFill>
                <a:schemeClr val="bg1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9069251" y="4436406"/>
            <a:ext cx="2456795" cy="7232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13" tIns="22857" rIns="45713" bIns="22857">
            <a:spAutoFit/>
          </a:bodyPr>
          <a:lstStyle/>
          <a:p>
            <a:pPr defTabSz="1088390">
              <a:lnSpc>
                <a:spcPct val="200000"/>
              </a:lnSpc>
            </a:pPr>
            <a:r>
              <a:rPr lang="en-US" sz="1600" b="1" dirty="0">
                <a:solidFill>
                  <a:schemeClr val="bg1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Good Capacity</a:t>
            </a:r>
            <a:endParaRPr lang="en-US" sz="1600" b="1" dirty="0">
              <a:solidFill>
                <a:schemeClr val="bg1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 defTabSz="1088390"/>
            <a:r>
              <a:rPr lang="en-US" sz="1200" dirty="0">
                <a:solidFill>
                  <a:schemeClr val="bg1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 </a:t>
            </a:r>
            <a:endParaRPr lang="en-US" sz="1200" dirty="0">
              <a:solidFill>
                <a:schemeClr val="bg1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15" name="箭头: 右 14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379620" y="393793"/>
            <a:ext cx="3434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随机森林算法</a:t>
            </a:r>
            <a:r>
              <a:rPr lang="zh-CN" altLang="en-US" sz="3200" dirty="0"/>
              <a:t>模型</a:t>
            </a:r>
            <a:endParaRPr lang="zh-CN" altLang="en-US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256540" y="1114425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Microsoft YaHei Regular" panose="020B0503020204020204" charset="-122"/>
                <a:ea typeface="Microsoft YaHei Regular" panose="020B0503020204020204" charset="-122"/>
              </a:rPr>
              <a:t>算法</a:t>
            </a:r>
            <a:r>
              <a:rPr lang="zh-CN" altLang="en-US" sz="2000">
                <a:latin typeface="Microsoft YaHei Regular" panose="020B0503020204020204" charset="-122"/>
                <a:ea typeface="Microsoft YaHei Regular" panose="020B0503020204020204" charset="-122"/>
              </a:rPr>
              <a:t>模型概述：</a:t>
            </a:r>
            <a:endParaRPr lang="zh-CN" altLang="en-US" sz="2000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6540" y="1631950"/>
            <a:ext cx="1183259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     决策树+bagging=随机森林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。将多个决策树结合在一起，每次数据集是随机有放回的选出，同时随机选出部分特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征作为输入，所以该算法被称为随机森林算法。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3260" y="2636520"/>
            <a:ext cx="6285230" cy="36518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1310" y="2636520"/>
            <a:ext cx="5440680" cy="34150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     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随机森林是集群分类模型中的一种，随机森林是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用随机的方式建立一个森林，森林由很多的决策树组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成，且每一棵决策树之间是没有关联的。得到随机森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林模型后，当新样本进入时随机森林中的每一棵决策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树分别进行判断，bagging集合策略比较简单，对于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分类问题通常使用投票法，得到最多票数类别或者类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别之一为最终模型输出。对于回归通常使用简单平均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法，T个弱学习器得到的回归结果进行算术平均即最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终模型输出。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随机森林使用CART决策树作为弱学习器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箭头: 右 14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379620" y="393793"/>
            <a:ext cx="3434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随机森林算法</a:t>
            </a:r>
            <a:r>
              <a:rPr lang="zh-CN" altLang="en-US" sz="3200" dirty="0"/>
              <a:t>模型</a:t>
            </a:r>
            <a:endParaRPr lang="zh-CN" altLang="en-US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256540" y="1114425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>
                <a:latin typeface="Microsoft YaHei Regular" panose="020B0503020204020204" charset="-122"/>
                <a:ea typeface="Microsoft YaHei Regular" panose="020B0503020204020204" charset="-122"/>
              </a:rPr>
              <a:t>算法模型流程：</a:t>
            </a:r>
            <a:endParaRPr lang="zh-CN" altLang="en-US" sz="2000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6540" y="1774825"/>
            <a:ext cx="11980545" cy="20300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1.从原始训练数据集中，应用bootstrap方法（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自助法重采样技术）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有放回地随机抽取k个新自助样本集，并由此构建k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棵决策树，每次未被抽到的样本组成Ｋ个袋外数据。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2.设有</a:t>
            </a:r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M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个特征，在每一棵树的每个节点处随机抽取m个特征，通过计算每个特征的蕴含信息量，在特征中选择一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个最具分类能力的特征进行节点分裂。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3.每棵树最大限度生长不做任何剪裁。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4.将生成的多棵树组成随机森林，用随机森林对新数据进行分类，分类结果按树分类器投票多少而定。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0" y="3548380"/>
            <a:ext cx="5511800" cy="3202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箭头: 右 22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379620" y="393793"/>
            <a:ext cx="3434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随机森林算法</a:t>
            </a:r>
            <a:r>
              <a:rPr lang="zh-CN" altLang="en-US" sz="3200" dirty="0"/>
              <a:t>模型</a:t>
            </a:r>
            <a:endParaRPr lang="zh-CN" altLang="en-US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256540" y="1131570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Microsoft YaHei Regular" panose="020B0503020204020204" charset="-122"/>
                <a:ea typeface="Microsoft YaHei Regular" panose="020B0503020204020204" charset="-122"/>
              </a:rPr>
              <a:t>随机森林算法模型优点：</a:t>
            </a:r>
            <a:endParaRPr lang="zh-CN" altLang="en-US" sz="2000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6540" y="1607820"/>
            <a:ext cx="11817985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1.</a:t>
            </a:r>
            <a:r>
              <a:rPr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由于采用了集成算法，本身精度比大多数单个算法要好，所以准确性高</a:t>
            </a:r>
            <a:endParaRPr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2.</a:t>
            </a:r>
            <a:r>
              <a:rPr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在测试集上表现良好，由于两个随机性的引入，使得随机森林不容易陷入过拟合(样本随机，特征随机)</a:t>
            </a:r>
            <a:endParaRPr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3.</a:t>
            </a:r>
            <a:r>
              <a:rPr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由于树的组合，使得随机森林可以处理非线性数据，本身属于非线性分类(拟合)模型</a:t>
            </a:r>
            <a:endParaRPr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4.</a:t>
            </a:r>
            <a:r>
              <a:rPr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它能够处理很高维度(feature很多)的数据，并且不用做特征选择，对数据集的适应能力强：既能处理离散型数据，</a:t>
            </a:r>
            <a:endParaRPr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也能处理连续型数据，数据集无需规范化</a:t>
            </a:r>
            <a:endParaRPr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5.</a:t>
            </a:r>
            <a:r>
              <a:rPr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训练速度快，可以运用在大规模数据集上</a:t>
            </a:r>
            <a:endParaRPr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6.</a:t>
            </a:r>
            <a:r>
              <a:rPr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在训练过程中，能够检测到feature间的互相影响，且可以得出feature的重要性，具有一定参考意义</a:t>
            </a:r>
            <a:endParaRPr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7.</a:t>
            </a:r>
            <a:r>
              <a:rPr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由于每棵树可以独立、同时生成，容易做成并行化方法</a:t>
            </a:r>
            <a:endParaRPr lang="zh-CN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6540" y="4545330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Microsoft YaHei Regular" panose="020B0503020204020204" charset="-122"/>
                <a:ea typeface="Microsoft YaHei Regular" panose="020B0503020204020204" charset="-122"/>
              </a:rPr>
              <a:t>随机森林算法模型缺点：</a:t>
            </a:r>
            <a:endParaRPr lang="zh-CN" altLang="en-US" sz="2000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6540" y="5020945"/>
            <a:ext cx="745871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1.</a:t>
            </a:r>
            <a:r>
              <a:rPr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当随机森林中的决策树个数很多时，训练时需要的空间和时间会比较大</a:t>
            </a:r>
            <a:endParaRPr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2.</a:t>
            </a:r>
            <a:r>
              <a:rPr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在某些噪音比较大的样本集上，RF的模型容易陷入过拟合</a:t>
            </a:r>
            <a:endParaRPr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无脊椎动物, 动物&#10;&#10;已生成极高可信度的说明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81600" y="1165682"/>
            <a:ext cx="6320588" cy="5328740"/>
          </a:xfrm>
          <a:prstGeom prst="rect">
            <a:avLst/>
          </a:prstGeom>
        </p:spPr>
      </p:pic>
      <p:sp>
        <p:nvSpPr>
          <p:cNvPr id="4" name="TextBox 11"/>
          <p:cNvSpPr txBox="1"/>
          <p:nvPr/>
        </p:nvSpPr>
        <p:spPr>
          <a:xfrm>
            <a:off x="3717107" y="2558368"/>
            <a:ext cx="373109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b="1" dirty="0">
                <a:solidFill>
                  <a:srgbClr val="3785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3785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2400" b="1" dirty="0">
                <a:solidFill>
                  <a:srgbClr val="3785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三部分</a:t>
            </a:r>
            <a:endParaRPr lang="en-US" altLang="zh-CN" sz="2400" b="1" dirty="0">
              <a:solidFill>
                <a:srgbClr val="3785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endParaRPr lang="en-US" altLang="zh-CN" sz="2400" b="1" dirty="0">
              <a:solidFill>
                <a:srgbClr val="3785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endParaRPr lang="en-US" altLang="zh-CN" sz="2400" b="1" dirty="0">
              <a:solidFill>
                <a:srgbClr val="3785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3"/>
          <p:cNvSpPr txBox="1"/>
          <p:nvPr/>
        </p:nvSpPr>
        <p:spPr>
          <a:xfrm>
            <a:off x="1199611" y="4579748"/>
            <a:ext cx="220528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7DC8E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PART 01</a:t>
            </a:r>
            <a:endParaRPr lang="zh-CN" altLang="en-US" sz="3600" dirty="0">
              <a:solidFill>
                <a:srgbClr val="7DC8E9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199611" y="2498384"/>
            <a:ext cx="1662602" cy="1662602"/>
          </a:xfrm>
          <a:prstGeom prst="ellipse">
            <a:avLst/>
          </a:prstGeom>
          <a:solidFill>
            <a:srgbClr val="7D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80" dirty="0">
              <a:solidFill>
                <a:srgbClr val="080808"/>
              </a:solidFill>
              <a:latin typeface="+mj-ea"/>
              <a:ea typeface="+mj-ea"/>
            </a:endParaRPr>
          </a:p>
        </p:txBody>
      </p:sp>
      <p:sp>
        <p:nvSpPr>
          <p:cNvPr id="7" name="TextBox 13"/>
          <p:cNvSpPr txBox="1"/>
          <p:nvPr/>
        </p:nvSpPr>
        <p:spPr>
          <a:xfrm>
            <a:off x="1555405" y="2768921"/>
            <a:ext cx="113612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72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03</a:t>
            </a:r>
            <a:endParaRPr lang="zh-CN" altLang="en-US" sz="72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18007" y="3435531"/>
            <a:ext cx="20116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3785B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代码讲解</a:t>
            </a:r>
            <a:endParaRPr lang="zh-CN" altLang="en-US" sz="3600" b="1" dirty="0">
              <a:solidFill>
                <a:srgbClr val="3785B5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箭头: 右 64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379620" y="393793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代码讲解（</a:t>
            </a:r>
            <a:r>
              <a:rPr lang="zh-CN" altLang="en-US" sz="3200" dirty="0"/>
              <a:t>分类问题）</a:t>
            </a:r>
            <a:endParaRPr lang="zh-CN" altLang="en-US" sz="3200" dirty="0"/>
          </a:p>
        </p:txBody>
      </p:sp>
      <p:pic>
        <p:nvPicPr>
          <p:cNvPr id="20" name="图片 19" descr="截屏2023-11-19 15.52.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66265"/>
            <a:ext cx="12192000" cy="122555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42570" y="3730625"/>
            <a:ext cx="1204595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使用Scikit-learn库的make_classification函数来生成一个具有指定特征数量、信息特征数量和样本数量的二元分类数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据集。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生成一个具有2个特征、2个信息特征、100个样本和2个类别的二元分类数据集，并将其中的类别标签从{0, 1}转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  <a:sym typeface="+mn-ea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换为{-1, 1}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42570" y="122237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Microsoft YaHei Regular" panose="020B0503020204020204" charset="-122"/>
                <a:ea typeface="Microsoft YaHei Regular" panose="020B0503020204020204" charset="-122"/>
              </a:rPr>
              <a:t>生成数据：</a:t>
            </a:r>
            <a:endParaRPr lang="zh-CN" altLang="en-US" sz="2000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箭头: 右 22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379620" y="393793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3200" dirty="0">
                <a:sym typeface="+mn-ea"/>
              </a:rPr>
              <a:t>代码讲解（分类问题）</a:t>
            </a:r>
            <a:endParaRPr lang="zh-CN" altLang="en-US" sz="3200" dirty="0"/>
          </a:p>
        </p:txBody>
      </p:sp>
      <p:pic>
        <p:nvPicPr>
          <p:cNvPr id="3" name="图片 2" descr="截屏2023-11-19 16.05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40" y="1144270"/>
            <a:ext cx="8267700" cy="31369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6540" y="5093335"/>
            <a:ext cx="113665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定义类的构造函数__init__，用于初始化对象的属性。构造函数接受两个参数：n_estimators和random_state，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分别表示随机森林的大小和随机种子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6540" y="4485005"/>
            <a:ext cx="1102106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导入DecisionTreeClassifier类。决策树分类器是一种基于决策树算法的机器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学习模型，用于解决分类问题。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  <a:sym typeface="+mn-ea"/>
            </a:endParaRPr>
          </a:p>
          <a:p>
            <a:pPr algn="l"/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箭头: 右 39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1379620" y="393793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3200" dirty="0">
                <a:sym typeface="+mn-ea"/>
              </a:rPr>
              <a:t>代码讲解（分类问题）</a:t>
            </a:r>
            <a:endParaRPr lang="zh-CN" altLang="en-US" sz="3200" dirty="0"/>
          </a:p>
        </p:txBody>
      </p:sp>
      <p:pic>
        <p:nvPicPr>
          <p:cNvPr id="6" name="图片 5" descr="截屏2023-11-19 16.11.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77265"/>
            <a:ext cx="12192000" cy="35680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6540" y="4765675"/>
            <a:ext cx="1187831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定义rfc类中的fit方法，用于拟合随机森林分类器。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通过调用fit方法，可以使用输入特征数据集X和目标变量y来训练随机森林分类器。该方法会生成多个决策树分类器，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并将它们存储在随机森林对象的属性中。每个决策树都使用随机选择的样本和特征进行拟合，以增加模型的多样性。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箭头: 右 30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379620" y="393793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3200" dirty="0">
                <a:sym typeface="+mn-ea"/>
              </a:rPr>
              <a:t>代码讲解（分类问题）</a:t>
            </a:r>
            <a:endParaRPr lang="zh-CN" altLang="en-US" sz="3200" dirty="0"/>
          </a:p>
        </p:txBody>
      </p:sp>
      <p:pic>
        <p:nvPicPr>
          <p:cNvPr id="8" name="图片 7" descr="截屏2023-11-19 16.35.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78535"/>
            <a:ext cx="12192000" cy="35680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56540" y="4853305"/>
            <a:ext cx="11841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对输入的特征数据集进行预测，使用随机森林中的每个决策树分类器对每个样本进行预测，并将预测结果的概率进行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平均，然后返回预测结果。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箭头: 右 42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1379620" y="393793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3200" dirty="0">
                <a:sym typeface="+mn-ea"/>
              </a:rPr>
              <a:t>代码讲解（分类问题）</a:t>
            </a:r>
            <a:endParaRPr lang="zh-CN" altLang="en-US" sz="3200" dirty="0"/>
          </a:p>
        </p:txBody>
      </p:sp>
      <p:pic>
        <p:nvPicPr>
          <p:cNvPr id="31" name="图片 30" descr="截屏2023-11-19 16.47.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40" y="1209040"/>
            <a:ext cx="11935460" cy="231648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256540" y="3856355"/>
            <a:ext cx="710565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通过调用随机森林分类器 rf 的 predict 方法，预测了网格中每个点的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类别。np.c_[xx.ravel(), yy.ravel()] 将 xx 和 yy 中的坐标展平并合并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为一个二维数组，作为输入样本传递给 predict 方法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pic>
        <p:nvPicPr>
          <p:cNvPr id="45" name="图片 44" descr="截屏2023-11-19 16.57.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190" y="3077845"/>
            <a:ext cx="4829810" cy="3634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箭头: 右 82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1379620" y="393793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代码讲解（</a:t>
            </a:r>
            <a:r>
              <a:rPr lang="zh-CN" altLang="en-US" sz="3200" dirty="0"/>
              <a:t>回归问题）</a:t>
            </a:r>
            <a:endParaRPr lang="zh-CN" altLang="en-US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242570" y="3730625"/>
            <a:ext cx="1179258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使用make_regression函数从头生成一个回归数据集。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该段代码生成了一个包含100个样本的回归数据集。每个样本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  <a:sym typeface="+mn-ea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只有一个特征，并且该数据集的目标变量（标签）是通过在真实值上加入噪声生成的。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42570" y="122237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Microsoft YaHei Regular" panose="020B0503020204020204" charset="-122"/>
                <a:ea typeface="Microsoft YaHei Regular" panose="020B0503020204020204" charset="-122"/>
              </a:rPr>
              <a:t>生成数据：</a:t>
            </a:r>
            <a:endParaRPr lang="zh-CN" altLang="en-US" sz="2000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pic>
        <p:nvPicPr>
          <p:cNvPr id="51" name="图片 50" descr="截屏2023-11-19 16.59.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" y="1889125"/>
            <a:ext cx="12192000" cy="930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" name="箭头: 右 82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1379620" y="393793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代码讲解（回归</a:t>
            </a:r>
            <a:r>
              <a:rPr lang="zh-CN" altLang="en-US" sz="3200" dirty="0"/>
              <a:t>问题）</a:t>
            </a:r>
            <a:endParaRPr lang="zh-CN" altLang="en-US" sz="3200" dirty="0"/>
          </a:p>
        </p:txBody>
      </p:sp>
      <p:pic>
        <p:nvPicPr>
          <p:cNvPr id="4" name="图片 3" descr="截屏2023-11-19 17.04.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40" y="978535"/>
            <a:ext cx="10769600" cy="3124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56540" y="4429760"/>
            <a:ext cx="83934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导入了DecisionTreeRegressor类，该类表示决策树回归器，在随机森林中使用。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6540" y="4940300"/>
            <a:ext cx="1136650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定义类的构造函数__init__，用于初始化对象的属性。构造函数接受两个参数：n_estimators和random_state，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分别表示随机森林的大小和随机种子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endParaRPr lang="zh-CN" alt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" name="箭头: 右 82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1379620" y="393793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代码讲解（回归</a:t>
            </a:r>
            <a:r>
              <a:rPr lang="zh-CN" altLang="en-US" sz="3200" dirty="0"/>
              <a:t>问题）</a:t>
            </a:r>
            <a:endParaRPr lang="zh-CN" altLang="en-US" sz="3200" dirty="0"/>
          </a:p>
        </p:txBody>
      </p:sp>
      <p:pic>
        <p:nvPicPr>
          <p:cNvPr id="4" name="图片 3" descr="截屏2023-11-19 17.07.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77265"/>
            <a:ext cx="12103100" cy="3505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6540" y="4507865"/>
            <a:ext cx="1187831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定义rf</a:t>
            </a:r>
            <a:r>
              <a:rPr lang="en-US" altLang="zh-CN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r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类中的fit方法，用于拟合随机森林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回归器。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通过调用fit方法，可以使用输入特征数据集X和目标变量y来训练随机森林回归器。该方法会生成多个决策树</a:t>
            </a:r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回归器，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  <a:sym typeface="+mn-ea"/>
              </a:rPr>
              <a:t>并将它们存储在随机森林对象的属性中。每个决策树都使用随机选择的样本和特征进行拟合，以增加模型的多样性。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" name="箭头: 右 82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1379620" y="393793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代码讲解（回归</a:t>
            </a:r>
            <a:r>
              <a:rPr lang="zh-CN" altLang="en-US" sz="3200" dirty="0"/>
              <a:t>问题）</a:t>
            </a:r>
            <a:endParaRPr lang="zh-CN" altLang="en-US" sz="3200" dirty="0"/>
          </a:p>
        </p:txBody>
      </p:sp>
      <p:pic>
        <p:nvPicPr>
          <p:cNvPr id="5" name="图片 4" descr="截屏2023-11-19 17.09.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40" y="1120140"/>
            <a:ext cx="5842000" cy="31877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6540" y="4801235"/>
            <a:ext cx="11841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实现随机森林回归器的预测方法。遍历随机森林中的每个决策树，对输入特征进行预测，并将预测结果累加后取平均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</a:rPr>
              <a:t>作为最终的预测结果。返回的结果是一个数组，表示对输入特征的预测值。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" name="箭头: 右 82"/>
          <p:cNvSpPr/>
          <p:nvPr/>
        </p:nvSpPr>
        <p:spPr>
          <a:xfrm>
            <a:off x="256674" y="465221"/>
            <a:ext cx="962526" cy="513347"/>
          </a:xfrm>
          <a:prstGeom prst="rightArrow">
            <a:avLst/>
          </a:prstGeom>
          <a:solidFill>
            <a:srgbClr val="378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1379620" y="393793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代码讲解（</a:t>
            </a:r>
            <a:r>
              <a:rPr lang="zh-CN" altLang="en-US" sz="3200" dirty="0"/>
              <a:t>回归问题）</a:t>
            </a:r>
            <a:endParaRPr lang="zh-CN" altLang="en-US" sz="3200" dirty="0"/>
          </a:p>
        </p:txBody>
      </p:sp>
      <p:pic>
        <p:nvPicPr>
          <p:cNvPr id="4" name="图片 3" descr="截屏2023-11-19 17.12.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40" y="977265"/>
            <a:ext cx="6677660" cy="3622675"/>
          </a:xfrm>
          <a:prstGeom prst="rect">
            <a:avLst/>
          </a:prstGeom>
        </p:spPr>
      </p:pic>
      <p:pic>
        <p:nvPicPr>
          <p:cNvPr id="5" name="图片 4" descr="截屏2023-11-19 17.13.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960" y="977265"/>
            <a:ext cx="4140200" cy="35680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56540" y="4902835"/>
            <a:ext cx="98901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通过调用随机森林回归器的predict方法对平滑的x轴值进行预测，得到相应的y轴值，赋值给yy。</a:t>
            </a:r>
            <a:endParaRPr lang="zh-CN" altLang="en-US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矩形 1"/>
          <p:cNvSpPr/>
          <p:nvPr/>
        </p:nvSpPr>
        <p:spPr>
          <a:xfrm>
            <a:off x="1853971" y="2768285"/>
            <a:ext cx="8128000" cy="2296886"/>
          </a:xfrm>
          <a:prstGeom prst="rect">
            <a:avLst/>
          </a:prstGeom>
          <a:ln w="76200">
            <a:solidFill>
              <a:srgbClr val="ABD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图片包含 无脊椎动物, 动物&#10;&#10;已生成极高可信度的说明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75212" y="1122860"/>
            <a:ext cx="5348131" cy="5328740"/>
          </a:xfrm>
          <a:prstGeom prst="rect">
            <a:avLst/>
          </a:prstGeom>
        </p:spPr>
      </p:pic>
      <p:sp useBgFill="1">
        <p:nvSpPr>
          <p:cNvPr id="5" name="TextBox 26"/>
          <p:cNvSpPr txBox="1"/>
          <p:nvPr/>
        </p:nvSpPr>
        <p:spPr>
          <a:xfrm>
            <a:off x="3695343" y="2414342"/>
            <a:ext cx="3738880" cy="70675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感谢您的</a:t>
            </a:r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聆听！</a:t>
            </a:r>
            <a:endParaRPr lang="zh-CN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ags/tag1.xml><?xml version="1.0" encoding="utf-8"?>
<p:tagLst xmlns:p="http://schemas.openxmlformats.org/presentationml/2006/main">
  <p:tag name="ISPRING_PRESENTATION_TITLE" val="22"/>
  <p:tag name="commondata" val="eyJoZGlkIjoiM2EzYmEzNTE4NjViMDNkN2ZkYzNiMDBkNmUwZmFmMj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8BCE6"/>
      </a:accent1>
      <a:accent2>
        <a:srgbClr val="C5EBF1"/>
      </a:accent2>
      <a:accent3>
        <a:srgbClr val="7AB6DB"/>
      </a:accent3>
      <a:accent4>
        <a:srgbClr val="66C1EC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8BCE6"/>
    </a:accent1>
    <a:accent2>
      <a:srgbClr val="C5EBF1"/>
    </a:accent2>
    <a:accent3>
      <a:srgbClr val="7AB6DB"/>
    </a:accent3>
    <a:accent4>
      <a:srgbClr val="66C1EC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8BCE6"/>
    </a:accent1>
    <a:accent2>
      <a:srgbClr val="C5EBF1"/>
    </a:accent2>
    <a:accent3>
      <a:srgbClr val="7AB6DB"/>
    </a:accent3>
    <a:accent4>
      <a:srgbClr val="66C1EC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8BCE6"/>
    </a:accent1>
    <a:accent2>
      <a:srgbClr val="C5EBF1"/>
    </a:accent2>
    <a:accent3>
      <a:srgbClr val="7AB6DB"/>
    </a:accent3>
    <a:accent4>
      <a:srgbClr val="66C1EC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8BCE6"/>
    </a:accent1>
    <a:accent2>
      <a:srgbClr val="C5EBF1"/>
    </a:accent2>
    <a:accent3>
      <a:srgbClr val="7AB6DB"/>
    </a:accent3>
    <a:accent4>
      <a:srgbClr val="66C1EC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8BCE6"/>
    </a:accent1>
    <a:accent2>
      <a:srgbClr val="C5EBF1"/>
    </a:accent2>
    <a:accent3>
      <a:srgbClr val="7AB6DB"/>
    </a:accent3>
    <a:accent4>
      <a:srgbClr val="66C1EC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8BCE6"/>
    </a:accent1>
    <a:accent2>
      <a:srgbClr val="C5EBF1"/>
    </a:accent2>
    <a:accent3>
      <a:srgbClr val="7AB6DB"/>
    </a:accent3>
    <a:accent4>
      <a:srgbClr val="66C1EC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8BCE6"/>
    </a:accent1>
    <a:accent2>
      <a:srgbClr val="C5EBF1"/>
    </a:accent2>
    <a:accent3>
      <a:srgbClr val="7AB6DB"/>
    </a:accent3>
    <a:accent4>
      <a:srgbClr val="66C1EC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8BCE6"/>
    </a:accent1>
    <a:accent2>
      <a:srgbClr val="C5EBF1"/>
    </a:accent2>
    <a:accent3>
      <a:srgbClr val="7AB6DB"/>
    </a:accent3>
    <a:accent4>
      <a:srgbClr val="66C1EC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8BCE6"/>
    </a:accent1>
    <a:accent2>
      <a:srgbClr val="C5EBF1"/>
    </a:accent2>
    <a:accent3>
      <a:srgbClr val="7AB6DB"/>
    </a:accent3>
    <a:accent4>
      <a:srgbClr val="66C1EC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8BCE6"/>
    </a:accent1>
    <a:accent2>
      <a:srgbClr val="C5EBF1"/>
    </a:accent2>
    <a:accent3>
      <a:srgbClr val="7AB6DB"/>
    </a:accent3>
    <a:accent4>
      <a:srgbClr val="66C1EC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3936</Words>
  <Application>WPS 演示</Application>
  <PresentationFormat>宽屏</PresentationFormat>
  <Paragraphs>250</Paragraphs>
  <Slides>23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Microsoft YaHei Regular</vt:lpstr>
      <vt:lpstr>Cambria Math</vt:lpstr>
      <vt:lpstr>Open Sans</vt:lpstr>
      <vt:lpstr>苹方-简</vt:lpstr>
      <vt:lpstr>等线</vt:lpstr>
      <vt:lpstr>汉仪中等线KW</vt:lpstr>
      <vt:lpstr>等线 Light</vt:lpstr>
      <vt:lpstr>Calibri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</dc:title>
  <dc:creator>Dell</dc:creator>
  <cp:lastModifiedBy>Russll</cp:lastModifiedBy>
  <cp:revision>71</cp:revision>
  <dcterms:created xsi:type="dcterms:W3CDTF">2023-12-12T02:39:34Z</dcterms:created>
  <dcterms:modified xsi:type="dcterms:W3CDTF">2023-12-12T02:39:34Z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9ED6F95F0EAE596059985965F19064A4_43</vt:lpwstr>
  </property>
  <property fmtid="{D5CDD505-2E9C-101B-9397-08002B2CF9AE}" pid="3" name="KSOProductBuildVer">
    <vt:lpwstr>2052-5.5.1.7991</vt:lpwstr>
  </property>
</Properties>
</file>
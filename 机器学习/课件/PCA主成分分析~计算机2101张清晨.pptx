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ink/ink1.xml" ContentType="application/inkml+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ink/ink2.xml" ContentType="application/inkml+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2.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3.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369" r:id="rId2"/>
    <p:sldId id="400" r:id="rId3"/>
    <p:sldId id="399" r:id="rId4"/>
    <p:sldId id="408" r:id="rId5"/>
    <p:sldId id="409" r:id="rId6"/>
    <p:sldId id="434" r:id="rId7"/>
    <p:sldId id="411" r:id="rId8"/>
    <p:sldId id="384" r:id="rId9"/>
    <p:sldId id="412" r:id="rId10"/>
    <p:sldId id="370" r:id="rId11"/>
    <p:sldId id="397" r:id="rId12"/>
    <p:sldId id="413" r:id="rId13"/>
    <p:sldId id="371" r:id="rId14"/>
    <p:sldId id="372" r:id="rId15"/>
    <p:sldId id="415" r:id="rId16"/>
    <p:sldId id="378" r:id="rId17"/>
    <p:sldId id="416" r:id="rId18"/>
    <p:sldId id="383" r:id="rId19"/>
    <p:sldId id="435" r:id="rId20"/>
    <p:sldId id="436" r:id="rId21"/>
    <p:sldId id="437" r:id="rId22"/>
    <p:sldId id="398" r:id="rId23"/>
    <p:sldId id="424" r:id="rId24"/>
    <p:sldId id="425" r:id="rId25"/>
    <p:sldId id="426" r:id="rId26"/>
    <p:sldId id="427" r:id="rId27"/>
    <p:sldId id="428" r:id="rId28"/>
    <p:sldId id="429" r:id="rId29"/>
    <p:sldId id="430" r:id="rId30"/>
    <p:sldId id="431" r:id="rId31"/>
    <p:sldId id="432" r:id="rId32"/>
    <p:sldId id="433"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0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7"/>
    <a:srgbClr val="5E7DD7"/>
    <a:srgbClr val="FF4F4F"/>
    <a:srgbClr val="29AAE1"/>
    <a:srgbClr val="EF7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737" autoAdjust="0"/>
  </p:normalViewPr>
  <p:slideViewPr>
    <p:cSldViewPr snapToGrid="0" showGuides="1">
      <p:cViewPr varScale="1">
        <p:scale>
          <a:sx n="70" d="100"/>
          <a:sy n="70" d="100"/>
        </p:scale>
        <p:origin x="1066" y="58"/>
      </p:cViewPr>
      <p:guideLst>
        <p:guide orient="horz" pos="3906"/>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13T17:09:58.850"/>
    </inkml:context>
    <inkml:brush xml:id="br0">
      <inkml:brushProperty name="width" value="0.05292" units="cm"/>
      <inkml:brushProperty name="height" value="0.05292" units="cm"/>
      <inkml:brushProperty name="color" value="#00B050"/>
    </inkml:brush>
    <inkml:brush xml:id="br1">
      <inkml:brushProperty name="width" value="0.05292" units="cm"/>
      <inkml:brushProperty name="height" value="0.05292" units="cm"/>
      <inkml:brushProperty name="color" value="#FF0000"/>
    </inkml:brush>
  </inkml:definitions>
  <inkml:trace contextRef="#ctx0" brushRef="#br0">14887 4851 0,'0'-18'47,"0"0"-31,35-35 15,-35 18-15</inkml:trace>
  <inkml:trace contextRef="#ctx0" brushRef="#br1" timeOffset="8578.57">19103 10601 0,'0'0'0,"0"-18"15,0-123 17,35 106-17,-17 35 17,52-35-1,-34 35-16,-19-18 1,19 18 31,-19 0-31,36 0 15</inkml:trace>
  <inkml:trace contextRef="#ctx0" brushRef="#br1" timeOffset="11254.98">19209 10372 0,'-18'0'0,"0"0"47,-17 0-31,53 0 77,141 123-61,-54-52-17,107 123 17,-141-141-32,52 105 15,-105-105 1,70 0-1,-53 18 17,-35-54-1</inkml:trace>
  <inkml:trace contextRef="#ctx0" brushRef="#br1" timeOffset="12008.59">19879 10460 0,'0'-18'78,"-18"18"-47,1 0 16,-36 35 0,-71 107-32,89-72 1,-159 195 0,123-212-16,19 123 31,52-141-16,-18-17 1,18 17 93</inkml:trace>
  <inkml:trace contextRef="#ctx0" brushRef="#br1" timeOffset="12750.87">20620 10707 0,'53'0'31,"-36"0"-15,142 0 15,-18 35 1,177 230-17,-195-160 16,-105-69-15,-18-19 15</inkml:trace>
  <inkml:trace contextRef="#ctx0" brushRef="#br1" timeOffset="13250.99">21555 10125 0,'0'123'110,"-283"318"-79,1-123-16,176-160 1,-123 72 0,159-177-1,-72 35 1,125-71 15</inkml:trace>
  <inkml:trace contextRef="#ctx0" brushRef="#br1" timeOffset="14450.25">22437 9948 0,'0'0'15,"88"0"17,-35 0-17,-18 36 16,36 105-15,17-18 0,0 1-1,-35-89 17,-53 0-1,0-17 0,53 35 203,0 70-218,105 71 15,-140-106 1,0-17-1,-18-53-16,35-18 32</inkml:trace>
  <inkml:trace contextRef="#ctx0" brushRef="#br1" timeOffset="15168.13">23213 9825 0,'0'-35'16,"-36"35"15,19 70 16,-89 159-32,35 1 1,-70 211 15,88-388-31,-17 105 16,52-52 15,-35-53 0,53 18 1,0-18-17,0 0 1,-17-1 15,17-34 0,0 35 1,0-18-1</inkml:trace>
  <inkml:trace contextRef="#ctx0" brushRef="#br1" timeOffset="27745.8">25453 9684 0,'35'0'125,"-17"35"-109,105 0-1,1 53 1,-1 36 0,1 35-1,105 105 1,-106-123 15,-123-105 0,-35-72 94,-18-175-93,71-107-17,70-176 17,-53 353-32,1 88 15,-36-88 16,0 124-15,0 105 125,-124 106-110,89-141-15,-18 70 15,0-70 0,0 53-15,0 0 15,0-53-15,18 53 15,17-18 0,-17-53-15,18 36 15,-1-54 0,18 18-15,0 18 15,-35-35-15,17 0 62,18 35-31,-53-1-32,35 19 17,18-18-17,0-18 1,-35-17 62</inkml:trace>
  <inkml:trace contextRef="#ctx0" brushRef="#br1" timeOffset="38960.54">24977 8008 0,'53'0'46,"-1"0"-14,19 53-32,-36-18 31,-17-17-15,88 88 15,-89-89 0,36 19 0,-35-36 16,17 0 0,18 53-31,-53-36-16,18-17 15,17 18 1,36 17 15,-54-17-15,19 17-1,16-17 17,-34-18-32,35 35 31,0-35 0,0 0-15,-35 18 15,-18-1-15,52-17 15,19 53 0,-53-18-15,35-17 15,-18 35 0,-18-35 16,36 17-16,-35-17-31,-18 17 32,35-35 15,-17 35-16,17-35-16,-35 35 17,18-35-1,17 18-15,0 35 15,-35-18-16</inkml:trace>
  <inkml:trace contextRef="#ctx0" brushRef="#br1" timeOffset="40041.86">25770 8855 0,'0'-18'141,"53"-88"-110,106-53 0,-106 107-15,70-54 15,-70 35 1,36-35-1,-72 89 16,1-19-16,17 19 47</inkml:trace>
  <inkml:trace contextRef="#ctx0" brushRef="#br1" timeOffset="44015.73">25224 7391 0,'0'70'47,"0"-17"-31,123 106-1,-17-18 1,-71-88 15,18 17-15,-35-52-1,17 17 1,0 36 0,-35-36-1,36 1 16,-19-1 1,18 18-17,-17-36 17,17-17 14,-17 36-14,35-36-1,18 0 0,-19 0 16,-34 0-16,17 0-15,-17 0 0,53-18 15,-19 18 0,1-18 0,-17-17-31,-19 17 16,54-52 15,-18 35 0,-18-18-15,0 0 15,-35 17-15,0-16 15,0-1 0,36 0-15,-19 0 0,-17 35 46,0-17-46,0-36 15,0 54 0,0-19 1,0 19-17,0-18 110,-35 17-62,17 18-48,18-18 1,-17-17 15,-19 35-15,19 0-1,-19 0 1,-87 0 15,70 0-15,-17 0 15,-1 53 0,-17 35-15,53-17-16,-36 87 31,18-52 1,18-88-1,35 17 0,0 18 0,0-35-15,0 35 0,0-36-1,-18 19 1,-17-19 15,17 89 0,-17-71-15,35 1 78,0-1-79,0-18 1,0 89 0,0-88-1,0 35 1,-18-18-1,1-17 1,-19-1 156</inkml:trace>
  <inkml:trace contextRef="#ctx0" brushRef="#br1" timeOffset="48148.33">12718 7743 0,'17'0'172,"71"0"-156,18 0 0,-53 0-1,35 0 1</inkml:trace>
  <inkml:trace contextRef="#ctx0" brushRef="#br1" timeOffset="53058.91">30039 8590 0</inkml:trace>
  <inkml:trace contextRef="#ctx0" brushRef="#br1" timeOffset="55134.09">31309 8837 0,'0'53'94,"0"18"-78,0 17 15,0 35 0,0-105-31,0 17 16,0 36 15,0-54-15,0 36-1,0 18 16,0-36-15,0 36 15,0-36 1,0-17-17,0 34 95,0-34-95,0 17 16,0-17-15,0 35 15,0-35-15,0 17 15,0 18 125,0-18-124,0 0-1,0-17 203</inkml:trace>
  <inkml:trace contextRef="#ctx0" brushRef="#br1" timeOffset="67602.32">16422 6526 0,'17'0'156,"1"0"-109,17 0-31,-17 0 30,17 0 33,-17 0-33,17 0 1,-17 18-31,35-18 0,-36 0 15,54 35 0,-71 1-15,35-36 15,18 0 0,-53 17 0,0 36-15,0 18 15,0-36-31,0-17 16,0 176 15,0-159 0,-18 18-15,-52 53 15,52-89-15,-70 71 15,88-52-15,-35-1 15,0-17 0,70-18 235,-18 0-250,36 0-16,18 0 15,52 0 1,-17 0 15,-70 0-15,-19 0 15,1 0-15,17 0-1,-17 0 1,17 0 46,36 0-30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3-12-13T17:39:23.573"/>
    </inkml:context>
    <inkml:brush xml:id="br0">
      <inkml:brushProperty name="width" value="0.05292" units="cm"/>
      <inkml:brushProperty name="height" value="0.05292" units="cm"/>
      <inkml:brushProperty name="color" value="#FF0000"/>
    </inkml:brush>
  </inkml:definitions>
  <inkml:trace contextRef="#ctx0" brushRef="#br0">17568 8484 0,'36'0'313,"122"53"-282,-122-53-15,122 0 15,-34 18-15,-54-18-1,19 0 1,69 53 15,-87-53-15,193 0 15,-105 0-15,-18 0-1,-70 0-15,17 0 16,-35 0-16,53 0 31,-71 0 16,-35 35-16,-159-17 47,-828 70-46,687-88-17,-106 0 1,36 0 0,-54 0 15,336 0-31,-18 0 15,36 0 1,52 0 0,0 0 31,36 0 46,264 0-77,-141 0 0,459 0-1,-318 0 1,900 35-1,-282 71 1,-653-71 0,105 36-1,-334-71 1,-53 0 62,-18 17-62,-106 19-1,-405 70 1,246-54-16,-2010 37 31,1270-54 0,1040-35 1,194-35 46,1976-265-47,-970 300-15,-53 0 15,-1059 0-15,-175 0 62,-213 70-63,-1128 124 17,440-105-17,336-72 16,617-17-15,53-17 15,35-89-15,212-71 0,812-34 15,-460 123-16,-175 52 1,-265 36 0,-142 0-1,18 0 17,-70 88-1,-300 54-16,-1623 52 17,1552-194-32,54 0 15,-107-36 17,459 19-17,194-124 16,565-195 1,511 54-17,-424 282 17,-846 18-1,35-1 0,-264 107 0,-18-71-15,-300 17 0,-529 72-1,-35-125 16,1076-17-15,17 0 0,18-53 15,36 36-15,246-54-1,-106 71 1,918-71-1,-530 71 17,-458 0-1,-18 0-15,-70 0-16,52 0 31,19 0-16,-19 0 1,36 0 15,-53 0 110,17 0-125,160 0 15,-71 0 0,-54 0 0,-16 0 1,-72 0-32,1 0 0,88 0 15,-53 0 1,105 0 15,-105 0-15,-17 0-1,-1 0 17,106 0-1,-18 0 0,-70 0 0,-35 0-15,53 0 15,-19 0 0,-16 0-15,-19 0 15,19 0-15,-19 0 15,54 36 0,-36-19 1,-17 1-17,17-18 17,-17 0-17,52 0 16,-35 35 1,-17-17-17,35 17 17,106-17-1,-106 17-31,-36 36 31,36 17-15,106 53-1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623450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1472170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31542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载入数据：</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data = np.genfromtxt("data.csv", delimiter=",")</a:t>
            </a:r>
            <a:r>
              <a:rPr kumimoji="0" lang="zh-CN" altLang="zh-CN" b="0" i="0" u="none" strike="noStrike" cap="none" normalizeH="0" baseline="0" dirty="0">
                <a:ln>
                  <a:noFill/>
                </a:ln>
                <a:solidFill>
                  <a:srgbClr val="374151"/>
                </a:solidFill>
                <a:effectLst/>
                <a:ea typeface="Söhne"/>
              </a:rPr>
              <a:t>: 使用NumPy的</a:t>
            </a:r>
            <a:r>
              <a:rPr kumimoji="0" lang="zh-CN" altLang="zh-CN" b="1" i="0" u="none" strike="noStrike" cap="none" normalizeH="0" baseline="0" dirty="0">
                <a:ln>
                  <a:noFill/>
                </a:ln>
                <a:solidFill>
                  <a:srgbClr val="374151"/>
                </a:solidFill>
                <a:effectLst/>
                <a:latin typeface="Arial Unicode MS"/>
                <a:ea typeface="Söhne Mono"/>
              </a:rPr>
              <a:t>genfromtxt</a:t>
            </a:r>
            <a:r>
              <a:rPr kumimoji="0" lang="zh-CN" altLang="zh-CN" b="0" i="0" u="none" strike="noStrike" cap="none" normalizeH="0" baseline="0" dirty="0">
                <a:ln>
                  <a:noFill/>
                </a:ln>
                <a:solidFill>
                  <a:srgbClr val="374151"/>
                </a:solidFill>
                <a:effectLst/>
                <a:ea typeface="Söhne"/>
              </a:rPr>
              <a:t>函数从名为 "data.csv" 的文件中加载数据。这假设该文件是一个以逗号分隔的文本文件（CSV格式），其中包含了数值数据。</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提取数据：</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x_data = data[:, 0]</a:t>
            </a:r>
            <a:r>
              <a:rPr kumimoji="0" lang="zh-CN" altLang="zh-CN" b="0" i="0" u="none" strike="noStrike" cap="none" normalizeH="0" baseline="0" dirty="0">
                <a:ln>
                  <a:noFill/>
                </a:ln>
                <a:solidFill>
                  <a:srgbClr val="374151"/>
                </a:solidFill>
                <a:effectLst/>
                <a:ea typeface="Söhne"/>
              </a:rPr>
              <a:t>: 从加载的数据中提取第一列数据，将其存储在名为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的NumPy数组中。这个数组包含了所有行的第一列数据。</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y_data = data[:, 1]</a:t>
            </a:r>
            <a:r>
              <a:rPr kumimoji="0" lang="zh-CN" altLang="zh-CN" b="0" i="0" u="none" strike="noStrike" cap="none" normalizeH="0" baseline="0" dirty="0">
                <a:ln>
                  <a:noFill/>
                </a:ln>
                <a:solidFill>
                  <a:srgbClr val="374151"/>
                </a:solidFill>
                <a:effectLst/>
                <a:ea typeface="Söhne"/>
              </a:rPr>
              <a:t>: 同样地，从加载的数据中提取第二列数据，将其存储在名为 </a:t>
            </a:r>
            <a:r>
              <a:rPr kumimoji="0" lang="zh-CN" altLang="zh-CN" b="1" i="0" u="none" strike="noStrike" cap="none" normalizeH="0" baseline="0" dirty="0">
                <a:ln>
                  <a:noFill/>
                </a:ln>
                <a:solidFill>
                  <a:srgbClr val="374151"/>
                </a:solidFill>
                <a:effectLst/>
                <a:latin typeface="Arial Unicode MS"/>
                <a:ea typeface="Söhne Mono"/>
              </a:rPr>
              <a:t>y_data</a:t>
            </a:r>
            <a:r>
              <a:rPr kumimoji="0" lang="zh-CN" altLang="zh-CN" b="0" i="0" u="none" strike="noStrike" cap="none" normalizeH="0" baseline="0" dirty="0">
                <a:ln>
                  <a:noFill/>
                </a:ln>
                <a:solidFill>
                  <a:srgbClr val="374151"/>
                </a:solidFill>
                <a:effectLst/>
                <a:ea typeface="Söhne"/>
              </a:rPr>
              <a:t> 的NumPy数组中。这个数组包含了所有行的第二列数据。</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绘制散点图：</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plt.scatter(x_data, y_data)</a:t>
            </a:r>
            <a:r>
              <a:rPr kumimoji="0" lang="zh-CN" altLang="zh-CN" b="0" i="0" u="none" strike="noStrike" cap="none" normalizeH="0" baseline="0" dirty="0">
                <a:ln>
                  <a:noFill/>
                </a:ln>
                <a:solidFill>
                  <a:srgbClr val="374151"/>
                </a:solidFill>
                <a:effectLst/>
                <a:ea typeface="Söhne"/>
              </a:rPr>
              <a:t>: 使用Matplotlib.pyplot的</a:t>
            </a:r>
            <a:r>
              <a:rPr kumimoji="0" lang="zh-CN" altLang="zh-CN" b="1" i="0" u="none" strike="noStrike" cap="none" normalizeH="0" baseline="0" dirty="0">
                <a:ln>
                  <a:noFill/>
                </a:ln>
                <a:solidFill>
                  <a:srgbClr val="374151"/>
                </a:solidFill>
                <a:effectLst/>
                <a:latin typeface="Arial Unicode MS"/>
                <a:ea typeface="Söhne Mono"/>
              </a:rPr>
              <a:t>scatter</a:t>
            </a:r>
            <a:r>
              <a:rPr kumimoji="0" lang="zh-CN" altLang="zh-CN" b="0" i="0" u="none" strike="noStrike" cap="none" normalizeH="0" baseline="0" dirty="0">
                <a:ln>
                  <a:noFill/>
                </a:ln>
                <a:solidFill>
                  <a:srgbClr val="374151"/>
                </a:solidFill>
                <a:effectLst/>
                <a:ea typeface="Söhne"/>
              </a:rPr>
              <a:t>函数绘制散点图，其中 x 轴表示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，y 轴表示 </a:t>
            </a:r>
            <a:r>
              <a:rPr kumimoji="0" lang="zh-CN" altLang="zh-CN" b="1" i="0" u="none" strike="noStrike" cap="none" normalizeH="0" baseline="0" dirty="0">
                <a:ln>
                  <a:noFill/>
                </a:ln>
                <a:solidFill>
                  <a:srgbClr val="374151"/>
                </a:solidFill>
                <a:effectLst/>
                <a:latin typeface="Arial Unicode MS"/>
                <a:ea typeface="Söhne Mono"/>
              </a:rPr>
              <a:t>y_data</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显示图形：</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plt.show()</a:t>
            </a:r>
            <a:r>
              <a:rPr kumimoji="0" lang="zh-CN" altLang="zh-CN" b="0" i="0" u="none" strike="noStrike" cap="none" normalizeH="0" baseline="0" dirty="0">
                <a:ln>
                  <a:noFill/>
                </a:ln>
                <a:solidFill>
                  <a:srgbClr val="374151"/>
                </a:solidFill>
                <a:effectLst/>
                <a:ea typeface="Söhne"/>
              </a:rPr>
              <a:t>: 显示绘制的图形。</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打印数组形状：</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print(x_data.shape)</a:t>
            </a:r>
            <a:r>
              <a:rPr kumimoji="0" lang="zh-CN" altLang="zh-CN" b="0" i="0" u="none" strike="noStrike" cap="none" normalizeH="0" baseline="0" dirty="0">
                <a:ln>
                  <a:noFill/>
                </a:ln>
                <a:solidFill>
                  <a:srgbClr val="374151"/>
                </a:solidFill>
                <a:effectLst/>
                <a:ea typeface="Söhne"/>
              </a:rPr>
              <a:t>: 打印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数组的形状，即它有多少个元素。这对于了解数据的规模和结构很有用。</a:t>
            </a:r>
            <a:endParaRPr kumimoji="0" lang="en-US" altLang="zh-CN" b="0" i="0" u="none" strike="noStrike" cap="none" normalizeH="0" baseline="0" dirty="0">
              <a:ln>
                <a:noFill/>
              </a:ln>
              <a:solidFill>
                <a:srgbClr val="374151"/>
              </a:solidFill>
              <a:effectLst/>
              <a:ea typeface="Söhne"/>
            </a:endParaRP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22</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37092833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mj-lt"/>
              <a:buAutoNum type="arabicPeriod"/>
            </a:pPr>
            <a:r>
              <a:rPr lang="zh-CN" altLang="en-US" b="1" i="0" dirty="0">
                <a:solidFill>
                  <a:srgbClr val="374151"/>
                </a:solidFill>
                <a:effectLst/>
                <a:latin typeface="Söhne"/>
              </a:rPr>
              <a:t>计算均值：</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meanVal</a:t>
            </a:r>
            <a:r>
              <a:rPr lang="en-US" altLang="zh-CN" b="0" i="0" dirty="0">
                <a:solidFill>
                  <a:srgbClr val="374151"/>
                </a:solidFill>
                <a:effectLst/>
                <a:latin typeface="Söhne"/>
              </a:rPr>
              <a:t> = </a:t>
            </a:r>
            <a:r>
              <a:rPr lang="en-US" altLang="zh-CN" b="0" i="0" dirty="0" err="1">
                <a:solidFill>
                  <a:srgbClr val="374151"/>
                </a:solidFill>
                <a:effectLst/>
                <a:latin typeface="Söhne"/>
              </a:rPr>
              <a:t>np.mean</a:t>
            </a:r>
            <a:r>
              <a:rPr lang="en-US" altLang="zh-CN" b="0" i="0" dirty="0">
                <a:solidFill>
                  <a:srgbClr val="374151"/>
                </a:solidFill>
                <a:effectLst/>
                <a:latin typeface="Söhne"/>
              </a:rPr>
              <a:t>(</a:t>
            </a:r>
            <a:r>
              <a:rPr lang="en-US" altLang="zh-CN" b="0" i="0" dirty="0" err="1">
                <a:solidFill>
                  <a:srgbClr val="374151"/>
                </a:solidFill>
                <a:effectLst/>
                <a:latin typeface="Söhne"/>
              </a:rPr>
              <a:t>dataMat</a:t>
            </a:r>
            <a:r>
              <a:rPr lang="en-US" altLang="zh-CN" b="0" i="0" dirty="0">
                <a:solidFill>
                  <a:srgbClr val="374151"/>
                </a:solidFill>
                <a:effectLst/>
                <a:latin typeface="Söhne"/>
              </a:rPr>
              <a:t>, axis=0): </a:t>
            </a:r>
            <a:r>
              <a:rPr lang="zh-CN" altLang="en-US" b="0" i="0" dirty="0">
                <a:solidFill>
                  <a:srgbClr val="374151"/>
                </a:solidFill>
                <a:effectLst/>
                <a:latin typeface="Söhne"/>
              </a:rPr>
              <a:t>使用</a:t>
            </a:r>
            <a:r>
              <a:rPr lang="en-US" altLang="zh-CN" b="0" i="0" dirty="0">
                <a:solidFill>
                  <a:srgbClr val="374151"/>
                </a:solidFill>
                <a:effectLst/>
                <a:latin typeface="Söhne"/>
              </a:rPr>
              <a:t>NumPy</a:t>
            </a:r>
            <a:r>
              <a:rPr lang="zh-CN" altLang="en-US" b="0" i="0" dirty="0">
                <a:solidFill>
                  <a:srgbClr val="374151"/>
                </a:solidFill>
                <a:effectLst/>
                <a:latin typeface="Söhne"/>
              </a:rPr>
              <a:t>的</a:t>
            </a:r>
            <a:r>
              <a:rPr lang="en-US" altLang="zh-CN" b="0" i="0" dirty="0">
                <a:solidFill>
                  <a:srgbClr val="374151"/>
                </a:solidFill>
                <a:effectLst/>
                <a:latin typeface="Söhne"/>
              </a:rPr>
              <a:t>mean</a:t>
            </a:r>
            <a:r>
              <a:rPr lang="zh-CN" altLang="en-US" b="0" i="0" dirty="0">
                <a:solidFill>
                  <a:srgbClr val="374151"/>
                </a:solidFill>
                <a:effectLst/>
                <a:latin typeface="Söhne"/>
              </a:rPr>
              <a:t>函数按列计算数据矩阵 </a:t>
            </a:r>
            <a:r>
              <a:rPr lang="en-US" altLang="zh-CN" b="0" i="0" dirty="0" err="1">
                <a:solidFill>
                  <a:srgbClr val="374151"/>
                </a:solidFill>
                <a:effectLst/>
                <a:latin typeface="Söhne"/>
              </a:rPr>
              <a:t>dataMat</a:t>
            </a:r>
            <a:r>
              <a:rPr lang="en-US" altLang="zh-CN" b="0" i="0" dirty="0">
                <a:solidFill>
                  <a:srgbClr val="374151"/>
                </a:solidFill>
                <a:effectLst/>
                <a:latin typeface="Söhne"/>
              </a:rPr>
              <a:t> </a:t>
            </a:r>
            <a:r>
              <a:rPr lang="zh-CN" altLang="en-US" b="0" i="0" dirty="0">
                <a:solidFill>
                  <a:srgbClr val="374151"/>
                </a:solidFill>
                <a:effectLst/>
                <a:latin typeface="Söhne"/>
              </a:rPr>
              <a:t>中每个特征的均值。</a:t>
            </a:r>
            <a:r>
              <a:rPr lang="en-US" altLang="zh-CN" b="0" i="0" dirty="0">
                <a:solidFill>
                  <a:srgbClr val="374151"/>
                </a:solidFill>
                <a:effectLst/>
                <a:latin typeface="Söhne"/>
              </a:rPr>
              <a:t>axis=0 </a:t>
            </a:r>
            <a:r>
              <a:rPr lang="zh-CN" altLang="en-US" b="0" i="0" dirty="0">
                <a:solidFill>
                  <a:srgbClr val="374151"/>
                </a:solidFill>
                <a:effectLst/>
                <a:latin typeface="Söhne"/>
              </a:rPr>
              <a:t>表示沿着矩阵的列进行操作，即对每个特征求均值。</a:t>
            </a:r>
          </a:p>
          <a:p>
            <a:pPr algn="l">
              <a:buFont typeface="+mj-lt"/>
              <a:buAutoNum type="arabicPeriod"/>
            </a:pPr>
            <a:r>
              <a:rPr lang="zh-CN" altLang="en-US" b="1" i="0" dirty="0">
                <a:solidFill>
                  <a:srgbClr val="374151"/>
                </a:solidFill>
                <a:effectLst/>
                <a:latin typeface="Söhne"/>
              </a:rPr>
              <a:t>中心化数据：</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newData</a:t>
            </a:r>
            <a:r>
              <a:rPr lang="en-US" altLang="zh-CN" b="0" i="0" dirty="0">
                <a:solidFill>
                  <a:srgbClr val="374151"/>
                </a:solidFill>
                <a:effectLst/>
                <a:latin typeface="Söhne"/>
              </a:rPr>
              <a:t> = </a:t>
            </a:r>
            <a:r>
              <a:rPr lang="en-US" altLang="zh-CN" b="0" i="0" dirty="0" err="1">
                <a:solidFill>
                  <a:srgbClr val="374151"/>
                </a:solidFill>
                <a:effectLst/>
                <a:latin typeface="Söhne"/>
              </a:rPr>
              <a:t>dataMat</a:t>
            </a:r>
            <a:r>
              <a:rPr lang="en-US" altLang="zh-CN" b="0" i="0" dirty="0">
                <a:solidFill>
                  <a:srgbClr val="374151"/>
                </a:solidFill>
                <a:effectLst/>
                <a:latin typeface="Söhne"/>
              </a:rPr>
              <a:t> - </a:t>
            </a:r>
            <a:r>
              <a:rPr lang="en-US" altLang="zh-CN" b="0" i="0" dirty="0" err="1">
                <a:solidFill>
                  <a:srgbClr val="374151"/>
                </a:solidFill>
                <a:effectLst/>
                <a:latin typeface="Söhne"/>
              </a:rPr>
              <a:t>meanVal</a:t>
            </a:r>
            <a:r>
              <a:rPr lang="en-US" altLang="zh-CN" b="0" i="0" dirty="0">
                <a:solidFill>
                  <a:srgbClr val="374151"/>
                </a:solidFill>
                <a:effectLst/>
                <a:latin typeface="Söhne"/>
              </a:rPr>
              <a:t>: </a:t>
            </a:r>
            <a:r>
              <a:rPr lang="zh-CN" altLang="en-US" b="0" i="0" dirty="0">
                <a:solidFill>
                  <a:srgbClr val="374151"/>
                </a:solidFill>
                <a:effectLst/>
                <a:latin typeface="Söhne"/>
              </a:rPr>
              <a:t>将原始数据矩阵 </a:t>
            </a:r>
            <a:r>
              <a:rPr lang="en-US" altLang="zh-CN" b="0" i="0" dirty="0" err="1">
                <a:solidFill>
                  <a:srgbClr val="374151"/>
                </a:solidFill>
                <a:effectLst/>
                <a:latin typeface="Söhne"/>
              </a:rPr>
              <a:t>dataMat</a:t>
            </a:r>
            <a:r>
              <a:rPr lang="en-US" altLang="zh-CN" b="0" i="0" dirty="0">
                <a:solidFill>
                  <a:srgbClr val="374151"/>
                </a:solidFill>
                <a:effectLst/>
                <a:latin typeface="Söhne"/>
              </a:rPr>
              <a:t> </a:t>
            </a:r>
            <a:r>
              <a:rPr lang="zh-CN" altLang="en-US" b="0" i="0" dirty="0">
                <a:solidFill>
                  <a:srgbClr val="374151"/>
                </a:solidFill>
                <a:effectLst/>
                <a:latin typeface="Söhne"/>
              </a:rPr>
              <a:t>中的每个元素减去对应特征的均值，得到中心化后的新数据矩阵 </a:t>
            </a:r>
            <a:r>
              <a:rPr lang="en-US" altLang="zh-CN" b="0" i="0" dirty="0" err="1">
                <a:solidFill>
                  <a:srgbClr val="374151"/>
                </a:solidFill>
                <a:effectLst/>
                <a:latin typeface="Söhne"/>
              </a:rPr>
              <a:t>newData</a:t>
            </a:r>
            <a:r>
              <a:rPr lang="zh-CN" altLang="en-US" b="0" i="0" dirty="0">
                <a:solidFill>
                  <a:srgbClr val="374151"/>
                </a:solidFill>
                <a:effectLst/>
                <a:latin typeface="Söhne"/>
              </a:rPr>
              <a:t>。</a:t>
            </a:r>
          </a:p>
          <a:p>
            <a:pPr algn="l">
              <a:buFont typeface="+mj-lt"/>
              <a:buAutoNum type="arabicPeriod"/>
            </a:pPr>
            <a:r>
              <a:rPr lang="zh-CN" altLang="en-US" b="1" i="0" dirty="0">
                <a:solidFill>
                  <a:srgbClr val="374151"/>
                </a:solidFill>
                <a:effectLst/>
                <a:latin typeface="Söhne"/>
              </a:rPr>
              <a:t>返回结果：</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a:solidFill>
                  <a:srgbClr val="374151"/>
                </a:solidFill>
                <a:effectLst/>
                <a:latin typeface="Söhne"/>
              </a:rPr>
              <a:t>return </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en-US" altLang="zh-CN" b="0" i="0" dirty="0" err="1">
                <a:solidFill>
                  <a:srgbClr val="374151"/>
                </a:solidFill>
                <a:effectLst/>
                <a:latin typeface="Söhne"/>
              </a:rPr>
              <a:t>meanVal</a:t>
            </a:r>
            <a:r>
              <a:rPr lang="en-US" altLang="zh-CN" b="0" i="0" dirty="0">
                <a:solidFill>
                  <a:srgbClr val="374151"/>
                </a:solidFill>
                <a:effectLst/>
                <a:latin typeface="Söhne"/>
              </a:rPr>
              <a:t>: </a:t>
            </a:r>
            <a:r>
              <a:rPr lang="zh-CN" altLang="en-US" b="0" i="0" dirty="0">
                <a:solidFill>
                  <a:srgbClr val="374151"/>
                </a:solidFill>
                <a:effectLst/>
                <a:latin typeface="Söhne"/>
              </a:rPr>
              <a:t>函数返回中心化后的数据矩阵 </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zh-CN" altLang="en-US" b="0" i="0" dirty="0">
                <a:solidFill>
                  <a:srgbClr val="374151"/>
                </a:solidFill>
                <a:effectLst/>
                <a:latin typeface="Söhne"/>
              </a:rPr>
              <a:t>和每个特征的均值 </a:t>
            </a:r>
            <a:r>
              <a:rPr lang="en-US" altLang="zh-CN" b="0" i="0" dirty="0" err="1">
                <a:solidFill>
                  <a:srgbClr val="374151"/>
                </a:solidFill>
                <a:effectLst/>
                <a:latin typeface="Söhne"/>
              </a:rPr>
              <a:t>meanVal</a:t>
            </a:r>
            <a:r>
              <a:rPr lang="zh-CN" altLang="en-US" b="0" i="0" dirty="0">
                <a:solidFill>
                  <a:srgbClr val="374151"/>
                </a:solidFill>
                <a:effectLst/>
                <a:latin typeface="Söhne"/>
              </a:rPr>
              <a:t>。</a:t>
            </a:r>
          </a:p>
          <a:p>
            <a:pPr lvl="0" eaLnBrk="1" hangingPunct="1">
              <a:spcBef>
                <a:spcPct val="0"/>
              </a:spcBef>
            </a:pPr>
            <a:endParaRPr lang="en-US" altLang="zh-CN" dirty="0"/>
          </a:p>
          <a:p>
            <a:pPr algn="l">
              <a:buFont typeface="+mj-lt"/>
              <a:buAutoNum type="arabicPeriod"/>
            </a:pPr>
            <a:r>
              <a:rPr lang="zh-CN" altLang="en-US" b="1" i="0" dirty="0">
                <a:solidFill>
                  <a:srgbClr val="374151"/>
                </a:solidFill>
                <a:effectLst/>
                <a:latin typeface="Söhne"/>
              </a:rPr>
              <a:t>中心化数据：</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en-US" altLang="zh-CN" b="0" i="0" dirty="0" err="1">
                <a:solidFill>
                  <a:srgbClr val="374151"/>
                </a:solidFill>
                <a:effectLst/>
                <a:latin typeface="Söhne"/>
              </a:rPr>
              <a:t>meanVal</a:t>
            </a:r>
            <a:r>
              <a:rPr lang="en-US" altLang="zh-CN" b="0" i="0" dirty="0">
                <a:solidFill>
                  <a:srgbClr val="374151"/>
                </a:solidFill>
                <a:effectLst/>
                <a:latin typeface="Söhne"/>
              </a:rPr>
              <a:t> = </a:t>
            </a:r>
            <a:r>
              <a:rPr lang="en-US" altLang="zh-CN" b="0" i="0" dirty="0" err="1">
                <a:solidFill>
                  <a:srgbClr val="374151"/>
                </a:solidFill>
                <a:effectLst/>
                <a:latin typeface="Söhne"/>
              </a:rPr>
              <a:t>zeroMean</a:t>
            </a:r>
            <a:r>
              <a:rPr lang="en-US" altLang="zh-CN" b="0" i="0" dirty="0">
                <a:solidFill>
                  <a:srgbClr val="374151"/>
                </a:solidFill>
                <a:effectLst/>
                <a:latin typeface="Söhne"/>
              </a:rPr>
              <a:t>(data): </a:t>
            </a:r>
            <a:r>
              <a:rPr lang="zh-CN" altLang="en-US" b="0" i="0" dirty="0">
                <a:solidFill>
                  <a:srgbClr val="374151"/>
                </a:solidFill>
                <a:effectLst/>
                <a:latin typeface="Söhne"/>
              </a:rPr>
              <a:t>调用 </a:t>
            </a:r>
            <a:r>
              <a:rPr lang="en-US" altLang="zh-CN" b="0" i="0" dirty="0" err="1">
                <a:solidFill>
                  <a:srgbClr val="374151"/>
                </a:solidFill>
                <a:effectLst/>
                <a:latin typeface="Söhne"/>
              </a:rPr>
              <a:t>zeroMean</a:t>
            </a:r>
            <a:r>
              <a:rPr lang="en-US" altLang="zh-CN" b="0" i="0" dirty="0">
                <a:solidFill>
                  <a:srgbClr val="374151"/>
                </a:solidFill>
                <a:effectLst/>
                <a:latin typeface="Söhne"/>
              </a:rPr>
              <a:t> </a:t>
            </a:r>
            <a:r>
              <a:rPr lang="zh-CN" altLang="en-US" b="0" i="0" dirty="0">
                <a:solidFill>
                  <a:srgbClr val="374151"/>
                </a:solidFill>
                <a:effectLst/>
                <a:latin typeface="Söhne"/>
              </a:rPr>
              <a:t>函数对原始数据 </a:t>
            </a:r>
            <a:r>
              <a:rPr lang="en-US" altLang="zh-CN" b="0" i="0" dirty="0">
                <a:solidFill>
                  <a:srgbClr val="374151"/>
                </a:solidFill>
                <a:effectLst/>
                <a:latin typeface="Söhne"/>
              </a:rPr>
              <a:t>data </a:t>
            </a:r>
            <a:r>
              <a:rPr lang="zh-CN" altLang="en-US" b="0" i="0" dirty="0">
                <a:solidFill>
                  <a:srgbClr val="374151"/>
                </a:solidFill>
                <a:effectLst/>
                <a:latin typeface="Söhne"/>
              </a:rPr>
              <a:t>进行中心化操作，得到中心化后的数据矩阵 </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zh-CN" altLang="en-US" b="0" i="0" dirty="0">
                <a:solidFill>
                  <a:srgbClr val="374151"/>
                </a:solidFill>
                <a:effectLst/>
                <a:latin typeface="Söhne"/>
              </a:rPr>
              <a:t>和每个特征的均值 </a:t>
            </a:r>
            <a:r>
              <a:rPr lang="en-US" altLang="zh-CN" b="0" i="0" dirty="0" err="1">
                <a:solidFill>
                  <a:srgbClr val="374151"/>
                </a:solidFill>
                <a:effectLst/>
                <a:latin typeface="Söhne"/>
              </a:rPr>
              <a:t>meanVal</a:t>
            </a:r>
            <a:r>
              <a:rPr lang="zh-CN" altLang="en-US" b="0" i="0" dirty="0">
                <a:solidFill>
                  <a:srgbClr val="374151"/>
                </a:solidFill>
                <a:effectLst/>
                <a:latin typeface="Söhne"/>
              </a:rPr>
              <a:t>。</a:t>
            </a:r>
          </a:p>
          <a:p>
            <a:pPr algn="l">
              <a:buFont typeface="+mj-lt"/>
              <a:buAutoNum type="arabicPeriod"/>
            </a:pPr>
            <a:r>
              <a:rPr lang="zh-CN" altLang="en-US" b="1" i="0" dirty="0">
                <a:solidFill>
                  <a:srgbClr val="374151"/>
                </a:solidFill>
                <a:effectLst/>
                <a:latin typeface="Söhne"/>
              </a:rPr>
              <a:t>计算协方差矩阵：</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covMat</a:t>
            </a:r>
            <a:r>
              <a:rPr lang="en-US" altLang="zh-CN" b="0" i="0" dirty="0">
                <a:solidFill>
                  <a:srgbClr val="374151"/>
                </a:solidFill>
                <a:effectLst/>
                <a:latin typeface="Söhne"/>
              </a:rPr>
              <a:t> = </a:t>
            </a:r>
            <a:r>
              <a:rPr lang="en-US" altLang="zh-CN" b="0" i="0" dirty="0" err="1">
                <a:solidFill>
                  <a:srgbClr val="374151"/>
                </a:solidFill>
                <a:effectLst/>
                <a:latin typeface="Söhne"/>
              </a:rPr>
              <a:t>np.cov</a:t>
            </a:r>
            <a:r>
              <a:rPr lang="en-US" altLang="zh-CN" b="0" i="0" dirty="0">
                <a:solidFill>
                  <a:srgbClr val="374151"/>
                </a:solidFill>
                <a:effectLst/>
                <a:latin typeface="Söhne"/>
              </a:rPr>
              <a:t>(</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en-US" altLang="zh-CN" b="0" i="0" dirty="0" err="1">
                <a:solidFill>
                  <a:srgbClr val="374151"/>
                </a:solidFill>
                <a:effectLst/>
                <a:latin typeface="Söhne"/>
              </a:rPr>
              <a:t>rowvar</a:t>
            </a:r>
            <a:r>
              <a:rPr lang="en-US" altLang="zh-CN" b="0" i="0" dirty="0">
                <a:solidFill>
                  <a:srgbClr val="374151"/>
                </a:solidFill>
                <a:effectLst/>
                <a:latin typeface="Söhne"/>
              </a:rPr>
              <a:t>=0): </a:t>
            </a:r>
            <a:r>
              <a:rPr lang="zh-CN" altLang="en-US" b="0" i="0" dirty="0">
                <a:solidFill>
                  <a:srgbClr val="374151"/>
                </a:solidFill>
                <a:effectLst/>
                <a:latin typeface="Söhne"/>
              </a:rPr>
              <a:t>使用</a:t>
            </a:r>
            <a:r>
              <a:rPr lang="en-US" altLang="zh-CN" b="0" i="0" dirty="0">
                <a:solidFill>
                  <a:srgbClr val="374151"/>
                </a:solidFill>
                <a:effectLst/>
                <a:latin typeface="Söhne"/>
              </a:rPr>
              <a:t>NumPy</a:t>
            </a:r>
            <a:r>
              <a:rPr lang="zh-CN" altLang="en-US" b="0" i="0" dirty="0">
                <a:solidFill>
                  <a:srgbClr val="374151"/>
                </a:solidFill>
                <a:effectLst/>
                <a:latin typeface="Söhne"/>
              </a:rPr>
              <a:t>的 </a:t>
            </a:r>
            <a:r>
              <a:rPr lang="en-US" altLang="zh-CN" b="0" i="0" dirty="0" err="1">
                <a:solidFill>
                  <a:srgbClr val="374151"/>
                </a:solidFill>
                <a:effectLst/>
                <a:latin typeface="Söhne"/>
              </a:rPr>
              <a:t>cov</a:t>
            </a:r>
            <a:r>
              <a:rPr lang="en-US" altLang="zh-CN" b="0" i="0" dirty="0">
                <a:solidFill>
                  <a:srgbClr val="374151"/>
                </a:solidFill>
                <a:effectLst/>
                <a:latin typeface="Söhne"/>
              </a:rPr>
              <a:t> </a:t>
            </a:r>
            <a:r>
              <a:rPr lang="zh-CN" altLang="en-US" b="0" i="0" dirty="0">
                <a:solidFill>
                  <a:srgbClr val="374151"/>
                </a:solidFill>
                <a:effectLst/>
                <a:latin typeface="Söhne"/>
              </a:rPr>
              <a:t>函数计算中心化后的数据矩阵 </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zh-CN" altLang="en-US" b="0" i="0" dirty="0">
                <a:solidFill>
                  <a:srgbClr val="374151"/>
                </a:solidFill>
                <a:effectLst/>
                <a:latin typeface="Söhne"/>
              </a:rPr>
              <a:t>的协方差矩阵 </a:t>
            </a:r>
            <a:r>
              <a:rPr lang="en-US" altLang="zh-CN" b="0" i="0" dirty="0" err="1">
                <a:solidFill>
                  <a:srgbClr val="374151"/>
                </a:solidFill>
                <a:effectLst/>
                <a:latin typeface="Söhne"/>
              </a:rPr>
              <a:t>covMat</a:t>
            </a:r>
            <a:r>
              <a:rPr lang="zh-CN" altLang="en-US" b="0" i="0" dirty="0">
                <a:solidFill>
                  <a:srgbClr val="374151"/>
                </a:solidFill>
                <a:effectLst/>
                <a:latin typeface="Söhne"/>
              </a:rPr>
              <a:t>。参数 </a:t>
            </a:r>
            <a:r>
              <a:rPr lang="en-US" altLang="zh-CN" b="0" i="0" dirty="0" err="1">
                <a:solidFill>
                  <a:srgbClr val="374151"/>
                </a:solidFill>
                <a:effectLst/>
                <a:latin typeface="Söhne"/>
              </a:rPr>
              <a:t>rowvar</a:t>
            </a:r>
            <a:r>
              <a:rPr lang="en-US" altLang="zh-CN" b="0" i="0" dirty="0">
                <a:solidFill>
                  <a:srgbClr val="374151"/>
                </a:solidFill>
                <a:effectLst/>
                <a:latin typeface="Söhne"/>
              </a:rPr>
              <a:t>=0 </a:t>
            </a:r>
            <a:r>
              <a:rPr lang="zh-CN" altLang="en-US" b="0" i="0" dirty="0">
                <a:solidFill>
                  <a:srgbClr val="374151"/>
                </a:solidFill>
                <a:effectLst/>
                <a:latin typeface="Söhne"/>
              </a:rPr>
              <a:t>表示数据的每一列代表一个特征，而不是每一行代表一个特征。</a:t>
            </a:r>
          </a:p>
          <a:p>
            <a:pPr algn="l"/>
            <a:r>
              <a:rPr lang="zh-CN" altLang="en-US" b="0" i="0" dirty="0">
                <a:solidFill>
                  <a:srgbClr val="374151"/>
                </a:solidFill>
                <a:effectLst/>
                <a:latin typeface="Söhne"/>
              </a:rPr>
              <a:t>协方差矩阵是描述两个或多个随机变量之间关系的矩阵，其中对角线上的元素是各个变量的方差，非对角线上的元素是两个变量之间的协方差。</a:t>
            </a:r>
          </a:p>
          <a:p>
            <a:pPr lvl="0" eaLnBrk="1" hangingPunct="1">
              <a:spcBef>
                <a:spcPct val="0"/>
              </a:spcBef>
            </a:pPr>
            <a:endParaRPr lang="en-US" altLang="zh-CN" dirty="0"/>
          </a:p>
          <a:p>
            <a:pPr algn="l">
              <a:buFont typeface="Arial" panose="020B0604020202020204" pitchFamily="34" charset="0"/>
              <a:buChar char="•"/>
            </a:pPr>
            <a:r>
              <a:rPr lang="en-US" altLang="zh-CN" b="0" i="0" dirty="0" err="1">
                <a:solidFill>
                  <a:srgbClr val="374151"/>
                </a:solidFill>
                <a:effectLst/>
                <a:latin typeface="Söhne"/>
              </a:rPr>
              <a:t>np.linalg.eig</a:t>
            </a:r>
            <a:r>
              <a:rPr lang="en-US" altLang="zh-CN" b="0" i="0" dirty="0">
                <a:solidFill>
                  <a:srgbClr val="374151"/>
                </a:solidFill>
                <a:effectLst/>
                <a:latin typeface="Söhne"/>
              </a:rPr>
              <a:t>(</a:t>
            </a:r>
            <a:r>
              <a:rPr lang="en-US" altLang="zh-CN" b="0" i="0" dirty="0" err="1">
                <a:solidFill>
                  <a:srgbClr val="374151"/>
                </a:solidFill>
                <a:effectLst/>
                <a:latin typeface="Söhne"/>
              </a:rPr>
              <a:t>np.mat</a:t>
            </a:r>
            <a:r>
              <a:rPr lang="en-US" altLang="zh-CN" b="0" i="0" dirty="0">
                <a:solidFill>
                  <a:srgbClr val="374151"/>
                </a:solidFill>
                <a:effectLst/>
                <a:latin typeface="Söhne"/>
              </a:rPr>
              <a:t>(</a:t>
            </a:r>
            <a:r>
              <a:rPr lang="en-US" altLang="zh-CN" b="0" i="0" dirty="0" err="1">
                <a:solidFill>
                  <a:srgbClr val="374151"/>
                </a:solidFill>
                <a:effectLst/>
                <a:latin typeface="Söhne"/>
              </a:rPr>
              <a:t>covMat</a:t>
            </a:r>
            <a:r>
              <a:rPr lang="en-US" altLang="zh-CN" b="0" i="0" dirty="0">
                <a:solidFill>
                  <a:srgbClr val="374151"/>
                </a:solidFill>
                <a:effectLst/>
                <a:latin typeface="Söhne"/>
              </a:rPr>
              <a:t>)): </a:t>
            </a:r>
            <a:r>
              <a:rPr lang="en-US" altLang="zh-CN" b="0" i="0" dirty="0" err="1">
                <a:solidFill>
                  <a:srgbClr val="374151"/>
                </a:solidFill>
                <a:effectLst/>
                <a:latin typeface="Söhne"/>
              </a:rPr>
              <a:t>covMat</a:t>
            </a:r>
            <a:r>
              <a:rPr lang="en-US" altLang="zh-CN" b="0" i="0" dirty="0">
                <a:solidFill>
                  <a:srgbClr val="374151"/>
                </a:solidFill>
                <a:effectLst/>
                <a:latin typeface="Söhne"/>
              </a:rPr>
              <a:t> </a:t>
            </a:r>
            <a:r>
              <a:rPr lang="zh-CN" altLang="en-US" b="0" i="0" dirty="0">
                <a:solidFill>
                  <a:srgbClr val="374151"/>
                </a:solidFill>
                <a:effectLst/>
                <a:latin typeface="Söhne"/>
              </a:rPr>
              <a:t>是协方差矩阵，</a:t>
            </a:r>
            <a:r>
              <a:rPr lang="en-US" altLang="zh-CN" b="0" i="0" dirty="0" err="1">
                <a:solidFill>
                  <a:srgbClr val="374151"/>
                </a:solidFill>
                <a:effectLst/>
                <a:latin typeface="Söhne"/>
              </a:rPr>
              <a:t>np.mat</a:t>
            </a:r>
            <a:r>
              <a:rPr lang="en-US" altLang="zh-CN" b="0" i="0" dirty="0">
                <a:solidFill>
                  <a:srgbClr val="374151"/>
                </a:solidFill>
                <a:effectLst/>
                <a:latin typeface="Söhne"/>
              </a:rPr>
              <a:t>() </a:t>
            </a:r>
            <a:r>
              <a:rPr lang="zh-CN" altLang="en-US" b="0" i="0" dirty="0">
                <a:solidFill>
                  <a:srgbClr val="374151"/>
                </a:solidFill>
                <a:effectLst/>
                <a:latin typeface="Söhne"/>
              </a:rPr>
              <a:t>将其转换为 </a:t>
            </a:r>
            <a:r>
              <a:rPr lang="en-US" altLang="zh-CN" b="0" i="0" dirty="0">
                <a:solidFill>
                  <a:srgbClr val="374151"/>
                </a:solidFill>
                <a:effectLst/>
                <a:latin typeface="Söhne"/>
              </a:rPr>
              <a:t>NumPy </a:t>
            </a:r>
            <a:r>
              <a:rPr lang="zh-CN" altLang="en-US" b="0" i="0" dirty="0">
                <a:solidFill>
                  <a:srgbClr val="374151"/>
                </a:solidFill>
                <a:effectLst/>
                <a:latin typeface="Söhne"/>
              </a:rPr>
              <a:t>矩阵。然后，</a:t>
            </a:r>
            <a:r>
              <a:rPr lang="en-US" altLang="zh-CN" b="0" i="0" dirty="0" err="1">
                <a:solidFill>
                  <a:srgbClr val="374151"/>
                </a:solidFill>
                <a:effectLst/>
                <a:latin typeface="Söhne"/>
              </a:rPr>
              <a:t>np.linalg.eig</a:t>
            </a:r>
            <a:r>
              <a:rPr lang="en-US" altLang="zh-CN" b="0" i="0" dirty="0">
                <a:solidFill>
                  <a:srgbClr val="374151"/>
                </a:solidFill>
                <a:effectLst/>
                <a:latin typeface="Söhne"/>
              </a:rPr>
              <a:t> </a:t>
            </a:r>
            <a:r>
              <a:rPr lang="zh-CN" altLang="en-US" b="0" i="0" dirty="0">
                <a:solidFill>
                  <a:srgbClr val="374151"/>
                </a:solidFill>
                <a:effectLst/>
                <a:latin typeface="Söhne"/>
              </a:rPr>
              <a:t>返回一个包含两个数组的元组，第一个数组 </a:t>
            </a:r>
            <a:r>
              <a:rPr lang="en-US" altLang="zh-CN" b="0" i="0" dirty="0" err="1">
                <a:solidFill>
                  <a:srgbClr val="374151"/>
                </a:solidFill>
                <a:effectLst/>
                <a:latin typeface="Söhne"/>
              </a:rPr>
              <a:t>eigVals</a:t>
            </a:r>
            <a:r>
              <a:rPr lang="en-US" altLang="zh-CN" b="0" i="0" dirty="0">
                <a:solidFill>
                  <a:srgbClr val="374151"/>
                </a:solidFill>
                <a:effectLst/>
                <a:latin typeface="Söhne"/>
              </a:rPr>
              <a:t> </a:t>
            </a:r>
            <a:r>
              <a:rPr lang="zh-CN" altLang="en-US" b="0" i="0" dirty="0">
                <a:solidFill>
                  <a:srgbClr val="374151"/>
                </a:solidFill>
                <a:effectLst/>
                <a:latin typeface="Söhne"/>
              </a:rPr>
              <a:t>包含矩阵的特征值，第二个数组 </a:t>
            </a:r>
            <a:r>
              <a:rPr lang="en-US" altLang="zh-CN" b="0" i="0" dirty="0" err="1">
                <a:solidFill>
                  <a:srgbClr val="374151"/>
                </a:solidFill>
                <a:effectLst/>
                <a:latin typeface="Söhne"/>
              </a:rPr>
              <a:t>eigVects</a:t>
            </a:r>
            <a:r>
              <a:rPr lang="en-US" altLang="zh-CN" b="0" i="0" dirty="0">
                <a:solidFill>
                  <a:srgbClr val="374151"/>
                </a:solidFill>
                <a:effectLst/>
                <a:latin typeface="Söhne"/>
              </a:rPr>
              <a:t> </a:t>
            </a:r>
            <a:r>
              <a:rPr lang="zh-CN" altLang="en-US" b="0" i="0" dirty="0">
                <a:solidFill>
                  <a:srgbClr val="374151"/>
                </a:solidFill>
                <a:effectLst/>
                <a:latin typeface="Söhne"/>
              </a:rPr>
              <a:t>包含相应的特征向量。</a:t>
            </a:r>
          </a:p>
          <a:p>
            <a:pPr algn="l"/>
            <a:r>
              <a:rPr lang="zh-CN" altLang="en-US" b="0" i="0" dirty="0">
                <a:solidFill>
                  <a:srgbClr val="374151"/>
                </a:solidFill>
                <a:effectLst/>
                <a:latin typeface="Söhne"/>
              </a:rPr>
              <a:t>特征值和特征向量对于理解数据集的主要变化方向非常重要，尤其在主成分分析（</a:t>
            </a:r>
            <a:r>
              <a:rPr lang="en-US" altLang="zh-CN" b="0" i="0" dirty="0">
                <a:solidFill>
                  <a:srgbClr val="374151"/>
                </a:solidFill>
                <a:effectLst/>
                <a:latin typeface="Söhne"/>
              </a:rPr>
              <a:t>PCA</a:t>
            </a:r>
            <a:r>
              <a:rPr lang="zh-CN" altLang="en-US" b="0" i="0" dirty="0">
                <a:solidFill>
                  <a:srgbClr val="374151"/>
                </a:solidFill>
                <a:effectLst/>
                <a:latin typeface="Söhne"/>
              </a:rPr>
              <a:t>）等数据降维技术中经常使用。特征值表示了数据中的方差，而特征向量表示了方差的方向。</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23</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129517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Arial" panose="020B0604020202020204" pitchFamily="34" charset="0"/>
              <a:buChar char="•"/>
            </a:pPr>
            <a:r>
              <a:rPr lang="en-US" altLang="zh-CN" b="0" i="0" dirty="0" err="1">
                <a:solidFill>
                  <a:srgbClr val="374151"/>
                </a:solidFill>
                <a:effectLst/>
                <a:latin typeface="Söhne"/>
              </a:rPr>
              <a:t>np.argsort</a:t>
            </a:r>
            <a:r>
              <a:rPr lang="en-US" altLang="zh-CN" b="0" i="0" dirty="0">
                <a:solidFill>
                  <a:srgbClr val="374151"/>
                </a:solidFill>
                <a:effectLst/>
                <a:latin typeface="Söhne"/>
              </a:rPr>
              <a:t>(</a:t>
            </a:r>
            <a:r>
              <a:rPr lang="en-US" altLang="zh-CN" b="0" i="0" dirty="0" err="1">
                <a:solidFill>
                  <a:srgbClr val="374151"/>
                </a:solidFill>
                <a:effectLst/>
                <a:latin typeface="Söhne"/>
              </a:rPr>
              <a:t>eigVals</a:t>
            </a:r>
            <a:r>
              <a:rPr lang="en-US" altLang="zh-CN" b="0" i="0" dirty="0">
                <a:solidFill>
                  <a:srgbClr val="374151"/>
                </a:solidFill>
                <a:effectLst/>
                <a:latin typeface="Söhne"/>
              </a:rPr>
              <a:t>): </a:t>
            </a:r>
            <a:r>
              <a:rPr lang="en-US" altLang="zh-CN" b="0" i="0" dirty="0" err="1">
                <a:solidFill>
                  <a:srgbClr val="374151"/>
                </a:solidFill>
                <a:effectLst/>
                <a:latin typeface="Söhne"/>
              </a:rPr>
              <a:t>argsort</a:t>
            </a:r>
            <a:r>
              <a:rPr lang="en-US" altLang="zh-CN" b="0" i="0" dirty="0">
                <a:solidFill>
                  <a:srgbClr val="374151"/>
                </a:solidFill>
                <a:effectLst/>
                <a:latin typeface="Söhne"/>
              </a:rPr>
              <a:t> </a:t>
            </a:r>
            <a:r>
              <a:rPr lang="zh-CN" altLang="en-US" b="0" i="0" dirty="0">
                <a:solidFill>
                  <a:srgbClr val="374151"/>
                </a:solidFill>
                <a:effectLst/>
                <a:latin typeface="Söhne"/>
              </a:rPr>
              <a:t>函数返回的是数组值从小到大的索引值。在这里，它被用来对特征值数组 </a:t>
            </a:r>
            <a:r>
              <a:rPr lang="en-US" altLang="zh-CN" b="0" i="0" dirty="0" err="1">
                <a:solidFill>
                  <a:srgbClr val="374151"/>
                </a:solidFill>
                <a:effectLst/>
                <a:latin typeface="Söhne"/>
              </a:rPr>
              <a:t>eigVals</a:t>
            </a:r>
            <a:r>
              <a:rPr lang="en-US" altLang="zh-CN" b="0" i="0" dirty="0">
                <a:solidFill>
                  <a:srgbClr val="374151"/>
                </a:solidFill>
                <a:effectLst/>
                <a:latin typeface="Söhne"/>
              </a:rPr>
              <a:t> </a:t>
            </a:r>
            <a:r>
              <a:rPr lang="zh-CN" altLang="en-US" b="0" i="0" dirty="0">
                <a:solidFill>
                  <a:srgbClr val="374151"/>
                </a:solidFill>
                <a:effectLst/>
                <a:latin typeface="Söhne"/>
              </a:rPr>
              <a:t>进行排序。</a:t>
            </a:r>
          </a:p>
          <a:p>
            <a:pPr algn="l"/>
            <a:r>
              <a:rPr lang="zh-CN" altLang="en-US" b="0" i="0" dirty="0">
                <a:solidFill>
                  <a:srgbClr val="374151"/>
                </a:solidFill>
                <a:effectLst/>
                <a:latin typeface="Söhne"/>
              </a:rPr>
              <a:t>这样得到的 </a:t>
            </a:r>
            <a:r>
              <a:rPr lang="en-US" altLang="zh-CN" b="0" i="0" dirty="0" err="1">
                <a:solidFill>
                  <a:srgbClr val="374151"/>
                </a:solidFill>
                <a:effectLst/>
                <a:latin typeface="Söhne"/>
              </a:rPr>
              <a:t>eigValIndice</a:t>
            </a:r>
            <a:r>
              <a:rPr lang="en-US" altLang="zh-CN" b="0" i="0" dirty="0">
                <a:solidFill>
                  <a:srgbClr val="374151"/>
                </a:solidFill>
                <a:effectLst/>
                <a:latin typeface="Söhne"/>
              </a:rPr>
              <a:t> </a:t>
            </a:r>
            <a:r>
              <a:rPr lang="zh-CN" altLang="en-US" b="0" i="0" dirty="0">
                <a:solidFill>
                  <a:srgbClr val="374151"/>
                </a:solidFill>
                <a:effectLst/>
                <a:latin typeface="Söhne"/>
              </a:rPr>
              <a:t>数组包含了特征值从小到大的索引顺序。这个排序通常用于在主成分分析等技术中选择最重要的特征值和相应的特征向量。</a:t>
            </a:r>
          </a:p>
          <a:p>
            <a:pPr lvl="0" eaLnBrk="1" hangingPunct="1">
              <a:spcBef>
                <a:spcPct val="0"/>
              </a:spcBef>
            </a:pPr>
            <a:endParaRPr lang="en-US" altLang="zh-CN" dirty="0"/>
          </a:p>
          <a:p>
            <a:pPr algn="l">
              <a:buFont typeface="Arial" panose="020B0604020202020204" pitchFamily="34" charset="0"/>
              <a:buChar char="•"/>
            </a:pPr>
            <a:r>
              <a:rPr lang="en-US" altLang="zh-CN" b="0" i="0" dirty="0" err="1">
                <a:solidFill>
                  <a:srgbClr val="374151"/>
                </a:solidFill>
                <a:effectLst/>
                <a:latin typeface="Söhne"/>
              </a:rPr>
              <a:t>n_eigValIndice</a:t>
            </a:r>
            <a:r>
              <a:rPr lang="en-US" altLang="zh-CN" b="0" i="0" dirty="0">
                <a:solidFill>
                  <a:srgbClr val="374151"/>
                </a:solidFill>
                <a:effectLst/>
                <a:latin typeface="Söhne"/>
              </a:rPr>
              <a:t> = </a:t>
            </a:r>
            <a:r>
              <a:rPr lang="en-US" altLang="zh-CN" b="0" i="0" dirty="0" err="1">
                <a:solidFill>
                  <a:srgbClr val="374151"/>
                </a:solidFill>
                <a:effectLst/>
                <a:latin typeface="Söhne"/>
              </a:rPr>
              <a:t>eigValIndice</a:t>
            </a:r>
            <a:r>
              <a:rPr lang="en-US" altLang="zh-CN" b="0" i="0" dirty="0">
                <a:solidFill>
                  <a:srgbClr val="374151"/>
                </a:solidFill>
                <a:effectLst/>
                <a:latin typeface="Söhne"/>
              </a:rPr>
              <a:t>[-1:-(top+1):-1]: </a:t>
            </a:r>
            <a:r>
              <a:rPr lang="zh-CN" altLang="en-US" b="0" i="0" dirty="0">
                <a:solidFill>
                  <a:srgbClr val="374151"/>
                </a:solidFill>
                <a:effectLst/>
                <a:latin typeface="Söhne"/>
              </a:rPr>
              <a:t>通过对 </a:t>
            </a:r>
            <a:r>
              <a:rPr lang="en-US" altLang="zh-CN" b="0" i="0" dirty="0" err="1">
                <a:solidFill>
                  <a:srgbClr val="374151"/>
                </a:solidFill>
                <a:effectLst/>
                <a:latin typeface="Söhne"/>
              </a:rPr>
              <a:t>eigValIndice</a:t>
            </a:r>
            <a:r>
              <a:rPr lang="en-US" altLang="zh-CN" b="0" i="0" dirty="0">
                <a:solidFill>
                  <a:srgbClr val="374151"/>
                </a:solidFill>
                <a:effectLst/>
                <a:latin typeface="Söhne"/>
              </a:rPr>
              <a:t> </a:t>
            </a:r>
            <a:r>
              <a:rPr lang="zh-CN" altLang="en-US" b="0" i="0" dirty="0">
                <a:solidFill>
                  <a:srgbClr val="374151"/>
                </a:solidFill>
                <a:effectLst/>
                <a:latin typeface="Söhne"/>
              </a:rPr>
              <a:t>数组进行切片操作，选择了特征值数组中从大到小的前 </a:t>
            </a:r>
            <a:r>
              <a:rPr lang="en-US" altLang="zh-CN" b="0" i="0" dirty="0">
                <a:solidFill>
                  <a:srgbClr val="374151"/>
                </a:solidFill>
                <a:effectLst/>
                <a:latin typeface="Söhne"/>
              </a:rPr>
              <a:t>top </a:t>
            </a:r>
            <a:r>
              <a:rPr lang="zh-CN" altLang="en-US" b="0" i="0" dirty="0">
                <a:solidFill>
                  <a:srgbClr val="374151"/>
                </a:solidFill>
                <a:effectLst/>
                <a:latin typeface="Söhne"/>
              </a:rPr>
              <a:t>个特征值的索引。解释如下：</a:t>
            </a:r>
          </a:p>
          <a:p>
            <a:pPr marL="742950" lvl="1" indent="-285750" algn="l">
              <a:buFont typeface="Arial" panose="020B0604020202020204" pitchFamily="34" charset="0"/>
              <a:buChar char="•"/>
            </a:pPr>
            <a:r>
              <a:rPr lang="en-US" altLang="zh-CN" b="0" i="0" dirty="0" err="1">
                <a:solidFill>
                  <a:srgbClr val="374151"/>
                </a:solidFill>
                <a:effectLst/>
                <a:latin typeface="Söhne"/>
              </a:rPr>
              <a:t>eigValIndice</a:t>
            </a:r>
            <a:r>
              <a:rPr lang="en-US" altLang="zh-CN" b="0" i="0" dirty="0">
                <a:solidFill>
                  <a:srgbClr val="374151"/>
                </a:solidFill>
                <a:effectLst/>
                <a:latin typeface="Söhne"/>
              </a:rPr>
              <a:t>[-1:-(top+1):-1]: </a:t>
            </a:r>
            <a:r>
              <a:rPr lang="zh-CN" altLang="en-US" b="0" i="0" dirty="0">
                <a:solidFill>
                  <a:srgbClr val="374151"/>
                </a:solidFill>
                <a:effectLst/>
                <a:latin typeface="Söhne"/>
              </a:rPr>
              <a:t>这是一个切片操作，使用负索引表示从数组末尾开始。</a:t>
            </a:r>
            <a:r>
              <a:rPr lang="en-US" altLang="zh-CN" b="0" i="0" dirty="0">
                <a:solidFill>
                  <a:srgbClr val="374151"/>
                </a:solidFill>
                <a:effectLst/>
                <a:latin typeface="Söhne"/>
              </a:rPr>
              <a:t>-1 </a:t>
            </a:r>
            <a:r>
              <a:rPr lang="zh-CN" altLang="en-US" b="0" i="0" dirty="0">
                <a:solidFill>
                  <a:srgbClr val="374151"/>
                </a:solidFill>
                <a:effectLst/>
                <a:latin typeface="Söhne"/>
              </a:rPr>
              <a:t>表示最后一个元素，</a:t>
            </a:r>
            <a:r>
              <a:rPr lang="en-US" altLang="zh-CN" b="0" i="0" dirty="0">
                <a:solidFill>
                  <a:srgbClr val="374151"/>
                </a:solidFill>
                <a:effectLst/>
                <a:latin typeface="Söhne"/>
              </a:rPr>
              <a:t>-(top+1) </a:t>
            </a:r>
            <a:r>
              <a:rPr lang="zh-CN" altLang="en-US" b="0" i="0" dirty="0">
                <a:solidFill>
                  <a:srgbClr val="374151"/>
                </a:solidFill>
                <a:effectLst/>
                <a:latin typeface="Söhne"/>
              </a:rPr>
              <a:t>表示倒数第 </a:t>
            </a:r>
            <a:r>
              <a:rPr lang="en-US" altLang="zh-CN" b="0" i="0" dirty="0">
                <a:solidFill>
                  <a:srgbClr val="374151"/>
                </a:solidFill>
                <a:effectLst/>
                <a:latin typeface="Söhne"/>
              </a:rPr>
              <a:t>(top+1) </a:t>
            </a:r>
            <a:r>
              <a:rPr lang="zh-CN" altLang="en-US" b="0" i="0" dirty="0">
                <a:solidFill>
                  <a:srgbClr val="374151"/>
                </a:solidFill>
                <a:effectLst/>
                <a:latin typeface="Söhne"/>
              </a:rPr>
              <a:t>个元素。最后的 </a:t>
            </a:r>
            <a:r>
              <a:rPr lang="en-US" altLang="zh-CN" b="0" i="0" dirty="0">
                <a:solidFill>
                  <a:srgbClr val="374151"/>
                </a:solidFill>
                <a:effectLst/>
                <a:latin typeface="Söhne"/>
              </a:rPr>
              <a:t>-1 </a:t>
            </a:r>
            <a:r>
              <a:rPr lang="zh-CN" altLang="en-US" b="0" i="0" dirty="0">
                <a:solidFill>
                  <a:srgbClr val="374151"/>
                </a:solidFill>
                <a:effectLst/>
                <a:latin typeface="Söhne"/>
              </a:rPr>
              <a:t>表示逆序切片，即从大到小的顺序。这样就得到了前 </a:t>
            </a:r>
            <a:r>
              <a:rPr lang="en-US" altLang="zh-CN" b="0" i="0" dirty="0">
                <a:solidFill>
                  <a:srgbClr val="374151"/>
                </a:solidFill>
                <a:effectLst/>
                <a:latin typeface="Söhne"/>
              </a:rPr>
              <a:t>top </a:t>
            </a:r>
            <a:r>
              <a:rPr lang="zh-CN" altLang="en-US" b="0" i="0" dirty="0">
                <a:solidFill>
                  <a:srgbClr val="374151"/>
                </a:solidFill>
                <a:effectLst/>
                <a:latin typeface="Söhne"/>
              </a:rPr>
              <a:t>个特征值的索引。</a:t>
            </a:r>
          </a:p>
          <a:p>
            <a:pPr algn="l"/>
            <a:r>
              <a:rPr lang="en-US" altLang="zh-CN" b="0" i="0" dirty="0" err="1">
                <a:solidFill>
                  <a:srgbClr val="374151"/>
                </a:solidFill>
                <a:effectLst/>
                <a:latin typeface="Söhne"/>
              </a:rPr>
              <a:t>n_eigValIndice</a:t>
            </a:r>
            <a:r>
              <a:rPr lang="en-US" altLang="zh-CN" b="0" i="0" dirty="0">
                <a:solidFill>
                  <a:srgbClr val="374151"/>
                </a:solidFill>
                <a:effectLst/>
                <a:latin typeface="Söhne"/>
              </a:rPr>
              <a:t> </a:t>
            </a:r>
            <a:r>
              <a:rPr lang="zh-CN" altLang="en-US" b="0" i="0" dirty="0">
                <a:solidFill>
                  <a:srgbClr val="374151"/>
                </a:solidFill>
                <a:effectLst/>
                <a:latin typeface="Söhne"/>
              </a:rPr>
              <a:t>数组现在包含了最大的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个特征值在原始特征值数组中的索引。</a:t>
            </a:r>
          </a:p>
          <a:p>
            <a:pPr lvl="0" eaLnBrk="1" hangingPunct="1">
              <a:spcBef>
                <a:spcPct val="0"/>
              </a:spcBef>
            </a:pPr>
            <a:endParaRPr lang="en-US" altLang="zh-CN" dirty="0"/>
          </a:p>
          <a:p>
            <a:pPr algn="l">
              <a:buFont typeface="Arial" panose="020B0604020202020204" pitchFamily="34" charset="0"/>
              <a:buChar char="•"/>
            </a:pPr>
            <a:r>
              <a:rPr lang="en-US" altLang="zh-CN" b="0" i="0" dirty="0" err="1">
                <a:solidFill>
                  <a:srgbClr val="374151"/>
                </a:solidFill>
                <a:effectLst/>
                <a:latin typeface="Söhne"/>
              </a:rPr>
              <a:t>n_eigVect</a:t>
            </a:r>
            <a:r>
              <a:rPr lang="en-US" altLang="zh-CN" b="0" i="0" dirty="0">
                <a:solidFill>
                  <a:srgbClr val="374151"/>
                </a:solidFill>
                <a:effectLst/>
                <a:latin typeface="Söhne"/>
              </a:rPr>
              <a:t> = </a:t>
            </a:r>
            <a:r>
              <a:rPr lang="en-US" altLang="zh-CN" b="0" i="0" dirty="0" err="1">
                <a:solidFill>
                  <a:srgbClr val="374151"/>
                </a:solidFill>
                <a:effectLst/>
                <a:latin typeface="Söhne"/>
              </a:rPr>
              <a:t>eigVects</a:t>
            </a:r>
            <a:r>
              <a:rPr lang="en-US" altLang="zh-CN" b="0" i="0" dirty="0">
                <a:solidFill>
                  <a:srgbClr val="374151"/>
                </a:solidFill>
                <a:effectLst/>
                <a:latin typeface="Söhne"/>
              </a:rPr>
              <a:t>[:, </a:t>
            </a:r>
            <a:r>
              <a:rPr lang="en-US" altLang="zh-CN" b="0" i="0" dirty="0" err="1">
                <a:solidFill>
                  <a:srgbClr val="374151"/>
                </a:solidFill>
                <a:effectLst/>
                <a:latin typeface="Söhne"/>
              </a:rPr>
              <a:t>n_eigValIndice</a:t>
            </a:r>
            <a:r>
              <a:rPr lang="en-US" altLang="zh-CN" b="0" i="0" dirty="0">
                <a:solidFill>
                  <a:srgbClr val="374151"/>
                </a:solidFill>
                <a:effectLst/>
                <a:latin typeface="Söhne"/>
              </a:rPr>
              <a:t>]: </a:t>
            </a:r>
            <a:r>
              <a:rPr lang="zh-CN" altLang="en-US" b="0" i="0" dirty="0">
                <a:solidFill>
                  <a:srgbClr val="374151"/>
                </a:solidFill>
                <a:effectLst/>
                <a:latin typeface="Söhne"/>
              </a:rPr>
              <a:t>这是一个矩阵的切片操作。</a:t>
            </a:r>
            <a:r>
              <a:rPr lang="en-US" altLang="zh-CN" b="0" i="0" dirty="0" err="1">
                <a:solidFill>
                  <a:srgbClr val="374151"/>
                </a:solidFill>
                <a:effectLst/>
                <a:latin typeface="Söhne"/>
              </a:rPr>
              <a:t>eigVects</a:t>
            </a:r>
            <a:r>
              <a:rPr lang="en-US" altLang="zh-CN" b="0" i="0" dirty="0">
                <a:solidFill>
                  <a:srgbClr val="374151"/>
                </a:solidFill>
                <a:effectLst/>
                <a:latin typeface="Söhne"/>
              </a:rPr>
              <a:t> </a:t>
            </a:r>
            <a:r>
              <a:rPr lang="zh-CN" altLang="en-US" b="0" i="0" dirty="0">
                <a:solidFill>
                  <a:srgbClr val="374151"/>
                </a:solidFill>
                <a:effectLst/>
                <a:latin typeface="Söhne"/>
              </a:rPr>
              <a:t>是包含所有特征向量的矩阵，而 </a:t>
            </a:r>
            <a:r>
              <a:rPr lang="en-US" altLang="zh-CN" b="0" i="0" dirty="0" err="1">
                <a:solidFill>
                  <a:srgbClr val="374151"/>
                </a:solidFill>
                <a:effectLst/>
                <a:latin typeface="Söhne"/>
              </a:rPr>
              <a:t>n_eigValIndice</a:t>
            </a:r>
            <a:r>
              <a:rPr lang="en-US" altLang="zh-CN" b="0" i="0" dirty="0">
                <a:solidFill>
                  <a:srgbClr val="374151"/>
                </a:solidFill>
                <a:effectLst/>
                <a:latin typeface="Söhne"/>
              </a:rPr>
              <a:t> </a:t>
            </a:r>
            <a:r>
              <a:rPr lang="zh-CN" altLang="en-US" b="0" i="0" dirty="0">
                <a:solidFill>
                  <a:srgbClr val="374151"/>
                </a:solidFill>
                <a:effectLst/>
                <a:latin typeface="Söhne"/>
              </a:rPr>
              <a:t>包含了最大的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个特征值在原始特征值数组中的索引。</a:t>
            </a:r>
          </a:p>
          <a:p>
            <a:pPr marL="742950" lvl="1" indent="-285750" algn="l">
              <a:buFont typeface="Arial" panose="020B0604020202020204" pitchFamily="34" charset="0"/>
              <a:buChar char="•"/>
            </a:pPr>
            <a:r>
              <a:rPr lang="en-US" altLang="zh-CN" b="0" i="0" dirty="0" err="1">
                <a:solidFill>
                  <a:srgbClr val="374151"/>
                </a:solidFill>
                <a:effectLst/>
                <a:latin typeface="Söhne"/>
              </a:rPr>
              <a:t>eigVects</a:t>
            </a:r>
            <a:r>
              <a:rPr lang="en-US" altLang="zh-CN" b="0" i="0" dirty="0">
                <a:solidFill>
                  <a:srgbClr val="374151"/>
                </a:solidFill>
                <a:effectLst/>
                <a:latin typeface="Söhne"/>
              </a:rPr>
              <a:t>[:, </a:t>
            </a:r>
            <a:r>
              <a:rPr lang="en-US" altLang="zh-CN" b="0" i="0" dirty="0" err="1">
                <a:solidFill>
                  <a:srgbClr val="374151"/>
                </a:solidFill>
                <a:effectLst/>
                <a:latin typeface="Söhne"/>
              </a:rPr>
              <a:t>n_eigValIndice</a:t>
            </a:r>
            <a:r>
              <a:rPr lang="en-US" altLang="zh-CN" b="0" i="0" dirty="0">
                <a:solidFill>
                  <a:srgbClr val="374151"/>
                </a:solidFill>
                <a:effectLst/>
                <a:latin typeface="Söhne"/>
              </a:rPr>
              <a:t>]: </a:t>
            </a:r>
            <a:r>
              <a:rPr lang="zh-CN" altLang="en-US" b="0" i="0" dirty="0">
                <a:solidFill>
                  <a:srgbClr val="374151"/>
                </a:solidFill>
                <a:effectLst/>
                <a:latin typeface="Söhne"/>
              </a:rPr>
              <a:t>这表示选择 </a:t>
            </a:r>
            <a:r>
              <a:rPr lang="en-US" altLang="zh-CN" b="0" i="0" dirty="0" err="1">
                <a:solidFill>
                  <a:srgbClr val="374151"/>
                </a:solidFill>
                <a:effectLst/>
                <a:latin typeface="Söhne"/>
              </a:rPr>
              <a:t>eigVects</a:t>
            </a:r>
            <a:r>
              <a:rPr lang="en-US" altLang="zh-CN" b="0" i="0" dirty="0">
                <a:solidFill>
                  <a:srgbClr val="374151"/>
                </a:solidFill>
                <a:effectLst/>
                <a:latin typeface="Söhne"/>
              </a:rPr>
              <a:t> </a:t>
            </a:r>
            <a:r>
              <a:rPr lang="zh-CN" altLang="en-US" b="0" i="0" dirty="0">
                <a:solidFill>
                  <a:srgbClr val="374151"/>
                </a:solidFill>
                <a:effectLst/>
                <a:latin typeface="Söhne"/>
              </a:rPr>
              <a:t>矩阵的所有行（表示所有特征）和 </a:t>
            </a:r>
            <a:r>
              <a:rPr lang="en-US" altLang="zh-CN" b="0" i="0" dirty="0" err="1">
                <a:solidFill>
                  <a:srgbClr val="374151"/>
                </a:solidFill>
                <a:effectLst/>
                <a:latin typeface="Söhne"/>
              </a:rPr>
              <a:t>n_eigValIndice</a:t>
            </a:r>
            <a:r>
              <a:rPr lang="en-US" altLang="zh-CN" b="0" i="0" dirty="0">
                <a:solidFill>
                  <a:srgbClr val="374151"/>
                </a:solidFill>
                <a:effectLst/>
                <a:latin typeface="Söhne"/>
              </a:rPr>
              <a:t> </a:t>
            </a:r>
            <a:r>
              <a:rPr lang="zh-CN" altLang="en-US" b="0" i="0" dirty="0">
                <a:solidFill>
                  <a:srgbClr val="374151"/>
                </a:solidFill>
                <a:effectLst/>
                <a:latin typeface="Söhne"/>
              </a:rPr>
              <a:t>中列对应的特征向量。这样就得到了最大的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个特征值对应的特征向量。</a:t>
            </a:r>
          </a:p>
          <a:p>
            <a:pPr algn="l"/>
            <a:r>
              <a:rPr lang="en-US" altLang="zh-CN" b="0" i="0" dirty="0" err="1">
                <a:solidFill>
                  <a:srgbClr val="374151"/>
                </a:solidFill>
                <a:effectLst/>
                <a:latin typeface="Söhne"/>
              </a:rPr>
              <a:t>n_eigVect</a:t>
            </a:r>
            <a:r>
              <a:rPr lang="en-US" altLang="zh-CN" b="0" i="0" dirty="0">
                <a:solidFill>
                  <a:srgbClr val="374151"/>
                </a:solidFill>
                <a:effectLst/>
                <a:latin typeface="Söhne"/>
              </a:rPr>
              <a:t> </a:t>
            </a:r>
            <a:r>
              <a:rPr lang="zh-CN" altLang="en-US" b="0" i="0" dirty="0">
                <a:solidFill>
                  <a:srgbClr val="374151"/>
                </a:solidFill>
                <a:effectLst/>
                <a:latin typeface="Söhne"/>
              </a:rPr>
              <a:t>矩阵现在包含了最大的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个特征值对应的特征向量。</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24</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4056053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r>
              <a:rPr lang="en-US" altLang="zh-CN" b="0" i="0" dirty="0" err="1">
                <a:solidFill>
                  <a:srgbClr val="374151"/>
                </a:solidFill>
                <a:effectLst/>
                <a:latin typeface="Söhne"/>
              </a:rPr>
              <a:t>lowDDataMat</a:t>
            </a:r>
            <a:r>
              <a:rPr lang="en-US" altLang="zh-CN" b="0" i="0" dirty="0">
                <a:solidFill>
                  <a:srgbClr val="374151"/>
                </a:solidFill>
                <a:effectLst/>
                <a:latin typeface="Söhne"/>
              </a:rPr>
              <a:t> = </a:t>
            </a:r>
            <a:r>
              <a:rPr lang="en-US" altLang="zh-CN" b="0" i="0" dirty="0" err="1">
                <a:solidFill>
                  <a:srgbClr val="374151"/>
                </a:solidFill>
                <a:effectLst/>
                <a:latin typeface="Söhne"/>
              </a:rPr>
              <a:t>newData</a:t>
            </a:r>
            <a:r>
              <a:rPr lang="en-US" altLang="zh-CN" b="0" i="0" dirty="0">
                <a:solidFill>
                  <a:srgbClr val="374151"/>
                </a:solidFill>
                <a:effectLst/>
                <a:latin typeface="Söhne"/>
              </a:rPr>
              <a:t> * </a:t>
            </a:r>
            <a:r>
              <a:rPr lang="en-US" altLang="zh-CN" b="0" i="0" dirty="0" err="1">
                <a:solidFill>
                  <a:srgbClr val="374151"/>
                </a:solidFill>
                <a:effectLst/>
                <a:latin typeface="Söhne"/>
              </a:rPr>
              <a:t>n_eigVect</a:t>
            </a:r>
            <a:r>
              <a:rPr lang="en-US" altLang="zh-CN" b="0" i="0" dirty="0">
                <a:solidFill>
                  <a:srgbClr val="374151"/>
                </a:solidFill>
                <a:effectLst/>
                <a:latin typeface="Söhne"/>
              </a:rPr>
              <a:t>: </a:t>
            </a:r>
            <a:r>
              <a:rPr lang="zh-CN" altLang="en-US" b="0" i="0" dirty="0">
                <a:solidFill>
                  <a:srgbClr val="374151"/>
                </a:solidFill>
                <a:effectLst/>
                <a:latin typeface="Söhne"/>
              </a:rPr>
              <a:t>这是矩阵乘法的操作。</a:t>
            </a:r>
            <a:r>
              <a:rPr lang="en-US" altLang="zh-CN" b="0" i="0" dirty="0" err="1">
                <a:solidFill>
                  <a:srgbClr val="374151"/>
                </a:solidFill>
                <a:effectLst/>
                <a:latin typeface="Söhne"/>
              </a:rPr>
              <a:t>newData</a:t>
            </a:r>
            <a:r>
              <a:rPr lang="en-US" altLang="zh-CN" b="0" i="0" dirty="0">
                <a:solidFill>
                  <a:srgbClr val="374151"/>
                </a:solidFill>
                <a:effectLst/>
                <a:latin typeface="Söhne"/>
              </a:rPr>
              <a:t> </a:t>
            </a:r>
            <a:r>
              <a:rPr lang="zh-CN" altLang="en-US" b="0" i="0" dirty="0">
                <a:solidFill>
                  <a:srgbClr val="374151"/>
                </a:solidFill>
                <a:effectLst/>
                <a:latin typeface="Söhne"/>
              </a:rPr>
              <a:t>是数据矩阵经过中心化后的结果，</a:t>
            </a:r>
            <a:r>
              <a:rPr lang="en-US" altLang="zh-CN" b="0" i="0" dirty="0" err="1">
                <a:solidFill>
                  <a:srgbClr val="374151"/>
                </a:solidFill>
                <a:effectLst/>
                <a:latin typeface="Söhne"/>
              </a:rPr>
              <a:t>n_eigVect</a:t>
            </a:r>
            <a:r>
              <a:rPr lang="en-US" altLang="zh-CN" b="0" i="0" dirty="0">
                <a:solidFill>
                  <a:srgbClr val="374151"/>
                </a:solidFill>
                <a:effectLst/>
                <a:latin typeface="Söhne"/>
              </a:rPr>
              <a:t> </a:t>
            </a:r>
            <a:r>
              <a:rPr lang="zh-CN" altLang="en-US" b="0" i="0" dirty="0">
                <a:solidFill>
                  <a:srgbClr val="374151"/>
                </a:solidFill>
                <a:effectLst/>
                <a:latin typeface="Söhne"/>
              </a:rPr>
              <a:t>是选择的最大的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个特征值对应的特征向量。</a:t>
            </a:r>
          </a:p>
          <a:p>
            <a:pPr algn="l">
              <a:buFont typeface="Arial" panose="020B0604020202020204" pitchFamily="34" charset="0"/>
              <a:buChar char="•"/>
            </a:pPr>
            <a:r>
              <a:rPr lang="en-US" altLang="zh-CN" b="0" i="0" dirty="0" err="1">
                <a:solidFill>
                  <a:srgbClr val="374151"/>
                </a:solidFill>
                <a:effectLst/>
                <a:latin typeface="Söhne"/>
              </a:rPr>
              <a:t>newData</a:t>
            </a:r>
            <a:r>
              <a:rPr lang="en-US" altLang="zh-CN" b="0" i="0" dirty="0">
                <a:solidFill>
                  <a:srgbClr val="374151"/>
                </a:solidFill>
                <a:effectLst/>
                <a:latin typeface="Söhne"/>
              </a:rPr>
              <a:t> * </a:t>
            </a:r>
            <a:r>
              <a:rPr lang="en-US" altLang="zh-CN" b="0" i="0" dirty="0" err="1">
                <a:solidFill>
                  <a:srgbClr val="374151"/>
                </a:solidFill>
                <a:effectLst/>
                <a:latin typeface="Söhne"/>
              </a:rPr>
              <a:t>n_eigVect</a:t>
            </a:r>
            <a:r>
              <a:rPr lang="en-US" altLang="zh-CN" b="0" i="0" dirty="0">
                <a:solidFill>
                  <a:srgbClr val="374151"/>
                </a:solidFill>
                <a:effectLst/>
                <a:latin typeface="Söhne"/>
              </a:rPr>
              <a:t>: </a:t>
            </a:r>
            <a:r>
              <a:rPr lang="zh-CN" altLang="en-US" b="0" i="0" dirty="0">
                <a:solidFill>
                  <a:srgbClr val="374151"/>
                </a:solidFill>
                <a:effectLst/>
                <a:latin typeface="Söhne"/>
              </a:rPr>
              <a:t>这个乘法的结果是将中心化后的数据投影到由最大的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个特征向量所张成的低维特征空间中。这样就得到了低维特征空间的数据矩阵 </a:t>
            </a:r>
            <a:r>
              <a:rPr lang="en-US" altLang="zh-CN" b="0" i="0" dirty="0" err="1">
                <a:solidFill>
                  <a:srgbClr val="374151"/>
                </a:solidFill>
                <a:effectLst/>
                <a:latin typeface="Söhne"/>
              </a:rPr>
              <a:t>lowDDataMat</a:t>
            </a:r>
            <a:r>
              <a:rPr lang="zh-CN" altLang="en-US" b="0" i="0" dirty="0">
                <a:solidFill>
                  <a:srgbClr val="374151"/>
                </a:solidFill>
                <a:effectLst/>
                <a:latin typeface="Söhne"/>
              </a:rPr>
              <a:t>。</a:t>
            </a:r>
          </a:p>
          <a:p>
            <a:pPr lvl="0" eaLnBrk="1" hangingPunct="1">
              <a:spcBef>
                <a:spcPct val="0"/>
              </a:spcBef>
            </a:pPr>
            <a:endParaRPr lang="en-US" altLang="zh-CN" dirty="0"/>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25</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358210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Arial" panose="020B0604020202020204" pitchFamily="34" charset="0"/>
              <a:buChar char="•"/>
            </a:pPr>
            <a:r>
              <a:rPr lang="en-US" altLang="zh-CN" b="0" i="0" dirty="0" err="1">
                <a:solidFill>
                  <a:srgbClr val="374151"/>
                </a:solidFill>
                <a:effectLst/>
                <a:latin typeface="Söhne"/>
              </a:rPr>
              <a:t>reconMat</a:t>
            </a:r>
            <a:r>
              <a:rPr lang="en-US" altLang="zh-CN" b="0" i="0" dirty="0">
                <a:solidFill>
                  <a:srgbClr val="374151"/>
                </a:solidFill>
                <a:effectLst/>
                <a:latin typeface="Söhne"/>
              </a:rPr>
              <a:t> = (</a:t>
            </a:r>
            <a:r>
              <a:rPr lang="en-US" altLang="zh-CN" b="0" i="0" dirty="0" err="1">
                <a:solidFill>
                  <a:srgbClr val="374151"/>
                </a:solidFill>
                <a:effectLst/>
                <a:latin typeface="Söhne"/>
              </a:rPr>
              <a:t>lowDDataMat</a:t>
            </a:r>
            <a:r>
              <a:rPr lang="en-US" altLang="zh-CN" b="0" i="0" dirty="0">
                <a:solidFill>
                  <a:srgbClr val="374151"/>
                </a:solidFill>
                <a:effectLst/>
                <a:latin typeface="Söhne"/>
              </a:rPr>
              <a:t> * </a:t>
            </a:r>
            <a:r>
              <a:rPr lang="en-US" altLang="zh-CN" b="0" i="0" dirty="0" err="1">
                <a:solidFill>
                  <a:srgbClr val="374151"/>
                </a:solidFill>
                <a:effectLst/>
                <a:latin typeface="Söhne"/>
              </a:rPr>
              <a:t>n_eigVect.T</a:t>
            </a:r>
            <a:r>
              <a:rPr lang="en-US" altLang="zh-CN" b="0" i="0" dirty="0">
                <a:solidFill>
                  <a:srgbClr val="374151"/>
                </a:solidFill>
                <a:effectLst/>
                <a:latin typeface="Söhne"/>
              </a:rPr>
              <a:t>) + </a:t>
            </a:r>
            <a:r>
              <a:rPr lang="en-US" altLang="zh-CN" b="0" i="0" dirty="0" err="1">
                <a:solidFill>
                  <a:srgbClr val="374151"/>
                </a:solidFill>
                <a:effectLst/>
                <a:latin typeface="Söhne"/>
              </a:rPr>
              <a:t>meanVal</a:t>
            </a:r>
            <a:r>
              <a:rPr lang="en-US" altLang="zh-CN" b="0" i="0" dirty="0">
                <a:solidFill>
                  <a:srgbClr val="374151"/>
                </a:solidFill>
                <a:effectLst/>
                <a:latin typeface="Söhne"/>
              </a:rPr>
              <a:t>: </a:t>
            </a:r>
            <a:r>
              <a:rPr lang="zh-CN" altLang="en-US" b="0" i="0" dirty="0">
                <a:solidFill>
                  <a:srgbClr val="374151"/>
                </a:solidFill>
                <a:effectLst/>
                <a:latin typeface="Söhne"/>
              </a:rPr>
              <a:t>这是逆变换的操作，其中 </a:t>
            </a:r>
            <a:r>
              <a:rPr lang="en-US" altLang="zh-CN" b="0" i="0" dirty="0" err="1">
                <a:solidFill>
                  <a:srgbClr val="374151"/>
                </a:solidFill>
                <a:effectLst/>
                <a:latin typeface="Söhne"/>
              </a:rPr>
              <a:t>n_eigVect.T</a:t>
            </a:r>
            <a:r>
              <a:rPr lang="en-US" altLang="zh-CN" b="0" i="0" dirty="0">
                <a:solidFill>
                  <a:srgbClr val="374151"/>
                </a:solidFill>
                <a:effectLst/>
                <a:latin typeface="Söhne"/>
              </a:rPr>
              <a:t> </a:t>
            </a:r>
            <a:r>
              <a:rPr lang="zh-CN" altLang="en-US" b="0" i="0" dirty="0">
                <a:solidFill>
                  <a:srgbClr val="374151"/>
                </a:solidFill>
                <a:effectLst/>
                <a:latin typeface="Söhne"/>
              </a:rPr>
              <a:t>表示最大的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个特征向量的转置。具体步骤如下：</a:t>
            </a:r>
          </a:p>
          <a:p>
            <a:pPr marL="742950" lvl="1" indent="-285750" algn="l">
              <a:buFont typeface="Arial" panose="020B0604020202020204" pitchFamily="34" charset="0"/>
              <a:buChar char="•"/>
            </a:pP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 </a:t>
            </a:r>
            <a:r>
              <a:rPr lang="en-US" altLang="zh-CN" b="0" i="0" dirty="0" err="1">
                <a:solidFill>
                  <a:srgbClr val="374151"/>
                </a:solidFill>
                <a:effectLst/>
                <a:latin typeface="Söhne"/>
              </a:rPr>
              <a:t>n_eigVect.T</a:t>
            </a:r>
            <a:r>
              <a:rPr lang="en-US" altLang="zh-CN" b="0" i="0" dirty="0">
                <a:solidFill>
                  <a:srgbClr val="374151"/>
                </a:solidFill>
                <a:effectLst/>
                <a:latin typeface="Söhne"/>
              </a:rPr>
              <a:t>): </a:t>
            </a:r>
            <a:r>
              <a:rPr lang="zh-CN" altLang="en-US" b="0" i="0" dirty="0">
                <a:solidFill>
                  <a:srgbClr val="374151"/>
                </a:solidFill>
                <a:effectLst/>
                <a:latin typeface="Söhne"/>
              </a:rPr>
              <a:t>这是矩阵乘法的操作，将低维度的数据投影乘以最大的 </a:t>
            </a:r>
            <a:r>
              <a:rPr lang="en-US" altLang="zh-CN" b="0" i="0" dirty="0">
                <a:solidFill>
                  <a:srgbClr val="374151"/>
                </a:solidFill>
                <a:effectLst/>
                <a:latin typeface="Söhne"/>
              </a:rPr>
              <a:t>top </a:t>
            </a:r>
            <a:r>
              <a:rPr lang="zh-CN" altLang="en-US" b="0" i="0" dirty="0">
                <a:solidFill>
                  <a:srgbClr val="374151"/>
                </a:solidFill>
                <a:effectLst/>
                <a:latin typeface="Söhne"/>
              </a:rPr>
              <a:t>个特征向量的转置，得到一个高维度的投影结果。</a:t>
            </a:r>
          </a:p>
          <a:p>
            <a:pPr marL="742950" lvl="1" indent="-285750" algn="l">
              <a:buFont typeface="Arial" panose="020B0604020202020204" pitchFamily="34" charset="0"/>
              <a:buChar char="•"/>
            </a:pP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 </a:t>
            </a:r>
            <a:r>
              <a:rPr lang="en-US" altLang="zh-CN" b="0" i="0" dirty="0" err="1">
                <a:solidFill>
                  <a:srgbClr val="374151"/>
                </a:solidFill>
                <a:effectLst/>
                <a:latin typeface="Söhne"/>
              </a:rPr>
              <a:t>n_eigVect.T</a:t>
            </a:r>
            <a:r>
              <a:rPr lang="en-US" altLang="zh-CN" b="0" i="0" dirty="0">
                <a:solidFill>
                  <a:srgbClr val="374151"/>
                </a:solidFill>
                <a:effectLst/>
                <a:latin typeface="Söhne"/>
              </a:rPr>
              <a:t>) + </a:t>
            </a:r>
            <a:r>
              <a:rPr lang="en-US" altLang="zh-CN" b="0" i="0" dirty="0" err="1">
                <a:solidFill>
                  <a:srgbClr val="374151"/>
                </a:solidFill>
                <a:effectLst/>
                <a:latin typeface="Söhne"/>
              </a:rPr>
              <a:t>meanVal</a:t>
            </a:r>
            <a:r>
              <a:rPr lang="en-US" altLang="zh-CN" b="0" i="0" dirty="0">
                <a:solidFill>
                  <a:srgbClr val="374151"/>
                </a:solidFill>
                <a:effectLst/>
                <a:latin typeface="Söhne"/>
              </a:rPr>
              <a:t>: </a:t>
            </a:r>
            <a:r>
              <a:rPr lang="zh-CN" altLang="en-US" b="0" i="0" dirty="0">
                <a:solidFill>
                  <a:srgbClr val="374151"/>
                </a:solidFill>
                <a:effectLst/>
                <a:latin typeface="Söhne"/>
              </a:rPr>
              <a:t>然后将均值 </a:t>
            </a:r>
            <a:r>
              <a:rPr lang="en-US" altLang="zh-CN" b="0" i="0" dirty="0" err="1">
                <a:solidFill>
                  <a:srgbClr val="374151"/>
                </a:solidFill>
                <a:effectLst/>
                <a:latin typeface="Söhne"/>
              </a:rPr>
              <a:t>meanVal</a:t>
            </a:r>
            <a:r>
              <a:rPr lang="en-US" altLang="zh-CN" b="0" i="0" dirty="0">
                <a:solidFill>
                  <a:srgbClr val="374151"/>
                </a:solidFill>
                <a:effectLst/>
                <a:latin typeface="Söhne"/>
              </a:rPr>
              <a:t> </a:t>
            </a:r>
            <a:r>
              <a:rPr lang="zh-CN" altLang="en-US" b="0" i="0" dirty="0">
                <a:solidFill>
                  <a:srgbClr val="374151"/>
                </a:solidFill>
                <a:effectLst/>
                <a:latin typeface="Söhne"/>
              </a:rPr>
              <a:t>加回来，完成了从低维度到高维度的数据重构。</a:t>
            </a:r>
          </a:p>
          <a:p>
            <a:pPr algn="l"/>
            <a:r>
              <a:rPr lang="zh-CN" altLang="en-US" b="0" i="0" dirty="0">
                <a:solidFill>
                  <a:srgbClr val="374151"/>
                </a:solidFill>
                <a:effectLst/>
                <a:latin typeface="Söhne"/>
              </a:rPr>
              <a:t>这个步骤通常用于主成分分析（</a:t>
            </a:r>
            <a:r>
              <a:rPr lang="en-US" altLang="zh-CN" b="0" i="0" dirty="0">
                <a:solidFill>
                  <a:srgbClr val="374151"/>
                </a:solidFill>
                <a:effectLst/>
                <a:latin typeface="Söhne"/>
              </a:rPr>
              <a:t>PCA</a:t>
            </a:r>
            <a:r>
              <a:rPr lang="zh-CN" altLang="en-US" b="0" i="0" dirty="0">
                <a:solidFill>
                  <a:srgbClr val="374151"/>
                </a:solidFill>
                <a:effectLst/>
                <a:latin typeface="Söhne"/>
              </a:rPr>
              <a:t>）等技术中，其中数据在降维后又通过逆变换重构为原始维度，以便分析或可视化。</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26</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4168118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原始数据散点图：</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plt.scatter(x_data, y_data)</a:t>
            </a:r>
            <a:r>
              <a:rPr kumimoji="0" lang="zh-CN" altLang="zh-CN" b="0" i="0" u="none" strike="noStrike" cap="none" normalizeH="0" baseline="0" dirty="0">
                <a:ln>
                  <a:noFill/>
                </a:ln>
                <a:solidFill>
                  <a:srgbClr val="374151"/>
                </a:solidFill>
                <a:effectLst/>
                <a:ea typeface="Söhne"/>
              </a:rPr>
              <a:t>: 绘制原始数据的散点图，其中 x 轴表示原始数据的第一列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)，y 轴表示原始数据的第二列 (</a:t>
            </a:r>
            <a:r>
              <a:rPr kumimoji="0" lang="zh-CN" altLang="zh-CN" b="1" i="0" u="none" strike="noStrike" cap="none" normalizeH="0" baseline="0" dirty="0">
                <a:ln>
                  <a:noFill/>
                </a:ln>
                <a:solidFill>
                  <a:srgbClr val="374151"/>
                </a:solidFill>
                <a:effectLst/>
                <a:latin typeface="Arial Unicode MS"/>
                <a:ea typeface="Söhne Mono"/>
              </a:rPr>
              <a:t>y_data</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重构数据散点图：</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x_data = np.array(reconMat)[:,0]</a:t>
            </a:r>
            <a:r>
              <a:rPr kumimoji="0" lang="zh-CN" altLang="zh-CN" b="0" i="0" u="none" strike="noStrike" cap="none" normalizeH="0" baseline="0" dirty="0">
                <a:ln>
                  <a:noFill/>
                </a:ln>
                <a:solidFill>
                  <a:srgbClr val="374151"/>
                </a:solidFill>
                <a:effectLst/>
                <a:ea typeface="Söhne"/>
              </a:rPr>
              <a:t>: 从重构矩阵 </a:t>
            </a:r>
            <a:r>
              <a:rPr kumimoji="0" lang="zh-CN" altLang="zh-CN" b="1" i="0" u="none" strike="noStrike" cap="none" normalizeH="0" baseline="0" dirty="0">
                <a:ln>
                  <a:noFill/>
                </a:ln>
                <a:solidFill>
                  <a:srgbClr val="37415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 中提取第一列数据，用于绘制重构数据的 x 轴。</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y_data = np.array(reconMat)[:,1]</a:t>
            </a:r>
            <a:r>
              <a:rPr kumimoji="0" lang="zh-CN" altLang="zh-CN" b="0" i="0" u="none" strike="noStrike" cap="none" normalizeH="0" baseline="0" dirty="0">
                <a:ln>
                  <a:noFill/>
                </a:ln>
                <a:solidFill>
                  <a:srgbClr val="374151"/>
                </a:solidFill>
                <a:effectLst/>
                <a:ea typeface="Söhne"/>
              </a:rPr>
              <a:t>: 从重构矩阵 </a:t>
            </a:r>
            <a:r>
              <a:rPr kumimoji="0" lang="zh-CN" altLang="zh-CN" b="1" i="0" u="none" strike="noStrike" cap="none" normalizeH="0" baseline="0" dirty="0">
                <a:ln>
                  <a:noFill/>
                </a:ln>
                <a:solidFill>
                  <a:srgbClr val="37415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 中提取第二列数据，用于绘制重构数据的 y 轴。</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plt.scatter(x_data, y_data, c='r')</a:t>
            </a:r>
            <a:r>
              <a:rPr kumimoji="0" lang="zh-CN" altLang="zh-CN" b="0" i="0" u="none" strike="noStrike" cap="none" normalizeH="0" baseline="0" dirty="0">
                <a:ln>
                  <a:noFill/>
                </a:ln>
                <a:solidFill>
                  <a:srgbClr val="374151"/>
                </a:solidFill>
                <a:effectLst/>
                <a:ea typeface="Söhne"/>
              </a:rPr>
              <a:t>: 绘制重构数据的散点图，使用红色 (</a:t>
            </a:r>
            <a:r>
              <a:rPr kumimoji="0" lang="zh-CN" altLang="zh-CN" b="1" i="0" u="none" strike="noStrike" cap="none" normalizeH="0" baseline="0" dirty="0">
                <a:ln>
                  <a:noFill/>
                </a:ln>
                <a:solidFill>
                  <a:srgbClr val="374151"/>
                </a:solidFill>
                <a:effectLst/>
                <a:latin typeface="Arial Unicode MS"/>
                <a:ea typeface="Söhne Mono"/>
              </a:rPr>
              <a:t>c='r'</a:t>
            </a:r>
            <a:r>
              <a:rPr kumimoji="0" lang="zh-CN" altLang="zh-CN" b="0" i="0" u="none" strike="noStrike" cap="none" normalizeH="0" baseline="0" dirty="0">
                <a:ln>
                  <a:noFill/>
                </a:ln>
                <a:solidFill>
                  <a:srgbClr val="374151"/>
                </a:solidFill>
                <a:effectLst/>
                <a:ea typeface="Söhne"/>
              </a:rPr>
              <a:t>) 表示。</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zh-CN" altLang="zh-CN" b="1" i="0" u="none" strike="noStrike" cap="none" normalizeH="0" baseline="0" dirty="0">
                <a:ln>
                  <a:noFill/>
                </a:ln>
                <a:solidFill>
                  <a:srgbClr val="374151"/>
                </a:solidFill>
                <a:effectLst/>
                <a:latin typeface="Arial" panose="020B0604020202020204" pitchFamily="34" charset="0"/>
                <a:ea typeface="Söhne"/>
              </a:rPr>
              <a:t>显示图形：</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plt.show()</a:t>
            </a:r>
            <a:r>
              <a:rPr kumimoji="0" lang="zh-CN" altLang="zh-CN" b="0" i="0" u="none" strike="noStrike" cap="none" normalizeH="0" baseline="0" dirty="0">
                <a:ln>
                  <a:noFill/>
                </a:ln>
                <a:solidFill>
                  <a:srgbClr val="374151"/>
                </a:solidFill>
                <a:effectLst/>
                <a:ea typeface="Söhne"/>
              </a:rPr>
              <a:t>: 显示绘制的原始数据散点图和重构数据散点图。</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这个过程用于比较原始数据和通过低维度数据重构的数据之间的差异。原始数据点通常以蓝色显示，而通过低维度数据重构的数据点通常以红色显示。通过观察两者之间的差异，可以了解降维对数据的影响。</a:t>
            </a:r>
            <a:endParaRPr kumimoji="0" lang="zh-CN" altLang="zh-CN" b="0" i="0" u="none" strike="noStrike" cap="none" normalizeH="0" baseline="0" dirty="0">
              <a:ln>
                <a:noFill/>
              </a:ln>
              <a:solidFill>
                <a:schemeClr val="tx1"/>
              </a:solidFill>
              <a:effectLst/>
              <a:latin typeface="Arial" panose="020B0604020202020204" pitchFamily="34" charset="0"/>
            </a:endParaRP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27</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1275363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mj-lt"/>
              <a:buAutoNum type="arabicPeriod"/>
            </a:pPr>
            <a:r>
              <a:rPr lang="en-US" altLang="zh-CN" b="1" i="0" dirty="0">
                <a:solidFill>
                  <a:srgbClr val="374151"/>
                </a:solidFill>
                <a:effectLst/>
                <a:latin typeface="Söhne"/>
              </a:rPr>
              <a:t>from </a:t>
            </a:r>
            <a:r>
              <a:rPr lang="en-US" altLang="zh-CN" b="1" i="0" dirty="0" err="1">
                <a:solidFill>
                  <a:srgbClr val="374151"/>
                </a:solidFill>
                <a:effectLst/>
                <a:latin typeface="Söhne"/>
              </a:rPr>
              <a:t>sklearn.neural_network</a:t>
            </a:r>
            <a:r>
              <a:rPr lang="en-US" altLang="zh-CN" b="1" i="0" dirty="0">
                <a:solidFill>
                  <a:srgbClr val="374151"/>
                </a:solidFill>
                <a:effectLst/>
                <a:latin typeface="Söhne"/>
              </a:rPr>
              <a:t> import </a:t>
            </a:r>
            <a:r>
              <a:rPr lang="en-US" altLang="zh-CN" b="1" i="0" dirty="0" err="1">
                <a:solidFill>
                  <a:srgbClr val="374151"/>
                </a:solidFill>
                <a:effectLst/>
                <a:latin typeface="Söhne"/>
              </a:rPr>
              <a:t>MLPClassifier</a:t>
            </a:r>
            <a:r>
              <a:rPr lang="en-US" altLang="zh-CN" b="1" i="0" dirty="0">
                <a:solidFill>
                  <a:srgbClr val="374151"/>
                </a:solidFill>
                <a:effectLst/>
                <a:latin typeface="Söhne"/>
              </a:rPr>
              <a:t>:</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Scikit-learn</a:t>
            </a:r>
            <a:r>
              <a:rPr lang="zh-CN" altLang="en-US" b="0" i="0" dirty="0">
                <a:solidFill>
                  <a:srgbClr val="374151"/>
                </a:solidFill>
                <a:effectLst/>
                <a:latin typeface="Söhne"/>
              </a:rPr>
              <a:t>库中的多层感知器（</a:t>
            </a:r>
            <a:r>
              <a:rPr lang="en-US" altLang="zh-CN" b="0" i="0" dirty="0">
                <a:solidFill>
                  <a:srgbClr val="374151"/>
                </a:solidFill>
                <a:effectLst/>
                <a:latin typeface="Söhne"/>
              </a:rPr>
              <a:t>MLP</a:t>
            </a:r>
            <a:r>
              <a:rPr lang="zh-CN" altLang="en-US" b="0" i="0" dirty="0">
                <a:solidFill>
                  <a:srgbClr val="374151"/>
                </a:solidFill>
                <a:effectLst/>
                <a:latin typeface="Söhne"/>
              </a:rPr>
              <a:t>）分类器。</a:t>
            </a:r>
            <a:r>
              <a:rPr lang="en-US" altLang="zh-CN" b="0" i="0" dirty="0">
                <a:solidFill>
                  <a:srgbClr val="374151"/>
                </a:solidFill>
                <a:effectLst/>
                <a:latin typeface="Söhne"/>
              </a:rPr>
              <a:t>MLP</a:t>
            </a:r>
            <a:r>
              <a:rPr lang="zh-CN" altLang="en-US" b="0" i="0" dirty="0">
                <a:solidFill>
                  <a:srgbClr val="374151"/>
                </a:solidFill>
                <a:effectLst/>
                <a:latin typeface="Söhne"/>
              </a:rPr>
              <a:t>是一种基于神经网络的分类器，通常用于解决分类问题。</a:t>
            </a:r>
          </a:p>
          <a:p>
            <a:pPr algn="l">
              <a:buFont typeface="+mj-lt"/>
              <a:buAutoNum type="arabicPeriod"/>
            </a:pPr>
            <a:r>
              <a:rPr lang="en-US" altLang="zh-CN" b="1" i="0" dirty="0">
                <a:solidFill>
                  <a:srgbClr val="374151"/>
                </a:solidFill>
                <a:effectLst/>
                <a:latin typeface="Söhne"/>
              </a:rPr>
              <a:t>from </a:t>
            </a:r>
            <a:r>
              <a:rPr lang="en-US" altLang="zh-CN" b="1" i="0" dirty="0" err="1">
                <a:solidFill>
                  <a:srgbClr val="374151"/>
                </a:solidFill>
                <a:effectLst/>
                <a:latin typeface="Söhne"/>
              </a:rPr>
              <a:t>sklearn.datasets</a:t>
            </a:r>
            <a:r>
              <a:rPr lang="en-US" altLang="zh-CN" b="1" i="0" dirty="0">
                <a:solidFill>
                  <a:srgbClr val="374151"/>
                </a:solidFill>
                <a:effectLst/>
                <a:latin typeface="Söhne"/>
              </a:rPr>
              <a:t> import </a:t>
            </a:r>
            <a:r>
              <a:rPr lang="en-US" altLang="zh-CN" b="1" i="0" dirty="0" err="1">
                <a:solidFill>
                  <a:srgbClr val="374151"/>
                </a:solidFill>
                <a:effectLst/>
                <a:latin typeface="Söhne"/>
              </a:rPr>
              <a:t>load_digits</a:t>
            </a:r>
            <a:r>
              <a:rPr lang="en-US" altLang="zh-CN" b="1" i="0" dirty="0">
                <a:solidFill>
                  <a:srgbClr val="374151"/>
                </a:solidFill>
                <a:effectLst/>
                <a:latin typeface="Söhne"/>
              </a:rPr>
              <a:t>:</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Scikit-learn</a:t>
            </a:r>
            <a:r>
              <a:rPr lang="zh-CN" altLang="en-US" b="0" i="0" dirty="0">
                <a:solidFill>
                  <a:srgbClr val="374151"/>
                </a:solidFill>
                <a:effectLst/>
                <a:latin typeface="Söhne"/>
              </a:rPr>
              <a:t>库中的</a:t>
            </a:r>
            <a:r>
              <a:rPr lang="en-US" altLang="zh-CN" b="0" i="0" dirty="0" err="1">
                <a:solidFill>
                  <a:srgbClr val="374151"/>
                </a:solidFill>
                <a:effectLst/>
                <a:latin typeface="Söhne"/>
              </a:rPr>
              <a:t>load_digits</a:t>
            </a:r>
            <a:r>
              <a:rPr lang="zh-CN" altLang="en-US" b="0" i="0" dirty="0">
                <a:solidFill>
                  <a:srgbClr val="374151"/>
                </a:solidFill>
                <a:effectLst/>
                <a:latin typeface="Söhne"/>
              </a:rPr>
              <a:t>函数，该函数用于加载手写数字数据集。这是一个常用于机器学习示例的小型数据集。</a:t>
            </a:r>
          </a:p>
          <a:p>
            <a:pPr algn="l">
              <a:buFont typeface="+mj-lt"/>
              <a:buAutoNum type="arabicPeriod"/>
            </a:pPr>
            <a:r>
              <a:rPr lang="en-US" altLang="zh-CN" b="1" i="0" dirty="0">
                <a:solidFill>
                  <a:srgbClr val="374151"/>
                </a:solidFill>
                <a:effectLst/>
                <a:latin typeface="Söhne"/>
              </a:rPr>
              <a:t>from </a:t>
            </a:r>
            <a:r>
              <a:rPr lang="en-US" altLang="zh-CN" b="1" i="0" dirty="0" err="1">
                <a:solidFill>
                  <a:srgbClr val="374151"/>
                </a:solidFill>
                <a:effectLst/>
                <a:latin typeface="Söhne"/>
              </a:rPr>
              <a:t>sklearn.model_selection</a:t>
            </a:r>
            <a:r>
              <a:rPr lang="en-US" altLang="zh-CN" b="1" i="0" dirty="0">
                <a:solidFill>
                  <a:srgbClr val="374151"/>
                </a:solidFill>
                <a:effectLst/>
                <a:latin typeface="Söhne"/>
              </a:rPr>
              <a:t> import </a:t>
            </a:r>
            <a:r>
              <a:rPr lang="en-US" altLang="zh-CN" b="1" i="0" dirty="0" err="1">
                <a:solidFill>
                  <a:srgbClr val="374151"/>
                </a:solidFill>
                <a:effectLst/>
                <a:latin typeface="Söhne"/>
              </a:rPr>
              <a:t>train_test_split</a:t>
            </a:r>
            <a:r>
              <a:rPr lang="en-US" altLang="zh-CN" b="1" i="0" dirty="0">
                <a:solidFill>
                  <a:srgbClr val="374151"/>
                </a:solidFill>
                <a:effectLst/>
                <a:latin typeface="Söhne"/>
              </a:rPr>
              <a:t>:</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Scikit-learn</a:t>
            </a:r>
            <a:r>
              <a:rPr lang="zh-CN" altLang="en-US" b="0" i="0" dirty="0">
                <a:solidFill>
                  <a:srgbClr val="374151"/>
                </a:solidFill>
                <a:effectLst/>
                <a:latin typeface="Söhne"/>
              </a:rPr>
              <a:t>库中的</a:t>
            </a:r>
            <a:r>
              <a:rPr lang="en-US" altLang="zh-CN" b="0" i="0" dirty="0" err="1">
                <a:solidFill>
                  <a:srgbClr val="374151"/>
                </a:solidFill>
                <a:effectLst/>
                <a:latin typeface="Söhne"/>
              </a:rPr>
              <a:t>train_test_split</a:t>
            </a:r>
            <a:r>
              <a:rPr lang="zh-CN" altLang="en-US" b="0" i="0" dirty="0">
                <a:solidFill>
                  <a:srgbClr val="374151"/>
                </a:solidFill>
                <a:effectLst/>
                <a:latin typeface="Söhne"/>
              </a:rPr>
              <a:t>函数，该函数用于将数据集拆分为训练集和测试集，以进行模型的训练和评估。</a:t>
            </a:r>
          </a:p>
          <a:p>
            <a:pPr algn="l">
              <a:buFont typeface="+mj-lt"/>
              <a:buAutoNum type="arabicPeriod"/>
            </a:pPr>
            <a:r>
              <a:rPr lang="en-US" altLang="zh-CN" b="1" i="0" dirty="0">
                <a:solidFill>
                  <a:srgbClr val="374151"/>
                </a:solidFill>
                <a:effectLst/>
                <a:latin typeface="Söhne"/>
              </a:rPr>
              <a:t>from </a:t>
            </a:r>
            <a:r>
              <a:rPr lang="en-US" altLang="zh-CN" b="1" i="0" dirty="0" err="1">
                <a:solidFill>
                  <a:srgbClr val="374151"/>
                </a:solidFill>
                <a:effectLst/>
                <a:latin typeface="Söhne"/>
              </a:rPr>
              <a:t>sklearn.metrics</a:t>
            </a:r>
            <a:r>
              <a:rPr lang="en-US" altLang="zh-CN" b="1" i="0" dirty="0">
                <a:solidFill>
                  <a:srgbClr val="374151"/>
                </a:solidFill>
                <a:effectLst/>
                <a:latin typeface="Söhne"/>
              </a:rPr>
              <a:t> import </a:t>
            </a:r>
            <a:r>
              <a:rPr lang="en-US" altLang="zh-CN" b="1" i="0" dirty="0" err="1">
                <a:solidFill>
                  <a:srgbClr val="374151"/>
                </a:solidFill>
                <a:effectLst/>
                <a:latin typeface="Söhne"/>
              </a:rPr>
              <a:t>classification_report,confusion_matrix</a:t>
            </a:r>
            <a:r>
              <a:rPr lang="en-US" altLang="zh-CN" b="1" i="0" dirty="0">
                <a:solidFill>
                  <a:srgbClr val="374151"/>
                </a:solidFill>
                <a:effectLst/>
                <a:latin typeface="Söhne"/>
              </a:rPr>
              <a:t>:</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Scikit-learn</a:t>
            </a:r>
            <a:r>
              <a:rPr lang="zh-CN" altLang="en-US" b="0" i="0" dirty="0">
                <a:solidFill>
                  <a:srgbClr val="374151"/>
                </a:solidFill>
                <a:effectLst/>
                <a:latin typeface="Söhne"/>
              </a:rPr>
              <a:t>库中的</a:t>
            </a:r>
            <a:r>
              <a:rPr lang="en-US" altLang="zh-CN" b="0" i="0" dirty="0" err="1">
                <a:solidFill>
                  <a:srgbClr val="374151"/>
                </a:solidFill>
                <a:effectLst/>
                <a:latin typeface="Söhne"/>
              </a:rPr>
              <a:t>classification_report</a:t>
            </a:r>
            <a:r>
              <a:rPr lang="zh-CN" altLang="en-US" b="0" i="0" dirty="0">
                <a:solidFill>
                  <a:srgbClr val="374151"/>
                </a:solidFill>
                <a:effectLst/>
                <a:latin typeface="Söhne"/>
              </a:rPr>
              <a:t>和</a:t>
            </a:r>
            <a:r>
              <a:rPr lang="en-US" altLang="zh-CN" b="0" i="0" dirty="0" err="1">
                <a:solidFill>
                  <a:srgbClr val="374151"/>
                </a:solidFill>
                <a:effectLst/>
                <a:latin typeface="Söhne"/>
              </a:rPr>
              <a:t>confusion_matrix</a:t>
            </a:r>
            <a:r>
              <a:rPr lang="zh-CN" altLang="en-US" b="0" i="0" dirty="0">
                <a:solidFill>
                  <a:srgbClr val="374151"/>
                </a:solidFill>
                <a:effectLst/>
                <a:latin typeface="Söhne"/>
              </a:rPr>
              <a:t>函数，这些函数用于生成分类问题的性能评估报告和混淆矩阵。</a:t>
            </a:r>
          </a:p>
          <a:p>
            <a:pPr algn="l">
              <a:buFont typeface="+mj-lt"/>
              <a:buAutoNum type="arabicPeriod"/>
            </a:pPr>
            <a:r>
              <a:rPr lang="en-US" altLang="zh-CN" b="1" i="0" dirty="0">
                <a:solidFill>
                  <a:srgbClr val="374151"/>
                </a:solidFill>
                <a:effectLst/>
                <a:latin typeface="Söhne"/>
              </a:rPr>
              <a:t>import </a:t>
            </a:r>
            <a:r>
              <a:rPr lang="en-US" altLang="zh-CN" b="1" i="0" dirty="0" err="1">
                <a:solidFill>
                  <a:srgbClr val="374151"/>
                </a:solidFill>
                <a:effectLst/>
                <a:latin typeface="Söhne"/>
              </a:rPr>
              <a:t>numpy</a:t>
            </a:r>
            <a:r>
              <a:rPr lang="en-US" altLang="zh-CN" b="1" i="0" dirty="0">
                <a:solidFill>
                  <a:srgbClr val="374151"/>
                </a:solidFill>
                <a:effectLst/>
                <a:latin typeface="Söhne"/>
              </a:rPr>
              <a:t> as np:</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NumPy</a:t>
            </a:r>
            <a:r>
              <a:rPr lang="zh-CN" altLang="en-US" b="0" i="0" dirty="0">
                <a:solidFill>
                  <a:srgbClr val="374151"/>
                </a:solidFill>
                <a:effectLst/>
                <a:latin typeface="Söhne"/>
              </a:rPr>
              <a:t>库，并使用别名</a:t>
            </a:r>
            <a:r>
              <a:rPr lang="en-US" altLang="zh-CN" b="0" i="0" dirty="0">
                <a:solidFill>
                  <a:srgbClr val="374151"/>
                </a:solidFill>
                <a:effectLst/>
                <a:latin typeface="Söhne"/>
              </a:rPr>
              <a:t>np</a:t>
            </a:r>
            <a:r>
              <a:rPr lang="zh-CN" altLang="en-US" b="0" i="0" dirty="0">
                <a:solidFill>
                  <a:srgbClr val="374151"/>
                </a:solidFill>
                <a:effectLst/>
                <a:latin typeface="Söhne"/>
              </a:rPr>
              <a:t>引用它。</a:t>
            </a:r>
            <a:r>
              <a:rPr lang="en-US" altLang="zh-CN" b="0" i="0" dirty="0">
                <a:solidFill>
                  <a:srgbClr val="374151"/>
                </a:solidFill>
                <a:effectLst/>
                <a:latin typeface="Söhne"/>
              </a:rPr>
              <a:t>NumPy</a:t>
            </a:r>
            <a:r>
              <a:rPr lang="zh-CN" altLang="en-US" b="0" i="0" dirty="0">
                <a:solidFill>
                  <a:srgbClr val="374151"/>
                </a:solidFill>
                <a:effectLst/>
                <a:latin typeface="Söhne"/>
              </a:rPr>
              <a:t>是一个强大的数值计算库，用于处理数组和执行数学运算。</a:t>
            </a:r>
          </a:p>
          <a:p>
            <a:pPr algn="l">
              <a:buFont typeface="+mj-lt"/>
              <a:buAutoNum type="arabicPeriod"/>
            </a:pPr>
            <a:r>
              <a:rPr lang="en-US" altLang="zh-CN" b="1" i="0" dirty="0">
                <a:solidFill>
                  <a:srgbClr val="374151"/>
                </a:solidFill>
                <a:effectLst/>
                <a:latin typeface="Söhne"/>
              </a:rPr>
              <a:t>import </a:t>
            </a:r>
            <a:r>
              <a:rPr lang="en-US" altLang="zh-CN" b="1" i="0" dirty="0" err="1">
                <a:solidFill>
                  <a:srgbClr val="374151"/>
                </a:solidFill>
                <a:effectLst/>
                <a:latin typeface="Söhne"/>
              </a:rPr>
              <a:t>matplotlib.pyplot</a:t>
            </a:r>
            <a:r>
              <a:rPr lang="en-US" altLang="zh-CN" b="1" i="0" dirty="0">
                <a:solidFill>
                  <a:srgbClr val="374151"/>
                </a:solidFill>
                <a:effectLst/>
                <a:latin typeface="Söhne"/>
              </a:rPr>
              <a:t> as </a:t>
            </a:r>
            <a:r>
              <a:rPr lang="en-US" altLang="zh-CN" b="1" i="0" dirty="0" err="1">
                <a:solidFill>
                  <a:srgbClr val="374151"/>
                </a:solidFill>
                <a:effectLst/>
                <a:latin typeface="Söhne"/>
              </a:rPr>
              <a:t>plt</a:t>
            </a:r>
            <a:r>
              <a:rPr lang="en-US" altLang="zh-CN" b="1" i="0" dirty="0">
                <a:solidFill>
                  <a:srgbClr val="374151"/>
                </a:solidFill>
                <a:effectLst/>
                <a:latin typeface="Söhne"/>
              </a:rPr>
              <a:t>:</a:t>
            </a:r>
            <a:endParaRPr lang="en-US" altLang="zh-CN" b="0" i="0" dirty="0">
              <a:solidFill>
                <a:srgbClr val="374151"/>
              </a:solidFill>
              <a:effectLst/>
              <a:latin typeface="Söhne"/>
            </a:endParaRPr>
          </a:p>
          <a:p>
            <a:pPr marL="742950" lvl="1" indent="-285750" algn="l">
              <a:buFont typeface="+mj-lt"/>
              <a:buAutoNum type="arabicPeriod"/>
            </a:pPr>
            <a:r>
              <a:rPr lang="zh-CN" altLang="en-US" b="0" i="0" dirty="0">
                <a:solidFill>
                  <a:srgbClr val="374151"/>
                </a:solidFill>
                <a:effectLst/>
                <a:latin typeface="Söhne"/>
              </a:rPr>
              <a:t>导入了</a:t>
            </a:r>
            <a:r>
              <a:rPr lang="en-US" altLang="zh-CN" b="0" i="0" dirty="0">
                <a:solidFill>
                  <a:srgbClr val="374151"/>
                </a:solidFill>
                <a:effectLst/>
                <a:latin typeface="Söhne"/>
              </a:rPr>
              <a:t>Matplotlib</a:t>
            </a:r>
            <a:r>
              <a:rPr lang="zh-CN" altLang="en-US" b="0" i="0" dirty="0">
                <a:solidFill>
                  <a:srgbClr val="374151"/>
                </a:solidFill>
                <a:effectLst/>
                <a:latin typeface="Söhne"/>
              </a:rPr>
              <a:t>库的</a:t>
            </a:r>
            <a:r>
              <a:rPr lang="en-US" altLang="zh-CN" b="0" i="0" dirty="0" err="1">
                <a:solidFill>
                  <a:srgbClr val="374151"/>
                </a:solidFill>
                <a:effectLst/>
                <a:latin typeface="Söhne"/>
              </a:rPr>
              <a:t>pyplot</a:t>
            </a:r>
            <a:r>
              <a:rPr lang="zh-CN" altLang="en-US" b="0" i="0" dirty="0">
                <a:solidFill>
                  <a:srgbClr val="374151"/>
                </a:solidFill>
                <a:effectLst/>
                <a:latin typeface="Söhne"/>
              </a:rPr>
              <a:t>模块，并使用别名</a:t>
            </a:r>
            <a:r>
              <a:rPr lang="en-US" altLang="zh-CN" b="0" i="0" dirty="0" err="1">
                <a:solidFill>
                  <a:srgbClr val="374151"/>
                </a:solidFill>
                <a:effectLst/>
                <a:latin typeface="Söhne"/>
              </a:rPr>
              <a:t>plt</a:t>
            </a:r>
            <a:r>
              <a:rPr lang="zh-CN" altLang="en-US" b="0" i="0" dirty="0">
                <a:solidFill>
                  <a:srgbClr val="374151"/>
                </a:solidFill>
                <a:effectLst/>
                <a:latin typeface="Söhne"/>
              </a:rPr>
              <a:t>引用它。</a:t>
            </a:r>
            <a:r>
              <a:rPr lang="en-US" altLang="zh-CN" b="0" i="0" dirty="0">
                <a:solidFill>
                  <a:srgbClr val="374151"/>
                </a:solidFill>
                <a:effectLst/>
                <a:latin typeface="Söhne"/>
              </a:rPr>
              <a:t>Matplotlib</a:t>
            </a:r>
            <a:r>
              <a:rPr lang="zh-CN" altLang="en-US" b="0" i="0" dirty="0">
                <a:solidFill>
                  <a:srgbClr val="374151"/>
                </a:solidFill>
                <a:effectLst/>
                <a:latin typeface="Söhne"/>
              </a:rPr>
              <a:t>是一个用于绘图和可视化数据的库。</a:t>
            </a:r>
          </a:p>
          <a:p>
            <a:pPr lvl="0" eaLnBrk="1" hangingPunct="1">
              <a:spcBef>
                <a:spcPct val="0"/>
              </a:spcBef>
            </a:pPr>
            <a:r>
              <a:rPr lang="zh-CN" altLang="en-US" b="0" i="0" dirty="0">
                <a:solidFill>
                  <a:srgbClr val="374151"/>
                </a:solidFill>
                <a:effectLst/>
                <a:latin typeface="Söhne"/>
              </a:rPr>
              <a:t>这些导入语句表明代码可能涉及使用</a:t>
            </a:r>
            <a:r>
              <a:rPr lang="en-US" altLang="zh-CN" b="0" i="0" dirty="0">
                <a:solidFill>
                  <a:srgbClr val="374151"/>
                </a:solidFill>
                <a:effectLst/>
                <a:latin typeface="Söhne"/>
              </a:rPr>
              <a:t>MLP</a:t>
            </a:r>
            <a:r>
              <a:rPr lang="zh-CN" altLang="en-US" b="0" i="0" dirty="0">
                <a:solidFill>
                  <a:srgbClr val="374151"/>
                </a:solidFill>
                <a:effectLst/>
                <a:latin typeface="Söhne"/>
              </a:rPr>
              <a:t>进行手写数字分类，并使用</a:t>
            </a:r>
            <a:r>
              <a:rPr lang="en-US" altLang="zh-CN" b="0" i="0" dirty="0">
                <a:solidFill>
                  <a:srgbClr val="374151"/>
                </a:solidFill>
                <a:effectLst/>
                <a:latin typeface="Söhne"/>
              </a:rPr>
              <a:t>Scikit-learn</a:t>
            </a:r>
            <a:r>
              <a:rPr lang="zh-CN" altLang="en-US" b="0" i="0" dirty="0">
                <a:solidFill>
                  <a:srgbClr val="374151"/>
                </a:solidFill>
                <a:effectLst/>
                <a:latin typeface="Söhne"/>
              </a:rPr>
              <a:t>提供的工具来加载数据、划分数据集、评估模型性能等。</a:t>
            </a:r>
            <a:endParaRPr lang="en-US" altLang="zh-CN" b="0" i="0" dirty="0">
              <a:solidFill>
                <a:srgbClr val="374151"/>
              </a:solidFill>
              <a:effectLst/>
              <a:latin typeface="Söhne"/>
            </a:endParaRPr>
          </a:p>
          <a:p>
            <a:pPr lvl="0" eaLnBrk="1" hangingPunct="1">
              <a:spcBef>
                <a:spcPct val="0"/>
              </a:spcBef>
            </a:pPr>
            <a:endParaRPr lang="en-US" altLang="zh-CN" b="0" i="0" dirty="0">
              <a:solidFill>
                <a:srgbClr val="374151"/>
              </a:solidFill>
              <a:effectLst/>
              <a:latin typeface="Söhne"/>
            </a:endParaRPr>
          </a:p>
          <a:p>
            <a:pPr algn="l">
              <a:buFont typeface="+mj-lt"/>
              <a:buAutoNum type="arabicPeriod"/>
            </a:pPr>
            <a:r>
              <a:rPr lang="zh-CN" altLang="en-US" b="1" i="0" dirty="0">
                <a:solidFill>
                  <a:srgbClr val="374151"/>
                </a:solidFill>
                <a:effectLst/>
                <a:latin typeface="Söhne"/>
              </a:rPr>
              <a:t>加载手写数字数据集：</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a:solidFill>
                  <a:srgbClr val="374151"/>
                </a:solidFill>
                <a:effectLst/>
                <a:latin typeface="Söhne"/>
              </a:rPr>
              <a:t>digits = </a:t>
            </a:r>
            <a:r>
              <a:rPr lang="en-US" altLang="zh-CN" b="0" i="0" dirty="0" err="1">
                <a:solidFill>
                  <a:srgbClr val="374151"/>
                </a:solidFill>
                <a:effectLst/>
                <a:latin typeface="Söhne"/>
              </a:rPr>
              <a:t>load_digits</a:t>
            </a:r>
            <a:r>
              <a:rPr lang="en-US" altLang="zh-CN" b="0" i="0" dirty="0">
                <a:solidFill>
                  <a:srgbClr val="374151"/>
                </a:solidFill>
                <a:effectLst/>
                <a:latin typeface="Söhne"/>
              </a:rPr>
              <a:t>(): </a:t>
            </a:r>
            <a:r>
              <a:rPr lang="zh-CN" altLang="en-US" b="0" i="0" dirty="0">
                <a:solidFill>
                  <a:srgbClr val="374151"/>
                </a:solidFill>
                <a:effectLst/>
                <a:latin typeface="Söhne"/>
              </a:rPr>
              <a:t>使用</a:t>
            </a:r>
            <a:r>
              <a:rPr lang="en-US" altLang="zh-CN" b="0" i="0" dirty="0">
                <a:solidFill>
                  <a:srgbClr val="374151"/>
                </a:solidFill>
                <a:effectLst/>
                <a:latin typeface="Söhne"/>
              </a:rPr>
              <a:t>Scikit-learn</a:t>
            </a:r>
            <a:r>
              <a:rPr lang="zh-CN" altLang="en-US" b="0" i="0" dirty="0">
                <a:solidFill>
                  <a:srgbClr val="374151"/>
                </a:solidFill>
                <a:effectLst/>
                <a:latin typeface="Söhne"/>
              </a:rPr>
              <a:t>提供的</a:t>
            </a:r>
            <a:r>
              <a:rPr lang="en-US" altLang="zh-CN" b="0" i="0" dirty="0" err="1">
                <a:solidFill>
                  <a:srgbClr val="374151"/>
                </a:solidFill>
                <a:effectLst/>
                <a:latin typeface="Söhne"/>
              </a:rPr>
              <a:t>load_digits</a:t>
            </a:r>
            <a:r>
              <a:rPr lang="zh-CN" altLang="en-US" b="0" i="0" dirty="0">
                <a:solidFill>
                  <a:srgbClr val="374151"/>
                </a:solidFill>
                <a:effectLst/>
                <a:latin typeface="Söhne"/>
              </a:rPr>
              <a:t>函数加载手写数字数据集。</a:t>
            </a:r>
            <a:r>
              <a:rPr lang="en-US" altLang="zh-CN" b="0" i="0" dirty="0">
                <a:solidFill>
                  <a:srgbClr val="374151"/>
                </a:solidFill>
                <a:effectLst/>
                <a:latin typeface="Söhne"/>
              </a:rPr>
              <a:t>digits</a:t>
            </a:r>
            <a:r>
              <a:rPr lang="zh-CN" altLang="en-US" b="0" i="0" dirty="0">
                <a:solidFill>
                  <a:srgbClr val="374151"/>
                </a:solidFill>
                <a:effectLst/>
                <a:latin typeface="Söhne"/>
              </a:rPr>
              <a:t>对象包含了手写数字数据集的特征（</a:t>
            </a:r>
            <a:r>
              <a:rPr lang="en-US" altLang="zh-CN" b="0" i="0" dirty="0">
                <a:solidFill>
                  <a:srgbClr val="374151"/>
                </a:solidFill>
                <a:effectLst/>
                <a:latin typeface="Söhne"/>
              </a:rPr>
              <a:t>data</a:t>
            </a:r>
            <a:r>
              <a:rPr lang="zh-CN" altLang="en-US" b="0" i="0" dirty="0">
                <a:solidFill>
                  <a:srgbClr val="374151"/>
                </a:solidFill>
                <a:effectLst/>
                <a:latin typeface="Söhne"/>
              </a:rPr>
              <a:t>）和标签（</a:t>
            </a:r>
            <a:r>
              <a:rPr lang="en-US" altLang="zh-CN" b="0" i="0" dirty="0">
                <a:solidFill>
                  <a:srgbClr val="374151"/>
                </a:solidFill>
                <a:effectLst/>
                <a:latin typeface="Söhne"/>
              </a:rPr>
              <a:t>target</a:t>
            </a:r>
            <a:r>
              <a:rPr lang="zh-CN" altLang="en-US" b="0" i="0" dirty="0">
                <a:solidFill>
                  <a:srgbClr val="374151"/>
                </a:solidFill>
                <a:effectLst/>
                <a:latin typeface="Söhne"/>
              </a:rPr>
              <a:t>）等信息。</a:t>
            </a:r>
          </a:p>
          <a:p>
            <a:pPr algn="l">
              <a:buFont typeface="+mj-lt"/>
              <a:buAutoNum type="arabicPeriod"/>
            </a:pPr>
            <a:r>
              <a:rPr lang="zh-CN" altLang="en-US" b="1" i="0" dirty="0">
                <a:solidFill>
                  <a:srgbClr val="374151"/>
                </a:solidFill>
                <a:effectLst/>
                <a:latin typeface="Söhne"/>
              </a:rPr>
              <a:t>获取数据和标签：</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x_data</a:t>
            </a:r>
            <a:r>
              <a:rPr lang="en-US" altLang="zh-CN" b="0" i="0" dirty="0">
                <a:solidFill>
                  <a:srgbClr val="374151"/>
                </a:solidFill>
                <a:effectLst/>
                <a:latin typeface="Söhne"/>
              </a:rPr>
              <a:t> = </a:t>
            </a:r>
            <a:r>
              <a:rPr lang="en-US" altLang="zh-CN" b="0" i="0" dirty="0" err="1">
                <a:solidFill>
                  <a:srgbClr val="374151"/>
                </a:solidFill>
                <a:effectLst/>
                <a:latin typeface="Söhne"/>
              </a:rPr>
              <a:t>digits.data</a:t>
            </a:r>
            <a:r>
              <a:rPr lang="en-US" altLang="zh-CN" b="0" i="0" dirty="0">
                <a:solidFill>
                  <a:srgbClr val="374151"/>
                </a:solidFill>
                <a:effectLst/>
                <a:latin typeface="Söhne"/>
              </a:rPr>
              <a:t>: </a:t>
            </a:r>
            <a:r>
              <a:rPr lang="zh-CN" altLang="en-US" b="0" i="0" dirty="0">
                <a:solidFill>
                  <a:srgbClr val="374151"/>
                </a:solidFill>
                <a:effectLst/>
                <a:latin typeface="Söhne"/>
              </a:rPr>
              <a:t>获取手写数字数据集的特征，即图像数据。</a:t>
            </a:r>
          </a:p>
          <a:p>
            <a:pPr marL="742950" lvl="1" indent="-285750" algn="l">
              <a:buFont typeface="+mj-lt"/>
              <a:buAutoNum type="arabicPeriod"/>
            </a:pPr>
            <a:r>
              <a:rPr lang="en-US" altLang="zh-CN" b="0" i="0" dirty="0" err="1">
                <a:solidFill>
                  <a:srgbClr val="374151"/>
                </a:solidFill>
                <a:effectLst/>
                <a:latin typeface="Söhne"/>
              </a:rPr>
              <a:t>y_data</a:t>
            </a:r>
            <a:r>
              <a:rPr lang="en-US" altLang="zh-CN" b="0" i="0" dirty="0">
                <a:solidFill>
                  <a:srgbClr val="374151"/>
                </a:solidFill>
                <a:effectLst/>
                <a:latin typeface="Söhne"/>
              </a:rPr>
              <a:t> = </a:t>
            </a:r>
            <a:r>
              <a:rPr lang="en-US" altLang="zh-CN" b="0" i="0" dirty="0" err="1">
                <a:solidFill>
                  <a:srgbClr val="374151"/>
                </a:solidFill>
                <a:effectLst/>
                <a:latin typeface="Söhne"/>
              </a:rPr>
              <a:t>digits.target</a:t>
            </a:r>
            <a:r>
              <a:rPr lang="en-US" altLang="zh-CN" b="0" i="0" dirty="0">
                <a:solidFill>
                  <a:srgbClr val="374151"/>
                </a:solidFill>
                <a:effectLst/>
                <a:latin typeface="Söhne"/>
              </a:rPr>
              <a:t>: </a:t>
            </a:r>
            <a:r>
              <a:rPr lang="zh-CN" altLang="en-US" b="0" i="0" dirty="0">
                <a:solidFill>
                  <a:srgbClr val="374151"/>
                </a:solidFill>
                <a:effectLst/>
                <a:latin typeface="Söhne"/>
              </a:rPr>
              <a:t>获取手写数字数据集的标签，即数字的真实值。</a:t>
            </a:r>
          </a:p>
          <a:p>
            <a:pPr algn="l">
              <a:buFont typeface="+mj-lt"/>
              <a:buAutoNum type="arabicPeriod"/>
            </a:pPr>
            <a:r>
              <a:rPr lang="zh-CN" altLang="en-US" b="1" i="0" dirty="0">
                <a:solidFill>
                  <a:srgbClr val="374151"/>
                </a:solidFill>
                <a:effectLst/>
                <a:latin typeface="Söhne"/>
              </a:rPr>
              <a:t>分割数据集：</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x_train</a:t>
            </a:r>
            <a:r>
              <a:rPr lang="en-US" altLang="zh-CN" b="0" i="0" dirty="0">
                <a:solidFill>
                  <a:srgbClr val="374151"/>
                </a:solidFill>
                <a:effectLst/>
                <a:latin typeface="Söhne"/>
              </a:rPr>
              <a:t>, </a:t>
            </a:r>
            <a:r>
              <a:rPr lang="en-US" altLang="zh-CN" b="0" i="0" dirty="0" err="1">
                <a:solidFill>
                  <a:srgbClr val="374151"/>
                </a:solidFill>
                <a:effectLst/>
                <a:latin typeface="Söhne"/>
              </a:rPr>
              <a:t>x_test</a:t>
            </a:r>
            <a:r>
              <a:rPr lang="en-US" altLang="zh-CN" b="0" i="0" dirty="0">
                <a:solidFill>
                  <a:srgbClr val="374151"/>
                </a:solidFill>
                <a:effectLst/>
                <a:latin typeface="Söhne"/>
              </a:rPr>
              <a:t>, </a:t>
            </a:r>
            <a:r>
              <a:rPr lang="en-US" altLang="zh-CN" b="0" i="0" dirty="0" err="1">
                <a:solidFill>
                  <a:srgbClr val="374151"/>
                </a:solidFill>
                <a:effectLst/>
                <a:latin typeface="Söhne"/>
              </a:rPr>
              <a:t>y_train</a:t>
            </a:r>
            <a:r>
              <a:rPr lang="en-US" altLang="zh-CN" b="0" i="0" dirty="0">
                <a:solidFill>
                  <a:srgbClr val="374151"/>
                </a:solidFill>
                <a:effectLst/>
                <a:latin typeface="Söhne"/>
              </a:rPr>
              <a:t>, </a:t>
            </a:r>
            <a:r>
              <a:rPr lang="en-US" altLang="zh-CN" b="0" i="0" dirty="0" err="1">
                <a:solidFill>
                  <a:srgbClr val="374151"/>
                </a:solidFill>
                <a:effectLst/>
                <a:latin typeface="Söhne"/>
              </a:rPr>
              <a:t>y_test</a:t>
            </a:r>
            <a:r>
              <a:rPr lang="en-US" altLang="zh-CN" b="0" i="0" dirty="0">
                <a:solidFill>
                  <a:srgbClr val="374151"/>
                </a:solidFill>
                <a:effectLst/>
                <a:latin typeface="Söhne"/>
              </a:rPr>
              <a:t> = </a:t>
            </a:r>
            <a:r>
              <a:rPr lang="en-US" altLang="zh-CN" b="0" i="0" dirty="0" err="1">
                <a:solidFill>
                  <a:srgbClr val="374151"/>
                </a:solidFill>
                <a:effectLst/>
                <a:latin typeface="Söhne"/>
              </a:rPr>
              <a:t>train_test_split</a:t>
            </a:r>
            <a:r>
              <a:rPr lang="en-US" altLang="zh-CN" b="0" i="0" dirty="0">
                <a:solidFill>
                  <a:srgbClr val="374151"/>
                </a:solidFill>
                <a:effectLst/>
                <a:latin typeface="Söhne"/>
              </a:rPr>
              <a:t>(</a:t>
            </a:r>
            <a:r>
              <a:rPr lang="en-US" altLang="zh-CN" b="0" i="0" dirty="0" err="1">
                <a:solidFill>
                  <a:srgbClr val="374151"/>
                </a:solidFill>
                <a:effectLst/>
                <a:latin typeface="Söhne"/>
              </a:rPr>
              <a:t>x_data</a:t>
            </a:r>
            <a:r>
              <a:rPr lang="en-US" altLang="zh-CN" b="0" i="0" dirty="0">
                <a:solidFill>
                  <a:srgbClr val="374151"/>
                </a:solidFill>
                <a:effectLst/>
                <a:latin typeface="Söhne"/>
              </a:rPr>
              <a:t>, </a:t>
            </a:r>
            <a:r>
              <a:rPr lang="en-US" altLang="zh-CN" b="0" i="0" dirty="0" err="1">
                <a:solidFill>
                  <a:srgbClr val="374151"/>
                </a:solidFill>
                <a:effectLst/>
                <a:latin typeface="Söhne"/>
              </a:rPr>
              <a:t>y_data</a:t>
            </a:r>
            <a:r>
              <a:rPr lang="en-US" altLang="zh-CN" b="0" i="0" dirty="0">
                <a:solidFill>
                  <a:srgbClr val="374151"/>
                </a:solidFill>
                <a:effectLst/>
                <a:latin typeface="Söhne"/>
              </a:rPr>
              <a:t>): </a:t>
            </a:r>
            <a:r>
              <a:rPr lang="zh-CN" altLang="en-US" b="0" i="0" dirty="0">
                <a:solidFill>
                  <a:srgbClr val="374151"/>
                </a:solidFill>
                <a:effectLst/>
                <a:latin typeface="Söhne"/>
              </a:rPr>
              <a:t>使用</a:t>
            </a:r>
            <a:r>
              <a:rPr lang="en-US" altLang="zh-CN" b="0" i="0" dirty="0" err="1">
                <a:solidFill>
                  <a:srgbClr val="374151"/>
                </a:solidFill>
                <a:effectLst/>
                <a:latin typeface="Söhne"/>
              </a:rPr>
              <a:t>train_test_split</a:t>
            </a:r>
            <a:r>
              <a:rPr lang="zh-CN" altLang="en-US" b="0" i="0" dirty="0">
                <a:solidFill>
                  <a:srgbClr val="374151"/>
                </a:solidFill>
                <a:effectLst/>
                <a:latin typeface="Söhne"/>
              </a:rPr>
              <a:t>函数将数据集分割成训练集（</a:t>
            </a:r>
            <a:r>
              <a:rPr lang="en-US" altLang="zh-CN" b="0" i="0" dirty="0" err="1">
                <a:solidFill>
                  <a:srgbClr val="374151"/>
                </a:solidFill>
                <a:effectLst/>
                <a:latin typeface="Söhne"/>
              </a:rPr>
              <a:t>x_train</a:t>
            </a:r>
            <a:r>
              <a:rPr lang="en-US" altLang="zh-CN" b="0" i="0" dirty="0">
                <a:solidFill>
                  <a:srgbClr val="374151"/>
                </a:solidFill>
                <a:effectLst/>
                <a:latin typeface="Söhne"/>
              </a:rPr>
              <a:t>, </a:t>
            </a:r>
            <a:r>
              <a:rPr lang="en-US" altLang="zh-CN" b="0" i="0" dirty="0" err="1">
                <a:solidFill>
                  <a:srgbClr val="374151"/>
                </a:solidFill>
                <a:effectLst/>
                <a:latin typeface="Söhne"/>
              </a:rPr>
              <a:t>y_train</a:t>
            </a:r>
            <a:r>
              <a:rPr lang="zh-CN" altLang="en-US" b="0" i="0" dirty="0">
                <a:solidFill>
                  <a:srgbClr val="374151"/>
                </a:solidFill>
                <a:effectLst/>
                <a:latin typeface="Söhne"/>
              </a:rPr>
              <a:t>）和测试集（</a:t>
            </a:r>
            <a:r>
              <a:rPr lang="en-US" altLang="zh-CN" b="0" i="0" dirty="0" err="1">
                <a:solidFill>
                  <a:srgbClr val="374151"/>
                </a:solidFill>
                <a:effectLst/>
                <a:latin typeface="Söhne"/>
              </a:rPr>
              <a:t>x_test</a:t>
            </a:r>
            <a:r>
              <a:rPr lang="en-US" altLang="zh-CN" b="0" i="0" dirty="0">
                <a:solidFill>
                  <a:srgbClr val="374151"/>
                </a:solidFill>
                <a:effectLst/>
                <a:latin typeface="Söhne"/>
              </a:rPr>
              <a:t>, </a:t>
            </a:r>
            <a:r>
              <a:rPr lang="en-US" altLang="zh-CN" b="0" i="0" dirty="0" err="1">
                <a:solidFill>
                  <a:srgbClr val="374151"/>
                </a:solidFill>
                <a:effectLst/>
                <a:latin typeface="Söhne"/>
              </a:rPr>
              <a:t>y_test</a:t>
            </a:r>
            <a:r>
              <a:rPr lang="zh-CN" altLang="en-US" b="0" i="0" dirty="0">
                <a:solidFill>
                  <a:srgbClr val="374151"/>
                </a:solidFill>
                <a:effectLst/>
                <a:latin typeface="Söhne"/>
              </a:rPr>
              <a:t>）。默认情况下，</a:t>
            </a:r>
            <a:r>
              <a:rPr lang="en-US" altLang="zh-CN" b="0" i="0" dirty="0">
                <a:solidFill>
                  <a:srgbClr val="374151"/>
                </a:solidFill>
                <a:effectLst/>
                <a:latin typeface="Söhne"/>
              </a:rPr>
              <a:t>75%</a:t>
            </a:r>
            <a:r>
              <a:rPr lang="zh-CN" altLang="en-US" b="0" i="0" dirty="0">
                <a:solidFill>
                  <a:srgbClr val="374151"/>
                </a:solidFill>
                <a:effectLst/>
                <a:latin typeface="Söhne"/>
              </a:rPr>
              <a:t>的数据用于训练，</a:t>
            </a:r>
            <a:r>
              <a:rPr lang="en-US" altLang="zh-CN" b="0" i="0" dirty="0">
                <a:solidFill>
                  <a:srgbClr val="374151"/>
                </a:solidFill>
                <a:effectLst/>
                <a:latin typeface="Söhne"/>
              </a:rPr>
              <a:t>25%</a:t>
            </a:r>
            <a:r>
              <a:rPr lang="zh-CN" altLang="en-US" b="0" i="0" dirty="0">
                <a:solidFill>
                  <a:srgbClr val="374151"/>
                </a:solidFill>
                <a:effectLst/>
                <a:latin typeface="Söhne"/>
              </a:rPr>
              <a:t>用于测试。</a:t>
            </a:r>
          </a:p>
          <a:p>
            <a:pPr lvl="0" eaLnBrk="1" hangingPunct="1">
              <a:spcBef>
                <a:spcPct val="0"/>
              </a:spcBef>
            </a:pPr>
            <a:endParaRPr lang="en-US" altLang="zh-CN" b="0" i="0" dirty="0">
              <a:solidFill>
                <a:srgbClr val="374151"/>
              </a:solidFill>
              <a:effectLst/>
              <a:latin typeface="Söhne"/>
            </a:endParaRPr>
          </a:p>
          <a:p>
            <a:pPr lvl="0" eaLnBrk="1" hangingPunct="1">
              <a:spcBef>
                <a:spcPct val="0"/>
              </a:spcBef>
            </a:pPr>
            <a:endParaRPr lang="en-US" altLang="zh-CN" b="0" i="0" dirty="0">
              <a:solidFill>
                <a:srgbClr val="374151"/>
              </a:solidFill>
              <a:effectLst/>
              <a:latin typeface="Söhne"/>
            </a:endParaRPr>
          </a:p>
          <a:p>
            <a:pPr algn="l"/>
            <a:r>
              <a:rPr lang="en-US" altLang="zh-CN" b="0" i="0" dirty="0" err="1">
                <a:solidFill>
                  <a:srgbClr val="374151"/>
                </a:solidFill>
                <a:effectLst/>
                <a:latin typeface="Söhne"/>
              </a:rPr>
              <a:t>x_data.shape</a:t>
            </a:r>
            <a:r>
              <a:rPr lang="en-US" altLang="zh-CN" b="0" i="0" dirty="0">
                <a:solidFill>
                  <a:srgbClr val="374151"/>
                </a:solidFill>
                <a:effectLst/>
                <a:latin typeface="Söhne"/>
              </a:rPr>
              <a:t> </a:t>
            </a:r>
            <a:r>
              <a:rPr lang="zh-CN" altLang="en-US" b="0" i="0" dirty="0">
                <a:solidFill>
                  <a:srgbClr val="374151"/>
                </a:solidFill>
                <a:effectLst/>
                <a:latin typeface="Söhne"/>
              </a:rPr>
              <a:t>用于获取手写数字数据集的特征（即图像数据）的形状（</a:t>
            </a:r>
            <a:r>
              <a:rPr lang="en-US" altLang="zh-CN" b="0" i="0" dirty="0">
                <a:solidFill>
                  <a:srgbClr val="374151"/>
                </a:solidFill>
                <a:effectLst/>
                <a:latin typeface="Söhne"/>
              </a:rPr>
              <a:t>shape</a:t>
            </a:r>
            <a:r>
              <a:rPr lang="zh-CN" altLang="en-US" b="0" i="0" dirty="0">
                <a:solidFill>
                  <a:srgbClr val="374151"/>
                </a:solidFill>
                <a:effectLst/>
                <a:latin typeface="Söhne"/>
              </a:rPr>
              <a:t>）。在机器学习中，通常使用 </a:t>
            </a:r>
            <a:r>
              <a:rPr lang="en-US" altLang="zh-CN" b="0" i="0" dirty="0">
                <a:solidFill>
                  <a:srgbClr val="374151"/>
                </a:solidFill>
                <a:effectLst/>
                <a:latin typeface="Söhne"/>
              </a:rPr>
              <a:t>shape </a:t>
            </a:r>
            <a:r>
              <a:rPr lang="zh-CN" altLang="en-US" b="0" i="0" dirty="0">
                <a:solidFill>
                  <a:srgbClr val="374151"/>
                </a:solidFill>
                <a:effectLst/>
                <a:latin typeface="Söhne"/>
              </a:rPr>
              <a:t>属性来了解数据的维度和规模。</a:t>
            </a:r>
          </a:p>
          <a:p>
            <a:pPr algn="l"/>
            <a:r>
              <a:rPr lang="zh-CN" altLang="en-US" b="0" i="0" dirty="0">
                <a:solidFill>
                  <a:srgbClr val="374151"/>
                </a:solidFill>
                <a:effectLst/>
                <a:latin typeface="Söhne"/>
              </a:rPr>
              <a:t>对于手写数字数据集，</a:t>
            </a:r>
            <a:r>
              <a:rPr lang="en-US" altLang="zh-CN" b="0" i="0" dirty="0" err="1">
                <a:solidFill>
                  <a:srgbClr val="374151"/>
                </a:solidFill>
                <a:effectLst/>
                <a:latin typeface="Söhne"/>
              </a:rPr>
              <a:t>x_data</a:t>
            </a:r>
            <a:r>
              <a:rPr lang="en-US" altLang="zh-CN" b="0" i="0" dirty="0">
                <a:solidFill>
                  <a:srgbClr val="374151"/>
                </a:solidFill>
                <a:effectLst/>
                <a:latin typeface="Söhne"/>
              </a:rPr>
              <a:t> </a:t>
            </a:r>
            <a:r>
              <a:rPr lang="zh-CN" altLang="en-US" b="0" i="0" dirty="0">
                <a:solidFill>
                  <a:srgbClr val="374151"/>
                </a:solidFill>
                <a:effectLst/>
                <a:latin typeface="Söhne"/>
              </a:rPr>
              <a:t>是一个二维数组，其中每一行代表一个手写数字的图像，每个图像由 </a:t>
            </a:r>
            <a:r>
              <a:rPr lang="en-US" altLang="zh-CN" b="0" i="0" dirty="0">
                <a:solidFill>
                  <a:srgbClr val="374151"/>
                </a:solidFill>
                <a:effectLst/>
                <a:latin typeface="Söhne"/>
              </a:rPr>
              <a:t>64 </a:t>
            </a:r>
            <a:r>
              <a:rPr lang="zh-CN" altLang="en-US" b="0" i="0" dirty="0">
                <a:solidFill>
                  <a:srgbClr val="374151"/>
                </a:solidFill>
                <a:effectLst/>
                <a:latin typeface="Söhne"/>
              </a:rPr>
              <a:t>个像素值组成（</a:t>
            </a:r>
            <a:r>
              <a:rPr lang="en-US" altLang="zh-CN" b="0" i="0" dirty="0">
                <a:solidFill>
                  <a:srgbClr val="374151"/>
                </a:solidFill>
                <a:effectLst/>
                <a:latin typeface="Söhne"/>
              </a:rPr>
              <a:t>8x8 </a:t>
            </a:r>
            <a:r>
              <a:rPr lang="zh-CN" altLang="en-US" b="0" i="0" dirty="0">
                <a:solidFill>
                  <a:srgbClr val="374151"/>
                </a:solidFill>
                <a:effectLst/>
                <a:latin typeface="Söhne"/>
              </a:rPr>
              <a:t>的图像）。因此，</a:t>
            </a:r>
            <a:r>
              <a:rPr lang="en-US" altLang="zh-CN" b="0" i="0" dirty="0" err="1">
                <a:solidFill>
                  <a:srgbClr val="374151"/>
                </a:solidFill>
                <a:effectLst/>
                <a:latin typeface="Söhne"/>
              </a:rPr>
              <a:t>x_data.shape</a:t>
            </a:r>
            <a:r>
              <a:rPr lang="en-US" altLang="zh-CN" b="0" i="0" dirty="0">
                <a:solidFill>
                  <a:srgbClr val="374151"/>
                </a:solidFill>
                <a:effectLst/>
                <a:latin typeface="Söhne"/>
              </a:rPr>
              <a:t> </a:t>
            </a:r>
            <a:r>
              <a:rPr lang="zh-CN" altLang="en-US" b="0" i="0" dirty="0">
                <a:solidFill>
                  <a:srgbClr val="374151"/>
                </a:solidFill>
                <a:effectLst/>
                <a:latin typeface="Söhne"/>
              </a:rPr>
              <a:t>返回一个包含两个元素的元组，表示数据的形状，其中第一个元素是行数（样本数），第二个元素是列数（特征数）。</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28</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2667414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mj-lt"/>
              <a:buAutoNum type="arabicPeriod"/>
            </a:pPr>
            <a:r>
              <a:rPr lang="zh-CN" altLang="en-US" b="1" i="0" dirty="0">
                <a:solidFill>
                  <a:srgbClr val="374151"/>
                </a:solidFill>
                <a:effectLst/>
                <a:latin typeface="Söhne"/>
              </a:rPr>
              <a:t>创建 </a:t>
            </a:r>
            <a:r>
              <a:rPr lang="en-US" altLang="zh-CN" b="1" i="0" dirty="0">
                <a:solidFill>
                  <a:srgbClr val="374151"/>
                </a:solidFill>
                <a:effectLst/>
                <a:latin typeface="Söhne"/>
              </a:rPr>
              <a:t>MLP </a:t>
            </a:r>
            <a:r>
              <a:rPr lang="zh-CN" altLang="en-US" b="1" i="0" dirty="0">
                <a:solidFill>
                  <a:srgbClr val="374151"/>
                </a:solidFill>
                <a:effectLst/>
                <a:latin typeface="Söhne"/>
              </a:rPr>
              <a:t>模型：</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mlp</a:t>
            </a:r>
            <a:r>
              <a:rPr lang="en-US" altLang="zh-CN" b="0" i="0" dirty="0">
                <a:solidFill>
                  <a:srgbClr val="374151"/>
                </a:solidFill>
                <a:effectLst/>
                <a:latin typeface="Söhne"/>
              </a:rPr>
              <a:t> = </a:t>
            </a:r>
            <a:r>
              <a:rPr lang="en-US" altLang="zh-CN" b="0" i="0" dirty="0" err="1">
                <a:solidFill>
                  <a:srgbClr val="374151"/>
                </a:solidFill>
                <a:effectLst/>
                <a:latin typeface="Söhne"/>
              </a:rPr>
              <a:t>MLPClassifier</a:t>
            </a:r>
            <a:r>
              <a:rPr lang="en-US" altLang="zh-CN" b="0" i="0" dirty="0">
                <a:solidFill>
                  <a:srgbClr val="374151"/>
                </a:solidFill>
                <a:effectLst/>
                <a:latin typeface="Söhne"/>
              </a:rPr>
              <a:t>(</a:t>
            </a:r>
            <a:r>
              <a:rPr lang="en-US" altLang="zh-CN" b="0" i="0" dirty="0" err="1">
                <a:solidFill>
                  <a:srgbClr val="374151"/>
                </a:solidFill>
                <a:effectLst/>
                <a:latin typeface="Söhne"/>
              </a:rPr>
              <a:t>hidden_layer_sizes</a:t>
            </a:r>
            <a:r>
              <a:rPr lang="en-US" altLang="zh-CN" b="0" i="0" dirty="0">
                <a:solidFill>
                  <a:srgbClr val="374151"/>
                </a:solidFill>
                <a:effectLst/>
                <a:latin typeface="Söhne"/>
              </a:rPr>
              <a:t>=(100, 50), </a:t>
            </a:r>
            <a:r>
              <a:rPr lang="en-US" altLang="zh-CN" b="0" i="0" dirty="0" err="1">
                <a:solidFill>
                  <a:srgbClr val="374151"/>
                </a:solidFill>
                <a:effectLst/>
                <a:latin typeface="Söhne"/>
              </a:rPr>
              <a:t>max_iter</a:t>
            </a:r>
            <a:r>
              <a:rPr lang="en-US" altLang="zh-CN" b="0" i="0" dirty="0">
                <a:solidFill>
                  <a:srgbClr val="374151"/>
                </a:solidFill>
                <a:effectLst/>
                <a:latin typeface="Söhne"/>
              </a:rPr>
              <a:t>=500): </a:t>
            </a:r>
            <a:r>
              <a:rPr lang="zh-CN" altLang="en-US" b="0" i="0" dirty="0">
                <a:solidFill>
                  <a:srgbClr val="374151"/>
                </a:solidFill>
                <a:effectLst/>
                <a:latin typeface="Söhne"/>
              </a:rPr>
              <a:t>创建了一个</a:t>
            </a:r>
            <a:r>
              <a:rPr lang="en-US" altLang="zh-CN" b="0" i="0" dirty="0">
                <a:solidFill>
                  <a:srgbClr val="374151"/>
                </a:solidFill>
                <a:effectLst/>
                <a:latin typeface="Söhne"/>
              </a:rPr>
              <a:t>MLP</a:t>
            </a:r>
            <a:r>
              <a:rPr lang="zh-CN" altLang="en-US" b="0" i="0" dirty="0">
                <a:solidFill>
                  <a:srgbClr val="374151"/>
                </a:solidFill>
                <a:effectLst/>
                <a:latin typeface="Söhne"/>
              </a:rPr>
              <a:t>分类器的实例。参数说明：</a:t>
            </a:r>
          </a:p>
          <a:p>
            <a:pPr marL="1143000" lvl="2" indent="-228600" algn="l">
              <a:buFont typeface="+mj-lt"/>
              <a:buAutoNum type="arabicPeriod"/>
            </a:pPr>
            <a:r>
              <a:rPr lang="en-US" altLang="zh-CN" b="0" i="0" dirty="0" err="1">
                <a:solidFill>
                  <a:srgbClr val="374151"/>
                </a:solidFill>
                <a:effectLst/>
                <a:latin typeface="Söhne"/>
              </a:rPr>
              <a:t>hidden_layer_sizes</a:t>
            </a:r>
            <a:r>
              <a:rPr lang="en-US" altLang="zh-CN" b="0" i="0" dirty="0">
                <a:solidFill>
                  <a:srgbClr val="374151"/>
                </a:solidFill>
                <a:effectLst/>
                <a:latin typeface="Söhne"/>
              </a:rPr>
              <a:t>=(100, 50): </a:t>
            </a:r>
            <a:r>
              <a:rPr lang="zh-CN" altLang="en-US" b="0" i="0" dirty="0">
                <a:solidFill>
                  <a:srgbClr val="374151"/>
                </a:solidFill>
                <a:effectLst/>
                <a:latin typeface="Söhne"/>
              </a:rPr>
              <a:t>这表示</a:t>
            </a:r>
            <a:r>
              <a:rPr lang="en-US" altLang="zh-CN" b="0" i="0" dirty="0">
                <a:solidFill>
                  <a:srgbClr val="374151"/>
                </a:solidFill>
                <a:effectLst/>
                <a:latin typeface="Söhne"/>
              </a:rPr>
              <a:t>MLP</a:t>
            </a:r>
            <a:r>
              <a:rPr lang="zh-CN" altLang="en-US" b="0" i="0" dirty="0">
                <a:solidFill>
                  <a:srgbClr val="374151"/>
                </a:solidFill>
                <a:effectLst/>
                <a:latin typeface="Söhne"/>
              </a:rPr>
              <a:t>模型有两个隐藏层，分别包含</a:t>
            </a:r>
            <a:r>
              <a:rPr lang="en-US" altLang="zh-CN" b="0" i="0" dirty="0">
                <a:solidFill>
                  <a:srgbClr val="374151"/>
                </a:solidFill>
                <a:effectLst/>
                <a:latin typeface="Söhne"/>
              </a:rPr>
              <a:t>100</a:t>
            </a:r>
            <a:r>
              <a:rPr lang="zh-CN" altLang="en-US" b="0" i="0" dirty="0">
                <a:solidFill>
                  <a:srgbClr val="374151"/>
                </a:solidFill>
                <a:effectLst/>
                <a:latin typeface="Söhne"/>
              </a:rPr>
              <a:t>个和</a:t>
            </a:r>
            <a:r>
              <a:rPr lang="en-US" altLang="zh-CN" b="0" i="0" dirty="0">
                <a:solidFill>
                  <a:srgbClr val="374151"/>
                </a:solidFill>
                <a:effectLst/>
                <a:latin typeface="Söhne"/>
              </a:rPr>
              <a:t>50</a:t>
            </a:r>
            <a:r>
              <a:rPr lang="zh-CN" altLang="en-US" b="0" i="0" dirty="0">
                <a:solidFill>
                  <a:srgbClr val="374151"/>
                </a:solidFill>
                <a:effectLst/>
                <a:latin typeface="Söhne"/>
              </a:rPr>
              <a:t>个神经元。</a:t>
            </a:r>
          </a:p>
          <a:p>
            <a:pPr marL="1143000" lvl="2" indent="-228600" algn="l">
              <a:buFont typeface="+mj-lt"/>
              <a:buAutoNum type="arabicPeriod"/>
            </a:pPr>
            <a:r>
              <a:rPr lang="en-US" altLang="zh-CN" b="0" i="0" dirty="0" err="1">
                <a:solidFill>
                  <a:srgbClr val="374151"/>
                </a:solidFill>
                <a:effectLst/>
                <a:latin typeface="Söhne"/>
              </a:rPr>
              <a:t>max_iter</a:t>
            </a:r>
            <a:r>
              <a:rPr lang="en-US" altLang="zh-CN" b="0" i="0" dirty="0">
                <a:solidFill>
                  <a:srgbClr val="374151"/>
                </a:solidFill>
                <a:effectLst/>
                <a:latin typeface="Söhne"/>
              </a:rPr>
              <a:t>=500: </a:t>
            </a:r>
            <a:r>
              <a:rPr lang="zh-CN" altLang="en-US" b="0" i="0" dirty="0">
                <a:solidFill>
                  <a:srgbClr val="374151"/>
                </a:solidFill>
                <a:effectLst/>
                <a:latin typeface="Söhne"/>
              </a:rPr>
              <a:t>这表示最大的迭代次数为</a:t>
            </a:r>
            <a:r>
              <a:rPr lang="en-US" altLang="zh-CN" b="0" i="0" dirty="0">
                <a:solidFill>
                  <a:srgbClr val="374151"/>
                </a:solidFill>
                <a:effectLst/>
                <a:latin typeface="Söhne"/>
              </a:rPr>
              <a:t>500</a:t>
            </a:r>
            <a:r>
              <a:rPr lang="zh-CN" altLang="en-US" b="0" i="0" dirty="0">
                <a:solidFill>
                  <a:srgbClr val="374151"/>
                </a:solidFill>
                <a:effectLst/>
                <a:latin typeface="Söhne"/>
              </a:rPr>
              <a:t>次，即在训练中迭代</a:t>
            </a:r>
            <a:r>
              <a:rPr lang="en-US" altLang="zh-CN" b="0" i="0" dirty="0">
                <a:solidFill>
                  <a:srgbClr val="374151"/>
                </a:solidFill>
                <a:effectLst/>
                <a:latin typeface="Söhne"/>
              </a:rPr>
              <a:t>500</a:t>
            </a:r>
            <a:r>
              <a:rPr lang="zh-CN" altLang="en-US" b="0" i="0" dirty="0">
                <a:solidFill>
                  <a:srgbClr val="374151"/>
                </a:solidFill>
                <a:effectLst/>
                <a:latin typeface="Söhne"/>
              </a:rPr>
              <a:t>次。</a:t>
            </a:r>
          </a:p>
          <a:p>
            <a:pPr algn="l">
              <a:buFont typeface="+mj-lt"/>
              <a:buAutoNum type="arabicPeriod"/>
            </a:pPr>
            <a:r>
              <a:rPr lang="zh-CN" altLang="en-US" b="1" i="0" dirty="0">
                <a:solidFill>
                  <a:srgbClr val="374151"/>
                </a:solidFill>
                <a:effectLst/>
                <a:latin typeface="Söhne"/>
              </a:rPr>
              <a:t>模型训练：</a:t>
            </a:r>
            <a:endParaRPr lang="zh-CN" altLang="en-US" b="0" i="0" dirty="0">
              <a:solidFill>
                <a:srgbClr val="374151"/>
              </a:solidFill>
              <a:effectLst/>
              <a:latin typeface="Söhne"/>
            </a:endParaRPr>
          </a:p>
          <a:p>
            <a:pPr marL="742950" lvl="1" indent="-285750" algn="l">
              <a:buFont typeface="+mj-lt"/>
              <a:buAutoNum type="arabicPeriod"/>
            </a:pPr>
            <a:r>
              <a:rPr lang="en-US" altLang="zh-CN" b="0" i="0" dirty="0" err="1">
                <a:solidFill>
                  <a:srgbClr val="374151"/>
                </a:solidFill>
                <a:effectLst/>
                <a:latin typeface="Söhne"/>
              </a:rPr>
              <a:t>mlp.fit</a:t>
            </a:r>
            <a:r>
              <a:rPr lang="en-US" altLang="zh-CN" b="0" i="0" dirty="0">
                <a:solidFill>
                  <a:srgbClr val="374151"/>
                </a:solidFill>
                <a:effectLst/>
                <a:latin typeface="Söhne"/>
              </a:rPr>
              <a:t>(</a:t>
            </a:r>
            <a:r>
              <a:rPr lang="en-US" altLang="zh-CN" b="0" i="0" dirty="0" err="1">
                <a:solidFill>
                  <a:srgbClr val="374151"/>
                </a:solidFill>
                <a:effectLst/>
                <a:latin typeface="Söhne"/>
              </a:rPr>
              <a:t>x_train</a:t>
            </a:r>
            <a:r>
              <a:rPr lang="en-US" altLang="zh-CN" b="0" i="0" dirty="0">
                <a:solidFill>
                  <a:srgbClr val="374151"/>
                </a:solidFill>
                <a:effectLst/>
                <a:latin typeface="Söhne"/>
              </a:rPr>
              <a:t>, </a:t>
            </a:r>
            <a:r>
              <a:rPr lang="en-US" altLang="zh-CN" b="0" i="0" dirty="0" err="1">
                <a:solidFill>
                  <a:srgbClr val="374151"/>
                </a:solidFill>
                <a:effectLst/>
                <a:latin typeface="Söhne"/>
              </a:rPr>
              <a:t>y_train</a:t>
            </a:r>
            <a:r>
              <a:rPr lang="en-US" altLang="zh-CN" b="0" i="0" dirty="0">
                <a:solidFill>
                  <a:srgbClr val="374151"/>
                </a:solidFill>
                <a:effectLst/>
                <a:latin typeface="Söhne"/>
              </a:rPr>
              <a:t>): </a:t>
            </a:r>
            <a:r>
              <a:rPr lang="zh-CN" altLang="en-US" b="0" i="0" dirty="0">
                <a:solidFill>
                  <a:srgbClr val="374151"/>
                </a:solidFill>
                <a:effectLst/>
                <a:latin typeface="Söhne"/>
              </a:rPr>
              <a:t>使用训练集 </a:t>
            </a:r>
            <a:r>
              <a:rPr lang="en-US" altLang="zh-CN" b="0" i="0" dirty="0" err="1">
                <a:solidFill>
                  <a:srgbClr val="374151"/>
                </a:solidFill>
                <a:effectLst/>
                <a:latin typeface="Söhne"/>
              </a:rPr>
              <a:t>x_train</a:t>
            </a:r>
            <a:r>
              <a:rPr lang="en-US" altLang="zh-CN" b="0" i="0" dirty="0">
                <a:solidFill>
                  <a:srgbClr val="374151"/>
                </a:solidFill>
                <a:effectLst/>
                <a:latin typeface="Söhne"/>
              </a:rPr>
              <a:t> </a:t>
            </a:r>
            <a:r>
              <a:rPr lang="zh-CN" altLang="en-US" b="0" i="0" dirty="0">
                <a:solidFill>
                  <a:srgbClr val="374151"/>
                </a:solidFill>
                <a:effectLst/>
                <a:latin typeface="Söhne"/>
              </a:rPr>
              <a:t>和相应的标签 </a:t>
            </a:r>
            <a:r>
              <a:rPr lang="en-US" altLang="zh-CN" b="0" i="0" dirty="0" err="1">
                <a:solidFill>
                  <a:srgbClr val="374151"/>
                </a:solidFill>
                <a:effectLst/>
                <a:latin typeface="Söhne"/>
              </a:rPr>
              <a:t>y_train</a:t>
            </a:r>
            <a:r>
              <a:rPr lang="en-US" altLang="zh-CN" b="0" i="0" dirty="0">
                <a:solidFill>
                  <a:srgbClr val="374151"/>
                </a:solidFill>
                <a:effectLst/>
                <a:latin typeface="Söhne"/>
              </a:rPr>
              <a:t> </a:t>
            </a:r>
            <a:r>
              <a:rPr lang="zh-CN" altLang="en-US" b="0" i="0" dirty="0">
                <a:solidFill>
                  <a:srgbClr val="374151"/>
                </a:solidFill>
                <a:effectLst/>
                <a:latin typeface="Söhne"/>
              </a:rPr>
              <a:t>对</a:t>
            </a:r>
            <a:r>
              <a:rPr lang="en-US" altLang="zh-CN" b="0" i="0" dirty="0">
                <a:solidFill>
                  <a:srgbClr val="374151"/>
                </a:solidFill>
                <a:effectLst/>
                <a:latin typeface="Söhne"/>
              </a:rPr>
              <a:t>MLP</a:t>
            </a:r>
            <a:r>
              <a:rPr lang="zh-CN" altLang="en-US" b="0" i="0" dirty="0">
                <a:solidFill>
                  <a:srgbClr val="374151"/>
                </a:solidFill>
                <a:effectLst/>
                <a:latin typeface="Söhne"/>
              </a:rPr>
              <a:t>模型进行训练。这个过程通过反向传播算法来调整神经网络的权重，以适应训练数据。</a:t>
            </a:r>
          </a:p>
          <a:p>
            <a:pPr lvl="0" eaLnBrk="1" hangingPunct="1">
              <a:spcBef>
                <a:spcPct val="0"/>
              </a:spcBef>
            </a:pPr>
            <a:endParaRPr lang="en-US" altLang="zh-CN" dirty="0"/>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CN" altLang="zh-CN" b="1" i="0" u="none" strike="noStrike" cap="none" normalizeH="0" baseline="0" dirty="0">
                <a:ln>
                  <a:noFill/>
                </a:ln>
                <a:solidFill>
                  <a:srgbClr val="374151"/>
                </a:solidFill>
                <a:effectLst/>
                <a:latin typeface="Arial Unicode MS"/>
                <a:ea typeface="Söhne Mono"/>
              </a:rPr>
              <a:t>zeroMean</a:t>
            </a:r>
            <a:r>
              <a:rPr kumimoji="0" lang="zh-CN" altLang="zh-CN" b="1" i="0" u="none" strike="noStrike" cap="none" normalizeH="0" baseline="0" dirty="0">
                <a:ln>
                  <a:noFill/>
                </a:ln>
                <a:solidFill>
                  <a:srgbClr val="374151"/>
                </a:solidFill>
                <a:effectLst/>
                <a:ea typeface="Söhne"/>
              </a:rPr>
              <a:t> 函数：</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输入参数 </a:t>
            </a:r>
            <a:r>
              <a:rPr kumimoji="0" lang="zh-CN" altLang="zh-CN" b="1" i="0" u="none" strike="noStrike" cap="none" normalizeH="0" baseline="0" dirty="0">
                <a:ln>
                  <a:noFill/>
                </a:ln>
                <a:solidFill>
                  <a:srgbClr val="374151"/>
                </a:solidFill>
                <a:effectLst/>
                <a:latin typeface="Arial Unicode MS"/>
                <a:ea typeface="Söhne Mono"/>
              </a:rPr>
              <a:t>dataMat</a:t>
            </a:r>
            <a:r>
              <a:rPr kumimoji="0" lang="zh-CN" altLang="zh-CN" b="0" i="0" u="none" strike="noStrike" cap="none" normalizeH="0" baseline="0" dirty="0">
                <a:ln>
                  <a:noFill/>
                </a:ln>
                <a:solidFill>
                  <a:srgbClr val="374151"/>
                </a:solidFill>
                <a:effectLst/>
                <a:ea typeface="Söhne"/>
              </a:rPr>
              <a:t>，表示原始数据矩阵。</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对数据进行中心化操作，即计算每个特征的均值，然后将数据矩阵减去均值。</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返回中心化后的数据矩阵 </a:t>
            </a:r>
            <a:r>
              <a:rPr kumimoji="0" lang="zh-CN" altLang="zh-CN" b="1" i="0" u="none" strike="noStrike" cap="none" normalizeH="0" baseline="0" dirty="0">
                <a:ln>
                  <a:noFill/>
                </a:ln>
                <a:solidFill>
                  <a:srgbClr val="374151"/>
                </a:solidFill>
                <a:effectLst/>
                <a:latin typeface="Arial Unicode MS"/>
                <a:ea typeface="Söhne Mono"/>
              </a:rPr>
              <a:t>newData</a:t>
            </a:r>
            <a:r>
              <a:rPr kumimoji="0" lang="zh-CN" altLang="zh-CN" b="0" i="0" u="none" strike="noStrike" cap="none" normalizeH="0" baseline="0" dirty="0">
                <a:ln>
                  <a:noFill/>
                </a:ln>
                <a:solidFill>
                  <a:srgbClr val="374151"/>
                </a:solidFill>
                <a:effectLst/>
                <a:ea typeface="Söhne"/>
              </a:rPr>
              <a:t> 和均值 </a:t>
            </a:r>
            <a:r>
              <a:rPr kumimoji="0" lang="zh-CN" altLang="zh-CN" b="1" i="0" u="none" strike="noStrike" cap="none" normalizeH="0" baseline="0" dirty="0">
                <a:ln>
                  <a:noFill/>
                </a:ln>
                <a:solidFill>
                  <a:srgbClr val="374151"/>
                </a:solidFill>
                <a:effectLst/>
                <a:latin typeface="Arial Unicode MS"/>
                <a:ea typeface="Söhne Mono"/>
              </a:rPr>
              <a:t>meanVal</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CN" altLang="zh-CN" b="1" i="0" u="none" strike="noStrike" cap="none" normalizeH="0" baseline="0" dirty="0">
                <a:ln>
                  <a:noFill/>
                </a:ln>
                <a:solidFill>
                  <a:srgbClr val="374151"/>
                </a:solidFill>
                <a:effectLst/>
                <a:latin typeface="Arial Unicode MS"/>
                <a:ea typeface="Söhne Mono"/>
              </a:rPr>
              <a:t>pca</a:t>
            </a:r>
            <a:r>
              <a:rPr kumimoji="0" lang="zh-CN" altLang="zh-CN" b="1" i="0" u="none" strike="noStrike" cap="none" normalizeH="0" baseline="0" dirty="0">
                <a:ln>
                  <a:noFill/>
                </a:ln>
                <a:solidFill>
                  <a:srgbClr val="374151"/>
                </a:solidFill>
                <a:effectLst/>
                <a:ea typeface="Söhne"/>
              </a:rPr>
              <a:t> 函数：</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输入参数 </a:t>
            </a:r>
            <a:r>
              <a:rPr kumimoji="0" lang="zh-CN" altLang="zh-CN" b="1" i="0" u="none" strike="noStrike" cap="none" normalizeH="0" baseline="0" dirty="0">
                <a:ln>
                  <a:noFill/>
                </a:ln>
                <a:solidFill>
                  <a:srgbClr val="374151"/>
                </a:solidFill>
                <a:effectLst/>
                <a:latin typeface="Arial Unicode MS"/>
                <a:ea typeface="Söhne Mono"/>
              </a:rPr>
              <a:t>dataMat</a:t>
            </a:r>
            <a:r>
              <a:rPr kumimoji="0" lang="zh-CN" altLang="zh-CN" b="0" i="0" u="none" strike="noStrike" cap="none" normalizeH="0" baseline="0" dirty="0">
                <a:ln>
                  <a:noFill/>
                </a:ln>
                <a:solidFill>
                  <a:srgbClr val="374151"/>
                </a:solidFill>
                <a:effectLst/>
                <a:ea typeface="Söhne"/>
              </a:rPr>
              <a:t> 表示原始数据矩阵，以及 </a:t>
            </a:r>
            <a:r>
              <a:rPr kumimoji="0" lang="zh-CN" altLang="zh-CN" b="1" i="0" u="none" strike="noStrike" cap="none" normalizeH="0" baseline="0" dirty="0">
                <a:ln>
                  <a:noFill/>
                </a:ln>
                <a:solidFill>
                  <a:srgbClr val="374151"/>
                </a:solidFill>
                <a:effectLst/>
                <a:latin typeface="Arial Unicode MS"/>
                <a:ea typeface="Söhne Mono"/>
              </a:rPr>
              <a:t>top</a:t>
            </a:r>
            <a:r>
              <a:rPr kumimoji="0" lang="zh-CN" altLang="zh-CN" b="0" i="0" u="none" strike="noStrike" cap="none" normalizeH="0" baseline="0" dirty="0">
                <a:ln>
                  <a:noFill/>
                </a:ln>
                <a:solidFill>
                  <a:srgbClr val="374151"/>
                </a:solidFill>
                <a:effectLst/>
                <a:ea typeface="Söhne"/>
              </a:rPr>
              <a:t> 表示要保留的主成分数量。</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在 </a:t>
            </a:r>
            <a:r>
              <a:rPr kumimoji="0" lang="zh-CN" altLang="zh-CN" b="1" i="0" u="none" strike="noStrike" cap="none" normalizeH="0" baseline="0" dirty="0">
                <a:ln>
                  <a:noFill/>
                </a:ln>
                <a:solidFill>
                  <a:srgbClr val="374151"/>
                </a:solidFill>
                <a:effectLst/>
                <a:latin typeface="Arial Unicode MS"/>
                <a:ea typeface="Söhne Mono"/>
              </a:rPr>
              <a:t>pca</a:t>
            </a:r>
            <a:r>
              <a:rPr kumimoji="0" lang="zh-CN" altLang="zh-CN" b="0" i="0" u="none" strike="noStrike" cap="none" normalizeH="0" baseline="0" dirty="0">
                <a:ln>
                  <a:noFill/>
                </a:ln>
                <a:solidFill>
                  <a:srgbClr val="374151"/>
                </a:solidFill>
                <a:effectLst/>
                <a:ea typeface="Söhne"/>
              </a:rPr>
              <a:t> 函数内部调用了 </a:t>
            </a:r>
            <a:r>
              <a:rPr kumimoji="0" lang="zh-CN" altLang="zh-CN" b="1" i="0" u="none" strike="noStrike" cap="none" normalizeH="0" baseline="0" dirty="0">
                <a:ln>
                  <a:noFill/>
                </a:ln>
                <a:solidFill>
                  <a:srgbClr val="374151"/>
                </a:solidFill>
                <a:effectLst/>
                <a:latin typeface="Arial Unicode MS"/>
                <a:ea typeface="Söhne Mono"/>
              </a:rPr>
              <a:t>zeroMean</a:t>
            </a:r>
            <a:r>
              <a:rPr kumimoji="0" lang="zh-CN" altLang="zh-CN" b="0" i="0" u="none" strike="noStrike" cap="none" normalizeH="0" baseline="0" dirty="0">
                <a:ln>
                  <a:noFill/>
                </a:ln>
                <a:solidFill>
                  <a:srgbClr val="374151"/>
                </a:solidFill>
                <a:effectLst/>
                <a:ea typeface="Söhne"/>
              </a:rPr>
              <a:t> 函数，对原始数据进行中心化。</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计算协方差矩阵，然后使用 </a:t>
            </a:r>
            <a:r>
              <a:rPr kumimoji="0" lang="zh-CN" altLang="zh-CN" b="1" i="0" u="none" strike="noStrike" cap="none" normalizeH="0" baseline="0" dirty="0">
                <a:ln>
                  <a:noFill/>
                </a:ln>
                <a:solidFill>
                  <a:srgbClr val="374151"/>
                </a:solidFill>
                <a:effectLst/>
                <a:latin typeface="Arial Unicode MS"/>
                <a:ea typeface="Söhne Mono"/>
              </a:rPr>
              <a:t>np.linalg.eig</a:t>
            </a:r>
            <a:r>
              <a:rPr kumimoji="0" lang="zh-CN" altLang="zh-CN" b="0" i="0" u="none" strike="noStrike" cap="none" normalizeH="0" baseline="0" dirty="0">
                <a:ln>
                  <a:noFill/>
                </a:ln>
                <a:solidFill>
                  <a:srgbClr val="374151"/>
                </a:solidFill>
                <a:effectLst/>
                <a:ea typeface="Söhne"/>
              </a:rPr>
              <a:t> 计算特征值和特征向量。</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对特征值从大到小排序，选择最大的 </a:t>
            </a:r>
            <a:r>
              <a:rPr kumimoji="0" lang="zh-CN" altLang="zh-CN" b="1" i="0" u="none" strike="noStrike" cap="none" normalizeH="0" baseline="0" dirty="0">
                <a:ln>
                  <a:noFill/>
                </a:ln>
                <a:solidFill>
                  <a:srgbClr val="374151"/>
                </a:solidFill>
                <a:effectLst/>
                <a:latin typeface="Arial Unicode MS"/>
                <a:ea typeface="Söhne Mono"/>
              </a:rPr>
              <a:t>top</a:t>
            </a:r>
            <a:r>
              <a:rPr kumimoji="0" lang="zh-CN" altLang="zh-CN" b="0" i="0" u="none" strike="noStrike" cap="none" normalizeH="0" baseline="0" dirty="0">
                <a:ln>
                  <a:noFill/>
                </a:ln>
                <a:solidFill>
                  <a:srgbClr val="374151"/>
                </a:solidFill>
                <a:effectLst/>
                <a:ea typeface="Söhne"/>
              </a:rPr>
              <a:t> 个特征值对应的特征向量。</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使用选定的特征向量将原始数据投影到低维空间，得到低维特征空间的数据 </a:t>
            </a:r>
            <a:r>
              <a:rPr kumimoji="0" lang="zh-CN" altLang="zh-CN" b="1" i="0" u="none" strike="noStrike" cap="none" normalizeH="0" baseline="0" dirty="0">
                <a:ln>
                  <a:noFill/>
                </a:ln>
                <a:solidFill>
                  <a:srgbClr val="37415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利用低维度数据逆变换，得到重构的数据矩阵 </a:t>
            </a:r>
            <a:r>
              <a:rPr kumimoji="0" lang="zh-CN" altLang="zh-CN" b="1" i="0" u="none" strike="noStrike" cap="none" normalizeH="0" baseline="0" dirty="0">
                <a:ln>
                  <a:noFill/>
                </a:ln>
                <a:solidFill>
                  <a:srgbClr val="37415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返回低维特征空间的数据和重构的矩阵。</a:t>
            </a:r>
          </a:p>
          <a:p>
            <a:pPr lvl="0" eaLnBrk="1" hangingPunct="1">
              <a:spcBef>
                <a:spcPct val="0"/>
              </a:spcBef>
            </a:pPr>
            <a:endParaRPr lang="en-US" altLang="zh-CN"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29</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828884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pca(x_data, 2)</a:t>
            </a:r>
            <a:r>
              <a:rPr kumimoji="0" lang="zh-CN" altLang="zh-CN" b="0" i="0" u="none" strike="noStrike" cap="none" normalizeH="0" baseline="0" dirty="0">
                <a:ln>
                  <a:noFill/>
                </a:ln>
                <a:solidFill>
                  <a:srgbClr val="374151"/>
                </a:solidFill>
                <a:effectLst/>
                <a:ea typeface="Söhne"/>
              </a:rPr>
              <a:t>: 调用 </a:t>
            </a:r>
            <a:r>
              <a:rPr kumimoji="0" lang="zh-CN" altLang="zh-CN" b="1" i="0" u="none" strike="noStrike" cap="none" normalizeH="0" baseline="0" dirty="0">
                <a:ln>
                  <a:noFill/>
                </a:ln>
                <a:solidFill>
                  <a:srgbClr val="374151"/>
                </a:solidFill>
                <a:effectLst/>
                <a:latin typeface="Arial Unicode MS"/>
                <a:ea typeface="Söhne Mono"/>
              </a:rPr>
              <a:t>pca</a:t>
            </a:r>
            <a:r>
              <a:rPr kumimoji="0" lang="zh-CN" altLang="zh-CN" b="0" i="0" u="none" strike="noStrike" cap="none" normalizeH="0" baseline="0" dirty="0">
                <a:ln>
                  <a:noFill/>
                </a:ln>
                <a:solidFill>
                  <a:srgbClr val="374151"/>
                </a:solidFill>
                <a:effectLst/>
                <a:ea typeface="Söhne"/>
              </a:rPr>
              <a:t> 函数，传入原始数据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和 </a:t>
            </a:r>
            <a:r>
              <a:rPr kumimoji="0" lang="zh-CN" altLang="zh-CN" b="1" i="0" u="none" strike="noStrike" cap="none" normalizeH="0" baseline="0" dirty="0">
                <a:ln>
                  <a:noFill/>
                </a:ln>
                <a:solidFill>
                  <a:srgbClr val="374151"/>
                </a:solidFill>
                <a:effectLst/>
                <a:latin typeface="Arial Unicode MS"/>
                <a:ea typeface="Söhne Mono"/>
              </a:rPr>
              <a:t>top=2</a:t>
            </a:r>
            <a:r>
              <a:rPr kumimoji="0" lang="zh-CN" altLang="zh-CN" b="0" i="0" u="none" strike="noStrike" cap="none" normalizeH="0" baseline="0" dirty="0">
                <a:ln>
                  <a:noFill/>
                </a:ln>
                <a:solidFill>
                  <a:srgbClr val="374151"/>
                </a:solidFill>
                <a:effectLst/>
                <a:ea typeface="Söhne"/>
              </a:rPr>
              <a:t>，进行主成分分析。</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lowDDataMat, reconMat = pca(x_data, 2)</a:t>
            </a:r>
            <a:r>
              <a:rPr kumimoji="0" lang="zh-CN" altLang="zh-CN" b="0" i="0" u="none" strike="noStrike" cap="none" normalizeH="0" baseline="0" dirty="0">
                <a:ln>
                  <a:noFill/>
                </a:ln>
                <a:solidFill>
                  <a:srgbClr val="374151"/>
                </a:solidFill>
                <a:effectLst/>
                <a:ea typeface="Söhne"/>
              </a:rPr>
              <a:t>: 将返回的低维特征空间的数据和重构的数据矩阵分别赋值给变量 </a:t>
            </a:r>
            <a:r>
              <a:rPr kumimoji="0" lang="zh-CN" altLang="zh-CN" b="1" i="0" u="none" strike="noStrike" cap="none" normalizeH="0" baseline="0" dirty="0">
                <a:ln>
                  <a:noFill/>
                </a:ln>
                <a:solidFill>
                  <a:srgbClr val="37415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 和 </a:t>
            </a:r>
            <a:r>
              <a:rPr kumimoji="0" lang="zh-CN" altLang="zh-CN" b="1" i="0" u="none" strike="noStrike" cap="none" normalizeH="0" baseline="0" dirty="0">
                <a:ln>
                  <a:noFill/>
                </a:ln>
                <a:solidFill>
                  <a:srgbClr val="37415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a:t>
            </a:r>
            <a:endParaRPr kumimoji="0" lang="zh-CN" altLang="zh-CN" b="0" i="0" u="none" strike="noStrike" cap="none" normalizeH="0" baseline="0" dirty="0">
              <a:ln>
                <a:noFill/>
              </a:ln>
              <a:solidFill>
                <a:srgbClr val="374151"/>
              </a:solidFill>
              <a:effectLst/>
              <a:latin typeface="Arial" panose="020B0604020202020204" pitchFamily="34" charset="0"/>
              <a:ea typeface="Söhn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现在，</a:t>
            </a:r>
            <a:r>
              <a:rPr kumimoji="0" lang="zh-CN" altLang="zh-CN" b="1" i="0" u="none" strike="noStrike" cap="none" normalizeH="0" baseline="0" dirty="0">
                <a:ln>
                  <a:noFill/>
                </a:ln>
                <a:solidFill>
                  <a:srgbClr val="37415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 包含了经过PCA降维后的数据，而 </a:t>
            </a:r>
            <a:r>
              <a:rPr kumimoji="0" lang="zh-CN" altLang="zh-CN" b="1" i="0" u="none" strike="noStrike" cap="none" normalizeH="0" baseline="0" dirty="0">
                <a:ln>
                  <a:noFill/>
                </a:ln>
                <a:solidFill>
                  <a:srgbClr val="37415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 包含了通过逆变换重构回原始维度的数据。</a:t>
            </a:r>
            <a:endParaRPr kumimoji="0" lang="zh-CN" altLang="zh-CN" b="0" i="0" u="none" strike="noStrike" cap="none" normalizeH="0" baseline="0" dirty="0">
              <a:ln>
                <a:noFill/>
              </a:ln>
              <a:solidFill>
                <a:schemeClr val="tx1"/>
              </a:solidFill>
              <a:effectLst/>
              <a:latin typeface="Arial" panose="020B0604020202020204" pitchFamily="34" charset="0"/>
            </a:endParaRPr>
          </a:p>
          <a:p>
            <a:pPr lvl="0" eaLnBrk="1" hangingPunct="1">
              <a:spcBef>
                <a:spcPct val="0"/>
              </a:spcBef>
            </a:pPr>
            <a:endParaRPr lang="en-US" altLang="zh-CN" dirty="0"/>
          </a:p>
          <a:p>
            <a:pPr algn="l">
              <a:buFont typeface="Arial" panose="020B0604020202020204" pitchFamily="34" charset="0"/>
              <a:buChar char="•"/>
            </a:pPr>
            <a:r>
              <a:rPr lang="en-US" altLang="zh-CN" b="0" i="0" dirty="0">
                <a:solidFill>
                  <a:srgbClr val="374151"/>
                </a:solidFill>
                <a:effectLst/>
                <a:latin typeface="Söhne"/>
              </a:rPr>
              <a:t>x = </a:t>
            </a:r>
            <a:r>
              <a:rPr lang="en-US" altLang="zh-CN" b="0" i="0" dirty="0" err="1">
                <a:solidFill>
                  <a:srgbClr val="374151"/>
                </a:solidFill>
                <a:effectLst/>
                <a:latin typeface="Söhne"/>
              </a:rPr>
              <a:t>np.array</a:t>
            </a: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0]: </a:t>
            </a:r>
            <a:r>
              <a:rPr lang="zh-CN" altLang="en-US" b="0" i="0" dirty="0">
                <a:solidFill>
                  <a:srgbClr val="374151"/>
                </a:solidFill>
                <a:effectLst/>
                <a:latin typeface="Söhne"/>
              </a:rPr>
              <a:t>从 </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中提取第一列数据，用于 </a:t>
            </a:r>
            <a:r>
              <a:rPr lang="en-US" altLang="zh-CN" b="0" i="0" dirty="0">
                <a:solidFill>
                  <a:srgbClr val="374151"/>
                </a:solidFill>
                <a:effectLst/>
                <a:latin typeface="Söhne"/>
              </a:rPr>
              <a:t>x </a:t>
            </a:r>
            <a:r>
              <a:rPr lang="zh-CN" altLang="en-US" b="0" i="0" dirty="0">
                <a:solidFill>
                  <a:srgbClr val="374151"/>
                </a:solidFill>
                <a:effectLst/>
                <a:latin typeface="Söhne"/>
              </a:rPr>
              <a:t>轴。</a:t>
            </a:r>
          </a:p>
          <a:p>
            <a:pPr algn="l">
              <a:buFont typeface="Arial" panose="020B0604020202020204" pitchFamily="34" charset="0"/>
              <a:buChar char="•"/>
            </a:pPr>
            <a:r>
              <a:rPr lang="en-US" altLang="zh-CN" b="0" i="0" dirty="0">
                <a:solidFill>
                  <a:srgbClr val="374151"/>
                </a:solidFill>
                <a:effectLst/>
                <a:latin typeface="Söhne"/>
              </a:rPr>
              <a:t>y = </a:t>
            </a:r>
            <a:r>
              <a:rPr lang="en-US" altLang="zh-CN" b="0" i="0" dirty="0" err="1">
                <a:solidFill>
                  <a:srgbClr val="374151"/>
                </a:solidFill>
                <a:effectLst/>
                <a:latin typeface="Söhne"/>
              </a:rPr>
              <a:t>np.array</a:t>
            </a: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1]: </a:t>
            </a:r>
            <a:r>
              <a:rPr lang="zh-CN" altLang="en-US" b="0" i="0" dirty="0">
                <a:solidFill>
                  <a:srgbClr val="374151"/>
                </a:solidFill>
                <a:effectLst/>
                <a:latin typeface="Söhne"/>
              </a:rPr>
              <a:t>从 </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中提取第二列数据，用于 </a:t>
            </a:r>
            <a:r>
              <a:rPr lang="en-US" altLang="zh-CN" b="0" i="0" dirty="0">
                <a:solidFill>
                  <a:srgbClr val="374151"/>
                </a:solidFill>
                <a:effectLst/>
                <a:latin typeface="Söhne"/>
              </a:rPr>
              <a:t>y </a:t>
            </a:r>
            <a:r>
              <a:rPr lang="zh-CN" altLang="en-US" b="0" i="0" dirty="0">
                <a:solidFill>
                  <a:srgbClr val="374151"/>
                </a:solidFill>
                <a:effectLst/>
                <a:latin typeface="Söhne"/>
              </a:rPr>
              <a:t>轴。</a:t>
            </a:r>
          </a:p>
          <a:p>
            <a:pPr algn="l">
              <a:buFont typeface="Arial" panose="020B0604020202020204" pitchFamily="34" charset="0"/>
              <a:buChar char="•"/>
            </a:pPr>
            <a:r>
              <a:rPr lang="en-US" altLang="zh-CN" b="0" i="0" dirty="0" err="1">
                <a:solidFill>
                  <a:srgbClr val="374151"/>
                </a:solidFill>
                <a:effectLst/>
                <a:latin typeface="Söhne"/>
              </a:rPr>
              <a:t>plt.scatter</a:t>
            </a:r>
            <a:r>
              <a:rPr lang="en-US" altLang="zh-CN" b="0" i="0" dirty="0">
                <a:solidFill>
                  <a:srgbClr val="374151"/>
                </a:solidFill>
                <a:effectLst/>
                <a:latin typeface="Söhne"/>
              </a:rPr>
              <a:t>(x, y, c='r'): </a:t>
            </a:r>
            <a:r>
              <a:rPr lang="zh-CN" altLang="en-US" b="0" i="0" dirty="0">
                <a:solidFill>
                  <a:srgbClr val="374151"/>
                </a:solidFill>
                <a:effectLst/>
                <a:latin typeface="Söhne"/>
              </a:rPr>
              <a:t>绘制散点图，使用红色 </a:t>
            </a:r>
            <a:r>
              <a:rPr lang="en-US" altLang="zh-CN" b="0" i="0" dirty="0">
                <a:solidFill>
                  <a:srgbClr val="374151"/>
                </a:solidFill>
                <a:effectLst/>
                <a:latin typeface="Söhne"/>
              </a:rPr>
              <a:t>(c='r') </a:t>
            </a:r>
            <a:r>
              <a:rPr lang="zh-CN" altLang="en-US" b="0" i="0" dirty="0">
                <a:solidFill>
                  <a:srgbClr val="374151"/>
                </a:solidFill>
                <a:effectLst/>
                <a:latin typeface="Söhne"/>
              </a:rPr>
              <a:t>表示。</a:t>
            </a:r>
          </a:p>
          <a:p>
            <a:pPr algn="l">
              <a:buFont typeface="Arial" panose="020B0604020202020204" pitchFamily="34" charset="0"/>
              <a:buChar char="•"/>
            </a:pPr>
            <a:r>
              <a:rPr lang="en-US" altLang="zh-CN" b="0" i="0" dirty="0" err="1">
                <a:solidFill>
                  <a:srgbClr val="374151"/>
                </a:solidFill>
                <a:effectLst/>
                <a:latin typeface="Söhne"/>
              </a:rPr>
              <a:t>plt.show</a:t>
            </a:r>
            <a:r>
              <a:rPr lang="en-US" altLang="zh-CN" b="0" i="0" dirty="0">
                <a:solidFill>
                  <a:srgbClr val="374151"/>
                </a:solidFill>
                <a:effectLst/>
                <a:latin typeface="Söhne"/>
              </a:rPr>
              <a:t>(): </a:t>
            </a:r>
            <a:r>
              <a:rPr lang="zh-CN" altLang="en-US" b="0" i="0" dirty="0">
                <a:solidFill>
                  <a:srgbClr val="374151"/>
                </a:solidFill>
                <a:effectLst/>
                <a:latin typeface="Söhne"/>
              </a:rPr>
              <a:t>显示绘制的散点图。</a:t>
            </a:r>
          </a:p>
          <a:p>
            <a:pPr algn="l"/>
            <a:r>
              <a:rPr lang="zh-CN" altLang="en-US" b="0" i="0" dirty="0">
                <a:solidFill>
                  <a:srgbClr val="374151"/>
                </a:solidFill>
                <a:effectLst/>
                <a:latin typeface="Söhne"/>
              </a:rPr>
              <a:t>这个图形展示了通过</a:t>
            </a:r>
            <a:r>
              <a:rPr lang="en-US" altLang="zh-CN" b="0" i="0" dirty="0">
                <a:solidFill>
                  <a:srgbClr val="374151"/>
                </a:solidFill>
                <a:effectLst/>
                <a:latin typeface="Söhne"/>
              </a:rPr>
              <a:t>PCA</a:t>
            </a:r>
            <a:r>
              <a:rPr lang="zh-CN" altLang="en-US" b="0" i="0" dirty="0">
                <a:solidFill>
                  <a:srgbClr val="374151"/>
                </a:solidFill>
                <a:effectLst/>
                <a:latin typeface="Söhne"/>
              </a:rPr>
              <a:t>降维后的数据在低维特征空间中的分布情况。</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30</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3803351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Arial" panose="020B0604020202020204" pitchFamily="34" charset="0"/>
              <a:buChar char="•"/>
            </a:pPr>
            <a:r>
              <a:rPr lang="en-US" altLang="zh-CN" b="0" i="0" dirty="0" err="1">
                <a:solidFill>
                  <a:srgbClr val="374151"/>
                </a:solidFill>
                <a:effectLst/>
                <a:latin typeface="Söhne"/>
              </a:rPr>
              <a:t>mlp.predict</a:t>
            </a:r>
            <a:r>
              <a:rPr lang="en-US" altLang="zh-CN" b="0" i="0" dirty="0">
                <a:solidFill>
                  <a:srgbClr val="374151"/>
                </a:solidFill>
                <a:effectLst/>
                <a:latin typeface="Söhne"/>
              </a:rPr>
              <a:t>(</a:t>
            </a:r>
            <a:r>
              <a:rPr lang="en-US" altLang="zh-CN" b="0" i="0" dirty="0" err="1">
                <a:solidFill>
                  <a:srgbClr val="374151"/>
                </a:solidFill>
                <a:effectLst/>
                <a:latin typeface="Söhne"/>
              </a:rPr>
              <a:t>x_data</a:t>
            </a:r>
            <a:r>
              <a:rPr lang="en-US" altLang="zh-CN" b="0" i="0" dirty="0">
                <a:solidFill>
                  <a:srgbClr val="374151"/>
                </a:solidFill>
                <a:effectLst/>
                <a:latin typeface="Söhne"/>
              </a:rPr>
              <a:t>): </a:t>
            </a:r>
            <a:r>
              <a:rPr lang="zh-CN" altLang="en-US" b="0" i="0" dirty="0">
                <a:solidFill>
                  <a:srgbClr val="374151"/>
                </a:solidFill>
                <a:effectLst/>
                <a:latin typeface="Söhne"/>
              </a:rPr>
              <a:t>使用已经训练好的 </a:t>
            </a:r>
            <a:r>
              <a:rPr lang="en-US" altLang="zh-CN" b="0" i="0" dirty="0">
                <a:solidFill>
                  <a:srgbClr val="374151"/>
                </a:solidFill>
                <a:effectLst/>
                <a:latin typeface="Söhne"/>
              </a:rPr>
              <a:t>MLP </a:t>
            </a:r>
            <a:r>
              <a:rPr lang="zh-CN" altLang="en-US" b="0" i="0" dirty="0">
                <a:solidFill>
                  <a:srgbClr val="374151"/>
                </a:solidFill>
                <a:effectLst/>
                <a:latin typeface="Söhne"/>
              </a:rPr>
              <a:t>模型对输入数据 </a:t>
            </a:r>
            <a:r>
              <a:rPr lang="en-US" altLang="zh-CN" b="0" i="0" dirty="0" err="1">
                <a:solidFill>
                  <a:srgbClr val="374151"/>
                </a:solidFill>
                <a:effectLst/>
                <a:latin typeface="Söhne"/>
              </a:rPr>
              <a:t>x_data</a:t>
            </a:r>
            <a:r>
              <a:rPr lang="en-US" altLang="zh-CN" b="0" i="0" dirty="0">
                <a:solidFill>
                  <a:srgbClr val="374151"/>
                </a:solidFill>
                <a:effectLst/>
                <a:latin typeface="Söhne"/>
              </a:rPr>
              <a:t> </a:t>
            </a:r>
            <a:r>
              <a:rPr lang="zh-CN" altLang="en-US" b="0" i="0" dirty="0">
                <a:solidFill>
                  <a:srgbClr val="374151"/>
                </a:solidFill>
                <a:effectLst/>
                <a:latin typeface="Söhne"/>
              </a:rPr>
              <a:t>进行预测。这个操作会返回模型对每个样本的预测标签。</a:t>
            </a:r>
          </a:p>
          <a:p>
            <a:pPr algn="l"/>
            <a:r>
              <a:rPr lang="en-US" altLang="zh-CN" b="0" i="0" dirty="0">
                <a:solidFill>
                  <a:srgbClr val="374151"/>
                </a:solidFill>
                <a:effectLst/>
                <a:latin typeface="Söhne"/>
              </a:rPr>
              <a:t>predictions </a:t>
            </a:r>
            <a:r>
              <a:rPr lang="zh-CN" altLang="en-US" b="0" i="0" dirty="0">
                <a:solidFill>
                  <a:srgbClr val="374151"/>
                </a:solidFill>
                <a:effectLst/>
                <a:latin typeface="Söhne"/>
              </a:rPr>
              <a:t>现在包含了模型对整个数据集的预测结果。这通常用于评估模型在训练数据上的性能，或者对新的未见过的数据进行预测。</a:t>
            </a:r>
          </a:p>
          <a:p>
            <a:pPr lvl="0" eaLnBrk="1" hangingPunct="1">
              <a:spcBef>
                <a:spcPct val="0"/>
              </a:spcBef>
            </a:pPr>
            <a:endParaRPr lang="en-US" altLang="zh-CN" dirty="0"/>
          </a:p>
          <a:p>
            <a:pPr algn="l">
              <a:buFont typeface="Arial" panose="020B0604020202020204" pitchFamily="34" charset="0"/>
              <a:buChar char="•"/>
            </a:pPr>
            <a:r>
              <a:rPr lang="en-US" altLang="zh-CN" b="0" i="0" dirty="0">
                <a:solidFill>
                  <a:srgbClr val="374151"/>
                </a:solidFill>
                <a:effectLst/>
                <a:latin typeface="Söhne"/>
              </a:rPr>
              <a:t>x = </a:t>
            </a:r>
            <a:r>
              <a:rPr lang="en-US" altLang="zh-CN" b="0" i="0" dirty="0" err="1">
                <a:solidFill>
                  <a:srgbClr val="374151"/>
                </a:solidFill>
                <a:effectLst/>
                <a:latin typeface="Söhne"/>
              </a:rPr>
              <a:t>np.array</a:t>
            </a: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0]: </a:t>
            </a:r>
            <a:r>
              <a:rPr lang="zh-CN" altLang="en-US" b="0" i="0" dirty="0">
                <a:solidFill>
                  <a:srgbClr val="374151"/>
                </a:solidFill>
                <a:effectLst/>
                <a:latin typeface="Söhne"/>
              </a:rPr>
              <a:t>从 </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中提取第一列数据，用于 </a:t>
            </a:r>
            <a:r>
              <a:rPr lang="en-US" altLang="zh-CN" b="0" i="0" dirty="0">
                <a:solidFill>
                  <a:srgbClr val="374151"/>
                </a:solidFill>
                <a:effectLst/>
                <a:latin typeface="Söhne"/>
              </a:rPr>
              <a:t>x </a:t>
            </a:r>
            <a:r>
              <a:rPr lang="zh-CN" altLang="en-US" b="0" i="0" dirty="0">
                <a:solidFill>
                  <a:srgbClr val="374151"/>
                </a:solidFill>
                <a:effectLst/>
                <a:latin typeface="Söhne"/>
              </a:rPr>
              <a:t>轴。</a:t>
            </a:r>
          </a:p>
          <a:p>
            <a:pPr algn="l">
              <a:buFont typeface="Arial" panose="020B0604020202020204" pitchFamily="34" charset="0"/>
              <a:buChar char="•"/>
            </a:pPr>
            <a:r>
              <a:rPr lang="en-US" altLang="zh-CN" b="0" i="0" dirty="0">
                <a:solidFill>
                  <a:srgbClr val="374151"/>
                </a:solidFill>
                <a:effectLst/>
                <a:latin typeface="Söhne"/>
              </a:rPr>
              <a:t>y = </a:t>
            </a:r>
            <a:r>
              <a:rPr lang="en-US" altLang="zh-CN" b="0" i="0" dirty="0" err="1">
                <a:solidFill>
                  <a:srgbClr val="374151"/>
                </a:solidFill>
                <a:effectLst/>
                <a:latin typeface="Söhne"/>
              </a:rPr>
              <a:t>np.array</a:t>
            </a:r>
            <a:r>
              <a:rPr lang="en-US" altLang="zh-CN" b="0" i="0" dirty="0">
                <a:solidFill>
                  <a:srgbClr val="374151"/>
                </a:solidFill>
                <a:effectLst/>
                <a:latin typeface="Söhne"/>
              </a:rPr>
              <a:t>(</a:t>
            </a:r>
            <a:r>
              <a:rPr lang="en-US" altLang="zh-CN" b="0" i="0" dirty="0" err="1">
                <a:solidFill>
                  <a:srgbClr val="374151"/>
                </a:solidFill>
                <a:effectLst/>
                <a:latin typeface="Söhne"/>
              </a:rPr>
              <a:t>lowDDataMat</a:t>
            </a:r>
            <a:r>
              <a:rPr lang="en-US" altLang="zh-CN" b="0" i="0" dirty="0">
                <a:solidFill>
                  <a:srgbClr val="374151"/>
                </a:solidFill>
                <a:effectLst/>
                <a:latin typeface="Söhne"/>
              </a:rPr>
              <a:t>)[:, 1]: </a:t>
            </a:r>
            <a:r>
              <a:rPr lang="zh-CN" altLang="en-US" b="0" i="0" dirty="0">
                <a:solidFill>
                  <a:srgbClr val="374151"/>
                </a:solidFill>
                <a:effectLst/>
                <a:latin typeface="Söhne"/>
              </a:rPr>
              <a:t>从 </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中提取第二列数据，用于 </a:t>
            </a:r>
            <a:r>
              <a:rPr lang="en-US" altLang="zh-CN" b="0" i="0" dirty="0">
                <a:solidFill>
                  <a:srgbClr val="374151"/>
                </a:solidFill>
                <a:effectLst/>
                <a:latin typeface="Söhne"/>
              </a:rPr>
              <a:t>y </a:t>
            </a:r>
            <a:r>
              <a:rPr lang="zh-CN" altLang="en-US" b="0" i="0" dirty="0">
                <a:solidFill>
                  <a:srgbClr val="374151"/>
                </a:solidFill>
                <a:effectLst/>
                <a:latin typeface="Söhne"/>
              </a:rPr>
              <a:t>轴。</a:t>
            </a:r>
          </a:p>
          <a:p>
            <a:pPr algn="l">
              <a:buFont typeface="Arial" panose="020B0604020202020204" pitchFamily="34" charset="0"/>
              <a:buChar char="•"/>
            </a:pPr>
            <a:r>
              <a:rPr lang="en-US" altLang="zh-CN" b="0" i="0" dirty="0" err="1">
                <a:solidFill>
                  <a:srgbClr val="374151"/>
                </a:solidFill>
                <a:effectLst/>
                <a:latin typeface="Söhne"/>
              </a:rPr>
              <a:t>plt.scatter</a:t>
            </a:r>
            <a:r>
              <a:rPr lang="en-US" altLang="zh-CN" b="0" i="0" dirty="0">
                <a:solidFill>
                  <a:srgbClr val="374151"/>
                </a:solidFill>
                <a:effectLst/>
                <a:latin typeface="Söhne"/>
              </a:rPr>
              <a:t>(x, y, c=</a:t>
            </a:r>
            <a:r>
              <a:rPr lang="en-US" altLang="zh-CN" b="0" i="0" dirty="0" err="1">
                <a:solidFill>
                  <a:srgbClr val="374151"/>
                </a:solidFill>
                <a:effectLst/>
                <a:latin typeface="Söhne"/>
              </a:rPr>
              <a:t>y_data</a:t>
            </a:r>
            <a:r>
              <a:rPr lang="en-US" altLang="zh-CN" b="0" i="0" dirty="0">
                <a:solidFill>
                  <a:srgbClr val="374151"/>
                </a:solidFill>
                <a:effectLst/>
                <a:latin typeface="Söhne"/>
              </a:rPr>
              <a:t>): </a:t>
            </a:r>
            <a:r>
              <a:rPr lang="zh-CN" altLang="en-US" b="0" i="0" dirty="0">
                <a:solidFill>
                  <a:srgbClr val="374151"/>
                </a:solidFill>
                <a:effectLst/>
                <a:latin typeface="Söhne"/>
              </a:rPr>
              <a:t>绘制散点图，使用 </a:t>
            </a:r>
            <a:r>
              <a:rPr lang="en-US" altLang="zh-CN" b="0" i="0" dirty="0" err="1">
                <a:solidFill>
                  <a:srgbClr val="374151"/>
                </a:solidFill>
                <a:effectLst/>
                <a:latin typeface="Söhne"/>
              </a:rPr>
              <a:t>y_data</a:t>
            </a:r>
            <a:r>
              <a:rPr lang="en-US" altLang="zh-CN" b="0" i="0" dirty="0">
                <a:solidFill>
                  <a:srgbClr val="374151"/>
                </a:solidFill>
                <a:effectLst/>
                <a:latin typeface="Söhne"/>
              </a:rPr>
              <a:t> </a:t>
            </a:r>
            <a:r>
              <a:rPr lang="zh-CN" altLang="en-US" b="0" i="0" dirty="0">
                <a:solidFill>
                  <a:srgbClr val="374151"/>
                </a:solidFill>
                <a:effectLst/>
                <a:latin typeface="Söhne"/>
              </a:rPr>
              <a:t>中的标签进行着色。这里假设 </a:t>
            </a:r>
            <a:r>
              <a:rPr lang="en-US" altLang="zh-CN" b="0" i="0" dirty="0" err="1">
                <a:solidFill>
                  <a:srgbClr val="374151"/>
                </a:solidFill>
                <a:effectLst/>
                <a:latin typeface="Söhne"/>
              </a:rPr>
              <a:t>y_data</a:t>
            </a:r>
            <a:r>
              <a:rPr lang="en-US" altLang="zh-CN" b="0" i="0" dirty="0">
                <a:solidFill>
                  <a:srgbClr val="374151"/>
                </a:solidFill>
                <a:effectLst/>
                <a:latin typeface="Söhne"/>
              </a:rPr>
              <a:t> </a:t>
            </a:r>
            <a:r>
              <a:rPr lang="zh-CN" altLang="en-US" b="0" i="0" dirty="0">
                <a:solidFill>
                  <a:srgbClr val="374151"/>
                </a:solidFill>
                <a:effectLst/>
                <a:latin typeface="Söhne"/>
              </a:rPr>
              <a:t>包含了每个样本的真实标签。</a:t>
            </a:r>
          </a:p>
          <a:p>
            <a:pPr algn="l">
              <a:buFont typeface="Arial" panose="020B0604020202020204" pitchFamily="34" charset="0"/>
              <a:buChar char="•"/>
            </a:pPr>
            <a:r>
              <a:rPr lang="en-US" altLang="zh-CN" b="0" i="0" dirty="0" err="1">
                <a:solidFill>
                  <a:srgbClr val="374151"/>
                </a:solidFill>
                <a:effectLst/>
                <a:latin typeface="Söhne"/>
              </a:rPr>
              <a:t>plt.show</a:t>
            </a:r>
            <a:r>
              <a:rPr lang="en-US" altLang="zh-CN" b="0" i="0" dirty="0">
                <a:solidFill>
                  <a:srgbClr val="374151"/>
                </a:solidFill>
                <a:effectLst/>
                <a:latin typeface="Söhne"/>
              </a:rPr>
              <a:t>(): </a:t>
            </a:r>
            <a:r>
              <a:rPr lang="zh-CN" altLang="en-US" b="0" i="0" dirty="0">
                <a:solidFill>
                  <a:srgbClr val="374151"/>
                </a:solidFill>
                <a:effectLst/>
                <a:latin typeface="Söhne"/>
              </a:rPr>
              <a:t>显示绘制的散点图。</a:t>
            </a:r>
          </a:p>
          <a:p>
            <a:pPr algn="l"/>
            <a:r>
              <a:rPr lang="zh-CN" altLang="en-US" b="0" i="0" dirty="0">
                <a:solidFill>
                  <a:srgbClr val="374151"/>
                </a:solidFill>
                <a:effectLst/>
                <a:latin typeface="Söhne"/>
              </a:rPr>
              <a:t>通过在散点图中使用颜色，你可以看到在低维特征空间中，不同数字的数据点是否能够在降维后被区分。</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31</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6555012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p:sp>
      <p:sp>
        <p:nvSpPr>
          <p:cNvPr id="4098" name="备注占位符 2"/>
          <p:cNvSpPr>
            <a:spLocks noGrp="1"/>
          </p:cNvSpPr>
          <p:nvPr>
            <p:ph type="body"/>
          </p:nvPr>
        </p:nvSpPr>
        <p:spPr/>
        <p:txBody>
          <a:bodyPr wrap="square" lIns="91440" tIns="45720" rIns="91440" bIns="45720" anchor="t"/>
          <a:lstStyle/>
          <a:p>
            <a:pPr algn="l">
              <a:buFont typeface="Arial" panose="020B0604020202020204" pitchFamily="34" charset="0"/>
              <a:buChar char="•"/>
            </a:pPr>
            <a:r>
              <a:rPr lang="en-US" altLang="zh-CN" b="0" i="0" dirty="0" err="1">
                <a:solidFill>
                  <a:srgbClr val="374151"/>
                </a:solidFill>
                <a:effectLst/>
                <a:latin typeface="Söhne"/>
              </a:rPr>
              <a:t>pca</a:t>
            </a:r>
            <a:r>
              <a:rPr lang="en-US" altLang="zh-CN" b="0" i="0" dirty="0">
                <a:solidFill>
                  <a:srgbClr val="374151"/>
                </a:solidFill>
                <a:effectLst/>
                <a:latin typeface="Söhne"/>
              </a:rPr>
              <a:t>(</a:t>
            </a:r>
            <a:r>
              <a:rPr lang="en-US" altLang="zh-CN" b="0" i="0" dirty="0" err="1">
                <a:solidFill>
                  <a:srgbClr val="374151"/>
                </a:solidFill>
                <a:effectLst/>
                <a:latin typeface="Söhne"/>
              </a:rPr>
              <a:t>x_data</a:t>
            </a:r>
            <a:r>
              <a:rPr lang="en-US" altLang="zh-CN" b="0" i="0" dirty="0">
                <a:solidFill>
                  <a:srgbClr val="374151"/>
                </a:solidFill>
                <a:effectLst/>
                <a:latin typeface="Söhne"/>
              </a:rPr>
              <a:t>, 3): </a:t>
            </a:r>
            <a:r>
              <a:rPr lang="zh-CN" altLang="en-US" b="0" i="0" dirty="0">
                <a:solidFill>
                  <a:srgbClr val="374151"/>
                </a:solidFill>
                <a:effectLst/>
                <a:latin typeface="Söhne"/>
              </a:rPr>
              <a:t>调用 </a:t>
            </a:r>
            <a:r>
              <a:rPr lang="en-US" altLang="zh-CN" b="0" i="0" dirty="0" err="1">
                <a:solidFill>
                  <a:srgbClr val="374151"/>
                </a:solidFill>
                <a:effectLst/>
                <a:latin typeface="Söhne"/>
              </a:rPr>
              <a:t>pca</a:t>
            </a:r>
            <a:r>
              <a:rPr lang="en-US" altLang="zh-CN" b="0" i="0" dirty="0">
                <a:solidFill>
                  <a:srgbClr val="374151"/>
                </a:solidFill>
                <a:effectLst/>
                <a:latin typeface="Söhne"/>
              </a:rPr>
              <a:t> </a:t>
            </a:r>
            <a:r>
              <a:rPr lang="zh-CN" altLang="en-US" b="0" i="0" dirty="0">
                <a:solidFill>
                  <a:srgbClr val="374151"/>
                </a:solidFill>
                <a:effectLst/>
                <a:latin typeface="Söhne"/>
              </a:rPr>
              <a:t>函数，传入原始数据 </a:t>
            </a:r>
            <a:r>
              <a:rPr lang="en-US" altLang="zh-CN" b="0" i="0" dirty="0" err="1">
                <a:solidFill>
                  <a:srgbClr val="374151"/>
                </a:solidFill>
                <a:effectLst/>
                <a:latin typeface="Söhne"/>
              </a:rPr>
              <a:t>x_data</a:t>
            </a:r>
            <a:r>
              <a:rPr lang="en-US" altLang="zh-CN" b="0" i="0" dirty="0">
                <a:solidFill>
                  <a:srgbClr val="374151"/>
                </a:solidFill>
                <a:effectLst/>
                <a:latin typeface="Söhne"/>
              </a:rPr>
              <a:t> </a:t>
            </a:r>
            <a:r>
              <a:rPr lang="zh-CN" altLang="en-US" b="0" i="0" dirty="0">
                <a:solidFill>
                  <a:srgbClr val="374151"/>
                </a:solidFill>
                <a:effectLst/>
                <a:latin typeface="Söhne"/>
              </a:rPr>
              <a:t>和 </a:t>
            </a:r>
            <a:r>
              <a:rPr lang="en-US" altLang="zh-CN" b="0" i="0" dirty="0">
                <a:solidFill>
                  <a:srgbClr val="374151"/>
                </a:solidFill>
                <a:effectLst/>
                <a:latin typeface="Söhne"/>
              </a:rPr>
              <a:t>top=3</a:t>
            </a:r>
            <a:r>
              <a:rPr lang="zh-CN" altLang="en-US" b="0" i="0" dirty="0">
                <a:solidFill>
                  <a:srgbClr val="374151"/>
                </a:solidFill>
                <a:effectLst/>
                <a:latin typeface="Söhne"/>
              </a:rPr>
              <a:t>，进行主成分分析。</a:t>
            </a:r>
          </a:p>
          <a:p>
            <a:pPr algn="l">
              <a:buFont typeface="Arial" panose="020B0604020202020204" pitchFamily="34" charset="0"/>
              <a:buChar char="•"/>
            </a:pP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en-US" altLang="zh-CN" b="0" i="0" dirty="0" err="1">
                <a:solidFill>
                  <a:srgbClr val="374151"/>
                </a:solidFill>
                <a:effectLst/>
                <a:latin typeface="Söhne"/>
              </a:rPr>
              <a:t>reconMat</a:t>
            </a:r>
            <a:r>
              <a:rPr lang="en-US" altLang="zh-CN" b="0" i="0" dirty="0">
                <a:solidFill>
                  <a:srgbClr val="374151"/>
                </a:solidFill>
                <a:effectLst/>
                <a:latin typeface="Söhne"/>
              </a:rPr>
              <a:t> = </a:t>
            </a:r>
            <a:r>
              <a:rPr lang="en-US" altLang="zh-CN" b="0" i="0" dirty="0" err="1">
                <a:solidFill>
                  <a:srgbClr val="374151"/>
                </a:solidFill>
                <a:effectLst/>
                <a:latin typeface="Söhne"/>
              </a:rPr>
              <a:t>pca</a:t>
            </a:r>
            <a:r>
              <a:rPr lang="en-US" altLang="zh-CN" b="0" i="0" dirty="0">
                <a:solidFill>
                  <a:srgbClr val="374151"/>
                </a:solidFill>
                <a:effectLst/>
                <a:latin typeface="Söhne"/>
              </a:rPr>
              <a:t>(</a:t>
            </a:r>
            <a:r>
              <a:rPr lang="en-US" altLang="zh-CN" b="0" i="0" dirty="0" err="1">
                <a:solidFill>
                  <a:srgbClr val="374151"/>
                </a:solidFill>
                <a:effectLst/>
                <a:latin typeface="Söhne"/>
              </a:rPr>
              <a:t>x_data</a:t>
            </a:r>
            <a:r>
              <a:rPr lang="en-US" altLang="zh-CN" b="0" i="0" dirty="0">
                <a:solidFill>
                  <a:srgbClr val="374151"/>
                </a:solidFill>
                <a:effectLst/>
                <a:latin typeface="Söhne"/>
              </a:rPr>
              <a:t>, 3): </a:t>
            </a:r>
            <a:r>
              <a:rPr lang="zh-CN" altLang="en-US" b="0" i="0" dirty="0">
                <a:solidFill>
                  <a:srgbClr val="374151"/>
                </a:solidFill>
                <a:effectLst/>
                <a:latin typeface="Söhne"/>
              </a:rPr>
              <a:t>将返回的低维特征空间的数据和重构的数据矩阵分别赋值给变量 </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和 </a:t>
            </a:r>
            <a:r>
              <a:rPr lang="en-US" altLang="zh-CN" b="0" i="0" dirty="0" err="1">
                <a:solidFill>
                  <a:srgbClr val="374151"/>
                </a:solidFill>
                <a:effectLst/>
                <a:latin typeface="Söhne"/>
              </a:rPr>
              <a:t>reconMat</a:t>
            </a:r>
            <a:r>
              <a:rPr lang="zh-CN" altLang="en-US" b="0" i="0" dirty="0">
                <a:solidFill>
                  <a:srgbClr val="374151"/>
                </a:solidFill>
                <a:effectLst/>
                <a:latin typeface="Söhne"/>
              </a:rPr>
              <a:t>。</a:t>
            </a:r>
          </a:p>
          <a:p>
            <a:pPr algn="l"/>
            <a:r>
              <a:rPr lang="zh-CN" altLang="en-US" b="0" i="0" dirty="0">
                <a:solidFill>
                  <a:srgbClr val="374151"/>
                </a:solidFill>
                <a:effectLst/>
                <a:latin typeface="Söhne"/>
              </a:rPr>
              <a:t>现在，</a:t>
            </a:r>
            <a:r>
              <a:rPr lang="en-US" altLang="zh-CN" b="0" i="0" dirty="0" err="1">
                <a:solidFill>
                  <a:srgbClr val="374151"/>
                </a:solidFill>
                <a:effectLst/>
                <a:latin typeface="Söhne"/>
              </a:rPr>
              <a:t>lowDDataMat</a:t>
            </a:r>
            <a:r>
              <a:rPr lang="en-US" altLang="zh-CN" b="0" i="0" dirty="0">
                <a:solidFill>
                  <a:srgbClr val="374151"/>
                </a:solidFill>
                <a:effectLst/>
                <a:latin typeface="Söhne"/>
              </a:rPr>
              <a:t> </a:t>
            </a:r>
            <a:r>
              <a:rPr lang="zh-CN" altLang="en-US" b="0" i="0" dirty="0">
                <a:solidFill>
                  <a:srgbClr val="374151"/>
                </a:solidFill>
                <a:effectLst/>
                <a:latin typeface="Söhne"/>
              </a:rPr>
              <a:t>包含了经过 </a:t>
            </a:r>
            <a:r>
              <a:rPr lang="en-US" altLang="zh-CN" b="0" i="0" dirty="0">
                <a:solidFill>
                  <a:srgbClr val="374151"/>
                </a:solidFill>
                <a:effectLst/>
                <a:latin typeface="Söhne"/>
              </a:rPr>
              <a:t>PCA </a:t>
            </a:r>
            <a:r>
              <a:rPr lang="zh-CN" altLang="en-US" b="0" i="0" dirty="0">
                <a:solidFill>
                  <a:srgbClr val="374151"/>
                </a:solidFill>
                <a:effectLst/>
                <a:latin typeface="Söhne"/>
              </a:rPr>
              <a:t>降维后的数据（在三维空间），而 </a:t>
            </a:r>
            <a:r>
              <a:rPr lang="en-US" altLang="zh-CN" b="0" i="0" dirty="0" err="1">
                <a:solidFill>
                  <a:srgbClr val="374151"/>
                </a:solidFill>
                <a:effectLst/>
                <a:latin typeface="Söhne"/>
              </a:rPr>
              <a:t>reconMat</a:t>
            </a:r>
            <a:r>
              <a:rPr lang="en-US" altLang="zh-CN" b="0" i="0" dirty="0">
                <a:solidFill>
                  <a:srgbClr val="374151"/>
                </a:solidFill>
                <a:effectLst/>
                <a:latin typeface="Söhne"/>
              </a:rPr>
              <a:t> </a:t>
            </a:r>
            <a:r>
              <a:rPr lang="zh-CN" altLang="en-US" b="0" i="0" dirty="0">
                <a:solidFill>
                  <a:srgbClr val="374151"/>
                </a:solidFill>
                <a:effectLst/>
                <a:latin typeface="Söhne"/>
              </a:rPr>
              <a:t>包含了通过逆变换重构回原始维度的数据。</a:t>
            </a:r>
          </a:p>
          <a:p>
            <a:pPr lvl="0" eaLnBrk="1" hangingPunct="1">
              <a:spcBef>
                <a:spcPct val="0"/>
              </a:spcBef>
            </a:pPr>
            <a:endParaRPr lang="en-US" altLang="zh-CN" dirty="0"/>
          </a:p>
          <a:p>
            <a:pPr algn="l">
              <a:buFont typeface="Arial" panose="020B0604020202020204" pitchFamily="34" charset="0"/>
              <a:buChar char="•"/>
            </a:pPr>
            <a:r>
              <a:rPr lang="en-US" altLang="zh-CN" b="0" i="0" dirty="0">
                <a:solidFill>
                  <a:srgbClr val="374151"/>
                </a:solidFill>
                <a:effectLst/>
                <a:latin typeface="Söhne"/>
              </a:rPr>
              <a:t>from mpl_toolkits.mplot3d import Axes3D: </a:t>
            </a:r>
            <a:r>
              <a:rPr lang="zh-CN" altLang="en-US" b="0" i="0" dirty="0">
                <a:solidFill>
                  <a:srgbClr val="374151"/>
                </a:solidFill>
                <a:effectLst/>
                <a:latin typeface="Söhne"/>
              </a:rPr>
              <a:t>导入 </a:t>
            </a:r>
            <a:r>
              <a:rPr lang="en-US" altLang="zh-CN" b="0" i="0" dirty="0">
                <a:solidFill>
                  <a:srgbClr val="374151"/>
                </a:solidFill>
                <a:effectLst/>
                <a:latin typeface="Söhne"/>
              </a:rPr>
              <a:t>Matplotlib </a:t>
            </a:r>
            <a:r>
              <a:rPr lang="zh-CN" altLang="en-US" b="0" i="0" dirty="0">
                <a:solidFill>
                  <a:srgbClr val="374151"/>
                </a:solidFill>
                <a:effectLst/>
                <a:latin typeface="Söhne"/>
              </a:rPr>
              <a:t>中用于</a:t>
            </a:r>
            <a:r>
              <a:rPr lang="en-US" altLang="zh-CN" b="0" i="0" dirty="0">
                <a:solidFill>
                  <a:srgbClr val="374151"/>
                </a:solidFill>
                <a:effectLst/>
                <a:latin typeface="Söhne"/>
              </a:rPr>
              <a:t>3D</a:t>
            </a:r>
            <a:r>
              <a:rPr lang="zh-CN" altLang="en-US" b="0" i="0" dirty="0">
                <a:solidFill>
                  <a:srgbClr val="374151"/>
                </a:solidFill>
                <a:effectLst/>
                <a:latin typeface="Söhne"/>
              </a:rPr>
              <a:t>绘图的模块。</a:t>
            </a:r>
          </a:p>
          <a:p>
            <a:pPr algn="l">
              <a:buFont typeface="Arial" panose="020B0604020202020204" pitchFamily="34" charset="0"/>
              <a:buChar char="•"/>
            </a:pPr>
            <a:r>
              <a:rPr lang="en-US" altLang="zh-CN" b="0" i="0" dirty="0">
                <a:solidFill>
                  <a:srgbClr val="374151"/>
                </a:solidFill>
                <a:effectLst/>
                <a:latin typeface="Söhne"/>
              </a:rPr>
              <a:t>ax = </a:t>
            </a:r>
            <a:r>
              <a:rPr lang="en-US" altLang="zh-CN" b="0" i="0" dirty="0" err="1">
                <a:solidFill>
                  <a:srgbClr val="374151"/>
                </a:solidFill>
                <a:effectLst/>
                <a:latin typeface="Söhne"/>
              </a:rPr>
              <a:t>plt.figure</a:t>
            </a:r>
            <a:r>
              <a:rPr lang="en-US" altLang="zh-CN" b="0" i="0" dirty="0">
                <a:solidFill>
                  <a:srgbClr val="374151"/>
                </a:solidFill>
                <a:effectLst/>
                <a:latin typeface="Söhne"/>
              </a:rPr>
              <a:t>().</a:t>
            </a:r>
            <a:r>
              <a:rPr lang="en-US" altLang="zh-CN" b="0" i="0" dirty="0" err="1">
                <a:solidFill>
                  <a:srgbClr val="374151"/>
                </a:solidFill>
                <a:effectLst/>
                <a:latin typeface="Söhne"/>
              </a:rPr>
              <a:t>add_subplot</a:t>
            </a:r>
            <a:r>
              <a:rPr lang="en-US" altLang="zh-CN" b="0" i="0" dirty="0">
                <a:solidFill>
                  <a:srgbClr val="374151"/>
                </a:solidFill>
                <a:effectLst/>
                <a:latin typeface="Söhne"/>
              </a:rPr>
              <a:t>(111, projection='3d'): </a:t>
            </a:r>
            <a:r>
              <a:rPr lang="zh-CN" altLang="en-US" b="0" i="0" dirty="0">
                <a:solidFill>
                  <a:srgbClr val="374151"/>
                </a:solidFill>
                <a:effectLst/>
                <a:latin typeface="Söhne"/>
              </a:rPr>
              <a:t>创建一个</a:t>
            </a:r>
            <a:r>
              <a:rPr lang="en-US" altLang="zh-CN" b="0" i="0" dirty="0">
                <a:solidFill>
                  <a:srgbClr val="374151"/>
                </a:solidFill>
                <a:effectLst/>
                <a:latin typeface="Söhne"/>
              </a:rPr>
              <a:t>3D</a:t>
            </a:r>
            <a:r>
              <a:rPr lang="zh-CN" altLang="en-US" b="0" i="0" dirty="0">
                <a:solidFill>
                  <a:srgbClr val="374151"/>
                </a:solidFill>
                <a:effectLst/>
                <a:latin typeface="Söhne"/>
              </a:rPr>
              <a:t>图形的坐标轴对象 </a:t>
            </a:r>
            <a:r>
              <a:rPr lang="en-US" altLang="zh-CN" b="0" i="0" dirty="0">
                <a:solidFill>
                  <a:srgbClr val="374151"/>
                </a:solidFill>
                <a:effectLst/>
                <a:latin typeface="Söhne"/>
              </a:rPr>
              <a:t>ax</a:t>
            </a:r>
            <a:r>
              <a:rPr lang="zh-CN" altLang="en-US" b="0" i="0" dirty="0">
                <a:solidFill>
                  <a:srgbClr val="374151"/>
                </a:solidFill>
                <a:effectLst/>
                <a:latin typeface="Söhne"/>
              </a:rPr>
              <a:t>。</a:t>
            </a:r>
          </a:p>
          <a:p>
            <a:pPr algn="l">
              <a:buFont typeface="Arial" panose="020B0604020202020204" pitchFamily="34" charset="0"/>
              <a:buChar char="•"/>
            </a:pPr>
            <a:r>
              <a:rPr lang="en-US" altLang="zh-CN" b="0" i="0" dirty="0" err="1">
                <a:solidFill>
                  <a:srgbClr val="374151"/>
                </a:solidFill>
                <a:effectLst/>
                <a:latin typeface="Söhne"/>
              </a:rPr>
              <a:t>ax.scatter</a:t>
            </a:r>
            <a:r>
              <a:rPr lang="en-US" altLang="zh-CN" b="0" i="0" dirty="0">
                <a:solidFill>
                  <a:srgbClr val="374151"/>
                </a:solidFill>
                <a:effectLst/>
                <a:latin typeface="Söhne"/>
              </a:rPr>
              <a:t>(x, y, z, c=</a:t>
            </a:r>
            <a:r>
              <a:rPr lang="en-US" altLang="zh-CN" b="0" i="0" dirty="0" err="1">
                <a:solidFill>
                  <a:srgbClr val="374151"/>
                </a:solidFill>
                <a:effectLst/>
                <a:latin typeface="Söhne"/>
              </a:rPr>
              <a:t>y_data</a:t>
            </a:r>
            <a:r>
              <a:rPr lang="en-US" altLang="zh-CN" b="0" i="0" dirty="0">
                <a:solidFill>
                  <a:srgbClr val="374151"/>
                </a:solidFill>
                <a:effectLst/>
                <a:latin typeface="Söhne"/>
              </a:rPr>
              <a:t>, s=10): </a:t>
            </a:r>
            <a:r>
              <a:rPr lang="zh-CN" altLang="en-US" b="0" i="0" dirty="0">
                <a:solidFill>
                  <a:srgbClr val="374151"/>
                </a:solidFill>
                <a:effectLst/>
                <a:latin typeface="Söhne"/>
              </a:rPr>
              <a:t>绘制</a:t>
            </a:r>
            <a:r>
              <a:rPr lang="en-US" altLang="zh-CN" b="0" i="0" dirty="0">
                <a:solidFill>
                  <a:srgbClr val="374151"/>
                </a:solidFill>
                <a:effectLst/>
                <a:latin typeface="Söhne"/>
              </a:rPr>
              <a:t>3D</a:t>
            </a:r>
            <a:r>
              <a:rPr lang="zh-CN" altLang="en-US" b="0" i="0" dirty="0">
                <a:solidFill>
                  <a:srgbClr val="374151"/>
                </a:solidFill>
                <a:effectLst/>
                <a:latin typeface="Söhne"/>
              </a:rPr>
              <a:t>散点图，其中 </a:t>
            </a:r>
            <a:r>
              <a:rPr lang="en-US" altLang="zh-CN" b="0" i="0" dirty="0">
                <a:solidFill>
                  <a:srgbClr val="374151"/>
                </a:solidFill>
                <a:effectLst/>
                <a:latin typeface="Söhne"/>
              </a:rPr>
              <a:t>x</a:t>
            </a:r>
            <a:r>
              <a:rPr lang="zh-CN" altLang="en-US" b="0" i="0" dirty="0">
                <a:solidFill>
                  <a:srgbClr val="374151"/>
                </a:solidFill>
                <a:effectLst/>
                <a:latin typeface="Söhne"/>
              </a:rPr>
              <a:t>、</a:t>
            </a:r>
            <a:r>
              <a:rPr lang="en-US" altLang="zh-CN" b="0" i="0" dirty="0">
                <a:solidFill>
                  <a:srgbClr val="374151"/>
                </a:solidFill>
                <a:effectLst/>
                <a:latin typeface="Söhne"/>
              </a:rPr>
              <a:t>y</a:t>
            </a:r>
            <a:r>
              <a:rPr lang="zh-CN" altLang="en-US" b="0" i="0" dirty="0">
                <a:solidFill>
                  <a:srgbClr val="374151"/>
                </a:solidFill>
                <a:effectLst/>
                <a:latin typeface="Söhne"/>
              </a:rPr>
              <a:t>、</a:t>
            </a:r>
            <a:r>
              <a:rPr lang="en-US" altLang="zh-CN" b="0" i="0" dirty="0">
                <a:solidFill>
                  <a:srgbClr val="374151"/>
                </a:solidFill>
                <a:effectLst/>
                <a:latin typeface="Söhne"/>
              </a:rPr>
              <a:t>z </a:t>
            </a:r>
            <a:r>
              <a:rPr lang="zh-CN" altLang="en-US" b="0" i="0" dirty="0">
                <a:solidFill>
                  <a:srgbClr val="374151"/>
                </a:solidFill>
                <a:effectLst/>
                <a:latin typeface="Söhne"/>
              </a:rPr>
              <a:t>分别表示三个主成分的值，颜色由 </a:t>
            </a:r>
            <a:r>
              <a:rPr lang="en-US" altLang="zh-CN" b="0" i="0" dirty="0" err="1">
                <a:solidFill>
                  <a:srgbClr val="374151"/>
                </a:solidFill>
                <a:effectLst/>
                <a:latin typeface="Söhne"/>
              </a:rPr>
              <a:t>y_data</a:t>
            </a:r>
            <a:r>
              <a:rPr lang="en-US" altLang="zh-CN" b="0" i="0" dirty="0">
                <a:solidFill>
                  <a:srgbClr val="374151"/>
                </a:solidFill>
                <a:effectLst/>
                <a:latin typeface="Söhne"/>
              </a:rPr>
              <a:t> </a:t>
            </a:r>
            <a:r>
              <a:rPr lang="zh-CN" altLang="en-US" b="0" i="0" dirty="0">
                <a:solidFill>
                  <a:srgbClr val="374151"/>
                </a:solidFill>
                <a:effectLst/>
                <a:latin typeface="Söhne"/>
              </a:rPr>
              <a:t>决定，点的大小为</a:t>
            </a:r>
            <a:r>
              <a:rPr lang="en-US" altLang="zh-CN" b="0" i="0" dirty="0">
                <a:solidFill>
                  <a:srgbClr val="374151"/>
                </a:solidFill>
                <a:effectLst/>
                <a:latin typeface="Söhne"/>
              </a:rPr>
              <a:t>10</a:t>
            </a:r>
            <a:r>
              <a:rPr lang="zh-CN" altLang="en-US" b="0" i="0" dirty="0">
                <a:solidFill>
                  <a:srgbClr val="374151"/>
                </a:solidFill>
                <a:effectLst/>
                <a:latin typeface="Söhne"/>
              </a:rPr>
              <a:t>。</a:t>
            </a:r>
          </a:p>
          <a:p>
            <a:pPr algn="l">
              <a:buFont typeface="Arial" panose="020B0604020202020204" pitchFamily="34" charset="0"/>
              <a:buChar char="•"/>
            </a:pPr>
            <a:r>
              <a:rPr lang="en-US" altLang="zh-CN" b="0" i="0" dirty="0" err="1">
                <a:solidFill>
                  <a:srgbClr val="374151"/>
                </a:solidFill>
                <a:effectLst/>
                <a:latin typeface="Söhne"/>
              </a:rPr>
              <a:t>plt.show</a:t>
            </a:r>
            <a:r>
              <a:rPr lang="en-US" altLang="zh-CN" b="0" i="0" dirty="0">
                <a:solidFill>
                  <a:srgbClr val="374151"/>
                </a:solidFill>
                <a:effectLst/>
                <a:latin typeface="Söhne"/>
              </a:rPr>
              <a:t>(): </a:t>
            </a:r>
            <a:r>
              <a:rPr lang="zh-CN" altLang="en-US" b="0" i="0" dirty="0">
                <a:solidFill>
                  <a:srgbClr val="374151"/>
                </a:solidFill>
                <a:effectLst/>
                <a:latin typeface="Söhne"/>
              </a:rPr>
              <a:t>显示绘制的</a:t>
            </a:r>
            <a:r>
              <a:rPr lang="en-US" altLang="zh-CN" b="0" i="0" dirty="0">
                <a:solidFill>
                  <a:srgbClr val="374151"/>
                </a:solidFill>
                <a:effectLst/>
                <a:latin typeface="Söhne"/>
              </a:rPr>
              <a:t>3D</a:t>
            </a:r>
            <a:r>
              <a:rPr lang="zh-CN" altLang="en-US" b="0" i="0" dirty="0">
                <a:solidFill>
                  <a:srgbClr val="374151"/>
                </a:solidFill>
                <a:effectLst/>
                <a:latin typeface="Söhne"/>
              </a:rPr>
              <a:t>散点图。</a:t>
            </a:r>
          </a:p>
          <a:p>
            <a:pPr algn="l"/>
            <a:r>
              <a:rPr lang="zh-CN" altLang="en-US" b="0" i="0" dirty="0">
                <a:solidFill>
                  <a:srgbClr val="374151"/>
                </a:solidFill>
                <a:effectLst/>
                <a:latin typeface="Söhne"/>
              </a:rPr>
              <a:t>这个图形展示了数据在三维空间中的分布情况，颜色表示原始数据的标签。</a:t>
            </a:r>
          </a:p>
          <a:p>
            <a:pPr lvl="0" eaLnBrk="1" hangingPunct="1">
              <a:spcBef>
                <a:spcPct val="0"/>
              </a:spcBef>
            </a:pPr>
            <a:endParaRPr lang="zh-CN" altLang="en-US" dirty="0"/>
          </a:p>
        </p:txBody>
      </p:sp>
      <p:sp>
        <p:nvSpPr>
          <p:cNvPr id="4099"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lstStyle/>
          <a:p>
            <a:pPr lvl="0" algn="r"/>
            <a:fld id="{9A0DB2DC-4C9A-4742-B13C-FB6460FD3503}" type="slidenum">
              <a:rPr lang="zh-CN" altLang="en-US" sz="1200" dirty="0">
                <a:solidFill>
                  <a:srgbClr val="000000"/>
                </a:solidFill>
                <a:latin typeface="等线" panose="02010600030101010101" charset="-122"/>
                <a:ea typeface="等线" panose="02010600030101010101" charset="-122"/>
              </a:rPr>
              <a:t>32</a:t>
            </a:fld>
            <a:endParaRPr lang="zh-CN" altLang="en-US" sz="1200" dirty="0">
              <a:solidFill>
                <a:srgbClr val="000000"/>
              </a:solidFill>
              <a:latin typeface="等线" panose="02010600030101010101" charset="-122"/>
              <a:ea typeface="等线" panose="02010600030101010101" charset="-122"/>
            </a:endParaRPr>
          </a:p>
        </p:txBody>
      </p:sp>
    </p:spTree>
    <p:extLst>
      <p:ext uri="{BB962C8B-B14F-4D97-AF65-F5344CB8AC3E}">
        <p14:creationId xmlns:p14="http://schemas.microsoft.com/office/powerpoint/2010/main" val="2591724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25383C9-8F6E-4325-97FE-DE8A3F1FF953}"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67BE70-92B0-43B4-9755-B1CAAC59AEB3}" type="datetimeFigureOut">
              <a:rPr lang="zh-CN" altLang="en-US" smtClean="0"/>
              <a:t>2023/12/14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5383C9-8F6E-4325-97FE-DE8A3F1FF95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png"/><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customXml" Target="../ink/ink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3" Type="http://schemas.openxmlformats.org/officeDocument/2006/relationships/tags" Target="../tags/tag22.xml"/><Relationship Id="rId18" Type="http://schemas.openxmlformats.org/officeDocument/2006/relationships/tags" Target="../tags/tag27.xml"/><Relationship Id="rId26" Type="http://schemas.openxmlformats.org/officeDocument/2006/relationships/tags" Target="../tags/tag35.xml"/><Relationship Id="rId39" Type="http://schemas.openxmlformats.org/officeDocument/2006/relationships/tags" Target="../tags/tag48.xml"/><Relationship Id="rId21" Type="http://schemas.openxmlformats.org/officeDocument/2006/relationships/tags" Target="../tags/tag30.xml"/><Relationship Id="rId34" Type="http://schemas.openxmlformats.org/officeDocument/2006/relationships/tags" Target="../tags/tag43.xml"/><Relationship Id="rId42" Type="http://schemas.openxmlformats.org/officeDocument/2006/relationships/tags" Target="../tags/tag51.xml"/><Relationship Id="rId7" Type="http://schemas.openxmlformats.org/officeDocument/2006/relationships/tags" Target="../tags/tag16.xml"/><Relationship Id="rId2" Type="http://schemas.openxmlformats.org/officeDocument/2006/relationships/tags" Target="../tags/tag11.xml"/><Relationship Id="rId16" Type="http://schemas.openxmlformats.org/officeDocument/2006/relationships/tags" Target="../tags/tag25.xml"/><Relationship Id="rId20" Type="http://schemas.openxmlformats.org/officeDocument/2006/relationships/tags" Target="../tags/tag29.xml"/><Relationship Id="rId29" Type="http://schemas.openxmlformats.org/officeDocument/2006/relationships/tags" Target="../tags/tag38.xml"/><Relationship Id="rId41" Type="http://schemas.openxmlformats.org/officeDocument/2006/relationships/tags" Target="../tags/tag50.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tags" Target="../tags/tag33.xml"/><Relationship Id="rId32" Type="http://schemas.openxmlformats.org/officeDocument/2006/relationships/tags" Target="../tags/tag41.xml"/><Relationship Id="rId37" Type="http://schemas.openxmlformats.org/officeDocument/2006/relationships/tags" Target="../tags/tag46.xml"/><Relationship Id="rId40" Type="http://schemas.openxmlformats.org/officeDocument/2006/relationships/tags" Target="../tags/tag49.xm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tags" Target="../tags/tag32.xml"/><Relationship Id="rId28" Type="http://schemas.openxmlformats.org/officeDocument/2006/relationships/tags" Target="../tags/tag37.xml"/><Relationship Id="rId36" Type="http://schemas.openxmlformats.org/officeDocument/2006/relationships/tags" Target="../tags/tag45.xml"/><Relationship Id="rId10" Type="http://schemas.openxmlformats.org/officeDocument/2006/relationships/tags" Target="../tags/tag19.xml"/><Relationship Id="rId19" Type="http://schemas.openxmlformats.org/officeDocument/2006/relationships/tags" Target="../tags/tag28.xml"/><Relationship Id="rId31" Type="http://schemas.openxmlformats.org/officeDocument/2006/relationships/tags" Target="../tags/tag40.xml"/><Relationship Id="rId44" Type="http://schemas.openxmlformats.org/officeDocument/2006/relationships/image" Target="../media/image1.png"/><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tags" Target="../tags/tag31.xml"/><Relationship Id="rId27" Type="http://schemas.openxmlformats.org/officeDocument/2006/relationships/tags" Target="../tags/tag36.xml"/><Relationship Id="rId30" Type="http://schemas.openxmlformats.org/officeDocument/2006/relationships/tags" Target="../tags/tag39.xml"/><Relationship Id="rId35" Type="http://schemas.openxmlformats.org/officeDocument/2006/relationships/tags" Target="../tags/tag44.xml"/><Relationship Id="rId43" Type="http://schemas.openxmlformats.org/officeDocument/2006/relationships/slideLayout" Target="../slideLayouts/slideLayout1.xml"/><Relationship Id="rId8" Type="http://schemas.openxmlformats.org/officeDocument/2006/relationships/tags" Target="../tags/tag17.xml"/><Relationship Id="rId3" Type="http://schemas.openxmlformats.org/officeDocument/2006/relationships/tags" Target="../tags/tag12.xml"/><Relationship Id="rId12" Type="http://schemas.openxmlformats.org/officeDocument/2006/relationships/tags" Target="../tags/tag21.xml"/><Relationship Id="rId17" Type="http://schemas.openxmlformats.org/officeDocument/2006/relationships/tags" Target="../tags/tag26.xml"/><Relationship Id="rId25" Type="http://schemas.openxmlformats.org/officeDocument/2006/relationships/tags" Target="../tags/tag34.xml"/><Relationship Id="rId33" Type="http://schemas.openxmlformats.org/officeDocument/2006/relationships/tags" Target="../tags/tag42.xml"/><Relationship Id="rId38" Type="http://schemas.openxmlformats.org/officeDocument/2006/relationships/tags" Target="../tags/tag4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20.wmf"/><Relationship Id="rId3" Type="http://schemas.openxmlformats.org/officeDocument/2006/relationships/image" Target="../media/image1.png"/><Relationship Id="rId7" Type="http://schemas.openxmlformats.org/officeDocument/2006/relationships/image" Target="../media/image17.wmf"/><Relationship Id="rId12" Type="http://schemas.openxmlformats.org/officeDocument/2006/relationships/oleObject" Target="../embeddings/oleObject5.bin"/><Relationship Id="rId2" Type="http://schemas.openxmlformats.org/officeDocument/2006/relationships/slideLayout" Target="../slideLayouts/slideLayout1.xml"/><Relationship Id="rId1" Type="http://schemas.openxmlformats.org/officeDocument/2006/relationships/tags" Target="../tags/tag52.xml"/><Relationship Id="rId6" Type="http://schemas.openxmlformats.org/officeDocument/2006/relationships/oleObject" Target="../embeddings/oleObject2.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png"/><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8.wmf"/><Relationship Id="rId14" Type="http://schemas.openxmlformats.org/officeDocument/2006/relationships/customXml" Target="../ink/ink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53.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slideLayout" Target="../slideLayouts/slideLayout1.xml"/><Relationship Id="rId7" Type="http://schemas.openxmlformats.org/officeDocument/2006/relationships/oleObject" Target="../embeddings/oleObject7.bin"/><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image" Target="../media/image24.wmf"/><Relationship Id="rId5" Type="http://schemas.openxmlformats.org/officeDocument/2006/relationships/oleObject" Target="../embeddings/oleObject6.bin"/><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7.wmf"/><Relationship Id="rId2" Type="http://schemas.openxmlformats.org/officeDocument/2006/relationships/slideLayout" Target="../slideLayouts/slideLayout1.xml"/><Relationship Id="rId1" Type="http://schemas.openxmlformats.org/officeDocument/2006/relationships/tags" Target="../tags/tag56.xml"/><Relationship Id="rId6" Type="http://schemas.openxmlformats.org/officeDocument/2006/relationships/oleObject" Target="../embeddings/oleObject9.bin"/><Relationship Id="rId5" Type="http://schemas.openxmlformats.org/officeDocument/2006/relationships/image" Target="../media/image26.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58.xml"/><Relationship Id="rId5" Type="http://schemas.openxmlformats.org/officeDocument/2006/relationships/image" Target="../media/image30.wmf"/><Relationship Id="rId4" Type="http://schemas.openxmlformats.org/officeDocument/2006/relationships/oleObject" Target="../embeddings/oleObject10.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9.xml"/><Relationship Id="rId6" Type="http://schemas.openxmlformats.org/officeDocument/2006/relationships/image" Target="../media/image31.wmf"/><Relationship Id="rId5" Type="http://schemas.openxmlformats.org/officeDocument/2006/relationships/oleObject" Target="../embeddings/oleObject11.bin"/><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image" Target="../media/image1.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Layout" Target="../slideLayouts/slideLayout1.xml"/><Relationship Id="rId5" Type="http://schemas.openxmlformats.org/officeDocument/2006/relationships/tags" Target="../tags/tag64.xml"/><Relationship Id="rId4" Type="http://schemas.openxmlformats.org/officeDocument/2006/relationships/tags" Target="../tags/tag63.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BB786584-883F-6A6D-35C3-E4BD0162BA20}"/>
              </a:ext>
            </a:extLst>
          </p:cNvPr>
          <p:cNvSpPr txBox="1"/>
          <p:nvPr>
            <p:custDataLst>
              <p:tags r:id="rId1"/>
            </p:custDataLst>
          </p:nvPr>
        </p:nvSpPr>
        <p:spPr>
          <a:xfrm>
            <a:off x="1390015" y="939075"/>
            <a:ext cx="9411970" cy="830997"/>
          </a:xfrm>
          <a:prstGeom prst="rect">
            <a:avLst/>
          </a:prstGeom>
          <a:noFill/>
        </p:spPr>
        <p:txBody>
          <a:bodyPr wrap="square" rtlCol="0">
            <a:spAutoFit/>
          </a:bodyPr>
          <a:lstStyle/>
          <a:p>
            <a:pPr algn="ctr"/>
            <a:r>
              <a:rPr lang="zh-CN" altLang="en-US" sz="4800" b="1" dirty="0">
                <a:latin typeface="方正兰亭粗黑简体" panose="02000000000000000000" pitchFamily="2" charset="-122"/>
                <a:ea typeface="方正兰亭粗黑简体" panose="02000000000000000000" pitchFamily="2" charset="-122"/>
              </a:rPr>
              <a:t>主成分分析</a:t>
            </a:r>
          </a:p>
        </p:txBody>
      </p:sp>
      <p:sp>
        <p:nvSpPr>
          <p:cNvPr id="14" name="文本框 13">
            <a:extLst>
              <a:ext uri="{FF2B5EF4-FFF2-40B4-BE49-F238E27FC236}">
                <a16:creationId xmlns:a16="http://schemas.microsoft.com/office/drawing/2014/main" id="{C7F393E0-3475-4A5D-7D76-E10F37EB9646}"/>
              </a:ext>
            </a:extLst>
          </p:cNvPr>
          <p:cNvSpPr txBox="1"/>
          <p:nvPr/>
        </p:nvSpPr>
        <p:spPr>
          <a:xfrm>
            <a:off x="9869895" y="5595759"/>
            <a:ext cx="1807029" cy="646331"/>
          </a:xfrm>
          <a:prstGeom prst="rect">
            <a:avLst/>
          </a:prstGeom>
          <a:noFill/>
        </p:spPr>
        <p:txBody>
          <a:bodyPr wrap="square" rtlCol="0">
            <a:spAutoFit/>
          </a:bodyPr>
          <a:lstStyle/>
          <a:p>
            <a:r>
              <a:rPr lang="zh-CN" altLang="en-US" dirty="0"/>
              <a:t>讲解人：张清晨</a:t>
            </a:r>
            <a:endParaRPr lang="en-US" altLang="zh-CN" dirty="0"/>
          </a:p>
          <a:p>
            <a:pPr algn="r"/>
            <a:r>
              <a:rPr lang="en-US" altLang="zh-CN" dirty="0"/>
              <a:t>2023.12.14</a:t>
            </a:r>
            <a:endParaRPr lang="zh-CN" altLang="en-US" dirty="0"/>
          </a:p>
        </p:txBody>
      </p:sp>
      <p:sp>
        <p:nvSpPr>
          <p:cNvPr id="18" name="文本框 17">
            <a:extLst>
              <a:ext uri="{FF2B5EF4-FFF2-40B4-BE49-F238E27FC236}">
                <a16:creationId xmlns:a16="http://schemas.microsoft.com/office/drawing/2014/main" id="{5FBDB15B-FF8C-7132-850F-F9A67B04FE85}"/>
              </a:ext>
            </a:extLst>
          </p:cNvPr>
          <p:cNvSpPr txBox="1"/>
          <p:nvPr/>
        </p:nvSpPr>
        <p:spPr>
          <a:xfrm>
            <a:off x="2349590" y="1857383"/>
            <a:ext cx="7492819" cy="646331"/>
          </a:xfrm>
          <a:prstGeom prst="rect">
            <a:avLst/>
          </a:prstGeom>
          <a:noFill/>
        </p:spPr>
        <p:txBody>
          <a:bodyPr wrap="square">
            <a:spAutoFit/>
          </a:bodyPr>
          <a:lstStyle/>
          <a:p>
            <a:r>
              <a:rPr lang="en-US" altLang="zh-CN" sz="3600" b="1" dirty="0">
                <a:ea typeface="方正兰亭粗黑简体" panose="02000000000000000000" pitchFamily="2" charset="-122"/>
              </a:rPr>
              <a:t>PCA(Principal Component Analysis) </a:t>
            </a:r>
            <a:endParaRPr lang="zh-CN" altLang="en-US" sz="3600" b="1" dirty="0">
              <a:ea typeface="方正兰亭粗黑简体" panose="02000000000000000000" pitchFamily="2" charset="-122"/>
            </a:endParaRPr>
          </a:p>
        </p:txBody>
      </p:sp>
      <p:pic>
        <p:nvPicPr>
          <p:cNvPr id="22" name="图片 21">
            <a:extLst>
              <a:ext uri="{FF2B5EF4-FFF2-40B4-BE49-F238E27FC236}">
                <a16:creationId xmlns:a16="http://schemas.microsoft.com/office/drawing/2014/main" id="{2881F885-918D-ACA2-1FF0-38353F362528}"/>
              </a:ext>
            </a:extLst>
          </p:cNvPr>
          <p:cNvPicPr>
            <a:picLocks noChangeAspect="1"/>
          </p:cNvPicPr>
          <p:nvPr/>
        </p:nvPicPr>
        <p:blipFill>
          <a:blip r:embed="rId4"/>
          <a:stretch>
            <a:fillRect/>
          </a:stretch>
        </p:blipFill>
        <p:spPr>
          <a:xfrm>
            <a:off x="4408715" y="3609537"/>
            <a:ext cx="3374570" cy="1948110"/>
          </a:xfrm>
          <a:prstGeom prst="rect">
            <a:avLst/>
          </a:prstGeom>
        </p:spPr>
      </p:pic>
      <p:sp>
        <p:nvSpPr>
          <p:cNvPr id="24" name="文本框 23">
            <a:extLst>
              <a:ext uri="{FF2B5EF4-FFF2-40B4-BE49-F238E27FC236}">
                <a16:creationId xmlns:a16="http://schemas.microsoft.com/office/drawing/2014/main" id="{14013FB7-1F24-B838-C3D8-FB09FB263217}"/>
              </a:ext>
            </a:extLst>
          </p:cNvPr>
          <p:cNvSpPr txBox="1"/>
          <p:nvPr/>
        </p:nvSpPr>
        <p:spPr>
          <a:xfrm>
            <a:off x="4884966" y="5585350"/>
            <a:ext cx="2430236" cy="461665"/>
          </a:xfrm>
          <a:prstGeom prst="rect">
            <a:avLst/>
          </a:prstGeom>
          <a:noFill/>
        </p:spPr>
        <p:txBody>
          <a:bodyPr wrap="square">
            <a:spAutoFit/>
          </a:bodyPr>
          <a:lstStyle/>
          <a:p>
            <a:r>
              <a:rPr lang="zh-CN" altLang="en-US" sz="2400" dirty="0"/>
              <a:t>方差</a:t>
            </a:r>
            <a:r>
              <a:rPr lang="en-US" altLang="zh-CN" sz="2400" dirty="0"/>
              <a:t>=</a:t>
            </a:r>
            <a:r>
              <a:rPr lang="zh-CN" altLang="en-US" sz="2400" dirty="0"/>
              <a:t>长度</a:t>
            </a:r>
            <a:r>
              <a:rPr lang="en-US" altLang="zh-CN" sz="2400" dirty="0"/>
              <a:t>=</a:t>
            </a:r>
            <a:r>
              <a:rPr lang="zh-CN" altLang="en-US" sz="2400" dirty="0"/>
              <a:t>信息 </a:t>
            </a:r>
          </a:p>
        </p:txBody>
      </p:sp>
      <p:sp>
        <p:nvSpPr>
          <p:cNvPr id="25" name="矩形 24">
            <a:extLst>
              <a:ext uri="{FF2B5EF4-FFF2-40B4-BE49-F238E27FC236}">
                <a16:creationId xmlns:a16="http://schemas.microsoft.com/office/drawing/2014/main" id="{E26E223B-3F87-CBD9-2765-16D84CDD84DA}"/>
              </a:ext>
            </a:extLst>
          </p:cNvPr>
          <p:cNvSpPr/>
          <p:nvPr/>
        </p:nvSpPr>
        <p:spPr>
          <a:xfrm>
            <a:off x="4191000" y="3609537"/>
            <a:ext cx="3886200" cy="2519120"/>
          </a:xfrm>
          <a:prstGeom prst="rect">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38761AA-8C31-B513-FA42-2CB056A41B23}"/>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Times New Roman" panose="02020603050405020304" charset="0"/>
                <a:ea typeface="方正兰亭粗黑简体" panose="02000000000000000000" pitchFamily="2" charset="-122"/>
                <a:cs typeface="Times New Roman" panose="02020603050405020304" charset="0"/>
              </a:rPr>
              <a:t>案例引入</a:t>
            </a:r>
            <a:endParaRPr lang="zh-CN" altLang="en-US" sz="4400" dirty="0">
              <a:latin typeface="方正兰亭粗黑简体" panose="02000000000000000000" pitchFamily="2" charset="-122"/>
              <a:ea typeface="方正兰亭粗黑简体" panose="02000000000000000000" pitchFamily="2" charset="-122"/>
            </a:endParaRPr>
          </a:p>
        </p:txBody>
      </p:sp>
      <p:pic>
        <p:nvPicPr>
          <p:cNvPr id="2" name="图片 1">
            <a:extLst>
              <a:ext uri="{FF2B5EF4-FFF2-40B4-BE49-F238E27FC236}">
                <a16:creationId xmlns:a16="http://schemas.microsoft.com/office/drawing/2014/main" id="{B742A013-03BC-EE01-87E3-C2769E40CCB4}"/>
              </a:ext>
            </a:extLst>
          </p:cNvPr>
          <p:cNvPicPr>
            <a:picLocks noChangeAspect="1"/>
          </p:cNvPicPr>
          <p:nvPr/>
        </p:nvPicPr>
        <p:blipFill>
          <a:blip r:embed="rId4"/>
          <a:stretch>
            <a:fillRect/>
          </a:stretch>
        </p:blipFill>
        <p:spPr>
          <a:xfrm>
            <a:off x="1224735" y="1073243"/>
            <a:ext cx="3402459" cy="2308324"/>
          </a:xfrm>
          <a:prstGeom prst="rect">
            <a:avLst/>
          </a:prstGeom>
        </p:spPr>
      </p:pic>
      <p:pic>
        <p:nvPicPr>
          <p:cNvPr id="7" name="图片 6">
            <a:extLst>
              <a:ext uri="{FF2B5EF4-FFF2-40B4-BE49-F238E27FC236}">
                <a16:creationId xmlns:a16="http://schemas.microsoft.com/office/drawing/2014/main" id="{BE5C6E15-5933-1B76-B270-65E06A5FCC8A}"/>
              </a:ext>
            </a:extLst>
          </p:cNvPr>
          <p:cNvPicPr>
            <a:picLocks noChangeAspect="1"/>
          </p:cNvPicPr>
          <p:nvPr/>
        </p:nvPicPr>
        <p:blipFill>
          <a:blip r:embed="rId5"/>
          <a:stretch>
            <a:fillRect/>
          </a:stretch>
        </p:blipFill>
        <p:spPr>
          <a:xfrm>
            <a:off x="1224735" y="3798797"/>
            <a:ext cx="4786993" cy="2583888"/>
          </a:xfrm>
          <a:prstGeom prst="rect">
            <a:avLst/>
          </a:prstGeom>
        </p:spPr>
      </p:pic>
      <p:sp>
        <p:nvSpPr>
          <p:cNvPr id="8" name="文本框 7">
            <a:extLst>
              <a:ext uri="{FF2B5EF4-FFF2-40B4-BE49-F238E27FC236}">
                <a16:creationId xmlns:a16="http://schemas.microsoft.com/office/drawing/2014/main" id="{CB157045-A446-8BEB-6DDF-CA577F415540}"/>
              </a:ext>
            </a:extLst>
          </p:cNvPr>
          <p:cNvSpPr txBox="1"/>
          <p:nvPr/>
        </p:nvSpPr>
        <p:spPr>
          <a:xfrm>
            <a:off x="7365325" y="1892753"/>
            <a:ext cx="2584450" cy="584775"/>
          </a:xfrm>
          <a:prstGeom prst="rect">
            <a:avLst/>
          </a:prstGeom>
          <a:noFill/>
        </p:spPr>
        <p:txBody>
          <a:bodyPr wrap="square">
            <a:spAutoFit/>
          </a:bodyPr>
          <a:lstStyle/>
          <a:p>
            <a:r>
              <a:rPr lang="zh-CN" altLang="en-US" sz="1600" dirty="0"/>
              <a:t>利用主成分分析将十几项指标综合成</a:t>
            </a:r>
            <a:r>
              <a:rPr lang="en-US" altLang="zh-CN" sz="1600" dirty="0"/>
              <a:t>3</a:t>
            </a:r>
            <a:r>
              <a:rPr lang="zh-CN" altLang="en-US" sz="1600" dirty="0"/>
              <a:t>项指标：</a:t>
            </a:r>
          </a:p>
        </p:txBody>
      </p:sp>
      <p:sp>
        <p:nvSpPr>
          <p:cNvPr id="9" name="文本框 8">
            <a:extLst>
              <a:ext uri="{FF2B5EF4-FFF2-40B4-BE49-F238E27FC236}">
                <a16:creationId xmlns:a16="http://schemas.microsoft.com/office/drawing/2014/main" id="{6E166247-21DD-F48A-C071-B230DC11A21A}"/>
              </a:ext>
            </a:extLst>
          </p:cNvPr>
          <p:cNvSpPr txBox="1"/>
          <p:nvPr/>
        </p:nvSpPr>
        <p:spPr>
          <a:xfrm>
            <a:off x="7365325" y="2611992"/>
            <a:ext cx="2725420" cy="861774"/>
          </a:xfrm>
          <a:prstGeom prst="rect">
            <a:avLst/>
          </a:prstGeom>
          <a:noFill/>
        </p:spPr>
        <p:txBody>
          <a:bodyPr wrap="square">
            <a:spAutoFit/>
          </a:bodyPr>
          <a:lstStyle/>
          <a:p>
            <a:r>
              <a:rPr lang="zh-CN" altLang="en-US" sz="1600" dirty="0"/>
              <a:t>一项是反映长度的指标</a:t>
            </a:r>
            <a:endParaRPr lang="en-US" altLang="zh-CN" sz="1600" dirty="0"/>
          </a:p>
          <a:p>
            <a:r>
              <a:rPr lang="zh-CN" altLang="en-US" sz="1600" dirty="0"/>
              <a:t>一项是反映胖瘦的指标</a:t>
            </a:r>
            <a:endParaRPr lang="en-US" altLang="zh-CN" sz="1600" dirty="0"/>
          </a:p>
          <a:p>
            <a:r>
              <a:rPr lang="zh-CN" altLang="en-US" sz="1600" dirty="0"/>
              <a:t>一项是反映特殊体型的指标 </a:t>
            </a:r>
          </a:p>
        </p:txBody>
      </p:sp>
      <p:sp>
        <p:nvSpPr>
          <p:cNvPr id="10" name="矩形: 圆角 9">
            <a:extLst>
              <a:ext uri="{FF2B5EF4-FFF2-40B4-BE49-F238E27FC236}">
                <a16:creationId xmlns:a16="http://schemas.microsoft.com/office/drawing/2014/main" id="{4B3EE046-A9D9-F636-288C-4B47DD6512C3}"/>
              </a:ext>
            </a:extLst>
          </p:cNvPr>
          <p:cNvSpPr/>
          <p:nvPr/>
        </p:nvSpPr>
        <p:spPr>
          <a:xfrm>
            <a:off x="7427866" y="1490473"/>
            <a:ext cx="2459991" cy="2308324"/>
          </a:xfrm>
          <a:prstGeom prst="round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48953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03AD30C-9373-0100-0C44-F2DBC058FEE6}"/>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6" name="文本框 5">
            <a:extLst>
              <a:ext uri="{FF2B5EF4-FFF2-40B4-BE49-F238E27FC236}">
                <a16:creationId xmlns:a16="http://schemas.microsoft.com/office/drawing/2014/main" id="{5836C05D-809B-A36E-F890-BDDD65E87E03}"/>
              </a:ext>
            </a:extLst>
          </p:cNvPr>
          <p:cNvSpPr txBox="1"/>
          <p:nvPr/>
        </p:nvSpPr>
        <p:spPr>
          <a:xfrm>
            <a:off x="1778455" y="1333419"/>
            <a:ext cx="8643256" cy="2154436"/>
          </a:xfrm>
          <a:prstGeom prst="rect">
            <a:avLst/>
          </a:prstGeom>
          <a:noFill/>
        </p:spPr>
        <p:txBody>
          <a:bodyPr wrap="square">
            <a:spAutoFit/>
          </a:bodyPr>
          <a:lstStyle/>
          <a:p>
            <a:r>
              <a:rPr lang="zh-CN" altLang="en-US" sz="2000" dirty="0"/>
              <a:t>（一） 什么是主成分分析法</a:t>
            </a:r>
            <a:endParaRPr lang="en-US" altLang="zh-CN" sz="2000" dirty="0"/>
          </a:p>
          <a:p>
            <a:endParaRPr lang="en-US" altLang="zh-CN" dirty="0"/>
          </a:p>
          <a:p>
            <a:r>
              <a:rPr lang="zh-CN" altLang="en-US" sz="2400" b="1" dirty="0">
                <a:solidFill>
                  <a:srgbClr val="FF0000"/>
                </a:solidFill>
              </a:rPr>
              <a:t>PCA</a:t>
            </a:r>
            <a:r>
              <a:rPr lang="zh-CN" altLang="en-US" sz="2400" b="1" dirty="0"/>
              <a:t>(Principal Component Analysis)</a:t>
            </a:r>
            <a:r>
              <a:rPr lang="zh-CN" altLang="en-US" sz="2400" dirty="0"/>
              <a:t>，即</a:t>
            </a:r>
            <a:r>
              <a:rPr lang="zh-CN" altLang="en-US" sz="2400" dirty="0">
                <a:solidFill>
                  <a:srgbClr val="FF0000"/>
                </a:solidFill>
              </a:rPr>
              <a:t>主成分分析方法</a:t>
            </a:r>
            <a:r>
              <a:rPr lang="zh-CN" altLang="en-US" sz="2400" dirty="0"/>
              <a:t>，是一种使用最广泛的</a:t>
            </a:r>
            <a:r>
              <a:rPr lang="zh-CN" altLang="en-US" sz="2400" b="1" dirty="0">
                <a:solidFill>
                  <a:srgbClr val="FF0000"/>
                </a:solidFill>
              </a:rPr>
              <a:t>数据降维算法</a:t>
            </a:r>
            <a:r>
              <a:rPr lang="zh-CN" altLang="en-US" sz="2400" dirty="0"/>
              <a:t>（</a:t>
            </a:r>
            <a:r>
              <a:rPr lang="zh-CN" altLang="en-US" sz="2400" b="1" dirty="0"/>
              <a:t>非监督</a:t>
            </a:r>
            <a:r>
              <a:rPr lang="zh-CN" altLang="en-US" sz="2400" dirty="0"/>
              <a:t>的机器学习方法）。其最主要的用途在于</a:t>
            </a:r>
            <a:r>
              <a:rPr lang="zh-CN" altLang="en-US" sz="2400" dirty="0">
                <a:solidFill>
                  <a:srgbClr val="FF0000"/>
                </a:solidFill>
              </a:rPr>
              <a:t>“</a:t>
            </a:r>
            <a:r>
              <a:rPr lang="zh-CN" altLang="en-US" sz="2400" b="1" dirty="0">
                <a:solidFill>
                  <a:srgbClr val="FF0000"/>
                </a:solidFill>
              </a:rPr>
              <a:t>降维</a:t>
            </a:r>
            <a:r>
              <a:rPr lang="zh-CN" altLang="en-US" sz="2400" dirty="0">
                <a:solidFill>
                  <a:srgbClr val="FF0000"/>
                </a:solidFill>
              </a:rPr>
              <a:t>”</a:t>
            </a:r>
            <a:r>
              <a:rPr lang="zh-CN" altLang="en-US" sz="2400" dirty="0"/>
              <a:t>，把原来多个变量划为少数几个综合指标的一种统计分析方法。</a:t>
            </a:r>
          </a:p>
        </p:txBody>
      </p:sp>
      <p:pic>
        <p:nvPicPr>
          <p:cNvPr id="9" name="图片 8">
            <a:extLst>
              <a:ext uri="{FF2B5EF4-FFF2-40B4-BE49-F238E27FC236}">
                <a16:creationId xmlns:a16="http://schemas.microsoft.com/office/drawing/2014/main" id="{C211D9AA-2DC4-C703-BDA5-10B849D6F1F7}"/>
              </a:ext>
            </a:extLst>
          </p:cNvPr>
          <p:cNvPicPr>
            <a:picLocks noChangeAspect="1"/>
          </p:cNvPicPr>
          <p:nvPr/>
        </p:nvPicPr>
        <p:blipFill>
          <a:blip r:embed="rId5"/>
          <a:stretch>
            <a:fillRect/>
          </a:stretch>
        </p:blipFill>
        <p:spPr>
          <a:xfrm>
            <a:off x="853170" y="3775624"/>
            <a:ext cx="3272516" cy="3057864"/>
          </a:xfrm>
          <a:prstGeom prst="rect">
            <a:avLst/>
          </a:prstGeom>
        </p:spPr>
      </p:pic>
      <p:pic>
        <p:nvPicPr>
          <p:cNvPr id="12" name="图片 11">
            <a:extLst>
              <a:ext uri="{FF2B5EF4-FFF2-40B4-BE49-F238E27FC236}">
                <a16:creationId xmlns:a16="http://schemas.microsoft.com/office/drawing/2014/main" id="{587A2CE4-162A-C2F1-843E-8A85FCEDEBEA}"/>
              </a:ext>
            </a:extLst>
          </p:cNvPr>
          <p:cNvPicPr>
            <a:picLocks noChangeAspect="1"/>
          </p:cNvPicPr>
          <p:nvPr/>
        </p:nvPicPr>
        <p:blipFill>
          <a:blip r:embed="rId6"/>
          <a:stretch>
            <a:fillRect/>
          </a:stretch>
        </p:blipFill>
        <p:spPr>
          <a:xfrm>
            <a:off x="4477385" y="3775624"/>
            <a:ext cx="3242026" cy="3057864"/>
          </a:xfrm>
          <a:prstGeom prst="rect">
            <a:avLst/>
          </a:prstGeom>
        </p:spPr>
      </p:pic>
      <p:pic>
        <p:nvPicPr>
          <p:cNvPr id="14" name="图片 13">
            <a:extLst>
              <a:ext uri="{FF2B5EF4-FFF2-40B4-BE49-F238E27FC236}">
                <a16:creationId xmlns:a16="http://schemas.microsoft.com/office/drawing/2014/main" id="{BA3C42A8-9C89-6AA0-BDCB-832BE0A7105E}"/>
              </a:ext>
            </a:extLst>
          </p:cNvPr>
          <p:cNvPicPr>
            <a:picLocks noChangeAspect="1"/>
          </p:cNvPicPr>
          <p:nvPr/>
        </p:nvPicPr>
        <p:blipFill>
          <a:blip r:embed="rId7"/>
          <a:stretch>
            <a:fillRect/>
          </a:stretch>
        </p:blipFill>
        <p:spPr>
          <a:xfrm>
            <a:off x="8066314" y="4040100"/>
            <a:ext cx="3351439" cy="2528911"/>
          </a:xfrm>
          <a:prstGeom prst="rect">
            <a:avLst/>
          </a:prstGeom>
        </p:spPr>
      </p:pic>
    </p:spTree>
    <p:extLst>
      <p:ext uri="{BB962C8B-B14F-4D97-AF65-F5344CB8AC3E}">
        <p14:creationId xmlns:p14="http://schemas.microsoft.com/office/powerpoint/2010/main" val="3286026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E5FD955-6731-F8FC-7A8A-ECB3153E0681}"/>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4" name="文本框 3">
            <a:extLst>
              <a:ext uri="{FF2B5EF4-FFF2-40B4-BE49-F238E27FC236}">
                <a16:creationId xmlns:a16="http://schemas.microsoft.com/office/drawing/2014/main" id="{A3E19359-E2D6-74C8-D91E-CD1F702A4AC6}"/>
              </a:ext>
            </a:extLst>
          </p:cNvPr>
          <p:cNvSpPr txBox="1"/>
          <p:nvPr/>
        </p:nvSpPr>
        <p:spPr>
          <a:xfrm>
            <a:off x="1309007" y="1334545"/>
            <a:ext cx="5762354" cy="400110"/>
          </a:xfrm>
          <a:prstGeom prst="rect">
            <a:avLst/>
          </a:prstGeom>
          <a:noFill/>
        </p:spPr>
        <p:txBody>
          <a:bodyPr wrap="square">
            <a:spAutoFit/>
          </a:bodyPr>
          <a:lstStyle/>
          <a:p>
            <a:r>
              <a:rPr lang="zh-CN" altLang="en-US" sz="2000" dirty="0"/>
              <a:t>（二）为什么要做主成分分析</a:t>
            </a:r>
            <a:endParaRPr lang="en-US" altLang="zh-CN" sz="2000" dirty="0"/>
          </a:p>
        </p:txBody>
      </p:sp>
      <p:sp>
        <p:nvSpPr>
          <p:cNvPr id="12" name="文本框 11">
            <a:extLst>
              <a:ext uri="{FF2B5EF4-FFF2-40B4-BE49-F238E27FC236}">
                <a16:creationId xmlns:a16="http://schemas.microsoft.com/office/drawing/2014/main" id="{58A890C7-C515-8B64-F51A-0F75DC0D85BB}"/>
              </a:ext>
            </a:extLst>
          </p:cNvPr>
          <p:cNvSpPr txBox="1"/>
          <p:nvPr/>
        </p:nvSpPr>
        <p:spPr>
          <a:xfrm>
            <a:off x="599712" y="2102895"/>
            <a:ext cx="10992576" cy="4154984"/>
          </a:xfrm>
          <a:prstGeom prst="rect">
            <a:avLst/>
          </a:prstGeom>
          <a:noFill/>
        </p:spPr>
        <p:txBody>
          <a:bodyPr wrap="square">
            <a:spAutoFit/>
          </a:bodyPr>
          <a:lstStyle/>
          <a:p>
            <a:r>
              <a:rPr lang="en-US" altLang="zh-CN" sz="2400" dirty="0"/>
              <a:t>1.</a:t>
            </a:r>
            <a:r>
              <a:rPr lang="zh-CN" altLang="en-US" sz="2400" dirty="0"/>
              <a:t>在实际问题研究中，多变量问题是经常会遇到的。变量太多，无疑会增加分析问题的难度与复杂性，而且在许多实际问题中，</a:t>
            </a:r>
            <a:r>
              <a:rPr lang="zh-CN" altLang="en-US" sz="2400" dirty="0">
                <a:solidFill>
                  <a:srgbClr val="FF0000"/>
                </a:solidFill>
              </a:rPr>
              <a:t>多个变量之间是具有一定的相关关系的</a:t>
            </a:r>
            <a:r>
              <a:rPr lang="en-US" altLang="zh-CN" sz="2400" dirty="0">
                <a:solidFill>
                  <a:srgbClr val="FF0000"/>
                </a:solidFill>
              </a:rPr>
              <a:t>(</a:t>
            </a:r>
            <a:r>
              <a:rPr lang="zh-CN" altLang="en-US" sz="2400" dirty="0">
                <a:solidFill>
                  <a:srgbClr val="FF0000"/>
                </a:solidFill>
              </a:rPr>
              <a:t>数学与理综成绩</a:t>
            </a:r>
            <a:r>
              <a:rPr lang="en-US" altLang="zh-CN" sz="2400" dirty="0">
                <a:solidFill>
                  <a:srgbClr val="FF0000"/>
                </a:solidFill>
              </a:rPr>
              <a:t>)</a:t>
            </a:r>
            <a:r>
              <a:rPr lang="zh-CN" altLang="en-US" sz="2400" dirty="0"/>
              <a:t>。</a:t>
            </a:r>
            <a:endParaRPr lang="en-US" altLang="zh-CN" sz="2400" b="1" dirty="0"/>
          </a:p>
          <a:p>
            <a:r>
              <a:rPr lang="en-US" altLang="zh-CN" sz="2400" dirty="0"/>
              <a:t>2.</a:t>
            </a:r>
            <a:r>
              <a:rPr lang="zh-CN" altLang="en-US" sz="2400" dirty="0"/>
              <a:t>如果对每个指标进行单独分析，其分析结果往往是孤立的，不能完全利用数据中的信息，因此盲目减少指标会损失很多有用的信息，从而产生错误的结论。</a:t>
            </a:r>
            <a:endParaRPr lang="en-US" altLang="zh-CN" sz="2400" dirty="0"/>
          </a:p>
          <a:p>
            <a:r>
              <a:rPr lang="en-US" altLang="zh-CN" sz="2400" dirty="0"/>
              <a:t>3.</a:t>
            </a:r>
            <a:r>
              <a:rPr lang="zh-CN" altLang="en-US" sz="2400" dirty="0"/>
              <a:t>因此需要找到一种合理的方法，</a:t>
            </a:r>
            <a:r>
              <a:rPr lang="zh-CN" altLang="en-US" sz="2400" b="1" dirty="0">
                <a:solidFill>
                  <a:srgbClr val="FF0000"/>
                </a:solidFill>
              </a:rPr>
              <a:t>在减少需要分析的指标同时，尽量减少原指标包含信息的损失</a:t>
            </a:r>
            <a:r>
              <a:rPr lang="zh-CN" altLang="en-US" sz="2400" dirty="0"/>
              <a:t>，</a:t>
            </a:r>
            <a:r>
              <a:rPr lang="zh-CN" altLang="en-US" sz="2400" dirty="0">
                <a:solidFill>
                  <a:srgbClr val="FF0000"/>
                </a:solidFill>
              </a:rPr>
              <a:t>用较少的新变量代替原来较多的旧变量</a:t>
            </a:r>
            <a:r>
              <a:rPr lang="zh-CN" altLang="en-US" sz="2400" dirty="0"/>
              <a:t>，而且使这些较少的新变量</a:t>
            </a:r>
            <a:r>
              <a:rPr lang="zh-CN" altLang="en-US" sz="2400" dirty="0">
                <a:solidFill>
                  <a:srgbClr val="FF0000"/>
                </a:solidFill>
              </a:rPr>
              <a:t>尽可能多地保留原来变量所反映的信息</a:t>
            </a:r>
            <a:r>
              <a:rPr lang="zh-CN" altLang="en-US" sz="2400" dirty="0"/>
              <a:t>。</a:t>
            </a:r>
          </a:p>
          <a:p>
            <a:r>
              <a:rPr lang="en-US" altLang="zh-CN" sz="2400" dirty="0"/>
              <a:t>4.</a:t>
            </a:r>
            <a:r>
              <a:rPr lang="zh-CN" altLang="en-US" sz="2400" dirty="0"/>
              <a:t>由于各变量之间存在一定的相关关系，因此</a:t>
            </a:r>
            <a:r>
              <a:rPr lang="zh-CN" altLang="en-US" sz="2400" b="1" dirty="0"/>
              <a:t>可以考虑</a:t>
            </a:r>
            <a:r>
              <a:rPr lang="zh-CN" altLang="en-US" sz="2400" b="1" dirty="0">
                <a:solidFill>
                  <a:srgbClr val="FF0000"/>
                </a:solidFill>
              </a:rPr>
              <a:t>将关系紧密的变量变成尽可能少的新变量</a:t>
            </a:r>
            <a:r>
              <a:rPr lang="zh-CN" altLang="en-US" sz="2400" b="1" dirty="0"/>
              <a:t>，使这些新变量是两两不相关的，那么就可以用较少的综合指标分别代表存在于各个变量中的各类信息</a:t>
            </a:r>
            <a:r>
              <a:rPr lang="zh-CN" altLang="en-US" sz="2400" dirty="0"/>
              <a:t>。</a:t>
            </a:r>
          </a:p>
        </p:txBody>
      </p:sp>
    </p:spTree>
    <p:extLst>
      <p:ext uri="{BB962C8B-B14F-4D97-AF65-F5344CB8AC3E}">
        <p14:creationId xmlns:p14="http://schemas.microsoft.com/office/powerpoint/2010/main" val="976507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7D2D44E-1775-8F5D-AB6B-21CF89AA90AA}"/>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3" name="文本框 2">
            <a:extLst>
              <a:ext uri="{FF2B5EF4-FFF2-40B4-BE49-F238E27FC236}">
                <a16:creationId xmlns:a16="http://schemas.microsoft.com/office/drawing/2014/main" id="{90F6D41E-F256-6CE5-5CE1-666FE260A11E}"/>
              </a:ext>
            </a:extLst>
          </p:cNvPr>
          <p:cNvSpPr txBox="1"/>
          <p:nvPr/>
        </p:nvSpPr>
        <p:spPr>
          <a:xfrm>
            <a:off x="920546" y="1241354"/>
            <a:ext cx="10359073" cy="1415772"/>
          </a:xfrm>
          <a:prstGeom prst="rect">
            <a:avLst/>
          </a:prstGeom>
          <a:noFill/>
        </p:spPr>
        <p:txBody>
          <a:bodyPr wrap="square">
            <a:spAutoFit/>
          </a:bodyPr>
          <a:lstStyle/>
          <a:p>
            <a:pPr algn="l"/>
            <a:r>
              <a:rPr lang="zh-CN" altLang="en-US" sz="2000" b="1" i="0" dirty="0">
                <a:solidFill>
                  <a:srgbClr val="4F4F4F"/>
                </a:solidFill>
                <a:effectLst/>
                <a:latin typeface="PingFang SC"/>
              </a:rPr>
              <a:t>（三）主成分分析的主要思想</a:t>
            </a:r>
            <a:endParaRPr lang="en-US" altLang="zh-CN" sz="2000" b="1" i="0" dirty="0">
              <a:solidFill>
                <a:srgbClr val="4F4F4F"/>
              </a:solidFill>
              <a:effectLst/>
              <a:latin typeface="PingFang SC"/>
            </a:endParaRPr>
          </a:p>
          <a:p>
            <a:pPr algn="l"/>
            <a:endParaRPr lang="zh-CN" altLang="en-US" b="1" i="0" dirty="0">
              <a:solidFill>
                <a:srgbClr val="4F4F4F"/>
              </a:solidFill>
              <a:effectLst/>
              <a:latin typeface="PingFang SC"/>
            </a:endParaRPr>
          </a:p>
          <a:p>
            <a:pPr algn="l"/>
            <a:r>
              <a:rPr lang="en-US" altLang="zh-CN" sz="2400" dirty="0">
                <a:solidFill>
                  <a:srgbClr val="4D4D4D"/>
                </a:solidFill>
                <a:latin typeface="-apple-system"/>
              </a:rPr>
              <a:t>         </a:t>
            </a:r>
            <a:r>
              <a:rPr lang="en-US" altLang="zh-CN" sz="2400" b="0" i="0" dirty="0">
                <a:solidFill>
                  <a:srgbClr val="4D4D4D"/>
                </a:solidFill>
                <a:effectLst/>
                <a:latin typeface="-apple-system"/>
              </a:rPr>
              <a:t>PCA</a:t>
            </a:r>
            <a:r>
              <a:rPr lang="zh-CN" altLang="en-US" sz="2400" b="0" i="0" dirty="0">
                <a:solidFill>
                  <a:srgbClr val="4D4D4D"/>
                </a:solidFill>
                <a:effectLst/>
                <a:latin typeface="-apple-system"/>
              </a:rPr>
              <a:t>的主要思想是</a:t>
            </a:r>
            <a:r>
              <a:rPr lang="zh-CN" altLang="en-US" sz="2400" b="1" i="0" dirty="0">
                <a:solidFill>
                  <a:srgbClr val="FF0000"/>
                </a:solidFill>
                <a:effectLst/>
                <a:latin typeface="-apple-system"/>
              </a:rPr>
              <a:t>将</a:t>
            </a:r>
            <a:r>
              <a:rPr lang="en-US" altLang="zh-CN" sz="2400" b="1" i="0" dirty="0">
                <a:solidFill>
                  <a:srgbClr val="FF0000"/>
                </a:solidFill>
                <a:effectLst/>
                <a:latin typeface="-apple-system"/>
              </a:rPr>
              <a:t>n</a:t>
            </a:r>
            <a:r>
              <a:rPr lang="zh-CN" altLang="en-US" sz="2400" b="1" i="0" dirty="0">
                <a:solidFill>
                  <a:srgbClr val="FF0000"/>
                </a:solidFill>
                <a:effectLst/>
                <a:latin typeface="-apple-system"/>
              </a:rPr>
              <a:t>维特征映射到</a:t>
            </a:r>
            <a:r>
              <a:rPr lang="en-US" altLang="zh-CN" sz="2400" b="1" i="0" dirty="0">
                <a:solidFill>
                  <a:srgbClr val="FF0000"/>
                </a:solidFill>
                <a:effectLst/>
                <a:latin typeface="-apple-system"/>
              </a:rPr>
              <a:t>k</a:t>
            </a:r>
            <a:r>
              <a:rPr lang="zh-CN" altLang="en-US" sz="2400" b="1" i="0" dirty="0">
                <a:solidFill>
                  <a:srgbClr val="FF0000"/>
                </a:solidFill>
                <a:effectLst/>
                <a:latin typeface="-apple-system"/>
              </a:rPr>
              <a:t>维</a:t>
            </a:r>
            <a:r>
              <a:rPr lang="zh-CN" altLang="en-US" sz="2400" b="0" i="0" dirty="0">
                <a:solidFill>
                  <a:srgbClr val="4D4D4D"/>
                </a:solidFill>
                <a:effectLst/>
                <a:latin typeface="-apple-system"/>
              </a:rPr>
              <a:t>上，这</a:t>
            </a:r>
            <a:r>
              <a:rPr lang="en-US" altLang="zh-CN" sz="2400" b="1" i="0" dirty="0">
                <a:solidFill>
                  <a:srgbClr val="4D4D4D"/>
                </a:solidFill>
                <a:effectLst/>
                <a:latin typeface="-apple-system"/>
              </a:rPr>
              <a:t>k</a:t>
            </a:r>
            <a:r>
              <a:rPr lang="zh-CN" altLang="en-US" sz="2400" b="1" i="0" dirty="0">
                <a:solidFill>
                  <a:srgbClr val="4D4D4D"/>
                </a:solidFill>
                <a:effectLst/>
                <a:latin typeface="-apple-system"/>
              </a:rPr>
              <a:t>维是全新的</a:t>
            </a:r>
            <a:r>
              <a:rPr lang="zh-CN" altLang="en-US" sz="2400" b="1" i="0" dirty="0">
                <a:solidFill>
                  <a:srgbClr val="FF0000"/>
                </a:solidFill>
                <a:effectLst/>
                <a:latin typeface="-apple-system"/>
              </a:rPr>
              <a:t>正交特征</a:t>
            </a:r>
            <a:r>
              <a:rPr lang="zh-CN" altLang="en-US" sz="2400" b="1" i="0" dirty="0">
                <a:solidFill>
                  <a:srgbClr val="4D4D4D"/>
                </a:solidFill>
                <a:effectLst/>
                <a:latin typeface="-apple-system"/>
              </a:rPr>
              <a:t>也被</a:t>
            </a:r>
            <a:r>
              <a:rPr lang="zh-CN" altLang="en-US" sz="2400" b="1" i="0" dirty="0">
                <a:effectLst/>
                <a:latin typeface="-apple-system"/>
              </a:rPr>
              <a:t>称为</a:t>
            </a:r>
            <a:r>
              <a:rPr lang="zh-CN" altLang="en-US" sz="2400" b="1" i="0" dirty="0">
                <a:solidFill>
                  <a:srgbClr val="FF0000"/>
                </a:solidFill>
                <a:effectLst/>
                <a:latin typeface="-apple-system"/>
              </a:rPr>
              <a:t>主成分</a:t>
            </a:r>
            <a:r>
              <a:rPr lang="zh-CN" altLang="en-US" sz="2400" b="0" i="0" dirty="0">
                <a:solidFill>
                  <a:srgbClr val="4D4D4D"/>
                </a:solidFill>
                <a:effectLst/>
                <a:latin typeface="-apple-system"/>
              </a:rPr>
              <a:t>，是在</a:t>
            </a:r>
            <a:r>
              <a:rPr lang="zh-CN" altLang="en-US" sz="2400" b="1" i="0" dirty="0">
                <a:solidFill>
                  <a:srgbClr val="4D4D4D"/>
                </a:solidFill>
                <a:effectLst/>
                <a:latin typeface="-apple-system"/>
              </a:rPr>
              <a:t>原有</a:t>
            </a:r>
            <a:r>
              <a:rPr lang="en-US" altLang="zh-CN" sz="2400" b="1" i="0" dirty="0">
                <a:solidFill>
                  <a:srgbClr val="4D4D4D"/>
                </a:solidFill>
                <a:effectLst/>
                <a:latin typeface="-apple-system"/>
              </a:rPr>
              <a:t>n</a:t>
            </a:r>
            <a:r>
              <a:rPr lang="zh-CN" altLang="en-US" sz="2400" b="1" i="0" dirty="0">
                <a:solidFill>
                  <a:srgbClr val="4D4D4D"/>
                </a:solidFill>
                <a:effectLst/>
                <a:latin typeface="-apple-system"/>
              </a:rPr>
              <a:t>维特征的基础上重新构造</a:t>
            </a:r>
            <a:r>
              <a:rPr lang="zh-CN" altLang="en-US" sz="2400" b="0" i="0" dirty="0">
                <a:solidFill>
                  <a:srgbClr val="4D4D4D"/>
                </a:solidFill>
                <a:effectLst/>
                <a:latin typeface="-apple-system"/>
              </a:rPr>
              <a:t>出来的</a:t>
            </a:r>
            <a:r>
              <a:rPr lang="en-US" altLang="zh-CN" sz="2400" b="0" i="0" dirty="0">
                <a:solidFill>
                  <a:srgbClr val="4D4D4D"/>
                </a:solidFill>
                <a:effectLst/>
                <a:latin typeface="-apple-system"/>
              </a:rPr>
              <a:t>k</a:t>
            </a:r>
            <a:r>
              <a:rPr lang="zh-CN" altLang="en-US" sz="2400" b="0" i="0" dirty="0">
                <a:solidFill>
                  <a:srgbClr val="4D4D4D"/>
                </a:solidFill>
                <a:effectLst/>
                <a:latin typeface="-apple-system"/>
              </a:rPr>
              <a:t>维特征。</a:t>
            </a:r>
          </a:p>
        </p:txBody>
      </p:sp>
      <p:sp>
        <p:nvSpPr>
          <p:cNvPr id="6" name="文本框 5">
            <a:extLst>
              <a:ext uri="{FF2B5EF4-FFF2-40B4-BE49-F238E27FC236}">
                <a16:creationId xmlns:a16="http://schemas.microsoft.com/office/drawing/2014/main" id="{696BACB7-639A-61EE-BBBC-B079C796BFB7}"/>
              </a:ext>
            </a:extLst>
          </p:cNvPr>
          <p:cNvSpPr txBox="1"/>
          <p:nvPr/>
        </p:nvSpPr>
        <p:spPr>
          <a:xfrm>
            <a:off x="920546" y="3651294"/>
            <a:ext cx="10359072" cy="1938992"/>
          </a:xfrm>
          <a:prstGeom prst="rect">
            <a:avLst/>
          </a:prstGeom>
          <a:noFill/>
        </p:spPr>
        <p:txBody>
          <a:bodyPr wrap="square">
            <a:spAutoFit/>
          </a:bodyPr>
          <a:lstStyle/>
          <a:p>
            <a:r>
              <a:rPr lang="en-US" altLang="zh-CN" sz="2400" b="0" i="0" dirty="0">
                <a:solidFill>
                  <a:srgbClr val="191B1F"/>
                </a:solidFill>
                <a:effectLst/>
                <a:latin typeface="-apple-system"/>
              </a:rPr>
              <a:t>         PCA</a:t>
            </a:r>
            <a:r>
              <a:rPr lang="zh-CN" altLang="en-US" sz="2400" b="0" i="0" dirty="0">
                <a:solidFill>
                  <a:srgbClr val="191B1F"/>
                </a:solidFill>
                <a:effectLst/>
                <a:latin typeface="-apple-system"/>
              </a:rPr>
              <a:t>的工作就是从原始的空间中顺序地找一组相互正交的坐标轴，新的坐标轴的选择与数据本身是密切相关的。其中，第一个新坐标轴选择是原始数据中方差最大的方向，第二个新坐标轴选取是与第一个坐标轴正交的平面中使得方差最大的，第三个轴是与第</a:t>
            </a:r>
            <a:r>
              <a:rPr lang="en-US" altLang="zh-CN" sz="2400" b="0" i="0" dirty="0">
                <a:solidFill>
                  <a:srgbClr val="191B1F"/>
                </a:solidFill>
                <a:effectLst/>
                <a:latin typeface="-apple-system"/>
              </a:rPr>
              <a:t>1,2</a:t>
            </a:r>
            <a:r>
              <a:rPr lang="zh-CN" altLang="en-US" sz="2400" b="0" i="0" dirty="0">
                <a:solidFill>
                  <a:srgbClr val="191B1F"/>
                </a:solidFill>
                <a:effectLst/>
                <a:latin typeface="-apple-system"/>
              </a:rPr>
              <a:t>个轴正交的平面中方差最大的。依次类推，可以得到</a:t>
            </a:r>
            <a:r>
              <a:rPr lang="en-US" altLang="zh-CN" sz="2400" b="0" i="0" dirty="0">
                <a:solidFill>
                  <a:srgbClr val="191B1F"/>
                </a:solidFill>
                <a:effectLst/>
                <a:latin typeface="-apple-system"/>
              </a:rPr>
              <a:t>n</a:t>
            </a:r>
            <a:r>
              <a:rPr lang="zh-CN" altLang="en-US" sz="2400" b="0" i="0" dirty="0">
                <a:solidFill>
                  <a:srgbClr val="191B1F"/>
                </a:solidFill>
                <a:effectLst/>
                <a:latin typeface="-apple-system"/>
              </a:rPr>
              <a:t>个这样的坐标轴。</a:t>
            </a:r>
            <a:endParaRPr lang="zh-CN" altLang="en-US" sz="2400" dirty="0"/>
          </a:p>
        </p:txBody>
      </p:sp>
    </p:spTree>
    <p:extLst>
      <p:ext uri="{BB962C8B-B14F-4D97-AF65-F5344CB8AC3E}">
        <p14:creationId xmlns:p14="http://schemas.microsoft.com/office/powerpoint/2010/main" val="393292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9325D0F-5559-9980-9BE3-8C3A60BF4BD6}"/>
              </a:ext>
            </a:extLst>
          </p:cNvPr>
          <p:cNvSpPr txBox="1"/>
          <p:nvPr/>
        </p:nvSpPr>
        <p:spPr>
          <a:xfrm>
            <a:off x="611298" y="511914"/>
            <a:ext cx="4568600" cy="369332"/>
          </a:xfrm>
          <a:prstGeom prst="rect">
            <a:avLst/>
          </a:prstGeom>
          <a:noFill/>
        </p:spPr>
        <p:txBody>
          <a:bodyPr wrap="square">
            <a:spAutoFit/>
          </a:bodyPr>
          <a:lstStyle/>
          <a:p>
            <a:r>
              <a:rPr lang="en-US" altLang="zh-CN" b="0" i="0" dirty="0">
                <a:solidFill>
                  <a:srgbClr val="4D4D4D"/>
                </a:solidFill>
                <a:effectLst/>
                <a:latin typeface="-apple-system"/>
              </a:rPr>
              <a:t>1.</a:t>
            </a:r>
            <a:r>
              <a:rPr lang="zh-CN" altLang="en-US" b="0" i="0" dirty="0">
                <a:solidFill>
                  <a:srgbClr val="4D4D4D"/>
                </a:solidFill>
                <a:effectLst/>
                <a:latin typeface="-apple-system"/>
              </a:rPr>
              <a:t>先假设用数据的两个特征画出散点图：</a:t>
            </a:r>
            <a:endParaRPr lang="zh-CN" altLang="en-US" dirty="0"/>
          </a:p>
        </p:txBody>
      </p:sp>
      <p:pic>
        <p:nvPicPr>
          <p:cNvPr id="8" name="图片 7">
            <a:extLst>
              <a:ext uri="{FF2B5EF4-FFF2-40B4-BE49-F238E27FC236}">
                <a16:creationId xmlns:a16="http://schemas.microsoft.com/office/drawing/2014/main" id="{729CB602-6C47-E900-10BE-5902B175B548}"/>
              </a:ext>
            </a:extLst>
          </p:cNvPr>
          <p:cNvPicPr>
            <a:picLocks noChangeAspect="1"/>
          </p:cNvPicPr>
          <p:nvPr/>
        </p:nvPicPr>
        <p:blipFill>
          <a:blip r:embed="rId3"/>
          <a:stretch>
            <a:fillRect/>
          </a:stretch>
        </p:blipFill>
        <p:spPr>
          <a:xfrm>
            <a:off x="611298" y="1138334"/>
            <a:ext cx="3730400" cy="1920167"/>
          </a:xfrm>
          <a:prstGeom prst="rect">
            <a:avLst/>
          </a:prstGeom>
        </p:spPr>
      </p:pic>
      <p:cxnSp>
        <p:nvCxnSpPr>
          <p:cNvPr id="12" name="直接连接符 11">
            <a:extLst>
              <a:ext uri="{FF2B5EF4-FFF2-40B4-BE49-F238E27FC236}">
                <a16:creationId xmlns:a16="http://schemas.microsoft.com/office/drawing/2014/main" id="{2E91B267-7DC5-097C-4F48-643C9412D436}"/>
              </a:ext>
            </a:extLst>
          </p:cNvPr>
          <p:cNvCxnSpPr>
            <a:cxnSpLocks/>
          </p:cNvCxnSpPr>
          <p:nvPr/>
        </p:nvCxnSpPr>
        <p:spPr>
          <a:xfrm>
            <a:off x="5497286" y="590073"/>
            <a:ext cx="0" cy="2544630"/>
          </a:xfrm>
          <a:prstGeom prst="line">
            <a:avLst/>
          </a:prstGeom>
          <a:ln w="381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E2BF9CF-3D29-08C6-583D-72B53325DC95}"/>
              </a:ext>
            </a:extLst>
          </p:cNvPr>
          <p:cNvSpPr txBox="1"/>
          <p:nvPr/>
        </p:nvSpPr>
        <p:spPr>
          <a:xfrm>
            <a:off x="6359976" y="511914"/>
            <a:ext cx="4887684" cy="646331"/>
          </a:xfrm>
          <a:prstGeom prst="rect">
            <a:avLst/>
          </a:prstGeom>
          <a:noFill/>
        </p:spPr>
        <p:txBody>
          <a:bodyPr wrap="square">
            <a:spAutoFit/>
          </a:bodyPr>
          <a:lstStyle/>
          <a:p>
            <a:r>
              <a:rPr lang="en-US" altLang="zh-CN" b="0" i="0" dirty="0">
                <a:solidFill>
                  <a:srgbClr val="4D4D4D"/>
                </a:solidFill>
                <a:effectLst/>
                <a:latin typeface="-apple-system"/>
              </a:rPr>
              <a:t>2.</a:t>
            </a:r>
            <a:r>
              <a:rPr lang="zh-CN" altLang="en-US" b="0" i="0" dirty="0">
                <a:solidFill>
                  <a:srgbClr val="4D4D4D"/>
                </a:solidFill>
                <a:effectLst/>
                <a:latin typeface="-apple-system"/>
              </a:rPr>
              <a:t>如果我们只保留特征</a:t>
            </a:r>
            <a:r>
              <a:rPr lang="en-US" altLang="zh-CN" b="0" i="0" dirty="0">
                <a:solidFill>
                  <a:srgbClr val="4D4D4D"/>
                </a:solidFill>
                <a:effectLst/>
                <a:latin typeface="-apple-system"/>
              </a:rPr>
              <a:t>1</a:t>
            </a:r>
            <a:r>
              <a:rPr lang="zh-CN" altLang="en-US" b="0" i="0" dirty="0">
                <a:solidFill>
                  <a:srgbClr val="4D4D4D"/>
                </a:solidFill>
                <a:effectLst/>
                <a:latin typeface="-apple-system"/>
              </a:rPr>
              <a:t>或者只保留特征</a:t>
            </a:r>
            <a:r>
              <a:rPr lang="en-US" altLang="zh-CN" b="0" i="0" dirty="0">
                <a:solidFill>
                  <a:srgbClr val="4D4D4D"/>
                </a:solidFill>
                <a:effectLst/>
                <a:latin typeface="-apple-system"/>
              </a:rPr>
              <a:t>2</a:t>
            </a:r>
            <a:r>
              <a:rPr lang="zh-CN" altLang="en-US" b="0" i="0" dirty="0">
                <a:solidFill>
                  <a:srgbClr val="4D4D4D"/>
                </a:solidFill>
                <a:effectLst/>
                <a:latin typeface="-apple-system"/>
              </a:rPr>
              <a:t>。那么此时就有一个问题，留个哪个特征比较好呢？</a:t>
            </a:r>
            <a:endParaRPr lang="zh-CN" altLang="en-US" dirty="0"/>
          </a:p>
        </p:txBody>
      </p:sp>
      <p:pic>
        <p:nvPicPr>
          <p:cNvPr id="18" name="图片 17">
            <a:extLst>
              <a:ext uri="{FF2B5EF4-FFF2-40B4-BE49-F238E27FC236}">
                <a16:creationId xmlns:a16="http://schemas.microsoft.com/office/drawing/2014/main" id="{27C985C2-5794-7505-EA74-E08DB7CA0244}"/>
              </a:ext>
            </a:extLst>
          </p:cNvPr>
          <p:cNvPicPr>
            <a:picLocks noChangeAspect="1"/>
          </p:cNvPicPr>
          <p:nvPr/>
        </p:nvPicPr>
        <p:blipFill>
          <a:blip r:embed="rId4"/>
          <a:stretch>
            <a:fillRect/>
          </a:stretch>
        </p:blipFill>
        <p:spPr>
          <a:xfrm>
            <a:off x="6001553" y="1231050"/>
            <a:ext cx="5701392" cy="1903653"/>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FF009F4A-35AD-F956-3A53-2B4797683F6C}"/>
                  </a:ext>
                </a:extLst>
              </p14:cNvPr>
              <p14:cNvContentPartPr/>
              <p14:nvPr/>
            </p14:nvContentPartPr>
            <p14:xfrm>
              <a:off x="4554540" y="633528"/>
              <a:ext cx="6693120" cy="2457720"/>
            </p14:xfrm>
          </p:contentPart>
        </mc:Choice>
        <mc:Fallback xmlns="">
          <p:pic>
            <p:nvPicPr>
              <p:cNvPr id="4" name="墨迹 3">
                <a:extLst>
                  <a:ext uri="{FF2B5EF4-FFF2-40B4-BE49-F238E27FC236}">
                    <a16:creationId xmlns:a16="http://schemas.microsoft.com/office/drawing/2014/main" id="{FF009F4A-35AD-F956-3A53-2B4797683F6C}"/>
                  </a:ext>
                </a:extLst>
              </p:cNvPr>
              <p:cNvPicPr/>
              <p:nvPr/>
            </p:nvPicPr>
            <p:blipFill>
              <a:blip r:embed="rId6"/>
              <a:stretch>
                <a:fillRect/>
              </a:stretch>
            </p:blipFill>
            <p:spPr>
              <a:xfrm>
                <a:off x="4545180" y="624168"/>
                <a:ext cx="6711840" cy="2476440"/>
              </a:xfrm>
              <a:prstGeom prst="rect">
                <a:avLst/>
              </a:prstGeom>
            </p:spPr>
          </p:pic>
        </mc:Fallback>
      </mc:AlternateContent>
      <p:sp>
        <p:nvSpPr>
          <p:cNvPr id="6" name="文本框 5">
            <a:extLst>
              <a:ext uri="{FF2B5EF4-FFF2-40B4-BE49-F238E27FC236}">
                <a16:creationId xmlns:a16="http://schemas.microsoft.com/office/drawing/2014/main" id="{D91B0E7A-6A0A-7801-F200-0970183009F7}"/>
              </a:ext>
            </a:extLst>
          </p:cNvPr>
          <p:cNvSpPr txBox="1"/>
          <p:nvPr/>
        </p:nvSpPr>
        <p:spPr>
          <a:xfrm>
            <a:off x="357545" y="3723298"/>
            <a:ext cx="5595257" cy="2308324"/>
          </a:xfrm>
          <a:prstGeom prst="rect">
            <a:avLst/>
          </a:prstGeom>
          <a:noFill/>
        </p:spPr>
        <p:txBody>
          <a:bodyPr wrap="square">
            <a:spAutoFit/>
          </a:bodyPr>
          <a:lstStyle/>
          <a:p>
            <a:pPr algn="just"/>
            <a:r>
              <a:rPr lang="en-US" altLang="zh-CN" dirty="0"/>
              <a:t>        </a:t>
            </a:r>
            <a:r>
              <a:rPr lang="zh-CN" altLang="en-US" dirty="0"/>
              <a:t>通过上面对两个特征的映射结果可以发现保留特征1（右面）比较好，因为保留特征1，当把</a:t>
            </a:r>
            <a:r>
              <a:rPr lang="zh-CN" altLang="en-US" dirty="0">
                <a:solidFill>
                  <a:srgbClr val="FF0000"/>
                </a:solidFill>
              </a:rPr>
              <a:t>所有的点映射到x轴上</a:t>
            </a:r>
            <a:r>
              <a:rPr lang="zh-CN" altLang="en-US" dirty="0"/>
              <a:t>以后，</a:t>
            </a:r>
            <a:r>
              <a:rPr lang="zh-CN" altLang="en-US" b="1" dirty="0">
                <a:solidFill>
                  <a:srgbClr val="FF0000"/>
                </a:solidFill>
              </a:rPr>
              <a:t>点和点之间的距离相对较大</a:t>
            </a:r>
            <a:r>
              <a:rPr lang="zh-CN" altLang="en-US" dirty="0"/>
              <a:t>，也就是说，</a:t>
            </a:r>
            <a:r>
              <a:rPr lang="zh-CN" altLang="en-US" b="1" dirty="0">
                <a:solidFill>
                  <a:srgbClr val="FF0000"/>
                </a:solidFill>
              </a:rPr>
              <a:t>拥有更高的可区分度</a:t>
            </a:r>
            <a:r>
              <a:rPr lang="zh-CN" altLang="en-US" b="1" dirty="0"/>
              <a:t>，</a:t>
            </a:r>
            <a:r>
              <a:rPr lang="zh-CN" altLang="en-US" b="1" dirty="0">
                <a:solidFill>
                  <a:srgbClr val="FF0000"/>
                </a:solidFill>
              </a:rPr>
              <a:t>差异性更大</a:t>
            </a:r>
            <a:r>
              <a:rPr lang="zh-CN" altLang="en-US" b="1" dirty="0"/>
              <a:t>，同时还保留着部分映射之前的空间信息</a:t>
            </a:r>
            <a:r>
              <a:rPr lang="zh-CN" altLang="en-US" dirty="0"/>
              <a:t>。</a:t>
            </a:r>
            <a:endParaRPr lang="en-US" altLang="zh-CN" dirty="0"/>
          </a:p>
          <a:p>
            <a:pPr algn="just"/>
            <a:r>
              <a:rPr lang="zh-CN" altLang="en-US" dirty="0"/>
              <a:t>        那么如果把点都映射到y轴上，发现点与点距离更近了，这不符合数据原来的空间分布。所以保留特征1相比保留特征2更加合适，</a:t>
            </a:r>
            <a:r>
              <a:rPr lang="zh-CN" altLang="en-US" b="1" dirty="0"/>
              <a:t>但是这是最好的方案吗？</a:t>
            </a:r>
          </a:p>
        </p:txBody>
      </p:sp>
      <p:pic>
        <p:nvPicPr>
          <p:cNvPr id="9" name="图片 8">
            <a:extLst>
              <a:ext uri="{FF2B5EF4-FFF2-40B4-BE49-F238E27FC236}">
                <a16:creationId xmlns:a16="http://schemas.microsoft.com/office/drawing/2014/main" id="{A037C2AB-8E58-3988-1421-A389C6DA7239}"/>
              </a:ext>
            </a:extLst>
          </p:cNvPr>
          <p:cNvPicPr>
            <a:picLocks noChangeAspect="1"/>
          </p:cNvPicPr>
          <p:nvPr/>
        </p:nvPicPr>
        <p:blipFill rotWithShape="1">
          <a:blip r:embed="rId7"/>
          <a:srcRect b="2283"/>
          <a:stretch/>
        </p:blipFill>
        <p:spPr>
          <a:xfrm>
            <a:off x="6769358" y="3373612"/>
            <a:ext cx="4165781" cy="2130833"/>
          </a:xfrm>
          <a:prstGeom prst="rect">
            <a:avLst/>
          </a:prstGeom>
        </p:spPr>
      </p:pic>
      <p:sp>
        <p:nvSpPr>
          <p:cNvPr id="13" name="文本框 12">
            <a:extLst>
              <a:ext uri="{FF2B5EF4-FFF2-40B4-BE49-F238E27FC236}">
                <a16:creationId xmlns:a16="http://schemas.microsoft.com/office/drawing/2014/main" id="{E69E75A8-27DF-A91B-8877-16ABA2839EEE}"/>
              </a:ext>
            </a:extLst>
          </p:cNvPr>
          <p:cNvSpPr txBox="1"/>
          <p:nvPr/>
        </p:nvSpPr>
        <p:spPr>
          <a:xfrm>
            <a:off x="6001553" y="5626950"/>
            <a:ext cx="6096000" cy="923330"/>
          </a:xfrm>
          <a:prstGeom prst="rect">
            <a:avLst/>
          </a:prstGeom>
          <a:noFill/>
        </p:spPr>
        <p:txBody>
          <a:bodyPr wrap="square">
            <a:spAutoFit/>
          </a:bodyPr>
          <a:lstStyle/>
          <a:p>
            <a:r>
              <a:rPr lang="zh-CN" altLang="en-US" sz="1800" dirty="0"/>
              <a:t>       将所有的点都映射到一根</a:t>
            </a:r>
            <a:r>
              <a:rPr lang="zh-CN" altLang="en-US" sz="1800" b="1" dirty="0"/>
              <a:t>拟合的斜线</a:t>
            </a:r>
            <a:r>
              <a:rPr lang="zh-CN" altLang="en-US" sz="1800" dirty="0"/>
              <a:t>上，从二维降到一维，整体和原样本的分布并没有多大的差距，点和点之间的距离更大了，</a:t>
            </a:r>
            <a:r>
              <a:rPr lang="zh-CN" altLang="en-US" dirty="0"/>
              <a:t>差异性更大，</a:t>
            </a:r>
            <a:r>
              <a:rPr lang="zh-CN" altLang="en-US" sz="1800" dirty="0"/>
              <a:t>区分度也更加明显。</a:t>
            </a:r>
            <a:endParaRPr lang="zh-CN" altLang="en-US" dirty="0"/>
          </a:p>
        </p:txBody>
      </p:sp>
    </p:spTree>
    <p:extLst>
      <p:ext uri="{BB962C8B-B14F-4D97-AF65-F5344CB8AC3E}">
        <p14:creationId xmlns:p14="http://schemas.microsoft.com/office/powerpoint/2010/main" val="900181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311413-63FF-4916-5056-0517E498099C}"/>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6" name="文本框 5">
            <a:extLst>
              <a:ext uri="{FF2B5EF4-FFF2-40B4-BE49-F238E27FC236}">
                <a16:creationId xmlns:a16="http://schemas.microsoft.com/office/drawing/2014/main" id="{AA9CA93B-512F-815F-FB57-AA48462B5E38}"/>
              </a:ext>
            </a:extLst>
          </p:cNvPr>
          <p:cNvSpPr txBox="1"/>
          <p:nvPr/>
        </p:nvSpPr>
        <p:spPr>
          <a:xfrm>
            <a:off x="914400" y="1763877"/>
            <a:ext cx="6096000" cy="461665"/>
          </a:xfrm>
          <a:prstGeom prst="rect">
            <a:avLst/>
          </a:prstGeom>
          <a:noFill/>
        </p:spPr>
        <p:txBody>
          <a:bodyPr wrap="square">
            <a:spAutoFit/>
          </a:bodyPr>
          <a:lstStyle/>
          <a:p>
            <a:r>
              <a:rPr lang="zh-CN" altLang="en-US" sz="2400" b="0" i="0" dirty="0">
                <a:solidFill>
                  <a:srgbClr val="4D4D4D"/>
                </a:solidFill>
                <a:effectLst/>
                <a:latin typeface="-apple-system"/>
              </a:rPr>
              <a:t>也就是说，我们要考虑的问题是：</a:t>
            </a:r>
            <a:endParaRPr lang="zh-CN" altLang="en-US" sz="2400" dirty="0"/>
          </a:p>
        </p:txBody>
      </p:sp>
      <p:sp>
        <p:nvSpPr>
          <p:cNvPr id="9" name="文本框 8">
            <a:extLst>
              <a:ext uri="{FF2B5EF4-FFF2-40B4-BE49-F238E27FC236}">
                <a16:creationId xmlns:a16="http://schemas.microsoft.com/office/drawing/2014/main" id="{49DC92BE-D380-6D0E-82FB-D8E0687535E1}"/>
              </a:ext>
            </a:extLst>
          </p:cNvPr>
          <p:cNvSpPr txBox="1"/>
          <p:nvPr/>
        </p:nvSpPr>
        <p:spPr>
          <a:xfrm>
            <a:off x="3048000" y="2225542"/>
            <a:ext cx="6096000" cy="954107"/>
          </a:xfrm>
          <a:prstGeom prst="rect">
            <a:avLst/>
          </a:prstGeom>
          <a:noFill/>
        </p:spPr>
        <p:txBody>
          <a:bodyPr wrap="square">
            <a:spAutoFit/>
          </a:bodyPr>
          <a:lstStyle/>
          <a:p>
            <a:r>
              <a:rPr lang="zh-CN" altLang="en-US" sz="2800" b="1" i="0" dirty="0">
                <a:solidFill>
                  <a:srgbClr val="FF0000"/>
                </a:solidFill>
                <a:effectLst/>
                <a:latin typeface="-apple-system"/>
              </a:rPr>
              <a:t>我们如何得到这些包含最大差异性的主成分方向呢？</a:t>
            </a:r>
            <a:endParaRPr lang="zh-CN" altLang="en-US" sz="2800" b="1" dirty="0">
              <a:solidFill>
                <a:srgbClr val="FF0000"/>
              </a:solidFill>
            </a:endParaRPr>
          </a:p>
        </p:txBody>
      </p:sp>
      <p:sp>
        <p:nvSpPr>
          <p:cNvPr id="5" name="文本框 4">
            <a:extLst>
              <a:ext uri="{FF2B5EF4-FFF2-40B4-BE49-F238E27FC236}">
                <a16:creationId xmlns:a16="http://schemas.microsoft.com/office/drawing/2014/main" id="{84D58306-438C-E27A-126E-9784078280DA}"/>
              </a:ext>
            </a:extLst>
          </p:cNvPr>
          <p:cNvSpPr txBox="1"/>
          <p:nvPr/>
        </p:nvSpPr>
        <p:spPr>
          <a:xfrm>
            <a:off x="914400" y="3429000"/>
            <a:ext cx="10069286" cy="1015663"/>
          </a:xfrm>
          <a:prstGeom prst="rect">
            <a:avLst/>
          </a:prstGeom>
          <a:noFill/>
        </p:spPr>
        <p:txBody>
          <a:bodyPr wrap="square">
            <a:spAutoFit/>
          </a:bodyPr>
          <a:lstStyle/>
          <a:p>
            <a:r>
              <a:rPr lang="zh-CN" altLang="en-US" sz="2000" b="0" i="0" dirty="0">
                <a:solidFill>
                  <a:srgbClr val="191B1F"/>
                </a:solidFill>
                <a:effectLst/>
                <a:latin typeface="-apple-system"/>
              </a:rPr>
              <a:t>         事实上，通过计算数据矩阵的协方差矩阵，然后得到协方差矩阵的特征值特征向量，选择特征值最大</a:t>
            </a:r>
            <a:r>
              <a:rPr lang="en-US" altLang="zh-CN" sz="2000" b="0" i="0" dirty="0">
                <a:solidFill>
                  <a:srgbClr val="191B1F"/>
                </a:solidFill>
                <a:effectLst/>
                <a:latin typeface="-apple-system"/>
              </a:rPr>
              <a:t>(</a:t>
            </a:r>
            <a:r>
              <a:rPr lang="zh-CN" altLang="en-US" sz="2000" b="0" i="0" dirty="0">
                <a:solidFill>
                  <a:srgbClr val="191B1F"/>
                </a:solidFill>
                <a:effectLst/>
                <a:latin typeface="-apple-system"/>
              </a:rPr>
              <a:t>即方差最大</a:t>
            </a:r>
            <a:r>
              <a:rPr lang="en-US" altLang="zh-CN" sz="2000" b="0" i="0" dirty="0">
                <a:solidFill>
                  <a:srgbClr val="191B1F"/>
                </a:solidFill>
                <a:effectLst/>
                <a:latin typeface="-apple-system"/>
              </a:rPr>
              <a:t>)</a:t>
            </a:r>
            <a:r>
              <a:rPr lang="zh-CN" altLang="en-US" sz="2000" b="0" i="0" dirty="0">
                <a:solidFill>
                  <a:srgbClr val="191B1F"/>
                </a:solidFill>
                <a:effectLst/>
                <a:latin typeface="-apple-system"/>
              </a:rPr>
              <a:t>的</a:t>
            </a:r>
            <a:r>
              <a:rPr lang="en-US" altLang="zh-CN" sz="2000" b="0" i="0" dirty="0">
                <a:solidFill>
                  <a:srgbClr val="191B1F"/>
                </a:solidFill>
                <a:effectLst/>
                <a:latin typeface="-apple-system"/>
              </a:rPr>
              <a:t>k</a:t>
            </a:r>
            <a:r>
              <a:rPr lang="zh-CN" altLang="en-US" sz="2000" b="0" i="0" dirty="0">
                <a:solidFill>
                  <a:srgbClr val="191B1F"/>
                </a:solidFill>
                <a:effectLst/>
                <a:latin typeface="-apple-system"/>
              </a:rPr>
              <a:t>个特征所对应的特征向量组成的矩阵。这样就可以将数据矩阵转换到新的空间当中，实现数据特征的降维。</a:t>
            </a:r>
            <a:endParaRPr lang="zh-CN" altLang="en-US" sz="2000" dirty="0"/>
          </a:p>
        </p:txBody>
      </p:sp>
      <p:sp>
        <p:nvSpPr>
          <p:cNvPr id="8" name="文本框 7">
            <a:extLst>
              <a:ext uri="{FF2B5EF4-FFF2-40B4-BE49-F238E27FC236}">
                <a16:creationId xmlns:a16="http://schemas.microsoft.com/office/drawing/2014/main" id="{20A0D10F-7ABE-84C5-BACE-6E84D780CB93}"/>
              </a:ext>
            </a:extLst>
          </p:cNvPr>
          <p:cNvSpPr txBox="1"/>
          <p:nvPr/>
        </p:nvSpPr>
        <p:spPr>
          <a:xfrm>
            <a:off x="914399" y="4654229"/>
            <a:ext cx="10635343" cy="1323439"/>
          </a:xfrm>
          <a:prstGeom prst="rect">
            <a:avLst/>
          </a:prstGeom>
          <a:noFill/>
        </p:spPr>
        <p:txBody>
          <a:bodyPr wrap="square">
            <a:spAutoFit/>
          </a:bodyPr>
          <a:lstStyle/>
          <a:p>
            <a:r>
              <a:rPr lang="en-US" altLang="zh-CN" sz="2000" dirty="0">
                <a:solidFill>
                  <a:srgbClr val="191B1F"/>
                </a:solidFill>
                <a:latin typeface="-apple-system"/>
              </a:rPr>
              <a:t>1.</a:t>
            </a:r>
            <a:r>
              <a:rPr lang="zh-CN" altLang="en-US" sz="2000" dirty="0">
                <a:solidFill>
                  <a:srgbClr val="191B1F"/>
                </a:solidFill>
                <a:latin typeface="-apple-system"/>
              </a:rPr>
              <a:t>方差的意义：反应一组变量的离散程度</a:t>
            </a:r>
            <a:endParaRPr lang="en-US" altLang="zh-CN" sz="2000" dirty="0">
              <a:solidFill>
                <a:srgbClr val="191B1F"/>
              </a:solidFill>
              <a:latin typeface="-apple-system"/>
            </a:endParaRPr>
          </a:p>
          <a:p>
            <a:r>
              <a:rPr lang="en-US" altLang="zh-CN" sz="2000" dirty="0"/>
              <a:t>2.</a:t>
            </a:r>
            <a:r>
              <a:rPr lang="zh-CN" altLang="en-US" sz="2000" dirty="0"/>
              <a:t>协方差的意义：度量各个维度偏离其均值的程度。</a:t>
            </a:r>
            <a:endParaRPr lang="en-US" altLang="zh-CN" sz="2000" dirty="0"/>
          </a:p>
          <a:p>
            <a:r>
              <a:rPr lang="en-US" altLang="zh-CN" sz="2000" dirty="0"/>
              <a:t>3.</a:t>
            </a:r>
            <a:r>
              <a:rPr lang="zh-CN" altLang="en-US" sz="2000" b="1" dirty="0"/>
              <a:t>协方差矩阵特征向量</a:t>
            </a:r>
            <a:r>
              <a:rPr lang="zh-CN" altLang="en-US" sz="2000" dirty="0"/>
              <a:t>的意义：</a:t>
            </a:r>
            <a:r>
              <a:rPr lang="zh-CN" altLang="en-US" sz="2000" b="1" dirty="0"/>
              <a:t>用样本拟合直线</a:t>
            </a:r>
            <a:endParaRPr lang="en-US" altLang="zh-CN" sz="2000" b="1" dirty="0"/>
          </a:p>
          <a:p>
            <a:r>
              <a:rPr lang="en-US" altLang="zh-CN" sz="2000" dirty="0"/>
              <a:t>4.</a:t>
            </a:r>
            <a:r>
              <a:rPr lang="zh-CN" altLang="en-US" sz="2000" b="1" dirty="0"/>
              <a:t>协方差矩阵特征值</a:t>
            </a:r>
            <a:r>
              <a:rPr lang="zh-CN" altLang="en-US" sz="2000" dirty="0"/>
              <a:t>的意义：</a:t>
            </a:r>
            <a:r>
              <a:rPr lang="zh-CN" altLang="en-US" sz="2000" b="1" dirty="0"/>
              <a:t>特征值越大，样本投影到特征向量方向上的离散程度越大</a:t>
            </a:r>
            <a:r>
              <a:rPr lang="zh-CN" altLang="en-US" sz="2000" dirty="0"/>
              <a:t>。</a:t>
            </a:r>
          </a:p>
        </p:txBody>
      </p:sp>
    </p:spTree>
    <p:extLst>
      <p:ext uri="{BB962C8B-B14F-4D97-AF65-F5344CB8AC3E}">
        <p14:creationId xmlns:p14="http://schemas.microsoft.com/office/powerpoint/2010/main" val="317180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2430145" y="568960"/>
            <a:ext cx="727456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方正兰亭粗黑简体" panose="02000000000000000000" pitchFamily="2" charset="-122"/>
                <a:ea typeface="方正兰亭粗黑简体" panose="02000000000000000000" pitchFamily="2" charset="-122"/>
              </a:rPr>
              <a:t>的步骤</a:t>
            </a:r>
          </a:p>
        </p:txBody>
      </p:sp>
      <p:sp>
        <p:nvSpPr>
          <p:cNvPr id="9" name="文本框 8"/>
          <p:cNvSpPr txBox="1"/>
          <p:nvPr/>
        </p:nvSpPr>
        <p:spPr>
          <a:xfrm>
            <a:off x="326707" y="1613444"/>
            <a:ext cx="2821305" cy="460375"/>
          </a:xfrm>
          <a:prstGeom prst="rect">
            <a:avLst/>
          </a:prstGeom>
          <a:noFill/>
        </p:spPr>
        <p:txBody>
          <a:bodyPr wrap="square" rtlCol="0">
            <a:spAutoFit/>
          </a:bodyPr>
          <a:lstStyle/>
          <a:p>
            <a:r>
              <a:rPr lang="en-US" altLang="zh-CN" sz="2400" dirty="0"/>
              <a:t> </a:t>
            </a:r>
            <a:r>
              <a:rPr lang="en-US" altLang="zh-CN" sz="2400" dirty="0">
                <a:latin typeface="Times New Roman" panose="02020603050405020304" charset="0"/>
                <a:cs typeface="Times New Roman" panose="02020603050405020304" charset="0"/>
              </a:rPr>
              <a:t>PCA</a:t>
            </a:r>
            <a:r>
              <a:rPr lang="zh-CN" altLang="en-US" sz="2400" dirty="0"/>
              <a:t>的操作步骤</a:t>
            </a:r>
            <a:r>
              <a:rPr lang="en-US" altLang="zh-CN" sz="2400" dirty="0"/>
              <a:t>:</a:t>
            </a:r>
            <a:endParaRPr lang="zh-CN" altLang="en-US" sz="2400" dirty="0"/>
          </a:p>
        </p:txBody>
      </p:sp>
      <p:sp>
        <p:nvSpPr>
          <p:cNvPr id="2" name="文本框 1"/>
          <p:cNvSpPr txBox="1"/>
          <p:nvPr/>
        </p:nvSpPr>
        <p:spPr>
          <a:xfrm>
            <a:off x="986155" y="2431415"/>
            <a:ext cx="8718550" cy="369332"/>
          </a:xfrm>
          <a:prstGeom prst="rect">
            <a:avLst/>
          </a:prstGeom>
          <a:noFill/>
        </p:spPr>
        <p:txBody>
          <a:bodyPr wrap="square" rtlCol="0">
            <a:spAutoFit/>
          </a:bodyPr>
          <a:lstStyle/>
          <a:p>
            <a:r>
              <a:rPr lang="zh-CN" altLang="en-US" dirty="0"/>
              <a:t>第一步：数据预处理</a:t>
            </a:r>
            <a:r>
              <a:rPr lang="en-US" altLang="zh-CN" dirty="0"/>
              <a:t>:</a:t>
            </a:r>
            <a:r>
              <a:rPr lang="zh-CN" altLang="en-US" b="0" i="0" dirty="0">
                <a:solidFill>
                  <a:srgbClr val="191B1F"/>
                </a:solidFill>
                <a:effectLst/>
                <a:latin typeface="-apple-system"/>
              </a:rPr>
              <a:t>去平均值</a:t>
            </a:r>
            <a:r>
              <a:rPr lang="en-US" altLang="zh-CN" b="0" i="0" dirty="0">
                <a:solidFill>
                  <a:srgbClr val="191B1F"/>
                </a:solidFill>
                <a:effectLst/>
                <a:latin typeface="-apple-system"/>
              </a:rPr>
              <a:t>(</a:t>
            </a:r>
            <a:r>
              <a:rPr lang="zh-CN" altLang="en-US" b="0" i="0" dirty="0">
                <a:solidFill>
                  <a:srgbClr val="191B1F"/>
                </a:solidFill>
                <a:effectLst/>
                <a:latin typeface="-apple-system"/>
              </a:rPr>
              <a:t>即去中心化</a:t>
            </a:r>
            <a:r>
              <a:rPr lang="en-US" altLang="zh-CN" b="0" i="0" dirty="0">
                <a:solidFill>
                  <a:srgbClr val="191B1F"/>
                </a:solidFill>
                <a:effectLst/>
                <a:latin typeface="-apple-system"/>
              </a:rPr>
              <a:t>)</a:t>
            </a:r>
            <a:r>
              <a:rPr lang="zh-CN" altLang="en-US" b="0" i="0" dirty="0">
                <a:solidFill>
                  <a:srgbClr val="191B1F"/>
                </a:solidFill>
                <a:effectLst/>
                <a:latin typeface="-apple-system"/>
              </a:rPr>
              <a:t>，即每一位特征减去各自的平均值。</a:t>
            </a:r>
            <a:endParaRPr lang="zh-CN" altLang="en-US" dirty="0"/>
          </a:p>
        </p:txBody>
      </p:sp>
      <p:sp>
        <p:nvSpPr>
          <p:cNvPr id="4" name="文本框 3"/>
          <p:cNvSpPr txBox="1"/>
          <p:nvPr/>
        </p:nvSpPr>
        <p:spPr>
          <a:xfrm>
            <a:off x="986155" y="2926715"/>
            <a:ext cx="4323715" cy="368300"/>
          </a:xfrm>
          <a:prstGeom prst="rect">
            <a:avLst/>
          </a:prstGeom>
          <a:noFill/>
        </p:spPr>
        <p:txBody>
          <a:bodyPr wrap="square" rtlCol="0">
            <a:spAutoFit/>
          </a:bodyPr>
          <a:lstStyle/>
          <a:p>
            <a:r>
              <a:rPr lang="zh-CN" altLang="en-US" dirty="0"/>
              <a:t>第二步：求样本的协方差矩阵</a:t>
            </a:r>
            <a:r>
              <a:rPr lang="en-US" altLang="zh-CN" dirty="0"/>
              <a:t>C</a:t>
            </a:r>
            <a:r>
              <a:rPr lang="zh-CN" altLang="en-US" dirty="0"/>
              <a:t>：</a:t>
            </a:r>
          </a:p>
        </p:txBody>
      </p:sp>
      <p:sp>
        <p:nvSpPr>
          <p:cNvPr id="6" name="文本框 5"/>
          <p:cNvSpPr txBox="1"/>
          <p:nvPr/>
        </p:nvSpPr>
        <p:spPr>
          <a:xfrm>
            <a:off x="986155" y="3491049"/>
            <a:ext cx="7475855" cy="368300"/>
          </a:xfrm>
          <a:prstGeom prst="rect">
            <a:avLst/>
          </a:prstGeom>
          <a:noFill/>
        </p:spPr>
        <p:txBody>
          <a:bodyPr wrap="square" rtlCol="0">
            <a:spAutoFit/>
          </a:bodyPr>
          <a:lstStyle/>
          <a:p>
            <a:r>
              <a:rPr lang="zh-CN" altLang="en-US" dirty="0"/>
              <a:t>第三步：求协方差矩阵</a:t>
            </a:r>
            <a:r>
              <a:rPr lang="en-US" altLang="zh-CN" dirty="0"/>
              <a:t>C</a:t>
            </a:r>
            <a:r>
              <a:rPr lang="zh-CN" altLang="en-US" dirty="0"/>
              <a:t>的所有特征值和各特征值对应的特征向量。</a:t>
            </a:r>
            <a:endParaRPr lang="en-US" altLang="zh-CN" dirty="0"/>
          </a:p>
        </p:txBody>
      </p:sp>
      <p:sp>
        <p:nvSpPr>
          <p:cNvPr id="8" name="文本框 7"/>
          <p:cNvSpPr txBox="1"/>
          <p:nvPr/>
        </p:nvSpPr>
        <p:spPr>
          <a:xfrm>
            <a:off x="979170" y="4080690"/>
            <a:ext cx="8961120" cy="462915"/>
          </a:xfrm>
          <a:prstGeom prst="rect">
            <a:avLst/>
          </a:prstGeom>
          <a:noFill/>
        </p:spPr>
        <p:txBody>
          <a:bodyPr wrap="square" rtlCol="0">
            <a:noAutofit/>
          </a:bodyPr>
          <a:lstStyle/>
          <a:p>
            <a:r>
              <a:rPr lang="zh-CN" altLang="en-US" dirty="0"/>
              <a:t>第四步：对各个特征值占总体特征值的占比从大到小排序，</a:t>
            </a:r>
            <a:r>
              <a:rPr lang="zh-CN" altLang="en-US" b="0" i="0" dirty="0">
                <a:solidFill>
                  <a:srgbClr val="191B1F"/>
                </a:solidFill>
                <a:effectLst/>
                <a:latin typeface="-apple-system"/>
              </a:rPr>
              <a:t>选择其中最大的</a:t>
            </a:r>
            <a:r>
              <a:rPr lang="en-US" altLang="zh-CN" b="0" i="0" dirty="0">
                <a:solidFill>
                  <a:srgbClr val="191B1F"/>
                </a:solidFill>
                <a:effectLst/>
                <a:latin typeface="-apple-system"/>
              </a:rPr>
              <a:t>k</a:t>
            </a:r>
            <a:r>
              <a:rPr lang="zh-CN" altLang="en-US" b="0" i="0" dirty="0">
                <a:solidFill>
                  <a:srgbClr val="191B1F"/>
                </a:solidFill>
                <a:effectLst/>
                <a:latin typeface="-apple-system"/>
              </a:rPr>
              <a:t>个，</a:t>
            </a:r>
            <a:r>
              <a:rPr lang="zh-CN" altLang="en-US" dirty="0"/>
              <a:t>对应的特征向量称为第一主方向、第二主</a:t>
            </a:r>
            <a:r>
              <a:rPr lang="zh-CN" altLang="en-US" dirty="0">
                <a:sym typeface="+mn-ea"/>
              </a:rPr>
              <a:t>方向</a:t>
            </a:r>
            <a:r>
              <a:rPr lang="zh-CN" altLang="en-US" dirty="0"/>
              <a:t>、</a:t>
            </a:r>
            <a:r>
              <a:rPr lang="en-US" altLang="zh-CN" dirty="0"/>
              <a:t>...</a:t>
            </a:r>
          </a:p>
        </p:txBody>
      </p:sp>
      <p:sp>
        <p:nvSpPr>
          <p:cNvPr id="3" name="文本框 2"/>
          <p:cNvSpPr txBox="1"/>
          <p:nvPr/>
        </p:nvSpPr>
        <p:spPr>
          <a:xfrm>
            <a:off x="979170" y="4884420"/>
            <a:ext cx="5453380" cy="368300"/>
          </a:xfrm>
          <a:prstGeom prst="rect">
            <a:avLst/>
          </a:prstGeom>
          <a:noFill/>
        </p:spPr>
        <p:txBody>
          <a:bodyPr wrap="square" rtlCol="0">
            <a:spAutoFit/>
          </a:bodyPr>
          <a:lstStyle/>
          <a:p>
            <a:r>
              <a:rPr lang="zh-CN" altLang="en-US" dirty="0">
                <a:sym typeface="+mn-ea"/>
              </a:rPr>
              <a:t>第五步：对主成分赋予现实意义。</a:t>
            </a:r>
          </a:p>
        </p:txBody>
      </p:sp>
      <p:sp>
        <p:nvSpPr>
          <p:cNvPr id="5" name="文本框 4"/>
          <p:cNvSpPr txBox="1"/>
          <p:nvPr/>
        </p:nvSpPr>
        <p:spPr>
          <a:xfrm>
            <a:off x="986155" y="5824220"/>
            <a:ext cx="4935855" cy="368300"/>
          </a:xfrm>
          <a:prstGeom prst="rect">
            <a:avLst/>
          </a:prstGeom>
          <a:noFill/>
        </p:spPr>
        <p:txBody>
          <a:bodyPr wrap="square" rtlCol="0">
            <a:spAutoFit/>
          </a:bodyPr>
          <a:lstStyle/>
          <a:p>
            <a:r>
              <a:rPr lang="zh-CN" altLang="en-US" b="1" dirty="0"/>
              <a:t>算法特点</a:t>
            </a:r>
            <a:r>
              <a:rPr lang="zh-CN" altLang="en-US" dirty="0"/>
              <a:t>：逐步实施，无循环，无迭代。</a:t>
            </a:r>
          </a:p>
        </p:txBody>
      </p:sp>
      <p:pic>
        <p:nvPicPr>
          <p:cNvPr id="11" name="图片 10">
            <a:extLst>
              <a:ext uri="{FF2B5EF4-FFF2-40B4-BE49-F238E27FC236}">
                <a16:creationId xmlns:a16="http://schemas.microsoft.com/office/drawing/2014/main" id="{41405630-7BBA-0760-C228-DAD42D4E2E73}"/>
              </a:ext>
            </a:extLst>
          </p:cNvPr>
          <p:cNvPicPr>
            <a:picLocks noChangeAspect="1"/>
          </p:cNvPicPr>
          <p:nvPr/>
        </p:nvPicPr>
        <p:blipFill>
          <a:blip r:embed="rId4"/>
          <a:stretch>
            <a:fillRect/>
          </a:stretch>
        </p:blipFill>
        <p:spPr>
          <a:xfrm>
            <a:off x="4552315" y="2823788"/>
            <a:ext cx="907415" cy="5656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311413-63FF-4916-5056-0517E498099C}"/>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Times New Roman" panose="02020603050405020304" charset="0"/>
                <a:ea typeface="方正兰亭粗黑简体" panose="02000000000000000000" pitchFamily="2" charset="-122"/>
                <a:cs typeface="Times New Roman" panose="02020603050405020304" charset="0"/>
              </a:rPr>
              <a:t>的方法步骤</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7" name="文本框 6">
            <a:extLst>
              <a:ext uri="{FF2B5EF4-FFF2-40B4-BE49-F238E27FC236}">
                <a16:creationId xmlns:a16="http://schemas.microsoft.com/office/drawing/2014/main" id="{035E408E-CE40-D690-143B-6909BCEA1346}"/>
              </a:ext>
            </a:extLst>
          </p:cNvPr>
          <p:cNvSpPr txBox="1"/>
          <p:nvPr/>
        </p:nvSpPr>
        <p:spPr>
          <a:xfrm>
            <a:off x="1418590" y="1484782"/>
            <a:ext cx="6096000" cy="461665"/>
          </a:xfrm>
          <a:prstGeom prst="rect">
            <a:avLst/>
          </a:prstGeom>
          <a:noFill/>
        </p:spPr>
        <p:txBody>
          <a:bodyPr wrap="square">
            <a:spAutoFit/>
          </a:bodyPr>
          <a:lstStyle/>
          <a:p>
            <a:pPr algn="l">
              <a:buFont typeface="Arial" panose="020B0604020202020204" pitchFamily="34" charset="0"/>
              <a:buChar char="•"/>
            </a:pPr>
            <a:r>
              <a:rPr lang="zh-CN" altLang="en-US" sz="2400" b="1" i="0" dirty="0">
                <a:effectLst/>
                <a:latin typeface="-apple-system"/>
              </a:rPr>
              <a:t>第一步：对数据矩阵</a:t>
            </a:r>
            <a:r>
              <a:rPr lang="en-US" altLang="zh-CN" sz="2400" b="1" i="0" dirty="0">
                <a:effectLst/>
                <a:latin typeface="-apple-system"/>
              </a:rPr>
              <a:t>A</a:t>
            </a:r>
            <a:r>
              <a:rPr lang="zh-CN" altLang="en-US" sz="2400" b="1" i="0" dirty="0">
                <a:effectLst/>
                <a:latin typeface="-apple-system"/>
              </a:rPr>
              <a:t>进行</a:t>
            </a:r>
            <a:r>
              <a:rPr lang="zh-CN" altLang="en-US" sz="2400" b="1" dirty="0">
                <a:latin typeface="-apple-system"/>
              </a:rPr>
              <a:t>中心</a:t>
            </a:r>
            <a:r>
              <a:rPr lang="zh-CN" altLang="en-US" sz="2400" b="1" i="0" dirty="0">
                <a:effectLst/>
                <a:latin typeface="-apple-system"/>
              </a:rPr>
              <a:t>化</a:t>
            </a:r>
          </a:p>
        </p:txBody>
      </p:sp>
      <p:sp>
        <p:nvSpPr>
          <p:cNvPr id="10" name="文本框 9">
            <a:extLst>
              <a:ext uri="{FF2B5EF4-FFF2-40B4-BE49-F238E27FC236}">
                <a16:creationId xmlns:a16="http://schemas.microsoft.com/office/drawing/2014/main" id="{46CBDE9B-78F4-F56F-C86C-9AD0EA38BEE8}"/>
              </a:ext>
            </a:extLst>
          </p:cNvPr>
          <p:cNvSpPr txBox="1"/>
          <p:nvPr/>
        </p:nvSpPr>
        <p:spPr>
          <a:xfrm>
            <a:off x="1418590" y="1919286"/>
            <a:ext cx="8879296" cy="830997"/>
          </a:xfrm>
          <a:prstGeom prst="rect">
            <a:avLst/>
          </a:prstGeom>
          <a:noFill/>
        </p:spPr>
        <p:txBody>
          <a:bodyPr wrap="square">
            <a:spAutoFit/>
          </a:bodyPr>
          <a:lstStyle/>
          <a:p>
            <a:r>
              <a:rPr lang="zh-CN" altLang="en-US" sz="2400" b="0" i="0" dirty="0">
                <a:solidFill>
                  <a:srgbClr val="4D4D4D"/>
                </a:solidFill>
                <a:effectLst/>
                <a:latin typeface="-apple-system"/>
              </a:rPr>
              <a:t>将样本进行</a:t>
            </a:r>
            <a:r>
              <a:rPr lang="zh-CN" altLang="en-US" sz="2400" b="0" i="0" dirty="0">
                <a:solidFill>
                  <a:srgbClr val="FF0000"/>
                </a:solidFill>
                <a:effectLst/>
                <a:latin typeface="-apple-system"/>
              </a:rPr>
              <a:t>均值归</a:t>
            </a:r>
            <a:r>
              <a:rPr lang="en-US" altLang="zh-CN" sz="2400" b="0" i="0" dirty="0">
                <a:solidFill>
                  <a:srgbClr val="FF0000"/>
                </a:solidFill>
                <a:effectLst/>
                <a:latin typeface="-apple-system"/>
              </a:rPr>
              <a:t>0</a:t>
            </a:r>
            <a:r>
              <a:rPr lang="zh-CN" altLang="en-US" sz="2400" b="0" i="0" dirty="0">
                <a:solidFill>
                  <a:srgbClr val="4D4D4D"/>
                </a:solidFill>
                <a:effectLst/>
                <a:latin typeface="-apple-system"/>
              </a:rPr>
              <a:t>，即所有样本减去样本的均值。样本的分布没有改变，只是将坐标轴进行了移动。</a:t>
            </a:r>
            <a:endParaRPr lang="zh-CN" altLang="en-US" sz="2400" dirty="0"/>
          </a:p>
        </p:txBody>
      </p:sp>
      <p:pic>
        <p:nvPicPr>
          <p:cNvPr id="12" name="图片 11">
            <a:extLst>
              <a:ext uri="{FF2B5EF4-FFF2-40B4-BE49-F238E27FC236}">
                <a16:creationId xmlns:a16="http://schemas.microsoft.com/office/drawing/2014/main" id="{3F9F1D84-0EED-BB65-0845-66C54886773B}"/>
              </a:ext>
            </a:extLst>
          </p:cNvPr>
          <p:cNvPicPr>
            <a:picLocks noChangeAspect="1"/>
          </p:cNvPicPr>
          <p:nvPr/>
        </p:nvPicPr>
        <p:blipFill>
          <a:blip r:embed="rId4"/>
          <a:stretch>
            <a:fillRect/>
          </a:stretch>
        </p:blipFill>
        <p:spPr>
          <a:xfrm>
            <a:off x="1418590" y="4885635"/>
            <a:ext cx="3730400" cy="1793623"/>
          </a:xfrm>
          <a:prstGeom prst="rect">
            <a:avLst/>
          </a:prstGeom>
        </p:spPr>
      </p:pic>
      <p:sp>
        <p:nvSpPr>
          <p:cNvPr id="16" name="文本框 15">
            <a:extLst>
              <a:ext uri="{FF2B5EF4-FFF2-40B4-BE49-F238E27FC236}">
                <a16:creationId xmlns:a16="http://schemas.microsoft.com/office/drawing/2014/main" id="{706DB124-E113-922C-A654-71683B56C345}"/>
              </a:ext>
            </a:extLst>
          </p:cNvPr>
          <p:cNvSpPr txBox="1"/>
          <p:nvPr/>
        </p:nvSpPr>
        <p:spPr>
          <a:xfrm>
            <a:off x="6106880" y="3542982"/>
            <a:ext cx="2764971" cy="461665"/>
          </a:xfrm>
          <a:prstGeom prst="rect">
            <a:avLst/>
          </a:prstGeom>
          <a:noFill/>
        </p:spPr>
        <p:txBody>
          <a:bodyPr wrap="square">
            <a:spAutoFit/>
          </a:bodyPr>
          <a:lstStyle/>
          <a:p>
            <a:r>
              <a:rPr lang="zh-CN" altLang="en-US" sz="2400" b="0" i="0" dirty="0">
                <a:solidFill>
                  <a:srgbClr val="4D4D4D"/>
                </a:solidFill>
                <a:effectLst/>
                <a:latin typeface="-apple-system"/>
              </a:rPr>
              <a:t>此时对于方差公式：</a:t>
            </a:r>
            <a:endParaRPr lang="zh-CN" altLang="en-US" sz="2400" dirty="0"/>
          </a:p>
        </p:txBody>
      </p:sp>
      <p:pic>
        <p:nvPicPr>
          <p:cNvPr id="19" name="图片 18">
            <a:extLst>
              <a:ext uri="{FF2B5EF4-FFF2-40B4-BE49-F238E27FC236}">
                <a16:creationId xmlns:a16="http://schemas.microsoft.com/office/drawing/2014/main" id="{0358085B-77EA-9DEE-D86B-BEAA82569859}"/>
              </a:ext>
            </a:extLst>
          </p:cNvPr>
          <p:cNvPicPr>
            <a:picLocks noChangeAspect="1"/>
          </p:cNvPicPr>
          <p:nvPr/>
        </p:nvPicPr>
        <p:blipFill>
          <a:blip r:embed="rId5"/>
          <a:stretch>
            <a:fillRect/>
          </a:stretch>
        </p:blipFill>
        <p:spPr>
          <a:xfrm>
            <a:off x="10206036" y="4406137"/>
            <a:ext cx="619125" cy="276225"/>
          </a:xfrm>
          <a:prstGeom prst="rect">
            <a:avLst/>
          </a:prstGeom>
        </p:spPr>
      </p:pic>
      <p:sp>
        <p:nvSpPr>
          <p:cNvPr id="21" name="文本框 20">
            <a:extLst>
              <a:ext uri="{FF2B5EF4-FFF2-40B4-BE49-F238E27FC236}">
                <a16:creationId xmlns:a16="http://schemas.microsoft.com/office/drawing/2014/main" id="{2463A35D-5420-2BE5-2150-F1A7D246646A}"/>
              </a:ext>
            </a:extLst>
          </p:cNvPr>
          <p:cNvSpPr txBox="1"/>
          <p:nvPr/>
        </p:nvSpPr>
        <p:spPr>
          <a:xfrm>
            <a:off x="6096000" y="5135012"/>
            <a:ext cx="6096000" cy="830997"/>
          </a:xfrm>
          <a:prstGeom prst="rect">
            <a:avLst/>
          </a:prstGeom>
          <a:noFill/>
        </p:spPr>
        <p:txBody>
          <a:bodyPr wrap="square">
            <a:spAutoFit/>
          </a:bodyPr>
          <a:lstStyle/>
          <a:p>
            <a:r>
              <a:rPr lang="zh-CN" altLang="en-US" sz="2400" b="0" i="0" dirty="0">
                <a:solidFill>
                  <a:srgbClr val="4D4D4D"/>
                </a:solidFill>
                <a:effectLst/>
                <a:latin typeface="-apple-system"/>
              </a:rPr>
              <a:t>其中此时计算过程就少一项，这就是为什么要进行样本均值归</a:t>
            </a:r>
            <a:r>
              <a:rPr lang="en-US" altLang="zh-CN" sz="2400" b="0" i="0" dirty="0">
                <a:solidFill>
                  <a:srgbClr val="4D4D4D"/>
                </a:solidFill>
                <a:effectLst/>
                <a:latin typeface="-apple-system"/>
              </a:rPr>
              <a:t>0</a:t>
            </a:r>
            <a:r>
              <a:rPr lang="zh-CN" altLang="en-US" sz="2400" b="0" i="0" dirty="0">
                <a:solidFill>
                  <a:srgbClr val="4D4D4D"/>
                </a:solidFill>
                <a:effectLst/>
                <a:latin typeface="-apple-system"/>
              </a:rPr>
              <a:t>，可以化简的更加方便。</a:t>
            </a:r>
            <a:endParaRPr lang="zh-CN" altLang="en-US" sz="2400" dirty="0"/>
          </a:p>
        </p:txBody>
      </p:sp>
      <p:pic>
        <p:nvPicPr>
          <p:cNvPr id="3" name="图片 2">
            <a:extLst>
              <a:ext uri="{FF2B5EF4-FFF2-40B4-BE49-F238E27FC236}">
                <a16:creationId xmlns:a16="http://schemas.microsoft.com/office/drawing/2014/main" id="{F579F5CF-17A2-87A8-9AD1-2AFC0BA456CB}"/>
              </a:ext>
            </a:extLst>
          </p:cNvPr>
          <p:cNvPicPr>
            <a:picLocks noChangeAspect="1"/>
          </p:cNvPicPr>
          <p:nvPr/>
        </p:nvPicPr>
        <p:blipFill>
          <a:blip r:embed="rId6"/>
          <a:stretch>
            <a:fillRect/>
          </a:stretch>
        </p:blipFill>
        <p:spPr>
          <a:xfrm>
            <a:off x="6670432" y="4198537"/>
            <a:ext cx="3043236" cy="691423"/>
          </a:xfrm>
          <a:prstGeom prst="rect">
            <a:avLst/>
          </a:prstGeom>
        </p:spPr>
      </p:pic>
      <p:pic>
        <p:nvPicPr>
          <p:cNvPr id="5" name="图片 4">
            <a:extLst>
              <a:ext uri="{FF2B5EF4-FFF2-40B4-BE49-F238E27FC236}">
                <a16:creationId xmlns:a16="http://schemas.microsoft.com/office/drawing/2014/main" id="{A6C37DBD-E652-FACC-572B-9C05321F3245}"/>
              </a:ext>
            </a:extLst>
          </p:cNvPr>
          <p:cNvPicPr>
            <a:picLocks noChangeAspect="1"/>
          </p:cNvPicPr>
          <p:nvPr/>
        </p:nvPicPr>
        <p:blipFill>
          <a:blip r:embed="rId7"/>
          <a:stretch>
            <a:fillRect/>
          </a:stretch>
        </p:blipFill>
        <p:spPr>
          <a:xfrm>
            <a:off x="1418590" y="2680784"/>
            <a:ext cx="3730400" cy="1920167"/>
          </a:xfrm>
          <a:prstGeom prst="rect">
            <a:avLst/>
          </a:prstGeom>
        </p:spPr>
      </p:pic>
    </p:spTree>
    <p:extLst>
      <p:ext uri="{BB962C8B-B14F-4D97-AF65-F5344CB8AC3E}">
        <p14:creationId xmlns:p14="http://schemas.microsoft.com/office/powerpoint/2010/main" val="3284713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4">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数据标准化</a:t>
            </a:r>
          </a:p>
        </p:txBody>
      </p:sp>
      <p:sp>
        <p:nvSpPr>
          <p:cNvPr id="9" name="文本框 8"/>
          <p:cNvSpPr txBox="1"/>
          <p:nvPr/>
        </p:nvSpPr>
        <p:spPr>
          <a:xfrm>
            <a:off x="775335" y="1626235"/>
            <a:ext cx="3371850" cy="460375"/>
          </a:xfrm>
          <a:prstGeom prst="rect">
            <a:avLst/>
          </a:prstGeom>
          <a:noFill/>
        </p:spPr>
        <p:txBody>
          <a:bodyPr wrap="square" rtlCol="0">
            <a:spAutoFit/>
          </a:bodyPr>
          <a:lstStyle/>
          <a:p>
            <a:r>
              <a:rPr lang="en-US" altLang="zh-CN" sz="2400" dirty="0"/>
              <a:t>1. </a:t>
            </a:r>
            <a:r>
              <a:rPr lang="zh-CN" altLang="en-US" sz="2400" dirty="0"/>
              <a:t>数据标准化</a:t>
            </a:r>
            <a:endParaRPr lang="zh-CN" altLang="en-US" sz="2400" dirty="0">
              <a:latin typeface="Times New Roman" panose="02020603050405020304" charset="0"/>
              <a:cs typeface="Times New Roman" panose="02020603050405020304" charset="0"/>
            </a:endParaRPr>
          </a:p>
        </p:txBody>
      </p:sp>
      <p:grpSp>
        <p:nvGrpSpPr>
          <p:cNvPr id="1073744250" name="组合 1073744249"/>
          <p:cNvGrpSpPr/>
          <p:nvPr/>
        </p:nvGrpSpPr>
        <p:grpSpPr>
          <a:xfrm>
            <a:off x="1047750" y="2418080"/>
            <a:ext cx="9561195" cy="3128645"/>
            <a:chOff x="5059" y="5728"/>
            <a:chExt cx="7781" cy="2513"/>
          </a:xfrm>
        </p:grpSpPr>
        <p:grpSp>
          <p:nvGrpSpPr>
            <p:cNvPr id="1073744251" name="组合 1073744250"/>
            <p:cNvGrpSpPr/>
            <p:nvPr/>
          </p:nvGrpSpPr>
          <p:grpSpPr>
            <a:xfrm>
              <a:off x="5059" y="5805"/>
              <a:ext cx="7152" cy="2436"/>
              <a:chOff x="5001" y="5805"/>
              <a:chExt cx="7152" cy="2436"/>
            </a:xfrm>
          </p:grpSpPr>
          <p:grpSp>
            <p:nvGrpSpPr>
              <p:cNvPr id="1073744252" name="组合 1073744251"/>
              <p:cNvGrpSpPr/>
              <p:nvPr/>
            </p:nvGrpSpPr>
            <p:grpSpPr>
              <a:xfrm>
                <a:off x="5001" y="5805"/>
                <a:ext cx="2850" cy="2436"/>
                <a:chOff x="4813" y="6502"/>
                <a:chExt cx="2850" cy="2436"/>
              </a:xfrm>
            </p:grpSpPr>
            <p:sp>
              <p:nvSpPr>
                <p:cNvPr id="1073744253" name="直接连接符 1073744252"/>
                <p:cNvSpPr/>
                <p:nvPr>
                  <p:custDataLst>
                    <p:tags r:id="rId25"/>
                  </p:custDataLst>
                </p:nvPr>
              </p:nvSpPr>
              <p:spPr>
                <a:xfrm>
                  <a:off x="4813" y="7848"/>
                  <a:ext cx="2850" cy="1"/>
                </a:xfrm>
                <a:prstGeom prst="line">
                  <a:avLst/>
                </a:prstGeom>
                <a:ln w="9525" cap="flat" cmpd="sng">
                  <a:solidFill>
                    <a:srgbClr val="000000"/>
                  </a:solidFill>
                  <a:prstDash val="solid"/>
                  <a:headEnd type="none" w="med" len="med"/>
                  <a:tailEnd type="triangle" w="med" len="med"/>
                </a:ln>
              </p:spPr>
            </p:sp>
            <p:sp>
              <p:nvSpPr>
                <p:cNvPr id="1073744254" name="直接连接符 1073744253"/>
                <p:cNvSpPr/>
                <p:nvPr>
                  <p:custDataLst>
                    <p:tags r:id="rId26"/>
                  </p:custDataLst>
                </p:nvPr>
              </p:nvSpPr>
              <p:spPr>
                <a:xfrm flipV="1">
                  <a:off x="6103" y="6502"/>
                  <a:ext cx="40" cy="2436"/>
                </a:xfrm>
                <a:prstGeom prst="line">
                  <a:avLst/>
                </a:prstGeom>
                <a:ln w="9525" cap="flat" cmpd="sng">
                  <a:solidFill>
                    <a:srgbClr val="000000"/>
                  </a:solidFill>
                  <a:prstDash val="solid"/>
                  <a:headEnd type="none" w="med" len="med"/>
                  <a:tailEnd type="triangle" w="med" len="med"/>
                </a:ln>
              </p:spPr>
            </p:sp>
            <p:grpSp>
              <p:nvGrpSpPr>
                <p:cNvPr id="1073744255" name="组合 1073744254"/>
                <p:cNvGrpSpPr/>
                <p:nvPr/>
              </p:nvGrpSpPr>
              <p:grpSpPr>
                <a:xfrm>
                  <a:off x="6203" y="6738"/>
                  <a:ext cx="1132" cy="1020"/>
                  <a:chOff x="5903" y="6526"/>
                  <a:chExt cx="1132" cy="1020"/>
                </a:xfrm>
              </p:grpSpPr>
              <p:sp>
                <p:nvSpPr>
                  <p:cNvPr id="1073744256" name="椭圆 1073744255"/>
                  <p:cNvSpPr/>
                  <p:nvPr>
                    <p:custDataLst>
                      <p:tags r:id="rId27"/>
                    </p:custDataLst>
                  </p:nvPr>
                </p:nvSpPr>
                <p:spPr>
                  <a:xfrm>
                    <a:off x="6528" y="687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57" name="组合 1073744256"/>
                  <p:cNvGrpSpPr/>
                  <p:nvPr/>
                </p:nvGrpSpPr>
                <p:grpSpPr>
                  <a:xfrm>
                    <a:off x="5903" y="6526"/>
                    <a:ext cx="1132" cy="1020"/>
                    <a:chOff x="5903" y="6526"/>
                    <a:chExt cx="1132" cy="1020"/>
                  </a:xfrm>
                </p:grpSpPr>
                <p:sp>
                  <p:nvSpPr>
                    <p:cNvPr id="1073744258" name="椭圆 1073744257"/>
                    <p:cNvSpPr/>
                    <p:nvPr>
                      <p:custDataLst>
                        <p:tags r:id="rId28"/>
                      </p:custDataLst>
                    </p:nvPr>
                  </p:nvSpPr>
                  <p:spPr>
                    <a:xfrm>
                      <a:off x="6275" y="698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dirty="0"/>
                    </a:p>
                  </p:txBody>
                </p:sp>
                <p:sp>
                  <p:nvSpPr>
                    <p:cNvPr id="1073744259" name="椭圆 1073744258"/>
                    <p:cNvSpPr/>
                    <p:nvPr>
                      <p:custDataLst>
                        <p:tags r:id="rId29"/>
                      </p:custDataLst>
                    </p:nvPr>
                  </p:nvSpPr>
                  <p:spPr>
                    <a:xfrm>
                      <a:off x="6702" y="6739"/>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60" name="组合 1073744259"/>
                    <p:cNvGrpSpPr/>
                    <p:nvPr/>
                  </p:nvGrpSpPr>
                  <p:grpSpPr>
                    <a:xfrm>
                      <a:off x="5903" y="6526"/>
                      <a:ext cx="1132" cy="1020"/>
                      <a:chOff x="5903" y="6526"/>
                      <a:chExt cx="1132" cy="1020"/>
                    </a:xfrm>
                  </p:grpSpPr>
                  <p:sp>
                    <p:nvSpPr>
                      <p:cNvPr id="1073744261" name="椭圆 1073744260"/>
                      <p:cNvSpPr/>
                      <p:nvPr>
                        <p:custDataLst>
                          <p:tags r:id="rId30"/>
                        </p:custDataLst>
                      </p:nvPr>
                    </p:nvSpPr>
                    <p:spPr>
                      <a:xfrm>
                        <a:off x="6266" y="6714"/>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2" name="椭圆 1073744261"/>
                      <p:cNvSpPr/>
                      <p:nvPr>
                        <p:custDataLst>
                          <p:tags r:id="rId31"/>
                        </p:custDataLst>
                      </p:nvPr>
                    </p:nvSpPr>
                    <p:spPr>
                      <a:xfrm>
                        <a:off x="6053" y="6902"/>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3" name="椭圆 1073744262"/>
                      <p:cNvSpPr/>
                      <p:nvPr>
                        <p:custDataLst>
                          <p:tags r:id="rId32"/>
                        </p:custDataLst>
                      </p:nvPr>
                    </p:nvSpPr>
                    <p:spPr>
                      <a:xfrm>
                        <a:off x="6515" y="660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4" name="椭圆 1073744263"/>
                      <p:cNvSpPr/>
                      <p:nvPr>
                        <p:custDataLst>
                          <p:tags r:id="rId33"/>
                        </p:custDataLst>
                      </p:nvPr>
                    </p:nvSpPr>
                    <p:spPr>
                      <a:xfrm>
                        <a:off x="6690" y="65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5" name="椭圆 1073744264"/>
                      <p:cNvSpPr/>
                      <p:nvPr>
                        <p:custDataLst>
                          <p:tags r:id="rId34"/>
                        </p:custDataLst>
                      </p:nvPr>
                    </p:nvSpPr>
                    <p:spPr>
                      <a:xfrm>
                        <a:off x="6878" y="657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66" name="组合 1073744265"/>
                      <p:cNvGrpSpPr/>
                      <p:nvPr/>
                    </p:nvGrpSpPr>
                    <p:grpSpPr>
                      <a:xfrm>
                        <a:off x="5903" y="6826"/>
                        <a:ext cx="1132" cy="720"/>
                        <a:chOff x="5903" y="6826"/>
                        <a:chExt cx="1132" cy="720"/>
                      </a:xfrm>
                    </p:grpSpPr>
                    <p:sp>
                      <p:nvSpPr>
                        <p:cNvPr id="1073744267" name="椭圆 1073744266"/>
                        <p:cNvSpPr/>
                        <p:nvPr>
                          <p:custDataLst>
                            <p:tags r:id="rId35"/>
                          </p:custDataLst>
                        </p:nvPr>
                      </p:nvSpPr>
                      <p:spPr>
                        <a:xfrm>
                          <a:off x="6365" y="72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8" name="椭圆 1073744267"/>
                        <p:cNvSpPr/>
                        <p:nvPr>
                          <p:custDataLst>
                            <p:tags r:id="rId36"/>
                          </p:custDataLst>
                        </p:nvPr>
                      </p:nvSpPr>
                      <p:spPr>
                        <a:xfrm>
                          <a:off x="6102" y="7263"/>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69" name="椭圆 1073744268"/>
                        <p:cNvSpPr/>
                        <p:nvPr>
                          <p:custDataLst>
                            <p:tags r:id="rId37"/>
                          </p:custDataLst>
                        </p:nvPr>
                      </p:nvSpPr>
                      <p:spPr>
                        <a:xfrm>
                          <a:off x="5940" y="74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70" name="椭圆 1073744269"/>
                        <p:cNvSpPr/>
                        <p:nvPr>
                          <p:custDataLst>
                            <p:tags r:id="rId38"/>
                          </p:custDataLst>
                        </p:nvPr>
                      </p:nvSpPr>
                      <p:spPr>
                        <a:xfrm>
                          <a:off x="6290" y="740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71" name="椭圆 1073744270"/>
                        <p:cNvSpPr/>
                        <p:nvPr>
                          <p:custDataLst>
                            <p:tags r:id="rId39"/>
                          </p:custDataLst>
                        </p:nvPr>
                      </p:nvSpPr>
                      <p:spPr>
                        <a:xfrm>
                          <a:off x="6740" y="6964"/>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72" name="椭圆 1073744271"/>
                        <p:cNvSpPr/>
                        <p:nvPr>
                          <p:custDataLst>
                            <p:tags r:id="rId40"/>
                          </p:custDataLst>
                        </p:nvPr>
                      </p:nvSpPr>
                      <p:spPr>
                        <a:xfrm>
                          <a:off x="6564" y="7227"/>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73" name="椭圆 1073744272"/>
                        <p:cNvSpPr/>
                        <p:nvPr>
                          <p:custDataLst>
                            <p:tags r:id="rId41"/>
                          </p:custDataLst>
                        </p:nvPr>
                      </p:nvSpPr>
                      <p:spPr>
                        <a:xfrm>
                          <a:off x="6915" y="68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74" name="椭圆 1073744273"/>
                        <p:cNvSpPr/>
                        <p:nvPr>
                          <p:custDataLst>
                            <p:tags r:id="rId42"/>
                          </p:custDataLst>
                        </p:nvPr>
                      </p:nvSpPr>
                      <p:spPr>
                        <a:xfrm>
                          <a:off x="5903" y="725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grpSp>
              </p:grpSp>
            </p:grpSp>
          </p:grpSp>
          <p:grpSp>
            <p:nvGrpSpPr>
              <p:cNvPr id="1073744275" name="组合 1073744274"/>
              <p:cNvGrpSpPr/>
              <p:nvPr/>
            </p:nvGrpSpPr>
            <p:grpSpPr>
              <a:xfrm>
                <a:off x="9303" y="5805"/>
                <a:ext cx="2850" cy="2436"/>
                <a:chOff x="9928" y="6117"/>
                <a:chExt cx="2850" cy="2436"/>
              </a:xfrm>
            </p:grpSpPr>
            <p:grpSp>
              <p:nvGrpSpPr>
                <p:cNvPr id="1073744276" name="组合 1073744275"/>
                <p:cNvGrpSpPr/>
                <p:nvPr/>
              </p:nvGrpSpPr>
              <p:grpSpPr>
                <a:xfrm>
                  <a:off x="10756" y="7064"/>
                  <a:ext cx="907" cy="746"/>
                  <a:chOff x="5903" y="6526"/>
                  <a:chExt cx="1132" cy="1020"/>
                </a:xfrm>
              </p:grpSpPr>
              <p:sp>
                <p:nvSpPr>
                  <p:cNvPr id="1073744277" name="椭圆 1073744276"/>
                  <p:cNvSpPr/>
                  <p:nvPr>
                    <p:custDataLst>
                      <p:tags r:id="rId9"/>
                    </p:custDataLst>
                  </p:nvPr>
                </p:nvSpPr>
                <p:spPr>
                  <a:xfrm>
                    <a:off x="6528" y="687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78" name="组合 1073744277"/>
                  <p:cNvGrpSpPr/>
                  <p:nvPr/>
                </p:nvGrpSpPr>
                <p:grpSpPr>
                  <a:xfrm>
                    <a:off x="5903" y="6526"/>
                    <a:ext cx="1132" cy="1020"/>
                    <a:chOff x="5903" y="6526"/>
                    <a:chExt cx="1132" cy="1020"/>
                  </a:xfrm>
                </p:grpSpPr>
                <p:sp>
                  <p:nvSpPr>
                    <p:cNvPr id="1073744279" name="椭圆 1073744278"/>
                    <p:cNvSpPr/>
                    <p:nvPr>
                      <p:custDataLst>
                        <p:tags r:id="rId10"/>
                      </p:custDataLst>
                    </p:nvPr>
                  </p:nvSpPr>
                  <p:spPr>
                    <a:xfrm>
                      <a:off x="6275" y="698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0" name="椭圆 1073744279"/>
                    <p:cNvSpPr/>
                    <p:nvPr>
                      <p:custDataLst>
                        <p:tags r:id="rId11"/>
                      </p:custDataLst>
                    </p:nvPr>
                  </p:nvSpPr>
                  <p:spPr>
                    <a:xfrm>
                      <a:off x="6702" y="6739"/>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81" name="组合 1073744280"/>
                    <p:cNvGrpSpPr/>
                    <p:nvPr/>
                  </p:nvGrpSpPr>
                  <p:grpSpPr>
                    <a:xfrm>
                      <a:off x="5903" y="6526"/>
                      <a:ext cx="1132" cy="1020"/>
                      <a:chOff x="5903" y="6526"/>
                      <a:chExt cx="1132" cy="1020"/>
                    </a:xfrm>
                  </p:grpSpPr>
                  <p:sp>
                    <p:nvSpPr>
                      <p:cNvPr id="1073744282" name="椭圆 1073744281"/>
                      <p:cNvSpPr/>
                      <p:nvPr>
                        <p:custDataLst>
                          <p:tags r:id="rId12"/>
                        </p:custDataLst>
                      </p:nvPr>
                    </p:nvSpPr>
                    <p:spPr>
                      <a:xfrm>
                        <a:off x="6266" y="6714"/>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3" name="椭圆 1073744282"/>
                      <p:cNvSpPr/>
                      <p:nvPr>
                        <p:custDataLst>
                          <p:tags r:id="rId13"/>
                        </p:custDataLst>
                      </p:nvPr>
                    </p:nvSpPr>
                    <p:spPr>
                      <a:xfrm>
                        <a:off x="6053" y="6902"/>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4" name="椭圆 1073744283"/>
                      <p:cNvSpPr/>
                      <p:nvPr>
                        <p:custDataLst>
                          <p:tags r:id="rId14"/>
                        </p:custDataLst>
                      </p:nvPr>
                    </p:nvSpPr>
                    <p:spPr>
                      <a:xfrm>
                        <a:off x="6515" y="660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5" name="椭圆 1073744284"/>
                      <p:cNvSpPr/>
                      <p:nvPr>
                        <p:custDataLst>
                          <p:tags r:id="rId15"/>
                        </p:custDataLst>
                      </p:nvPr>
                    </p:nvSpPr>
                    <p:spPr>
                      <a:xfrm>
                        <a:off x="6690" y="65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6" name="椭圆 1073744285"/>
                      <p:cNvSpPr/>
                      <p:nvPr>
                        <p:custDataLst>
                          <p:tags r:id="rId16"/>
                        </p:custDataLst>
                      </p:nvPr>
                    </p:nvSpPr>
                    <p:spPr>
                      <a:xfrm>
                        <a:off x="6878" y="657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nvGrpSpPr>
                      <p:cNvPr id="1073744287" name="组合 1073744286"/>
                      <p:cNvGrpSpPr/>
                      <p:nvPr/>
                    </p:nvGrpSpPr>
                    <p:grpSpPr>
                      <a:xfrm>
                        <a:off x="5903" y="6826"/>
                        <a:ext cx="1132" cy="720"/>
                        <a:chOff x="5903" y="6826"/>
                        <a:chExt cx="1132" cy="720"/>
                      </a:xfrm>
                    </p:grpSpPr>
                    <p:sp>
                      <p:nvSpPr>
                        <p:cNvPr id="1073744288" name="椭圆 1073744287"/>
                        <p:cNvSpPr/>
                        <p:nvPr>
                          <p:custDataLst>
                            <p:tags r:id="rId17"/>
                          </p:custDataLst>
                        </p:nvPr>
                      </p:nvSpPr>
                      <p:spPr>
                        <a:xfrm>
                          <a:off x="6365" y="72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89" name="椭圆 1073744288"/>
                        <p:cNvSpPr/>
                        <p:nvPr>
                          <p:custDataLst>
                            <p:tags r:id="rId18"/>
                          </p:custDataLst>
                        </p:nvPr>
                      </p:nvSpPr>
                      <p:spPr>
                        <a:xfrm>
                          <a:off x="6102" y="7263"/>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0" name="椭圆 1073744289"/>
                        <p:cNvSpPr/>
                        <p:nvPr>
                          <p:custDataLst>
                            <p:tags r:id="rId19"/>
                          </p:custDataLst>
                        </p:nvPr>
                      </p:nvSpPr>
                      <p:spPr>
                        <a:xfrm>
                          <a:off x="5940" y="74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1" name="椭圆 1073744290"/>
                        <p:cNvSpPr/>
                        <p:nvPr>
                          <p:custDataLst>
                            <p:tags r:id="rId20"/>
                          </p:custDataLst>
                        </p:nvPr>
                      </p:nvSpPr>
                      <p:spPr>
                        <a:xfrm>
                          <a:off x="6290" y="740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2" name="椭圆 1073744291"/>
                        <p:cNvSpPr/>
                        <p:nvPr>
                          <p:custDataLst>
                            <p:tags r:id="rId21"/>
                          </p:custDataLst>
                        </p:nvPr>
                      </p:nvSpPr>
                      <p:spPr>
                        <a:xfrm>
                          <a:off x="6740" y="6964"/>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3" name="椭圆 1073744292"/>
                        <p:cNvSpPr/>
                        <p:nvPr>
                          <p:custDataLst>
                            <p:tags r:id="rId22"/>
                          </p:custDataLst>
                        </p:nvPr>
                      </p:nvSpPr>
                      <p:spPr>
                        <a:xfrm>
                          <a:off x="6564" y="7227"/>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4" name="椭圆 1073744293"/>
                        <p:cNvSpPr/>
                        <p:nvPr>
                          <p:custDataLst>
                            <p:tags r:id="rId23"/>
                          </p:custDataLst>
                        </p:nvPr>
                      </p:nvSpPr>
                      <p:spPr>
                        <a:xfrm>
                          <a:off x="6915" y="6826"/>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sp>
                      <p:nvSpPr>
                        <p:cNvPr id="1073744295" name="椭圆 1073744294"/>
                        <p:cNvSpPr/>
                        <p:nvPr>
                          <p:custDataLst>
                            <p:tags r:id="rId24"/>
                          </p:custDataLst>
                        </p:nvPr>
                      </p:nvSpPr>
                      <p:spPr>
                        <a:xfrm>
                          <a:off x="5903" y="7251"/>
                          <a:ext cx="120" cy="120"/>
                        </a:xfrm>
                        <a:prstGeom prst="ellipse">
                          <a:avLst/>
                        </a:prstGeom>
                        <a:solidFill>
                          <a:srgbClr val="FF0000"/>
                        </a:solidFill>
                        <a:ln w="9525" cap="flat" cmpd="sng">
                          <a:solidFill>
                            <a:srgbClr val="000000"/>
                          </a:solidFill>
                          <a:prstDash val="solid"/>
                          <a:headEnd type="none" w="med" len="med"/>
                          <a:tailEnd type="none" w="med" len="med"/>
                        </a:ln>
                      </p:spPr>
                      <p:txBody>
                        <a:bodyPr/>
                        <a:lstStyle/>
                        <a:p>
                          <a:endParaRPr lang="zh-CN" altLang="en-US"/>
                        </a:p>
                      </p:txBody>
                    </p:sp>
                  </p:grpSp>
                </p:grpSp>
              </p:grpSp>
            </p:grpSp>
            <p:sp>
              <p:nvSpPr>
                <p:cNvPr id="1073744296" name="直接连接符 1073744295"/>
                <p:cNvSpPr/>
                <p:nvPr>
                  <p:custDataLst>
                    <p:tags r:id="rId7"/>
                  </p:custDataLst>
                </p:nvPr>
              </p:nvSpPr>
              <p:spPr>
                <a:xfrm>
                  <a:off x="9928" y="7463"/>
                  <a:ext cx="2850" cy="1"/>
                </a:xfrm>
                <a:prstGeom prst="line">
                  <a:avLst/>
                </a:prstGeom>
                <a:ln w="9525" cap="flat" cmpd="sng">
                  <a:solidFill>
                    <a:srgbClr val="000000"/>
                  </a:solidFill>
                  <a:prstDash val="solid"/>
                  <a:headEnd type="none" w="med" len="med"/>
                  <a:tailEnd type="triangle" w="med" len="med"/>
                </a:ln>
              </p:spPr>
            </p:sp>
            <p:sp>
              <p:nvSpPr>
                <p:cNvPr id="1073744297" name="直接连接符 1073744296"/>
                <p:cNvSpPr/>
                <p:nvPr>
                  <p:custDataLst>
                    <p:tags r:id="rId8"/>
                  </p:custDataLst>
                </p:nvPr>
              </p:nvSpPr>
              <p:spPr>
                <a:xfrm flipV="1">
                  <a:off x="11218" y="6117"/>
                  <a:ext cx="40" cy="2436"/>
                </a:xfrm>
                <a:prstGeom prst="line">
                  <a:avLst/>
                </a:prstGeom>
                <a:ln w="9525" cap="flat" cmpd="sng">
                  <a:solidFill>
                    <a:srgbClr val="000000"/>
                  </a:solidFill>
                  <a:prstDash val="solid"/>
                  <a:headEnd type="none" w="med" len="med"/>
                  <a:tailEnd type="triangle" w="med" len="med"/>
                </a:ln>
              </p:spPr>
            </p:sp>
          </p:grpSp>
        </p:grpSp>
        <p:sp>
          <p:nvSpPr>
            <p:cNvPr id="1073744298" name="文本框 1073744297"/>
            <p:cNvSpPr txBox="1"/>
            <p:nvPr>
              <p:custDataLst>
                <p:tags r:id="rId2"/>
              </p:custDataLst>
            </p:nvPr>
          </p:nvSpPr>
          <p:spPr>
            <a:xfrm>
              <a:off x="5876" y="7198"/>
              <a:ext cx="385" cy="443"/>
            </a:xfrm>
            <a:prstGeom prst="rect">
              <a:avLst/>
            </a:prstGeom>
            <a:noFill/>
            <a:ln w="9525">
              <a:noFill/>
            </a:ln>
          </p:spPr>
          <p:txBody>
            <a:bodyPr wrap="square"/>
            <a:lstStyle/>
            <a:p>
              <a:r>
                <a:rPr lang="zh-CN" altLang="en-US"/>
                <a:t>0</a:t>
              </a:r>
            </a:p>
            <a:p>
              <a:endParaRPr lang="zh-CN" altLang="en-US"/>
            </a:p>
          </p:txBody>
        </p:sp>
        <p:sp>
          <p:nvSpPr>
            <p:cNvPr id="1073744299" name="文本框 1073744298"/>
            <p:cNvSpPr txBox="1"/>
            <p:nvPr>
              <p:custDataLst>
                <p:tags r:id="rId3"/>
              </p:custDataLst>
            </p:nvPr>
          </p:nvSpPr>
          <p:spPr>
            <a:xfrm>
              <a:off x="7891" y="6912"/>
              <a:ext cx="634" cy="443"/>
            </a:xfrm>
            <a:prstGeom prst="rect">
              <a:avLst/>
            </a:prstGeom>
            <a:noFill/>
            <a:ln w="9525">
              <a:noFill/>
            </a:ln>
          </p:spPr>
          <p:txBody>
            <a:bodyPr wrap="square"/>
            <a:lstStyle/>
            <a:p>
              <a:r>
                <a:rPr lang="zh-CN" altLang="en-US"/>
                <a:t>X1</a:t>
              </a:r>
            </a:p>
            <a:p>
              <a:endParaRPr lang="zh-CN" altLang="en-US"/>
            </a:p>
          </p:txBody>
        </p:sp>
        <p:sp>
          <p:nvSpPr>
            <p:cNvPr id="1073744300" name="文本框 1073744299"/>
            <p:cNvSpPr txBox="1"/>
            <p:nvPr>
              <p:custDataLst>
                <p:tags r:id="rId4"/>
              </p:custDataLst>
            </p:nvPr>
          </p:nvSpPr>
          <p:spPr>
            <a:xfrm>
              <a:off x="6394" y="5739"/>
              <a:ext cx="634" cy="443"/>
            </a:xfrm>
            <a:prstGeom prst="rect">
              <a:avLst/>
            </a:prstGeom>
            <a:noFill/>
            <a:ln w="9525">
              <a:noFill/>
            </a:ln>
          </p:spPr>
          <p:txBody>
            <a:bodyPr wrap="square"/>
            <a:lstStyle/>
            <a:p>
              <a:r>
                <a:rPr lang="zh-CN" altLang="en-US"/>
                <a:t>X2</a:t>
              </a:r>
            </a:p>
            <a:p>
              <a:endParaRPr lang="zh-CN" altLang="en-US"/>
            </a:p>
          </p:txBody>
        </p:sp>
        <p:sp>
          <p:nvSpPr>
            <p:cNvPr id="1073744301" name="文本框 1073744300"/>
            <p:cNvSpPr txBox="1"/>
            <p:nvPr>
              <p:custDataLst>
                <p:tags r:id="rId5"/>
              </p:custDataLst>
            </p:nvPr>
          </p:nvSpPr>
          <p:spPr>
            <a:xfrm>
              <a:off x="12206" y="6865"/>
              <a:ext cx="634" cy="443"/>
            </a:xfrm>
            <a:prstGeom prst="rect">
              <a:avLst/>
            </a:prstGeom>
            <a:noFill/>
            <a:ln w="9525">
              <a:noFill/>
            </a:ln>
          </p:spPr>
          <p:txBody>
            <a:bodyPr wrap="square"/>
            <a:lstStyle/>
            <a:p>
              <a:r>
                <a:rPr lang="zh-CN" altLang="en-US"/>
                <a:t>X1</a:t>
              </a:r>
            </a:p>
            <a:p>
              <a:endParaRPr lang="zh-CN" altLang="en-US"/>
            </a:p>
          </p:txBody>
        </p:sp>
        <p:sp>
          <p:nvSpPr>
            <p:cNvPr id="1073744302" name="文本框 1073744301"/>
            <p:cNvSpPr txBox="1"/>
            <p:nvPr>
              <p:custDataLst>
                <p:tags r:id="rId6"/>
              </p:custDataLst>
            </p:nvPr>
          </p:nvSpPr>
          <p:spPr>
            <a:xfrm>
              <a:off x="10696" y="5728"/>
              <a:ext cx="634" cy="443"/>
            </a:xfrm>
            <a:prstGeom prst="rect">
              <a:avLst/>
            </a:prstGeom>
            <a:noFill/>
            <a:ln w="9525">
              <a:noFill/>
            </a:ln>
          </p:spPr>
          <p:txBody>
            <a:bodyPr wrap="square"/>
            <a:lstStyle/>
            <a:p>
              <a:r>
                <a:rPr lang="zh-CN" altLang="en-US"/>
                <a:t>X2</a:t>
              </a:r>
            </a:p>
            <a:p>
              <a:endParaRPr lang="zh-CN" altLang="en-US"/>
            </a:p>
          </p:txBody>
        </p:sp>
      </p:grpSp>
      <p:sp>
        <p:nvSpPr>
          <p:cNvPr id="15" name="文本框 14"/>
          <p:cNvSpPr txBox="1"/>
          <p:nvPr/>
        </p:nvSpPr>
        <p:spPr>
          <a:xfrm>
            <a:off x="2051685" y="5814695"/>
            <a:ext cx="1252855" cy="368300"/>
          </a:xfrm>
          <a:prstGeom prst="rect">
            <a:avLst/>
          </a:prstGeom>
          <a:noFill/>
        </p:spPr>
        <p:txBody>
          <a:bodyPr wrap="square" rtlCol="0">
            <a:spAutoFit/>
          </a:bodyPr>
          <a:lstStyle/>
          <a:p>
            <a:pPr algn="ctr"/>
            <a:r>
              <a:rPr lang="zh-CN" altLang="en-US"/>
              <a:t>标准化前</a:t>
            </a:r>
          </a:p>
        </p:txBody>
      </p:sp>
      <p:sp>
        <p:nvSpPr>
          <p:cNvPr id="16" name="文本框 15"/>
          <p:cNvSpPr txBox="1"/>
          <p:nvPr/>
        </p:nvSpPr>
        <p:spPr>
          <a:xfrm>
            <a:off x="7351395" y="5941695"/>
            <a:ext cx="1252855" cy="368300"/>
          </a:xfrm>
          <a:prstGeom prst="rect">
            <a:avLst/>
          </a:prstGeom>
          <a:noFill/>
        </p:spPr>
        <p:txBody>
          <a:bodyPr wrap="square" rtlCol="0">
            <a:spAutoFit/>
          </a:bodyPr>
          <a:lstStyle/>
          <a:p>
            <a:pPr algn="ctr"/>
            <a:r>
              <a:rPr lang="zh-CN" altLang="en-US"/>
              <a:t>标准化后</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数据标准化</a:t>
            </a:r>
          </a:p>
        </p:txBody>
      </p:sp>
      <p:sp>
        <p:nvSpPr>
          <p:cNvPr id="9" name="文本框 8"/>
          <p:cNvSpPr txBox="1"/>
          <p:nvPr/>
        </p:nvSpPr>
        <p:spPr>
          <a:xfrm>
            <a:off x="775335" y="1626235"/>
            <a:ext cx="3371850" cy="461665"/>
          </a:xfrm>
          <a:prstGeom prst="rect">
            <a:avLst/>
          </a:prstGeom>
          <a:noFill/>
        </p:spPr>
        <p:txBody>
          <a:bodyPr wrap="square" rtlCol="0">
            <a:spAutoFit/>
          </a:bodyPr>
          <a:lstStyle/>
          <a:p>
            <a:r>
              <a:rPr lang="en-US" altLang="zh-CN" sz="2400" dirty="0"/>
              <a:t>1. </a:t>
            </a:r>
            <a:r>
              <a:rPr lang="zh-CN" altLang="en-US" sz="2400" dirty="0"/>
              <a:t>数据标准化</a:t>
            </a:r>
            <a:r>
              <a:rPr lang="zh-CN" altLang="en-US" sz="2400" dirty="0">
                <a:latin typeface="Times New Roman" panose="02020603050405020304" charset="0"/>
                <a:cs typeface="Times New Roman" panose="02020603050405020304" charset="0"/>
              </a:rPr>
              <a:t>（中心化）</a:t>
            </a:r>
          </a:p>
        </p:txBody>
      </p:sp>
      <p:graphicFrame>
        <p:nvGraphicFramePr>
          <p:cNvPr id="2" name="Object 1"/>
          <p:cNvGraphicFramePr>
            <a:graphicFrameLocks noChangeAspect="1"/>
          </p:cNvGraphicFramePr>
          <p:nvPr>
            <p:extLst>
              <p:ext uri="{D42A27DB-BD31-4B8C-83A1-F6EECF244321}">
                <p14:modId xmlns:p14="http://schemas.microsoft.com/office/powerpoint/2010/main" val="3745527266"/>
              </p:ext>
            </p:extLst>
          </p:nvPr>
        </p:nvGraphicFramePr>
        <p:xfrm>
          <a:off x="787400" y="2281238"/>
          <a:ext cx="2932113" cy="1765300"/>
        </p:xfrm>
        <a:graphic>
          <a:graphicData uri="http://schemas.openxmlformats.org/presentationml/2006/ole">
            <mc:AlternateContent xmlns:mc="http://schemas.openxmlformats.org/markup-compatibility/2006">
              <mc:Choice xmlns:v="urn:schemas-microsoft-com:vml" Requires="v">
                <p:oleObj name="Equation" r:id="rId4" imgW="1562040" imgH="939600" progId="Equation.DSMT4">
                  <p:embed/>
                </p:oleObj>
              </mc:Choice>
              <mc:Fallback>
                <p:oleObj name="Equation" r:id="rId4" imgW="1562040" imgH="939600" progId="Equation.DSMT4">
                  <p:embed/>
                  <p:pic>
                    <p:nvPicPr>
                      <p:cNvPr id="2" name="Object 1"/>
                      <p:cNvPicPr/>
                      <p:nvPr/>
                    </p:nvPicPr>
                    <p:blipFill>
                      <a:blip r:embed="rId5"/>
                      <a:stretch>
                        <a:fillRect/>
                      </a:stretch>
                    </p:blipFill>
                    <p:spPr>
                      <a:xfrm>
                        <a:off x="787400" y="2281238"/>
                        <a:ext cx="2932113" cy="1765300"/>
                      </a:xfrm>
                      <a:prstGeom prst="rect">
                        <a:avLst/>
                      </a:prstGeom>
                      <a:noFill/>
                      <a:ln w="38100">
                        <a:noFill/>
                        <a:miter/>
                      </a:ln>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2727681908"/>
              </p:ext>
            </p:extLst>
          </p:nvPr>
        </p:nvGraphicFramePr>
        <p:xfrm>
          <a:off x="4650423" y="2528509"/>
          <a:ext cx="2903537" cy="973878"/>
        </p:xfrm>
        <a:graphic>
          <a:graphicData uri="http://schemas.openxmlformats.org/presentationml/2006/ole">
            <mc:AlternateContent xmlns:mc="http://schemas.openxmlformats.org/markup-compatibility/2006">
              <mc:Choice xmlns:v="urn:schemas-microsoft-com:vml" Requires="v">
                <p:oleObj r:id="rId6" imgW="2120900" imgH="711200" progId="Equation.KSEE3">
                  <p:embed/>
                </p:oleObj>
              </mc:Choice>
              <mc:Fallback>
                <p:oleObj r:id="rId6" imgW="2120900" imgH="711200" progId="Equation.KSEE3">
                  <p:embed/>
                  <p:pic>
                    <p:nvPicPr>
                      <p:cNvPr id="3" name="Object 2"/>
                      <p:cNvPicPr/>
                      <p:nvPr/>
                    </p:nvPicPr>
                    <p:blipFill>
                      <a:blip r:embed="rId7"/>
                      <a:stretch>
                        <a:fillRect/>
                      </a:stretch>
                    </p:blipFill>
                    <p:spPr>
                      <a:xfrm>
                        <a:off x="4650423" y="2528509"/>
                        <a:ext cx="2903537" cy="973878"/>
                      </a:xfrm>
                      <a:prstGeom prst="rect">
                        <a:avLst/>
                      </a:prstGeom>
                      <a:noFill/>
                      <a:ln w="38100">
                        <a:noFill/>
                        <a:miter/>
                      </a:ln>
                    </p:spPr>
                  </p:pic>
                </p:oleObj>
              </mc:Fallback>
            </mc:AlternateContent>
          </a:graphicData>
        </a:graphic>
      </p:graphicFrame>
      <p:graphicFrame>
        <p:nvGraphicFramePr>
          <p:cNvPr id="4" name="Object 4"/>
          <p:cNvGraphicFramePr>
            <a:graphicFrameLocks noChangeAspect="1"/>
          </p:cNvGraphicFramePr>
          <p:nvPr>
            <p:extLst>
              <p:ext uri="{D42A27DB-BD31-4B8C-83A1-F6EECF244321}">
                <p14:modId xmlns:p14="http://schemas.microsoft.com/office/powerpoint/2010/main" val="405949073"/>
              </p:ext>
            </p:extLst>
          </p:nvPr>
        </p:nvGraphicFramePr>
        <p:xfrm>
          <a:off x="8234363" y="2255838"/>
          <a:ext cx="2903537" cy="1789112"/>
        </p:xfrm>
        <a:graphic>
          <a:graphicData uri="http://schemas.openxmlformats.org/presentationml/2006/ole">
            <mc:AlternateContent xmlns:mc="http://schemas.openxmlformats.org/markup-compatibility/2006">
              <mc:Choice xmlns:v="urn:schemas-microsoft-com:vml" Requires="v">
                <p:oleObj name="Equation" r:id="rId8" imgW="1523880" imgH="939600" progId="Equation.DSMT4">
                  <p:embed/>
                </p:oleObj>
              </mc:Choice>
              <mc:Fallback>
                <p:oleObj name="Equation" r:id="rId8" imgW="1523880" imgH="939600" progId="Equation.DSMT4">
                  <p:embed/>
                  <p:pic>
                    <p:nvPicPr>
                      <p:cNvPr id="4" name="Object 4"/>
                      <p:cNvPicPr/>
                      <p:nvPr/>
                    </p:nvPicPr>
                    <p:blipFill>
                      <a:blip r:embed="rId9"/>
                      <a:stretch>
                        <a:fillRect/>
                      </a:stretch>
                    </p:blipFill>
                    <p:spPr>
                      <a:xfrm>
                        <a:off x="8234363" y="2255838"/>
                        <a:ext cx="2903537" cy="1789112"/>
                      </a:xfrm>
                      <a:prstGeom prst="rect">
                        <a:avLst/>
                      </a:prstGeom>
                      <a:noFill/>
                      <a:ln w="38100">
                        <a:noFill/>
                        <a:miter/>
                      </a:ln>
                    </p:spPr>
                  </p:pic>
                </p:oleObj>
              </mc:Fallback>
            </mc:AlternateContent>
          </a:graphicData>
        </a:graphic>
      </p:graphicFrame>
      <p:graphicFrame>
        <p:nvGraphicFramePr>
          <p:cNvPr id="5" name="Object 5"/>
          <p:cNvGraphicFramePr>
            <a:graphicFrameLocks noChangeAspect="1"/>
          </p:cNvGraphicFramePr>
          <p:nvPr>
            <p:extLst>
              <p:ext uri="{D42A27DB-BD31-4B8C-83A1-F6EECF244321}">
                <p14:modId xmlns:p14="http://schemas.microsoft.com/office/powerpoint/2010/main" val="3066595672"/>
              </p:ext>
            </p:extLst>
          </p:nvPr>
        </p:nvGraphicFramePr>
        <p:xfrm>
          <a:off x="775335" y="4556489"/>
          <a:ext cx="4792980" cy="937260"/>
        </p:xfrm>
        <a:graphic>
          <a:graphicData uri="http://schemas.openxmlformats.org/presentationml/2006/ole">
            <mc:AlternateContent xmlns:mc="http://schemas.openxmlformats.org/markup-compatibility/2006">
              <mc:Choice xmlns:v="urn:schemas-microsoft-com:vml" Requires="v">
                <p:oleObj r:id="rId10" imgW="3377565" imgH="660400" progId="Equation.KSEE3">
                  <p:embed/>
                </p:oleObj>
              </mc:Choice>
              <mc:Fallback>
                <p:oleObj r:id="rId10" imgW="3377565" imgH="660400" progId="Equation.KSEE3">
                  <p:embed/>
                  <p:pic>
                    <p:nvPicPr>
                      <p:cNvPr id="5" name="Object 5"/>
                      <p:cNvPicPr/>
                      <p:nvPr/>
                    </p:nvPicPr>
                    <p:blipFill>
                      <a:blip r:embed="rId11"/>
                      <a:stretch>
                        <a:fillRect/>
                      </a:stretch>
                    </p:blipFill>
                    <p:spPr>
                      <a:xfrm>
                        <a:off x="775335" y="4556489"/>
                        <a:ext cx="4792980" cy="937260"/>
                      </a:xfrm>
                      <a:prstGeom prst="rect">
                        <a:avLst/>
                      </a:prstGeom>
                      <a:noFill/>
                      <a:ln w="38100">
                        <a:noFill/>
                        <a:miter/>
                      </a:ln>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3876949970"/>
              </p:ext>
            </p:extLst>
          </p:nvPr>
        </p:nvGraphicFramePr>
        <p:xfrm>
          <a:off x="7293669" y="4783401"/>
          <a:ext cx="3479741" cy="768349"/>
        </p:xfrm>
        <a:graphic>
          <a:graphicData uri="http://schemas.openxmlformats.org/presentationml/2006/ole">
            <mc:AlternateContent xmlns:mc="http://schemas.openxmlformats.org/markup-compatibility/2006">
              <mc:Choice xmlns:v="urn:schemas-microsoft-com:vml" Requires="v">
                <p:oleObj name="Equation" r:id="rId12" imgW="1955800" imgH="431800" progId="Equation.DSMT4">
                  <p:embed/>
                </p:oleObj>
              </mc:Choice>
              <mc:Fallback>
                <p:oleObj name="Equation" r:id="rId12" imgW="1955800" imgH="431800" progId="Equation.DSMT4">
                  <p:embed/>
                  <p:pic>
                    <p:nvPicPr>
                      <p:cNvPr id="6" name="Object 7"/>
                      <p:cNvPicPr/>
                      <p:nvPr/>
                    </p:nvPicPr>
                    <p:blipFill>
                      <a:blip r:embed="rId13"/>
                      <a:stretch>
                        <a:fillRect/>
                      </a:stretch>
                    </p:blipFill>
                    <p:spPr>
                      <a:xfrm>
                        <a:off x="7293669" y="4783401"/>
                        <a:ext cx="3479741" cy="768349"/>
                      </a:xfrm>
                      <a:prstGeom prst="rect">
                        <a:avLst/>
                      </a:prstGeom>
                      <a:noFill/>
                      <a:ln w="38100">
                        <a:noFill/>
                        <a:miter/>
                      </a:ln>
                    </p:spPr>
                  </p:pic>
                </p:oleObj>
              </mc:Fallback>
            </mc:AlternateContent>
          </a:graphicData>
        </a:graphic>
      </p:graphicFrame>
      <p:cxnSp>
        <p:nvCxnSpPr>
          <p:cNvPr id="11" name="直接箭头连接符 10">
            <a:extLst>
              <a:ext uri="{FF2B5EF4-FFF2-40B4-BE49-F238E27FC236}">
                <a16:creationId xmlns:a16="http://schemas.microsoft.com/office/drawing/2014/main" id="{A945CA4D-E068-23DD-C6AD-2F72853DC9F6}"/>
              </a:ext>
            </a:extLst>
          </p:cNvPr>
          <p:cNvCxnSpPr>
            <a:cxnSpLocks/>
          </p:cNvCxnSpPr>
          <p:nvPr/>
        </p:nvCxnSpPr>
        <p:spPr>
          <a:xfrm>
            <a:off x="4343400" y="3657600"/>
            <a:ext cx="35269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F0562517-E7F8-A364-6661-DEFDF44053EC}"/>
              </a:ext>
            </a:extLst>
          </p:cNvPr>
          <p:cNvSpPr txBox="1"/>
          <p:nvPr/>
        </p:nvSpPr>
        <p:spPr>
          <a:xfrm>
            <a:off x="5430927" y="3740431"/>
            <a:ext cx="1351916" cy="369332"/>
          </a:xfrm>
          <a:prstGeom prst="rect">
            <a:avLst/>
          </a:prstGeom>
          <a:noFill/>
        </p:spPr>
        <p:txBody>
          <a:bodyPr wrap="square">
            <a:spAutoFit/>
          </a:bodyPr>
          <a:lstStyle/>
          <a:p>
            <a:r>
              <a:rPr lang="zh-CN" altLang="en-US" sz="1800" dirty="0"/>
              <a:t>数据标准化</a:t>
            </a:r>
            <a:endParaRPr lang="zh-CN" altLang="en-US" dirty="0"/>
          </a:p>
        </p:txBody>
      </p:sp>
      <p:sp>
        <p:nvSpPr>
          <p:cNvPr id="16" name="文本框 15">
            <a:extLst>
              <a:ext uri="{FF2B5EF4-FFF2-40B4-BE49-F238E27FC236}">
                <a16:creationId xmlns:a16="http://schemas.microsoft.com/office/drawing/2014/main" id="{38859D62-8FDB-7C1F-1751-756CA316A038}"/>
              </a:ext>
            </a:extLst>
          </p:cNvPr>
          <p:cNvSpPr txBox="1"/>
          <p:nvPr/>
        </p:nvSpPr>
        <p:spPr>
          <a:xfrm>
            <a:off x="6386661" y="4982909"/>
            <a:ext cx="907008" cy="369332"/>
          </a:xfrm>
          <a:prstGeom prst="rect">
            <a:avLst/>
          </a:prstGeom>
          <a:noFill/>
        </p:spPr>
        <p:txBody>
          <a:bodyPr wrap="square">
            <a:spAutoFit/>
          </a:bodyPr>
          <a:lstStyle/>
          <a:p>
            <a:r>
              <a:rPr lang="zh-CN" altLang="en-US" dirty="0"/>
              <a:t>均值：</a:t>
            </a:r>
          </a:p>
        </p:txBody>
      </p:sp>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5D28D516-FD9C-ED8E-12B8-36532AAF25E5}"/>
                  </a:ext>
                </a:extLst>
              </p14:cNvPr>
              <p14:cNvContentPartPr/>
              <p14:nvPr/>
            </p14:nvContentPartPr>
            <p14:xfrm>
              <a:off x="5727600" y="3003480"/>
              <a:ext cx="1886400" cy="368640"/>
            </p14:xfrm>
          </p:contentPart>
        </mc:Choice>
        <mc:Fallback xmlns="">
          <p:pic>
            <p:nvPicPr>
              <p:cNvPr id="10" name="墨迹 9">
                <a:extLst>
                  <a:ext uri="{FF2B5EF4-FFF2-40B4-BE49-F238E27FC236}">
                    <a16:creationId xmlns:a16="http://schemas.microsoft.com/office/drawing/2014/main" id="{5D28D516-FD9C-ED8E-12B8-36532AAF25E5}"/>
                  </a:ext>
                </a:extLst>
              </p:cNvPr>
              <p:cNvPicPr/>
              <p:nvPr/>
            </p:nvPicPr>
            <p:blipFill>
              <a:blip r:embed="rId15"/>
              <a:stretch>
                <a:fillRect/>
              </a:stretch>
            </p:blipFill>
            <p:spPr>
              <a:xfrm>
                <a:off x="5718240" y="2994120"/>
                <a:ext cx="1905120" cy="387360"/>
              </a:xfrm>
              <a:prstGeom prst="rect">
                <a:avLst/>
              </a:prstGeom>
            </p:spPr>
          </p:pic>
        </mc:Fallback>
      </mc:AlternateContent>
    </p:spTree>
    <p:extLst>
      <p:ext uri="{BB962C8B-B14F-4D97-AF65-F5344CB8AC3E}">
        <p14:creationId xmlns:p14="http://schemas.microsoft.com/office/powerpoint/2010/main" val="2546206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311413-63FF-4916-5056-0517E498099C}"/>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Times New Roman" panose="02020603050405020304" charset="0"/>
                <a:ea typeface="方正兰亭粗黑简体" panose="02000000000000000000" pitchFamily="2" charset="-122"/>
                <a:cs typeface="Times New Roman" panose="02020603050405020304" charset="0"/>
              </a:rPr>
              <a:t>的方法步骤</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4" name="文本框 3">
            <a:extLst>
              <a:ext uri="{FF2B5EF4-FFF2-40B4-BE49-F238E27FC236}">
                <a16:creationId xmlns:a16="http://schemas.microsoft.com/office/drawing/2014/main" id="{DCA58808-186A-403E-5114-B035FB813A71}"/>
              </a:ext>
            </a:extLst>
          </p:cNvPr>
          <p:cNvSpPr txBox="1"/>
          <p:nvPr/>
        </p:nvSpPr>
        <p:spPr>
          <a:xfrm>
            <a:off x="1219922" y="1480848"/>
            <a:ext cx="7021286" cy="461665"/>
          </a:xfrm>
          <a:prstGeom prst="rect">
            <a:avLst/>
          </a:prstGeom>
          <a:noFill/>
        </p:spPr>
        <p:txBody>
          <a:bodyPr wrap="square">
            <a:spAutoFit/>
          </a:bodyPr>
          <a:lstStyle/>
          <a:p>
            <a:r>
              <a:rPr lang="zh-CN" altLang="en-US" sz="2400" b="1" i="0" dirty="0">
                <a:effectLst/>
                <a:latin typeface="-apple-system"/>
              </a:rPr>
              <a:t>第二步：求协方差矩阵</a:t>
            </a:r>
            <a:r>
              <a:rPr lang="en-US" altLang="zh-CN" sz="2400" b="1" i="0" dirty="0">
                <a:effectLst/>
                <a:latin typeface="-apple-system"/>
              </a:rPr>
              <a:t>C</a:t>
            </a:r>
            <a:endParaRPr lang="zh-CN" altLang="en-US" sz="2400" b="1" i="0" dirty="0">
              <a:effectLst/>
              <a:latin typeface="-apple-system"/>
            </a:endParaRPr>
          </a:p>
        </p:txBody>
      </p:sp>
      <p:sp>
        <p:nvSpPr>
          <p:cNvPr id="9" name="文本框 8">
            <a:extLst>
              <a:ext uri="{FF2B5EF4-FFF2-40B4-BE49-F238E27FC236}">
                <a16:creationId xmlns:a16="http://schemas.microsoft.com/office/drawing/2014/main" id="{A32C1899-628D-4231-6428-F14C5E4FE5E3}"/>
              </a:ext>
            </a:extLst>
          </p:cNvPr>
          <p:cNvSpPr txBox="1"/>
          <p:nvPr/>
        </p:nvSpPr>
        <p:spPr>
          <a:xfrm>
            <a:off x="1219199" y="2134414"/>
            <a:ext cx="1110342" cy="461665"/>
          </a:xfrm>
          <a:prstGeom prst="rect">
            <a:avLst/>
          </a:prstGeom>
          <a:noFill/>
        </p:spPr>
        <p:txBody>
          <a:bodyPr wrap="square">
            <a:spAutoFit/>
          </a:bodyPr>
          <a:lstStyle/>
          <a:p>
            <a:r>
              <a:rPr lang="zh-CN" altLang="en-US" sz="2400" b="1" i="0" dirty="0">
                <a:solidFill>
                  <a:srgbClr val="FF0000"/>
                </a:solidFill>
                <a:effectLst/>
                <a:latin typeface="-apple-system"/>
              </a:rPr>
              <a:t>协方差：</a:t>
            </a:r>
            <a:endParaRPr lang="zh-CN" altLang="en-US" sz="2400" b="1" dirty="0">
              <a:solidFill>
                <a:srgbClr val="FF0000"/>
              </a:solidFill>
            </a:endParaRPr>
          </a:p>
        </p:txBody>
      </p:sp>
      <p:pic>
        <p:nvPicPr>
          <p:cNvPr id="11" name="图片 10">
            <a:extLst>
              <a:ext uri="{FF2B5EF4-FFF2-40B4-BE49-F238E27FC236}">
                <a16:creationId xmlns:a16="http://schemas.microsoft.com/office/drawing/2014/main" id="{13683073-FE03-27ED-286C-8A35D6EB7A25}"/>
              </a:ext>
            </a:extLst>
          </p:cNvPr>
          <p:cNvPicPr>
            <a:picLocks noChangeAspect="1"/>
          </p:cNvPicPr>
          <p:nvPr/>
        </p:nvPicPr>
        <p:blipFill>
          <a:blip r:embed="rId4"/>
          <a:stretch>
            <a:fillRect/>
          </a:stretch>
        </p:blipFill>
        <p:spPr>
          <a:xfrm>
            <a:off x="3065687" y="1919357"/>
            <a:ext cx="4200525" cy="781050"/>
          </a:xfrm>
          <a:prstGeom prst="rect">
            <a:avLst/>
          </a:prstGeom>
        </p:spPr>
      </p:pic>
      <p:sp>
        <p:nvSpPr>
          <p:cNvPr id="13" name="文本框 12">
            <a:extLst>
              <a:ext uri="{FF2B5EF4-FFF2-40B4-BE49-F238E27FC236}">
                <a16:creationId xmlns:a16="http://schemas.microsoft.com/office/drawing/2014/main" id="{C1DC3E71-F722-C7EC-2EB6-2C251ECFE062}"/>
              </a:ext>
            </a:extLst>
          </p:cNvPr>
          <p:cNvSpPr txBox="1"/>
          <p:nvPr/>
        </p:nvSpPr>
        <p:spPr>
          <a:xfrm>
            <a:off x="1219199" y="2695652"/>
            <a:ext cx="10308771" cy="1200329"/>
          </a:xfrm>
          <a:prstGeom prst="rect">
            <a:avLst/>
          </a:prstGeom>
          <a:noFill/>
        </p:spPr>
        <p:txBody>
          <a:bodyPr wrap="square">
            <a:spAutoFit/>
          </a:bodyPr>
          <a:lstStyle/>
          <a:p>
            <a:r>
              <a:rPr lang="zh-CN" altLang="en-US" sz="2400" b="0" i="0" dirty="0">
                <a:solidFill>
                  <a:srgbClr val="40485B"/>
                </a:solidFill>
                <a:effectLst/>
                <a:latin typeface="-apple-system"/>
              </a:rPr>
              <a:t>协方差其意义： </a:t>
            </a:r>
            <a:r>
              <a:rPr lang="zh-CN" altLang="en-US" sz="2400" b="1" i="0" dirty="0">
                <a:solidFill>
                  <a:srgbClr val="40485B"/>
                </a:solidFill>
                <a:effectLst/>
                <a:latin typeface="-apple-system"/>
              </a:rPr>
              <a:t>度量各个维度偏离其均值的程度</a:t>
            </a:r>
            <a:r>
              <a:rPr lang="zh-CN" altLang="en-US" sz="2400" b="0" i="0" dirty="0">
                <a:solidFill>
                  <a:srgbClr val="40485B"/>
                </a:solidFill>
                <a:effectLst/>
                <a:latin typeface="-apple-system"/>
              </a:rPr>
              <a:t>。协方差的值如果为正值，则说明两者是正相关的</a:t>
            </a:r>
            <a:r>
              <a:rPr lang="en-US" altLang="zh-CN" sz="2400" b="0" i="0" dirty="0">
                <a:solidFill>
                  <a:srgbClr val="40485B"/>
                </a:solidFill>
                <a:effectLst/>
                <a:latin typeface="-apple-system"/>
              </a:rPr>
              <a:t>(</a:t>
            </a:r>
            <a:r>
              <a:rPr lang="zh-CN" altLang="en-US" sz="2400" b="0" i="0" dirty="0">
                <a:solidFill>
                  <a:srgbClr val="40485B"/>
                </a:solidFill>
                <a:effectLst/>
                <a:latin typeface="-apple-system"/>
              </a:rPr>
              <a:t>从协方差可以引出“相关系数”的定义</a:t>
            </a:r>
            <a:r>
              <a:rPr lang="en-US" altLang="zh-CN" sz="2400" b="0" i="0" dirty="0">
                <a:solidFill>
                  <a:srgbClr val="40485B"/>
                </a:solidFill>
                <a:effectLst/>
                <a:latin typeface="-apple-system"/>
              </a:rPr>
              <a:t>)</a:t>
            </a:r>
            <a:r>
              <a:rPr lang="zh-CN" altLang="en-US" sz="2400" b="0" i="0" dirty="0">
                <a:solidFill>
                  <a:srgbClr val="40485B"/>
                </a:solidFill>
                <a:effectLst/>
                <a:latin typeface="-apple-system"/>
              </a:rPr>
              <a:t>，结果为负值就说明负相关的，如果为</a:t>
            </a:r>
            <a:r>
              <a:rPr lang="en-US" altLang="zh-CN" sz="2400" b="0" i="0" dirty="0">
                <a:solidFill>
                  <a:srgbClr val="40485B"/>
                </a:solidFill>
                <a:effectLst/>
                <a:latin typeface="-apple-system"/>
              </a:rPr>
              <a:t>0</a:t>
            </a:r>
            <a:r>
              <a:rPr lang="zh-CN" altLang="en-US" sz="2400" b="0" i="0" dirty="0">
                <a:solidFill>
                  <a:srgbClr val="40485B"/>
                </a:solidFill>
                <a:effectLst/>
                <a:latin typeface="-apple-system"/>
              </a:rPr>
              <a:t>，也是就是统计上说的“相互独立”。</a:t>
            </a:r>
            <a:endParaRPr lang="zh-CN" altLang="en-US" sz="2400" dirty="0"/>
          </a:p>
        </p:txBody>
      </p:sp>
      <p:sp>
        <p:nvSpPr>
          <p:cNvPr id="15" name="文本框 14">
            <a:extLst>
              <a:ext uri="{FF2B5EF4-FFF2-40B4-BE49-F238E27FC236}">
                <a16:creationId xmlns:a16="http://schemas.microsoft.com/office/drawing/2014/main" id="{194E9734-4032-6842-C1D9-6584473D0FE5}"/>
              </a:ext>
            </a:extLst>
          </p:cNvPr>
          <p:cNvSpPr txBox="1"/>
          <p:nvPr/>
        </p:nvSpPr>
        <p:spPr>
          <a:xfrm>
            <a:off x="1219199" y="4193060"/>
            <a:ext cx="2090057" cy="461665"/>
          </a:xfrm>
          <a:prstGeom prst="rect">
            <a:avLst/>
          </a:prstGeom>
          <a:noFill/>
        </p:spPr>
        <p:txBody>
          <a:bodyPr wrap="square">
            <a:spAutoFit/>
          </a:bodyPr>
          <a:lstStyle/>
          <a:p>
            <a:r>
              <a:rPr lang="zh-CN" altLang="en-US" sz="2400" b="1" i="0" dirty="0">
                <a:solidFill>
                  <a:srgbClr val="FF0000"/>
                </a:solidFill>
                <a:effectLst/>
                <a:latin typeface="-apple-system"/>
              </a:rPr>
              <a:t>协方差矩阵：</a:t>
            </a:r>
            <a:endParaRPr lang="zh-CN" altLang="en-US" sz="2400" b="1" dirty="0">
              <a:solidFill>
                <a:srgbClr val="FF0000"/>
              </a:solidFill>
            </a:endParaRPr>
          </a:p>
        </p:txBody>
      </p:sp>
      <p:pic>
        <p:nvPicPr>
          <p:cNvPr id="17" name="图片 16">
            <a:extLst>
              <a:ext uri="{FF2B5EF4-FFF2-40B4-BE49-F238E27FC236}">
                <a16:creationId xmlns:a16="http://schemas.microsoft.com/office/drawing/2014/main" id="{581BF56D-3686-20FE-CA30-E811351E9AE0}"/>
              </a:ext>
            </a:extLst>
          </p:cNvPr>
          <p:cNvPicPr>
            <a:picLocks noChangeAspect="1"/>
          </p:cNvPicPr>
          <p:nvPr/>
        </p:nvPicPr>
        <p:blipFill>
          <a:blip r:embed="rId5"/>
          <a:stretch>
            <a:fillRect/>
          </a:stretch>
        </p:blipFill>
        <p:spPr>
          <a:xfrm>
            <a:off x="3065687" y="4083026"/>
            <a:ext cx="4438650" cy="1390650"/>
          </a:xfrm>
          <a:prstGeom prst="rect">
            <a:avLst/>
          </a:prstGeom>
        </p:spPr>
      </p:pic>
      <p:sp>
        <p:nvSpPr>
          <p:cNvPr id="19" name="文本框 18">
            <a:extLst>
              <a:ext uri="{FF2B5EF4-FFF2-40B4-BE49-F238E27FC236}">
                <a16:creationId xmlns:a16="http://schemas.microsoft.com/office/drawing/2014/main" id="{A911BB8B-82E9-ACA2-4E16-3637302AA8FA}"/>
              </a:ext>
            </a:extLst>
          </p:cNvPr>
          <p:cNvSpPr txBox="1"/>
          <p:nvPr/>
        </p:nvSpPr>
        <p:spPr>
          <a:xfrm>
            <a:off x="1241694" y="5660721"/>
            <a:ext cx="7368906" cy="461665"/>
          </a:xfrm>
          <a:prstGeom prst="rect">
            <a:avLst/>
          </a:prstGeom>
          <a:noFill/>
        </p:spPr>
        <p:txBody>
          <a:bodyPr wrap="square">
            <a:spAutoFit/>
          </a:bodyPr>
          <a:lstStyle/>
          <a:p>
            <a:r>
              <a:rPr lang="zh-CN" altLang="en-US" sz="2400" b="0" i="0" dirty="0">
                <a:solidFill>
                  <a:srgbClr val="40485B"/>
                </a:solidFill>
                <a:effectLst/>
                <a:latin typeface="-apple-system"/>
              </a:rPr>
              <a:t>从协方差矩阵上，可以得到变量之间两两的相关性</a:t>
            </a:r>
            <a:endParaRPr lang="zh-CN" altLang="en-US" sz="2400" dirty="0"/>
          </a:p>
        </p:txBody>
      </p:sp>
    </p:spTree>
    <p:extLst>
      <p:ext uri="{BB962C8B-B14F-4D97-AF65-F5344CB8AC3E}">
        <p14:creationId xmlns:p14="http://schemas.microsoft.com/office/powerpoint/2010/main" val="116255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构造协方差矩阵</a:t>
            </a:r>
          </a:p>
        </p:txBody>
      </p:sp>
      <p:sp>
        <p:nvSpPr>
          <p:cNvPr id="9" name="文本框 8"/>
          <p:cNvSpPr txBox="1"/>
          <p:nvPr/>
        </p:nvSpPr>
        <p:spPr>
          <a:xfrm>
            <a:off x="775335" y="1626235"/>
            <a:ext cx="3371850" cy="460375"/>
          </a:xfrm>
          <a:prstGeom prst="rect">
            <a:avLst/>
          </a:prstGeom>
          <a:noFill/>
        </p:spPr>
        <p:txBody>
          <a:bodyPr wrap="square" rtlCol="0">
            <a:spAutoFit/>
          </a:bodyPr>
          <a:lstStyle/>
          <a:p>
            <a:r>
              <a:rPr lang="en-US" altLang="zh-CN" sz="2400" dirty="0"/>
              <a:t>2. </a:t>
            </a:r>
            <a:r>
              <a:rPr lang="zh-CN" altLang="en-US" sz="2400" dirty="0"/>
              <a:t>构造协方差矩阵</a:t>
            </a:r>
          </a:p>
        </p:txBody>
      </p:sp>
      <p:sp>
        <p:nvSpPr>
          <p:cNvPr id="3" name="文本框 2"/>
          <p:cNvSpPr txBox="1"/>
          <p:nvPr/>
        </p:nvSpPr>
        <p:spPr>
          <a:xfrm>
            <a:off x="1101090" y="2375535"/>
            <a:ext cx="4841240" cy="568960"/>
          </a:xfrm>
          <a:prstGeom prst="rect">
            <a:avLst/>
          </a:prstGeom>
          <a:noFill/>
        </p:spPr>
        <p:txBody>
          <a:bodyPr wrap="square" rtlCol="0">
            <a:noAutofit/>
          </a:bodyPr>
          <a:lstStyle/>
          <a:p>
            <a:r>
              <a:rPr lang="en-US" altLang="zh-CN" sz="2400" dirty="0">
                <a:latin typeface="Times New Roman" panose="02020603050405020304" charset="0"/>
                <a:cs typeface="Times New Roman" panose="02020603050405020304" charset="0"/>
              </a:rPr>
              <a:t>D(X-Y)=D(X)+D(Y)-2cov(X,Y)</a:t>
            </a:r>
          </a:p>
        </p:txBody>
      </p:sp>
      <p:graphicFrame>
        <p:nvGraphicFramePr>
          <p:cNvPr id="5" name="对象 4">
            <a:hlinkClick r:id="" action="ppaction://ole?verb=0"/>
          </p:cNvPr>
          <p:cNvGraphicFramePr>
            <a:graphicFrameLocks noChangeAspect="1"/>
          </p:cNvGraphicFramePr>
          <p:nvPr/>
        </p:nvGraphicFramePr>
        <p:xfrm>
          <a:off x="1100138" y="2944813"/>
          <a:ext cx="6837362" cy="3211512"/>
        </p:xfrm>
        <a:graphic>
          <a:graphicData uri="http://schemas.openxmlformats.org/presentationml/2006/ole">
            <mc:AlternateContent xmlns:mc="http://schemas.openxmlformats.org/markup-compatibility/2006">
              <mc:Choice xmlns:v="urn:schemas-microsoft-com:vml" Requires="v">
                <p:oleObj name="Equation" r:id="rId5" imgW="4356100" imgH="2044700" progId="Equation.DSMT4">
                  <p:embed/>
                </p:oleObj>
              </mc:Choice>
              <mc:Fallback>
                <p:oleObj name="Equation" r:id="rId5" imgW="4356100" imgH="2044700" progId="Equation.DSMT4">
                  <p:embed/>
                  <p:pic>
                    <p:nvPicPr>
                      <p:cNvPr id="0" name="图片 1024"/>
                      <p:cNvPicPr/>
                      <p:nvPr/>
                    </p:nvPicPr>
                    <p:blipFill>
                      <a:blip r:embed="rId6"/>
                      <a:stretch>
                        <a:fillRect/>
                      </a:stretch>
                    </p:blipFill>
                    <p:spPr>
                      <a:xfrm>
                        <a:off x="1100138" y="2944813"/>
                        <a:ext cx="6837362" cy="3211512"/>
                      </a:xfrm>
                      <a:prstGeom prst="rect">
                        <a:avLst/>
                      </a:prstGeom>
                    </p:spPr>
                  </p:pic>
                </p:oleObj>
              </mc:Fallback>
            </mc:AlternateContent>
          </a:graphicData>
        </a:graphic>
      </p:graphicFrame>
      <p:graphicFrame>
        <p:nvGraphicFramePr>
          <p:cNvPr id="2" name="Object 9"/>
          <p:cNvGraphicFramePr>
            <a:graphicFrameLocks noChangeAspect="1"/>
          </p:cNvGraphicFramePr>
          <p:nvPr>
            <p:custDataLst>
              <p:tags r:id="rId2"/>
            </p:custDataLst>
            <p:extLst>
              <p:ext uri="{D42A27DB-BD31-4B8C-83A1-F6EECF244321}">
                <p14:modId xmlns:p14="http://schemas.microsoft.com/office/powerpoint/2010/main" val="3044313394"/>
              </p:ext>
            </p:extLst>
          </p:nvPr>
        </p:nvGraphicFramePr>
        <p:xfrm>
          <a:off x="8240532" y="5257165"/>
          <a:ext cx="3044190" cy="899160"/>
        </p:xfrm>
        <a:graphic>
          <a:graphicData uri="http://schemas.openxmlformats.org/presentationml/2006/ole">
            <mc:AlternateContent xmlns:mc="http://schemas.openxmlformats.org/markup-compatibility/2006">
              <mc:Choice xmlns:v="urn:schemas-microsoft-com:vml" Requires="v">
                <p:oleObj r:id="rId7" imgW="1548765" imgH="457200" progId="Equation.KSEE3">
                  <p:embed/>
                </p:oleObj>
              </mc:Choice>
              <mc:Fallback>
                <p:oleObj r:id="rId7" imgW="1548765" imgH="457200" progId="Equation.KSEE3">
                  <p:embed/>
                  <p:pic>
                    <p:nvPicPr>
                      <p:cNvPr id="0" name="图片 3075"/>
                      <p:cNvPicPr/>
                      <p:nvPr/>
                    </p:nvPicPr>
                    <p:blipFill>
                      <a:blip r:embed="rId8"/>
                      <a:stretch>
                        <a:fillRect/>
                      </a:stretch>
                    </p:blipFill>
                    <p:spPr>
                      <a:xfrm>
                        <a:off x="8240532" y="5257165"/>
                        <a:ext cx="3044190" cy="899160"/>
                      </a:xfrm>
                      <a:prstGeom prst="rect">
                        <a:avLst/>
                      </a:prstGeom>
                      <a:noFill/>
                      <a:ln w="38100">
                        <a:noFill/>
                        <a:miter/>
                      </a:ln>
                    </p:spPr>
                  </p:pic>
                </p:oleObj>
              </mc:Fallback>
            </mc:AlternateContent>
          </a:graphicData>
        </a:graphic>
      </p:graphicFrame>
      <p:sp>
        <p:nvSpPr>
          <p:cNvPr id="4" name="矩形 3">
            <a:extLst>
              <a:ext uri="{FF2B5EF4-FFF2-40B4-BE49-F238E27FC236}">
                <a16:creationId xmlns:a16="http://schemas.microsoft.com/office/drawing/2014/main" id="{1C7C3D76-937D-78CC-135B-B841FED916E7}"/>
              </a:ext>
            </a:extLst>
          </p:cNvPr>
          <p:cNvSpPr/>
          <p:nvPr/>
        </p:nvSpPr>
        <p:spPr>
          <a:xfrm>
            <a:off x="8053569" y="5087710"/>
            <a:ext cx="3418115" cy="123806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构造协方差矩阵</a:t>
            </a:r>
          </a:p>
        </p:txBody>
      </p:sp>
      <p:sp>
        <p:nvSpPr>
          <p:cNvPr id="9" name="文本框 8"/>
          <p:cNvSpPr txBox="1"/>
          <p:nvPr/>
        </p:nvSpPr>
        <p:spPr>
          <a:xfrm>
            <a:off x="775335" y="1626235"/>
            <a:ext cx="3371850" cy="460375"/>
          </a:xfrm>
          <a:prstGeom prst="rect">
            <a:avLst/>
          </a:prstGeom>
          <a:noFill/>
        </p:spPr>
        <p:txBody>
          <a:bodyPr wrap="square" rtlCol="0">
            <a:spAutoFit/>
          </a:bodyPr>
          <a:lstStyle/>
          <a:p>
            <a:r>
              <a:rPr lang="en-US" altLang="zh-CN" sz="2400"/>
              <a:t>2. </a:t>
            </a:r>
            <a:r>
              <a:rPr lang="zh-CN" altLang="en-US" sz="2400"/>
              <a:t>构造协方差矩阵</a:t>
            </a:r>
          </a:p>
        </p:txBody>
      </p:sp>
      <p:graphicFrame>
        <p:nvGraphicFramePr>
          <p:cNvPr id="2" name="Object 91"/>
          <p:cNvGraphicFramePr>
            <a:graphicFrameLocks noChangeAspect="1"/>
          </p:cNvGraphicFramePr>
          <p:nvPr>
            <p:extLst>
              <p:ext uri="{D42A27DB-BD31-4B8C-83A1-F6EECF244321}">
                <p14:modId xmlns:p14="http://schemas.microsoft.com/office/powerpoint/2010/main" val="2003015088"/>
              </p:ext>
            </p:extLst>
          </p:nvPr>
        </p:nvGraphicFramePr>
        <p:xfrm>
          <a:off x="2461260" y="2445821"/>
          <a:ext cx="6955790" cy="1597025"/>
        </p:xfrm>
        <a:graphic>
          <a:graphicData uri="http://schemas.openxmlformats.org/presentationml/2006/ole">
            <mc:AlternateContent xmlns:mc="http://schemas.openxmlformats.org/markup-compatibility/2006">
              <mc:Choice xmlns:v="urn:schemas-microsoft-com:vml" Requires="v">
                <p:oleObj r:id="rId4" imgW="4038600" imgH="927100" progId="Equation.KSEE3">
                  <p:embed/>
                </p:oleObj>
              </mc:Choice>
              <mc:Fallback>
                <p:oleObj r:id="rId4" imgW="4038600" imgH="927100" progId="Equation.KSEE3">
                  <p:embed/>
                  <p:pic>
                    <p:nvPicPr>
                      <p:cNvPr id="0" name="图片 3"/>
                      <p:cNvPicPr/>
                      <p:nvPr/>
                    </p:nvPicPr>
                    <p:blipFill>
                      <a:blip r:embed="rId5"/>
                      <a:stretch>
                        <a:fillRect/>
                      </a:stretch>
                    </p:blipFill>
                    <p:spPr>
                      <a:xfrm>
                        <a:off x="2461260" y="2445821"/>
                        <a:ext cx="6955790" cy="1597025"/>
                      </a:xfrm>
                      <a:prstGeom prst="rect">
                        <a:avLst/>
                      </a:prstGeom>
                      <a:noFill/>
                      <a:ln w="38100">
                        <a:noFill/>
                        <a:miter/>
                      </a:ln>
                    </p:spPr>
                  </p:pic>
                </p:oleObj>
              </mc:Fallback>
            </mc:AlternateContent>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val="2371919348"/>
              </p:ext>
            </p:extLst>
          </p:nvPr>
        </p:nvGraphicFramePr>
        <p:xfrm>
          <a:off x="2461260" y="4408958"/>
          <a:ext cx="5690235" cy="1951990"/>
        </p:xfrm>
        <a:graphic>
          <a:graphicData uri="http://schemas.openxmlformats.org/presentationml/2006/ole">
            <mc:AlternateContent xmlns:mc="http://schemas.openxmlformats.org/markup-compatibility/2006">
              <mc:Choice xmlns:v="urn:schemas-microsoft-com:vml" Requires="v">
                <p:oleObj r:id="rId6" imgW="3517265" imgH="1397000" progId="Equation.KSEE3">
                  <p:embed/>
                </p:oleObj>
              </mc:Choice>
              <mc:Fallback>
                <p:oleObj r:id="rId6" imgW="3517265" imgH="1397000" progId="Equation.KSEE3">
                  <p:embed/>
                  <p:pic>
                    <p:nvPicPr>
                      <p:cNvPr id="0" name="图片 9"/>
                      <p:cNvPicPr/>
                      <p:nvPr/>
                    </p:nvPicPr>
                    <p:blipFill>
                      <a:blip r:embed="rId7"/>
                      <a:stretch>
                        <a:fillRect/>
                      </a:stretch>
                    </p:blipFill>
                    <p:spPr>
                      <a:xfrm>
                        <a:off x="2461260" y="4408958"/>
                        <a:ext cx="5690235" cy="1951990"/>
                      </a:xfrm>
                      <a:prstGeom prst="rect">
                        <a:avLst/>
                      </a:prstGeom>
                      <a:noFill/>
                      <a:ln w="38100">
                        <a:noFill/>
                        <a:miter/>
                      </a:ln>
                    </p:spPr>
                  </p:pic>
                </p:oleObj>
              </mc:Fallback>
            </mc:AlternateContent>
          </a:graphicData>
        </a:graphic>
      </p:graphicFrame>
      <p:sp>
        <p:nvSpPr>
          <p:cNvPr id="4" name="文本框 3">
            <a:extLst>
              <a:ext uri="{FF2B5EF4-FFF2-40B4-BE49-F238E27FC236}">
                <a16:creationId xmlns:a16="http://schemas.microsoft.com/office/drawing/2014/main" id="{9E131CBE-8A1A-5AC5-41A7-E4CB3B92B5CB}"/>
              </a:ext>
            </a:extLst>
          </p:cNvPr>
          <p:cNvSpPr txBox="1"/>
          <p:nvPr/>
        </p:nvSpPr>
        <p:spPr>
          <a:xfrm>
            <a:off x="883827" y="5200287"/>
            <a:ext cx="1447800" cy="369332"/>
          </a:xfrm>
          <a:prstGeom prst="rect">
            <a:avLst/>
          </a:prstGeom>
          <a:noFill/>
        </p:spPr>
        <p:txBody>
          <a:bodyPr wrap="square">
            <a:spAutoFit/>
          </a:bodyPr>
          <a:lstStyle/>
          <a:p>
            <a:r>
              <a:rPr lang="zh-CN" altLang="en-US" dirty="0"/>
              <a:t>协方差矩阵</a:t>
            </a:r>
            <a:r>
              <a:rPr lang="en-US" altLang="zh-CN" dirty="0"/>
              <a:t>:</a:t>
            </a:r>
            <a:endParaRPr lang="zh-CN" altLang="en-US" dirty="0"/>
          </a:p>
        </p:txBody>
      </p:sp>
      <p:sp>
        <p:nvSpPr>
          <p:cNvPr id="5" name="文本框 4">
            <a:extLst>
              <a:ext uri="{FF2B5EF4-FFF2-40B4-BE49-F238E27FC236}">
                <a16:creationId xmlns:a16="http://schemas.microsoft.com/office/drawing/2014/main" id="{91C3C4B5-E2E6-9C09-54F6-28905EC33C26}"/>
              </a:ext>
            </a:extLst>
          </p:cNvPr>
          <p:cNvSpPr txBox="1"/>
          <p:nvPr/>
        </p:nvSpPr>
        <p:spPr>
          <a:xfrm>
            <a:off x="883827" y="3059668"/>
            <a:ext cx="1447800" cy="369332"/>
          </a:xfrm>
          <a:prstGeom prst="rect">
            <a:avLst/>
          </a:prstGeom>
          <a:noFill/>
        </p:spPr>
        <p:txBody>
          <a:bodyPr wrap="square">
            <a:spAutoFit/>
          </a:bodyPr>
          <a:lstStyle/>
          <a:p>
            <a:r>
              <a:rPr lang="zh-CN" altLang="en-US" dirty="0"/>
              <a:t>相关系数</a:t>
            </a:r>
            <a:r>
              <a:rPr lang="en-US" altLang="zh-CN" dirty="0"/>
              <a:t>:</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311413-63FF-4916-5056-0517E498099C}"/>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Times New Roman" panose="02020603050405020304" charset="0"/>
                <a:ea typeface="方正兰亭粗黑简体" panose="02000000000000000000" pitchFamily="2" charset="-122"/>
                <a:cs typeface="Times New Roman" panose="02020603050405020304" charset="0"/>
              </a:rPr>
              <a:t>的方法步骤 </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4" name="文本框 3">
            <a:extLst>
              <a:ext uri="{FF2B5EF4-FFF2-40B4-BE49-F238E27FC236}">
                <a16:creationId xmlns:a16="http://schemas.microsoft.com/office/drawing/2014/main" id="{DCA58808-186A-403E-5114-B035FB813A71}"/>
              </a:ext>
            </a:extLst>
          </p:cNvPr>
          <p:cNvSpPr txBox="1"/>
          <p:nvPr/>
        </p:nvSpPr>
        <p:spPr>
          <a:xfrm>
            <a:off x="1361440" y="1480848"/>
            <a:ext cx="9411970" cy="461665"/>
          </a:xfrm>
          <a:prstGeom prst="rect">
            <a:avLst/>
          </a:prstGeom>
          <a:noFill/>
        </p:spPr>
        <p:txBody>
          <a:bodyPr wrap="square">
            <a:spAutoFit/>
          </a:bodyPr>
          <a:lstStyle/>
          <a:p>
            <a:r>
              <a:rPr lang="zh-CN" altLang="en-US" sz="2400" b="1" i="0" dirty="0">
                <a:effectLst/>
                <a:latin typeface="-apple-system"/>
              </a:rPr>
              <a:t>第三步：求协方差矩阵</a:t>
            </a:r>
            <a:r>
              <a:rPr lang="en-US" altLang="zh-CN" sz="2400" b="1" i="0" dirty="0">
                <a:effectLst/>
                <a:latin typeface="-apple-system"/>
              </a:rPr>
              <a:t>C</a:t>
            </a:r>
            <a:r>
              <a:rPr lang="zh-CN" altLang="en-US" sz="2400" b="1" i="0" dirty="0">
                <a:effectLst/>
                <a:latin typeface="-apple-system"/>
              </a:rPr>
              <a:t>的所有特征值和各特征值对应的特征向量</a:t>
            </a:r>
          </a:p>
        </p:txBody>
      </p:sp>
      <p:sp>
        <p:nvSpPr>
          <p:cNvPr id="5" name="文本框 4">
            <a:extLst>
              <a:ext uri="{FF2B5EF4-FFF2-40B4-BE49-F238E27FC236}">
                <a16:creationId xmlns:a16="http://schemas.microsoft.com/office/drawing/2014/main" id="{5E44FA03-F91A-D9AD-8C3F-72419E9E7CB1}"/>
              </a:ext>
            </a:extLst>
          </p:cNvPr>
          <p:cNvSpPr txBox="1"/>
          <p:nvPr/>
        </p:nvSpPr>
        <p:spPr>
          <a:xfrm>
            <a:off x="1361440" y="2086051"/>
            <a:ext cx="6096000" cy="461665"/>
          </a:xfrm>
          <a:prstGeom prst="rect">
            <a:avLst/>
          </a:prstGeom>
          <a:noFill/>
        </p:spPr>
        <p:txBody>
          <a:bodyPr wrap="square">
            <a:spAutoFit/>
          </a:bodyPr>
          <a:lstStyle/>
          <a:p>
            <a:r>
              <a:rPr lang="zh-CN" altLang="en-US" sz="2400" b="0" i="0" dirty="0">
                <a:solidFill>
                  <a:srgbClr val="40485B"/>
                </a:solidFill>
                <a:effectLst/>
                <a:latin typeface="-apple-system"/>
              </a:rPr>
              <a:t>由</a:t>
            </a:r>
            <a:r>
              <a:rPr lang="zh-CN" altLang="en-US" sz="2400" b="0" i="0" dirty="0">
                <a:solidFill>
                  <a:srgbClr val="FF0000"/>
                </a:solidFill>
                <a:effectLst/>
                <a:latin typeface="-apple-system"/>
              </a:rPr>
              <a:t>矩阵特征值特征向量</a:t>
            </a:r>
            <a:r>
              <a:rPr lang="zh-CN" altLang="en-US" sz="2400" b="0" i="0" dirty="0">
                <a:solidFill>
                  <a:srgbClr val="40485B"/>
                </a:solidFill>
                <a:effectLst/>
                <a:latin typeface="-apple-system"/>
              </a:rPr>
              <a:t>的定义：</a:t>
            </a:r>
            <a:endParaRPr lang="zh-CN" altLang="en-US" sz="2400" dirty="0"/>
          </a:p>
        </p:txBody>
      </p:sp>
      <p:pic>
        <p:nvPicPr>
          <p:cNvPr id="7" name="图片 6">
            <a:extLst>
              <a:ext uri="{FF2B5EF4-FFF2-40B4-BE49-F238E27FC236}">
                <a16:creationId xmlns:a16="http://schemas.microsoft.com/office/drawing/2014/main" id="{2B7F9756-5BD7-99AE-7112-35D39E5E407B}"/>
              </a:ext>
            </a:extLst>
          </p:cNvPr>
          <p:cNvPicPr>
            <a:picLocks noChangeAspect="1"/>
          </p:cNvPicPr>
          <p:nvPr/>
        </p:nvPicPr>
        <p:blipFill>
          <a:blip r:embed="rId5"/>
          <a:stretch>
            <a:fillRect/>
          </a:stretch>
        </p:blipFill>
        <p:spPr>
          <a:xfrm>
            <a:off x="5362575" y="2518011"/>
            <a:ext cx="1466850" cy="781050"/>
          </a:xfrm>
          <a:prstGeom prst="rect">
            <a:avLst/>
          </a:prstGeom>
        </p:spPr>
      </p:pic>
      <p:sp>
        <p:nvSpPr>
          <p:cNvPr id="16" name="文本框 15">
            <a:extLst>
              <a:ext uri="{FF2B5EF4-FFF2-40B4-BE49-F238E27FC236}">
                <a16:creationId xmlns:a16="http://schemas.microsoft.com/office/drawing/2014/main" id="{959B0DA8-7266-EBC2-0210-9B31D8DA2F77}"/>
              </a:ext>
            </a:extLst>
          </p:cNvPr>
          <p:cNvSpPr txBox="1"/>
          <p:nvPr/>
        </p:nvSpPr>
        <p:spPr>
          <a:xfrm>
            <a:off x="1383936" y="3071776"/>
            <a:ext cx="8837750" cy="400110"/>
          </a:xfrm>
          <a:prstGeom prst="rect">
            <a:avLst/>
          </a:prstGeom>
          <a:noFill/>
        </p:spPr>
        <p:txBody>
          <a:bodyPr wrap="square">
            <a:spAutoFit/>
          </a:bodyPr>
          <a:lstStyle/>
          <a:p>
            <a:r>
              <a:rPr lang="zh-CN" altLang="en-US" sz="2000" b="0" i="0" dirty="0">
                <a:solidFill>
                  <a:srgbClr val="40485B"/>
                </a:solidFill>
                <a:effectLst/>
                <a:latin typeface="-apple-system"/>
              </a:rPr>
              <a:t>其中，</a:t>
            </a:r>
            <a:r>
              <a:rPr lang="el-GR" altLang="zh-CN" sz="2000" b="1" i="0" dirty="0">
                <a:solidFill>
                  <a:srgbClr val="40485B"/>
                </a:solidFill>
                <a:effectLst/>
                <a:latin typeface="MathJax_Math-italic"/>
              </a:rPr>
              <a:t>λ</a:t>
            </a:r>
            <a:r>
              <a:rPr lang="zh-CN" altLang="en-US" sz="2000" b="1" i="0" dirty="0">
                <a:solidFill>
                  <a:srgbClr val="40485B"/>
                </a:solidFill>
                <a:effectLst/>
                <a:latin typeface="-apple-system"/>
              </a:rPr>
              <a:t>是特征向量</a:t>
            </a:r>
            <a:r>
              <a:rPr lang="en-US" altLang="zh-CN" sz="2000" b="1" i="0" dirty="0">
                <a:solidFill>
                  <a:srgbClr val="40485B"/>
                </a:solidFill>
                <a:effectLst/>
                <a:latin typeface="MathJax_Math-italic"/>
              </a:rPr>
              <a:t>v</a:t>
            </a:r>
            <a:r>
              <a:rPr lang="zh-CN" altLang="en-US" sz="2000" b="1" i="0" dirty="0">
                <a:solidFill>
                  <a:srgbClr val="40485B"/>
                </a:solidFill>
                <a:effectLst/>
                <a:latin typeface="-apple-system"/>
              </a:rPr>
              <a:t>对应的特征值</a:t>
            </a:r>
            <a:r>
              <a:rPr lang="zh-CN" altLang="en-US" sz="2000" b="0" i="0" dirty="0">
                <a:solidFill>
                  <a:srgbClr val="40485B"/>
                </a:solidFill>
                <a:effectLst/>
                <a:latin typeface="-apple-system"/>
              </a:rPr>
              <a:t>，一个矩阵的一组特征向量是一组正交向量。</a:t>
            </a:r>
            <a:endParaRPr lang="zh-CN" altLang="en-US" sz="2000" dirty="0"/>
          </a:p>
        </p:txBody>
      </p:sp>
      <p:sp>
        <p:nvSpPr>
          <p:cNvPr id="22" name="文本框 21">
            <a:extLst>
              <a:ext uri="{FF2B5EF4-FFF2-40B4-BE49-F238E27FC236}">
                <a16:creationId xmlns:a16="http://schemas.microsoft.com/office/drawing/2014/main" id="{F8A27BFC-BA92-0BD9-A96C-DF98A451960C}"/>
              </a:ext>
            </a:extLst>
          </p:cNvPr>
          <p:cNvSpPr txBox="1"/>
          <p:nvPr/>
        </p:nvSpPr>
        <p:spPr>
          <a:xfrm>
            <a:off x="1394822" y="3752873"/>
            <a:ext cx="6096000" cy="400110"/>
          </a:xfrm>
          <a:prstGeom prst="rect">
            <a:avLst/>
          </a:prstGeom>
          <a:noFill/>
        </p:spPr>
        <p:txBody>
          <a:bodyPr wrap="square">
            <a:spAutoFit/>
          </a:bodyPr>
          <a:lstStyle/>
          <a:p>
            <a:r>
              <a:rPr lang="zh-CN" altLang="en-US" sz="2000" b="1" i="0" dirty="0">
                <a:solidFill>
                  <a:srgbClr val="40485B"/>
                </a:solidFill>
                <a:effectLst/>
                <a:latin typeface="-apple-system"/>
              </a:rPr>
              <a:t>特征值分解矩阵：</a:t>
            </a:r>
            <a:endParaRPr lang="zh-CN" altLang="en-US" sz="2000" b="1" dirty="0"/>
          </a:p>
        </p:txBody>
      </p:sp>
      <p:sp>
        <p:nvSpPr>
          <p:cNvPr id="28" name="文本框 27">
            <a:extLst>
              <a:ext uri="{FF2B5EF4-FFF2-40B4-BE49-F238E27FC236}">
                <a16:creationId xmlns:a16="http://schemas.microsoft.com/office/drawing/2014/main" id="{4A77FEED-0641-E477-D958-4DD24378EE48}"/>
              </a:ext>
            </a:extLst>
          </p:cNvPr>
          <p:cNvSpPr txBox="1"/>
          <p:nvPr/>
        </p:nvSpPr>
        <p:spPr>
          <a:xfrm>
            <a:off x="1383936" y="4184637"/>
            <a:ext cx="8837750" cy="1200329"/>
          </a:xfrm>
          <a:prstGeom prst="rect">
            <a:avLst/>
          </a:prstGeom>
          <a:noFill/>
        </p:spPr>
        <p:txBody>
          <a:bodyPr wrap="square">
            <a:spAutoFit/>
          </a:bodyPr>
          <a:lstStyle/>
          <a:p>
            <a:r>
              <a:rPr lang="zh-CN" altLang="en-US" sz="2400" b="0" i="0" dirty="0">
                <a:solidFill>
                  <a:srgbClr val="40485B"/>
                </a:solidFill>
                <a:effectLst/>
                <a:latin typeface="-apple-system"/>
              </a:rPr>
              <a:t>对于矩阵</a:t>
            </a:r>
            <a:r>
              <a:rPr lang="en-US" altLang="zh-CN" sz="2400" b="0" i="0" dirty="0">
                <a:solidFill>
                  <a:srgbClr val="40485B"/>
                </a:solidFill>
                <a:effectLst/>
                <a:latin typeface="MathJax_Math-italic"/>
              </a:rPr>
              <a:t>C</a:t>
            </a:r>
            <a:r>
              <a:rPr lang="zh-CN" altLang="en-US" sz="2400" b="0" i="0" dirty="0">
                <a:solidFill>
                  <a:srgbClr val="40485B"/>
                </a:solidFill>
                <a:effectLst/>
                <a:latin typeface="MathJax_Math-italic"/>
              </a:rPr>
              <a:t>，</a:t>
            </a:r>
            <a:r>
              <a:rPr lang="zh-CN" altLang="en-US" sz="2400" b="0" i="0" dirty="0">
                <a:solidFill>
                  <a:srgbClr val="40485B"/>
                </a:solidFill>
                <a:effectLst/>
                <a:latin typeface="-apple-system"/>
              </a:rPr>
              <a:t>有一组特征向量</a:t>
            </a:r>
            <a:r>
              <a:rPr lang="en-US" altLang="zh-CN" sz="2400" b="0" i="0" dirty="0">
                <a:solidFill>
                  <a:srgbClr val="40485B"/>
                </a:solidFill>
                <a:effectLst/>
                <a:latin typeface="-apple-system"/>
              </a:rPr>
              <a:t>V</a:t>
            </a:r>
            <a:r>
              <a:rPr lang="zh-CN" altLang="en-US" sz="2400" b="0" i="0" dirty="0">
                <a:solidFill>
                  <a:srgbClr val="40485B"/>
                </a:solidFill>
                <a:effectLst/>
                <a:latin typeface="-apple-system"/>
              </a:rPr>
              <a:t>，将这组向量进行正交化单位化，就能得到一组正交单位向量。特征值分解，就是将矩阵</a:t>
            </a:r>
            <a:r>
              <a:rPr lang="en-US" altLang="zh-CN" sz="2400" b="0" i="0" dirty="0">
                <a:solidFill>
                  <a:srgbClr val="40485B"/>
                </a:solidFill>
                <a:effectLst/>
                <a:latin typeface="-apple-system"/>
              </a:rPr>
              <a:t>C</a:t>
            </a:r>
            <a:r>
              <a:rPr lang="zh-CN" altLang="en-US" sz="2400" b="0" i="0" dirty="0">
                <a:solidFill>
                  <a:srgbClr val="40485B"/>
                </a:solidFill>
                <a:effectLst/>
                <a:latin typeface="-apple-system"/>
              </a:rPr>
              <a:t>，分解为如下式：</a:t>
            </a:r>
            <a:endParaRPr lang="zh-CN" altLang="en-US" sz="2400" dirty="0"/>
          </a:p>
        </p:txBody>
      </p:sp>
      <p:pic>
        <p:nvPicPr>
          <p:cNvPr id="36" name="图片 35">
            <a:extLst>
              <a:ext uri="{FF2B5EF4-FFF2-40B4-BE49-F238E27FC236}">
                <a16:creationId xmlns:a16="http://schemas.microsoft.com/office/drawing/2014/main" id="{ED8671D0-2BBE-FEA4-D206-D96AAC26AD1F}"/>
              </a:ext>
            </a:extLst>
          </p:cNvPr>
          <p:cNvPicPr>
            <a:picLocks noChangeAspect="1"/>
          </p:cNvPicPr>
          <p:nvPr/>
        </p:nvPicPr>
        <p:blipFill>
          <a:blip r:embed="rId6"/>
          <a:stretch>
            <a:fillRect/>
          </a:stretch>
        </p:blipFill>
        <p:spPr>
          <a:xfrm>
            <a:off x="5210175" y="5183811"/>
            <a:ext cx="1771650" cy="561975"/>
          </a:xfrm>
          <a:prstGeom prst="rect">
            <a:avLst/>
          </a:prstGeom>
        </p:spPr>
      </p:pic>
      <p:sp>
        <p:nvSpPr>
          <p:cNvPr id="39" name="文本框 38">
            <a:extLst>
              <a:ext uri="{FF2B5EF4-FFF2-40B4-BE49-F238E27FC236}">
                <a16:creationId xmlns:a16="http://schemas.microsoft.com/office/drawing/2014/main" id="{993D4A23-89A1-A8D5-6DBB-DBDFEB581D26}"/>
              </a:ext>
            </a:extLst>
          </p:cNvPr>
          <p:cNvSpPr txBox="1"/>
          <p:nvPr/>
        </p:nvSpPr>
        <p:spPr>
          <a:xfrm>
            <a:off x="1383936" y="5745786"/>
            <a:ext cx="8837750" cy="707886"/>
          </a:xfrm>
          <a:prstGeom prst="rect">
            <a:avLst/>
          </a:prstGeom>
          <a:noFill/>
        </p:spPr>
        <p:txBody>
          <a:bodyPr wrap="square">
            <a:spAutoFit/>
          </a:bodyPr>
          <a:lstStyle/>
          <a:p>
            <a:r>
              <a:rPr lang="zh-CN" altLang="en-US" sz="2000" b="0" i="0" dirty="0">
                <a:solidFill>
                  <a:srgbClr val="40485B"/>
                </a:solidFill>
                <a:effectLst/>
                <a:latin typeface="-apple-system"/>
              </a:rPr>
              <a:t>其中，</a:t>
            </a:r>
            <a:r>
              <a:rPr lang="en-US" altLang="zh-CN" sz="2000" b="1" i="0" dirty="0">
                <a:solidFill>
                  <a:srgbClr val="40485B"/>
                </a:solidFill>
                <a:effectLst/>
                <a:latin typeface="MathJax_Math-italic"/>
              </a:rPr>
              <a:t>Q</a:t>
            </a:r>
            <a:r>
              <a:rPr lang="zh-CN" altLang="en-US" sz="2000" b="1" i="0" dirty="0">
                <a:solidFill>
                  <a:srgbClr val="40485B"/>
                </a:solidFill>
                <a:effectLst/>
                <a:latin typeface="-apple-system"/>
              </a:rPr>
              <a:t>是矩阵</a:t>
            </a:r>
            <a:r>
              <a:rPr lang="en-US" altLang="zh-CN" sz="2000" b="1" i="0" dirty="0">
                <a:solidFill>
                  <a:srgbClr val="40485B"/>
                </a:solidFill>
                <a:effectLst/>
                <a:latin typeface="MathJax_Math-italic"/>
              </a:rPr>
              <a:t>C</a:t>
            </a:r>
            <a:r>
              <a:rPr lang="zh-CN" altLang="en-US" sz="2000" b="1" i="0" dirty="0">
                <a:solidFill>
                  <a:srgbClr val="40485B"/>
                </a:solidFill>
                <a:effectLst/>
                <a:latin typeface="-apple-system"/>
              </a:rPr>
              <a:t>的特征向量组成的矩阵</a:t>
            </a:r>
            <a:r>
              <a:rPr lang="zh-CN" altLang="en-US" sz="2000" b="0" i="0" dirty="0">
                <a:solidFill>
                  <a:srgbClr val="40485B"/>
                </a:solidFill>
                <a:effectLst/>
                <a:latin typeface="-apple-system"/>
              </a:rPr>
              <a:t>，</a:t>
            </a:r>
            <a:r>
              <a:rPr lang="el-GR" altLang="zh-CN" sz="2000" b="0" i="0" dirty="0">
                <a:solidFill>
                  <a:srgbClr val="40485B"/>
                </a:solidFill>
                <a:effectLst/>
                <a:latin typeface="MathJax_Main"/>
              </a:rPr>
              <a:t>Σ</a:t>
            </a:r>
            <a:r>
              <a:rPr lang="zh-CN" altLang="en-US" sz="2000" b="0" i="0" dirty="0">
                <a:solidFill>
                  <a:srgbClr val="40485B"/>
                </a:solidFill>
                <a:effectLst/>
                <a:latin typeface="-apple-system"/>
              </a:rPr>
              <a:t>则是一个对角阵，</a:t>
            </a:r>
            <a:r>
              <a:rPr lang="zh-CN" altLang="en-US" sz="2000" b="1" i="0" dirty="0">
                <a:solidFill>
                  <a:srgbClr val="40485B"/>
                </a:solidFill>
                <a:effectLst/>
                <a:latin typeface="-apple-system"/>
              </a:rPr>
              <a:t>对角线上的元素就是特征值</a:t>
            </a:r>
            <a:r>
              <a:rPr lang="zh-CN" altLang="en-US" sz="2000" b="0" i="0" dirty="0">
                <a:solidFill>
                  <a:srgbClr val="40485B"/>
                </a:solidFill>
                <a:effectLst/>
                <a:latin typeface="-apple-system"/>
              </a:rPr>
              <a:t>。</a:t>
            </a:r>
            <a:endParaRPr lang="zh-CN" altLang="en-US" sz="2000" dirty="0"/>
          </a:p>
        </p:txBody>
      </p:sp>
    </p:spTree>
    <p:extLst>
      <p:ext uri="{BB962C8B-B14F-4D97-AF65-F5344CB8AC3E}">
        <p14:creationId xmlns:p14="http://schemas.microsoft.com/office/powerpoint/2010/main" val="393921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2430145" y="568960"/>
            <a:ext cx="7274560" cy="769441"/>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特征值和特征向量</a:t>
            </a:r>
          </a:p>
        </p:txBody>
      </p:sp>
      <p:sp>
        <p:nvSpPr>
          <p:cNvPr id="9" name="文本框 8"/>
          <p:cNvSpPr txBox="1"/>
          <p:nvPr/>
        </p:nvSpPr>
        <p:spPr>
          <a:xfrm>
            <a:off x="775335" y="1626235"/>
            <a:ext cx="3404779" cy="461665"/>
          </a:xfrm>
          <a:prstGeom prst="rect">
            <a:avLst/>
          </a:prstGeom>
          <a:noFill/>
        </p:spPr>
        <p:txBody>
          <a:bodyPr wrap="square" rtlCol="0">
            <a:spAutoFit/>
          </a:bodyPr>
          <a:lstStyle/>
          <a:p>
            <a:r>
              <a:rPr lang="en-US" altLang="zh-CN" sz="2400" dirty="0"/>
              <a:t>3.</a:t>
            </a:r>
            <a:r>
              <a:rPr lang="zh-CN" altLang="en-US" sz="2400" dirty="0"/>
              <a:t>特征值和特征向量</a:t>
            </a:r>
          </a:p>
        </p:txBody>
      </p:sp>
      <p:sp>
        <p:nvSpPr>
          <p:cNvPr id="23" name="文本框 22"/>
          <p:cNvSpPr txBox="1"/>
          <p:nvPr/>
        </p:nvSpPr>
        <p:spPr>
          <a:xfrm>
            <a:off x="775335" y="2435145"/>
            <a:ext cx="10430510" cy="461665"/>
          </a:xfrm>
          <a:prstGeom prst="rect">
            <a:avLst/>
          </a:prstGeom>
          <a:noFill/>
        </p:spPr>
        <p:txBody>
          <a:bodyPr wrap="square" rtlCol="0">
            <a:spAutoFit/>
          </a:bodyPr>
          <a:lstStyle/>
          <a:p>
            <a:r>
              <a:rPr lang="zh-CN" altLang="en-US" sz="2400" dirty="0">
                <a:latin typeface="Times New Roman" panose="02020603050405020304" charset="0"/>
                <a:cs typeface="Times New Roman" panose="02020603050405020304" charset="0"/>
              </a:rPr>
              <a:t>λ</a:t>
            </a:r>
            <a:r>
              <a:rPr lang="zh-CN" altLang="en-US" sz="2400" dirty="0">
                <a:latin typeface="Arial" panose="020B0604020202020204" pitchFamily="34" charset="0"/>
                <a:cs typeface="Arial" panose="020B0604020202020204" pitchFamily="34" charset="0"/>
              </a:rPr>
              <a:t>就是原始数据点在方向向量</a:t>
            </a:r>
            <a:r>
              <a:rPr lang="en-US" altLang="zh-CN" sz="2400" b="1" dirty="0">
                <a:latin typeface="Times New Roman" panose="02020603050405020304" charset="0"/>
                <a:cs typeface="Times New Roman" panose="02020603050405020304" charset="0"/>
              </a:rPr>
              <a:t>V</a:t>
            </a:r>
            <a:r>
              <a:rPr lang="en-US" altLang="zh-CN" sz="2400" baseline="-25000" dirty="0">
                <a:latin typeface="Times New Roman" panose="02020603050405020304" charset="0"/>
                <a:cs typeface="Times New Roman" panose="02020603050405020304" charset="0"/>
              </a:rPr>
              <a:t>0</a:t>
            </a:r>
            <a:r>
              <a:rPr lang="zh-CN" altLang="en-US" sz="2400" dirty="0">
                <a:latin typeface="Times New Roman" panose="02020603050405020304" charset="0"/>
                <a:cs typeface="Arial" panose="020B0604020202020204" pitchFamily="34" charset="0"/>
              </a:rPr>
              <a:t>上的投影的方差（特征值和特征向量的关系）。</a:t>
            </a:r>
          </a:p>
        </p:txBody>
      </p:sp>
      <p:sp>
        <p:nvSpPr>
          <p:cNvPr id="24" name="文本框 23"/>
          <p:cNvSpPr txBox="1"/>
          <p:nvPr/>
        </p:nvSpPr>
        <p:spPr>
          <a:xfrm>
            <a:off x="720906" y="4187916"/>
            <a:ext cx="1255395" cy="368300"/>
          </a:xfrm>
          <a:prstGeom prst="rect">
            <a:avLst/>
          </a:prstGeom>
          <a:noFill/>
        </p:spPr>
        <p:txBody>
          <a:bodyPr wrap="square" rtlCol="0">
            <a:spAutoFit/>
          </a:bodyPr>
          <a:lstStyle/>
          <a:p>
            <a:r>
              <a:rPr lang="zh-CN" altLang="en-US"/>
              <a:t>数据矩阵</a:t>
            </a:r>
            <a:r>
              <a:rPr lang="en-US" altLang="zh-CN" b="1"/>
              <a:t>A</a:t>
            </a:r>
          </a:p>
        </p:txBody>
      </p:sp>
      <p:sp>
        <p:nvSpPr>
          <p:cNvPr id="25" name="文本框 24"/>
          <p:cNvSpPr txBox="1"/>
          <p:nvPr/>
        </p:nvSpPr>
        <p:spPr>
          <a:xfrm>
            <a:off x="3360601" y="4187916"/>
            <a:ext cx="1254760" cy="368300"/>
          </a:xfrm>
          <a:prstGeom prst="rect">
            <a:avLst/>
          </a:prstGeom>
          <a:noFill/>
        </p:spPr>
        <p:txBody>
          <a:bodyPr wrap="square" rtlCol="0">
            <a:spAutoFit/>
          </a:bodyPr>
          <a:lstStyle/>
          <a:p>
            <a:r>
              <a:rPr lang="zh-CN" altLang="en-US"/>
              <a:t>数据矩阵</a:t>
            </a:r>
            <a:r>
              <a:rPr lang="en-US" altLang="zh-CN" b="1"/>
              <a:t>B</a:t>
            </a:r>
          </a:p>
        </p:txBody>
      </p:sp>
      <p:sp>
        <p:nvSpPr>
          <p:cNvPr id="26" name="右箭头 25"/>
          <p:cNvSpPr/>
          <p:nvPr/>
        </p:nvSpPr>
        <p:spPr>
          <a:xfrm>
            <a:off x="2043611" y="4412706"/>
            <a:ext cx="1228090" cy="143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2166166" y="3942806"/>
            <a:ext cx="982980" cy="368300"/>
          </a:xfrm>
          <a:prstGeom prst="rect">
            <a:avLst/>
          </a:prstGeom>
          <a:noFill/>
        </p:spPr>
        <p:txBody>
          <a:bodyPr wrap="square" rtlCol="0">
            <a:spAutoFit/>
          </a:bodyPr>
          <a:lstStyle/>
          <a:p>
            <a:pPr algn="ctr"/>
            <a:r>
              <a:rPr lang="en-US" altLang="zh-CN"/>
              <a:t>z-score</a:t>
            </a:r>
          </a:p>
        </p:txBody>
      </p:sp>
      <p:sp>
        <p:nvSpPr>
          <p:cNvPr id="31" name="右箭头 30"/>
          <p:cNvSpPr/>
          <p:nvPr/>
        </p:nvSpPr>
        <p:spPr>
          <a:xfrm>
            <a:off x="4581706" y="4412706"/>
            <a:ext cx="1228090" cy="143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3" name="对象 32">
            <a:hlinkClick r:id="" action="ppaction://ole?verb=0"/>
          </p:cNvPr>
          <p:cNvGraphicFramePr>
            <a:graphicFrameLocks noChangeAspect="1"/>
          </p:cNvGraphicFramePr>
          <p:nvPr>
            <p:extLst>
              <p:ext uri="{D42A27DB-BD31-4B8C-83A1-F6EECF244321}">
                <p14:modId xmlns:p14="http://schemas.microsoft.com/office/powerpoint/2010/main" val="209036449"/>
              </p:ext>
            </p:extLst>
          </p:nvPr>
        </p:nvGraphicFramePr>
        <p:xfrm>
          <a:off x="4727756" y="3763101"/>
          <a:ext cx="1025525" cy="577850"/>
        </p:xfrm>
        <a:graphic>
          <a:graphicData uri="http://schemas.openxmlformats.org/presentationml/2006/ole">
            <mc:AlternateContent xmlns:mc="http://schemas.openxmlformats.org/markup-compatibility/2006">
              <mc:Choice xmlns:v="urn:schemas-microsoft-com:vml" Requires="v">
                <p:oleObj r:id="rId4" imgW="698500" imgH="393700" progId="Equation.KSEE3">
                  <p:embed/>
                </p:oleObj>
              </mc:Choice>
              <mc:Fallback>
                <p:oleObj r:id="rId4" imgW="698500" imgH="393700" progId="Equation.KSEE3">
                  <p:embed/>
                  <p:pic>
                    <p:nvPicPr>
                      <p:cNvPr id="0" name="图片 2048"/>
                      <p:cNvPicPr/>
                      <p:nvPr/>
                    </p:nvPicPr>
                    <p:blipFill>
                      <a:blip r:embed="rId5"/>
                      <a:stretch>
                        <a:fillRect/>
                      </a:stretch>
                    </p:blipFill>
                    <p:spPr>
                      <a:xfrm>
                        <a:off x="4727756" y="3763101"/>
                        <a:ext cx="1025525" cy="577850"/>
                      </a:xfrm>
                      <a:prstGeom prst="rect">
                        <a:avLst/>
                      </a:prstGeom>
                    </p:spPr>
                  </p:pic>
                </p:oleObj>
              </mc:Fallback>
            </mc:AlternateContent>
          </a:graphicData>
        </a:graphic>
      </p:graphicFrame>
      <p:sp>
        <p:nvSpPr>
          <p:cNvPr id="34" name="文本框 33"/>
          <p:cNvSpPr txBox="1"/>
          <p:nvPr/>
        </p:nvSpPr>
        <p:spPr>
          <a:xfrm>
            <a:off x="5865676" y="4187916"/>
            <a:ext cx="1495425" cy="368300"/>
          </a:xfrm>
          <a:prstGeom prst="rect">
            <a:avLst/>
          </a:prstGeom>
          <a:noFill/>
        </p:spPr>
        <p:txBody>
          <a:bodyPr wrap="square" rtlCol="0">
            <a:spAutoFit/>
          </a:bodyPr>
          <a:lstStyle/>
          <a:p>
            <a:r>
              <a:rPr lang="zh-CN" altLang="en-US"/>
              <a:t>协方差矩阵</a:t>
            </a:r>
            <a:r>
              <a:rPr lang="en-US" altLang="zh-CN" b="1">
                <a:latin typeface="Times New Roman" panose="02020603050405020304" charset="0"/>
                <a:cs typeface="Times New Roman" panose="02020603050405020304" charset="0"/>
              </a:rPr>
              <a:t>C</a:t>
            </a:r>
          </a:p>
        </p:txBody>
      </p:sp>
      <p:sp>
        <p:nvSpPr>
          <p:cNvPr id="35" name="右箭头 34"/>
          <p:cNvSpPr/>
          <p:nvPr/>
        </p:nvSpPr>
        <p:spPr>
          <a:xfrm>
            <a:off x="7392851" y="4412706"/>
            <a:ext cx="1530350" cy="143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7545886" y="3731351"/>
            <a:ext cx="1224280" cy="645160"/>
          </a:xfrm>
          <a:prstGeom prst="rect">
            <a:avLst/>
          </a:prstGeom>
          <a:noFill/>
        </p:spPr>
        <p:txBody>
          <a:bodyPr wrap="square" rtlCol="0">
            <a:spAutoFit/>
          </a:bodyPr>
          <a:lstStyle/>
          <a:p>
            <a:r>
              <a:rPr lang="zh-CN" altLang="en-US"/>
              <a:t>求</a:t>
            </a:r>
            <a:r>
              <a:rPr lang="en-US" altLang="zh-CN" b="1">
                <a:latin typeface="Times New Roman" panose="02020603050405020304" charset="0"/>
                <a:cs typeface="Times New Roman" panose="02020603050405020304" charset="0"/>
              </a:rPr>
              <a:t>C</a:t>
            </a:r>
            <a:r>
              <a:rPr lang="zh-CN" altLang="en-US"/>
              <a:t>的所有特征值</a:t>
            </a:r>
          </a:p>
        </p:txBody>
      </p:sp>
      <p:sp>
        <p:nvSpPr>
          <p:cNvPr id="37" name="文本框 36"/>
          <p:cNvSpPr txBox="1"/>
          <p:nvPr/>
        </p:nvSpPr>
        <p:spPr>
          <a:xfrm>
            <a:off x="8949871" y="4154261"/>
            <a:ext cx="518160" cy="521970"/>
          </a:xfrm>
          <a:prstGeom prst="rect">
            <a:avLst/>
          </a:prstGeom>
          <a:noFill/>
        </p:spPr>
        <p:txBody>
          <a:bodyPr wrap="square" rtlCol="0" anchor="t">
            <a:spAutoFit/>
          </a:bodyPr>
          <a:lstStyle/>
          <a:p>
            <a:r>
              <a:rPr lang="zh-CN" altLang="en-US" sz="2800">
                <a:latin typeface="Times New Roman" panose="02020603050405020304" charset="0"/>
                <a:cs typeface="Times New Roman" panose="02020603050405020304" charset="0"/>
                <a:sym typeface="+mn-ea"/>
              </a:rPr>
              <a:t>λ</a:t>
            </a:r>
          </a:p>
        </p:txBody>
      </p:sp>
      <p:sp>
        <p:nvSpPr>
          <p:cNvPr id="38" name="文本框 37"/>
          <p:cNvSpPr txBox="1"/>
          <p:nvPr/>
        </p:nvSpPr>
        <p:spPr>
          <a:xfrm>
            <a:off x="9187361" y="3762466"/>
            <a:ext cx="1675130" cy="645160"/>
          </a:xfrm>
          <a:prstGeom prst="rect">
            <a:avLst/>
          </a:prstGeom>
          <a:noFill/>
        </p:spPr>
        <p:txBody>
          <a:bodyPr wrap="square" rtlCol="0">
            <a:spAutoFit/>
          </a:bodyPr>
          <a:lstStyle/>
          <a:p>
            <a:pPr algn="ctr"/>
            <a:r>
              <a:rPr lang="zh-CN" altLang="en-US"/>
              <a:t>求特征值对应的方向向量</a:t>
            </a:r>
          </a:p>
        </p:txBody>
      </p:sp>
      <p:sp>
        <p:nvSpPr>
          <p:cNvPr id="39" name="右箭头 38"/>
          <p:cNvSpPr/>
          <p:nvPr/>
        </p:nvSpPr>
        <p:spPr>
          <a:xfrm>
            <a:off x="9332141" y="4412706"/>
            <a:ext cx="1530350" cy="1435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p:cNvSpPr txBox="1"/>
          <p:nvPr/>
        </p:nvSpPr>
        <p:spPr>
          <a:xfrm>
            <a:off x="10979966" y="4187916"/>
            <a:ext cx="460375" cy="368300"/>
          </a:xfrm>
          <a:prstGeom prst="rect">
            <a:avLst/>
          </a:prstGeom>
          <a:noFill/>
        </p:spPr>
        <p:txBody>
          <a:bodyPr wrap="square" rtlCol="0" anchor="t">
            <a:spAutoFit/>
          </a:bodyPr>
          <a:lstStyle/>
          <a:p>
            <a:r>
              <a:rPr lang="en-US" altLang="zh-CN" b="1">
                <a:latin typeface="Times New Roman" panose="02020603050405020304" charset="0"/>
                <a:cs typeface="Times New Roman" panose="02020603050405020304" charset="0"/>
                <a:sym typeface="+mn-ea"/>
              </a:rPr>
              <a:t>V</a:t>
            </a:r>
            <a:r>
              <a:rPr lang="en-US" altLang="zh-CN" baseline="-25000">
                <a:latin typeface="Times New Roman" panose="02020603050405020304" charset="0"/>
                <a:cs typeface="Times New Roman" panose="02020603050405020304" charset="0"/>
                <a:sym typeface="+mn-ea"/>
              </a:rPr>
              <a:t>0</a:t>
            </a:r>
          </a:p>
        </p:txBody>
      </p:sp>
      <p:sp>
        <p:nvSpPr>
          <p:cNvPr id="41" name="上弧形箭头 40"/>
          <p:cNvSpPr/>
          <p:nvPr/>
        </p:nvSpPr>
        <p:spPr>
          <a:xfrm flipH="1" flipV="1">
            <a:off x="8949871" y="4745446"/>
            <a:ext cx="2344420" cy="6604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2" name="文本框 41"/>
          <p:cNvSpPr txBox="1"/>
          <p:nvPr/>
        </p:nvSpPr>
        <p:spPr>
          <a:xfrm>
            <a:off x="8890816" y="5619841"/>
            <a:ext cx="2549525" cy="368300"/>
          </a:xfrm>
          <a:prstGeom prst="rect">
            <a:avLst/>
          </a:prstGeom>
          <a:noFill/>
        </p:spPr>
        <p:txBody>
          <a:bodyPr wrap="square" rtlCol="0">
            <a:spAutoFit/>
          </a:bodyPr>
          <a:lstStyle/>
          <a:p>
            <a:pPr algn="ctr"/>
            <a:r>
              <a:rPr lang="zh-CN" altLang="en-US"/>
              <a:t>点在</a:t>
            </a:r>
            <a:r>
              <a:rPr lang="en-US" altLang="zh-CN" b="1">
                <a:latin typeface="Times New Roman" panose="02020603050405020304" charset="0"/>
                <a:cs typeface="Times New Roman" panose="02020603050405020304" charset="0"/>
                <a:sym typeface="+mn-ea"/>
              </a:rPr>
              <a:t>V</a:t>
            </a:r>
            <a:r>
              <a:rPr lang="en-US" altLang="zh-CN" baseline="-25000">
                <a:latin typeface="Times New Roman" panose="02020603050405020304" charset="0"/>
                <a:cs typeface="Times New Roman" panose="02020603050405020304" charset="0"/>
                <a:sym typeface="+mn-ea"/>
              </a:rPr>
              <a:t>0</a:t>
            </a:r>
            <a:r>
              <a:rPr lang="zh-CN" altLang="en-US">
                <a:latin typeface="Times New Roman" panose="02020603050405020304" charset="0"/>
                <a:cs typeface="Arial" panose="020B0604020202020204" pitchFamily="34" charset="0"/>
                <a:sym typeface="+mn-ea"/>
              </a:rPr>
              <a:t>上的投影的方差</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D311413-63FF-4916-5056-0517E498099C}"/>
              </a:ext>
            </a:extLst>
          </p:cNvPr>
          <p:cNvSpPr txBox="1"/>
          <p:nvPr>
            <p:custDataLst>
              <p:tags r:id="rId1"/>
            </p:custDataLst>
          </p:nvPr>
        </p:nvSpPr>
        <p:spPr>
          <a:xfrm>
            <a:off x="1361440" y="568960"/>
            <a:ext cx="941197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Times New Roman" panose="02020603050405020304" charset="0"/>
                <a:ea typeface="方正兰亭粗黑简体" panose="02000000000000000000" pitchFamily="2" charset="-122"/>
                <a:cs typeface="Times New Roman" panose="02020603050405020304" charset="0"/>
              </a:rPr>
              <a:t>的方法步骤</a:t>
            </a:r>
            <a:endParaRPr lang="zh-CN" altLang="en-US" sz="4400" dirty="0">
              <a:latin typeface="方正兰亭粗黑简体" panose="02000000000000000000" pitchFamily="2" charset="-122"/>
              <a:ea typeface="方正兰亭粗黑简体" panose="02000000000000000000" pitchFamily="2" charset="-122"/>
            </a:endParaRPr>
          </a:p>
        </p:txBody>
      </p:sp>
      <p:sp>
        <p:nvSpPr>
          <p:cNvPr id="4" name="文本框 3">
            <a:extLst>
              <a:ext uri="{FF2B5EF4-FFF2-40B4-BE49-F238E27FC236}">
                <a16:creationId xmlns:a16="http://schemas.microsoft.com/office/drawing/2014/main" id="{DCA58808-186A-403E-5114-B035FB813A71}"/>
              </a:ext>
            </a:extLst>
          </p:cNvPr>
          <p:cNvSpPr txBox="1"/>
          <p:nvPr/>
        </p:nvSpPr>
        <p:spPr>
          <a:xfrm>
            <a:off x="1372326" y="1480848"/>
            <a:ext cx="9411970" cy="830997"/>
          </a:xfrm>
          <a:prstGeom prst="rect">
            <a:avLst/>
          </a:prstGeom>
          <a:noFill/>
        </p:spPr>
        <p:txBody>
          <a:bodyPr wrap="square">
            <a:spAutoFit/>
          </a:bodyPr>
          <a:lstStyle/>
          <a:p>
            <a:r>
              <a:rPr lang="zh-CN" altLang="en-US" sz="2400" b="1" i="0" dirty="0">
                <a:effectLst/>
                <a:latin typeface="-apple-system"/>
              </a:rPr>
              <a:t>第四步：</a:t>
            </a:r>
            <a:r>
              <a:rPr lang="zh-CN" altLang="en-US" sz="2400" dirty="0"/>
              <a:t>对各个特征值占总体特征值的占比从大到小排序，</a:t>
            </a:r>
            <a:r>
              <a:rPr lang="zh-CN" altLang="en-US" sz="2400" b="0" i="0" dirty="0">
                <a:solidFill>
                  <a:srgbClr val="191B1F"/>
                </a:solidFill>
                <a:effectLst/>
                <a:latin typeface="-apple-system"/>
              </a:rPr>
              <a:t>选择其中最大的</a:t>
            </a:r>
            <a:r>
              <a:rPr lang="en-US" altLang="zh-CN" sz="2400" b="0" i="0" dirty="0">
                <a:solidFill>
                  <a:srgbClr val="191B1F"/>
                </a:solidFill>
                <a:effectLst/>
                <a:latin typeface="-apple-system"/>
              </a:rPr>
              <a:t>k</a:t>
            </a:r>
            <a:r>
              <a:rPr lang="zh-CN" altLang="en-US" sz="2400" b="0" i="0" dirty="0">
                <a:solidFill>
                  <a:srgbClr val="191B1F"/>
                </a:solidFill>
                <a:effectLst/>
                <a:latin typeface="-apple-system"/>
              </a:rPr>
              <a:t>个，</a:t>
            </a:r>
            <a:r>
              <a:rPr lang="zh-CN" altLang="en-US" sz="2400" dirty="0"/>
              <a:t>对应的特征向量称为第一主方向、第二主</a:t>
            </a:r>
            <a:r>
              <a:rPr lang="zh-CN" altLang="en-US" sz="2400" dirty="0">
                <a:sym typeface="+mn-ea"/>
              </a:rPr>
              <a:t>方向</a:t>
            </a:r>
            <a:r>
              <a:rPr lang="zh-CN" altLang="en-US" sz="2400" dirty="0"/>
              <a:t>、</a:t>
            </a:r>
            <a:r>
              <a:rPr lang="en-US" altLang="zh-CN" sz="2400" dirty="0"/>
              <a:t>...</a:t>
            </a:r>
            <a:endParaRPr lang="en-US" altLang="zh-CN" sz="2400" b="1" i="0" dirty="0">
              <a:effectLst/>
              <a:latin typeface="-apple-system"/>
            </a:endParaRPr>
          </a:p>
        </p:txBody>
      </p:sp>
      <p:cxnSp>
        <p:nvCxnSpPr>
          <p:cNvPr id="24" name="直接箭头连接符 23">
            <a:extLst>
              <a:ext uri="{FF2B5EF4-FFF2-40B4-BE49-F238E27FC236}">
                <a16:creationId xmlns:a16="http://schemas.microsoft.com/office/drawing/2014/main" id="{1312E082-515C-9078-7446-5302FFFDBE84}"/>
              </a:ext>
            </a:extLst>
          </p:cNvPr>
          <p:cNvCxnSpPr/>
          <p:nvPr/>
        </p:nvCxnSpPr>
        <p:spPr>
          <a:xfrm flipV="1">
            <a:off x="6877685" y="5189855"/>
            <a:ext cx="4044950" cy="1270"/>
          </a:xfrm>
          <a:prstGeom prst="straightConnector1">
            <a:avLst/>
          </a:prstGeom>
          <a:ln w="28575" cmpd="sng">
            <a:solidFill>
              <a:schemeClr val="accent1">
                <a:shade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A429A533-0022-442A-C5B7-71856F0E84C7}"/>
              </a:ext>
            </a:extLst>
          </p:cNvPr>
          <p:cNvCxnSpPr/>
          <p:nvPr/>
        </p:nvCxnSpPr>
        <p:spPr>
          <a:xfrm flipH="1" flipV="1">
            <a:off x="7289800" y="3475355"/>
            <a:ext cx="9525" cy="2154555"/>
          </a:xfrm>
          <a:prstGeom prst="straightConnector1">
            <a:avLst/>
          </a:prstGeom>
          <a:ln w="28575" cmpd="sng">
            <a:solidFill>
              <a:schemeClr val="accent1">
                <a:shade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8C65E882-AE2D-007F-F9FA-FF9FCB38B55D}"/>
              </a:ext>
            </a:extLst>
          </p:cNvPr>
          <p:cNvCxnSpPr/>
          <p:nvPr/>
        </p:nvCxnSpPr>
        <p:spPr>
          <a:xfrm>
            <a:off x="7503795" y="3869690"/>
            <a:ext cx="144145" cy="363855"/>
          </a:xfrm>
          <a:prstGeom prst="line">
            <a:avLst/>
          </a:prstGeom>
          <a:ln w="254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AB51B15-DDD7-52DF-ADBA-EFCBAC098EA5}"/>
              </a:ext>
            </a:extLst>
          </p:cNvPr>
          <p:cNvCxnSpPr/>
          <p:nvPr/>
        </p:nvCxnSpPr>
        <p:spPr>
          <a:xfrm>
            <a:off x="7647940" y="4214495"/>
            <a:ext cx="271145" cy="382905"/>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D60ABAD-3716-99DC-89AD-9F1FB420D944}"/>
              </a:ext>
            </a:extLst>
          </p:cNvPr>
          <p:cNvCxnSpPr/>
          <p:nvPr/>
        </p:nvCxnSpPr>
        <p:spPr>
          <a:xfrm>
            <a:off x="7916545" y="4598035"/>
            <a:ext cx="440690" cy="239395"/>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D4D067A-E6E8-985B-F2CB-5B66030DE6C7}"/>
              </a:ext>
            </a:extLst>
          </p:cNvPr>
          <p:cNvCxnSpPr/>
          <p:nvPr/>
        </p:nvCxnSpPr>
        <p:spPr>
          <a:xfrm>
            <a:off x="8357235" y="4846955"/>
            <a:ext cx="775970" cy="124460"/>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CE26F783-5495-4659-11F6-F0D36C120000}"/>
              </a:ext>
            </a:extLst>
          </p:cNvPr>
          <p:cNvCxnSpPr/>
          <p:nvPr/>
        </p:nvCxnSpPr>
        <p:spPr>
          <a:xfrm>
            <a:off x="9123680" y="4971415"/>
            <a:ext cx="1150620" cy="86360"/>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5E9A0CD2-EA1E-2CF4-C786-50E121124595}"/>
              </a:ext>
            </a:extLst>
          </p:cNvPr>
          <p:cNvSpPr txBox="1"/>
          <p:nvPr/>
        </p:nvSpPr>
        <p:spPr>
          <a:xfrm>
            <a:off x="6703060" y="3399155"/>
            <a:ext cx="507365" cy="1014730"/>
          </a:xfrm>
          <a:prstGeom prst="rect">
            <a:avLst/>
          </a:prstGeom>
          <a:noFill/>
        </p:spPr>
        <p:txBody>
          <a:bodyPr wrap="square" rtlCol="0">
            <a:spAutoFit/>
          </a:bodyPr>
          <a:lstStyle/>
          <a:p>
            <a:pPr algn="ctr"/>
            <a:r>
              <a:rPr lang="zh-CN" altLang="en-US" sz="2000">
                <a:latin typeface="Times New Roman" panose="02020603050405020304" charset="0"/>
                <a:ea typeface="微软雅黑" panose="020B0503020204020204" charset="-122"/>
                <a:cs typeface="Times New Roman" panose="02020603050405020304" charset="0"/>
              </a:rPr>
              <a:t>贡献率</a:t>
            </a:r>
          </a:p>
        </p:txBody>
      </p:sp>
      <p:sp>
        <p:nvSpPr>
          <p:cNvPr id="32" name="文本框 31">
            <a:extLst>
              <a:ext uri="{FF2B5EF4-FFF2-40B4-BE49-F238E27FC236}">
                <a16:creationId xmlns:a16="http://schemas.microsoft.com/office/drawing/2014/main" id="{268BD6AF-4F88-AC67-1D91-F975A6EBB808}"/>
              </a:ext>
            </a:extLst>
          </p:cNvPr>
          <p:cNvSpPr txBox="1"/>
          <p:nvPr/>
        </p:nvSpPr>
        <p:spPr>
          <a:xfrm>
            <a:off x="10925810" y="4971415"/>
            <a:ext cx="784860" cy="368300"/>
          </a:xfrm>
          <a:prstGeom prst="rect">
            <a:avLst/>
          </a:prstGeom>
          <a:noFill/>
        </p:spPr>
        <p:txBody>
          <a:bodyPr wrap="square" rtlCol="0">
            <a:spAutoFit/>
          </a:bodyPr>
          <a:lstStyle/>
          <a:p>
            <a:r>
              <a:rPr lang="zh-CN" altLang="en-US"/>
              <a:t>序号</a:t>
            </a:r>
          </a:p>
        </p:txBody>
      </p:sp>
      <p:grpSp>
        <p:nvGrpSpPr>
          <p:cNvPr id="36" name="组合 35">
            <a:extLst>
              <a:ext uri="{FF2B5EF4-FFF2-40B4-BE49-F238E27FC236}">
                <a16:creationId xmlns:a16="http://schemas.microsoft.com/office/drawing/2014/main" id="{2A37CE9D-EE9D-2445-FFEA-65C26C2B2D5E}"/>
              </a:ext>
            </a:extLst>
          </p:cNvPr>
          <p:cNvGrpSpPr/>
          <p:nvPr/>
        </p:nvGrpSpPr>
        <p:grpSpPr>
          <a:xfrm>
            <a:off x="2793415" y="4135934"/>
            <a:ext cx="1745615" cy="1031240"/>
            <a:chOff x="4734560" y="5768975"/>
            <a:chExt cx="1745615" cy="1031240"/>
          </a:xfrm>
        </p:grpSpPr>
        <p:sp>
          <p:nvSpPr>
            <p:cNvPr id="33" name="文本框 32">
              <a:extLst>
                <a:ext uri="{FF2B5EF4-FFF2-40B4-BE49-F238E27FC236}">
                  <a16:creationId xmlns:a16="http://schemas.microsoft.com/office/drawing/2014/main" id="{D3E32B8E-9907-019D-92C4-FD0FE24AF14A}"/>
                </a:ext>
              </a:extLst>
            </p:cNvPr>
            <p:cNvSpPr txBox="1"/>
            <p:nvPr/>
          </p:nvSpPr>
          <p:spPr>
            <a:xfrm>
              <a:off x="4734560" y="6053138"/>
              <a:ext cx="1139190" cy="368300"/>
            </a:xfrm>
            <a:prstGeom prst="rect">
              <a:avLst/>
            </a:prstGeom>
            <a:noFill/>
          </p:spPr>
          <p:txBody>
            <a:bodyPr wrap="square" rtlCol="0">
              <a:spAutoFit/>
            </a:bodyPr>
            <a:lstStyle/>
            <a:p>
              <a:r>
                <a:rPr lang="zh-CN" altLang="en-US" dirty="0"/>
                <a:t>贡献率</a:t>
              </a:r>
              <a:r>
                <a:rPr lang="en-US" altLang="zh-CN" dirty="0"/>
                <a:t>=</a:t>
              </a:r>
            </a:p>
          </p:txBody>
        </p:sp>
        <p:graphicFrame>
          <p:nvGraphicFramePr>
            <p:cNvPr id="34" name="对象 33">
              <a:hlinkClick r:id="" action="ppaction://ole?verb=0"/>
              <a:extLst>
                <a:ext uri="{FF2B5EF4-FFF2-40B4-BE49-F238E27FC236}">
                  <a16:creationId xmlns:a16="http://schemas.microsoft.com/office/drawing/2014/main" id="{A13EAF55-11CE-0F20-69B0-AD820266E6EB}"/>
                </a:ext>
              </a:extLst>
            </p:cNvPr>
            <p:cNvGraphicFramePr>
              <a:graphicFrameLocks noChangeAspect="1"/>
            </p:cNvGraphicFramePr>
            <p:nvPr>
              <p:extLst>
                <p:ext uri="{D42A27DB-BD31-4B8C-83A1-F6EECF244321}">
                  <p14:modId xmlns:p14="http://schemas.microsoft.com/office/powerpoint/2010/main" val="2012782960"/>
                </p:ext>
              </p:extLst>
            </p:nvPr>
          </p:nvGraphicFramePr>
          <p:xfrm>
            <a:off x="5873750" y="5768975"/>
            <a:ext cx="606425" cy="1031240"/>
          </p:xfrm>
          <a:graphic>
            <a:graphicData uri="http://schemas.openxmlformats.org/presentationml/2006/ole">
              <mc:AlternateContent xmlns:mc="http://schemas.openxmlformats.org/markup-compatibility/2006">
                <mc:Choice xmlns:v="urn:schemas-microsoft-com:vml" Requires="v">
                  <p:oleObj name="Equation" r:id="rId5" imgW="381000" imgH="647700" progId="Equation.DSMT4">
                    <p:embed/>
                  </p:oleObj>
                </mc:Choice>
                <mc:Fallback>
                  <p:oleObj name="Equation" r:id="rId5" imgW="381000" imgH="647700" progId="Equation.DSMT4">
                    <p:embed/>
                    <p:pic>
                      <p:nvPicPr>
                        <p:cNvPr id="47" name="对象 46">
                          <a:hlinkClick r:id="" action="ppaction://ole?verb=0"/>
                        </p:cNvPr>
                        <p:cNvPicPr/>
                        <p:nvPr/>
                      </p:nvPicPr>
                      <p:blipFill>
                        <a:blip r:embed="rId6"/>
                        <a:stretch>
                          <a:fillRect/>
                        </a:stretch>
                      </p:blipFill>
                      <p:spPr>
                        <a:xfrm>
                          <a:off x="5873750" y="5768975"/>
                          <a:ext cx="606425" cy="1031240"/>
                        </a:xfrm>
                        <a:prstGeom prst="rect">
                          <a:avLst/>
                        </a:prstGeom>
                      </p:spPr>
                    </p:pic>
                  </p:oleObj>
                </mc:Fallback>
              </mc:AlternateContent>
            </a:graphicData>
          </a:graphic>
        </p:graphicFrame>
      </p:grpSp>
      <p:sp>
        <p:nvSpPr>
          <p:cNvPr id="35" name="文本框 34">
            <a:extLst>
              <a:ext uri="{FF2B5EF4-FFF2-40B4-BE49-F238E27FC236}">
                <a16:creationId xmlns:a16="http://schemas.microsoft.com/office/drawing/2014/main" id="{6B83752B-D388-B6E1-B143-B5C29F17FC3E}"/>
              </a:ext>
            </a:extLst>
          </p:cNvPr>
          <p:cNvSpPr txBox="1"/>
          <p:nvPr/>
        </p:nvSpPr>
        <p:spPr>
          <a:xfrm>
            <a:off x="7753350" y="5584825"/>
            <a:ext cx="2578735" cy="368300"/>
          </a:xfrm>
          <a:prstGeom prst="rect">
            <a:avLst/>
          </a:prstGeom>
          <a:noFill/>
        </p:spPr>
        <p:txBody>
          <a:bodyPr wrap="square" rtlCol="0">
            <a:spAutoFit/>
          </a:bodyPr>
          <a:lstStyle/>
          <a:p>
            <a:r>
              <a:rPr lang="zh-CN" altLang="en-US"/>
              <a:t>对贡献率从大到小排序</a:t>
            </a:r>
          </a:p>
        </p:txBody>
      </p:sp>
      <p:sp>
        <p:nvSpPr>
          <p:cNvPr id="37" name="矩形 36">
            <a:extLst>
              <a:ext uri="{FF2B5EF4-FFF2-40B4-BE49-F238E27FC236}">
                <a16:creationId xmlns:a16="http://schemas.microsoft.com/office/drawing/2014/main" id="{19C81B7C-A3AE-98B0-6E36-1BAAC1ABA6C3}"/>
              </a:ext>
            </a:extLst>
          </p:cNvPr>
          <p:cNvSpPr/>
          <p:nvPr/>
        </p:nvSpPr>
        <p:spPr>
          <a:xfrm>
            <a:off x="2610803" y="4099923"/>
            <a:ext cx="2236470" cy="10934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48896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2430145" y="568960"/>
            <a:ext cx="7274560" cy="768350"/>
          </a:xfrm>
          <a:prstGeom prst="rect">
            <a:avLst/>
          </a:prstGeom>
          <a:noFill/>
        </p:spPr>
        <p:txBody>
          <a:bodyPr wrap="square" rtlCol="0">
            <a:spAutoFit/>
          </a:bodyPr>
          <a:lstStyle/>
          <a:p>
            <a:pPr algn="ctr"/>
            <a:r>
              <a:rPr lang="zh-CN" altLang="en-US" sz="4400" dirty="0">
                <a:latin typeface="方正兰亭粗黑简体" panose="02000000000000000000" pitchFamily="2" charset="-122"/>
                <a:ea typeface="方正兰亭粗黑简体" panose="02000000000000000000" pitchFamily="2" charset="-122"/>
              </a:rPr>
              <a:t>主成分分析</a:t>
            </a:r>
            <a:r>
              <a:rPr lang="en-US" altLang="zh-CN" sz="4400" dirty="0">
                <a:latin typeface="Times New Roman" panose="02020603050405020304" charset="0"/>
                <a:ea typeface="方正兰亭粗黑简体" panose="02000000000000000000" pitchFamily="2" charset="-122"/>
                <a:cs typeface="Times New Roman" panose="02020603050405020304" charset="0"/>
              </a:rPr>
              <a:t>(PCA)</a:t>
            </a:r>
            <a:r>
              <a:rPr lang="zh-CN" altLang="en-US" sz="4400" dirty="0">
                <a:latin typeface="Times New Roman" panose="02020603050405020304" charset="0"/>
                <a:ea typeface="方正兰亭粗黑简体" panose="02000000000000000000" pitchFamily="2" charset="-122"/>
                <a:cs typeface="Times New Roman" panose="02020603050405020304" charset="0"/>
              </a:rPr>
              <a:t>的方法步骤</a:t>
            </a:r>
            <a:endParaRPr lang="zh-CN" altLang="en-US" sz="4400" dirty="0">
              <a:latin typeface="方正兰亭粗黑简体" panose="02000000000000000000" pitchFamily="2" charset="-122"/>
              <a:ea typeface="方正兰亭粗黑简体" panose="02000000000000000000" pitchFamily="2" charset="-122"/>
            </a:endParaRPr>
          </a:p>
        </p:txBody>
      </p:sp>
      <p:cxnSp>
        <p:nvCxnSpPr>
          <p:cNvPr id="4" name="直接箭头连接符 3"/>
          <p:cNvCxnSpPr/>
          <p:nvPr/>
        </p:nvCxnSpPr>
        <p:spPr>
          <a:xfrm flipV="1">
            <a:off x="6670857" y="4926213"/>
            <a:ext cx="4044950" cy="1270"/>
          </a:xfrm>
          <a:prstGeom prst="straightConnector1">
            <a:avLst/>
          </a:prstGeom>
          <a:ln w="28575" cmpd="sng">
            <a:solidFill>
              <a:schemeClr val="accent1">
                <a:shade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flipV="1">
            <a:off x="7086147" y="2791343"/>
            <a:ext cx="6350" cy="2574925"/>
          </a:xfrm>
          <a:prstGeom prst="straightConnector1">
            <a:avLst/>
          </a:prstGeom>
          <a:ln w="28575" cmpd="sng">
            <a:solidFill>
              <a:schemeClr val="accent1">
                <a:shade val="50000"/>
              </a:schemeClr>
            </a:solidFill>
            <a:prstDash val="solid"/>
            <a:tailEnd type="triangle" w="lg" len="lg"/>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flipV="1">
            <a:off x="7472862" y="3319028"/>
            <a:ext cx="2770505" cy="1456690"/>
            <a:chOff x="11817" y="6094"/>
            <a:chExt cx="4363" cy="1871"/>
          </a:xfrm>
        </p:grpSpPr>
        <p:cxnSp>
          <p:nvCxnSpPr>
            <p:cNvPr id="8" name="直接连接符 7"/>
            <p:cNvCxnSpPr/>
            <p:nvPr/>
          </p:nvCxnSpPr>
          <p:spPr>
            <a:xfrm>
              <a:off x="11817" y="6094"/>
              <a:ext cx="227" cy="573"/>
            </a:xfrm>
            <a:prstGeom prst="line">
              <a:avLst/>
            </a:prstGeom>
            <a:ln w="25400">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
              </p:custDataLst>
            </p:nvPr>
          </p:nvCxnSpPr>
          <p:spPr>
            <a:xfrm>
              <a:off x="12044" y="6637"/>
              <a:ext cx="427" cy="603"/>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custDataLst>
                <p:tags r:id="rId3"/>
              </p:custDataLst>
            </p:nvPr>
          </p:nvCxnSpPr>
          <p:spPr>
            <a:xfrm>
              <a:off x="12467" y="7241"/>
              <a:ext cx="694" cy="377"/>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4"/>
              </p:custDataLst>
            </p:nvPr>
          </p:nvCxnSpPr>
          <p:spPr>
            <a:xfrm>
              <a:off x="13161" y="7633"/>
              <a:ext cx="1222" cy="196"/>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5"/>
              </p:custDataLst>
            </p:nvPr>
          </p:nvCxnSpPr>
          <p:spPr>
            <a:xfrm>
              <a:off x="14368" y="7829"/>
              <a:ext cx="1812" cy="136"/>
            </a:xfrm>
            <a:prstGeom prst="line">
              <a:avLst/>
            </a:prstGeom>
            <a:ln w="25400">
              <a:tailEnd type="diamond"/>
            </a:ln>
          </p:spPr>
          <p:style>
            <a:lnRef idx="1">
              <a:schemeClr val="accent1"/>
            </a:lnRef>
            <a:fillRef idx="0">
              <a:schemeClr val="accent1"/>
            </a:fillRef>
            <a:effectRef idx="0">
              <a:schemeClr val="accent1"/>
            </a:effectRef>
            <a:fontRef idx="minor">
              <a:schemeClr val="tx1"/>
            </a:fontRef>
          </p:style>
        </p:cxnSp>
      </p:grpSp>
      <p:sp>
        <p:nvSpPr>
          <p:cNvPr id="42" name="文本框 41"/>
          <p:cNvSpPr txBox="1"/>
          <p:nvPr/>
        </p:nvSpPr>
        <p:spPr>
          <a:xfrm>
            <a:off x="6496232" y="3135513"/>
            <a:ext cx="507365" cy="1630045"/>
          </a:xfrm>
          <a:prstGeom prst="rect">
            <a:avLst/>
          </a:prstGeom>
          <a:noFill/>
        </p:spPr>
        <p:txBody>
          <a:bodyPr wrap="square" rtlCol="0">
            <a:spAutoFit/>
          </a:bodyPr>
          <a:lstStyle/>
          <a:p>
            <a:pPr algn="ctr"/>
            <a:r>
              <a:rPr lang="zh-CN" altLang="en-US" sz="2000">
                <a:latin typeface="Times New Roman" panose="02020603050405020304" charset="0"/>
                <a:ea typeface="微软雅黑" panose="020B0503020204020204" charset="-122"/>
                <a:cs typeface="Times New Roman" panose="02020603050405020304" charset="0"/>
              </a:rPr>
              <a:t>累计贡献率</a:t>
            </a:r>
          </a:p>
        </p:txBody>
      </p:sp>
      <p:sp>
        <p:nvSpPr>
          <p:cNvPr id="43" name="文本框 42"/>
          <p:cNvSpPr txBox="1"/>
          <p:nvPr/>
        </p:nvSpPr>
        <p:spPr>
          <a:xfrm>
            <a:off x="10718982" y="4707773"/>
            <a:ext cx="784860" cy="368300"/>
          </a:xfrm>
          <a:prstGeom prst="rect">
            <a:avLst/>
          </a:prstGeom>
          <a:noFill/>
        </p:spPr>
        <p:txBody>
          <a:bodyPr wrap="square" rtlCol="0">
            <a:spAutoFit/>
          </a:bodyPr>
          <a:lstStyle/>
          <a:p>
            <a:r>
              <a:rPr lang="zh-CN" altLang="en-US"/>
              <a:t>序号</a:t>
            </a:r>
          </a:p>
        </p:txBody>
      </p:sp>
      <p:cxnSp>
        <p:nvCxnSpPr>
          <p:cNvPr id="34" name="直接连接符 33"/>
          <p:cNvCxnSpPr/>
          <p:nvPr/>
        </p:nvCxnSpPr>
        <p:spPr>
          <a:xfrm flipH="1" flipV="1">
            <a:off x="7095672" y="3299343"/>
            <a:ext cx="3143885" cy="9525"/>
          </a:xfrm>
          <a:prstGeom prst="line">
            <a:avLst/>
          </a:prstGeom>
          <a:ln w="19050"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7095672" y="4775083"/>
            <a:ext cx="374015" cy="0"/>
          </a:xfrm>
          <a:prstGeom prst="line">
            <a:avLst/>
          </a:prstGeom>
          <a:ln w="19050"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0239557" y="3327918"/>
            <a:ext cx="0" cy="1571625"/>
          </a:xfrm>
          <a:prstGeom prst="line">
            <a:avLst/>
          </a:prstGeom>
          <a:ln w="19050"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7450637" y="4794133"/>
            <a:ext cx="9525" cy="114935"/>
          </a:xfrm>
          <a:prstGeom prst="line">
            <a:avLst/>
          </a:prstGeom>
          <a:ln w="19050" cmpd="sng">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flipV="1">
            <a:off x="7086147" y="3725428"/>
            <a:ext cx="3143885" cy="9525"/>
          </a:xfrm>
          <a:prstGeom prst="line">
            <a:avLst/>
          </a:prstGeom>
          <a:ln w="19050" cmpd="sng">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0230032" y="3546993"/>
            <a:ext cx="879475" cy="368300"/>
          </a:xfrm>
          <a:prstGeom prst="rect">
            <a:avLst/>
          </a:prstGeom>
          <a:noFill/>
        </p:spPr>
        <p:txBody>
          <a:bodyPr wrap="square" rtlCol="0">
            <a:spAutoFit/>
          </a:bodyPr>
          <a:lstStyle/>
          <a:p>
            <a:r>
              <a:rPr lang="zh-CN" altLang="en-US"/>
              <a:t>阈值线</a:t>
            </a:r>
          </a:p>
        </p:txBody>
      </p:sp>
      <p:sp>
        <p:nvSpPr>
          <p:cNvPr id="13" name="文本框 12">
            <a:extLst>
              <a:ext uri="{FF2B5EF4-FFF2-40B4-BE49-F238E27FC236}">
                <a16:creationId xmlns:a16="http://schemas.microsoft.com/office/drawing/2014/main" id="{1CE34850-83EF-DFA1-3962-362B25AF7272}"/>
              </a:ext>
            </a:extLst>
          </p:cNvPr>
          <p:cNvSpPr txBox="1"/>
          <p:nvPr/>
        </p:nvSpPr>
        <p:spPr>
          <a:xfrm>
            <a:off x="1372326" y="1491732"/>
            <a:ext cx="9411970" cy="461665"/>
          </a:xfrm>
          <a:prstGeom prst="rect">
            <a:avLst/>
          </a:prstGeom>
          <a:noFill/>
        </p:spPr>
        <p:txBody>
          <a:bodyPr wrap="square">
            <a:spAutoFit/>
          </a:bodyPr>
          <a:lstStyle/>
          <a:p>
            <a:r>
              <a:rPr lang="zh-CN" altLang="en-US" sz="2400" b="1" i="0" dirty="0">
                <a:effectLst/>
                <a:latin typeface="-apple-system"/>
              </a:rPr>
              <a:t>第</a:t>
            </a:r>
            <a:r>
              <a:rPr lang="zh-CN" altLang="en-US" sz="2400" b="1" dirty="0">
                <a:latin typeface="-apple-system"/>
              </a:rPr>
              <a:t>五</a:t>
            </a:r>
            <a:r>
              <a:rPr lang="zh-CN" altLang="en-US" sz="2400" b="1" i="0" dirty="0">
                <a:effectLst/>
                <a:latin typeface="-apple-system"/>
              </a:rPr>
              <a:t>步：计算累计贡献率，对主成分赋予现实意义</a:t>
            </a:r>
            <a:endParaRPr lang="en-US" altLang="zh-CN" sz="2400" b="1" i="0" dirty="0">
              <a:effectLst/>
              <a:latin typeface="-apple-syste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F1ED728-9951-5C7A-CC14-2BA7E2FE5638}"/>
              </a:ext>
            </a:extLst>
          </p:cNvPr>
          <p:cNvPicPr>
            <a:picLocks noChangeAspect="1"/>
          </p:cNvPicPr>
          <p:nvPr/>
        </p:nvPicPr>
        <p:blipFill>
          <a:blip r:embed="rId3"/>
          <a:stretch>
            <a:fillRect/>
          </a:stretch>
        </p:blipFill>
        <p:spPr>
          <a:xfrm>
            <a:off x="1328737" y="786493"/>
            <a:ext cx="6486525" cy="4914900"/>
          </a:xfrm>
          <a:prstGeom prst="rect">
            <a:avLst/>
          </a:prstGeom>
        </p:spPr>
      </p:pic>
    </p:spTree>
    <p:extLst>
      <p:ext uri="{BB962C8B-B14F-4D97-AF65-F5344CB8AC3E}">
        <p14:creationId xmlns:p14="http://schemas.microsoft.com/office/powerpoint/2010/main" val="647744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D0E629A-E514-8578-568A-FAE534EC86AA}"/>
              </a:ext>
            </a:extLst>
          </p:cNvPr>
          <p:cNvPicPr>
            <a:picLocks noChangeAspect="1"/>
          </p:cNvPicPr>
          <p:nvPr/>
        </p:nvPicPr>
        <p:blipFill>
          <a:blip r:embed="rId3"/>
          <a:stretch>
            <a:fillRect/>
          </a:stretch>
        </p:blipFill>
        <p:spPr>
          <a:xfrm>
            <a:off x="1023937" y="859972"/>
            <a:ext cx="8620125" cy="4876800"/>
          </a:xfrm>
          <a:prstGeom prst="rect">
            <a:avLst/>
          </a:prstGeom>
        </p:spPr>
      </p:pic>
    </p:spTree>
    <p:extLst>
      <p:ext uri="{BB962C8B-B14F-4D97-AF65-F5344CB8AC3E}">
        <p14:creationId xmlns:p14="http://schemas.microsoft.com/office/powerpoint/2010/main" val="4163564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AE2D463-54BF-9415-EECA-24A28E765051}"/>
              </a:ext>
            </a:extLst>
          </p:cNvPr>
          <p:cNvPicPr>
            <a:picLocks noChangeAspect="1"/>
          </p:cNvPicPr>
          <p:nvPr/>
        </p:nvPicPr>
        <p:blipFill>
          <a:blip r:embed="rId3"/>
          <a:stretch>
            <a:fillRect/>
          </a:stretch>
        </p:blipFill>
        <p:spPr>
          <a:xfrm>
            <a:off x="570139" y="2288721"/>
            <a:ext cx="8467725" cy="3057525"/>
          </a:xfrm>
          <a:prstGeom prst="rect">
            <a:avLst/>
          </a:prstGeom>
        </p:spPr>
      </p:pic>
      <p:pic>
        <p:nvPicPr>
          <p:cNvPr id="1026" name="Picture 2">
            <a:extLst>
              <a:ext uri="{FF2B5EF4-FFF2-40B4-BE49-F238E27FC236}">
                <a16:creationId xmlns:a16="http://schemas.microsoft.com/office/drawing/2014/main" id="{8C31A1E9-59B9-5689-013C-FE219ED8CA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5686" y="849745"/>
            <a:ext cx="3359604" cy="3348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687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179387" y="240030"/>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11" name="图片 10">
            <a:extLst>
              <a:ext uri="{FF2B5EF4-FFF2-40B4-BE49-F238E27FC236}">
                <a16:creationId xmlns:a16="http://schemas.microsoft.com/office/drawing/2014/main" id="{C5514C7C-D02E-DEA0-2454-06197AAB5B63}"/>
              </a:ext>
            </a:extLst>
          </p:cNvPr>
          <p:cNvPicPr>
            <a:picLocks noChangeAspect="1"/>
          </p:cNvPicPr>
          <p:nvPr/>
        </p:nvPicPr>
        <p:blipFill>
          <a:blip r:embed="rId3"/>
          <a:stretch>
            <a:fillRect/>
          </a:stretch>
        </p:blipFill>
        <p:spPr>
          <a:xfrm>
            <a:off x="579332" y="1027032"/>
            <a:ext cx="6108922" cy="5285021"/>
          </a:xfrm>
          <a:prstGeom prst="rect">
            <a:avLst/>
          </a:prstGeom>
        </p:spPr>
      </p:pic>
      <p:sp>
        <p:nvSpPr>
          <p:cNvPr id="14" name="文本框 13">
            <a:extLst>
              <a:ext uri="{FF2B5EF4-FFF2-40B4-BE49-F238E27FC236}">
                <a16:creationId xmlns:a16="http://schemas.microsoft.com/office/drawing/2014/main" id="{D19357E5-4375-CBBC-922D-82BA8E8D11CD}"/>
              </a:ext>
            </a:extLst>
          </p:cNvPr>
          <p:cNvSpPr txBox="1"/>
          <p:nvPr/>
        </p:nvSpPr>
        <p:spPr>
          <a:xfrm>
            <a:off x="6988628" y="1027032"/>
            <a:ext cx="4624040" cy="646331"/>
          </a:xfrm>
          <a:prstGeom prst="rect">
            <a:avLst/>
          </a:prstGeom>
          <a:noFill/>
        </p:spPr>
        <p:txBody>
          <a:bodyPr wrap="square">
            <a:spAutoFit/>
          </a:bodyPr>
          <a:lstStyle/>
          <a:p>
            <a:r>
              <a:rPr lang="zh-CN" altLang="en-US" b="0" i="0" dirty="0">
                <a:solidFill>
                  <a:srgbClr val="374151"/>
                </a:solidFill>
                <a:effectLst/>
                <a:latin typeface="Söhne"/>
              </a:rPr>
              <a:t>导入了两个</a:t>
            </a:r>
            <a:r>
              <a:rPr lang="en-US" altLang="zh-CN" b="0" i="0" dirty="0">
                <a:solidFill>
                  <a:srgbClr val="374151"/>
                </a:solidFill>
                <a:effectLst/>
                <a:latin typeface="Söhne"/>
              </a:rPr>
              <a:t>Python</a:t>
            </a:r>
            <a:r>
              <a:rPr lang="zh-CN" altLang="en-US" b="0" i="0" dirty="0">
                <a:solidFill>
                  <a:srgbClr val="374151"/>
                </a:solidFill>
                <a:effectLst/>
                <a:latin typeface="Söhne"/>
              </a:rPr>
              <a:t>库：</a:t>
            </a:r>
            <a:r>
              <a:rPr lang="en-US" altLang="zh-CN" b="0" i="0" dirty="0">
                <a:solidFill>
                  <a:srgbClr val="374151"/>
                </a:solidFill>
                <a:effectLst/>
                <a:latin typeface="Söhne"/>
              </a:rPr>
              <a:t>NumPy</a:t>
            </a:r>
            <a:r>
              <a:rPr lang="zh-CN" altLang="en-US" b="0" i="0" dirty="0">
                <a:solidFill>
                  <a:srgbClr val="374151"/>
                </a:solidFill>
                <a:effectLst/>
                <a:latin typeface="Söhne"/>
              </a:rPr>
              <a:t>（缩写为 </a:t>
            </a:r>
            <a:r>
              <a:rPr lang="en-US" altLang="zh-CN" b="0" i="0" dirty="0">
                <a:solidFill>
                  <a:srgbClr val="374151"/>
                </a:solidFill>
                <a:effectLst/>
                <a:latin typeface="Söhne"/>
              </a:rPr>
              <a:t>np</a:t>
            </a:r>
            <a:r>
              <a:rPr lang="zh-CN" altLang="en-US" b="0" i="0" dirty="0">
                <a:solidFill>
                  <a:srgbClr val="374151"/>
                </a:solidFill>
                <a:effectLst/>
                <a:latin typeface="Söhne"/>
              </a:rPr>
              <a:t>）和</a:t>
            </a:r>
            <a:r>
              <a:rPr lang="en-US" altLang="zh-CN" b="0" i="0" dirty="0" err="1">
                <a:solidFill>
                  <a:srgbClr val="374151"/>
                </a:solidFill>
                <a:effectLst/>
                <a:latin typeface="Söhne"/>
              </a:rPr>
              <a:t>Matplotlib.pyplot</a:t>
            </a:r>
            <a:r>
              <a:rPr lang="zh-CN" altLang="en-US" b="0" i="0" dirty="0">
                <a:solidFill>
                  <a:srgbClr val="374151"/>
                </a:solidFill>
                <a:effectLst/>
                <a:latin typeface="Söhne"/>
              </a:rPr>
              <a:t>（缩写为 </a:t>
            </a:r>
            <a:r>
              <a:rPr lang="en-US" altLang="zh-CN" b="0" i="0" dirty="0" err="1">
                <a:solidFill>
                  <a:srgbClr val="374151"/>
                </a:solidFill>
                <a:effectLst/>
                <a:latin typeface="Söhne"/>
              </a:rPr>
              <a:t>plt</a:t>
            </a:r>
            <a:r>
              <a:rPr lang="zh-CN" altLang="en-US" b="0" i="0" dirty="0">
                <a:solidFill>
                  <a:srgbClr val="374151"/>
                </a:solidFill>
                <a:effectLst/>
                <a:latin typeface="Söhne"/>
              </a:rPr>
              <a:t>）</a:t>
            </a:r>
            <a:endParaRPr lang="zh-CN" altLang="en-US" dirty="0"/>
          </a:p>
        </p:txBody>
      </p:sp>
      <p:sp>
        <p:nvSpPr>
          <p:cNvPr id="6" name="文本框 5">
            <a:extLst>
              <a:ext uri="{FF2B5EF4-FFF2-40B4-BE49-F238E27FC236}">
                <a16:creationId xmlns:a16="http://schemas.microsoft.com/office/drawing/2014/main" id="{E3A03DC8-2F16-A3B2-5184-23A697F6C85E}"/>
              </a:ext>
            </a:extLst>
          </p:cNvPr>
          <p:cNvSpPr txBox="1"/>
          <p:nvPr/>
        </p:nvSpPr>
        <p:spPr>
          <a:xfrm>
            <a:off x="6981596" y="1817170"/>
            <a:ext cx="4341801" cy="646331"/>
          </a:xfrm>
          <a:prstGeom prst="rect">
            <a:avLst/>
          </a:prstGeom>
          <a:noFill/>
        </p:spPr>
        <p:txBody>
          <a:bodyPr wrap="square">
            <a:spAutoFit/>
          </a:bodyPr>
          <a:lstStyle/>
          <a:p>
            <a:r>
              <a:rPr kumimoji="0" lang="zh-CN" altLang="zh-CN" b="1" i="0" u="none" strike="noStrike" cap="none" normalizeH="0" baseline="0" dirty="0">
                <a:ln>
                  <a:noFill/>
                </a:ln>
                <a:solidFill>
                  <a:srgbClr val="374151"/>
                </a:solidFill>
                <a:effectLst/>
                <a:latin typeface="Arial Unicode MS"/>
                <a:ea typeface="Söhne Mono"/>
              </a:rPr>
              <a:t>genfromtxt</a:t>
            </a:r>
            <a:r>
              <a:rPr kumimoji="0" lang="zh-CN" altLang="zh-CN" b="0" i="0" u="none" strike="noStrike" cap="none" normalizeH="0" baseline="0" dirty="0">
                <a:ln>
                  <a:noFill/>
                </a:ln>
                <a:solidFill>
                  <a:srgbClr val="374151"/>
                </a:solidFill>
                <a:effectLst/>
                <a:ea typeface="Söhne"/>
              </a:rPr>
              <a:t>函数从名为 "data.csv" 的文件中加载数据</a:t>
            </a:r>
            <a:endParaRPr lang="zh-CN" altLang="en-US" dirty="0"/>
          </a:p>
        </p:txBody>
      </p:sp>
      <p:sp>
        <p:nvSpPr>
          <p:cNvPr id="9" name="文本框 8">
            <a:extLst>
              <a:ext uri="{FF2B5EF4-FFF2-40B4-BE49-F238E27FC236}">
                <a16:creationId xmlns:a16="http://schemas.microsoft.com/office/drawing/2014/main" id="{3CC97965-6035-18C9-6277-4E66282558C6}"/>
              </a:ext>
            </a:extLst>
          </p:cNvPr>
          <p:cNvSpPr txBox="1"/>
          <p:nvPr/>
        </p:nvSpPr>
        <p:spPr>
          <a:xfrm>
            <a:off x="6981595" y="2715304"/>
            <a:ext cx="4341801" cy="646331"/>
          </a:xfrm>
          <a:prstGeom prst="rect">
            <a:avLst/>
          </a:prstGeom>
          <a:noFill/>
        </p:spPr>
        <p:txBody>
          <a:bodyPr wrap="square">
            <a:spAutoFit/>
          </a:bodyPr>
          <a:lstStyle/>
          <a:p>
            <a:r>
              <a:rPr kumimoji="0" lang="zh-CN" altLang="zh-CN" b="0" i="0" u="none" strike="noStrike" cap="none" normalizeH="0" baseline="0" dirty="0">
                <a:ln>
                  <a:noFill/>
                </a:ln>
                <a:solidFill>
                  <a:srgbClr val="374151"/>
                </a:solidFill>
                <a:effectLst/>
                <a:ea typeface="Söhne"/>
              </a:rPr>
              <a:t>假设该文件是一个以逗号分隔的文本文件（CSV格式）</a:t>
            </a:r>
            <a:endParaRPr lang="zh-CN" altLang="en-US" dirty="0"/>
          </a:p>
        </p:txBody>
      </p:sp>
      <p:sp>
        <p:nvSpPr>
          <p:cNvPr id="12" name="文本框 11">
            <a:extLst>
              <a:ext uri="{FF2B5EF4-FFF2-40B4-BE49-F238E27FC236}">
                <a16:creationId xmlns:a16="http://schemas.microsoft.com/office/drawing/2014/main" id="{65A5FC24-AB5B-EB59-7F6B-6A7C71DF5DBF}"/>
              </a:ext>
            </a:extLst>
          </p:cNvPr>
          <p:cNvSpPr txBox="1"/>
          <p:nvPr/>
        </p:nvSpPr>
        <p:spPr>
          <a:xfrm>
            <a:off x="6688254" y="3601665"/>
            <a:ext cx="4341801" cy="923330"/>
          </a:xfrm>
          <a:prstGeom prst="rect">
            <a:avLst/>
          </a:prstGeom>
          <a:noFill/>
        </p:spPr>
        <p:txBody>
          <a:bodyPr wrap="square">
            <a:spAutoFit/>
          </a:bodyPr>
          <a:lstStyle/>
          <a:p>
            <a:pPr marL="457200" marR="0" lvl="1" indent="0" algn="l" defTabSz="914400" rtl="0" eaLnBrk="0" fontAlgn="base" latinLnBrk="0" hangingPunct="0">
              <a:lnSpc>
                <a:spcPct val="100000"/>
              </a:lnSpc>
              <a:spcBef>
                <a:spcPct val="0"/>
              </a:spcBef>
              <a:spcAft>
                <a:spcPct val="0"/>
              </a:spcAft>
              <a:buClrTx/>
              <a:buSzTx/>
              <a:buFontTx/>
              <a:buChar char="•"/>
              <a:tabLst/>
            </a:pPr>
            <a:r>
              <a:rPr kumimoji="0" lang="zh-CN" altLang="zh-CN" b="1" i="0" u="none" strike="noStrike" cap="none" normalizeH="0" baseline="0" dirty="0">
                <a:ln>
                  <a:noFill/>
                </a:ln>
                <a:solidFill>
                  <a:srgbClr val="374151"/>
                </a:solidFill>
                <a:effectLst/>
                <a:latin typeface="Arial Unicode MS"/>
                <a:ea typeface="Söhne Mono"/>
              </a:rPr>
              <a:t>print(x_data.shape)</a:t>
            </a:r>
            <a:r>
              <a:rPr kumimoji="0" lang="zh-CN" altLang="zh-CN" b="0" i="0" u="none" strike="noStrike" cap="none" normalizeH="0" baseline="0" dirty="0">
                <a:ln>
                  <a:noFill/>
                </a:ln>
                <a:solidFill>
                  <a:srgbClr val="374151"/>
                </a:solidFill>
                <a:effectLst/>
                <a:ea typeface="Söhne"/>
              </a:rPr>
              <a:t>: 打印 </a:t>
            </a:r>
            <a:r>
              <a:rPr kumimoji="0" lang="zh-CN" altLang="zh-CN" b="1" i="0" u="none" strike="noStrike" cap="none" normalizeH="0" baseline="0" dirty="0">
                <a:ln>
                  <a:noFill/>
                </a:ln>
                <a:solidFill>
                  <a:srgbClr val="37415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数组的形状，即它有多少个元素。</a:t>
            </a:r>
            <a:r>
              <a:rPr lang="zh-CN" altLang="en-US" dirty="0">
                <a:solidFill>
                  <a:srgbClr val="374151"/>
                </a:solidFill>
                <a:ea typeface="Söhne"/>
              </a:rPr>
              <a:t>可以</a:t>
            </a:r>
            <a:r>
              <a:rPr kumimoji="0" lang="zh-CN" altLang="zh-CN" b="0" i="0" u="none" strike="noStrike" cap="none" normalizeH="0" baseline="0" dirty="0">
                <a:ln>
                  <a:noFill/>
                </a:ln>
                <a:solidFill>
                  <a:srgbClr val="374151"/>
                </a:solidFill>
                <a:effectLst/>
                <a:ea typeface="Söhne"/>
              </a:rPr>
              <a:t>了解数据的规模和结构。</a:t>
            </a:r>
            <a:endParaRPr kumimoji="0" lang="en-US" altLang="zh-CN" b="0" i="0" u="none" strike="noStrike" cap="none" normalizeH="0" baseline="0" dirty="0">
              <a:ln>
                <a:noFill/>
              </a:ln>
              <a:solidFill>
                <a:srgbClr val="374151"/>
              </a:solidFill>
              <a:effectLst/>
              <a:ea typeface="Söhne"/>
            </a:endParaRPr>
          </a:p>
        </p:txBody>
      </p:sp>
    </p:spTree>
    <p:extLst>
      <p:ext uri="{BB962C8B-B14F-4D97-AF65-F5344CB8AC3E}">
        <p14:creationId xmlns:p14="http://schemas.microsoft.com/office/powerpoint/2010/main" val="3152574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10" name="图片 9">
            <a:extLst>
              <a:ext uri="{FF2B5EF4-FFF2-40B4-BE49-F238E27FC236}">
                <a16:creationId xmlns:a16="http://schemas.microsoft.com/office/drawing/2014/main" id="{3D3B35AC-48BF-CD11-047C-2BC57DA304A5}"/>
              </a:ext>
            </a:extLst>
          </p:cNvPr>
          <p:cNvPicPr>
            <a:picLocks noChangeAspect="1"/>
          </p:cNvPicPr>
          <p:nvPr/>
        </p:nvPicPr>
        <p:blipFill>
          <a:blip r:embed="rId3"/>
          <a:stretch>
            <a:fillRect/>
          </a:stretch>
        </p:blipFill>
        <p:spPr>
          <a:xfrm>
            <a:off x="577485" y="1007612"/>
            <a:ext cx="6313355" cy="5304441"/>
          </a:xfrm>
          <a:prstGeom prst="rect">
            <a:avLst/>
          </a:prstGeom>
        </p:spPr>
      </p:pic>
      <p:sp>
        <p:nvSpPr>
          <p:cNvPr id="11" name="Rectangle 1">
            <a:extLst>
              <a:ext uri="{FF2B5EF4-FFF2-40B4-BE49-F238E27FC236}">
                <a16:creationId xmlns:a16="http://schemas.microsoft.com/office/drawing/2014/main" id="{389EF803-F85B-FEE7-80F9-41DA22CA9F1D}"/>
              </a:ext>
            </a:extLst>
          </p:cNvPr>
          <p:cNvSpPr>
            <a:spLocks noChangeArrowheads="1"/>
          </p:cNvSpPr>
          <p:nvPr/>
        </p:nvSpPr>
        <p:spPr bwMode="auto">
          <a:xfrm>
            <a:off x="7026730" y="1007612"/>
            <a:ext cx="509732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定义了一个函数 </a:t>
            </a:r>
            <a:r>
              <a:rPr kumimoji="0" lang="zh-CN" altLang="zh-CN" b="1" i="0" u="none" strike="noStrike" cap="none" normalizeH="0" baseline="0" dirty="0">
                <a:ln>
                  <a:noFill/>
                </a:ln>
                <a:solidFill>
                  <a:schemeClr val="tx1"/>
                </a:solidFill>
                <a:effectLst/>
                <a:latin typeface="Arial Unicode MS"/>
                <a:ea typeface="Söhne Mono"/>
              </a:rPr>
              <a:t>zeroMean</a:t>
            </a:r>
            <a:r>
              <a:rPr kumimoji="0" lang="zh-CN" altLang="zh-CN" b="0" i="0" u="none" strike="noStrike" cap="none" normalizeH="0" baseline="0" dirty="0">
                <a:ln>
                  <a:noFill/>
                </a:ln>
                <a:solidFill>
                  <a:srgbClr val="374151"/>
                </a:solidFill>
                <a:effectLst/>
                <a:ea typeface="Söhne"/>
              </a:rPr>
              <a:t>，该函数用于对输入的数据矩阵进行中心化操作。中心化是指将每个特征的值减去该特征的均值，以确保数据的均值为零。</a:t>
            </a:r>
            <a:r>
              <a:rPr kumimoji="0" lang="zh-CN" altLang="zh-CN" b="0" i="0" u="none" strike="noStrike" cap="none" normalizeH="0" baseline="0" dirty="0">
                <a:ln>
                  <a:noFill/>
                </a:ln>
                <a:solidFill>
                  <a:schemeClr val="tx1"/>
                </a:solidFill>
                <a:effectLst/>
                <a:latin typeface="Arial" panose="020B0604020202020204" pitchFamily="34" charset="0"/>
              </a:rPr>
              <a:t> </a:t>
            </a:r>
          </a:p>
        </p:txBody>
      </p:sp>
      <p:sp>
        <p:nvSpPr>
          <p:cNvPr id="13" name="Rectangle 3">
            <a:extLst>
              <a:ext uri="{FF2B5EF4-FFF2-40B4-BE49-F238E27FC236}">
                <a16:creationId xmlns:a16="http://schemas.microsoft.com/office/drawing/2014/main" id="{8038DE31-5855-5656-F1F2-0D71603306DF}"/>
              </a:ext>
            </a:extLst>
          </p:cNvPr>
          <p:cNvSpPr>
            <a:spLocks noChangeArrowheads="1"/>
          </p:cNvSpPr>
          <p:nvPr/>
        </p:nvSpPr>
        <p:spPr bwMode="auto">
          <a:xfrm>
            <a:off x="7026730" y="2403452"/>
            <a:ext cx="496633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使用了前面定义的 </a:t>
            </a:r>
            <a:r>
              <a:rPr kumimoji="0" lang="zh-CN" altLang="zh-CN" b="1" i="0" u="none" strike="noStrike" cap="none" normalizeH="0" baseline="0" dirty="0">
                <a:ln>
                  <a:noFill/>
                </a:ln>
                <a:solidFill>
                  <a:schemeClr val="tx1"/>
                </a:solidFill>
                <a:effectLst/>
                <a:latin typeface="Arial Unicode MS"/>
                <a:ea typeface="Söhne Mono"/>
              </a:rPr>
              <a:t>zeroMean</a:t>
            </a:r>
            <a:r>
              <a:rPr kumimoji="0" lang="zh-CN" altLang="zh-CN" b="0" i="0" u="none" strike="noStrike" cap="none" normalizeH="0" baseline="0" dirty="0">
                <a:ln>
                  <a:noFill/>
                </a:ln>
                <a:solidFill>
                  <a:srgbClr val="374151"/>
                </a:solidFill>
                <a:effectLst/>
                <a:ea typeface="Söhne"/>
              </a:rPr>
              <a:t> 函数对数据进行中心化，然后使用NumPy的 </a:t>
            </a:r>
            <a:r>
              <a:rPr kumimoji="0" lang="zh-CN" altLang="zh-CN" b="1" i="0" u="none" strike="noStrike" cap="none" normalizeH="0" baseline="0" dirty="0">
                <a:ln>
                  <a:noFill/>
                </a:ln>
                <a:solidFill>
                  <a:schemeClr val="tx1"/>
                </a:solidFill>
                <a:effectLst/>
                <a:latin typeface="Arial Unicode MS"/>
                <a:ea typeface="Söhne Mono"/>
              </a:rPr>
              <a:t>cov</a:t>
            </a:r>
            <a:r>
              <a:rPr kumimoji="0" lang="zh-CN" altLang="zh-CN" b="0" i="0" u="none" strike="noStrike" cap="none" normalizeH="0" baseline="0" dirty="0">
                <a:ln>
                  <a:noFill/>
                </a:ln>
                <a:solidFill>
                  <a:srgbClr val="374151"/>
                </a:solidFill>
                <a:effectLst/>
                <a:ea typeface="Söhne"/>
              </a:rPr>
              <a:t> 函数计算了中心化后的数据矩阵 </a:t>
            </a:r>
            <a:r>
              <a:rPr kumimoji="0" lang="zh-CN" altLang="zh-CN" b="1" i="0" u="none" strike="noStrike" cap="none" normalizeH="0" baseline="0" dirty="0">
                <a:ln>
                  <a:noFill/>
                </a:ln>
                <a:solidFill>
                  <a:schemeClr val="tx1"/>
                </a:solidFill>
                <a:effectLst/>
                <a:latin typeface="Arial Unicode MS"/>
                <a:ea typeface="Söhne Mono"/>
              </a:rPr>
              <a:t>newData</a:t>
            </a:r>
            <a:r>
              <a:rPr kumimoji="0" lang="zh-CN" altLang="zh-CN" b="0" i="0" u="none" strike="noStrike" cap="none" normalizeH="0" baseline="0" dirty="0">
                <a:ln>
                  <a:noFill/>
                </a:ln>
                <a:solidFill>
                  <a:srgbClr val="374151"/>
                </a:solidFill>
                <a:effectLst/>
                <a:ea typeface="Söhne"/>
              </a:rPr>
              <a:t> 的协方差矩阵 </a:t>
            </a:r>
            <a:r>
              <a:rPr kumimoji="0" lang="zh-CN" altLang="zh-CN" b="1" i="0" u="none" strike="noStrike" cap="none" normalizeH="0" baseline="0" dirty="0">
                <a:ln>
                  <a:noFill/>
                </a:ln>
                <a:solidFill>
                  <a:schemeClr val="tx1"/>
                </a:solidFill>
                <a:effectLst/>
                <a:latin typeface="Arial Unicode MS"/>
                <a:ea typeface="Söhne Mono"/>
              </a:rPr>
              <a:t>covMat</a:t>
            </a:r>
            <a:r>
              <a:rPr kumimoji="0" lang="zh-CN" altLang="zh-CN" b="0" i="0" u="none" strike="noStrike" cap="none" normalizeH="0" baseline="0" dirty="0">
                <a:ln>
                  <a:noFill/>
                </a:ln>
                <a:solidFill>
                  <a:srgbClr val="374151"/>
                </a:solidFill>
                <a:effectLst/>
                <a:ea typeface="Söhne"/>
              </a:rPr>
              <a:t>。</a:t>
            </a:r>
            <a:r>
              <a:rPr kumimoji="0" lang="zh-CN" altLang="zh-CN" b="0" i="0" u="none" strike="noStrike" cap="none" normalizeH="0" baseline="0" dirty="0">
                <a:ln>
                  <a:noFill/>
                </a:ln>
                <a:solidFill>
                  <a:schemeClr val="tx1"/>
                </a:solidFill>
                <a:effectLst/>
                <a:latin typeface="Arial" panose="020B0604020202020204" pitchFamily="34" charset="0"/>
              </a:rPr>
              <a:t> </a:t>
            </a:r>
          </a:p>
        </p:txBody>
      </p:sp>
      <p:sp>
        <p:nvSpPr>
          <p:cNvPr id="14" name="Rectangle 4">
            <a:extLst>
              <a:ext uri="{FF2B5EF4-FFF2-40B4-BE49-F238E27FC236}">
                <a16:creationId xmlns:a16="http://schemas.microsoft.com/office/drawing/2014/main" id="{D9806B01-AECE-C536-250A-578FF64AD4CA}"/>
              </a:ext>
            </a:extLst>
          </p:cNvPr>
          <p:cNvSpPr>
            <a:spLocks noChangeArrowheads="1"/>
          </p:cNvSpPr>
          <p:nvPr/>
        </p:nvSpPr>
        <p:spPr bwMode="auto">
          <a:xfrm>
            <a:off x="7026730" y="4119163"/>
            <a:ext cx="445625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 NumPy 的 </a:t>
            </a:r>
            <a:r>
              <a:rPr kumimoji="0" lang="zh-CN" altLang="zh-CN" b="1" i="0" u="none" strike="noStrike" cap="none" normalizeH="0" baseline="0" dirty="0">
                <a:ln>
                  <a:noFill/>
                </a:ln>
                <a:solidFill>
                  <a:schemeClr val="tx1"/>
                </a:solidFill>
                <a:effectLst/>
                <a:latin typeface="Arial Unicode MS"/>
                <a:ea typeface="Söhne Mono"/>
              </a:rPr>
              <a:t>linalg.eig</a:t>
            </a:r>
            <a:r>
              <a:rPr kumimoji="0" lang="zh-CN" altLang="zh-CN" b="0" i="0" u="none" strike="noStrike" cap="none" normalizeH="0" baseline="0" dirty="0">
                <a:ln>
                  <a:noFill/>
                </a:ln>
                <a:solidFill>
                  <a:srgbClr val="374151"/>
                </a:solidFill>
                <a:effectLst/>
                <a:ea typeface="Söhne"/>
              </a:rPr>
              <a:t> 函数计算给定矩阵的特征值（eigenvalues）和特征向量（eigenvectors）。</a:t>
            </a:r>
            <a:r>
              <a:rPr kumimoji="0" lang="zh-CN" altLang="zh-CN"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78791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9" name="图片 8">
            <a:extLst>
              <a:ext uri="{FF2B5EF4-FFF2-40B4-BE49-F238E27FC236}">
                <a16:creationId xmlns:a16="http://schemas.microsoft.com/office/drawing/2014/main" id="{64E5941E-E86F-BC62-583B-418419B3A3CE}"/>
              </a:ext>
            </a:extLst>
          </p:cNvPr>
          <p:cNvPicPr>
            <a:picLocks noChangeAspect="1"/>
          </p:cNvPicPr>
          <p:nvPr/>
        </p:nvPicPr>
        <p:blipFill>
          <a:blip r:embed="rId3"/>
          <a:stretch>
            <a:fillRect/>
          </a:stretch>
        </p:blipFill>
        <p:spPr>
          <a:xfrm>
            <a:off x="789124" y="1196975"/>
            <a:ext cx="6572250" cy="4495800"/>
          </a:xfrm>
          <a:prstGeom prst="rect">
            <a:avLst/>
          </a:prstGeom>
        </p:spPr>
      </p:pic>
      <p:sp>
        <p:nvSpPr>
          <p:cNvPr id="10" name="Rectangle 5">
            <a:extLst>
              <a:ext uri="{FF2B5EF4-FFF2-40B4-BE49-F238E27FC236}">
                <a16:creationId xmlns:a16="http://schemas.microsoft.com/office/drawing/2014/main" id="{DC23A82C-2F2B-7E31-D41A-91BDFD173F7E}"/>
              </a:ext>
            </a:extLst>
          </p:cNvPr>
          <p:cNvSpPr>
            <a:spLocks noChangeArrowheads="1"/>
          </p:cNvSpPr>
          <p:nvPr/>
        </p:nvSpPr>
        <p:spPr bwMode="auto">
          <a:xfrm>
            <a:off x="7440749" y="1440719"/>
            <a:ext cx="461536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 NumPy 的 </a:t>
            </a:r>
            <a:r>
              <a:rPr kumimoji="0" lang="zh-CN" altLang="zh-CN" b="1" i="0" u="none" strike="noStrike" cap="none" normalizeH="0" baseline="0" dirty="0">
                <a:ln>
                  <a:noFill/>
                </a:ln>
                <a:solidFill>
                  <a:schemeClr val="tx1"/>
                </a:solidFill>
                <a:effectLst/>
                <a:latin typeface="Arial Unicode MS"/>
                <a:ea typeface="Söhne Mono"/>
              </a:rPr>
              <a:t>argsort</a:t>
            </a:r>
            <a:r>
              <a:rPr kumimoji="0" lang="zh-CN" altLang="zh-CN" b="0" i="0" u="none" strike="noStrike" cap="none" normalizeH="0" baseline="0" dirty="0">
                <a:ln>
                  <a:noFill/>
                </a:ln>
                <a:solidFill>
                  <a:srgbClr val="374151"/>
                </a:solidFill>
                <a:effectLst/>
                <a:ea typeface="Söhne"/>
              </a:rPr>
              <a:t> 函数对特征值数组 </a:t>
            </a:r>
            <a:r>
              <a:rPr kumimoji="0" lang="zh-CN" altLang="zh-CN" b="1" i="0" u="none" strike="noStrike" cap="none" normalizeH="0" baseline="0" dirty="0">
                <a:ln>
                  <a:noFill/>
                </a:ln>
                <a:solidFill>
                  <a:schemeClr val="tx1"/>
                </a:solidFill>
                <a:effectLst/>
                <a:latin typeface="Arial Unicode MS"/>
                <a:ea typeface="Söhne Mono"/>
              </a:rPr>
              <a:t>eigVals</a:t>
            </a:r>
            <a:r>
              <a:rPr kumimoji="0" lang="zh-CN" altLang="zh-CN" b="0" i="0" u="none" strike="noStrike" cap="none" normalizeH="0" baseline="0" dirty="0">
                <a:ln>
                  <a:noFill/>
                </a:ln>
                <a:solidFill>
                  <a:srgbClr val="374151"/>
                </a:solidFill>
                <a:effectLst/>
                <a:ea typeface="Söhne"/>
              </a:rPr>
              <a:t> 进行排序，并返回排序后的索引数组 </a:t>
            </a:r>
            <a:r>
              <a:rPr kumimoji="0" lang="zh-CN" altLang="zh-CN" b="1" i="0" u="none" strike="noStrike" cap="none" normalizeH="0" baseline="0" dirty="0">
                <a:ln>
                  <a:noFill/>
                </a:ln>
                <a:solidFill>
                  <a:schemeClr val="tx1"/>
                </a:solidFill>
                <a:effectLst/>
                <a:latin typeface="Arial Unicode MS"/>
                <a:ea typeface="Söhne Mono"/>
              </a:rPr>
              <a:t>eigValIndice</a:t>
            </a:r>
            <a:r>
              <a:rPr kumimoji="0" lang="zh-CN" altLang="zh-CN" b="0" i="0" u="none" strike="noStrike" cap="none" normalizeH="0" baseline="0" dirty="0">
                <a:ln>
                  <a:noFill/>
                </a:ln>
                <a:solidFill>
                  <a:schemeClr val="tx1"/>
                </a:solidFill>
                <a:effectLst/>
              </a:rPr>
              <a:t> </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0353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9" name="图片 8">
            <a:extLst>
              <a:ext uri="{FF2B5EF4-FFF2-40B4-BE49-F238E27FC236}">
                <a16:creationId xmlns:a16="http://schemas.microsoft.com/office/drawing/2014/main" id="{DAF204D5-379A-CE02-3F44-F8B15670FB66}"/>
              </a:ext>
            </a:extLst>
          </p:cNvPr>
          <p:cNvPicPr>
            <a:picLocks noChangeAspect="1"/>
          </p:cNvPicPr>
          <p:nvPr/>
        </p:nvPicPr>
        <p:blipFill>
          <a:blip r:embed="rId3"/>
          <a:stretch>
            <a:fillRect/>
          </a:stretch>
        </p:blipFill>
        <p:spPr>
          <a:xfrm>
            <a:off x="607514" y="1056104"/>
            <a:ext cx="5651638" cy="5255949"/>
          </a:xfrm>
          <a:prstGeom prst="rect">
            <a:avLst/>
          </a:prstGeom>
        </p:spPr>
      </p:pic>
      <p:sp>
        <p:nvSpPr>
          <p:cNvPr id="10" name="Rectangle 1">
            <a:extLst>
              <a:ext uri="{FF2B5EF4-FFF2-40B4-BE49-F238E27FC236}">
                <a16:creationId xmlns:a16="http://schemas.microsoft.com/office/drawing/2014/main" id="{0F057407-EE85-A8B4-7A12-47548F2AB7D6}"/>
              </a:ext>
            </a:extLst>
          </p:cNvPr>
          <p:cNvSpPr>
            <a:spLocks noChangeArrowheads="1"/>
          </p:cNvSpPr>
          <p:nvPr/>
        </p:nvSpPr>
        <p:spPr bwMode="auto">
          <a:xfrm>
            <a:off x="6482036" y="1263517"/>
            <a:ext cx="46152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使用选择出的最大的 </a:t>
            </a:r>
            <a:r>
              <a:rPr kumimoji="0" lang="zh-CN" altLang="zh-CN" b="1" i="0" u="none" strike="noStrike" cap="none" normalizeH="0" baseline="0" dirty="0">
                <a:ln>
                  <a:noFill/>
                </a:ln>
                <a:solidFill>
                  <a:schemeClr val="tx1"/>
                </a:solidFill>
                <a:effectLst/>
                <a:latin typeface="Arial Unicode MS"/>
                <a:ea typeface="Söhne Mono"/>
              </a:rPr>
              <a:t>top</a:t>
            </a:r>
            <a:r>
              <a:rPr kumimoji="0" lang="zh-CN" altLang="zh-CN" b="0" i="0" u="none" strike="noStrike" cap="none" normalizeH="0" baseline="0" dirty="0">
                <a:ln>
                  <a:noFill/>
                </a:ln>
                <a:solidFill>
                  <a:srgbClr val="374151"/>
                </a:solidFill>
                <a:effectLst/>
                <a:ea typeface="Söhne"/>
              </a:rPr>
              <a:t> 个特征向量构建了低维特征空间的数据。</a:t>
            </a:r>
            <a:r>
              <a:rPr kumimoji="0" lang="zh-CN" altLang="zh-CN"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945667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9" name="图片 8">
            <a:extLst>
              <a:ext uri="{FF2B5EF4-FFF2-40B4-BE49-F238E27FC236}">
                <a16:creationId xmlns:a16="http://schemas.microsoft.com/office/drawing/2014/main" id="{2490BF3C-B6EE-F844-5442-B0D85F69D708}"/>
              </a:ext>
            </a:extLst>
          </p:cNvPr>
          <p:cNvPicPr>
            <a:picLocks noChangeAspect="1"/>
          </p:cNvPicPr>
          <p:nvPr/>
        </p:nvPicPr>
        <p:blipFill>
          <a:blip r:embed="rId3"/>
          <a:stretch>
            <a:fillRect/>
          </a:stretch>
        </p:blipFill>
        <p:spPr>
          <a:xfrm>
            <a:off x="609601" y="1007612"/>
            <a:ext cx="5823856" cy="5227118"/>
          </a:xfrm>
          <a:prstGeom prst="rect">
            <a:avLst/>
          </a:prstGeom>
        </p:spPr>
      </p:pic>
      <p:sp>
        <p:nvSpPr>
          <p:cNvPr id="10" name="Rectangle 2">
            <a:extLst>
              <a:ext uri="{FF2B5EF4-FFF2-40B4-BE49-F238E27FC236}">
                <a16:creationId xmlns:a16="http://schemas.microsoft.com/office/drawing/2014/main" id="{80070AC7-997E-0DE0-133C-A323201BDCC1}"/>
              </a:ext>
            </a:extLst>
          </p:cNvPr>
          <p:cNvSpPr>
            <a:spLocks noChangeArrowheads="1"/>
          </p:cNvSpPr>
          <p:nvPr/>
        </p:nvSpPr>
        <p:spPr bwMode="auto">
          <a:xfrm>
            <a:off x="6656341" y="1509981"/>
            <a:ext cx="490102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利用低维度的数据 </a:t>
            </a:r>
            <a:r>
              <a:rPr kumimoji="0" lang="zh-CN" altLang="zh-CN" b="1" i="0" u="none" strike="noStrike" cap="none" normalizeH="0" baseline="0" dirty="0">
                <a:ln>
                  <a:noFill/>
                </a:ln>
                <a:solidFill>
                  <a:schemeClr val="tx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 和之前计算的均值 </a:t>
            </a:r>
            <a:r>
              <a:rPr kumimoji="0" lang="zh-CN" altLang="zh-CN" b="1" i="0" u="none" strike="noStrike" cap="none" normalizeH="0" baseline="0" dirty="0">
                <a:ln>
                  <a:noFill/>
                </a:ln>
                <a:solidFill>
                  <a:schemeClr val="tx1"/>
                </a:solidFill>
                <a:effectLst/>
                <a:latin typeface="Arial Unicode MS"/>
                <a:ea typeface="Söhne Mono"/>
              </a:rPr>
              <a:t>meanVal</a:t>
            </a:r>
            <a:r>
              <a:rPr kumimoji="0" lang="zh-CN" altLang="zh-CN" b="0" i="0" u="none" strike="noStrike" cap="none" normalizeH="0" baseline="0" dirty="0">
                <a:ln>
                  <a:noFill/>
                </a:ln>
                <a:solidFill>
                  <a:srgbClr val="374151"/>
                </a:solidFill>
                <a:effectLst/>
                <a:ea typeface="Söhne"/>
              </a:rPr>
              <a:t>，通过逆变换将数据重构为原始维度。</a:t>
            </a:r>
            <a:r>
              <a:rPr kumimoji="0" lang="zh-CN" altLang="zh-CN"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747563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830627" y="545947"/>
            <a:ext cx="2530747" cy="461665"/>
          </a:xfrm>
          <a:prstGeom prst="rect">
            <a:avLst/>
          </a:prstGeom>
          <a:noFill/>
        </p:spPr>
        <p:txBody>
          <a:bodyPr wrap="square">
            <a:spAutoFit/>
          </a:bodyPr>
          <a:lstStyle/>
          <a:p>
            <a:r>
              <a:rPr lang="en-US" altLang="zh-CN" sz="2400" b="1" dirty="0">
                <a:latin typeface="-apple-system"/>
              </a:rPr>
              <a:t>PCA</a:t>
            </a:r>
            <a:r>
              <a:rPr lang="zh-CN" altLang="en-US" sz="2400" b="1" dirty="0">
                <a:latin typeface="-apple-system"/>
              </a:rPr>
              <a:t>简单代码实现</a:t>
            </a:r>
            <a:endParaRPr lang="en-US" altLang="zh-CN" sz="2400" b="1" i="0" dirty="0">
              <a:effectLst/>
              <a:latin typeface="-apple-system"/>
            </a:endParaRPr>
          </a:p>
        </p:txBody>
      </p:sp>
      <p:pic>
        <p:nvPicPr>
          <p:cNvPr id="9" name="图片 8">
            <a:extLst>
              <a:ext uri="{FF2B5EF4-FFF2-40B4-BE49-F238E27FC236}">
                <a16:creationId xmlns:a16="http://schemas.microsoft.com/office/drawing/2014/main" id="{B779AF35-78F6-C5F3-14CB-7AF30FFAC44F}"/>
              </a:ext>
            </a:extLst>
          </p:cNvPr>
          <p:cNvPicPr>
            <a:picLocks noChangeAspect="1"/>
          </p:cNvPicPr>
          <p:nvPr/>
        </p:nvPicPr>
        <p:blipFill>
          <a:blip r:embed="rId3"/>
          <a:stretch>
            <a:fillRect/>
          </a:stretch>
        </p:blipFill>
        <p:spPr>
          <a:xfrm>
            <a:off x="522514" y="1007612"/>
            <a:ext cx="6672943" cy="5389685"/>
          </a:xfrm>
          <a:prstGeom prst="rect">
            <a:avLst/>
          </a:prstGeom>
        </p:spPr>
      </p:pic>
    </p:spTree>
    <p:extLst>
      <p:ext uri="{BB962C8B-B14F-4D97-AF65-F5344CB8AC3E}">
        <p14:creationId xmlns:p14="http://schemas.microsoft.com/office/powerpoint/2010/main" val="1264247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625114" y="545947"/>
            <a:ext cx="2941773" cy="461665"/>
          </a:xfrm>
          <a:prstGeom prst="rect">
            <a:avLst/>
          </a:prstGeom>
          <a:noFill/>
        </p:spPr>
        <p:txBody>
          <a:bodyPr wrap="square">
            <a:spAutoFit/>
          </a:bodyPr>
          <a:lstStyle/>
          <a:p>
            <a:r>
              <a:rPr lang="zh-CN" altLang="en-US" sz="2400" b="1" dirty="0">
                <a:solidFill>
                  <a:srgbClr val="FF0000"/>
                </a:solidFill>
                <a:latin typeface="-apple-system"/>
              </a:rPr>
              <a:t>数字降维可视化</a:t>
            </a:r>
            <a:r>
              <a:rPr lang="zh-CN" altLang="en-US" sz="2400" b="1" dirty="0">
                <a:latin typeface="-apple-system"/>
              </a:rPr>
              <a:t>代码</a:t>
            </a:r>
            <a:endParaRPr lang="en-US" altLang="zh-CN" sz="2400" b="1" i="0" dirty="0">
              <a:effectLst/>
              <a:latin typeface="-apple-system"/>
            </a:endParaRPr>
          </a:p>
        </p:txBody>
      </p:sp>
      <p:pic>
        <p:nvPicPr>
          <p:cNvPr id="9" name="图片 8">
            <a:extLst>
              <a:ext uri="{FF2B5EF4-FFF2-40B4-BE49-F238E27FC236}">
                <a16:creationId xmlns:a16="http://schemas.microsoft.com/office/drawing/2014/main" id="{C37D7786-256E-C7C5-0E34-458D7D29D2F6}"/>
              </a:ext>
            </a:extLst>
          </p:cNvPr>
          <p:cNvPicPr>
            <a:picLocks noChangeAspect="1"/>
          </p:cNvPicPr>
          <p:nvPr/>
        </p:nvPicPr>
        <p:blipFill>
          <a:blip r:embed="rId3"/>
          <a:stretch>
            <a:fillRect/>
          </a:stretch>
        </p:blipFill>
        <p:spPr>
          <a:xfrm>
            <a:off x="719137" y="1647825"/>
            <a:ext cx="10753725" cy="3562350"/>
          </a:xfrm>
          <a:prstGeom prst="rect">
            <a:avLst/>
          </a:prstGeom>
        </p:spPr>
      </p:pic>
      <p:sp>
        <p:nvSpPr>
          <p:cNvPr id="11" name="文本框 10">
            <a:extLst>
              <a:ext uri="{FF2B5EF4-FFF2-40B4-BE49-F238E27FC236}">
                <a16:creationId xmlns:a16="http://schemas.microsoft.com/office/drawing/2014/main" id="{0FDDAC86-7F9F-A0DB-23A6-C411504A4A0F}"/>
              </a:ext>
            </a:extLst>
          </p:cNvPr>
          <p:cNvSpPr txBox="1"/>
          <p:nvPr/>
        </p:nvSpPr>
        <p:spPr>
          <a:xfrm>
            <a:off x="4077183" y="1239004"/>
            <a:ext cx="6094070" cy="369332"/>
          </a:xfrm>
          <a:prstGeom prst="rect">
            <a:avLst/>
          </a:prstGeom>
          <a:noFill/>
        </p:spPr>
        <p:txBody>
          <a:bodyPr wrap="square">
            <a:spAutoFit/>
          </a:bodyPr>
          <a:lstStyle/>
          <a:p>
            <a:r>
              <a:rPr lang="zh-CN" altLang="en-US" b="0" i="0" dirty="0">
                <a:solidFill>
                  <a:srgbClr val="374151"/>
                </a:solidFill>
                <a:effectLst/>
                <a:latin typeface="Söhne"/>
              </a:rPr>
              <a:t>导入了一些与机器学习和神经网络相关的模块和库。</a:t>
            </a:r>
            <a:endParaRPr lang="zh-CN" altLang="en-US" dirty="0"/>
          </a:p>
        </p:txBody>
      </p:sp>
    </p:spTree>
    <p:extLst>
      <p:ext uri="{BB962C8B-B14F-4D97-AF65-F5344CB8AC3E}">
        <p14:creationId xmlns:p14="http://schemas.microsoft.com/office/powerpoint/2010/main" val="2342617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625114" y="545947"/>
            <a:ext cx="2941773" cy="461665"/>
          </a:xfrm>
          <a:prstGeom prst="rect">
            <a:avLst/>
          </a:prstGeom>
          <a:noFill/>
        </p:spPr>
        <p:txBody>
          <a:bodyPr wrap="square">
            <a:spAutoFit/>
          </a:bodyPr>
          <a:lstStyle/>
          <a:p>
            <a:r>
              <a:rPr lang="zh-CN" altLang="en-US" sz="2400" b="1" dirty="0">
                <a:latin typeface="-apple-system"/>
              </a:rPr>
              <a:t>数字降维可视化代码</a:t>
            </a:r>
            <a:endParaRPr lang="en-US" altLang="zh-CN" sz="2400" b="1" i="0" dirty="0">
              <a:effectLst/>
              <a:latin typeface="-apple-system"/>
            </a:endParaRPr>
          </a:p>
        </p:txBody>
      </p:sp>
      <p:pic>
        <p:nvPicPr>
          <p:cNvPr id="6" name="图片 5">
            <a:extLst>
              <a:ext uri="{FF2B5EF4-FFF2-40B4-BE49-F238E27FC236}">
                <a16:creationId xmlns:a16="http://schemas.microsoft.com/office/drawing/2014/main" id="{ED9A3F26-B1BB-AEC4-30D9-9F1D98B4DBEE}"/>
              </a:ext>
            </a:extLst>
          </p:cNvPr>
          <p:cNvPicPr>
            <a:picLocks noChangeAspect="1"/>
          </p:cNvPicPr>
          <p:nvPr/>
        </p:nvPicPr>
        <p:blipFill>
          <a:blip r:embed="rId3"/>
          <a:stretch>
            <a:fillRect/>
          </a:stretch>
        </p:blipFill>
        <p:spPr>
          <a:xfrm>
            <a:off x="523173" y="971563"/>
            <a:ext cx="7043714" cy="5630532"/>
          </a:xfrm>
          <a:prstGeom prst="rect">
            <a:avLst/>
          </a:prstGeom>
        </p:spPr>
      </p:pic>
      <p:sp>
        <p:nvSpPr>
          <p:cNvPr id="7" name="Rectangle 1">
            <a:extLst>
              <a:ext uri="{FF2B5EF4-FFF2-40B4-BE49-F238E27FC236}">
                <a16:creationId xmlns:a16="http://schemas.microsoft.com/office/drawing/2014/main" id="{EE2144F3-AE41-0323-34C0-CE1503474773}"/>
              </a:ext>
            </a:extLst>
          </p:cNvPr>
          <p:cNvSpPr>
            <a:spLocks noChangeArrowheads="1"/>
          </p:cNvSpPr>
          <p:nvPr/>
        </p:nvSpPr>
        <p:spPr bwMode="auto">
          <a:xfrm>
            <a:off x="6474208" y="1559448"/>
            <a:ext cx="57177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这段代码使用了Scikit-learn库中的多层感知器（MLP）分类器（</a:t>
            </a:r>
            <a:r>
              <a:rPr kumimoji="0" lang="zh-CN" altLang="zh-CN" b="1" i="0" u="none" strike="noStrike" cap="none" normalizeH="0" baseline="0" dirty="0">
                <a:ln>
                  <a:noFill/>
                </a:ln>
                <a:solidFill>
                  <a:schemeClr val="tx1"/>
                </a:solidFill>
                <a:effectLst/>
                <a:latin typeface="Arial Unicode MS"/>
                <a:ea typeface="Söhne Mono"/>
              </a:rPr>
              <a:t>MLPClassifier</a:t>
            </a:r>
            <a:r>
              <a:rPr kumimoji="0" lang="zh-CN" altLang="zh-CN" b="0" i="0" u="none" strike="noStrike" cap="none" normalizeH="0" baseline="0" dirty="0">
                <a:ln>
                  <a:noFill/>
                </a:ln>
                <a:solidFill>
                  <a:srgbClr val="374151"/>
                </a:solidFill>
                <a:effectLst/>
                <a:ea typeface="Söhne"/>
              </a:rPr>
              <a:t>）。</a:t>
            </a:r>
            <a:r>
              <a:rPr kumimoji="0" lang="zh-CN" altLang="zh-CN"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6517732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625114" y="545947"/>
            <a:ext cx="2941773" cy="461665"/>
          </a:xfrm>
          <a:prstGeom prst="rect">
            <a:avLst/>
          </a:prstGeom>
          <a:noFill/>
        </p:spPr>
        <p:txBody>
          <a:bodyPr wrap="square">
            <a:spAutoFit/>
          </a:bodyPr>
          <a:lstStyle/>
          <a:p>
            <a:r>
              <a:rPr lang="zh-CN" altLang="en-US" sz="2400" b="1" dirty="0">
                <a:latin typeface="-apple-system"/>
              </a:rPr>
              <a:t>数字降维可视化代码</a:t>
            </a:r>
            <a:endParaRPr lang="en-US" altLang="zh-CN" sz="2400" b="1" i="0" dirty="0">
              <a:effectLst/>
              <a:latin typeface="-apple-system"/>
            </a:endParaRPr>
          </a:p>
        </p:txBody>
      </p:sp>
      <p:pic>
        <p:nvPicPr>
          <p:cNvPr id="6" name="图片 5">
            <a:extLst>
              <a:ext uri="{FF2B5EF4-FFF2-40B4-BE49-F238E27FC236}">
                <a16:creationId xmlns:a16="http://schemas.microsoft.com/office/drawing/2014/main" id="{E349DAC0-897E-890B-3889-516AA2B8F888}"/>
              </a:ext>
            </a:extLst>
          </p:cNvPr>
          <p:cNvPicPr>
            <a:picLocks noChangeAspect="1"/>
          </p:cNvPicPr>
          <p:nvPr/>
        </p:nvPicPr>
        <p:blipFill>
          <a:blip r:embed="rId3"/>
          <a:stretch>
            <a:fillRect/>
          </a:stretch>
        </p:blipFill>
        <p:spPr>
          <a:xfrm>
            <a:off x="544285" y="1007612"/>
            <a:ext cx="7241721" cy="5572363"/>
          </a:xfrm>
          <a:prstGeom prst="rect">
            <a:avLst/>
          </a:prstGeom>
        </p:spPr>
      </p:pic>
      <p:sp>
        <p:nvSpPr>
          <p:cNvPr id="7" name="Rectangle 1">
            <a:extLst>
              <a:ext uri="{FF2B5EF4-FFF2-40B4-BE49-F238E27FC236}">
                <a16:creationId xmlns:a16="http://schemas.microsoft.com/office/drawing/2014/main" id="{216ED007-75C0-7045-3933-7D1E7FE45B03}"/>
              </a:ext>
            </a:extLst>
          </p:cNvPr>
          <p:cNvSpPr>
            <a:spLocks noChangeArrowheads="1"/>
          </p:cNvSpPr>
          <p:nvPr/>
        </p:nvSpPr>
        <p:spPr bwMode="auto">
          <a:xfrm>
            <a:off x="6573210" y="1202042"/>
            <a:ext cx="55508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使用之前定义的 </a:t>
            </a:r>
            <a:r>
              <a:rPr kumimoji="0" lang="zh-CN" altLang="zh-CN" b="1" i="0" u="none" strike="noStrike" cap="none" normalizeH="0" baseline="0" dirty="0">
                <a:ln>
                  <a:noFill/>
                </a:ln>
                <a:solidFill>
                  <a:schemeClr val="tx1"/>
                </a:solidFill>
                <a:effectLst/>
                <a:latin typeface="Arial Unicode MS"/>
                <a:ea typeface="Söhne Mono"/>
              </a:rPr>
              <a:t>pca</a:t>
            </a:r>
            <a:r>
              <a:rPr kumimoji="0" lang="zh-CN" altLang="zh-CN" b="0" i="0" u="none" strike="noStrike" cap="none" normalizeH="0" baseline="0" dirty="0">
                <a:ln>
                  <a:noFill/>
                </a:ln>
                <a:solidFill>
                  <a:srgbClr val="374151"/>
                </a:solidFill>
                <a:effectLst/>
                <a:ea typeface="Söhne"/>
              </a:rPr>
              <a:t> 函数对 </a:t>
            </a:r>
            <a:r>
              <a:rPr kumimoji="0" lang="zh-CN" altLang="zh-CN" b="1" i="0" u="none" strike="noStrike" cap="none" normalizeH="0" baseline="0" dirty="0">
                <a:ln>
                  <a:noFill/>
                </a:ln>
                <a:solidFill>
                  <a:schemeClr val="tx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进行主成分分析（PCA），保留了前两个主成分（即 </a:t>
            </a:r>
            <a:r>
              <a:rPr kumimoji="0" lang="zh-CN" altLang="zh-CN" b="1" i="0" u="none" strike="noStrike" cap="none" normalizeH="0" baseline="0" dirty="0">
                <a:ln>
                  <a:noFill/>
                </a:ln>
                <a:solidFill>
                  <a:schemeClr val="tx1"/>
                </a:solidFill>
                <a:effectLst/>
                <a:latin typeface="Arial Unicode MS"/>
                <a:ea typeface="Söhne Mono"/>
              </a:rPr>
              <a:t>top=2</a:t>
            </a:r>
            <a:r>
              <a:rPr kumimoji="0" lang="zh-CN" altLang="zh-CN" b="0" i="0" u="none" strike="noStrike" cap="none" normalizeH="0" baseline="0" dirty="0">
                <a:ln>
                  <a:noFill/>
                </a:ln>
                <a:solidFill>
                  <a:srgbClr val="374151"/>
                </a:solidFill>
                <a:effectLst/>
                <a:ea typeface="Söhne"/>
              </a:rPr>
              <a:t>），并得到了低维特征空间的数据 </a:t>
            </a:r>
            <a:r>
              <a:rPr kumimoji="0" lang="zh-CN" altLang="zh-CN" b="1" i="0" u="none" strike="noStrike" cap="none" normalizeH="0" baseline="0" dirty="0">
                <a:ln>
                  <a:noFill/>
                </a:ln>
                <a:solidFill>
                  <a:schemeClr val="tx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 和通过逆变换得到的重构数据矩阵 </a:t>
            </a:r>
            <a:r>
              <a:rPr kumimoji="0" lang="zh-CN" altLang="zh-CN" b="1" i="0" u="none" strike="noStrike" cap="none" normalizeH="0" baseline="0" dirty="0">
                <a:ln>
                  <a:noFill/>
                </a:ln>
                <a:solidFill>
                  <a:schemeClr val="tx1"/>
                </a:solidFill>
                <a:effectLst/>
                <a:latin typeface="Arial Unicode MS"/>
                <a:ea typeface="Söhne Mono"/>
              </a:rPr>
              <a:t>reconMat</a:t>
            </a:r>
            <a:r>
              <a:rPr kumimoji="0" lang="zh-CN" altLang="zh-CN" b="0" i="0" u="none" strike="noStrike" cap="none" normalizeH="0" baseline="0" dirty="0">
                <a:ln>
                  <a:noFill/>
                </a:ln>
                <a:solidFill>
                  <a:srgbClr val="374151"/>
                </a:solidFill>
                <a:effectLst/>
                <a:ea typeface="Söhne"/>
              </a:rPr>
              <a:t>。</a:t>
            </a:r>
            <a:r>
              <a:rPr kumimoji="0" lang="zh-CN" altLang="zh-CN" b="0" i="0" u="none" strike="noStrike" cap="none" normalizeH="0" baseline="0" dirty="0">
                <a:ln>
                  <a:noFill/>
                </a:ln>
                <a:solidFill>
                  <a:schemeClr val="tx1"/>
                </a:solidFill>
                <a:effectLst/>
                <a:latin typeface="Arial" panose="020B0604020202020204" pitchFamily="34" charset="0"/>
              </a:rPr>
              <a:t> </a:t>
            </a:r>
          </a:p>
        </p:txBody>
      </p:sp>
      <p:sp>
        <p:nvSpPr>
          <p:cNvPr id="11" name="文本框 10">
            <a:extLst>
              <a:ext uri="{FF2B5EF4-FFF2-40B4-BE49-F238E27FC236}">
                <a16:creationId xmlns:a16="http://schemas.microsoft.com/office/drawing/2014/main" id="{A3E9E2A8-0B27-99F4-E9BF-AE2C9E8CD526}"/>
              </a:ext>
            </a:extLst>
          </p:cNvPr>
          <p:cNvSpPr txBox="1"/>
          <p:nvPr/>
        </p:nvSpPr>
        <p:spPr>
          <a:xfrm>
            <a:off x="6801778" y="3106178"/>
            <a:ext cx="4264807" cy="923330"/>
          </a:xfrm>
          <a:prstGeom prst="rect">
            <a:avLst/>
          </a:prstGeom>
          <a:noFill/>
        </p:spPr>
        <p:txBody>
          <a:bodyPr wrap="square">
            <a:spAutoFit/>
          </a:bodyPr>
          <a:lstStyle/>
          <a:p>
            <a:r>
              <a:rPr lang="zh-CN" altLang="en-US" b="0" i="0" dirty="0">
                <a:solidFill>
                  <a:srgbClr val="374151"/>
                </a:solidFill>
                <a:effectLst/>
                <a:latin typeface="Söhne"/>
              </a:rPr>
              <a:t>用于绘制经过主成分分析（</a:t>
            </a:r>
            <a:r>
              <a:rPr lang="en-US" altLang="zh-CN" b="0" i="0" dirty="0">
                <a:solidFill>
                  <a:srgbClr val="374151"/>
                </a:solidFill>
                <a:effectLst/>
                <a:latin typeface="Söhne"/>
              </a:rPr>
              <a:t>PCA</a:t>
            </a:r>
            <a:r>
              <a:rPr lang="zh-CN" altLang="en-US" b="0" i="0" dirty="0">
                <a:solidFill>
                  <a:srgbClr val="374151"/>
                </a:solidFill>
                <a:effectLst/>
                <a:latin typeface="Söhne"/>
              </a:rPr>
              <a:t>）降维后的低维特征空间的散点图，其中 </a:t>
            </a:r>
            <a:r>
              <a:rPr lang="en-US" altLang="zh-CN" b="0" i="0" dirty="0">
                <a:solidFill>
                  <a:srgbClr val="374151"/>
                </a:solidFill>
                <a:effectLst/>
                <a:latin typeface="Söhne"/>
              </a:rPr>
              <a:t>x </a:t>
            </a:r>
            <a:r>
              <a:rPr lang="zh-CN" altLang="en-US" b="0" i="0" dirty="0">
                <a:solidFill>
                  <a:srgbClr val="374151"/>
                </a:solidFill>
                <a:effectLst/>
                <a:latin typeface="Söhne"/>
              </a:rPr>
              <a:t>轴表示第一个主成分，</a:t>
            </a:r>
            <a:r>
              <a:rPr lang="en-US" altLang="zh-CN" b="0" i="0" dirty="0">
                <a:solidFill>
                  <a:srgbClr val="374151"/>
                </a:solidFill>
                <a:effectLst/>
                <a:latin typeface="Söhne"/>
              </a:rPr>
              <a:t>y </a:t>
            </a:r>
            <a:r>
              <a:rPr lang="zh-CN" altLang="en-US" b="0" i="0" dirty="0">
                <a:solidFill>
                  <a:srgbClr val="374151"/>
                </a:solidFill>
                <a:effectLst/>
                <a:latin typeface="Söhne"/>
              </a:rPr>
              <a:t>轴表示第二个主成分。</a:t>
            </a:r>
            <a:endParaRPr lang="zh-CN" altLang="en-US" dirty="0"/>
          </a:p>
        </p:txBody>
      </p:sp>
    </p:spTree>
    <p:extLst>
      <p:ext uri="{BB962C8B-B14F-4D97-AF65-F5344CB8AC3E}">
        <p14:creationId xmlns:p14="http://schemas.microsoft.com/office/powerpoint/2010/main" val="1460682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625114" y="545947"/>
            <a:ext cx="2941773" cy="461665"/>
          </a:xfrm>
          <a:prstGeom prst="rect">
            <a:avLst/>
          </a:prstGeom>
          <a:noFill/>
        </p:spPr>
        <p:txBody>
          <a:bodyPr wrap="square">
            <a:spAutoFit/>
          </a:bodyPr>
          <a:lstStyle/>
          <a:p>
            <a:r>
              <a:rPr lang="zh-CN" altLang="en-US" sz="2400" b="1" dirty="0">
                <a:latin typeface="-apple-system"/>
              </a:rPr>
              <a:t>数字降维可视化代码</a:t>
            </a:r>
            <a:endParaRPr lang="en-US" altLang="zh-CN" sz="2400" b="1" i="0" dirty="0">
              <a:effectLst/>
              <a:latin typeface="-apple-system"/>
            </a:endParaRPr>
          </a:p>
        </p:txBody>
      </p:sp>
      <p:pic>
        <p:nvPicPr>
          <p:cNvPr id="6" name="图片 5">
            <a:extLst>
              <a:ext uri="{FF2B5EF4-FFF2-40B4-BE49-F238E27FC236}">
                <a16:creationId xmlns:a16="http://schemas.microsoft.com/office/drawing/2014/main" id="{F980BF9D-5493-E401-48B3-AB760FC9D0D5}"/>
              </a:ext>
            </a:extLst>
          </p:cNvPr>
          <p:cNvPicPr>
            <a:picLocks noChangeAspect="1"/>
          </p:cNvPicPr>
          <p:nvPr/>
        </p:nvPicPr>
        <p:blipFill>
          <a:blip r:embed="rId3"/>
          <a:stretch>
            <a:fillRect/>
          </a:stretch>
        </p:blipFill>
        <p:spPr>
          <a:xfrm>
            <a:off x="613637" y="1007612"/>
            <a:ext cx="6953250" cy="5381937"/>
          </a:xfrm>
          <a:prstGeom prst="rect">
            <a:avLst/>
          </a:prstGeom>
        </p:spPr>
      </p:pic>
      <p:sp>
        <p:nvSpPr>
          <p:cNvPr id="7" name="Rectangle 1">
            <a:extLst>
              <a:ext uri="{FF2B5EF4-FFF2-40B4-BE49-F238E27FC236}">
                <a16:creationId xmlns:a16="http://schemas.microsoft.com/office/drawing/2014/main" id="{F6CDE14D-05ED-C161-34F1-0868F869A217}"/>
              </a:ext>
            </a:extLst>
          </p:cNvPr>
          <p:cNvSpPr>
            <a:spLocks noChangeArrowheads="1"/>
          </p:cNvSpPr>
          <p:nvPr/>
        </p:nvSpPr>
        <p:spPr bwMode="auto">
          <a:xfrm>
            <a:off x="6960612" y="1297654"/>
            <a:ext cx="4984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使用了训练好的多层感知器（MLP）模型 (</a:t>
            </a:r>
            <a:r>
              <a:rPr kumimoji="0" lang="zh-CN" altLang="zh-CN" b="1" i="0" u="none" strike="noStrike" cap="none" normalizeH="0" baseline="0" dirty="0">
                <a:ln>
                  <a:noFill/>
                </a:ln>
                <a:solidFill>
                  <a:schemeClr val="tx1"/>
                </a:solidFill>
                <a:effectLst/>
                <a:latin typeface="Arial Unicode MS"/>
                <a:ea typeface="Söhne Mono"/>
              </a:rPr>
              <a:t>mlp</a:t>
            </a:r>
            <a:r>
              <a:rPr kumimoji="0" lang="zh-CN" altLang="zh-CN" b="0" i="0" u="none" strike="noStrike" cap="none" normalizeH="0" baseline="0" dirty="0">
                <a:ln>
                  <a:noFill/>
                </a:ln>
                <a:solidFill>
                  <a:srgbClr val="374151"/>
                </a:solidFill>
                <a:effectLst/>
                <a:ea typeface="Söhne"/>
              </a:rPr>
              <a:t>) 对原始数据 </a:t>
            </a:r>
            <a:r>
              <a:rPr kumimoji="0" lang="zh-CN" altLang="zh-CN" b="1" i="0" u="none" strike="noStrike" cap="none" normalizeH="0" baseline="0" dirty="0">
                <a:ln>
                  <a:noFill/>
                </a:ln>
                <a:solidFill>
                  <a:schemeClr val="tx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进行预测，得到了预测结果 </a:t>
            </a:r>
            <a:r>
              <a:rPr kumimoji="0" lang="zh-CN" altLang="zh-CN" b="1" i="0" u="none" strike="noStrike" cap="none" normalizeH="0" baseline="0" dirty="0">
                <a:ln>
                  <a:noFill/>
                </a:ln>
                <a:solidFill>
                  <a:schemeClr val="tx1"/>
                </a:solidFill>
                <a:effectLst/>
                <a:latin typeface="Arial Unicode MS"/>
                <a:ea typeface="Söhne Mono"/>
              </a:rPr>
              <a:t>predictions</a:t>
            </a:r>
            <a:r>
              <a:rPr kumimoji="0" lang="zh-CN" altLang="zh-CN" b="0" i="0" u="none" strike="noStrike" cap="none" normalizeH="0" baseline="0" dirty="0">
                <a:ln>
                  <a:noFill/>
                </a:ln>
                <a:solidFill>
                  <a:srgbClr val="374151"/>
                </a:solidFill>
                <a:effectLst/>
                <a:ea typeface="Söhne"/>
              </a:rPr>
              <a:t>。</a:t>
            </a:r>
            <a:r>
              <a:rPr kumimoji="0" lang="zh-CN" altLang="zh-CN" b="0" i="0" u="none" strike="noStrike" cap="none" normalizeH="0" baseline="0" dirty="0">
                <a:ln>
                  <a:noFill/>
                </a:ln>
                <a:solidFill>
                  <a:schemeClr val="tx1"/>
                </a:solidFill>
                <a:effectLst/>
                <a:latin typeface="Arial" panose="020B0604020202020204" pitchFamily="34" charset="0"/>
              </a:rPr>
              <a:t> </a:t>
            </a:r>
          </a:p>
        </p:txBody>
      </p:sp>
      <p:sp>
        <p:nvSpPr>
          <p:cNvPr id="9" name="Rectangle 2">
            <a:extLst>
              <a:ext uri="{FF2B5EF4-FFF2-40B4-BE49-F238E27FC236}">
                <a16:creationId xmlns:a16="http://schemas.microsoft.com/office/drawing/2014/main" id="{AE33F4F1-50B2-0989-6D46-35BD0A9F8129}"/>
              </a:ext>
            </a:extLst>
          </p:cNvPr>
          <p:cNvSpPr>
            <a:spLocks noChangeArrowheads="1"/>
          </p:cNvSpPr>
          <p:nvPr/>
        </p:nvSpPr>
        <p:spPr bwMode="auto">
          <a:xfrm>
            <a:off x="6961294" y="3429000"/>
            <a:ext cx="498331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用于绘制经过主成分分析（PCA）降维后的低维特征空间的散点图，同时使用原始数据的标签 </a:t>
            </a:r>
            <a:r>
              <a:rPr kumimoji="0" lang="zh-CN" altLang="zh-CN" b="1" i="0" u="none" strike="noStrike" cap="none" normalizeH="0" baseline="0" dirty="0">
                <a:ln>
                  <a:noFill/>
                </a:ln>
                <a:solidFill>
                  <a:schemeClr val="tx1"/>
                </a:solidFill>
                <a:effectLst/>
                <a:latin typeface="Arial Unicode MS"/>
                <a:ea typeface="Söhne Mono"/>
              </a:rPr>
              <a:t>y_data</a:t>
            </a:r>
            <a:r>
              <a:rPr kumimoji="0" lang="zh-CN" altLang="zh-CN" b="0" i="0" u="none" strike="noStrike" cap="none" normalizeH="0" baseline="0" dirty="0">
                <a:ln>
                  <a:noFill/>
                </a:ln>
                <a:solidFill>
                  <a:srgbClr val="374151"/>
                </a:solidFill>
                <a:effectLst/>
                <a:ea typeface="Söhne"/>
              </a:rPr>
              <a:t> 对散点图进行着色，以展示数据在低维空间的分布情况。</a:t>
            </a:r>
            <a:r>
              <a:rPr kumimoji="0" lang="zh-CN" altLang="zh-CN"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9862976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1" y="0"/>
            <a:ext cx="12192000" cy="6858000"/>
          </a:xfrm>
          <a:prstGeom prst="rtTriangle">
            <a:avLst/>
          </a:prstGeom>
          <a:solidFill>
            <a:srgbClr val="E59F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5" name="直角三角形 4"/>
          <p:cNvSpPr/>
          <p:nvPr/>
        </p:nvSpPr>
        <p:spPr>
          <a:xfrm flipH="1" flipV="1">
            <a:off x="0" y="0"/>
            <a:ext cx="12192000" cy="6858000"/>
          </a:xfrm>
          <a:prstGeom prst="rtTriangle">
            <a:avLst/>
          </a:prstGeom>
          <a:solidFill>
            <a:srgbClr val="5E7D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zh-CN" altLang="en-US" sz="1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3" name="矩形 2">
            <a:extLst>
              <a:ext uri="{FF2B5EF4-FFF2-40B4-BE49-F238E27FC236}">
                <a16:creationId xmlns:a16="http://schemas.microsoft.com/office/drawing/2014/main" id="{C2429117-0F0D-7B7D-43FB-0CEAECD9339F}"/>
              </a:ext>
            </a:extLst>
          </p:cNvPr>
          <p:cNvSpPr/>
          <p:nvPr/>
        </p:nvSpPr>
        <p:spPr>
          <a:xfrm>
            <a:off x="222885" y="255905"/>
            <a:ext cx="11833225" cy="63779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3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white"/>
              </a:solidFill>
              <a:effectLst/>
              <a:uLnTx/>
              <a:uFillTx/>
              <a:latin typeface="+mn-lt"/>
              <a:ea typeface="+mn-ea"/>
              <a:cs typeface="+mn-ea"/>
              <a:sym typeface="+mn-lt"/>
            </a:endParaRPr>
          </a:p>
        </p:txBody>
      </p:sp>
      <p:sp>
        <p:nvSpPr>
          <p:cNvPr id="8" name="文本框 7">
            <a:extLst>
              <a:ext uri="{FF2B5EF4-FFF2-40B4-BE49-F238E27FC236}">
                <a16:creationId xmlns:a16="http://schemas.microsoft.com/office/drawing/2014/main" id="{327691B5-5FE8-3DFF-54F6-664B7CE272BC}"/>
              </a:ext>
            </a:extLst>
          </p:cNvPr>
          <p:cNvSpPr txBox="1"/>
          <p:nvPr/>
        </p:nvSpPr>
        <p:spPr>
          <a:xfrm>
            <a:off x="4625114" y="545947"/>
            <a:ext cx="2941773" cy="461665"/>
          </a:xfrm>
          <a:prstGeom prst="rect">
            <a:avLst/>
          </a:prstGeom>
          <a:noFill/>
        </p:spPr>
        <p:txBody>
          <a:bodyPr wrap="square">
            <a:spAutoFit/>
          </a:bodyPr>
          <a:lstStyle/>
          <a:p>
            <a:r>
              <a:rPr lang="zh-CN" altLang="en-US" sz="2400" b="1" dirty="0">
                <a:latin typeface="-apple-system"/>
              </a:rPr>
              <a:t>数字降维可视化代码</a:t>
            </a:r>
            <a:endParaRPr lang="en-US" altLang="zh-CN" sz="2400" b="1" i="0" dirty="0">
              <a:effectLst/>
              <a:latin typeface="-apple-system"/>
            </a:endParaRPr>
          </a:p>
        </p:txBody>
      </p:sp>
      <p:pic>
        <p:nvPicPr>
          <p:cNvPr id="6" name="图片 5">
            <a:extLst>
              <a:ext uri="{FF2B5EF4-FFF2-40B4-BE49-F238E27FC236}">
                <a16:creationId xmlns:a16="http://schemas.microsoft.com/office/drawing/2014/main" id="{7EE1B00B-8EF6-C038-C179-1DE417E65D8F}"/>
              </a:ext>
            </a:extLst>
          </p:cNvPr>
          <p:cNvPicPr>
            <a:picLocks noChangeAspect="1"/>
          </p:cNvPicPr>
          <p:nvPr/>
        </p:nvPicPr>
        <p:blipFill>
          <a:blip r:embed="rId3"/>
          <a:stretch>
            <a:fillRect/>
          </a:stretch>
        </p:blipFill>
        <p:spPr>
          <a:xfrm>
            <a:off x="587542" y="1007612"/>
            <a:ext cx="6212208" cy="5516204"/>
          </a:xfrm>
          <a:prstGeom prst="rect">
            <a:avLst/>
          </a:prstGeom>
        </p:spPr>
      </p:pic>
      <p:sp>
        <p:nvSpPr>
          <p:cNvPr id="7" name="Rectangle 1">
            <a:extLst>
              <a:ext uri="{FF2B5EF4-FFF2-40B4-BE49-F238E27FC236}">
                <a16:creationId xmlns:a16="http://schemas.microsoft.com/office/drawing/2014/main" id="{E38BAC5C-FFBB-179B-92C9-16AA6CA01C01}"/>
              </a:ext>
            </a:extLst>
          </p:cNvPr>
          <p:cNvSpPr>
            <a:spLocks noChangeArrowheads="1"/>
          </p:cNvSpPr>
          <p:nvPr/>
        </p:nvSpPr>
        <p:spPr bwMode="auto">
          <a:xfrm>
            <a:off x="5323992" y="1107728"/>
            <a:ext cx="66451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使用之前定义的 </a:t>
            </a:r>
            <a:r>
              <a:rPr kumimoji="0" lang="zh-CN" altLang="zh-CN" b="1" i="0" u="none" strike="noStrike" cap="none" normalizeH="0" baseline="0" dirty="0">
                <a:ln>
                  <a:noFill/>
                </a:ln>
                <a:solidFill>
                  <a:schemeClr val="tx1"/>
                </a:solidFill>
                <a:effectLst/>
                <a:latin typeface="Arial Unicode MS"/>
                <a:ea typeface="Söhne Mono"/>
              </a:rPr>
              <a:t>pca</a:t>
            </a:r>
            <a:r>
              <a:rPr kumimoji="0" lang="zh-CN" altLang="zh-CN" b="0" i="0" u="none" strike="noStrike" cap="none" normalizeH="0" baseline="0" dirty="0">
                <a:ln>
                  <a:noFill/>
                </a:ln>
                <a:solidFill>
                  <a:srgbClr val="374151"/>
                </a:solidFill>
                <a:effectLst/>
                <a:ea typeface="Söhne"/>
              </a:rPr>
              <a:t> 函数对 </a:t>
            </a:r>
            <a:r>
              <a:rPr kumimoji="0" lang="zh-CN" altLang="zh-CN" b="1" i="0" u="none" strike="noStrike" cap="none" normalizeH="0" baseline="0" dirty="0">
                <a:ln>
                  <a:noFill/>
                </a:ln>
                <a:solidFill>
                  <a:schemeClr val="tx1"/>
                </a:solidFill>
                <a:effectLst/>
                <a:latin typeface="Arial Unicode MS"/>
                <a:ea typeface="Söhne Mono"/>
              </a:rPr>
              <a:t>x_data</a:t>
            </a:r>
            <a:r>
              <a:rPr kumimoji="0" lang="zh-CN" altLang="zh-CN" b="0" i="0" u="none" strike="noStrike" cap="none" normalizeH="0" baseline="0" dirty="0">
                <a:ln>
                  <a:noFill/>
                </a:ln>
                <a:solidFill>
                  <a:srgbClr val="374151"/>
                </a:solidFill>
                <a:effectLst/>
                <a:ea typeface="Söhne"/>
              </a:rPr>
              <a:t> 进行主成分分析（PCA），保留了前三个主成分（即 </a:t>
            </a:r>
            <a:r>
              <a:rPr kumimoji="0" lang="zh-CN" altLang="zh-CN" b="1" i="0" u="none" strike="noStrike" cap="none" normalizeH="0" baseline="0" dirty="0">
                <a:ln>
                  <a:noFill/>
                </a:ln>
                <a:solidFill>
                  <a:schemeClr val="tx1"/>
                </a:solidFill>
                <a:effectLst/>
                <a:latin typeface="Arial Unicode MS"/>
                <a:ea typeface="Söhne Mono"/>
              </a:rPr>
              <a:t>top=3</a:t>
            </a:r>
            <a:r>
              <a:rPr kumimoji="0" lang="zh-CN" altLang="zh-CN" b="0" i="0" u="none" strike="noStrike" cap="none" normalizeH="0" baseline="0" dirty="0">
                <a:ln>
                  <a:noFill/>
                </a:ln>
                <a:solidFill>
                  <a:srgbClr val="374151"/>
                </a:solidFill>
                <a:effectLst/>
                <a:ea typeface="Söhne"/>
              </a:rPr>
              <a:t>），并得到了低维特征空间的数据 </a:t>
            </a:r>
            <a:r>
              <a:rPr kumimoji="0" lang="zh-CN" altLang="zh-CN" b="1" i="0" u="none" strike="noStrike" cap="none" normalizeH="0" baseline="0" dirty="0">
                <a:ln>
                  <a:noFill/>
                </a:ln>
                <a:solidFill>
                  <a:schemeClr val="tx1"/>
                </a:solidFill>
                <a:effectLst/>
                <a:latin typeface="Arial Unicode MS"/>
                <a:ea typeface="Söhne Mono"/>
              </a:rPr>
              <a:t>lowDDataMat</a:t>
            </a:r>
            <a:r>
              <a:rPr kumimoji="0" lang="zh-CN" altLang="zh-CN" b="0" i="0" u="none" strike="noStrike" cap="none" normalizeH="0" baseline="0" dirty="0">
                <a:ln>
                  <a:noFill/>
                </a:ln>
                <a:solidFill>
                  <a:srgbClr val="374151"/>
                </a:solidFill>
                <a:effectLst/>
                <a:ea typeface="Söhne"/>
              </a:rPr>
              <a:t> 和通过逆变换得到的重构数据矩阵 </a:t>
            </a:r>
            <a:r>
              <a:rPr kumimoji="0" lang="zh-CN" altLang="zh-CN" b="1" i="0" u="none" strike="noStrike" cap="none" normalizeH="0" baseline="0" dirty="0">
                <a:ln>
                  <a:noFill/>
                </a:ln>
                <a:solidFill>
                  <a:schemeClr val="tx1"/>
                </a:solidFill>
                <a:effectLst/>
                <a:latin typeface="Arial Unicode MS"/>
                <a:ea typeface="Söhne Mono"/>
              </a:rPr>
              <a:t>reconMat</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2196977A-B77F-2ED4-62E5-E3D18A55A09D}"/>
              </a:ext>
            </a:extLst>
          </p:cNvPr>
          <p:cNvSpPr>
            <a:spLocks noChangeArrowheads="1"/>
          </p:cNvSpPr>
          <p:nvPr/>
        </p:nvSpPr>
        <p:spPr bwMode="auto">
          <a:xfrm>
            <a:off x="5323992" y="2983210"/>
            <a:ext cx="633357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374151"/>
                </a:solidFill>
                <a:effectLst/>
                <a:latin typeface="Arial" panose="020B0604020202020204" pitchFamily="34" charset="0"/>
                <a:ea typeface="Söhne"/>
              </a:rPr>
              <a:t>使用了 Matplotlib 的 3D 绘图功能 (</a:t>
            </a:r>
            <a:r>
              <a:rPr kumimoji="0" lang="zh-CN" altLang="zh-CN" b="1" i="0" u="none" strike="noStrike" cap="none" normalizeH="0" baseline="0" dirty="0">
                <a:ln>
                  <a:noFill/>
                </a:ln>
                <a:solidFill>
                  <a:schemeClr val="tx1"/>
                </a:solidFill>
                <a:effectLst/>
                <a:latin typeface="Arial Unicode MS"/>
                <a:ea typeface="Söhne Mono"/>
              </a:rPr>
              <a:t>mpl_toolkits.mplot3d</a:t>
            </a:r>
            <a:r>
              <a:rPr kumimoji="0" lang="zh-CN" altLang="zh-CN" b="0" i="0" u="none" strike="noStrike" cap="none" normalizeH="0" baseline="0" dirty="0">
                <a:ln>
                  <a:noFill/>
                </a:ln>
                <a:solidFill>
                  <a:srgbClr val="374151"/>
                </a:solidFill>
                <a:effectLst/>
                <a:ea typeface="Söhne"/>
              </a:rPr>
              <a:t>)，绘制了一个三维散点图，其中 x 轴、y 轴和 z 轴分别表示数据的前三个主成分，而点的颜色由原始数据的标签 </a:t>
            </a:r>
            <a:r>
              <a:rPr kumimoji="0" lang="zh-CN" altLang="zh-CN" b="1" i="0" u="none" strike="noStrike" cap="none" normalizeH="0" baseline="0" dirty="0">
                <a:ln>
                  <a:noFill/>
                </a:ln>
                <a:solidFill>
                  <a:schemeClr val="tx1"/>
                </a:solidFill>
                <a:effectLst/>
                <a:latin typeface="Arial Unicode MS"/>
                <a:ea typeface="Söhne Mono"/>
              </a:rPr>
              <a:t>y_data</a:t>
            </a:r>
            <a:r>
              <a:rPr kumimoji="0" lang="zh-CN" altLang="zh-CN" b="0" i="0" u="none" strike="noStrike" cap="none" normalizeH="0" baseline="0" dirty="0">
                <a:ln>
                  <a:noFill/>
                </a:ln>
                <a:solidFill>
                  <a:srgbClr val="374151"/>
                </a:solidFill>
                <a:effectLst/>
                <a:ea typeface="Söhne"/>
              </a:rPr>
              <a:t> 决定</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15766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34e42e4d-c2dc-4735-8e69-123eaabac001"/>
  <p:tag name="COMMONDATA" val="eyJoZGlkIjoiNzk1ZDVkYWNjMDUzNzA2MDZhMmNjNTdmMjlmNzZkND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25314</TotalTime>
  <Words>4876</Words>
  <Application>Microsoft Office PowerPoint</Application>
  <PresentationFormat>宽屏</PresentationFormat>
  <Paragraphs>271</Paragraphs>
  <Slides>32</Slides>
  <Notes>14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7" baseType="lpstr">
      <vt:lpstr>-apple-system</vt:lpstr>
      <vt:lpstr>Arial Unicode MS</vt:lpstr>
      <vt:lpstr>MathJax_Main</vt:lpstr>
      <vt:lpstr>MathJax_Math-italic</vt:lpstr>
      <vt:lpstr>PingFang SC</vt:lpstr>
      <vt:lpstr>Söhne</vt:lpstr>
      <vt:lpstr>等线</vt:lpstr>
      <vt:lpstr>等线 Light</vt:lpstr>
      <vt:lpstr>方正兰亭粗黑简体</vt:lpstr>
      <vt:lpstr>Arial</vt:lpstr>
      <vt:lpstr>Calibri</vt:lpstr>
      <vt:lpstr>Times New Roman</vt:lpstr>
      <vt:lpstr>Office 主题​​</vt:lpstr>
      <vt:lpstr>Equation</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subject>PPTS</dc:subject>
  <dc:creator>PPTS</dc:creator>
  <cp:keywords>PPTS</cp:keywords>
  <dc:description>PPTS</dc:description>
  <cp:lastModifiedBy>清晨 张</cp:lastModifiedBy>
  <cp:revision>3515</cp:revision>
  <dcterms:created xsi:type="dcterms:W3CDTF">2016-05-10T11:12:00Z</dcterms:created>
  <dcterms:modified xsi:type="dcterms:W3CDTF">2023-12-14T01:04:42Z</dcterms:modified>
  <cp:category>PPTS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KSORubyTemplateID">
    <vt:lpwstr>8</vt:lpwstr>
  </property>
  <property fmtid="{D5CDD505-2E9C-101B-9397-08002B2CF9AE}" pid="4" name="ICV">
    <vt:lpwstr>07F239085C03443CBE9E53E536EA30D3_12</vt:lpwstr>
  </property>
</Properties>
</file>
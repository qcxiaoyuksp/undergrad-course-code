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9" r:id="rId3"/>
    <p:sldId id="283" r:id="rId4"/>
    <p:sldId id="263" r:id="rId5"/>
    <p:sldId id="268" r:id="rId6"/>
    <p:sldId id="340" r:id="rId7"/>
    <p:sldId id="316" r:id="rId8"/>
    <p:sldId id="376" r:id="rId9"/>
    <p:sldId id="325" r:id="rId10"/>
    <p:sldId id="350" r:id="rId11"/>
    <p:sldId id="438" r:id="rId12"/>
    <p:sldId id="427" r:id="rId13"/>
    <p:sldId id="354" r:id="rId14"/>
    <p:sldId id="377" r:id="rId15"/>
    <p:sldId id="355" r:id="rId16"/>
    <p:sldId id="439" r:id="rId17"/>
    <p:sldId id="374" r:id="rId18"/>
    <p:sldId id="378" r:id="rId19"/>
    <p:sldId id="348" r:id="rId20"/>
    <p:sldId id="406" r:id="rId21"/>
    <p:sldId id="335" r:id="rId22"/>
    <p:sldId id="336" r:id="rId23"/>
    <p:sldId id="317" r:id="rId24"/>
    <p:sldId id="330" r:id="rId25"/>
    <p:sldId id="315" r:id="rId26"/>
    <p:sldId id="379" r:id="rId27"/>
    <p:sldId id="405" r:id="rId28"/>
  </p:sldIdLst>
  <p:sldSz cx="12192000" cy="6858000"/>
  <p:notesSz cx="6858000" cy="9144000"/>
  <p:embeddedFontLst>
    <p:embeddedFont>
      <p:font typeface="华文新魏" panose="02010800040101010101" charset="-122"/>
      <p:regular r:id="rId32"/>
    </p:embeddedFont>
    <p:embeddedFont>
      <p:font typeface="华文行楷" panose="02010800040101010101" charset="-122"/>
      <p:regular r:id="rId33"/>
    </p:embeddedFont>
    <p:embeddedFont>
      <p:font typeface="汉仪中宋简" panose="02010609000101010101" pitchFamily="49" charset="-122"/>
      <p:regular r:id="rId34"/>
    </p:embeddedFont>
    <p:embeddedFont>
      <p:font typeface="等线" panose="02010600030101010101" charset="-122"/>
      <p:regular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Impact" panose="020B0806030902050204" pitchFamily="34" charset="0"/>
      <p:regular r:id="rId40"/>
    </p:embeddedFont>
    <p:embeddedFont>
      <p:font typeface="微软雅黑" panose="020B0503020204020204" charset="-122"/>
      <p:regular r:id="rId41"/>
    </p:embeddedFont>
    <p:embeddedFont>
      <p:font typeface="黑体" panose="02010609060101010101" charset="-122"/>
      <p:regular r:id="rId42"/>
    </p:embeddedFont>
    <p:embeddedFont>
      <p:font typeface="Nirmala UI Semilight" panose="020B0402040204020203" charset="0"/>
      <p:regular r:id="rId43"/>
    </p:embeddedFont>
    <p:embeddedFont>
      <p:font typeface="等线 Light" panose="02010600030101010101" charset="-122"/>
      <p:regular r:id="rId44"/>
    </p:embeddedFont>
    <p:embeddedFont>
      <p:font typeface="Cambria Math" panose="02040503050406030204" charset="0"/>
      <p:regular r:id="rId45"/>
    </p:embeddedFont>
    <p:embeddedFont>
      <p:font typeface="隶书" panose="02010509060101010101" charset="-122"/>
      <p:regular r:id="rId46"/>
    </p:embeddedFont>
    <p:embeddedFont>
      <p:font typeface="Lucida Calligraphy" panose="03010101010101010101" charset="0"/>
      <p:regular r:id="rId47"/>
      <p:italic r:id="rId48"/>
    </p:embeddedFont>
    <p:embeddedFont>
      <p:font typeface="华文彩云" panose="02010800040101010101" charset="-122"/>
      <p:regular r:id="rId49"/>
    </p:embeddedFont>
  </p:embeddedFontLst>
  <p:custDataLst>
    <p:tags r:id="rId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9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C1C3"/>
    <a:srgbClr val="30404F"/>
    <a:srgbClr val="6FB4BD"/>
    <a:srgbClr val="D0E3DF"/>
    <a:srgbClr val="BEDCE0"/>
    <a:srgbClr val="9AC8CE"/>
    <a:srgbClr val="5EA69D"/>
    <a:srgbClr val="79B5AE"/>
    <a:srgbClr val="8FC3CE"/>
    <a:srgbClr val="7BB9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37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90" y="-690"/>
      </p:cViewPr>
      <p:guideLst>
        <p:guide orient="horz" pos="2099"/>
        <p:guide pos="38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gs" Target="tags/tag85.xml"/><Relationship Id="rId5" Type="http://schemas.openxmlformats.org/officeDocument/2006/relationships/slide" Target="slides/slide3.xml"/><Relationship Id="rId49" Type="http://schemas.openxmlformats.org/officeDocument/2006/relationships/font" Target="fonts/font18.fntdata"/><Relationship Id="rId48" Type="http://schemas.openxmlformats.org/officeDocument/2006/relationships/font" Target="fonts/font17.fntdata"/><Relationship Id="rId47" Type="http://schemas.openxmlformats.org/officeDocument/2006/relationships/font" Target="fonts/font16.fntdata"/><Relationship Id="rId46" Type="http://schemas.openxmlformats.org/officeDocument/2006/relationships/font" Target="fonts/font15.fntdata"/><Relationship Id="rId45" Type="http://schemas.openxmlformats.org/officeDocument/2006/relationships/font" Target="fonts/font14.fntdata"/><Relationship Id="rId44" Type="http://schemas.openxmlformats.org/officeDocument/2006/relationships/font" Target="fonts/font13.fntdata"/><Relationship Id="rId43" Type="http://schemas.openxmlformats.org/officeDocument/2006/relationships/font" Target="fonts/font12.fntdata"/><Relationship Id="rId42" Type="http://schemas.openxmlformats.org/officeDocument/2006/relationships/font" Target="fonts/font11.fntdata"/><Relationship Id="rId41" Type="http://schemas.openxmlformats.org/officeDocument/2006/relationships/font" Target="fonts/font10.fntdata"/><Relationship Id="rId40" Type="http://schemas.openxmlformats.org/officeDocument/2006/relationships/font" Target="fonts/font9.fntdata"/><Relationship Id="rId4" Type="http://schemas.openxmlformats.org/officeDocument/2006/relationships/slide" Target="slides/slide2.xml"/><Relationship Id="rId39" Type="http://schemas.openxmlformats.org/officeDocument/2006/relationships/font" Target="fonts/font8.fntdata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D007-34A2-4023-A39A-E20DEE7157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FCDDA-C87C-43D2-8527-3D4DBC3E5B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D007-34A2-4023-A39A-E20DEE7157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FCDDA-C87C-43D2-8527-3D4DBC3E5B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D007-34A2-4023-A39A-E20DEE7157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FCDDA-C87C-43D2-8527-3D4DBC3E5B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D007-34A2-4023-A39A-E20DEE7157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FCDDA-C87C-43D2-8527-3D4DBC3E5B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D007-34A2-4023-A39A-E20DEE7157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FCDDA-C87C-43D2-8527-3D4DBC3E5B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D007-34A2-4023-A39A-E20DEE7157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FCDDA-C87C-43D2-8527-3D4DBC3E5B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D007-34A2-4023-A39A-E20DEE7157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FCDDA-C87C-43D2-8527-3D4DBC3E5B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D007-34A2-4023-A39A-E20DEE7157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FCDDA-C87C-43D2-8527-3D4DBC3E5B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D007-34A2-4023-A39A-E20DEE7157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FCDDA-C87C-43D2-8527-3D4DBC3E5B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D007-34A2-4023-A39A-E20DEE7157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FCDDA-C87C-43D2-8527-3D4DBC3E5B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D007-34A2-4023-A39A-E20DEE7157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FCDDA-C87C-43D2-8527-3D4DBC3E5B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2D007-34A2-4023-A39A-E20DEE7157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FCDDA-C87C-43D2-8527-3D4DBC3E5BA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image" Target="../media/image10.png"/><Relationship Id="rId5" Type="http://schemas.openxmlformats.org/officeDocument/2006/relationships/tags" Target="../tags/tag14.xml"/><Relationship Id="rId4" Type="http://schemas.openxmlformats.org/officeDocument/2006/relationships/image" Target="../media/image9.png"/><Relationship Id="rId3" Type="http://schemas.openxmlformats.org/officeDocument/2006/relationships/tags" Target="../tags/tag13.xml"/><Relationship Id="rId2" Type="http://schemas.openxmlformats.org/officeDocument/2006/relationships/image" Target="../media/image8.png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image" Target="../media/image12.png"/><Relationship Id="rId5" Type="http://schemas.openxmlformats.org/officeDocument/2006/relationships/tags" Target="../tags/tag19.xml"/><Relationship Id="rId4" Type="http://schemas.openxmlformats.org/officeDocument/2006/relationships/image" Target="../media/image9.png"/><Relationship Id="rId3" Type="http://schemas.openxmlformats.org/officeDocument/2006/relationships/tags" Target="../tags/tag18.xml"/><Relationship Id="rId2" Type="http://schemas.openxmlformats.org/officeDocument/2006/relationships/image" Target="../media/image8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6.png"/><Relationship Id="rId17" Type="http://schemas.openxmlformats.org/officeDocument/2006/relationships/tags" Target="../tags/tag27.xml"/><Relationship Id="rId16" Type="http://schemas.openxmlformats.org/officeDocument/2006/relationships/tags" Target="../tags/tag26.xml"/><Relationship Id="rId15" Type="http://schemas.openxmlformats.org/officeDocument/2006/relationships/image" Target="../media/image15.png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image" Target="../media/image14.png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image" Target="../media/image12.png"/><Relationship Id="rId5" Type="http://schemas.openxmlformats.org/officeDocument/2006/relationships/tags" Target="../tags/tag30.xml"/><Relationship Id="rId4" Type="http://schemas.openxmlformats.org/officeDocument/2006/relationships/image" Target="../media/image9.png"/><Relationship Id="rId3" Type="http://schemas.openxmlformats.org/officeDocument/2006/relationships/tags" Target="../tags/tag29.xml"/><Relationship Id="rId2" Type="http://schemas.openxmlformats.org/officeDocument/2006/relationships/image" Target="../media/image8.png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9.png"/><Relationship Id="rId3" Type="http://schemas.openxmlformats.org/officeDocument/2006/relationships/tags" Target="../tags/tag43.xml"/><Relationship Id="rId2" Type="http://schemas.openxmlformats.org/officeDocument/2006/relationships/image" Target="../media/image8.png"/><Relationship Id="rId1" Type="http://schemas.openxmlformats.org/officeDocument/2006/relationships/tags" Target="../tags/tag4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5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55.xml"/><Relationship Id="rId3" Type="http://schemas.openxmlformats.org/officeDocument/2006/relationships/image" Target="../media/image26.png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27.wmf"/><Relationship Id="rId3" Type="http://schemas.openxmlformats.org/officeDocument/2006/relationships/oleObject" Target="../embeddings/oleObject2.bin"/><Relationship Id="rId29" Type="http://schemas.openxmlformats.org/officeDocument/2006/relationships/vmlDrawing" Target="../drawings/vmlDrawing2.v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76.xml"/><Relationship Id="rId26" Type="http://schemas.openxmlformats.org/officeDocument/2006/relationships/image" Target="../media/image31.png"/><Relationship Id="rId25" Type="http://schemas.openxmlformats.org/officeDocument/2006/relationships/image" Target="../media/image30.png"/><Relationship Id="rId24" Type="http://schemas.openxmlformats.org/officeDocument/2006/relationships/tags" Target="../tags/tag75.xml"/><Relationship Id="rId23" Type="http://schemas.openxmlformats.org/officeDocument/2006/relationships/tags" Target="../tags/tag74.xml"/><Relationship Id="rId22" Type="http://schemas.openxmlformats.org/officeDocument/2006/relationships/image" Target="../media/image29.png"/><Relationship Id="rId21" Type="http://schemas.openxmlformats.org/officeDocument/2006/relationships/tags" Target="../tags/tag73.xml"/><Relationship Id="rId20" Type="http://schemas.openxmlformats.org/officeDocument/2006/relationships/tags" Target="../tags/tag72.xml"/><Relationship Id="rId2" Type="http://schemas.openxmlformats.org/officeDocument/2006/relationships/tags" Target="../tags/tag57.xml"/><Relationship Id="rId19" Type="http://schemas.openxmlformats.org/officeDocument/2006/relationships/image" Target="../media/image28.png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image" Target="../media/image32.png"/><Relationship Id="rId2" Type="http://schemas.openxmlformats.org/officeDocument/2006/relationships/image" Target="../media/image20.png"/><Relationship Id="rId1" Type="http://schemas.openxmlformats.org/officeDocument/2006/relationships/tags" Target="../tags/tag77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20.png"/><Relationship Id="rId1" Type="http://schemas.openxmlformats.org/officeDocument/2006/relationships/tags" Target="../tags/tag8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3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4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在地上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684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弧形 9"/>
          <p:cNvSpPr/>
          <p:nvPr/>
        </p:nvSpPr>
        <p:spPr>
          <a:xfrm rot="11787073">
            <a:off x="4577890" y="1738240"/>
            <a:ext cx="2989788" cy="2989788"/>
          </a:xfrm>
          <a:prstGeom prst="arc">
            <a:avLst>
              <a:gd name="adj1" fmla="val 12330940"/>
              <a:gd name="adj2" fmla="val 19688861"/>
            </a:avLst>
          </a:prstGeom>
          <a:ln w="1905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弧形 4"/>
          <p:cNvSpPr/>
          <p:nvPr/>
        </p:nvSpPr>
        <p:spPr>
          <a:xfrm rot="11787073">
            <a:off x="4577892" y="1738239"/>
            <a:ext cx="2989788" cy="2989788"/>
          </a:xfrm>
          <a:prstGeom prst="arc">
            <a:avLst>
              <a:gd name="adj1" fmla="val 20591728"/>
              <a:gd name="adj2" fmla="val 2965874"/>
            </a:avLst>
          </a:prstGeom>
          <a:ln w="1905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/>
        </p:nvSpPr>
        <p:spPr>
          <a:xfrm rot="11787073">
            <a:off x="4577891" y="1738240"/>
            <a:ext cx="2989788" cy="2989788"/>
          </a:xfrm>
          <a:prstGeom prst="arc">
            <a:avLst>
              <a:gd name="adj1" fmla="val 6016209"/>
              <a:gd name="adj2" fmla="val 10751203"/>
            </a:avLst>
          </a:prstGeom>
          <a:ln w="1905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2">
            <a:alphaModFix amt="70000"/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" t="32957" b="27587"/>
          <a:stretch>
            <a:fillRect/>
          </a:stretch>
        </p:blipFill>
        <p:spPr>
          <a:xfrm rot="5400000" flipH="1">
            <a:off x="6834182" y="2992092"/>
            <a:ext cx="647700" cy="258774"/>
          </a:xfrm>
          <a:custGeom>
            <a:avLst/>
            <a:gdLst>
              <a:gd name="connsiteX0" fmla="*/ 1007268 w 1007268"/>
              <a:gd name="connsiteY0" fmla="*/ 182603 h 402431"/>
              <a:gd name="connsiteX1" fmla="*/ 1007268 w 1007268"/>
              <a:gd name="connsiteY1" fmla="*/ 366343 h 402431"/>
              <a:gd name="connsiteX2" fmla="*/ 845343 w 1007268"/>
              <a:gd name="connsiteY2" fmla="*/ 335756 h 402431"/>
              <a:gd name="connsiteX3" fmla="*/ 802481 w 1007268"/>
              <a:gd name="connsiteY3" fmla="*/ 352425 h 402431"/>
              <a:gd name="connsiteX4" fmla="*/ 692943 w 1007268"/>
              <a:gd name="connsiteY4" fmla="*/ 402431 h 402431"/>
              <a:gd name="connsiteX5" fmla="*/ 647700 w 1007268"/>
              <a:gd name="connsiteY5" fmla="*/ 397669 h 402431"/>
              <a:gd name="connsiteX6" fmla="*/ 581025 w 1007268"/>
              <a:gd name="connsiteY6" fmla="*/ 359569 h 402431"/>
              <a:gd name="connsiteX7" fmla="*/ 504825 w 1007268"/>
              <a:gd name="connsiteY7" fmla="*/ 340519 h 402431"/>
              <a:gd name="connsiteX8" fmla="*/ 431006 w 1007268"/>
              <a:gd name="connsiteY8" fmla="*/ 369094 h 402431"/>
              <a:gd name="connsiteX9" fmla="*/ 347662 w 1007268"/>
              <a:gd name="connsiteY9" fmla="*/ 400050 h 402431"/>
              <a:gd name="connsiteX10" fmla="*/ 280987 w 1007268"/>
              <a:gd name="connsiteY10" fmla="*/ 376238 h 402431"/>
              <a:gd name="connsiteX11" fmla="*/ 197643 w 1007268"/>
              <a:gd name="connsiteY11" fmla="*/ 335756 h 402431"/>
              <a:gd name="connsiteX12" fmla="*/ 76200 w 1007268"/>
              <a:gd name="connsiteY12" fmla="*/ 361950 h 402431"/>
              <a:gd name="connsiteX13" fmla="*/ 0 w 1007268"/>
              <a:gd name="connsiteY13" fmla="*/ 147638 h 402431"/>
              <a:gd name="connsiteX14" fmla="*/ 11906 w 1007268"/>
              <a:gd name="connsiteY14" fmla="*/ 69056 h 402431"/>
              <a:gd name="connsiteX15" fmla="*/ 38100 w 1007268"/>
              <a:gd name="connsiteY15" fmla="*/ 61913 h 402431"/>
              <a:gd name="connsiteX16" fmla="*/ 335756 w 1007268"/>
              <a:gd name="connsiteY16" fmla="*/ 0 h 402431"/>
              <a:gd name="connsiteX17" fmla="*/ 404812 w 1007268"/>
              <a:gd name="connsiteY17" fmla="*/ 0 h 402431"/>
              <a:gd name="connsiteX18" fmla="*/ 802481 w 1007268"/>
              <a:gd name="connsiteY18" fmla="*/ 2381 h 402431"/>
              <a:gd name="connsiteX19" fmla="*/ 821531 w 1007268"/>
              <a:gd name="connsiteY19" fmla="*/ 16669 h 402431"/>
              <a:gd name="connsiteX20" fmla="*/ 964406 w 1007268"/>
              <a:gd name="connsiteY20" fmla="*/ 66675 h 402431"/>
              <a:gd name="connsiteX21" fmla="*/ 983456 w 1007268"/>
              <a:gd name="connsiteY21" fmla="*/ 95250 h 402431"/>
              <a:gd name="connsiteX22" fmla="*/ 985837 w 1007268"/>
              <a:gd name="connsiteY22" fmla="*/ 104775 h 40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07268" h="402431">
                <a:moveTo>
                  <a:pt x="1007268" y="182603"/>
                </a:moveTo>
                <a:lnTo>
                  <a:pt x="1007268" y="366343"/>
                </a:lnTo>
                <a:lnTo>
                  <a:pt x="845343" y="335756"/>
                </a:lnTo>
                <a:lnTo>
                  <a:pt x="802481" y="352425"/>
                </a:lnTo>
                <a:lnTo>
                  <a:pt x="692943" y="402431"/>
                </a:lnTo>
                <a:lnTo>
                  <a:pt x="647700" y="397669"/>
                </a:lnTo>
                <a:lnTo>
                  <a:pt x="581025" y="359569"/>
                </a:lnTo>
                <a:lnTo>
                  <a:pt x="504825" y="340519"/>
                </a:lnTo>
                <a:lnTo>
                  <a:pt x="431006" y="369094"/>
                </a:lnTo>
                <a:lnTo>
                  <a:pt x="347662" y="400050"/>
                </a:lnTo>
                <a:lnTo>
                  <a:pt x="280987" y="376238"/>
                </a:lnTo>
                <a:lnTo>
                  <a:pt x="197643" y="335756"/>
                </a:lnTo>
                <a:lnTo>
                  <a:pt x="76200" y="361950"/>
                </a:lnTo>
                <a:lnTo>
                  <a:pt x="0" y="147638"/>
                </a:lnTo>
                <a:lnTo>
                  <a:pt x="11906" y="69056"/>
                </a:lnTo>
                <a:lnTo>
                  <a:pt x="38100" y="61913"/>
                </a:lnTo>
                <a:lnTo>
                  <a:pt x="335756" y="0"/>
                </a:lnTo>
                <a:lnTo>
                  <a:pt x="404812" y="0"/>
                </a:lnTo>
                <a:cubicBezTo>
                  <a:pt x="537368" y="794"/>
                  <a:pt x="669925" y="1587"/>
                  <a:pt x="802481" y="2381"/>
                </a:cubicBezTo>
                <a:lnTo>
                  <a:pt x="821531" y="16669"/>
                </a:lnTo>
                <a:lnTo>
                  <a:pt x="964406" y="66675"/>
                </a:lnTo>
                <a:cubicBezTo>
                  <a:pt x="970756" y="76200"/>
                  <a:pt x="977844" y="85273"/>
                  <a:pt x="983456" y="95250"/>
                </a:cubicBezTo>
                <a:cubicBezTo>
                  <a:pt x="985060" y="98102"/>
                  <a:pt x="985837" y="104775"/>
                  <a:pt x="985837" y="104775"/>
                </a:cubicBezTo>
                <a:close/>
              </a:path>
            </a:pathLst>
          </a:custGeom>
        </p:spPr>
      </p:pic>
      <p:pic>
        <p:nvPicPr>
          <p:cNvPr id="18" name="图片 17" descr="背景图案&#10;&#10;描述已自动生成"/>
          <p:cNvPicPr>
            <a:picLocks noChangeAspect="1"/>
          </p:cNvPicPr>
          <p:nvPr/>
        </p:nvPicPr>
        <p:blipFill>
          <a:blip r:embed="rId2">
            <a:alphaModFix amt="70000"/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" t="32957" b="27587"/>
          <a:stretch>
            <a:fillRect/>
          </a:stretch>
        </p:blipFill>
        <p:spPr>
          <a:xfrm flipH="1">
            <a:off x="4065446" y="3233133"/>
            <a:ext cx="943656" cy="323045"/>
          </a:xfrm>
          <a:custGeom>
            <a:avLst/>
            <a:gdLst>
              <a:gd name="connsiteX0" fmla="*/ 1007268 w 1007268"/>
              <a:gd name="connsiteY0" fmla="*/ 182603 h 402431"/>
              <a:gd name="connsiteX1" fmla="*/ 1007268 w 1007268"/>
              <a:gd name="connsiteY1" fmla="*/ 366343 h 402431"/>
              <a:gd name="connsiteX2" fmla="*/ 845343 w 1007268"/>
              <a:gd name="connsiteY2" fmla="*/ 335756 h 402431"/>
              <a:gd name="connsiteX3" fmla="*/ 802481 w 1007268"/>
              <a:gd name="connsiteY3" fmla="*/ 352425 h 402431"/>
              <a:gd name="connsiteX4" fmla="*/ 692943 w 1007268"/>
              <a:gd name="connsiteY4" fmla="*/ 402431 h 402431"/>
              <a:gd name="connsiteX5" fmla="*/ 647700 w 1007268"/>
              <a:gd name="connsiteY5" fmla="*/ 397669 h 402431"/>
              <a:gd name="connsiteX6" fmla="*/ 581025 w 1007268"/>
              <a:gd name="connsiteY6" fmla="*/ 359569 h 402431"/>
              <a:gd name="connsiteX7" fmla="*/ 504825 w 1007268"/>
              <a:gd name="connsiteY7" fmla="*/ 340519 h 402431"/>
              <a:gd name="connsiteX8" fmla="*/ 431006 w 1007268"/>
              <a:gd name="connsiteY8" fmla="*/ 369094 h 402431"/>
              <a:gd name="connsiteX9" fmla="*/ 347662 w 1007268"/>
              <a:gd name="connsiteY9" fmla="*/ 400050 h 402431"/>
              <a:gd name="connsiteX10" fmla="*/ 280987 w 1007268"/>
              <a:gd name="connsiteY10" fmla="*/ 376238 h 402431"/>
              <a:gd name="connsiteX11" fmla="*/ 197643 w 1007268"/>
              <a:gd name="connsiteY11" fmla="*/ 335756 h 402431"/>
              <a:gd name="connsiteX12" fmla="*/ 76200 w 1007268"/>
              <a:gd name="connsiteY12" fmla="*/ 361950 h 402431"/>
              <a:gd name="connsiteX13" fmla="*/ 0 w 1007268"/>
              <a:gd name="connsiteY13" fmla="*/ 147638 h 402431"/>
              <a:gd name="connsiteX14" fmla="*/ 11906 w 1007268"/>
              <a:gd name="connsiteY14" fmla="*/ 69056 h 402431"/>
              <a:gd name="connsiteX15" fmla="*/ 38100 w 1007268"/>
              <a:gd name="connsiteY15" fmla="*/ 61913 h 402431"/>
              <a:gd name="connsiteX16" fmla="*/ 335756 w 1007268"/>
              <a:gd name="connsiteY16" fmla="*/ 0 h 402431"/>
              <a:gd name="connsiteX17" fmla="*/ 404812 w 1007268"/>
              <a:gd name="connsiteY17" fmla="*/ 0 h 402431"/>
              <a:gd name="connsiteX18" fmla="*/ 802481 w 1007268"/>
              <a:gd name="connsiteY18" fmla="*/ 2381 h 402431"/>
              <a:gd name="connsiteX19" fmla="*/ 821531 w 1007268"/>
              <a:gd name="connsiteY19" fmla="*/ 16669 h 402431"/>
              <a:gd name="connsiteX20" fmla="*/ 964406 w 1007268"/>
              <a:gd name="connsiteY20" fmla="*/ 66675 h 402431"/>
              <a:gd name="connsiteX21" fmla="*/ 983456 w 1007268"/>
              <a:gd name="connsiteY21" fmla="*/ 95250 h 402431"/>
              <a:gd name="connsiteX22" fmla="*/ 985837 w 1007268"/>
              <a:gd name="connsiteY22" fmla="*/ 104775 h 40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07268" h="402431">
                <a:moveTo>
                  <a:pt x="1007268" y="182603"/>
                </a:moveTo>
                <a:lnTo>
                  <a:pt x="1007268" y="366343"/>
                </a:lnTo>
                <a:lnTo>
                  <a:pt x="845343" y="335756"/>
                </a:lnTo>
                <a:lnTo>
                  <a:pt x="802481" y="352425"/>
                </a:lnTo>
                <a:lnTo>
                  <a:pt x="692943" y="402431"/>
                </a:lnTo>
                <a:lnTo>
                  <a:pt x="647700" y="397669"/>
                </a:lnTo>
                <a:lnTo>
                  <a:pt x="581025" y="359569"/>
                </a:lnTo>
                <a:lnTo>
                  <a:pt x="504825" y="340519"/>
                </a:lnTo>
                <a:lnTo>
                  <a:pt x="431006" y="369094"/>
                </a:lnTo>
                <a:lnTo>
                  <a:pt x="347662" y="400050"/>
                </a:lnTo>
                <a:lnTo>
                  <a:pt x="280987" y="376238"/>
                </a:lnTo>
                <a:lnTo>
                  <a:pt x="197643" y="335756"/>
                </a:lnTo>
                <a:lnTo>
                  <a:pt x="76200" y="361950"/>
                </a:lnTo>
                <a:lnTo>
                  <a:pt x="0" y="147638"/>
                </a:lnTo>
                <a:lnTo>
                  <a:pt x="11906" y="69056"/>
                </a:lnTo>
                <a:lnTo>
                  <a:pt x="38100" y="61913"/>
                </a:lnTo>
                <a:lnTo>
                  <a:pt x="335756" y="0"/>
                </a:lnTo>
                <a:lnTo>
                  <a:pt x="404812" y="0"/>
                </a:lnTo>
                <a:cubicBezTo>
                  <a:pt x="537368" y="794"/>
                  <a:pt x="669925" y="1587"/>
                  <a:pt x="802481" y="2381"/>
                </a:cubicBezTo>
                <a:lnTo>
                  <a:pt x="821531" y="16669"/>
                </a:lnTo>
                <a:lnTo>
                  <a:pt x="964406" y="66675"/>
                </a:lnTo>
                <a:cubicBezTo>
                  <a:pt x="970756" y="76200"/>
                  <a:pt x="977844" y="85273"/>
                  <a:pt x="983456" y="95250"/>
                </a:cubicBezTo>
                <a:cubicBezTo>
                  <a:pt x="985060" y="98102"/>
                  <a:pt x="985837" y="104775"/>
                  <a:pt x="985837" y="104775"/>
                </a:cubicBezTo>
                <a:close/>
              </a:path>
            </a:pathLst>
          </a:custGeom>
        </p:spPr>
      </p:pic>
      <p:sp>
        <p:nvSpPr>
          <p:cNvPr id="19" name="文本框 18"/>
          <p:cNvSpPr txBox="1"/>
          <p:nvPr/>
        </p:nvSpPr>
        <p:spPr>
          <a:xfrm>
            <a:off x="6661794" y="2675181"/>
            <a:ext cx="323165" cy="15130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en-US" altLang="zh-CN" sz="900" dirty="0"/>
              <a:t>ZHONGGUOFENG</a:t>
            </a:r>
            <a:endParaRPr lang="zh-CN" altLang="en-US" sz="900" dirty="0"/>
          </a:p>
        </p:txBody>
      </p:sp>
      <p:pic>
        <p:nvPicPr>
          <p:cNvPr id="20" name="图片 19" descr="文本&#10;&#10;描述已自动生成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05" t="6984" b="50053"/>
          <a:stretch>
            <a:fillRect/>
          </a:stretch>
        </p:blipFill>
        <p:spPr>
          <a:xfrm>
            <a:off x="2457509" y="3968509"/>
            <a:ext cx="2052504" cy="1000981"/>
          </a:xfrm>
          <a:custGeom>
            <a:avLst/>
            <a:gdLst>
              <a:gd name="connsiteX0" fmla="*/ 4905828 w 6041571"/>
              <a:gd name="connsiteY0" fmla="*/ 0 h 2946400"/>
              <a:gd name="connsiteX1" fmla="*/ 6041571 w 6041571"/>
              <a:gd name="connsiteY1" fmla="*/ 817181 h 2946400"/>
              <a:gd name="connsiteX2" fmla="*/ 6041571 w 6041571"/>
              <a:gd name="connsiteY2" fmla="*/ 1266653 h 2946400"/>
              <a:gd name="connsiteX3" fmla="*/ 5907314 w 6041571"/>
              <a:gd name="connsiteY3" fmla="*/ 2278743 h 2946400"/>
              <a:gd name="connsiteX4" fmla="*/ 4920342 w 6041571"/>
              <a:gd name="connsiteY4" fmla="*/ 2627086 h 2946400"/>
              <a:gd name="connsiteX5" fmla="*/ 3439885 w 6041571"/>
              <a:gd name="connsiteY5" fmla="*/ 2946400 h 2946400"/>
              <a:gd name="connsiteX6" fmla="*/ 2206171 w 6041571"/>
              <a:gd name="connsiteY6" fmla="*/ 2481943 h 2946400"/>
              <a:gd name="connsiteX7" fmla="*/ 1480457 w 6041571"/>
              <a:gd name="connsiteY7" fmla="*/ 1756229 h 2946400"/>
              <a:gd name="connsiteX8" fmla="*/ 740228 w 6041571"/>
              <a:gd name="connsiteY8" fmla="*/ 1175658 h 2946400"/>
              <a:gd name="connsiteX9" fmla="*/ 0 w 6041571"/>
              <a:gd name="connsiteY9" fmla="*/ 580572 h 2946400"/>
              <a:gd name="connsiteX10" fmla="*/ 246742 w 6041571"/>
              <a:gd name="connsiteY10" fmla="*/ 72572 h 2946400"/>
              <a:gd name="connsiteX11" fmla="*/ 870857 w 6041571"/>
              <a:gd name="connsiteY11" fmla="*/ 203200 h 2946400"/>
              <a:gd name="connsiteX12" fmla="*/ 696685 w 6041571"/>
              <a:gd name="connsiteY12" fmla="*/ 798286 h 2946400"/>
              <a:gd name="connsiteX13" fmla="*/ 2960914 w 6041571"/>
              <a:gd name="connsiteY13" fmla="*/ 58058 h 2946400"/>
              <a:gd name="connsiteX14" fmla="*/ 4905828 w 6041571"/>
              <a:gd name="connsiteY14" fmla="*/ 0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41571" h="2946400">
                <a:moveTo>
                  <a:pt x="4905828" y="0"/>
                </a:moveTo>
                <a:lnTo>
                  <a:pt x="6041571" y="817181"/>
                </a:lnTo>
                <a:lnTo>
                  <a:pt x="6041571" y="1266653"/>
                </a:lnTo>
                <a:lnTo>
                  <a:pt x="5907314" y="2278743"/>
                </a:lnTo>
                <a:lnTo>
                  <a:pt x="4920342" y="2627086"/>
                </a:lnTo>
                <a:lnTo>
                  <a:pt x="3439885" y="2946400"/>
                </a:lnTo>
                <a:lnTo>
                  <a:pt x="2206171" y="2481943"/>
                </a:lnTo>
                <a:lnTo>
                  <a:pt x="1480457" y="1756229"/>
                </a:lnTo>
                <a:lnTo>
                  <a:pt x="740228" y="1175658"/>
                </a:lnTo>
                <a:lnTo>
                  <a:pt x="0" y="580572"/>
                </a:lnTo>
                <a:lnTo>
                  <a:pt x="246742" y="72572"/>
                </a:lnTo>
                <a:lnTo>
                  <a:pt x="870857" y="203200"/>
                </a:lnTo>
                <a:lnTo>
                  <a:pt x="696685" y="798286"/>
                </a:lnTo>
                <a:lnTo>
                  <a:pt x="2960914" y="58058"/>
                </a:lnTo>
                <a:lnTo>
                  <a:pt x="4905828" y="0"/>
                </a:lnTo>
                <a:close/>
              </a:path>
            </a:pathLst>
          </a:custGeom>
        </p:spPr>
      </p:pic>
      <p:pic>
        <p:nvPicPr>
          <p:cNvPr id="21" name="图片 20" descr="文本&#10;&#10;描述已自动生成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05" t="6984" b="50053"/>
          <a:stretch>
            <a:fillRect/>
          </a:stretch>
        </p:blipFill>
        <p:spPr>
          <a:xfrm flipH="1">
            <a:off x="7559123" y="1796648"/>
            <a:ext cx="2052504" cy="1000981"/>
          </a:xfrm>
          <a:custGeom>
            <a:avLst/>
            <a:gdLst>
              <a:gd name="connsiteX0" fmla="*/ 4905828 w 6041571"/>
              <a:gd name="connsiteY0" fmla="*/ 0 h 2946400"/>
              <a:gd name="connsiteX1" fmla="*/ 6041571 w 6041571"/>
              <a:gd name="connsiteY1" fmla="*/ 817181 h 2946400"/>
              <a:gd name="connsiteX2" fmla="*/ 6041571 w 6041571"/>
              <a:gd name="connsiteY2" fmla="*/ 1266653 h 2946400"/>
              <a:gd name="connsiteX3" fmla="*/ 5907314 w 6041571"/>
              <a:gd name="connsiteY3" fmla="*/ 2278743 h 2946400"/>
              <a:gd name="connsiteX4" fmla="*/ 4920342 w 6041571"/>
              <a:gd name="connsiteY4" fmla="*/ 2627086 h 2946400"/>
              <a:gd name="connsiteX5" fmla="*/ 3439885 w 6041571"/>
              <a:gd name="connsiteY5" fmla="*/ 2946400 h 2946400"/>
              <a:gd name="connsiteX6" fmla="*/ 2206171 w 6041571"/>
              <a:gd name="connsiteY6" fmla="*/ 2481943 h 2946400"/>
              <a:gd name="connsiteX7" fmla="*/ 1480457 w 6041571"/>
              <a:gd name="connsiteY7" fmla="*/ 1756229 h 2946400"/>
              <a:gd name="connsiteX8" fmla="*/ 740228 w 6041571"/>
              <a:gd name="connsiteY8" fmla="*/ 1175658 h 2946400"/>
              <a:gd name="connsiteX9" fmla="*/ 0 w 6041571"/>
              <a:gd name="connsiteY9" fmla="*/ 580572 h 2946400"/>
              <a:gd name="connsiteX10" fmla="*/ 246742 w 6041571"/>
              <a:gd name="connsiteY10" fmla="*/ 72572 h 2946400"/>
              <a:gd name="connsiteX11" fmla="*/ 870857 w 6041571"/>
              <a:gd name="connsiteY11" fmla="*/ 203200 h 2946400"/>
              <a:gd name="connsiteX12" fmla="*/ 696685 w 6041571"/>
              <a:gd name="connsiteY12" fmla="*/ 798286 h 2946400"/>
              <a:gd name="connsiteX13" fmla="*/ 2960914 w 6041571"/>
              <a:gd name="connsiteY13" fmla="*/ 58058 h 2946400"/>
              <a:gd name="connsiteX14" fmla="*/ 4905828 w 6041571"/>
              <a:gd name="connsiteY14" fmla="*/ 0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41571" h="2946400">
                <a:moveTo>
                  <a:pt x="4905828" y="0"/>
                </a:moveTo>
                <a:lnTo>
                  <a:pt x="6041571" y="817181"/>
                </a:lnTo>
                <a:lnTo>
                  <a:pt x="6041571" y="1266653"/>
                </a:lnTo>
                <a:lnTo>
                  <a:pt x="5907314" y="2278743"/>
                </a:lnTo>
                <a:lnTo>
                  <a:pt x="4920342" y="2627086"/>
                </a:lnTo>
                <a:lnTo>
                  <a:pt x="3439885" y="2946400"/>
                </a:lnTo>
                <a:lnTo>
                  <a:pt x="2206171" y="2481943"/>
                </a:lnTo>
                <a:lnTo>
                  <a:pt x="1480457" y="1756229"/>
                </a:lnTo>
                <a:lnTo>
                  <a:pt x="740228" y="1175658"/>
                </a:lnTo>
                <a:lnTo>
                  <a:pt x="0" y="580572"/>
                </a:lnTo>
                <a:lnTo>
                  <a:pt x="246742" y="72572"/>
                </a:lnTo>
                <a:lnTo>
                  <a:pt x="870857" y="203200"/>
                </a:lnTo>
                <a:lnTo>
                  <a:pt x="696685" y="798286"/>
                </a:lnTo>
                <a:lnTo>
                  <a:pt x="2960914" y="58058"/>
                </a:lnTo>
                <a:lnTo>
                  <a:pt x="4905828" y="0"/>
                </a:lnTo>
                <a:close/>
              </a:path>
            </a:pathLst>
          </a:custGeom>
        </p:spPr>
      </p:pic>
      <p:sp>
        <p:nvSpPr>
          <p:cNvPr id="22" name="椭圆 21"/>
          <p:cNvSpPr/>
          <p:nvPr/>
        </p:nvSpPr>
        <p:spPr>
          <a:xfrm>
            <a:off x="1611212" y="1282070"/>
            <a:ext cx="914400" cy="914400"/>
          </a:xfrm>
          <a:prstGeom prst="ellipse">
            <a:avLst/>
          </a:prstGeom>
          <a:gradFill>
            <a:gsLst>
              <a:gs pos="0">
                <a:srgbClr val="F6661E">
                  <a:alpha val="90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06069" y="3769572"/>
            <a:ext cx="379981" cy="370575"/>
          </a:xfrm>
          <a:custGeom>
            <a:avLst/>
            <a:gdLst/>
            <a:ahLst/>
            <a:cxnLst/>
            <a:rect l="l" t="t" r="r" b="b"/>
            <a:pathLst>
              <a:path w="962025" h="938212">
                <a:moveTo>
                  <a:pt x="225114" y="726149"/>
                </a:moveTo>
                <a:cubicBezTo>
                  <a:pt x="225864" y="726949"/>
                  <a:pt x="224737" y="729852"/>
                  <a:pt x="221733" y="734857"/>
                </a:cubicBezTo>
                <a:cubicBezTo>
                  <a:pt x="218729" y="739863"/>
                  <a:pt x="215102" y="744116"/>
                  <a:pt x="210852" y="747616"/>
                </a:cubicBezTo>
                <a:cubicBezTo>
                  <a:pt x="208269" y="751503"/>
                  <a:pt x="206097" y="752285"/>
                  <a:pt x="204337" y="749960"/>
                </a:cubicBezTo>
                <a:cubicBezTo>
                  <a:pt x="202577" y="747635"/>
                  <a:pt x="202738" y="745168"/>
                  <a:pt x="204821" y="742560"/>
                </a:cubicBezTo>
                <a:cubicBezTo>
                  <a:pt x="207800" y="739577"/>
                  <a:pt x="210871" y="736757"/>
                  <a:pt x="214033" y="734101"/>
                </a:cubicBezTo>
                <a:cubicBezTo>
                  <a:pt x="217195" y="731445"/>
                  <a:pt x="220666" y="729171"/>
                  <a:pt x="224445" y="727280"/>
                </a:cubicBezTo>
                <a:close/>
                <a:moveTo>
                  <a:pt x="677643" y="721703"/>
                </a:moveTo>
                <a:lnTo>
                  <a:pt x="676858" y="725121"/>
                </a:lnTo>
                <a:cubicBezTo>
                  <a:pt x="675814" y="727307"/>
                  <a:pt x="674127" y="729930"/>
                  <a:pt x="671797" y="732989"/>
                </a:cubicBezTo>
                <a:cubicBezTo>
                  <a:pt x="667137" y="739107"/>
                  <a:pt x="661651" y="743741"/>
                  <a:pt x="655339" y="746891"/>
                </a:cubicBezTo>
                <a:cubicBezTo>
                  <a:pt x="653251" y="749953"/>
                  <a:pt x="651697" y="750305"/>
                  <a:pt x="650676" y="747947"/>
                </a:cubicBezTo>
                <a:cubicBezTo>
                  <a:pt x="649656" y="745589"/>
                  <a:pt x="649899" y="743550"/>
                  <a:pt x="651408" y="741829"/>
                </a:cubicBezTo>
                <a:cubicBezTo>
                  <a:pt x="655899" y="737096"/>
                  <a:pt x="660135" y="733280"/>
                  <a:pt x="664116" y="730383"/>
                </a:cubicBezTo>
                <a:close/>
                <a:moveTo>
                  <a:pt x="246961" y="678565"/>
                </a:moveTo>
                <a:lnTo>
                  <a:pt x="246145" y="680962"/>
                </a:lnTo>
                <a:cubicBezTo>
                  <a:pt x="245817" y="682934"/>
                  <a:pt x="245719" y="685243"/>
                  <a:pt x="245850" y="687888"/>
                </a:cubicBezTo>
                <a:cubicBezTo>
                  <a:pt x="245850" y="690726"/>
                  <a:pt x="246254" y="693660"/>
                  <a:pt x="247062" y="696691"/>
                </a:cubicBezTo>
                <a:cubicBezTo>
                  <a:pt x="247871" y="699722"/>
                  <a:pt x="251427" y="701438"/>
                  <a:pt x="257731" y="701838"/>
                </a:cubicBezTo>
                <a:cubicBezTo>
                  <a:pt x="260093" y="700792"/>
                  <a:pt x="261875" y="700322"/>
                  <a:pt x="263077" y="700428"/>
                </a:cubicBezTo>
                <a:cubicBezTo>
                  <a:pt x="264279" y="700535"/>
                  <a:pt x="265747" y="701194"/>
                  <a:pt x="267480" y="702406"/>
                </a:cubicBezTo>
                <a:cubicBezTo>
                  <a:pt x="273634" y="707818"/>
                  <a:pt x="279719" y="712998"/>
                  <a:pt x="285735" y="717946"/>
                </a:cubicBezTo>
                <a:cubicBezTo>
                  <a:pt x="291751" y="722894"/>
                  <a:pt x="297809" y="728288"/>
                  <a:pt x="303909" y="734129"/>
                </a:cubicBezTo>
                <a:cubicBezTo>
                  <a:pt x="305201" y="735708"/>
                  <a:pt x="305604" y="737010"/>
                  <a:pt x="305118" y="738035"/>
                </a:cubicBezTo>
                <a:cubicBezTo>
                  <a:pt x="304633" y="739060"/>
                  <a:pt x="303438" y="740523"/>
                  <a:pt x="301534" y="742423"/>
                </a:cubicBezTo>
                <a:cubicBezTo>
                  <a:pt x="292014" y="752972"/>
                  <a:pt x="283080" y="759555"/>
                  <a:pt x="274733" y="762171"/>
                </a:cubicBezTo>
                <a:lnTo>
                  <a:pt x="262446" y="764567"/>
                </a:lnTo>
                <a:lnTo>
                  <a:pt x="264728" y="758861"/>
                </a:lnTo>
                <a:cubicBezTo>
                  <a:pt x="264554" y="755993"/>
                  <a:pt x="263299" y="752530"/>
                  <a:pt x="260962" y="748472"/>
                </a:cubicBezTo>
                <a:cubicBezTo>
                  <a:pt x="258316" y="746818"/>
                  <a:pt x="257275" y="744951"/>
                  <a:pt x="257840" y="742869"/>
                </a:cubicBezTo>
                <a:cubicBezTo>
                  <a:pt x="258404" y="740788"/>
                  <a:pt x="259464" y="738579"/>
                  <a:pt x="261018" y="736242"/>
                </a:cubicBezTo>
                <a:cubicBezTo>
                  <a:pt x="266701" y="727446"/>
                  <a:pt x="267498" y="719601"/>
                  <a:pt x="263408" y="712706"/>
                </a:cubicBezTo>
                <a:cubicBezTo>
                  <a:pt x="259319" y="705810"/>
                  <a:pt x="252518" y="701915"/>
                  <a:pt x="243006" y="701019"/>
                </a:cubicBezTo>
                <a:cubicBezTo>
                  <a:pt x="239677" y="699915"/>
                  <a:pt x="236415" y="698703"/>
                  <a:pt x="233220" y="697385"/>
                </a:cubicBezTo>
                <a:cubicBezTo>
                  <a:pt x="230024" y="696066"/>
                  <a:pt x="225345" y="698688"/>
                  <a:pt x="219183" y="705250"/>
                </a:cubicBezTo>
                <a:cubicBezTo>
                  <a:pt x="215121" y="707712"/>
                  <a:pt x="210820" y="709863"/>
                  <a:pt x="206281" y="711703"/>
                </a:cubicBezTo>
                <a:lnTo>
                  <a:pt x="203732" y="712898"/>
                </a:lnTo>
                <a:lnTo>
                  <a:pt x="208277" y="707814"/>
                </a:lnTo>
                <a:cubicBezTo>
                  <a:pt x="212596" y="703680"/>
                  <a:pt x="217160" y="699967"/>
                  <a:pt x="221970" y="696675"/>
                </a:cubicBezTo>
                <a:close/>
                <a:moveTo>
                  <a:pt x="329976" y="678308"/>
                </a:moveTo>
                <a:cubicBezTo>
                  <a:pt x="330622" y="678812"/>
                  <a:pt x="329398" y="682329"/>
                  <a:pt x="326304" y="688860"/>
                </a:cubicBezTo>
                <a:cubicBezTo>
                  <a:pt x="323211" y="695391"/>
                  <a:pt x="321010" y="700883"/>
                  <a:pt x="319702" y="705337"/>
                </a:cubicBezTo>
                <a:cubicBezTo>
                  <a:pt x="319298" y="706279"/>
                  <a:pt x="319130" y="706951"/>
                  <a:pt x="319199" y="707353"/>
                </a:cubicBezTo>
                <a:cubicBezTo>
                  <a:pt x="319267" y="707755"/>
                  <a:pt x="319300" y="707493"/>
                  <a:pt x="319295" y="706569"/>
                </a:cubicBezTo>
                <a:cubicBezTo>
                  <a:pt x="316512" y="704248"/>
                  <a:pt x="313761" y="701727"/>
                  <a:pt x="311043" y="699007"/>
                </a:cubicBezTo>
                <a:cubicBezTo>
                  <a:pt x="308324" y="696286"/>
                  <a:pt x="306588" y="693986"/>
                  <a:pt x="305834" y="692107"/>
                </a:cubicBezTo>
                <a:cubicBezTo>
                  <a:pt x="305167" y="691569"/>
                  <a:pt x="305541" y="690703"/>
                  <a:pt x="306956" y="689507"/>
                </a:cubicBezTo>
                <a:cubicBezTo>
                  <a:pt x="308370" y="688311"/>
                  <a:pt x="309802" y="687351"/>
                  <a:pt x="311252" y="686626"/>
                </a:cubicBezTo>
                <a:close/>
                <a:moveTo>
                  <a:pt x="275011" y="602812"/>
                </a:moveTo>
                <a:cubicBezTo>
                  <a:pt x="274977" y="603204"/>
                  <a:pt x="275192" y="604771"/>
                  <a:pt x="275654" y="607512"/>
                </a:cubicBezTo>
                <a:lnTo>
                  <a:pt x="278004" y="622324"/>
                </a:lnTo>
                <a:cubicBezTo>
                  <a:pt x="280783" y="632836"/>
                  <a:pt x="286287" y="639696"/>
                  <a:pt x="294516" y="642904"/>
                </a:cubicBezTo>
                <a:cubicBezTo>
                  <a:pt x="302744" y="646112"/>
                  <a:pt x="311375" y="644910"/>
                  <a:pt x="320408" y="639298"/>
                </a:cubicBezTo>
                <a:cubicBezTo>
                  <a:pt x="321504" y="638831"/>
                  <a:pt x="323634" y="638099"/>
                  <a:pt x="326798" y="637101"/>
                </a:cubicBezTo>
                <a:lnTo>
                  <a:pt x="330815" y="634706"/>
                </a:lnTo>
                <a:lnTo>
                  <a:pt x="309462" y="655687"/>
                </a:lnTo>
                <a:cubicBezTo>
                  <a:pt x="303014" y="661881"/>
                  <a:pt x="296253" y="666231"/>
                  <a:pt x="289179" y="668740"/>
                </a:cubicBezTo>
                <a:cubicBezTo>
                  <a:pt x="286212" y="668740"/>
                  <a:pt x="283560" y="669221"/>
                  <a:pt x="281223" y="670183"/>
                </a:cubicBezTo>
                <a:cubicBezTo>
                  <a:pt x="278885" y="671146"/>
                  <a:pt x="276948" y="671723"/>
                  <a:pt x="275411" y="671914"/>
                </a:cubicBezTo>
                <a:lnTo>
                  <a:pt x="258980" y="671127"/>
                </a:lnTo>
                <a:lnTo>
                  <a:pt x="255574" y="672631"/>
                </a:lnTo>
                <a:lnTo>
                  <a:pt x="259088" y="666434"/>
                </a:lnTo>
                <a:cubicBezTo>
                  <a:pt x="259693" y="664225"/>
                  <a:pt x="259560" y="662175"/>
                  <a:pt x="258687" y="660287"/>
                </a:cubicBezTo>
                <a:cubicBezTo>
                  <a:pt x="256941" y="656510"/>
                  <a:pt x="253210" y="654622"/>
                  <a:pt x="247494" y="654622"/>
                </a:cubicBezTo>
                <a:cubicBezTo>
                  <a:pt x="240752" y="654622"/>
                  <a:pt x="234384" y="656364"/>
                  <a:pt x="228389" y="659850"/>
                </a:cubicBezTo>
                <a:cubicBezTo>
                  <a:pt x="222393" y="663335"/>
                  <a:pt x="216923" y="666558"/>
                  <a:pt x="211977" y="669521"/>
                </a:cubicBezTo>
                <a:lnTo>
                  <a:pt x="204323" y="673418"/>
                </a:lnTo>
                <a:lnTo>
                  <a:pt x="219302" y="663659"/>
                </a:lnTo>
                <a:cubicBezTo>
                  <a:pt x="223143" y="659567"/>
                  <a:pt x="231228" y="654386"/>
                  <a:pt x="243556" y="648116"/>
                </a:cubicBezTo>
                <a:cubicBezTo>
                  <a:pt x="247548" y="642825"/>
                  <a:pt x="248371" y="638076"/>
                  <a:pt x="246025" y="633870"/>
                </a:cubicBezTo>
                <a:cubicBezTo>
                  <a:pt x="244852" y="631767"/>
                  <a:pt x="243073" y="630230"/>
                  <a:pt x="240686" y="629260"/>
                </a:cubicBezTo>
                <a:lnTo>
                  <a:pt x="234276" y="628395"/>
                </a:lnTo>
                <a:lnTo>
                  <a:pt x="250712" y="617133"/>
                </a:lnTo>
                <a:cubicBezTo>
                  <a:pt x="258316" y="612494"/>
                  <a:pt x="265818" y="608264"/>
                  <a:pt x="273217" y="604444"/>
                </a:cubicBezTo>
                <a:cubicBezTo>
                  <a:pt x="274446" y="602964"/>
                  <a:pt x="275044" y="602421"/>
                  <a:pt x="275011" y="602812"/>
                </a:cubicBezTo>
                <a:close/>
                <a:moveTo>
                  <a:pt x="223826" y="518224"/>
                </a:moveTo>
                <a:cubicBezTo>
                  <a:pt x="217806" y="517911"/>
                  <a:pt x="212087" y="519778"/>
                  <a:pt x="206671" y="523823"/>
                </a:cubicBezTo>
                <a:cubicBezTo>
                  <a:pt x="200372" y="524540"/>
                  <a:pt x="197298" y="526918"/>
                  <a:pt x="197450" y="530957"/>
                </a:cubicBezTo>
                <a:cubicBezTo>
                  <a:pt x="197602" y="534997"/>
                  <a:pt x="199540" y="539406"/>
                  <a:pt x="203265" y="544185"/>
                </a:cubicBezTo>
                <a:cubicBezTo>
                  <a:pt x="204728" y="546372"/>
                  <a:pt x="206742" y="548428"/>
                  <a:pt x="209308" y="550353"/>
                </a:cubicBezTo>
                <a:cubicBezTo>
                  <a:pt x="211875" y="552278"/>
                  <a:pt x="213712" y="554161"/>
                  <a:pt x="214821" y="556003"/>
                </a:cubicBezTo>
                <a:cubicBezTo>
                  <a:pt x="215375" y="556478"/>
                  <a:pt x="215102" y="557428"/>
                  <a:pt x="214002" y="558853"/>
                </a:cubicBezTo>
                <a:cubicBezTo>
                  <a:pt x="212902" y="560277"/>
                  <a:pt x="211404" y="562252"/>
                  <a:pt x="209508" y="564777"/>
                </a:cubicBezTo>
                <a:cubicBezTo>
                  <a:pt x="203146" y="575302"/>
                  <a:pt x="205555" y="582145"/>
                  <a:pt x="216733" y="585307"/>
                </a:cubicBezTo>
                <a:cubicBezTo>
                  <a:pt x="222322" y="586888"/>
                  <a:pt x="227202" y="588103"/>
                  <a:pt x="231373" y="588951"/>
                </a:cubicBezTo>
                <a:lnTo>
                  <a:pt x="233622" y="589263"/>
                </a:lnTo>
                <a:lnTo>
                  <a:pt x="227607" y="591457"/>
                </a:lnTo>
                <a:cubicBezTo>
                  <a:pt x="222378" y="593244"/>
                  <a:pt x="217298" y="595305"/>
                  <a:pt x="212365" y="597638"/>
                </a:cubicBezTo>
                <a:cubicBezTo>
                  <a:pt x="197920" y="603417"/>
                  <a:pt x="184463" y="608428"/>
                  <a:pt x="171995" y="612671"/>
                </a:cubicBezTo>
                <a:cubicBezTo>
                  <a:pt x="159527" y="616915"/>
                  <a:pt x="147127" y="619395"/>
                  <a:pt x="134794" y="620111"/>
                </a:cubicBezTo>
                <a:lnTo>
                  <a:pt x="124207" y="614805"/>
                </a:lnTo>
                <a:cubicBezTo>
                  <a:pt x="121295" y="614422"/>
                  <a:pt x="118225" y="614688"/>
                  <a:pt x="114999" y="615602"/>
                </a:cubicBezTo>
                <a:cubicBezTo>
                  <a:pt x="111772" y="616517"/>
                  <a:pt x="110421" y="619032"/>
                  <a:pt x="110946" y="623149"/>
                </a:cubicBezTo>
                <a:cubicBezTo>
                  <a:pt x="110421" y="624532"/>
                  <a:pt x="110224" y="625878"/>
                  <a:pt x="110355" y="627186"/>
                </a:cubicBezTo>
                <a:cubicBezTo>
                  <a:pt x="110486" y="628494"/>
                  <a:pt x="110004" y="630067"/>
                  <a:pt x="108908" y="631904"/>
                </a:cubicBezTo>
                <a:cubicBezTo>
                  <a:pt x="105038" y="642900"/>
                  <a:pt x="106404" y="651356"/>
                  <a:pt x="113008" y="657275"/>
                </a:cubicBezTo>
                <a:cubicBezTo>
                  <a:pt x="119612" y="663193"/>
                  <a:pt x="128595" y="664917"/>
                  <a:pt x="139956" y="662446"/>
                </a:cubicBezTo>
                <a:cubicBezTo>
                  <a:pt x="148164" y="658738"/>
                  <a:pt x="155987" y="655357"/>
                  <a:pt x="163424" y="652303"/>
                </a:cubicBezTo>
                <a:cubicBezTo>
                  <a:pt x="170861" y="649249"/>
                  <a:pt x="178571" y="645276"/>
                  <a:pt x="186554" y="640385"/>
                </a:cubicBezTo>
                <a:cubicBezTo>
                  <a:pt x="193187" y="635873"/>
                  <a:pt x="199535" y="631968"/>
                  <a:pt x="205599" y="628670"/>
                </a:cubicBezTo>
                <a:lnTo>
                  <a:pt x="215882" y="623840"/>
                </a:lnTo>
                <a:lnTo>
                  <a:pt x="214153" y="628468"/>
                </a:lnTo>
                <a:cubicBezTo>
                  <a:pt x="214005" y="630268"/>
                  <a:pt x="214533" y="631656"/>
                  <a:pt x="215739" y="632632"/>
                </a:cubicBezTo>
                <a:lnTo>
                  <a:pt x="216324" y="632872"/>
                </a:lnTo>
                <a:lnTo>
                  <a:pt x="190485" y="641291"/>
                </a:lnTo>
                <a:cubicBezTo>
                  <a:pt x="188689" y="644899"/>
                  <a:pt x="187086" y="648189"/>
                  <a:pt x="185676" y="651159"/>
                </a:cubicBezTo>
                <a:cubicBezTo>
                  <a:pt x="184265" y="654130"/>
                  <a:pt x="183408" y="657297"/>
                  <a:pt x="183104" y="660659"/>
                </a:cubicBezTo>
                <a:cubicBezTo>
                  <a:pt x="183104" y="664913"/>
                  <a:pt x="184805" y="668656"/>
                  <a:pt x="188207" y="671889"/>
                </a:cubicBezTo>
                <a:cubicBezTo>
                  <a:pt x="189908" y="673506"/>
                  <a:pt x="191910" y="674566"/>
                  <a:pt x="194213" y="675070"/>
                </a:cubicBezTo>
                <a:lnTo>
                  <a:pt x="201360" y="674928"/>
                </a:lnTo>
                <a:lnTo>
                  <a:pt x="183223" y="684164"/>
                </a:lnTo>
                <a:cubicBezTo>
                  <a:pt x="174590" y="688355"/>
                  <a:pt x="166397" y="691057"/>
                  <a:pt x="158643" y="692269"/>
                </a:cubicBezTo>
                <a:cubicBezTo>
                  <a:pt x="152518" y="692269"/>
                  <a:pt x="147971" y="694928"/>
                  <a:pt x="145000" y="700244"/>
                </a:cubicBezTo>
                <a:cubicBezTo>
                  <a:pt x="142029" y="705560"/>
                  <a:pt x="140090" y="710860"/>
                  <a:pt x="139181" y="716143"/>
                </a:cubicBezTo>
                <a:cubicBezTo>
                  <a:pt x="140456" y="721563"/>
                  <a:pt x="143602" y="724522"/>
                  <a:pt x="148618" y="725017"/>
                </a:cubicBezTo>
                <a:cubicBezTo>
                  <a:pt x="153635" y="725513"/>
                  <a:pt x="157918" y="724992"/>
                  <a:pt x="161468" y="723455"/>
                </a:cubicBezTo>
                <a:cubicBezTo>
                  <a:pt x="167963" y="720339"/>
                  <a:pt x="173720" y="716850"/>
                  <a:pt x="178738" y="712990"/>
                </a:cubicBezTo>
                <a:lnTo>
                  <a:pt x="182031" y="711054"/>
                </a:lnTo>
                <a:lnTo>
                  <a:pt x="178298" y="714681"/>
                </a:lnTo>
                <a:cubicBezTo>
                  <a:pt x="174565" y="718414"/>
                  <a:pt x="170490" y="722138"/>
                  <a:pt x="166074" y="725855"/>
                </a:cubicBezTo>
                <a:cubicBezTo>
                  <a:pt x="159124" y="729696"/>
                  <a:pt x="155715" y="733240"/>
                  <a:pt x="155846" y="736485"/>
                </a:cubicBezTo>
                <a:cubicBezTo>
                  <a:pt x="155977" y="739731"/>
                  <a:pt x="155926" y="743016"/>
                  <a:pt x="155693" y="746341"/>
                </a:cubicBezTo>
                <a:cubicBezTo>
                  <a:pt x="154197" y="750587"/>
                  <a:pt x="152966" y="753941"/>
                  <a:pt x="151999" y="756403"/>
                </a:cubicBezTo>
                <a:cubicBezTo>
                  <a:pt x="151033" y="758865"/>
                  <a:pt x="152224" y="763136"/>
                  <a:pt x="155574" y="769215"/>
                </a:cubicBezTo>
                <a:cubicBezTo>
                  <a:pt x="160561" y="775252"/>
                  <a:pt x="165706" y="781340"/>
                  <a:pt x="171008" y="787479"/>
                </a:cubicBezTo>
                <a:cubicBezTo>
                  <a:pt x="176309" y="793618"/>
                  <a:pt x="182606" y="797709"/>
                  <a:pt x="189897" y="799750"/>
                </a:cubicBezTo>
                <a:cubicBezTo>
                  <a:pt x="192609" y="800621"/>
                  <a:pt x="195469" y="800971"/>
                  <a:pt x="198475" y="800800"/>
                </a:cubicBezTo>
                <a:cubicBezTo>
                  <a:pt x="201481" y="800629"/>
                  <a:pt x="204740" y="798592"/>
                  <a:pt x="208252" y="794688"/>
                </a:cubicBezTo>
                <a:cubicBezTo>
                  <a:pt x="210315" y="789651"/>
                  <a:pt x="214229" y="786050"/>
                  <a:pt x="219995" y="783886"/>
                </a:cubicBezTo>
                <a:cubicBezTo>
                  <a:pt x="225762" y="781721"/>
                  <a:pt x="231393" y="779208"/>
                  <a:pt x="236888" y="776346"/>
                </a:cubicBezTo>
                <a:cubicBezTo>
                  <a:pt x="236271" y="776346"/>
                  <a:pt x="236629" y="777289"/>
                  <a:pt x="237960" y="779177"/>
                </a:cubicBezTo>
                <a:cubicBezTo>
                  <a:pt x="239291" y="781064"/>
                  <a:pt x="241238" y="782810"/>
                  <a:pt x="243800" y="784414"/>
                </a:cubicBezTo>
                <a:cubicBezTo>
                  <a:pt x="250458" y="788572"/>
                  <a:pt x="256764" y="791339"/>
                  <a:pt x="262718" y="792716"/>
                </a:cubicBezTo>
                <a:cubicBezTo>
                  <a:pt x="268672" y="794093"/>
                  <a:pt x="274894" y="794651"/>
                  <a:pt x="281385" y="794388"/>
                </a:cubicBezTo>
                <a:cubicBezTo>
                  <a:pt x="282731" y="794747"/>
                  <a:pt x="284605" y="795163"/>
                  <a:pt x="287007" y="795638"/>
                </a:cubicBezTo>
                <a:cubicBezTo>
                  <a:pt x="289409" y="796113"/>
                  <a:pt x="291901" y="796174"/>
                  <a:pt x="294485" y="795819"/>
                </a:cubicBezTo>
                <a:cubicBezTo>
                  <a:pt x="298368" y="793732"/>
                  <a:pt x="302013" y="791835"/>
                  <a:pt x="305421" y="790129"/>
                </a:cubicBezTo>
                <a:cubicBezTo>
                  <a:pt x="308829" y="788423"/>
                  <a:pt x="312069" y="786455"/>
                  <a:pt x="315140" y="784226"/>
                </a:cubicBezTo>
                <a:lnTo>
                  <a:pt x="332876" y="771327"/>
                </a:lnTo>
                <a:cubicBezTo>
                  <a:pt x="335592" y="768398"/>
                  <a:pt x="337044" y="766934"/>
                  <a:pt x="337232" y="766934"/>
                </a:cubicBezTo>
                <a:cubicBezTo>
                  <a:pt x="337419" y="766934"/>
                  <a:pt x="338790" y="768211"/>
                  <a:pt x="341344" y="770765"/>
                </a:cubicBezTo>
                <a:cubicBezTo>
                  <a:pt x="355189" y="780085"/>
                  <a:pt x="368545" y="788967"/>
                  <a:pt x="381410" y="797410"/>
                </a:cubicBezTo>
                <a:cubicBezTo>
                  <a:pt x="394276" y="805853"/>
                  <a:pt x="408146" y="810075"/>
                  <a:pt x="423020" y="810075"/>
                </a:cubicBezTo>
                <a:cubicBezTo>
                  <a:pt x="429641" y="808504"/>
                  <a:pt x="435900" y="808503"/>
                  <a:pt x="441797" y="810072"/>
                </a:cubicBezTo>
                <a:cubicBezTo>
                  <a:pt x="447695" y="811640"/>
                  <a:pt x="454483" y="811591"/>
                  <a:pt x="462162" y="809925"/>
                </a:cubicBezTo>
                <a:cubicBezTo>
                  <a:pt x="467895" y="807629"/>
                  <a:pt x="470951" y="804669"/>
                  <a:pt x="471330" y="801044"/>
                </a:cubicBezTo>
                <a:cubicBezTo>
                  <a:pt x="471709" y="797419"/>
                  <a:pt x="469180" y="793747"/>
                  <a:pt x="463743" y="790026"/>
                </a:cubicBezTo>
                <a:cubicBezTo>
                  <a:pt x="452431" y="786555"/>
                  <a:pt x="442922" y="783542"/>
                  <a:pt x="435217" y="780986"/>
                </a:cubicBezTo>
                <a:cubicBezTo>
                  <a:pt x="427511" y="778430"/>
                  <a:pt x="419369" y="775244"/>
                  <a:pt x="410790" y="771427"/>
                </a:cubicBezTo>
                <a:cubicBezTo>
                  <a:pt x="407153" y="768827"/>
                  <a:pt x="403650" y="766815"/>
                  <a:pt x="400281" y="765390"/>
                </a:cubicBezTo>
                <a:cubicBezTo>
                  <a:pt x="396913" y="763965"/>
                  <a:pt x="393310" y="762296"/>
                  <a:pt x="389472" y="760384"/>
                </a:cubicBezTo>
                <a:lnTo>
                  <a:pt x="361068" y="743810"/>
                </a:lnTo>
                <a:cubicBezTo>
                  <a:pt x="357897" y="741485"/>
                  <a:pt x="355772" y="739618"/>
                  <a:pt x="354693" y="738207"/>
                </a:cubicBezTo>
                <a:cubicBezTo>
                  <a:pt x="353614" y="736797"/>
                  <a:pt x="353543" y="734927"/>
                  <a:pt x="354481" y="732598"/>
                </a:cubicBezTo>
                <a:cubicBezTo>
                  <a:pt x="360493" y="718749"/>
                  <a:pt x="365373" y="705685"/>
                  <a:pt x="369121" y="693407"/>
                </a:cubicBezTo>
                <a:cubicBezTo>
                  <a:pt x="372868" y="681128"/>
                  <a:pt x="379188" y="668452"/>
                  <a:pt x="388079" y="655378"/>
                </a:cubicBezTo>
                <a:cubicBezTo>
                  <a:pt x="389841" y="648762"/>
                  <a:pt x="389356" y="643496"/>
                  <a:pt x="386623" y="639582"/>
                </a:cubicBezTo>
                <a:cubicBezTo>
                  <a:pt x="383890" y="635668"/>
                  <a:pt x="379481" y="633406"/>
                  <a:pt x="373398" y="632798"/>
                </a:cubicBezTo>
                <a:cubicBezTo>
                  <a:pt x="372294" y="632311"/>
                  <a:pt x="371637" y="632268"/>
                  <a:pt x="371427" y="632670"/>
                </a:cubicBezTo>
                <a:cubicBezTo>
                  <a:pt x="371216" y="633072"/>
                  <a:pt x="371878" y="633083"/>
                  <a:pt x="373411" y="632704"/>
                </a:cubicBezTo>
                <a:lnTo>
                  <a:pt x="393072" y="614474"/>
                </a:lnTo>
                <a:cubicBezTo>
                  <a:pt x="399609" y="609770"/>
                  <a:pt x="401471" y="604534"/>
                  <a:pt x="398656" y="598766"/>
                </a:cubicBezTo>
                <a:cubicBezTo>
                  <a:pt x="395842" y="592997"/>
                  <a:pt x="390197" y="589174"/>
                  <a:pt x="381723" y="587295"/>
                </a:cubicBezTo>
                <a:cubicBezTo>
                  <a:pt x="378815" y="586674"/>
                  <a:pt x="376908" y="586092"/>
                  <a:pt x="376001" y="585548"/>
                </a:cubicBezTo>
                <a:cubicBezTo>
                  <a:pt x="375095" y="585004"/>
                  <a:pt x="375105" y="583957"/>
                  <a:pt x="376030" y="582407"/>
                </a:cubicBezTo>
                <a:lnTo>
                  <a:pt x="384891" y="555953"/>
                </a:lnTo>
                <a:cubicBezTo>
                  <a:pt x="389037" y="544266"/>
                  <a:pt x="387886" y="536612"/>
                  <a:pt x="381439" y="532992"/>
                </a:cubicBezTo>
                <a:cubicBezTo>
                  <a:pt x="374991" y="529371"/>
                  <a:pt x="368563" y="527561"/>
                  <a:pt x="362155" y="527561"/>
                </a:cubicBezTo>
                <a:cubicBezTo>
                  <a:pt x="357489" y="525469"/>
                  <a:pt x="353943" y="524599"/>
                  <a:pt x="351519" y="524952"/>
                </a:cubicBezTo>
                <a:cubicBezTo>
                  <a:pt x="349094" y="525304"/>
                  <a:pt x="345925" y="527567"/>
                  <a:pt x="342013" y="531742"/>
                </a:cubicBezTo>
                <a:cubicBezTo>
                  <a:pt x="335422" y="532804"/>
                  <a:pt x="332437" y="535669"/>
                  <a:pt x="333060" y="540335"/>
                </a:cubicBezTo>
                <a:cubicBezTo>
                  <a:pt x="333683" y="545001"/>
                  <a:pt x="336240" y="549424"/>
                  <a:pt x="340732" y="553603"/>
                </a:cubicBezTo>
                <a:cubicBezTo>
                  <a:pt x="345452" y="556728"/>
                  <a:pt x="347685" y="559420"/>
                  <a:pt x="347431" y="561681"/>
                </a:cubicBezTo>
                <a:cubicBezTo>
                  <a:pt x="347177" y="563941"/>
                  <a:pt x="346796" y="567502"/>
                  <a:pt x="346288" y="572364"/>
                </a:cubicBezTo>
                <a:cubicBezTo>
                  <a:pt x="343988" y="580530"/>
                  <a:pt x="342163" y="588113"/>
                  <a:pt x="340813" y="595113"/>
                </a:cubicBezTo>
                <a:cubicBezTo>
                  <a:pt x="339463" y="602112"/>
                  <a:pt x="341273" y="609881"/>
                  <a:pt x="346244" y="618418"/>
                </a:cubicBezTo>
                <a:cubicBezTo>
                  <a:pt x="345681" y="619818"/>
                  <a:pt x="343860" y="622058"/>
                  <a:pt x="340779" y="625139"/>
                </a:cubicBezTo>
                <a:lnTo>
                  <a:pt x="331074" y="634452"/>
                </a:lnTo>
                <a:lnTo>
                  <a:pt x="333963" y="630161"/>
                </a:lnTo>
                <a:cubicBezTo>
                  <a:pt x="336996" y="621065"/>
                  <a:pt x="338979" y="613767"/>
                  <a:pt x="339910" y="608265"/>
                </a:cubicBezTo>
                <a:cubicBezTo>
                  <a:pt x="340841" y="602763"/>
                  <a:pt x="339967" y="596034"/>
                  <a:pt x="337288" y="588076"/>
                </a:cubicBezTo>
                <a:cubicBezTo>
                  <a:pt x="337026" y="583080"/>
                  <a:pt x="336208" y="577760"/>
                  <a:pt x="334835" y="572114"/>
                </a:cubicBezTo>
                <a:cubicBezTo>
                  <a:pt x="333462" y="566469"/>
                  <a:pt x="329189" y="562750"/>
                  <a:pt x="322014" y="560959"/>
                </a:cubicBezTo>
                <a:lnTo>
                  <a:pt x="319183" y="558121"/>
                </a:lnTo>
                <a:cubicBezTo>
                  <a:pt x="317000" y="555630"/>
                  <a:pt x="314130" y="553534"/>
                  <a:pt x="310574" y="551834"/>
                </a:cubicBezTo>
                <a:cubicBezTo>
                  <a:pt x="307018" y="550134"/>
                  <a:pt x="304032" y="549101"/>
                  <a:pt x="301615" y="548734"/>
                </a:cubicBezTo>
                <a:cubicBezTo>
                  <a:pt x="298107" y="549284"/>
                  <a:pt x="295844" y="550954"/>
                  <a:pt x="294825" y="553744"/>
                </a:cubicBezTo>
                <a:cubicBezTo>
                  <a:pt x="293806" y="556533"/>
                  <a:pt x="293428" y="558944"/>
                  <a:pt x="293691" y="560977"/>
                </a:cubicBezTo>
                <a:cubicBezTo>
                  <a:pt x="293466" y="563698"/>
                  <a:pt x="292352" y="567180"/>
                  <a:pt x="290350" y="571424"/>
                </a:cubicBezTo>
                <a:cubicBezTo>
                  <a:pt x="288348" y="575667"/>
                  <a:pt x="285960" y="579174"/>
                  <a:pt x="283185" y="581945"/>
                </a:cubicBezTo>
                <a:cubicBezTo>
                  <a:pt x="281373" y="582291"/>
                  <a:pt x="279189" y="581959"/>
                  <a:pt x="276632" y="580951"/>
                </a:cubicBezTo>
                <a:cubicBezTo>
                  <a:pt x="274076" y="579943"/>
                  <a:pt x="271005" y="579139"/>
                  <a:pt x="267417" y="578539"/>
                </a:cubicBezTo>
                <a:lnTo>
                  <a:pt x="260458" y="578539"/>
                </a:lnTo>
                <a:lnTo>
                  <a:pt x="267766" y="564024"/>
                </a:lnTo>
                <a:cubicBezTo>
                  <a:pt x="269000" y="558879"/>
                  <a:pt x="268728" y="554032"/>
                  <a:pt x="266949" y="549484"/>
                </a:cubicBezTo>
                <a:cubicBezTo>
                  <a:pt x="263391" y="540389"/>
                  <a:pt x="255137" y="532810"/>
                  <a:pt x="242188" y="526748"/>
                </a:cubicBezTo>
                <a:cubicBezTo>
                  <a:pt x="235967" y="521378"/>
                  <a:pt x="229847" y="518536"/>
                  <a:pt x="223826" y="518224"/>
                </a:cubicBezTo>
                <a:close/>
                <a:moveTo>
                  <a:pt x="650558" y="518149"/>
                </a:moveTo>
                <a:cubicBezTo>
                  <a:pt x="640879" y="521615"/>
                  <a:pt x="639246" y="527169"/>
                  <a:pt x="645658" y="534810"/>
                </a:cubicBezTo>
                <a:cubicBezTo>
                  <a:pt x="652070" y="542452"/>
                  <a:pt x="657230" y="548349"/>
                  <a:pt x="661138" y="552503"/>
                </a:cubicBezTo>
                <a:cubicBezTo>
                  <a:pt x="660963" y="552711"/>
                  <a:pt x="660179" y="553729"/>
                  <a:pt x="658785" y="555556"/>
                </a:cubicBezTo>
                <a:cubicBezTo>
                  <a:pt x="657392" y="557383"/>
                  <a:pt x="655566" y="559567"/>
                  <a:pt x="653308" y="562109"/>
                </a:cubicBezTo>
                <a:cubicBezTo>
                  <a:pt x="650424" y="567187"/>
                  <a:pt x="649734" y="571525"/>
                  <a:pt x="651236" y="575120"/>
                </a:cubicBezTo>
                <a:cubicBezTo>
                  <a:pt x="651987" y="576918"/>
                  <a:pt x="653353" y="578311"/>
                  <a:pt x="655333" y="579300"/>
                </a:cubicBezTo>
                <a:lnTo>
                  <a:pt x="661776" y="580749"/>
                </a:lnTo>
                <a:lnTo>
                  <a:pt x="633481" y="593613"/>
                </a:lnTo>
                <a:cubicBezTo>
                  <a:pt x="623887" y="597850"/>
                  <a:pt x="613891" y="601454"/>
                  <a:pt x="603492" y="604425"/>
                </a:cubicBezTo>
                <a:cubicBezTo>
                  <a:pt x="601596" y="604425"/>
                  <a:pt x="600226" y="604298"/>
                  <a:pt x="599383" y="604044"/>
                </a:cubicBezTo>
                <a:cubicBezTo>
                  <a:pt x="598539" y="603789"/>
                  <a:pt x="596915" y="602821"/>
                  <a:pt x="594511" y="601137"/>
                </a:cubicBezTo>
                <a:cubicBezTo>
                  <a:pt x="586824" y="598100"/>
                  <a:pt x="578779" y="598874"/>
                  <a:pt x="570375" y="603459"/>
                </a:cubicBezTo>
                <a:cubicBezTo>
                  <a:pt x="561971" y="608044"/>
                  <a:pt x="557455" y="614583"/>
                  <a:pt x="556826" y="623074"/>
                </a:cubicBezTo>
                <a:cubicBezTo>
                  <a:pt x="556563" y="626869"/>
                  <a:pt x="556735" y="630783"/>
                  <a:pt x="557342" y="634814"/>
                </a:cubicBezTo>
                <a:cubicBezTo>
                  <a:pt x="557948" y="638845"/>
                  <a:pt x="560888" y="642795"/>
                  <a:pt x="566163" y="646666"/>
                </a:cubicBezTo>
                <a:cubicBezTo>
                  <a:pt x="568004" y="647891"/>
                  <a:pt x="570247" y="648503"/>
                  <a:pt x="572891" y="648503"/>
                </a:cubicBezTo>
                <a:cubicBezTo>
                  <a:pt x="575534" y="648503"/>
                  <a:pt x="577914" y="648199"/>
                  <a:pt x="580031" y="647591"/>
                </a:cubicBezTo>
                <a:cubicBezTo>
                  <a:pt x="591634" y="644354"/>
                  <a:pt x="602198" y="640583"/>
                  <a:pt x="611723" y="636279"/>
                </a:cubicBezTo>
                <a:lnTo>
                  <a:pt x="639794" y="625728"/>
                </a:lnTo>
                <a:lnTo>
                  <a:pt x="634421" y="631098"/>
                </a:lnTo>
                <a:cubicBezTo>
                  <a:pt x="630401" y="633265"/>
                  <a:pt x="627574" y="637553"/>
                  <a:pt x="625940" y="643963"/>
                </a:cubicBezTo>
                <a:cubicBezTo>
                  <a:pt x="624307" y="650373"/>
                  <a:pt x="625582" y="655842"/>
                  <a:pt x="629765" y="660371"/>
                </a:cubicBezTo>
                <a:cubicBezTo>
                  <a:pt x="631178" y="661938"/>
                  <a:pt x="631923" y="662820"/>
                  <a:pt x="632003" y="663018"/>
                </a:cubicBezTo>
                <a:cubicBezTo>
                  <a:pt x="632082" y="663216"/>
                  <a:pt x="631609" y="664077"/>
                  <a:pt x="630584" y="665602"/>
                </a:cubicBezTo>
                <a:cubicBezTo>
                  <a:pt x="624413" y="672764"/>
                  <a:pt x="617970" y="678397"/>
                  <a:pt x="611254" y="682501"/>
                </a:cubicBezTo>
                <a:cubicBezTo>
                  <a:pt x="604538" y="686605"/>
                  <a:pt x="597534" y="689738"/>
                  <a:pt x="590243" y="691901"/>
                </a:cubicBezTo>
                <a:cubicBezTo>
                  <a:pt x="581818" y="699963"/>
                  <a:pt x="579051" y="707033"/>
                  <a:pt x="581940" y="713112"/>
                </a:cubicBezTo>
                <a:cubicBezTo>
                  <a:pt x="584829" y="719191"/>
                  <a:pt x="591945" y="720459"/>
                  <a:pt x="603286" y="716918"/>
                </a:cubicBezTo>
                <a:lnTo>
                  <a:pt x="606200" y="715275"/>
                </a:lnTo>
                <a:lnTo>
                  <a:pt x="600195" y="733461"/>
                </a:lnTo>
                <a:cubicBezTo>
                  <a:pt x="599776" y="739185"/>
                  <a:pt x="600221" y="745518"/>
                  <a:pt x="601529" y="752459"/>
                </a:cubicBezTo>
                <a:cubicBezTo>
                  <a:pt x="601792" y="754309"/>
                  <a:pt x="601727" y="756263"/>
                  <a:pt x="601336" y="758322"/>
                </a:cubicBezTo>
                <a:cubicBezTo>
                  <a:pt x="600944" y="760380"/>
                  <a:pt x="601523" y="762732"/>
                  <a:pt x="603073" y="765377"/>
                </a:cubicBezTo>
                <a:cubicBezTo>
                  <a:pt x="605294" y="769269"/>
                  <a:pt x="607552" y="772076"/>
                  <a:pt x="609848" y="773799"/>
                </a:cubicBezTo>
                <a:cubicBezTo>
                  <a:pt x="612143" y="775522"/>
                  <a:pt x="614810" y="777395"/>
                  <a:pt x="617847" y="779420"/>
                </a:cubicBezTo>
                <a:cubicBezTo>
                  <a:pt x="620614" y="781933"/>
                  <a:pt x="623488" y="784546"/>
                  <a:pt x="626472" y="787260"/>
                </a:cubicBezTo>
                <a:cubicBezTo>
                  <a:pt x="629455" y="789975"/>
                  <a:pt x="632771" y="792326"/>
                  <a:pt x="636421" y="794313"/>
                </a:cubicBezTo>
                <a:cubicBezTo>
                  <a:pt x="640325" y="794617"/>
                  <a:pt x="644347" y="794836"/>
                  <a:pt x="648486" y="794969"/>
                </a:cubicBezTo>
                <a:cubicBezTo>
                  <a:pt x="652625" y="795103"/>
                  <a:pt x="655637" y="792215"/>
                  <a:pt x="657520" y="786307"/>
                </a:cubicBezTo>
                <a:cubicBezTo>
                  <a:pt x="657836" y="784712"/>
                  <a:pt x="658229" y="783829"/>
                  <a:pt x="658698" y="783661"/>
                </a:cubicBezTo>
                <a:cubicBezTo>
                  <a:pt x="659167" y="783492"/>
                  <a:pt x="660063" y="783408"/>
                  <a:pt x="661388" y="783408"/>
                </a:cubicBezTo>
                <a:cubicBezTo>
                  <a:pt x="669896" y="784453"/>
                  <a:pt x="676713" y="783148"/>
                  <a:pt x="681840" y="779492"/>
                </a:cubicBezTo>
                <a:cubicBezTo>
                  <a:pt x="686967" y="775836"/>
                  <a:pt x="693413" y="771463"/>
                  <a:pt x="701180" y="766371"/>
                </a:cubicBezTo>
                <a:cubicBezTo>
                  <a:pt x="705525" y="763813"/>
                  <a:pt x="710107" y="761585"/>
                  <a:pt x="714926" y="759687"/>
                </a:cubicBezTo>
                <a:cubicBezTo>
                  <a:pt x="719744" y="757789"/>
                  <a:pt x="723178" y="753232"/>
                  <a:pt x="725228" y="746016"/>
                </a:cubicBezTo>
                <a:cubicBezTo>
                  <a:pt x="724799" y="742058"/>
                  <a:pt x="723829" y="739550"/>
                  <a:pt x="722319" y="738492"/>
                </a:cubicBezTo>
                <a:cubicBezTo>
                  <a:pt x="720809" y="737433"/>
                  <a:pt x="719947" y="736692"/>
                  <a:pt x="719735" y="736267"/>
                </a:cubicBezTo>
                <a:cubicBezTo>
                  <a:pt x="719735" y="731313"/>
                  <a:pt x="720447" y="726375"/>
                  <a:pt x="721872" y="721452"/>
                </a:cubicBezTo>
                <a:cubicBezTo>
                  <a:pt x="723297" y="716529"/>
                  <a:pt x="723853" y="710589"/>
                  <a:pt x="723541" y="703631"/>
                </a:cubicBezTo>
                <a:cubicBezTo>
                  <a:pt x="716587" y="694157"/>
                  <a:pt x="708959" y="688979"/>
                  <a:pt x="700658" y="688098"/>
                </a:cubicBezTo>
                <a:cubicBezTo>
                  <a:pt x="692356" y="687217"/>
                  <a:pt x="684556" y="688795"/>
                  <a:pt x="677256" y="692832"/>
                </a:cubicBezTo>
                <a:cubicBezTo>
                  <a:pt x="668927" y="697132"/>
                  <a:pt x="661152" y="701974"/>
                  <a:pt x="653929" y="707359"/>
                </a:cubicBezTo>
                <a:lnTo>
                  <a:pt x="634378" y="720611"/>
                </a:lnTo>
                <a:lnTo>
                  <a:pt x="642232" y="707820"/>
                </a:lnTo>
                <a:cubicBezTo>
                  <a:pt x="645603" y="703667"/>
                  <a:pt x="649533" y="699938"/>
                  <a:pt x="654023" y="696632"/>
                </a:cubicBezTo>
                <a:cubicBezTo>
                  <a:pt x="663004" y="690020"/>
                  <a:pt x="672183" y="684499"/>
                  <a:pt x="681562" y="680070"/>
                </a:cubicBezTo>
                <a:cubicBezTo>
                  <a:pt x="686199" y="677241"/>
                  <a:pt x="690668" y="674906"/>
                  <a:pt x="694967" y="673064"/>
                </a:cubicBezTo>
                <a:cubicBezTo>
                  <a:pt x="699267" y="671223"/>
                  <a:pt x="704021" y="669754"/>
                  <a:pt x="709229" y="668658"/>
                </a:cubicBezTo>
                <a:cubicBezTo>
                  <a:pt x="715450" y="664517"/>
                  <a:pt x="718281" y="660165"/>
                  <a:pt x="717722" y="655603"/>
                </a:cubicBezTo>
                <a:cubicBezTo>
                  <a:pt x="717164" y="651041"/>
                  <a:pt x="712964" y="648366"/>
                  <a:pt x="705123" y="647578"/>
                </a:cubicBezTo>
                <a:cubicBezTo>
                  <a:pt x="694165" y="648703"/>
                  <a:pt x="684068" y="651342"/>
                  <a:pt x="674831" y="655494"/>
                </a:cubicBezTo>
                <a:lnTo>
                  <a:pt x="662299" y="661796"/>
                </a:lnTo>
                <a:lnTo>
                  <a:pt x="667722" y="657990"/>
                </a:lnTo>
                <a:cubicBezTo>
                  <a:pt x="673787" y="654082"/>
                  <a:pt x="680093" y="649124"/>
                  <a:pt x="686643" y="643116"/>
                </a:cubicBezTo>
                <a:cubicBezTo>
                  <a:pt x="689880" y="638537"/>
                  <a:pt x="691334" y="634088"/>
                  <a:pt x="691005" y="629767"/>
                </a:cubicBezTo>
                <a:cubicBezTo>
                  <a:pt x="690676" y="625446"/>
                  <a:pt x="688466" y="621751"/>
                  <a:pt x="684374" y="618680"/>
                </a:cubicBezTo>
                <a:cubicBezTo>
                  <a:pt x="682604" y="617501"/>
                  <a:pt x="681714" y="617095"/>
                  <a:pt x="681706" y="617461"/>
                </a:cubicBezTo>
                <a:cubicBezTo>
                  <a:pt x="681697" y="617828"/>
                  <a:pt x="682097" y="617666"/>
                  <a:pt x="682906" y="616974"/>
                </a:cubicBezTo>
                <a:cubicBezTo>
                  <a:pt x="690926" y="609195"/>
                  <a:pt x="698275" y="603079"/>
                  <a:pt x="704951" y="598625"/>
                </a:cubicBezTo>
                <a:cubicBezTo>
                  <a:pt x="711628" y="594171"/>
                  <a:pt x="718920" y="591688"/>
                  <a:pt x="726828" y="591176"/>
                </a:cubicBezTo>
                <a:cubicBezTo>
                  <a:pt x="733682" y="587572"/>
                  <a:pt x="737350" y="582905"/>
                  <a:pt x="737834" y="577176"/>
                </a:cubicBezTo>
                <a:cubicBezTo>
                  <a:pt x="738317" y="571448"/>
                  <a:pt x="734367" y="567998"/>
                  <a:pt x="725984" y="566827"/>
                </a:cubicBezTo>
                <a:cubicBezTo>
                  <a:pt x="722176" y="566069"/>
                  <a:pt x="718521" y="565616"/>
                  <a:pt x="715019" y="565468"/>
                </a:cubicBezTo>
                <a:lnTo>
                  <a:pt x="706283" y="565940"/>
                </a:lnTo>
                <a:lnTo>
                  <a:pt x="707039" y="565554"/>
                </a:lnTo>
                <a:cubicBezTo>
                  <a:pt x="710176" y="561957"/>
                  <a:pt x="711564" y="557263"/>
                  <a:pt x="711204" y="551472"/>
                </a:cubicBezTo>
                <a:cubicBezTo>
                  <a:pt x="710483" y="539889"/>
                  <a:pt x="704102" y="530483"/>
                  <a:pt x="692061" y="523255"/>
                </a:cubicBezTo>
                <a:cubicBezTo>
                  <a:pt x="684429" y="520709"/>
                  <a:pt x="677182" y="519222"/>
                  <a:pt x="670322" y="518793"/>
                </a:cubicBezTo>
                <a:cubicBezTo>
                  <a:pt x="663462" y="518363"/>
                  <a:pt x="656874" y="518149"/>
                  <a:pt x="650558" y="518149"/>
                </a:cubicBezTo>
                <a:close/>
                <a:moveTo>
                  <a:pt x="807867" y="501675"/>
                </a:moveTo>
                <a:cubicBezTo>
                  <a:pt x="805409" y="501675"/>
                  <a:pt x="803296" y="502460"/>
                  <a:pt x="801530" y="504031"/>
                </a:cubicBezTo>
                <a:cubicBezTo>
                  <a:pt x="797305" y="507164"/>
                  <a:pt x="794686" y="509743"/>
                  <a:pt x="793674" y="511768"/>
                </a:cubicBezTo>
                <a:cubicBezTo>
                  <a:pt x="792662" y="513793"/>
                  <a:pt x="791655" y="516141"/>
                  <a:pt x="790655" y="518811"/>
                </a:cubicBezTo>
                <a:cubicBezTo>
                  <a:pt x="786160" y="534939"/>
                  <a:pt x="783583" y="550176"/>
                  <a:pt x="782925" y="564521"/>
                </a:cubicBezTo>
                <a:cubicBezTo>
                  <a:pt x="782266" y="578866"/>
                  <a:pt x="781437" y="593528"/>
                  <a:pt x="780437" y="608506"/>
                </a:cubicBezTo>
                <a:cubicBezTo>
                  <a:pt x="780287" y="608706"/>
                  <a:pt x="779860" y="609114"/>
                  <a:pt x="779156" y="609731"/>
                </a:cubicBezTo>
                <a:cubicBezTo>
                  <a:pt x="778452" y="610347"/>
                  <a:pt x="777654" y="610745"/>
                  <a:pt x="776762" y="610924"/>
                </a:cubicBezTo>
                <a:cubicBezTo>
                  <a:pt x="768351" y="614987"/>
                  <a:pt x="760353" y="618878"/>
                  <a:pt x="752770" y="622599"/>
                </a:cubicBezTo>
                <a:cubicBezTo>
                  <a:pt x="745187" y="626319"/>
                  <a:pt x="737473" y="631450"/>
                  <a:pt x="729628" y="637991"/>
                </a:cubicBezTo>
                <a:cubicBezTo>
                  <a:pt x="725536" y="640887"/>
                  <a:pt x="723858" y="644034"/>
                  <a:pt x="724594" y="647432"/>
                </a:cubicBezTo>
                <a:cubicBezTo>
                  <a:pt x="725329" y="650829"/>
                  <a:pt x="727793" y="653478"/>
                  <a:pt x="731984" y="655378"/>
                </a:cubicBezTo>
                <a:cubicBezTo>
                  <a:pt x="739908" y="656799"/>
                  <a:pt x="747004" y="657701"/>
                  <a:pt x="753270" y="658084"/>
                </a:cubicBezTo>
                <a:cubicBezTo>
                  <a:pt x="759536" y="658467"/>
                  <a:pt x="766586" y="659194"/>
                  <a:pt x="774419" y="660265"/>
                </a:cubicBezTo>
                <a:cubicBezTo>
                  <a:pt x="776181" y="659744"/>
                  <a:pt x="777088" y="659537"/>
                  <a:pt x="777141" y="659643"/>
                </a:cubicBezTo>
                <a:cubicBezTo>
                  <a:pt x="777193" y="659750"/>
                  <a:pt x="777219" y="660317"/>
                  <a:pt x="777219" y="661346"/>
                </a:cubicBezTo>
                <a:cubicBezTo>
                  <a:pt x="778789" y="680062"/>
                  <a:pt x="779313" y="697617"/>
                  <a:pt x="778790" y="714012"/>
                </a:cubicBezTo>
                <a:cubicBezTo>
                  <a:pt x="778268" y="730407"/>
                  <a:pt x="778273" y="748026"/>
                  <a:pt x="778806" y="766871"/>
                </a:cubicBezTo>
                <a:cubicBezTo>
                  <a:pt x="779319" y="768813"/>
                  <a:pt x="779198" y="770192"/>
                  <a:pt x="778444" y="771008"/>
                </a:cubicBezTo>
                <a:cubicBezTo>
                  <a:pt x="777689" y="771825"/>
                  <a:pt x="776008" y="773852"/>
                  <a:pt x="773400" y="777089"/>
                </a:cubicBezTo>
                <a:cubicBezTo>
                  <a:pt x="772809" y="784872"/>
                  <a:pt x="774157" y="792498"/>
                  <a:pt x="777447" y="799966"/>
                </a:cubicBezTo>
                <a:cubicBezTo>
                  <a:pt x="780736" y="807434"/>
                  <a:pt x="784610" y="814787"/>
                  <a:pt x="789068" y="822024"/>
                </a:cubicBezTo>
                <a:cubicBezTo>
                  <a:pt x="794651" y="826082"/>
                  <a:pt x="799257" y="827508"/>
                  <a:pt x="802886" y="826302"/>
                </a:cubicBezTo>
                <a:cubicBezTo>
                  <a:pt x="806515" y="825096"/>
                  <a:pt x="809781" y="821751"/>
                  <a:pt x="812685" y="816268"/>
                </a:cubicBezTo>
                <a:cubicBezTo>
                  <a:pt x="816756" y="806765"/>
                  <a:pt x="819782" y="797655"/>
                  <a:pt x="821763" y="788939"/>
                </a:cubicBezTo>
                <a:cubicBezTo>
                  <a:pt x="823744" y="780222"/>
                  <a:pt x="825262" y="771254"/>
                  <a:pt x="826316" y="762034"/>
                </a:cubicBezTo>
                <a:cubicBezTo>
                  <a:pt x="827111" y="741844"/>
                  <a:pt x="827705" y="723040"/>
                  <a:pt x="828097" y="705625"/>
                </a:cubicBezTo>
                <a:cubicBezTo>
                  <a:pt x="828488" y="688209"/>
                  <a:pt x="829755" y="669598"/>
                  <a:pt x="831897" y="649791"/>
                </a:cubicBezTo>
                <a:cubicBezTo>
                  <a:pt x="831897" y="642658"/>
                  <a:pt x="832813" y="638272"/>
                  <a:pt x="834646" y="636632"/>
                </a:cubicBezTo>
                <a:cubicBezTo>
                  <a:pt x="836480" y="634993"/>
                  <a:pt x="840875" y="632852"/>
                  <a:pt x="847833" y="630211"/>
                </a:cubicBezTo>
                <a:lnTo>
                  <a:pt x="867532" y="622830"/>
                </a:lnTo>
                <a:cubicBezTo>
                  <a:pt x="873577" y="618055"/>
                  <a:pt x="877123" y="612446"/>
                  <a:pt x="878169" y="606003"/>
                </a:cubicBezTo>
                <a:cubicBezTo>
                  <a:pt x="879215" y="599559"/>
                  <a:pt x="875177" y="594348"/>
                  <a:pt x="866057" y="590369"/>
                </a:cubicBezTo>
                <a:cubicBezTo>
                  <a:pt x="862011" y="589103"/>
                  <a:pt x="858178" y="588320"/>
                  <a:pt x="854558" y="588020"/>
                </a:cubicBezTo>
                <a:cubicBezTo>
                  <a:pt x="850937" y="587720"/>
                  <a:pt x="847310" y="587959"/>
                  <a:pt x="843677" y="588738"/>
                </a:cubicBezTo>
                <a:cubicBezTo>
                  <a:pt x="840806" y="588738"/>
                  <a:pt x="839106" y="588670"/>
                  <a:pt x="838574" y="588532"/>
                </a:cubicBezTo>
                <a:cubicBezTo>
                  <a:pt x="838043" y="588395"/>
                  <a:pt x="837896" y="587413"/>
                  <a:pt x="838134" y="585588"/>
                </a:cubicBezTo>
                <a:cubicBezTo>
                  <a:pt x="837300" y="577310"/>
                  <a:pt x="836621" y="570018"/>
                  <a:pt x="836096" y="563712"/>
                </a:cubicBezTo>
                <a:cubicBezTo>
                  <a:pt x="835571" y="557406"/>
                  <a:pt x="834432" y="550945"/>
                  <a:pt x="832678" y="544328"/>
                </a:cubicBezTo>
                <a:cubicBezTo>
                  <a:pt x="834698" y="539775"/>
                  <a:pt x="836119" y="533666"/>
                  <a:pt x="836940" y="526001"/>
                </a:cubicBezTo>
                <a:cubicBezTo>
                  <a:pt x="837761" y="518337"/>
                  <a:pt x="835988" y="511503"/>
                  <a:pt x="831622" y="505500"/>
                </a:cubicBezTo>
                <a:cubicBezTo>
                  <a:pt x="827843" y="502429"/>
                  <a:pt x="824623" y="501155"/>
                  <a:pt x="821963" y="501678"/>
                </a:cubicBezTo>
                <a:cubicBezTo>
                  <a:pt x="819303" y="502201"/>
                  <a:pt x="816877" y="502462"/>
                  <a:pt x="814685" y="502462"/>
                </a:cubicBezTo>
                <a:cubicBezTo>
                  <a:pt x="812598" y="501937"/>
                  <a:pt x="810325" y="501675"/>
                  <a:pt x="807867" y="501675"/>
                </a:cubicBezTo>
                <a:close/>
                <a:moveTo>
                  <a:pt x="672103" y="339414"/>
                </a:moveTo>
                <a:lnTo>
                  <a:pt x="676437" y="345738"/>
                </a:lnTo>
                <a:cubicBezTo>
                  <a:pt x="679446" y="347671"/>
                  <a:pt x="682616" y="348683"/>
                  <a:pt x="685949" y="348772"/>
                </a:cubicBezTo>
                <a:lnTo>
                  <a:pt x="696274" y="346314"/>
                </a:lnTo>
                <a:lnTo>
                  <a:pt x="696436" y="347382"/>
                </a:lnTo>
                <a:cubicBezTo>
                  <a:pt x="696232" y="350903"/>
                  <a:pt x="695467" y="353193"/>
                  <a:pt x="694143" y="354253"/>
                </a:cubicBezTo>
                <a:cubicBezTo>
                  <a:pt x="692818" y="355314"/>
                  <a:pt x="689989" y="356806"/>
                  <a:pt x="685656" y="358731"/>
                </a:cubicBezTo>
                <a:cubicBezTo>
                  <a:pt x="682643" y="359556"/>
                  <a:pt x="680167" y="360368"/>
                  <a:pt x="678228" y="361165"/>
                </a:cubicBezTo>
                <a:cubicBezTo>
                  <a:pt x="676288" y="361963"/>
                  <a:pt x="675108" y="362362"/>
                  <a:pt x="674687" y="362362"/>
                </a:cubicBezTo>
                <a:cubicBezTo>
                  <a:pt x="673708" y="361479"/>
                  <a:pt x="673041" y="359739"/>
                  <a:pt x="672684" y="357144"/>
                </a:cubicBezTo>
                <a:cubicBezTo>
                  <a:pt x="672328" y="354548"/>
                  <a:pt x="672033" y="352198"/>
                  <a:pt x="671800" y="350094"/>
                </a:cubicBezTo>
                <a:close/>
                <a:moveTo>
                  <a:pt x="702540" y="302391"/>
                </a:moveTo>
                <a:lnTo>
                  <a:pt x="701049" y="311162"/>
                </a:lnTo>
                <a:cubicBezTo>
                  <a:pt x="699681" y="313820"/>
                  <a:pt x="697499" y="315878"/>
                  <a:pt x="694502" y="317334"/>
                </a:cubicBezTo>
                <a:lnTo>
                  <a:pt x="675466" y="325412"/>
                </a:lnTo>
                <a:lnTo>
                  <a:pt x="676559" y="322440"/>
                </a:lnTo>
                <a:cubicBezTo>
                  <a:pt x="680715" y="316044"/>
                  <a:pt x="689339" y="309388"/>
                  <a:pt x="702430" y="302472"/>
                </a:cubicBezTo>
                <a:close/>
                <a:moveTo>
                  <a:pt x="392666" y="290360"/>
                </a:moveTo>
                <a:lnTo>
                  <a:pt x="393660" y="290360"/>
                </a:lnTo>
                <a:cubicBezTo>
                  <a:pt x="406230" y="291719"/>
                  <a:pt x="408832" y="298678"/>
                  <a:pt x="401465" y="311237"/>
                </a:cubicBezTo>
                <a:cubicBezTo>
                  <a:pt x="394099" y="323797"/>
                  <a:pt x="384321" y="333370"/>
                  <a:pt x="372130" y="339957"/>
                </a:cubicBezTo>
                <a:cubicBezTo>
                  <a:pt x="367709" y="341820"/>
                  <a:pt x="364177" y="341712"/>
                  <a:pt x="361534" y="339635"/>
                </a:cubicBezTo>
                <a:cubicBezTo>
                  <a:pt x="358890" y="337559"/>
                  <a:pt x="357345" y="333976"/>
                  <a:pt x="356899" y="328889"/>
                </a:cubicBezTo>
                <a:cubicBezTo>
                  <a:pt x="356008" y="324715"/>
                  <a:pt x="354886" y="321588"/>
                  <a:pt x="353534" y="319509"/>
                </a:cubicBezTo>
                <a:cubicBezTo>
                  <a:pt x="352182" y="317430"/>
                  <a:pt x="352064" y="315501"/>
                  <a:pt x="353181" y="313721"/>
                </a:cubicBezTo>
                <a:cubicBezTo>
                  <a:pt x="360664" y="306489"/>
                  <a:pt x="367208" y="300845"/>
                  <a:pt x="372814" y="296791"/>
                </a:cubicBezTo>
                <a:cubicBezTo>
                  <a:pt x="378420" y="292737"/>
                  <a:pt x="385037" y="290594"/>
                  <a:pt x="392666" y="290360"/>
                </a:cubicBezTo>
                <a:close/>
                <a:moveTo>
                  <a:pt x="756332" y="280948"/>
                </a:moveTo>
                <a:cubicBezTo>
                  <a:pt x="764507" y="281744"/>
                  <a:pt x="768342" y="284321"/>
                  <a:pt x="767838" y="288679"/>
                </a:cubicBezTo>
                <a:cubicBezTo>
                  <a:pt x="767334" y="293037"/>
                  <a:pt x="765494" y="299664"/>
                  <a:pt x="762320" y="308559"/>
                </a:cubicBezTo>
                <a:cubicBezTo>
                  <a:pt x="760353" y="313092"/>
                  <a:pt x="758482" y="317700"/>
                  <a:pt x="756707" y="322383"/>
                </a:cubicBezTo>
                <a:cubicBezTo>
                  <a:pt x="754933" y="327066"/>
                  <a:pt x="752703" y="331643"/>
                  <a:pt x="750020" y="336114"/>
                </a:cubicBezTo>
                <a:cubicBezTo>
                  <a:pt x="747816" y="337768"/>
                  <a:pt x="745121" y="338719"/>
                  <a:pt x="741933" y="338967"/>
                </a:cubicBezTo>
                <a:cubicBezTo>
                  <a:pt x="738746" y="339215"/>
                  <a:pt x="735852" y="339728"/>
                  <a:pt x="733253" y="340507"/>
                </a:cubicBezTo>
                <a:cubicBezTo>
                  <a:pt x="730528" y="340895"/>
                  <a:pt x="728572" y="341878"/>
                  <a:pt x="727384" y="343457"/>
                </a:cubicBezTo>
                <a:cubicBezTo>
                  <a:pt x="726197" y="345036"/>
                  <a:pt x="725264" y="346622"/>
                  <a:pt x="724584" y="348213"/>
                </a:cubicBezTo>
                <a:cubicBezTo>
                  <a:pt x="723939" y="349017"/>
                  <a:pt x="723620" y="349361"/>
                  <a:pt x="723628" y="349244"/>
                </a:cubicBezTo>
                <a:cubicBezTo>
                  <a:pt x="723637" y="349128"/>
                  <a:pt x="723637" y="349038"/>
                  <a:pt x="723628" y="348976"/>
                </a:cubicBezTo>
                <a:cubicBezTo>
                  <a:pt x="724328" y="340118"/>
                  <a:pt x="725947" y="334089"/>
                  <a:pt x="728484" y="330889"/>
                </a:cubicBezTo>
                <a:cubicBezTo>
                  <a:pt x="731022" y="327689"/>
                  <a:pt x="736998" y="324229"/>
                  <a:pt x="746414" y="320509"/>
                </a:cubicBezTo>
                <a:cubicBezTo>
                  <a:pt x="750260" y="318438"/>
                  <a:pt x="754030" y="315706"/>
                  <a:pt x="757723" y="312312"/>
                </a:cubicBezTo>
                <a:cubicBezTo>
                  <a:pt x="761417" y="308919"/>
                  <a:pt x="762507" y="304205"/>
                  <a:pt x="760995" y="298172"/>
                </a:cubicBezTo>
                <a:cubicBezTo>
                  <a:pt x="759311" y="295648"/>
                  <a:pt x="757077" y="293688"/>
                  <a:pt x="754292" y="292295"/>
                </a:cubicBezTo>
                <a:cubicBezTo>
                  <a:pt x="751507" y="290901"/>
                  <a:pt x="748750" y="290204"/>
                  <a:pt x="746021" y="290204"/>
                </a:cubicBezTo>
                <a:cubicBezTo>
                  <a:pt x="744696" y="290121"/>
                  <a:pt x="743709" y="289134"/>
                  <a:pt x="743061" y="287245"/>
                </a:cubicBezTo>
                <a:cubicBezTo>
                  <a:pt x="742413" y="285355"/>
                  <a:pt x="743356" y="283973"/>
                  <a:pt x="745889" y="283098"/>
                </a:cubicBezTo>
                <a:close/>
                <a:moveTo>
                  <a:pt x="404990" y="269137"/>
                </a:moveTo>
                <a:cubicBezTo>
                  <a:pt x="387883" y="273507"/>
                  <a:pt x="373134" y="277660"/>
                  <a:pt x="360743" y="281595"/>
                </a:cubicBezTo>
                <a:cubicBezTo>
                  <a:pt x="348352" y="285530"/>
                  <a:pt x="334157" y="291910"/>
                  <a:pt x="318158" y="300735"/>
                </a:cubicBezTo>
                <a:cubicBezTo>
                  <a:pt x="315446" y="306159"/>
                  <a:pt x="312900" y="310788"/>
                  <a:pt x="310521" y="314621"/>
                </a:cubicBezTo>
                <a:cubicBezTo>
                  <a:pt x="308142" y="318455"/>
                  <a:pt x="306036" y="322600"/>
                  <a:pt x="304203" y="327058"/>
                </a:cubicBezTo>
                <a:cubicBezTo>
                  <a:pt x="301903" y="331879"/>
                  <a:pt x="301440" y="335265"/>
                  <a:pt x="302815" y="337217"/>
                </a:cubicBezTo>
                <a:cubicBezTo>
                  <a:pt x="304190" y="339169"/>
                  <a:pt x="306475" y="341005"/>
                  <a:pt x="309671" y="342726"/>
                </a:cubicBezTo>
                <a:cubicBezTo>
                  <a:pt x="313000" y="348721"/>
                  <a:pt x="316389" y="354594"/>
                  <a:pt x="319839" y="360344"/>
                </a:cubicBezTo>
                <a:cubicBezTo>
                  <a:pt x="323289" y="366093"/>
                  <a:pt x="329330" y="371451"/>
                  <a:pt x="337963" y="376418"/>
                </a:cubicBezTo>
                <a:cubicBezTo>
                  <a:pt x="338513" y="377038"/>
                  <a:pt x="338658" y="378559"/>
                  <a:pt x="338397" y="380980"/>
                </a:cubicBezTo>
                <a:cubicBezTo>
                  <a:pt x="338137" y="383401"/>
                  <a:pt x="338965" y="386221"/>
                  <a:pt x="340882" y="389442"/>
                </a:cubicBezTo>
                <a:cubicBezTo>
                  <a:pt x="344952" y="392833"/>
                  <a:pt x="349431" y="394814"/>
                  <a:pt x="354318" y="395385"/>
                </a:cubicBezTo>
                <a:cubicBezTo>
                  <a:pt x="359206" y="395956"/>
                  <a:pt x="363595" y="395912"/>
                  <a:pt x="367486" y="395254"/>
                </a:cubicBezTo>
                <a:cubicBezTo>
                  <a:pt x="378356" y="389554"/>
                  <a:pt x="388689" y="385932"/>
                  <a:pt x="398484" y="384386"/>
                </a:cubicBezTo>
                <a:cubicBezTo>
                  <a:pt x="408280" y="382840"/>
                  <a:pt x="418994" y="380130"/>
                  <a:pt x="430626" y="376255"/>
                </a:cubicBezTo>
                <a:cubicBezTo>
                  <a:pt x="437780" y="371701"/>
                  <a:pt x="441741" y="366792"/>
                  <a:pt x="442510" y="361528"/>
                </a:cubicBezTo>
                <a:cubicBezTo>
                  <a:pt x="443279" y="356264"/>
                  <a:pt x="440049" y="351834"/>
                  <a:pt x="432820" y="348238"/>
                </a:cubicBezTo>
                <a:cubicBezTo>
                  <a:pt x="431157" y="346763"/>
                  <a:pt x="430000" y="345779"/>
                  <a:pt x="429348" y="345285"/>
                </a:cubicBezTo>
                <a:cubicBezTo>
                  <a:pt x="428696" y="344791"/>
                  <a:pt x="429101" y="344251"/>
                  <a:pt x="430564" y="343663"/>
                </a:cubicBezTo>
                <a:cubicBezTo>
                  <a:pt x="435538" y="339276"/>
                  <a:pt x="440210" y="334147"/>
                  <a:pt x="444578" y="328277"/>
                </a:cubicBezTo>
                <a:cubicBezTo>
                  <a:pt x="448947" y="322406"/>
                  <a:pt x="451910" y="316665"/>
                  <a:pt x="453469" y="311053"/>
                </a:cubicBezTo>
                <a:cubicBezTo>
                  <a:pt x="453469" y="305191"/>
                  <a:pt x="452022" y="299944"/>
                  <a:pt x="449128" y="295313"/>
                </a:cubicBezTo>
                <a:cubicBezTo>
                  <a:pt x="446235" y="290682"/>
                  <a:pt x="442388" y="286102"/>
                  <a:pt x="437588" y="281573"/>
                </a:cubicBezTo>
                <a:cubicBezTo>
                  <a:pt x="432276" y="275078"/>
                  <a:pt x="426521" y="271232"/>
                  <a:pt x="420324" y="270037"/>
                </a:cubicBezTo>
                <a:cubicBezTo>
                  <a:pt x="414126" y="268841"/>
                  <a:pt x="409015" y="268541"/>
                  <a:pt x="404990" y="269137"/>
                </a:cubicBezTo>
                <a:close/>
                <a:moveTo>
                  <a:pt x="715373" y="233057"/>
                </a:moveTo>
                <a:lnTo>
                  <a:pt x="699973" y="251988"/>
                </a:lnTo>
                <a:cubicBezTo>
                  <a:pt x="691874" y="260729"/>
                  <a:pt x="683114" y="269299"/>
                  <a:pt x="673694" y="277699"/>
                </a:cubicBezTo>
                <a:cubicBezTo>
                  <a:pt x="669782" y="280807"/>
                  <a:pt x="666247" y="281615"/>
                  <a:pt x="663091" y="280124"/>
                </a:cubicBezTo>
                <a:lnTo>
                  <a:pt x="652523" y="276162"/>
                </a:lnTo>
                <a:lnTo>
                  <a:pt x="653233" y="276005"/>
                </a:lnTo>
                <a:cubicBezTo>
                  <a:pt x="656811" y="273772"/>
                  <a:pt x="660778" y="271666"/>
                  <a:pt x="665132" y="269687"/>
                </a:cubicBezTo>
                <a:cubicBezTo>
                  <a:pt x="669486" y="267708"/>
                  <a:pt x="674258" y="264733"/>
                  <a:pt x="679450" y="260762"/>
                </a:cubicBezTo>
                <a:cubicBezTo>
                  <a:pt x="684753" y="255204"/>
                  <a:pt x="690017" y="250858"/>
                  <a:pt x="695239" y="247722"/>
                </a:cubicBezTo>
                <a:cubicBezTo>
                  <a:pt x="700462" y="244587"/>
                  <a:pt x="706096" y="240391"/>
                  <a:pt x="712141" y="235133"/>
                </a:cubicBezTo>
                <a:close/>
                <a:moveTo>
                  <a:pt x="244213" y="160787"/>
                </a:moveTo>
                <a:lnTo>
                  <a:pt x="234726" y="162681"/>
                </a:lnTo>
                <a:cubicBezTo>
                  <a:pt x="221289" y="172759"/>
                  <a:pt x="211764" y="183274"/>
                  <a:pt x="206149" y="194226"/>
                </a:cubicBezTo>
                <a:cubicBezTo>
                  <a:pt x="200535" y="205177"/>
                  <a:pt x="195378" y="215850"/>
                  <a:pt x="190678" y="226246"/>
                </a:cubicBezTo>
                <a:cubicBezTo>
                  <a:pt x="189966" y="227241"/>
                  <a:pt x="188637" y="228063"/>
                  <a:pt x="186691" y="228711"/>
                </a:cubicBezTo>
                <a:cubicBezTo>
                  <a:pt x="184745" y="229359"/>
                  <a:pt x="183550" y="231718"/>
                  <a:pt x="183104" y="235789"/>
                </a:cubicBezTo>
                <a:cubicBezTo>
                  <a:pt x="183104" y="239134"/>
                  <a:pt x="183736" y="241932"/>
                  <a:pt x="185001" y="244182"/>
                </a:cubicBezTo>
                <a:cubicBezTo>
                  <a:pt x="186265" y="246432"/>
                  <a:pt x="187201" y="248590"/>
                  <a:pt x="187810" y="250657"/>
                </a:cubicBezTo>
                <a:cubicBezTo>
                  <a:pt x="187547" y="253052"/>
                  <a:pt x="187285" y="255845"/>
                  <a:pt x="187022" y="259034"/>
                </a:cubicBezTo>
                <a:cubicBezTo>
                  <a:pt x="186760" y="262224"/>
                  <a:pt x="187583" y="265524"/>
                  <a:pt x="189491" y="268937"/>
                </a:cubicBezTo>
                <a:cubicBezTo>
                  <a:pt x="189995" y="272753"/>
                  <a:pt x="191155" y="276477"/>
                  <a:pt x="192972" y="280108"/>
                </a:cubicBezTo>
                <a:cubicBezTo>
                  <a:pt x="194789" y="283739"/>
                  <a:pt x="198353" y="287379"/>
                  <a:pt x="203665" y="291029"/>
                </a:cubicBezTo>
                <a:cubicBezTo>
                  <a:pt x="209573" y="291629"/>
                  <a:pt x="215022" y="291702"/>
                  <a:pt x="220011" y="291248"/>
                </a:cubicBezTo>
                <a:cubicBezTo>
                  <a:pt x="222506" y="291021"/>
                  <a:pt x="224991" y="290092"/>
                  <a:pt x="227468" y="288461"/>
                </a:cubicBezTo>
                <a:lnTo>
                  <a:pt x="231745" y="284416"/>
                </a:lnTo>
                <a:lnTo>
                  <a:pt x="227795" y="297804"/>
                </a:lnTo>
                <a:cubicBezTo>
                  <a:pt x="225878" y="303291"/>
                  <a:pt x="223789" y="308753"/>
                  <a:pt x="221526" y="314190"/>
                </a:cubicBezTo>
                <a:cubicBezTo>
                  <a:pt x="214823" y="318119"/>
                  <a:pt x="208027" y="321423"/>
                  <a:pt x="201140" y="324102"/>
                </a:cubicBezTo>
                <a:cubicBezTo>
                  <a:pt x="194253" y="326781"/>
                  <a:pt x="186939" y="329841"/>
                  <a:pt x="179198" y="333283"/>
                </a:cubicBezTo>
                <a:cubicBezTo>
                  <a:pt x="177740" y="334741"/>
                  <a:pt x="176217" y="335735"/>
                  <a:pt x="174629" y="336264"/>
                </a:cubicBezTo>
                <a:cubicBezTo>
                  <a:pt x="173042" y="336793"/>
                  <a:pt x="171904" y="337126"/>
                  <a:pt x="171217" y="337264"/>
                </a:cubicBezTo>
                <a:cubicBezTo>
                  <a:pt x="165697" y="336739"/>
                  <a:pt x="160476" y="336476"/>
                  <a:pt x="155556" y="336476"/>
                </a:cubicBezTo>
                <a:cubicBezTo>
                  <a:pt x="150635" y="336476"/>
                  <a:pt x="144777" y="337124"/>
                  <a:pt x="137982" y="338420"/>
                </a:cubicBezTo>
                <a:cubicBezTo>
                  <a:pt x="134469" y="341932"/>
                  <a:pt x="132033" y="345482"/>
                  <a:pt x="130673" y="349069"/>
                </a:cubicBezTo>
                <a:cubicBezTo>
                  <a:pt x="129312" y="352657"/>
                  <a:pt x="127463" y="357288"/>
                  <a:pt x="125126" y="362962"/>
                </a:cubicBezTo>
                <a:lnTo>
                  <a:pt x="124276" y="374343"/>
                </a:lnTo>
                <a:cubicBezTo>
                  <a:pt x="127176" y="379913"/>
                  <a:pt x="131656" y="383518"/>
                  <a:pt x="137716" y="385158"/>
                </a:cubicBezTo>
                <a:cubicBezTo>
                  <a:pt x="143776" y="386797"/>
                  <a:pt x="148841" y="386707"/>
                  <a:pt x="152912" y="384886"/>
                </a:cubicBezTo>
                <a:cubicBezTo>
                  <a:pt x="160324" y="381299"/>
                  <a:pt x="167440" y="378153"/>
                  <a:pt x="174261" y="375449"/>
                </a:cubicBezTo>
                <a:cubicBezTo>
                  <a:pt x="181081" y="372745"/>
                  <a:pt x="188485" y="370462"/>
                  <a:pt x="196472" y="368599"/>
                </a:cubicBezTo>
                <a:cubicBezTo>
                  <a:pt x="197463" y="367683"/>
                  <a:pt x="198032" y="367330"/>
                  <a:pt x="198178" y="367540"/>
                </a:cubicBezTo>
                <a:cubicBezTo>
                  <a:pt x="198324" y="367750"/>
                  <a:pt x="198065" y="368456"/>
                  <a:pt x="197403" y="369656"/>
                </a:cubicBezTo>
                <a:cubicBezTo>
                  <a:pt x="194661" y="374634"/>
                  <a:pt x="191913" y="379341"/>
                  <a:pt x="189157" y="383777"/>
                </a:cubicBezTo>
                <a:cubicBezTo>
                  <a:pt x="186400" y="388212"/>
                  <a:pt x="182291" y="391931"/>
                  <a:pt x="176829" y="394935"/>
                </a:cubicBezTo>
                <a:cubicBezTo>
                  <a:pt x="173734" y="402372"/>
                  <a:pt x="171592" y="409455"/>
                  <a:pt x="170405" y="416184"/>
                </a:cubicBezTo>
                <a:cubicBezTo>
                  <a:pt x="169217" y="422913"/>
                  <a:pt x="168482" y="429794"/>
                  <a:pt x="168198" y="436826"/>
                </a:cubicBezTo>
                <a:cubicBezTo>
                  <a:pt x="168198" y="438364"/>
                  <a:pt x="168351" y="440195"/>
                  <a:pt x="168655" y="442320"/>
                </a:cubicBezTo>
                <a:cubicBezTo>
                  <a:pt x="168959" y="444445"/>
                  <a:pt x="169736" y="446445"/>
                  <a:pt x="170986" y="448319"/>
                </a:cubicBezTo>
                <a:cubicBezTo>
                  <a:pt x="173656" y="455161"/>
                  <a:pt x="177572" y="459369"/>
                  <a:pt x="182732" y="460944"/>
                </a:cubicBezTo>
                <a:cubicBezTo>
                  <a:pt x="187892" y="462519"/>
                  <a:pt x="194114" y="460367"/>
                  <a:pt x="201396" y="454488"/>
                </a:cubicBezTo>
                <a:cubicBezTo>
                  <a:pt x="211321" y="442143"/>
                  <a:pt x="219205" y="431255"/>
                  <a:pt x="225048" y="421824"/>
                </a:cubicBezTo>
                <a:cubicBezTo>
                  <a:pt x="230892" y="412394"/>
                  <a:pt x="236078" y="401954"/>
                  <a:pt x="240607" y="390504"/>
                </a:cubicBezTo>
                <a:lnTo>
                  <a:pt x="249943" y="372618"/>
                </a:lnTo>
                <a:cubicBezTo>
                  <a:pt x="250481" y="371410"/>
                  <a:pt x="250629" y="370732"/>
                  <a:pt x="250387" y="370584"/>
                </a:cubicBezTo>
                <a:cubicBezTo>
                  <a:pt x="250146" y="370436"/>
                  <a:pt x="250391" y="371041"/>
                  <a:pt x="251125" y="372399"/>
                </a:cubicBezTo>
                <a:cubicBezTo>
                  <a:pt x="254391" y="378115"/>
                  <a:pt x="257594" y="383328"/>
                  <a:pt x="260733" y="388036"/>
                </a:cubicBezTo>
                <a:cubicBezTo>
                  <a:pt x="263873" y="392744"/>
                  <a:pt x="267313" y="398173"/>
                  <a:pt x="271055" y="404322"/>
                </a:cubicBezTo>
                <a:lnTo>
                  <a:pt x="276511" y="408878"/>
                </a:lnTo>
                <a:cubicBezTo>
                  <a:pt x="281477" y="411674"/>
                  <a:pt x="286318" y="413142"/>
                  <a:pt x="291035" y="413284"/>
                </a:cubicBezTo>
                <a:cubicBezTo>
                  <a:pt x="295751" y="413426"/>
                  <a:pt x="299720" y="410311"/>
                  <a:pt x="302940" y="403941"/>
                </a:cubicBezTo>
                <a:cubicBezTo>
                  <a:pt x="307232" y="399650"/>
                  <a:pt x="309468" y="396153"/>
                  <a:pt x="309649" y="393451"/>
                </a:cubicBezTo>
                <a:cubicBezTo>
                  <a:pt x="309830" y="390749"/>
                  <a:pt x="309000" y="386940"/>
                  <a:pt x="307159" y="382024"/>
                </a:cubicBezTo>
                <a:cubicBezTo>
                  <a:pt x="303742" y="376045"/>
                  <a:pt x="300039" y="370861"/>
                  <a:pt x="296050" y="366471"/>
                </a:cubicBezTo>
                <a:cubicBezTo>
                  <a:pt x="292061" y="362082"/>
                  <a:pt x="287443" y="357265"/>
                  <a:pt x="282198" y="352019"/>
                </a:cubicBezTo>
                <a:lnTo>
                  <a:pt x="267680" y="346894"/>
                </a:lnTo>
                <a:cubicBezTo>
                  <a:pt x="264213" y="345411"/>
                  <a:pt x="262480" y="343990"/>
                  <a:pt x="262480" y="342632"/>
                </a:cubicBezTo>
                <a:cubicBezTo>
                  <a:pt x="262480" y="341274"/>
                  <a:pt x="263370" y="339014"/>
                  <a:pt x="265149" y="335851"/>
                </a:cubicBezTo>
                <a:cubicBezTo>
                  <a:pt x="269003" y="331997"/>
                  <a:pt x="273538" y="328099"/>
                  <a:pt x="278754" y="324155"/>
                </a:cubicBezTo>
                <a:cubicBezTo>
                  <a:pt x="283971" y="320212"/>
                  <a:pt x="289701" y="315413"/>
                  <a:pt x="295947" y="309759"/>
                </a:cubicBezTo>
                <a:lnTo>
                  <a:pt x="309027" y="296679"/>
                </a:lnTo>
                <a:cubicBezTo>
                  <a:pt x="312248" y="290787"/>
                  <a:pt x="312753" y="286110"/>
                  <a:pt x="310543" y="282645"/>
                </a:cubicBezTo>
                <a:cubicBezTo>
                  <a:pt x="308333" y="279181"/>
                  <a:pt x="304044" y="277272"/>
                  <a:pt x="297678" y="276917"/>
                </a:cubicBezTo>
                <a:cubicBezTo>
                  <a:pt x="293074" y="277188"/>
                  <a:pt x="289409" y="277379"/>
                  <a:pt x="286682" y="277489"/>
                </a:cubicBezTo>
                <a:cubicBezTo>
                  <a:pt x="283955" y="277600"/>
                  <a:pt x="280602" y="277655"/>
                  <a:pt x="276623" y="277655"/>
                </a:cubicBezTo>
                <a:cubicBezTo>
                  <a:pt x="273577" y="276401"/>
                  <a:pt x="271113" y="274586"/>
                  <a:pt x="269230" y="272211"/>
                </a:cubicBezTo>
                <a:cubicBezTo>
                  <a:pt x="267347" y="269837"/>
                  <a:pt x="268174" y="267401"/>
                  <a:pt x="271711" y="264906"/>
                </a:cubicBezTo>
                <a:cubicBezTo>
                  <a:pt x="278261" y="259931"/>
                  <a:pt x="284019" y="255208"/>
                  <a:pt x="288985" y="250738"/>
                </a:cubicBezTo>
                <a:cubicBezTo>
                  <a:pt x="293951" y="246267"/>
                  <a:pt x="300295" y="242832"/>
                  <a:pt x="308015" y="240432"/>
                </a:cubicBezTo>
                <a:cubicBezTo>
                  <a:pt x="313215" y="235183"/>
                  <a:pt x="315642" y="230227"/>
                  <a:pt x="315296" y="225564"/>
                </a:cubicBezTo>
                <a:cubicBezTo>
                  <a:pt x="314950" y="220902"/>
                  <a:pt x="311302" y="217248"/>
                  <a:pt x="304353" y="214603"/>
                </a:cubicBezTo>
                <a:cubicBezTo>
                  <a:pt x="299440" y="212453"/>
                  <a:pt x="294955" y="211378"/>
                  <a:pt x="290897" y="211378"/>
                </a:cubicBezTo>
                <a:cubicBezTo>
                  <a:pt x="286839" y="211378"/>
                  <a:pt x="282104" y="211536"/>
                  <a:pt x="276692" y="211853"/>
                </a:cubicBezTo>
                <a:cubicBezTo>
                  <a:pt x="270017" y="213628"/>
                  <a:pt x="266111" y="212625"/>
                  <a:pt x="264974" y="208843"/>
                </a:cubicBezTo>
                <a:cubicBezTo>
                  <a:pt x="263836" y="205062"/>
                  <a:pt x="264182" y="199131"/>
                  <a:pt x="266011" y="191048"/>
                </a:cubicBezTo>
                <a:cubicBezTo>
                  <a:pt x="266736" y="189381"/>
                  <a:pt x="267177" y="186220"/>
                  <a:pt x="267333" y="181564"/>
                </a:cubicBezTo>
                <a:cubicBezTo>
                  <a:pt x="267489" y="176908"/>
                  <a:pt x="265455" y="172676"/>
                  <a:pt x="261230" y="168868"/>
                </a:cubicBezTo>
                <a:cubicBezTo>
                  <a:pt x="256360" y="168297"/>
                  <a:pt x="253304" y="167725"/>
                  <a:pt x="252062" y="167152"/>
                </a:cubicBezTo>
                <a:cubicBezTo>
                  <a:pt x="250821" y="166579"/>
                  <a:pt x="248204" y="164458"/>
                  <a:pt x="244213" y="160787"/>
                </a:cubicBezTo>
                <a:close/>
                <a:moveTo>
                  <a:pt x="703154" y="157062"/>
                </a:moveTo>
                <a:lnTo>
                  <a:pt x="697242" y="159593"/>
                </a:lnTo>
                <a:cubicBezTo>
                  <a:pt x="683156" y="165826"/>
                  <a:pt x="669984" y="175466"/>
                  <a:pt x="657726" y="188513"/>
                </a:cubicBezTo>
                <a:cubicBezTo>
                  <a:pt x="645468" y="201561"/>
                  <a:pt x="633146" y="213140"/>
                  <a:pt x="620760" y="223252"/>
                </a:cubicBezTo>
                <a:cubicBezTo>
                  <a:pt x="608423" y="227173"/>
                  <a:pt x="600173" y="236138"/>
                  <a:pt x="596011" y="250147"/>
                </a:cubicBezTo>
                <a:cubicBezTo>
                  <a:pt x="591849" y="264157"/>
                  <a:pt x="594826" y="275815"/>
                  <a:pt x="604942" y="285123"/>
                </a:cubicBezTo>
                <a:cubicBezTo>
                  <a:pt x="609241" y="287044"/>
                  <a:pt x="613131" y="287874"/>
                  <a:pt x="616610" y="287614"/>
                </a:cubicBezTo>
                <a:lnTo>
                  <a:pt x="627710" y="288002"/>
                </a:lnTo>
                <a:lnTo>
                  <a:pt x="617585" y="314540"/>
                </a:lnTo>
                <a:cubicBezTo>
                  <a:pt x="615589" y="323519"/>
                  <a:pt x="615022" y="332499"/>
                  <a:pt x="615885" y="341482"/>
                </a:cubicBezTo>
                <a:cubicBezTo>
                  <a:pt x="617610" y="359448"/>
                  <a:pt x="623345" y="377338"/>
                  <a:pt x="633090" y="395154"/>
                </a:cubicBezTo>
                <a:lnTo>
                  <a:pt x="638353" y="398162"/>
                </a:lnTo>
                <a:lnTo>
                  <a:pt x="636627" y="399379"/>
                </a:lnTo>
                <a:cubicBezTo>
                  <a:pt x="627694" y="404928"/>
                  <a:pt x="619757" y="408578"/>
                  <a:pt x="612816" y="410328"/>
                </a:cubicBezTo>
                <a:cubicBezTo>
                  <a:pt x="605875" y="412078"/>
                  <a:pt x="597603" y="414190"/>
                  <a:pt x="587999" y="416665"/>
                </a:cubicBezTo>
                <a:cubicBezTo>
                  <a:pt x="578408" y="419282"/>
                  <a:pt x="572238" y="422575"/>
                  <a:pt x="569491" y="426546"/>
                </a:cubicBezTo>
                <a:cubicBezTo>
                  <a:pt x="566743" y="430516"/>
                  <a:pt x="564100" y="436872"/>
                  <a:pt x="561563" y="445613"/>
                </a:cubicBezTo>
                <a:cubicBezTo>
                  <a:pt x="560755" y="454571"/>
                  <a:pt x="562833" y="460544"/>
                  <a:pt x="567797" y="463531"/>
                </a:cubicBezTo>
                <a:cubicBezTo>
                  <a:pt x="572761" y="466518"/>
                  <a:pt x="579602" y="466656"/>
                  <a:pt x="588318" y="463944"/>
                </a:cubicBezTo>
                <a:cubicBezTo>
                  <a:pt x="592076" y="460448"/>
                  <a:pt x="595425" y="458029"/>
                  <a:pt x="598364" y="456688"/>
                </a:cubicBezTo>
                <a:cubicBezTo>
                  <a:pt x="601303" y="455346"/>
                  <a:pt x="605444" y="453613"/>
                  <a:pt x="610785" y="451488"/>
                </a:cubicBezTo>
                <a:cubicBezTo>
                  <a:pt x="618443" y="446209"/>
                  <a:pt x="625522" y="442070"/>
                  <a:pt x="632021" y="439070"/>
                </a:cubicBezTo>
                <a:cubicBezTo>
                  <a:pt x="638521" y="436070"/>
                  <a:pt x="645714" y="434062"/>
                  <a:pt x="653601" y="433045"/>
                </a:cubicBezTo>
                <a:lnTo>
                  <a:pt x="659562" y="429079"/>
                </a:lnTo>
                <a:lnTo>
                  <a:pt x="669444" y="438944"/>
                </a:lnTo>
                <a:cubicBezTo>
                  <a:pt x="673288" y="441737"/>
                  <a:pt x="677277" y="443632"/>
                  <a:pt x="681412" y="444629"/>
                </a:cubicBezTo>
                <a:cubicBezTo>
                  <a:pt x="689682" y="446623"/>
                  <a:pt x="697801" y="441878"/>
                  <a:pt x="705767" y="430396"/>
                </a:cubicBezTo>
                <a:cubicBezTo>
                  <a:pt x="709392" y="425921"/>
                  <a:pt x="712821" y="423293"/>
                  <a:pt x="716054" y="422512"/>
                </a:cubicBezTo>
                <a:cubicBezTo>
                  <a:pt x="719287" y="421730"/>
                  <a:pt x="723089" y="423879"/>
                  <a:pt x="727459" y="428958"/>
                </a:cubicBezTo>
                <a:cubicBezTo>
                  <a:pt x="737934" y="436170"/>
                  <a:pt x="746698" y="439562"/>
                  <a:pt x="753751" y="439133"/>
                </a:cubicBezTo>
                <a:cubicBezTo>
                  <a:pt x="760805" y="438703"/>
                  <a:pt x="768834" y="434268"/>
                  <a:pt x="777837" y="425827"/>
                </a:cubicBezTo>
                <a:cubicBezTo>
                  <a:pt x="782925" y="422132"/>
                  <a:pt x="788044" y="419675"/>
                  <a:pt x="793196" y="418459"/>
                </a:cubicBezTo>
                <a:cubicBezTo>
                  <a:pt x="798348" y="417242"/>
                  <a:pt x="802511" y="419990"/>
                  <a:pt x="805686" y="426702"/>
                </a:cubicBezTo>
                <a:cubicBezTo>
                  <a:pt x="808331" y="432268"/>
                  <a:pt x="812787" y="436262"/>
                  <a:pt x="819054" y="438683"/>
                </a:cubicBezTo>
                <a:cubicBezTo>
                  <a:pt x="825320" y="441103"/>
                  <a:pt x="830824" y="443366"/>
                  <a:pt x="835565" y="445470"/>
                </a:cubicBezTo>
                <a:cubicBezTo>
                  <a:pt x="841011" y="447649"/>
                  <a:pt x="846926" y="449205"/>
                  <a:pt x="853311" y="450138"/>
                </a:cubicBezTo>
                <a:cubicBezTo>
                  <a:pt x="859696" y="451071"/>
                  <a:pt x="866076" y="448305"/>
                  <a:pt x="872450" y="441839"/>
                </a:cubicBezTo>
                <a:cubicBezTo>
                  <a:pt x="874434" y="426852"/>
                  <a:pt x="868867" y="415380"/>
                  <a:pt x="855751" y="407422"/>
                </a:cubicBezTo>
                <a:cubicBezTo>
                  <a:pt x="842636" y="399464"/>
                  <a:pt x="830865" y="394935"/>
                  <a:pt x="820441" y="393835"/>
                </a:cubicBezTo>
                <a:cubicBezTo>
                  <a:pt x="817041" y="393590"/>
                  <a:pt x="813883" y="392988"/>
                  <a:pt x="810967" y="392032"/>
                </a:cubicBezTo>
                <a:cubicBezTo>
                  <a:pt x="808050" y="391076"/>
                  <a:pt x="804267" y="391552"/>
                  <a:pt x="799617" y="393460"/>
                </a:cubicBezTo>
                <a:lnTo>
                  <a:pt x="792337" y="398316"/>
                </a:lnTo>
                <a:cubicBezTo>
                  <a:pt x="785874" y="401429"/>
                  <a:pt x="779292" y="404209"/>
                  <a:pt x="772591" y="406656"/>
                </a:cubicBezTo>
                <a:cubicBezTo>
                  <a:pt x="765889" y="409104"/>
                  <a:pt x="759284" y="410809"/>
                  <a:pt x="752776" y="411772"/>
                </a:cubicBezTo>
                <a:cubicBezTo>
                  <a:pt x="749956" y="411772"/>
                  <a:pt x="746991" y="410996"/>
                  <a:pt x="743883" y="409444"/>
                </a:cubicBezTo>
                <a:cubicBezTo>
                  <a:pt x="740775" y="407892"/>
                  <a:pt x="737227" y="406116"/>
                  <a:pt x="733240" y="404116"/>
                </a:cubicBezTo>
                <a:cubicBezTo>
                  <a:pt x="724432" y="402687"/>
                  <a:pt x="716712" y="403291"/>
                  <a:pt x="710079" y="405928"/>
                </a:cubicBezTo>
                <a:cubicBezTo>
                  <a:pt x="703446" y="408566"/>
                  <a:pt x="696957" y="411593"/>
                  <a:pt x="690611" y="415009"/>
                </a:cubicBezTo>
                <a:cubicBezTo>
                  <a:pt x="686878" y="417146"/>
                  <a:pt x="683925" y="418448"/>
                  <a:pt x="681753" y="418915"/>
                </a:cubicBezTo>
                <a:cubicBezTo>
                  <a:pt x="679580" y="419382"/>
                  <a:pt x="677377" y="418392"/>
                  <a:pt x="675144" y="415946"/>
                </a:cubicBezTo>
                <a:cubicBezTo>
                  <a:pt x="669482" y="412642"/>
                  <a:pt x="664947" y="412265"/>
                  <a:pt x="661541" y="414815"/>
                </a:cubicBezTo>
                <a:lnTo>
                  <a:pt x="658261" y="419881"/>
                </a:lnTo>
                <a:lnTo>
                  <a:pt x="653832" y="414597"/>
                </a:lnTo>
                <a:cubicBezTo>
                  <a:pt x="652333" y="414097"/>
                  <a:pt x="651503" y="414014"/>
                  <a:pt x="651345" y="414350"/>
                </a:cubicBezTo>
                <a:cubicBezTo>
                  <a:pt x="651187" y="414685"/>
                  <a:pt x="651818" y="414584"/>
                  <a:pt x="653239" y="414047"/>
                </a:cubicBezTo>
                <a:cubicBezTo>
                  <a:pt x="659705" y="407322"/>
                  <a:pt x="665720" y="402509"/>
                  <a:pt x="671285" y="399607"/>
                </a:cubicBezTo>
                <a:cubicBezTo>
                  <a:pt x="676849" y="396705"/>
                  <a:pt x="682752" y="394504"/>
                  <a:pt x="688993" y="393004"/>
                </a:cubicBezTo>
                <a:cubicBezTo>
                  <a:pt x="699255" y="389196"/>
                  <a:pt x="708381" y="385632"/>
                  <a:pt x="716372" y="382311"/>
                </a:cubicBezTo>
                <a:cubicBezTo>
                  <a:pt x="724364" y="378990"/>
                  <a:pt x="732636" y="376576"/>
                  <a:pt x="741190" y="375068"/>
                </a:cubicBezTo>
                <a:cubicBezTo>
                  <a:pt x="742223" y="375068"/>
                  <a:pt x="743801" y="376068"/>
                  <a:pt x="745924" y="378068"/>
                </a:cubicBezTo>
                <a:cubicBezTo>
                  <a:pt x="748047" y="380067"/>
                  <a:pt x="751093" y="381419"/>
                  <a:pt x="755064" y="382124"/>
                </a:cubicBezTo>
                <a:cubicBezTo>
                  <a:pt x="766601" y="381503"/>
                  <a:pt x="774970" y="375811"/>
                  <a:pt x="780172" y="365050"/>
                </a:cubicBezTo>
                <a:cubicBezTo>
                  <a:pt x="785373" y="354288"/>
                  <a:pt x="789785" y="345603"/>
                  <a:pt x="793405" y="338995"/>
                </a:cubicBezTo>
                <a:cubicBezTo>
                  <a:pt x="798680" y="330108"/>
                  <a:pt x="802699" y="321848"/>
                  <a:pt x="805464" y="314215"/>
                </a:cubicBezTo>
                <a:cubicBezTo>
                  <a:pt x="808228" y="306582"/>
                  <a:pt x="810721" y="298604"/>
                  <a:pt x="812942" y="290279"/>
                </a:cubicBezTo>
                <a:cubicBezTo>
                  <a:pt x="814075" y="284125"/>
                  <a:pt x="812919" y="277859"/>
                  <a:pt x="809473" y="271480"/>
                </a:cubicBezTo>
                <a:cubicBezTo>
                  <a:pt x="806027" y="265102"/>
                  <a:pt x="800826" y="260921"/>
                  <a:pt x="793868" y="258937"/>
                </a:cubicBezTo>
                <a:cubicBezTo>
                  <a:pt x="786456" y="257821"/>
                  <a:pt x="779749" y="256681"/>
                  <a:pt x="773747" y="255519"/>
                </a:cubicBezTo>
                <a:cubicBezTo>
                  <a:pt x="767745" y="254356"/>
                  <a:pt x="760849" y="253919"/>
                  <a:pt x="753058" y="254206"/>
                </a:cubicBezTo>
                <a:cubicBezTo>
                  <a:pt x="749200" y="254719"/>
                  <a:pt x="745498" y="255435"/>
                  <a:pt x="741952" y="256356"/>
                </a:cubicBezTo>
                <a:cubicBezTo>
                  <a:pt x="738406" y="257277"/>
                  <a:pt x="735094" y="257848"/>
                  <a:pt x="732015" y="258069"/>
                </a:cubicBezTo>
                <a:cubicBezTo>
                  <a:pt x="730099" y="257723"/>
                  <a:pt x="728684" y="257532"/>
                  <a:pt x="727772" y="257497"/>
                </a:cubicBezTo>
                <a:cubicBezTo>
                  <a:pt x="726859" y="257461"/>
                  <a:pt x="727697" y="257033"/>
                  <a:pt x="730284" y="256212"/>
                </a:cubicBezTo>
                <a:cubicBezTo>
                  <a:pt x="737329" y="248905"/>
                  <a:pt x="744490" y="242391"/>
                  <a:pt x="751767" y="236673"/>
                </a:cubicBezTo>
                <a:cubicBezTo>
                  <a:pt x="759044" y="230955"/>
                  <a:pt x="765934" y="224416"/>
                  <a:pt x="772438" y="217059"/>
                </a:cubicBezTo>
                <a:cubicBezTo>
                  <a:pt x="777567" y="207176"/>
                  <a:pt x="778756" y="199184"/>
                  <a:pt x="776006" y="193082"/>
                </a:cubicBezTo>
                <a:cubicBezTo>
                  <a:pt x="773256" y="186980"/>
                  <a:pt x="766059" y="184088"/>
                  <a:pt x="754414" y="184404"/>
                </a:cubicBezTo>
                <a:lnTo>
                  <a:pt x="745333" y="187704"/>
                </a:lnTo>
                <a:cubicBezTo>
                  <a:pt x="741496" y="189371"/>
                  <a:pt x="738612" y="189453"/>
                  <a:pt x="736681" y="187951"/>
                </a:cubicBezTo>
                <a:cubicBezTo>
                  <a:pt x="734749" y="186449"/>
                  <a:pt x="733190" y="183200"/>
                  <a:pt x="732003" y="178205"/>
                </a:cubicBezTo>
                <a:cubicBezTo>
                  <a:pt x="730636" y="171943"/>
                  <a:pt x="727418" y="166494"/>
                  <a:pt x="722347" y="161859"/>
                </a:cubicBezTo>
                <a:cubicBezTo>
                  <a:pt x="717277" y="157224"/>
                  <a:pt x="710879" y="155625"/>
                  <a:pt x="703154" y="157062"/>
                </a:cubicBezTo>
                <a:close/>
                <a:moveTo>
                  <a:pt x="771525" y="0"/>
                </a:moveTo>
                <a:lnTo>
                  <a:pt x="914400" y="19050"/>
                </a:lnTo>
                <a:lnTo>
                  <a:pt x="962025" y="114300"/>
                </a:lnTo>
                <a:lnTo>
                  <a:pt x="962025" y="842962"/>
                </a:lnTo>
                <a:lnTo>
                  <a:pt x="881062" y="928687"/>
                </a:lnTo>
                <a:lnTo>
                  <a:pt x="666750" y="938212"/>
                </a:lnTo>
                <a:lnTo>
                  <a:pt x="100012" y="938212"/>
                </a:lnTo>
                <a:lnTo>
                  <a:pt x="57150" y="909637"/>
                </a:lnTo>
                <a:lnTo>
                  <a:pt x="14287" y="847725"/>
                </a:lnTo>
                <a:lnTo>
                  <a:pt x="0" y="242887"/>
                </a:lnTo>
                <a:lnTo>
                  <a:pt x="61912" y="14287"/>
                </a:lnTo>
                <a:close/>
              </a:path>
            </a:pathLst>
          </a:custGeom>
        </p:spPr>
      </p:pic>
      <p:sp>
        <p:nvSpPr>
          <p:cNvPr id="2" name="文本框 1"/>
          <p:cNvSpPr txBox="1"/>
          <p:nvPr/>
        </p:nvSpPr>
        <p:spPr>
          <a:xfrm>
            <a:off x="5449570" y="1539875"/>
            <a:ext cx="157162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决</a:t>
            </a:r>
            <a:r>
              <a:rPr lang="en-US" altLang="zh-CN" sz="4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</a:t>
            </a:r>
            <a:endParaRPr lang="zh-CN" altLang="en-US" sz="40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sz="4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策</a:t>
            </a:r>
            <a:r>
              <a:rPr lang="en-US" altLang="zh-CN" sz="4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</a:t>
            </a:r>
            <a:r>
              <a:rPr lang="zh-CN" altLang="en-US" sz="4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集</a:t>
            </a:r>
            <a:endParaRPr lang="zh-CN" altLang="en-US" sz="40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sz="4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树</a:t>
            </a:r>
            <a:r>
              <a:rPr lang="en-US" altLang="zh-CN" sz="4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</a:t>
            </a:r>
            <a:r>
              <a:rPr lang="zh-CN" altLang="en-US" sz="4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成</a:t>
            </a:r>
            <a:endParaRPr lang="zh-CN" altLang="en-US" sz="40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sz="4000">
                <a:solidFill>
                  <a:srgbClr val="FF0000"/>
                </a:solidFill>
                <a:latin typeface="华文行楷" panose="02010800040101010101" charset="-122"/>
                <a:ea typeface="华文行楷" panose="02010800040101010101" charset="-122"/>
                <a:cs typeface="华文新魏" panose="02010800040101010101" charset="-122"/>
                <a:sym typeface="+mn-ea"/>
              </a:rPr>
              <a:t>与</a:t>
            </a:r>
            <a:r>
              <a:rPr lang="en-US" altLang="zh-CN" sz="4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</a:t>
            </a:r>
            <a:r>
              <a:rPr lang="zh-CN" altLang="en-US" sz="4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算</a:t>
            </a:r>
            <a:endParaRPr lang="zh-CN" altLang="en-US" sz="400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r>
              <a:rPr lang="zh-CN" altLang="en-US" sz="4000"/>
              <a:t> </a:t>
            </a:r>
            <a:r>
              <a:rPr lang="en-US" altLang="zh-CN" sz="4000"/>
              <a:t>    </a:t>
            </a:r>
            <a:r>
              <a:rPr lang="zh-CN" altLang="en-US" sz="40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法</a:t>
            </a:r>
            <a:r>
              <a:rPr lang="en-US" altLang="zh-CN" sz="4000"/>
              <a:t>    </a:t>
            </a:r>
            <a:endParaRPr lang="zh-CN" altLang="en-US" sz="4000"/>
          </a:p>
          <a:p>
            <a:endParaRPr lang="zh-CN" altLang="en-US" sz="4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blinds/>
      </p:transition>
    </mc:Choice>
    <mc:Fallback>
      <p:transition>
        <p:blinds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/>
          </a:p>
        </p:txBody>
      </p:sp>
      <p:pic>
        <p:nvPicPr>
          <p:cNvPr id="16" name="图片 15" descr="在地上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2524"/>
          <a:stretch>
            <a:fillRect/>
          </a:stretch>
        </p:blipFill>
        <p:spPr>
          <a:xfrm>
            <a:off x="0" y="2832100"/>
            <a:ext cx="12192000" cy="4025900"/>
          </a:xfrm>
          <a:custGeom>
            <a:avLst/>
            <a:gdLst>
              <a:gd name="connsiteX0" fmla="*/ 0 w 12192000"/>
              <a:gd name="connsiteY0" fmla="*/ 0 h 4025900"/>
              <a:gd name="connsiteX1" fmla="*/ 12192000 w 12192000"/>
              <a:gd name="connsiteY1" fmla="*/ 0 h 4025900"/>
              <a:gd name="connsiteX2" fmla="*/ 12192000 w 12192000"/>
              <a:gd name="connsiteY2" fmla="*/ 4025900 h 4025900"/>
              <a:gd name="connsiteX3" fmla="*/ 0 w 12192000"/>
              <a:gd name="connsiteY3" fmla="*/ 4025900 h 402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025900">
                <a:moveTo>
                  <a:pt x="0" y="0"/>
                </a:moveTo>
                <a:lnTo>
                  <a:pt x="12192000" y="0"/>
                </a:lnTo>
                <a:lnTo>
                  <a:pt x="12192000" y="4025900"/>
                </a:lnTo>
                <a:lnTo>
                  <a:pt x="0" y="4025900"/>
                </a:lnTo>
                <a:close/>
              </a:path>
            </a:pathLst>
          </a:custGeom>
        </p:spPr>
      </p:pic>
      <p:sp>
        <p:nvSpPr>
          <p:cNvPr id="9" name="文本框 8"/>
          <p:cNvSpPr txBox="1"/>
          <p:nvPr/>
        </p:nvSpPr>
        <p:spPr>
          <a:xfrm>
            <a:off x="4933539" y="813096"/>
            <a:ext cx="2337621" cy="8617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000">
                <a:solidFill>
                  <a:srgbClr val="618FA7"/>
                </a:solidFill>
                <a:latin typeface="汉仪中宋简" panose="02010609000101010101" pitchFamily="49" charset="-122"/>
                <a:ea typeface="汉仪中宋简" panose="02010609000101010101" pitchFamily="49" charset="-122"/>
              </a:defRPr>
            </a:lvl1pPr>
          </a:lstStyle>
          <a:p>
            <a:pPr algn="ctr"/>
            <a:r>
              <a:rPr lang="zh-CN" altLang="en-US" sz="5000" b="1" dirty="0">
                <a:solidFill>
                  <a:srgbClr val="6FB4BD"/>
                </a:solidFill>
              </a:rPr>
              <a:t>目录</a:t>
            </a:r>
            <a:endParaRPr lang="zh-CN" altLang="en-US" sz="5000" b="1" dirty="0">
              <a:solidFill>
                <a:srgbClr val="6FB4BD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11750" y="1674870"/>
            <a:ext cx="1968500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3000">
                <a:solidFill>
                  <a:srgbClr val="618FA7"/>
                </a:solidFill>
                <a:latin typeface="汉仪中宋简" panose="02010609000101010101" pitchFamily="49" charset="-122"/>
                <a:ea typeface="汉仪中宋简" panose="02010609000101010101" pitchFamily="49" charset="-122"/>
              </a:defRPr>
            </a:lvl1pPr>
          </a:lstStyle>
          <a:p>
            <a:pPr algn="dist"/>
            <a:r>
              <a:rPr lang="en-US" altLang="zh-CN" sz="1800" b="1" dirty="0">
                <a:solidFill>
                  <a:srgbClr val="6FB4BD"/>
                </a:solidFill>
              </a:rPr>
              <a:t>CONTENTS</a:t>
            </a:r>
            <a:endParaRPr lang="zh-CN" altLang="en-US" sz="1800" b="1" dirty="0">
              <a:solidFill>
                <a:srgbClr val="6FB4BD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670050" y="2819130"/>
            <a:ext cx="3582597" cy="903664"/>
            <a:chOff x="1029437" y="3931614"/>
            <a:chExt cx="3582597" cy="903664"/>
          </a:xfrm>
        </p:grpSpPr>
        <p:sp>
          <p:nvSpPr>
            <p:cNvPr id="15" name="矩形 14"/>
            <p:cNvSpPr/>
            <p:nvPr/>
          </p:nvSpPr>
          <p:spPr>
            <a:xfrm>
              <a:off x="1029437" y="3988332"/>
              <a:ext cx="85387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4000" dirty="0">
                  <a:solidFill>
                    <a:srgbClr val="6FB4BD"/>
                  </a:solidFill>
                  <a:latin typeface="汉仪中宋简" panose="02010609000101010101" pitchFamily="49" charset="-122"/>
                  <a:ea typeface="汉仪中宋简" panose="02010609000101010101" pitchFamily="49" charset="-122"/>
                </a:rPr>
                <a:t>01</a:t>
              </a:r>
              <a:endParaRPr lang="zh-CN" altLang="en-US" sz="4000" dirty="0">
                <a:solidFill>
                  <a:srgbClr val="6FB4BD"/>
                </a:solidFill>
                <a:latin typeface="汉仪中宋简" panose="02010609000101010101" pitchFamily="49" charset="-122"/>
                <a:ea typeface="汉仪中宋简" panose="02010609000101010101" pitchFamily="49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965156" y="3931614"/>
              <a:ext cx="2646878" cy="7067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solidFill>
                    <a:srgbClr val="6FB4BD"/>
                  </a:solidFill>
                  <a:latin typeface="华文新魏" panose="02010800040101010101" charset="-122"/>
                  <a:ea typeface="华文新魏" panose="02010800040101010101" charset="-122"/>
                </a:rPr>
                <a:t>决策树</a:t>
              </a:r>
              <a:r>
                <a:rPr lang="en-US" altLang="zh-CN" sz="4000" dirty="0">
                  <a:solidFill>
                    <a:srgbClr val="6FB4BD"/>
                  </a:solidFill>
                  <a:latin typeface="华文新魏" panose="02010800040101010101" charset="-122"/>
                  <a:ea typeface="华文新魏" panose="02010800040101010101" charset="-122"/>
                </a:rPr>
                <a:t> </a:t>
              </a:r>
              <a:endParaRPr lang="en-US" altLang="zh-CN" sz="4000" dirty="0">
                <a:solidFill>
                  <a:srgbClr val="6FB4BD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647656" y="4041087"/>
              <a:ext cx="106292" cy="106292"/>
            </a:xfrm>
            <a:prstGeom prst="ellipse">
              <a:avLst/>
            </a:prstGeom>
            <a:noFill/>
            <a:ln w="19050">
              <a:solidFill>
                <a:srgbClr val="6FB4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FB4BD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996815" y="4436498"/>
              <a:ext cx="2474677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rgbClr val="6FB4BD"/>
                  </a:solidFill>
                </a:rPr>
                <a:t>decision tree</a:t>
              </a:r>
              <a:endParaRPr lang="zh-CN" altLang="en-US" sz="2000" dirty="0">
                <a:solidFill>
                  <a:srgbClr val="6FB4BD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080250" y="2819400"/>
            <a:ext cx="3698875" cy="903605"/>
            <a:chOff x="1029437" y="3931614"/>
            <a:chExt cx="3698800" cy="798262"/>
          </a:xfrm>
        </p:grpSpPr>
        <p:sp>
          <p:nvSpPr>
            <p:cNvPr id="21" name="矩形 20"/>
            <p:cNvSpPr/>
            <p:nvPr/>
          </p:nvSpPr>
          <p:spPr>
            <a:xfrm>
              <a:off x="1029437" y="3988332"/>
              <a:ext cx="853873" cy="6243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4000" dirty="0">
                  <a:solidFill>
                    <a:srgbClr val="6FB4BD"/>
                  </a:solidFill>
                  <a:latin typeface="汉仪中宋简" panose="02010609000101010101" pitchFamily="49" charset="-122"/>
                  <a:ea typeface="汉仪中宋简" panose="02010609000101010101" pitchFamily="49" charset="-122"/>
                </a:rPr>
                <a:t>02</a:t>
              </a:r>
              <a:endParaRPr lang="zh-CN" altLang="en-US" sz="4000" dirty="0">
                <a:solidFill>
                  <a:srgbClr val="6FB4BD"/>
                </a:solidFill>
                <a:latin typeface="汉仪中宋简" panose="02010609000101010101" pitchFamily="49" charset="-122"/>
                <a:ea typeface="汉仪中宋简" panose="02010609000101010101" pitchFamily="49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965156" y="3931614"/>
              <a:ext cx="2646878" cy="6243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solidFill>
                    <a:srgbClr val="6FB4BD"/>
                  </a:solidFill>
                  <a:latin typeface="华文新魏" panose="02010800040101010101" charset="-122"/>
                  <a:ea typeface="华文新魏" panose="02010800040101010101" charset="-122"/>
                </a:rPr>
                <a:t>集成算法</a:t>
              </a:r>
              <a:endParaRPr lang="zh-CN" altLang="en-US" sz="4000" dirty="0">
                <a:solidFill>
                  <a:srgbClr val="6FB4BD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1647656" y="4041087"/>
              <a:ext cx="106292" cy="106292"/>
            </a:xfrm>
            <a:prstGeom prst="ellipse">
              <a:avLst/>
            </a:prstGeom>
            <a:noFill/>
            <a:ln w="19050">
              <a:solidFill>
                <a:srgbClr val="6FB4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FB4BD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979378" y="4377586"/>
              <a:ext cx="2748859" cy="3522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rgbClr val="6FB4BD"/>
                  </a:solidFill>
                </a:rPr>
                <a:t>integration algorithm</a:t>
              </a:r>
              <a:endParaRPr lang="zh-CN" altLang="en-US" sz="2000" dirty="0">
                <a:solidFill>
                  <a:srgbClr val="6FB4BD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670050" y="4025630"/>
            <a:ext cx="3582597" cy="844609"/>
            <a:chOff x="1029437" y="3931614"/>
            <a:chExt cx="3582597" cy="844609"/>
          </a:xfrm>
        </p:grpSpPr>
        <p:sp>
          <p:nvSpPr>
            <p:cNvPr id="26" name="矩形 25"/>
            <p:cNvSpPr/>
            <p:nvPr/>
          </p:nvSpPr>
          <p:spPr>
            <a:xfrm>
              <a:off x="1029437" y="3988332"/>
              <a:ext cx="85387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4000" dirty="0">
                  <a:solidFill>
                    <a:srgbClr val="6FB4BD"/>
                  </a:solidFill>
                  <a:latin typeface="汉仪中宋简" panose="02010609000101010101" pitchFamily="49" charset="-122"/>
                  <a:ea typeface="汉仪中宋简" panose="02010609000101010101" pitchFamily="49" charset="-122"/>
                </a:rPr>
                <a:t>03</a:t>
              </a:r>
              <a:endParaRPr lang="zh-CN" altLang="en-US" sz="4000" dirty="0">
                <a:solidFill>
                  <a:srgbClr val="6FB4BD"/>
                </a:solidFill>
                <a:latin typeface="汉仪中宋简" panose="02010609000101010101" pitchFamily="49" charset="-122"/>
                <a:ea typeface="汉仪中宋简" panose="02010609000101010101" pitchFamily="49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965156" y="3931614"/>
              <a:ext cx="2646878" cy="7067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solidFill>
                    <a:srgbClr val="6FB4BD"/>
                  </a:solidFill>
                  <a:latin typeface="华文新魏" panose="02010800040101010101" charset="-122"/>
                  <a:ea typeface="华文新魏" panose="02010800040101010101" charset="-122"/>
                </a:rPr>
                <a:t>随机森林</a:t>
              </a:r>
              <a:endParaRPr lang="zh-CN" altLang="en-US" sz="4000" dirty="0">
                <a:solidFill>
                  <a:srgbClr val="6FB4BD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1647656" y="4041087"/>
              <a:ext cx="106292" cy="106292"/>
            </a:xfrm>
            <a:prstGeom prst="ellipse">
              <a:avLst/>
            </a:prstGeom>
            <a:noFill/>
            <a:ln w="19050">
              <a:solidFill>
                <a:srgbClr val="6FB4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FB4BD"/>
                </a:solidFill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979670" y="4377443"/>
              <a:ext cx="2474677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dirty="0">
                  <a:solidFill>
                    <a:srgbClr val="6FB4BD"/>
                  </a:solidFill>
                </a:rPr>
                <a:t>  </a:t>
              </a:r>
              <a:r>
                <a:rPr lang="zh-CN" altLang="en-US" sz="2000" dirty="0">
                  <a:solidFill>
                    <a:srgbClr val="6FB4BD"/>
                  </a:solidFill>
                </a:rPr>
                <a:t>random for</a:t>
              </a:r>
              <a:r>
                <a:rPr lang="en-US" altLang="zh-CN" sz="2000" dirty="0">
                  <a:solidFill>
                    <a:srgbClr val="6FB4BD"/>
                  </a:solidFill>
                </a:rPr>
                <a:t>s</a:t>
              </a:r>
              <a:r>
                <a:rPr lang="zh-CN" altLang="en-US" sz="2000" dirty="0">
                  <a:solidFill>
                    <a:srgbClr val="6FB4BD"/>
                  </a:solidFill>
                </a:rPr>
                <a:t>est</a:t>
              </a:r>
              <a:endParaRPr lang="zh-CN" altLang="en-US" sz="2000" dirty="0">
                <a:solidFill>
                  <a:srgbClr val="6FB4BD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080250" y="4025630"/>
            <a:ext cx="3582597" cy="844609"/>
            <a:chOff x="1029437" y="3931614"/>
            <a:chExt cx="3582597" cy="844609"/>
          </a:xfrm>
        </p:grpSpPr>
        <p:sp>
          <p:nvSpPr>
            <p:cNvPr id="32" name="矩形 31"/>
            <p:cNvSpPr/>
            <p:nvPr/>
          </p:nvSpPr>
          <p:spPr>
            <a:xfrm>
              <a:off x="1029437" y="3988332"/>
              <a:ext cx="85387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4000" dirty="0">
                  <a:solidFill>
                    <a:srgbClr val="6FB4BD"/>
                  </a:solidFill>
                  <a:latin typeface="汉仪中宋简" panose="02010609000101010101" pitchFamily="49" charset="-122"/>
                  <a:ea typeface="汉仪中宋简" panose="02010609000101010101" pitchFamily="49" charset="-122"/>
                </a:rPr>
                <a:t>04</a:t>
              </a:r>
              <a:endParaRPr lang="zh-CN" altLang="en-US" sz="4000" dirty="0">
                <a:solidFill>
                  <a:srgbClr val="6FB4BD"/>
                </a:solidFill>
                <a:latin typeface="汉仪中宋简" panose="02010609000101010101" pitchFamily="49" charset="-122"/>
                <a:ea typeface="汉仪中宋简" panose="02010609000101010101" pitchFamily="49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965156" y="3931614"/>
              <a:ext cx="2646878" cy="7067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000" dirty="0">
                  <a:solidFill>
                    <a:srgbClr val="6FB4BD"/>
                  </a:solidFill>
                  <a:latin typeface="华文新魏" panose="02010800040101010101" charset="-122"/>
                  <a:ea typeface="华文新魏" panose="02010800040101010101" charset="-122"/>
                </a:rPr>
                <a:t>代码分析</a:t>
              </a:r>
              <a:endParaRPr lang="zh-CN" altLang="en-US" sz="4000" dirty="0">
                <a:solidFill>
                  <a:srgbClr val="6FB4BD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1647656" y="4041087"/>
              <a:ext cx="106292" cy="106292"/>
            </a:xfrm>
            <a:prstGeom prst="ellipse">
              <a:avLst/>
            </a:prstGeom>
            <a:noFill/>
            <a:ln w="19050">
              <a:solidFill>
                <a:srgbClr val="6FB4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FB4BD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979670" y="4377443"/>
              <a:ext cx="2474677" cy="3987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dirty="0">
                  <a:solidFill>
                    <a:srgbClr val="6FB4BD"/>
                  </a:solidFill>
                </a:rPr>
                <a:t>   </a:t>
              </a:r>
              <a:r>
                <a:rPr lang="zh-CN" altLang="en-US" sz="2000" dirty="0">
                  <a:solidFill>
                    <a:srgbClr val="6FB4BD"/>
                  </a:solidFill>
                </a:rPr>
                <a:t>code</a:t>
              </a:r>
              <a:r>
                <a:rPr lang="en-US" altLang="zh-CN" sz="2000" dirty="0">
                  <a:solidFill>
                    <a:srgbClr val="6FB4BD"/>
                  </a:solidFill>
                </a:rPr>
                <a:t> </a:t>
              </a:r>
              <a:r>
                <a:rPr lang="zh-CN" altLang="en-US" sz="2000" dirty="0">
                  <a:solidFill>
                    <a:srgbClr val="6FB4BD"/>
                  </a:solidFill>
                </a:rPr>
                <a:t> analysis</a:t>
              </a:r>
              <a:endParaRPr lang="zh-CN" altLang="en-US" sz="2000" dirty="0">
                <a:solidFill>
                  <a:srgbClr val="6FB4BD"/>
                </a:solidFill>
              </a:endParaRPr>
            </a:p>
          </p:txBody>
        </p:sp>
      </p:grpSp>
      <p:sp>
        <p:nvSpPr>
          <p:cNvPr id="37" name="椭圆 36"/>
          <p:cNvSpPr/>
          <p:nvPr/>
        </p:nvSpPr>
        <p:spPr>
          <a:xfrm>
            <a:off x="1611212" y="1282070"/>
            <a:ext cx="914400" cy="914400"/>
          </a:xfrm>
          <a:prstGeom prst="ellipse">
            <a:avLst/>
          </a:prstGeom>
          <a:gradFill>
            <a:gsLst>
              <a:gs pos="0">
                <a:srgbClr val="F6661E">
                  <a:alpha val="90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在地上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684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弧形 9"/>
          <p:cNvSpPr/>
          <p:nvPr/>
        </p:nvSpPr>
        <p:spPr>
          <a:xfrm rot="11787073">
            <a:off x="4577890" y="1598540"/>
            <a:ext cx="2989788" cy="2989788"/>
          </a:xfrm>
          <a:prstGeom prst="arc">
            <a:avLst>
              <a:gd name="adj1" fmla="val 12330940"/>
              <a:gd name="adj2" fmla="val 19688861"/>
            </a:avLst>
          </a:prstGeom>
          <a:ln w="1905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弧形 4"/>
          <p:cNvSpPr/>
          <p:nvPr/>
        </p:nvSpPr>
        <p:spPr>
          <a:xfrm rot="11787073">
            <a:off x="4577892" y="1598539"/>
            <a:ext cx="2989788" cy="2989788"/>
          </a:xfrm>
          <a:prstGeom prst="arc">
            <a:avLst>
              <a:gd name="adj1" fmla="val 20591728"/>
              <a:gd name="adj2" fmla="val 10152336"/>
            </a:avLst>
          </a:prstGeom>
          <a:ln w="1905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 descr="背景图案&#10;&#10;描述已自动生成"/>
          <p:cNvPicPr>
            <a:picLocks noChangeAspect="1"/>
          </p:cNvPicPr>
          <p:nvPr/>
        </p:nvPicPr>
        <p:blipFill>
          <a:blip r:embed="rId2">
            <a:alphaModFix amt="70000"/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" t="32957" b="27587"/>
          <a:stretch>
            <a:fillRect/>
          </a:stretch>
        </p:blipFill>
        <p:spPr>
          <a:xfrm flipH="1">
            <a:off x="4065446" y="3093433"/>
            <a:ext cx="943656" cy="323045"/>
          </a:xfrm>
          <a:custGeom>
            <a:avLst/>
            <a:gdLst>
              <a:gd name="connsiteX0" fmla="*/ 1007268 w 1007268"/>
              <a:gd name="connsiteY0" fmla="*/ 182603 h 402431"/>
              <a:gd name="connsiteX1" fmla="*/ 1007268 w 1007268"/>
              <a:gd name="connsiteY1" fmla="*/ 366343 h 402431"/>
              <a:gd name="connsiteX2" fmla="*/ 845343 w 1007268"/>
              <a:gd name="connsiteY2" fmla="*/ 335756 h 402431"/>
              <a:gd name="connsiteX3" fmla="*/ 802481 w 1007268"/>
              <a:gd name="connsiteY3" fmla="*/ 352425 h 402431"/>
              <a:gd name="connsiteX4" fmla="*/ 692943 w 1007268"/>
              <a:gd name="connsiteY4" fmla="*/ 402431 h 402431"/>
              <a:gd name="connsiteX5" fmla="*/ 647700 w 1007268"/>
              <a:gd name="connsiteY5" fmla="*/ 397669 h 402431"/>
              <a:gd name="connsiteX6" fmla="*/ 581025 w 1007268"/>
              <a:gd name="connsiteY6" fmla="*/ 359569 h 402431"/>
              <a:gd name="connsiteX7" fmla="*/ 504825 w 1007268"/>
              <a:gd name="connsiteY7" fmla="*/ 340519 h 402431"/>
              <a:gd name="connsiteX8" fmla="*/ 431006 w 1007268"/>
              <a:gd name="connsiteY8" fmla="*/ 369094 h 402431"/>
              <a:gd name="connsiteX9" fmla="*/ 347662 w 1007268"/>
              <a:gd name="connsiteY9" fmla="*/ 400050 h 402431"/>
              <a:gd name="connsiteX10" fmla="*/ 280987 w 1007268"/>
              <a:gd name="connsiteY10" fmla="*/ 376238 h 402431"/>
              <a:gd name="connsiteX11" fmla="*/ 197643 w 1007268"/>
              <a:gd name="connsiteY11" fmla="*/ 335756 h 402431"/>
              <a:gd name="connsiteX12" fmla="*/ 76200 w 1007268"/>
              <a:gd name="connsiteY12" fmla="*/ 361950 h 402431"/>
              <a:gd name="connsiteX13" fmla="*/ 0 w 1007268"/>
              <a:gd name="connsiteY13" fmla="*/ 147638 h 402431"/>
              <a:gd name="connsiteX14" fmla="*/ 11906 w 1007268"/>
              <a:gd name="connsiteY14" fmla="*/ 69056 h 402431"/>
              <a:gd name="connsiteX15" fmla="*/ 38100 w 1007268"/>
              <a:gd name="connsiteY15" fmla="*/ 61913 h 402431"/>
              <a:gd name="connsiteX16" fmla="*/ 335756 w 1007268"/>
              <a:gd name="connsiteY16" fmla="*/ 0 h 402431"/>
              <a:gd name="connsiteX17" fmla="*/ 404812 w 1007268"/>
              <a:gd name="connsiteY17" fmla="*/ 0 h 402431"/>
              <a:gd name="connsiteX18" fmla="*/ 802481 w 1007268"/>
              <a:gd name="connsiteY18" fmla="*/ 2381 h 402431"/>
              <a:gd name="connsiteX19" fmla="*/ 821531 w 1007268"/>
              <a:gd name="connsiteY19" fmla="*/ 16669 h 402431"/>
              <a:gd name="connsiteX20" fmla="*/ 964406 w 1007268"/>
              <a:gd name="connsiteY20" fmla="*/ 66675 h 402431"/>
              <a:gd name="connsiteX21" fmla="*/ 983456 w 1007268"/>
              <a:gd name="connsiteY21" fmla="*/ 95250 h 402431"/>
              <a:gd name="connsiteX22" fmla="*/ 985837 w 1007268"/>
              <a:gd name="connsiteY22" fmla="*/ 104775 h 40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07268" h="402431">
                <a:moveTo>
                  <a:pt x="1007268" y="182603"/>
                </a:moveTo>
                <a:lnTo>
                  <a:pt x="1007268" y="366343"/>
                </a:lnTo>
                <a:lnTo>
                  <a:pt x="845343" y="335756"/>
                </a:lnTo>
                <a:lnTo>
                  <a:pt x="802481" y="352425"/>
                </a:lnTo>
                <a:lnTo>
                  <a:pt x="692943" y="402431"/>
                </a:lnTo>
                <a:lnTo>
                  <a:pt x="647700" y="397669"/>
                </a:lnTo>
                <a:lnTo>
                  <a:pt x="581025" y="359569"/>
                </a:lnTo>
                <a:lnTo>
                  <a:pt x="504825" y="340519"/>
                </a:lnTo>
                <a:lnTo>
                  <a:pt x="431006" y="369094"/>
                </a:lnTo>
                <a:lnTo>
                  <a:pt x="347662" y="400050"/>
                </a:lnTo>
                <a:lnTo>
                  <a:pt x="280987" y="376238"/>
                </a:lnTo>
                <a:lnTo>
                  <a:pt x="197643" y="335756"/>
                </a:lnTo>
                <a:lnTo>
                  <a:pt x="76200" y="361950"/>
                </a:lnTo>
                <a:lnTo>
                  <a:pt x="0" y="147638"/>
                </a:lnTo>
                <a:lnTo>
                  <a:pt x="11906" y="69056"/>
                </a:lnTo>
                <a:lnTo>
                  <a:pt x="38100" y="61913"/>
                </a:lnTo>
                <a:lnTo>
                  <a:pt x="335756" y="0"/>
                </a:lnTo>
                <a:lnTo>
                  <a:pt x="404812" y="0"/>
                </a:lnTo>
                <a:cubicBezTo>
                  <a:pt x="537368" y="794"/>
                  <a:pt x="669925" y="1587"/>
                  <a:pt x="802481" y="2381"/>
                </a:cubicBezTo>
                <a:lnTo>
                  <a:pt x="821531" y="16669"/>
                </a:lnTo>
                <a:lnTo>
                  <a:pt x="964406" y="66675"/>
                </a:lnTo>
                <a:cubicBezTo>
                  <a:pt x="970756" y="76200"/>
                  <a:pt x="977844" y="85273"/>
                  <a:pt x="983456" y="95250"/>
                </a:cubicBezTo>
                <a:cubicBezTo>
                  <a:pt x="985060" y="98102"/>
                  <a:pt x="985837" y="104775"/>
                  <a:pt x="985837" y="104775"/>
                </a:cubicBezTo>
                <a:close/>
              </a:path>
            </a:pathLst>
          </a:custGeom>
        </p:spPr>
      </p:pic>
      <p:pic>
        <p:nvPicPr>
          <p:cNvPr id="20" name="图片 19" descr="文本&#10;&#10;描述已自动生成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05" t="6984" b="50053"/>
          <a:stretch>
            <a:fillRect/>
          </a:stretch>
        </p:blipFill>
        <p:spPr>
          <a:xfrm>
            <a:off x="2457509" y="3828809"/>
            <a:ext cx="2052504" cy="1000981"/>
          </a:xfrm>
          <a:custGeom>
            <a:avLst/>
            <a:gdLst>
              <a:gd name="connsiteX0" fmla="*/ 4905828 w 6041571"/>
              <a:gd name="connsiteY0" fmla="*/ 0 h 2946400"/>
              <a:gd name="connsiteX1" fmla="*/ 6041571 w 6041571"/>
              <a:gd name="connsiteY1" fmla="*/ 817181 h 2946400"/>
              <a:gd name="connsiteX2" fmla="*/ 6041571 w 6041571"/>
              <a:gd name="connsiteY2" fmla="*/ 1266653 h 2946400"/>
              <a:gd name="connsiteX3" fmla="*/ 5907314 w 6041571"/>
              <a:gd name="connsiteY3" fmla="*/ 2278743 h 2946400"/>
              <a:gd name="connsiteX4" fmla="*/ 4920342 w 6041571"/>
              <a:gd name="connsiteY4" fmla="*/ 2627086 h 2946400"/>
              <a:gd name="connsiteX5" fmla="*/ 3439885 w 6041571"/>
              <a:gd name="connsiteY5" fmla="*/ 2946400 h 2946400"/>
              <a:gd name="connsiteX6" fmla="*/ 2206171 w 6041571"/>
              <a:gd name="connsiteY6" fmla="*/ 2481943 h 2946400"/>
              <a:gd name="connsiteX7" fmla="*/ 1480457 w 6041571"/>
              <a:gd name="connsiteY7" fmla="*/ 1756229 h 2946400"/>
              <a:gd name="connsiteX8" fmla="*/ 740228 w 6041571"/>
              <a:gd name="connsiteY8" fmla="*/ 1175658 h 2946400"/>
              <a:gd name="connsiteX9" fmla="*/ 0 w 6041571"/>
              <a:gd name="connsiteY9" fmla="*/ 580572 h 2946400"/>
              <a:gd name="connsiteX10" fmla="*/ 246742 w 6041571"/>
              <a:gd name="connsiteY10" fmla="*/ 72572 h 2946400"/>
              <a:gd name="connsiteX11" fmla="*/ 870857 w 6041571"/>
              <a:gd name="connsiteY11" fmla="*/ 203200 h 2946400"/>
              <a:gd name="connsiteX12" fmla="*/ 696685 w 6041571"/>
              <a:gd name="connsiteY12" fmla="*/ 798286 h 2946400"/>
              <a:gd name="connsiteX13" fmla="*/ 2960914 w 6041571"/>
              <a:gd name="connsiteY13" fmla="*/ 58058 h 2946400"/>
              <a:gd name="connsiteX14" fmla="*/ 4905828 w 6041571"/>
              <a:gd name="connsiteY14" fmla="*/ 0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41571" h="2946400">
                <a:moveTo>
                  <a:pt x="4905828" y="0"/>
                </a:moveTo>
                <a:lnTo>
                  <a:pt x="6041571" y="817181"/>
                </a:lnTo>
                <a:lnTo>
                  <a:pt x="6041571" y="1266653"/>
                </a:lnTo>
                <a:lnTo>
                  <a:pt x="5907314" y="2278743"/>
                </a:lnTo>
                <a:lnTo>
                  <a:pt x="4920342" y="2627086"/>
                </a:lnTo>
                <a:lnTo>
                  <a:pt x="3439885" y="2946400"/>
                </a:lnTo>
                <a:lnTo>
                  <a:pt x="2206171" y="2481943"/>
                </a:lnTo>
                <a:lnTo>
                  <a:pt x="1480457" y="1756229"/>
                </a:lnTo>
                <a:lnTo>
                  <a:pt x="740228" y="1175658"/>
                </a:lnTo>
                <a:lnTo>
                  <a:pt x="0" y="580572"/>
                </a:lnTo>
                <a:lnTo>
                  <a:pt x="246742" y="72572"/>
                </a:lnTo>
                <a:lnTo>
                  <a:pt x="870857" y="203200"/>
                </a:lnTo>
                <a:lnTo>
                  <a:pt x="696685" y="798286"/>
                </a:lnTo>
                <a:lnTo>
                  <a:pt x="2960914" y="58058"/>
                </a:lnTo>
                <a:lnTo>
                  <a:pt x="4905828" y="0"/>
                </a:lnTo>
                <a:close/>
              </a:path>
            </a:pathLst>
          </a:custGeom>
        </p:spPr>
      </p:pic>
      <p:pic>
        <p:nvPicPr>
          <p:cNvPr id="21" name="图片 20" descr="文本&#10;&#10;描述已自动生成"/>
          <p:cNvPicPr>
            <a:picLocks noChangeAspect="1"/>
          </p:cNvPicPr>
          <p:nvPr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05" t="6984" b="50053"/>
          <a:stretch>
            <a:fillRect/>
          </a:stretch>
        </p:blipFill>
        <p:spPr>
          <a:xfrm flipH="1">
            <a:off x="7559123" y="1656948"/>
            <a:ext cx="2052504" cy="1000981"/>
          </a:xfrm>
          <a:custGeom>
            <a:avLst/>
            <a:gdLst>
              <a:gd name="connsiteX0" fmla="*/ 4905828 w 6041571"/>
              <a:gd name="connsiteY0" fmla="*/ 0 h 2946400"/>
              <a:gd name="connsiteX1" fmla="*/ 6041571 w 6041571"/>
              <a:gd name="connsiteY1" fmla="*/ 817181 h 2946400"/>
              <a:gd name="connsiteX2" fmla="*/ 6041571 w 6041571"/>
              <a:gd name="connsiteY2" fmla="*/ 1266653 h 2946400"/>
              <a:gd name="connsiteX3" fmla="*/ 5907314 w 6041571"/>
              <a:gd name="connsiteY3" fmla="*/ 2278743 h 2946400"/>
              <a:gd name="connsiteX4" fmla="*/ 4920342 w 6041571"/>
              <a:gd name="connsiteY4" fmla="*/ 2627086 h 2946400"/>
              <a:gd name="connsiteX5" fmla="*/ 3439885 w 6041571"/>
              <a:gd name="connsiteY5" fmla="*/ 2946400 h 2946400"/>
              <a:gd name="connsiteX6" fmla="*/ 2206171 w 6041571"/>
              <a:gd name="connsiteY6" fmla="*/ 2481943 h 2946400"/>
              <a:gd name="connsiteX7" fmla="*/ 1480457 w 6041571"/>
              <a:gd name="connsiteY7" fmla="*/ 1756229 h 2946400"/>
              <a:gd name="connsiteX8" fmla="*/ 740228 w 6041571"/>
              <a:gd name="connsiteY8" fmla="*/ 1175658 h 2946400"/>
              <a:gd name="connsiteX9" fmla="*/ 0 w 6041571"/>
              <a:gd name="connsiteY9" fmla="*/ 580572 h 2946400"/>
              <a:gd name="connsiteX10" fmla="*/ 246742 w 6041571"/>
              <a:gd name="connsiteY10" fmla="*/ 72572 h 2946400"/>
              <a:gd name="connsiteX11" fmla="*/ 870857 w 6041571"/>
              <a:gd name="connsiteY11" fmla="*/ 203200 h 2946400"/>
              <a:gd name="connsiteX12" fmla="*/ 696685 w 6041571"/>
              <a:gd name="connsiteY12" fmla="*/ 798286 h 2946400"/>
              <a:gd name="connsiteX13" fmla="*/ 2960914 w 6041571"/>
              <a:gd name="connsiteY13" fmla="*/ 58058 h 2946400"/>
              <a:gd name="connsiteX14" fmla="*/ 4905828 w 6041571"/>
              <a:gd name="connsiteY14" fmla="*/ 0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41571" h="2946400">
                <a:moveTo>
                  <a:pt x="4905828" y="0"/>
                </a:moveTo>
                <a:lnTo>
                  <a:pt x="6041571" y="817181"/>
                </a:lnTo>
                <a:lnTo>
                  <a:pt x="6041571" y="1266653"/>
                </a:lnTo>
                <a:lnTo>
                  <a:pt x="5907314" y="2278743"/>
                </a:lnTo>
                <a:lnTo>
                  <a:pt x="4920342" y="2627086"/>
                </a:lnTo>
                <a:lnTo>
                  <a:pt x="3439885" y="2946400"/>
                </a:lnTo>
                <a:lnTo>
                  <a:pt x="2206171" y="2481943"/>
                </a:lnTo>
                <a:lnTo>
                  <a:pt x="1480457" y="1756229"/>
                </a:lnTo>
                <a:lnTo>
                  <a:pt x="740228" y="1175658"/>
                </a:lnTo>
                <a:lnTo>
                  <a:pt x="0" y="580572"/>
                </a:lnTo>
                <a:lnTo>
                  <a:pt x="246742" y="72572"/>
                </a:lnTo>
                <a:lnTo>
                  <a:pt x="870857" y="203200"/>
                </a:lnTo>
                <a:lnTo>
                  <a:pt x="696685" y="798286"/>
                </a:lnTo>
                <a:lnTo>
                  <a:pt x="2960914" y="58058"/>
                </a:lnTo>
                <a:lnTo>
                  <a:pt x="4905828" y="0"/>
                </a:lnTo>
                <a:close/>
              </a:path>
            </a:pathLst>
          </a:custGeom>
        </p:spPr>
      </p:pic>
      <p:sp>
        <p:nvSpPr>
          <p:cNvPr id="22" name="椭圆 21"/>
          <p:cNvSpPr/>
          <p:nvPr/>
        </p:nvSpPr>
        <p:spPr>
          <a:xfrm>
            <a:off x="1635363" y="1156457"/>
            <a:ext cx="1000981" cy="1000981"/>
          </a:xfrm>
          <a:prstGeom prst="ellipse">
            <a:avLst/>
          </a:prstGeom>
          <a:gradFill>
            <a:gsLst>
              <a:gs pos="0">
                <a:srgbClr val="F6661E">
                  <a:alpha val="90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06069" y="3629872"/>
            <a:ext cx="379981" cy="370575"/>
          </a:xfrm>
          <a:custGeom>
            <a:avLst/>
            <a:gdLst/>
            <a:ahLst/>
            <a:cxnLst/>
            <a:rect l="l" t="t" r="r" b="b"/>
            <a:pathLst>
              <a:path w="962025" h="938212">
                <a:moveTo>
                  <a:pt x="225114" y="726149"/>
                </a:moveTo>
                <a:cubicBezTo>
                  <a:pt x="225864" y="726949"/>
                  <a:pt x="224737" y="729852"/>
                  <a:pt x="221733" y="734857"/>
                </a:cubicBezTo>
                <a:cubicBezTo>
                  <a:pt x="218729" y="739863"/>
                  <a:pt x="215102" y="744116"/>
                  <a:pt x="210852" y="747616"/>
                </a:cubicBezTo>
                <a:cubicBezTo>
                  <a:pt x="208269" y="751503"/>
                  <a:pt x="206097" y="752285"/>
                  <a:pt x="204337" y="749960"/>
                </a:cubicBezTo>
                <a:cubicBezTo>
                  <a:pt x="202577" y="747635"/>
                  <a:pt x="202738" y="745168"/>
                  <a:pt x="204821" y="742560"/>
                </a:cubicBezTo>
                <a:cubicBezTo>
                  <a:pt x="207800" y="739577"/>
                  <a:pt x="210871" y="736757"/>
                  <a:pt x="214033" y="734101"/>
                </a:cubicBezTo>
                <a:cubicBezTo>
                  <a:pt x="217195" y="731445"/>
                  <a:pt x="220666" y="729171"/>
                  <a:pt x="224445" y="727280"/>
                </a:cubicBezTo>
                <a:close/>
                <a:moveTo>
                  <a:pt x="677643" y="721703"/>
                </a:moveTo>
                <a:lnTo>
                  <a:pt x="676858" y="725121"/>
                </a:lnTo>
                <a:cubicBezTo>
                  <a:pt x="675814" y="727307"/>
                  <a:pt x="674127" y="729930"/>
                  <a:pt x="671797" y="732989"/>
                </a:cubicBezTo>
                <a:cubicBezTo>
                  <a:pt x="667137" y="739107"/>
                  <a:pt x="661651" y="743741"/>
                  <a:pt x="655339" y="746891"/>
                </a:cubicBezTo>
                <a:cubicBezTo>
                  <a:pt x="653251" y="749953"/>
                  <a:pt x="651697" y="750305"/>
                  <a:pt x="650676" y="747947"/>
                </a:cubicBezTo>
                <a:cubicBezTo>
                  <a:pt x="649656" y="745589"/>
                  <a:pt x="649899" y="743550"/>
                  <a:pt x="651408" y="741829"/>
                </a:cubicBezTo>
                <a:cubicBezTo>
                  <a:pt x="655899" y="737096"/>
                  <a:pt x="660135" y="733280"/>
                  <a:pt x="664116" y="730383"/>
                </a:cubicBezTo>
                <a:close/>
                <a:moveTo>
                  <a:pt x="246961" y="678565"/>
                </a:moveTo>
                <a:lnTo>
                  <a:pt x="246145" y="680962"/>
                </a:lnTo>
                <a:cubicBezTo>
                  <a:pt x="245817" y="682934"/>
                  <a:pt x="245719" y="685243"/>
                  <a:pt x="245850" y="687888"/>
                </a:cubicBezTo>
                <a:cubicBezTo>
                  <a:pt x="245850" y="690726"/>
                  <a:pt x="246254" y="693660"/>
                  <a:pt x="247062" y="696691"/>
                </a:cubicBezTo>
                <a:cubicBezTo>
                  <a:pt x="247871" y="699722"/>
                  <a:pt x="251427" y="701438"/>
                  <a:pt x="257731" y="701838"/>
                </a:cubicBezTo>
                <a:cubicBezTo>
                  <a:pt x="260093" y="700792"/>
                  <a:pt x="261875" y="700322"/>
                  <a:pt x="263077" y="700428"/>
                </a:cubicBezTo>
                <a:cubicBezTo>
                  <a:pt x="264279" y="700535"/>
                  <a:pt x="265747" y="701194"/>
                  <a:pt x="267480" y="702406"/>
                </a:cubicBezTo>
                <a:cubicBezTo>
                  <a:pt x="273634" y="707818"/>
                  <a:pt x="279719" y="712998"/>
                  <a:pt x="285735" y="717946"/>
                </a:cubicBezTo>
                <a:cubicBezTo>
                  <a:pt x="291751" y="722894"/>
                  <a:pt x="297809" y="728288"/>
                  <a:pt x="303909" y="734129"/>
                </a:cubicBezTo>
                <a:cubicBezTo>
                  <a:pt x="305201" y="735708"/>
                  <a:pt x="305604" y="737010"/>
                  <a:pt x="305118" y="738035"/>
                </a:cubicBezTo>
                <a:cubicBezTo>
                  <a:pt x="304633" y="739060"/>
                  <a:pt x="303438" y="740523"/>
                  <a:pt x="301534" y="742423"/>
                </a:cubicBezTo>
                <a:cubicBezTo>
                  <a:pt x="292014" y="752972"/>
                  <a:pt x="283080" y="759555"/>
                  <a:pt x="274733" y="762171"/>
                </a:cubicBezTo>
                <a:lnTo>
                  <a:pt x="262446" y="764567"/>
                </a:lnTo>
                <a:lnTo>
                  <a:pt x="264728" y="758861"/>
                </a:lnTo>
                <a:cubicBezTo>
                  <a:pt x="264554" y="755993"/>
                  <a:pt x="263299" y="752530"/>
                  <a:pt x="260962" y="748472"/>
                </a:cubicBezTo>
                <a:cubicBezTo>
                  <a:pt x="258316" y="746818"/>
                  <a:pt x="257275" y="744951"/>
                  <a:pt x="257840" y="742869"/>
                </a:cubicBezTo>
                <a:cubicBezTo>
                  <a:pt x="258404" y="740788"/>
                  <a:pt x="259464" y="738579"/>
                  <a:pt x="261018" y="736242"/>
                </a:cubicBezTo>
                <a:cubicBezTo>
                  <a:pt x="266701" y="727446"/>
                  <a:pt x="267498" y="719601"/>
                  <a:pt x="263408" y="712706"/>
                </a:cubicBezTo>
                <a:cubicBezTo>
                  <a:pt x="259319" y="705810"/>
                  <a:pt x="252518" y="701915"/>
                  <a:pt x="243006" y="701019"/>
                </a:cubicBezTo>
                <a:cubicBezTo>
                  <a:pt x="239677" y="699915"/>
                  <a:pt x="236415" y="698703"/>
                  <a:pt x="233220" y="697385"/>
                </a:cubicBezTo>
                <a:cubicBezTo>
                  <a:pt x="230024" y="696066"/>
                  <a:pt x="225345" y="698688"/>
                  <a:pt x="219183" y="705250"/>
                </a:cubicBezTo>
                <a:cubicBezTo>
                  <a:pt x="215121" y="707712"/>
                  <a:pt x="210820" y="709863"/>
                  <a:pt x="206281" y="711703"/>
                </a:cubicBezTo>
                <a:lnTo>
                  <a:pt x="203732" y="712898"/>
                </a:lnTo>
                <a:lnTo>
                  <a:pt x="208277" y="707814"/>
                </a:lnTo>
                <a:cubicBezTo>
                  <a:pt x="212596" y="703680"/>
                  <a:pt x="217160" y="699967"/>
                  <a:pt x="221970" y="696675"/>
                </a:cubicBezTo>
                <a:close/>
                <a:moveTo>
                  <a:pt x="329976" y="678308"/>
                </a:moveTo>
                <a:cubicBezTo>
                  <a:pt x="330622" y="678812"/>
                  <a:pt x="329398" y="682329"/>
                  <a:pt x="326304" y="688860"/>
                </a:cubicBezTo>
                <a:cubicBezTo>
                  <a:pt x="323211" y="695391"/>
                  <a:pt x="321010" y="700883"/>
                  <a:pt x="319702" y="705337"/>
                </a:cubicBezTo>
                <a:cubicBezTo>
                  <a:pt x="319298" y="706279"/>
                  <a:pt x="319130" y="706951"/>
                  <a:pt x="319199" y="707353"/>
                </a:cubicBezTo>
                <a:cubicBezTo>
                  <a:pt x="319267" y="707755"/>
                  <a:pt x="319300" y="707493"/>
                  <a:pt x="319295" y="706569"/>
                </a:cubicBezTo>
                <a:cubicBezTo>
                  <a:pt x="316512" y="704248"/>
                  <a:pt x="313761" y="701727"/>
                  <a:pt x="311043" y="699007"/>
                </a:cubicBezTo>
                <a:cubicBezTo>
                  <a:pt x="308324" y="696286"/>
                  <a:pt x="306588" y="693986"/>
                  <a:pt x="305834" y="692107"/>
                </a:cubicBezTo>
                <a:cubicBezTo>
                  <a:pt x="305167" y="691569"/>
                  <a:pt x="305541" y="690703"/>
                  <a:pt x="306956" y="689507"/>
                </a:cubicBezTo>
                <a:cubicBezTo>
                  <a:pt x="308370" y="688311"/>
                  <a:pt x="309802" y="687351"/>
                  <a:pt x="311252" y="686626"/>
                </a:cubicBezTo>
                <a:close/>
                <a:moveTo>
                  <a:pt x="275011" y="602812"/>
                </a:moveTo>
                <a:cubicBezTo>
                  <a:pt x="274977" y="603204"/>
                  <a:pt x="275192" y="604771"/>
                  <a:pt x="275654" y="607512"/>
                </a:cubicBezTo>
                <a:lnTo>
                  <a:pt x="278004" y="622324"/>
                </a:lnTo>
                <a:cubicBezTo>
                  <a:pt x="280783" y="632836"/>
                  <a:pt x="286287" y="639696"/>
                  <a:pt x="294516" y="642904"/>
                </a:cubicBezTo>
                <a:cubicBezTo>
                  <a:pt x="302744" y="646112"/>
                  <a:pt x="311375" y="644910"/>
                  <a:pt x="320408" y="639298"/>
                </a:cubicBezTo>
                <a:cubicBezTo>
                  <a:pt x="321504" y="638831"/>
                  <a:pt x="323634" y="638099"/>
                  <a:pt x="326798" y="637101"/>
                </a:cubicBezTo>
                <a:lnTo>
                  <a:pt x="330815" y="634706"/>
                </a:lnTo>
                <a:lnTo>
                  <a:pt x="309462" y="655687"/>
                </a:lnTo>
                <a:cubicBezTo>
                  <a:pt x="303014" y="661881"/>
                  <a:pt x="296253" y="666231"/>
                  <a:pt x="289179" y="668740"/>
                </a:cubicBezTo>
                <a:cubicBezTo>
                  <a:pt x="286212" y="668740"/>
                  <a:pt x="283560" y="669221"/>
                  <a:pt x="281223" y="670183"/>
                </a:cubicBezTo>
                <a:cubicBezTo>
                  <a:pt x="278885" y="671146"/>
                  <a:pt x="276948" y="671723"/>
                  <a:pt x="275411" y="671914"/>
                </a:cubicBezTo>
                <a:lnTo>
                  <a:pt x="258980" y="671127"/>
                </a:lnTo>
                <a:lnTo>
                  <a:pt x="255574" y="672631"/>
                </a:lnTo>
                <a:lnTo>
                  <a:pt x="259088" y="666434"/>
                </a:lnTo>
                <a:cubicBezTo>
                  <a:pt x="259693" y="664225"/>
                  <a:pt x="259560" y="662175"/>
                  <a:pt x="258687" y="660287"/>
                </a:cubicBezTo>
                <a:cubicBezTo>
                  <a:pt x="256941" y="656510"/>
                  <a:pt x="253210" y="654622"/>
                  <a:pt x="247494" y="654622"/>
                </a:cubicBezTo>
                <a:cubicBezTo>
                  <a:pt x="240752" y="654622"/>
                  <a:pt x="234384" y="656364"/>
                  <a:pt x="228389" y="659850"/>
                </a:cubicBezTo>
                <a:cubicBezTo>
                  <a:pt x="222393" y="663335"/>
                  <a:pt x="216923" y="666558"/>
                  <a:pt x="211977" y="669521"/>
                </a:cubicBezTo>
                <a:lnTo>
                  <a:pt x="204323" y="673418"/>
                </a:lnTo>
                <a:lnTo>
                  <a:pt x="219302" y="663659"/>
                </a:lnTo>
                <a:cubicBezTo>
                  <a:pt x="223143" y="659567"/>
                  <a:pt x="231228" y="654386"/>
                  <a:pt x="243556" y="648116"/>
                </a:cubicBezTo>
                <a:cubicBezTo>
                  <a:pt x="247548" y="642825"/>
                  <a:pt x="248371" y="638076"/>
                  <a:pt x="246025" y="633870"/>
                </a:cubicBezTo>
                <a:cubicBezTo>
                  <a:pt x="244852" y="631767"/>
                  <a:pt x="243073" y="630230"/>
                  <a:pt x="240686" y="629260"/>
                </a:cubicBezTo>
                <a:lnTo>
                  <a:pt x="234276" y="628395"/>
                </a:lnTo>
                <a:lnTo>
                  <a:pt x="250712" y="617133"/>
                </a:lnTo>
                <a:cubicBezTo>
                  <a:pt x="258316" y="612494"/>
                  <a:pt x="265818" y="608264"/>
                  <a:pt x="273217" y="604444"/>
                </a:cubicBezTo>
                <a:cubicBezTo>
                  <a:pt x="274446" y="602964"/>
                  <a:pt x="275044" y="602421"/>
                  <a:pt x="275011" y="602812"/>
                </a:cubicBezTo>
                <a:close/>
                <a:moveTo>
                  <a:pt x="223826" y="518224"/>
                </a:moveTo>
                <a:cubicBezTo>
                  <a:pt x="217806" y="517911"/>
                  <a:pt x="212087" y="519778"/>
                  <a:pt x="206671" y="523823"/>
                </a:cubicBezTo>
                <a:cubicBezTo>
                  <a:pt x="200372" y="524540"/>
                  <a:pt x="197298" y="526918"/>
                  <a:pt x="197450" y="530957"/>
                </a:cubicBezTo>
                <a:cubicBezTo>
                  <a:pt x="197602" y="534997"/>
                  <a:pt x="199540" y="539406"/>
                  <a:pt x="203265" y="544185"/>
                </a:cubicBezTo>
                <a:cubicBezTo>
                  <a:pt x="204728" y="546372"/>
                  <a:pt x="206742" y="548428"/>
                  <a:pt x="209308" y="550353"/>
                </a:cubicBezTo>
                <a:cubicBezTo>
                  <a:pt x="211875" y="552278"/>
                  <a:pt x="213712" y="554161"/>
                  <a:pt x="214821" y="556003"/>
                </a:cubicBezTo>
                <a:cubicBezTo>
                  <a:pt x="215375" y="556478"/>
                  <a:pt x="215102" y="557428"/>
                  <a:pt x="214002" y="558853"/>
                </a:cubicBezTo>
                <a:cubicBezTo>
                  <a:pt x="212902" y="560277"/>
                  <a:pt x="211404" y="562252"/>
                  <a:pt x="209508" y="564777"/>
                </a:cubicBezTo>
                <a:cubicBezTo>
                  <a:pt x="203146" y="575302"/>
                  <a:pt x="205555" y="582145"/>
                  <a:pt x="216733" y="585307"/>
                </a:cubicBezTo>
                <a:cubicBezTo>
                  <a:pt x="222322" y="586888"/>
                  <a:pt x="227202" y="588103"/>
                  <a:pt x="231373" y="588951"/>
                </a:cubicBezTo>
                <a:lnTo>
                  <a:pt x="233622" y="589263"/>
                </a:lnTo>
                <a:lnTo>
                  <a:pt x="227607" y="591457"/>
                </a:lnTo>
                <a:cubicBezTo>
                  <a:pt x="222378" y="593244"/>
                  <a:pt x="217298" y="595305"/>
                  <a:pt x="212365" y="597638"/>
                </a:cubicBezTo>
                <a:cubicBezTo>
                  <a:pt x="197920" y="603417"/>
                  <a:pt x="184463" y="608428"/>
                  <a:pt x="171995" y="612671"/>
                </a:cubicBezTo>
                <a:cubicBezTo>
                  <a:pt x="159527" y="616915"/>
                  <a:pt x="147127" y="619395"/>
                  <a:pt x="134794" y="620111"/>
                </a:cubicBezTo>
                <a:lnTo>
                  <a:pt x="124207" y="614805"/>
                </a:lnTo>
                <a:cubicBezTo>
                  <a:pt x="121295" y="614422"/>
                  <a:pt x="118225" y="614688"/>
                  <a:pt x="114999" y="615602"/>
                </a:cubicBezTo>
                <a:cubicBezTo>
                  <a:pt x="111772" y="616517"/>
                  <a:pt x="110421" y="619032"/>
                  <a:pt x="110946" y="623149"/>
                </a:cubicBezTo>
                <a:cubicBezTo>
                  <a:pt x="110421" y="624532"/>
                  <a:pt x="110224" y="625878"/>
                  <a:pt x="110355" y="627186"/>
                </a:cubicBezTo>
                <a:cubicBezTo>
                  <a:pt x="110486" y="628494"/>
                  <a:pt x="110004" y="630067"/>
                  <a:pt x="108908" y="631904"/>
                </a:cubicBezTo>
                <a:cubicBezTo>
                  <a:pt x="105038" y="642900"/>
                  <a:pt x="106404" y="651356"/>
                  <a:pt x="113008" y="657275"/>
                </a:cubicBezTo>
                <a:cubicBezTo>
                  <a:pt x="119612" y="663193"/>
                  <a:pt x="128595" y="664917"/>
                  <a:pt x="139956" y="662446"/>
                </a:cubicBezTo>
                <a:cubicBezTo>
                  <a:pt x="148164" y="658738"/>
                  <a:pt x="155987" y="655357"/>
                  <a:pt x="163424" y="652303"/>
                </a:cubicBezTo>
                <a:cubicBezTo>
                  <a:pt x="170861" y="649249"/>
                  <a:pt x="178571" y="645276"/>
                  <a:pt x="186554" y="640385"/>
                </a:cubicBezTo>
                <a:cubicBezTo>
                  <a:pt x="193187" y="635873"/>
                  <a:pt x="199535" y="631968"/>
                  <a:pt x="205599" y="628670"/>
                </a:cubicBezTo>
                <a:lnTo>
                  <a:pt x="215882" y="623840"/>
                </a:lnTo>
                <a:lnTo>
                  <a:pt x="214153" y="628468"/>
                </a:lnTo>
                <a:cubicBezTo>
                  <a:pt x="214005" y="630268"/>
                  <a:pt x="214533" y="631656"/>
                  <a:pt x="215739" y="632632"/>
                </a:cubicBezTo>
                <a:lnTo>
                  <a:pt x="216324" y="632872"/>
                </a:lnTo>
                <a:lnTo>
                  <a:pt x="190485" y="641291"/>
                </a:lnTo>
                <a:cubicBezTo>
                  <a:pt x="188689" y="644899"/>
                  <a:pt x="187086" y="648189"/>
                  <a:pt x="185676" y="651159"/>
                </a:cubicBezTo>
                <a:cubicBezTo>
                  <a:pt x="184265" y="654130"/>
                  <a:pt x="183408" y="657297"/>
                  <a:pt x="183104" y="660659"/>
                </a:cubicBezTo>
                <a:cubicBezTo>
                  <a:pt x="183104" y="664913"/>
                  <a:pt x="184805" y="668656"/>
                  <a:pt x="188207" y="671889"/>
                </a:cubicBezTo>
                <a:cubicBezTo>
                  <a:pt x="189908" y="673506"/>
                  <a:pt x="191910" y="674566"/>
                  <a:pt x="194213" y="675070"/>
                </a:cubicBezTo>
                <a:lnTo>
                  <a:pt x="201360" y="674928"/>
                </a:lnTo>
                <a:lnTo>
                  <a:pt x="183223" y="684164"/>
                </a:lnTo>
                <a:cubicBezTo>
                  <a:pt x="174590" y="688355"/>
                  <a:pt x="166397" y="691057"/>
                  <a:pt x="158643" y="692269"/>
                </a:cubicBezTo>
                <a:cubicBezTo>
                  <a:pt x="152518" y="692269"/>
                  <a:pt x="147971" y="694928"/>
                  <a:pt x="145000" y="700244"/>
                </a:cubicBezTo>
                <a:cubicBezTo>
                  <a:pt x="142029" y="705560"/>
                  <a:pt x="140090" y="710860"/>
                  <a:pt x="139181" y="716143"/>
                </a:cubicBezTo>
                <a:cubicBezTo>
                  <a:pt x="140456" y="721563"/>
                  <a:pt x="143602" y="724522"/>
                  <a:pt x="148618" y="725017"/>
                </a:cubicBezTo>
                <a:cubicBezTo>
                  <a:pt x="153635" y="725513"/>
                  <a:pt x="157918" y="724992"/>
                  <a:pt x="161468" y="723455"/>
                </a:cubicBezTo>
                <a:cubicBezTo>
                  <a:pt x="167963" y="720339"/>
                  <a:pt x="173720" y="716850"/>
                  <a:pt x="178738" y="712990"/>
                </a:cubicBezTo>
                <a:lnTo>
                  <a:pt x="182031" y="711054"/>
                </a:lnTo>
                <a:lnTo>
                  <a:pt x="178298" y="714681"/>
                </a:lnTo>
                <a:cubicBezTo>
                  <a:pt x="174565" y="718414"/>
                  <a:pt x="170490" y="722138"/>
                  <a:pt x="166074" y="725855"/>
                </a:cubicBezTo>
                <a:cubicBezTo>
                  <a:pt x="159124" y="729696"/>
                  <a:pt x="155715" y="733240"/>
                  <a:pt x="155846" y="736485"/>
                </a:cubicBezTo>
                <a:cubicBezTo>
                  <a:pt x="155977" y="739731"/>
                  <a:pt x="155926" y="743016"/>
                  <a:pt x="155693" y="746341"/>
                </a:cubicBezTo>
                <a:cubicBezTo>
                  <a:pt x="154197" y="750587"/>
                  <a:pt x="152966" y="753941"/>
                  <a:pt x="151999" y="756403"/>
                </a:cubicBezTo>
                <a:cubicBezTo>
                  <a:pt x="151033" y="758865"/>
                  <a:pt x="152224" y="763136"/>
                  <a:pt x="155574" y="769215"/>
                </a:cubicBezTo>
                <a:cubicBezTo>
                  <a:pt x="160561" y="775252"/>
                  <a:pt x="165706" y="781340"/>
                  <a:pt x="171008" y="787479"/>
                </a:cubicBezTo>
                <a:cubicBezTo>
                  <a:pt x="176309" y="793618"/>
                  <a:pt x="182606" y="797709"/>
                  <a:pt x="189897" y="799750"/>
                </a:cubicBezTo>
                <a:cubicBezTo>
                  <a:pt x="192609" y="800621"/>
                  <a:pt x="195469" y="800971"/>
                  <a:pt x="198475" y="800800"/>
                </a:cubicBezTo>
                <a:cubicBezTo>
                  <a:pt x="201481" y="800629"/>
                  <a:pt x="204740" y="798592"/>
                  <a:pt x="208252" y="794688"/>
                </a:cubicBezTo>
                <a:cubicBezTo>
                  <a:pt x="210315" y="789651"/>
                  <a:pt x="214229" y="786050"/>
                  <a:pt x="219995" y="783886"/>
                </a:cubicBezTo>
                <a:cubicBezTo>
                  <a:pt x="225762" y="781721"/>
                  <a:pt x="231393" y="779208"/>
                  <a:pt x="236888" y="776346"/>
                </a:cubicBezTo>
                <a:cubicBezTo>
                  <a:pt x="236271" y="776346"/>
                  <a:pt x="236629" y="777289"/>
                  <a:pt x="237960" y="779177"/>
                </a:cubicBezTo>
                <a:cubicBezTo>
                  <a:pt x="239291" y="781064"/>
                  <a:pt x="241238" y="782810"/>
                  <a:pt x="243800" y="784414"/>
                </a:cubicBezTo>
                <a:cubicBezTo>
                  <a:pt x="250458" y="788572"/>
                  <a:pt x="256764" y="791339"/>
                  <a:pt x="262718" y="792716"/>
                </a:cubicBezTo>
                <a:cubicBezTo>
                  <a:pt x="268672" y="794093"/>
                  <a:pt x="274894" y="794651"/>
                  <a:pt x="281385" y="794388"/>
                </a:cubicBezTo>
                <a:cubicBezTo>
                  <a:pt x="282731" y="794747"/>
                  <a:pt x="284605" y="795163"/>
                  <a:pt x="287007" y="795638"/>
                </a:cubicBezTo>
                <a:cubicBezTo>
                  <a:pt x="289409" y="796113"/>
                  <a:pt x="291901" y="796174"/>
                  <a:pt x="294485" y="795819"/>
                </a:cubicBezTo>
                <a:cubicBezTo>
                  <a:pt x="298368" y="793732"/>
                  <a:pt x="302013" y="791835"/>
                  <a:pt x="305421" y="790129"/>
                </a:cubicBezTo>
                <a:cubicBezTo>
                  <a:pt x="308829" y="788423"/>
                  <a:pt x="312069" y="786455"/>
                  <a:pt x="315140" y="784226"/>
                </a:cubicBezTo>
                <a:lnTo>
                  <a:pt x="332876" y="771327"/>
                </a:lnTo>
                <a:cubicBezTo>
                  <a:pt x="335592" y="768398"/>
                  <a:pt x="337044" y="766934"/>
                  <a:pt x="337232" y="766934"/>
                </a:cubicBezTo>
                <a:cubicBezTo>
                  <a:pt x="337419" y="766934"/>
                  <a:pt x="338790" y="768211"/>
                  <a:pt x="341344" y="770765"/>
                </a:cubicBezTo>
                <a:cubicBezTo>
                  <a:pt x="355189" y="780085"/>
                  <a:pt x="368545" y="788967"/>
                  <a:pt x="381410" y="797410"/>
                </a:cubicBezTo>
                <a:cubicBezTo>
                  <a:pt x="394276" y="805853"/>
                  <a:pt x="408146" y="810075"/>
                  <a:pt x="423020" y="810075"/>
                </a:cubicBezTo>
                <a:cubicBezTo>
                  <a:pt x="429641" y="808504"/>
                  <a:pt x="435900" y="808503"/>
                  <a:pt x="441797" y="810072"/>
                </a:cubicBezTo>
                <a:cubicBezTo>
                  <a:pt x="447695" y="811640"/>
                  <a:pt x="454483" y="811591"/>
                  <a:pt x="462162" y="809925"/>
                </a:cubicBezTo>
                <a:cubicBezTo>
                  <a:pt x="467895" y="807629"/>
                  <a:pt x="470951" y="804669"/>
                  <a:pt x="471330" y="801044"/>
                </a:cubicBezTo>
                <a:cubicBezTo>
                  <a:pt x="471709" y="797419"/>
                  <a:pt x="469180" y="793747"/>
                  <a:pt x="463743" y="790026"/>
                </a:cubicBezTo>
                <a:cubicBezTo>
                  <a:pt x="452431" y="786555"/>
                  <a:pt x="442922" y="783542"/>
                  <a:pt x="435217" y="780986"/>
                </a:cubicBezTo>
                <a:cubicBezTo>
                  <a:pt x="427511" y="778430"/>
                  <a:pt x="419369" y="775244"/>
                  <a:pt x="410790" y="771427"/>
                </a:cubicBezTo>
                <a:cubicBezTo>
                  <a:pt x="407153" y="768827"/>
                  <a:pt x="403650" y="766815"/>
                  <a:pt x="400281" y="765390"/>
                </a:cubicBezTo>
                <a:cubicBezTo>
                  <a:pt x="396913" y="763965"/>
                  <a:pt x="393310" y="762296"/>
                  <a:pt x="389472" y="760384"/>
                </a:cubicBezTo>
                <a:lnTo>
                  <a:pt x="361068" y="743810"/>
                </a:lnTo>
                <a:cubicBezTo>
                  <a:pt x="357897" y="741485"/>
                  <a:pt x="355772" y="739618"/>
                  <a:pt x="354693" y="738207"/>
                </a:cubicBezTo>
                <a:cubicBezTo>
                  <a:pt x="353614" y="736797"/>
                  <a:pt x="353543" y="734927"/>
                  <a:pt x="354481" y="732598"/>
                </a:cubicBezTo>
                <a:cubicBezTo>
                  <a:pt x="360493" y="718749"/>
                  <a:pt x="365373" y="705685"/>
                  <a:pt x="369121" y="693407"/>
                </a:cubicBezTo>
                <a:cubicBezTo>
                  <a:pt x="372868" y="681128"/>
                  <a:pt x="379188" y="668452"/>
                  <a:pt x="388079" y="655378"/>
                </a:cubicBezTo>
                <a:cubicBezTo>
                  <a:pt x="389841" y="648762"/>
                  <a:pt x="389356" y="643496"/>
                  <a:pt x="386623" y="639582"/>
                </a:cubicBezTo>
                <a:cubicBezTo>
                  <a:pt x="383890" y="635668"/>
                  <a:pt x="379481" y="633406"/>
                  <a:pt x="373398" y="632798"/>
                </a:cubicBezTo>
                <a:cubicBezTo>
                  <a:pt x="372294" y="632311"/>
                  <a:pt x="371637" y="632268"/>
                  <a:pt x="371427" y="632670"/>
                </a:cubicBezTo>
                <a:cubicBezTo>
                  <a:pt x="371216" y="633072"/>
                  <a:pt x="371878" y="633083"/>
                  <a:pt x="373411" y="632704"/>
                </a:cubicBezTo>
                <a:lnTo>
                  <a:pt x="393072" y="614474"/>
                </a:lnTo>
                <a:cubicBezTo>
                  <a:pt x="399609" y="609770"/>
                  <a:pt x="401471" y="604534"/>
                  <a:pt x="398656" y="598766"/>
                </a:cubicBezTo>
                <a:cubicBezTo>
                  <a:pt x="395842" y="592997"/>
                  <a:pt x="390197" y="589174"/>
                  <a:pt x="381723" y="587295"/>
                </a:cubicBezTo>
                <a:cubicBezTo>
                  <a:pt x="378815" y="586674"/>
                  <a:pt x="376908" y="586092"/>
                  <a:pt x="376001" y="585548"/>
                </a:cubicBezTo>
                <a:cubicBezTo>
                  <a:pt x="375095" y="585004"/>
                  <a:pt x="375105" y="583957"/>
                  <a:pt x="376030" y="582407"/>
                </a:cubicBezTo>
                <a:lnTo>
                  <a:pt x="384891" y="555953"/>
                </a:lnTo>
                <a:cubicBezTo>
                  <a:pt x="389037" y="544266"/>
                  <a:pt x="387886" y="536612"/>
                  <a:pt x="381439" y="532992"/>
                </a:cubicBezTo>
                <a:cubicBezTo>
                  <a:pt x="374991" y="529371"/>
                  <a:pt x="368563" y="527561"/>
                  <a:pt x="362155" y="527561"/>
                </a:cubicBezTo>
                <a:cubicBezTo>
                  <a:pt x="357489" y="525469"/>
                  <a:pt x="353943" y="524599"/>
                  <a:pt x="351519" y="524952"/>
                </a:cubicBezTo>
                <a:cubicBezTo>
                  <a:pt x="349094" y="525304"/>
                  <a:pt x="345925" y="527567"/>
                  <a:pt x="342013" y="531742"/>
                </a:cubicBezTo>
                <a:cubicBezTo>
                  <a:pt x="335422" y="532804"/>
                  <a:pt x="332437" y="535669"/>
                  <a:pt x="333060" y="540335"/>
                </a:cubicBezTo>
                <a:cubicBezTo>
                  <a:pt x="333683" y="545001"/>
                  <a:pt x="336240" y="549424"/>
                  <a:pt x="340732" y="553603"/>
                </a:cubicBezTo>
                <a:cubicBezTo>
                  <a:pt x="345452" y="556728"/>
                  <a:pt x="347685" y="559420"/>
                  <a:pt x="347431" y="561681"/>
                </a:cubicBezTo>
                <a:cubicBezTo>
                  <a:pt x="347177" y="563941"/>
                  <a:pt x="346796" y="567502"/>
                  <a:pt x="346288" y="572364"/>
                </a:cubicBezTo>
                <a:cubicBezTo>
                  <a:pt x="343988" y="580530"/>
                  <a:pt x="342163" y="588113"/>
                  <a:pt x="340813" y="595113"/>
                </a:cubicBezTo>
                <a:cubicBezTo>
                  <a:pt x="339463" y="602112"/>
                  <a:pt x="341273" y="609881"/>
                  <a:pt x="346244" y="618418"/>
                </a:cubicBezTo>
                <a:cubicBezTo>
                  <a:pt x="345681" y="619818"/>
                  <a:pt x="343860" y="622058"/>
                  <a:pt x="340779" y="625139"/>
                </a:cubicBezTo>
                <a:lnTo>
                  <a:pt x="331074" y="634452"/>
                </a:lnTo>
                <a:lnTo>
                  <a:pt x="333963" y="630161"/>
                </a:lnTo>
                <a:cubicBezTo>
                  <a:pt x="336996" y="621065"/>
                  <a:pt x="338979" y="613767"/>
                  <a:pt x="339910" y="608265"/>
                </a:cubicBezTo>
                <a:cubicBezTo>
                  <a:pt x="340841" y="602763"/>
                  <a:pt x="339967" y="596034"/>
                  <a:pt x="337288" y="588076"/>
                </a:cubicBezTo>
                <a:cubicBezTo>
                  <a:pt x="337026" y="583080"/>
                  <a:pt x="336208" y="577760"/>
                  <a:pt x="334835" y="572114"/>
                </a:cubicBezTo>
                <a:cubicBezTo>
                  <a:pt x="333462" y="566469"/>
                  <a:pt x="329189" y="562750"/>
                  <a:pt x="322014" y="560959"/>
                </a:cubicBezTo>
                <a:lnTo>
                  <a:pt x="319183" y="558121"/>
                </a:lnTo>
                <a:cubicBezTo>
                  <a:pt x="317000" y="555630"/>
                  <a:pt x="314130" y="553534"/>
                  <a:pt x="310574" y="551834"/>
                </a:cubicBezTo>
                <a:cubicBezTo>
                  <a:pt x="307018" y="550134"/>
                  <a:pt x="304032" y="549101"/>
                  <a:pt x="301615" y="548734"/>
                </a:cubicBezTo>
                <a:cubicBezTo>
                  <a:pt x="298107" y="549284"/>
                  <a:pt x="295844" y="550954"/>
                  <a:pt x="294825" y="553744"/>
                </a:cubicBezTo>
                <a:cubicBezTo>
                  <a:pt x="293806" y="556533"/>
                  <a:pt x="293428" y="558944"/>
                  <a:pt x="293691" y="560977"/>
                </a:cubicBezTo>
                <a:cubicBezTo>
                  <a:pt x="293466" y="563698"/>
                  <a:pt x="292352" y="567180"/>
                  <a:pt x="290350" y="571424"/>
                </a:cubicBezTo>
                <a:cubicBezTo>
                  <a:pt x="288348" y="575667"/>
                  <a:pt x="285960" y="579174"/>
                  <a:pt x="283185" y="581945"/>
                </a:cubicBezTo>
                <a:cubicBezTo>
                  <a:pt x="281373" y="582291"/>
                  <a:pt x="279189" y="581959"/>
                  <a:pt x="276632" y="580951"/>
                </a:cubicBezTo>
                <a:cubicBezTo>
                  <a:pt x="274076" y="579943"/>
                  <a:pt x="271005" y="579139"/>
                  <a:pt x="267417" y="578539"/>
                </a:cubicBezTo>
                <a:lnTo>
                  <a:pt x="260458" y="578539"/>
                </a:lnTo>
                <a:lnTo>
                  <a:pt x="267766" y="564024"/>
                </a:lnTo>
                <a:cubicBezTo>
                  <a:pt x="269000" y="558879"/>
                  <a:pt x="268728" y="554032"/>
                  <a:pt x="266949" y="549484"/>
                </a:cubicBezTo>
                <a:cubicBezTo>
                  <a:pt x="263391" y="540389"/>
                  <a:pt x="255137" y="532810"/>
                  <a:pt x="242188" y="526748"/>
                </a:cubicBezTo>
                <a:cubicBezTo>
                  <a:pt x="235967" y="521378"/>
                  <a:pt x="229847" y="518536"/>
                  <a:pt x="223826" y="518224"/>
                </a:cubicBezTo>
                <a:close/>
                <a:moveTo>
                  <a:pt x="650558" y="518149"/>
                </a:moveTo>
                <a:cubicBezTo>
                  <a:pt x="640879" y="521615"/>
                  <a:pt x="639246" y="527169"/>
                  <a:pt x="645658" y="534810"/>
                </a:cubicBezTo>
                <a:cubicBezTo>
                  <a:pt x="652070" y="542452"/>
                  <a:pt x="657230" y="548349"/>
                  <a:pt x="661138" y="552503"/>
                </a:cubicBezTo>
                <a:cubicBezTo>
                  <a:pt x="660963" y="552711"/>
                  <a:pt x="660179" y="553729"/>
                  <a:pt x="658785" y="555556"/>
                </a:cubicBezTo>
                <a:cubicBezTo>
                  <a:pt x="657392" y="557383"/>
                  <a:pt x="655566" y="559567"/>
                  <a:pt x="653308" y="562109"/>
                </a:cubicBezTo>
                <a:cubicBezTo>
                  <a:pt x="650424" y="567187"/>
                  <a:pt x="649734" y="571525"/>
                  <a:pt x="651236" y="575120"/>
                </a:cubicBezTo>
                <a:cubicBezTo>
                  <a:pt x="651987" y="576918"/>
                  <a:pt x="653353" y="578311"/>
                  <a:pt x="655333" y="579300"/>
                </a:cubicBezTo>
                <a:lnTo>
                  <a:pt x="661776" y="580749"/>
                </a:lnTo>
                <a:lnTo>
                  <a:pt x="633481" y="593613"/>
                </a:lnTo>
                <a:cubicBezTo>
                  <a:pt x="623887" y="597850"/>
                  <a:pt x="613891" y="601454"/>
                  <a:pt x="603492" y="604425"/>
                </a:cubicBezTo>
                <a:cubicBezTo>
                  <a:pt x="601596" y="604425"/>
                  <a:pt x="600226" y="604298"/>
                  <a:pt x="599383" y="604044"/>
                </a:cubicBezTo>
                <a:cubicBezTo>
                  <a:pt x="598539" y="603789"/>
                  <a:pt x="596915" y="602821"/>
                  <a:pt x="594511" y="601137"/>
                </a:cubicBezTo>
                <a:cubicBezTo>
                  <a:pt x="586824" y="598100"/>
                  <a:pt x="578779" y="598874"/>
                  <a:pt x="570375" y="603459"/>
                </a:cubicBezTo>
                <a:cubicBezTo>
                  <a:pt x="561971" y="608044"/>
                  <a:pt x="557455" y="614583"/>
                  <a:pt x="556826" y="623074"/>
                </a:cubicBezTo>
                <a:cubicBezTo>
                  <a:pt x="556563" y="626869"/>
                  <a:pt x="556735" y="630783"/>
                  <a:pt x="557342" y="634814"/>
                </a:cubicBezTo>
                <a:cubicBezTo>
                  <a:pt x="557948" y="638845"/>
                  <a:pt x="560888" y="642795"/>
                  <a:pt x="566163" y="646666"/>
                </a:cubicBezTo>
                <a:cubicBezTo>
                  <a:pt x="568004" y="647891"/>
                  <a:pt x="570247" y="648503"/>
                  <a:pt x="572891" y="648503"/>
                </a:cubicBezTo>
                <a:cubicBezTo>
                  <a:pt x="575534" y="648503"/>
                  <a:pt x="577914" y="648199"/>
                  <a:pt x="580031" y="647591"/>
                </a:cubicBezTo>
                <a:cubicBezTo>
                  <a:pt x="591634" y="644354"/>
                  <a:pt x="602198" y="640583"/>
                  <a:pt x="611723" y="636279"/>
                </a:cubicBezTo>
                <a:lnTo>
                  <a:pt x="639794" y="625728"/>
                </a:lnTo>
                <a:lnTo>
                  <a:pt x="634421" y="631098"/>
                </a:lnTo>
                <a:cubicBezTo>
                  <a:pt x="630401" y="633265"/>
                  <a:pt x="627574" y="637553"/>
                  <a:pt x="625940" y="643963"/>
                </a:cubicBezTo>
                <a:cubicBezTo>
                  <a:pt x="624307" y="650373"/>
                  <a:pt x="625582" y="655842"/>
                  <a:pt x="629765" y="660371"/>
                </a:cubicBezTo>
                <a:cubicBezTo>
                  <a:pt x="631178" y="661938"/>
                  <a:pt x="631923" y="662820"/>
                  <a:pt x="632003" y="663018"/>
                </a:cubicBezTo>
                <a:cubicBezTo>
                  <a:pt x="632082" y="663216"/>
                  <a:pt x="631609" y="664077"/>
                  <a:pt x="630584" y="665602"/>
                </a:cubicBezTo>
                <a:cubicBezTo>
                  <a:pt x="624413" y="672764"/>
                  <a:pt x="617970" y="678397"/>
                  <a:pt x="611254" y="682501"/>
                </a:cubicBezTo>
                <a:cubicBezTo>
                  <a:pt x="604538" y="686605"/>
                  <a:pt x="597534" y="689738"/>
                  <a:pt x="590243" y="691901"/>
                </a:cubicBezTo>
                <a:cubicBezTo>
                  <a:pt x="581818" y="699963"/>
                  <a:pt x="579051" y="707033"/>
                  <a:pt x="581940" y="713112"/>
                </a:cubicBezTo>
                <a:cubicBezTo>
                  <a:pt x="584829" y="719191"/>
                  <a:pt x="591945" y="720459"/>
                  <a:pt x="603286" y="716918"/>
                </a:cubicBezTo>
                <a:lnTo>
                  <a:pt x="606200" y="715275"/>
                </a:lnTo>
                <a:lnTo>
                  <a:pt x="600195" y="733461"/>
                </a:lnTo>
                <a:cubicBezTo>
                  <a:pt x="599776" y="739185"/>
                  <a:pt x="600221" y="745518"/>
                  <a:pt x="601529" y="752459"/>
                </a:cubicBezTo>
                <a:cubicBezTo>
                  <a:pt x="601792" y="754309"/>
                  <a:pt x="601727" y="756263"/>
                  <a:pt x="601336" y="758322"/>
                </a:cubicBezTo>
                <a:cubicBezTo>
                  <a:pt x="600944" y="760380"/>
                  <a:pt x="601523" y="762732"/>
                  <a:pt x="603073" y="765377"/>
                </a:cubicBezTo>
                <a:cubicBezTo>
                  <a:pt x="605294" y="769269"/>
                  <a:pt x="607552" y="772076"/>
                  <a:pt x="609848" y="773799"/>
                </a:cubicBezTo>
                <a:cubicBezTo>
                  <a:pt x="612143" y="775522"/>
                  <a:pt x="614810" y="777395"/>
                  <a:pt x="617847" y="779420"/>
                </a:cubicBezTo>
                <a:cubicBezTo>
                  <a:pt x="620614" y="781933"/>
                  <a:pt x="623488" y="784546"/>
                  <a:pt x="626472" y="787260"/>
                </a:cubicBezTo>
                <a:cubicBezTo>
                  <a:pt x="629455" y="789975"/>
                  <a:pt x="632771" y="792326"/>
                  <a:pt x="636421" y="794313"/>
                </a:cubicBezTo>
                <a:cubicBezTo>
                  <a:pt x="640325" y="794617"/>
                  <a:pt x="644347" y="794836"/>
                  <a:pt x="648486" y="794969"/>
                </a:cubicBezTo>
                <a:cubicBezTo>
                  <a:pt x="652625" y="795103"/>
                  <a:pt x="655637" y="792215"/>
                  <a:pt x="657520" y="786307"/>
                </a:cubicBezTo>
                <a:cubicBezTo>
                  <a:pt x="657836" y="784712"/>
                  <a:pt x="658229" y="783829"/>
                  <a:pt x="658698" y="783661"/>
                </a:cubicBezTo>
                <a:cubicBezTo>
                  <a:pt x="659167" y="783492"/>
                  <a:pt x="660063" y="783408"/>
                  <a:pt x="661388" y="783408"/>
                </a:cubicBezTo>
                <a:cubicBezTo>
                  <a:pt x="669896" y="784453"/>
                  <a:pt x="676713" y="783148"/>
                  <a:pt x="681840" y="779492"/>
                </a:cubicBezTo>
                <a:cubicBezTo>
                  <a:pt x="686967" y="775836"/>
                  <a:pt x="693413" y="771463"/>
                  <a:pt x="701180" y="766371"/>
                </a:cubicBezTo>
                <a:cubicBezTo>
                  <a:pt x="705525" y="763813"/>
                  <a:pt x="710107" y="761585"/>
                  <a:pt x="714926" y="759687"/>
                </a:cubicBezTo>
                <a:cubicBezTo>
                  <a:pt x="719744" y="757789"/>
                  <a:pt x="723178" y="753232"/>
                  <a:pt x="725228" y="746016"/>
                </a:cubicBezTo>
                <a:cubicBezTo>
                  <a:pt x="724799" y="742058"/>
                  <a:pt x="723829" y="739550"/>
                  <a:pt x="722319" y="738492"/>
                </a:cubicBezTo>
                <a:cubicBezTo>
                  <a:pt x="720809" y="737433"/>
                  <a:pt x="719947" y="736692"/>
                  <a:pt x="719735" y="736267"/>
                </a:cubicBezTo>
                <a:cubicBezTo>
                  <a:pt x="719735" y="731313"/>
                  <a:pt x="720447" y="726375"/>
                  <a:pt x="721872" y="721452"/>
                </a:cubicBezTo>
                <a:cubicBezTo>
                  <a:pt x="723297" y="716529"/>
                  <a:pt x="723853" y="710589"/>
                  <a:pt x="723541" y="703631"/>
                </a:cubicBezTo>
                <a:cubicBezTo>
                  <a:pt x="716587" y="694157"/>
                  <a:pt x="708959" y="688979"/>
                  <a:pt x="700658" y="688098"/>
                </a:cubicBezTo>
                <a:cubicBezTo>
                  <a:pt x="692356" y="687217"/>
                  <a:pt x="684556" y="688795"/>
                  <a:pt x="677256" y="692832"/>
                </a:cubicBezTo>
                <a:cubicBezTo>
                  <a:pt x="668927" y="697132"/>
                  <a:pt x="661152" y="701974"/>
                  <a:pt x="653929" y="707359"/>
                </a:cubicBezTo>
                <a:lnTo>
                  <a:pt x="634378" y="720611"/>
                </a:lnTo>
                <a:lnTo>
                  <a:pt x="642232" y="707820"/>
                </a:lnTo>
                <a:cubicBezTo>
                  <a:pt x="645603" y="703667"/>
                  <a:pt x="649533" y="699938"/>
                  <a:pt x="654023" y="696632"/>
                </a:cubicBezTo>
                <a:cubicBezTo>
                  <a:pt x="663004" y="690020"/>
                  <a:pt x="672183" y="684499"/>
                  <a:pt x="681562" y="680070"/>
                </a:cubicBezTo>
                <a:cubicBezTo>
                  <a:pt x="686199" y="677241"/>
                  <a:pt x="690668" y="674906"/>
                  <a:pt x="694967" y="673064"/>
                </a:cubicBezTo>
                <a:cubicBezTo>
                  <a:pt x="699267" y="671223"/>
                  <a:pt x="704021" y="669754"/>
                  <a:pt x="709229" y="668658"/>
                </a:cubicBezTo>
                <a:cubicBezTo>
                  <a:pt x="715450" y="664517"/>
                  <a:pt x="718281" y="660165"/>
                  <a:pt x="717722" y="655603"/>
                </a:cubicBezTo>
                <a:cubicBezTo>
                  <a:pt x="717164" y="651041"/>
                  <a:pt x="712964" y="648366"/>
                  <a:pt x="705123" y="647578"/>
                </a:cubicBezTo>
                <a:cubicBezTo>
                  <a:pt x="694165" y="648703"/>
                  <a:pt x="684068" y="651342"/>
                  <a:pt x="674831" y="655494"/>
                </a:cubicBezTo>
                <a:lnTo>
                  <a:pt x="662299" y="661796"/>
                </a:lnTo>
                <a:lnTo>
                  <a:pt x="667722" y="657990"/>
                </a:lnTo>
                <a:cubicBezTo>
                  <a:pt x="673787" y="654082"/>
                  <a:pt x="680093" y="649124"/>
                  <a:pt x="686643" y="643116"/>
                </a:cubicBezTo>
                <a:cubicBezTo>
                  <a:pt x="689880" y="638537"/>
                  <a:pt x="691334" y="634088"/>
                  <a:pt x="691005" y="629767"/>
                </a:cubicBezTo>
                <a:cubicBezTo>
                  <a:pt x="690676" y="625446"/>
                  <a:pt x="688466" y="621751"/>
                  <a:pt x="684374" y="618680"/>
                </a:cubicBezTo>
                <a:cubicBezTo>
                  <a:pt x="682604" y="617501"/>
                  <a:pt x="681714" y="617095"/>
                  <a:pt x="681706" y="617461"/>
                </a:cubicBezTo>
                <a:cubicBezTo>
                  <a:pt x="681697" y="617828"/>
                  <a:pt x="682097" y="617666"/>
                  <a:pt x="682906" y="616974"/>
                </a:cubicBezTo>
                <a:cubicBezTo>
                  <a:pt x="690926" y="609195"/>
                  <a:pt x="698275" y="603079"/>
                  <a:pt x="704951" y="598625"/>
                </a:cubicBezTo>
                <a:cubicBezTo>
                  <a:pt x="711628" y="594171"/>
                  <a:pt x="718920" y="591688"/>
                  <a:pt x="726828" y="591176"/>
                </a:cubicBezTo>
                <a:cubicBezTo>
                  <a:pt x="733682" y="587572"/>
                  <a:pt x="737350" y="582905"/>
                  <a:pt x="737834" y="577176"/>
                </a:cubicBezTo>
                <a:cubicBezTo>
                  <a:pt x="738317" y="571448"/>
                  <a:pt x="734367" y="567998"/>
                  <a:pt x="725984" y="566827"/>
                </a:cubicBezTo>
                <a:cubicBezTo>
                  <a:pt x="722176" y="566069"/>
                  <a:pt x="718521" y="565616"/>
                  <a:pt x="715019" y="565468"/>
                </a:cubicBezTo>
                <a:lnTo>
                  <a:pt x="706283" y="565940"/>
                </a:lnTo>
                <a:lnTo>
                  <a:pt x="707039" y="565554"/>
                </a:lnTo>
                <a:cubicBezTo>
                  <a:pt x="710176" y="561957"/>
                  <a:pt x="711564" y="557263"/>
                  <a:pt x="711204" y="551472"/>
                </a:cubicBezTo>
                <a:cubicBezTo>
                  <a:pt x="710483" y="539889"/>
                  <a:pt x="704102" y="530483"/>
                  <a:pt x="692061" y="523255"/>
                </a:cubicBezTo>
                <a:cubicBezTo>
                  <a:pt x="684429" y="520709"/>
                  <a:pt x="677182" y="519222"/>
                  <a:pt x="670322" y="518793"/>
                </a:cubicBezTo>
                <a:cubicBezTo>
                  <a:pt x="663462" y="518363"/>
                  <a:pt x="656874" y="518149"/>
                  <a:pt x="650558" y="518149"/>
                </a:cubicBezTo>
                <a:close/>
                <a:moveTo>
                  <a:pt x="807867" y="501675"/>
                </a:moveTo>
                <a:cubicBezTo>
                  <a:pt x="805409" y="501675"/>
                  <a:pt x="803296" y="502460"/>
                  <a:pt x="801530" y="504031"/>
                </a:cubicBezTo>
                <a:cubicBezTo>
                  <a:pt x="797305" y="507164"/>
                  <a:pt x="794686" y="509743"/>
                  <a:pt x="793674" y="511768"/>
                </a:cubicBezTo>
                <a:cubicBezTo>
                  <a:pt x="792662" y="513793"/>
                  <a:pt x="791655" y="516141"/>
                  <a:pt x="790655" y="518811"/>
                </a:cubicBezTo>
                <a:cubicBezTo>
                  <a:pt x="786160" y="534939"/>
                  <a:pt x="783583" y="550176"/>
                  <a:pt x="782925" y="564521"/>
                </a:cubicBezTo>
                <a:cubicBezTo>
                  <a:pt x="782266" y="578866"/>
                  <a:pt x="781437" y="593528"/>
                  <a:pt x="780437" y="608506"/>
                </a:cubicBezTo>
                <a:cubicBezTo>
                  <a:pt x="780287" y="608706"/>
                  <a:pt x="779860" y="609114"/>
                  <a:pt x="779156" y="609731"/>
                </a:cubicBezTo>
                <a:cubicBezTo>
                  <a:pt x="778452" y="610347"/>
                  <a:pt x="777654" y="610745"/>
                  <a:pt x="776762" y="610924"/>
                </a:cubicBezTo>
                <a:cubicBezTo>
                  <a:pt x="768351" y="614987"/>
                  <a:pt x="760353" y="618878"/>
                  <a:pt x="752770" y="622599"/>
                </a:cubicBezTo>
                <a:cubicBezTo>
                  <a:pt x="745187" y="626319"/>
                  <a:pt x="737473" y="631450"/>
                  <a:pt x="729628" y="637991"/>
                </a:cubicBezTo>
                <a:cubicBezTo>
                  <a:pt x="725536" y="640887"/>
                  <a:pt x="723858" y="644034"/>
                  <a:pt x="724594" y="647432"/>
                </a:cubicBezTo>
                <a:cubicBezTo>
                  <a:pt x="725329" y="650829"/>
                  <a:pt x="727793" y="653478"/>
                  <a:pt x="731984" y="655378"/>
                </a:cubicBezTo>
                <a:cubicBezTo>
                  <a:pt x="739908" y="656799"/>
                  <a:pt x="747004" y="657701"/>
                  <a:pt x="753270" y="658084"/>
                </a:cubicBezTo>
                <a:cubicBezTo>
                  <a:pt x="759536" y="658467"/>
                  <a:pt x="766586" y="659194"/>
                  <a:pt x="774419" y="660265"/>
                </a:cubicBezTo>
                <a:cubicBezTo>
                  <a:pt x="776181" y="659744"/>
                  <a:pt x="777088" y="659537"/>
                  <a:pt x="777141" y="659643"/>
                </a:cubicBezTo>
                <a:cubicBezTo>
                  <a:pt x="777193" y="659750"/>
                  <a:pt x="777219" y="660317"/>
                  <a:pt x="777219" y="661346"/>
                </a:cubicBezTo>
                <a:cubicBezTo>
                  <a:pt x="778789" y="680062"/>
                  <a:pt x="779313" y="697617"/>
                  <a:pt x="778790" y="714012"/>
                </a:cubicBezTo>
                <a:cubicBezTo>
                  <a:pt x="778268" y="730407"/>
                  <a:pt x="778273" y="748026"/>
                  <a:pt x="778806" y="766871"/>
                </a:cubicBezTo>
                <a:cubicBezTo>
                  <a:pt x="779319" y="768813"/>
                  <a:pt x="779198" y="770192"/>
                  <a:pt x="778444" y="771008"/>
                </a:cubicBezTo>
                <a:cubicBezTo>
                  <a:pt x="777689" y="771825"/>
                  <a:pt x="776008" y="773852"/>
                  <a:pt x="773400" y="777089"/>
                </a:cubicBezTo>
                <a:cubicBezTo>
                  <a:pt x="772809" y="784872"/>
                  <a:pt x="774157" y="792498"/>
                  <a:pt x="777447" y="799966"/>
                </a:cubicBezTo>
                <a:cubicBezTo>
                  <a:pt x="780736" y="807434"/>
                  <a:pt x="784610" y="814787"/>
                  <a:pt x="789068" y="822024"/>
                </a:cubicBezTo>
                <a:cubicBezTo>
                  <a:pt x="794651" y="826082"/>
                  <a:pt x="799257" y="827508"/>
                  <a:pt x="802886" y="826302"/>
                </a:cubicBezTo>
                <a:cubicBezTo>
                  <a:pt x="806515" y="825096"/>
                  <a:pt x="809781" y="821751"/>
                  <a:pt x="812685" y="816268"/>
                </a:cubicBezTo>
                <a:cubicBezTo>
                  <a:pt x="816756" y="806765"/>
                  <a:pt x="819782" y="797655"/>
                  <a:pt x="821763" y="788939"/>
                </a:cubicBezTo>
                <a:cubicBezTo>
                  <a:pt x="823744" y="780222"/>
                  <a:pt x="825262" y="771254"/>
                  <a:pt x="826316" y="762034"/>
                </a:cubicBezTo>
                <a:cubicBezTo>
                  <a:pt x="827111" y="741844"/>
                  <a:pt x="827705" y="723040"/>
                  <a:pt x="828097" y="705625"/>
                </a:cubicBezTo>
                <a:cubicBezTo>
                  <a:pt x="828488" y="688209"/>
                  <a:pt x="829755" y="669598"/>
                  <a:pt x="831897" y="649791"/>
                </a:cubicBezTo>
                <a:cubicBezTo>
                  <a:pt x="831897" y="642658"/>
                  <a:pt x="832813" y="638272"/>
                  <a:pt x="834646" y="636632"/>
                </a:cubicBezTo>
                <a:cubicBezTo>
                  <a:pt x="836480" y="634993"/>
                  <a:pt x="840875" y="632852"/>
                  <a:pt x="847833" y="630211"/>
                </a:cubicBezTo>
                <a:lnTo>
                  <a:pt x="867532" y="622830"/>
                </a:lnTo>
                <a:cubicBezTo>
                  <a:pt x="873577" y="618055"/>
                  <a:pt x="877123" y="612446"/>
                  <a:pt x="878169" y="606003"/>
                </a:cubicBezTo>
                <a:cubicBezTo>
                  <a:pt x="879215" y="599559"/>
                  <a:pt x="875177" y="594348"/>
                  <a:pt x="866057" y="590369"/>
                </a:cubicBezTo>
                <a:cubicBezTo>
                  <a:pt x="862011" y="589103"/>
                  <a:pt x="858178" y="588320"/>
                  <a:pt x="854558" y="588020"/>
                </a:cubicBezTo>
                <a:cubicBezTo>
                  <a:pt x="850937" y="587720"/>
                  <a:pt x="847310" y="587959"/>
                  <a:pt x="843677" y="588738"/>
                </a:cubicBezTo>
                <a:cubicBezTo>
                  <a:pt x="840806" y="588738"/>
                  <a:pt x="839106" y="588670"/>
                  <a:pt x="838574" y="588532"/>
                </a:cubicBezTo>
                <a:cubicBezTo>
                  <a:pt x="838043" y="588395"/>
                  <a:pt x="837896" y="587413"/>
                  <a:pt x="838134" y="585588"/>
                </a:cubicBezTo>
                <a:cubicBezTo>
                  <a:pt x="837300" y="577310"/>
                  <a:pt x="836621" y="570018"/>
                  <a:pt x="836096" y="563712"/>
                </a:cubicBezTo>
                <a:cubicBezTo>
                  <a:pt x="835571" y="557406"/>
                  <a:pt x="834432" y="550945"/>
                  <a:pt x="832678" y="544328"/>
                </a:cubicBezTo>
                <a:cubicBezTo>
                  <a:pt x="834698" y="539775"/>
                  <a:pt x="836119" y="533666"/>
                  <a:pt x="836940" y="526001"/>
                </a:cubicBezTo>
                <a:cubicBezTo>
                  <a:pt x="837761" y="518337"/>
                  <a:pt x="835988" y="511503"/>
                  <a:pt x="831622" y="505500"/>
                </a:cubicBezTo>
                <a:cubicBezTo>
                  <a:pt x="827843" y="502429"/>
                  <a:pt x="824623" y="501155"/>
                  <a:pt x="821963" y="501678"/>
                </a:cubicBezTo>
                <a:cubicBezTo>
                  <a:pt x="819303" y="502201"/>
                  <a:pt x="816877" y="502462"/>
                  <a:pt x="814685" y="502462"/>
                </a:cubicBezTo>
                <a:cubicBezTo>
                  <a:pt x="812598" y="501937"/>
                  <a:pt x="810325" y="501675"/>
                  <a:pt x="807867" y="501675"/>
                </a:cubicBezTo>
                <a:close/>
                <a:moveTo>
                  <a:pt x="672103" y="339414"/>
                </a:moveTo>
                <a:lnTo>
                  <a:pt x="676437" y="345738"/>
                </a:lnTo>
                <a:cubicBezTo>
                  <a:pt x="679446" y="347671"/>
                  <a:pt x="682616" y="348683"/>
                  <a:pt x="685949" y="348772"/>
                </a:cubicBezTo>
                <a:lnTo>
                  <a:pt x="696274" y="346314"/>
                </a:lnTo>
                <a:lnTo>
                  <a:pt x="696436" y="347382"/>
                </a:lnTo>
                <a:cubicBezTo>
                  <a:pt x="696232" y="350903"/>
                  <a:pt x="695467" y="353193"/>
                  <a:pt x="694143" y="354253"/>
                </a:cubicBezTo>
                <a:cubicBezTo>
                  <a:pt x="692818" y="355314"/>
                  <a:pt x="689989" y="356806"/>
                  <a:pt x="685656" y="358731"/>
                </a:cubicBezTo>
                <a:cubicBezTo>
                  <a:pt x="682643" y="359556"/>
                  <a:pt x="680167" y="360368"/>
                  <a:pt x="678228" y="361165"/>
                </a:cubicBezTo>
                <a:cubicBezTo>
                  <a:pt x="676288" y="361963"/>
                  <a:pt x="675108" y="362362"/>
                  <a:pt x="674687" y="362362"/>
                </a:cubicBezTo>
                <a:cubicBezTo>
                  <a:pt x="673708" y="361479"/>
                  <a:pt x="673041" y="359739"/>
                  <a:pt x="672684" y="357144"/>
                </a:cubicBezTo>
                <a:cubicBezTo>
                  <a:pt x="672328" y="354548"/>
                  <a:pt x="672033" y="352198"/>
                  <a:pt x="671800" y="350094"/>
                </a:cubicBezTo>
                <a:close/>
                <a:moveTo>
                  <a:pt x="702540" y="302391"/>
                </a:moveTo>
                <a:lnTo>
                  <a:pt x="701049" y="311162"/>
                </a:lnTo>
                <a:cubicBezTo>
                  <a:pt x="699681" y="313820"/>
                  <a:pt x="697499" y="315878"/>
                  <a:pt x="694502" y="317334"/>
                </a:cubicBezTo>
                <a:lnTo>
                  <a:pt x="675466" y="325412"/>
                </a:lnTo>
                <a:lnTo>
                  <a:pt x="676559" y="322440"/>
                </a:lnTo>
                <a:cubicBezTo>
                  <a:pt x="680715" y="316044"/>
                  <a:pt x="689339" y="309388"/>
                  <a:pt x="702430" y="302472"/>
                </a:cubicBezTo>
                <a:close/>
                <a:moveTo>
                  <a:pt x="392666" y="290360"/>
                </a:moveTo>
                <a:lnTo>
                  <a:pt x="393660" y="290360"/>
                </a:lnTo>
                <a:cubicBezTo>
                  <a:pt x="406230" y="291719"/>
                  <a:pt x="408832" y="298678"/>
                  <a:pt x="401465" y="311237"/>
                </a:cubicBezTo>
                <a:cubicBezTo>
                  <a:pt x="394099" y="323797"/>
                  <a:pt x="384321" y="333370"/>
                  <a:pt x="372130" y="339957"/>
                </a:cubicBezTo>
                <a:cubicBezTo>
                  <a:pt x="367709" y="341820"/>
                  <a:pt x="364177" y="341712"/>
                  <a:pt x="361534" y="339635"/>
                </a:cubicBezTo>
                <a:cubicBezTo>
                  <a:pt x="358890" y="337559"/>
                  <a:pt x="357345" y="333976"/>
                  <a:pt x="356899" y="328889"/>
                </a:cubicBezTo>
                <a:cubicBezTo>
                  <a:pt x="356008" y="324715"/>
                  <a:pt x="354886" y="321588"/>
                  <a:pt x="353534" y="319509"/>
                </a:cubicBezTo>
                <a:cubicBezTo>
                  <a:pt x="352182" y="317430"/>
                  <a:pt x="352064" y="315501"/>
                  <a:pt x="353181" y="313721"/>
                </a:cubicBezTo>
                <a:cubicBezTo>
                  <a:pt x="360664" y="306489"/>
                  <a:pt x="367208" y="300845"/>
                  <a:pt x="372814" y="296791"/>
                </a:cubicBezTo>
                <a:cubicBezTo>
                  <a:pt x="378420" y="292737"/>
                  <a:pt x="385037" y="290594"/>
                  <a:pt x="392666" y="290360"/>
                </a:cubicBezTo>
                <a:close/>
                <a:moveTo>
                  <a:pt x="756332" y="280948"/>
                </a:moveTo>
                <a:cubicBezTo>
                  <a:pt x="764507" y="281744"/>
                  <a:pt x="768342" y="284321"/>
                  <a:pt x="767838" y="288679"/>
                </a:cubicBezTo>
                <a:cubicBezTo>
                  <a:pt x="767334" y="293037"/>
                  <a:pt x="765494" y="299664"/>
                  <a:pt x="762320" y="308559"/>
                </a:cubicBezTo>
                <a:cubicBezTo>
                  <a:pt x="760353" y="313092"/>
                  <a:pt x="758482" y="317700"/>
                  <a:pt x="756707" y="322383"/>
                </a:cubicBezTo>
                <a:cubicBezTo>
                  <a:pt x="754933" y="327066"/>
                  <a:pt x="752703" y="331643"/>
                  <a:pt x="750020" y="336114"/>
                </a:cubicBezTo>
                <a:cubicBezTo>
                  <a:pt x="747816" y="337768"/>
                  <a:pt x="745121" y="338719"/>
                  <a:pt x="741933" y="338967"/>
                </a:cubicBezTo>
                <a:cubicBezTo>
                  <a:pt x="738746" y="339215"/>
                  <a:pt x="735852" y="339728"/>
                  <a:pt x="733253" y="340507"/>
                </a:cubicBezTo>
                <a:cubicBezTo>
                  <a:pt x="730528" y="340895"/>
                  <a:pt x="728572" y="341878"/>
                  <a:pt x="727384" y="343457"/>
                </a:cubicBezTo>
                <a:cubicBezTo>
                  <a:pt x="726197" y="345036"/>
                  <a:pt x="725264" y="346622"/>
                  <a:pt x="724584" y="348213"/>
                </a:cubicBezTo>
                <a:cubicBezTo>
                  <a:pt x="723939" y="349017"/>
                  <a:pt x="723620" y="349361"/>
                  <a:pt x="723628" y="349244"/>
                </a:cubicBezTo>
                <a:cubicBezTo>
                  <a:pt x="723637" y="349128"/>
                  <a:pt x="723637" y="349038"/>
                  <a:pt x="723628" y="348976"/>
                </a:cubicBezTo>
                <a:cubicBezTo>
                  <a:pt x="724328" y="340118"/>
                  <a:pt x="725947" y="334089"/>
                  <a:pt x="728484" y="330889"/>
                </a:cubicBezTo>
                <a:cubicBezTo>
                  <a:pt x="731022" y="327689"/>
                  <a:pt x="736998" y="324229"/>
                  <a:pt x="746414" y="320509"/>
                </a:cubicBezTo>
                <a:cubicBezTo>
                  <a:pt x="750260" y="318438"/>
                  <a:pt x="754030" y="315706"/>
                  <a:pt x="757723" y="312312"/>
                </a:cubicBezTo>
                <a:cubicBezTo>
                  <a:pt x="761417" y="308919"/>
                  <a:pt x="762507" y="304205"/>
                  <a:pt x="760995" y="298172"/>
                </a:cubicBezTo>
                <a:cubicBezTo>
                  <a:pt x="759311" y="295648"/>
                  <a:pt x="757077" y="293688"/>
                  <a:pt x="754292" y="292295"/>
                </a:cubicBezTo>
                <a:cubicBezTo>
                  <a:pt x="751507" y="290901"/>
                  <a:pt x="748750" y="290204"/>
                  <a:pt x="746021" y="290204"/>
                </a:cubicBezTo>
                <a:cubicBezTo>
                  <a:pt x="744696" y="290121"/>
                  <a:pt x="743709" y="289134"/>
                  <a:pt x="743061" y="287245"/>
                </a:cubicBezTo>
                <a:cubicBezTo>
                  <a:pt x="742413" y="285355"/>
                  <a:pt x="743356" y="283973"/>
                  <a:pt x="745889" y="283098"/>
                </a:cubicBezTo>
                <a:close/>
                <a:moveTo>
                  <a:pt x="404990" y="269137"/>
                </a:moveTo>
                <a:cubicBezTo>
                  <a:pt x="387883" y="273507"/>
                  <a:pt x="373134" y="277660"/>
                  <a:pt x="360743" y="281595"/>
                </a:cubicBezTo>
                <a:cubicBezTo>
                  <a:pt x="348352" y="285530"/>
                  <a:pt x="334157" y="291910"/>
                  <a:pt x="318158" y="300735"/>
                </a:cubicBezTo>
                <a:cubicBezTo>
                  <a:pt x="315446" y="306159"/>
                  <a:pt x="312900" y="310788"/>
                  <a:pt x="310521" y="314621"/>
                </a:cubicBezTo>
                <a:cubicBezTo>
                  <a:pt x="308142" y="318455"/>
                  <a:pt x="306036" y="322600"/>
                  <a:pt x="304203" y="327058"/>
                </a:cubicBezTo>
                <a:cubicBezTo>
                  <a:pt x="301903" y="331879"/>
                  <a:pt x="301440" y="335265"/>
                  <a:pt x="302815" y="337217"/>
                </a:cubicBezTo>
                <a:cubicBezTo>
                  <a:pt x="304190" y="339169"/>
                  <a:pt x="306475" y="341005"/>
                  <a:pt x="309671" y="342726"/>
                </a:cubicBezTo>
                <a:cubicBezTo>
                  <a:pt x="313000" y="348721"/>
                  <a:pt x="316389" y="354594"/>
                  <a:pt x="319839" y="360344"/>
                </a:cubicBezTo>
                <a:cubicBezTo>
                  <a:pt x="323289" y="366093"/>
                  <a:pt x="329330" y="371451"/>
                  <a:pt x="337963" y="376418"/>
                </a:cubicBezTo>
                <a:cubicBezTo>
                  <a:pt x="338513" y="377038"/>
                  <a:pt x="338658" y="378559"/>
                  <a:pt x="338397" y="380980"/>
                </a:cubicBezTo>
                <a:cubicBezTo>
                  <a:pt x="338137" y="383401"/>
                  <a:pt x="338965" y="386221"/>
                  <a:pt x="340882" y="389442"/>
                </a:cubicBezTo>
                <a:cubicBezTo>
                  <a:pt x="344952" y="392833"/>
                  <a:pt x="349431" y="394814"/>
                  <a:pt x="354318" y="395385"/>
                </a:cubicBezTo>
                <a:cubicBezTo>
                  <a:pt x="359206" y="395956"/>
                  <a:pt x="363595" y="395912"/>
                  <a:pt x="367486" y="395254"/>
                </a:cubicBezTo>
                <a:cubicBezTo>
                  <a:pt x="378356" y="389554"/>
                  <a:pt x="388689" y="385932"/>
                  <a:pt x="398484" y="384386"/>
                </a:cubicBezTo>
                <a:cubicBezTo>
                  <a:pt x="408280" y="382840"/>
                  <a:pt x="418994" y="380130"/>
                  <a:pt x="430626" y="376255"/>
                </a:cubicBezTo>
                <a:cubicBezTo>
                  <a:pt x="437780" y="371701"/>
                  <a:pt x="441741" y="366792"/>
                  <a:pt x="442510" y="361528"/>
                </a:cubicBezTo>
                <a:cubicBezTo>
                  <a:pt x="443279" y="356264"/>
                  <a:pt x="440049" y="351834"/>
                  <a:pt x="432820" y="348238"/>
                </a:cubicBezTo>
                <a:cubicBezTo>
                  <a:pt x="431157" y="346763"/>
                  <a:pt x="430000" y="345779"/>
                  <a:pt x="429348" y="345285"/>
                </a:cubicBezTo>
                <a:cubicBezTo>
                  <a:pt x="428696" y="344791"/>
                  <a:pt x="429101" y="344251"/>
                  <a:pt x="430564" y="343663"/>
                </a:cubicBezTo>
                <a:cubicBezTo>
                  <a:pt x="435538" y="339276"/>
                  <a:pt x="440210" y="334147"/>
                  <a:pt x="444578" y="328277"/>
                </a:cubicBezTo>
                <a:cubicBezTo>
                  <a:pt x="448947" y="322406"/>
                  <a:pt x="451910" y="316665"/>
                  <a:pt x="453469" y="311053"/>
                </a:cubicBezTo>
                <a:cubicBezTo>
                  <a:pt x="453469" y="305191"/>
                  <a:pt x="452022" y="299944"/>
                  <a:pt x="449128" y="295313"/>
                </a:cubicBezTo>
                <a:cubicBezTo>
                  <a:pt x="446235" y="290682"/>
                  <a:pt x="442388" y="286102"/>
                  <a:pt x="437588" y="281573"/>
                </a:cubicBezTo>
                <a:cubicBezTo>
                  <a:pt x="432276" y="275078"/>
                  <a:pt x="426521" y="271232"/>
                  <a:pt x="420324" y="270037"/>
                </a:cubicBezTo>
                <a:cubicBezTo>
                  <a:pt x="414126" y="268841"/>
                  <a:pt x="409015" y="268541"/>
                  <a:pt x="404990" y="269137"/>
                </a:cubicBezTo>
                <a:close/>
                <a:moveTo>
                  <a:pt x="715373" y="233057"/>
                </a:moveTo>
                <a:lnTo>
                  <a:pt x="699973" y="251988"/>
                </a:lnTo>
                <a:cubicBezTo>
                  <a:pt x="691874" y="260729"/>
                  <a:pt x="683114" y="269299"/>
                  <a:pt x="673694" y="277699"/>
                </a:cubicBezTo>
                <a:cubicBezTo>
                  <a:pt x="669782" y="280807"/>
                  <a:pt x="666247" y="281615"/>
                  <a:pt x="663091" y="280124"/>
                </a:cubicBezTo>
                <a:lnTo>
                  <a:pt x="652523" y="276162"/>
                </a:lnTo>
                <a:lnTo>
                  <a:pt x="653233" y="276005"/>
                </a:lnTo>
                <a:cubicBezTo>
                  <a:pt x="656811" y="273772"/>
                  <a:pt x="660778" y="271666"/>
                  <a:pt x="665132" y="269687"/>
                </a:cubicBezTo>
                <a:cubicBezTo>
                  <a:pt x="669486" y="267708"/>
                  <a:pt x="674258" y="264733"/>
                  <a:pt x="679450" y="260762"/>
                </a:cubicBezTo>
                <a:cubicBezTo>
                  <a:pt x="684753" y="255204"/>
                  <a:pt x="690017" y="250858"/>
                  <a:pt x="695239" y="247722"/>
                </a:cubicBezTo>
                <a:cubicBezTo>
                  <a:pt x="700462" y="244587"/>
                  <a:pt x="706096" y="240391"/>
                  <a:pt x="712141" y="235133"/>
                </a:cubicBezTo>
                <a:close/>
                <a:moveTo>
                  <a:pt x="244213" y="160787"/>
                </a:moveTo>
                <a:lnTo>
                  <a:pt x="234726" y="162681"/>
                </a:lnTo>
                <a:cubicBezTo>
                  <a:pt x="221289" y="172759"/>
                  <a:pt x="211764" y="183274"/>
                  <a:pt x="206149" y="194226"/>
                </a:cubicBezTo>
                <a:cubicBezTo>
                  <a:pt x="200535" y="205177"/>
                  <a:pt x="195378" y="215850"/>
                  <a:pt x="190678" y="226246"/>
                </a:cubicBezTo>
                <a:cubicBezTo>
                  <a:pt x="189966" y="227241"/>
                  <a:pt x="188637" y="228063"/>
                  <a:pt x="186691" y="228711"/>
                </a:cubicBezTo>
                <a:cubicBezTo>
                  <a:pt x="184745" y="229359"/>
                  <a:pt x="183550" y="231718"/>
                  <a:pt x="183104" y="235789"/>
                </a:cubicBezTo>
                <a:cubicBezTo>
                  <a:pt x="183104" y="239134"/>
                  <a:pt x="183736" y="241932"/>
                  <a:pt x="185001" y="244182"/>
                </a:cubicBezTo>
                <a:cubicBezTo>
                  <a:pt x="186265" y="246432"/>
                  <a:pt x="187201" y="248590"/>
                  <a:pt x="187810" y="250657"/>
                </a:cubicBezTo>
                <a:cubicBezTo>
                  <a:pt x="187547" y="253052"/>
                  <a:pt x="187285" y="255845"/>
                  <a:pt x="187022" y="259034"/>
                </a:cubicBezTo>
                <a:cubicBezTo>
                  <a:pt x="186760" y="262224"/>
                  <a:pt x="187583" y="265524"/>
                  <a:pt x="189491" y="268937"/>
                </a:cubicBezTo>
                <a:cubicBezTo>
                  <a:pt x="189995" y="272753"/>
                  <a:pt x="191155" y="276477"/>
                  <a:pt x="192972" y="280108"/>
                </a:cubicBezTo>
                <a:cubicBezTo>
                  <a:pt x="194789" y="283739"/>
                  <a:pt x="198353" y="287379"/>
                  <a:pt x="203665" y="291029"/>
                </a:cubicBezTo>
                <a:cubicBezTo>
                  <a:pt x="209573" y="291629"/>
                  <a:pt x="215022" y="291702"/>
                  <a:pt x="220011" y="291248"/>
                </a:cubicBezTo>
                <a:cubicBezTo>
                  <a:pt x="222506" y="291021"/>
                  <a:pt x="224991" y="290092"/>
                  <a:pt x="227468" y="288461"/>
                </a:cubicBezTo>
                <a:lnTo>
                  <a:pt x="231745" y="284416"/>
                </a:lnTo>
                <a:lnTo>
                  <a:pt x="227795" y="297804"/>
                </a:lnTo>
                <a:cubicBezTo>
                  <a:pt x="225878" y="303291"/>
                  <a:pt x="223789" y="308753"/>
                  <a:pt x="221526" y="314190"/>
                </a:cubicBezTo>
                <a:cubicBezTo>
                  <a:pt x="214823" y="318119"/>
                  <a:pt x="208027" y="321423"/>
                  <a:pt x="201140" y="324102"/>
                </a:cubicBezTo>
                <a:cubicBezTo>
                  <a:pt x="194253" y="326781"/>
                  <a:pt x="186939" y="329841"/>
                  <a:pt x="179198" y="333283"/>
                </a:cubicBezTo>
                <a:cubicBezTo>
                  <a:pt x="177740" y="334741"/>
                  <a:pt x="176217" y="335735"/>
                  <a:pt x="174629" y="336264"/>
                </a:cubicBezTo>
                <a:cubicBezTo>
                  <a:pt x="173042" y="336793"/>
                  <a:pt x="171904" y="337126"/>
                  <a:pt x="171217" y="337264"/>
                </a:cubicBezTo>
                <a:cubicBezTo>
                  <a:pt x="165697" y="336739"/>
                  <a:pt x="160476" y="336476"/>
                  <a:pt x="155556" y="336476"/>
                </a:cubicBezTo>
                <a:cubicBezTo>
                  <a:pt x="150635" y="336476"/>
                  <a:pt x="144777" y="337124"/>
                  <a:pt x="137982" y="338420"/>
                </a:cubicBezTo>
                <a:cubicBezTo>
                  <a:pt x="134469" y="341932"/>
                  <a:pt x="132033" y="345482"/>
                  <a:pt x="130673" y="349069"/>
                </a:cubicBezTo>
                <a:cubicBezTo>
                  <a:pt x="129312" y="352657"/>
                  <a:pt x="127463" y="357288"/>
                  <a:pt x="125126" y="362962"/>
                </a:cubicBezTo>
                <a:lnTo>
                  <a:pt x="124276" y="374343"/>
                </a:lnTo>
                <a:cubicBezTo>
                  <a:pt x="127176" y="379913"/>
                  <a:pt x="131656" y="383518"/>
                  <a:pt x="137716" y="385158"/>
                </a:cubicBezTo>
                <a:cubicBezTo>
                  <a:pt x="143776" y="386797"/>
                  <a:pt x="148841" y="386707"/>
                  <a:pt x="152912" y="384886"/>
                </a:cubicBezTo>
                <a:cubicBezTo>
                  <a:pt x="160324" y="381299"/>
                  <a:pt x="167440" y="378153"/>
                  <a:pt x="174261" y="375449"/>
                </a:cubicBezTo>
                <a:cubicBezTo>
                  <a:pt x="181081" y="372745"/>
                  <a:pt x="188485" y="370462"/>
                  <a:pt x="196472" y="368599"/>
                </a:cubicBezTo>
                <a:cubicBezTo>
                  <a:pt x="197463" y="367683"/>
                  <a:pt x="198032" y="367330"/>
                  <a:pt x="198178" y="367540"/>
                </a:cubicBezTo>
                <a:cubicBezTo>
                  <a:pt x="198324" y="367750"/>
                  <a:pt x="198065" y="368456"/>
                  <a:pt x="197403" y="369656"/>
                </a:cubicBezTo>
                <a:cubicBezTo>
                  <a:pt x="194661" y="374634"/>
                  <a:pt x="191913" y="379341"/>
                  <a:pt x="189157" y="383777"/>
                </a:cubicBezTo>
                <a:cubicBezTo>
                  <a:pt x="186400" y="388212"/>
                  <a:pt x="182291" y="391931"/>
                  <a:pt x="176829" y="394935"/>
                </a:cubicBezTo>
                <a:cubicBezTo>
                  <a:pt x="173734" y="402372"/>
                  <a:pt x="171592" y="409455"/>
                  <a:pt x="170405" y="416184"/>
                </a:cubicBezTo>
                <a:cubicBezTo>
                  <a:pt x="169217" y="422913"/>
                  <a:pt x="168482" y="429794"/>
                  <a:pt x="168198" y="436826"/>
                </a:cubicBezTo>
                <a:cubicBezTo>
                  <a:pt x="168198" y="438364"/>
                  <a:pt x="168351" y="440195"/>
                  <a:pt x="168655" y="442320"/>
                </a:cubicBezTo>
                <a:cubicBezTo>
                  <a:pt x="168959" y="444445"/>
                  <a:pt x="169736" y="446445"/>
                  <a:pt x="170986" y="448319"/>
                </a:cubicBezTo>
                <a:cubicBezTo>
                  <a:pt x="173656" y="455161"/>
                  <a:pt x="177572" y="459369"/>
                  <a:pt x="182732" y="460944"/>
                </a:cubicBezTo>
                <a:cubicBezTo>
                  <a:pt x="187892" y="462519"/>
                  <a:pt x="194114" y="460367"/>
                  <a:pt x="201396" y="454488"/>
                </a:cubicBezTo>
                <a:cubicBezTo>
                  <a:pt x="211321" y="442143"/>
                  <a:pt x="219205" y="431255"/>
                  <a:pt x="225048" y="421824"/>
                </a:cubicBezTo>
                <a:cubicBezTo>
                  <a:pt x="230892" y="412394"/>
                  <a:pt x="236078" y="401954"/>
                  <a:pt x="240607" y="390504"/>
                </a:cubicBezTo>
                <a:lnTo>
                  <a:pt x="249943" y="372618"/>
                </a:lnTo>
                <a:cubicBezTo>
                  <a:pt x="250481" y="371410"/>
                  <a:pt x="250629" y="370732"/>
                  <a:pt x="250387" y="370584"/>
                </a:cubicBezTo>
                <a:cubicBezTo>
                  <a:pt x="250146" y="370436"/>
                  <a:pt x="250391" y="371041"/>
                  <a:pt x="251125" y="372399"/>
                </a:cubicBezTo>
                <a:cubicBezTo>
                  <a:pt x="254391" y="378115"/>
                  <a:pt x="257594" y="383328"/>
                  <a:pt x="260733" y="388036"/>
                </a:cubicBezTo>
                <a:cubicBezTo>
                  <a:pt x="263873" y="392744"/>
                  <a:pt x="267313" y="398173"/>
                  <a:pt x="271055" y="404322"/>
                </a:cubicBezTo>
                <a:lnTo>
                  <a:pt x="276511" y="408878"/>
                </a:lnTo>
                <a:cubicBezTo>
                  <a:pt x="281477" y="411674"/>
                  <a:pt x="286318" y="413142"/>
                  <a:pt x="291035" y="413284"/>
                </a:cubicBezTo>
                <a:cubicBezTo>
                  <a:pt x="295751" y="413426"/>
                  <a:pt x="299720" y="410311"/>
                  <a:pt x="302940" y="403941"/>
                </a:cubicBezTo>
                <a:cubicBezTo>
                  <a:pt x="307232" y="399650"/>
                  <a:pt x="309468" y="396153"/>
                  <a:pt x="309649" y="393451"/>
                </a:cubicBezTo>
                <a:cubicBezTo>
                  <a:pt x="309830" y="390749"/>
                  <a:pt x="309000" y="386940"/>
                  <a:pt x="307159" y="382024"/>
                </a:cubicBezTo>
                <a:cubicBezTo>
                  <a:pt x="303742" y="376045"/>
                  <a:pt x="300039" y="370861"/>
                  <a:pt x="296050" y="366471"/>
                </a:cubicBezTo>
                <a:cubicBezTo>
                  <a:pt x="292061" y="362082"/>
                  <a:pt x="287443" y="357265"/>
                  <a:pt x="282198" y="352019"/>
                </a:cubicBezTo>
                <a:lnTo>
                  <a:pt x="267680" y="346894"/>
                </a:lnTo>
                <a:cubicBezTo>
                  <a:pt x="264213" y="345411"/>
                  <a:pt x="262480" y="343990"/>
                  <a:pt x="262480" y="342632"/>
                </a:cubicBezTo>
                <a:cubicBezTo>
                  <a:pt x="262480" y="341274"/>
                  <a:pt x="263370" y="339014"/>
                  <a:pt x="265149" y="335851"/>
                </a:cubicBezTo>
                <a:cubicBezTo>
                  <a:pt x="269003" y="331997"/>
                  <a:pt x="273538" y="328099"/>
                  <a:pt x="278754" y="324155"/>
                </a:cubicBezTo>
                <a:cubicBezTo>
                  <a:pt x="283971" y="320212"/>
                  <a:pt x="289701" y="315413"/>
                  <a:pt x="295947" y="309759"/>
                </a:cubicBezTo>
                <a:lnTo>
                  <a:pt x="309027" y="296679"/>
                </a:lnTo>
                <a:cubicBezTo>
                  <a:pt x="312248" y="290787"/>
                  <a:pt x="312753" y="286110"/>
                  <a:pt x="310543" y="282645"/>
                </a:cubicBezTo>
                <a:cubicBezTo>
                  <a:pt x="308333" y="279181"/>
                  <a:pt x="304044" y="277272"/>
                  <a:pt x="297678" y="276917"/>
                </a:cubicBezTo>
                <a:cubicBezTo>
                  <a:pt x="293074" y="277188"/>
                  <a:pt x="289409" y="277379"/>
                  <a:pt x="286682" y="277489"/>
                </a:cubicBezTo>
                <a:cubicBezTo>
                  <a:pt x="283955" y="277600"/>
                  <a:pt x="280602" y="277655"/>
                  <a:pt x="276623" y="277655"/>
                </a:cubicBezTo>
                <a:cubicBezTo>
                  <a:pt x="273577" y="276401"/>
                  <a:pt x="271113" y="274586"/>
                  <a:pt x="269230" y="272211"/>
                </a:cubicBezTo>
                <a:cubicBezTo>
                  <a:pt x="267347" y="269837"/>
                  <a:pt x="268174" y="267401"/>
                  <a:pt x="271711" y="264906"/>
                </a:cubicBezTo>
                <a:cubicBezTo>
                  <a:pt x="278261" y="259931"/>
                  <a:pt x="284019" y="255208"/>
                  <a:pt x="288985" y="250738"/>
                </a:cubicBezTo>
                <a:cubicBezTo>
                  <a:pt x="293951" y="246267"/>
                  <a:pt x="300295" y="242832"/>
                  <a:pt x="308015" y="240432"/>
                </a:cubicBezTo>
                <a:cubicBezTo>
                  <a:pt x="313215" y="235183"/>
                  <a:pt x="315642" y="230227"/>
                  <a:pt x="315296" y="225564"/>
                </a:cubicBezTo>
                <a:cubicBezTo>
                  <a:pt x="314950" y="220902"/>
                  <a:pt x="311302" y="217248"/>
                  <a:pt x="304353" y="214603"/>
                </a:cubicBezTo>
                <a:cubicBezTo>
                  <a:pt x="299440" y="212453"/>
                  <a:pt x="294955" y="211378"/>
                  <a:pt x="290897" y="211378"/>
                </a:cubicBezTo>
                <a:cubicBezTo>
                  <a:pt x="286839" y="211378"/>
                  <a:pt x="282104" y="211536"/>
                  <a:pt x="276692" y="211853"/>
                </a:cubicBezTo>
                <a:cubicBezTo>
                  <a:pt x="270017" y="213628"/>
                  <a:pt x="266111" y="212625"/>
                  <a:pt x="264974" y="208843"/>
                </a:cubicBezTo>
                <a:cubicBezTo>
                  <a:pt x="263836" y="205062"/>
                  <a:pt x="264182" y="199131"/>
                  <a:pt x="266011" y="191048"/>
                </a:cubicBezTo>
                <a:cubicBezTo>
                  <a:pt x="266736" y="189381"/>
                  <a:pt x="267177" y="186220"/>
                  <a:pt x="267333" y="181564"/>
                </a:cubicBezTo>
                <a:cubicBezTo>
                  <a:pt x="267489" y="176908"/>
                  <a:pt x="265455" y="172676"/>
                  <a:pt x="261230" y="168868"/>
                </a:cubicBezTo>
                <a:cubicBezTo>
                  <a:pt x="256360" y="168297"/>
                  <a:pt x="253304" y="167725"/>
                  <a:pt x="252062" y="167152"/>
                </a:cubicBezTo>
                <a:cubicBezTo>
                  <a:pt x="250821" y="166579"/>
                  <a:pt x="248204" y="164458"/>
                  <a:pt x="244213" y="160787"/>
                </a:cubicBezTo>
                <a:close/>
                <a:moveTo>
                  <a:pt x="703154" y="157062"/>
                </a:moveTo>
                <a:lnTo>
                  <a:pt x="697242" y="159593"/>
                </a:lnTo>
                <a:cubicBezTo>
                  <a:pt x="683156" y="165826"/>
                  <a:pt x="669984" y="175466"/>
                  <a:pt x="657726" y="188513"/>
                </a:cubicBezTo>
                <a:cubicBezTo>
                  <a:pt x="645468" y="201561"/>
                  <a:pt x="633146" y="213140"/>
                  <a:pt x="620760" y="223252"/>
                </a:cubicBezTo>
                <a:cubicBezTo>
                  <a:pt x="608423" y="227173"/>
                  <a:pt x="600173" y="236138"/>
                  <a:pt x="596011" y="250147"/>
                </a:cubicBezTo>
                <a:cubicBezTo>
                  <a:pt x="591849" y="264157"/>
                  <a:pt x="594826" y="275815"/>
                  <a:pt x="604942" y="285123"/>
                </a:cubicBezTo>
                <a:cubicBezTo>
                  <a:pt x="609241" y="287044"/>
                  <a:pt x="613131" y="287874"/>
                  <a:pt x="616610" y="287614"/>
                </a:cubicBezTo>
                <a:lnTo>
                  <a:pt x="627710" y="288002"/>
                </a:lnTo>
                <a:lnTo>
                  <a:pt x="617585" y="314540"/>
                </a:lnTo>
                <a:cubicBezTo>
                  <a:pt x="615589" y="323519"/>
                  <a:pt x="615022" y="332499"/>
                  <a:pt x="615885" y="341482"/>
                </a:cubicBezTo>
                <a:cubicBezTo>
                  <a:pt x="617610" y="359448"/>
                  <a:pt x="623345" y="377338"/>
                  <a:pt x="633090" y="395154"/>
                </a:cubicBezTo>
                <a:lnTo>
                  <a:pt x="638353" y="398162"/>
                </a:lnTo>
                <a:lnTo>
                  <a:pt x="636627" y="399379"/>
                </a:lnTo>
                <a:cubicBezTo>
                  <a:pt x="627694" y="404928"/>
                  <a:pt x="619757" y="408578"/>
                  <a:pt x="612816" y="410328"/>
                </a:cubicBezTo>
                <a:cubicBezTo>
                  <a:pt x="605875" y="412078"/>
                  <a:pt x="597603" y="414190"/>
                  <a:pt x="587999" y="416665"/>
                </a:cubicBezTo>
                <a:cubicBezTo>
                  <a:pt x="578408" y="419282"/>
                  <a:pt x="572238" y="422575"/>
                  <a:pt x="569491" y="426546"/>
                </a:cubicBezTo>
                <a:cubicBezTo>
                  <a:pt x="566743" y="430516"/>
                  <a:pt x="564100" y="436872"/>
                  <a:pt x="561563" y="445613"/>
                </a:cubicBezTo>
                <a:cubicBezTo>
                  <a:pt x="560755" y="454571"/>
                  <a:pt x="562833" y="460544"/>
                  <a:pt x="567797" y="463531"/>
                </a:cubicBezTo>
                <a:cubicBezTo>
                  <a:pt x="572761" y="466518"/>
                  <a:pt x="579602" y="466656"/>
                  <a:pt x="588318" y="463944"/>
                </a:cubicBezTo>
                <a:cubicBezTo>
                  <a:pt x="592076" y="460448"/>
                  <a:pt x="595425" y="458029"/>
                  <a:pt x="598364" y="456688"/>
                </a:cubicBezTo>
                <a:cubicBezTo>
                  <a:pt x="601303" y="455346"/>
                  <a:pt x="605444" y="453613"/>
                  <a:pt x="610785" y="451488"/>
                </a:cubicBezTo>
                <a:cubicBezTo>
                  <a:pt x="618443" y="446209"/>
                  <a:pt x="625522" y="442070"/>
                  <a:pt x="632021" y="439070"/>
                </a:cubicBezTo>
                <a:cubicBezTo>
                  <a:pt x="638521" y="436070"/>
                  <a:pt x="645714" y="434062"/>
                  <a:pt x="653601" y="433045"/>
                </a:cubicBezTo>
                <a:lnTo>
                  <a:pt x="659562" y="429079"/>
                </a:lnTo>
                <a:lnTo>
                  <a:pt x="669444" y="438944"/>
                </a:lnTo>
                <a:cubicBezTo>
                  <a:pt x="673288" y="441737"/>
                  <a:pt x="677277" y="443632"/>
                  <a:pt x="681412" y="444629"/>
                </a:cubicBezTo>
                <a:cubicBezTo>
                  <a:pt x="689682" y="446623"/>
                  <a:pt x="697801" y="441878"/>
                  <a:pt x="705767" y="430396"/>
                </a:cubicBezTo>
                <a:cubicBezTo>
                  <a:pt x="709392" y="425921"/>
                  <a:pt x="712821" y="423293"/>
                  <a:pt x="716054" y="422512"/>
                </a:cubicBezTo>
                <a:cubicBezTo>
                  <a:pt x="719287" y="421730"/>
                  <a:pt x="723089" y="423879"/>
                  <a:pt x="727459" y="428958"/>
                </a:cubicBezTo>
                <a:cubicBezTo>
                  <a:pt x="737934" y="436170"/>
                  <a:pt x="746698" y="439562"/>
                  <a:pt x="753751" y="439133"/>
                </a:cubicBezTo>
                <a:cubicBezTo>
                  <a:pt x="760805" y="438703"/>
                  <a:pt x="768834" y="434268"/>
                  <a:pt x="777837" y="425827"/>
                </a:cubicBezTo>
                <a:cubicBezTo>
                  <a:pt x="782925" y="422132"/>
                  <a:pt x="788044" y="419675"/>
                  <a:pt x="793196" y="418459"/>
                </a:cubicBezTo>
                <a:cubicBezTo>
                  <a:pt x="798348" y="417242"/>
                  <a:pt x="802511" y="419990"/>
                  <a:pt x="805686" y="426702"/>
                </a:cubicBezTo>
                <a:cubicBezTo>
                  <a:pt x="808331" y="432268"/>
                  <a:pt x="812787" y="436262"/>
                  <a:pt x="819054" y="438683"/>
                </a:cubicBezTo>
                <a:cubicBezTo>
                  <a:pt x="825320" y="441103"/>
                  <a:pt x="830824" y="443366"/>
                  <a:pt x="835565" y="445470"/>
                </a:cubicBezTo>
                <a:cubicBezTo>
                  <a:pt x="841011" y="447649"/>
                  <a:pt x="846926" y="449205"/>
                  <a:pt x="853311" y="450138"/>
                </a:cubicBezTo>
                <a:cubicBezTo>
                  <a:pt x="859696" y="451071"/>
                  <a:pt x="866076" y="448305"/>
                  <a:pt x="872450" y="441839"/>
                </a:cubicBezTo>
                <a:cubicBezTo>
                  <a:pt x="874434" y="426852"/>
                  <a:pt x="868867" y="415380"/>
                  <a:pt x="855751" y="407422"/>
                </a:cubicBezTo>
                <a:cubicBezTo>
                  <a:pt x="842636" y="399464"/>
                  <a:pt x="830865" y="394935"/>
                  <a:pt x="820441" y="393835"/>
                </a:cubicBezTo>
                <a:cubicBezTo>
                  <a:pt x="817041" y="393590"/>
                  <a:pt x="813883" y="392988"/>
                  <a:pt x="810967" y="392032"/>
                </a:cubicBezTo>
                <a:cubicBezTo>
                  <a:pt x="808050" y="391076"/>
                  <a:pt x="804267" y="391552"/>
                  <a:pt x="799617" y="393460"/>
                </a:cubicBezTo>
                <a:lnTo>
                  <a:pt x="792337" y="398316"/>
                </a:lnTo>
                <a:cubicBezTo>
                  <a:pt x="785874" y="401429"/>
                  <a:pt x="779292" y="404209"/>
                  <a:pt x="772591" y="406656"/>
                </a:cubicBezTo>
                <a:cubicBezTo>
                  <a:pt x="765889" y="409104"/>
                  <a:pt x="759284" y="410809"/>
                  <a:pt x="752776" y="411772"/>
                </a:cubicBezTo>
                <a:cubicBezTo>
                  <a:pt x="749956" y="411772"/>
                  <a:pt x="746991" y="410996"/>
                  <a:pt x="743883" y="409444"/>
                </a:cubicBezTo>
                <a:cubicBezTo>
                  <a:pt x="740775" y="407892"/>
                  <a:pt x="737227" y="406116"/>
                  <a:pt x="733240" y="404116"/>
                </a:cubicBezTo>
                <a:cubicBezTo>
                  <a:pt x="724432" y="402687"/>
                  <a:pt x="716712" y="403291"/>
                  <a:pt x="710079" y="405928"/>
                </a:cubicBezTo>
                <a:cubicBezTo>
                  <a:pt x="703446" y="408566"/>
                  <a:pt x="696957" y="411593"/>
                  <a:pt x="690611" y="415009"/>
                </a:cubicBezTo>
                <a:cubicBezTo>
                  <a:pt x="686878" y="417146"/>
                  <a:pt x="683925" y="418448"/>
                  <a:pt x="681753" y="418915"/>
                </a:cubicBezTo>
                <a:cubicBezTo>
                  <a:pt x="679580" y="419382"/>
                  <a:pt x="677377" y="418392"/>
                  <a:pt x="675144" y="415946"/>
                </a:cubicBezTo>
                <a:cubicBezTo>
                  <a:pt x="669482" y="412642"/>
                  <a:pt x="664947" y="412265"/>
                  <a:pt x="661541" y="414815"/>
                </a:cubicBezTo>
                <a:lnTo>
                  <a:pt x="658261" y="419881"/>
                </a:lnTo>
                <a:lnTo>
                  <a:pt x="653832" y="414597"/>
                </a:lnTo>
                <a:cubicBezTo>
                  <a:pt x="652333" y="414097"/>
                  <a:pt x="651503" y="414014"/>
                  <a:pt x="651345" y="414350"/>
                </a:cubicBezTo>
                <a:cubicBezTo>
                  <a:pt x="651187" y="414685"/>
                  <a:pt x="651818" y="414584"/>
                  <a:pt x="653239" y="414047"/>
                </a:cubicBezTo>
                <a:cubicBezTo>
                  <a:pt x="659705" y="407322"/>
                  <a:pt x="665720" y="402509"/>
                  <a:pt x="671285" y="399607"/>
                </a:cubicBezTo>
                <a:cubicBezTo>
                  <a:pt x="676849" y="396705"/>
                  <a:pt x="682752" y="394504"/>
                  <a:pt x="688993" y="393004"/>
                </a:cubicBezTo>
                <a:cubicBezTo>
                  <a:pt x="699255" y="389196"/>
                  <a:pt x="708381" y="385632"/>
                  <a:pt x="716372" y="382311"/>
                </a:cubicBezTo>
                <a:cubicBezTo>
                  <a:pt x="724364" y="378990"/>
                  <a:pt x="732636" y="376576"/>
                  <a:pt x="741190" y="375068"/>
                </a:cubicBezTo>
                <a:cubicBezTo>
                  <a:pt x="742223" y="375068"/>
                  <a:pt x="743801" y="376068"/>
                  <a:pt x="745924" y="378068"/>
                </a:cubicBezTo>
                <a:cubicBezTo>
                  <a:pt x="748047" y="380067"/>
                  <a:pt x="751093" y="381419"/>
                  <a:pt x="755064" y="382124"/>
                </a:cubicBezTo>
                <a:cubicBezTo>
                  <a:pt x="766601" y="381503"/>
                  <a:pt x="774970" y="375811"/>
                  <a:pt x="780172" y="365050"/>
                </a:cubicBezTo>
                <a:cubicBezTo>
                  <a:pt x="785373" y="354288"/>
                  <a:pt x="789785" y="345603"/>
                  <a:pt x="793405" y="338995"/>
                </a:cubicBezTo>
                <a:cubicBezTo>
                  <a:pt x="798680" y="330108"/>
                  <a:pt x="802699" y="321848"/>
                  <a:pt x="805464" y="314215"/>
                </a:cubicBezTo>
                <a:cubicBezTo>
                  <a:pt x="808228" y="306582"/>
                  <a:pt x="810721" y="298604"/>
                  <a:pt x="812942" y="290279"/>
                </a:cubicBezTo>
                <a:cubicBezTo>
                  <a:pt x="814075" y="284125"/>
                  <a:pt x="812919" y="277859"/>
                  <a:pt x="809473" y="271480"/>
                </a:cubicBezTo>
                <a:cubicBezTo>
                  <a:pt x="806027" y="265102"/>
                  <a:pt x="800826" y="260921"/>
                  <a:pt x="793868" y="258937"/>
                </a:cubicBezTo>
                <a:cubicBezTo>
                  <a:pt x="786456" y="257821"/>
                  <a:pt x="779749" y="256681"/>
                  <a:pt x="773747" y="255519"/>
                </a:cubicBezTo>
                <a:cubicBezTo>
                  <a:pt x="767745" y="254356"/>
                  <a:pt x="760849" y="253919"/>
                  <a:pt x="753058" y="254206"/>
                </a:cubicBezTo>
                <a:cubicBezTo>
                  <a:pt x="749200" y="254719"/>
                  <a:pt x="745498" y="255435"/>
                  <a:pt x="741952" y="256356"/>
                </a:cubicBezTo>
                <a:cubicBezTo>
                  <a:pt x="738406" y="257277"/>
                  <a:pt x="735094" y="257848"/>
                  <a:pt x="732015" y="258069"/>
                </a:cubicBezTo>
                <a:cubicBezTo>
                  <a:pt x="730099" y="257723"/>
                  <a:pt x="728684" y="257532"/>
                  <a:pt x="727772" y="257497"/>
                </a:cubicBezTo>
                <a:cubicBezTo>
                  <a:pt x="726859" y="257461"/>
                  <a:pt x="727697" y="257033"/>
                  <a:pt x="730284" y="256212"/>
                </a:cubicBezTo>
                <a:cubicBezTo>
                  <a:pt x="737329" y="248905"/>
                  <a:pt x="744490" y="242391"/>
                  <a:pt x="751767" y="236673"/>
                </a:cubicBezTo>
                <a:cubicBezTo>
                  <a:pt x="759044" y="230955"/>
                  <a:pt x="765934" y="224416"/>
                  <a:pt x="772438" y="217059"/>
                </a:cubicBezTo>
                <a:cubicBezTo>
                  <a:pt x="777567" y="207176"/>
                  <a:pt x="778756" y="199184"/>
                  <a:pt x="776006" y="193082"/>
                </a:cubicBezTo>
                <a:cubicBezTo>
                  <a:pt x="773256" y="186980"/>
                  <a:pt x="766059" y="184088"/>
                  <a:pt x="754414" y="184404"/>
                </a:cubicBezTo>
                <a:lnTo>
                  <a:pt x="745333" y="187704"/>
                </a:lnTo>
                <a:cubicBezTo>
                  <a:pt x="741496" y="189371"/>
                  <a:pt x="738612" y="189453"/>
                  <a:pt x="736681" y="187951"/>
                </a:cubicBezTo>
                <a:cubicBezTo>
                  <a:pt x="734749" y="186449"/>
                  <a:pt x="733190" y="183200"/>
                  <a:pt x="732003" y="178205"/>
                </a:cubicBezTo>
                <a:cubicBezTo>
                  <a:pt x="730636" y="171943"/>
                  <a:pt x="727418" y="166494"/>
                  <a:pt x="722347" y="161859"/>
                </a:cubicBezTo>
                <a:cubicBezTo>
                  <a:pt x="717277" y="157224"/>
                  <a:pt x="710879" y="155625"/>
                  <a:pt x="703154" y="157062"/>
                </a:cubicBezTo>
                <a:close/>
                <a:moveTo>
                  <a:pt x="771525" y="0"/>
                </a:moveTo>
                <a:lnTo>
                  <a:pt x="914400" y="19050"/>
                </a:lnTo>
                <a:lnTo>
                  <a:pt x="962025" y="114300"/>
                </a:lnTo>
                <a:lnTo>
                  <a:pt x="962025" y="842962"/>
                </a:lnTo>
                <a:lnTo>
                  <a:pt x="881062" y="928687"/>
                </a:lnTo>
                <a:lnTo>
                  <a:pt x="666750" y="938212"/>
                </a:lnTo>
                <a:lnTo>
                  <a:pt x="100012" y="938212"/>
                </a:lnTo>
                <a:lnTo>
                  <a:pt x="57150" y="909637"/>
                </a:lnTo>
                <a:lnTo>
                  <a:pt x="14287" y="847725"/>
                </a:lnTo>
                <a:lnTo>
                  <a:pt x="0" y="242887"/>
                </a:lnTo>
                <a:lnTo>
                  <a:pt x="61912" y="14287"/>
                </a:lnTo>
                <a:close/>
              </a:path>
            </a:pathLst>
          </a:custGeom>
        </p:spPr>
      </p:pic>
      <p:sp>
        <p:nvSpPr>
          <p:cNvPr id="32" name="文本框 31"/>
          <p:cNvSpPr txBox="1"/>
          <p:nvPr/>
        </p:nvSpPr>
        <p:spPr>
          <a:xfrm>
            <a:off x="5421683" y="2157438"/>
            <a:ext cx="1483995" cy="1769745"/>
          </a:xfrm>
          <a:custGeom>
            <a:avLst/>
            <a:gdLst/>
            <a:ahLst/>
            <a:cxnLst/>
            <a:rect l="l" t="t" r="r" b="b"/>
            <a:pathLst>
              <a:path w="1483995" h="1769745">
                <a:moveTo>
                  <a:pt x="1169670" y="1569720"/>
                </a:moveTo>
                <a:cubicBezTo>
                  <a:pt x="1195070" y="1569720"/>
                  <a:pt x="1224915" y="1572895"/>
                  <a:pt x="1259205" y="1579245"/>
                </a:cubicBezTo>
                <a:cubicBezTo>
                  <a:pt x="1297305" y="1598295"/>
                  <a:pt x="1325245" y="1623695"/>
                  <a:pt x="1343025" y="1655445"/>
                </a:cubicBezTo>
                <a:lnTo>
                  <a:pt x="1375410" y="1741170"/>
                </a:lnTo>
                <a:cubicBezTo>
                  <a:pt x="1375410" y="1752600"/>
                  <a:pt x="1364615" y="1759585"/>
                  <a:pt x="1343025" y="1762125"/>
                </a:cubicBezTo>
                <a:cubicBezTo>
                  <a:pt x="1339215" y="1767205"/>
                  <a:pt x="1334135" y="1769745"/>
                  <a:pt x="1327785" y="1769745"/>
                </a:cubicBezTo>
                <a:cubicBezTo>
                  <a:pt x="1322705" y="1769745"/>
                  <a:pt x="1316355" y="1768475"/>
                  <a:pt x="1308735" y="1765935"/>
                </a:cubicBezTo>
                <a:cubicBezTo>
                  <a:pt x="1292225" y="1760855"/>
                  <a:pt x="1276033" y="1752600"/>
                  <a:pt x="1260158" y="1741170"/>
                </a:cubicBezTo>
                <a:cubicBezTo>
                  <a:pt x="1244283" y="1729740"/>
                  <a:pt x="1235075" y="1723390"/>
                  <a:pt x="1232535" y="1722120"/>
                </a:cubicBezTo>
                <a:cubicBezTo>
                  <a:pt x="1219835" y="1708150"/>
                  <a:pt x="1201420" y="1701165"/>
                  <a:pt x="1177290" y="1701165"/>
                </a:cubicBezTo>
                <a:cubicBezTo>
                  <a:pt x="1141730" y="1694815"/>
                  <a:pt x="1087120" y="1689100"/>
                  <a:pt x="1013460" y="1684020"/>
                </a:cubicBezTo>
                <a:lnTo>
                  <a:pt x="973455" y="1680210"/>
                </a:lnTo>
                <a:cubicBezTo>
                  <a:pt x="967105" y="1676400"/>
                  <a:pt x="959168" y="1674178"/>
                  <a:pt x="949643" y="1673543"/>
                </a:cubicBezTo>
                <a:cubicBezTo>
                  <a:pt x="940118" y="1672908"/>
                  <a:pt x="933450" y="1672590"/>
                  <a:pt x="929640" y="1672590"/>
                </a:cubicBezTo>
                <a:cubicBezTo>
                  <a:pt x="914400" y="1675130"/>
                  <a:pt x="901383" y="1676718"/>
                  <a:pt x="890588" y="1677353"/>
                </a:cubicBezTo>
                <a:cubicBezTo>
                  <a:pt x="879793" y="1677988"/>
                  <a:pt x="870585" y="1678305"/>
                  <a:pt x="862965" y="1678305"/>
                </a:cubicBezTo>
                <a:cubicBezTo>
                  <a:pt x="822325" y="1680845"/>
                  <a:pt x="791845" y="1684655"/>
                  <a:pt x="771525" y="1689735"/>
                </a:cubicBezTo>
                <a:lnTo>
                  <a:pt x="708660" y="1689735"/>
                </a:lnTo>
                <a:cubicBezTo>
                  <a:pt x="679450" y="1689735"/>
                  <a:pt x="657860" y="1688465"/>
                  <a:pt x="643890" y="1685925"/>
                </a:cubicBezTo>
                <a:cubicBezTo>
                  <a:pt x="633730" y="1685925"/>
                  <a:pt x="623253" y="1687195"/>
                  <a:pt x="612458" y="1689735"/>
                </a:cubicBezTo>
                <a:cubicBezTo>
                  <a:pt x="601663" y="1692275"/>
                  <a:pt x="594360" y="1694180"/>
                  <a:pt x="590550" y="1695450"/>
                </a:cubicBezTo>
                <a:cubicBezTo>
                  <a:pt x="572770" y="1700530"/>
                  <a:pt x="559435" y="1703705"/>
                  <a:pt x="550545" y="1704975"/>
                </a:cubicBezTo>
                <a:cubicBezTo>
                  <a:pt x="544195" y="1704975"/>
                  <a:pt x="530860" y="1705610"/>
                  <a:pt x="510540" y="1706880"/>
                </a:cubicBezTo>
                <a:cubicBezTo>
                  <a:pt x="490220" y="1708150"/>
                  <a:pt x="471170" y="1710690"/>
                  <a:pt x="453390" y="1714500"/>
                </a:cubicBezTo>
                <a:cubicBezTo>
                  <a:pt x="439420" y="1713230"/>
                  <a:pt x="423863" y="1716723"/>
                  <a:pt x="406718" y="1724978"/>
                </a:cubicBezTo>
                <a:cubicBezTo>
                  <a:pt x="389573" y="1733233"/>
                  <a:pt x="376555" y="1739265"/>
                  <a:pt x="367665" y="1743075"/>
                </a:cubicBezTo>
                <a:cubicBezTo>
                  <a:pt x="365125" y="1743075"/>
                  <a:pt x="362268" y="1744028"/>
                  <a:pt x="359093" y="1745933"/>
                </a:cubicBezTo>
                <a:cubicBezTo>
                  <a:pt x="355918" y="1747838"/>
                  <a:pt x="353695" y="1747520"/>
                  <a:pt x="352425" y="1744980"/>
                </a:cubicBezTo>
                <a:cubicBezTo>
                  <a:pt x="339725" y="1752600"/>
                  <a:pt x="319405" y="1756410"/>
                  <a:pt x="291465" y="1756410"/>
                </a:cubicBezTo>
                <a:cubicBezTo>
                  <a:pt x="282575" y="1758950"/>
                  <a:pt x="269875" y="1760220"/>
                  <a:pt x="253365" y="1760220"/>
                </a:cubicBezTo>
                <a:cubicBezTo>
                  <a:pt x="248285" y="1758950"/>
                  <a:pt x="241935" y="1757680"/>
                  <a:pt x="234315" y="1756410"/>
                </a:cubicBezTo>
                <a:cubicBezTo>
                  <a:pt x="226695" y="1755140"/>
                  <a:pt x="217170" y="1754505"/>
                  <a:pt x="205740" y="1754505"/>
                </a:cubicBezTo>
                <a:cubicBezTo>
                  <a:pt x="200660" y="1753235"/>
                  <a:pt x="194945" y="1750060"/>
                  <a:pt x="188595" y="1744980"/>
                </a:cubicBezTo>
                <a:cubicBezTo>
                  <a:pt x="182245" y="1739900"/>
                  <a:pt x="175895" y="1736090"/>
                  <a:pt x="169545" y="1733550"/>
                </a:cubicBezTo>
                <a:cubicBezTo>
                  <a:pt x="155575" y="1723390"/>
                  <a:pt x="142240" y="1709420"/>
                  <a:pt x="129540" y="1691640"/>
                </a:cubicBezTo>
                <a:cubicBezTo>
                  <a:pt x="116840" y="1673860"/>
                  <a:pt x="107950" y="1661795"/>
                  <a:pt x="102870" y="1655445"/>
                </a:cubicBezTo>
                <a:cubicBezTo>
                  <a:pt x="100330" y="1650365"/>
                  <a:pt x="100013" y="1643698"/>
                  <a:pt x="101918" y="1635443"/>
                </a:cubicBezTo>
                <a:cubicBezTo>
                  <a:pt x="103823" y="1627188"/>
                  <a:pt x="104775" y="1620520"/>
                  <a:pt x="104775" y="1615440"/>
                </a:cubicBezTo>
                <a:lnTo>
                  <a:pt x="123825" y="1611630"/>
                </a:lnTo>
                <a:cubicBezTo>
                  <a:pt x="121285" y="1605280"/>
                  <a:pt x="123508" y="1601788"/>
                  <a:pt x="130493" y="1601153"/>
                </a:cubicBezTo>
                <a:cubicBezTo>
                  <a:pt x="137478" y="1600518"/>
                  <a:pt x="147955" y="1601788"/>
                  <a:pt x="161925" y="1604963"/>
                </a:cubicBezTo>
                <a:cubicBezTo>
                  <a:pt x="175895" y="1608138"/>
                  <a:pt x="186690" y="1610360"/>
                  <a:pt x="194310" y="1611630"/>
                </a:cubicBezTo>
                <a:lnTo>
                  <a:pt x="260985" y="1613535"/>
                </a:lnTo>
                <a:cubicBezTo>
                  <a:pt x="292735" y="1613535"/>
                  <a:pt x="318770" y="1610360"/>
                  <a:pt x="339090" y="1604010"/>
                </a:cubicBezTo>
                <a:cubicBezTo>
                  <a:pt x="398780" y="1606550"/>
                  <a:pt x="488315" y="1609090"/>
                  <a:pt x="607695" y="1611630"/>
                </a:cubicBezTo>
                <a:cubicBezTo>
                  <a:pt x="655955" y="1609090"/>
                  <a:pt x="692785" y="1607820"/>
                  <a:pt x="718185" y="1607820"/>
                </a:cubicBezTo>
                <a:lnTo>
                  <a:pt x="773430" y="1605915"/>
                </a:lnTo>
                <a:cubicBezTo>
                  <a:pt x="781050" y="1603375"/>
                  <a:pt x="790258" y="1601788"/>
                  <a:pt x="801053" y="1601153"/>
                </a:cubicBezTo>
                <a:cubicBezTo>
                  <a:pt x="811848" y="1600518"/>
                  <a:pt x="820420" y="1600200"/>
                  <a:pt x="826770" y="1600200"/>
                </a:cubicBezTo>
                <a:cubicBezTo>
                  <a:pt x="850900" y="1593850"/>
                  <a:pt x="877570" y="1589088"/>
                  <a:pt x="906780" y="1585913"/>
                </a:cubicBezTo>
                <a:cubicBezTo>
                  <a:pt x="935990" y="1582738"/>
                  <a:pt x="955040" y="1580515"/>
                  <a:pt x="963930" y="1579245"/>
                </a:cubicBezTo>
                <a:cubicBezTo>
                  <a:pt x="979170" y="1580515"/>
                  <a:pt x="1000760" y="1579880"/>
                  <a:pt x="1028700" y="1577340"/>
                </a:cubicBezTo>
                <a:cubicBezTo>
                  <a:pt x="1056640" y="1574800"/>
                  <a:pt x="1078230" y="1573530"/>
                  <a:pt x="1093470" y="1573530"/>
                </a:cubicBezTo>
                <a:cubicBezTo>
                  <a:pt x="1101090" y="1577340"/>
                  <a:pt x="1108710" y="1579245"/>
                  <a:pt x="1116330" y="1579245"/>
                </a:cubicBezTo>
                <a:cubicBezTo>
                  <a:pt x="1122680" y="1579245"/>
                  <a:pt x="1129348" y="1578293"/>
                  <a:pt x="1136333" y="1576388"/>
                </a:cubicBezTo>
                <a:cubicBezTo>
                  <a:pt x="1143318" y="1574483"/>
                  <a:pt x="1148715" y="1573530"/>
                  <a:pt x="1152525" y="1573530"/>
                </a:cubicBezTo>
                <a:close/>
                <a:moveTo>
                  <a:pt x="666750" y="1388745"/>
                </a:moveTo>
                <a:cubicBezTo>
                  <a:pt x="660400" y="1388745"/>
                  <a:pt x="655320" y="1389380"/>
                  <a:pt x="651510" y="1390650"/>
                </a:cubicBezTo>
                <a:cubicBezTo>
                  <a:pt x="591820" y="1419860"/>
                  <a:pt x="539115" y="1464310"/>
                  <a:pt x="493395" y="1524000"/>
                </a:cubicBezTo>
                <a:cubicBezTo>
                  <a:pt x="490855" y="1540510"/>
                  <a:pt x="487680" y="1552575"/>
                  <a:pt x="483870" y="1560195"/>
                </a:cubicBezTo>
                <a:cubicBezTo>
                  <a:pt x="482600" y="1561465"/>
                  <a:pt x="480695" y="1563370"/>
                  <a:pt x="478155" y="1565910"/>
                </a:cubicBezTo>
                <a:cubicBezTo>
                  <a:pt x="475615" y="1568450"/>
                  <a:pt x="475615" y="1570355"/>
                  <a:pt x="478155" y="1571625"/>
                </a:cubicBezTo>
                <a:cubicBezTo>
                  <a:pt x="481965" y="1569085"/>
                  <a:pt x="489903" y="1564323"/>
                  <a:pt x="501968" y="1557338"/>
                </a:cubicBezTo>
                <a:cubicBezTo>
                  <a:pt x="514033" y="1550353"/>
                  <a:pt x="523875" y="1543050"/>
                  <a:pt x="531495" y="1535430"/>
                </a:cubicBezTo>
                <a:cubicBezTo>
                  <a:pt x="549275" y="1527810"/>
                  <a:pt x="569595" y="1515745"/>
                  <a:pt x="592455" y="1499235"/>
                </a:cubicBezTo>
                <a:cubicBezTo>
                  <a:pt x="598805" y="1496695"/>
                  <a:pt x="606743" y="1492885"/>
                  <a:pt x="616268" y="1487805"/>
                </a:cubicBezTo>
                <a:cubicBezTo>
                  <a:pt x="625793" y="1482725"/>
                  <a:pt x="634365" y="1478280"/>
                  <a:pt x="641985" y="1474470"/>
                </a:cubicBezTo>
                <a:cubicBezTo>
                  <a:pt x="647065" y="1470660"/>
                  <a:pt x="667385" y="1457325"/>
                  <a:pt x="702945" y="1434465"/>
                </a:cubicBezTo>
                <a:cubicBezTo>
                  <a:pt x="713105" y="1426845"/>
                  <a:pt x="719455" y="1419860"/>
                  <a:pt x="721995" y="1413510"/>
                </a:cubicBezTo>
                <a:cubicBezTo>
                  <a:pt x="714375" y="1403350"/>
                  <a:pt x="707390" y="1397000"/>
                  <a:pt x="701040" y="1394460"/>
                </a:cubicBezTo>
                <a:lnTo>
                  <a:pt x="689610" y="1392555"/>
                </a:lnTo>
                <a:cubicBezTo>
                  <a:pt x="679450" y="1390015"/>
                  <a:pt x="671830" y="1388745"/>
                  <a:pt x="666750" y="1388745"/>
                </a:cubicBezTo>
                <a:close/>
                <a:moveTo>
                  <a:pt x="610553" y="1356360"/>
                </a:moveTo>
                <a:cubicBezTo>
                  <a:pt x="609918" y="1355725"/>
                  <a:pt x="607060" y="1356360"/>
                  <a:pt x="601980" y="1358265"/>
                </a:cubicBezTo>
                <a:cubicBezTo>
                  <a:pt x="591820" y="1362075"/>
                  <a:pt x="586105" y="1364615"/>
                  <a:pt x="584835" y="1365885"/>
                </a:cubicBezTo>
                <a:cubicBezTo>
                  <a:pt x="575945" y="1365885"/>
                  <a:pt x="561023" y="1366203"/>
                  <a:pt x="540068" y="1366838"/>
                </a:cubicBezTo>
                <a:cubicBezTo>
                  <a:pt x="519113" y="1367473"/>
                  <a:pt x="501015" y="1369695"/>
                  <a:pt x="485775" y="1373505"/>
                </a:cubicBezTo>
                <a:cubicBezTo>
                  <a:pt x="484505" y="1373505"/>
                  <a:pt x="481013" y="1373505"/>
                  <a:pt x="475298" y="1373505"/>
                </a:cubicBezTo>
                <a:cubicBezTo>
                  <a:pt x="469583" y="1373505"/>
                  <a:pt x="464820" y="1374775"/>
                  <a:pt x="461010" y="1377315"/>
                </a:cubicBezTo>
                <a:cubicBezTo>
                  <a:pt x="459740" y="1381125"/>
                  <a:pt x="458788" y="1387475"/>
                  <a:pt x="458153" y="1396365"/>
                </a:cubicBezTo>
                <a:cubicBezTo>
                  <a:pt x="457518" y="1405255"/>
                  <a:pt x="454025" y="1410335"/>
                  <a:pt x="447675" y="1411605"/>
                </a:cubicBezTo>
                <a:cubicBezTo>
                  <a:pt x="442595" y="1411605"/>
                  <a:pt x="444183" y="1412558"/>
                  <a:pt x="452438" y="1414463"/>
                </a:cubicBezTo>
                <a:cubicBezTo>
                  <a:pt x="460693" y="1416368"/>
                  <a:pt x="469265" y="1417320"/>
                  <a:pt x="478155" y="1417320"/>
                </a:cubicBezTo>
                <a:cubicBezTo>
                  <a:pt x="485775" y="1417320"/>
                  <a:pt x="490855" y="1416685"/>
                  <a:pt x="493395" y="1415415"/>
                </a:cubicBezTo>
                <a:lnTo>
                  <a:pt x="529590" y="1398270"/>
                </a:lnTo>
                <a:cubicBezTo>
                  <a:pt x="551180" y="1385570"/>
                  <a:pt x="572135" y="1375410"/>
                  <a:pt x="592455" y="1367790"/>
                </a:cubicBezTo>
                <a:lnTo>
                  <a:pt x="598170" y="1367790"/>
                </a:lnTo>
                <a:lnTo>
                  <a:pt x="605790" y="1362075"/>
                </a:lnTo>
                <a:cubicBezTo>
                  <a:pt x="609600" y="1358900"/>
                  <a:pt x="611188" y="1356995"/>
                  <a:pt x="610553" y="1356360"/>
                </a:cubicBezTo>
                <a:close/>
                <a:moveTo>
                  <a:pt x="626745" y="1076325"/>
                </a:moveTo>
                <a:cubicBezTo>
                  <a:pt x="616585" y="1077595"/>
                  <a:pt x="606743" y="1081088"/>
                  <a:pt x="597218" y="1086803"/>
                </a:cubicBezTo>
                <a:cubicBezTo>
                  <a:pt x="587693" y="1092518"/>
                  <a:pt x="577533" y="1100455"/>
                  <a:pt x="566738" y="1110615"/>
                </a:cubicBezTo>
                <a:cubicBezTo>
                  <a:pt x="555943" y="1120775"/>
                  <a:pt x="545465" y="1129665"/>
                  <a:pt x="535305" y="1137285"/>
                </a:cubicBezTo>
                <a:cubicBezTo>
                  <a:pt x="528955" y="1146175"/>
                  <a:pt x="520065" y="1158240"/>
                  <a:pt x="508635" y="1173480"/>
                </a:cubicBezTo>
                <a:cubicBezTo>
                  <a:pt x="497205" y="1188720"/>
                  <a:pt x="488950" y="1202690"/>
                  <a:pt x="483870" y="1215390"/>
                </a:cubicBezTo>
                <a:cubicBezTo>
                  <a:pt x="480060" y="1223010"/>
                  <a:pt x="472123" y="1226820"/>
                  <a:pt x="460058" y="1226820"/>
                </a:cubicBezTo>
                <a:cubicBezTo>
                  <a:pt x="447993" y="1226820"/>
                  <a:pt x="439738" y="1227773"/>
                  <a:pt x="435293" y="1229678"/>
                </a:cubicBezTo>
                <a:cubicBezTo>
                  <a:pt x="430848" y="1231583"/>
                  <a:pt x="427990" y="1235710"/>
                  <a:pt x="426720" y="1242060"/>
                </a:cubicBezTo>
                <a:cubicBezTo>
                  <a:pt x="424180" y="1249680"/>
                  <a:pt x="422910" y="1256030"/>
                  <a:pt x="422910" y="1261110"/>
                </a:cubicBezTo>
                <a:cubicBezTo>
                  <a:pt x="422910" y="1263650"/>
                  <a:pt x="424180" y="1267460"/>
                  <a:pt x="426720" y="1272540"/>
                </a:cubicBezTo>
                <a:cubicBezTo>
                  <a:pt x="435610" y="1259840"/>
                  <a:pt x="450850" y="1249045"/>
                  <a:pt x="472440" y="1240155"/>
                </a:cubicBezTo>
                <a:cubicBezTo>
                  <a:pt x="490220" y="1231265"/>
                  <a:pt x="503555" y="1222375"/>
                  <a:pt x="512445" y="1213485"/>
                </a:cubicBezTo>
                <a:cubicBezTo>
                  <a:pt x="530225" y="1204595"/>
                  <a:pt x="541655" y="1197610"/>
                  <a:pt x="546735" y="1192530"/>
                </a:cubicBezTo>
                <a:cubicBezTo>
                  <a:pt x="561975" y="1186180"/>
                  <a:pt x="582295" y="1174115"/>
                  <a:pt x="607695" y="1156335"/>
                </a:cubicBezTo>
                <a:cubicBezTo>
                  <a:pt x="621665" y="1142365"/>
                  <a:pt x="645160" y="1125220"/>
                  <a:pt x="678180" y="1104900"/>
                </a:cubicBezTo>
                <a:cubicBezTo>
                  <a:pt x="683260" y="1099820"/>
                  <a:pt x="685800" y="1095375"/>
                  <a:pt x="685800" y="1091565"/>
                </a:cubicBezTo>
                <a:cubicBezTo>
                  <a:pt x="685800" y="1086485"/>
                  <a:pt x="682625" y="1083945"/>
                  <a:pt x="676275" y="1083945"/>
                </a:cubicBezTo>
                <a:lnTo>
                  <a:pt x="668655" y="1082040"/>
                </a:lnTo>
                <a:cubicBezTo>
                  <a:pt x="649605" y="1082040"/>
                  <a:pt x="635635" y="1080135"/>
                  <a:pt x="626745" y="1076325"/>
                </a:cubicBezTo>
                <a:close/>
                <a:moveTo>
                  <a:pt x="769620" y="992505"/>
                </a:moveTo>
                <a:lnTo>
                  <a:pt x="779145" y="992505"/>
                </a:lnTo>
                <a:cubicBezTo>
                  <a:pt x="789305" y="993775"/>
                  <a:pt x="798830" y="999808"/>
                  <a:pt x="807720" y="1010603"/>
                </a:cubicBezTo>
                <a:cubicBezTo>
                  <a:pt x="816610" y="1021398"/>
                  <a:pt x="822960" y="1028700"/>
                  <a:pt x="826770" y="1032510"/>
                </a:cubicBezTo>
                <a:cubicBezTo>
                  <a:pt x="836930" y="1037590"/>
                  <a:pt x="846773" y="1045528"/>
                  <a:pt x="856298" y="1056323"/>
                </a:cubicBezTo>
                <a:cubicBezTo>
                  <a:pt x="865823" y="1067118"/>
                  <a:pt x="873125" y="1075055"/>
                  <a:pt x="878205" y="1080135"/>
                </a:cubicBezTo>
                <a:cubicBezTo>
                  <a:pt x="880745" y="1091565"/>
                  <a:pt x="885190" y="1104265"/>
                  <a:pt x="891540" y="1118235"/>
                </a:cubicBezTo>
                <a:cubicBezTo>
                  <a:pt x="897890" y="1132205"/>
                  <a:pt x="902335" y="1143000"/>
                  <a:pt x="904875" y="1150620"/>
                </a:cubicBezTo>
                <a:cubicBezTo>
                  <a:pt x="907415" y="1156970"/>
                  <a:pt x="906780" y="1162368"/>
                  <a:pt x="902970" y="1166813"/>
                </a:cubicBezTo>
                <a:cubicBezTo>
                  <a:pt x="899160" y="1171258"/>
                  <a:pt x="893445" y="1175068"/>
                  <a:pt x="885825" y="1178243"/>
                </a:cubicBezTo>
                <a:cubicBezTo>
                  <a:pt x="878205" y="1181418"/>
                  <a:pt x="872490" y="1183640"/>
                  <a:pt x="868680" y="1184910"/>
                </a:cubicBezTo>
                <a:cubicBezTo>
                  <a:pt x="850900" y="1184910"/>
                  <a:pt x="842010" y="1189990"/>
                  <a:pt x="842010" y="1200150"/>
                </a:cubicBezTo>
                <a:cubicBezTo>
                  <a:pt x="842010" y="1206500"/>
                  <a:pt x="845503" y="1213168"/>
                  <a:pt x="852488" y="1220153"/>
                </a:cubicBezTo>
                <a:cubicBezTo>
                  <a:pt x="859473" y="1227138"/>
                  <a:pt x="868045" y="1232535"/>
                  <a:pt x="878205" y="1236345"/>
                </a:cubicBezTo>
                <a:cubicBezTo>
                  <a:pt x="898525" y="1254125"/>
                  <a:pt x="911225" y="1273175"/>
                  <a:pt x="916305" y="1293495"/>
                </a:cubicBezTo>
                <a:cubicBezTo>
                  <a:pt x="920750" y="1299210"/>
                  <a:pt x="922655" y="1304449"/>
                  <a:pt x="922020" y="1309211"/>
                </a:cubicBezTo>
                <a:cubicBezTo>
                  <a:pt x="921385" y="1313974"/>
                  <a:pt x="918210" y="1318260"/>
                  <a:pt x="912495" y="1322070"/>
                </a:cubicBezTo>
                <a:cubicBezTo>
                  <a:pt x="901065" y="1329690"/>
                  <a:pt x="887095" y="1334135"/>
                  <a:pt x="870585" y="1335405"/>
                </a:cubicBezTo>
                <a:lnTo>
                  <a:pt x="817245" y="1333500"/>
                </a:lnTo>
                <a:cubicBezTo>
                  <a:pt x="815975" y="1339850"/>
                  <a:pt x="817245" y="1345883"/>
                  <a:pt x="821055" y="1351598"/>
                </a:cubicBezTo>
                <a:cubicBezTo>
                  <a:pt x="824865" y="1357313"/>
                  <a:pt x="830580" y="1362393"/>
                  <a:pt x="838200" y="1366838"/>
                </a:cubicBezTo>
                <a:cubicBezTo>
                  <a:pt x="845820" y="1371283"/>
                  <a:pt x="851535" y="1374775"/>
                  <a:pt x="855345" y="1377315"/>
                </a:cubicBezTo>
                <a:cubicBezTo>
                  <a:pt x="866775" y="1388745"/>
                  <a:pt x="877888" y="1403985"/>
                  <a:pt x="888683" y="1423035"/>
                </a:cubicBezTo>
                <a:cubicBezTo>
                  <a:pt x="899478" y="1442085"/>
                  <a:pt x="908685" y="1456690"/>
                  <a:pt x="916305" y="1466850"/>
                </a:cubicBezTo>
                <a:cubicBezTo>
                  <a:pt x="916305" y="1469390"/>
                  <a:pt x="916623" y="1473835"/>
                  <a:pt x="917258" y="1480185"/>
                </a:cubicBezTo>
                <a:cubicBezTo>
                  <a:pt x="917893" y="1486535"/>
                  <a:pt x="916940" y="1492250"/>
                  <a:pt x="914400" y="1497330"/>
                </a:cubicBezTo>
                <a:cubicBezTo>
                  <a:pt x="910590" y="1503680"/>
                  <a:pt x="904558" y="1508760"/>
                  <a:pt x="896303" y="1512570"/>
                </a:cubicBezTo>
                <a:cubicBezTo>
                  <a:pt x="888048" y="1516380"/>
                  <a:pt x="879475" y="1518920"/>
                  <a:pt x="870585" y="1520190"/>
                </a:cubicBezTo>
                <a:cubicBezTo>
                  <a:pt x="860425" y="1525270"/>
                  <a:pt x="852170" y="1527810"/>
                  <a:pt x="845820" y="1527810"/>
                </a:cubicBezTo>
                <a:lnTo>
                  <a:pt x="840105" y="1527810"/>
                </a:lnTo>
                <a:lnTo>
                  <a:pt x="819150" y="1520190"/>
                </a:lnTo>
                <a:lnTo>
                  <a:pt x="817245" y="1522095"/>
                </a:lnTo>
                <a:cubicBezTo>
                  <a:pt x="809625" y="1518285"/>
                  <a:pt x="800735" y="1516380"/>
                  <a:pt x="790575" y="1516380"/>
                </a:cubicBezTo>
                <a:cubicBezTo>
                  <a:pt x="780415" y="1516380"/>
                  <a:pt x="770890" y="1517333"/>
                  <a:pt x="762000" y="1519238"/>
                </a:cubicBezTo>
                <a:cubicBezTo>
                  <a:pt x="753110" y="1521143"/>
                  <a:pt x="743585" y="1522095"/>
                  <a:pt x="733425" y="1522095"/>
                </a:cubicBezTo>
                <a:cubicBezTo>
                  <a:pt x="723265" y="1524635"/>
                  <a:pt x="708025" y="1529715"/>
                  <a:pt x="687705" y="1537335"/>
                </a:cubicBezTo>
                <a:cubicBezTo>
                  <a:pt x="663575" y="1547495"/>
                  <a:pt x="643255" y="1553845"/>
                  <a:pt x="626745" y="1556385"/>
                </a:cubicBezTo>
                <a:cubicBezTo>
                  <a:pt x="608965" y="1564005"/>
                  <a:pt x="594995" y="1568450"/>
                  <a:pt x="584835" y="1569720"/>
                </a:cubicBezTo>
                <a:cubicBezTo>
                  <a:pt x="573405" y="1573530"/>
                  <a:pt x="561975" y="1576705"/>
                  <a:pt x="550545" y="1579245"/>
                </a:cubicBezTo>
                <a:cubicBezTo>
                  <a:pt x="539115" y="1581785"/>
                  <a:pt x="527050" y="1586230"/>
                  <a:pt x="514350" y="1592580"/>
                </a:cubicBezTo>
                <a:cubicBezTo>
                  <a:pt x="509270" y="1593850"/>
                  <a:pt x="503555" y="1595120"/>
                  <a:pt x="497205" y="1596390"/>
                </a:cubicBezTo>
                <a:cubicBezTo>
                  <a:pt x="490855" y="1597660"/>
                  <a:pt x="483235" y="1598295"/>
                  <a:pt x="474345" y="1598295"/>
                </a:cubicBezTo>
                <a:cubicBezTo>
                  <a:pt x="469265" y="1597025"/>
                  <a:pt x="463868" y="1595120"/>
                  <a:pt x="458153" y="1592580"/>
                </a:cubicBezTo>
                <a:cubicBezTo>
                  <a:pt x="452438" y="1590040"/>
                  <a:pt x="447040" y="1588770"/>
                  <a:pt x="441960" y="1588770"/>
                </a:cubicBezTo>
                <a:lnTo>
                  <a:pt x="434340" y="1588770"/>
                </a:lnTo>
                <a:cubicBezTo>
                  <a:pt x="414020" y="1588770"/>
                  <a:pt x="397510" y="1577975"/>
                  <a:pt x="384810" y="1556385"/>
                </a:cubicBezTo>
                <a:cubicBezTo>
                  <a:pt x="374650" y="1525905"/>
                  <a:pt x="366395" y="1503045"/>
                  <a:pt x="360045" y="1487805"/>
                </a:cubicBezTo>
                <a:cubicBezTo>
                  <a:pt x="360045" y="1475105"/>
                  <a:pt x="360998" y="1464945"/>
                  <a:pt x="362903" y="1457325"/>
                </a:cubicBezTo>
                <a:cubicBezTo>
                  <a:pt x="364808" y="1449705"/>
                  <a:pt x="369570" y="1443355"/>
                  <a:pt x="377190" y="1438275"/>
                </a:cubicBezTo>
                <a:cubicBezTo>
                  <a:pt x="378460" y="1433195"/>
                  <a:pt x="381953" y="1428433"/>
                  <a:pt x="387668" y="1423988"/>
                </a:cubicBezTo>
                <a:cubicBezTo>
                  <a:pt x="393383" y="1419543"/>
                  <a:pt x="397510" y="1415415"/>
                  <a:pt x="400050" y="1411605"/>
                </a:cubicBezTo>
                <a:cubicBezTo>
                  <a:pt x="396240" y="1406525"/>
                  <a:pt x="386080" y="1393190"/>
                  <a:pt x="369570" y="1371600"/>
                </a:cubicBezTo>
                <a:cubicBezTo>
                  <a:pt x="361950" y="1366520"/>
                  <a:pt x="353060" y="1356360"/>
                  <a:pt x="342900" y="1341120"/>
                </a:cubicBezTo>
                <a:cubicBezTo>
                  <a:pt x="341630" y="1338580"/>
                  <a:pt x="339408" y="1335405"/>
                  <a:pt x="336233" y="1331595"/>
                </a:cubicBezTo>
                <a:cubicBezTo>
                  <a:pt x="333058" y="1327785"/>
                  <a:pt x="331470" y="1323975"/>
                  <a:pt x="331470" y="1320165"/>
                </a:cubicBezTo>
                <a:cubicBezTo>
                  <a:pt x="331470" y="1317625"/>
                  <a:pt x="332105" y="1315720"/>
                  <a:pt x="333375" y="1314450"/>
                </a:cubicBezTo>
                <a:cubicBezTo>
                  <a:pt x="338455" y="1314450"/>
                  <a:pt x="341313" y="1312228"/>
                  <a:pt x="341948" y="1307783"/>
                </a:cubicBezTo>
                <a:cubicBezTo>
                  <a:pt x="342583" y="1303338"/>
                  <a:pt x="342265" y="1297940"/>
                  <a:pt x="340995" y="1291590"/>
                </a:cubicBezTo>
                <a:cubicBezTo>
                  <a:pt x="339725" y="1285240"/>
                  <a:pt x="339090" y="1279525"/>
                  <a:pt x="339090" y="1274445"/>
                </a:cubicBezTo>
                <a:lnTo>
                  <a:pt x="339090" y="1270635"/>
                </a:lnTo>
                <a:cubicBezTo>
                  <a:pt x="341630" y="1261745"/>
                  <a:pt x="345440" y="1247775"/>
                  <a:pt x="350520" y="1228725"/>
                </a:cubicBezTo>
                <a:cubicBezTo>
                  <a:pt x="355600" y="1209675"/>
                  <a:pt x="361950" y="1190943"/>
                  <a:pt x="369570" y="1172528"/>
                </a:cubicBezTo>
                <a:cubicBezTo>
                  <a:pt x="377190" y="1154113"/>
                  <a:pt x="387350" y="1137285"/>
                  <a:pt x="400050" y="1122045"/>
                </a:cubicBezTo>
                <a:cubicBezTo>
                  <a:pt x="398780" y="1116965"/>
                  <a:pt x="400685" y="1110615"/>
                  <a:pt x="405765" y="1102995"/>
                </a:cubicBezTo>
                <a:cubicBezTo>
                  <a:pt x="410845" y="1095375"/>
                  <a:pt x="413385" y="1089660"/>
                  <a:pt x="413385" y="1085850"/>
                </a:cubicBezTo>
                <a:cubicBezTo>
                  <a:pt x="417195" y="1082040"/>
                  <a:pt x="421323" y="1078230"/>
                  <a:pt x="425768" y="1074420"/>
                </a:cubicBezTo>
                <a:cubicBezTo>
                  <a:pt x="430213" y="1070610"/>
                  <a:pt x="433705" y="1068705"/>
                  <a:pt x="436245" y="1068705"/>
                </a:cubicBezTo>
                <a:cubicBezTo>
                  <a:pt x="438785" y="1068705"/>
                  <a:pt x="440055" y="1069975"/>
                  <a:pt x="440055" y="1072515"/>
                </a:cubicBezTo>
                <a:lnTo>
                  <a:pt x="438150" y="1078230"/>
                </a:lnTo>
                <a:cubicBezTo>
                  <a:pt x="436880" y="1093470"/>
                  <a:pt x="439420" y="1101090"/>
                  <a:pt x="445770" y="1101090"/>
                </a:cubicBezTo>
                <a:cubicBezTo>
                  <a:pt x="453390" y="1101090"/>
                  <a:pt x="462280" y="1094740"/>
                  <a:pt x="472440" y="1082040"/>
                </a:cubicBezTo>
                <a:cubicBezTo>
                  <a:pt x="477520" y="1079500"/>
                  <a:pt x="486728" y="1074738"/>
                  <a:pt x="500063" y="1067753"/>
                </a:cubicBezTo>
                <a:cubicBezTo>
                  <a:pt x="513398" y="1060768"/>
                  <a:pt x="524510" y="1053465"/>
                  <a:pt x="533400" y="1045845"/>
                </a:cubicBezTo>
                <a:cubicBezTo>
                  <a:pt x="539750" y="1043305"/>
                  <a:pt x="549593" y="1040448"/>
                  <a:pt x="562928" y="1037273"/>
                </a:cubicBezTo>
                <a:cubicBezTo>
                  <a:pt x="576263" y="1034098"/>
                  <a:pt x="586740" y="1029335"/>
                  <a:pt x="594360" y="1022985"/>
                </a:cubicBezTo>
                <a:cubicBezTo>
                  <a:pt x="603250" y="1024255"/>
                  <a:pt x="613410" y="1022985"/>
                  <a:pt x="624840" y="1019175"/>
                </a:cubicBezTo>
                <a:cubicBezTo>
                  <a:pt x="636270" y="1015365"/>
                  <a:pt x="645160" y="1012825"/>
                  <a:pt x="651510" y="1011555"/>
                </a:cubicBezTo>
                <a:cubicBezTo>
                  <a:pt x="662940" y="1010285"/>
                  <a:pt x="678498" y="1009650"/>
                  <a:pt x="698183" y="1009650"/>
                </a:cubicBezTo>
                <a:cubicBezTo>
                  <a:pt x="717868" y="1009650"/>
                  <a:pt x="734695" y="1006475"/>
                  <a:pt x="748665" y="1000125"/>
                </a:cubicBezTo>
                <a:cubicBezTo>
                  <a:pt x="749935" y="996315"/>
                  <a:pt x="753110" y="994093"/>
                  <a:pt x="758190" y="993458"/>
                </a:cubicBezTo>
                <a:cubicBezTo>
                  <a:pt x="763270" y="992823"/>
                  <a:pt x="767080" y="992505"/>
                  <a:pt x="769620" y="992505"/>
                </a:cubicBezTo>
                <a:close/>
                <a:moveTo>
                  <a:pt x="716280" y="798195"/>
                </a:moveTo>
                <a:lnTo>
                  <a:pt x="727710" y="800100"/>
                </a:lnTo>
                <a:cubicBezTo>
                  <a:pt x="734060" y="800100"/>
                  <a:pt x="742633" y="800418"/>
                  <a:pt x="753428" y="801053"/>
                </a:cubicBezTo>
                <a:cubicBezTo>
                  <a:pt x="764223" y="801688"/>
                  <a:pt x="773430" y="803275"/>
                  <a:pt x="781050" y="805815"/>
                </a:cubicBezTo>
                <a:cubicBezTo>
                  <a:pt x="786130" y="809625"/>
                  <a:pt x="795338" y="814388"/>
                  <a:pt x="808673" y="820103"/>
                </a:cubicBezTo>
                <a:cubicBezTo>
                  <a:pt x="822008" y="825818"/>
                  <a:pt x="831215" y="832485"/>
                  <a:pt x="836295" y="840105"/>
                </a:cubicBezTo>
                <a:cubicBezTo>
                  <a:pt x="843915" y="842645"/>
                  <a:pt x="851218" y="848995"/>
                  <a:pt x="858203" y="859155"/>
                </a:cubicBezTo>
                <a:cubicBezTo>
                  <a:pt x="865188" y="869315"/>
                  <a:pt x="870585" y="876300"/>
                  <a:pt x="874395" y="880110"/>
                </a:cubicBezTo>
                <a:cubicBezTo>
                  <a:pt x="875665" y="882650"/>
                  <a:pt x="878205" y="887730"/>
                  <a:pt x="882015" y="895350"/>
                </a:cubicBezTo>
                <a:cubicBezTo>
                  <a:pt x="885825" y="902970"/>
                  <a:pt x="888365" y="909955"/>
                  <a:pt x="889635" y="916305"/>
                </a:cubicBezTo>
                <a:cubicBezTo>
                  <a:pt x="893445" y="917575"/>
                  <a:pt x="895668" y="919798"/>
                  <a:pt x="896303" y="922973"/>
                </a:cubicBezTo>
                <a:cubicBezTo>
                  <a:pt x="896938" y="926148"/>
                  <a:pt x="896303" y="929958"/>
                  <a:pt x="894398" y="934403"/>
                </a:cubicBezTo>
                <a:cubicBezTo>
                  <a:pt x="892493" y="938848"/>
                  <a:pt x="890905" y="942340"/>
                  <a:pt x="889635" y="944880"/>
                </a:cubicBezTo>
                <a:cubicBezTo>
                  <a:pt x="856615" y="942340"/>
                  <a:pt x="831215" y="941070"/>
                  <a:pt x="813435" y="941070"/>
                </a:cubicBezTo>
                <a:cubicBezTo>
                  <a:pt x="809625" y="942340"/>
                  <a:pt x="803275" y="942975"/>
                  <a:pt x="794385" y="942975"/>
                </a:cubicBezTo>
                <a:cubicBezTo>
                  <a:pt x="785495" y="942975"/>
                  <a:pt x="778510" y="943610"/>
                  <a:pt x="773430" y="944880"/>
                </a:cubicBezTo>
                <a:cubicBezTo>
                  <a:pt x="768350" y="948690"/>
                  <a:pt x="760730" y="950913"/>
                  <a:pt x="750570" y="951548"/>
                </a:cubicBezTo>
                <a:cubicBezTo>
                  <a:pt x="740410" y="952183"/>
                  <a:pt x="732790" y="953770"/>
                  <a:pt x="727710" y="956310"/>
                </a:cubicBezTo>
                <a:cubicBezTo>
                  <a:pt x="702310" y="963930"/>
                  <a:pt x="683260" y="968375"/>
                  <a:pt x="670560" y="969645"/>
                </a:cubicBezTo>
                <a:cubicBezTo>
                  <a:pt x="657860" y="974725"/>
                  <a:pt x="642938" y="978218"/>
                  <a:pt x="625793" y="980123"/>
                </a:cubicBezTo>
                <a:cubicBezTo>
                  <a:pt x="608648" y="982028"/>
                  <a:pt x="597535" y="983615"/>
                  <a:pt x="592455" y="984885"/>
                </a:cubicBezTo>
                <a:cubicBezTo>
                  <a:pt x="588645" y="981075"/>
                  <a:pt x="582295" y="979170"/>
                  <a:pt x="573405" y="979170"/>
                </a:cubicBezTo>
                <a:cubicBezTo>
                  <a:pt x="567055" y="979170"/>
                  <a:pt x="559118" y="980758"/>
                  <a:pt x="549593" y="983933"/>
                </a:cubicBezTo>
                <a:cubicBezTo>
                  <a:pt x="540068" y="987108"/>
                  <a:pt x="532765" y="989330"/>
                  <a:pt x="527685" y="990600"/>
                </a:cubicBezTo>
                <a:cubicBezTo>
                  <a:pt x="522605" y="994410"/>
                  <a:pt x="515303" y="998220"/>
                  <a:pt x="505778" y="1002030"/>
                </a:cubicBezTo>
                <a:cubicBezTo>
                  <a:pt x="496253" y="1005840"/>
                  <a:pt x="489585" y="1009015"/>
                  <a:pt x="485775" y="1011555"/>
                </a:cubicBezTo>
                <a:cubicBezTo>
                  <a:pt x="473075" y="1015365"/>
                  <a:pt x="461010" y="1021080"/>
                  <a:pt x="449580" y="1028700"/>
                </a:cubicBezTo>
                <a:cubicBezTo>
                  <a:pt x="444500" y="1029970"/>
                  <a:pt x="437515" y="1030605"/>
                  <a:pt x="428625" y="1030605"/>
                </a:cubicBezTo>
                <a:cubicBezTo>
                  <a:pt x="413385" y="1030605"/>
                  <a:pt x="400050" y="1028065"/>
                  <a:pt x="388620" y="1022985"/>
                </a:cubicBezTo>
                <a:cubicBezTo>
                  <a:pt x="379730" y="1017905"/>
                  <a:pt x="370205" y="1009968"/>
                  <a:pt x="360045" y="999173"/>
                </a:cubicBezTo>
                <a:cubicBezTo>
                  <a:pt x="349885" y="988378"/>
                  <a:pt x="340995" y="979805"/>
                  <a:pt x="333375" y="973455"/>
                </a:cubicBezTo>
                <a:cubicBezTo>
                  <a:pt x="329565" y="967105"/>
                  <a:pt x="327025" y="959485"/>
                  <a:pt x="325755" y="950595"/>
                </a:cubicBezTo>
                <a:cubicBezTo>
                  <a:pt x="324485" y="941705"/>
                  <a:pt x="323850" y="935990"/>
                  <a:pt x="323850" y="933450"/>
                </a:cubicBezTo>
                <a:cubicBezTo>
                  <a:pt x="335280" y="929640"/>
                  <a:pt x="346393" y="925195"/>
                  <a:pt x="357188" y="920115"/>
                </a:cubicBezTo>
                <a:cubicBezTo>
                  <a:pt x="367983" y="915035"/>
                  <a:pt x="379095" y="910590"/>
                  <a:pt x="390525" y="906780"/>
                </a:cubicBezTo>
                <a:cubicBezTo>
                  <a:pt x="412115" y="895350"/>
                  <a:pt x="433705" y="885825"/>
                  <a:pt x="455295" y="878205"/>
                </a:cubicBezTo>
                <a:cubicBezTo>
                  <a:pt x="460375" y="876935"/>
                  <a:pt x="473075" y="871855"/>
                  <a:pt x="493395" y="862965"/>
                </a:cubicBezTo>
                <a:cubicBezTo>
                  <a:pt x="501015" y="862965"/>
                  <a:pt x="509270" y="861695"/>
                  <a:pt x="518160" y="859155"/>
                </a:cubicBezTo>
                <a:cubicBezTo>
                  <a:pt x="527050" y="856615"/>
                  <a:pt x="532765" y="854710"/>
                  <a:pt x="535305" y="853440"/>
                </a:cubicBezTo>
                <a:cubicBezTo>
                  <a:pt x="545465" y="849630"/>
                  <a:pt x="566738" y="841693"/>
                  <a:pt x="599123" y="829628"/>
                </a:cubicBezTo>
                <a:cubicBezTo>
                  <a:pt x="631508" y="817563"/>
                  <a:pt x="662305" y="807720"/>
                  <a:pt x="691515" y="800100"/>
                </a:cubicBezTo>
                <a:close/>
                <a:moveTo>
                  <a:pt x="1137285" y="687705"/>
                </a:moveTo>
                <a:cubicBezTo>
                  <a:pt x="1158875" y="687705"/>
                  <a:pt x="1189990" y="690245"/>
                  <a:pt x="1230630" y="695325"/>
                </a:cubicBezTo>
                <a:lnTo>
                  <a:pt x="1285875" y="701040"/>
                </a:lnTo>
                <a:lnTo>
                  <a:pt x="1327785" y="699135"/>
                </a:lnTo>
                <a:lnTo>
                  <a:pt x="1335405" y="699135"/>
                </a:lnTo>
                <a:cubicBezTo>
                  <a:pt x="1344295" y="700405"/>
                  <a:pt x="1351598" y="704215"/>
                  <a:pt x="1357313" y="710565"/>
                </a:cubicBezTo>
                <a:cubicBezTo>
                  <a:pt x="1363028" y="716915"/>
                  <a:pt x="1367790" y="725488"/>
                  <a:pt x="1371600" y="736283"/>
                </a:cubicBezTo>
                <a:cubicBezTo>
                  <a:pt x="1375410" y="747078"/>
                  <a:pt x="1377950" y="754380"/>
                  <a:pt x="1379220" y="758190"/>
                </a:cubicBezTo>
                <a:cubicBezTo>
                  <a:pt x="1383030" y="760730"/>
                  <a:pt x="1388428" y="764540"/>
                  <a:pt x="1395413" y="769620"/>
                </a:cubicBezTo>
                <a:cubicBezTo>
                  <a:pt x="1402398" y="774700"/>
                  <a:pt x="1407795" y="780415"/>
                  <a:pt x="1411605" y="786765"/>
                </a:cubicBezTo>
                <a:cubicBezTo>
                  <a:pt x="1420495" y="793115"/>
                  <a:pt x="1427163" y="802005"/>
                  <a:pt x="1431608" y="813435"/>
                </a:cubicBezTo>
                <a:cubicBezTo>
                  <a:pt x="1436053" y="824865"/>
                  <a:pt x="1438910" y="831850"/>
                  <a:pt x="1440180" y="834390"/>
                </a:cubicBezTo>
                <a:cubicBezTo>
                  <a:pt x="1446530" y="838200"/>
                  <a:pt x="1452563" y="843915"/>
                  <a:pt x="1458278" y="851535"/>
                </a:cubicBezTo>
                <a:cubicBezTo>
                  <a:pt x="1463993" y="859155"/>
                  <a:pt x="1468120" y="864870"/>
                  <a:pt x="1470660" y="868680"/>
                </a:cubicBezTo>
                <a:cubicBezTo>
                  <a:pt x="1479550" y="883920"/>
                  <a:pt x="1483995" y="897890"/>
                  <a:pt x="1483995" y="910590"/>
                </a:cubicBezTo>
                <a:cubicBezTo>
                  <a:pt x="1483995" y="916940"/>
                  <a:pt x="1483360" y="922020"/>
                  <a:pt x="1482090" y="925830"/>
                </a:cubicBezTo>
                <a:cubicBezTo>
                  <a:pt x="1466850" y="947420"/>
                  <a:pt x="1457325" y="960120"/>
                  <a:pt x="1453515" y="963930"/>
                </a:cubicBezTo>
                <a:cubicBezTo>
                  <a:pt x="1442085" y="971550"/>
                  <a:pt x="1431290" y="975360"/>
                  <a:pt x="1421130" y="975360"/>
                </a:cubicBezTo>
                <a:cubicBezTo>
                  <a:pt x="1409700" y="975360"/>
                  <a:pt x="1398270" y="971868"/>
                  <a:pt x="1386840" y="964883"/>
                </a:cubicBezTo>
                <a:cubicBezTo>
                  <a:pt x="1375410" y="957898"/>
                  <a:pt x="1361440" y="947420"/>
                  <a:pt x="1344930" y="933450"/>
                </a:cubicBezTo>
                <a:cubicBezTo>
                  <a:pt x="1329690" y="918210"/>
                  <a:pt x="1317625" y="908050"/>
                  <a:pt x="1308735" y="902970"/>
                </a:cubicBezTo>
                <a:lnTo>
                  <a:pt x="1297305" y="870585"/>
                </a:lnTo>
                <a:cubicBezTo>
                  <a:pt x="1288415" y="870585"/>
                  <a:pt x="1273810" y="869315"/>
                  <a:pt x="1253490" y="866775"/>
                </a:cubicBezTo>
                <a:cubicBezTo>
                  <a:pt x="1225550" y="864235"/>
                  <a:pt x="1204595" y="862965"/>
                  <a:pt x="1190625" y="862965"/>
                </a:cubicBezTo>
                <a:cubicBezTo>
                  <a:pt x="1176655" y="862965"/>
                  <a:pt x="1166495" y="863600"/>
                  <a:pt x="1160145" y="864870"/>
                </a:cubicBezTo>
                <a:cubicBezTo>
                  <a:pt x="1153795" y="867410"/>
                  <a:pt x="1140778" y="872490"/>
                  <a:pt x="1121093" y="880110"/>
                </a:cubicBezTo>
                <a:cubicBezTo>
                  <a:pt x="1101408" y="887730"/>
                  <a:pt x="1082675" y="892175"/>
                  <a:pt x="1064895" y="893445"/>
                </a:cubicBezTo>
                <a:cubicBezTo>
                  <a:pt x="1061085" y="897255"/>
                  <a:pt x="1056005" y="900113"/>
                  <a:pt x="1049655" y="902018"/>
                </a:cubicBezTo>
                <a:cubicBezTo>
                  <a:pt x="1043305" y="903923"/>
                  <a:pt x="1038860" y="905510"/>
                  <a:pt x="1036320" y="906780"/>
                </a:cubicBezTo>
                <a:cubicBezTo>
                  <a:pt x="1033780" y="906780"/>
                  <a:pt x="1028700" y="907415"/>
                  <a:pt x="1021080" y="908685"/>
                </a:cubicBezTo>
                <a:cubicBezTo>
                  <a:pt x="1013460" y="909955"/>
                  <a:pt x="1006475" y="912495"/>
                  <a:pt x="1000125" y="916305"/>
                </a:cubicBezTo>
                <a:cubicBezTo>
                  <a:pt x="997585" y="911225"/>
                  <a:pt x="993458" y="909320"/>
                  <a:pt x="987743" y="910590"/>
                </a:cubicBezTo>
                <a:cubicBezTo>
                  <a:pt x="982028" y="911860"/>
                  <a:pt x="978535" y="912495"/>
                  <a:pt x="977265" y="912495"/>
                </a:cubicBezTo>
                <a:cubicBezTo>
                  <a:pt x="967105" y="909955"/>
                  <a:pt x="970915" y="906780"/>
                  <a:pt x="988695" y="902970"/>
                </a:cubicBezTo>
                <a:cubicBezTo>
                  <a:pt x="1003935" y="896620"/>
                  <a:pt x="1025525" y="884555"/>
                  <a:pt x="1053465" y="866775"/>
                </a:cubicBezTo>
                <a:lnTo>
                  <a:pt x="1089660" y="845820"/>
                </a:lnTo>
                <a:lnTo>
                  <a:pt x="1158240" y="811530"/>
                </a:lnTo>
                <a:cubicBezTo>
                  <a:pt x="1160780" y="803910"/>
                  <a:pt x="1158558" y="798513"/>
                  <a:pt x="1151573" y="795338"/>
                </a:cubicBezTo>
                <a:cubicBezTo>
                  <a:pt x="1144588" y="792163"/>
                  <a:pt x="1135063" y="790258"/>
                  <a:pt x="1122998" y="789623"/>
                </a:cubicBezTo>
                <a:cubicBezTo>
                  <a:pt x="1110933" y="788988"/>
                  <a:pt x="1101725" y="788035"/>
                  <a:pt x="1095375" y="786765"/>
                </a:cubicBezTo>
                <a:cubicBezTo>
                  <a:pt x="1087755" y="785495"/>
                  <a:pt x="1079183" y="784225"/>
                  <a:pt x="1069658" y="782955"/>
                </a:cubicBezTo>
                <a:cubicBezTo>
                  <a:pt x="1060133" y="781685"/>
                  <a:pt x="1048385" y="781050"/>
                  <a:pt x="1034415" y="781050"/>
                </a:cubicBezTo>
                <a:cubicBezTo>
                  <a:pt x="1029335" y="783590"/>
                  <a:pt x="1023620" y="783908"/>
                  <a:pt x="1017270" y="782003"/>
                </a:cubicBezTo>
                <a:cubicBezTo>
                  <a:pt x="1010920" y="780098"/>
                  <a:pt x="1006475" y="778510"/>
                  <a:pt x="1003935" y="777240"/>
                </a:cubicBezTo>
                <a:cubicBezTo>
                  <a:pt x="996315" y="777240"/>
                  <a:pt x="979488" y="777240"/>
                  <a:pt x="953453" y="777240"/>
                </a:cubicBezTo>
                <a:cubicBezTo>
                  <a:pt x="927418" y="777240"/>
                  <a:pt x="903605" y="775970"/>
                  <a:pt x="882015" y="773430"/>
                </a:cubicBezTo>
                <a:cubicBezTo>
                  <a:pt x="874395" y="775970"/>
                  <a:pt x="863600" y="777240"/>
                  <a:pt x="849630" y="777240"/>
                </a:cubicBezTo>
                <a:cubicBezTo>
                  <a:pt x="844550" y="777240"/>
                  <a:pt x="838200" y="776923"/>
                  <a:pt x="830580" y="776288"/>
                </a:cubicBezTo>
                <a:cubicBezTo>
                  <a:pt x="822960" y="775653"/>
                  <a:pt x="814705" y="775970"/>
                  <a:pt x="805815" y="777240"/>
                </a:cubicBezTo>
                <a:cubicBezTo>
                  <a:pt x="767715" y="784860"/>
                  <a:pt x="727393" y="788670"/>
                  <a:pt x="684848" y="788670"/>
                </a:cubicBezTo>
                <a:cubicBezTo>
                  <a:pt x="642303" y="788670"/>
                  <a:pt x="617220" y="788670"/>
                  <a:pt x="609600" y="788670"/>
                </a:cubicBezTo>
                <a:cubicBezTo>
                  <a:pt x="604520" y="788670"/>
                  <a:pt x="595948" y="788988"/>
                  <a:pt x="583883" y="789623"/>
                </a:cubicBezTo>
                <a:cubicBezTo>
                  <a:pt x="571818" y="790258"/>
                  <a:pt x="561975" y="792480"/>
                  <a:pt x="554355" y="796290"/>
                </a:cubicBezTo>
                <a:cubicBezTo>
                  <a:pt x="545465" y="795020"/>
                  <a:pt x="532130" y="794385"/>
                  <a:pt x="514350" y="794385"/>
                </a:cubicBezTo>
                <a:lnTo>
                  <a:pt x="434340" y="796290"/>
                </a:lnTo>
                <a:cubicBezTo>
                  <a:pt x="416560" y="798830"/>
                  <a:pt x="392430" y="807720"/>
                  <a:pt x="361950" y="822960"/>
                </a:cubicBezTo>
                <a:lnTo>
                  <a:pt x="320040" y="840105"/>
                </a:lnTo>
                <a:cubicBezTo>
                  <a:pt x="316230" y="841375"/>
                  <a:pt x="312103" y="842645"/>
                  <a:pt x="307658" y="843915"/>
                </a:cubicBezTo>
                <a:cubicBezTo>
                  <a:pt x="303213" y="845185"/>
                  <a:pt x="297815" y="845820"/>
                  <a:pt x="291465" y="845820"/>
                </a:cubicBezTo>
                <a:cubicBezTo>
                  <a:pt x="285115" y="840740"/>
                  <a:pt x="278448" y="839153"/>
                  <a:pt x="271463" y="841058"/>
                </a:cubicBezTo>
                <a:cubicBezTo>
                  <a:pt x="264478" y="842963"/>
                  <a:pt x="256858" y="847090"/>
                  <a:pt x="248603" y="853440"/>
                </a:cubicBezTo>
                <a:cubicBezTo>
                  <a:pt x="240348" y="859790"/>
                  <a:pt x="233680" y="864235"/>
                  <a:pt x="228600" y="866775"/>
                </a:cubicBezTo>
                <a:cubicBezTo>
                  <a:pt x="222250" y="871855"/>
                  <a:pt x="215583" y="880110"/>
                  <a:pt x="208598" y="891540"/>
                </a:cubicBezTo>
                <a:cubicBezTo>
                  <a:pt x="201613" y="902970"/>
                  <a:pt x="195580" y="910590"/>
                  <a:pt x="190500" y="914400"/>
                </a:cubicBezTo>
                <a:cubicBezTo>
                  <a:pt x="185420" y="943610"/>
                  <a:pt x="181610" y="988695"/>
                  <a:pt x="179070" y="1049655"/>
                </a:cubicBezTo>
                <a:cubicBezTo>
                  <a:pt x="179070" y="1053465"/>
                  <a:pt x="177800" y="1062673"/>
                  <a:pt x="175260" y="1077278"/>
                </a:cubicBezTo>
                <a:cubicBezTo>
                  <a:pt x="172720" y="1091883"/>
                  <a:pt x="168275" y="1104900"/>
                  <a:pt x="161925" y="1116330"/>
                </a:cubicBezTo>
                <a:cubicBezTo>
                  <a:pt x="159385" y="1137920"/>
                  <a:pt x="156210" y="1154113"/>
                  <a:pt x="152400" y="1164908"/>
                </a:cubicBezTo>
                <a:cubicBezTo>
                  <a:pt x="148590" y="1175703"/>
                  <a:pt x="141605" y="1184275"/>
                  <a:pt x="131445" y="1190625"/>
                </a:cubicBezTo>
                <a:cubicBezTo>
                  <a:pt x="132715" y="1203325"/>
                  <a:pt x="123825" y="1214120"/>
                  <a:pt x="104775" y="1223010"/>
                </a:cubicBezTo>
                <a:lnTo>
                  <a:pt x="91440" y="1200150"/>
                </a:lnTo>
                <a:cubicBezTo>
                  <a:pt x="85090" y="1205230"/>
                  <a:pt x="79058" y="1206183"/>
                  <a:pt x="73343" y="1203008"/>
                </a:cubicBezTo>
                <a:cubicBezTo>
                  <a:pt x="67628" y="1199833"/>
                  <a:pt x="61278" y="1193800"/>
                  <a:pt x="54293" y="1184910"/>
                </a:cubicBezTo>
                <a:cubicBezTo>
                  <a:pt x="47308" y="1176020"/>
                  <a:pt x="41275" y="1169035"/>
                  <a:pt x="36195" y="1163955"/>
                </a:cubicBezTo>
                <a:cubicBezTo>
                  <a:pt x="31115" y="1156335"/>
                  <a:pt x="26670" y="1146175"/>
                  <a:pt x="22860" y="1133475"/>
                </a:cubicBezTo>
                <a:cubicBezTo>
                  <a:pt x="19050" y="1120775"/>
                  <a:pt x="15240" y="1110615"/>
                  <a:pt x="11430" y="1102995"/>
                </a:cubicBezTo>
                <a:cubicBezTo>
                  <a:pt x="5080" y="1096645"/>
                  <a:pt x="1588" y="1088073"/>
                  <a:pt x="953" y="1077278"/>
                </a:cubicBezTo>
                <a:cubicBezTo>
                  <a:pt x="318" y="1066483"/>
                  <a:pt x="0" y="1059180"/>
                  <a:pt x="0" y="1055370"/>
                </a:cubicBezTo>
                <a:cubicBezTo>
                  <a:pt x="0" y="1051560"/>
                  <a:pt x="318" y="1045210"/>
                  <a:pt x="953" y="1036320"/>
                </a:cubicBezTo>
                <a:cubicBezTo>
                  <a:pt x="1588" y="1027430"/>
                  <a:pt x="5080" y="1019810"/>
                  <a:pt x="11430" y="1013460"/>
                </a:cubicBezTo>
                <a:cubicBezTo>
                  <a:pt x="8890" y="1007110"/>
                  <a:pt x="10160" y="1001395"/>
                  <a:pt x="15240" y="996315"/>
                </a:cubicBezTo>
                <a:cubicBezTo>
                  <a:pt x="20320" y="991235"/>
                  <a:pt x="23495" y="988060"/>
                  <a:pt x="24765" y="986790"/>
                </a:cubicBezTo>
                <a:cubicBezTo>
                  <a:pt x="22225" y="976630"/>
                  <a:pt x="24765" y="965518"/>
                  <a:pt x="32385" y="953453"/>
                </a:cubicBezTo>
                <a:cubicBezTo>
                  <a:pt x="40005" y="941388"/>
                  <a:pt x="45720" y="932180"/>
                  <a:pt x="49530" y="925830"/>
                </a:cubicBezTo>
                <a:cubicBezTo>
                  <a:pt x="50800" y="914400"/>
                  <a:pt x="53975" y="901700"/>
                  <a:pt x="59055" y="887730"/>
                </a:cubicBezTo>
                <a:cubicBezTo>
                  <a:pt x="60325" y="881380"/>
                  <a:pt x="62230" y="874078"/>
                  <a:pt x="64770" y="865823"/>
                </a:cubicBezTo>
                <a:cubicBezTo>
                  <a:pt x="67310" y="857568"/>
                  <a:pt x="69215" y="848360"/>
                  <a:pt x="70485" y="838200"/>
                </a:cubicBezTo>
                <a:cubicBezTo>
                  <a:pt x="70485" y="835660"/>
                  <a:pt x="70485" y="829310"/>
                  <a:pt x="70485" y="819150"/>
                </a:cubicBezTo>
                <a:cubicBezTo>
                  <a:pt x="70485" y="808990"/>
                  <a:pt x="69215" y="800100"/>
                  <a:pt x="66675" y="792480"/>
                </a:cubicBezTo>
                <a:cubicBezTo>
                  <a:pt x="66675" y="789940"/>
                  <a:pt x="66358" y="785495"/>
                  <a:pt x="65723" y="779145"/>
                </a:cubicBezTo>
                <a:cubicBezTo>
                  <a:pt x="65088" y="772795"/>
                  <a:pt x="66040" y="767080"/>
                  <a:pt x="68580" y="762000"/>
                </a:cubicBezTo>
                <a:cubicBezTo>
                  <a:pt x="67310" y="755650"/>
                  <a:pt x="68263" y="749618"/>
                  <a:pt x="71438" y="743903"/>
                </a:cubicBezTo>
                <a:cubicBezTo>
                  <a:pt x="74613" y="738188"/>
                  <a:pt x="76835" y="733425"/>
                  <a:pt x="78105" y="729615"/>
                </a:cubicBezTo>
                <a:cubicBezTo>
                  <a:pt x="83185" y="725805"/>
                  <a:pt x="88583" y="725488"/>
                  <a:pt x="94298" y="728663"/>
                </a:cubicBezTo>
                <a:cubicBezTo>
                  <a:pt x="100013" y="731838"/>
                  <a:pt x="103505" y="736600"/>
                  <a:pt x="104775" y="742950"/>
                </a:cubicBezTo>
                <a:cubicBezTo>
                  <a:pt x="112395" y="745490"/>
                  <a:pt x="121285" y="751840"/>
                  <a:pt x="131445" y="762000"/>
                </a:cubicBezTo>
                <a:cubicBezTo>
                  <a:pt x="142875" y="763270"/>
                  <a:pt x="151130" y="772160"/>
                  <a:pt x="156210" y="788670"/>
                </a:cubicBezTo>
                <a:cubicBezTo>
                  <a:pt x="158750" y="805180"/>
                  <a:pt x="163195" y="818515"/>
                  <a:pt x="169545" y="828675"/>
                </a:cubicBezTo>
                <a:cubicBezTo>
                  <a:pt x="168275" y="836295"/>
                  <a:pt x="170180" y="839788"/>
                  <a:pt x="175260" y="839153"/>
                </a:cubicBezTo>
                <a:cubicBezTo>
                  <a:pt x="180340" y="838518"/>
                  <a:pt x="187325" y="835343"/>
                  <a:pt x="196215" y="829628"/>
                </a:cubicBezTo>
                <a:cubicBezTo>
                  <a:pt x="205105" y="823913"/>
                  <a:pt x="211455" y="819785"/>
                  <a:pt x="215265" y="817245"/>
                </a:cubicBezTo>
                <a:cubicBezTo>
                  <a:pt x="221615" y="814705"/>
                  <a:pt x="231458" y="811213"/>
                  <a:pt x="244793" y="806768"/>
                </a:cubicBezTo>
                <a:cubicBezTo>
                  <a:pt x="258128" y="802323"/>
                  <a:pt x="269875" y="797560"/>
                  <a:pt x="280035" y="792480"/>
                </a:cubicBezTo>
                <a:cubicBezTo>
                  <a:pt x="286385" y="791210"/>
                  <a:pt x="303213" y="787400"/>
                  <a:pt x="330518" y="781050"/>
                </a:cubicBezTo>
                <a:cubicBezTo>
                  <a:pt x="357823" y="774700"/>
                  <a:pt x="382905" y="766445"/>
                  <a:pt x="405765" y="756285"/>
                </a:cubicBezTo>
                <a:cubicBezTo>
                  <a:pt x="433705" y="751205"/>
                  <a:pt x="454025" y="748665"/>
                  <a:pt x="466725" y="748665"/>
                </a:cubicBezTo>
                <a:cubicBezTo>
                  <a:pt x="489585" y="742315"/>
                  <a:pt x="525145" y="735330"/>
                  <a:pt x="573405" y="727710"/>
                </a:cubicBezTo>
                <a:cubicBezTo>
                  <a:pt x="583565" y="726440"/>
                  <a:pt x="599758" y="725170"/>
                  <a:pt x="621983" y="723900"/>
                </a:cubicBezTo>
                <a:cubicBezTo>
                  <a:pt x="644208" y="722630"/>
                  <a:pt x="663575" y="719455"/>
                  <a:pt x="680085" y="714375"/>
                </a:cubicBezTo>
                <a:lnTo>
                  <a:pt x="695325" y="716280"/>
                </a:lnTo>
                <a:cubicBezTo>
                  <a:pt x="700405" y="716280"/>
                  <a:pt x="708025" y="715010"/>
                  <a:pt x="718185" y="712470"/>
                </a:cubicBezTo>
                <a:cubicBezTo>
                  <a:pt x="732155" y="712470"/>
                  <a:pt x="751840" y="711200"/>
                  <a:pt x="777240" y="708660"/>
                </a:cubicBezTo>
                <a:cubicBezTo>
                  <a:pt x="802640" y="706120"/>
                  <a:pt x="821690" y="705485"/>
                  <a:pt x="834390" y="706755"/>
                </a:cubicBezTo>
                <a:cubicBezTo>
                  <a:pt x="849630" y="704215"/>
                  <a:pt x="872490" y="702945"/>
                  <a:pt x="902970" y="702945"/>
                </a:cubicBezTo>
                <a:cubicBezTo>
                  <a:pt x="934720" y="702945"/>
                  <a:pt x="957580" y="700405"/>
                  <a:pt x="971550" y="695325"/>
                </a:cubicBezTo>
                <a:cubicBezTo>
                  <a:pt x="1017270" y="695325"/>
                  <a:pt x="1051560" y="694690"/>
                  <a:pt x="1074420" y="693420"/>
                </a:cubicBezTo>
                <a:cubicBezTo>
                  <a:pt x="1096010" y="689610"/>
                  <a:pt x="1116965" y="687705"/>
                  <a:pt x="1137285" y="687705"/>
                </a:cubicBezTo>
                <a:close/>
                <a:moveTo>
                  <a:pt x="632460" y="0"/>
                </a:moveTo>
                <a:cubicBezTo>
                  <a:pt x="636270" y="2540"/>
                  <a:pt x="643255" y="7938"/>
                  <a:pt x="653415" y="16193"/>
                </a:cubicBezTo>
                <a:cubicBezTo>
                  <a:pt x="663575" y="24448"/>
                  <a:pt x="669290" y="33655"/>
                  <a:pt x="670560" y="43815"/>
                </a:cubicBezTo>
                <a:cubicBezTo>
                  <a:pt x="674370" y="48895"/>
                  <a:pt x="680085" y="54610"/>
                  <a:pt x="687705" y="60960"/>
                </a:cubicBezTo>
                <a:cubicBezTo>
                  <a:pt x="695325" y="67310"/>
                  <a:pt x="700405" y="73660"/>
                  <a:pt x="702945" y="80010"/>
                </a:cubicBezTo>
                <a:cubicBezTo>
                  <a:pt x="706755" y="83820"/>
                  <a:pt x="714375" y="91758"/>
                  <a:pt x="725805" y="103823"/>
                </a:cubicBezTo>
                <a:cubicBezTo>
                  <a:pt x="737235" y="115888"/>
                  <a:pt x="745490" y="128270"/>
                  <a:pt x="750570" y="140970"/>
                </a:cubicBezTo>
                <a:cubicBezTo>
                  <a:pt x="751840" y="144780"/>
                  <a:pt x="752475" y="151130"/>
                  <a:pt x="752475" y="160020"/>
                </a:cubicBezTo>
                <a:cubicBezTo>
                  <a:pt x="752475" y="168910"/>
                  <a:pt x="751840" y="175895"/>
                  <a:pt x="750570" y="180975"/>
                </a:cubicBezTo>
                <a:cubicBezTo>
                  <a:pt x="745490" y="186055"/>
                  <a:pt x="742950" y="191135"/>
                  <a:pt x="742950" y="196215"/>
                </a:cubicBezTo>
                <a:cubicBezTo>
                  <a:pt x="742950" y="202565"/>
                  <a:pt x="749300" y="205740"/>
                  <a:pt x="762000" y="205740"/>
                </a:cubicBezTo>
                <a:cubicBezTo>
                  <a:pt x="773430" y="205740"/>
                  <a:pt x="789940" y="202565"/>
                  <a:pt x="811530" y="196215"/>
                </a:cubicBezTo>
                <a:cubicBezTo>
                  <a:pt x="817880" y="198755"/>
                  <a:pt x="822960" y="203835"/>
                  <a:pt x="826770" y="211455"/>
                </a:cubicBezTo>
                <a:cubicBezTo>
                  <a:pt x="830580" y="219075"/>
                  <a:pt x="833755" y="224155"/>
                  <a:pt x="836295" y="226695"/>
                </a:cubicBezTo>
                <a:cubicBezTo>
                  <a:pt x="854075" y="234315"/>
                  <a:pt x="867410" y="239395"/>
                  <a:pt x="876300" y="241935"/>
                </a:cubicBezTo>
                <a:cubicBezTo>
                  <a:pt x="892810" y="254635"/>
                  <a:pt x="902970" y="269875"/>
                  <a:pt x="906780" y="287655"/>
                </a:cubicBezTo>
                <a:cubicBezTo>
                  <a:pt x="910590" y="291465"/>
                  <a:pt x="915988" y="297815"/>
                  <a:pt x="922973" y="306705"/>
                </a:cubicBezTo>
                <a:cubicBezTo>
                  <a:pt x="929958" y="315595"/>
                  <a:pt x="934720" y="323850"/>
                  <a:pt x="937260" y="331470"/>
                </a:cubicBezTo>
                <a:cubicBezTo>
                  <a:pt x="941070" y="336550"/>
                  <a:pt x="942975" y="340043"/>
                  <a:pt x="942975" y="341948"/>
                </a:cubicBezTo>
                <a:cubicBezTo>
                  <a:pt x="942975" y="343853"/>
                  <a:pt x="941070" y="347980"/>
                  <a:pt x="937260" y="354330"/>
                </a:cubicBezTo>
                <a:cubicBezTo>
                  <a:pt x="935990" y="360680"/>
                  <a:pt x="938213" y="367983"/>
                  <a:pt x="943928" y="376238"/>
                </a:cubicBezTo>
                <a:cubicBezTo>
                  <a:pt x="949643" y="384493"/>
                  <a:pt x="953135" y="390525"/>
                  <a:pt x="954405" y="394335"/>
                </a:cubicBezTo>
                <a:cubicBezTo>
                  <a:pt x="959485" y="398145"/>
                  <a:pt x="961708" y="402590"/>
                  <a:pt x="961073" y="407670"/>
                </a:cubicBezTo>
                <a:cubicBezTo>
                  <a:pt x="960438" y="412750"/>
                  <a:pt x="960120" y="415925"/>
                  <a:pt x="960120" y="417195"/>
                </a:cubicBezTo>
                <a:cubicBezTo>
                  <a:pt x="960120" y="421005"/>
                  <a:pt x="962025" y="424180"/>
                  <a:pt x="965835" y="426720"/>
                </a:cubicBezTo>
                <a:cubicBezTo>
                  <a:pt x="956945" y="430530"/>
                  <a:pt x="947420" y="434975"/>
                  <a:pt x="937260" y="440055"/>
                </a:cubicBezTo>
                <a:cubicBezTo>
                  <a:pt x="927100" y="445135"/>
                  <a:pt x="915670" y="449580"/>
                  <a:pt x="902970" y="453390"/>
                </a:cubicBezTo>
                <a:cubicBezTo>
                  <a:pt x="900430" y="453390"/>
                  <a:pt x="893763" y="454025"/>
                  <a:pt x="882968" y="455295"/>
                </a:cubicBezTo>
                <a:cubicBezTo>
                  <a:pt x="872173" y="456565"/>
                  <a:pt x="862965" y="459740"/>
                  <a:pt x="855345" y="464820"/>
                </a:cubicBezTo>
                <a:cubicBezTo>
                  <a:pt x="837565" y="466090"/>
                  <a:pt x="809625" y="471805"/>
                  <a:pt x="771525" y="481965"/>
                </a:cubicBezTo>
                <a:cubicBezTo>
                  <a:pt x="755015" y="489585"/>
                  <a:pt x="735648" y="494983"/>
                  <a:pt x="713423" y="498158"/>
                </a:cubicBezTo>
                <a:cubicBezTo>
                  <a:pt x="691198" y="501333"/>
                  <a:pt x="674370" y="504190"/>
                  <a:pt x="662940" y="506730"/>
                </a:cubicBezTo>
                <a:cubicBezTo>
                  <a:pt x="652780" y="513080"/>
                  <a:pt x="653098" y="515620"/>
                  <a:pt x="663893" y="514350"/>
                </a:cubicBezTo>
                <a:cubicBezTo>
                  <a:pt x="674688" y="513080"/>
                  <a:pt x="684530" y="510540"/>
                  <a:pt x="693420" y="506730"/>
                </a:cubicBezTo>
                <a:lnTo>
                  <a:pt x="720090" y="504825"/>
                </a:lnTo>
                <a:cubicBezTo>
                  <a:pt x="727710" y="504825"/>
                  <a:pt x="733425" y="506095"/>
                  <a:pt x="737235" y="508635"/>
                </a:cubicBezTo>
                <a:cubicBezTo>
                  <a:pt x="755015" y="522605"/>
                  <a:pt x="778510" y="536575"/>
                  <a:pt x="807720" y="550545"/>
                </a:cubicBezTo>
                <a:cubicBezTo>
                  <a:pt x="831850" y="568325"/>
                  <a:pt x="847725" y="579120"/>
                  <a:pt x="855345" y="582930"/>
                </a:cubicBezTo>
                <a:cubicBezTo>
                  <a:pt x="866775" y="600710"/>
                  <a:pt x="873760" y="612140"/>
                  <a:pt x="876300" y="617220"/>
                </a:cubicBezTo>
                <a:cubicBezTo>
                  <a:pt x="880110" y="636270"/>
                  <a:pt x="882015" y="646430"/>
                  <a:pt x="882015" y="647700"/>
                </a:cubicBezTo>
                <a:cubicBezTo>
                  <a:pt x="879475" y="651510"/>
                  <a:pt x="875665" y="656590"/>
                  <a:pt x="870585" y="662940"/>
                </a:cubicBezTo>
                <a:cubicBezTo>
                  <a:pt x="865505" y="669290"/>
                  <a:pt x="862330" y="675640"/>
                  <a:pt x="861060" y="681990"/>
                </a:cubicBezTo>
                <a:cubicBezTo>
                  <a:pt x="853440" y="689610"/>
                  <a:pt x="843598" y="694373"/>
                  <a:pt x="831533" y="696278"/>
                </a:cubicBezTo>
                <a:cubicBezTo>
                  <a:pt x="819468" y="698183"/>
                  <a:pt x="810260" y="699770"/>
                  <a:pt x="803910" y="701040"/>
                </a:cubicBezTo>
                <a:cubicBezTo>
                  <a:pt x="793750" y="697230"/>
                  <a:pt x="782320" y="694373"/>
                  <a:pt x="769620" y="692468"/>
                </a:cubicBezTo>
                <a:cubicBezTo>
                  <a:pt x="756920" y="690563"/>
                  <a:pt x="748030" y="688975"/>
                  <a:pt x="742950" y="687705"/>
                </a:cubicBezTo>
                <a:cubicBezTo>
                  <a:pt x="726440" y="687705"/>
                  <a:pt x="702945" y="690245"/>
                  <a:pt x="672465" y="695325"/>
                </a:cubicBezTo>
                <a:cubicBezTo>
                  <a:pt x="647065" y="704215"/>
                  <a:pt x="623570" y="709295"/>
                  <a:pt x="601980" y="710565"/>
                </a:cubicBezTo>
                <a:cubicBezTo>
                  <a:pt x="579120" y="715645"/>
                  <a:pt x="561975" y="720090"/>
                  <a:pt x="550545" y="723900"/>
                </a:cubicBezTo>
                <a:cubicBezTo>
                  <a:pt x="502285" y="737870"/>
                  <a:pt x="460375" y="745490"/>
                  <a:pt x="424815" y="746760"/>
                </a:cubicBezTo>
                <a:cubicBezTo>
                  <a:pt x="421005" y="748030"/>
                  <a:pt x="414655" y="748665"/>
                  <a:pt x="405765" y="748665"/>
                </a:cubicBezTo>
                <a:cubicBezTo>
                  <a:pt x="395605" y="748665"/>
                  <a:pt x="387033" y="748030"/>
                  <a:pt x="380048" y="746760"/>
                </a:cubicBezTo>
                <a:cubicBezTo>
                  <a:pt x="373063" y="745490"/>
                  <a:pt x="367030" y="744220"/>
                  <a:pt x="361950" y="742950"/>
                </a:cubicBezTo>
                <a:cubicBezTo>
                  <a:pt x="351790" y="740410"/>
                  <a:pt x="342265" y="734695"/>
                  <a:pt x="333375" y="725805"/>
                </a:cubicBezTo>
                <a:cubicBezTo>
                  <a:pt x="324485" y="716915"/>
                  <a:pt x="318770" y="711200"/>
                  <a:pt x="316230" y="708660"/>
                </a:cubicBezTo>
                <a:cubicBezTo>
                  <a:pt x="306070" y="703580"/>
                  <a:pt x="298450" y="694055"/>
                  <a:pt x="293370" y="680085"/>
                </a:cubicBezTo>
                <a:cubicBezTo>
                  <a:pt x="288290" y="675005"/>
                  <a:pt x="284480" y="664845"/>
                  <a:pt x="281940" y="649605"/>
                </a:cubicBezTo>
                <a:cubicBezTo>
                  <a:pt x="276860" y="644525"/>
                  <a:pt x="274320" y="638175"/>
                  <a:pt x="274320" y="630555"/>
                </a:cubicBezTo>
                <a:cubicBezTo>
                  <a:pt x="274320" y="622935"/>
                  <a:pt x="276225" y="616585"/>
                  <a:pt x="280035" y="611505"/>
                </a:cubicBezTo>
                <a:cubicBezTo>
                  <a:pt x="283845" y="606425"/>
                  <a:pt x="288925" y="603885"/>
                  <a:pt x="295275" y="603885"/>
                </a:cubicBezTo>
                <a:cubicBezTo>
                  <a:pt x="306705" y="605155"/>
                  <a:pt x="319723" y="604203"/>
                  <a:pt x="334328" y="601028"/>
                </a:cubicBezTo>
                <a:cubicBezTo>
                  <a:pt x="348933" y="597853"/>
                  <a:pt x="361315" y="595630"/>
                  <a:pt x="371475" y="594360"/>
                </a:cubicBezTo>
                <a:cubicBezTo>
                  <a:pt x="377825" y="590550"/>
                  <a:pt x="386398" y="587058"/>
                  <a:pt x="397193" y="583883"/>
                </a:cubicBezTo>
                <a:cubicBezTo>
                  <a:pt x="407988" y="580708"/>
                  <a:pt x="415925" y="578485"/>
                  <a:pt x="421005" y="577215"/>
                </a:cubicBezTo>
                <a:cubicBezTo>
                  <a:pt x="424815" y="568325"/>
                  <a:pt x="427990" y="553720"/>
                  <a:pt x="430530" y="533400"/>
                </a:cubicBezTo>
                <a:cubicBezTo>
                  <a:pt x="411480" y="521970"/>
                  <a:pt x="386715" y="516255"/>
                  <a:pt x="356235" y="516255"/>
                </a:cubicBezTo>
                <a:cubicBezTo>
                  <a:pt x="340995" y="516255"/>
                  <a:pt x="316865" y="518795"/>
                  <a:pt x="283845" y="523875"/>
                </a:cubicBezTo>
                <a:cubicBezTo>
                  <a:pt x="276225" y="525145"/>
                  <a:pt x="267335" y="526415"/>
                  <a:pt x="257175" y="527685"/>
                </a:cubicBezTo>
                <a:cubicBezTo>
                  <a:pt x="247015" y="528955"/>
                  <a:pt x="235585" y="529590"/>
                  <a:pt x="222885" y="529590"/>
                </a:cubicBezTo>
                <a:cubicBezTo>
                  <a:pt x="198755" y="513080"/>
                  <a:pt x="181610" y="503555"/>
                  <a:pt x="171450" y="501015"/>
                </a:cubicBezTo>
                <a:cubicBezTo>
                  <a:pt x="163830" y="490855"/>
                  <a:pt x="160020" y="479425"/>
                  <a:pt x="160020" y="466725"/>
                </a:cubicBezTo>
                <a:cubicBezTo>
                  <a:pt x="162560" y="460375"/>
                  <a:pt x="161608" y="453390"/>
                  <a:pt x="157163" y="445770"/>
                </a:cubicBezTo>
                <a:cubicBezTo>
                  <a:pt x="152718" y="438150"/>
                  <a:pt x="149860" y="431800"/>
                  <a:pt x="148590" y="426720"/>
                </a:cubicBezTo>
                <a:cubicBezTo>
                  <a:pt x="137160" y="412750"/>
                  <a:pt x="130175" y="401955"/>
                  <a:pt x="127635" y="394335"/>
                </a:cubicBezTo>
                <a:cubicBezTo>
                  <a:pt x="127635" y="391795"/>
                  <a:pt x="127635" y="387033"/>
                  <a:pt x="127635" y="380048"/>
                </a:cubicBezTo>
                <a:cubicBezTo>
                  <a:pt x="127635" y="373063"/>
                  <a:pt x="128905" y="366395"/>
                  <a:pt x="131445" y="360045"/>
                </a:cubicBezTo>
                <a:cubicBezTo>
                  <a:pt x="130175" y="353695"/>
                  <a:pt x="130810" y="349568"/>
                  <a:pt x="133350" y="347663"/>
                </a:cubicBezTo>
                <a:cubicBezTo>
                  <a:pt x="135890" y="345758"/>
                  <a:pt x="140970" y="344805"/>
                  <a:pt x="148590" y="344805"/>
                </a:cubicBezTo>
                <a:lnTo>
                  <a:pt x="177165" y="346710"/>
                </a:lnTo>
                <a:cubicBezTo>
                  <a:pt x="226695" y="336550"/>
                  <a:pt x="300990" y="325120"/>
                  <a:pt x="400050" y="312420"/>
                </a:cubicBezTo>
                <a:cubicBezTo>
                  <a:pt x="405130" y="311150"/>
                  <a:pt x="417513" y="306705"/>
                  <a:pt x="437198" y="299085"/>
                </a:cubicBezTo>
                <a:cubicBezTo>
                  <a:pt x="456883" y="291465"/>
                  <a:pt x="475615" y="286385"/>
                  <a:pt x="493395" y="283845"/>
                </a:cubicBezTo>
                <a:cubicBezTo>
                  <a:pt x="499745" y="281305"/>
                  <a:pt x="508635" y="278130"/>
                  <a:pt x="520065" y="274320"/>
                </a:cubicBezTo>
                <a:cubicBezTo>
                  <a:pt x="531495" y="270510"/>
                  <a:pt x="541020" y="267970"/>
                  <a:pt x="548640" y="266700"/>
                </a:cubicBezTo>
                <a:cubicBezTo>
                  <a:pt x="553720" y="259080"/>
                  <a:pt x="557213" y="250508"/>
                  <a:pt x="559118" y="240983"/>
                </a:cubicBezTo>
                <a:cubicBezTo>
                  <a:pt x="561023" y="231458"/>
                  <a:pt x="562610" y="225425"/>
                  <a:pt x="563880" y="222885"/>
                </a:cubicBezTo>
                <a:cubicBezTo>
                  <a:pt x="568960" y="207645"/>
                  <a:pt x="573405" y="196850"/>
                  <a:pt x="577215" y="190500"/>
                </a:cubicBezTo>
                <a:cubicBezTo>
                  <a:pt x="578485" y="181610"/>
                  <a:pt x="579120" y="169863"/>
                  <a:pt x="579120" y="155258"/>
                </a:cubicBezTo>
                <a:cubicBezTo>
                  <a:pt x="579120" y="140653"/>
                  <a:pt x="579755" y="128905"/>
                  <a:pt x="581025" y="120015"/>
                </a:cubicBezTo>
                <a:cubicBezTo>
                  <a:pt x="578485" y="112395"/>
                  <a:pt x="577215" y="105410"/>
                  <a:pt x="577215" y="99060"/>
                </a:cubicBezTo>
                <a:lnTo>
                  <a:pt x="579120" y="68580"/>
                </a:lnTo>
                <a:cubicBezTo>
                  <a:pt x="576580" y="62230"/>
                  <a:pt x="577215" y="53975"/>
                  <a:pt x="581025" y="43815"/>
                </a:cubicBezTo>
                <a:cubicBezTo>
                  <a:pt x="584835" y="33655"/>
                  <a:pt x="586740" y="26670"/>
                  <a:pt x="586740" y="22860"/>
                </a:cubicBezTo>
                <a:lnTo>
                  <a:pt x="586740" y="17145"/>
                </a:lnTo>
                <a:cubicBezTo>
                  <a:pt x="588010" y="12065"/>
                  <a:pt x="588963" y="8890"/>
                  <a:pt x="589598" y="7620"/>
                </a:cubicBezTo>
                <a:cubicBezTo>
                  <a:pt x="590233" y="6350"/>
                  <a:pt x="593090" y="6985"/>
                  <a:pt x="598170" y="9525"/>
                </a:cubicBezTo>
                <a:cubicBezTo>
                  <a:pt x="610870" y="12065"/>
                  <a:pt x="621665" y="9525"/>
                  <a:pt x="630555" y="1905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15000" dirty="0">
              <a:solidFill>
                <a:schemeClr val="tx1">
                  <a:lumMod val="85000"/>
                  <a:lumOff val="15000"/>
                </a:schemeClr>
              </a:solidFill>
              <a:latin typeface="字魂110号-武林江湖体" panose="00000500000000000000" pitchFamily="2" charset="-122"/>
              <a:ea typeface="字魂110号-武林江湖体" panose="00000500000000000000" pitchFamily="2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7042154" y="3270027"/>
            <a:ext cx="2818130" cy="609600"/>
            <a:chOff x="6992923" y="2918908"/>
            <a:chExt cx="2818130" cy="609600"/>
          </a:xfrm>
        </p:grpSpPr>
        <p:sp>
          <p:nvSpPr>
            <p:cNvPr id="28" name="矩形 27"/>
            <p:cNvSpPr/>
            <p:nvPr/>
          </p:nvSpPr>
          <p:spPr>
            <a:xfrm>
              <a:off x="6992923" y="3035113"/>
              <a:ext cx="1594330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zh-CN" altLang="en-US" sz="1400" dirty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6992923" y="2918908"/>
              <a:ext cx="2818130" cy="60960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zh-CN" altLang="en-US" sz="4000" dirty="0">
                  <a:solidFill>
                    <a:srgbClr val="6FB4BD"/>
                  </a:solidFill>
                  <a:latin typeface="华文新魏" panose="02010800040101010101" charset="-122"/>
                  <a:ea typeface="华文新魏" panose="02010800040101010101" charset="-122"/>
                  <a:sym typeface="+mn-ea"/>
                </a:rPr>
                <a:t>决策树</a:t>
              </a:r>
              <a:endParaRPr lang="en-US" altLang="zh-CN" sz="4000" dirty="0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在地上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2524"/>
          <a:stretch>
            <a:fillRect/>
          </a:stretch>
        </p:blipFill>
        <p:spPr>
          <a:xfrm>
            <a:off x="0" y="2832100"/>
            <a:ext cx="12192000" cy="4025900"/>
          </a:xfrm>
          <a:custGeom>
            <a:avLst/>
            <a:gdLst>
              <a:gd name="connsiteX0" fmla="*/ 0 w 12192000"/>
              <a:gd name="connsiteY0" fmla="*/ 0 h 4025900"/>
              <a:gd name="connsiteX1" fmla="*/ 12192000 w 12192000"/>
              <a:gd name="connsiteY1" fmla="*/ 0 h 4025900"/>
              <a:gd name="connsiteX2" fmla="*/ 12192000 w 12192000"/>
              <a:gd name="connsiteY2" fmla="*/ 4025900 h 4025900"/>
              <a:gd name="connsiteX3" fmla="*/ 0 w 12192000"/>
              <a:gd name="connsiteY3" fmla="*/ 4025900 h 402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025900">
                <a:moveTo>
                  <a:pt x="0" y="0"/>
                </a:moveTo>
                <a:lnTo>
                  <a:pt x="12192000" y="0"/>
                </a:lnTo>
                <a:lnTo>
                  <a:pt x="12192000" y="4025900"/>
                </a:lnTo>
                <a:lnTo>
                  <a:pt x="0" y="4025900"/>
                </a:lnTo>
                <a:close/>
              </a:path>
            </a:pathLst>
          </a:custGeom>
        </p:spPr>
      </p:pic>
      <p:grpSp>
        <p:nvGrpSpPr>
          <p:cNvPr id="36" name="组合 35"/>
          <p:cNvGrpSpPr/>
          <p:nvPr/>
        </p:nvGrpSpPr>
        <p:grpSpPr>
          <a:xfrm rot="0">
            <a:off x="265430" y="302260"/>
            <a:ext cx="5536565" cy="6136640"/>
            <a:chOff x="-5200593" y="1133320"/>
            <a:chExt cx="5430943" cy="6136027"/>
          </a:xfrm>
        </p:grpSpPr>
        <p:sp>
          <p:nvSpPr>
            <p:cNvPr id="38" name="文本框 37"/>
            <p:cNvSpPr txBox="1"/>
            <p:nvPr/>
          </p:nvSpPr>
          <p:spPr>
            <a:xfrm>
              <a:off x="-5200593" y="1532060"/>
              <a:ext cx="5430943" cy="573728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30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S Chinese Light" panose="020B0300000000000000" pitchFamily="34" charset="-122"/>
                  <a:ea typeface="Noto Sans S Chinese Light" panose="020B0300000000000000" pitchFamily="34" charset="-122"/>
                  <a:cs typeface="Calibri" panose="020F0502020204030204" pitchFamily="34" charset="0"/>
                </a:defRPr>
              </a:lvl1pPr>
            </a:lstStyle>
            <a:p>
              <a:pPr marL="342900" indent="-342900" algn="just" fontAlgn="auto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sz="1800" dirty="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决策树：从训练数据中学习得出一个树状结构的模型。</a:t>
              </a:r>
              <a:endParaRPr lang="zh-CN" altLang="en-US" sz="1800" dirty="0"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  <a:p>
              <a:pPr marL="342900" indent="-342900" algn="just" fontAlgn="auto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sz="1800" dirty="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决策树属于</a:t>
              </a:r>
              <a:r>
                <a:rPr lang="zh-CN" altLang="en-US" sz="1800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判别模型</a:t>
              </a:r>
              <a:r>
                <a:rPr lang="zh-CN" altLang="en-US" sz="1800" dirty="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。</a:t>
              </a:r>
              <a:endParaRPr lang="zh-CN" altLang="en-US" sz="1800" dirty="0"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  <a:p>
              <a:pPr marL="342900" indent="-342900" algn="just" fontAlgn="auto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sz="1800" dirty="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决策树是一种树状结构，通过做出一系列决策（选择）来对数据进行划分，这类似于针对一系列问题进行选择。</a:t>
              </a:r>
              <a:endParaRPr lang="zh-CN" altLang="en-US" sz="1800" dirty="0"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  <a:p>
              <a:pPr marL="285750" indent="-285750" algn="l" fontAlgn="auto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sz="1800">
                  <a:latin typeface="+mn-ea"/>
                  <a:ea typeface="+mn-ea"/>
                  <a:sym typeface="+mn-ea"/>
                </a:rPr>
                <a:t>从结构上看，决策树的起始点叫做</a:t>
              </a:r>
              <a:r>
                <a:rPr lang="zh-CN" altLang="en-US" sz="1800" u="sng">
                  <a:solidFill>
                    <a:schemeClr val="tx1"/>
                  </a:solidFill>
                  <a:latin typeface="+mn-ea"/>
                  <a:ea typeface="+mn-ea"/>
                  <a:sym typeface="+mn-ea"/>
                </a:rPr>
                <a:t>根节点</a:t>
              </a:r>
              <a:r>
                <a:rPr lang="zh-CN" altLang="en-US" sz="1800">
                  <a:latin typeface="+mn-ea"/>
                  <a:ea typeface="+mn-ea"/>
                  <a:sym typeface="+mn-ea"/>
                </a:rPr>
                <a:t>，根节点是没有入边但是有多条出边的节点；中间决策流程称为</a:t>
              </a:r>
              <a:r>
                <a:rPr lang="zh-CN" altLang="en-US" sz="1800" u="sng">
                  <a:latin typeface="+mn-ea"/>
                  <a:ea typeface="+mn-ea"/>
                  <a:sym typeface="+mn-ea"/>
                </a:rPr>
                <a:t>内部节点</a:t>
              </a:r>
              <a:r>
                <a:rPr lang="zh-CN" altLang="en-US" sz="1800">
                  <a:latin typeface="+mn-ea"/>
                  <a:ea typeface="+mn-ea"/>
                  <a:sym typeface="+mn-ea"/>
                </a:rPr>
                <a:t>，有一条入边多条出边；分类结果叫做</a:t>
              </a:r>
              <a:r>
                <a:rPr lang="zh-CN" altLang="en-US" sz="1800" u="sng">
                  <a:latin typeface="+mn-ea"/>
                  <a:ea typeface="+mn-ea"/>
                  <a:sym typeface="+mn-ea"/>
                </a:rPr>
                <a:t>叶结点</a:t>
              </a:r>
              <a:r>
                <a:rPr lang="zh-CN" altLang="en-US" sz="1800">
                  <a:latin typeface="+mn-ea"/>
                  <a:ea typeface="+mn-ea"/>
                  <a:sym typeface="+mn-ea"/>
                </a:rPr>
                <a:t>，有一条入边没有出边。</a:t>
              </a:r>
              <a:endParaRPr lang="zh-CN" altLang="en-US" sz="1800">
                <a:latin typeface="+mn-ea"/>
                <a:ea typeface="+mn-ea"/>
                <a:sym typeface="+mn-ea"/>
              </a:endParaRPr>
            </a:p>
            <a:p>
              <a:pPr marL="285750" indent="-285750" algn="l" fontAlgn="auto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sz="1800" dirty="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决策树的决策过程就是从根节点开始，测试待分类项中对应的特征属性，并按照其值选择输出分支，直到叶子节点，将叶子节点的存放的类别作为决策结果。</a:t>
              </a:r>
              <a:endParaRPr lang="zh-CN" altLang="en-US" sz="1800">
                <a:latin typeface="+mn-ea"/>
                <a:ea typeface="+mn-ea"/>
              </a:endParaRPr>
            </a:p>
            <a:p>
              <a:pPr marL="342900" indent="-342900" algn="just">
                <a:lnSpc>
                  <a:spcPct val="150000"/>
                </a:lnSpc>
                <a:buFont typeface="Wingdings" panose="05000000000000000000" charset="0"/>
                <a:buChar char="Ø"/>
              </a:pPr>
              <a:endPara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-5200593" y="1133320"/>
              <a:ext cx="2547304" cy="398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600" b="1">
                  <a:solidFill>
                    <a:srgbClr val="020202"/>
                  </a:solidFill>
                  <a:latin typeface="Noto Sans S Chinese Light" panose="020B0300000000000000" pitchFamily="34" charset="-122"/>
                  <a:ea typeface="Noto Sans S Chinese Light" panose="020B0300000000000000" pitchFamily="34" charset="-122"/>
                  <a:cs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zh-CN" altLang="en-US" sz="2000" dirty="0">
                  <a:solidFill>
                    <a:srgbClr val="6FB4BD"/>
                  </a:solidFill>
                </a:rPr>
                <a:t>一、基本概念：</a:t>
              </a:r>
              <a:endParaRPr lang="zh-CN" altLang="en-US" sz="2000" dirty="0">
                <a:solidFill>
                  <a:srgbClr val="6FB4BD"/>
                </a:solidFill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876290" y="1309370"/>
            <a:ext cx="6096000" cy="4239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在地上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2524"/>
          <a:stretch>
            <a:fillRect/>
          </a:stretch>
        </p:blipFill>
        <p:spPr>
          <a:xfrm>
            <a:off x="0" y="2832100"/>
            <a:ext cx="12192000" cy="4025900"/>
          </a:xfrm>
          <a:custGeom>
            <a:avLst/>
            <a:gdLst>
              <a:gd name="connsiteX0" fmla="*/ 0 w 12192000"/>
              <a:gd name="connsiteY0" fmla="*/ 0 h 4025900"/>
              <a:gd name="connsiteX1" fmla="*/ 12192000 w 12192000"/>
              <a:gd name="connsiteY1" fmla="*/ 0 h 4025900"/>
              <a:gd name="connsiteX2" fmla="*/ 12192000 w 12192000"/>
              <a:gd name="connsiteY2" fmla="*/ 4025900 h 4025900"/>
              <a:gd name="connsiteX3" fmla="*/ 0 w 12192000"/>
              <a:gd name="connsiteY3" fmla="*/ 4025900 h 402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025900">
                <a:moveTo>
                  <a:pt x="0" y="0"/>
                </a:moveTo>
                <a:lnTo>
                  <a:pt x="12192000" y="0"/>
                </a:lnTo>
                <a:lnTo>
                  <a:pt x="12192000" y="4025900"/>
                </a:lnTo>
                <a:lnTo>
                  <a:pt x="0" y="4025900"/>
                </a:lnTo>
                <a:close/>
              </a:path>
            </a:pathLst>
          </a:custGeom>
        </p:spPr>
      </p:pic>
      <p:grpSp>
        <p:nvGrpSpPr>
          <p:cNvPr id="36" name="组合 35"/>
          <p:cNvGrpSpPr/>
          <p:nvPr/>
        </p:nvGrpSpPr>
        <p:grpSpPr>
          <a:xfrm rot="0">
            <a:off x="265430" y="302260"/>
            <a:ext cx="4824095" cy="6167755"/>
            <a:chOff x="-5200593" y="1133320"/>
            <a:chExt cx="4681074" cy="6167139"/>
          </a:xfrm>
        </p:grpSpPr>
        <p:sp>
          <p:nvSpPr>
            <p:cNvPr id="38" name="文本框 37"/>
            <p:cNvSpPr txBox="1"/>
            <p:nvPr/>
          </p:nvSpPr>
          <p:spPr>
            <a:xfrm>
              <a:off x="-5200593" y="1563172"/>
              <a:ext cx="4681074" cy="573728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30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S Chinese Light" panose="020B0300000000000000" pitchFamily="34" charset="-122"/>
                  <a:ea typeface="Noto Sans S Chinese Light" panose="020B0300000000000000" pitchFamily="34" charset="-122"/>
                  <a:cs typeface="Calibri" panose="020F0502020204030204" pitchFamily="34" charset="0"/>
                </a:defRPr>
              </a:lvl1pPr>
            </a:lstStyle>
            <a:p>
              <a:pPr marL="285750" indent="-285750" algn="just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sz="2000" dirty="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决策树算法是一种归纳分类算法，它通过对训练集的学习，挖掘出有用的规则，用于对新数据进行预测。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  <a:p>
              <a:pPr marL="285750" indent="-285750" algn="just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sz="2000" dirty="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决策树算法属于</a:t>
              </a:r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监督学习</a:t>
              </a:r>
              <a:r>
                <a:rPr lang="zh-CN" altLang="en-US" sz="2000" dirty="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方法。</a:t>
              </a:r>
              <a:endPara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endParaRPr>
            </a:p>
            <a:p>
              <a:pPr marL="285750" indent="-285750" algn="just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sz="2000" dirty="0">
                  <a:latin typeface="+mn-ea"/>
                  <a:ea typeface="+mn-ea"/>
                  <a:cs typeface="+mn-ea"/>
                  <a:sym typeface="+mn-ea"/>
                </a:rPr>
                <a:t>决策树归纳的基本算法是贪心算法，自顶向下来构建决策树。</a:t>
              </a:r>
              <a:endParaRPr lang="zh-CN" altLang="en-US" sz="2000" dirty="0">
                <a:latin typeface="+mn-ea"/>
                <a:ea typeface="+mn-ea"/>
                <a:cs typeface="+mn-ea"/>
                <a:sym typeface="+mn-ea"/>
              </a:endParaRPr>
            </a:p>
            <a:p>
              <a:pPr marL="285750" indent="-285750" algn="just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sz="2000" dirty="0">
                  <a:latin typeface="+mn-ea"/>
                  <a:ea typeface="+mn-ea"/>
                  <a:cs typeface="+mn-ea"/>
                  <a:sym typeface="+mn-ea"/>
                </a:rPr>
                <a:t>贪心算法：在每一步选择中都采取在当前状态下最好</a:t>
              </a:r>
              <a:r>
                <a:rPr lang="en-US" altLang="zh-CN" sz="2000" dirty="0">
                  <a:latin typeface="+mn-ea"/>
                  <a:ea typeface="+mn-ea"/>
                  <a:cs typeface="+mn-ea"/>
                  <a:sym typeface="+mn-ea"/>
                </a:rPr>
                <a:t>/</a:t>
              </a:r>
              <a:r>
                <a:rPr lang="zh-CN" altLang="en-US" sz="2000" dirty="0">
                  <a:latin typeface="+mn-ea"/>
                  <a:ea typeface="+mn-ea"/>
                  <a:cs typeface="+mn-ea"/>
                  <a:sym typeface="+mn-ea"/>
                </a:rPr>
                <a:t>优的选择。</a:t>
              </a:r>
              <a:endParaRPr lang="zh-CN" altLang="en-US" sz="2000" dirty="0">
                <a:latin typeface="+mn-ea"/>
                <a:ea typeface="+mn-ea"/>
                <a:cs typeface="+mn-ea"/>
                <a:sym typeface="+mn-ea"/>
              </a:endParaRPr>
            </a:p>
            <a:p>
              <a:pPr marL="285750" indent="-285750" algn="just">
                <a:lnSpc>
                  <a:spcPct val="150000"/>
                </a:lnSpc>
                <a:buFont typeface="Wingdings" panose="05000000000000000000" charset="0"/>
                <a:buChar char="Ø"/>
              </a:pPr>
              <a:r>
                <a:rPr lang="zh-CN" altLang="en-US" sz="2000" dirty="0">
                  <a:latin typeface="+mn-ea"/>
                  <a:ea typeface="+mn-ea"/>
                  <a:cs typeface="+mn-ea"/>
                  <a:sym typeface="+mn-ea"/>
                </a:rPr>
                <a:t>在决策树的生成过程中，分割方法即</a:t>
              </a:r>
              <a:r>
                <a:rPr lang="zh-CN" altLang="en-US" sz="2000" dirty="0">
                  <a:solidFill>
                    <a:srgbClr val="FF0000"/>
                  </a:solidFill>
                  <a:latin typeface="+mn-ea"/>
                  <a:ea typeface="+mn-ea"/>
                  <a:cs typeface="+mn-ea"/>
                  <a:sym typeface="+mn-ea"/>
                </a:rPr>
                <a:t>属性选择的度量</a:t>
              </a:r>
              <a:r>
                <a:rPr lang="zh-CN" altLang="en-US" sz="2000" dirty="0">
                  <a:latin typeface="+mn-ea"/>
                  <a:ea typeface="+mn-ea"/>
                  <a:cs typeface="+mn-ea"/>
                  <a:sym typeface="+mn-ea"/>
                </a:rPr>
                <a:t>是关键。</a:t>
              </a:r>
              <a:endPara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  <a:sym typeface="+mn-ea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-5200593" y="1133320"/>
              <a:ext cx="2547304" cy="398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600" b="1">
                  <a:solidFill>
                    <a:srgbClr val="020202"/>
                  </a:solidFill>
                  <a:latin typeface="Noto Sans S Chinese Light" panose="020B0300000000000000" pitchFamily="34" charset="-122"/>
                  <a:ea typeface="Noto Sans S Chinese Light" panose="020B0300000000000000" pitchFamily="34" charset="-122"/>
                  <a:cs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zh-CN" altLang="en-US" sz="2000" dirty="0">
                  <a:solidFill>
                    <a:srgbClr val="6FB4BD"/>
                  </a:solidFill>
                </a:rPr>
                <a:t>一、基本概念：</a:t>
              </a:r>
              <a:endParaRPr lang="zh-CN" altLang="en-US" sz="2000" dirty="0">
                <a:solidFill>
                  <a:srgbClr val="6FB4BD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614035" y="732155"/>
            <a:ext cx="6102350" cy="5136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sym typeface="+mn-ea"/>
              </a:rPr>
              <a:t>决策树的特点</a:t>
            </a:r>
            <a:endParaRPr lang="zh-CN" altLang="en-US" sz="2400" b="1" dirty="0">
              <a:solidFill>
                <a:srgbClr val="000000"/>
              </a:solidFill>
              <a:latin typeface="+mn-ea"/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sz="2000" b="1" dirty="0">
              <a:solidFill>
                <a:srgbClr val="000000"/>
              </a:solidFill>
              <a:latin typeface="+mn-ea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  <a:sym typeface="+mn-ea"/>
              </a:rPr>
              <a:t>优点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+mn-ea"/>
              </a:rPr>
              <a:t>推理过程容易理解，计算简单，可解释性强。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+mn-ea"/>
              </a:rPr>
              <a:t>比较适合处理有缺失属性的样本。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  <a:sym typeface="+mn-ea"/>
              </a:rPr>
              <a:t>可自动忽略目标变量没有贡献的属性变量，也为判断属性变量的重要性，减少变量的数目提供参考。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indent="0"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  <a:sym typeface="+mn-ea"/>
              </a:rPr>
              <a:t>缺点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  <a:sym typeface="+mn-ea"/>
              </a:rPr>
              <a:t>：</a:t>
            </a:r>
            <a:endParaRPr lang="en-US" altLang="zh-CN" sz="2000" dirty="0">
              <a:latin typeface="+mn-ea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cs typeface="Times New Roman" panose="02020603050405020304" pitchFamily="18" charset="0"/>
                <a:sym typeface="+mn-ea"/>
              </a:rPr>
              <a:t>容易造成过拟合，需要采用剪枝操作。</a:t>
            </a:r>
            <a:endParaRPr lang="zh-CN" altLang="en-US" sz="2000" dirty="0"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cs typeface="Times New Roman" panose="02020603050405020304" pitchFamily="18" charset="0"/>
                <a:sym typeface="+mn-ea"/>
              </a:rPr>
              <a:t>忽略了数据之间的相关性。</a:t>
            </a:r>
            <a:endParaRPr lang="zh-CN" altLang="en-US" sz="2000" dirty="0">
              <a:latin typeface="+mn-ea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ea"/>
                <a:cs typeface="Times New Roman" panose="02020603050405020304" pitchFamily="18" charset="0"/>
                <a:sym typeface="+mn-ea"/>
              </a:rPr>
              <a:t>对于各类别样本数量不一致的数据，信息增益会偏向于那些更多数值的特征。</a:t>
            </a:r>
            <a:endParaRPr lang="zh-CN" altLang="en-US" sz="2000" dirty="0">
              <a:latin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8785" y="728345"/>
            <a:ext cx="11315065" cy="5400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在地上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2524"/>
          <a:stretch>
            <a:fillRect/>
          </a:stretch>
        </p:blipFill>
        <p:spPr>
          <a:xfrm>
            <a:off x="0" y="2832100"/>
            <a:ext cx="12192000" cy="4025900"/>
          </a:xfrm>
          <a:custGeom>
            <a:avLst/>
            <a:gdLst>
              <a:gd name="connsiteX0" fmla="*/ 0 w 12192000"/>
              <a:gd name="connsiteY0" fmla="*/ 0 h 4025900"/>
              <a:gd name="connsiteX1" fmla="*/ 12192000 w 12192000"/>
              <a:gd name="connsiteY1" fmla="*/ 0 h 4025900"/>
              <a:gd name="connsiteX2" fmla="*/ 12192000 w 12192000"/>
              <a:gd name="connsiteY2" fmla="*/ 4025900 h 4025900"/>
              <a:gd name="connsiteX3" fmla="*/ 0 w 12192000"/>
              <a:gd name="connsiteY3" fmla="*/ 4025900 h 402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025900">
                <a:moveTo>
                  <a:pt x="0" y="0"/>
                </a:moveTo>
                <a:lnTo>
                  <a:pt x="12192000" y="0"/>
                </a:lnTo>
                <a:lnTo>
                  <a:pt x="12192000" y="4025900"/>
                </a:lnTo>
                <a:lnTo>
                  <a:pt x="0" y="4025900"/>
                </a:lnTo>
                <a:close/>
              </a:path>
            </a:pathLst>
          </a:custGeom>
        </p:spPr>
      </p:pic>
      <p:sp>
        <p:nvSpPr>
          <p:cNvPr id="3" name="对角圆角矩形 8"/>
          <p:cNvSpPr/>
          <p:nvPr>
            <p:custDataLst>
              <p:tags r:id="rId2"/>
            </p:custDataLst>
          </p:nvPr>
        </p:nvSpPr>
        <p:spPr>
          <a:xfrm>
            <a:off x="2956847" y="2028410"/>
            <a:ext cx="6278833" cy="647700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8FC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TextBox 1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133850" y="2075180"/>
            <a:ext cx="3183890" cy="5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01    ID3</a:t>
            </a:r>
            <a:r>
              <a:rPr lang="zh-CN" altLang="en-US" sz="36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算法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9" name="TextBox 1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133850" y="3152140"/>
            <a:ext cx="2913380" cy="5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charset="-122"/>
              </a:rPr>
              <a:t>02    C4.5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charset="-122"/>
              </a:rPr>
              <a:t>算法</a:t>
            </a:r>
            <a:endParaRPr lang="zh-CN" altLang="en-US" sz="3600" dirty="0"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10" name="TextBox 1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133850" y="4229100"/>
            <a:ext cx="2776855" cy="5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charset="-122"/>
              </a:rPr>
              <a:t>03 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charset="-122"/>
              </a:rPr>
              <a:t>   </a:t>
            </a:r>
            <a:r>
              <a:rPr lang="en-US" altLang="zh-CN" sz="3600" dirty="0">
                <a:latin typeface="Impact" panose="020B0806030902050204" pitchFamily="34" charset="0"/>
                <a:ea typeface="微软雅黑" panose="020B0503020204020204" charset="-122"/>
                <a:sym typeface="+mn-ea"/>
              </a:rPr>
              <a:t>CART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charset="-122"/>
              </a:rPr>
              <a:t>算法</a:t>
            </a:r>
            <a:endParaRPr lang="zh-CN" altLang="en-US" sz="3600" dirty="0"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067175" y="686435"/>
            <a:ext cx="3901440" cy="903610"/>
            <a:chOff x="1029437" y="3931614"/>
            <a:chExt cx="3582597" cy="903707"/>
          </a:xfrm>
        </p:grpSpPr>
        <p:sp>
          <p:nvSpPr>
            <p:cNvPr id="15" name="矩形 14"/>
            <p:cNvSpPr/>
            <p:nvPr>
              <p:custDataLst>
                <p:tags r:id="rId6"/>
              </p:custDataLst>
            </p:nvPr>
          </p:nvSpPr>
          <p:spPr>
            <a:xfrm>
              <a:off x="1029437" y="3988332"/>
              <a:ext cx="853873" cy="70683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zh-CN" altLang="en-US" sz="4000" dirty="0">
                  <a:solidFill>
                    <a:srgbClr val="6FB4BD"/>
                  </a:solidFill>
                  <a:latin typeface="汉仪中宋简" panose="02010609000101010101" pitchFamily="49" charset="-122"/>
                  <a:ea typeface="汉仪中宋简" panose="02010609000101010101" pitchFamily="49" charset="-122"/>
                </a:rPr>
                <a:t>一、</a:t>
              </a:r>
              <a:endParaRPr lang="zh-CN" altLang="en-US" sz="4000" dirty="0">
                <a:solidFill>
                  <a:srgbClr val="6FB4BD"/>
                </a:solidFill>
                <a:latin typeface="汉仪中宋简" panose="02010609000101010101" pitchFamily="49" charset="-122"/>
                <a:ea typeface="汉仪中宋简" panose="02010609000101010101" pitchFamily="49" charset="-122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7"/>
              </p:custDataLst>
            </p:nvPr>
          </p:nvSpPr>
          <p:spPr>
            <a:xfrm>
              <a:off x="1965156" y="3931614"/>
              <a:ext cx="2646878" cy="70683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zh-CN" altLang="en-US" sz="4000" dirty="0">
                  <a:solidFill>
                    <a:srgbClr val="6FB4BD"/>
                  </a:solidFill>
                  <a:latin typeface="华文新魏" panose="02010800040101010101" charset="-122"/>
                  <a:ea typeface="华文新魏" panose="02010800040101010101" charset="-122"/>
                </a:rPr>
                <a:t>决策树</a:t>
              </a:r>
              <a:r>
                <a:rPr lang="en-US" altLang="zh-CN" sz="4000" dirty="0">
                  <a:solidFill>
                    <a:srgbClr val="6FB4BD"/>
                  </a:solidFill>
                  <a:latin typeface="华文新魏" panose="02010800040101010101" charset="-122"/>
                  <a:ea typeface="华文新魏" panose="02010800040101010101" charset="-122"/>
                </a:rPr>
                <a:t> </a:t>
              </a:r>
              <a:endParaRPr lang="en-US" altLang="zh-CN" sz="4000" dirty="0">
                <a:solidFill>
                  <a:srgbClr val="6FB4BD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8"/>
              </p:custDataLst>
            </p:nvPr>
          </p:nvSpPr>
          <p:spPr>
            <a:xfrm>
              <a:off x="1996815" y="4436498"/>
              <a:ext cx="2474677" cy="39882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l"/>
              <a:r>
                <a:rPr lang="zh-CN" altLang="en-US" sz="2000" dirty="0">
                  <a:solidFill>
                    <a:srgbClr val="6FB4BD"/>
                  </a:solidFill>
                </a:rPr>
                <a:t>decision tree</a:t>
              </a:r>
              <a:endParaRPr lang="zh-CN" altLang="en-US" sz="2000" dirty="0">
                <a:solidFill>
                  <a:srgbClr val="6FB4BD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96480" y="2738120"/>
          <a:ext cx="3467100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5055870" imgH="1211580" progId="Equation.KSEE3">
                  <p:embed/>
                </p:oleObj>
              </mc:Choice>
              <mc:Fallback>
                <p:oleObj name="" r:id="rId1" imgW="5055870" imgH="121158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96480" y="2738120"/>
                        <a:ext cx="3467100" cy="822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箭头连接符 11"/>
          <p:cNvCxnSpPr>
            <a:endCxn id="14" idx="0"/>
          </p:cNvCxnSpPr>
          <p:nvPr/>
        </p:nvCxnSpPr>
        <p:spPr>
          <a:xfrm flipH="1">
            <a:off x="9276080" y="3331845"/>
            <a:ext cx="126365" cy="4362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9148445" y="2938780"/>
            <a:ext cx="488315" cy="39306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489315" y="3768090"/>
            <a:ext cx="15728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FF0000"/>
                </a:solidFill>
                <a:latin typeface="隶书" panose="02010509060101010101" charset="-122"/>
                <a:ea typeface="隶书" panose="02010509060101010101" charset="-122"/>
              </a:rPr>
              <a:t>某个类别在数据集中的比例</a:t>
            </a:r>
            <a:endParaRPr lang="zh-CN" altLang="en-US" sz="1600">
              <a:solidFill>
                <a:srgbClr val="FF0000"/>
              </a:solidFill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340995" y="795655"/>
            <a:ext cx="11535410" cy="5869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fontAlgn="auto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 sz="2000" dirty="0">
                <a:latin typeface="+mn-ea"/>
                <a:cs typeface="+mn-ea"/>
                <a:sym typeface="+mn-ea"/>
              </a:rPr>
              <a:t>ID3 </a:t>
            </a:r>
            <a:r>
              <a:rPr lang="zh-CN" altLang="en-US" sz="2000" dirty="0">
                <a:latin typeface="+mn-ea"/>
                <a:cs typeface="+mn-ea"/>
                <a:sym typeface="+mn-ea"/>
              </a:rPr>
              <a:t>算法最早是由罗斯昆（</a:t>
            </a:r>
            <a:r>
              <a:rPr lang="en-US" altLang="zh-CN" sz="2000" dirty="0">
                <a:latin typeface="+mn-ea"/>
                <a:cs typeface="+mn-ea"/>
                <a:sym typeface="+mn-ea"/>
              </a:rPr>
              <a:t>J. Ross Quinlan</a:t>
            </a:r>
            <a:r>
              <a:rPr lang="zh-CN" altLang="en-US" sz="2000" dirty="0">
                <a:latin typeface="+mn-ea"/>
                <a:cs typeface="+mn-ea"/>
                <a:sym typeface="+mn-ea"/>
              </a:rPr>
              <a:t>）于</a:t>
            </a:r>
            <a:r>
              <a:rPr lang="en-US" altLang="zh-CN" sz="2000" dirty="0">
                <a:latin typeface="+mn-ea"/>
                <a:cs typeface="+mn-ea"/>
                <a:sym typeface="+mn-ea"/>
              </a:rPr>
              <a:t>1975</a:t>
            </a:r>
            <a:r>
              <a:rPr lang="zh-CN" altLang="en-US" sz="2000" dirty="0">
                <a:latin typeface="+mn-ea"/>
                <a:cs typeface="+mn-ea"/>
                <a:sym typeface="+mn-ea"/>
              </a:rPr>
              <a:t>年提出的一种决策树构建算法，算法的核心是“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信息熵</a:t>
            </a:r>
            <a:r>
              <a:rPr lang="zh-CN" altLang="en-US" sz="2000" dirty="0">
                <a:latin typeface="+mn-ea"/>
                <a:cs typeface="+mn-ea"/>
                <a:sym typeface="+mn-ea"/>
              </a:rPr>
              <a:t>”</a:t>
            </a:r>
            <a:r>
              <a:rPr lang="zh-CN" altLang="en-US" sz="2000" dirty="0">
                <a:latin typeface="+mn-ea"/>
                <a:cs typeface="+mn-ea"/>
                <a:sym typeface="+mn-ea"/>
              </a:rPr>
              <a:t>，期望信息越小，信息熵越大，样本纯度越低。</a:t>
            </a:r>
            <a:endParaRPr lang="zh-CN" altLang="en-US" sz="2000" dirty="0">
              <a:latin typeface="+mn-ea"/>
              <a:cs typeface="+mn-ea"/>
              <a:sym typeface="+mn-ea"/>
            </a:endParaRPr>
          </a:p>
          <a:p>
            <a:pPr marL="285750" indent="-285750" fontAlgn="auto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 sz="2000" dirty="0">
                <a:latin typeface="+mn-ea"/>
                <a:cs typeface="+mn-ea"/>
                <a:sym typeface="+mn-ea"/>
              </a:rPr>
              <a:t>ID3 </a:t>
            </a:r>
            <a:r>
              <a:rPr lang="zh-CN" altLang="en-US" sz="2000" dirty="0">
                <a:latin typeface="+mn-ea"/>
                <a:cs typeface="+mn-ea"/>
                <a:sym typeface="+mn-ea"/>
              </a:rPr>
              <a:t>算法是以信息论为基础，以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信息增益</a:t>
            </a:r>
            <a:r>
              <a:rPr lang="zh-CN" altLang="en-US" sz="2000" dirty="0">
                <a:latin typeface="+mn-ea"/>
                <a:cs typeface="+mn-ea"/>
                <a:sym typeface="+mn-ea"/>
              </a:rPr>
              <a:t>为衡量标准，从而实现对数据的归纳分类。</a:t>
            </a:r>
            <a:endParaRPr lang="zh-CN" altLang="en-US" sz="2000" dirty="0">
              <a:latin typeface="+mn-ea"/>
              <a:cs typeface="+mn-ea"/>
            </a:endParaRPr>
          </a:p>
          <a:p>
            <a:pPr marL="285750" indent="-285750" algn="just" fontAlgn="auto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 sz="2000" dirty="0">
                <a:latin typeface="+mn-ea"/>
                <a:cs typeface="+mn-ea"/>
                <a:sym typeface="+mn-ea"/>
              </a:rPr>
              <a:t>ID3 </a:t>
            </a:r>
            <a:r>
              <a:rPr lang="zh-CN" altLang="en-US" sz="2000" dirty="0">
                <a:latin typeface="+mn-ea"/>
                <a:cs typeface="+mn-ea"/>
                <a:sym typeface="+mn-ea"/>
              </a:rPr>
              <a:t>算法计算每个属性的信息增益，并选取具有最高增益的属性作为给定的测试属性。</a:t>
            </a:r>
            <a:endParaRPr lang="zh-CN" altLang="en-US" sz="2000" dirty="0">
              <a:latin typeface="+mn-ea"/>
              <a:cs typeface="+mn-ea"/>
              <a:sym typeface="+mn-ea"/>
            </a:endParaRPr>
          </a:p>
          <a:p>
            <a:pPr marL="285750" indent="-285750" algn="just" fontAlgn="auto">
              <a:lnSpc>
                <a:spcPct val="80000"/>
              </a:lnSpc>
              <a:buFont typeface="Wingdings" panose="05000000000000000000" charset="0"/>
              <a:buChar char="Ø"/>
            </a:pPr>
            <a:endParaRPr lang="zh-CN" altLang="en-US" sz="2000">
              <a:latin typeface="Nirmala UI Semilight" panose="020B0402040204020203" charset="0"/>
              <a:sym typeface="+mn-ea"/>
            </a:endParaRPr>
          </a:p>
          <a:p>
            <a:pPr marL="285750" indent="-285750" algn="just" fontAlgn="auto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000" b="1">
                <a:latin typeface="Nirmala UI Semilight" panose="020B0402040204020203" charset="0"/>
                <a:sym typeface="+mn-ea"/>
              </a:rPr>
              <a:t>熵</a:t>
            </a:r>
            <a:r>
              <a:rPr lang="zh-CN" altLang="en-US" sz="2000">
                <a:latin typeface="Nirmala UI Semilight" panose="020B0402040204020203" charset="0"/>
                <a:sym typeface="+mn-ea"/>
              </a:rPr>
              <a:t>：熵是信息理论中的一个概念，</a:t>
            </a:r>
            <a:endParaRPr lang="zh-CN" altLang="en-US" sz="2000">
              <a:latin typeface="Nirmala UI Semilight" panose="020B0402040204020203" charset="0"/>
              <a:sym typeface="+mn-ea"/>
            </a:endParaRPr>
          </a:p>
          <a:p>
            <a:pPr indent="0" algn="just" fontAlgn="auto">
              <a:lnSpc>
                <a:spcPct val="130000"/>
              </a:lnSpc>
              <a:buFont typeface="Wingdings" panose="05000000000000000000" charset="0"/>
              <a:buNone/>
            </a:pPr>
            <a:r>
              <a:rPr lang="en-US" altLang="zh-CN" sz="2000">
                <a:latin typeface="Nirmala UI Semilight" panose="020B0402040204020203" charset="0"/>
                <a:sym typeface="+mn-ea"/>
              </a:rPr>
              <a:t>           </a:t>
            </a:r>
            <a:r>
              <a:rPr lang="zh-CN" altLang="en-US" sz="2000">
                <a:latin typeface="Nirmala UI Semilight" panose="020B0402040204020203" charset="0"/>
                <a:sym typeface="+mn-ea"/>
              </a:rPr>
              <a:t>它衡量了一组数据的不确定性或混乱程度。</a:t>
            </a:r>
            <a:endParaRPr lang="zh-CN" altLang="en-US" sz="2000">
              <a:latin typeface="Nirmala UI Semilight" panose="020B0402040204020203" charset="0"/>
              <a:sym typeface="+mn-ea"/>
            </a:endParaRPr>
          </a:p>
          <a:p>
            <a:pPr marL="285750" indent="-285750" algn="just" fontAlgn="auto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000">
                <a:latin typeface="Nirmala UI Semilight" panose="020B0402040204020203" charset="0"/>
                <a:sym typeface="+mn-ea"/>
              </a:rPr>
              <a:t>在决策树中，熵用来衡量当前节点的纯度或不纯度。</a:t>
            </a:r>
            <a:endParaRPr lang="zh-CN" altLang="en-US" sz="2000">
              <a:latin typeface="Nirmala UI Semilight" panose="020B0402040204020203" charset="0"/>
              <a:sym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000">
                <a:sym typeface="+mn-ea"/>
              </a:rPr>
              <a:t>取值范围：0</a:t>
            </a:r>
            <a:r>
              <a:rPr lang="en-US" altLang="zh-CN" sz="2000">
                <a:sym typeface="+mn-ea"/>
              </a:rPr>
              <a:t>~</a:t>
            </a:r>
            <a:r>
              <a:rPr lang="zh-CN" altLang="en-US" sz="2000">
                <a:sym typeface="+mn-ea"/>
              </a:rPr>
              <a:t>1</a:t>
            </a:r>
            <a:endParaRPr lang="zh-CN" altLang="en-US" sz="2000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000">
                <a:sym typeface="+mn-ea"/>
              </a:rPr>
              <a:t>熵越大，表示数据集的不确定性或混乱程度越高。</a:t>
            </a:r>
            <a:endParaRPr lang="zh-CN" altLang="en-US" sz="2000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000">
                <a:sym typeface="+mn-ea"/>
              </a:rPr>
              <a:t>在构建决策树时，我们希望选择能够最大程度地减少熵的特征进行分裂，即选择使得分裂后的子节点的纯度提高的特征。这样可以使得决策树更加准确地进行分类。</a:t>
            </a:r>
            <a:endParaRPr lang="zh-CN" altLang="en-US" sz="2000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000" b="1">
                <a:sym typeface="+mn-ea"/>
              </a:rPr>
              <a:t>信息增益</a:t>
            </a:r>
            <a:r>
              <a:rPr lang="zh-CN" altLang="en-US" sz="2000">
                <a:sym typeface="+mn-ea"/>
              </a:rPr>
              <a:t>：通过计算每个特征的熵，然后选择能够最大程度地减少熵的特征进行分裂，就可以逐步构建出决策树，这个过程被称为信息增益。</a:t>
            </a:r>
            <a:endParaRPr lang="zh-CN" altLang="en-US" sz="2000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000">
                <a:sym typeface="+mn-ea"/>
              </a:rPr>
              <a:t>信息增益越大，表示使用该特征进行分裂后，熵的减少程度越大，对分类的贡献也越大。</a:t>
            </a:r>
            <a:endParaRPr lang="en-US" altLang="zh-CN" sz="2000" dirty="0"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40360" y="273685"/>
            <a:ext cx="2133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1" hangingPunct="1"/>
            <a:r>
              <a:rPr lang="en-US" altLang="zh-CN" sz="2800" b="1" dirty="0">
                <a:sym typeface="+mn-ea"/>
              </a:rPr>
              <a:t>1</a:t>
            </a:r>
            <a:r>
              <a:rPr lang="zh-CN" altLang="en-US" sz="2800" b="1" dirty="0">
                <a:sym typeface="+mn-ea"/>
              </a:rPr>
              <a:t>、</a:t>
            </a:r>
            <a:r>
              <a:rPr lang="en-US" altLang="zh-CN" sz="2800" b="1" dirty="0">
                <a:sym typeface="+mn-ea"/>
              </a:rPr>
              <a:t>ID3</a:t>
            </a:r>
            <a:r>
              <a:rPr lang="zh-CN" altLang="en-US" sz="2800" b="1" dirty="0">
                <a:sym typeface="+mn-ea"/>
              </a:rPr>
              <a:t>算法</a:t>
            </a:r>
            <a:endParaRPr lang="zh-CN" altLang="en-US" sz="2800" b="1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3" grpId="1" animBg="1"/>
      <p:bldP spid="14" grpId="0"/>
      <p:bldP spid="1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0360" y="273685"/>
            <a:ext cx="2133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1" hangingPunct="1"/>
            <a:r>
              <a:rPr lang="en-US" altLang="zh-CN" sz="2800" b="1" dirty="0">
                <a:sym typeface="+mn-ea"/>
              </a:rPr>
              <a:t>1</a:t>
            </a:r>
            <a:r>
              <a:rPr lang="zh-CN" altLang="en-US" sz="2800" b="1" dirty="0">
                <a:sym typeface="+mn-ea"/>
              </a:rPr>
              <a:t>、</a:t>
            </a:r>
            <a:r>
              <a:rPr lang="en-US" altLang="zh-CN" sz="2800" b="1" dirty="0">
                <a:sym typeface="+mn-ea"/>
              </a:rPr>
              <a:t>ID3</a:t>
            </a:r>
            <a:r>
              <a:rPr lang="zh-CN" altLang="en-US" sz="2800" b="1" dirty="0">
                <a:sym typeface="+mn-ea"/>
              </a:rPr>
              <a:t>算法</a:t>
            </a:r>
            <a:endParaRPr lang="zh-CN" altLang="en-US" sz="2800" b="1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68963" r="531" b="4323"/>
          <a:stretch>
            <a:fillRect/>
          </a:stretch>
        </p:blipFill>
        <p:spPr>
          <a:xfrm>
            <a:off x="8260715" y="795655"/>
            <a:ext cx="3536950" cy="43986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9725" y="978535"/>
            <a:ext cx="3658235" cy="986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info: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信息量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E: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信息熵（信息量的加权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和）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gain: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信息增益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8175" y="849630"/>
            <a:ext cx="1809115" cy="6464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40360" y="2704465"/>
            <a:ext cx="5759450" cy="838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82600" y="3745865"/>
                <a:ext cx="6630670" cy="223774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p>
                <a:r>
                  <a:rPr lang="zh-CN" altLang="en-US" b="0" i="1" smtClean="0">
                    <a:latin typeface="Cambria Math" panose="02040503050406030204" charset="0"/>
                    <a:ea typeface="微软雅黑" panose="020B0503020204020204" charset="-122"/>
                  </a:rPr>
                  <a:t>总信息量：</a:t>
                </a:r>
                <a:endParaRPr lang="en-US" altLang="zh-CN" b="0" i="1" smtClean="0">
                  <a:latin typeface="Cambria Math" panose="02040503050406030204" charset="0"/>
                  <a:ea typeface="微软雅黑" panose="020B050302020402020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charset="0"/>
                          <a:ea typeface="微软雅黑" panose="020B0503020204020204" charset="-122"/>
                        </a:rPr>
                        <m:t>𝑖𝑛𝑓𝑜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微软雅黑" panose="020B0503020204020204" charset="-122"/>
                        </a:rPr>
                        <m:t>([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微软雅黑" panose="020B0503020204020204" charset="-122"/>
                        </a:rPr>
                        <m:t>9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微软雅黑" panose="020B0503020204020204" charset="-122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微软雅黑" panose="020B0503020204020204" charset="-122"/>
                        </a:rPr>
                        <m:t>6</m:t>
                      </m:r>
                      <m:r>
                        <a:rPr lang="en-US" altLang="zh-CN" b="0" i="1" smtClean="0">
                          <a:latin typeface="Cambria Math" panose="02040503050406030204" charset="0"/>
                          <a:ea typeface="微软雅黑" panose="020B0503020204020204" charset="-122"/>
                        </a:rPr>
                        <m:t>])  =</m:t>
                      </m:r>
                      <m:r>
                        <a:rPr lang="en-US" altLang="zh-CN" i="1">
                          <a:latin typeface="Cambria Math" panose="02040503050406030204" charset="0"/>
                          <a:ea typeface="微软雅黑" panose="020B0503020204020204" charset="-122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charset="0"/>
                              <a:ea typeface="微软雅黑" panose="020B0503020204020204" charset="-122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charset="-122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charset="-122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charset="-122"/>
                            </a:rPr>
                            <m:t>𝑛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charset="-122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charset="-122"/>
                            </a:rPr>
                            <m:t>1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charset="-122"/>
                            </a:rPr>
                            <m:t>𝑃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charset="-122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charset="-122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charset="-122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ea typeface="微软雅黑" panose="020B050302020402020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ea typeface="微软雅黑" panose="020B0503020204020204" charset="-122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ea typeface="微软雅黑" panose="020B050302020402020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charset="-122"/>
                            </a:rPr>
                            <m:t>𝑃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charset="-122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charset="-122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ea typeface="微软雅黑" panose="020B0503020204020204" charset="-122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i="1">
                  <a:latin typeface="Cambria Math" panose="02040503050406030204" charset="0"/>
                  <a:ea typeface="微软雅黑" panose="020B0503020204020204" charset="-122"/>
                </a:endParaRPr>
              </a:p>
              <a:p>
                <a:r>
                  <a:rPr lang="en-US" altLang="zh-CN" i="1">
                    <a:latin typeface="Cambria Math" panose="02040503050406030204" charset="0"/>
                    <a:ea typeface="微软雅黑" panose="020B0503020204020204" charset="-122"/>
                  </a:rPr>
                  <a:t>                       </a:t>
                </a:r>
                <a:endParaRPr lang="en-US" altLang="zh-CN" i="1">
                  <a:latin typeface="Cambria Math" panose="02040503050406030204" charset="0"/>
                  <a:ea typeface="微软雅黑" panose="020B0503020204020204" charset="-122"/>
                </a:endParaRPr>
              </a:p>
              <a:p>
                <a:r>
                  <a:rPr lang="en-US" altLang="zh-CN">
                    <a:latin typeface="Cambria Math" panose="02040503050406030204" charset="0"/>
                    <a:ea typeface="微软雅黑" panose="020B0503020204020204" charset="-122"/>
                  </a:rPr>
                  <a:t>             </a:t>
                </a:r>
                <a:r>
                  <a:rPr lang="en-US" altLang="zh-CN" i="1">
                    <a:latin typeface="Cambria Math" panose="02040503050406030204" charset="0"/>
                    <a:ea typeface="微软雅黑" panose="020B0503020204020204" charset="-122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ea typeface="微软雅黑" panose="020B0503020204020204" charset="-122"/>
                      </a:rPr>
                      <m:t>=−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2000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  <m:t>9</m:t>
                            </m:r>
                          </m:e>
                        </m:d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sSub>
                      <m:sSubPr>
                        <m:ctrlP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𝑙𝑜𝑔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2000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  <m:t>9</m:t>
                            </m:r>
                          </m:e>
                        </m:d>
                      </m:num>
                      <m:den>
                        <m: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charset="0"/>
                        <a:ea typeface="微软雅黑" panose="020B0503020204020204" charset="-122"/>
                      </a:rPr>
                      <m:t>−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2000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  <m:t>6</m:t>
                            </m:r>
                          </m:e>
                        </m:d>
                      </m:num>
                      <m:den>
                        <m: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sSub>
                      <m:sSubPr>
                        <m:ctrlP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𝑙𝑜𝑔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sz="2000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  <m:t>6</m:t>
                            </m:r>
                          </m:e>
                        </m:d>
                      </m:num>
                      <m:den>
                        <m: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charset="0"/>
                        <a:ea typeface="微软雅黑" panose="020B050302020402020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0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.</m:t>
                    </m:r>
                    <m:r>
                      <a:rPr lang="en-US" altLang="zh-CN" sz="2000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971</m:t>
                    </m:r>
                  </m:oMath>
                </a14:m>
                <a:endParaRPr lang="en-US" altLang="zh-CN" sz="2000" b="0" i="1" dirty="0" smtClean="0">
                  <a:latin typeface="Cambria Math" panose="02040503050406030204" charset="0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482600" y="3745865"/>
                <a:ext cx="6630670" cy="223774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/>
          <p:cNvCxnSpPr/>
          <p:nvPr/>
        </p:nvCxnSpPr>
        <p:spPr>
          <a:xfrm flipH="1">
            <a:off x="1172210" y="4692015"/>
            <a:ext cx="121920" cy="3454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71145" y="5194300"/>
            <a:ext cx="1368425" cy="501650"/>
          </a:xfrm>
          <a:prstGeom prst="rect">
            <a:avLst/>
          </a:prstGeom>
          <a:ln w="6350" cap="flat" cmpd="sng" algn="ctr">
            <a:solidFill>
              <a:srgbClr val="FF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([</a:t>
            </a:r>
            <a:r>
              <a:rPr lang="zh-CN" altLang="en-US" sz="1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是</a:t>
            </a:r>
            <a:r>
              <a:rPr lang="en-US" altLang="zh-CN" sz="1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9</a:t>
            </a:r>
            <a:r>
              <a:rPr lang="zh-CN" altLang="en-US" sz="1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，否</a:t>
            </a:r>
            <a:r>
              <a:rPr lang="en-US" altLang="zh-CN" sz="1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6])</a:t>
            </a:r>
            <a:endParaRPr lang="en-US" altLang="zh-CN" sz="16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0360" y="273685"/>
            <a:ext cx="2133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1" hangingPunct="1"/>
            <a:r>
              <a:rPr lang="en-US" altLang="zh-CN" sz="2800" b="1" dirty="0">
                <a:sym typeface="+mn-ea"/>
              </a:rPr>
              <a:t>1</a:t>
            </a:r>
            <a:r>
              <a:rPr lang="zh-CN" altLang="en-US" sz="2800" b="1" dirty="0">
                <a:sym typeface="+mn-ea"/>
              </a:rPr>
              <a:t>、</a:t>
            </a:r>
            <a:r>
              <a:rPr lang="en-US" altLang="zh-CN" sz="2800" b="1" dirty="0">
                <a:sym typeface="+mn-ea"/>
              </a:rPr>
              <a:t>ID3</a:t>
            </a:r>
            <a:r>
              <a:rPr lang="zh-CN" altLang="en-US" sz="2800" b="1" dirty="0">
                <a:sym typeface="+mn-ea"/>
              </a:rPr>
              <a:t>算法</a:t>
            </a:r>
            <a:endParaRPr lang="zh-CN" altLang="en-US" sz="2800" b="1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68963" r="531" b="4323"/>
          <a:stretch>
            <a:fillRect/>
          </a:stretch>
        </p:blipFill>
        <p:spPr>
          <a:xfrm>
            <a:off x="8260715" y="795655"/>
            <a:ext cx="3536950" cy="43986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9725" y="978535"/>
            <a:ext cx="4091940" cy="1209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90000"/>
              </a:lnSpc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info: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信息量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90000"/>
              </a:lnSpc>
            </a:pP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E: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信息熵（信息量的加权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和）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90000"/>
              </a:lnSpc>
            </a:pP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gain: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信息增益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69135" y="862965"/>
            <a:ext cx="1619885" cy="5791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40360" y="2343785"/>
            <a:ext cx="6174740" cy="12338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40360" y="3665855"/>
                <a:ext cx="6649085" cy="496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algn="l"/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年龄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−</m:t>
                    </m:r>
                    <m:r>
                      <a:rPr lang="zh-CN" altLang="en-US" b="0" i="1" smtClean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青年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：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𝑖𝑛𝑓𝑜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([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3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])=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−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  <m:t>2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𝑙𝑜𝑔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  <m:t>2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dirty="0">
                    <a:ea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  <m:t>3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𝑙𝑜𝑔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  <m:t>3</m:t>
                            </m:r>
                          </m:e>
                        </m:d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971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340360" y="3665855"/>
                <a:ext cx="6649085" cy="49657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340360" y="4250690"/>
                <a:ext cx="6649720" cy="496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年龄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−</m:t>
                    </m:r>
                    <m:r>
                      <a:rPr lang="zh-CN" altLang="en-US" b="0" i="1" smtClean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中年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：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𝑖𝑛𝑓𝑜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([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3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])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  <m:t>3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𝑙𝑜𝑔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  <m:t>3</m:t>
                            </m:r>
                          </m:e>
                        </m:d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dirty="0">
                    <a:ea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  <m:t>2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𝑙𝑜𝑔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  <m:t>2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971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340360" y="4250690"/>
                <a:ext cx="6649720" cy="49657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339725" y="4835525"/>
                <a:ext cx="6649085" cy="485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年龄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−</m:t>
                    </m:r>
                    <m:r>
                      <a:rPr lang="zh-CN" altLang="en-US" b="0" i="1" smtClean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老年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：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𝑖𝑛𝑓𝑜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([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4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])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  <m:t>4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𝑙𝑜𝑔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  <m:t>4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altLang="zh-CN" dirty="0">
                    <a:ea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𝑙𝑜𝑔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7219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339725" y="4835525"/>
                <a:ext cx="6649085" cy="485775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339725" y="5408930"/>
                <a:ext cx="11458575" cy="131445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zh-CN" altLang="en-US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年龄各种情况加权和</m:t>
                    </m:r>
                    <m:r>
                      <a:rPr lang="en-US" altLang="zh-CN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：</m:t>
                    </m:r>
                    <m:r>
                      <m:rPr>
                        <m:sty m:val="p"/>
                      </m:rPr>
                      <a:rPr lang="en-US" altLang="zh-CN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E</m:t>
                    </m:r>
                    <m:r>
                      <a:rPr lang="en-US" altLang="zh-CN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zh-CN" altLang="en-US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年龄</m:t>
                    </m:r>
                    <m:r>
                      <a:rPr lang="en-US" altLang="zh-CN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=</m:t>
                    </m:r>
                  </m:oMath>
                </a14:m>
                <a:r>
                  <a:rPr lang="en-US" altLang="zh-CN" dirty="0">
                    <a:ea typeface="微软雅黑" panose="020B0503020204020204" charset="-122"/>
                  </a:rPr>
                  <a:t> </a:t>
                </a:r>
                <a:r>
                  <a:rPr lang="en-US" altLang="zh-CN" dirty="0">
                    <a:latin typeface="Lucida Calligraphy" panose="03010101010101010101" charset="0"/>
                    <a:ea typeface="微软雅黑" panose="020B0503020204020204" charset="-122"/>
                    <a:cs typeface="Lucida Calligraphy" panose="03010101010101010101" charset="0"/>
                  </a:rPr>
                  <a:t>info</a:t>
                </a:r>
                <a:r>
                  <a:rPr lang="en-US" altLang="zh-CN" dirty="0">
                    <a:ea typeface="微软雅黑" panose="020B0503020204020204" charset="-122"/>
                  </a:rPr>
                  <a:t>([2,3],[3,2],[4,1])</a:t>
                </a:r>
                <a:endParaRPr lang="en-US" altLang="zh-CN" dirty="0">
                  <a:ea typeface="微软雅黑" panose="020B0503020204020204" charset="-122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zh-CN" dirty="0">
                    <a:ea typeface="微软雅黑" panose="020B0503020204020204" charset="-122"/>
                  </a:rPr>
                  <a:t>                                                 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×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𝑖𝑛𝑓𝑜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([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3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])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×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𝑖𝑛𝑓𝑜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([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3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])</m:t>
                    </m:r>
                  </m:oMath>
                </a14:m>
                <a:r>
                  <a:rPr lang="en-US" altLang="zh-CN" dirty="0">
                    <a:ea typeface="微软雅黑" panose="020B050302020402020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+</m:t>
                    </m:r>
                  </m:oMath>
                </a14:m>
                <a:r>
                  <a:rPr lang="en-US" altLang="zh-CN" dirty="0">
                    <a:ea typeface="微软雅黑" panose="020B050302020402020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×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𝑖𝑛𝑓𝑜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([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4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])</m:t>
                    </m:r>
                  </m:oMath>
                </a14:m>
                <a:endParaRPr lang="en-US" altLang="zh-CN" dirty="0">
                  <a:ea typeface="微软雅黑" panose="020B0503020204020204" charset="-122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zh-CN" dirty="0">
                    <a:ea typeface="微软雅黑" panose="020B0503020204020204" charset="-122"/>
                  </a:rPr>
                  <a:t>                                                 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971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×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971</m:t>
                    </m:r>
                  </m:oMath>
                </a14:m>
                <a:r>
                  <a:rPr lang="en-US" altLang="zh-CN" dirty="0">
                    <a:ea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+</m:t>
                    </m:r>
                  </m:oMath>
                </a14:m>
                <a:r>
                  <a:rPr lang="en-US" altLang="zh-CN" dirty="0">
                    <a:ea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Cambria Math" panose="02040503050406030204" charset="0"/>
                      </a:rPr>
                      <m:t>×</m:t>
                    </m:r>
                  </m:oMath>
                </a14:m>
                <a:r>
                  <a:rPr lang="en-US" altLang="zh-CN" dirty="0">
                    <a:ea typeface="微软雅黑" panose="020B0503020204020204" charset="-122"/>
                  </a:rPr>
                  <a:t>0.7219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=</m:t>
                    </m:r>
                  </m:oMath>
                </a14:m>
                <a:r>
                  <a:rPr lang="en-US" altLang="zh-CN" dirty="0">
                    <a:ea typeface="微软雅黑" panose="020B0503020204020204" charset="-122"/>
                  </a:rPr>
                  <a:t> 0.8897</a:t>
                </a:r>
                <a:endParaRPr lang="en-US" altLang="zh-CN" dirty="0"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339725" y="5408930"/>
                <a:ext cx="11458575" cy="1314450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0360" y="273685"/>
            <a:ext cx="2133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1" hangingPunct="1"/>
            <a:r>
              <a:rPr lang="en-US" altLang="zh-CN" sz="2800" b="1" dirty="0">
                <a:sym typeface="+mn-ea"/>
              </a:rPr>
              <a:t>1</a:t>
            </a:r>
            <a:r>
              <a:rPr lang="zh-CN" altLang="en-US" sz="2800" b="1" dirty="0">
                <a:sym typeface="+mn-ea"/>
              </a:rPr>
              <a:t>、</a:t>
            </a:r>
            <a:r>
              <a:rPr lang="en-US" altLang="zh-CN" sz="2800" b="1" dirty="0">
                <a:sym typeface="+mn-ea"/>
              </a:rPr>
              <a:t>ID3</a:t>
            </a:r>
            <a:r>
              <a:rPr lang="zh-CN" altLang="en-US" sz="2800" b="1" dirty="0">
                <a:sym typeface="+mn-ea"/>
              </a:rPr>
              <a:t>算法</a:t>
            </a:r>
            <a:endParaRPr lang="zh-CN" altLang="en-US" sz="2800" b="1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68963" r="531" b="4323"/>
          <a:stretch>
            <a:fillRect/>
          </a:stretch>
        </p:blipFill>
        <p:spPr>
          <a:xfrm>
            <a:off x="8260715" y="795655"/>
            <a:ext cx="3536950" cy="43986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9725" y="978535"/>
            <a:ext cx="4091940" cy="1209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90000"/>
              </a:lnSpc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info: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信息量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90000"/>
              </a:lnSpc>
            </a:pP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E: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信息熵（信息量的加权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和）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90000"/>
              </a:lnSpc>
            </a:pP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gain: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信息增益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69135" y="862965"/>
            <a:ext cx="1619885" cy="5791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40360" y="2343785"/>
            <a:ext cx="6174740" cy="12338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40360" y="3679190"/>
                <a:ext cx="7542530" cy="231013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p>
                <a:pPr>
                  <a:lnSpc>
                    <a:spcPct val="160000"/>
                  </a:lnSpc>
                </a:pPr>
                <a:r>
                  <a:rPr lang="zh-CN" altLang="en-US" smtClean="0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总信息量：</a:t>
                </a:r>
                <a:r>
                  <a:rPr lang="en-US" altLang="zh-CN" smtClean="0">
                    <a:latin typeface="Cambria Math" panose="02040503050406030204" charset="0"/>
                    <a:ea typeface="MS Mincho" charset="0"/>
                    <a:cs typeface="Cambria Math" panose="02040503050406030204" charset="0"/>
                  </a:rPr>
                  <a:t>info([9,6])=0.971</a:t>
                </a:r>
                <a:endParaRPr lang="zh-CN" altLang="en-US" smtClean="0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zh-CN" altLang="en-US" b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年龄各种情况加权和</m:t>
                    </m:r>
                    <m:r>
                      <a:rPr lang="en-US" altLang="zh-CN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：</m:t>
                    </m:r>
                    <m:r>
                      <m:rPr>
                        <m:sty m:val="p"/>
                      </m:rPr>
                      <a:rPr lang="en-US" altLang="zh-CN" smtClean="0">
                        <a:latin typeface="Cambria Math" panose="02040503050406030204" charset="0"/>
                        <a:ea typeface="微软雅黑" panose="020B0503020204020204" charset="-122"/>
                        <a:cs typeface="Cambria Math" panose="02040503050406030204" charset="0"/>
                      </a:rPr>
                      <m:t>E</m:t>
                    </m:r>
                    <m:r>
                      <a:rPr lang="en-US" altLang="zh-CN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(</m:t>
                    </m:r>
                    <m:r>
                      <a:rPr lang="zh-CN" altLang="en-US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年龄</m:t>
                    </m:r>
                    <m:r>
                      <a:rPr lang="en-US" altLang="zh-CN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</m:oMath>
                </a14:m>
                <a:r>
                  <a:rPr lang="en-US" altLang="zh-CN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info</a:t>
                </a:r>
                <a:r>
                  <a:rPr lang="en-US" altLang="zh-CN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([2,3],[3,2],[4,1])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</m:oMath>
                </a14:m>
                <a:r>
                  <a:rPr lang="en-US" altLang="zh-CN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0.8897</a:t>
                </a:r>
                <a:endParaRPr lang="en-US" altLang="zh-CN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基于年龄决定是否批准贷款的信息增益</a:t>
                </a:r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为：</a:t>
                </a:r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US" altLang="zh-CN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gain(</a:t>
                </a:r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年龄</a:t>
                </a:r>
                <a:r>
                  <a:rPr lang="en-US" altLang="zh-CN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)=info([9,6])-info</a:t>
                </a:r>
                <a:r>
                  <a:rPr lang="en-US" altLang="zh-CN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([2,3],[3,2],[4,1])=0.971-0.8897=0.0813</a:t>
                </a:r>
                <a:endParaRPr lang="en-US" altLang="zh-CN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340360" y="3679190"/>
                <a:ext cx="7542530" cy="231013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/>
          <p:nvPr/>
        </p:nvCxnSpPr>
        <p:spPr>
          <a:xfrm>
            <a:off x="1727835" y="5569585"/>
            <a:ext cx="969010" cy="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10"/>
            </p:custDataLst>
          </p:nvPr>
        </p:nvCxnSpPr>
        <p:spPr>
          <a:xfrm>
            <a:off x="2943225" y="5569585"/>
            <a:ext cx="1935480" cy="6985"/>
          </a:xfrm>
          <a:prstGeom prst="line">
            <a:avLst/>
          </a:prstGeom>
          <a:ln w="31750" cap="rnd">
            <a:solidFill>
              <a:srgbClr val="00B05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2202180" y="5657850"/>
            <a:ext cx="6985" cy="18288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>
            <p:custDataLst>
              <p:tags r:id="rId11"/>
            </p:custDataLst>
          </p:nvPr>
        </p:nvCxnSpPr>
        <p:spPr>
          <a:xfrm>
            <a:off x="3840480" y="5657850"/>
            <a:ext cx="1905" cy="170815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544955" y="5908675"/>
            <a:ext cx="12941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第一步算的总的信息量</a:t>
            </a:r>
            <a:r>
              <a:rPr lang="en-US" altLang="zh-CN" sz="16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0.971</a:t>
            </a:r>
            <a:endParaRPr lang="en-US" altLang="zh-CN" sz="16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943225" y="5909945"/>
            <a:ext cx="20529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00B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第二步算</a:t>
            </a:r>
            <a:r>
              <a:rPr lang="zh-CN" altLang="en-US" sz="1600">
                <a:solidFill>
                  <a:srgbClr val="00B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的年龄的三种情况加权之和</a:t>
            </a:r>
            <a:r>
              <a:rPr lang="en-US" altLang="zh-CN" sz="1600">
                <a:solidFill>
                  <a:srgbClr val="00B05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0.8897</a:t>
            </a:r>
            <a:endParaRPr lang="en-US" altLang="zh-CN" sz="1600">
              <a:solidFill>
                <a:srgbClr val="00B05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0360" y="273685"/>
            <a:ext cx="2133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1" hangingPunct="1"/>
            <a:r>
              <a:rPr lang="en-US" altLang="zh-CN" sz="2800" b="1" dirty="0">
                <a:sym typeface="+mn-ea"/>
              </a:rPr>
              <a:t>1</a:t>
            </a:r>
            <a:r>
              <a:rPr lang="zh-CN" altLang="en-US" sz="2800" b="1" dirty="0">
                <a:sym typeface="+mn-ea"/>
              </a:rPr>
              <a:t>、</a:t>
            </a:r>
            <a:r>
              <a:rPr lang="en-US" altLang="zh-CN" sz="2800" b="1" dirty="0">
                <a:sym typeface="+mn-ea"/>
              </a:rPr>
              <a:t>ID3</a:t>
            </a:r>
            <a:r>
              <a:rPr lang="zh-CN" altLang="en-US" sz="2800" b="1" dirty="0">
                <a:sym typeface="+mn-ea"/>
              </a:rPr>
              <a:t>算法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8055" y="1156970"/>
            <a:ext cx="7526020" cy="3841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60000"/>
              </a:lnSpc>
            </a:pPr>
            <a:r>
              <a:rPr lang="en-US" altLang="zh-CN" sz="2400" b="1" dirty="0" err="1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缺点</a:t>
            </a:r>
            <a:r>
              <a:rPr lang="zh-CN" altLang="en-US" sz="2400" b="1" dirty="0" err="1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zh-CN" altLang="en-US" sz="2400" b="1" dirty="0" err="1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indent="-457200">
              <a:lnSpc>
                <a:spcPct val="160000"/>
              </a:lnSpc>
              <a:buFont typeface="+mj-ea"/>
              <a:buAutoNum type="circleNumDbPlain"/>
            </a:pPr>
            <a:r>
              <a:rPr lang="en-US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ID3 </a:t>
            </a:r>
            <a:r>
              <a:rPr lang="zh-CN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没有剪枝策略，容易过拟合；</a:t>
            </a:r>
            <a:endParaRPr lang="zh-CN" altLang="zh-CN" sz="2400" kern="100" dirty="0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indent="-457200">
              <a:lnSpc>
                <a:spcPct val="160000"/>
              </a:lnSpc>
              <a:buFont typeface="+mj-ea"/>
              <a:buAutoNum type="circleNumDbPlain"/>
            </a:pPr>
            <a:r>
              <a:rPr lang="zh-CN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信息增益准则对可取值数目较多的特征有所偏好，类似</a:t>
            </a:r>
            <a:r>
              <a:rPr lang="en-US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“</a:t>
            </a:r>
            <a:r>
              <a:rPr lang="zh-CN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编号</a:t>
            </a:r>
            <a:r>
              <a:rPr lang="en-US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”</a:t>
            </a:r>
            <a:r>
              <a:rPr lang="zh-CN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的特征其信息增益接近于</a:t>
            </a:r>
            <a:r>
              <a:rPr lang="en-US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</a:t>
            </a:r>
            <a:r>
              <a:rPr lang="zh-CN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；</a:t>
            </a:r>
            <a:endParaRPr lang="zh-CN" altLang="zh-CN" sz="2400" kern="100" dirty="0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indent="-457200">
              <a:lnSpc>
                <a:spcPct val="160000"/>
              </a:lnSpc>
              <a:buFont typeface="+mj-ea"/>
              <a:buAutoNum type="circleNumDbPlain"/>
            </a:pPr>
            <a:r>
              <a:rPr lang="zh-CN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只能用于处理离散分布的特征；</a:t>
            </a:r>
            <a:endParaRPr lang="zh-CN" altLang="zh-CN" sz="2400" kern="100" dirty="0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indent="-457200">
              <a:lnSpc>
                <a:spcPct val="160000"/>
              </a:lnSpc>
              <a:buFont typeface="+mj-ea"/>
              <a:buAutoNum type="circleNumDbPlain"/>
            </a:pPr>
            <a:r>
              <a:rPr lang="zh-CN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没有考虑缺失值。</a:t>
            </a:r>
            <a:endParaRPr lang="zh-CN" altLang="zh-CN" sz="2400" kern="100" dirty="0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在地上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2524"/>
          <a:stretch>
            <a:fillRect/>
          </a:stretch>
        </p:blipFill>
        <p:spPr>
          <a:xfrm>
            <a:off x="0" y="2832100"/>
            <a:ext cx="12192000" cy="4025900"/>
          </a:xfrm>
          <a:custGeom>
            <a:avLst/>
            <a:gdLst>
              <a:gd name="connsiteX0" fmla="*/ 0 w 12192000"/>
              <a:gd name="connsiteY0" fmla="*/ 0 h 4025900"/>
              <a:gd name="connsiteX1" fmla="*/ 12192000 w 12192000"/>
              <a:gd name="connsiteY1" fmla="*/ 0 h 4025900"/>
              <a:gd name="connsiteX2" fmla="*/ 12192000 w 12192000"/>
              <a:gd name="connsiteY2" fmla="*/ 4025900 h 4025900"/>
              <a:gd name="connsiteX3" fmla="*/ 0 w 12192000"/>
              <a:gd name="connsiteY3" fmla="*/ 4025900 h 402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025900">
                <a:moveTo>
                  <a:pt x="0" y="0"/>
                </a:moveTo>
                <a:lnTo>
                  <a:pt x="12192000" y="0"/>
                </a:lnTo>
                <a:lnTo>
                  <a:pt x="12192000" y="4025900"/>
                </a:lnTo>
                <a:lnTo>
                  <a:pt x="0" y="4025900"/>
                </a:lnTo>
                <a:close/>
              </a:path>
            </a:pathLst>
          </a:custGeom>
        </p:spPr>
      </p:pic>
      <p:sp>
        <p:nvSpPr>
          <p:cNvPr id="3" name="对角圆角矩形 8"/>
          <p:cNvSpPr/>
          <p:nvPr>
            <p:custDataLst>
              <p:tags r:id="rId2"/>
            </p:custDataLst>
          </p:nvPr>
        </p:nvSpPr>
        <p:spPr>
          <a:xfrm>
            <a:off x="2956847" y="3058380"/>
            <a:ext cx="6278833" cy="647700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8FC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TextBox 1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133850" y="2075180"/>
            <a:ext cx="3183890" cy="5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charset="-122"/>
              </a:rPr>
              <a:t>01    ID3</a:t>
            </a:r>
            <a:r>
              <a:rPr lang="zh-CN" altLang="en-US" sz="3600" dirty="0"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charset="-122"/>
              </a:rPr>
              <a:t>算法</a:t>
            </a:r>
            <a:endParaRPr lang="zh-CN" altLang="en-US" sz="3600" dirty="0">
              <a:solidFill>
                <a:schemeClr val="tx1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9" name="TextBox 1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133850" y="3152140"/>
            <a:ext cx="2913380" cy="5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02    C4.5</a:t>
            </a:r>
            <a:r>
              <a:rPr lang="zh-CN" altLang="en-US" sz="36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算法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10" name="TextBox 1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133850" y="4229100"/>
            <a:ext cx="2776855" cy="5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charset="-122"/>
              </a:rPr>
              <a:t>03 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charset="-122"/>
              </a:rPr>
              <a:t>   </a:t>
            </a:r>
            <a:r>
              <a:rPr lang="en-US" altLang="zh-CN" sz="3600" dirty="0">
                <a:latin typeface="Impact" panose="020B0806030902050204" pitchFamily="34" charset="0"/>
                <a:ea typeface="微软雅黑" panose="020B0503020204020204" charset="-122"/>
              </a:rPr>
              <a:t>CART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charset="-122"/>
              </a:rPr>
              <a:t>算法</a:t>
            </a:r>
            <a:endParaRPr lang="zh-CN" altLang="en-US" sz="3600" dirty="0"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067175" y="686435"/>
            <a:ext cx="3901440" cy="903610"/>
            <a:chOff x="1029437" y="3931614"/>
            <a:chExt cx="3582597" cy="903707"/>
          </a:xfrm>
        </p:grpSpPr>
        <p:sp>
          <p:nvSpPr>
            <p:cNvPr id="15" name="矩形 14"/>
            <p:cNvSpPr/>
            <p:nvPr>
              <p:custDataLst>
                <p:tags r:id="rId6"/>
              </p:custDataLst>
            </p:nvPr>
          </p:nvSpPr>
          <p:spPr>
            <a:xfrm>
              <a:off x="1029437" y="3988332"/>
              <a:ext cx="853873" cy="70683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zh-CN" altLang="en-US" sz="4000" dirty="0">
                  <a:solidFill>
                    <a:srgbClr val="6FB4BD"/>
                  </a:solidFill>
                  <a:latin typeface="汉仪中宋简" panose="02010609000101010101" pitchFamily="49" charset="-122"/>
                  <a:ea typeface="汉仪中宋简" panose="02010609000101010101" pitchFamily="49" charset="-122"/>
                </a:rPr>
                <a:t>一、</a:t>
              </a:r>
              <a:endParaRPr lang="zh-CN" altLang="en-US" sz="4000" dirty="0">
                <a:solidFill>
                  <a:srgbClr val="6FB4BD"/>
                </a:solidFill>
                <a:latin typeface="汉仪中宋简" panose="02010609000101010101" pitchFamily="49" charset="-122"/>
                <a:ea typeface="汉仪中宋简" panose="02010609000101010101" pitchFamily="49" charset="-122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7"/>
              </p:custDataLst>
            </p:nvPr>
          </p:nvSpPr>
          <p:spPr>
            <a:xfrm>
              <a:off x="1965156" y="3931614"/>
              <a:ext cx="2646878" cy="70683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zh-CN" altLang="en-US" sz="4000" dirty="0">
                  <a:solidFill>
                    <a:srgbClr val="6FB4BD"/>
                  </a:solidFill>
                  <a:latin typeface="华文新魏" panose="02010800040101010101" charset="-122"/>
                  <a:ea typeface="华文新魏" panose="02010800040101010101" charset="-122"/>
                </a:rPr>
                <a:t>决策树</a:t>
              </a:r>
              <a:r>
                <a:rPr lang="en-US" altLang="zh-CN" sz="4000" dirty="0">
                  <a:solidFill>
                    <a:srgbClr val="6FB4BD"/>
                  </a:solidFill>
                  <a:latin typeface="华文新魏" panose="02010800040101010101" charset="-122"/>
                  <a:ea typeface="华文新魏" panose="02010800040101010101" charset="-122"/>
                </a:rPr>
                <a:t> </a:t>
              </a:r>
              <a:endParaRPr lang="en-US" altLang="zh-CN" sz="4000" dirty="0">
                <a:solidFill>
                  <a:srgbClr val="6FB4BD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8"/>
              </p:custDataLst>
            </p:nvPr>
          </p:nvSpPr>
          <p:spPr>
            <a:xfrm>
              <a:off x="1996815" y="4436498"/>
              <a:ext cx="2474677" cy="39882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l"/>
              <a:r>
                <a:rPr lang="zh-CN" altLang="en-US" sz="2000" dirty="0">
                  <a:solidFill>
                    <a:srgbClr val="6FB4BD"/>
                  </a:solidFill>
                </a:rPr>
                <a:t>decision tree</a:t>
              </a:r>
              <a:endParaRPr lang="zh-CN" altLang="en-US" sz="2000" dirty="0">
                <a:solidFill>
                  <a:srgbClr val="6FB4BD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0360" y="273685"/>
            <a:ext cx="2495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1" hangingPunct="1"/>
            <a:r>
              <a:rPr lang="en-US" altLang="zh-CN" sz="2800" b="1" dirty="0">
                <a:sym typeface="+mn-ea"/>
              </a:rPr>
              <a:t>2</a:t>
            </a:r>
            <a:r>
              <a:rPr lang="zh-CN" altLang="en-US" sz="2800" b="1" dirty="0">
                <a:sym typeface="+mn-ea"/>
              </a:rPr>
              <a:t>、</a:t>
            </a:r>
            <a:r>
              <a:rPr lang="en-US" altLang="zh-CN" sz="2800" b="1" dirty="0">
                <a:sym typeface="+mn-ea"/>
              </a:rPr>
              <a:t>C4.5</a:t>
            </a:r>
            <a:r>
              <a:rPr lang="zh-CN" altLang="en-US" sz="2800" b="1" dirty="0">
                <a:sym typeface="+mn-ea"/>
              </a:rPr>
              <a:t>算法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8055" y="1156970"/>
            <a:ext cx="7526020" cy="3841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C4.5 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算法是 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Ross 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对 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ID3 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算法的改进。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用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信息增益率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来选择属性。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ID3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选择属性用的是子树的信息增益，而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C4.5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用的是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信息增益率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在决策树构造过程中进行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剪枝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对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非离散数据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也能处理。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能够对</a:t>
            </a:r>
            <a:r>
              <a:rPr lang="zh-CN" altLang="en-US" sz="24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不完整数据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进行处理。</a:t>
            </a:r>
            <a:endParaRPr lang="zh-CN" altLang="zh-CN" sz="2400" kern="100" dirty="0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0360" y="273685"/>
            <a:ext cx="2485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1" hangingPunct="1"/>
            <a:r>
              <a:rPr lang="en-US" altLang="zh-CN" sz="2800" b="1" dirty="0">
                <a:sym typeface="+mn-ea"/>
              </a:rPr>
              <a:t>2</a:t>
            </a:r>
            <a:r>
              <a:rPr lang="zh-CN" altLang="en-US" sz="2800" b="1" dirty="0">
                <a:sym typeface="+mn-ea"/>
              </a:rPr>
              <a:t>、</a:t>
            </a:r>
            <a:r>
              <a:rPr lang="en-US" altLang="zh-CN" sz="2800" b="1" dirty="0">
                <a:sym typeface="+mn-ea"/>
              </a:rPr>
              <a:t>C4.5</a:t>
            </a:r>
            <a:r>
              <a:rPr lang="zh-CN" altLang="en-US" sz="2800" b="1" dirty="0">
                <a:sym typeface="+mn-ea"/>
              </a:rPr>
              <a:t>算法</a:t>
            </a:r>
            <a:endParaRPr lang="zh-CN" altLang="en-US" sz="2800" b="1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68963" r="531" b="4323"/>
          <a:stretch>
            <a:fillRect/>
          </a:stretch>
        </p:blipFill>
        <p:spPr>
          <a:xfrm>
            <a:off x="8260715" y="795655"/>
            <a:ext cx="3536950" cy="43986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9725" y="978535"/>
            <a:ext cx="7263130" cy="2373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9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信息量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: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sym typeface="+mn-ea"/>
              </a:rPr>
              <a:t>info =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90000"/>
              </a:lnSpc>
            </a:pP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9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信息熵（信息量的加权和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): E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90000"/>
              </a:lnSpc>
            </a:pP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9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sym typeface="+mn-ea"/>
              </a:rPr>
              <a:t>信息增益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sym typeface="+mn-ea"/>
              </a:rPr>
              <a:t>: 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gain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90000"/>
              </a:lnSpc>
            </a:pP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9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分裂信息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: 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Lucida Calligraphy" panose="03010101010101010101" charset="0"/>
              </a:rPr>
              <a:t>SplitInfo</a:t>
            </a:r>
            <a:endParaRPr lang="en-US" altLang="zh-CN">
              <a:latin typeface="Lucida Calligraphy" panose="03010101010101010101" charset="0"/>
              <a:ea typeface="微软雅黑" panose="020B0503020204020204" charset="-122"/>
              <a:cs typeface="Lucida Calligraphy" panose="03010101010101010101" charset="0"/>
            </a:endParaRPr>
          </a:p>
          <a:p>
            <a:pPr>
              <a:lnSpc>
                <a:spcPct val="90000"/>
              </a:lnSpc>
            </a:pPr>
            <a:endParaRPr lang="en-US" altLang="zh-CN">
              <a:latin typeface="Lucida Calligraphy" panose="03010101010101010101" charset="0"/>
              <a:ea typeface="微软雅黑" panose="020B0503020204020204" charset="-122"/>
              <a:cs typeface="Lucida Calligraphy" panose="03010101010101010101" charset="0"/>
            </a:endParaRPr>
          </a:p>
          <a:p>
            <a:pPr>
              <a:lnSpc>
                <a:spcPct val="90000"/>
              </a:lnSpc>
            </a:pP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信息增益率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 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Lucida Calligraphy" panose="03010101010101010101" charset="0"/>
              </a:rPr>
              <a:t>GainRatio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Lucida Calligraphy" panose="03010101010101010101" charset="0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Lucida Calligraphy" panose="03010101010101010101" charset="0"/>
            </a:endParaRPr>
          </a:p>
          <a:p>
            <a:endParaRPr lang="en-US" altLang="zh-CN">
              <a:latin typeface="黑体" panose="02010609060101010101" charset="-122"/>
              <a:ea typeface="黑体" panose="02010609060101010101" charset="-122"/>
              <a:cs typeface="Lucida Calligraphy" panose="03010101010101010101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8175" y="849630"/>
            <a:ext cx="1809115" cy="6464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345440" y="3550285"/>
                <a:ext cx="7426960" cy="138557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>
                    <a:latin typeface="黑体" panose="02010609060101010101" charset="-122"/>
                    <a:ea typeface="黑体" panose="02010609060101010101" charset="-122"/>
                    <a:sym typeface="+mn-ea"/>
                  </a:rPr>
                  <a:t>分裂信息</a:t>
                </a:r>
                <a:r>
                  <a:rPr lang="en-US" altLang="zh-CN">
                    <a:latin typeface="黑体" panose="02010609060101010101" charset="-122"/>
                    <a:ea typeface="黑体" panose="02010609060101010101" charset="-122"/>
                    <a:sym typeface="+mn-ea"/>
                  </a:rPr>
                  <a:t>: </a:t>
                </a:r>
                <a:endParaRPr lang="en-US" altLang="zh-CN">
                  <a:latin typeface="黑体" panose="02010609060101010101" charset="-122"/>
                  <a:ea typeface="黑体" panose="02010609060101010101" charset="-122"/>
                  <a:sym typeface="+mn-ea"/>
                </a:endParaRPr>
              </a:p>
              <a:p>
                <a:r>
                  <a:rPr lang="en-US" altLang="zh-CN">
                    <a:latin typeface="黑体" panose="02010609060101010101" charset="-122"/>
                    <a:ea typeface="黑体" panose="02010609060101010101" charset="-122"/>
                    <a:cs typeface="Lucida Calligraphy" panose="03010101010101010101" charset="0"/>
                    <a:sym typeface="+mn-ea"/>
                  </a:rPr>
                  <a:t>SplitInfo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(</m:t>
                    </m:r>
                    <m:r>
                      <a:rPr lang="zh-CN" altLang="en-US" b="0" i="1" smtClean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年龄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)</m:t>
                    </m:r>
                    <m:r>
                      <a:rPr lang="en-US" altLang="zh-CN" b="0" i="1" smtClean="0">
                        <a:latin typeface="Cambria Math" panose="02040503050406030204" charset="0"/>
                        <a:ea typeface="微软雅黑" panose="020B0503020204020204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𝑃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  <m:t>𝑙𝑜𝑔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𝑃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i="1">
                  <a:latin typeface="Cambria Math" panose="02040503050406030204" charset="0"/>
                  <a:ea typeface="微软雅黑" panose="020B0503020204020204" charset="-122"/>
                </a:endParaRPr>
              </a:p>
              <a:p>
                <a:pPr>
                  <a:lnSpc>
                    <a:spcPct val="60000"/>
                  </a:lnSpc>
                </a:pPr>
                <a:endParaRPr lang="en-US" altLang="zh-CN" i="1">
                  <a:latin typeface="Cambria Math" panose="02040503050406030204" charset="0"/>
                  <a:ea typeface="微软雅黑" panose="020B0503020204020204" charset="-122"/>
                </a:endParaRPr>
              </a:p>
              <a:p>
                <a:r>
                  <a:rPr lang="en-US" altLang="zh-CN" i="1">
                    <a:latin typeface="Cambria Math" panose="02040503050406030204" charset="0"/>
                    <a:ea typeface="微软雅黑" panose="020B0503020204020204" charset="-122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=−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  <m:t>5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𝑙𝑜𝑔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  <m:t>5</m:t>
                            </m:r>
                          </m:e>
                        </m:d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d>
                          <m:dPr>
                            <m:begChr m:val=""/>
                            <m:endChr m:val=""/>
                            <m:ctrlP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ea typeface="微软雅黑" panose="020B0503020204020204" charset="-122"/>
                              </a:rPr>
                              <m:t>5</m:t>
                            </m:r>
                          </m:e>
                        </m:d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𝑙𝑜𝑔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𝑙𝑜𝑔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5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ea typeface="微软雅黑" panose="020B0503020204020204" charset="-122"/>
                          </a:rPr>
                          <m:t>15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ea typeface="微软雅黑" panose="020B0503020204020204" charset="-122"/>
                      </a:rPr>
                      <m:t>=?</m:t>
                    </m:r>
                  </m:oMath>
                </a14:m>
                <a:endParaRPr lang="en-US" altLang="zh-CN" b="0" i="1" dirty="0" smtClean="0">
                  <a:latin typeface="Cambria Math" panose="02040503050406030204" charset="0"/>
                  <a:ea typeface="微软雅黑" panose="020B0503020204020204" charset="-122"/>
                </a:endParaRPr>
              </a:p>
              <a:p>
                <a:endParaRPr lang="zh-CN" altLang="en-US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40" y="3550285"/>
                <a:ext cx="7426960" cy="1385570"/>
              </a:xfrm>
              <a:prstGeom prst="rect">
                <a:avLst/>
              </a:prstGeom>
              <a:blipFill rotWithShape="1">
                <a:blip r:embed="rId5"/>
                <a:stretch>
                  <a:fillRect b="-78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/>
          <p:cNvCxnSpPr/>
          <p:nvPr/>
        </p:nvCxnSpPr>
        <p:spPr>
          <a:xfrm>
            <a:off x="345440" y="3396615"/>
            <a:ext cx="7820660" cy="13970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339725" y="5104765"/>
                <a:ext cx="7454900" cy="14598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>
                    <a:latin typeface="黑体" panose="02010609060101010101" charset="-122"/>
                    <a:ea typeface="黑体" panose="02010609060101010101" charset="-122"/>
                  </a:rPr>
                  <a:t>信息增益率：</a:t>
                </a:r>
                <a:endParaRPr lang="zh-CN" altLang="en-US">
                  <a:latin typeface="黑体" panose="02010609060101010101" charset="-122"/>
                  <a:ea typeface="黑体" panose="02010609060101010101" charset="-122"/>
                </a:endParaRPr>
              </a:p>
              <a:p>
                <a:r>
                  <a:rPr lang="en-US" altLang="zh-CN">
                    <a:latin typeface="黑体" panose="02010609060101010101" charset="-122"/>
                    <a:ea typeface="黑体" panose="02010609060101010101" charset="-122"/>
                  </a:rPr>
                  <a:t>GainRatio(</a:t>
                </a:r>
                <a:r>
                  <a:rPr lang="zh-CN" altLang="en-US">
                    <a:latin typeface="黑体" panose="02010609060101010101" charset="-122"/>
                    <a:ea typeface="黑体" panose="02010609060101010101" charset="-122"/>
                  </a:rPr>
                  <a:t>年龄</a:t>
                </a:r>
                <a:r>
                  <a:rPr lang="en-US" altLang="zh-CN">
                    <a:latin typeface="黑体" panose="02010609060101010101" charset="-122"/>
                    <a:ea typeface="黑体" panose="02010609060101010101" charset="-122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>
                        <a:latin typeface="黑体" panose="02010609060101010101" charset="-122"/>
                        <a:ea typeface="黑体" panose="02010609060101010101" charset="-122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  <m:t>𝐺𝑎𝑖𝑛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年龄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  <m:t>𝑆𝑝𝑙𝑖𝑡𝐼𝑛𝑓𝑜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年龄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  <m:t>)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zh-CN" sz="2400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  <m:t>0813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charset="0"/>
                            <a:ea typeface="黑体" panose="02010609060101010101" charset="-122"/>
                            <a:cs typeface="Cambria Math" panose="02040503050406030204" charset="0"/>
                          </a:rPr>
                          <m:t>?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=?</m:t>
                    </m:r>
                  </m:oMath>
                </a14:m>
                <a:endParaRPr lang="en-US" altLang="zh-CN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25" y="5104765"/>
                <a:ext cx="7454900" cy="14598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0360" y="273685"/>
            <a:ext cx="2458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1" hangingPunct="1"/>
            <a:r>
              <a:rPr lang="en-US" altLang="zh-CN" sz="2800" b="1" dirty="0">
                <a:sym typeface="+mn-ea"/>
              </a:rPr>
              <a:t>2</a:t>
            </a:r>
            <a:r>
              <a:rPr lang="zh-CN" altLang="en-US" sz="2800" b="1" dirty="0">
                <a:sym typeface="+mn-ea"/>
              </a:rPr>
              <a:t>、</a:t>
            </a:r>
            <a:r>
              <a:rPr lang="en-US" altLang="zh-CN" sz="2800" b="1" dirty="0">
                <a:sym typeface="+mn-ea"/>
              </a:rPr>
              <a:t>C4.5</a:t>
            </a:r>
            <a:r>
              <a:rPr lang="zh-CN" altLang="en-US" sz="2800" b="1" dirty="0">
                <a:sym typeface="+mn-ea"/>
              </a:rPr>
              <a:t>算法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8055" y="1016635"/>
            <a:ext cx="10309860" cy="5048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2400" b="1" dirty="0" err="1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缺点</a:t>
            </a:r>
            <a:r>
              <a:rPr lang="zh-CN" altLang="en-US" sz="2400" b="1" dirty="0" err="1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endParaRPr lang="en-US" altLang="zh-CN" sz="2400" b="1" dirty="0" err="1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剪枝策略可以再优化；</a:t>
            </a:r>
            <a:endParaRPr lang="zh-CN" altLang="zh-CN" sz="2400" kern="100" dirty="0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C4.5 </a:t>
            </a:r>
            <a:r>
              <a:rPr lang="zh-CN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用的是多叉树，用二叉树效率更高；</a:t>
            </a:r>
            <a:endParaRPr lang="zh-CN" altLang="zh-CN" sz="2400" kern="100" dirty="0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C4.5 </a:t>
            </a:r>
            <a:r>
              <a:rPr lang="zh-CN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只能用于分类；</a:t>
            </a:r>
            <a:endParaRPr lang="zh-CN" altLang="zh-CN" sz="2400" kern="100" dirty="0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C4.5 </a:t>
            </a:r>
            <a:r>
              <a:rPr lang="zh-CN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使用的熵模型拥有大量耗时的对数运算，连续值还有排序运算；</a:t>
            </a:r>
            <a:endParaRPr lang="zh-CN" altLang="zh-CN" sz="2400" kern="100" dirty="0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C4.5 </a:t>
            </a:r>
            <a:r>
              <a:rPr lang="zh-CN" altLang="zh-CN" sz="24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在构造树的过程中，对数值属性值需要按照其大小进行排序，从中选择一个分割点，所以只适合于能够驻留于内存的数据集，当训练集大得无法在内存容纳时，程序无法运行。</a:t>
            </a:r>
            <a:endParaRPr lang="zh-CN" altLang="zh-CN" sz="2400" kern="100" dirty="0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在地上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2524"/>
          <a:stretch>
            <a:fillRect/>
          </a:stretch>
        </p:blipFill>
        <p:spPr>
          <a:xfrm>
            <a:off x="0" y="2832100"/>
            <a:ext cx="12192000" cy="4025900"/>
          </a:xfrm>
          <a:custGeom>
            <a:avLst/>
            <a:gdLst>
              <a:gd name="connsiteX0" fmla="*/ 0 w 12192000"/>
              <a:gd name="connsiteY0" fmla="*/ 0 h 4025900"/>
              <a:gd name="connsiteX1" fmla="*/ 12192000 w 12192000"/>
              <a:gd name="connsiteY1" fmla="*/ 0 h 4025900"/>
              <a:gd name="connsiteX2" fmla="*/ 12192000 w 12192000"/>
              <a:gd name="connsiteY2" fmla="*/ 4025900 h 4025900"/>
              <a:gd name="connsiteX3" fmla="*/ 0 w 12192000"/>
              <a:gd name="connsiteY3" fmla="*/ 4025900 h 402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025900">
                <a:moveTo>
                  <a:pt x="0" y="0"/>
                </a:moveTo>
                <a:lnTo>
                  <a:pt x="12192000" y="0"/>
                </a:lnTo>
                <a:lnTo>
                  <a:pt x="12192000" y="4025900"/>
                </a:lnTo>
                <a:lnTo>
                  <a:pt x="0" y="4025900"/>
                </a:lnTo>
                <a:close/>
              </a:path>
            </a:pathLst>
          </a:custGeom>
        </p:spPr>
      </p:pic>
      <p:sp>
        <p:nvSpPr>
          <p:cNvPr id="3" name="对角圆角矩形 8"/>
          <p:cNvSpPr/>
          <p:nvPr>
            <p:custDataLst>
              <p:tags r:id="rId2"/>
            </p:custDataLst>
          </p:nvPr>
        </p:nvSpPr>
        <p:spPr>
          <a:xfrm>
            <a:off x="2956847" y="4135340"/>
            <a:ext cx="6278833" cy="647700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8FC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TextBox 1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133850" y="2075180"/>
            <a:ext cx="3183890" cy="5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charset="-122"/>
              </a:rPr>
              <a:t>01    ID3</a:t>
            </a:r>
            <a:r>
              <a:rPr lang="zh-CN" altLang="en-US" sz="3600" dirty="0">
                <a:solidFill>
                  <a:schemeClr val="tx1"/>
                </a:solidFill>
                <a:latin typeface="Impact" panose="020B0806030902050204" pitchFamily="34" charset="0"/>
                <a:ea typeface="微软雅黑" panose="020B0503020204020204" charset="-122"/>
              </a:rPr>
              <a:t>算法</a:t>
            </a:r>
            <a:endParaRPr lang="zh-CN" altLang="en-US" sz="3600" dirty="0">
              <a:solidFill>
                <a:schemeClr val="tx1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9" name="TextBox 1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133850" y="3152140"/>
            <a:ext cx="2913380" cy="5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anose="020B0806030902050204" pitchFamily="34" charset="0"/>
                <a:ea typeface="微软雅黑" panose="020B0503020204020204" charset="-122"/>
              </a:rPr>
              <a:t>02    C4.5</a:t>
            </a:r>
            <a:r>
              <a:rPr lang="zh-CN" altLang="en-US" sz="3600" dirty="0">
                <a:latin typeface="Impact" panose="020B0806030902050204" pitchFamily="34" charset="0"/>
                <a:ea typeface="微软雅黑" panose="020B0503020204020204" charset="-122"/>
              </a:rPr>
              <a:t>算法</a:t>
            </a:r>
            <a:endParaRPr lang="zh-CN" altLang="en-US" sz="3600" dirty="0"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10" name="TextBox 1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133850" y="4229100"/>
            <a:ext cx="2776855" cy="553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03 </a:t>
            </a:r>
            <a:r>
              <a:rPr lang="zh-CN" altLang="en-US" sz="36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   </a:t>
            </a:r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CART</a:t>
            </a:r>
            <a:r>
              <a:rPr lang="zh-CN" altLang="en-US" sz="36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charset="-122"/>
              </a:rPr>
              <a:t>算法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067175" y="686435"/>
            <a:ext cx="3901440" cy="903610"/>
            <a:chOff x="1029437" y="3931614"/>
            <a:chExt cx="3582597" cy="903707"/>
          </a:xfrm>
        </p:grpSpPr>
        <p:sp>
          <p:nvSpPr>
            <p:cNvPr id="15" name="矩形 14"/>
            <p:cNvSpPr/>
            <p:nvPr>
              <p:custDataLst>
                <p:tags r:id="rId6"/>
              </p:custDataLst>
            </p:nvPr>
          </p:nvSpPr>
          <p:spPr>
            <a:xfrm>
              <a:off x="1029437" y="3988332"/>
              <a:ext cx="853873" cy="70683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zh-CN" altLang="en-US" sz="4000" dirty="0">
                  <a:solidFill>
                    <a:srgbClr val="6FB4BD"/>
                  </a:solidFill>
                  <a:latin typeface="汉仪中宋简" panose="02010609000101010101" pitchFamily="49" charset="-122"/>
                  <a:ea typeface="汉仪中宋简" panose="02010609000101010101" pitchFamily="49" charset="-122"/>
                </a:rPr>
                <a:t>一、</a:t>
              </a:r>
              <a:endParaRPr lang="zh-CN" altLang="en-US" sz="4000" dirty="0">
                <a:solidFill>
                  <a:srgbClr val="6FB4BD"/>
                </a:solidFill>
                <a:latin typeface="汉仪中宋简" panose="02010609000101010101" pitchFamily="49" charset="-122"/>
                <a:ea typeface="汉仪中宋简" panose="02010609000101010101" pitchFamily="49" charset="-122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7"/>
              </p:custDataLst>
            </p:nvPr>
          </p:nvSpPr>
          <p:spPr>
            <a:xfrm>
              <a:off x="1965156" y="3931614"/>
              <a:ext cx="2646878" cy="70683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zh-CN" altLang="en-US" sz="4000" dirty="0">
                  <a:solidFill>
                    <a:srgbClr val="6FB4BD"/>
                  </a:solidFill>
                  <a:latin typeface="华文新魏" panose="02010800040101010101" charset="-122"/>
                  <a:ea typeface="华文新魏" panose="02010800040101010101" charset="-122"/>
                </a:rPr>
                <a:t>决策树</a:t>
              </a:r>
              <a:r>
                <a:rPr lang="en-US" altLang="zh-CN" sz="4000" dirty="0">
                  <a:solidFill>
                    <a:srgbClr val="6FB4BD"/>
                  </a:solidFill>
                  <a:latin typeface="华文新魏" panose="02010800040101010101" charset="-122"/>
                  <a:ea typeface="华文新魏" panose="02010800040101010101" charset="-122"/>
                </a:rPr>
                <a:t> </a:t>
              </a:r>
              <a:endParaRPr lang="en-US" altLang="zh-CN" sz="4000" dirty="0">
                <a:solidFill>
                  <a:srgbClr val="6FB4BD"/>
                </a:solidFill>
                <a:latin typeface="华文新魏" panose="02010800040101010101" charset="-122"/>
                <a:ea typeface="华文新魏" panose="02010800040101010101" charset="-122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8"/>
              </p:custDataLst>
            </p:nvPr>
          </p:nvSpPr>
          <p:spPr>
            <a:xfrm>
              <a:off x="1996815" y="4436498"/>
              <a:ext cx="2474677" cy="39882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l"/>
              <a:r>
                <a:rPr lang="zh-CN" altLang="en-US" sz="2000" dirty="0">
                  <a:solidFill>
                    <a:srgbClr val="6FB4BD"/>
                  </a:solidFill>
                </a:rPr>
                <a:t>decision tree</a:t>
              </a:r>
              <a:endParaRPr lang="zh-CN" altLang="en-US" sz="2000" dirty="0">
                <a:solidFill>
                  <a:srgbClr val="6FB4BD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40360" y="273685"/>
            <a:ext cx="2386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1" hangingPunct="1"/>
            <a:r>
              <a:rPr lang="en-US" altLang="zh-CN" sz="2800" b="1" dirty="0">
                <a:sym typeface="+mn-ea"/>
              </a:rPr>
              <a:t>3</a:t>
            </a:r>
            <a:r>
              <a:rPr lang="zh-CN" altLang="en-US" sz="2800" b="1" dirty="0">
                <a:sym typeface="+mn-ea"/>
              </a:rPr>
              <a:t>、</a:t>
            </a:r>
            <a:r>
              <a:rPr lang="en-US" altLang="zh-CN" sz="2800" b="1" dirty="0">
                <a:sym typeface="+mn-ea"/>
              </a:rPr>
              <a:t>CART</a:t>
            </a:r>
            <a:r>
              <a:rPr lang="zh-CN" altLang="en-US" sz="2800" b="1" dirty="0">
                <a:sym typeface="+mn-ea"/>
              </a:rPr>
              <a:t>算法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1700" y="1588135"/>
            <a:ext cx="76835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CART</a:t>
            </a:r>
            <a:r>
              <a:rPr lang="zh-CN" altLang="en-US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算法可以</a:t>
            </a:r>
            <a:r>
              <a:rPr lang="zh-CN" altLang="en-US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用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基尼系数</a:t>
            </a:r>
            <a:r>
              <a:rPr lang="zh-CN" altLang="en-US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来选择属性（分类），或用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均方差</a:t>
            </a:r>
            <a:r>
              <a:rPr lang="zh-CN" altLang="en-US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来选择属性（回归）。</a:t>
            </a:r>
            <a:endParaRPr lang="zh-CN" altLang="en-US" dirty="0"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  <a:sym typeface="+mn-ea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  <a:sym typeface="+mn-ea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CART</a:t>
            </a:r>
            <a:r>
              <a:rPr lang="zh-CN" altLang="en-US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算法既可以用于创建分类树，也可以用于创建回归树，两者在构建的过程中稍有差异。</a:t>
            </a:r>
            <a:endParaRPr lang="zh-CN" altLang="en-US" dirty="0"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  <a:sym typeface="+mn-ea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如果目标变量是</a:t>
            </a:r>
            <a:r>
              <a:rPr lang="zh-CN" altLang="en-US" u="sng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离散</a:t>
            </a:r>
            <a:r>
              <a:rPr lang="zh-CN" altLang="en-US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的，称为</a:t>
            </a:r>
            <a:r>
              <a:rPr lang="zh-CN" altLang="en-US" u="sng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分类树</a:t>
            </a:r>
            <a:r>
              <a:rPr lang="zh-CN" altLang="en-US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dirty="0">
              <a:latin typeface="Times New Roman" panose="02020603050405020304" pitchFamily="18" charset="0"/>
              <a:ea typeface="思源黑体 CN Medium" panose="020B0600000000000000" pitchFamily="34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如果目标变量是</a:t>
            </a:r>
            <a:r>
              <a:rPr lang="zh-CN" altLang="en-US" u="sng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连续</a:t>
            </a:r>
            <a:r>
              <a:rPr lang="zh-CN" altLang="en-US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的，称为</a:t>
            </a:r>
            <a:r>
              <a:rPr lang="zh-CN" altLang="en-US" u="sng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回归树</a:t>
            </a:r>
            <a:r>
              <a:rPr lang="zh-CN" altLang="en-US" dirty="0">
                <a:latin typeface="Times New Roman" panose="02020603050405020304" pitchFamily="18" charset="0"/>
                <a:ea typeface="思源黑体 CN Medium" panose="020B0600000000000000" pitchFamily="34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954" r="51477"/>
          <a:stretch>
            <a:fillRect/>
          </a:stretch>
        </p:blipFill>
        <p:spPr>
          <a:xfrm>
            <a:off x="687070" y="919480"/>
            <a:ext cx="3950970" cy="4370705"/>
          </a:xfrm>
          <a:prstGeom prst="rect">
            <a:avLst/>
          </a:prstGeom>
        </p:spPr>
      </p:pic>
      <p:sp>
        <p:nvSpPr>
          <p:cNvPr id="4" name="左大括号 3"/>
          <p:cNvSpPr/>
          <p:nvPr/>
        </p:nvSpPr>
        <p:spPr>
          <a:xfrm rot="16200000">
            <a:off x="2240915" y="4675505"/>
            <a:ext cx="291465" cy="152019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046605" y="5650865"/>
            <a:ext cx="680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属性</a:t>
            </a:r>
            <a:endParaRPr lang="zh-CN" altLang="en-US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4145280" y="5290185"/>
            <a:ext cx="0" cy="38163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804920" y="5650865"/>
            <a:ext cx="680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标签</a:t>
            </a:r>
            <a:endParaRPr lang="zh-CN" altLang="en-US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417195"/>
            <a:ext cx="4864100" cy="27622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t="1235"/>
          <a:stretch>
            <a:fillRect/>
          </a:stretch>
        </p:blipFill>
        <p:spPr>
          <a:xfrm>
            <a:off x="5768975" y="417195"/>
            <a:ext cx="5803900" cy="426466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rcRect l="1189" t="4217" b="1058"/>
          <a:stretch>
            <a:fillRect/>
          </a:stretch>
        </p:blipFill>
        <p:spPr>
          <a:xfrm>
            <a:off x="5768975" y="417195"/>
            <a:ext cx="5803900" cy="426466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rcRect t="9534" b="9864"/>
          <a:stretch>
            <a:fillRect/>
          </a:stretch>
        </p:blipFill>
        <p:spPr>
          <a:xfrm>
            <a:off x="5772785" y="5080000"/>
            <a:ext cx="5800090" cy="124015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rcRect l="1568" t="17363" r="9494" b="11099"/>
          <a:stretch>
            <a:fillRect/>
          </a:stretch>
        </p:blipFill>
        <p:spPr>
          <a:xfrm>
            <a:off x="5772785" y="5080000"/>
            <a:ext cx="5800090" cy="1240155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340360" y="273685"/>
            <a:ext cx="2386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1" hangingPunct="1"/>
            <a:r>
              <a:rPr lang="en-US" altLang="zh-CN" sz="2800" b="1" dirty="0">
                <a:sym typeface="+mn-ea"/>
              </a:rPr>
              <a:t>3</a:t>
            </a:r>
            <a:r>
              <a:rPr lang="zh-CN" altLang="en-US" sz="2800" b="1" dirty="0">
                <a:sym typeface="+mn-ea"/>
              </a:rPr>
              <a:t>、</a:t>
            </a:r>
            <a:r>
              <a:rPr lang="en-US" altLang="zh-CN" sz="2800" b="1" dirty="0">
                <a:sym typeface="+mn-ea"/>
              </a:rPr>
              <a:t>CART</a:t>
            </a:r>
            <a:r>
              <a:rPr lang="zh-CN" altLang="en-US" sz="2800" b="1" dirty="0">
                <a:sym typeface="+mn-ea"/>
              </a:rPr>
              <a:t>算法</a:t>
            </a:r>
            <a:endParaRPr lang="zh-CN" altLang="en-US" sz="2800" b="1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  <p:bldP spid="5" grpId="0"/>
      <p:bldP spid="5" grpId="1"/>
      <p:bldP spid="12" grpId="0"/>
      <p:bldP spid="12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1"/>
            </p:custDataLst>
          </p:nvPr>
        </p:nvSpPr>
        <p:spPr>
          <a:xfrm>
            <a:off x="742315" y="859155"/>
            <a:ext cx="3422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600" b="1">
                <a:solidFill>
                  <a:srgbClr val="02020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Calibri" panose="020F0502020204030204" pitchFamily="34" charset="0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zh-CN" altLang="en-US" sz="2000" dirty="0">
                <a:solidFill>
                  <a:srgbClr val="6FB4BD"/>
                </a:solidFill>
              </a:rPr>
              <a:t>选</a:t>
            </a:r>
            <a:r>
              <a:rPr lang="zh-CN" altLang="en-US" sz="2000" dirty="0">
                <a:solidFill>
                  <a:srgbClr val="61ADB7"/>
                </a:solidFill>
                <a:sym typeface="+mn-ea"/>
              </a:rPr>
              <a:t>择属性时的度量指标</a:t>
            </a:r>
            <a:r>
              <a:rPr lang="zh-CN" altLang="en-US" sz="2000" dirty="0">
                <a:solidFill>
                  <a:srgbClr val="6FB4BD"/>
                </a:solidFill>
              </a:rPr>
              <a:t>：</a:t>
            </a:r>
            <a:endParaRPr lang="zh-CN" altLang="en-US" sz="2000" dirty="0">
              <a:solidFill>
                <a:srgbClr val="6FB4BD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2315" y="1257935"/>
            <a:ext cx="6017260" cy="5201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2000">
                <a:latin typeface="Nirmala UI Semilight" panose="020B0402040204020203" charset="0"/>
              </a:rPr>
              <a:t>基尼系数</a:t>
            </a:r>
            <a:r>
              <a:rPr lang="zh-CN" altLang="en-US">
                <a:latin typeface="Nirmala UI Semilight" panose="020B0402040204020203" charset="0"/>
              </a:rPr>
              <a:t>：</a:t>
            </a:r>
            <a:endParaRPr lang="zh-CN" altLang="en-US">
              <a:latin typeface="Nirmala UI Semilight" panose="020B0402040204020203" charset="0"/>
            </a:endParaRPr>
          </a:p>
          <a:p>
            <a:pPr>
              <a:lnSpc>
                <a:spcPct val="120000"/>
              </a:lnSpc>
            </a:pPr>
            <a:endParaRPr lang="zh-CN" altLang="en-US" sz="1200">
              <a:latin typeface="Nirmala UI Semilight" panose="020B0402040204020203" charset="0"/>
            </a:endParaRPr>
          </a:p>
          <a:p>
            <a:pPr>
              <a:lnSpc>
                <a:spcPct val="140000"/>
              </a:lnSpc>
            </a:pPr>
            <a:r>
              <a:rPr lang="zh-CN" altLang="en-US">
                <a:latin typeface="Nirmala UI Semilight" panose="020B0402040204020203" charset="0"/>
              </a:rPr>
              <a:t>在经济学中，基尼系数是指国际上通用的、用以衡量一个国家或地区居民收入差距的常用指标。</a:t>
            </a:r>
            <a:endParaRPr lang="zh-CN" altLang="en-US">
              <a:latin typeface="Nirmala UI Semilight" panose="020B0402040204020203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Nirmala UI Semilight" panose="020B0402040204020203" charset="0"/>
              </a:rPr>
              <a:t>基尼系数最大为"1"，最小等于"0"。基尼系数越接近0表明收入分配越是趋向平等。</a:t>
            </a:r>
            <a:endParaRPr lang="zh-CN" altLang="en-US">
              <a:latin typeface="Nirmala UI Semilight" panose="020B0402040204020203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Nirmala UI Semilight" panose="020B0402040204020203" charset="0"/>
              </a:rPr>
              <a:t>国际上通常把基尼系数0.4作为收入分配差距（</a:t>
            </a:r>
            <a:r>
              <a:rPr lang="zh-CN" altLang="en-US">
                <a:latin typeface="Nirmala UI Semilight" panose="020B0402040204020203" charset="0"/>
                <a:sym typeface="+mn-ea"/>
              </a:rPr>
              <a:t>贫富差距</a:t>
            </a:r>
            <a:r>
              <a:rPr lang="zh-CN" altLang="en-US">
                <a:latin typeface="Nirmala UI Semilight" panose="020B0402040204020203" charset="0"/>
              </a:rPr>
              <a:t>）的"警戒线"，</a:t>
            </a:r>
            <a:r>
              <a:rPr lang="zh-CN" altLang="en-US">
                <a:latin typeface="Nirmala UI Semilight" panose="020B0402040204020203" charset="0"/>
                <a:sym typeface="+mn-ea"/>
              </a:rPr>
              <a:t>大于这一数值容易出现社会动荡，</a:t>
            </a:r>
            <a:r>
              <a:rPr lang="zh-CN" altLang="en-US">
                <a:latin typeface="Nirmala UI Semilight" panose="020B0402040204020203" charset="0"/>
              </a:rPr>
              <a:t>根据黄金分割律，其准确值应为0.382。</a:t>
            </a:r>
            <a:endParaRPr lang="zh-CN" altLang="en-US">
              <a:latin typeface="Nirmala UI Semilight" panose="020B0402040204020203" charset="0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Nirmala UI Semilight" panose="020B0402040204020203" charset="0"/>
              </a:rPr>
              <a:t>一般发达国家的基尼指数在0.24到0.36之间，美国偏高，为0.52。中国国家统计局公布的数据中，在2008年我国的基尼系数达到了最高峰0.491，直到2022年，也没有降下去多少，为0.474。</a:t>
            </a:r>
            <a:endParaRPr lang="zh-CN" altLang="en-US">
              <a:latin typeface="Nirmala UI Semilight" panose="020B0402040204020203" charset="0"/>
            </a:endParaRPr>
          </a:p>
          <a:p>
            <a:pPr>
              <a:lnSpc>
                <a:spcPct val="120000"/>
              </a:lnSpc>
            </a:pPr>
            <a:endParaRPr lang="zh-CN" altLang="en-US">
              <a:latin typeface="Nirmala UI Semilight" panose="020B0402040204020203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50760" y="2526665"/>
            <a:ext cx="4083050" cy="2228215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340360" y="273685"/>
            <a:ext cx="26416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1" hangingPunct="1"/>
            <a:r>
              <a:rPr lang="en-US" altLang="zh-CN" sz="2800" b="1" dirty="0">
                <a:sym typeface="+mn-ea"/>
              </a:rPr>
              <a:t>3</a:t>
            </a:r>
            <a:r>
              <a:rPr lang="zh-CN" altLang="en-US" sz="2800" b="1" dirty="0">
                <a:sym typeface="+mn-ea"/>
              </a:rPr>
              <a:t>、</a:t>
            </a:r>
            <a:r>
              <a:rPr lang="en-US" altLang="zh-CN" sz="2800" b="1" dirty="0">
                <a:sym typeface="+mn-ea"/>
              </a:rPr>
              <a:t>CART</a:t>
            </a:r>
            <a:r>
              <a:rPr lang="zh-CN" altLang="en-US" sz="2800" b="1" dirty="0">
                <a:sym typeface="+mn-ea"/>
              </a:rPr>
              <a:t>算法</a:t>
            </a:r>
            <a:endParaRPr lang="zh-CN" altLang="en-US" sz="2800" b="1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1"/>
            </p:custDataLst>
          </p:nvPr>
        </p:nvSpPr>
        <p:spPr>
          <a:xfrm>
            <a:off x="565785" y="802005"/>
            <a:ext cx="3422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600" b="1">
                <a:solidFill>
                  <a:srgbClr val="02020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Calibri" panose="020F0502020204030204" pitchFamily="34" charset="0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zh-CN" altLang="en-US" sz="2000" dirty="0">
                <a:solidFill>
                  <a:srgbClr val="6FB4BD"/>
                </a:solidFill>
              </a:rPr>
              <a:t>选</a:t>
            </a:r>
            <a:r>
              <a:rPr lang="zh-CN" altLang="en-US" sz="2000" dirty="0">
                <a:solidFill>
                  <a:srgbClr val="61ADB7"/>
                </a:solidFill>
                <a:sym typeface="+mn-ea"/>
              </a:rPr>
              <a:t>择属性时的度量指标</a:t>
            </a:r>
            <a:r>
              <a:rPr lang="zh-CN" altLang="en-US" sz="2000" dirty="0">
                <a:solidFill>
                  <a:srgbClr val="6FB4BD"/>
                </a:solidFill>
              </a:rPr>
              <a:t>：</a:t>
            </a:r>
            <a:endParaRPr lang="zh-CN" altLang="en-US" sz="2000" dirty="0">
              <a:solidFill>
                <a:srgbClr val="6FB4BD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5785" y="1289050"/>
            <a:ext cx="3480435" cy="2544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2000">
                <a:latin typeface="Nirmala UI Semilight" panose="020B0402040204020203" charset="0"/>
              </a:rPr>
              <a:t>基尼系数</a:t>
            </a:r>
            <a:r>
              <a:rPr lang="zh-CN" altLang="en-US">
                <a:latin typeface="Nirmala UI Semilight" panose="020B0402040204020203" charset="0"/>
              </a:rPr>
              <a:t>：</a:t>
            </a:r>
            <a:endParaRPr lang="zh-CN" altLang="en-US">
              <a:latin typeface="Nirmala UI Semilight" panose="020B0402040204020203" charset="0"/>
            </a:endParaRPr>
          </a:p>
          <a:p>
            <a:pPr>
              <a:lnSpc>
                <a:spcPct val="80000"/>
              </a:lnSpc>
            </a:pPr>
            <a:endParaRPr lang="zh-CN" altLang="en-US" sz="1600">
              <a:latin typeface="Nirmala UI Semilight" panose="020B0402040204020203" charset="0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Nirmala UI Semilight" panose="020B0402040204020203" charset="0"/>
              </a:rPr>
              <a:t>基尼系数的含义是当下标准的不确定程度。</a:t>
            </a:r>
            <a:endParaRPr lang="zh-CN" altLang="en-US">
              <a:latin typeface="Nirmala UI Semilight" panose="020B0402040204020203" charset="0"/>
            </a:endParaRPr>
          </a:p>
          <a:p>
            <a:pPr>
              <a:lnSpc>
                <a:spcPct val="70000"/>
              </a:lnSpc>
            </a:pPr>
            <a:endParaRPr lang="zh-CN" altLang="en-US" sz="1600">
              <a:latin typeface="Nirmala UI Semilight" panose="020B0402040204020203" charset="0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latin typeface="Nirmala UI Semilight" panose="020B0402040204020203" charset="0"/>
              </a:rPr>
              <a:t>在</a:t>
            </a:r>
            <a:r>
              <a:rPr lang="zh-CN" altLang="en-US">
                <a:latin typeface="Nirmala UI Semilight" panose="020B0402040204020203" charset="0"/>
              </a:rPr>
              <a:t>决策树中，基尼系数代表了模型的不纯度，基尼系数越小，则不纯度越低，特征越好。</a:t>
            </a:r>
            <a:endParaRPr lang="zh-CN" altLang="en-US">
              <a:latin typeface="Nirmala UI Semilight" panose="020B0402040204020203" charset="0"/>
            </a:endParaRPr>
          </a:p>
        </p:txBody>
      </p:sp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840865" y="1194435"/>
          <a:ext cx="2205355" cy="701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1358900" imgH="431800" progId="Equation.KSEE3">
                  <p:embed/>
                </p:oleObj>
              </mc:Choice>
              <mc:Fallback>
                <p:oleObj name="" r:id="rId3" imgW="1358900" imgH="4318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0865" y="1194435"/>
                        <a:ext cx="2205355" cy="701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接箭头连接符 1"/>
          <p:cNvCxnSpPr/>
          <p:nvPr/>
        </p:nvCxnSpPr>
        <p:spPr>
          <a:xfrm flipV="1">
            <a:off x="1075055" y="4341495"/>
            <a:ext cx="10795" cy="17157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1082675" y="6057265"/>
            <a:ext cx="2332990" cy="76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任意多边形 15"/>
          <p:cNvSpPr/>
          <p:nvPr/>
        </p:nvSpPr>
        <p:spPr>
          <a:xfrm>
            <a:off x="1082675" y="5271770"/>
            <a:ext cx="1881505" cy="793115"/>
          </a:xfrm>
          <a:custGeom>
            <a:avLst/>
            <a:gdLst>
              <a:gd name="connisteX0" fmla="*/ 0 w 1881505"/>
              <a:gd name="connsiteY0" fmla="*/ 881380 h 881380"/>
              <a:gd name="connisteX1" fmla="*/ 977900 w 1881505"/>
              <a:gd name="connsiteY1" fmla="*/ 0 h 881380"/>
              <a:gd name="connisteX2" fmla="*/ 1881505 w 1881505"/>
              <a:gd name="connsiteY2" fmla="*/ 881380 h 8813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881505" h="881380">
                <a:moveTo>
                  <a:pt x="0" y="881380"/>
                </a:moveTo>
                <a:cubicBezTo>
                  <a:pt x="177800" y="687705"/>
                  <a:pt x="601345" y="0"/>
                  <a:pt x="977900" y="0"/>
                </a:cubicBezTo>
                <a:cubicBezTo>
                  <a:pt x="1354455" y="0"/>
                  <a:pt x="1720215" y="687705"/>
                  <a:pt x="1881505" y="881380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5"/>
            </p:custDataLst>
          </p:nvPr>
        </p:nvSpPr>
        <p:spPr>
          <a:xfrm>
            <a:off x="1082675" y="4552950"/>
            <a:ext cx="1881505" cy="1511935"/>
          </a:xfrm>
          <a:custGeom>
            <a:avLst/>
            <a:gdLst>
              <a:gd name="connisteX0" fmla="*/ 0 w 1881505"/>
              <a:gd name="connsiteY0" fmla="*/ 881380 h 881380"/>
              <a:gd name="connisteX1" fmla="*/ 977900 w 1881505"/>
              <a:gd name="connsiteY1" fmla="*/ 0 h 881380"/>
              <a:gd name="connisteX2" fmla="*/ 1881505 w 1881505"/>
              <a:gd name="connsiteY2" fmla="*/ 881380 h 8813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881505" h="881380">
                <a:moveTo>
                  <a:pt x="0" y="881380"/>
                </a:moveTo>
                <a:cubicBezTo>
                  <a:pt x="177800" y="687705"/>
                  <a:pt x="601345" y="0"/>
                  <a:pt x="977900" y="0"/>
                </a:cubicBezTo>
                <a:cubicBezTo>
                  <a:pt x="1354455" y="0"/>
                  <a:pt x="1720215" y="687705"/>
                  <a:pt x="1881505" y="88138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23290" y="6057265"/>
            <a:ext cx="311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1757045" y="6064885"/>
            <a:ext cx="533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0.5</a:t>
            </a:r>
            <a:endParaRPr lang="en-US" altLang="zh-CN"/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2813050" y="6064885"/>
            <a:ext cx="311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3265170" y="6057265"/>
            <a:ext cx="311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</a:t>
            </a:r>
            <a:endParaRPr lang="en-US" altLang="zh-CN"/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565785" y="3955415"/>
            <a:ext cx="1644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F0"/>
                </a:solidFill>
              </a:rPr>
              <a:t>Gini </a:t>
            </a:r>
            <a:r>
              <a:rPr lang="en-US" altLang="zh-CN">
                <a:solidFill>
                  <a:schemeClr val="tx1"/>
                </a:solidFill>
              </a:rPr>
              <a:t>/ </a:t>
            </a:r>
            <a:r>
              <a:rPr lang="en-US" altLang="zh-CN">
                <a:solidFill>
                  <a:srgbClr val="00B050"/>
                </a:solidFill>
              </a:rPr>
              <a:t>Entropy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173855" y="4364990"/>
            <a:ext cx="7372350" cy="1882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Nirmala UI Semilight" panose="020B0402040204020203" charset="0"/>
                <a:sym typeface="+mn-ea"/>
              </a:rPr>
              <a:t>当样本都属于一个类别时，基尼系数为0；样本类别数目越多，数据越分散，基尼系数越接近于1。直观来说，数据集的基尼系数反映了从数据集D中随机抽取两个样本，其类别不一样的概率。因此，</a:t>
            </a:r>
            <a:r>
              <a:rPr lang="zh-CN" altLang="en-US">
                <a:solidFill>
                  <a:srgbClr val="FF0000"/>
                </a:solidFill>
                <a:latin typeface="Nirmala UI Semilight" panose="020B0402040204020203" charset="0"/>
                <a:sym typeface="+mn-ea"/>
              </a:rPr>
              <a:t>基尼系数越小，数据集的纯度越高</a:t>
            </a:r>
            <a:r>
              <a:rPr lang="zh-CN" altLang="en-US">
                <a:latin typeface="Nirmala UI Semilight" panose="020B0402040204020203" charset="0"/>
                <a:sym typeface="+mn-ea"/>
              </a:rPr>
              <a:t>。</a:t>
            </a:r>
            <a:endParaRPr lang="zh-CN" altLang="en-US">
              <a:latin typeface="Nirmala UI Semilight" panose="020B0402040204020203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>
                <a:latin typeface="Nirmala UI Semilight" panose="020B0402040204020203" charset="0"/>
                <a:sym typeface="+mn-ea"/>
              </a:rPr>
              <a:t>选择基尼系数最小的来作为决策树下一级分类的标准。</a:t>
            </a:r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4831080" y="2534920"/>
            <a:ext cx="1765300" cy="58293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600"/>
              <a:t>label=</a:t>
            </a:r>
            <a:r>
              <a:rPr lang="zh-CN" altLang="en-US" sz="1600"/>
              <a:t>批准：</a:t>
            </a:r>
            <a:r>
              <a:rPr lang="en-US" altLang="zh-CN" sz="1600"/>
              <a:t>8</a:t>
            </a:r>
            <a:r>
              <a:rPr lang="zh-CN" altLang="en-US" sz="1600"/>
              <a:t>个</a:t>
            </a:r>
            <a:endParaRPr lang="zh-CN" altLang="en-US" sz="1600"/>
          </a:p>
          <a:p>
            <a:pPr algn="ctr"/>
            <a:r>
              <a:rPr lang="en-US" altLang="zh-CN" sz="1600"/>
              <a:t>label=</a:t>
            </a:r>
            <a:r>
              <a:rPr lang="zh-CN" altLang="en-US" sz="1600"/>
              <a:t>拒绝：</a:t>
            </a:r>
            <a:r>
              <a:rPr lang="en-US" altLang="zh-CN" sz="1600"/>
              <a:t>2</a:t>
            </a:r>
            <a:r>
              <a:rPr lang="zh-CN" altLang="en-US" sz="1600"/>
              <a:t>个</a:t>
            </a:r>
            <a:endParaRPr lang="zh-CN" altLang="en-US" sz="1600"/>
          </a:p>
        </p:txBody>
      </p:sp>
      <p:sp>
        <p:nvSpPr>
          <p:cNvPr id="29" name="矩形 28"/>
          <p:cNvSpPr/>
          <p:nvPr>
            <p:custDataLst>
              <p:tags r:id="rId10"/>
            </p:custDataLst>
          </p:nvPr>
        </p:nvSpPr>
        <p:spPr>
          <a:xfrm>
            <a:off x="4831080" y="1658620"/>
            <a:ext cx="1765300" cy="58293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600"/>
              <a:t>label=</a:t>
            </a:r>
            <a:r>
              <a:rPr lang="zh-CN" altLang="en-US" sz="1600"/>
              <a:t>批准：</a:t>
            </a:r>
            <a:r>
              <a:rPr lang="en-US" altLang="zh-CN" sz="1600"/>
              <a:t>5</a:t>
            </a:r>
            <a:r>
              <a:rPr lang="zh-CN" altLang="en-US" sz="1600"/>
              <a:t>个</a:t>
            </a:r>
            <a:endParaRPr lang="zh-CN" altLang="en-US" sz="1600"/>
          </a:p>
          <a:p>
            <a:pPr algn="ctr"/>
            <a:r>
              <a:rPr lang="en-US" altLang="zh-CN" sz="1600"/>
              <a:t>label=</a:t>
            </a:r>
            <a:r>
              <a:rPr lang="zh-CN" altLang="en-US" sz="1600"/>
              <a:t>拒绝：</a:t>
            </a:r>
            <a:r>
              <a:rPr lang="en-US" altLang="zh-CN" sz="1600"/>
              <a:t>5</a:t>
            </a:r>
            <a:r>
              <a:rPr lang="zh-CN" altLang="en-US" sz="1600"/>
              <a:t>个</a:t>
            </a:r>
            <a:endParaRPr lang="zh-CN" altLang="en-US" sz="1600"/>
          </a:p>
        </p:txBody>
      </p:sp>
      <p:sp>
        <p:nvSpPr>
          <p:cNvPr id="30" name="矩形 29"/>
          <p:cNvSpPr/>
          <p:nvPr>
            <p:custDataLst>
              <p:tags r:id="rId11"/>
            </p:custDataLst>
          </p:nvPr>
        </p:nvSpPr>
        <p:spPr>
          <a:xfrm>
            <a:off x="4831715" y="3411220"/>
            <a:ext cx="1765300" cy="58293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1600"/>
              <a:t>label=</a:t>
            </a:r>
            <a:r>
              <a:rPr lang="zh-CN" altLang="en-US" sz="1600"/>
              <a:t>批准：</a:t>
            </a:r>
            <a:r>
              <a:rPr lang="en-US" altLang="zh-CN" sz="1600"/>
              <a:t>10</a:t>
            </a:r>
            <a:r>
              <a:rPr lang="zh-CN" altLang="en-US" sz="1600"/>
              <a:t>个</a:t>
            </a:r>
            <a:endParaRPr lang="zh-CN" altLang="en-US" sz="1600"/>
          </a:p>
          <a:p>
            <a:pPr algn="ctr"/>
            <a:r>
              <a:rPr lang="en-US" altLang="zh-CN" sz="1600"/>
              <a:t>label=</a:t>
            </a:r>
            <a:r>
              <a:rPr lang="zh-CN" altLang="en-US" sz="1600"/>
              <a:t>拒绝：</a:t>
            </a:r>
            <a:r>
              <a:rPr lang="en-US" altLang="zh-CN" sz="1600"/>
              <a:t>0</a:t>
            </a:r>
            <a:r>
              <a:rPr lang="zh-CN" altLang="en-US" sz="1600"/>
              <a:t>个</a:t>
            </a:r>
            <a:endParaRPr lang="zh-CN" altLang="en-US" sz="1600"/>
          </a:p>
        </p:txBody>
      </p:sp>
      <p:cxnSp>
        <p:nvCxnSpPr>
          <p:cNvPr id="31" name="直接箭头连接符 30"/>
          <p:cNvCxnSpPr/>
          <p:nvPr/>
        </p:nvCxnSpPr>
        <p:spPr>
          <a:xfrm>
            <a:off x="4533265" y="1658620"/>
            <a:ext cx="0" cy="239903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4003040" y="2094230"/>
            <a:ext cx="459740" cy="1805305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solidFill>
                  <a:schemeClr val="accent5"/>
                </a:solidFill>
                <a:latin typeface="Arial" panose="020B0604020202020204" pitchFamily="34" charset="0"/>
                <a:ea typeface="微软雅黑" panose="020B0503020204020204" charset="-122"/>
              </a:rPr>
              <a:t>纯度越来越高</a:t>
            </a:r>
            <a:endParaRPr lang="zh-CN" altLang="en-US" sz="1800">
              <a:solidFill>
                <a:schemeClr val="accent5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5" name="右箭头 34"/>
          <p:cNvSpPr/>
          <p:nvPr/>
        </p:nvSpPr>
        <p:spPr>
          <a:xfrm>
            <a:off x="6729095" y="1801495"/>
            <a:ext cx="236855" cy="297815"/>
          </a:xfrm>
          <a:prstGeom prst="righ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右箭头 35"/>
          <p:cNvSpPr/>
          <p:nvPr>
            <p:custDataLst>
              <p:tags r:id="rId12"/>
            </p:custDataLst>
          </p:nvPr>
        </p:nvSpPr>
        <p:spPr>
          <a:xfrm>
            <a:off x="6729095" y="3555365"/>
            <a:ext cx="236855" cy="297815"/>
          </a:xfrm>
          <a:prstGeom prst="righ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右箭头 36"/>
          <p:cNvSpPr/>
          <p:nvPr>
            <p:custDataLst>
              <p:tags r:id="rId13"/>
            </p:custDataLst>
          </p:nvPr>
        </p:nvSpPr>
        <p:spPr>
          <a:xfrm>
            <a:off x="6729095" y="2708910"/>
            <a:ext cx="236855" cy="297815"/>
          </a:xfrm>
          <a:prstGeom prst="righ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7036435" y="1596390"/>
            <a:ext cx="14636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p(</a:t>
            </a:r>
            <a:r>
              <a:rPr lang="zh-CN" altLang="en-US"/>
              <a:t>批准</a:t>
            </a:r>
            <a:r>
              <a:rPr lang="en-US" altLang="zh-CN"/>
              <a:t>)=0.5</a:t>
            </a:r>
            <a:endParaRPr lang="en-US" altLang="zh-CN"/>
          </a:p>
          <a:p>
            <a:r>
              <a:rPr lang="en-US" altLang="zh-CN">
                <a:sym typeface="+mn-ea"/>
              </a:rPr>
              <a:t>p(</a:t>
            </a:r>
            <a:r>
              <a:rPr lang="zh-CN" altLang="en-US">
                <a:sym typeface="+mn-ea"/>
              </a:rPr>
              <a:t>拒绝</a:t>
            </a:r>
            <a:r>
              <a:rPr lang="en-US" altLang="zh-CN">
                <a:sym typeface="+mn-ea"/>
              </a:rPr>
              <a:t>)=0.5</a:t>
            </a:r>
            <a:endParaRPr lang="en-US" altLang="zh-CN"/>
          </a:p>
        </p:txBody>
      </p:sp>
      <p:sp>
        <p:nvSpPr>
          <p:cNvPr id="41" name="文本框 40"/>
          <p:cNvSpPr txBox="1"/>
          <p:nvPr>
            <p:custDataLst>
              <p:tags r:id="rId14"/>
            </p:custDataLst>
          </p:nvPr>
        </p:nvSpPr>
        <p:spPr>
          <a:xfrm>
            <a:off x="7036435" y="2472690"/>
            <a:ext cx="14636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p(</a:t>
            </a:r>
            <a:r>
              <a:rPr lang="zh-CN" altLang="en-US"/>
              <a:t>批准</a:t>
            </a:r>
            <a:r>
              <a:rPr lang="en-US" altLang="zh-CN"/>
              <a:t>)=0.8</a:t>
            </a:r>
            <a:endParaRPr lang="en-US" altLang="zh-CN"/>
          </a:p>
          <a:p>
            <a:r>
              <a:rPr lang="en-US" altLang="zh-CN">
                <a:sym typeface="+mn-ea"/>
              </a:rPr>
              <a:t>p(</a:t>
            </a:r>
            <a:r>
              <a:rPr lang="zh-CN" altLang="en-US">
                <a:sym typeface="+mn-ea"/>
              </a:rPr>
              <a:t>拒绝</a:t>
            </a:r>
            <a:r>
              <a:rPr lang="en-US" altLang="zh-CN">
                <a:sym typeface="+mn-ea"/>
              </a:rPr>
              <a:t>)=0.2</a:t>
            </a:r>
            <a:endParaRPr lang="en-US" altLang="zh-CN"/>
          </a:p>
        </p:txBody>
      </p:sp>
      <p:sp>
        <p:nvSpPr>
          <p:cNvPr id="42" name="文本框 41"/>
          <p:cNvSpPr txBox="1"/>
          <p:nvPr>
            <p:custDataLst>
              <p:tags r:id="rId15"/>
            </p:custDataLst>
          </p:nvPr>
        </p:nvSpPr>
        <p:spPr>
          <a:xfrm>
            <a:off x="7001510" y="3348990"/>
            <a:ext cx="14636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p(</a:t>
            </a:r>
            <a:r>
              <a:rPr lang="zh-CN" altLang="en-US"/>
              <a:t>批准</a:t>
            </a:r>
            <a:r>
              <a:rPr lang="en-US" altLang="zh-CN"/>
              <a:t>)=1</a:t>
            </a:r>
            <a:endParaRPr lang="en-US" altLang="zh-CN"/>
          </a:p>
          <a:p>
            <a:r>
              <a:rPr lang="en-US" altLang="zh-CN">
                <a:sym typeface="+mn-ea"/>
              </a:rPr>
              <a:t>p(</a:t>
            </a:r>
            <a:r>
              <a:rPr lang="zh-CN" altLang="en-US">
                <a:sym typeface="+mn-ea"/>
              </a:rPr>
              <a:t>拒绝</a:t>
            </a:r>
            <a:r>
              <a:rPr lang="en-US" altLang="zh-CN">
                <a:sym typeface="+mn-ea"/>
              </a:rPr>
              <a:t>)=0</a:t>
            </a:r>
            <a:endParaRPr lang="en-US" altLang="zh-CN"/>
          </a:p>
        </p:txBody>
      </p:sp>
      <p:sp>
        <p:nvSpPr>
          <p:cNvPr id="43" name="右箭头 42"/>
          <p:cNvSpPr/>
          <p:nvPr>
            <p:custDataLst>
              <p:tags r:id="rId16"/>
            </p:custDataLst>
          </p:nvPr>
        </p:nvSpPr>
        <p:spPr>
          <a:xfrm>
            <a:off x="8500110" y="1801495"/>
            <a:ext cx="236855" cy="297815"/>
          </a:xfrm>
          <a:prstGeom prst="righ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右箭头 43"/>
          <p:cNvSpPr/>
          <p:nvPr>
            <p:custDataLst>
              <p:tags r:id="rId17"/>
            </p:custDataLst>
          </p:nvPr>
        </p:nvSpPr>
        <p:spPr>
          <a:xfrm>
            <a:off x="8500110" y="2708910"/>
            <a:ext cx="236855" cy="297815"/>
          </a:xfrm>
          <a:prstGeom prst="righ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右箭头 44"/>
          <p:cNvSpPr/>
          <p:nvPr>
            <p:custDataLst>
              <p:tags r:id="rId18"/>
            </p:custDataLst>
          </p:nvPr>
        </p:nvSpPr>
        <p:spPr>
          <a:xfrm>
            <a:off x="8500110" y="3554730"/>
            <a:ext cx="236855" cy="297815"/>
          </a:xfrm>
          <a:prstGeom prst="righ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/>
              <p:cNvSpPr txBox="1"/>
              <p:nvPr/>
            </p:nvSpPr>
            <p:spPr>
              <a:xfrm>
                <a:off x="8808720" y="1752600"/>
                <a:ext cx="2912110" cy="39497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2000"/>
                  <a:t>Gini=1-(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5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/>
                  <a:t>)=0.5</a:t>
                </a:r>
                <a:endParaRPr lang="en-US" altLang="zh-CN" sz="2000"/>
              </a:p>
            </p:txBody>
          </p:sp>
        </mc:Choice>
        <mc:Fallback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720" y="1752600"/>
                <a:ext cx="2912110" cy="394970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8808720" y="2660015"/>
                <a:ext cx="3034030" cy="39497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2000"/>
                  <a:t>Gini=1-(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8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/>
                  <a:t>)=0.32</a:t>
                </a:r>
                <a:endParaRPr lang="en-US" altLang="zh-CN" sz="2000"/>
              </a:p>
            </p:txBody>
          </p:sp>
        </mc:Choice>
        <mc:Fallback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8808720" y="2660015"/>
                <a:ext cx="3034030" cy="394970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8808720" y="3504565"/>
                <a:ext cx="2912110" cy="39497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2000"/>
                  <a:t>Gini=1-(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000"/>
                  <a:t>)=0</a:t>
                </a:r>
                <a:endParaRPr lang="en-US" altLang="zh-CN" sz="2000"/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8808720" y="3504565"/>
                <a:ext cx="2912110" cy="394970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 48"/>
              <p:cNvSpPr/>
              <p:nvPr/>
            </p:nvSpPr>
            <p:spPr>
              <a:xfrm>
                <a:off x="8698230" y="887095"/>
                <a:ext cx="3144520" cy="51498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2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/>
                  <a:t>Gini=1-[p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zh-CN" altLang="en-US" b="1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批准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b="1"/>
                  <a:t>+p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zh-CN" altLang="en-US" b="1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拒绝</m:t>
                        </m:r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  <m:sup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b="1"/>
                  <a:t>]</a:t>
                </a:r>
                <a:endParaRPr lang="en-US" altLang="zh-CN" b="1"/>
              </a:p>
            </p:txBody>
          </p:sp>
        </mc:Choice>
        <mc:Fallback>
          <p:sp>
            <p:nvSpPr>
              <p:cNvPr id="49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230" y="887095"/>
                <a:ext cx="3144520" cy="514985"/>
              </a:xfrm>
              <a:prstGeom prst="rect">
                <a:avLst/>
              </a:prstGeom>
              <a:blipFill rotWithShape="1">
                <a:blip r:embed="rId26"/>
                <a:stretch>
                  <a:fillRect l="-202" t="-1233" r="-202" b="-1233"/>
                </a:stretch>
              </a:blipFill>
            </p:spPr>
            <p:style>
              <a:lnRef idx="2">
                <a:schemeClr val="accent1"/>
              </a:lnRef>
              <a:fillRef idx="2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>
            <p:custDataLst>
              <p:tags r:id="rId27"/>
            </p:custDataLst>
          </p:nvPr>
        </p:nvSpPr>
        <p:spPr>
          <a:xfrm>
            <a:off x="340360" y="273685"/>
            <a:ext cx="2844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1" hangingPunct="1"/>
            <a:r>
              <a:rPr lang="en-US" altLang="zh-CN" sz="2800" b="1" dirty="0">
                <a:sym typeface="+mn-ea"/>
              </a:rPr>
              <a:t>3</a:t>
            </a:r>
            <a:r>
              <a:rPr lang="zh-CN" altLang="en-US" sz="2800" b="1" dirty="0">
                <a:sym typeface="+mn-ea"/>
              </a:rPr>
              <a:t>、</a:t>
            </a:r>
            <a:r>
              <a:rPr lang="en-US" altLang="zh-CN" sz="2800" b="1" dirty="0">
                <a:sym typeface="+mn-ea"/>
              </a:rPr>
              <a:t>CART</a:t>
            </a:r>
            <a:r>
              <a:rPr lang="zh-CN" altLang="en-US" sz="2800" b="1" dirty="0">
                <a:sym typeface="+mn-ea"/>
              </a:rPr>
              <a:t>算法</a:t>
            </a:r>
            <a:endParaRPr lang="zh-CN" altLang="en-US" sz="2800" b="1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6555" y="302260"/>
            <a:ext cx="254735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600" b="1">
                <a:solidFill>
                  <a:srgbClr val="02020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Calibri" panose="020F0502020204030204" pitchFamily="34" charset="0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zh-CN" altLang="en-US" sz="2000" dirty="0">
                <a:solidFill>
                  <a:srgbClr val="61ADB7"/>
                </a:solidFill>
                <a:sym typeface="+mn-ea"/>
              </a:rPr>
              <a:t>构建一</a:t>
            </a:r>
            <a:r>
              <a:rPr lang="zh-CN" altLang="en-US" sz="2000" dirty="0">
                <a:solidFill>
                  <a:srgbClr val="61ADB7"/>
                </a:solidFill>
                <a:sym typeface="+mn-ea"/>
              </a:rPr>
              <a:t>棵决策树</a:t>
            </a:r>
            <a:r>
              <a:rPr lang="zh-CN" altLang="en-US" sz="2000" dirty="0">
                <a:solidFill>
                  <a:srgbClr val="6FB4BD"/>
                </a:solidFill>
              </a:rPr>
              <a:t>：</a:t>
            </a:r>
            <a:endParaRPr lang="zh-CN" altLang="en-US" sz="2000" dirty="0">
              <a:solidFill>
                <a:srgbClr val="6FB4BD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954" r="51477"/>
          <a:stretch>
            <a:fillRect/>
          </a:stretch>
        </p:blipFill>
        <p:spPr>
          <a:xfrm>
            <a:off x="376555" y="804545"/>
            <a:ext cx="4743450" cy="52476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b="71495"/>
          <a:stretch>
            <a:fillRect/>
          </a:stretch>
        </p:blipFill>
        <p:spPr>
          <a:xfrm>
            <a:off x="5738495" y="361315"/>
            <a:ext cx="5952490" cy="162814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052570" y="1042670"/>
            <a:ext cx="935355" cy="489966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t="28505" b="58054"/>
          <a:stretch>
            <a:fillRect/>
          </a:stretch>
        </p:blipFill>
        <p:spPr>
          <a:xfrm>
            <a:off x="5738495" y="2098040"/>
            <a:ext cx="5952490" cy="7677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369695" y="2050415"/>
            <a:ext cx="3399790" cy="5778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369695" y="3517900"/>
            <a:ext cx="3399790" cy="2959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369695" y="4992370"/>
            <a:ext cx="3399790" cy="5778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41946" b="45347"/>
          <a:stretch>
            <a:fillRect/>
          </a:stretch>
        </p:blipFill>
        <p:spPr>
          <a:xfrm>
            <a:off x="5738495" y="2917190"/>
            <a:ext cx="5952490" cy="7258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t="54653" b="19033"/>
          <a:stretch>
            <a:fillRect/>
          </a:stretch>
        </p:blipFill>
        <p:spPr>
          <a:xfrm>
            <a:off x="5738495" y="3695065"/>
            <a:ext cx="5952490" cy="1503045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1369695" y="1472565"/>
            <a:ext cx="3399790" cy="5778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1369695" y="2628265"/>
            <a:ext cx="3399790" cy="88519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1369695" y="3818255"/>
            <a:ext cx="3399790" cy="116268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7"/>
            </p:custDataLst>
          </p:nvPr>
        </p:nvSpPr>
        <p:spPr>
          <a:xfrm>
            <a:off x="1369695" y="5570220"/>
            <a:ext cx="3399790" cy="30035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t="80978"/>
          <a:stretch>
            <a:fillRect/>
          </a:stretch>
        </p:blipFill>
        <p:spPr>
          <a:xfrm>
            <a:off x="5738495" y="5324475"/>
            <a:ext cx="5952490" cy="1086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10" grpId="0" animBg="1"/>
      <p:bldP spid="10" grpId="1" animBg="1"/>
      <p:bldP spid="11" grpId="0" animBg="1"/>
      <p:bldP spid="11" grpId="1" animBg="1"/>
      <p:bldP spid="15" grpId="0" bldLvl="0" animBg="1"/>
      <p:bldP spid="15" grpId="1" animBg="1"/>
      <p:bldP spid="16" grpId="0" bldLvl="0" animBg="1"/>
      <p:bldP spid="16" grpId="1" animBg="1"/>
      <p:bldP spid="17" grpId="0" bldLvl="0" animBg="1"/>
      <p:bldP spid="17" grpId="1" animBg="1"/>
      <p:bldP spid="18" grpId="0" bldLvl="0" animBg="1"/>
      <p:bldP spid="18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6555" y="302260"/>
            <a:ext cx="254735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600" b="1">
                <a:solidFill>
                  <a:srgbClr val="02020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Calibri" panose="020F0502020204030204" pitchFamily="34" charset="0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zh-CN" altLang="en-US" sz="2000" dirty="0">
                <a:solidFill>
                  <a:srgbClr val="61ADB7"/>
                </a:solidFill>
                <a:sym typeface="+mn-ea"/>
              </a:rPr>
              <a:t>构建一</a:t>
            </a:r>
            <a:r>
              <a:rPr lang="zh-CN" altLang="en-US" sz="2000" dirty="0">
                <a:solidFill>
                  <a:srgbClr val="61ADB7"/>
                </a:solidFill>
                <a:sym typeface="+mn-ea"/>
              </a:rPr>
              <a:t>棵决策树</a:t>
            </a:r>
            <a:r>
              <a:rPr lang="zh-CN" altLang="en-US" sz="2000" dirty="0">
                <a:solidFill>
                  <a:srgbClr val="6FB4BD"/>
                </a:solidFill>
              </a:rPr>
              <a:t>：</a:t>
            </a:r>
            <a:endParaRPr lang="zh-CN" altLang="en-US" sz="2000" dirty="0">
              <a:solidFill>
                <a:srgbClr val="6FB4BD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954" r="51477"/>
          <a:stretch>
            <a:fillRect/>
          </a:stretch>
        </p:blipFill>
        <p:spPr>
          <a:xfrm>
            <a:off x="376555" y="804545"/>
            <a:ext cx="4743450" cy="524764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369695" y="1472565"/>
            <a:ext cx="3399790" cy="873125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369695" y="2628265"/>
            <a:ext cx="3399790" cy="88519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369695" y="4986020"/>
            <a:ext cx="3399790" cy="884555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065" y="330200"/>
            <a:ext cx="5721350" cy="6197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470" y="1229360"/>
            <a:ext cx="4305300" cy="472440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935470" y="1228725"/>
            <a:ext cx="4305935" cy="4725670"/>
          </a:xfrm>
          <a:prstGeom prst="rect">
            <a:avLst/>
          </a:prstGeom>
          <a:ln w="57150" cap="flat" cmpd="sng" algn="ctr">
            <a:solidFill>
              <a:srgbClr val="FF0000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369060" y="2371090"/>
            <a:ext cx="3401060" cy="227965"/>
          </a:xfrm>
          <a:prstGeom prst="rect">
            <a:avLst/>
          </a:prstGeom>
          <a:solidFill>
            <a:srgbClr val="30404F"/>
          </a:solidFill>
          <a:ln>
            <a:solidFill>
              <a:srgbClr val="3040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369695" y="3552190"/>
            <a:ext cx="3401060" cy="1397635"/>
          </a:xfrm>
          <a:prstGeom prst="rect">
            <a:avLst/>
          </a:prstGeom>
          <a:solidFill>
            <a:srgbClr val="30404F"/>
          </a:solidFill>
          <a:ln>
            <a:solidFill>
              <a:srgbClr val="3040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5" grpId="0" animBg="1"/>
      <p:bldP spid="15" grpId="1" animBg="1"/>
      <p:bldP spid="16" grpId="0" animBg="1"/>
      <p:bldP spid="16" grpId="1" animBg="1"/>
      <p:bldP spid="18" grpId="0" animBg="1"/>
      <p:bldP spid="18" grpId="1" animBg="1"/>
      <p:bldP spid="5" grpId="0" animBg="1"/>
      <p:bldP spid="5" grpId="1" animBg="1"/>
      <p:bldP spid="6" grpId="0" bldLvl="0" animBg="1"/>
      <p:bldP spid="6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在地上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2524"/>
          <a:stretch>
            <a:fillRect/>
          </a:stretch>
        </p:blipFill>
        <p:spPr>
          <a:xfrm>
            <a:off x="0" y="2832100"/>
            <a:ext cx="12192000" cy="4025900"/>
          </a:xfrm>
          <a:custGeom>
            <a:avLst/>
            <a:gdLst>
              <a:gd name="connsiteX0" fmla="*/ 0 w 12192000"/>
              <a:gd name="connsiteY0" fmla="*/ 0 h 4025900"/>
              <a:gd name="connsiteX1" fmla="*/ 12192000 w 12192000"/>
              <a:gd name="connsiteY1" fmla="*/ 0 h 4025900"/>
              <a:gd name="connsiteX2" fmla="*/ 12192000 w 12192000"/>
              <a:gd name="connsiteY2" fmla="*/ 4025900 h 4025900"/>
              <a:gd name="connsiteX3" fmla="*/ 0 w 12192000"/>
              <a:gd name="connsiteY3" fmla="*/ 4025900 h 402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025900">
                <a:moveTo>
                  <a:pt x="0" y="0"/>
                </a:moveTo>
                <a:lnTo>
                  <a:pt x="12192000" y="0"/>
                </a:lnTo>
                <a:lnTo>
                  <a:pt x="12192000" y="4025900"/>
                </a:lnTo>
                <a:lnTo>
                  <a:pt x="0" y="4025900"/>
                </a:lnTo>
                <a:close/>
              </a:path>
            </a:pathLst>
          </a:custGeom>
        </p:spPr>
      </p:pic>
      <p:grpSp>
        <p:nvGrpSpPr>
          <p:cNvPr id="11" name="组合 10"/>
          <p:cNvGrpSpPr/>
          <p:nvPr/>
        </p:nvGrpSpPr>
        <p:grpSpPr>
          <a:xfrm>
            <a:off x="8654472" y="4919080"/>
            <a:ext cx="205919" cy="1189833"/>
            <a:chOff x="3524307" y="3393810"/>
            <a:chExt cx="205919" cy="1189833"/>
          </a:xfrm>
          <a:solidFill>
            <a:srgbClr val="9AC8CE"/>
          </a:solidFill>
        </p:grpSpPr>
        <p:sp>
          <p:nvSpPr>
            <p:cNvPr id="12" name="矩形 11"/>
            <p:cNvSpPr/>
            <p:nvPr/>
          </p:nvSpPr>
          <p:spPr>
            <a:xfrm>
              <a:off x="3629799" y="3393810"/>
              <a:ext cx="100427" cy="11898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 rot="16200000">
              <a:off x="3510749" y="3903986"/>
              <a:ext cx="196596" cy="16947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876168" y="4919443"/>
            <a:ext cx="193450" cy="1189833"/>
            <a:chOff x="3629798" y="4707353"/>
            <a:chExt cx="193450" cy="1189833"/>
          </a:xfrm>
          <a:solidFill>
            <a:srgbClr val="9AC8CE"/>
          </a:solidFill>
        </p:grpSpPr>
        <p:sp>
          <p:nvSpPr>
            <p:cNvPr id="21" name="矩形 20"/>
            <p:cNvSpPr/>
            <p:nvPr/>
          </p:nvSpPr>
          <p:spPr>
            <a:xfrm>
              <a:off x="3629798" y="4707353"/>
              <a:ext cx="100427" cy="11898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/>
          </p:nvSpPr>
          <p:spPr>
            <a:xfrm rot="5400000">
              <a:off x="3650693" y="5228011"/>
              <a:ext cx="196596" cy="14851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63937" y="4941240"/>
            <a:ext cx="2435225" cy="1168400"/>
            <a:chOff x="1291001" y="2142258"/>
            <a:chExt cx="2435225" cy="1168400"/>
          </a:xfrm>
        </p:grpSpPr>
        <p:sp>
          <p:nvSpPr>
            <p:cNvPr id="25" name="文本框 24"/>
            <p:cNvSpPr txBox="1"/>
            <p:nvPr/>
          </p:nvSpPr>
          <p:spPr>
            <a:xfrm>
              <a:off x="1307511" y="2388638"/>
              <a:ext cx="2418715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30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S Chinese Light" panose="020B0300000000000000" pitchFamily="34" charset="-122"/>
                  <a:ea typeface="Noto Sans S Chinese Light" panose="020B0300000000000000" pitchFamily="34" charset="-122"/>
                  <a:cs typeface="Calibri" panose="020F0502020204030204" pitchFamily="34" charset="0"/>
                </a:defRPr>
              </a:lvl1pPr>
            </a:lstStyle>
            <a:p>
              <a:pPr algn="l"/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边建立决策树边进行剪枝的操作</a:t>
              </a:r>
              <a:endPara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291001" y="2142258"/>
              <a:ext cx="193675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600" b="1">
                  <a:solidFill>
                    <a:srgbClr val="020202"/>
                  </a:solidFill>
                  <a:latin typeface="Noto Sans S Chinese Light" panose="020B0300000000000000" pitchFamily="34" charset="-122"/>
                  <a:ea typeface="Noto Sans S Chinese Light" panose="020B0300000000000000" pitchFamily="34" charset="-122"/>
                  <a:cs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zh-CN" altLang="en-US" sz="2000" dirty="0">
                  <a:solidFill>
                    <a:srgbClr val="6FB4BD"/>
                  </a:solidFill>
                </a:rPr>
                <a:t>①预剪枝</a:t>
              </a:r>
              <a:endParaRPr lang="zh-CN" altLang="en-US" sz="2000" dirty="0">
                <a:solidFill>
                  <a:srgbClr val="6FB4BD"/>
                </a:solidFill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9253063" y="4860126"/>
            <a:ext cx="2065941" cy="1248828"/>
            <a:chOff x="1236247" y="2101618"/>
            <a:chExt cx="2065941" cy="1248828"/>
          </a:xfrm>
        </p:grpSpPr>
        <p:sp>
          <p:nvSpPr>
            <p:cNvPr id="33" name="文本框 32"/>
            <p:cNvSpPr txBox="1"/>
            <p:nvPr/>
          </p:nvSpPr>
          <p:spPr>
            <a:xfrm>
              <a:off x="1236247" y="2428426"/>
              <a:ext cx="2065941" cy="92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30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S Chinese Light" panose="020B0300000000000000" pitchFamily="34" charset="-122"/>
                  <a:ea typeface="Noto Sans S Chinese Light" panose="020B0300000000000000" pitchFamily="34" charset="-122"/>
                  <a:cs typeface="Calibri" panose="020F0502020204030204" pitchFamily="34" charset="0"/>
                </a:defRPr>
              </a:lvl1pPr>
            </a:lstStyle>
            <a:p>
              <a:pPr algn="l"/>
              <a:r>
                <a:rPr lang="zh-CN" altLang="en-US" sz="1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当建立完决策树后来进行剪枝操作</a:t>
              </a:r>
              <a:endPara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236391" y="2101618"/>
              <a:ext cx="1811663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600" b="1">
                  <a:solidFill>
                    <a:srgbClr val="020202"/>
                  </a:solidFill>
                  <a:latin typeface="Noto Sans S Chinese Light" panose="020B0300000000000000" pitchFamily="34" charset="-122"/>
                  <a:ea typeface="Noto Sans S Chinese Light" panose="020B0300000000000000" pitchFamily="34" charset="-122"/>
                  <a:cs typeface="Calibri" panose="020F0502020204030204" pitchFamily="34" charset="0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zh-CN" altLang="en-US" sz="2000" dirty="0">
                  <a:solidFill>
                    <a:srgbClr val="6FB4BD"/>
                  </a:solidFill>
                </a:rPr>
                <a:t>②后剪枝</a:t>
              </a:r>
              <a:endParaRPr lang="zh-CN" altLang="en-US" sz="2000" dirty="0">
                <a:solidFill>
                  <a:srgbClr val="6FB4BD"/>
                </a:solidFill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4758690" y="637540"/>
            <a:ext cx="6981825" cy="4222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</a:pPr>
            <a:r>
              <a:rPr lang="zh-CN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过拟合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：</a:t>
            </a:r>
            <a:r>
              <a:rPr sz="1600" dirty="0">
                <a:latin typeface="+mn-ea"/>
                <a:cs typeface="+mn-ea"/>
                <a:sym typeface="+mn-ea"/>
              </a:rPr>
              <a:t>过拟合是一个机器学习概念，它描述的是模型在训练数据集上的表现非常好，但当应用于未见过的测试数据或者新数据时，其表现却不佳。具体来说，过拟合发生在模型在训练数据中学到了数据的噪声或其他随机变化，而非真实的模式，从而导致其在新的、未见的数据上的泛化能力下降</a:t>
            </a:r>
            <a:r>
              <a:rPr lang="zh-CN" sz="1600" dirty="0">
                <a:latin typeface="+mn-ea"/>
                <a:cs typeface="+mn-ea"/>
                <a:sym typeface="+mn-ea"/>
              </a:rPr>
              <a:t>。</a:t>
            </a:r>
            <a:endParaRPr sz="1400" dirty="0">
              <a:latin typeface="+mn-ea"/>
              <a:cs typeface="+mn-ea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预剪枝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：</a:t>
            </a:r>
            <a:r>
              <a:rPr lang="zh-CN" altLang="zh-CN" sz="1600" dirty="0">
                <a:effectLst/>
                <a:latin typeface="微软雅黑" panose="020B0503020204020204" charset="-122"/>
                <a:cs typeface="Times New Roman" panose="02020603050405020304" pitchFamily="18" charset="0"/>
                <a:sym typeface="+mn-ea"/>
              </a:rPr>
              <a:t>预剪枝不仅可以降低过拟合的风险而且还可以减少训练时间，但另一方面它是基于</a:t>
            </a:r>
            <a:r>
              <a:rPr lang="en-US" altLang="zh-CN" sz="1600" dirty="0">
                <a:effectLst/>
                <a:latin typeface="微软雅黑" panose="020B0503020204020204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zh-CN" sz="1600" dirty="0">
                <a:effectLst/>
                <a:latin typeface="微软雅黑" panose="020B0503020204020204" charset="-122"/>
                <a:cs typeface="Times New Roman" panose="02020603050405020304" pitchFamily="18" charset="0"/>
                <a:sym typeface="+mn-ea"/>
              </a:rPr>
              <a:t>贪心</a:t>
            </a:r>
            <a:r>
              <a:rPr lang="en-US" altLang="zh-CN" sz="1600" dirty="0">
                <a:effectLst/>
                <a:latin typeface="微软雅黑" panose="020B0503020204020204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zh-CN" sz="1600" dirty="0">
                <a:effectLst/>
                <a:latin typeface="微软雅黑" panose="020B0503020204020204" charset="-122"/>
                <a:cs typeface="Times New Roman" panose="02020603050405020304" pitchFamily="18" charset="0"/>
                <a:sym typeface="+mn-ea"/>
              </a:rPr>
              <a:t>策略，会带来欠拟合风险。</a:t>
            </a:r>
            <a:endParaRPr lang="zh-CN" altLang="zh-CN" sz="1600" dirty="0">
              <a:effectLst/>
              <a:latin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[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限制深度，叶子节点个数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，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叶子节点样本数，信息增益量等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；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]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6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后</a:t>
            </a:r>
            <a:r>
              <a:rPr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剪枝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：</a:t>
            </a:r>
            <a:r>
              <a:rPr lang="zh-CN" altLang="zh-CN" sz="1600" dirty="0">
                <a:effectLst/>
                <a:latin typeface="+mn-ea"/>
                <a:cs typeface="Euclid" panose="02020503060505020303" pitchFamily="18" charset="0"/>
                <a:sym typeface="+mn-ea"/>
              </a:rPr>
              <a:t>在已经生成的决策树上进行剪枝，从而得到简化版的剪枝决策树。</a:t>
            </a:r>
            <a:r>
              <a:rPr lang="zh-CN" altLang="zh-CN" sz="1600" kern="100" dirty="0">
                <a:effectLst/>
                <a:latin typeface="+mn-ea"/>
                <a:cs typeface="Times New Roman" panose="02020603050405020304" pitchFamily="18" charset="0"/>
                <a:sym typeface="+mn-ea"/>
              </a:rPr>
              <a:t>后剪枝决策树通常比预剪枝决策树保留了更多的分支。一般情况下，后剪枝的欠拟合风险更小，泛化性能往往优于预剪枝决策树。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6555" y="302260"/>
            <a:ext cx="254735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600" b="1">
                <a:solidFill>
                  <a:srgbClr val="02020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Calibri" panose="020F0502020204030204" pitchFamily="34" charset="0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zh-CN" altLang="en-US" sz="2000" dirty="0">
                <a:solidFill>
                  <a:srgbClr val="6FB4BD"/>
                </a:solidFill>
              </a:rPr>
              <a:t>决策树调优方法：</a:t>
            </a:r>
            <a:endParaRPr lang="zh-CN" altLang="en-US" sz="2000" dirty="0">
              <a:solidFill>
                <a:srgbClr val="6FB4BD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6075" y="812165"/>
            <a:ext cx="4184015" cy="4929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1600"/>
              <a:t>1.</a:t>
            </a:r>
            <a:r>
              <a:rPr lang="zh-CN" altLang="en-US" sz="1600"/>
              <a:t>进行剪枝防止过拟合：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剪枝包括预剪枝(Prepruning)和后剪枝(Postpruning),前者通过对连续型变量设置阈值，来控制树的深度，或者控制节点的个数，在节点开始划分之前就进行操作，进而防止过拟合现象。后者是自底向上对非叶节点进行考察，如果这个内部节点换成叶节点能提升决策树的泛化能力，那就把它换掉。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[关于泛化能力的具体判断，参考周志华老师的《机器学习》P80]</a:t>
            </a:r>
            <a:endParaRPr lang="zh-CN" altLang="en-US" sz="1600"/>
          </a:p>
          <a:p>
            <a:pPr>
              <a:lnSpc>
                <a:spcPct val="70000"/>
              </a:lnSpc>
            </a:pP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2.运用交叉验证的方法选择合适的参数。</a:t>
            </a:r>
            <a:endParaRPr lang="zh-CN" altLang="en-US" sz="1600"/>
          </a:p>
          <a:p>
            <a:pPr>
              <a:lnSpc>
                <a:spcPct val="70000"/>
              </a:lnSpc>
            </a:pP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3.通过模型集成的方法（Bagging/Boosting），基于决策树构建更复杂的模型。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在地上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2524"/>
          <a:stretch>
            <a:fillRect/>
          </a:stretch>
        </p:blipFill>
        <p:spPr>
          <a:xfrm>
            <a:off x="0" y="2832100"/>
            <a:ext cx="12192000" cy="4025900"/>
          </a:xfrm>
          <a:custGeom>
            <a:avLst/>
            <a:gdLst>
              <a:gd name="connsiteX0" fmla="*/ 0 w 12192000"/>
              <a:gd name="connsiteY0" fmla="*/ 0 h 4025900"/>
              <a:gd name="connsiteX1" fmla="*/ 12192000 w 12192000"/>
              <a:gd name="connsiteY1" fmla="*/ 0 h 4025900"/>
              <a:gd name="connsiteX2" fmla="*/ 12192000 w 12192000"/>
              <a:gd name="connsiteY2" fmla="*/ 4025900 h 4025900"/>
              <a:gd name="connsiteX3" fmla="*/ 0 w 12192000"/>
              <a:gd name="connsiteY3" fmla="*/ 4025900 h 402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025900">
                <a:moveTo>
                  <a:pt x="0" y="0"/>
                </a:moveTo>
                <a:lnTo>
                  <a:pt x="12192000" y="0"/>
                </a:lnTo>
                <a:lnTo>
                  <a:pt x="12192000" y="4025900"/>
                </a:lnTo>
                <a:lnTo>
                  <a:pt x="0" y="4025900"/>
                </a:lnTo>
                <a:close/>
              </a:path>
            </a:pathLst>
          </a:custGeom>
        </p:spPr>
      </p:pic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6555" y="302260"/>
            <a:ext cx="2722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600" b="1">
                <a:solidFill>
                  <a:srgbClr val="02020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Calibri" panose="020F0502020204030204" pitchFamily="34" charset="0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zh-CN" altLang="en-US" sz="2000" dirty="0">
                <a:solidFill>
                  <a:srgbClr val="6FB4BD"/>
                </a:solidFill>
              </a:rPr>
              <a:t>决策树差异</a:t>
            </a:r>
            <a:r>
              <a:rPr lang="zh-CN" altLang="en-US" sz="2000" dirty="0">
                <a:solidFill>
                  <a:srgbClr val="6FB4BD"/>
                </a:solidFill>
              </a:rPr>
              <a:t>总结：</a:t>
            </a:r>
            <a:endParaRPr lang="zh-CN" altLang="en-US" sz="2000" dirty="0">
              <a:solidFill>
                <a:srgbClr val="6FB4BD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6075" y="812165"/>
            <a:ext cx="11450320" cy="4929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zh-CN" sz="2000" b="1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划分标准的差异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ID3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使用信息增益偏向特征值多的特征，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C4.5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使用信息增益率克服信息增益的缺点，偏向于特征值小的特征，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CART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使用基尼指数克服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C4.5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需要求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log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的巨大计算量，偏向于特征值较多的特征。</a:t>
            </a:r>
            <a:endParaRPr lang="zh-CN" altLang="zh-CN" sz="2000" kern="100" dirty="0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zh-CN" sz="2000" b="1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使用场景的差异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ID3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和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C4.5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都只能用于分类问题，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CART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可以用于分类和回归问题；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ID3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和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C4.5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是多叉树，速度较慢，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CART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是二叉树，计算速度很快；</a:t>
            </a:r>
            <a:endParaRPr lang="zh-CN" altLang="zh-CN" sz="2000" kern="100" dirty="0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zh-CN" sz="2000" b="1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样本数据的差异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ID3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只能处理离散数据且缺失值敏感，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C4.5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和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CART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可以处理连续性数据且有多种方式处理缺失值；从样本量考虑的话，小样本建议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C4.5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、大样本建议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CART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C4.5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处理过程中需对数据集进行多次扫描排序，处理成本耗时较高，而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CART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本身是一种大样本的统计方法，小样本处理下泛化误差较大 ；</a:t>
            </a:r>
            <a:endParaRPr lang="zh-CN" altLang="zh-CN" sz="2000" kern="100" dirty="0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zh-CN" sz="2000" b="1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样本特征的差异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ID3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和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C4.5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层级之间只使用一次特征，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CART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可多次重复使用特征；</a:t>
            </a:r>
            <a:endParaRPr lang="zh-CN" altLang="zh-CN" sz="2000" kern="100" dirty="0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lvl="0" indent="-342900" algn="l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zh-CN" sz="2000" b="1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剪枝策略的差异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：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ID3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没有剪枝策略，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C4.5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是通过悲观剪枝策略来修正树的准确性，而</a:t>
            </a:r>
            <a:r>
              <a:rPr lang="en-US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CART </a:t>
            </a:r>
            <a:r>
              <a:rPr lang="zh-CN" altLang="zh-CN" sz="2000" kern="100" dirty="0"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是通过代价复杂度剪枝。</a:t>
            </a:r>
            <a:endParaRPr lang="zh-CN" altLang="zh-CN" sz="2000" kern="100" dirty="0"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4F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 descr="在地上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12524"/>
          <a:stretch>
            <a:fillRect/>
          </a:stretch>
        </p:blipFill>
        <p:spPr>
          <a:xfrm>
            <a:off x="0" y="2832100"/>
            <a:ext cx="12192000" cy="4025900"/>
          </a:xfrm>
          <a:custGeom>
            <a:avLst/>
            <a:gdLst>
              <a:gd name="connsiteX0" fmla="*/ 0 w 12192000"/>
              <a:gd name="connsiteY0" fmla="*/ 0 h 4025900"/>
              <a:gd name="connsiteX1" fmla="*/ 12192000 w 12192000"/>
              <a:gd name="connsiteY1" fmla="*/ 0 h 4025900"/>
              <a:gd name="connsiteX2" fmla="*/ 12192000 w 12192000"/>
              <a:gd name="connsiteY2" fmla="*/ 4025900 h 4025900"/>
              <a:gd name="connsiteX3" fmla="*/ 0 w 12192000"/>
              <a:gd name="connsiteY3" fmla="*/ 4025900 h 402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025900">
                <a:moveTo>
                  <a:pt x="0" y="0"/>
                </a:moveTo>
                <a:lnTo>
                  <a:pt x="12192000" y="0"/>
                </a:lnTo>
                <a:lnTo>
                  <a:pt x="12192000" y="4025900"/>
                </a:lnTo>
                <a:lnTo>
                  <a:pt x="0" y="4025900"/>
                </a:lnTo>
                <a:close/>
              </a:path>
            </a:pathLst>
          </a:custGeom>
        </p:spPr>
      </p:pic>
      <p:sp>
        <p:nvSpPr>
          <p:cNvPr id="3" name="文本框 2"/>
          <p:cNvSpPr txBox="1"/>
          <p:nvPr/>
        </p:nvSpPr>
        <p:spPr>
          <a:xfrm>
            <a:off x="1392555" y="2503805"/>
            <a:ext cx="9406890" cy="1850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 algn="ctr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zh-CN" altLang="en-US" sz="9600" kern="100" dirty="0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noFill/>
                <a:effectLst/>
                <a:latin typeface="华文彩云" panose="02010800040101010101" charset="-122"/>
                <a:ea typeface="华文彩云" panose="02010800040101010101" charset="-122"/>
                <a:cs typeface="黑体" panose="02010609060101010101" charset="-122"/>
                <a:sym typeface="+mn-ea"/>
              </a:rPr>
              <a:t>感谢聆听</a:t>
            </a:r>
            <a:endParaRPr lang="zh-CN" altLang="en-US" sz="9600" kern="100" dirty="0">
              <a:ln w="15875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</a:ln>
              <a:noFill/>
              <a:effectLst/>
              <a:latin typeface="华文彩云" panose="02010800040101010101" charset="-122"/>
              <a:ea typeface="华文彩云" panose="0201080004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PP_MARK_KEY" val="d5a67b6f-0e74-4145-b9b8-fca9e7f983f1"/>
  <p:tag name="COMMONDATA" val="eyJjb3VudCI6MywiaGRpZCI6Ijg1YmNiZDI1NzRmM2UxMDM2ZjBhZGVlYmJjZGFlNzQyIiwidXNlckNvdW50IjozfQ=="/>
  <p:tag name="commondata" val="eyJjb3VudCI6NCwiaGRpZCI6ImFkNjJhNGQ0ZjdiZTg1YjdlZDEzNWRlMjk4NGZlMmQwIiwidXNlckNvdW50Ijox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4878</Words>
  <Application>WPS 演示</Application>
  <PresentationFormat>宽屏</PresentationFormat>
  <Paragraphs>335</Paragraphs>
  <Slides>26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56" baseType="lpstr">
      <vt:lpstr>Arial</vt:lpstr>
      <vt:lpstr>宋体</vt:lpstr>
      <vt:lpstr>Wingdings</vt:lpstr>
      <vt:lpstr>华文新魏</vt:lpstr>
      <vt:lpstr>华文行楷</vt:lpstr>
      <vt:lpstr>汉仪中宋简</vt:lpstr>
      <vt:lpstr>字魂110号-武林江湖体</vt:lpstr>
      <vt:lpstr>等线</vt:lpstr>
      <vt:lpstr>Noto Sans S Chinese Light</vt:lpstr>
      <vt:lpstr>Calibri</vt:lpstr>
      <vt:lpstr>Wingdings</vt:lpstr>
      <vt:lpstr>Times New Roman</vt:lpstr>
      <vt:lpstr>Impact</vt:lpstr>
      <vt:lpstr>微软雅黑</vt:lpstr>
      <vt:lpstr>思源黑体 CN Medium</vt:lpstr>
      <vt:lpstr>黑体</vt:lpstr>
      <vt:lpstr>Nirmala UI Semilight</vt:lpstr>
      <vt:lpstr>Arial Unicode MS</vt:lpstr>
      <vt:lpstr>等线 Light</vt:lpstr>
      <vt:lpstr>Cambria Math</vt:lpstr>
      <vt:lpstr>MS Mincho</vt:lpstr>
      <vt:lpstr>Segoe Print</vt:lpstr>
      <vt:lpstr>隶书</vt:lpstr>
      <vt:lpstr>Lucida Calligraphy</vt:lpstr>
      <vt:lpstr>Euclid</vt:lpstr>
      <vt:lpstr>DejaVu Math TeX Gyre</vt:lpstr>
      <vt:lpstr>华文彩云</vt:lpstr>
      <vt:lpstr>Office 主题​​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藏海花</cp:lastModifiedBy>
  <cp:revision>127</cp:revision>
  <dcterms:created xsi:type="dcterms:W3CDTF">2021-03-27T03:29:00Z</dcterms:created>
  <dcterms:modified xsi:type="dcterms:W3CDTF">2023-12-13T07:53:01Z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SaveFontToCloudKey">
    <vt:lpwstr>606372208_embed</vt:lpwstr>
  </property>
  <property fmtid="{D5CDD505-2E9C-101B-9397-08002B2CF9AE}" pid="3" name="ICV">
    <vt:lpwstr>0CE8CF33DA8241EE9A7143E23FEB4789_13</vt:lpwstr>
  </property>
  <property fmtid="{D5CDD505-2E9C-101B-9397-08002B2CF9AE}" pid="4" name="KSOProductBuildVer">
    <vt:lpwstr>2052-12.1.0.15990</vt:lpwstr>
  </property>
  <property fmtid="{D5CDD505-2E9C-101B-9397-08002B2CF9AE}" pid="5" name="KSOTemplateUUID">
    <vt:lpwstr>v1.0_mb_RfCqN0+ORt0ZV8uYkM1aSA==</vt:lpwstr>
  </property>
</Properties>
</file>
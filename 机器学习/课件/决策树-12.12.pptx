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60" r:id="rId4"/>
    <p:sldId id="261" r:id="rId5"/>
    <p:sldId id="3494" r:id="rId6"/>
    <p:sldId id="3485" r:id="rId7"/>
    <p:sldId id="3466" r:id="rId8"/>
    <p:sldId id="3495" r:id="rId9"/>
    <p:sldId id="3496" r:id="rId10"/>
    <p:sldId id="3497" r:id="rId11"/>
    <p:sldId id="3468" r:id="rId12"/>
    <p:sldId id="3488" r:id="rId13"/>
    <p:sldId id="3498" r:id="rId14"/>
    <p:sldId id="3499" r:id="rId15"/>
    <p:sldId id="3500" r:id="rId16"/>
    <p:sldId id="3505" r:id="rId17"/>
    <p:sldId id="3506" r:id="rId18"/>
    <p:sldId id="3507" r:id="rId19"/>
    <p:sldId id="3476" r:id="rId20"/>
    <p:sldId id="3508" r:id="rId21"/>
    <p:sldId id="3510" r:id="rId22"/>
    <p:sldId id="3511" r:id="rId23"/>
    <p:sldId id="3509" r:id="rId24"/>
    <p:sldId id="3512" r:id="rId25"/>
    <p:sldId id="3513" r:id="rId26"/>
    <p:sldId id="3467" r:id="rId27"/>
    <p:sldId id="3502" r:id="rId28"/>
    <p:sldId id="3503" r:id="rId29"/>
    <p:sldId id="3501" r:id="rId30"/>
    <p:sldId id="3504" r:id="rId31"/>
    <p:sldId id="34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4F6"/>
    <a:srgbClr val="F7B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6200" autoAdjust="0"/>
  </p:normalViewPr>
  <p:slideViewPr>
    <p:cSldViewPr snapToGrid="0">
      <p:cViewPr varScale="1">
        <p:scale>
          <a:sx n="106" d="100"/>
          <a:sy n="106" d="100"/>
        </p:scale>
        <p:origin x="3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9D0B2-6D8E-4FE4-8EAE-1B32E142ACB2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B335-F2D0-4624-AE5D-EDA3F4FE85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02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0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88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806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77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59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39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0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979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766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298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023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141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922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501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777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58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14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663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00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1882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095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545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729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337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253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4826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6147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9597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950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6954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B335-F2D0-4624-AE5D-EDA3F4FE856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5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4B397-4335-42E1-8AA0-92AA30549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EC3A99-1CF4-4D94-A80D-2E4F5CA38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3C716-E101-4BA0-B1DF-A4B181B4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CD33B-E324-44EE-8821-00C1A089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2A5B0-D333-4EE2-94C5-9BAAF67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26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907D3-ED42-4EC1-AC38-A05ECD9B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C0C7C-E774-45AA-80E3-2BEF46F5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ECF23-56A6-4BF0-9AAE-50E2AA5B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69B7A-3D28-4D87-8622-1D172F63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B3833-A4A1-4EF4-9462-F29CCFC9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50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2B9A9-793C-4F9A-9117-3A390DA2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203BEE-7117-4D05-AA23-A2937592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BF637-4BB0-4406-B65F-2FC20AE5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BECA5-B743-4BBA-977E-280F8E01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D5A78-8485-4A12-87D4-189F1AFB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93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8DBEC-6453-4593-BED1-78428FAD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3ECEBB-2CD1-40A3-968C-64BB3CABF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384778-C3AB-45E4-9A94-2DD830E45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5AF758-9FB3-46CF-8245-887F1767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D5BDA4-5878-451A-843C-1855A944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18D678-FCAC-4190-B8E2-FF3079D2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11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8A42E-521D-49D3-89F3-EFDF199E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F6059C-7542-4560-87F1-1931CAAEB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E4DF32-0624-4CD8-BBD9-5F7FE9594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576148-B0EA-4BF3-AE8E-E63BD899F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345C60-1ADA-43D5-9540-23A12D7C7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F9E939-5D6E-4C3B-B5A4-94A65136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3FD973-B3C9-4DD8-8024-41BC9D4C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F99017-2BE3-46A1-B7F5-990EA712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03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3FBCC-777E-43C4-A7CA-B545F511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13FEBE-59E3-42FD-80A5-3B0787B8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56C3A8-8116-4CB1-948D-897B6C7C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0E4DE8-0642-4A0E-BD20-F78531B9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25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284211-F30A-4822-98DB-739B3A27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59DFEC-480E-467A-8DD8-39EB7796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1819C2-0E13-4CB3-912F-66A4D6A4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5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9A880-5D87-476D-902D-635331C9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28055-B892-463F-9235-90862BF9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386119-5E98-4450-A940-40D2D08C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96F3E5-1B27-48A0-92DA-8A26AE6C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63156E-08CB-4363-82AC-F9FD4E30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12D6DB-D854-4FAA-B28F-AB4AD577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84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B4CB9-BBAE-4012-ABF9-FCE0E084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BC50EF-923B-4EC1-A40D-815B2B61D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83075F-674F-4541-B10D-4A1244280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F743C7-67CF-4637-BC76-85E804FE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71755-D254-4514-8F5F-2F215B1C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0E7F11-370E-460B-A09C-23275052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8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895C9-96D6-4DB4-A1AD-8BF4B2DC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8D1F58-BAC5-48D2-86C6-03CFC1C94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38854-97F2-4CBF-9C5C-0631AD0B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952A7-E177-47D9-A8EF-5D5E2404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67D450-1254-4EFF-AC0F-390AB194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7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C0B33F-8B12-4F24-B52A-04E8383A8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D01F8D-3E0F-4827-9B86-13E5ECF98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1C404-2B6E-4B1E-91E9-D867222E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0B0AD-C743-4517-9CCA-ACB78DBA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1B527-7E0D-4BA6-8091-4B9A3DD3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6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32E4E1-1D39-466B-BD55-DB380A8D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923F6B-24CB-472C-90D1-6764BC9C2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36092-C589-4C98-9DDD-0B8A233C8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4A03-34AB-43E4-9153-F3913F13D8E3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D32B8-8FB7-4A4D-9D99-942A9413E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2A502-3EBB-4FCB-835C-720CBD74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78F99-9C06-4696-8CDC-C2FF737A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9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4" Type="http://schemas.openxmlformats.org/officeDocument/2006/relationships/tags" Target="../tags/tag8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.xml"/><Relationship Id="rId7" Type="http://schemas.openxmlformats.org/officeDocument/2006/relationships/image" Target="../media/image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5.xml"/><Relationship Id="rId7" Type="http://schemas.openxmlformats.org/officeDocument/2006/relationships/image" Target="../media/image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28.xml"/><Relationship Id="rId11" Type="http://schemas.openxmlformats.org/officeDocument/2006/relationships/image" Target="../media/image3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6.png"/><Relationship Id="rId4" Type="http://schemas.openxmlformats.org/officeDocument/2006/relationships/tags" Target="../tags/tag16.xml"/><Relationship Id="rId9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0.xml"/><Relationship Id="rId10" Type="http://schemas.openxmlformats.org/officeDocument/2006/relationships/image" Target="../media/image38.wmf"/><Relationship Id="rId4" Type="http://schemas.openxmlformats.org/officeDocument/2006/relationships/slideLayout" Target="../slideLayouts/slideLayout2.xml"/><Relationship Id="rId9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48EE49-51CB-4F7D-B288-129FD1287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D754AA3-0420-4588-B495-FE2364321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21926A-6F97-4AD3-B6DB-FCC3C22702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B97DDD-FB91-4917-A104-25C68B0DE5D9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C66F5B-D4A8-4943-BC24-3781172F8073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77F747-26F6-49AB-98C2-838398FC2A0E}"/>
              </a:ext>
            </a:extLst>
          </p:cNvPr>
          <p:cNvSpPr/>
          <p:nvPr/>
        </p:nvSpPr>
        <p:spPr>
          <a:xfrm>
            <a:off x="1774158" y="-3"/>
            <a:ext cx="8566484" cy="6858001"/>
          </a:xfrm>
          <a:prstGeom prst="rect">
            <a:avLst/>
          </a:prstGeom>
          <a:blipFill dpi="0" rotWithShape="1">
            <a:blip r:embed="rId6">
              <a:alphaModFix amt="5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7069E9-0794-48B6-A513-B45C88581C7A}"/>
              </a:ext>
            </a:extLst>
          </p:cNvPr>
          <p:cNvSpPr/>
          <p:nvPr/>
        </p:nvSpPr>
        <p:spPr>
          <a:xfrm>
            <a:off x="4202607" y="1412929"/>
            <a:ext cx="779811" cy="779811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36F2DE6-6CE3-4C36-B7C7-5262B044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031" y="2851285"/>
            <a:ext cx="6897806" cy="1325563"/>
          </a:xfrm>
        </p:spPr>
        <p:txBody>
          <a:bodyPr>
            <a:noAutofit/>
          </a:bodyPr>
          <a:lstStyle/>
          <a:p>
            <a:pPr algn="ctr"/>
            <a:r>
              <a:rPr lang="zh-CN" altLang="en-US" b="1" spc="600" dirty="0">
                <a:latin typeface="幼圆" panose="02010509060101010101" pitchFamily="49" charset="-122"/>
                <a:ea typeface="幼圆" panose="02010509060101010101" pitchFamily="49" charset="-122"/>
              </a:rPr>
              <a:t>决策树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6149B32-B38A-4288-B1C6-67DF1629A67F}"/>
              </a:ext>
            </a:extLst>
          </p:cNvPr>
          <p:cNvGrpSpPr/>
          <p:nvPr/>
        </p:nvGrpSpPr>
        <p:grpSpPr>
          <a:xfrm>
            <a:off x="1453211" y="3245457"/>
            <a:ext cx="1266151" cy="537218"/>
            <a:chOff x="2119312" y="1260814"/>
            <a:chExt cx="8017062" cy="3401575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867FE81-18DC-425F-95AC-4DF43AA58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312" y="3109811"/>
              <a:ext cx="7953376" cy="155257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6485AAB-B029-4D96-AE50-BD20CA54D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374" y="1260814"/>
              <a:ext cx="8001000" cy="1647825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C6C0111-82B9-4549-85B0-A4F4A7F7F6C6}"/>
              </a:ext>
            </a:extLst>
          </p:cNvPr>
          <p:cNvGrpSpPr/>
          <p:nvPr/>
        </p:nvGrpSpPr>
        <p:grpSpPr>
          <a:xfrm flipH="1">
            <a:off x="9470101" y="3237093"/>
            <a:ext cx="1266151" cy="537218"/>
            <a:chOff x="2119312" y="1260814"/>
            <a:chExt cx="8017062" cy="340157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5B2D54E-9AA8-40D0-B5F6-763DCD28B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312" y="3109811"/>
              <a:ext cx="7953376" cy="1552578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5A0C6A0-9A20-4826-BC00-84F833E7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374" y="1260814"/>
              <a:ext cx="8001000" cy="1647825"/>
            </a:xfrm>
            <a:prstGeom prst="rect">
              <a:avLst/>
            </a:prstGeom>
          </p:spPr>
        </p:pic>
      </p:grpSp>
      <p:sp>
        <p:nvSpPr>
          <p:cNvPr id="31" name="标题 1">
            <a:extLst>
              <a:ext uri="{FF2B5EF4-FFF2-40B4-BE49-F238E27FC236}">
                <a16:creationId xmlns:a16="http://schemas.microsoft.com/office/drawing/2014/main" id="{E3AA602C-34F4-4615-A182-68E11CBFCFCF}"/>
              </a:ext>
            </a:extLst>
          </p:cNvPr>
          <p:cNvSpPr txBox="1">
            <a:spLocks/>
          </p:cNvSpPr>
          <p:nvPr/>
        </p:nvSpPr>
        <p:spPr>
          <a:xfrm>
            <a:off x="3729953" y="4257058"/>
            <a:ext cx="4454918" cy="4499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幼圆" panose="02010509060101010101" pitchFamily="49" charset="-122"/>
                <a:ea typeface="幼圆" panose="02010509060101010101" pitchFamily="49" charset="-122"/>
              </a:rPr>
              <a:t>汇报人：任超越</a:t>
            </a:r>
            <a:r>
              <a:rPr lang="en-US" altLang="zh-CN" sz="18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1800" dirty="0">
                <a:latin typeface="幼圆" panose="02010509060101010101" pitchFamily="49" charset="-122"/>
                <a:ea typeface="幼圆" panose="02010509060101010101" pitchFamily="49" charset="-122"/>
              </a:rPr>
              <a:t>时间：</a:t>
            </a:r>
            <a:r>
              <a:rPr lang="en-US" altLang="zh-CN" sz="1800" dirty="0">
                <a:latin typeface="幼圆" panose="02010509060101010101" pitchFamily="49" charset="-122"/>
                <a:ea typeface="幼圆" panose="02010509060101010101" pitchFamily="49" charset="-122"/>
              </a:rPr>
              <a:t>2023.11</a:t>
            </a:r>
            <a:endParaRPr lang="zh-CN" altLang="en-US" sz="18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B5DF5DB-2520-4D09-A2A5-E114B46D365B}"/>
              </a:ext>
            </a:extLst>
          </p:cNvPr>
          <p:cNvSpPr/>
          <p:nvPr/>
        </p:nvSpPr>
        <p:spPr>
          <a:xfrm>
            <a:off x="5177601" y="1417320"/>
            <a:ext cx="779811" cy="77981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BED32B2-7F15-43A4-A3B9-E098E3DDBB9E}"/>
              </a:ext>
            </a:extLst>
          </p:cNvPr>
          <p:cNvSpPr/>
          <p:nvPr/>
        </p:nvSpPr>
        <p:spPr>
          <a:xfrm>
            <a:off x="6178380" y="1412929"/>
            <a:ext cx="779811" cy="779811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71ADB35-DB67-4673-9470-F08EF3888B3D}"/>
              </a:ext>
            </a:extLst>
          </p:cNvPr>
          <p:cNvSpPr/>
          <p:nvPr/>
        </p:nvSpPr>
        <p:spPr>
          <a:xfrm>
            <a:off x="7188131" y="1412928"/>
            <a:ext cx="779811" cy="77981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044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an dir="u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75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5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25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 animBg="1"/>
      <p:bldP spid="14" grpId="0" animBg="1"/>
      <p:bldP spid="16" grpId="0"/>
      <p:bldP spid="31" grpId="0"/>
      <p:bldP spid="35" grpId="0" animBg="1"/>
      <p:bldP spid="36" grpId="0" animBg="1"/>
      <p:bldP spid="3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069917-CCD3-4BE6-8B77-8B2566545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F35AD8-AE15-4933-A37A-5CE4F4608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3C1971-CE18-45A5-B404-7ECC2DC174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DB965A3-3AF2-443D-9A25-A1295CAC35D7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97511C-C25F-4794-BAFB-39875F8779A2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DC0C9A0-C85F-42D0-9683-B331D4CA2B6A}"/>
              </a:ext>
            </a:extLst>
          </p:cNvPr>
          <p:cNvGrpSpPr/>
          <p:nvPr/>
        </p:nvGrpSpPr>
        <p:grpSpPr>
          <a:xfrm>
            <a:off x="907741" y="1472887"/>
            <a:ext cx="4538591" cy="3912224"/>
            <a:chOff x="907741" y="1472887"/>
            <a:chExt cx="4538591" cy="3912224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C72B708-CE98-461D-B26C-5B91134B08FE}"/>
                </a:ext>
              </a:extLst>
            </p:cNvPr>
            <p:cNvSpPr/>
            <p:nvPr/>
          </p:nvSpPr>
          <p:spPr>
            <a:xfrm>
              <a:off x="1171830" y="1904562"/>
              <a:ext cx="3048875" cy="3048875"/>
            </a:xfrm>
            <a:prstGeom prst="ellipse">
              <a:avLst/>
            </a:prstGeom>
            <a:solidFill>
              <a:srgbClr val="F7BF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FB619CB-B8CC-4441-9BDD-52C6B16C1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741" y="1472887"/>
              <a:ext cx="4538591" cy="3912224"/>
            </a:xfrm>
            <a:prstGeom prst="rect">
              <a:avLst/>
            </a:prstGeom>
          </p:spPr>
        </p:pic>
      </p:grpSp>
      <p:sp>
        <p:nvSpPr>
          <p:cNvPr id="28" name="标题 1">
            <a:extLst>
              <a:ext uri="{FF2B5EF4-FFF2-40B4-BE49-F238E27FC236}">
                <a16:creationId xmlns:a16="http://schemas.microsoft.com/office/drawing/2014/main" id="{D0E7EB67-F3E9-4B1F-8CE0-778253ED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430" y="2278079"/>
            <a:ext cx="1573674" cy="2533826"/>
          </a:xfrm>
        </p:spPr>
        <p:txBody>
          <a:bodyPr vert="eaVert">
            <a:noAutofit/>
          </a:bodyPr>
          <a:lstStyle/>
          <a:p>
            <a:pPr algn="ctr"/>
            <a:r>
              <a:rPr lang="zh-CN" altLang="en-US" sz="80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目录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9486A81D-52CA-4BDB-8B2E-D970D234F6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10" y="304799"/>
            <a:ext cx="6874345" cy="6344654"/>
          </a:xfrm>
          <a:prstGeom prst="rect">
            <a:avLst/>
          </a:prstGeom>
        </p:spPr>
      </p:pic>
      <p:grpSp>
        <p:nvGrpSpPr>
          <p:cNvPr id="29" name="组 1">
            <a:extLst>
              <a:ext uri="{FF2B5EF4-FFF2-40B4-BE49-F238E27FC236}">
                <a16:creationId xmlns:a16="http://schemas.microsoft.com/office/drawing/2014/main" id="{F8F4A70D-B946-42A9-B086-EBD455FE2E47}"/>
              </a:ext>
            </a:extLst>
          </p:cNvPr>
          <p:cNvGrpSpPr/>
          <p:nvPr/>
        </p:nvGrpSpPr>
        <p:grpSpPr>
          <a:xfrm>
            <a:off x="5528266" y="799835"/>
            <a:ext cx="4422191" cy="690740"/>
            <a:chOff x="6921011" y="1620406"/>
            <a:chExt cx="4422191" cy="690740"/>
          </a:xfrm>
        </p:grpSpPr>
        <p:grpSp>
          <p:nvGrpSpPr>
            <p:cNvPr id="30" name="组 26">
              <a:extLst>
                <a:ext uri="{FF2B5EF4-FFF2-40B4-BE49-F238E27FC236}">
                  <a16:creationId xmlns:a16="http://schemas.microsoft.com/office/drawing/2014/main" id="{1B705176-D37F-434B-97BD-0C6E1F1BA711}"/>
                </a:ext>
              </a:extLst>
            </p:cNvPr>
            <p:cNvGrpSpPr/>
            <p:nvPr/>
          </p:nvGrpSpPr>
          <p:grpSpPr>
            <a:xfrm>
              <a:off x="6921011" y="1620406"/>
              <a:ext cx="690740" cy="690740"/>
              <a:chOff x="6161315" y="1175658"/>
              <a:chExt cx="892628" cy="892628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C04D232E-9668-497A-80EA-4E7BB44D8159}"/>
                  </a:ext>
                </a:extLst>
              </p:cNvPr>
              <p:cNvSpPr/>
              <p:nvPr/>
            </p:nvSpPr>
            <p:spPr>
              <a:xfrm>
                <a:off x="6161315" y="1175658"/>
                <a:ext cx="892628" cy="8926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82265560-45C3-493D-BA9A-2004EEA05303}"/>
                  </a:ext>
                </a:extLst>
              </p:cNvPr>
              <p:cNvSpPr/>
              <p:nvPr/>
            </p:nvSpPr>
            <p:spPr>
              <a:xfrm>
                <a:off x="6237515" y="1251858"/>
                <a:ext cx="740228" cy="7402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62F19C87-1CEB-4F3B-95DF-C319046C092D}"/>
                  </a:ext>
                </a:extLst>
              </p:cNvPr>
              <p:cNvSpPr/>
              <p:nvPr/>
            </p:nvSpPr>
            <p:spPr>
              <a:xfrm>
                <a:off x="6318289" y="1332174"/>
                <a:ext cx="574226" cy="51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Arial" panose="020B0604020202020204" pitchFamily="34" charset="0"/>
                  </a:rPr>
                  <a:t>01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3CAB30D-DECC-436C-AB14-4C654CC164E7}"/>
                </a:ext>
              </a:extLst>
            </p:cNvPr>
            <p:cNvSpPr txBox="1"/>
            <p:nvPr/>
          </p:nvSpPr>
          <p:spPr>
            <a:xfrm flipH="1">
              <a:off x="7727460" y="1679372"/>
              <a:ext cx="36157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000">
                  <a:gradFill flip="none" rotWithShape="1">
                    <a:gsLst>
                      <a:gs pos="0">
                        <a:srgbClr val="62FFFF"/>
                      </a:gs>
                      <a:gs pos="100000">
                        <a:srgbClr val="0D69FF"/>
                      </a:gs>
                    </a:gsLst>
                    <a:lin ang="2700000" scaled="1"/>
                    <a:tileRect/>
                  </a:gradFill>
                  <a:latin typeface="Agency FB" panose="020B0503020202020204" pitchFamily="34" charset="0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Source Han Sans CN" charset="-122"/>
                </a:rPr>
                <a:t>决策树原理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35" name="组 2">
            <a:extLst>
              <a:ext uri="{FF2B5EF4-FFF2-40B4-BE49-F238E27FC236}">
                <a16:creationId xmlns:a16="http://schemas.microsoft.com/office/drawing/2014/main" id="{EF9BDAC5-E370-4477-AF7F-A9B0E11947BE}"/>
              </a:ext>
            </a:extLst>
          </p:cNvPr>
          <p:cNvGrpSpPr/>
          <p:nvPr/>
        </p:nvGrpSpPr>
        <p:grpSpPr>
          <a:xfrm>
            <a:off x="5511235" y="1897241"/>
            <a:ext cx="4481155" cy="690740"/>
            <a:chOff x="6932165" y="2662805"/>
            <a:chExt cx="4481155" cy="690740"/>
          </a:xfrm>
        </p:grpSpPr>
        <p:grpSp>
          <p:nvGrpSpPr>
            <p:cNvPr id="36" name="组 28">
              <a:extLst>
                <a:ext uri="{FF2B5EF4-FFF2-40B4-BE49-F238E27FC236}">
                  <a16:creationId xmlns:a16="http://schemas.microsoft.com/office/drawing/2014/main" id="{3712FA6D-F6BB-4EB6-AD1A-4F8265885656}"/>
                </a:ext>
              </a:extLst>
            </p:cNvPr>
            <p:cNvGrpSpPr/>
            <p:nvPr/>
          </p:nvGrpSpPr>
          <p:grpSpPr>
            <a:xfrm>
              <a:off x="6932165" y="2662805"/>
              <a:ext cx="690740" cy="690740"/>
              <a:chOff x="6161315" y="1175658"/>
              <a:chExt cx="892628" cy="892628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5D2DCBCD-B41B-4FF3-8382-295691696756}"/>
                  </a:ext>
                </a:extLst>
              </p:cNvPr>
              <p:cNvSpPr/>
              <p:nvPr/>
            </p:nvSpPr>
            <p:spPr>
              <a:xfrm>
                <a:off x="6161315" y="1175658"/>
                <a:ext cx="892628" cy="8926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3EF1D217-86D5-404C-B151-361E419574E4}"/>
                  </a:ext>
                </a:extLst>
              </p:cNvPr>
              <p:cNvSpPr/>
              <p:nvPr/>
            </p:nvSpPr>
            <p:spPr>
              <a:xfrm>
                <a:off x="6237515" y="1251858"/>
                <a:ext cx="740228" cy="7402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90A4D8F-4C15-458F-8EA4-A52192ECCAB7}"/>
                  </a:ext>
                </a:extLst>
              </p:cNvPr>
              <p:cNvSpPr/>
              <p:nvPr/>
            </p:nvSpPr>
            <p:spPr>
              <a:xfrm>
                <a:off x="6308229" y="1348667"/>
                <a:ext cx="574226" cy="51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Arial" panose="020B0604020202020204" pitchFamily="34" charset="0"/>
                  </a:rPr>
                  <a:t>02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8FA2ADE-7C85-477E-B71F-FD17CB539C32}"/>
                </a:ext>
              </a:extLst>
            </p:cNvPr>
            <p:cNvSpPr txBox="1"/>
            <p:nvPr/>
          </p:nvSpPr>
          <p:spPr>
            <a:xfrm flipH="1">
              <a:off x="7738613" y="2662805"/>
              <a:ext cx="367470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000">
                  <a:gradFill flip="none" rotWithShape="1">
                    <a:gsLst>
                      <a:gs pos="0">
                        <a:srgbClr val="62FFFF"/>
                      </a:gs>
                      <a:gs pos="100000">
                        <a:srgbClr val="0D69FF"/>
                      </a:gs>
                    </a:gsLst>
                    <a:lin ang="2700000" scaled="1"/>
                    <a:tileRect/>
                  </a:gradFill>
                  <a:latin typeface="Agency FB" panose="020B0503020202020204" pitchFamily="34" charset="0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+mn-ea"/>
                  <a:sym typeface="+mn-lt"/>
                </a:rPr>
                <a:t>熵的作用和信息增益原理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41" name="组 3">
            <a:extLst>
              <a:ext uri="{FF2B5EF4-FFF2-40B4-BE49-F238E27FC236}">
                <a16:creationId xmlns:a16="http://schemas.microsoft.com/office/drawing/2014/main" id="{FE896951-68A8-4429-AB29-90405195B634}"/>
              </a:ext>
            </a:extLst>
          </p:cNvPr>
          <p:cNvGrpSpPr/>
          <p:nvPr/>
        </p:nvGrpSpPr>
        <p:grpSpPr>
          <a:xfrm>
            <a:off x="5535187" y="2950949"/>
            <a:ext cx="4492309" cy="690740"/>
            <a:chOff x="6921011" y="3708882"/>
            <a:chExt cx="4492309" cy="690740"/>
          </a:xfrm>
        </p:grpSpPr>
        <p:grpSp>
          <p:nvGrpSpPr>
            <p:cNvPr id="42" name="组 32">
              <a:extLst>
                <a:ext uri="{FF2B5EF4-FFF2-40B4-BE49-F238E27FC236}">
                  <a16:creationId xmlns:a16="http://schemas.microsoft.com/office/drawing/2014/main" id="{CBD4CAC0-2A11-420B-B536-2F388E6D9ABE}"/>
                </a:ext>
              </a:extLst>
            </p:cNvPr>
            <p:cNvGrpSpPr/>
            <p:nvPr/>
          </p:nvGrpSpPr>
          <p:grpSpPr>
            <a:xfrm>
              <a:off x="6921011" y="3708882"/>
              <a:ext cx="690740" cy="690740"/>
              <a:chOff x="6161315" y="1175658"/>
              <a:chExt cx="892628" cy="892628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87447F7D-CD90-4801-9DB3-D2B7ED0BCF63}"/>
                  </a:ext>
                </a:extLst>
              </p:cNvPr>
              <p:cNvSpPr/>
              <p:nvPr/>
            </p:nvSpPr>
            <p:spPr>
              <a:xfrm>
                <a:off x="6161315" y="1175658"/>
                <a:ext cx="892628" cy="8926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0F58AD7A-499E-4457-A586-8F729FAE183E}"/>
                  </a:ext>
                </a:extLst>
              </p:cNvPr>
              <p:cNvSpPr/>
              <p:nvPr/>
            </p:nvSpPr>
            <p:spPr>
              <a:xfrm>
                <a:off x="6237515" y="1251858"/>
                <a:ext cx="740228" cy="7402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2922F2F-E3D2-4962-8C8E-B7BD33A15FB6}"/>
                  </a:ext>
                </a:extLst>
              </p:cNvPr>
              <p:cNvSpPr/>
              <p:nvPr/>
            </p:nvSpPr>
            <p:spPr>
              <a:xfrm>
                <a:off x="6316907" y="1348667"/>
                <a:ext cx="574226" cy="51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Arial" panose="020B0604020202020204" pitchFamily="34" charset="0"/>
                  </a:rPr>
                  <a:t>03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89DE3F5-B150-4AA6-BB28-E6DD4F9A9779}"/>
                </a:ext>
              </a:extLst>
            </p:cNvPr>
            <p:cNvSpPr txBox="1"/>
            <p:nvPr/>
          </p:nvSpPr>
          <p:spPr>
            <a:xfrm flipH="1">
              <a:off x="7727460" y="3780391"/>
              <a:ext cx="36858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000">
                  <a:gradFill flip="none" rotWithShape="1">
                    <a:gsLst>
                      <a:gs pos="0">
                        <a:srgbClr val="62FFFF"/>
                      </a:gs>
                      <a:gs pos="100000">
                        <a:srgbClr val="0D69FF"/>
                      </a:gs>
                    </a:gsLst>
                    <a:lin ang="2700000" scaled="1"/>
                    <a:tileRect/>
                  </a:gradFill>
                  <a:latin typeface="Agency FB" panose="020B0503020202020204" pitchFamily="34" charset="0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决策树构造实例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47" name="组 4">
            <a:extLst>
              <a:ext uri="{FF2B5EF4-FFF2-40B4-BE49-F238E27FC236}">
                <a16:creationId xmlns:a16="http://schemas.microsoft.com/office/drawing/2014/main" id="{7B5A016C-9EBD-4527-8F5C-0CFDBE68DCDC}"/>
              </a:ext>
            </a:extLst>
          </p:cNvPr>
          <p:cNvGrpSpPr/>
          <p:nvPr/>
        </p:nvGrpSpPr>
        <p:grpSpPr>
          <a:xfrm>
            <a:off x="5505540" y="4062534"/>
            <a:ext cx="4371812" cy="690740"/>
            <a:chOff x="6925480" y="4751281"/>
            <a:chExt cx="4371812" cy="690740"/>
          </a:xfrm>
        </p:grpSpPr>
        <p:grpSp>
          <p:nvGrpSpPr>
            <p:cNvPr id="48" name="组 36">
              <a:extLst>
                <a:ext uri="{FF2B5EF4-FFF2-40B4-BE49-F238E27FC236}">
                  <a16:creationId xmlns:a16="http://schemas.microsoft.com/office/drawing/2014/main" id="{4F01A705-4126-40D8-BCC9-C96C67AD21E2}"/>
                </a:ext>
              </a:extLst>
            </p:cNvPr>
            <p:cNvGrpSpPr/>
            <p:nvPr/>
          </p:nvGrpSpPr>
          <p:grpSpPr>
            <a:xfrm>
              <a:off x="6925480" y="4751281"/>
              <a:ext cx="690740" cy="690740"/>
              <a:chOff x="6161315" y="1175658"/>
              <a:chExt cx="892628" cy="892628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E39E92F0-1985-49CA-894F-64C5AE74042E}"/>
                  </a:ext>
                </a:extLst>
              </p:cNvPr>
              <p:cNvSpPr/>
              <p:nvPr/>
            </p:nvSpPr>
            <p:spPr>
              <a:xfrm>
                <a:off x="6161315" y="1175658"/>
                <a:ext cx="892628" cy="8926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48031E56-54DB-4876-8318-4B628172D859}"/>
                  </a:ext>
                </a:extLst>
              </p:cNvPr>
              <p:cNvSpPr/>
              <p:nvPr/>
            </p:nvSpPr>
            <p:spPr>
              <a:xfrm>
                <a:off x="6237515" y="1251858"/>
                <a:ext cx="740228" cy="7402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E98A4EF-A5BD-45D9-96B8-4E0A928B87DC}"/>
                  </a:ext>
                </a:extLst>
              </p:cNvPr>
              <p:cNvSpPr/>
              <p:nvPr/>
            </p:nvSpPr>
            <p:spPr>
              <a:xfrm>
                <a:off x="6309414" y="1348667"/>
                <a:ext cx="574226" cy="51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Arial" panose="020B0604020202020204" pitchFamily="34" charset="0"/>
                  </a:rPr>
                  <a:t>04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D8F225D-F6BF-47BB-93D9-F75041B95CC0}"/>
                </a:ext>
              </a:extLst>
            </p:cNvPr>
            <p:cNvSpPr txBox="1"/>
            <p:nvPr/>
          </p:nvSpPr>
          <p:spPr>
            <a:xfrm flipH="1">
              <a:off x="7727459" y="4810247"/>
              <a:ext cx="35698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000">
                  <a:gradFill flip="none" rotWithShape="1">
                    <a:gsLst>
                      <a:gs pos="0">
                        <a:srgbClr val="62FFFF"/>
                      </a:gs>
                      <a:gs pos="100000">
                        <a:srgbClr val="0D69FF"/>
                      </a:gs>
                    </a:gsLst>
                    <a:lin ang="2700000" scaled="1"/>
                    <a:tileRect/>
                  </a:gradFill>
                  <a:latin typeface="Agency FB" panose="020B0503020202020204" pitchFamily="34" charset="0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+mn-lt"/>
                </a:rPr>
                <a:t>预剪枝和后剪枝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 4">
            <a:extLst>
              <a:ext uri="{FF2B5EF4-FFF2-40B4-BE49-F238E27FC236}">
                <a16:creationId xmlns:a16="http://schemas.microsoft.com/office/drawing/2014/main" id="{7AC8B8DB-4017-62EF-AE61-A269F1E86CFF}"/>
              </a:ext>
            </a:extLst>
          </p:cNvPr>
          <p:cNvGrpSpPr/>
          <p:nvPr/>
        </p:nvGrpSpPr>
        <p:grpSpPr>
          <a:xfrm>
            <a:off x="5505540" y="5116242"/>
            <a:ext cx="4371812" cy="690740"/>
            <a:chOff x="6925480" y="4751281"/>
            <a:chExt cx="4371812" cy="690740"/>
          </a:xfrm>
        </p:grpSpPr>
        <p:grpSp>
          <p:nvGrpSpPr>
            <p:cNvPr id="15" name="组 36">
              <a:extLst>
                <a:ext uri="{FF2B5EF4-FFF2-40B4-BE49-F238E27FC236}">
                  <a16:creationId xmlns:a16="http://schemas.microsoft.com/office/drawing/2014/main" id="{FDB63BE7-4147-101D-FF57-4A077BEE4E8C}"/>
                </a:ext>
              </a:extLst>
            </p:cNvPr>
            <p:cNvGrpSpPr/>
            <p:nvPr/>
          </p:nvGrpSpPr>
          <p:grpSpPr>
            <a:xfrm>
              <a:off x="6925480" y="4751281"/>
              <a:ext cx="690740" cy="690740"/>
              <a:chOff x="6161315" y="1175658"/>
              <a:chExt cx="892628" cy="892628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872475DD-89E1-2565-AB66-1A413CDEADAD}"/>
                  </a:ext>
                </a:extLst>
              </p:cNvPr>
              <p:cNvSpPr/>
              <p:nvPr/>
            </p:nvSpPr>
            <p:spPr>
              <a:xfrm>
                <a:off x="6161315" y="1175658"/>
                <a:ext cx="892628" cy="8926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4D76732E-BB6E-79F9-D283-15E54F332A46}"/>
                  </a:ext>
                </a:extLst>
              </p:cNvPr>
              <p:cNvSpPr/>
              <p:nvPr/>
            </p:nvSpPr>
            <p:spPr>
              <a:xfrm>
                <a:off x="6237515" y="1251858"/>
                <a:ext cx="740228" cy="740228"/>
              </a:xfrm>
              <a:prstGeom prst="ellipse">
                <a:avLst/>
              </a:prstGeom>
              <a:noFill/>
              <a:ln>
                <a:solidFill>
                  <a:srgbClr val="CDE4F6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EB75445-5E40-5899-A8AE-A7033E139B9A}"/>
                  </a:ext>
                </a:extLst>
              </p:cNvPr>
              <p:cNvSpPr/>
              <p:nvPr/>
            </p:nvSpPr>
            <p:spPr>
              <a:xfrm>
                <a:off x="6309414" y="1348667"/>
                <a:ext cx="574226" cy="51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Arial" panose="020B0604020202020204" pitchFamily="34" charset="0"/>
                  </a:rPr>
                  <a:t>05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11D7EE9-044E-6B72-8449-9D80B7F1FB21}"/>
                </a:ext>
              </a:extLst>
            </p:cNvPr>
            <p:cNvSpPr txBox="1"/>
            <p:nvPr/>
          </p:nvSpPr>
          <p:spPr>
            <a:xfrm flipH="1">
              <a:off x="7727459" y="4810247"/>
              <a:ext cx="35698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4000">
                  <a:gradFill flip="none" rotWithShape="1">
                    <a:gsLst>
                      <a:gs pos="0">
                        <a:srgbClr val="62FFFF"/>
                      </a:gs>
                      <a:gs pos="100000">
                        <a:srgbClr val="0D69FF"/>
                      </a:gs>
                    </a:gsLst>
                    <a:lin ang="2700000" scaled="1"/>
                    <a:tileRect/>
                  </a:gradFill>
                  <a:latin typeface="Agency FB" panose="020B0503020202020204" pitchFamily="34" charset="0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+mn-lt"/>
                </a:rPr>
                <a:t>代码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091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0BA8C-F597-4E9A-916F-AF7AB1DAF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2DA249-CB39-4AB8-8C0F-FD98E778E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086B18-1B73-4442-8316-8D2A0AA3F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80" y="-450377"/>
            <a:ext cx="6138789" cy="7308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E894F9-94A8-4D6F-BDBD-F11B113C8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791E304B-6FC4-4571-A756-90C65B169970}"/>
              </a:ext>
            </a:extLst>
          </p:cNvPr>
          <p:cNvSpPr/>
          <p:nvPr/>
        </p:nvSpPr>
        <p:spPr>
          <a:xfrm>
            <a:off x="1247958" y="1528009"/>
            <a:ext cx="3994574" cy="3994574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265B44A-8E82-45E0-A65D-59C076E43E9A}"/>
              </a:ext>
            </a:extLst>
          </p:cNvPr>
          <p:cNvSpPr/>
          <p:nvPr/>
        </p:nvSpPr>
        <p:spPr>
          <a:xfrm>
            <a:off x="4428969" y="4164641"/>
            <a:ext cx="1631141" cy="163114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31C4360-5EE9-4450-A286-428E41409E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8679" y="1147205"/>
            <a:ext cx="6397408" cy="55145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A28DCF-6EA1-4B2D-9107-EFB9385033C0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E8D0C1-6169-47EA-9BB5-DF699FBF915A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7491A86C-C6CA-4C91-9CD4-2ACDC957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19" y="4539536"/>
            <a:ext cx="1573674" cy="881350"/>
          </a:xfrm>
        </p:spPr>
        <p:txBody>
          <a:bodyPr vert="horz">
            <a:noAutofit/>
          </a:bodyPr>
          <a:lstStyle/>
          <a:p>
            <a:pPr algn="ctr"/>
            <a:r>
              <a:rPr lang="en-US" altLang="zh-CN" sz="48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4800" spc="6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587C52-3D3D-40C3-9643-96DBBEC9C770}"/>
              </a:ext>
            </a:extLst>
          </p:cNvPr>
          <p:cNvSpPr txBox="1"/>
          <p:nvPr/>
        </p:nvSpPr>
        <p:spPr>
          <a:xfrm flipH="1">
            <a:off x="1820632" y="2307210"/>
            <a:ext cx="280217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PART ONE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C7ECD-686F-437B-A0F2-6BF8196B6F2B}"/>
              </a:ext>
            </a:extLst>
          </p:cNvPr>
          <p:cNvSpPr txBox="1"/>
          <p:nvPr/>
        </p:nvSpPr>
        <p:spPr>
          <a:xfrm flipH="1">
            <a:off x="1673995" y="3109480"/>
            <a:ext cx="3246159" cy="8127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>
              <a:lnSpc>
                <a:spcPts val="6500"/>
              </a:lnSpc>
            </a:pPr>
            <a:r>
              <a:rPr lang="zh-CN" altLang="en-US" sz="4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决策树原理</a:t>
            </a:r>
            <a:endParaRPr lang="en-US" altLang="zh-CN" sz="4400" spc="3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8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8" y="226198"/>
            <a:ext cx="2734233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9C6065D-84E3-4079-BEA8-B66A970C0DA5}"/>
              </a:ext>
            </a:extLst>
          </p:cNvPr>
          <p:cNvGrpSpPr/>
          <p:nvPr/>
        </p:nvGrpSpPr>
        <p:grpSpPr>
          <a:xfrm>
            <a:off x="1639564" y="1147209"/>
            <a:ext cx="9761513" cy="2267268"/>
            <a:chOff x="5805075" y="2545178"/>
            <a:chExt cx="4215392" cy="2271675"/>
          </a:xfrm>
        </p:grpSpPr>
        <p:sp>
          <p:nvSpPr>
            <p:cNvPr id="33" name="TextBox 41">
              <a:extLst>
                <a:ext uri="{FF2B5EF4-FFF2-40B4-BE49-F238E27FC236}">
                  <a16:creationId xmlns:a16="http://schemas.microsoft.com/office/drawing/2014/main" id="{762FE5FD-CBC2-46CA-AC60-D782C9B5265B}"/>
                </a:ext>
              </a:extLst>
            </p:cNvPr>
            <p:cNvSpPr txBox="1"/>
            <p:nvPr/>
          </p:nvSpPr>
          <p:spPr>
            <a:xfrm>
              <a:off x="5819046" y="2545178"/>
              <a:ext cx="1042188" cy="273867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树模型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9724142-A2E7-4B42-AC18-8EF534847B62}"/>
                </a:ext>
              </a:extLst>
            </p:cNvPr>
            <p:cNvSpPr/>
            <p:nvPr/>
          </p:nvSpPr>
          <p:spPr>
            <a:xfrm>
              <a:off x="5805075" y="2819162"/>
              <a:ext cx="4215392" cy="1997691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0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决策树</a:t>
              </a:r>
              <a:r>
                <a:rPr lang="en-US" altLang="zh-CN" sz="1600" b="1" dirty="0">
                  <a:ea typeface="幼圆" panose="02010509060101010101"/>
                </a:rPr>
                <a:t>(DTs)</a:t>
              </a:r>
              <a:r>
                <a:rPr lang="zh-CN" altLang="en-US" sz="1600" b="1" dirty="0">
                  <a:ea typeface="幼圆" panose="02010509060101010101"/>
                </a:rPr>
                <a:t>是一种用于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分类</a:t>
              </a:r>
              <a:r>
                <a:rPr lang="zh-CN" altLang="en-US" sz="1600" b="1" dirty="0">
                  <a:ea typeface="幼圆" panose="02010509060101010101"/>
                </a:rPr>
                <a:t>和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回归</a:t>
              </a:r>
              <a:r>
                <a:rPr lang="zh-CN" altLang="en-US" sz="1600" b="1" dirty="0">
                  <a:ea typeface="幼圆" panose="02010509060101010101"/>
                </a:rPr>
                <a:t>的非参数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有监督</a:t>
              </a:r>
              <a:r>
                <a:rPr lang="zh-CN" altLang="en-US" sz="1600" b="1" dirty="0">
                  <a:ea typeface="幼圆" panose="02010509060101010101"/>
                </a:rPr>
                <a:t>学习方法。其目标是创建一个模型，通过学习从数据特性中推断出的简单决策规则来预测目标变量的值。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0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决策树：从根节点开始一步步走到叶子节点（决策）</a:t>
              </a:r>
            </a:p>
            <a:p>
              <a:pPr defTabSz="609585">
                <a:lnSpc>
                  <a:spcPct val="20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所有数据最终都会落到叶子节点</a:t>
              </a:r>
              <a:r>
                <a:rPr lang="en-US" altLang="zh-CN" sz="1600" b="1" dirty="0">
                  <a:ea typeface="幼圆" panose="02010509060101010101"/>
                </a:rPr>
                <a:t>,</a:t>
              </a:r>
              <a:r>
                <a:rPr lang="zh-CN" altLang="en-US" sz="1600" b="1" dirty="0">
                  <a:ea typeface="幼圆" panose="02010509060101010101"/>
                </a:rPr>
                <a:t>既可以做分类，也可以做回归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9A9D5BA9-3508-549C-640B-176AFE131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923" y="3367556"/>
            <a:ext cx="3027362" cy="30801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5B25E44-C33B-4F65-2D5E-03D1259C2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371" y="3719661"/>
            <a:ext cx="4311948" cy="25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0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8" y="226198"/>
            <a:ext cx="2734233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E1CA59-BF86-F039-7FB4-B4AC19E599FC}"/>
              </a:ext>
            </a:extLst>
          </p:cNvPr>
          <p:cNvGrpSpPr/>
          <p:nvPr/>
        </p:nvGrpSpPr>
        <p:grpSpPr>
          <a:xfrm>
            <a:off x="1672222" y="1254647"/>
            <a:ext cx="3863164" cy="2611731"/>
            <a:chOff x="5805075" y="2545178"/>
            <a:chExt cx="4215392" cy="922160"/>
          </a:xfrm>
        </p:grpSpPr>
        <p:sp>
          <p:nvSpPr>
            <p:cNvPr id="6" name="TextBox 41">
              <a:extLst>
                <a:ext uri="{FF2B5EF4-FFF2-40B4-BE49-F238E27FC236}">
                  <a16:creationId xmlns:a16="http://schemas.microsoft.com/office/drawing/2014/main" id="{CC93234A-0FE5-4677-50C7-8CC1F80510C9}"/>
                </a:ext>
              </a:extLst>
            </p:cNvPr>
            <p:cNvSpPr txBox="1"/>
            <p:nvPr/>
          </p:nvSpPr>
          <p:spPr>
            <a:xfrm>
              <a:off x="5819046" y="2545178"/>
              <a:ext cx="3069071" cy="197991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树的组成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456B234-FBE6-EB0C-149D-38B88648AB4C}"/>
                </a:ext>
              </a:extLst>
            </p:cNvPr>
            <p:cNvSpPr/>
            <p:nvPr/>
          </p:nvSpPr>
          <p:spPr>
            <a:xfrm>
              <a:off x="5805075" y="2819161"/>
              <a:ext cx="4215392" cy="648177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根节点：第一个选择点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非叶子节点与分支：中间过程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叶子节点：最终决策结果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84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8" y="226198"/>
            <a:ext cx="2734233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04CAAE-EA83-308E-B6FE-88E624C90FFA}"/>
              </a:ext>
            </a:extLst>
          </p:cNvPr>
          <p:cNvGrpSpPr/>
          <p:nvPr/>
        </p:nvGrpSpPr>
        <p:grpSpPr>
          <a:xfrm>
            <a:off x="1639564" y="1147208"/>
            <a:ext cx="9761513" cy="3038133"/>
            <a:chOff x="5805075" y="2545178"/>
            <a:chExt cx="4215392" cy="1418489"/>
          </a:xfrm>
        </p:grpSpPr>
        <p:sp>
          <p:nvSpPr>
            <p:cNvPr id="16" name="TextBox 41">
              <a:extLst>
                <a:ext uri="{FF2B5EF4-FFF2-40B4-BE49-F238E27FC236}">
                  <a16:creationId xmlns:a16="http://schemas.microsoft.com/office/drawing/2014/main" id="{585E0200-D2B6-A52F-1172-03BF571C3567}"/>
                </a:ext>
              </a:extLst>
            </p:cNvPr>
            <p:cNvSpPr txBox="1"/>
            <p:nvPr/>
          </p:nvSpPr>
          <p:spPr>
            <a:xfrm>
              <a:off x="5819046" y="2545178"/>
              <a:ext cx="1372239" cy="416662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决策树的训练与测试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70F3924-A1FD-198A-C939-B6B0BEA22636}"/>
                </a:ext>
              </a:extLst>
            </p:cNvPr>
            <p:cNvSpPr/>
            <p:nvPr/>
          </p:nvSpPr>
          <p:spPr>
            <a:xfrm>
              <a:off x="5805075" y="2819162"/>
              <a:ext cx="4215392" cy="114450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训练阶段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从给定的训练集构造出来一棵树</a:t>
              </a:r>
              <a:r>
                <a:rPr lang="en-US" altLang="zh-CN" sz="1600" b="1" dirty="0">
                  <a:ea typeface="幼圆" panose="02010509060101010101"/>
                </a:rPr>
                <a:t>(</a:t>
              </a:r>
              <a:r>
                <a:rPr lang="zh-CN" altLang="en-US" sz="1600" b="1" dirty="0">
                  <a:ea typeface="幼圆" panose="02010509060101010101"/>
                </a:rPr>
                <a:t>从跟节点开始选择特征如何进行特征切分 </a:t>
              </a:r>
              <a:r>
                <a:rPr lang="en-US" altLang="zh-CN" sz="1600" b="1" dirty="0">
                  <a:ea typeface="幼圆" panose="02010509060101010101"/>
                </a:rPr>
                <a:t>)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测试阶段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根据构造出来的树模型从上到下去走一遍就好了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一旦构造好了决策树，那么分类或者预测任务就很简单了，只需要走一遍就可以了，那么难点就在于如何构造出来一颗树，这就没那么容易了需要考虑的问题还有很多的</a:t>
              </a:r>
              <a:r>
                <a:rPr lang="en-US" altLang="zh-CN" sz="1600" b="1" dirty="0">
                  <a:ea typeface="幼圆" panose="02010509060101010101"/>
                </a:rPr>
                <a:t>!</a:t>
              </a:r>
              <a:endParaRPr lang="zh-CN" altLang="en-US" sz="1600" b="1" dirty="0">
                <a:ea typeface="幼圆" panose="02010509060101010101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51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0BA8C-F597-4E9A-916F-AF7AB1DAF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2DA249-CB39-4AB8-8C0F-FD98E778E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086B18-1B73-4442-8316-8D2A0AA3F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80" y="-450376"/>
            <a:ext cx="6138789" cy="7308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E894F9-94A8-4D6F-BDBD-F11B113C8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791E304B-6FC4-4571-A756-90C65B169970}"/>
              </a:ext>
            </a:extLst>
          </p:cNvPr>
          <p:cNvSpPr/>
          <p:nvPr/>
        </p:nvSpPr>
        <p:spPr>
          <a:xfrm>
            <a:off x="1247958" y="1528009"/>
            <a:ext cx="3994574" cy="3994574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265B44A-8E82-45E0-A65D-59C076E43E9A}"/>
              </a:ext>
            </a:extLst>
          </p:cNvPr>
          <p:cNvSpPr/>
          <p:nvPr/>
        </p:nvSpPr>
        <p:spPr>
          <a:xfrm>
            <a:off x="4428969" y="4164641"/>
            <a:ext cx="1631141" cy="163114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31C4360-5EE9-4450-A286-428E41409E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8679" y="1147205"/>
            <a:ext cx="6397408" cy="55145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A28DCF-6EA1-4B2D-9107-EFB9385033C0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E8D0C1-6169-47EA-9BB5-DF699FBF915A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7491A86C-C6CA-4C91-9CD4-2ACDC957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19" y="4539536"/>
            <a:ext cx="1573674" cy="881350"/>
          </a:xfrm>
        </p:spPr>
        <p:txBody>
          <a:bodyPr vert="horz">
            <a:noAutofit/>
          </a:bodyPr>
          <a:lstStyle/>
          <a:p>
            <a:pPr algn="ctr"/>
            <a:r>
              <a:rPr lang="en-US" altLang="zh-CN" sz="4800" spc="600" dirty="0"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4800" spc="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587C52-3D3D-40C3-9643-96DBBEC9C770}"/>
              </a:ext>
            </a:extLst>
          </p:cNvPr>
          <p:cNvSpPr txBox="1"/>
          <p:nvPr/>
        </p:nvSpPr>
        <p:spPr>
          <a:xfrm flipH="1">
            <a:off x="1820632" y="2307210"/>
            <a:ext cx="280217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PART TWO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C7ECD-686F-437B-A0F2-6BF8196B6F2B}"/>
              </a:ext>
            </a:extLst>
          </p:cNvPr>
          <p:cNvSpPr txBox="1"/>
          <p:nvPr/>
        </p:nvSpPr>
        <p:spPr>
          <a:xfrm flipH="1">
            <a:off x="1404256" y="2953541"/>
            <a:ext cx="3913125" cy="16462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>
              <a:lnSpc>
                <a:spcPts val="6500"/>
              </a:lnSpc>
            </a:pPr>
            <a:r>
              <a:rPr lang="zh-CN" altLang="en-US" sz="4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熵的作用和信息增益原理</a:t>
            </a:r>
            <a:endParaRPr lang="en-US" altLang="zh-CN" sz="4400" spc="3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448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:comb/>
      </p:transition>
    </mc:Choice>
    <mc:Fallback xmlns="">
      <p:transition spd="slow" advClick="0" advTm="0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6310042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熵的作用和信息增益原理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E1CA59-BF86-F039-7FB4-B4AC19E599FC}"/>
              </a:ext>
            </a:extLst>
          </p:cNvPr>
          <p:cNvGrpSpPr/>
          <p:nvPr/>
        </p:nvGrpSpPr>
        <p:grpSpPr>
          <a:xfrm>
            <a:off x="1672221" y="1254646"/>
            <a:ext cx="9398549" cy="3842835"/>
            <a:chOff x="5805075" y="2545178"/>
            <a:chExt cx="4215392" cy="1356843"/>
          </a:xfrm>
        </p:grpSpPr>
        <p:sp>
          <p:nvSpPr>
            <p:cNvPr id="6" name="TextBox 41">
              <a:extLst>
                <a:ext uri="{FF2B5EF4-FFF2-40B4-BE49-F238E27FC236}">
                  <a16:creationId xmlns:a16="http://schemas.microsoft.com/office/drawing/2014/main" id="{CC93234A-0FE5-4677-50C7-8CC1F80510C9}"/>
                </a:ext>
              </a:extLst>
            </p:cNvPr>
            <p:cNvSpPr txBox="1"/>
            <p:nvPr/>
          </p:nvSpPr>
          <p:spPr>
            <a:xfrm>
              <a:off x="5819046" y="2545178"/>
              <a:ext cx="4201421" cy="146831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如何切分特征（选择节点）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456B234-FBE6-EB0C-149D-38B88648AB4C}"/>
                </a:ext>
              </a:extLst>
            </p:cNvPr>
            <p:cNvSpPr/>
            <p:nvPr/>
          </p:nvSpPr>
          <p:spPr>
            <a:xfrm>
              <a:off x="5805075" y="2819161"/>
              <a:ext cx="4215392" cy="108286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问题 </a:t>
              </a:r>
              <a:r>
                <a:rPr lang="en-US" altLang="zh-CN" sz="1600" b="1" dirty="0">
                  <a:ea typeface="幼圆" panose="02010509060101010101"/>
                </a:rPr>
                <a:t>: </a:t>
              </a:r>
              <a:r>
                <a:rPr lang="zh-CN" altLang="en-US" sz="1600" b="1" dirty="0">
                  <a:ea typeface="幼圆" panose="02010509060101010101"/>
                </a:rPr>
                <a:t>根节点的选择该用哪个特征呢 </a:t>
              </a:r>
              <a:r>
                <a:rPr lang="en-US" altLang="zh-CN" sz="1600" b="1" dirty="0">
                  <a:ea typeface="幼圆" panose="02010509060101010101"/>
                </a:rPr>
                <a:t>?</a:t>
              </a:r>
              <a:r>
                <a:rPr lang="zh-CN" altLang="en-US" sz="1600" b="1" dirty="0">
                  <a:ea typeface="幼圆" panose="02010509060101010101"/>
                </a:rPr>
                <a:t>接下来呢</a:t>
              </a:r>
              <a:r>
                <a:rPr lang="en-US" altLang="zh-CN" sz="1600" b="1" dirty="0">
                  <a:ea typeface="幼圆" panose="02010509060101010101"/>
                </a:rPr>
                <a:t>?</a:t>
              </a:r>
              <a:r>
                <a:rPr lang="zh-CN" altLang="en-US" sz="1600" b="1" dirty="0">
                  <a:ea typeface="幼圆" panose="02010509060101010101"/>
                </a:rPr>
                <a:t>如何切分呢 </a:t>
              </a:r>
              <a:r>
                <a:rPr lang="en-US" altLang="zh-CN" sz="1600" b="1" dirty="0">
                  <a:ea typeface="幼圆" panose="02010509060101010101"/>
                </a:rPr>
                <a:t>?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想象一下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我们的目标应该是根节点就像一个老大似的能更好的切分数据</a:t>
              </a:r>
              <a:r>
                <a:rPr lang="en-US" altLang="zh-CN" sz="1600" b="1" dirty="0">
                  <a:ea typeface="幼圆" panose="02010509060101010101"/>
                </a:rPr>
                <a:t>(</a:t>
              </a:r>
              <a:r>
                <a:rPr lang="zh-CN" altLang="en-US" sz="1600" b="1" dirty="0">
                  <a:ea typeface="幼圆" panose="02010509060101010101"/>
                </a:rPr>
                <a:t>分类的效果更好 </a:t>
              </a:r>
              <a:r>
                <a:rPr lang="en-US" altLang="zh-CN" sz="1600" b="1" dirty="0">
                  <a:ea typeface="幼圆" panose="02010509060101010101"/>
                </a:rPr>
                <a:t>)</a:t>
              </a:r>
              <a:r>
                <a:rPr lang="zh-CN" altLang="en-US" sz="1600" b="1" dirty="0">
                  <a:ea typeface="幼圆" panose="02010509060101010101"/>
                </a:rPr>
                <a:t>，根节点下面的节点自然就是二当家了。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目标</a:t>
              </a:r>
              <a:r>
                <a:rPr lang="en-US" altLang="zh-CN" sz="1600" b="1" dirty="0">
                  <a:ea typeface="幼圆" panose="02010509060101010101"/>
                </a:rPr>
                <a:t>: </a:t>
              </a:r>
              <a:r>
                <a:rPr lang="zh-CN" altLang="en-US" sz="1600" b="1" dirty="0">
                  <a:ea typeface="幼圆" panose="02010509060101010101"/>
                </a:rPr>
                <a:t>通过一种衡量标准，来计算通过不同特征进行分支选择后的分类情况，找出来最好的那个当成根节点，以此类推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4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6310042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熵的作用和信息增益原理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E1CA59-BF86-F039-7FB4-B4AC19E599FC}"/>
              </a:ext>
            </a:extLst>
          </p:cNvPr>
          <p:cNvGrpSpPr/>
          <p:nvPr/>
        </p:nvGrpSpPr>
        <p:grpSpPr>
          <a:xfrm>
            <a:off x="1672221" y="1254644"/>
            <a:ext cx="9398549" cy="5073941"/>
            <a:chOff x="5805075" y="2545178"/>
            <a:chExt cx="4215392" cy="1791527"/>
          </a:xfrm>
        </p:grpSpPr>
        <p:sp>
          <p:nvSpPr>
            <p:cNvPr id="6" name="TextBox 41">
              <a:extLst>
                <a:ext uri="{FF2B5EF4-FFF2-40B4-BE49-F238E27FC236}">
                  <a16:creationId xmlns:a16="http://schemas.microsoft.com/office/drawing/2014/main" id="{CC93234A-0FE5-4677-50C7-8CC1F80510C9}"/>
                </a:ext>
              </a:extLst>
            </p:cNvPr>
            <p:cNvSpPr txBox="1"/>
            <p:nvPr/>
          </p:nvSpPr>
          <p:spPr>
            <a:xfrm>
              <a:off x="5819046" y="2545178"/>
              <a:ext cx="4201421" cy="146831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衡量标准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-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熵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456B234-FBE6-EB0C-149D-38B88648AB4C}"/>
                </a:ext>
              </a:extLst>
            </p:cNvPr>
            <p:cNvSpPr/>
            <p:nvPr/>
          </p:nvSpPr>
          <p:spPr>
            <a:xfrm>
              <a:off x="5805075" y="2819161"/>
              <a:ext cx="4215392" cy="1517544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熵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是表示随机变量不确定性的度量</a:t>
              </a:r>
              <a:r>
                <a:rPr lang="en-US" altLang="zh-CN" sz="1600" b="1" dirty="0">
                  <a:ea typeface="幼圆" panose="02010509060101010101"/>
                </a:rPr>
                <a:t>( </a:t>
              </a:r>
              <a:r>
                <a:rPr lang="zh-CN" altLang="en-US" sz="1600" b="1" dirty="0">
                  <a:ea typeface="幼圆" panose="02010509060101010101"/>
                </a:rPr>
                <a:t>解释</a:t>
              </a:r>
              <a:r>
                <a:rPr lang="en-US" altLang="zh-CN" sz="1600" b="1" dirty="0">
                  <a:ea typeface="幼圆" panose="02010509060101010101"/>
                </a:rPr>
                <a:t>: </a:t>
              </a:r>
              <a:r>
                <a:rPr lang="zh-CN" altLang="en-US" sz="1600" b="1" dirty="0">
                  <a:ea typeface="幼圆" panose="02010509060101010101"/>
                </a:rPr>
                <a:t>说白了就是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物体内部的混乱程度。</a:t>
              </a:r>
              <a:r>
                <a:rPr lang="zh-CN" altLang="en-US" sz="1600" b="1" dirty="0">
                  <a:ea typeface="幼圆" panose="02010509060101010101"/>
                </a:rPr>
                <a:t>比如杂货市场里面什么都有那肯定混乱呀，专卖店里面只卖一个牌子的那就稳定多啦</a:t>
              </a:r>
              <a:r>
                <a:rPr lang="en-US" altLang="zh-CN" sz="1600" b="1" dirty="0">
                  <a:ea typeface="幼圆" panose="02010509060101010101"/>
                </a:rPr>
                <a:t>)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公式 </a:t>
              </a:r>
              <a:r>
                <a:rPr lang="en-US" altLang="zh-CN" sz="1600" b="1" dirty="0">
                  <a:ea typeface="幼圆" panose="02010509060101010101"/>
                </a:rPr>
                <a:t>: H(X)=- </a:t>
              </a:r>
              <a:r>
                <a:rPr lang="zh-CN" altLang="en-US" sz="1600" b="1" dirty="0">
                  <a:ea typeface="幼圆" panose="02010509060101010101"/>
                </a:rPr>
                <a:t>∑</a:t>
              </a:r>
              <a:r>
                <a:rPr lang="en-US" altLang="zh-CN" sz="1600" b="1" dirty="0">
                  <a:ea typeface="幼圆" panose="02010509060101010101"/>
                </a:rPr>
                <a:t> pi* </a:t>
              </a:r>
              <a:r>
                <a:rPr lang="en-US" altLang="zh-CN" sz="1600" b="1" dirty="0" err="1">
                  <a:ea typeface="幼圆" panose="02010509060101010101"/>
                </a:rPr>
                <a:t>logpi</a:t>
              </a:r>
              <a:r>
                <a:rPr lang="en-US" altLang="zh-CN" sz="1600" b="1" dirty="0">
                  <a:ea typeface="幼圆" panose="02010509060101010101"/>
                </a:rPr>
                <a:t>, </a:t>
              </a:r>
              <a:r>
                <a:rPr lang="en-US" altLang="zh-CN" sz="1600" b="1" dirty="0" err="1">
                  <a:ea typeface="幼圆" panose="02010509060101010101"/>
                </a:rPr>
                <a:t>i</a:t>
              </a:r>
              <a:r>
                <a:rPr lang="en-US" altLang="zh-CN" sz="1600" b="1" dirty="0">
                  <a:ea typeface="幼圆" panose="02010509060101010101"/>
                </a:rPr>
                <a:t>=1,2, ..., n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一个栗子：</a:t>
              </a:r>
              <a:r>
                <a:rPr lang="en-US" altLang="zh-CN" sz="1600" b="1" dirty="0">
                  <a:ea typeface="幼圆" panose="02010509060101010101"/>
                </a:rPr>
                <a:t>			A</a:t>
              </a:r>
              <a:r>
                <a:rPr lang="zh-CN" altLang="en-US" sz="1600" b="1" dirty="0">
                  <a:ea typeface="幼圆" panose="02010509060101010101"/>
                </a:rPr>
                <a:t>集合</a:t>
              </a:r>
              <a:r>
                <a:rPr lang="en-US" altLang="zh-CN" sz="1600" b="1" dirty="0">
                  <a:ea typeface="幼圆" panose="02010509060101010101"/>
                </a:rPr>
                <a:t>[1,1,1,1,1,1,1,1,2,2]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					B</a:t>
              </a:r>
              <a:r>
                <a:rPr lang="zh-CN" altLang="en-US" sz="1600" b="1" dirty="0">
                  <a:ea typeface="幼圆" panose="02010509060101010101"/>
                </a:rPr>
                <a:t>集合</a:t>
              </a:r>
              <a:r>
                <a:rPr lang="en-US" altLang="zh-CN" sz="1600" b="1" dirty="0">
                  <a:ea typeface="幼圆" panose="02010509060101010101"/>
                </a:rPr>
                <a:t>[1,2,3,4,5,6,7,8,9,10]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ea typeface="幼圆" panose="02010509060101010101"/>
                </a:rPr>
                <a:t>显然</a:t>
              </a:r>
              <a:r>
                <a:rPr lang="en-US" altLang="zh-CN" sz="1600" b="1" dirty="0">
                  <a:ea typeface="幼圆" panose="02010509060101010101"/>
                </a:rPr>
                <a:t>A</a:t>
              </a:r>
              <a:r>
                <a:rPr lang="zh-CN" altLang="en-US" sz="1600" b="1" dirty="0">
                  <a:ea typeface="幼圆" panose="02010509060101010101"/>
                </a:rPr>
                <a:t>集合的熵值要低，因为</a:t>
              </a:r>
              <a:r>
                <a:rPr lang="en-US" altLang="zh-CN" sz="1600" b="1" dirty="0">
                  <a:ea typeface="幼圆" panose="02010509060101010101"/>
                </a:rPr>
                <a:t>A</a:t>
              </a:r>
              <a:r>
                <a:rPr lang="zh-CN" altLang="en-US" sz="1600" b="1" dirty="0">
                  <a:ea typeface="幼圆" panose="02010509060101010101"/>
                </a:rPr>
                <a:t>里面只有两种类别，相对稳定一些而</a:t>
              </a:r>
              <a:r>
                <a:rPr lang="en-US" altLang="zh-CN" sz="1600" b="1" dirty="0">
                  <a:ea typeface="幼圆" panose="02010509060101010101"/>
                </a:rPr>
                <a:t>B</a:t>
              </a:r>
              <a:r>
                <a:rPr lang="zh-CN" altLang="en-US" sz="1600" b="1" dirty="0">
                  <a:ea typeface="幼圆" panose="02010509060101010101"/>
                </a:rPr>
                <a:t>中类别太多了，值就会大很多。</a:t>
              </a:r>
              <a:r>
                <a:rPr lang="en-US" altLang="zh-CN" sz="1600" b="1" dirty="0">
                  <a:ea typeface="幼圆" panose="02010509060101010101"/>
                </a:rPr>
                <a:t>(</a:t>
              </a:r>
              <a:r>
                <a:rPr lang="zh-CN" altLang="en-US" sz="1600" b="1" dirty="0">
                  <a:ea typeface="幼圆" panose="02010509060101010101"/>
                </a:rPr>
                <a:t>在分类任务中我们希望通过节点分支后数据类别的值大还是小呢 </a:t>
              </a:r>
              <a:r>
                <a:rPr lang="en-US" altLang="zh-CN" sz="1600" b="1" dirty="0">
                  <a:ea typeface="幼圆" panose="02010509060101010101"/>
                </a:rPr>
                <a:t>? )</a:t>
              </a:r>
              <a:endParaRPr lang="zh-CN" altLang="en-US" sz="1600" b="1" dirty="0">
                <a:ea typeface="幼圆" panose="02010509060101010101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07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6310042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熵的作用和信息增益原理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51269DC-B342-4180-B73B-3EBF59A75568}"/>
              </a:ext>
            </a:extLst>
          </p:cNvPr>
          <p:cNvGrpSpPr/>
          <p:nvPr/>
        </p:nvGrpSpPr>
        <p:grpSpPr>
          <a:xfrm>
            <a:off x="750436" y="1362826"/>
            <a:ext cx="672559" cy="758844"/>
            <a:chOff x="5960470" y="3606237"/>
            <a:chExt cx="672558" cy="758844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554B5BB-E023-4ED9-A665-AD1AEBBAEDD6}"/>
                </a:ext>
              </a:extLst>
            </p:cNvPr>
            <p:cNvSpPr/>
            <p:nvPr/>
          </p:nvSpPr>
          <p:spPr bwMode="auto">
            <a:xfrm rot="5400000">
              <a:off x="5917327" y="3649380"/>
              <a:ext cx="758844" cy="672558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DE4F6"/>
            </a:solidFill>
            <a:ln w="28575">
              <a:solidFill>
                <a:srgbClr val="CDE4F6"/>
              </a:solidFill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5" name="Freeform 100">
              <a:extLst>
                <a:ext uri="{FF2B5EF4-FFF2-40B4-BE49-F238E27FC236}">
                  <a16:creationId xmlns:a16="http://schemas.microsoft.com/office/drawing/2014/main" id="{7CD5022B-D50A-4628-BF06-B08F3163B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9788" y="3835193"/>
              <a:ext cx="313923" cy="30093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170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E1CA59-BF86-F039-7FB4-B4AC19E599FC}"/>
              </a:ext>
            </a:extLst>
          </p:cNvPr>
          <p:cNvGrpSpPr/>
          <p:nvPr/>
        </p:nvGrpSpPr>
        <p:grpSpPr>
          <a:xfrm>
            <a:off x="1672222" y="1254642"/>
            <a:ext cx="6425032" cy="4458389"/>
            <a:chOff x="5805075" y="2545178"/>
            <a:chExt cx="4215392" cy="1574186"/>
          </a:xfrm>
        </p:grpSpPr>
        <p:sp>
          <p:nvSpPr>
            <p:cNvPr id="6" name="TextBox 41">
              <a:extLst>
                <a:ext uri="{FF2B5EF4-FFF2-40B4-BE49-F238E27FC236}">
                  <a16:creationId xmlns:a16="http://schemas.microsoft.com/office/drawing/2014/main" id="{CC93234A-0FE5-4677-50C7-8CC1F80510C9}"/>
                </a:ext>
              </a:extLst>
            </p:cNvPr>
            <p:cNvSpPr txBox="1"/>
            <p:nvPr/>
          </p:nvSpPr>
          <p:spPr>
            <a:xfrm>
              <a:off x="5819046" y="2545178"/>
              <a:ext cx="4201421" cy="146831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衡量标准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-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熵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456B234-FBE6-EB0C-149D-38B88648AB4C}"/>
                </a:ext>
              </a:extLst>
            </p:cNvPr>
            <p:cNvSpPr/>
            <p:nvPr/>
          </p:nvSpPr>
          <p:spPr>
            <a:xfrm>
              <a:off x="5805075" y="2819161"/>
              <a:ext cx="4215392" cy="1300203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熵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不确定性越大，得到的值也就越大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	</a:t>
              </a:r>
              <a:r>
                <a:rPr lang="zh-CN" altLang="en-US" sz="1600" b="1" dirty="0">
                  <a:ea typeface="幼圆" panose="02010509060101010101"/>
                </a:rPr>
                <a:t>当</a:t>
              </a:r>
              <a:r>
                <a:rPr lang="en-US" altLang="zh-CN" sz="1600" b="1" dirty="0">
                  <a:ea typeface="幼圆" panose="02010509060101010101"/>
                </a:rPr>
                <a:t>p=0</a:t>
              </a:r>
              <a:r>
                <a:rPr lang="zh-CN" altLang="en-US" sz="1600" b="1" dirty="0">
                  <a:ea typeface="幼圆" panose="02010509060101010101"/>
                </a:rPr>
                <a:t>或</a:t>
              </a:r>
              <a:r>
                <a:rPr lang="en-US" altLang="zh-CN" sz="1600" b="1" dirty="0">
                  <a:ea typeface="幼圆" panose="02010509060101010101"/>
                </a:rPr>
                <a:t>p=1</a:t>
              </a:r>
              <a:r>
                <a:rPr lang="zh-CN" altLang="en-US" sz="1600" b="1" dirty="0">
                  <a:ea typeface="幼圆" panose="02010509060101010101"/>
                </a:rPr>
                <a:t>时，</a:t>
              </a:r>
              <a:r>
                <a:rPr lang="en-US" altLang="zh-CN" sz="1600" b="1" dirty="0">
                  <a:ea typeface="幼圆" panose="02010509060101010101"/>
                </a:rPr>
                <a:t>H(p)=0,</a:t>
              </a:r>
              <a:r>
                <a:rPr lang="zh-CN" altLang="en-US" sz="1600" b="1" dirty="0">
                  <a:ea typeface="幼圆" panose="02010509060101010101"/>
                </a:rPr>
                <a:t>随机变量完全没有不确定性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	</a:t>
              </a:r>
              <a:r>
                <a:rPr lang="zh-CN" altLang="en-US" sz="1600" b="1" dirty="0">
                  <a:ea typeface="幼圆" panose="02010509060101010101"/>
                </a:rPr>
                <a:t>当</a:t>
              </a:r>
              <a:r>
                <a:rPr lang="en-US" altLang="zh-CN" sz="1600" b="1" dirty="0">
                  <a:ea typeface="幼圆" panose="02010509060101010101"/>
                </a:rPr>
                <a:t>p=0.5</a:t>
              </a:r>
              <a:r>
                <a:rPr lang="zh-CN" altLang="en-US" sz="1600" b="1" dirty="0">
                  <a:ea typeface="幼圆" panose="02010509060101010101"/>
                </a:rPr>
                <a:t>时，</a:t>
              </a:r>
              <a:r>
                <a:rPr lang="en-US" altLang="zh-CN" sz="1600" b="1" dirty="0">
                  <a:ea typeface="幼圆" panose="02010509060101010101"/>
                </a:rPr>
                <a:t>H(p)=1,</a:t>
              </a:r>
              <a:r>
                <a:rPr lang="zh-CN" altLang="en-US" sz="1600" b="1" dirty="0">
                  <a:ea typeface="幼圆" panose="02010509060101010101"/>
                </a:rPr>
                <a:t>此时随机变量的不确定性最大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如何决策一个节点的选择呢 </a:t>
              </a:r>
              <a:r>
                <a:rPr lang="en-US" altLang="zh-CN" sz="1600" b="1" dirty="0">
                  <a:ea typeface="幼圆" panose="02010509060101010101"/>
                </a:rPr>
                <a:t>?</a:t>
              </a: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600" b="1" dirty="0">
                  <a:ea typeface="幼圆" panose="02010509060101010101"/>
                </a:rPr>
                <a:t>	</a:t>
              </a: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信息增益</a:t>
              </a:r>
              <a:r>
                <a:rPr lang="en-US" altLang="zh-CN" sz="1600" b="1" dirty="0">
                  <a:ea typeface="幼圆" panose="02010509060101010101"/>
                </a:rPr>
                <a:t>:</a:t>
              </a:r>
              <a:r>
                <a:rPr lang="zh-CN" altLang="en-US" sz="1600" b="1" dirty="0">
                  <a:ea typeface="幼圆" panose="02010509060101010101"/>
                </a:rPr>
                <a:t>表示特征</a:t>
              </a:r>
              <a:r>
                <a:rPr lang="en-US" altLang="zh-CN" sz="1600" b="1" dirty="0">
                  <a:ea typeface="幼圆" panose="02010509060101010101"/>
                </a:rPr>
                <a:t>X</a:t>
              </a:r>
              <a:r>
                <a:rPr lang="zh-CN" altLang="en-US" sz="1600" b="1" dirty="0">
                  <a:ea typeface="幼圆" panose="02010509060101010101"/>
                </a:rPr>
                <a:t>使得类</a:t>
              </a:r>
              <a:r>
                <a:rPr lang="en-US" altLang="zh-CN" sz="1600" b="1" dirty="0">
                  <a:ea typeface="幼圆" panose="02010509060101010101"/>
                </a:rPr>
                <a:t>Y</a:t>
              </a:r>
              <a:r>
                <a:rPr lang="zh-CN" altLang="en-US" sz="1600" b="1" dirty="0">
                  <a:ea typeface="幼圆" panose="02010509060101010101"/>
                </a:rPr>
                <a:t>的不确定性减少的程度</a:t>
              </a:r>
              <a:r>
                <a:rPr lang="en-US" altLang="zh-CN" sz="1600" b="1" dirty="0">
                  <a:ea typeface="幼圆" panose="02010509060101010101"/>
                </a:rPr>
                <a:t>(</a:t>
              </a:r>
              <a:r>
                <a:rPr lang="zh-CN" altLang="en-US" sz="1600" b="1" dirty="0">
                  <a:ea typeface="幼圆" panose="02010509060101010101"/>
                </a:rPr>
                <a:t>分类后的专一性，希望分类后的结果是同类在一起 </a:t>
              </a:r>
              <a:r>
                <a:rPr lang="en-US" altLang="zh-CN" sz="1600" b="1" dirty="0">
                  <a:ea typeface="幼圆" panose="02010509060101010101"/>
                </a:rPr>
                <a:t>)</a:t>
              </a:r>
              <a:endParaRPr lang="zh-CN" altLang="en-US" sz="1600" b="1" dirty="0">
                <a:ea typeface="幼圆" panose="02010509060101010101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2809ECC-22E9-DEB4-C49F-13EB28C4C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741" y="2121671"/>
            <a:ext cx="3406940" cy="389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5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0BA8C-F597-4E9A-916F-AF7AB1DAF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2DA249-CB39-4AB8-8C0F-FD98E778E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086B18-1B73-4442-8316-8D2A0AA3F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80" y="-450377"/>
            <a:ext cx="6138789" cy="7308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E894F9-94A8-4D6F-BDBD-F11B113C8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791E304B-6FC4-4571-A756-90C65B169970}"/>
              </a:ext>
            </a:extLst>
          </p:cNvPr>
          <p:cNvSpPr/>
          <p:nvPr/>
        </p:nvSpPr>
        <p:spPr>
          <a:xfrm>
            <a:off x="1247958" y="1528009"/>
            <a:ext cx="3994574" cy="3994574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265B44A-8E82-45E0-A65D-59C076E43E9A}"/>
              </a:ext>
            </a:extLst>
          </p:cNvPr>
          <p:cNvSpPr/>
          <p:nvPr/>
        </p:nvSpPr>
        <p:spPr>
          <a:xfrm>
            <a:off x="4428969" y="4164641"/>
            <a:ext cx="1631141" cy="163114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31C4360-5EE9-4450-A286-428E41409E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8679" y="1147205"/>
            <a:ext cx="6397408" cy="55145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A28DCF-6EA1-4B2D-9107-EFB9385033C0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E8D0C1-6169-47EA-9BB5-DF699FBF915A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7491A86C-C6CA-4C91-9CD4-2ACDC957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19" y="4539536"/>
            <a:ext cx="1573674" cy="881350"/>
          </a:xfrm>
        </p:spPr>
        <p:txBody>
          <a:bodyPr vert="horz">
            <a:noAutofit/>
          </a:bodyPr>
          <a:lstStyle/>
          <a:p>
            <a:pPr algn="ctr"/>
            <a:r>
              <a:rPr lang="en-US" altLang="zh-CN" sz="4800" spc="600" dirty="0"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4800" spc="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587C52-3D3D-40C3-9643-96DBBEC9C770}"/>
              </a:ext>
            </a:extLst>
          </p:cNvPr>
          <p:cNvSpPr txBox="1"/>
          <p:nvPr/>
        </p:nvSpPr>
        <p:spPr>
          <a:xfrm flipH="1">
            <a:off x="1820632" y="2307210"/>
            <a:ext cx="280217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PART FOUR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C7ECD-686F-437B-A0F2-6BF8196B6F2B}"/>
              </a:ext>
            </a:extLst>
          </p:cNvPr>
          <p:cNvSpPr txBox="1"/>
          <p:nvPr/>
        </p:nvSpPr>
        <p:spPr>
          <a:xfrm flipH="1">
            <a:off x="1673995" y="3109480"/>
            <a:ext cx="3246159" cy="16462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>
              <a:lnSpc>
                <a:spcPts val="6500"/>
              </a:lnSpc>
            </a:pPr>
            <a:r>
              <a:rPr lang="zh-CN" altLang="en-US" sz="4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4400" spc="3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31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30E747C-38F1-D3D4-3F1A-E84321D3BB97}"/>
              </a:ext>
            </a:extLst>
          </p:cNvPr>
          <p:cNvGrpSpPr/>
          <p:nvPr/>
        </p:nvGrpSpPr>
        <p:grpSpPr>
          <a:xfrm>
            <a:off x="452020" y="733930"/>
            <a:ext cx="3446577" cy="1957863"/>
            <a:chOff x="3494759" y="2545178"/>
            <a:chExt cx="6525708" cy="576375"/>
          </a:xfrm>
        </p:grpSpPr>
        <p:sp>
          <p:nvSpPr>
            <p:cNvPr id="6" name="TextBox 41">
              <a:extLst>
                <a:ext uri="{FF2B5EF4-FFF2-40B4-BE49-F238E27FC236}">
                  <a16:creationId xmlns:a16="http://schemas.microsoft.com/office/drawing/2014/main" id="{2492140A-A845-4911-DE20-5560ABCAE2F0}"/>
                </a:ext>
              </a:extLst>
            </p:cNvPr>
            <p:cNvSpPr txBox="1"/>
            <p:nvPr/>
          </p:nvSpPr>
          <p:spPr>
            <a:xfrm>
              <a:off x="5819046" y="2545178"/>
              <a:ext cx="4201421" cy="146831"/>
            </a:xfrm>
            <a:prstGeom prst="rect">
              <a:avLst/>
            </a:prstGeom>
            <a:noFill/>
          </p:spPr>
          <p:txBody>
            <a:bodyPr wrap="square" lIns="46072" tIns="23036" rIns="46072" bIns="23036" rtlCol="0">
              <a:spAutoFit/>
            </a:bodyPr>
            <a:lstStyle>
              <a:defPPr>
                <a:defRPr lang="zh-CN"/>
              </a:defPPr>
              <a:lvl1pPr defTabSz="1219170"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包图简圆体" panose="02010601030101010101" pitchFamily="2" charset="-122"/>
                  <a:ea typeface="包图简圆体" panose="02010601030101010101" pitchFamily="2" charset="-122"/>
                </a:defRPr>
              </a:lvl1pPr>
            </a:lstStyle>
            <a:p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4412841-56DA-E97D-956A-40BAA857618A}"/>
                </a:ext>
              </a:extLst>
            </p:cNvPr>
            <p:cNvSpPr/>
            <p:nvPr/>
          </p:nvSpPr>
          <p:spPr>
            <a:xfrm>
              <a:off x="3494759" y="2581124"/>
              <a:ext cx="4406435" cy="540429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数据：</a:t>
              </a:r>
              <a:r>
                <a:rPr lang="en-US" altLang="zh-CN" sz="1600" b="1" dirty="0">
                  <a:ea typeface="幼圆" panose="02010509060101010101"/>
                </a:rPr>
                <a:t>14</a:t>
              </a:r>
              <a:r>
                <a:rPr lang="zh-CN" altLang="en-US" sz="1600" b="1" dirty="0">
                  <a:ea typeface="幼圆" panose="02010509060101010101"/>
                </a:rPr>
                <a:t>天打球情况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特征：</a:t>
              </a:r>
              <a:r>
                <a:rPr lang="en-US" altLang="zh-CN" sz="1600" b="1" dirty="0">
                  <a:ea typeface="幼圆" panose="02010509060101010101"/>
                </a:rPr>
                <a:t>4</a:t>
              </a:r>
              <a:r>
                <a:rPr lang="zh-CN" altLang="en-US" sz="1600" b="1" dirty="0">
                  <a:ea typeface="幼圆" panose="02010509060101010101"/>
                </a:rPr>
                <a:t>种环境变化</a:t>
              </a:r>
              <a:endParaRPr lang="en-US" altLang="zh-CN" sz="1600" b="1" dirty="0">
                <a:ea typeface="幼圆" panose="02010509060101010101"/>
              </a:endParaRPr>
            </a:p>
            <a:p>
              <a:pPr defTabSz="609585">
                <a:lnSpc>
                  <a:spcPct val="250000"/>
                </a:lnSpc>
                <a:buClr>
                  <a:srgbClr val="E7E6E6">
                    <a:lumMod val="10000"/>
                  </a:srgbClr>
                </a:buClr>
              </a:pPr>
              <a:r>
                <a:rPr lang="zh-CN" altLang="en-US" sz="1600" b="1" dirty="0">
                  <a:solidFill>
                    <a:srgbClr val="FF0000"/>
                  </a:solidFill>
                  <a:ea typeface="幼圆" panose="02010509060101010101"/>
                </a:rPr>
                <a:t>🖊</a:t>
              </a:r>
              <a:r>
                <a:rPr lang="zh-CN" altLang="en-US" sz="1600" b="1" dirty="0">
                  <a:ea typeface="幼圆" panose="02010509060101010101"/>
                </a:rPr>
                <a:t>目标：构造决策树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74BD005-B932-0DD5-CF90-3D128ED1C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6399" y="380998"/>
            <a:ext cx="5623637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412841-56DA-E97D-956A-40BAA857618A}"/>
              </a:ext>
            </a:extLst>
          </p:cNvPr>
          <p:cNvSpPr/>
          <p:nvPr/>
        </p:nvSpPr>
        <p:spPr>
          <a:xfrm>
            <a:off x="413084" y="1179387"/>
            <a:ext cx="2939926" cy="184969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划分方法：</a:t>
            </a:r>
            <a:r>
              <a:rPr lang="en-US" altLang="zh-CN" sz="1600" b="1" dirty="0">
                <a:ea typeface="幼圆" panose="02010509060101010101"/>
              </a:rPr>
              <a:t>4</a:t>
            </a:r>
            <a:r>
              <a:rPr lang="zh-CN" altLang="en-US" sz="1600" b="1" dirty="0">
                <a:ea typeface="幼圆" panose="02010509060101010101"/>
              </a:rPr>
              <a:t>种</a:t>
            </a:r>
            <a:endParaRPr lang="en-US" altLang="zh-CN" sz="1600" b="1" dirty="0">
              <a:ea typeface="幼圆" panose="02010509060101010101"/>
            </a:endParaRP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问题：谁当根节点呢？</a:t>
            </a:r>
            <a:endParaRPr lang="en-US" altLang="zh-CN" sz="1600" b="1" dirty="0">
              <a:ea typeface="幼圆" panose="02010509060101010101"/>
            </a:endParaRP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依据：信息增益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7B87E2-C86E-DB87-95DF-54A3B084E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357" y="456426"/>
            <a:ext cx="7129857" cy="60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2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412841-56DA-E97D-956A-40BAA857618A}"/>
                  </a:ext>
                </a:extLst>
              </p:cNvPr>
              <p:cNvSpPr/>
              <p:nvPr/>
            </p:nvSpPr>
            <p:spPr>
              <a:xfrm>
                <a:off x="413084" y="1147209"/>
                <a:ext cx="8544427" cy="4730398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zh-CN" altLang="en-US" sz="1600" b="1" dirty="0">
                    <a:solidFill>
                      <a:srgbClr val="FF0000"/>
                    </a:solidFill>
                    <a:ea typeface="幼圆" panose="02010509060101010101"/>
                  </a:rPr>
                  <a:t>🖊</a:t>
                </a:r>
                <a:r>
                  <a:rPr lang="zh-CN" altLang="en-US" sz="1600" b="1" dirty="0">
                    <a:ea typeface="幼圆" panose="02010509060101010101"/>
                  </a:rPr>
                  <a:t>在历史数据中（</a:t>
                </a:r>
                <a:r>
                  <a:rPr lang="en-US" altLang="zh-CN" sz="1600" b="1" dirty="0">
                    <a:ea typeface="幼圆" panose="02010509060101010101"/>
                  </a:rPr>
                  <a:t>14</a:t>
                </a:r>
                <a:r>
                  <a:rPr lang="zh-CN" altLang="en-US" sz="1600" b="1" dirty="0">
                    <a:ea typeface="幼圆" panose="02010509060101010101"/>
                  </a:rPr>
                  <a:t>天）有</a:t>
                </a:r>
                <a:r>
                  <a:rPr lang="en-US" altLang="zh-CN" sz="1600" b="1" dirty="0">
                    <a:ea typeface="幼圆" panose="02010509060101010101"/>
                  </a:rPr>
                  <a:t>9</a:t>
                </a:r>
                <a:r>
                  <a:rPr lang="zh-CN" altLang="en-US" sz="1600" b="1" dirty="0">
                    <a:ea typeface="幼圆" panose="02010509060101010101"/>
                  </a:rPr>
                  <a:t>天打球，</a:t>
                </a:r>
                <a:r>
                  <a:rPr lang="en-US" altLang="zh-CN" sz="1600" b="1" dirty="0">
                    <a:ea typeface="幼圆" panose="02010509060101010101"/>
                  </a:rPr>
                  <a:t>5</a:t>
                </a:r>
                <a:r>
                  <a:rPr lang="zh-CN" altLang="en-US" sz="1600" b="1" dirty="0">
                    <a:ea typeface="幼圆" panose="02010509060101010101"/>
                  </a:rPr>
                  <a:t>天不打球，所以此时的熵应该为：</a:t>
                </a:r>
                <a:endParaRPr lang="en-US" altLang="zh-CN" sz="1600" b="1" dirty="0">
                  <a:ea typeface="幼圆" panose="02010509060101010101"/>
                </a:endParaRPr>
              </a:p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endParaRPr lang="en-US" altLang="zh-CN" sz="1600" b="1" dirty="0">
                  <a:ea typeface="幼圆" panose="02010509060101010101"/>
                </a:endParaRPr>
              </a:p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zh-CN" altLang="en-US" sz="1600" b="1" dirty="0">
                    <a:solidFill>
                      <a:srgbClr val="FF0000"/>
                    </a:solidFill>
                    <a:ea typeface="幼圆" panose="02010509060101010101"/>
                  </a:rPr>
                  <a:t>🖊</a:t>
                </a:r>
                <a:r>
                  <a:rPr lang="en-US" altLang="zh-CN" sz="1600" b="1" dirty="0">
                    <a:ea typeface="幼圆" panose="02010509060101010101"/>
                  </a:rPr>
                  <a:t>4</a:t>
                </a:r>
                <a:r>
                  <a:rPr lang="zh-CN" altLang="en-US" sz="1600" b="1" dirty="0">
                    <a:ea typeface="幼圆" panose="02010509060101010101"/>
                  </a:rPr>
                  <a:t>个特征逐一分析，先从</a:t>
                </a:r>
                <a:r>
                  <a:rPr lang="en-US" altLang="zh-CN" sz="1600" b="1" dirty="0">
                    <a:ea typeface="幼圆" panose="02010509060101010101"/>
                  </a:rPr>
                  <a:t>outlook</a:t>
                </a:r>
                <a:r>
                  <a:rPr lang="zh-CN" altLang="en-US" sz="1600" b="1" dirty="0">
                    <a:ea typeface="幼圆" panose="02010509060101010101"/>
                  </a:rPr>
                  <a:t>特征开始：</a:t>
                </a:r>
                <a:endParaRPr lang="en-US" altLang="zh-CN" sz="1600" b="1" dirty="0">
                  <a:ea typeface="幼圆" panose="02010509060101010101"/>
                </a:endParaRPr>
              </a:p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en-US" altLang="zh-CN" sz="1600" b="1" dirty="0">
                    <a:ea typeface="幼圆" panose="02010509060101010101"/>
                  </a:rPr>
                  <a:t>	Outlook = sunny</a:t>
                </a:r>
                <a:r>
                  <a:rPr lang="zh-CN" altLang="en-US" sz="1600" b="1" dirty="0">
                    <a:ea typeface="幼圆" panose="02010509060101010101"/>
                  </a:rPr>
                  <a:t>时，熵值为</a:t>
                </a:r>
                <a:r>
                  <a:rPr lang="en-US" altLang="zh-CN" sz="1600" b="1" dirty="0">
                    <a:ea typeface="幼圆" panose="02010509060101010101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" charset="0"/>
                      </a:rPr>
                      <m:t>=0.971</m:t>
                    </m:r>
                  </m:oMath>
                </a14:m>
                <a:endParaRPr lang="en-US" altLang="zh-CN" sz="1600" b="1" dirty="0">
                  <a:ea typeface="幼圆" panose="02010509060101010101"/>
                </a:endParaRPr>
              </a:p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en-US" altLang="zh-CN" sz="1600" b="1" dirty="0">
                    <a:ea typeface="幼圆" panose="02010509060101010101"/>
                  </a:rPr>
                  <a:t>	Outlook = overcast</a:t>
                </a:r>
                <a:r>
                  <a:rPr lang="zh-CN" altLang="en-US" sz="1600" b="1" dirty="0">
                    <a:ea typeface="幼圆" panose="02010509060101010101"/>
                  </a:rPr>
                  <a:t>时，值为</a:t>
                </a:r>
                <a:r>
                  <a:rPr lang="en-US" altLang="zh-CN" sz="1600" dirty="0">
                    <a:ea typeface="Microsoft YaHei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" charset="0"/>
                      </a:rPr>
                      <m:t>0</m:t>
                    </m:r>
                  </m:oMath>
                </a14:m>
                <a:endParaRPr lang="en-US" altLang="zh-CN" sz="2000" b="1" dirty="0">
                  <a:ea typeface="幼圆" panose="02010509060101010101"/>
                </a:endParaRPr>
              </a:p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en-US" altLang="zh-CN" sz="1600" b="1" dirty="0">
                    <a:ea typeface="幼圆" panose="02010509060101010101"/>
                  </a:rPr>
                  <a:t>	Outlook = rainy</a:t>
                </a:r>
                <a:r>
                  <a:rPr lang="zh-CN" altLang="en-US" sz="1600" b="1" dirty="0">
                    <a:ea typeface="幼圆" panose="02010509060101010101"/>
                  </a:rPr>
                  <a:t>时，值为  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" charset="0"/>
                      </a:rPr>
                      <m:t>=0.971</m:t>
                    </m:r>
                  </m:oMath>
                </a14:m>
                <a:endParaRPr lang="en-US" altLang="zh-CN" sz="2000" b="1" dirty="0">
                  <a:ea typeface="幼圆" panose="02010509060101010101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412841-56DA-E97D-956A-40BAA8576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84" y="1147209"/>
                <a:ext cx="8544427" cy="4730398"/>
              </a:xfrm>
              <a:prstGeom prst="rect">
                <a:avLst/>
              </a:prstGeom>
              <a:blipFill>
                <a:blip r:embed="rId6"/>
                <a:stretch>
                  <a:fillRect l="-4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9D366926-1B51-30A8-B8D9-1C5D1513C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197" y="1773146"/>
            <a:ext cx="4177707" cy="8549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9A9146-CCC2-5380-D651-7D2498E82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601" y="3114357"/>
            <a:ext cx="40576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2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10" name="PA-ïṧḷiḓe">
            <a:extLst>
              <a:ext uri="{FF2B5EF4-FFF2-40B4-BE49-F238E27FC236}">
                <a16:creationId xmlns:a16="http://schemas.microsoft.com/office/drawing/2014/main" id="{94A13BB9-ED73-4B55-8839-9A6B69C2EF2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4288" y="1255488"/>
            <a:ext cx="657827" cy="638993"/>
            <a:chOff x="860271" y="1518068"/>
            <a:chExt cx="493370" cy="479245"/>
          </a:xfrm>
          <a:solidFill>
            <a:srgbClr val="33FF8F"/>
          </a:solidFill>
        </p:grpSpPr>
        <p:sp>
          <p:nvSpPr>
            <p:cNvPr id="13" name="PA-íśḻîḓé">
              <a:extLst>
                <a:ext uri="{FF2B5EF4-FFF2-40B4-BE49-F238E27FC236}">
                  <a16:creationId xmlns:a16="http://schemas.microsoft.com/office/drawing/2014/main" id="{5C93F9CD-DE58-46CC-BD62-4501DC7F2F0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60271" y="1518068"/>
              <a:ext cx="493370" cy="479245"/>
            </a:xfrm>
            <a:prstGeom prst="roundRect">
              <a:avLst>
                <a:gd name="adj" fmla="val 0"/>
              </a:avLst>
            </a:prstGeom>
            <a:solidFill>
              <a:srgbClr val="F7BF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  <p:sp>
          <p:nvSpPr>
            <p:cNvPr id="14" name="PA-îṧḻiḋé">
              <a:extLst>
                <a:ext uri="{FF2B5EF4-FFF2-40B4-BE49-F238E27FC236}">
                  <a16:creationId xmlns:a16="http://schemas.microsoft.com/office/drawing/2014/main" id="{478B06F7-4BCA-4DBF-AA61-76774C8AB4A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4412841-56DA-E97D-956A-40BAA857618A}"/>
              </a:ext>
            </a:extLst>
          </p:cNvPr>
          <p:cNvSpPr/>
          <p:nvPr/>
        </p:nvSpPr>
        <p:spPr>
          <a:xfrm>
            <a:off x="1642132" y="1460684"/>
            <a:ext cx="9382221" cy="3682418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根据数据统计，</a:t>
            </a:r>
            <a:r>
              <a:rPr lang="en-US" altLang="zh-CN" sz="1600" b="1" dirty="0">
                <a:ea typeface="幼圆" panose="02010509060101010101"/>
              </a:rPr>
              <a:t>outlook</a:t>
            </a:r>
            <a:r>
              <a:rPr lang="zh-CN" altLang="en-US" sz="1600" b="1" dirty="0">
                <a:ea typeface="幼圆" panose="02010509060101010101"/>
              </a:rPr>
              <a:t>取值分别为</a:t>
            </a:r>
            <a:r>
              <a:rPr lang="en-US" altLang="zh-CN" sz="1600" b="1" dirty="0" err="1">
                <a:ea typeface="幼圆" panose="02010509060101010101"/>
              </a:rPr>
              <a:t>sunny,overcast,rainy</a:t>
            </a:r>
            <a:r>
              <a:rPr lang="zh-CN" altLang="en-US" sz="1600" b="1" dirty="0">
                <a:ea typeface="幼圆" panose="02010509060101010101"/>
              </a:rPr>
              <a:t>的概率分别为</a:t>
            </a:r>
            <a:r>
              <a:rPr lang="en-US" altLang="zh-CN" sz="1600" b="1" dirty="0">
                <a:ea typeface="幼圆" panose="02010509060101010101"/>
              </a:rPr>
              <a:t>5/14, 4/14, 5/14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熵值计算 </a:t>
            </a:r>
            <a:r>
              <a:rPr lang="en-US" altLang="zh-CN" sz="1600" b="1" dirty="0">
                <a:ea typeface="幼圆" panose="02010509060101010101"/>
              </a:rPr>
              <a:t>: 5/14 * 0.971 + 4/14 * 0 + 5/14 * 0.971 = 0.693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信息增益</a:t>
            </a:r>
            <a:r>
              <a:rPr lang="en-US" altLang="zh-CN" sz="1600" b="1" dirty="0">
                <a:ea typeface="幼圆" panose="02010509060101010101"/>
              </a:rPr>
              <a:t>: </a:t>
            </a:r>
            <a:r>
              <a:rPr lang="zh-CN" altLang="en-US" sz="1600" b="1" dirty="0">
                <a:ea typeface="幼圆" panose="02010509060101010101"/>
              </a:rPr>
              <a:t>系统的值从原始的</a:t>
            </a:r>
            <a:r>
              <a:rPr lang="en-US" altLang="zh-CN" sz="1600" b="1" dirty="0">
                <a:ea typeface="幼圆" panose="02010509060101010101"/>
              </a:rPr>
              <a:t>0.940</a:t>
            </a:r>
            <a:r>
              <a:rPr lang="zh-CN" altLang="en-US" sz="1600" b="1" dirty="0">
                <a:ea typeface="幼圆" panose="02010509060101010101"/>
              </a:rPr>
              <a:t>下降到了</a:t>
            </a:r>
            <a:r>
              <a:rPr lang="en-US" altLang="zh-CN" sz="1600" b="1" dirty="0">
                <a:ea typeface="幼圆" panose="02010509060101010101"/>
              </a:rPr>
              <a:t>0.693</a:t>
            </a:r>
            <a:r>
              <a:rPr lang="zh-CN" altLang="en-US" sz="1600" b="1" dirty="0">
                <a:ea typeface="幼圆" panose="02010509060101010101"/>
              </a:rPr>
              <a:t>，增益为</a:t>
            </a:r>
            <a:r>
              <a:rPr lang="en-US" altLang="zh-CN" sz="1600" b="1" dirty="0">
                <a:ea typeface="幼圆" panose="02010509060101010101"/>
              </a:rPr>
              <a:t>0.247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600" b="1" dirty="0">
                <a:ea typeface="幼圆" panose="02010509060101010101"/>
              </a:rPr>
              <a:t>(gain(temperature)=0.029 gain(humidity)=0.152 gain(windy)=0.048 )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sz="1600" b="1" dirty="0">
                <a:solidFill>
                  <a:srgbClr val="FF0000"/>
                </a:solidFill>
                <a:ea typeface="幼圆" panose="02010509060101010101"/>
              </a:rPr>
              <a:t>🖊</a:t>
            </a:r>
            <a:r>
              <a:rPr lang="zh-CN" altLang="en-US" sz="1600" b="1" dirty="0">
                <a:ea typeface="幼圆" panose="02010509060101010101"/>
              </a:rPr>
              <a:t>同样的方式可以计算出其他特征的信息增益，那么我们选择最大的那个就可以啦，相当于是遍历了一遍特征，找出来了大当家，然后再其余的中继续通过信息增益找二当家</a:t>
            </a:r>
            <a:r>
              <a:rPr lang="en-US" altLang="zh-CN" sz="1600" b="1" dirty="0">
                <a:ea typeface="幼圆" panose="02010509060101010101"/>
              </a:rPr>
              <a:t>!</a:t>
            </a:r>
            <a:endParaRPr lang="zh-CN" altLang="en-US" sz="1600" b="1" dirty="0">
              <a:ea typeface="幼圆" panose="0201050906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12868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B4FFDB-793F-8BCF-95E9-62FCEAFEEF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92" y="1146643"/>
            <a:ext cx="10406000" cy="3369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F1F2446-DF2B-6F15-565B-214515DBF500}"/>
                  </a:ext>
                </a:extLst>
              </p:cNvPr>
              <p:cNvSpPr txBox="1"/>
              <p:nvPr/>
            </p:nvSpPr>
            <p:spPr>
              <a:xfrm>
                <a:off x="312824" y="4586410"/>
                <a:ext cx="3852206" cy="101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0+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+0=</m:t>
                    </m:r>
                  </m:oMath>
                </a14:m>
                <a:r>
                  <a:rPr lang="en-US" altLang="zh-CN" sz="1600" dirty="0"/>
                  <a:t>0.40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	gain(</a:t>
                </a:r>
                <a:r>
                  <a:rPr lang="zh-CN" altLang="en-US" dirty="0"/>
                  <a:t>气温</a:t>
                </a:r>
                <a:r>
                  <a:rPr lang="en-US" altLang="zh-CN" dirty="0"/>
                  <a:t>) = 0.57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F1F2446-DF2B-6F15-565B-214515DBF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4" y="4586410"/>
                <a:ext cx="3852206" cy="1014830"/>
              </a:xfrm>
              <a:prstGeom prst="rect">
                <a:avLst/>
              </a:prstGeom>
              <a:blipFill>
                <a:blip r:embed="rId7"/>
                <a:stretch>
                  <a:fillRect b="-8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80430813-5903-546F-D743-14F4FB0BA140}"/>
              </a:ext>
            </a:extLst>
          </p:cNvPr>
          <p:cNvSpPr txBox="1"/>
          <p:nvPr/>
        </p:nvSpPr>
        <p:spPr>
          <a:xfrm>
            <a:off x="4794682" y="4649874"/>
            <a:ext cx="216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gain(</a:t>
            </a:r>
            <a:r>
              <a:rPr lang="zh-CN" altLang="en-US" dirty="0"/>
              <a:t>气温</a:t>
            </a:r>
            <a:r>
              <a:rPr lang="en-US" altLang="zh-CN" dirty="0"/>
              <a:t>) = 0.97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17BF5DA-D960-D1DD-DA22-5873FED7DF12}"/>
                  </a:ext>
                </a:extLst>
              </p:cNvPr>
              <p:cNvSpPr txBox="1"/>
              <p:nvPr/>
            </p:nvSpPr>
            <p:spPr>
              <a:xfrm>
                <a:off x="5901489" y="5198239"/>
                <a:ext cx="5928438" cy="101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+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3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=</m:t>
                    </m:r>
                  </m:oMath>
                </a14:m>
                <a:r>
                  <a:rPr lang="en-US" altLang="zh-CN" sz="1600" dirty="0"/>
                  <a:t>0.95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	gain(</a:t>
                </a:r>
                <a:r>
                  <a:rPr lang="zh-CN" altLang="en-US" dirty="0"/>
                  <a:t>气温</a:t>
                </a:r>
                <a:r>
                  <a:rPr lang="en-US" altLang="zh-CN" dirty="0"/>
                  <a:t>) = 0.02</a:t>
                </a:r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17BF5DA-D960-D1DD-DA22-5873FED7D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489" y="5198239"/>
                <a:ext cx="5928438" cy="1014830"/>
              </a:xfrm>
              <a:prstGeom prst="rect">
                <a:avLst/>
              </a:prstGeom>
              <a:blipFill>
                <a:blip r:embed="rId8"/>
                <a:stretch>
                  <a:fillRect b="-9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71E5D74-0E19-3C79-EFC8-53DA32B22162}"/>
                  </a:ext>
                </a:extLst>
              </p:cNvPr>
              <p:cNvSpPr txBox="1"/>
              <p:nvPr/>
            </p:nvSpPr>
            <p:spPr>
              <a:xfrm>
                <a:off x="4086824" y="134028"/>
                <a:ext cx="6334626" cy="928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en-US" altLang="zh-CN" sz="1400" b="1" dirty="0">
                    <a:ea typeface="幼圆" panose="02010509060101010101"/>
                  </a:rPr>
                  <a:t>Outlook = sunny</a:t>
                </a:r>
                <a:r>
                  <a:rPr lang="zh-CN" altLang="en-US" sz="1400" b="1" dirty="0">
                    <a:ea typeface="幼圆" panose="02010509060101010101"/>
                  </a:rPr>
                  <a:t>时，熵值为</a:t>
                </a:r>
                <a:r>
                  <a:rPr lang="en-US" altLang="zh-CN" sz="1400" b="1" dirty="0">
                    <a:ea typeface="幼圆" panose="02010509060101010101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Microsoft YaHei" charset="0"/>
                      </a:rPr>
                      <m:t>=0.971</m:t>
                    </m:r>
                  </m:oMath>
                </a14:m>
                <a:endParaRPr lang="en-US" altLang="zh-CN" sz="1400" b="1" dirty="0">
                  <a:ea typeface="幼圆" panose="02010509060101010101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71E5D74-0E19-3C79-EFC8-53DA32B22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824" y="134028"/>
                <a:ext cx="6334626" cy="928396"/>
              </a:xfrm>
              <a:prstGeom prst="rect">
                <a:avLst/>
              </a:prstGeom>
              <a:blipFill>
                <a:blip r:embed="rId9"/>
                <a:stretch>
                  <a:fillRect l="-288" b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43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723E1A-F00F-C63E-B16B-5ED4B8E96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28" y="1154462"/>
            <a:ext cx="11083264" cy="35104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1BC31E-260D-A7ED-9E89-61F55A372692}"/>
                  </a:ext>
                </a:extLst>
              </p:cNvPr>
              <p:cNvSpPr txBox="1"/>
              <p:nvPr/>
            </p:nvSpPr>
            <p:spPr>
              <a:xfrm>
                <a:off x="6124068" y="5233486"/>
                <a:ext cx="5895473" cy="101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+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3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=</m:t>
                    </m:r>
                  </m:oMath>
                </a14:m>
                <a:r>
                  <a:rPr lang="en-US" altLang="zh-CN" sz="1600" dirty="0"/>
                  <a:t>0.95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	gain(</a:t>
                </a:r>
                <a:r>
                  <a:rPr lang="zh-CN" altLang="en-US" dirty="0"/>
                  <a:t>湿度</a:t>
                </a:r>
                <a:r>
                  <a:rPr lang="en-US" altLang="zh-CN" dirty="0"/>
                  <a:t>) =0.02 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1BC31E-260D-A7ED-9E89-61F55A372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068" y="5233486"/>
                <a:ext cx="5895473" cy="1014830"/>
              </a:xfrm>
              <a:prstGeom prst="rect">
                <a:avLst/>
              </a:prstGeom>
              <a:blipFill>
                <a:blip r:embed="rId7"/>
                <a:stretch>
                  <a:fillRect b="-9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9D6C4DA-3A41-8747-0B77-9D39C3DEFDB9}"/>
                  </a:ext>
                </a:extLst>
              </p:cNvPr>
              <p:cNvSpPr txBox="1"/>
              <p:nvPr/>
            </p:nvSpPr>
            <p:spPr>
              <a:xfrm>
                <a:off x="4086824" y="134028"/>
                <a:ext cx="6334626" cy="928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09585">
                  <a:lnSpc>
                    <a:spcPct val="250000"/>
                  </a:lnSpc>
                  <a:buClr>
                    <a:srgbClr val="E7E6E6">
                      <a:lumMod val="10000"/>
                    </a:srgbClr>
                  </a:buClr>
                </a:pPr>
                <a:r>
                  <a:rPr lang="en-US" altLang="zh-CN" sz="1400" b="1" dirty="0">
                    <a:ea typeface="幼圆" panose="02010509060101010101"/>
                  </a:rPr>
                  <a:t>Outlook = sunny</a:t>
                </a:r>
                <a:r>
                  <a:rPr lang="zh-CN" altLang="en-US" sz="1400" b="1" dirty="0">
                    <a:ea typeface="幼圆" panose="02010509060101010101"/>
                  </a:rPr>
                  <a:t>时，熵值为</a:t>
                </a:r>
                <a:r>
                  <a:rPr lang="en-US" altLang="zh-CN" sz="1400" b="1" dirty="0">
                    <a:ea typeface="幼圆" panose="02010509060101010101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  <a:ea typeface="Microsoft YaHei" charset="0"/>
                      </a:rPr>
                      <m:t>−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Microsoft YaHei" charset="0"/>
                      </a:rPr>
                      <m:t>=0.971</m:t>
                    </m:r>
                  </m:oMath>
                </a14:m>
                <a:endParaRPr lang="en-US" altLang="zh-CN" sz="1400" b="1" dirty="0">
                  <a:ea typeface="幼圆" panose="02010509060101010101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9D6C4DA-3A41-8747-0B77-9D39C3DEF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824" y="134028"/>
                <a:ext cx="6334626" cy="928396"/>
              </a:xfrm>
              <a:prstGeom prst="rect">
                <a:avLst/>
              </a:prstGeom>
              <a:blipFill>
                <a:blip r:embed="rId8"/>
                <a:stretch>
                  <a:fillRect l="-288" b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8B0FD3C-8621-0983-0392-7FEA4B425E9F}"/>
                  </a:ext>
                </a:extLst>
              </p:cNvPr>
              <p:cNvSpPr txBox="1"/>
              <p:nvPr/>
            </p:nvSpPr>
            <p:spPr>
              <a:xfrm>
                <a:off x="457618" y="4756937"/>
                <a:ext cx="6009431" cy="101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+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Microsoft YaHei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Microsoft YaHei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Microsoft YaHei" charset="0"/>
                          </a:rPr>
                          <m:t>3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Microsoft YaHei" charset="0"/>
                          </a:rPr>
                          <m:t>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" charset="0"/>
                      </a:rPr>
                      <m:t>=</m:t>
                    </m:r>
                  </m:oMath>
                </a14:m>
                <a:r>
                  <a:rPr lang="en-US" altLang="zh-CN" sz="1600" dirty="0"/>
                  <a:t>0.95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	gain(</a:t>
                </a:r>
                <a:r>
                  <a:rPr lang="zh-CN" altLang="en-US" dirty="0"/>
                  <a:t>气温</a:t>
                </a:r>
                <a:r>
                  <a:rPr lang="en-US" altLang="zh-CN" dirty="0"/>
                  <a:t>) =0.02 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8B0FD3C-8621-0983-0392-7FEA4B42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18" y="4756937"/>
                <a:ext cx="6009431" cy="1014830"/>
              </a:xfrm>
              <a:prstGeom prst="rect">
                <a:avLst/>
              </a:prstGeom>
              <a:blipFill>
                <a:blip r:embed="rId9"/>
                <a:stretch>
                  <a:fillRect b="-8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4EF9CF4-436A-9971-697C-88D2C141C6AD}"/>
              </a:ext>
            </a:extLst>
          </p:cNvPr>
          <p:cNvCxnSpPr/>
          <p:nvPr/>
        </p:nvCxnSpPr>
        <p:spPr>
          <a:xfrm flipV="1">
            <a:off x="2574758" y="4258488"/>
            <a:ext cx="102269" cy="508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7C100C6-8D5A-2BE3-4D07-4D5B07B6794F}"/>
              </a:ext>
            </a:extLst>
          </p:cNvPr>
          <p:cNvCxnSpPr/>
          <p:nvPr/>
        </p:nvCxnSpPr>
        <p:spPr>
          <a:xfrm flipH="1" flipV="1">
            <a:off x="7170821" y="4427621"/>
            <a:ext cx="216568" cy="631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57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3915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349269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81E8CA-91B5-BBED-6B18-34CCEAA49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995" y="1043665"/>
            <a:ext cx="6427081" cy="549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0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0168" y="-275905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473992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决策树构造实例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10" name="PA-ïṧḷiḓe">
            <a:extLst>
              <a:ext uri="{FF2B5EF4-FFF2-40B4-BE49-F238E27FC236}">
                <a16:creationId xmlns:a16="http://schemas.microsoft.com/office/drawing/2014/main" id="{94A13BB9-ED73-4B55-8839-9A6B69C2EF2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4288" y="1255488"/>
            <a:ext cx="657827" cy="638993"/>
            <a:chOff x="860271" y="1518068"/>
            <a:chExt cx="493370" cy="479245"/>
          </a:xfrm>
          <a:solidFill>
            <a:srgbClr val="33FF8F"/>
          </a:solidFill>
        </p:grpSpPr>
        <p:sp>
          <p:nvSpPr>
            <p:cNvPr id="13" name="PA-íśḻîḓé">
              <a:extLst>
                <a:ext uri="{FF2B5EF4-FFF2-40B4-BE49-F238E27FC236}">
                  <a16:creationId xmlns:a16="http://schemas.microsoft.com/office/drawing/2014/main" id="{5C93F9CD-DE58-46CC-BD62-4501DC7F2F0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60271" y="1518068"/>
              <a:ext cx="493370" cy="479245"/>
            </a:xfrm>
            <a:prstGeom prst="roundRect">
              <a:avLst>
                <a:gd name="adj" fmla="val 0"/>
              </a:avLst>
            </a:prstGeom>
            <a:solidFill>
              <a:srgbClr val="F7BF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  <p:sp>
          <p:nvSpPr>
            <p:cNvPr id="14" name="PA-îṧḻiḋé">
              <a:extLst>
                <a:ext uri="{FF2B5EF4-FFF2-40B4-BE49-F238E27FC236}">
                  <a16:creationId xmlns:a16="http://schemas.microsoft.com/office/drawing/2014/main" id="{478B06F7-4BCA-4DBF-AA61-76774C8AB4A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</p:grpSp>
      <p:sp>
        <p:nvSpPr>
          <p:cNvPr id="20" name="PA-FooterText ">
            <a:extLst>
              <a:ext uri="{FF2B5EF4-FFF2-40B4-BE49-F238E27FC236}">
                <a16:creationId xmlns:a16="http://schemas.microsoft.com/office/drawing/2014/main" id="{C1DA799B-566C-405B-BEFC-6E3ADF63E6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H="1">
            <a:off x="1568683" y="1894481"/>
            <a:ext cx="8838509" cy="34817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bg1">
                    <a:lumMod val="85000"/>
                  </a:schemeClr>
                </a:solidFill>
                <a:latin typeface="A思源黑体—01" panose="020B0200000000000000" pitchFamily="34" charset="-122"/>
                <a:ea typeface="A思源黑体—01" panose="020B0200000000000000" pitchFamily="34" charset="-122"/>
              </a:defRPr>
            </a:lvl1pPr>
          </a:lstStyle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ID3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信息增益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有什么问题呢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? )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C4.5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信息增益率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解决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ID3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问题，考虑自身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CART: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系数来当做衡量标准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: </a:t>
            </a:r>
          </a:p>
          <a:p>
            <a:pPr defTabSz="609585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和熵的衡量标准类似，计算方式不相同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439CE6D4-ED4A-8C9C-5FEC-7BA8EE7D9403}"/>
              </a:ext>
            </a:extLst>
          </p:cNvPr>
          <p:cNvSpPr txBox="1"/>
          <p:nvPr/>
        </p:nvSpPr>
        <p:spPr>
          <a:xfrm>
            <a:off x="1568683" y="1360901"/>
            <a:ext cx="2076931" cy="415854"/>
          </a:xfrm>
          <a:prstGeom prst="rect">
            <a:avLst/>
          </a:prstGeom>
          <a:noFill/>
        </p:spPr>
        <p:txBody>
          <a:bodyPr wrap="square" lIns="46072" tIns="23036" rIns="46072" bIns="23036" rtlCol="0">
            <a:spAutoFit/>
          </a:bodyPr>
          <a:lstStyle>
            <a:defPPr>
              <a:defRPr lang="zh-CN"/>
            </a:defPPr>
            <a:lvl1pPr defTabSz="1219170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r>
              <a:rPr lang="zh-CN" altLang="en-US" b="1" dirty="0"/>
              <a:t>决策树算法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9AE434-2A6C-DA7E-15C5-483935266B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8849" y="4350048"/>
            <a:ext cx="3152391" cy="55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9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9328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A395FD-5729-4304-AED7-D646974B1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039" y="296778"/>
            <a:ext cx="3949709" cy="49046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F5B8344-EC0F-3EAA-C070-3060C0101B39}"/>
              </a:ext>
            </a:extLst>
          </p:cNvPr>
          <p:cNvSpPr txBox="1"/>
          <p:nvPr/>
        </p:nvSpPr>
        <p:spPr>
          <a:xfrm>
            <a:off x="321039" y="5025714"/>
            <a:ext cx="1688235" cy="668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C4.5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算法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4CE5D2-CBA2-00A6-3284-83FDA3F35C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391" y="296778"/>
            <a:ext cx="5094188" cy="62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3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9328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A395FD-5729-4304-AED7-D646974B1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039" y="296778"/>
            <a:ext cx="3949709" cy="49046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F5B8344-EC0F-3EAA-C070-3060C0101B39}"/>
              </a:ext>
            </a:extLst>
          </p:cNvPr>
          <p:cNvSpPr txBox="1"/>
          <p:nvPr/>
        </p:nvSpPr>
        <p:spPr>
          <a:xfrm>
            <a:off x="321039" y="5025714"/>
            <a:ext cx="1688235" cy="668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C4.5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算法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263163C-9005-1E56-5125-77920388B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33" y="216568"/>
            <a:ext cx="4735620" cy="653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2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9328" y="-266700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A395FD-5729-4304-AED7-D646974B1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039" y="296778"/>
            <a:ext cx="3949709" cy="49046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F5B8344-EC0F-3EAA-C070-3060C0101B39}"/>
              </a:ext>
            </a:extLst>
          </p:cNvPr>
          <p:cNvSpPr txBox="1"/>
          <p:nvPr/>
        </p:nvSpPr>
        <p:spPr>
          <a:xfrm>
            <a:off x="321039" y="5025714"/>
            <a:ext cx="1688235" cy="668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C4.5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算法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44204B-0AAB-0333-159D-E49EC25089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84" y="1010652"/>
            <a:ext cx="7334960" cy="501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3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7742" y="-266197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5823C-3F8A-84DA-ABE9-E09B44D16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4" y="296778"/>
            <a:ext cx="4898976" cy="30294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75C37D8-AB33-8ADA-6356-147DFA99E151}"/>
              </a:ext>
            </a:extLst>
          </p:cNvPr>
          <p:cNvSpPr txBox="1"/>
          <p:nvPr/>
        </p:nvSpPr>
        <p:spPr>
          <a:xfrm>
            <a:off x="413084" y="3326207"/>
            <a:ext cx="4519863" cy="182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CART: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系数来当做衡量标准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: </a:t>
            </a:r>
          </a:p>
          <a:p>
            <a:pPr defTabSz="609585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和熵的衡量标准类似，计算方式不相同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BC6D3A-A12D-DADE-1A97-7C382A6CB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234" y="4240143"/>
            <a:ext cx="3152391" cy="5568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479DA8-3D16-E443-673A-9C112D6904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473" y="288757"/>
            <a:ext cx="4898976" cy="629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6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7742" y="-266197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5823C-3F8A-84DA-ABE9-E09B44D16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4" y="296778"/>
            <a:ext cx="4898976" cy="30294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75C37D8-AB33-8ADA-6356-147DFA99E151}"/>
              </a:ext>
            </a:extLst>
          </p:cNvPr>
          <p:cNvSpPr txBox="1"/>
          <p:nvPr/>
        </p:nvSpPr>
        <p:spPr>
          <a:xfrm>
            <a:off x="413084" y="3326207"/>
            <a:ext cx="4519863" cy="182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CART: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系数来当做衡量标准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: </a:t>
            </a:r>
          </a:p>
          <a:p>
            <a:pPr defTabSz="609585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和熵的衡量标准类似，计算方式不相同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BC6D3A-A12D-DADE-1A97-7C382A6CB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234" y="4240143"/>
            <a:ext cx="3152391" cy="5568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ADB434-FA31-8B44-5C60-52337610EA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450" y="667753"/>
            <a:ext cx="4835792" cy="571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87742" y="-266197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5823C-3F8A-84DA-ABE9-E09B44D16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4" y="296778"/>
            <a:ext cx="4898976" cy="30294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75C37D8-AB33-8ADA-6356-147DFA99E151}"/>
              </a:ext>
            </a:extLst>
          </p:cNvPr>
          <p:cNvSpPr txBox="1"/>
          <p:nvPr/>
        </p:nvSpPr>
        <p:spPr>
          <a:xfrm>
            <a:off x="413084" y="3326207"/>
            <a:ext cx="4519863" cy="182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CART: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系数来当做衡量标准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GINI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系数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: </a:t>
            </a:r>
          </a:p>
          <a:p>
            <a:pPr defTabSz="609585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和熵的衡量标准类似，计算方式不相同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BC6D3A-A12D-DADE-1A97-7C382A6CB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234" y="4240143"/>
            <a:ext cx="3152391" cy="5568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510D8B-126C-A6E5-06CF-41F4236326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443" y="428234"/>
            <a:ext cx="5287676" cy="59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9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0BA8C-F597-4E9A-916F-AF7AB1DAF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2DA249-CB39-4AB8-8C0F-FD98E778E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086B18-1B73-4442-8316-8D2A0AA3F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80" y="-450377"/>
            <a:ext cx="6138789" cy="7308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E894F9-94A8-4D6F-BDBD-F11B113C8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791E304B-6FC4-4571-A756-90C65B169970}"/>
              </a:ext>
            </a:extLst>
          </p:cNvPr>
          <p:cNvSpPr/>
          <p:nvPr/>
        </p:nvSpPr>
        <p:spPr>
          <a:xfrm>
            <a:off x="1247958" y="1528009"/>
            <a:ext cx="3994574" cy="3994574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265B44A-8E82-45E0-A65D-59C076E43E9A}"/>
              </a:ext>
            </a:extLst>
          </p:cNvPr>
          <p:cNvSpPr/>
          <p:nvPr/>
        </p:nvSpPr>
        <p:spPr>
          <a:xfrm>
            <a:off x="4428969" y="4164641"/>
            <a:ext cx="1631141" cy="163114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31C4360-5EE9-4450-A286-428E41409E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8679" y="1147205"/>
            <a:ext cx="6397408" cy="55145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A28DCF-6EA1-4B2D-9107-EFB9385033C0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E8D0C1-6169-47EA-9BB5-DF699FBF915A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7491A86C-C6CA-4C91-9CD4-2ACDC957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19" y="4539536"/>
            <a:ext cx="1573674" cy="881350"/>
          </a:xfrm>
        </p:spPr>
        <p:txBody>
          <a:bodyPr vert="horz">
            <a:noAutofit/>
          </a:bodyPr>
          <a:lstStyle/>
          <a:p>
            <a:pPr algn="ctr"/>
            <a:r>
              <a:rPr lang="en-US" altLang="zh-CN" sz="4800" spc="600" dirty="0"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4800" spc="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587C52-3D3D-40C3-9643-96DBBEC9C770}"/>
              </a:ext>
            </a:extLst>
          </p:cNvPr>
          <p:cNvSpPr txBox="1"/>
          <p:nvPr/>
        </p:nvSpPr>
        <p:spPr>
          <a:xfrm flipH="1">
            <a:off x="1820632" y="2307210"/>
            <a:ext cx="280217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PART FOUR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C7ECD-686F-437B-A0F2-6BF8196B6F2B}"/>
              </a:ext>
            </a:extLst>
          </p:cNvPr>
          <p:cNvSpPr txBox="1"/>
          <p:nvPr/>
        </p:nvSpPr>
        <p:spPr>
          <a:xfrm flipH="1">
            <a:off x="1696415" y="3234595"/>
            <a:ext cx="3246159" cy="16462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>
              <a:lnSpc>
                <a:spcPts val="6500"/>
              </a:lnSpc>
            </a:pPr>
            <a:r>
              <a:rPr lang="zh-CN" altLang="en-US" sz="4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预剪枝和后剪枝</a:t>
            </a:r>
            <a:endParaRPr lang="en-US" altLang="zh-CN" sz="4400" spc="3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065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ferris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0168" y="-275905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473992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预剪枝和后剪枝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10" name="PA-ïṧḷiḓe">
            <a:extLst>
              <a:ext uri="{FF2B5EF4-FFF2-40B4-BE49-F238E27FC236}">
                <a16:creationId xmlns:a16="http://schemas.microsoft.com/office/drawing/2014/main" id="{94A13BB9-ED73-4B55-8839-9A6B69C2EF2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4288" y="1255488"/>
            <a:ext cx="657827" cy="638993"/>
            <a:chOff x="860271" y="1518068"/>
            <a:chExt cx="493370" cy="479245"/>
          </a:xfrm>
          <a:solidFill>
            <a:srgbClr val="33FF8F"/>
          </a:solidFill>
        </p:grpSpPr>
        <p:sp>
          <p:nvSpPr>
            <p:cNvPr id="13" name="PA-íśḻîḓé">
              <a:extLst>
                <a:ext uri="{FF2B5EF4-FFF2-40B4-BE49-F238E27FC236}">
                  <a16:creationId xmlns:a16="http://schemas.microsoft.com/office/drawing/2014/main" id="{5C93F9CD-DE58-46CC-BD62-4501DC7F2F0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60271" y="1518068"/>
              <a:ext cx="493370" cy="479245"/>
            </a:xfrm>
            <a:prstGeom prst="roundRect">
              <a:avLst>
                <a:gd name="adj" fmla="val 0"/>
              </a:avLst>
            </a:prstGeom>
            <a:solidFill>
              <a:srgbClr val="F7BF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  <p:sp>
          <p:nvSpPr>
            <p:cNvPr id="14" name="PA-îṧḻiḋé">
              <a:extLst>
                <a:ext uri="{FF2B5EF4-FFF2-40B4-BE49-F238E27FC236}">
                  <a16:creationId xmlns:a16="http://schemas.microsoft.com/office/drawing/2014/main" id="{478B06F7-4BCA-4DBF-AA61-76774C8AB4A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</p:grpSp>
      <p:sp>
        <p:nvSpPr>
          <p:cNvPr id="20" name="PA-FooterText ">
            <a:extLst>
              <a:ext uri="{FF2B5EF4-FFF2-40B4-BE49-F238E27FC236}">
                <a16:creationId xmlns:a16="http://schemas.microsoft.com/office/drawing/2014/main" id="{C1DA799B-566C-405B-BEFC-6E3ADF63E6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H="1">
            <a:off x="1568683" y="1894481"/>
            <a:ext cx="8838509" cy="34317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bg1">
                    <a:lumMod val="85000"/>
                  </a:schemeClr>
                </a:solidFill>
                <a:latin typeface="A思源黑体—01" panose="020B0200000000000000" pitchFamily="34" charset="-122"/>
                <a:ea typeface="A思源黑体—01" panose="020B0200000000000000" pitchFamily="34" charset="-122"/>
              </a:defRPr>
            </a:lvl1pPr>
          </a:lstStyle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为什么要剪枝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: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决策树</a:t>
            </a: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过拟合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风险很大，理论上可以完全分得开数据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  <a:p>
            <a:pPr defTabSz="609585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(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想象一下，如果树足够庞大，每个叶子节点不就一个数据了嘛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剪枝策略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预剪枝，后剪枝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预剪枝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边建立决策树边进行剪枝的操作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更实用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)</a:t>
            </a: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后剪枝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当建立完决策树后来进行剪枝操作</a:t>
            </a:r>
            <a:endParaRPr lang="en-US" altLang="zh-CN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439CE6D4-ED4A-8C9C-5FEC-7BA8EE7D9403}"/>
              </a:ext>
            </a:extLst>
          </p:cNvPr>
          <p:cNvSpPr txBox="1"/>
          <p:nvPr/>
        </p:nvSpPr>
        <p:spPr>
          <a:xfrm>
            <a:off x="1568683" y="1360901"/>
            <a:ext cx="2281422" cy="415854"/>
          </a:xfrm>
          <a:prstGeom prst="rect">
            <a:avLst/>
          </a:prstGeom>
          <a:noFill/>
        </p:spPr>
        <p:txBody>
          <a:bodyPr wrap="square" lIns="46072" tIns="23036" rIns="46072" bIns="23036" rtlCol="0">
            <a:spAutoFit/>
          </a:bodyPr>
          <a:lstStyle>
            <a:defPPr>
              <a:defRPr lang="zh-CN"/>
            </a:defPPr>
            <a:lvl1pPr defTabSz="1219170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r>
              <a:rPr lang="zh-CN" altLang="en-US" b="1" dirty="0"/>
              <a:t>决策树剪枝策略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7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0168" y="-275905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473992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预剪枝和后剪枝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10" name="PA-ïṧḷiḓe">
            <a:extLst>
              <a:ext uri="{FF2B5EF4-FFF2-40B4-BE49-F238E27FC236}">
                <a16:creationId xmlns:a16="http://schemas.microsoft.com/office/drawing/2014/main" id="{94A13BB9-ED73-4B55-8839-9A6B69C2EF2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4288" y="1255488"/>
            <a:ext cx="657827" cy="638993"/>
            <a:chOff x="860271" y="1518068"/>
            <a:chExt cx="493370" cy="479245"/>
          </a:xfrm>
          <a:solidFill>
            <a:srgbClr val="33FF8F"/>
          </a:solidFill>
        </p:grpSpPr>
        <p:sp>
          <p:nvSpPr>
            <p:cNvPr id="13" name="PA-íśḻîḓé">
              <a:extLst>
                <a:ext uri="{FF2B5EF4-FFF2-40B4-BE49-F238E27FC236}">
                  <a16:creationId xmlns:a16="http://schemas.microsoft.com/office/drawing/2014/main" id="{5C93F9CD-DE58-46CC-BD62-4501DC7F2F0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60271" y="1518068"/>
              <a:ext cx="493370" cy="479245"/>
            </a:xfrm>
            <a:prstGeom prst="roundRect">
              <a:avLst>
                <a:gd name="adj" fmla="val 0"/>
              </a:avLst>
            </a:prstGeom>
            <a:solidFill>
              <a:srgbClr val="F7BF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  <p:sp>
          <p:nvSpPr>
            <p:cNvPr id="14" name="PA-îṧḻiḋé">
              <a:extLst>
                <a:ext uri="{FF2B5EF4-FFF2-40B4-BE49-F238E27FC236}">
                  <a16:creationId xmlns:a16="http://schemas.microsoft.com/office/drawing/2014/main" id="{478B06F7-4BCA-4DBF-AA61-76774C8AB4A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</p:grpSp>
      <p:sp>
        <p:nvSpPr>
          <p:cNvPr id="20" name="PA-FooterText ">
            <a:extLst>
              <a:ext uri="{FF2B5EF4-FFF2-40B4-BE49-F238E27FC236}">
                <a16:creationId xmlns:a16="http://schemas.microsoft.com/office/drawing/2014/main" id="{C1DA799B-566C-405B-BEFC-6E3ADF63E6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H="1">
            <a:off x="1568682" y="1894481"/>
            <a:ext cx="4042067" cy="274305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bg1">
                    <a:lumMod val="85000"/>
                  </a:schemeClr>
                </a:solidFill>
                <a:latin typeface="A思源黑体—01" panose="020B0200000000000000" pitchFamily="34" charset="-122"/>
                <a:ea typeface="A思源黑体—01" panose="020B0200000000000000" pitchFamily="34" charset="-122"/>
              </a:defRPr>
            </a:lvl1pPr>
          </a:lstStyle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预剪枝：限制深度，叶子节点个数，叶        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	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子节点样本数，信息增量等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+mn-ea"/>
              <a:sym typeface="+mn-lt"/>
            </a:endParaRP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zh-CN" altLang="en-US" b="1" dirty="0">
                <a:solidFill>
                  <a:srgbClr val="FF0000"/>
                </a:solidFill>
                <a:ea typeface="幼圆" panose="02010509060101010101"/>
              </a:rPr>
              <a:t>🖊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后剪枝</a:t>
            </a:r>
            <a:r>
              <a:rPr lang="en-US" altLang="zh-CN" b="1" dirty="0">
                <a:solidFill>
                  <a:schemeClr val="tx1"/>
                </a:solidFill>
                <a:ea typeface="幼圆" panose="02010509060101010101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幼圆" panose="02010509060101010101"/>
              </a:rPr>
              <a:t>通过一定的衡量标准</a:t>
            </a:r>
            <a:endParaRPr lang="en-US" altLang="zh-CN" b="1" dirty="0">
              <a:solidFill>
                <a:schemeClr val="tx1"/>
              </a:solidFill>
              <a:ea typeface="幼圆" panose="02010509060101010101"/>
            </a:endParaRPr>
          </a:p>
          <a:p>
            <a:pPr defTabSz="609585">
              <a:lnSpc>
                <a:spcPct val="2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	(</a:t>
            </a:r>
            <a:r>
              <a:rPr lang="zh-CN" altLang="en-US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叶子节点越多，损失越大</a:t>
            </a:r>
            <a:r>
              <a:rPr lang="en-US" altLang="zh-CN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+mn-lt"/>
              </a:rPr>
              <a:t>)</a:t>
            </a:r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439CE6D4-ED4A-8C9C-5FEC-7BA8EE7D9403}"/>
              </a:ext>
            </a:extLst>
          </p:cNvPr>
          <p:cNvSpPr txBox="1"/>
          <p:nvPr/>
        </p:nvSpPr>
        <p:spPr>
          <a:xfrm>
            <a:off x="1568683" y="1360901"/>
            <a:ext cx="2281422" cy="415854"/>
          </a:xfrm>
          <a:prstGeom prst="rect">
            <a:avLst/>
          </a:prstGeom>
          <a:noFill/>
        </p:spPr>
        <p:txBody>
          <a:bodyPr wrap="square" lIns="46072" tIns="23036" rIns="46072" bIns="23036" rtlCol="0">
            <a:spAutoFit/>
          </a:bodyPr>
          <a:lstStyle>
            <a:defPPr>
              <a:defRPr lang="zh-CN"/>
            </a:defPPr>
            <a:lvl1pPr defTabSz="1219170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r>
              <a:rPr lang="zh-CN" altLang="en-US" b="1" dirty="0"/>
              <a:t>决策树剪枝策略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FACBE2-A4FA-BCDA-4D09-942546E83F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5880" y="3965007"/>
            <a:ext cx="2278754" cy="3770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C0015F-2CFE-29EC-A706-5E480A92E9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7572" y="619575"/>
            <a:ext cx="5368650" cy="531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3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0BA8C-F597-4E9A-916F-AF7AB1DAF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2DA249-CB39-4AB8-8C0F-FD98E778E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086B18-1B73-4442-8316-8D2A0AA3F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80" y="-450377"/>
            <a:ext cx="6138789" cy="7308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E894F9-94A8-4D6F-BDBD-F11B113C8C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791E304B-6FC4-4571-A756-90C65B169970}"/>
              </a:ext>
            </a:extLst>
          </p:cNvPr>
          <p:cNvSpPr/>
          <p:nvPr/>
        </p:nvSpPr>
        <p:spPr>
          <a:xfrm>
            <a:off x="1247958" y="1528009"/>
            <a:ext cx="3994574" cy="3994574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265B44A-8E82-45E0-A65D-59C076E43E9A}"/>
              </a:ext>
            </a:extLst>
          </p:cNvPr>
          <p:cNvSpPr/>
          <p:nvPr/>
        </p:nvSpPr>
        <p:spPr>
          <a:xfrm>
            <a:off x="4428969" y="4164641"/>
            <a:ext cx="1631141" cy="163114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31C4360-5EE9-4450-A286-428E41409E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8679" y="1147205"/>
            <a:ext cx="6397408" cy="55145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A28DCF-6EA1-4B2D-9107-EFB9385033C0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E8D0C1-6169-47EA-9BB5-DF699FBF915A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7491A86C-C6CA-4C91-9CD4-2ACDC957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19" y="4539536"/>
            <a:ext cx="1573674" cy="881350"/>
          </a:xfrm>
        </p:spPr>
        <p:txBody>
          <a:bodyPr vert="horz">
            <a:noAutofit/>
          </a:bodyPr>
          <a:lstStyle/>
          <a:p>
            <a:pPr algn="ctr"/>
            <a:r>
              <a:rPr lang="en-US" altLang="zh-CN" sz="4800" spc="600" dirty="0">
                <a:latin typeface="幼圆" panose="02010509060101010101" pitchFamily="49" charset="-122"/>
                <a:ea typeface="幼圆" panose="02010509060101010101" pitchFamily="49" charset="-122"/>
              </a:rPr>
              <a:t>05</a:t>
            </a:r>
            <a:endParaRPr lang="zh-CN" altLang="en-US" sz="4800" spc="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587C52-3D3D-40C3-9643-96DBBEC9C770}"/>
              </a:ext>
            </a:extLst>
          </p:cNvPr>
          <p:cNvSpPr txBox="1"/>
          <p:nvPr/>
        </p:nvSpPr>
        <p:spPr>
          <a:xfrm flipH="1">
            <a:off x="1820632" y="2307210"/>
            <a:ext cx="280217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PART FIVE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C7ECD-686F-437B-A0F2-6BF8196B6F2B}"/>
              </a:ext>
            </a:extLst>
          </p:cNvPr>
          <p:cNvSpPr txBox="1"/>
          <p:nvPr/>
        </p:nvSpPr>
        <p:spPr>
          <a:xfrm flipH="1">
            <a:off x="1696415" y="3234595"/>
            <a:ext cx="3246159" cy="8127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>
              <a:lnSpc>
                <a:spcPts val="6500"/>
              </a:lnSpc>
            </a:pPr>
            <a:r>
              <a:rPr lang="zh-CN" altLang="en-US" sz="4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代码</a:t>
            </a:r>
            <a:endParaRPr lang="en-US" altLang="zh-CN" sz="4400" spc="3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575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ferris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7" grpId="0"/>
      <p:bldP spid="48" grpId="0"/>
      <p:bldP spid="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A16A3-4FA0-4CF6-8EC9-B75101096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0168" y="-2759052"/>
            <a:ext cx="6858002" cy="1219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4B6CF1-6B81-4725-8899-A44DAE649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AC18C9-84E2-4290-80FE-6291B8D3D4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DF8232-923B-4C6E-995B-3BAF926D4956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ABCDCA-8F3C-4CAE-B969-C687D54F7240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C826E15-431C-4226-A5DF-784EE4BDD4A6}"/>
              </a:ext>
            </a:extLst>
          </p:cNvPr>
          <p:cNvSpPr/>
          <p:nvPr/>
        </p:nvSpPr>
        <p:spPr>
          <a:xfrm>
            <a:off x="477671" y="465317"/>
            <a:ext cx="545531" cy="54553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C9C431-0FDE-4E0D-A91A-E6949C41DC5E}"/>
              </a:ext>
            </a:extLst>
          </p:cNvPr>
          <p:cNvSpPr txBox="1"/>
          <p:nvPr/>
        </p:nvSpPr>
        <p:spPr>
          <a:xfrm flipH="1">
            <a:off x="1119457" y="226198"/>
            <a:ext cx="4739921" cy="7867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000">
                <a:gradFill flip="none" rotWithShape="1">
                  <a:gsLst>
                    <a:gs pos="0">
                      <a:srgbClr val="62FFFF"/>
                    </a:gs>
                    <a:gs pos="100000">
                      <a:srgbClr val="0D69FF"/>
                    </a:gs>
                  </a:gsLst>
                  <a:lin ang="2700000" scaled="1"/>
                  <a:tileRect/>
                </a:gradFill>
                <a:latin typeface="Agency FB" panose="020B0503020202020204" pitchFamily="34" charset="0"/>
              </a:defRPr>
            </a:lvl1pPr>
          </a:lstStyle>
          <a:p>
            <a:pPr algn="l">
              <a:lnSpc>
                <a:spcPts val="65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Source Han Sans CN" charset="-122"/>
              </a:rPr>
              <a:t>代码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cs typeface="Source Han Sans CN" charset="-122"/>
            </a:endParaRPr>
          </a:p>
        </p:txBody>
      </p:sp>
      <p:grpSp>
        <p:nvGrpSpPr>
          <p:cNvPr id="10" name="PA-ïṧḷiḓe">
            <a:extLst>
              <a:ext uri="{FF2B5EF4-FFF2-40B4-BE49-F238E27FC236}">
                <a16:creationId xmlns:a16="http://schemas.microsoft.com/office/drawing/2014/main" id="{94A13BB9-ED73-4B55-8839-9A6B69C2EF2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4288" y="1255488"/>
            <a:ext cx="657827" cy="638993"/>
            <a:chOff x="860271" y="1518068"/>
            <a:chExt cx="493370" cy="479245"/>
          </a:xfrm>
          <a:solidFill>
            <a:srgbClr val="33FF8F"/>
          </a:solidFill>
        </p:grpSpPr>
        <p:sp>
          <p:nvSpPr>
            <p:cNvPr id="13" name="PA-íśḻîḓé">
              <a:extLst>
                <a:ext uri="{FF2B5EF4-FFF2-40B4-BE49-F238E27FC236}">
                  <a16:creationId xmlns:a16="http://schemas.microsoft.com/office/drawing/2014/main" id="{5C93F9CD-DE58-46CC-BD62-4501DC7F2F0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60271" y="1518068"/>
              <a:ext cx="493370" cy="479245"/>
            </a:xfrm>
            <a:prstGeom prst="roundRect">
              <a:avLst>
                <a:gd name="adj" fmla="val 0"/>
              </a:avLst>
            </a:prstGeom>
            <a:solidFill>
              <a:srgbClr val="F7BF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  <p:sp>
          <p:nvSpPr>
            <p:cNvPr id="14" name="PA-îṧḻiḋé">
              <a:extLst>
                <a:ext uri="{FF2B5EF4-FFF2-40B4-BE49-F238E27FC236}">
                  <a16:creationId xmlns:a16="http://schemas.microsoft.com/office/drawing/2014/main" id="{478B06F7-4BCA-4DBF-AA61-76774C8AB4A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Light" panose="020B0300000000000000" pitchFamily="34" charset="-122"/>
                <a:ea typeface="思源黑体 Light"/>
                <a:cs typeface="+mn-cs"/>
              </a:endParaRPr>
            </a:p>
          </p:txBody>
        </p:sp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F2EAF2-90DF-4EB4-8DCF-A9282A5B28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730973"/>
              </p:ext>
            </p:extLst>
          </p:nvPr>
        </p:nvGraphicFramePr>
        <p:xfrm>
          <a:off x="1568683" y="2256495"/>
          <a:ext cx="486248" cy="29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9" imgW="548280" imgH="396720" progId="Package">
                  <p:embed/>
                </p:oleObj>
              </mc:Choice>
              <mc:Fallback>
                <p:oleObj name="包装程序外壳对象" showAsIcon="1" r:id="rId9" imgW="548280" imgH="3967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68683" y="2256495"/>
                        <a:ext cx="486248" cy="291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41">
            <a:extLst>
              <a:ext uri="{FF2B5EF4-FFF2-40B4-BE49-F238E27FC236}">
                <a16:creationId xmlns:a16="http://schemas.microsoft.com/office/drawing/2014/main" id="{E0EE51EB-92C9-F559-F01F-60B58F44C442}"/>
              </a:ext>
            </a:extLst>
          </p:cNvPr>
          <p:cNvSpPr txBox="1"/>
          <p:nvPr/>
        </p:nvSpPr>
        <p:spPr>
          <a:xfrm>
            <a:off x="1568682" y="1360901"/>
            <a:ext cx="4380934" cy="323521"/>
          </a:xfrm>
          <a:prstGeom prst="rect">
            <a:avLst/>
          </a:prstGeom>
          <a:noFill/>
        </p:spPr>
        <p:txBody>
          <a:bodyPr wrap="square" lIns="46072" tIns="23036" rIns="46072" bIns="23036" rtlCol="0">
            <a:spAutoFit/>
          </a:bodyPr>
          <a:lstStyle>
            <a:defPPr>
              <a:defRPr lang="zh-CN"/>
            </a:defPPr>
            <a:lvl1pPr defTabSz="1219170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包图简圆体" panose="02010601030101010101" pitchFamily="2" charset="-122"/>
                <a:ea typeface="包图简圆体" panose="02010601030101010101" pitchFamily="2" charset="-122"/>
              </a:defRPr>
            </a:lvl1pPr>
          </a:lstStyle>
          <a:p>
            <a:r>
              <a:rPr lang="zh-CN" altLang="en-US" sz="1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使用</a:t>
            </a:r>
            <a:r>
              <a:rPr lang="zh-CN" altLang="zh-CN" sz="1800" b="1" dirty="0">
                <a:solidFill>
                  <a:srgbClr val="1E4E79"/>
                </a:solidFill>
                <a:effectLst/>
                <a:ea typeface="Calibri" panose="020F0502020204030204" pitchFamily="34" charset="0"/>
              </a:rPr>
              <a:t>scikit-learn</a:t>
            </a:r>
            <a:r>
              <a:rPr lang="zh-CN" altLang="en-US" sz="1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，也就是</a:t>
            </a:r>
            <a:r>
              <a:rPr lang="en-US" altLang="zh-CN" sz="1800" b="1" dirty="0" err="1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sklearn</a:t>
            </a:r>
            <a:r>
              <a:rPr lang="zh-CN" altLang="en-US" sz="1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来实现</a:t>
            </a:r>
            <a:endParaRPr lang="zh-CN" altLang="en-US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186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48EE49-51CB-4F7D-B288-129FD1287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8"/>
            <a:ext cx="6858002" cy="1219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D754AA3-0420-4588-B495-FE2364321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4270748" cy="9306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21926A-6F97-4AD3-B6DB-FCC3C22702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65" y="5522583"/>
            <a:ext cx="4306520" cy="13354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B97DDD-FB91-4917-A104-25C68B0DE5D9}"/>
              </a:ext>
            </a:extLst>
          </p:cNvPr>
          <p:cNvSpPr/>
          <p:nvPr/>
        </p:nvSpPr>
        <p:spPr>
          <a:xfrm>
            <a:off x="216568" y="216568"/>
            <a:ext cx="11754849" cy="6436894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C66F5B-D4A8-4943-BC24-3781172F8073}"/>
              </a:ext>
            </a:extLst>
          </p:cNvPr>
          <p:cNvSpPr/>
          <p:nvPr/>
        </p:nvSpPr>
        <p:spPr>
          <a:xfrm>
            <a:off x="312824" y="296778"/>
            <a:ext cx="11562345" cy="627246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77F747-26F6-49AB-98C2-838398FC2A0E}"/>
              </a:ext>
            </a:extLst>
          </p:cNvPr>
          <p:cNvSpPr/>
          <p:nvPr/>
        </p:nvSpPr>
        <p:spPr>
          <a:xfrm>
            <a:off x="1774158" y="-3"/>
            <a:ext cx="8566484" cy="6858001"/>
          </a:xfrm>
          <a:prstGeom prst="rect">
            <a:avLst/>
          </a:prstGeom>
          <a:blipFill dpi="0" rotWithShape="1">
            <a:blip r:embed="rId6">
              <a:alphaModFix amt="5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7069E9-0794-48B6-A513-B45C88581C7A}"/>
              </a:ext>
            </a:extLst>
          </p:cNvPr>
          <p:cNvSpPr/>
          <p:nvPr/>
        </p:nvSpPr>
        <p:spPr>
          <a:xfrm>
            <a:off x="4202607" y="1412929"/>
            <a:ext cx="779811" cy="779811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36F2DE6-6CE3-4C36-B7C7-5262B044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031" y="2851285"/>
            <a:ext cx="6897806" cy="1325563"/>
          </a:xfrm>
        </p:spPr>
        <p:txBody>
          <a:bodyPr>
            <a:noAutofit/>
          </a:bodyPr>
          <a:lstStyle/>
          <a:p>
            <a:pPr algn="ctr"/>
            <a:r>
              <a:rPr lang="zh-CN" altLang="en-US" sz="8000" spc="600" dirty="0">
                <a:latin typeface="幼圆" panose="02010509060101010101" pitchFamily="49" charset="-122"/>
                <a:ea typeface="幼圆" panose="02010509060101010101" pitchFamily="49" charset="-122"/>
              </a:rPr>
              <a:t>感谢您的欣赏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6149B32-B38A-4288-B1C6-67DF1629A67F}"/>
              </a:ext>
            </a:extLst>
          </p:cNvPr>
          <p:cNvGrpSpPr/>
          <p:nvPr/>
        </p:nvGrpSpPr>
        <p:grpSpPr>
          <a:xfrm>
            <a:off x="1453211" y="3245457"/>
            <a:ext cx="1266151" cy="537218"/>
            <a:chOff x="2119312" y="1260814"/>
            <a:chExt cx="8017062" cy="3401575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867FE81-18DC-425F-95AC-4DF43AA58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312" y="3109811"/>
              <a:ext cx="7953376" cy="155257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6485AAB-B029-4D96-AE50-BD20CA54D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374" y="1260814"/>
              <a:ext cx="8001000" cy="1647825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C6C0111-82B9-4549-85B0-A4F4A7F7F6C6}"/>
              </a:ext>
            </a:extLst>
          </p:cNvPr>
          <p:cNvGrpSpPr/>
          <p:nvPr/>
        </p:nvGrpSpPr>
        <p:grpSpPr>
          <a:xfrm flipH="1">
            <a:off x="9470101" y="3237093"/>
            <a:ext cx="1266151" cy="537218"/>
            <a:chOff x="2119312" y="1260814"/>
            <a:chExt cx="8017062" cy="340157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5B2D54E-9AA8-40D0-B5F6-763DCD28B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9312" y="3109811"/>
              <a:ext cx="7953376" cy="1552578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5A0C6A0-9A20-4826-BC00-84F833E7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5374" y="1260814"/>
              <a:ext cx="8001000" cy="1647825"/>
            </a:xfrm>
            <a:prstGeom prst="rect">
              <a:avLst/>
            </a:prstGeom>
          </p:spPr>
        </p:pic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FF579A30-7E97-4D8E-AD4F-870B431AECD6}"/>
              </a:ext>
            </a:extLst>
          </p:cNvPr>
          <p:cNvSpPr/>
          <p:nvPr/>
        </p:nvSpPr>
        <p:spPr>
          <a:xfrm>
            <a:off x="3009274" y="2405707"/>
            <a:ext cx="6096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300" dirty="0">
                <a:latin typeface="幼圆" panose="02010509060101010101" pitchFamily="49" charset="-122"/>
                <a:ea typeface="幼圆" panose="02010509060101010101" pitchFamily="49" charset="-122"/>
              </a:rPr>
              <a:t>决策树讲完了，完结撒花❀ ❀ ❀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E3AA602C-34F4-4615-A182-68E11CBFCFCF}"/>
              </a:ext>
            </a:extLst>
          </p:cNvPr>
          <p:cNvSpPr txBox="1">
            <a:spLocks/>
          </p:cNvSpPr>
          <p:nvPr/>
        </p:nvSpPr>
        <p:spPr>
          <a:xfrm>
            <a:off x="4082907" y="4257058"/>
            <a:ext cx="3798558" cy="4499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800" dirty="0">
                <a:latin typeface="幼圆" panose="02010509060101010101" pitchFamily="49" charset="-122"/>
                <a:ea typeface="幼圆" panose="02010509060101010101" pitchFamily="49" charset="-122"/>
              </a:rPr>
              <a:t>汇报人：</a:t>
            </a:r>
            <a:r>
              <a:rPr lang="en-US" altLang="zh-CN" sz="1800" dirty="0" err="1">
                <a:latin typeface="幼圆" panose="02010509060101010101" pitchFamily="49" charset="-122"/>
                <a:ea typeface="幼圆" panose="02010509060101010101" pitchFamily="49" charset="-122"/>
              </a:rPr>
              <a:t>Last_Reincarnation</a:t>
            </a:r>
            <a:endParaRPr lang="en-US" altLang="zh-CN" sz="18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1800" dirty="0">
                <a:latin typeface="幼圆" panose="02010509060101010101" pitchFamily="49" charset="-122"/>
                <a:ea typeface="幼圆" panose="02010509060101010101" pitchFamily="49" charset="-122"/>
              </a:rPr>
              <a:t>时间：</a:t>
            </a:r>
            <a:r>
              <a:rPr lang="en-US" altLang="zh-CN" sz="1800" dirty="0">
                <a:latin typeface="幼圆" panose="02010509060101010101" pitchFamily="49" charset="-122"/>
                <a:ea typeface="幼圆" panose="02010509060101010101" pitchFamily="49" charset="-122"/>
              </a:rPr>
              <a:t>2023.11</a:t>
            </a:r>
            <a:endParaRPr lang="zh-CN" altLang="en-US" sz="18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B5DF5DB-2520-4D09-A2A5-E114B46D365B}"/>
              </a:ext>
            </a:extLst>
          </p:cNvPr>
          <p:cNvSpPr/>
          <p:nvPr/>
        </p:nvSpPr>
        <p:spPr>
          <a:xfrm>
            <a:off x="5177601" y="1417320"/>
            <a:ext cx="779811" cy="77981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BED32B2-7F15-43A4-A3B9-E098E3DDBB9E}"/>
              </a:ext>
            </a:extLst>
          </p:cNvPr>
          <p:cNvSpPr/>
          <p:nvPr/>
        </p:nvSpPr>
        <p:spPr>
          <a:xfrm>
            <a:off x="6178380" y="1412929"/>
            <a:ext cx="779811" cy="779811"/>
          </a:xfrm>
          <a:prstGeom prst="ellipse">
            <a:avLst/>
          </a:prstGeom>
          <a:solidFill>
            <a:srgbClr val="CDE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71ADB35-DB67-4673-9470-F08EF3888B3D}"/>
              </a:ext>
            </a:extLst>
          </p:cNvPr>
          <p:cNvSpPr/>
          <p:nvPr/>
        </p:nvSpPr>
        <p:spPr>
          <a:xfrm>
            <a:off x="7188131" y="1412928"/>
            <a:ext cx="779811" cy="779811"/>
          </a:xfrm>
          <a:prstGeom prst="ellipse">
            <a:avLst/>
          </a:prstGeom>
          <a:solidFill>
            <a:srgbClr val="F7B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2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0">
        <p14:warp dir="in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750"/>
                            </p:stCondLst>
                            <p:childTnLst>
                              <p:par>
                                <p:cTn id="9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250"/>
                            </p:stCondLst>
                            <p:childTnLst>
                              <p:par>
                                <p:cTn id="1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 animBg="1"/>
      <p:bldP spid="14" grpId="0" animBg="1"/>
      <p:bldP spid="16" grpId="0"/>
      <p:bldP spid="30" grpId="0"/>
      <p:bldP spid="31" grpId="0"/>
      <p:bldP spid="35" grpId="0" animBg="1"/>
      <p:bldP spid="36" grpId="0" animBg="1"/>
      <p:bldP spid="3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创意几何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1398</Words>
  <Application>Microsoft Office PowerPoint</Application>
  <PresentationFormat>宽屏</PresentationFormat>
  <Paragraphs>194</Paragraphs>
  <Slides>31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A思源黑体—01</vt:lpstr>
      <vt:lpstr>包图简圆体</vt:lpstr>
      <vt:lpstr>思源黑体 Light</vt:lpstr>
      <vt:lpstr>幼圆</vt:lpstr>
      <vt:lpstr>Arial</vt:lpstr>
      <vt:lpstr>Cambria Math</vt:lpstr>
      <vt:lpstr>等线</vt:lpstr>
      <vt:lpstr>等线 Light</vt:lpstr>
      <vt:lpstr>Office 主题​​</vt:lpstr>
      <vt:lpstr>包装程序外壳对象</vt:lpstr>
      <vt:lpstr>决策树</vt:lpstr>
      <vt:lpstr>目录</vt:lpstr>
      <vt:lpstr>01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05</vt:lpstr>
      <vt:lpstr>PowerPoint 演示文稿</vt:lpstr>
      <vt:lpstr>感谢您的欣赏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简约清新模板</dc:title>
  <dc:creator>优品PPT</dc:creator>
  <dc:description>http://www.ypppt.com/</dc:description>
  <cp:lastModifiedBy>超越 任</cp:lastModifiedBy>
  <cp:revision>211</cp:revision>
  <dcterms:created xsi:type="dcterms:W3CDTF">2019-09-24T01:59:55Z</dcterms:created>
  <dcterms:modified xsi:type="dcterms:W3CDTF">2023-12-13T06:10:13Z</dcterms:modified>
</cp:coreProperties>
</file>
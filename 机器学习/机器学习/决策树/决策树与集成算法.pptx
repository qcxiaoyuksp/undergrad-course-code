
<file path=[Content_Types].xml><?xml version="1.0" encoding="utf-8"?>
<Types xmlns="http://schemas.openxmlformats.org/package/2006/content-types">
  <Default Extension="xml" ContentType="application/xml"/>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rels" ContentType="application/vnd.openxmlformats-package.relationships+xml"/>
  <Override PartName="/customXml/itemProps34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2.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35" r:id="rId3"/>
    <p:sldId id="468" r:id="rId4"/>
    <p:sldId id="469" r:id="rId5"/>
    <p:sldId id="494" r:id="rId6"/>
    <p:sldId id="495" r:id="rId7"/>
    <p:sldId id="496" r:id="rId8"/>
    <p:sldId id="497" r:id="rId9"/>
    <p:sldId id="498" r:id="rId10"/>
    <p:sldId id="499" r:id="rId11"/>
    <p:sldId id="500" r:id="rId12"/>
    <p:sldId id="501" r:id="rId13"/>
    <p:sldId id="502" r:id="rId14"/>
    <p:sldId id="503" r:id="rId15"/>
    <p:sldId id="504" r:id="rId16"/>
    <p:sldId id="505" r:id="rId17"/>
    <p:sldId id="506" r:id="rId18"/>
    <p:sldId id="507" r:id="rId19"/>
    <p:sldId id="508" r:id="rId20"/>
    <p:sldId id="509" r:id="rId21"/>
    <p:sldId id="510" r:id="rId22"/>
    <p:sldId id="511" r:id="rId23"/>
    <p:sldId id="512" r:id="rId24"/>
    <p:sldId id="513" r:id="rId25"/>
    <p:sldId id="514" r:id="rId26"/>
    <p:sldId id="515" r:id="rId27"/>
    <p:sldId id="516" r:id="rId28"/>
    <p:sldId id="517" r:id="rId29"/>
    <p:sldId id="518" r:id="rId30"/>
    <p:sldId id="519" r:id="rId31"/>
    <p:sldId id="520" r:id="rId32"/>
    <p:sldId id="521" r:id="rId33"/>
    <p:sldId id="522" r:id="rId34"/>
    <p:sldId id="523" r:id="rId35"/>
    <p:sldId id="524" r:id="rId36"/>
    <p:sldId id="386" r:id="rId37"/>
    <p:sldId id="336" r:id="rId38"/>
    <p:sldId id="310" r:id="rId39"/>
    <p:sldId id="313" r:id="rId40"/>
    <p:sldId id="308" r:id="rId41"/>
    <p:sldId id="311" r:id="rId42"/>
    <p:sldId id="312" r:id="rId43"/>
    <p:sldId id="320" r:id="rId44"/>
    <p:sldId id="316" r:id="rId45"/>
    <p:sldId id="323" r:id="rId46"/>
    <p:sldId id="325" r:id="rId47"/>
    <p:sldId id="430" r:id="rId48"/>
    <p:sldId id="328" r:id="rId49"/>
    <p:sldId id="431" r:id="rId50"/>
    <p:sldId id="432" r:id="rId51"/>
    <p:sldId id="433" r:id="rId52"/>
    <p:sldId id="434" r:id="rId53"/>
    <p:sldId id="334" r:id="rId54"/>
    <p:sldId id="337" r:id="rId55"/>
    <p:sldId id="322" r:id="rId56"/>
    <p:sldId id="435" r:id="rId57"/>
    <p:sldId id="436" r:id="rId58"/>
    <p:sldId id="439" r:id="rId59"/>
    <p:sldId id="437" r:id="rId60"/>
    <p:sldId id="438" r:id="rId61"/>
    <p:sldId id="440" r:id="rId62"/>
    <p:sldId id="441" r:id="rId63"/>
    <p:sldId id="442" r:id="rId64"/>
    <p:sldId id="444" r:id="rId65"/>
    <p:sldId id="443" r:id="rId66"/>
    <p:sldId id="445" r:id="rId67"/>
    <p:sldId id="446" r:id="rId68"/>
    <p:sldId id="447" r:id="rId69"/>
    <p:sldId id="448" r:id="rId70"/>
    <p:sldId id="339" r:id="rId71"/>
    <p:sldId id="343" r:id="rId72"/>
    <p:sldId id="344" r:id="rId73"/>
    <p:sldId id="338" r:id="rId74"/>
    <p:sldId id="342" r:id="rId75"/>
    <p:sldId id="258" r:id="rId76"/>
    <p:sldId id="345" r:id="rId77"/>
    <p:sldId id="299" r:id="rId78"/>
    <p:sldId id="377" r:id="rId79"/>
    <p:sldId id="376" r:id="rId80"/>
    <p:sldId id="300" r:id="rId81"/>
    <p:sldId id="301" r:id="rId82"/>
    <p:sldId id="302" r:id="rId83"/>
    <p:sldId id="303" r:id="rId84"/>
    <p:sldId id="478" r:id="rId85"/>
    <p:sldId id="479" r:id="rId86"/>
    <p:sldId id="480" r:id="rId87"/>
    <p:sldId id="481" r:id="rId88"/>
    <p:sldId id="482" r:id="rId89"/>
    <p:sldId id="483" r:id="rId90"/>
    <p:sldId id="484" r:id="rId91"/>
    <p:sldId id="485" r:id="rId92"/>
    <p:sldId id="486" r:id="rId93"/>
    <p:sldId id="487" r:id="rId94"/>
    <p:sldId id="488" r:id="rId95"/>
    <p:sldId id="489" r:id="rId96"/>
    <p:sldId id="490" r:id="rId97"/>
    <p:sldId id="491" r:id="rId98"/>
    <p:sldId id="492" r:id="rId99"/>
    <p:sldId id="493" r:id="rId100"/>
    <p:sldId id="385" r:id="rId101"/>
  </p:sldIdLst>
  <p:sldSz cx="12192000" cy="6858000"/>
  <p:notesSz cx="6858000" cy="9144000"/>
  <p:custDataLst>
    <p:tags r:id="rId10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7" Type="http://schemas.openxmlformats.org/officeDocument/2006/relationships/tags" Target="tags/tag342.xml"/><Relationship Id="rId106" Type="http://schemas.openxmlformats.org/officeDocument/2006/relationships/customXml" Target="../customXml/item1.xml"/><Relationship Id="rId105" Type="http://schemas.openxmlformats.org/officeDocument/2006/relationships/customXmlProps" Target="../customXml/itemProps341.xml"/><Relationship Id="rId104" Type="http://schemas.openxmlformats.org/officeDocument/2006/relationships/tableStyles" Target="tableStyles.xml"/><Relationship Id="rId103" Type="http://schemas.openxmlformats.org/officeDocument/2006/relationships/viewProps" Target="viewProps.xml"/><Relationship Id="rId102" Type="http://schemas.openxmlformats.org/officeDocument/2006/relationships/presProps" Target="presProps.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7.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AFB2D007-34A2-4023-A39A-E20DEE7157E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1A4FCDDA-C87C-43D2-8527-3D4DBC3E5BA5}"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tags" Target="../tags/tag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tags" Target="../tags/tag1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tags" Target="../tags/tag1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tags" Target="../tags/tag13.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tags" Target="../tags/tag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tags" Target="../tags/tag2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tags" Target="../tags/tag24.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tags" Target="../tags/tag25.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tags" Target="../tags/tag26.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tags" Target="../tags/tag2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tags" Target="../tags/tag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2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25.wmf"/><Relationship Id="rId2" Type="http://schemas.openxmlformats.org/officeDocument/2006/relationships/oleObject" Target="../embeddings/oleObject1.bin"/><Relationship Id="rId1" Type="http://schemas.openxmlformats.org/officeDocument/2006/relationships/tags" Target="../tags/tag37.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tags" Target="../tags/tag39.xml"/><Relationship Id="rId1" Type="http://schemas.openxmlformats.org/officeDocument/2006/relationships/tags" Target="../tags/tag38.xml"/></Relationships>
</file>

<file path=ppt/slides/_rels/slide30.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image" Target="../media/image27.wmf"/><Relationship Id="rId3" Type="http://schemas.openxmlformats.org/officeDocument/2006/relationships/oleObject" Target="../embeddings/oleObject2.bin"/><Relationship Id="rId28" Type="http://schemas.openxmlformats.org/officeDocument/2006/relationships/vmlDrawing" Target="../drawings/vmlDrawing2.vml"/><Relationship Id="rId27" Type="http://schemas.openxmlformats.org/officeDocument/2006/relationships/slideLayout" Target="../slideLayouts/slideLayout2.xml"/><Relationship Id="rId26" Type="http://schemas.openxmlformats.org/officeDocument/2006/relationships/image" Target="../media/image31.png"/><Relationship Id="rId25" Type="http://schemas.openxmlformats.org/officeDocument/2006/relationships/image" Target="../media/image30.png"/><Relationship Id="rId24" Type="http://schemas.openxmlformats.org/officeDocument/2006/relationships/tags" Target="../tags/tag59.xml"/><Relationship Id="rId23" Type="http://schemas.openxmlformats.org/officeDocument/2006/relationships/tags" Target="../tags/tag58.xml"/><Relationship Id="rId22" Type="http://schemas.openxmlformats.org/officeDocument/2006/relationships/image" Target="../media/image29.png"/><Relationship Id="rId21" Type="http://schemas.openxmlformats.org/officeDocument/2006/relationships/tags" Target="../tags/tag57.xml"/><Relationship Id="rId20" Type="http://schemas.openxmlformats.org/officeDocument/2006/relationships/tags" Target="../tags/tag56.xml"/><Relationship Id="rId2" Type="http://schemas.openxmlformats.org/officeDocument/2006/relationships/tags" Target="../tags/tag41.xml"/><Relationship Id="rId19" Type="http://schemas.openxmlformats.org/officeDocument/2006/relationships/image" Target="../media/image28.png"/><Relationship Id="rId18" Type="http://schemas.openxmlformats.org/officeDocument/2006/relationships/tags" Target="../tags/tag55.xml"/><Relationship Id="rId17" Type="http://schemas.openxmlformats.org/officeDocument/2006/relationships/tags" Target="../tags/tag54.xml"/><Relationship Id="rId16" Type="http://schemas.openxmlformats.org/officeDocument/2006/relationships/tags" Target="../tags/tag53.xml"/><Relationship Id="rId15" Type="http://schemas.openxmlformats.org/officeDocument/2006/relationships/tags" Target="../tags/tag52.xml"/><Relationship Id="rId14" Type="http://schemas.openxmlformats.org/officeDocument/2006/relationships/tags" Target="../tags/tag51.xml"/><Relationship Id="rId13" Type="http://schemas.openxmlformats.org/officeDocument/2006/relationships/tags" Target="../tags/tag50.xml"/><Relationship Id="rId12" Type="http://schemas.openxmlformats.org/officeDocument/2006/relationships/tags" Target="../tags/tag49.xml"/><Relationship Id="rId11" Type="http://schemas.openxmlformats.org/officeDocument/2006/relationships/tags" Target="../tags/tag48.xml"/><Relationship Id="rId10" Type="http://schemas.openxmlformats.org/officeDocument/2006/relationships/tags" Target="../tags/tag47.xml"/><Relationship Id="rId1" Type="http://schemas.openxmlformats.org/officeDocument/2006/relationships/tags" Target="../tags/tag40.xml"/></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image" Target="../media/image32.png"/><Relationship Id="rId2" Type="http://schemas.openxmlformats.org/officeDocument/2006/relationships/image" Target="../media/image19.png"/><Relationship Id="rId1" Type="http://schemas.openxmlformats.org/officeDocument/2006/relationships/tags" Target="../tags/tag60.xml"/></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19.png"/><Relationship Id="rId1" Type="http://schemas.openxmlformats.org/officeDocument/2006/relationships/tags" Target="../tags/tag65.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7.xml"/><Relationship Id="rId3" Type="http://schemas.openxmlformats.org/officeDocument/2006/relationships/image" Target="../media/image35.png"/><Relationship Id="rId2" Type="http://schemas.openxmlformats.org/officeDocument/2006/relationships/tags" Target="../tags/tag66.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6.png"/><Relationship Id="rId1" Type="http://schemas.openxmlformats.org/officeDocument/2006/relationships/tags" Target="../tags/tag69.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7.png"/><Relationship Id="rId1" Type="http://schemas.openxmlformats.org/officeDocument/2006/relationships/tags" Target="../tags/tag70.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1.xml"/><Relationship Id="rId2" Type="http://schemas.openxmlformats.org/officeDocument/2006/relationships/image" Target="../media/image39.jpeg"/><Relationship Id="rId1" Type="http://schemas.openxmlformats.org/officeDocument/2006/relationships/image" Target="../media/image38.png"/></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image" Target="../media/image39.jpeg"/><Relationship Id="rId1" Type="http://schemas.openxmlformats.org/officeDocument/2006/relationships/image" Target="../media/image38.png"/></Relationships>
</file>

<file path=ppt/slides/_rels/slide39.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image" Target="../media/image40.png"/><Relationship Id="rId7" Type="http://schemas.openxmlformats.org/officeDocument/2006/relationships/tags" Target="../tags/tag78.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image" Target="../media/image39.jpeg"/><Relationship Id="rId16" Type="http://schemas.openxmlformats.org/officeDocument/2006/relationships/slideLayout" Target="../slideLayouts/slideLayout1.xml"/><Relationship Id="rId15" Type="http://schemas.openxmlformats.org/officeDocument/2006/relationships/tags" Target="../tags/tag85.xml"/><Relationship Id="rId14" Type="http://schemas.openxmlformats.org/officeDocument/2006/relationships/tags" Target="../tags/tag84.xml"/><Relationship Id="rId13" Type="http://schemas.openxmlformats.org/officeDocument/2006/relationships/tags" Target="../tags/tag83.xml"/><Relationship Id="rId12" Type="http://schemas.openxmlformats.org/officeDocument/2006/relationships/tags" Target="../tags/tag82.xml"/><Relationship Id="rId11" Type="http://schemas.openxmlformats.org/officeDocument/2006/relationships/tags" Target="../tags/tag81.xml"/><Relationship Id="rId10" Type="http://schemas.openxmlformats.org/officeDocument/2006/relationships/tags" Target="../tags/tag80.xml"/><Relationship Id="rId1" Type="http://schemas.openxmlformats.org/officeDocument/2006/relationships/image" Target="../media/image38.png"/></Relationships>
</file>

<file path=ppt/slides/_rels/slide4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image" Target="../media/image39.jpeg"/><Relationship Id="rId1" Type="http://schemas.openxmlformats.org/officeDocument/2006/relationships/image" Target="../media/image38.png"/></Relationships>
</file>

<file path=ppt/slides/_rels/slide4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image" Target="../media/image39.jpeg"/><Relationship Id="rId1" Type="http://schemas.openxmlformats.org/officeDocument/2006/relationships/image" Target="../media/image38.png"/></Relationships>
</file>

<file path=ppt/slides/_rels/slide42.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image" Target="../media/image39.jpeg"/><Relationship Id="rId12" Type="http://schemas.openxmlformats.org/officeDocument/2006/relationships/slideLayout" Target="../slideLayouts/slideLayout1.xml"/><Relationship Id="rId11" Type="http://schemas.openxmlformats.org/officeDocument/2006/relationships/tags" Target="../tags/tag97.xml"/><Relationship Id="rId10" Type="http://schemas.openxmlformats.org/officeDocument/2006/relationships/image" Target="../media/image43.jpeg"/><Relationship Id="rId1" Type="http://schemas.openxmlformats.org/officeDocument/2006/relationships/image" Target="../media/image38.png"/></Relationships>
</file>

<file path=ppt/slides/_rels/slide43.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tags" Target="../tags/tag103.xml"/><Relationship Id="rId7" Type="http://schemas.openxmlformats.org/officeDocument/2006/relationships/tags" Target="../tags/tag102.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tags" Target="../tags/tag99.xml"/><Relationship Id="rId3" Type="http://schemas.openxmlformats.org/officeDocument/2006/relationships/tags" Target="../tags/tag98.xml"/><Relationship Id="rId29" Type="http://schemas.openxmlformats.org/officeDocument/2006/relationships/slideLayout" Target="../slideLayouts/slideLayout1.xml"/><Relationship Id="rId28" Type="http://schemas.openxmlformats.org/officeDocument/2006/relationships/tags" Target="../tags/tag123.xml"/><Relationship Id="rId27" Type="http://schemas.openxmlformats.org/officeDocument/2006/relationships/tags" Target="../tags/tag122.xml"/><Relationship Id="rId26" Type="http://schemas.openxmlformats.org/officeDocument/2006/relationships/tags" Target="../tags/tag121.xml"/><Relationship Id="rId25" Type="http://schemas.openxmlformats.org/officeDocument/2006/relationships/tags" Target="../tags/tag120.xml"/><Relationship Id="rId24" Type="http://schemas.openxmlformats.org/officeDocument/2006/relationships/tags" Target="../tags/tag119.xml"/><Relationship Id="rId23" Type="http://schemas.openxmlformats.org/officeDocument/2006/relationships/tags" Target="../tags/tag118.xml"/><Relationship Id="rId22" Type="http://schemas.openxmlformats.org/officeDocument/2006/relationships/tags" Target="../tags/tag117.xml"/><Relationship Id="rId21" Type="http://schemas.openxmlformats.org/officeDocument/2006/relationships/tags" Target="../tags/tag116.xml"/><Relationship Id="rId20" Type="http://schemas.openxmlformats.org/officeDocument/2006/relationships/tags" Target="../tags/tag115.xml"/><Relationship Id="rId2" Type="http://schemas.openxmlformats.org/officeDocument/2006/relationships/image" Target="../media/image39.jpeg"/><Relationship Id="rId19" Type="http://schemas.openxmlformats.org/officeDocument/2006/relationships/tags" Target="../tags/tag114.xml"/><Relationship Id="rId18" Type="http://schemas.openxmlformats.org/officeDocument/2006/relationships/tags" Target="../tags/tag113.xml"/><Relationship Id="rId17" Type="http://schemas.openxmlformats.org/officeDocument/2006/relationships/tags" Target="../tags/tag112.xml"/><Relationship Id="rId16" Type="http://schemas.openxmlformats.org/officeDocument/2006/relationships/tags" Target="../tags/tag111.xml"/><Relationship Id="rId15" Type="http://schemas.openxmlformats.org/officeDocument/2006/relationships/tags" Target="../tags/tag110.xml"/><Relationship Id="rId14" Type="http://schemas.openxmlformats.org/officeDocument/2006/relationships/tags" Target="../tags/tag109.xml"/><Relationship Id="rId13" Type="http://schemas.openxmlformats.org/officeDocument/2006/relationships/tags" Target="../tags/tag108.xml"/><Relationship Id="rId12" Type="http://schemas.openxmlformats.org/officeDocument/2006/relationships/tags" Target="../tags/tag107.xml"/><Relationship Id="rId11" Type="http://schemas.openxmlformats.org/officeDocument/2006/relationships/tags" Target="../tags/tag106.xml"/><Relationship Id="rId10" Type="http://schemas.openxmlformats.org/officeDocument/2006/relationships/tags" Target="../tags/tag105.xml"/><Relationship Id="rId1" Type="http://schemas.openxmlformats.org/officeDocument/2006/relationships/image" Target="../media/image38.png"/></Relationships>
</file>

<file path=ppt/slides/_rels/slide44.xml.rels><?xml version="1.0" encoding="UTF-8" standalone="yes"?>
<Relationships xmlns="http://schemas.openxmlformats.org/package/2006/relationships"><Relationship Id="rId9" Type="http://schemas.openxmlformats.org/officeDocument/2006/relationships/tags" Target="../tags/tag130.xml"/><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4" Type="http://schemas.openxmlformats.org/officeDocument/2006/relationships/slideLayout" Target="../slideLayouts/slideLayout1.xml"/><Relationship Id="rId33" Type="http://schemas.openxmlformats.org/officeDocument/2006/relationships/tags" Target="../tags/tag154.xml"/><Relationship Id="rId32" Type="http://schemas.openxmlformats.org/officeDocument/2006/relationships/tags" Target="../tags/tag153.xml"/><Relationship Id="rId31" Type="http://schemas.openxmlformats.org/officeDocument/2006/relationships/tags" Target="../tags/tag152.xml"/><Relationship Id="rId30" Type="http://schemas.openxmlformats.org/officeDocument/2006/relationships/tags" Target="../tags/tag151.xml"/><Relationship Id="rId3" Type="http://schemas.openxmlformats.org/officeDocument/2006/relationships/tags" Target="../tags/tag124.xml"/><Relationship Id="rId29" Type="http://schemas.openxmlformats.org/officeDocument/2006/relationships/tags" Target="../tags/tag150.xml"/><Relationship Id="rId28" Type="http://schemas.openxmlformats.org/officeDocument/2006/relationships/tags" Target="../tags/tag149.xml"/><Relationship Id="rId27" Type="http://schemas.openxmlformats.org/officeDocument/2006/relationships/tags" Target="../tags/tag148.xml"/><Relationship Id="rId26" Type="http://schemas.openxmlformats.org/officeDocument/2006/relationships/tags" Target="../tags/tag147.xml"/><Relationship Id="rId25" Type="http://schemas.openxmlformats.org/officeDocument/2006/relationships/tags" Target="../tags/tag146.xml"/><Relationship Id="rId24" Type="http://schemas.openxmlformats.org/officeDocument/2006/relationships/tags" Target="../tags/tag145.xml"/><Relationship Id="rId23" Type="http://schemas.openxmlformats.org/officeDocument/2006/relationships/tags" Target="../tags/tag144.xml"/><Relationship Id="rId22" Type="http://schemas.openxmlformats.org/officeDocument/2006/relationships/tags" Target="../tags/tag143.xml"/><Relationship Id="rId21" Type="http://schemas.openxmlformats.org/officeDocument/2006/relationships/tags" Target="../tags/tag142.xml"/><Relationship Id="rId20" Type="http://schemas.openxmlformats.org/officeDocument/2006/relationships/tags" Target="../tags/tag141.xml"/><Relationship Id="rId2" Type="http://schemas.openxmlformats.org/officeDocument/2006/relationships/image" Target="../media/image39.jpeg"/><Relationship Id="rId19" Type="http://schemas.openxmlformats.org/officeDocument/2006/relationships/tags" Target="../tags/tag140.xml"/><Relationship Id="rId18" Type="http://schemas.openxmlformats.org/officeDocument/2006/relationships/tags" Target="../tags/tag139.xml"/><Relationship Id="rId17" Type="http://schemas.openxmlformats.org/officeDocument/2006/relationships/tags" Target="../tags/tag138.xml"/><Relationship Id="rId16" Type="http://schemas.openxmlformats.org/officeDocument/2006/relationships/tags" Target="../tags/tag137.xml"/><Relationship Id="rId15" Type="http://schemas.openxmlformats.org/officeDocument/2006/relationships/tags" Target="../tags/tag136.xml"/><Relationship Id="rId14" Type="http://schemas.openxmlformats.org/officeDocument/2006/relationships/tags" Target="../tags/tag135.xml"/><Relationship Id="rId13" Type="http://schemas.openxmlformats.org/officeDocument/2006/relationships/tags" Target="../tags/tag134.xml"/><Relationship Id="rId12" Type="http://schemas.openxmlformats.org/officeDocument/2006/relationships/tags" Target="../tags/tag133.xml"/><Relationship Id="rId11" Type="http://schemas.openxmlformats.org/officeDocument/2006/relationships/tags" Target="../tags/tag132.xml"/><Relationship Id="rId10" Type="http://schemas.openxmlformats.org/officeDocument/2006/relationships/tags" Target="../tags/tag131.xml"/><Relationship Id="rId1" Type="http://schemas.openxmlformats.org/officeDocument/2006/relationships/image" Target="../media/image38.png"/></Relationships>
</file>

<file path=ppt/slides/_rels/slide4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58.xml"/><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image" Target="../media/image39.jpeg"/><Relationship Id="rId1" Type="http://schemas.openxmlformats.org/officeDocument/2006/relationships/image" Target="../media/image38.png"/></Relationships>
</file>

<file path=ppt/slides/_rels/slide46.xml.rels><?xml version="1.0" encoding="UTF-8" standalone="yes"?>
<Relationships xmlns="http://schemas.openxmlformats.org/package/2006/relationships"><Relationship Id="rId9" Type="http://schemas.openxmlformats.org/officeDocument/2006/relationships/tags" Target="../tags/tag165.xml"/><Relationship Id="rId8" Type="http://schemas.openxmlformats.org/officeDocument/2006/relationships/tags" Target="../tags/tag164.xml"/><Relationship Id="rId7" Type="http://schemas.openxmlformats.org/officeDocument/2006/relationships/tags" Target="../tags/tag163.xml"/><Relationship Id="rId6" Type="http://schemas.openxmlformats.org/officeDocument/2006/relationships/tags" Target="../tags/tag162.xml"/><Relationship Id="rId5" Type="http://schemas.openxmlformats.org/officeDocument/2006/relationships/tags" Target="../tags/tag161.xml"/><Relationship Id="rId4" Type="http://schemas.openxmlformats.org/officeDocument/2006/relationships/tags" Target="../tags/tag160.xml"/><Relationship Id="rId33" Type="http://schemas.openxmlformats.org/officeDocument/2006/relationships/slideLayout" Target="../slideLayouts/slideLayout1.xml"/><Relationship Id="rId32" Type="http://schemas.openxmlformats.org/officeDocument/2006/relationships/tags" Target="../tags/tag188.xml"/><Relationship Id="rId31" Type="http://schemas.openxmlformats.org/officeDocument/2006/relationships/tags" Target="../tags/tag187.xml"/><Relationship Id="rId30" Type="http://schemas.openxmlformats.org/officeDocument/2006/relationships/tags" Target="../tags/tag186.xml"/><Relationship Id="rId3" Type="http://schemas.openxmlformats.org/officeDocument/2006/relationships/tags" Target="../tags/tag159.xml"/><Relationship Id="rId29" Type="http://schemas.openxmlformats.org/officeDocument/2006/relationships/tags" Target="../tags/tag185.xml"/><Relationship Id="rId28" Type="http://schemas.openxmlformats.org/officeDocument/2006/relationships/tags" Target="../tags/tag184.xml"/><Relationship Id="rId27" Type="http://schemas.openxmlformats.org/officeDocument/2006/relationships/tags" Target="../tags/tag183.xml"/><Relationship Id="rId26" Type="http://schemas.openxmlformats.org/officeDocument/2006/relationships/tags" Target="../tags/tag182.xml"/><Relationship Id="rId25" Type="http://schemas.openxmlformats.org/officeDocument/2006/relationships/tags" Target="../tags/tag181.xml"/><Relationship Id="rId24" Type="http://schemas.openxmlformats.org/officeDocument/2006/relationships/tags" Target="../tags/tag180.xml"/><Relationship Id="rId23" Type="http://schemas.openxmlformats.org/officeDocument/2006/relationships/tags" Target="../tags/tag179.xml"/><Relationship Id="rId22" Type="http://schemas.openxmlformats.org/officeDocument/2006/relationships/tags" Target="../tags/tag178.xml"/><Relationship Id="rId21" Type="http://schemas.openxmlformats.org/officeDocument/2006/relationships/tags" Target="../tags/tag177.xml"/><Relationship Id="rId20" Type="http://schemas.openxmlformats.org/officeDocument/2006/relationships/tags" Target="../tags/tag176.xml"/><Relationship Id="rId2" Type="http://schemas.openxmlformats.org/officeDocument/2006/relationships/image" Target="../media/image39.jpeg"/><Relationship Id="rId19" Type="http://schemas.openxmlformats.org/officeDocument/2006/relationships/tags" Target="../tags/tag175.xml"/><Relationship Id="rId18" Type="http://schemas.openxmlformats.org/officeDocument/2006/relationships/tags" Target="../tags/tag174.xml"/><Relationship Id="rId17" Type="http://schemas.openxmlformats.org/officeDocument/2006/relationships/tags" Target="../tags/tag173.xml"/><Relationship Id="rId16" Type="http://schemas.openxmlformats.org/officeDocument/2006/relationships/tags" Target="../tags/tag172.xml"/><Relationship Id="rId15" Type="http://schemas.openxmlformats.org/officeDocument/2006/relationships/tags" Target="../tags/tag171.xml"/><Relationship Id="rId14" Type="http://schemas.openxmlformats.org/officeDocument/2006/relationships/tags" Target="../tags/tag170.xml"/><Relationship Id="rId13" Type="http://schemas.openxmlformats.org/officeDocument/2006/relationships/tags" Target="../tags/tag169.xml"/><Relationship Id="rId12" Type="http://schemas.openxmlformats.org/officeDocument/2006/relationships/tags" Target="../tags/tag168.xml"/><Relationship Id="rId11" Type="http://schemas.openxmlformats.org/officeDocument/2006/relationships/tags" Target="../tags/tag167.xml"/><Relationship Id="rId10" Type="http://schemas.openxmlformats.org/officeDocument/2006/relationships/tags" Target="../tags/tag166.xml"/><Relationship Id="rId1" Type="http://schemas.openxmlformats.org/officeDocument/2006/relationships/image" Target="../media/image38.png"/></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90.xml"/><Relationship Id="rId3" Type="http://schemas.openxmlformats.org/officeDocument/2006/relationships/tags" Target="../tags/tag189.xml"/><Relationship Id="rId2" Type="http://schemas.openxmlformats.org/officeDocument/2006/relationships/image" Target="../media/image39.jpeg"/><Relationship Id="rId1" Type="http://schemas.openxmlformats.org/officeDocument/2006/relationships/image" Target="../media/image38.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91.xml"/><Relationship Id="rId2" Type="http://schemas.openxmlformats.org/officeDocument/2006/relationships/image" Target="../media/image39.jpeg"/><Relationship Id="rId1" Type="http://schemas.openxmlformats.org/officeDocument/2006/relationships/image" Target="../media/image38.png"/></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93.xml"/><Relationship Id="rId3" Type="http://schemas.openxmlformats.org/officeDocument/2006/relationships/tags" Target="../tags/tag192.xml"/><Relationship Id="rId2" Type="http://schemas.openxmlformats.org/officeDocument/2006/relationships/image" Target="../media/image39.jpeg"/><Relationship Id="rId1" Type="http://schemas.openxmlformats.org/officeDocument/2006/relationships/image" Target="../media/image38.png"/></Relationships>
</file>

<file path=ppt/slides/_rels/slide5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tags" Target="../tags/tag195.xml"/><Relationship Id="rId3" Type="http://schemas.openxmlformats.org/officeDocument/2006/relationships/tags" Target="../tags/tag194.xml"/><Relationship Id="rId2" Type="http://schemas.openxmlformats.org/officeDocument/2006/relationships/image" Target="../media/image39.jpeg"/><Relationship Id="rId1" Type="http://schemas.openxmlformats.org/officeDocument/2006/relationships/image" Target="../media/image38.png"/></Relationships>
</file>

<file path=ppt/slides/_rels/slide5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98.xml"/><Relationship Id="rId5" Type="http://schemas.openxmlformats.org/officeDocument/2006/relationships/image" Target="../media/image45.png"/><Relationship Id="rId4" Type="http://schemas.openxmlformats.org/officeDocument/2006/relationships/tags" Target="../tags/tag197.xml"/><Relationship Id="rId3" Type="http://schemas.openxmlformats.org/officeDocument/2006/relationships/tags" Target="../tags/tag196.xml"/><Relationship Id="rId2" Type="http://schemas.openxmlformats.org/officeDocument/2006/relationships/image" Target="../media/image39.jpeg"/><Relationship Id="rId1" Type="http://schemas.openxmlformats.org/officeDocument/2006/relationships/image" Target="../media/image38.png"/></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tags" Target="../tags/tag200.xml"/><Relationship Id="rId3" Type="http://schemas.openxmlformats.org/officeDocument/2006/relationships/tags" Target="../tags/tag199.xml"/><Relationship Id="rId2" Type="http://schemas.openxmlformats.org/officeDocument/2006/relationships/image" Target="../media/image39.jpeg"/><Relationship Id="rId1" Type="http://schemas.openxmlformats.org/officeDocument/2006/relationships/image" Target="../media/image38.png"/></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tags" Target="../tags/tag202.xml"/><Relationship Id="rId3" Type="http://schemas.openxmlformats.org/officeDocument/2006/relationships/tags" Target="../tags/tag201.xml"/><Relationship Id="rId2" Type="http://schemas.openxmlformats.org/officeDocument/2006/relationships/image" Target="../media/image39.jpeg"/><Relationship Id="rId1" Type="http://schemas.openxmlformats.org/officeDocument/2006/relationships/image" Target="../media/image38.png"/></Relationships>
</file>

<file path=ppt/slides/_rels/slide5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8.png"/><Relationship Id="rId3" Type="http://schemas.openxmlformats.org/officeDocument/2006/relationships/tags" Target="../tags/tag203.xml"/><Relationship Id="rId2" Type="http://schemas.openxmlformats.org/officeDocument/2006/relationships/image" Target="../media/image39.jpeg"/><Relationship Id="rId1" Type="http://schemas.openxmlformats.org/officeDocument/2006/relationships/image" Target="../media/image38.png"/></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04.xml"/><Relationship Id="rId2" Type="http://schemas.openxmlformats.org/officeDocument/2006/relationships/image" Target="../media/image39.jpeg"/><Relationship Id="rId1" Type="http://schemas.openxmlformats.org/officeDocument/2006/relationships/image" Target="../media/image38.png"/></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06.xml"/><Relationship Id="rId3" Type="http://schemas.openxmlformats.org/officeDocument/2006/relationships/tags" Target="../tags/tag205.xml"/><Relationship Id="rId2" Type="http://schemas.openxmlformats.org/officeDocument/2006/relationships/image" Target="../media/image39.jpeg"/><Relationship Id="rId1" Type="http://schemas.openxmlformats.org/officeDocument/2006/relationships/image" Target="../media/image38.png"/></Relationships>
</file>

<file path=ppt/slides/_rels/slide5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08.xml"/><Relationship Id="rId3" Type="http://schemas.openxmlformats.org/officeDocument/2006/relationships/tags" Target="../tags/tag207.xml"/><Relationship Id="rId2" Type="http://schemas.openxmlformats.org/officeDocument/2006/relationships/image" Target="../media/image39.jpeg"/><Relationship Id="rId1" Type="http://schemas.openxmlformats.org/officeDocument/2006/relationships/image" Target="../media/image38.png"/></Relationships>
</file>

<file path=ppt/slides/_rels/slide5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10.xml"/><Relationship Id="rId3" Type="http://schemas.openxmlformats.org/officeDocument/2006/relationships/tags" Target="../tags/tag209.xml"/><Relationship Id="rId2" Type="http://schemas.openxmlformats.org/officeDocument/2006/relationships/image" Target="../media/image39.jpeg"/><Relationship Id="rId1" Type="http://schemas.openxmlformats.org/officeDocument/2006/relationships/image" Target="../media/image38.png"/></Relationships>
</file>

<file path=ppt/slides/_rels/slide5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12.xml"/><Relationship Id="rId3" Type="http://schemas.openxmlformats.org/officeDocument/2006/relationships/tags" Target="../tags/tag211.xml"/><Relationship Id="rId2" Type="http://schemas.openxmlformats.org/officeDocument/2006/relationships/image" Target="../media/image39.jpeg"/><Relationship Id="rId1" Type="http://schemas.openxmlformats.org/officeDocument/2006/relationships/image" Target="../media/image38.png"/></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13.xml"/><Relationship Id="rId2" Type="http://schemas.openxmlformats.org/officeDocument/2006/relationships/image" Target="../media/image39.jpeg"/><Relationship Id="rId1" Type="http://schemas.openxmlformats.org/officeDocument/2006/relationships/image" Target="../media/image38.png"/></Relationships>
</file>

<file path=ppt/slides/_rels/slide61.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tags" Target="../tags/tag218.xml"/><Relationship Id="rId7" Type="http://schemas.openxmlformats.org/officeDocument/2006/relationships/tags" Target="../tags/tag217.xml"/><Relationship Id="rId6" Type="http://schemas.openxmlformats.org/officeDocument/2006/relationships/image" Target="../media/image49.png"/><Relationship Id="rId5" Type="http://schemas.openxmlformats.org/officeDocument/2006/relationships/tags" Target="../tags/tag216.xml"/><Relationship Id="rId4" Type="http://schemas.openxmlformats.org/officeDocument/2006/relationships/tags" Target="../tags/tag215.xml"/><Relationship Id="rId3" Type="http://schemas.openxmlformats.org/officeDocument/2006/relationships/tags" Target="../tags/tag214.xml"/><Relationship Id="rId2" Type="http://schemas.openxmlformats.org/officeDocument/2006/relationships/image" Target="../media/image39.jpeg"/><Relationship Id="rId11" Type="http://schemas.openxmlformats.org/officeDocument/2006/relationships/slideLayout" Target="../slideLayouts/slideLayout1.xml"/><Relationship Id="rId10" Type="http://schemas.openxmlformats.org/officeDocument/2006/relationships/tags" Target="../tags/tag219.xml"/><Relationship Id="rId1" Type="http://schemas.openxmlformats.org/officeDocument/2006/relationships/image" Target="../media/image38.png"/></Relationships>
</file>

<file path=ppt/slides/_rels/slide6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21.xml"/><Relationship Id="rId3" Type="http://schemas.openxmlformats.org/officeDocument/2006/relationships/tags" Target="../tags/tag220.xml"/><Relationship Id="rId2" Type="http://schemas.openxmlformats.org/officeDocument/2006/relationships/image" Target="../media/image39.jpeg"/><Relationship Id="rId1" Type="http://schemas.openxmlformats.org/officeDocument/2006/relationships/image" Target="../media/image38.png"/></Relationships>
</file>

<file path=ppt/slides/_rels/slide6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225.xml"/><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image" Target="../media/image39.jpeg"/><Relationship Id="rId1" Type="http://schemas.openxmlformats.org/officeDocument/2006/relationships/image" Target="../media/image38.png"/></Relationships>
</file>

<file path=ppt/slides/_rels/slide6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27.xml"/><Relationship Id="rId4" Type="http://schemas.openxmlformats.org/officeDocument/2006/relationships/image" Target="../media/image51.png"/><Relationship Id="rId3" Type="http://schemas.openxmlformats.org/officeDocument/2006/relationships/tags" Target="../tags/tag226.xml"/><Relationship Id="rId2" Type="http://schemas.openxmlformats.org/officeDocument/2006/relationships/image" Target="../media/image39.jpeg"/><Relationship Id="rId1" Type="http://schemas.openxmlformats.org/officeDocument/2006/relationships/image" Target="../media/image38.png"/></Relationships>
</file>

<file path=ppt/slides/_rels/slide6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29.xml"/><Relationship Id="rId3" Type="http://schemas.openxmlformats.org/officeDocument/2006/relationships/tags" Target="../tags/tag228.xml"/><Relationship Id="rId2" Type="http://schemas.openxmlformats.org/officeDocument/2006/relationships/image" Target="../media/image39.jpeg"/><Relationship Id="rId1" Type="http://schemas.openxmlformats.org/officeDocument/2006/relationships/image" Target="../media/image38.png"/></Relationships>
</file>

<file path=ppt/slides/_rels/slide6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image" Target="../media/image39.jpeg"/><Relationship Id="rId1" Type="http://schemas.openxmlformats.org/officeDocument/2006/relationships/image" Target="../media/image38.png"/></Relationships>
</file>

<file path=ppt/slides/_rels/slide67.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234.xml"/><Relationship Id="rId6" Type="http://schemas.openxmlformats.org/officeDocument/2006/relationships/image" Target="../media/image53.png"/><Relationship Id="rId5" Type="http://schemas.openxmlformats.org/officeDocument/2006/relationships/tags" Target="../tags/tag233.xml"/><Relationship Id="rId4" Type="http://schemas.openxmlformats.org/officeDocument/2006/relationships/image" Target="../media/image52.png"/><Relationship Id="rId3" Type="http://schemas.openxmlformats.org/officeDocument/2006/relationships/tags" Target="../tags/tag232.xml"/><Relationship Id="rId2" Type="http://schemas.openxmlformats.org/officeDocument/2006/relationships/image" Target="../media/image39.jpeg"/><Relationship Id="rId1" Type="http://schemas.openxmlformats.org/officeDocument/2006/relationships/image" Target="../media/image38.png"/></Relationships>
</file>

<file path=ppt/slides/_rels/slide6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237.xml"/><Relationship Id="rId5" Type="http://schemas.openxmlformats.org/officeDocument/2006/relationships/image" Target="../media/image54.png"/><Relationship Id="rId4" Type="http://schemas.openxmlformats.org/officeDocument/2006/relationships/tags" Target="../tags/tag236.xml"/><Relationship Id="rId3" Type="http://schemas.openxmlformats.org/officeDocument/2006/relationships/tags" Target="../tags/tag235.xml"/><Relationship Id="rId2" Type="http://schemas.openxmlformats.org/officeDocument/2006/relationships/image" Target="../media/image39.jpeg"/><Relationship Id="rId1" Type="http://schemas.openxmlformats.org/officeDocument/2006/relationships/image" Target="../media/image38.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5.png"/><Relationship Id="rId1" Type="http://schemas.openxmlformats.org/officeDocument/2006/relationships/tags" Target="../tags/tag238.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6.png"/><Relationship Id="rId1" Type="http://schemas.openxmlformats.org/officeDocument/2006/relationships/tags" Target="../tags/tag239.xml"/></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41.xml"/><Relationship Id="rId2" Type="http://schemas.openxmlformats.org/officeDocument/2006/relationships/image" Target="../media/image57.png"/><Relationship Id="rId1" Type="http://schemas.openxmlformats.org/officeDocument/2006/relationships/tags" Target="../tags/tag240.xml"/></Relationships>
</file>

<file path=ppt/slides/_rels/slide7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42.xml"/><Relationship Id="rId2" Type="http://schemas.openxmlformats.org/officeDocument/2006/relationships/image" Target="../media/image39.jpeg"/><Relationship Id="rId1" Type="http://schemas.openxmlformats.org/officeDocument/2006/relationships/image" Target="../media/image38.png"/></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44.xml"/><Relationship Id="rId2" Type="http://schemas.openxmlformats.org/officeDocument/2006/relationships/image" Target="../media/image58.png"/><Relationship Id="rId1" Type="http://schemas.openxmlformats.org/officeDocument/2006/relationships/tags" Target="../tags/tag243.xml"/></Relationships>
</file>

<file path=ppt/slides/_rels/slide7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45.xml"/><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image" Target="../media/image59.jpe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0.png"/><Relationship Id="rId1" Type="http://schemas.openxmlformats.org/officeDocument/2006/relationships/tags" Target="../tags/tag246.xml"/></Relationships>
</file>

<file path=ppt/slides/_rels/slide76.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249.xml"/><Relationship Id="rId6" Type="http://schemas.openxmlformats.org/officeDocument/2006/relationships/image" Target="../media/image40.png"/><Relationship Id="rId5" Type="http://schemas.openxmlformats.org/officeDocument/2006/relationships/tags" Target="../tags/tag248.xml"/><Relationship Id="rId4" Type="http://schemas.openxmlformats.org/officeDocument/2006/relationships/image" Target="../media/image61.png"/><Relationship Id="rId3" Type="http://schemas.openxmlformats.org/officeDocument/2006/relationships/tags" Target="../tags/tag247.xml"/><Relationship Id="rId2" Type="http://schemas.openxmlformats.org/officeDocument/2006/relationships/image" Target="../media/image39.jpeg"/><Relationship Id="rId1" Type="http://schemas.openxmlformats.org/officeDocument/2006/relationships/image" Target="../media/image38.png"/></Relationships>
</file>

<file path=ppt/slides/_rels/slide77.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252.xml"/><Relationship Id="rId6" Type="http://schemas.openxmlformats.org/officeDocument/2006/relationships/image" Target="../media/image62.png"/><Relationship Id="rId5" Type="http://schemas.openxmlformats.org/officeDocument/2006/relationships/tags" Target="../tags/tag251.xml"/><Relationship Id="rId4" Type="http://schemas.openxmlformats.org/officeDocument/2006/relationships/image" Target="../media/image40.png"/><Relationship Id="rId3" Type="http://schemas.openxmlformats.org/officeDocument/2006/relationships/tags" Target="../tags/tag250.xml"/><Relationship Id="rId2" Type="http://schemas.openxmlformats.org/officeDocument/2006/relationships/image" Target="../media/image39.jpeg"/><Relationship Id="rId1" Type="http://schemas.openxmlformats.org/officeDocument/2006/relationships/image" Target="../media/image38.png"/></Relationships>
</file>

<file path=ppt/slides/_rels/slide7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63.png"/><Relationship Id="rId3" Type="http://schemas.openxmlformats.org/officeDocument/2006/relationships/tags" Target="../tags/tag253.xml"/><Relationship Id="rId2" Type="http://schemas.openxmlformats.org/officeDocument/2006/relationships/image" Target="../media/image39.jpeg"/><Relationship Id="rId1" Type="http://schemas.openxmlformats.org/officeDocument/2006/relationships/image" Target="../media/image38.png"/></Relationships>
</file>

<file path=ppt/slides/_rels/slide7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64.png"/><Relationship Id="rId3" Type="http://schemas.openxmlformats.org/officeDocument/2006/relationships/tags" Target="../tags/tag254.xml"/><Relationship Id="rId2" Type="http://schemas.openxmlformats.org/officeDocument/2006/relationships/image" Target="../media/image39.jpeg"/><Relationship Id="rId1" Type="http://schemas.openxmlformats.org/officeDocument/2006/relationships/image" Target="../media/image38.png"/></Relationships>
</file>

<file path=ppt/slides/_rels/slide8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6.xml"/><Relationship Id="rId4" Type="http://schemas.openxmlformats.org/officeDocument/2006/relationships/image" Target="../media/image40.png"/><Relationship Id="rId3" Type="http://schemas.openxmlformats.org/officeDocument/2006/relationships/tags" Target="../tags/tag255.xml"/><Relationship Id="rId2" Type="http://schemas.openxmlformats.org/officeDocument/2006/relationships/image" Target="../media/image39.jpeg"/><Relationship Id="rId1" Type="http://schemas.openxmlformats.org/officeDocument/2006/relationships/image" Target="../media/image38.png"/></Relationships>
</file>

<file path=ppt/slides/_rels/slide8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8.xml"/><Relationship Id="rId4" Type="http://schemas.openxmlformats.org/officeDocument/2006/relationships/image" Target="../media/image40.png"/><Relationship Id="rId3" Type="http://schemas.openxmlformats.org/officeDocument/2006/relationships/tags" Target="../tags/tag257.xml"/><Relationship Id="rId2" Type="http://schemas.openxmlformats.org/officeDocument/2006/relationships/image" Target="../media/image39.jpeg"/><Relationship Id="rId1" Type="http://schemas.openxmlformats.org/officeDocument/2006/relationships/image" Target="../media/image38.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9.jpeg"/><Relationship Id="rId1" Type="http://schemas.openxmlformats.org/officeDocument/2006/relationships/image" Target="../media/image38.png"/></Relationships>
</file>

<file path=ppt/slides/_rels/slide8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259.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8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tags" Target="../tags/tag263.xml"/><Relationship Id="rId3" Type="http://schemas.openxmlformats.org/officeDocument/2006/relationships/tags" Target="../tags/tag262.xml"/><Relationship Id="rId2" Type="http://schemas.openxmlformats.org/officeDocument/2006/relationships/tags" Target="../tags/tag261.xml"/><Relationship Id="rId1" Type="http://schemas.openxmlformats.org/officeDocument/2006/relationships/tags" Target="../tags/tag260.xml"/></Relationships>
</file>

<file path=ppt/slides/_rels/slide8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6.png"/><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s>
</file>

<file path=ppt/slides/_rels/slide8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9.png"/><Relationship Id="rId7" Type="http://schemas.openxmlformats.org/officeDocument/2006/relationships/image" Target="../media/image68.png"/><Relationship Id="rId6" Type="http://schemas.openxmlformats.org/officeDocument/2006/relationships/tags" Target="../tags/tag271.xml"/><Relationship Id="rId5" Type="http://schemas.openxmlformats.org/officeDocument/2006/relationships/image" Target="../media/image67.png"/><Relationship Id="rId4" Type="http://schemas.openxmlformats.org/officeDocument/2006/relationships/tags" Target="../tags/tag270.xml"/><Relationship Id="rId3" Type="http://schemas.openxmlformats.org/officeDocument/2006/relationships/tags" Target="../tags/tag269.xml"/><Relationship Id="rId2" Type="http://schemas.openxmlformats.org/officeDocument/2006/relationships/tags" Target="../tags/tag268.xml"/><Relationship Id="rId1" Type="http://schemas.openxmlformats.org/officeDocument/2006/relationships/tags" Target="../tags/tag267.xml"/></Relationships>
</file>

<file path=ppt/slides/_rels/slide87.xml.rels><?xml version="1.0" encoding="UTF-8" standalone="yes"?>
<Relationships xmlns="http://schemas.openxmlformats.org/package/2006/relationships"><Relationship Id="rId9" Type="http://schemas.openxmlformats.org/officeDocument/2006/relationships/image" Target="../media/image70.png"/><Relationship Id="rId8" Type="http://schemas.openxmlformats.org/officeDocument/2006/relationships/tags" Target="../tags/tag277.xml"/><Relationship Id="rId7" Type="http://schemas.openxmlformats.org/officeDocument/2006/relationships/image" Target="../media/image68.png"/><Relationship Id="rId6" Type="http://schemas.openxmlformats.org/officeDocument/2006/relationships/tags" Target="../tags/tag276.xml"/><Relationship Id="rId5" Type="http://schemas.openxmlformats.org/officeDocument/2006/relationships/image" Target="../media/image67.png"/><Relationship Id="rId4" Type="http://schemas.openxmlformats.org/officeDocument/2006/relationships/tags" Target="../tags/tag275.xml"/><Relationship Id="rId3" Type="http://schemas.openxmlformats.org/officeDocument/2006/relationships/tags" Target="../tags/tag274.xml"/><Relationship Id="rId2" Type="http://schemas.openxmlformats.org/officeDocument/2006/relationships/tags" Target="../tags/tag273.xml"/><Relationship Id="rId11" Type="http://schemas.openxmlformats.org/officeDocument/2006/relationships/slideLayout" Target="../slideLayouts/slideLayout2.xml"/><Relationship Id="rId10" Type="http://schemas.openxmlformats.org/officeDocument/2006/relationships/image" Target="../media/image71.png"/><Relationship Id="rId1" Type="http://schemas.openxmlformats.org/officeDocument/2006/relationships/tags" Target="../tags/tag272.xml"/></Relationships>
</file>

<file path=ppt/slides/_rels/slide8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2.png"/><Relationship Id="rId3" Type="http://schemas.openxmlformats.org/officeDocument/2006/relationships/tags" Target="../tags/tag280.xml"/><Relationship Id="rId2" Type="http://schemas.openxmlformats.org/officeDocument/2006/relationships/tags" Target="../tags/tag279.xml"/><Relationship Id="rId1" Type="http://schemas.openxmlformats.org/officeDocument/2006/relationships/tags" Target="../tags/tag278.xml"/></Relationships>
</file>

<file path=ppt/slides/_rels/slide8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285.xml"/><Relationship Id="rId5" Type="http://schemas.openxmlformats.org/officeDocument/2006/relationships/image" Target="../media/image65.png"/><Relationship Id="rId4" Type="http://schemas.openxmlformats.org/officeDocument/2006/relationships/tags" Target="../tags/tag284.xml"/><Relationship Id="rId3" Type="http://schemas.openxmlformats.org/officeDocument/2006/relationships/tags" Target="../tags/tag283.xml"/><Relationship Id="rId2" Type="http://schemas.openxmlformats.org/officeDocument/2006/relationships/tags" Target="../tags/tag282.xml"/><Relationship Id="rId1" Type="http://schemas.openxmlformats.org/officeDocument/2006/relationships/tags" Target="../tags/tag281.xml"/></Relationships>
</file>

<file path=ppt/slides/_rels/slide9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tags" Target="../tags/tag289.xml"/><Relationship Id="rId3" Type="http://schemas.openxmlformats.org/officeDocument/2006/relationships/tags" Target="../tags/tag288.xml"/><Relationship Id="rId2" Type="http://schemas.openxmlformats.org/officeDocument/2006/relationships/tags" Target="../tags/tag287.xml"/><Relationship Id="rId1" Type="http://schemas.openxmlformats.org/officeDocument/2006/relationships/tags" Target="../tags/tag286.xml"/></Relationships>
</file>

<file path=ppt/slides/_rels/slide9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295.xml"/><Relationship Id="rId7" Type="http://schemas.openxmlformats.org/officeDocument/2006/relationships/image" Target="../media/image75.png"/><Relationship Id="rId6" Type="http://schemas.openxmlformats.org/officeDocument/2006/relationships/tags" Target="../tags/tag294.xml"/><Relationship Id="rId5" Type="http://schemas.openxmlformats.org/officeDocument/2006/relationships/image" Target="../media/image74.png"/><Relationship Id="rId4" Type="http://schemas.openxmlformats.org/officeDocument/2006/relationships/tags" Target="../tags/tag293.xml"/><Relationship Id="rId3" Type="http://schemas.openxmlformats.org/officeDocument/2006/relationships/tags" Target="../tags/tag292.xml"/><Relationship Id="rId2" Type="http://schemas.openxmlformats.org/officeDocument/2006/relationships/tags" Target="../tags/tag291.xml"/><Relationship Id="rId1" Type="http://schemas.openxmlformats.org/officeDocument/2006/relationships/tags" Target="../tags/tag290.xml"/></Relationships>
</file>

<file path=ppt/slides/_rels/slide92.xml.rels><?xml version="1.0" encoding="UTF-8" standalone="yes"?>
<Relationships xmlns="http://schemas.openxmlformats.org/package/2006/relationships"><Relationship Id="rId9" Type="http://schemas.openxmlformats.org/officeDocument/2006/relationships/image" Target="../media/image75.png"/><Relationship Id="rId8" Type="http://schemas.openxmlformats.org/officeDocument/2006/relationships/tags" Target="../tags/tag301.xml"/><Relationship Id="rId7" Type="http://schemas.openxmlformats.org/officeDocument/2006/relationships/image" Target="../media/image77.png"/><Relationship Id="rId6" Type="http://schemas.openxmlformats.org/officeDocument/2006/relationships/tags" Target="../tags/tag300.xml"/><Relationship Id="rId5" Type="http://schemas.openxmlformats.org/officeDocument/2006/relationships/image" Target="../media/image76.png"/><Relationship Id="rId4" Type="http://schemas.openxmlformats.org/officeDocument/2006/relationships/tags" Target="../tags/tag299.xml"/><Relationship Id="rId3" Type="http://schemas.openxmlformats.org/officeDocument/2006/relationships/tags" Target="../tags/tag298.xml"/><Relationship Id="rId2" Type="http://schemas.openxmlformats.org/officeDocument/2006/relationships/tags" Target="../tags/tag297.xml"/><Relationship Id="rId14" Type="http://schemas.openxmlformats.org/officeDocument/2006/relationships/slideLayout" Target="../slideLayouts/slideLayout2.xml"/><Relationship Id="rId13" Type="http://schemas.openxmlformats.org/officeDocument/2006/relationships/image" Target="../media/image78.png"/><Relationship Id="rId12" Type="http://schemas.openxmlformats.org/officeDocument/2006/relationships/tags" Target="../tags/tag303.xml"/><Relationship Id="rId11" Type="http://schemas.openxmlformats.org/officeDocument/2006/relationships/image" Target="../media/image65.png"/><Relationship Id="rId10" Type="http://schemas.openxmlformats.org/officeDocument/2006/relationships/tags" Target="../tags/tag302.xml"/><Relationship Id="rId1" Type="http://schemas.openxmlformats.org/officeDocument/2006/relationships/tags" Target="../tags/tag296.xml"/></Relationships>
</file>

<file path=ppt/slides/_rels/slide93.xml.rels><?xml version="1.0" encoding="UTF-8" standalone="yes"?>
<Relationships xmlns="http://schemas.openxmlformats.org/package/2006/relationships"><Relationship Id="rId9" Type="http://schemas.openxmlformats.org/officeDocument/2006/relationships/image" Target="../media/image79.png"/><Relationship Id="rId8" Type="http://schemas.openxmlformats.org/officeDocument/2006/relationships/tags" Target="../tags/tag309.xml"/><Relationship Id="rId7" Type="http://schemas.openxmlformats.org/officeDocument/2006/relationships/image" Target="../media/image73.png"/><Relationship Id="rId6" Type="http://schemas.openxmlformats.org/officeDocument/2006/relationships/tags" Target="../tags/tag308.xml"/><Relationship Id="rId5" Type="http://schemas.openxmlformats.org/officeDocument/2006/relationships/image" Target="../media/image76.png"/><Relationship Id="rId4" Type="http://schemas.openxmlformats.org/officeDocument/2006/relationships/tags" Target="../tags/tag307.xml"/><Relationship Id="rId3" Type="http://schemas.openxmlformats.org/officeDocument/2006/relationships/tags" Target="../tags/tag306.xml"/><Relationship Id="rId2" Type="http://schemas.openxmlformats.org/officeDocument/2006/relationships/tags" Target="../tags/tag305.xml"/><Relationship Id="rId15" Type="http://schemas.openxmlformats.org/officeDocument/2006/relationships/slideLayout" Target="../slideLayouts/slideLayout2.xml"/><Relationship Id="rId14" Type="http://schemas.openxmlformats.org/officeDocument/2006/relationships/image" Target="../media/image75.png"/><Relationship Id="rId13" Type="http://schemas.openxmlformats.org/officeDocument/2006/relationships/tags" Target="../tags/tag311.xml"/><Relationship Id="rId12" Type="http://schemas.openxmlformats.org/officeDocument/2006/relationships/image" Target="../media/image80.png"/><Relationship Id="rId11" Type="http://schemas.openxmlformats.org/officeDocument/2006/relationships/tags" Target="../tags/tag310.xml"/><Relationship Id="rId10" Type="http://schemas.openxmlformats.org/officeDocument/2006/relationships/image" Target="../media/image65.png"/><Relationship Id="rId1" Type="http://schemas.openxmlformats.org/officeDocument/2006/relationships/tags" Target="../tags/tag304.xml"/></Relationships>
</file>

<file path=ppt/slides/_rels/slide94.xml.rels><?xml version="1.0" encoding="UTF-8" standalone="yes"?>
<Relationships xmlns="http://schemas.openxmlformats.org/package/2006/relationships"><Relationship Id="rId9" Type="http://schemas.openxmlformats.org/officeDocument/2006/relationships/image" Target="../media/image75.png"/><Relationship Id="rId8" Type="http://schemas.openxmlformats.org/officeDocument/2006/relationships/tags" Target="../tags/tag317.xml"/><Relationship Id="rId7" Type="http://schemas.openxmlformats.org/officeDocument/2006/relationships/image" Target="../media/image80.png"/><Relationship Id="rId6" Type="http://schemas.openxmlformats.org/officeDocument/2006/relationships/tags" Target="../tags/tag316.xml"/><Relationship Id="rId5" Type="http://schemas.openxmlformats.org/officeDocument/2006/relationships/image" Target="../media/image73.png"/><Relationship Id="rId4" Type="http://schemas.openxmlformats.org/officeDocument/2006/relationships/tags" Target="../tags/tag315.xml"/><Relationship Id="rId3" Type="http://schemas.openxmlformats.org/officeDocument/2006/relationships/tags" Target="../tags/tag314.xml"/><Relationship Id="rId2" Type="http://schemas.openxmlformats.org/officeDocument/2006/relationships/tags" Target="../tags/tag313.xml"/><Relationship Id="rId12" Type="http://schemas.openxmlformats.org/officeDocument/2006/relationships/slideLayout" Target="../slideLayouts/slideLayout2.xml"/><Relationship Id="rId11" Type="http://schemas.openxmlformats.org/officeDocument/2006/relationships/image" Target="../media/image81.png"/><Relationship Id="rId10" Type="http://schemas.openxmlformats.org/officeDocument/2006/relationships/tags" Target="../tags/tag318.xml"/><Relationship Id="rId1" Type="http://schemas.openxmlformats.org/officeDocument/2006/relationships/tags" Target="../tags/tag312.xml"/></Relationships>
</file>

<file path=ppt/slides/_rels/slide9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81.png"/><Relationship Id="rId6" Type="http://schemas.openxmlformats.org/officeDocument/2006/relationships/tags" Target="../tags/tag323.xml"/><Relationship Id="rId5" Type="http://schemas.openxmlformats.org/officeDocument/2006/relationships/image" Target="../media/image82.png"/><Relationship Id="rId4" Type="http://schemas.openxmlformats.org/officeDocument/2006/relationships/tags" Target="../tags/tag322.xml"/><Relationship Id="rId3" Type="http://schemas.openxmlformats.org/officeDocument/2006/relationships/tags" Target="../tags/tag321.xml"/><Relationship Id="rId2" Type="http://schemas.openxmlformats.org/officeDocument/2006/relationships/tags" Target="../tags/tag320.xml"/><Relationship Id="rId1" Type="http://schemas.openxmlformats.org/officeDocument/2006/relationships/tags" Target="../tags/tag319.xml"/></Relationships>
</file>

<file path=ppt/slides/_rels/slide96.xml.rels><?xml version="1.0" encoding="UTF-8" standalone="yes"?>
<Relationships xmlns="http://schemas.openxmlformats.org/package/2006/relationships"><Relationship Id="rId9" Type="http://schemas.openxmlformats.org/officeDocument/2006/relationships/image" Target="../media/image75.png"/><Relationship Id="rId8" Type="http://schemas.openxmlformats.org/officeDocument/2006/relationships/tags" Target="../tags/tag329.xml"/><Relationship Id="rId7" Type="http://schemas.openxmlformats.org/officeDocument/2006/relationships/image" Target="../media/image80.png"/><Relationship Id="rId6" Type="http://schemas.openxmlformats.org/officeDocument/2006/relationships/tags" Target="../tags/tag328.xml"/><Relationship Id="rId5" Type="http://schemas.openxmlformats.org/officeDocument/2006/relationships/image" Target="../media/image73.png"/><Relationship Id="rId4" Type="http://schemas.openxmlformats.org/officeDocument/2006/relationships/tags" Target="../tags/tag327.xml"/><Relationship Id="rId3" Type="http://schemas.openxmlformats.org/officeDocument/2006/relationships/tags" Target="../tags/tag326.xml"/><Relationship Id="rId2" Type="http://schemas.openxmlformats.org/officeDocument/2006/relationships/tags" Target="../tags/tag325.xml"/><Relationship Id="rId12" Type="http://schemas.openxmlformats.org/officeDocument/2006/relationships/slideLayout" Target="../slideLayouts/slideLayout2.xml"/><Relationship Id="rId11" Type="http://schemas.openxmlformats.org/officeDocument/2006/relationships/image" Target="../media/image81.png"/><Relationship Id="rId10" Type="http://schemas.openxmlformats.org/officeDocument/2006/relationships/tags" Target="../tags/tag330.xml"/><Relationship Id="rId1" Type="http://schemas.openxmlformats.org/officeDocument/2006/relationships/tags" Target="../tags/tag324.xml"/></Relationships>
</file>

<file path=ppt/slides/_rels/slide97.xml.rels><?xml version="1.0" encoding="UTF-8" standalone="yes"?>
<Relationships xmlns="http://schemas.openxmlformats.org/package/2006/relationships"><Relationship Id="rId9" Type="http://schemas.openxmlformats.org/officeDocument/2006/relationships/image" Target="../media/image65.png"/><Relationship Id="rId8" Type="http://schemas.openxmlformats.org/officeDocument/2006/relationships/image" Target="../media/image84.png"/><Relationship Id="rId7" Type="http://schemas.openxmlformats.org/officeDocument/2006/relationships/image" Target="../media/image70.png"/><Relationship Id="rId6" Type="http://schemas.openxmlformats.org/officeDocument/2006/relationships/tags" Target="../tags/tag335.xml"/><Relationship Id="rId5" Type="http://schemas.openxmlformats.org/officeDocument/2006/relationships/image" Target="../media/image83.png"/><Relationship Id="rId4" Type="http://schemas.openxmlformats.org/officeDocument/2006/relationships/tags" Target="../tags/tag334.xml"/><Relationship Id="rId3" Type="http://schemas.openxmlformats.org/officeDocument/2006/relationships/tags" Target="../tags/tag333.xml"/><Relationship Id="rId2" Type="http://schemas.openxmlformats.org/officeDocument/2006/relationships/tags" Target="../tags/tag332.xml"/><Relationship Id="rId10" Type="http://schemas.openxmlformats.org/officeDocument/2006/relationships/slideLayout" Target="../slideLayouts/slideLayout2.xml"/><Relationship Id="rId1" Type="http://schemas.openxmlformats.org/officeDocument/2006/relationships/tags" Target="../tags/tag331.xml"/></Relationships>
</file>

<file path=ppt/slides/_rels/slide9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tags" Target="../tags/tag339.xml"/><Relationship Id="rId3" Type="http://schemas.openxmlformats.org/officeDocument/2006/relationships/tags" Target="../tags/tag338.xml"/><Relationship Id="rId2" Type="http://schemas.openxmlformats.org/officeDocument/2006/relationships/tags" Target="../tags/tag337.xml"/><Relationship Id="rId1" Type="http://schemas.openxmlformats.org/officeDocument/2006/relationships/tags" Target="../tags/tag336.xml"/></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6.png"/><Relationship Id="rId1" Type="http://schemas.openxmlformats.org/officeDocument/2006/relationships/tags" Target="../tags/tag3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0" y="3810"/>
            <a:ext cx="12192635" cy="68510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pic>
        <p:nvPicPr>
          <p:cNvPr id="16" name="图片 15" descr="在地上&#10;&#10;低可信度描述已自动生成"/>
          <p:cNvPicPr>
            <a:picLocks noChangeAspect="1"/>
          </p:cNvPicPr>
          <p:nvPr/>
        </p:nvPicPr>
        <p:blipFill>
          <a:blip r:embed="rId1">
            <a:extLst>
              <a:ext uri="{28A0092B-C50C-407E-A947-70E740481C1C}">
                <a14:useLocalDpi xmlns:a14="http://schemas.microsoft.com/office/drawing/2010/main" val="0"/>
              </a:ext>
            </a:extLst>
          </a:blip>
          <a:srcRect t="18750" b="12524"/>
          <a:stretch>
            <a:fillRect/>
          </a:stretch>
        </p:blipFill>
        <p:spPr>
          <a:xfrm>
            <a:off x="0" y="2832100"/>
            <a:ext cx="12192000" cy="4025900"/>
          </a:xfrm>
          <a:custGeom>
            <a:avLst/>
            <a:gdLst>
              <a:gd name="connsiteX0" fmla="*/ 0 w 12192000"/>
              <a:gd name="connsiteY0" fmla="*/ 0 h 4025900"/>
              <a:gd name="connsiteX1" fmla="*/ 12192000 w 12192000"/>
              <a:gd name="connsiteY1" fmla="*/ 0 h 4025900"/>
              <a:gd name="connsiteX2" fmla="*/ 12192000 w 12192000"/>
              <a:gd name="connsiteY2" fmla="*/ 4025900 h 4025900"/>
              <a:gd name="connsiteX3" fmla="*/ 0 w 12192000"/>
              <a:gd name="connsiteY3" fmla="*/ 4025900 h 4025900"/>
            </a:gdLst>
            <a:ahLst/>
            <a:cxnLst>
              <a:cxn ang="0">
                <a:pos x="connsiteX0" y="connsiteY0"/>
              </a:cxn>
              <a:cxn ang="0">
                <a:pos x="connsiteX1" y="connsiteY1"/>
              </a:cxn>
              <a:cxn ang="0">
                <a:pos x="connsiteX2" y="connsiteY2"/>
              </a:cxn>
              <a:cxn ang="0">
                <a:pos x="connsiteX3" y="connsiteY3"/>
              </a:cxn>
            </a:cxnLst>
            <a:rect l="l" t="t" r="r" b="b"/>
            <a:pathLst>
              <a:path w="12192000" h="4025900">
                <a:moveTo>
                  <a:pt x="0" y="0"/>
                </a:moveTo>
                <a:lnTo>
                  <a:pt x="12192000" y="0"/>
                </a:lnTo>
                <a:lnTo>
                  <a:pt x="12192000" y="4025900"/>
                </a:lnTo>
                <a:lnTo>
                  <a:pt x="0" y="4025900"/>
                </a:lnTo>
                <a:close/>
              </a:path>
            </a:pathLst>
          </a:custGeom>
        </p:spPr>
      </p:pic>
      <p:sp>
        <p:nvSpPr>
          <p:cNvPr id="9" name="文本框 8"/>
          <p:cNvSpPr txBox="1"/>
          <p:nvPr/>
        </p:nvSpPr>
        <p:spPr>
          <a:xfrm>
            <a:off x="4933539" y="813096"/>
            <a:ext cx="2337621" cy="861774"/>
          </a:xfrm>
          <a:prstGeom prst="rect">
            <a:avLst/>
          </a:prstGeom>
        </p:spPr>
        <p:txBody>
          <a:bodyPr wrap="square">
            <a:spAutoFit/>
          </a:bodyPr>
          <a:lstStyle>
            <a:defPPr>
              <a:defRPr lang="zh-CN"/>
            </a:defPPr>
            <a:lvl1pPr>
              <a:defRPr sz="3000">
                <a:solidFill>
                  <a:srgbClr val="618FA7"/>
                </a:solidFill>
                <a:latin typeface="汉仪中宋简" panose="02010609000101010101" pitchFamily="49" charset="-122"/>
                <a:ea typeface="汉仪中宋简" panose="02010609000101010101" pitchFamily="49" charset="-122"/>
              </a:defRPr>
            </a:lvl1pPr>
          </a:lstStyle>
          <a:p>
            <a:pPr algn="ctr"/>
            <a:r>
              <a:rPr lang="zh-CN" altLang="en-US" sz="5000" b="1" dirty="0">
                <a:solidFill>
                  <a:srgbClr val="6FB4BD"/>
                </a:solidFill>
              </a:rPr>
              <a:t>目录</a:t>
            </a:r>
            <a:endParaRPr lang="zh-CN" altLang="en-US" sz="5000" b="1" dirty="0">
              <a:solidFill>
                <a:srgbClr val="6FB4BD"/>
              </a:solidFill>
            </a:endParaRPr>
          </a:p>
        </p:txBody>
      </p:sp>
      <p:sp>
        <p:nvSpPr>
          <p:cNvPr id="10" name="文本框 9"/>
          <p:cNvSpPr txBox="1"/>
          <p:nvPr/>
        </p:nvSpPr>
        <p:spPr>
          <a:xfrm>
            <a:off x="5111750" y="1674870"/>
            <a:ext cx="1968500" cy="369332"/>
          </a:xfrm>
          <a:prstGeom prst="rect">
            <a:avLst/>
          </a:prstGeom>
        </p:spPr>
        <p:txBody>
          <a:bodyPr wrap="square">
            <a:spAutoFit/>
          </a:bodyPr>
          <a:lstStyle>
            <a:defPPr>
              <a:defRPr lang="zh-CN"/>
            </a:defPPr>
            <a:lvl1pPr>
              <a:defRPr sz="3000">
                <a:solidFill>
                  <a:srgbClr val="618FA7"/>
                </a:solidFill>
                <a:latin typeface="汉仪中宋简" panose="02010609000101010101" pitchFamily="49" charset="-122"/>
                <a:ea typeface="汉仪中宋简" panose="02010609000101010101" pitchFamily="49" charset="-122"/>
              </a:defRPr>
            </a:lvl1pPr>
          </a:lstStyle>
          <a:p>
            <a:pPr algn="dist"/>
            <a:r>
              <a:rPr lang="en-US" altLang="zh-CN" sz="1800" b="1" dirty="0">
                <a:solidFill>
                  <a:srgbClr val="6FB4BD"/>
                </a:solidFill>
              </a:rPr>
              <a:t>CONTENTS</a:t>
            </a:r>
            <a:endParaRPr lang="zh-CN" altLang="en-US" sz="1800" b="1" dirty="0">
              <a:solidFill>
                <a:srgbClr val="6FB4BD"/>
              </a:solidFill>
            </a:endParaRPr>
          </a:p>
        </p:txBody>
      </p:sp>
      <p:grpSp>
        <p:nvGrpSpPr>
          <p:cNvPr id="14" name="组合 13"/>
          <p:cNvGrpSpPr/>
          <p:nvPr/>
        </p:nvGrpSpPr>
        <p:grpSpPr>
          <a:xfrm>
            <a:off x="1670050" y="2819130"/>
            <a:ext cx="3582597" cy="903664"/>
            <a:chOff x="1029437" y="3931614"/>
            <a:chExt cx="3582597" cy="903664"/>
          </a:xfrm>
        </p:grpSpPr>
        <p:sp>
          <p:nvSpPr>
            <p:cNvPr id="15" name="矩形 14"/>
            <p:cNvSpPr/>
            <p:nvPr/>
          </p:nvSpPr>
          <p:spPr>
            <a:xfrm>
              <a:off x="1029437" y="3988332"/>
              <a:ext cx="853873" cy="707886"/>
            </a:xfrm>
            <a:prstGeom prst="rect">
              <a:avLst/>
            </a:prstGeom>
          </p:spPr>
          <p:txBody>
            <a:bodyPr wrap="square">
              <a:spAutoFit/>
            </a:bodyPr>
            <a:lstStyle/>
            <a:p>
              <a:r>
                <a:rPr lang="en-US" altLang="zh-CN" sz="4000" dirty="0">
                  <a:solidFill>
                    <a:srgbClr val="6FB4BD"/>
                  </a:solidFill>
                  <a:latin typeface="汉仪中宋简" panose="02010609000101010101" pitchFamily="49" charset="-122"/>
                  <a:ea typeface="汉仪中宋简" panose="02010609000101010101" pitchFamily="49" charset="-122"/>
                </a:rPr>
                <a:t>01</a:t>
              </a:r>
              <a:endParaRPr lang="zh-CN" altLang="en-US" sz="4000" dirty="0">
                <a:solidFill>
                  <a:srgbClr val="6FB4BD"/>
                </a:solidFill>
                <a:latin typeface="汉仪中宋简" panose="02010609000101010101" pitchFamily="49" charset="-122"/>
                <a:ea typeface="汉仪中宋简" panose="02010609000101010101" pitchFamily="49" charset="-122"/>
              </a:endParaRPr>
            </a:p>
          </p:txBody>
        </p:sp>
        <p:sp>
          <p:nvSpPr>
            <p:cNvPr id="17" name="矩形 16"/>
            <p:cNvSpPr/>
            <p:nvPr/>
          </p:nvSpPr>
          <p:spPr>
            <a:xfrm>
              <a:off x="1965156" y="3931614"/>
              <a:ext cx="2646878" cy="706755"/>
            </a:xfrm>
            <a:prstGeom prst="rect">
              <a:avLst/>
            </a:prstGeom>
          </p:spPr>
          <p:txBody>
            <a:bodyPr wrap="square">
              <a:spAutoFit/>
            </a:bodyPr>
            <a:lstStyle/>
            <a:p>
              <a:r>
                <a:rPr lang="zh-CN" altLang="en-US" sz="4000" dirty="0">
                  <a:solidFill>
                    <a:srgbClr val="6FB4BD"/>
                  </a:solidFill>
                  <a:latin typeface="华文新魏" panose="02010800040101010101" charset="-122"/>
                  <a:ea typeface="华文新魏" panose="02010800040101010101" charset="-122"/>
                </a:rPr>
                <a:t>决策树</a:t>
              </a:r>
              <a:r>
                <a:rPr lang="en-US" altLang="zh-CN" sz="4000" dirty="0">
                  <a:solidFill>
                    <a:srgbClr val="6FB4BD"/>
                  </a:solidFill>
                  <a:latin typeface="华文新魏" panose="02010800040101010101" charset="-122"/>
                  <a:ea typeface="华文新魏" panose="02010800040101010101" charset="-122"/>
                </a:rPr>
                <a:t> </a:t>
              </a:r>
              <a:endParaRPr lang="en-US" altLang="zh-CN" sz="4000" dirty="0">
                <a:solidFill>
                  <a:srgbClr val="6FB4BD"/>
                </a:solidFill>
                <a:latin typeface="华文新魏" panose="02010800040101010101" charset="-122"/>
                <a:ea typeface="华文新魏" panose="02010800040101010101" charset="-122"/>
              </a:endParaRPr>
            </a:p>
          </p:txBody>
        </p:sp>
        <p:sp>
          <p:nvSpPr>
            <p:cNvPr id="18" name="椭圆 17"/>
            <p:cNvSpPr/>
            <p:nvPr/>
          </p:nvSpPr>
          <p:spPr>
            <a:xfrm>
              <a:off x="1647656" y="4041087"/>
              <a:ext cx="106292" cy="106292"/>
            </a:xfrm>
            <a:prstGeom prst="ellipse">
              <a:avLst/>
            </a:prstGeom>
            <a:noFill/>
            <a:ln w="19050">
              <a:solidFill>
                <a:srgbClr val="6FB4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FB4BD"/>
                </a:solidFill>
              </a:endParaRPr>
            </a:p>
          </p:txBody>
        </p:sp>
        <p:sp>
          <p:nvSpPr>
            <p:cNvPr id="19" name="矩形 18"/>
            <p:cNvSpPr/>
            <p:nvPr/>
          </p:nvSpPr>
          <p:spPr>
            <a:xfrm>
              <a:off x="1996815" y="4436498"/>
              <a:ext cx="2474677" cy="398780"/>
            </a:xfrm>
            <a:prstGeom prst="rect">
              <a:avLst/>
            </a:prstGeom>
          </p:spPr>
          <p:txBody>
            <a:bodyPr wrap="square">
              <a:spAutoFit/>
            </a:bodyPr>
            <a:lstStyle/>
            <a:p>
              <a:pPr algn="l"/>
              <a:r>
                <a:rPr lang="zh-CN" altLang="en-US" sz="2000" dirty="0">
                  <a:solidFill>
                    <a:srgbClr val="6FB4BD"/>
                  </a:solidFill>
                </a:rPr>
                <a:t>decision tree</a:t>
              </a:r>
              <a:endParaRPr lang="zh-CN" altLang="en-US" sz="2000" dirty="0">
                <a:solidFill>
                  <a:srgbClr val="6FB4BD"/>
                </a:solidFill>
              </a:endParaRPr>
            </a:p>
          </p:txBody>
        </p:sp>
      </p:grpSp>
      <p:grpSp>
        <p:nvGrpSpPr>
          <p:cNvPr id="20" name="组合 19"/>
          <p:cNvGrpSpPr/>
          <p:nvPr/>
        </p:nvGrpSpPr>
        <p:grpSpPr>
          <a:xfrm>
            <a:off x="7080250" y="2819400"/>
            <a:ext cx="3698875" cy="903605"/>
            <a:chOff x="1029437" y="3931614"/>
            <a:chExt cx="3698800" cy="798262"/>
          </a:xfrm>
        </p:grpSpPr>
        <p:sp>
          <p:nvSpPr>
            <p:cNvPr id="21" name="矩形 20"/>
            <p:cNvSpPr/>
            <p:nvPr/>
          </p:nvSpPr>
          <p:spPr>
            <a:xfrm>
              <a:off x="1029437" y="3988332"/>
              <a:ext cx="853873" cy="624361"/>
            </a:xfrm>
            <a:prstGeom prst="rect">
              <a:avLst/>
            </a:prstGeom>
          </p:spPr>
          <p:txBody>
            <a:bodyPr wrap="square">
              <a:spAutoFit/>
            </a:bodyPr>
            <a:lstStyle/>
            <a:p>
              <a:r>
                <a:rPr lang="en-US" altLang="zh-CN" sz="4000" dirty="0">
                  <a:solidFill>
                    <a:srgbClr val="6FB4BD"/>
                  </a:solidFill>
                  <a:latin typeface="汉仪中宋简" panose="02010609000101010101" pitchFamily="49" charset="-122"/>
                  <a:ea typeface="汉仪中宋简" panose="02010609000101010101" pitchFamily="49" charset="-122"/>
                </a:rPr>
                <a:t>02</a:t>
              </a:r>
              <a:endParaRPr lang="zh-CN" altLang="en-US" sz="4000" dirty="0">
                <a:solidFill>
                  <a:srgbClr val="6FB4BD"/>
                </a:solidFill>
                <a:latin typeface="汉仪中宋简" panose="02010609000101010101" pitchFamily="49" charset="-122"/>
                <a:ea typeface="汉仪中宋简" panose="02010609000101010101" pitchFamily="49" charset="-122"/>
              </a:endParaRPr>
            </a:p>
          </p:txBody>
        </p:sp>
        <p:sp>
          <p:nvSpPr>
            <p:cNvPr id="22" name="矩形 21"/>
            <p:cNvSpPr/>
            <p:nvPr/>
          </p:nvSpPr>
          <p:spPr>
            <a:xfrm>
              <a:off x="1965156" y="3931614"/>
              <a:ext cx="2646878" cy="624361"/>
            </a:xfrm>
            <a:prstGeom prst="rect">
              <a:avLst/>
            </a:prstGeom>
          </p:spPr>
          <p:txBody>
            <a:bodyPr wrap="square">
              <a:spAutoFit/>
            </a:bodyPr>
            <a:lstStyle/>
            <a:p>
              <a:r>
                <a:rPr lang="zh-CN" altLang="en-US" sz="4000" dirty="0">
                  <a:solidFill>
                    <a:srgbClr val="6FB4BD"/>
                  </a:solidFill>
                  <a:latin typeface="华文新魏" panose="02010800040101010101" charset="-122"/>
                  <a:ea typeface="华文新魏" panose="02010800040101010101" charset="-122"/>
                </a:rPr>
                <a:t>集成算法</a:t>
              </a:r>
              <a:endParaRPr lang="zh-CN" altLang="en-US" sz="4000" dirty="0">
                <a:solidFill>
                  <a:srgbClr val="6FB4BD"/>
                </a:solidFill>
                <a:latin typeface="华文新魏" panose="02010800040101010101" charset="-122"/>
                <a:ea typeface="华文新魏" panose="02010800040101010101" charset="-122"/>
              </a:endParaRPr>
            </a:p>
          </p:txBody>
        </p:sp>
        <p:sp>
          <p:nvSpPr>
            <p:cNvPr id="23" name="椭圆 22"/>
            <p:cNvSpPr/>
            <p:nvPr/>
          </p:nvSpPr>
          <p:spPr>
            <a:xfrm>
              <a:off x="1647656" y="4041087"/>
              <a:ext cx="106292" cy="106292"/>
            </a:xfrm>
            <a:prstGeom prst="ellipse">
              <a:avLst/>
            </a:prstGeom>
            <a:noFill/>
            <a:ln w="19050">
              <a:solidFill>
                <a:srgbClr val="6FB4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FB4BD"/>
                </a:solidFill>
              </a:endParaRPr>
            </a:p>
          </p:txBody>
        </p:sp>
        <p:sp>
          <p:nvSpPr>
            <p:cNvPr id="24" name="矩形 23"/>
            <p:cNvSpPr/>
            <p:nvPr/>
          </p:nvSpPr>
          <p:spPr>
            <a:xfrm>
              <a:off x="1979378" y="4377586"/>
              <a:ext cx="2748859" cy="352290"/>
            </a:xfrm>
            <a:prstGeom prst="rect">
              <a:avLst/>
            </a:prstGeom>
          </p:spPr>
          <p:txBody>
            <a:bodyPr wrap="square">
              <a:spAutoFit/>
            </a:bodyPr>
            <a:lstStyle/>
            <a:p>
              <a:pPr algn="l"/>
              <a:r>
                <a:rPr lang="zh-CN" altLang="en-US" sz="2000" dirty="0">
                  <a:solidFill>
                    <a:srgbClr val="6FB4BD"/>
                  </a:solidFill>
                </a:rPr>
                <a:t>integration algorithm</a:t>
              </a:r>
              <a:endParaRPr lang="zh-CN" altLang="en-US" sz="2000" dirty="0">
                <a:solidFill>
                  <a:srgbClr val="6FB4BD"/>
                </a:solidFill>
              </a:endParaRPr>
            </a:p>
          </p:txBody>
        </p:sp>
      </p:grpSp>
      <p:grpSp>
        <p:nvGrpSpPr>
          <p:cNvPr id="25" name="组合 24"/>
          <p:cNvGrpSpPr/>
          <p:nvPr/>
        </p:nvGrpSpPr>
        <p:grpSpPr>
          <a:xfrm>
            <a:off x="1670050" y="4025630"/>
            <a:ext cx="3582597" cy="844609"/>
            <a:chOff x="1029437" y="3931614"/>
            <a:chExt cx="3582597" cy="844609"/>
          </a:xfrm>
        </p:grpSpPr>
        <p:sp>
          <p:nvSpPr>
            <p:cNvPr id="26" name="矩形 25"/>
            <p:cNvSpPr/>
            <p:nvPr/>
          </p:nvSpPr>
          <p:spPr>
            <a:xfrm>
              <a:off x="1029437" y="3988332"/>
              <a:ext cx="853873" cy="707886"/>
            </a:xfrm>
            <a:prstGeom prst="rect">
              <a:avLst/>
            </a:prstGeom>
          </p:spPr>
          <p:txBody>
            <a:bodyPr wrap="square">
              <a:spAutoFit/>
            </a:bodyPr>
            <a:lstStyle/>
            <a:p>
              <a:r>
                <a:rPr lang="en-US" altLang="zh-CN" sz="4000" dirty="0">
                  <a:solidFill>
                    <a:srgbClr val="6FB4BD"/>
                  </a:solidFill>
                  <a:latin typeface="汉仪中宋简" panose="02010609000101010101" pitchFamily="49" charset="-122"/>
                  <a:ea typeface="汉仪中宋简" panose="02010609000101010101" pitchFamily="49" charset="-122"/>
                </a:rPr>
                <a:t>03</a:t>
              </a:r>
              <a:endParaRPr lang="zh-CN" altLang="en-US" sz="4000" dirty="0">
                <a:solidFill>
                  <a:srgbClr val="6FB4BD"/>
                </a:solidFill>
                <a:latin typeface="汉仪中宋简" panose="02010609000101010101" pitchFamily="49" charset="-122"/>
                <a:ea typeface="汉仪中宋简" panose="02010609000101010101" pitchFamily="49" charset="-122"/>
              </a:endParaRPr>
            </a:p>
          </p:txBody>
        </p:sp>
        <p:sp>
          <p:nvSpPr>
            <p:cNvPr id="28" name="矩形 27"/>
            <p:cNvSpPr/>
            <p:nvPr/>
          </p:nvSpPr>
          <p:spPr>
            <a:xfrm>
              <a:off x="1965156" y="3931614"/>
              <a:ext cx="2646878" cy="706755"/>
            </a:xfrm>
            <a:prstGeom prst="rect">
              <a:avLst/>
            </a:prstGeom>
          </p:spPr>
          <p:txBody>
            <a:bodyPr wrap="square">
              <a:spAutoFit/>
            </a:bodyPr>
            <a:lstStyle/>
            <a:p>
              <a:r>
                <a:rPr lang="zh-CN" altLang="en-US" sz="4000" dirty="0">
                  <a:solidFill>
                    <a:srgbClr val="6FB4BD"/>
                  </a:solidFill>
                  <a:latin typeface="华文新魏" panose="02010800040101010101" charset="-122"/>
                  <a:ea typeface="华文新魏" panose="02010800040101010101" charset="-122"/>
                </a:rPr>
                <a:t>随机森林</a:t>
              </a:r>
              <a:endParaRPr lang="zh-CN" altLang="en-US" sz="4000" dirty="0">
                <a:solidFill>
                  <a:srgbClr val="6FB4BD"/>
                </a:solidFill>
                <a:latin typeface="华文新魏" panose="02010800040101010101" charset="-122"/>
                <a:ea typeface="华文新魏" panose="02010800040101010101" charset="-122"/>
              </a:endParaRPr>
            </a:p>
          </p:txBody>
        </p:sp>
        <p:sp>
          <p:nvSpPr>
            <p:cNvPr id="29" name="椭圆 28"/>
            <p:cNvSpPr/>
            <p:nvPr/>
          </p:nvSpPr>
          <p:spPr>
            <a:xfrm>
              <a:off x="1647656" y="4041087"/>
              <a:ext cx="106292" cy="106292"/>
            </a:xfrm>
            <a:prstGeom prst="ellipse">
              <a:avLst/>
            </a:prstGeom>
            <a:noFill/>
            <a:ln w="19050">
              <a:solidFill>
                <a:srgbClr val="6FB4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FB4BD"/>
                </a:solidFill>
              </a:endParaRPr>
            </a:p>
          </p:txBody>
        </p:sp>
        <p:sp>
          <p:nvSpPr>
            <p:cNvPr id="30" name="矩形 29"/>
            <p:cNvSpPr/>
            <p:nvPr/>
          </p:nvSpPr>
          <p:spPr>
            <a:xfrm>
              <a:off x="1979670" y="4377443"/>
              <a:ext cx="2474677" cy="398780"/>
            </a:xfrm>
            <a:prstGeom prst="rect">
              <a:avLst/>
            </a:prstGeom>
          </p:spPr>
          <p:txBody>
            <a:bodyPr wrap="square">
              <a:spAutoFit/>
            </a:bodyPr>
            <a:lstStyle/>
            <a:p>
              <a:pPr algn="l"/>
              <a:r>
                <a:rPr lang="en-US" altLang="zh-CN" sz="2000" dirty="0">
                  <a:solidFill>
                    <a:srgbClr val="6FB4BD"/>
                  </a:solidFill>
                </a:rPr>
                <a:t>  </a:t>
              </a:r>
              <a:r>
                <a:rPr lang="zh-CN" altLang="en-US" sz="2000" dirty="0">
                  <a:solidFill>
                    <a:srgbClr val="6FB4BD"/>
                  </a:solidFill>
                </a:rPr>
                <a:t>random for</a:t>
              </a:r>
              <a:r>
                <a:rPr lang="en-US" altLang="zh-CN" sz="2000" dirty="0">
                  <a:solidFill>
                    <a:srgbClr val="6FB4BD"/>
                  </a:solidFill>
                </a:rPr>
                <a:t>s</a:t>
              </a:r>
              <a:r>
                <a:rPr lang="zh-CN" altLang="en-US" sz="2000" dirty="0">
                  <a:solidFill>
                    <a:srgbClr val="6FB4BD"/>
                  </a:solidFill>
                </a:rPr>
                <a:t>est</a:t>
              </a:r>
              <a:endParaRPr lang="zh-CN" altLang="en-US" sz="2000" dirty="0">
                <a:solidFill>
                  <a:srgbClr val="6FB4BD"/>
                </a:solidFill>
              </a:endParaRPr>
            </a:p>
          </p:txBody>
        </p:sp>
      </p:grpSp>
      <p:grpSp>
        <p:nvGrpSpPr>
          <p:cNvPr id="31" name="组合 30"/>
          <p:cNvGrpSpPr/>
          <p:nvPr/>
        </p:nvGrpSpPr>
        <p:grpSpPr>
          <a:xfrm>
            <a:off x="7080250" y="4025630"/>
            <a:ext cx="3582597" cy="844609"/>
            <a:chOff x="1029437" y="3931614"/>
            <a:chExt cx="3582597" cy="844609"/>
          </a:xfrm>
        </p:grpSpPr>
        <p:sp>
          <p:nvSpPr>
            <p:cNvPr id="32" name="矩形 31"/>
            <p:cNvSpPr/>
            <p:nvPr/>
          </p:nvSpPr>
          <p:spPr>
            <a:xfrm>
              <a:off x="1029437" y="3988332"/>
              <a:ext cx="853873" cy="707886"/>
            </a:xfrm>
            <a:prstGeom prst="rect">
              <a:avLst/>
            </a:prstGeom>
          </p:spPr>
          <p:txBody>
            <a:bodyPr wrap="square">
              <a:spAutoFit/>
            </a:bodyPr>
            <a:lstStyle/>
            <a:p>
              <a:r>
                <a:rPr lang="en-US" altLang="zh-CN" sz="4000" dirty="0">
                  <a:solidFill>
                    <a:srgbClr val="6FB4BD"/>
                  </a:solidFill>
                  <a:latin typeface="汉仪中宋简" panose="02010609000101010101" pitchFamily="49" charset="-122"/>
                  <a:ea typeface="汉仪中宋简" panose="02010609000101010101" pitchFamily="49" charset="-122"/>
                </a:rPr>
                <a:t>04</a:t>
              </a:r>
              <a:endParaRPr lang="zh-CN" altLang="en-US" sz="4000" dirty="0">
                <a:solidFill>
                  <a:srgbClr val="6FB4BD"/>
                </a:solidFill>
                <a:latin typeface="汉仪中宋简" panose="02010609000101010101" pitchFamily="49" charset="-122"/>
                <a:ea typeface="汉仪中宋简" panose="02010609000101010101" pitchFamily="49" charset="-122"/>
              </a:endParaRPr>
            </a:p>
          </p:txBody>
        </p:sp>
        <p:sp>
          <p:nvSpPr>
            <p:cNvPr id="33" name="矩形 32"/>
            <p:cNvSpPr/>
            <p:nvPr/>
          </p:nvSpPr>
          <p:spPr>
            <a:xfrm>
              <a:off x="1965156" y="3931614"/>
              <a:ext cx="2646878" cy="706755"/>
            </a:xfrm>
            <a:prstGeom prst="rect">
              <a:avLst/>
            </a:prstGeom>
          </p:spPr>
          <p:txBody>
            <a:bodyPr wrap="square">
              <a:spAutoFit/>
            </a:bodyPr>
            <a:lstStyle/>
            <a:p>
              <a:r>
                <a:rPr lang="zh-CN" altLang="en-US" sz="4000" dirty="0">
                  <a:solidFill>
                    <a:srgbClr val="6FB4BD"/>
                  </a:solidFill>
                  <a:latin typeface="华文新魏" panose="02010800040101010101" charset="-122"/>
                  <a:ea typeface="华文新魏" panose="02010800040101010101" charset="-122"/>
                </a:rPr>
                <a:t>代码分析</a:t>
              </a:r>
              <a:endParaRPr lang="zh-CN" altLang="en-US" sz="4000" dirty="0">
                <a:solidFill>
                  <a:srgbClr val="6FB4BD"/>
                </a:solidFill>
                <a:latin typeface="华文新魏" panose="02010800040101010101" charset="-122"/>
                <a:ea typeface="华文新魏" panose="02010800040101010101" charset="-122"/>
              </a:endParaRPr>
            </a:p>
          </p:txBody>
        </p:sp>
        <p:sp>
          <p:nvSpPr>
            <p:cNvPr id="34" name="椭圆 33"/>
            <p:cNvSpPr/>
            <p:nvPr/>
          </p:nvSpPr>
          <p:spPr>
            <a:xfrm>
              <a:off x="1647656" y="4041087"/>
              <a:ext cx="106292" cy="106292"/>
            </a:xfrm>
            <a:prstGeom prst="ellipse">
              <a:avLst/>
            </a:prstGeom>
            <a:noFill/>
            <a:ln w="19050">
              <a:solidFill>
                <a:srgbClr val="6FB4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6FB4BD"/>
                </a:solidFill>
              </a:endParaRPr>
            </a:p>
          </p:txBody>
        </p:sp>
        <p:sp>
          <p:nvSpPr>
            <p:cNvPr id="35" name="矩形 34"/>
            <p:cNvSpPr/>
            <p:nvPr/>
          </p:nvSpPr>
          <p:spPr>
            <a:xfrm>
              <a:off x="1979670" y="4377443"/>
              <a:ext cx="2474677" cy="398780"/>
            </a:xfrm>
            <a:prstGeom prst="rect">
              <a:avLst/>
            </a:prstGeom>
          </p:spPr>
          <p:txBody>
            <a:bodyPr wrap="square">
              <a:spAutoFit/>
            </a:bodyPr>
            <a:lstStyle/>
            <a:p>
              <a:pPr algn="l"/>
              <a:r>
                <a:rPr lang="en-US" altLang="zh-CN" sz="2000" dirty="0">
                  <a:solidFill>
                    <a:srgbClr val="6FB4BD"/>
                  </a:solidFill>
                </a:rPr>
                <a:t>   </a:t>
              </a:r>
              <a:r>
                <a:rPr lang="zh-CN" altLang="en-US" sz="2000" dirty="0">
                  <a:solidFill>
                    <a:srgbClr val="6FB4BD"/>
                  </a:solidFill>
                </a:rPr>
                <a:t>code</a:t>
              </a:r>
              <a:r>
                <a:rPr lang="en-US" altLang="zh-CN" sz="2000" dirty="0">
                  <a:solidFill>
                    <a:srgbClr val="6FB4BD"/>
                  </a:solidFill>
                </a:rPr>
                <a:t> </a:t>
              </a:r>
              <a:r>
                <a:rPr lang="zh-CN" altLang="en-US" sz="2000" dirty="0">
                  <a:solidFill>
                    <a:srgbClr val="6FB4BD"/>
                  </a:solidFill>
                </a:rPr>
                <a:t> analysis</a:t>
              </a:r>
              <a:endParaRPr lang="zh-CN" altLang="en-US" sz="2000" dirty="0">
                <a:solidFill>
                  <a:srgbClr val="6FB4BD"/>
                </a:solidFill>
              </a:endParaRPr>
            </a:p>
          </p:txBody>
        </p:sp>
      </p:grpSp>
      <p:sp>
        <p:nvSpPr>
          <p:cNvPr id="37" name="椭圆 36"/>
          <p:cNvSpPr/>
          <p:nvPr/>
        </p:nvSpPr>
        <p:spPr>
          <a:xfrm>
            <a:off x="1611212" y="1282070"/>
            <a:ext cx="914400" cy="914400"/>
          </a:xfrm>
          <a:prstGeom prst="ellipse">
            <a:avLst/>
          </a:prstGeom>
          <a:gradFill>
            <a:gsLst>
              <a:gs pos="0">
                <a:srgbClr val="F6661E">
                  <a:alpha val="90000"/>
                </a:srgbClr>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在地上&#10;&#10;低可信度描述已自动生成"/>
          <p:cNvPicPr>
            <a:picLocks noChangeAspect="1"/>
          </p:cNvPicPr>
          <p:nvPr/>
        </p:nvPicPr>
        <p:blipFill>
          <a:blip r:embed="rId1">
            <a:extLst>
              <a:ext uri="{28A0092B-C50C-407E-A947-70E740481C1C}">
                <a14:useLocalDpi xmlns:a14="http://schemas.microsoft.com/office/drawing/2010/main" val="0"/>
              </a:ext>
            </a:extLst>
          </a:blip>
          <a:srcRect t="18750" b="1684"/>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0" name="弧形 9"/>
          <p:cNvSpPr/>
          <p:nvPr/>
        </p:nvSpPr>
        <p:spPr>
          <a:xfrm rot="11787073">
            <a:off x="4577890" y="1598540"/>
            <a:ext cx="2989788" cy="2989788"/>
          </a:xfrm>
          <a:prstGeom prst="arc">
            <a:avLst>
              <a:gd name="adj1" fmla="val 12330940"/>
              <a:gd name="adj2" fmla="val 19688861"/>
            </a:avLst>
          </a:prstGeom>
          <a:ln w="19050" cap="rnd">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弧形 4"/>
          <p:cNvSpPr/>
          <p:nvPr/>
        </p:nvSpPr>
        <p:spPr>
          <a:xfrm rot="11787073">
            <a:off x="4577892" y="1598539"/>
            <a:ext cx="2989788" cy="2989788"/>
          </a:xfrm>
          <a:prstGeom prst="arc">
            <a:avLst>
              <a:gd name="adj1" fmla="val 20591728"/>
              <a:gd name="adj2" fmla="val 10152336"/>
            </a:avLst>
          </a:prstGeom>
          <a:ln w="19050" cap="rnd">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8" name="图片 17" descr="背景图案&#10;&#10;描述已自动生成"/>
          <p:cNvPicPr>
            <a:picLocks noChangeAspect="1"/>
          </p:cNvPicPr>
          <p:nvPr/>
        </p:nvPicPr>
        <p:blipFill>
          <a:blip r:embed="rId2">
            <a:alphaModFix amt="70000"/>
            <a:biLevel thresh="75000"/>
            <a:extLst>
              <a:ext uri="{28A0092B-C50C-407E-A947-70E740481C1C}">
                <a14:useLocalDpi xmlns:a14="http://schemas.microsoft.com/office/drawing/2010/main" val="0"/>
              </a:ext>
            </a:extLst>
          </a:blip>
          <a:srcRect l="1243" t="32957" b="27587"/>
          <a:stretch>
            <a:fillRect/>
          </a:stretch>
        </p:blipFill>
        <p:spPr>
          <a:xfrm flipH="1">
            <a:off x="4065446" y="3093433"/>
            <a:ext cx="943656" cy="323045"/>
          </a:xfrm>
          <a:custGeom>
            <a:avLst/>
            <a:gdLst>
              <a:gd name="connsiteX0" fmla="*/ 1007268 w 1007268"/>
              <a:gd name="connsiteY0" fmla="*/ 182603 h 402431"/>
              <a:gd name="connsiteX1" fmla="*/ 1007268 w 1007268"/>
              <a:gd name="connsiteY1" fmla="*/ 366343 h 402431"/>
              <a:gd name="connsiteX2" fmla="*/ 845343 w 1007268"/>
              <a:gd name="connsiteY2" fmla="*/ 335756 h 402431"/>
              <a:gd name="connsiteX3" fmla="*/ 802481 w 1007268"/>
              <a:gd name="connsiteY3" fmla="*/ 352425 h 402431"/>
              <a:gd name="connsiteX4" fmla="*/ 692943 w 1007268"/>
              <a:gd name="connsiteY4" fmla="*/ 402431 h 402431"/>
              <a:gd name="connsiteX5" fmla="*/ 647700 w 1007268"/>
              <a:gd name="connsiteY5" fmla="*/ 397669 h 402431"/>
              <a:gd name="connsiteX6" fmla="*/ 581025 w 1007268"/>
              <a:gd name="connsiteY6" fmla="*/ 359569 h 402431"/>
              <a:gd name="connsiteX7" fmla="*/ 504825 w 1007268"/>
              <a:gd name="connsiteY7" fmla="*/ 340519 h 402431"/>
              <a:gd name="connsiteX8" fmla="*/ 431006 w 1007268"/>
              <a:gd name="connsiteY8" fmla="*/ 369094 h 402431"/>
              <a:gd name="connsiteX9" fmla="*/ 347662 w 1007268"/>
              <a:gd name="connsiteY9" fmla="*/ 400050 h 402431"/>
              <a:gd name="connsiteX10" fmla="*/ 280987 w 1007268"/>
              <a:gd name="connsiteY10" fmla="*/ 376238 h 402431"/>
              <a:gd name="connsiteX11" fmla="*/ 197643 w 1007268"/>
              <a:gd name="connsiteY11" fmla="*/ 335756 h 402431"/>
              <a:gd name="connsiteX12" fmla="*/ 76200 w 1007268"/>
              <a:gd name="connsiteY12" fmla="*/ 361950 h 402431"/>
              <a:gd name="connsiteX13" fmla="*/ 0 w 1007268"/>
              <a:gd name="connsiteY13" fmla="*/ 147638 h 402431"/>
              <a:gd name="connsiteX14" fmla="*/ 11906 w 1007268"/>
              <a:gd name="connsiteY14" fmla="*/ 69056 h 402431"/>
              <a:gd name="connsiteX15" fmla="*/ 38100 w 1007268"/>
              <a:gd name="connsiteY15" fmla="*/ 61913 h 402431"/>
              <a:gd name="connsiteX16" fmla="*/ 335756 w 1007268"/>
              <a:gd name="connsiteY16" fmla="*/ 0 h 402431"/>
              <a:gd name="connsiteX17" fmla="*/ 404812 w 1007268"/>
              <a:gd name="connsiteY17" fmla="*/ 0 h 402431"/>
              <a:gd name="connsiteX18" fmla="*/ 802481 w 1007268"/>
              <a:gd name="connsiteY18" fmla="*/ 2381 h 402431"/>
              <a:gd name="connsiteX19" fmla="*/ 821531 w 1007268"/>
              <a:gd name="connsiteY19" fmla="*/ 16669 h 402431"/>
              <a:gd name="connsiteX20" fmla="*/ 964406 w 1007268"/>
              <a:gd name="connsiteY20" fmla="*/ 66675 h 402431"/>
              <a:gd name="connsiteX21" fmla="*/ 983456 w 1007268"/>
              <a:gd name="connsiteY21" fmla="*/ 95250 h 402431"/>
              <a:gd name="connsiteX22" fmla="*/ 985837 w 1007268"/>
              <a:gd name="connsiteY22" fmla="*/ 104775 h 40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7268" h="402431">
                <a:moveTo>
                  <a:pt x="1007268" y="182603"/>
                </a:moveTo>
                <a:lnTo>
                  <a:pt x="1007268" y="366343"/>
                </a:lnTo>
                <a:lnTo>
                  <a:pt x="845343" y="335756"/>
                </a:lnTo>
                <a:lnTo>
                  <a:pt x="802481" y="352425"/>
                </a:lnTo>
                <a:lnTo>
                  <a:pt x="692943" y="402431"/>
                </a:lnTo>
                <a:lnTo>
                  <a:pt x="647700" y="397669"/>
                </a:lnTo>
                <a:lnTo>
                  <a:pt x="581025" y="359569"/>
                </a:lnTo>
                <a:lnTo>
                  <a:pt x="504825" y="340519"/>
                </a:lnTo>
                <a:lnTo>
                  <a:pt x="431006" y="369094"/>
                </a:lnTo>
                <a:lnTo>
                  <a:pt x="347662" y="400050"/>
                </a:lnTo>
                <a:lnTo>
                  <a:pt x="280987" y="376238"/>
                </a:lnTo>
                <a:lnTo>
                  <a:pt x="197643" y="335756"/>
                </a:lnTo>
                <a:lnTo>
                  <a:pt x="76200" y="361950"/>
                </a:lnTo>
                <a:lnTo>
                  <a:pt x="0" y="147638"/>
                </a:lnTo>
                <a:lnTo>
                  <a:pt x="11906" y="69056"/>
                </a:lnTo>
                <a:lnTo>
                  <a:pt x="38100" y="61913"/>
                </a:lnTo>
                <a:lnTo>
                  <a:pt x="335756" y="0"/>
                </a:lnTo>
                <a:lnTo>
                  <a:pt x="404812" y="0"/>
                </a:lnTo>
                <a:cubicBezTo>
                  <a:pt x="537368" y="794"/>
                  <a:pt x="669925" y="1587"/>
                  <a:pt x="802481" y="2381"/>
                </a:cubicBezTo>
                <a:lnTo>
                  <a:pt x="821531" y="16669"/>
                </a:lnTo>
                <a:lnTo>
                  <a:pt x="964406" y="66675"/>
                </a:lnTo>
                <a:cubicBezTo>
                  <a:pt x="970756" y="76200"/>
                  <a:pt x="977844" y="85273"/>
                  <a:pt x="983456" y="95250"/>
                </a:cubicBezTo>
                <a:cubicBezTo>
                  <a:pt x="985060" y="98102"/>
                  <a:pt x="985837" y="104775"/>
                  <a:pt x="985837" y="104775"/>
                </a:cubicBezTo>
                <a:close/>
              </a:path>
            </a:pathLst>
          </a:custGeom>
        </p:spPr>
      </p:pic>
      <p:pic>
        <p:nvPicPr>
          <p:cNvPr id="20" name="图片 19" descr="文本&#10;&#10;描述已自动生成"/>
          <p:cNvPicPr>
            <a:picLocks noChangeAspect="1"/>
          </p:cNvPicPr>
          <p:nvPr/>
        </p:nvPicPr>
        <p:blipFill>
          <a:blip r:embed="rId3" cstate="print">
            <a:biLevel thresh="75000"/>
            <a:extLst>
              <a:ext uri="{28A0092B-C50C-407E-A947-70E740481C1C}">
                <a14:useLocalDpi xmlns:a14="http://schemas.microsoft.com/office/drawing/2010/main" val="0"/>
              </a:ext>
            </a:extLst>
          </a:blip>
          <a:srcRect l="11905" t="6984" b="50053"/>
          <a:stretch>
            <a:fillRect/>
          </a:stretch>
        </p:blipFill>
        <p:spPr>
          <a:xfrm>
            <a:off x="2457509" y="3828809"/>
            <a:ext cx="2052504" cy="1000981"/>
          </a:xfrm>
          <a:custGeom>
            <a:avLst/>
            <a:gdLst>
              <a:gd name="connsiteX0" fmla="*/ 4905828 w 6041571"/>
              <a:gd name="connsiteY0" fmla="*/ 0 h 2946400"/>
              <a:gd name="connsiteX1" fmla="*/ 6041571 w 6041571"/>
              <a:gd name="connsiteY1" fmla="*/ 817181 h 2946400"/>
              <a:gd name="connsiteX2" fmla="*/ 6041571 w 6041571"/>
              <a:gd name="connsiteY2" fmla="*/ 1266653 h 2946400"/>
              <a:gd name="connsiteX3" fmla="*/ 5907314 w 6041571"/>
              <a:gd name="connsiteY3" fmla="*/ 2278743 h 2946400"/>
              <a:gd name="connsiteX4" fmla="*/ 4920342 w 6041571"/>
              <a:gd name="connsiteY4" fmla="*/ 2627086 h 2946400"/>
              <a:gd name="connsiteX5" fmla="*/ 3439885 w 6041571"/>
              <a:gd name="connsiteY5" fmla="*/ 2946400 h 2946400"/>
              <a:gd name="connsiteX6" fmla="*/ 2206171 w 6041571"/>
              <a:gd name="connsiteY6" fmla="*/ 2481943 h 2946400"/>
              <a:gd name="connsiteX7" fmla="*/ 1480457 w 6041571"/>
              <a:gd name="connsiteY7" fmla="*/ 1756229 h 2946400"/>
              <a:gd name="connsiteX8" fmla="*/ 740228 w 6041571"/>
              <a:gd name="connsiteY8" fmla="*/ 1175658 h 2946400"/>
              <a:gd name="connsiteX9" fmla="*/ 0 w 6041571"/>
              <a:gd name="connsiteY9" fmla="*/ 580572 h 2946400"/>
              <a:gd name="connsiteX10" fmla="*/ 246742 w 6041571"/>
              <a:gd name="connsiteY10" fmla="*/ 72572 h 2946400"/>
              <a:gd name="connsiteX11" fmla="*/ 870857 w 6041571"/>
              <a:gd name="connsiteY11" fmla="*/ 203200 h 2946400"/>
              <a:gd name="connsiteX12" fmla="*/ 696685 w 6041571"/>
              <a:gd name="connsiteY12" fmla="*/ 798286 h 2946400"/>
              <a:gd name="connsiteX13" fmla="*/ 2960914 w 6041571"/>
              <a:gd name="connsiteY13" fmla="*/ 58058 h 2946400"/>
              <a:gd name="connsiteX14" fmla="*/ 4905828 w 6041571"/>
              <a:gd name="connsiteY14" fmla="*/ 0 h 29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571" h="2946400">
                <a:moveTo>
                  <a:pt x="4905828" y="0"/>
                </a:moveTo>
                <a:lnTo>
                  <a:pt x="6041571" y="817181"/>
                </a:lnTo>
                <a:lnTo>
                  <a:pt x="6041571" y="1266653"/>
                </a:lnTo>
                <a:lnTo>
                  <a:pt x="5907314" y="2278743"/>
                </a:lnTo>
                <a:lnTo>
                  <a:pt x="4920342" y="2627086"/>
                </a:lnTo>
                <a:lnTo>
                  <a:pt x="3439885" y="2946400"/>
                </a:lnTo>
                <a:lnTo>
                  <a:pt x="2206171" y="2481943"/>
                </a:lnTo>
                <a:lnTo>
                  <a:pt x="1480457" y="1756229"/>
                </a:lnTo>
                <a:lnTo>
                  <a:pt x="740228" y="1175658"/>
                </a:lnTo>
                <a:lnTo>
                  <a:pt x="0" y="580572"/>
                </a:lnTo>
                <a:lnTo>
                  <a:pt x="246742" y="72572"/>
                </a:lnTo>
                <a:lnTo>
                  <a:pt x="870857" y="203200"/>
                </a:lnTo>
                <a:lnTo>
                  <a:pt x="696685" y="798286"/>
                </a:lnTo>
                <a:lnTo>
                  <a:pt x="2960914" y="58058"/>
                </a:lnTo>
                <a:lnTo>
                  <a:pt x="4905828" y="0"/>
                </a:lnTo>
                <a:close/>
              </a:path>
            </a:pathLst>
          </a:custGeom>
        </p:spPr>
      </p:pic>
      <p:pic>
        <p:nvPicPr>
          <p:cNvPr id="21" name="图片 20" descr="文本&#10;&#10;描述已自动生成"/>
          <p:cNvPicPr>
            <a:picLocks noChangeAspect="1"/>
          </p:cNvPicPr>
          <p:nvPr/>
        </p:nvPicPr>
        <p:blipFill>
          <a:blip r:embed="rId3" cstate="print">
            <a:biLevel thresh="75000"/>
            <a:extLst>
              <a:ext uri="{28A0092B-C50C-407E-A947-70E740481C1C}">
                <a14:useLocalDpi xmlns:a14="http://schemas.microsoft.com/office/drawing/2010/main" val="0"/>
              </a:ext>
            </a:extLst>
          </a:blip>
          <a:srcRect l="11905" t="6984" b="50053"/>
          <a:stretch>
            <a:fillRect/>
          </a:stretch>
        </p:blipFill>
        <p:spPr>
          <a:xfrm flipH="1">
            <a:off x="7559123" y="1656948"/>
            <a:ext cx="2052504" cy="1000981"/>
          </a:xfrm>
          <a:custGeom>
            <a:avLst/>
            <a:gdLst>
              <a:gd name="connsiteX0" fmla="*/ 4905828 w 6041571"/>
              <a:gd name="connsiteY0" fmla="*/ 0 h 2946400"/>
              <a:gd name="connsiteX1" fmla="*/ 6041571 w 6041571"/>
              <a:gd name="connsiteY1" fmla="*/ 817181 h 2946400"/>
              <a:gd name="connsiteX2" fmla="*/ 6041571 w 6041571"/>
              <a:gd name="connsiteY2" fmla="*/ 1266653 h 2946400"/>
              <a:gd name="connsiteX3" fmla="*/ 5907314 w 6041571"/>
              <a:gd name="connsiteY3" fmla="*/ 2278743 h 2946400"/>
              <a:gd name="connsiteX4" fmla="*/ 4920342 w 6041571"/>
              <a:gd name="connsiteY4" fmla="*/ 2627086 h 2946400"/>
              <a:gd name="connsiteX5" fmla="*/ 3439885 w 6041571"/>
              <a:gd name="connsiteY5" fmla="*/ 2946400 h 2946400"/>
              <a:gd name="connsiteX6" fmla="*/ 2206171 w 6041571"/>
              <a:gd name="connsiteY6" fmla="*/ 2481943 h 2946400"/>
              <a:gd name="connsiteX7" fmla="*/ 1480457 w 6041571"/>
              <a:gd name="connsiteY7" fmla="*/ 1756229 h 2946400"/>
              <a:gd name="connsiteX8" fmla="*/ 740228 w 6041571"/>
              <a:gd name="connsiteY8" fmla="*/ 1175658 h 2946400"/>
              <a:gd name="connsiteX9" fmla="*/ 0 w 6041571"/>
              <a:gd name="connsiteY9" fmla="*/ 580572 h 2946400"/>
              <a:gd name="connsiteX10" fmla="*/ 246742 w 6041571"/>
              <a:gd name="connsiteY10" fmla="*/ 72572 h 2946400"/>
              <a:gd name="connsiteX11" fmla="*/ 870857 w 6041571"/>
              <a:gd name="connsiteY11" fmla="*/ 203200 h 2946400"/>
              <a:gd name="connsiteX12" fmla="*/ 696685 w 6041571"/>
              <a:gd name="connsiteY12" fmla="*/ 798286 h 2946400"/>
              <a:gd name="connsiteX13" fmla="*/ 2960914 w 6041571"/>
              <a:gd name="connsiteY13" fmla="*/ 58058 h 2946400"/>
              <a:gd name="connsiteX14" fmla="*/ 4905828 w 6041571"/>
              <a:gd name="connsiteY14" fmla="*/ 0 h 29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571" h="2946400">
                <a:moveTo>
                  <a:pt x="4905828" y="0"/>
                </a:moveTo>
                <a:lnTo>
                  <a:pt x="6041571" y="817181"/>
                </a:lnTo>
                <a:lnTo>
                  <a:pt x="6041571" y="1266653"/>
                </a:lnTo>
                <a:lnTo>
                  <a:pt x="5907314" y="2278743"/>
                </a:lnTo>
                <a:lnTo>
                  <a:pt x="4920342" y="2627086"/>
                </a:lnTo>
                <a:lnTo>
                  <a:pt x="3439885" y="2946400"/>
                </a:lnTo>
                <a:lnTo>
                  <a:pt x="2206171" y="2481943"/>
                </a:lnTo>
                <a:lnTo>
                  <a:pt x="1480457" y="1756229"/>
                </a:lnTo>
                <a:lnTo>
                  <a:pt x="740228" y="1175658"/>
                </a:lnTo>
                <a:lnTo>
                  <a:pt x="0" y="580572"/>
                </a:lnTo>
                <a:lnTo>
                  <a:pt x="246742" y="72572"/>
                </a:lnTo>
                <a:lnTo>
                  <a:pt x="870857" y="203200"/>
                </a:lnTo>
                <a:lnTo>
                  <a:pt x="696685" y="798286"/>
                </a:lnTo>
                <a:lnTo>
                  <a:pt x="2960914" y="58058"/>
                </a:lnTo>
                <a:lnTo>
                  <a:pt x="4905828" y="0"/>
                </a:lnTo>
                <a:close/>
              </a:path>
            </a:pathLst>
          </a:custGeom>
        </p:spPr>
      </p:pic>
      <p:sp>
        <p:nvSpPr>
          <p:cNvPr id="22" name="椭圆 21"/>
          <p:cNvSpPr/>
          <p:nvPr/>
        </p:nvSpPr>
        <p:spPr>
          <a:xfrm>
            <a:off x="1635363" y="1156457"/>
            <a:ext cx="1000981" cy="1000981"/>
          </a:xfrm>
          <a:prstGeom prst="ellipse">
            <a:avLst/>
          </a:prstGeom>
          <a:gradFill>
            <a:gsLst>
              <a:gs pos="0">
                <a:srgbClr val="F6661E">
                  <a:alpha val="90000"/>
                </a:srgbClr>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p:cNvPicPr>
            <a:picLocks noChangeAspect="1"/>
          </p:cNvPicPr>
          <p:nvPr/>
        </p:nvPicPr>
        <p:blipFill>
          <a:blip r:embed="rId4"/>
          <a:srcRect/>
          <a:stretch>
            <a:fillRect/>
          </a:stretch>
        </p:blipFill>
        <p:spPr>
          <a:xfrm>
            <a:off x="5006069" y="3629872"/>
            <a:ext cx="379981" cy="370575"/>
          </a:xfrm>
          <a:custGeom>
            <a:avLst/>
            <a:gdLst/>
            <a:ahLst/>
            <a:cxnLst/>
            <a:rect l="l" t="t" r="r" b="b"/>
            <a:pathLst>
              <a:path w="962025" h="938212">
                <a:moveTo>
                  <a:pt x="225114" y="726149"/>
                </a:moveTo>
                <a:cubicBezTo>
                  <a:pt x="225864" y="726949"/>
                  <a:pt x="224737" y="729852"/>
                  <a:pt x="221733" y="734857"/>
                </a:cubicBezTo>
                <a:cubicBezTo>
                  <a:pt x="218729" y="739863"/>
                  <a:pt x="215102" y="744116"/>
                  <a:pt x="210852" y="747616"/>
                </a:cubicBezTo>
                <a:cubicBezTo>
                  <a:pt x="208269" y="751503"/>
                  <a:pt x="206097" y="752285"/>
                  <a:pt x="204337" y="749960"/>
                </a:cubicBezTo>
                <a:cubicBezTo>
                  <a:pt x="202577" y="747635"/>
                  <a:pt x="202738" y="745168"/>
                  <a:pt x="204821" y="742560"/>
                </a:cubicBezTo>
                <a:cubicBezTo>
                  <a:pt x="207800" y="739577"/>
                  <a:pt x="210871" y="736757"/>
                  <a:pt x="214033" y="734101"/>
                </a:cubicBezTo>
                <a:cubicBezTo>
                  <a:pt x="217195" y="731445"/>
                  <a:pt x="220666" y="729171"/>
                  <a:pt x="224445" y="727280"/>
                </a:cubicBezTo>
                <a:close/>
                <a:moveTo>
                  <a:pt x="677643" y="721703"/>
                </a:moveTo>
                <a:lnTo>
                  <a:pt x="676858" y="725121"/>
                </a:lnTo>
                <a:cubicBezTo>
                  <a:pt x="675814" y="727307"/>
                  <a:pt x="674127" y="729930"/>
                  <a:pt x="671797" y="732989"/>
                </a:cubicBezTo>
                <a:cubicBezTo>
                  <a:pt x="667137" y="739107"/>
                  <a:pt x="661651" y="743741"/>
                  <a:pt x="655339" y="746891"/>
                </a:cubicBezTo>
                <a:cubicBezTo>
                  <a:pt x="653251" y="749953"/>
                  <a:pt x="651697" y="750305"/>
                  <a:pt x="650676" y="747947"/>
                </a:cubicBezTo>
                <a:cubicBezTo>
                  <a:pt x="649656" y="745589"/>
                  <a:pt x="649899" y="743550"/>
                  <a:pt x="651408" y="741829"/>
                </a:cubicBezTo>
                <a:cubicBezTo>
                  <a:pt x="655899" y="737096"/>
                  <a:pt x="660135" y="733280"/>
                  <a:pt x="664116" y="730383"/>
                </a:cubicBezTo>
                <a:close/>
                <a:moveTo>
                  <a:pt x="246961" y="678565"/>
                </a:moveTo>
                <a:lnTo>
                  <a:pt x="246145" y="680962"/>
                </a:lnTo>
                <a:cubicBezTo>
                  <a:pt x="245817" y="682934"/>
                  <a:pt x="245719" y="685243"/>
                  <a:pt x="245850" y="687888"/>
                </a:cubicBezTo>
                <a:cubicBezTo>
                  <a:pt x="245850" y="690726"/>
                  <a:pt x="246254" y="693660"/>
                  <a:pt x="247062" y="696691"/>
                </a:cubicBezTo>
                <a:cubicBezTo>
                  <a:pt x="247871" y="699722"/>
                  <a:pt x="251427" y="701438"/>
                  <a:pt x="257731" y="701838"/>
                </a:cubicBezTo>
                <a:cubicBezTo>
                  <a:pt x="260093" y="700792"/>
                  <a:pt x="261875" y="700322"/>
                  <a:pt x="263077" y="700428"/>
                </a:cubicBezTo>
                <a:cubicBezTo>
                  <a:pt x="264279" y="700535"/>
                  <a:pt x="265747" y="701194"/>
                  <a:pt x="267480" y="702406"/>
                </a:cubicBezTo>
                <a:cubicBezTo>
                  <a:pt x="273634" y="707818"/>
                  <a:pt x="279719" y="712998"/>
                  <a:pt x="285735" y="717946"/>
                </a:cubicBezTo>
                <a:cubicBezTo>
                  <a:pt x="291751" y="722894"/>
                  <a:pt x="297809" y="728288"/>
                  <a:pt x="303909" y="734129"/>
                </a:cubicBezTo>
                <a:cubicBezTo>
                  <a:pt x="305201" y="735708"/>
                  <a:pt x="305604" y="737010"/>
                  <a:pt x="305118" y="738035"/>
                </a:cubicBezTo>
                <a:cubicBezTo>
                  <a:pt x="304633" y="739060"/>
                  <a:pt x="303438" y="740523"/>
                  <a:pt x="301534" y="742423"/>
                </a:cubicBezTo>
                <a:cubicBezTo>
                  <a:pt x="292014" y="752972"/>
                  <a:pt x="283080" y="759555"/>
                  <a:pt x="274733" y="762171"/>
                </a:cubicBezTo>
                <a:lnTo>
                  <a:pt x="262446" y="764567"/>
                </a:lnTo>
                <a:lnTo>
                  <a:pt x="264728" y="758861"/>
                </a:lnTo>
                <a:cubicBezTo>
                  <a:pt x="264554" y="755993"/>
                  <a:pt x="263299" y="752530"/>
                  <a:pt x="260962" y="748472"/>
                </a:cubicBezTo>
                <a:cubicBezTo>
                  <a:pt x="258316" y="746818"/>
                  <a:pt x="257275" y="744951"/>
                  <a:pt x="257840" y="742869"/>
                </a:cubicBezTo>
                <a:cubicBezTo>
                  <a:pt x="258404" y="740788"/>
                  <a:pt x="259464" y="738579"/>
                  <a:pt x="261018" y="736242"/>
                </a:cubicBezTo>
                <a:cubicBezTo>
                  <a:pt x="266701" y="727446"/>
                  <a:pt x="267498" y="719601"/>
                  <a:pt x="263408" y="712706"/>
                </a:cubicBezTo>
                <a:cubicBezTo>
                  <a:pt x="259319" y="705810"/>
                  <a:pt x="252518" y="701915"/>
                  <a:pt x="243006" y="701019"/>
                </a:cubicBezTo>
                <a:cubicBezTo>
                  <a:pt x="239677" y="699915"/>
                  <a:pt x="236415" y="698703"/>
                  <a:pt x="233220" y="697385"/>
                </a:cubicBezTo>
                <a:cubicBezTo>
                  <a:pt x="230024" y="696066"/>
                  <a:pt x="225345" y="698688"/>
                  <a:pt x="219183" y="705250"/>
                </a:cubicBezTo>
                <a:cubicBezTo>
                  <a:pt x="215121" y="707712"/>
                  <a:pt x="210820" y="709863"/>
                  <a:pt x="206281" y="711703"/>
                </a:cubicBezTo>
                <a:lnTo>
                  <a:pt x="203732" y="712898"/>
                </a:lnTo>
                <a:lnTo>
                  <a:pt x="208277" y="707814"/>
                </a:lnTo>
                <a:cubicBezTo>
                  <a:pt x="212596" y="703680"/>
                  <a:pt x="217160" y="699967"/>
                  <a:pt x="221970" y="696675"/>
                </a:cubicBezTo>
                <a:close/>
                <a:moveTo>
                  <a:pt x="329976" y="678308"/>
                </a:moveTo>
                <a:cubicBezTo>
                  <a:pt x="330622" y="678812"/>
                  <a:pt x="329398" y="682329"/>
                  <a:pt x="326304" y="688860"/>
                </a:cubicBezTo>
                <a:cubicBezTo>
                  <a:pt x="323211" y="695391"/>
                  <a:pt x="321010" y="700883"/>
                  <a:pt x="319702" y="705337"/>
                </a:cubicBezTo>
                <a:cubicBezTo>
                  <a:pt x="319298" y="706279"/>
                  <a:pt x="319130" y="706951"/>
                  <a:pt x="319199" y="707353"/>
                </a:cubicBezTo>
                <a:cubicBezTo>
                  <a:pt x="319267" y="707755"/>
                  <a:pt x="319300" y="707493"/>
                  <a:pt x="319295" y="706569"/>
                </a:cubicBezTo>
                <a:cubicBezTo>
                  <a:pt x="316512" y="704248"/>
                  <a:pt x="313761" y="701727"/>
                  <a:pt x="311043" y="699007"/>
                </a:cubicBezTo>
                <a:cubicBezTo>
                  <a:pt x="308324" y="696286"/>
                  <a:pt x="306588" y="693986"/>
                  <a:pt x="305834" y="692107"/>
                </a:cubicBezTo>
                <a:cubicBezTo>
                  <a:pt x="305167" y="691569"/>
                  <a:pt x="305541" y="690703"/>
                  <a:pt x="306956" y="689507"/>
                </a:cubicBezTo>
                <a:cubicBezTo>
                  <a:pt x="308370" y="688311"/>
                  <a:pt x="309802" y="687351"/>
                  <a:pt x="311252" y="686626"/>
                </a:cubicBezTo>
                <a:close/>
                <a:moveTo>
                  <a:pt x="275011" y="602812"/>
                </a:moveTo>
                <a:cubicBezTo>
                  <a:pt x="274977" y="603204"/>
                  <a:pt x="275192" y="604771"/>
                  <a:pt x="275654" y="607512"/>
                </a:cubicBezTo>
                <a:lnTo>
                  <a:pt x="278004" y="622324"/>
                </a:lnTo>
                <a:cubicBezTo>
                  <a:pt x="280783" y="632836"/>
                  <a:pt x="286287" y="639696"/>
                  <a:pt x="294516" y="642904"/>
                </a:cubicBezTo>
                <a:cubicBezTo>
                  <a:pt x="302744" y="646112"/>
                  <a:pt x="311375" y="644910"/>
                  <a:pt x="320408" y="639298"/>
                </a:cubicBezTo>
                <a:cubicBezTo>
                  <a:pt x="321504" y="638831"/>
                  <a:pt x="323634" y="638099"/>
                  <a:pt x="326798" y="637101"/>
                </a:cubicBezTo>
                <a:lnTo>
                  <a:pt x="330815" y="634706"/>
                </a:lnTo>
                <a:lnTo>
                  <a:pt x="309462" y="655687"/>
                </a:lnTo>
                <a:cubicBezTo>
                  <a:pt x="303014" y="661881"/>
                  <a:pt x="296253" y="666231"/>
                  <a:pt x="289179" y="668740"/>
                </a:cubicBezTo>
                <a:cubicBezTo>
                  <a:pt x="286212" y="668740"/>
                  <a:pt x="283560" y="669221"/>
                  <a:pt x="281223" y="670183"/>
                </a:cubicBezTo>
                <a:cubicBezTo>
                  <a:pt x="278885" y="671146"/>
                  <a:pt x="276948" y="671723"/>
                  <a:pt x="275411" y="671914"/>
                </a:cubicBezTo>
                <a:lnTo>
                  <a:pt x="258980" y="671127"/>
                </a:lnTo>
                <a:lnTo>
                  <a:pt x="255574" y="672631"/>
                </a:lnTo>
                <a:lnTo>
                  <a:pt x="259088" y="666434"/>
                </a:lnTo>
                <a:cubicBezTo>
                  <a:pt x="259693" y="664225"/>
                  <a:pt x="259560" y="662175"/>
                  <a:pt x="258687" y="660287"/>
                </a:cubicBezTo>
                <a:cubicBezTo>
                  <a:pt x="256941" y="656510"/>
                  <a:pt x="253210" y="654622"/>
                  <a:pt x="247494" y="654622"/>
                </a:cubicBezTo>
                <a:cubicBezTo>
                  <a:pt x="240752" y="654622"/>
                  <a:pt x="234384" y="656364"/>
                  <a:pt x="228389" y="659850"/>
                </a:cubicBezTo>
                <a:cubicBezTo>
                  <a:pt x="222393" y="663335"/>
                  <a:pt x="216923" y="666558"/>
                  <a:pt x="211977" y="669521"/>
                </a:cubicBezTo>
                <a:lnTo>
                  <a:pt x="204323" y="673418"/>
                </a:lnTo>
                <a:lnTo>
                  <a:pt x="219302" y="663659"/>
                </a:lnTo>
                <a:cubicBezTo>
                  <a:pt x="223143" y="659567"/>
                  <a:pt x="231228" y="654386"/>
                  <a:pt x="243556" y="648116"/>
                </a:cubicBezTo>
                <a:cubicBezTo>
                  <a:pt x="247548" y="642825"/>
                  <a:pt x="248371" y="638076"/>
                  <a:pt x="246025" y="633870"/>
                </a:cubicBezTo>
                <a:cubicBezTo>
                  <a:pt x="244852" y="631767"/>
                  <a:pt x="243073" y="630230"/>
                  <a:pt x="240686" y="629260"/>
                </a:cubicBezTo>
                <a:lnTo>
                  <a:pt x="234276" y="628395"/>
                </a:lnTo>
                <a:lnTo>
                  <a:pt x="250712" y="617133"/>
                </a:lnTo>
                <a:cubicBezTo>
                  <a:pt x="258316" y="612494"/>
                  <a:pt x="265818" y="608264"/>
                  <a:pt x="273217" y="604444"/>
                </a:cubicBezTo>
                <a:cubicBezTo>
                  <a:pt x="274446" y="602964"/>
                  <a:pt x="275044" y="602421"/>
                  <a:pt x="275011" y="602812"/>
                </a:cubicBezTo>
                <a:close/>
                <a:moveTo>
                  <a:pt x="223826" y="518224"/>
                </a:moveTo>
                <a:cubicBezTo>
                  <a:pt x="217806" y="517911"/>
                  <a:pt x="212087" y="519778"/>
                  <a:pt x="206671" y="523823"/>
                </a:cubicBezTo>
                <a:cubicBezTo>
                  <a:pt x="200372" y="524540"/>
                  <a:pt x="197298" y="526918"/>
                  <a:pt x="197450" y="530957"/>
                </a:cubicBezTo>
                <a:cubicBezTo>
                  <a:pt x="197602" y="534997"/>
                  <a:pt x="199540" y="539406"/>
                  <a:pt x="203265" y="544185"/>
                </a:cubicBezTo>
                <a:cubicBezTo>
                  <a:pt x="204728" y="546372"/>
                  <a:pt x="206742" y="548428"/>
                  <a:pt x="209308" y="550353"/>
                </a:cubicBezTo>
                <a:cubicBezTo>
                  <a:pt x="211875" y="552278"/>
                  <a:pt x="213712" y="554161"/>
                  <a:pt x="214821" y="556003"/>
                </a:cubicBezTo>
                <a:cubicBezTo>
                  <a:pt x="215375" y="556478"/>
                  <a:pt x="215102" y="557428"/>
                  <a:pt x="214002" y="558853"/>
                </a:cubicBezTo>
                <a:cubicBezTo>
                  <a:pt x="212902" y="560277"/>
                  <a:pt x="211404" y="562252"/>
                  <a:pt x="209508" y="564777"/>
                </a:cubicBezTo>
                <a:cubicBezTo>
                  <a:pt x="203146" y="575302"/>
                  <a:pt x="205555" y="582145"/>
                  <a:pt x="216733" y="585307"/>
                </a:cubicBezTo>
                <a:cubicBezTo>
                  <a:pt x="222322" y="586888"/>
                  <a:pt x="227202" y="588103"/>
                  <a:pt x="231373" y="588951"/>
                </a:cubicBezTo>
                <a:lnTo>
                  <a:pt x="233622" y="589263"/>
                </a:lnTo>
                <a:lnTo>
                  <a:pt x="227607" y="591457"/>
                </a:lnTo>
                <a:cubicBezTo>
                  <a:pt x="222378" y="593244"/>
                  <a:pt x="217298" y="595305"/>
                  <a:pt x="212365" y="597638"/>
                </a:cubicBezTo>
                <a:cubicBezTo>
                  <a:pt x="197920" y="603417"/>
                  <a:pt x="184463" y="608428"/>
                  <a:pt x="171995" y="612671"/>
                </a:cubicBezTo>
                <a:cubicBezTo>
                  <a:pt x="159527" y="616915"/>
                  <a:pt x="147127" y="619395"/>
                  <a:pt x="134794" y="620111"/>
                </a:cubicBezTo>
                <a:lnTo>
                  <a:pt x="124207" y="614805"/>
                </a:lnTo>
                <a:cubicBezTo>
                  <a:pt x="121295" y="614422"/>
                  <a:pt x="118225" y="614688"/>
                  <a:pt x="114999" y="615602"/>
                </a:cubicBezTo>
                <a:cubicBezTo>
                  <a:pt x="111772" y="616517"/>
                  <a:pt x="110421" y="619032"/>
                  <a:pt x="110946" y="623149"/>
                </a:cubicBezTo>
                <a:cubicBezTo>
                  <a:pt x="110421" y="624532"/>
                  <a:pt x="110224" y="625878"/>
                  <a:pt x="110355" y="627186"/>
                </a:cubicBezTo>
                <a:cubicBezTo>
                  <a:pt x="110486" y="628494"/>
                  <a:pt x="110004" y="630067"/>
                  <a:pt x="108908" y="631904"/>
                </a:cubicBezTo>
                <a:cubicBezTo>
                  <a:pt x="105038" y="642900"/>
                  <a:pt x="106404" y="651356"/>
                  <a:pt x="113008" y="657275"/>
                </a:cubicBezTo>
                <a:cubicBezTo>
                  <a:pt x="119612" y="663193"/>
                  <a:pt x="128595" y="664917"/>
                  <a:pt x="139956" y="662446"/>
                </a:cubicBezTo>
                <a:cubicBezTo>
                  <a:pt x="148164" y="658738"/>
                  <a:pt x="155987" y="655357"/>
                  <a:pt x="163424" y="652303"/>
                </a:cubicBezTo>
                <a:cubicBezTo>
                  <a:pt x="170861" y="649249"/>
                  <a:pt x="178571" y="645276"/>
                  <a:pt x="186554" y="640385"/>
                </a:cubicBezTo>
                <a:cubicBezTo>
                  <a:pt x="193187" y="635873"/>
                  <a:pt x="199535" y="631968"/>
                  <a:pt x="205599" y="628670"/>
                </a:cubicBezTo>
                <a:lnTo>
                  <a:pt x="215882" y="623840"/>
                </a:lnTo>
                <a:lnTo>
                  <a:pt x="214153" y="628468"/>
                </a:lnTo>
                <a:cubicBezTo>
                  <a:pt x="214005" y="630268"/>
                  <a:pt x="214533" y="631656"/>
                  <a:pt x="215739" y="632632"/>
                </a:cubicBezTo>
                <a:lnTo>
                  <a:pt x="216324" y="632872"/>
                </a:lnTo>
                <a:lnTo>
                  <a:pt x="190485" y="641291"/>
                </a:lnTo>
                <a:cubicBezTo>
                  <a:pt x="188689" y="644899"/>
                  <a:pt x="187086" y="648189"/>
                  <a:pt x="185676" y="651159"/>
                </a:cubicBezTo>
                <a:cubicBezTo>
                  <a:pt x="184265" y="654130"/>
                  <a:pt x="183408" y="657297"/>
                  <a:pt x="183104" y="660659"/>
                </a:cubicBezTo>
                <a:cubicBezTo>
                  <a:pt x="183104" y="664913"/>
                  <a:pt x="184805" y="668656"/>
                  <a:pt x="188207" y="671889"/>
                </a:cubicBezTo>
                <a:cubicBezTo>
                  <a:pt x="189908" y="673506"/>
                  <a:pt x="191910" y="674566"/>
                  <a:pt x="194213" y="675070"/>
                </a:cubicBezTo>
                <a:lnTo>
                  <a:pt x="201360" y="674928"/>
                </a:lnTo>
                <a:lnTo>
                  <a:pt x="183223" y="684164"/>
                </a:lnTo>
                <a:cubicBezTo>
                  <a:pt x="174590" y="688355"/>
                  <a:pt x="166397" y="691057"/>
                  <a:pt x="158643" y="692269"/>
                </a:cubicBezTo>
                <a:cubicBezTo>
                  <a:pt x="152518" y="692269"/>
                  <a:pt x="147971" y="694928"/>
                  <a:pt x="145000" y="700244"/>
                </a:cubicBezTo>
                <a:cubicBezTo>
                  <a:pt x="142029" y="705560"/>
                  <a:pt x="140090" y="710860"/>
                  <a:pt x="139181" y="716143"/>
                </a:cubicBezTo>
                <a:cubicBezTo>
                  <a:pt x="140456" y="721563"/>
                  <a:pt x="143602" y="724522"/>
                  <a:pt x="148618" y="725017"/>
                </a:cubicBezTo>
                <a:cubicBezTo>
                  <a:pt x="153635" y="725513"/>
                  <a:pt x="157918" y="724992"/>
                  <a:pt x="161468" y="723455"/>
                </a:cubicBezTo>
                <a:cubicBezTo>
                  <a:pt x="167963" y="720339"/>
                  <a:pt x="173720" y="716850"/>
                  <a:pt x="178738" y="712990"/>
                </a:cubicBezTo>
                <a:lnTo>
                  <a:pt x="182031" y="711054"/>
                </a:lnTo>
                <a:lnTo>
                  <a:pt x="178298" y="714681"/>
                </a:lnTo>
                <a:cubicBezTo>
                  <a:pt x="174565" y="718414"/>
                  <a:pt x="170490" y="722138"/>
                  <a:pt x="166074" y="725855"/>
                </a:cubicBezTo>
                <a:cubicBezTo>
                  <a:pt x="159124" y="729696"/>
                  <a:pt x="155715" y="733240"/>
                  <a:pt x="155846" y="736485"/>
                </a:cubicBezTo>
                <a:cubicBezTo>
                  <a:pt x="155977" y="739731"/>
                  <a:pt x="155926" y="743016"/>
                  <a:pt x="155693" y="746341"/>
                </a:cubicBezTo>
                <a:cubicBezTo>
                  <a:pt x="154197" y="750587"/>
                  <a:pt x="152966" y="753941"/>
                  <a:pt x="151999" y="756403"/>
                </a:cubicBezTo>
                <a:cubicBezTo>
                  <a:pt x="151033" y="758865"/>
                  <a:pt x="152224" y="763136"/>
                  <a:pt x="155574" y="769215"/>
                </a:cubicBezTo>
                <a:cubicBezTo>
                  <a:pt x="160561" y="775252"/>
                  <a:pt x="165706" y="781340"/>
                  <a:pt x="171008" y="787479"/>
                </a:cubicBezTo>
                <a:cubicBezTo>
                  <a:pt x="176309" y="793618"/>
                  <a:pt x="182606" y="797709"/>
                  <a:pt x="189897" y="799750"/>
                </a:cubicBezTo>
                <a:cubicBezTo>
                  <a:pt x="192609" y="800621"/>
                  <a:pt x="195469" y="800971"/>
                  <a:pt x="198475" y="800800"/>
                </a:cubicBezTo>
                <a:cubicBezTo>
                  <a:pt x="201481" y="800629"/>
                  <a:pt x="204740" y="798592"/>
                  <a:pt x="208252" y="794688"/>
                </a:cubicBezTo>
                <a:cubicBezTo>
                  <a:pt x="210315" y="789651"/>
                  <a:pt x="214229" y="786050"/>
                  <a:pt x="219995" y="783886"/>
                </a:cubicBezTo>
                <a:cubicBezTo>
                  <a:pt x="225762" y="781721"/>
                  <a:pt x="231393" y="779208"/>
                  <a:pt x="236888" y="776346"/>
                </a:cubicBezTo>
                <a:cubicBezTo>
                  <a:pt x="236271" y="776346"/>
                  <a:pt x="236629" y="777289"/>
                  <a:pt x="237960" y="779177"/>
                </a:cubicBezTo>
                <a:cubicBezTo>
                  <a:pt x="239291" y="781064"/>
                  <a:pt x="241238" y="782810"/>
                  <a:pt x="243800" y="784414"/>
                </a:cubicBezTo>
                <a:cubicBezTo>
                  <a:pt x="250458" y="788572"/>
                  <a:pt x="256764" y="791339"/>
                  <a:pt x="262718" y="792716"/>
                </a:cubicBezTo>
                <a:cubicBezTo>
                  <a:pt x="268672" y="794093"/>
                  <a:pt x="274894" y="794651"/>
                  <a:pt x="281385" y="794388"/>
                </a:cubicBezTo>
                <a:cubicBezTo>
                  <a:pt x="282731" y="794747"/>
                  <a:pt x="284605" y="795163"/>
                  <a:pt x="287007" y="795638"/>
                </a:cubicBezTo>
                <a:cubicBezTo>
                  <a:pt x="289409" y="796113"/>
                  <a:pt x="291901" y="796174"/>
                  <a:pt x="294485" y="795819"/>
                </a:cubicBezTo>
                <a:cubicBezTo>
                  <a:pt x="298368" y="793732"/>
                  <a:pt x="302013" y="791835"/>
                  <a:pt x="305421" y="790129"/>
                </a:cubicBezTo>
                <a:cubicBezTo>
                  <a:pt x="308829" y="788423"/>
                  <a:pt x="312069" y="786455"/>
                  <a:pt x="315140" y="784226"/>
                </a:cubicBezTo>
                <a:lnTo>
                  <a:pt x="332876" y="771327"/>
                </a:lnTo>
                <a:cubicBezTo>
                  <a:pt x="335592" y="768398"/>
                  <a:pt x="337044" y="766934"/>
                  <a:pt x="337232" y="766934"/>
                </a:cubicBezTo>
                <a:cubicBezTo>
                  <a:pt x="337419" y="766934"/>
                  <a:pt x="338790" y="768211"/>
                  <a:pt x="341344" y="770765"/>
                </a:cubicBezTo>
                <a:cubicBezTo>
                  <a:pt x="355189" y="780085"/>
                  <a:pt x="368545" y="788967"/>
                  <a:pt x="381410" y="797410"/>
                </a:cubicBezTo>
                <a:cubicBezTo>
                  <a:pt x="394276" y="805853"/>
                  <a:pt x="408146" y="810075"/>
                  <a:pt x="423020" y="810075"/>
                </a:cubicBezTo>
                <a:cubicBezTo>
                  <a:pt x="429641" y="808504"/>
                  <a:pt x="435900" y="808503"/>
                  <a:pt x="441797" y="810072"/>
                </a:cubicBezTo>
                <a:cubicBezTo>
                  <a:pt x="447695" y="811640"/>
                  <a:pt x="454483" y="811591"/>
                  <a:pt x="462162" y="809925"/>
                </a:cubicBezTo>
                <a:cubicBezTo>
                  <a:pt x="467895" y="807629"/>
                  <a:pt x="470951" y="804669"/>
                  <a:pt x="471330" y="801044"/>
                </a:cubicBezTo>
                <a:cubicBezTo>
                  <a:pt x="471709" y="797419"/>
                  <a:pt x="469180" y="793747"/>
                  <a:pt x="463743" y="790026"/>
                </a:cubicBezTo>
                <a:cubicBezTo>
                  <a:pt x="452431" y="786555"/>
                  <a:pt x="442922" y="783542"/>
                  <a:pt x="435217" y="780986"/>
                </a:cubicBezTo>
                <a:cubicBezTo>
                  <a:pt x="427511" y="778430"/>
                  <a:pt x="419369" y="775244"/>
                  <a:pt x="410790" y="771427"/>
                </a:cubicBezTo>
                <a:cubicBezTo>
                  <a:pt x="407153" y="768827"/>
                  <a:pt x="403650" y="766815"/>
                  <a:pt x="400281" y="765390"/>
                </a:cubicBezTo>
                <a:cubicBezTo>
                  <a:pt x="396913" y="763965"/>
                  <a:pt x="393310" y="762296"/>
                  <a:pt x="389472" y="760384"/>
                </a:cubicBezTo>
                <a:lnTo>
                  <a:pt x="361068" y="743810"/>
                </a:lnTo>
                <a:cubicBezTo>
                  <a:pt x="357897" y="741485"/>
                  <a:pt x="355772" y="739618"/>
                  <a:pt x="354693" y="738207"/>
                </a:cubicBezTo>
                <a:cubicBezTo>
                  <a:pt x="353614" y="736797"/>
                  <a:pt x="353543" y="734927"/>
                  <a:pt x="354481" y="732598"/>
                </a:cubicBezTo>
                <a:cubicBezTo>
                  <a:pt x="360493" y="718749"/>
                  <a:pt x="365373" y="705685"/>
                  <a:pt x="369121" y="693407"/>
                </a:cubicBezTo>
                <a:cubicBezTo>
                  <a:pt x="372868" y="681128"/>
                  <a:pt x="379188" y="668452"/>
                  <a:pt x="388079" y="655378"/>
                </a:cubicBezTo>
                <a:cubicBezTo>
                  <a:pt x="389841" y="648762"/>
                  <a:pt x="389356" y="643496"/>
                  <a:pt x="386623" y="639582"/>
                </a:cubicBezTo>
                <a:cubicBezTo>
                  <a:pt x="383890" y="635668"/>
                  <a:pt x="379481" y="633406"/>
                  <a:pt x="373398" y="632798"/>
                </a:cubicBezTo>
                <a:cubicBezTo>
                  <a:pt x="372294" y="632311"/>
                  <a:pt x="371637" y="632268"/>
                  <a:pt x="371427" y="632670"/>
                </a:cubicBezTo>
                <a:cubicBezTo>
                  <a:pt x="371216" y="633072"/>
                  <a:pt x="371878" y="633083"/>
                  <a:pt x="373411" y="632704"/>
                </a:cubicBezTo>
                <a:lnTo>
                  <a:pt x="393072" y="614474"/>
                </a:lnTo>
                <a:cubicBezTo>
                  <a:pt x="399609" y="609770"/>
                  <a:pt x="401471" y="604534"/>
                  <a:pt x="398656" y="598766"/>
                </a:cubicBezTo>
                <a:cubicBezTo>
                  <a:pt x="395842" y="592997"/>
                  <a:pt x="390197" y="589174"/>
                  <a:pt x="381723" y="587295"/>
                </a:cubicBezTo>
                <a:cubicBezTo>
                  <a:pt x="378815" y="586674"/>
                  <a:pt x="376908" y="586092"/>
                  <a:pt x="376001" y="585548"/>
                </a:cubicBezTo>
                <a:cubicBezTo>
                  <a:pt x="375095" y="585004"/>
                  <a:pt x="375105" y="583957"/>
                  <a:pt x="376030" y="582407"/>
                </a:cubicBezTo>
                <a:lnTo>
                  <a:pt x="384891" y="555953"/>
                </a:lnTo>
                <a:cubicBezTo>
                  <a:pt x="389037" y="544266"/>
                  <a:pt x="387886" y="536612"/>
                  <a:pt x="381439" y="532992"/>
                </a:cubicBezTo>
                <a:cubicBezTo>
                  <a:pt x="374991" y="529371"/>
                  <a:pt x="368563" y="527561"/>
                  <a:pt x="362155" y="527561"/>
                </a:cubicBezTo>
                <a:cubicBezTo>
                  <a:pt x="357489" y="525469"/>
                  <a:pt x="353943" y="524599"/>
                  <a:pt x="351519" y="524952"/>
                </a:cubicBezTo>
                <a:cubicBezTo>
                  <a:pt x="349094" y="525304"/>
                  <a:pt x="345925" y="527567"/>
                  <a:pt x="342013" y="531742"/>
                </a:cubicBezTo>
                <a:cubicBezTo>
                  <a:pt x="335422" y="532804"/>
                  <a:pt x="332437" y="535669"/>
                  <a:pt x="333060" y="540335"/>
                </a:cubicBezTo>
                <a:cubicBezTo>
                  <a:pt x="333683" y="545001"/>
                  <a:pt x="336240" y="549424"/>
                  <a:pt x="340732" y="553603"/>
                </a:cubicBezTo>
                <a:cubicBezTo>
                  <a:pt x="345452" y="556728"/>
                  <a:pt x="347685" y="559420"/>
                  <a:pt x="347431" y="561681"/>
                </a:cubicBezTo>
                <a:cubicBezTo>
                  <a:pt x="347177" y="563941"/>
                  <a:pt x="346796" y="567502"/>
                  <a:pt x="346288" y="572364"/>
                </a:cubicBezTo>
                <a:cubicBezTo>
                  <a:pt x="343988" y="580530"/>
                  <a:pt x="342163" y="588113"/>
                  <a:pt x="340813" y="595113"/>
                </a:cubicBezTo>
                <a:cubicBezTo>
                  <a:pt x="339463" y="602112"/>
                  <a:pt x="341273" y="609881"/>
                  <a:pt x="346244" y="618418"/>
                </a:cubicBezTo>
                <a:cubicBezTo>
                  <a:pt x="345681" y="619818"/>
                  <a:pt x="343860" y="622058"/>
                  <a:pt x="340779" y="625139"/>
                </a:cubicBezTo>
                <a:lnTo>
                  <a:pt x="331074" y="634452"/>
                </a:lnTo>
                <a:lnTo>
                  <a:pt x="333963" y="630161"/>
                </a:lnTo>
                <a:cubicBezTo>
                  <a:pt x="336996" y="621065"/>
                  <a:pt x="338979" y="613767"/>
                  <a:pt x="339910" y="608265"/>
                </a:cubicBezTo>
                <a:cubicBezTo>
                  <a:pt x="340841" y="602763"/>
                  <a:pt x="339967" y="596034"/>
                  <a:pt x="337288" y="588076"/>
                </a:cubicBezTo>
                <a:cubicBezTo>
                  <a:pt x="337026" y="583080"/>
                  <a:pt x="336208" y="577760"/>
                  <a:pt x="334835" y="572114"/>
                </a:cubicBezTo>
                <a:cubicBezTo>
                  <a:pt x="333462" y="566469"/>
                  <a:pt x="329189" y="562750"/>
                  <a:pt x="322014" y="560959"/>
                </a:cubicBezTo>
                <a:lnTo>
                  <a:pt x="319183" y="558121"/>
                </a:lnTo>
                <a:cubicBezTo>
                  <a:pt x="317000" y="555630"/>
                  <a:pt x="314130" y="553534"/>
                  <a:pt x="310574" y="551834"/>
                </a:cubicBezTo>
                <a:cubicBezTo>
                  <a:pt x="307018" y="550134"/>
                  <a:pt x="304032" y="549101"/>
                  <a:pt x="301615" y="548734"/>
                </a:cubicBezTo>
                <a:cubicBezTo>
                  <a:pt x="298107" y="549284"/>
                  <a:pt x="295844" y="550954"/>
                  <a:pt x="294825" y="553744"/>
                </a:cubicBezTo>
                <a:cubicBezTo>
                  <a:pt x="293806" y="556533"/>
                  <a:pt x="293428" y="558944"/>
                  <a:pt x="293691" y="560977"/>
                </a:cubicBezTo>
                <a:cubicBezTo>
                  <a:pt x="293466" y="563698"/>
                  <a:pt x="292352" y="567180"/>
                  <a:pt x="290350" y="571424"/>
                </a:cubicBezTo>
                <a:cubicBezTo>
                  <a:pt x="288348" y="575667"/>
                  <a:pt x="285960" y="579174"/>
                  <a:pt x="283185" y="581945"/>
                </a:cubicBezTo>
                <a:cubicBezTo>
                  <a:pt x="281373" y="582291"/>
                  <a:pt x="279189" y="581959"/>
                  <a:pt x="276632" y="580951"/>
                </a:cubicBezTo>
                <a:cubicBezTo>
                  <a:pt x="274076" y="579943"/>
                  <a:pt x="271005" y="579139"/>
                  <a:pt x="267417" y="578539"/>
                </a:cubicBezTo>
                <a:lnTo>
                  <a:pt x="260458" y="578539"/>
                </a:lnTo>
                <a:lnTo>
                  <a:pt x="267766" y="564024"/>
                </a:lnTo>
                <a:cubicBezTo>
                  <a:pt x="269000" y="558879"/>
                  <a:pt x="268728" y="554032"/>
                  <a:pt x="266949" y="549484"/>
                </a:cubicBezTo>
                <a:cubicBezTo>
                  <a:pt x="263391" y="540389"/>
                  <a:pt x="255137" y="532810"/>
                  <a:pt x="242188" y="526748"/>
                </a:cubicBezTo>
                <a:cubicBezTo>
                  <a:pt x="235967" y="521378"/>
                  <a:pt x="229847" y="518536"/>
                  <a:pt x="223826" y="518224"/>
                </a:cubicBezTo>
                <a:close/>
                <a:moveTo>
                  <a:pt x="650558" y="518149"/>
                </a:moveTo>
                <a:cubicBezTo>
                  <a:pt x="640879" y="521615"/>
                  <a:pt x="639246" y="527169"/>
                  <a:pt x="645658" y="534810"/>
                </a:cubicBezTo>
                <a:cubicBezTo>
                  <a:pt x="652070" y="542452"/>
                  <a:pt x="657230" y="548349"/>
                  <a:pt x="661138" y="552503"/>
                </a:cubicBezTo>
                <a:cubicBezTo>
                  <a:pt x="660963" y="552711"/>
                  <a:pt x="660179" y="553729"/>
                  <a:pt x="658785" y="555556"/>
                </a:cubicBezTo>
                <a:cubicBezTo>
                  <a:pt x="657392" y="557383"/>
                  <a:pt x="655566" y="559567"/>
                  <a:pt x="653308" y="562109"/>
                </a:cubicBezTo>
                <a:cubicBezTo>
                  <a:pt x="650424" y="567187"/>
                  <a:pt x="649734" y="571525"/>
                  <a:pt x="651236" y="575120"/>
                </a:cubicBezTo>
                <a:cubicBezTo>
                  <a:pt x="651987" y="576918"/>
                  <a:pt x="653353" y="578311"/>
                  <a:pt x="655333" y="579300"/>
                </a:cubicBezTo>
                <a:lnTo>
                  <a:pt x="661776" y="580749"/>
                </a:lnTo>
                <a:lnTo>
                  <a:pt x="633481" y="593613"/>
                </a:lnTo>
                <a:cubicBezTo>
                  <a:pt x="623887" y="597850"/>
                  <a:pt x="613891" y="601454"/>
                  <a:pt x="603492" y="604425"/>
                </a:cubicBezTo>
                <a:cubicBezTo>
                  <a:pt x="601596" y="604425"/>
                  <a:pt x="600226" y="604298"/>
                  <a:pt x="599383" y="604044"/>
                </a:cubicBezTo>
                <a:cubicBezTo>
                  <a:pt x="598539" y="603789"/>
                  <a:pt x="596915" y="602821"/>
                  <a:pt x="594511" y="601137"/>
                </a:cubicBezTo>
                <a:cubicBezTo>
                  <a:pt x="586824" y="598100"/>
                  <a:pt x="578779" y="598874"/>
                  <a:pt x="570375" y="603459"/>
                </a:cubicBezTo>
                <a:cubicBezTo>
                  <a:pt x="561971" y="608044"/>
                  <a:pt x="557455" y="614583"/>
                  <a:pt x="556826" y="623074"/>
                </a:cubicBezTo>
                <a:cubicBezTo>
                  <a:pt x="556563" y="626869"/>
                  <a:pt x="556735" y="630783"/>
                  <a:pt x="557342" y="634814"/>
                </a:cubicBezTo>
                <a:cubicBezTo>
                  <a:pt x="557948" y="638845"/>
                  <a:pt x="560888" y="642795"/>
                  <a:pt x="566163" y="646666"/>
                </a:cubicBezTo>
                <a:cubicBezTo>
                  <a:pt x="568004" y="647891"/>
                  <a:pt x="570247" y="648503"/>
                  <a:pt x="572891" y="648503"/>
                </a:cubicBezTo>
                <a:cubicBezTo>
                  <a:pt x="575534" y="648503"/>
                  <a:pt x="577914" y="648199"/>
                  <a:pt x="580031" y="647591"/>
                </a:cubicBezTo>
                <a:cubicBezTo>
                  <a:pt x="591634" y="644354"/>
                  <a:pt x="602198" y="640583"/>
                  <a:pt x="611723" y="636279"/>
                </a:cubicBezTo>
                <a:lnTo>
                  <a:pt x="639794" y="625728"/>
                </a:lnTo>
                <a:lnTo>
                  <a:pt x="634421" y="631098"/>
                </a:lnTo>
                <a:cubicBezTo>
                  <a:pt x="630401" y="633265"/>
                  <a:pt x="627574" y="637553"/>
                  <a:pt x="625940" y="643963"/>
                </a:cubicBezTo>
                <a:cubicBezTo>
                  <a:pt x="624307" y="650373"/>
                  <a:pt x="625582" y="655842"/>
                  <a:pt x="629765" y="660371"/>
                </a:cubicBezTo>
                <a:cubicBezTo>
                  <a:pt x="631178" y="661938"/>
                  <a:pt x="631923" y="662820"/>
                  <a:pt x="632003" y="663018"/>
                </a:cubicBezTo>
                <a:cubicBezTo>
                  <a:pt x="632082" y="663216"/>
                  <a:pt x="631609" y="664077"/>
                  <a:pt x="630584" y="665602"/>
                </a:cubicBezTo>
                <a:cubicBezTo>
                  <a:pt x="624413" y="672764"/>
                  <a:pt x="617970" y="678397"/>
                  <a:pt x="611254" y="682501"/>
                </a:cubicBezTo>
                <a:cubicBezTo>
                  <a:pt x="604538" y="686605"/>
                  <a:pt x="597534" y="689738"/>
                  <a:pt x="590243" y="691901"/>
                </a:cubicBezTo>
                <a:cubicBezTo>
                  <a:pt x="581818" y="699963"/>
                  <a:pt x="579051" y="707033"/>
                  <a:pt x="581940" y="713112"/>
                </a:cubicBezTo>
                <a:cubicBezTo>
                  <a:pt x="584829" y="719191"/>
                  <a:pt x="591945" y="720459"/>
                  <a:pt x="603286" y="716918"/>
                </a:cubicBezTo>
                <a:lnTo>
                  <a:pt x="606200" y="715275"/>
                </a:lnTo>
                <a:lnTo>
                  <a:pt x="600195" y="733461"/>
                </a:lnTo>
                <a:cubicBezTo>
                  <a:pt x="599776" y="739185"/>
                  <a:pt x="600221" y="745518"/>
                  <a:pt x="601529" y="752459"/>
                </a:cubicBezTo>
                <a:cubicBezTo>
                  <a:pt x="601792" y="754309"/>
                  <a:pt x="601727" y="756263"/>
                  <a:pt x="601336" y="758322"/>
                </a:cubicBezTo>
                <a:cubicBezTo>
                  <a:pt x="600944" y="760380"/>
                  <a:pt x="601523" y="762732"/>
                  <a:pt x="603073" y="765377"/>
                </a:cubicBezTo>
                <a:cubicBezTo>
                  <a:pt x="605294" y="769269"/>
                  <a:pt x="607552" y="772076"/>
                  <a:pt x="609848" y="773799"/>
                </a:cubicBezTo>
                <a:cubicBezTo>
                  <a:pt x="612143" y="775522"/>
                  <a:pt x="614810" y="777395"/>
                  <a:pt x="617847" y="779420"/>
                </a:cubicBezTo>
                <a:cubicBezTo>
                  <a:pt x="620614" y="781933"/>
                  <a:pt x="623488" y="784546"/>
                  <a:pt x="626472" y="787260"/>
                </a:cubicBezTo>
                <a:cubicBezTo>
                  <a:pt x="629455" y="789975"/>
                  <a:pt x="632771" y="792326"/>
                  <a:pt x="636421" y="794313"/>
                </a:cubicBezTo>
                <a:cubicBezTo>
                  <a:pt x="640325" y="794617"/>
                  <a:pt x="644347" y="794836"/>
                  <a:pt x="648486" y="794969"/>
                </a:cubicBezTo>
                <a:cubicBezTo>
                  <a:pt x="652625" y="795103"/>
                  <a:pt x="655637" y="792215"/>
                  <a:pt x="657520" y="786307"/>
                </a:cubicBezTo>
                <a:cubicBezTo>
                  <a:pt x="657836" y="784712"/>
                  <a:pt x="658229" y="783829"/>
                  <a:pt x="658698" y="783661"/>
                </a:cubicBezTo>
                <a:cubicBezTo>
                  <a:pt x="659167" y="783492"/>
                  <a:pt x="660063" y="783408"/>
                  <a:pt x="661388" y="783408"/>
                </a:cubicBezTo>
                <a:cubicBezTo>
                  <a:pt x="669896" y="784453"/>
                  <a:pt x="676713" y="783148"/>
                  <a:pt x="681840" y="779492"/>
                </a:cubicBezTo>
                <a:cubicBezTo>
                  <a:pt x="686967" y="775836"/>
                  <a:pt x="693413" y="771463"/>
                  <a:pt x="701180" y="766371"/>
                </a:cubicBezTo>
                <a:cubicBezTo>
                  <a:pt x="705525" y="763813"/>
                  <a:pt x="710107" y="761585"/>
                  <a:pt x="714926" y="759687"/>
                </a:cubicBezTo>
                <a:cubicBezTo>
                  <a:pt x="719744" y="757789"/>
                  <a:pt x="723178" y="753232"/>
                  <a:pt x="725228" y="746016"/>
                </a:cubicBezTo>
                <a:cubicBezTo>
                  <a:pt x="724799" y="742058"/>
                  <a:pt x="723829" y="739550"/>
                  <a:pt x="722319" y="738492"/>
                </a:cubicBezTo>
                <a:cubicBezTo>
                  <a:pt x="720809" y="737433"/>
                  <a:pt x="719947" y="736692"/>
                  <a:pt x="719735" y="736267"/>
                </a:cubicBezTo>
                <a:cubicBezTo>
                  <a:pt x="719735" y="731313"/>
                  <a:pt x="720447" y="726375"/>
                  <a:pt x="721872" y="721452"/>
                </a:cubicBezTo>
                <a:cubicBezTo>
                  <a:pt x="723297" y="716529"/>
                  <a:pt x="723853" y="710589"/>
                  <a:pt x="723541" y="703631"/>
                </a:cubicBezTo>
                <a:cubicBezTo>
                  <a:pt x="716587" y="694157"/>
                  <a:pt x="708959" y="688979"/>
                  <a:pt x="700658" y="688098"/>
                </a:cubicBezTo>
                <a:cubicBezTo>
                  <a:pt x="692356" y="687217"/>
                  <a:pt x="684556" y="688795"/>
                  <a:pt x="677256" y="692832"/>
                </a:cubicBezTo>
                <a:cubicBezTo>
                  <a:pt x="668927" y="697132"/>
                  <a:pt x="661152" y="701974"/>
                  <a:pt x="653929" y="707359"/>
                </a:cubicBezTo>
                <a:lnTo>
                  <a:pt x="634378" y="720611"/>
                </a:lnTo>
                <a:lnTo>
                  <a:pt x="642232" y="707820"/>
                </a:lnTo>
                <a:cubicBezTo>
                  <a:pt x="645603" y="703667"/>
                  <a:pt x="649533" y="699938"/>
                  <a:pt x="654023" y="696632"/>
                </a:cubicBezTo>
                <a:cubicBezTo>
                  <a:pt x="663004" y="690020"/>
                  <a:pt x="672183" y="684499"/>
                  <a:pt x="681562" y="680070"/>
                </a:cubicBezTo>
                <a:cubicBezTo>
                  <a:pt x="686199" y="677241"/>
                  <a:pt x="690668" y="674906"/>
                  <a:pt x="694967" y="673064"/>
                </a:cubicBezTo>
                <a:cubicBezTo>
                  <a:pt x="699267" y="671223"/>
                  <a:pt x="704021" y="669754"/>
                  <a:pt x="709229" y="668658"/>
                </a:cubicBezTo>
                <a:cubicBezTo>
                  <a:pt x="715450" y="664517"/>
                  <a:pt x="718281" y="660165"/>
                  <a:pt x="717722" y="655603"/>
                </a:cubicBezTo>
                <a:cubicBezTo>
                  <a:pt x="717164" y="651041"/>
                  <a:pt x="712964" y="648366"/>
                  <a:pt x="705123" y="647578"/>
                </a:cubicBezTo>
                <a:cubicBezTo>
                  <a:pt x="694165" y="648703"/>
                  <a:pt x="684068" y="651342"/>
                  <a:pt x="674831" y="655494"/>
                </a:cubicBezTo>
                <a:lnTo>
                  <a:pt x="662299" y="661796"/>
                </a:lnTo>
                <a:lnTo>
                  <a:pt x="667722" y="657990"/>
                </a:lnTo>
                <a:cubicBezTo>
                  <a:pt x="673787" y="654082"/>
                  <a:pt x="680093" y="649124"/>
                  <a:pt x="686643" y="643116"/>
                </a:cubicBezTo>
                <a:cubicBezTo>
                  <a:pt x="689880" y="638537"/>
                  <a:pt x="691334" y="634088"/>
                  <a:pt x="691005" y="629767"/>
                </a:cubicBezTo>
                <a:cubicBezTo>
                  <a:pt x="690676" y="625446"/>
                  <a:pt x="688466" y="621751"/>
                  <a:pt x="684374" y="618680"/>
                </a:cubicBezTo>
                <a:cubicBezTo>
                  <a:pt x="682604" y="617501"/>
                  <a:pt x="681714" y="617095"/>
                  <a:pt x="681706" y="617461"/>
                </a:cubicBezTo>
                <a:cubicBezTo>
                  <a:pt x="681697" y="617828"/>
                  <a:pt x="682097" y="617666"/>
                  <a:pt x="682906" y="616974"/>
                </a:cubicBezTo>
                <a:cubicBezTo>
                  <a:pt x="690926" y="609195"/>
                  <a:pt x="698275" y="603079"/>
                  <a:pt x="704951" y="598625"/>
                </a:cubicBezTo>
                <a:cubicBezTo>
                  <a:pt x="711628" y="594171"/>
                  <a:pt x="718920" y="591688"/>
                  <a:pt x="726828" y="591176"/>
                </a:cubicBezTo>
                <a:cubicBezTo>
                  <a:pt x="733682" y="587572"/>
                  <a:pt x="737350" y="582905"/>
                  <a:pt x="737834" y="577176"/>
                </a:cubicBezTo>
                <a:cubicBezTo>
                  <a:pt x="738317" y="571448"/>
                  <a:pt x="734367" y="567998"/>
                  <a:pt x="725984" y="566827"/>
                </a:cubicBezTo>
                <a:cubicBezTo>
                  <a:pt x="722176" y="566069"/>
                  <a:pt x="718521" y="565616"/>
                  <a:pt x="715019" y="565468"/>
                </a:cubicBezTo>
                <a:lnTo>
                  <a:pt x="706283" y="565940"/>
                </a:lnTo>
                <a:lnTo>
                  <a:pt x="707039" y="565554"/>
                </a:lnTo>
                <a:cubicBezTo>
                  <a:pt x="710176" y="561957"/>
                  <a:pt x="711564" y="557263"/>
                  <a:pt x="711204" y="551472"/>
                </a:cubicBezTo>
                <a:cubicBezTo>
                  <a:pt x="710483" y="539889"/>
                  <a:pt x="704102" y="530483"/>
                  <a:pt x="692061" y="523255"/>
                </a:cubicBezTo>
                <a:cubicBezTo>
                  <a:pt x="684429" y="520709"/>
                  <a:pt x="677182" y="519222"/>
                  <a:pt x="670322" y="518793"/>
                </a:cubicBezTo>
                <a:cubicBezTo>
                  <a:pt x="663462" y="518363"/>
                  <a:pt x="656874" y="518149"/>
                  <a:pt x="650558" y="518149"/>
                </a:cubicBezTo>
                <a:close/>
                <a:moveTo>
                  <a:pt x="807867" y="501675"/>
                </a:moveTo>
                <a:cubicBezTo>
                  <a:pt x="805409" y="501675"/>
                  <a:pt x="803296" y="502460"/>
                  <a:pt x="801530" y="504031"/>
                </a:cubicBezTo>
                <a:cubicBezTo>
                  <a:pt x="797305" y="507164"/>
                  <a:pt x="794686" y="509743"/>
                  <a:pt x="793674" y="511768"/>
                </a:cubicBezTo>
                <a:cubicBezTo>
                  <a:pt x="792662" y="513793"/>
                  <a:pt x="791655" y="516141"/>
                  <a:pt x="790655" y="518811"/>
                </a:cubicBezTo>
                <a:cubicBezTo>
                  <a:pt x="786160" y="534939"/>
                  <a:pt x="783583" y="550176"/>
                  <a:pt x="782925" y="564521"/>
                </a:cubicBezTo>
                <a:cubicBezTo>
                  <a:pt x="782266" y="578866"/>
                  <a:pt x="781437" y="593528"/>
                  <a:pt x="780437" y="608506"/>
                </a:cubicBezTo>
                <a:cubicBezTo>
                  <a:pt x="780287" y="608706"/>
                  <a:pt x="779860" y="609114"/>
                  <a:pt x="779156" y="609731"/>
                </a:cubicBezTo>
                <a:cubicBezTo>
                  <a:pt x="778452" y="610347"/>
                  <a:pt x="777654" y="610745"/>
                  <a:pt x="776762" y="610924"/>
                </a:cubicBezTo>
                <a:cubicBezTo>
                  <a:pt x="768351" y="614987"/>
                  <a:pt x="760353" y="618878"/>
                  <a:pt x="752770" y="622599"/>
                </a:cubicBezTo>
                <a:cubicBezTo>
                  <a:pt x="745187" y="626319"/>
                  <a:pt x="737473" y="631450"/>
                  <a:pt x="729628" y="637991"/>
                </a:cubicBezTo>
                <a:cubicBezTo>
                  <a:pt x="725536" y="640887"/>
                  <a:pt x="723858" y="644034"/>
                  <a:pt x="724594" y="647432"/>
                </a:cubicBezTo>
                <a:cubicBezTo>
                  <a:pt x="725329" y="650829"/>
                  <a:pt x="727793" y="653478"/>
                  <a:pt x="731984" y="655378"/>
                </a:cubicBezTo>
                <a:cubicBezTo>
                  <a:pt x="739908" y="656799"/>
                  <a:pt x="747004" y="657701"/>
                  <a:pt x="753270" y="658084"/>
                </a:cubicBezTo>
                <a:cubicBezTo>
                  <a:pt x="759536" y="658467"/>
                  <a:pt x="766586" y="659194"/>
                  <a:pt x="774419" y="660265"/>
                </a:cubicBezTo>
                <a:cubicBezTo>
                  <a:pt x="776181" y="659744"/>
                  <a:pt x="777088" y="659537"/>
                  <a:pt x="777141" y="659643"/>
                </a:cubicBezTo>
                <a:cubicBezTo>
                  <a:pt x="777193" y="659750"/>
                  <a:pt x="777219" y="660317"/>
                  <a:pt x="777219" y="661346"/>
                </a:cubicBezTo>
                <a:cubicBezTo>
                  <a:pt x="778789" y="680062"/>
                  <a:pt x="779313" y="697617"/>
                  <a:pt x="778790" y="714012"/>
                </a:cubicBezTo>
                <a:cubicBezTo>
                  <a:pt x="778268" y="730407"/>
                  <a:pt x="778273" y="748026"/>
                  <a:pt x="778806" y="766871"/>
                </a:cubicBezTo>
                <a:cubicBezTo>
                  <a:pt x="779319" y="768813"/>
                  <a:pt x="779198" y="770192"/>
                  <a:pt x="778444" y="771008"/>
                </a:cubicBezTo>
                <a:cubicBezTo>
                  <a:pt x="777689" y="771825"/>
                  <a:pt x="776008" y="773852"/>
                  <a:pt x="773400" y="777089"/>
                </a:cubicBezTo>
                <a:cubicBezTo>
                  <a:pt x="772809" y="784872"/>
                  <a:pt x="774157" y="792498"/>
                  <a:pt x="777447" y="799966"/>
                </a:cubicBezTo>
                <a:cubicBezTo>
                  <a:pt x="780736" y="807434"/>
                  <a:pt x="784610" y="814787"/>
                  <a:pt x="789068" y="822024"/>
                </a:cubicBezTo>
                <a:cubicBezTo>
                  <a:pt x="794651" y="826082"/>
                  <a:pt x="799257" y="827508"/>
                  <a:pt x="802886" y="826302"/>
                </a:cubicBezTo>
                <a:cubicBezTo>
                  <a:pt x="806515" y="825096"/>
                  <a:pt x="809781" y="821751"/>
                  <a:pt x="812685" y="816268"/>
                </a:cubicBezTo>
                <a:cubicBezTo>
                  <a:pt x="816756" y="806765"/>
                  <a:pt x="819782" y="797655"/>
                  <a:pt x="821763" y="788939"/>
                </a:cubicBezTo>
                <a:cubicBezTo>
                  <a:pt x="823744" y="780222"/>
                  <a:pt x="825262" y="771254"/>
                  <a:pt x="826316" y="762034"/>
                </a:cubicBezTo>
                <a:cubicBezTo>
                  <a:pt x="827111" y="741844"/>
                  <a:pt x="827705" y="723040"/>
                  <a:pt x="828097" y="705625"/>
                </a:cubicBezTo>
                <a:cubicBezTo>
                  <a:pt x="828488" y="688209"/>
                  <a:pt x="829755" y="669598"/>
                  <a:pt x="831897" y="649791"/>
                </a:cubicBezTo>
                <a:cubicBezTo>
                  <a:pt x="831897" y="642658"/>
                  <a:pt x="832813" y="638272"/>
                  <a:pt x="834646" y="636632"/>
                </a:cubicBezTo>
                <a:cubicBezTo>
                  <a:pt x="836480" y="634993"/>
                  <a:pt x="840875" y="632852"/>
                  <a:pt x="847833" y="630211"/>
                </a:cubicBezTo>
                <a:lnTo>
                  <a:pt x="867532" y="622830"/>
                </a:lnTo>
                <a:cubicBezTo>
                  <a:pt x="873577" y="618055"/>
                  <a:pt x="877123" y="612446"/>
                  <a:pt x="878169" y="606003"/>
                </a:cubicBezTo>
                <a:cubicBezTo>
                  <a:pt x="879215" y="599559"/>
                  <a:pt x="875177" y="594348"/>
                  <a:pt x="866057" y="590369"/>
                </a:cubicBezTo>
                <a:cubicBezTo>
                  <a:pt x="862011" y="589103"/>
                  <a:pt x="858178" y="588320"/>
                  <a:pt x="854558" y="588020"/>
                </a:cubicBezTo>
                <a:cubicBezTo>
                  <a:pt x="850937" y="587720"/>
                  <a:pt x="847310" y="587959"/>
                  <a:pt x="843677" y="588738"/>
                </a:cubicBezTo>
                <a:cubicBezTo>
                  <a:pt x="840806" y="588738"/>
                  <a:pt x="839106" y="588670"/>
                  <a:pt x="838574" y="588532"/>
                </a:cubicBezTo>
                <a:cubicBezTo>
                  <a:pt x="838043" y="588395"/>
                  <a:pt x="837896" y="587413"/>
                  <a:pt x="838134" y="585588"/>
                </a:cubicBezTo>
                <a:cubicBezTo>
                  <a:pt x="837300" y="577310"/>
                  <a:pt x="836621" y="570018"/>
                  <a:pt x="836096" y="563712"/>
                </a:cubicBezTo>
                <a:cubicBezTo>
                  <a:pt x="835571" y="557406"/>
                  <a:pt x="834432" y="550945"/>
                  <a:pt x="832678" y="544328"/>
                </a:cubicBezTo>
                <a:cubicBezTo>
                  <a:pt x="834698" y="539775"/>
                  <a:pt x="836119" y="533666"/>
                  <a:pt x="836940" y="526001"/>
                </a:cubicBezTo>
                <a:cubicBezTo>
                  <a:pt x="837761" y="518337"/>
                  <a:pt x="835988" y="511503"/>
                  <a:pt x="831622" y="505500"/>
                </a:cubicBezTo>
                <a:cubicBezTo>
                  <a:pt x="827843" y="502429"/>
                  <a:pt x="824623" y="501155"/>
                  <a:pt x="821963" y="501678"/>
                </a:cubicBezTo>
                <a:cubicBezTo>
                  <a:pt x="819303" y="502201"/>
                  <a:pt x="816877" y="502462"/>
                  <a:pt x="814685" y="502462"/>
                </a:cubicBezTo>
                <a:cubicBezTo>
                  <a:pt x="812598" y="501937"/>
                  <a:pt x="810325" y="501675"/>
                  <a:pt x="807867" y="501675"/>
                </a:cubicBezTo>
                <a:close/>
                <a:moveTo>
                  <a:pt x="672103" y="339414"/>
                </a:moveTo>
                <a:lnTo>
                  <a:pt x="676437" y="345738"/>
                </a:lnTo>
                <a:cubicBezTo>
                  <a:pt x="679446" y="347671"/>
                  <a:pt x="682616" y="348683"/>
                  <a:pt x="685949" y="348772"/>
                </a:cubicBezTo>
                <a:lnTo>
                  <a:pt x="696274" y="346314"/>
                </a:lnTo>
                <a:lnTo>
                  <a:pt x="696436" y="347382"/>
                </a:lnTo>
                <a:cubicBezTo>
                  <a:pt x="696232" y="350903"/>
                  <a:pt x="695467" y="353193"/>
                  <a:pt x="694143" y="354253"/>
                </a:cubicBezTo>
                <a:cubicBezTo>
                  <a:pt x="692818" y="355314"/>
                  <a:pt x="689989" y="356806"/>
                  <a:pt x="685656" y="358731"/>
                </a:cubicBezTo>
                <a:cubicBezTo>
                  <a:pt x="682643" y="359556"/>
                  <a:pt x="680167" y="360368"/>
                  <a:pt x="678228" y="361165"/>
                </a:cubicBezTo>
                <a:cubicBezTo>
                  <a:pt x="676288" y="361963"/>
                  <a:pt x="675108" y="362362"/>
                  <a:pt x="674687" y="362362"/>
                </a:cubicBezTo>
                <a:cubicBezTo>
                  <a:pt x="673708" y="361479"/>
                  <a:pt x="673041" y="359739"/>
                  <a:pt x="672684" y="357144"/>
                </a:cubicBezTo>
                <a:cubicBezTo>
                  <a:pt x="672328" y="354548"/>
                  <a:pt x="672033" y="352198"/>
                  <a:pt x="671800" y="350094"/>
                </a:cubicBezTo>
                <a:close/>
                <a:moveTo>
                  <a:pt x="702540" y="302391"/>
                </a:moveTo>
                <a:lnTo>
                  <a:pt x="701049" y="311162"/>
                </a:lnTo>
                <a:cubicBezTo>
                  <a:pt x="699681" y="313820"/>
                  <a:pt x="697499" y="315878"/>
                  <a:pt x="694502" y="317334"/>
                </a:cubicBezTo>
                <a:lnTo>
                  <a:pt x="675466" y="325412"/>
                </a:lnTo>
                <a:lnTo>
                  <a:pt x="676559" y="322440"/>
                </a:lnTo>
                <a:cubicBezTo>
                  <a:pt x="680715" y="316044"/>
                  <a:pt x="689339" y="309388"/>
                  <a:pt x="702430" y="302472"/>
                </a:cubicBezTo>
                <a:close/>
                <a:moveTo>
                  <a:pt x="392666" y="290360"/>
                </a:moveTo>
                <a:lnTo>
                  <a:pt x="393660" y="290360"/>
                </a:lnTo>
                <a:cubicBezTo>
                  <a:pt x="406230" y="291719"/>
                  <a:pt x="408832" y="298678"/>
                  <a:pt x="401465" y="311237"/>
                </a:cubicBezTo>
                <a:cubicBezTo>
                  <a:pt x="394099" y="323797"/>
                  <a:pt x="384321" y="333370"/>
                  <a:pt x="372130" y="339957"/>
                </a:cubicBezTo>
                <a:cubicBezTo>
                  <a:pt x="367709" y="341820"/>
                  <a:pt x="364177" y="341712"/>
                  <a:pt x="361534" y="339635"/>
                </a:cubicBezTo>
                <a:cubicBezTo>
                  <a:pt x="358890" y="337559"/>
                  <a:pt x="357345" y="333976"/>
                  <a:pt x="356899" y="328889"/>
                </a:cubicBezTo>
                <a:cubicBezTo>
                  <a:pt x="356008" y="324715"/>
                  <a:pt x="354886" y="321588"/>
                  <a:pt x="353534" y="319509"/>
                </a:cubicBezTo>
                <a:cubicBezTo>
                  <a:pt x="352182" y="317430"/>
                  <a:pt x="352064" y="315501"/>
                  <a:pt x="353181" y="313721"/>
                </a:cubicBezTo>
                <a:cubicBezTo>
                  <a:pt x="360664" y="306489"/>
                  <a:pt x="367208" y="300845"/>
                  <a:pt x="372814" y="296791"/>
                </a:cubicBezTo>
                <a:cubicBezTo>
                  <a:pt x="378420" y="292737"/>
                  <a:pt x="385037" y="290594"/>
                  <a:pt x="392666" y="290360"/>
                </a:cubicBezTo>
                <a:close/>
                <a:moveTo>
                  <a:pt x="756332" y="280948"/>
                </a:moveTo>
                <a:cubicBezTo>
                  <a:pt x="764507" y="281744"/>
                  <a:pt x="768342" y="284321"/>
                  <a:pt x="767838" y="288679"/>
                </a:cubicBezTo>
                <a:cubicBezTo>
                  <a:pt x="767334" y="293037"/>
                  <a:pt x="765494" y="299664"/>
                  <a:pt x="762320" y="308559"/>
                </a:cubicBezTo>
                <a:cubicBezTo>
                  <a:pt x="760353" y="313092"/>
                  <a:pt x="758482" y="317700"/>
                  <a:pt x="756707" y="322383"/>
                </a:cubicBezTo>
                <a:cubicBezTo>
                  <a:pt x="754933" y="327066"/>
                  <a:pt x="752703" y="331643"/>
                  <a:pt x="750020" y="336114"/>
                </a:cubicBezTo>
                <a:cubicBezTo>
                  <a:pt x="747816" y="337768"/>
                  <a:pt x="745121" y="338719"/>
                  <a:pt x="741933" y="338967"/>
                </a:cubicBezTo>
                <a:cubicBezTo>
                  <a:pt x="738746" y="339215"/>
                  <a:pt x="735852" y="339728"/>
                  <a:pt x="733253" y="340507"/>
                </a:cubicBezTo>
                <a:cubicBezTo>
                  <a:pt x="730528" y="340895"/>
                  <a:pt x="728572" y="341878"/>
                  <a:pt x="727384" y="343457"/>
                </a:cubicBezTo>
                <a:cubicBezTo>
                  <a:pt x="726197" y="345036"/>
                  <a:pt x="725264" y="346622"/>
                  <a:pt x="724584" y="348213"/>
                </a:cubicBezTo>
                <a:cubicBezTo>
                  <a:pt x="723939" y="349017"/>
                  <a:pt x="723620" y="349361"/>
                  <a:pt x="723628" y="349244"/>
                </a:cubicBezTo>
                <a:cubicBezTo>
                  <a:pt x="723637" y="349128"/>
                  <a:pt x="723637" y="349038"/>
                  <a:pt x="723628" y="348976"/>
                </a:cubicBezTo>
                <a:cubicBezTo>
                  <a:pt x="724328" y="340118"/>
                  <a:pt x="725947" y="334089"/>
                  <a:pt x="728484" y="330889"/>
                </a:cubicBezTo>
                <a:cubicBezTo>
                  <a:pt x="731022" y="327689"/>
                  <a:pt x="736998" y="324229"/>
                  <a:pt x="746414" y="320509"/>
                </a:cubicBezTo>
                <a:cubicBezTo>
                  <a:pt x="750260" y="318438"/>
                  <a:pt x="754030" y="315706"/>
                  <a:pt x="757723" y="312312"/>
                </a:cubicBezTo>
                <a:cubicBezTo>
                  <a:pt x="761417" y="308919"/>
                  <a:pt x="762507" y="304205"/>
                  <a:pt x="760995" y="298172"/>
                </a:cubicBezTo>
                <a:cubicBezTo>
                  <a:pt x="759311" y="295648"/>
                  <a:pt x="757077" y="293688"/>
                  <a:pt x="754292" y="292295"/>
                </a:cubicBezTo>
                <a:cubicBezTo>
                  <a:pt x="751507" y="290901"/>
                  <a:pt x="748750" y="290204"/>
                  <a:pt x="746021" y="290204"/>
                </a:cubicBezTo>
                <a:cubicBezTo>
                  <a:pt x="744696" y="290121"/>
                  <a:pt x="743709" y="289134"/>
                  <a:pt x="743061" y="287245"/>
                </a:cubicBezTo>
                <a:cubicBezTo>
                  <a:pt x="742413" y="285355"/>
                  <a:pt x="743356" y="283973"/>
                  <a:pt x="745889" y="283098"/>
                </a:cubicBezTo>
                <a:close/>
                <a:moveTo>
                  <a:pt x="404990" y="269137"/>
                </a:moveTo>
                <a:cubicBezTo>
                  <a:pt x="387883" y="273507"/>
                  <a:pt x="373134" y="277660"/>
                  <a:pt x="360743" y="281595"/>
                </a:cubicBezTo>
                <a:cubicBezTo>
                  <a:pt x="348352" y="285530"/>
                  <a:pt x="334157" y="291910"/>
                  <a:pt x="318158" y="300735"/>
                </a:cubicBezTo>
                <a:cubicBezTo>
                  <a:pt x="315446" y="306159"/>
                  <a:pt x="312900" y="310788"/>
                  <a:pt x="310521" y="314621"/>
                </a:cubicBezTo>
                <a:cubicBezTo>
                  <a:pt x="308142" y="318455"/>
                  <a:pt x="306036" y="322600"/>
                  <a:pt x="304203" y="327058"/>
                </a:cubicBezTo>
                <a:cubicBezTo>
                  <a:pt x="301903" y="331879"/>
                  <a:pt x="301440" y="335265"/>
                  <a:pt x="302815" y="337217"/>
                </a:cubicBezTo>
                <a:cubicBezTo>
                  <a:pt x="304190" y="339169"/>
                  <a:pt x="306475" y="341005"/>
                  <a:pt x="309671" y="342726"/>
                </a:cubicBezTo>
                <a:cubicBezTo>
                  <a:pt x="313000" y="348721"/>
                  <a:pt x="316389" y="354594"/>
                  <a:pt x="319839" y="360344"/>
                </a:cubicBezTo>
                <a:cubicBezTo>
                  <a:pt x="323289" y="366093"/>
                  <a:pt x="329330" y="371451"/>
                  <a:pt x="337963" y="376418"/>
                </a:cubicBezTo>
                <a:cubicBezTo>
                  <a:pt x="338513" y="377038"/>
                  <a:pt x="338658" y="378559"/>
                  <a:pt x="338397" y="380980"/>
                </a:cubicBezTo>
                <a:cubicBezTo>
                  <a:pt x="338137" y="383401"/>
                  <a:pt x="338965" y="386221"/>
                  <a:pt x="340882" y="389442"/>
                </a:cubicBezTo>
                <a:cubicBezTo>
                  <a:pt x="344952" y="392833"/>
                  <a:pt x="349431" y="394814"/>
                  <a:pt x="354318" y="395385"/>
                </a:cubicBezTo>
                <a:cubicBezTo>
                  <a:pt x="359206" y="395956"/>
                  <a:pt x="363595" y="395912"/>
                  <a:pt x="367486" y="395254"/>
                </a:cubicBezTo>
                <a:cubicBezTo>
                  <a:pt x="378356" y="389554"/>
                  <a:pt x="388689" y="385932"/>
                  <a:pt x="398484" y="384386"/>
                </a:cubicBezTo>
                <a:cubicBezTo>
                  <a:pt x="408280" y="382840"/>
                  <a:pt x="418994" y="380130"/>
                  <a:pt x="430626" y="376255"/>
                </a:cubicBezTo>
                <a:cubicBezTo>
                  <a:pt x="437780" y="371701"/>
                  <a:pt x="441741" y="366792"/>
                  <a:pt x="442510" y="361528"/>
                </a:cubicBezTo>
                <a:cubicBezTo>
                  <a:pt x="443279" y="356264"/>
                  <a:pt x="440049" y="351834"/>
                  <a:pt x="432820" y="348238"/>
                </a:cubicBezTo>
                <a:cubicBezTo>
                  <a:pt x="431157" y="346763"/>
                  <a:pt x="430000" y="345779"/>
                  <a:pt x="429348" y="345285"/>
                </a:cubicBezTo>
                <a:cubicBezTo>
                  <a:pt x="428696" y="344791"/>
                  <a:pt x="429101" y="344251"/>
                  <a:pt x="430564" y="343663"/>
                </a:cubicBezTo>
                <a:cubicBezTo>
                  <a:pt x="435538" y="339276"/>
                  <a:pt x="440210" y="334147"/>
                  <a:pt x="444578" y="328277"/>
                </a:cubicBezTo>
                <a:cubicBezTo>
                  <a:pt x="448947" y="322406"/>
                  <a:pt x="451910" y="316665"/>
                  <a:pt x="453469" y="311053"/>
                </a:cubicBezTo>
                <a:cubicBezTo>
                  <a:pt x="453469" y="305191"/>
                  <a:pt x="452022" y="299944"/>
                  <a:pt x="449128" y="295313"/>
                </a:cubicBezTo>
                <a:cubicBezTo>
                  <a:pt x="446235" y="290682"/>
                  <a:pt x="442388" y="286102"/>
                  <a:pt x="437588" y="281573"/>
                </a:cubicBezTo>
                <a:cubicBezTo>
                  <a:pt x="432276" y="275078"/>
                  <a:pt x="426521" y="271232"/>
                  <a:pt x="420324" y="270037"/>
                </a:cubicBezTo>
                <a:cubicBezTo>
                  <a:pt x="414126" y="268841"/>
                  <a:pt x="409015" y="268541"/>
                  <a:pt x="404990" y="269137"/>
                </a:cubicBezTo>
                <a:close/>
                <a:moveTo>
                  <a:pt x="715373" y="233057"/>
                </a:moveTo>
                <a:lnTo>
                  <a:pt x="699973" y="251988"/>
                </a:lnTo>
                <a:cubicBezTo>
                  <a:pt x="691874" y="260729"/>
                  <a:pt x="683114" y="269299"/>
                  <a:pt x="673694" y="277699"/>
                </a:cubicBezTo>
                <a:cubicBezTo>
                  <a:pt x="669782" y="280807"/>
                  <a:pt x="666247" y="281615"/>
                  <a:pt x="663091" y="280124"/>
                </a:cubicBezTo>
                <a:lnTo>
                  <a:pt x="652523" y="276162"/>
                </a:lnTo>
                <a:lnTo>
                  <a:pt x="653233" y="276005"/>
                </a:lnTo>
                <a:cubicBezTo>
                  <a:pt x="656811" y="273772"/>
                  <a:pt x="660778" y="271666"/>
                  <a:pt x="665132" y="269687"/>
                </a:cubicBezTo>
                <a:cubicBezTo>
                  <a:pt x="669486" y="267708"/>
                  <a:pt x="674258" y="264733"/>
                  <a:pt x="679450" y="260762"/>
                </a:cubicBezTo>
                <a:cubicBezTo>
                  <a:pt x="684753" y="255204"/>
                  <a:pt x="690017" y="250858"/>
                  <a:pt x="695239" y="247722"/>
                </a:cubicBezTo>
                <a:cubicBezTo>
                  <a:pt x="700462" y="244587"/>
                  <a:pt x="706096" y="240391"/>
                  <a:pt x="712141" y="235133"/>
                </a:cubicBezTo>
                <a:close/>
                <a:moveTo>
                  <a:pt x="244213" y="160787"/>
                </a:moveTo>
                <a:lnTo>
                  <a:pt x="234726" y="162681"/>
                </a:lnTo>
                <a:cubicBezTo>
                  <a:pt x="221289" y="172759"/>
                  <a:pt x="211764" y="183274"/>
                  <a:pt x="206149" y="194226"/>
                </a:cubicBezTo>
                <a:cubicBezTo>
                  <a:pt x="200535" y="205177"/>
                  <a:pt x="195378" y="215850"/>
                  <a:pt x="190678" y="226246"/>
                </a:cubicBezTo>
                <a:cubicBezTo>
                  <a:pt x="189966" y="227241"/>
                  <a:pt x="188637" y="228063"/>
                  <a:pt x="186691" y="228711"/>
                </a:cubicBezTo>
                <a:cubicBezTo>
                  <a:pt x="184745" y="229359"/>
                  <a:pt x="183550" y="231718"/>
                  <a:pt x="183104" y="235789"/>
                </a:cubicBezTo>
                <a:cubicBezTo>
                  <a:pt x="183104" y="239134"/>
                  <a:pt x="183736" y="241932"/>
                  <a:pt x="185001" y="244182"/>
                </a:cubicBezTo>
                <a:cubicBezTo>
                  <a:pt x="186265" y="246432"/>
                  <a:pt x="187201" y="248590"/>
                  <a:pt x="187810" y="250657"/>
                </a:cubicBezTo>
                <a:cubicBezTo>
                  <a:pt x="187547" y="253052"/>
                  <a:pt x="187285" y="255845"/>
                  <a:pt x="187022" y="259034"/>
                </a:cubicBezTo>
                <a:cubicBezTo>
                  <a:pt x="186760" y="262224"/>
                  <a:pt x="187583" y="265524"/>
                  <a:pt x="189491" y="268937"/>
                </a:cubicBezTo>
                <a:cubicBezTo>
                  <a:pt x="189995" y="272753"/>
                  <a:pt x="191155" y="276477"/>
                  <a:pt x="192972" y="280108"/>
                </a:cubicBezTo>
                <a:cubicBezTo>
                  <a:pt x="194789" y="283739"/>
                  <a:pt x="198353" y="287379"/>
                  <a:pt x="203665" y="291029"/>
                </a:cubicBezTo>
                <a:cubicBezTo>
                  <a:pt x="209573" y="291629"/>
                  <a:pt x="215022" y="291702"/>
                  <a:pt x="220011" y="291248"/>
                </a:cubicBezTo>
                <a:cubicBezTo>
                  <a:pt x="222506" y="291021"/>
                  <a:pt x="224991" y="290092"/>
                  <a:pt x="227468" y="288461"/>
                </a:cubicBezTo>
                <a:lnTo>
                  <a:pt x="231745" y="284416"/>
                </a:lnTo>
                <a:lnTo>
                  <a:pt x="227795" y="297804"/>
                </a:lnTo>
                <a:cubicBezTo>
                  <a:pt x="225878" y="303291"/>
                  <a:pt x="223789" y="308753"/>
                  <a:pt x="221526" y="314190"/>
                </a:cubicBezTo>
                <a:cubicBezTo>
                  <a:pt x="214823" y="318119"/>
                  <a:pt x="208027" y="321423"/>
                  <a:pt x="201140" y="324102"/>
                </a:cubicBezTo>
                <a:cubicBezTo>
                  <a:pt x="194253" y="326781"/>
                  <a:pt x="186939" y="329841"/>
                  <a:pt x="179198" y="333283"/>
                </a:cubicBezTo>
                <a:cubicBezTo>
                  <a:pt x="177740" y="334741"/>
                  <a:pt x="176217" y="335735"/>
                  <a:pt x="174629" y="336264"/>
                </a:cubicBezTo>
                <a:cubicBezTo>
                  <a:pt x="173042" y="336793"/>
                  <a:pt x="171904" y="337126"/>
                  <a:pt x="171217" y="337264"/>
                </a:cubicBezTo>
                <a:cubicBezTo>
                  <a:pt x="165697" y="336739"/>
                  <a:pt x="160476" y="336476"/>
                  <a:pt x="155556" y="336476"/>
                </a:cubicBezTo>
                <a:cubicBezTo>
                  <a:pt x="150635" y="336476"/>
                  <a:pt x="144777" y="337124"/>
                  <a:pt x="137982" y="338420"/>
                </a:cubicBezTo>
                <a:cubicBezTo>
                  <a:pt x="134469" y="341932"/>
                  <a:pt x="132033" y="345482"/>
                  <a:pt x="130673" y="349069"/>
                </a:cubicBezTo>
                <a:cubicBezTo>
                  <a:pt x="129312" y="352657"/>
                  <a:pt x="127463" y="357288"/>
                  <a:pt x="125126" y="362962"/>
                </a:cubicBezTo>
                <a:lnTo>
                  <a:pt x="124276" y="374343"/>
                </a:lnTo>
                <a:cubicBezTo>
                  <a:pt x="127176" y="379913"/>
                  <a:pt x="131656" y="383518"/>
                  <a:pt x="137716" y="385158"/>
                </a:cubicBezTo>
                <a:cubicBezTo>
                  <a:pt x="143776" y="386797"/>
                  <a:pt x="148841" y="386707"/>
                  <a:pt x="152912" y="384886"/>
                </a:cubicBezTo>
                <a:cubicBezTo>
                  <a:pt x="160324" y="381299"/>
                  <a:pt x="167440" y="378153"/>
                  <a:pt x="174261" y="375449"/>
                </a:cubicBezTo>
                <a:cubicBezTo>
                  <a:pt x="181081" y="372745"/>
                  <a:pt x="188485" y="370462"/>
                  <a:pt x="196472" y="368599"/>
                </a:cubicBezTo>
                <a:cubicBezTo>
                  <a:pt x="197463" y="367683"/>
                  <a:pt x="198032" y="367330"/>
                  <a:pt x="198178" y="367540"/>
                </a:cubicBezTo>
                <a:cubicBezTo>
                  <a:pt x="198324" y="367750"/>
                  <a:pt x="198065" y="368456"/>
                  <a:pt x="197403" y="369656"/>
                </a:cubicBezTo>
                <a:cubicBezTo>
                  <a:pt x="194661" y="374634"/>
                  <a:pt x="191913" y="379341"/>
                  <a:pt x="189157" y="383777"/>
                </a:cubicBezTo>
                <a:cubicBezTo>
                  <a:pt x="186400" y="388212"/>
                  <a:pt x="182291" y="391931"/>
                  <a:pt x="176829" y="394935"/>
                </a:cubicBezTo>
                <a:cubicBezTo>
                  <a:pt x="173734" y="402372"/>
                  <a:pt x="171592" y="409455"/>
                  <a:pt x="170405" y="416184"/>
                </a:cubicBezTo>
                <a:cubicBezTo>
                  <a:pt x="169217" y="422913"/>
                  <a:pt x="168482" y="429794"/>
                  <a:pt x="168198" y="436826"/>
                </a:cubicBezTo>
                <a:cubicBezTo>
                  <a:pt x="168198" y="438364"/>
                  <a:pt x="168351" y="440195"/>
                  <a:pt x="168655" y="442320"/>
                </a:cubicBezTo>
                <a:cubicBezTo>
                  <a:pt x="168959" y="444445"/>
                  <a:pt x="169736" y="446445"/>
                  <a:pt x="170986" y="448319"/>
                </a:cubicBezTo>
                <a:cubicBezTo>
                  <a:pt x="173656" y="455161"/>
                  <a:pt x="177572" y="459369"/>
                  <a:pt x="182732" y="460944"/>
                </a:cubicBezTo>
                <a:cubicBezTo>
                  <a:pt x="187892" y="462519"/>
                  <a:pt x="194114" y="460367"/>
                  <a:pt x="201396" y="454488"/>
                </a:cubicBezTo>
                <a:cubicBezTo>
                  <a:pt x="211321" y="442143"/>
                  <a:pt x="219205" y="431255"/>
                  <a:pt x="225048" y="421824"/>
                </a:cubicBezTo>
                <a:cubicBezTo>
                  <a:pt x="230892" y="412394"/>
                  <a:pt x="236078" y="401954"/>
                  <a:pt x="240607" y="390504"/>
                </a:cubicBezTo>
                <a:lnTo>
                  <a:pt x="249943" y="372618"/>
                </a:lnTo>
                <a:cubicBezTo>
                  <a:pt x="250481" y="371410"/>
                  <a:pt x="250629" y="370732"/>
                  <a:pt x="250387" y="370584"/>
                </a:cubicBezTo>
                <a:cubicBezTo>
                  <a:pt x="250146" y="370436"/>
                  <a:pt x="250391" y="371041"/>
                  <a:pt x="251125" y="372399"/>
                </a:cubicBezTo>
                <a:cubicBezTo>
                  <a:pt x="254391" y="378115"/>
                  <a:pt x="257594" y="383328"/>
                  <a:pt x="260733" y="388036"/>
                </a:cubicBezTo>
                <a:cubicBezTo>
                  <a:pt x="263873" y="392744"/>
                  <a:pt x="267313" y="398173"/>
                  <a:pt x="271055" y="404322"/>
                </a:cubicBezTo>
                <a:lnTo>
                  <a:pt x="276511" y="408878"/>
                </a:lnTo>
                <a:cubicBezTo>
                  <a:pt x="281477" y="411674"/>
                  <a:pt x="286318" y="413142"/>
                  <a:pt x="291035" y="413284"/>
                </a:cubicBezTo>
                <a:cubicBezTo>
                  <a:pt x="295751" y="413426"/>
                  <a:pt x="299720" y="410311"/>
                  <a:pt x="302940" y="403941"/>
                </a:cubicBezTo>
                <a:cubicBezTo>
                  <a:pt x="307232" y="399650"/>
                  <a:pt x="309468" y="396153"/>
                  <a:pt x="309649" y="393451"/>
                </a:cubicBezTo>
                <a:cubicBezTo>
                  <a:pt x="309830" y="390749"/>
                  <a:pt x="309000" y="386940"/>
                  <a:pt x="307159" y="382024"/>
                </a:cubicBezTo>
                <a:cubicBezTo>
                  <a:pt x="303742" y="376045"/>
                  <a:pt x="300039" y="370861"/>
                  <a:pt x="296050" y="366471"/>
                </a:cubicBezTo>
                <a:cubicBezTo>
                  <a:pt x="292061" y="362082"/>
                  <a:pt x="287443" y="357265"/>
                  <a:pt x="282198" y="352019"/>
                </a:cubicBezTo>
                <a:lnTo>
                  <a:pt x="267680" y="346894"/>
                </a:lnTo>
                <a:cubicBezTo>
                  <a:pt x="264213" y="345411"/>
                  <a:pt x="262480" y="343990"/>
                  <a:pt x="262480" y="342632"/>
                </a:cubicBezTo>
                <a:cubicBezTo>
                  <a:pt x="262480" y="341274"/>
                  <a:pt x="263370" y="339014"/>
                  <a:pt x="265149" y="335851"/>
                </a:cubicBezTo>
                <a:cubicBezTo>
                  <a:pt x="269003" y="331997"/>
                  <a:pt x="273538" y="328099"/>
                  <a:pt x="278754" y="324155"/>
                </a:cubicBezTo>
                <a:cubicBezTo>
                  <a:pt x="283971" y="320212"/>
                  <a:pt x="289701" y="315413"/>
                  <a:pt x="295947" y="309759"/>
                </a:cubicBezTo>
                <a:lnTo>
                  <a:pt x="309027" y="296679"/>
                </a:lnTo>
                <a:cubicBezTo>
                  <a:pt x="312248" y="290787"/>
                  <a:pt x="312753" y="286110"/>
                  <a:pt x="310543" y="282645"/>
                </a:cubicBezTo>
                <a:cubicBezTo>
                  <a:pt x="308333" y="279181"/>
                  <a:pt x="304044" y="277272"/>
                  <a:pt x="297678" y="276917"/>
                </a:cubicBezTo>
                <a:cubicBezTo>
                  <a:pt x="293074" y="277188"/>
                  <a:pt x="289409" y="277379"/>
                  <a:pt x="286682" y="277489"/>
                </a:cubicBezTo>
                <a:cubicBezTo>
                  <a:pt x="283955" y="277600"/>
                  <a:pt x="280602" y="277655"/>
                  <a:pt x="276623" y="277655"/>
                </a:cubicBezTo>
                <a:cubicBezTo>
                  <a:pt x="273577" y="276401"/>
                  <a:pt x="271113" y="274586"/>
                  <a:pt x="269230" y="272211"/>
                </a:cubicBezTo>
                <a:cubicBezTo>
                  <a:pt x="267347" y="269837"/>
                  <a:pt x="268174" y="267401"/>
                  <a:pt x="271711" y="264906"/>
                </a:cubicBezTo>
                <a:cubicBezTo>
                  <a:pt x="278261" y="259931"/>
                  <a:pt x="284019" y="255208"/>
                  <a:pt x="288985" y="250738"/>
                </a:cubicBezTo>
                <a:cubicBezTo>
                  <a:pt x="293951" y="246267"/>
                  <a:pt x="300295" y="242832"/>
                  <a:pt x="308015" y="240432"/>
                </a:cubicBezTo>
                <a:cubicBezTo>
                  <a:pt x="313215" y="235183"/>
                  <a:pt x="315642" y="230227"/>
                  <a:pt x="315296" y="225564"/>
                </a:cubicBezTo>
                <a:cubicBezTo>
                  <a:pt x="314950" y="220902"/>
                  <a:pt x="311302" y="217248"/>
                  <a:pt x="304353" y="214603"/>
                </a:cubicBezTo>
                <a:cubicBezTo>
                  <a:pt x="299440" y="212453"/>
                  <a:pt x="294955" y="211378"/>
                  <a:pt x="290897" y="211378"/>
                </a:cubicBezTo>
                <a:cubicBezTo>
                  <a:pt x="286839" y="211378"/>
                  <a:pt x="282104" y="211536"/>
                  <a:pt x="276692" y="211853"/>
                </a:cubicBezTo>
                <a:cubicBezTo>
                  <a:pt x="270017" y="213628"/>
                  <a:pt x="266111" y="212625"/>
                  <a:pt x="264974" y="208843"/>
                </a:cubicBezTo>
                <a:cubicBezTo>
                  <a:pt x="263836" y="205062"/>
                  <a:pt x="264182" y="199131"/>
                  <a:pt x="266011" y="191048"/>
                </a:cubicBezTo>
                <a:cubicBezTo>
                  <a:pt x="266736" y="189381"/>
                  <a:pt x="267177" y="186220"/>
                  <a:pt x="267333" y="181564"/>
                </a:cubicBezTo>
                <a:cubicBezTo>
                  <a:pt x="267489" y="176908"/>
                  <a:pt x="265455" y="172676"/>
                  <a:pt x="261230" y="168868"/>
                </a:cubicBezTo>
                <a:cubicBezTo>
                  <a:pt x="256360" y="168297"/>
                  <a:pt x="253304" y="167725"/>
                  <a:pt x="252062" y="167152"/>
                </a:cubicBezTo>
                <a:cubicBezTo>
                  <a:pt x="250821" y="166579"/>
                  <a:pt x="248204" y="164458"/>
                  <a:pt x="244213" y="160787"/>
                </a:cubicBezTo>
                <a:close/>
                <a:moveTo>
                  <a:pt x="703154" y="157062"/>
                </a:moveTo>
                <a:lnTo>
                  <a:pt x="697242" y="159593"/>
                </a:lnTo>
                <a:cubicBezTo>
                  <a:pt x="683156" y="165826"/>
                  <a:pt x="669984" y="175466"/>
                  <a:pt x="657726" y="188513"/>
                </a:cubicBezTo>
                <a:cubicBezTo>
                  <a:pt x="645468" y="201561"/>
                  <a:pt x="633146" y="213140"/>
                  <a:pt x="620760" y="223252"/>
                </a:cubicBezTo>
                <a:cubicBezTo>
                  <a:pt x="608423" y="227173"/>
                  <a:pt x="600173" y="236138"/>
                  <a:pt x="596011" y="250147"/>
                </a:cubicBezTo>
                <a:cubicBezTo>
                  <a:pt x="591849" y="264157"/>
                  <a:pt x="594826" y="275815"/>
                  <a:pt x="604942" y="285123"/>
                </a:cubicBezTo>
                <a:cubicBezTo>
                  <a:pt x="609241" y="287044"/>
                  <a:pt x="613131" y="287874"/>
                  <a:pt x="616610" y="287614"/>
                </a:cubicBezTo>
                <a:lnTo>
                  <a:pt x="627710" y="288002"/>
                </a:lnTo>
                <a:lnTo>
                  <a:pt x="617585" y="314540"/>
                </a:lnTo>
                <a:cubicBezTo>
                  <a:pt x="615589" y="323519"/>
                  <a:pt x="615022" y="332499"/>
                  <a:pt x="615885" y="341482"/>
                </a:cubicBezTo>
                <a:cubicBezTo>
                  <a:pt x="617610" y="359448"/>
                  <a:pt x="623345" y="377338"/>
                  <a:pt x="633090" y="395154"/>
                </a:cubicBezTo>
                <a:lnTo>
                  <a:pt x="638353" y="398162"/>
                </a:lnTo>
                <a:lnTo>
                  <a:pt x="636627" y="399379"/>
                </a:lnTo>
                <a:cubicBezTo>
                  <a:pt x="627694" y="404928"/>
                  <a:pt x="619757" y="408578"/>
                  <a:pt x="612816" y="410328"/>
                </a:cubicBezTo>
                <a:cubicBezTo>
                  <a:pt x="605875" y="412078"/>
                  <a:pt x="597603" y="414190"/>
                  <a:pt x="587999" y="416665"/>
                </a:cubicBezTo>
                <a:cubicBezTo>
                  <a:pt x="578408" y="419282"/>
                  <a:pt x="572238" y="422575"/>
                  <a:pt x="569491" y="426546"/>
                </a:cubicBezTo>
                <a:cubicBezTo>
                  <a:pt x="566743" y="430516"/>
                  <a:pt x="564100" y="436872"/>
                  <a:pt x="561563" y="445613"/>
                </a:cubicBezTo>
                <a:cubicBezTo>
                  <a:pt x="560755" y="454571"/>
                  <a:pt x="562833" y="460544"/>
                  <a:pt x="567797" y="463531"/>
                </a:cubicBezTo>
                <a:cubicBezTo>
                  <a:pt x="572761" y="466518"/>
                  <a:pt x="579602" y="466656"/>
                  <a:pt x="588318" y="463944"/>
                </a:cubicBezTo>
                <a:cubicBezTo>
                  <a:pt x="592076" y="460448"/>
                  <a:pt x="595425" y="458029"/>
                  <a:pt x="598364" y="456688"/>
                </a:cubicBezTo>
                <a:cubicBezTo>
                  <a:pt x="601303" y="455346"/>
                  <a:pt x="605444" y="453613"/>
                  <a:pt x="610785" y="451488"/>
                </a:cubicBezTo>
                <a:cubicBezTo>
                  <a:pt x="618443" y="446209"/>
                  <a:pt x="625522" y="442070"/>
                  <a:pt x="632021" y="439070"/>
                </a:cubicBezTo>
                <a:cubicBezTo>
                  <a:pt x="638521" y="436070"/>
                  <a:pt x="645714" y="434062"/>
                  <a:pt x="653601" y="433045"/>
                </a:cubicBezTo>
                <a:lnTo>
                  <a:pt x="659562" y="429079"/>
                </a:lnTo>
                <a:lnTo>
                  <a:pt x="669444" y="438944"/>
                </a:lnTo>
                <a:cubicBezTo>
                  <a:pt x="673288" y="441737"/>
                  <a:pt x="677277" y="443632"/>
                  <a:pt x="681412" y="444629"/>
                </a:cubicBezTo>
                <a:cubicBezTo>
                  <a:pt x="689682" y="446623"/>
                  <a:pt x="697801" y="441878"/>
                  <a:pt x="705767" y="430396"/>
                </a:cubicBezTo>
                <a:cubicBezTo>
                  <a:pt x="709392" y="425921"/>
                  <a:pt x="712821" y="423293"/>
                  <a:pt x="716054" y="422512"/>
                </a:cubicBezTo>
                <a:cubicBezTo>
                  <a:pt x="719287" y="421730"/>
                  <a:pt x="723089" y="423879"/>
                  <a:pt x="727459" y="428958"/>
                </a:cubicBezTo>
                <a:cubicBezTo>
                  <a:pt x="737934" y="436170"/>
                  <a:pt x="746698" y="439562"/>
                  <a:pt x="753751" y="439133"/>
                </a:cubicBezTo>
                <a:cubicBezTo>
                  <a:pt x="760805" y="438703"/>
                  <a:pt x="768834" y="434268"/>
                  <a:pt x="777837" y="425827"/>
                </a:cubicBezTo>
                <a:cubicBezTo>
                  <a:pt x="782925" y="422132"/>
                  <a:pt x="788044" y="419675"/>
                  <a:pt x="793196" y="418459"/>
                </a:cubicBezTo>
                <a:cubicBezTo>
                  <a:pt x="798348" y="417242"/>
                  <a:pt x="802511" y="419990"/>
                  <a:pt x="805686" y="426702"/>
                </a:cubicBezTo>
                <a:cubicBezTo>
                  <a:pt x="808331" y="432268"/>
                  <a:pt x="812787" y="436262"/>
                  <a:pt x="819054" y="438683"/>
                </a:cubicBezTo>
                <a:cubicBezTo>
                  <a:pt x="825320" y="441103"/>
                  <a:pt x="830824" y="443366"/>
                  <a:pt x="835565" y="445470"/>
                </a:cubicBezTo>
                <a:cubicBezTo>
                  <a:pt x="841011" y="447649"/>
                  <a:pt x="846926" y="449205"/>
                  <a:pt x="853311" y="450138"/>
                </a:cubicBezTo>
                <a:cubicBezTo>
                  <a:pt x="859696" y="451071"/>
                  <a:pt x="866076" y="448305"/>
                  <a:pt x="872450" y="441839"/>
                </a:cubicBezTo>
                <a:cubicBezTo>
                  <a:pt x="874434" y="426852"/>
                  <a:pt x="868867" y="415380"/>
                  <a:pt x="855751" y="407422"/>
                </a:cubicBezTo>
                <a:cubicBezTo>
                  <a:pt x="842636" y="399464"/>
                  <a:pt x="830865" y="394935"/>
                  <a:pt x="820441" y="393835"/>
                </a:cubicBezTo>
                <a:cubicBezTo>
                  <a:pt x="817041" y="393590"/>
                  <a:pt x="813883" y="392988"/>
                  <a:pt x="810967" y="392032"/>
                </a:cubicBezTo>
                <a:cubicBezTo>
                  <a:pt x="808050" y="391076"/>
                  <a:pt x="804267" y="391552"/>
                  <a:pt x="799617" y="393460"/>
                </a:cubicBezTo>
                <a:lnTo>
                  <a:pt x="792337" y="398316"/>
                </a:lnTo>
                <a:cubicBezTo>
                  <a:pt x="785874" y="401429"/>
                  <a:pt x="779292" y="404209"/>
                  <a:pt x="772591" y="406656"/>
                </a:cubicBezTo>
                <a:cubicBezTo>
                  <a:pt x="765889" y="409104"/>
                  <a:pt x="759284" y="410809"/>
                  <a:pt x="752776" y="411772"/>
                </a:cubicBezTo>
                <a:cubicBezTo>
                  <a:pt x="749956" y="411772"/>
                  <a:pt x="746991" y="410996"/>
                  <a:pt x="743883" y="409444"/>
                </a:cubicBezTo>
                <a:cubicBezTo>
                  <a:pt x="740775" y="407892"/>
                  <a:pt x="737227" y="406116"/>
                  <a:pt x="733240" y="404116"/>
                </a:cubicBezTo>
                <a:cubicBezTo>
                  <a:pt x="724432" y="402687"/>
                  <a:pt x="716712" y="403291"/>
                  <a:pt x="710079" y="405928"/>
                </a:cubicBezTo>
                <a:cubicBezTo>
                  <a:pt x="703446" y="408566"/>
                  <a:pt x="696957" y="411593"/>
                  <a:pt x="690611" y="415009"/>
                </a:cubicBezTo>
                <a:cubicBezTo>
                  <a:pt x="686878" y="417146"/>
                  <a:pt x="683925" y="418448"/>
                  <a:pt x="681753" y="418915"/>
                </a:cubicBezTo>
                <a:cubicBezTo>
                  <a:pt x="679580" y="419382"/>
                  <a:pt x="677377" y="418392"/>
                  <a:pt x="675144" y="415946"/>
                </a:cubicBezTo>
                <a:cubicBezTo>
                  <a:pt x="669482" y="412642"/>
                  <a:pt x="664947" y="412265"/>
                  <a:pt x="661541" y="414815"/>
                </a:cubicBezTo>
                <a:lnTo>
                  <a:pt x="658261" y="419881"/>
                </a:lnTo>
                <a:lnTo>
                  <a:pt x="653832" y="414597"/>
                </a:lnTo>
                <a:cubicBezTo>
                  <a:pt x="652333" y="414097"/>
                  <a:pt x="651503" y="414014"/>
                  <a:pt x="651345" y="414350"/>
                </a:cubicBezTo>
                <a:cubicBezTo>
                  <a:pt x="651187" y="414685"/>
                  <a:pt x="651818" y="414584"/>
                  <a:pt x="653239" y="414047"/>
                </a:cubicBezTo>
                <a:cubicBezTo>
                  <a:pt x="659705" y="407322"/>
                  <a:pt x="665720" y="402509"/>
                  <a:pt x="671285" y="399607"/>
                </a:cubicBezTo>
                <a:cubicBezTo>
                  <a:pt x="676849" y="396705"/>
                  <a:pt x="682752" y="394504"/>
                  <a:pt x="688993" y="393004"/>
                </a:cubicBezTo>
                <a:cubicBezTo>
                  <a:pt x="699255" y="389196"/>
                  <a:pt x="708381" y="385632"/>
                  <a:pt x="716372" y="382311"/>
                </a:cubicBezTo>
                <a:cubicBezTo>
                  <a:pt x="724364" y="378990"/>
                  <a:pt x="732636" y="376576"/>
                  <a:pt x="741190" y="375068"/>
                </a:cubicBezTo>
                <a:cubicBezTo>
                  <a:pt x="742223" y="375068"/>
                  <a:pt x="743801" y="376068"/>
                  <a:pt x="745924" y="378068"/>
                </a:cubicBezTo>
                <a:cubicBezTo>
                  <a:pt x="748047" y="380067"/>
                  <a:pt x="751093" y="381419"/>
                  <a:pt x="755064" y="382124"/>
                </a:cubicBezTo>
                <a:cubicBezTo>
                  <a:pt x="766601" y="381503"/>
                  <a:pt x="774970" y="375811"/>
                  <a:pt x="780172" y="365050"/>
                </a:cubicBezTo>
                <a:cubicBezTo>
                  <a:pt x="785373" y="354288"/>
                  <a:pt x="789785" y="345603"/>
                  <a:pt x="793405" y="338995"/>
                </a:cubicBezTo>
                <a:cubicBezTo>
                  <a:pt x="798680" y="330108"/>
                  <a:pt x="802699" y="321848"/>
                  <a:pt x="805464" y="314215"/>
                </a:cubicBezTo>
                <a:cubicBezTo>
                  <a:pt x="808228" y="306582"/>
                  <a:pt x="810721" y="298604"/>
                  <a:pt x="812942" y="290279"/>
                </a:cubicBezTo>
                <a:cubicBezTo>
                  <a:pt x="814075" y="284125"/>
                  <a:pt x="812919" y="277859"/>
                  <a:pt x="809473" y="271480"/>
                </a:cubicBezTo>
                <a:cubicBezTo>
                  <a:pt x="806027" y="265102"/>
                  <a:pt x="800826" y="260921"/>
                  <a:pt x="793868" y="258937"/>
                </a:cubicBezTo>
                <a:cubicBezTo>
                  <a:pt x="786456" y="257821"/>
                  <a:pt x="779749" y="256681"/>
                  <a:pt x="773747" y="255519"/>
                </a:cubicBezTo>
                <a:cubicBezTo>
                  <a:pt x="767745" y="254356"/>
                  <a:pt x="760849" y="253919"/>
                  <a:pt x="753058" y="254206"/>
                </a:cubicBezTo>
                <a:cubicBezTo>
                  <a:pt x="749200" y="254719"/>
                  <a:pt x="745498" y="255435"/>
                  <a:pt x="741952" y="256356"/>
                </a:cubicBezTo>
                <a:cubicBezTo>
                  <a:pt x="738406" y="257277"/>
                  <a:pt x="735094" y="257848"/>
                  <a:pt x="732015" y="258069"/>
                </a:cubicBezTo>
                <a:cubicBezTo>
                  <a:pt x="730099" y="257723"/>
                  <a:pt x="728684" y="257532"/>
                  <a:pt x="727772" y="257497"/>
                </a:cubicBezTo>
                <a:cubicBezTo>
                  <a:pt x="726859" y="257461"/>
                  <a:pt x="727697" y="257033"/>
                  <a:pt x="730284" y="256212"/>
                </a:cubicBezTo>
                <a:cubicBezTo>
                  <a:pt x="737329" y="248905"/>
                  <a:pt x="744490" y="242391"/>
                  <a:pt x="751767" y="236673"/>
                </a:cubicBezTo>
                <a:cubicBezTo>
                  <a:pt x="759044" y="230955"/>
                  <a:pt x="765934" y="224416"/>
                  <a:pt x="772438" y="217059"/>
                </a:cubicBezTo>
                <a:cubicBezTo>
                  <a:pt x="777567" y="207176"/>
                  <a:pt x="778756" y="199184"/>
                  <a:pt x="776006" y="193082"/>
                </a:cubicBezTo>
                <a:cubicBezTo>
                  <a:pt x="773256" y="186980"/>
                  <a:pt x="766059" y="184088"/>
                  <a:pt x="754414" y="184404"/>
                </a:cubicBezTo>
                <a:lnTo>
                  <a:pt x="745333" y="187704"/>
                </a:lnTo>
                <a:cubicBezTo>
                  <a:pt x="741496" y="189371"/>
                  <a:pt x="738612" y="189453"/>
                  <a:pt x="736681" y="187951"/>
                </a:cubicBezTo>
                <a:cubicBezTo>
                  <a:pt x="734749" y="186449"/>
                  <a:pt x="733190" y="183200"/>
                  <a:pt x="732003" y="178205"/>
                </a:cubicBezTo>
                <a:cubicBezTo>
                  <a:pt x="730636" y="171943"/>
                  <a:pt x="727418" y="166494"/>
                  <a:pt x="722347" y="161859"/>
                </a:cubicBezTo>
                <a:cubicBezTo>
                  <a:pt x="717277" y="157224"/>
                  <a:pt x="710879" y="155625"/>
                  <a:pt x="703154" y="157062"/>
                </a:cubicBezTo>
                <a:close/>
                <a:moveTo>
                  <a:pt x="771525" y="0"/>
                </a:moveTo>
                <a:lnTo>
                  <a:pt x="914400" y="19050"/>
                </a:lnTo>
                <a:lnTo>
                  <a:pt x="962025" y="114300"/>
                </a:lnTo>
                <a:lnTo>
                  <a:pt x="962025" y="842962"/>
                </a:lnTo>
                <a:lnTo>
                  <a:pt x="881062" y="928687"/>
                </a:lnTo>
                <a:lnTo>
                  <a:pt x="666750" y="938212"/>
                </a:lnTo>
                <a:lnTo>
                  <a:pt x="100012" y="938212"/>
                </a:lnTo>
                <a:lnTo>
                  <a:pt x="57150" y="909637"/>
                </a:lnTo>
                <a:lnTo>
                  <a:pt x="14287" y="847725"/>
                </a:lnTo>
                <a:lnTo>
                  <a:pt x="0" y="242887"/>
                </a:lnTo>
                <a:lnTo>
                  <a:pt x="61912" y="14287"/>
                </a:lnTo>
                <a:close/>
              </a:path>
            </a:pathLst>
          </a:custGeom>
        </p:spPr>
      </p:pic>
      <p:sp>
        <p:nvSpPr>
          <p:cNvPr id="32" name="文本框 31"/>
          <p:cNvSpPr txBox="1"/>
          <p:nvPr/>
        </p:nvSpPr>
        <p:spPr>
          <a:xfrm>
            <a:off x="5421683" y="2157438"/>
            <a:ext cx="1483995" cy="1769745"/>
          </a:xfrm>
          <a:custGeom>
            <a:avLst/>
            <a:gdLst/>
            <a:ahLst/>
            <a:cxnLst/>
            <a:rect l="l" t="t" r="r" b="b"/>
            <a:pathLst>
              <a:path w="1483995" h="1769745">
                <a:moveTo>
                  <a:pt x="1169670" y="1569720"/>
                </a:moveTo>
                <a:cubicBezTo>
                  <a:pt x="1195070" y="1569720"/>
                  <a:pt x="1224915" y="1572895"/>
                  <a:pt x="1259205" y="1579245"/>
                </a:cubicBezTo>
                <a:cubicBezTo>
                  <a:pt x="1297305" y="1598295"/>
                  <a:pt x="1325245" y="1623695"/>
                  <a:pt x="1343025" y="1655445"/>
                </a:cubicBezTo>
                <a:lnTo>
                  <a:pt x="1375410" y="1741170"/>
                </a:lnTo>
                <a:cubicBezTo>
                  <a:pt x="1375410" y="1752600"/>
                  <a:pt x="1364615" y="1759585"/>
                  <a:pt x="1343025" y="1762125"/>
                </a:cubicBezTo>
                <a:cubicBezTo>
                  <a:pt x="1339215" y="1767205"/>
                  <a:pt x="1334135" y="1769745"/>
                  <a:pt x="1327785" y="1769745"/>
                </a:cubicBezTo>
                <a:cubicBezTo>
                  <a:pt x="1322705" y="1769745"/>
                  <a:pt x="1316355" y="1768475"/>
                  <a:pt x="1308735" y="1765935"/>
                </a:cubicBezTo>
                <a:cubicBezTo>
                  <a:pt x="1292225" y="1760855"/>
                  <a:pt x="1276033" y="1752600"/>
                  <a:pt x="1260158" y="1741170"/>
                </a:cubicBezTo>
                <a:cubicBezTo>
                  <a:pt x="1244283" y="1729740"/>
                  <a:pt x="1235075" y="1723390"/>
                  <a:pt x="1232535" y="1722120"/>
                </a:cubicBezTo>
                <a:cubicBezTo>
                  <a:pt x="1219835" y="1708150"/>
                  <a:pt x="1201420" y="1701165"/>
                  <a:pt x="1177290" y="1701165"/>
                </a:cubicBezTo>
                <a:cubicBezTo>
                  <a:pt x="1141730" y="1694815"/>
                  <a:pt x="1087120" y="1689100"/>
                  <a:pt x="1013460" y="1684020"/>
                </a:cubicBezTo>
                <a:lnTo>
                  <a:pt x="973455" y="1680210"/>
                </a:lnTo>
                <a:cubicBezTo>
                  <a:pt x="967105" y="1676400"/>
                  <a:pt x="959168" y="1674178"/>
                  <a:pt x="949643" y="1673543"/>
                </a:cubicBezTo>
                <a:cubicBezTo>
                  <a:pt x="940118" y="1672908"/>
                  <a:pt x="933450" y="1672590"/>
                  <a:pt x="929640" y="1672590"/>
                </a:cubicBezTo>
                <a:cubicBezTo>
                  <a:pt x="914400" y="1675130"/>
                  <a:pt x="901383" y="1676718"/>
                  <a:pt x="890588" y="1677353"/>
                </a:cubicBezTo>
                <a:cubicBezTo>
                  <a:pt x="879793" y="1677988"/>
                  <a:pt x="870585" y="1678305"/>
                  <a:pt x="862965" y="1678305"/>
                </a:cubicBezTo>
                <a:cubicBezTo>
                  <a:pt x="822325" y="1680845"/>
                  <a:pt x="791845" y="1684655"/>
                  <a:pt x="771525" y="1689735"/>
                </a:cubicBezTo>
                <a:lnTo>
                  <a:pt x="708660" y="1689735"/>
                </a:lnTo>
                <a:cubicBezTo>
                  <a:pt x="679450" y="1689735"/>
                  <a:pt x="657860" y="1688465"/>
                  <a:pt x="643890" y="1685925"/>
                </a:cubicBezTo>
                <a:cubicBezTo>
                  <a:pt x="633730" y="1685925"/>
                  <a:pt x="623253" y="1687195"/>
                  <a:pt x="612458" y="1689735"/>
                </a:cubicBezTo>
                <a:cubicBezTo>
                  <a:pt x="601663" y="1692275"/>
                  <a:pt x="594360" y="1694180"/>
                  <a:pt x="590550" y="1695450"/>
                </a:cubicBezTo>
                <a:cubicBezTo>
                  <a:pt x="572770" y="1700530"/>
                  <a:pt x="559435" y="1703705"/>
                  <a:pt x="550545" y="1704975"/>
                </a:cubicBezTo>
                <a:cubicBezTo>
                  <a:pt x="544195" y="1704975"/>
                  <a:pt x="530860" y="1705610"/>
                  <a:pt x="510540" y="1706880"/>
                </a:cubicBezTo>
                <a:cubicBezTo>
                  <a:pt x="490220" y="1708150"/>
                  <a:pt x="471170" y="1710690"/>
                  <a:pt x="453390" y="1714500"/>
                </a:cubicBezTo>
                <a:cubicBezTo>
                  <a:pt x="439420" y="1713230"/>
                  <a:pt x="423863" y="1716723"/>
                  <a:pt x="406718" y="1724978"/>
                </a:cubicBezTo>
                <a:cubicBezTo>
                  <a:pt x="389573" y="1733233"/>
                  <a:pt x="376555" y="1739265"/>
                  <a:pt x="367665" y="1743075"/>
                </a:cubicBezTo>
                <a:cubicBezTo>
                  <a:pt x="365125" y="1743075"/>
                  <a:pt x="362268" y="1744028"/>
                  <a:pt x="359093" y="1745933"/>
                </a:cubicBezTo>
                <a:cubicBezTo>
                  <a:pt x="355918" y="1747838"/>
                  <a:pt x="353695" y="1747520"/>
                  <a:pt x="352425" y="1744980"/>
                </a:cubicBezTo>
                <a:cubicBezTo>
                  <a:pt x="339725" y="1752600"/>
                  <a:pt x="319405" y="1756410"/>
                  <a:pt x="291465" y="1756410"/>
                </a:cubicBezTo>
                <a:cubicBezTo>
                  <a:pt x="282575" y="1758950"/>
                  <a:pt x="269875" y="1760220"/>
                  <a:pt x="253365" y="1760220"/>
                </a:cubicBezTo>
                <a:cubicBezTo>
                  <a:pt x="248285" y="1758950"/>
                  <a:pt x="241935" y="1757680"/>
                  <a:pt x="234315" y="1756410"/>
                </a:cubicBezTo>
                <a:cubicBezTo>
                  <a:pt x="226695" y="1755140"/>
                  <a:pt x="217170" y="1754505"/>
                  <a:pt x="205740" y="1754505"/>
                </a:cubicBezTo>
                <a:cubicBezTo>
                  <a:pt x="200660" y="1753235"/>
                  <a:pt x="194945" y="1750060"/>
                  <a:pt x="188595" y="1744980"/>
                </a:cubicBezTo>
                <a:cubicBezTo>
                  <a:pt x="182245" y="1739900"/>
                  <a:pt x="175895" y="1736090"/>
                  <a:pt x="169545" y="1733550"/>
                </a:cubicBezTo>
                <a:cubicBezTo>
                  <a:pt x="155575" y="1723390"/>
                  <a:pt x="142240" y="1709420"/>
                  <a:pt x="129540" y="1691640"/>
                </a:cubicBezTo>
                <a:cubicBezTo>
                  <a:pt x="116840" y="1673860"/>
                  <a:pt x="107950" y="1661795"/>
                  <a:pt x="102870" y="1655445"/>
                </a:cubicBezTo>
                <a:cubicBezTo>
                  <a:pt x="100330" y="1650365"/>
                  <a:pt x="100013" y="1643698"/>
                  <a:pt x="101918" y="1635443"/>
                </a:cubicBezTo>
                <a:cubicBezTo>
                  <a:pt x="103823" y="1627188"/>
                  <a:pt x="104775" y="1620520"/>
                  <a:pt x="104775" y="1615440"/>
                </a:cubicBezTo>
                <a:lnTo>
                  <a:pt x="123825" y="1611630"/>
                </a:lnTo>
                <a:cubicBezTo>
                  <a:pt x="121285" y="1605280"/>
                  <a:pt x="123508" y="1601788"/>
                  <a:pt x="130493" y="1601153"/>
                </a:cubicBezTo>
                <a:cubicBezTo>
                  <a:pt x="137478" y="1600518"/>
                  <a:pt x="147955" y="1601788"/>
                  <a:pt x="161925" y="1604963"/>
                </a:cubicBezTo>
                <a:cubicBezTo>
                  <a:pt x="175895" y="1608138"/>
                  <a:pt x="186690" y="1610360"/>
                  <a:pt x="194310" y="1611630"/>
                </a:cubicBezTo>
                <a:lnTo>
                  <a:pt x="260985" y="1613535"/>
                </a:lnTo>
                <a:cubicBezTo>
                  <a:pt x="292735" y="1613535"/>
                  <a:pt x="318770" y="1610360"/>
                  <a:pt x="339090" y="1604010"/>
                </a:cubicBezTo>
                <a:cubicBezTo>
                  <a:pt x="398780" y="1606550"/>
                  <a:pt x="488315" y="1609090"/>
                  <a:pt x="607695" y="1611630"/>
                </a:cubicBezTo>
                <a:cubicBezTo>
                  <a:pt x="655955" y="1609090"/>
                  <a:pt x="692785" y="1607820"/>
                  <a:pt x="718185" y="1607820"/>
                </a:cubicBezTo>
                <a:lnTo>
                  <a:pt x="773430" y="1605915"/>
                </a:lnTo>
                <a:cubicBezTo>
                  <a:pt x="781050" y="1603375"/>
                  <a:pt x="790258" y="1601788"/>
                  <a:pt x="801053" y="1601153"/>
                </a:cubicBezTo>
                <a:cubicBezTo>
                  <a:pt x="811848" y="1600518"/>
                  <a:pt x="820420" y="1600200"/>
                  <a:pt x="826770" y="1600200"/>
                </a:cubicBezTo>
                <a:cubicBezTo>
                  <a:pt x="850900" y="1593850"/>
                  <a:pt x="877570" y="1589088"/>
                  <a:pt x="906780" y="1585913"/>
                </a:cubicBezTo>
                <a:cubicBezTo>
                  <a:pt x="935990" y="1582738"/>
                  <a:pt x="955040" y="1580515"/>
                  <a:pt x="963930" y="1579245"/>
                </a:cubicBezTo>
                <a:cubicBezTo>
                  <a:pt x="979170" y="1580515"/>
                  <a:pt x="1000760" y="1579880"/>
                  <a:pt x="1028700" y="1577340"/>
                </a:cubicBezTo>
                <a:cubicBezTo>
                  <a:pt x="1056640" y="1574800"/>
                  <a:pt x="1078230" y="1573530"/>
                  <a:pt x="1093470" y="1573530"/>
                </a:cubicBezTo>
                <a:cubicBezTo>
                  <a:pt x="1101090" y="1577340"/>
                  <a:pt x="1108710" y="1579245"/>
                  <a:pt x="1116330" y="1579245"/>
                </a:cubicBezTo>
                <a:cubicBezTo>
                  <a:pt x="1122680" y="1579245"/>
                  <a:pt x="1129348" y="1578293"/>
                  <a:pt x="1136333" y="1576388"/>
                </a:cubicBezTo>
                <a:cubicBezTo>
                  <a:pt x="1143318" y="1574483"/>
                  <a:pt x="1148715" y="1573530"/>
                  <a:pt x="1152525" y="1573530"/>
                </a:cubicBezTo>
                <a:close/>
                <a:moveTo>
                  <a:pt x="666750" y="1388745"/>
                </a:moveTo>
                <a:cubicBezTo>
                  <a:pt x="660400" y="1388745"/>
                  <a:pt x="655320" y="1389380"/>
                  <a:pt x="651510" y="1390650"/>
                </a:cubicBezTo>
                <a:cubicBezTo>
                  <a:pt x="591820" y="1419860"/>
                  <a:pt x="539115" y="1464310"/>
                  <a:pt x="493395" y="1524000"/>
                </a:cubicBezTo>
                <a:cubicBezTo>
                  <a:pt x="490855" y="1540510"/>
                  <a:pt x="487680" y="1552575"/>
                  <a:pt x="483870" y="1560195"/>
                </a:cubicBezTo>
                <a:cubicBezTo>
                  <a:pt x="482600" y="1561465"/>
                  <a:pt x="480695" y="1563370"/>
                  <a:pt x="478155" y="1565910"/>
                </a:cubicBezTo>
                <a:cubicBezTo>
                  <a:pt x="475615" y="1568450"/>
                  <a:pt x="475615" y="1570355"/>
                  <a:pt x="478155" y="1571625"/>
                </a:cubicBezTo>
                <a:cubicBezTo>
                  <a:pt x="481965" y="1569085"/>
                  <a:pt x="489903" y="1564323"/>
                  <a:pt x="501968" y="1557338"/>
                </a:cubicBezTo>
                <a:cubicBezTo>
                  <a:pt x="514033" y="1550353"/>
                  <a:pt x="523875" y="1543050"/>
                  <a:pt x="531495" y="1535430"/>
                </a:cubicBezTo>
                <a:cubicBezTo>
                  <a:pt x="549275" y="1527810"/>
                  <a:pt x="569595" y="1515745"/>
                  <a:pt x="592455" y="1499235"/>
                </a:cubicBezTo>
                <a:cubicBezTo>
                  <a:pt x="598805" y="1496695"/>
                  <a:pt x="606743" y="1492885"/>
                  <a:pt x="616268" y="1487805"/>
                </a:cubicBezTo>
                <a:cubicBezTo>
                  <a:pt x="625793" y="1482725"/>
                  <a:pt x="634365" y="1478280"/>
                  <a:pt x="641985" y="1474470"/>
                </a:cubicBezTo>
                <a:cubicBezTo>
                  <a:pt x="647065" y="1470660"/>
                  <a:pt x="667385" y="1457325"/>
                  <a:pt x="702945" y="1434465"/>
                </a:cubicBezTo>
                <a:cubicBezTo>
                  <a:pt x="713105" y="1426845"/>
                  <a:pt x="719455" y="1419860"/>
                  <a:pt x="721995" y="1413510"/>
                </a:cubicBezTo>
                <a:cubicBezTo>
                  <a:pt x="714375" y="1403350"/>
                  <a:pt x="707390" y="1397000"/>
                  <a:pt x="701040" y="1394460"/>
                </a:cubicBezTo>
                <a:lnTo>
                  <a:pt x="689610" y="1392555"/>
                </a:lnTo>
                <a:cubicBezTo>
                  <a:pt x="679450" y="1390015"/>
                  <a:pt x="671830" y="1388745"/>
                  <a:pt x="666750" y="1388745"/>
                </a:cubicBezTo>
                <a:close/>
                <a:moveTo>
                  <a:pt x="610553" y="1356360"/>
                </a:moveTo>
                <a:cubicBezTo>
                  <a:pt x="609918" y="1355725"/>
                  <a:pt x="607060" y="1356360"/>
                  <a:pt x="601980" y="1358265"/>
                </a:cubicBezTo>
                <a:cubicBezTo>
                  <a:pt x="591820" y="1362075"/>
                  <a:pt x="586105" y="1364615"/>
                  <a:pt x="584835" y="1365885"/>
                </a:cubicBezTo>
                <a:cubicBezTo>
                  <a:pt x="575945" y="1365885"/>
                  <a:pt x="561023" y="1366203"/>
                  <a:pt x="540068" y="1366838"/>
                </a:cubicBezTo>
                <a:cubicBezTo>
                  <a:pt x="519113" y="1367473"/>
                  <a:pt x="501015" y="1369695"/>
                  <a:pt x="485775" y="1373505"/>
                </a:cubicBezTo>
                <a:cubicBezTo>
                  <a:pt x="484505" y="1373505"/>
                  <a:pt x="481013" y="1373505"/>
                  <a:pt x="475298" y="1373505"/>
                </a:cubicBezTo>
                <a:cubicBezTo>
                  <a:pt x="469583" y="1373505"/>
                  <a:pt x="464820" y="1374775"/>
                  <a:pt x="461010" y="1377315"/>
                </a:cubicBezTo>
                <a:cubicBezTo>
                  <a:pt x="459740" y="1381125"/>
                  <a:pt x="458788" y="1387475"/>
                  <a:pt x="458153" y="1396365"/>
                </a:cubicBezTo>
                <a:cubicBezTo>
                  <a:pt x="457518" y="1405255"/>
                  <a:pt x="454025" y="1410335"/>
                  <a:pt x="447675" y="1411605"/>
                </a:cubicBezTo>
                <a:cubicBezTo>
                  <a:pt x="442595" y="1411605"/>
                  <a:pt x="444183" y="1412558"/>
                  <a:pt x="452438" y="1414463"/>
                </a:cubicBezTo>
                <a:cubicBezTo>
                  <a:pt x="460693" y="1416368"/>
                  <a:pt x="469265" y="1417320"/>
                  <a:pt x="478155" y="1417320"/>
                </a:cubicBezTo>
                <a:cubicBezTo>
                  <a:pt x="485775" y="1417320"/>
                  <a:pt x="490855" y="1416685"/>
                  <a:pt x="493395" y="1415415"/>
                </a:cubicBezTo>
                <a:lnTo>
                  <a:pt x="529590" y="1398270"/>
                </a:lnTo>
                <a:cubicBezTo>
                  <a:pt x="551180" y="1385570"/>
                  <a:pt x="572135" y="1375410"/>
                  <a:pt x="592455" y="1367790"/>
                </a:cubicBezTo>
                <a:lnTo>
                  <a:pt x="598170" y="1367790"/>
                </a:lnTo>
                <a:lnTo>
                  <a:pt x="605790" y="1362075"/>
                </a:lnTo>
                <a:cubicBezTo>
                  <a:pt x="609600" y="1358900"/>
                  <a:pt x="611188" y="1356995"/>
                  <a:pt x="610553" y="1356360"/>
                </a:cubicBezTo>
                <a:close/>
                <a:moveTo>
                  <a:pt x="626745" y="1076325"/>
                </a:moveTo>
                <a:cubicBezTo>
                  <a:pt x="616585" y="1077595"/>
                  <a:pt x="606743" y="1081088"/>
                  <a:pt x="597218" y="1086803"/>
                </a:cubicBezTo>
                <a:cubicBezTo>
                  <a:pt x="587693" y="1092518"/>
                  <a:pt x="577533" y="1100455"/>
                  <a:pt x="566738" y="1110615"/>
                </a:cubicBezTo>
                <a:cubicBezTo>
                  <a:pt x="555943" y="1120775"/>
                  <a:pt x="545465" y="1129665"/>
                  <a:pt x="535305" y="1137285"/>
                </a:cubicBezTo>
                <a:cubicBezTo>
                  <a:pt x="528955" y="1146175"/>
                  <a:pt x="520065" y="1158240"/>
                  <a:pt x="508635" y="1173480"/>
                </a:cubicBezTo>
                <a:cubicBezTo>
                  <a:pt x="497205" y="1188720"/>
                  <a:pt x="488950" y="1202690"/>
                  <a:pt x="483870" y="1215390"/>
                </a:cubicBezTo>
                <a:cubicBezTo>
                  <a:pt x="480060" y="1223010"/>
                  <a:pt x="472123" y="1226820"/>
                  <a:pt x="460058" y="1226820"/>
                </a:cubicBezTo>
                <a:cubicBezTo>
                  <a:pt x="447993" y="1226820"/>
                  <a:pt x="439738" y="1227773"/>
                  <a:pt x="435293" y="1229678"/>
                </a:cubicBezTo>
                <a:cubicBezTo>
                  <a:pt x="430848" y="1231583"/>
                  <a:pt x="427990" y="1235710"/>
                  <a:pt x="426720" y="1242060"/>
                </a:cubicBezTo>
                <a:cubicBezTo>
                  <a:pt x="424180" y="1249680"/>
                  <a:pt x="422910" y="1256030"/>
                  <a:pt x="422910" y="1261110"/>
                </a:cubicBezTo>
                <a:cubicBezTo>
                  <a:pt x="422910" y="1263650"/>
                  <a:pt x="424180" y="1267460"/>
                  <a:pt x="426720" y="1272540"/>
                </a:cubicBezTo>
                <a:cubicBezTo>
                  <a:pt x="435610" y="1259840"/>
                  <a:pt x="450850" y="1249045"/>
                  <a:pt x="472440" y="1240155"/>
                </a:cubicBezTo>
                <a:cubicBezTo>
                  <a:pt x="490220" y="1231265"/>
                  <a:pt x="503555" y="1222375"/>
                  <a:pt x="512445" y="1213485"/>
                </a:cubicBezTo>
                <a:cubicBezTo>
                  <a:pt x="530225" y="1204595"/>
                  <a:pt x="541655" y="1197610"/>
                  <a:pt x="546735" y="1192530"/>
                </a:cubicBezTo>
                <a:cubicBezTo>
                  <a:pt x="561975" y="1186180"/>
                  <a:pt x="582295" y="1174115"/>
                  <a:pt x="607695" y="1156335"/>
                </a:cubicBezTo>
                <a:cubicBezTo>
                  <a:pt x="621665" y="1142365"/>
                  <a:pt x="645160" y="1125220"/>
                  <a:pt x="678180" y="1104900"/>
                </a:cubicBezTo>
                <a:cubicBezTo>
                  <a:pt x="683260" y="1099820"/>
                  <a:pt x="685800" y="1095375"/>
                  <a:pt x="685800" y="1091565"/>
                </a:cubicBezTo>
                <a:cubicBezTo>
                  <a:pt x="685800" y="1086485"/>
                  <a:pt x="682625" y="1083945"/>
                  <a:pt x="676275" y="1083945"/>
                </a:cubicBezTo>
                <a:lnTo>
                  <a:pt x="668655" y="1082040"/>
                </a:lnTo>
                <a:cubicBezTo>
                  <a:pt x="649605" y="1082040"/>
                  <a:pt x="635635" y="1080135"/>
                  <a:pt x="626745" y="1076325"/>
                </a:cubicBezTo>
                <a:close/>
                <a:moveTo>
                  <a:pt x="769620" y="992505"/>
                </a:moveTo>
                <a:lnTo>
                  <a:pt x="779145" y="992505"/>
                </a:lnTo>
                <a:cubicBezTo>
                  <a:pt x="789305" y="993775"/>
                  <a:pt x="798830" y="999808"/>
                  <a:pt x="807720" y="1010603"/>
                </a:cubicBezTo>
                <a:cubicBezTo>
                  <a:pt x="816610" y="1021398"/>
                  <a:pt x="822960" y="1028700"/>
                  <a:pt x="826770" y="1032510"/>
                </a:cubicBezTo>
                <a:cubicBezTo>
                  <a:pt x="836930" y="1037590"/>
                  <a:pt x="846773" y="1045528"/>
                  <a:pt x="856298" y="1056323"/>
                </a:cubicBezTo>
                <a:cubicBezTo>
                  <a:pt x="865823" y="1067118"/>
                  <a:pt x="873125" y="1075055"/>
                  <a:pt x="878205" y="1080135"/>
                </a:cubicBezTo>
                <a:cubicBezTo>
                  <a:pt x="880745" y="1091565"/>
                  <a:pt x="885190" y="1104265"/>
                  <a:pt x="891540" y="1118235"/>
                </a:cubicBezTo>
                <a:cubicBezTo>
                  <a:pt x="897890" y="1132205"/>
                  <a:pt x="902335" y="1143000"/>
                  <a:pt x="904875" y="1150620"/>
                </a:cubicBezTo>
                <a:cubicBezTo>
                  <a:pt x="907415" y="1156970"/>
                  <a:pt x="906780" y="1162368"/>
                  <a:pt x="902970" y="1166813"/>
                </a:cubicBezTo>
                <a:cubicBezTo>
                  <a:pt x="899160" y="1171258"/>
                  <a:pt x="893445" y="1175068"/>
                  <a:pt x="885825" y="1178243"/>
                </a:cubicBezTo>
                <a:cubicBezTo>
                  <a:pt x="878205" y="1181418"/>
                  <a:pt x="872490" y="1183640"/>
                  <a:pt x="868680" y="1184910"/>
                </a:cubicBezTo>
                <a:cubicBezTo>
                  <a:pt x="850900" y="1184910"/>
                  <a:pt x="842010" y="1189990"/>
                  <a:pt x="842010" y="1200150"/>
                </a:cubicBezTo>
                <a:cubicBezTo>
                  <a:pt x="842010" y="1206500"/>
                  <a:pt x="845503" y="1213168"/>
                  <a:pt x="852488" y="1220153"/>
                </a:cubicBezTo>
                <a:cubicBezTo>
                  <a:pt x="859473" y="1227138"/>
                  <a:pt x="868045" y="1232535"/>
                  <a:pt x="878205" y="1236345"/>
                </a:cubicBezTo>
                <a:cubicBezTo>
                  <a:pt x="898525" y="1254125"/>
                  <a:pt x="911225" y="1273175"/>
                  <a:pt x="916305" y="1293495"/>
                </a:cubicBezTo>
                <a:cubicBezTo>
                  <a:pt x="920750" y="1299210"/>
                  <a:pt x="922655" y="1304449"/>
                  <a:pt x="922020" y="1309211"/>
                </a:cubicBezTo>
                <a:cubicBezTo>
                  <a:pt x="921385" y="1313974"/>
                  <a:pt x="918210" y="1318260"/>
                  <a:pt x="912495" y="1322070"/>
                </a:cubicBezTo>
                <a:cubicBezTo>
                  <a:pt x="901065" y="1329690"/>
                  <a:pt x="887095" y="1334135"/>
                  <a:pt x="870585" y="1335405"/>
                </a:cubicBezTo>
                <a:lnTo>
                  <a:pt x="817245" y="1333500"/>
                </a:lnTo>
                <a:cubicBezTo>
                  <a:pt x="815975" y="1339850"/>
                  <a:pt x="817245" y="1345883"/>
                  <a:pt x="821055" y="1351598"/>
                </a:cubicBezTo>
                <a:cubicBezTo>
                  <a:pt x="824865" y="1357313"/>
                  <a:pt x="830580" y="1362393"/>
                  <a:pt x="838200" y="1366838"/>
                </a:cubicBezTo>
                <a:cubicBezTo>
                  <a:pt x="845820" y="1371283"/>
                  <a:pt x="851535" y="1374775"/>
                  <a:pt x="855345" y="1377315"/>
                </a:cubicBezTo>
                <a:cubicBezTo>
                  <a:pt x="866775" y="1388745"/>
                  <a:pt x="877888" y="1403985"/>
                  <a:pt x="888683" y="1423035"/>
                </a:cubicBezTo>
                <a:cubicBezTo>
                  <a:pt x="899478" y="1442085"/>
                  <a:pt x="908685" y="1456690"/>
                  <a:pt x="916305" y="1466850"/>
                </a:cubicBezTo>
                <a:cubicBezTo>
                  <a:pt x="916305" y="1469390"/>
                  <a:pt x="916623" y="1473835"/>
                  <a:pt x="917258" y="1480185"/>
                </a:cubicBezTo>
                <a:cubicBezTo>
                  <a:pt x="917893" y="1486535"/>
                  <a:pt x="916940" y="1492250"/>
                  <a:pt x="914400" y="1497330"/>
                </a:cubicBezTo>
                <a:cubicBezTo>
                  <a:pt x="910590" y="1503680"/>
                  <a:pt x="904558" y="1508760"/>
                  <a:pt x="896303" y="1512570"/>
                </a:cubicBezTo>
                <a:cubicBezTo>
                  <a:pt x="888048" y="1516380"/>
                  <a:pt x="879475" y="1518920"/>
                  <a:pt x="870585" y="1520190"/>
                </a:cubicBezTo>
                <a:cubicBezTo>
                  <a:pt x="860425" y="1525270"/>
                  <a:pt x="852170" y="1527810"/>
                  <a:pt x="845820" y="1527810"/>
                </a:cubicBezTo>
                <a:lnTo>
                  <a:pt x="840105" y="1527810"/>
                </a:lnTo>
                <a:lnTo>
                  <a:pt x="819150" y="1520190"/>
                </a:lnTo>
                <a:lnTo>
                  <a:pt x="817245" y="1522095"/>
                </a:lnTo>
                <a:cubicBezTo>
                  <a:pt x="809625" y="1518285"/>
                  <a:pt x="800735" y="1516380"/>
                  <a:pt x="790575" y="1516380"/>
                </a:cubicBezTo>
                <a:cubicBezTo>
                  <a:pt x="780415" y="1516380"/>
                  <a:pt x="770890" y="1517333"/>
                  <a:pt x="762000" y="1519238"/>
                </a:cubicBezTo>
                <a:cubicBezTo>
                  <a:pt x="753110" y="1521143"/>
                  <a:pt x="743585" y="1522095"/>
                  <a:pt x="733425" y="1522095"/>
                </a:cubicBezTo>
                <a:cubicBezTo>
                  <a:pt x="723265" y="1524635"/>
                  <a:pt x="708025" y="1529715"/>
                  <a:pt x="687705" y="1537335"/>
                </a:cubicBezTo>
                <a:cubicBezTo>
                  <a:pt x="663575" y="1547495"/>
                  <a:pt x="643255" y="1553845"/>
                  <a:pt x="626745" y="1556385"/>
                </a:cubicBezTo>
                <a:cubicBezTo>
                  <a:pt x="608965" y="1564005"/>
                  <a:pt x="594995" y="1568450"/>
                  <a:pt x="584835" y="1569720"/>
                </a:cubicBezTo>
                <a:cubicBezTo>
                  <a:pt x="573405" y="1573530"/>
                  <a:pt x="561975" y="1576705"/>
                  <a:pt x="550545" y="1579245"/>
                </a:cubicBezTo>
                <a:cubicBezTo>
                  <a:pt x="539115" y="1581785"/>
                  <a:pt x="527050" y="1586230"/>
                  <a:pt x="514350" y="1592580"/>
                </a:cubicBezTo>
                <a:cubicBezTo>
                  <a:pt x="509270" y="1593850"/>
                  <a:pt x="503555" y="1595120"/>
                  <a:pt x="497205" y="1596390"/>
                </a:cubicBezTo>
                <a:cubicBezTo>
                  <a:pt x="490855" y="1597660"/>
                  <a:pt x="483235" y="1598295"/>
                  <a:pt x="474345" y="1598295"/>
                </a:cubicBezTo>
                <a:cubicBezTo>
                  <a:pt x="469265" y="1597025"/>
                  <a:pt x="463868" y="1595120"/>
                  <a:pt x="458153" y="1592580"/>
                </a:cubicBezTo>
                <a:cubicBezTo>
                  <a:pt x="452438" y="1590040"/>
                  <a:pt x="447040" y="1588770"/>
                  <a:pt x="441960" y="1588770"/>
                </a:cubicBezTo>
                <a:lnTo>
                  <a:pt x="434340" y="1588770"/>
                </a:lnTo>
                <a:cubicBezTo>
                  <a:pt x="414020" y="1588770"/>
                  <a:pt x="397510" y="1577975"/>
                  <a:pt x="384810" y="1556385"/>
                </a:cubicBezTo>
                <a:cubicBezTo>
                  <a:pt x="374650" y="1525905"/>
                  <a:pt x="366395" y="1503045"/>
                  <a:pt x="360045" y="1487805"/>
                </a:cubicBezTo>
                <a:cubicBezTo>
                  <a:pt x="360045" y="1475105"/>
                  <a:pt x="360998" y="1464945"/>
                  <a:pt x="362903" y="1457325"/>
                </a:cubicBezTo>
                <a:cubicBezTo>
                  <a:pt x="364808" y="1449705"/>
                  <a:pt x="369570" y="1443355"/>
                  <a:pt x="377190" y="1438275"/>
                </a:cubicBezTo>
                <a:cubicBezTo>
                  <a:pt x="378460" y="1433195"/>
                  <a:pt x="381953" y="1428433"/>
                  <a:pt x="387668" y="1423988"/>
                </a:cubicBezTo>
                <a:cubicBezTo>
                  <a:pt x="393383" y="1419543"/>
                  <a:pt x="397510" y="1415415"/>
                  <a:pt x="400050" y="1411605"/>
                </a:cubicBezTo>
                <a:cubicBezTo>
                  <a:pt x="396240" y="1406525"/>
                  <a:pt x="386080" y="1393190"/>
                  <a:pt x="369570" y="1371600"/>
                </a:cubicBezTo>
                <a:cubicBezTo>
                  <a:pt x="361950" y="1366520"/>
                  <a:pt x="353060" y="1356360"/>
                  <a:pt x="342900" y="1341120"/>
                </a:cubicBezTo>
                <a:cubicBezTo>
                  <a:pt x="341630" y="1338580"/>
                  <a:pt x="339408" y="1335405"/>
                  <a:pt x="336233" y="1331595"/>
                </a:cubicBezTo>
                <a:cubicBezTo>
                  <a:pt x="333058" y="1327785"/>
                  <a:pt x="331470" y="1323975"/>
                  <a:pt x="331470" y="1320165"/>
                </a:cubicBezTo>
                <a:cubicBezTo>
                  <a:pt x="331470" y="1317625"/>
                  <a:pt x="332105" y="1315720"/>
                  <a:pt x="333375" y="1314450"/>
                </a:cubicBezTo>
                <a:cubicBezTo>
                  <a:pt x="338455" y="1314450"/>
                  <a:pt x="341313" y="1312228"/>
                  <a:pt x="341948" y="1307783"/>
                </a:cubicBezTo>
                <a:cubicBezTo>
                  <a:pt x="342583" y="1303338"/>
                  <a:pt x="342265" y="1297940"/>
                  <a:pt x="340995" y="1291590"/>
                </a:cubicBezTo>
                <a:cubicBezTo>
                  <a:pt x="339725" y="1285240"/>
                  <a:pt x="339090" y="1279525"/>
                  <a:pt x="339090" y="1274445"/>
                </a:cubicBezTo>
                <a:lnTo>
                  <a:pt x="339090" y="1270635"/>
                </a:lnTo>
                <a:cubicBezTo>
                  <a:pt x="341630" y="1261745"/>
                  <a:pt x="345440" y="1247775"/>
                  <a:pt x="350520" y="1228725"/>
                </a:cubicBezTo>
                <a:cubicBezTo>
                  <a:pt x="355600" y="1209675"/>
                  <a:pt x="361950" y="1190943"/>
                  <a:pt x="369570" y="1172528"/>
                </a:cubicBezTo>
                <a:cubicBezTo>
                  <a:pt x="377190" y="1154113"/>
                  <a:pt x="387350" y="1137285"/>
                  <a:pt x="400050" y="1122045"/>
                </a:cubicBezTo>
                <a:cubicBezTo>
                  <a:pt x="398780" y="1116965"/>
                  <a:pt x="400685" y="1110615"/>
                  <a:pt x="405765" y="1102995"/>
                </a:cubicBezTo>
                <a:cubicBezTo>
                  <a:pt x="410845" y="1095375"/>
                  <a:pt x="413385" y="1089660"/>
                  <a:pt x="413385" y="1085850"/>
                </a:cubicBezTo>
                <a:cubicBezTo>
                  <a:pt x="417195" y="1082040"/>
                  <a:pt x="421323" y="1078230"/>
                  <a:pt x="425768" y="1074420"/>
                </a:cubicBezTo>
                <a:cubicBezTo>
                  <a:pt x="430213" y="1070610"/>
                  <a:pt x="433705" y="1068705"/>
                  <a:pt x="436245" y="1068705"/>
                </a:cubicBezTo>
                <a:cubicBezTo>
                  <a:pt x="438785" y="1068705"/>
                  <a:pt x="440055" y="1069975"/>
                  <a:pt x="440055" y="1072515"/>
                </a:cubicBezTo>
                <a:lnTo>
                  <a:pt x="438150" y="1078230"/>
                </a:lnTo>
                <a:cubicBezTo>
                  <a:pt x="436880" y="1093470"/>
                  <a:pt x="439420" y="1101090"/>
                  <a:pt x="445770" y="1101090"/>
                </a:cubicBezTo>
                <a:cubicBezTo>
                  <a:pt x="453390" y="1101090"/>
                  <a:pt x="462280" y="1094740"/>
                  <a:pt x="472440" y="1082040"/>
                </a:cubicBezTo>
                <a:cubicBezTo>
                  <a:pt x="477520" y="1079500"/>
                  <a:pt x="486728" y="1074738"/>
                  <a:pt x="500063" y="1067753"/>
                </a:cubicBezTo>
                <a:cubicBezTo>
                  <a:pt x="513398" y="1060768"/>
                  <a:pt x="524510" y="1053465"/>
                  <a:pt x="533400" y="1045845"/>
                </a:cubicBezTo>
                <a:cubicBezTo>
                  <a:pt x="539750" y="1043305"/>
                  <a:pt x="549593" y="1040448"/>
                  <a:pt x="562928" y="1037273"/>
                </a:cubicBezTo>
                <a:cubicBezTo>
                  <a:pt x="576263" y="1034098"/>
                  <a:pt x="586740" y="1029335"/>
                  <a:pt x="594360" y="1022985"/>
                </a:cubicBezTo>
                <a:cubicBezTo>
                  <a:pt x="603250" y="1024255"/>
                  <a:pt x="613410" y="1022985"/>
                  <a:pt x="624840" y="1019175"/>
                </a:cubicBezTo>
                <a:cubicBezTo>
                  <a:pt x="636270" y="1015365"/>
                  <a:pt x="645160" y="1012825"/>
                  <a:pt x="651510" y="1011555"/>
                </a:cubicBezTo>
                <a:cubicBezTo>
                  <a:pt x="662940" y="1010285"/>
                  <a:pt x="678498" y="1009650"/>
                  <a:pt x="698183" y="1009650"/>
                </a:cubicBezTo>
                <a:cubicBezTo>
                  <a:pt x="717868" y="1009650"/>
                  <a:pt x="734695" y="1006475"/>
                  <a:pt x="748665" y="1000125"/>
                </a:cubicBezTo>
                <a:cubicBezTo>
                  <a:pt x="749935" y="996315"/>
                  <a:pt x="753110" y="994093"/>
                  <a:pt x="758190" y="993458"/>
                </a:cubicBezTo>
                <a:cubicBezTo>
                  <a:pt x="763270" y="992823"/>
                  <a:pt x="767080" y="992505"/>
                  <a:pt x="769620" y="992505"/>
                </a:cubicBezTo>
                <a:close/>
                <a:moveTo>
                  <a:pt x="716280" y="798195"/>
                </a:moveTo>
                <a:lnTo>
                  <a:pt x="727710" y="800100"/>
                </a:lnTo>
                <a:cubicBezTo>
                  <a:pt x="734060" y="800100"/>
                  <a:pt x="742633" y="800418"/>
                  <a:pt x="753428" y="801053"/>
                </a:cubicBezTo>
                <a:cubicBezTo>
                  <a:pt x="764223" y="801688"/>
                  <a:pt x="773430" y="803275"/>
                  <a:pt x="781050" y="805815"/>
                </a:cubicBezTo>
                <a:cubicBezTo>
                  <a:pt x="786130" y="809625"/>
                  <a:pt x="795338" y="814388"/>
                  <a:pt x="808673" y="820103"/>
                </a:cubicBezTo>
                <a:cubicBezTo>
                  <a:pt x="822008" y="825818"/>
                  <a:pt x="831215" y="832485"/>
                  <a:pt x="836295" y="840105"/>
                </a:cubicBezTo>
                <a:cubicBezTo>
                  <a:pt x="843915" y="842645"/>
                  <a:pt x="851218" y="848995"/>
                  <a:pt x="858203" y="859155"/>
                </a:cubicBezTo>
                <a:cubicBezTo>
                  <a:pt x="865188" y="869315"/>
                  <a:pt x="870585" y="876300"/>
                  <a:pt x="874395" y="880110"/>
                </a:cubicBezTo>
                <a:cubicBezTo>
                  <a:pt x="875665" y="882650"/>
                  <a:pt x="878205" y="887730"/>
                  <a:pt x="882015" y="895350"/>
                </a:cubicBezTo>
                <a:cubicBezTo>
                  <a:pt x="885825" y="902970"/>
                  <a:pt x="888365" y="909955"/>
                  <a:pt x="889635" y="916305"/>
                </a:cubicBezTo>
                <a:cubicBezTo>
                  <a:pt x="893445" y="917575"/>
                  <a:pt x="895668" y="919798"/>
                  <a:pt x="896303" y="922973"/>
                </a:cubicBezTo>
                <a:cubicBezTo>
                  <a:pt x="896938" y="926148"/>
                  <a:pt x="896303" y="929958"/>
                  <a:pt x="894398" y="934403"/>
                </a:cubicBezTo>
                <a:cubicBezTo>
                  <a:pt x="892493" y="938848"/>
                  <a:pt x="890905" y="942340"/>
                  <a:pt x="889635" y="944880"/>
                </a:cubicBezTo>
                <a:cubicBezTo>
                  <a:pt x="856615" y="942340"/>
                  <a:pt x="831215" y="941070"/>
                  <a:pt x="813435" y="941070"/>
                </a:cubicBezTo>
                <a:cubicBezTo>
                  <a:pt x="809625" y="942340"/>
                  <a:pt x="803275" y="942975"/>
                  <a:pt x="794385" y="942975"/>
                </a:cubicBezTo>
                <a:cubicBezTo>
                  <a:pt x="785495" y="942975"/>
                  <a:pt x="778510" y="943610"/>
                  <a:pt x="773430" y="944880"/>
                </a:cubicBezTo>
                <a:cubicBezTo>
                  <a:pt x="768350" y="948690"/>
                  <a:pt x="760730" y="950913"/>
                  <a:pt x="750570" y="951548"/>
                </a:cubicBezTo>
                <a:cubicBezTo>
                  <a:pt x="740410" y="952183"/>
                  <a:pt x="732790" y="953770"/>
                  <a:pt x="727710" y="956310"/>
                </a:cubicBezTo>
                <a:cubicBezTo>
                  <a:pt x="702310" y="963930"/>
                  <a:pt x="683260" y="968375"/>
                  <a:pt x="670560" y="969645"/>
                </a:cubicBezTo>
                <a:cubicBezTo>
                  <a:pt x="657860" y="974725"/>
                  <a:pt x="642938" y="978218"/>
                  <a:pt x="625793" y="980123"/>
                </a:cubicBezTo>
                <a:cubicBezTo>
                  <a:pt x="608648" y="982028"/>
                  <a:pt x="597535" y="983615"/>
                  <a:pt x="592455" y="984885"/>
                </a:cubicBezTo>
                <a:cubicBezTo>
                  <a:pt x="588645" y="981075"/>
                  <a:pt x="582295" y="979170"/>
                  <a:pt x="573405" y="979170"/>
                </a:cubicBezTo>
                <a:cubicBezTo>
                  <a:pt x="567055" y="979170"/>
                  <a:pt x="559118" y="980758"/>
                  <a:pt x="549593" y="983933"/>
                </a:cubicBezTo>
                <a:cubicBezTo>
                  <a:pt x="540068" y="987108"/>
                  <a:pt x="532765" y="989330"/>
                  <a:pt x="527685" y="990600"/>
                </a:cubicBezTo>
                <a:cubicBezTo>
                  <a:pt x="522605" y="994410"/>
                  <a:pt x="515303" y="998220"/>
                  <a:pt x="505778" y="1002030"/>
                </a:cubicBezTo>
                <a:cubicBezTo>
                  <a:pt x="496253" y="1005840"/>
                  <a:pt x="489585" y="1009015"/>
                  <a:pt x="485775" y="1011555"/>
                </a:cubicBezTo>
                <a:cubicBezTo>
                  <a:pt x="473075" y="1015365"/>
                  <a:pt x="461010" y="1021080"/>
                  <a:pt x="449580" y="1028700"/>
                </a:cubicBezTo>
                <a:cubicBezTo>
                  <a:pt x="444500" y="1029970"/>
                  <a:pt x="437515" y="1030605"/>
                  <a:pt x="428625" y="1030605"/>
                </a:cubicBezTo>
                <a:cubicBezTo>
                  <a:pt x="413385" y="1030605"/>
                  <a:pt x="400050" y="1028065"/>
                  <a:pt x="388620" y="1022985"/>
                </a:cubicBezTo>
                <a:cubicBezTo>
                  <a:pt x="379730" y="1017905"/>
                  <a:pt x="370205" y="1009968"/>
                  <a:pt x="360045" y="999173"/>
                </a:cubicBezTo>
                <a:cubicBezTo>
                  <a:pt x="349885" y="988378"/>
                  <a:pt x="340995" y="979805"/>
                  <a:pt x="333375" y="973455"/>
                </a:cubicBezTo>
                <a:cubicBezTo>
                  <a:pt x="329565" y="967105"/>
                  <a:pt x="327025" y="959485"/>
                  <a:pt x="325755" y="950595"/>
                </a:cubicBezTo>
                <a:cubicBezTo>
                  <a:pt x="324485" y="941705"/>
                  <a:pt x="323850" y="935990"/>
                  <a:pt x="323850" y="933450"/>
                </a:cubicBezTo>
                <a:cubicBezTo>
                  <a:pt x="335280" y="929640"/>
                  <a:pt x="346393" y="925195"/>
                  <a:pt x="357188" y="920115"/>
                </a:cubicBezTo>
                <a:cubicBezTo>
                  <a:pt x="367983" y="915035"/>
                  <a:pt x="379095" y="910590"/>
                  <a:pt x="390525" y="906780"/>
                </a:cubicBezTo>
                <a:cubicBezTo>
                  <a:pt x="412115" y="895350"/>
                  <a:pt x="433705" y="885825"/>
                  <a:pt x="455295" y="878205"/>
                </a:cubicBezTo>
                <a:cubicBezTo>
                  <a:pt x="460375" y="876935"/>
                  <a:pt x="473075" y="871855"/>
                  <a:pt x="493395" y="862965"/>
                </a:cubicBezTo>
                <a:cubicBezTo>
                  <a:pt x="501015" y="862965"/>
                  <a:pt x="509270" y="861695"/>
                  <a:pt x="518160" y="859155"/>
                </a:cubicBezTo>
                <a:cubicBezTo>
                  <a:pt x="527050" y="856615"/>
                  <a:pt x="532765" y="854710"/>
                  <a:pt x="535305" y="853440"/>
                </a:cubicBezTo>
                <a:cubicBezTo>
                  <a:pt x="545465" y="849630"/>
                  <a:pt x="566738" y="841693"/>
                  <a:pt x="599123" y="829628"/>
                </a:cubicBezTo>
                <a:cubicBezTo>
                  <a:pt x="631508" y="817563"/>
                  <a:pt x="662305" y="807720"/>
                  <a:pt x="691515" y="800100"/>
                </a:cubicBezTo>
                <a:close/>
                <a:moveTo>
                  <a:pt x="1137285" y="687705"/>
                </a:moveTo>
                <a:cubicBezTo>
                  <a:pt x="1158875" y="687705"/>
                  <a:pt x="1189990" y="690245"/>
                  <a:pt x="1230630" y="695325"/>
                </a:cubicBezTo>
                <a:lnTo>
                  <a:pt x="1285875" y="701040"/>
                </a:lnTo>
                <a:lnTo>
                  <a:pt x="1327785" y="699135"/>
                </a:lnTo>
                <a:lnTo>
                  <a:pt x="1335405" y="699135"/>
                </a:lnTo>
                <a:cubicBezTo>
                  <a:pt x="1344295" y="700405"/>
                  <a:pt x="1351598" y="704215"/>
                  <a:pt x="1357313" y="710565"/>
                </a:cubicBezTo>
                <a:cubicBezTo>
                  <a:pt x="1363028" y="716915"/>
                  <a:pt x="1367790" y="725488"/>
                  <a:pt x="1371600" y="736283"/>
                </a:cubicBezTo>
                <a:cubicBezTo>
                  <a:pt x="1375410" y="747078"/>
                  <a:pt x="1377950" y="754380"/>
                  <a:pt x="1379220" y="758190"/>
                </a:cubicBezTo>
                <a:cubicBezTo>
                  <a:pt x="1383030" y="760730"/>
                  <a:pt x="1388428" y="764540"/>
                  <a:pt x="1395413" y="769620"/>
                </a:cubicBezTo>
                <a:cubicBezTo>
                  <a:pt x="1402398" y="774700"/>
                  <a:pt x="1407795" y="780415"/>
                  <a:pt x="1411605" y="786765"/>
                </a:cubicBezTo>
                <a:cubicBezTo>
                  <a:pt x="1420495" y="793115"/>
                  <a:pt x="1427163" y="802005"/>
                  <a:pt x="1431608" y="813435"/>
                </a:cubicBezTo>
                <a:cubicBezTo>
                  <a:pt x="1436053" y="824865"/>
                  <a:pt x="1438910" y="831850"/>
                  <a:pt x="1440180" y="834390"/>
                </a:cubicBezTo>
                <a:cubicBezTo>
                  <a:pt x="1446530" y="838200"/>
                  <a:pt x="1452563" y="843915"/>
                  <a:pt x="1458278" y="851535"/>
                </a:cubicBezTo>
                <a:cubicBezTo>
                  <a:pt x="1463993" y="859155"/>
                  <a:pt x="1468120" y="864870"/>
                  <a:pt x="1470660" y="868680"/>
                </a:cubicBezTo>
                <a:cubicBezTo>
                  <a:pt x="1479550" y="883920"/>
                  <a:pt x="1483995" y="897890"/>
                  <a:pt x="1483995" y="910590"/>
                </a:cubicBezTo>
                <a:cubicBezTo>
                  <a:pt x="1483995" y="916940"/>
                  <a:pt x="1483360" y="922020"/>
                  <a:pt x="1482090" y="925830"/>
                </a:cubicBezTo>
                <a:cubicBezTo>
                  <a:pt x="1466850" y="947420"/>
                  <a:pt x="1457325" y="960120"/>
                  <a:pt x="1453515" y="963930"/>
                </a:cubicBezTo>
                <a:cubicBezTo>
                  <a:pt x="1442085" y="971550"/>
                  <a:pt x="1431290" y="975360"/>
                  <a:pt x="1421130" y="975360"/>
                </a:cubicBezTo>
                <a:cubicBezTo>
                  <a:pt x="1409700" y="975360"/>
                  <a:pt x="1398270" y="971868"/>
                  <a:pt x="1386840" y="964883"/>
                </a:cubicBezTo>
                <a:cubicBezTo>
                  <a:pt x="1375410" y="957898"/>
                  <a:pt x="1361440" y="947420"/>
                  <a:pt x="1344930" y="933450"/>
                </a:cubicBezTo>
                <a:cubicBezTo>
                  <a:pt x="1329690" y="918210"/>
                  <a:pt x="1317625" y="908050"/>
                  <a:pt x="1308735" y="902970"/>
                </a:cubicBezTo>
                <a:lnTo>
                  <a:pt x="1297305" y="870585"/>
                </a:lnTo>
                <a:cubicBezTo>
                  <a:pt x="1288415" y="870585"/>
                  <a:pt x="1273810" y="869315"/>
                  <a:pt x="1253490" y="866775"/>
                </a:cubicBezTo>
                <a:cubicBezTo>
                  <a:pt x="1225550" y="864235"/>
                  <a:pt x="1204595" y="862965"/>
                  <a:pt x="1190625" y="862965"/>
                </a:cubicBezTo>
                <a:cubicBezTo>
                  <a:pt x="1176655" y="862965"/>
                  <a:pt x="1166495" y="863600"/>
                  <a:pt x="1160145" y="864870"/>
                </a:cubicBezTo>
                <a:cubicBezTo>
                  <a:pt x="1153795" y="867410"/>
                  <a:pt x="1140778" y="872490"/>
                  <a:pt x="1121093" y="880110"/>
                </a:cubicBezTo>
                <a:cubicBezTo>
                  <a:pt x="1101408" y="887730"/>
                  <a:pt x="1082675" y="892175"/>
                  <a:pt x="1064895" y="893445"/>
                </a:cubicBezTo>
                <a:cubicBezTo>
                  <a:pt x="1061085" y="897255"/>
                  <a:pt x="1056005" y="900113"/>
                  <a:pt x="1049655" y="902018"/>
                </a:cubicBezTo>
                <a:cubicBezTo>
                  <a:pt x="1043305" y="903923"/>
                  <a:pt x="1038860" y="905510"/>
                  <a:pt x="1036320" y="906780"/>
                </a:cubicBezTo>
                <a:cubicBezTo>
                  <a:pt x="1033780" y="906780"/>
                  <a:pt x="1028700" y="907415"/>
                  <a:pt x="1021080" y="908685"/>
                </a:cubicBezTo>
                <a:cubicBezTo>
                  <a:pt x="1013460" y="909955"/>
                  <a:pt x="1006475" y="912495"/>
                  <a:pt x="1000125" y="916305"/>
                </a:cubicBezTo>
                <a:cubicBezTo>
                  <a:pt x="997585" y="911225"/>
                  <a:pt x="993458" y="909320"/>
                  <a:pt x="987743" y="910590"/>
                </a:cubicBezTo>
                <a:cubicBezTo>
                  <a:pt x="982028" y="911860"/>
                  <a:pt x="978535" y="912495"/>
                  <a:pt x="977265" y="912495"/>
                </a:cubicBezTo>
                <a:cubicBezTo>
                  <a:pt x="967105" y="909955"/>
                  <a:pt x="970915" y="906780"/>
                  <a:pt x="988695" y="902970"/>
                </a:cubicBezTo>
                <a:cubicBezTo>
                  <a:pt x="1003935" y="896620"/>
                  <a:pt x="1025525" y="884555"/>
                  <a:pt x="1053465" y="866775"/>
                </a:cubicBezTo>
                <a:lnTo>
                  <a:pt x="1089660" y="845820"/>
                </a:lnTo>
                <a:lnTo>
                  <a:pt x="1158240" y="811530"/>
                </a:lnTo>
                <a:cubicBezTo>
                  <a:pt x="1160780" y="803910"/>
                  <a:pt x="1158558" y="798513"/>
                  <a:pt x="1151573" y="795338"/>
                </a:cubicBezTo>
                <a:cubicBezTo>
                  <a:pt x="1144588" y="792163"/>
                  <a:pt x="1135063" y="790258"/>
                  <a:pt x="1122998" y="789623"/>
                </a:cubicBezTo>
                <a:cubicBezTo>
                  <a:pt x="1110933" y="788988"/>
                  <a:pt x="1101725" y="788035"/>
                  <a:pt x="1095375" y="786765"/>
                </a:cubicBezTo>
                <a:cubicBezTo>
                  <a:pt x="1087755" y="785495"/>
                  <a:pt x="1079183" y="784225"/>
                  <a:pt x="1069658" y="782955"/>
                </a:cubicBezTo>
                <a:cubicBezTo>
                  <a:pt x="1060133" y="781685"/>
                  <a:pt x="1048385" y="781050"/>
                  <a:pt x="1034415" y="781050"/>
                </a:cubicBezTo>
                <a:cubicBezTo>
                  <a:pt x="1029335" y="783590"/>
                  <a:pt x="1023620" y="783908"/>
                  <a:pt x="1017270" y="782003"/>
                </a:cubicBezTo>
                <a:cubicBezTo>
                  <a:pt x="1010920" y="780098"/>
                  <a:pt x="1006475" y="778510"/>
                  <a:pt x="1003935" y="777240"/>
                </a:cubicBezTo>
                <a:cubicBezTo>
                  <a:pt x="996315" y="777240"/>
                  <a:pt x="979488" y="777240"/>
                  <a:pt x="953453" y="777240"/>
                </a:cubicBezTo>
                <a:cubicBezTo>
                  <a:pt x="927418" y="777240"/>
                  <a:pt x="903605" y="775970"/>
                  <a:pt x="882015" y="773430"/>
                </a:cubicBezTo>
                <a:cubicBezTo>
                  <a:pt x="874395" y="775970"/>
                  <a:pt x="863600" y="777240"/>
                  <a:pt x="849630" y="777240"/>
                </a:cubicBezTo>
                <a:cubicBezTo>
                  <a:pt x="844550" y="777240"/>
                  <a:pt x="838200" y="776923"/>
                  <a:pt x="830580" y="776288"/>
                </a:cubicBezTo>
                <a:cubicBezTo>
                  <a:pt x="822960" y="775653"/>
                  <a:pt x="814705" y="775970"/>
                  <a:pt x="805815" y="777240"/>
                </a:cubicBezTo>
                <a:cubicBezTo>
                  <a:pt x="767715" y="784860"/>
                  <a:pt x="727393" y="788670"/>
                  <a:pt x="684848" y="788670"/>
                </a:cubicBezTo>
                <a:cubicBezTo>
                  <a:pt x="642303" y="788670"/>
                  <a:pt x="617220" y="788670"/>
                  <a:pt x="609600" y="788670"/>
                </a:cubicBezTo>
                <a:cubicBezTo>
                  <a:pt x="604520" y="788670"/>
                  <a:pt x="595948" y="788988"/>
                  <a:pt x="583883" y="789623"/>
                </a:cubicBezTo>
                <a:cubicBezTo>
                  <a:pt x="571818" y="790258"/>
                  <a:pt x="561975" y="792480"/>
                  <a:pt x="554355" y="796290"/>
                </a:cubicBezTo>
                <a:cubicBezTo>
                  <a:pt x="545465" y="795020"/>
                  <a:pt x="532130" y="794385"/>
                  <a:pt x="514350" y="794385"/>
                </a:cubicBezTo>
                <a:lnTo>
                  <a:pt x="434340" y="796290"/>
                </a:lnTo>
                <a:cubicBezTo>
                  <a:pt x="416560" y="798830"/>
                  <a:pt x="392430" y="807720"/>
                  <a:pt x="361950" y="822960"/>
                </a:cubicBezTo>
                <a:lnTo>
                  <a:pt x="320040" y="840105"/>
                </a:lnTo>
                <a:cubicBezTo>
                  <a:pt x="316230" y="841375"/>
                  <a:pt x="312103" y="842645"/>
                  <a:pt x="307658" y="843915"/>
                </a:cubicBezTo>
                <a:cubicBezTo>
                  <a:pt x="303213" y="845185"/>
                  <a:pt x="297815" y="845820"/>
                  <a:pt x="291465" y="845820"/>
                </a:cubicBezTo>
                <a:cubicBezTo>
                  <a:pt x="285115" y="840740"/>
                  <a:pt x="278448" y="839153"/>
                  <a:pt x="271463" y="841058"/>
                </a:cubicBezTo>
                <a:cubicBezTo>
                  <a:pt x="264478" y="842963"/>
                  <a:pt x="256858" y="847090"/>
                  <a:pt x="248603" y="853440"/>
                </a:cubicBezTo>
                <a:cubicBezTo>
                  <a:pt x="240348" y="859790"/>
                  <a:pt x="233680" y="864235"/>
                  <a:pt x="228600" y="866775"/>
                </a:cubicBezTo>
                <a:cubicBezTo>
                  <a:pt x="222250" y="871855"/>
                  <a:pt x="215583" y="880110"/>
                  <a:pt x="208598" y="891540"/>
                </a:cubicBezTo>
                <a:cubicBezTo>
                  <a:pt x="201613" y="902970"/>
                  <a:pt x="195580" y="910590"/>
                  <a:pt x="190500" y="914400"/>
                </a:cubicBezTo>
                <a:cubicBezTo>
                  <a:pt x="185420" y="943610"/>
                  <a:pt x="181610" y="988695"/>
                  <a:pt x="179070" y="1049655"/>
                </a:cubicBezTo>
                <a:cubicBezTo>
                  <a:pt x="179070" y="1053465"/>
                  <a:pt x="177800" y="1062673"/>
                  <a:pt x="175260" y="1077278"/>
                </a:cubicBezTo>
                <a:cubicBezTo>
                  <a:pt x="172720" y="1091883"/>
                  <a:pt x="168275" y="1104900"/>
                  <a:pt x="161925" y="1116330"/>
                </a:cubicBezTo>
                <a:cubicBezTo>
                  <a:pt x="159385" y="1137920"/>
                  <a:pt x="156210" y="1154113"/>
                  <a:pt x="152400" y="1164908"/>
                </a:cubicBezTo>
                <a:cubicBezTo>
                  <a:pt x="148590" y="1175703"/>
                  <a:pt x="141605" y="1184275"/>
                  <a:pt x="131445" y="1190625"/>
                </a:cubicBezTo>
                <a:cubicBezTo>
                  <a:pt x="132715" y="1203325"/>
                  <a:pt x="123825" y="1214120"/>
                  <a:pt x="104775" y="1223010"/>
                </a:cubicBezTo>
                <a:lnTo>
                  <a:pt x="91440" y="1200150"/>
                </a:lnTo>
                <a:cubicBezTo>
                  <a:pt x="85090" y="1205230"/>
                  <a:pt x="79058" y="1206183"/>
                  <a:pt x="73343" y="1203008"/>
                </a:cubicBezTo>
                <a:cubicBezTo>
                  <a:pt x="67628" y="1199833"/>
                  <a:pt x="61278" y="1193800"/>
                  <a:pt x="54293" y="1184910"/>
                </a:cubicBezTo>
                <a:cubicBezTo>
                  <a:pt x="47308" y="1176020"/>
                  <a:pt x="41275" y="1169035"/>
                  <a:pt x="36195" y="1163955"/>
                </a:cubicBezTo>
                <a:cubicBezTo>
                  <a:pt x="31115" y="1156335"/>
                  <a:pt x="26670" y="1146175"/>
                  <a:pt x="22860" y="1133475"/>
                </a:cubicBezTo>
                <a:cubicBezTo>
                  <a:pt x="19050" y="1120775"/>
                  <a:pt x="15240" y="1110615"/>
                  <a:pt x="11430" y="1102995"/>
                </a:cubicBezTo>
                <a:cubicBezTo>
                  <a:pt x="5080" y="1096645"/>
                  <a:pt x="1588" y="1088073"/>
                  <a:pt x="953" y="1077278"/>
                </a:cubicBezTo>
                <a:cubicBezTo>
                  <a:pt x="318" y="1066483"/>
                  <a:pt x="0" y="1059180"/>
                  <a:pt x="0" y="1055370"/>
                </a:cubicBezTo>
                <a:cubicBezTo>
                  <a:pt x="0" y="1051560"/>
                  <a:pt x="318" y="1045210"/>
                  <a:pt x="953" y="1036320"/>
                </a:cubicBezTo>
                <a:cubicBezTo>
                  <a:pt x="1588" y="1027430"/>
                  <a:pt x="5080" y="1019810"/>
                  <a:pt x="11430" y="1013460"/>
                </a:cubicBezTo>
                <a:cubicBezTo>
                  <a:pt x="8890" y="1007110"/>
                  <a:pt x="10160" y="1001395"/>
                  <a:pt x="15240" y="996315"/>
                </a:cubicBezTo>
                <a:cubicBezTo>
                  <a:pt x="20320" y="991235"/>
                  <a:pt x="23495" y="988060"/>
                  <a:pt x="24765" y="986790"/>
                </a:cubicBezTo>
                <a:cubicBezTo>
                  <a:pt x="22225" y="976630"/>
                  <a:pt x="24765" y="965518"/>
                  <a:pt x="32385" y="953453"/>
                </a:cubicBezTo>
                <a:cubicBezTo>
                  <a:pt x="40005" y="941388"/>
                  <a:pt x="45720" y="932180"/>
                  <a:pt x="49530" y="925830"/>
                </a:cubicBezTo>
                <a:cubicBezTo>
                  <a:pt x="50800" y="914400"/>
                  <a:pt x="53975" y="901700"/>
                  <a:pt x="59055" y="887730"/>
                </a:cubicBezTo>
                <a:cubicBezTo>
                  <a:pt x="60325" y="881380"/>
                  <a:pt x="62230" y="874078"/>
                  <a:pt x="64770" y="865823"/>
                </a:cubicBezTo>
                <a:cubicBezTo>
                  <a:pt x="67310" y="857568"/>
                  <a:pt x="69215" y="848360"/>
                  <a:pt x="70485" y="838200"/>
                </a:cubicBezTo>
                <a:cubicBezTo>
                  <a:pt x="70485" y="835660"/>
                  <a:pt x="70485" y="829310"/>
                  <a:pt x="70485" y="819150"/>
                </a:cubicBezTo>
                <a:cubicBezTo>
                  <a:pt x="70485" y="808990"/>
                  <a:pt x="69215" y="800100"/>
                  <a:pt x="66675" y="792480"/>
                </a:cubicBezTo>
                <a:cubicBezTo>
                  <a:pt x="66675" y="789940"/>
                  <a:pt x="66358" y="785495"/>
                  <a:pt x="65723" y="779145"/>
                </a:cubicBezTo>
                <a:cubicBezTo>
                  <a:pt x="65088" y="772795"/>
                  <a:pt x="66040" y="767080"/>
                  <a:pt x="68580" y="762000"/>
                </a:cubicBezTo>
                <a:cubicBezTo>
                  <a:pt x="67310" y="755650"/>
                  <a:pt x="68263" y="749618"/>
                  <a:pt x="71438" y="743903"/>
                </a:cubicBezTo>
                <a:cubicBezTo>
                  <a:pt x="74613" y="738188"/>
                  <a:pt x="76835" y="733425"/>
                  <a:pt x="78105" y="729615"/>
                </a:cubicBezTo>
                <a:cubicBezTo>
                  <a:pt x="83185" y="725805"/>
                  <a:pt x="88583" y="725488"/>
                  <a:pt x="94298" y="728663"/>
                </a:cubicBezTo>
                <a:cubicBezTo>
                  <a:pt x="100013" y="731838"/>
                  <a:pt x="103505" y="736600"/>
                  <a:pt x="104775" y="742950"/>
                </a:cubicBezTo>
                <a:cubicBezTo>
                  <a:pt x="112395" y="745490"/>
                  <a:pt x="121285" y="751840"/>
                  <a:pt x="131445" y="762000"/>
                </a:cubicBezTo>
                <a:cubicBezTo>
                  <a:pt x="142875" y="763270"/>
                  <a:pt x="151130" y="772160"/>
                  <a:pt x="156210" y="788670"/>
                </a:cubicBezTo>
                <a:cubicBezTo>
                  <a:pt x="158750" y="805180"/>
                  <a:pt x="163195" y="818515"/>
                  <a:pt x="169545" y="828675"/>
                </a:cubicBezTo>
                <a:cubicBezTo>
                  <a:pt x="168275" y="836295"/>
                  <a:pt x="170180" y="839788"/>
                  <a:pt x="175260" y="839153"/>
                </a:cubicBezTo>
                <a:cubicBezTo>
                  <a:pt x="180340" y="838518"/>
                  <a:pt x="187325" y="835343"/>
                  <a:pt x="196215" y="829628"/>
                </a:cubicBezTo>
                <a:cubicBezTo>
                  <a:pt x="205105" y="823913"/>
                  <a:pt x="211455" y="819785"/>
                  <a:pt x="215265" y="817245"/>
                </a:cubicBezTo>
                <a:cubicBezTo>
                  <a:pt x="221615" y="814705"/>
                  <a:pt x="231458" y="811213"/>
                  <a:pt x="244793" y="806768"/>
                </a:cubicBezTo>
                <a:cubicBezTo>
                  <a:pt x="258128" y="802323"/>
                  <a:pt x="269875" y="797560"/>
                  <a:pt x="280035" y="792480"/>
                </a:cubicBezTo>
                <a:cubicBezTo>
                  <a:pt x="286385" y="791210"/>
                  <a:pt x="303213" y="787400"/>
                  <a:pt x="330518" y="781050"/>
                </a:cubicBezTo>
                <a:cubicBezTo>
                  <a:pt x="357823" y="774700"/>
                  <a:pt x="382905" y="766445"/>
                  <a:pt x="405765" y="756285"/>
                </a:cubicBezTo>
                <a:cubicBezTo>
                  <a:pt x="433705" y="751205"/>
                  <a:pt x="454025" y="748665"/>
                  <a:pt x="466725" y="748665"/>
                </a:cubicBezTo>
                <a:cubicBezTo>
                  <a:pt x="489585" y="742315"/>
                  <a:pt x="525145" y="735330"/>
                  <a:pt x="573405" y="727710"/>
                </a:cubicBezTo>
                <a:cubicBezTo>
                  <a:pt x="583565" y="726440"/>
                  <a:pt x="599758" y="725170"/>
                  <a:pt x="621983" y="723900"/>
                </a:cubicBezTo>
                <a:cubicBezTo>
                  <a:pt x="644208" y="722630"/>
                  <a:pt x="663575" y="719455"/>
                  <a:pt x="680085" y="714375"/>
                </a:cubicBezTo>
                <a:lnTo>
                  <a:pt x="695325" y="716280"/>
                </a:lnTo>
                <a:cubicBezTo>
                  <a:pt x="700405" y="716280"/>
                  <a:pt x="708025" y="715010"/>
                  <a:pt x="718185" y="712470"/>
                </a:cubicBezTo>
                <a:cubicBezTo>
                  <a:pt x="732155" y="712470"/>
                  <a:pt x="751840" y="711200"/>
                  <a:pt x="777240" y="708660"/>
                </a:cubicBezTo>
                <a:cubicBezTo>
                  <a:pt x="802640" y="706120"/>
                  <a:pt x="821690" y="705485"/>
                  <a:pt x="834390" y="706755"/>
                </a:cubicBezTo>
                <a:cubicBezTo>
                  <a:pt x="849630" y="704215"/>
                  <a:pt x="872490" y="702945"/>
                  <a:pt x="902970" y="702945"/>
                </a:cubicBezTo>
                <a:cubicBezTo>
                  <a:pt x="934720" y="702945"/>
                  <a:pt x="957580" y="700405"/>
                  <a:pt x="971550" y="695325"/>
                </a:cubicBezTo>
                <a:cubicBezTo>
                  <a:pt x="1017270" y="695325"/>
                  <a:pt x="1051560" y="694690"/>
                  <a:pt x="1074420" y="693420"/>
                </a:cubicBezTo>
                <a:cubicBezTo>
                  <a:pt x="1096010" y="689610"/>
                  <a:pt x="1116965" y="687705"/>
                  <a:pt x="1137285" y="687705"/>
                </a:cubicBezTo>
                <a:close/>
                <a:moveTo>
                  <a:pt x="632460" y="0"/>
                </a:moveTo>
                <a:cubicBezTo>
                  <a:pt x="636270" y="2540"/>
                  <a:pt x="643255" y="7938"/>
                  <a:pt x="653415" y="16193"/>
                </a:cubicBezTo>
                <a:cubicBezTo>
                  <a:pt x="663575" y="24448"/>
                  <a:pt x="669290" y="33655"/>
                  <a:pt x="670560" y="43815"/>
                </a:cubicBezTo>
                <a:cubicBezTo>
                  <a:pt x="674370" y="48895"/>
                  <a:pt x="680085" y="54610"/>
                  <a:pt x="687705" y="60960"/>
                </a:cubicBezTo>
                <a:cubicBezTo>
                  <a:pt x="695325" y="67310"/>
                  <a:pt x="700405" y="73660"/>
                  <a:pt x="702945" y="80010"/>
                </a:cubicBezTo>
                <a:cubicBezTo>
                  <a:pt x="706755" y="83820"/>
                  <a:pt x="714375" y="91758"/>
                  <a:pt x="725805" y="103823"/>
                </a:cubicBezTo>
                <a:cubicBezTo>
                  <a:pt x="737235" y="115888"/>
                  <a:pt x="745490" y="128270"/>
                  <a:pt x="750570" y="140970"/>
                </a:cubicBezTo>
                <a:cubicBezTo>
                  <a:pt x="751840" y="144780"/>
                  <a:pt x="752475" y="151130"/>
                  <a:pt x="752475" y="160020"/>
                </a:cubicBezTo>
                <a:cubicBezTo>
                  <a:pt x="752475" y="168910"/>
                  <a:pt x="751840" y="175895"/>
                  <a:pt x="750570" y="180975"/>
                </a:cubicBezTo>
                <a:cubicBezTo>
                  <a:pt x="745490" y="186055"/>
                  <a:pt x="742950" y="191135"/>
                  <a:pt x="742950" y="196215"/>
                </a:cubicBezTo>
                <a:cubicBezTo>
                  <a:pt x="742950" y="202565"/>
                  <a:pt x="749300" y="205740"/>
                  <a:pt x="762000" y="205740"/>
                </a:cubicBezTo>
                <a:cubicBezTo>
                  <a:pt x="773430" y="205740"/>
                  <a:pt x="789940" y="202565"/>
                  <a:pt x="811530" y="196215"/>
                </a:cubicBezTo>
                <a:cubicBezTo>
                  <a:pt x="817880" y="198755"/>
                  <a:pt x="822960" y="203835"/>
                  <a:pt x="826770" y="211455"/>
                </a:cubicBezTo>
                <a:cubicBezTo>
                  <a:pt x="830580" y="219075"/>
                  <a:pt x="833755" y="224155"/>
                  <a:pt x="836295" y="226695"/>
                </a:cubicBezTo>
                <a:cubicBezTo>
                  <a:pt x="854075" y="234315"/>
                  <a:pt x="867410" y="239395"/>
                  <a:pt x="876300" y="241935"/>
                </a:cubicBezTo>
                <a:cubicBezTo>
                  <a:pt x="892810" y="254635"/>
                  <a:pt x="902970" y="269875"/>
                  <a:pt x="906780" y="287655"/>
                </a:cubicBezTo>
                <a:cubicBezTo>
                  <a:pt x="910590" y="291465"/>
                  <a:pt x="915988" y="297815"/>
                  <a:pt x="922973" y="306705"/>
                </a:cubicBezTo>
                <a:cubicBezTo>
                  <a:pt x="929958" y="315595"/>
                  <a:pt x="934720" y="323850"/>
                  <a:pt x="937260" y="331470"/>
                </a:cubicBezTo>
                <a:cubicBezTo>
                  <a:pt x="941070" y="336550"/>
                  <a:pt x="942975" y="340043"/>
                  <a:pt x="942975" y="341948"/>
                </a:cubicBezTo>
                <a:cubicBezTo>
                  <a:pt x="942975" y="343853"/>
                  <a:pt x="941070" y="347980"/>
                  <a:pt x="937260" y="354330"/>
                </a:cubicBezTo>
                <a:cubicBezTo>
                  <a:pt x="935990" y="360680"/>
                  <a:pt x="938213" y="367983"/>
                  <a:pt x="943928" y="376238"/>
                </a:cubicBezTo>
                <a:cubicBezTo>
                  <a:pt x="949643" y="384493"/>
                  <a:pt x="953135" y="390525"/>
                  <a:pt x="954405" y="394335"/>
                </a:cubicBezTo>
                <a:cubicBezTo>
                  <a:pt x="959485" y="398145"/>
                  <a:pt x="961708" y="402590"/>
                  <a:pt x="961073" y="407670"/>
                </a:cubicBezTo>
                <a:cubicBezTo>
                  <a:pt x="960438" y="412750"/>
                  <a:pt x="960120" y="415925"/>
                  <a:pt x="960120" y="417195"/>
                </a:cubicBezTo>
                <a:cubicBezTo>
                  <a:pt x="960120" y="421005"/>
                  <a:pt x="962025" y="424180"/>
                  <a:pt x="965835" y="426720"/>
                </a:cubicBezTo>
                <a:cubicBezTo>
                  <a:pt x="956945" y="430530"/>
                  <a:pt x="947420" y="434975"/>
                  <a:pt x="937260" y="440055"/>
                </a:cubicBezTo>
                <a:cubicBezTo>
                  <a:pt x="927100" y="445135"/>
                  <a:pt x="915670" y="449580"/>
                  <a:pt x="902970" y="453390"/>
                </a:cubicBezTo>
                <a:cubicBezTo>
                  <a:pt x="900430" y="453390"/>
                  <a:pt x="893763" y="454025"/>
                  <a:pt x="882968" y="455295"/>
                </a:cubicBezTo>
                <a:cubicBezTo>
                  <a:pt x="872173" y="456565"/>
                  <a:pt x="862965" y="459740"/>
                  <a:pt x="855345" y="464820"/>
                </a:cubicBezTo>
                <a:cubicBezTo>
                  <a:pt x="837565" y="466090"/>
                  <a:pt x="809625" y="471805"/>
                  <a:pt x="771525" y="481965"/>
                </a:cubicBezTo>
                <a:cubicBezTo>
                  <a:pt x="755015" y="489585"/>
                  <a:pt x="735648" y="494983"/>
                  <a:pt x="713423" y="498158"/>
                </a:cubicBezTo>
                <a:cubicBezTo>
                  <a:pt x="691198" y="501333"/>
                  <a:pt x="674370" y="504190"/>
                  <a:pt x="662940" y="506730"/>
                </a:cubicBezTo>
                <a:cubicBezTo>
                  <a:pt x="652780" y="513080"/>
                  <a:pt x="653098" y="515620"/>
                  <a:pt x="663893" y="514350"/>
                </a:cubicBezTo>
                <a:cubicBezTo>
                  <a:pt x="674688" y="513080"/>
                  <a:pt x="684530" y="510540"/>
                  <a:pt x="693420" y="506730"/>
                </a:cubicBezTo>
                <a:lnTo>
                  <a:pt x="720090" y="504825"/>
                </a:lnTo>
                <a:cubicBezTo>
                  <a:pt x="727710" y="504825"/>
                  <a:pt x="733425" y="506095"/>
                  <a:pt x="737235" y="508635"/>
                </a:cubicBezTo>
                <a:cubicBezTo>
                  <a:pt x="755015" y="522605"/>
                  <a:pt x="778510" y="536575"/>
                  <a:pt x="807720" y="550545"/>
                </a:cubicBezTo>
                <a:cubicBezTo>
                  <a:pt x="831850" y="568325"/>
                  <a:pt x="847725" y="579120"/>
                  <a:pt x="855345" y="582930"/>
                </a:cubicBezTo>
                <a:cubicBezTo>
                  <a:pt x="866775" y="600710"/>
                  <a:pt x="873760" y="612140"/>
                  <a:pt x="876300" y="617220"/>
                </a:cubicBezTo>
                <a:cubicBezTo>
                  <a:pt x="880110" y="636270"/>
                  <a:pt x="882015" y="646430"/>
                  <a:pt x="882015" y="647700"/>
                </a:cubicBezTo>
                <a:cubicBezTo>
                  <a:pt x="879475" y="651510"/>
                  <a:pt x="875665" y="656590"/>
                  <a:pt x="870585" y="662940"/>
                </a:cubicBezTo>
                <a:cubicBezTo>
                  <a:pt x="865505" y="669290"/>
                  <a:pt x="862330" y="675640"/>
                  <a:pt x="861060" y="681990"/>
                </a:cubicBezTo>
                <a:cubicBezTo>
                  <a:pt x="853440" y="689610"/>
                  <a:pt x="843598" y="694373"/>
                  <a:pt x="831533" y="696278"/>
                </a:cubicBezTo>
                <a:cubicBezTo>
                  <a:pt x="819468" y="698183"/>
                  <a:pt x="810260" y="699770"/>
                  <a:pt x="803910" y="701040"/>
                </a:cubicBezTo>
                <a:cubicBezTo>
                  <a:pt x="793750" y="697230"/>
                  <a:pt x="782320" y="694373"/>
                  <a:pt x="769620" y="692468"/>
                </a:cubicBezTo>
                <a:cubicBezTo>
                  <a:pt x="756920" y="690563"/>
                  <a:pt x="748030" y="688975"/>
                  <a:pt x="742950" y="687705"/>
                </a:cubicBezTo>
                <a:cubicBezTo>
                  <a:pt x="726440" y="687705"/>
                  <a:pt x="702945" y="690245"/>
                  <a:pt x="672465" y="695325"/>
                </a:cubicBezTo>
                <a:cubicBezTo>
                  <a:pt x="647065" y="704215"/>
                  <a:pt x="623570" y="709295"/>
                  <a:pt x="601980" y="710565"/>
                </a:cubicBezTo>
                <a:cubicBezTo>
                  <a:pt x="579120" y="715645"/>
                  <a:pt x="561975" y="720090"/>
                  <a:pt x="550545" y="723900"/>
                </a:cubicBezTo>
                <a:cubicBezTo>
                  <a:pt x="502285" y="737870"/>
                  <a:pt x="460375" y="745490"/>
                  <a:pt x="424815" y="746760"/>
                </a:cubicBezTo>
                <a:cubicBezTo>
                  <a:pt x="421005" y="748030"/>
                  <a:pt x="414655" y="748665"/>
                  <a:pt x="405765" y="748665"/>
                </a:cubicBezTo>
                <a:cubicBezTo>
                  <a:pt x="395605" y="748665"/>
                  <a:pt x="387033" y="748030"/>
                  <a:pt x="380048" y="746760"/>
                </a:cubicBezTo>
                <a:cubicBezTo>
                  <a:pt x="373063" y="745490"/>
                  <a:pt x="367030" y="744220"/>
                  <a:pt x="361950" y="742950"/>
                </a:cubicBezTo>
                <a:cubicBezTo>
                  <a:pt x="351790" y="740410"/>
                  <a:pt x="342265" y="734695"/>
                  <a:pt x="333375" y="725805"/>
                </a:cubicBezTo>
                <a:cubicBezTo>
                  <a:pt x="324485" y="716915"/>
                  <a:pt x="318770" y="711200"/>
                  <a:pt x="316230" y="708660"/>
                </a:cubicBezTo>
                <a:cubicBezTo>
                  <a:pt x="306070" y="703580"/>
                  <a:pt x="298450" y="694055"/>
                  <a:pt x="293370" y="680085"/>
                </a:cubicBezTo>
                <a:cubicBezTo>
                  <a:pt x="288290" y="675005"/>
                  <a:pt x="284480" y="664845"/>
                  <a:pt x="281940" y="649605"/>
                </a:cubicBezTo>
                <a:cubicBezTo>
                  <a:pt x="276860" y="644525"/>
                  <a:pt x="274320" y="638175"/>
                  <a:pt x="274320" y="630555"/>
                </a:cubicBezTo>
                <a:cubicBezTo>
                  <a:pt x="274320" y="622935"/>
                  <a:pt x="276225" y="616585"/>
                  <a:pt x="280035" y="611505"/>
                </a:cubicBezTo>
                <a:cubicBezTo>
                  <a:pt x="283845" y="606425"/>
                  <a:pt x="288925" y="603885"/>
                  <a:pt x="295275" y="603885"/>
                </a:cubicBezTo>
                <a:cubicBezTo>
                  <a:pt x="306705" y="605155"/>
                  <a:pt x="319723" y="604203"/>
                  <a:pt x="334328" y="601028"/>
                </a:cubicBezTo>
                <a:cubicBezTo>
                  <a:pt x="348933" y="597853"/>
                  <a:pt x="361315" y="595630"/>
                  <a:pt x="371475" y="594360"/>
                </a:cubicBezTo>
                <a:cubicBezTo>
                  <a:pt x="377825" y="590550"/>
                  <a:pt x="386398" y="587058"/>
                  <a:pt x="397193" y="583883"/>
                </a:cubicBezTo>
                <a:cubicBezTo>
                  <a:pt x="407988" y="580708"/>
                  <a:pt x="415925" y="578485"/>
                  <a:pt x="421005" y="577215"/>
                </a:cubicBezTo>
                <a:cubicBezTo>
                  <a:pt x="424815" y="568325"/>
                  <a:pt x="427990" y="553720"/>
                  <a:pt x="430530" y="533400"/>
                </a:cubicBezTo>
                <a:cubicBezTo>
                  <a:pt x="411480" y="521970"/>
                  <a:pt x="386715" y="516255"/>
                  <a:pt x="356235" y="516255"/>
                </a:cubicBezTo>
                <a:cubicBezTo>
                  <a:pt x="340995" y="516255"/>
                  <a:pt x="316865" y="518795"/>
                  <a:pt x="283845" y="523875"/>
                </a:cubicBezTo>
                <a:cubicBezTo>
                  <a:pt x="276225" y="525145"/>
                  <a:pt x="267335" y="526415"/>
                  <a:pt x="257175" y="527685"/>
                </a:cubicBezTo>
                <a:cubicBezTo>
                  <a:pt x="247015" y="528955"/>
                  <a:pt x="235585" y="529590"/>
                  <a:pt x="222885" y="529590"/>
                </a:cubicBezTo>
                <a:cubicBezTo>
                  <a:pt x="198755" y="513080"/>
                  <a:pt x="181610" y="503555"/>
                  <a:pt x="171450" y="501015"/>
                </a:cubicBezTo>
                <a:cubicBezTo>
                  <a:pt x="163830" y="490855"/>
                  <a:pt x="160020" y="479425"/>
                  <a:pt x="160020" y="466725"/>
                </a:cubicBezTo>
                <a:cubicBezTo>
                  <a:pt x="162560" y="460375"/>
                  <a:pt x="161608" y="453390"/>
                  <a:pt x="157163" y="445770"/>
                </a:cubicBezTo>
                <a:cubicBezTo>
                  <a:pt x="152718" y="438150"/>
                  <a:pt x="149860" y="431800"/>
                  <a:pt x="148590" y="426720"/>
                </a:cubicBezTo>
                <a:cubicBezTo>
                  <a:pt x="137160" y="412750"/>
                  <a:pt x="130175" y="401955"/>
                  <a:pt x="127635" y="394335"/>
                </a:cubicBezTo>
                <a:cubicBezTo>
                  <a:pt x="127635" y="391795"/>
                  <a:pt x="127635" y="387033"/>
                  <a:pt x="127635" y="380048"/>
                </a:cubicBezTo>
                <a:cubicBezTo>
                  <a:pt x="127635" y="373063"/>
                  <a:pt x="128905" y="366395"/>
                  <a:pt x="131445" y="360045"/>
                </a:cubicBezTo>
                <a:cubicBezTo>
                  <a:pt x="130175" y="353695"/>
                  <a:pt x="130810" y="349568"/>
                  <a:pt x="133350" y="347663"/>
                </a:cubicBezTo>
                <a:cubicBezTo>
                  <a:pt x="135890" y="345758"/>
                  <a:pt x="140970" y="344805"/>
                  <a:pt x="148590" y="344805"/>
                </a:cubicBezTo>
                <a:lnTo>
                  <a:pt x="177165" y="346710"/>
                </a:lnTo>
                <a:cubicBezTo>
                  <a:pt x="226695" y="336550"/>
                  <a:pt x="300990" y="325120"/>
                  <a:pt x="400050" y="312420"/>
                </a:cubicBezTo>
                <a:cubicBezTo>
                  <a:pt x="405130" y="311150"/>
                  <a:pt x="417513" y="306705"/>
                  <a:pt x="437198" y="299085"/>
                </a:cubicBezTo>
                <a:cubicBezTo>
                  <a:pt x="456883" y="291465"/>
                  <a:pt x="475615" y="286385"/>
                  <a:pt x="493395" y="283845"/>
                </a:cubicBezTo>
                <a:cubicBezTo>
                  <a:pt x="499745" y="281305"/>
                  <a:pt x="508635" y="278130"/>
                  <a:pt x="520065" y="274320"/>
                </a:cubicBezTo>
                <a:cubicBezTo>
                  <a:pt x="531495" y="270510"/>
                  <a:pt x="541020" y="267970"/>
                  <a:pt x="548640" y="266700"/>
                </a:cubicBezTo>
                <a:cubicBezTo>
                  <a:pt x="553720" y="259080"/>
                  <a:pt x="557213" y="250508"/>
                  <a:pt x="559118" y="240983"/>
                </a:cubicBezTo>
                <a:cubicBezTo>
                  <a:pt x="561023" y="231458"/>
                  <a:pt x="562610" y="225425"/>
                  <a:pt x="563880" y="222885"/>
                </a:cubicBezTo>
                <a:cubicBezTo>
                  <a:pt x="568960" y="207645"/>
                  <a:pt x="573405" y="196850"/>
                  <a:pt x="577215" y="190500"/>
                </a:cubicBezTo>
                <a:cubicBezTo>
                  <a:pt x="578485" y="181610"/>
                  <a:pt x="579120" y="169863"/>
                  <a:pt x="579120" y="155258"/>
                </a:cubicBezTo>
                <a:cubicBezTo>
                  <a:pt x="579120" y="140653"/>
                  <a:pt x="579755" y="128905"/>
                  <a:pt x="581025" y="120015"/>
                </a:cubicBezTo>
                <a:cubicBezTo>
                  <a:pt x="578485" y="112395"/>
                  <a:pt x="577215" y="105410"/>
                  <a:pt x="577215" y="99060"/>
                </a:cubicBezTo>
                <a:lnTo>
                  <a:pt x="579120" y="68580"/>
                </a:lnTo>
                <a:cubicBezTo>
                  <a:pt x="576580" y="62230"/>
                  <a:pt x="577215" y="53975"/>
                  <a:pt x="581025" y="43815"/>
                </a:cubicBezTo>
                <a:cubicBezTo>
                  <a:pt x="584835" y="33655"/>
                  <a:pt x="586740" y="26670"/>
                  <a:pt x="586740" y="22860"/>
                </a:cubicBezTo>
                <a:lnTo>
                  <a:pt x="586740" y="17145"/>
                </a:lnTo>
                <a:cubicBezTo>
                  <a:pt x="588010" y="12065"/>
                  <a:pt x="588963" y="8890"/>
                  <a:pt x="589598" y="7620"/>
                </a:cubicBezTo>
                <a:cubicBezTo>
                  <a:pt x="590233" y="6350"/>
                  <a:pt x="593090" y="6985"/>
                  <a:pt x="598170" y="9525"/>
                </a:cubicBezTo>
                <a:cubicBezTo>
                  <a:pt x="610870" y="12065"/>
                  <a:pt x="621665" y="9525"/>
                  <a:pt x="630555" y="1905"/>
                </a:cubicBezTo>
                <a:close/>
              </a:path>
            </a:pathLst>
          </a:custGeom>
          <a:solidFill>
            <a:schemeClr val="tx1">
              <a:lumMod val="85000"/>
              <a:lumOff val="1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sz="15000" dirty="0">
              <a:solidFill>
                <a:schemeClr val="tx1">
                  <a:lumMod val="85000"/>
                  <a:lumOff val="15000"/>
                </a:schemeClr>
              </a:solidFill>
              <a:latin typeface="字魂110号-武林江湖体" panose="00000500000000000000" pitchFamily="2" charset="-122"/>
              <a:ea typeface="字魂110号-武林江湖体" panose="00000500000000000000" pitchFamily="2" charset="-122"/>
            </a:endParaRPr>
          </a:p>
        </p:txBody>
      </p:sp>
      <p:grpSp>
        <p:nvGrpSpPr>
          <p:cNvPr id="24" name="组合 23"/>
          <p:cNvGrpSpPr/>
          <p:nvPr/>
        </p:nvGrpSpPr>
        <p:grpSpPr>
          <a:xfrm>
            <a:off x="7042154" y="3270027"/>
            <a:ext cx="2818130" cy="609600"/>
            <a:chOff x="6992923" y="2918908"/>
            <a:chExt cx="2818130" cy="609600"/>
          </a:xfrm>
        </p:grpSpPr>
        <p:sp>
          <p:nvSpPr>
            <p:cNvPr id="28" name="矩形 27"/>
            <p:cNvSpPr/>
            <p:nvPr/>
          </p:nvSpPr>
          <p:spPr>
            <a:xfrm>
              <a:off x="6992923" y="3035113"/>
              <a:ext cx="1594330" cy="306705"/>
            </a:xfrm>
            <a:prstGeom prst="rect">
              <a:avLst/>
            </a:prstGeom>
            <a:noFill/>
          </p:spPr>
          <p:txBody>
            <a:bodyPr wrap="square">
              <a:spAutoFit/>
            </a:bodyPr>
            <a:lstStyle/>
            <a:p>
              <a:endParaRPr lang="zh-CN" altLang="en-US" sz="1400" dirty="0">
                <a:solidFill>
                  <a:srgbClr val="333333"/>
                </a:solidFill>
                <a:latin typeface="等线" panose="02010600030101010101" charset="-122"/>
                <a:ea typeface="等线" panose="02010600030101010101" charset="-122"/>
              </a:endParaRPr>
            </a:p>
          </p:txBody>
        </p:sp>
        <p:sp>
          <p:nvSpPr>
            <p:cNvPr id="29" name="矩形 28"/>
            <p:cNvSpPr/>
            <p:nvPr/>
          </p:nvSpPr>
          <p:spPr>
            <a:xfrm>
              <a:off x="6992923" y="2918908"/>
              <a:ext cx="2818130" cy="609600"/>
            </a:xfrm>
            <a:prstGeom prst="rect">
              <a:avLst/>
            </a:prstGeom>
            <a:noFill/>
          </p:spPr>
          <p:txBody>
            <a:bodyPr wrap="square">
              <a:noAutofit/>
            </a:bodyPr>
            <a:lstStyle/>
            <a:p>
              <a:r>
                <a:rPr lang="zh-CN" altLang="en-US" sz="4000" dirty="0">
                  <a:solidFill>
                    <a:srgbClr val="6FB4BD"/>
                  </a:solidFill>
                  <a:latin typeface="华文新魏" panose="02010800040101010101" charset="-122"/>
                  <a:ea typeface="华文新魏" panose="02010800040101010101" charset="-122"/>
                  <a:sym typeface="+mn-ea"/>
                </a:rPr>
                <a:t>决策树</a:t>
              </a:r>
              <a:endParaRPr lang="en-US" altLang="zh-CN" sz="4000" dirty="0">
                <a:solidFill>
                  <a:srgbClr val="333333"/>
                </a:solidFill>
                <a:latin typeface="等线" panose="02010600030101010101" charset="-122"/>
                <a:ea typeface="等线" panose="02010600030101010101" charset="-122"/>
                <a:cs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descr="在地上&#10;&#10;低可信度描述已自动生成"/>
          <p:cNvPicPr>
            <a:picLocks noChangeAspect="1"/>
          </p:cNvPicPr>
          <p:nvPr/>
        </p:nvPicPr>
        <p:blipFill>
          <a:blip r:embed="rId1">
            <a:extLst>
              <a:ext uri="{28A0092B-C50C-407E-A947-70E740481C1C}">
                <a14:useLocalDpi xmlns:a14="http://schemas.microsoft.com/office/drawing/2010/main" val="0"/>
              </a:ext>
            </a:extLst>
          </a:blip>
          <a:srcRect t="18750" b="12524"/>
          <a:stretch>
            <a:fillRect/>
          </a:stretch>
        </p:blipFill>
        <p:spPr>
          <a:xfrm>
            <a:off x="0" y="2832100"/>
            <a:ext cx="12192000" cy="4025900"/>
          </a:xfrm>
          <a:custGeom>
            <a:avLst/>
            <a:gdLst>
              <a:gd name="connsiteX0" fmla="*/ 0 w 12192000"/>
              <a:gd name="connsiteY0" fmla="*/ 0 h 4025900"/>
              <a:gd name="connsiteX1" fmla="*/ 12192000 w 12192000"/>
              <a:gd name="connsiteY1" fmla="*/ 0 h 4025900"/>
              <a:gd name="connsiteX2" fmla="*/ 12192000 w 12192000"/>
              <a:gd name="connsiteY2" fmla="*/ 4025900 h 4025900"/>
              <a:gd name="connsiteX3" fmla="*/ 0 w 12192000"/>
              <a:gd name="connsiteY3" fmla="*/ 4025900 h 4025900"/>
            </a:gdLst>
            <a:ahLst/>
            <a:cxnLst>
              <a:cxn ang="0">
                <a:pos x="connsiteX0" y="connsiteY0"/>
              </a:cxn>
              <a:cxn ang="0">
                <a:pos x="connsiteX1" y="connsiteY1"/>
              </a:cxn>
              <a:cxn ang="0">
                <a:pos x="connsiteX2" y="connsiteY2"/>
              </a:cxn>
              <a:cxn ang="0">
                <a:pos x="connsiteX3" y="connsiteY3"/>
              </a:cxn>
            </a:cxnLst>
            <a:rect l="l" t="t" r="r" b="b"/>
            <a:pathLst>
              <a:path w="12192000" h="4025900">
                <a:moveTo>
                  <a:pt x="0" y="0"/>
                </a:moveTo>
                <a:lnTo>
                  <a:pt x="12192000" y="0"/>
                </a:lnTo>
                <a:lnTo>
                  <a:pt x="12192000" y="4025900"/>
                </a:lnTo>
                <a:lnTo>
                  <a:pt x="0" y="4025900"/>
                </a:lnTo>
                <a:close/>
              </a:path>
            </a:pathLst>
          </a:custGeom>
        </p:spPr>
      </p:pic>
      <p:grpSp>
        <p:nvGrpSpPr>
          <p:cNvPr id="36" name="组合 35"/>
          <p:cNvGrpSpPr/>
          <p:nvPr/>
        </p:nvGrpSpPr>
        <p:grpSpPr>
          <a:xfrm rot="0">
            <a:off x="265430" y="302260"/>
            <a:ext cx="5536565" cy="6136640"/>
            <a:chOff x="-5200593" y="1133320"/>
            <a:chExt cx="5430943" cy="6136027"/>
          </a:xfrm>
        </p:grpSpPr>
        <p:sp>
          <p:nvSpPr>
            <p:cNvPr id="38" name="文本框 37"/>
            <p:cNvSpPr txBox="1"/>
            <p:nvPr/>
          </p:nvSpPr>
          <p:spPr>
            <a:xfrm>
              <a:off x="-5200593" y="1532060"/>
              <a:ext cx="5430943" cy="5737287"/>
            </a:xfrm>
            <a:prstGeom prst="rect">
              <a:avLst/>
            </a:prstGeom>
            <a:noFill/>
          </p:spPr>
          <p:txBody>
            <a:bodyPr wrap="square" rtlCol="0">
              <a:noAutofit/>
            </a:bodyPr>
            <a:lstStyle>
              <a:defPPr>
                <a:defRPr lang="zh-CN"/>
              </a:defPPr>
              <a:lvl1pPr algn="ctr">
                <a:lnSpc>
                  <a:spcPct val="150000"/>
                </a:lnSpc>
                <a:defRPr sz="1300">
                  <a:solidFill>
                    <a:schemeClr val="tx1">
                      <a:lumMod val="85000"/>
                      <a:lumOff val="15000"/>
                    </a:schemeClr>
                  </a:solidFill>
                  <a:latin typeface="Noto Sans S Chinese Light" panose="020B0300000000000000" pitchFamily="34" charset="-122"/>
                  <a:ea typeface="Noto Sans S Chinese Light" panose="020B0300000000000000" pitchFamily="34" charset="-122"/>
                  <a:cs typeface="Calibri" panose="020F0502020204030204" charset="0"/>
                </a:defRPr>
              </a:lvl1pPr>
            </a:lstStyle>
            <a:p>
              <a:pPr marL="342900" indent="-342900" algn="just" fontAlgn="auto">
                <a:lnSpc>
                  <a:spcPct val="150000"/>
                </a:lnSpc>
                <a:buFont typeface="Wingdings" panose="05000000000000000000" charset="0"/>
                <a:buChar char="Ø"/>
              </a:pPr>
              <a:r>
                <a:rPr lang="zh-CN" altLang="en-US" sz="1800" dirty="0">
                  <a:latin typeface="+mn-ea"/>
                  <a:ea typeface="+mn-ea"/>
                  <a:cs typeface="Times New Roman" panose="02020603050405020304" charset="0"/>
                  <a:sym typeface="+mn-ea"/>
                </a:rPr>
                <a:t>决策树：从训练数据中学习得出一个树状结构的模型。</a:t>
              </a:r>
              <a:endParaRPr lang="zh-CN" altLang="en-US" sz="1800" dirty="0">
                <a:latin typeface="+mn-ea"/>
                <a:ea typeface="+mn-ea"/>
                <a:cs typeface="Times New Roman" panose="02020603050405020304" charset="0"/>
                <a:sym typeface="+mn-ea"/>
              </a:endParaRPr>
            </a:p>
            <a:p>
              <a:pPr marL="342900" indent="-342900" algn="just" fontAlgn="auto">
                <a:lnSpc>
                  <a:spcPct val="150000"/>
                </a:lnSpc>
                <a:buFont typeface="Wingdings" panose="05000000000000000000" charset="0"/>
                <a:buChar char="Ø"/>
              </a:pPr>
              <a:r>
                <a:rPr lang="zh-CN" altLang="en-US" sz="1800" dirty="0">
                  <a:latin typeface="+mn-ea"/>
                  <a:ea typeface="+mn-ea"/>
                  <a:cs typeface="Times New Roman" panose="02020603050405020304" charset="0"/>
                  <a:sym typeface="+mn-ea"/>
                </a:rPr>
                <a:t>决策树属于</a:t>
              </a:r>
              <a:r>
                <a:rPr lang="zh-CN" altLang="en-US" sz="1800" dirty="0">
                  <a:solidFill>
                    <a:srgbClr val="FF0000"/>
                  </a:solidFill>
                  <a:latin typeface="+mn-ea"/>
                  <a:ea typeface="+mn-ea"/>
                  <a:cs typeface="Times New Roman" panose="02020603050405020304" charset="0"/>
                  <a:sym typeface="+mn-ea"/>
                </a:rPr>
                <a:t>判别模型</a:t>
              </a:r>
              <a:r>
                <a:rPr lang="zh-CN" altLang="en-US" sz="1800" dirty="0">
                  <a:latin typeface="+mn-ea"/>
                  <a:ea typeface="+mn-ea"/>
                  <a:cs typeface="Times New Roman" panose="02020603050405020304" charset="0"/>
                  <a:sym typeface="+mn-ea"/>
                </a:rPr>
                <a:t>。</a:t>
              </a:r>
              <a:endParaRPr lang="zh-CN" altLang="en-US" sz="1800" dirty="0">
                <a:latin typeface="+mn-ea"/>
                <a:ea typeface="+mn-ea"/>
                <a:cs typeface="Times New Roman" panose="02020603050405020304" charset="0"/>
                <a:sym typeface="+mn-ea"/>
              </a:endParaRPr>
            </a:p>
            <a:p>
              <a:pPr marL="342900" indent="-342900" algn="just" fontAlgn="auto">
                <a:lnSpc>
                  <a:spcPct val="150000"/>
                </a:lnSpc>
                <a:buFont typeface="Wingdings" panose="05000000000000000000" charset="0"/>
                <a:buChar char="Ø"/>
              </a:pPr>
              <a:r>
                <a:rPr lang="zh-CN" altLang="en-US" sz="1800" dirty="0">
                  <a:latin typeface="+mn-ea"/>
                  <a:ea typeface="+mn-ea"/>
                  <a:cs typeface="Times New Roman" panose="02020603050405020304" charset="0"/>
                  <a:sym typeface="+mn-ea"/>
                </a:rPr>
                <a:t>决策树是一种树状结构，通过做出一系列决策（选择）来对数据进行划分，这类似于针对一系列问题进行选择。</a:t>
              </a:r>
              <a:endParaRPr lang="zh-CN" altLang="en-US" sz="1800" dirty="0">
                <a:latin typeface="+mn-ea"/>
                <a:ea typeface="+mn-ea"/>
                <a:cs typeface="Times New Roman" panose="02020603050405020304" charset="0"/>
                <a:sym typeface="+mn-ea"/>
              </a:endParaRPr>
            </a:p>
            <a:p>
              <a:pPr marL="285750" indent="-285750" algn="l" fontAlgn="auto">
                <a:lnSpc>
                  <a:spcPct val="150000"/>
                </a:lnSpc>
                <a:buFont typeface="Wingdings" panose="05000000000000000000" charset="0"/>
                <a:buChar char="Ø"/>
              </a:pPr>
              <a:r>
                <a:rPr lang="zh-CN" altLang="en-US" sz="1800">
                  <a:latin typeface="+mn-ea"/>
                  <a:ea typeface="+mn-ea"/>
                  <a:sym typeface="+mn-ea"/>
                </a:rPr>
                <a:t>从结构上看，决策树的起始点叫做</a:t>
              </a:r>
              <a:r>
                <a:rPr lang="zh-CN" altLang="en-US" sz="1800" u="sng">
                  <a:solidFill>
                    <a:schemeClr val="tx1"/>
                  </a:solidFill>
                  <a:latin typeface="+mn-ea"/>
                  <a:ea typeface="+mn-ea"/>
                  <a:sym typeface="+mn-ea"/>
                </a:rPr>
                <a:t>根节点</a:t>
              </a:r>
              <a:r>
                <a:rPr lang="zh-CN" altLang="en-US" sz="1800">
                  <a:latin typeface="+mn-ea"/>
                  <a:ea typeface="+mn-ea"/>
                  <a:sym typeface="+mn-ea"/>
                </a:rPr>
                <a:t>，根节点是没有入边但是有多条出边的节点；中间决策流程称为</a:t>
              </a:r>
              <a:r>
                <a:rPr lang="zh-CN" altLang="en-US" sz="1800" u="sng">
                  <a:latin typeface="+mn-ea"/>
                  <a:ea typeface="+mn-ea"/>
                  <a:sym typeface="+mn-ea"/>
                </a:rPr>
                <a:t>内部节点</a:t>
              </a:r>
              <a:r>
                <a:rPr lang="zh-CN" altLang="en-US" sz="1800">
                  <a:latin typeface="+mn-ea"/>
                  <a:ea typeface="+mn-ea"/>
                  <a:sym typeface="+mn-ea"/>
                </a:rPr>
                <a:t>，有一条入边多条出边；分类结果叫做</a:t>
              </a:r>
              <a:r>
                <a:rPr lang="zh-CN" altLang="en-US" sz="1800" u="sng">
                  <a:latin typeface="+mn-ea"/>
                  <a:ea typeface="+mn-ea"/>
                  <a:sym typeface="+mn-ea"/>
                </a:rPr>
                <a:t>叶结点</a:t>
              </a:r>
              <a:r>
                <a:rPr lang="zh-CN" altLang="en-US" sz="1800">
                  <a:latin typeface="+mn-ea"/>
                  <a:ea typeface="+mn-ea"/>
                  <a:sym typeface="+mn-ea"/>
                </a:rPr>
                <a:t>，有一条入边没有出边。</a:t>
              </a:r>
              <a:endParaRPr lang="zh-CN" altLang="en-US" sz="1800">
                <a:latin typeface="+mn-ea"/>
                <a:ea typeface="+mn-ea"/>
                <a:sym typeface="+mn-ea"/>
              </a:endParaRPr>
            </a:p>
            <a:p>
              <a:pPr marL="285750" indent="-285750" algn="l" fontAlgn="auto">
                <a:lnSpc>
                  <a:spcPct val="150000"/>
                </a:lnSpc>
                <a:buFont typeface="Wingdings" panose="05000000000000000000" charset="0"/>
                <a:buChar char="Ø"/>
              </a:pPr>
              <a:r>
                <a:rPr lang="zh-CN" altLang="en-US" sz="1800" dirty="0">
                  <a:latin typeface="+mn-ea"/>
                  <a:ea typeface="+mn-ea"/>
                  <a:cs typeface="Times New Roman" panose="02020603050405020304" charset="0"/>
                  <a:sym typeface="+mn-ea"/>
                </a:rPr>
                <a:t>决策树的决策过程就是从根节点开始，测试待分类项中对应的特征属性，并按照其值选择输出分支，直到叶子节点，将叶子节点的存放的类别作为决策结果。</a:t>
              </a:r>
              <a:endParaRPr lang="zh-CN" altLang="en-US" sz="1800">
                <a:latin typeface="+mn-ea"/>
                <a:ea typeface="+mn-ea"/>
              </a:endParaRPr>
            </a:p>
            <a:p>
              <a:pPr marL="342900" indent="-342900" algn="just">
                <a:lnSpc>
                  <a:spcPct val="150000"/>
                </a:lnSpc>
                <a:buFont typeface="Wingdings" panose="05000000000000000000" charset="0"/>
                <a:buChar char="Ø"/>
              </a:pPr>
              <a:endParaRPr lang="zh-CN" altLang="en-US" sz="1800" b="1" dirty="0">
                <a:solidFill>
                  <a:schemeClr val="tx1">
                    <a:lumMod val="75000"/>
                    <a:lumOff val="25000"/>
                  </a:schemeClr>
                </a:solidFill>
                <a:latin typeface="+mn-ea"/>
                <a:ea typeface="+mn-ea"/>
                <a:cs typeface="Times New Roman" panose="02020603050405020304" charset="0"/>
                <a:sym typeface="+mn-ea"/>
              </a:endParaRPr>
            </a:p>
          </p:txBody>
        </p:sp>
        <p:sp>
          <p:nvSpPr>
            <p:cNvPr id="39" name="文本框 38"/>
            <p:cNvSpPr txBox="1"/>
            <p:nvPr/>
          </p:nvSpPr>
          <p:spPr>
            <a:xfrm>
              <a:off x="-5200593" y="1133320"/>
              <a:ext cx="2547304" cy="398740"/>
            </a:xfrm>
            <a:prstGeom prst="rect">
              <a:avLst/>
            </a:prstGeom>
            <a:noFill/>
          </p:spPr>
          <p:txBody>
            <a:bodyPr wrap="square" rtlCol="0">
              <a:spAutoFit/>
            </a:bodyPr>
            <a:lstStyle>
              <a:defPPr>
                <a:defRPr lang="zh-CN"/>
              </a:defPPr>
              <a:lvl1pPr algn="ctr">
                <a:lnSpc>
                  <a:spcPct val="150000"/>
                </a:lnSpc>
                <a:defRPr sz="1600" b="1">
                  <a:solidFill>
                    <a:srgbClr val="020202"/>
                  </a:solidFill>
                  <a:latin typeface="Noto Sans S Chinese Light" panose="020B0300000000000000" pitchFamily="34" charset="-122"/>
                  <a:ea typeface="Noto Sans S Chinese Light" panose="020B0300000000000000" pitchFamily="34" charset="-122"/>
                  <a:cs typeface="Calibri" panose="020F0502020204030204" charset="0"/>
                </a:defRPr>
              </a:lvl1pPr>
            </a:lstStyle>
            <a:p>
              <a:pPr algn="l">
                <a:lnSpc>
                  <a:spcPct val="100000"/>
                </a:lnSpc>
              </a:pPr>
              <a:r>
                <a:rPr lang="zh-CN" altLang="en-US" sz="2000" dirty="0">
                  <a:solidFill>
                    <a:srgbClr val="6FB4BD"/>
                  </a:solidFill>
                </a:rPr>
                <a:t>一、基本概念：</a:t>
              </a:r>
              <a:endParaRPr lang="zh-CN" altLang="en-US" sz="2000" dirty="0">
                <a:solidFill>
                  <a:srgbClr val="6FB4BD"/>
                </a:solidFill>
              </a:endParaRPr>
            </a:p>
          </p:txBody>
        </p:sp>
      </p:grpSp>
      <p:pic>
        <p:nvPicPr>
          <p:cNvPr id="13" name="图片 12"/>
          <p:cNvPicPr>
            <a:picLocks noChangeAspect="1"/>
          </p:cNvPicPr>
          <p:nvPr>
            <p:custDataLst>
              <p:tags r:id="rId2"/>
            </p:custDataLst>
          </p:nvPr>
        </p:nvPicPr>
        <p:blipFill>
          <a:blip r:embed="rId3"/>
          <a:stretch>
            <a:fillRect/>
          </a:stretch>
        </p:blipFill>
        <p:spPr>
          <a:xfrm>
            <a:off x="5876290" y="1309370"/>
            <a:ext cx="6096000" cy="42392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descr="在地上&#10;&#10;低可信度描述已自动生成"/>
          <p:cNvPicPr>
            <a:picLocks noChangeAspect="1"/>
          </p:cNvPicPr>
          <p:nvPr/>
        </p:nvPicPr>
        <p:blipFill>
          <a:blip r:embed="rId1">
            <a:extLst>
              <a:ext uri="{28A0092B-C50C-407E-A947-70E740481C1C}">
                <a14:useLocalDpi xmlns:a14="http://schemas.microsoft.com/office/drawing/2010/main" val="0"/>
              </a:ext>
            </a:extLst>
          </a:blip>
          <a:srcRect t="18750" b="12524"/>
          <a:stretch>
            <a:fillRect/>
          </a:stretch>
        </p:blipFill>
        <p:spPr>
          <a:xfrm>
            <a:off x="0" y="2832100"/>
            <a:ext cx="12192000" cy="4025900"/>
          </a:xfrm>
          <a:custGeom>
            <a:avLst/>
            <a:gdLst>
              <a:gd name="connsiteX0" fmla="*/ 0 w 12192000"/>
              <a:gd name="connsiteY0" fmla="*/ 0 h 4025900"/>
              <a:gd name="connsiteX1" fmla="*/ 12192000 w 12192000"/>
              <a:gd name="connsiteY1" fmla="*/ 0 h 4025900"/>
              <a:gd name="connsiteX2" fmla="*/ 12192000 w 12192000"/>
              <a:gd name="connsiteY2" fmla="*/ 4025900 h 4025900"/>
              <a:gd name="connsiteX3" fmla="*/ 0 w 12192000"/>
              <a:gd name="connsiteY3" fmla="*/ 4025900 h 4025900"/>
            </a:gdLst>
            <a:ahLst/>
            <a:cxnLst>
              <a:cxn ang="0">
                <a:pos x="connsiteX0" y="connsiteY0"/>
              </a:cxn>
              <a:cxn ang="0">
                <a:pos x="connsiteX1" y="connsiteY1"/>
              </a:cxn>
              <a:cxn ang="0">
                <a:pos x="connsiteX2" y="connsiteY2"/>
              </a:cxn>
              <a:cxn ang="0">
                <a:pos x="connsiteX3" y="connsiteY3"/>
              </a:cxn>
            </a:cxnLst>
            <a:rect l="l" t="t" r="r" b="b"/>
            <a:pathLst>
              <a:path w="12192000" h="4025900">
                <a:moveTo>
                  <a:pt x="0" y="0"/>
                </a:moveTo>
                <a:lnTo>
                  <a:pt x="12192000" y="0"/>
                </a:lnTo>
                <a:lnTo>
                  <a:pt x="12192000" y="4025900"/>
                </a:lnTo>
                <a:lnTo>
                  <a:pt x="0" y="4025900"/>
                </a:lnTo>
                <a:close/>
              </a:path>
            </a:pathLst>
          </a:custGeom>
        </p:spPr>
      </p:pic>
      <p:grpSp>
        <p:nvGrpSpPr>
          <p:cNvPr id="36" name="组合 35"/>
          <p:cNvGrpSpPr/>
          <p:nvPr/>
        </p:nvGrpSpPr>
        <p:grpSpPr>
          <a:xfrm rot="0">
            <a:off x="265430" y="302260"/>
            <a:ext cx="4824095" cy="6167755"/>
            <a:chOff x="-5200593" y="1133320"/>
            <a:chExt cx="4681074" cy="6167139"/>
          </a:xfrm>
        </p:grpSpPr>
        <p:sp>
          <p:nvSpPr>
            <p:cNvPr id="38" name="文本框 37"/>
            <p:cNvSpPr txBox="1"/>
            <p:nvPr/>
          </p:nvSpPr>
          <p:spPr>
            <a:xfrm>
              <a:off x="-5200593" y="1563172"/>
              <a:ext cx="4681074" cy="5737287"/>
            </a:xfrm>
            <a:prstGeom prst="rect">
              <a:avLst/>
            </a:prstGeom>
            <a:noFill/>
          </p:spPr>
          <p:txBody>
            <a:bodyPr wrap="square" rtlCol="0">
              <a:noAutofit/>
            </a:bodyPr>
            <a:lstStyle>
              <a:defPPr>
                <a:defRPr lang="zh-CN"/>
              </a:defPPr>
              <a:lvl1pPr algn="ctr">
                <a:lnSpc>
                  <a:spcPct val="150000"/>
                </a:lnSpc>
                <a:defRPr sz="1300">
                  <a:solidFill>
                    <a:schemeClr val="tx1">
                      <a:lumMod val="85000"/>
                      <a:lumOff val="15000"/>
                    </a:schemeClr>
                  </a:solidFill>
                  <a:latin typeface="Noto Sans S Chinese Light" panose="020B0300000000000000" pitchFamily="34" charset="-122"/>
                  <a:ea typeface="Noto Sans S Chinese Light" panose="020B0300000000000000" pitchFamily="34" charset="-122"/>
                  <a:cs typeface="Calibri" panose="020F0502020204030204" charset="0"/>
                </a:defRPr>
              </a:lvl1pPr>
            </a:lstStyle>
            <a:p>
              <a:pPr marL="285750" indent="-285750" algn="just">
                <a:lnSpc>
                  <a:spcPct val="150000"/>
                </a:lnSpc>
                <a:buFont typeface="Wingdings" panose="05000000000000000000" charset="0"/>
                <a:buChar char="Ø"/>
              </a:pPr>
              <a:r>
                <a:rPr lang="zh-CN" altLang="en-US" sz="2000" dirty="0">
                  <a:latin typeface="+mn-ea"/>
                  <a:ea typeface="+mn-ea"/>
                  <a:cs typeface="Times New Roman" panose="02020603050405020304" charset="0"/>
                  <a:sym typeface="+mn-ea"/>
                </a:rPr>
                <a:t>决策树算法是一种归纳分类算法，它通过对训练集的学习，挖掘出有用的规则，用于对新数据进行预测。</a:t>
              </a:r>
              <a:endParaRPr lang="zh-CN" altLang="en-US" sz="2000" dirty="0">
                <a:solidFill>
                  <a:schemeClr val="tx1">
                    <a:lumMod val="85000"/>
                    <a:lumOff val="15000"/>
                  </a:schemeClr>
                </a:solidFill>
                <a:latin typeface="+mn-ea"/>
                <a:ea typeface="+mn-ea"/>
                <a:cs typeface="Times New Roman" panose="02020603050405020304" charset="0"/>
              </a:endParaRPr>
            </a:p>
            <a:p>
              <a:pPr marL="285750" indent="-285750" algn="just">
                <a:lnSpc>
                  <a:spcPct val="150000"/>
                </a:lnSpc>
                <a:buFont typeface="Wingdings" panose="05000000000000000000" charset="0"/>
                <a:buChar char="Ø"/>
              </a:pPr>
              <a:r>
                <a:rPr lang="zh-CN" altLang="en-US" sz="2000" dirty="0">
                  <a:latin typeface="+mn-ea"/>
                  <a:ea typeface="+mn-ea"/>
                  <a:cs typeface="Times New Roman" panose="02020603050405020304" charset="0"/>
                  <a:sym typeface="+mn-ea"/>
                </a:rPr>
                <a:t>决策树算法属于</a:t>
              </a:r>
              <a:r>
                <a:rPr lang="zh-CN" altLang="en-US" sz="2000" dirty="0">
                  <a:solidFill>
                    <a:srgbClr val="FF0000"/>
                  </a:solidFill>
                  <a:latin typeface="+mn-ea"/>
                  <a:ea typeface="+mn-ea"/>
                  <a:cs typeface="Times New Roman" panose="02020603050405020304" charset="0"/>
                  <a:sym typeface="+mn-ea"/>
                </a:rPr>
                <a:t>监督学习</a:t>
              </a:r>
              <a:r>
                <a:rPr lang="zh-CN" altLang="en-US" sz="2000" dirty="0">
                  <a:latin typeface="+mn-ea"/>
                  <a:ea typeface="+mn-ea"/>
                  <a:cs typeface="Times New Roman" panose="02020603050405020304" charset="0"/>
                  <a:sym typeface="+mn-ea"/>
                </a:rPr>
                <a:t>方法。</a:t>
              </a:r>
              <a:endParaRPr lang="en-US" altLang="zh-CN" sz="2000" dirty="0">
                <a:solidFill>
                  <a:schemeClr val="tx1">
                    <a:lumMod val="85000"/>
                    <a:lumOff val="15000"/>
                  </a:schemeClr>
                </a:solidFill>
                <a:latin typeface="+mn-ea"/>
                <a:ea typeface="+mn-ea"/>
              </a:endParaRPr>
            </a:p>
            <a:p>
              <a:pPr marL="285750" indent="-285750" algn="just">
                <a:lnSpc>
                  <a:spcPct val="150000"/>
                </a:lnSpc>
                <a:buFont typeface="Wingdings" panose="05000000000000000000" charset="0"/>
                <a:buChar char="Ø"/>
              </a:pPr>
              <a:r>
                <a:rPr lang="zh-CN" altLang="en-US" sz="2000" dirty="0">
                  <a:latin typeface="+mn-ea"/>
                  <a:ea typeface="+mn-ea"/>
                  <a:cs typeface="+mn-ea"/>
                  <a:sym typeface="+mn-ea"/>
                </a:rPr>
                <a:t>决策树归纳的基本算法是贪心算法，自顶向下来构建决策树。</a:t>
              </a:r>
              <a:endParaRPr lang="zh-CN" altLang="en-US" sz="2000" dirty="0">
                <a:latin typeface="+mn-ea"/>
                <a:ea typeface="+mn-ea"/>
                <a:cs typeface="+mn-ea"/>
                <a:sym typeface="+mn-ea"/>
              </a:endParaRPr>
            </a:p>
            <a:p>
              <a:pPr marL="285750" indent="-285750" algn="just">
                <a:lnSpc>
                  <a:spcPct val="150000"/>
                </a:lnSpc>
                <a:buFont typeface="Wingdings" panose="05000000000000000000" charset="0"/>
                <a:buChar char="Ø"/>
              </a:pPr>
              <a:r>
                <a:rPr lang="zh-CN" altLang="en-US" sz="2000" dirty="0">
                  <a:latin typeface="+mn-ea"/>
                  <a:ea typeface="+mn-ea"/>
                  <a:cs typeface="+mn-ea"/>
                  <a:sym typeface="+mn-ea"/>
                </a:rPr>
                <a:t>贪心算法：在每一步选择中都采取在当前状态下最好</a:t>
              </a:r>
              <a:r>
                <a:rPr lang="en-US" altLang="zh-CN" sz="2000" dirty="0">
                  <a:latin typeface="+mn-ea"/>
                  <a:ea typeface="+mn-ea"/>
                  <a:cs typeface="+mn-ea"/>
                  <a:sym typeface="+mn-ea"/>
                </a:rPr>
                <a:t>/</a:t>
              </a:r>
              <a:r>
                <a:rPr lang="zh-CN" altLang="en-US" sz="2000" dirty="0">
                  <a:latin typeface="+mn-ea"/>
                  <a:ea typeface="+mn-ea"/>
                  <a:cs typeface="+mn-ea"/>
                  <a:sym typeface="+mn-ea"/>
                </a:rPr>
                <a:t>优的选择。</a:t>
              </a:r>
              <a:endParaRPr lang="zh-CN" altLang="en-US" sz="2000" dirty="0">
                <a:latin typeface="+mn-ea"/>
                <a:ea typeface="+mn-ea"/>
                <a:cs typeface="+mn-ea"/>
                <a:sym typeface="+mn-ea"/>
              </a:endParaRPr>
            </a:p>
            <a:p>
              <a:pPr marL="285750" indent="-285750" algn="just">
                <a:lnSpc>
                  <a:spcPct val="150000"/>
                </a:lnSpc>
                <a:buFont typeface="Wingdings" panose="05000000000000000000" charset="0"/>
                <a:buChar char="Ø"/>
              </a:pPr>
              <a:r>
                <a:rPr lang="zh-CN" altLang="en-US" sz="2000" dirty="0">
                  <a:latin typeface="+mn-ea"/>
                  <a:ea typeface="+mn-ea"/>
                  <a:cs typeface="+mn-ea"/>
                  <a:sym typeface="+mn-ea"/>
                </a:rPr>
                <a:t>在决策树的生成过程中，分割方法即</a:t>
              </a:r>
              <a:r>
                <a:rPr lang="zh-CN" altLang="en-US" sz="2000" dirty="0">
                  <a:solidFill>
                    <a:srgbClr val="FF0000"/>
                  </a:solidFill>
                  <a:latin typeface="+mn-ea"/>
                  <a:ea typeface="+mn-ea"/>
                  <a:cs typeface="+mn-ea"/>
                  <a:sym typeface="+mn-ea"/>
                </a:rPr>
                <a:t>属性选择的度量</a:t>
              </a:r>
              <a:r>
                <a:rPr lang="zh-CN" altLang="en-US" sz="2000" dirty="0">
                  <a:latin typeface="+mn-ea"/>
                  <a:ea typeface="+mn-ea"/>
                  <a:cs typeface="+mn-ea"/>
                  <a:sym typeface="+mn-ea"/>
                </a:rPr>
                <a:t>是关键。</a:t>
              </a:r>
              <a:endParaRPr lang="zh-CN" altLang="en-US" sz="2000" b="1" dirty="0">
                <a:solidFill>
                  <a:schemeClr val="tx1">
                    <a:lumMod val="75000"/>
                    <a:lumOff val="25000"/>
                  </a:schemeClr>
                </a:solidFill>
                <a:latin typeface="+mn-ea"/>
                <a:ea typeface="+mn-ea"/>
                <a:cs typeface="+mn-ea"/>
                <a:sym typeface="+mn-ea"/>
              </a:endParaRPr>
            </a:p>
          </p:txBody>
        </p:sp>
        <p:sp>
          <p:nvSpPr>
            <p:cNvPr id="39" name="文本框 38"/>
            <p:cNvSpPr txBox="1"/>
            <p:nvPr/>
          </p:nvSpPr>
          <p:spPr>
            <a:xfrm>
              <a:off x="-5200593" y="1133320"/>
              <a:ext cx="2547304" cy="398740"/>
            </a:xfrm>
            <a:prstGeom prst="rect">
              <a:avLst/>
            </a:prstGeom>
            <a:noFill/>
          </p:spPr>
          <p:txBody>
            <a:bodyPr wrap="square" rtlCol="0">
              <a:spAutoFit/>
            </a:bodyPr>
            <a:lstStyle>
              <a:defPPr>
                <a:defRPr lang="zh-CN"/>
              </a:defPPr>
              <a:lvl1pPr algn="ctr">
                <a:lnSpc>
                  <a:spcPct val="150000"/>
                </a:lnSpc>
                <a:defRPr sz="1600" b="1">
                  <a:solidFill>
                    <a:srgbClr val="020202"/>
                  </a:solidFill>
                  <a:latin typeface="Noto Sans S Chinese Light" panose="020B0300000000000000" pitchFamily="34" charset="-122"/>
                  <a:ea typeface="Noto Sans S Chinese Light" panose="020B0300000000000000" pitchFamily="34" charset="-122"/>
                  <a:cs typeface="Calibri" panose="020F0502020204030204" charset="0"/>
                </a:defRPr>
              </a:lvl1pPr>
            </a:lstStyle>
            <a:p>
              <a:pPr algn="l">
                <a:lnSpc>
                  <a:spcPct val="100000"/>
                </a:lnSpc>
              </a:pPr>
              <a:r>
                <a:rPr lang="zh-CN" altLang="en-US" sz="2000" dirty="0">
                  <a:solidFill>
                    <a:srgbClr val="6FB4BD"/>
                  </a:solidFill>
                </a:rPr>
                <a:t>一、基本概念：</a:t>
              </a:r>
              <a:endParaRPr lang="zh-CN" altLang="en-US" sz="2000" dirty="0">
                <a:solidFill>
                  <a:srgbClr val="6FB4BD"/>
                </a:solidFill>
              </a:endParaRPr>
            </a:p>
          </p:txBody>
        </p:sp>
      </p:grpSp>
      <p:sp>
        <p:nvSpPr>
          <p:cNvPr id="2" name="文本框 1"/>
          <p:cNvSpPr txBox="1"/>
          <p:nvPr/>
        </p:nvSpPr>
        <p:spPr>
          <a:xfrm>
            <a:off x="5614035" y="732155"/>
            <a:ext cx="6102350" cy="5136515"/>
          </a:xfrm>
          <a:prstGeom prst="rect">
            <a:avLst/>
          </a:prstGeom>
          <a:noFill/>
        </p:spPr>
        <p:txBody>
          <a:bodyPr wrap="square" rtlCol="0">
            <a:noAutofit/>
          </a:bodyPr>
          <a:p>
            <a:pPr>
              <a:lnSpc>
                <a:spcPct val="120000"/>
              </a:lnSpc>
            </a:pPr>
            <a:r>
              <a:rPr lang="zh-CN" altLang="en-US" sz="2400" b="1" dirty="0">
                <a:solidFill>
                  <a:srgbClr val="000000"/>
                </a:solidFill>
                <a:latin typeface="+mn-ea"/>
                <a:sym typeface="+mn-ea"/>
              </a:rPr>
              <a:t>决策树的特点</a:t>
            </a:r>
            <a:endParaRPr lang="zh-CN" altLang="en-US" sz="2400" b="1" dirty="0">
              <a:solidFill>
                <a:srgbClr val="000000"/>
              </a:solidFill>
              <a:latin typeface="+mn-ea"/>
              <a:sym typeface="+mn-ea"/>
            </a:endParaRPr>
          </a:p>
          <a:p>
            <a:pPr>
              <a:lnSpc>
                <a:spcPct val="120000"/>
              </a:lnSpc>
            </a:pPr>
            <a:endParaRPr lang="zh-CN" altLang="en-US" sz="2000" b="1" dirty="0">
              <a:solidFill>
                <a:srgbClr val="000000"/>
              </a:solidFill>
              <a:latin typeface="+mn-ea"/>
              <a:sym typeface="+mn-ea"/>
            </a:endParaRPr>
          </a:p>
          <a:p>
            <a:pPr algn="just">
              <a:lnSpc>
                <a:spcPct val="120000"/>
              </a:lnSpc>
            </a:pPr>
            <a:r>
              <a:rPr lang="zh-CN" altLang="en-US" sz="2000" dirty="0">
                <a:solidFill>
                  <a:srgbClr val="FF0000"/>
                </a:solidFill>
                <a:latin typeface="+mn-ea"/>
                <a:cs typeface="Times New Roman" panose="02020603050405020304" charset="0"/>
                <a:sym typeface="+mn-ea"/>
              </a:rPr>
              <a:t>优点</a:t>
            </a:r>
            <a:r>
              <a:rPr lang="zh-CN" altLang="en-US" sz="2000" dirty="0">
                <a:solidFill>
                  <a:schemeClr val="tx1">
                    <a:lumMod val="85000"/>
                    <a:lumOff val="15000"/>
                  </a:schemeClr>
                </a:solidFill>
                <a:latin typeface="+mn-ea"/>
                <a:cs typeface="Times New Roman" panose="02020603050405020304" charset="0"/>
                <a:sym typeface="+mn-ea"/>
              </a:rPr>
              <a:t>：</a:t>
            </a:r>
            <a:endParaRPr lang="en-US" altLang="zh-CN" sz="2000" dirty="0">
              <a:solidFill>
                <a:schemeClr val="tx1">
                  <a:lumMod val="85000"/>
                  <a:lumOff val="15000"/>
                </a:schemeClr>
              </a:solidFill>
              <a:latin typeface="+mn-ea"/>
              <a:cs typeface="Times New Roman" panose="02020603050405020304" charset="0"/>
            </a:endParaRPr>
          </a:p>
          <a:p>
            <a:pPr marL="285750" indent="-285750" algn="just">
              <a:lnSpc>
                <a:spcPct val="120000"/>
              </a:lnSpc>
              <a:buFont typeface="Arial" panose="020B0604020202020204" pitchFamily="34" charset="0"/>
              <a:buChar char="•"/>
            </a:pPr>
            <a:r>
              <a:rPr lang="zh-CN" altLang="en-US" sz="2000" dirty="0">
                <a:solidFill>
                  <a:schemeClr val="tx1">
                    <a:lumMod val="85000"/>
                    <a:lumOff val="15000"/>
                  </a:schemeClr>
                </a:solidFill>
                <a:latin typeface="+mn-ea"/>
                <a:cs typeface="Times New Roman" panose="02020603050405020304" charset="0"/>
                <a:sym typeface="+mn-ea"/>
              </a:rPr>
              <a:t>推理过程容易理解，计算简单，可解释性强。</a:t>
            </a:r>
            <a:endParaRPr lang="zh-CN" altLang="en-US" sz="2000" dirty="0">
              <a:solidFill>
                <a:schemeClr val="tx1">
                  <a:lumMod val="85000"/>
                  <a:lumOff val="15000"/>
                </a:schemeClr>
              </a:solidFill>
              <a:latin typeface="+mn-ea"/>
              <a:cs typeface="Times New Roman" panose="02020603050405020304" charset="0"/>
              <a:sym typeface="+mn-ea"/>
            </a:endParaRPr>
          </a:p>
          <a:p>
            <a:pPr marL="285750" indent="-285750" algn="just">
              <a:lnSpc>
                <a:spcPct val="120000"/>
              </a:lnSpc>
              <a:buFont typeface="Arial" panose="020B0604020202020204" pitchFamily="34" charset="0"/>
              <a:buChar char="•"/>
            </a:pPr>
            <a:r>
              <a:rPr lang="zh-CN" altLang="en-US" sz="2000" dirty="0">
                <a:solidFill>
                  <a:schemeClr val="tx1">
                    <a:lumMod val="85000"/>
                    <a:lumOff val="15000"/>
                  </a:schemeClr>
                </a:solidFill>
                <a:latin typeface="+mn-ea"/>
                <a:cs typeface="Times New Roman" panose="02020603050405020304" charset="0"/>
                <a:sym typeface="+mn-ea"/>
              </a:rPr>
              <a:t>比较适合处理有缺失属性的样本。</a:t>
            </a:r>
            <a:endParaRPr lang="zh-CN" altLang="en-US" sz="2000" dirty="0">
              <a:solidFill>
                <a:schemeClr val="tx1">
                  <a:lumMod val="85000"/>
                  <a:lumOff val="15000"/>
                </a:schemeClr>
              </a:solidFill>
              <a:latin typeface="+mn-ea"/>
              <a:cs typeface="Times New Roman" panose="02020603050405020304" charset="0"/>
              <a:sym typeface="+mn-ea"/>
            </a:endParaRPr>
          </a:p>
          <a:p>
            <a:pPr marL="285750" indent="-285750" algn="just">
              <a:lnSpc>
                <a:spcPct val="120000"/>
              </a:lnSpc>
              <a:buFont typeface="Arial" panose="020B0604020202020204" pitchFamily="34" charset="0"/>
              <a:buChar char="•"/>
            </a:pPr>
            <a:r>
              <a:rPr lang="zh-CN" altLang="en-US" sz="2000" dirty="0">
                <a:solidFill>
                  <a:schemeClr val="tx1">
                    <a:lumMod val="85000"/>
                    <a:lumOff val="15000"/>
                  </a:schemeClr>
                </a:solidFill>
                <a:latin typeface="+mn-ea"/>
                <a:cs typeface="Times New Roman" panose="02020603050405020304" charset="0"/>
                <a:sym typeface="+mn-ea"/>
              </a:rPr>
              <a:t>可自动忽略目标变量没有贡献的属性变量，也为判断属性变量的重要性，减少变量的数目提供参考。</a:t>
            </a:r>
            <a:endParaRPr lang="zh-CN" altLang="en-US" sz="2000" dirty="0">
              <a:solidFill>
                <a:schemeClr val="tx1">
                  <a:lumMod val="85000"/>
                  <a:lumOff val="15000"/>
                </a:schemeClr>
              </a:solidFill>
              <a:latin typeface="+mn-ea"/>
              <a:cs typeface="Times New Roman" panose="02020603050405020304" charset="0"/>
              <a:sym typeface="+mn-ea"/>
            </a:endParaRPr>
          </a:p>
          <a:p>
            <a:pPr indent="0" algn="just">
              <a:lnSpc>
                <a:spcPct val="120000"/>
              </a:lnSpc>
              <a:buFont typeface="Arial" panose="020B0604020202020204" pitchFamily="34" charset="0"/>
              <a:buNone/>
            </a:pPr>
            <a:endParaRPr lang="zh-CN" altLang="en-US" sz="2000" dirty="0">
              <a:solidFill>
                <a:schemeClr val="tx1">
                  <a:lumMod val="85000"/>
                  <a:lumOff val="15000"/>
                </a:schemeClr>
              </a:solidFill>
              <a:latin typeface="+mn-ea"/>
              <a:cs typeface="Times New Roman" panose="02020603050405020304" charset="0"/>
              <a:sym typeface="+mn-ea"/>
            </a:endParaRPr>
          </a:p>
          <a:p>
            <a:pPr algn="just">
              <a:lnSpc>
                <a:spcPct val="120000"/>
              </a:lnSpc>
            </a:pPr>
            <a:r>
              <a:rPr lang="zh-CN" altLang="en-US" sz="2000" dirty="0">
                <a:solidFill>
                  <a:srgbClr val="FF0000"/>
                </a:solidFill>
                <a:latin typeface="+mn-ea"/>
                <a:cs typeface="Times New Roman" panose="02020603050405020304" charset="0"/>
                <a:sym typeface="+mn-ea"/>
              </a:rPr>
              <a:t>缺点</a:t>
            </a:r>
            <a:r>
              <a:rPr lang="zh-CN" altLang="en-US" sz="2000" dirty="0">
                <a:latin typeface="+mn-ea"/>
                <a:cs typeface="Times New Roman" panose="02020603050405020304" charset="0"/>
                <a:sym typeface="+mn-ea"/>
              </a:rPr>
              <a:t>：</a:t>
            </a:r>
            <a:endParaRPr lang="en-US" altLang="zh-CN" sz="2000" dirty="0">
              <a:latin typeface="+mn-ea"/>
              <a:cs typeface="Times New Roman" panose="02020603050405020304" charset="0"/>
            </a:endParaRPr>
          </a:p>
          <a:p>
            <a:pPr marL="285750" indent="-285750" algn="just">
              <a:lnSpc>
                <a:spcPct val="120000"/>
              </a:lnSpc>
              <a:buFont typeface="Arial" panose="020B0604020202020204" pitchFamily="34" charset="0"/>
              <a:buChar char="•"/>
            </a:pPr>
            <a:r>
              <a:rPr lang="zh-CN" altLang="en-US" sz="2000" dirty="0">
                <a:latin typeface="+mn-ea"/>
                <a:cs typeface="Times New Roman" panose="02020603050405020304" charset="0"/>
                <a:sym typeface="+mn-ea"/>
              </a:rPr>
              <a:t>容易造成过拟合，需要采用剪枝操作。</a:t>
            </a:r>
            <a:endParaRPr lang="zh-CN" altLang="en-US" sz="2000" dirty="0">
              <a:latin typeface="+mn-ea"/>
              <a:cs typeface="Times New Roman" panose="02020603050405020304" charset="0"/>
              <a:sym typeface="+mn-ea"/>
            </a:endParaRPr>
          </a:p>
          <a:p>
            <a:pPr marL="285750" indent="-285750" algn="just">
              <a:lnSpc>
                <a:spcPct val="120000"/>
              </a:lnSpc>
              <a:buFont typeface="Arial" panose="020B0604020202020204" pitchFamily="34" charset="0"/>
              <a:buChar char="•"/>
            </a:pPr>
            <a:r>
              <a:rPr lang="zh-CN" altLang="en-US" sz="2000" dirty="0">
                <a:latin typeface="+mn-ea"/>
                <a:cs typeface="Times New Roman" panose="02020603050405020304" charset="0"/>
                <a:sym typeface="+mn-ea"/>
              </a:rPr>
              <a:t>忽略了数据之间的相关性。</a:t>
            </a:r>
            <a:endParaRPr lang="zh-CN" altLang="en-US" sz="2000" dirty="0">
              <a:latin typeface="+mn-ea"/>
              <a:cs typeface="Times New Roman" panose="02020603050405020304" charset="0"/>
              <a:sym typeface="+mn-ea"/>
            </a:endParaRPr>
          </a:p>
          <a:p>
            <a:pPr marL="285750" indent="-285750" algn="just">
              <a:lnSpc>
                <a:spcPct val="120000"/>
              </a:lnSpc>
              <a:buFont typeface="Arial" panose="020B0604020202020204" pitchFamily="34" charset="0"/>
              <a:buChar char="•"/>
            </a:pPr>
            <a:r>
              <a:rPr lang="zh-CN" altLang="en-US" sz="2000" dirty="0">
                <a:latin typeface="+mn-ea"/>
                <a:cs typeface="Times New Roman" panose="02020603050405020304" charset="0"/>
                <a:sym typeface="+mn-ea"/>
              </a:rPr>
              <a:t>对于各类别样本数量不一致的数据，信息增益会偏向于那些更多数值的特征。</a:t>
            </a:r>
            <a:endParaRPr lang="zh-CN" altLang="en-US" sz="2000" dirty="0">
              <a:latin typeface="+mn-ea"/>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custDataLst>
              <p:tags r:id="rId1"/>
            </p:custDataLst>
          </p:nvPr>
        </p:nvPicPr>
        <p:blipFill>
          <a:blip r:embed="rId2"/>
          <a:stretch>
            <a:fillRect/>
          </a:stretch>
        </p:blipFill>
        <p:spPr>
          <a:xfrm>
            <a:off x="438785" y="728345"/>
            <a:ext cx="11315065" cy="54006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descr="在地上&#10;&#10;低可信度描述已自动生成"/>
          <p:cNvPicPr>
            <a:picLocks noChangeAspect="1"/>
          </p:cNvPicPr>
          <p:nvPr/>
        </p:nvPicPr>
        <p:blipFill>
          <a:blip r:embed="rId1">
            <a:extLst>
              <a:ext uri="{28A0092B-C50C-407E-A947-70E740481C1C}">
                <a14:useLocalDpi xmlns:a14="http://schemas.microsoft.com/office/drawing/2010/main" val="0"/>
              </a:ext>
            </a:extLst>
          </a:blip>
          <a:srcRect t="18750" b="12524"/>
          <a:stretch>
            <a:fillRect/>
          </a:stretch>
        </p:blipFill>
        <p:spPr>
          <a:xfrm>
            <a:off x="0" y="2832100"/>
            <a:ext cx="12192000" cy="4025900"/>
          </a:xfrm>
          <a:custGeom>
            <a:avLst/>
            <a:gdLst>
              <a:gd name="connsiteX0" fmla="*/ 0 w 12192000"/>
              <a:gd name="connsiteY0" fmla="*/ 0 h 4025900"/>
              <a:gd name="connsiteX1" fmla="*/ 12192000 w 12192000"/>
              <a:gd name="connsiteY1" fmla="*/ 0 h 4025900"/>
              <a:gd name="connsiteX2" fmla="*/ 12192000 w 12192000"/>
              <a:gd name="connsiteY2" fmla="*/ 4025900 h 4025900"/>
              <a:gd name="connsiteX3" fmla="*/ 0 w 12192000"/>
              <a:gd name="connsiteY3" fmla="*/ 4025900 h 4025900"/>
            </a:gdLst>
            <a:ahLst/>
            <a:cxnLst>
              <a:cxn ang="0">
                <a:pos x="connsiteX0" y="connsiteY0"/>
              </a:cxn>
              <a:cxn ang="0">
                <a:pos x="connsiteX1" y="connsiteY1"/>
              </a:cxn>
              <a:cxn ang="0">
                <a:pos x="connsiteX2" y="connsiteY2"/>
              </a:cxn>
              <a:cxn ang="0">
                <a:pos x="connsiteX3" y="connsiteY3"/>
              </a:cxn>
            </a:cxnLst>
            <a:rect l="l" t="t" r="r" b="b"/>
            <a:pathLst>
              <a:path w="12192000" h="4025900">
                <a:moveTo>
                  <a:pt x="0" y="0"/>
                </a:moveTo>
                <a:lnTo>
                  <a:pt x="12192000" y="0"/>
                </a:lnTo>
                <a:lnTo>
                  <a:pt x="12192000" y="4025900"/>
                </a:lnTo>
                <a:lnTo>
                  <a:pt x="0" y="4025900"/>
                </a:lnTo>
                <a:close/>
              </a:path>
            </a:pathLst>
          </a:custGeom>
        </p:spPr>
      </p:pic>
      <p:sp>
        <p:nvSpPr>
          <p:cNvPr id="3" name="对角圆角矩形 8"/>
          <p:cNvSpPr/>
          <p:nvPr>
            <p:custDataLst>
              <p:tags r:id="rId2"/>
            </p:custDataLst>
          </p:nvPr>
        </p:nvSpPr>
        <p:spPr>
          <a:xfrm>
            <a:off x="2956847" y="2028410"/>
            <a:ext cx="6278833" cy="647700"/>
          </a:xfrm>
          <a:prstGeom prst="round2DiagRect">
            <a:avLst>
              <a:gd name="adj1" fmla="val 20943"/>
              <a:gd name="adj2" fmla="val 0"/>
            </a:avLst>
          </a:prstGeom>
          <a:solidFill>
            <a:srgbClr val="8FC1C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p>
        </p:txBody>
      </p:sp>
      <p:sp>
        <p:nvSpPr>
          <p:cNvPr id="4" name="TextBox 10"/>
          <p:cNvSpPr txBox="1">
            <a:spLocks noChangeArrowheads="1"/>
          </p:cNvSpPr>
          <p:nvPr>
            <p:custDataLst>
              <p:tags r:id="rId3"/>
            </p:custDataLst>
          </p:nvPr>
        </p:nvSpPr>
        <p:spPr bwMode="auto">
          <a:xfrm>
            <a:off x="4133850" y="2075180"/>
            <a:ext cx="3183890"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charset="-122"/>
              </a:rPr>
              <a:t>01    ID3</a:t>
            </a:r>
            <a:r>
              <a:rPr lang="zh-CN" altLang="en-US" sz="3600" dirty="0">
                <a:solidFill>
                  <a:schemeClr val="bg1"/>
                </a:solidFill>
                <a:latin typeface="Impact" panose="020B0806030902050204" pitchFamily="34" charset="0"/>
                <a:ea typeface="微软雅黑" panose="020B0503020204020204" charset="-122"/>
              </a:rPr>
              <a:t>算法</a:t>
            </a:r>
            <a:endParaRPr lang="zh-CN" altLang="en-US" sz="3600" dirty="0">
              <a:solidFill>
                <a:schemeClr val="bg1"/>
              </a:solidFill>
              <a:latin typeface="Impact" panose="020B0806030902050204" pitchFamily="34" charset="0"/>
              <a:ea typeface="微软雅黑" panose="020B0503020204020204" charset="-122"/>
            </a:endParaRPr>
          </a:p>
        </p:txBody>
      </p:sp>
      <p:sp>
        <p:nvSpPr>
          <p:cNvPr id="9" name="TextBox 11"/>
          <p:cNvSpPr txBox="1">
            <a:spLocks noChangeArrowheads="1"/>
          </p:cNvSpPr>
          <p:nvPr>
            <p:custDataLst>
              <p:tags r:id="rId4"/>
            </p:custDataLst>
          </p:nvPr>
        </p:nvSpPr>
        <p:spPr bwMode="auto">
          <a:xfrm>
            <a:off x="4133850" y="3152140"/>
            <a:ext cx="2913380"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charset="-122"/>
              </a:rPr>
              <a:t>02    C4.5</a:t>
            </a:r>
            <a:r>
              <a:rPr lang="zh-CN" altLang="en-US" sz="3600" dirty="0">
                <a:latin typeface="Impact" panose="020B0806030902050204" pitchFamily="34" charset="0"/>
                <a:ea typeface="微软雅黑" panose="020B0503020204020204" charset="-122"/>
              </a:rPr>
              <a:t>算法</a:t>
            </a:r>
            <a:endParaRPr lang="zh-CN" altLang="en-US" sz="3600" dirty="0">
              <a:latin typeface="Impact" panose="020B0806030902050204" pitchFamily="34" charset="0"/>
              <a:ea typeface="微软雅黑" panose="020B0503020204020204" charset="-122"/>
            </a:endParaRPr>
          </a:p>
        </p:txBody>
      </p:sp>
      <p:sp>
        <p:nvSpPr>
          <p:cNvPr id="10" name="TextBox 10"/>
          <p:cNvSpPr txBox="1">
            <a:spLocks noChangeArrowheads="1"/>
          </p:cNvSpPr>
          <p:nvPr>
            <p:custDataLst>
              <p:tags r:id="rId5"/>
            </p:custDataLst>
          </p:nvPr>
        </p:nvSpPr>
        <p:spPr bwMode="auto">
          <a:xfrm>
            <a:off x="4133850" y="4229100"/>
            <a:ext cx="2776855"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charset="-122"/>
              </a:rPr>
              <a:t>03 </a:t>
            </a:r>
            <a:r>
              <a:rPr lang="zh-CN" altLang="en-US" sz="3600" dirty="0">
                <a:latin typeface="Impact" panose="020B0806030902050204" pitchFamily="34" charset="0"/>
                <a:ea typeface="微软雅黑" panose="020B0503020204020204" charset="-122"/>
              </a:rPr>
              <a:t>   </a:t>
            </a:r>
            <a:r>
              <a:rPr lang="en-US" altLang="zh-CN" sz="3600" dirty="0">
                <a:latin typeface="Impact" panose="020B0806030902050204" pitchFamily="34" charset="0"/>
                <a:ea typeface="微软雅黑" panose="020B0503020204020204" charset="-122"/>
              </a:rPr>
              <a:t>CART</a:t>
            </a:r>
            <a:r>
              <a:rPr lang="zh-CN" altLang="en-US" sz="3600" dirty="0">
                <a:latin typeface="Impact" panose="020B0806030902050204" pitchFamily="34" charset="0"/>
                <a:ea typeface="微软雅黑" panose="020B0503020204020204" charset="-122"/>
              </a:rPr>
              <a:t>算法</a:t>
            </a:r>
            <a:endParaRPr lang="zh-CN" altLang="en-US" sz="3600" dirty="0">
              <a:latin typeface="Impact" panose="020B0806030902050204" pitchFamily="34" charset="0"/>
              <a:ea typeface="微软雅黑" panose="020B0503020204020204" charset="-122"/>
            </a:endParaRPr>
          </a:p>
        </p:txBody>
      </p:sp>
      <p:grpSp>
        <p:nvGrpSpPr>
          <p:cNvPr id="14" name="组合 13"/>
          <p:cNvGrpSpPr/>
          <p:nvPr/>
        </p:nvGrpSpPr>
        <p:grpSpPr>
          <a:xfrm>
            <a:off x="4067175" y="686435"/>
            <a:ext cx="3901440" cy="903610"/>
            <a:chOff x="1029437" y="3931614"/>
            <a:chExt cx="3582597" cy="903707"/>
          </a:xfrm>
        </p:grpSpPr>
        <p:sp>
          <p:nvSpPr>
            <p:cNvPr id="15" name="矩形 14"/>
            <p:cNvSpPr/>
            <p:nvPr>
              <p:custDataLst>
                <p:tags r:id="rId6"/>
              </p:custDataLst>
            </p:nvPr>
          </p:nvSpPr>
          <p:spPr>
            <a:xfrm>
              <a:off x="1029437" y="3988332"/>
              <a:ext cx="853873" cy="706831"/>
            </a:xfrm>
            <a:prstGeom prst="rect">
              <a:avLst/>
            </a:prstGeom>
          </p:spPr>
          <p:txBody>
            <a:bodyPr wrap="square">
              <a:spAutoFit/>
            </a:bodyPr>
            <a:p>
              <a:r>
                <a:rPr lang="zh-CN" altLang="en-US" sz="4000" dirty="0">
                  <a:solidFill>
                    <a:srgbClr val="6FB4BD"/>
                  </a:solidFill>
                  <a:latin typeface="汉仪中宋简" panose="02010609000101010101" pitchFamily="49" charset="-122"/>
                  <a:ea typeface="汉仪中宋简" panose="02010609000101010101" pitchFamily="49" charset="-122"/>
                </a:rPr>
                <a:t>一、</a:t>
              </a:r>
              <a:endParaRPr lang="zh-CN" altLang="en-US" sz="4000" dirty="0">
                <a:solidFill>
                  <a:srgbClr val="6FB4BD"/>
                </a:solidFill>
                <a:latin typeface="汉仪中宋简" panose="02010609000101010101" pitchFamily="49" charset="-122"/>
                <a:ea typeface="汉仪中宋简" panose="02010609000101010101" pitchFamily="49" charset="-122"/>
              </a:endParaRPr>
            </a:p>
          </p:txBody>
        </p:sp>
        <p:sp>
          <p:nvSpPr>
            <p:cNvPr id="17" name="矩形 16"/>
            <p:cNvSpPr/>
            <p:nvPr>
              <p:custDataLst>
                <p:tags r:id="rId7"/>
              </p:custDataLst>
            </p:nvPr>
          </p:nvSpPr>
          <p:spPr>
            <a:xfrm>
              <a:off x="1965156" y="3931614"/>
              <a:ext cx="2646878" cy="706831"/>
            </a:xfrm>
            <a:prstGeom prst="rect">
              <a:avLst/>
            </a:prstGeom>
          </p:spPr>
          <p:txBody>
            <a:bodyPr wrap="square">
              <a:spAutoFit/>
            </a:bodyPr>
            <a:p>
              <a:r>
                <a:rPr lang="zh-CN" altLang="en-US" sz="4000" dirty="0">
                  <a:solidFill>
                    <a:srgbClr val="6FB4BD"/>
                  </a:solidFill>
                  <a:latin typeface="华文新魏" panose="02010800040101010101" charset="-122"/>
                  <a:ea typeface="华文新魏" panose="02010800040101010101" charset="-122"/>
                </a:rPr>
                <a:t>决策树</a:t>
              </a:r>
              <a:r>
                <a:rPr lang="en-US" altLang="zh-CN" sz="4000" dirty="0">
                  <a:solidFill>
                    <a:srgbClr val="6FB4BD"/>
                  </a:solidFill>
                  <a:latin typeface="华文新魏" panose="02010800040101010101" charset="-122"/>
                  <a:ea typeface="华文新魏" panose="02010800040101010101" charset="-122"/>
                </a:rPr>
                <a:t> </a:t>
              </a:r>
              <a:endParaRPr lang="en-US" altLang="zh-CN" sz="4000" dirty="0">
                <a:solidFill>
                  <a:srgbClr val="6FB4BD"/>
                </a:solidFill>
                <a:latin typeface="华文新魏" panose="02010800040101010101" charset="-122"/>
                <a:ea typeface="华文新魏" panose="02010800040101010101" charset="-122"/>
              </a:endParaRPr>
            </a:p>
          </p:txBody>
        </p:sp>
        <p:sp>
          <p:nvSpPr>
            <p:cNvPr id="19" name="矩形 18"/>
            <p:cNvSpPr/>
            <p:nvPr>
              <p:custDataLst>
                <p:tags r:id="rId8"/>
              </p:custDataLst>
            </p:nvPr>
          </p:nvSpPr>
          <p:spPr>
            <a:xfrm>
              <a:off x="1996815" y="4436498"/>
              <a:ext cx="2474677" cy="398823"/>
            </a:xfrm>
            <a:prstGeom prst="rect">
              <a:avLst/>
            </a:prstGeom>
          </p:spPr>
          <p:txBody>
            <a:bodyPr wrap="square">
              <a:spAutoFit/>
            </a:bodyPr>
            <a:p>
              <a:pPr algn="l"/>
              <a:r>
                <a:rPr lang="zh-CN" altLang="en-US" sz="2000" dirty="0">
                  <a:solidFill>
                    <a:srgbClr val="6FB4BD"/>
                  </a:solidFill>
                </a:rPr>
                <a:t>decision tree</a:t>
              </a:r>
              <a:endParaRPr lang="zh-CN" altLang="en-US" sz="2000" dirty="0">
                <a:solidFill>
                  <a:srgbClr val="6FB4BD"/>
                </a:solidFill>
              </a:endParaRPr>
            </a:p>
          </p:txBody>
        </p:sp>
      </p:gr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40360" y="273685"/>
            <a:ext cx="2133600" cy="521970"/>
          </a:xfrm>
          <a:prstGeom prst="rect">
            <a:avLst/>
          </a:prstGeom>
          <a:noFill/>
        </p:spPr>
        <p:txBody>
          <a:bodyPr wrap="square" rtlCol="0">
            <a:spAutoFit/>
          </a:bodyPr>
          <a:p>
            <a:pPr algn="l" eaLnBrk="1" hangingPunct="1"/>
            <a:r>
              <a:rPr lang="en-US" altLang="zh-CN" sz="2800" b="1" dirty="0">
                <a:sym typeface="+mn-ea"/>
              </a:rPr>
              <a:t>1</a:t>
            </a:r>
            <a:r>
              <a:rPr lang="zh-CN" altLang="en-US" sz="2800" b="1" dirty="0">
                <a:sym typeface="+mn-ea"/>
              </a:rPr>
              <a:t>、</a:t>
            </a:r>
            <a:r>
              <a:rPr lang="en-US" altLang="zh-CN" sz="2800" b="1" dirty="0">
                <a:sym typeface="+mn-ea"/>
              </a:rPr>
              <a:t>ID3</a:t>
            </a:r>
            <a:r>
              <a:rPr lang="zh-CN" altLang="en-US" sz="2800" b="1" dirty="0">
                <a:sym typeface="+mn-ea"/>
              </a:rPr>
              <a:t>算法</a:t>
            </a:r>
            <a:endParaRPr lang="zh-CN" altLang="en-US" sz="2800" b="1" dirty="0">
              <a:sym typeface="+mn-ea"/>
            </a:endParaRPr>
          </a:p>
        </p:txBody>
      </p:sp>
      <p:sp>
        <p:nvSpPr>
          <p:cNvPr id="7" name="文本框 6"/>
          <p:cNvSpPr txBox="1"/>
          <p:nvPr/>
        </p:nvSpPr>
        <p:spPr>
          <a:xfrm>
            <a:off x="798830" y="1080135"/>
            <a:ext cx="10583545" cy="5408295"/>
          </a:xfrm>
          <a:prstGeom prst="rect">
            <a:avLst/>
          </a:prstGeom>
          <a:noFill/>
        </p:spPr>
        <p:txBody>
          <a:bodyPr wrap="square" rtlCol="0">
            <a:noAutofit/>
          </a:bodyPr>
          <a:p>
            <a:pPr marL="285750" indent="-285750" fontAlgn="auto">
              <a:lnSpc>
                <a:spcPct val="130000"/>
              </a:lnSpc>
              <a:buFont typeface="Wingdings" panose="05000000000000000000" charset="0"/>
              <a:buChar char="Ø"/>
            </a:pPr>
            <a:r>
              <a:rPr lang="en-US" altLang="zh-CN" sz="2000" dirty="0">
                <a:latin typeface="Times New Roman" panose="02020603050405020304" charset="0"/>
                <a:ea typeface="思源黑体 CN Medium" panose="020B0600000000000000" pitchFamily="34" charset="-122"/>
                <a:cs typeface="Times New Roman" panose="02020603050405020304" charset="0"/>
                <a:sym typeface="+mn-ea"/>
              </a:rPr>
              <a:t>ID3 </a:t>
            </a:r>
            <a:r>
              <a:rPr lang="zh-CN" altLang="en-US" sz="2000" dirty="0">
                <a:latin typeface="Times New Roman" panose="02020603050405020304" charset="0"/>
                <a:ea typeface="思源黑体 CN Medium" panose="020B0600000000000000" pitchFamily="34" charset="-122"/>
                <a:cs typeface="Times New Roman" panose="02020603050405020304" charset="0"/>
                <a:sym typeface="+mn-ea"/>
              </a:rPr>
              <a:t>算法最早是由罗斯昆（</a:t>
            </a:r>
            <a:r>
              <a:rPr lang="en-US" altLang="zh-CN" sz="2000" dirty="0">
                <a:latin typeface="Times New Roman" panose="02020603050405020304" charset="0"/>
                <a:ea typeface="思源黑体 CN Medium" panose="020B0600000000000000" pitchFamily="34" charset="-122"/>
                <a:cs typeface="Times New Roman" panose="02020603050405020304" charset="0"/>
                <a:sym typeface="+mn-ea"/>
              </a:rPr>
              <a:t>J. Ross Quinlan</a:t>
            </a:r>
            <a:r>
              <a:rPr lang="zh-CN" altLang="en-US" sz="2000" dirty="0">
                <a:latin typeface="Times New Roman" panose="02020603050405020304" charset="0"/>
                <a:ea typeface="思源黑体 CN Medium" panose="020B0600000000000000" pitchFamily="34" charset="-122"/>
                <a:cs typeface="Times New Roman" panose="02020603050405020304" charset="0"/>
                <a:sym typeface="+mn-ea"/>
              </a:rPr>
              <a:t>）于</a:t>
            </a:r>
            <a:r>
              <a:rPr lang="en-US" altLang="zh-CN" sz="2000" dirty="0">
                <a:latin typeface="Times New Roman" panose="02020603050405020304" charset="0"/>
                <a:ea typeface="思源黑体 CN Medium" panose="020B0600000000000000" pitchFamily="34" charset="-122"/>
                <a:cs typeface="Times New Roman" panose="02020603050405020304" charset="0"/>
                <a:sym typeface="+mn-ea"/>
              </a:rPr>
              <a:t>1975</a:t>
            </a:r>
            <a:r>
              <a:rPr lang="zh-CN" altLang="en-US" sz="2000" dirty="0">
                <a:latin typeface="Times New Roman" panose="02020603050405020304" charset="0"/>
                <a:ea typeface="思源黑体 CN Medium" panose="020B0600000000000000" pitchFamily="34" charset="-122"/>
                <a:cs typeface="Times New Roman" panose="02020603050405020304" charset="0"/>
                <a:sym typeface="+mn-ea"/>
              </a:rPr>
              <a:t>年提出的一种决策树构建算法，算法的核心是</a:t>
            </a:r>
            <a:r>
              <a:rPr lang="zh-CN" altLang="en-US" sz="2000" dirty="0">
                <a:latin typeface="宋体" panose="02010600030101010101" pitchFamily="2" charset="-122"/>
                <a:ea typeface="宋体" panose="02010600030101010101" pitchFamily="2" charset="-122"/>
                <a:cs typeface="Times New Roman" panose="02020603050405020304" charset="0"/>
                <a:sym typeface="+mn-ea"/>
              </a:rPr>
              <a:t>“</a:t>
            </a:r>
            <a:r>
              <a:rPr lang="zh-CN" altLang="en-US" sz="2000" dirty="0">
                <a:solidFill>
                  <a:srgbClr val="FF0000"/>
                </a:solidFill>
                <a:latin typeface="Times New Roman" panose="02020603050405020304" charset="0"/>
                <a:ea typeface="思源黑体 CN Medium" panose="020B0600000000000000" pitchFamily="34" charset="-122"/>
                <a:cs typeface="Times New Roman" panose="02020603050405020304" charset="0"/>
                <a:sym typeface="+mn-ea"/>
              </a:rPr>
              <a:t>信息熵</a:t>
            </a:r>
            <a:r>
              <a:rPr lang="zh-CN" altLang="en-US" sz="2000" dirty="0">
                <a:latin typeface="宋体" panose="02010600030101010101" pitchFamily="2" charset="-122"/>
                <a:ea typeface="宋体" panose="02010600030101010101" pitchFamily="2" charset="-122"/>
                <a:cs typeface="Times New Roman" panose="02020603050405020304" charset="0"/>
                <a:sym typeface="+mn-ea"/>
              </a:rPr>
              <a:t>”</a:t>
            </a:r>
            <a:r>
              <a:rPr lang="zh-CN" altLang="en-US" sz="2000" dirty="0">
                <a:latin typeface="Times New Roman" panose="02020603050405020304" charset="0"/>
                <a:ea typeface="思源黑体 CN Medium" panose="020B0600000000000000" pitchFamily="34" charset="-122"/>
                <a:cs typeface="Times New Roman" panose="02020603050405020304" charset="0"/>
                <a:sym typeface="+mn-ea"/>
              </a:rPr>
              <a:t>，期望信息越小，信息熵越大，样本纯度越低。</a:t>
            </a:r>
            <a:endParaRPr lang="zh-CN" altLang="en-US" sz="2000" dirty="0">
              <a:latin typeface="Times New Roman" panose="02020603050405020304" charset="0"/>
              <a:ea typeface="思源黑体 CN Medium" panose="020B0600000000000000" pitchFamily="34" charset="-122"/>
              <a:cs typeface="Times New Roman" panose="02020603050405020304" charset="0"/>
              <a:sym typeface="+mn-ea"/>
            </a:endParaRPr>
          </a:p>
          <a:p>
            <a:pPr marL="285750" indent="-285750" fontAlgn="auto">
              <a:lnSpc>
                <a:spcPct val="130000"/>
              </a:lnSpc>
              <a:buFont typeface="Wingdings" panose="05000000000000000000" charset="0"/>
              <a:buChar char="Ø"/>
            </a:pPr>
            <a:r>
              <a:rPr lang="en-US" altLang="zh-CN" sz="2000" dirty="0">
                <a:latin typeface="Times New Roman" panose="02020603050405020304" charset="0"/>
                <a:ea typeface="思源黑体 CN Medium" panose="020B0600000000000000" pitchFamily="34" charset="-122"/>
                <a:cs typeface="Times New Roman" panose="02020603050405020304" charset="0"/>
                <a:sym typeface="+mn-ea"/>
              </a:rPr>
              <a:t>ID3 </a:t>
            </a:r>
            <a:r>
              <a:rPr lang="zh-CN" altLang="en-US" sz="2000" dirty="0">
                <a:latin typeface="Times New Roman" panose="02020603050405020304" charset="0"/>
                <a:ea typeface="思源黑体 CN Medium" panose="020B0600000000000000" pitchFamily="34" charset="-122"/>
                <a:cs typeface="Times New Roman" panose="02020603050405020304" charset="0"/>
                <a:sym typeface="+mn-ea"/>
              </a:rPr>
              <a:t>算法是以信息论为基础，以</a:t>
            </a:r>
            <a:r>
              <a:rPr lang="zh-CN" altLang="en-US" sz="2000" dirty="0">
                <a:solidFill>
                  <a:srgbClr val="FF0000"/>
                </a:solidFill>
                <a:latin typeface="Times New Roman" panose="02020603050405020304" charset="0"/>
                <a:ea typeface="思源黑体 CN Medium" panose="020B0600000000000000" pitchFamily="34" charset="-122"/>
                <a:cs typeface="Times New Roman" panose="02020603050405020304" charset="0"/>
                <a:sym typeface="+mn-ea"/>
              </a:rPr>
              <a:t>信息增益</a:t>
            </a:r>
            <a:r>
              <a:rPr lang="zh-CN" altLang="en-US" sz="2000" dirty="0">
                <a:latin typeface="Times New Roman" panose="02020603050405020304" charset="0"/>
                <a:ea typeface="思源黑体 CN Medium" panose="020B0600000000000000" pitchFamily="34" charset="-122"/>
                <a:cs typeface="Times New Roman" panose="02020603050405020304" charset="0"/>
                <a:sym typeface="+mn-ea"/>
              </a:rPr>
              <a:t>为衡量标准，从而实现对数据的归纳分类。</a:t>
            </a:r>
            <a:endParaRPr lang="zh-CN" altLang="en-US" sz="2000" dirty="0">
              <a:latin typeface="Times New Roman" panose="02020603050405020304" charset="0"/>
              <a:ea typeface="思源黑体 CN Medium" panose="020B0600000000000000" pitchFamily="34" charset="-122"/>
              <a:cs typeface="Times New Roman" panose="02020603050405020304" charset="0"/>
            </a:endParaRPr>
          </a:p>
          <a:p>
            <a:pPr marL="285750" indent="-285750" algn="just" fontAlgn="auto">
              <a:lnSpc>
                <a:spcPct val="130000"/>
              </a:lnSpc>
              <a:buFont typeface="Wingdings" panose="05000000000000000000" charset="0"/>
              <a:buChar char="Ø"/>
            </a:pPr>
            <a:r>
              <a:rPr lang="en-US" altLang="zh-CN" sz="2000" dirty="0">
                <a:latin typeface="Times New Roman" panose="02020603050405020304" charset="0"/>
                <a:ea typeface="思源黑体 CN Medium" panose="020B0600000000000000" pitchFamily="34" charset="-122"/>
                <a:cs typeface="Times New Roman" panose="02020603050405020304" charset="0"/>
                <a:sym typeface="+mn-ea"/>
              </a:rPr>
              <a:t>ID3 </a:t>
            </a:r>
            <a:r>
              <a:rPr lang="zh-CN" altLang="en-US" sz="2000" dirty="0">
                <a:latin typeface="Times New Roman" panose="02020603050405020304" charset="0"/>
                <a:ea typeface="思源黑体 CN Medium" panose="020B0600000000000000" pitchFamily="34" charset="-122"/>
                <a:cs typeface="Times New Roman" panose="02020603050405020304" charset="0"/>
                <a:sym typeface="+mn-ea"/>
              </a:rPr>
              <a:t>算法计算每个属性的信息增益，并选取具有最高增益的属性作为给定的测试属性。</a:t>
            </a:r>
            <a:endParaRPr lang="zh-CN" altLang="en-US" sz="2000" dirty="0">
              <a:latin typeface="Times New Roman" panose="02020603050405020304" charset="0"/>
              <a:ea typeface="思源黑体 CN Medium" panose="020B0600000000000000" pitchFamily="34" charset="-122"/>
              <a:cs typeface="Times New Roman" panose="02020603050405020304" charset="0"/>
              <a:sym typeface="+mn-ea"/>
            </a:endParaRPr>
          </a:p>
          <a:p>
            <a:pPr marL="285750" indent="-285750" algn="just" fontAlgn="auto">
              <a:lnSpc>
                <a:spcPct val="130000"/>
              </a:lnSpc>
              <a:buFont typeface="Wingdings" panose="05000000000000000000" charset="0"/>
              <a:buChar char="Ø"/>
            </a:pPr>
            <a:endParaRPr lang="zh-CN" altLang="zh-CN" sz="2000" kern="100" dirty="0">
              <a:effectLst/>
              <a:latin typeface="黑体" panose="02010609060101010101" charset="-122"/>
              <a:ea typeface="黑体" panose="02010609060101010101" charset="-122"/>
              <a:cs typeface="黑体" panose="02010609060101010101" charset="-122"/>
              <a:sym typeface="+mn-ea"/>
            </a:endParaRPr>
          </a:p>
          <a:p>
            <a:pPr marL="285750" indent="-285750" algn="just" fontAlgn="auto">
              <a:lnSpc>
                <a:spcPct val="130000"/>
              </a:lnSpc>
              <a:buFont typeface="Wingdings" panose="05000000000000000000" charset="0"/>
              <a:buChar char="Ø"/>
            </a:pPr>
            <a:r>
              <a:rPr lang="zh-CN" altLang="zh-CN" sz="2000" kern="100" dirty="0">
                <a:effectLst/>
                <a:latin typeface="黑体" panose="02010609060101010101" charset="-122"/>
                <a:ea typeface="黑体" panose="02010609060101010101" charset="-122"/>
                <a:cs typeface="黑体" panose="02010609060101010101" charset="-122"/>
                <a:sym typeface="+mn-ea"/>
              </a:rPr>
              <a:t>其大致步骤为：</a:t>
            </a:r>
            <a:endParaRPr lang="zh-CN" altLang="zh-CN" sz="2000" kern="100" dirty="0">
              <a:effectLst/>
              <a:latin typeface="黑体" panose="02010609060101010101" charset="-122"/>
              <a:ea typeface="黑体" panose="02010609060101010101" charset="-122"/>
              <a:cs typeface="黑体" panose="02010609060101010101" charset="-122"/>
            </a:endParaRPr>
          </a:p>
          <a:p>
            <a:pPr marL="342900" lvl="0" indent="-342900" algn="just">
              <a:lnSpc>
                <a:spcPct val="150000"/>
              </a:lnSpc>
              <a:buFont typeface="+mj-lt"/>
              <a:buAutoNum type="arabicPeriod"/>
            </a:pPr>
            <a:r>
              <a:rPr lang="zh-CN" altLang="zh-CN" sz="2000" kern="100" dirty="0">
                <a:effectLst/>
                <a:latin typeface="黑体" panose="02010609060101010101" charset="-122"/>
                <a:ea typeface="黑体" panose="02010609060101010101" charset="-122"/>
                <a:cs typeface="黑体" panose="02010609060101010101" charset="-122"/>
                <a:sym typeface="+mn-ea"/>
              </a:rPr>
              <a:t>初始化特征集合和数据集合；</a:t>
            </a:r>
            <a:endParaRPr lang="zh-CN" altLang="zh-CN" sz="2000" kern="100" dirty="0">
              <a:effectLst/>
              <a:latin typeface="黑体" panose="02010609060101010101" charset="-122"/>
              <a:ea typeface="黑体" panose="02010609060101010101" charset="-122"/>
              <a:cs typeface="黑体" panose="02010609060101010101" charset="-122"/>
            </a:endParaRPr>
          </a:p>
          <a:p>
            <a:pPr marL="342900" lvl="0" indent="-342900" algn="just">
              <a:lnSpc>
                <a:spcPct val="150000"/>
              </a:lnSpc>
              <a:buFont typeface="+mj-lt"/>
              <a:buAutoNum type="arabicPeriod"/>
            </a:pPr>
            <a:r>
              <a:rPr lang="zh-CN" altLang="zh-CN" sz="2000" kern="100" dirty="0">
                <a:effectLst/>
                <a:latin typeface="黑体" panose="02010609060101010101" charset="-122"/>
                <a:ea typeface="黑体" panose="02010609060101010101" charset="-122"/>
                <a:cs typeface="黑体" panose="02010609060101010101" charset="-122"/>
                <a:sym typeface="+mn-ea"/>
              </a:rPr>
              <a:t>计算数据集合</a:t>
            </a:r>
            <a:r>
              <a:rPr lang="zh-CN" altLang="zh-CN" sz="2000" kern="100" dirty="0">
                <a:solidFill>
                  <a:srgbClr val="FF0000"/>
                </a:solidFill>
                <a:effectLst/>
                <a:latin typeface="黑体" panose="02010609060101010101" charset="-122"/>
                <a:ea typeface="黑体" panose="02010609060101010101" charset="-122"/>
                <a:cs typeface="黑体" panose="02010609060101010101" charset="-122"/>
                <a:sym typeface="+mn-ea"/>
              </a:rPr>
              <a:t>信息熵</a:t>
            </a:r>
            <a:r>
              <a:rPr lang="zh-CN" altLang="zh-CN" sz="2000" kern="100" dirty="0">
                <a:effectLst/>
                <a:latin typeface="黑体" panose="02010609060101010101" charset="-122"/>
                <a:ea typeface="黑体" panose="02010609060101010101" charset="-122"/>
                <a:cs typeface="黑体" panose="02010609060101010101" charset="-122"/>
                <a:sym typeface="+mn-ea"/>
              </a:rPr>
              <a:t>和所有特征的</a:t>
            </a:r>
            <a:r>
              <a:rPr lang="zh-CN" altLang="zh-CN" sz="2000" kern="100" dirty="0">
                <a:solidFill>
                  <a:srgbClr val="FF0000"/>
                </a:solidFill>
                <a:effectLst/>
                <a:latin typeface="黑体" panose="02010609060101010101" charset="-122"/>
                <a:ea typeface="黑体" panose="02010609060101010101" charset="-122"/>
                <a:cs typeface="黑体" panose="02010609060101010101" charset="-122"/>
                <a:sym typeface="+mn-ea"/>
              </a:rPr>
              <a:t>条件熵</a:t>
            </a:r>
            <a:r>
              <a:rPr lang="zh-CN" altLang="zh-CN" sz="2000" kern="100" dirty="0">
                <a:effectLst/>
                <a:latin typeface="黑体" panose="02010609060101010101" charset="-122"/>
                <a:ea typeface="黑体" panose="02010609060101010101" charset="-122"/>
                <a:cs typeface="黑体" panose="02010609060101010101" charset="-122"/>
                <a:sym typeface="+mn-ea"/>
              </a:rPr>
              <a:t>，选择</a:t>
            </a:r>
            <a:r>
              <a:rPr lang="zh-CN" altLang="zh-CN" sz="2000" kern="100" dirty="0">
                <a:solidFill>
                  <a:srgbClr val="FF0000"/>
                </a:solidFill>
                <a:effectLst/>
                <a:latin typeface="黑体" panose="02010609060101010101" charset="-122"/>
                <a:ea typeface="黑体" panose="02010609060101010101" charset="-122"/>
                <a:cs typeface="黑体" panose="02010609060101010101" charset="-122"/>
                <a:sym typeface="+mn-ea"/>
              </a:rPr>
              <a:t>信息增益</a:t>
            </a:r>
            <a:r>
              <a:rPr lang="zh-CN" altLang="zh-CN" sz="2000" kern="100" dirty="0">
                <a:effectLst/>
                <a:latin typeface="黑体" panose="02010609060101010101" charset="-122"/>
                <a:ea typeface="黑体" panose="02010609060101010101" charset="-122"/>
                <a:cs typeface="黑体" panose="02010609060101010101" charset="-122"/>
                <a:sym typeface="+mn-ea"/>
              </a:rPr>
              <a:t>最大的特征作为当前决策节点；</a:t>
            </a:r>
            <a:endParaRPr lang="zh-CN" altLang="zh-CN" sz="2000" kern="100" dirty="0">
              <a:effectLst/>
              <a:latin typeface="黑体" panose="02010609060101010101" charset="-122"/>
              <a:ea typeface="黑体" panose="02010609060101010101" charset="-122"/>
              <a:cs typeface="黑体" panose="02010609060101010101" charset="-122"/>
            </a:endParaRPr>
          </a:p>
          <a:p>
            <a:pPr marL="342900" lvl="0" indent="-342900" algn="just">
              <a:lnSpc>
                <a:spcPct val="150000"/>
              </a:lnSpc>
              <a:buFont typeface="+mj-lt"/>
              <a:buAutoNum type="arabicPeriod"/>
            </a:pPr>
            <a:r>
              <a:rPr lang="zh-CN" altLang="zh-CN" sz="2000" kern="100" dirty="0">
                <a:effectLst/>
                <a:latin typeface="黑体" panose="02010609060101010101" charset="-122"/>
                <a:ea typeface="黑体" panose="02010609060101010101" charset="-122"/>
                <a:cs typeface="黑体" panose="02010609060101010101" charset="-122"/>
                <a:sym typeface="+mn-ea"/>
              </a:rPr>
              <a:t>更新数据集合和特征集合（删除上一步使用的特征，并按照特征值来划分不同分支的数据集合）；</a:t>
            </a:r>
            <a:endParaRPr lang="zh-CN" altLang="zh-CN" sz="2000" kern="100" dirty="0">
              <a:effectLst/>
              <a:latin typeface="黑体" panose="02010609060101010101" charset="-122"/>
              <a:ea typeface="黑体" panose="02010609060101010101" charset="-122"/>
              <a:cs typeface="黑体" panose="02010609060101010101" charset="-122"/>
            </a:endParaRPr>
          </a:p>
          <a:p>
            <a:pPr marL="342900" lvl="0" indent="-342900" algn="just">
              <a:lnSpc>
                <a:spcPct val="150000"/>
              </a:lnSpc>
              <a:buFont typeface="+mj-lt"/>
              <a:buAutoNum type="arabicPeriod"/>
            </a:pPr>
            <a:r>
              <a:rPr lang="zh-CN" altLang="zh-CN" sz="2000" kern="100" dirty="0">
                <a:effectLst/>
                <a:latin typeface="黑体" panose="02010609060101010101" charset="-122"/>
                <a:ea typeface="黑体" panose="02010609060101010101" charset="-122"/>
                <a:cs typeface="黑体" panose="02010609060101010101" charset="-122"/>
                <a:sym typeface="+mn-ea"/>
              </a:rPr>
              <a:t>重复</a:t>
            </a:r>
            <a:r>
              <a:rPr lang="en-US" altLang="zh-CN" sz="2000" kern="100" dirty="0">
                <a:effectLst/>
                <a:latin typeface="黑体" panose="02010609060101010101" charset="-122"/>
                <a:ea typeface="黑体" panose="02010609060101010101" charset="-122"/>
                <a:cs typeface="黑体" panose="02010609060101010101" charset="-122"/>
                <a:sym typeface="+mn-ea"/>
              </a:rPr>
              <a:t> 2</a:t>
            </a:r>
            <a:r>
              <a:rPr lang="zh-CN" altLang="zh-CN" sz="2000" kern="100" dirty="0">
                <a:effectLst/>
                <a:latin typeface="黑体" panose="02010609060101010101" charset="-122"/>
                <a:ea typeface="黑体" panose="02010609060101010101" charset="-122"/>
                <a:cs typeface="黑体" panose="02010609060101010101" charset="-122"/>
                <a:sym typeface="+mn-ea"/>
              </a:rPr>
              <a:t>，</a:t>
            </a:r>
            <a:r>
              <a:rPr lang="en-US" altLang="zh-CN" sz="2000" kern="100" dirty="0">
                <a:effectLst/>
                <a:latin typeface="黑体" panose="02010609060101010101" charset="-122"/>
                <a:ea typeface="黑体" panose="02010609060101010101" charset="-122"/>
                <a:cs typeface="黑体" panose="02010609060101010101" charset="-122"/>
                <a:sym typeface="+mn-ea"/>
              </a:rPr>
              <a:t>3 </a:t>
            </a:r>
            <a:r>
              <a:rPr lang="zh-CN" altLang="zh-CN" sz="2000" kern="100" dirty="0">
                <a:effectLst/>
                <a:latin typeface="黑体" panose="02010609060101010101" charset="-122"/>
                <a:ea typeface="黑体" panose="02010609060101010101" charset="-122"/>
                <a:cs typeface="黑体" panose="02010609060101010101" charset="-122"/>
                <a:sym typeface="+mn-ea"/>
              </a:rPr>
              <a:t>两步，若子集值包含单一特征，则为分支叶子节点。</a:t>
            </a:r>
            <a:endParaRPr lang="zh-CN" altLang="zh-CN" sz="2000" kern="100" dirty="0">
              <a:effectLst/>
              <a:latin typeface="黑体" panose="02010609060101010101" charset="-122"/>
              <a:ea typeface="黑体" panose="02010609060101010101" charset="-122"/>
              <a:cs typeface="黑体" panose="02010609060101010101" charset="-122"/>
            </a:endParaRPr>
          </a:p>
          <a:p>
            <a:pPr marL="285750" indent="-285750" algn="just" fontAlgn="auto">
              <a:lnSpc>
                <a:spcPct val="130000"/>
              </a:lnSpc>
              <a:buFont typeface="Wingdings" panose="05000000000000000000" charset="0"/>
              <a:buChar char="Ø"/>
            </a:pPr>
            <a:endParaRPr lang="en-US" altLang="zh-CN" sz="2000" dirty="0">
              <a:latin typeface="Times New Roman" panose="02020603050405020304" charset="0"/>
              <a:ea typeface="思源黑体 CN Medium" panose="020B0600000000000000" pitchFamily="34" charset="-122"/>
              <a:cs typeface="Times New Roman" panose="02020603050405020304" charset="0"/>
            </a:endParaRPr>
          </a:p>
          <a:p>
            <a:endParaRPr lang="en-US" altLang="zh-CN" sz="2000" dirty="0">
              <a:latin typeface="Times New Roman" panose="02020603050405020304" charset="0"/>
              <a:ea typeface="思源黑体 CN Medium" panose="020B0600000000000000" pitchFamily="34"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40360" y="273685"/>
            <a:ext cx="2133600" cy="521970"/>
          </a:xfrm>
          <a:prstGeom prst="rect">
            <a:avLst/>
          </a:prstGeom>
          <a:noFill/>
        </p:spPr>
        <p:txBody>
          <a:bodyPr wrap="square" rtlCol="0">
            <a:spAutoFit/>
          </a:bodyPr>
          <a:p>
            <a:pPr algn="l" eaLnBrk="1" hangingPunct="1"/>
            <a:r>
              <a:rPr lang="en-US" altLang="zh-CN" sz="2800" b="1" dirty="0">
                <a:sym typeface="+mn-ea"/>
              </a:rPr>
              <a:t>1</a:t>
            </a:r>
            <a:r>
              <a:rPr lang="zh-CN" altLang="en-US" sz="2800" b="1" dirty="0">
                <a:sym typeface="+mn-ea"/>
              </a:rPr>
              <a:t>、</a:t>
            </a:r>
            <a:r>
              <a:rPr lang="en-US" altLang="zh-CN" sz="2800" b="1" dirty="0">
                <a:sym typeface="+mn-ea"/>
              </a:rPr>
              <a:t>ID3</a:t>
            </a:r>
            <a:r>
              <a:rPr lang="zh-CN" altLang="en-US" sz="2800" b="1" dirty="0">
                <a:sym typeface="+mn-ea"/>
              </a:rPr>
              <a:t>算法</a:t>
            </a:r>
            <a:endParaRPr lang="zh-CN" altLang="en-US" sz="2800" b="1" dirty="0">
              <a:sym typeface="+mn-ea"/>
            </a:endParaRPr>
          </a:p>
        </p:txBody>
      </p:sp>
      <p:pic>
        <p:nvPicPr>
          <p:cNvPr id="2" name="图片 1"/>
          <p:cNvPicPr>
            <a:picLocks noChangeAspect="1"/>
          </p:cNvPicPr>
          <p:nvPr>
            <p:custDataLst>
              <p:tags r:id="rId1"/>
            </p:custDataLst>
          </p:nvPr>
        </p:nvPicPr>
        <p:blipFill>
          <a:blip r:embed="rId2"/>
          <a:stretch>
            <a:fillRect/>
          </a:stretch>
        </p:blipFill>
        <p:spPr>
          <a:xfrm>
            <a:off x="298450" y="1130300"/>
            <a:ext cx="11594465" cy="4597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40360" y="273685"/>
            <a:ext cx="2133600" cy="521970"/>
          </a:xfrm>
          <a:prstGeom prst="rect">
            <a:avLst/>
          </a:prstGeom>
          <a:noFill/>
        </p:spPr>
        <p:txBody>
          <a:bodyPr wrap="square" rtlCol="0">
            <a:spAutoFit/>
          </a:bodyPr>
          <a:p>
            <a:pPr algn="l" eaLnBrk="1" hangingPunct="1"/>
            <a:r>
              <a:rPr lang="en-US" altLang="zh-CN" sz="2800" b="1" dirty="0">
                <a:sym typeface="+mn-ea"/>
              </a:rPr>
              <a:t>1</a:t>
            </a:r>
            <a:r>
              <a:rPr lang="zh-CN" altLang="en-US" sz="2800" b="1" dirty="0">
                <a:sym typeface="+mn-ea"/>
              </a:rPr>
              <a:t>、</a:t>
            </a:r>
            <a:r>
              <a:rPr lang="en-US" altLang="zh-CN" sz="2800" b="1" dirty="0">
                <a:sym typeface="+mn-ea"/>
              </a:rPr>
              <a:t>ID3</a:t>
            </a:r>
            <a:r>
              <a:rPr lang="zh-CN" altLang="en-US" sz="2800" b="1" dirty="0">
                <a:sym typeface="+mn-ea"/>
              </a:rPr>
              <a:t>算法</a:t>
            </a:r>
            <a:endParaRPr lang="zh-CN" altLang="en-US" sz="2800" b="1" dirty="0">
              <a:sym typeface="+mn-ea"/>
            </a:endParaRPr>
          </a:p>
        </p:txBody>
      </p:sp>
      <p:pic>
        <p:nvPicPr>
          <p:cNvPr id="2" name="图片 1"/>
          <p:cNvPicPr>
            <a:picLocks noChangeAspect="1"/>
          </p:cNvPicPr>
          <p:nvPr>
            <p:custDataLst>
              <p:tags r:id="rId1"/>
            </p:custDataLst>
          </p:nvPr>
        </p:nvPicPr>
        <p:blipFill>
          <a:blip r:embed="rId2"/>
          <a:stretch>
            <a:fillRect/>
          </a:stretch>
        </p:blipFill>
        <p:spPr>
          <a:xfrm>
            <a:off x="271780" y="1236345"/>
            <a:ext cx="11678920" cy="438531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40360" y="273685"/>
            <a:ext cx="2133600" cy="521970"/>
          </a:xfrm>
          <a:prstGeom prst="rect">
            <a:avLst/>
          </a:prstGeom>
          <a:noFill/>
        </p:spPr>
        <p:txBody>
          <a:bodyPr wrap="square" rtlCol="0">
            <a:spAutoFit/>
          </a:bodyPr>
          <a:p>
            <a:pPr algn="l" eaLnBrk="1" hangingPunct="1"/>
            <a:r>
              <a:rPr lang="en-US" altLang="zh-CN" sz="2800" b="1" dirty="0">
                <a:sym typeface="+mn-ea"/>
              </a:rPr>
              <a:t>1</a:t>
            </a:r>
            <a:r>
              <a:rPr lang="zh-CN" altLang="en-US" sz="2800" b="1" dirty="0">
                <a:sym typeface="+mn-ea"/>
              </a:rPr>
              <a:t>、</a:t>
            </a:r>
            <a:r>
              <a:rPr lang="en-US" altLang="zh-CN" sz="2800" b="1" dirty="0">
                <a:sym typeface="+mn-ea"/>
              </a:rPr>
              <a:t>ID3</a:t>
            </a:r>
            <a:r>
              <a:rPr lang="zh-CN" altLang="en-US" sz="2800" b="1" dirty="0">
                <a:sym typeface="+mn-ea"/>
              </a:rPr>
              <a:t>算法</a:t>
            </a:r>
            <a:endParaRPr lang="zh-CN" altLang="en-US" sz="2800" b="1" dirty="0">
              <a:sym typeface="+mn-ea"/>
            </a:endParaRPr>
          </a:p>
        </p:txBody>
      </p:sp>
      <p:pic>
        <p:nvPicPr>
          <p:cNvPr id="3" name="图片 2"/>
          <p:cNvPicPr>
            <a:picLocks noChangeAspect="1"/>
          </p:cNvPicPr>
          <p:nvPr>
            <p:custDataLst>
              <p:tags r:id="rId1"/>
            </p:custDataLst>
          </p:nvPr>
        </p:nvPicPr>
        <p:blipFill>
          <a:blip r:embed="rId2"/>
          <a:stretch>
            <a:fillRect/>
          </a:stretch>
        </p:blipFill>
        <p:spPr>
          <a:xfrm>
            <a:off x="340360" y="1222375"/>
            <a:ext cx="11598275" cy="44132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40360" y="273685"/>
            <a:ext cx="2133600" cy="521970"/>
          </a:xfrm>
          <a:prstGeom prst="rect">
            <a:avLst/>
          </a:prstGeom>
          <a:noFill/>
        </p:spPr>
        <p:txBody>
          <a:bodyPr wrap="square" rtlCol="0">
            <a:spAutoFit/>
          </a:bodyPr>
          <a:p>
            <a:pPr algn="l" eaLnBrk="1" hangingPunct="1"/>
            <a:r>
              <a:rPr lang="en-US" altLang="zh-CN" sz="2800" b="1" dirty="0">
                <a:sym typeface="+mn-ea"/>
              </a:rPr>
              <a:t>1</a:t>
            </a:r>
            <a:r>
              <a:rPr lang="zh-CN" altLang="en-US" sz="2800" b="1" dirty="0">
                <a:sym typeface="+mn-ea"/>
              </a:rPr>
              <a:t>、</a:t>
            </a:r>
            <a:r>
              <a:rPr lang="en-US" altLang="zh-CN" sz="2800" b="1" dirty="0">
                <a:sym typeface="+mn-ea"/>
              </a:rPr>
              <a:t>ID3</a:t>
            </a:r>
            <a:r>
              <a:rPr lang="zh-CN" altLang="en-US" sz="2800" b="1" dirty="0">
                <a:sym typeface="+mn-ea"/>
              </a:rPr>
              <a:t>算法</a:t>
            </a:r>
            <a:endParaRPr lang="zh-CN" altLang="en-US" sz="2800" b="1" dirty="0">
              <a:sym typeface="+mn-ea"/>
            </a:endParaRPr>
          </a:p>
        </p:txBody>
      </p:sp>
      <p:pic>
        <p:nvPicPr>
          <p:cNvPr id="2" name="图片 1"/>
          <p:cNvPicPr>
            <a:picLocks noChangeAspect="1"/>
          </p:cNvPicPr>
          <p:nvPr>
            <p:custDataLst>
              <p:tags r:id="rId1"/>
            </p:custDataLst>
          </p:nvPr>
        </p:nvPicPr>
        <p:blipFill>
          <a:blip r:embed="rId2"/>
          <a:stretch>
            <a:fillRect/>
          </a:stretch>
        </p:blipFill>
        <p:spPr>
          <a:xfrm>
            <a:off x="288290" y="1243330"/>
            <a:ext cx="11615420" cy="44589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40360" y="273685"/>
            <a:ext cx="2133600" cy="521970"/>
          </a:xfrm>
          <a:prstGeom prst="rect">
            <a:avLst/>
          </a:prstGeom>
          <a:noFill/>
        </p:spPr>
        <p:txBody>
          <a:bodyPr wrap="square" rtlCol="0">
            <a:spAutoFit/>
          </a:bodyPr>
          <a:p>
            <a:pPr algn="l" eaLnBrk="1" hangingPunct="1"/>
            <a:r>
              <a:rPr lang="en-US" altLang="zh-CN" sz="2800" b="1" dirty="0">
                <a:sym typeface="+mn-ea"/>
              </a:rPr>
              <a:t>1</a:t>
            </a:r>
            <a:r>
              <a:rPr lang="zh-CN" altLang="en-US" sz="2800" b="1" dirty="0">
                <a:sym typeface="+mn-ea"/>
              </a:rPr>
              <a:t>、</a:t>
            </a:r>
            <a:r>
              <a:rPr lang="en-US" altLang="zh-CN" sz="2800" b="1" dirty="0">
                <a:sym typeface="+mn-ea"/>
              </a:rPr>
              <a:t>ID3</a:t>
            </a:r>
            <a:r>
              <a:rPr lang="zh-CN" altLang="en-US" sz="2800" b="1" dirty="0">
                <a:sym typeface="+mn-ea"/>
              </a:rPr>
              <a:t>算法</a:t>
            </a:r>
            <a:endParaRPr lang="zh-CN" altLang="en-US" sz="2800" b="1" dirty="0">
              <a:sym typeface="+mn-ea"/>
            </a:endParaRPr>
          </a:p>
        </p:txBody>
      </p:sp>
      <p:sp>
        <p:nvSpPr>
          <p:cNvPr id="3" name="文本框 2"/>
          <p:cNvSpPr txBox="1"/>
          <p:nvPr/>
        </p:nvSpPr>
        <p:spPr>
          <a:xfrm>
            <a:off x="948055" y="1156970"/>
            <a:ext cx="7526020" cy="3841750"/>
          </a:xfrm>
          <a:prstGeom prst="rect">
            <a:avLst/>
          </a:prstGeom>
          <a:noFill/>
        </p:spPr>
        <p:txBody>
          <a:bodyPr wrap="square" rtlCol="0">
            <a:noAutofit/>
          </a:bodyPr>
          <a:p>
            <a:pPr>
              <a:lnSpc>
                <a:spcPct val="160000"/>
              </a:lnSpc>
            </a:pPr>
            <a:r>
              <a:rPr lang="en-US" altLang="zh-CN" sz="2400" b="1" dirty="0" err="1">
                <a:effectLst/>
                <a:latin typeface="黑体" panose="02010609060101010101" charset="-122"/>
                <a:ea typeface="黑体" panose="02010609060101010101" charset="-122"/>
                <a:cs typeface="黑体" panose="02010609060101010101" charset="-122"/>
                <a:sym typeface="+mn-ea"/>
              </a:rPr>
              <a:t>缺点</a:t>
            </a:r>
            <a:r>
              <a:rPr lang="zh-CN" altLang="en-US" sz="2400" b="1" dirty="0" err="1">
                <a:effectLst/>
                <a:latin typeface="黑体" panose="02010609060101010101" charset="-122"/>
                <a:ea typeface="黑体" panose="02010609060101010101" charset="-122"/>
                <a:cs typeface="黑体" panose="02010609060101010101" charset="-122"/>
                <a:sym typeface="+mn-ea"/>
              </a:rPr>
              <a:t>：</a:t>
            </a:r>
            <a:endParaRPr lang="zh-CN" altLang="en-US" sz="2400" b="1" dirty="0" err="1">
              <a:effectLst/>
              <a:latin typeface="黑体" panose="02010609060101010101" charset="-122"/>
              <a:ea typeface="黑体" panose="02010609060101010101" charset="-122"/>
              <a:cs typeface="黑体" panose="02010609060101010101" charset="-122"/>
              <a:sym typeface="+mn-ea"/>
            </a:endParaRPr>
          </a:p>
          <a:p>
            <a:pPr marL="457200" indent="-457200">
              <a:lnSpc>
                <a:spcPct val="160000"/>
              </a:lnSpc>
              <a:buFont typeface="+mj-ea"/>
              <a:buAutoNum type="circleNumDbPlain"/>
            </a:pPr>
            <a:r>
              <a:rPr lang="en-US" altLang="zh-CN" sz="2400" kern="100" dirty="0">
                <a:effectLst/>
                <a:latin typeface="黑体" panose="02010609060101010101" charset="-122"/>
                <a:ea typeface="黑体" panose="02010609060101010101" charset="-122"/>
                <a:cs typeface="黑体" panose="02010609060101010101" charset="-122"/>
                <a:sym typeface="+mn-ea"/>
              </a:rPr>
              <a:t>ID3 </a:t>
            </a:r>
            <a:r>
              <a:rPr lang="zh-CN" altLang="zh-CN" sz="2400" kern="100" dirty="0">
                <a:effectLst/>
                <a:latin typeface="黑体" panose="02010609060101010101" charset="-122"/>
                <a:ea typeface="黑体" panose="02010609060101010101" charset="-122"/>
                <a:cs typeface="黑体" panose="02010609060101010101" charset="-122"/>
                <a:sym typeface="+mn-ea"/>
              </a:rPr>
              <a:t>没有剪枝策略，容易过拟合；</a:t>
            </a:r>
            <a:endParaRPr lang="zh-CN" altLang="zh-CN" sz="2400" kern="100" dirty="0">
              <a:effectLst/>
              <a:latin typeface="黑体" panose="02010609060101010101" charset="-122"/>
              <a:ea typeface="黑体" panose="02010609060101010101" charset="-122"/>
              <a:cs typeface="黑体" panose="02010609060101010101" charset="-122"/>
              <a:sym typeface="+mn-ea"/>
            </a:endParaRPr>
          </a:p>
          <a:p>
            <a:pPr marL="457200" indent="-457200">
              <a:lnSpc>
                <a:spcPct val="160000"/>
              </a:lnSpc>
              <a:buFont typeface="+mj-ea"/>
              <a:buAutoNum type="circleNumDbPlain"/>
            </a:pPr>
            <a:r>
              <a:rPr lang="zh-CN" altLang="zh-CN" sz="2400" kern="100" dirty="0">
                <a:effectLst/>
                <a:latin typeface="黑体" panose="02010609060101010101" charset="-122"/>
                <a:ea typeface="黑体" panose="02010609060101010101" charset="-122"/>
                <a:cs typeface="黑体" panose="02010609060101010101" charset="-122"/>
                <a:sym typeface="+mn-ea"/>
              </a:rPr>
              <a:t>信息增益准则对可取值数目较多的特征有所偏好，类似</a:t>
            </a:r>
            <a:r>
              <a:rPr lang="en-US" altLang="zh-CN" sz="2400" kern="100" dirty="0">
                <a:effectLst/>
                <a:latin typeface="黑体" panose="02010609060101010101" charset="-122"/>
                <a:ea typeface="黑体" panose="02010609060101010101" charset="-122"/>
                <a:cs typeface="黑体" panose="02010609060101010101" charset="-122"/>
                <a:sym typeface="+mn-ea"/>
              </a:rPr>
              <a:t>“</a:t>
            </a:r>
            <a:r>
              <a:rPr lang="zh-CN" altLang="zh-CN" sz="2400" kern="100" dirty="0">
                <a:effectLst/>
                <a:latin typeface="黑体" panose="02010609060101010101" charset="-122"/>
                <a:ea typeface="黑体" panose="02010609060101010101" charset="-122"/>
                <a:cs typeface="黑体" panose="02010609060101010101" charset="-122"/>
                <a:sym typeface="+mn-ea"/>
              </a:rPr>
              <a:t>编号</a:t>
            </a:r>
            <a:r>
              <a:rPr lang="en-US" altLang="zh-CN" sz="2400" kern="100" dirty="0">
                <a:effectLst/>
                <a:latin typeface="黑体" panose="02010609060101010101" charset="-122"/>
                <a:ea typeface="黑体" panose="02010609060101010101" charset="-122"/>
                <a:cs typeface="黑体" panose="02010609060101010101" charset="-122"/>
                <a:sym typeface="+mn-ea"/>
              </a:rPr>
              <a:t>”</a:t>
            </a:r>
            <a:r>
              <a:rPr lang="zh-CN" altLang="zh-CN" sz="2400" kern="100" dirty="0">
                <a:effectLst/>
                <a:latin typeface="黑体" panose="02010609060101010101" charset="-122"/>
                <a:ea typeface="黑体" panose="02010609060101010101" charset="-122"/>
                <a:cs typeface="黑体" panose="02010609060101010101" charset="-122"/>
                <a:sym typeface="+mn-ea"/>
              </a:rPr>
              <a:t>的特征其信息增益接近于</a:t>
            </a:r>
            <a:r>
              <a:rPr lang="en-US" altLang="zh-CN" sz="2400" kern="100" dirty="0">
                <a:effectLst/>
                <a:latin typeface="黑体" panose="02010609060101010101" charset="-122"/>
                <a:ea typeface="黑体" panose="02010609060101010101" charset="-122"/>
                <a:cs typeface="黑体" panose="02010609060101010101" charset="-122"/>
                <a:sym typeface="+mn-ea"/>
              </a:rPr>
              <a:t> 1</a:t>
            </a:r>
            <a:r>
              <a:rPr lang="zh-CN" altLang="zh-CN" sz="2400" kern="100" dirty="0">
                <a:effectLst/>
                <a:latin typeface="黑体" panose="02010609060101010101" charset="-122"/>
                <a:ea typeface="黑体" panose="02010609060101010101" charset="-122"/>
                <a:cs typeface="黑体" panose="02010609060101010101" charset="-122"/>
                <a:sym typeface="+mn-ea"/>
              </a:rPr>
              <a:t>；</a:t>
            </a:r>
            <a:endParaRPr lang="zh-CN" altLang="zh-CN" sz="2400" kern="100" dirty="0">
              <a:effectLst/>
              <a:latin typeface="黑体" panose="02010609060101010101" charset="-122"/>
              <a:ea typeface="黑体" panose="02010609060101010101" charset="-122"/>
              <a:cs typeface="黑体" panose="02010609060101010101" charset="-122"/>
              <a:sym typeface="+mn-ea"/>
            </a:endParaRPr>
          </a:p>
          <a:p>
            <a:pPr marL="457200" indent="-457200">
              <a:lnSpc>
                <a:spcPct val="160000"/>
              </a:lnSpc>
              <a:buFont typeface="+mj-ea"/>
              <a:buAutoNum type="circleNumDbPlain"/>
            </a:pPr>
            <a:r>
              <a:rPr lang="zh-CN" altLang="zh-CN" sz="2400" kern="100" dirty="0">
                <a:effectLst/>
                <a:latin typeface="黑体" panose="02010609060101010101" charset="-122"/>
                <a:ea typeface="黑体" panose="02010609060101010101" charset="-122"/>
                <a:cs typeface="黑体" panose="02010609060101010101" charset="-122"/>
                <a:sym typeface="+mn-ea"/>
              </a:rPr>
              <a:t>只能用于处理离散分布的特征；</a:t>
            </a:r>
            <a:endParaRPr lang="zh-CN" altLang="zh-CN" sz="2400" kern="100" dirty="0">
              <a:effectLst/>
              <a:latin typeface="黑体" panose="02010609060101010101" charset="-122"/>
              <a:ea typeface="黑体" panose="02010609060101010101" charset="-122"/>
              <a:cs typeface="黑体" panose="02010609060101010101" charset="-122"/>
              <a:sym typeface="+mn-ea"/>
            </a:endParaRPr>
          </a:p>
          <a:p>
            <a:pPr marL="457200" indent="-457200">
              <a:lnSpc>
                <a:spcPct val="160000"/>
              </a:lnSpc>
              <a:buFont typeface="+mj-ea"/>
              <a:buAutoNum type="circleNumDbPlain"/>
            </a:pPr>
            <a:r>
              <a:rPr lang="zh-CN" altLang="zh-CN" sz="2400" kern="100" dirty="0">
                <a:effectLst/>
                <a:latin typeface="黑体" panose="02010609060101010101" charset="-122"/>
                <a:ea typeface="黑体" panose="02010609060101010101" charset="-122"/>
                <a:cs typeface="黑体" panose="02010609060101010101" charset="-122"/>
                <a:sym typeface="+mn-ea"/>
              </a:rPr>
              <a:t>没有考虑缺失值。</a:t>
            </a:r>
            <a:endParaRPr lang="zh-CN" altLang="zh-CN" sz="2400" kern="100" dirty="0">
              <a:effectLst/>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descr="在地上&#10;&#10;低可信度描述已自动生成"/>
          <p:cNvPicPr>
            <a:picLocks noChangeAspect="1"/>
          </p:cNvPicPr>
          <p:nvPr/>
        </p:nvPicPr>
        <p:blipFill>
          <a:blip r:embed="rId1">
            <a:extLst>
              <a:ext uri="{28A0092B-C50C-407E-A947-70E740481C1C}">
                <a14:useLocalDpi xmlns:a14="http://schemas.microsoft.com/office/drawing/2010/main" val="0"/>
              </a:ext>
            </a:extLst>
          </a:blip>
          <a:srcRect t="18750" b="12524"/>
          <a:stretch>
            <a:fillRect/>
          </a:stretch>
        </p:blipFill>
        <p:spPr>
          <a:xfrm>
            <a:off x="0" y="2832100"/>
            <a:ext cx="12192000" cy="4025900"/>
          </a:xfrm>
          <a:custGeom>
            <a:avLst/>
            <a:gdLst>
              <a:gd name="connsiteX0" fmla="*/ 0 w 12192000"/>
              <a:gd name="connsiteY0" fmla="*/ 0 h 4025900"/>
              <a:gd name="connsiteX1" fmla="*/ 12192000 w 12192000"/>
              <a:gd name="connsiteY1" fmla="*/ 0 h 4025900"/>
              <a:gd name="connsiteX2" fmla="*/ 12192000 w 12192000"/>
              <a:gd name="connsiteY2" fmla="*/ 4025900 h 4025900"/>
              <a:gd name="connsiteX3" fmla="*/ 0 w 12192000"/>
              <a:gd name="connsiteY3" fmla="*/ 4025900 h 4025900"/>
            </a:gdLst>
            <a:ahLst/>
            <a:cxnLst>
              <a:cxn ang="0">
                <a:pos x="connsiteX0" y="connsiteY0"/>
              </a:cxn>
              <a:cxn ang="0">
                <a:pos x="connsiteX1" y="connsiteY1"/>
              </a:cxn>
              <a:cxn ang="0">
                <a:pos x="connsiteX2" y="connsiteY2"/>
              </a:cxn>
              <a:cxn ang="0">
                <a:pos x="connsiteX3" y="connsiteY3"/>
              </a:cxn>
            </a:cxnLst>
            <a:rect l="l" t="t" r="r" b="b"/>
            <a:pathLst>
              <a:path w="12192000" h="4025900">
                <a:moveTo>
                  <a:pt x="0" y="0"/>
                </a:moveTo>
                <a:lnTo>
                  <a:pt x="12192000" y="0"/>
                </a:lnTo>
                <a:lnTo>
                  <a:pt x="12192000" y="4025900"/>
                </a:lnTo>
                <a:lnTo>
                  <a:pt x="0" y="4025900"/>
                </a:lnTo>
                <a:close/>
              </a:path>
            </a:pathLst>
          </a:custGeom>
        </p:spPr>
      </p:pic>
      <p:sp>
        <p:nvSpPr>
          <p:cNvPr id="3" name="对角圆角矩形 8"/>
          <p:cNvSpPr/>
          <p:nvPr>
            <p:custDataLst>
              <p:tags r:id="rId2"/>
            </p:custDataLst>
          </p:nvPr>
        </p:nvSpPr>
        <p:spPr>
          <a:xfrm>
            <a:off x="2956847" y="3058380"/>
            <a:ext cx="6278833" cy="647700"/>
          </a:xfrm>
          <a:prstGeom prst="round2DiagRect">
            <a:avLst>
              <a:gd name="adj1" fmla="val 20943"/>
              <a:gd name="adj2" fmla="val 0"/>
            </a:avLst>
          </a:prstGeom>
          <a:solidFill>
            <a:srgbClr val="8FC1C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p>
        </p:txBody>
      </p:sp>
      <p:sp>
        <p:nvSpPr>
          <p:cNvPr id="4" name="TextBox 10"/>
          <p:cNvSpPr txBox="1">
            <a:spLocks noChangeArrowheads="1"/>
          </p:cNvSpPr>
          <p:nvPr>
            <p:custDataLst>
              <p:tags r:id="rId3"/>
            </p:custDataLst>
          </p:nvPr>
        </p:nvSpPr>
        <p:spPr bwMode="auto">
          <a:xfrm>
            <a:off x="4133850" y="2075180"/>
            <a:ext cx="3183890"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chemeClr val="tx1"/>
                </a:solidFill>
                <a:latin typeface="Impact" panose="020B0806030902050204" pitchFamily="34" charset="0"/>
                <a:ea typeface="微软雅黑" panose="020B0503020204020204" charset="-122"/>
              </a:rPr>
              <a:t>01    ID3</a:t>
            </a:r>
            <a:r>
              <a:rPr lang="zh-CN" altLang="en-US" sz="3600" dirty="0">
                <a:solidFill>
                  <a:schemeClr val="tx1"/>
                </a:solidFill>
                <a:latin typeface="Impact" panose="020B0806030902050204" pitchFamily="34" charset="0"/>
                <a:ea typeface="微软雅黑" panose="020B0503020204020204" charset="-122"/>
              </a:rPr>
              <a:t>算法</a:t>
            </a:r>
            <a:endParaRPr lang="zh-CN" altLang="en-US" sz="3600" dirty="0">
              <a:solidFill>
                <a:schemeClr val="tx1"/>
              </a:solidFill>
              <a:latin typeface="Impact" panose="020B0806030902050204" pitchFamily="34" charset="0"/>
              <a:ea typeface="微软雅黑" panose="020B0503020204020204" charset="-122"/>
            </a:endParaRPr>
          </a:p>
        </p:txBody>
      </p:sp>
      <p:sp>
        <p:nvSpPr>
          <p:cNvPr id="9" name="TextBox 11"/>
          <p:cNvSpPr txBox="1">
            <a:spLocks noChangeArrowheads="1"/>
          </p:cNvSpPr>
          <p:nvPr>
            <p:custDataLst>
              <p:tags r:id="rId4"/>
            </p:custDataLst>
          </p:nvPr>
        </p:nvSpPr>
        <p:spPr bwMode="auto">
          <a:xfrm>
            <a:off x="4133850" y="3152140"/>
            <a:ext cx="2913380"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charset="-122"/>
              </a:rPr>
              <a:t>02    C4.5</a:t>
            </a:r>
            <a:r>
              <a:rPr lang="zh-CN" altLang="en-US" sz="3600" dirty="0">
                <a:solidFill>
                  <a:schemeClr val="bg1"/>
                </a:solidFill>
                <a:latin typeface="Impact" panose="020B0806030902050204" pitchFamily="34" charset="0"/>
                <a:ea typeface="微软雅黑" panose="020B0503020204020204" charset="-122"/>
              </a:rPr>
              <a:t>算法</a:t>
            </a:r>
            <a:endParaRPr lang="zh-CN" altLang="en-US" sz="3600" dirty="0">
              <a:solidFill>
                <a:schemeClr val="bg1"/>
              </a:solidFill>
              <a:latin typeface="Impact" panose="020B0806030902050204" pitchFamily="34" charset="0"/>
              <a:ea typeface="微软雅黑" panose="020B0503020204020204" charset="-122"/>
            </a:endParaRPr>
          </a:p>
        </p:txBody>
      </p:sp>
      <p:sp>
        <p:nvSpPr>
          <p:cNvPr id="10" name="TextBox 10"/>
          <p:cNvSpPr txBox="1">
            <a:spLocks noChangeArrowheads="1"/>
          </p:cNvSpPr>
          <p:nvPr>
            <p:custDataLst>
              <p:tags r:id="rId5"/>
            </p:custDataLst>
          </p:nvPr>
        </p:nvSpPr>
        <p:spPr bwMode="auto">
          <a:xfrm>
            <a:off x="4133850" y="4229100"/>
            <a:ext cx="2776855"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charset="-122"/>
              </a:rPr>
              <a:t>03 </a:t>
            </a:r>
            <a:r>
              <a:rPr lang="zh-CN" altLang="en-US" sz="3600" dirty="0">
                <a:latin typeface="Impact" panose="020B0806030902050204" pitchFamily="34" charset="0"/>
                <a:ea typeface="微软雅黑" panose="020B0503020204020204" charset="-122"/>
              </a:rPr>
              <a:t>   </a:t>
            </a:r>
            <a:r>
              <a:rPr lang="en-US" altLang="zh-CN" sz="3600" dirty="0">
                <a:latin typeface="Impact" panose="020B0806030902050204" pitchFamily="34" charset="0"/>
                <a:ea typeface="微软雅黑" panose="020B0503020204020204" charset="-122"/>
              </a:rPr>
              <a:t>CART</a:t>
            </a:r>
            <a:r>
              <a:rPr lang="zh-CN" altLang="en-US" sz="3600" dirty="0">
                <a:latin typeface="Impact" panose="020B0806030902050204" pitchFamily="34" charset="0"/>
                <a:ea typeface="微软雅黑" panose="020B0503020204020204" charset="-122"/>
              </a:rPr>
              <a:t>算法</a:t>
            </a:r>
            <a:endParaRPr lang="zh-CN" altLang="en-US" sz="3600" dirty="0">
              <a:latin typeface="Impact" panose="020B0806030902050204" pitchFamily="34" charset="0"/>
              <a:ea typeface="微软雅黑" panose="020B0503020204020204" charset="-122"/>
            </a:endParaRPr>
          </a:p>
        </p:txBody>
      </p:sp>
      <p:grpSp>
        <p:nvGrpSpPr>
          <p:cNvPr id="14" name="组合 13"/>
          <p:cNvGrpSpPr/>
          <p:nvPr/>
        </p:nvGrpSpPr>
        <p:grpSpPr>
          <a:xfrm>
            <a:off x="4067175" y="686435"/>
            <a:ext cx="3901440" cy="903610"/>
            <a:chOff x="1029437" y="3931614"/>
            <a:chExt cx="3582597" cy="903707"/>
          </a:xfrm>
        </p:grpSpPr>
        <p:sp>
          <p:nvSpPr>
            <p:cNvPr id="15" name="矩形 14"/>
            <p:cNvSpPr/>
            <p:nvPr>
              <p:custDataLst>
                <p:tags r:id="rId6"/>
              </p:custDataLst>
            </p:nvPr>
          </p:nvSpPr>
          <p:spPr>
            <a:xfrm>
              <a:off x="1029437" y="3988332"/>
              <a:ext cx="853873" cy="706831"/>
            </a:xfrm>
            <a:prstGeom prst="rect">
              <a:avLst/>
            </a:prstGeom>
          </p:spPr>
          <p:txBody>
            <a:bodyPr wrap="square">
              <a:spAutoFit/>
            </a:bodyPr>
            <a:p>
              <a:r>
                <a:rPr lang="zh-CN" altLang="en-US" sz="4000" dirty="0">
                  <a:solidFill>
                    <a:srgbClr val="6FB4BD"/>
                  </a:solidFill>
                  <a:latin typeface="汉仪中宋简" panose="02010609000101010101" pitchFamily="49" charset="-122"/>
                  <a:ea typeface="汉仪中宋简" panose="02010609000101010101" pitchFamily="49" charset="-122"/>
                </a:rPr>
                <a:t>一、</a:t>
              </a:r>
              <a:endParaRPr lang="zh-CN" altLang="en-US" sz="4000" dirty="0">
                <a:solidFill>
                  <a:srgbClr val="6FB4BD"/>
                </a:solidFill>
                <a:latin typeface="汉仪中宋简" panose="02010609000101010101" pitchFamily="49" charset="-122"/>
                <a:ea typeface="汉仪中宋简" panose="02010609000101010101" pitchFamily="49" charset="-122"/>
              </a:endParaRPr>
            </a:p>
          </p:txBody>
        </p:sp>
        <p:sp>
          <p:nvSpPr>
            <p:cNvPr id="17" name="矩形 16"/>
            <p:cNvSpPr/>
            <p:nvPr>
              <p:custDataLst>
                <p:tags r:id="rId7"/>
              </p:custDataLst>
            </p:nvPr>
          </p:nvSpPr>
          <p:spPr>
            <a:xfrm>
              <a:off x="1965156" y="3931614"/>
              <a:ext cx="2646878" cy="706831"/>
            </a:xfrm>
            <a:prstGeom prst="rect">
              <a:avLst/>
            </a:prstGeom>
          </p:spPr>
          <p:txBody>
            <a:bodyPr wrap="square">
              <a:spAutoFit/>
            </a:bodyPr>
            <a:p>
              <a:r>
                <a:rPr lang="zh-CN" altLang="en-US" sz="4000" dirty="0">
                  <a:solidFill>
                    <a:srgbClr val="6FB4BD"/>
                  </a:solidFill>
                  <a:latin typeface="华文新魏" panose="02010800040101010101" charset="-122"/>
                  <a:ea typeface="华文新魏" panose="02010800040101010101" charset="-122"/>
                </a:rPr>
                <a:t>决策树</a:t>
              </a:r>
              <a:r>
                <a:rPr lang="en-US" altLang="zh-CN" sz="4000" dirty="0">
                  <a:solidFill>
                    <a:srgbClr val="6FB4BD"/>
                  </a:solidFill>
                  <a:latin typeface="华文新魏" panose="02010800040101010101" charset="-122"/>
                  <a:ea typeface="华文新魏" panose="02010800040101010101" charset="-122"/>
                </a:rPr>
                <a:t> </a:t>
              </a:r>
              <a:endParaRPr lang="en-US" altLang="zh-CN" sz="4000" dirty="0">
                <a:solidFill>
                  <a:srgbClr val="6FB4BD"/>
                </a:solidFill>
                <a:latin typeface="华文新魏" panose="02010800040101010101" charset="-122"/>
                <a:ea typeface="华文新魏" panose="02010800040101010101" charset="-122"/>
              </a:endParaRPr>
            </a:p>
          </p:txBody>
        </p:sp>
        <p:sp>
          <p:nvSpPr>
            <p:cNvPr id="19" name="矩形 18"/>
            <p:cNvSpPr/>
            <p:nvPr>
              <p:custDataLst>
                <p:tags r:id="rId8"/>
              </p:custDataLst>
            </p:nvPr>
          </p:nvSpPr>
          <p:spPr>
            <a:xfrm>
              <a:off x="1996815" y="4436498"/>
              <a:ext cx="2474677" cy="398823"/>
            </a:xfrm>
            <a:prstGeom prst="rect">
              <a:avLst/>
            </a:prstGeom>
          </p:spPr>
          <p:txBody>
            <a:bodyPr wrap="square">
              <a:spAutoFit/>
            </a:bodyPr>
            <a:p>
              <a:pPr algn="l"/>
              <a:r>
                <a:rPr lang="zh-CN" altLang="en-US" sz="2000" dirty="0">
                  <a:solidFill>
                    <a:srgbClr val="6FB4BD"/>
                  </a:solidFill>
                </a:rPr>
                <a:t>decision tree</a:t>
              </a:r>
              <a:endParaRPr lang="zh-CN" altLang="en-US" sz="2000" dirty="0">
                <a:solidFill>
                  <a:srgbClr val="6FB4BD"/>
                </a:solidFill>
              </a:endParaRPr>
            </a:p>
          </p:txBody>
        </p:sp>
      </p:gr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40360" y="273685"/>
            <a:ext cx="2495550" cy="521970"/>
          </a:xfrm>
          <a:prstGeom prst="rect">
            <a:avLst/>
          </a:prstGeom>
          <a:noFill/>
        </p:spPr>
        <p:txBody>
          <a:bodyPr wrap="square" rtlCol="0">
            <a:spAutoFit/>
          </a:bodyPr>
          <a:p>
            <a:pPr algn="l" eaLnBrk="1" hangingPunct="1"/>
            <a:r>
              <a:rPr lang="en-US" altLang="zh-CN" sz="2800" b="1" dirty="0">
                <a:sym typeface="+mn-ea"/>
              </a:rPr>
              <a:t>2</a:t>
            </a:r>
            <a:r>
              <a:rPr lang="zh-CN" altLang="en-US" sz="2800" b="1" dirty="0">
                <a:sym typeface="+mn-ea"/>
              </a:rPr>
              <a:t>、</a:t>
            </a:r>
            <a:r>
              <a:rPr lang="en-US" altLang="zh-CN" sz="2800" b="1" dirty="0">
                <a:sym typeface="+mn-ea"/>
              </a:rPr>
              <a:t>C4.5</a:t>
            </a:r>
            <a:r>
              <a:rPr lang="zh-CN" altLang="en-US" sz="2800" b="1" dirty="0">
                <a:sym typeface="+mn-ea"/>
              </a:rPr>
              <a:t>算法</a:t>
            </a:r>
            <a:endParaRPr lang="zh-CN" altLang="en-US" sz="2800" b="1" dirty="0">
              <a:sym typeface="+mn-ea"/>
            </a:endParaRPr>
          </a:p>
        </p:txBody>
      </p:sp>
      <p:sp>
        <p:nvSpPr>
          <p:cNvPr id="3" name="文本框 2"/>
          <p:cNvSpPr txBox="1"/>
          <p:nvPr/>
        </p:nvSpPr>
        <p:spPr>
          <a:xfrm>
            <a:off x="948055" y="1156970"/>
            <a:ext cx="7526020" cy="3841750"/>
          </a:xfrm>
          <a:prstGeom prst="rect">
            <a:avLst/>
          </a:prstGeom>
          <a:noFill/>
        </p:spPr>
        <p:txBody>
          <a:bodyPr wrap="square" rtlCol="0">
            <a:noAutofit/>
          </a:bodyPr>
          <a:p>
            <a:pPr algn="just">
              <a:lnSpc>
                <a:spcPct val="150000"/>
              </a:lnSpc>
            </a:pPr>
            <a:r>
              <a:rPr lang="en-US" altLang="zh-CN" sz="2400" dirty="0">
                <a:latin typeface="黑体" panose="02010609060101010101" charset="-122"/>
                <a:ea typeface="黑体" panose="02010609060101010101" charset="-122"/>
                <a:cs typeface="黑体" panose="02010609060101010101" charset="-122"/>
                <a:sym typeface="+mn-ea"/>
              </a:rPr>
              <a:t>C4.5 </a:t>
            </a:r>
            <a:r>
              <a:rPr lang="zh-CN" altLang="en-US" sz="2400" dirty="0">
                <a:latin typeface="黑体" panose="02010609060101010101" charset="-122"/>
                <a:ea typeface="黑体" panose="02010609060101010101" charset="-122"/>
                <a:cs typeface="黑体" panose="02010609060101010101" charset="-122"/>
                <a:sym typeface="+mn-ea"/>
              </a:rPr>
              <a:t>算法是 </a:t>
            </a:r>
            <a:r>
              <a:rPr lang="en-US" altLang="zh-CN" sz="2400" dirty="0">
                <a:latin typeface="黑体" panose="02010609060101010101" charset="-122"/>
                <a:ea typeface="黑体" panose="02010609060101010101" charset="-122"/>
                <a:cs typeface="黑体" panose="02010609060101010101" charset="-122"/>
                <a:sym typeface="+mn-ea"/>
              </a:rPr>
              <a:t>Ross </a:t>
            </a:r>
            <a:r>
              <a:rPr lang="zh-CN" altLang="en-US" sz="2400" dirty="0">
                <a:latin typeface="黑体" panose="02010609060101010101" charset="-122"/>
                <a:ea typeface="黑体" panose="02010609060101010101" charset="-122"/>
                <a:cs typeface="黑体" panose="02010609060101010101" charset="-122"/>
                <a:sym typeface="+mn-ea"/>
              </a:rPr>
              <a:t>对 </a:t>
            </a:r>
            <a:r>
              <a:rPr lang="en-US" altLang="zh-CN" sz="2400" dirty="0">
                <a:latin typeface="黑体" panose="02010609060101010101" charset="-122"/>
                <a:ea typeface="黑体" panose="02010609060101010101" charset="-122"/>
                <a:cs typeface="黑体" panose="02010609060101010101" charset="-122"/>
                <a:sym typeface="+mn-ea"/>
              </a:rPr>
              <a:t>ID3 </a:t>
            </a:r>
            <a:r>
              <a:rPr lang="zh-CN" altLang="en-US" sz="2400" dirty="0">
                <a:latin typeface="黑体" panose="02010609060101010101" charset="-122"/>
                <a:ea typeface="黑体" panose="02010609060101010101" charset="-122"/>
                <a:cs typeface="黑体" panose="02010609060101010101" charset="-122"/>
                <a:sym typeface="+mn-ea"/>
              </a:rPr>
              <a:t>算法的改进。</a:t>
            </a:r>
            <a:endParaRPr lang="zh-CN" altLang="en-US" sz="2400" dirty="0">
              <a:latin typeface="黑体" panose="02010609060101010101" charset="-122"/>
              <a:ea typeface="黑体" panose="02010609060101010101" charset="-122"/>
              <a:cs typeface="黑体" panose="02010609060101010101" charset="-122"/>
              <a:sym typeface="+mn-ea"/>
            </a:endParaRPr>
          </a:p>
          <a:p>
            <a:pPr marL="342900" indent="-342900" algn="just">
              <a:lnSpc>
                <a:spcPct val="150000"/>
              </a:lnSpc>
              <a:buFont typeface="Arial" panose="020B0604020202020204" pitchFamily="34" charset="0"/>
              <a:buChar char="•"/>
            </a:pPr>
            <a:r>
              <a:rPr lang="zh-CN" altLang="en-US" sz="2400" dirty="0">
                <a:latin typeface="黑体" panose="02010609060101010101" charset="-122"/>
                <a:ea typeface="黑体" panose="02010609060101010101" charset="-122"/>
                <a:cs typeface="黑体" panose="02010609060101010101" charset="-122"/>
                <a:sym typeface="+mn-ea"/>
              </a:rPr>
              <a:t>用</a:t>
            </a:r>
            <a:r>
              <a:rPr lang="zh-CN" altLang="en-US" sz="2400" dirty="0">
                <a:solidFill>
                  <a:srgbClr val="FF0000"/>
                </a:solidFill>
                <a:latin typeface="黑体" panose="02010609060101010101" charset="-122"/>
                <a:ea typeface="黑体" panose="02010609060101010101" charset="-122"/>
                <a:cs typeface="黑体" panose="02010609060101010101" charset="-122"/>
                <a:sym typeface="+mn-ea"/>
              </a:rPr>
              <a:t>信息增益率</a:t>
            </a:r>
            <a:r>
              <a:rPr lang="zh-CN" altLang="en-US" sz="2400" dirty="0">
                <a:latin typeface="黑体" panose="02010609060101010101" charset="-122"/>
                <a:ea typeface="黑体" panose="02010609060101010101" charset="-122"/>
                <a:cs typeface="黑体" panose="02010609060101010101" charset="-122"/>
                <a:sym typeface="+mn-ea"/>
              </a:rPr>
              <a:t>来选择属性。</a:t>
            </a:r>
            <a:r>
              <a:rPr lang="en-US" altLang="zh-CN" sz="2400" dirty="0">
                <a:latin typeface="黑体" panose="02010609060101010101" charset="-122"/>
                <a:ea typeface="黑体" panose="02010609060101010101" charset="-122"/>
                <a:cs typeface="黑体" panose="02010609060101010101" charset="-122"/>
                <a:sym typeface="+mn-ea"/>
              </a:rPr>
              <a:t>ID3</a:t>
            </a:r>
            <a:r>
              <a:rPr lang="zh-CN" altLang="en-US" sz="2400" dirty="0">
                <a:latin typeface="黑体" panose="02010609060101010101" charset="-122"/>
                <a:ea typeface="黑体" panose="02010609060101010101" charset="-122"/>
                <a:cs typeface="黑体" panose="02010609060101010101" charset="-122"/>
                <a:sym typeface="+mn-ea"/>
              </a:rPr>
              <a:t>选择属性用的是子树的信息增益，而</a:t>
            </a:r>
            <a:r>
              <a:rPr lang="en-US" altLang="zh-CN" sz="2400" dirty="0">
                <a:latin typeface="黑体" panose="02010609060101010101" charset="-122"/>
                <a:ea typeface="黑体" panose="02010609060101010101" charset="-122"/>
                <a:cs typeface="黑体" panose="02010609060101010101" charset="-122"/>
                <a:sym typeface="+mn-ea"/>
              </a:rPr>
              <a:t>C4.5</a:t>
            </a:r>
            <a:r>
              <a:rPr lang="zh-CN" altLang="en-US" sz="2400" dirty="0">
                <a:latin typeface="黑体" panose="02010609060101010101" charset="-122"/>
                <a:ea typeface="黑体" panose="02010609060101010101" charset="-122"/>
                <a:cs typeface="黑体" panose="02010609060101010101" charset="-122"/>
                <a:sym typeface="+mn-ea"/>
              </a:rPr>
              <a:t>用的是</a:t>
            </a:r>
            <a:r>
              <a:rPr lang="zh-CN" altLang="en-US" sz="2400" dirty="0">
                <a:solidFill>
                  <a:srgbClr val="0000FF"/>
                </a:solidFill>
                <a:latin typeface="黑体" panose="02010609060101010101" charset="-122"/>
                <a:ea typeface="黑体" panose="02010609060101010101" charset="-122"/>
                <a:cs typeface="黑体" panose="02010609060101010101" charset="-122"/>
                <a:sym typeface="+mn-ea"/>
              </a:rPr>
              <a:t>信息增益率</a:t>
            </a:r>
            <a:r>
              <a:rPr lang="zh-CN" altLang="en-US" sz="2400" dirty="0">
                <a:latin typeface="黑体" panose="02010609060101010101" charset="-122"/>
                <a:ea typeface="黑体" panose="02010609060101010101" charset="-122"/>
                <a:cs typeface="黑体" panose="02010609060101010101" charset="-122"/>
                <a:sym typeface="+mn-ea"/>
              </a:rPr>
              <a:t>。</a:t>
            </a:r>
            <a:endParaRPr lang="zh-CN" altLang="en-US" sz="2400" dirty="0">
              <a:latin typeface="黑体" panose="02010609060101010101" charset="-122"/>
              <a:ea typeface="黑体" panose="02010609060101010101" charset="-122"/>
              <a:cs typeface="黑体" panose="02010609060101010101" charset="-122"/>
              <a:sym typeface="+mn-ea"/>
            </a:endParaRPr>
          </a:p>
          <a:p>
            <a:pPr marL="342900" indent="-342900" algn="just">
              <a:lnSpc>
                <a:spcPct val="150000"/>
              </a:lnSpc>
              <a:buFont typeface="Arial" panose="020B0604020202020204" pitchFamily="34" charset="0"/>
              <a:buChar char="•"/>
            </a:pPr>
            <a:r>
              <a:rPr lang="zh-CN" altLang="en-US" sz="2400" dirty="0">
                <a:latin typeface="黑体" panose="02010609060101010101" charset="-122"/>
                <a:ea typeface="黑体" panose="02010609060101010101" charset="-122"/>
                <a:cs typeface="黑体" panose="02010609060101010101" charset="-122"/>
                <a:sym typeface="+mn-ea"/>
              </a:rPr>
              <a:t>在决策树构造过程中进行</a:t>
            </a:r>
            <a:r>
              <a:rPr lang="zh-CN" altLang="en-US" sz="2400" dirty="0">
                <a:solidFill>
                  <a:srgbClr val="0000FF"/>
                </a:solidFill>
                <a:latin typeface="黑体" panose="02010609060101010101" charset="-122"/>
                <a:ea typeface="黑体" panose="02010609060101010101" charset="-122"/>
                <a:cs typeface="黑体" panose="02010609060101010101" charset="-122"/>
                <a:sym typeface="+mn-ea"/>
              </a:rPr>
              <a:t>剪枝</a:t>
            </a:r>
            <a:r>
              <a:rPr lang="zh-CN" altLang="en-US" sz="2400" dirty="0">
                <a:latin typeface="黑体" panose="02010609060101010101" charset="-122"/>
                <a:ea typeface="黑体" panose="02010609060101010101" charset="-122"/>
                <a:cs typeface="黑体" panose="02010609060101010101" charset="-122"/>
                <a:sym typeface="+mn-ea"/>
              </a:rPr>
              <a:t>。</a:t>
            </a:r>
            <a:endParaRPr lang="zh-CN" altLang="en-US" sz="2400" dirty="0">
              <a:latin typeface="黑体" panose="02010609060101010101" charset="-122"/>
              <a:ea typeface="黑体" panose="02010609060101010101" charset="-122"/>
              <a:cs typeface="黑体" panose="02010609060101010101" charset="-122"/>
              <a:sym typeface="+mn-ea"/>
            </a:endParaRPr>
          </a:p>
          <a:p>
            <a:pPr marL="342900" indent="-342900" algn="just">
              <a:lnSpc>
                <a:spcPct val="150000"/>
              </a:lnSpc>
              <a:buFont typeface="Arial" panose="020B0604020202020204" pitchFamily="34" charset="0"/>
              <a:buChar char="•"/>
            </a:pPr>
            <a:r>
              <a:rPr lang="zh-CN" altLang="en-US" sz="2400" dirty="0">
                <a:latin typeface="黑体" panose="02010609060101010101" charset="-122"/>
                <a:ea typeface="黑体" panose="02010609060101010101" charset="-122"/>
                <a:cs typeface="黑体" panose="02010609060101010101" charset="-122"/>
                <a:sym typeface="+mn-ea"/>
              </a:rPr>
              <a:t>对</a:t>
            </a:r>
            <a:r>
              <a:rPr lang="zh-CN" altLang="en-US" sz="2400" dirty="0">
                <a:solidFill>
                  <a:srgbClr val="0000FF"/>
                </a:solidFill>
                <a:latin typeface="黑体" panose="02010609060101010101" charset="-122"/>
                <a:ea typeface="黑体" panose="02010609060101010101" charset="-122"/>
                <a:cs typeface="黑体" panose="02010609060101010101" charset="-122"/>
                <a:sym typeface="+mn-ea"/>
              </a:rPr>
              <a:t>非离散数据</a:t>
            </a:r>
            <a:r>
              <a:rPr lang="zh-CN" altLang="en-US" sz="2400" dirty="0">
                <a:latin typeface="黑体" panose="02010609060101010101" charset="-122"/>
                <a:ea typeface="黑体" panose="02010609060101010101" charset="-122"/>
                <a:cs typeface="黑体" panose="02010609060101010101" charset="-122"/>
                <a:sym typeface="+mn-ea"/>
              </a:rPr>
              <a:t>也能处理。</a:t>
            </a:r>
            <a:endParaRPr lang="zh-CN" altLang="en-US" sz="2400" dirty="0">
              <a:latin typeface="黑体" panose="02010609060101010101" charset="-122"/>
              <a:ea typeface="黑体" panose="02010609060101010101" charset="-122"/>
              <a:cs typeface="黑体" panose="02010609060101010101" charset="-122"/>
              <a:sym typeface="+mn-ea"/>
            </a:endParaRPr>
          </a:p>
          <a:p>
            <a:pPr marL="342900" indent="-342900" algn="just">
              <a:lnSpc>
                <a:spcPct val="150000"/>
              </a:lnSpc>
              <a:buFont typeface="Arial" panose="020B0604020202020204" pitchFamily="34" charset="0"/>
              <a:buChar char="•"/>
            </a:pPr>
            <a:r>
              <a:rPr lang="zh-CN" altLang="en-US" sz="2400" dirty="0">
                <a:latin typeface="黑体" panose="02010609060101010101" charset="-122"/>
                <a:ea typeface="黑体" panose="02010609060101010101" charset="-122"/>
                <a:cs typeface="黑体" panose="02010609060101010101" charset="-122"/>
                <a:sym typeface="+mn-ea"/>
              </a:rPr>
              <a:t>能够对</a:t>
            </a:r>
            <a:r>
              <a:rPr lang="zh-CN" altLang="en-US" sz="2400" dirty="0">
                <a:solidFill>
                  <a:srgbClr val="0000FF"/>
                </a:solidFill>
                <a:latin typeface="黑体" panose="02010609060101010101" charset="-122"/>
                <a:ea typeface="黑体" panose="02010609060101010101" charset="-122"/>
                <a:cs typeface="黑体" panose="02010609060101010101" charset="-122"/>
                <a:sym typeface="+mn-ea"/>
              </a:rPr>
              <a:t>不完整数据</a:t>
            </a:r>
            <a:r>
              <a:rPr lang="zh-CN" altLang="en-US" sz="2400" dirty="0">
                <a:latin typeface="黑体" panose="02010609060101010101" charset="-122"/>
                <a:ea typeface="黑体" panose="02010609060101010101" charset="-122"/>
                <a:cs typeface="黑体" panose="02010609060101010101" charset="-122"/>
                <a:sym typeface="+mn-ea"/>
              </a:rPr>
              <a:t>进行处理。</a:t>
            </a:r>
            <a:endParaRPr lang="zh-CN" altLang="zh-CN" sz="2400" kern="100" dirty="0">
              <a:effectLst/>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40360" y="273685"/>
            <a:ext cx="2495550" cy="521970"/>
          </a:xfrm>
          <a:prstGeom prst="rect">
            <a:avLst/>
          </a:prstGeom>
          <a:noFill/>
        </p:spPr>
        <p:txBody>
          <a:bodyPr wrap="square" rtlCol="0">
            <a:spAutoFit/>
          </a:bodyPr>
          <a:p>
            <a:pPr algn="l" eaLnBrk="1" hangingPunct="1"/>
            <a:r>
              <a:rPr lang="en-US" altLang="zh-CN" sz="2800" b="1" dirty="0">
                <a:sym typeface="+mn-ea"/>
              </a:rPr>
              <a:t>2</a:t>
            </a:r>
            <a:r>
              <a:rPr lang="zh-CN" altLang="en-US" sz="2800" b="1" dirty="0">
                <a:sym typeface="+mn-ea"/>
              </a:rPr>
              <a:t>、</a:t>
            </a:r>
            <a:r>
              <a:rPr lang="en-US" altLang="zh-CN" sz="2800" b="1" dirty="0">
                <a:sym typeface="+mn-ea"/>
              </a:rPr>
              <a:t>C4.5</a:t>
            </a:r>
            <a:r>
              <a:rPr lang="zh-CN" altLang="en-US" sz="2800" b="1" dirty="0">
                <a:sym typeface="+mn-ea"/>
              </a:rPr>
              <a:t>算法</a:t>
            </a:r>
            <a:endParaRPr lang="zh-CN" altLang="en-US" sz="2800" b="1" dirty="0">
              <a:sym typeface="+mn-ea"/>
            </a:endParaRPr>
          </a:p>
        </p:txBody>
      </p:sp>
      <p:pic>
        <p:nvPicPr>
          <p:cNvPr id="2" name="图片 1"/>
          <p:cNvPicPr>
            <a:picLocks noChangeAspect="1"/>
          </p:cNvPicPr>
          <p:nvPr>
            <p:custDataLst>
              <p:tags r:id="rId1"/>
            </p:custDataLst>
          </p:nvPr>
        </p:nvPicPr>
        <p:blipFill>
          <a:blip r:embed="rId2"/>
          <a:stretch>
            <a:fillRect/>
          </a:stretch>
        </p:blipFill>
        <p:spPr>
          <a:xfrm>
            <a:off x="290195" y="833755"/>
            <a:ext cx="11610975" cy="51904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40360" y="273685"/>
            <a:ext cx="3021330" cy="521970"/>
          </a:xfrm>
          <a:prstGeom prst="rect">
            <a:avLst/>
          </a:prstGeom>
          <a:noFill/>
        </p:spPr>
        <p:txBody>
          <a:bodyPr wrap="square" rtlCol="0">
            <a:spAutoFit/>
          </a:bodyPr>
          <a:p>
            <a:pPr algn="l" eaLnBrk="1" hangingPunct="1"/>
            <a:r>
              <a:rPr lang="en-US" altLang="zh-CN" sz="2800" b="1" dirty="0">
                <a:sym typeface="+mn-ea"/>
              </a:rPr>
              <a:t>2</a:t>
            </a:r>
            <a:r>
              <a:rPr lang="zh-CN" altLang="en-US" sz="2800" b="1" dirty="0">
                <a:sym typeface="+mn-ea"/>
              </a:rPr>
              <a:t>、</a:t>
            </a:r>
            <a:r>
              <a:rPr lang="en-US" altLang="zh-CN" sz="2800" b="1" dirty="0">
                <a:sym typeface="+mn-ea"/>
              </a:rPr>
              <a:t>C4.5</a:t>
            </a:r>
            <a:r>
              <a:rPr lang="zh-CN" altLang="en-US" sz="2800" b="1" dirty="0">
                <a:sym typeface="+mn-ea"/>
              </a:rPr>
              <a:t>的</a:t>
            </a:r>
            <a:r>
              <a:rPr lang="zh-CN" altLang="en-US" sz="2800" b="1" dirty="0">
                <a:sym typeface="+mn-ea"/>
              </a:rPr>
              <a:t>剪枝</a:t>
            </a:r>
            <a:endParaRPr lang="zh-CN" altLang="en-US" sz="2800" b="1" dirty="0">
              <a:sym typeface="+mn-ea"/>
            </a:endParaRPr>
          </a:p>
        </p:txBody>
      </p:sp>
      <p:sp>
        <p:nvSpPr>
          <p:cNvPr id="3" name="文本框 2"/>
          <p:cNvSpPr txBox="1"/>
          <p:nvPr/>
        </p:nvSpPr>
        <p:spPr>
          <a:xfrm>
            <a:off x="925830" y="1192530"/>
            <a:ext cx="9163685" cy="3919855"/>
          </a:xfrm>
          <a:prstGeom prst="rect">
            <a:avLst/>
          </a:prstGeom>
          <a:noFill/>
        </p:spPr>
        <p:txBody>
          <a:bodyPr wrap="square" rtlCol="0">
            <a:noAutofit/>
          </a:bodyPr>
          <a:p>
            <a:pPr>
              <a:lnSpc>
                <a:spcPct val="180000"/>
              </a:lnSpc>
            </a:pPr>
            <a:r>
              <a:rPr lang="zh-CN" altLang="en-US" sz="2000" dirty="0">
                <a:effectLst/>
                <a:latin typeface="-apple-system"/>
                <a:sym typeface="+mn-ea"/>
              </a:rPr>
              <a:t>过拟合的原因：</a:t>
            </a:r>
            <a:endParaRPr lang="en-US" altLang="zh-CN" sz="2000" b="0" i="0" dirty="0">
              <a:effectLst/>
              <a:latin typeface="-apple-system"/>
            </a:endParaRPr>
          </a:p>
          <a:p>
            <a:pPr>
              <a:lnSpc>
                <a:spcPct val="180000"/>
              </a:lnSpc>
            </a:pPr>
            <a:r>
              <a:rPr lang="zh-CN" altLang="en-US" sz="2000" dirty="0">
                <a:effectLst/>
                <a:latin typeface="-apple-system"/>
                <a:sym typeface="+mn-ea"/>
              </a:rPr>
              <a:t>为了尽可能正确分类训练样本，节点的划分过程会不断重复直到不能再分，这样就可能对训练样本学习的“太好”了，把训练样本的一些特点当做所有数据都具有的一般性质，从而导致过拟合。</a:t>
            </a:r>
            <a:endParaRPr lang="en-US" altLang="zh-CN" sz="2000" b="0" i="0" dirty="0">
              <a:effectLst/>
              <a:latin typeface="-apple-system"/>
            </a:endParaRPr>
          </a:p>
          <a:p>
            <a:pPr>
              <a:lnSpc>
                <a:spcPct val="180000"/>
              </a:lnSpc>
            </a:pPr>
            <a:r>
              <a:rPr lang="zh-CN" altLang="en-US" sz="2000" dirty="0">
                <a:effectLst/>
                <a:latin typeface="-apple-system"/>
                <a:sym typeface="+mn-ea"/>
              </a:rPr>
              <a:t>通过剪枝处理去掉一些分支来降低过拟合的风险。</a:t>
            </a:r>
            <a:endParaRPr lang="en-US" altLang="zh-CN" sz="2000" b="0" i="0" dirty="0">
              <a:effectLst/>
              <a:latin typeface="-apple-system"/>
            </a:endParaRPr>
          </a:p>
          <a:p>
            <a:pPr>
              <a:lnSpc>
                <a:spcPct val="180000"/>
              </a:lnSpc>
            </a:pPr>
            <a:r>
              <a:rPr lang="zh-CN" altLang="en-US" sz="2000" dirty="0">
                <a:effectLst/>
                <a:latin typeface="-apple-system"/>
                <a:sym typeface="+mn-ea"/>
              </a:rPr>
              <a:t>剪枝的基本策略有“预剪枝”（</a:t>
            </a:r>
            <a:r>
              <a:rPr lang="en-US" altLang="zh-CN" sz="2000" dirty="0" err="1">
                <a:effectLst/>
                <a:latin typeface="-apple-system"/>
                <a:sym typeface="+mn-ea"/>
              </a:rPr>
              <a:t>prepruning</a:t>
            </a:r>
            <a:r>
              <a:rPr lang="zh-CN" altLang="en-US" sz="2000" dirty="0">
                <a:effectLst/>
                <a:latin typeface="-apple-system"/>
                <a:sym typeface="+mn-ea"/>
              </a:rPr>
              <a:t>）和“后剪枝”（</a:t>
            </a:r>
            <a:r>
              <a:rPr lang="en-US" altLang="zh-CN" sz="2000" dirty="0">
                <a:effectLst/>
                <a:latin typeface="-apple-system"/>
                <a:sym typeface="+mn-ea"/>
              </a:rPr>
              <a:t>post-pruning</a:t>
            </a:r>
            <a:r>
              <a:rPr lang="zh-CN" altLang="en-US" sz="2000" dirty="0">
                <a:effectLst/>
                <a:latin typeface="-apple-system"/>
                <a:sym typeface="+mn-ea"/>
              </a:rPr>
              <a:t>）</a:t>
            </a:r>
            <a:endParaRPr lang="zh-CN" altLang="en-US" sz="2000" dirty="0">
              <a:effectLst/>
              <a:latin typeface="-apple-system"/>
              <a:sym typeface="+mn-ea"/>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40360" y="273685"/>
            <a:ext cx="3021330" cy="521970"/>
          </a:xfrm>
          <a:prstGeom prst="rect">
            <a:avLst/>
          </a:prstGeom>
          <a:noFill/>
        </p:spPr>
        <p:txBody>
          <a:bodyPr wrap="square" rtlCol="0">
            <a:spAutoFit/>
          </a:bodyPr>
          <a:p>
            <a:pPr algn="l" eaLnBrk="1" hangingPunct="1"/>
            <a:r>
              <a:rPr lang="en-US" altLang="zh-CN" sz="2800" b="1" dirty="0">
                <a:sym typeface="+mn-ea"/>
              </a:rPr>
              <a:t>2</a:t>
            </a:r>
            <a:r>
              <a:rPr lang="zh-CN" altLang="en-US" sz="2800" b="1" dirty="0">
                <a:sym typeface="+mn-ea"/>
              </a:rPr>
              <a:t>、</a:t>
            </a:r>
            <a:r>
              <a:rPr lang="en-US" altLang="zh-CN" sz="2800" b="1" dirty="0">
                <a:sym typeface="+mn-ea"/>
              </a:rPr>
              <a:t>C4.5</a:t>
            </a:r>
            <a:r>
              <a:rPr lang="zh-CN" altLang="en-US" sz="2800" b="1" dirty="0">
                <a:sym typeface="+mn-ea"/>
              </a:rPr>
              <a:t>的</a:t>
            </a:r>
            <a:r>
              <a:rPr lang="zh-CN" altLang="en-US" sz="2800" b="1" dirty="0">
                <a:sym typeface="+mn-ea"/>
              </a:rPr>
              <a:t>剪枝</a:t>
            </a:r>
            <a:endParaRPr lang="zh-CN" altLang="en-US" sz="2800" b="1" dirty="0">
              <a:sym typeface="+mn-ea"/>
            </a:endParaRPr>
          </a:p>
        </p:txBody>
      </p:sp>
      <p:sp>
        <p:nvSpPr>
          <p:cNvPr id="2" name="文本框 1"/>
          <p:cNvSpPr txBox="1"/>
          <p:nvPr/>
        </p:nvSpPr>
        <p:spPr>
          <a:xfrm>
            <a:off x="695960" y="1116965"/>
            <a:ext cx="3533775" cy="3215005"/>
          </a:xfrm>
          <a:prstGeom prst="rect">
            <a:avLst/>
          </a:prstGeom>
          <a:noFill/>
        </p:spPr>
        <p:txBody>
          <a:bodyPr wrap="square" rtlCol="0">
            <a:noAutofit/>
          </a:bodyPr>
          <a:p>
            <a:pPr>
              <a:lnSpc>
                <a:spcPct val="180000"/>
              </a:lnSpc>
            </a:pPr>
            <a:r>
              <a:rPr lang="zh-CN" altLang="en-US" sz="2000" b="1" dirty="0">
                <a:effectLst/>
                <a:latin typeface="-apple-system"/>
                <a:sym typeface="+mn-ea"/>
              </a:rPr>
              <a:t>预剪枝（</a:t>
            </a:r>
            <a:r>
              <a:rPr lang="en-US" altLang="zh-CN" sz="2000" b="1" dirty="0" err="1">
                <a:effectLst/>
                <a:latin typeface="-apple-system"/>
                <a:sym typeface="+mn-ea"/>
              </a:rPr>
              <a:t>prepruning</a:t>
            </a:r>
            <a:r>
              <a:rPr lang="zh-CN" altLang="en-US" sz="2000" b="1" dirty="0">
                <a:effectLst/>
                <a:latin typeface="-apple-system"/>
                <a:sym typeface="+mn-ea"/>
              </a:rPr>
              <a:t>）</a:t>
            </a:r>
            <a:endParaRPr lang="zh-CN" altLang="en-US" sz="2000" b="1" dirty="0"/>
          </a:p>
          <a:p>
            <a:pPr>
              <a:lnSpc>
                <a:spcPct val="180000"/>
              </a:lnSpc>
            </a:pPr>
            <a:r>
              <a:rPr lang="zh-CN" altLang="zh-CN" sz="2000" dirty="0">
                <a:effectLst/>
                <a:latin typeface="微软雅黑" panose="020B0503020204020204" charset="-122"/>
                <a:cs typeface="Times New Roman" panose="02020603050405020304" charset="0"/>
                <a:sym typeface="+mn-ea"/>
              </a:rPr>
              <a:t>预剪枝不仅可以降低过拟合的风险而且还可以减少训练时间，但另一方面它是基于</a:t>
            </a:r>
            <a:r>
              <a:rPr lang="en-US" altLang="zh-CN" sz="2000" dirty="0">
                <a:effectLst/>
                <a:latin typeface="微软雅黑" panose="020B0503020204020204" charset="-122"/>
                <a:cs typeface="Times New Roman" panose="02020603050405020304" charset="0"/>
                <a:sym typeface="+mn-ea"/>
              </a:rPr>
              <a:t>“</a:t>
            </a:r>
            <a:r>
              <a:rPr lang="zh-CN" altLang="zh-CN" sz="2000" dirty="0">
                <a:effectLst/>
                <a:latin typeface="微软雅黑" panose="020B0503020204020204" charset="-122"/>
                <a:cs typeface="Times New Roman" panose="02020603050405020304" charset="0"/>
                <a:sym typeface="+mn-ea"/>
              </a:rPr>
              <a:t>贪心</a:t>
            </a:r>
            <a:r>
              <a:rPr lang="en-US" altLang="zh-CN" sz="2000" dirty="0">
                <a:effectLst/>
                <a:latin typeface="微软雅黑" panose="020B0503020204020204" charset="-122"/>
                <a:cs typeface="Times New Roman" panose="02020603050405020304" charset="0"/>
                <a:sym typeface="+mn-ea"/>
              </a:rPr>
              <a:t>”</a:t>
            </a:r>
            <a:r>
              <a:rPr lang="zh-CN" altLang="zh-CN" sz="2000" dirty="0">
                <a:effectLst/>
                <a:latin typeface="微软雅黑" panose="020B0503020204020204" charset="-122"/>
                <a:cs typeface="Times New Roman" panose="02020603050405020304" charset="0"/>
                <a:sym typeface="+mn-ea"/>
              </a:rPr>
              <a:t>策略，会带来欠拟合风险。</a:t>
            </a:r>
            <a:endParaRPr lang="zh-CN" altLang="zh-CN" sz="2000" dirty="0">
              <a:effectLst/>
              <a:latin typeface="微软雅黑" panose="020B0503020204020204" charset="-122"/>
              <a:cs typeface="Times New Roman" panose="02020603050405020304" charset="0"/>
              <a:sym typeface="+mn-ea"/>
            </a:endParaRPr>
          </a:p>
        </p:txBody>
      </p:sp>
      <p:pic>
        <p:nvPicPr>
          <p:cNvPr id="4" name="图片 3"/>
          <p:cNvPicPr>
            <a:picLocks noChangeAspect="1"/>
          </p:cNvPicPr>
          <p:nvPr>
            <p:custDataLst>
              <p:tags r:id="rId1"/>
            </p:custDataLst>
          </p:nvPr>
        </p:nvPicPr>
        <p:blipFill>
          <a:blip r:embed="rId2"/>
          <a:stretch>
            <a:fillRect/>
          </a:stretch>
        </p:blipFill>
        <p:spPr>
          <a:xfrm>
            <a:off x="5283835" y="559435"/>
            <a:ext cx="5967095" cy="57384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40360" y="273685"/>
            <a:ext cx="3021330" cy="521970"/>
          </a:xfrm>
          <a:prstGeom prst="rect">
            <a:avLst/>
          </a:prstGeom>
          <a:noFill/>
        </p:spPr>
        <p:txBody>
          <a:bodyPr wrap="square" rtlCol="0">
            <a:spAutoFit/>
          </a:bodyPr>
          <a:p>
            <a:pPr algn="l" eaLnBrk="1" hangingPunct="1"/>
            <a:r>
              <a:rPr lang="en-US" altLang="zh-CN" sz="2800" b="1" dirty="0">
                <a:sym typeface="+mn-ea"/>
              </a:rPr>
              <a:t>2</a:t>
            </a:r>
            <a:r>
              <a:rPr lang="zh-CN" altLang="en-US" sz="2800" b="1" dirty="0">
                <a:sym typeface="+mn-ea"/>
              </a:rPr>
              <a:t>、</a:t>
            </a:r>
            <a:r>
              <a:rPr lang="en-US" altLang="zh-CN" sz="2800" b="1" dirty="0">
                <a:sym typeface="+mn-ea"/>
              </a:rPr>
              <a:t>C4.5</a:t>
            </a:r>
            <a:r>
              <a:rPr lang="zh-CN" altLang="en-US" sz="2800" b="1" dirty="0">
                <a:sym typeface="+mn-ea"/>
              </a:rPr>
              <a:t>的</a:t>
            </a:r>
            <a:r>
              <a:rPr lang="zh-CN" altLang="en-US" sz="2800" b="1" dirty="0">
                <a:sym typeface="+mn-ea"/>
              </a:rPr>
              <a:t>剪枝</a:t>
            </a:r>
            <a:endParaRPr lang="zh-CN" altLang="en-US" sz="2800" b="1" dirty="0">
              <a:sym typeface="+mn-ea"/>
            </a:endParaRPr>
          </a:p>
        </p:txBody>
      </p:sp>
      <p:pic>
        <p:nvPicPr>
          <p:cNvPr id="3" name="图片 2"/>
          <p:cNvPicPr>
            <a:picLocks noChangeAspect="1"/>
          </p:cNvPicPr>
          <p:nvPr>
            <p:custDataLst>
              <p:tags r:id="rId1"/>
            </p:custDataLst>
          </p:nvPr>
        </p:nvPicPr>
        <p:blipFill>
          <a:blip r:embed="rId2"/>
          <a:stretch>
            <a:fillRect/>
          </a:stretch>
        </p:blipFill>
        <p:spPr>
          <a:xfrm>
            <a:off x="340360" y="1010285"/>
            <a:ext cx="11486515" cy="519366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40360" y="273685"/>
            <a:ext cx="3021330" cy="521970"/>
          </a:xfrm>
          <a:prstGeom prst="rect">
            <a:avLst/>
          </a:prstGeom>
          <a:noFill/>
        </p:spPr>
        <p:txBody>
          <a:bodyPr wrap="square" rtlCol="0">
            <a:spAutoFit/>
          </a:bodyPr>
          <a:p>
            <a:pPr algn="l" eaLnBrk="1" hangingPunct="1"/>
            <a:r>
              <a:rPr lang="en-US" altLang="zh-CN" sz="2800" b="1" dirty="0">
                <a:sym typeface="+mn-ea"/>
              </a:rPr>
              <a:t>2</a:t>
            </a:r>
            <a:r>
              <a:rPr lang="zh-CN" altLang="en-US" sz="2800" b="1" dirty="0">
                <a:sym typeface="+mn-ea"/>
              </a:rPr>
              <a:t>、</a:t>
            </a:r>
            <a:r>
              <a:rPr lang="en-US" altLang="zh-CN" sz="2800" b="1" dirty="0">
                <a:sym typeface="+mn-ea"/>
              </a:rPr>
              <a:t>C4.5</a:t>
            </a:r>
            <a:r>
              <a:rPr lang="zh-CN" altLang="en-US" sz="2800" b="1" dirty="0">
                <a:sym typeface="+mn-ea"/>
              </a:rPr>
              <a:t>的</a:t>
            </a:r>
            <a:r>
              <a:rPr lang="zh-CN" altLang="en-US" sz="2800" b="1" dirty="0">
                <a:sym typeface="+mn-ea"/>
              </a:rPr>
              <a:t>剪枝</a:t>
            </a:r>
            <a:endParaRPr lang="zh-CN" altLang="en-US" sz="2800" b="1" dirty="0">
              <a:sym typeface="+mn-ea"/>
            </a:endParaRPr>
          </a:p>
        </p:txBody>
      </p:sp>
      <p:pic>
        <p:nvPicPr>
          <p:cNvPr id="2" name="图片 1"/>
          <p:cNvPicPr>
            <a:picLocks noChangeAspect="1"/>
          </p:cNvPicPr>
          <p:nvPr>
            <p:custDataLst>
              <p:tags r:id="rId1"/>
            </p:custDataLst>
          </p:nvPr>
        </p:nvPicPr>
        <p:blipFill>
          <a:blip r:embed="rId2"/>
          <a:stretch>
            <a:fillRect/>
          </a:stretch>
        </p:blipFill>
        <p:spPr>
          <a:xfrm>
            <a:off x="340360" y="1010285"/>
            <a:ext cx="11445875" cy="50387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40360" y="273685"/>
            <a:ext cx="3021330" cy="521970"/>
          </a:xfrm>
          <a:prstGeom prst="rect">
            <a:avLst/>
          </a:prstGeom>
          <a:noFill/>
        </p:spPr>
        <p:txBody>
          <a:bodyPr wrap="square" rtlCol="0">
            <a:spAutoFit/>
          </a:bodyPr>
          <a:p>
            <a:pPr algn="l" eaLnBrk="1" hangingPunct="1"/>
            <a:r>
              <a:rPr lang="en-US" altLang="zh-CN" sz="2800" b="1" dirty="0">
                <a:sym typeface="+mn-ea"/>
              </a:rPr>
              <a:t>2</a:t>
            </a:r>
            <a:r>
              <a:rPr lang="zh-CN" altLang="en-US" sz="2800" b="1" dirty="0">
                <a:sym typeface="+mn-ea"/>
              </a:rPr>
              <a:t>、</a:t>
            </a:r>
            <a:r>
              <a:rPr lang="en-US" altLang="zh-CN" sz="2800" b="1" dirty="0">
                <a:sym typeface="+mn-ea"/>
              </a:rPr>
              <a:t>C4.5</a:t>
            </a:r>
            <a:r>
              <a:rPr lang="zh-CN" altLang="en-US" sz="2800" b="1" dirty="0">
                <a:sym typeface="+mn-ea"/>
              </a:rPr>
              <a:t>的</a:t>
            </a:r>
            <a:r>
              <a:rPr lang="zh-CN" altLang="en-US" sz="2800" b="1" dirty="0">
                <a:sym typeface="+mn-ea"/>
              </a:rPr>
              <a:t>剪枝</a:t>
            </a:r>
            <a:endParaRPr lang="zh-CN" altLang="en-US" sz="2800" b="1" dirty="0">
              <a:sym typeface="+mn-ea"/>
            </a:endParaRPr>
          </a:p>
        </p:txBody>
      </p:sp>
      <p:sp>
        <p:nvSpPr>
          <p:cNvPr id="2" name="文本框 1"/>
          <p:cNvSpPr txBox="1"/>
          <p:nvPr/>
        </p:nvSpPr>
        <p:spPr>
          <a:xfrm>
            <a:off x="695960" y="1116965"/>
            <a:ext cx="3702050" cy="5405755"/>
          </a:xfrm>
          <a:prstGeom prst="rect">
            <a:avLst/>
          </a:prstGeom>
          <a:noFill/>
        </p:spPr>
        <p:txBody>
          <a:bodyPr wrap="square" rtlCol="0">
            <a:noAutofit/>
          </a:bodyPr>
          <a:p>
            <a:pPr marL="0" marR="0" lvl="0" indent="0" algn="l" defTabSz="914400" rtl="0" eaLnBrk="0" fontAlgn="base" latinLnBrk="0" hangingPunct="0">
              <a:lnSpc>
                <a:spcPct val="160000"/>
              </a:lnSpc>
              <a:spcBef>
                <a:spcPct val="30000"/>
              </a:spcBef>
              <a:spcAft>
                <a:spcPct val="0"/>
              </a:spcAft>
              <a:buClrTx/>
              <a:buSzTx/>
              <a:buFontTx/>
              <a:buNone/>
              <a:defRPr/>
            </a:pPr>
            <a:r>
              <a:rPr lang="zh-CN" altLang="en-US" sz="2000" b="1" dirty="0">
                <a:effectLst/>
                <a:latin typeface="-apple-system"/>
                <a:sym typeface="+mn-ea"/>
              </a:rPr>
              <a:t>后剪枝</a:t>
            </a:r>
            <a:r>
              <a:rPr lang="zh-CN" altLang="en-US" sz="2000" dirty="0">
                <a:effectLst/>
                <a:latin typeface="-apple-system"/>
                <a:sym typeface="+mn-ea"/>
              </a:rPr>
              <a:t>（</a:t>
            </a:r>
            <a:r>
              <a:rPr lang="en-US" altLang="zh-CN" sz="2000" dirty="0">
                <a:effectLst/>
                <a:latin typeface="-apple-system"/>
                <a:sym typeface="+mn-ea"/>
              </a:rPr>
              <a:t>post-pruning</a:t>
            </a:r>
            <a:r>
              <a:rPr lang="zh-CN" altLang="en-US" sz="2000" dirty="0">
                <a:effectLst/>
                <a:latin typeface="-apple-system"/>
                <a:sym typeface="+mn-ea"/>
              </a:rPr>
              <a:t>）</a:t>
            </a:r>
            <a:endParaRPr lang="zh-CN" altLang="en-US" sz="2000" dirty="0">
              <a:effectLst/>
              <a:latin typeface="-apple-system"/>
              <a:sym typeface="+mn-ea"/>
            </a:endParaRPr>
          </a:p>
          <a:p>
            <a:pPr marL="0" marR="0" lvl="0" indent="0" algn="l" defTabSz="914400" rtl="0" eaLnBrk="0" fontAlgn="base" latinLnBrk="0" hangingPunct="0">
              <a:lnSpc>
                <a:spcPct val="160000"/>
              </a:lnSpc>
              <a:spcBef>
                <a:spcPct val="30000"/>
              </a:spcBef>
              <a:spcAft>
                <a:spcPct val="0"/>
              </a:spcAft>
              <a:buClrTx/>
              <a:buSzTx/>
              <a:buFontTx/>
              <a:buNone/>
              <a:defRPr/>
            </a:pPr>
            <a:r>
              <a:rPr lang="zh-CN" altLang="zh-CN" sz="2000" dirty="0">
                <a:effectLst/>
                <a:latin typeface="+mn-ea"/>
                <a:cs typeface="Euclid" panose="02020503060505020303" pitchFamily="18" charset="0"/>
                <a:sym typeface="+mn-ea"/>
              </a:rPr>
              <a:t>在已经生成的决策树上进行剪枝，从而得到简化版的剪枝决策树。</a:t>
            </a:r>
            <a:endParaRPr lang="zh-CN" altLang="zh-CN" sz="2000" dirty="0">
              <a:effectLst/>
              <a:latin typeface="+mn-ea"/>
              <a:cs typeface="Euclid" panose="02020503060505020303" pitchFamily="18" charset="0"/>
            </a:endParaRPr>
          </a:p>
          <a:p>
            <a:pPr>
              <a:lnSpc>
                <a:spcPct val="160000"/>
              </a:lnSpc>
            </a:pPr>
            <a:r>
              <a:rPr lang="zh-CN" altLang="zh-CN" sz="2000" kern="100" dirty="0">
                <a:effectLst/>
                <a:latin typeface="+mn-ea"/>
                <a:cs typeface="Times New Roman" panose="02020603050405020304" charset="0"/>
                <a:sym typeface="+mn-ea"/>
              </a:rPr>
              <a:t>后剪枝决策树通常比预剪枝决策树保留了更多的分支。一般情况下，后剪枝的欠拟合风险更小，泛化性能往往优于预剪枝决策树。</a:t>
            </a:r>
            <a:endParaRPr lang="zh-CN" altLang="zh-CN" sz="2000" dirty="0">
              <a:effectLst/>
              <a:latin typeface="+mn-ea"/>
              <a:cs typeface="Times New Roman" panose="02020603050405020304" charset="0"/>
              <a:sym typeface="+mn-ea"/>
            </a:endParaRPr>
          </a:p>
        </p:txBody>
      </p:sp>
      <p:pic>
        <p:nvPicPr>
          <p:cNvPr id="3" name="图片 2"/>
          <p:cNvPicPr>
            <a:picLocks noChangeAspect="1"/>
          </p:cNvPicPr>
          <p:nvPr>
            <p:custDataLst>
              <p:tags r:id="rId1"/>
            </p:custDataLst>
          </p:nvPr>
        </p:nvPicPr>
        <p:blipFill>
          <a:blip r:embed="rId2"/>
          <a:stretch>
            <a:fillRect/>
          </a:stretch>
        </p:blipFill>
        <p:spPr>
          <a:xfrm>
            <a:off x="5298440" y="560070"/>
            <a:ext cx="5933440" cy="57378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40360" y="273685"/>
            <a:ext cx="3021330" cy="521970"/>
          </a:xfrm>
          <a:prstGeom prst="rect">
            <a:avLst/>
          </a:prstGeom>
          <a:noFill/>
        </p:spPr>
        <p:txBody>
          <a:bodyPr wrap="square" rtlCol="0">
            <a:spAutoFit/>
          </a:bodyPr>
          <a:p>
            <a:pPr algn="l" eaLnBrk="1" hangingPunct="1"/>
            <a:r>
              <a:rPr lang="en-US" altLang="zh-CN" sz="2800" b="1" dirty="0">
                <a:sym typeface="+mn-ea"/>
              </a:rPr>
              <a:t>2</a:t>
            </a:r>
            <a:r>
              <a:rPr lang="zh-CN" altLang="en-US" sz="2800" b="1" dirty="0">
                <a:sym typeface="+mn-ea"/>
              </a:rPr>
              <a:t>、</a:t>
            </a:r>
            <a:r>
              <a:rPr lang="en-US" altLang="zh-CN" sz="2800" b="1" dirty="0">
                <a:sym typeface="+mn-ea"/>
              </a:rPr>
              <a:t>C4.5</a:t>
            </a:r>
            <a:r>
              <a:rPr lang="zh-CN" altLang="en-US" sz="2800" b="1" dirty="0">
                <a:sym typeface="+mn-ea"/>
              </a:rPr>
              <a:t>的</a:t>
            </a:r>
            <a:r>
              <a:rPr lang="zh-CN" altLang="en-US" sz="2800" b="1" dirty="0">
                <a:sym typeface="+mn-ea"/>
              </a:rPr>
              <a:t>剪枝</a:t>
            </a:r>
            <a:endParaRPr lang="zh-CN" altLang="en-US" sz="2800" b="1" dirty="0">
              <a:sym typeface="+mn-ea"/>
            </a:endParaRPr>
          </a:p>
        </p:txBody>
      </p:sp>
      <p:pic>
        <p:nvPicPr>
          <p:cNvPr id="3" name="图片 2"/>
          <p:cNvPicPr>
            <a:picLocks noChangeAspect="1"/>
          </p:cNvPicPr>
          <p:nvPr>
            <p:custDataLst>
              <p:tags r:id="rId1"/>
            </p:custDataLst>
          </p:nvPr>
        </p:nvPicPr>
        <p:blipFill>
          <a:blip r:embed="rId2"/>
          <a:stretch>
            <a:fillRect/>
          </a:stretch>
        </p:blipFill>
        <p:spPr>
          <a:xfrm>
            <a:off x="344170" y="902970"/>
            <a:ext cx="11503660" cy="50520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40360" y="273685"/>
            <a:ext cx="3021330" cy="521970"/>
          </a:xfrm>
          <a:prstGeom prst="rect">
            <a:avLst/>
          </a:prstGeom>
          <a:noFill/>
        </p:spPr>
        <p:txBody>
          <a:bodyPr wrap="square" rtlCol="0">
            <a:spAutoFit/>
          </a:bodyPr>
          <a:p>
            <a:pPr algn="l" eaLnBrk="1" hangingPunct="1"/>
            <a:r>
              <a:rPr lang="en-US" altLang="zh-CN" sz="2800" b="1" dirty="0">
                <a:sym typeface="+mn-ea"/>
              </a:rPr>
              <a:t>2</a:t>
            </a:r>
            <a:r>
              <a:rPr lang="zh-CN" altLang="en-US" sz="2800" b="1" dirty="0">
                <a:sym typeface="+mn-ea"/>
              </a:rPr>
              <a:t>、</a:t>
            </a:r>
            <a:r>
              <a:rPr lang="en-US" altLang="zh-CN" sz="2800" b="1" dirty="0">
                <a:sym typeface="+mn-ea"/>
              </a:rPr>
              <a:t>C4.5</a:t>
            </a:r>
            <a:r>
              <a:rPr lang="zh-CN" altLang="en-US" sz="2800" b="1" dirty="0">
                <a:sym typeface="+mn-ea"/>
              </a:rPr>
              <a:t>的</a:t>
            </a:r>
            <a:r>
              <a:rPr lang="zh-CN" altLang="en-US" sz="2800" b="1" dirty="0">
                <a:sym typeface="+mn-ea"/>
              </a:rPr>
              <a:t>剪枝</a:t>
            </a:r>
            <a:endParaRPr lang="zh-CN" altLang="en-US" sz="2800" b="1" dirty="0">
              <a:sym typeface="+mn-ea"/>
            </a:endParaRPr>
          </a:p>
        </p:txBody>
      </p:sp>
      <p:pic>
        <p:nvPicPr>
          <p:cNvPr id="2" name="图片 1"/>
          <p:cNvPicPr>
            <a:picLocks noChangeAspect="1"/>
          </p:cNvPicPr>
          <p:nvPr>
            <p:custDataLst>
              <p:tags r:id="rId1"/>
            </p:custDataLst>
          </p:nvPr>
        </p:nvPicPr>
        <p:blipFill>
          <a:blip r:embed="rId2"/>
          <a:stretch>
            <a:fillRect/>
          </a:stretch>
        </p:blipFill>
        <p:spPr>
          <a:xfrm>
            <a:off x="340360" y="894715"/>
            <a:ext cx="11525250" cy="50685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40360" y="273685"/>
            <a:ext cx="2458720" cy="521970"/>
          </a:xfrm>
          <a:prstGeom prst="rect">
            <a:avLst/>
          </a:prstGeom>
          <a:noFill/>
        </p:spPr>
        <p:txBody>
          <a:bodyPr wrap="square" rtlCol="0">
            <a:spAutoFit/>
          </a:bodyPr>
          <a:p>
            <a:pPr algn="l" eaLnBrk="1" hangingPunct="1"/>
            <a:r>
              <a:rPr lang="en-US" altLang="zh-CN" sz="2800" b="1" dirty="0">
                <a:sym typeface="+mn-ea"/>
              </a:rPr>
              <a:t>2</a:t>
            </a:r>
            <a:r>
              <a:rPr lang="zh-CN" altLang="en-US" sz="2800" b="1" dirty="0">
                <a:sym typeface="+mn-ea"/>
              </a:rPr>
              <a:t>、</a:t>
            </a:r>
            <a:r>
              <a:rPr lang="en-US" altLang="zh-CN" sz="2800" b="1" dirty="0">
                <a:sym typeface="+mn-ea"/>
              </a:rPr>
              <a:t>C4.5</a:t>
            </a:r>
            <a:r>
              <a:rPr lang="zh-CN" altLang="en-US" sz="2800" b="1" dirty="0">
                <a:sym typeface="+mn-ea"/>
              </a:rPr>
              <a:t>算法</a:t>
            </a:r>
            <a:endParaRPr lang="zh-CN" altLang="en-US" sz="2800" b="1" dirty="0">
              <a:sym typeface="+mn-ea"/>
            </a:endParaRPr>
          </a:p>
        </p:txBody>
      </p:sp>
      <p:sp>
        <p:nvSpPr>
          <p:cNvPr id="3" name="文本框 2"/>
          <p:cNvSpPr txBox="1"/>
          <p:nvPr/>
        </p:nvSpPr>
        <p:spPr>
          <a:xfrm>
            <a:off x="948055" y="1016635"/>
            <a:ext cx="10309860" cy="5048885"/>
          </a:xfrm>
          <a:prstGeom prst="rect">
            <a:avLst/>
          </a:prstGeom>
          <a:noFill/>
        </p:spPr>
        <p:txBody>
          <a:bodyPr wrap="square" rtlCol="0">
            <a:noAutofit/>
          </a:bodyPr>
          <a:p>
            <a:pPr>
              <a:lnSpc>
                <a:spcPct val="150000"/>
              </a:lnSpc>
            </a:pPr>
            <a:r>
              <a:rPr lang="en-US" altLang="zh-CN" sz="2400" b="1" dirty="0" err="1">
                <a:effectLst/>
                <a:latin typeface="黑体" panose="02010609060101010101" charset="-122"/>
                <a:ea typeface="黑体" panose="02010609060101010101" charset="-122"/>
                <a:cs typeface="黑体" panose="02010609060101010101" charset="-122"/>
                <a:sym typeface="+mn-ea"/>
              </a:rPr>
              <a:t>缺点</a:t>
            </a:r>
            <a:r>
              <a:rPr lang="zh-CN" altLang="en-US" sz="2400" b="1" dirty="0" err="1">
                <a:effectLst/>
                <a:latin typeface="黑体" panose="02010609060101010101" charset="-122"/>
                <a:ea typeface="黑体" panose="02010609060101010101" charset="-122"/>
                <a:cs typeface="黑体" panose="02010609060101010101" charset="-122"/>
                <a:sym typeface="+mn-ea"/>
              </a:rPr>
              <a:t>：</a:t>
            </a:r>
            <a:endParaRPr lang="en-US" altLang="zh-CN" sz="2400" b="1" dirty="0" err="1">
              <a:effectLst/>
              <a:latin typeface="黑体" panose="02010609060101010101" charset="-122"/>
              <a:ea typeface="黑体" panose="02010609060101010101" charset="-122"/>
              <a:cs typeface="黑体" panose="02010609060101010101" charset="-122"/>
              <a:sym typeface="+mn-ea"/>
            </a:endParaRPr>
          </a:p>
          <a:p>
            <a:pPr marL="457200" indent="-457200">
              <a:lnSpc>
                <a:spcPct val="150000"/>
              </a:lnSpc>
              <a:buFont typeface="+mj-ea"/>
              <a:buAutoNum type="circleNumDbPlain"/>
            </a:pPr>
            <a:r>
              <a:rPr lang="zh-CN" altLang="zh-CN" sz="2400" kern="100" dirty="0">
                <a:effectLst/>
                <a:latin typeface="黑体" panose="02010609060101010101" charset="-122"/>
                <a:ea typeface="黑体" panose="02010609060101010101" charset="-122"/>
                <a:cs typeface="黑体" panose="02010609060101010101" charset="-122"/>
                <a:sym typeface="+mn-ea"/>
              </a:rPr>
              <a:t>剪枝策略可以再优化；</a:t>
            </a:r>
            <a:endParaRPr lang="zh-CN" altLang="zh-CN" sz="2400" kern="100" dirty="0">
              <a:effectLst/>
              <a:latin typeface="黑体" panose="02010609060101010101" charset="-122"/>
              <a:ea typeface="黑体" panose="02010609060101010101" charset="-122"/>
              <a:cs typeface="黑体" panose="02010609060101010101" charset="-122"/>
              <a:sym typeface="+mn-ea"/>
            </a:endParaRPr>
          </a:p>
          <a:p>
            <a:pPr marL="457200" indent="-457200">
              <a:lnSpc>
                <a:spcPct val="150000"/>
              </a:lnSpc>
              <a:buFont typeface="+mj-ea"/>
              <a:buAutoNum type="circleNumDbPlain"/>
            </a:pPr>
            <a:r>
              <a:rPr lang="en-US" altLang="zh-CN" sz="2400" kern="100" dirty="0">
                <a:effectLst/>
                <a:latin typeface="黑体" panose="02010609060101010101" charset="-122"/>
                <a:ea typeface="黑体" panose="02010609060101010101" charset="-122"/>
                <a:cs typeface="黑体" panose="02010609060101010101" charset="-122"/>
                <a:sym typeface="+mn-ea"/>
              </a:rPr>
              <a:t>C4.5 </a:t>
            </a:r>
            <a:r>
              <a:rPr lang="zh-CN" altLang="zh-CN" sz="2400" kern="100" dirty="0">
                <a:effectLst/>
                <a:latin typeface="黑体" panose="02010609060101010101" charset="-122"/>
                <a:ea typeface="黑体" panose="02010609060101010101" charset="-122"/>
                <a:cs typeface="黑体" panose="02010609060101010101" charset="-122"/>
                <a:sym typeface="+mn-ea"/>
              </a:rPr>
              <a:t>用的是多叉树，用二叉树效率更高；</a:t>
            </a:r>
            <a:endParaRPr lang="zh-CN" altLang="zh-CN" sz="2400" kern="100" dirty="0">
              <a:effectLst/>
              <a:latin typeface="黑体" panose="02010609060101010101" charset="-122"/>
              <a:ea typeface="黑体" panose="02010609060101010101" charset="-122"/>
              <a:cs typeface="黑体" panose="02010609060101010101" charset="-122"/>
              <a:sym typeface="+mn-ea"/>
            </a:endParaRPr>
          </a:p>
          <a:p>
            <a:pPr marL="457200" indent="-457200">
              <a:lnSpc>
                <a:spcPct val="150000"/>
              </a:lnSpc>
              <a:buFont typeface="+mj-ea"/>
              <a:buAutoNum type="circleNumDbPlain"/>
            </a:pPr>
            <a:r>
              <a:rPr lang="en-US" altLang="zh-CN" sz="2400" kern="100" dirty="0">
                <a:effectLst/>
                <a:latin typeface="黑体" panose="02010609060101010101" charset="-122"/>
                <a:ea typeface="黑体" panose="02010609060101010101" charset="-122"/>
                <a:cs typeface="黑体" panose="02010609060101010101" charset="-122"/>
                <a:sym typeface="+mn-ea"/>
              </a:rPr>
              <a:t>C4.5 </a:t>
            </a:r>
            <a:r>
              <a:rPr lang="zh-CN" altLang="zh-CN" sz="2400" kern="100" dirty="0">
                <a:effectLst/>
                <a:latin typeface="黑体" panose="02010609060101010101" charset="-122"/>
                <a:ea typeface="黑体" panose="02010609060101010101" charset="-122"/>
                <a:cs typeface="黑体" panose="02010609060101010101" charset="-122"/>
                <a:sym typeface="+mn-ea"/>
              </a:rPr>
              <a:t>只能用于分类；</a:t>
            </a:r>
            <a:endParaRPr lang="zh-CN" altLang="zh-CN" sz="2400" kern="100" dirty="0">
              <a:effectLst/>
              <a:latin typeface="黑体" panose="02010609060101010101" charset="-122"/>
              <a:ea typeface="黑体" panose="02010609060101010101" charset="-122"/>
              <a:cs typeface="黑体" panose="02010609060101010101" charset="-122"/>
              <a:sym typeface="+mn-ea"/>
            </a:endParaRPr>
          </a:p>
          <a:p>
            <a:pPr marL="457200" indent="-457200">
              <a:lnSpc>
                <a:spcPct val="150000"/>
              </a:lnSpc>
              <a:buFont typeface="+mj-ea"/>
              <a:buAutoNum type="circleNumDbPlain"/>
            </a:pPr>
            <a:r>
              <a:rPr lang="en-US" altLang="zh-CN" sz="2400" kern="100" dirty="0">
                <a:effectLst/>
                <a:latin typeface="黑体" panose="02010609060101010101" charset="-122"/>
                <a:ea typeface="黑体" panose="02010609060101010101" charset="-122"/>
                <a:cs typeface="黑体" panose="02010609060101010101" charset="-122"/>
                <a:sym typeface="+mn-ea"/>
              </a:rPr>
              <a:t>C4.5 </a:t>
            </a:r>
            <a:r>
              <a:rPr lang="zh-CN" altLang="zh-CN" sz="2400" kern="100" dirty="0">
                <a:effectLst/>
                <a:latin typeface="黑体" panose="02010609060101010101" charset="-122"/>
                <a:ea typeface="黑体" panose="02010609060101010101" charset="-122"/>
                <a:cs typeface="黑体" panose="02010609060101010101" charset="-122"/>
                <a:sym typeface="+mn-ea"/>
              </a:rPr>
              <a:t>使用的熵模型拥有大量耗时的对数运算，连续值还有排序运算；</a:t>
            </a:r>
            <a:endParaRPr lang="zh-CN" altLang="zh-CN" sz="2400" kern="100" dirty="0">
              <a:effectLst/>
              <a:latin typeface="黑体" panose="02010609060101010101" charset="-122"/>
              <a:ea typeface="黑体" panose="02010609060101010101" charset="-122"/>
              <a:cs typeface="黑体" panose="02010609060101010101" charset="-122"/>
              <a:sym typeface="+mn-ea"/>
            </a:endParaRPr>
          </a:p>
          <a:p>
            <a:pPr marL="457200" indent="-457200">
              <a:lnSpc>
                <a:spcPct val="150000"/>
              </a:lnSpc>
              <a:buFont typeface="+mj-ea"/>
              <a:buAutoNum type="circleNumDbPlain"/>
            </a:pPr>
            <a:r>
              <a:rPr lang="en-US" altLang="zh-CN" sz="2400" kern="100" dirty="0">
                <a:effectLst/>
                <a:latin typeface="黑体" panose="02010609060101010101" charset="-122"/>
                <a:ea typeface="黑体" panose="02010609060101010101" charset="-122"/>
                <a:cs typeface="黑体" panose="02010609060101010101" charset="-122"/>
                <a:sym typeface="+mn-ea"/>
              </a:rPr>
              <a:t>C4.5 </a:t>
            </a:r>
            <a:r>
              <a:rPr lang="zh-CN" altLang="zh-CN" sz="2400" kern="100" dirty="0">
                <a:effectLst/>
                <a:latin typeface="黑体" panose="02010609060101010101" charset="-122"/>
                <a:ea typeface="黑体" panose="02010609060101010101" charset="-122"/>
                <a:cs typeface="黑体" panose="02010609060101010101" charset="-122"/>
                <a:sym typeface="+mn-ea"/>
              </a:rPr>
              <a:t>在构造树的过程中，对数值属性值需要按照其大小进行排序，从中选择一个分割点，所以只适合于能够驻留于内存的数据集，当训练集大得无法在内存容纳时，程序无法运行。</a:t>
            </a:r>
            <a:endParaRPr lang="zh-CN" altLang="zh-CN" sz="2400" kern="100" dirty="0">
              <a:effectLst/>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descr="在地上&#10;&#10;低可信度描述已自动生成"/>
          <p:cNvPicPr>
            <a:picLocks noChangeAspect="1"/>
          </p:cNvPicPr>
          <p:nvPr/>
        </p:nvPicPr>
        <p:blipFill>
          <a:blip r:embed="rId1">
            <a:extLst>
              <a:ext uri="{28A0092B-C50C-407E-A947-70E740481C1C}">
                <a14:useLocalDpi xmlns:a14="http://schemas.microsoft.com/office/drawing/2010/main" val="0"/>
              </a:ext>
            </a:extLst>
          </a:blip>
          <a:srcRect t="18750" b="12524"/>
          <a:stretch>
            <a:fillRect/>
          </a:stretch>
        </p:blipFill>
        <p:spPr>
          <a:xfrm>
            <a:off x="0" y="2832100"/>
            <a:ext cx="12192000" cy="4025900"/>
          </a:xfrm>
          <a:custGeom>
            <a:avLst/>
            <a:gdLst>
              <a:gd name="connsiteX0" fmla="*/ 0 w 12192000"/>
              <a:gd name="connsiteY0" fmla="*/ 0 h 4025900"/>
              <a:gd name="connsiteX1" fmla="*/ 12192000 w 12192000"/>
              <a:gd name="connsiteY1" fmla="*/ 0 h 4025900"/>
              <a:gd name="connsiteX2" fmla="*/ 12192000 w 12192000"/>
              <a:gd name="connsiteY2" fmla="*/ 4025900 h 4025900"/>
              <a:gd name="connsiteX3" fmla="*/ 0 w 12192000"/>
              <a:gd name="connsiteY3" fmla="*/ 4025900 h 4025900"/>
            </a:gdLst>
            <a:ahLst/>
            <a:cxnLst>
              <a:cxn ang="0">
                <a:pos x="connsiteX0" y="connsiteY0"/>
              </a:cxn>
              <a:cxn ang="0">
                <a:pos x="connsiteX1" y="connsiteY1"/>
              </a:cxn>
              <a:cxn ang="0">
                <a:pos x="connsiteX2" y="connsiteY2"/>
              </a:cxn>
              <a:cxn ang="0">
                <a:pos x="connsiteX3" y="connsiteY3"/>
              </a:cxn>
            </a:cxnLst>
            <a:rect l="l" t="t" r="r" b="b"/>
            <a:pathLst>
              <a:path w="12192000" h="4025900">
                <a:moveTo>
                  <a:pt x="0" y="0"/>
                </a:moveTo>
                <a:lnTo>
                  <a:pt x="12192000" y="0"/>
                </a:lnTo>
                <a:lnTo>
                  <a:pt x="12192000" y="4025900"/>
                </a:lnTo>
                <a:lnTo>
                  <a:pt x="0" y="4025900"/>
                </a:lnTo>
                <a:close/>
              </a:path>
            </a:pathLst>
          </a:custGeom>
        </p:spPr>
      </p:pic>
      <p:sp>
        <p:nvSpPr>
          <p:cNvPr id="3" name="对角圆角矩形 8"/>
          <p:cNvSpPr/>
          <p:nvPr>
            <p:custDataLst>
              <p:tags r:id="rId2"/>
            </p:custDataLst>
          </p:nvPr>
        </p:nvSpPr>
        <p:spPr>
          <a:xfrm>
            <a:off x="2956847" y="4135340"/>
            <a:ext cx="6278833" cy="647700"/>
          </a:xfrm>
          <a:prstGeom prst="round2DiagRect">
            <a:avLst>
              <a:gd name="adj1" fmla="val 20943"/>
              <a:gd name="adj2" fmla="val 0"/>
            </a:avLst>
          </a:prstGeom>
          <a:solidFill>
            <a:srgbClr val="8FC1C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p>
        </p:txBody>
      </p:sp>
      <p:sp>
        <p:nvSpPr>
          <p:cNvPr id="4" name="TextBox 10"/>
          <p:cNvSpPr txBox="1">
            <a:spLocks noChangeArrowheads="1"/>
          </p:cNvSpPr>
          <p:nvPr>
            <p:custDataLst>
              <p:tags r:id="rId3"/>
            </p:custDataLst>
          </p:nvPr>
        </p:nvSpPr>
        <p:spPr bwMode="auto">
          <a:xfrm>
            <a:off x="4133850" y="2075180"/>
            <a:ext cx="3183890"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chemeClr val="tx1"/>
                </a:solidFill>
                <a:latin typeface="Impact" panose="020B0806030902050204" pitchFamily="34" charset="0"/>
                <a:ea typeface="微软雅黑" panose="020B0503020204020204" charset="-122"/>
              </a:rPr>
              <a:t>01    ID3</a:t>
            </a:r>
            <a:r>
              <a:rPr lang="zh-CN" altLang="en-US" sz="3600" dirty="0">
                <a:solidFill>
                  <a:schemeClr val="tx1"/>
                </a:solidFill>
                <a:latin typeface="Impact" panose="020B0806030902050204" pitchFamily="34" charset="0"/>
                <a:ea typeface="微软雅黑" panose="020B0503020204020204" charset="-122"/>
              </a:rPr>
              <a:t>算法</a:t>
            </a:r>
            <a:endParaRPr lang="zh-CN" altLang="en-US" sz="3600" dirty="0">
              <a:solidFill>
                <a:schemeClr val="tx1"/>
              </a:solidFill>
              <a:latin typeface="Impact" panose="020B0806030902050204" pitchFamily="34" charset="0"/>
              <a:ea typeface="微软雅黑" panose="020B0503020204020204" charset="-122"/>
            </a:endParaRPr>
          </a:p>
        </p:txBody>
      </p:sp>
      <p:sp>
        <p:nvSpPr>
          <p:cNvPr id="9" name="TextBox 11"/>
          <p:cNvSpPr txBox="1">
            <a:spLocks noChangeArrowheads="1"/>
          </p:cNvSpPr>
          <p:nvPr>
            <p:custDataLst>
              <p:tags r:id="rId4"/>
            </p:custDataLst>
          </p:nvPr>
        </p:nvSpPr>
        <p:spPr bwMode="auto">
          <a:xfrm>
            <a:off x="4133850" y="3152140"/>
            <a:ext cx="2913380"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charset="-122"/>
              </a:rPr>
              <a:t>02    C4.5</a:t>
            </a:r>
            <a:r>
              <a:rPr lang="zh-CN" altLang="en-US" sz="3600" dirty="0">
                <a:latin typeface="Impact" panose="020B0806030902050204" pitchFamily="34" charset="0"/>
                <a:ea typeface="微软雅黑" panose="020B0503020204020204" charset="-122"/>
              </a:rPr>
              <a:t>算法</a:t>
            </a:r>
            <a:endParaRPr lang="zh-CN" altLang="en-US" sz="3600" dirty="0">
              <a:latin typeface="Impact" panose="020B0806030902050204" pitchFamily="34" charset="0"/>
              <a:ea typeface="微软雅黑" panose="020B0503020204020204" charset="-122"/>
            </a:endParaRPr>
          </a:p>
        </p:txBody>
      </p:sp>
      <p:sp>
        <p:nvSpPr>
          <p:cNvPr id="10" name="TextBox 10"/>
          <p:cNvSpPr txBox="1">
            <a:spLocks noChangeArrowheads="1"/>
          </p:cNvSpPr>
          <p:nvPr>
            <p:custDataLst>
              <p:tags r:id="rId5"/>
            </p:custDataLst>
          </p:nvPr>
        </p:nvSpPr>
        <p:spPr bwMode="auto">
          <a:xfrm>
            <a:off x="4133850" y="4229100"/>
            <a:ext cx="2776855"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charset="-122"/>
              </a:rPr>
              <a:t>03 </a:t>
            </a:r>
            <a:r>
              <a:rPr lang="zh-CN" altLang="en-US" sz="3600" dirty="0">
                <a:solidFill>
                  <a:schemeClr val="bg1"/>
                </a:solidFill>
                <a:latin typeface="Impact" panose="020B0806030902050204" pitchFamily="34" charset="0"/>
                <a:ea typeface="微软雅黑" panose="020B0503020204020204" charset="-122"/>
              </a:rPr>
              <a:t>   </a:t>
            </a:r>
            <a:r>
              <a:rPr lang="en-US" altLang="zh-CN" sz="3600" dirty="0">
                <a:solidFill>
                  <a:schemeClr val="bg1"/>
                </a:solidFill>
                <a:latin typeface="Impact" panose="020B0806030902050204" pitchFamily="34" charset="0"/>
                <a:ea typeface="微软雅黑" panose="020B0503020204020204" charset="-122"/>
              </a:rPr>
              <a:t>CART</a:t>
            </a:r>
            <a:r>
              <a:rPr lang="zh-CN" altLang="en-US" sz="3600" dirty="0">
                <a:solidFill>
                  <a:schemeClr val="bg1"/>
                </a:solidFill>
                <a:latin typeface="Impact" panose="020B0806030902050204" pitchFamily="34" charset="0"/>
                <a:ea typeface="微软雅黑" panose="020B0503020204020204" charset="-122"/>
              </a:rPr>
              <a:t>算法</a:t>
            </a:r>
            <a:endParaRPr lang="zh-CN" altLang="en-US" sz="3600" dirty="0">
              <a:solidFill>
                <a:schemeClr val="bg1"/>
              </a:solidFill>
              <a:latin typeface="Impact" panose="020B0806030902050204" pitchFamily="34" charset="0"/>
              <a:ea typeface="微软雅黑" panose="020B0503020204020204" charset="-122"/>
            </a:endParaRPr>
          </a:p>
        </p:txBody>
      </p:sp>
      <p:grpSp>
        <p:nvGrpSpPr>
          <p:cNvPr id="14" name="组合 13"/>
          <p:cNvGrpSpPr/>
          <p:nvPr/>
        </p:nvGrpSpPr>
        <p:grpSpPr>
          <a:xfrm>
            <a:off x="4067175" y="686435"/>
            <a:ext cx="3901440" cy="903610"/>
            <a:chOff x="1029437" y="3931614"/>
            <a:chExt cx="3582597" cy="903707"/>
          </a:xfrm>
        </p:grpSpPr>
        <p:sp>
          <p:nvSpPr>
            <p:cNvPr id="15" name="矩形 14"/>
            <p:cNvSpPr/>
            <p:nvPr>
              <p:custDataLst>
                <p:tags r:id="rId6"/>
              </p:custDataLst>
            </p:nvPr>
          </p:nvSpPr>
          <p:spPr>
            <a:xfrm>
              <a:off x="1029437" y="3988332"/>
              <a:ext cx="853873" cy="706831"/>
            </a:xfrm>
            <a:prstGeom prst="rect">
              <a:avLst/>
            </a:prstGeom>
          </p:spPr>
          <p:txBody>
            <a:bodyPr wrap="square">
              <a:spAutoFit/>
            </a:bodyPr>
            <a:p>
              <a:r>
                <a:rPr lang="zh-CN" altLang="en-US" sz="4000" dirty="0">
                  <a:solidFill>
                    <a:srgbClr val="6FB4BD"/>
                  </a:solidFill>
                  <a:latin typeface="汉仪中宋简" panose="02010609000101010101" pitchFamily="49" charset="-122"/>
                  <a:ea typeface="汉仪中宋简" panose="02010609000101010101" pitchFamily="49" charset="-122"/>
                </a:rPr>
                <a:t>一、</a:t>
              </a:r>
              <a:endParaRPr lang="zh-CN" altLang="en-US" sz="4000" dirty="0">
                <a:solidFill>
                  <a:srgbClr val="6FB4BD"/>
                </a:solidFill>
                <a:latin typeface="汉仪中宋简" panose="02010609000101010101" pitchFamily="49" charset="-122"/>
                <a:ea typeface="汉仪中宋简" panose="02010609000101010101" pitchFamily="49" charset="-122"/>
              </a:endParaRPr>
            </a:p>
          </p:txBody>
        </p:sp>
        <p:sp>
          <p:nvSpPr>
            <p:cNvPr id="17" name="矩形 16"/>
            <p:cNvSpPr/>
            <p:nvPr>
              <p:custDataLst>
                <p:tags r:id="rId7"/>
              </p:custDataLst>
            </p:nvPr>
          </p:nvSpPr>
          <p:spPr>
            <a:xfrm>
              <a:off x="1965156" y="3931614"/>
              <a:ext cx="2646878" cy="706831"/>
            </a:xfrm>
            <a:prstGeom prst="rect">
              <a:avLst/>
            </a:prstGeom>
          </p:spPr>
          <p:txBody>
            <a:bodyPr wrap="square">
              <a:spAutoFit/>
            </a:bodyPr>
            <a:p>
              <a:r>
                <a:rPr lang="zh-CN" altLang="en-US" sz="4000" dirty="0">
                  <a:solidFill>
                    <a:srgbClr val="6FB4BD"/>
                  </a:solidFill>
                  <a:latin typeface="华文新魏" panose="02010800040101010101" charset="-122"/>
                  <a:ea typeface="华文新魏" panose="02010800040101010101" charset="-122"/>
                </a:rPr>
                <a:t>决策树</a:t>
              </a:r>
              <a:r>
                <a:rPr lang="en-US" altLang="zh-CN" sz="4000" dirty="0">
                  <a:solidFill>
                    <a:srgbClr val="6FB4BD"/>
                  </a:solidFill>
                  <a:latin typeface="华文新魏" panose="02010800040101010101" charset="-122"/>
                  <a:ea typeface="华文新魏" panose="02010800040101010101" charset="-122"/>
                </a:rPr>
                <a:t> </a:t>
              </a:r>
              <a:endParaRPr lang="en-US" altLang="zh-CN" sz="4000" dirty="0">
                <a:solidFill>
                  <a:srgbClr val="6FB4BD"/>
                </a:solidFill>
                <a:latin typeface="华文新魏" panose="02010800040101010101" charset="-122"/>
                <a:ea typeface="华文新魏" panose="02010800040101010101" charset="-122"/>
              </a:endParaRPr>
            </a:p>
          </p:txBody>
        </p:sp>
        <p:sp>
          <p:nvSpPr>
            <p:cNvPr id="19" name="矩形 18"/>
            <p:cNvSpPr/>
            <p:nvPr>
              <p:custDataLst>
                <p:tags r:id="rId8"/>
              </p:custDataLst>
            </p:nvPr>
          </p:nvSpPr>
          <p:spPr>
            <a:xfrm>
              <a:off x="1996815" y="4436498"/>
              <a:ext cx="2474677" cy="398823"/>
            </a:xfrm>
            <a:prstGeom prst="rect">
              <a:avLst/>
            </a:prstGeom>
          </p:spPr>
          <p:txBody>
            <a:bodyPr wrap="square">
              <a:spAutoFit/>
            </a:bodyPr>
            <a:p>
              <a:pPr algn="l"/>
              <a:r>
                <a:rPr lang="zh-CN" altLang="en-US" sz="2000" dirty="0">
                  <a:solidFill>
                    <a:srgbClr val="6FB4BD"/>
                  </a:solidFill>
                </a:rPr>
                <a:t>decision tree</a:t>
              </a:r>
              <a:endParaRPr lang="zh-CN" altLang="en-US" sz="2000" dirty="0">
                <a:solidFill>
                  <a:srgbClr val="6FB4BD"/>
                </a:solidFill>
              </a:endParaRPr>
            </a:p>
          </p:txBody>
        </p:sp>
      </p:gr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40360" y="273685"/>
            <a:ext cx="3021330" cy="521970"/>
          </a:xfrm>
          <a:prstGeom prst="rect">
            <a:avLst/>
          </a:prstGeom>
          <a:noFill/>
        </p:spPr>
        <p:txBody>
          <a:bodyPr wrap="square" rtlCol="0">
            <a:spAutoFit/>
          </a:bodyPr>
          <a:p>
            <a:pPr algn="l" eaLnBrk="1" hangingPunct="1"/>
            <a:r>
              <a:rPr lang="en-US" altLang="zh-CN" sz="2800" b="1" dirty="0">
                <a:sym typeface="+mn-ea"/>
              </a:rPr>
              <a:t>3</a:t>
            </a:r>
            <a:r>
              <a:rPr lang="zh-CN" altLang="en-US" sz="2800" b="1" dirty="0">
                <a:sym typeface="+mn-ea"/>
              </a:rPr>
              <a:t>、</a:t>
            </a:r>
            <a:r>
              <a:rPr lang="en-US" altLang="zh-CN" sz="2800" b="1" dirty="0">
                <a:sym typeface="+mn-ea"/>
              </a:rPr>
              <a:t>CART</a:t>
            </a:r>
            <a:r>
              <a:rPr lang="zh-CN" altLang="en-US" sz="2800" b="1" dirty="0">
                <a:sym typeface="+mn-ea"/>
              </a:rPr>
              <a:t>算法</a:t>
            </a:r>
            <a:endParaRPr lang="zh-CN" altLang="en-US" sz="2800" b="1" dirty="0">
              <a:sym typeface="+mn-ea"/>
            </a:endParaRPr>
          </a:p>
        </p:txBody>
      </p:sp>
      <p:sp>
        <p:nvSpPr>
          <p:cNvPr id="3" name="文本框 2"/>
          <p:cNvSpPr txBox="1"/>
          <p:nvPr>
            <p:custDataLst>
              <p:tags r:id="rId1"/>
            </p:custDataLst>
          </p:nvPr>
        </p:nvSpPr>
        <p:spPr>
          <a:xfrm>
            <a:off x="948055" y="1156970"/>
            <a:ext cx="9658985" cy="4493260"/>
          </a:xfrm>
          <a:prstGeom prst="rect">
            <a:avLst/>
          </a:prstGeom>
          <a:noFill/>
        </p:spPr>
        <p:txBody>
          <a:bodyPr wrap="square" rtlCol="0">
            <a:noAutofit/>
          </a:bodyPr>
          <a:p>
            <a:pPr marL="342900" indent="-342900" algn="just">
              <a:lnSpc>
                <a:spcPct val="170000"/>
              </a:lnSpc>
              <a:buFont typeface="Arial" panose="020B0604020202020204" pitchFamily="34" charset="0"/>
              <a:buChar char="•"/>
            </a:pPr>
            <a:r>
              <a:rPr lang="en-US" altLang="zh-CN" sz="2400" dirty="0">
                <a:latin typeface="Times New Roman" panose="02020603050405020304" charset="0"/>
                <a:ea typeface="思源黑体 CN Medium" panose="020B0600000000000000" pitchFamily="34" charset="-122"/>
                <a:cs typeface="Times New Roman" panose="02020603050405020304" charset="0"/>
                <a:sym typeface="+mn-ea"/>
              </a:rPr>
              <a:t>Classification and Regression Tree (CART) </a:t>
            </a:r>
            <a:r>
              <a:rPr lang="zh-CN" altLang="en-US" sz="2400" dirty="0">
                <a:latin typeface="Times New Roman" panose="02020603050405020304" charset="0"/>
                <a:ea typeface="思源黑体 CN Medium" panose="020B0600000000000000" pitchFamily="34" charset="-122"/>
                <a:cs typeface="Times New Roman" panose="02020603050405020304" charset="0"/>
                <a:sym typeface="+mn-ea"/>
              </a:rPr>
              <a:t>是决策树的一种。</a:t>
            </a:r>
            <a:endParaRPr lang="zh-CN" altLang="en-US" sz="2400" dirty="0">
              <a:latin typeface="Times New Roman" panose="02020603050405020304" charset="0"/>
              <a:ea typeface="思源黑体 CN Medium" panose="020B0600000000000000" pitchFamily="34" charset="-122"/>
              <a:cs typeface="Times New Roman" panose="02020603050405020304" charset="0"/>
              <a:sym typeface="+mn-ea"/>
            </a:endParaRPr>
          </a:p>
          <a:p>
            <a:pPr marL="342900" indent="-342900" algn="just">
              <a:lnSpc>
                <a:spcPct val="170000"/>
              </a:lnSpc>
              <a:buFont typeface="Arial" panose="020B0604020202020204" pitchFamily="34" charset="0"/>
              <a:buChar char="•"/>
            </a:pPr>
            <a:r>
              <a:rPr lang="zh-CN" altLang="en-US" sz="2400" dirty="0">
                <a:latin typeface="Times New Roman" panose="02020603050405020304" charset="0"/>
                <a:ea typeface="思源黑体 CN Medium" panose="020B0600000000000000" pitchFamily="34" charset="-122"/>
                <a:cs typeface="Times New Roman" panose="02020603050405020304" charset="0"/>
                <a:sym typeface="+mn-ea"/>
              </a:rPr>
              <a:t>用</a:t>
            </a:r>
            <a:r>
              <a:rPr lang="zh-CN" altLang="en-US" sz="2400" dirty="0">
                <a:solidFill>
                  <a:srgbClr val="FF0000"/>
                </a:solidFill>
                <a:latin typeface="Times New Roman" panose="02020603050405020304" charset="0"/>
                <a:ea typeface="思源黑体 CN Medium" panose="020B0600000000000000" pitchFamily="34" charset="-122"/>
                <a:cs typeface="Times New Roman" panose="02020603050405020304" charset="0"/>
                <a:sym typeface="+mn-ea"/>
              </a:rPr>
              <a:t>基尼指数</a:t>
            </a:r>
            <a:r>
              <a:rPr lang="zh-CN" altLang="en-US" sz="2400" dirty="0">
                <a:latin typeface="Times New Roman" panose="02020603050405020304" charset="0"/>
                <a:ea typeface="思源黑体 CN Medium" panose="020B0600000000000000" pitchFamily="34" charset="-122"/>
                <a:cs typeface="Times New Roman" panose="02020603050405020304" charset="0"/>
                <a:sym typeface="+mn-ea"/>
              </a:rPr>
              <a:t>来选择属性（分类），或用</a:t>
            </a:r>
            <a:r>
              <a:rPr lang="zh-CN" altLang="en-US" sz="2400" dirty="0">
                <a:solidFill>
                  <a:srgbClr val="FF0000"/>
                </a:solidFill>
                <a:latin typeface="Times New Roman" panose="02020603050405020304" charset="0"/>
                <a:ea typeface="思源黑体 CN Medium" panose="020B0600000000000000" pitchFamily="34" charset="-122"/>
                <a:cs typeface="Times New Roman" panose="02020603050405020304" charset="0"/>
                <a:sym typeface="+mn-ea"/>
              </a:rPr>
              <a:t>均方差</a:t>
            </a:r>
            <a:r>
              <a:rPr lang="zh-CN" altLang="en-US" sz="2400" dirty="0">
                <a:latin typeface="Times New Roman" panose="02020603050405020304" charset="0"/>
                <a:ea typeface="思源黑体 CN Medium" panose="020B0600000000000000" pitchFamily="34" charset="-122"/>
                <a:cs typeface="Times New Roman" panose="02020603050405020304" charset="0"/>
                <a:sym typeface="+mn-ea"/>
              </a:rPr>
              <a:t>来选择属性（回归）。</a:t>
            </a:r>
            <a:endParaRPr lang="zh-CN" altLang="en-US" sz="2400" dirty="0">
              <a:latin typeface="Times New Roman" panose="02020603050405020304" charset="0"/>
              <a:ea typeface="思源黑体 CN Medium" panose="020B0600000000000000" pitchFamily="34" charset="-122"/>
              <a:cs typeface="Times New Roman" panose="02020603050405020304" charset="0"/>
              <a:sym typeface="+mn-ea"/>
            </a:endParaRPr>
          </a:p>
          <a:p>
            <a:pPr marL="342900" indent="-342900" algn="just">
              <a:lnSpc>
                <a:spcPct val="170000"/>
              </a:lnSpc>
              <a:buFont typeface="Arial" panose="020B0604020202020204" pitchFamily="34" charset="0"/>
              <a:buChar char="•"/>
            </a:pPr>
            <a:r>
              <a:rPr lang="zh-CN" altLang="en-US" sz="2400" dirty="0">
                <a:latin typeface="Times New Roman" panose="02020603050405020304" charset="0"/>
                <a:ea typeface="思源黑体 CN Medium" panose="020B0600000000000000" pitchFamily="34" charset="-122"/>
                <a:cs typeface="Times New Roman" panose="02020603050405020304" charset="0"/>
                <a:sym typeface="+mn-ea"/>
              </a:rPr>
              <a:t>顾名思义，</a:t>
            </a:r>
            <a:r>
              <a:rPr lang="en-US" altLang="zh-CN" sz="2400" dirty="0">
                <a:latin typeface="Times New Roman" panose="02020603050405020304" charset="0"/>
                <a:ea typeface="思源黑体 CN Medium" panose="020B0600000000000000" pitchFamily="34" charset="-122"/>
                <a:cs typeface="Times New Roman" panose="02020603050405020304" charset="0"/>
                <a:sym typeface="+mn-ea"/>
              </a:rPr>
              <a:t>CART</a:t>
            </a:r>
            <a:r>
              <a:rPr lang="zh-CN" altLang="en-US" sz="2400" dirty="0">
                <a:latin typeface="Times New Roman" panose="02020603050405020304" charset="0"/>
                <a:ea typeface="思源黑体 CN Medium" panose="020B0600000000000000" pitchFamily="34" charset="-122"/>
                <a:cs typeface="Times New Roman" panose="02020603050405020304" charset="0"/>
                <a:sym typeface="+mn-ea"/>
              </a:rPr>
              <a:t>算法既可以用于创建分类树，也可以用于创建回归树，两者在构建的过程中稍有差异。</a:t>
            </a:r>
            <a:endParaRPr lang="zh-CN" altLang="en-US" sz="2400" dirty="0">
              <a:latin typeface="Times New Roman" panose="02020603050405020304" charset="0"/>
              <a:ea typeface="思源黑体 CN Medium" panose="020B0600000000000000" pitchFamily="34" charset="-122"/>
              <a:cs typeface="Times New Roman" panose="02020603050405020304" charset="0"/>
              <a:sym typeface="+mn-ea"/>
            </a:endParaRPr>
          </a:p>
          <a:p>
            <a:pPr marL="342900" indent="-342900" algn="just">
              <a:lnSpc>
                <a:spcPct val="170000"/>
              </a:lnSpc>
              <a:buFont typeface="Arial" panose="020B0604020202020204" pitchFamily="34" charset="0"/>
              <a:buChar char="•"/>
            </a:pPr>
            <a:r>
              <a:rPr lang="zh-CN" altLang="en-US" sz="2400" dirty="0">
                <a:latin typeface="Times New Roman" panose="02020603050405020304" charset="0"/>
                <a:ea typeface="思源黑体 CN Medium" panose="020B0600000000000000" pitchFamily="34" charset="-122"/>
                <a:cs typeface="Times New Roman" panose="02020603050405020304" charset="0"/>
                <a:sym typeface="+mn-ea"/>
              </a:rPr>
              <a:t>如果目标变量是离散的，称为分类树。</a:t>
            </a:r>
            <a:endParaRPr lang="zh-CN" altLang="en-US" sz="2400" dirty="0">
              <a:latin typeface="Times New Roman" panose="02020603050405020304" charset="0"/>
              <a:ea typeface="思源黑体 CN Medium" panose="020B0600000000000000" pitchFamily="34" charset="-122"/>
              <a:cs typeface="Times New Roman" panose="02020603050405020304" charset="0"/>
              <a:sym typeface="+mn-ea"/>
            </a:endParaRPr>
          </a:p>
          <a:p>
            <a:pPr marL="342900" indent="-342900" algn="just">
              <a:lnSpc>
                <a:spcPct val="170000"/>
              </a:lnSpc>
              <a:buFont typeface="Arial" panose="020B0604020202020204" pitchFamily="34" charset="0"/>
              <a:buChar char="•"/>
            </a:pPr>
            <a:r>
              <a:rPr lang="zh-CN" altLang="en-US" sz="2400" dirty="0">
                <a:latin typeface="Times New Roman" panose="02020603050405020304" charset="0"/>
                <a:ea typeface="思源黑体 CN Medium" panose="020B0600000000000000" pitchFamily="34" charset="-122"/>
                <a:cs typeface="Times New Roman" panose="02020603050405020304" charset="0"/>
                <a:sym typeface="+mn-ea"/>
              </a:rPr>
              <a:t>如果目标变量是连续的，称为回归树。</a:t>
            </a:r>
            <a:endParaRPr lang="zh-CN" altLang="zh-CN" sz="2400" kern="100" dirty="0">
              <a:effectLst/>
              <a:latin typeface="黑体" panose="02010609060101010101" charset="-122"/>
              <a:ea typeface="黑体" panose="02010609060101010101" charset="-122"/>
              <a:cs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1"/>
          <a:srcRect l="1954" r="51477"/>
          <a:stretch>
            <a:fillRect/>
          </a:stretch>
        </p:blipFill>
        <p:spPr>
          <a:xfrm>
            <a:off x="687070" y="422275"/>
            <a:ext cx="3950970" cy="4370705"/>
          </a:xfrm>
          <a:prstGeom prst="rect">
            <a:avLst/>
          </a:prstGeom>
        </p:spPr>
      </p:pic>
      <p:sp>
        <p:nvSpPr>
          <p:cNvPr id="4" name="左大括号 3"/>
          <p:cNvSpPr/>
          <p:nvPr/>
        </p:nvSpPr>
        <p:spPr>
          <a:xfrm rot="16200000">
            <a:off x="2240915" y="4173855"/>
            <a:ext cx="291465" cy="1520190"/>
          </a:xfrm>
          <a:prstGeom prst="leftBrace">
            <a:avLst/>
          </a:prstGeom>
          <a:ln>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 name="文本框 4"/>
          <p:cNvSpPr txBox="1"/>
          <p:nvPr/>
        </p:nvSpPr>
        <p:spPr>
          <a:xfrm>
            <a:off x="2046605" y="5174615"/>
            <a:ext cx="680085" cy="368300"/>
          </a:xfrm>
          <a:prstGeom prst="rect">
            <a:avLst/>
          </a:prstGeom>
          <a:noFill/>
        </p:spPr>
        <p:txBody>
          <a:bodyPr wrap="square" rtlCol="0">
            <a:spAutoFit/>
          </a:bodyPr>
          <a:p>
            <a:r>
              <a:rPr lang="zh-CN" altLang="en-US">
                <a:solidFill>
                  <a:srgbClr val="FF0000"/>
                </a:solidFill>
                <a:latin typeface="黑体" panose="02010609060101010101" charset="-122"/>
                <a:ea typeface="黑体" panose="02010609060101010101" charset="-122"/>
              </a:rPr>
              <a:t>属性</a:t>
            </a:r>
            <a:endParaRPr lang="zh-CN" altLang="en-US">
              <a:solidFill>
                <a:srgbClr val="FF0000"/>
              </a:solidFill>
              <a:latin typeface="黑体" panose="02010609060101010101" charset="-122"/>
              <a:ea typeface="黑体" panose="02010609060101010101" charset="-122"/>
            </a:endParaRPr>
          </a:p>
        </p:txBody>
      </p:sp>
      <p:cxnSp>
        <p:nvCxnSpPr>
          <p:cNvPr id="8" name="直接箭头连接符 7"/>
          <p:cNvCxnSpPr/>
          <p:nvPr/>
        </p:nvCxnSpPr>
        <p:spPr>
          <a:xfrm>
            <a:off x="4145280" y="4788535"/>
            <a:ext cx="0" cy="381635"/>
          </a:xfrm>
          <a:prstGeom prst="straightConnector1">
            <a:avLst/>
          </a:prstGeom>
          <a:ln>
            <a:solidFill>
              <a:srgbClr val="FF0000"/>
            </a:solidFill>
            <a:tailEnd type="arrow" w="med" len="med"/>
          </a:ln>
        </p:spPr>
        <p:style>
          <a:lnRef idx="3">
            <a:schemeClr val="accent1"/>
          </a:lnRef>
          <a:fillRef idx="0">
            <a:srgbClr val="FFFFFF"/>
          </a:fillRef>
          <a:effectRef idx="0">
            <a:srgbClr val="FFFFFF"/>
          </a:effectRef>
          <a:fontRef idx="minor">
            <a:schemeClr val="tx1"/>
          </a:fontRef>
        </p:style>
      </p:cxnSp>
      <p:sp>
        <p:nvSpPr>
          <p:cNvPr id="12" name="文本框 11"/>
          <p:cNvSpPr txBox="1"/>
          <p:nvPr/>
        </p:nvSpPr>
        <p:spPr>
          <a:xfrm>
            <a:off x="3804920" y="5174615"/>
            <a:ext cx="680085" cy="368300"/>
          </a:xfrm>
          <a:prstGeom prst="rect">
            <a:avLst/>
          </a:prstGeom>
          <a:noFill/>
        </p:spPr>
        <p:txBody>
          <a:bodyPr wrap="square" rtlCol="0">
            <a:spAutoFit/>
          </a:bodyPr>
          <a:p>
            <a:r>
              <a:rPr lang="zh-CN" altLang="en-US">
                <a:solidFill>
                  <a:srgbClr val="FF0000"/>
                </a:solidFill>
                <a:latin typeface="黑体" panose="02010609060101010101" charset="-122"/>
                <a:ea typeface="黑体" panose="02010609060101010101" charset="-122"/>
              </a:rPr>
              <a:t>标签</a:t>
            </a:r>
            <a:endParaRPr lang="zh-CN" altLang="en-US">
              <a:solidFill>
                <a:srgbClr val="FF0000"/>
              </a:solidFill>
              <a:latin typeface="黑体" panose="02010609060101010101" charset="-122"/>
              <a:ea typeface="黑体" panose="02010609060101010101" charset="-122"/>
            </a:endParaRPr>
          </a:p>
        </p:txBody>
      </p:sp>
      <p:pic>
        <p:nvPicPr>
          <p:cNvPr id="13" name="图片 12"/>
          <p:cNvPicPr>
            <a:picLocks noChangeAspect="1"/>
          </p:cNvPicPr>
          <p:nvPr/>
        </p:nvPicPr>
        <p:blipFill>
          <a:blip r:embed="rId2"/>
          <a:stretch>
            <a:fillRect/>
          </a:stretch>
        </p:blipFill>
        <p:spPr>
          <a:xfrm>
            <a:off x="5857875" y="417195"/>
            <a:ext cx="4864100" cy="2762250"/>
          </a:xfrm>
          <a:prstGeom prst="rect">
            <a:avLst/>
          </a:prstGeom>
        </p:spPr>
      </p:pic>
      <p:pic>
        <p:nvPicPr>
          <p:cNvPr id="14" name="图片 13"/>
          <p:cNvPicPr>
            <a:picLocks noChangeAspect="1"/>
          </p:cNvPicPr>
          <p:nvPr/>
        </p:nvPicPr>
        <p:blipFill>
          <a:blip r:embed="rId3"/>
          <a:srcRect t="1235"/>
          <a:stretch>
            <a:fillRect/>
          </a:stretch>
        </p:blipFill>
        <p:spPr>
          <a:xfrm>
            <a:off x="5768975" y="417195"/>
            <a:ext cx="5803900" cy="4264660"/>
          </a:xfrm>
          <a:prstGeom prst="rect">
            <a:avLst/>
          </a:prstGeom>
        </p:spPr>
      </p:pic>
      <p:pic>
        <p:nvPicPr>
          <p:cNvPr id="15" name="图片 14"/>
          <p:cNvPicPr>
            <a:picLocks noChangeAspect="1"/>
          </p:cNvPicPr>
          <p:nvPr/>
        </p:nvPicPr>
        <p:blipFill>
          <a:blip r:embed="rId4"/>
          <a:srcRect l="1189" t="4217" b="1058"/>
          <a:stretch>
            <a:fillRect/>
          </a:stretch>
        </p:blipFill>
        <p:spPr>
          <a:xfrm>
            <a:off x="5768975" y="417195"/>
            <a:ext cx="5803900" cy="4264660"/>
          </a:xfrm>
          <a:prstGeom prst="rect">
            <a:avLst/>
          </a:prstGeom>
        </p:spPr>
      </p:pic>
      <p:pic>
        <p:nvPicPr>
          <p:cNvPr id="16" name="图片 15"/>
          <p:cNvPicPr>
            <a:picLocks noChangeAspect="1"/>
          </p:cNvPicPr>
          <p:nvPr/>
        </p:nvPicPr>
        <p:blipFill>
          <a:blip r:embed="rId5"/>
          <a:srcRect t="9534" b="9864"/>
          <a:stretch>
            <a:fillRect/>
          </a:stretch>
        </p:blipFill>
        <p:spPr>
          <a:xfrm>
            <a:off x="5772785" y="5080000"/>
            <a:ext cx="5800090" cy="1240155"/>
          </a:xfrm>
          <a:prstGeom prst="rect">
            <a:avLst/>
          </a:prstGeom>
        </p:spPr>
      </p:pic>
      <p:pic>
        <p:nvPicPr>
          <p:cNvPr id="17" name="图片 16"/>
          <p:cNvPicPr>
            <a:picLocks noChangeAspect="1"/>
          </p:cNvPicPr>
          <p:nvPr/>
        </p:nvPicPr>
        <p:blipFill>
          <a:blip r:embed="rId6"/>
          <a:srcRect l="1568" t="17363" r="9494" b="11099"/>
          <a:stretch>
            <a:fillRect/>
          </a:stretch>
        </p:blipFill>
        <p:spPr>
          <a:xfrm>
            <a:off x="5772785" y="5080000"/>
            <a:ext cx="5800090" cy="12401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250" fill="hold">
                                          <p:stCondLst>
                                            <p:cond delay="0"/>
                                          </p:stCondLst>
                                        </p:cTn>
                                        <p:tgtEl>
                                          <p:spTgt spid="4"/>
                                        </p:tgtEl>
                                        <p:attrNameLst>
                                          <p:attrName>style.visibility</p:attrName>
                                        </p:attrNameLst>
                                      </p:cBhvr>
                                      <p:to>
                                        <p:strVal val="visible"/>
                                      </p:to>
                                    </p:set>
                                    <p:animEffect transition="in" filter="wipe(down)">
                                      <p:cBhvr>
                                        <p:cTn id="7" dur="250"/>
                                        <p:tgtEl>
                                          <p:spTgt spid="4"/>
                                        </p:tgtEl>
                                      </p:cBhvr>
                                    </p:animEffect>
                                  </p:childTnLst>
                                </p:cTn>
                              </p:par>
                              <p:par>
                                <p:cTn id="8" presetID="22" presetClass="entr" presetSubtype="4" fill="hold" grpId="0" nodeType="withEffect">
                                  <p:stCondLst>
                                    <p:cond delay="0"/>
                                  </p:stCondLst>
                                  <p:childTnLst>
                                    <p:set>
                                      <p:cBhvr>
                                        <p:cTn id="9" dur="250" fill="hold">
                                          <p:stCondLst>
                                            <p:cond delay="0"/>
                                          </p:stCondLst>
                                        </p:cTn>
                                        <p:tgtEl>
                                          <p:spTgt spid="5"/>
                                        </p:tgtEl>
                                        <p:attrNameLst>
                                          <p:attrName>style.visibility</p:attrName>
                                        </p:attrNameLst>
                                      </p:cBhvr>
                                      <p:to>
                                        <p:strVal val="visible"/>
                                      </p:to>
                                    </p:set>
                                    <p:animEffect transition="in" filter="wipe(down)">
                                      <p:cBhvr>
                                        <p:cTn id="10" dur="25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250" fill="hold">
                                          <p:stCondLst>
                                            <p:cond delay="0"/>
                                          </p:stCondLst>
                                        </p:cTn>
                                        <p:tgtEl>
                                          <p:spTgt spid="8"/>
                                        </p:tgtEl>
                                        <p:attrNameLst>
                                          <p:attrName>style.visibility</p:attrName>
                                        </p:attrNameLst>
                                      </p:cBhvr>
                                      <p:to>
                                        <p:strVal val="visible"/>
                                      </p:to>
                                    </p:set>
                                    <p:animEffect transition="in" filter="wipe(down)">
                                      <p:cBhvr>
                                        <p:cTn id="15" dur="250"/>
                                        <p:tgtEl>
                                          <p:spTgt spid="8"/>
                                        </p:tgtEl>
                                      </p:cBhvr>
                                    </p:animEffect>
                                  </p:childTnLst>
                                </p:cTn>
                              </p:par>
                              <p:par>
                                <p:cTn id="16" presetID="22" presetClass="entr" presetSubtype="4" fill="hold" grpId="0" nodeType="withEffect">
                                  <p:stCondLst>
                                    <p:cond delay="0"/>
                                  </p:stCondLst>
                                  <p:childTnLst>
                                    <p:set>
                                      <p:cBhvr>
                                        <p:cTn id="17" dur="250" fill="hold">
                                          <p:stCondLst>
                                            <p:cond delay="0"/>
                                          </p:stCondLst>
                                        </p:cTn>
                                        <p:tgtEl>
                                          <p:spTgt spid="12"/>
                                        </p:tgtEl>
                                        <p:attrNameLst>
                                          <p:attrName>style.visibility</p:attrName>
                                        </p:attrNameLst>
                                      </p:cBhvr>
                                      <p:to>
                                        <p:strVal val="visible"/>
                                      </p:to>
                                    </p:set>
                                    <p:animEffect transition="in" filter="wipe(down)">
                                      <p:cBhvr>
                                        <p:cTn id="18" dur="25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250" fill="hold">
                                          <p:stCondLst>
                                            <p:cond delay="0"/>
                                          </p:stCondLst>
                                        </p:cTn>
                                        <p:tgtEl>
                                          <p:spTgt spid="13"/>
                                        </p:tgtEl>
                                        <p:attrNameLst>
                                          <p:attrName>style.visibility</p:attrName>
                                        </p:attrNameLst>
                                      </p:cBhvr>
                                      <p:to>
                                        <p:strVal val="visible"/>
                                      </p:to>
                                    </p:set>
                                    <p:animEffect transition="in" filter="dissolve">
                                      <p:cBhvr>
                                        <p:cTn id="23" dur="25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250" fill="hold">
                                          <p:stCondLst>
                                            <p:cond delay="0"/>
                                          </p:stCondLst>
                                        </p:cTn>
                                        <p:tgtEl>
                                          <p:spTgt spid="14"/>
                                        </p:tgtEl>
                                        <p:attrNameLst>
                                          <p:attrName>style.visibility</p:attrName>
                                        </p:attrNameLst>
                                      </p:cBhvr>
                                      <p:to>
                                        <p:strVal val="visible"/>
                                      </p:to>
                                    </p:set>
                                    <p:animEffect transition="in" filter="dissolve">
                                      <p:cBhvr>
                                        <p:cTn id="28" dur="25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250" fill="hold">
                                          <p:stCondLst>
                                            <p:cond delay="0"/>
                                          </p:stCondLst>
                                        </p:cTn>
                                        <p:tgtEl>
                                          <p:spTgt spid="15"/>
                                        </p:tgtEl>
                                        <p:attrNameLst>
                                          <p:attrName>style.visibility</p:attrName>
                                        </p:attrNameLst>
                                      </p:cBhvr>
                                      <p:to>
                                        <p:strVal val="visible"/>
                                      </p:to>
                                    </p:set>
                                    <p:animEffect transition="in" filter="dissolve">
                                      <p:cBhvr>
                                        <p:cTn id="33" dur="25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5" grpId="0"/>
      <p:bldP spid="5" grpId="1"/>
      <p:bldP spid="12" grpId="0"/>
      <p:bldP spid="12"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custDataLst>
              <p:tags r:id="rId1"/>
            </p:custDataLst>
          </p:nvPr>
        </p:nvSpPr>
        <p:spPr>
          <a:xfrm>
            <a:off x="376555" y="302260"/>
            <a:ext cx="3422015" cy="398780"/>
          </a:xfrm>
          <a:prstGeom prst="rect">
            <a:avLst/>
          </a:prstGeom>
          <a:noFill/>
        </p:spPr>
        <p:txBody>
          <a:bodyPr wrap="square" rtlCol="0">
            <a:spAutoFit/>
          </a:bodyPr>
          <a:lstStyle>
            <a:defPPr>
              <a:defRPr lang="zh-CN"/>
            </a:defPPr>
            <a:lvl1pPr algn="ctr">
              <a:lnSpc>
                <a:spcPct val="150000"/>
              </a:lnSpc>
              <a:defRPr sz="1600" b="1">
                <a:solidFill>
                  <a:srgbClr val="020202"/>
                </a:solidFill>
                <a:latin typeface="Noto Sans S Chinese Light" panose="020B0300000000000000" pitchFamily="34" charset="-122"/>
                <a:ea typeface="Noto Sans S Chinese Light" panose="020B0300000000000000" pitchFamily="34" charset="-122"/>
                <a:cs typeface="Calibri" panose="020F0502020204030204" charset="0"/>
              </a:defRPr>
            </a:lvl1pPr>
          </a:lstStyle>
          <a:p>
            <a:pPr algn="l">
              <a:lnSpc>
                <a:spcPct val="100000"/>
              </a:lnSpc>
            </a:pPr>
            <a:r>
              <a:rPr lang="zh-CN" altLang="en-US" sz="2000" dirty="0">
                <a:solidFill>
                  <a:srgbClr val="6FB4BD"/>
                </a:solidFill>
              </a:rPr>
              <a:t>二、选</a:t>
            </a:r>
            <a:r>
              <a:rPr lang="zh-CN" altLang="en-US" sz="2000" dirty="0">
                <a:solidFill>
                  <a:srgbClr val="61ADB7"/>
                </a:solidFill>
                <a:sym typeface="+mn-ea"/>
              </a:rPr>
              <a:t>择属性时的度量指标</a:t>
            </a:r>
            <a:r>
              <a:rPr lang="zh-CN" altLang="en-US" sz="2000" dirty="0">
                <a:solidFill>
                  <a:srgbClr val="6FB4BD"/>
                </a:solidFill>
              </a:rPr>
              <a:t>：</a:t>
            </a:r>
            <a:endParaRPr lang="zh-CN" altLang="en-US" sz="2000" dirty="0">
              <a:solidFill>
                <a:srgbClr val="6FB4BD"/>
              </a:solidFill>
            </a:endParaRPr>
          </a:p>
        </p:txBody>
      </p:sp>
      <p:graphicFrame>
        <p:nvGraphicFramePr>
          <p:cNvPr id="7" name="对象 6">
            <a:hlinkClick r:id="" action="ppaction://ole?verb="/>
          </p:cNvPr>
          <p:cNvGraphicFramePr>
            <a:graphicFrameLocks noChangeAspect="1"/>
          </p:cNvGraphicFramePr>
          <p:nvPr/>
        </p:nvGraphicFramePr>
        <p:xfrm>
          <a:off x="7322185" y="1040130"/>
          <a:ext cx="3467100" cy="822960"/>
        </p:xfrm>
        <a:graphic>
          <a:graphicData uri="http://schemas.openxmlformats.org/presentationml/2006/ole">
            <mc:AlternateContent xmlns:mc="http://schemas.openxmlformats.org/markup-compatibility/2006">
              <mc:Choice xmlns:v="urn:schemas-microsoft-com:vml" Requires="v">
                <p:oleObj spid="_x0000_s1025" name="" r:id="rId2" imgW="5055870" imgH="1211580" progId="Equation.KSEE3">
                  <p:embed/>
                </p:oleObj>
              </mc:Choice>
              <mc:Fallback>
                <p:oleObj name="" r:id="rId2" imgW="5055870" imgH="1211580" progId="Equation.KSEE3">
                  <p:embed/>
                  <p:pic>
                    <p:nvPicPr>
                      <p:cNvPr id="0" name="图片 1024"/>
                      <p:cNvPicPr/>
                      <p:nvPr/>
                    </p:nvPicPr>
                    <p:blipFill>
                      <a:blip r:embed="rId3"/>
                      <a:stretch>
                        <a:fillRect/>
                      </a:stretch>
                    </p:blipFill>
                    <p:spPr>
                      <a:xfrm>
                        <a:off x="7322185" y="1040130"/>
                        <a:ext cx="3467100" cy="822960"/>
                      </a:xfrm>
                      <a:prstGeom prst="rect">
                        <a:avLst/>
                      </a:prstGeom>
                    </p:spPr>
                  </p:pic>
                </p:oleObj>
              </mc:Fallback>
            </mc:AlternateContent>
          </a:graphicData>
        </a:graphic>
      </p:graphicFrame>
      <p:sp>
        <p:nvSpPr>
          <p:cNvPr id="10" name="文本框 9"/>
          <p:cNvSpPr txBox="1"/>
          <p:nvPr/>
        </p:nvSpPr>
        <p:spPr>
          <a:xfrm>
            <a:off x="742315" y="1040130"/>
            <a:ext cx="5310505" cy="1662430"/>
          </a:xfrm>
          <a:prstGeom prst="rect">
            <a:avLst/>
          </a:prstGeom>
          <a:noFill/>
        </p:spPr>
        <p:txBody>
          <a:bodyPr wrap="square" rtlCol="0">
            <a:noAutofit/>
          </a:bodyPr>
          <a:p>
            <a:pPr>
              <a:lnSpc>
                <a:spcPct val="120000"/>
              </a:lnSpc>
            </a:pPr>
            <a:r>
              <a:rPr lang="zh-CN" altLang="en-US" sz="2400">
                <a:latin typeface="Nirmala UI Semilight" panose="020B0402040204020203" charset="0"/>
              </a:rPr>
              <a:t>熵</a:t>
            </a:r>
            <a:r>
              <a:rPr lang="zh-CN" altLang="en-US">
                <a:latin typeface="Nirmala UI Semilight" panose="020B0402040204020203" charset="0"/>
              </a:rPr>
              <a:t>：熵是信息理论中的一个概念，它衡量了一组数据的不确定性或混乱程度。</a:t>
            </a:r>
            <a:endParaRPr lang="zh-CN" altLang="en-US">
              <a:latin typeface="Nirmala UI Semilight" panose="020B0402040204020203" charset="0"/>
            </a:endParaRPr>
          </a:p>
          <a:p>
            <a:pPr>
              <a:lnSpc>
                <a:spcPct val="120000"/>
              </a:lnSpc>
            </a:pPr>
            <a:endParaRPr lang="zh-CN" altLang="en-US">
              <a:latin typeface="Nirmala UI Semilight" panose="020B0402040204020203" charset="0"/>
            </a:endParaRPr>
          </a:p>
          <a:p>
            <a:pPr>
              <a:lnSpc>
                <a:spcPct val="120000"/>
              </a:lnSpc>
            </a:pPr>
            <a:r>
              <a:rPr lang="zh-CN" altLang="en-US">
                <a:latin typeface="Nirmala UI Semilight" panose="020B0402040204020203" charset="0"/>
              </a:rPr>
              <a:t>在决策树中，熵用来衡量当前节点的纯度或不纯度。</a:t>
            </a:r>
            <a:endParaRPr lang="zh-CN" altLang="en-US">
              <a:latin typeface="Nirmala UI Semilight" panose="020B0402040204020203" charset="0"/>
            </a:endParaRPr>
          </a:p>
        </p:txBody>
      </p:sp>
      <p:sp>
        <p:nvSpPr>
          <p:cNvPr id="11" name="文本框 10"/>
          <p:cNvSpPr txBox="1"/>
          <p:nvPr/>
        </p:nvSpPr>
        <p:spPr>
          <a:xfrm>
            <a:off x="742315" y="3060700"/>
            <a:ext cx="10694035" cy="3154045"/>
          </a:xfrm>
          <a:prstGeom prst="rect">
            <a:avLst/>
          </a:prstGeom>
          <a:noFill/>
        </p:spPr>
        <p:txBody>
          <a:bodyPr wrap="square" rtlCol="0">
            <a:noAutofit/>
          </a:bodyPr>
          <a:p>
            <a:pPr marL="285750" indent="-285750">
              <a:buFont typeface="Wingdings" panose="05000000000000000000" charset="0"/>
              <a:buChar char="Ø"/>
            </a:pPr>
            <a:r>
              <a:rPr lang="zh-CN" altLang="en-US"/>
              <a:t>取值范围：0</a:t>
            </a:r>
            <a:r>
              <a:rPr lang="en-US" altLang="zh-CN"/>
              <a:t>~</a:t>
            </a:r>
            <a:r>
              <a:rPr lang="zh-CN" altLang="en-US"/>
              <a:t>1</a:t>
            </a:r>
            <a:endParaRPr lang="zh-CN" altLang="en-US"/>
          </a:p>
          <a:p>
            <a:pPr>
              <a:lnSpc>
                <a:spcPct val="70000"/>
              </a:lnSpc>
            </a:pPr>
            <a:endParaRPr lang="zh-CN" altLang="en-US"/>
          </a:p>
          <a:p>
            <a:pPr marL="285750" indent="-285750">
              <a:buFont typeface="Wingdings" panose="05000000000000000000" charset="0"/>
              <a:buChar char="Ø"/>
            </a:pPr>
            <a:r>
              <a:rPr lang="zh-CN" altLang="en-US"/>
              <a:t>熵越大，表示数据集的不确定性或混乱程度越高。</a:t>
            </a:r>
            <a:endParaRPr lang="zh-CN" altLang="en-US"/>
          </a:p>
          <a:p>
            <a:pPr>
              <a:lnSpc>
                <a:spcPct val="70000"/>
              </a:lnSpc>
            </a:pPr>
            <a:endParaRPr lang="zh-CN" altLang="en-US"/>
          </a:p>
          <a:p>
            <a:pPr marL="285750" indent="-285750">
              <a:buFont typeface="Wingdings" panose="05000000000000000000" charset="0"/>
              <a:buChar char="Ø"/>
            </a:pPr>
            <a:r>
              <a:rPr lang="zh-CN" altLang="en-US"/>
              <a:t>在构建决策树时，我们希望选择能够最大程度地减少熵的特征进行分裂，即选择使得分裂后的子节点的纯度提高的特征。这样可以使得决策树更加准确地进行分类。</a:t>
            </a:r>
            <a:endParaRPr lang="zh-CN" altLang="en-US"/>
          </a:p>
          <a:p>
            <a:pPr indent="0">
              <a:lnSpc>
                <a:spcPct val="70000"/>
              </a:lnSpc>
              <a:buFont typeface="Wingdings" panose="05000000000000000000" charset="0"/>
              <a:buNone/>
            </a:pPr>
            <a:endParaRPr lang="zh-CN" altLang="en-US"/>
          </a:p>
          <a:p>
            <a:pPr marL="285750" indent="-285750">
              <a:buFont typeface="Wingdings" panose="05000000000000000000" charset="0"/>
              <a:buChar char="Ø"/>
            </a:pPr>
            <a:r>
              <a:rPr lang="zh-CN" altLang="en-US"/>
              <a:t>信息增益：通过计算每个特征的熵，然后选择能够最大程度地减少熵的特征进行分裂，就可以逐步构建出决策树，这个过程被称为信息增益。</a:t>
            </a:r>
            <a:endParaRPr lang="zh-CN" altLang="en-US"/>
          </a:p>
          <a:p>
            <a:pPr indent="0">
              <a:lnSpc>
                <a:spcPct val="60000"/>
              </a:lnSpc>
              <a:buFont typeface="Wingdings" panose="05000000000000000000" charset="0"/>
              <a:buNone/>
            </a:pPr>
            <a:endParaRPr lang="zh-CN" altLang="en-US"/>
          </a:p>
          <a:p>
            <a:pPr marL="285750" indent="-285750">
              <a:buFont typeface="Wingdings" panose="05000000000000000000" charset="0"/>
              <a:buChar char="Ø"/>
            </a:pPr>
            <a:r>
              <a:rPr lang="zh-CN" altLang="en-US"/>
              <a:t>信息增益越大，表示使用该特征进行分裂后，熵的减少程度越大，对分类的贡献也越大。</a:t>
            </a:r>
            <a:endParaRPr lang="zh-CN" altLang="en-US"/>
          </a:p>
        </p:txBody>
      </p:sp>
      <p:cxnSp>
        <p:nvCxnSpPr>
          <p:cNvPr id="12" name="直接箭头连接符 11"/>
          <p:cNvCxnSpPr/>
          <p:nvPr/>
        </p:nvCxnSpPr>
        <p:spPr>
          <a:xfrm flipH="1">
            <a:off x="9250045" y="1645920"/>
            <a:ext cx="101600" cy="528320"/>
          </a:xfrm>
          <a:prstGeom prst="straightConnector1">
            <a:avLst/>
          </a:prstGeom>
          <a:ln>
            <a:solidFill>
              <a:srgbClr val="FF0000"/>
            </a:solidFill>
            <a:tailEnd type="arrow" w="med" len="med"/>
          </a:ln>
        </p:spPr>
        <p:style>
          <a:lnRef idx="3">
            <a:schemeClr val="accent1"/>
          </a:lnRef>
          <a:fillRef idx="0">
            <a:srgbClr val="FFFFFF"/>
          </a:fillRef>
          <a:effectRef idx="0">
            <a:srgbClr val="FFFFFF"/>
          </a:effectRef>
          <a:fontRef idx="minor">
            <a:schemeClr val="tx1"/>
          </a:fontRef>
        </p:style>
      </p:cxnSp>
      <p:sp>
        <p:nvSpPr>
          <p:cNvPr id="13" name="矩形 12"/>
          <p:cNvSpPr/>
          <p:nvPr/>
        </p:nvSpPr>
        <p:spPr>
          <a:xfrm>
            <a:off x="9093835" y="1252855"/>
            <a:ext cx="488315" cy="393065"/>
          </a:xfrm>
          <a:prstGeom prst="rect">
            <a:avLst/>
          </a:prstGeom>
          <a:ln>
            <a:solidFill>
              <a:srgbClr val="FF0000"/>
            </a:solidFill>
          </a:ln>
        </p:spPr>
        <p:style>
          <a:lnRef idx="3">
            <a:schemeClr val="accent1"/>
          </a:lnRef>
          <a:fillRef idx="0">
            <a:srgbClr val="FFFFFF"/>
          </a:fillRef>
          <a:effectRef idx="0">
            <a:srgbClr val="FFFFFF"/>
          </a:effectRef>
          <a:fontRef idx="minor">
            <a:schemeClr val="dk1"/>
          </a:fontRef>
        </p:style>
        <p:txBody>
          <a:bodyPr rtlCol="0" anchor="ctr"/>
          <a:p>
            <a:pPr algn="ctr"/>
            <a:endParaRPr lang="zh-CN" altLang="en-US"/>
          </a:p>
        </p:txBody>
      </p:sp>
      <p:sp>
        <p:nvSpPr>
          <p:cNvPr id="14" name="文本框 13"/>
          <p:cNvSpPr txBox="1"/>
          <p:nvPr/>
        </p:nvSpPr>
        <p:spPr>
          <a:xfrm>
            <a:off x="8514715" y="2235200"/>
            <a:ext cx="1572895" cy="583565"/>
          </a:xfrm>
          <a:prstGeom prst="rect">
            <a:avLst/>
          </a:prstGeom>
          <a:noFill/>
        </p:spPr>
        <p:txBody>
          <a:bodyPr wrap="square" rtlCol="0">
            <a:spAutoFit/>
          </a:bodyPr>
          <a:p>
            <a:r>
              <a:rPr lang="zh-CN" altLang="en-US" sz="1600">
                <a:solidFill>
                  <a:srgbClr val="FF0000"/>
                </a:solidFill>
                <a:latin typeface="隶书" panose="02010509060101010101" charset="-122"/>
                <a:ea typeface="隶书" panose="02010509060101010101" charset="-122"/>
              </a:rPr>
              <a:t>某个类别在数据集中的比例</a:t>
            </a:r>
            <a:endParaRPr lang="zh-CN" altLang="en-US" sz="1600">
              <a:solidFill>
                <a:srgbClr val="FF0000"/>
              </a:solidFill>
              <a:latin typeface="隶书" panose="02010509060101010101" charset="-122"/>
              <a:ea typeface="隶书" panose="02010509060101010101" charset="-122"/>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3" grpId="1" animBg="1"/>
      <p:bldP spid="14" grpId="0"/>
      <p:bldP spid="14"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custDataLst>
              <p:tags r:id="rId1"/>
            </p:custDataLst>
          </p:nvPr>
        </p:nvSpPr>
        <p:spPr>
          <a:xfrm>
            <a:off x="376555" y="302260"/>
            <a:ext cx="3422015" cy="398780"/>
          </a:xfrm>
          <a:prstGeom prst="rect">
            <a:avLst/>
          </a:prstGeom>
          <a:noFill/>
        </p:spPr>
        <p:txBody>
          <a:bodyPr wrap="square" rtlCol="0">
            <a:spAutoFit/>
          </a:bodyPr>
          <a:lstStyle>
            <a:defPPr>
              <a:defRPr lang="zh-CN"/>
            </a:defPPr>
            <a:lvl1pPr algn="ctr">
              <a:lnSpc>
                <a:spcPct val="150000"/>
              </a:lnSpc>
              <a:defRPr sz="1600" b="1">
                <a:solidFill>
                  <a:srgbClr val="020202"/>
                </a:solidFill>
                <a:latin typeface="Noto Sans S Chinese Light" panose="020B0300000000000000" pitchFamily="34" charset="-122"/>
                <a:ea typeface="Noto Sans S Chinese Light" panose="020B0300000000000000" pitchFamily="34" charset="-122"/>
                <a:cs typeface="Calibri" panose="020F0502020204030204" charset="0"/>
              </a:defRPr>
            </a:lvl1pPr>
          </a:lstStyle>
          <a:p>
            <a:pPr algn="l">
              <a:lnSpc>
                <a:spcPct val="100000"/>
              </a:lnSpc>
            </a:pPr>
            <a:r>
              <a:rPr lang="zh-CN" altLang="en-US" sz="2000" dirty="0">
                <a:solidFill>
                  <a:srgbClr val="6FB4BD"/>
                </a:solidFill>
              </a:rPr>
              <a:t>二、选</a:t>
            </a:r>
            <a:r>
              <a:rPr lang="zh-CN" altLang="en-US" sz="2000" dirty="0">
                <a:solidFill>
                  <a:srgbClr val="61ADB7"/>
                </a:solidFill>
                <a:sym typeface="+mn-ea"/>
              </a:rPr>
              <a:t>择属性时的度量指标</a:t>
            </a:r>
            <a:r>
              <a:rPr lang="zh-CN" altLang="en-US" sz="2000" dirty="0">
                <a:solidFill>
                  <a:srgbClr val="6FB4BD"/>
                </a:solidFill>
              </a:rPr>
              <a:t>：</a:t>
            </a:r>
            <a:endParaRPr lang="zh-CN" altLang="en-US" sz="2000" dirty="0">
              <a:solidFill>
                <a:srgbClr val="6FB4BD"/>
              </a:solidFill>
            </a:endParaRPr>
          </a:p>
        </p:txBody>
      </p:sp>
      <p:sp>
        <p:nvSpPr>
          <p:cNvPr id="10" name="文本框 9"/>
          <p:cNvSpPr txBox="1"/>
          <p:nvPr/>
        </p:nvSpPr>
        <p:spPr>
          <a:xfrm>
            <a:off x="742315" y="1040130"/>
            <a:ext cx="6017260" cy="5201285"/>
          </a:xfrm>
          <a:prstGeom prst="rect">
            <a:avLst/>
          </a:prstGeom>
          <a:noFill/>
        </p:spPr>
        <p:txBody>
          <a:bodyPr wrap="square" rtlCol="0">
            <a:noAutofit/>
          </a:bodyPr>
          <a:p>
            <a:pPr>
              <a:lnSpc>
                <a:spcPct val="120000"/>
              </a:lnSpc>
            </a:pPr>
            <a:r>
              <a:rPr lang="zh-CN" altLang="en-US" sz="2000">
                <a:latin typeface="Nirmala UI Semilight" panose="020B0402040204020203" charset="0"/>
              </a:rPr>
              <a:t>基尼系数</a:t>
            </a:r>
            <a:r>
              <a:rPr lang="zh-CN" altLang="en-US">
                <a:latin typeface="Nirmala UI Semilight" panose="020B0402040204020203" charset="0"/>
              </a:rPr>
              <a:t>：</a:t>
            </a:r>
            <a:endParaRPr lang="zh-CN" altLang="en-US">
              <a:latin typeface="Nirmala UI Semilight" panose="020B0402040204020203" charset="0"/>
            </a:endParaRPr>
          </a:p>
          <a:p>
            <a:pPr>
              <a:lnSpc>
                <a:spcPct val="60000"/>
              </a:lnSpc>
            </a:pPr>
            <a:endParaRPr lang="zh-CN" altLang="en-US">
              <a:latin typeface="Nirmala UI Semilight" panose="020B0402040204020203" charset="0"/>
            </a:endParaRPr>
          </a:p>
          <a:p>
            <a:pPr>
              <a:lnSpc>
                <a:spcPct val="140000"/>
              </a:lnSpc>
            </a:pPr>
            <a:r>
              <a:rPr lang="zh-CN" altLang="en-US">
                <a:latin typeface="Nirmala UI Semilight" panose="020B0402040204020203" charset="0"/>
              </a:rPr>
              <a:t>（</a:t>
            </a:r>
            <a:r>
              <a:rPr lang="en-US" altLang="zh-CN">
                <a:latin typeface="Nirmala UI Semilight" panose="020B0402040204020203" charset="0"/>
              </a:rPr>
              <a:t>1</a:t>
            </a:r>
            <a:r>
              <a:rPr lang="zh-CN" altLang="en-US">
                <a:latin typeface="Nirmala UI Semilight" panose="020B0402040204020203" charset="0"/>
              </a:rPr>
              <a:t>）在经济学中，基尼系数是指国际上通用的、用以衡量一个国家或地区居民收入差距的常用指标。</a:t>
            </a:r>
            <a:endParaRPr lang="zh-CN" altLang="en-US">
              <a:latin typeface="Nirmala UI Semilight" panose="020B0402040204020203" charset="0"/>
            </a:endParaRPr>
          </a:p>
          <a:p>
            <a:pPr marL="285750" indent="-285750">
              <a:lnSpc>
                <a:spcPct val="140000"/>
              </a:lnSpc>
              <a:buFont typeface="Arial" panose="020B0604020202020204" pitchFamily="34" charset="0"/>
              <a:buChar char="•"/>
            </a:pPr>
            <a:r>
              <a:rPr lang="zh-CN" altLang="en-US">
                <a:latin typeface="Nirmala UI Semilight" panose="020B0402040204020203" charset="0"/>
              </a:rPr>
              <a:t>基尼系数最大为"1"，最小等于"0"。基尼系数越接近0表明收入分配越是趋向平等。</a:t>
            </a:r>
            <a:endParaRPr lang="zh-CN" altLang="en-US">
              <a:latin typeface="Nirmala UI Semilight" panose="020B0402040204020203" charset="0"/>
            </a:endParaRPr>
          </a:p>
          <a:p>
            <a:pPr marL="285750" indent="-285750">
              <a:lnSpc>
                <a:spcPct val="140000"/>
              </a:lnSpc>
              <a:buFont typeface="Arial" panose="020B0604020202020204" pitchFamily="34" charset="0"/>
              <a:buChar char="•"/>
            </a:pPr>
            <a:r>
              <a:rPr lang="zh-CN" altLang="en-US">
                <a:latin typeface="Nirmala UI Semilight" panose="020B0402040204020203" charset="0"/>
              </a:rPr>
              <a:t>国际上通常把基尼系数0.4作为收入分配差距（</a:t>
            </a:r>
            <a:r>
              <a:rPr lang="zh-CN" altLang="en-US">
                <a:latin typeface="Nirmala UI Semilight" panose="020B0402040204020203" charset="0"/>
                <a:sym typeface="+mn-ea"/>
              </a:rPr>
              <a:t>贫富差距</a:t>
            </a:r>
            <a:r>
              <a:rPr lang="zh-CN" altLang="en-US">
                <a:latin typeface="Nirmala UI Semilight" panose="020B0402040204020203" charset="0"/>
              </a:rPr>
              <a:t>）的"警戒线"，</a:t>
            </a:r>
            <a:r>
              <a:rPr lang="zh-CN" altLang="en-US">
                <a:latin typeface="Nirmala UI Semilight" panose="020B0402040204020203" charset="0"/>
                <a:sym typeface="+mn-ea"/>
              </a:rPr>
              <a:t>大于这一数值容易出现社会动荡，</a:t>
            </a:r>
            <a:r>
              <a:rPr lang="zh-CN" altLang="en-US">
                <a:latin typeface="Nirmala UI Semilight" panose="020B0402040204020203" charset="0"/>
              </a:rPr>
              <a:t>根据黄金分割律，其准确值应为0.382。</a:t>
            </a:r>
            <a:endParaRPr lang="zh-CN" altLang="en-US">
              <a:latin typeface="Nirmala UI Semilight" panose="020B0402040204020203" charset="0"/>
            </a:endParaRPr>
          </a:p>
          <a:p>
            <a:pPr marL="285750" indent="-285750">
              <a:lnSpc>
                <a:spcPct val="140000"/>
              </a:lnSpc>
              <a:buFont typeface="Arial" panose="020B0604020202020204" pitchFamily="34" charset="0"/>
              <a:buChar char="•"/>
            </a:pPr>
            <a:r>
              <a:rPr lang="zh-CN" altLang="en-US">
                <a:latin typeface="Nirmala UI Semilight" panose="020B0402040204020203" charset="0"/>
              </a:rPr>
              <a:t>一般发达国家的基尼指数在0.24到0.36之间，美国偏高，为0.52。中国国家统计局公布的数据中，在2008年我国的基尼系数达到了最高峰0.491，直到2022年，也没有降下去多少，为0.474。</a:t>
            </a:r>
            <a:endParaRPr lang="zh-CN" altLang="en-US">
              <a:latin typeface="Nirmala UI Semilight" panose="020B0402040204020203" charset="0"/>
            </a:endParaRPr>
          </a:p>
          <a:p>
            <a:pPr>
              <a:lnSpc>
                <a:spcPct val="120000"/>
              </a:lnSpc>
            </a:pPr>
            <a:endParaRPr lang="zh-CN" altLang="en-US">
              <a:latin typeface="Nirmala UI Semilight" panose="020B0402040204020203" charset="0"/>
            </a:endParaRPr>
          </a:p>
        </p:txBody>
      </p:sp>
      <p:pic>
        <p:nvPicPr>
          <p:cNvPr id="3" name="图片 2"/>
          <p:cNvPicPr>
            <a:picLocks noChangeAspect="1"/>
          </p:cNvPicPr>
          <p:nvPr>
            <p:custDataLst>
              <p:tags r:id="rId2"/>
            </p:custDataLst>
          </p:nvPr>
        </p:nvPicPr>
        <p:blipFill>
          <a:blip r:embed="rId3"/>
          <a:stretch>
            <a:fillRect/>
          </a:stretch>
        </p:blipFill>
        <p:spPr>
          <a:xfrm>
            <a:off x="7350760" y="2526665"/>
            <a:ext cx="4083050" cy="222821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custDataLst>
              <p:tags r:id="rId1"/>
            </p:custDataLst>
          </p:nvPr>
        </p:nvSpPr>
        <p:spPr>
          <a:xfrm>
            <a:off x="376555" y="302260"/>
            <a:ext cx="3422015" cy="398780"/>
          </a:xfrm>
          <a:prstGeom prst="rect">
            <a:avLst/>
          </a:prstGeom>
          <a:noFill/>
        </p:spPr>
        <p:txBody>
          <a:bodyPr wrap="square" rtlCol="0">
            <a:spAutoFit/>
          </a:bodyPr>
          <a:lstStyle>
            <a:defPPr>
              <a:defRPr lang="zh-CN"/>
            </a:defPPr>
            <a:lvl1pPr algn="ctr">
              <a:lnSpc>
                <a:spcPct val="150000"/>
              </a:lnSpc>
              <a:defRPr sz="1600" b="1">
                <a:solidFill>
                  <a:srgbClr val="020202"/>
                </a:solidFill>
                <a:latin typeface="Noto Sans S Chinese Light" panose="020B0300000000000000" pitchFamily="34" charset="-122"/>
                <a:ea typeface="Noto Sans S Chinese Light" panose="020B0300000000000000" pitchFamily="34" charset="-122"/>
                <a:cs typeface="Calibri" panose="020F0502020204030204" charset="0"/>
              </a:defRPr>
            </a:lvl1pPr>
          </a:lstStyle>
          <a:p>
            <a:pPr algn="l">
              <a:lnSpc>
                <a:spcPct val="100000"/>
              </a:lnSpc>
            </a:pPr>
            <a:r>
              <a:rPr lang="zh-CN" altLang="en-US" sz="2000" dirty="0">
                <a:solidFill>
                  <a:srgbClr val="6FB4BD"/>
                </a:solidFill>
              </a:rPr>
              <a:t>二、选</a:t>
            </a:r>
            <a:r>
              <a:rPr lang="zh-CN" altLang="en-US" sz="2000" dirty="0">
                <a:solidFill>
                  <a:srgbClr val="61ADB7"/>
                </a:solidFill>
                <a:sym typeface="+mn-ea"/>
              </a:rPr>
              <a:t>择属性时的度量指标</a:t>
            </a:r>
            <a:r>
              <a:rPr lang="zh-CN" altLang="en-US" sz="2000" dirty="0">
                <a:solidFill>
                  <a:srgbClr val="6FB4BD"/>
                </a:solidFill>
              </a:rPr>
              <a:t>：</a:t>
            </a:r>
            <a:endParaRPr lang="zh-CN" altLang="en-US" sz="2000" dirty="0">
              <a:solidFill>
                <a:srgbClr val="6FB4BD"/>
              </a:solidFill>
            </a:endParaRPr>
          </a:p>
        </p:txBody>
      </p:sp>
      <p:sp>
        <p:nvSpPr>
          <p:cNvPr id="10" name="文本框 9"/>
          <p:cNvSpPr txBox="1"/>
          <p:nvPr/>
        </p:nvSpPr>
        <p:spPr>
          <a:xfrm>
            <a:off x="565785" y="781685"/>
            <a:ext cx="2834005" cy="2868930"/>
          </a:xfrm>
          <a:prstGeom prst="rect">
            <a:avLst/>
          </a:prstGeom>
          <a:noFill/>
        </p:spPr>
        <p:txBody>
          <a:bodyPr wrap="square" rtlCol="0">
            <a:noAutofit/>
          </a:bodyPr>
          <a:p>
            <a:pPr>
              <a:lnSpc>
                <a:spcPct val="120000"/>
              </a:lnSpc>
            </a:pPr>
            <a:r>
              <a:rPr lang="zh-CN" altLang="en-US" sz="2000">
                <a:latin typeface="Nirmala UI Semilight" panose="020B0402040204020203" charset="0"/>
              </a:rPr>
              <a:t>基尼系数</a:t>
            </a:r>
            <a:r>
              <a:rPr lang="zh-CN" altLang="en-US">
                <a:latin typeface="Nirmala UI Semilight" panose="020B0402040204020203" charset="0"/>
              </a:rPr>
              <a:t>：</a:t>
            </a:r>
            <a:endParaRPr lang="zh-CN" altLang="en-US">
              <a:latin typeface="Nirmala UI Semilight" panose="020B0402040204020203" charset="0"/>
            </a:endParaRPr>
          </a:p>
          <a:p>
            <a:pPr>
              <a:lnSpc>
                <a:spcPct val="80000"/>
              </a:lnSpc>
            </a:pPr>
            <a:endParaRPr lang="zh-CN" altLang="en-US">
              <a:latin typeface="Nirmala UI Semilight" panose="020B0402040204020203" charset="0"/>
            </a:endParaRPr>
          </a:p>
          <a:p>
            <a:pPr>
              <a:lnSpc>
                <a:spcPct val="120000"/>
              </a:lnSpc>
            </a:pPr>
            <a:r>
              <a:rPr lang="zh-CN" altLang="en-US">
                <a:latin typeface="Nirmala UI Semilight" panose="020B0402040204020203" charset="0"/>
              </a:rPr>
              <a:t>（</a:t>
            </a:r>
            <a:r>
              <a:rPr lang="en-US" altLang="zh-CN">
                <a:latin typeface="Nirmala UI Semilight" panose="020B0402040204020203" charset="0"/>
              </a:rPr>
              <a:t>2</a:t>
            </a:r>
            <a:r>
              <a:rPr lang="zh-CN" altLang="en-US">
                <a:latin typeface="Nirmala UI Semilight" panose="020B0402040204020203" charset="0"/>
              </a:rPr>
              <a:t>）基尼系数的含义是当下标准的不确定程度。</a:t>
            </a:r>
            <a:endParaRPr lang="zh-CN" altLang="en-US">
              <a:latin typeface="Nirmala UI Semilight" panose="020B0402040204020203" charset="0"/>
            </a:endParaRPr>
          </a:p>
          <a:p>
            <a:pPr>
              <a:lnSpc>
                <a:spcPct val="70000"/>
              </a:lnSpc>
            </a:pPr>
            <a:endParaRPr lang="zh-CN" altLang="en-US">
              <a:latin typeface="Nirmala UI Semilight" panose="020B0402040204020203" charset="0"/>
            </a:endParaRPr>
          </a:p>
          <a:p>
            <a:pPr>
              <a:lnSpc>
                <a:spcPct val="120000"/>
              </a:lnSpc>
            </a:pPr>
            <a:r>
              <a:rPr lang="zh-CN" altLang="en-US">
                <a:latin typeface="Nirmala UI Semilight" panose="020B0402040204020203" charset="0"/>
              </a:rPr>
              <a:t>在</a:t>
            </a:r>
            <a:r>
              <a:rPr lang="zh-CN" altLang="en-US">
                <a:latin typeface="Nirmala UI Semilight" panose="020B0402040204020203" charset="0"/>
              </a:rPr>
              <a:t>决策树中，基尼系数代表了模型的不纯度，基尼系数越小，则不纯度越低，特征越好。</a:t>
            </a:r>
            <a:endParaRPr lang="zh-CN" altLang="en-US">
              <a:latin typeface="Nirmala UI Semilight" panose="020B0402040204020203" charset="0"/>
            </a:endParaRPr>
          </a:p>
        </p:txBody>
      </p:sp>
      <p:graphicFrame>
        <p:nvGraphicFramePr>
          <p:cNvPr id="8" name="对象 7">
            <a:hlinkClick r:id="" action="ppaction://ole?verb="/>
          </p:cNvPr>
          <p:cNvGraphicFramePr>
            <a:graphicFrameLocks noChangeAspect="1"/>
          </p:cNvGraphicFramePr>
          <p:nvPr>
            <p:custDataLst>
              <p:tags r:id="rId2"/>
            </p:custDataLst>
          </p:nvPr>
        </p:nvGraphicFramePr>
        <p:xfrm>
          <a:off x="2046605" y="701040"/>
          <a:ext cx="2205355" cy="701040"/>
        </p:xfrm>
        <a:graphic>
          <a:graphicData uri="http://schemas.openxmlformats.org/presentationml/2006/ole">
            <mc:AlternateContent xmlns:mc="http://schemas.openxmlformats.org/markup-compatibility/2006">
              <mc:Choice xmlns:v="urn:schemas-microsoft-com:vml" Requires="v">
                <p:oleObj spid="_x0000_s1026" name="" r:id="rId3" imgW="1358900" imgH="431800" progId="Equation.KSEE3">
                  <p:embed/>
                </p:oleObj>
              </mc:Choice>
              <mc:Fallback>
                <p:oleObj name="" r:id="rId3" imgW="1358900" imgH="431800" progId="Equation.KSEE3">
                  <p:embed/>
                  <p:pic>
                    <p:nvPicPr>
                      <p:cNvPr id="0" name="图片 1025"/>
                      <p:cNvPicPr/>
                      <p:nvPr/>
                    </p:nvPicPr>
                    <p:blipFill>
                      <a:blip r:embed="rId4"/>
                      <a:stretch>
                        <a:fillRect/>
                      </a:stretch>
                    </p:blipFill>
                    <p:spPr>
                      <a:xfrm>
                        <a:off x="2046605" y="701040"/>
                        <a:ext cx="2205355" cy="701040"/>
                      </a:xfrm>
                      <a:prstGeom prst="rect">
                        <a:avLst/>
                      </a:prstGeom>
                    </p:spPr>
                  </p:pic>
                </p:oleObj>
              </mc:Fallback>
            </mc:AlternateContent>
          </a:graphicData>
        </a:graphic>
      </p:graphicFrame>
      <p:cxnSp>
        <p:nvCxnSpPr>
          <p:cNvPr id="2" name="直接箭头连接符 1"/>
          <p:cNvCxnSpPr/>
          <p:nvPr/>
        </p:nvCxnSpPr>
        <p:spPr>
          <a:xfrm flipV="1">
            <a:off x="1075055" y="4116705"/>
            <a:ext cx="7620" cy="194056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5" name="直接箭头连接符 4"/>
          <p:cNvCxnSpPr/>
          <p:nvPr/>
        </p:nvCxnSpPr>
        <p:spPr>
          <a:xfrm flipV="1">
            <a:off x="1082675" y="6057265"/>
            <a:ext cx="2332990" cy="762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6" name="任意多边形 15"/>
          <p:cNvSpPr/>
          <p:nvPr/>
        </p:nvSpPr>
        <p:spPr>
          <a:xfrm>
            <a:off x="1082675" y="5271770"/>
            <a:ext cx="1881505" cy="793115"/>
          </a:xfrm>
          <a:custGeom>
            <a:avLst/>
            <a:gdLst>
              <a:gd name="connisteX0" fmla="*/ 0 w 1881505"/>
              <a:gd name="connsiteY0" fmla="*/ 881380 h 881380"/>
              <a:gd name="connisteX1" fmla="*/ 977900 w 1881505"/>
              <a:gd name="connsiteY1" fmla="*/ 0 h 881380"/>
              <a:gd name="connisteX2" fmla="*/ 1881505 w 1881505"/>
              <a:gd name="connsiteY2" fmla="*/ 881380 h 881380"/>
            </a:gdLst>
            <a:ahLst/>
            <a:cxnLst>
              <a:cxn ang="0">
                <a:pos x="connisteX0" y="connsiteY0"/>
              </a:cxn>
              <a:cxn ang="0">
                <a:pos x="connisteX1" y="connsiteY1"/>
              </a:cxn>
              <a:cxn ang="0">
                <a:pos x="connisteX2" y="connsiteY2"/>
              </a:cxn>
            </a:cxnLst>
            <a:rect l="l" t="t" r="r" b="b"/>
            <a:pathLst>
              <a:path w="1881505" h="881380">
                <a:moveTo>
                  <a:pt x="0" y="881380"/>
                </a:moveTo>
                <a:cubicBezTo>
                  <a:pt x="177800" y="687705"/>
                  <a:pt x="601345" y="0"/>
                  <a:pt x="977900" y="0"/>
                </a:cubicBezTo>
                <a:cubicBezTo>
                  <a:pt x="1354455" y="0"/>
                  <a:pt x="1720215" y="687705"/>
                  <a:pt x="1881505" y="881380"/>
                </a:cubicBezTo>
              </a:path>
            </a:pathLst>
          </a:custGeom>
          <a:noFill/>
          <a:ln>
            <a:solidFill>
              <a:srgbClr val="00B0F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任意多边形 16"/>
          <p:cNvSpPr/>
          <p:nvPr>
            <p:custDataLst>
              <p:tags r:id="rId5"/>
            </p:custDataLst>
          </p:nvPr>
        </p:nvSpPr>
        <p:spPr>
          <a:xfrm>
            <a:off x="1082675" y="4552950"/>
            <a:ext cx="1881505" cy="1511935"/>
          </a:xfrm>
          <a:custGeom>
            <a:avLst/>
            <a:gdLst>
              <a:gd name="connisteX0" fmla="*/ 0 w 1881505"/>
              <a:gd name="connsiteY0" fmla="*/ 881380 h 881380"/>
              <a:gd name="connisteX1" fmla="*/ 977900 w 1881505"/>
              <a:gd name="connsiteY1" fmla="*/ 0 h 881380"/>
              <a:gd name="connisteX2" fmla="*/ 1881505 w 1881505"/>
              <a:gd name="connsiteY2" fmla="*/ 881380 h 881380"/>
            </a:gdLst>
            <a:ahLst/>
            <a:cxnLst>
              <a:cxn ang="0">
                <a:pos x="connisteX0" y="connsiteY0"/>
              </a:cxn>
              <a:cxn ang="0">
                <a:pos x="connisteX1" y="connsiteY1"/>
              </a:cxn>
              <a:cxn ang="0">
                <a:pos x="connisteX2" y="connsiteY2"/>
              </a:cxn>
            </a:cxnLst>
            <a:rect l="l" t="t" r="r" b="b"/>
            <a:pathLst>
              <a:path w="1881505" h="881380">
                <a:moveTo>
                  <a:pt x="0" y="881380"/>
                </a:moveTo>
                <a:cubicBezTo>
                  <a:pt x="177800" y="687705"/>
                  <a:pt x="601345" y="0"/>
                  <a:pt x="977900" y="0"/>
                </a:cubicBezTo>
                <a:cubicBezTo>
                  <a:pt x="1354455" y="0"/>
                  <a:pt x="1720215" y="687705"/>
                  <a:pt x="1881505" y="881380"/>
                </a:cubicBezTo>
              </a:path>
            </a:pathLst>
          </a:custGeom>
          <a:noFill/>
          <a:ln>
            <a:solidFill>
              <a:srgbClr val="00B05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文本框 17"/>
          <p:cNvSpPr txBox="1"/>
          <p:nvPr/>
        </p:nvSpPr>
        <p:spPr>
          <a:xfrm>
            <a:off x="923290" y="6057265"/>
            <a:ext cx="311150" cy="368300"/>
          </a:xfrm>
          <a:prstGeom prst="rect">
            <a:avLst/>
          </a:prstGeom>
          <a:noFill/>
        </p:spPr>
        <p:txBody>
          <a:bodyPr wrap="square" rtlCol="0">
            <a:spAutoFit/>
          </a:bodyPr>
          <a:p>
            <a:r>
              <a:rPr lang="en-US" altLang="zh-CN"/>
              <a:t>0</a:t>
            </a:r>
            <a:endParaRPr lang="en-US" altLang="zh-CN"/>
          </a:p>
        </p:txBody>
      </p:sp>
      <p:sp>
        <p:nvSpPr>
          <p:cNvPr id="19" name="文本框 18"/>
          <p:cNvSpPr txBox="1"/>
          <p:nvPr>
            <p:custDataLst>
              <p:tags r:id="rId6"/>
            </p:custDataLst>
          </p:nvPr>
        </p:nvSpPr>
        <p:spPr>
          <a:xfrm>
            <a:off x="1757045" y="6064885"/>
            <a:ext cx="533400" cy="368300"/>
          </a:xfrm>
          <a:prstGeom prst="rect">
            <a:avLst/>
          </a:prstGeom>
          <a:noFill/>
        </p:spPr>
        <p:txBody>
          <a:bodyPr wrap="square" rtlCol="0">
            <a:spAutoFit/>
          </a:bodyPr>
          <a:p>
            <a:r>
              <a:rPr lang="en-US" altLang="zh-CN"/>
              <a:t>0.5</a:t>
            </a:r>
            <a:endParaRPr lang="en-US" altLang="zh-CN"/>
          </a:p>
        </p:txBody>
      </p:sp>
      <p:sp>
        <p:nvSpPr>
          <p:cNvPr id="20" name="文本框 19"/>
          <p:cNvSpPr txBox="1"/>
          <p:nvPr>
            <p:custDataLst>
              <p:tags r:id="rId7"/>
            </p:custDataLst>
          </p:nvPr>
        </p:nvSpPr>
        <p:spPr>
          <a:xfrm>
            <a:off x="2813050" y="6064885"/>
            <a:ext cx="311150" cy="368300"/>
          </a:xfrm>
          <a:prstGeom prst="rect">
            <a:avLst/>
          </a:prstGeom>
          <a:noFill/>
        </p:spPr>
        <p:txBody>
          <a:bodyPr wrap="square" rtlCol="0">
            <a:spAutoFit/>
          </a:bodyPr>
          <a:p>
            <a:r>
              <a:rPr lang="en-US" altLang="zh-CN"/>
              <a:t>1</a:t>
            </a:r>
            <a:endParaRPr lang="en-US" altLang="zh-CN"/>
          </a:p>
        </p:txBody>
      </p:sp>
      <p:sp>
        <p:nvSpPr>
          <p:cNvPr id="21" name="文本框 20"/>
          <p:cNvSpPr txBox="1"/>
          <p:nvPr>
            <p:custDataLst>
              <p:tags r:id="rId8"/>
            </p:custDataLst>
          </p:nvPr>
        </p:nvSpPr>
        <p:spPr>
          <a:xfrm>
            <a:off x="3265170" y="6057265"/>
            <a:ext cx="311150" cy="368300"/>
          </a:xfrm>
          <a:prstGeom prst="rect">
            <a:avLst/>
          </a:prstGeom>
          <a:noFill/>
        </p:spPr>
        <p:txBody>
          <a:bodyPr wrap="square" rtlCol="0">
            <a:spAutoFit/>
          </a:bodyPr>
          <a:p>
            <a:r>
              <a:rPr lang="en-US" altLang="zh-CN"/>
              <a:t>P</a:t>
            </a:r>
            <a:endParaRPr lang="en-US" altLang="zh-CN"/>
          </a:p>
        </p:txBody>
      </p:sp>
      <p:sp>
        <p:nvSpPr>
          <p:cNvPr id="22" name="文本框 21"/>
          <p:cNvSpPr txBox="1"/>
          <p:nvPr>
            <p:custDataLst>
              <p:tags r:id="rId9"/>
            </p:custDataLst>
          </p:nvPr>
        </p:nvSpPr>
        <p:spPr>
          <a:xfrm>
            <a:off x="565785" y="3748405"/>
            <a:ext cx="1644650" cy="368300"/>
          </a:xfrm>
          <a:prstGeom prst="rect">
            <a:avLst/>
          </a:prstGeom>
          <a:noFill/>
        </p:spPr>
        <p:txBody>
          <a:bodyPr wrap="square" rtlCol="0">
            <a:spAutoFit/>
          </a:bodyPr>
          <a:p>
            <a:r>
              <a:rPr lang="en-US" altLang="zh-CN">
                <a:solidFill>
                  <a:srgbClr val="00B0F0"/>
                </a:solidFill>
              </a:rPr>
              <a:t>Gini </a:t>
            </a:r>
            <a:r>
              <a:rPr lang="en-US" altLang="zh-CN">
                <a:solidFill>
                  <a:schemeClr val="tx1"/>
                </a:solidFill>
              </a:rPr>
              <a:t>/ </a:t>
            </a:r>
            <a:r>
              <a:rPr lang="en-US" altLang="zh-CN">
                <a:solidFill>
                  <a:srgbClr val="00B050"/>
                </a:solidFill>
              </a:rPr>
              <a:t>Entropy</a:t>
            </a:r>
            <a:endParaRPr lang="en-US" altLang="zh-CN">
              <a:solidFill>
                <a:srgbClr val="00B050"/>
              </a:solidFill>
            </a:endParaRPr>
          </a:p>
        </p:txBody>
      </p:sp>
      <p:sp>
        <p:nvSpPr>
          <p:cNvPr id="24" name="文本框 23"/>
          <p:cNvSpPr txBox="1"/>
          <p:nvPr/>
        </p:nvSpPr>
        <p:spPr>
          <a:xfrm>
            <a:off x="4173855" y="4364990"/>
            <a:ext cx="7372350" cy="1882775"/>
          </a:xfrm>
          <a:prstGeom prst="rect">
            <a:avLst/>
          </a:prstGeom>
          <a:noFill/>
        </p:spPr>
        <p:txBody>
          <a:bodyPr wrap="square" rtlCol="0">
            <a:noAutofit/>
          </a:bodyPr>
          <a:p>
            <a:pPr marL="285750" indent="-285750">
              <a:lnSpc>
                <a:spcPct val="120000"/>
              </a:lnSpc>
              <a:buFont typeface="Wingdings" panose="05000000000000000000" charset="0"/>
              <a:buChar char="Ø"/>
            </a:pPr>
            <a:r>
              <a:rPr lang="zh-CN" altLang="en-US">
                <a:latin typeface="Nirmala UI Semilight" panose="020B0402040204020203" charset="0"/>
                <a:sym typeface="+mn-ea"/>
              </a:rPr>
              <a:t>当样本都属于一个类别时，基尼系数为0；样本类别数目越多，数据越分散，基尼系数越接近于1。直观来说，数据集的基尼系数反映了从数据集D中随机抽取两个样本，其类别不一样的概率。因此，</a:t>
            </a:r>
            <a:r>
              <a:rPr lang="zh-CN" altLang="en-US">
                <a:solidFill>
                  <a:srgbClr val="FF0000"/>
                </a:solidFill>
                <a:latin typeface="Nirmala UI Semilight" panose="020B0402040204020203" charset="0"/>
                <a:sym typeface="+mn-ea"/>
              </a:rPr>
              <a:t>基尼系数越小，数据集的纯度越高</a:t>
            </a:r>
            <a:r>
              <a:rPr lang="zh-CN" altLang="en-US">
                <a:latin typeface="Nirmala UI Semilight" panose="020B0402040204020203" charset="0"/>
                <a:sym typeface="+mn-ea"/>
              </a:rPr>
              <a:t>。</a:t>
            </a:r>
            <a:endParaRPr lang="zh-CN" altLang="en-US">
              <a:latin typeface="Nirmala UI Semilight" panose="020B0402040204020203" charset="0"/>
            </a:endParaRPr>
          </a:p>
          <a:p>
            <a:pPr marL="285750" indent="-285750">
              <a:lnSpc>
                <a:spcPct val="120000"/>
              </a:lnSpc>
              <a:buFont typeface="Wingdings" panose="05000000000000000000" charset="0"/>
              <a:buChar char="Ø"/>
            </a:pPr>
            <a:r>
              <a:rPr lang="zh-CN" altLang="en-US">
                <a:latin typeface="Nirmala UI Semilight" panose="020B0402040204020203" charset="0"/>
                <a:sym typeface="+mn-ea"/>
              </a:rPr>
              <a:t>选择基尼系数最小的来作为决策树下一级分类的标准。</a:t>
            </a:r>
            <a:endParaRPr lang="zh-CN" altLang="en-US"/>
          </a:p>
        </p:txBody>
      </p:sp>
      <p:sp>
        <p:nvSpPr>
          <p:cNvPr id="28" name="矩形 27"/>
          <p:cNvSpPr/>
          <p:nvPr/>
        </p:nvSpPr>
        <p:spPr>
          <a:xfrm>
            <a:off x="4831080" y="2534920"/>
            <a:ext cx="1765300" cy="582930"/>
          </a:xfrm>
          <a:prstGeom prst="rect">
            <a:avLst/>
          </a:prstGeom>
        </p:spPr>
        <p:style>
          <a:lnRef idx="3">
            <a:schemeClr val="accent1"/>
          </a:lnRef>
          <a:fillRef idx="0">
            <a:srgbClr val="FFFFFF"/>
          </a:fillRef>
          <a:effectRef idx="0">
            <a:srgbClr val="FFFFFF"/>
          </a:effectRef>
          <a:fontRef idx="minor">
            <a:schemeClr val="dk1"/>
          </a:fontRef>
        </p:style>
        <p:txBody>
          <a:bodyPr rtlCol="0" anchor="ctr"/>
          <a:p>
            <a:pPr algn="ctr"/>
            <a:r>
              <a:rPr lang="en-US" altLang="zh-CN" sz="1600"/>
              <a:t>label=</a:t>
            </a:r>
            <a:r>
              <a:rPr lang="zh-CN" altLang="en-US" sz="1600"/>
              <a:t>批准：</a:t>
            </a:r>
            <a:r>
              <a:rPr lang="en-US" altLang="zh-CN" sz="1600"/>
              <a:t>8</a:t>
            </a:r>
            <a:r>
              <a:rPr lang="zh-CN" altLang="en-US" sz="1600"/>
              <a:t>个</a:t>
            </a:r>
            <a:endParaRPr lang="zh-CN" altLang="en-US" sz="1600"/>
          </a:p>
          <a:p>
            <a:pPr algn="ctr"/>
            <a:r>
              <a:rPr lang="en-US" altLang="zh-CN" sz="1600"/>
              <a:t>label=</a:t>
            </a:r>
            <a:r>
              <a:rPr lang="zh-CN" altLang="en-US" sz="1600"/>
              <a:t>拒绝：</a:t>
            </a:r>
            <a:r>
              <a:rPr lang="en-US" altLang="zh-CN" sz="1600"/>
              <a:t>2</a:t>
            </a:r>
            <a:r>
              <a:rPr lang="zh-CN" altLang="en-US" sz="1600"/>
              <a:t>个</a:t>
            </a:r>
            <a:endParaRPr lang="zh-CN" altLang="en-US" sz="1600"/>
          </a:p>
        </p:txBody>
      </p:sp>
      <p:sp>
        <p:nvSpPr>
          <p:cNvPr id="29" name="矩形 28"/>
          <p:cNvSpPr/>
          <p:nvPr>
            <p:custDataLst>
              <p:tags r:id="rId10"/>
            </p:custDataLst>
          </p:nvPr>
        </p:nvSpPr>
        <p:spPr>
          <a:xfrm>
            <a:off x="4831080" y="1658620"/>
            <a:ext cx="1765300" cy="582930"/>
          </a:xfrm>
          <a:prstGeom prst="rect">
            <a:avLst/>
          </a:prstGeom>
        </p:spPr>
        <p:style>
          <a:lnRef idx="3">
            <a:schemeClr val="accent1"/>
          </a:lnRef>
          <a:fillRef idx="0">
            <a:srgbClr val="FFFFFF"/>
          </a:fillRef>
          <a:effectRef idx="0">
            <a:srgbClr val="FFFFFF"/>
          </a:effectRef>
          <a:fontRef idx="minor">
            <a:schemeClr val="dk1"/>
          </a:fontRef>
        </p:style>
        <p:txBody>
          <a:bodyPr rtlCol="0" anchor="ctr"/>
          <a:p>
            <a:pPr algn="ctr"/>
            <a:r>
              <a:rPr lang="en-US" altLang="zh-CN" sz="1600"/>
              <a:t>label=</a:t>
            </a:r>
            <a:r>
              <a:rPr lang="zh-CN" altLang="en-US" sz="1600"/>
              <a:t>批准：</a:t>
            </a:r>
            <a:r>
              <a:rPr lang="en-US" altLang="zh-CN" sz="1600"/>
              <a:t>5</a:t>
            </a:r>
            <a:r>
              <a:rPr lang="zh-CN" altLang="en-US" sz="1600"/>
              <a:t>个</a:t>
            </a:r>
            <a:endParaRPr lang="zh-CN" altLang="en-US" sz="1600"/>
          </a:p>
          <a:p>
            <a:pPr algn="ctr"/>
            <a:r>
              <a:rPr lang="en-US" altLang="zh-CN" sz="1600"/>
              <a:t>label=</a:t>
            </a:r>
            <a:r>
              <a:rPr lang="zh-CN" altLang="en-US" sz="1600"/>
              <a:t>拒绝：</a:t>
            </a:r>
            <a:r>
              <a:rPr lang="en-US" altLang="zh-CN" sz="1600"/>
              <a:t>5</a:t>
            </a:r>
            <a:r>
              <a:rPr lang="zh-CN" altLang="en-US" sz="1600"/>
              <a:t>个</a:t>
            </a:r>
            <a:endParaRPr lang="zh-CN" altLang="en-US" sz="1600"/>
          </a:p>
        </p:txBody>
      </p:sp>
      <p:sp>
        <p:nvSpPr>
          <p:cNvPr id="30" name="矩形 29"/>
          <p:cNvSpPr/>
          <p:nvPr>
            <p:custDataLst>
              <p:tags r:id="rId11"/>
            </p:custDataLst>
          </p:nvPr>
        </p:nvSpPr>
        <p:spPr>
          <a:xfrm>
            <a:off x="4831715" y="3411220"/>
            <a:ext cx="1765300" cy="582930"/>
          </a:xfrm>
          <a:prstGeom prst="rect">
            <a:avLst/>
          </a:prstGeom>
        </p:spPr>
        <p:style>
          <a:lnRef idx="3">
            <a:schemeClr val="accent1"/>
          </a:lnRef>
          <a:fillRef idx="0">
            <a:srgbClr val="FFFFFF"/>
          </a:fillRef>
          <a:effectRef idx="0">
            <a:srgbClr val="FFFFFF"/>
          </a:effectRef>
          <a:fontRef idx="minor">
            <a:schemeClr val="dk1"/>
          </a:fontRef>
        </p:style>
        <p:txBody>
          <a:bodyPr rtlCol="0" anchor="ctr"/>
          <a:p>
            <a:pPr algn="ctr"/>
            <a:r>
              <a:rPr lang="en-US" altLang="zh-CN" sz="1600"/>
              <a:t>label=</a:t>
            </a:r>
            <a:r>
              <a:rPr lang="zh-CN" altLang="en-US" sz="1600"/>
              <a:t>批准：</a:t>
            </a:r>
            <a:r>
              <a:rPr lang="en-US" altLang="zh-CN" sz="1600"/>
              <a:t>10</a:t>
            </a:r>
            <a:r>
              <a:rPr lang="zh-CN" altLang="en-US" sz="1600"/>
              <a:t>个</a:t>
            </a:r>
            <a:endParaRPr lang="zh-CN" altLang="en-US" sz="1600"/>
          </a:p>
          <a:p>
            <a:pPr algn="ctr"/>
            <a:r>
              <a:rPr lang="en-US" altLang="zh-CN" sz="1600"/>
              <a:t>label=</a:t>
            </a:r>
            <a:r>
              <a:rPr lang="zh-CN" altLang="en-US" sz="1600"/>
              <a:t>拒绝：</a:t>
            </a:r>
            <a:r>
              <a:rPr lang="en-US" altLang="zh-CN" sz="1600"/>
              <a:t>0</a:t>
            </a:r>
            <a:r>
              <a:rPr lang="zh-CN" altLang="en-US" sz="1600"/>
              <a:t>个</a:t>
            </a:r>
            <a:endParaRPr lang="zh-CN" altLang="en-US" sz="1600"/>
          </a:p>
        </p:txBody>
      </p:sp>
      <p:cxnSp>
        <p:nvCxnSpPr>
          <p:cNvPr id="31" name="直接箭头连接符 30"/>
          <p:cNvCxnSpPr/>
          <p:nvPr/>
        </p:nvCxnSpPr>
        <p:spPr>
          <a:xfrm>
            <a:off x="4533265" y="1658620"/>
            <a:ext cx="0" cy="2399030"/>
          </a:xfrm>
          <a:prstGeom prst="straightConnector1">
            <a:avLst/>
          </a:prstGeom>
          <a:ln>
            <a:tailEnd type="arrow" w="med" len="med"/>
          </a:ln>
        </p:spPr>
        <p:style>
          <a:lnRef idx="3">
            <a:schemeClr val="accent1"/>
          </a:lnRef>
          <a:fillRef idx="0">
            <a:srgbClr val="FFFFFF"/>
          </a:fillRef>
          <a:effectRef idx="0">
            <a:srgbClr val="FFFFFF"/>
          </a:effectRef>
          <a:fontRef idx="minor">
            <a:schemeClr val="tx1"/>
          </a:fontRef>
        </p:style>
      </p:cxnSp>
      <p:sp>
        <p:nvSpPr>
          <p:cNvPr id="33" name="文本框 32"/>
          <p:cNvSpPr txBox="1"/>
          <p:nvPr/>
        </p:nvSpPr>
        <p:spPr>
          <a:xfrm>
            <a:off x="4003040" y="2094230"/>
            <a:ext cx="459740" cy="1805305"/>
          </a:xfrm>
          <a:prstGeom prst="rect">
            <a:avLst/>
          </a:prstGeom>
        </p:spPr>
        <p:txBody>
          <a:bodyPr vert="eaVert" wrap="square">
            <a:spAutoFit/>
            <a:extLst>
              <a:ext uri="{4A0BC546-FE56-4ADE-93B0-CB8AF2F6F144}">
                <wpsdc:textFrameExt xmlns:wpsdc="http://www.wps.cn/officeDocument/2022/drawingmlCustomData" type="text"/>
              </a:ext>
            </a:extLst>
          </a:bodyPr>
          <a:p>
            <a:pPr algn="l"/>
            <a:r>
              <a:rPr lang="zh-CN" altLang="en-US" sz="1800">
                <a:solidFill>
                  <a:schemeClr val="accent5"/>
                </a:solidFill>
                <a:latin typeface="Arial" panose="020B0604020202020204" pitchFamily="34" charset="0"/>
                <a:ea typeface="微软雅黑" panose="020B0503020204020204" charset="-122"/>
              </a:rPr>
              <a:t>纯度越来越高</a:t>
            </a:r>
            <a:endParaRPr lang="zh-CN" altLang="en-US" sz="1800">
              <a:solidFill>
                <a:schemeClr val="accent5"/>
              </a:solidFill>
              <a:latin typeface="Arial" panose="020B0604020202020204" pitchFamily="34" charset="0"/>
              <a:ea typeface="微软雅黑" panose="020B0503020204020204" charset="-122"/>
            </a:endParaRPr>
          </a:p>
        </p:txBody>
      </p:sp>
      <p:sp>
        <p:nvSpPr>
          <p:cNvPr id="35" name="右箭头 34"/>
          <p:cNvSpPr/>
          <p:nvPr/>
        </p:nvSpPr>
        <p:spPr>
          <a:xfrm>
            <a:off x="6729095" y="1801495"/>
            <a:ext cx="236855" cy="297815"/>
          </a:xfrm>
          <a:prstGeom prst="rightArrow">
            <a:avLst/>
          </a:prstGeom>
        </p:spPr>
        <p:style>
          <a:lnRef idx="0">
            <a:srgbClr val="FFFFFF"/>
          </a:lnRef>
          <a:fillRef idx="2">
            <a:schemeClr val="accent1"/>
          </a:fillRef>
          <a:effectRef idx="0">
            <a:srgbClr val="FFFFFF"/>
          </a:effectRef>
          <a:fontRef idx="minor">
            <a:schemeClr val="lt1"/>
          </a:fontRef>
        </p:style>
        <p:txBody>
          <a:bodyPr rtlCol="0" anchor="ctr"/>
          <a:p>
            <a:pPr algn="ctr"/>
            <a:endParaRPr lang="zh-CN" altLang="en-US"/>
          </a:p>
        </p:txBody>
      </p:sp>
      <p:sp>
        <p:nvSpPr>
          <p:cNvPr id="36" name="右箭头 35"/>
          <p:cNvSpPr/>
          <p:nvPr>
            <p:custDataLst>
              <p:tags r:id="rId12"/>
            </p:custDataLst>
          </p:nvPr>
        </p:nvSpPr>
        <p:spPr>
          <a:xfrm>
            <a:off x="6729095" y="3555365"/>
            <a:ext cx="236855" cy="297815"/>
          </a:xfrm>
          <a:prstGeom prst="rightArrow">
            <a:avLst/>
          </a:prstGeom>
        </p:spPr>
        <p:style>
          <a:lnRef idx="0">
            <a:srgbClr val="FFFFFF"/>
          </a:lnRef>
          <a:fillRef idx="2">
            <a:schemeClr val="accent1"/>
          </a:fillRef>
          <a:effectRef idx="0">
            <a:srgbClr val="FFFFFF"/>
          </a:effectRef>
          <a:fontRef idx="minor">
            <a:schemeClr val="lt1"/>
          </a:fontRef>
        </p:style>
        <p:txBody>
          <a:bodyPr rtlCol="0" anchor="ctr"/>
          <a:p>
            <a:pPr algn="ctr"/>
            <a:endParaRPr lang="zh-CN" altLang="en-US"/>
          </a:p>
        </p:txBody>
      </p:sp>
      <p:sp>
        <p:nvSpPr>
          <p:cNvPr id="37" name="右箭头 36"/>
          <p:cNvSpPr/>
          <p:nvPr>
            <p:custDataLst>
              <p:tags r:id="rId13"/>
            </p:custDataLst>
          </p:nvPr>
        </p:nvSpPr>
        <p:spPr>
          <a:xfrm>
            <a:off x="6729095" y="2708910"/>
            <a:ext cx="236855" cy="297815"/>
          </a:xfrm>
          <a:prstGeom prst="rightArrow">
            <a:avLst/>
          </a:prstGeom>
        </p:spPr>
        <p:style>
          <a:lnRef idx="0">
            <a:srgbClr val="FFFFFF"/>
          </a:lnRef>
          <a:fillRef idx="2">
            <a:schemeClr val="accent1"/>
          </a:fillRef>
          <a:effectRef idx="0">
            <a:srgbClr val="FFFFFF"/>
          </a:effectRef>
          <a:fontRef idx="minor">
            <a:schemeClr val="lt1"/>
          </a:fontRef>
        </p:style>
        <p:txBody>
          <a:bodyPr rtlCol="0" anchor="ctr"/>
          <a:p>
            <a:pPr algn="ctr"/>
            <a:endParaRPr lang="zh-CN" altLang="en-US"/>
          </a:p>
        </p:txBody>
      </p:sp>
      <p:sp>
        <p:nvSpPr>
          <p:cNvPr id="40" name="文本框 39"/>
          <p:cNvSpPr txBox="1"/>
          <p:nvPr/>
        </p:nvSpPr>
        <p:spPr>
          <a:xfrm>
            <a:off x="7036435" y="1596390"/>
            <a:ext cx="1463675" cy="645160"/>
          </a:xfrm>
          <a:prstGeom prst="rect">
            <a:avLst/>
          </a:prstGeom>
          <a:noFill/>
        </p:spPr>
        <p:txBody>
          <a:bodyPr wrap="square" rtlCol="0">
            <a:spAutoFit/>
          </a:bodyPr>
          <a:p>
            <a:r>
              <a:rPr lang="en-US" altLang="zh-CN"/>
              <a:t>p(</a:t>
            </a:r>
            <a:r>
              <a:rPr lang="zh-CN" altLang="en-US"/>
              <a:t>批准</a:t>
            </a:r>
            <a:r>
              <a:rPr lang="en-US" altLang="zh-CN"/>
              <a:t>)=0.5</a:t>
            </a:r>
            <a:endParaRPr lang="en-US" altLang="zh-CN"/>
          </a:p>
          <a:p>
            <a:r>
              <a:rPr lang="en-US" altLang="zh-CN">
                <a:sym typeface="+mn-ea"/>
              </a:rPr>
              <a:t>p(</a:t>
            </a:r>
            <a:r>
              <a:rPr lang="zh-CN" altLang="en-US">
                <a:sym typeface="+mn-ea"/>
              </a:rPr>
              <a:t>拒绝</a:t>
            </a:r>
            <a:r>
              <a:rPr lang="en-US" altLang="zh-CN">
                <a:sym typeface="+mn-ea"/>
              </a:rPr>
              <a:t>)=0.5</a:t>
            </a:r>
            <a:endParaRPr lang="en-US" altLang="zh-CN"/>
          </a:p>
        </p:txBody>
      </p:sp>
      <p:sp>
        <p:nvSpPr>
          <p:cNvPr id="41" name="文本框 40"/>
          <p:cNvSpPr txBox="1"/>
          <p:nvPr>
            <p:custDataLst>
              <p:tags r:id="rId14"/>
            </p:custDataLst>
          </p:nvPr>
        </p:nvSpPr>
        <p:spPr>
          <a:xfrm>
            <a:off x="7036435" y="2472690"/>
            <a:ext cx="1463675" cy="645160"/>
          </a:xfrm>
          <a:prstGeom prst="rect">
            <a:avLst/>
          </a:prstGeom>
          <a:noFill/>
        </p:spPr>
        <p:txBody>
          <a:bodyPr wrap="square" rtlCol="0">
            <a:spAutoFit/>
          </a:bodyPr>
          <a:p>
            <a:r>
              <a:rPr lang="en-US" altLang="zh-CN"/>
              <a:t>p(</a:t>
            </a:r>
            <a:r>
              <a:rPr lang="zh-CN" altLang="en-US"/>
              <a:t>批准</a:t>
            </a:r>
            <a:r>
              <a:rPr lang="en-US" altLang="zh-CN"/>
              <a:t>)=0.8</a:t>
            </a:r>
            <a:endParaRPr lang="en-US" altLang="zh-CN"/>
          </a:p>
          <a:p>
            <a:r>
              <a:rPr lang="en-US" altLang="zh-CN">
                <a:sym typeface="+mn-ea"/>
              </a:rPr>
              <a:t>p(</a:t>
            </a:r>
            <a:r>
              <a:rPr lang="zh-CN" altLang="en-US">
                <a:sym typeface="+mn-ea"/>
              </a:rPr>
              <a:t>拒绝</a:t>
            </a:r>
            <a:r>
              <a:rPr lang="en-US" altLang="zh-CN">
                <a:sym typeface="+mn-ea"/>
              </a:rPr>
              <a:t>)=0.2</a:t>
            </a:r>
            <a:endParaRPr lang="en-US" altLang="zh-CN"/>
          </a:p>
        </p:txBody>
      </p:sp>
      <p:sp>
        <p:nvSpPr>
          <p:cNvPr id="42" name="文本框 41"/>
          <p:cNvSpPr txBox="1"/>
          <p:nvPr>
            <p:custDataLst>
              <p:tags r:id="rId15"/>
            </p:custDataLst>
          </p:nvPr>
        </p:nvSpPr>
        <p:spPr>
          <a:xfrm>
            <a:off x="7001510" y="3348990"/>
            <a:ext cx="1463675" cy="645160"/>
          </a:xfrm>
          <a:prstGeom prst="rect">
            <a:avLst/>
          </a:prstGeom>
          <a:noFill/>
        </p:spPr>
        <p:txBody>
          <a:bodyPr wrap="square" rtlCol="0">
            <a:spAutoFit/>
          </a:bodyPr>
          <a:p>
            <a:r>
              <a:rPr lang="en-US" altLang="zh-CN"/>
              <a:t>p(</a:t>
            </a:r>
            <a:r>
              <a:rPr lang="zh-CN" altLang="en-US"/>
              <a:t>批准</a:t>
            </a:r>
            <a:r>
              <a:rPr lang="en-US" altLang="zh-CN"/>
              <a:t>)=1</a:t>
            </a:r>
            <a:endParaRPr lang="en-US" altLang="zh-CN"/>
          </a:p>
          <a:p>
            <a:r>
              <a:rPr lang="en-US" altLang="zh-CN">
                <a:sym typeface="+mn-ea"/>
              </a:rPr>
              <a:t>p(</a:t>
            </a:r>
            <a:r>
              <a:rPr lang="zh-CN" altLang="en-US">
                <a:sym typeface="+mn-ea"/>
              </a:rPr>
              <a:t>拒绝</a:t>
            </a:r>
            <a:r>
              <a:rPr lang="en-US" altLang="zh-CN">
                <a:sym typeface="+mn-ea"/>
              </a:rPr>
              <a:t>)=0</a:t>
            </a:r>
            <a:endParaRPr lang="en-US" altLang="zh-CN"/>
          </a:p>
        </p:txBody>
      </p:sp>
      <p:sp>
        <p:nvSpPr>
          <p:cNvPr id="43" name="右箭头 42"/>
          <p:cNvSpPr/>
          <p:nvPr>
            <p:custDataLst>
              <p:tags r:id="rId16"/>
            </p:custDataLst>
          </p:nvPr>
        </p:nvSpPr>
        <p:spPr>
          <a:xfrm>
            <a:off x="8500110" y="1801495"/>
            <a:ext cx="236855" cy="297815"/>
          </a:xfrm>
          <a:prstGeom prst="rightArrow">
            <a:avLst/>
          </a:prstGeom>
        </p:spPr>
        <p:style>
          <a:lnRef idx="0">
            <a:srgbClr val="FFFFFF"/>
          </a:lnRef>
          <a:fillRef idx="2">
            <a:schemeClr val="accent1"/>
          </a:fillRef>
          <a:effectRef idx="0">
            <a:srgbClr val="FFFFFF"/>
          </a:effectRef>
          <a:fontRef idx="minor">
            <a:schemeClr val="lt1"/>
          </a:fontRef>
        </p:style>
        <p:txBody>
          <a:bodyPr rtlCol="0" anchor="ctr"/>
          <a:p>
            <a:pPr algn="ctr"/>
            <a:endParaRPr lang="zh-CN" altLang="en-US"/>
          </a:p>
        </p:txBody>
      </p:sp>
      <p:sp>
        <p:nvSpPr>
          <p:cNvPr id="44" name="右箭头 43"/>
          <p:cNvSpPr/>
          <p:nvPr>
            <p:custDataLst>
              <p:tags r:id="rId17"/>
            </p:custDataLst>
          </p:nvPr>
        </p:nvSpPr>
        <p:spPr>
          <a:xfrm>
            <a:off x="8500110" y="2708910"/>
            <a:ext cx="236855" cy="297815"/>
          </a:xfrm>
          <a:prstGeom prst="rightArrow">
            <a:avLst/>
          </a:prstGeom>
        </p:spPr>
        <p:style>
          <a:lnRef idx="0">
            <a:srgbClr val="FFFFFF"/>
          </a:lnRef>
          <a:fillRef idx="2">
            <a:schemeClr val="accent1"/>
          </a:fillRef>
          <a:effectRef idx="0">
            <a:srgbClr val="FFFFFF"/>
          </a:effectRef>
          <a:fontRef idx="minor">
            <a:schemeClr val="lt1"/>
          </a:fontRef>
        </p:style>
        <p:txBody>
          <a:bodyPr rtlCol="0" anchor="ctr"/>
          <a:p>
            <a:pPr algn="ctr"/>
            <a:endParaRPr lang="zh-CN" altLang="en-US"/>
          </a:p>
        </p:txBody>
      </p:sp>
      <p:sp>
        <p:nvSpPr>
          <p:cNvPr id="45" name="右箭头 44"/>
          <p:cNvSpPr/>
          <p:nvPr>
            <p:custDataLst>
              <p:tags r:id="rId18"/>
            </p:custDataLst>
          </p:nvPr>
        </p:nvSpPr>
        <p:spPr>
          <a:xfrm>
            <a:off x="8500110" y="3554730"/>
            <a:ext cx="236855" cy="297815"/>
          </a:xfrm>
          <a:prstGeom prst="rightArrow">
            <a:avLst/>
          </a:prstGeom>
        </p:spPr>
        <p:style>
          <a:lnRef idx="0">
            <a:srgbClr val="FFFFFF"/>
          </a:lnRef>
          <a:fillRef idx="2">
            <a:schemeClr val="accent1"/>
          </a:fillRef>
          <a:effectRef idx="0">
            <a:srgbClr val="FFFFFF"/>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46" name="文本框 45"/>
              <p:cNvSpPr txBox="1"/>
              <p:nvPr/>
            </p:nvSpPr>
            <p:spPr>
              <a:xfrm>
                <a:off x="8808720" y="1752600"/>
                <a:ext cx="2912110" cy="394970"/>
              </a:xfrm>
              <a:prstGeom prst="rect">
                <a:avLst/>
              </a:prstGeom>
              <a:noFill/>
            </p:spPr>
            <p:txBody>
              <a:bodyPr wrap="square" rtlCol="0">
                <a:noAutofit/>
              </a:bodyPr>
              <a:p>
                <a:r>
                  <a:rPr lang="en-US" altLang="zh-CN" sz="2000"/>
                  <a:t>Gini=1-(</a:t>
                </a:r>
                <a14:m>
                  <m:oMath xmlns:m="http://schemas.openxmlformats.org/officeDocument/2006/math">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0</m:t>
                        </m:r>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5</m:t>
                        </m:r>
                      </m:e>
                      <m:sup>
                        <m:r>
                          <a:rPr lang="en-US" altLang="zh-CN" sz="2000" i="1">
                            <a:latin typeface="Cambria Math" panose="02040503050406030204" pitchFamily="18" charset="0"/>
                            <a:cs typeface="Cambria Math" panose="02040503050406030204" pitchFamily="18" charset="0"/>
                          </a:rPr>
                          <m:t>2</m:t>
                        </m:r>
                      </m:sup>
                    </m:sSup>
                    <m:r>
                      <a:rPr lang="en-US" altLang="zh-CN" sz="2000" i="1">
                        <a:latin typeface="Cambria Math" panose="02040503050406030204" pitchFamily="18" charset="0"/>
                        <a:cs typeface="Cambria Math" panose="02040503050406030204" pitchFamily="18" charset="0"/>
                      </a:rPr>
                      <m:t>+</m:t>
                    </m:r>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0</m:t>
                        </m:r>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5</m:t>
                        </m:r>
                      </m:e>
                      <m:sup>
                        <m:r>
                          <a:rPr lang="en-US" altLang="zh-CN" sz="2000" i="1">
                            <a:latin typeface="Cambria Math" panose="02040503050406030204" pitchFamily="18" charset="0"/>
                            <a:cs typeface="Cambria Math" panose="02040503050406030204" pitchFamily="18" charset="0"/>
                          </a:rPr>
                          <m:t>2</m:t>
                        </m:r>
                      </m:sup>
                    </m:sSup>
                  </m:oMath>
                </a14:m>
                <a:r>
                  <a:rPr lang="en-US" altLang="zh-CN" sz="2000"/>
                  <a:t>)=0.5</a:t>
                </a:r>
                <a:endParaRPr lang="en-US" altLang="zh-CN" sz="2000"/>
              </a:p>
            </p:txBody>
          </p:sp>
        </mc:Choice>
        <mc:Fallback>
          <p:sp>
            <p:nvSpPr>
              <p:cNvPr id="46" name="文本框 45"/>
              <p:cNvSpPr txBox="1">
                <a:spLocks noRot="1" noChangeAspect="1" noMove="1" noResize="1" noEditPoints="1" noAdjustHandles="1" noChangeArrowheads="1" noChangeShapeType="1" noTextEdit="1"/>
              </p:cNvSpPr>
              <p:nvPr/>
            </p:nvSpPr>
            <p:spPr>
              <a:xfrm>
                <a:off x="8808720" y="1752600"/>
                <a:ext cx="2912110" cy="394970"/>
              </a:xfrm>
              <a:prstGeom prst="rect">
                <a:avLst/>
              </a:prstGeom>
              <a:blipFill rotWithShape="1">
                <a:blip r:embed="rId19"/>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7" name="文本框 46"/>
              <p:cNvSpPr txBox="1"/>
              <p:nvPr>
                <p:custDataLst>
                  <p:tags r:id="rId20"/>
                </p:custDataLst>
              </p:nvPr>
            </p:nvSpPr>
            <p:spPr>
              <a:xfrm>
                <a:off x="8808720" y="2660015"/>
                <a:ext cx="3034030" cy="394970"/>
              </a:xfrm>
              <a:prstGeom prst="rect">
                <a:avLst/>
              </a:prstGeom>
              <a:noFill/>
            </p:spPr>
            <p:txBody>
              <a:bodyPr wrap="square" rtlCol="0">
                <a:noAutofit/>
              </a:bodyPr>
              <a:p>
                <a:r>
                  <a:rPr lang="en-US" altLang="zh-CN" sz="2000"/>
                  <a:t>Gini=1-(</a:t>
                </a:r>
                <a14:m>
                  <m:oMath xmlns:m="http://schemas.openxmlformats.org/officeDocument/2006/math">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0</m:t>
                        </m:r>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8</m:t>
                        </m:r>
                      </m:e>
                      <m:sup>
                        <m:r>
                          <a:rPr lang="en-US" altLang="zh-CN" sz="2000" i="1">
                            <a:latin typeface="Cambria Math" panose="02040503050406030204" pitchFamily="18" charset="0"/>
                            <a:cs typeface="Cambria Math" panose="02040503050406030204" pitchFamily="18" charset="0"/>
                          </a:rPr>
                          <m:t>2</m:t>
                        </m:r>
                      </m:sup>
                    </m:sSup>
                    <m:r>
                      <a:rPr lang="en-US" altLang="zh-CN" sz="2000" i="1">
                        <a:latin typeface="Cambria Math" panose="02040503050406030204" pitchFamily="18" charset="0"/>
                        <a:cs typeface="Cambria Math" panose="02040503050406030204" pitchFamily="18" charset="0"/>
                      </a:rPr>
                      <m:t>+</m:t>
                    </m:r>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0</m:t>
                        </m:r>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2</m:t>
                        </m:r>
                      </m:e>
                      <m:sup>
                        <m:r>
                          <a:rPr lang="en-US" altLang="zh-CN" sz="2000" i="1">
                            <a:latin typeface="Cambria Math" panose="02040503050406030204" pitchFamily="18" charset="0"/>
                            <a:cs typeface="Cambria Math" panose="02040503050406030204" pitchFamily="18" charset="0"/>
                          </a:rPr>
                          <m:t>2</m:t>
                        </m:r>
                      </m:sup>
                    </m:sSup>
                  </m:oMath>
                </a14:m>
                <a:r>
                  <a:rPr lang="en-US" altLang="zh-CN" sz="2000"/>
                  <a:t>)=0.32</a:t>
                </a:r>
                <a:endParaRPr lang="en-US" altLang="zh-CN" sz="2000"/>
              </a:p>
            </p:txBody>
          </p:sp>
        </mc:Choice>
        <mc:Fallback>
          <p:sp>
            <p:nvSpPr>
              <p:cNvPr id="47" name="文本框 46"/>
              <p:cNvSpPr txBox="1">
                <a:spLocks noRot="1" noChangeAspect="1" noMove="1" noResize="1" noEditPoints="1" noAdjustHandles="1" noChangeArrowheads="1" noChangeShapeType="1" noTextEdit="1"/>
              </p:cNvSpPr>
              <p:nvPr>
                <p:custDataLst>
                  <p:tags r:id="rId21"/>
                </p:custDataLst>
              </p:nvPr>
            </p:nvSpPr>
            <p:spPr>
              <a:xfrm>
                <a:off x="8808720" y="2660015"/>
                <a:ext cx="3034030" cy="394970"/>
              </a:xfrm>
              <a:prstGeom prst="rect">
                <a:avLst/>
              </a:prstGeom>
              <a:blipFill rotWithShape="1">
                <a:blip r:embed="rId2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8" name="文本框 47"/>
              <p:cNvSpPr txBox="1"/>
              <p:nvPr>
                <p:custDataLst>
                  <p:tags r:id="rId23"/>
                </p:custDataLst>
              </p:nvPr>
            </p:nvSpPr>
            <p:spPr>
              <a:xfrm>
                <a:off x="8808720" y="3504565"/>
                <a:ext cx="2912110" cy="394970"/>
              </a:xfrm>
              <a:prstGeom prst="rect">
                <a:avLst/>
              </a:prstGeom>
              <a:noFill/>
            </p:spPr>
            <p:txBody>
              <a:bodyPr wrap="square" rtlCol="0">
                <a:noAutofit/>
              </a:bodyPr>
              <a:p>
                <a:r>
                  <a:rPr lang="en-US" altLang="zh-CN" sz="2000"/>
                  <a:t>Gini=1-(</a:t>
                </a:r>
                <a14:m>
                  <m:oMath xmlns:m="http://schemas.openxmlformats.org/officeDocument/2006/math">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1</m:t>
                        </m:r>
                      </m:e>
                      <m:sup>
                        <m:r>
                          <a:rPr lang="en-US" altLang="zh-CN" sz="2000" i="1">
                            <a:latin typeface="Cambria Math" panose="02040503050406030204" pitchFamily="18" charset="0"/>
                            <a:cs typeface="Cambria Math" panose="02040503050406030204" pitchFamily="18" charset="0"/>
                          </a:rPr>
                          <m:t>2</m:t>
                        </m:r>
                      </m:sup>
                    </m:sSup>
                    <m:r>
                      <a:rPr lang="en-US" altLang="zh-CN" sz="2000" i="1">
                        <a:latin typeface="Cambria Math" panose="02040503050406030204" pitchFamily="18" charset="0"/>
                        <a:cs typeface="Cambria Math" panose="02040503050406030204" pitchFamily="18" charset="0"/>
                      </a:rPr>
                      <m:t>+</m:t>
                    </m:r>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0</m:t>
                        </m:r>
                      </m:e>
                      <m:sup>
                        <m:r>
                          <a:rPr lang="en-US" altLang="zh-CN" sz="2000" i="1">
                            <a:latin typeface="Cambria Math" panose="02040503050406030204" pitchFamily="18" charset="0"/>
                            <a:cs typeface="Cambria Math" panose="02040503050406030204" pitchFamily="18" charset="0"/>
                          </a:rPr>
                          <m:t>2</m:t>
                        </m:r>
                      </m:sup>
                    </m:sSup>
                  </m:oMath>
                </a14:m>
                <a:r>
                  <a:rPr lang="en-US" altLang="zh-CN" sz="2000"/>
                  <a:t>)=0</a:t>
                </a:r>
                <a:endParaRPr lang="en-US" altLang="zh-CN" sz="2000"/>
              </a:p>
            </p:txBody>
          </p:sp>
        </mc:Choice>
        <mc:Fallback>
          <p:sp>
            <p:nvSpPr>
              <p:cNvPr id="48" name="文本框 47"/>
              <p:cNvSpPr txBox="1">
                <a:spLocks noRot="1" noChangeAspect="1" noMove="1" noResize="1" noEditPoints="1" noAdjustHandles="1" noChangeArrowheads="1" noChangeShapeType="1" noTextEdit="1"/>
              </p:cNvSpPr>
              <p:nvPr>
                <p:custDataLst>
                  <p:tags r:id="rId24"/>
                </p:custDataLst>
              </p:nvPr>
            </p:nvSpPr>
            <p:spPr>
              <a:xfrm>
                <a:off x="8808720" y="3504565"/>
                <a:ext cx="2912110" cy="394970"/>
              </a:xfrm>
              <a:prstGeom prst="rect">
                <a:avLst/>
              </a:prstGeom>
              <a:blipFill rotWithShape="1">
                <a:blip r:embed="rId2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9" name="矩形 48"/>
              <p:cNvSpPr/>
              <p:nvPr/>
            </p:nvSpPr>
            <p:spPr>
              <a:xfrm>
                <a:off x="8698230" y="887095"/>
                <a:ext cx="3144520" cy="514985"/>
              </a:xfrm>
              <a:prstGeom prst="rect">
                <a:avLst/>
              </a:prstGeom>
            </p:spPr>
            <p:style>
              <a:lnRef idx="2">
                <a:schemeClr val="accent1"/>
              </a:lnRef>
              <a:fillRef idx="2">
                <a:schemeClr val="accent1"/>
              </a:fillRef>
              <a:effectRef idx="0">
                <a:srgbClr val="FFFFFF"/>
              </a:effectRef>
              <a:fontRef idx="minor">
                <a:schemeClr val="lt1"/>
              </a:fontRef>
            </p:style>
            <p:txBody>
              <a:bodyPr rtlCol="0" anchor="ctr"/>
              <a:p>
                <a:pPr algn="ctr"/>
                <a:r>
                  <a:rPr lang="en-US" altLang="zh-CN" b="1"/>
                  <a:t>Gini=1-[p</a:t>
                </a:r>
                <a14:m>
                  <m:oMath xmlns:m="http://schemas.openxmlformats.org/officeDocument/2006/math">
                    <m:sSup>
                      <m:sSupPr>
                        <m:ctrlPr>
                          <a:rPr lang="en-US" altLang="zh-CN" b="1"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m:t>
                        </m:r>
                        <m:r>
                          <a:rPr lang="zh-CN" altLang="en-US" b="1" i="1">
                            <a:latin typeface="Cambria Math" panose="02040503050406030204" pitchFamily="18" charset="0"/>
                            <a:ea typeface="MS Mincho" charset="0"/>
                            <a:cs typeface="Cambria Math" panose="02040503050406030204" pitchFamily="18" charset="0"/>
                          </a:rPr>
                          <m:t>批准</m:t>
                        </m:r>
                        <m:r>
                          <a:rPr lang="en-US" altLang="zh-CN" b="1" i="1">
                            <a:latin typeface="Cambria Math" panose="02040503050406030204" pitchFamily="18" charset="0"/>
                            <a:cs typeface="Cambria Math" panose="02040503050406030204" pitchFamily="18" charset="0"/>
                          </a:rPr>
                          <m:t>)</m:t>
                        </m:r>
                      </m:e>
                      <m:sup>
                        <m:r>
                          <a:rPr lang="en-US" altLang="zh-CN" b="1" i="1">
                            <a:latin typeface="Cambria Math" panose="02040503050406030204" pitchFamily="18" charset="0"/>
                            <a:cs typeface="Cambria Math" panose="02040503050406030204" pitchFamily="18" charset="0"/>
                          </a:rPr>
                          <m:t>𝟐</m:t>
                        </m:r>
                      </m:sup>
                    </m:sSup>
                  </m:oMath>
                </a14:m>
                <a:r>
                  <a:rPr lang="en-US" altLang="zh-CN" b="1"/>
                  <a:t>+p</a:t>
                </a:r>
                <a14:m>
                  <m:oMath xmlns:m="http://schemas.openxmlformats.org/officeDocument/2006/math">
                    <m:sSup>
                      <m:sSupPr>
                        <m:ctrlPr>
                          <a:rPr lang="en-US" altLang="zh-CN" b="1"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m:t>
                        </m:r>
                        <m:r>
                          <a:rPr lang="zh-CN" altLang="en-US" b="1" i="1">
                            <a:latin typeface="Cambria Math" panose="02040503050406030204" pitchFamily="18" charset="0"/>
                            <a:ea typeface="MS Mincho" charset="0"/>
                            <a:cs typeface="Cambria Math" panose="02040503050406030204" pitchFamily="18" charset="0"/>
                          </a:rPr>
                          <m:t>拒绝</m:t>
                        </m:r>
                        <m:r>
                          <a:rPr lang="en-US" altLang="zh-CN" b="1" i="1">
                            <a:latin typeface="Cambria Math" panose="02040503050406030204" pitchFamily="18" charset="0"/>
                            <a:cs typeface="Cambria Math" panose="02040503050406030204" pitchFamily="18" charset="0"/>
                          </a:rPr>
                          <m:t>)</m:t>
                        </m:r>
                      </m:e>
                      <m:sup>
                        <m:r>
                          <a:rPr lang="en-US" altLang="zh-CN" b="1" i="1">
                            <a:latin typeface="Cambria Math" panose="02040503050406030204" pitchFamily="18" charset="0"/>
                            <a:cs typeface="Cambria Math" panose="02040503050406030204" pitchFamily="18" charset="0"/>
                          </a:rPr>
                          <m:t>𝟐</m:t>
                        </m:r>
                      </m:sup>
                    </m:sSup>
                  </m:oMath>
                </a14:m>
                <a:r>
                  <a:rPr lang="en-US" altLang="zh-CN" b="1"/>
                  <a:t>]</a:t>
                </a:r>
                <a:endParaRPr lang="en-US" altLang="zh-CN" b="1"/>
              </a:p>
            </p:txBody>
          </p:sp>
        </mc:Choice>
        <mc:Fallback>
          <p:sp>
            <p:nvSpPr>
              <p:cNvPr id="49" name="矩形 48"/>
              <p:cNvSpPr>
                <a:spLocks noRot="1" noChangeAspect="1" noMove="1" noResize="1" noEditPoints="1" noAdjustHandles="1" noChangeArrowheads="1" noChangeShapeType="1" noTextEdit="1"/>
              </p:cNvSpPr>
              <p:nvPr/>
            </p:nvSpPr>
            <p:spPr>
              <a:xfrm>
                <a:off x="8698230" y="887095"/>
                <a:ext cx="3144520" cy="514985"/>
              </a:xfrm>
              <a:prstGeom prst="rect">
                <a:avLst/>
              </a:prstGeom>
              <a:blipFill rotWithShape="1">
                <a:blip r:embed="rId26"/>
                <a:stretch>
                  <a:fillRect l="-202" t="-1233" r="-202" b="-1233"/>
                </a:stretch>
              </a:blipFill>
            </p:spPr>
            <p:style>
              <a:lnRef idx="2">
                <a:schemeClr val="accent1"/>
              </a:lnRef>
              <a:fillRef idx="2">
                <a:schemeClr val="accent1"/>
              </a:fillRef>
              <a:effectRef idx="0">
                <a:srgbClr val="FFFFFF"/>
              </a:effectRef>
              <a:fontRef idx="minor">
                <a:schemeClr val="lt1"/>
              </a:fontRef>
            </p:style>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custDataLst>
              <p:tags r:id="rId1"/>
            </p:custDataLst>
          </p:nvPr>
        </p:nvSpPr>
        <p:spPr>
          <a:xfrm>
            <a:off x="376555" y="302260"/>
            <a:ext cx="2547352" cy="398780"/>
          </a:xfrm>
          <a:prstGeom prst="rect">
            <a:avLst/>
          </a:prstGeom>
          <a:noFill/>
        </p:spPr>
        <p:txBody>
          <a:bodyPr wrap="square" rtlCol="0">
            <a:spAutoFit/>
          </a:bodyPr>
          <a:lstStyle>
            <a:defPPr>
              <a:defRPr lang="zh-CN"/>
            </a:defPPr>
            <a:lvl1pPr algn="ctr">
              <a:lnSpc>
                <a:spcPct val="150000"/>
              </a:lnSpc>
              <a:defRPr sz="1600" b="1">
                <a:solidFill>
                  <a:srgbClr val="020202"/>
                </a:solidFill>
                <a:latin typeface="Noto Sans S Chinese Light" panose="020B0300000000000000" pitchFamily="34" charset="-122"/>
                <a:ea typeface="Noto Sans S Chinese Light" panose="020B0300000000000000" pitchFamily="34" charset="-122"/>
                <a:cs typeface="Calibri" panose="020F0502020204030204" charset="0"/>
              </a:defRPr>
            </a:lvl1pPr>
          </a:lstStyle>
          <a:p>
            <a:pPr algn="l">
              <a:lnSpc>
                <a:spcPct val="100000"/>
              </a:lnSpc>
            </a:pPr>
            <a:r>
              <a:rPr lang="zh-CN" altLang="en-US" sz="2000" dirty="0">
                <a:solidFill>
                  <a:srgbClr val="6FB4BD"/>
                </a:solidFill>
              </a:rPr>
              <a:t>三、</a:t>
            </a:r>
            <a:r>
              <a:rPr lang="zh-CN" altLang="en-US" sz="2000" dirty="0">
                <a:solidFill>
                  <a:srgbClr val="61ADB7"/>
                </a:solidFill>
                <a:sym typeface="+mn-ea"/>
              </a:rPr>
              <a:t>构建一</a:t>
            </a:r>
            <a:r>
              <a:rPr lang="zh-CN" altLang="en-US" sz="2000" dirty="0">
                <a:solidFill>
                  <a:srgbClr val="61ADB7"/>
                </a:solidFill>
                <a:sym typeface="+mn-ea"/>
              </a:rPr>
              <a:t>棵决策树</a:t>
            </a:r>
            <a:r>
              <a:rPr lang="zh-CN" altLang="en-US" sz="2000" dirty="0">
                <a:solidFill>
                  <a:srgbClr val="6FB4BD"/>
                </a:solidFill>
              </a:rPr>
              <a:t>：</a:t>
            </a:r>
            <a:endParaRPr lang="zh-CN" altLang="en-US" sz="2000" dirty="0">
              <a:solidFill>
                <a:srgbClr val="6FB4BD"/>
              </a:solidFill>
            </a:endParaRPr>
          </a:p>
        </p:txBody>
      </p:sp>
      <p:pic>
        <p:nvPicPr>
          <p:cNvPr id="3" name="图片 2"/>
          <p:cNvPicPr>
            <a:picLocks noChangeAspect="1"/>
          </p:cNvPicPr>
          <p:nvPr/>
        </p:nvPicPr>
        <p:blipFill>
          <a:blip r:embed="rId2"/>
          <a:srcRect l="1954" r="51477"/>
          <a:stretch>
            <a:fillRect/>
          </a:stretch>
        </p:blipFill>
        <p:spPr>
          <a:xfrm>
            <a:off x="376555" y="804545"/>
            <a:ext cx="4743450" cy="5247640"/>
          </a:xfrm>
          <a:prstGeom prst="rect">
            <a:avLst/>
          </a:prstGeom>
        </p:spPr>
      </p:pic>
      <p:pic>
        <p:nvPicPr>
          <p:cNvPr id="4" name="图片 3"/>
          <p:cNvPicPr>
            <a:picLocks noChangeAspect="1"/>
          </p:cNvPicPr>
          <p:nvPr/>
        </p:nvPicPr>
        <p:blipFill>
          <a:blip r:embed="rId3"/>
          <a:srcRect b="71495"/>
          <a:stretch>
            <a:fillRect/>
          </a:stretch>
        </p:blipFill>
        <p:spPr>
          <a:xfrm>
            <a:off x="5738495" y="361315"/>
            <a:ext cx="5952490" cy="1628140"/>
          </a:xfrm>
          <a:prstGeom prst="rect">
            <a:avLst/>
          </a:prstGeom>
        </p:spPr>
      </p:pic>
      <p:sp>
        <p:nvSpPr>
          <p:cNvPr id="5" name="矩形 4"/>
          <p:cNvSpPr/>
          <p:nvPr/>
        </p:nvSpPr>
        <p:spPr>
          <a:xfrm>
            <a:off x="4052570" y="1042670"/>
            <a:ext cx="935355" cy="4899660"/>
          </a:xfrm>
          <a:prstGeom prst="rect">
            <a:avLst/>
          </a:prstGeom>
          <a:ln>
            <a:solidFill>
              <a:srgbClr val="FF0000"/>
            </a:solidFill>
          </a:ln>
        </p:spPr>
        <p:style>
          <a:lnRef idx="3">
            <a:schemeClr val="accent1"/>
          </a:lnRef>
          <a:fillRef idx="0">
            <a:srgbClr val="FFFFFF"/>
          </a:fillRef>
          <a:effectRef idx="0">
            <a:srgbClr val="FFFFFF"/>
          </a:effectRef>
          <a:fontRef idx="minor">
            <a:schemeClr val="dk1"/>
          </a:fontRef>
        </p:style>
        <p:txBody>
          <a:bodyPr rtlCol="0" anchor="ctr"/>
          <a:p>
            <a:pPr algn="ctr"/>
            <a:endParaRPr lang="zh-CN" altLang="en-US"/>
          </a:p>
        </p:txBody>
      </p:sp>
      <p:pic>
        <p:nvPicPr>
          <p:cNvPr id="6" name="图片 5"/>
          <p:cNvPicPr>
            <a:picLocks noChangeAspect="1"/>
          </p:cNvPicPr>
          <p:nvPr/>
        </p:nvPicPr>
        <p:blipFill>
          <a:blip r:embed="rId3"/>
          <a:srcRect t="28505" b="58054"/>
          <a:stretch>
            <a:fillRect/>
          </a:stretch>
        </p:blipFill>
        <p:spPr>
          <a:xfrm>
            <a:off x="5738495" y="2098040"/>
            <a:ext cx="5952490" cy="767715"/>
          </a:xfrm>
          <a:prstGeom prst="rect">
            <a:avLst/>
          </a:prstGeom>
        </p:spPr>
      </p:pic>
      <p:sp>
        <p:nvSpPr>
          <p:cNvPr id="7" name="矩形 6"/>
          <p:cNvSpPr/>
          <p:nvPr/>
        </p:nvSpPr>
        <p:spPr>
          <a:xfrm>
            <a:off x="1369695" y="2050415"/>
            <a:ext cx="3399790" cy="577850"/>
          </a:xfrm>
          <a:prstGeom prst="rect">
            <a:avLst/>
          </a:prstGeom>
          <a:ln>
            <a:solidFill>
              <a:srgbClr val="FF0000"/>
            </a:solidFill>
          </a:ln>
        </p:spPr>
        <p:style>
          <a:lnRef idx="3">
            <a:schemeClr val="accent1"/>
          </a:lnRef>
          <a:fillRef idx="0">
            <a:srgbClr val="FFFFFF"/>
          </a:fillRef>
          <a:effectRef idx="0">
            <a:srgbClr val="FFFFFF"/>
          </a:effectRef>
          <a:fontRef idx="minor">
            <a:schemeClr val="dk1"/>
          </a:fontRef>
        </p:style>
        <p:txBody>
          <a:bodyPr rtlCol="0" anchor="ctr"/>
          <a:p>
            <a:pPr algn="ctr"/>
            <a:endParaRPr lang="zh-CN" altLang="en-US"/>
          </a:p>
        </p:txBody>
      </p:sp>
      <p:sp>
        <p:nvSpPr>
          <p:cNvPr id="10" name="矩形 9"/>
          <p:cNvSpPr/>
          <p:nvPr/>
        </p:nvSpPr>
        <p:spPr>
          <a:xfrm>
            <a:off x="1369695" y="3517900"/>
            <a:ext cx="3399790" cy="295910"/>
          </a:xfrm>
          <a:prstGeom prst="rect">
            <a:avLst/>
          </a:prstGeom>
          <a:ln>
            <a:solidFill>
              <a:srgbClr val="FF0000"/>
            </a:solidFill>
          </a:ln>
        </p:spPr>
        <p:style>
          <a:lnRef idx="3">
            <a:schemeClr val="accent1"/>
          </a:lnRef>
          <a:fillRef idx="0">
            <a:srgbClr val="FFFFFF"/>
          </a:fillRef>
          <a:effectRef idx="0">
            <a:srgbClr val="FFFFFF"/>
          </a:effectRef>
          <a:fontRef idx="minor">
            <a:schemeClr val="dk1"/>
          </a:fontRef>
        </p:style>
        <p:txBody>
          <a:bodyPr rtlCol="0" anchor="ctr"/>
          <a:p>
            <a:pPr algn="ctr"/>
            <a:endParaRPr lang="zh-CN" altLang="en-US"/>
          </a:p>
        </p:txBody>
      </p:sp>
      <p:sp>
        <p:nvSpPr>
          <p:cNvPr id="11" name="矩形 10"/>
          <p:cNvSpPr/>
          <p:nvPr/>
        </p:nvSpPr>
        <p:spPr>
          <a:xfrm>
            <a:off x="1369695" y="4992370"/>
            <a:ext cx="3399790" cy="577850"/>
          </a:xfrm>
          <a:prstGeom prst="rect">
            <a:avLst/>
          </a:prstGeom>
          <a:ln>
            <a:solidFill>
              <a:srgbClr val="FF0000"/>
            </a:solidFill>
          </a:ln>
        </p:spPr>
        <p:style>
          <a:lnRef idx="3">
            <a:schemeClr val="accent1"/>
          </a:lnRef>
          <a:fillRef idx="0">
            <a:srgbClr val="FFFFFF"/>
          </a:fillRef>
          <a:effectRef idx="0">
            <a:srgbClr val="FFFFFF"/>
          </a:effectRef>
          <a:fontRef idx="minor">
            <a:schemeClr val="dk1"/>
          </a:fontRef>
        </p:style>
        <p:txBody>
          <a:bodyPr rtlCol="0" anchor="ctr"/>
          <a:p>
            <a:pPr algn="ctr"/>
            <a:endParaRPr lang="zh-CN" altLang="en-US"/>
          </a:p>
        </p:txBody>
      </p:sp>
      <p:pic>
        <p:nvPicPr>
          <p:cNvPr id="12" name="图片 11"/>
          <p:cNvPicPr>
            <a:picLocks noChangeAspect="1"/>
          </p:cNvPicPr>
          <p:nvPr/>
        </p:nvPicPr>
        <p:blipFill>
          <a:blip r:embed="rId3"/>
          <a:srcRect t="41946" b="45347"/>
          <a:stretch>
            <a:fillRect/>
          </a:stretch>
        </p:blipFill>
        <p:spPr>
          <a:xfrm>
            <a:off x="5738495" y="2917190"/>
            <a:ext cx="5952490" cy="725805"/>
          </a:xfrm>
          <a:prstGeom prst="rect">
            <a:avLst/>
          </a:prstGeom>
        </p:spPr>
      </p:pic>
      <p:pic>
        <p:nvPicPr>
          <p:cNvPr id="14" name="图片 13"/>
          <p:cNvPicPr>
            <a:picLocks noChangeAspect="1"/>
          </p:cNvPicPr>
          <p:nvPr/>
        </p:nvPicPr>
        <p:blipFill>
          <a:blip r:embed="rId3"/>
          <a:srcRect t="54653" b="19033"/>
          <a:stretch>
            <a:fillRect/>
          </a:stretch>
        </p:blipFill>
        <p:spPr>
          <a:xfrm>
            <a:off x="5738495" y="3695065"/>
            <a:ext cx="5952490" cy="1503045"/>
          </a:xfrm>
          <a:prstGeom prst="rect">
            <a:avLst/>
          </a:prstGeom>
        </p:spPr>
      </p:pic>
      <p:sp>
        <p:nvSpPr>
          <p:cNvPr id="15" name="矩形 14"/>
          <p:cNvSpPr/>
          <p:nvPr>
            <p:custDataLst>
              <p:tags r:id="rId4"/>
            </p:custDataLst>
          </p:nvPr>
        </p:nvSpPr>
        <p:spPr>
          <a:xfrm>
            <a:off x="1369695" y="1472565"/>
            <a:ext cx="3399790" cy="577850"/>
          </a:xfrm>
          <a:prstGeom prst="rect">
            <a:avLst/>
          </a:prstGeom>
          <a:ln>
            <a:solidFill>
              <a:srgbClr val="FF0000"/>
            </a:solidFill>
          </a:ln>
        </p:spPr>
        <p:style>
          <a:lnRef idx="3">
            <a:schemeClr val="accent1"/>
          </a:lnRef>
          <a:fillRef idx="0">
            <a:srgbClr val="FFFFFF"/>
          </a:fillRef>
          <a:effectRef idx="0">
            <a:srgbClr val="FFFFFF"/>
          </a:effectRef>
          <a:fontRef idx="minor">
            <a:schemeClr val="dk1"/>
          </a:fontRef>
        </p:style>
        <p:txBody>
          <a:bodyPr rtlCol="0" anchor="ctr"/>
          <a:p>
            <a:pPr algn="ctr"/>
            <a:endParaRPr lang="zh-CN" altLang="en-US"/>
          </a:p>
        </p:txBody>
      </p:sp>
      <p:sp>
        <p:nvSpPr>
          <p:cNvPr id="16" name="矩形 15"/>
          <p:cNvSpPr/>
          <p:nvPr>
            <p:custDataLst>
              <p:tags r:id="rId5"/>
            </p:custDataLst>
          </p:nvPr>
        </p:nvSpPr>
        <p:spPr>
          <a:xfrm>
            <a:off x="1369695" y="2628265"/>
            <a:ext cx="3399790" cy="885190"/>
          </a:xfrm>
          <a:prstGeom prst="rect">
            <a:avLst/>
          </a:prstGeom>
          <a:ln>
            <a:solidFill>
              <a:srgbClr val="FF0000"/>
            </a:solidFill>
          </a:ln>
        </p:spPr>
        <p:style>
          <a:lnRef idx="3">
            <a:schemeClr val="accent1"/>
          </a:lnRef>
          <a:fillRef idx="0">
            <a:srgbClr val="FFFFFF"/>
          </a:fillRef>
          <a:effectRef idx="0">
            <a:srgbClr val="FFFFFF"/>
          </a:effectRef>
          <a:fontRef idx="minor">
            <a:schemeClr val="dk1"/>
          </a:fontRef>
        </p:style>
        <p:txBody>
          <a:bodyPr rtlCol="0" anchor="ctr"/>
          <a:p>
            <a:pPr algn="ctr"/>
            <a:endParaRPr lang="zh-CN" altLang="en-US"/>
          </a:p>
        </p:txBody>
      </p:sp>
      <p:sp>
        <p:nvSpPr>
          <p:cNvPr id="17" name="矩形 16"/>
          <p:cNvSpPr/>
          <p:nvPr>
            <p:custDataLst>
              <p:tags r:id="rId6"/>
            </p:custDataLst>
          </p:nvPr>
        </p:nvSpPr>
        <p:spPr>
          <a:xfrm>
            <a:off x="1369695" y="3818255"/>
            <a:ext cx="3399790" cy="1162685"/>
          </a:xfrm>
          <a:prstGeom prst="rect">
            <a:avLst/>
          </a:prstGeom>
          <a:ln>
            <a:solidFill>
              <a:srgbClr val="FF0000"/>
            </a:solidFill>
          </a:ln>
        </p:spPr>
        <p:style>
          <a:lnRef idx="3">
            <a:schemeClr val="accent1"/>
          </a:lnRef>
          <a:fillRef idx="0">
            <a:srgbClr val="FFFFFF"/>
          </a:fillRef>
          <a:effectRef idx="0">
            <a:srgbClr val="FFFFFF"/>
          </a:effectRef>
          <a:fontRef idx="minor">
            <a:schemeClr val="dk1"/>
          </a:fontRef>
        </p:style>
        <p:txBody>
          <a:bodyPr rtlCol="0" anchor="ctr"/>
          <a:p>
            <a:pPr algn="ctr"/>
            <a:endParaRPr lang="zh-CN" altLang="en-US"/>
          </a:p>
        </p:txBody>
      </p:sp>
      <p:sp>
        <p:nvSpPr>
          <p:cNvPr id="18" name="矩形 17"/>
          <p:cNvSpPr/>
          <p:nvPr>
            <p:custDataLst>
              <p:tags r:id="rId7"/>
            </p:custDataLst>
          </p:nvPr>
        </p:nvSpPr>
        <p:spPr>
          <a:xfrm>
            <a:off x="1369695" y="5570220"/>
            <a:ext cx="3399790" cy="300355"/>
          </a:xfrm>
          <a:prstGeom prst="rect">
            <a:avLst/>
          </a:prstGeom>
          <a:ln>
            <a:solidFill>
              <a:srgbClr val="FF0000"/>
            </a:solidFill>
          </a:ln>
        </p:spPr>
        <p:style>
          <a:lnRef idx="3">
            <a:schemeClr val="accent1"/>
          </a:lnRef>
          <a:fillRef idx="0">
            <a:srgbClr val="FFFFFF"/>
          </a:fillRef>
          <a:effectRef idx="0">
            <a:srgbClr val="FFFFFF"/>
          </a:effectRef>
          <a:fontRef idx="minor">
            <a:schemeClr val="dk1"/>
          </a:fontRef>
        </p:style>
        <p:txBody>
          <a:bodyPr rtlCol="0" anchor="ctr"/>
          <a:p>
            <a:pPr algn="ctr"/>
            <a:endParaRPr lang="zh-CN" altLang="en-US"/>
          </a:p>
        </p:txBody>
      </p:sp>
      <p:pic>
        <p:nvPicPr>
          <p:cNvPr id="19" name="图片 18"/>
          <p:cNvPicPr>
            <a:picLocks noChangeAspect="1"/>
          </p:cNvPicPr>
          <p:nvPr/>
        </p:nvPicPr>
        <p:blipFill>
          <a:blip r:embed="rId3"/>
          <a:srcRect t="80978"/>
          <a:stretch>
            <a:fillRect/>
          </a:stretch>
        </p:blipFill>
        <p:spPr>
          <a:xfrm>
            <a:off x="5738495" y="5324475"/>
            <a:ext cx="5952490" cy="10864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subTnLst>
                                    <p:set>
                                      <p:cBhvr override="childStyle">
                                        <p:cTn dur="65" fill="hold" display="1" masterRel="nextClick" afterEffect="1"/>
                                        <p:tgtEl>
                                          <p:spTgt spid="5"/>
                                        </p:tgtEl>
                                        <p:attrNameLst>
                                          <p:attrName>style.visibility</p:attrName>
                                        </p:attrNameLst>
                                      </p:cBhvr>
                                      <p:to>
                                        <p:strVal val="hidden"/>
                                      </p:to>
                                    </p:set>
                                  </p:sub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subTnLst>
                                    <p:set>
                                      <p:cBhvr override="childStyle">
                                        <p:cTn dur="65" fill="hold" display="1" masterRel="nextClick" afterEffect="1"/>
                                        <p:tgtEl>
                                          <p:spTgt spid="7"/>
                                        </p:tgtEl>
                                        <p:attrNameLst>
                                          <p:attrName>style.visibility</p:attrName>
                                        </p:attrNameLst>
                                      </p:cBhvr>
                                      <p:to>
                                        <p:strVal val="hidden"/>
                                      </p:to>
                                    </p:set>
                                  </p:sub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subTnLst>
                                    <p:set>
                                      <p:cBhvr override="childStyle">
                                        <p:cTn dur="65" fill="hold" display="1" masterRel="nextClick" afterEffect="1"/>
                                        <p:tgtEl>
                                          <p:spTgt spid="10"/>
                                        </p:tgtEl>
                                        <p:attrNameLst>
                                          <p:attrName>style.visibility</p:attrName>
                                        </p:attrNameLst>
                                      </p:cBhvr>
                                      <p:to>
                                        <p:strVal val="hidden"/>
                                      </p:to>
                                    </p:set>
                                  </p:sub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subTnLst>
                                    <p:set>
                                      <p:cBhvr override="childStyle">
                                        <p:cTn dur="65" fill="hold" display="1" masterRel="nextClick" afterEffect="1"/>
                                        <p:tgtEl>
                                          <p:spTgt spid="11"/>
                                        </p:tgtEl>
                                        <p:attrNameLst>
                                          <p:attrName>style.visibility</p:attrName>
                                        </p:attrNameLst>
                                      </p:cBhvr>
                                      <p:to>
                                        <p:strVal val="hidden"/>
                                      </p:to>
                                    </p:set>
                                  </p:sub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subTnLst>
                                    <p:set>
                                      <p:cBhvr override="childStyle">
                                        <p:cTn dur="65" fill="hold" display="1" masterRel="nextClick" afterEffect="1"/>
                                        <p:tgtEl>
                                          <p:spTgt spid="15"/>
                                        </p:tgtEl>
                                        <p:attrNameLst>
                                          <p:attrName>style.visibility</p:attrName>
                                        </p:attrNameLst>
                                      </p:cBhvr>
                                      <p:to>
                                        <p:strVal val="hidden"/>
                                      </p:to>
                                    </p:set>
                                  </p:sub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subTnLst>
                                    <p:set>
                                      <p:cBhvr override="childStyle">
                                        <p:cTn dur="65" fill="hold" display="1" masterRel="nextClick" afterEffect="1"/>
                                        <p:tgtEl>
                                          <p:spTgt spid="16"/>
                                        </p:tgtEl>
                                        <p:attrNameLst>
                                          <p:attrName>style.visibility</p:attrName>
                                        </p:attrNameLst>
                                      </p:cBhvr>
                                      <p:to>
                                        <p:strVal val="hidden"/>
                                      </p:to>
                                    </p:set>
                                  </p:sub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subTnLst>
                                    <p:set>
                                      <p:cBhvr override="childStyle">
                                        <p:cTn dur="65" fill="hold" display="1" masterRel="nextClick" afterEffect="1"/>
                                        <p:tgtEl>
                                          <p:spTgt spid="17"/>
                                        </p:tgtEl>
                                        <p:attrNameLst>
                                          <p:attrName>style.visibility</p:attrName>
                                        </p:attrNameLst>
                                      </p:cBhvr>
                                      <p:to>
                                        <p:strVal val="hidden"/>
                                      </p:to>
                                    </p:set>
                                  </p:sub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subTnLst>
                                    <p:set>
                                      <p:cBhvr override="childStyle">
                                        <p:cTn dur="65" fill="hold" display="1" masterRel="nextClick" afterEffect="1"/>
                                        <p:tgtEl>
                                          <p:spTgt spid="18"/>
                                        </p:tgtEl>
                                        <p:attrNameLst>
                                          <p:attrName>style.visibility</p:attrName>
                                        </p:attrNameLst>
                                      </p:cBhvr>
                                      <p:to>
                                        <p:strVal val="hidden"/>
                                      </p:to>
                                    </p:set>
                                  </p:sub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7" grpId="0" bldLvl="0" animBg="1"/>
      <p:bldP spid="7" grpId="1" animBg="1"/>
      <p:bldP spid="10" grpId="0" bldLvl="0" animBg="1"/>
      <p:bldP spid="10" grpId="1" animBg="1"/>
      <p:bldP spid="11" grpId="0" bldLvl="0" animBg="1"/>
      <p:bldP spid="11" grpId="1" animBg="1"/>
      <p:bldP spid="15" grpId="0" bldLvl="0" animBg="1"/>
      <p:bldP spid="15" grpId="1" animBg="1"/>
      <p:bldP spid="16" grpId="0" bldLvl="0" animBg="1"/>
      <p:bldP spid="16" grpId="1" animBg="1"/>
      <p:bldP spid="17" grpId="0" bldLvl="0" animBg="1"/>
      <p:bldP spid="17" grpId="1" animBg="1"/>
      <p:bldP spid="18" grpId="0" bldLvl="0" animBg="1"/>
      <p:bldP spid="18"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custDataLst>
              <p:tags r:id="rId1"/>
            </p:custDataLst>
          </p:nvPr>
        </p:nvSpPr>
        <p:spPr>
          <a:xfrm>
            <a:off x="376555" y="302260"/>
            <a:ext cx="2547352" cy="398780"/>
          </a:xfrm>
          <a:prstGeom prst="rect">
            <a:avLst/>
          </a:prstGeom>
          <a:noFill/>
        </p:spPr>
        <p:txBody>
          <a:bodyPr wrap="square" rtlCol="0">
            <a:spAutoFit/>
          </a:bodyPr>
          <a:lstStyle>
            <a:defPPr>
              <a:defRPr lang="zh-CN"/>
            </a:defPPr>
            <a:lvl1pPr algn="ctr">
              <a:lnSpc>
                <a:spcPct val="150000"/>
              </a:lnSpc>
              <a:defRPr sz="1600" b="1">
                <a:solidFill>
                  <a:srgbClr val="020202"/>
                </a:solidFill>
                <a:latin typeface="Noto Sans S Chinese Light" panose="020B0300000000000000" pitchFamily="34" charset="-122"/>
                <a:ea typeface="Noto Sans S Chinese Light" panose="020B0300000000000000" pitchFamily="34" charset="-122"/>
                <a:cs typeface="Calibri" panose="020F0502020204030204" charset="0"/>
              </a:defRPr>
            </a:lvl1pPr>
          </a:lstStyle>
          <a:p>
            <a:pPr algn="l">
              <a:lnSpc>
                <a:spcPct val="100000"/>
              </a:lnSpc>
            </a:pPr>
            <a:r>
              <a:rPr lang="zh-CN" altLang="en-US" sz="2000" dirty="0">
                <a:solidFill>
                  <a:srgbClr val="6FB4BD"/>
                </a:solidFill>
              </a:rPr>
              <a:t>三、</a:t>
            </a:r>
            <a:r>
              <a:rPr lang="zh-CN" altLang="en-US" sz="2000" dirty="0">
                <a:solidFill>
                  <a:srgbClr val="61ADB7"/>
                </a:solidFill>
                <a:sym typeface="+mn-ea"/>
              </a:rPr>
              <a:t>构建一</a:t>
            </a:r>
            <a:r>
              <a:rPr lang="zh-CN" altLang="en-US" sz="2000" dirty="0">
                <a:solidFill>
                  <a:srgbClr val="61ADB7"/>
                </a:solidFill>
                <a:sym typeface="+mn-ea"/>
              </a:rPr>
              <a:t>棵决策树</a:t>
            </a:r>
            <a:r>
              <a:rPr lang="zh-CN" altLang="en-US" sz="2000" dirty="0">
                <a:solidFill>
                  <a:srgbClr val="6FB4BD"/>
                </a:solidFill>
              </a:rPr>
              <a:t>：</a:t>
            </a:r>
            <a:endParaRPr lang="zh-CN" altLang="en-US" sz="2000" dirty="0">
              <a:solidFill>
                <a:srgbClr val="6FB4BD"/>
              </a:solidFill>
            </a:endParaRPr>
          </a:p>
        </p:txBody>
      </p:sp>
      <p:pic>
        <p:nvPicPr>
          <p:cNvPr id="3" name="图片 2"/>
          <p:cNvPicPr>
            <a:picLocks noChangeAspect="1"/>
          </p:cNvPicPr>
          <p:nvPr/>
        </p:nvPicPr>
        <p:blipFill>
          <a:blip r:embed="rId2"/>
          <a:srcRect l="1954" r="51477"/>
          <a:stretch>
            <a:fillRect/>
          </a:stretch>
        </p:blipFill>
        <p:spPr>
          <a:xfrm>
            <a:off x="376555" y="804545"/>
            <a:ext cx="4743450" cy="5247640"/>
          </a:xfrm>
          <a:prstGeom prst="rect">
            <a:avLst/>
          </a:prstGeom>
        </p:spPr>
      </p:pic>
      <p:sp>
        <p:nvSpPr>
          <p:cNvPr id="15" name="矩形 14"/>
          <p:cNvSpPr/>
          <p:nvPr/>
        </p:nvSpPr>
        <p:spPr>
          <a:xfrm>
            <a:off x="1369695" y="1472565"/>
            <a:ext cx="3399790" cy="873125"/>
          </a:xfrm>
          <a:prstGeom prst="rect">
            <a:avLst/>
          </a:prstGeom>
          <a:ln>
            <a:solidFill>
              <a:srgbClr val="FFFF00"/>
            </a:solidFill>
          </a:ln>
        </p:spPr>
        <p:style>
          <a:lnRef idx="3">
            <a:schemeClr val="accent1"/>
          </a:lnRef>
          <a:fillRef idx="0">
            <a:srgbClr val="FFFFFF"/>
          </a:fillRef>
          <a:effectRef idx="0">
            <a:srgbClr val="FFFFFF"/>
          </a:effectRef>
          <a:fontRef idx="minor">
            <a:schemeClr val="dk1"/>
          </a:fontRef>
        </p:style>
        <p:txBody>
          <a:bodyPr rtlCol="0" anchor="ctr"/>
          <a:p>
            <a:pPr algn="ctr"/>
            <a:endParaRPr lang="zh-CN" altLang="en-US"/>
          </a:p>
        </p:txBody>
      </p:sp>
      <p:sp>
        <p:nvSpPr>
          <p:cNvPr id="16" name="矩形 15"/>
          <p:cNvSpPr/>
          <p:nvPr/>
        </p:nvSpPr>
        <p:spPr>
          <a:xfrm>
            <a:off x="1369695" y="2628265"/>
            <a:ext cx="3399790" cy="885190"/>
          </a:xfrm>
          <a:prstGeom prst="rect">
            <a:avLst/>
          </a:prstGeom>
          <a:ln>
            <a:solidFill>
              <a:srgbClr val="FFFF00"/>
            </a:solidFill>
          </a:ln>
        </p:spPr>
        <p:style>
          <a:lnRef idx="3">
            <a:schemeClr val="accent1"/>
          </a:lnRef>
          <a:fillRef idx="0">
            <a:srgbClr val="FFFFFF"/>
          </a:fillRef>
          <a:effectRef idx="0">
            <a:srgbClr val="FFFFFF"/>
          </a:effectRef>
          <a:fontRef idx="minor">
            <a:schemeClr val="dk1"/>
          </a:fontRef>
        </p:style>
        <p:txBody>
          <a:bodyPr rtlCol="0" anchor="ctr"/>
          <a:p>
            <a:pPr algn="ctr"/>
            <a:endParaRPr lang="zh-CN" altLang="en-US"/>
          </a:p>
        </p:txBody>
      </p:sp>
      <p:sp>
        <p:nvSpPr>
          <p:cNvPr id="18" name="矩形 17"/>
          <p:cNvSpPr/>
          <p:nvPr/>
        </p:nvSpPr>
        <p:spPr>
          <a:xfrm>
            <a:off x="1369695" y="4986020"/>
            <a:ext cx="3399790" cy="884555"/>
          </a:xfrm>
          <a:prstGeom prst="rect">
            <a:avLst/>
          </a:prstGeom>
          <a:ln>
            <a:solidFill>
              <a:srgbClr val="FFFF00"/>
            </a:solidFill>
          </a:ln>
        </p:spPr>
        <p:style>
          <a:lnRef idx="3">
            <a:schemeClr val="accent1"/>
          </a:lnRef>
          <a:fillRef idx="0">
            <a:srgbClr val="FFFFFF"/>
          </a:fillRef>
          <a:effectRef idx="0">
            <a:srgbClr val="FFFFFF"/>
          </a:effectRef>
          <a:fontRef idx="minor">
            <a:schemeClr val="dk1"/>
          </a:fontRef>
        </p:style>
        <p:txBody>
          <a:bodyPr rtlCol="0" anchor="ctr"/>
          <a:p>
            <a:pPr algn="ctr"/>
            <a:endParaRPr lang="zh-CN" altLang="en-US"/>
          </a:p>
        </p:txBody>
      </p:sp>
      <p:pic>
        <p:nvPicPr>
          <p:cNvPr id="2" name="图片 1"/>
          <p:cNvPicPr>
            <a:picLocks noChangeAspect="1"/>
          </p:cNvPicPr>
          <p:nvPr/>
        </p:nvPicPr>
        <p:blipFill>
          <a:blip r:embed="rId3"/>
          <a:stretch>
            <a:fillRect/>
          </a:stretch>
        </p:blipFill>
        <p:spPr>
          <a:xfrm>
            <a:off x="5854065" y="330200"/>
            <a:ext cx="5721350" cy="6197600"/>
          </a:xfrm>
          <a:prstGeom prst="rect">
            <a:avLst/>
          </a:prstGeom>
        </p:spPr>
      </p:pic>
      <p:pic>
        <p:nvPicPr>
          <p:cNvPr id="8" name="图片 7"/>
          <p:cNvPicPr>
            <a:picLocks noChangeAspect="1"/>
          </p:cNvPicPr>
          <p:nvPr/>
        </p:nvPicPr>
        <p:blipFill>
          <a:blip r:embed="rId4"/>
          <a:stretch>
            <a:fillRect/>
          </a:stretch>
        </p:blipFill>
        <p:spPr>
          <a:xfrm>
            <a:off x="6935470" y="1229360"/>
            <a:ext cx="4305300" cy="4724400"/>
          </a:xfrm>
          <a:prstGeom prst="rect">
            <a:avLst/>
          </a:prstGeom>
        </p:spPr>
      </p:pic>
      <p:sp>
        <p:nvSpPr>
          <p:cNvPr id="13" name="矩形 12"/>
          <p:cNvSpPr/>
          <p:nvPr/>
        </p:nvSpPr>
        <p:spPr>
          <a:xfrm>
            <a:off x="6935470" y="1228725"/>
            <a:ext cx="4305935" cy="4725670"/>
          </a:xfrm>
          <a:prstGeom prst="rect">
            <a:avLst/>
          </a:prstGeom>
          <a:ln w="57150" cap="flat" cmpd="sng" algn="ctr">
            <a:solidFill>
              <a:srgbClr val="FF0000"/>
            </a:solidFill>
            <a:prstDash val="dash"/>
            <a:miter lim="800000"/>
          </a:ln>
        </p:spPr>
        <p:style>
          <a:lnRef idx="0">
            <a:schemeClr val="accent1"/>
          </a:lnRef>
          <a:fillRef idx="0">
            <a:srgbClr val="FFFFFF"/>
          </a:fillRef>
          <a:effectRef idx="0">
            <a:srgbClr val="FFFFFF"/>
          </a:effectRef>
          <a:fontRef idx="minor">
            <a:schemeClr val="dk1"/>
          </a:fontRef>
        </p:style>
        <p:txBody>
          <a:bodyPr rtlCol="0" anchor="ctr"/>
          <a:p>
            <a:pPr algn="ctr"/>
            <a:endParaRPr lang="zh-CN" altLang="en-US"/>
          </a:p>
        </p:txBody>
      </p:sp>
      <p:sp>
        <p:nvSpPr>
          <p:cNvPr id="5" name="矩形 4"/>
          <p:cNvSpPr/>
          <p:nvPr/>
        </p:nvSpPr>
        <p:spPr>
          <a:xfrm>
            <a:off x="1369060" y="2371090"/>
            <a:ext cx="3401060" cy="227965"/>
          </a:xfrm>
          <a:prstGeom prst="rect">
            <a:avLst/>
          </a:prstGeom>
          <a:solidFill>
            <a:srgbClr val="30404F"/>
          </a:solidFill>
          <a:ln>
            <a:solidFill>
              <a:srgbClr val="30404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1369695" y="3552190"/>
            <a:ext cx="3401060" cy="1397635"/>
          </a:xfrm>
          <a:prstGeom prst="rect">
            <a:avLst/>
          </a:prstGeom>
          <a:solidFill>
            <a:srgbClr val="30404F"/>
          </a:solidFill>
          <a:ln>
            <a:solidFill>
              <a:srgbClr val="30404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3" grpId="1" animBg="1"/>
      <p:bldP spid="15" grpId="0" bldLvl="0" animBg="1"/>
      <p:bldP spid="15" grpId="1" animBg="1"/>
      <p:bldP spid="16" grpId="0" bldLvl="0" animBg="1"/>
      <p:bldP spid="16" grpId="1" animBg="1"/>
      <p:bldP spid="18" grpId="0" bldLvl="0" animBg="1"/>
      <p:bldP spid="18" grpId="1" animBg="1"/>
      <p:bldP spid="5" grpId="0" bldLvl="0" animBg="1"/>
      <p:bldP spid="5" grpId="1" animBg="1"/>
      <p:bldP spid="6" grpId="0" bldLvl="0" animBg="1"/>
      <p:bldP spid="6"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descr="在地上&#10;&#10;低可信度描述已自动生成"/>
          <p:cNvPicPr>
            <a:picLocks noChangeAspect="1"/>
          </p:cNvPicPr>
          <p:nvPr/>
        </p:nvPicPr>
        <p:blipFill>
          <a:blip r:embed="rId1">
            <a:extLst>
              <a:ext uri="{28A0092B-C50C-407E-A947-70E740481C1C}">
                <a14:useLocalDpi xmlns:a14="http://schemas.microsoft.com/office/drawing/2010/main" val="0"/>
              </a:ext>
            </a:extLst>
          </a:blip>
          <a:srcRect t="18750" b="12524"/>
          <a:stretch>
            <a:fillRect/>
          </a:stretch>
        </p:blipFill>
        <p:spPr>
          <a:xfrm>
            <a:off x="0" y="2832100"/>
            <a:ext cx="12192000" cy="4025900"/>
          </a:xfrm>
          <a:custGeom>
            <a:avLst/>
            <a:gdLst>
              <a:gd name="connsiteX0" fmla="*/ 0 w 12192000"/>
              <a:gd name="connsiteY0" fmla="*/ 0 h 4025900"/>
              <a:gd name="connsiteX1" fmla="*/ 12192000 w 12192000"/>
              <a:gd name="connsiteY1" fmla="*/ 0 h 4025900"/>
              <a:gd name="connsiteX2" fmla="*/ 12192000 w 12192000"/>
              <a:gd name="connsiteY2" fmla="*/ 4025900 h 4025900"/>
              <a:gd name="connsiteX3" fmla="*/ 0 w 12192000"/>
              <a:gd name="connsiteY3" fmla="*/ 4025900 h 4025900"/>
            </a:gdLst>
            <a:ahLst/>
            <a:cxnLst>
              <a:cxn ang="0">
                <a:pos x="connsiteX0" y="connsiteY0"/>
              </a:cxn>
              <a:cxn ang="0">
                <a:pos x="connsiteX1" y="connsiteY1"/>
              </a:cxn>
              <a:cxn ang="0">
                <a:pos x="connsiteX2" y="connsiteY2"/>
              </a:cxn>
              <a:cxn ang="0">
                <a:pos x="connsiteX3" y="connsiteY3"/>
              </a:cxn>
            </a:cxnLst>
            <a:rect l="l" t="t" r="r" b="b"/>
            <a:pathLst>
              <a:path w="12192000" h="4025900">
                <a:moveTo>
                  <a:pt x="0" y="0"/>
                </a:moveTo>
                <a:lnTo>
                  <a:pt x="12192000" y="0"/>
                </a:lnTo>
                <a:lnTo>
                  <a:pt x="12192000" y="4025900"/>
                </a:lnTo>
                <a:lnTo>
                  <a:pt x="0" y="4025900"/>
                </a:lnTo>
                <a:close/>
              </a:path>
            </a:pathLst>
          </a:custGeom>
        </p:spPr>
      </p:pic>
      <p:grpSp>
        <p:nvGrpSpPr>
          <p:cNvPr id="11" name="组合 10"/>
          <p:cNvGrpSpPr/>
          <p:nvPr/>
        </p:nvGrpSpPr>
        <p:grpSpPr>
          <a:xfrm>
            <a:off x="8654472" y="4919080"/>
            <a:ext cx="205919" cy="1189833"/>
            <a:chOff x="3524307" y="3393810"/>
            <a:chExt cx="205919" cy="1189833"/>
          </a:xfrm>
          <a:solidFill>
            <a:srgbClr val="9AC8CE"/>
          </a:solidFill>
        </p:grpSpPr>
        <p:sp>
          <p:nvSpPr>
            <p:cNvPr id="12" name="矩形 11"/>
            <p:cNvSpPr/>
            <p:nvPr/>
          </p:nvSpPr>
          <p:spPr>
            <a:xfrm>
              <a:off x="3629799" y="3393810"/>
              <a:ext cx="100427" cy="118983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rot="16200000">
              <a:off x="3510749" y="3903986"/>
              <a:ext cx="196596" cy="169479"/>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nvGrpSpPr>
        <p:grpSpPr>
          <a:xfrm>
            <a:off x="8876168" y="4919443"/>
            <a:ext cx="193450" cy="1189833"/>
            <a:chOff x="3629798" y="4707353"/>
            <a:chExt cx="193450" cy="1189833"/>
          </a:xfrm>
          <a:solidFill>
            <a:srgbClr val="9AC8CE"/>
          </a:solidFill>
        </p:grpSpPr>
        <p:sp>
          <p:nvSpPr>
            <p:cNvPr id="21" name="矩形 20"/>
            <p:cNvSpPr/>
            <p:nvPr/>
          </p:nvSpPr>
          <p:spPr>
            <a:xfrm>
              <a:off x="3629798" y="4707353"/>
              <a:ext cx="100427" cy="118983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21"/>
            <p:cNvSpPr/>
            <p:nvPr/>
          </p:nvSpPr>
          <p:spPr>
            <a:xfrm rot="5400000">
              <a:off x="3650693" y="5228011"/>
              <a:ext cx="196596" cy="14851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6163937" y="4941240"/>
            <a:ext cx="2435225" cy="1168400"/>
            <a:chOff x="1291001" y="2142258"/>
            <a:chExt cx="2435225" cy="1168400"/>
          </a:xfrm>
        </p:grpSpPr>
        <p:sp>
          <p:nvSpPr>
            <p:cNvPr id="25" name="文本框 24"/>
            <p:cNvSpPr txBox="1"/>
            <p:nvPr/>
          </p:nvSpPr>
          <p:spPr>
            <a:xfrm>
              <a:off x="1307511" y="2388638"/>
              <a:ext cx="2418715" cy="922020"/>
            </a:xfrm>
            <a:prstGeom prst="rect">
              <a:avLst/>
            </a:prstGeom>
            <a:noFill/>
          </p:spPr>
          <p:txBody>
            <a:bodyPr wrap="square" rtlCol="0">
              <a:spAutoFit/>
            </a:bodyPr>
            <a:lstStyle>
              <a:defPPr>
                <a:defRPr lang="zh-CN"/>
              </a:defPPr>
              <a:lvl1pPr algn="ctr">
                <a:lnSpc>
                  <a:spcPct val="150000"/>
                </a:lnSpc>
                <a:defRPr sz="1300">
                  <a:solidFill>
                    <a:schemeClr val="tx1">
                      <a:lumMod val="85000"/>
                      <a:lumOff val="15000"/>
                    </a:schemeClr>
                  </a:solidFill>
                  <a:latin typeface="Noto Sans S Chinese Light" panose="020B0300000000000000" pitchFamily="34" charset="-122"/>
                  <a:ea typeface="Noto Sans S Chinese Light" panose="020B0300000000000000" pitchFamily="34" charset="-122"/>
                  <a:cs typeface="Calibri" panose="020F0502020204030204" charset="0"/>
                </a:defRPr>
              </a:lvl1pPr>
            </a:lstStyle>
            <a:p>
              <a:pPr algn="l"/>
              <a:r>
                <a:rPr lang="zh-CN" altLang="en-US" sz="1800" dirty="0">
                  <a:solidFill>
                    <a:schemeClr val="tx1">
                      <a:lumMod val="75000"/>
                      <a:lumOff val="25000"/>
                    </a:schemeClr>
                  </a:solidFill>
                </a:rPr>
                <a:t>边建立决策树边进行剪枝的操作（更实用）</a:t>
              </a:r>
              <a:endParaRPr lang="zh-CN" altLang="en-US" sz="1800" dirty="0">
                <a:solidFill>
                  <a:schemeClr val="tx1">
                    <a:lumMod val="75000"/>
                    <a:lumOff val="25000"/>
                  </a:schemeClr>
                </a:solidFill>
              </a:endParaRPr>
            </a:p>
          </p:txBody>
        </p:sp>
        <p:sp>
          <p:nvSpPr>
            <p:cNvPr id="28" name="文本框 27"/>
            <p:cNvSpPr txBox="1"/>
            <p:nvPr/>
          </p:nvSpPr>
          <p:spPr>
            <a:xfrm>
              <a:off x="1291001" y="2142258"/>
              <a:ext cx="1936750" cy="398780"/>
            </a:xfrm>
            <a:prstGeom prst="rect">
              <a:avLst/>
            </a:prstGeom>
            <a:noFill/>
          </p:spPr>
          <p:txBody>
            <a:bodyPr wrap="square" rtlCol="0">
              <a:spAutoFit/>
            </a:bodyPr>
            <a:lstStyle>
              <a:defPPr>
                <a:defRPr lang="zh-CN"/>
              </a:defPPr>
              <a:lvl1pPr algn="ctr">
                <a:lnSpc>
                  <a:spcPct val="150000"/>
                </a:lnSpc>
                <a:defRPr sz="1600" b="1">
                  <a:solidFill>
                    <a:srgbClr val="020202"/>
                  </a:solidFill>
                  <a:latin typeface="Noto Sans S Chinese Light" panose="020B0300000000000000" pitchFamily="34" charset="-122"/>
                  <a:ea typeface="Noto Sans S Chinese Light" panose="020B0300000000000000" pitchFamily="34" charset="-122"/>
                  <a:cs typeface="Calibri" panose="020F0502020204030204" charset="0"/>
                </a:defRPr>
              </a:lvl1pPr>
            </a:lstStyle>
            <a:p>
              <a:pPr algn="l">
                <a:lnSpc>
                  <a:spcPct val="100000"/>
                </a:lnSpc>
              </a:pPr>
              <a:r>
                <a:rPr lang="zh-CN" altLang="en-US" sz="2000" dirty="0">
                  <a:solidFill>
                    <a:srgbClr val="6FB4BD"/>
                  </a:solidFill>
                </a:rPr>
                <a:t>①预剪枝</a:t>
              </a:r>
              <a:endParaRPr lang="zh-CN" altLang="en-US" sz="2000" dirty="0">
                <a:solidFill>
                  <a:srgbClr val="6FB4BD"/>
                </a:solidFill>
              </a:endParaRPr>
            </a:p>
          </p:txBody>
        </p:sp>
      </p:grpSp>
      <p:grpSp>
        <p:nvGrpSpPr>
          <p:cNvPr id="32" name="组合 31"/>
          <p:cNvGrpSpPr/>
          <p:nvPr/>
        </p:nvGrpSpPr>
        <p:grpSpPr>
          <a:xfrm>
            <a:off x="9253063" y="4860126"/>
            <a:ext cx="2065941" cy="1248828"/>
            <a:chOff x="1236247" y="2101618"/>
            <a:chExt cx="2065941" cy="1248828"/>
          </a:xfrm>
        </p:grpSpPr>
        <p:sp>
          <p:nvSpPr>
            <p:cNvPr id="33" name="文本框 32"/>
            <p:cNvSpPr txBox="1"/>
            <p:nvPr/>
          </p:nvSpPr>
          <p:spPr>
            <a:xfrm>
              <a:off x="1236247" y="2428426"/>
              <a:ext cx="2065941" cy="922020"/>
            </a:xfrm>
            <a:prstGeom prst="rect">
              <a:avLst/>
            </a:prstGeom>
            <a:noFill/>
          </p:spPr>
          <p:txBody>
            <a:bodyPr wrap="square" rtlCol="0">
              <a:spAutoFit/>
            </a:bodyPr>
            <a:lstStyle>
              <a:defPPr>
                <a:defRPr lang="zh-CN"/>
              </a:defPPr>
              <a:lvl1pPr algn="ctr">
                <a:lnSpc>
                  <a:spcPct val="150000"/>
                </a:lnSpc>
                <a:defRPr sz="1300">
                  <a:solidFill>
                    <a:schemeClr val="tx1">
                      <a:lumMod val="85000"/>
                      <a:lumOff val="15000"/>
                    </a:schemeClr>
                  </a:solidFill>
                  <a:latin typeface="Noto Sans S Chinese Light" panose="020B0300000000000000" pitchFamily="34" charset="-122"/>
                  <a:ea typeface="Noto Sans S Chinese Light" panose="020B0300000000000000" pitchFamily="34" charset="-122"/>
                  <a:cs typeface="Calibri" panose="020F0502020204030204" charset="0"/>
                </a:defRPr>
              </a:lvl1pPr>
            </a:lstStyle>
            <a:p>
              <a:pPr algn="l"/>
              <a:r>
                <a:rPr lang="zh-CN" altLang="en-US" sz="1800" dirty="0">
                  <a:solidFill>
                    <a:schemeClr val="tx1">
                      <a:lumMod val="75000"/>
                      <a:lumOff val="25000"/>
                    </a:schemeClr>
                  </a:solidFill>
                </a:rPr>
                <a:t>当建立完决策树后来进行剪枝操作</a:t>
              </a:r>
              <a:endParaRPr lang="zh-CN" altLang="en-US" sz="1800" dirty="0">
                <a:solidFill>
                  <a:schemeClr val="tx1">
                    <a:lumMod val="75000"/>
                    <a:lumOff val="25000"/>
                  </a:schemeClr>
                </a:solidFill>
              </a:endParaRPr>
            </a:p>
          </p:txBody>
        </p:sp>
        <p:sp>
          <p:nvSpPr>
            <p:cNvPr id="34" name="文本框 33"/>
            <p:cNvSpPr txBox="1"/>
            <p:nvPr/>
          </p:nvSpPr>
          <p:spPr>
            <a:xfrm>
              <a:off x="1236391" y="2101618"/>
              <a:ext cx="1811663" cy="398780"/>
            </a:xfrm>
            <a:prstGeom prst="rect">
              <a:avLst/>
            </a:prstGeom>
            <a:noFill/>
          </p:spPr>
          <p:txBody>
            <a:bodyPr wrap="square" rtlCol="0">
              <a:spAutoFit/>
            </a:bodyPr>
            <a:lstStyle>
              <a:defPPr>
                <a:defRPr lang="zh-CN"/>
              </a:defPPr>
              <a:lvl1pPr algn="ctr">
                <a:lnSpc>
                  <a:spcPct val="150000"/>
                </a:lnSpc>
                <a:defRPr sz="1600" b="1">
                  <a:solidFill>
                    <a:srgbClr val="020202"/>
                  </a:solidFill>
                  <a:latin typeface="Noto Sans S Chinese Light" panose="020B0300000000000000" pitchFamily="34" charset="-122"/>
                  <a:ea typeface="Noto Sans S Chinese Light" panose="020B0300000000000000" pitchFamily="34" charset="-122"/>
                  <a:cs typeface="Calibri" panose="020F0502020204030204" charset="0"/>
                </a:defRPr>
              </a:lvl1pPr>
            </a:lstStyle>
            <a:p>
              <a:pPr algn="l">
                <a:lnSpc>
                  <a:spcPct val="100000"/>
                </a:lnSpc>
              </a:pPr>
              <a:r>
                <a:rPr lang="zh-CN" altLang="en-US" sz="2000" dirty="0">
                  <a:solidFill>
                    <a:srgbClr val="6FB4BD"/>
                  </a:solidFill>
                </a:rPr>
                <a:t>②后剪枝</a:t>
              </a:r>
              <a:endParaRPr lang="zh-CN" altLang="en-US" sz="2000" dirty="0">
                <a:solidFill>
                  <a:srgbClr val="6FB4BD"/>
                </a:solidFill>
              </a:endParaRPr>
            </a:p>
          </p:txBody>
        </p:sp>
      </p:grpSp>
      <p:sp>
        <p:nvSpPr>
          <p:cNvPr id="6" name="文本框 5"/>
          <p:cNvSpPr txBox="1"/>
          <p:nvPr/>
        </p:nvSpPr>
        <p:spPr>
          <a:xfrm>
            <a:off x="6180455" y="403225"/>
            <a:ext cx="5560060" cy="4271010"/>
          </a:xfrm>
          <a:prstGeom prst="rect">
            <a:avLst/>
          </a:prstGeom>
          <a:noFill/>
        </p:spPr>
        <p:txBody>
          <a:bodyPr wrap="square" rtlCol="0">
            <a:noAutofit/>
          </a:bodyPr>
          <a:p>
            <a:pPr indent="0" algn="l" fontAlgn="auto">
              <a:lnSpc>
                <a:spcPct val="150000"/>
              </a:lnSpc>
            </a:pPr>
            <a:r>
              <a:rPr lang="zh-CN" sz="1600" dirty="0">
                <a:solidFill>
                  <a:schemeClr val="tx1">
                    <a:lumMod val="75000"/>
                    <a:lumOff val="25000"/>
                  </a:schemeClr>
                </a:solidFill>
                <a:latin typeface="+mn-ea"/>
                <a:cs typeface="+mn-ea"/>
                <a:sym typeface="+mn-ea"/>
              </a:rPr>
              <a:t>过拟合：</a:t>
            </a:r>
            <a:r>
              <a:rPr sz="1600" dirty="0">
                <a:latin typeface="+mn-ea"/>
                <a:cs typeface="+mn-ea"/>
                <a:sym typeface="+mn-ea"/>
              </a:rPr>
              <a:t>过拟合是一个机器学习概念，它描述的是模型在训练数据集上的表现非常好，但当应用于未见过的测试数据或者新数据时，其表现却不佳。具体来说，过拟合发生在模型在训练数据中学到了数据的噪声或其他随机变化，而非真实的模式，从而导致其在新的、未见的数据上的泛化能力下降</a:t>
            </a:r>
            <a:r>
              <a:rPr lang="zh-CN" sz="1600" dirty="0">
                <a:latin typeface="+mn-ea"/>
                <a:cs typeface="+mn-ea"/>
                <a:sym typeface="+mn-ea"/>
              </a:rPr>
              <a:t>。</a:t>
            </a:r>
            <a:endParaRPr lang="zh-CN" sz="1600" dirty="0">
              <a:latin typeface="+mn-ea"/>
              <a:cs typeface="+mn-ea"/>
              <a:sym typeface="+mn-ea"/>
            </a:endParaRPr>
          </a:p>
          <a:p>
            <a:pPr indent="0" algn="l" fontAlgn="auto">
              <a:lnSpc>
                <a:spcPct val="90000"/>
              </a:lnSpc>
            </a:pPr>
            <a:endParaRPr sz="1600" dirty="0">
              <a:latin typeface="+mn-ea"/>
              <a:cs typeface="+mn-ea"/>
              <a:sym typeface="+mn-ea"/>
            </a:endParaRPr>
          </a:p>
          <a:p>
            <a:pPr indent="0" algn="l" fontAlgn="auto">
              <a:lnSpc>
                <a:spcPct val="150000"/>
              </a:lnSpc>
            </a:pPr>
            <a:r>
              <a:rPr sz="1600" dirty="0">
                <a:solidFill>
                  <a:schemeClr val="tx1">
                    <a:lumMod val="75000"/>
                    <a:lumOff val="25000"/>
                  </a:schemeClr>
                </a:solidFill>
                <a:latin typeface="+mn-ea"/>
                <a:cs typeface="+mn-ea"/>
                <a:sym typeface="+mn-ea"/>
              </a:rPr>
              <a:t>预剪枝：限制深度，叶子节点个数</a:t>
            </a:r>
            <a:r>
              <a:rPr lang="zh-CN" sz="1600" dirty="0">
                <a:solidFill>
                  <a:schemeClr val="tx1">
                    <a:lumMod val="75000"/>
                    <a:lumOff val="25000"/>
                  </a:schemeClr>
                </a:solidFill>
                <a:latin typeface="+mn-ea"/>
                <a:cs typeface="+mn-ea"/>
                <a:sym typeface="+mn-ea"/>
              </a:rPr>
              <a:t>，</a:t>
            </a:r>
            <a:r>
              <a:rPr sz="1600" dirty="0">
                <a:solidFill>
                  <a:schemeClr val="tx1">
                    <a:lumMod val="75000"/>
                    <a:lumOff val="25000"/>
                  </a:schemeClr>
                </a:solidFill>
                <a:latin typeface="+mn-ea"/>
                <a:cs typeface="+mn-ea"/>
                <a:sym typeface="+mn-ea"/>
              </a:rPr>
              <a:t>叶子节点样本数，信息增益量等</a:t>
            </a:r>
            <a:r>
              <a:rPr lang="zh-CN" sz="1600" dirty="0">
                <a:solidFill>
                  <a:schemeClr val="tx1">
                    <a:lumMod val="75000"/>
                    <a:lumOff val="25000"/>
                  </a:schemeClr>
                </a:solidFill>
                <a:latin typeface="+mn-ea"/>
                <a:cs typeface="+mn-ea"/>
                <a:sym typeface="+mn-ea"/>
              </a:rPr>
              <a:t>；</a:t>
            </a:r>
            <a:endParaRPr lang="zh-CN" sz="1600" dirty="0">
              <a:solidFill>
                <a:schemeClr val="tx1">
                  <a:lumMod val="75000"/>
                  <a:lumOff val="25000"/>
                </a:schemeClr>
              </a:solidFill>
              <a:latin typeface="+mn-ea"/>
              <a:cs typeface="+mn-ea"/>
              <a:sym typeface="+mn-ea"/>
            </a:endParaRPr>
          </a:p>
          <a:p>
            <a:pPr indent="0" algn="l" fontAlgn="auto">
              <a:lnSpc>
                <a:spcPct val="90000"/>
              </a:lnSpc>
            </a:pPr>
            <a:endParaRPr sz="1600" dirty="0">
              <a:solidFill>
                <a:schemeClr val="tx1">
                  <a:lumMod val="75000"/>
                  <a:lumOff val="25000"/>
                </a:schemeClr>
              </a:solidFill>
              <a:latin typeface="+mn-ea"/>
              <a:cs typeface="+mn-ea"/>
              <a:sym typeface="+mn-ea"/>
            </a:endParaRPr>
          </a:p>
          <a:p>
            <a:pPr indent="0" algn="l" fontAlgn="auto">
              <a:lnSpc>
                <a:spcPct val="150000"/>
              </a:lnSpc>
            </a:pPr>
            <a:r>
              <a:rPr lang="zh-CN" sz="1600" dirty="0">
                <a:solidFill>
                  <a:schemeClr val="tx1">
                    <a:lumMod val="75000"/>
                    <a:lumOff val="25000"/>
                  </a:schemeClr>
                </a:solidFill>
                <a:latin typeface="+mn-ea"/>
                <a:cs typeface="+mn-ea"/>
                <a:sym typeface="+mn-ea"/>
              </a:rPr>
              <a:t>后</a:t>
            </a:r>
            <a:r>
              <a:rPr sz="1600" dirty="0">
                <a:solidFill>
                  <a:schemeClr val="tx1">
                    <a:lumMod val="75000"/>
                    <a:lumOff val="25000"/>
                  </a:schemeClr>
                </a:solidFill>
                <a:latin typeface="+mn-ea"/>
                <a:cs typeface="+mn-ea"/>
                <a:sym typeface="+mn-ea"/>
              </a:rPr>
              <a:t>剪枝：通过一定的衡量标准</a:t>
            </a:r>
            <a:endParaRPr sz="1600" dirty="0">
              <a:solidFill>
                <a:schemeClr val="tx1">
                  <a:lumMod val="75000"/>
                  <a:lumOff val="25000"/>
                </a:schemeClr>
              </a:solidFill>
              <a:latin typeface="+mn-ea"/>
              <a:cs typeface="+mn-ea"/>
              <a:sym typeface="+mn-ea"/>
            </a:endParaRPr>
          </a:p>
          <a:p>
            <a:pPr indent="0" algn="l" fontAlgn="auto">
              <a:lnSpc>
                <a:spcPct val="150000"/>
              </a:lnSpc>
            </a:pPr>
            <a:endParaRPr sz="1600" dirty="0">
              <a:solidFill>
                <a:schemeClr val="tx1">
                  <a:lumMod val="75000"/>
                  <a:lumOff val="25000"/>
                </a:schemeClr>
              </a:solidFill>
              <a:latin typeface="+mn-ea"/>
              <a:cs typeface="+mn-ea"/>
              <a:sym typeface="+mn-ea"/>
            </a:endParaRPr>
          </a:p>
          <a:p>
            <a:pPr indent="0" algn="l" fontAlgn="auto">
              <a:lnSpc>
                <a:spcPct val="150000"/>
              </a:lnSpc>
            </a:pPr>
            <a:r>
              <a:rPr lang="en-US" sz="1600" dirty="0">
                <a:solidFill>
                  <a:schemeClr val="tx1">
                    <a:lumMod val="75000"/>
                    <a:lumOff val="25000"/>
                  </a:schemeClr>
                </a:solidFill>
                <a:latin typeface="+mn-ea"/>
                <a:cs typeface="+mn-ea"/>
                <a:sym typeface="+mn-ea"/>
              </a:rPr>
              <a:t>           </a:t>
            </a:r>
            <a:r>
              <a:rPr sz="1600" dirty="0">
                <a:solidFill>
                  <a:schemeClr val="tx1">
                    <a:lumMod val="75000"/>
                    <a:lumOff val="25000"/>
                  </a:schemeClr>
                </a:solidFill>
                <a:latin typeface="+mn-ea"/>
                <a:cs typeface="+mn-ea"/>
                <a:sym typeface="+mn-ea"/>
              </a:rPr>
              <a:t>（叶子节点越多，损失越大）</a:t>
            </a:r>
            <a:endParaRPr sz="1600" dirty="0">
              <a:solidFill>
                <a:schemeClr val="tx1">
                  <a:lumMod val="75000"/>
                  <a:lumOff val="25000"/>
                </a:schemeClr>
              </a:solidFill>
              <a:latin typeface="+mn-ea"/>
              <a:cs typeface="+mn-ea"/>
              <a:sym typeface="+mn-ea"/>
            </a:endParaRPr>
          </a:p>
        </p:txBody>
      </p:sp>
      <p:pic>
        <p:nvPicPr>
          <p:cNvPr id="2" name="图片 1"/>
          <p:cNvPicPr>
            <a:picLocks noChangeAspect="1"/>
          </p:cNvPicPr>
          <p:nvPr>
            <p:custDataLst>
              <p:tags r:id="rId2"/>
            </p:custDataLst>
          </p:nvPr>
        </p:nvPicPr>
        <p:blipFill>
          <a:blip r:embed="rId3"/>
          <a:stretch>
            <a:fillRect/>
          </a:stretch>
        </p:blipFill>
        <p:spPr>
          <a:xfrm>
            <a:off x="7045960" y="3816350"/>
            <a:ext cx="2262505" cy="447040"/>
          </a:xfrm>
          <a:prstGeom prst="rect">
            <a:avLst/>
          </a:prstGeom>
        </p:spPr>
      </p:pic>
      <p:sp>
        <p:nvSpPr>
          <p:cNvPr id="9" name="文本框 8"/>
          <p:cNvSpPr txBox="1"/>
          <p:nvPr>
            <p:custDataLst>
              <p:tags r:id="rId4"/>
            </p:custDataLst>
          </p:nvPr>
        </p:nvSpPr>
        <p:spPr>
          <a:xfrm>
            <a:off x="376555" y="302260"/>
            <a:ext cx="2547352" cy="398780"/>
          </a:xfrm>
          <a:prstGeom prst="rect">
            <a:avLst/>
          </a:prstGeom>
          <a:noFill/>
        </p:spPr>
        <p:txBody>
          <a:bodyPr wrap="square" rtlCol="0">
            <a:spAutoFit/>
          </a:bodyPr>
          <a:lstStyle>
            <a:defPPr>
              <a:defRPr lang="zh-CN"/>
            </a:defPPr>
            <a:lvl1pPr algn="ctr">
              <a:lnSpc>
                <a:spcPct val="150000"/>
              </a:lnSpc>
              <a:defRPr sz="1600" b="1">
                <a:solidFill>
                  <a:srgbClr val="020202"/>
                </a:solidFill>
                <a:latin typeface="Noto Sans S Chinese Light" panose="020B0300000000000000" pitchFamily="34" charset="-122"/>
                <a:ea typeface="Noto Sans S Chinese Light" panose="020B0300000000000000" pitchFamily="34" charset="-122"/>
                <a:cs typeface="Calibri" panose="020F0502020204030204" charset="0"/>
              </a:defRPr>
            </a:lvl1pPr>
          </a:lstStyle>
          <a:p>
            <a:pPr algn="l">
              <a:lnSpc>
                <a:spcPct val="100000"/>
              </a:lnSpc>
            </a:pPr>
            <a:r>
              <a:rPr lang="zh-CN" altLang="en-US" sz="2000" dirty="0">
                <a:solidFill>
                  <a:srgbClr val="6FB4BD"/>
                </a:solidFill>
              </a:rPr>
              <a:t>四、决策树调优方法：</a:t>
            </a:r>
            <a:endParaRPr lang="zh-CN" altLang="en-US" sz="2000" dirty="0">
              <a:solidFill>
                <a:srgbClr val="6FB4BD"/>
              </a:solidFill>
            </a:endParaRPr>
          </a:p>
        </p:txBody>
      </p:sp>
      <p:sp>
        <p:nvSpPr>
          <p:cNvPr id="3" name="文本框 2"/>
          <p:cNvSpPr txBox="1"/>
          <p:nvPr/>
        </p:nvSpPr>
        <p:spPr>
          <a:xfrm>
            <a:off x="346075" y="812165"/>
            <a:ext cx="5337810" cy="4929505"/>
          </a:xfrm>
          <a:prstGeom prst="rect">
            <a:avLst/>
          </a:prstGeom>
          <a:noFill/>
        </p:spPr>
        <p:txBody>
          <a:bodyPr wrap="square" rtlCol="0">
            <a:noAutofit/>
          </a:bodyPr>
          <a:p>
            <a:pPr>
              <a:lnSpc>
                <a:spcPct val="150000"/>
              </a:lnSpc>
            </a:pPr>
            <a:r>
              <a:rPr lang="en-US" altLang="zh-CN" sz="1600"/>
              <a:t>1.</a:t>
            </a:r>
            <a:r>
              <a:rPr lang="zh-CN" altLang="en-US" sz="1600"/>
              <a:t>进行剪枝防止过拟合：</a:t>
            </a:r>
            <a:endParaRPr lang="zh-CN" altLang="en-US" sz="1600"/>
          </a:p>
          <a:p>
            <a:pPr>
              <a:lnSpc>
                <a:spcPct val="150000"/>
              </a:lnSpc>
            </a:pPr>
            <a:r>
              <a:rPr lang="zh-CN" altLang="en-US" sz="1600"/>
              <a:t>剪枝包括预剪枝(Prepruning)和后剪枝(Postpruning),前者通过对连续型变量设置阈值，来控制树的深度，或者控制节点的个数，在节点开始划分之前就进行操作，进而防止过拟合现象。后者是自底向上对非叶节点进行考察，如果这个内部节点换成叶节点能提升决策树的泛化能力，那就把它换掉。</a:t>
            </a:r>
            <a:endParaRPr lang="zh-CN" altLang="en-US" sz="1600"/>
          </a:p>
          <a:p>
            <a:pPr>
              <a:lnSpc>
                <a:spcPct val="150000"/>
              </a:lnSpc>
            </a:pPr>
            <a:r>
              <a:rPr lang="zh-CN" altLang="en-US" sz="1600"/>
              <a:t>[关于泛化能力的具体判断，参考周志华老师的《机器学习》P80]</a:t>
            </a:r>
            <a:endParaRPr lang="zh-CN" altLang="en-US" sz="1600"/>
          </a:p>
          <a:p>
            <a:pPr>
              <a:lnSpc>
                <a:spcPct val="70000"/>
              </a:lnSpc>
            </a:pPr>
            <a:endParaRPr lang="zh-CN" altLang="en-US" sz="1600"/>
          </a:p>
          <a:p>
            <a:pPr>
              <a:lnSpc>
                <a:spcPct val="150000"/>
              </a:lnSpc>
            </a:pPr>
            <a:r>
              <a:rPr lang="zh-CN" altLang="en-US" sz="1600"/>
              <a:t>2.运用交叉验证的方法选择合适的参数。</a:t>
            </a:r>
            <a:endParaRPr lang="zh-CN" altLang="en-US" sz="1600"/>
          </a:p>
          <a:p>
            <a:pPr>
              <a:lnSpc>
                <a:spcPct val="70000"/>
              </a:lnSpc>
            </a:pPr>
            <a:endParaRPr lang="zh-CN" altLang="en-US" sz="1600"/>
          </a:p>
          <a:p>
            <a:pPr>
              <a:lnSpc>
                <a:spcPct val="150000"/>
              </a:lnSpc>
            </a:pPr>
            <a:r>
              <a:rPr lang="zh-CN" altLang="en-US" sz="1600"/>
              <a:t>3.通过模型集成的方法（Bagging/Boosting），基于决策树构建更复杂的模型。</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descr="在地上&#10;&#10;低可信度描述已自动生成"/>
          <p:cNvPicPr>
            <a:picLocks noChangeAspect="1"/>
          </p:cNvPicPr>
          <p:nvPr/>
        </p:nvPicPr>
        <p:blipFill>
          <a:blip r:embed="rId1">
            <a:extLst>
              <a:ext uri="{28A0092B-C50C-407E-A947-70E740481C1C}">
                <a14:useLocalDpi xmlns:a14="http://schemas.microsoft.com/office/drawing/2010/main" val="0"/>
              </a:ext>
            </a:extLst>
          </a:blip>
          <a:srcRect t="18750" b="12524"/>
          <a:stretch>
            <a:fillRect/>
          </a:stretch>
        </p:blipFill>
        <p:spPr>
          <a:xfrm>
            <a:off x="0" y="2832100"/>
            <a:ext cx="12192000" cy="4025900"/>
          </a:xfrm>
          <a:custGeom>
            <a:avLst/>
            <a:gdLst>
              <a:gd name="connsiteX0" fmla="*/ 0 w 12192000"/>
              <a:gd name="connsiteY0" fmla="*/ 0 h 4025900"/>
              <a:gd name="connsiteX1" fmla="*/ 12192000 w 12192000"/>
              <a:gd name="connsiteY1" fmla="*/ 0 h 4025900"/>
              <a:gd name="connsiteX2" fmla="*/ 12192000 w 12192000"/>
              <a:gd name="connsiteY2" fmla="*/ 4025900 h 4025900"/>
              <a:gd name="connsiteX3" fmla="*/ 0 w 12192000"/>
              <a:gd name="connsiteY3" fmla="*/ 4025900 h 4025900"/>
            </a:gdLst>
            <a:ahLst/>
            <a:cxnLst>
              <a:cxn ang="0">
                <a:pos x="connsiteX0" y="connsiteY0"/>
              </a:cxn>
              <a:cxn ang="0">
                <a:pos x="connsiteX1" y="connsiteY1"/>
              </a:cxn>
              <a:cxn ang="0">
                <a:pos x="connsiteX2" y="connsiteY2"/>
              </a:cxn>
              <a:cxn ang="0">
                <a:pos x="connsiteX3" y="connsiteY3"/>
              </a:cxn>
            </a:cxnLst>
            <a:rect l="l" t="t" r="r" b="b"/>
            <a:pathLst>
              <a:path w="12192000" h="4025900">
                <a:moveTo>
                  <a:pt x="0" y="0"/>
                </a:moveTo>
                <a:lnTo>
                  <a:pt x="12192000" y="0"/>
                </a:lnTo>
                <a:lnTo>
                  <a:pt x="12192000" y="4025900"/>
                </a:lnTo>
                <a:lnTo>
                  <a:pt x="0" y="4025900"/>
                </a:lnTo>
                <a:close/>
              </a:path>
            </a:pathLst>
          </a:custGeom>
        </p:spPr>
      </p:pic>
      <p:sp>
        <p:nvSpPr>
          <p:cNvPr id="9" name="文本框 8"/>
          <p:cNvSpPr txBox="1"/>
          <p:nvPr>
            <p:custDataLst>
              <p:tags r:id="rId2"/>
            </p:custDataLst>
          </p:nvPr>
        </p:nvSpPr>
        <p:spPr>
          <a:xfrm>
            <a:off x="376555" y="302260"/>
            <a:ext cx="2722880" cy="398780"/>
          </a:xfrm>
          <a:prstGeom prst="rect">
            <a:avLst/>
          </a:prstGeom>
          <a:noFill/>
        </p:spPr>
        <p:txBody>
          <a:bodyPr wrap="square" rtlCol="0">
            <a:spAutoFit/>
          </a:bodyPr>
          <a:lstStyle>
            <a:defPPr>
              <a:defRPr lang="zh-CN"/>
            </a:defPPr>
            <a:lvl1pPr algn="ctr">
              <a:lnSpc>
                <a:spcPct val="150000"/>
              </a:lnSpc>
              <a:defRPr sz="1600" b="1">
                <a:solidFill>
                  <a:srgbClr val="020202"/>
                </a:solidFill>
                <a:latin typeface="Noto Sans S Chinese Light" panose="020B0300000000000000" pitchFamily="34" charset="-122"/>
                <a:ea typeface="Noto Sans S Chinese Light" panose="020B0300000000000000" pitchFamily="34" charset="-122"/>
                <a:cs typeface="Calibri" panose="020F0502020204030204" charset="0"/>
              </a:defRPr>
            </a:lvl1pPr>
          </a:lstStyle>
          <a:p>
            <a:pPr algn="l">
              <a:lnSpc>
                <a:spcPct val="100000"/>
              </a:lnSpc>
            </a:pPr>
            <a:r>
              <a:rPr lang="zh-CN" altLang="en-US" sz="2000" dirty="0">
                <a:solidFill>
                  <a:srgbClr val="6FB4BD"/>
                </a:solidFill>
              </a:rPr>
              <a:t>五、决策树差异</a:t>
            </a:r>
            <a:r>
              <a:rPr lang="zh-CN" altLang="en-US" sz="2000" dirty="0">
                <a:solidFill>
                  <a:srgbClr val="6FB4BD"/>
                </a:solidFill>
              </a:rPr>
              <a:t>总结：</a:t>
            </a:r>
            <a:endParaRPr lang="zh-CN" altLang="en-US" sz="2000" dirty="0">
              <a:solidFill>
                <a:srgbClr val="6FB4BD"/>
              </a:solidFill>
            </a:endParaRPr>
          </a:p>
        </p:txBody>
      </p:sp>
      <p:sp>
        <p:nvSpPr>
          <p:cNvPr id="3" name="文本框 2"/>
          <p:cNvSpPr txBox="1"/>
          <p:nvPr/>
        </p:nvSpPr>
        <p:spPr>
          <a:xfrm>
            <a:off x="346075" y="812165"/>
            <a:ext cx="11450320" cy="4929505"/>
          </a:xfrm>
          <a:prstGeom prst="rect">
            <a:avLst/>
          </a:prstGeom>
          <a:noFill/>
        </p:spPr>
        <p:txBody>
          <a:bodyPr wrap="square" rtlCol="0">
            <a:noAutofit/>
          </a:bodyPr>
          <a:p>
            <a:pPr marL="342900" lvl="0" indent="-342900" algn="l">
              <a:lnSpc>
                <a:spcPct val="120000"/>
              </a:lnSpc>
              <a:spcAft>
                <a:spcPts val="1000"/>
              </a:spcAft>
              <a:buFont typeface="Arial" panose="020B0604020202020204" pitchFamily="34" charset="0"/>
              <a:buChar char="•"/>
            </a:pPr>
            <a:r>
              <a:rPr lang="zh-CN" altLang="zh-CN" sz="2000" b="1" kern="100" dirty="0">
                <a:effectLst/>
                <a:latin typeface="黑体" panose="02010609060101010101" charset="-122"/>
                <a:ea typeface="黑体" panose="02010609060101010101" charset="-122"/>
                <a:cs typeface="黑体" panose="02010609060101010101" charset="-122"/>
                <a:sym typeface="+mn-ea"/>
              </a:rPr>
              <a:t>划分标准的差异</a:t>
            </a:r>
            <a:r>
              <a:rPr lang="zh-CN" altLang="zh-CN" sz="2000" kern="100" dirty="0">
                <a:effectLst/>
                <a:latin typeface="黑体" panose="02010609060101010101" charset="-122"/>
                <a:ea typeface="黑体" panose="02010609060101010101" charset="-122"/>
                <a:cs typeface="黑体" panose="02010609060101010101" charset="-122"/>
                <a:sym typeface="+mn-ea"/>
              </a:rPr>
              <a:t>：</a:t>
            </a:r>
            <a:r>
              <a:rPr lang="en-US" altLang="zh-CN" sz="2000" kern="100" dirty="0">
                <a:effectLst/>
                <a:latin typeface="黑体" panose="02010609060101010101" charset="-122"/>
                <a:ea typeface="黑体" panose="02010609060101010101" charset="-122"/>
                <a:cs typeface="黑体" panose="02010609060101010101" charset="-122"/>
                <a:sym typeface="+mn-ea"/>
              </a:rPr>
              <a:t>ID3 </a:t>
            </a:r>
            <a:r>
              <a:rPr lang="zh-CN" altLang="zh-CN" sz="2000" kern="100" dirty="0">
                <a:effectLst/>
                <a:latin typeface="黑体" panose="02010609060101010101" charset="-122"/>
                <a:ea typeface="黑体" panose="02010609060101010101" charset="-122"/>
                <a:cs typeface="黑体" panose="02010609060101010101" charset="-122"/>
                <a:sym typeface="+mn-ea"/>
              </a:rPr>
              <a:t>使用信息增益偏向特征值多的特征，</a:t>
            </a:r>
            <a:r>
              <a:rPr lang="en-US" altLang="zh-CN" sz="2000" kern="100" dirty="0">
                <a:effectLst/>
                <a:latin typeface="黑体" panose="02010609060101010101" charset="-122"/>
                <a:ea typeface="黑体" panose="02010609060101010101" charset="-122"/>
                <a:cs typeface="黑体" panose="02010609060101010101" charset="-122"/>
                <a:sym typeface="+mn-ea"/>
              </a:rPr>
              <a:t>C4.5 </a:t>
            </a:r>
            <a:r>
              <a:rPr lang="zh-CN" altLang="zh-CN" sz="2000" kern="100" dirty="0">
                <a:effectLst/>
                <a:latin typeface="黑体" panose="02010609060101010101" charset="-122"/>
                <a:ea typeface="黑体" panose="02010609060101010101" charset="-122"/>
                <a:cs typeface="黑体" panose="02010609060101010101" charset="-122"/>
                <a:sym typeface="+mn-ea"/>
              </a:rPr>
              <a:t>使用信息增益率克服信息增益的缺点，偏向于特征值小的特征，</a:t>
            </a:r>
            <a:r>
              <a:rPr lang="en-US" altLang="zh-CN" sz="2000" kern="100" dirty="0">
                <a:effectLst/>
                <a:latin typeface="黑体" panose="02010609060101010101" charset="-122"/>
                <a:ea typeface="黑体" panose="02010609060101010101" charset="-122"/>
                <a:cs typeface="黑体" panose="02010609060101010101" charset="-122"/>
                <a:sym typeface="+mn-ea"/>
              </a:rPr>
              <a:t>CART </a:t>
            </a:r>
            <a:r>
              <a:rPr lang="zh-CN" altLang="zh-CN" sz="2000" kern="100" dirty="0">
                <a:effectLst/>
                <a:latin typeface="黑体" panose="02010609060101010101" charset="-122"/>
                <a:ea typeface="黑体" panose="02010609060101010101" charset="-122"/>
                <a:cs typeface="黑体" panose="02010609060101010101" charset="-122"/>
                <a:sym typeface="+mn-ea"/>
              </a:rPr>
              <a:t>使用基尼指数克服</a:t>
            </a:r>
            <a:r>
              <a:rPr lang="en-US" altLang="zh-CN" sz="2000" kern="100" dirty="0">
                <a:effectLst/>
                <a:latin typeface="黑体" panose="02010609060101010101" charset="-122"/>
                <a:ea typeface="黑体" panose="02010609060101010101" charset="-122"/>
                <a:cs typeface="黑体" panose="02010609060101010101" charset="-122"/>
                <a:sym typeface="+mn-ea"/>
              </a:rPr>
              <a:t> C4.5 </a:t>
            </a:r>
            <a:r>
              <a:rPr lang="zh-CN" altLang="zh-CN" sz="2000" kern="100" dirty="0">
                <a:effectLst/>
                <a:latin typeface="黑体" panose="02010609060101010101" charset="-122"/>
                <a:ea typeface="黑体" panose="02010609060101010101" charset="-122"/>
                <a:cs typeface="黑体" panose="02010609060101010101" charset="-122"/>
                <a:sym typeface="+mn-ea"/>
              </a:rPr>
              <a:t>需要求</a:t>
            </a:r>
            <a:r>
              <a:rPr lang="en-US" altLang="zh-CN" sz="2000" kern="100" dirty="0">
                <a:effectLst/>
                <a:latin typeface="黑体" panose="02010609060101010101" charset="-122"/>
                <a:ea typeface="黑体" panose="02010609060101010101" charset="-122"/>
                <a:cs typeface="黑体" panose="02010609060101010101" charset="-122"/>
                <a:sym typeface="+mn-ea"/>
              </a:rPr>
              <a:t> log </a:t>
            </a:r>
            <a:r>
              <a:rPr lang="zh-CN" altLang="zh-CN" sz="2000" kern="100" dirty="0">
                <a:effectLst/>
                <a:latin typeface="黑体" panose="02010609060101010101" charset="-122"/>
                <a:ea typeface="黑体" panose="02010609060101010101" charset="-122"/>
                <a:cs typeface="黑体" panose="02010609060101010101" charset="-122"/>
                <a:sym typeface="+mn-ea"/>
              </a:rPr>
              <a:t>的巨大计算量，偏向于特征值较多的特征。</a:t>
            </a:r>
            <a:endParaRPr lang="zh-CN" altLang="zh-CN" sz="2000" kern="100" dirty="0">
              <a:effectLst/>
              <a:latin typeface="黑体" panose="02010609060101010101" charset="-122"/>
              <a:ea typeface="黑体" panose="02010609060101010101" charset="-122"/>
              <a:cs typeface="黑体" panose="02010609060101010101" charset="-122"/>
            </a:endParaRPr>
          </a:p>
          <a:p>
            <a:pPr marL="342900" lvl="0" indent="-342900" algn="l">
              <a:lnSpc>
                <a:spcPct val="120000"/>
              </a:lnSpc>
              <a:spcAft>
                <a:spcPts val="1000"/>
              </a:spcAft>
              <a:buFont typeface="Arial" panose="020B0604020202020204" pitchFamily="34" charset="0"/>
              <a:buChar char="•"/>
            </a:pPr>
            <a:r>
              <a:rPr lang="zh-CN" altLang="zh-CN" sz="2000" b="1" kern="100" dirty="0">
                <a:effectLst/>
                <a:latin typeface="黑体" panose="02010609060101010101" charset="-122"/>
                <a:ea typeface="黑体" panose="02010609060101010101" charset="-122"/>
                <a:cs typeface="黑体" panose="02010609060101010101" charset="-122"/>
                <a:sym typeface="+mn-ea"/>
              </a:rPr>
              <a:t>使用场景的差异</a:t>
            </a:r>
            <a:r>
              <a:rPr lang="zh-CN" altLang="zh-CN" sz="2000" kern="100" dirty="0">
                <a:effectLst/>
                <a:latin typeface="黑体" panose="02010609060101010101" charset="-122"/>
                <a:ea typeface="黑体" panose="02010609060101010101" charset="-122"/>
                <a:cs typeface="黑体" panose="02010609060101010101" charset="-122"/>
                <a:sym typeface="+mn-ea"/>
              </a:rPr>
              <a:t>：</a:t>
            </a:r>
            <a:r>
              <a:rPr lang="en-US" altLang="zh-CN" sz="2000" kern="100" dirty="0">
                <a:effectLst/>
                <a:latin typeface="黑体" panose="02010609060101010101" charset="-122"/>
                <a:ea typeface="黑体" panose="02010609060101010101" charset="-122"/>
                <a:cs typeface="黑体" panose="02010609060101010101" charset="-122"/>
                <a:sym typeface="+mn-ea"/>
              </a:rPr>
              <a:t>ID3 </a:t>
            </a:r>
            <a:r>
              <a:rPr lang="zh-CN" altLang="zh-CN" sz="2000" kern="100" dirty="0">
                <a:effectLst/>
                <a:latin typeface="黑体" panose="02010609060101010101" charset="-122"/>
                <a:ea typeface="黑体" panose="02010609060101010101" charset="-122"/>
                <a:cs typeface="黑体" panose="02010609060101010101" charset="-122"/>
                <a:sym typeface="+mn-ea"/>
              </a:rPr>
              <a:t>和</a:t>
            </a:r>
            <a:r>
              <a:rPr lang="en-US" altLang="zh-CN" sz="2000" kern="100" dirty="0">
                <a:effectLst/>
                <a:latin typeface="黑体" panose="02010609060101010101" charset="-122"/>
                <a:ea typeface="黑体" panose="02010609060101010101" charset="-122"/>
                <a:cs typeface="黑体" panose="02010609060101010101" charset="-122"/>
                <a:sym typeface="+mn-ea"/>
              </a:rPr>
              <a:t> C4.5 </a:t>
            </a:r>
            <a:r>
              <a:rPr lang="zh-CN" altLang="zh-CN" sz="2000" kern="100" dirty="0">
                <a:effectLst/>
                <a:latin typeface="黑体" panose="02010609060101010101" charset="-122"/>
                <a:ea typeface="黑体" panose="02010609060101010101" charset="-122"/>
                <a:cs typeface="黑体" panose="02010609060101010101" charset="-122"/>
                <a:sym typeface="+mn-ea"/>
              </a:rPr>
              <a:t>都只能用于分类问题，</a:t>
            </a:r>
            <a:r>
              <a:rPr lang="en-US" altLang="zh-CN" sz="2000" kern="100" dirty="0">
                <a:effectLst/>
                <a:latin typeface="黑体" panose="02010609060101010101" charset="-122"/>
                <a:ea typeface="黑体" panose="02010609060101010101" charset="-122"/>
                <a:cs typeface="黑体" panose="02010609060101010101" charset="-122"/>
                <a:sym typeface="+mn-ea"/>
              </a:rPr>
              <a:t>CART </a:t>
            </a:r>
            <a:r>
              <a:rPr lang="zh-CN" altLang="zh-CN" sz="2000" kern="100" dirty="0">
                <a:effectLst/>
                <a:latin typeface="黑体" panose="02010609060101010101" charset="-122"/>
                <a:ea typeface="黑体" panose="02010609060101010101" charset="-122"/>
                <a:cs typeface="黑体" panose="02010609060101010101" charset="-122"/>
                <a:sym typeface="+mn-ea"/>
              </a:rPr>
              <a:t>可以用于分类和回归问题；</a:t>
            </a:r>
            <a:r>
              <a:rPr lang="en-US" altLang="zh-CN" sz="2000" kern="100" dirty="0">
                <a:effectLst/>
                <a:latin typeface="黑体" panose="02010609060101010101" charset="-122"/>
                <a:ea typeface="黑体" panose="02010609060101010101" charset="-122"/>
                <a:cs typeface="黑体" panose="02010609060101010101" charset="-122"/>
                <a:sym typeface="+mn-ea"/>
              </a:rPr>
              <a:t>ID3 </a:t>
            </a:r>
            <a:r>
              <a:rPr lang="zh-CN" altLang="zh-CN" sz="2000" kern="100" dirty="0">
                <a:effectLst/>
                <a:latin typeface="黑体" panose="02010609060101010101" charset="-122"/>
                <a:ea typeface="黑体" panose="02010609060101010101" charset="-122"/>
                <a:cs typeface="黑体" panose="02010609060101010101" charset="-122"/>
                <a:sym typeface="+mn-ea"/>
              </a:rPr>
              <a:t>和</a:t>
            </a:r>
            <a:r>
              <a:rPr lang="en-US" altLang="zh-CN" sz="2000" kern="100" dirty="0">
                <a:effectLst/>
                <a:latin typeface="黑体" panose="02010609060101010101" charset="-122"/>
                <a:ea typeface="黑体" panose="02010609060101010101" charset="-122"/>
                <a:cs typeface="黑体" panose="02010609060101010101" charset="-122"/>
                <a:sym typeface="+mn-ea"/>
              </a:rPr>
              <a:t> C4.5 </a:t>
            </a:r>
            <a:r>
              <a:rPr lang="zh-CN" altLang="zh-CN" sz="2000" kern="100" dirty="0">
                <a:effectLst/>
                <a:latin typeface="黑体" panose="02010609060101010101" charset="-122"/>
                <a:ea typeface="黑体" panose="02010609060101010101" charset="-122"/>
                <a:cs typeface="黑体" panose="02010609060101010101" charset="-122"/>
                <a:sym typeface="+mn-ea"/>
              </a:rPr>
              <a:t>是多叉树，速度较慢，</a:t>
            </a:r>
            <a:r>
              <a:rPr lang="en-US" altLang="zh-CN" sz="2000" kern="100" dirty="0">
                <a:effectLst/>
                <a:latin typeface="黑体" panose="02010609060101010101" charset="-122"/>
                <a:ea typeface="黑体" panose="02010609060101010101" charset="-122"/>
                <a:cs typeface="黑体" panose="02010609060101010101" charset="-122"/>
                <a:sym typeface="+mn-ea"/>
              </a:rPr>
              <a:t>CART </a:t>
            </a:r>
            <a:r>
              <a:rPr lang="zh-CN" altLang="zh-CN" sz="2000" kern="100" dirty="0">
                <a:effectLst/>
                <a:latin typeface="黑体" panose="02010609060101010101" charset="-122"/>
                <a:ea typeface="黑体" panose="02010609060101010101" charset="-122"/>
                <a:cs typeface="黑体" panose="02010609060101010101" charset="-122"/>
                <a:sym typeface="+mn-ea"/>
              </a:rPr>
              <a:t>是二叉树，计算速度很快；</a:t>
            </a:r>
            <a:endParaRPr lang="zh-CN" altLang="zh-CN" sz="2000" kern="100" dirty="0">
              <a:effectLst/>
              <a:latin typeface="黑体" panose="02010609060101010101" charset="-122"/>
              <a:ea typeface="黑体" panose="02010609060101010101" charset="-122"/>
              <a:cs typeface="黑体" panose="02010609060101010101" charset="-122"/>
            </a:endParaRPr>
          </a:p>
          <a:p>
            <a:pPr marL="342900" lvl="0" indent="-342900" algn="l">
              <a:lnSpc>
                <a:spcPct val="120000"/>
              </a:lnSpc>
              <a:spcAft>
                <a:spcPts val="1000"/>
              </a:spcAft>
              <a:buFont typeface="Arial" panose="020B0604020202020204" pitchFamily="34" charset="0"/>
              <a:buChar char="•"/>
            </a:pPr>
            <a:r>
              <a:rPr lang="zh-CN" altLang="zh-CN" sz="2000" b="1" kern="100" dirty="0">
                <a:effectLst/>
                <a:latin typeface="黑体" panose="02010609060101010101" charset="-122"/>
                <a:ea typeface="黑体" panose="02010609060101010101" charset="-122"/>
                <a:cs typeface="黑体" panose="02010609060101010101" charset="-122"/>
                <a:sym typeface="+mn-ea"/>
              </a:rPr>
              <a:t>样本数据的差异</a:t>
            </a:r>
            <a:r>
              <a:rPr lang="zh-CN" altLang="zh-CN" sz="2000" kern="100" dirty="0">
                <a:effectLst/>
                <a:latin typeface="黑体" panose="02010609060101010101" charset="-122"/>
                <a:ea typeface="黑体" panose="02010609060101010101" charset="-122"/>
                <a:cs typeface="黑体" panose="02010609060101010101" charset="-122"/>
                <a:sym typeface="+mn-ea"/>
              </a:rPr>
              <a:t>：</a:t>
            </a:r>
            <a:r>
              <a:rPr lang="en-US" altLang="zh-CN" sz="2000" kern="100" dirty="0">
                <a:effectLst/>
                <a:latin typeface="黑体" panose="02010609060101010101" charset="-122"/>
                <a:ea typeface="黑体" panose="02010609060101010101" charset="-122"/>
                <a:cs typeface="黑体" panose="02010609060101010101" charset="-122"/>
                <a:sym typeface="+mn-ea"/>
              </a:rPr>
              <a:t>ID3 </a:t>
            </a:r>
            <a:r>
              <a:rPr lang="zh-CN" altLang="zh-CN" sz="2000" kern="100" dirty="0">
                <a:effectLst/>
                <a:latin typeface="黑体" panose="02010609060101010101" charset="-122"/>
                <a:ea typeface="黑体" panose="02010609060101010101" charset="-122"/>
                <a:cs typeface="黑体" panose="02010609060101010101" charset="-122"/>
                <a:sym typeface="+mn-ea"/>
              </a:rPr>
              <a:t>只能处理离散数据且缺失值敏感，</a:t>
            </a:r>
            <a:r>
              <a:rPr lang="en-US" altLang="zh-CN" sz="2000" kern="100" dirty="0">
                <a:effectLst/>
                <a:latin typeface="黑体" panose="02010609060101010101" charset="-122"/>
                <a:ea typeface="黑体" panose="02010609060101010101" charset="-122"/>
                <a:cs typeface="黑体" panose="02010609060101010101" charset="-122"/>
                <a:sym typeface="+mn-ea"/>
              </a:rPr>
              <a:t>C4.5 </a:t>
            </a:r>
            <a:r>
              <a:rPr lang="zh-CN" altLang="zh-CN" sz="2000" kern="100" dirty="0">
                <a:effectLst/>
                <a:latin typeface="黑体" panose="02010609060101010101" charset="-122"/>
                <a:ea typeface="黑体" panose="02010609060101010101" charset="-122"/>
                <a:cs typeface="黑体" panose="02010609060101010101" charset="-122"/>
                <a:sym typeface="+mn-ea"/>
              </a:rPr>
              <a:t>和</a:t>
            </a:r>
            <a:r>
              <a:rPr lang="en-US" altLang="zh-CN" sz="2000" kern="100" dirty="0">
                <a:effectLst/>
                <a:latin typeface="黑体" panose="02010609060101010101" charset="-122"/>
                <a:ea typeface="黑体" panose="02010609060101010101" charset="-122"/>
                <a:cs typeface="黑体" panose="02010609060101010101" charset="-122"/>
                <a:sym typeface="+mn-ea"/>
              </a:rPr>
              <a:t> CART </a:t>
            </a:r>
            <a:r>
              <a:rPr lang="zh-CN" altLang="zh-CN" sz="2000" kern="100" dirty="0">
                <a:effectLst/>
                <a:latin typeface="黑体" panose="02010609060101010101" charset="-122"/>
                <a:ea typeface="黑体" panose="02010609060101010101" charset="-122"/>
                <a:cs typeface="黑体" panose="02010609060101010101" charset="-122"/>
                <a:sym typeface="+mn-ea"/>
              </a:rPr>
              <a:t>可以处理连续性数据且有多种方式处理缺失值；从样本量考虑的话，小样本建议</a:t>
            </a:r>
            <a:r>
              <a:rPr lang="en-US" altLang="zh-CN" sz="2000" kern="100" dirty="0">
                <a:effectLst/>
                <a:latin typeface="黑体" panose="02010609060101010101" charset="-122"/>
                <a:ea typeface="黑体" panose="02010609060101010101" charset="-122"/>
                <a:cs typeface="黑体" panose="02010609060101010101" charset="-122"/>
                <a:sym typeface="+mn-ea"/>
              </a:rPr>
              <a:t> C4.5</a:t>
            </a:r>
            <a:r>
              <a:rPr lang="zh-CN" altLang="zh-CN" sz="2000" kern="100" dirty="0">
                <a:effectLst/>
                <a:latin typeface="黑体" panose="02010609060101010101" charset="-122"/>
                <a:ea typeface="黑体" panose="02010609060101010101" charset="-122"/>
                <a:cs typeface="黑体" panose="02010609060101010101" charset="-122"/>
                <a:sym typeface="+mn-ea"/>
              </a:rPr>
              <a:t>、大样本建议</a:t>
            </a:r>
            <a:r>
              <a:rPr lang="en-US" altLang="zh-CN" sz="2000" kern="100" dirty="0">
                <a:effectLst/>
                <a:latin typeface="黑体" panose="02010609060101010101" charset="-122"/>
                <a:ea typeface="黑体" panose="02010609060101010101" charset="-122"/>
                <a:cs typeface="黑体" panose="02010609060101010101" charset="-122"/>
                <a:sym typeface="+mn-ea"/>
              </a:rPr>
              <a:t> CART</a:t>
            </a:r>
            <a:r>
              <a:rPr lang="zh-CN" altLang="zh-CN" sz="2000" kern="100" dirty="0">
                <a:effectLst/>
                <a:latin typeface="黑体" panose="02010609060101010101" charset="-122"/>
                <a:ea typeface="黑体" panose="02010609060101010101" charset="-122"/>
                <a:cs typeface="黑体" panose="02010609060101010101" charset="-122"/>
                <a:sym typeface="+mn-ea"/>
              </a:rPr>
              <a:t>。</a:t>
            </a:r>
            <a:r>
              <a:rPr lang="en-US" altLang="zh-CN" sz="2000" kern="100" dirty="0">
                <a:effectLst/>
                <a:latin typeface="黑体" panose="02010609060101010101" charset="-122"/>
                <a:ea typeface="黑体" panose="02010609060101010101" charset="-122"/>
                <a:cs typeface="黑体" panose="02010609060101010101" charset="-122"/>
                <a:sym typeface="+mn-ea"/>
              </a:rPr>
              <a:t>C4.5 </a:t>
            </a:r>
            <a:r>
              <a:rPr lang="zh-CN" altLang="zh-CN" sz="2000" kern="100" dirty="0">
                <a:effectLst/>
                <a:latin typeface="黑体" panose="02010609060101010101" charset="-122"/>
                <a:ea typeface="黑体" panose="02010609060101010101" charset="-122"/>
                <a:cs typeface="黑体" panose="02010609060101010101" charset="-122"/>
                <a:sym typeface="+mn-ea"/>
              </a:rPr>
              <a:t>处理过程中需对数据集进行多次扫描排序，处理成本耗时较高，而</a:t>
            </a:r>
            <a:r>
              <a:rPr lang="en-US" altLang="zh-CN" sz="2000" kern="100" dirty="0">
                <a:effectLst/>
                <a:latin typeface="黑体" panose="02010609060101010101" charset="-122"/>
                <a:ea typeface="黑体" panose="02010609060101010101" charset="-122"/>
                <a:cs typeface="黑体" panose="02010609060101010101" charset="-122"/>
                <a:sym typeface="+mn-ea"/>
              </a:rPr>
              <a:t> CART </a:t>
            </a:r>
            <a:r>
              <a:rPr lang="zh-CN" altLang="zh-CN" sz="2000" kern="100" dirty="0">
                <a:effectLst/>
                <a:latin typeface="黑体" panose="02010609060101010101" charset="-122"/>
                <a:ea typeface="黑体" panose="02010609060101010101" charset="-122"/>
                <a:cs typeface="黑体" panose="02010609060101010101" charset="-122"/>
                <a:sym typeface="+mn-ea"/>
              </a:rPr>
              <a:t>本身是一种大样本的统计方法，小样本处理下泛化误差较大 ；</a:t>
            </a:r>
            <a:endParaRPr lang="zh-CN" altLang="zh-CN" sz="2000" kern="100" dirty="0">
              <a:effectLst/>
              <a:latin typeface="黑体" panose="02010609060101010101" charset="-122"/>
              <a:ea typeface="黑体" panose="02010609060101010101" charset="-122"/>
              <a:cs typeface="黑体" panose="02010609060101010101" charset="-122"/>
            </a:endParaRPr>
          </a:p>
          <a:p>
            <a:pPr marL="342900" lvl="0" indent="-342900" algn="l">
              <a:lnSpc>
                <a:spcPct val="120000"/>
              </a:lnSpc>
              <a:spcAft>
                <a:spcPts val="1000"/>
              </a:spcAft>
              <a:buFont typeface="Arial" panose="020B0604020202020204" pitchFamily="34" charset="0"/>
              <a:buChar char="•"/>
            </a:pPr>
            <a:r>
              <a:rPr lang="zh-CN" altLang="zh-CN" sz="2000" b="1" kern="100" dirty="0">
                <a:effectLst/>
                <a:latin typeface="黑体" panose="02010609060101010101" charset="-122"/>
                <a:ea typeface="黑体" panose="02010609060101010101" charset="-122"/>
                <a:cs typeface="黑体" panose="02010609060101010101" charset="-122"/>
                <a:sym typeface="+mn-ea"/>
              </a:rPr>
              <a:t>样本特征的差异</a:t>
            </a:r>
            <a:r>
              <a:rPr lang="zh-CN" altLang="zh-CN" sz="2000" kern="100" dirty="0">
                <a:effectLst/>
                <a:latin typeface="黑体" panose="02010609060101010101" charset="-122"/>
                <a:ea typeface="黑体" panose="02010609060101010101" charset="-122"/>
                <a:cs typeface="黑体" panose="02010609060101010101" charset="-122"/>
                <a:sym typeface="+mn-ea"/>
              </a:rPr>
              <a:t>：</a:t>
            </a:r>
            <a:r>
              <a:rPr lang="en-US" altLang="zh-CN" sz="2000" kern="100" dirty="0">
                <a:effectLst/>
                <a:latin typeface="黑体" panose="02010609060101010101" charset="-122"/>
                <a:ea typeface="黑体" panose="02010609060101010101" charset="-122"/>
                <a:cs typeface="黑体" panose="02010609060101010101" charset="-122"/>
                <a:sym typeface="+mn-ea"/>
              </a:rPr>
              <a:t>ID3 </a:t>
            </a:r>
            <a:r>
              <a:rPr lang="zh-CN" altLang="zh-CN" sz="2000" kern="100" dirty="0">
                <a:effectLst/>
                <a:latin typeface="黑体" panose="02010609060101010101" charset="-122"/>
                <a:ea typeface="黑体" panose="02010609060101010101" charset="-122"/>
                <a:cs typeface="黑体" panose="02010609060101010101" charset="-122"/>
                <a:sym typeface="+mn-ea"/>
              </a:rPr>
              <a:t>和</a:t>
            </a:r>
            <a:r>
              <a:rPr lang="en-US" altLang="zh-CN" sz="2000" kern="100" dirty="0">
                <a:effectLst/>
                <a:latin typeface="黑体" panose="02010609060101010101" charset="-122"/>
                <a:ea typeface="黑体" panose="02010609060101010101" charset="-122"/>
                <a:cs typeface="黑体" panose="02010609060101010101" charset="-122"/>
                <a:sym typeface="+mn-ea"/>
              </a:rPr>
              <a:t> C4.5 </a:t>
            </a:r>
            <a:r>
              <a:rPr lang="zh-CN" altLang="zh-CN" sz="2000" kern="100" dirty="0">
                <a:effectLst/>
                <a:latin typeface="黑体" panose="02010609060101010101" charset="-122"/>
                <a:ea typeface="黑体" panose="02010609060101010101" charset="-122"/>
                <a:cs typeface="黑体" panose="02010609060101010101" charset="-122"/>
                <a:sym typeface="+mn-ea"/>
              </a:rPr>
              <a:t>层级之间只使用一次特征，</a:t>
            </a:r>
            <a:r>
              <a:rPr lang="en-US" altLang="zh-CN" sz="2000" kern="100" dirty="0">
                <a:effectLst/>
                <a:latin typeface="黑体" panose="02010609060101010101" charset="-122"/>
                <a:ea typeface="黑体" panose="02010609060101010101" charset="-122"/>
                <a:cs typeface="黑体" panose="02010609060101010101" charset="-122"/>
                <a:sym typeface="+mn-ea"/>
              </a:rPr>
              <a:t>CART </a:t>
            </a:r>
            <a:r>
              <a:rPr lang="zh-CN" altLang="zh-CN" sz="2000" kern="100" dirty="0">
                <a:effectLst/>
                <a:latin typeface="黑体" panose="02010609060101010101" charset="-122"/>
                <a:ea typeface="黑体" panose="02010609060101010101" charset="-122"/>
                <a:cs typeface="黑体" panose="02010609060101010101" charset="-122"/>
                <a:sym typeface="+mn-ea"/>
              </a:rPr>
              <a:t>可多次重复使用特征；</a:t>
            </a:r>
            <a:endParaRPr lang="zh-CN" altLang="zh-CN" sz="2000" kern="100" dirty="0">
              <a:effectLst/>
              <a:latin typeface="黑体" panose="02010609060101010101" charset="-122"/>
              <a:ea typeface="黑体" panose="02010609060101010101" charset="-122"/>
              <a:cs typeface="黑体" panose="02010609060101010101" charset="-122"/>
            </a:endParaRPr>
          </a:p>
          <a:p>
            <a:pPr marL="342900" lvl="0" indent="-342900" algn="l">
              <a:lnSpc>
                <a:spcPct val="120000"/>
              </a:lnSpc>
              <a:spcAft>
                <a:spcPts val="1000"/>
              </a:spcAft>
              <a:buFont typeface="Arial" panose="020B0604020202020204" pitchFamily="34" charset="0"/>
              <a:buChar char="•"/>
            </a:pPr>
            <a:r>
              <a:rPr lang="zh-CN" altLang="zh-CN" sz="2000" b="1" kern="100" dirty="0">
                <a:effectLst/>
                <a:latin typeface="黑体" panose="02010609060101010101" charset="-122"/>
                <a:ea typeface="黑体" panose="02010609060101010101" charset="-122"/>
                <a:cs typeface="黑体" panose="02010609060101010101" charset="-122"/>
                <a:sym typeface="+mn-ea"/>
              </a:rPr>
              <a:t>剪枝策略的差异</a:t>
            </a:r>
            <a:r>
              <a:rPr lang="zh-CN" altLang="zh-CN" sz="2000" kern="100" dirty="0">
                <a:effectLst/>
                <a:latin typeface="黑体" panose="02010609060101010101" charset="-122"/>
                <a:ea typeface="黑体" panose="02010609060101010101" charset="-122"/>
                <a:cs typeface="黑体" panose="02010609060101010101" charset="-122"/>
                <a:sym typeface="+mn-ea"/>
              </a:rPr>
              <a:t>：</a:t>
            </a:r>
            <a:r>
              <a:rPr lang="en-US" altLang="zh-CN" sz="2000" kern="100" dirty="0">
                <a:effectLst/>
                <a:latin typeface="黑体" panose="02010609060101010101" charset="-122"/>
                <a:ea typeface="黑体" panose="02010609060101010101" charset="-122"/>
                <a:cs typeface="黑体" panose="02010609060101010101" charset="-122"/>
                <a:sym typeface="+mn-ea"/>
              </a:rPr>
              <a:t>ID3 </a:t>
            </a:r>
            <a:r>
              <a:rPr lang="zh-CN" altLang="zh-CN" sz="2000" kern="100" dirty="0">
                <a:effectLst/>
                <a:latin typeface="黑体" panose="02010609060101010101" charset="-122"/>
                <a:ea typeface="黑体" panose="02010609060101010101" charset="-122"/>
                <a:cs typeface="黑体" panose="02010609060101010101" charset="-122"/>
                <a:sym typeface="+mn-ea"/>
              </a:rPr>
              <a:t>没有剪枝策略，</a:t>
            </a:r>
            <a:r>
              <a:rPr lang="en-US" altLang="zh-CN" sz="2000" kern="100" dirty="0">
                <a:effectLst/>
                <a:latin typeface="黑体" panose="02010609060101010101" charset="-122"/>
                <a:ea typeface="黑体" panose="02010609060101010101" charset="-122"/>
                <a:cs typeface="黑体" panose="02010609060101010101" charset="-122"/>
                <a:sym typeface="+mn-ea"/>
              </a:rPr>
              <a:t>C4.5 </a:t>
            </a:r>
            <a:r>
              <a:rPr lang="zh-CN" altLang="zh-CN" sz="2000" kern="100" dirty="0">
                <a:effectLst/>
                <a:latin typeface="黑体" panose="02010609060101010101" charset="-122"/>
                <a:ea typeface="黑体" panose="02010609060101010101" charset="-122"/>
                <a:cs typeface="黑体" panose="02010609060101010101" charset="-122"/>
                <a:sym typeface="+mn-ea"/>
              </a:rPr>
              <a:t>是通过悲观剪枝策略来修正树的准确性，而</a:t>
            </a:r>
            <a:r>
              <a:rPr lang="en-US" altLang="zh-CN" sz="2000" kern="100" dirty="0">
                <a:effectLst/>
                <a:latin typeface="黑体" panose="02010609060101010101" charset="-122"/>
                <a:ea typeface="黑体" panose="02010609060101010101" charset="-122"/>
                <a:cs typeface="黑体" panose="02010609060101010101" charset="-122"/>
                <a:sym typeface="+mn-ea"/>
              </a:rPr>
              <a:t> CART </a:t>
            </a:r>
            <a:r>
              <a:rPr lang="zh-CN" altLang="zh-CN" sz="2000" kern="100" dirty="0">
                <a:effectLst/>
                <a:latin typeface="黑体" panose="02010609060101010101" charset="-122"/>
                <a:ea typeface="黑体" panose="02010609060101010101" charset="-122"/>
                <a:cs typeface="黑体" panose="02010609060101010101" charset="-122"/>
                <a:sym typeface="+mn-ea"/>
              </a:rPr>
              <a:t>是通过代价复杂度剪枝。</a:t>
            </a:r>
            <a:endParaRPr lang="zh-CN" altLang="zh-CN" sz="2000" kern="100" dirty="0">
              <a:effectLst/>
              <a:latin typeface="黑体" panose="02010609060101010101" charset="-122"/>
              <a:ea typeface="黑体" panose="02010609060101010101" charset="-122"/>
              <a:cs typeface="黑体" panose="0201060906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0" y="0"/>
            <a:ext cx="12192635" cy="6871970"/>
          </a:xfrm>
          <a:prstGeom prst="rect">
            <a:avLst/>
          </a:prstGeom>
        </p:spPr>
      </p:pic>
      <p:sp>
        <p:nvSpPr>
          <p:cNvPr id="2" name="文本框 1"/>
          <p:cNvSpPr txBox="1"/>
          <p:nvPr/>
        </p:nvSpPr>
        <p:spPr>
          <a:xfrm>
            <a:off x="11727815" y="6562725"/>
            <a:ext cx="464185" cy="286385"/>
          </a:xfrm>
          <a:prstGeom prst="rect">
            <a:avLst/>
          </a:prstGeom>
          <a:noFill/>
        </p:spPr>
        <p:txBody>
          <a:bodyPr wrap="square" rtlCol="0">
            <a:noAutofit/>
          </a:bodyPr>
          <a:p>
            <a:r>
              <a:rPr lang="en-US" altLang="zh-CN"/>
              <a:t>35</a:t>
            </a:r>
            <a:endParaRPr lang="en-US" alt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0" y="0"/>
            <a:ext cx="12192000" cy="6858635"/>
          </a:xfrm>
          <a:prstGeom prst="rect">
            <a:avLst/>
          </a:prstGeom>
        </p:spPr>
      </p:pic>
      <p:sp>
        <p:nvSpPr>
          <p:cNvPr id="100" name="文本框 99"/>
          <p:cNvSpPr txBox="1"/>
          <p:nvPr/>
        </p:nvSpPr>
        <p:spPr>
          <a:xfrm>
            <a:off x="11731625" y="6489700"/>
            <a:ext cx="460375" cy="368300"/>
          </a:xfrm>
          <a:prstGeom prst="rect">
            <a:avLst/>
          </a:prstGeom>
          <a:noFill/>
          <a:ln w="9525">
            <a:noFill/>
          </a:ln>
        </p:spPr>
        <p:txBody>
          <a:bodyPr wrap="square">
            <a:spAutoFit/>
          </a:bodyPr>
          <a:p>
            <a:pPr indent="0"/>
            <a:r>
              <a:rPr lang="en-US" altLang="zh-CN" b="0">
                <a:ea typeface="宋体" panose="02010600030101010101" pitchFamily="2" charset="-122"/>
              </a:rPr>
              <a:t>36</a:t>
            </a:r>
            <a:endParaRPr lang="en-US" altLang="zh-CN" b="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610616" y="1479575"/>
            <a:ext cx="11522709" cy="4571365"/>
          </a:xfrm>
          <a:prstGeom prst="rect">
            <a:avLst/>
          </a:prstGeom>
        </p:spPr>
        <p:txBody>
          <a:bodyPr vert="horz" wrap="square" lIns="0" tIns="0" rIns="0" bIns="0"/>
          <a:lstStyle/>
          <a:p>
            <a:pPr algn="l" rtl="0" eaLnBrk="0">
              <a:lnSpc>
                <a:spcPct val="73000"/>
              </a:lnSpc>
            </a:pPr>
            <a:endParaRPr lang="en-US" altLang="en-US" sz="100" dirty="0"/>
          </a:p>
          <a:p>
            <a:pPr marL="303530" algn="l" rtl="0" eaLnBrk="0">
              <a:lnSpc>
                <a:spcPct val="88000"/>
              </a:lnSpc>
              <a:tabLst>
                <a:tab pos="5575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p:txBody>
      </p:sp>
      <p:grpSp>
        <p:nvGrpSpPr>
          <p:cNvPr id="3" name="group 2"/>
          <p:cNvGrpSpPr/>
          <p:nvPr/>
        </p:nvGrpSpPr>
        <p:grpSpPr>
          <a:xfrm rot="21600000">
            <a:off x="126609" y="147616"/>
            <a:ext cx="2722051" cy="688004"/>
            <a:chOff x="0" y="0"/>
            <a:chExt cx="2722051" cy="688004"/>
          </a:xfrm>
        </p:grpSpPr>
        <p:pic>
          <p:nvPicPr>
            <p:cNvPr id="18" name="picture 18"/>
            <p:cNvPicPr>
              <a:picLocks noChangeAspect="1"/>
            </p:cNvPicPr>
            <p:nvPr/>
          </p:nvPicPr>
          <p:blipFill>
            <a:blip r:embed="rId1"/>
            <a:stretch>
              <a:fillRect/>
            </a:stretch>
          </p:blipFill>
          <p:spPr>
            <a:xfrm rot="21600000">
              <a:off x="0" y="29636"/>
              <a:ext cx="2696776" cy="658368"/>
            </a:xfrm>
            <a:prstGeom prst="rect">
              <a:avLst/>
            </a:prstGeom>
          </p:spPr>
        </p:pic>
        <p:sp>
          <p:nvSpPr>
            <p:cNvPr id="20" name="textbox 2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22" name="picture 22"/>
          <p:cNvPicPr>
            <a:picLocks noChangeAspect="1"/>
          </p:cNvPicPr>
          <p:nvPr/>
        </p:nvPicPr>
        <p:blipFill>
          <a:blip r:embed="rId2"/>
          <a:stretch>
            <a:fillRect/>
          </a:stretch>
        </p:blipFill>
        <p:spPr>
          <a:xfrm rot="21600000">
            <a:off x="10668" y="981455"/>
            <a:ext cx="12181331" cy="45720"/>
          </a:xfrm>
          <a:prstGeom prst="rect">
            <a:avLst/>
          </a:prstGeom>
        </p:spPr>
      </p:pic>
      <p:sp>
        <p:nvSpPr>
          <p:cNvPr id="40" name="textbox 40"/>
          <p:cNvSpPr/>
          <p:nvPr>
            <p:custDataLst>
              <p:tags r:id="rId3"/>
            </p:custDataLst>
          </p:nvPr>
        </p:nvSpPr>
        <p:spPr>
          <a:xfrm>
            <a:off x="1559560" y="1479550"/>
            <a:ext cx="5701030" cy="2787650"/>
          </a:xfrm>
          <a:prstGeom prst="rect">
            <a:avLst/>
          </a:prstGeom>
        </p:spPr>
        <p:txBody>
          <a:bodyPr vert="horz" wrap="square" lIns="0" tIns="0" rIns="0" bIns="0"/>
          <a:p>
            <a:pPr algn="l" rtl="0" eaLnBrk="0">
              <a:lnSpc>
                <a:spcPct val="82000"/>
              </a:lnSpc>
            </a:pPr>
            <a:endParaRPr lang="en-US" altLang="en-US" sz="100" dirty="0"/>
          </a:p>
          <a:p>
            <a:pPr marL="55880" algn="l" rtl="0" eaLnBrk="0">
              <a:lnSpc>
                <a:spcPct val="93000"/>
              </a:lnSpc>
            </a:pPr>
            <a:endParaRPr lang="en-US" altLang="en-US" sz="2400" dirty="0"/>
          </a:p>
          <a:p>
            <a:pPr marL="18415" indent="-1270" algn="l" rtl="0" eaLnBrk="0">
              <a:lnSpc>
                <a:spcPct val="100000"/>
              </a:lnSpc>
              <a:spcBef>
                <a:spcPts val="1025"/>
              </a:spcBef>
            </a:pPr>
            <a:r>
              <a:rPr sz="2000" kern="0" spc="80" dirty="0">
                <a:solidFill>
                  <a:schemeClr val="tx1">
                    <a:alpha val="100000"/>
                  </a:schemeClr>
                </a:solidFill>
                <a:latin typeface="黑体" panose="02010609060101010101" charset="-122"/>
                <a:ea typeface="黑体" panose="02010609060101010101" charset="-122"/>
                <a:cs typeface="黑体" panose="02010609060101010101" charset="-122"/>
              </a:rPr>
              <a:t>机器学习算法没有高下之分，只有对</a:t>
            </a:r>
            <a:r>
              <a:rPr sz="2000" kern="0" spc="60" dirty="0">
                <a:solidFill>
                  <a:schemeClr val="tx1">
                    <a:alpha val="100000"/>
                  </a:schemeClr>
                </a:solidFill>
                <a:latin typeface="黑体" panose="02010609060101010101" charset="-122"/>
                <a:ea typeface="黑体" panose="02010609060101010101" charset="-122"/>
                <a:cs typeface="黑体" panose="02010609060101010101" charset="-122"/>
              </a:rPr>
              <a:t>问题的适应性有差别</a:t>
            </a:r>
            <a:r>
              <a:rPr sz="2000" kern="0" spc="50" dirty="0">
                <a:solidFill>
                  <a:schemeClr val="tx1">
                    <a:alpha val="100000"/>
                  </a:schemeClr>
                </a:solidFill>
                <a:latin typeface="黑体" panose="02010609060101010101" charset="-122"/>
                <a:ea typeface="黑体" panose="02010609060101010101" charset="-122"/>
                <a:cs typeface="黑体" panose="02010609060101010101" charset="-122"/>
              </a:rPr>
              <a:t>。</a:t>
            </a:r>
            <a:endParaRPr sz="2000" kern="0" spc="50" dirty="0">
              <a:solidFill>
                <a:schemeClr val="tx1">
                  <a:alpha val="100000"/>
                </a:schemeClr>
              </a:solidFill>
              <a:latin typeface="黑体" panose="02010609060101010101" charset="-122"/>
              <a:ea typeface="黑体" panose="02010609060101010101" charset="-122"/>
              <a:cs typeface="黑体" panose="02010609060101010101" charset="-122"/>
            </a:endParaRPr>
          </a:p>
          <a:p>
            <a:pPr marL="18415" indent="-1270" algn="l" rtl="0" eaLnBrk="0">
              <a:lnSpc>
                <a:spcPct val="100000"/>
              </a:lnSpc>
              <a:spcBef>
                <a:spcPts val="1025"/>
              </a:spcBef>
            </a:pPr>
            <a:endParaRPr lang="en-US" altLang="en-US" sz="2000" dirty="0">
              <a:solidFill>
                <a:schemeClr val="tx1"/>
              </a:solidFill>
              <a:latin typeface="黑体" panose="02010609060101010101" charset="-122"/>
              <a:ea typeface="黑体" panose="02010609060101010101" charset="-122"/>
              <a:cs typeface="黑体" panose="02010609060101010101" charset="-122"/>
            </a:endParaRPr>
          </a:p>
          <a:p>
            <a:pPr marL="12700" indent="4445" algn="l" rtl="0" eaLnBrk="0">
              <a:lnSpc>
                <a:spcPct val="100000"/>
              </a:lnSpc>
              <a:spcBef>
                <a:spcPts val="365"/>
              </a:spcBef>
            </a:pPr>
            <a:r>
              <a:rPr sz="2000" kern="0" spc="80" dirty="0">
                <a:solidFill>
                  <a:schemeClr val="tx1">
                    <a:alpha val="100000"/>
                  </a:schemeClr>
                </a:solidFill>
                <a:latin typeface="黑体" panose="02010609060101010101" charset="-122"/>
                <a:ea typeface="黑体" panose="02010609060101010101" charset="-122"/>
                <a:cs typeface="黑体" panose="02010609060101010101" charset="-122"/>
              </a:rPr>
              <a:t>我们希望能够得到一个具有对绝大多数问题都适用的模</a:t>
            </a:r>
            <a:r>
              <a:rPr sz="2000" kern="0" spc="90" dirty="0">
                <a:solidFill>
                  <a:schemeClr val="tx1">
                    <a:alpha val="100000"/>
                  </a:schemeClr>
                </a:solidFill>
                <a:latin typeface="黑体" panose="02010609060101010101" charset="-122"/>
                <a:ea typeface="黑体" panose="02010609060101010101" charset="-122"/>
                <a:cs typeface="黑体" panose="02010609060101010101" charset="-122"/>
              </a:rPr>
              <a:t>型，那么能不能通过组合不同适用性的模</a:t>
            </a:r>
            <a:r>
              <a:rPr sz="2000" kern="0" spc="80" dirty="0">
                <a:solidFill>
                  <a:schemeClr val="tx1">
                    <a:alpha val="100000"/>
                  </a:schemeClr>
                </a:solidFill>
                <a:latin typeface="黑体" panose="02010609060101010101" charset="-122"/>
                <a:ea typeface="黑体" panose="02010609060101010101" charset="-122"/>
                <a:cs typeface="黑体" panose="02010609060101010101" charset="-122"/>
              </a:rPr>
              <a:t>型来构造一个通用的</a:t>
            </a:r>
            <a:r>
              <a:rPr sz="2000" kern="0" spc="-30" dirty="0">
                <a:solidFill>
                  <a:schemeClr val="tx1">
                    <a:alpha val="100000"/>
                  </a:schemeClr>
                </a:solidFill>
                <a:latin typeface="黑体" panose="02010609060101010101" charset="-122"/>
                <a:ea typeface="黑体" panose="02010609060101010101" charset="-122"/>
                <a:cs typeface="黑体" panose="02010609060101010101" charset="-122"/>
              </a:rPr>
              <a:t>模型呢？</a:t>
            </a:r>
            <a:endParaRPr lang="en-US" altLang="en-US" sz="2000" dirty="0">
              <a:solidFill>
                <a:schemeClr val="tx1"/>
              </a:solidFill>
              <a:latin typeface="黑体" panose="02010609060101010101" charset="-122"/>
              <a:ea typeface="黑体" panose="02010609060101010101" charset="-122"/>
              <a:cs typeface="黑体" panose="02010609060101010101" charset="-122"/>
            </a:endParaRPr>
          </a:p>
          <a:p>
            <a:pPr algn="l" rtl="0" eaLnBrk="0">
              <a:lnSpc>
                <a:spcPct val="101000"/>
              </a:lnSpc>
            </a:pPr>
            <a:endParaRPr lang="en-US" altLang="en-US" sz="2000" dirty="0">
              <a:latin typeface="黑体" panose="02010609060101010101" charset="-122"/>
              <a:ea typeface="黑体" panose="02010609060101010101" charset="-122"/>
              <a:cs typeface="黑体" panose="02010609060101010101" charset="-122"/>
            </a:endParaRPr>
          </a:p>
          <a:p>
            <a:pPr marL="13335" indent="3810" algn="l" rtl="0" eaLnBrk="0">
              <a:lnSpc>
                <a:spcPct val="100000"/>
              </a:lnSpc>
              <a:spcBef>
                <a:spcPts val="5"/>
              </a:spcBef>
            </a:pPr>
            <a:r>
              <a:rPr lang="en-US" altLang="en-US" sz="2000" dirty="0">
                <a:latin typeface="黑体" panose="02010609060101010101" charset="-122"/>
                <a:ea typeface="黑体" panose="02010609060101010101" charset="-122"/>
                <a:cs typeface="黑体" panose="02010609060101010101" charset="-122"/>
              </a:rPr>
              <a:t>集成学习是将多个模型进行组合来解决单一的预测问题。它的原理是生成多个分类器模型，各自独立地学习并作出预测。</a:t>
            </a:r>
            <a:endParaRPr lang="en-US" altLang="en-US" sz="2000" dirty="0">
              <a:latin typeface="黑体" panose="02010609060101010101" charset="-122"/>
              <a:ea typeface="黑体" panose="02010609060101010101" charset="-122"/>
              <a:cs typeface="黑体" panose="02010609060101010101" charset="-122"/>
            </a:endParaRPr>
          </a:p>
        </p:txBody>
      </p:sp>
      <p:sp>
        <p:nvSpPr>
          <p:cNvPr id="100" name="文本框 99"/>
          <p:cNvSpPr txBox="1"/>
          <p:nvPr/>
        </p:nvSpPr>
        <p:spPr>
          <a:xfrm>
            <a:off x="11718925" y="6457950"/>
            <a:ext cx="473075" cy="400050"/>
          </a:xfrm>
          <a:prstGeom prst="rect">
            <a:avLst/>
          </a:prstGeom>
          <a:noFill/>
          <a:ln w="9525">
            <a:noFill/>
          </a:ln>
        </p:spPr>
        <p:txBody>
          <a:bodyPr wrap="square">
            <a:noAutofit/>
          </a:bodyPr>
          <a:p>
            <a:pPr indent="0"/>
            <a:r>
              <a:rPr lang="en-US" altLang="zh-CN" b="0">
                <a:ea typeface="宋体" panose="02010600030101010101" pitchFamily="2" charset="-122"/>
              </a:rPr>
              <a:t>37</a:t>
            </a:r>
            <a:endParaRPr lang="en-US" altLang="zh-CN" b="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610616" y="1479575"/>
            <a:ext cx="11522709" cy="4571365"/>
          </a:xfrm>
          <a:prstGeom prst="rect">
            <a:avLst/>
          </a:prstGeom>
        </p:spPr>
        <p:txBody>
          <a:bodyPr vert="horz" wrap="square" lIns="0" tIns="0" rIns="0" bIns="0"/>
          <a:lstStyle/>
          <a:p>
            <a:pPr algn="l" rtl="0" eaLnBrk="0">
              <a:lnSpc>
                <a:spcPct val="73000"/>
              </a:lnSpc>
            </a:pPr>
            <a:endParaRPr lang="en-US" altLang="en-US" sz="100" dirty="0"/>
          </a:p>
          <a:p>
            <a:pPr marL="303530" algn="l" rtl="0" eaLnBrk="0">
              <a:lnSpc>
                <a:spcPct val="88000"/>
              </a:lnSpc>
              <a:tabLst>
                <a:tab pos="5575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p:txBody>
      </p:sp>
      <p:grpSp>
        <p:nvGrpSpPr>
          <p:cNvPr id="3" name="group 2"/>
          <p:cNvGrpSpPr/>
          <p:nvPr/>
        </p:nvGrpSpPr>
        <p:grpSpPr>
          <a:xfrm rot="21600000">
            <a:off x="126609" y="147616"/>
            <a:ext cx="2722051" cy="688004"/>
            <a:chOff x="0" y="0"/>
            <a:chExt cx="2722051" cy="688004"/>
          </a:xfrm>
        </p:grpSpPr>
        <p:pic>
          <p:nvPicPr>
            <p:cNvPr id="18" name="picture 18"/>
            <p:cNvPicPr>
              <a:picLocks noChangeAspect="1"/>
            </p:cNvPicPr>
            <p:nvPr/>
          </p:nvPicPr>
          <p:blipFill>
            <a:blip r:embed="rId1"/>
            <a:stretch>
              <a:fillRect/>
            </a:stretch>
          </p:blipFill>
          <p:spPr>
            <a:xfrm rot="21600000">
              <a:off x="0" y="29636"/>
              <a:ext cx="2696776" cy="658368"/>
            </a:xfrm>
            <a:prstGeom prst="rect">
              <a:avLst/>
            </a:prstGeom>
          </p:spPr>
        </p:pic>
        <p:sp>
          <p:nvSpPr>
            <p:cNvPr id="20" name="textbox 2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22" name="picture 22"/>
          <p:cNvPicPr>
            <a:picLocks noChangeAspect="1"/>
          </p:cNvPicPr>
          <p:nvPr/>
        </p:nvPicPr>
        <p:blipFill>
          <a:blip r:embed="rId2"/>
          <a:stretch>
            <a:fillRect/>
          </a:stretch>
        </p:blipFill>
        <p:spPr>
          <a:xfrm rot="21600000">
            <a:off x="10668" y="981455"/>
            <a:ext cx="12181331" cy="45720"/>
          </a:xfrm>
          <a:prstGeom prst="rect">
            <a:avLst/>
          </a:prstGeom>
        </p:spPr>
      </p:pic>
      <p:sp>
        <p:nvSpPr>
          <p:cNvPr id="2161" name="矩形 2160"/>
          <p:cNvSpPr/>
          <p:nvPr>
            <p:custDataLst>
              <p:tags r:id="rId3"/>
            </p:custDataLst>
          </p:nvPr>
        </p:nvSpPr>
        <p:spPr>
          <a:xfrm>
            <a:off x="323850" y="1750060"/>
            <a:ext cx="8362950" cy="835025"/>
          </a:xfrm>
          <a:prstGeom prst="rect">
            <a:avLst/>
          </a:prstGeom>
          <a:noFill/>
          <a:ln w="12700" cap="flat" cmpd="sng">
            <a:solidFill>
              <a:srgbClr val="800000"/>
            </a:solidFill>
            <a:prstDash val="solid"/>
            <a:miter/>
            <a:headEnd type="none" w="med" len="med"/>
            <a:tailEnd type="none" w="med" len="med"/>
          </a:ln>
        </p:spPr>
        <p:txBody>
          <a:bodyPr>
            <a:spAutoFit/>
          </a:bodyPr>
          <a:p>
            <a:pPr>
              <a:spcBef>
                <a:spcPct val="50000"/>
              </a:spcBef>
            </a:pPr>
            <a:r>
              <a:rPr lang="zh-CN" altLang="en-US" sz="2400">
                <a:latin typeface="黑体" panose="02010609060101010101" charset="-122"/>
                <a:ea typeface="黑体" panose="02010609060101010101" charset="-122"/>
              </a:rPr>
              <a:t>   集成学习</a:t>
            </a:r>
            <a:r>
              <a:rPr lang="zh-CN" altLang="en-US" sz="2400">
                <a:latin typeface="Times New Roman" panose="02020603050405020304" charset="0"/>
                <a:ea typeface="黑体" panose="02010609060101010101" charset="-122"/>
              </a:rPr>
              <a:t>（</a:t>
            </a:r>
            <a:r>
              <a:rPr lang="en-US" altLang="en-US" sz="2400">
                <a:latin typeface="Times New Roman" panose="02020603050405020304" charset="0"/>
                <a:ea typeface="黑体" panose="02010609060101010101" charset="-122"/>
              </a:rPr>
              <a:t>Ensemble Learning</a:t>
            </a:r>
            <a:r>
              <a:rPr lang="zh-CN" altLang="en-US" sz="2400">
                <a:latin typeface="Times New Roman" panose="02020603050405020304" charset="0"/>
                <a:ea typeface="黑体" panose="02010609060101010101" charset="-122"/>
              </a:rPr>
              <a:t>）</a:t>
            </a:r>
            <a:r>
              <a:rPr lang="zh-CN" altLang="en-US" sz="2400">
                <a:latin typeface="黑体" panose="02010609060101010101" charset="-122"/>
                <a:ea typeface="黑体" panose="02010609060101010101" charset="-122"/>
              </a:rPr>
              <a:t>是一种机器学习范式，它使用多个（通常是同质的）学习器来解决同一个问题</a:t>
            </a:r>
            <a:endParaRPr lang="zh-CN" altLang="en-US" sz="2400">
              <a:latin typeface="黑体" panose="02010609060101010101" charset="-122"/>
              <a:ea typeface="黑体" panose="02010609060101010101" charset="-122"/>
            </a:endParaRPr>
          </a:p>
        </p:txBody>
      </p:sp>
      <p:sp>
        <p:nvSpPr>
          <p:cNvPr id="2427" name="矩形 2426"/>
          <p:cNvSpPr/>
          <p:nvPr>
            <p:custDataLst>
              <p:tags r:id="rId4"/>
            </p:custDataLst>
          </p:nvPr>
        </p:nvSpPr>
        <p:spPr>
          <a:xfrm>
            <a:off x="416560" y="3224530"/>
            <a:ext cx="6553200" cy="1758950"/>
          </a:xfrm>
          <a:prstGeom prst="rect">
            <a:avLst/>
          </a:prstGeom>
          <a:noFill/>
          <a:ln w="9525" cap="flat" cmpd="sng">
            <a:solidFill>
              <a:srgbClr val="FF0000"/>
            </a:solidFill>
            <a:prstDash val="solid"/>
            <a:miter/>
            <a:headEnd type="none" w="med" len="med"/>
            <a:tailEnd type="none" w="med" len="med"/>
          </a:ln>
        </p:spPr>
        <p:txBody>
          <a:bodyPr>
            <a:spAutoFit/>
          </a:bodyPr>
          <a:p>
            <a:pPr>
              <a:spcBef>
                <a:spcPct val="50000"/>
              </a:spcBef>
            </a:pPr>
            <a:r>
              <a:rPr lang="zh-CN" altLang="en-US" sz="2000">
                <a:latin typeface="黑体" panose="02010609060101010101" charset="-122"/>
                <a:ea typeface="黑体" panose="02010609060101010101" charset="-122"/>
              </a:rPr>
              <a:t>    集成学习</a:t>
            </a:r>
            <a:r>
              <a:rPr lang="zh-CN" altLang="en-US" sz="2000">
                <a:latin typeface="Times New Roman" panose="02020603050405020304" charset="0"/>
                <a:ea typeface="黑体" panose="02010609060101010101" charset="-122"/>
              </a:rPr>
              <a:t>中使用的多个学习器称为个体学习器</a:t>
            </a:r>
            <a:endParaRPr lang="zh-CN" altLang="en-US" sz="2000">
              <a:latin typeface="Times New Roman" panose="02020603050405020304" charset="0"/>
              <a:ea typeface="黑体" panose="02010609060101010101" charset="-122"/>
            </a:endParaRPr>
          </a:p>
          <a:p>
            <a:pPr lvl="1" algn="l" eaLnBrk="1" hangingPunct="1">
              <a:spcBef>
                <a:spcPct val="50000"/>
              </a:spcBef>
            </a:pPr>
            <a:r>
              <a:rPr lang="zh-CN" altLang="en-US" sz="2000">
                <a:latin typeface="Times New Roman" panose="02020603050405020304" charset="0"/>
                <a:ea typeface="黑体" panose="02010609060101010101" charset="-122"/>
              </a:rPr>
              <a:t>当个体学习器均为决策树时，称为“决策树集成”</a:t>
            </a:r>
            <a:endParaRPr lang="zh-CN" altLang="en-US" sz="2000">
              <a:latin typeface="Times New Roman" panose="02020603050405020304" charset="0"/>
              <a:ea typeface="黑体" panose="02010609060101010101" charset="-122"/>
            </a:endParaRPr>
          </a:p>
          <a:p>
            <a:pPr lvl="1" algn="l" eaLnBrk="1" hangingPunct="1">
              <a:spcBef>
                <a:spcPct val="50000"/>
              </a:spcBef>
            </a:pPr>
            <a:r>
              <a:rPr lang="zh-CN" altLang="en-US" sz="2000">
                <a:latin typeface="Times New Roman" panose="02020603050405020304" charset="0"/>
                <a:ea typeface="黑体" panose="02010609060101010101" charset="-122"/>
              </a:rPr>
              <a:t>当个体学习器均为神经网络时，称为“神经网络集成”</a:t>
            </a:r>
            <a:endParaRPr lang="zh-CN" altLang="en-US" sz="2000">
              <a:latin typeface="Times New Roman" panose="02020603050405020304" charset="0"/>
              <a:ea typeface="黑体" panose="02010609060101010101" charset="-122"/>
            </a:endParaRPr>
          </a:p>
          <a:p>
            <a:pPr lvl="1" algn="l" eaLnBrk="1" hangingPunct="1">
              <a:spcBef>
                <a:spcPct val="20000"/>
              </a:spcBef>
            </a:pPr>
            <a:r>
              <a:rPr lang="en-US" altLang="en-US" sz="2400" b="1">
                <a:latin typeface="Times New Roman" panose="02020603050405020304" charset="0"/>
                <a:ea typeface="黑体" panose="02010609060101010101" charset="-122"/>
              </a:rPr>
              <a:t>……  ……</a:t>
            </a:r>
            <a:endParaRPr lang="en-US" altLang="en-US" sz="2400" b="1">
              <a:latin typeface="黑体" panose="02010609060101010101" charset="-122"/>
              <a:ea typeface="黑体" panose="02010609060101010101" charset="-122"/>
            </a:endParaRPr>
          </a:p>
        </p:txBody>
      </p:sp>
      <p:sp>
        <p:nvSpPr>
          <p:cNvPr id="100" name="文本框 99"/>
          <p:cNvSpPr txBox="1"/>
          <p:nvPr/>
        </p:nvSpPr>
        <p:spPr>
          <a:xfrm>
            <a:off x="11657965" y="6201410"/>
            <a:ext cx="534035" cy="656590"/>
          </a:xfrm>
          <a:prstGeom prst="rect">
            <a:avLst/>
          </a:prstGeom>
          <a:noFill/>
          <a:ln w="9525">
            <a:noFill/>
          </a:ln>
        </p:spPr>
        <p:txBody>
          <a:bodyPr wrap="square">
            <a:noAutofit/>
          </a:bodyPr>
          <a:p>
            <a:pPr indent="0"/>
            <a:r>
              <a:rPr lang="en-US" altLang="zh-CN" b="0">
                <a:ea typeface="宋体" panose="02010600030101010101" pitchFamily="2" charset="-122"/>
              </a:rPr>
              <a:t>                                                   38</a:t>
            </a:r>
            <a:endParaRPr lang="en-US" altLang="zh-CN" b="0">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610616" y="1479575"/>
            <a:ext cx="11522709" cy="4571365"/>
          </a:xfrm>
          <a:prstGeom prst="rect">
            <a:avLst/>
          </a:prstGeom>
        </p:spPr>
        <p:txBody>
          <a:bodyPr vert="horz" wrap="square" lIns="0" tIns="0" rIns="0" bIns="0"/>
          <a:lstStyle/>
          <a:p>
            <a:pPr algn="l" rtl="0" eaLnBrk="0">
              <a:lnSpc>
                <a:spcPct val="73000"/>
              </a:lnSpc>
            </a:pPr>
            <a:endParaRPr lang="en-US" altLang="en-US" sz="100" dirty="0"/>
          </a:p>
          <a:p>
            <a:pPr marL="303530" algn="l" rtl="0" eaLnBrk="0">
              <a:lnSpc>
                <a:spcPct val="88000"/>
              </a:lnSpc>
              <a:tabLst>
                <a:tab pos="5575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p:txBody>
      </p:sp>
      <p:grpSp>
        <p:nvGrpSpPr>
          <p:cNvPr id="3" name="group 2"/>
          <p:cNvGrpSpPr/>
          <p:nvPr/>
        </p:nvGrpSpPr>
        <p:grpSpPr>
          <a:xfrm rot="21600000">
            <a:off x="126609" y="147616"/>
            <a:ext cx="2722051" cy="688004"/>
            <a:chOff x="0" y="0"/>
            <a:chExt cx="2722051" cy="688004"/>
          </a:xfrm>
        </p:grpSpPr>
        <p:pic>
          <p:nvPicPr>
            <p:cNvPr id="18" name="picture 18"/>
            <p:cNvPicPr>
              <a:picLocks noChangeAspect="1"/>
            </p:cNvPicPr>
            <p:nvPr/>
          </p:nvPicPr>
          <p:blipFill>
            <a:blip r:embed="rId1"/>
            <a:stretch>
              <a:fillRect/>
            </a:stretch>
          </p:blipFill>
          <p:spPr>
            <a:xfrm rot="21600000">
              <a:off x="0" y="29636"/>
              <a:ext cx="2696776" cy="658368"/>
            </a:xfrm>
            <a:prstGeom prst="rect">
              <a:avLst/>
            </a:prstGeom>
          </p:spPr>
        </p:pic>
        <p:sp>
          <p:nvSpPr>
            <p:cNvPr id="20" name="textbox 2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22" name="picture 22"/>
          <p:cNvPicPr>
            <a:picLocks noChangeAspect="1"/>
          </p:cNvPicPr>
          <p:nvPr/>
        </p:nvPicPr>
        <p:blipFill>
          <a:blip r:embed="rId2"/>
          <a:stretch>
            <a:fillRect/>
          </a:stretch>
        </p:blipFill>
        <p:spPr>
          <a:xfrm rot="21600000">
            <a:off x="10668" y="981455"/>
            <a:ext cx="12181331" cy="45720"/>
          </a:xfrm>
          <a:prstGeom prst="rect">
            <a:avLst/>
          </a:prstGeom>
        </p:spPr>
      </p:pic>
      <p:sp>
        <p:nvSpPr>
          <p:cNvPr id="40" name="textbox 40"/>
          <p:cNvSpPr/>
          <p:nvPr>
            <p:custDataLst>
              <p:tags r:id="rId3"/>
            </p:custDataLst>
          </p:nvPr>
        </p:nvSpPr>
        <p:spPr>
          <a:xfrm>
            <a:off x="1559560" y="1479550"/>
            <a:ext cx="5701030" cy="2787650"/>
          </a:xfrm>
          <a:prstGeom prst="rect">
            <a:avLst/>
          </a:prstGeom>
        </p:spPr>
        <p:txBody>
          <a:bodyPr vert="horz" wrap="square" lIns="0" tIns="0" rIns="0" bIns="0"/>
          <a:p>
            <a:pPr algn="l" rtl="0" eaLnBrk="0">
              <a:lnSpc>
                <a:spcPct val="82000"/>
              </a:lnSpc>
            </a:pPr>
            <a:endParaRPr lang="en-US" altLang="en-US" sz="100" dirty="0"/>
          </a:p>
          <a:p>
            <a:pPr marL="55880" algn="l" rtl="0" eaLnBrk="0">
              <a:lnSpc>
                <a:spcPct val="93000"/>
              </a:lnSpc>
            </a:pPr>
            <a:endParaRPr lang="en-US" altLang="en-US" sz="2000" dirty="0">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1350645" y="1299210"/>
            <a:ext cx="8596630" cy="5558790"/>
          </a:xfrm>
          <a:prstGeom prst="rect">
            <a:avLst/>
          </a:prstGeom>
          <a:noFill/>
        </p:spPr>
        <p:txBody>
          <a:bodyPr wrap="square" rtlCol="0" anchor="t">
            <a:noAutofit/>
          </a:bodyPr>
          <a:p>
            <a:pPr indent="0">
              <a:lnSpc>
                <a:spcPts val="2800"/>
              </a:lnSpc>
              <a:spcBef>
                <a:spcPct val="0"/>
              </a:spcBef>
              <a:spcAft>
                <a:spcPts val="1200"/>
              </a:spcAft>
              <a:buClrTx/>
              <a:buSzTx/>
              <a:buFontTx/>
              <a:buNone/>
            </a:pPr>
            <a:r>
              <a:rPr lang="zh-CN" altLang="en-US" sz="2000" dirty="0">
                <a:latin typeface="华文中宋" panose="02010600040101010101" pitchFamily="2" charset="-122"/>
                <a:ea typeface="华文中宋" panose="02010600040101010101" pitchFamily="2" charset="-122"/>
                <a:sym typeface="+mn-ea"/>
              </a:rPr>
              <a:t> 集成学习通过建立几个模型组合的来解决单一预测问题。它的工作原理是生成多个分类器，各自独立地学习和作出预测。这些预测最后结合成单预测，因此优于任何一个单分类的做出预测。</a:t>
            </a:r>
            <a:endParaRPr lang="zh-CN" altLang="en-US" sz="2000" dirty="0">
              <a:latin typeface="华文中宋" panose="02010600040101010101" pitchFamily="2" charset="-122"/>
              <a:ea typeface="华文中宋" panose="02010600040101010101" pitchFamily="2" charset="-122"/>
            </a:endParaRPr>
          </a:p>
          <a:p>
            <a:pPr indent="0">
              <a:lnSpc>
                <a:spcPts val="2800"/>
              </a:lnSpc>
              <a:spcBef>
                <a:spcPct val="0"/>
              </a:spcBef>
              <a:spcAft>
                <a:spcPts val="1200"/>
              </a:spcAft>
              <a:buClrTx/>
              <a:buSzTx/>
              <a:buFontTx/>
              <a:buNone/>
            </a:pPr>
            <a:r>
              <a:rPr lang="zh-CN" altLang="en-US" sz="2000" dirty="0">
                <a:latin typeface="华文中宋" panose="02010600040101010101" pitchFamily="2" charset="-122"/>
                <a:ea typeface="华文中宋" panose="02010600040101010101" pitchFamily="2" charset="-122"/>
                <a:sym typeface="+mn-ea"/>
              </a:rPr>
              <a:t>　　随机森林是集成学习的一个子类，它依靠于决策树的投票选择来决定最后的分类结果。</a:t>
            </a:r>
            <a:endParaRPr lang="zh-CN" altLang="en-US" sz="2000" dirty="0">
              <a:latin typeface="华文中宋" panose="02010600040101010101" pitchFamily="2" charset="-122"/>
              <a:ea typeface="华文中宋" panose="02010600040101010101" pitchFamily="2" charset="-122"/>
              <a:sym typeface="+mn-ea"/>
            </a:endParaRPr>
          </a:p>
        </p:txBody>
      </p:sp>
      <p:grpSp>
        <p:nvGrpSpPr>
          <p:cNvPr id="41988" name="组合 31"/>
          <p:cNvGrpSpPr/>
          <p:nvPr/>
        </p:nvGrpSpPr>
        <p:grpSpPr>
          <a:xfrm>
            <a:off x="2109788" y="3675698"/>
            <a:ext cx="6245225" cy="2087562"/>
            <a:chOff x="1187184" y="3284984"/>
            <a:chExt cx="6035740" cy="1656184"/>
          </a:xfrm>
        </p:grpSpPr>
        <p:sp>
          <p:nvSpPr>
            <p:cNvPr id="13" name="圆角矩形 12"/>
            <p:cNvSpPr/>
            <p:nvPr>
              <p:custDataLst>
                <p:tags r:id="rId4"/>
              </p:custDataLst>
            </p:nvPr>
          </p:nvSpPr>
          <p:spPr>
            <a:xfrm>
              <a:off x="1187184" y="3284984"/>
              <a:ext cx="2017538" cy="360204"/>
            </a:xfrm>
            <a:prstGeom prst="round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个体学习器</a:t>
              </a:r>
              <a:r>
                <a:rPr kumimoji="0" lang="en-US" altLang="zh-CN" sz="2000" b="1" i="0" u="none" strike="noStrike" kern="1200" cap="none" spc="0" normalizeH="0" baseline="0" noProof="0" dirty="0">
                  <a:ln>
                    <a:noFill/>
                  </a:ln>
                  <a:solidFill>
                    <a:srgbClr val="000000"/>
                  </a:solidFill>
                  <a:effectLst/>
                  <a:uLnTx/>
                  <a:uFillTx/>
                  <a:latin typeface="+mn-lt"/>
                  <a:ea typeface="+mn-ea"/>
                  <a:cs typeface="+mn-cs"/>
                </a:rPr>
                <a:t>1</a:t>
              </a:r>
              <a:endParaRPr kumimoji="0" lang="zh-CN" altLang="en-US" sz="2000" b="1" i="0" u="none" strike="noStrike" kern="1200" cap="none" spc="0" normalizeH="0" baseline="0" noProof="0" dirty="0">
                <a:ln>
                  <a:noFill/>
                </a:ln>
                <a:solidFill>
                  <a:srgbClr val="000000"/>
                </a:solidFill>
                <a:effectLst/>
                <a:uLnTx/>
                <a:uFillTx/>
                <a:latin typeface="+mn-lt"/>
                <a:ea typeface="+mn-ea"/>
                <a:cs typeface="+mn-cs"/>
              </a:endParaRPr>
            </a:p>
          </p:txBody>
        </p:sp>
        <p:sp>
          <p:nvSpPr>
            <p:cNvPr id="14" name="圆角矩形 13"/>
            <p:cNvSpPr/>
            <p:nvPr>
              <p:custDataLst>
                <p:tags r:id="rId5"/>
              </p:custDataLst>
            </p:nvPr>
          </p:nvSpPr>
          <p:spPr>
            <a:xfrm>
              <a:off x="1187184" y="3861815"/>
              <a:ext cx="2017538" cy="360204"/>
            </a:xfrm>
            <a:prstGeom prst="round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个体学习器</a:t>
              </a:r>
              <a:r>
                <a:rPr kumimoji="0" lang="en-US" altLang="zh-CN" sz="2000" b="1" i="0" u="none" strike="noStrike" kern="1200" cap="none" spc="0" normalizeH="0" baseline="0" noProof="0" dirty="0">
                  <a:ln>
                    <a:noFill/>
                  </a:ln>
                  <a:solidFill>
                    <a:srgbClr val="000000"/>
                  </a:solidFill>
                  <a:effectLst/>
                  <a:uLnTx/>
                  <a:uFillTx/>
                  <a:latin typeface="+mn-lt"/>
                  <a:ea typeface="+mn-ea"/>
                  <a:cs typeface="+mn-cs"/>
                </a:rPr>
                <a:t>2</a:t>
              </a:r>
              <a:endParaRPr kumimoji="0" lang="zh-CN" altLang="en-US" sz="2000" b="1" i="0" u="none" strike="noStrike" kern="1200" cap="none" spc="0" normalizeH="0" baseline="0" noProof="0" dirty="0">
                <a:ln>
                  <a:noFill/>
                </a:ln>
                <a:solidFill>
                  <a:srgbClr val="000000"/>
                </a:solidFill>
                <a:effectLst/>
                <a:uLnTx/>
                <a:uFillTx/>
                <a:latin typeface="+mn-lt"/>
                <a:ea typeface="+mn-ea"/>
                <a:cs typeface="+mn-cs"/>
              </a:endParaRPr>
            </a:p>
          </p:txBody>
        </p:sp>
        <p:sp>
          <p:nvSpPr>
            <p:cNvPr id="15" name="圆角矩形 14"/>
            <p:cNvSpPr/>
            <p:nvPr>
              <p:custDataLst>
                <p:tags r:id="rId6"/>
              </p:custDataLst>
            </p:nvPr>
          </p:nvSpPr>
          <p:spPr>
            <a:xfrm>
              <a:off x="1187184" y="4580964"/>
              <a:ext cx="2017538" cy="360204"/>
            </a:xfrm>
            <a:prstGeom prst="round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个体学习器</a:t>
              </a:r>
              <a:r>
                <a:rPr kumimoji="0" lang="en-US" altLang="zh-CN" sz="2000" b="1" i="0" u="none" strike="noStrike" kern="1200" cap="none" spc="0" normalizeH="0" baseline="0" noProof="0" dirty="0">
                  <a:ln>
                    <a:noFill/>
                  </a:ln>
                  <a:solidFill>
                    <a:srgbClr val="000000"/>
                  </a:solidFill>
                  <a:effectLst/>
                  <a:uLnTx/>
                  <a:uFillTx/>
                  <a:latin typeface="+mn-lt"/>
                  <a:ea typeface="+mn-ea"/>
                  <a:cs typeface="+mn-cs"/>
                </a:rPr>
                <a:t>T</a:t>
              </a:r>
              <a:endParaRPr kumimoji="0" lang="zh-CN" altLang="en-US" sz="2000" b="1" i="0" u="none" strike="noStrike" kern="1200" cap="none" spc="0" normalizeH="0" baseline="0" noProof="0" dirty="0">
                <a:ln>
                  <a:noFill/>
                </a:ln>
                <a:solidFill>
                  <a:srgbClr val="000000"/>
                </a:solidFill>
                <a:effectLst/>
                <a:uLnTx/>
                <a:uFillTx/>
                <a:latin typeface="+mn-lt"/>
                <a:ea typeface="+mn-ea"/>
                <a:cs typeface="+mn-cs"/>
              </a:endParaRPr>
            </a:p>
          </p:txBody>
        </p:sp>
        <p:sp>
          <p:nvSpPr>
            <p:cNvPr id="41993" name="文本框 8"/>
            <p:cNvSpPr txBox="1"/>
            <p:nvPr>
              <p:custDataLst>
                <p:tags r:id="rId7"/>
              </p:custDataLst>
            </p:nvPr>
          </p:nvSpPr>
          <p:spPr>
            <a:xfrm rot="5400000">
              <a:off x="1939061" y="4243729"/>
              <a:ext cx="432048" cy="3867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8"/>
                </a:buBlip>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11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110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00"/>
                  </a:solidFill>
                  <a:latin typeface="Arial" panose="020B0604020202020204" pitchFamily="34" charset="0"/>
                </a:rPr>
                <a:t>…</a:t>
              </a:r>
              <a:endParaRPr lang="zh-CN" altLang="en-US" sz="2000" b="1" dirty="0">
                <a:solidFill>
                  <a:srgbClr val="000000"/>
                </a:solidFill>
                <a:latin typeface="Arial" panose="020B0604020202020204" pitchFamily="34" charset="0"/>
              </a:endParaRPr>
            </a:p>
          </p:txBody>
        </p:sp>
        <p:sp>
          <p:nvSpPr>
            <p:cNvPr id="17" name="圆角矩形 16"/>
            <p:cNvSpPr/>
            <p:nvPr>
              <p:custDataLst>
                <p:tags r:id="rId9"/>
              </p:custDataLst>
            </p:nvPr>
          </p:nvSpPr>
          <p:spPr>
            <a:xfrm>
              <a:off x="4211191" y="3860555"/>
              <a:ext cx="975783" cy="648620"/>
            </a:xfrm>
            <a:prstGeom prst="round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结合模块</a:t>
              </a:r>
              <a:endParaRPr kumimoji="0" lang="zh-CN" altLang="en-US" sz="2000" b="1" i="0" u="none" strike="noStrike" kern="1200" cap="none" spc="0" normalizeH="0" baseline="0" noProof="0" dirty="0">
                <a:ln>
                  <a:noFill/>
                </a:ln>
                <a:solidFill>
                  <a:srgbClr val="000000"/>
                </a:solidFill>
                <a:effectLst/>
                <a:uLnTx/>
                <a:uFillTx/>
                <a:latin typeface="+mn-lt"/>
                <a:ea typeface="+mn-ea"/>
                <a:cs typeface="+mn-cs"/>
              </a:endParaRPr>
            </a:p>
          </p:txBody>
        </p:sp>
        <p:cxnSp>
          <p:nvCxnSpPr>
            <p:cNvPr id="5" name="直接箭头连接符 4"/>
            <p:cNvCxnSpPr/>
            <p:nvPr>
              <p:custDataLst>
                <p:tags r:id="rId10"/>
              </p:custDataLst>
            </p:nvPr>
          </p:nvCxnSpPr>
          <p:spPr>
            <a:xfrm flipV="1">
              <a:off x="3204722" y="4300105"/>
              <a:ext cx="992660" cy="423177"/>
            </a:xfrm>
            <a:prstGeom prst="straightConnector1">
              <a:avLst/>
            </a:prstGeom>
            <a:ln>
              <a:solidFill>
                <a:srgbClr val="000000"/>
              </a:solidFill>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p:nvPr>
              <p:custDataLst>
                <p:tags r:id="rId11"/>
              </p:custDataLst>
            </p:nvPr>
          </p:nvCxnSpPr>
          <p:spPr>
            <a:xfrm>
              <a:off x="3235407" y="4043176"/>
              <a:ext cx="975783" cy="105794"/>
            </a:xfrm>
            <a:prstGeom prst="straightConnector1">
              <a:avLst/>
            </a:prstGeom>
            <a:ln>
              <a:solidFill>
                <a:srgbClr val="000000"/>
              </a:solidFill>
              <a:tailEnd type="triangle"/>
            </a:ln>
          </p:spPr>
          <p:style>
            <a:lnRef idx="1">
              <a:schemeClr val="dk1"/>
            </a:lnRef>
            <a:fillRef idx="0">
              <a:schemeClr val="dk1"/>
            </a:fillRef>
            <a:effectRef idx="0">
              <a:schemeClr val="dk1"/>
            </a:effectRef>
            <a:fontRef idx="minor">
              <a:schemeClr val="tx1"/>
            </a:fontRef>
          </p:style>
        </p:cxnSp>
        <p:cxnSp>
          <p:nvCxnSpPr>
            <p:cNvPr id="6" name="直接箭头连接符 5"/>
            <p:cNvCxnSpPr/>
            <p:nvPr>
              <p:custDataLst>
                <p:tags r:id="rId12"/>
              </p:custDataLst>
            </p:nvPr>
          </p:nvCxnSpPr>
          <p:spPr>
            <a:xfrm>
              <a:off x="3220065" y="3504129"/>
              <a:ext cx="991126" cy="460961"/>
            </a:xfrm>
            <a:prstGeom prst="straightConnector1">
              <a:avLst/>
            </a:prstGeom>
            <a:ln>
              <a:solidFill>
                <a:srgbClr val="000000"/>
              </a:solidFill>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p:nvPr>
              <p:custDataLst>
                <p:tags r:id="rId13"/>
              </p:custDataLst>
            </p:nvPr>
          </p:nvCxnSpPr>
          <p:spPr>
            <a:xfrm>
              <a:off x="5219193" y="4148971"/>
              <a:ext cx="833097" cy="0"/>
            </a:xfrm>
            <a:prstGeom prst="straightConnector1">
              <a:avLst/>
            </a:prstGeom>
            <a:ln>
              <a:solidFill>
                <a:srgbClr val="000000"/>
              </a:solidFill>
              <a:tailEnd type="triangle"/>
            </a:ln>
          </p:spPr>
          <p:style>
            <a:lnRef idx="1">
              <a:schemeClr val="dk1"/>
            </a:lnRef>
            <a:fillRef idx="0">
              <a:schemeClr val="dk1"/>
            </a:fillRef>
            <a:effectRef idx="0">
              <a:schemeClr val="dk1"/>
            </a:effectRef>
            <a:fontRef idx="minor">
              <a:schemeClr val="tx1"/>
            </a:fontRef>
          </p:style>
        </p:cxnSp>
        <p:sp>
          <p:nvSpPr>
            <p:cNvPr id="41999" name="文本框 30"/>
            <p:cNvSpPr txBox="1"/>
            <p:nvPr>
              <p:custDataLst>
                <p:tags r:id="rId14"/>
              </p:custDataLst>
            </p:nvPr>
          </p:nvSpPr>
          <p:spPr>
            <a:xfrm>
              <a:off x="5983381" y="3982763"/>
              <a:ext cx="1239543" cy="31750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8"/>
                </a:buBlip>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11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110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00"/>
                  </a:solidFill>
                  <a:latin typeface="Arial" panose="020B0604020202020204" pitchFamily="34" charset="0"/>
                </a:rPr>
                <a:t>输出</a:t>
              </a:r>
              <a:endParaRPr lang="zh-CN" altLang="en-US" sz="2000" b="1" dirty="0">
                <a:solidFill>
                  <a:srgbClr val="000000"/>
                </a:solidFill>
                <a:latin typeface="Arial" panose="020B0604020202020204" pitchFamily="34" charset="0"/>
              </a:endParaRPr>
            </a:p>
          </p:txBody>
        </p:sp>
      </p:grpSp>
      <p:sp>
        <p:nvSpPr>
          <p:cNvPr id="23" name="矩形 22"/>
          <p:cNvSpPr/>
          <p:nvPr>
            <p:custDataLst>
              <p:tags r:id="rId15"/>
            </p:custDataLst>
          </p:nvPr>
        </p:nvSpPr>
        <p:spPr>
          <a:xfrm>
            <a:off x="4213225" y="5926138"/>
            <a:ext cx="2481263" cy="400050"/>
          </a:xfrm>
          <a:prstGeom prst="rect">
            <a:avLst/>
          </a:prstGeom>
        </p:spPr>
        <p:txBody>
          <a:bodyPr wrap="non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2000" b="1" i="0" u="none" strike="noStrike" kern="100" cap="none" spc="0" normalizeH="0" baseline="0" noProof="0" dirty="0">
                <a:ln>
                  <a:noFill/>
                </a:ln>
                <a:solidFill>
                  <a:srgbClr val="000000"/>
                </a:solidFill>
                <a:effectLst/>
                <a:uLnTx/>
                <a:uFillTx/>
                <a:latin typeface="Calibri" panose="020F0502020204030204" charset="0"/>
                <a:ea typeface="华文中宋" panose="02010600040101010101" pitchFamily="2" charset="-122"/>
                <a:cs typeface="Times New Roman" panose="02020603050405020304" charset="0"/>
              </a:rPr>
              <a:t>图</a:t>
            </a:r>
            <a:r>
              <a:rPr kumimoji="0" lang="en-US" altLang="zh-CN" sz="2000" b="1" i="0" u="none" strike="noStrike" kern="100" cap="none" spc="0" normalizeH="0" baseline="0" noProof="0" dirty="0">
                <a:ln>
                  <a:noFill/>
                </a:ln>
                <a:solidFill>
                  <a:srgbClr val="000000"/>
                </a:solidFill>
                <a:effectLst/>
                <a:uLnTx/>
                <a:uFillTx/>
                <a:latin typeface="Calibri" panose="020F0502020204030204" charset="0"/>
                <a:ea typeface="华文中宋" panose="02010600040101010101" pitchFamily="2" charset="-122"/>
                <a:cs typeface="Times New Roman" panose="02020603050405020304" charset="0"/>
              </a:rPr>
              <a:t>4  </a:t>
            </a:r>
            <a:r>
              <a:rPr kumimoji="0" lang="zh-CN" altLang="en-US" sz="2000" b="1" i="0" u="none" strike="noStrike" kern="100" cap="none" spc="0" normalizeH="0" baseline="0" noProof="0" dirty="0">
                <a:ln>
                  <a:noFill/>
                </a:ln>
                <a:solidFill>
                  <a:srgbClr val="000000"/>
                </a:solidFill>
                <a:effectLst/>
                <a:uLnTx/>
                <a:uFillTx/>
                <a:latin typeface="Calibri" panose="020F0502020204030204" charset="0"/>
                <a:ea typeface="华文中宋" panose="02010600040101010101" pitchFamily="2" charset="-122"/>
                <a:cs typeface="Times New Roman" panose="02020603050405020304" charset="0"/>
              </a:rPr>
              <a:t>集成学习结构图</a:t>
            </a:r>
            <a:endParaRPr kumimoji="0" lang="zh-CN" altLang="en-US" sz="2000" b="1" i="0" u="none" strike="noStrike" kern="1200" cap="none" spc="0" normalizeH="0" baseline="0" noProof="0" dirty="0">
              <a:ln>
                <a:noFill/>
              </a:ln>
              <a:solidFill>
                <a:srgbClr val="000000"/>
              </a:solidFill>
              <a:effectLst/>
              <a:uLnTx/>
              <a:uFillTx/>
              <a:latin typeface="Tahoma" panose="020B0604030504040204" pitchFamily="34" charset="0"/>
              <a:ea typeface="黑体" panose="02010609060101010101" charset="-122"/>
              <a:cs typeface="+mn-cs"/>
            </a:endParaRPr>
          </a:p>
        </p:txBody>
      </p:sp>
      <p:sp>
        <p:nvSpPr>
          <p:cNvPr id="100" name="文本框 99"/>
          <p:cNvSpPr txBox="1"/>
          <p:nvPr/>
        </p:nvSpPr>
        <p:spPr>
          <a:xfrm>
            <a:off x="11741150" y="6503035"/>
            <a:ext cx="450850" cy="368300"/>
          </a:xfrm>
          <a:prstGeom prst="rect">
            <a:avLst/>
          </a:prstGeom>
          <a:noFill/>
          <a:ln w="9525">
            <a:noFill/>
          </a:ln>
        </p:spPr>
        <p:txBody>
          <a:bodyPr wrap="square">
            <a:spAutoFit/>
          </a:bodyPr>
          <a:p>
            <a:pPr indent="0"/>
            <a:r>
              <a:rPr lang="en-US" altLang="zh-CN" b="0">
                <a:ea typeface="宋体" panose="02010600030101010101" pitchFamily="2" charset="-122"/>
              </a:rPr>
              <a:t>39</a:t>
            </a:r>
            <a:endParaRPr lang="en-US" altLang="zh-CN" b="0">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764921" y="1479575"/>
            <a:ext cx="11522709" cy="4571365"/>
          </a:xfrm>
          <a:prstGeom prst="rect">
            <a:avLst/>
          </a:prstGeom>
        </p:spPr>
        <p:txBody>
          <a:bodyPr vert="horz" wrap="square" lIns="0" tIns="0" rIns="0" bIns="0"/>
          <a:lstStyle/>
          <a:p>
            <a:pPr algn="l" rtl="0" eaLnBrk="0">
              <a:lnSpc>
                <a:spcPct val="73000"/>
              </a:lnSpc>
            </a:pPr>
            <a:endParaRPr lang="en-US" altLang="en-US" sz="100" dirty="0"/>
          </a:p>
          <a:p>
            <a:pPr marL="303530" algn="l" rtl="0" eaLnBrk="0">
              <a:lnSpc>
                <a:spcPct val="88000"/>
              </a:lnSpc>
              <a:tabLst>
                <a:tab pos="5575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p:txBody>
      </p:sp>
      <p:grpSp>
        <p:nvGrpSpPr>
          <p:cNvPr id="3" name="group 2"/>
          <p:cNvGrpSpPr/>
          <p:nvPr/>
        </p:nvGrpSpPr>
        <p:grpSpPr>
          <a:xfrm rot="21600000">
            <a:off x="126609" y="147616"/>
            <a:ext cx="2722051" cy="688004"/>
            <a:chOff x="0" y="0"/>
            <a:chExt cx="2722051" cy="688004"/>
          </a:xfrm>
        </p:grpSpPr>
        <p:pic>
          <p:nvPicPr>
            <p:cNvPr id="18" name="picture 18"/>
            <p:cNvPicPr>
              <a:picLocks noChangeAspect="1"/>
            </p:cNvPicPr>
            <p:nvPr/>
          </p:nvPicPr>
          <p:blipFill>
            <a:blip r:embed="rId1"/>
            <a:stretch>
              <a:fillRect/>
            </a:stretch>
          </p:blipFill>
          <p:spPr>
            <a:xfrm rot="21600000">
              <a:off x="0" y="29636"/>
              <a:ext cx="2696776" cy="658368"/>
            </a:xfrm>
            <a:prstGeom prst="rect">
              <a:avLst/>
            </a:prstGeom>
          </p:spPr>
        </p:pic>
        <p:sp>
          <p:nvSpPr>
            <p:cNvPr id="20" name="textbox 2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22" name="picture 22"/>
          <p:cNvPicPr>
            <a:picLocks noChangeAspect="1"/>
          </p:cNvPicPr>
          <p:nvPr/>
        </p:nvPicPr>
        <p:blipFill>
          <a:blip r:embed="rId2"/>
          <a:stretch>
            <a:fillRect/>
          </a:stretch>
        </p:blipFill>
        <p:spPr>
          <a:xfrm rot="21600000">
            <a:off x="10668" y="981455"/>
            <a:ext cx="12181331" cy="45720"/>
          </a:xfrm>
          <a:prstGeom prst="rect">
            <a:avLst/>
          </a:prstGeom>
        </p:spPr>
      </p:pic>
      <p:sp>
        <p:nvSpPr>
          <p:cNvPr id="40" name="textbox 40"/>
          <p:cNvSpPr/>
          <p:nvPr>
            <p:custDataLst>
              <p:tags r:id="rId3"/>
            </p:custDataLst>
          </p:nvPr>
        </p:nvSpPr>
        <p:spPr>
          <a:xfrm>
            <a:off x="1559560" y="1479550"/>
            <a:ext cx="5701030" cy="2787650"/>
          </a:xfrm>
          <a:prstGeom prst="rect">
            <a:avLst/>
          </a:prstGeom>
        </p:spPr>
        <p:txBody>
          <a:bodyPr vert="horz" wrap="square" lIns="0" tIns="0" rIns="0" bIns="0"/>
          <a:p>
            <a:pPr algn="l" rtl="0" eaLnBrk="0">
              <a:lnSpc>
                <a:spcPct val="82000"/>
              </a:lnSpc>
            </a:pPr>
            <a:endParaRPr lang="en-US" altLang="en-US" sz="100" dirty="0"/>
          </a:p>
          <a:p>
            <a:pPr marL="55880" algn="l" rtl="0" eaLnBrk="0">
              <a:lnSpc>
                <a:spcPct val="93000"/>
              </a:lnSpc>
            </a:pPr>
            <a:endParaRPr lang="en-US" altLang="en-US" sz="2000" dirty="0">
              <a:latin typeface="黑体" panose="02010609060101010101" charset="-122"/>
              <a:ea typeface="黑体" panose="02010609060101010101" charset="-122"/>
              <a:cs typeface="黑体" panose="02010609060101010101" charset="-122"/>
            </a:endParaRPr>
          </a:p>
        </p:txBody>
      </p:sp>
      <p:pic>
        <p:nvPicPr>
          <p:cNvPr id="6" name="图片 5"/>
          <p:cNvPicPr>
            <a:picLocks noChangeAspect="1"/>
          </p:cNvPicPr>
          <p:nvPr>
            <p:custDataLst>
              <p:tags r:id="rId4"/>
            </p:custDataLst>
          </p:nvPr>
        </p:nvPicPr>
        <p:blipFill>
          <a:blip r:embed="rId5"/>
          <a:stretch>
            <a:fillRect/>
          </a:stretch>
        </p:blipFill>
        <p:spPr>
          <a:xfrm>
            <a:off x="702945" y="1245870"/>
            <a:ext cx="10198100" cy="5241925"/>
          </a:xfrm>
          <a:prstGeom prst="rect">
            <a:avLst/>
          </a:prstGeom>
        </p:spPr>
      </p:pic>
      <p:sp>
        <p:nvSpPr>
          <p:cNvPr id="100" name="文本框 99"/>
          <p:cNvSpPr txBox="1"/>
          <p:nvPr/>
        </p:nvSpPr>
        <p:spPr>
          <a:xfrm>
            <a:off x="11690985" y="6532245"/>
            <a:ext cx="501015" cy="326390"/>
          </a:xfrm>
          <a:prstGeom prst="rect">
            <a:avLst/>
          </a:prstGeom>
          <a:noFill/>
          <a:ln w="9525">
            <a:noFill/>
          </a:ln>
        </p:spPr>
        <p:txBody>
          <a:bodyPr>
            <a:noAutofit/>
          </a:bodyPr>
          <a:p>
            <a:pPr indent="0"/>
            <a:r>
              <a:rPr lang="en-US" altLang="zh-CN" b="0">
                <a:ea typeface="宋体" panose="02010600030101010101" pitchFamily="2" charset="-122"/>
              </a:rPr>
              <a:t>40</a:t>
            </a:r>
            <a:endParaRPr lang="en-US" altLang="zh-CN" b="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764921" y="1479575"/>
            <a:ext cx="11522709" cy="4571365"/>
          </a:xfrm>
          <a:prstGeom prst="rect">
            <a:avLst/>
          </a:prstGeom>
        </p:spPr>
        <p:txBody>
          <a:bodyPr vert="horz" wrap="square" lIns="0" tIns="0" rIns="0" bIns="0"/>
          <a:lstStyle/>
          <a:p>
            <a:pPr algn="l" rtl="0" eaLnBrk="0">
              <a:lnSpc>
                <a:spcPct val="73000"/>
              </a:lnSpc>
            </a:pPr>
            <a:endParaRPr lang="en-US" altLang="en-US" sz="100" dirty="0"/>
          </a:p>
          <a:p>
            <a:pPr marL="303530" algn="l" rtl="0" eaLnBrk="0">
              <a:lnSpc>
                <a:spcPct val="88000"/>
              </a:lnSpc>
              <a:tabLst>
                <a:tab pos="5575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p:txBody>
      </p:sp>
      <p:grpSp>
        <p:nvGrpSpPr>
          <p:cNvPr id="3" name="group 2"/>
          <p:cNvGrpSpPr/>
          <p:nvPr/>
        </p:nvGrpSpPr>
        <p:grpSpPr>
          <a:xfrm rot="21600000">
            <a:off x="126609" y="147616"/>
            <a:ext cx="2722051" cy="688004"/>
            <a:chOff x="0" y="0"/>
            <a:chExt cx="2722051" cy="688004"/>
          </a:xfrm>
        </p:grpSpPr>
        <p:pic>
          <p:nvPicPr>
            <p:cNvPr id="18" name="picture 18"/>
            <p:cNvPicPr>
              <a:picLocks noChangeAspect="1"/>
            </p:cNvPicPr>
            <p:nvPr/>
          </p:nvPicPr>
          <p:blipFill>
            <a:blip r:embed="rId1"/>
            <a:stretch>
              <a:fillRect/>
            </a:stretch>
          </p:blipFill>
          <p:spPr>
            <a:xfrm rot="21600000">
              <a:off x="0" y="29636"/>
              <a:ext cx="2696776" cy="658368"/>
            </a:xfrm>
            <a:prstGeom prst="rect">
              <a:avLst/>
            </a:prstGeom>
          </p:spPr>
        </p:pic>
        <p:sp>
          <p:nvSpPr>
            <p:cNvPr id="20" name="textbox 2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22" name="picture 22"/>
          <p:cNvPicPr>
            <a:picLocks noChangeAspect="1"/>
          </p:cNvPicPr>
          <p:nvPr/>
        </p:nvPicPr>
        <p:blipFill>
          <a:blip r:embed="rId2"/>
          <a:stretch>
            <a:fillRect/>
          </a:stretch>
        </p:blipFill>
        <p:spPr>
          <a:xfrm rot="21600000">
            <a:off x="10668" y="981455"/>
            <a:ext cx="12181331" cy="45720"/>
          </a:xfrm>
          <a:prstGeom prst="rect">
            <a:avLst/>
          </a:prstGeom>
        </p:spPr>
      </p:pic>
      <p:sp>
        <p:nvSpPr>
          <p:cNvPr id="40" name="textbox 40"/>
          <p:cNvSpPr/>
          <p:nvPr>
            <p:custDataLst>
              <p:tags r:id="rId3"/>
            </p:custDataLst>
          </p:nvPr>
        </p:nvSpPr>
        <p:spPr>
          <a:xfrm>
            <a:off x="1559560" y="1479550"/>
            <a:ext cx="5701030" cy="2787650"/>
          </a:xfrm>
          <a:prstGeom prst="rect">
            <a:avLst/>
          </a:prstGeom>
        </p:spPr>
        <p:txBody>
          <a:bodyPr vert="horz" wrap="square" lIns="0" tIns="0" rIns="0" bIns="0"/>
          <a:p>
            <a:pPr algn="l" rtl="0" eaLnBrk="0">
              <a:lnSpc>
                <a:spcPct val="82000"/>
              </a:lnSpc>
            </a:pPr>
            <a:endParaRPr lang="en-US" altLang="en-US" sz="100" dirty="0"/>
          </a:p>
          <a:p>
            <a:pPr marL="55880" algn="l" rtl="0" eaLnBrk="0">
              <a:lnSpc>
                <a:spcPct val="93000"/>
              </a:lnSpc>
            </a:pPr>
            <a:endParaRPr lang="en-US" altLang="en-US" sz="2000" dirty="0">
              <a:latin typeface="黑体" panose="02010609060101010101" charset="-122"/>
              <a:ea typeface="黑体" panose="02010609060101010101" charset="-122"/>
              <a:cs typeface="黑体" panose="02010609060101010101" charset="-122"/>
            </a:endParaRPr>
          </a:p>
        </p:txBody>
      </p:sp>
      <p:pic>
        <p:nvPicPr>
          <p:cNvPr id="5" name="图片 4"/>
          <p:cNvPicPr>
            <a:picLocks noChangeAspect="1"/>
          </p:cNvPicPr>
          <p:nvPr>
            <p:custDataLst>
              <p:tags r:id="rId4"/>
            </p:custDataLst>
          </p:nvPr>
        </p:nvPicPr>
        <p:blipFill>
          <a:blip r:embed="rId5"/>
          <a:stretch>
            <a:fillRect/>
          </a:stretch>
        </p:blipFill>
        <p:spPr>
          <a:xfrm>
            <a:off x="916940" y="1278255"/>
            <a:ext cx="9511665" cy="3930650"/>
          </a:xfrm>
          <a:prstGeom prst="rect">
            <a:avLst/>
          </a:prstGeom>
        </p:spPr>
      </p:pic>
      <p:sp>
        <p:nvSpPr>
          <p:cNvPr id="100" name="文本框 99"/>
          <p:cNvSpPr txBox="1"/>
          <p:nvPr/>
        </p:nvSpPr>
        <p:spPr>
          <a:xfrm>
            <a:off x="11720830" y="6483985"/>
            <a:ext cx="471170" cy="368300"/>
          </a:xfrm>
          <a:prstGeom prst="rect">
            <a:avLst/>
          </a:prstGeom>
          <a:noFill/>
          <a:ln w="9525">
            <a:noFill/>
          </a:ln>
        </p:spPr>
        <p:txBody>
          <a:bodyPr wrap="square">
            <a:spAutoFit/>
          </a:bodyPr>
          <a:p>
            <a:pPr indent="0"/>
            <a:r>
              <a:rPr lang="en-US" altLang="zh-CN" b="0">
                <a:ea typeface="宋体" panose="02010600030101010101" pitchFamily="2" charset="-122"/>
              </a:rPr>
              <a:t>41</a:t>
            </a:r>
            <a:endParaRPr lang="en-US" altLang="zh-CN" b="0">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764921" y="1479575"/>
            <a:ext cx="11522709" cy="4571365"/>
          </a:xfrm>
          <a:prstGeom prst="rect">
            <a:avLst/>
          </a:prstGeom>
        </p:spPr>
        <p:txBody>
          <a:bodyPr vert="horz" wrap="square" lIns="0" tIns="0" rIns="0" bIns="0"/>
          <a:lstStyle/>
          <a:p>
            <a:pPr algn="l" rtl="0" eaLnBrk="0">
              <a:lnSpc>
                <a:spcPct val="73000"/>
              </a:lnSpc>
            </a:pPr>
            <a:endParaRPr lang="en-US" altLang="en-US" sz="100" dirty="0"/>
          </a:p>
          <a:p>
            <a:pPr marL="303530" algn="l" rtl="0" eaLnBrk="0">
              <a:lnSpc>
                <a:spcPct val="88000"/>
              </a:lnSpc>
              <a:tabLst>
                <a:tab pos="5575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p:txBody>
      </p:sp>
      <p:grpSp>
        <p:nvGrpSpPr>
          <p:cNvPr id="3" name="group 2"/>
          <p:cNvGrpSpPr/>
          <p:nvPr/>
        </p:nvGrpSpPr>
        <p:grpSpPr>
          <a:xfrm rot="21600000">
            <a:off x="126609" y="147616"/>
            <a:ext cx="2722051" cy="688004"/>
            <a:chOff x="0" y="0"/>
            <a:chExt cx="2722051" cy="688004"/>
          </a:xfrm>
        </p:grpSpPr>
        <p:pic>
          <p:nvPicPr>
            <p:cNvPr id="18" name="picture 18"/>
            <p:cNvPicPr>
              <a:picLocks noChangeAspect="1"/>
            </p:cNvPicPr>
            <p:nvPr/>
          </p:nvPicPr>
          <p:blipFill>
            <a:blip r:embed="rId1"/>
            <a:stretch>
              <a:fillRect/>
            </a:stretch>
          </p:blipFill>
          <p:spPr>
            <a:xfrm rot="21600000">
              <a:off x="0" y="29636"/>
              <a:ext cx="2696776" cy="658368"/>
            </a:xfrm>
            <a:prstGeom prst="rect">
              <a:avLst/>
            </a:prstGeom>
          </p:spPr>
        </p:pic>
        <p:sp>
          <p:nvSpPr>
            <p:cNvPr id="20" name="textbox 2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22" name="picture 22"/>
          <p:cNvPicPr>
            <a:picLocks noChangeAspect="1"/>
          </p:cNvPicPr>
          <p:nvPr/>
        </p:nvPicPr>
        <p:blipFill>
          <a:blip r:embed="rId2"/>
          <a:stretch>
            <a:fillRect/>
          </a:stretch>
        </p:blipFill>
        <p:spPr>
          <a:xfrm rot="21600000">
            <a:off x="10668" y="981455"/>
            <a:ext cx="12181331" cy="45720"/>
          </a:xfrm>
          <a:prstGeom prst="rect">
            <a:avLst/>
          </a:prstGeom>
        </p:spPr>
      </p:pic>
      <p:sp>
        <p:nvSpPr>
          <p:cNvPr id="40" name="textbox 40"/>
          <p:cNvSpPr/>
          <p:nvPr>
            <p:custDataLst>
              <p:tags r:id="rId3"/>
            </p:custDataLst>
          </p:nvPr>
        </p:nvSpPr>
        <p:spPr>
          <a:xfrm>
            <a:off x="1559560" y="1479550"/>
            <a:ext cx="5701030" cy="2787650"/>
          </a:xfrm>
          <a:prstGeom prst="rect">
            <a:avLst/>
          </a:prstGeom>
        </p:spPr>
        <p:txBody>
          <a:bodyPr vert="horz" wrap="square" lIns="0" tIns="0" rIns="0" bIns="0"/>
          <a:p>
            <a:pPr algn="l" rtl="0" eaLnBrk="0">
              <a:lnSpc>
                <a:spcPct val="82000"/>
              </a:lnSpc>
            </a:pPr>
            <a:endParaRPr lang="en-US" altLang="en-US" sz="100" dirty="0"/>
          </a:p>
          <a:p>
            <a:pPr marL="55880" algn="l" rtl="0" eaLnBrk="0">
              <a:lnSpc>
                <a:spcPct val="93000"/>
              </a:lnSpc>
            </a:pPr>
            <a:endParaRPr lang="en-US" altLang="en-US" sz="2000" dirty="0">
              <a:latin typeface="黑体" panose="02010609060101010101" charset="-122"/>
              <a:ea typeface="黑体" panose="02010609060101010101" charset="-122"/>
              <a:cs typeface="黑体" panose="02010609060101010101" charset="-122"/>
            </a:endParaRPr>
          </a:p>
        </p:txBody>
      </p:sp>
      <p:sp>
        <p:nvSpPr>
          <p:cNvPr id="4" name="textbox 2"/>
          <p:cNvSpPr/>
          <p:nvPr>
            <p:custDataLst>
              <p:tags r:id="rId4"/>
            </p:custDataLst>
          </p:nvPr>
        </p:nvSpPr>
        <p:spPr>
          <a:xfrm>
            <a:off x="610616" y="1479575"/>
            <a:ext cx="11522709" cy="4571365"/>
          </a:xfrm>
          <a:prstGeom prst="rect">
            <a:avLst/>
          </a:prstGeom>
        </p:spPr>
        <p:txBody>
          <a:bodyPr vert="horz" wrap="square" lIns="0" tIns="0" rIns="0" bIns="0"/>
          <a:p>
            <a:pPr algn="l" rtl="0" eaLnBrk="0">
              <a:lnSpc>
                <a:spcPct val="73000"/>
              </a:lnSpc>
            </a:pPr>
            <a:endParaRPr lang="en-US" altLang="en-US" sz="100" dirty="0"/>
          </a:p>
          <a:p>
            <a:pPr algn="l" rtl="0" eaLnBrk="0">
              <a:lnSpc>
                <a:spcPct val="108000"/>
              </a:lnSpc>
            </a:pPr>
            <a:endParaRPr lang="en-US" altLang="en-US" sz="1000" dirty="0"/>
          </a:p>
          <a:p>
            <a:pPr algn="l" rtl="0" eaLnBrk="0">
              <a:lnSpc>
                <a:spcPct val="108000"/>
              </a:lnSpc>
            </a:pPr>
            <a:endParaRPr lang="en-US" altLang="en-US" sz="1000" dirty="0"/>
          </a:p>
          <a:p>
            <a:pPr algn="l" rtl="0" eaLnBrk="0">
              <a:lnSpc>
                <a:spcPct val="108000"/>
              </a:lnSpc>
            </a:pPr>
            <a:endParaRPr lang="en-US" altLang="en-US" sz="1000" dirty="0"/>
          </a:p>
          <a:p>
            <a:pPr algn="l" rtl="0" eaLnBrk="0">
              <a:lnSpc>
                <a:spcPct val="108000"/>
              </a:lnSpc>
            </a:pPr>
            <a:endParaRPr lang="en-US" altLang="en-US" sz="1000" dirty="0"/>
          </a:p>
          <a:p>
            <a:pPr algn="l" rtl="0" eaLnBrk="0">
              <a:lnSpc>
                <a:spcPct val="108000"/>
              </a:lnSpc>
            </a:pPr>
            <a:endParaRPr lang="en-US" altLang="en-US" sz="1000" dirty="0"/>
          </a:p>
          <a:p>
            <a:pPr marL="728980" algn="l" rtl="0" eaLnBrk="0">
              <a:lnSpc>
                <a:spcPct val="97000"/>
              </a:lnSpc>
              <a:spcBef>
                <a:spcPts val="720"/>
              </a:spcBef>
              <a:tabLst>
                <a:tab pos="86423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目的：让机器学习效</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果更好</a:t>
            </a:r>
            <a:endParaRPr lang="en-US" altLang="en-US" sz="1000" dirty="0"/>
          </a:p>
          <a:p>
            <a:pPr algn="l" rtl="0" eaLnBrk="0">
              <a:lnSpc>
                <a:spcPct val="133000"/>
              </a:lnSpc>
            </a:pPr>
            <a:endParaRPr lang="en-US" altLang="en-US" sz="1000" dirty="0"/>
          </a:p>
          <a:p>
            <a:pPr marL="728980" algn="l" rtl="0" eaLnBrk="0">
              <a:lnSpc>
                <a:spcPct val="88000"/>
              </a:lnSpc>
              <a:spcBef>
                <a:spcPts val="730"/>
              </a:spcBef>
              <a:tabLst>
                <a:tab pos="8496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Bagging：训练多个分类</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器取平均</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a:p>
            <a:pPr algn="l" rtl="0" eaLnBrk="0">
              <a:lnSpc>
                <a:spcPct val="144000"/>
              </a:lnSpc>
            </a:pPr>
            <a:endParaRPr lang="en-US" altLang="en-US" sz="1000" dirty="0"/>
          </a:p>
          <a:p>
            <a:pPr algn="l" rtl="0" eaLnBrk="0">
              <a:lnSpc>
                <a:spcPct val="145000"/>
              </a:lnSpc>
            </a:pPr>
            <a:endParaRPr lang="en-US" altLang="en-US" sz="1000" dirty="0"/>
          </a:p>
          <a:p>
            <a:pPr marL="728980" algn="l" rtl="0" eaLnBrk="0">
              <a:lnSpc>
                <a:spcPct val="88000"/>
              </a:lnSpc>
              <a:spcBef>
                <a:spcPts val="730"/>
              </a:spcBef>
              <a:tabLst>
                <a:tab pos="8496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Boosting：从弱学习器开始加强，通过加权来进行训练</a:t>
            </a:r>
            <a:endParaRPr lang="en-US" altLang="en-US" sz="2400" dirty="0"/>
          </a:p>
          <a:p>
            <a:pPr algn="l" rtl="0" eaLnBrk="0">
              <a:lnSpc>
                <a:spcPct val="104000"/>
              </a:lnSpc>
            </a:pPr>
            <a:endParaRPr lang="en-US" altLang="en-US" sz="1000" dirty="0"/>
          </a:p>
          <a:p>
            <a:pPr algn="l" rtl="0" eaLnBrk="0">
              <a:lnSpc>
                <a:spcPct val="104000"/>
              </a:lnSpc>
            </a:pPr>
            <a:r>
              <a:rPr lang="en-US" sz="24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（加入一棵树，要比原来</a:t>
            </a:r>
            <a:r>
              <a:rPr sz="24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强）</a:t>
            </a:r>
            <a:endParaRPr lang="en-US" altLang="en-US" sz="2400" dirty="0"/>
          </a:p>
          <a:p>
            <a:pPr algn="l" rtl="0" eaLnBrk="0">
              <a:lnSpc>
                <a:spcPct val="144000"/>
              </a:lnSpc>
            </a:pPr>
            <a:endParaRPr lang="en-US" altLang="en-US" sz="1000" dirty="0"/>
          </a:p>
          <a:p>
            <a:pPr algn="l" rtl="0" eaLnBrk="0">
              <a:lnSpc>
                <a:spcPct val="145000"/>
              </a:lnSpc>
            </a:pPr>
            <a:endParaRPr lang="en-US" altLang="en-US" sz="1000" dirty="0"/>
          </a:p>
          <a:p>
            <a:pPr algn="l" rtl="0" eaLnBrk="0">
              <a:lnSpc>
                <a:spcPct val="101000"/>
              </a:lnSpc>
            </a:pPr>
            <a:endParaRPr lang="en-US" altLang="en-US" sz="600" dirty="0"/>
          </a:p>
          <a:p>
            <a:pPr marL="728980" algn="l" rtl="0" eaLnBrk="0">
              <a:lnSpc>
                <a:spcPct val="88000"/>
              </a:lnSpc>
              <a:spcBef>
                <a:spcPts val="5"/>
              </a:spcBef>
              <a:tabLst>
                <a:tab pos="83883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Stacking：聚合多个分类或回归模型（可以分阶段来做）</a:t>
            </a:r>
            <a:endParaRPr lang="en-US" altLang="en-US" sz="2400" dirty="0"/>
          </a:p>
        </p:txBody>
      </p:sp>
      <p:sp>
        <p:nvSpPr>
          <p:cNvPr id="14" name="path"/>
          <p:cNvSpPr/>
          <p:nvPr>
            <p:custDataLst>
              <p:tags r:id="rId5"/>
            </p:custDataLst>
          </p:nvPr>
        </p:nvSpPr>
        <p:spPr>
          <a:xfrm>
            <a:off x="1112393" y="2389632"/>
            <a:ext cx="292608" cy="292608"/>
          </a:xfrm>
          <a:custGeom>
            <a:avLst/>
            <a:gdLst/>
            <a:ahLst/>
            <a:cxnLst/>
            <a:rect l="0" t="0" r="0" b="0"/>
            <a:pathLst>
              <a:path w="460" h="460">
                <a:moveTo>
                  <a:pt x="435" y="25"/>
                </a:moveTo>
                <a:lnTo>
                  <a:pt x="435" y="25"/>
                </a:lnTo>
                <a:lnTo>
                  <a:pt x="429" y="19"/>
                </a:lnTo>
                <a:lnTo>
                  <a:pt x="422" y="13"/>
                </a:lnTo>
                <a:lnTo>
                  <a:pt x="415" y="10"/>
                </a:lnTo>
                <a:lnTo>
                  <a:pt x="408" y="6"/>
                </a:lnTo>
                <a:lnTo>
                  <a:pt x="400" y="3"/>
                </a:lnTo>
                <a:lnTo>
                  <a:pt x="392" y="1"/>
                </a:lnTo>
                <a:lnTo>
                  <a:pt x="384" y="0"/>
                </a:lnTo>
                <a:lnTo>
                  <a:pt x="376" y="0"/>
                </a:lnTo>
                <a:lnTo>
                  <a:pt x="376" y="0"/>
                </a:lnTo>
                <a:lnTo>
                  <a:pt x="367" y="0"/>
                </a:lnTo>
                <a:lnTo>
                  <a:pt x="359" y="1"/>
                </a:lnTo>
                <a:lnTo>
                  <a:pt x="351" y="3"/>
                </a:lnTo>
                <a:lnTo>
                  <a:pt x="343" y="6"/>
                </a:lnTo>
                <a:lnTo>
                  <a:pt x="336" y="10"/>
                </a:lnTo>
                <a:lnTo>
                  <a:pt x="329" y="13"/>
                </a:lnTo>
                <a:lnTo>
                  <a:pt x="322" y="19"/>
                </a:lnTo>
                <a:lnTo>
                  <a:pt x="316" y="25"/>
                </a:lnTo>
                <a:lnTo>
                  <a:pt x="62" y="277"/>
                </a:lnTo>
                <a:lnTo>
                  <a:pt x="62" y="277"/>
                </a:lnTo>
                <a:lnTo>
                  <a:pt x="60" y="280"/>
                </a:lnTo>
                <a:lnTo>
                  <a:pt x="58" y="283"/>
                </a:lnTo>
                <a:lnTo>
                  <a:pt x="0" y="441"/>
                </a:lnTo>
                <a:lnTo>
                  <a:pt x="0" y="441"/>
                </a:lnTo>
                <a:lnTo>
                  <a:pt x="0" y="445"/>
                </a:lnTo>
                <a:lnTo>
                  <a:pt x="0" y="450"/>
                </a:lnTo>
                <a:lnTo>
                  <a:pt x="1" y="452"/>
                </a:lnTo>
                <a:lnTo>
                  <a:pt x="4" y="456"/>
                </a:lnTo>
                <a:lnTo>
                  <a:pt x="4" y="456"/>
                </a:lnTo>
                <a:lnTo>
                  <a:pt x="6" y="458"/>
                </a:lnTo>
                <a:lnTo>
                  <a:pt x="8" y="459"/>
                </a:lnTo>
                <a:lnTo>
                  <a:pt x="11" y="460"/>
                </a:lnTo>
                <a:lnTo>
                  <a:pt x="14" y="460"/>
                </a:lnTo>
                <a:lnTo>
                  <a:pt x="14" y="460"/>
                </a:lnTo>
                <a:lnTo>
                  <a:pt x="16" y="460"/>
                </a:lnTo>
                <a:lnTo>
                  <a:pt x="19" y="460"/>
                </a:lnTo>
                <a:lnTo>
                  <a:pt x="162" y="416"/>
                </a:lnTo>
                <a:lnTo>
                  <a:pt x="162" y="416"/>
                </a:lnTo>
                <a:lnTo>
                  <a:pt x="165" y="414"/>
                </a:lnTo>
                <a:lnTo>
                  <a:pt x="167" y="412"/>
                </a:lnTo>
                <a:lnTo>
                  <a:pt x="435" y="144"/>
                </a:lnTo>
                <a:lnTo>
                  <a:pt x="435" y="144"/>
                </a:lnTo>
                <a:lnTo>
                  <a:pt x="441" y="138"/>
                </a:lnTo>
                <a:lnTo>
                  <a:pt x="446" y="131"/>
                </a:lnTo>
                <a:lnTo>
                  <a:pt x="450" y="124"/>
                </a:lnTo>
                <a:lnTo>
                  <a:pt x="454" y="117"/>
                </a:lnTo>
                <a:lnTo>
                  <a:pt x="456" y="109"/>
                </a:lnTo>
                <a:lnTo>
                  <a:pt x="459" y="100"/>
                </a:lnTo>
                <a:lnTo>
                  <a:pt x="460" y="92"/>
                </a:lnTo>
                <a:lnTo>
                  <a:pt x="460" y="84"/>
                </a:lnTo>
                <a:lnTo>
                  <a:pt x="460" y="84"/>
                </a:lnTo>
                <a:lnTo>
                  <a:pt x="460" y="76"/>
                </a:lnTo>
                <a:lnTo>
                  <a:pt x="459" y="67"/>
                </a:lnTo>
                <a:lnTo>
                  <a:pt x="456" y="59"/>
                </a:lnTo>
                <a:lnTo>
                  <a:pt x="454" y="52"/>
                </a:lnTo>
                <a:lnTo>
                  <a:pt x="450" y="44"/>
                </a:lnTo>
                <a:lnTo>
                  <a:pt x="446" y="37"/>
                </a:lnTo>
                <a:lnTo>
                  <a:pt x="441" y="30"/>
                </a:lnTo>
                <a:lnTo>
                  <a:pt x="435" y="25"/>
                </a:lnTo>
                <a:lnTo>
                  <a:pt x="435" y="25"/>
                </a:lnTo>
                <a:close/>
                <a:moveTo>
                  <a:pt x="145" y="391"/>
                </a:moveTo>
                <a:lnTo>
                  <a:pt x="91" y="407"/>
                </a:lnTo>
                <a:lnTo>
                  <a:pt x="91" y="407"/>
                </a:lnTo>
                <a:lnTo>
                  <a:pt x="89" y="400"/>
                </a:lnTo>
                <a:lnTo>
                  <a:pt x="85" y="394"/>
                </a:lnTo>
                <a:lnTo>
                  <a:pt x="81" y="389"/>
                </a:lnTo>
                <a:lnTo>
                  <a:pt x="76" y="383"/>
                </a:lnTo>
                <a:lnTo>
                  <a:pt x="76" y="383"/>
                </a:lnTo>
                <a:lnTo>
                  <a:pt x="72" y="379"/>
                </a:lnTo>
                <a:lnTo>
                  <a:pt x="67" y="376"/>
                </a:lnTo>
                <a:lnTo>
                  <a:pt x="62" y="372"/>
                </a:lnTo>
                <a:lnTo>
                  <a:pt x="57" y="370"/>
                </a:lnTo>
                <a:lnTo>
                  <a:pt x="81" y="302"/>
                </a:lnTo>
                <a:lnTo>
                  <a:pt x="114" y="302"/>
                </a:lnTo>
                <a:lnTo>
                  <a:pt x="114" y="331"/>
                </a:lnTo>
                <a:lnTo>
                  <a:pt x="114" y="331"/>
                </a:lnTo>
                <a:lnTo>
                  <a:pt x="115" y="333"/>
                </a:lnTo>
                <a:lnTo>
                  <a:pt x="116" y="337"/>
                </a:lnTo>
                <a:lnTo>
                  <a:pt x="118" y="339"/>
                </a:lnTo>
                <a:lnTo>
                  <a:pt x="119" y="341"/>
                </a:lnTo>
                <a:lnTo>
                  <a:pt x="121" y="343"/>
                </a:lnTo>
                <a:lnTo>
                  <a:pt x="124" y="344"/>
                </a:lnTo>
                <a:lnTo>
                  <a:pt x="126" y="345"/>
                </a:lnTo>
                <a:lnTo>
                  <a:pt x="129" y="345"/>
                </a:lnTo>
                <a:lnTo>
                  <a:pt x="154" y="345"/>
                </a:lnTo>
                <a:lnTo>
                  <a:pt x="145" y="391"/>
                </a:lnTo>
                <a:close/>
                <a:moveTo>
                  <a:pt x="357" y="182"/>
                </a:moveTo>
                <a:lnTo>
                  <a:pt x="181" y="357"/>
                </a:lnTo>
                <a:lnTo>
                  <a:pt x="186" y="334"/>
                </a:lnTo>
                <a:lnTo>
                  <a:pt x="186" y="334"/>
                </a:lnTo>
                <a:lnTo>
                  <a:pt x="187" y="331"/>
                </a:lnTo>
                <a:lnTo>
                  <a:pt x="186" y="327"/>
                </a:lnTo>
                <a:lnTo>
                  <a:pt x="186" y="324"/>
                </a:lnTo>
                <a:lnTo>
                  <a:pt x="183" y="322"/>
                </a:lnTo>
                <a:lnTo>
                  <a:pt x="183" y="322"/>
                </a:lnTo>
                <a:lnTo>
                  <a:pt x="181" y="319"/>
                </a:lnTo>
                <a:lnTo>
                  <a:pt x="179" y="318"/>
                </a:lnTo>
                <a:lnTo>
                  <a:pt x="176" y="317"/>
                </a:lnTo>
                <a:lnTo>
                  <a:pt x="172" y="317"/>
                </a:lnTo>
                <a:lnTo>
                  <a:pt x="143" y="317"/>
                </a:lnTo>
                <a:lnTo>
                  <a:pt x="143" y="287"/>
                </a:lnTo>
                <a:lnTo>
                  <a:pt x="143" y="287"/>
                </a:lnTo>
                <a:lnTo>
                  <a:pt x="143" y="285"/>
                </a:lnTo>
                <a:lnTo>
                  <a:pt x="142" y="282"/>
                </a:lnTo>
                <a:lnTo>
                  <a:pt x="141" y="280"/>
                </a:lnTo>
                <a:lnTo>
                  <a:pt x="139" y="278"/>
                </a:lnTo>
                <a:lnTo>
                  <a:pt x="138" y="276"/>
                </a:lnTo>
                <a:lnTo>
                  <a:pt x="135" y="274"/>
                </a:lnTo>
                <a:lnTo>
                  <a:pt x="132" y="273"/>
                </a:lnTo>
                <a:lnTo>
                  <a:pt x="129" y="273"/>
                </a:lnTo>
                <a:lnTo>
                  <a:pt x="106" y="273"/>
                </a:lnTo>
                <a:lnTo>
                  <a:pt x="278" y="103"/>
                </a:lnTo>
                <a:lnTo>
                  <a:pt x="278" y="103"/>
                </a:lnTo>
                <a:lnTo>
                  <a:pt x="278" y="103"/>
                </a:lnTo>
                <a:lnTo>
                  <a:pt x="282" y="99"/>
                </a:lnTo>
                <a:lnTo>
                  <a:pt x="286" y="96"/>
                </a:lnTo>
                <a:lnTo>
                  <a:pt x="291" y="93"/>
                </a:lnTo>
                <a:lnTo>
                  <a:pt x="296" y="91"/>
                </a:lnTo>
                <a:lnTo>
                  <a:pt x="301" y="89"/>
                </a:lnTo>
                <a:lnTo>
                  <a:pt x="306" y="87"/>
                </a:lnTo>
                <a:lnTo>
                  <a:pt x="312" y="87"/>
                </a:lnTo>
                <a:lnTo>
                  <a:pt x="318" y="87"/>
                </a:lnTo>
                <a:lnTo>
                  <a:pt x="318" y="87"/>
                </a:lnTo>
                <a:lnTo>
                  <a:pt x="323" y="87"/>
                </a:lnTo>
                <a:lnTo>
                  <a:pt x="328" y="87"/>
                </a:lnTo>
                <a:lnTo>
                  <a:pt x="334" y="89"/>
                </a:lnTo>
                <a:lnTo>
                  <a:pt x="339" y="91"/>
                </a:lnTo>
                <a:lnTo>
                  <a:pt x="344" y="93"/>
                </a:lnTo>
                <a:lnTo>
                  <a:pt x="348" y="96"/>
                </a:lnTo>
                <a:lnTo>
                  <a:pt x="352" y="99"/>
                </a:lnTo>
                <a:lnTo>
                  <a:pt x="357" y="103"/>
                </a:lnTo>
                <a:lnTo>
                  <a:pt x="357" y="103"/>
                </a:lnTo>
                <a:lnTo>
                  <a:pt x="361" y="107"/>
                </a:lnTo>
                <a:lnTo>
                  <a:pt x="363" y="111"/>
                </a:lnTo>
                <a:lnTo>
                  <a:pt x="367" y="116"/>
                </a:lnTo>
                <a:lnTo>
                  <a:pt x="369" y="121"/>
                </a:lnTo>
                <a:lnTo>
                  <a:pt x="371" y="126"/>
                </a:lnTo>
                <a:lnTo>
                  <a:pt x="372" y="131"/>
                </a:lnTo>
                <a:lnTo>
                  <a:pt x="373" y="137"/>
                </a:lnTo>
                <a:lnTo>
                  <a:pt x="373" y="143"/>
                </a:lnTo>
                <a:lnTo>
                  <a:pt x="373" y="143"/>
                </a:lnTo>
                <a:lnTo>
                  <a:pt x="373" y="148"/>
                </a:lnTo>
                <a:lnTo>
                  <a:pt x="372" y="153"/>
                </a:lnTo>
                <a:lnTo>
                  <a:pt x="371" y="159"/>
                </a:lnTo>
                <a:lnTo>
                  <a:pt x="369" y="164"/>
                </a:lnTo>
                <a:lnTo>
                  <a:pt x="367" y="169"/>
                </a:lnTo>
                <a:lnTo>
                  <a:pt x="363" y="173"/>
                </a:lnTo>
                <a:lnTo>
                  <a:pt x="361" y="178"/>
                </a:lnTo>
                <a:lnTo>
                  <a:pt x="357" y="182"/>
                </a:lnTo>
                <a:lnTo>
                  <a:pt x="357" y="182"/>
                </a:lnTo>
                <a:close/>
                <a:moveTo>
                  <a:pt x="415" y="124"/>
                </a:moveTo>
                <a:lnTo>
                  <a:pt x="401" y="137"/>
                </a:lnTo>
                <a:lnTo>
                  <a:pt x="401" y="137"/>
                </a:lnTo>
                <a:lnTo>
                  <a:pt x="401" y="130"/>
                </a:lnTo>
                <a:lnTo>
                  <a:pt x="400" y="122"/>
                </a:lnTo>
                <a:lnTo>
                  <a:pt x="397" y="115"/>
                </a:lnTo>
                <a:lnTo>
                  <a:pt x="394" y="107"/>
                </a:lnTo>
                <a:lnTo>
                  <a:pt x="391" y="100"/>
                </a:lnTo>
                <a:lnTo>
                  <a:pt x="387" y="94"/>
                </a:lnTo>
                <a:lnTo>
                  <a:pt x="382" y="88"/>
                </a:lnTo>
                <a:lnTo>
                  <a:pt x="378" y="83"/>
                </a:lnTo>
                <a:lnTo>
                  <a:pt x="378" y="83"/>
                </a:lnTo>
                <a:lnTo>
                  <a:pt x="371" y="77"/>
                </a:lnTo>
                <a:lnTo>
                  <a:pt x="365" y="72"/>
                </a:lnTo>
                <a:lnTo>
                  <a:pt x="359" y="69"/>
                </a:lnTo>
                <a:lnTo>
                  <a:pt x="352" y="65"/>
                </a:lnTo>
                <a:lnTo>
                  <a:pt x="345" y="62"/>
                </a:lnTo>
                <a:lnTo>
                  <a:pt x="338" y="60"/>
                </a:lnTo>
                <a:lnTo>
                  <a:pt x="330" y="59"/>
                </a:lnTo>
                <a:lnTo>
                  <a:pt x="323" y="58"/>
                </a:lnTo>
                <a:lnTo>
                  <a:pt x="336" y="45"/>
                </a:lnTo>
                <a:lnTo>
                  <a:pt x="336" y="45"/>
                </a:lnTo>
                <a:lnTo>
                  <a:pt x="336" y="45"/>
                </a:lnTo>
                <a:lnTo>
                  <a:pt x="340" y="41"/>
                </a:lnTo>
                <a:lnTo>
                  <a:pt x="345" y="37"/>
                </a:lnTo>
                <a:lnTo>
                  <a:pt x="349" y="35"/>
                </a:lnTo>
                <a:lnTo>
                  <a:pt x="354" y="32"/>
                </a:lnTo>
                <a:lnTo>
                  <a:pt x="359" y="31"/>
                </a:lnTo>
                <a:lnTo>
                  <a:pt x="365" y="30"/>
                </a:lnTo>
                <a:lnTo>
                  <a:pt x="370" y="29"/>
                </a:lnTo>
                <a:lnTo>
                  <a:pt x="376" y="29"/>
                </a:lnTo>
                <a:lnTo>
                  <a:pt x="376" y="29"/>
                </a:lnTo>
                <a:lnTo>
                  <a:pt x="381" y="29"/>
                </a:lnTo>
                <a:lnTo>
                  <a:pt x="386" y="30"/>
                </a:lnTo>
                <a:lnTo>
                  <a:pt x="392" y="31"/>
                </a:lnTo>
                <a:lnTo>
                  <a:pt x="397" y="32"/>
                </a:lnTo>
                <a:lnTo>
                  <a:pt x="402" y="35"/>
                </a:lnTo>
                <a:lnTo>
                  <a:pt x="406" y="37"/>
                </a:lnTo>
                <a:lnTo>
                  <a:pt x="411" y="41"/>
                </a:lnTo>
                <a:lnTo>
                  <a:pt x="415" y="45"/>
                </a:lnTo>
                <a:lnTo>
                  <a:pt x="415" y="45"/>
                </a:lnTo>
                <a:lnTo>
                  <a:pt x="419" y="49"/>
                </a:lnTo>
                <a:lnTo>
                  <a:pt x="422" y="53"/>
                </a:lnTo>
                <a:lnTo>
                  <a:pt x="425" y="58"/>
                </a:lnTo>
                <a:lnTo>
                  <a:pt x="427" y="63"/>
                </a:lnTo>
                <a:lnTo>
                  <a:pt x="429" y="67"/>
                </a:lnTo>
                <a:lnTo>
                  <a:pt x="430" y="73"/>
                </a:lnTo>
                <a:lnTo>
                  <a:pt x="431" y="78"/>
                </a:lnTo>
                <a:lnTo>
                  <a:pt x="432" y="84"/>
                </a:lnTo>
                <a:lnTo>
                  <a:pt x="432" y="84"/>
                </a:lnTo>
                <a:lnTo>
                  <a:pt x="431" y="90"/>
                </a:lnTo>
                <a:lnTo>
                  <a:pt x="430" y="95"/>
                </a:lnTo>
                <a:lnTo>
                  <a:pt x="429" y="100"/>
                </a:lnTo>
                <a:lnTo>
                  <a:pt x="427" y="105"/>
                </a:lnTo>
                <a:lnTo>
                  <a:pt x="425" y="110"/>
                </a:lnTo>
                <a:lnTo>
                  <a:pt x="422" y="115"/>
                </a:lnTo>
                <a:lnTo>
                  <a:pt x="419" y="120"/>
                </a:lnTo>
                <a:lnTo>
                  <a:pt x="415" y="124"/>
                </a:lnTo>
                <a:lnTo>
                  <a:pt x="415" y="124"/>
                </a:lnTo>
                <a:close/>
                <a:moveTo>
                  <a:pt x="320" y="119"/>
                </a:moveTo>
                <a:lnTo>
                  <a:pt x="176" y="263"/>
                </a:lnTo>
                <a:lnTo>
                  <a:pt x="176" y="263"/>
                </a:lnTo>
                <a:lnTo>
                  <a:pt x="175" y="265"/>
                </a:lnTo>
                <a:lnTo>
                  <a:pt x="173" y="268"/>
                </a:lnTo>
                <a:lnTo>
                  <a:pt x="173" y="270"/>
                </a:lnTo>
                <a:lnTo>
                  <a:pt x="172" y="273"/>
                </a:lnTo>
                <a:lnTo>
                  <a:pt x="173" y="276"/>
                </a:lnTo>
                <a:lnTo>
                  <a:pt x="173" y="279"/>
                </a:lnTo>
                <a:lnTo>
                  <a:pt x="175" y="281"/>
                </a:lnTo>
                <a:lnTo>
                  <a:pt x="176" y="283"/>
                </a:lnTo>
                <a:lnTo>
                  <a:pt x="176" y="283"/>
                </a:lnTo>
                <a:lnTo>
                  <a:pt x="179" y="285"/>
                </a:lnTo>
                <a:lnTo>
                  <a:pt x="181" y="286"/>
                </a:lnTo>
                <a:lnTo>
                  <a:pt x="184" y="287"/>
                </a:lnTo>
                <a:lnTo>
                  <a:pt x="187" y="287"/>
                </a:lnTo>
                <a:lnTo>
                  <a:pt x="187" y="287"/>
                </a:lnTo>
                <a:lnTo>
                  <a:pt x="189" y="287"/>
                </a:lnTo>
                <a:lnTo>
                  <a:pt x="192" y="286"/>
                </a:lnTo>
                <a:lnTo>
                  <a:pt x="195" y="285"/>
                </a:lnTo>
                <a:lnTo>
                  <a:pt x="197" y="283"/>
                </a:lnTo>
                <a:lnTo>
                  <a:pt x="341" y="139"/>
                </a:lnTo>
                <a:lnTo>
                  <a:pt x="341" y="139"/>
                </a:lnTo>
                <a:lnTo>
                  <a:pt x="343" y="137"/>
                </a:lnTo>
                <a:lnTo>
                  <a:pt x="344" y="135"/>
                </a:lnTo>
                <a:lnTo>
                  <a:pt x="345" y="132"/>
                </a:lnTo>
                <a:lnTo>
                  <a:pt x="345" y="129"/>
                </a:lnTo>
                <a:lnTo>
                  <a:pt x="345" y="126"/>
                </a:lnTo>
                <a:lnTo>
                  <a:pt x="344" y="124"/>
                </a:lnTo>
                <a:lnTo>
                  <a:pt x="343" y="121"/>
                </a:lnTo>
                <a:lnTo>
                  <a:pt x="341" y="119"/>
                </a:lnTo>
                <a:lnTo>
                  <a:pt x="341" y="119"/>
                </a:lnTo>
                <a:lnTo>
                  <a:pt x="339" y="117"/>
                </a:lnTo>
                <a:lnTo>
                  <a:pt x="336" y="116"/>
                </a:lnTo>
                <a:lnTo>
                  <a:pt x="334" y="115"/>
                </a:lnTo>
                <a:lnTo>
                  <a:pt x="331" y="115"/>
                </a:lnTo>
                <a:lnTo>
                  <a:pt x="328" y="115"/>
                </a:lnTo>
                <a:lnTo>
                  <a:pt x="325" y="116"/>
                </a:lnTo>
                <a:lnTo>
                  <a:pt x="323" y="117"/>
                </a:lnTo>
                <a:lnTo>
                  <a:pt x="320" y="119"/>
                </a:lnTo>
                <a:lnTo>
                  <a:pt x="320" y="119"/>
                </a:lnTo>
                <a:close/>
              </a:path>
            </a:pathLst>
          </a:custGeom>
          <a:solidFill>
            <a:srgbClr val="C00000">
              <a:alpha val="100000"/>
            </a:srgbClr>
          </a:solidFill>
          <a:ln cap="flat">
            <a:noFill/>
            <a:prstDash val="solid"/>
            <a:miter lim="0"/>
          </a:ln>
        </p:spPr>
        <p:txBody>
          <a:bodyPr rtlCol="0"/>
          <a:p>
            <a:pPr algn="ctr"/>
            <a:endParaRPr lang="zh-CN" altLang="en-US"/>
          </a:p>
        </p:txBody>
      </p:sp>
      <p:sp>
        <p:nvSpPr>
          <p:cNvPr id="6" name="path"/>
          <p:cNvSpPr/>
          <p:nvPr>
            <p:custDataLst>
              <p:tags r:id="rId6"/>
            </p:custDataLst>
          </p:nvPr>
        </p:nvSpPr>
        <p:spPr>
          <a:xfrm>
            <a:off x="1112393" y="3041777"/>
            <a:ext cx="292608" cy="292608"/>
          </a:xfrm>
          <a:custGeom>
            <a:avLst/>
            <a:gdLst/>
            <a:ahLst/>
            <a:cxnLst/>
            <a:rect l="0" t="0" r="0" b="0"/>
            <a:pathLst>
              <a:path w="460" h="460">
                <a:moveTo>
                  <a:pt x="435" y="25"/>
                </a:moveTo>
                <a:lnTo>
                  <a:pt x="435" y="25"/>
                </a:lnTo>
                <a:lnTo>
                  <a:pt x="429" y="19"/>
                </a:lnTo>
                <a:lnTo>
                  <a:pt x="422" y="13"/>
                </a:lnTo>
                <a:lnTo>
                  <a:pt x="415" y="10"/>
                </a:lnTo>
                <a:lnTo>
                  <a:pt x="408" y="6"/>
                </a:lnTo>
                <a:lnTo>
                  <a:pt x="400" y="3"/>
                </a:lnTo>
                <a:lnTo>
                  <a:pt x="392" y="1"/>
                </a:lnTo>
                <a:lnTo>
                  <a:pt x="384" y="0"/>
                </a:lnTo>
                <a:lnTo>
                  <a:pt x="376" y="0"/>
                </a:lnTo>
                <a:lnTo>
                  <a:pt x="376" y="0"/>
                </a:lnTo>
                <a:lnTo>
                  <a:pt x="367" y="0"/>
                </a:lnTo>
                <a:lnTo>
                  <a:pt x="359" y="1"/>
                </a:lnTo>
                <a:lnTo>
                  <a:pt x="351" y="3"/>
                </a:lnTo>
                <a:lnTo>
                  <a:pt x="343" y="6"/>
                </a:lnTo>
                <a:lnTo>
                  <a:pt x="336" y="10"/>
                </a:lnTo>
                <a:lnTo>
                  <a:pt x="329" y="13"/>
                </a:lnTo>
                <a:lnTo>
                  <a:pt x="322" y="19"/>
                </a:lnTo>
                <a:lnTo>
                  <a:pt x="316" y="25"/>
                </a:lnTo>
                <a:lnTo>
                  <a:pt x="62" y="277"/>
                </a:lnTo>
                <a:lnTo>
                  <a:pt x="62" y="277"/>
                </a:lnTo>
                <a:lnTo>
                  <a:pt x="60" y="280"/>
                </a:lnTo>
                <a:lnTo>
                  <a:pt x="58" y="283"/>
                </a:lnTo>
                <a:lnTo>
                  <a:pt x="0" y="441"/>
                </a:lnTo>
                <a:lnTo>
                  <a:pt x="0" y="441"/>
                </a:lnTo>
                <a:lnTo>
                  <a:pt x="0" y="445"/>
                </a:lnTo>
                <a:lnTo>
                  <a:pt x="0" y="450"/>
                </a:lnTo>
                <a:lnTo>
                  <a:pt x="1" y="452"/>
                </a:lnTo>
                <a:lnTo>
                  <a:pt x="4" y="456"/>
                </a:lnTo>
                <a:lnTo>
                  <a:pt x="4" y="456"/>
                </a:lnTo>
                <a:lnTo>
                  <a:pt x="6" y="458"/>
                </a:lnTo>
                <a:lnTo>
                  <a:pt x="8" y="459"/>
                </a:lnTo>
                <a:lnTo>
                  <a:pt x="11" y="460"/>
                </a:lnTo>
                <a:lnTo>
                  <a:pt x="14" y="460"/>
                </a:lnTo>
                <a:lnTo>
                  <a:pt x="14" y="460"/>
                </a:lnTo>
                <a:lnTo>
                  <a:pt x="16" y="460"/>
                </a:lnTo>
                <a:lnTo>
                  <a:pt x="19" y="460"/>
                </a:lnTo>
                <a:lnTo>
                  <a:pt x="162" y="416"/>
                </a:lnTo>
                <a:lnTo>
                  <a:pt x="162" y="416"/>
                </a:lnTo>
                <a:lnTo>
                  <a:pt x="165" y="414"/>
                </a:lnTo>
                <a:lnTo>
                  <a:pt x="167" y="412"/>
                </a:lnTo>
                <a:lnTo>
                  <a:pt x="435" y="144"/>
                </a:lnTo>
                <a:lnTo>
                  <a:pt x="435" y="144"/>
                </a:lnTo>
                <a:lnTo>
                  <a:pt x="441" y="138"/>
                </a:lnTo>
                <a:lnTo>
                  <a:pt x="446" y="131"/>
                </a:lnTo>
                <a:lnTo>
                  <a:pt x="450" y="124"/>
                </a:lnTo>
                <a:lnTo>
                  <a:pt x="454" y="117"/>
                </a:lnTo>
                <a:lnTo>
                  <a:pt x="456" y="109"/>
                </a:lnTo>
                <a:lnTo>
                  <a:pt x="459" y="100"/>
                </a:lnTo>
                <a:lnTo>
                  <a:pt x="460" y="92"/>
                </a:lnTo>
                <a:lnTo>
                  <a:pt x="460" y="84"/>
                </a:lnTo>
                <a:lnTo>
                  <a:pt x="460" y="84"/>
                </a:lnTo>
                <a:lnTo>
                  <a:pt x="460" y="76"/>
                </a:lnTo>
                <a:lnTo>
                  <a:pt x="459" y="67"/>
                </a:lnTo>
                <a:lnTo>
                  <a:pt x="456" y="59"/>
                </a:lnTo>
                <a:lnTo>
                  <a:pt x="454" y="52"/>
                </a:lnTo>
                <a:lnTo>
                  <a:pt x="450" y="44"/>
                </a:lnTo>
                <a:lnTo>
                  <a:pt x="446" y="37"/>
                </a:lnTo>
                <a:lnTo>
                  <a:pt x="441" y="30"/>
                </a:lnTo>
                <a:lnTo>
                  <a:pt x="435" y="25"/>
                </a:lnTo>
                <a:lnTo>
                  <a:pt x="435" y="25"/>
                </a:lnTo>
                <a:close/>
                <a:moveTo>
                  <a:pt x="145" y="391"/>
                </a:moveTo>
                <a:lnTo>
                  <a:pt x="91" y="407"/>
                </a:lnTo>
                <a:lnTo>
                  <a:pt x="91" y="407"/>
                </a:lnTo>
                <a:lnTo>
                  <a:pt x="89" y="400"/>
                </a:lnTo>
                <a:lnTo>
                  <a:pt x="85" y="394"/>
                </a:lnTo>
                <a:lnTo>
                  <a:pt x="81" y="389"/>
                </a:lnTo>
                <a:lnTo>
                  <a:pt x="76" y="383"/>
                </a:lnTo>
                <a:lnTo>
                  <a:pt x="76" y="383"/>
                </a:lnTo>
                <a:lnTo>
                  <a:pt x="72" y="379"/>
                </a:lnTo>
                <a:lnTo>
                  <a:pt x="67" y="376"/>
                </a:lnTo>
                <a:lnTo>
                  <a:pt x="62" y="372"/>
                </a:lnTo>
                <a:lnTo>
                  <a:pt x="57" y="370"/>
                </a:lnTo>
                <a:lnTo>
                  <a:pt x="81" y="302"/>
                </a:lnTo>
                <a:lnTo>
                  <a:pt x="114" y="302"/>
                </a:lnTo>
                <a:lnTo>
                  <a:pt x="114" y="331"/>
                </a:lnTo>
                <a:lnTo>
                  <a:pt x="114" y="331"/>
                </a:lnTo>
                <a:lnTo>
                  <a:pt x="115" y="333"/>
                </a:lnTo>
                <a:lnTo>
                  <a:pt x="116" y="337"/>
                </a:lnTo>
                <a:lnTo>
                  <a:pt x="118" y="339"/>
                </a:lnTo>
                <a:lnTo>
                  <a:pt x="119" y="341"/>
                </a:lnTo>
                <a:lnTo>
                  <a:pt x="121" y="343"/>
                </a:lnTo>
                <a:lnTo>
                  <a:pt x="124" y="344"/>
                </a:lnTo>
                <a:lnTo>
                  <a:pt x="126" y="345"/>
                </a:lnTo>
                <a:lnTo>
                  <a:pt x="129" y="345"/>
                </a:lnTo>
                <a:lnTo>
                  <a:pt x="154" y="345"/>
                </a:lnTo>
                <a:lnTo>
                  <a:pt x="145" y="391"/>
                </a:lnTo>
                <a:close/>
                <a:moveTo>
                  <a:pt x="357" y="182"/>
                </a:moveTo>
                <a:lnTo>
                  <a:pt x="181" y="357"/>
                </a:lnTo>
                <a:lnTo>
                  <a:pt x="186" y="334"/>
                </a:lnTo>
                <a:lnTo>
                  <a:pt x="186" y="334"/>
                </a:lnTo>
                <a:lnTo>
                  <a:pt x="187" y="331"/>
                </a:lnTo>
                <a:lnTo>
                  <a:pt x="186" y="327"/>
                </a:lnTo>
                <a:lnTo>
                  <a:pt x="186" y="324"/>
                </a:lnTo>
                <a:lnTo>
                  <a:pt x="183" y="322"/>
                </a:lnTo>
                <a:lnTo>
                  <a:pt x="183" y="322"/>
                </a:lnTo>
                <a:lnTo>
                  <a:pt x="181" y="319"/>
                </a:lnTo>
                <a:lnTo>
                  <a:pt x="179" y="318"/>
                </a:lnTo>
                <a:lnTo>
                  <a:pt x="176" y="317"/>
                </a:lnTo>
                <a:lnTo>
                  <a:pt x="172" y="317"/>
                </a:lnTo>
                <a:lnTo>
                  <a:pt x="143" y="317"/>
                </a:lnTo>
                <a:lnTo>
                  <a:pt x="143" y="287"/>
                </a:lnTo>
                <a:lnTo>
                  <a:pt x="143" y="287"/>
                </a:lnTo>
                <a:lnTo>
                  <a:pt x="143" y="285"/>
                </a:lnTo>
                <a:lnTo>
                  <a:pt x="142" y="282"/>
                </a:lnTo>
                <a:lnTo>
                  <a:pt x="141" y="280"/>
                </a:lnTo>
                <a:lnTo>
                  <a:pt x="139" y="278"/>
                </a:lnTo>
                <a:lnTo>
                  <a:pt x="138" y="276"/>
                </a:lnTo>
                <a:lnTo>
                  <a:pt x="135" y="274"/>
                </a:lnTo>
                <a:lnTo>
                  <a:pt x="132" y="273"/>
                </a:lnTo>
                <a:lnTo>
                  <a:pt x="129" y="273"/>
                </a:lnTo>
                <a:lnTo>
                  <a:pt x="106" y="273"/>
                </a:lnTo>
                <a:lnTo>
                  <a:pt x="278" y="103"/>
                </a:lnTo>
                <a:lnTo>
                  <a:pt x="278" y="103"/>
                </a:lnTo>
                <a:lnTo>
                  <a:pt x="278" y="103"/>
                </a:lnTo>
                <a:lnTo>
                  <a:pt x="282" y="99"/>
                </a:lnTo>
                <a:lnTo>
                  <a:pt x="286" y="96"/>
                </a:lnTo>
                <a:lnTo>
                  <a:pt x="291" y="93"/>
                </a:lnTo>
                <a:lnTo>
                  <a:pt x="296" y="91"/>
                </a:lnTo>
                <a:lnTo>
                  <a:pt x="301" y="89"/>
                </a:lnTo>
                <a:lnTo>
                  <a:pt x="306" y="87"/>
                </a:lnTo>
                <a:lnTo>
                  <a:pt x="312" y="87"/>
                </a:lnTo>
                <a:lnTo>
                  <a:pt x="318" y="87"/>
                </a:lnTo>
                <a:lnTo>
                  <a:pt x="318" y="87"/>
                </a:lnTo>
                <a:lnTo>
                  <a:pt x="323" y="87"/>
                </a:lnTo>
                <a:lnTo>
                  <a:pt x="328" y="87"/>
                </a:lnTo>
                <a:lnTo>
                  <a:pt x="334" y="89"/>
                </a:lnTo>
                <a:lnTo>
                  <a:pt x="339" y="91"/>
                </a:lnTo>
                <a:lnTo>
                  <a:pt x="344" y="93"/>
                </a:lnTo>
                <a:lnTo>
                  <a:pt x="348" y="96"/>
                </a:lnTo>
                <a:lnTo>
                  <a:pt x="352" y="99"/>
                </a:lnTo>
                <a:lnTo>
                  <a:pt x="357" y="103"/>
                </a:lnTo>
                <a:lnTo>
                  <a:pt x="357" y="103"/>
                </a:lnTo>
                <a:lnTo>
                  <a:pt x="361" y="107"/>
                </a:lnTo>
                <a:lnTo>
                  <a:pt x="363" y="111"/>
                </a:lnTo>
                <a:lnTo>
                  <a:pt x="367" y="116"/>
                </a:lnTo>
                <a:lnTo>
                  <a:pt x="369" y="121"/>
                </a:lnTo>
                <a:lnTo>
                  <a:pt x="371" y="126"/>
                </a:lnTo>
                <a:lnTo>
                  <a:pt x="372" y="131"/>
                </a:lnTo>
                <a:lnTo>
                  <a:pt x="373" y="137"/>
                </a:lnTo>
                <a:lnTo>
                  <a:pt x="373" y="143"/>
                </a:lnTo>
                <a:lnTo>
                  <a:pt x="373" y="143"/>
                </a:lnTo>
                <a:lnTo>
                  <a:pt x="373" y="148"/>
                </a:lnTo>
                <a:lnTo>
                  <a:pt x="372" y="153"/>
                </a:lnTo>
                <a:lnTo>
                  <a:pt x="371" y="159"/>
                </a:lnTo>
                <a:lnTo>
                  <a:pt x="369" y="164"/>
                </a:lnTo>
                <a:lnTo>
                  <a:pt x="367" y="169"/>
                </a:lnTo>
                <a:lnTo>
                  <a:pt x="363" y="173"/>
                </a:lnTo>
                <a:lnTo>
                  <a:pt x="361" y="178"/>
                </a:lnTo>
                <a:lnTo>
                  <a:pt x="357" y="182"/>
                </a:lnTo>
                <a:lnTo>
                  <a:pt x="357" y="182"/>
                </a:lnTo>
                <a:close/>
                <a:moveTo>
                  <a:pt x="415" y="124"/>
                </a:moveTo>
                <a:lnTo>
                  <a:pt x="401" y="137"/>
                </a:lnTo>
                <a:lnTo>
                  <a:pt x="401" y="137"/>
                </a:lnTo>
                <a:lnTo>
                  <a:pt x="401" y="130"/>
                </a:lnTo>
                <a:lnTo>
                  <a:pt x="400" y="122"/>
                </a:lnTo>
                <a:lnTo>
                  <a:pt x="397" y="115"/>
                </a:lnTo>
                <a:lnTo>
                  <a:pt x="394" y="107"/>
                </a:lnTo>
                <a:lnTo>
                  <a:pt x="391" y="100"/>
                </a:lnTo>
                <a:lnTo>
                  <a:pt x="387" y="94"/>
                </a:lnTo>
                <a:lnTo>
                  <a:pt x="382" y="88"/>
                </a:lnTo>
                <a:lnTo>
                  <a:pt x="378" y="83"/>
                </a:lnTo>
                <a:lnTo>
                  <a:pt x="378" y="83"/>
                </a:lnTo>
                <a:lnTo>
                  <a:pt x="371" y="77"/>
                </a:lnTo>
                <a:lnTo>
                  <a:pt x="365" y="72"/>
                </a:lnTo>
                <a:lnTo>
                  <a:pt x="359" y="69"/>
                </a:lnTo>
                <a:lnTo>
                  <a:pt x="352" y="65"/>
                </a:lnTo>
                <a:lnTo>
                  <a:pt x="345" y="62"/>
                </a:lnTo>
                <a:lnTo>
                  <a:pt x="338" y="60"/>
                </a:lnTo>
                <a:lnTo>
                  <a:pt x="330" y="59"/>
                </a:lnTo>
                <a:lnTo>
                  <a:pt x="323" y="58"/>
                </a:lnTo>
                <a:lnTo>
                  <a:pt x="336" y="45"/>
                </a:lnTo>
                <a:lnTo>
                  <a:pt x="336" y="45"/>
                </a:lnTo>
                <a:lnTo>
                  <a:pt x="336" y="45"/>
                </a:lnTo>
                <a:lnTo>
                  <a:pt x="340" y="41"/>
                </a:lnTo>
                <a:lnTo>
                  <a:pt x="345" y="37"/>
                </a:lnTo>
                <a:lnTo>
                  <a:pt x="349" y="35"/>
                </a:lnTo>
                <a:lnTo>
                  <a:pt x="354" y="32"/>
                </a:lnTo>
                <a:lnTo>
                  <a:pt x="359" y="31"/>
                </a:lnTo>
                <a:lnTo>
                  <a:pt x="365" y="30"/>
                </a:lnTo>
                <a:lnTo>
                  <a:pt x="370" y="29"/>
                </a:lnTo>
                <a:lnTo>
                  <a:pt x="376" y="29"/>
                </a:lnTo>
                <a:lnTo>
                  <a:pt x="376" y="29"/>
                </a:lnTo>
                <a:lnTo>
                  <a:pt x="381" y="29"/>
                </a:lnTo>
                <a:lnTo>
                  <a:pt x="386" y="30"/>
                </a:lnTo>
                <a:lnTo>
                  <a:pt x="392" y="31"/>
                </a:lnTo>
                <a:lnTo>
                  <a:pt x="397" y="32"/>
                </a:lnTo>
                <a:lnTo>
                  <a:pt x="402" y="35"/>
                </a:lnTo>
                <a:lnTo>
                  <a:pt x="406" y="37"/>
                </a:lnTo>
                <a:lnTo>
                  <a:pt x="411" y="41"/>
                </a:lnTo>
                <a:lnTo>
                  <a:pt x="415" y="45"/>
                </a:lnTo>
                <a:lnTo>
                  <a:pt x="415" y="45"/>
                </a:lnTo>
                <a:lnTo>
                  <a:pt x="419" y="49"/>
                </a:lnTo>
                <a:lnTo>
                  <a:pt x="422" y="53"/>
                </a:lnTo>
                <a:lnTo>
                  <a:pt x="425" y="58"/>
                </a:lnTo>
                <a:lnTo>
                  <a:pt x="427" y="63"/>
                </a:lnTo>
                <a:lnTo>
                  <a:pt x="429" y="67"/>
                </a:lnTo>
                <a:lnTo>
                  <a:pt x="430" y="73"/>
                </a:lnTo>
                <a:lnTo>
                  <a:pt x="431" y="78"/>
                </a:lnTo>
                <a:lnTo>
                  <a:pt x="432" y="84"/>
                </a:lnTo>
                <a:lnTo>
                  <a:pt x="432" y="84"/>
                </a:lnTo>
                <a:lnTo>
                  <a:pt x="431" y="90"/>
                </a:lnTo>
                <a:lnTo>
                  <a:pt x="430" y="95"/>
                </a:lnTo>
                <a:lnTo>
                  <a:pt x="429" y="100"/>
                </a:lnTo>
                <a:lnTo>
                  <a:pt x="427" y="105"/>
                </a:lnTo>
                <a:lnTo>
                  <a:pt x="425" y="110"/>
                </a:lnTo>
                <a:lnTo>
                  <a:pt x="422" y="115"/>
                </a:lnTo>
                <a:lnTo>
                  <a:pt x="419" y="120"/>
                </a:lnTo>
                <a:lnTo>
                  <a:pt x="415" y="124"/>
                </a:lnTo>
                <a:lnTo>
                  <a:pt x="415" y="124"/>
                </a:lnTo>
                <a:close/>
                <a:moveTo>
                  <a:pt x="320" y="119"/>
                </a:moveTo>
                <a:lnTo>
                  <a:pt x="176" y="263"/>
                </a:lnTo>
                <a:lnTo>
                  <a:pt x="176" y="263"/>
                </a:lnTo>
                <a:lnTo>
                  <a:pt x="175" y="265"/>
                </a:lnTo>
                <a:lnTo>
                  <a:pt x="173" y="268"/>
                </a:lnTo>
                <a:lnTo>
                  <a:pt x="173" y="270"/>
                </a:lnTo>
                <a:lnTo>
                  <a:pt x="172" y="273"/>
                </a:lnTo>
                <a:lnTo>
                  <a:pt x="173" y="276"/>
                </a:lnTo>
                <a:lnTo>
                  <a:pt x="173" y="279"/>
                </a:lnTo>
                <a:lnTo>
                  <a:pt x="175" y="281"/>
                </a:lnTo>
                <a:lnTo>
                  <a:pt x="176" y="283"/>
                </a:lnTo>
                <a:lnTo>
                  <a:pt x="176" y="283"/>
                </a:lnTo>
                <a:lnTo>
                  <a:pt x="179" y="285"/>
                </a:lnTo>
                <a:lnTo>
                  <a:pt x="181" y="286"/>
                </a:lnTo>
                <a:lnTo>
                  <a:pt x="184" y="287"/>
                </a:lnTo>
                <a:lnTo>
                  <a:pt x="187" y="287"/>
                </a:lnTo>
                <a:lnTo>
                  <a:pt x="187" y="287"/>
                </a:lnTo>
                <a:lnTo>
                  <a:pt x="189" y="287"/>
                </a:lnTo>
                <a:lnTo>
                  <a:pt x="192" y="286"/>
                </a:lnTo>
                <a:lnTo>
                  <a:pt x="195" y="285"/>
                </a:lnTo>
                <a:lnTo>
                  <a:pt x="197" y="283"/>
                </a:lnTo>
                <a:lnTo>
                  <a:pt x="341" y="139"/>
                </a:lnTo>
                <a:lnTo>
                  <a:pt x="341" y="139"/>
                </a:lnTo>
                <a:lnTo>
                  <a:pt x="343" y="137"/>
                </a:lnTo>
                <a:lnTo>
                  <a:pt x="344" y="135"/>
                </a:lnTo>
                <a:lnTo>
                  <a:pt x="345" y="132"/>
                </a:lnTo>
                <a:lnTo>
                  <a:pt x="345" y="129"/>
                </a:lnTo>
                <a:lnTo>
                  <a:pt x="345" y="126"/>
                </a:lnTo>
                <a:lnTo>
                  <a:pt x="344" y="124"/>
                </a:lnTo>
                <a:lnTo>
                  <a:pt x="343" y="121"/>
                </a:lnTo>
                <a:lnTo>
                  <a:pt x="341" y="119"/>
                </a:lnTo>
                <a:lnTo>
                  <a:pt x="341" y="119"/>
                </a:lnTo>
                <a:lnTo>
                  <a:pt x="339" y="117"/>
                </a:lnTo>
                <a:lnTo>
                  <a:pt x="336" y="116"/>
                </a:lnTo>
                <a:lnTo>
                  <a:pt x="334" y="115"/>
                </a:lnTo>
                <a:lnTo>
                  <a:pt x="331" y="115"/>
                </a:lnTo>
                <a:lnTo>
                  <a:pt x="328" y="115"/>
                </a:lnTo>
                <a:lnTo>
                  <a:pt x="325" y="116"/>
                </a:lnTo>
                <a:lnTo>
                  <a:pt x="323" y="117"/>
                </a:lnTo>
                <a:lnTo>
                  <a:pt x="320" y="119"/>
                </a:lnTo>
                <a:lnTo>
                  <a:pt x="320" y="119"/>
                </a:lnTo>
                <a:close/>
              </a:path>
            </a:pathLst>
          </a:custGeom>
          <a:solidFill>
            <a:srgbClr val="C00000">
              <a:alpha val="100000"/>
            </a:srgbClr>
          </a:solidFill>
          <a:ln cap="flat">
            <a:noFill/>
            <a:prstDash val="solid"/>
            <a:miter lim="0"/>
          </a:ln>
        </p:spPr>
        <p:txBody>
          <a:bodyPr rtlCol="0"/>
          <a:lstStyle/>
          <a:p>
            <a:pPr algn="ctr"/>
            <a:endParaRPr lang="zh-CN" altLang="en-US"/>
          </a:p>
        </p:txBody>
      </p:sp>
      <p:sp>
        <p:nvSpPr>
          <p:cNvPr id="7" name="path"/>
          <p:cNvSpPr/>
          <p:nvPr>
            <p:custDataLst>
              <p:tags r:id="rId7"/>
            </p:custDataLst>
          </p:nvPr>
        </p:nvSpPr>
        <p:spPr>
          <a:xfrm>
            <a:off x="1173988" y="3864102"/>
            <a:ext cx="292608" cy="292608"/>
          </a:xfrm>
          <a:custGeom>
            <a:avLst/>
            <a:gdLst/>
            <a:ahLst/>
            <a:cxnLst/>
            <a:rect l="0" t="0" r="0" b="0"/>
            <a:pathLst>
              <a:path w="460" h="460">
                <a:moveTo>
                  <a:pt x="435" y="25"/>
                </a:moveTo>
                <a:lnTo>
                  <a:pt x="435" y="25"/>
                </a:lnTo>
                <a:lnTo>
                  <a:pt x="429" y="19"/>
                </a:lnTo>
                <a:lnTo>
                  <a:pt x="422" y="13"/>
                </a:lnTo>
                <a:lnTo>
                  <a:pt x="415" y="10"/>
                </a:lnTo>
                <a:lnTo>
                  <a:pt x="408" y="6"/>
                </a:lnTo>
                <a:lnTo>
                  <a:pt x="400" y="3"/>
                </a:lnTo>
                <a:lnTo>
                  <a:pt x="392" y="1"/>
                </a:lnTo>
                <a:lnTo>
                  <a:pt x="384" y="0"/>
                </a:lnTo>
                <a:lnTo>
                  <a:pt x="376" y="0"/>
                </a:lnTo>
                <a:lnTo>
                  <a:pt x="376" y="0"/>
                </a:lnTo>
                <a:lnTo>
                  <a:pt x="367" y="0"/>
                </a:lnTo>
                <a:lnTo>
                  <a:pt x="359" y="1"/>
                </a:lnTo>
                <a:lnTo>
                  <a:pt x="351" y="3"/>
                </a:lnTo>
                <a:lnTo>
                  <a:pt x="343" y="6"/>
                </a:lnTo>
                <a:lnTo>
                  <a:pt x="336" y="10"/>
                </a:lnTo>
                <a:lnTo>
                  <a:pt x="329" y="13"/>
                </a:lnTo>
                <a:lnTo>
                  <a:pt x="322" y="19"/>
                </a:lnTo>
                <a:lnTo>
                  <a:pt x="316" y="25"/>
                </a:lnTo>
                <a:lnTo>
                  <a:pt x="62" y="277"/>
                </a:lnTo>
                <a:lnTo>
                  <a:pt x="62" y="277"/>
                </a:lnTo>
                <a:lnTo>
                  <a:pt x="60" y="280"/>
                </a:lnTo>
                <a:lnTo>
                  <a:pt x="58" y="283"/>
                </a:lnTo>
                <a:lnTo>
                  <a:pt x="0" y="441"/>
                </a:lnTo>
                <a:lnTo>
                  <a:pt x="0" y="441"/>
                </a:lnTo>
                <a:lnTo>
                  <a:pt x="0" y="445"/>
                </a:lnTo>
                <a:lnTo>
                  <a:pt x="0" y="450"/>
                </a:lnTo>
                <a:lnTo>
                  <a:pt x="1" y="452"/>
                </a:lnTo>
                <a:lnTo>
                  <a:pt x="4" y="456"/>
                </a:lnTo>
                <a:lnTo>
                  <a:pt x="4" y="456"/>
                </a:lnTo>
                <a:lnTo>
                  <a:pt x="6" y="458"/>
                </a:lnTo>
                <a:lnTo>
                  <a:pt x="8" y="459"/>
                </a:lnTo>
                <a:lnTo>
                  <a:pt x="11" y="460"/>
                </a:lnTo>
                <a:lnTo>
                  <a:pt x="14" y="460"/>
                </a:lnTo>
                <a:lnTo>
                  <a:pt x="14" y="460"/>
                </a:lnTo>
                <a:lnTo>
                  <a:pt x="16" y="460"/>
                </a:lnTo>
                <a:lnTo>
                  <a:pt x="19" y="460"/>
                </a:lnTo>
                <a:lnTo>
                  <a:pt x="162" y="416"/>
                </a:lnTo>
                <a:lnTo>
                  <a:pt x="162" y="416"/>
                </a:lnTo>
                <a:lnTo>
                  <a:pt x="165" y="414"/>
                </a:lnTo>
                <a:lnTo>
                  <a:pt x="167" y="412"/>
                </a:lnTo>
                <a:lnTo>
                  <a:pt x="435" y="144"/>
                </a:lnTo>
                <a:lnTo>
                  <a:pt x="435" y="144"/>
                </a:lnTo>
                <a:lnTo>
                  <a:pt x="441" y="138"/>
                </a:lnTo>
                <a:lnTo>
                  <a:pt x="446" y="131"/>
                </a:lnTo>
                <a:lnTo>
                  <a:pt x="450" y="124"/>
                </a:lnTo>
                <a:lnTo>
                  <a:pt x="454" y="117"/>
                </a:lnTo>
                <a:lnTo>
                  <a:pt x="456" y="109"/>
                </a:lnTo>
                <a:lnTo>
                  <a:pt x="459" y="100"/>
                </a:lnTo>
                <a:lnTo>
                  <a:pt x="460" y="92"/>
                </a:lnTo>
                <a:lnTo>
                  <a:pt x="460" y="84"/>
                </a:lnTo>
                <a:lnTo>
                  <a:pt x="460" y="84"/>
                </a:lnTo>
                <a:lnTo>
                  <a:pt x="460" y="76"/>
                </a:lnTo>
                <a:lnTo>
                  <a:pt x="459" y="67"/>
                </a:lnTo>
                <a:lnTo>
                  <a:pt x="456" y="59"/>
                </a:lnTo>
                <a:lnTo>
                  <a:pt x="454" y="52"/>
                </a:lnTo>
                <a:lnTo>
                  <a:pt x="450" y="44"/>
                </a:lnTo>
                <a:lnTo>
                  <a:pt x="446" y="37"/>
                </a:lnTo>
                <a:lnTo>
                  <a:pt x="441" y="30"/>
                </a:lnTo>
                <a:lnTo>
                  <a:pt x="435" y="25"/>
                </a:lnTo>
                <a:lnTo>
                  <a:pt x="435" y="25"/>
                </a:lnTo>
                <a:close/>
                <a:moveTo>
                  <a:pt x="145" y="391"/>
                </a:moveTo>
                <a:lnTo>
                  <a:pt x="91" y="407"/>
                </a:lnTo>
                <a:lnTo>
                  <a:pt x="91" y="407"/>
                </a:lnTo>
                <a:lnTo>
                  <a:pt x="89" y="400"/>
                </a:lnTo>
                <a:lnTo>
                  <a:pt x="85" y="394"/>
                </a:lnTo>
                <a:lnTo>
                  <a:pt x="81" y="389"/>
                </a:lnTo>
                <a:lnTo>
                  <a:pt x="76" y="383"/>
                </a:lnTo>
                <a:lnTo>
                  <a:pt x="76" y="383"/>
                </a:lnTo>
                <a:lnTo>
                  <a:pt x="72" y="379"/>
                </a:lnTo>
                <a:lnTo>
                  <a:pt x="67" y="376"/>
                </a:lnTo>
                <a:lnTo>
                  <a:pt x="62" y="372"/>
                </a:lnTo>
                <a:lnTo>
                  <a:pt x="57" y="370"/>
                </a:lnTo>
                <a:lnTo>
                  <a:pt x="81" y="302"/>
                </a:lnTo>
                <a:lnTo>
                  <a:pt x="114" y="302"/>
                </a:lnTo>
                <a:lnTo>
                  <a:pt x="114" y="331"/>
                </a:lnTo>
                <a:lnTo>
                  <a:pt x="114" y="331"/>
                </a:lnTo>
                <a:lnTo>
                  <a:pt x="115" y="333"/>
                </a:lnTo>
                <a:lnTo>
                  <a:pt x="116" y="337"/>
                </a:lnTo>
                <a:lnTo>
                  <a:pt x="118" y="339"/>
                </a:lnTo>
                <a:lnTo>
                  <a:pt x="119" y="341"/>
                </a:lnTo>
                <a:lnTo>
                  <a:pt x="121" y="343"/>
                </a:lnTo>
                <a:lnTo>
                  <a:pt x="124" y="344"/>
                </a:lnTo>
                <a:lnTo>
                  <a:pt x="126" y="345"/>
                </a:lnTo>
                <a:lnTo>
                  <a:pt x="129" y="345"/>
                </a:lnTo>
                <a:lnTo>
                  <a:pt x="154" y="345"/>
                </a:lnTo>
                <a:lnTo>
                  <a:pt x="145" y="391"/>
                </a:lnTo>
                <a:close/>
                <a:moveTo>
                  <a:pt x="357" y="182"/>
                </a:moveTo>
                <a:lnTo>
                  <a:pt x="181" y="357"/>
                </a:lnTo>
                <a:lnTo>
                  <a:pt x="186" y="334"/>
                </a:lnTo>
                <a:lnTo>
                  <a:pt x="186" y="334"/>
                </a:lnTo>
                <a:lnTo>
                  <a:pt x="187" y="331"/>
                </a:lnTo>
                <a:lnTo>
                  <a:pt x="186" y="327"/>
                </a:lnTo>
                <a:lnTo>
                  <a:pt x="186" y="324"/>
                </a:lnTo>
                <a:lnTo>
                  <a:pt x="183" y="322"/>
                </a:lnTo>
                <a:lnTo>
                  <a:pt x="183" y="322"/>
                </a:lnTo>
                <a:lnTo>
                  <a:pt x="181" y="319"/>
                </a:lnTo>
                <a:lnTo>
                  <a:pt x="179" y="318"/>
                </a:lnTo>
                <a:lnTo>
                  <a:pt x="176" y="317"/>
                </a:lnTo>
                <a:lnTo>
                  <a:pt x="172" y="317"/>
                </a:lnTo>
                <a:lnTo>
                  <a:pt x="143" y="317"/>
                </a:lnTo>
                <a:lnTo>
                  <a:pt x="143" y="287"/>
                </a:lnTo>
                <a:lnTo>
                  <a:pt x="143" y="287"/>
                </a:lnTo>
                <a:lnTo>
                  <a:pt x="143" y="285"/>
                </a:lnTo>
                <a:lnTo>
                  <a:pt x="142" y="282"/>
                </a:lnTo>
                <a:lnTo>
                  <a:pt x="141" y="280"/>
                </a:lnTo>
                <a:lnTo>
                  <a:pt x="139" y="278"/>
                </a:lnTo>
                <a:lnTo>
                  <a:pt x="138" y="276"/>
                </a:lnTo>
                <a:lnTo>
                  <a:pt x="135" y="274"/>
                </a:lnTo>
                <a:lnTo>
                  <a:pt x="132" y="273"/>
                </a:lnTo>
                <a:lnTo>
                  <a:pt x="129" y="273"/>
                </a:lnTo>
                <a:lnTo>
                  <a:pt x="106" y="273"/>
                </a:lnTo>
                <a:lnTo>
                  <a:pt x="278" y="103"/>
                </a:lnTo>
                <a:lnTo>
                  <a:pt x="278" y="103"/>
                </a:lnTo>
                <a:lnTo>
                  <a:pt x="278" y="103"/>
                </a:lnTo>
                <a:lnTo>
                  <a:pt x="282" y="99"/>
                </a:lnTo>
                <a:lnTo>
                  <a:pt x="286" y="96"/>
                </a:lnTo>
                <a:lnTo>
                  <a:pt x="291" y="93"/>
                </a:lnTo>
                <a:lnTo>
                  <a:pt x="296" y="91"/>
                </a:lnTo>
                <a:lnTo>
                  <a:pt x="301" y="89"/>
                </a:lnTo>
                <a:lnTo>
                  <a:pt x="306" y="87"/>
                </a:lnTo>
                <a:lnTo>
                  <a:pt x="312" y="87"/>
                </a:lnTo>
                <a:lnTo>
                  <a:pt x="318" y="87"/>
                </a:lnTo>
                <a:lnTo>
                  <a:pt x="318" y="87"/>
                </a:lnTo>
                <a:lnTo>
                  <a:pt x="323" y="87"/>
                </a:lnTo>
                <a:lnTo>
                  <a:pt x="328" y="87"/>
                </a:lnTo>
                <a:lnTo>
                  <a:pt x="334" y="89"/>
                </a:lnTo>
                <a:lnTo>
                  <a:pt x="339" y="91"/>
                </a:lnTo>
                <a:lnTo>
                  <a:pt x="344" y="93"/>
                </a:lnTo>
                <a:lnTo>
                  <a:pt x="348" y="96"/>
                </a:lnTo>
                <a:lnTo>
                  <a:pt x="352" y="99"/>
                </a:lnTo>
                <a:lnTo>
                  <a:pt x="357" y="103"/>
                </a:lnTo>
                <a:lnTo>
                  <a:pt x="357" y="103"/>
                </a:lnTo>
                <a:lnTo>
                  <a:pt x="361" y="107"/>
                </a:lnTo>
                <a:lnTo>
                  <a:pt x="363" y="111"/>
                </a:lnTo>
                <a:lnTo>
                  <a:pt x="367" y="116"/>
                </a:lnTo>
                <a:lnTo>
                  <a:pt x="369" y="121"/>
                </a:lnTo>
                <a:lnTo>
                  <a:pt x="371" y="126"/>
                </a:lnTo>
                <a:lnTo>
                  <a:pt x="372" y="131"/>
                </a:lnTo>
                <a:lnTo>
                  <a:pt x="373" y="137"/>
                </a:lnTo>
                <a:lnTo>
                  <a:pt x="373" y="143"/>
                </a:lnTo>
                <a:lnTo>
                  <a:pt x="373" y="143"/>
                </a:lnTo>
                <a:lnTo>
                  <a:pt x="373" y="148"/>
                </a:lnTo>
                <a:lnTo>
                  <a:pt x="372" y="153"/>
                </a:lnTo>
                <a:lnTo>
                  <a:pt x="371" y="159"/>
                </a:lnTo>
                <a:lnTo>
                  <a:pt x="369" y="164"/>
                </a:lnTo>
                <a:lnTo>
                  <a:pt x="367" y="169"/>
                </a:lnTo>
                <a:lnTo>
                  <a:pt x="363" y="173"/>
                </a:lnTo>
                <a:lnTo>
                  <a:pt x="361" y="178"/>
                </a:lnTo>
                <a:lnTo>
                  <a:pt x="357" y="182"/>
                </a:lnTo>
                <a:lnTo>
                  <a:pt x="357" y="182"/>
                </a:lnTo>
                <a:close/>
                <a:moveTo>
                  <a:pt x="415" y="124"/>
                </a:moveTo>
                <a:lnTo>
                  <a:pt x="401" y="137"/>
                </a:lnTo>
                <a:lnTo>
                  <a:pt x="401" y="137"/>
                </a:lnTo>
                <a:lnTo>
                  <a:pt x="401" y="130"/>
                </a:lnTo>
                <a:lnTo>
                  <a:pt x="400" y="122"/>
                </a:lnTo>
                <a:lnTo>
                  <a:pt x="397" y="115"/>
                </a:lnTo>
                <a:lnTo>
                  <a:pt x="394" y="107"/>
                </a:lnTo>
                <a:lnTo>
                  <a:pt x="391" y="100"/>
                </a:lnTo>
                <a:lnTo>
                  <a:pt x="387" y="94"/>
                </a:lnTo>
                <a:lnTo>
                  <a:pt x="382" y="88"/>
                </a:lnTo>
                <a:lnTo>
                  <a:pt x="378" y="83"/>
                </a:lnTo>
                <a:lnTo>
                  <a:pt x="378" y="83"/>
                </a:lnTo>
                <a:lnTo>
                  <a:pt x="371" y="77"/>
                </a:lnTo>
                <a:lnTo>
                  <a:pt x="365" y="72"/>
                </a:lnTo>
                <a:lnTo>
                  <a:pt x="359" y="69"/>
                </a:lnTo>
                <a:lnTo>
                  <a:pt x="352" y="65"/>
                </a:lnTo>
                <a:lnTo>
                  <a:pt x="345" y="62"/>
                </a:lnTo>
                <a:lnTo>
                  <a:pt x="338" y="60"/>
                </a:lnTo>
                <a:lnTo>
                  <a:pt x="330" y="59"/>
                </a:lnTo>
                <a:lnTo>
                  <a:pt x="323" y="58"/>
                </a:lnTo>
                <a:lnTo>
                  <a:pt x="336" y="45"/>
                </a:lnTo>
                <a:lnTo>
                  <a:pt x="336" y="45"/>
                </a:lnTo>
                <a:lnTo>
                  <a:pt x="336" y="45"/>
                </a:lnTo>
                <a:lnTo>
                  <a:pt x="340" y="41"/>
                </a:lnTo>
                <a:lnTo>
                  <a:pt x="345" y="37"/>
                </a:lnTo>
                <a:lnTo>
                  <a:pt x="349" y="35"/>
                </a:lnTo>
                <a:lnTo>
                  <a:pt x="354" y="32"/>
                </a:lnTo>
                <a:lnTo>
                  <a:pt x="359" y="31"/>
                </a:lnTo>
                <a:lnTo>
                  <a:pt x="365" y="30"/>
                </a:lnTo>
                <a:lnTo>
                  <a:pt x="370" y="29"/>
                </a:lnTo>
                <a:lnTo>
                  <a:pt x="376" y="29"/>
                </a:lnTo>
                <a:lnTo>
                  <a:pt x="376" y="29"/>
                </a:lnTo>
                <a:lnTo>
                  <a:pt x="381" y="29"/>
                </a:lnTo>
                <a:lnTo>
                  <a:pt x="386" y="30"/>
                </a:lnTo>
                <a:lnTo>
                  <a:pt x="392" y="31"/>
                </a:lnTo>
                <a:lnTo>
                  <a:pt x="397" y="32"/>
                </a:lnTo>
                <a:lnTo>
                  <a:pt x="402" y="35"/>
                </a:lnTo>
                <a:lnTo>
                  <a:pt x="406" y="37"/>
                </a:lnTo>
                <a:lnTo>
                  <a:pt x="411" y="41"/>
                </a:lnTo>
                <a:lnTo>
                  <a:pt x="415" y="45"/>
                </a:lnTo>
                <a:lnTo>
                  <a:pt x="415" y="45"/>
                </a:lnTo>
                <a:lnTo>
                  <a:pt x="419" y="49"/>
                </a:lnTo>
                <a:lnTo>
                  <a:pt x="422" y="53"/>
                </a:lnTo>
                <a:lnTo>
                  <a:pt x="425" y="58"/>
                </a:lnTo>
                <a:lnTo>
                  <a:pt x="427" y="63"/>
                </a:lnTo>
                <a:lnTo>
                  <a:pt x="429" y="67"/>
                </a:lnTo>
                <a:lnTo>
                  <a:pt x="430" y="73"/>
                </a:lnTo>
                <a:lnTo>
                  <a:pt x="431" y="78"/>
                </a:lnTo>
                <a:lnTo>
                  <a:pt x="432" y="84"/>
                </a:lnTo>
                <a:lnTo>
                  <a:pt x="432" y="84"/>
                </a:lnTo>
                <a:lnTo>
                  <a:pt x="431" y="90"/>
                </a:lnTo>
                <a:lnTo>
                  <a:pt x="430" y="95"/>
                </a:lnTo>
                <a:lnTo>
                  <a:pt x="429" y="100"/>
                </a:lnTo>
                <a:lnTo>
                  <a:pt x="427" y="105"/>
                </a:lnTo>
                <a:lnTo>
                  <a:pt x="425" y="110"/>
                </a:lnTo>
                <a:lnTo>
                  <a:pt x="422" y="115"/>
                </a:lnTo>
                <a:lnTo>
                  <a:pt x="419" y="120"/>
                </a:lnTo>
                <a:lnTo>
                  <a:pt x="415" y="124"/>
                </a:lnTo>
                <a:lnTo>
                  <a:pt x="415" y="124"/>
                </a:lnTo>
                <a:close/>
                <a:moveTo>
                  <a:pt x="320" y="119"/>
                </a:moveTo>
                <a:lnTo>
                  <a:pt x="176" y="263"/>
                </a:lnTo>
                <a:lnTo>
                  <a:pt x="176" y="263"/>
                </a:lnTo>
                <a:lnTo>
                  <a:pt x="175" y="265"/>
                </a:lnTo>
                <a:lnTo>
                  <a:pt x="173" y="268"/>
                </a:lnTo>
                <a:lnTo>
                  <a:pt x="173" y="270"/>
                </a:lnTo>
                <a:lnTo>
                  <a:pt x="172" y="273"/>
                </a:lnTo>
                <a:lnTo>
                  <a:pt x="173" y="276"/>
                </a:lnTo>
                <a:lnTo>
                  <a:pt x="173" y="279"/>
                </a:lnTo>
                <a:lnTo>
                  <a:pt x="175" y="281"/>
                </a:lnTo>
                <a:lnTo>
                  <a:pt x="176" y="283"/>
                </a:lnTo>
                <a:lnTo>
                  <a:pt x="176" y="283"/>
                </a:lnTo>
                <a:lnTo>
                  <a:pt x="179" y="285"/>
                </a:lnTo>
                <a:lnTo>
                  <a:pt x="181" y="286"/>
                </a:lnTo>
                <a:lnTo>
                  <a:pt x="184" y="287"/>
                </a:lnTo>
                <a:lnTo>
                  <a:pt x="187" y="287"/>
                </a:lnTo>
                <a:lnTo>
                  <a:pt x="187" y="287"/>
                </a:lnTo>
                <a:lnTo>
                  <a:pt x="189" y="287"/>
                </a:lnTo>
                <a:lnTo>
                  <a:pt x="192" y="286"/>
                </a:lnTo>
                <a:lnTo>
                  <a:pt x="195" y="285"/>
                </a:lnTo>
                <a:lnTo>
                  <a:pt x="197" y="283"/>
                </a:lnTo>
                <a:lnTo>
                  <a:pt x="341" y="139"/>
                </a:lnTo>
                <a:lnTo>
                  <a:pt x="341" y="139"/>
                </a:lnTo>
                <a:lnTo>
                  <a:pt x="343" y="137"/>
                </a:lnTo>
                <a:lnTo>
                  <a:pt x="344" y="135"/>
                </a:lnTo>
                <a:lnTo>
                  <a:pt x="345" y="132"/>
                </a:lnTo>
                <a:lnTo>
                  <a:pt x="345" y="129"/>
                </a:lnTo>
                <a:lnTo>
                  <a:pt x="345" y="126"/>
                </a:lnTo>
                <a:lnTo>
                  <a:pt x="344" y="124"/>
                </a:lnTo>
                <a:lnTo>
                  <a:pt x="343" y="121"/>
                </a:lnTo>
                <a:lnTo>
                  <a:pt x="341" y="119"/>
                </a:lnTo>
                <a:lnTo>
                  <a:pt x="341" y="119"/>
                </a:lnTo>
                <a:lnTo>
                  <a:pt x="339" y="117"/>
                </a:lnTo>
                <a:lnTo>
                  <a:pt x="336" y="116"/>
                </a:lnTo>
                <a:lnTo>
                  <a:pt x="334" y="115"/>
                </a:lnTo>
                <a:lnTo>
                  <a:pt x="331" y="115"/>
                </a:lnTo>
                <a:lnTo>
                  <a:pt x="328" y="115"/>
                </a:lnTo>
                <a:lnTo>
                  <a:pt x="325" y="116"/>
                </a:lnTo>
                <a:lnTo>
                  <a:pt x="323" y="117"/>
                </a:lnTo>
                <a:lnTo>
                  <a:pt x="320" y="119"/>
                </a:lnTo>
                <a:lnTo>
                  <a:pt x="320" y="119"/>
                </a:lnTo>
                <a:close/>
              </a:path>
            </a:pathLst>
          </a:custGeom>
          <a:solidFill>
            <a:srgbClr val="C00000">
              <a:alpha val="100000"/>
            </a:srgbClr>
          </a:solidFill>
          <a:ln cap="flat">
            <a:noFill/>
            <a:prstDash val="solid"/>
            <a:miter lim="0"/>
          </a:ln>
        </p:spPr>
        <p:txBody>
          <a:bodyPr rtlCol="0"/>
          <a:lstStyle/>
          <a:p>
            <a:pPr algn="ctr"/>
            <a:endParaRPr lang="zh-CN" altLang="en-US"/>
          </a:p>
        </p:txBody>
      </p:sp>
      <p:sp>
        <p:nvSpPr>
          <p:cNvPr id="8" name="path"/>
          <p:cNvSpPr/>
          <p:nvPr>
            <p:custDataLst>
              <p:tags r:id="rId8"/>
            </p:custDataLst>
          </p:nvPr>
        </p:nvSpPr>
        <p:spPr>
          <a:xfrm>
            <a:off x="1112393" y="5338572"/>
            <a:ext cx="292608" cy="292608"/>
          </a:xfrm>
          <a:custGeom>
            <a:avLst/>
            <a:gdLst/>
            <a:ahLst/>
            <a:cxnLst/>
            <a:rect l="0" t="0" r="0" b="0"/>
            <a:pathLst>
              <a:path w="460" h="460">
                <a:moveTo>
                  <a:pt x="435" y="25"/>
                </a:moveTo>
                <a:lnTo>
                  <a:pt x="435" y="25"/>
                </a:lnTo>
                <a:lnTo>
                  <a:pt x="429" y="19"/>
                </a:lnTo>
                <a:lnTo>
                  <a:pt x="422" y="13"/>
                </a:lnTo>
                <a:lnTo>
                  <a:pt x="415" y="10"/>
                </a:lnTo>
                <a:lnTo>
                  <a:pt x="408" y="6"/>
                </a:lnTo>
                <a:lnTo>
                  <a:pt x="400" y="3"/>
                </a:lnTo>
                <a:lnTo>
                  <a:pt x="392" y="1"/>
                </a:lnTo>
                <a:lnTo>
                  <a:pt x="384" y="0"/>
                </a:lnTo>
                <a:lnTo>
                  <a:pt x="376" y="0"/>
                </a:lnTo>
                <a:lnTo>
                  <a:pt x="376" y="0"/>
                </a:lnTo>
                <a:lnTo>
                  <a:pt x="367" y="0"/>
                </a:lnTo>
                <a:lnTo>
                  <a:pt x="359" y="1"/>
                </a:lnTo>
                <a:lnTo>
                  <a:pt x="351" y="3"/>
                </a:lnTo>
                <a:lnTo>
                  <a:pt x="343" y="6"/>
                </a:lnTo>
                <a:lnTo>
                  <a:pt x="336" y="10"/>
                </a:lnTo>
                <a:lnTo>
                  <a:pt x="329" y="13"/>
                </a:lnTo>
                <a:lnTo>
                  <a:pt x="322" y="19"/>
                </a:lnTo>
                <a:lnTo>
                  <a:pt x="316" y="25"/>
                </a:lnTo>
                <a:lnTo>
                  <a:pt x="62" y="277"/>
                </a:lnTo>
                <a:lnTo>
                  <a:pt x="62" y="277"/>
                </a:lnTo>
                <a:lnTo>
                  <a:pt x="60" y="280"/>
                </a:lnTo>
                <a:lnTo>
                  <a:pt x="58" y="283"/>
                </a:lnTo>
                <a:lnTo>
                  <a:pt x="0" y="441"/>
                </a:lnTo>
                <a:lnTo>
                  <a:pt x="0" y="441"/>
                </a:lnTo>
                <a:lnTo>
                  <a:pt x="0" y="445"/>
                </a:lnTo>
                <a:lnTo>
                  <a:pt x="0" y="450"/>
                </a:lnTo>
                <a:lnTo>
                  <a:pt x="1" y="452"/>
                </a:lnTo>
                <a:lnTo>
                  <a:pt x="4" y="456"/>
                </a:lnTo>
                <a:lnTo>
                  <a:pt x="4" y="456"/>
                </a:lnTo>
                <a:lnTo>
                  <a:pt x="6" y="458"/>
                </a:lnTo>
                <a:lnTo>
                  <a:pt x="8" y="459"/>
                </a:lnTo>
                <a:lnTo>
                  <a:pt x="11" y="460"/>
                </a:lnTo>
                <a:lnTo>
                  <a:pt x="14" y="460"/>
                </a:lnTo>
                <a:lnTo>
                  <a:pt x="14" y="460"/>
                </a:lnTo>
                <a:lnTo>
                  <a:pt x="16" y="460"/>
                </a:lnTo>
                <a:lnTo>
                  <a:pt x="19" y="460"/>
                </a:lnTo>
                <a:lnTo>
                  <a:pt x="162" y="416"/>
                </a:lnTo>
                <a:lnTo>
                  <a:pt x="162" y="416"/>
                </a:lnTo>
                <a:lnTo>
                  <a:pt x="165" y="414"/>
                </a:lnTo>
                <a:lnTo>
                  <a:pt x="167" y="412"/>
                </a:lnTo>
                <a:lnTo>
                  <a:pt x="435" y="144"/>
                </a:lnTo>
                <a:lnTo>
                  <a:pt x="435" y="144"/>
                </a:lnTo>
                <a:lnTo>
                  <a:pt x="441" y="138"/>
                </a:lnTo>
                <a:lnTo>
                  <a:pt x="446" y="131"/>
                </a:lnTo>
                <a:lnTo>
                  <a:pt x="450" y="124"/>
                </a:lnTo>
                <a:lnTo>
                  <a:pt x="454" y="117"/>
                </a:lnTo>
                <a:lnTo>
                  <a:pt x="456" y="109"/>
                </a:lnTo>
                <a:lnTo>
                  <a:pt x="459" y="100"/>
                </a:lnTo>
                <a:lnTo>
                  <a:pt x="460" y="92"/>
                </a:lnTo>
                <a:lnTo>
                  <a:pt x="460" y="84"/>
                </a:lnTo>
                <a:lnTo>
                  <a:pt x="460" y="84"/>
                </a:lnTo>
                <a:lnTo>
                  <a:pt x="460" y="76"/>
                </a:lnTo>
                <a:lnTo>
                  <a:pt x="459" y="67"/>
                </a:lnTo>
                <a:lnTo>
                  <a:pt x="456" y="59"/>
                </a:lnTo>
                <a:lnTo>
                  <a:pt x="454" y="52"/>
                </a:lnTo>
                <a:lnTo>
                  <a:pt x="450" y="44"/>
                </a:lnTo>
                <a:lnTo>
                  <a:pt x="446" y="37"/>
                </a:lnTo>
                <a:lnTo>
                  <a:pt x="441" y="30"/>
                </a:lnTo>
                <a:lnTo>
                  <a:pt x="435" y="25"/>
                </a:lnTo>
                <a:lnTo>
                  <a:pt x="435" y="25"/>
                </a:lnTo>
                <a:close/>
                <a:moveTo>
                  <a:pt x="145" y="391"/>
                </a:moveTo>
                <a:lnTo>
                  <a:pt x="91" y="407"/>
                </a:lnTo>
                <a:lnTo>
                  <a:pt x="91" y="407"/>
                </a:lnTo>
                <a:lnTo>
                  <a:pt x="89" y="400"/>
                </a:lnTo>
                <a:lnTo>
                  <a:pt x="85" y="394"/>
                </a:lnTo>
                <a:lnTo>
                  <a:pt x="81" y="389"/>
                </a:lnTo>
                <a:lnTo>
                  <a:pt x="76" y="383"/>
                </a:lnTo>
                <a:lnTo>
                  <a:pt x="76" y="383"/>
                </a:lnTo>
                <a:lnTo>
                  <a:pt x="72" y="379"/>
                </a:lnTo>
                <a:lnTo>
                  <a:pt x="67" y="376"/>
                </a:lnTo>
                <a:lnTo>
                  <a:pt x="62" y="372"/>
                </a:lnTo>
                <a:lnTo>
                  <a:pt x="57" y="370"/>
                </a:lnTo>
                <a:lnTo>
                  <a:pt x="81" y="302"/>
                </a:lnTo>
                <a:lnTo>
                  <a:pt x="114" y="302"/>
                </a:lnTo>
                <a:lnTo>
                  <a:pt x="114" y="331"/>
                </a:lnTo>
                <a:lnTo>
                  <a:pt x="114" y="331"/>
                </a:lnTo>
                <a:lnTo>
                  <a:pt x="115" y="333"/>
                </a:lnTo>
                <a:lnTo>
                  <a:pt x="116" y="337"/>
                </a:lnTo>
                <a:lnTo>
                  <a:pt x="118" y="339"/>
                </a:lnTo>
                <a:lnTo>
                  <a:pt x="119" y="341"/>
                </a:lnTo>
                <a:lnTo>
                  <a:pt x="121" y="343"/>
                </a:lnTo>
                <a:lnTo>
                  <a:pt x="124" y="344"/>
                </a:lnTo>
                <a:lnTo>
                  <a:pt x="126" y="345"/>
                </a:lnTo>
                <a:lnTo>
                  <a:pt x="129" y="345"/>
                </a:lnTo>
                <a:lnTo>
                  <a:pt x="154" y="345"/>
                </a:lnTo>
                <a:lnTo>
                  <a:pt x="145" y="391"/>
                </a:lnTo>
                <a:close/>
                <a:moveTo>
                  <a:pt x="357" y="182"/>
                </a:moveTo>
                <a:lnTo>
                  <a:pt x="181" y="357"/>
                </a:lnTo>
                <a:lnTo>
                  <a:pt x="186" y="334"/>
                </a:lnTo>
                <a:lnTo>
                  <a:pt x="186" y="334"/>
                </a:lnTo>
                <a:lnTo>
                  <a:pt x="187" y="331"/>
                </a:lnTo>
                <a:lnTo>
                  <a:pt x="186" y="327"/>
                </a:lnTo>
                <a:lnTo>
                  <a:pt x="186" y="324"/>
                </a:lnTo>
                <a:lnTo>
                  <a:pt x="183" y="322"/>
                </a:lnTo>
                <a:lnTo>
                  <a:pt x="183" y="322"/>
                </a:lnTo>
                <a:lnTo>
                  <a:pt x="181" y="319"/>
                </a:lnTo>
                <a:lnTo>
                  <a:pt x="179" y="318"/>
                </a:lnTo>
                <a:lnTo>
                  <a:pt x="176" y="317"/>
                </a:lnTo>
                <a:lnTo>
                  <a:pt x="172" y="317"/>
                </a:lnTo>
                <a:lnTo>
                  <a:pt x="143" y="317"/>
                </a:lnTo>
                <a:lnTo>
                  <a:pt x="143" y="287"/>
                </a:lnTo>
                <a:lnTo>
                  <a:pt x="143" y="287"/>
                </a:lnTo>
                <a:lnTo>
                  <a:pt x="143" y="285"/>
                </a:lnTo>
                <a:lnTo>
                  <a:pt x="142" y="282"/>
                </a:lnTo>
                <a:lnTo>
                  <a:pt x="141" y="280"/>
                </a:lnTo>
                <a:lnTo>
                  <a:pt x="139" y="278"/>
                </a:lnTo>
                <a:lnTo>
                  <a:pt x="138" y="276"/>
                </a:lnTo>
                <a:lnTo>
                  <a:pt x="135" y="274"/>
                </a:lnTo>
                <a:lnTo>
                  <a:pt x="132" y="273"/>
                </a:lnTo>
                <a:lnTo>
                  <a:pt x="129" y="273"/>
                </a:lnTo>
                <a:lnTo>
                  <a:pt x="106" y="273"/>
                </a:lnTo>
                <a:lnTo>
                  <a:pt x="278" y="103"/>
                </a:lnTo>
                <a:lnTo>
                  <a:pt x="278" y="103"/>
                </a:lnTo>
                <a:lnTo>
                  <a:pt x="278" y="103"/>
                </a:lnTo>
                <a:lnTo>
                  <a:pt x="282" y="99"/>
                </a:lnTo>
                <a:lnTo>
                  <a:pt x="286" y="96"/>
                </a:lnTo>
                <a:lnTo>
                  <a:pt x="291" y="93"/>
                </a:lnTo>
                <a:lnTo>
                  <a:pt x="296" y="91"/>
                </a:lnTo>
                <a:lnTo>
                  <a:pt x="301" y="89"/>
                </a:lnTo>
                <a:lnTo>
                  <a:pt x="306" y="87"/>
                </a:lnTo>
                <a:lnTo>
                  <a:pt x="312" y="87"/>
                </a:lnTo>
                <a:lnTo>
                  <a:pt x="318" y="87"/>
                </a:lnTo>
                <a:lnTo>
                  <a:pt x="318" y="87"/>
                </a:lnTo>
                <a:lnTo>
                  <a:pt x="323" y="87"/>
                </a:lnTo>
                <a:lnTo>
                  <a:pt x="328" y="87"/>
                </a:lnTo>
                <a:lnTo>
                  <a:pt x="334" y="89"/>
                </a:lnTo>
                <a:lnTo>
                  <a:pt x="339" y="91"/>
                </a:lnTo>
                <a:lnTo>
                  <a:pt x="344" y="93"/>
                </a:lnTo>
                <a:lnTo>
                  <a:pt x="348" y="96"/>
                </a:lnTo>
                <a:lnTo>
                  <a:pt x="352" y="99"/>
                </a:lnTo>
                <a:lnTo>
                  <a:pt x="357" y="103"/>
                </a:lnTo>
                <a:lnTo>
                  <a:pt x="357" y="103"/>
                </a:lnTo>
                <a:lnTo>
                  <a:pt x="361" y="107"/>
                </a:lnTo>
                <a:lnTo>
                  <a:pt x="363" y="111"/>
                </a:lnTo>
                <a:lnTo>
                  <a:pt x="367" y="116"/>
                </a:lnTo>
                <a:lnTo>
                  <a:pt x="369" y="121"/>
                </a:lnTo>
                <a:lnTo>
                  <a:pt x="371" y="126"/>
                </a:lnTo>
                <a:lnTo>
                  <a:pt x="372" y="131"/>
                </a:lnTo>
                <a:lnTo>
                  <a:pt x="373" y="137"/>
                </a:lnTo>
                <a:lnTo>
                  <a:pt x="373" y="143"/>
                </a:lnTo>
                <a:lnTo>
                  <a:pt x="373" y="143"/>
                </a:lnTo>
                <a:lnTo>
                  <a:pt x="373" y="148"/>
                </a:lnTo>
                <a:lnTo>
                  <a:pt x="372" y="153"/>
                </a:lnTo>
                <a:lnTo>
                  <a:pt x="371" y="159"/>
                </a:lnTo>
                <a:lnTo>
                  <a:pt x="369" y="164"/>
                </a:lnTo>
                <a:lnTo>
                  <a:pt x="367" y="169"/>
                </a:lnTo>
                <a:lnTo>
                  <a:pt x="363" y="173"/>
                </a:lnTo>
                <a:lnTo>
                  <a:pt x="361" y="178"/>
                </a:lnTo>
                <a:lnTo>
                  <a:pt x="357" y="182"/>
                </a:lnTo>
                <a:lnTo>
                  <a:pt x="357" y="182"/>
                </a:lnTo>
                <a:close/>
                <a:moveTo>
                  <a:pt x="415" y="124"/>
                </a:moveTo>
                <a:lnTo>
                  <a:pt x="401" y="137"/>
                </a:lnTo>
                <a:lnTo>
                  <a:pt x="401" y="137"/>
                </a:lnTo>
                <a:lnTo>
                  <a:pt x="401" y="130"/>
                </a:lnTo>
                <a:lnTo>
                  <a:pt x="400" y="122"/>
                </a:lnTo>
                <a:lnTo>
                  <a:pt x="397" y="115"/>
                </a:lnTo>
                <a:lnTo>
                  <a:pt x="394" y="107"/>
                </a:lnTo>
                <a:lnTo>
                  <a:pt x="391" y="100"/>
                </a:lnTo>
                <a:lnTo>
                  <a:pt x="387" y="94"/>
                </a:lnTo>
                <a:lnTo>
                  <a:pt x="382" y="88"/>
                </a:lnTo>
                <a:lnTo>
                  <a:pt x="378" y="83"/>
                </a:lnTo>
                <a:lnTo>
                  <a:pt x="378" y="83"/>
                </a:lnTo>
                <a:lnTo>
                  <a:pt x="371" y="77"/>
                </a:lnTo>
                <a:lnTo>
                  <a:pt x="365" y="72"/>
                </a:lnTo>
                <a:lnTo>
                  <a:pt x="359" y="69"/>
                </a:lnTo>
                <a:lnTo>
                  <a:pt x="352" y="65"/>
                </a:lnTo>
                <a:lnTo>
                  <a:pt x="345" y="62"/>
                </a:lnTo>
                <a:lnTo>
                  <a:pt x="338" y="60"/>
                </a:lnTo>
                <a:lnTo>
                  <a:pt x="330" y="59"/>
                </a:lnTo>
                <a:lnTo>
                  <a:pt x="323" y="58"/>
                </a:lnTo>
                <a:lnTo>
                  <a:pt x="336" y="45"/>
                </a:lnTo>
                <a:lnTo>
                  <a:pt x="336" y="45"/>
                </a:lnTo>
                <a:lnTo>
                  <a:pt x="336" y="45"/>
                </a:lnTo>
                <a:lnTo>
                  <a:pt x="340" y="41"/>
                </a:lnTo>
                <a:lnTo>
                  <a:pt x="345" y="37"/>
                </a:lnTo>
                <a:lnTo>
                  <a:pt x="349" y="35"/>
                </a:lnTo>
                <a:lnTo>
                  <a:pt x="354" y="32"/>
                </a:lnTo>
                <a:lnTo>
                  <a:pt x="359" y="31"/>
                </a:lnTo>
                <a:lnTo>
                  <a:pt x="365" y="30"/>
                </a:lnTo>
                <a:lnTo>
                  <a:pt x="370" y="29"/>
                </a:lnTo>
                <a:lnTo>
                  <a:pt x="376" y="29"/>
                </a:lnTo>
                <a:lnTo>
                  <a:pt x="376" y="29"/>
                </a:lnTo>
                <a:lnTo>
                  <a:pt x="381" y="29"/>
                </a:lnTo>
                <a:lnTo>
                  <a:pt x="386" y="30"/>
                </a:lnTo>
                <a:lnTo>
                  <a:pt x="392" y="31"/>
                </a:lnTo>
                <a:lnTo>
                  <a:pt x="397" y="32"/>
                </a:lnTo>
                <a:lnTo>
                  <a:pt x="402" y="35"/>
                </a:lnTo>
                <a:lnTo>
                  <a:pt x="406" y="37"/>
                </a:lnTo>
                <a:lnTo>
                  <a:pt x="411" y="41"/>
                </a:lnTo>
                <a:lnTo>
                  <a:pt x="415" y="45"/>
                </a:lnTo>
                <a:lnTo>
                  <a:pt x="415" y="45"/>
                </a:lnTo>
                <a:lnTo>
                  <a:pt x="419" y="49"/>
                </a:lnTo>
                <a:lnTo>
                  <a:pt x="422" y="53"/>
                </a:lnTo>
                <a:lnTo>
                  <a:pt x="425" y="58"/>
                </a:lnTo>
                <a:lnTo>
                  <a:pt x="427" y="63"/>
                </a:lnTo>
                <a:lnTo>
                  <a:pt x="429" y="67"/>
                </a:lnTo>
                <a:lnTo>
                  <a:pt x="430" y="73"/>
                </a:lnTo>
                <a:lnTo>
                  <a:pt x="431" y="78"/>
                </a:lnTo>
                <a:lnTo>
                  <a:pt x="432" y="84"/>
                </a:lnTo>
                <a:lnTo>
                  <a:pt x="432" y="84"/>
                </a:lnTo>
                <a:lnTo>
                  <a:pt x="431" y="90"/>
                </a:lnTo>
                <a:lnTo>
                  <a:pt x="430" y="95"/>
                </a:lnTo>
                <a:lnTo>
                  <a:pt x="429" y="100"/>
                </a:lnTo>
                <a:lnTo>
                  <a:pt x="427" y="105"/>
                </a:lnTo>
                <a:lnTo>
                  <a:pt x="425" y="110"/>
                </a:lnTo>
                <a:lnTo>
                  <a:pt x="422" y="115"/>
                </a:lnTo>
                <a:lnTo>
                  <a:pt x="419" y="120"/>
                </a:lnTo>
                <a:lnTo>
                  <a:pt x="415" y="124"/>
                </a:lnTo>
                <a:lnTo>
                  <a:pt x="415" y="124"/>
                </a:lnTo>
                <a:close/>
                <a:moveTo>
                  <a:pt x="320" y="119"/>
                </a:moveTo>
                <a:lnTo>
                  <a:pt x="176" y="263"/>
                </a:lnTo>
                <a:lnTo>
                  <a:pt x="176" y="263"/>
                </a:lnTo>
                <a:lnTo>
                  <a:pt x="175" y="265"/>
                </a:lnTo>
                <a:lnTo>
                  <a:pt x="173" y="268"/>
                </a:lnTo>
                <a:lnTo>
                  <a:pt x="173" y="270"/>
                </a:lnTo>
                <a:lnTo>
                  <a:pt x="172" y="273"/>
                </a:lnTo>
                <a:lnTo>
                  <a:pt x="173" y="276"/>
                </a:lnTo>
                <a:lnTo>
                  <a:pt x="173" y="279"/>
                </a:lnTo>
                <a:lnTo>
                  <a:pt x="175" y="281"/>
                </a:lnTo>
                <a:lnTo>
                  <a:pt x="176" y="283"/>
                </a:lnTo>
                <a:lnTo>
                  <a:pt x="176" y="283"/>
                </a:lnTo>
                <a:lnTo>
                  <a:pt x="179" y="285"/>
                </a:lnTo>
                <a:lnTo>
                  <a:pt x="181" y="286"/>
                </a:lnTo>
                <a:lnTo>
                  <a:pt x="184" y="287"/>
                </a:lnTo>
                <a:lnTo>
                  <a:pt x="187" y="287"/>
                </a:lnTo>
                <a:lnTo>
                  <a:pt x="187" y="287"/>
                </a:lnTo>
                <a:lnTo>
                  <a:pt x="189" y="287"/>
                </a:lnTo>
                <a:lnTo>
                  <a:pt x="192" y="286"/>
                </a:lnTo>
                <a:lnTo>
                  <a:pt x="195" y="285"/>
                </a:lnTo>
                <a:lnTo>
                  <a:pt x="197" y="283"/>
                </a:lnTo>
                <a:lnTo>
                  <a:pt x="341" y="139"/>
                </a:lnTo>
                <a:lnTo>
                  <a:pt x="341" y="139"/>
                </a:lnTo>
                <a:lnTo>
                  <a:pt x="343" y="137"/>
                </a:lnTo>
                <a:lnTo>
                  <a:pt x="344" y="135"/>
                </a:lnTo>
                <a:lnTo>
                  <a:pt x="345" y="132"/>
                </a:lnTo>
                <a:lnTo>
                  <a:pt x="345" y="129"/>
                </a:lnTo>
                <a:lnTo>
                  <a:pt x="345" y="126"/>
                </a:lnTo>
                <a:lnTo>
                  <a:pt x="344" y="124"/>
                </a:lnTo>
                <a:lnTo>
                  <a:pt x="343" y="121"/>
                </a:lnTo>
                <a:lnTo>
                  <a:pt x="341" y="119"/>
                </a:lnTo>
                <a:lnTo>
                  <a:pt x="341" y="119"/>
                </a:lnTo>
                <a:lnTo>
                  <a:pt x="339" y="117"/>
                </a:lnTo>
                <a:lnTo>
                  <a:pt x="336" y="116"/>
                </a:lnTo>
                <a:lnTo>
                  <a:pt x="334" y="115"/>
                </a:lnTo>
                <a:lnTo>
                  <a:pt x="331" y="115"/>
                </a:lnTo>
                <a:lnTo>
                  <a:pt x="328" y="115"/>
                </a:lnTo>
                <a:lnTo>
                  <a:pt x="325" y="116"/>
                </a:lnTo>
                <a:lnTo>
                  <a:pt x="323" y="117"/>
                </a:lnTo>
                <a:lnTo>
                  <a:pt x="320" y="119"/>
                </a:lnTo>
                <a:lnTo>
                  <a:pt x="320" y="119"/>
                </a:lnTo>
                <a:close/>
              </a:path>
            </a:pathLst>
          </a:custGeom>
          <a:solidFill>
            <a:srgbClr val="C00000">
              <a:alpha val="100000"/>
            </a:srgbClr>
          </a:solidFill>
          <a:ln cap="flat">
            <a:noFill/>
            <a:prstDash val="solid"/>
            <a:miter lim="0"/>
          </a:ln>
        </p:spPr>
        <p:txBody>
          <a:bodyPr rtlCol="0"/>
          <a:lstStyle/>
          <a:p>
            <a:pPr algn="ctr"/>
            <a:endParaRPr lang="zh-CN" altLang="en-US"/>
          </a:p>
        </p:txBody>
      </p:sp>
      <p:pic>
        <p:nvPicPr>
          <p:cNvPr id="10" name="picture 10"/>
          <p:cNvPicPr>
            <a:picLocks noChangeAspect="1"/>
          </p:cNvPicPr>
          <p:nvPr>
            <p:custDataLst>
              <p:tags r:id="rId9"/>
            </p:custDataLst>
          </p:nvPr>
        </p:nvPicPr>
        <p:blipFill>
          <a:blip r:embed="rId10"/>
          <a:stretch>
            <a:fillRect/>
          </a:stretch>
        </p:blipFill>
        <p:spPr>
          <a:xfrm rot="21600000">
            <a:off x="6195300" y="2834385"/>
            <a:ext cx="2604516" cy="888492"/>
          </a:xfrm>
          <a:prstGeom prst="rect">
            <a:avLst/>
          </a:prstGeom>
        </p:spPr>
      </p:pic>
      <p:sp>
        <p:nvSpPr>
          <p:cNvPr id="5" name="文本框 4"/>
          <p:cNvSpPr txBox="1"/>
          <p:nvPr>
            <p:custDataLst>
              <p:tags r:id="rId11"/>
            </p:custDataLst>
          </p:nvPr>
        </p:nvSpPr>
        <p:spPr>
          <a:xfrm>
            <a:off x="466725" y="1334770"/>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r>
              <a:rPr lang="zh-CN"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集成算法</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100" name="文本框 99"/>
          <p:cNvSpPr txBox="1"/>
          <p:nvPr/>
        </p:nvSpPr>
        <p:spPr>
          <a:xfrm>
            <a:off x="11669395" y="6503035"/>
            <a:ext cx="522605" cy="368300"/>
          </a:xfrm>
          <a:prstGeom prst="rect">
            <a:avLst/>
          </a:prstGeom>
          <a:noFill/>
          <a:ln w="9525">
            <a:noFill/>
          </a:ln>
        </p:spPr>
        <p:txBody>
          <a:bodyPr wrap="square">
            <a:spAutoFit/>
          </a:bodyPr>
          <a:p>
            <a:pPr indent="0"/>
            <a:r>
              <a:rPr lang="en-US" altLang="zh-CN" b="0">
                <a:ea typeface="宋体" panose="02010600030101010101" pitchFamily="2" charset="-122"/>
              </a:rPr>
              <a:t>42</a:t>
            </a:r>
            <a:endParaRPr lang="en-US" altLang="zh-CN" b="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466725" y="1479550"/>
            <a:ext cx="11821160" cy="4910455"/>
          </a:xfrm>
          <a:prstGeom prst="rect">
            <a:avLst/>
          </a:prstGeom>
        </p:spPr>
        <p:txBody>
          <a:bodyPr vert="horz" wrap="square" lIns="0" tIns="0" rIns="0" bIns="0"/>
          <a:lstStyle/>
          <a:p>
            <a:pPr algn="l" rtl="0" eaLnBrk="0">
              <a:lnSpc>
                <a:spcPct val="73000"/>
              </a:lnSpc>
            </a:pPr>
            <a:endParaRPr lang="en-US" altLang="en-US" sz="100" dirty="0"/>
          </a:p>
          <a:p>
            <a:pPr marL="303530" algn="l" rtl="0" eaLnBrk="0">
              <a:lnSpc>
                <a:spcPct val="88000"/>
              </a:lnSpc>
              <a:tabLst>
                <a:tab pos="5575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p:txBody>
      </p:sp>
      <p:grpSp>
        <p:nvGrpSpPr>
          <p:cNvPr id="3" name="group 2"/>
          <p:cNvGrpSpPr/>
          <p:nvPr/>
        </p:nvGrpSpPr>
        <p:grpSpPr>
          <a:xfrm rot="21600000">
            <a:off x="126609" y="147616"/>
            <a:ext cx="2722051" cy="688004"/>
            <a:chOff x="0" y="0"/>
            <a:chExt cx="2722051" cy="688004"/>
          </a:xfrm>
        </p:grpSpPr>
        <p:pic>
          <p:nvPicPr>
            <p:cNvPr id="18" name="picture 18"/>
            <p:cNvPicPr>
              <a:picLocks noChangeAspect="1"/>
            </p:cNvPicPr>
            <p:nvPr/>
          </p:nvPicPr>
          <p:blipFill>
            <a:blip r:embed="rId1"/>
            <a:stretch>
              <a:fillRect/>
            </a:stretch>
          </p:blipFill>
          <p:spPr>
            <a:xfrm rot="21600000">
              <a:off x="0" y="29636"/>
              <a:ext cx="2696776" cy="658368"/>
            </a:xfrm>
            <a:prstGeom prst="rect">
              <a:avLst/>
            </a:prstGeom>
          </p:spPr>
        </p:pic>
        <p:sp>
          <p:nvSpPr>
            <p:cNvPr id="20" name="textbox 2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22" name="picture 22"/>
          <p:cNvPicPr>
            <a:picLocks noChangeAspect="1"/>
          </p:cNvPicPr>
          <p:nvPr/>
        </p:nvPicPr>
        <p:blipFill>
          <a:blip r:embed="rId2"/>
          <a:stretch>
            <a:fillRect/>
          </a:stretch>
        </p:blipFill>
        <p:spPr>
          <a:xfrm rot="21600000">
            <a:off x="10668" y="981455"/>
            <a:ext cx="12181331" cy="45720"/>
          </a:xfrm>
          <a:prstGeom prst="rect">
            <a:avLst/>
          </a:prstGeom>
        </p:spPr>
      </p:pic>
      <p:sp>
        <p:nvSpPr>
          <p:cNvPr id="40" name="textbox 40"/>
          <p:cNvSpPr/>
          <p:nvPr>
            <p:custDataLst>
              <p:tags r:id="rId3"/>
            </p:custDataLst>
          </p:nvPr>
        </p:nvSpPr>
        <p:spPr>
          <a:xfrm>
            <a:off x="1559560" y="1479550"/>
            <a:ext cx="5701030" cy="2787650"/>
          </a:xfrm>
          <a:prstGeom prst="rect">
            <a:avLst/>
          </a:prstGeom>
        </p:spPr>
        <p:txBody>
          <a:bodyPr vert="horz" wrap="square" lIns="0" tIns="0" rIns="0" bIns="0"/>
          <a:p>
            <a:pPr algn="l" rtl="0" eaLnBrk="0">
              <a:lnSpc>
                <a:spcPct val="82000"/>
              </a:lnSpc>
            </a:pPr>
            <a:endParaRPr lang="en-US" altLang="en-US" sz="100" dirty="0"/>
          </a:p>
          <a:p>
            <a:pPr marL="55880" algn="l" rtl="0" eaLnBrk="0">
              <a:lnSpc>
                <a:spcPct val="93000"/>
              </a:lnSpc>
            </a:pPr>
            <a:endParaRPr lang="en-US" altLang="en-US" sz="2000" dirty="0">
              <a:latin typeface="黑体" panose="02010609060101010101" charset="-122"/>
              <a:ea typeface="黑体" panose="02010609060101010101" charset="-122"/>
              <a:cs typeface="黑体" panose="02010609060101010101" charset="-122"/>
            </a:endParaRPr>
          </a:p>
        </p:txBody>
      </p:sp>
      <p:sp>
        <p:nvSpPr>
          <p:cNvPr id="6" name="文本框 5"/>
          <p:cNvSpPr txBox="1"/>
          <p:nvPr/>
        </p:nvSpPr>
        <p:spPr>
          <a:xfrm>
            <a:off x="466725" y="1334770"/>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【Bagging</a:t>
            </a:r>
            <a:r>
              <a:rPr lang="zh-CN"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算法</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4" name="文本框 3"/>
          <p:cNvSpPr txBox="1"/>
          <p:nvPr/>
        </p:nvSpPr>
        <p:spPr>
          <a:xfrm>
            <a:off x="1559560" y="2145030"/>
            <a:ext cx="8761095" cy="1198880"/>
          </a:xfrm>
          <a:prstGeom prst="rect">
            <a:avLst/>
          </a:prstGeom>
          <a:noFill/>
        </p:spPr>
        <p:txBody>
          <a:bodyPr wrap="square" rtlCol="0" anchor="t">
            <a:spAutoFit/>
          </a:bodyPr>
          <a:p>
            <a:pPr lvl="0" algn="just">
              <a:lnSpc>
                <a:spcPct val="150000"/>
              </a:lnSpc>
            </a:pPr>
            <a:r>
              <a:rPr lang="zh-CN" altLang="zh-CN" sz="2400" dirty="0">
                <a:latin typeface="+mj-ea"/>
                <a:ea typeface="+mj-ea"/>
                <a:sym typeface="+mn-ea"/>
              </a:rPr>
              <a:t>从训练集中进行子抽样组成每个基模型所需要的子训练集，对所有基模型预测的结果进行综合产生最终的预测结果：</a:t>
            </a:r>
            <a:endParaRPr lang="zh-CN" altLang="zh-CN" sz="2400" dirty="0">
              <a:latin typeface="+mj-ea"/>
              <a:ea typeface="+mj-ea"/>
              <a:sym typeface="+mn-ea"/>
            </a:endParaRPr>
          </a:p>
        </p:txBody>
      </p:sp>
      <p:grpSp>
        <p:nvGrpSpPr>
          <p:cNvPr id="29" name="组合 28"/>
          <p:cNvGrpSpPr/>
          <p:nvPr/>
        </p:nvGrpSpPr>
        <p:grpSpPr>
          <a:xfrm>
            <a:off x="1943784" y="3351774"/>
            <a:ext cx="7188591" cy="3194210"/>
            <a:chOff x="1455803" y="2914686"/>
            <a:chExt cx="7978930" cy="3843339"/>
          </a:xfrm>
        </p:grpSpPr>
        <p:sp>
          <p:nvSpPr>
            <p:cNvPr id="30" name="矩形: 圆角 29"/>
            <p:cNvSpPr/>
            <p:nvPr>
              <p:custDataLst>
                <p:tags r:id="rId4"/>
              </p:custDataLst>
            </p:nvPr>
          </p:nvSpPr>
          <p:spPr>
            <a:xfrm>
              <a:off x="5595937" y="2914686"/>
              <a:ext cx="1905000" cy="38433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000" dirty="0"/>
            </a:p>
          </p:txBody>
        </p:sp>
        <p:sp>
          <p:nvSpPr>
            <p:cNvPr id="31" name="Google Shape;3379;p54"/>
            <p:cNvSpPr/>
            <p:nvPr>
              <p:custDataLst>
                <p:tags r:id="rId5"/>
              </p:custDataLst>
            </p:nvPr>
          </p:nvSpPr>
          <p:spPr>
            <a:xfrm>
              <a:off x="3410137" y="5957737"/>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sz="2000" dirty="0"/>
                <a:t>模型</a:t>
              </a:r>
              <a:r>
                <a:rPr lang="en-US" altLang="zh-CN" sz="2000" dirty="0"/>
                <a:t>n</a:t>
              </a:r>
              <a:endParaRPr sz="2000" dirty="0"/>
            </a:p>
          </p:txBody>
        </p:sp>
        <p:sp>
          <p:nvSpPr>
            <p:cNvPr id="32" name="Google Shape;3381;p54"/>
            <p:cNvSpPr/>
            <p:nvPr>
              <p:custDataLst>
                <p:tags r:id="rId6"/>
              </p:custDataLst>
            </p:nvPr>
          </p:nvSpPr>
          <p:spPr>
            <a:xfrm>
              <a:off x="3410137" y="4979911"/>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en-US" altLang="zh-CN" sz="2000" dirty="0"/>
                <a:t>……</a:t>
              </a:r>
              <a:endParaRPr sz="2000" dirty="0"/>
            </a:p>
          </p:txBody>
        </p:sp>
        <p:sp>
          <p:nvSpPr>
            <p:cNvPr id="33" name="Google Shape;3382;p54"/>
            <p:cNvSpPr/>
            <p:nvPr>
              <p:custDataLst>
                <p:tags r:id="rId7"/>
              </p:custDataLst>
            </p:nvPr>
          </p:nvSpPr>
          <p:spPr>
            <a:xfrm>
              <a:off x="3410137" y="3102600"/>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sz="2000" dirty="0"/>
                <a:t>模型</a:t>
              </a:r>
              <a:r>
                <a:rPr lang="en-US" altLang="zh-CN" sz="2000" dirty="0"/>
                <a:t>1</a:t>
              </a:r>
              <a:endParaRPr sz="2000" dirty="0"/>
            </a:p>
          </p:txBody>
        </p:sp>
        <p:sp>
          <p:nvSpPr>
            <p:cNvPr id="34" name="Google Shape;3383;p54"/>
            <p:cNvSpPr/>
            <p:nvPr>
              <p:custDataLst>
                <p:tags r:id="rId8"/>
              </p:custDataLst>
            </p:nvPr>
          </p:nvSpPr>
          <p:spPr>
            <a:xfrm>
              <a:off x="3410137" y="4048162"/>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sz="2000" dirty="0"/>
                <a:t>模型</a:t>
              </a:r>
              <a:r>
                <a:rPr lang="en-US" altLang="zh-CN" sz="2000" dirty="0"/>
                <a:t>2</a:t>
              </a:r>
              <a:endParaRPr sz="2000" dirty="0"/>
            </a:p>
          </p:txBody>
        </p:sp>
        <p:cxnSp>
          <p:nvCxnSpPr>
            <p:cNvPr id="35" name="Google Shape;3386;p54"/>
            <p:cNvCxnSpPr>
              <a:endCxn id="32" idx="1"/>
            </p:cNvCxnSpPr>
            <p:nvPr>
              <p:custDataLst>
                <p:tags r:id="rId9"/>
              </p:custDataLst>
            </p:nvPr>
          </p:nvCxnSpPr>
          <p:spPr>
            <a:xfrm>
              <a:off x="2305416" y="4654885"/>
              <a:ext cx="1104721" cy="651426"/>
            </a:xfrm>
            <a:prstGeom prst="straightConnector1">
              <a:avLst/>
            </a:prstGeom>
            <a:noFill/>
            <a:ln w="19050" cap="flat" cmpd="sng">
              <a:solidFill>
                <a:schemeClr val="dk2"/>
              </a:solidFill>
              <a:prstDash val="solid"/>
              <a:round/>
              <a:headEnd type="none" w="med" len="med"/>
              <a:tailEnd type="triangle" w="med" len="med"/>
            </a:ln>
          </p:spPr>
        </p:cxnSp>
        <p:cxnSp>
          <p:nvCxnSpPr>
            <p:cNvPr id="36" name="Google Shape;3387;p54"/>
            <p:cNvCxnSpPr>
              <a:endCxn id="33" idx="1"/>
            </p:cNvCxnSpPr>
            <p:nvPr>
              <p:custDataLst>
                <p:tags r:id="rId10"/>
              </p:custDataLst>
            </p:nvPr>
          </p:nvCxnSpPr>
          <p:spPr>
            <a:xfrm flipV="1">
              <a:off x="2305416" y="3429000"/>
              <a:ext cx="1104721" cy="1225885"/>
            </a:xfrm>
            <a:prstGeom prst="straightConnector1">
              <a:avLst/>
            </a:prstGeom>
            <a:noFill/>
            <a:ln w="19050" cap="flat" cmpd="sng">
              <a:solidFill>
                <a:schemeClr val="dk2"/>
              </a:solidFill>
              <a:prstDash val="solid"/>
              <a:round/>
              <a:headEnd type="none" w="med" len="med"/>
              <a:tailEnd type="triangle" w="med" len="med"/>
            </a:ln>
          </p:spPr>
        </p:cxnSp>
        <p:cxnSp>
          <p:nvCxnSpPr>
            <p:cNvPr id="37" name="Google Shape;3388;p54"/>
            <p:cNvCxnSpPr>
              <a:endCxn id="31" idx="1"/>
            </p:cNvCxnSpPr>
            <p:nvPr>
              <p:custDataLst>
                <p:tags r:id="rId11"/>
              </p:custDataLst>
            </p:nvPr>
          </p:nvCxnSpPr>
          <p:spPr>
            <a:xfrm>
              <a:off x="2305416" y="4654885"/>
              <a:ext cx="1104721" cy="1629252"/>
            </a:xfrm>
            <a:prstGeom prst="straightConnector1">
              <a:avLst/>
            </a:prstGeom>
            <a:noFill/>
            <a:ln w="19050" cap="flat" cmpd="sng">
              <a:solidFill>
                <a:schemeClr val="dk2"/>
              </a:solidFill>
              <a:prstDash val="solid"/>
              <a:round/>
              <a:headEnd type="none" w="med" len="med"/>
              <a:tailEnd type="triangle" w="med" len="med"/>
            </a:ln>
          </p:spPr>
        </p:cxnSp>
        <p:cxnSp>
          <p:nvCxnSpPr>
            <p:cNvPr id="38" name="Google Shape;3386;p54"/>
            <p:cNvCxnSpPr/>
            <p:nvPr>
              <p:custDataLst>
                <p:tags r:id="rId12"/>
              </p:custDataLst>
            </p:nvPr>
          </p:nvCxnSpPr>
          <p:spPr>
            <a:xfrm flipV="1">
              <a:off x="2305416" y="4429640"/>
              <a:ext cx="1108926" cy="228702"/>
            </a:xfrm>
            <a:prstGeom prst="straightConnector1">
              <a:avLst/>
            </a:prstGeom>
            <a:noFill/>
            <a:ln w="19050" cap="flat" cmpd="sng">
              <a:solidFill>
                <a:schemeClr val="dk2"/>
              </a:solidFill>
              <a:prstDash val="solid"/>
              <a:round/>
              <a:headEnd type="none" w="med" len="med"/>
              <a:tailEnd type="triangle" w="med" len="med"/>
            </a:ln>
          </p:spPr>
        </p:cxnSp>
        <p:sp>
          <p:nvSpPr>
            <p:cNvPr id="39" name="Google Shape;3379;p54"/>
            <p:cNvSpPr/>
            <p:nvPr>
              <p:custDataLst>
                <p:tags r:id="rId13"/>
              </p:custDataLst>
            </p:nvPr>
          </p:nvSpPr>
          <p:spPr>
            <a:xfrm>
              <a:off x="5800912" y="5957737"/>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sz="2000" dirty="0"/>
                <a:t>预测</a:t>
              </a:r>
              <a:r>
                <a:rPr lang="en-US" altLang="zh-CN" sz="2000" dirty="0"/>
                <a:t>n</a:t>
              </a:r>
              <a:endParaRPr sz="2000" dirty="0"/>
            </a:p>
          </p:txBody>
        </p:sp>
        <p:sp>
          <p:nvSpPr>
            <p:cNvPr id="5" name="Google Shape;3381;p54"/>
            <p:cNvSpPr/>
            <p:nvPr>
              <p:custDataLst>
                <p:tags r:id="rId14"/>
              </p:custDataLst>
            </p:nvPr>
          </p:nvSpPr>
          <p:spPr>
            <a:xfrm>
              <a:off x="5800912" y="4979911"/>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en-US" altLang="zh-CN" sz="2000" dirty="0"/>
                <a:t>……</a:t>
              </a:r>
              <a:endParaRPr sz="2000" dirty="0"/>
            </a:p>
          </p:txBody>
        </p:sp>
        <p:sp>
          <p:nvSpPr>
            <p:cNvPr id="42" name="Google Shape;3382;p54"/>
            <p:cNvSpPr/>
            <p:nvPr>
              <p:custDataLst>
                <p:tags r:id="rId15"/>
              </p:custDataLst>
            </p:nvPr>
          </p:nvSpPr>
          <p:spPr>
            <a:xfrm>
              <a:off x="5800912" y="3102600"/>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sz="2000" dirty="0"/>
                <a:t>预测</a:t>
              </a:r>
              <a:r>
                <a:rPr lang="en-US" altLang="zh-CN" sz="2000" dirty="0"/>
                <a:t>1</a:t>
              </a:r>
              <a:endParaRPr sz="2000" dirty="0"/>
            </a:p>
          </p:txBody>
        </p:sp>
        <p:sp>
          <p:nvSpPr>
            <p:cNvPr id="48" name="Google Shape;3383;p54"/>
            <p:cNvSpPr/>
            <p:nvPr>
              <p:custDataLst>
                <p:tags r:id="rId16"/>
              </p:custDataLst>
            </p:nvPr>
          </p:nvSpPr>
          <p:spPr>
            <a:xfrm>
              <a:off x="5800912" y="4048162"/>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sz="2000" dirty="0"/>
                <a:t>预测</a:t>
              </a:r>
              <a:r>
                <a:rPr lang="en-US" altLang="zh-CN" sz="2000" dirty="0"/>
                <a:t>2</a:t>
              </a:r>
              <a:endParaRPr sz="2000" dirty="0"/>
            </a:p>
          </p:txBody>
        </p:sp>
        <p:cxnSp>
          <p:nvCxnSpPr>
            <p:cNvPr id="49" name="Google Shape;3386;p54"/>
            <p:cNvCxnSpPr>
              <a:stCxn id="33" idx="3"/>
              <a:endCxn id="42" idx="1"/>
            </p:cNvCxnSpPr>
            <p:nvPr>
              <p:custDataLst>
                <p:tags r:id="rId17"/>
              </p:custDataLst>
            </p:nvPr>
          </p:nvCxnSpPr>
          <p:spPr>
            <a:xfrm>
              <a:off x="4906537" y="3429000"/>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57" name="Google Shape;3386;p54"/>
            <p:cNvCxnSpPr/>
            <p:nvPr>
              <p:custDataLst>
                <p:tags r:id="rId18"/>
              </p:custDataLst>
            </p:nvPr>
          </p:nvCxnSpPr>
          <p:spPr>
            <a:xfrm>
              <a:off x="4906536" y="6284100"/>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58" name="Google Shape;3386;p54"/>
            <p:cNvCxnSpPr/>
            <p:nvPr>
              <p:custDataLst>
                <p:tags r:id="rId19"/>
              </p:custDataLst>
            </p:nvPr>
          </p:nvCxnSpPr>
          <p:spPr>
            <a:xfrm>
              <a:off x="4906537" y="5306274"/>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59" name="Google Shape;3386;p54"/>
            <p:cNvCxnSpPr/>
            <p:nvPr>
              <p:custDataLst>
                <p:tags r:id="rId20"/>
              </p:custDataLst>
            </p:nvPr>
          </p:nvCxnSpPr>
          <p:spPr>
            <a:xfrm>
              <a:off x="4906537" y="4374525"/>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60" name="Google Shape;3386;p54"/>
            <p:cNvCxnSpPr>
              <a:stCxn id="42" idx="3"/>
            </p:cNvCxnSpPr>
            <p:nvPr>
              <p:custDataLst>
                <p:tags r:id="rId21"/>
              </p:custDataLst>
            </p:nvPr>
          </p:nvCxnSpPr>
          <p:spPr>
            <a:xfrm>
              <a:off x="7297312" y="3429000"/>
              <a:ext cx="1389581" cy="1108762"/>
            </a:xfrm>
            <a:prstGeom prst="straightConnector1">
              <a:avLst/>
            </a:prstGeom>
            <a:noFill/>
            <a:ln w="19050" cap="flat" cmpd="sng">
              <a:solidFill>
                <a:schemeClr val="dk2"/>
              </a:solidFill>
              <a:prstDash val="solid"/>
              <a:round/>
              <a:headEnd type="none" w="med" len="med"/>
              <a:tailEnd type="triangle" w="med" len="med"/>
            </a:ln>
          </p:spPr>
        </p:cxnSp>
        <p:cxnSp>
          <p:nvCxnSpPr>
            <p:cNvPr id="61" name="Google Shape;3386;p54"/>
            <p:cNvCxnSpPr>
              <a:stCxn id="48" idx="3"/>
            </p:cNvCxnSpPr>
            <p:nvPr>
              <p:custDataLst>
                <p:tags r:id="rId22"/>
              </p:custDataLst>
            </p:nvPr>
          </p:nvCxnSpPr>
          <p:spPr>
            <a:xfrm>
              <a:off x="7297312" y="4374562"/>
              <a:ext cx="1389581" cy="326400"/>
            </a:xfrm>
            <a:prstGeom prst="straightConnector1">
              <a:avLst/>
            </a:prstGeom>
            <a:noFill/>
            <a:ln w="19050" cap="flat" cmpd="sng">
              <a:solidFill>
                <a:schemeClr val="dk2"/>
              </a:solidFill>
              <a:prstDash val="solid"/>
              <a:round/>
              <a:headEnd type="none" w="med" len="med"/>
              <a:tailEnd type="triangle" w="med" len="med"/>
            </a:ln>
          </p:spPr>
        </p:cxnSp>
        <p:cxnSp>
          <p:nvCxnSpPr>
            <p:cNvPr id="62" name="Google Shape;3386;p54"/>
            <p:cNvCxnSpPr/>
            <p:nvPr>
              <p:custDataLst>
                <p:tags r:id="rId23"/>
              </p:custDataLst>
            </p:nvPr>
          </p:nvCxnSpPr>
          <p:spPr>
            <a:xfrm flipV="1">
              <a:off x="7297312" y="4700962"/>
              <a:ext cx="1389581" cy="579028"/>
            </a:xfrm>
            <a:prstGeom prst="straightConnector1">
              <a:avLst/>
            </a:prstGeom>
            <a:noFill/>
            <a:ln w="19050" cap="flat" cmpd="sng">
              <a:solidFill>
                <a:schemeClr val="dk2"/>
              </a:solidFill>
              <a:prstDash val="solid"/>
              <a:round/>
              <a:headEnd type="none" w="med" len="med"/>
              <a:tailEnd type="triangle" w="med" len="med"/>
            </a:ln>
          </p:spPr>
        </p:cxnSp>
        <p:cxnSp>
          <p:nvCxnSpPr>
            <p:cNvPr id="63" name="Google Shape;3386;p54"/>
            <p:cNvCxnSpPr>
              <a:stCxn id="39" idx="3"/>
            </p:cNvCxnSpPr>
            <p:nvPr>
              <p:custDataLst>
                <p:tags r:id="rId24"/>
              </p:custDataLst>
            </p:nvPr>
          </p:nvCxnSpPr>
          <p:spPr>
            <a:xfrm flipV="1">
              <a:off x="7297312" y="4841143"/>
              <a:ext cx="1389581" cy="1442994"/>
            </a:xfrm>
            <a:prstGeom prst="straightConnector1">
              <a:avLst/>
            </a:prstGeom>
            <a:noFill/>
            <a:ln w="19050" cap="flat" cmpd="sng">
              <a:solidFill>
                <a:schemeClr val="dk2"/>
              </a:solidFill>
              <a:prstDash val="solid"/>
              <a:round/>
              <a:headEnd type="none" w="med" len="med"/>
              <a:tailEnd type="triangle" w="med" len="med"/>
            </a:ln>
          </p:spPr>
        </p:cxnSp>
        <p:sp>
          <p:nvSpPr>
            <p:cNvPr id="64" name="矩形: 圆角 63"/>
            <p:cNvSpPr/>
            <p:nvPr>
              <p:custDataLst>
                <p:tags r:id="rId25"/>
              </p:custDataLst>
            </p:nvPr>
          </p:nvSpPr>
          <p:spPr>
            <a:xfrm>
              <a:off x="1455803" y="3755400"/>
              <a:ext cx="915868" cy="1664912"/>
            </a:xfrm>
            <a:prstGeom prst="roundRect">
              <a:avLst/>
            </a:prstGeom>
            <a:ln>
              <a:solidFill>
                <a:schemeClr val="bg2"/>
              </a:solid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sz="2000" dirty="0">
                  <a:latin typeface="+mj-ea"/>
                  <a:ea typeface="+mj-ea"/>
                </a:rPr>
                <a:t>训练数据</a:t>
              </a:r>
              <a:endParaRPr lang="zh-CN" altLang="en-US" sz="2000" dirty="0">
                <a:latin typeface="+mj-ea"/>
                <a:ea typeface="+mj-ea"/>
              </a:endParaRPr>
            </a:p>
          </p:txBody>
        </p:sp>
        <p:sp>
          <p:nvSpPr>
            <p:cNvPr id="65" name="Google Shape;3380;p54"/>
            <p:cNvSpPr/>
            <p:nvPr>
              <p:custDataLst>
                <p:tags r:id="rId26"/>
              </p:custDataLst>
            </p:nvPr>
          </p:nvSpPr>
          <p:spPr>
            <a:xfrm>
              <a:off x="8686893" y="3837137"/>
              <a:ext cx="747840" cy="1583175"/>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sz="1800" dirty="0"/>
                <a:t>最终预测结果</a:t>
              </a:r>
              <a:endParaRPr sz="1800" dirty="0"/>
            </a:p>
          </p:txBody>
        </p:sp>
        <p:sp>
          <p:nvSpPr>
            <p:cNvPr id="66" name="矩形: 圆角 65"/>
            <p:cNvSpPr/>
            <p:nvPr>
              <p:custDataLst>
                <p:tags r:id="rId27"/>
              </p:custDataLst>
            </p:nvPr>
          </p:nvSpPr>
          <p:spPr>
            <a:xfrm>
              <a:off x="8190337" y="5746712"/>
              <a:ext cx="791266" cy="989287"/>
            </a:xfrm>
            <a:prstGeom prst="roundRect">
              <a:avLst/>
            </a:prstGeom>
            <a:ln>
              <a:solidFill>
                <a:schemeClr val="bg2"/>
              </a:solid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sz="1600" dirty="0">
                  <a:latin typeface="+mj-ea"/>
                  <a:ea typeface="+mj-ea"/>
                </a:rPr>
                <a:t>测试数据</a:t>
              </a:r>
              <a:endParaRPr lang="zh-CN" altLang="en-US" sz="1600" dirty="0">
                <a:latin typeface="+mj-ea"/>
                <a:ea typeface="+mj-ea"/>
              </a:endParaRPr>
            </a:p>
          </p:txBody>
        </p:sp>
        <p:cxnSp>
          <p:nvCxnSpPr>
            <p:cNvPr id="67" name="Google Shape;3386;p54"/>
            <p:cNvCxnSpPr/>
            <p:nvPr>
              <p:custDataLst>
                <p:tags r:id="rId28"/>
              </p:custDataLst>
            </p:nvPr>
          </p:nvCxnSpPr>
          <p:spPr>
            <a:xfrm flipH="1">
              <a:off x="7500937" y="6349814"/>
              <a:ext cx="689400" cy="1"/>
            </a:xfrm>
            <a:prstGeom prst="straightConnector1">
              <a:avLst/>
            </a:prstGeom>
            <a:noFill/>
            <a:ln w="19050" cap="flat" cmpd="sng">
              <a:solidFill>
                <a:schemeClr val="dk2"/>
              </a:solidFill>
              <a:prstDash val="solid"/>
              <a:round/>
              <a:headEnd type="none" w="med" len="med"/>
              <a:tailEnd type="triangle" w="med" len="med"/>
            </a:ln>
          </p:spPr>
        </p:cxnSp>
      </p:grpSp>
      <p:sp>
        <p:nvSpPr>
          <p:cNvPr id="7" name="文本框 6"/>
          <p:cNvSpPr txBox="1"/>
          <p:nvPr/>
        </p:nvSpPr>
        <p:spPr>
          <a:xfrm>
            <a:off x="11609705" y="6459220"/>
            <a:ext cx="582295" cy="398780"/>
          </a:xfrm>
          <a:prstGeom prst="rect">
            <a:avLst/>
          </a:prstGeom>
          <a:noFill/>
        </p:spPr>
        <p:txBody>
          <a:bodyPr wrap="square" rtlCol="0" anchor="t">
            <a:spAutoFit/>
          </a:bodyPr>
          <a:p>
            <a:r>
              <a:rPr lang="en-US" altLang="zh-CN" sz="2000">
                <a:latin typeface="楷体_GB2312" charset="-122"/>
                <a:ea typeface="楷体_GB2312" charset="-122"/>
                <a:sym typeface="+mn-ea"/>
              </a:rPr>
              <a:t>43</a:t>
            </a:r>
            <a:endParaRPr lang="en-US" altLang="zh-CN" sz="2000">
              <a:latin typeface="楷体_GB2312" charset="-122"/>
              <a:ea typeface="楷体_GB2312"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764921" y="1479575"/>
            <a:ext cx="11522709" cy="4571365"/>
          </a:xfrm>
          <a:prstGeom prst="rect">
            <a:avLst/>
          </a:prstGeom>
        </p:spPr>
        <p:txBody>
          <a:bodyPr vert="horz" wrap="square" lIns="0" tIns="0" rIns="0" bIns="0"/>
          <a:lstStyle/>
          <a:p>
            <a:pPr algn="l" rtl="0" eaLnBrk="0">
              <a:lnSpc>
                <a:spcPct val="73000"/>
              </a:lnSpc>
            </a:pPr>
            <a:endParaRPr lang="en-US" altLang="en-US" sz="100" dirty="0"/>
          </a:p>
          <a:p>
            <a:pPr marL="303530" algn="l" rtl="0" eaLnBrk="0">
              <a:lnSpc>
                <a:spcPct val="88000"/>
              </a:lnSpc>
              <a:tabLst>
                <a:tab pos="5575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p:txBody>
      </p:sp>
      <p:grpSp>
        <p:nvGrpSpPr>
          <p:cNvPr id="3" name="group 2"/>
          <p:cNvGrpSpPr/>
          <p:nvPr/>
        </p:nvGrpSpPr>
        <p:grpSpPr>
          <a:xfrm rot="21600000">
            <a:off x="126609" y="147616"/>
            <a:ext cx="2722051" cy="688004"/>
            <a:chOff x="0" y="0"/>
            <a:chExt cx="2722051" cy="688004"/>
          </a:xfrm>
        </p:grpSpPr>
        <p:pic>
          <p:nvPicPr>
            <p:cNvPr id="18" name="picture 18"/>
            <p:cNvPicPr>
              <a:picLocks noChangeAspect="1"/>
            </p:cNvPicPr>
            <p:nvPr/>
          </p:nvPicPr>
          <p:blipFill>
            <a:blip r:embed="rId1"/>
            <a:stretch>
              <a:fillRect/>
            </a:stretch>
          </p:blipFill>
          <p:spPr>
            <a:xfrm rot="21600000">
              <a:off x="0" y="29636"/>
              <a:ext cx="2696776" cy="658368"/>
            </a:xfrm>
            <a:prstGeom prst="rect">
              <a:avLst/>
            </a:prstGeom>
          </p:spPr>
        </p:pic>
        <p:sp>
          <p:nvSpPr>
            <p:cNvPr id="20" name="textbox 2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22" name="picture 22"/>
          <p:cNvPicPr>
            <a:picLocks noChangeAspect="1"/>
          </p:cNvPicPr>
          <p:nvPr/>
        </p:nvPicPr>
        <p:blipFill>
          <a:blip r:embed="rId2"/>
          <a:stretch>
            <a:fillRect/>
          </a:stretch>
        </p:blipFill>
        <p:spPr>
          <a:xfrm rot="21600000">
            <a:off x="10668" y="981455"/>
            <a:ext cx="12181331" cy="45720"/>
          </a:xfrm>
          <a:prstGeom prst="rect">
            <a:avLst/>
          </a:prstGeom>
        </p:spPr>
      </p:pic>
      <p:sp>
        <p:nvSpPr>
          <p:cNvPr id="40" name="textbox 40"/>
          <p:cNvSpPr/>
          <p:nvPr>
            <p:custDataLst>
              <p:tags r:id="rId3"/>
            </p:custDataLst>
          </p:nvPr>
        </p:nvSpPr>
        <p:spPr>
          <a:xfrm>
            <a:off x="1559560" y="1479550"/>
            <a:ext cx="5701030" cy="2787650"/>
          </a:xfrm>
          <a:prstGeom prst="rect">
            <a:avLst/>
          </a:prstGeom>
        </p:spPr>
        <p:txBody>
          <a:bodyPr vert="horz" wrap="square" lIns="0" tIns="0" rIns="0" bIns="0"/>
          <a:p>
            <a:pPr algn="l" rtl="0" eaLnBrk="0">
              <a:lnSpc>
                <a:spcPct val="82000"/>
              </a:lnSpc>
            </a:pPr>
            <a:endParaRPr lang="en-US" altLang="en-US" sz="100" dirty="0"/>
          </a:p>
          <a:p>
            <a:pPr marL="55880" algn="l" rtl="0" eaLnBrk="0">
              <a:lnSpc>
                <a:spcPct val="93000"/>
              </a:lnSpc>
            </a:pPr>
            <a:endParaRPr lang="en-US" altLang="en-US" sz="2000" dirty="0">
              <a:latin typeface="黑体" panose="02010609060101010101" charset="-122"/>
              <a:ea typeface="黑体" panose="02010609060101010101" charset="-122"/>
              <a:cs typeface="黑体" panose="02010609060101010101" charset="-122"/>
            </a:endParaRPr>
          </a:p>
        </p:txBody>
      </p:sp>
      <p:sp>
        <p:nvSpPr>
          <p:cNvPr id="6" name="文本框 5"/>
          <p:cNvSpPr txBox="1"/>
          <p:nvPr>
            <p:custDataLst>
              <p:tags r:id="rId4"/>
            </p:custDataLst>
          </p:nvPr>
        </p:nvSpPr>
        <p:spPr>
          <a:xfrm>
            <a:off x="466725" y="1334770"/>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【Boosting</a:t>
            </a:r>
            <a:r>
              <a:rPr lang="zh-CN"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算法</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4" name="文本框 3"/>
          <p:cNvSpPr txBox="1"/>
          <p:nvPr/>
        </p:nvSpPr>
        <p:spPr>
          <a:xfrm>
            <a:off x="765175" y="2038350"/>
            <a:ext cx="3895090" cy="4116070"/>
          </a:xfrm>
          <a:prstGeom prst="rect">
            <a:avLst/>
          </a:prstGeom>
          <a:noFill/>
        </p:spPr>
        <p:txBody>
          <a:bodyPr wrap="square" rtlCol="0" anchor="t">
            <a:noAutofit/>
          </a:bodyPr>
          <a:p>
            <a:pPr lvl="0">
              <a:lnSpc>
                <a:spcPct val="150000"/>
              </a:lnSpc>
            </a:pPr>
            <a:r>
              <a:rPr lang="zh-CN" altLang="zh-CN" sz="2400" dirty="0">
                <a:latin typeface="+mj-ea"/>
                <a:ea typeface="+mj-ea"/>
                <a:sym typeface="+mn-ea"/>
              </a:rPr>
              <a:t>训练过程为阶梯状，基模型按次序一一进行训练（实现上可以做到并行），基模型的训练集按照某种策略每次都进行一定的转化。对所有基模型预测的结果进行线性综合产生最终的预测结果</a:t>
            </a:r>
            <a:r>
              <a:rPr lang="zh-CN" altLang="en-US" sz="2400" dirty="0">
                <a:latin typeface="+mj-ea"/>
                <a:ea typeface="+mj-ea"/>
                <a:sym typeface="+mn-ea"/>
              </a:rPr>
              <a:t>。</a:t>
            </a:r>
            <a:endParaRPr lang="zh-CN" altLang="en-US" sz="2400" dirty="0">
              <a:latin typeface="+mj-ea"/>
              <a:ea typeface="+mj-ea"/>
              <a:sym typeface="+mn-ea"/>
            </a:endParaRPr>
          </a:p>
        </p:txBody>
      </p:sp>
      <p:grpSp>
        <p:nvGrpSpPr>
          <p:cNvPr id="115" name="组合 114"/>
          <p:cNvGrpSpPr/>
          <p:nvPr/>
        </p:nvGrpSpPr>
        <p:grpSpPr>
          <a:xfrm>
            <a:off x="4962525" y="1536700"/>
            <a:ext cx="6861175" cy="4182745"/>
            <a:chOff x="4514849" y="1852613"/>
            <a:chExt cx="7354645" cy="3664675"/>
          </a:xfrm>
        </p:grpSpPr>
        <p:grpSp>
          <p:nvGrpSpPr>
            <p:cNvPr id="111" name="组合 110"/>
            <p:cNvGrpSpPr/>
            <p:nvPr/>
          </p:nvGrpSpPr>
          <p:grpSpPr>
            <a:xfrm>
              <a:off x="4514849" y="1852613"/>
              <a:ext cx="7354645" cy="3615873"/>
              <a:chOff x="4171733" y="1625147"/>
              <a:chExt cx="7697762" cy="3843339"/>
            </a:xfrm>
          </p:grpSpPr>
          <p:cxnSp>
            <p:nvCxnSpPr>
              <p:cNvPr id="76" name="Google Shape;3386;p54"/>
              <p:cNvCxnSpPr/>
              <p:nvPr>
                <p:custDataLst>
                  <p:tags r:id="rId5"/>
                </p:custDataLst>
              </p:nvPr>
            </p:nvCxnSpPr>
            <p:spPr>
              <a:xfrm>
                <a:off x="6463601" y="2134660"/>
                <a:ext cx="0" cy="737582"/>
              </a:xfrm>
              <a:prstGeom prst="straightConnector1">
                <a:avLst/>
              </a:prstGeom>
              <a:noFill/>
              <a:ln w="19050" cap="flat" cmpd="sng">
                <a:solidFill>
                  <a:schemeClr val="dk2"/>
                </a:solidFill>
                <a:prstDash val="solid"/>
                <a:round/>
                <a:headEnd type="none" w="med" len="med"/>
                <a:tailEnd type="triangle" w="med" len="med"/>
              </a:ln>
            </p:spPr>
          </p:cxnSp>
          <p:cxnSp>
            <p:nvCxnSpPr>
              <p:cNvPr id="65" name="Google Shape;3386;p54"/>
              <p:cNvCxnSpPr/>
              <p:nvPr>
                <p:custDataLst>
                  <p:tags r:id="rId6"/>
                </p:custDataLst>
              </p:nvPr>
            </p:nvCxnSpPr>
            <p:spPr>
              <a:xfrm>
                <a:off x="6636595" y="3088349"/>
                <a:ext cx="0" cy="737582"/>
              </a:xfrm>
              <a:prstGeom prst="straightConnector1">
                <a:avLst/>
              </a:prstGeom>
              <a:noFill/>
              <a:ln w="19050" cap="flat" cmpd="sng">
                <a:solidFill>
                  <a:schemeClr val="dk2"/>
                </a:solidFill>
                <a:prstDash val="solid"/>
                <a:round/>
                <a:headEnd type="none" w="med" len="med"/>
                <a:tailEnd type="triangle" w="med" len="med"/>
              </a:ln>
            </p:spPr>
          </p:cxnSp>
          <p:cxnSp>
            <p:nvCxnSpPr>
              <p:cNvPr id="67" name="Google Shape;3386;p54"/>
              <p:cNvCxnSpPr/>
              <p:nvPr>
                <p:custDataLst>
                  <p:tags r:id="rId7"/>
                </p:custDataLst>
              </p:nvPr>
            </p:nvCxnSpPr>
            <p:spPr>
              <a:xfrm>
                <a:off x="6974377" y="4238541"/>
                <a:ext cx="0" cy="532388"/>
              </a:xfrm>
              <a:prstGeom prst="straightConnector1">
                <a:avLst/>
              </a:prstGeom>
              <a:noFill/>
              <a:ln w="19050" cap="flat" cmpd="sng">
                <a:solidFill>
                  <a:schemeClr val="dk2"/>
                </a:solidFill>
                <a:prstDash val="solid"/>
                <a:round/>
                <a:headEnd type="none" w="med" len="med"/>
                <a:tailEnd type="triangle" w="med" len="med"/>
              </a:ln>
            </p:spPr>
          </p:cxnSp>
          <p:sp>
            <p:nvSpPr>
              <p:cNvPr id="8" name="矩形: 圆角 7"/>
              <p:cNvSpPr/>
              <p:nvPr>
                <p:custDataLst>
                  <p:tags r:id="rId8"/>
                </p:custDataLst>
              </p:nvPr>
            </p:nvSpPr>
            <p:spPr>
              <a:xfrm>
                <a:off x="8020269" y="1625147"/>
                <a:ext cx="1905000" cy="38433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0" name="Google Shape;3379;p54"/>
              <p:cNvSpPr/>
              <p:nvPr>
                <p:custDataLst>
                  <p:tags r:id="rId9"/>
                </p:custDataLst>
              </p:nvPr>
            </p:nvSpPr>
            <p:spPr>
              <a:xfrm>
                <a:off x="6216641" y="4770929"/>
                <a:ext cx="1496400" cy="447338"/>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dirty="0"/>
                  <a:t>模型</a:t>
                </a:r>
                <a:r>
                  <a:rPr lang="en-US" altLang="zh-CN" dirty="0"/>
                  <a:t>n</a:t>
                </a:r>
                <a:endParaRPr dirty="0"/>
              </a:p>
            </p:txBody>
          </p:sp>
          <p:sp>
            <p:nvSpPr>
              <p:cNvPr id="11" name="Google Shape;3380;p54"/>
              <p:cNvSpPr/>
              <p:nvPr>
                <p:custDataLst>
                  <p:tags r:id="rId10"/>
                </p:custDataLst>
              </p:nvPr>
            </p:nvSpPr>
            <p:spPr>
              <a:xfrm>
                <a:off x="11121655" y="2761001"/>
                <a:ext cx="747840" cy="1583175"/>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sz="2000" dirty="0"/>
                  <a:t>最终预测结果</a:t>
                </a:r>
                <a:endParaRPr sz="2000" dirty="0"/>
              </a:p>
            </p:txBody>
          </p:sp>
          <p:sp>
            <p:nvSpPr>
              <p:cNvPr id="14" name="Google Shape;3383;p54"/>
              <p:cNvSpPr/>
              <p:nvPr>
                <p:custDataLst>
                  <p:tags r:id="rId11"/>
                </p:custDataLst>
              </p:nvPr>
            </p:nvSpPr>
            <p:spPr>
              <a:xfrm>
                <a:off x="5715401" y="2872242"/>
                <a:ext cx="1496400" cy="425561"/>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dirty="0"/>
                  <a:t>模型</a:t>
                </a:r>
                <a:r>
                  <a:rPr lang="en-US" altLang="zh-CN" dirty="0"/>
                  <a:t>2</a:t>
                </a:r>
                <a:endParaRPr dirty="0"/>
              </a:p>
            </p:txBody>
          </p:sp>
          <p:cxnSp>
            <p:nvCxnSpPr>
              <p:cNvPr id="16" name="Google Shape;3387;p54"/>
              <p:cNvCxnSpPr>
                <a:endCxn id="54" idx="1"/>
              </p:cNvCxnSpPr>
              <p:nvPr>
                <p:custDataLst>
                  <p:tags r:id="rId12"/>
                </p:custDataLst>
              </p:nvPr>
            </p:nvCxnSpPr>
            <p:spPr>
              <a:xfrm>
                <a:off x="5087601" y="2144880"/>
                <a:ext cx="390376" cy="0"/>
              </a:xfrm>
              <a:prstGeom prst="straightConnector1">
                <a:avLst/>
              </a:prstGeom>
              <a:noFill/>
              <a:ln w="19050" cap="flat" cmpd="sng">
                <a:solidFill>
                  <a:schemeClr val="dk2"/>
                </a:solidFill>
                <a:prstDash val="solid"/>
                <a:round/>
                <a:headEnd type="none" w="med" len="med"/>
                <a:tailEnd type="triangle" w="med" len="med"/>
              </a:ln>
            </p:spPr>
          </p:cxnSp>
          <p:sp>
            <p:nvSpPr>
              <p:cNvPr id="19" name="Google Shape;3379;p54"/>
              <p:cNvSpPr/>
              <p:nvPr>
                <p:custDataLst>
                  <p:tags r:id="rId13"/>
                </p:custDataLst>
              </p:nvPr>
            </p:nvSpPr>
            <p:spPr>
              <a:xfrm>
                <a:off x="8225244" y="4668198"/>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dirty="0"/>
                  <a:t>预测</a:t>
                </a:r>
                <a:r>
                  <a:rPr lang="en-US" altLang="zh-CN" dirty="0"/>
                  <a:t>n</a:t>
                </a:r>
                <a:endParaRPr dirty="0"/>
              </a:p>
            </p:txBody>
          </p:sp>
          <p:sp>
            <p:nvSpPr>
              <p:cNvPr id="5" name="Google Shape;3381;p54"/>
              <p:cNvSpPr/>
              <p:nvPr>
                <p:custDataLst>
                  <p:tags r:id="rId14"/>
                </p:custDataLst>
              </p:nvPr>
            </p:nvSpPr>
            <p:spPr>
              <a:xfrm>
                <a:off x="8225244" y="3690372"/>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en-US" altLang="zh-CN" dirty="0"/>
                  <a:t>……</a:t>
                </a:r>
                <a:endParaRPr dirty="0"/>
              </a:p>
            </p:txBody>
          </p:sp>
          <p:sp>
            <p:nvSpPr>
              <p:cNvPr id="21" name="Google Shape;3382;p54"/>
              <p:cNvSpPr/>
              <p:nvPr>
                <p:custDataLst>
                  <p:tags r:id="rId15"/>
                </p:custDataLst>
              </p:nvPr>
            </p:nvSpPr>
            <p:spPr>
              <a:xfrm>
                <a:off x="8225244" y="1813061"/>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dirty="0"/>
                  <a:t>预测</a:t>
                </a:r>
                <a:r>
                  <a:rPr lang="en-US" altLang="zh-CN" dirty="0"/>
                  <a:t>1</a:t>
                </a:r>
                <a:endParaRPr dirty="0"/>
              </a:p>
            </p:txBody>
          </p:sp>
          <p:sp>
            <p:nvSpPr>
              <p:cNvPr id="7" name="Google Shape;3383;p54"/>
              <p:cNvSpPr/>
              <p:nvPr>
                <p:custDataLst>
                  <p:tags r:id="rId16"/>
                </p:custDataLst>
              </p:nvPr>
            </p:nvSpPr>
            <p:spPr>
              <a:xfrm>
                <a:off x="8225244" y="2758623"/>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dirty="0"/>
                  <a:t>预测</a:t>
                </a:r>
                <a:r>
                  <a:rPr lang="en-US" altLang="zh-CN" dirty="0"/>
                  <a:t>2</a:t>
                </a:r>
                <a:endParaRPr dirty="0"/>
              </a:p>
            </p:txBody>
          </p:sp>
          <p:cxnSp>
            <p:nvCxnSpPr>
              <p:cNvPr id="23" name="Google Shape;3386;p54"/>
              <p:cNvCxnSpPr>
                <a:stCxn id="54" idx="3"/>
                <a:endCxn id="21" idx="1"/>
              </p:cNvCxnSpPr>
              <p:nvPr>
                <p:custDataLst>
                  <p:tags r:id="rId17"/>
                </p:custDataLst>
              </p:nvPr>
            </p:nvCxnSpPr>
            <p:spPr>
              <a:xfrm flipV="1">
                <a:off x="6974377" y="2139461"/>
                <a:ext cx="1250867" cy="5419"/>
              </a:xfrm>
              <a:prstGeom prst="straightConnector1">
                <a:avLst/>
              </a:prstGeom>
              <a:noFill/>
              <a:ln w="19050" cap="flat" cmpd="sng">
                <a:solidFill>
                  <a:schemeClr val="dk2"/>
                </a:solidFill>
                <a:prstDash val="solid"/>
                <a:round/>
                <a:headEnd type="none" w="med" len="med"/>
                <a:tailEnd type="triangle" w="med" len="med"/>
              </a:ln>
            </p:spPr>
          </p:cxnSp>
          <p:cxnSp>
            <p:nvCxnSpPr>
              <p:cNvPr id="24" name="Google Shape;3386;p54"/>
              <p:cNvCxnSpPr>
                <a:stCxn id="10" idx="3"/>
                <a:endCxn id="19" idx="1"/>
              </p:cNvCxnSpPr>
              <p:nvPr>
                <p:custDataLst>
                  <p:tags r:id="rId18"/>
                </p:custDataLst>
              </p:nvPr>
            </p:nvCxnSpPr>
            <p:spPr>
              <a:xfrm>
                <a:off x="7713041" y="4994598"/>
                <a:ext cx="512203" cy="0"/>
              </a:xfrm>
              <a:prstGeom prst="straightConnector1">
                <a:avLst/>
              </a:prstGeom>
              <a:noFill/>
              <a:ln w="19050" cap="flat" cmpd="sng">
                <a:solidFill>
                  <a:schemeClr val="dk2"/>
                </a:solidFill>
                <a:prstDash val="solid"/>
                <a:round/>
                <a:headEnd type="none" w="med" len="med"/>
                <a:tailEnd type="triangle" w="med" len="med"/>
              </a:ln>
            </p:spPr>
          </p:cxnSp>
          <p:cxnSp>
            <p:nvCxnSpPr>
              <p:cNvPr id="25" name="Google Shape;3386;p54"/>
              <p:cNvCxnSpPr>
                <a:stCxn id="55" idx="3"/>
                <a:endCxn id="5" idx="1"/>
              </p:cNvCxnSpPr>
              <p:nvPr>
                <p:custDataLst>
                  <p:tags r:id="rId19"/>
                </p:custDataLst>
              </p:nvPr>
            </p:nvCxnSpPr>
            <p:spPr>
              <a:xfrm flipV="1">
                <a:off x="7421499" y="4016772"/>
                <a:ext cx="803745" cy="8989"/>
              </a:xfrm>
              <a:prstGeom prst="straightConnector1">
                <a:avLst/>
              </a:prstGeom>
              <a:noFill/>
              <a:ln w="19050" cap="flat" cmpd="sng">
                <a:solidFill>
                  <a:schemeClr val="dk2"/>
                </a:solidFill>
                <a:prstDash val="solid"/>
                <a:round/>
                <a:headEnd type="none" w="med" len="med"/>
                <a:tailEnd type="triangle" w="med" len="med"/>
              </a:ln>
            </p:spPr>
          </p:cxnSp>
          <p:cxnSp>
            <p:nvCxnSpPr>
              <p:cNvPr id="26" name="Google Shape;3386;p54"/>
              <p:cNvCxnSpPr>
                <a:stCxn id="14" idx="3"/>
                <a:endCxn id="7" idx="1"/>
              </p:cNvCxnSpPr>
              <p:nvPr>
                <p:custDataLst>
                  <p:tags r:id="rId20"/>
                </p:custDataLst>
              </p:nvPr>
            </p:nvCxnSpPr>
            <p:spPr>
              <a:xfrm>
                <a:off x="7211801" y="3085023"/>
                <a:ext cx="1013443" cy="0"/>
              </a:xfrm>
              <a:prstGeom prst="straightConnector1">
                <a:avLst/>
              </a:prstGeom>
              <a:noFill/>
              <a:ln w="19050" cap="flat" cmpd="sng">
                <a:solidFill>
                  <a:schemeClr val="dk2"/>
                </a:solidFill>
                <a:prstDash val="solid"/>
                <a:round/>
                <a:headEnd type="none" w="med" len="med"/>
                <a:tailEnd type="triangle" w="med" len="med"/>
              </a:ln>
            </p:spPr>
          </p:cxnSp>
          <p:cxnSp>
            <p:nvCxnSpPr>
              <p:cNvPr id="27" name="Google Shape;3386;p54"/>
              <p:cNvCxnSpPr>
                <a:stCxn id="21" idx="3"/>
              </p:cNvCxnSpPr>
              <p:nvPr>
                <p:custDataLst>
                  <p:tags r:id="rId21"/>
                </p:custDataLst>
              </p:nvPr>
            </p:nvCxnSpPr>
            <p:spPr>
              <a:xfrm>
                <a:off x="9721644" y="2139461"/>
                <a:ext cx="1400011" cy="1125958"/>
              </a:xfrm>
              <a:prstGeom prst="straightConnector1">
                <a:avLst/>
              </a:prstGeom>
              <a:noFill/>
              <a:ln w="19050" cap="flat" cmpd="sng">
                <a:solidFill>
                  <a:schemeClr val="dk2"/>
                </a:solidFill>
                <a:prstDash val="solid"/>
                <a:round/>
                <a:headEnd type="none" w="med" len="med"/>
                <a:tailEnd type="triangle" w="med" len="med"/>
              </a:ln>
            </p:spPr>
          </p:cxnSp>
          <p:cxnSp>
            <p:nvCxnSpPr>
              <p:cNvPr id="28" name="Google Shape;3386;p54"/>
              <p:cNvCxnSpPr/>
              <p:nvPr>
                <p:custDataLst>
                  <p:tags r:id="rId22"/>
                </p:custDataLst>
              </p:nvPr>
            </p:nvCxnSpPr>
            <p:spPr>
              <a:xfrm>
                <a:off x="9721644" y="3130900"/>
                <a:ext cx="1400011" cy="298100"/>
              </a:xfrm>
              <a:prstGeom prst="straightConnector1">
                <a:avLst/>
              </a:prstGeom>
              <a:noFill/>
              <a:ln w="19050" cap="flat" cmpd="sng">
                <a:solidFill>
                  <a:schemeClr val="dk2"/>
                </a:solidFill>
                <a:prstDash val="solid"/>
                <a:round/>
                <a:headEnd type="none" w="med" len="med"/>
                <a:tailEnd type="triangle" w="med" len="med"/>
              </a:ln>
            </p:spPr>
          </p:cxnSp>
          <p:cxnSp>
            <p:nvCxnSpPr>
              <p:cNvPr id="29" name="Google Shape;3386;p54"/>
              <p:cNvCxnSpPr>
                <a:stCxn id="5" idx="3"/>
                <a:endCxn id="11" idx="1"/>
              </p:cNvCxnSpPr>
              <p:nvPr>
                <p:custDataLst>
                  <p:tags r:id="rId23"/>
                </p:custDataLst>
              </p:nvPr>
            </p:nvCxnSpPr>
            <p:spPr>
              <a:xfrm flipV="1">
                <a:off x="9721644" y="3552589"/>
                <a:ext cx="1400011" cy="464183"/>
              </a:xfrm>
              <a:prstGeom prst="straightConnector1">
                <a:avLst/>
              </a:prstGeom>
              <a:noFill/>
              <a:ln w="19050" cap="flat" cmpd="sng">
                <a:solidFill>
                  <a:schemeClr val="dk2"/>
                </a:solidFill>
                <a:prstDash val="solid"/>
                <a:round/>
                <a:headEnd type="none" w="med" len="med"/>
                <a:tailEnd type="triangle" w="med" len="med"/>
              </a:ln>
            </p:spPr>
          </p:cxnSp>
          <p:cxnSp>
            <p:nvCxnSpPr>
              <p:cNvPr id="30" name="Google Shape;3386;p54"/>
              <p:cNvCxnSpPr>
                <a:stCxn id="19" idx="3"/>
              </p:cNvCxnSpPr>
              <p:nvPr>
                <p:custDataLst>
                  <p:tags r:id="rId24"/>
                </p:custDataLst>
              </p:nvPr>
            </p:nvCxnSpPr>
            <p:spPr>
              <a:xfrm flipV="1">
                <a:off x="9721644" y="3825931"/>
                <a:ext cx="1389581" cy="1168667"/>
              </a:xfrm>
              <a:prstGeom prst="straightConnector1">
                <a:avLst/>
              </a:prstGeom>
              <a:noFill/>
              <a:ln w="19050" cap="flat" cmpd="sng">
                <a:solidFill>
                  <a:schemeClr val="dk2"/>
                </a:solidFill>
                <a:prstDash val="solid"/>
                <a:round/>
                <a:headEnd type="none" w="med" len="med"/>
                <a:tailEnd type="triangle" w="med" len="med"/>
              </a:ln>
            </p:spPr>
          </p:cxnSp>
          <p:sp>
            <p:nvSpPr>
              <p:cNvPr id="48" name="文本框 47"/>
              <p:cNvSpPr txBox="1"/>
              <p:nvPr>
                <p:custDataLst>
                  <p:tags r:id="rId25"/>
                </p:custDataLst>
              </p:nvPr>
            </p:nvSpPr>
            <p:spPr>
              <a:xfrm>
                <a:off x="5608533" y="2429988"/>
                <a:ext cx="742778" cy="342982"/>
              </a:xfrm>
              <a:prstGeom prst="rect">
                <a:avLst/>
              </a:prstGeom>
              <a:noFill/>
            </p:spPr>
            <p:txBody>
              <a:bodyPr wrap="square">
                <a:spAutoFit/>
              </a:bodyPr>
              <a:p>
                <a:r>
                  <a:rPr lang="zh-CN" altLang="zh-CN" sz="1800" dirty="0">
                    <a:solidFill>
                      <a:srgbClr val="FF0000"/>
                    </a:solidFill>
                    <a:latin typeface="+mj-ea"/>
                    <a:ea typeface="+mj-ea"/>
                  </a:rPr>
                  <a:t>转化</a:t>
                </a:r>
                <a:endParaRPr lang="zh-CN" altLang="en-US" sz="1800" dirty="0">
                  <a:solidFill>
                    <a:srgbClr val="FF0000"/>
                  </a:solidFill>
                </a:endParaRPr>
              </a:p>
            </p:txBody>
          </p:sp>
          <p:sp>
            <p:nvSpPr>
              <p:cNvPr id="54" name="Google Shape;3383;p54"/>
              <p:cNvSpPr/>
              <p:nvPr>
                <p:custDataLst>
                  <p:tags r:id="rId26"/>
                </p:custDataLst>
              </p:nvPr>
            </p:nvSpPr>
            <p:spPr>
              <a:xfrm>
                <a:off x="5477977" y="1932099"/>
                <a:ext cx="1496400" cy="425561"/>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dirty="0"/>
                  <a:t>模型</a:t>
                </a:r>
                <a:r>
                  <a:rPr lang="en-US" altLang="zh-CN" dirty="0"/>
                  <a:t>1</a:t>
                </a:r>
                <a:endParaRPr dirty="0"/>
              </a:p>
            </p:txBody>
          </p:sp>
          <p:sp>
            <p:nvSpPr>
              <p:cNvPr id="55" name="Google Shape;3383;p54"/>
              <p:cNvSpPr/>
              <p:nvPr>
                <p:custDataLst>
                  <p:tags r:id="rId27"/>
                </p:custDataLst>
              </p:nvPr>
            </p:nvSpPr>
            <p:spPr>
              <a:xfrm>
                <a:off x="5925099" y="3812980"/>
                <a:ext cx="1496400" cy="425561"/>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dirty="0"/>
                  <a:t>模型</a:t>
                </a:r>
                <a:r>
                  <a:rPr lang="en-US" altLang="zh-CN" dirty="0"/>
                  <a:t>3</a:t>
                </a:r>
                <a:endParaRPr dirty="0"/>
              </a:p>
            </p:txBody>
          </p:sp>
          <p:sp>
            <p:nvSpPr>
              <p:cNvPr id="66" name="文本框 65"/>
              <p:cNvSpPr txBox="1"/>
              <p:nvPr>
                <p:custDataLst>
                  <p:tags r:id="rId28"/>
                </p:custDataLst>
              </p:nvPr>
            </p:nvSpPr>
            <p:spPr>
              <a:xfrm>
                <a:off x="5813667" y="3390811"/>
                <a:ext cx="742778" cy="342982"/>
              </a:xfrm>
              <a:prstGeom prst="rect">
                <a:avLst/>
              </a:prstGeom>
              <a:noFill/>
            </p:spPr>
            <p:txBody>
              <a:bodyPr wrap="square">
                <a:spAutoFit/>
              </a:bodyPr>
              <a:p>
                <a:r>
                  <a:rPr lang="zh-CN" altLang="zh-CN" sz="1800" dirty="0">
                    <a:solidFill>
                      <a:srgbClr val="FF0000"/>
                    </a:solidFill>
                    <a:latin typeface="+mj-ea"/>
                    <a:ea typeface="+mj-ea"/>
                  </a:rPr>
                  <a:t>转化</a:t>
                </a:r>
                <a:endParaRPr lang="zh-CN" altLang="en-US" sz="1800" dirty="0">
                  <a:solidFill>
                    <a:srgbClr val="FF0000"/>
                  </a:solidFill>
                </a:endParaRPr>
              </a:p>
            </p:txBody>
          </p:sp>
          <p:sp>
            <p:nvSpPr>
              <p:cNvPr id="68" name="文本框 67"/>
              <p:cNvSpPr txBox="1"/>
              <p:nvPr>
                <p:custDataLst>
                  <p:tags r:id="rId29"/>
                </p:custDataLst>
              </p:nvPr>
            </p:nvSpPr>
            <p:spPr>
              <a:xfrm>
                <a:off x="6164273" y="4300506"/>
                <a:ext cx="742778" cy="342982"/>
              </a:xfrm>
              <a:prstGeom prst="rect">
                <a:avLst/>
              </a:prstGeom>
              <a:noFill/>
            </p:spPr>
            <p:txBody>
              <a:bodyPr wrap="square">
                <a:spAutoFit/>
              </a:bodyPr>
              <a:p>
                <a:r>
                  <a:rPr lang="zh-CN" altLang="zh-CN" sz="1800" dirty="0">
                    <a:solidFill>
                      <a:srgbClr val="FF0000"/>
                    </a:solidFill>
                    <a:latin typeface="+mj-ea"/>
                    <a:ea typeface="+mj-ea"/>
                  </a:rPr>
                  <a:t>转化</a:t>
                </a:r>
                <a:endParaRPr lang="zh-CN" altLang="en-US" sz="1800" dirty="0">
                  <a:solidFill>
                    <a:srgbClr val="FF0000"/>
                  </a:solidFill>
                </a:endParaRPr>
              </a:p>
            </p:txBody>
          </p:sp>
          <p:sp>
            <p:nvSpPr>
              <p:cNvPr id="80" name="矩形: 圆角 79"/>
              <p:cNvSpPr/>
              <p:nvPr>
                <p:custDataLst>
                  <p:tags r:id="rId30"/>
                </p:custDataLst>
              </p:nvPr>
            </p:nvSpPr>
            <p:spPr>
              <a:xfrm>
                <a:off x="4171733" y="1903029"/>
                <a:ext cx="915868" cy="1664912"/>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sz="2000" dirty="0">
                    <a:latin typeface="+mj-ea"/>
                    <a:ea typeface="+mj-ea"/>
                  </a:rPr>
                  <a:t>训练数据</a:t>
                </a:r>
                <a:endParaRPr lang="zh-CN" altLang="en-US" sz="2000" dirty="0">
                  <a:latin typeface="+mj-ea"/>
                  <a:ea typeface="+mj-ea"/>
                </a:endParaRPr>
              </a:p>
            </p:txBody>
          </p:sp>
        </p:grpSp>
        <p:sp>
          <p:nvSpPr>
            <p:cNvPr id="113" name="矩形: 圆角 112"/>
            <p:cNvSpPr/>
            <p:nvPr>
              <p:custDataLst>
                <p:tags r:id="rId31"/>
              </p:custDataLst>
            </p:nvPr>
          </p:nvSpPr>
          <p:spPr>
            <a:xfrm>
              <a:off x="10411561" y="4528001"/>
              <a:ext cx="791266" cy="989287"/>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sz="1800" dirty="0">
                  <a:latin typeface="+mj-ea"/>
                  <a:ea typeface="+mj-ea"/>
                </a:rPr>
                <a:t>测试数据</a:t>
              </a:r>
              <a:endParaRPr lang="zh-CN" altLang="en-US" sz="1800" dirty="0">
                <a:latin typeface="+mj-ea"/>
                <a:ea typeface="+mj-ea"/>
              </a:endParaRPr>
            </a:p>
          </p:txBody>
        </p:sp>
        <p:cxnSp>
          <p:nvCxnSpPr>
            <p:cNvPr id="114" name="Google Shape;3386;p54"/>
            <p:cNvCxnSpPr/>
            <p:nvPr>
              <p:custDataLst>
                <p:tags r:id="rId32"/>
              </p:custDataLst>
            </p:nvPr>
          </p:nvCxnSpPr>
          <p:spPr>
            <a:xfrm flipH="1">
              <a:off x="10015695" y="5131103"/>
              <a:ext cx="395866" cy="0"/>
            </a:xfrm>
            <a:prstGeom prst="straightConnector1">
              <a:avLst/>
            </a:prstGeom>
            <a:noFill/>
            <a:ln w="19050" cap="flat" cmpd="sng">
              <a:solidFill>
                <a:schemeClr val="dk2"/>
              </a:solidFill>
              <a:prstDash val="solid"/>
              <a:round/>
              <a:headEnd type="none" w="med" len="med"/>
              <a:tailEnd type="triangle" w="med" len="med"/>
            </a:ln>
          </p:spPr>
        </p:cxnSp>
      </p:grpSp>
      <p:sp>
        <p:nvSpPr>
          <p:cNvPr id="9" name="文本框 8"/>
          <p:cNvSpPr txBox="1"/>
          <p:nvPr>
            <p:custDataLst>
              <p:tags r:id="rId33"/>
            </p:custDataLst>
          </p:nvPr>
        </p:nvSpPr>
        <p:spPr>
          <a:xfrm>
            <a:off x="11609705" y="6459220"/>
            <a:ext cx="582295" cy="398780"/>
          </a:xfrm>
          <a:prstGeom prst="rect">
            <a:avLst/>
          </a:prstGeom>
          <a:noFill/>
        </p:spPr>
        <p:txBody>
          <a:bodyPr wrap="square" rtlCol="0" anchor="t">
            <a:spAutoFit/>
          </a:bodyPr>
          <a:p>
            <a:r>
              <a:rPr lang="en-US" altLang="zh-CN" sz="2000">
                <a:latin typeface="楷体_GB2312" charset="-122"/>
                <a:ea typeface="楷体_GB2312" charset="-122"/>
                <a:sym typeface="+mn-ea"/>
              </a:rPr>
              <a:t>44</a:t>
            </a:r>
            <a:endParaRPr lang="en-US" altLang="zh-CN" sz="2000">
              <a:latin typeface="楷体_GB2312" charset="-122"/>
              <a:ea typeface="楷体_GB2312" charset="-122"/>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764921" y="1479575"/>
            <a:ext cx="11522709" cy="4571365"/>
          </a:xfrm>
          <a:prstGeom prst="rect">
            <a:avLst/>
          </a:prstGeom>
        </p:spPr>
        <p:txBody>
          <a:bodyPr vert="horz" wrap="square" lIns="0" tIns="0" rIns="0" bIns="0"/>
          <a:lstStyle/>
          <a:p>
            <a:pPr algn="l" rtl="0" eaLnBrk="0">
              <a:lnSpc>
                <a:spcPct val="73000"/>
              </a:lnSpc>
            </a:pPr>
            <a:endParaRPr lang="en-US" altLang="en-US" sz="100" dirty="0"/>
          </a:p>
          <a:p>
            <a:pPr marL="303530" algn="l" rtl="0" eaLnBrk="0">
              <a:lnSpc>
                <a:spcPct val="88000"/>
              </a:lnSpc>
              <a:tabLst>
                <a:tab pos="5575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p:txBody>
      </p:sp>
      <p:grpSp>
        <p:nvGrpSpPr>
          <p:cNvPr id="3" name="group 2"/>
          <p:cNvGrpSpPr/>
          <p:nvPr/>
        </p:nvGrpSpPr>
        <p:grpSpPr>
          <a:xfrm rot="21600000">
            <a:off x="126609" y="147616"/>
            <a:ext cx="2722051" cy="688004"/>
            <a:chOff x="0" y="0"/>
            <a:chExt cx="2722051" cy="688004"/>
          </a:xfrm>
        </p:grpSpPr>
        <p:pic>
          <p:nvPicPr>
            <p:cNvPr id="18" name="picture 18"/>
            <p:cNvPicPr>
              <a:picLocks noChangeAspect="1"/>
            </p:cNvPicPr>
            <p:nvPr/>
          </p:nvPicPr>
          <p:blipFill>
            <a:blip r:embed="rId1"/>
            <a:stretch>
              <a:fillRect/>
            </a:stretch>
          </p:blipFill>
          <p:spPr>
            <a:xfrm rot="21600000">
              <a:off x="0" y="29636"/>
              <a:ext cx="2696776" cy="658368"/>
            </a:xfrm>
            <a:prstGeom prst="rect">
              <a:avLst/>
            </a:prstGeom>
          </p:spPr>
        </p:pic>
        <p:sp>
          <p:nvSpPr>
            <p:cNvPr id="20" name="textbox 2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22" name="picture 22"/>
          <p:cNvPicPr>
            <a:picLocks noChangeAspect="1"/>
          </p:cNvPicPr>
          <p:nvPr/>
        </p:nvPicPr>
        <p:blipFill>
          <a:blip r:embed="rId2"/>
          <a:stretch>
            <a:fillRect/>
          </a:stretch>
        </p:blipFill>
        <p:spPr>
          <a:xfrm rot="21600000">
            <a:off x="10668" y="981455"/>
            <a:ext cx="12181331" cy="45720"/>
          </a:xfrm>
          <a:prstGeom prst="rect">
            <a:avLst/>
          </a:prstGeom>
        </p:spPr>
      </p:pic>
      <p:sp>
        <p:nvSpPr>
          <p:cNvPr id="40" name="textbox 40"/>
          <p:cNvSpPr/>
          <p:nvPr>
            <p:custDataLst>
              <p:tags r:id="rId3"/>
            </p:custDataLst>
          </p:nvPr>
        </p:nvSpPr>
        <p:spPr>
          <a:xfrm>
            <a:off x="1559560" y="1479550"/>
            <a:ext cx="5701030" cy="2787650"/>
          </a:xfrm>
          <a:prstGeom prst="rect">
            <a:avLst/>
          </a:prstGeom>
        </p:spPr>
        <p:txBody>
          <a:bodyPr vert="horz" wrap="square" lIns="0" tIns="0" rIns="0" bIns="0"/>
          <a:p>
            <a:pPr algn="l" rtl="0" eaLnBrk="0">
              <a:lnSpc>
                <a:spcPct val="82000"/>
              </a:lnSpc>
            </a:pPr>
            <a:endParaRPr lang="en-US" altLang="en-US" sz="100" dirty="0"/>
          </a:p>
          <a:p>
            <a:pPr marL="55880" algn="l" rtl="0" eaLnBrk="0">
              <a:lnSpc>
                <a:spcPct val="93000"/>
              </a:lnSpc>
            </a:pPr>
            <a:endParaRPr lang="en-US" altLang="en-US" sz="2000" dirty="0">
              <a:latin typeface="黑体" panose="02010609060101010101" charset="-122"/>
              <a:ea typeface="黑体" panose="02010609060101010101" charset="-122"/>
              <a:cs typeface="黑体" panose="02010609060101010101" charset="-122"/>
            </a:endParaRPr>
          </a:p>
        </p:txBody>
      </p:sp>
      <p:sp>
        <p:nvSpPr>
          <p:cNvPr id="2549" name="矩形 2548"/>
          <p:cNvSpPr/>
          <p:nvPr>
            <p:custDataLst>
              <p:tags r:id="rId4"/>
            </p:custDataLst>
          </p:nvPr>
        </p:nvSpPr>
        <p:spPr>
          <a:xfrm>
            <a:off x="275590" y="1288415"/>
            <a:ext cx="5943600" cy="579438"/>
          </a:xfrm>
          <a:prstGeom prst="rect">
            <a:avLst/>
          </a:prstGeom>
          <a:noFill/>
          <a:ln w="9525">
            <a:noFill/>
          </a:ln>
        </p:spPr>
        <p:txBody>
          <a:bodyPr>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rPr>
              <a:t>【Boosting</a:t>
            </a:r>
            <a:r>
              <a:rPr lang="zh-CN" altLang="en-US" sz="3200">
                <a:solidFill>
                  <a:srgbClr val="990033"/>
                </a:solidFill>
                <a:effectLst>
                  <a:outerShdw blurRad="38100" dist="38100" dir="2700000">
                    <a:srgbClr val="000000"/>
                  </a:outerShdw>
                </a:effectLst>
                <a:latin typeface="Palatino Linotype" panose="02040502050505030304" charset="0"/>
                <a:ea typeface="楷体_GB2312" charset="-122"/>
              </a:rPr>
              <a:t>算法步骤</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endParaRPr>
          </a:p>
        </p:txBody>
      </p:sp>
      <p:sp>
        <p:nvSpPr>
          <p:cNvPr id="2548" name="文本占位符 2547"/>
          <p:cNvSpPr/>
          <p:nvPr>
            <p:custDataLst>
              <p:tags r:id="rId5"/>
            </p:custDataLst>
          </p:nvPr>
        </p:nvSpPr>
        <p:spPr>
          <a:xfrm>
            <a:off x="1681480" y="2060258"/>
            <a:ext cx="8229600" cy="4176712"/>
          </a:xfrm>
          <a:prstGeom prst="rect">
            <a:avLst/>
          </a:prstGeom>
          <a:noFill/>
          <a:ln w="9525">
            <a:solidFill>
              <a:srgbClr val="000000"/>
            </a:solidFill>
            <a:miter/>
          </a:ln>
        </p:spPr>
        <p:txBody>
          <a:bodyPr/>
          <a:lstStyle>
            <a:lvl1pPr marL="342900" lvl="0" indent="-342900" algn="l" defTabSz="914400" rtl="0" eaLnBrk="0" fontAlgn="base" latinLnBrk="0" hangingPunct="0">
              <a:lnSpc>
                <a:spcPct val="100000"/>
              </a:lnSpc>
              <a:spcBef>
                <a:spcPct val="20000"/>
              </a:spcBef>
              <a:spcAft>
                <a:spcPct val="0"/>
              </a:spcAft>
              <a:buSzPct val="100000"/>
              <a:buChar char="•"/>
              <a:defRPr sz="3200" b="0" i="0" u="none" kern="1200">
                <a:solidFill>
                  <a:schemeClr val="tx1"/>
                </a:solidFill>
                <a:latin typeface="+mn-lt"/>
                <a:ea typeface="+mn-ea"/>
                <a:cs typeface="+mn-cs"/>
              </a:defRPr>
            </a:lvl1pPr>
            <a:lvl2pPr marL="742950" lvl="1" indent="-285750" algn="l" defTabSz="914400" rtl="0" eaLnBrk="0" fontAlgn="base" latinLnBrk="0" hangingPunct="0">
              <a:lnSpc>
                <a:spcPct val="100000"/>
              </a:lnSpc>
              <a:spcBef>
                <a:spcPct val="20000"/>
              </a:spcBef>
              <a:spcAft>
                <a:spcPct val="0"/>
              </a:spcAft>
              <a:buSzPct val="100000"/>
              <a:buFontTx/>
              <a:buChar char="–"/>
              <a:defRPr sz="2800" b="0" i="0" u="none" kern="1200">
                <a:solidFill>
                  <a:schemeClr val="tx1"/>
                </a:solidFill>
                <a:latin typeface="Arial" panose="020B0604020202020204" pitchFamily="34" charset="0"/>
                <a:ea typeface="宋体" panose="02010600030101010101" pitchFamily="2" charset="-122"/>
                <a:cs typeface="+mn-cs"/>
              </a:defRPr>
            </a:lvl2pPr>
            <a:lvl3pPr marL="1143000" lvl="2" indent="-228600" algn="l" defTabSz="914400" rtl="0" eaLnBrk="0" fontAlgn="base" latinLnBrk="0" hangingPunct="0">
              <a:lnSpc>
                <a:spcPct val="100000"/>
              </a:lnSpc>
              <a:spcBef>
                <a:spcPct val="20000"/>
              </a:spcBef>
              <a:spcAft>
                <a:spcPct val="0"/>
              </a:spcAft>
              <a:buSzPct val="100000"/>
              <a:buFontTx/>
              <a:buChar char="•"/>
              <a:defRPr sz="2400" b="0" i="0" u="none" kern="1200">
                <a:solidFill>
                  <a:schemeClr val="tx1"/>
                </a:solidFill>
                <a:latin typeface="Arial" panose="020B0604020202020204" pitchFamily="34" charset="0"/>
                <a:ea typeface="宋体" panose="02010600030101010101" pitchFamily="2" charset="-122"/>
                <a:cs typeface="+mn-cs"/>
              </a:defRPr>
            </a:lvl3pPr>
            <a:lvl4pPr marL="1600200" lvl="3" indent="-228600" algn="l" defTabSz="914400" rtl="0" eaLnBrk="0" fontAlgn="base" latinLnBrk="0" hangingPunct="0">
              <a:lnSpc>
                <a:spcPct val="100000"/>
              </a:lnSpc>
              <a:spcBef>
                <a:spcPct val="20000"/>
              </a:spcBef>
              <a:spcAft>
                <a:spcPct val="0"/>
              </a:spcAft>
              <a:buSzPct val="100000"/>
              <a:buFontTx/>
              <a:buChar char="–"/>
              <a:defRPr sz="2000" b="0" i="0" u="none" kern="1200">
                <a:solidFill>
                  <a:schemeClr val="tx1"/>
                </a:solidFill>
                <a:latin typeface="Arial" panose="020B0604020202020204" pitchFamily="34" charset="0"/>
                <a:ea typeface="宋体" panose="02010600030101010101" pitchFamily="2" charset="-122"/>
                <a:cs typeface="+mn-cs"/>
              </a:defRPr>
            </a:lvl4pPr>
            <a:lvl5pPr marL="2057400" lvl="4" indent="-228600" algn="l" defTabSz="914400" rtl="0" eaLnBrk="0" fontAlgn="base" latinLnBrk="0" hangingPunct="0">
              <a:lnSpc>
                <a:spcPct val="100000"/>
              </a:lnSpc>
              <a:spcBef>
                <a:spcPct val="20000"/>
              </a:spcBef>
              <a:spcAft>
                <a:spcPct val="0"/>
              </a:spcAft>
              <a:buSzPct val="100000"/>
              <a:buFontTx/>
              <a:buChar char="»"/>
              <a:defRPr sz="2000" b="0" i="0" u="none" kern="1200">
                <a:solidFill>
                  <a:schemeClr val="tx1"/>
                </a:solidFill>
                <a:latin typeface="Arial" panose="020B0604020202020204" pitchFamily="34" charset="0"/>
                <a:ea typeface="宋体" panose="02010600030101010101" pitchFamily="2" charset="-122"/>
                <a:cs typeface="+mn-cs"/>
              </a:defRPr>
            </a:lvl5pPr>
            <a:lvl6pPr marL="2514600" lvl="5" indent="-228600" algn="l" defTabSz="914400" rtl="0" eaLnBrk="0" fontAlgn="base" latinLnBrk="0" hangingPunct="0">
              <a:lnSpc>
                <a:spcPct val="100000"/>
              </a:lnSpc>
              <a:spcBef>
                <a:spcPct val="20000"/>
              </a:spcBef>
              <a:spcAft>
                <a:spcPct val="0"/>
              </a:spcAft>
              <a:buClrTx/>
              <a:buSzPct val="100000"/>
              <a:buFontTx/>
              <a:buChar char="»"/>
              <a:defRPr sz="2000" b="0" i="0" u="none" kern="1200">
                <a:solidFill>
                  <a:schemeClr val="tx1"/>
                </a:solidFill>
                <a:latin typeface="Arial" panose="020B0604020202020204" pitchFamily="34" charset="0"/>
                <a:ea typeface="宋体" panose="02010600030101010101" pitchFamily="2" charset="-122"/>
                <a:cs typeface="+mn-cs"/>
              </a:defRPr>
            </a:lvl6pPr>
            <a:lvl7pPr marL="2971800" lvl="6" indent="-228600" algn="l" defTabSz="914400" rtl="0" eaLnBrk="0" fontAlgn="base" latinLnBrk="0" hangingPunct="0">
              <a:lnSpc>
                <a:spcPct val="100000"/>
              </a:lnSpc>
              <a:spcBef>
                <a:spcPct val="20000"/>
              </a:spcBef>
              <a:spcAft>
                <a:spcPct val="0"/>
              </a:spcAft>
              <a:buClrTx/>
              <a:buSzPct val="100000"/>
              <a:buFontTx/>
              <a:buChar char="»"/>
              <a:defRPr sz="2000" b="0" i="0" u="none" kern="1200">
                <a:solidFill>
                  <a:schemeClr val="tx1"/>
                </a:solidFill>
                <a:latin typeface="Arial" panose="020B0604020202020204" pitchFamily="34" charset="0"/>
                <a:ea typeface="宋体" panose="02010600030101010101" pitchFamily="2" charset="-122"/>
                <a:cs typeface="+mn-cs"/>
              </a:defRPr>
            </a:lvl7pPr>
            <a:lvl8pPr marL="3429000" lvl="7" indent="-228600" algn="l" defTabSz="914400" rtl="0" eaLnBrk="0" fontAlgn="base" latinLnBrk="0" hangingPunct="0">
              <a:lnSpc>
                <a:spcPct val="100000"/>
              </a:lnSpc>
              <a:spcBef>
                <a:spcPct val="20000"/>
              </a:spcBef>
              <a:spcAft>
                <a:spcPct val="0"/>
              </a:spcAft>
              <a:buClrTx/>
              <a:buSzPct val="100000"/>
              <a:buFontTx/>
              <a:buChar char="»"/>
              <a:defRPr sz="2000" b="0" i="0" u="none" kern="1200">
                <a:solidFill>
                  <a:schemeClr val="tx1"/>
                </a:solidFill>
                <a:latin typeface="Arial" panose="020B0604020202020204" pitchFamily="34" charset="0"/>
                <a:ea typeface="宋体" panose="02010600030101010101" pitchFamily="2" charset="-122"/>
                <a:cs typeface="+mn-cs"/>
              </a:defRPr>
            </a:lvl8pPr>
            <a:lvl9pPr marL="3886200" lvl="8" indent="-228600" algn="l" defTabSz="914400" rtl="0" eaLnBrk="0" fontAlgn="base" latinLnBrk="0" hangingPunct="0">
              <a:lnSpc>
                <a:spcPct val="100000"/>
              </a:lnSpc>
              <a:spcBef>
                <a:spcPct val="20000"/>
              </a:spcBef>
              <a:spcAft>
                <a:spcPct val="0"/>
              </a:spcAft>
              <a:buClrTx/>
              <a:buSzPct val="100000"/>
              <a:buFontTx/>
              <a:buChar char="»"/>
              <a:defRPr sz="2000" b="0" i="0" u="none" kern="1200">
                <a:solidFill>
                  <a:schemeClr val="tx1"/>
                </a:solidFill>
                <a:latin typeface="Arial" panose="020B0604020202020204" pitchFamily="34" charset="0"/>
                <a:ea typeface="宋体" panose="02010600030101010101" pitchFamily="2" charset="-122"/>
                <a:cs typeface="+mn-cs"/>
              </a:defRPr>
            </a:lvl9pPr>
          </a:lstStyle>
          <a:p>
            <a:pPr marL="0" indent="0">
              <a:buNone/>
            </a:pPr>
            <a:r>
              <a:rPr lang="zh-CN" altLang="en-US"/>
              <a:t>首先给每一个训练样例赋予相同的权重，然后训练第一个基本分类器并用它来对训练集进行测试，对于那些分类错误的测试样例提高其权重（实际算法中是降低分类正确的样例的权重），然后用调整后的带权训练集训练第二个基本分类器，然后重复这个过程直到最后得到一个足够好的学习器。</a:t>
            </a:r>
            <a:endParaRPr lang="zh-CN" altLang="en-US"/>
          </a:p>
        </p:txBody>
      </p:sp>
      <p:sp>
        <p:nvSpPr>
          <p:cNvPr id="7" name="文本框 6"/>
          <p:cNvSpPr txBox="1"/>
          <p:nvPr>
            <p:custDataLst>
              <p:tags r:id="rId6"/>
            </p:custDataLst>
          </p:nvPr>
        </p:nvSpPr>
        <p:spPr>
          <a:xfrm>
            <a:off x="11609705" y="6459220"/>
            <a:ext cx="582295" cy="398780"/>
          </a:xfrm>
          <a:prstGeom prst="rect">
            <a:avLst/>
          </a:prstGeom>
          <a:noFill/>
        </p:spPr>
        <p:txBody>
          <a:bodyPr wrap="square" rtlCol="0" anchor="t">
            <a:spAutoFit/>
          </a:bodyPr>
          <a:p>
            <a:r>
              <a:rPr lang="en-US" altLang="zh-CN" sz="2000">
                <a:latin typeface="楷体_GB2312" charset="-122"/>
                <a:ea typeface="楷体_GB2312" charset="-122"/>
                <a:sym typeface="+mn-ea"/>
              </a:rPr>
              <a:t>45</a:t>
            </a:r>
            <a:endParaRPr lang="en-US" altLang="zh-CN" sz="2000">
              <a:latin typeface="楷体_GB2312" charset="-122"/>
              <a:ea typeface="楷体_GB2312" charset="-122"/>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764921" y="1479575"/>
            <a:ext cx="11522709" cy="4571365"/>
          </a:xfrm>
          <a:prstGeom prst="rect">
            <a:avLst/>
          </a:prstGeom>
        </p:spPr>
        <p:txBody>
          <a:bodyPr vert="horz" wrap="square" lIns="0" tIns="0" rIns="0" bIns="0"/>
          <a:lstStyle/>
          <a:p>
            <a:pPr algn="l" rtl="0" eaLnBrk="0">
              <a:lnSpc>
                <a:spcPct val="73000"/>
              </a:lnSpc>
            </a:pPr>
            <a:endParaRPr lang="en-US" altLang="en-US" sz="100" dirty="0"/>
          </a:p>
          <a:p>
            <a:pPr marL="303530" algn="l" rtl="0" eaLnBrk="0">
              <a:lnSpc>
                <a:spcPct val="88000"/>
              </a:lnSpc>
              <a:tabLst>
                <a:tab pos="5575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p:txBody>
      </p:sp>
      <p:grpSp>
        <p:nvGrpSpPr>
          <p:cNvPr id="3" name="group 2"/>
          <p:cNvGrpSpPr/>
          <p:nvPr/>
        </p:nvGrpSpPr>
        <p:grpSpPr>
          <a:xfrm rot="21600000">
            <a:off x="126609" y="147616"/>
            <a:ext cx="2722051" cy="688004"/>
            <a:chOff x="0" y="0"/>
            <a:chExt cx="2722051" cy="688004"/>
          </a:xfrm>
        </p:grpSpPr>
        <p:pic>
          <p:nvPicPr>
            <p:cNvPr id="18" name="picture 18"/>
            <p:cNvPicPr>
              <a:picLocks noChangeAspect="1"/>
            </p:cNvPicPr>
            <p:nvPr/>
          </p:nvPicPr>
          <p:blipFill>
            <a:blip r:embed="rId1"/>
            <a:stretch>
              <a:fillRect/>
            </a:stretch>
          </p:blipFill>
          <p:spPr>
            <a:xfrm rot="21600000">
              <a:off x="0" y="29636"/>
              <a:ext cx="2696776" cy="658368"/>
            </a:xfrm>
            <a:prstGeom prst="rect">
              <a:avLst/>
            </a:prstGeom>
          </p:spPr>
        </p:pic>
        <p:sp>
          <p:nvSpPr>
            <p:cNvPr id="20" name="textbox 2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22" name="picture 22"/>
          <p:cNvPicPr>
            <a:picLocks noChangeAspect="1"/>
          </p:cNvPicPr>
          <p:nvPr/>
        </p:nvPicPr>
        <p:blipFill>
          <a:blip r:embed="rId2"/>
          <a:stretch>
            <a:fillRect/>
          </a:stretch>
        </p:blipFill>
        <p:spPr>
          <a:xfrm rot="21600000">
            <a:off x="10668" y="981455"/>
            <a:ext cx="12181331" cy="45720"/>
          </a:xfrm>
          <a:prstGeom prst="rect">
            <a:avLst/>
          </a:prstGeom>
        </p:spPr>
      </p:pic>
      <p:sp>
        <p:nvSpPr>
          <p:cNvPr id="40" name="textbox 40"/>
          <p:cNvSpPr/>
          <p:nvPr>
            <p:custDataLst>
              <p:tags r:id="rId3"/>
            </p:custDataLst>
          </p:nvPr>
        </p:nvSpPr>
        <p:spPr>
          <a:xfrm>
            <a:off x="1559560" y="1479550"/>
            <a:ext cx="5701030" cy="2787650"/>
          </a:xfrm>
          <a:prstGeom prst="rect">
            <a:avLst/>
          </a:prstGeom>
        </p:spPr>
        <p:txBody>
          <a:bodyPr vert="horz" wrap="square" lIns="0" tIns="0" rIns="0" bIns="0"/>
          <a:p>
            <a:pPr algn="l" rtl="0" eaLnBrk="0">
              <a:lnSpc>
                <a:spcPct val="82000"/>
              </a:lnSpc>
            </a:pPr>
            <a:endParaRPr lang="en-US" altLang="en-US" sz="100" dirty="0"/>
          </a:p>
          <a:p>
            <a:pPr marL="55880" algn="l" rtl="0" eaLnBrk="0">
              <a:lnSpc>
                <a:spcPct val="93000"/>
              </a:lnSpc>
            </a:pPr>
            <a:endParaRPr lang="en-US" altLang="en-US" sz="2000" dirty="0">
              <a:latin typeface="黑体" panose="02010609060101010101" charset="-122"/>
              <a:ea typeface="黑体" panose="02010609060101010101" charset="-122"/>
              <a:cs typeface="黑体" panose="02010609060101010101" charset="-122"/>
            </a:endParaRPr>
          </a:p>
        </p:txBody>
      </p:sp>
      <p:sp>
        <p:nvSpPr>
          <p:cNvPr id="2549" name="矩形 2548"/>
          <p:cNvSpPr/>
          <p:nvPr>
            <p:custDataLst>
              <p:tags r:id="rId4"/>
            </p:custDataLst>
          </p:nvPr>
        </p:nvSpPr>
        <p:spPr>
          <a:xfrm>
            <a:off x="275590" y="1288415"/>
            <a:ext cx="5943600" cy="583565"/>
          </a:xfrm>
          <a:prstGeom prst="rect">
            <a:avLst/>
          </a:prstGeom>
          <a:noFill/>
          <a:ln w="9525">
            <a:noFill/>
          </a:ln>
        </p:spPr>
        <p:txBody>
          <a:bodyPr>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rPr>
              <a:t>【Stacking</a:t>
            </a:r>
            <a:r>
              <a:rPr lang="zh-CN" altLang="en-US" sz="3200">
                <a:solidFill>
                  <a:srgbClr val="990033"/>
                </a:solidFill>
                <a:effectLst>
                  <a:outerShdw blurRad="38100" dist="38100" dir="2700000">
                    <a:srgbClr val="000000"/>
                  </a:outerShdw>
                </a:effectLst>
                <a:latin typeface="Palatino Linotype" panose="02040502050505030304" charset="0"/>
                <a:ea typeface="楷体_GB2312" charset="-122"/>
              </a:rPr>
              <a:t>算法</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endParaRPr>
          </a:p>
        </p:txBody>
      </p:sp>
      <p:sp>
        <p:nvSpPr>
          <p:cNvPr id="4" name="文本框 3"/>
          <p:cNvSpPr txBox="1"/>
          <p:nvPr/>
        </p:nvSpPr>
        <p:spPr>
          <a:xfrm>
            <a:off x="908050" y="1952625"/>
            <a:ext cx="10396220" cy="1476375"/>
          </a:xfrm>
          <a:prstGeom prst="rect">
            <a:avLst/>
          </a:prstGeom>
          <a:noFill/>
        </p:spPr>
        <p:txBody>
          <a:bodyPr wrap="square" rtlCol="0" anchor="t">
            <a:spAutoFit/>
          </a:bodyPr>
          <a:p>
            <a:pPr>
              <a:lnSpc>
                <a:spcPct val="150000"/>
              </a:lnSpc>
            </a:pPr>
            <a:r>
              <a:rPr lang="zh-CN" altLang="en-US" sz="2000" dirty="0">
                <a:latin typeface="+mj-ea"/>
                <a:ea typeface="+mj-ea"/>
                <a:sym typeface="+mn-ea"/>
              </a:rPr>
              <a:t>将训练好的所有基模型对训练基进行预测，第</a:t>
            </a:r>
            <a:r>
              <a:rPr lang="en-US" altLang="zh-CN" sz="2000" dirty="0">
                <a:latin typeface="+mj-ea"/>
                <a:ea typeface="+mj-ea"/>
                <a:sym typeface="+mn-ea"/>
              </a:rPr>
              <a:t>j</a:t>
            </a:r>
            <a:r>
              <a:rPr lang="zh-CN" altLang="en-US" sz="2000" dirty="0">
                <a:latin typeface="+mj-ea"/>
                <a:ea typeface="+mj-ea"/>
                <a:sym typeface="+mn-ea"/>
              </a:rPr>
              <a:t>个基模型对第</a:t>
            </a:r>
            <a:r>
              <a:rPr lang="en-US" altLang="zh-CN" sz="2000" dirty="0" err="1">
                <a:latin typeface="+mj-ea"/>
                <a:ea typeface="+mj-ea"/>
                <a:sym typeface="+mn-ea"/>
              </a:rPr>
              <a:t>i</a:t>
            </a:r>
            <a:r>
              <a:rPr lang="zh-CN" altLang="en-US" sz="2000" dirty="0">
                <a:latin typeface="+mj-ea"/>
                <a:ea typeface="+mj-ea"/>
                <a:sym typeface="+mn-ea"/>
              </a:rPr>
              <a:t>个训练样本的预测值将作为新的训练集中第</a:t>
            </a:r>
            <a:r>
              <a:rPr lang="en-US" altLang="zh-CN" sz="2000" dirty="0" err="1">
                <a:latin typeface="+mj-ea"/>
                <a:ea typeface="+mj-ea"/>
                <a:sym typeface="+mn-ea"/>
              </a:rPr>
              <a:t>i</a:t>
            </a:r>
            <a:r>
              <a:rPr lang="zh-CN" altLang="en-US" sz="2000" dirty="0">
                <a:latin typeface="+mj-ea"/>
                <a:ea typeface="+mj-ea"/>
                <a:sym typeface="+mn-ea"/>
              </a:rPr>
              <a:t>个样本的第</a:t>
            </a:r>
            <a:r>
              <a:rPr lang="en-US" altLang="zh-CN" sz="2000" dirty="0">
                <a:latin typeface="+mj-ea"/>
                <a:ea typeface="+mj-ea"/>
                <a:sym typeface="+mn-ea"/>
              </a:rPr>
              <a:t>j</a:t>
            </a:r>
            <a:r>
              <a:rPr lang="zh-CN" altLang="en-US" sz="2000" dirty="0">
                <a:latin typeface="+mj-ea"/>
                <a:ea typeface="+mj-ea"/>
                <a:sym typeface="+mn-ea"/>
              </a:rPr>
              <a:t>个特征值，最后基于新的训练集进行训练。同理，预测的过程也要先经过所有基模型的预测形成新的测试集，最后再对测试集进行预测。</a:t>
            </a:r>
            <a:endParaRPr lang="zh-CN" altLang="en-US" sz="2000" dirty="0">
              <a:latin typeface="+mj-ea"/>
              <a:ea typeface="+mj-ea"/>
              <a:sym typeface="+mn-ea"/>
            </a:endParaRPr>
          </a:p>
        </p:txBody>
      </p:sp>
      <p:grpSp>
        <p:nvGrpSpPr>
          <p:cNvPr id="43" name="组合 42"/>
          <p:cNvGrpSpPr/>
          <p:nvPr/>
        </p:nvGrpSpPr>
        <p:grpSpPr>
          <a:xfrm>
            <a:off x="995363" y="3767138"/>
            <a:ext cx="9444091" cy="2608275"/>
            <a:chOff x="349144" y="2713049"/>
            <a:chExt cx="11376185" cy="3843339"/>
          </a:xfrm>
        </p:grpSpPr>
        <p:sp>
          <p:nvSpPr>
            <p:cNvPr id="7" name="矩形: 圆角 6"/>
            <p:cNvSpPr/>
            <p:nvPr>
              <p:custDataLst>
                <p:tags r:id="rId5"/>
              </p:custDataLst>
            </p:nvPr>
          </p:nvSpPr>
          <p:spPr>
            <a:xfrm>
              <a:off x="4489278" y="2713049"/>
              <a:ext cx="1905000" cy="38433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000" dirty="0"/>
            </a:p>
          </p:txBody>
        </p:sp>
        <p:sp>
          <p:nvSpPr>
            <p:cNvPr id="8" name="Google Shape;3379;p54"/>
            <p:cNvSpPr/>
            <p:nvPr>
              <p:custDataLst>
                <p:tags r:id="rId6"/>
              </p:custDataLst>
            </p:nvPr>
          </p:nvSpPr>
          <p:spPr>
            <a:xfrm>
              <a:off x="2303478" y="5756100"/>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sz="2000" dirty="0"/>
                <a:t>模型</a:t>
              </a:r>
              <a:r>
                <a:rPr lang="en-US" altLang="zh-CN" sz="2000" dirty="0"/>
                <a:t>n</a:t>
              </a:r>
              <a:endParaRPr sz="2000" dirty="0"/>
            </a:p>
          </p:txBody>
        </p:sp>
        <p:sp>
          <p:nvSpPr>
            <p:cNvPr id="9" name="Google Shape;3381;p54"/>
            <p:cNvSpPr/>
            <p:nvPr>
              <p:custDataLst>
                <p:tags r:id="rId7"/>
              </p:custDataLst>
            </p:nvPr>
          </p:nvSpPr>
          <p:spPr>
            <a:xfrm>
              <a:off x="2303478" y="4778274"/>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en-US" altLang="zh-CN" sz="2000" dirty="0"/>
                <a:t>……</a:t>
              </a:r>
              <a:endParaRPr sz="2000" dirty="0"/>
            </a:p>
          </p:txBody>
        </p:sp>
        <p:sp>
          <p:nvSpPr>
            <p:cNvPr id="10" name="Google Shape;3382;p54"/>
            <p:cNvSpPr/>
            <p:nvPr>
              <p:custDataLst>
                <p:tags r:id="rId8"/>
              </p:custDataLst>
            </p:nvPr>
          </p:nvSpPr>
          <p:spPr>
            <a:xfrm>
              <a:off x="2303478" y="2900963"/>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sz="2000" dirty="0"/>
                <a:t>模型</a:t>
              </a:r>
              <a:r>
                <a:rPr lang="en-US" altLang="zh-CN" sz="2000" dirty="0"/>
                <a:t>1</a:t>
              </a:r>
              <a:endParaRPr sz="2000" dirty="0"/>
            </a:p>
          </p:txBody>
        </p:sp>
        <p:sp>
          <p:nvSpPr>
            <p:cNvPr id="11" name="Google Shape;3383;p54"/>
            <p:cNvSpPr/>
            <p:nvPr>
              <p:custDataLst>
                <p:tags r:id="rId9"/>
              </p:custDataLst>
            </p:nvPr>
          </p:nvSpPr>
          <p:spPr>
            <a:xfrm>
              <a:off x="2303478" y="3846525"/>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sz="2000" dirty="0"/>
                <a:t>模型</a:t>
              </a:r>
              <a:r>
                <a:rPr lang="en-US" altLang="zh-CN" sz="2000" dirty="0"/>
                <a:t>2</a:t>
              </a:r>
              <a:endParaRPr sz="2000" dirty="0"/>
            </a:p>
          </p:txBody>
        </p:sp>
        <p:cxnSp>
          <p:nvCxnSpPr>
            <p:cNvPr id="12" name="Google Shape;3386;p54"/>
            <p:cNvCxnSpPr>
              <a:endCxn id="9" idx="1"/>
            </p:cNvCxnSpPr>
            <p:nvPr>
              <p:custDataLst>
                <p:tags r:id="rId10"/>
              </p:custDataLst>
            </p:nvPr>
          </p:nvCxnSpPr>
          <p:spPr>
            <a:xfrm>
              <a:off x="1198757" y="4453248"/>
              <a:ext cx="1104721" cy="651426"/>
            </a:xfrm>
            <a:prstGeom prst="straightConnector1">
              <a:avLst/>
            </a:prstGeom>
            <a:noFill/>
            <a:ln w="19050" cap="flat" cmpd="sng">
              <a:solidFill>
                <a:schemeClr val="dk2"/>
              </a:solidFill>
              <a:prstDash val="solid"/>
              <a:round/>
              <a:headEnd type="none" w="med" len="med"/>
              <a:tailEnd type="triangle" w="med" len="med"/>
            </a:ln>
          </p:spPr>
        </p:cxnSp>
        <p:cxnSp>
          <p:nvCxnSpPr>
            <p:cNvPr id="13" name="Google Shape;3387;p54"/>
            <p:cNvCxnSpPr>
              <a:endCxn id="10" idx="1"/>
            </p:cNvCxnSpPr>
            <p:nvPr>
              <p:custDataLst>
                <p:tags r:id="rId11"/>
              </p:custDataLst>
            </p:nvPr>
          </p:nvCxnSpPr>
          <p:spPr>
            <a:xfrm flipV="1">
              <a:off x="1198757" y="3227363"/>
              <a:ext cx="1104721" cy="1225885"/>
            </a:xfrm>
            <a:prstGeom prst="straightConnector1">
              <a:avLst/>
            </a:prstGeom>
            <a:noFill/>
            <a:ln w="19050" cap="flat" cmpd="sng">
              <a:solidFill>
                <a:schemeClr val="dk2"/>
              </a:solidFill>
              <a:prstDash val="solid"/>
              <a:round/>
              <a:headEnd type="none" w="med" len="med"/>
              <a:tailEnd type="triangle" w="med" len="med"/>
            </a:ln>
          </p:spPr>
        </p:cxnSp>
        <p:cxnSp>
          <p:nvCxnSpPr>
            <p:cNvPr id="14" name="Google Shape;3388;p54"/>
            <p:cNvCxnSpPr>
              <a:endCxn id="8" idx="1"/>
            </p:cNvCxnSpPr>
            <p:nvPr>
              <p:custDataLst>
                <p:tags r:id="rId12"/>
              </p:custDataLst>
            </p:nvPr>
          </p:nvCxnSpPr>
          <p:spPr>
            <a:xfrm>
              <a:off x="1198757" y="4453248"/>
              <a:ext cx="1104721" cy="1629252"/>
            </a:xfrm>
            <a:prstGeom prst="straightConnector1">
              <a:avLst/>
            </a:prstGeom>
            <a:noFill/>
            <a:ln w="19050" cap="flat" cmpd="sng">
              <a:solidFill>
                <a:schemeClr val="dk2"/>
              </a:solidFill>
              <a:prstDash val="solid"/>
              <a:round/>
              <a:headEnd type="none" w="med" len="med"/>
              <a:tailEnd type="triangle" w="med" len="med"/>
            </a:ln>
          </p:spPr>
        </p:cxnSp>
        <p:cxnSp>
          <p:nvCxnSpPr>
            <p:cNvPr id="15" name="Google Shape;3386;p54"/>
            <p:cNvCxnSpPr/>
            <p:nvPr>
              <p:custDataLst>
                <p:tags r:id="rId13"/>
              </p:custDataLst>
            </p:nvPr>
          </p:nvCxnSpPr>
          <p:spPr>
            <a:xfrm flipV="1">
              <a:off x="1198757" y="4228003"/>
              <a:ext cx="1108926" cy="228702"/>
            </a:xfrm>
            <a:prstGeom prst="straightConnector1">
              <a:avLst/>
            </a:prstGeom>
            <a:noFill/>
            <a:ln w="19050" cap="flat" cmpd="sng">
              <a:solidFill>
                <a:schemeClr val="dk2"/>
              </a:solidFill>
              <a:prstDash val="solid"/>
              <a:round/>
              <a:headEnd type="none" w="med" len="med"/>
              <a:tailEnd type="triangle" w="med" len="med"/>
            </a:ln>
          </p:spPr>
        </p:cxnSp>
        <p:sp>
          <p:nvSpPr>
            <p:cNvPr id="16" name="Google Shape;3379;p54"/>
            <p:cNvSpPr/>
            <p:nvPr>
              <p:custDataLst>
                <p:tags r:id="rId14"/>
              </p:custDataLst>
            </p:nvPr>
          </p:nvSpPr>
          <p:spPr>
            <a:xfrm>
              <a:off x="4694253" y="5756100"/>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sz="2000" dirty="0"/>
                <a:t>预测</a:t>
              </a:r>
              <a:r>
                <a:rPr lang="en-US" altLang="zh-CN" sz="2000" dirty="0"/>
                <a:t>n</a:t>
              </a:r>
              <a:endParaRPr sz="2000" dirty="0"/>
            </a:p>
          </p:txBody>
        </p:sp>
        <p:sp>
          <p:nvSpPr>
            <p:cNvPr id="17" name="Google Shape;3381;p54"/>
            <p:cNvSpPr/>
            <p:nvPr>
              <p:custDataLst>
                <p:tags r:id="rId15"/>
              </p:custDataLst>
            </p:nvPr>
          </p:nvSpPr>
          <p:spPr>
            <a:xfrm>
              <a:off x="4694253" y="4778274"/>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en-US" altLang="zh-CN" sz="2000" dirty="0"/>
                <a:t>……</a:t>
              </a:r>
              <a:endParaRPr sz="2000" dirty="0"/>
            </a:p>
          </p:txBody>
        </p:sp>
        <p:sp>
          <p:nvSpPr>
            <p:cNvPr id="5" name="Google Shape;3382;p54"/>
            <p:cNvSpPr/>
            <p:nvPr>
              <p:custDataLst>
                <p:tags r:id="rId16"/>
              </p:custDataLst>
            </p:nvPr>
          </p:nvSpPr>
          <p:spPr>
            <a:xfrm>
              <a:off x="4694253" y="2900963"/>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sz="2000" dirty="0"/>
                <a:t>预测</a:t>
              </a:r>
              <a:r>
                <a:rPr lang="en-US" altLang="zh-CN" sz="2000" dirty="0"/>
                <a:t>1</a:t>
              </a:r>
              <a:endParaRPr sz="2000" dirty="0"/>
            </a:p>
          </p:txBody>
        </p:sp>
        <p:sp>
          <p:nvSpPr>
            <p:cNvPr id="19" name="Google Shape;3383;p54"/>
            <p:cNvSpPr/>
            <p:nvPr>
              <p:custDataLst>
                <p:tags r:id="rId17"/>
              </p:custDataLst>
            </p:nvPr>
          </p:nvSpPr>
          <p:spPr>
            <a:xfrm>
              <a:off x="4694253" y="3846525"/>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sz="2000" dirty="0"/>
                <a:t>预测</a:t>
              </a:r>
              <a:r>
                <a:rPr lang="en-US" altLang="zh-CN" sz="2000" dirty="0"/>
                <a:t>2</a:t>
              </a:r>
              <a:endParaRPr sz="2000" dirty="0"/>
            </a:p>
          </p:txBody>
        </p:sp>
        <p:cxnSp>
          <p:nvCxnSpPr>
            <p:cNvPr id="6" name="Google Shape;3386;p54"/>
            <p:cNvCxnSpPr>
              <a:stCxn id="10" idx="3"/>
              <a:endCxn id="5" idx="1"/>
            </p:cNvCxnSpPr>
            <p:nvPr>
              <p:custDataLst>
                <p:tags r:id="rId18"/>
              </p:custDataLst>
            </p:nvPr>
          </p:nvCxnSpPr>
          <p:spPr>
            <a:xfrm>
              <a:off x="3799878" y="3227363"/>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21" name="Google Shape;3386;p54"/>
            <p:cNvCxnSpPr/>
            <p:nvPr>
              <p:custDataLst>
                <p:tags r:id="rId19"/>
              </p:custDataLst>
            </p:nvPr>
          </p:nvCxnSpPr>
          <p:spPr>
            <a:xfrm>
              <a:off x="3799877" y="6082463"/>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23" name="Google Shape;3386;p54"/>
            <p:cNvCxnSpPr/>
            <p:nvPr>
              <p:custDataLst>
                <p:tags r:id="rId20"/>
              </p:custDataLst>
            </p:nvPr>
          </p:nvCxnSpPr>
          <p:spPr>
            <a:xfrm>
              <a:off x="3799878" y="5104637"/>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24" name="Google Shape;3386;p54"/>
            <p:cNvCxnSpPr/>
            <p:nvPr>
              <p:custDataLst>
                <p:tags r:id="rId21"/>
              </p:custDataLst>
            </p:nvPr>
          </p:nvCxnSpPr>
          <p:spPr>
            <a:xfrm>
              <a:off x="3799878" y="4172888"/>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25" name="Google Shape;3386;p54"/>
            <p:cNvCxnSpPr>
              <a:stCxn id="5" idx="3"/>
            </p:cNvCxnSpPr>
            <p:nvPr>
              <p:custDataLst>
                <p:tags r:id="rId22"/>
              </p:custDataLst>
            </p:nvPr>
          </p:nvCxnSpPr>
          <p:spPr>
            <a:xfrm>
              <a:off x="6190653" y="3227363"/>
              <a:ext cx="1389581" cy="1108762"/>
            </a:xfrm>
            <a:prstGeom prst="straightConnector1">
              <a:avLst/>
            </a:prstGeom>
            <a:noFill/>
            <a:ln w="19050" cap="flat" cmpd="sng">
              <a:solidFill>
                <a:schemeClr val="dk2"/>
              </a:solidFill>
              <a:prstDash val="solid"/>
              <a:round/>
              <a:headEnd type="none" w="med" len="med"/>
              <a:tailEnd type="triangle" w="med" len="med"/>
            </a:ln>
          </p:spPr>
        </p:cxnSp>
        <p:cxnSp>
          <p:nvCxnSpPr>
            <p:cNvPr id="26" name="Google Shape;3386;p54"/>
            <p:cNvCxnSpPr>
              <a:stCxn id="19" idx="3"/>
            </p:cNvCxnSpPr>
            <p:nvPr>
              <p:custDataLst>
                <p:tags r:id="rId23"/>
              </p:custDataLst>
            </p:nvPr>
          </p:nvCxnSpPr>
          <p:spPr>
            <a:xfrm>
              <a:off x="6190653" y="4172925"/>
              <a:ext cx="1389581" cy="326400"/>
            </a:xfrm>
            <a:prstGeom prst="straightConnector1">
              <a:avLst/>
            </a:prstGeom>
            <a:noFill/>
            <a:ln w="19050" cap="flat" cmpd="sng">
              <a:solidFill>
                <a:schemeClr val="dk2"/>
              </a:solidFill>
              <a:prstDash val="solid"/>
              <a:round/>
              <a:headEnd type="none" w="med" len="med"/>
              <a:tailEnd type="triangle" w="med" len="med"/>
            </a:ln>
          </p:spPr>
        </p:cxnSp>
        <p:cxnSp>
          <p:nvCxnSpPr>
            <p:cNvPr id="27" name="Google Shape;3386;p54"/>
            <p:cNvCxnSpPr/>
            <p:nvPr>
              <p:custDataLst>
                <p:tags r:id="rId24"/>
              </p:custDataLst>
            </p:nvPr>
          </p:nvCxnSpPr>
          <p:spPr>
            <a:xfrm flipV="1">
              <a:off x="6190653" y="4563883"/>
              <a:ext cx="1389581" cy="514470"/>
            </a:xfrm>
            <a:prstGeom prst="straightConnector1">
              <a:avLst/>
            </a:prstGeom>
            <a:noFill/>
            <a:ln w="19050" cap="flat" cmpd="sng">
              <a:solidFill>
                <a:schemeClr val="dk2"/>
              </a:solidFill>
              <a:prstDash val="solid"/>
              <a:round/>
              <a:headEnd type="none" w="med" len="med"/>
              <a:tailEnd type="triangle" w="med" len="med"/>
            </a:ln>
          </p:spPr>
        </p:cxnSp>
        <p:cxnSp>
          <p:nvCxnSpPr>
            <p:cNvPr id="28" name="Google Shape;3386;p54"/>
            <p:cNvCxnSpPr>
              <a:stCxn id="16" idx="3"/>
            </p:cNvCxnSpPr>
            <p:nvPr>
              <p:custDataLst>
                <p:tags r:id="rId25"/>
              </p:custDataLst>
            </p:nvPr>
          </p:nvCxnSpPr>
          <p:spPr>
            <a:xfrm flipV="1">
              <a:off x="6190653" y="4673539"/>
              <a:ext cx="1389581" cy="1408961"/>
            </a:xfrm>
            <a:prstGeom prst="straightConnector1">
              <a:avLst/>
            </a:prstGeom>
            <a:noFill/>
            <a:ln w="19050" cap="flat" cmpd="sng">
              <a:solidFill>
                <a:schemeClr val="dk2"/>
              </a:solidFill>
              <a:prstDash val="solid"/>
              <a:round/>
              <a:headEnd type="none" w="med" len="med"/>
              <a:tailEnd type="triangle" w="med" len="med"/>
            </a:ln>
          </p:spPr>
        </p:cxnSp>
        <p:sp>
          <p:nvSpPr>
            <p:cNvPr id="29" name="矩形: 圆角 27"/>
            <p:cNvSpPr/>
            <p:nvPr>
              <p:custDataLst>
                <p:tags r:id="rId26"/>
              </p:custDataLst>
            </p:nvPr>
          </p:nvSpPr>
          <p:spPr>
            <a:xfrm>
              <a:off x="349144" y="3553763"/>
              <a:ext cx="915868" cy="1664912"/>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p>
              <a:pPr algn="ctr"/>
              <a:r>
                <a:rPr lang="zh-CN" altLang="en-US" sz="1800" dirty="0">
                  <a:latin typeface="+mj-ea"/>
                  <a:ea typeface="+mj-ea"/>
                </a:rPr>
                <a:t>训练数据</a:t>
              </a:r>
              <a:endParaRPr lang="zh-CN" altLang="en-US" sz="1800" dirty="0">
                <a:latin typeface="+mj-ea"/>
                <a:ea typeface="+mj-ea"/>
              </a:endParaRPr>
            </a:p>
          </p:txBody>
        </p:sp>
        <p:sp>
          <p:nvSpPr>
            <p:cNvPr id="30" name="Google Shape;3380;p54"/>
            <p:cNvSpPr/>
            <p:nvPr>
              <p:custDataLst>
                <p:tags r:id="rId27"/>
              </p:custDataLst>
            </p:nvPr>
          </p:nvSpPr>
          <p:spPr>
            <a:xfrm>
              <a:off x="7580234" y="3632462"/>
              <a:ext cx="747840" cy="1583175"/>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sz="1600" dirty="0"/>
                <a:t>第二层数据</a:t>
              </a:r>
              <a:endParaRPr sz="1600" dirty="0"/>
            </a:p>
          </p:txBody>
        </p:sp>
        <p:sp>
          <p:nvSpPr>
            <p:cNvPr id="31" name="Google Shape;3380;p54"/>
            <p:cNvSpPr/>
            <p:nvPr>
              <p:custDataLst>
                <p:tags r:id="rId28"/>
              </p:custDataLst>
            </p:nvPr>
          </p:nvSpPr>
          <p:spPr>
            <a:xfrm>
              <a:off x="9054905" y="3635498"/>
              <a:ext cx="1195753" cy="1583175"/>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en-US" altLang="zh-CN" sz="1600" dirty="0"/>
                <a:t>Stacking</a:t>
              </a:r>
              <a:endParaRPr sz="1600" dirty="0"/>
            </a:p>
          </p:txBody>
        </p:sp>
        <p:cxnSp>
          <p:nvCxnSpPr>
            <p:cNvPr id="32" name="Google Shape;3386;p54"/>
            <p:cNvCxnSpPr/>
            <p:nvPr>
              <p:custDataLst>
                <p:tags r:id="rId29"/>
              </p:custDataLst>
            </p:nvPr>
          </p:nvCxnSpPr>
          <p:spPr>
            <a:xfrm>
              <a:off x="8328074" y="4453248"/>
              <a:ext cx="726831" cy="0"/>
            </a:xfrm>
            <a:prstGeom prst="straightConnector1">
              <a:avLst/>
            </a:prstGeom>
            <a:noFill/>
            <a:ln w="19050" cap="flat" cmpd="sng">
              <a:solidFill>
                <a:schemeClr val="dk2"/>
              </a:solidFill>
              <a:prstDash val="solid"/>
              <a:round/>
              <a:headEnd type="none" w="med" len="med"/>
              <a:tailEnd type="triangle" w="med" len="med"/>
            </a:ln>
          </p:spPr>
        </p:cxnSp>
        <p:sp>
          <p:nvSpPr>
            <p:cNvPr id="33" name="Google Shape;3380;p54"/>
            <p:cNvSpPr/>
            <p:nvPr>
              <p:custDataLst>
                <p:tags r:id="rId30"/>
              </p:custDataLst>
            </p:nvPr>
          </p:nvSpPr>
          <p:spPr>
            <a:xfrm>
              <a:off x="10977489" y="3635498"/>
              <a:ext cx="747840" cy="1583175"/>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p>
              <a:pPr marL="0" lvl="0" indent="0" algn="ctr" rtl="0">
                <a:spcBef>
                  <a:spcPts val="0"/>
                </a:spcBef>
                <a:spcAft>
                  <a:spcPts val="0"/>
                </a:spcAft>
                <a:buNone/>
              </a:pPr>
              <a:r>
                <a:rPr lang="zh-CN" altLang="en-US" sz="1600" dirty="0"/>
                <a:t>最终预测结果</a:t>
              </a:r>
              <a:endParaRPr sz="1600" dirty="0"/>
            </a:p>
          </p:txBody>
        </p:sp>
        <p:cxnSp>
          <p:nvCxnSpPr>
            <p:cNvPr id="34" name="Google Shape;3386;p54"/>
            <p:cNvCxnSpPr/>
            <p:nvPr>
              <p:custDataLst>
                <p:tags r:id="rId31"/>
              </p:custDataLst>
            </p:nvPr>
          </p:nvCxnSpPr>
          <p:spPr>
            <a:xfrm>
              <a:off x="10250658" y="4453248"/>
              <a:ext cx="726831" cy="0"/>
            </a:xfrm>
            <a:prstGeom prst="straightConnector1">
              <a:avLst/>
            </a:prstGeom>
            <a:noFill/>
            <a:ln w="19050" cap="flat" cmpd="sng">
              <a:solidFill>
                <a:schemeClr val="dk2"/>
              </a:solidFill>
              <a:prstDash val="solid"/>
              <a:round/>
              <a:headEnd type="none" w="med" len="med"/>
              <a:tailEnd type="triangle" w="med" len="med"/>
            </a:ln>
          </p:spPr>
        </p:cxnSp>
      </p:grpSp>
      <p:sp>
        <p:nvSpPr>
          <p:cNvPr id="35" name="文本框 34"/>
          <p:cNvSpPr txBox="1"/>
          <p:nvPr>
            <p:custDataLst>
              <p:tags r:id="rId32"/>
            </p:custDataLst>
          </p:nvPr>
        </p:nvSpPr>
        <p:spPr>
          <a:xfrm>
            <a:off x="11609705" y="6459220"/>
            <a:ext cx="582295" cy="398780"/>
          </a:xfrm>
          <a:prstGeom prst="rect">
            <a:avLst/>
          </a:prstGeom>
          <a:noFill/>
        </p:spPr>
        <p:txBody>
          <a:bodyPr wrap="square" rtlCol="0" anchor="t">
            <a:spAutoFit/>
          </a:bodyPr>
          <a:p>
            <a:r>
              <a:rPr lang="en-US" altLang="zh-CN" sz="2000">
                <a:latin typeface="楷体_GB2312" charset="-122"/>
                <a:ea typeface="楷体_GB2312" charset="-122"/>
                <a:sym typeface="+mn-ea"/>
              </a:rPr>
              <a:t>46</a:t>
            </a:r>
            <a:endParaRPr lang="en-US" altLang="zh-CN" sz="2000">
              <a:latin typeface="楷体_GB2312" charset="-122"/>
              <a:ea typeface="楷体_GB2312"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764921" y="1479575"/>
            <a:ext cx="11522709" cy="4571365"/>
          </a:xfrm>
          <a:prstGeom prst="rect">
            <a:avLst/>
          </a:prstGeom>
        </p:spPr>
        <p:txBody>
          <a:bodyPr vert="horz" wrap="square" lIns="0" tIns="0" rIns="0" bIns="0"/>
          <a:lstStyle/>
          <a:p>
            <a:pPr algn="l" rtl="0" eaLnBrk="0">
              <a:lnSpc>
                <a:spcPct val="73000"/>
              </a:lnSpc>
            </a:pPr>
            <a:endParaRPr lang="en-US" altLang="en-US" sz="100" dirty="0"/>
          </a:p>
          <a:p>
            <a:pPr marL="303530" algn="l" rtl="0" eaLnBrk="0">
              <a:lnSpc>
                <a:spcPct val="88000"/>
              </a:lnSpc>
              <a:tabLst>
                <a:tab pos="5575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p:txBody>
      </p:sp>
      <p:grpSp>
        <p:nvGrpSpPr>
          <p:cNvPr id="3" name="group 2"/>
          <p:cNvGrpSpPr/>
          <p:nvPr/>
        </p:nvGrpSpPr>
        <p:grpSpPr>
          <a:xfrm rot="21600000">
            <a:off x="126609" y="147616"/>
            <a:ext cx="2722051" cy="688004"/>
            <a:chOff x="0" y="0"/>
            <a:chExt cx="2722051" cy="688004"/>
          </a:xfrm>
        </p:grpSpPr>
        <p:pic>
          <p:nvPicPr>
            <p:cNvPr id="18" name="picture 18"/>
            <p:cNvPicPr>
              <a:picLocks noChangeAspect="1"/>
            </p:cNvPicPr>
            <p:nvPr/>
          </p:nvPicPr>
          <p:blipFill>
            <a:blip r:embed="rId1"/>
            <a:stretch>
              <a:fillRect/>
            </a:stretch>
          </p:blipFill>
          <p:spPr>
            <a:xfrm rot="21600000">
              <a:off x="0" y="29636"/>
              <a:ext cx="2696776" cy="658368"/>
            </a:xfrm>
            <a:prstGeom prst="rect">
              <a:avLst/>
            </a:prstGeom>
          </p:spPr>
        </p:pic>
        <p:sp>
          <p:nvSpPr>
            <p:cNvPr id="20" name="textbox 2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22" name="picture 22"/>
          <p:cNvPicPr>
            <a:picLocks noChangeAspect="1"/>
          </p:cNvPicPr>
          <p:nvPr/>
        </p:nvPicPr>
        <p:blipFill>
          <a:blip r:embed="rId2"/>
          <a:stretch>
            <a:fillRect/>
          </a:stretch>
        </p:blipFill>
        <p:spPr>
          <a:xfrm rot="21600000">
            <a:off x="10668" y="981455"/>
            <a:ext cx="12181331" cy="45720"/>
          </a:xfrm>
          <a:prstGeom prst="rect">
            <a:avLst/>
          </a:prstGeom>
        </p:spPr>
      </p:pic>
      <p:sp>
        <p:nvSpPr>
          <p:cNvPr id="40" name="textbox 40"/>
          <p:cNvSpPr/>
          <p:nvPr>
            <p:custDataLst>
              <p:tags r:id="rId3"/>
            </p:custDataLst>
          </p:nvPr>
        </p:nvSpPr>
        <p:spPr>
          <a:xfrm>
            <a:off x="1559560" y="1479550"/>
            <a:ext cx="5701030" cy="2787650"/>
          </a:xfrm>
          <a:prstGeom prst="rect">
            <a:avLst/>
          </a:prstGeom>
        </p:spPr>
        <p:txBody>
          <a:bodyPr vert="horz" wrap="square" lIns="0" tIns="0" rIns="0" bIns="0"/>
          <a:p>
            <a:pPr algn="l" rtl="0" eaLnBrk="0">
              <a:lnSpc>
                <a:spcPct val="82000"/>
              </a:lnSpc>
            </a:pPr>
            <a:endParaRPr lang="en-US" altLang="en-US" sz="100" dirty="0"/>
          </a:p>
          <a:p>
            <a:pPr marL="55880" algn="l" rtl="0" eaLnBrk="0">
              <a:lnSpc>
                <a:spcPct val="93000"/>
              </a:lnSpc>
            </a:pPr>
            <a:endParaRPr lang="en-US" altLang="en-US" sz="2000" dirty="0">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548005" y="134683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【Boosting</a:t>
            </a:r>
            <a:r>
              <a:rPr lang="zh-CN"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算法存在问题</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2569" name="文本占位符 2568"/>
          <p:cNvSpPr/>
          <p:nvPr>
            <p:custDataLst>
              <p:tags r:id="rId4"/>
            </p:custDataLst>
          </p:nvPr>
        </p:nvSpPr>
        <p:spPr>
          <a:xfrm>
            <a:off x="1012825" y="2000250"/>
            <a:ext cx="7983220" cy="3345815"/>
          </a:xfrm>
          <a:prstGeom prst="rect">
            <a:avLst/>
          </a:prstGeom>
          <a:noFill/>
          <a:ln w="9525">
            <a:noFill/>
          </a:ln>
        </p:spPr>
        <p:txBody>
          <a:bodyPr/>
          <a:lstStyle>
            <a:lvl1pPr marL="342900" lvl="0" indent="-342900" algn="l" defTabSz="914400" rtl="0" eaLnBrk="0" fontAlgn="base" latinLnBrk="0" hangingPunct="0">
              <a:lnSpc>
                <a:spcPct val="100000"/>
              </a:lnSpc>
              <a:spcBef>
                <a:spcPct val="20000"/>
              </a:spcBef>
              <a:spcAft>
                <a:spcPct val="0"/>
              </a:spcAft>
              <a:buSzPct val="100000"/>
              <a:buChar char="•"/>
              <a:defRPr sz="3200" b="0" i="0" u="none" kern="1200">
                <a:solidFill>
                  <a:schemeClr val="tx1"/>
                </a:solidFill>
                <a:latin typeface="+mn-lt"/>
                <a:ea typeface="+mn-ea"/>
                <a:cs typeface="+mn-cs"/>
              </a:defRPr>
            </a:lvl1pPr>
            <a:lvl2pPr marL="742950" lvl="1" indent="-285750" algn="l" defTabSz="914400" rtl="0" eaLnBrk="0" fontAlgn="base" latinLnBrk="0" hangingPunct="0">
              <a:lnSpc>
                <a:spcPct val="100000"/>
              </a:lnSpc>
              <a:spcBef>
                <a:spcPct val="20000"/>
              </a:spcBef>
              <a:spcAft>
                <a:spcPct val="0"/>
              </a:spcAft>
              <a:buSzPct val="100000"/>
              <a:buFontTx/>
              <a:buChar char="–"/>
              <a:defRPr sz="2800" b="0" i="0" u="none" kern="1200">
                <a:solidFill>
                  <a:schemeClr val="tx1"/>
                </a:solidFill>
                <a:latin typeface="Arial" panose="020B0604020202020204" pitchFamily="34" charset="0"/>
                <a:ea typeface="宋体" panose="02010600030101010101" pitchFamily="2" charset="-122"/>
                <a:cs typeface="+mn-cs"/>
              </a:defRPr>
            </a:lvl2pPr>
            <a:lvl3pPr marL="1143000" lvl="2" indent="-228600" algn="l" defTabSz="914400" rtl="0" eaLnBrk="0" fontAlgn="base" latinLnBrk="0" hangingPunct="0">
              <a:lnSpc>
                <a:spcPct val="100000"/>
              </a:lnSpc>
              <a:spcBef>
                <a:spcPct val="20000"/>
              </a:spcBef>
              <a:spcAft>
                <a:spcPct val="0"/>
              </a:spcAft>
              <a:buSzPct val="100000"/>
              <a:buFontTx/>
              <a:buChar char="•"/>
              <a:defRPr sz="2400" b="0" i="0" u="none" kern="1200">
                <a:solidFill>
                  <a:schemeClr val="tx1"/>
                </a:solidFill>
                <a:latin typeface="Arial" panose="020B0604020202020204" pitchFamily="34" charset="0"/>
                <a:ea typeface="宋体" panose="02010600030101010101" pitchFamily="2" charset="-122"/>
                <a:cs typeface="+mn-cs"/>
              </a:defRPr>
            </a:lvl3pPr>
            <a:lvl4pPr marL="1600200" lvl="3" indent="-228600" algn="l" defTabSz="914400" rtl="0" eaLnBrk="0" fontAlgn="base" latinLnBrk="0" hangingPunct="0">
              <a:lnSpc>
                <a:spcPct val="100000"/>
              </a:lnSpc>
              <a:spcBef>
                <a:spcPct val="20000"/>
              </a:spcBef>
              <a:spcAft>
                <a:spcPct val="0"/>
              </a:spcAft>
              <a:buSzPct val="100000"/>
              <a:buFontTx/>
              <a:buChar char="–"/>
              <a:defRPr sz="2000" b="0" i="0" u="none" kern="1200">
                <a:solidFill>
                  <a:schemeClr val="tx1"/>
                </a:solidFill>
                <a:latin typeface="Arial" panose="020B0604020202020204" pitchFamily="34" charset="0"/>
                <a:ea typeface="宋体" panose="02010600030101010101" pitchFamily="2" charset="-122"/>
                <a:cs typeface="+mn-cs"/>
              </a:defRPr>
            </a:lvl4pPr>
            <a:lvl5pPr marL="2057400" lvl="4" indent="-228600" algn="l" defTabSz="914400" rtl="0" eaLnBrk="0" fontAlgn="base" latinLnBrk="0" hangingPunct="0">
              <a:lnSpc>
                <a:spcPct val="100000"/>
              </a:lnSpc>
              <a:spcBef>
                <a:spcPct val="20000"/>
              </a:spcBef>
              <a:spcAft>
                <a:spcPct val="0"/>
              </a:spcAft>
              <a:buSzPct val="100000"/>
              <a:buFontTx/>
              <a:buChar char="»"/>
              <a:defRPr sz="2000" b="0" i="0" u="none" kern="1200">
                <a:solidFill>
                  <a:schemeClr val="tx1"/>
                </a:solidFill>
                <a:latin typeface="Arial" panose="020B0604020202020204" pitchFamily="34" charset="0"/>
                <a:ea typeface="宋体" panose="02010600030101010101" pitchFamily="2" charset="-122"/>
                <a:cs typeface="+mn-cs"/>
              </a:defRPr>
            </a:lvl5pPr>
            <a:lvl6pPr marL="2514600" lvl="5" indent="-228600" algn="l" defTabSz="914400" rtl="0" eaLnBrk="0" fontAlgn="base" latinLnBrk="0" hangingPunct="0">
              <a:lnSpc>
                <a:spcPct val="100000"/>
              </a:lnSpc>
              <a:spcBef>
                <a:spcPct val="20000"/>
              </a:spcBef>
              <a:spcAft>
                <a:spcPct val="0"/>
              </a:spcAft>
              <a:buClrTx/>
              <a:buSzPct val="100000"/>
              <a:buFontTx/>
              <a:buChar char="»"/>
              <a:defRPr sz="2000" b="0" i="0" u="none" kern="1200">
                <a:solidFill>
                  <a:schemeClr val="tx1"/>
                </a:solidFill>
                <a:latin typeface="Arial" panose="020B0604020202020204" pitchFamily="34" charset="0"/>
                <a:ea typeface="宋体" panose="02010600030101010101" pitchFamily="2" charset="-122"/>
                <a:cs typeface="+mn-cs"/>
              </a:defRPr>
            </a:lvl6pPr>
            <a:lvl7pPr marL="2971800" lvl="6" indent="-228600" algn="l" defTabSz="914400" rtl="0" eaLnBrk="0" fontAlgn="base" latinLnBrk="0" hangingPunct="0">
              <a:lnSpc>
                <a:spcPct val="100000"/>
              </a:lnSpc>
              <a:spcBef>
                <a:spcPct val="20000"/>
              </a:spcBef>
              <a:spcAft>
                <a:spcPct val="0"/>
              </a:spcAft>
              <a:buClrTx/>
              <a:buSzPct val="100000"/>
              <a:buFontTx/>
              <a:buChar char="»"/>
              <a:defRPr sz="2000" b="0" i="0" u="none" kern="1200">
                <a:solidFill>
                  <a:schemeClr val="tx1"/>
                </a:solidFill>
                <a:latin typeface="Arial" panose="020B0604020202020204" pitchFamily="34" charset="0"/>
                <a:ea typeface="宋体" panose="02010600030101010101" pitchFamily="2" charset="-122"/>
                <a:cs typeface="+mn-cs"/>
              </a:defRPr>
            </a:lvl7pPr>
            <a:lvl8pPr marL="3429000" lvl="7" indent="-228600" algn="l" defTabSz="914400" rtl="0" eaLnBrk="0" fontAlgn="base" latinLnBrk="0" hangingPunct="0">
              <a:lnSpc>
                <a:spcPct val="100000"/>
              </a:lnSpc>
              <a:spcBef>
                <a:spcPct val="20000"/>
              </a:spcBef>
              <a:spcAft>
                <a:spcPct val="0"/>
              </a:spcAft>
              <a:buClrTx/>
              <a:buSzPct val="100000"/>
              <a:buFontTx/>
              <a:buChar char="»"/>
              <a:defRPr sz="2000" b="0" i="0" u="none" kern="1200">
                <a:solidFill>
                  <a:schemeClr val="tx1"/>
                </a:solidFill>
                <a:latin typeface="Arial" panose="020B0604020202020204" pitchFamily="34" charset="0"/>
                <a:ea typeface="宋体" panose="02010600030101010101" pitchFamily="2" charset="-122"/>
                <a:cs typeface="+mn-cs"/>
              </a:defRPr>
            </a:lvl8pPr>
            <a:lvl9pPr marL="3886200" lvl="8" indent="-228600" algn="l" defTabSz="914400" rtl="0" eaLnBrk="0" fontAlgn="base" latinLnBrk="0" hangingPunct="0">
              <a:lnSpc>
                <a:spcPct val="100000"/>
              </a:lnSpc>
              <a:spcBef>
                <a:spcPct val="20000"/>
              </a:spcBef>
              <a:spcAft>
                <a:spcPct val="0"/>
              </a:spcAft>
              <a:buClrTx/>
              <a:buSzPct val="100000"/>
              <a:buFontTx/>
              <a:buChar char="»"/>
              <a:defRPr sz="2000" b="0" i="0" u="none" kern="1200">
                <a:solidFill>
                  <a:schemeClr val="tx1"/>
                </a:solidFill>
                <a:latin typeface="Arial" panose="020B0604020202020204" pitchFamily="34" charset="0"/>
                <a:ea typeface="宋体" panose="02010600030101010101" pitchFamily="2" charset="-122"/>
                <a:cs typeface="+mn-cs"/>
              </a:defRPr>
            </a:lvl9pPr>
          </a:lstStyle>
          <a:p>
            <a:r>
              <a:rPr lang="en-US" altLang="en-US">
                <a:solidFill>
                  <a:schemeClr val="tx1"/>
                </a:solidFill>
              </a:rPr>
              <a:t>要求事先知道弱学习算法学习正确率的下限</a:t>
            </a:r>
            <a:endParaRPr lang="en-US" altLang="zh-CN">
              <a:solidFill>
                <a:schemeClr val="tx1"/>
              </a:solidFill>
            </a:endParaRPr>
          </a:p>
          <a:p>
            <a:r>
              <a:rPr lang="zh-CN" altLang="en-US">
                <a:solidFill>
                  <a:schemeClr val="tx1"/>
                </a:solidFill>
              </a:rPr>
              <a:t>解决方案：</a:t>
            </a:r>
            <a:r>
              <a:rPr lang="en-US" altLang="zh-CN">
                <a:solidFill>
                  <a:schemeClr val="tx1"/>
                </a:solidFill>
              </a:rPr>
              <a:t>Adaboost</a:t>
            </a:r>
            <a:endParaRPr lang="en-US" altLang="zh-CN">
              <a:solidFill>
                <a:schemeClr val="tx1"/>
              </a:solidFill>
            </a:endParaRPr>
          </a:p>
        </p:txBody>
      </p:sp>
      <p:sp>
        <p:nvSpPr>
          <p:cNvPr id="100" name="文本框 99"/>
          <p:cNvSpPr txBox="1"/>
          <p:nvPr/>
        </p:nvSpPr>
        <p:spPr>
          <a:xfrm>
            <a:off x="11678920" y="6503035"/>
            <a:ext cx="513080" cy="369570"/>
          </a:xfrm>
          <a:prstGeom prst="rect">
            <a:avLst/>
          </a:prstGeom>
          <a:noFill/>
          <a:ln w="9525">
            <a:noFill/>
          </a:ln>
        </p:spPr>
        <p:txBody>
          <a:bodyPr>
            <a:noAutofit/>
          </a:bodyPr>
          <a:p>
            <a:pPr indent="0"/>
            <a:r>
              <a:rPr lang="en-US" altLang="zh-CN" b="0">
                <a:ea typeface="宋体" panose="02010600030101010101" pitchFamily="2" charset="-122"/>
              </a:rPr>
              <a:t>47</a:t>
            </a:r>
            <a:endParaRPr lang="en-US" altLang="zh-CN" b="0">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764921" y="1479575"/>
            <a:ext cx="11522709" cy="4571365"/>
          </a:xfrm>
          <a:prstGeom prst="rect">
            <a:avLst/>
          </a:prstGeom>
        </p:spPr>
        <p:txBody>
          <a:bodyPr vert="horz" wrap="square" lIns="0" tIns="0" rIns="0" bIns="0"/>
          <a:lstStyle/>
          <a:p>
            <a:pPr algn="l" rtl="0" eaLnBrk="0">
              <a:lnSpc>
                <a:spcPct val="73000"/>
              </a:lnSpc>
            </a:pPr>
            <a:endParaRPr lang="en-US" altLang="en-US" sz="100" dirty="0"/>
          </a:p>
          <a:p>
            <a:pPr marL="303530" algn="l" rtl="0" eaLnBrk="0">
              <a:lnSpc>
                <a:spcPct val="88000"/>
              </a:lnSpc>
              <a:tabLst>
                <a:tab pos="5575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p:txBody>
      </p:sp>
      <p:grpSp>
        <p:nvGrpSpPr>
          <p:cNvPr id="3" name="group 2"/>
          <p:cNvGrpSpPr/>
          <p:nvPr/>
        </p:nvGrpSpPr>
        <p:grpSpPr>
          <a:xfrm rot="21600000">
            <a:off x="126609" y="147616"/>
            <a:ext cx="2722051" cy="688004"/>
            <a:chOff x="0" y="0"/>
            <a:chExt cx="2722051" cy="688004"/>
          </a:xfrm>
        </p:grpSpPr>
        <p:pic>
          <p:nvPicPr>
            <p:cNvPr id="18" name="picture 18"/>
            <p:cNvPicPr>
              <a:picLocks noChangeAspect="1"/>
            </p:cNvPicPr>
            <p:nvPr/>
          </p:nvPicPr>
          <p:blipFill>
            <a:blip r:embed="rId1"/>
            <a:stretch>
              <a:fillRect/>
            </a:stretch>
          </p:blipFill>
          <p:spPr>
            <a:xfrm rot="21600000">
              <a:off x="0" y="29636"/>
              <a:ext cx="2696776" cy="658368"/>
            </a:xfrm>
            <a:prstGeom prst="rect">
              <a:avLst/>
            </a:prstGeom>
          </p:spPr>
        </p:pic>
        <p:sp>
          <p:nvSpPr>
            <p:cNvPr id="20" name="textbox 2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22" name="picture 22"/>
          <p:cNvPicPr>
            <a:picLocks noChangeAspect="1"/>
          </p:cNvPicPr>
          <p:nvPr/>
        </p:nvPicPr>
        <p:blipFill>
          <a:blip r:embed="rId2"/>
          <a:stretch>
            <a:fillRect/>
          </a:stretch>
        </p:blipFill>
        <p:spPr>
          <a:xfrm rot="21600000">
            <a:off x="10668" y="981455"/>
            <a:ext cx="12181331" cy="45720"/>
          </a:xfrm>
          <a:prstGeom prst="rect">
            <a:avLst/>
          </a:prstGeom>
        </p:spPr>
      </p:pic>
      <p:sp>
        <p:nvSpPr>
          <p:cNvPr id="40" name="textbox 40"/>
          <p:cNvSpPr/>
          <p:nvPr>
            <p:custDataLst>
              <p:tags r:id="rId3"/>
            </p:custDataLst>
          </p:nvPr>
        </p:nvSpPr>
        <p:spPr>
          <a:xfrm>
            <a:off x="1559560" y="1479550"/>
            <a:ext cx="5701030" cy="2787650"/>
          </a:xfrm>
          <a:prstGeom prst="rect">
            <a:avLst/>
          </a:prstGeom>
        </p:spPr>
        <p:txBody>
          <a:bodyPr vert="horz" wrap="square" lIns="0" tIns="0" rIns="0" bIns="0"/>
          <a:p>
            <a:pPr algn="l" rtl="0" eaLnBrk="0">
              <a:lnSpc>
                <a:spcPct val="82000"/>
              </a:lnSpc>
            </a:pPr>
            <a:endParaRPr lang="en-US" altLang="en-US" sz="100" dirty="0"/>
          </a:p>
          <a:p>
            <a:pPr marL="55880" algn="l" rtl="0" eaLnBrk="0">
              <a:lnSpc>
                <a:spcPct val="93000"/>
              </a:lnSpc>
            </a:pPr>
            <a:endParaRPr lang="en-US" altLang="en-US" sz="2000" dirty="0">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548005" y="134683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【Adaboost</a:t>
            </a:r>
            <a:r>
              <a:rPr lang="zh-CN"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算法</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100" name="文本框 99"/>
          <p:cNvSpPr txBox="1"/>
          <p:nvPr/>
        </p:nvSpPr>
        <p:spPr>
          <a:xfrm>
            <a:off x="11627485" y="6503035"/>
            <a:ext cx="564515" cy="368935"/>
          </a:xfrm>
          <a:prstGeom prst="rect">
            <a:avLst/>
          </a:prstGeom>
          <a:noFill/>
          <a:ln w="9525">
            <a:noFill/>
          </a:ln>
        </p:spPr>
        <p:txBody>
          <a:bodyPr>
            <a:noAutofit/>
          </a:bodyPr>
          <a:p>
            <a:pPr indent="0"/>
            <a:r>
              <a:rPr lang="en-US" altLang="zh-CN" b="0">
                <a:ea typeface="宋体" panose="02010600030101010101" pitchFamily="2" charset="-122"/>
              </a:rPr>
              <a:t>48</a:t>
            </a:r>
            <a:endParaRPr lang="en-US" altLang="zh-CN" b="0">
              <a:ea typeface="宋体" panose="02010600030101010101" pitchFamily="2" charset="-122"/>
            </a:endParaRPr>
          </a:p>
        </p:txBody>
      </p:sp>
      <p:sp>
        <p:nvSpPr>
          <p:cNvPr id="5" name="文本框 4"/>
          <p:cNvSpPr txBox="1"/>
          <p:nvPr/>
        </p:nvSpPr>
        <p:spPr>
          <a:xfrm>
            <a:off x="918210" y="1930400"/>
            <a:ext cx="9727565" cy="2306955"/>
          </a:xfrm>
          <a:prstGeom prst="rect">
            <a:avLst/>
          </a:prstGeom>
          <a:noFill/>
        </p:spPr>
        <p:txBody>
          <a:bodyPr wrap="square" rtlCol="0" anchor="t">
            <a:spAutoFit/>
          </a:bodyPr>
          <a:p>
            <a:pPr algn="just">
              <a:lnSpc>
                <a:spcPct val="150000"/>
              </a:lnSpc>
            </a:pPr>
            <a:r>
              <a:rPr lang="en-US" altLang="zh-CN" sz="2400" b="1" kern="100" dirty="0">
                <a:effectLst/>
                <a:latin typeface="+mj-ea"/>
                <a:ea typeface="+mj-ea"/>
                <a:sym typeface="+mn-ea"/>
              </a:rPr>
              <a:t>AdaBoost</a:t>
            </a:r>
            <a:r>
              <a:rPr lang="zh-CN" altLang="zh-CN" sz="2400" kern="100" dirty="0">
                <a:effectLst/>
                <a:latin typeface="+mj-ea"/>
                <a:ea typeface="+mj-ea"/>
                <a:sym typeface="+mn-ea"/>
              </a:rPr>
              <a:t>（</a:t>
            </a:r>
            <a:r>
              <a:rPr lang="en-US" altLang="zh-CN" sz="2400" kern="100" dirty="0">
                <a:effectLst/>
                <a:latin typeface="+mj-ea"/>
                <a:ea typeface="+mj-ea"/>
                <a:sym typeface="+mn-ea"/>
              </a:rPr>
              <a:t>Adaptive Boosting</a:t>
            </a:r>
            <a:r>
              <a:rPr lang="zh-CN" altLang="zh-CN" sz="2400" kern="100" dirty="0">
                <a:effectLst/>
                <a:latin typeface="+mj-ea"/>
                <a:ea typeface="+mj-ea"/>
                <a:sym typeface="+mn-ea"/>
              </a:rPr>
              <a:t>，自适应</a:t>
            </a:r>
            <a:r>
              <a:rPr lang="zh-CN" altLang="en-US" sz="2400" kern="100" dirty="0">
                <a:effectLst/>
                <a:latin typeface="+mj-ea"/>
                <a:ea typeface="+mj-ea"/>
                <a:sym typeface="+mn-ea"/>
              </a:rPr>
              <a:t>增强</a:t>
            </a:r>
            <a:r>
              <a:rPr lang="zh-CN" altLang="zh-CN" sz="2400" kern="100" dirty="0">
                <a:effectLst/>
                <a:latin typeface="+mj-ea"/>
                <a:ea typeface="+mj-ea"/>
                <a:sym typeface="+mn-ea"/>
              </a:rPr>
              <a:t>），其自适应在于：前一个基本分类器分错的样本会得到加强，加权后的全体样本再次被用来训练下一个基本分类器。同时，在每一轮中加入一个新的弱分类器，直到达到某个预定的足够小的错误率或达到预先指定的最大迭代次数。</a:t>
            </a:r>
            <a:endParaRPr lang="zh-CN" altLang="zh-CN" sz="2400" kern="100" dirty="0">
              <a:effectLst/>
              <a:latin typeface="+mj-ea"/>
              <a:ea typeface="+mj-ea"/>
              <a:sym typeface="+mn-ea"/>
            </a:endParaRPr>
          </a:p>
        </p:txBody>
      </p:sp>
      <p:sp>
        <p:nvSpPr>
          <p:cNvPr id="7" name="文本框 6"/>
          <p:cNvSpPr txBox="1"/>
          <p:nvPr/>
        </p:nvSpPr>
        <p:spPr>
          <a:xfrm>
            <a:off x="1164590" y="4719320"/>
            <a:ext cx="9900285" cy="583565"/>
          </a:xfrm>
          <a:prstGeom prst="rect">
            <a:avLst/>
          </a:prstGeom>
          <a:noFill/>
        </p:spPr>
        <p:txBody>
          <a:bodyPr wrap="square" rtlCol="0" anchor="t">
            <a:spAutoFit/>
          </a:bodyPr>
          <a:p>
            <a:r>
              <a:rPr lang="zh-CN" altLang="en-US" sz="3200" b="1" dirty="0">
                <a:sym typeface="+mn-ea"/>
              </a:rPr>
              <a:t>后一个模型的训练永远是在前一个模型的基础上完成</a:t>
            </a:r>
            <a:r>
              <a:rPr lang="en-US" altLang="zh-CN" sz="3200" b="1" dirty="0">
                <a:sym typeface="+mn-ea"/>
              </a:rPr>
              <a:t>!</a:t>
            </a:r>
            <a:endParaRPr lang="en-US" altLang="zh-CN" sz="3200" b="1" dirty="0">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764921" y="1479575"/>
            <a:ext cx="11522709" cy="4571365"/>
          </a:xfrm>
          <a:prstGeom prst="rect">
            <a:avLst/>
          </a:prstGeom>
        </p:spPr>
        <p:txBody>
          <a:bodyPr vert="horz" wrap="square" lIns="0" tIns="0" rIns="0" bIns="0"/>
          <a:lstStyle/>
          <a:p>
            <a:pPr algn="l" rtl="0" eaLnBrk="0">
              <a:lnSpc>
                <a:spcPct val="73000"/>
              </a:lnSpc>
            </a:pPr>
            <a:endParaRPr lang="en-US" altLang="en-US" sz="100" dirty="0"/>
          </a:p>
          <a:p>
            <a:pPr marL="303530" algn="l" rtl="0" eaLnBrk="0">
              <a:lnSpc>
                <a:spcPct val="88000"/>
              </a:lnSpc>
              <a:tabLst>
                <a:tab pos="5575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p:txBody>
      </p:sp>
      <p:grpSp>
        <p:nvGrpSpPr>
          <p:cNvPr id="3" name="group 2"/>
          <p:cNvGrpSpPr/>
          <p:nvPr/>
        </p:nvGrpSpPr>
        <p:grpSpPr>
          <a:xfrm rot="21600000">
            <a:off x="126609" y="147616"/>
            <a:ext cx="2722051" cy="688004"/>
            <a:chOff x="0" y="0"/>
            <a:chExt cx="2722051" cy="688004"/>
          </a:xfrm>
        </p:grpSpPr>
        <p:pic>
          <p:nvPicPr>
            <p:cNvPr id="18" name="picture 18"/>
            <p:cNvPicPr>
              <a:picLocks noChangeAspect="1"/>
            </p:cNvPicPr>
            <p:nvPr/>
          </p:nvPicPr>
          <p:blipFill>
            <a:blip r:embed="rId1"/>
            <a:stretch>
              <a:fillRect/>
            </a:stretch>
          </p:blipFill>
          <p:spPr>
            <a:xfrm rot="21600000">
              <a:off x="0" y="29636"/>
              <a:ext cx="2696776" cy="658368"/>
            </a:xfrm>
            <a:prstGeom prst="rect">
              <a:avLst/>
            </a:prstGeom>
          </p:spPr>
        </p:pic>
        <p:sp>
          <p:nvSpPr>
            <p:cNvPr id="20" name="textbox 2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22" name="picture 22"/>
          <p:cNvPicPr>
            <a:picLocks noChangeAspect="1"/>
          </p:cNvPicPr>
          <p:nvPr/>
        </p:nvPicPr>
        <p:blipFill>
          <a:blip r:embed="rId2"/>
          <a:stretch>
            <a:fillRect/>
          </a:stretch>
        </p:blipFill>
        <p:spPr>
          <a:xfrm rot="21600000">
            <a:off x="10668" y="981455"/>
            <a:ext cx="12181331" cy="45720"/>
          </a:xfrm>
          <a:prstGeom prst="rect">
            <a:avLst/>
          </a:prstGeom>
        </p:spPr>
      </p:pic>
      <p:sp>
        <p:nvSpPr>
          <p:cNvPr id="40" name="textbox 40"/>
          <p:cNvSpPr/>
          <p:nvPr>
            <p:custDataLst>
              <p:tags r:id="rId3"/>
            </p:custDataLst>
          </p:nvPr>
        </p:nvSpPr>
        <p:spPr>
          <a:xfrm>
            <a:off x="1559560" y="1479550"/>
            <a:ext cx="5701030" cy="2787650"/>
          </a:xfrm>
          <a:prstGeom prst="rect">
            <a:avLst/>
          </a:prstGeom>
        </p:spPr>
        <p:txBody>
          <a:bodyPr vert="horz" wrap="square" lIns="0" tIns="0" rIns="0" bIns="0"/>
          <a:p>
            <a:pPr algn="l" rtl="0" eaLnBrk="0">
              <a:lnSpc>
                <a:spcPct val="82000"/>
              </a:lnSpc>
            </a:pPr>
            <a:endParaRPr lang="en-US" altLang="en-US" sz="100" dirty="0"/>
          </a:p>
          <a:p>
            <a:pPr marL="55880" algn="l" rtl="0" eaLnBrk="0">
              <a:lnSpc>
                <a:spcPct val="93000"/>
              </a:lnSpc>
            </a:pPr>
            <a:endParaRPr lang="en-US" altLang="en-US" sz="2000" dirty="0">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548005" y="134683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【Adaboost</a:t>
            </a:r>
            <a:r>
              <a:rPr lang="zh-CN"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算法</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6" name="文本框 5"/>
          <p:cNvSpPr txBox="1"/>
          <p:nvPr/>
        </p:nvSpPr>
        <p:spPr>
          <a:xfrm>
            <a:off x="1010920" y="2039620"/>
            <a:ext cx="10314305" cy="4116705"/>
          </a:xfrm>
          <a:prstGeom prst="rect">
            <a:avLst/>
          </a:prstGeom>
          <a:noFill/>
        </p:spPr>
        <p:txBody>
          <a:bodyPr wrap="square" rtlCol="0" anchor="t">
            <a:noAutofit/>
          </a:bodyPr>
          <a:p>
            <a:pPr>
              <a:lnSpc>
                <a:spcPct val="150000"/>
              </a:lnSpc>
              <a:spcBef>
                <a:spcPts val="900"/>
              </a:spcBef>
              <a:spcAft>
                <a:spcPts val="900"/>
              </a:spcAft>
            </a:pPr>
            <a:r>
              <a:rPr lang="zh-CN" altLang="en-US" sz="2400" b="1" kern="100" dirty="0">
                <a:effectLst/>
                <a:latin typeface="微软雅黑" panose="020B0503020204020204" charset="-122"/>
                <a:cs typeface="Times New Roman" panose="02020603050405020304" charset="0"/>
                <a:sym typeface="+mn-ea"/>
              </a:rPr>
              <a:t>算法思想</a:t>
            </a:r>
            <a:endParaRPr lang="zh-CN" altLang="zh-CN" sz="2400" kern="100" dirty="0">
              <a:effectLst/>
              <a:latin typeface="微软雅黑" panose="020B0503020204020204" charset="-122"/>
              <a:cs typeface="Times New Roman" panose="02020603050405020304" charset="0"/>
            </a:endParaRPr>
          </a:p>
          <a:p>
            <a:pPr marL="342900" lvl="0" indent="-342900" algn="l">
              <a:lnSpc>
                <a:spcPct val="150000"/>
              </a:lnSpc>
              <a:spcAft>
                <a:spcPts val="1000"/>
              </a:spcAft>
              <a:buFont typeface="Arial" panose="020B0604020202020204" pitchFamily="34" charset="0"/>
              <a:buChar char="•"/>
            </a:pPr>
            <a:r>
              <a:rPr lang="zh-CN" altLang="zh-CN" sz="2400" kern="100" dirty="0">
                <a:effectLst/>
                <a:latin typeface="微软雅黑" panose="020B0503020204020204" charset="-122"/>
                <a:cs typeface="Times New Roman" panose="02020603050405020304" charset="0"/>
                <a:sym typeface="+mn-ea"/>
              </a:rPr>
              <a:t>初始化训练样本的权值分布，每个样本具有相同权重；</a:t>
            </a:r>
            <a:endParaRPr lang="zh-CN" altLang="zh-CN" sz="2400" kern="100" dirty="0">
              <a:effectLst/>
              <a:latin typeface="微软雅黑" panose="020B0503020204020204" charset="-122"/>
              <a:cs typeface="Times New Roman" panose="02020603050405020304" charset="0"/>
            </a:endParaRPr>
          </a:p>
          <a:p>
            <a:pPr marL="342900" lvl="0" indent="-342900" algn="l">
              <a:lnSpc>
                <a:spcPct val="150000"/>
              </a:lnSpc>
              <a:spcAft>
                <a:spcPts val="1000"/>
              </a:spcAft>
              <a:buFont typeface="Arial" panose="020B0604020202020204" pitchFamily="34" charset="0"/>
              <a:buChar char="•"/>
            </a:pPr>
            <a:r>
              <a:rPr lang="zh-CN" altLang="zh-CN" sz="2400" kern="100" dirty="0">
                <a:effectLst/>
                <a:latin typeface="微软雅黑" panose="020B0503020204020204" charset="-122"/>
                <a:cs typeface="Times New Roman" panose="02020603050405020304" charset="0"/>
                <a:sym typeface="+mn-ea"/>
              </a:rPr>
              <a:t>训练弱分类器，如果样本分类正确，则在构造下一个训练集中，它的权值就会被降低；反之提高。用更新过的样本集去训练下一个分类器；</a:t>
            </a:r>
            <a:endParaRPr lang="en-US" altLang="zh-CN" sz="2400" kern="100" dirty="0">
              <a:effectLst/>
              <a:latin typeface="微软雅黑" panose="020B0503020204020204" charset="-122"/>
              <a:cs typeface="Times New Roman" panose="02020603050405020304" charset="0"/>
            </a:endParaRPr>
          </a:p>
          <a:p>
            <a:pPr marL="342900" lvl="0" indent="-342900" algn="l">
              <a:lnSpc>
                <a:spcPct val="150000"/>
              </a:lnSpc>
              <a:spcAft>
                <a:spcPts val="1000"/>
              </a:spcAft>
              <a:buFont typeface="Arial" panose="020B0604020202020204" pitchFamily="34" charset="0"/>
              <a:buChar char="•"/>
            </a:pPr>
            <a:r>
              <a:rPr lang="zh-CN" altLang="zh-CN" sz="2400" kern="100" dirty="0">
                <a:effectLst/>
                <a:latin typeface="微软雅黑" panose="020B0503020204020204" charset="-122"/>
                <a:cs typeface="Times New Roman" panose="02020603050405020304" charset="0"/>
                <a:sym typeface="+mn-ea"/>
              </a:rPr>
              <a:t>将所有弱分类组合成强分类器，各个弱分类器的训练过程结束后，加大分类误差率小的弱分类器的权重，降低分类误差率大的弱分类器的权重。</a:t>
            </a:r>
            <a:endParaRPr lang="zh-CN" altLang="zh-CN" sz="2400" kern="100" dirty="0">
              <a:effectLst/>
              <a:latin typeface="微软雅黑" panose="020B0503020204020204" charset="-122"/>
              <a:cs typeface="Times New Roman" panose="02020603050405020304" charset="0"/>
              <a:sym typeface="+mn-ea"/>
            </a:endParaRPr>
          </a:p>
        </p:txBody>
      </p:sp>
      <p:sp>
        <p:nvSpPr>
          <p:cNvPr id="7" name="文本框 6"/>
          <p:cNvSpPr txBox="1"/>
          <p:nvPr>
            <p:custDataLst>
              <p:tags r:id="rId4"/>
            </p:custDataLst>
          </p:nvPr>
        </p:nvSpPr>
        <p:spPr>
          <a:xfrm>
            <a:off x="11609705" y="6459220"/>
            <a:ext cx="582295" cy="398780"/>
          </a:xfrm>
          <a:prstGeom prst="rect">
            <a:avLst/>
          </a:prstGeom>
          <a:noFill/>
        </p:spPr>
        <p:txBody>
          <a:bodyPr wrap="square" rtlCol="0" anchor="t">
            <a:spAutoFit/>
          </a:bodyPr>
          <a:p>
            <a:r>
              <a:rPr lang="en-US" altLang="zh-CN" sz="2000">
                <a:latin typeface="楷体_GB2312" charset="-122"/>
                <a:ea typeface="楷体_GB2312" charset="-122"/>
                <a:sym typeface="+mn-ea"/>
              </a:rPr>
              <a:t>49</a:t>
            </a:r>
            <a:endParaRPr lang="en-US" altLang="zh-CN" sz="2000">
              <a:latin typeface="楷体_GB2312" charset="-122"/>
              <a:ea typeface="楷体_GB2312" charset="-122"/>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764921" y="1479575"/>
            <a:ext cx="11522709" cy="4571365"/>
          </a:xfrm>
          <a:prstGeom prst="rect">
            <a:avLst/>
          </a:prstGeom>
        </p:spPr>
        <p:txBody>
          <a:bodyPr vert="horz" wrap="square" lIns="0" tIns="0" rIns="0" bIns="0"/>
          <a:lstStyle/>
          <a:p>
            <a:pPr algn="l" rtl="0" eaLnBrk="0">
              <a:lnSpc>
                <a:spcPct val="73000"/>
              </a:lnSpc>
            </a:pPr>
            <a:endParaRPr lang="en-US" altLang="en-US" sz="100" dirty="0"/>
          </a:p>
          <a:p>
            <a:pPr marL="303530" algn="l" rtl="0" eaLnBrk="0">
              <a:lnSpc>
                <a:spcPct val="88000"/>
              </a:lnSpc>
              <a:tabLst>
                <a:tab pos="5575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p:txBody>
      </p:sp>
      <p:grpSp>
        <p:nvGrpSpPr>
          <p:cNvPr id="3" name="group 2"/>
          <p:cNvGrpSpPr/>
          <p:nvPr/>
        </p:nvGrpSpPr>
        <p:grpSpPr>
          <a:xfrm rot="21600000">
            <a:off x="126609" y="147616"/>
            <a:ext cx="2722051" cy="688004"/>
            <a:chOff x="0" y="0"/>
            <a:chExt cx="2722051" cy="688004"/>
          </a:xfrm>
        </p:grpSpPr>
        <p:pic>
          <p:nvPicPr>
            <p:cNvPr id="18" name="picture 18"/>
            <p:cNvPicPr>
              <a:picLocks noChangeAspect="1"/>
            </p:cNvPicPr>
            <p:nvPr/>
          </p:nvPicPr>
          <p:blipFill>
            <a:blip r:embed="rId1"/>
            <a:stretch>
              <a:fillRect/>
            </a:stretch>
          </p:blipFill>
          <p:spPr>
            <a:xfrm rot="21600000">
              <a:off x="0" y="29636"/>
              <a:ext cx="2696776" cy="658368"/>
            </a:xfrm>
            <a:prstGeom prst="rect">
              <a:avLst/>
            </a:prstGeom>
          </p:spPr>
        </p:pic>
        <p:sp>
          <p:nvSpPr>
            <p:cNvPr id="20" name="textbox 2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22" name="picture 22"/>
          <p:cNvPicPr>
            <a:picLocks noChangeAspect="1"/>
          </p:cNvPicPr>
          <p:nvPr/>
        </p:nvPicPr>
        <p:blipFill>
          <a:blip r:embed="rId2"/>
          <a:stretch>
            <a:fillRect/>
          </a:stretch>
        </p:blipFill>
        <p:spPr>
          <a:xfrm rot="21600000">
            <a:off x="10668" y="981455"/>
            <a:ext cx="12181331" cy="45720"/>
          </a:xfrm>
          <a:prstGeom prst="rect">
            <a:avLst/>
          </a:prstGeom>
        </p:spPr>
      </p:pic>
      <p:sp>
        <p:nvSpPr>
          <p:cNvPr id="40" name="textbox 40"/>
          <p:cNvSpPr/>
          <p:nvPr>
            <p:custDataLst>
              <p:tags r:id="rId3"/>
            </p:custDataLst>
          </p:nvPr>
        </p:nvSpPr>
        <p:spPr>
          <a:xfrm>
            <a:off x="1559560" y="1479550"/>
            <a:ext cx="5701030" cy="2787650"/>
          </a:xfrm>
          <a:prstGeom prst="rect">
            <a:avLst/>
          </a:prstGeom>
        </p:spPr>
        <p:txBody>
          <a:bodyPr vert="horz" wrap="square" lIns="0" tIns="0" rIns="0" bIns="0"/>
          <a:p>
            <a:pPr algn="l" rtl="0" eaLnBrk="0">
              <a:lnSpc>
                <a:spcPct val="82000"/>
              </a:lnSpc>
            </a:pPr>
            <a:endParaRPr lang="en-US" altLang="en-US" sz="100" dirty="0"/>
          </a:p>
          <a:p>
            <a:pPr marL="55880" algn="l" rtl="0" eaLnBrk="0">
              <a:lnSpc>
                <a:spcPct val="93000"/>
              </a:lnSpc>
            </a:pPr>
            <a:endParaRPr lang="en-US" altLang="en-US" sz="2000" dirty="0">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36258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【Adaboost</a:t>
            </a:r>
            <a:r>
              <a:rPr lang="zh-CN"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算法</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pic>
        <p:nvPicPr>
          <p:cNvPr id="5" name="图片 4"/>
          <p:cNvPicPr>
            <a:picLocks noChangeAspect="1"/>
          </p:cNvPicPr>
          <p:nvPr>
            <p:custDataLst>
              <p:tags r:id="rId4"/>
            </p:custDataLst>
          </p:nvPr>
        </p:nvPicPr>
        <p:blipFill>
          <a:blip r:embed="rId5"/>
          <a:stretch>
            <a:fillRect/>
          </a:stretch>
        </p:blipFill>
        <p:spPr>
          <a:xfrm>
            <a:off x="652145" y="1688465"/>
            <a:ext cx="11134725" cy="4919345"/>
          </a:xfrm>
          <a:prstGeom prst="rect">
            <a:avLst/>
          </a:prstGeom>
        </p:spPr>
      </p:pic>
      <p:sp>
        <p:nvSpPr>
          <p:cNvPr id="100" name="文本框 99"/>
          <p:cNvSpPr txBox="1"/>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50</a:t>
            </a:r>
            <a:endParaRPr lang="en-US" altLang="zh-CN" b="0">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764921" y="1479575"/>
            <a:ext cx="11522709" cy="4571365"/>
          </a:xfrm>
          <a:prstGeom prst="rect">
            <a:avLst/>
          </a:prstGeom>
        </p:spPr>
        <p:txBody>
          <a:bodyPr vert="horz" wrap="square" lIns="0" tIns="0" rIns="0" bIns="0"/>
          <a:lstStyle/>
          <a:p>
            <a:pPr algn="l" rtl="0" eaLnBrk="0">
              <a:lnSpc>
                <a:spcPct val="73000"/>
              </a:lnSpc>
            </a:pPr>
            <a:endParaRPr lang="en-US" altLang="en-US" sz="100" dirty="0"/>
          </a:p>
          <a:p>
            <a:pPr marL="303530" algn="l" rtl="0" eaLnBrk="0">
              <a:lnSpc>
                <a:spcPct val="88000"/>
              </a:lnSpc>
              <a:tabLst>
                <a:tab pos="5575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p:txBody>
      </p:sp>
      <p:grpSp>
        <p:nvGrpSpPr>
          <p:cNvPr id="3" name="group 2"/>
          <p:cNvGrpSpPr/>
          <p:nvPr/>
        </p:nvGrpSpPr>
        <p:grpSpPr>
          <a:xfrm rot="21600000">
            <a:off x="126609" y="147616"/>
            <a:ext cx="2722051" cy="688004"/>
            <a:chOff x="0" y="0"/>
            <a:chExt cx="2722051" cy="688004"/>
          </a:xfrm>
        </p:grpSpPr>
        <p:pic>
          <p:nvPicPr>
            <p:cNvPr id="18" name="picture 18"/>
            <p:cNvPicPr>
              <a:picLocks noChangeAspect="1"/>
            </p:cNvPicPr>
            <p:nvPr/>
          </p:nvPicPr>
          <p:blipFill>
            <a:blip r:embed="rId1"/>
            <a:stretch>
              <a:fillRect/>
            </a:stretch>
          </p:blipFill>
          <p:spPr>
            <a:xfrm rot="21600000">
              <a:off x="0" y="29636"/>
              <a:ext cx="2696776" cy="658368"/>
            </a:xfrm>
            <a:prstGeom prst="rect">
              <a:avLst/>
            </a:prstGeom>
          </p:spPr>
        </p:pic>
        <p:sp>
          <p:nvSpPr>
            <p:cNvPr id="20" name="textbox 2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22" name="picture 22"/>
          <p:cNvPicPr>
            <a:picLocks noChangeAspect="1"/>
          </p:cNvPicPr>
          <p:nvPr/>
        </p:nvPicPr>
        <p:blipFill>
          <a:blip r:embed="rId2"/>
          <a:stretch>
            <a:fillRect/>
          </a:stretch>
        </p:blipFill>
        <p:spPr>
          <a:xfrm rot="21600000">
            <a:off x="10668" y="981455"/>
            <a:ext cx="12181331" cy="45720"/>
          </a:xfrm>
          <a:prstGeom prst="rect">
            <a:avLst/>
          </a:prstGeom>
        </p:spPr>
      </p:pic>
      <p:sp>
        <p:nvSpPr>
          <p:cNvPr id="40" name="textbox 40"/>
          <p:cNvSpPr/>
          <p:nvPr>
            <p:custDataLst>
              <p:tags r:id="rId3"/>
            </p:custDataLst>
          </p:nvPr>
        </p:nvSpPr>
        <p:spPr>
          <a:xfrm>
            <a:off x="1559560" y="1479550"/>
            <a:ext cx="5701030" cy="2787650"/>
          </a:xfrm>
          <a:prstGeom prst="rect">
            <a:avLst/>
          </a:prstGeom>
        </p:spPr>
        <p:txBody>
          <a:bodyPr vert="horz" wrap="square" lIns="0" tIns="0" rIns="0" bIns="0"/>
          <a:p>
            <a:pPr algn="l" rtl="0" eaLnBrk="0">
              <a:lnSpc>
                <a:spcPct val="82000"/>
              </a:lnSpc>
            </a:pPr>
            <a:endParaRPr lang="en-US" altLang="en-US" sz="100" dirty="0"/>
          </a:p>
          <a:p>
            <a:pPr marL="55880" algn="l" rtl="0" eaLnBrk="0">
              <a:lnSpc>
                <a:spcPct val="93000"/>
              </a:lnSpc>
            </a:pPr>
            <a:endParaRPr lang="en-US" altLang="en-US" sz="2000" dirty="0">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36258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【Adaboost</a:t>
            </a:r>
            <a:r>
              <a:rPr lang="zh-CN"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算法</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6" name="文本框 5"/>
          <p:cNvSpPr txBox="1"/>
          <p:nvPr/>
        </p:nvSpPr>
        <p:spPr>
          <a:xfrm>
            <a:off x="2141855" y="1772920"/>
            <a:ext cx="7330440" cy="460375"/>
          </a:xfrm>
          <a:prstGeom prst="rect">
            <a:avLst/>
          </a:prstGeom>
          <a:noFill/>
        </p:spPr>
        <p:txBody>
          <a:bodyPr wrap="square" rtlCol="0" anchor="t">
            <a:spAutoFit/>
          </a:bodyPr>
          <a:p>
            <a:r>
              <a:rPr lang="zh-CN" altLang="en-US" sz="2400" b="1" dirty="0">
                <a:sym typeface="+mn-ea"/>
              </a:rPr>
              <a:t>后一个模型的训练永远是在前一个模型的基础上完成</a:t>
            </a:r>
            <a:endParaRPr lang="zh-CN" altLang="en-US" sz="2400" b="1" dirty="0">
              <a:sym typeface="+mn-ea"/>
            </a:endParaRPr>
          </a:p>
        </p:txBody>
      </p:sp>
      <p:pic>
        <p:nvPicPr>
          <p:cNvPr id="7" name="图片 6"/>
          <p:cNvPicPr>
            <a:picLocks noChangeAspect="1"/>
          </p:cNvPicPr>
          <p:nvPr>
            <p:custDataLst>
              <p:tags r:id="rId4"/>
            </p:custDataLst>
          </p:nvPr>
        </p:nvPicPr>
        <p:blipFill>
          <a:blip r:embed="rId5"/>
          <a:stretch>
            <a:fillRect/>
          </a:stretch>
        </p:blipFill>
        <p:spPr>
          <a:xfrm>
            <a:off x="956310" y="2473325"/>
            <a:ext cx="9930765" cy="3577590"/>
          </a:xfrm>
          <a:prstGeom prst="rect">
            <a:avLst/>
          </a:prstGeom>
        </p:spPr>
      </p:pic>
      <p:sp>
        <p:nvSpPr>
          <p:cNvPr id="8" name="文本框 7"/>
          <p:cNvSpPr txBox="1"/>
          <p:nvPr>
            <p:custDataLst>
              <p:tags r:id="rId6"/>
            </p:custDataLst>
          </p:nvPr>
        </p:nvSpPr>
        <p:spPr>
          <a:xfrm>
            <a:off x="11609705" y="6459220"/>
            <a:ext cx="582295" cy="398780"/>
          </a:xfrm>
          <a:prstGeom prst="rect">
            <a:avLst/>
          </a:prstGeom>
          <a:noFill/>
        </p:spPr>
        <p:txBody>
          <a:bodyPr wrap="square" rtlCol="0" anchor="t">
            <a:spAutoFit/>
          </a:bodyPr>
          <a:p>
            <a:r>
              <a:rPr lang="en-US" altLang="zh-CN" sz="2000">
                <a:latin typeface="楷体_GB2312" charset="-122"/>
                <a:ea typeface="楷体_GB2312" charset="-122"/>
                <a:sym typeface="+mn-ea"/>
              </a:rPr>
              <a:t>51</a:t>
            </a:r>
            <a:endParaRPr lang="en-US" altLang="zh-CN" sz="2000">
              <a:latin typeface="楷体_GB2312" charset="-122"/>
              <a:ea typeface="楷体_GB2312" charset="-122"/>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764921" y="1479575"/>
            <a:ext cx="11522709" cy="4571365"/>
          </a:xfrm>
          <a:prstGeom prst="rect">
            <a:avLst/>
          </a:prstGeom>
        </p:spPr>
        <p:txBody>
          <a:bodyPr vert="horz" wrap="square" lIns="0" tIns="0" rIns="0" bIns="0"/>
          <a:lstStyle/>
          <a:p>
            <a:pPr algn="l" rtl="0" eaLnBrk="0">
              <a:lnSpc>
                <a:spcPct val="73000"/>
              </a:lnSpc>
            </a:pPr>
            <a:endParaRPr lang="en-US" altLang="en-US" sz="100" dirty="0"/>
          </a:p>
          <a:p>
            <a:pPr marL="303530" algn="l" rtl="0" eaLnBrk="0">
              <a:lnSpc>
                <a:spcPct val="88000"/>
              </a:lnSpc>
              <a:tabLst>
                <a:tab pos="5575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p:txBody>
      </p:sp>
      <p:grpSp>
        <p:nvGrpSpPr>
          <p:cNvPr id="3" name="group 2"/>
          <p:cNvGrpSpPr/>
          <p:nvPr/>
        </p:nvGrpSpPr>
        <p:grpSpPr>
          <a:xfrm rot="21600000">
            <a:off x="126609" y="147616"/>
            <a:ext cx="2722051" cy="688004"/>
            <a:chOff x="0" y="0"/>
            <a:chExt cx="2722051" cy="688004"/>
          </a:xfrm>
        </p:grpSpPr>
        <p:pic>
          <p:nvPicPr>
            <p:cNvPr id="18" name="picture 18"/>
            <p:cNvPicPr>
              <a:picLocks noChangeAspect="1"/>
            </p:cNvPicPr>
            <p:nvPr/>
          </p:nvPicPr>
          <p:blipFill>
            <a:blip r:embed="rId1"/>
            <a:stretch>
              <a:fillRect/>
            </a:stretch>
          </p:blipFill>
          <p:spPr>
            <a:xfrm rot="21600000">
              <a:off x="0" y="29636"/>
              <a:ext cx="2696776" cy="658368"/>
            </a:xfrm>
            <a:prstGeom prst="rect">
              <a:avLst/>
            </a:prstGeom>
          </p:spPr>
        </p:pic>
        <p:sp>
          <p:nvSpPr>
            <p:cNvPr id="20" name="textbox 2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22" name="picture 22"/>
          <p:cNvPicPr>
            <a:picLocks noChangeAspect="1"/>
          </p:cNvPicPr>
          <p:nvPr/>
        </p:nvPicPr>
        <p:blipFill>
          <a:blip r:embed="rId2"/>
          <a:stretch>
            <a:fillRect/>
          </a:stretch>
        </p:blipFill>
        <p:spPr>
          <a:xfrm rot="21600000">
            <a:off x="10668" y="981455"/>
            <a:ext cx="12181331" cy="45720"/>
          </a:xfrm>
          <a:prstGeom prst="rect">
            <a:avLst/>
          </a:prstGeom>
        </p:spPr>
      </p:pic>
      <p:sp>
        <p:nvSpPr>
          <p:cNvPr id="40" name="textbox 40"/>
          <p:cNvSpPr/>
          <p:nvPr>
            <p:custDataLst>
              <p:tags r:id="rId3"/>
            </p:custDataLst>
          </p:nvPr>
        </p:nvSpPr>
        <p:spPr>
          <a:xfrm>
            <a:off x="1559560" y="1479550"/>
            <a:ext cx="5701030" cy="2787650"/>
          </a:xfrm>
          <a:prstGeom prst="rect">
            <a:avLst/>
          </a:prstGeom>
        </p:spPr>
        <p:txBody>
          <a:bodyPr vert="horz" wrap="square" lIns="0" tIns="0" rIns="0" bIns="0"/>
          <a:p>
            <a:pPr algn="l" rtl="0" eaLnBrk="0">
              <a:lnSpc>
                <a:spcPct val="82000"/>
              </a:lnSpc>
            </a:pPr>
            <a:endParaRPr lang="en-US" altLang="en-US" sz="100" dirty="0"/>
          </a:p>
          <a:p>
            <a:pPr marL="55880" algn="l" rtl="0" eaLnBrk="0">
              <a:lnSpc>
                <a:spcPct val="93000"/>
              </a:lnSpc>
            </a:pPr>
            <a:endParaRPr lang="en-US" altLang="en-US" sz="2000" dirty="0">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54800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r>
              <a:rPr lang="en-US" altLang="zh-CN" sz="3200">
                <a:sym typeface="+mn-ea"/>
              </a:rPr>
              <a:t>adaboost</a:t>
            </a:r>
            <a:r>
              <a:rPr lang="zh-CN" altLang="en-US" sz="3200">
                <a:sym typeface="+mn-ea"/>
              </a:rPr>
              <a:t>构造过程小结</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pic>
        <p:nvPicPr>
          <p:cNvPr id="11" name="图片 10"/>
          <p:cNvPicPr>
            <a:picLocks noChangeAspect="1"/>
          </p:cNvPicPr>
          <p:nvPr>
            <p:custDataLst>
              <p:tags r:id="rId4"/>
            </p:custDataLst>
          </p:nvPr>
        </p:nvPicPr>
        <p:blipFill>
          <a:blip r:embed="rId5"/>
          <a:stretch>
            <a:fillRect/>
          </a:stretch>
        </p:blipFill>
        <p:spPr>
          <a:xfrm>
            <a:off x="765175" y="1772920"/>
            <a:ext cx="6495415" cy="4312920"/>
          </a:xfrm>
          <a:prstGeom prst="rect">
            <a:avLst/>
          </a:prstGeom>
        </p:spPr>
      </p:pic>
      <p:sp>
        <p:nvSpPr>
          <p:cNvPr id="100" name="文本框 99"/>
          <p:cNvSpPr txBox="1"/>
          <p:nvPr/>
        </p:nvSpPr>
        <p:spPr>
          <a:xfrm>
            <a:off x="11731625" y="6489700"/>
            <a:ext cx="460375" cy="368300"/>
          </a:xfrm>
          <a:prstGeom prst="rect">
            <a:avLst/>
          </a:prstGeom>
          <a:noFill/>
          <a:ln w="9525">
            <a:noFill/>
          </a:ln>
        </p:spPr>
        <p:txBody>
          <a:bodyPr wrap="square">
            <a:spAutoFit/>
          </a:bodyPr>
          <a:p>
            <a:pPr indent="0"/>
            <a:r>
              <a:rPr lang="en-US" altLang="zh-CN" b="0">
                <a:ea typeface="宋体" panose="02010600030101010101" pitchFamily="2" charset="-122"/>
              </a:rPr>
              <a:t>52</a:t>
            </a:r>
            <a:endParaRPr lang="en-US" altLang="zh-CN" b="0">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764921" y="1479575"/>
            <a:ext cx="11522709" cy="4571365"/>
          </a:xfrm>
          <a:prstGeom prst="rect">
            <a:avLst/>
          </a:prstGeom>
        </p:spPr>
        <p:txBody>
          <a:bodyPr vert="horz" wrap="square" lIns="0" tIns="0" rIns="0" bIns="0"/>
          <a:lstStyle/>
          <a:p>
            <a:pPr algn="l" rtl="0" eaLnBrk="0">
              <a:lnSpc>
                <a:spcPct val="73000"/>
              </a:lnSpc>
            </a:pPr>
            <a:endParaRPr lang="en-US" altLang="en-US" sz="100" dirty="0"/>
          </a:p>
          <a:p>
            <a:pPr marL="303530" algn="l" rtl="0" eaLnBrk="0">
              <a:lnSpc>
                <a:spcPct val="88000"/>
              </a:lnSpc>
              <a:tabLst>
                <a:tab pos="55753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2400" dirty="0"/>
          </a:p>
        </p:txBody>
      </p:sp>
      <p:grpSp>
        <p:nvGrpSpPr>
          <p:cNvPr id="3" name="group 2"/>
          <p:cNvGrpSpPr/>
          <p:nvPr/>
        </p:nvGrpSpPr>
        <p:grpSpPr>
          <a:xfrm rot="21600000">
            <a:off x="126609" y="147616"/>
            <a:ext cx="2722051" cy="688004"/>
            <a:chOff x="0" y="0"/>
            <a:chExt cx="2722051" cy="688004"/>
          </a:xfrm>
        </p:grpSpPr>
        <p:pic>
          <p:nvPicPr>
            <p:cNvPr id="18" name="picture 18"/>
            <p:cNvPicPr>
              <a:picLocks noChangeAspect="1"/>
            </p:cNvPicPr>
            <p:nvPr/>
          </p:nvPicPr>
          <p:blipFill>
            <a:blip r:embed="rId1"/>
            <a:stretch>
              <a:fillRect/>
            </a:stretch>
          </p:blipFill>
          <p:spPr>
            <a:xfrm rot="21600000">
              <a:off x="0" y="29636"/>
              <a:ext cx="2696776" cy="658368"/>
            </a:xfrm>
            <a:prstGeom prst="rect">
              <a:avLst/>
            </a:prstGeom>
          </p:spPr>
        </p:pic>
        <p:sp>
          <p:nvSpPr>
            <p:cNvPr id="20" name="textbox 2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22" name="picture 22"/>
          <p:cNvPicPr>
            <a:picLocks noChangeAspect="1"/>
          </p:cNvPicPr>
          <p:nvPr/>
        </p:nvPicPr>
        <p:blipFill>
          <a:blip r:embed="rId2"/>
          <a:stretch>
            <a:fillRect/>
          </a:stretch>
        </p:blipFill>
        <p:spPr>
          <a:xfrm rot="21600000">
            <a:off x="10668" y="981455"/>
            <a:ext cx="12181331" cy="45720"/>
          </a:xfrm>
          <a:prstGeom prst="rect">
            <a:avLst/>
          </a:prstGeom>
        </p:spPr>
      </p:pic>
      <p:sp>
        <p:nvSpPr>
          <p:cNvPr id="40" name="textbox 40"/>
          <p:cNvSpPr/>
          <p:nvPr>
            <p:custDataLst>
              <p:tags r:id="rId3"/>
            </p:custDataLst>
          </p:nvPr>
        </p:nvSpPr>
        <p:spPr>
          <a:xfrm>
            <a:off x="1559560" y="1479550"/>
            <a:ext cx="5701030" cy="2787650"/>
          </a:xfrm>
          <a:prstGeom prst="rect">
            <a:avLst/>
          </a:prstGeom>
        </p:spPr>
        <p:txBody>
          <a:bodyPr vert="horz" wrap="square" lIns="0" tIns="0" rIns="0" bIns="0"/>
          <a:p>
            <a:pPr algn="l" rtl="0" eaLnBrk="0">
              <a:lnSpc>
                <a:spcPct val="82000"/>
              </a:lnSpc>
            </a:pPr>
            <a:endParaRPr lang="en-US" altLang="en-US" sz="100" dirty="0"/>
          </a:p>
          <a:p>
            <a:pPr marL="55880" algn="l" rtl="0" eaLnBrk="0">
              <a:lnSpc>
                <a:spcPct val="93000"/>
              </a:lnSpc>
            </a:pPr>
            <a:endParaRPr lang="en-US" altLang="en-US" sz="2000" dirty="0">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54800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r>
              <a:rPr lang="en-US" altLang="zh-CN" sz="3200">
                <a:sym typeface="+mn-ea"/>
              </a:rPr>
              <a:t>adaboost</a:t>
            </a:r>
            <a:r>
              <a:rPr lang="zh-CN" altLang="en-US" sz="3200">
                <a:sym typeface="+mn-ea"/>
              </a:rPr>
              <a:t>构造过程小结</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pic>
        <p:nvPicPr>
          <p:cNvPr id="7" name="图片 6"/>
          <p:cNvPicPr>
            <a:picLocks noChangeAspect="1"/>
          </p:cNvPicPr>
          <p:nvPr>
            <p:custDataLst>
              <p:tags r:id="rId4"/>
            </p:custDataLst>
          </p:nvPr>
        </p:nvPicPr>
        <p:blipFill>
          <a:blip r:embed="rId5"/>
          <a:stretch>
            <a:fillRect/>
          </a:stretch>
        </p:blipFill>
        <p:spPr>
          <a:xfrm>
            <a:off x="1559560" y="1948180"/>
            <a:ext cx="7034530" cy="4102100"/>
          </a:xfrm>
          <a:prstGeom prst="rect">
            <a:avLst/>
          </a:prstGeom>
        </p:spPr>
      </p:pic>
      <p:sp>
        <p:nvSpPr>
          <p:cNvPr id="100" name="文本框 99"/>
          <p:cNvSpPr txBox="1"/>
          <p:nvPr/>
        </p:nvSpPr>
        <p:spPr>
          <a:xfrm>
            <a:off x="11718290" y="6486525"/>
            <a:ext cx="473710" cy="368300"/>
          </a:xfrm>
          <a:prstGeom prst="rect">
            <a:avLst/>
          </a:prstGeom>
          <a:noFill/>
          <a:ln w="9525">
            <a:noFill/>
          </a:ln>
        </p:spPr>
        <p:txBody>
          <a:bodyPr wrap="square">
            <a:spAutoFit/>
          </a:bodyPr>
          <a:p>
            <a:pPr indent="0"/>
            <a:r>
              <a:rPr lang="en-US" altLang="zh-CN" b="0">
                <a:ea typeface="宋体" panose="02010600030101010101" pitchFamily="2" charset="-122"/>
              </a:rPr>
              <a:t>53</a:t>
            </a:r>
            <a:endParaRPr lang="en-US" altLang="zh-CN" b="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1600000">
            <a:off x="126609" y="147616"/>
            <a:ext cx="2722051" cy="688004"/>
            <a:chOff x="0" y="0"/>
            <a:chExt cx="2722051" cy="688004"/>
          </a:xfrm>
        </p:grpSpPr>
        <p:pic>
          <p:nvPicPr>
            <p:cNvPr id="38" name="picture 38"/>
            <p:cNvPicPr>
              <a:picLocks noChangeAspect="1"/>
            </p:cNvPicPr>
            <p:nvPr/>
          </p:nvPicPr>
          <p:blipFill>
            <a:blip r:embed="rId1"/>
            <a:stretch>
              <a:fillRect/>
            </a:stretch>
          </p:blipFill>
          <p:spPr>
            <a:xfrm rot="21600000">
              <a:off x="0" y="29636"/>
              <a:ext cx="2696776" cy="658368"/>
            </a:xfrm>
            <a:prstGeom prst="rect">
              <a:avLst/>
            </a:prstGeom>
          </p:spPr>
        </p:pic>
        <p:sp>
          <p:nvSpPr>
            <p:cNvPr id="40" name="textbox 4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42" name="picture 42"/>
          <p:cNvPicPr>
            <a:picLocks noChangeAspect="1"/>
          </p:cNvPicPr>
          <p:nvPr/>
        </p:nvPicPr>
        <p:blipFill>
          <a:blip r:embed="rId2"/>
          <a:stretch>
            <a:fillRect/>
          </a:stretch>
        </p:blipFill>
        <p:spPr>
          <a:xfrm rot="21600000">
            <a:off x="10668" y="981455"/>
            <a:ext cx="12181331" cy="45720"/>
          </a:xfrm>
          <a:prstGeom prst="rect">
            <a:avLst/>
          </a:prstGeom>
        </p:spPr>
      </p:pic>
      <p:pic>
        <p:nvPicPr>
          <p:cNvPr id="2" name="图片 1"/>
          <p:cNvPicPr>
            <a:picLocks noChangeAspect="1"/>
          </p:cNvPicPr>
          <p:nvPr>
            <p:custDataLst>
              <p:tags r:id="rId3"/>
            </p:custDataLst>
          </p:nvPr>
        </p:nvPicPr>
        <p:blipFill>
          <a:blip r:embed="rId4"/>
          <a:stretch>
            <a:fillRect/>
          </a:stretch>
        </p:blipFill>
        <p:spPr>
          <a:xfrm>
            <a:off x="860425" y="1551305"/>
            <a:ext cx="9143365" cy="3362960"/>
          </a:xfrm>
          <a:prstGeom prst="rect">
            <a:avLst/>
          </a:prstGeom>
        </p:spPr>
      </p:pic>
      <p:sp>
        <p:nvSpPr>
          <p:cNvPr id="100" name="文本框 99"/>
          <p:cNvSpPr txBox="1"/>
          <p:nvPr/>
        </p:nvSpPr>
        <p:spPr>
          <a:xfrm>
            <a:off x="11731625" y="6489700"/>
            <a:ext cx="460375" cy="368300"/>
          </a:xfrm>
          <a:prstGeom prst="rect">
            <a:avLst/>
          </a:prstGeom>
          <a:noFill/>
          <a:ln w="9525">
            <a:noFill/>
          </a:ln>
        </p:spPr>
        <p:txBody>
          <a:bodyPr wrap="square">
            <a:spAutoFit/>
          </a:bodyPr>
          <a:p>
            <a:pPr indent="0"/>
            <a:r>
              <a:rPr lang="en-US" altLang="zh-CN" b="0">
                <a:ea typeface="宋体" panose="02010600030101010101" pitchFamily="2" charset="-122"/>
              </a:rPr>
              <a:t>54</a:t>
            </a:r>
            <a:endParaRPr lang="en-US" altLang="zh-CN" b="0">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1600000">
            <a:off x="126609" y="147616"/>
            <a:ext cx="2722051" cy="688004"/>
            <a:chOff x="0" y="0"/>
            <a:chExt cx="2722051" cy="688004"/>
          </a:xfrm>
        </p:grpSpPr>
        <p:pic>
          <p:nvPicPr>
            <p:cNvPr id="38" name="picture 38"/>
            <p:cNvPicPr>
              <a:picLocks noChangeAspect="1"/>
            </p:cNvPicPr>
            <p:nvPr/>
          </p:nvPicPr>
          <p:blipFill>
            <a:blip r:embed="rId1"/>
            <a:stretch>
              <a:fillRect/>
            </a:stretch>
          </p:blipFill>
          <p:spPr>
            <a:xfrm rot="21600000">
              <a:off x="0" y="29636"/>
              <a:ext cx="2696776" cy="658368"/>
            </a:xfrm>
            <a:prstGeom prst="rect">
              <a:avLst/>
            </a:prstGeom>
          </p:spPr>
        </p:pic>
        <p:sp>
          <p:nvSpPr>
            <p:cNvPr id="40" name="textbox 4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42" name="picture 42"/>
          <p:cNvPicPr>
            <a:picLocks noChangeAspect="1"/>
          </p:cNvPicPr>
          <p:nvPr/>
        </p:nvPicPr>
        <p:blipFill>
          <a:blip r:embed="rId2"/>
          <a:stretch>
            <a:fillRect/>
          </a:stretch>
        </p:blipFill>
        <p:spPr>
          <a:xfrm rot="21600000">
            <a:off x="10668" y="981455"/>
            <a:ext cx="12181331" cy="45720"/>
          </a:xfrm>
          <a:prstGeom prst="rect">
            <a:avLst/>
          </a:prstGeom>
        </p:spPr>
      </p:pic>
      <p:sp>
        <p:nvSpPr>
          <p:cNvPr id="3" name="文本框 2"/>
          <p:cNvSpPr txBox="1"/>
          <p:nvPr>
            <p:custDataLst>
              <p:tags r:id="rId3"/>
            </p:custDataLst>
          </p:nvPr>
        </p:nvSpPr>
        <p:spPr>
          <a:xfrm>
            <a:off x="36258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【GBDT</a:t>
            </a:r>
            <a:r>
              <a:rPr lang="zh-CN"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算法</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5" name="文本框 4"/>
          <p:cNvSpPr txBox="1"/>
          <p:nvPr/>
        </p:nvSpPr>
        <p:spPr>
          <a:xfrm>
            <a:off x="1010920" y="1772920"/>
            <a:ext cx="9428480" cy="2306955"/>
          </a:xfrm>
          <a:prstGeom prst="rect">
            <a:avLst/>
          </a:prstGeom>
          <a:noFill/>
        </p:spPr>
        <p:txBody>
          <a:bodyPr wrap="square" rtlCol="0" anchor="t">
            <a:spAutoFit/>
          </a:bodyPr>
          <a:p>
            <a:pPr>
              <a:lnSpc>
                <a:spcPct val="150000"/>
              </a:lnSpc>
              <a:spcBef>
                <a:spcPts val="900"/>
              </a:spcBef>
              <a:spcAft>
                <a:spcPts val="900"/>
              </a:spcAft>
            </a:pPr>
            <a:r>
              <a:rPr lang="en-US" altLang="zh-CN" sz="2400" dirty="0" err="1">
                <a:latin typeface="+mj-ea"/>
                <a:ea typeface="+mj-ea"/>
                <a:cs typeface="Times New Roman" panose="02020603050405020304" charset="0"/>
                <a:sym typeface="+mn-ea"/>
              </a:rPr>
              <a:t>GBDT（Gradient</a:t>
            </a:r>
            <a:r>
              <a:rPr lang="en-US" altLang="zh-CN" sz="2400" dirty="0">
                <a:latin typeface="+mj-ea"/>
                <a:ea typeface="+mj-ea"/>
                <a:cs typeface="Times New Roman" panose="02020603050405020304" charset="0"/>
                <a:sym typeface="+mn-ea"/>
              </a:rPr>
              <a:t> Boosting Decision </a:t>
            </a:r>
            <a:r>
              <a:rPr lang="en-US" altLang="zh-CN" sz="2400" dirty="0" err="1">
                <a:latin typeface="+mj-ea"/>
                <a:ea typeface="+mj-ea"/>
                <a:cs typeface="Times New Roman" panose="02020603050405020304" charset="0"/>
                <a:sym typeface="+mn-ea"/>
              </a:rPr>
              <a:t>Tree）是一种迭代的决策树算法，该算法由多棵决策树组成，GBDT</a:t>
            </a:r>
            <a:r>
              <a:rPr lang="en-US" altLang="zh-CN" sz="2400" dirty="0">
                <a:latin typeface="+mj-ea"/>
                <a:ea typeface="+mj-ea"/>
                <a:cs typeface="Times New Roman" panose="02020603050405020304" charset="0"/>
                <a:sym typeface="+mn-ea"/>
              </a:rPr>
              <a:t> </a:t>
            </a:r>
            <a:r>
              <a:rPr lang="zh-CN" altLang="zh-CN" sz="2400" dirty="0">
                <a:latin typeface="+mj-ea"/>
                <a:ea typeface="+mj-ea"/>
                <a:cs typeface="Times New Roman" panose="02020603050405020304" charset="0"/>
                <a:sym typeface="+mn-ea"/>
              </a:rPr>
              <a:t>的核心在于累加所有树的结果作为最终结果，所以</a:t>
            </a:r>
            <a:r>
              <a:rPr lang="en-US" altLang="zh-CN" sz="2400" dirty="0">
                <a:latin typeface="+mj-ea"/>
                <a:ea typeface="+mj-ea"/>
                <a:cs typeface="Times New Roman" panose="02020603050405020304" charset="0"/>
                <a:sym typeface="+mn-ea"/>
              </a:rPr>
              <a:t> GBDT </a:t>
            </a:r>
            <a:r>
              <a:rPr lang="zh-CN" altLang="zh-CN" sz="2400" dirty="0">
                <a:latin typeface="+mj-ea"/>
                <a:ea typeface="+mj-ea"/>
                <a:cs typeface="Times New Roman" panose="02020603050405020304" charset="0"/>
                <a:sym typeface="+mn-ea"/>
              </a:rPr>
              <a:t>中的树都是</a:t>
            </a:r>
            <a:r>
              <a:rPr lang="zh-CN" altLang="zh-CN" sz="2400" dirty="0">
                <a:solidFill>
                  <a:srgbClr val="FF0000"/>
                </a:solidFill>
                <a:latin typeface="+mj-ea"/>
                <a:ea typeface="+mj-ea"/>
                <a:cs typeface="Times New Roman" panose="02020603050405020304" charset="0"/>
                <a:sym typeface="+mn-ea"/>
              </a:rPr>
              <a:t>回归树</a:t>
            </a:r>
            <a:r>
              <a:rPr lang="zh-CN" altLang="zh-CN" sz="2400" dirty="0">
                <a:latin typeface="+mj-ea"/>
                <a:ea typeface="+mj-ea"/>
                <a:cs typeface="Times New Roman" panose="02020603050405020304" charset="0"/>
                <a:sym typeface="+mn-ea"/>
              </a:rPr>
              <a:t>，不是</a:t>
            </a:r>
            <a:r>
              <a:rPr lang="zh-CN" altLang="zh-CN" sz="2400" dirty="0">
                <a:solidFill>
                  <a:srgbClr val="004586"/>
                </a:solidFill>
                <a:latin typeface="+mj-ea"/>
                <a:ea typeface="+mj-ea"/>
                <a:cs typeface="Times New Roman" panose="02020603050405020304" charset="0"/>
                <a:sym typeface="+mn-ea"/>
              </a:rPr>
              <a:t>分类树</a:t>
            </a:r>
            <a:r>
              <a:rPr lang="zh-CN" altLang="zh-CN" sz="2400" dirty="0">
                <a:latin typeface="+mj-ea"/>
                <a:ea typeface="+mj-ea"/>
                <a:cs typeface="Times New Roman" panose="02020603050405020304" charset="0"/>
                <a:sym typeface="+mn-ea"/>
              </a:rPr>
              <a:t>，</a:t>
            </a:r>
            <a:r>
              <a:rPr lang="en-US" altLang="zh-CN" sz="2400" dirty="0" err="1">
                <a:latin typeface="+mj-ea"/>
                <a:ea typeface="+mj-ea"/>
                <a:cs typeface="Times New Roman" panose="02020603050405020304" charset="0"/>
                <a:sym typeface="+mn-ea"/>
              </a:rPr>
              <a:t>它是属于</a:t>
            </a:r>
            <a:r>
              <a:rPr lang="en-US" altLang="zh-CN" sz="2400" dirty="0">
                <a:latin typeface="+mj-ea"/>
                <a:ea typeface="+mj-ea"/>
                <a:cs typeface="Times New Roman" panose="02020603050405020304" charset="0"/>
                <a:sym typeface="+mn-ea"/>
              </a:rPr>
              <a:t> Boosting </a:t>
            </a:r>
            <a:r>
              <a:rPr lang="en-US" altLang="zh-CN" sz="2400" dirty="0" err="1">
                <a:latin typeface="+mj-ea"/>
                <a:ea typeface="+mj-ea"/>
                <a:cs typeface="Times New Roman" panose="02020603050405020304" charset="0"/>
                <a:sym typeface="+mn-ea"/>
              </a:rPr>
              <a:t>策略。GBDT</a:t>
            </a:r>
            <a:r>
              <a:rPr lang="en-US" altLang="zh-CN" sz="2400" dirty="0">
                <a:latin typeface="+mj-ea"/>
                <a:ea typeface="+mj-ea"/>
                <a:cs typeface="Times New Roman" panose="02020603050405020304" charset="0"/>
                <a:sym typeface="+mn-ea"/>
              </a:rPr>
              <a:t> </a:t>
            </a:r>
            <a:r>
              <a:rPr lang="en-US" altLang="zh-CN" sz="2400" dirty="0" err="1">
                <a:latin typeface="+mj-ea"/>
                <a:ea typeface="+mj-ea"/>
                <a:cs typeface="Times New Roman" panose="02020603050405020304" charset="0"/>
                <a:sym typeface="+mn-ea"/>
              </a:rPr>
              <a:t>是被公认的泛化能力较强的算法</a:t>
            </a:r>
            <a:r>
              <a:rPr lang="en-US" altLang="zh-CN" sz="2400" dirty="0">
                <a:latin typeface="+mj-ea"/>
                <a:ea typeface="+mj-ea"/>
                <a:cs typeface="Times New Roman" panose="02020603050405020304" charset="0"/>
                <a:sym typeface="+mn-ea"/>
              </a:rPr>
              <a:t>。</a:t>
            </a:r>
            <a:endParaRPr lang="en-US" altLang="zh-CN" sz="2400" dirty="0">
              <a:latin typeface="+mj-ea"/>
              <a:ea typeface="+mj-ea"/>
              <a:cs typeface="Times New Roman" panose="02020603050405020304" charset="0"/>
              <a:sym typeface="+mn-ea"/>
            </a:endParaRPr>
          </a:p>
        </p:txBody>
      </p:sp>
      <p:sp>
        <p:nvSpPr>
          <p:cNvPr id="6" name="文本框 5"/>
          <p:cNvSpPr txBox="1"/>
          <p:nvPr/>
        </p:nvSpPr>
        <p:spPr>
          <a:xfrm>
            <a:off x="1010920" y="4203065"/>
            <a:ext cx="9428480" cy="1983740"/>
          </a:xfrm>
          <a:prstGeom prst="rect">
            <a:avLst/>
          </a:prstGeom>
          <a:noFill/>
        </p:spPr>
        <p:txBody>
          <a:bodyPr wrap="square" rtlCol="0" anchor="t">
            <a:spAutoFit/>
          </a:bodyPr>
          <a:p>
            <a:pPr>
              <a:lnSpc>
                <a:spcPct val="150000"/>
              </a:lnSpc>
              <a:spcBef>
                <a:spcPts val="900"/>
              </a:spcBef>
              <a:spcAft>
                <a:spcPts val="900"/>
              </a:spcAft>
            </a:pPr>
            <a:r>
              <a:rPr lang="en-US" altLang="zh-CN" sz="2400" dirty="0">
                <a:latin typeface="+mj-ea"/>
                <a:ea typeface="+mj-ea"/>
                <a:cs typeface="Times New Roman" panose="02020603050405020304" charset="0"/>
                <a:sym typeface="+mn-ea"/>
              </a:rPr>
              <a:t>GBDT </a:t>
            </a:r>
            <a:r>
              <a:rPr lang="en-US" altLang="zh-CN" sz="2400" dirty="0" err="1">
                <a:latin typeface="+mj-ea"/>
                <a:ea typeface="+mj-ea"/>
                <a:cs typeface="Times New Roman" panose="02020603050405020304" charset="0"/>
                <a:sym typeface="+mn-ea"/>
              </a:rPr>
              <a:t>由三个概念组成</a:t>
            </a:r>
            <a:r>
              <a:rPr lang="en-US" altLang="zh-CN" sz="2400" dirty="0">
                <a:latin typeface="+mj-ea"/>
                <a:ea typeface="+mj-ea"/>
                <a:cs typeface="Times New Roman" panose="02020603050405020304" charset="0"/>
                <a:sym typeface="+mn-ea"/>
              </a:rPr>
              <a:t>：</a:t>
            </a:r>
            <a:endParaRPr lang="en-US" altLang="zh-CN" sz="2400" dirty="0">
              <a:latin typeface="+mj-ea"/>
              <a:ea typeface="+mj-ea"/>
              <a:cs typeface="Times New Roman" panose="02020603050405020304" charset="0"/>
            </a:endParaRPr>
          </a:p>
          <a:p>
            <a:pPr>
              <a:lnSpc>
                <a:spcPct val="150000"/>
              </a:lnSpc>
              <a:spcBef>
                <a:spcPts val="900"/>
              </a:spcBef>
              <a:spcAft>
                <a:spcPts val="900"/>
              </a:spcAft>
            </a:pPr>
            <a:r>
              <a:rPr lang="en-US" altLang="zh-CN" sz="2400" dirty="0">
                <a:latin typeface="+mj-ea"/>
                <a:ea typeface="+mj-ea"/>
                <a:cs typeface="Times New Roman" panose="02020603050405020304" charset="0"/>
                <a:sym typeface="+mn-ea"/>
              </a:rPr>
              <a:t>Regression Decision </a:t>
            </a:r>
            <a:r>
              <a:rPr lang="en-US" altLang="zh-CN" sz="2400" dirty="0" err="1">
                <a:latin typeface="+mj-ea"/>
                <a:ea typeface="+mj-ea"/>
                <a:cs typeface="Times New Roman" panose="02020603050405020304" charset="0"/>
                <a:sym typeface="+mn-ea"/>
              </a:rPr>
              <a:t>Tree（即</a:t>
            </a:r>
            <a:r>
              <a:rPr lang="en-US" altLang="zh-CN" sz="2400" dirty="0">
                <a:latin typeface="+mj-ea"/>
                <a:ea typeface="+mj-ea"/>
                <a:cs typeface="Times New Roman" panose="02020603050405020304" charset="0"/>
                <a:sym typeface="+mn-ea"/>
              </a:rPr>
              <a:t> DT）、Gradient </a:t>
            </a:r>
            <a:r>
              <a:rPr lang="en-US" altLang="zh-CN" sz="2400" dirty="0" err="1">
                <a:latin typeface="+mj-ea"/>
                <a:ea typeface="+mj-ea"/>
                <a:cs typeface="Times New Roman" panose="02020603050405020304" charset="0"/>
                <a:sym typeface="+mn-ea"/>
              </a:rPr>
              <a:t>Boosting（即</a:t>
            </a:r>
            <a:r>
              <a:rPr lang="en-US" altLang="zh-CN" sz="2400" dirty="0">
                <a:latin typeface="+mj-ea"/>
                <a:ea typeface="+mj-ea"/>
                <a:cs typeface="Times New Roman" panose="02020603050405020304" charset="0"/>
                <a:sym typeface="+mn-ea"/>
              </a:rPr>
              <a:t> GB），和 Shrinkage（</a:t>
            </a:r>
            <a:r>
              <a:rPr lang="zh-CN" altLang="en-US" sz="2400" dirty="0">
                <a:latin typeface="+mj-ea"/>
                <a:ea typeface="+mj-ea"/>
                <a:cs typeface="Times New Roman" panose="02020603050405020304" charset="0"/>
                <a:sym typeface="+mn-ea"/>
              </a:rPr>
              <a:t>缩减</a:t>
            </a:r>
            <a:r>
              <a:rPr lang="en-US" altLang="zh-CN" sz="2400" dirty="0">
                <a:latin typeface="+mj-ea"/>
                <a:ea typeface="+mj-ea"/>
                <a:cs typeface="Times New Roman" panose="02020603050405020304" charset="0"/>
                <a:sym typeface="+mn-ea"/>
              </a:rPr>
              <a:t>）</a:t>
            </a:r>
            <a:endParaRPr lang="en-US" altLang="zh-CN" sz="2400" dirty="0">
              <a:latin typeface="+mj-ea"/>
              <a:ea typeface="+mj-ea"/>
              <a:cs typeface="Times New Roman" panose="02020603050405020304" charset="0"/>
              <a:sym typeface="+mn-ea"/>
            </a:endParaRPr>
          </a:p>
        </p:txBody>
      </p:sp>
      <p:sp>
        <p:nvSpPr>
          <p:cNvPr id="2" name="文本框 1"/>
          <p:cNvSpPr txBox="1"/>
          <p:nvPr/>
        </p:nvSpPr>
        <p:spPr>
          <a:xfrm>
            <a:off x="11697335" y="6452870"/>
            <a:ext cx="494030" cy="368300"/>
          </a:xfrm>
          <a:prstGeom prst="rect">
            <a:avLst/>
          </a:prstGeom>
          <a:noFill/>
        </p:spPr>
        <p:txBody>
          <a:bodyPr wrap="square" rtlCol="0">
            <a:spAutoFit/>
          </a:bodyPr>
          <a:p>
            <a:r>
              <a:rPr lang="en-US" altLang="zh-CN"/>
              <a:t>55</a:t>
            </a:r>
            <a:endParaRPr lang="en-US" altLang="zh-C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1600000">
            <a:off x="126609" y="147616"/>
            <a:ext cx="2722051" cy="688004"/>
            <a:chOff x="0" y="0"/>
            <a:chExt cx="2722051" cy="688004"/>
          </a:xfrm>
        </p:grpSpPr>
        <p:pic>
          <p:nvPicPr>
            <p:cNvPr id="38" name="picture 38"/>
            <p:cNvPicPr>
              <a:picLocks noChangeAspect="1"/>
            </p:cNvPicPr>
            <p:nvPr/>
          </p:nvPicPr>
          <p:blipFill>
            <a:blip r:embed="rId1"/>
            <a:stretch>
              <a:fillRect/>
            </a:stretch>
          </p:blipFill>
          <p:spPr>
            <a:xfrm rot="21600000">
              <a:off x="0" y="29636"/>
              <a:ext cx="2696776" cy="658368"/>
            </a:xfrm>
            <a:prstGeom prst="rect">
              <a:avLst/>
            </a:prstGeom>
          </p:spPr>
        </p:pic>
        <p:sp>
          <p:nvSpPr>
            <p:cNvPr id="40" name="textbox 4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42" name="picture 42"/>
          <p:cNvPicPr>
            <a:picLocks noChangeAspect="1"/>
          </p:cNvPicPr>
          <p:nvPr/>
        </p:nvPicPr>
        <p:blipFill>
          <a:blip r:embed="rId2"/>
          <a:stretch>
            <a:fillRect/>
          </a:stretch>
        </p:blipFill>
        <p:spPr>
          <a:xfrm rot="21600000">
            <a:off x="10668" y="981455"/>
            <a:ext cx="12181331" cy="45720"/>
          </a:xfrm>
          <a:prstGeom prst="rect">
            <a:avLst/>
          </a:prstGeom>
        </p:spPr>
      </p:pic>
      <p:sp>
        <p:nvSpPr>
          <p:cNvPr id="3" name="文本框 2"/>
          <p:cNvSpPr txBox="1"/>
          <p:nvPr>
            <p:custDataLst>
              <p:tags r:id="rId3"/>
            </p:custDataLst>
          </p:nvPr>
        </p:nvSpPr>
        <p:spPr>
          <a:xfrm>
            <a:off x="36258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【GBDT</a:t>
            </a:r>
            <a:r>
              <a:rPr lang="zh-CN"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算法</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2" name="文本框 1"/>
          <p:cNvSpPr txBox="1"/>
          <p:nvPr/>
        </p:nvSpPr>
        <p:spPr>
          <a:xfrm>
            <a:off x="938530" y="2591435"/>
            <a:ext cx="10035540" cy="2914015"/>
          </a:xfrm>
          <a:prstGeom prst="rect">
            <a:avLst/>
          </a:prstGeom>
          <a:noFill/>
        </p:spPr>
        <p:txBody>
          <a:bodyPr wrap="square" rtlCol="0" anchor="t">
            <a:noAutofit/>
          </a:bodyPr>
          <a:p>
            <a:pPr>
              <a:lnSpc>
                <a:spcPct val="70000"/>
              </a:lnSpc>
              <a:buNone/>
            </a:pPr>
            <a:endParaRPr lang="zh-CN" altLang="en-US" sz="2400" dirty="0"/>
          </a:p>
          <a:p>
            <a:pPr>
              <a:lnSpc>
                <a:spcPct val="150000"/>
              </a:lnSpc>
            </a:pPr>
            <a:r>
              <a:rPr lang="zh-CN" altLang="en-US" sz="2400" dirty="0">
                <a:sym typeface="+mn-ea"/>
              </a:rPr>
              <a:t>损失函数</a:t>
            </a:r>
            <a:r>
              <a:rPr lang="en-US" altLang="zh-CN" sz="2400" dirty="0">
                <a:sym typeface="+mn-ea"/>
              </a:rPr>
              <a:t>(loss function)</a:t>
            </a:r>
            <a:r>
              <a:rPr lang="zh-CN" altLang="en-US" sz="2400" dirty="0">
                <a:sym typeface="+mn-ea"/>
              </a:rPr>
              <a:t>：描述的是模型的不靠谱程度，损失函数越大，则说明模型越容易出错。</a:t>
            </a:r>
            <a:endParaRPr lang="zh-CN" altLang="en-US" sz="2400" dirty="0"/>
          </a:p>
          <a:p>
            <a:pPr>
              <a:lnSpc>
                <a:spcPct val="150000"/>
              </a:lnSpc>
            </a:pPr>
            <a:r>
              <a:rPr lang="en-US" altLang="zh-CN" sz="2400" dirty="0">
                <a:sym typeface="+mn-ea"/>
              </a:rPr>
              <a:t>Logistic</a:t>
            </a:r>
            <a:r>
              <a:rPr lang="zh-CN" altLang="en-US" sz="2400" dirty="0">
                <a:sym typeface="+mn-ea"/>
              </a:rPr>
              <a:t>变换：是一个平滑且将数据规范化（使得向量的长度为</a:t>
            </a:r>
            <a:r>
              <a:rPr lang="en-US" altLang="zh-CN" sz="2400" dirty="0">
                <a:sym typeface="+mn-ea"/>
              </a:rPr>
              <a:t>1</a:t>
            </a:r>
            <a:r>
              <a:rPr lang="zh-CN" altLang="en-US" sz="2400" dirty="0">
                <a:sym typeface="+mn-ea"/>
              </a:rPr>
              <a:t>）的过程。</a:t>
            </a:r>
            <a:endParaRPr lang="zh-CN" altLang="en-US" sz="2400" dirty="0"/>
          </a:p>
          <a:p>
            <a:pPr>
              <a:lnSpc>
                <a:spcPct val="150000"/>
              </a:lnSpc>
            </a:pPr>
            <a:r>
              <a:rPr lang="zh-CN" altLang="en-US" sz="2400" dirty="0">
                <a:sym typeface="+mn-ea"/>
              </a:rPr>
              <a:t>过拟合：为了得到一致假设而使假设变得过度复杂称为过拟合。</a:t>
            </a:r>
            <a:endParaRPr lang="zh-CN" altLang="en-US" sz="2400" dirty="0"/>
          </a:p>
          <a:p>
            <a:pPr>
              <a:lnSpc>
                <a:spcPct val="150000"/>
              </a:lnSpc>
            </a:pPr>
            <a:r>
              <a:rPr lang="zh-CN" altLang="en-US" sz="2400" dirty="0">
                <a:sym typeface="+mn-ea"/>
              </a:rPr>
              <a:t>泛化能力</a:t>
            </a:r>
            <a:r>
              <a:rPr lang="en-US" altLang="zh-CN" sz="2400" dirty="0">
                <a:sym typeface="+mn-ea"/>
              </a:rPr>
              <a:t>(generalization ability)</a:t>
            </a:r>
            <a:r>
              <a:rPr lang="zh-CN" altLang="en-US" sz="2400" dirty="0">
                <a:sym typeface="+mn-ea"/>
              </a:rPr>
              <a:t>：指机器学习算法对新鲜样本的适应能力。</a:t>
            </a:r>
            <a:endParaRPr lang="zh-CN" altLang="en-US" sz="2400" dirty="0">
              <a:sym typeface="+mn-ea"/>
            </a:endParaRPr>
          </a:p>
        </p:txBody>
      </p:sp>
      <p:sp>
        <p:nvSpPr>
          <p:cNvPr id="7" name="文本框 6"/>
          <p:cNvSpPr txBox="1"/>
          <p:nvPr/>
        </p:nvSpPr>
        <p:spPr>
          <a:xfrm>
            <a:off x="938530" y="1925320"/>
            <a:ext cx="6096000" cy="460375"/>
          </a:xfrm>
          <a:prstGeom prst="rect">
            <a:avLst/>
          </a:prstGeom>
          <a:noFill/>
        </p:spPr>
        <p:txBody>
          <a:bodyPr wrap="square" rtlCol="0" anchor="t">
            <a:spAutoFit/>
          </a:bodyPr>
          <a:p>
            <a:r>
              <a:rPr lang="zh-CN" altLang="en-US" sz="2400" dirty="0">
                <a:sym typeface="+mn-ea"/>
              </a:rPr>
              <a:t>相关名词解释</a:t>
            </a:r>
            <a:endParaRPr lang="zh-CN" altLang="en-US" sz="2400" dirty="0">
              <a:sym typeface="+mn-ea"/>
            </a:endParaRPr>
          </a:p>
        </p:txBody>
      </p:sp>
      <p:sp>
        <p:nvSpPr>
          <p:cNvPr id="100" name="文本框 99"/>
          <p:cNvSpPr txBox="1"/>
          <p:nvPr>
            <p:custDataLst>
              <p:tags r:id="rId4"/>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56</a:t>
            </a:r>
            <a:endParaRPr lang="en-US" altLang="zh-CN" b="0">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1600000">
            <a:off x="126609" y="147616"/>
            <a:ext cx="2722051" cy="688004"/>
            <a:chOff x="0" y="0"/>
            <a:chExt cx="2722051" cy="688004"/>
          </a:xfrm>
        </p:grpSpPr>
        <p:pic>
          <p:nvPicPr>
            <p:cNvPr id="38" name="picture 38"/>
            <p:cNvPicPr>
              <a:picLocks noChangeAspect="1"/>
            </p:cNvPicPr>
            <p:nvPr/>
          </p:nvPicPr>
          <p:blipFill>
            <a:blip r:embed="rId1"/>
            <a:stretch>
              <a:fillRect/>
            </a:stretch>
          </p:blipFill>
          <p:spPr>
            <a:xfrm rot="21600000">
              <a:off x="0" y="29636"/>
              <a:ext cx="2696776" cy="658368"/>
            </a:xfrm>
            <a:prstGeom prst="rect">
              <a:avLst/>
            </a:prstGeom>
          </p:spPr>
        </p:pic>
        <p:sp>
          <p:nvSpPr>
            <p:cNvPr id="40" name="textbox 4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42" name="picture 42"/>
          <p:cNvPicPr>
            <a:picLocks noChangeAspect="1"/>
          </p:cNvPicPr>
          <p:nvPr/>
        </p:nvPicPr>
        <p:blipFill>
          <a:blip r:embed="rId2"/>
          <a:stretch>
            <a:fillRect/>
          </a:stretch>
        </p:blipFill>
        <p:spPr>
          <a:xfrm rot="21600000">
            <a:off x="10668" y="981455"/>
            <a:ext cx="12181331" cy="45720"/>
          </a:xfrm>
          <a:prstGeom prst="rect">
            <a:avLst/>
          </a:prstGeom>
        </p:spPr>
      </p:pic>
      <p:sp>
        <p:nvSpPr>
          <p:cNvPr id="3" name="文本框 2"/>
          <p:cNvSpPr txBox="1"/>
          <p:nvPr>
            <p:custDataLst>
              <p:tags r:id="rId3"/>
            </p:custDataLst>
          </p:nvPr>
        </p:nvSpPr>
        <p:spPr>
          <a:xfrm>
            <a:off x="36258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【DT</a:t>
            </a:r>
            <a:r>
              <a:rPr lang="zh-CN"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算法</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100" name="文本框 99"/>
          <p:cNvSpPr txBox="1"/>
          <p:nvPr/>
        </p:nvSpPr>
        <p:spPr>
          <a:xfrm>
            <a:off x="1348740" y="1688465"/>
            <a:ext cx="9493885" cy="2925445"/>
          </a:xfrm>
          <a:prstGeom prst="rect">
            <a:avLst/>
          </a:prstGeom>
          <a:noFill/>
          <a:ln w="9525">
            <a:noFill/>
          </a:ln>
        </p:spPr>
        <p:txBody>
          <a:bodyPr>
            <a:noAutofit/>
          </a:bodyPr>
          <a:p>
            <a:pPr indent="269875">
              <a:lnSpc>
                <a:spcPct val="150000"/>
              </a:lnSpc>
            </a:pPr>
            <a:r>
              <a:rPr lang="zh-CN" sz="2400" b="1">
                <a:ea typeface="仿宋" panose="02010609060101010101" charset="-122"/>
              </a:rPr>
              <a:t>在机器学习领域中，回归问题是一类关注预测数值型目标变量的任务。而梯度提升决策树（</a:t>
            </a:r>
            <a:r>
              <a:rPr lang="en-US" sz="2400" b="1">
                <a:latin typeface="Times New Roman" panose="02020603050405020304" charset="0"/>
                <a:ea typeface="仿宋" panose="02010609060101010101" charset="-122"/>
              </a:rPr>
              <a:t>Gradient Boosting Decision Tree</a:t>
            </a:r>
            <a:r>
              <a:rPr lang="zh-CN" sz="2400" b="1">
                <a:ea typeface="仿宋" panose="02010609060101010101" charset="-122"/>
              </a:rPr>
              <a:t>）是一种强大的机器学习算法，被广泛应用于解决回归问题。本文将介绍回归问题的基本概念，并重点讨论了梯度提升决策树模型的选择方法。</a:t>
            </a:r>
            <a:endParaRPr lang="zh-CN" sz="2400" b="1">
              <a:ea typeface="仿宋" panose="02010609060101010101" charset="-122"/>
            </a:endParaRPr>
          </a:p>
          <a:p>
            <a:pPr indent="269875">
              <a:lnSpc>
                <a:spcPct val="150000"/>
              </a:lnSpc>
            </a:pPr>
            <a:r>
              <a:rPr lang="zh-CN" altLang="en-US" sz="2400" b="1">
                <a:ea typeface="仿宋" panose="02010609060101010101" charset="-122"/>
              </a:rPr>
              <a:t>梯度提升决策树是一种集成学习算法，也称为梯度提升机。它通过将多个决策树结合起来，逐步减少预测误差，从而获得更准确的预测结果。GBDT通过一种递归的方式，迭代地拟合残差，使得每次迭代的模型都能够更好地拟合数据。</a:t>
            </a:r>
            <a:endParaRPr lang="zh-CN" altLang="en-US" sz="2400" b="1">
              <a:ea typeface="仿宋" panose="02010609060101010101" charset="-122"/>
            </a:endParaRPr>
          </a:p>
        </p:txBody>
      </p:sp>
      <p:sp>
        <p:nvSpPr>
          <p:cNvPr id="2" name="文本框 1"/>
          <p:cNvSpPr txBox="1"/>
          <p:nvPr>
            <p:custDataLst>
              <p:tags r:id="rId4"/>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57</a:t>
            </a:r>
            <a:endParaRPr lang="en-US" altLang="zh-CN" b="0">
              <a:ea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1600000">
            <a:off x="126609" y="147616"/>
            <a:ext cx="2722051" cy="688004"/>
            <a:chOff x="0" y="0"/>
            <a:chExt cx="2722051" cy="688004"/>
          </a:xfrm>
        </p:grpSpPr>
        <p:pic>
          <p:nvPicPr>
            <p:cNvPr id="38" name="picture 38"/>
            <p:cNvPicPr>
              <a:picLocks noChangeAspect="1"/>
            </p:cNvPicPr>
            <p:nvPr/>
          </p:nvPicPr>
          <p:blipFill>
            <a:blip r:embed="rId1"/>
            <a:stretch>
              <a:fillRect/>
            </a:stretch>
          </p:blipFill>
          <p:spPr>
            <a:xfrm rot="21600000">
              <a:off x="0" y="29636"/>
              <a:ext cx="2696776" cy="658368"/>
            </a:xfrm>
            <a:prstGeom prst="rect">
              <a:avLst/>
            </a:prstGeom>
          </p:spPr>
        </p:pic>
        <p:sp>
          <p:nvSpPr>
            <p:cNvPr id="40" name="textbox 4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42" name="picture 42"/>
          <p:cNvPicPr>
            <a:picLocks noChangeAspect="1"/>
          </p:cNvPicPr>
          <p:nvPr/>
        </p:nvPicPr>
        <p:blipFill>
          <a:blip r:embed="rId2"/>
          <a:stretch>
            <a:fillRect/>
          </a:stretch>
        </p:blipFill>
        <p:spPr>
          <a:xfrm rot="21600000">
            <a:off x="10668" y="981455"/>
            <a:ext cx="12181331" cy="45720"/>
          </a:xfrm>
          <a:prstGeom prst="rect">
            <a:avLst/>
          </a:prstGeom>
        </p:spPr>
      </p:pic>
      <p:sp>
        <p:nvSpPr>
          <p:cNvPr id="3" name="文本框 2"/>
          <p:cNvSpPr txBox="1"/>
          <p:nvPr>
            <p:custDataLst>
              <p:tags r:id="rId3"/>
            </p:custDataLst>
          </p:nvPr>
        </p:nvSpPr>
        <p:spPr>
          <a:xfrm>
            <a:off x="36258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【GB</a:t>
            </a:r>
            <a:r>
              <a:rPr lang="zh-CN"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算法</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5" name="文本框 4"/>
          <p:cNvSpPr txBox="1"/>
          <p:nvPr/>
        </p:nvSpPr>
        <p:spPr>
          <a:xfrm>
            <a:off x="986155" y="1880235"/>
            <a:ext cx="10231120" cy="3900805"/>
          </a:xfrm>
          <a:prstGeom prst="rect">
            <a:avLst/>
          </a:prstGeom>
          <a:noFill/>
        </p:spPr>
        <p:txBody>
          <a:bodyPr wrap="square" rtlCol="0" anchor="t">
            <a:noAutofit/>
          </a:bodyPr>
          <a:p>
            <a:r>
              <a:rPr lang="en-US" altLang="zh-CN" sz="2400" dirty="0">
                <a:sym typeface="+mn-ea"/>
              </a:rPr>
              <a:t>Gradient Boosting:</a:t>
            </a:r>
            <a:r>
              <a:rPr lang="zh-CN" altLang="en-US" sz="2400" dirty="0">
                <a:sym typeface="+mn-ea"/>
              </a:rPr>
              <a:t>梯度迭代</a:t>
            </a:r>
            <a:endParaRPr lang="zh-CN" altLang="en-US" sz="2400" dirty="0"/>
          </a:p>
          <a:p>
            <a:r>
              <a:rPr lang="zh-CN" altLang="en-US" sz="2400" dirty="0">
                <a:sym typeface="+mn-ea"/>
              </a:rPr>
              <a:t>思想：每一次建立模型是在之前建立的模型损失函数的梯度下降方向。</a:t>
            </a:r>
            <a:endParaRPr lang="zh-CN" altLang="en-US" sz="2400" dirty="0"/>
          </a:p>
          <a:p>
            <a:endParaRPr lang="zh-CN" altLang="en-US" sz="2400" dirty="0"/>
          </a:p>
          <a:p>
            <a:r>
              <a:rPr lang="zh-CN" altLang="en-US" sz="2400" dirty="0">
                <a:sym typeface="+mn-ea"/>
              </a:rPr>
              <a:t>传统的</a:t>
            </a:r>
            <a:r>
              <a:rPr lang="en-US" altLang="zh-CN" sz="2400" dirty="0">
                <a:sym typeface="+mn-ea"/>
              </a:rPr>
              <a:t>BOOST</a:t>
            </a:r>
            <a:r>
              <a:rPr lang="zh-CN" altLang="en-US" sz="2400" dirty="0">
                <a:sym typeface="+mn-ea"/>
              </a:rPr>
              <a:t>与</a:t>
            </a:r>
            <a:r>
              <a:rPr lang="en-US" altLang="zh-CN" sz="2400" dirty="0">
                <a:sym typeface="+mn-ea"/>
              </a:rPr>
              <a:t>Gradient Boosting</a:t>
            </a:r>
            <a:r>
              <a:rPr lang="zh-CN" altLang="en-US" sz="2400" dirty="0">
                <a:sym typeface="+mn-ea"/>
              </a:rPr>
              <a:t>的区别：</a:t>
            </a:r>
            <a:endParaRPr lang="zh-CN" altLang="en-US" sz="2400" dirty="0"/>
          </a:p>
          <a:p>
            <a:pPr>
              <a:buNone/>
            </a:pPr>
            <a:r>
              <a:rPr lang="zh-CN" altLang="en-US" sz="2400" dirty="0">
                <a:sym typeface="+mn-ea"/>
              </a:rPr>
              <a:t>         </a:t>
            </a:r>
            <a:r>
              <a:rPr lang="en-US" altLang="zh-CN" sz="2400" dirty="0">
                <a:sym typeface="+mn-ea"/>
              </a:rPr>
              <a:t>Gradient Boost</a:t>
            </a:r>
            <a:r>
              <a:rPr lang="zh-CN" altLang="en-US" sz="2400" dirty="0">
                <a:sym typeface="+mn-ea"/>
              </a:rPr>
              <a:t>：每个新的模型的建立是为了使得之前模型的残差往梯度方向减少。</a:t>
            </a:r>
            <a:endParaRPr lang="zh-CN" altLang="en-US" sz="2400" dirty="0"/>
          </a:p>
          <a:p>
            <a:pPr>
              <a:buNone/>
            </a:pPr>
            <a:r>
              <a:rPr lang="zh-CN" altLang="en-US" sz="2400" dirty="0">
                <a:sym typeface="+mn-ea"/>
              </a:rPr>
              <a:t>         传统</a:t>
            </a:r>
            <a:r>
              <a:rPr lang="en-US" altLang="zh-CN" sz="2400" dirty="0">
                <a:sym typeface="+mn-ea"/>
              </a:rPr>
              <a:t>Boost</a:t>
            </a:r>
            <a:r>
              <a:rPr lang="zh-CN" altLang="en-US" sz="2400" dirty="0">
                <a:sym typeface="+mn-ea"/>
              </a:rPr>
              <a:t>：对正确、错误的样本进行加权（每一步结束后，增加分错的点的权重，减少分对的点的权重）。</a:t>
            </a:r>
            <a:endParaRPr lang="zh-CN" altLang="en-US" sz="2400" dirty="0">
              <a:sym typeface="+mn-ea"/>
            </a:endParaRPr>
          </a:p>
        </p:txBody>
      </p:sp>
      <p:sp>
        <p:nvSpPr>
          <p:cNvPr id="100" name="文本框 99"/>
          <p:cNvSpPr txBox="1"/>
          <p:nvPr>
            <p:custDataLst>
              <p:tags r:id="rId4"/>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58</a:t>
            </a:r>
            <a:endParaRPr lang="en-US" altLang="zh-CN" b="0">
              <a:ea typeface="宋体" panose="0201060003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1600000">
            <a:off x="126609" y="147616"/>
            <a:ext cx="2722051" cy="688004"/>
            <a:chOff x="0" y="0"/>
            <a:chExt cx="2722051" cy="688004"/>
          </a:xfrm>
        </p:grpSpPr>
        <p:pic>
          <p:nvPicPr>
            <p:cNvPr id="38" name="picture 38"/>
            <p:cNvPicPr>
              <a:picLocks noChangeAspect="1"/>
            </p:cNvPicPr>
            <p:nvPr/>
          </p:nvPicPr>
          <p:blipFill>
            <a:blip r:embed="rId1"/>
            <a:stretch>
              <a:fillRect/>
            </a:stretch>
          </p:blipFill>
          <p:spPr>
            <a:xfrm rot="21600000">
              <a:off x="0" y="29636"/>
              <a:ext cx="2696776" cy="658368"/>
            </a:xfrm>
            <a:prstGeom prst="rect">
              <a:avLst/>
            </a:prstGeom>
          </p:spPr>
        </p:pic>
        <p:sp>
          <p:nvSpPr>
            <p:cNvPr id="40" name="textbox 4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42" name="picture 42"/>
          <p:cNvPicPr>
            <a:picLocks noChangeAspect="1"/>
          </p:cNvPicPr>
          <p:nvPr/>
        </p:nvPicPr>
        <p:blipFill>
          <a:blip r:embed="rId2"/>
          <a:stretch>
            <a:fillRect/>
          </a:stretch>
        </p:blipFill>
        <p:spPr>
          <a:xfrm rot="21600000">
            <a:off x="10668" y="981455"/>
            <a:ext cx="12181331" cy="45720"/>
          </a:xfrm>
          <a:prstGeom prst="rect">
            <a:avLst/>
          </a:prstGeom>
        </p:spPr>
      </p:pic>
      <p:sp>
        <p:nvSpPr>
          <p:cNvPr id="3" name="文本框 2"/>
          <p:cNvSpPr txBox="1"/>
          <p:nvPr>
            <p:custDataLst>
              <p:tags r:id="rId3"/>
            </p:custDataLst>
          </p:nvPr>
        </p:nvSpPr>
        <p:spPr>
          <a:xfrm>
            <a:off x="36258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r>
              <a:rPr lang="en-US" altLang="zh-CN" sz="3200" dirty="0">
                <a:sym typeface="+mn-ea"/>
              </a:rPr>
              <a:t>Shrinkage</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2" name="文本框 1"/>
          <p:cNvSpPr txBox="1"/>
          <p:nvPr/>
        </p:nvSpPr>
        <p:spPr>
          <a:xfrm>
            <a:off x="970280" y="2453640"/>
            <a:ext cx="9738360" cy="1497965"/>
          </a:xfrm>
          <a:prstGeom prst="rect">
            <a:avLst/>
          </a:prstGeom>
          <a:noFill/>
        </p:spPr>
        <p:txBody>
          <a:bodyPr wrap="square" rtlCol="0" anchor="t">
            <a:noAutofit/>
          </a:bodyPr>
          <a:p>
            <a:pPr>
              <a:lnSpc>
                <a:spcPct val="150000"/>
              </a:lnSpc>
            </a:pPr>
            <a:r>
              <a:rPr lang="en-US" altLang="zh-CN" sz="2000" dirty="0">
                <a:sym typeface="+mn-ea"/>
              </a:rPr>
              <a:t>Shrinkage</a:t>
            </a:r>
            <a:r>
              <a:rPr lang="zh-CN" altLang="en-US" sz="2000" dirty="0">
                <a:sym typeface="+mn-ea"/>
              </a:rPr>
              <a:t>（步长）的思想认为，每次走一小步逐渐逼近结果的效果，要比每次迈一大步很快逼近结果的方式更容易避免过拟合。</a:t>
            </a:r>
            <a:endParaRPr lang="zh-CN" altLang="en-US" sz="2000" dirty="0">
              <a:sym typeface="+mn-ea"/>
            </a:endParaRPr>
          </a:p>
        </p:txBody>
      </p:sp>
      <p:sp>
        <p:nvSpPr>
          <p:cNvPr id="100" name="文本框 99"/>
          <p:cNvSpPr txBox="1"/>
          <p:nvPr>
            <p:custDataLst>
              <p:tags r:id="rId4"/>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59</a:t>
            </a:r>
            <a:endParaRPr lang="en-US" altLang="zh-CN" b="0">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1600000">
            <a:off x="126609" y="147616"/>
            <a:ext cx="2722051" cy="688004"/>
            <a:chOff x="0" y="0"/>
            <a:chExt cx="2722051" cy="688004"/>
          </a:xfrm>
        </p:grpSpPr>
        <p:pic>
          <p:nvPicPr>
            <p:cNvPr id="38" name="picture 38"/>
            <p:cNvPicPr>
              <a:picLocks noChangeAspect="1"/>
            </p:cNvPicPr>
            <p:nvPr/>
          </p:nvPicPr>
          <p:blipFill>
            <a:blip r:embed="rId1"/>
            <a:stretch>
              <a:fillRect/>
            </a:stretch>
          </p:blipFill>
          <p:spPr>
            <a:xfrm rot="21600000">
              <a:off x="0" y="29636"/>
              <a:ext cx="2696776" cy="658368"/>
            </a:xfrm>
            <a:prstGeom prst="rect">
              <a:avLst/>
            </a:prstGeom>
          </p:spPr>
        </p:pic>
        <p:sp>
          <p:nvSpPr>
            <p:cNvPr id="40" name="textbox 4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42" name="picture 42"/>
          <p:cNvPicPr>
            <a:picLocks noChangeAspect="1"/>
          </p:cNvPicPr>
          <p:nvPr/>
        </p:nvPicPr>
        <p:blipFill>
          <a:blip r:embed="rId2"/>
          <a:stretch>
            <a:fillRect/>
          </a:stretch>
        </p:blipFill>
        <p:spPr>
          <a:xfrm rot="21600000">
            <a:off x="10668" y="981455"/>
            <a:ext cx="12181331" cy="45720"/>
          </a:xfrm>
          <a:prstGeom prst="rect">
            <a:avLst/>
          </a:prstGeom>
        </p:spPr>
      </p:pic>
      <p:sp>
        <p:nvSpPr>
          <p:cNvPr id="3" name="文本框 2"/>
          <p:cNvSpPr txBox="1"/>
          <p:nvPr>
            <p:custDataLst>
              <p:tags r:id="rId3"/>
            </p:custDataLst>
          </p:nvPr>
        </p:nvSpPr>
        <p:spPr>
          <a:xfrm>
            <a:off x="36258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【XG</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boost</a:t>
            </a:r>
            <a:r>
              <a:rPr lang="zh-CN"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算法</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5" name="文本框 4"/>
          <p:cNvSpPr txBox="1"/>
          <p:nvPr/>
        </p:nvSpPr>
        <p:spPr>
          <a:xfrm>
            <a:off x="1350010" y="2071370"/>
            <a:ext cx="8925560" cy="2306955"/>
          </a:xfrm>
          <a:prstGeom prst="rect">
            <a:avLst/>
          </a:prstGeom>
          <a:noFill/>
        </p:spPr>
        <p:txBody>
          <a:bodyPr wrap="square" rtlCol="0" anchor="t">
            <a:spAutoFit/>
          </a:bodyPr>
          <a:p>
            <a:pPr>
              <a:lnSpc>
                <a:spcPct val="150000"/>
              </a:lnSpc>
            </a:pPr>
            <a:r>
              <a:rPr lang="en-US" altLang="zh-CN" sz="2400" b="1" kern="100" dirty="0" err="1">
                <a:latin typeface="微软雅黑" panose="020B0503020204020204" charset="-122"/>
                <a:cs typeface="Times New Roman" panose="02020603050405020304" charset="0"/>
                <a:sym typeface="+mn-ea"/>
              </a:rPr>
              <a:t>XGBoost</a:t>
            </a:r>
            <a:r>
              <a:rPr lang="en-US" altLang="zh-CN" sz="2400" kern="100" dirty="0">
                <a:latin typeface="微软雅黑" panose="020B0503020204020204" charset="-122"/>
                <a:cs typeface="Times New Roman" panose="02020603050405020304" charset="0"/>
                <a:sym typeface="+mn-ea"/>
              </a:rPr>
              <a:t> </a:t>
            </a:r>
            <a:r>
              <a:rPr lang="zh-CN" altLang="zh-CN" sz="2400" kern="100" dirty="0">
                <a:latin typeface="微软雅黑" panose="020B0503020204020204" charset="-122"/>
                <a:cs typeface="Times New Roman" panose="02020603050405020304" charset="0"/>
                <a:sym typeface="+mn-ea"/>
              </a:rPr>
              <a:t>是大规模并行</a:t>
            </a:r>
            <a:r>
              <a:rPr lang="en-US" altLang="zh-CN" sz="2400" kern="100" dirty="0">
                <a:latin typeface="微软雅黑" panose="020B0503020204020204" charset="-122"/>
                <a:cs typeface="Times New Roman" panose="02020603050405020304" charset="0"/>
                <a:sym typeface="+mn-ea"/>
              </a:rPr>
              <a:t> boosting tree </a:t>
            </a:r>
            <a:r>
              <a:rPr lang="zh-CN" altLang="zh-CN" sz="2400" kern="100" dirty="0">
                <a:latin typeface="微软雅黑" panose="020B0503020204020204" charset="-122"/>
                <a:cs typeface="Times New Roman" panose="02020603050405020304" charset="0"/>
                <a:sym typeface="+mn-ea"/>
              </a:rPr>
              <a:t>的工具，它是目前最快最好的开源</a:t>
            </a:r>
            <a:r>
              <a:rPr lang="en-US" altLang="zh-CN" sz="2400" kern="100" dirty="0">
                <a:latin typeface="微软雅黑" panose="020B0503020204020204" charset="-122"/>
                <a:cs typeface="Times New Roman" panose="02020603050405020304" charset="0"/>
                <a:sym typeface="+mn-ea"/>
              </a:rPr>
              <a:t> boosting tree </a:t>
            </a:r>
            <a:r>
              <a:rPr lang="zh-CN" altLang="zh-CN" sz="2400" kern="100" dirty="0">
                <a:latin typeface="微软雅黑" panose="020B0503020204020204" charset="-122"/>
                <a:cs typeface="Times New Roman" panose="02020603050405020304" charset="0"/>
                <a:sym typeface="+mn-ea"/>
              </a:rPr>
              <a:t>工具包，比常见的工具包快</a:t>
            </a:r>
            <a:r>
              <a:rPr lang="en-US" altLang="zh-CN" sz="2400" kern="100" dirty="0">
                <a:latin typeface="微软雅黑" panose="020B0503020204020204" charset="-122"/>
                <a:cs typeface="Times New Roman" panose="02020603050405020304" charset="0"/>
                <a:sym typeface="+mn-ea"/>
              </a:rPr>
              <a:t> 10 </a:t>
            </a:r>
            <a:r>
              <a:rPr lang="zh-CN" altLang="zh-CN" sz="2400" kern="100" dirty="0">
                <a:latin typeface="微软雅黑" panose="020B0503020204020204" charset="-122"/>
                <a:cs typeface="Times New Roman" panose="02020603050405020304" charset="0"/>
                <a:sym typeface="+mn-ea"/>
              </a:rPr>
              <a:t>倍以上。</a:t>
            </a:r>
            <a:r>
              <a:rPr lang="en-US" altLang="zh-CN" sz="2400" kern="100" dirty="0" err="1">
                <a:latin typeface="微软雅黑" panose="020B0503020204020204" charset="-122"/>
                <a:cs typeface="Times New Roman" panose="02020603050405020304" charset="0"/>
                <a:sym typeface="+mn-ea"/>
              </a:rPr>
              <a:t>XGBoost</a:t>
            </a:r>
            <a:r>
              <a:rPr lang="en-US" altLang="zh-CN" sz="2400" kern="100" dirty="0">
                <a:latin typeface="微软雅黑" panose="020B0503020204020204" charset="-122"/>
                <a:cs typeface="Times New Roman" panose="02020603050405020304" charset="0"/>
                <a:sym typeface="+mn-ea"/>
              </a:rPr>
              <a:t> </a:t>
            </a:r>
            <a:r>
              <a:rPr lang="zh-CN" altLang="zh-CN" sz="2400" kern="100" dirty="0">
                <a:latin typeface="微软雅黑" panose="020B0503020204020204" charset="-122"/>
                <a:cs typeface="Times New Roman" panose="02020603050405020304" charset="0"/>
                <a:sym typeface="+mn-ea"/>
              </a:rPr>
              <a:t>和</a:t>
            </a:r>
            <a:r>
              <a:rPr lang="en-US" altLang="zh-CN" sz="2400" kern="100" dirty="0">
                <a:latin typeface="微软雅黑" panose="020B0503020204020204" charset="-122"/>
                <a:cs typeface="Times New Roman" panose="02020603050405020304" charset="0"/>
                <a:sym typeface="+mn-ea"/>
              </a:rPr>
              <a:t> GBDT </a:t>
            </a:r>
            <a:r>
              <a:rPr lang="zh-CN" altLang="zh-CN" sz="2400" kern="100" dirty="0">
                <a:latin typeface="微软雅黑" panose="020B0503020204020204" charset="-122"/>
                <a:cs typeface="Times New Roman" panose="02020603050405020304" charset="0"/>
                <a:sym typeface="+mn-ea"/>
              </a:rPr>
              <a:t>两者都是</a:t>
            </a:r>
            <a:r>
              <a:rPr lang="en-US" altLang="zh-CN" sz="2400" kern="100" dirty="0">
                <a:latin typeface="微软雅黑" panose="020B0503020204020204" charset="-122"/>
                <a:cs typeface="Times New Roman" panose="02020603050405020304" charset="0"/>
                <a:sym typeface="+mn-ea"/>
              </a:rPr>
              <a:t> boosting </a:t>
            </a:r>
            <a:r>
              <a:rPr lang="zh-CN" altLang="zh-CN" sz="2400" kern="100" dirty="0">
                <a:latin typeface="微软雅黑" panose="020B0503020204020204" charset="-122"/>
                <a:cs typeface="Times New Roman" panose="02020603050405020304" charset="0"/>
                <a:sym typeface="+mn-ea"/>
              </a:rPr>
              <a:t>方法，除了工程实现、解决问题上的一些差异外，最大的不同就是目标函数的定义。</a:t>
            </a:r>
            <a:endParaRPr lang="zh-CN" altLang="zh-CN" sz="2400" kern="100" dirty="0">
              <a:latin typeface="微软雅黑" panose="020B0503020204020204" charset="-122"/>
              <a:cs typeface="Times New Roman" panose="02020603050405020304" charset="0"/>
              <a:sym typeface="+mn-ea"/>
            </a:endParaRPr>
          </a:p>
        </p:txBody>
      </p:sp>
      <p:sp>
        <p:nvSpPr>
          <p:cNvPr id="6" name="文本框 5"/>
          <p:cNvSpPr txBox="1"/>
          <p:nvPr/>
        </p:nvSpPr>
        <p:spPr>
          <a:xfrm>
            <a:off x="1658620" y="4608830"/>
            <a:ext cx="7967980" cy="829945"/>
          </a:xfrm>
          <a:prstGeom prst="rect">
            <a:avLst/>
          </a:prstGeom>
          <a:noFill/>
        </p:spPr>
        <p:txBody>
          <a:bodyPr wrap="square" rtlCol="0" anchor="t">
            <a:spAutoFit/>
          </a:bodyPr>
          <a:p>
            <a:r>
              <a:rPr lang="zh-CN" altLang="en-US" sz="2400" dirty="0" smtClean="0">
                <a:latin typeface="黑体" panose="02010609060101010101" charset="-122"/>
                <a:ea typeface="黑体" panose="02010609060101010101" charset="-122"/>
                <a:sym typeface="+mn-ea"/>
              </a:rPr>
              <a:t>基本思想：把成百上千个分类准确率较低的树模型组合起来，成为一个准确率很高的模型</a:t>
            </a:r>
            <a:endParaRPr lang="zh-CN" altLang="en-US" sz="2400" dirty="0" smtClean="0">
              <a:latin typeface="黑体" panose="02010609060101010101" charset="-122"/>
              <a:ea typeface="黑体" panose="02010609060101010101" charset="-122"/>
              <a:sym typeface="+mn-ea"/>
            </a:endParaRPr>
          </a:p>
        </p:txBody>
      </p:sp>
      <p:sp>
        <p:nvSpPr>
          <p:cNvPr id="100" name="文本框 99"/>
          <p:cNvSpPr txBox="1"/>
          <p:nvPr/>
        </p:nvSpPr>
        <p:spPr>
          <a:xfrm>
            <a:off x="11699240" y="6489700"/>
            <a:ext cx="492760" cy="368300"/>
          </a:xfrm>
          <a:prstGeom prst="rect">
            <a:avLst/>
          </a:prstGeom>
          <a:noFill/>
          <a:ln w="9525">
            <a:noFill/>
          </a:ln>
        </p:spPr>
        <p:txBody>
          <a:bodyPr wrap="square">
            <a:spAutoFit/>
          </a:bodyPr>
          <a:p>
            <a:pPr indent="0"/>
            <a:r>
              <a:rPr lang="en-US" altLang="zh-CN" b="0">
                <a:latin typeface="Calibri" panose="020F0502020204030204" charset="0"/>
                <a:ea typeface="宋体" panose="02010600030101010101" pitchFamily="2" charset="-122"/>
              </a:rPr>
              <a:t>60</a:t>
            </a:r>
            <a:endParaRPr lang="en-US" altLang="zh-CN" b="0">
              <a:latin typeface="Calibri" panose="020F0502020204030204" charset="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1600000">
            <a:off x="126609" y="147616"/>
            <a:ext cx="2722051" cy="688004"/>
            <a:chOff x="0" y="0"/>
            <a:chExt cx="2722051" cy="688004"/>
          </a:xfrm>
        </p:grpSpPr>
        <p:pic>
          <p:nvPicPr>
            <p:cNvPr id="38" name="picture 38"/>
            <p:cNvPicPr>
              <a:picLocks noChangeAspect="1"/>
            </p:cNvPicPr>
            <p:nvPr/>
          </p:nvPicPr>
          <p:blipFill>
            <a:blip r:embed="rId1"/>
            <a:stretch>
              <a:fillRect/>
            </a:stretch>
          </p:blipFill>
          <p:spPr>
            <a:xfrm rot="21600000">
              <a:off x="0" y="29636"/>
              <a:ext cx="2696776" cy="658368"/>
            </a:xfrm>
            <a:prstGeom prst="rect">
              <a:avLst/>
            </a:prstGeom>
          </p:spPr>
        </p:pic>
        <p:sp>
          <p:nvSpPr>
            <p:cNvPr id="40" name="textbox 4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42" name="picture 42"/>
          <p:cNvPicPr>
            <a:picLocks noChangeAspect="1"/>
          </p:cNvPicPr>
          <p:nvPr/>
        </p:nvPicPr>
        <p:blipFill>
          <a:blip r:embed="rId2"/>
          <a:stretch>
            <a:fillRect/>
          </a:stretch>
        </p:blipFill>
        <p:spPr>
          <a:xfrm rot="21600000">
            <a:off x="10668" y="981455"/>
            <a:ext cx="12181331" cy="45720"/>
          </a:xfrm>
          <a:prstGeom prst="rect">
            <a:avLst/>
          </a:prstGeom>
        </p:spPr>
      </p:pic>
      <p:sp>
        <p:nvSpPr>
          <p:cNvPr id="3" name="文本框 2"/>
          <p:cNvSpPr txBox="1"/>
          <p:nvPr>
            <p:custDataLst>
              <p:tags r:id="rId3"/>
            </p:custDataLst>
          </p:nvPr>
        </p:nvSpPr>
        <p:spPr>
          <a:xfrm>
            <a:off x="36258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【XG</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boost</a:t>
            </a:r>
            <a:r>
              <a:rPr lang="zh-CN"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算法</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2" name="文本框 1"/>
          <p:cNvSpPr txBox="1"/>
          <p:nvPr/>
        </p:nvSpPr>
        <p:spPr>
          <a:xfrm>
            <a:off x="668655" y="2080260"/>
            <a:ext cx="6096000" cy="460375"/>
          </a:xfrm>
          <a:prstGeom prst="rect">
            <a:avLst/>
          </a:prstGeom>
          <a:noFill/>
        </p:spPr>
        <p:txBody>
          <a:bodyPr wrap="square" rtlCol="0" anchor="t">
            <a:spAutoFit/>
          </a:bodyPr>
          <a:p>
            <a:r>
              <a:rPr lang="en-US" altLang="zh-CN" sz="2400" b="1" kern="0" dirty="0" err="1">
                <a:solidFill>
                  <a:srgbClr val="121212"/>
                </a:solidFill>
                <a:effectLst/>
                <a:ea typeface="微软雅黑" panose="020B0503020204020204" charset="-122"/>
                <a:cs typeface="宋体" panose="02010600030101010101" pitchFamily="2" charset="-122"/>
                <a:sym typeface="+mn-ea"/>
              </a:rPr>
              <a:t>XGBoost</a:t>
            </a:r>
            <a:r>
              <a:rPr lang="zh-CN" altLang="zh-CN" sz="2400" b="1" kern="0" dirty="0">
                <a:solidFill>
                  <a:srgbClr val="121212"/>
                </a:solidFill>
                <a:effectLst/>
                <a:ea typeface="微软雅黑" panose="020B0503020204020204" charset="-122"/>
                <a:cs typeface="宋体" panose="02010600030101010101" pitchFamily="2" charset="-122"/>
                <a:sym typeface="+mn-ea"/>
              </a:rPr>
              <a:t>的分裂方式</a:t>
            </a:r>
            <a:endParaRPr lang="zh-CN" altLang="zh-CN" sz="2400" b="1" kern="0" dirty="0">
              <a:solidFill>
                <a:srgbClr val="121212"/>
              </a:solidFill>
              <a:effectLst/>
              <a:ea typeface="微软雅黑" panose="020B0503020204020204" charset="-122"/>
              <a:cs typeface="宋体" panose="02010600030101010101" pitchFamily="2" charset="-122"/>
              <a:sym typeface="+mn-ea"/>
            </a:endParaRPr>
          </a:p>
        </p:txBody>
      </p:sp>
      <mc:AlternateContent xmlns:mc="http://schemas.openxmlformats.org/markup-compatibility/2006">
        <mc:Choice xmlns:a14="http://schemas.microsoft.com/office/drawing/2010/main" Requires="a14">
          <p:sp>
            <p:nvSpPr>
              <p:cNvPr id="17" name="文本框 16"/>
              <p:cNvSpPr txBox="1"/>
              <p:nvPr>
                <p:custDataLst>
                  <p:tags r:id="rId4"/>
                </p:custDataLst>
              </p:nvPr>
            </p:nvSpPr>
            <p:spPr>
              <a:xfrm>
                <a:off x="736283" y="2931768"/>
                <a:ext cx="7481134" cy="461665"/>
              </a:xfrm>
              <a:prstGeom prst="rect">
                <a:avLst/>
              </a:prstGeom>
              <a:noFill/>
            </p:spPr>
            <p:txBody>
              <a:bodyPr wrap="square">
                <a:spAutoFit/>
              </a:bodyPr>
              <a:p>
                <a:r>
                  <a:rPr lang="zh-CN" altLang="zh-CN" sz="2400" kern="0" dirty="0">
                    <a:solidFill>
                      <a:srgbClr val="121212"/>
                    </a:solidFill>
                    <a:effectLst/>
                    <a:ea typeface="微软雅黑" panose="020B0503020204020204" charset="-122"/>
                    <a:cs typeface="宋体" panose="02010600030101010101" pitchFamily="2" charset="-122"/>
                  </a:rPr>
                  <a:t>使用贪心方法，选</a:t>
                </a:r>
                <a:r>
                  <a:rPr lang="zh-CN" altLang="en-US" sz="2400" kern="0" dirty="0">
                    <a:solidFill>
                      <a:srgbClr val="121212"/>
                    </a:solidFill>
                    <a:effectLst/>
                    <a:ea typeface="微软雅黑" panose="020B0503020204020204" charset="-122"/>
                    <a:cs typeface="宋体" panose="02010600030101010101" pitchFamily="2" charset="-122"/>
                  </a:rPr>
                  <a:t>增</a:t>
                </a:r>
                <a:r>
                  <a:rPr lang="zh-CN" altLang="zh-CN" sz="2400" kern="0" dirty="0">
                    <a:solidFill>
                      <a:srgbClr val="121212"/>
                    </a:solidFill>
                    <a:effectLst/>
                    <a:ea typeface="微软雅黑" panose="020B0503020204020204" charset="-122"/>
                    <a:cs typeface="宋体" panose="02010600030101010101" pitchFamily="2" charset="-122"/>
                  </a:rPr>
                  <a:t>益</a:t>
                </a:r>
                <a:r>
                  <a:rPr lang="zh-CN" altLang="en-US" sz="2400" kern="0" dirty="0">
                    <a:solidFill>
                      <a:srgbClr val="121212"/>
                    </a:solidFill>
                    <a:effectLst/>
                    <a:ea typeface="微软雅黑" panose="020B0503020204020204" charset="-122"/>
                    <a:cs typeface="宋体" panose="02010600030101010101" pitchFamily="2" charset="-122"/>
                  </a:rPr>
                  <a:t>（</a:t>
                </a:r>
                <a:r>
                  <a:rPr lang="en-US" altLang="zh-CN" b="0" dirty="0">
                    <a:ea typeface="微软雅黑" panose="020B0503020204020204" charset="-122"/>
                  </a:rPr>
                  <a:t> </a:t>
                </a:r>
                <a14:m>
                  <m:oMath xmlns:m="http://schemas.openxmlformats.org/officeDocument/2006/math">
                    <m:r>
                      <a:rPr lang="en-US" altLang="zh-CN" b="0" i="1" smtClean="0">
                        <a:latin typeface="Cambria Math" panose="02040503050406030204" pitchFamily="18" charset="0"/>
                        <a:ea typeface="微软雅黑" panose="020B0503020204020204" charset="-122"/>
                      </a:rPr>
                      <m:t>𝑔𝑎𝑖𝑛</m:t>
                    </m:r>
                    <m:r>
                      <a:rPr lang="en-US" altLang="zh-CN" b="0" i="1" smtClean="0">
                        <a:latin typeface="Cambria Math" panose="02040503050406030204" pitchFamily="18" charset="0"/>
                        <a:ea typeface="微软雅黑" panose="020B0503020204020204" charset="-122"/>
                      </a:rPr>
                      <m:t> </m:t>
                    </m:r>
                  </m:oMath>
                </a14:m>
                <a:r>
                  <a:rPr lang="zh-CN" altLang="en-US" sz="2400" kern="0" dirty="0">
                    <a:solidFill>
                      <a:srgbClr val="121212"/>
                    </a:solidFill>
                    <a:effectLst/>
                    <a:ea typeface="微软雅黑" panose="020B0503020204020204" charset="-122"/>
                    <a:cs typeface="宋体" panose="02010600030101010101" pitchFamily="2" charset="-122"/>
                  </a:rPr>
                  <a:t>）</a:t>
                </a:r>
                <a:r>
                  <a:rPr lang="zh-CN" altLang="zh-CN" sz="2400" kern="0" dirty="0">
                    <a:solidFill>
                      <a:srgbClr val="121212"/>
                    </a:solidFill>
                    <a:effectLst/>
                    <a:ea typeface="微软雅黑" panose="020B0503020204020204" charset="-122"/>
                    <a:cs typeface="宋体" panose="02010600030101010101" pitchFamily="2" charset="-122"/>
                  </a:rPr>
                  <a:t>最大的分裂方式</a:t>
                </a:r>
                <a:endParaRPr lang="zh-CN" altLang="en-US" dirty="0"/>
              </a:p>
            </p:txBody>
          </p:sp>
        </mc:Choice>
        <mc:Fallback>
          <p:sp>
            <p:nvSpPr>
              <p:cNvPr id="17" name="文本框 16"/>
              <p:cNvSpPr txBox="1">
                <a:spLocks noRot="1" noChangeAspect="1" noMove="1" noResize="1" noEditPoints="1" noAdjustHandles="1" noChangeArrowheads="1" noChangeShapeType="1" noTextEdit="1"/>
              </p:cNvSpPr>
              <p:nvPr>
                <p:custDataLst>
                  <p:tags r:id="rId5"/>
                </p:custDataLst>
              </p:nvPr>
            </p:nvSpPr>
            <p:spPr>
              <a:xfrm>
                <a:off x="736283" y="2931768"/>
                <a:ext cx="7481134" cy="461665"/>
              </a:xfrm>
              <a:prstGeom prst="rect">
                <a:avLst/>
              </a:prstGeom>
              <a:blipFill rotWithShape="1">
                <a:blip r:embed="rId6"/>
                <a:stretch>
                  <a:fillRect l="-4" t="-132" r="7" b="1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custDataLst>
                  <p:tags r:id="rId7"/>
                </p:custDataLst>
              </p:nvPr>
            </p:nvSpPr>
            <p:spPr>
              <a:xfrm>
                <a:off x="668338" y="3784676"/>
                <a:ext cx="11054106" cy="1696105"/>
              </a:xfrm>
              <a:prstGeom prst="rect">
                <a:avLst/>
              </a:prstGeom>
              <a:noFill/>
            </p:spPr>
            <p:txBody>
              <a:bodyPr wrap="square">
                <a:spAutoFit/>
              </a:bodyPr>
              <a:p>
                <a:pPr algn="l">
                  <a:lnSpc>
                    <a:spcPct val="150000"/>
                  </a:lnSpc>
                  <a:spcBef>
                    <a:spcPts val="1680"/>
                  </a:spcBef>
                  <a:spcAft>
                    <a:spcPts val="1680"/>
                  </a:spcAft>
                </a:pPr>
                <a:r>
                  <a:rPr lang="zh-CN" altLang="zh-CN" sz="2400" kern="0" dirty="0">
                    <a:solidFill>
                      <a:srgbClr val="121212"/>
                    </a:solidFill>
                    <a:effectLst/>
                    <a:latin typeface="等线" panose="02010600030101010101" charset="-122"/>
                    <a:ea typeface="微软雅黑" panose="020B0503020204020204" charset="-122"/>
                    <a:cs typeface="宋体" panose="02010600030101010101" pitchFamily="2" charset="-122"/>
                  </a:rPr>
                  <a:t>贪心方法，众多</a:t>
                </a:r>
                <a14:m>
                  <m:oMath xmlns:m="http://schemas.openxmlformats.org/officeDocument/2006/math">
                    <m:r>
                      <a:rPr lang="en-US" altLang="zh-CN" b="0" i="1" smtClean="0">
                        <a:latin typeface="Cambria Math" panose="02040503050406030204" pitchFamily="18" charset="0"/>
                        <a:ea typeface="微软雅黑" panose="020B0503020204020204" charset="-122"/>
                      </a:rPr>
                      <m:t>𝑔𝑎𝑖𝑛</m:t>
                    </m:r>
                  </m:oMath>
                </a14:m>
                <a:r>
                  <a:rPr lang="zh-CN" altLang="zh-CN" sz="2400" kern="0" dirty="0">
                    <a:solidFill>
                      <a:srgbClr val="121212"/>
                    </a:solidFill>
                    <a:effectLst/>
                    <a:latin typeface="等线" panose="02010600030101010101" charset="-122"/>
                    <a:ea typeface="微软雅黑" panose="020B0503020204020204" charset="-122"/>
                    <a:cs typeface="宋体" panose="02010600030101010101" pitchFamily="2" charset="-122"/>
                  </a:rPr>
                  <a:t>中找到最大值做为最优分割节点（</a:t>
                </a:r>
                <a:r>
                  <a:rPr lang="en-US" altLang="zh-CN" sz="2400" kern="0" dirty="0">
                    <a:solidFill>
                      <a:srgbClr val="121212"/>
                    </a:solidFill>
                    <a:effectLst/>
                    <a:latin typeface="等线" panose="02010600030101010101" charset="-122"/>
                    <a:ea typeface="微软雅黑" panose="020B0503020204020204" charset="-122"/>
                    <a:cs typeface="宋体" panose="02010600030101010101" pitchFamily="2" charset="-122"/>
                  </a:rPr>
                  <a:t>split point</a:t>
                </a:r>
                <a:r>
                  <a:rPr lang="zh-CN" altLang="zh-CN" sz="2400" kern="0" dirty="0">
                    <a:solidFill>
                      <a:srgbClr val="121212"/>
                    </a:solidFill>
                    <a:effectLst/>
                    <a:latin typeface="等线" panose="02010600030101010101" charset="-122"/>
                    <a:ea typeface="微软雅黑" panose="020B0503020204020204" charset="-122"/>
                    <a:cs typeface="宋体" panose="02010600030101010101" pitchFamily="2" charset="-122"/>
                  </a:rPr>
                  <a:t>），因此模型会将所有样本按照（一阶梯度）从小到大排序，通过遍历，查看每个节点是否需要分割，计算复杂度是：决策树叶子节点数 –</a:t>
                </a:r>
                <a:r>
                  <a:rPr lang="en-US" altLang="zh-CN" sz="2400" kern="0" dirty="0">
                    <a:solidFill>
                      <a:srgbClr val="121212"/>
                    </a:solidFill>
                    <a:effectLst/>
                    <a:latin typeface="等线" panose="02010600030101010101" charset="-122"/>
                    <a:ea typeface="微软雅黑" panose="020B0503020204020204" charset="-122"/>
                    <a:cs typeface="宋体" panose="02010600030101010101" pitchFamily="2" charset="-122"/>
                  </a:rPr>
                  <a:t> 1</a:t>
                </a:r>
                <a:r>
                  <a:rPr lang="zh-CN" altLang="zh-CN" sz="2400" kern="0" dirty="0">
                    <a:solidFill>
                      <a:srgbClr val="121212"/>
                    </a:solidFill>
                    <a:effectLst/>
                    <a:latin typeface="等线" panose="02010600030101010101" charset="-122"/>
                    <a:ea typeface="微软雅黑" panose="020B0503020204020204" charset="-122"/>
                    <a:cs typeface="宋体" panose="02010600030101010101" pitchFamily="2" charset="-122"/>
                  </a:rPr>
                  <a:t>。</a:t>
                </a:r>
                <a:endParaRPr lang="zh-CN" altLang="zh-CN" sz="1600" kern="100" dirty="0">
                  <a:effectLst/>
                  <a:latin typeface="等线" panose="02010600030101010101" charset="-122"/>
                  <a:ea typeface="等线" panose="02010600030101010101" charset="-122"/>
                  <a:cs typeface="Times New Roman" panose="02020603050405020304" charset="0"/>
                </a:endParaRPr>
              </a:p>
            </p:txBody>
          </p:sp>
        </mc:Choice>
        <mc:Fallback>
          <p:sp>
            <p:nvSpPr>
              <p:cNvPr id="20" name="文本框 19"/>
              <p:cNvSpPr txBox="1">
                <a:spLocks noRot="1" noChangeAspect="1" noMove="1" noResize="1" noEditPoints="1" noAdjustHandles="1" noChangeArrowheads="1" noChangeShapeType="1" noTextEdit="1"/>
              </p:cNvSpPr>
              <p:nvPr>
                <p:custDataLst>
                  <p:tags r:id="rId8"/>
                </p:custDataLst>
              </p:nvPr>
            </p:nvSpPr>
            <p:spPr>
              <a:xfrm>
                <a:off x="668338" y="3784676"/>
                <a:ext cx="11054106" cy="1696105"/>
              </a:xfrm>
              <a:prstGeom prst="rect">
                <a:avLst/>
              </a:prstGeom>
              <a:blipFill rotWithShape="1">
                <a:blip r:embed="rId9"/>
                <a:stretch>
                  <a:fillRect l="-3" t="-4" r="3" b="6"/>
                </a:stretch>
              </a:blipFill>
            </p:spPr>
            <p:txBody>
              <a:bodyPr/>
              <a:lstStyle/>
              <a:p>
                <a:r>
                  <a:rPr lang="zh-CN" altLang="en-US">
                    <a:noFill/>
                  </a:rPr>
                  <a:t> </a:t>
                </a:r>
              </a:p>
            </p:txBody>
          </p:sp>
        </mc:Fallback>
      </mc:AlternateContent>
      <p:sp>
        <p:nvSpPr>
          <p:cNvPr id="100" name="文本框 99"/>
          <p:cNvSpPr txBox="1"/>
          <p:nvPr>
            <p:custDataLst>
              <p:tags r:id="rId10"/>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61</a:t>
            </a:r>
            <a:endParaRPr lang="en-US" altLang="zh-CN" b="0">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1600000">
            <a:off x="126609" y="147616"/>
            <a:ext cx="2722051" cy="688004"/>
            <a:chOff x="0" y="0"/>
            <a:chExt cx="2722051" cy="688004"/>
          </a:xfrm>
        </p:grpSpPr>
        <p:pic>
          <p:nvPicPr>
            <p:cNvPr id="38" name="picture 38"/>
            <p:cNvPicPr>
              <a:picLocks noChangeAspect="1"/>
            </p:cNvPicPr>
            <p:nvPr/>
          </p:nvPicPr>
          <p:blipFill>
            <a:blip r:embed="rId1"/>
            <a:stretch>
              <a:fillRect/>
            </a:stretch>
          </p:blipFill>
          <p:spPr>
            <a:xfrm rot="21600000">
              <a:off x="0" y="29636"/>
              <a:ext cx="2696776" cy="658368"/>
            </a:xfrm>
            <a:prstGeom prst="rect">
              <a:avLst/>
            </a:prstGeom>
          </p:spPr>
        </p:pic>
        <p:sp>
          <p:nvSpPr>
            <p:cNvPr id="40" name="textbox 4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42" name="picture 42"/>
          <p:cNvPicPr>
            <a:picLocks noChangeAspect="1"/>
          </p:cNvPicPr>
          <p:nvPr/>
        </p:nvPicPr>
        <p:blipFill>
          <a:blip r:embed="rId2"/>
          <a:stretch>
            <a:fillRect/>
          </a:stretch>
        </p:blipFill>
        <p:spPr>
          <a:xfrm rot="21600000">
            <a:off x="10668" y="981455"/>
            <a:ext cx="12181331" cy="45720"/>
          </a:xfrm>
          <a:prstGeom prst="rect">
            <a:avLst/>
          </a:prstGeom>
        </p:spPr>
      </p:pic>
      <p:sp>
        <p:nvSpPr>
          <p:cNvPr id="3" name="文本框 2"/>
          <p:cNvSpPr txBox="1"/>
          <p:nvPr>
            <p:custDataLst>
              <p:tags r:id="rId3"/>
            </p:custDataLst>
          </p:nvPr>
        </p:nvSpPr>
        <p:spPr>
          <a:xfrm>
            <a:off x="36258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r>
              <a:rPr lang="en-US" altLang="zh-CN" sz="3200" dirty="0">
                <a:sym typeface="+mn-ea"/>
              </a:rPr>
              <a:t>LightGBM</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5" name="文本框 4"/>
          <p:cNvSpPr txBox="1"/>
          <p:nvPr/>
        </p:nvSpPr>
        <p:spPr>
          <a:xfrm>
            <a:off x="1896110" y="1772920"/>
            <a:ext cx="7947660" cy="4523105"/>
          </a:xfrm>
          <a:prstGeom prst="rect">
            <a:avLst/>
          </a:prstGeom>
          <a:noFill/>
        </p:spPr>
        <p:txBody>
          <a:bodyPr wrap="square" rtlCol="0" anchor="t">
            <a:spAutoFit/>
          </a:bodyPr>
          <a:p>
            <a:pPr algn="just">
              <a:lnSpc>
                <a:spcPct val="150000"/>
              </a:lnSpc>
            </a:pPr>
            <a:r>
              <a:rPr lang="en-US" altLang="zh-CN" sz="2400" b="1" kern="100" dirty="0" err="1">
                <a:effectLst/>
                <a:latin typeface="+mj-ea"/>
                <a:ea typeface="+mj-ea"/>
                <a:sym typeface="+mn-ea"/>
              </a:rPr>
              <a:t>LightGBM</a:t>
            </a:r>
            <a:r>
              <a:rPr lang="en-US" altLang="zh-CN" sz="2400" kern="100" dirty="0">
                <a:effectLst/>
                <a:latin typeface="+mj-ea"/>
                <a:ea typeface="+mj-ea"/>
                <a:sym typeface="+mn-ea"/>
              </a:rPr>
              <a:t> </a:t>
            </a:r>
            <a:r>
              <a:rPr lang="zh-CN" altLang="zh-CN" sz="2400" kern="100" dirty="0">
                <a:effectLst/>
                <a:latin typeface="+mj-ea"/>
                <a:ea typeface="+mj-ea"/>
                <a:sym typeface="+mn-ea"/>
              </a:rPr>
              <a:t>由微软提出，主要用于解决</a:t>
            </a:r>
            <a:r>
              <a:rPr lang="en-US" altLang="zh-CN" sz="2400" kern="100" dirty="0">
                <a:effectLst/>
                <a:latin typeface="+mj-ea"/>
                <a:ea typeface="+mj-ea"/>
                <a:sym typeface="+mn-ea"/>
              </a:rPr>
              <a:t> GDBT </a:t>
            </a:r>
            <a:r>
              <a:rPr lang="zh-CN" altLang="zh-CN" sz="2400" kern="100" dirty="0">
                <a:effectLst/>
                <a:latin typeface="+mj-ea"/>
                <a:ea typeface="+mj-ea"/>
                <a:sym typeface="+mn-ea"/>
              </a:rPr>
              <a:t>在海量数据中遇到的问题，以便其可以更好更快地用于工业实践中</a:t>
            </a:r>
            <a:r>
              <a:rPr lang="zh-CN" altLang="en-US" sz="2400" kern="100" dirty="0">
                <a:effectLst/>
                <a:latin typeface="+mj-ea"/>
                <a:ea typeface="+mj-ea"/>
                <a:sym typeface="+mn-ea"/>
              </a:rPr>
              <a:t>，</a:t>
            </a:r>
            <a:r>
              <a:rPr lang="zh-CN" altLang="zh-CN" sz="2400" kern="100" dirty="0">
                <a:effectLst/>
                <a:latin typeface="+mj-ea"/>
                <a:ea typeface="+mj-ea"/>
                <a:sym typeface="+mn-ea"/>
              </a:rPr>
              <a:t>其相对</a:t>
            </a:r>
            <a:r>
              <a:rPr lang="en-US" altLang="zh-CN" sz="2400" kern="100" dirty="0">
                <a:effectLst/>
                <a:latin typeface="+mj-ea"/>
                <a:ea typeface="+mj-ea"/>
                <a:sym typeface="+mn-ea"/>
              </a:rPr>
              <a:t> </a:t>
            </a:r>
            <a:r>
              <a:rPr lang="en-US" altLang="zh-CN" sz="2400" kern="100" dirty="0" err="1">
                <a:effectLst/>
                <a:latin typeface="+mj-ea"/>
                <a:ea typeface="+mj-ea"/>
                <a:sym typeface="+mn-ea"/>
              </a:rPr>
              <a:t>XGBoost</a:t>
            </a:r>
            <a:r>
              <a:rPr lang="en-US" altLang="zh-CN" sz="2400" kern="100" dirty="0">
                <a:effectLst/>
                <a:latin typeface="+mj-ea"/>
                <a:ea typeface="+mj-ea"/>
                <a:sym typeface="+mn-ea"/>
              </a:rPr>
              <a:t> </a:t>
            </a:r>
            <a:r>
              <a:rPr lang="zh-CN" altLang="zh-CN" sz="2400" kern="100" dirty="0">
                <a:effectLst/>
                <a:latin typeface="+mj-ea"/>
                <a:ea typeface="+mj-ea"/>
                <a:sym typeface="+mn-ea"/>
              </a:rPr>
              <a:t>具有训练速度快、内存占用低的特点。</a:t>
            </a:r>
            <a:endParaRPr lang="en-US" altLang="zh-CN" sz="2400" kern="100" dirty="0">
              <a:effectLst/>
              <a:latin typeface="+mj-ea"/>
              <a:ea typeface="+mj-ea"/>
            </a:endParaRPr>
          </a:p>
          <a:p>
            <a:pPr algn="just">
              <a:lnSpc>
                <a:spcPct val="150000"/>
              </a:lnSpc>
            </a:pPr>
            <a:r>
              <a:rPr lang="en-US" altLang="zh-CN" sz="2400" kern="100" dirty="0" err="1">
                <a:effectLst/>
                <a:latin typeface="+mj-ea"/>
                <a:ea typeface="+mj-ea"/>
                <a:sym typeface="+mn-ea"/>
              </a:rPr>
              <a:t>LightGBM</a:t>
            </a:r>
            <a:r>
              <a:rPr lang="zh-CN" altLang="zh-CN" sz="2400" kern="100" dirty="0">
                <a:effectLst/>
                <a:latin typeface="+mj-ea"/>
                <a:ea typeface="+mj-ea"/>
                <a:sym typeface="+mn-ea"/>
              </a:rPr>
              <a:t>与</a:t>
            </a:r>
            <a:r>
              <a:rPr lang="en-US" altLang="zh-CN" sz="2400" kern="100" dirty="0" err="1">
                <a:effectLst/>
                <a:latin typeface="+mj-ea"/>
                <a:ea typeface="+mj-ea"/>
                <a:sym typeface="+mn-ea"/>
              </a:rPr>
              <a:t>XGBoost</a:t>
            </a:r>
            <a:r>
              <a:rPr lang="zh-CN" altLang="zh-CN" sz="2400" kern="100" dirty="0">
                <a:effectLst/>
                <a:latin typeface="+mj-ea"/>
                <a:ea typeface="+mj-ea"/>
                <a:sym typeface="+mn-ea"/>
              </a:rPr>
              <a:t>相比，主要有以下几个优势：</a:t>
            </a:r>
            <a:endParaRPr lang="zh-CN" altLang="zh-CN" sz="2400" kern="100" dirty="0">
              <a:effectLst/>
              <a:latin typeface="+mj-ea"/>
              <a:ea typeface="+mj-ea"/>
            </a:endParaRPr>
          </a:p>
          <a:p>
            <a:pPr indent="266700" algn="just">
              <a:lnSpc>
                <a:spcPct val="150000"/>
              </a:lnSpc>
            </a:pPr>
            <a:r>
              <a:rPr lang="en-US" altLang="zh-CN" sz="2400" kern="100" dirty="0">
                <a:effectLst/>
                <a:latin typeface="+mj-ea"/>
                <a:ea typeface="+mj-ea"/>
                <a:sym typeface="+mn-ea"/>
              </a:rPr>
              <a:t>1</a:t>
            </a:r>
            <a:r>
              <a:rPr lang="zh-CN" altLang="zh-CN" sz="2400" kern="100" dirty="0">
                <a:effectLst/>
                <a:latin typeface="+mj-ea"/>
                <a:ea typeface="+mj-ea"/>
                <a:sym typeface="+mn-ea"/>
              </a:rPr>
              <a:t>）更快的训练速度</a:t>
            </a:r>
            <a:endParaRPr lang="zh-CN" altLang="zh-CN" sz="2400" kern="100" dirty="0">
              <a:effectLst/>
              <a:latin typeface="+mj-ea"/>
              <a:ea typeface="+mj-ea"/>
            </a:endParaRPr>
          </a:p>
          <a:p>
            <a:pPr indent="266700" algn="just">
              <a:lnSpc>
                <a:spcPct val="150000"/>
              </a:lnSpc>
            </a:pPr>
            <a:r>
              <a:rPr lang="en-US" altLang="zh-CN" sz="2400" kern="100" dirty="0">
                <a:effectLst/>
                <a:latin typeface="+mj-ea"/>
                <a:ea typeface="+mj-ea"/>
                <a:sym typeface="+mn-ea"/>
              </a:rPr>
              <a:t>2</a:t>
            </a:r>
            <a:r>
              <a:rPr lang="zh-CN" altLang="zh-CN" sz="2400" kern="100" dirty="0">
                <a:effectLst/>
                <a:latin typeface="+mj-ea"/>
                <a:ea typeface="+mj-ea"/>
                <a:sym typeface="+mn-ea"/>
              </a:rPr>
              <a:t>）更低的内存消耗</a:t>
            </a:r>
            <a:endParaRPr lang="zh-CN" altLang="zh-CN" sz="2400" kern="100" dirty="0">
              <a:effectLst/>
              <a:latin typeface="+mj-ea"/>
              <a:ea typeface="+mj-ea"/>
            </a:endParaRPr>
          </a:p>
          <a:p>
            <a:pPr indent="266700" algn="just">
              <a:lnSpc>
                <a:spcPct val="150000"/>
              </a:lnSpc>
            </a:pPr>
            <a:r>
              <a:rPr lang="en-US" altLang="zh-CN" sz="2400" kern="100" dirty="0">
                <a:effectLst/>
                <a:latin typeface="+mj-ea"/>
                <a:ea typeface="+mj-ea"/>
                <a:sym typeface="+mn-ea"/>
              </a:rPr>
              <a:t>3</a:t>
            </a:r>
            <a:r>
              <a:rPr lang="zh-CN" altLang="zh-CN" sz="2400" kern="100" dirty="0">
                <a:effectLst/>
                <a:latin typeface="+mj-ea"/>
                <a:ea typeface="+mj-ea"/>
                <a:sym typeface="+mn-ea"/>
              </a:rPr>
              <a:t>）更好的准确率</a:t>
            </a:r>
            <a:endParaRPr lang="zh-CN" altLang="zh-CN" sz="2400" kern="100" dirty="0">
              <a:effectLst/>
              <a:latin typeface="+mj-ea"/>
              <a:ea typeface="+mj-ea"/>
            </a:endParaRPr>
          </a:p>
          <a:p>
            <a:pPr indent="266700" algn="just">
              <a:lnSpc>
                <a:spcPct val="150000"/>
              </a:lnSpc>
            </a:pPr>
            <a:r>
              <a:rPr lang="en-US" altLang="zh-CN" sz="2400" kern="100" dirty="0">
                <a:effectLst/>
                <a:latin typeface="+mj-ea"/>
                <a:ea typeface="+mj-ea"/>
                <a:sym typeface="+mn-ea"/>
              </a:rPr>
              <a:t>4</a:t>
            </a:r>
            <a:r>
              <a:rPr lang="zh-CN" altLang="zh-CN" sz="2400" kern="100" dirty="0">
                <a:effectLst/>
                <a:latin typeface="+mj-ea"/>
                <a:ea typeface="+mj-ea"/>
                <a:sym typeface="+mn-ea"/>
              </a:rPr>
              <a:t>）分布式支持，可快速处理海量数据</a:t>
            </a:r>
            <a:endParaRPr lang="zh-CN" altLang="zh-CN" sz="2400" kern="100" dirty="0">
              <a:effectLst/>
              <a:latin typeface="+mj-ea"/>
              <a:ea typeface="+mj-ea"/>
              <a:sym typeface="+mn-ea"/>
            </a:endParaRPr>
          </a:p>
        </p:txBody>
      </p:sp>
      <p:sp>
        <p:nvSpPr>
          <p:cNvPr id="100" name="文本框 99"/>
          <p:cNvSpPr txBox="1"/>
          <p:nvPr>
            <p:custDataLst>
              <p:tags r:id="rId4"/>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62</a:t>
            </a:r>
            <a:endParaRPr lang="en-US" altLang="zh-CN" b="0">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1600000">
            <a:off x="126609" y="147616"/>
            <a:ext cx="2722051" cy="688004"/>
            <a:chOff x="0" y="0"/>
            <a:chExt cx="2722051" cy="688004"/>
          </a:xfrm>
        </p:grpSpPr>
        <p:pic>
          <p:nvPicPr>
            <p:cNvPr id="38" name="picture 38"/>
            <p:cNvPicPr>
              <a:picLocks noChangeAspect="1"/>
            </p:cNvPicPr>
            <p:nvPr/>
          </p:nvPicPr>
          <p:blipFill>
            <a:blip r:embed="rId1"/>
            <a:stretch>
              <a:fillRect/>
            </a:stretch>
          </p:blipFill>
          <p:spPr>
            <a:xfrm rot="21600000">
              <a:off x="0" y="29636"/>
              <a:ext cx="2696776" cy="658368"/>
            </a:xfrm>
            <a:prstGeom prst="rect">
              <a:avLst/>
            </a:prstGeom>
          </p:spPr>
        </p:pic>
        <p:sp>
          <p:nvSpPr>
            <p:cNvPr id="40" name="textbox 4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42" name="picture 42"/>
          <p:cNvPicPr>
            <a:picLocks noChangeAspect="1"/>
          </p:cNvPicPr>
          <p:nvPr/>
        </p:nvPicPr>
        <p:blipFill>
          <a:blip r:embed="rId2"/>
          <a:stretch>
            <a:fillRect/>
          </a:stretch>
        </p:blipFill>
        <p:spPr>
          <a:xfrm rot="21600000">
            <a:off x="10668" y="981455"/>
            <a:ext cx="12181331" cy="45720"/>
          </a:xfrm>
          <a:prstGeom prst="rect">
            <a:avLst/>
          </a:prstGeom>
        </p:spPr>
      </p:pic>
      <p:sp>
        <p:nvSpPr>
          <p:cNvPr id="3" name="文本框 2"/>
          <p:cNvSpPr txBox="1"/>
          <p:nvPr>
            <p:custDataLst>
              <p:tags r:id="rId3"/>
            </p:custDataLst>
          </p:nvPr>
        </p:nvSpPr>
        <p:spPr>
          <a:xfrm>
            <a:off x="36258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r>
              <a:rPr lang="en-US" altLang="zh-CN" sz="3200" dirty="0">
                <a:sym typeface="+mn-ea"/>
              </a:rPr>
              <a:t>LightGBM</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6" name="文本框 5"/>
          <p:cNvSpPr txBox="1"/>
          <p:nvPr>
            <p:custDataLst>
              <p:tags r:id="rId4"/>
            </p:custDataLst>
          </p:nvPr>
        </p:nvSpPr>
        <p:spPr>
          <a:xfrm>
            <a:off x="3140710" y="1186180"/>
            <a:ext cx="9050655" cy="706755"/>
          </a:xfrm>
          <a:prstGeom prst="rect">
            <a:avLst/>
          </a:prstGeom>
          <a:noFill/>
        </p:spPr>
        <p:txBody>
          <a:bodyPr wrap="square" rtlCol="0" anchor="t">
            <a:spAutoFit/>
          </a:bodyPr>
          <a:p>
            <a:r>
              <a:rPr lang="zh-CN" altLang="en-US" sz="2000" b="1" kern="100" dirty="0">
                <a:effectLst/>
                <a:latin typeface="+mj-ea"/>
                <a:ea typeface="+mj-ea"/>
                <a:cs typeface="Times New Roman" panose="02020603050405020304" charset="0"/>
                <a:sym typeface="+mn-ea"/>
              </a:rPr>
              <a:t>基于梯度的单边采样算</a:t>
            </a:r>
            <a:r>
              <a:rPr lang="zh-CN" altLang="en-US" sz="2000" kern="100" dirty="0">
                <a:effectLst/>
                <a:latin typeface="+mj-ea"/>
                <a:ea typeface="+mj-ea"/>
                <a:cs typeface="Times New Roman" panose="02020603050405020304" charset="0"/>
                <a:sym typeface="+mn-ea"/>
              </a:rPr>
              <a:t>法</a:t>
            </a:r>
            <a:r>
              <a:rPr lang="zh-CN" altLang="en-US" sz="2000" kern="100" dirty="0">
                <a:effectLst/>
                <a:latin typeface="+mj-ea"/>
                <a:ea typeface="+mj-ea"/>
                <a:cs typeface="Times New Roman" panose="02020603050405020304" charset="0"/>
                <a:sym typeface="+mn-ea"/>
              </a:rPr>
              <a:t>（</a:t>
            </a:r>
            <a:r>
              <a:rPr lang="en-US" altLang="zh-CN" sz="2000" kern="100" dirty="0">
                <a:effectLst/>
                <a:latin typeface="+mj-ea"/>
                <a:ea typeface="+mj-ea"/>
                <a:cs typeface="Times New Roman" panose="02020603050405020304" charset="0"/>
                <a:sym typeface="+mn-ea"/>
              </a:rPr>
              <a:t>Gradient-based One-Side Sampling, GOSS</a:t>
            </a:r>
            <a:r>
              <a:rPr lang="zh-CN" altLang="en-US" sz="2000" kern="100" dirty="0">
                <a:effectLst/>
                <a:latin typeface="+mj-ea"/>
                <a:ea typeface="+mj-ea"/>
                <a:cs typeface="Times New Roman" panose="02020603050405020304" charset="0"/>
                <a:sym typeface="+mn-ea"/>
              </a:rPr>
              <a:t>）</a:t>
            </a:r>
            <a:endParaRPr lang="zh-CN" altLang="zh-CN" sz="2000" b="1" kern="100" dirty="0">
              <a:effectLst/>
              <a:latin typeface="+mj-ea"/>
              <a:ea typeface="+mj-ea"/>
              <a:cs typeface="Times New Roman" panose="02020603050405020304" charset="0"/>
            </a:endParaRPr>
          </a:p>
          <a:p>
            <a:endParaRPr lang="zh-CN" altLang="en-US" sz="2000" b="1" kern="100" dirty="0">
              <a:effectLst/>
              <a:latin typeface="+mj-ea"/>
              <a:ea typeface="+mj-ea"/>
              <a:cs typeface="Times New Roman" panose="02020603050405020304" charset="0"/>
              <a:sym typeface="+mn-ea"/>
            </a:endParaRPr>
          </a:p>
        </p:txBody>
      </p:sp>
      <p:sp>
        <p:nvSpPr>
          <p:cNvPr id="8" name="文本框 7"/>
          <p:cNvSpPr txBox="1"/>
          <p:nvPr>
            <p:custDataLst>
              <p:tags r:id="rId5"/>
            </p:custDataLst>
          </p:nvPr>
        </p:nvSpPr>
        <p:spPr>
          <a:xfrm>
            <a:off x="802322" y="1880461"/>
            <a:ext cx="11066585" cy="460375"/>
          </a:xfrm>
          <a:prstGeom prst="rect">
            <a:avLst/>
          </a:prstGeom>
          <a:noFill/>
        </p:spPr>
        <p:txBody>
          <a:bodyPr wrap="square">
            <a:spAutoFit/>
          </a:bodyPr>
          <a:p>
            <a:r>
              <a:rPr lang="zh-CN" altLang="en-US" sz="2400" b="0" i="0" dirty="0">
                <a:solidFill>
                  <a:srgbClr val="333333"/>
                </a:solidFill>
                <a:effectLst/>
                <a:latin typeface="-apple-system"/>
              </a:rPr>
              <a:t>主要思想是通过对样本采样的方法来减少计算目标函数增益时候的复杂度</a:t>
            </a:r>
            <a:r>
              <a:rPr lang="zh-CN" altLang="en-US" b="0" i="0" dirty="0">
                <a:solidFill>
                  <a:srgbClr val="333333"/>
                </a:solidFill>
                <a:effectLst/>
                <a:latin typeface="-apple-system"/>
              </a:rPr>
              <a:t>。</a:t>
            </a:r>
            <a:endParaRPr lang="zh-CN" altLang="en-US" dirty="0"/>
          </a:p>
        </p:txBody>
      </p:sp>
      <p:sp>
        <p:nvSpPr>
          <p:cNvPr id="9" name="文本框 8"/>
          <p:cNvSpPr txBox="1"/>
          <p:nvPr/>
        </p:nvSpPr>
        <p:spPr>
          <a:xfrm>
            <a:off x="970280" y="3013710"/>
            <a:ext cx="10034905" cy="829945"/>
          </a:xfrm>
          <a:prstGeom prst="rect">
            <a:avLst/>
          </a:prstGeom>
          <a:noFill/>
        </p:spPr>
        <p:txBody>
          <a:bodyPr wrap="square" rtlCol="0" anchor="t">
            <a:spAutoFit/>
          </a:bodyPr>
          <a:p>
            <a:r>
              <a:rPr lang="zh-CN" altLang="zh-CN" sz="2400" kern="100" dirty="0">
                <a:effectLst/>
                <a:latin typeface="+mj-ea"/>
                <a:ea typeface="+mj-ea"/>
                <a:sym typeface="+mn-ea"/>
              </a:rPr>
              <a:t>保留了梯度大的样本，并对梯度小的样本进行随机抽样，为了不改变样本的数据分布，在计算增益时为梯度小的样本引入一个常数进行平衡</a:t>
            </a:r>
            <a:endParaRPr lang="zh-CN" altLang="zh-CN" sz="2400" kern="100" dirty="0">
              <a:effectLst/>
              <a:latin typeface="+mj-ea"/>
              <a:ea typeface="+mj-ea"/>
              <a:sym typeface="+mn-ea"/>
            </a:endParaRPr>
          </a:p>
        </p:txBody>
      </p:sp>
      <p:sp>
        <p:nvSpPr>
          <p:cNvPr id="10" name="文本框 9"/>
          <p:cNvSpPr txBox="1"/>
          <p:nvPr/>
        </p:nvSpPr>
        <p:spPr>
          <a:xfrm>
            <a:off x="1072515" y="4803140"/>
            <a:ext cx="7720330" cy="829945"/>
          </a:xfrm>
          <a:prstGeom prst="rect">
            <a:avLst/>
          </a:prstGeom>
          <a:noFill/>
        </p:spPr>
        <p:txBody>
          <a:bodyPr wrap="square" rtlCol="0" anchor="t">
            <a:spAutoFit/>
          </a:bodyPr>
          <a:p>
            <a:r>
              <a:rPr lang="zh-CN" altLang="en-US" sz="2400" b="1" dirty="0">
                <a:solidFill>
                  <a:schemeClr val="tx1"/>
                </a:solidFill>
                <a:effectLst/>
                <a:latin typeface="-apple-system"/>
                <a:sym typeface="+mn-ea"/>
              </a:rPr>
              <a:t>如果一个样本的梯度很小，说明该样本的训练误差很小，或者说该样本已经得到了很好的训练</a:t>
            </a:r>
            <a:r>
              <a:rPr lang="en-US" altLang="zh-CN" sz="2400" b="1" dirty="0">
                <a:solidFill>
                  <a:schemeClr val="tx1"/>
                </a:solidFill>
                <a:effectLst/>
                <a:latin typeface="-apple-system"/>
                <a:sym typeface="+mn-ea"/>
              </a:rPr>
              <a:t>(well-trained)</a:t>
            </a:r>
            <a:r>
              <a:rPr lang="zh-CN" altLang="en-US" sz="2400" b="1" dirty="0">
                <a:solidFill>
                  <a:schemeClr val="tx1"/>
                </a:solidFill>
                <a:effectLst/>
                <a:latin typeface="-apple-system"/>
                <a:sym typeface="+mn-ea"/>
              </a:rPr>
              <a:t>。</a:t>
            </a:r>
            <a:endParaRPr lang="zh-CN" altLang="en-US" sz="2400" b="1" dirty="0">
              <a:solidFill>
                <a:schemeClr val="tx1"/>
              </a:solidFill>
              <a:effectLst/>
              <a:latin typeface="-apple-system"/>
              <a:sym typeface="+mn-ea"/>
            </a:endParaRPr>
          </a:p>
        </p:txBody>
      </p:sp>
      <p:sp>
        <p:nvSpPr>
          <p:cNvPr id="100" name="文本框 99"/>
          <p:cNvSpPr txBox="1"/>
          <p:nvPr>
            <p:custDataLst>
              <p:tags r:id="rId6"/>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63</a:t>
            </a:r>
            <a:endParaRPr lang="en-US" altLang="zh-CN" b="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1600000">
            <a:off x="126609" y="147616"/>
            <a:ext cx="2722051" cy="688004"/>
            <a:chOff x="0" y="0"/>
            <a:chExt cx="2722051" cy="688004"/>
          </a:xfrm>
        </p:grpSpPr>
        <p:pic>
          <p:nvPicPr>
            <p:cNvPr id="38" name="picture 38"/>
            <p:cNvPicPr>
              <a:picLocks noChangeAspect="1"/>
            </p:cNvPicPr>
            <p:nvPr/>
          </p:nvPicPr>
          <p:blipFill>
            <a:blip r:embed="rId1"/>
            <a:stretch>
              <a:fillRect/>
            </a:stretch>
          </p:blipFill>
          <p:spPr>
            <a:xfrm rot="21600000">
              <a:off x="0" y="29636"/>
              <a:ext cx="2696776" cy="658368"/>
            </a:xfrm>
            <a:prstGeom prst="rect">
              <a:avLst/>
            </a:prstGeom>
          </p:spPr>
        </p:pic>
        <p:sp>
          <p:nvSpPr>
            <p:cNvPr id="40" name="textbox 4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42" name="picture 42"/>
          <p:cNvPicPr>
            <a:picLocks noChangeAspect="1"/>
          </p:cNvPicPr>
          <p:nvPr/>
        </p:nvPicPr>
        <p:blipFill>
          <a:blip r:embed="rId2"/>
          <a:stretch>
            <a:fillRect/>
          </a:stretch>
        </p:blipFill>
        <p:spPr>
          <a:xfrm rot="21600000">
            <a:off x="10668" y="981455"/>
            <a:ext cx="12181331" cy="45720"/>
          </a:xfrm>
          <a:prstGeom prst="rect">
            <a:avLst/>
          </a:prstGeom>
        </p:spPr>
      </p:pic>
      <p:sp>
        <p:nvSpPr>
          <p:cNvPr id="3" name="文本框 2"/>
          <p:cNvSpPr txBox="1"/>
          <p:nvPr>
            <p:custDataLst>
              <p:tags r:id="rId3"/>
            </p:custDataLst>
          </p:nvPr>
        </p:nvSpPr>
        <p:spPr>
          <a:xfrm>
            <a:off x="36258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r>
              <a:rPr lang="en-US" altLang="zh-CN" sz="3200" dirty="0">
                <a:sym typeface="+mn-ea"/>
              </a:rPr>
              <a:t>LightGBM</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2" name="文本框 1"/>
          <p:cNvSpPr txBox="1"/>
          <p:nvPr/>
        </p:nvSpPr>
        <p:spPr>
          <a:xfrm>
            <a:off x="3099435" y="1173480"/>
            <a:ext cx="8657590" cy="398780"/>
          </a:xfrm>
          <a:prstGeom prst="rect">
            <a:avLst/>
          </a:prstGeom>
          <a:noFill/>
        </p:spPr>
        <p:txBody>
          <a:bodyPr wrap="square" rtlCol="0" anchor="t">
            <a:spAutoFit/>
          </a:bodyPr>
          <a:p>
            <a:r>
              <a:rPr lang="zh-CN" altLang="en-US" sz="2000" b="1" kern="100" dirty="0">
                <a:effectLst/>
                <a:latin typeface="+mj-ea"/>
                <a:ea typeface="+mj-ea"/>
                <a:cs typeface="Times New Roman" panose="02020603050405020304" charset="0"/>
                <a:sym typeface="+mn-ea"/>
              </a:rPr>
              <a:t>基于梯度的单边采样算</a:t>
            </a:r>
            <a:r>
              <a:rPr lang="zh-CN" altLang="en-US" sz="2000" kern="100" dirty="0">
                <a:effectLst/>
                <a:latin typeface="+mj-ea"/>
                <a:ea typeface="+mj-ea"/>
                <a:cs typeface="Times New Roman" panose="02020603050405020304" charset="0"/>
                <a:sym typeface="+mn-ea"/>
              </a:rPr>
              <a:t>法（</a:t>
            </a:r>
            <a:r>
              <a:rPr lang="en-US" altLang="zh-CN" sz="2000" kern="100" dirty="0">
                <a:effectLst/>
                <a:latin typeface="+mj-ea"/>
                <a:ea typeface="+mj-ea"/>
                <a:cs typeface="Times New Roman" panose="02020603050405020304" charset="0"/>
                <a:sym typeface="+mn-ea"/>
              </a:rPr>
              <a:t>Gradient-based One-Side Sampling, GOSS</a:t>
            </a:r>
            <a:r>
              <a:rPr lang="zh-CN" altLang="en-US" sz="2000" kern="100" dirty="0">
                <a:effectLst/>
                <a:latin typeface="+mj-ea"/>
                <a:ea typeface="+mj-ea"/>
                <a:cs typeface="Times New Roman" panose="02020603050405020304" charset="0"/>
                <a:sym typeface="+mn-ea"/>
              </a:rPr>
              <a:t>）</a:t>
            </a:r>
            <a:endParaRPr lang="zh-CN" altLang="en-US" sz="2000" b="1" kern="100" dirty="0">
              <a:effectLst/>
              <a:latin typeface="+mj-ea"/>
              <a:ea typeface="+mj-ea"/>
              <a:cs typeface="Times New Roman" panose="02020603050405020304" charset="0"/>
              <a:sym typeface="+mn-ea"/>
            </a:endParaRPr>
          </a:p>
        </p:txBody>
      </p:sp>
      <mc:AlternateContent xmlns:mc="http://schemas.openxmlformats.org/markup-compatibility/2006">
        <mc:Choice xmlns:a14="http://schemas.microsoft.com/office/drawing/2010/main" Requires="a14">
          <p:sp>
            <p:nvSpPr>
              <p:cNvPr id="6" name="文本框 5"/>
              <p:cNvSpPr txBox="1"/>
              <p:nvPr/>
            </p:nvSpPr>
            <p:spPr>
              <a:xfrm>
                <a:off x="1495425" y="1772920"/>
                <a:ext cx="8389620" cy="4825365"/>
              </a:xfrm>
              <a:prstGeom prst="rect">
                <a:avLst/>
              </a:prstGeom>
              <a:noFill/>
            </p:spPr>
            <p:txBody>
              <a:bodyPr wrap="square" rtlCol="0" anchor="t">
                <a:noAutofit/>
              </a:bodyPr>
              <a:p>
                <a:r>
                  <a:rPr lang="zh-CN" altLang="en-US" sz="2000" dirty="0">
                    <a:sym typeface="+mn-ea"/>
                  </a:rPr>
                  <a:t>输入：训练数据，迭代步数d，大梯度数据的采样率a，小梯度数据的采样率b，损失函数和若学习器的类型（一般为决策树）</a:t>
                </a:r>
                <a:endParaRPr lang="en-US" altLang="zh-CN" sz="2000" dirty="0"/>
              </a:p>
              <a:p>
                <a:r>
                  <a:rPr lang="zh-CN" altLang="en-US" sz="2000" dirty="0">
                    <a:sym typeface="+mn-ea"/>
                  </a:rPr>
                  <a:t>输出：训练好的强学习器</a:t>
                </a:r>
                <a:endParaRPr lang="en-US" altLang="zh-CN" sz="2000" dirty="0"/>
              </a:p>
              <a:p>
                <a:pPr>
                  <a:lnSpc>
                    <a:spcPct val="150000"/>
                  </a:lnSpc>
                </a:pPr>
                <a:r>
                  <a:rPr lang="zh-CN" altLang="en-US" sz="2000" dirty="0">
                    <a:sym typeface="+mn-ea"/>
                  </a:rPr>
                  <a:t>（1）根据样本点的梯度的绝对值对它们进行降序排序；</a:t>
                </a:r>
                <a:endParaRPr lang="en-US" altLang="zh-CN" sz="2000" dirty="0"/>
              </a:p>
              <a:p>
                <a:pPr>
                  <a:lnSpc>
                    <a:spcPct val="150000"/>
                  </a:lnSpc>
                </a:pPr>
                <a:r>
                  <a:rPr lang="zh-CN" altLang="en-US" sz="2000" dirty="0">
                    <a:sym typeface="+mn-ea"/>
                  </a:rPr>
                  <a:t>（2）对排序后的结果选取前a*100%的样本生成一个大梯度样本点的子集；</a:t>
                </a:r>
                <a:endParaRPr lang="en-US" altLang="zh-CN" sz="2000" dirty="0"/>
              </a:p>
              <a:p>
                <a:pPr>
                  <a:lnSpc>
                    <a:spcPct val="150000"/>
                  </a:lnSpc>
                </a:pPr>
                <a:r>
                  <a:rPr lang="zh-CN" altLang="en-US" sz="2000" dirty="0">
                    <a:sym typeface="+mn-ea"/>
                  </a:rPr>
                  <a:t>（3）对剩下的样本集合</a:t>
                </a:r>
                <a:r>
                  <a:rPr lang="en-US" altLang="zh-CN" sz="2000" dirty="0">
                    <a:sym typeface="+mn-ea"/>
                  </a:rPr>
                  <a:t>(</a:t>
                </a:r>
                <a:r>
                  <a:rPr lang="zh-CN" altLang="en-US" sz="2000" dirty="0">
                    <a:sym typeface="+mn-ea"/>
                  </a:rPr>
                  <a:t>1-a</a:t>
                </a:r>
                <a:r>
                  <a:rPr lang="en-US" altLang="zh-CN" sz="2000" dirty="0">
                    <a:sym typeface="+mn-ea"/>
                  </a:rPr>
                  <a:t>)</a:t>
                </a:r>
                <a:r>
                  <a:rPr lang="zh-CN" altLang="en-US" sz="2000" dirty="0">
                    <a:sym typeface="+mn-ea"/>
                  </a:rPr>
                  <a:t>*100%的样本，随机的选取b *</a:t>
                </a:r>
                <a:r>
                  <a:rPr lang="en-US" altLang="zh-CN" sz="2000" dirty="0">
                    <a:sym typeface="+mn-ea"/>
                  </a:rPr>
                  <a:t>(</a:t>
                </a:r>
                <a:r>
                  <a:rPr lang="zh-CN" altLang="en-US" sz="2000" dirty="0">
                    <a:sym typeface="+mn-ea"/>
                  </a:rPr>
                  <a:t>1-a</a:t>
                </a:r>
                <a:r>
                  <a:rPr lang="en-US" altLang="zh-CN" sz="2000" dirty="0">
                    <a:sym typeface="+mn-ea"/>
                  </a:rPr>
                  <a:t>)</a:t>
                </a:r>
                <a:r>
                  <a:rPr lang="zh-CN" altLang="en-US" sz="2000" dirty="0">
                    <a:sym typeface="+mn-ea"/>
                  </a:rPr>
                  <a:t>*100%个样本点，生成一个小梯度样本点的集合；</a:t>
                </a:r>
                <a:endParaRPr lang="en-US" altLang="zh-CN" sz="2000" dirty="0"/>
              </a:p>
              <a:p>
                <a:pPr>
                  <a:lnSpc>
                    <a:spcPct val="150000"/>
                  </a:lnSpc>
                </a:pPr>
                <a:r>
                  <a:rPr lang="zh-CN" altLang="en-US" sz="2000" dirty="0">
                    <a:sym typeface="+mn-ea"/>
                  </a:rPr>
                  <a:t>（4）将大梯度样本和采样的小梯度样本合并；</a:t>
                </a:r>
                <a:endParaRPr lang="en-US" altLang="zh-CN" sz="2000" dirty="0"/>
              </a:p>
              <a:p>
                <a:pPr>
                  <a:lnSpc>
                    <a:spcPct val="150000"/>
                  </a:lnSpc>
                </a:pPr>
                <a:r>
                  <a:rPr lang="zh-CN" altLang="en-US" sz="2000" dirty="0">
                    <a:sym typeface="+mn-ea"/>
                  </a:rPr>
                  <a:t>（5）将小梯度样本乘上一个权重系数</a:t>
                </a:r>
                <a14:m>
                  <m:oMath xmlns:m="http://schemas.openxmlformats.org/officeDocument/2006/math">
                    <m:f>
                      <m:fPr>
                        <m:ctrlPr>
                          <a:rPr lang="zh-CN" altLang="zh-CN" sz="2000" i="1" smtClean="0">
                            <a:latin typeface="Cambria Math" panose="02040503050406030204" pitchFamily="18" charset="0"/>
                            <a:ea typeface="Cambria Math" panose="02040503050406030204" pitchFamily="18" charset="0"/>
                          </a:rPr>
                        </m:ctrlPr>
                      </m:fPr>
                      <m:num>
                        <m:r>
                          <a:rPr lang="en-US" altLang="zh-CN" sz="2000" i="1" kern="100">
                            <a:latin typeface="Cambria Math" panose="02040503050406030204" pitchFamily="18" charset="0"/>
                            <a:ea typeface="宋体" panose="02010600030101010101" pitchFamily="2" charset="-122"/>
                            <a:cs typeface="Times New Roman" panose="02020603050405020304" charset="0"/>
                          </a:rPr>
                          <m:t>1</m:t>
                        </m:r>
                        <m:r>
                          <a:rPr lang="en-US" altLang="zh-CN" sz="2000" i="1" kern="100">
                            <a:latin typeface="Cambria Math" panose="02040503050406030204" pitchFamily="18" charset="0"/>
                            <a:ea typeface="宋体" panose="02010600030101010101" pitchFamily="2" charset="-122"/>
                            <a:cs typeface="Times New Roman" panose="02020603050405020304" charset="0"/>
                          </a:rPr>
                          <m:t>−</m:t>
                        </m:r>
                        <m:r>
                          <a:rPr lang="en-US" altLang="zh-CN" sz="2000" i="1" kern="100">
                            <a:latin typeface="Cambria Math" panose="02040503050406030204" pitchFamily="18" charset="0"/>
                            <a:ea typeface="宋体" panose="02010600030101010101" pitchFamily="2" charset="-122"/>
                            <a:cs typeface="Times New Roman" panose="02020603050405020304" charset="0"/>
                          </a:rPr>
                          <m:t>𝑎</m:t>
                        </m:r>
                      </m:num>
                      <m:den>
                        <m:r>
                          <a:rPr lang="en-US" altLang="zh-CN" sz="2000" i="1" kern="100">
                            <a:latin typeface="Cambria Math" panose="02040503050406030204" pitchFamily="18" charset="0"/>
                            <a:ea typeface="宋体" panose="02010600030101010101" pitchFamily="2" charset="-122"/>
                            <a:cs typeface="Times New Roman" panose="02020603050405020304" charset="0"/>
                          </a:rPr>
                          <m:t>𝑏</m:t>
                        </m:r>
                      </m:den>
                    </m:f>
                    <m:r>
                      <a:rPr lang="en-US" altLang="zh-CN" sz="2000" i="1" kern="100">
                        <a:latin typeface="Cambria Math" panose="02040503050406030204" pitchFamily="18" charset="0"/>
                        <a:ea typeface="宋体" panose="02010600030101010101" pitchFamily="2" charset="-122"/>
                        <a:cs typeface="Times New Roman" panose="02020603050405020304" charset="0"/>
                      </a:rPr>
                      <m:t> </m:t>
                    </m:r>
                  </m:oMath>
                </a14:m>
                <a:r>
                  <a:rPr lang="zh-CN" altLang="en-US" sz="2000" dirty="0">
                    <a:sym typeface="+mn-ea"/>
                  </a:rPr>
                  <a:t>；</a:t>
                </a:r>
                <a:endParaRPr lang="en-US" altLang="zh-CN" sz="2000" dirty="0"/>
              </a:p>
              <a:p>
                <a:pPr>
                  <a:lnSpc>
                    <a:spcPct val="150000"/>
                  </a:lnSpc>
                </a:pPr>
                <a:r>
                  <a:rPr lang="zh-CN" altLang="en-US" sz="2000" dirty="0">
                    <a:sym typeface="+mn-ea"/>
                  </a:rPr>
                  <a:t>（6）使用上述的采样的样本，学习一个新的弱学习器；</a:t>
                </a:r>
                <a:endParaRPr lang="en-US" altLang="zh-CN" sz="2000" dirty="0"/>
              </a:p>
              <a:p>
                <a:pPr>
                  <a:lnSpc>
                    <a:spcPct val="150000"/>
                  </a:lnSpc>
                </a:pPr>
                <a:r>
                  <a:rPr lang="zh-CN" altLang="en-US" sz="2000" dirty="0">
                    <a:sym typeface="+mn-ea"/>
                  </a:rPr>
                  <a:t>（7）不断地重复（1）~（6）步骤直到达到规定的迭代次数或者收敛为止。</a:t>
                </a:r>
                <a:endParaRPr lang="zh-CN" altLang="en-US" sz="2000" dirty="0">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1495425" y="1772920"/>
                <a:ext cx="8389620" cy="4825365"/>
              </a:xfrm>
              <a:prstGeom prst="rect">
                <a:avLst/>
              </a:prstGeom>
              <a:blipFill rotWithShape="1">
                <a:blip r:embed="rId4"/>
                <a:stretch>
                  <a:fillRect r="-1756"/>
                </a:stretch>
              </a:blipFill>
            </p:spPr>
            <p:txBody>
              <a:bodyPr/>
              <a:lstStyle/>
              <a:p>
                <a:r>
                  <a:rPr lang="zh-CN" altLang="en-US">
                    <a:noFill/>
                  </a:rPr>
                  <a:t> </a:t>
                </a:r>
              </a:p>
            </p:txBody>
          </p:sp>
        </mc:Fallback>
      </mc:AlternateContent>
      <p:sp>
        <p:nvSpPr>
          <p:cNvPr id="100" name="文本框 99"/>
          <p:cNvSpPr txBox="1"/>
          <p:nvPr>
            <p:custDataLst>
              <p:tags r:id="rId5"/>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64</a:t>
            </a:r>
            <a:endParaRPr lang="en-US" altLang="zh-CN" b="0">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1600000">
            <a:off x="126609" y="147616"/>
            <a:ext cx="2722051" cy="688004"/>
            <a:chOff x="0" y="0"/>
            <a:chExt cx="2722051" cy="688004"/>
          </a:xfrm>
        </p:grpSpPr>
        <p:pic>
          <p:nvPicPr>
            <p:cNvPr id="38" name="picture 38"/>
            <p:cNvPicPr>
              <a:picLocks noChangeAspect="1"/>
            </p:cNvPicPr>
            <p:nvPr/>
          </p:nvPicPr>
          <p:blipFill>
            <a:blip r:embed="rId1"/>
            <a:stretch>
              <a:fillRect/>
            </a:stretch>
          </p:blipFill>
          <p:spPr>
            <a:xfrm rot="21600000">
              <a:off x="0" y="29636"/>
              <a:ext cx="2696776" cy="658368"/>
            </a:xfrm>
            <a:prstGeom prst="rect">
              <a:avLst/>
            </a:prstGeom>
          </p:spPr>
        </p:pic>
        <p:sp>
          <p:nvSpPr>
            <p:cNvPr id="40" name="textbox 4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42" name="picture 42"/>
          <p:cNvPicPr>
            <a:picLocks noChangeAspect="1"/>
          </p:cNvPicPr>
          <p:nvPr/>
        </p:nvPicPr>
        <p:blipFill>
          <a:blip r:embed="rId2"/>
          <a:stretch>
            <a:fillRect/>
          </a:stretch>
        </p:blipFill>
        <p:spPr>
          <a:xfrm rot="21600000">
            <a:off x="10668" y="981455"/>
            <a:ext cx="12181331" cy="45720"/>
          </a:xfrm>
          <a:prstGeom prst="rect">
            <a:avLst/>
          </a:prstGeom>
        </p:spPr>
      </p:pic>
      <p:sp>
        <p:nvSpPr>
          <p:cNvPr id="3" name="文本框 2"/>
          <p:cNvSpPr txBox="1"/>
          <p:nvPr>
            <p:custDataLst>
              <p:tags r:id="rId3"/>
            </p:custDataLst>
          </p:nvPr>
        </p:nvSpPr>
        <p:spPr>
          <a:xfrm>
            <a:off x="36258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r>
              <a:rPr lang="en-US" altLang="zh-CN" sz="3200" dirty="0">
                <a:sym typeface="+mn-ea"/>
              </a:rPr>
              <a:t>LightGBM</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6" name="文本框 5"/>
          <p:cNvSpPr txBox="1"/>
          <p:nvPr/>
        </p:nvSpPr>
        <p:spPr>
          <a:xfrm>
            <a:off x="1526540" y="2248535"/>
            <a:ext cx="8389620" cy="3047365"/>
          </a:xfrm>
          <a:prstGeom prst="rect">
            <a:avLst/>
          </a:prstGeom>
          <a:noFill/>
        </p:spPr>
        <p:txBody>
          <a:bodyPr wrap="square" rtlCol="0" anchor="t">
            <a:noAutofit/>
          </a:bodyPr>
          <a:p>
            <a:pPr>
              <a:lnSpc>
                <a:spcPct val="150000"/>
              </a:lnSpc>
            </a:pPr>
            <a:r>
              <a:rPr lang="zh-CN" altLang="zh-CN" sz="2400" dirty="0">
                <a:effectLst/>
                <a:latin typeface="微软雅黑" panose="020B0503020204020204" charset="-122"/>
                <a:cs typeface="Euclid" panose="02020503060505020303" pitchFamily="18" charset="0"/>
                <a:sym typeface="+mn-ea"/>
              </a:rPr>
              <a:t>高维特征往往是稀疏的，而且特征间可能是相互排斥的（如两个特征不同时取非零值），如果两个特征并不完全互斥（如只有一部分情况下是不同时取非零值），可以用互斥率表示互斥程度。</a:t>
            </a:r>
            <a:r>
              <a:rPr lang="en-US" altLang="zh-CN" sz="2400" dirty="0">
                <a:effectLst/>
                <a:latin typeface="微软雅黑" panose="020B0503020204020204" charset="-122"/>
                <a:cs typeface="Euclid" panose="02020503060505020303" pitchFamily="18" charset="0"/>
                <a:sym typeface="+mn-ea"/>
              </a:rPr>
              <a:t>EFB</a:t>
            </a:r>
            <a:r>
              <a:rPr lang="zh-CN" altLang="en-US" sz="2400" dirty="0">
                <a:effectLst/>
                <a:latin typeface="微软雅黑" panose="020B0503020204020204" charset="-122"/>
                <a:cs typeface="Euclid" panose="02020503060505020303" pitchFamily="18" charset="0"/>
                <a:sym typeface="+mn-ea"/>
              </a:rPr>
              <a:t>算法</a:t>
            </a:r>
            <a:r>
              <a:rPr lang="en-US" altLang="zh-CN" sz="2400" dirty="0" err="1">
                <a:effectLst/>
                <a:latin typeface="微软雅黑" panose="020B0503020204020204" charset="-122"/>
                <a:cs typeface="Euclid" panose="02020503060505020303" pitchFamily="18" charset="0"/>
                <a:sym typeface="+mn-ea"/>
              </a:rPr>
              <a:t>指出如果将一些特征进行融合绑定，则可以降低特征数量</a:t>
            </a:r>
            <a:r>
              <a:rPr lang="en-US" altLang="zh-CN" sz="2400" dirty="0">
                <a:effectLst/>
                <a:latin typeface="微软雅黑" panose="020B0503020204020204" charset="-122"/>
                <a:cs typeface="Euclid" panose="02020503060505020303" pitchFamily="18" charset="0"/>
                <a:sym typeface="+mn-ea"/>
              </a:rPr>
              <a:t>。</a:t>
            </a:r>
            <a:endParaRPr lang="zh-CN" altLang="en-US" sz="2400" dirty="0">
              <a:sym typeface="+mn-ea"/>
            </a:endParaRPr>
          </a:p>
        </p:txBody>
      </p:sp>
      <p:sp>
        <p:nvSpPr>
          <p:cNvPr id="5" name="文本框 4"/>
          <p:cNvSpPr txBox="1"/>
          <p:nvPr/>
        </p:nvSpPr>
        <p:spPr>
          <a:xfrm>
            <a:off x="3053715" y="1223010"/>
            <a:ext cx="8256270" cy="829945"/>
          </a:xfrm>
          <a:prstGeom prst="rect">
            <a:avLst/>
          </a:prstGeom>
          <a:noFill/>
        </p:spPr>
        <p:txBody>
          <a:bodyPr wrap="square" rtlCol="0" anchor="t">
            <a:spAutoFit/>
          </a:bodyPr>
          <a:p>
            <a:r>
              <a:rPr lang="zh-CN" altLang="zh-CN" sz="2400" b="1" kern="100" dirty="0">
                <a:effectLst/>
                <a:latin typeface="微软雅黑" panose="020B0503020204020204" charset="-122"/>
                <a:cs typeface="Times New Roman" panose="02020603050405020304" charset="0"/>
                <a:sym typeface="+mn-ea"/>
              </a:rPr>
              <a:t>互斥特征捆绑算法</a:t>
            </a:r>
            <a:r>
              <a:rPr lang="zh-CN" altLang="zh-CN" sz="2400" kern="100" dirty="0">
                <a:effectLst/>
                <a:latin typeface="微软雅黑" panose="020B0503020204020204" charset="-122"/>
                <a:cs typeface="Times New Roman" panose="02020603050405020304" charset="0"/>
                <a:sym typeface="+mn-ea"/>
              </a:rPr>
              <a:t>（</a:t>
            </a:r>
            <a:r>
              <a:rPr lang="en-US" altLang="zh-CN" sz="2400" kern="100" dirty="0">
                <a:effectLst/>
                <a:latin typeface="微软雅黑" panose="020B0503020204020204" charset="-122"/>
                <a:cs typeface="Times New Roman" panose="02020603050405020304" charset="0"/>
                <a:sym typeface="+mn-ea"/>
              </a:rPr>
              <a:t>Exclusive Feature Bundling, EFB</a:t>
            </a:r>
            <a:r>
              <a:rPr lang="zh-CN" altLang="zh-CN" sz="2400" kern="100" dirty="0">
                <a:effectLst/>
                <a:latin typeface="微软雅黑" panose="020B0503020204020204" charset="-122"/>
                <a:cs typeface="Times New Roman" panose="02020603050405020304" charset="0"/>
                <a:sym typeface="+mn-ea"/>
              </a:rPr>
              <a:t>）</a:t>
            </a:r>
            <a:endParaRPr lang="zh-CN" altLang="en-US" sz="2400" b="1" dirty="0">
              <a:latin typeface="微软雅黑" panose="020B0503020204020204" charset="-122"/>
            </a:endParaRPr>
          </a:p>
          <a:p>
            <a:endParaRPr lang="zh-CN" altLang="zh-CN" sz="2400" b="1" kern="100" dirty="0">
              <a:effectLst/>
              <a:latin typeface="微软雅黑" panose="020B0503020204020204" charset="-122"/>
              <a:cs typeface="Times New Roman" panose="02020603050405020304" charset="0"/>
              <a:sym typeface="+mn-ea"/>
            </a:endParaRPr>
          </a:p>
        </p:txBody>
      </p:sp>
      <p:sp>
        <p:nvSpPr>
          <p:cNvPr id="100" name="文本框 99"/>
          <p:cNvSpPr txBox="1"/>
          <p:nvPr>
            <p:custDataLst>
              <p:tags r:id="rId4"/>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65</a:t>
            </a:r>
            <a:endParaRPr lang="en-US" altLang="zh-CN" b="0">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1600000">
            <a:off x="126609" y="147616"/>
            <a:ext cx="2722051" cy="688004"/>
            <a:chOff x="0" y="0"/>
            <a:chExt cx="2722051" cy="688004"/>
          </a:xfrm>
        </p:grpSpPr>
        <p:pic>
          <p:nvPicPr>
            <p:cNvPr id="38" name="picture 38"/>
            <p:cNvPicPr>
              <a:picLocks noChangeAspect="1"/>
            </p:cNvPicPr>
            <p:nvPr/>
          </p:nvPicPr>
          <p:blipFill>
            <a:blip r:embed="rId1"/>
            <a:stretch>
              <a:fillRect/>
            </a:stretch>
          </p:blipFill>
          <p:spPr>
            <a:xfrm rot="21600000">
              <a:off x="0" y="29636"/>
              <a:ext cx="2696776" cy="658368"/>
            </a:xfrm>
            <a:prstGeom prst="rect">
              <a:avLst/>
            </a:prstGeom>
          </p:spPr>
        </p:pic>
        <p:sp>
          <p:nvSpPr>
            <p:cNvPr id="40" name="textbox 4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42" name="picture 42"/>
          <p:cNvPicPr>
            <a:picLocks noChangeAspect="1"/>
          </p:cNvPicPr>
          <p:nvPr/>
        </p:nvPicPr>
        <p:blipFill>
          <a:blip r:embed="rId2"/>
          <a:stretch>
            <a:fillRect/>
          </a:stretch>
        </p:blipFill>
        <p:spPr>
          <a:xfrm rot="21600000">
            <a:off x="10668" y="981455"/>
            <a:ext cx="12181331" cy="45720"/>
          </a:xfrm>
          <a:prstGeom prst="rect">
            <a:avLst/>
          </a:prstGeom>
        </p:spPr>
      </p:pic>
      <p:sp>
        <p:nvSpPr>
          <p:cNvPr id="3" name="文本框 2"/>
          <p:cNvSpPr txBox="1"/>
          <p:nvPr>
            <p:custDataLst>
              <p:tags r:id="rId3"/>
            </p:custDataLst>
          </p:nvPr>
        </p:nvSpPr>
        <p:spPr>
          <a:xfrm>
            <a:off x="36258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r>
              <a:rPr lang="en-US" altLang="zh-CN" sz="3200" dirty="0">
                <a:sym typeface="+mn-ea"/>
              </a:rPr>
              <a:t>LightGBM</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5" name="文本框 4"/>
          <p:cNvSpPr txBox="1"/>
          <p:nvPr/>
        </p:nvSpPr>
        <p:spPr>
          <a:xfrm>
            <a:off x="3053715" y="1223010"/>
            <a:ext cx="8256270" cy="829945"/>
          </a:xfrm>
          <a:prstGeom prst="rect">
            <a:avLst/>
          </a:prstGeom>
          <a:noFill/>
        </p:spPr>
        <p:txBody>
          <a:bodyPr wrap="square" rtlCol="0" anchor="t">
            <a:spAutoFit/>
          </a:bodyPr>
          <a:p>
            <a:r>
              <a:rPr lang="zh-CN" altLang="zh-CN" sz="2400" b="1" kern="100" dirty="0">
                <a:effectLst/>
                <a:latin typeface="微软雅黑" panose="020B0503020204020204" charset="-122"/>
                <a:cs typeface="Times New Roman" panose="02020603050405020304" charset="0"/>
                <a:sym typeface="+mn-ea"/>
              </a:rPr>
              <a:t>互斥特征捆绑算法</a:t>
            </a:r>
            <a:r>
              <a:rPr lang="zh-CN" altLang="zh-CN" sz="2400" kern="100" dirty="0">
                <a:effectLst/>
                <a:latin typeface="微软雅黑" panose="020B0503020204020204" charset="-122"/>
                <a:cs typeface="Times New Roman" panose="02020603050405020304" charset="0"/>
                <a:sym typeface="+mn-ea"/>
              </a:rPr>
              <a:t>（</a:t>
            </a:r>
            <a:r>
              <a:rPr lang="en-US" altLang="zh-CN" sz="2400" kern="100" dirty="0">
                <a:effectLst/>
                <a:latin typeface="微软雅黑" panose="020B0503020204020204" charset="-122"/>
                <a:cs typeface="Times New Roman" panose="02020603050405020304" charset="0"/>
                <a:sym typeface="+mn-ea"/>
              </a:rPr>
              <a:t>Exclusive Feature Bundling, EFB</a:t>
            </a:r>
            <a:r>
              <a:rPr lang="zh-CN" altLang="zh-CN" sz="2400" kern="100" dirty="0">
                <a:effectLst/>
                <a:latin typeface="微软雅黑" panose="020B0503020204020204" charset="-122"/>
                <a:cs typeface="Times New Roman" panose="02020603050405020304" charset="0"/>
                <a:sym typeface="+mn-ea"/>
              </a:rPr>
              <a:t>）</a:t>
            </a:r>
            <a:endParaRPr lang="zh-CN" altLang="en-US" sz="2400" b="1" dirty="0">
              <a:latin typeface="微软雅黑" panose="020B0503020204020204" charset="-122"/>
            </a:endParaRPr>
          </a:p>
          <a:p>
            <a:endParaRPr lang="zh-CN" altLang="zh-CN" sz="2400" b="1" kern="100" dirty="0">
              <a:effectLst/>
              <a:latin typeface="微软雅黑" panose="020B0503020204020204" charset="-122"/>
              <a:cs typeface="Times New Roman" panose="02020603050405020304" charset="0"/>
              <a:sym typeface="+mn-ea"/>
            </a:endParaRPr>
          </a:p>
        </p:txBody>
      </p:sp>
      <p:sp>
        <p:nvSpPr>
          <p:cNvPr id="2" name="文本框 1"/>
          <p:cNvSpPr txBox="1"/>
          <p:nvPr/>
        </p:nvSpPr>
        <p:spPr>
          <a:xfrm>
            <a:off x="1926590" y="2052955"/>
            <a:ext cx="8050530" cy="2861310"/>
          </a:xfrm>
          <a:prstGeom prst="rect">
            <a:avLst/>
          </a:prstGeom>
          <a:noFill/>
        </p:spPr>
        <p:txBody>
          <a:bodyPr wrap="square" rtlCol="0" anchor="t">
            <a:spAutoFit/>
          </a:bodyPr>
          <a:p>
            <a:pPr>
              <a:lnSpc>
                <a:spcPct val="150000"/>
              </a:lnSpc>
            </a:pPr>
            <a:r>
              <a:rPr lang="zh-CN" altLang="zh-CN" sz="2400" dirty="0">
                <a:effectLst/>
                <a:latin typeface="微软雅黑" panose="020B0503020204020204" charset="-122"/>
                <a:cs typeface="Euclid" panose="02020503060505020303" pitchFamily="18" charset="0"/>
                <a:sym typeface="+mn-ea"/>
              </a:rPr>
              <a:t>高维特征往往是稀疏的，而且特征间可能是相互排斥的（如两个特征不同时取非零值），如果两个特征并不完全互斥（如只有一部分情况下是不同时取非零值），可以用互斥率表示互斥程度。</a:t>
            </a:r>
            <a:r>
              <a:rPr lang="en-US" altLang="zh-CN" sz="2400" dirty="0">
                <a:effectLst/>
                <a:latin typeface="微软雅黑" panose="020B0503020204020204" charset="-122"/>
                <a:cs typeface="Euclid" panose="02020503060505020303" pitchFamily="18" charset="0"/>
                <a:sym typeface="+mn-ea"/>
              </a:rPr>
              <a:t>EFB</a:t>
            </a:r>
            <a:r>
              <a:rPr lang="zh-CN" altLang="en-US" sz="2400" dirty="0">
                <a:effectLst/>
                <a:latin typeface="微软雅黑" panose="020B0503020204020204" charset="-122"/>
                <a:cs typeface="Euclid" panose="02020503060505020303" pitchFamily="18" charset="0"/>
                <a:sym typeface="+mn-ea"/>
              </a:rPr>
              <a:t>算法</a:t>
            </a:r>
            <a:r>
              <a:rPr lang="en-US" altLang="zh-CN" sz="2400" dirty="0" err="1">
                <a:effectLst/>
                <a:latin typeface="微软雅黑" panose="020B0503020204020204" charset="-122"/>
                <a:cs typeface="Euclid" panose="02020503060505020303" pitchFamily="18" charset="0"/>
                <a:sym typeface="+mn-ea"/>
              </a:rPr>
              <a:t>指出如果将一些特征进行融合绑定，则可以降低特征数量</a:t>
            </a:r>
            <a:r>
              <a:rPr lang="en-US" altLang="zh-CN" sz="2400" dirty="0">
                <a:effectLst/>
                <a:latin typeface="微软雅黑" panose="020B0503020204020204" charset="-122"/>
                <a:cs typeface="Euclid" panose="02020503060505020303" pitchFamily="18" charset="0"/>
                <a:sym typeface="+mn-ea"/>
              </a:rPr>
              <a:t>。</a:t>
            </a:r>
            <a:endParaRPr lang="en-US" altLang="zh-CN" sz="2400" dirty="0">
              <a:effectLst/>
              <a:latin typeface="微软雅黑" panose="020B0503020204020204" charset="-122"/>
              <a:cs typeface="Euclid" panose="02020503060505020303" pitchFamily="18" charset="0"/>
              <a:sym typeface="+mn-ea"/>
            </a:endParaRPr>
          </a:p>
        </p:txBody>
      </p:sp>
      <p:sp>
        <p:nvSpPr>
          <p:cNvPr id="100" name="文本框 99"/>
          <p:cNvSpPr txBox="1"/>
          <p:nvPr>
            <p:custDataLst>
              <p:tags r:id="rId4"/>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66</a:t>
            </a:r>
            <a:endParaRPr lang="en-US" altLang="zh-CN" b="0">
              <a:ea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1600000">
            <a:off x="126609" y="147616"/>
            <a:ext cx="2722051" cy="688004"/>
            <a:chOff x="0" y="0"/>
            <a:chExt cx="2722051" cy="688004"/>
          </a:xfrm>
        </p:grpSpPr>
        <p:pic>
          <p:nvPicPr>
            <p:cNvPr id="38" name="picture 38"/>
            <p:cNvPicPr>
              <a:picLocks noChangeAspect="1"/>
            </p:cNvPicPr>
            <p:nvPr/>
          </p:nvPicPr>
          <p:blipFill>
            <a:blip r:embed="rId1"/>
            <a:stretch>
              <a:fillRect/>
            </a:stretch>
          </p:blipFill>
          <p:spPr>
            <a:xfrm rot="21600000">
              <a:off x="0" y="29636"/>
              <a:ext cx="2696776" cy="658368"/>
            </a:xfrm>
            <a:prstGeom prst="rect">
              <a:avLst/>
            </a:prstGeom>
          </p:spPr>
        </p:pic>
        <p:sp>
          <p:nvSpPr>
            <p:cNvPr id="40" name="textbox 4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42" name="picture 42"/>
          <p:cNvPicPr>
            <a:picLocks noChangeAspect="1"/>
          </p:cNvPicPr>
          <p:nvPr/>
        </p:nvPicPr>
        <p:blipFill>
          <a:blip r:embed="rId2"/>
          <a:stretch>
            <a:fillRect/>
          </a:stretch>
        </p:blipFill>
        <p:spPr>
          <a:xfrm rot="21600000">
            <a:off x="10668" y="981455"/>
            <a:ext cx="12181331" cy="45720"/>
          </a:xfrm>
          <a:prstGeom prst="rect">
            <a:avLst/>
          </a:prstGeom>
        </p:spPr>
      </p:pic>
      <p:sp>
        <p:nvSpPr>
          <p:cNvPr id="3" name="文本框 2"/>
          <p:cNvSpPr txBox="1"/>
          <p:nvPr>
            <p:custDataLst>
              <p:tags r:id="rId3"/>
            </p:custDataLst>
          </p:nvPr>
        </p:nvSpPr>
        <p:spPr>
          <a:xfrm>
            <a:off x="36258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r>
              <a:rPr lang="en-US" altLang="zh-CN" sz="3200" dirty="0">
                <a:sym typeface="+mn-ea"/>
              </a:rPr>
              <a:t>LightGBM</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5" name="文本框 4"/>
          <p:cNvSpPr txBox="1"/>
          <p:nvPr/>
        </p:nvSpPr>
        <p:spPr>
          <a:xfrm>
            <a:off x="3578225" y="1223010"/>
            <a:ext cx="3596005" cy="429260"/>
          </a:xfrm>
          <a:prstGeom prst="rect">
            <a:avLst/>
          </a:prstGeom>
          <a:noFill/>
        </p:spPr>
        <p:txBody>
          <a:bodyPr wrap="square" rtlCol="0" anchor="t">
            <a:noAutofit/>
          </a:bodyPr>
          <a:p>
            <a:r>
              <a:rPr lang="zh-CN" altLang="en-US" sz="2400" b="1" dirty="0">
                <a:solidFill>
                  <a:srgbClr val="121212"/>
                </a:solidFill>
                <a:effectLst/>
                <a:latin typeface="-apple-system"/>
                <a:sym typeface="+mn-ea"/>
              </a:rPr>
              <a:t>直方图算法</a:t>
            </a:r>
            <a:endParaRPr lang="zh-CN" altLang="en-US" sz="2400" dirty="0"/>
          </a:p>
          <a:p>
            <a:endParaRPr lang="zh-CN" altLang="zh-CN" sz="2400" b="1" kern="100" dirty="0">
              <a:effectLst/>
              <a:latin typeface="微软雅黑" panose="020B0503020204020204" charset="-122"/>
              <a:cs typeface="Times New Roman" panose="02020603050405020304" charset="0"/>
              <a:sym typeface="+mn-ea"/>
            </a:endParaRPr>
          </a:p>
        </p:txBody>
      </p:sp>
      <mc:AlternateContent xmlns:mc="http://schemas.openxmlformats.org/markup-compatibility/2006">
        <mc:Choice xmlns:a14="http://schemas.microsoft.com/office/drawing/2010/main" Requires="a14">
          <p:sp>
            <p:nvSpPr>
              <p:cNvPr id="6" name="文本框 5"/>
              <p:cNvSpPr txBox="1"/>
              <p:nvPr/>
            </p:nvSpPr>
            <p:spPr>
              <a:xfrm>
                <a:off x="1833880" y="1649730"/>
                <a:ext cx="8256270" cy="2306955"/>
              </a:xfrm>
              <a:prstGeom prst="rect">
                <a:avLst/>
              </a:prstGeom>
              <a:noFill/>
            </p:spPr>
            <p:txBody>
              <a:bodyPr wrap="square" rtlCol="0" anchor="t">
                <a:spAutoFit/>
              </a:bodyPr>
              <a:p>
                <a:pPr algn="just">
                  <a:lnSpc>
                    <a:spcPct val="150000"/>
                  </a:lnSpc>
                </a:pPr>
                <a:r>
                  <a:rPr lang="zh-CN" altLang="zh-CN" sz="2400" kern="100" dirty="0">
                    <a:effectLst/>
                    <a:latin typeface="微软雅黑" panose="020B0503020204020204" charset="-122"/>
                    <a:sym typeface="+mn-ea"/>
                  </a:rPr>
                  <a:t>直方图算法的基本思想是将连续的特征离散化为</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𝑘</m:t>
                    </m:r>
                  </m:oMath>
                </a14:m>
                <a:r>
                  <a:rPr lang="zh-CN" altLang="zh-CN" sz="2400" kern="100" dirty="0">
                    <a:effectLst/>
                    <a:latin typeface="微软雅黑" panose="020B0503020204020204" charset="-122"/>
                    <a:sym typeface="+mn-ea"/>
                  </a:rPr>
                  <a:t>个离散特征，同时构造一个宽度为</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𝑘</m:t>
                    </m:r>
                  </m:oMath>
                </a14:m>
                <a:r>
                  <a:rPr lang="zh-CN" altLang="zh-CN" sz="2400" kern="100" dirty="0">
                    <a:effectLst/>
                    <a:latin typeface="微软雅黑" panose="020B0503020204020204" charset="-122"/>
                    <a:sym typeface="+mn-ea"/>
                  </a:rPr>
                  <a:t>的直方图用于统计信息（含有 </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𝑘</m:t>
                    </m:r>
                  </m:oMath>
                </a14:m>
                <a:r>
                  <a:rPr lang="en-US" altLang="zh-CN" sz="2400" kern="100" dirty="0">
                    <a:effectLst/>
                    <a:latin typeface="微软雅黑" panose="020B0503020204020204" charset="-122"/>
                    <a:sym typeface="+mn-ea"/>
                  </a:rPr>
                  <a:t> </a:t>
                </a:r>
                <a:r>
                  <a:rPr lang="zh-CN" altLang="zh-CN" sz="2400" kern="100" dirty="0">
                    <a:effectLst/>
                    <a:latin typeface="微软雅黑" panose="020B0503020204020204" charset="-122"/>
                    <a:sym typeface="+mn-ea"/>
                  </a:rPr>
                  <a:t>个</a:t>
                </a:r>
                <a:r>
                  <a:rPr lang="en-US" altLang="zh-CN" sz="2400" kern="100" dirty="0">
                    <a:effectLst/>
                    <a:latin typeface="微软雅黑" panose="020B0503020204020204" charset="-122"/>
                    <a:sym typeface="+mn-ea"/>
                  </a:rPr>
                  <a:t> bin</a:t>
                </a:r>
                <a:r>
                  <a:rPr lang="zh-CN" altLang="zh-CN" sz="2400" kern="100" dirty="0">
                    <a:effectLst/>
                    <a:latin typeface="微软雅黑" panose="020B0503020204020204" charset="-122"/>
                    <a:sym typeface="+mn-ea"/>
                  </a:rPr>
                  <a:t>）。利用直方图算法我们无需遍历数据，只需要遍历 </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𝑘</m:t>
                    </m:r>
                  </m:oMath>
                </a14:m>
                <a:r>
                  <a:rPr lang="en-US" altLang="zh-CN" sz="2400" kern="100" dirty="0">
                    <a:effectLst/>
                    <a:latin typeface="微软雅黑" panose="020B0503020204020204" charset="-122"/>
                    <a:sym typeface="+mn-ea"/>
                  </a:rPr>
                  <a:t> </a:t>
                </a:r>
                <a:r>
                  <a:rPr lang="zh-CN" altLang="zh-CN" sz="2400" kern="100" dirty="0">
                    <a:effectLst/>
                    <a:latin typeface="微软雅黑" panose="020B0503020204020204" charset="-122"/>
                    <a:sym typeface="+mn-ea"/>
                  </a:rPr>
                  <a:t>个</a:t>
                </a:r>
                <a:r>
                  <a:rPr lang="en-US" altLang="zh-CN" sz="2400" kern="100" dirty="0">
                    <a:effectLst/>
                    <a:latin typeface="微软雅黑" panose="020B0503020204020204" charset="-122"/>
                    <a:sym typeface="+mn-ea"/>
                  </a:rPr>
                  <a:t> bin </a:t>
                </a:r>
                <a:r>
                  <a:rPr lang="zh-CN" altLang="zh-CN" sz="2400" kern="100" dirty="0">
                    <a:effectLst/>
                    <a:latin typeface="微软雅黑" panose="020B0503020204020204" charset="-122"/>
                    <a:sym typeface="+mn-ea"/>
                  </a:rPr>
                  <a:t>即可找到最佳分裂点。</a:t>
                </a:r>
                <a:endParaRPr lang="zh-CN" altLang="zh-CN" sz="2400" kern="100" dirty="0">
                  <a:effectLst/>
                  <a:latin typeface="微软雅黑" panose="020B0503020204020204" charset="-122"/>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1833880" y="1649730"/>
                <a:ext cx="8256270" cy="2306955"/>
              </a:xfrm>
              <a:prstGeom prst="rect">
                <a:avLst/>
              </a:prstGeom>
              <a:blipFill rotWithShape="1">
                <a:blip r:embed="rId4"/>
                <a:stretch>
                  <a:fillRect/>
                </a:stretch>
              </a:blipFill>
            </p:spPr>
            <p:txBody>
              <a:bodyPr/>
              <a:lstStyle/>
              <a:p>
                <a:r>
                  <a:rPr lang="zh-CN" altLang="en-US">
                    <a:noFill/>
                  </a:rPr>
                  <a:t> </a:t>
                </a:r>
              </a:p>
            </p:txBody>
          </p:sp>
        </mc:Fallback>
      </mc:AlternateContent>
      <p:pic>
        <p:nvPicPr>
          <p:cNvPr id="7" name="图片 6"/>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2458055" y="3521130"/>
            <a:ext cx="6850082" cy="3148333"/>
          </a:xfrm>
          <a:prstGeom prst="rect">
            <a:avLst/>
          </a:prstGeom>
        </p:spPr>
      </p:pic>
      <p:sp>
        <p:nvSpPr>
          <p:cNvPr id="100" name="文本框 99"/>
          <p:cNvSpPr txBox="1"/>
          <p:nvPr>
            <p:custDataLst>
              <p:tags r:id="rId7"/>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67</a:t>
            </a:r>
            <a:endParaRPr lang="en-US" altLang="zh-CN" b="0">
              <a:ea typeface="宋体" panose="0201060003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1600000">
            <a:off x="126609" y="147616"/>
            <a:ext cx="2722051" cy="688004"/>
            <a:chOff x="0" y="0"/>
            <a:chExt cx="2722051" cy="688004"/>
          </a:xfrm>
        </p:grpSpPr>
        <p:pic>
          <p:nvPicPr>
            <p:cNvPr id="38" name="picture 38"/>
            <p:cNvPicPr>
              <a:picLocks noChangeAspect="1"/>
            </p:cNvPicPr>
            <p:nvPr/>
          </p:nvPicPr>
          <p:blipFill>
            <a:blip r:embed="rId1"/>
            <a:stretch>
              <a:fillRect/>
            </a:stretch>
          </p:blipFill>
          <p:spPr>
            <a:xfrm rot="21600000">
              <a:off x="0" y="29636"/>
              <a:ext cx="2696776" cy="658368"/>
            </a:xfrm>
            <a:prstGeom prst="rect">
              <a:avLst/>
            </a:prstGeom>
          </p:spPr>
        </p:pic>
        <p:sp>
          <p:nvSpPr>
            <p:cNvPr id="40" name="textbox 4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42" name="picture 42"/>
          <p:cNvPicPr>
            <a:picLocks noChangeAspect="1"/>
          </p:cNvPicPr>
          <p:nvPr/>
        </p:nvPicPr>
        <p:blipFill>
          <a:blip r:embed="rId2"/>
          <a:stretch>
            <a:fillRect/>
          </a:stretch>
        </p:blipFill>
        <p:spPr>
          <a:xfrm rot="21600000">
            <a:off x="10668" y="981455"/>
            <a:ext cx="12181331" cy="45720"/>
          </a:xfrm>
          <a:prstGeom prst="rect">
            <a:avLst/>
          </a:prstGeom>
        </p:spPr>
      </p:pic>
      <p:sp>
        <p:nvSpPr>
          <p:cNvPr id="3" name="文本框 2"/>
          <p:cNvSpPr txBox="1"/>
          <p:nvPr>
            <p:custDataLst>
              <p:tags r:id="rId3"/>
            </p:custDataLst>
          </p:nvPr>
        </p:nvSpPr>
        <p:spPr>
          <a:xfrm>
            <a:off x="362585" y="1066165"/>
            <a:ext cx="6096000" cy="583565"/>
          </a:xfrm>
          <a:prstGeom prst="rect">
            <a:avLst/>
          </a:prstGeom>
          <a:noFill/>
        </p:spPr>
        <p:txBody>
          <a:bodyPr wrap="square" rtlCol="0" anchor="t">
            <a:spAutoFit/>
          </a:bodyPr>
          <a:p>
            <a:pPr>
              <a:spcBef>
                <a:spcPct val="50000"/>
              </a:spcBef>
            </a:pP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r>
              <a:rPr lang="en-US" altLang="zh-CN" sz="3200" dirty="0">
                <a:sym typeface="+mn-ea"/>
              </a:rPr>
              <a:t>LightGBM</a:t>
            </a:r>
            <a:r>
              <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rPr>
              <a:t>】</a:t>
            </a:r>
            <a:endParaRPr lang="en-US" altLang="en-US" sz="3200">
              <a:solidFill>
                <a:srgbClr val="990033"/>
              </a:solidFill>
              <a:effectLst>
                <a:outerShdw blurRad="38100" dist="38100" dir="2700000">
                  <a:srgbClr val="000000"/>
                </a:outerShdw>
              </a:effectLst>
              <a:latin typeface="Palatino Linotype" panose="02040502050505030304" charset="0"/>
              <a:ea typeface="楷体_GB2312" charset="-122"/>
              <a:sym typeface="+mn-ea"/>
            </a:endParaRPr>
          </a:p>
        </p:txBody>
      </p:sp>
      <p:sp>
        <p:nvSpPr>
          <p:cNvPr id="5" name="文本框 4"/>
          <p:cNvSpPr txBox="1"/>
          <p:nvPr/>
        </p:nvSpPr>
        <p:spPr>
          <a:xfrm>
            <a:off x="3578225" y="1223010"/>
            <a:ext cx="3596005" cy="429260"/>
          </a:xfrm>
          <a:prstGeom prst="rect">
            <a:avLst/>
          </a:prstGeom>
          <a:noFill/>
        </p:spPr>
        <p:txBody>
          <a:bodyPr wrap="square" rtlCol="0" anchor="t">
            <a:noAutofit/>
          </a:bodyPr>
          <a:p>
            <a:r>
              <a:rPr lang="zh-CN" altLang="en-US" sz="2400" b="1" dirty="0">
                <a:solidFill>
                  <a:srgbClr val="121212"/>
                </a:solidFill>
                <a:effectLst/>
                <a:latin typeface="-apple-system"/>
                <a:sym typeface="+mn-ea"/>
              </a:rPr>
              <a:t>直方图加速</a:t>
            </a:r>
            <a:endParaRPr lang="zh-CN" altLang="en-US" sz="2400" dirty="0"/>
          </a:p>
          <a:p>
            <a:endParaRPr lang="zh-CN" altLang="zh-CN" sz="2400" b="1" kern="100" dirty="0">
              <a:effectLst/>
              <a:latin typeface="微软雅黑" panose="020B0503020204020204" charset="-122"/>
              <a:cs typeface="Times New Roman" panose="02020603050405020304" charset="0"/>
              <a:sym typeface="+mn-ea"/>
            </a:endParaRPr>
          </a:p>
        </p:txBody>
      </p:sp>
      <p:sp>
        <p:nvSpPr>
          <p:cNvPr id="2" name="文本框 1"/>
          <p:cNvSpPr txBox="1"/>
          <p:nvPr/>
        </p:nvSpPr>
        <p:spPr>
          <a:xfrm>
            <a:off x="1607185" y="1951990"/>
            <a:ext cx="8792845" cy="2306955"/>
          </a:xfrm>
          <a:prstGeom prst="rect">
            <a:avLst/>
          </a:prstGeom>
          <a:noFill/>
        </p:spPr>
        <p:txBody>
          <a:bodyPr wrap="square" rtlCol="0" anchor="t">
            <a:spAutoFit/>
          </a:bodyPr>
          <a:p>
            <a:r>
              <a:rPr lang="zh-CN" altLang="zh-CN" sz="2400" kern="100" dirty="0">
                <a:effectLst/>
                <a:latin typeface="微软雅黑" panose="020B0503020204020204" charset="-122"/>
                <a:sym typeface="+mn-ea"/>
              </a:rPr>
              <a:t>在构建叶节点的直方图时，我们还可以通过父节点的直方图与相邻叶节点的直方图相减的方式构建，从而减少了一半的计算量。</a:t>
            </a:r>
            <a:r>
              <a:rPr lang="zh-CN" altLang="en-US" sz="2400" kern="100" dirty="0">
                <a:effectLst/>
                <a:latin typeface="微软雅黑" panose="020B0503020204020204" charset="-122"/>
                <a:sym typeface="+mn-ea"/>
              </a:rPr>
              <a:t>即：</a:t>
            </a:r>
            <a:r>
              <a:rPr lang="zh-CN" altLang="en-US" sz="2400" b="1" dirty="0">
                <a:effectLst/>
                <a:latin typeface="微软雅黑" panose="020B0503020204020204" charset="-122"/>
                <a:sym typeface="+mn-ea"/>
              </a:rPr>
              <a:t>一个叶子节点的直方图可以由它的父亲节点的直方图与其兄弟的直方图做差得到</a:t>
            </a:r>
            <a:r>
              <a:rPr lang="zh-CN" altLang="en-US" sz="2400" dirty="0">
                <a:effectLst/>
                <a:latin typeface="微软雅黑" panose="020B0503020204020204" charset="-122"/>
                <a:sym typeface="+mn-ea"/>
              </a:rPr>
              <a:t>。</a:t>
            </a:r>
            <a:r>
              <a:rPr lang="zh-CN" altLang="zh-CN" sz="2400" kern="100" dirty="0">
                <a:effectLst/>
                <a:latin typeface="微软雅黑" panose="020B0503020204020204" charset="-122"/>
                <a:sym typeface="+mn-ea"/>
              </a:rPr>
              <a:t>如节点分裂成两个时，右边叶子节点的直方图等于其父节点的直方图减去左边叶子节点的直方图。从而大大减少构建直方图的计算量</a:t>
            </a:r>
            <a:endParaRPr lang="zh-CN" altLang="zh-CN" sz="2400" kern="100" dirty="0">
              <a:effectLst/>
              <a:latin typeface="微软雅黑" panose="020B0503020204020204" charset="-122"/>
              <a:sym typeface="+mn-ea"/>
            </a:endParaRPr>
          </a:p>
        </p:txBody>
      </p:sp>
      <p:pic>
        <p:nvPicPr>
          <p:cNvPr id="62" name="Picture"/>
          <p:cNvPicPr/>
          <p:nvPr>
            <p:custDataLst>
              <p:tags r:id="rId4"/>
            </p:custDataLst>
          </p:nvPr>
        </p:nvPicPr>
        <p:blipFill>
          <a:blip r:embed="rId5"/>
          <a:stretch>
            <a:fillRect/>
          </a:stretch>
        </p:blipFill>
        <p:spPr bwMode="auto">
          <a:xfrm>
            <a:off x="2708959" y="4898999"/>
            <a:ext cx="5334000" cy="1033145"/>
          </a:xfrm>
          <a:prstGeom prst="rect">
            <a:avLst/>
          </a:prstGeom>
          <a:noFill/>
          <a:ln w="9525">
            <a:noFill/>
          </a:ln>
        </p:spPr>
      </p:pic>
      <p:sp>
        <p:nvSpPr>
          <p:cNvPr id="100" name="文本框 99"/>
          <p:cNvSpPr txBox="1"/>
          <p:nvPr>
            <p:custDataLst>
              <p:tags r:id="rId6"/>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68</a:t>
            </a:r>
            <a:endParaRPr lang="en-US" altLang="zh-CN" b="0">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0" y="635"/>
            <a:ext cx="12192000" cy="685673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248410" y="1443990"/>
            <a:ext cx="8399780" cy="4555490"/>
          </a:xfrm>
          <a:prstGeom prst="rect">
            <a:avLst/>
          </a:prstGeom>
          <a:noFill/>
        </p:spPr>
        <p:txBody>
          <a:bodyPr wrap="square" rtlCol="0" anchor="t">
            <a:noAutofit/>
          </a:bodyPr>
          <a:p>
            <a:r>
              <a:rPr lang="en-US" altLang="zh-CN" sz="2400" spc="400" dirty="0">
                <a:solidFill>
                  <a:schemeClr val="tx1">
                    <a:lumMod val="85000"/>
                    <a:lumOff val="15000"/>
                  </a:schemeClr>
                </a:solidFill>
                <a:latin typeface="楷体" panose="02010609060101010101" charset="-122"/>
                <a:ea typeface="楷体" panose="02010609060101010101" charset="-122"/>
                <a:cs typeface="+mn-ea"/>
                <a:sym typeface="+mn-ea"/>
              </a:rPr>
              <a:t> </a:t>
            </a:r>
            <a:r>
              <a:rPr lang="zh-CN" altLang="en-US" sz="2400" spc="400" dirty="0">
                <a:solidFill>
                  <a:schemeClr val="tx1">
                    <a:lumMod val="85000"/>
                    <a:lumOff val="15000"/>
                  </a:schemeClr>
                </a:solidFill>
                <a:latin typeface="楷体" panose="02010609060101010101" charset="-122"/>
                <a:ea typeface="楷体" panose="02010609060101010101" charset="-122"/>
                <a:cs typeface="+mn-ea"/>
                <a:sym typeface="+mn-ea"/>
              </a:rPr>
              <a:t>随机森林是一种比较新的机器学习模型。经典的机器学习模型是神经网络，有半个多世纪的历史了。神经网络预测精确，但是计算量很大。上世纪八十年代</a:t>
            </a:r>
            <a:r>
              <a:rPr lang="en-US" altLang="zh-CN" sz="2400" spc="400" dirty="0" err="1">
                <a:solidFill>
                  <a:schemeClr val="tx1">
                    <a:lumMod val="85000"/>
                    <a:lumOff val="15000"/>
                  </a:schemeClr>
                </a:solidFill>
                <a:latin typeface="楷体" panose="02010609060101010101" charset="-122"/>
                <a:ea typeface="楷体" panose="02010609060101010101" charset="-122"/>
                <a:cs typeface="+mn-ea"/>
                <a:sym typeface="+mn-ea"/>
              </a:rPr>
              <a:t>Breiman</a:t>
            </a:r>
            <a:r>
              <a:rPr lang="zh-CN" altLang="en-US" sz="2400" spc="400" dirty="0">
                <a:solidFill>
                  <a:schemeClr val="tx1">
                    <a:lumMod val="85000"/>
                    <a:lumOff val="15000"/>
                  </a:schemeClr>
                </a:solidFill>
                <a:latin typeface="楷体" panose="02010609060101010101" charset="-122"/>
                <a:ea typeface="楷体" panose="02010609060101010101" charset="-122"/>
                <a:cs typeface="+mn-ea"/>
                <a:sym typeface="+mn-ea"/>
              </a:rPr>
              <a:t>等人发明分类树的算法（</a:t>
            </a:r>
            <a:r>
              <a:rPr lang="en-US" altLang="zh-CN" sz="2400" spc="400" dirty="0" err="1">
                <a:solidFill>
                  <a:schemeClr val="tx1">
                    <a:lumMod val="85000"/>
                    <a:lumOff val="15000"/>
                  </a:schemeClr>
                </a:solidFill>
                <a:latin typeface="楷体" panose="02010609060101010101" charset="-122"/>
                <a:ea typeface="楷体" panose="02010609060101010101" charset="-122"/>
                <a:cs typeface="+mn-ea"/>
                <a:sym typeface="+mn-ea"/>
              </a:rPr>
              <a:t>Breiman</a:t>
            </a:r>
            <a:r>
              <a:rPr lang="en-US" altLang="zh-CN" sz="2400" spc="400" dirty="0">
                <a:solidFill>
                  <a:schemeClr val="tx1">
                    <a:lumMod val="85000"/>
                    <a:lumOff val="15000"/>
                  </a:schemeClr>
                </a:solidFill>
                <a:latin typeface="楷体" panose="02010609060101010101" charset="-122"/>
                <a:ea typeface="楷体" panose="02010609060101010101" charset="-122"/>
                <a:cs typeface="+mn-ea"/>
                <a:sym typeface="+mn-ea"/>
              </a:rPr>
              <a:t> et al. 1984</a:t>
            </a:r>
            <a:r>
              <a:rPr lang="zh-CN" altLang="en-US" sz="2400" spc="400" dirty="0">
                <a:solidFill>
                  <a:schemeClr val="tx1">
                    <a:lumMod val="85000"/>
                    <a:lumOff val="15000"/>
                  </a:schemeClr>
                </a:solidFill>
                <a:latin typeface="楷体" panose="02010609060101010101" charset="-122"/>
                <a:ea typeface="楷体" panose="02010609060101010101" charset="-122"/>
                <a:cs typeface="+mn-ea"/>
                <a:sym typeface="+mn-ea"/>
              </a:rPr>
              <a:t>），通过反复二分数据进行分类或回归，计算量大大降低。</a:t>
            </a:r>
            <a:r>
              <a:rPr lang="en-US" altLang="zh-CN" sz="2400" spc="400" dirty="0">
                <a:solidFill>
                  <a:schemeClr val="tx1">
                    <a:lumMod val="85000"/>
                    <a:lumOff val="15000"/>
                  </a:schemeClr>
                </a:solidFill>
                <a:latin typeface="楷体" panose="02010609060101010101" charset="-122"/>
                <a:ea typeface="楷体" panose="02010609060101010101" charset="-122"/>
                <a:cs typeface="+mn-ea"/>
                <a:sym typeface="+mn-ea"/>
              </a:rPr>
              <a:t>2001</a:t>
            </a:r>
            <a:r>
              <a:rPr lang="zh-CN" altLang="en-US" sz="2400" spc="400" dirty="0">
                <a:solidFill>
                  <a:schemeClr val="tx1">
                    <a:lumMod val="85000"/>
                    <a:lumOff val="15000"/>
                  </a:schemeClr>
                </a:solidFill>
                <a:latin typeface="楷体" panose="02010609060101010101" charset="-122"/>
                <a:ea typeface="楷体" panose="02010609060101010101" charset="-122"/>
                <a:cs typeface="+mn-ea"/>
                <a:sym typeface="+mn-ea"/>
              </a:rPr>
              <a:t>年</a:t>
            </a:r>
            <a:r>
              <a:rPr lang="en-US" altLang="zh-CN" sz="2400" spc="400" dirty="0" err="1">
                <a:solidFill>
                  <a:schemeClr val="tx1">
                    <a:lumMod val="85000"/>
                    <a:lumOff val="15000"/>
                  </a:schemeClr>
                </a:solidFill>
                <a:latin typeface="楷体" panose="02010609060101010101" charset="-122"/>
                <a:ea typeface="楷体" panose="02010609060101010101" charset="-122"/>
                <a:cs typeface="+mn-ea"/>
                <a:sym typeface="+mn-ea"/>
              </a:rPr>
              <a:t>Breiman</a:t>
            </a:r>
            <a:r>
              <a:rPr lang="zh-CN" altLang="en-US" sz="2400" spc="400" dirty="0">
                <a:solidFill>
                  <a:schemeClr val="tx1">
                    <a:lumMod val="85000"/>
                    <a:lumOff val="15000"/>
                  </a:schemeClr>
                </a:solidFill>
                <a:latin typeface="楷体" panose="02010609060101010101" charset="-122"/>
                <a:ea typeface="楷体" panose="02010609060101010101" charset="-122"/>
                <a:cs typeface="+mn-ea"/>
                <a:sym typeface="+mn-ea"/>
              </a:rPr>
              <a:t>把分类树组合成随机森林（</a:t>
            </a:r>
            <a:r>
              <a:rPr lang="en-US" altLang="zh-CN" sz="2400" spc="400" dirty="0" err="1">
                <a:solidFill>
                  <a:schemeClr val="tx1">
                    <a:lumMod val="85000"/>
                    <a:lumOff val="15000"/>
                  </a:schemeClr>
                </a:solidFill>
                <a:latin typeface="楷体" panose="02010609060101010101" charset="-122"/>
                <a:ea typeface="楷体" panose="02010609060101010101" charset="-122"/>
                <a:cs typeface="+mn-ea"/>
                <a:sym typeface="+mn-ea"/>
              </a:rPr>
              <a:t>Breiman</a:t>
            </a:r>
            <a:r>
              <a:rPr lang="en-US" altLang="zh-CN" sz="2400" spc="400" dirty="0">
                <a:solidFill>
                  <a:schemeClr val="tx1">
                    <a:lumMod val="85000"/>
                    <a:lumOff val="15000"/>
                  </a:schemeClr>
                </a:solidFill>
                <a:latin typeface="楷体" panose="02010609060101010101" charset="-122"/>
                <a:ea typeface="楷体" panose="02010609060101010101" charset="-122"/>
                <a:cs typeface="+mn-ea"/>
                <a:sym typeface="+mn-ea"/>
              </a:rPr>
              <a:t> 2001a</a:t>
            </a:r>
            <a:r>
              <a:rPr lang="zh-CN" altLang="en-US" sz="2400" spc="400" dirty="0">
                <a:solidFill>
                  <a:schemeClr val="tx1">
                    <a:lumMod val="85000"/>
                    <a:lumOff val="15000"/>
                  </a:schemeClr>
                </a:solidFill>
                <a:latin typeface="楷体" panose="02010609060101010101" charset="-122"/>
                <a:ea typeface="楷体" panose="02010609060101010101" charset="-122"/>
                <a:cs typeface="+mn-ea"/>
                <a:sym typeface="+mn-ea"/>
              </a:rPr>
              <a:t>），即在变量（列）的使用和数据（行）的使用上进行随机化，生成很多分类树，再汇总分类树的结果。随机森林在运算量没有显著提高的前提下提高了预测精度。随机森林对多元公线性不敏感，结果对缺失数据和非平衡的数据比较稳健，可以很好地预测多达几千个解释变量的</a:t>
            </a:r>
            <a:r>
              <a:rPr lang="zh-CN" altLang="en-US" sz="2400" spc="400" dirty="0" smtClean="0">
                <a:solidFill>
                  <a:schemeClr val="tx1">
                    <a:lumMod val="85000"/>
                    <a:lumOff val="15000"/>
                  </a:schemeClr>
                </a:solidFill>
                <a:latin typeface="楷体" panose="02010609060101010101" charset="-122"/>
                <a:ea typeface="楷体" panose="02010609060101010101" charset="-122"/>
                <a:cs typeface="+mn-ea"/>
                <a:sym typeface="+mn-ea"/>
              </a:rPr>
              <a:t>作用。</a:t>
            </a:r>
            <a:endParaRPr lang="zh-CN" altLang="en-US" sz="2400" spc="400" dirty="0" smtClean="0">
              <a:solidFill>
                <a:schemeClr val="tx1">
                  <a:lumMod val="85000"/>
                  <a:lumOff val="15000"/>
                </a:schemeClr>
              </a:solidFill>
              <a:latin typeface="楷体" panose="02010609060101010101" charset="-122"/>
              <a:ea typeface="楷体" panose="02010609060101010101" charset="-122"/>
              <a:cs typeface="+mn-ea"/>
              <a:sym typeface="+mn-ea"/>
            </a:endParaRPr>
          </a:p>
        </p:txBody>
      </p:sp>
      <p:pic>
        <p:nvPicPr>
          <p:cNvPr id="4" name="图片 3"/>
          <p:cNvPicPr>
            <a:picLocks noChangeAspect="1"/>
          </p:cNvPicPr>
          <p:nvPr>
            <p:custDataLst>
              <p:tags r:id="rId1"/>
            </p:custDataLst>
          </p:nvPr>
        </p:nvPicPr>
        <p:blipFill>
          <a:blip r:embed="rId2"/>
          <a:stretch>
            <a:fillRect/>
          </a:stretch>
        </p:blipFill>
        <p:spPr>
          <a:xfrm>
            <a:off x="1031875" y="387350"/>
            <a:ext cx="2865120" cy="609600"/>
          </a:xfrm>
          <a:prstGeom prst="rect">
            <a:avLst/>
          </a:prstGeom>
        </p:spPr>
      </p:pic>
      <p:sp>
        <p:nvSpPr>
          <p:cNvPr id="2" name="文本框 1"/>
          <p:cNvSpPr txBox="1"/>
          <p:nvPr/>
        </p:nvSpPr>
        <p:spPr>
          <a:xfrm>
            <a:off x="11701780" y="6520815"/>
            <a:ext cx="490220" cy="337185"/>
          </a:xfrm>
          <a:prstGeom prst="rect">
            <a:avLst/>
          </a:prstGeom>
          <a:noFill/>
        </p:spPr>
        <p:txBody>
          <a:bodyPr wrap="square" rtlCol="0" anchor="t">
            <a:spAutoFit/>
          </a:bodyPr>
          <a:p>
            <a:r>
              <a:rPr lang="en-US" altLang="zh-CN" sz="1600" spc="400" dirty="0">
                <a:solidFill>
                  <a:schemeClr val="tx1">
                    <a:lumMod val="85000"/>
                    <a:lumOff val="15000"/>
                  </a:schemeClr>
                </a:solidFill>
                <a:latin typeface="楷体" panose="02010609060101010101" charset="-122"/>
                <a:ea typeface="楷体" panose="02010609060101010101" charset="-122"/>
                <a:cs typeface="+mn-ea"/>
                <a:sym typeface="+mn-ea"/>
              </a:rPr>
              <a:t>70</a:t>
            </a:r>
            <a:endParaRPr lang="en-US" altLang="zh-CN" sz="1600" spc="400" dirty="0">
              <a:solidFill>
                <a:schemeClr val="tx1">
                  <a:lumMod val="85000"/>
                  <a:lumOff val="15000"/>
                </a:schemeClr>
              </a:solidFill>
              <a:latin typeface="楷体" panose="02010609060101010101" charset="-122"/>
              <a:ea typeface="楷体" panose="02010609060101010101" charset="-122"/>
              <a:cs typeface="+mn-ea"/>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616075" y="1238885"/>
            <a:ext cx="9284970" cy="5969000"/>
          </a:xfrm>
          <a:prstGeom prst="rect">
            <a:avLst/>
          </a:prstGeom>
          <a:noFill/>
        </p:spPr>
        <p:txBody>
          <a:bodyPr wrap="square" rtlCol="0" anchor="t">
            <a:noAutofit/>
          </a:bodyPr>
          <a:p>
            <a:pPr algn="just">
              <a:buFont typeface="Arial" panose="020B0604020202020204" pitchFamily="34" charset="0"/>
            </a:pPr>
            <a:r>
              <a:rPr lang="zh-CN" altLang="en-US" sz="2400" spc="400" dirty="0" smtClean="0">
                <a:solidFill>
                  <a:schemeClr val="tx1">
                    <a:lumMod val="85000"/>
                    <a:lumOff val="15000"/>
                  </a:schemeClr>
                </a:solidFill>
                <a:latin typeface="楷体" panose="02010609060101010101" charset="-122"/>
                <a:ea typeface="楷体" panose="02010609060101010101" charset="-122"/>
                <a:cs typeface="+mn-ea"/>
                <a:sym typeface="+mn-ea"/>
              </a:rPr>
              <a:t> </a:t>
            </a:r>
            <a:r>
              <a:rPr lang="zh-CN" altLang="en-US" sz="2200" spc="400" dirty="0" smtClean="0">
                <a:solidFill>
                  <a:schemeClr val="tx1">
                    <a:lumMod val="85000"/>
                    <a:lumOff val="15000"/>
                  </a:schemeClr>
                </a:solidFill>
                <a:latin typeface="楷体" panose="02010609060101010101" charset="-122"/>
                <a:ea typeface="楷体" panose="02010609060101010101" charset="-122"/>
                <a:cs typeface="+mn-ea"/>
                <a:sym typeface="+mn-ea"/>
              </a:rPr>
              <a:t>   在</a:t>
            </a:r>
            <a:r>
              <a:rPr lang="zh-CN" altLang="en-US" sz="2200" spc="400" dirty="0">
                <a:solidFill>
                  <a:schemeClr val="tx1">
                    <a:lumMod val="85000"/>
                    <a:lumOff val="15000"/>
                  </a:schemeClr>
                </a:solidFill>
                <a:latin typeface="楷体" panose="02010609060101010101" charset="-122"/>
                <a:ea typeface="楷体" panose="02010609060101010101" charset="-122"/>
                <a:cs typeface="+mn-ea"/>
                <a:sym typeface="+mn-ea"/>
              </a:rPr>
              <a:t>机器学习中通常分为有监督学习、无监督学习，半监督学习和强化学习四大类。而随机森林是一种典型的有监督学习算法，它是在决策树基础上得到的一种集成学习（</a:t>
            </a:r>
            <a:r>
              <a:rPr lang="en-US" altLang="zh-CN" sz="2200" spc="400" dirty="0">
                <a:solidFill>
                  <a:schemeClr val="tx1">
                    <a:lumMod val="85000"/>
                    <a:lumOff val="15000"/>
                  </a:schemeClr>
                </a:solidFill>
                <a:latin typeface="楷体" panose="02010609060101010101" charset="-122"/>
                <a:ea typeface="楷体" panose="02010609060101010101" charset="-122"/>
                <a:cs typeface="+mn-ea"/>
                <a:sym typeface="+mn-ea"/>
              </a:rPr>
              <a:t>bagging</a:t>
            </a:r>
            <a:r>
              <a:rPr lang="zh-CN" altLang="en-US" sz="2200" spc="400" dirty="0">
                <a:solidFill>
                  <a:schemeClr val="tx1">
                    <a:lumMod val="85000"/>
                    <a:lumOff val="15000"/>
                  </a:schemeClr>
                </a:solidFill>
                <a:latin typeface="楷体" panose="02010609060101010101" charset="-122"/>
                <a:ea typeface="楷体" panose="02010609060101010101" charset="-122"/>
                <a:cs typeface="+mn-ea"/>
                <a:sym typeface="+mn-ea"/>
              </a:rPr>
              <a:t>）算法。</a:t>
            </a:r>
            <a:endParaRPr lang="en-US" altLang="zh-CN" sz="2200" spc="400" dirty="0">
              <a:solidFill>
                <a:schemeClr val="tx1">
                  <a:lumMod val="85000"/>
                  <a:lumOff val="15000"/>
                </a:schemeClr>
              </a:solidFill>
              <a:latin typeface="楷体" panose="02010609060101010101" charset="-122"/>
              <a:ea typeface="楷体" panose="02010609060101010101" charset="-122"/>
              <a:cs typeface="+mn-ea"/>
            </a:endParaRPr>
          </a:p>
          <a:p>
            <a:pPr algn="just">
              <a:buFont typeface="Arial" panose="020B0604020202020204" pitchFamily="34" charset="0"/>
            </a:pPr>
            <a:r>
              <a:rPr lang="en-US" altLang="zh-CN" sz="2200" spc="400" dirty="0">
                <a:solidFill>
                  <a:schemeClr val="tx1">
                    <a:lumMod val="85000"/>
                    <a:lumOff val="15000"/>
                  </a:schemeClr>
                </a:solidFill>
                <a:latin typeface="楷体" panose="02010609060101010101" charset="-122"/>
                <a:ea typeface="楷体" panose="02010609060101010101" charset="-122"/>
                <a:cs typeface="+mn-ea"/>
                <a:sym typeface="+mn-ea"/>
              </a:rPr>
              <a:t>    </a:t>
            </a:r>
            <a:r>
              <a:rPr lang="zh-CN" altLang="en-US" sz="2200" spc="400" dirty="0" smtClean="0">
                <a:solidFill>
                  <a:schemeClr val="tx1">
                    <a:lumMod val="85000"/>
                    <a:lumOff val="15000"/>
                  </a:schemeClr>
                </a:solidFill>
                <a:latin typeface="楷体" panose="02010609060101010101" charset="-122"/>
                <a:ea typeface="楷体" panose="02010609060101010101" charset="-122"/>
                <a:cs typeface="+mn-ea"/>
                <a:sym typeface="+mn-ea"/>
              </a:rPr>
              <a:t>随机</a:t>
            </a:r>
            <a:r>
              <a:rPr lang="zh-CN" altLang="en-US" sz="2200" spc="400" dirty="0">
                <a:solidFill>
                  <a:schemeClr val="tx1">
                    <a:lumMod val="85000"/>
                    <a:lumOff val="15000"/>
                  </a:schemeClr>
                </a:solidFill>
                <a:latin typeface="楷体" panose="02010609060101010101" charset="-122"/>
                <a:ea typeface="楷体" panose="02010609060101010101" charset="-122"/>
                <a:cs typeface="+mn-ea"/>
                <a:sym typeface="+mn-ea"/>
              </a:rPr>
              <a:t>森林，顾名思义就是由多棵决策树组成的一种算法，同样既可以作为分类模型，也可以作为回归模型。在现实中更常用作分类模型，当然它也可以作为一种特征选择方法。</a:t>
            </a:r>
            <a:endParaRPr lang="en-US" altLang="zh-CN" sz="2200" spc="400" dirty="0">
              <a:solidFill>
                <a:schemeClr val="tx1">
                  <a:lumMod val="85000"/>
                  <a:lumOff val="15000"/>
                </a:schemeClr>
              </a:solidFill>
              <a:latin typeface="楷体" panose="02010609060101010101" charset="-122"/>
              <a:ea typeface="楷体" panose="02010609060101010101" charset="-122"/>
              <a:cs typeface="+mn-ea"/>
              <a:sym typeface="+mn-ea"/>
            </a:endParaRPr>
          </a:p>
          <a:p>
            <a:pPr algn="just">
              <a:buFont typeface="Arial" panose="020B0604020202020204" pitchFamily="34" charset="0"/>
            </a:pPr>
            <a:r>
              <a:rPr lang="zh-CN" altLang="en-US" sz="2200" spc="400" dirty="0" smtClean="0">
                <a:solidFill>
                  <a:schemeClr val="tx1">
                    <a:lumMod val="85000"/>
                    <a:lumOff val="15000"/>
                  </a:schemeClr>
                </a:solidFill>
                <a:latin typeface="楷体" panose="02010609060101010101" charset="-122"/>
                <a:ea typeface="楷体" panose="02010609060101010101" charset="-122"/>
                <a:cs typeface="+mn-ea"/>
                <a:sym typeface="+mn-ea"/>
              </a:rPr>
              <a:t>而</a:t>
            </a:r>
            <a:r>
              <a:rPr lang="zh-CN" altLang="en-US" sz="2200" spc="400" dirty="0">
                <a:solidFill>
                  <a:schemeClr val="tx1">
                    <a:lumMod val="85000"/>
                    <a:lumOff val="15000"/>
                  </a:schemeClr>
                </a:solidFill>
                <a:latin typeface="楷体" panose="02010609060101010101" charset="-122"/>
                <a:ea typeface="楷体" panose="02010609060101010101" charset="-122"/>
                <a:cs typeface="+mn-ea"/>
                <a:sym typeface="+mn-ea"/>
              </a:rPr>
              <a:t>“随机”主要指两个方面：第一，随机选样本，即从原始数据集中进行有放回的抽样，得到子数据集，子数据集样本量保持与原始数据集一致，不同子数据集间的元素可以重复，同一个子数据集间的元素也可以重复。第二，随机选特征，与随机选样本过程类似，子数据集从所有原始待选择的特征中选取一定数量的特征子集，然后从再已选择的特征子集中选择最优特征的过程。通过每次选择的数据子集和特征子集来构成决策树，最终得到随机森林算法。</a:t>
            </a:r>
            <a:endParaRPr lang="zh-CN" altLang="en-US" sz="2200" spc="400" dirty="0">
              <a:solidFill>
                <a:schemeClr val="tx1">
                  <a:lumMod val="85000"/>
                  <a:lumOff val="15000"/>
                </a:schemeClr>
              </a:solidFill>
              <a:latin typeface="楷体" panose="02010609060101010101" charset="-122"/>
              <a:ea typeface="楷体" panose="02010609060101010101" charset="-122"/>
              <a:cs typeface="+mn-ea"/>
              <a:sym typeface="+mn-ea"/>
            </a:endParaRPr>
          </a:p>
          <a:p>
            <a:pPr algn="just">
              <a:buFont typeface="Arial" panose="020B0604020202020204" pitchFamily="34" charset="0"/>
            </a:pPr>
            <a:r>
              <a:rPr lang="en-US" altLang="zh-CN" sz="2200" spc="400" dirty="0">
                <a:solidFill>
                  <a:schemeClr val="tx1">
                    <a:lumMod val="85000"/>
                    <a:lumOff val="15000"/>
                  </a:schemeClr>
                </a:solidFill>
                <a:latin typeface="楷体" panose="02010609060101010101" charset="-122"/>
                <a:ea typeface="楷体" panose="02010609060101010101" charset="-122"/>
                <a:cs typeface="+mn-ea"/>
                <a:sym typeface="+mn-ea"/>
              </a:rPr>
              <a:t>    </a:t>
            </a:r>
            <a:endParaRPr lang="zh-CN" altLang="en-US" sz="2200" spc="400" dirty="0">
              <a:solidFill>
                <a:schemeClr val="tx1">
                  <a:lumMod val="85000"/>
                  <a:lumOff val="15000"/>
                </a:schemeClr>
              </a:solidFill>
              <a:latin typeface="楷体" panose="02010609060101010101" charset="-122"/>
              <a:ea typeface="楷体" panose="02010609060101010101" charset="-122"/>
              <a:cs typeface="+mn-ea"/>
              <a:sym typeface="+mn-ea"/>
            </a:endParaRPr>
          </a:p>
          <a:p>
            <a:pPr algn="just">
              <a:buFont typeface="Arial" panose="020B0604020202020204" pitchFamily="34" charset="0"/>
            </a:pPr>
            <a:endParaRPr lang="zh-CN" altLang="en-US" sz="2200" spc="400" dirty="0">
              <a:solidFill>
                <a:schemeClr val="tx1">
                  <a:lumMod val="85000"/>
                  <a:lumOff val="15000"/>
                </a:schemeClr>
              </a:solidFill>
              <a:latin typeface="楷体" panose="02010609060101010101" charset="-122"/>
              <a:ea typeface="楷体" panose="02010609060101010101" charset="-122"/>
              <a:cs typeface="+mn-ea"/>
              <a:sym typeface="+mn-ea"/>
            </a:endParaRPr>
          </a:p>
        </p:txBody>
      </p:sp>
      <p:pic>
        <p:nvPicPr>
          <p:cNvPr id="3" name="图片 2"/>
          <p:cNvPicPr>
            <a:picLocks noChangeAspect="1"/>
          </p:cNvPicPr>
          <p:nvPr>
            <p:custDataLst>
              <p:tags r:id="rId1"/>
            </p:custDataLst>
          </p:nvPr>
        </p:nvPicPr>
        <p:blipFill>
          <a:blip r:embed="rId2"/>
          <a:stretch>
            <a:fillRect/>
          </a:stretch>
        </p:blipFill>
        <p:spPr>
          <a:xfrm>
            <a:off x="1256665" y="276225"/>
            <a:ext cx="3408680" cy="781050"/>
          </a:xfrm>
          <a:prstGeom prst="rect">
            <a:avLst/>
          </a:prstGeom>
        </p:spPr>
      </p:pic>
      <p:sp>
        <p:nvSpPr>
          <p:cNvPr id="100" name="文本框 99"/>
          <p:cNvSpPr txBox="1"/>
          <p:nvPr>
            <p:custDataLst>
              <p:tags r:id="rId3"/>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71</a:t>
            </a:r>
            <a:endParaRPr lang="en-US" altLang="zh-CN" b="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1600000">
            <a:off x="126609" y="147616"/>
            <a:ext cx="2722051" cy="688004"/>
            <a:chOff x="0" y="0"/>
            <a:chExt cx="2722051" cy="688004"/>
          </a:xfrm>
        </p:grpSpPr>
        <p:pic>
          <p:nvPicPr>
            <p:cNvPr id="38" name="picture 38"/>
            <p:cNvPicPr>
              <a:picLocks noChangeAspect="1"/>
            </p:cNvPicPr>
            <p:nvPr/>
          </p:nvPicPr>
          <p:blipFill>
            <a:blip r:embed="rId1"/>
            <a:stretch>
              <a:fillRect/>
            </a:stretch>
          </p:blipFill>
          <p:spPr>
            <a:xfrm rot="21600000">
              <a:off x="0" y="29636"/>
              <a:ext cx="2696776" cy="658368"/>
            </a:xfrm>
            <a:prstGeom prst="rect">
              <a:avLst/>
            </a:prstGeom>
          </p:spPr>
        </p:pic>
        <p:sp>
          <p:nvSpPr>
            <p:cNvPr id="40" name="textbox 40"/>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42" name="picture 42"/>
          <p:cNvPicPr>
            <a:picLocks noChangeAspect="1"/>
          </p:cNvPicPr>
          <p:nvPr/>
        </p:nvPicPr>
        <p:blipFill>
          <a:blip r:embed="rId2"/>
          <a:stretch>
            <a:fillRect/>
          </a:stretch>
        </p:blipFill>
        <p:spPr>
          <a:xfrm rot="21600000">
            <a:off x="10668" y="981455"/>
            <a:ext cx="12181331" cy="45720"/>
          </a:xfrm>
          <a:prstGeom prst="rect">
            <a:avLst/>
          </a:prstGeom>
        </p:spPr>
      </p:pic>
      <p:sp>
        <p:nvSpPr>
          <p:cNvPr id="3" name="文本框 2"/>
          <p:cNvSpPr txBox="1"/>
          <p:nvPr/>
        </p:nvSpPr>
        <p:spPr>
          <a:xfrm>
            <a:off x="444500" y="1297940"/>
            <a:ext cx="8719185" cy="4776470"/>
          </a:xfrm>
          <a:prstGeom prst="rect">
            <a:avLst/>
          </a:prstGeom>
          <a:noFill/>
        </p:spPr>
        <p:txBody>
          <a:bodyPr wrap="square" rtlCol="0" anchor="t">
            <a:noAutofit/>
          </a:bodyPr>
          <a:p>
            <a:pPr>
              <a:lnSpc>
                <a:spcPct val="150000"/>
              </a:lnSpc>
            </a:pPr>
            <a:r>
              <a:rPr lang="zh-CN" altLang="en-US" sz="2600"/>
              <a:t>随机森林就是通过集成学习的思想将多棵树集成的一种算法，它的基本单元是决策树，而它的本质属于机器学习的一大分支——集成学习方法。</a:t>
            </a:r>
            <a:endParaRPr lang="zh-CN" altLang="en-US" sz="2600"/>
          </a:p>
          <a:p>
            <a:pPr>
              <a:lnSpc>
                <a:spcPct val="150000"/>
              </a:lnSpc>
            </a:pPr>
            <a:r>
              <a:rPr lang="zh-CN" altLang="en-US" sz="2600"/>
              <a:t>随机森林的名称中有两个关键词，一个是“随机”,一个就是“森林”。  “森林”很好理解，一棵叫做树，那么成百上千棵就可以叫做森林了，其实这也是随机森林的主要思想--集成思想的体现。  “随机”的包括随机选取训练样本集和随机选取分裂属性集。</a:t>
            </a:r>
            <a:endParaRPr lang="zh-CN" altLang="en-US" sz="2600"/>
          </a:p>
        </p:txBody>
      </p:sp>
      <p:sp>
        <p:nvSpPr>
          <p:cNvPr id="100" name="文本框 99"/>
          <p:cNvSpPr txBox="1"/>
          <p:nvPr>
            <p:custDataLst>
              <p:tags r:id="rId3"/>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72</a:t>
            </a:r>
            <a:endParaRPr lang="en-US" altLang="zh-CN" b="0">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0" y="29210"/>
            <a:ext cx="12244070" cy="6828790"/>
          </a:xfrm>
          <a:prstGeom prst="rect">
            <a:avLst/>
          </a:prstGeom>
        </p:spPr>
      </p:pic>
      <p:sp>
        <p:nvSpPr>
          <p:cNvPr id="100" name="文本框 99"/>
          <p:cNvSpPr txBox="1"/>
          <p:nvPr>
            <p:custDataLst>
              <p:tags r:id="rId3"/>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73</a:t>
            </a:r>
            <a:endParaRPr lang="en-US" altLang="zh-CN" b="0">
              <a:ea typeface="宋体" panose="0201060003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44"/>
          <p:cNvPicPr>
            <a:picLocks noChangeAspect="1"/>
          </p:cNvPicPr>
          <p:nvPr/>
        </p:nvPicPr>
        <p:blipFill>
          <a:blip r:embed="rId1"/>
          <a:stretch>
            <a:fillRect/>
          </a:stretch>
        </p:blipFill>
        <p:spPr>
          <a:xfrm rot="21600000">
            <a:off x="3506723" y="2272283"/>
            <a:ext cx="8260080" cy="2985516"/>
          </a:xfrm>
          <a:prstGeom prst="rect">
            <a:avLst/>
          </a:prstGeom>
        </p:spPr>
      </p:pic>
      <p:sp>
        <p:nvSpPr>
          <p:cNvPr id="46" name="textbox 46"/>
          <p:cNvSpPr/>
          <p:nvPr/>
        </p:nvSpPr>
        <p:spPr>
          <a:xfrm>
            <a:off x="1034288" y="5656579"/>
            <a:ext cx="10163809" cy="387350"/>
          </a:xfrm>
          <a:prstGeom prst="rect">
            <a:avLst/>
          </a:prstGeom>
        </p:spPr>
        <p:txBody>
          <a:bodyPr vert="horz" wrap="square" lIns="0" tIns="0" rIns="0" bIns="0"/>
          <a:lstStyle/>
          <a:p>
            <a:pPr algn="l" rtl="0" eaLnBrk="0">
              <a:lnSpc>
                <a:spcPct val="129000"/>
              </a:lnSpc>
            </a:pPr>
            <a:endParaRPr lang="en-US" altLang="en-US" sz="100" dirty="0"/>
          </a:p>
          <a:p>
            <a:pPr marL="304800" algn="l" rtl="0" eaLnBrk="0">
              <a:lnSpc>
                <a:spcPct val="97000"/>
              </a:lnSpc>
              <a:spcBef>
                <a:spcPts val="0"/>
              </a:spcBef>
              <a:tabLst>
                <a:tab pos="426085"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由于随机性，使得每个树基本上都不会一样，最终的结果也会不一样</a:t>
            </a:r>
            <a:endParaRPr lang="en-US" altLang="en-US" sz="2400" dirty="0"/>
          </a:p>
        </p:txBody>
      </p:sp>
      <p:grpSp>
        <p:nvGrpSpPr>
          <p:cNvPr id="6" name="group 6"/>
          <p:cNvGrpSpPr/>
          <p:nvPr/>
        </p:nvGrpSpPr>
        <p:grpSpPr>
          <a:xfrm rot="21600000">
            <a:off x="126609" y="147616"/>
            <a:ext cx="2722051" cy="688004"/>
            <a:chOff x="0" y="0"/>
            <a:chExt cx="2722051" cy="688004"/>
          </a:xfrm>
        </p:grpSpPr>
        <p:pic>
          <p:nvPicPr>
            <p:cNvPr id="50" name="picture 50"/>
            <p:cNvPicPr>
              <a:picLocks noChangeAspect="1"/>
            </p:cNvPicPr>
            <p:nvPr/>
          </p:nvPicPr>
          <p:blipFill>
            <a:blip r:embed="rId2"/>
            <a:stretch>
              <a:fillRect/>
            </a:stretch>
          </p:blipFill>
          <p:spPr>
            <a:xfrm rot="21600000">
              <a:off x="0" y="29636"/>
              <a:ext cx="2696776" cy="658368"/>
            </a:xfrm>
            <a:prstGeom prst="rect">
              <a:avLst/>
            </a:prstGeom>
          </p:spPr>
        </p:pic>
        <p:sp>
          <p:nvSpPr>
            <p:cNvPr id="52" name="textbox 52"/>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sp>
        <p:nvSpPr>
          <p:cNvPr id="54" name="textbox 54"/>
          <p:cNvSpPr/>
          <p:nvPr/>
        </p:nvSpPr>
        <p:spPr>
          <a:xfrm>
            <a:off x="1034288" y="2376932"/>
            <a:ext cx="2258060" cy="389254"/>
          </a:xfrm>
          <a:prstGeom prst="rect">
            <a:avLst/>
          </a:prstGeom>
        </p:spPr>
        <p:txBody>
          <a:bodyPr vert="horz" wrap="square" lIns="0" tIns="0" rIns="0" bIns="0"/>
          <a:lstStyle/>
          <a:p>
            <a:pPr algn="l" rtl="0" eaLnBrk="0">
              <a:lnSpc>
                <a:spcPct val="117000"/>
              </a:lnSpc>
            </a:pPr>
            <a:endParaRPr lang="en-US" altLang="en-US" sz="100" dirty="0"/>
          </a:p>
          <a:p>
            <a:pPr marL="304800" algn="l" rtl="0" eaLnBrk="0">
              <a:lnSpc>
                <a:spcPct val="98000"/>
              </a:lnSpc>
              <a:spcBef>
                <a:spcPts val="0"/>
              </a:spcBef>
              <a:tabLst>
                <a:tab pos="40005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构造树模型：</a:t>
            </a:r>
            <a:endParaRPr lang="en-US" altLang="en-US" sz="2400" dirty="0"/>
          </a:p>
        </p:txBody>
      </p:sp>
      <p:sp>
        <p:nvSpPr>
          <p:cNvPr id="58" name="textbox 58"/>
          <p:cNvSpPr/>
          <p:nvPr/>
        </p:nvSpPr>
        <p:spPr>
          <a:xfrm>
            <a:off x="610616" y="1479575"/>
            <a:ext cx="1760854" cy="381634"/>
          </a:xfrm>
          <a:prstGeom prst="rect">
            <a:avLst/>
          </a:prstGeom>
        </p:spPr>
        <p:txBody>
          <a:bodyPr vert="horz" wrap="square" lIns="0" tIns="0" rIns="0" bIns="0"/>
          <a:lstStyle/>
          <a:p>
            <a:pPr algn="l" rtl="0" eaLnBrk="0">
              <a:lnSpc>
                <a:spcPct val="91000"/>
              </a:lnSpc>
            </a:pPr>
            <a:endParaRPr lang="en-US" altLang="en-US" sz="100" dirty="0"/>
          </a:p>
          <a:p>
            <a:pPr marL="303530" algn="l" rtl="0" eaLnBrk="0">
              <a:lnSpc>
                <a:spcPct val="97000"/>
              </a:lnSpc>
              <a:tabLst>
                <a:tab pos="546100" algn="l"/>
              </a:tabLst>
            </a:pPr>
            <a:r>
              <a:rPr sz="2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随机森林</a:t>
            </a:r>
            <a:endParaRPr lang="en-US" altLang="en-US" sz="2400" dirty="0"/>
          </a:p>
        </p:txBody>
      </p:sp>
      <p:pic>
        <p:nvPicPr>
          <p:cNvPr id="62" name="picture 62"/>
          <p:cNvPicPr>
            <a:picLocks noChangeAspect="1"/>
          </p:cNvPicPr>
          <p:nvPr/>
        </p:nvPicPr>
        <p:blipFill>
          <a:blip r:embed="rId3"/>
          <a:stretch>
            <a:fillRect/>
          </a:stretch>
        </p:blipFill>
        <p:spPr>
          <a:xfrm rot="21600000">
            <a:off x="10668" y="981455"/>
            <a:ext cx="12181331" cy="45720"/>
          </a:xfrm>
          <a:prstGeom prst="rect">
            <a:avLst/>
          </a:prstGeom>
        </p:spPr>
      </p:pic>
      <p:sp>
        <p:nvSpPr>
          <p:cNvPr id="100" name="文本框 99"/>
          <p:cNvSpPr txBox="1"/>
          <p:nvPr>
            <p:custDataLst>
              <p:tags r:id="rId4"/>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74</a:t>
            </a:r>
            <a:endParaRPr lang="en-US" altLang="zh-CN" b="0">
              <a:ea typeface="宋体" panose="0201060003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635" y="8890"/>
            <a:ext cx="12192000" cy="6839585"/>
          </a:xfrm>
          <a:prstGeom prst="rect">
            <a:avLst/>
          </a:prstGeom>
        </p:spPr>
      </p:pic>
      <p:sp>
        <p:nvSpPr>
          <p:cNvPr id="100" name="文本框 99"/>
          <p:cNvSpPr txBox="1"/>
          <p:nvPr/>
        </p:nvSpPr>
        <p:spPr>
          <a:xfrm>
            <a:off x="11699240" y="6480175"/>
            <a:ext cx="492125" cy="368300"/>
          </a:xfrm>
          <a:prstGeom prst="rect">
            <a:avLst/>
          </a:prstGeom>
          <a:noFill/>
          <a:ln w="9525">
            <a:noFill/>
          </a:ln>
        </p:spPr>
        <p:txBody>
          <a:bodyPr wrap="square">
            <a:spAutoFit/>
          </a:bodyPr>
          <a:p>
            <a:pPr indent="0"/>
            <a:r>
              <a:rPr lang="en-US" altLang="zh-CN" b="0">
                <a:ea typeface="宋体" panose="02010600030101010101" pitchFamily="2" charset="-122"/>
              </a:rPr>
              <a:t>75</a:t>
            </a:r>
            <a:endParaRPr lang="en-US" altLang="zh-CN" b="0">
              <a:ea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rot="21600000">
            <a:off x="126609" y="147616"/>
            <a:ext cx="2722051" cy="688004"/>
            <a:chOff x="0" y="0"/>
            <a:chExt cx="2722051" cy="688004"/>
          </a:xfrm>
        </p:grpSpPr>
        <p:pic>
          <p:nvPicPr>
            <p:cNvPr id="50" name="picture 50"/>
            <p:cNvPicPr>
              <a:picLocks noChangeAspect="1"/>
            </p:cNvPicPr>
            <p:nvPr/>
          </p:nvPicPr>
          <p:blipFill>
            <a:blip r:embed="rId1"/>
            <a:stretch>
              <a:fillRect/>
            </a:stretch>
          </p:blipFill>
          <p:spPr>
            <a:xfrm rot="21600000">
              <a:off x="0" y="29636"/>
              <a:ext cx="2696776" cy="658368"/>
            </a:xfrm>
            <a:prstGeom prst="rect">
              <a:avLst/>
            </a:prstGeom>
          </p:spPr>
        </p:pic>
        <p:sp>
          <p:nvSpPr>
            <p:cNvPr id="52" name="textbox 52"/>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62" name="picture 62"/>
          <p:cNvPicPr>
            <a:picLocks noChangeAspect="1"/>
          </p:cNvPicPr>
          <p:nvPr/>
        </p:nvPicPr>
        <p:blipFill>
          <a:blip r:embed="rId2"/>
          <a:stretch>
            <a:fillRect/>
          </a:stretch>
        </p:blipFill>
        <p:spPr>
          <a:xfrm rot="21600000">
            <a:off x="10668" y="981455"/>
            <a:ext cx="12181331" cy="45720"/>
          </a:xfrm>
          <a:prstGeom prst="rect">
            <a:avLst/>
          </a:prstGeom>
        </p:spPr>
      </p:pic>
      <p:pic>
        <p:nvPicPr>
          <p:cNvPr id="2" name="图片 1"/>
          <p:cNvPicPr>
            <a:picLocks noChangeAspect="1"/>
          </p:cNvPicPr>
          <p:nvPr>
            <p:custDataLst>
              <p:tags r:id="rId3"/>
            </p:custDataLst>
          </p:nvPr>
        </p:nvPicPr>
        <p:blipFill>
          <a:blip r:embed="rId4"/>
          <a:stretch>
            <a:fillRect/>
          </a:stretch>
        </p:blipFill>
        <p:spPr>
          <a:xfrm>
            <a:off x="1522095" y="1858010"/>
            <a:ext cx="8562975" cy="4686935"/>
          </a:xfrm>
          <a:prstGeom prst="rect">
            <a:avLst/>
          </a:prstGeom>
        </p:spPr>
      </p:pic>
      <p:sp>
        <p:nvSpPr>
          <p:cNvPr id="5" name="Text Box 7"/>
          <p:cNvSpPr txBox="1">
            <a:spLocks noChangeArrowheads="1"/>
          </p:cNvSpPr>
          <p:nvPr>
            <p:custDataLst>
              <p:tags r:id="rId5"/>
            </p:custDataLst>
          </p:nvPr>
        </p:nvSpPr>
        <p:spPr bwMode="white">
          <a:xfrm>
            <a:off x="437198" y="1211580"/>
            <a:ext cx="40322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6"/>
              </a:buBlip>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11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10000"/>
              <a:buFont typeface="Wingdings" panose="05000000000000000000" pitchFamily="2" charset="2"/>
              <a:buChar char="w"/>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hlink"/>
              </a:buClr>
              <a:buSzPct val="11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11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3600" b="1" i="0" u="none" strike="noStrike" kern="1200" cap="none" spc="0" normalizeH="0" baseline="0" noProof="0" dirty="0" smtClean="0">
                <a:ln>
                  <a:noFill/>
                </a:ln>
                <a:solidFill>
                  <a:srgbClr val="FF0000"/>
                </a:solidFill>
                <a:effectLst/>
                <a:uLnTx/>
                <a:uFillTx/>
                <a:latin typeface="Times New Roman" panose="02020603050405020304" charset="0"/>
                <a:ea typeface="微软雅黑" panose="020B0503020204020204" charset="-122"/>
                <a:cs typeface="Times New Roman" panose="02020603050405020304" charset="0"/>
              </a:rPr>
              <a:t>  </a:t>
            </a:r>
            <a:r>
              <a:rPr kumimoji="0" lang="zh-CN" altLang="en-US" sz="3200" b="1" i="0" u="none" strike="noStrike" kern="1200" cap="none" spc="0" normalizeH="0" baseline="0" noProof="0" dirty="0" smtClean="0">
                <a:ln>
                  <a:noFill/>
                </a:ln>
                <a:solidFill>
                  <a:schemeClr val="bg2">
                    <a:lumMod val="10000"/>
                  </a:schemeClr>
                </a:solidFill>
                <a:effectLst/>
                <a:uLnTx/>
                <a:uFillTx/>
                <a:latin typeface="Times New Roman" panose="02020603050405020304" charset="0"/>
                <a:ea typeface="微软雅黑" panose="020B0503020204020204" charset="-122"/>
                <a:cs typeface="Times New Roman" panose="02020603050405020304" charset="0"/>
              </a:rPr>
              <a:t>随机森林的特点</a:t>
            </a:r>
            <a:endParaRPr kumimoji="0" lang="zh-CN" altLang="en-US" sz="3200" b="1" i="0" u="none" strike="noStrike" kern="1200" cap="none" spc="0" normalizeH="0" baseline="0" noProof="0" dirty="0" smtClean="0">
              <a:ln>
                <a:noFill/>
              </a:ln>
              <a:solidFill>
                <a:schemeClr val="bg2">
                  <a:lumMod val="10000"/>
                </a:schemeClr>
              </a:solidFill>
              <a:effectLst/>
              <a:uLnTx/>
              <a:uFillTx/>
              <a:latin typeface="Times New Roman" panose="02020603050405020304" charset="0"/>
              <a:ea typeface="微软雅黑" panose="020B0503020204020204" charset="-122"/>
              <a:cs typeface="Times New Roman" panose="02020603050405020304" charset="0"/>
            </a:endParaRPr>
          </a:p>
        </p:txBody>
      </p:sp>
      <p:sp>
        <p:nvSpPr>
          <p:cNvPr id="100" name="文本框 99"/>
          <p:cNvSpPr txBox="1"/>
          <p:nvPr>
            <p:custDataLst>
              <p:tags r:id="rId7"/>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76</a:t>
            </a:r>
            <a:endParaRPr lang="en-US" altLang="zh-CN" b="0">
              <a:ea typeface="宋体"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rot="21600000">
            <a:off x="126609" y="147616"/>
            <a:ext cx="2722051" cy="688004"/>
            <a:chOff x="0" y="0"/>
            <a:chExt cx="2722051" cy="688004"/>
          </a:xfrm>
        </p:grpSpPr>
        <p:pic>
          <p:nvPicPr>
            <p:cNvPr id="50" name="picture 50"/>
            <p:cNvPicPr>
              <a:picLocks noChangeAspect="1"/>
            </p:cNvPicPr>
            <p:nvPr/>
          </p:nvPicPr>
          <p:blipFill>
            <a:blip r:embed="rId1"/>
            <a:stretch>
              <a:fillRect/>
            </a:stretch>
          </p:blipFill>
          <p:spPr>
            <a:xfrm rot="21600000">
              <a:off x="0" y="29636"/>
              <a:ext cx="2696776" cy="658368"/>
            </a:xfrm>
            <a:prstGeom prst="rect">
              <a:avLst/>
            </a:prstGeom>
          </p:spPr>
        </p:pic>
        <p:sp>
          <p:nvSpPr>
            <p:cNvPr id="52" name="textbox 52"/>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62" name="picture 62"/>
          <p:cNvPicPr>
            <a:picLocks noChangeAspect="1"/>
          </p:cNvPicPr>
          <p:nvPr/>
        </p:nvPicPr>
        <p:blipFill>
          <a:blip r:embed="rId2"/>
          <a:stretch>
            <a:fillRect/>
          </a:stretch>
        </p:blipFill>
        <p:spPr>
          <a:xfrm rot="21600000">
            <a:off x="10668" y="981455"/>
            <a:ext cx="12181331" cy="45720"/>
          </a:xfrm>
          <a:prstGeom prst="rect">
            <a:avLst/>
          </a:prstGeom>
        </p:spPr>
      </p:pic>
      <p:sp>
        <p:nvSpPr>
          <p:cNvPr id="5" name="Text Box 7"/>
          <p:cNvSpPr txBox="1">
            <a:spLocks noChangeArrowheads="1"/>
          </p:cNvSpPr>
          <p:nvPr>
            <p:custDataLst>
              <p:tags r:id="rId3"/>
            </p:custDataLst>
          </p:nvPr>
        </p:nvSpPr>
        <p:spPr bwMode="white">
          <a:xfrm>
            <a:off x="684213" y="1286510"/>
            <a:ext cx="40322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110000"/>
              <a:buFont typeface="Wingdings" panose="05000000000000000000" pitchFamily="2" charset="2"/>
              <a:buBlip>
                <a:blip r:embed="rId4"/>
              </a:buBlip>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11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hlink"/>
              </a:buClr>
              <a:buSzPct val="110000"/>
              <a:buFont typeface="Wingdings" panose="05000000000000000000" pitchFamily="2" charset="2"/>
              <a:buChar char="w"/>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hlink"/>
              </a:buClr>
              <a:buSzPct val="11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hlink"/>
              </a:buClr>
              <a:buSzPct val="11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en-US" sz="3600" b="1" i="0" u="none" strike="noStrike" kern="1200" cap="none" spc="0" normalizeH="0" baseline="0" noProof="0" dirty="0" smtClean="0">
                <a:ln>
                  <a:noFill/>
                </a:ln>
                <a:solidFill>
                  <a:srgbClr val="FF0000"/>
                </a:solidFill>
                <a:effectLst/>
                <a:uLnTx/>
                <a:uFillTx/>
                <a:latin typeface="Times New Roman" panose="02020603050405020304" charset="0"/>
                <a:ea typeface="微软雅黑" panose="020B0503020204020204" charset="-122"/>
                <a:cs typeface="Times New Roman" panose="02020603050405020304" charset="0"/>
              </a:rPr>
              <a:t>  </a:t>
            </a:r>
            <a:r>
              <a:rPr kumimoji="0" lang="zh-CN" altLang="en-US" sz="3200" b="1" i="0" u="none" strike="noStrike" kern="1200" cap="none" spc="0" normalizeH="0" baseline="0" noProof="0" dirty="0" smtClean="0">
                <a:ln>
                  <a:noFill/>
                </a:ln>
                <a:solidFill>
                  <a:schemeClr val="bg2">
                    <a:lumMod val="10000"/>
                  </a:schemeClr>
                </a:solidFill>
                <a:effectLst/>
                <a:uLnTx/>
                <a:uFillTx/>
                <a:latin typeface="Times New Roman" panose="02020603050405020304" charset="0"/>
                <a:ea typeface="微软雅黑" panose="020B0503020204020204" charset="-122"/>
                <a:cs typeface="Times New Roman" panose="02020603050405020304" charset="0"/>
              </a:rPr>
              <a:t>随机森林的特点</a:t>
            </a:r>
            <a:endParaRPr kumimoji="0" lang="zh-CN" altLang="en-US" sz="3200" b="1" i="0" u="none" strike="noStrike" kern="1200" cap="none" spc="0" normalizeH="0" baseline="0" noProof="0" dirty="0" smtClean="0">
              <a:ln>
                <a:noFill/>
              </a:ln>
              <a:solidFill>
                <a:schemeClr val="bg2">
                  <a:lumMod val="10000"/>
                </a:schemeClr>
              </a:solidFill>
              <a:effectLst/>
              <a:uLnTx/>
              <a:uFillTx/>
              <a:latin typeface="Times New Roman" panose="02020603050405020304" charset="0"/>
              <a:ea typeface="微软雅黑" panose="020B0503020204020204" charset="-122"/>
              <a:cs typeface="Times New Roman" panose="02020603050405020304" charset="0"/>
            </a:endParaRPr>
          </a:p>
        </p:txBody>
      </p:sp>
      <p:pic>
        <p:nvPicPr>
          <p:cNvPr id="3" name="图片 2"/>
          <p:cNvPicPr>
            <a:picLocks noChangeAspect="1"/>
          </p:cNvPicPr>
          <p:nvPr>
            <p:custDataLst>
              <p:tags r:id="rId5"/>
            </p:custDataLst>
          </p:nvPr>
        </p:nvPicPr>
        <p:blipFill>
          <a:blip r:embed="rId6"/>
          <a:stretch>
            <a:fillRect/>
          </a:stretch>
        </p:blipFill>
        <p:spPr>
          <a:xfrm>
            <a:off x="1705610" y="2151380"/>
            <a:ext cx="8349615" cy="3315970"/>
          </a:xfrm>
          <a:prstGeom prst="rect">
            <a:avLst/>
          </a:prstGeom>
        </p:spPr>
      </p:pic>
      <p:sp>
        <p:nvSpPr>
          <p:cNvPr id="100" name="文本框 99"/>
          <p:cNvSpPr txBox="1"/>
          <p:nvPr>
            <p:custDataLst>
              <p:tags r:id="rId7"/>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77</a:t>
            </a:r>
            <a:endParaRPr lang="en-US" altLang="zh-CN" b="0">
              <a:ea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rot="21600000">
            <a:off x="126609" y="147616"/>
            <a:ext cx="2722051" cy="688004"/>
            <a:chOff x="0" y="0"/>
            <a:chExt cx="2722051" cy="688004"/>
          </a:xfrm>
        </p:grpSpPr>
        <p:pic>
          <p:nvPicPr>
            <p:cNvPr id="50" name="picture 50"/>
            <p:cNvPicPr>
              <a:picLocks noChangeAspect="1"/>
            </p:cNvPicPr>
            <p:nvPr/>
          </p:nvPicPr>
          <p:blipFill>
            <a:blip r:embed="rId1"/>
            <a:stretch>
              <a:fillRect/>
            </a:stretch>
          </p:blipFill>
          <p:spPr>
            <a:xfrm rot="21600000">
              <a:off x="0" y="29636"/>
              <a:ext cx="2696776" cy="658368"/>
            </a:xfrm>
            <a:prstGeom prst="rect">
              <a:avLst/>
            </a:prstGeom>
          </p:spPr>
        </p:pic>
        <p:sp>
          <p:nvSpPr>
            <p:cNvPr id="52" name="textbox 52"/>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62" name="picture 62"/>
          <p:cNvPicPr>
            <a:picLocks noChangeAspect="1"/>
          </p:cNvPicPr>
          <p:nvPr/>
        </p:nvPicPr>
        <p:blipFill>
          <a:blip r:embed="rId2"/>
          <a:stretch>
            <a:fillRect/>
          </a:stretch>
        </p:blipFill>
        <p:spPr>
          <a:xfrm rot="21600000">
            <a:off x="10668" y="981455"/>
            <a:ext cx="12181331" cy="45720"/>
          </a:xfrm>
          <a:prstGeom prst="rect">
            <a:avLst/>
          </a:prstGeom>
        </p:spPr>
      </p:pic>
      <p:pic>
        <p:nvPicPr>
          <p:cNvPr id="2" name="图片 1"/>
          <p:cNvPicPr>
            <a:picLocks noChangeAspect="1"/>
          </p:cNvPicPr>
          <p:nvPr>
            <p:custDataLst>
              <p:tags r:id="rId3"/>
            </p:custDataLst>
          </p:nvPr>
        </p:nvPicPr>
        <p:blipFill>
          <a:blip r:embed="rId4"/>
          <a:stretch>
            <a:fillRect/>
          </a:stretch>
        </p:blipFill>
        <p:spPr>
          <a:xfrm>
            <a:off x="1089660" y="1400175"/>
            <a:ext cx="8449945" cy="4272915"/>
          </a:xfrm>
          <a:prstGeom prst="rect">
            <a:avLst/>
          </a:prstGeom>
        </p:spPr>
      </p:pic>
      <p:sp>
        <p:nvSpPr>
          <p:cNvPr id="100" name="文本框 99"/>
          <p:cNvSpPr txBox="1"/>
          <p:nvPr/>
        </p:nvSpPr>
        <p:spPr>
          <a:xfrm>
            <a:off x="11668125" y="6489700"/>
            <a:ext cx="523875" cy="368300"/>
          </a:xfrm>
          <a:prstGeom prst="rect">
            <a:avLst/>
          </a:prstGeom>
          <a:noFill/>
          <a:ln w="9525">
            <a:noFill/>
          </a:ln>
        </p:spPr>
        <p:txBody>
          <a:bodyPr wrap="square">
            <a:spAutoFit/>
          </a:bodyPr>
          <a:p>
            <a:pPr indent="0"/>
            <a:r>
              <a:rPr lang="en-US" altLang="zh-CN" b="0">
                <a:ea typeface="宋体" panose="02010600030101010101" pitchFamily="2" charset="-122"/>
              </a:rPr>
              <a:t>78</a:t>
            </a:r>
            <a:endParaRPr lang="en-US" altLang="zh-CN" b="0">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rot="21600000">
            <a:off x="126609" y="147616"/>
            <a:ext cx="2722051" cy="688004"/>
            <a:chOff x="0" y="0"/>
            <a:chExt cx="2722051" cy="688004"/>
          </a:xfrm>
        </p:grpSpPr>
        <p:pic>
          <p:nvPicPr>
            <p:cNvPr id="50" name="picture 50"/>
            <p:cNvPicPr>
              <a:picLocks noChangeAspect="1"/>
            </p:cNvPicPr>
            <p:nvPr/>
          </p:nvPicPr>
          <p:blipFill>
            <a:blip r:embed="rId1"/>
            <a:stretch>
              <a:fillRect/>
            </a:stretch>
          </p:blipFill>
          <p:spPr>
            <a:xfrm rot="21600000">
              <a:off x="0" y="29636"/>
              <a:ext cx="2696776" cy="658368"/>
            </a:xfrm>
            <a:prstGeom prst="rect">
              <a:avLst/>
            </a:prstGeom>
          </p:spPr>
        </p:pic>
        <p:sp>
          <p:nvSpPr>
            <p:cNvPr id="52" name="textbox 52"/>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62" name="picture 62"/>
          <p:cNvPicPr>
            <a:picLocks noChangeAspect="1"/>
          </p:cNvPicPr>
          <p:nvPr/>
        </p:nvPicPr>
        <p:blipFill>
          <a:blip r:embed="rId2"/>
          <a:stretch>
            <a:fillRect/>
          </a:stretch>
        </p:blipFill>
        <p:spPr>
          <a:xfrm rot="21600000">
            <a:off x="10668" y="981455"/>
            <a:ext cx="12181331" cy="4572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1009015" y="1730375"/>
            <a:ext cx="8924290" cy="3529965"/>
          </a:xfrm>
          <a:prstGeom prst="rect">
            <a:avLst/>
          </a:prstGeom>
        </p:spPr>
      </p:pic>
      <p:sp>
        <p:nvSpPr>
          <p:cNvPr id="100" name="文本框 99"/>
          <p:cNvSpPr txBox="1"/>
          <p:nvPr/>
        </p:nvSpPr>
        <p:spPr>
          <a:xfrm>
            <a:off x="11670030" y="6489700"/>
            <a:ext cx="521970" cy="368300"/>
          </a:xfrm>
          <a:prstGeom prst="rect">
            <a:avLst/>
          </a:prstGeom>
          <a:noFill/>
          <a:ln w="9525">
            <a:noFill/>
          </a:ln>
        </p:spPr>
        <p:txBody>
          <a:bodyPr wrap="square">
            <a:spAutoFit/>
          </a:bodyPr>
          <a:p>
            <a:pPr indent="0"/>
            <a:r>
              <a:rPr lang="en-US" altLang="zh-CN" b="0">
                <a:ea typeface="宋体" panose="02010600030101010101" pitchFamily="2" charset="-122"/>
              </a:rPr>
              <a:t>79</a:t>
            </a:r>
            <a:endParaRPr lang="en-US" altLang="zh-CN" b="0">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rot="21600000">
            <a:off x="126609" y="147616"/>
            <a:ext cx="2722051" cy="688004"/>
            <a:chOff x="0" y="0"/>
            <a:chExt cx="2722051" cy="688004"/>
          </a:xfrm>
        </p:grpSpPr>
        <p:pic>
          <p:nvPicPr>
            <p:cNvPr id="50" name="picture 50"/>
            <p:cNvPicPr>
              <a:picLocks noChangeAspect="1"/>
            </p:cNvPicPr>
            <p:nvPr/>
          </p:nvPicPr>
          <p:blipFill>
            <a:blip r:embed="rId1"/>
            <a:stretch>
              <a:fillRect/>
            </a:stretch>
          </p:blipFill>
          <p:spPr>
            <a:xfrm rot="21600000">
              <a:off x="0" y="29636"/>
              <a:ext cx="2696776" cy="658368"/>
            </a:xfrm>
            <a:prstGeom prst="rect">
              <a:avLst/>
            </a:prstGeom>
          </p:spPr>
        </p:pic>
        <p:sp>
          <p:nvSpPr>
            <p:cNvPr id="52" name="textbox 52"/>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62" name="picture 62"/>
          <p:cNvPicPr>
            <a:picLocks noChangeAspect="1"/>
          </p:cNvPicPr>
          <p:nvPr/>
        </p:nvPicPr>
        <p:blipFill>
          <a:blip r:embed="rId2"/>
          <a:stretch>
            <a:fillRect/>
          </a:stretch>
        </p:blipFill>
        <p:spPr>
          <a:xfrm rot="21600000">
            <a:off x="10668" y="981455"/>
            <a:ext cx="12181331" cy="45720"/>
          </a:xfrm>
          <a:prstGeom prst="rect">
            <a:avLst/>
          </a:prstGeom>
        </p:spPr>
      </p:pic>
      <p:sp>
        <p:nvSpPr>
          <p:cNvPr id="62466" name="矩形 3"/>
          <p:cNvSpPr/>
          <p:nvPr>
            <p:custDataLst>
              <p:tags r:id="rId3"/>
            </p:custDataLst>
          </p:nvPr>
        </p:nvSpPr>
        <p:spPr>
          <a:xfrm>
            <a:off x="1200785" y="1278255"/>
            <a:ext cx="8997315" cy="2569210"/>
          </a:xfrm>
          <a:prstGeom prst="rect">
            <a:avLst/>
          </a:prstGeom>
          <a:noFill/>
          <a:ln w="9525">
            <a:noFill/>
          </a:ln>
        </p:spPr>
        <p:txBody>
          <a:bodyPr>
            <a:noAutofit/>
          </a:bodyPr>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4"/>
              </a:buBlip>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11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110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mn-lt"/>
                <a:ea typeface="+mn-ea"/>
              </a:defRPr>
            </a:lvl5pPr>
          </a:lstStyle>
          <a:p>
            <a:pPr marL="0" lvl="0" indent="0">
              <a:lnSpc>
                <a:spcPct val="100000"/>
              </a:lnSpc>
              <a:spcBef>
                <a:spcPct val="0"/>
              </a:spcBef>
              <a:spcAft>
                <a:spcPts val="1200"/>
              </a:spcAft>
              <a:buClrTx/>
              <a:buSzTx/>
              <a:buFontTx/>
              <a:buNone/>
            </a:pPr>
            <a:r>
              <a:rPr lang="en-US" altLang="zh-CN" sz="2000" dirty="0">
                <a:solidFill>
                  <a:schemeClr val="tx1">
                    <a:lumMod val="50000"/>
                  </a:schemeClr>
                </a:solidFill>
                <a:latin typeface="华文中宋" panose="02010600040101010101" pitchFamily="2" charset="-122"/>
                <a:ea typeface="华文中宋" panose="02010600040101010101" pitchFamily="2" charset="-122"/>
              </a:rPr>
              <a:t>  </a:t>
            </a:r>
            <a:r>
              <a:rPr lang="en-US" altLang="zh-CN" sz="2800" dirty="0">
                <a:solidFill>
                  <a:schemeClr val="tx1">
                    <a:lumMod val="50000"/>
                  </a:schemeClr>
                </a:solidFill>
                <a:latin typeface="华文中宋" panose="02010600040101010101" pitchFamily="2" charset="-122"/>
                <a:ea typeface="华文中宋" panose="02010600040101010101" pitchFamily="2" charset="-122"/>
              </a:rPr>
              <a:t>    </a:t>
            </a:r>
            <a:r>
              <a:rPr lang="zh-CN" altLang="en-US" sz="2800" dirty="0">
                <a:solidFill>
                  <a:schemeClr val="tx1">
                    <a:lumMod val="50000"/>
                  </a:schemeClr>
                </a:solidFill>
                <a:latin typeface="华文中宋" panose="02010600040101010101" pitchFamily="2" charset="-122"/>
                <a:ea typeface="华文中宋" panose="02010600040101010101" pitchFamily="2" charset="-122"/>
              </a:rPr>
              <a:t>一开始提到的随机森林中的“随机”就是指的</a:t>
            </a:r>
            <a:r>
              <a:rPr lang="en-US" altLang="zh-CN" sz="2800" dirty="0">
                <a:solidFill>
                  <a:schemeClr val="tx1">
                    <a:lumMod val="50000"/>
                  </a:schemeClr>
                </a:solidFill>
                <a:latin typeface="华文中宋" panose="02010600040101010101" pitchFamily="2" charset="-122"/>
                <a:ea typeface="华文中宋" panose="02010600040101010101" pitchFamily="2" charset="-122"/>
              </a:rPr>
              <a:t>a</a:t>
            </a:r>
            <a:r>
              <a:rPr lang="zh-CN" altLang="en-US" sz="2800" dirty="0">
                <a:solidFill>
                  <a:schemeClr val="tx1">
                    <a:lumMod val="50000"/>
                  </a:schemeClr>
                </a:solidFill>
                <a:latin typeface="华文中宋" panose="02010600040101010101" pitchFamily="2" charset="-122"/>
                <a:ea typeface="华文中宋" panose="02010600040101010101" pitchFamily="2" charset="-122"/>
              </a:rPr>
              <a:t>和</a:t>
            </a:r>
            <a:r>
              <a:rPr lang="en-US" altLang="zh-CN" sz="2800" dirty="0">
                <a:solidFill>
                  <a:schemeClr val="tx1">
                    <a:lumMod val="50000"/>
                  </a:schemeClr>
                </a:solidFill>
                <a:latin typeface="华文中宋" panose="02010600040101010101" pitchFamily="2" charset="-122"/>
                <a:ea typeface="华文中宋" panose="02010600040101010101" pitchFamily="2" charset="-122"/>
              </a:rPr>
              <a:t>b</a:t>
            </a:r>
            <a:r>
              <a:rPr lang="zh-CN" altLang="en-US" sz="2800" dirty="0">
                <a:solidFill>
                  <a:schemeClr val="tx1">
                    <a:lumMod val="50000"/>
                  </a:schemeClr>
                </a:solidFill>
                <a:latin typeface="华文中宋" panose="02010600040101010101" pitchFamily="2" charset="-122"/>
                <a:ea typeface="华文中宋" panose="02010600040101010101" pitchFamily="2" charset="-122"/>
              </a:rPr>
              <a:t>中的两个随机性。两个随机性的引入对随机森林的分类性能至关重要。由于它们的引入，使得随机森林不容易陷入过拟合，并且具有很好得抗噪能力（比如：对缺省值不敏感）。</a:t>
            </a:r>
            <a:endParaRPr lang="zh-CN" altLang="en-US" sz="2800" dirty="0">
              <a:solidFill>
                <a:schemeClr val="tx1">
                  <a:lumMod val="50000"/>
                </a:schemeClr>
              </a:solidFill>
              <a:latin typeface="华文中宋" panose="02010600040101010101" pitchFamily="2" charset="-122"/>
              <a:ea typeface="华文中宋" panose="02010600040101010101" pitchFamily="2" charset="-122"/>
            </a:endParaRPr>
          </a:p>
        </p:txBody>
      </p:sp>
      <p:sp>
        <p:nvSpPr>
          <p:cNvPr id="62468" name="矩形 5"/>
          <p:cNvSpPr/>
          <p:nvPr>
            <p:custDataLst>
              <p:tags r:id="rId5"/>
            </p:custDataLst>
          </p:nvPr>
        </p:nvSpPr>
        <p:spPr>
          <a:xfrm>
            <a:off x="1283335" y="4098290"/>
            <a:ext cx="8225790" cy="16814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4"/>
              </a:buBlip>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11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110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mn-lt"/>
                <a:ea typeface="+mn-ea"/>
              </a:defRPr>
            </a:lvl5pPr>
          </a:lstStyle>
          <a:p>
            <a:pPr marL="0" lvl="0" indent="0">
              <a:lnSpc>
                <a:spcPts val="2800"/>
              </a:lnSpc>
              <a:spcBef>
                <a:spcPct val="0"/>
              </a:spcBef>
              <a:spcAft>
                <a:spcPts val="1200"/>
              </a:spcAft>
              <a:buClrTx/>
              <a:buSzTx/>
              <a:buFontTx/>
              <a:buNone/>
            </a:pPr>
            <a:r>
              <a:rPr lang="zh-CN" altLang="en-US" sz="2400" dirty="0">
                <a:solidFill>
                  <a:schemeClr val="tx1">
                    <a:lumMod val="50000"/>
                  </a:schemeClr>
                </a:solidFill>
                <a:latin typeface="华文中宋" panose="02010600040101010101" pitchFamily="2" charset="-122"/>
                <a:ea typeface="华文中宋" panose="02010600040101010101" pitchFamily="2" charset="-122"/>
              </a:rPr>
              <a:t>为什么要随机抽样训练集？</a:t>
            </a:r>
            <a:endParaRPr lang="en-US" altLang="zh-CN" sz="2400" dirty="0">
              <a:solidFill>
                <a:schemeClr val="tx1">
                  <a:lumMod val="50000"/>
                </a:schemeClr>
              </a:solidFill>
              <a:latin typeface="华文中宋" panose="02010600040101010101" pitchFamily="2" charset="-122"/>
              <a:ea typeface="华文中宋" panose="02010600040101010101" pitchFamily="2" charset="-122"/>
            </a:endParaRPr>
          </a:p>
          <a:p>
            <a:pPr marL="0" lvl="0" indent="0">
              <a:lnSpc>
                <a:spcPts val="2800"/>
              </a:lnSpc>
              <a:spcBef>
                <a:spcPct val="0"/>
              </a:spcBef>
              <a:spcAft>
                <a:spcPts val="1200"/>
              </a:spcAft>
              <a:buClrTx/>
              <a:buSzTx/>
              <a:buFontTx/>
              <a:buNone/>
            </a:pPr>
            <a:r>
              <a:rPr lang="zh-CN" altLang="en-US" sz="2400" dirty="0">
                <a:solidFill>
                  <a:srgbClr val="000000"/>
                </a:solidFill>
                <a:latin typeface="华文中宋" panose="02010600040101010101" pitchFamily="2" charset="-122"/>
                <a:ea typeface="华文中宋" panose="02010600040101010101" pitchFamily="2" charset="-122"/>
              </a:rPr>
              <a:t>如果不进行随机抽样，每棵树的训练集都一样，那么最终训练出的树分类结果也是完全一样的，这样的话完全没有集成的必要；</a:t>
            </a:r>
            <a:endParaRPr lang="en-US" altLang="zh-CN" sz="2400" dirty="0">
              <a:solidFill>
                <a:srgbClr val="000000"/>
              </a:solidFill>
              <a:latin typeface="华文中宋" panose="02010600040101010101" pitchFamily="2" charset="-122"/>
              <a:ea typeface="华文中宋" panose="02010600040101010101" pitchFamily="2" charset="-122"/>
            </a:endParaRPr>
          </a:p>
        </p:txBody>
      </p:sp>
      <p:sp>
        <p:nvSpPr>
          <p:cNvPr id="100" name="文本框 99"/>
          <p:cNvSpPr txBox="1"/>
          <p:nvPr/>
        </p:nvSpPr>
        <p:spPr>
          <a:xfrm>
            <a:off x="11649075" y="6489700"/>
            <a:ext cx="542925" cy="368300"/>
          </a:xfrm>
          <a:prstGeom prst="rect">
            <a:avLst/>
          </a:prstGeom>
          <a:noFill/>
          <a:ln w="9525">
            <a:noFill/>
          </a:ln>
        </p:spPr>
        <p:txBody>
          <a:bodyPr wrap="square">
            <a:spAutoFit/>
          </a:bodyPr>
          <a:p>
            <a:pPr indent="0"/>
            <a:r>
              <a:rPr lang="en-US" altLang="zh-CN" b="0">
                <a:ea typeface="宋体" panose="02010600030101010101" pitchFamily="2" charset="-122"/>
              </a:rPr>
              <a:t>80</a:t>
            </a:r>
            <a:endParaRPr lang="en-US" altLang="zh-CN" b="0">
              <a:ea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rot="21600000">
            <a:off x="126609" y="147616"/>
            <a:ext cx="2722051" cy="688004"/>
            <a:chOff x="0" y="0"/>
            <a:chExt cx="2722051" cy="688004"/>
          </a:xfrm>
        </p:grpSpPr>
        <p:pic>
          <p:nvPicPr>
            <p:cNvPr id="50" name="picture 50"/>
            <p:cNvPicPr>
              <a:picLocks noChangeAspect="1"/>
            </p:cNvPicPr>
            <p:nvPr/>
          </p:nvPicPr>
          <p:blipFill>
            <a:blip r:embed="rId1"/>
            <a:stretch>
              <a:fillRect/>
            </a:stretch>
          </p:blipFill>
          <p:spPr>
            <a:xfrm rot="21600000">
              <a:off x="0" y="29636"/>
              <a:ext cx="2696776" cy="658368"/>
            </a:xfrm>
            <a:prstGeom prst="rect">
              <a:avLst/>
            </a:prstGeom>
          </p:spPr>
        </p:pic>
        <p:sp>
          <p:nvSpPr>
            <p:cNvPr id="52" name="textbox 52"/>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62" name="picture 62"/>
          <p:cNvPicPr>
            <a:picLocks noChangeAspect="1"/>
          </p:cNvPicPr>
          <p:nvPr/>
        </p:nvPicPr>
        <p:blipFill>
          <a:blip r:embed="rId2"/>
          <a:stretch>
            <a:fillRect/>
          </a:stretch>
        </p:blipFill>
        <p:spPr>
          <a:xfrm rot="21600000">
            <a:off x="10668" y="981455"/>
            <a:ext cx="12181331" cy="45720"/>
          </a:xfrm>
          <a:prstGeom prst="rect">
            <a:avLst/>
          </a:prstGeom>
        </p:spPr>
      </p:pic>
      <p:sp>
        <p:nvSpPr>
          <p:cNvPr id="64515" name="矩形 5"/>
          <p:cNvSpPr/>
          <p:nvPr>
            <p:custDataLst>
              <p:tags r:id="rId3"/>
            </p:custDataLst>
          </p:nvPr>
        </p:nvSpPr>
        <p:spPr>
          <a:xfrm>
            <a:off x="684530" y="1414780"/>
            <a:ext cx="9965690" cy="4208145"/>
          </a:xfrm>
          <a:prstGeom prst="rect">
            <a:avLst/>
          </a:prstGeom>
          <a:noFill/>
          <a:ln w="9525">
            <a:noFill/>
          </a:ln>
        </p:spPr>
        <p:txBody>
          <a:bodyPr>
            <a:noAutofit/>
          </a:bodyPr>
          <a:lst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4"/>
              </a:buBlip>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11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110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110000"/>
              <a:buFont typeface="Wingdings" panose="05000000000000000000" pitchFamily="2" charset="2"/>
              <a:buChar char="n"/>
              <a:defRPr sz="2000">
                <a:solidFill>
                  <a:schemeClr val="tx1"/>
                </a:solidFill>
                <a:latin typeface="+mn-lt"/>
                <a:ea typeface="+mn-ea"/>
              </a:defRPr>
            </a:lvl5pPr>
          </a:lstStyle>
          <a:p>
            <a:pPr marL="0" lvl="0" indent="0">
              <a:lnSpc>
                <a:spcPct val="150000"/>
              </a:lnSpc>
              <a:spcBef>
                <a:spcPct val="0"/>
              </a:spcBef>
              <a:spcAft>
                <a:spcPts val="1200"/>
              </a:spcAft>
              <a:buClrTx/>
              <a:buSzTx/>
              <a:buFontTx/>
              <a:buNone/>
            </a:pPr>
            <a:r>
              <a:rPr lang="zh-CN" altLang="en-US" sz="2800" dirty="0">
                <a:solidFill>
                  <a:schemeClr val="tx1">
                    <a:lumMod val="50000"/>
                  </a:schemeClr>
                </a:solidFill>
                <a:latin typeface="华文中宋" panose="02010600040101010101" pitchFamily="2" charset="-122"/>
                <a:ea typeface="华文中宋" panose="02010600040101010101" pitchFamily="2" charset="-122"/>
              </a:rPr>
              <a:t>为什么要有放回地抽样？</a:t>
            </a:r>
            <a:endParaRPr lang="en-US" altLang="zh-CN" sz="2800" dirty="0">
              <a:solidFill>
                <a:schemeClr val="tx1">
                  <a:lumMod val="50000"/>
                </a:schemeClr>
              </a:solidFill>
              <a:latin typeface="华文中宋" panose="02010600040101010101" pitchFamily="2" charset="-122"/>
              <a:ea typeface="华文中宋" panose="02010600040101010101" pitchFamily="2" charset="-122"/>
            </a:endParaRPr>
          </a:p>
          <a:p>
            <a:pPr marL="0" lvl="0" indent="0">
              <a:lnSpc>
                <a:spcPct val="150000"/>
              </a:lnSpc>
              <a:spcBef>
                <a:spcPct val="0"/>
              </a:spcBef>
              <a:spcAft>
                <a:spcPts val="1200"/>
              </a:spcAft>
              <a:buClrTx/>
              <a:buSzTx/>
              <a:buFontTx/>
              <a:buNone/>
            </a:pPr>
            <a:r>
              <a:rPr lang="zh-CN" altLang="en-US" sz="2800" dirty="0">
                <a:solidFill>
                  <a:schemeClr val="tx1">
                    <a:lumMod val="50000"/>
                  </a:schemeClr>
                </a:solidFill>
                <a:latin typeface="华文中宋" panose="02010600040101010101" pitchFamily="2" charset="-122"/>
                <a:ea typeface="华文中宋" panose="02010600040101010101" pitchFamily="2" charset="-122"/>
              </a:rPr>
              <a:t>如果不是有放回的抽样，那么每棵树的训练样本都是不同的，都是没有交集的，这样每棵树都是</a:t>
            </a:r>
            <a:r>
              <a:rPr lang="en-US" altLang="zh-CN" sz="2800" dirty="0">
                <a:solidFill>
                  <a:schemeClr val="tx1">
                    <a:lumMod val="50000"/>
                  </a:schemeClr>
                </a:solidFill>
                <a:latin typeface="华文中宋" panose="02010600040101010101" pitchFamily="2" charset="-122"/>
                <a:ea typeface="华文中宋" panose="02010600040101010101" pitchFamily="2" charset="-122"/>
              </a:rPr>
              <a:t>"</a:t>
            </a:r>
            <a:r>
              <a:rPr lang="zh-CN" altLang="en-US" sz="2800" dirty="0">
                <a:solidFill>
                  <a:schemeClr val="tx1">
                    <a:lumMod val="50000"/>
                  </a:schemeClr>
                </a:solidFill>
                <a:latin typeface="华文中宋" panose="02010600040101010101" pitchFamily="2" charset="-122"/>
                <a:ea typeface="华文中宋" panose="02010600040101010101" pitchFamily="2" charset="-122"/>
              </a:rPr>
              <a:t>有偏的</a:t>
            </a:r>
            <a:r>
              <a:rPr lang="en-US" altLang="zh-CN" sz="2800" dirty="0">
                <a:solidFill>
                  <a:schemeClr val="tx1">
                    <a:lumMod val="50000"/>
                  </a:schemeClr>
                </a:solidFill>
                <a:latin typeface="华文中宋" panose="02010600040101010101" pitchFamily="2" charset="-122"/>
                <a:ea typeface="华文中宋" panose="02010600040101010101" pitchFamily="2" charset="-122"/>
              </a:rPr>
              <a:t>"</a:t>
            </a:r>
            <a:r>
              <a:rPr lang="zh-CN" altLang="en-US" sz="2800" dirty="0">
                <a:solidFill>
                  <a:schemeClr val="tx1">
                    <a:lumMod val="50000"/>
                  </a:schemeClr>
                </a:solidFill>
                <a:latin typeface="华文中宋" panose="02010600040101010101" pitchFamily="2" charset="-122"/>
                <a:ea typeface="华文中宋" panose="02010600040101010101" pitchFamily="2" charset="-122"/>
              </a:rPr>
              <a:t>，都是</a:t>
            </a:r>
            <a:r>
              <a:rPr lang="en-US" altLang="zh-CN" sz="2800" dirty="0">
                <a:solidFill>
                  <a:schemeClr val="tx1">
                    <a:lumMod val="50000"/>
                  </a:schemeClr>
                </a:solidFill>
                <a:latin typeface="华文中宋" panose="02010600040101010101" pitchFamily="2" charset="-122"/>
                <a:ea typeface="华文中宋" panose="02010600040101010101" pitchFamily="2" charset="-122"/>
              </a:rPr>
              <a:t>"</a:t>
            </a:r>
            <a:r>
              <a:rPr lang="zh-CN" altLang="en-US" sz="2800" dirty="0">
                <a:solidFill>
                  <a:schemeClr val="tx1">
                    <a:lumMod val="50000"/>
                  </a:schemeClr>
                </a:solidFill>
                <a:latin typeface="华文中宋" panose="02010600040101010101" pitchFamily="2" charset="-122"/>
                <a:ea typeface="华文中宋" panose="02010600040101010101" pitchFamily="2" charset="-122"/>
              </a:rPr>
              <a:t>片面的</a:t>
            </a:r>
            <a:r>
              <a:rPr lang="en-US" altLang="zh-CN" sz="2800" dirty="0">
                <a:solidFill>
                  <a:schemeClr val="tx1">
                    <a:lumMod val="50000"/>
                  </a:schemeClr>
                </a:solidFill>
                <a:latin typeface="华文中宋" panose="02010600040101010101" pitchFamily="2" charset="-122"/>
                <a:ea typeface="华文中宋" panose="02010600040101010101" pitchFamily="2" charset="-122"/>
              </a:rPr>
              <a:t>"</a:t>
            </a:r>
            <a:r>
              <a:rPr lang="zh-CN" altLang="en-US" sz="2800" dirty="0">
                <a:solidFill>
                  <a:schemeClr val="tx1">
                    <a:lumMod val="50000"/>
                  </a:schemeClr>
                </a:solidFill>
                <a:latin typeface="华文中宋" panose="02010600040101010101" pitchFamily="2" charset="-122"/>
                <a:ea typeface="华文中宋" panose="02010600040101010101" pitchFamily="2" charset="-122"/>
              </a:rPr>
              <a:t>，也就是说每棵树训练出来都是有很大的差异的；</a:t>
            </a:r>
            <a:endParaRPr lang="en-US" altLang="zh-CN" sz="2800" dirty="0">
              <a:solidFill>
                <a:schemeClr val="tx1">
                  <a:lumMod val="50000"/>
                </a:schemeClr>
              </a:solidFill>
              <a:latin typeface="华文中宋" panose="02010600040101010101" pitchFamily="2" charset="-122"/>
              <a:ea typeface="华文中宋" panose="02010600040101010101" pitchFamily="2" charset="-122"/>
            </a:endParaRPr>
          </a:p>
          <a:p>
            <a:pPr marL="0" lvl="0" indent="0">
              <a:lnSpc>
                <a:spcPct val="150000"/>
              </a:lnSpc>
              <a:spcBef>
                <a:spcPct val="0"/>
              </a:spcBef>
              <a:spcAft>
                <a:spcPts val="1200"/>
              </a:spcAft>
              <a:buClrTx/>
              <a:buSzTx/>
              <a:buFontTx/>
              <a:buNone/>
            </a:pPr>
            <a:r>
              <a:rPr lang="zh-CN" altLang="en-US" sz="2800" dirty="0">
                <a:solidFill>
                  <a:schemeClr val="tx1">
                    <a:lumMod val="50000"/>
                  </a:schemeClr>
                </a:solidFill>
                <a:latin typeface="华文中宋" panose="02010600040101010101" pitchFamily="2" charset="-122"/>
                <a:ea typeface="华文中宋" panose="02010600040101010101" pitchFamily="2" charset="-122"/>
              </a:rPr>
              <a:t>而随机森林最后分类取决于多棵树（弱分类器）的投票表决，这种表决应该是</a:t>
            </a:r>
            <a:r>
              <a:rPr lang="en-US" altLang="zh-CN" sz="2800" dirty="0">
                <a:solidFill>
                  <a:schemeClr val="tx1">
                    <a:lumMod val="50000"/>
                  </a:schemeClr>
                </a:solidFill>
                <a:latin typeface="华文中宋" panose="02010600040101010101" pitchFamily="2" charset="-122"/>
                <a:ea typeface="华文中宋" panose="02010600040101010101" pitchFamily="2" charset="-122"/>
              </a:rPr>
              <a:t>"</a:t>
            </a:r>
            <a:r>
              <a:rPr lang="zh-CN" altLang="en-US" sz="2800" dirty="0">
                <a:solidFill>
                  <a:schemeClr val="tx1">
                    <a:lumMod val="50000"/>
                  </a:schemeClr>
                </a:solidFill>
                <a:latin typeface="华文中宋" panose="02010600040101010101" pitchFamily="2" charset="-122"/>
                <a:ea typeface="华文中宋" panose="02010600040101010101" pitchFamily="2" charset="-122"/>
              </a:rPr>
              <a:t>求同</a:t>
            </a:r>
            <a:r>
              <a:rPr lang="en-US" altLang="zh-CN" sz="2800" dirty="0">
                <a:solidFill>
                  <a:schemeClr val="tx1">
                    <a:lumMod val="50000"/>
                  </a:schemeClr>
                </a:solidFill>
                <a:latin typeface="华文中宋" panose="02010600040101010101" pitchFamily="2" charset="-122"/>
                <a:ea typeface="华文中宋" panose="02010600040101010101" pitchFamily="2" charset="-122"/>
              </a:rPr>
              <a:t>"</a:t>
            </a:r>
            <a:r>
              <a:rPr lang="zh-CN" altLang="en-US" sz="2800" dirty="0">
                <a:solidFill>
                  <a:schemeClr val="tx1">
                    <a:lumMod val="50000"/>
                  </a:schemeClr>
                </a:solidFill>
                <a:latin typeface="华文中宋" panose="02010600040101010101" pitchFamily="2" charset="-122"/>
                <a:ea typeface="华文中宋" panose="02010600040101010101" pitchFamily="2" charset="-122"/>
              </a:rPr>
              <a:t>，因此使用完全不同的训练集来训练每棵树这样对最终分类结果是没有帮助的。</a:t>
            </a:r>
            <a:endParaRPr lang="zh-CN" altLang="en-US" sz="2800" dirty="0">
              <a:solidFill>
                <a:schemeClr val="tx1">
                  <a:lumMod val="50000"/>
                </a:schemeClr>
              </a:solidFill>
              <a:latin typeface="华文中宋" panose="02010600040101010101" pitchFamily="2" charset="-122"/>
              <a:ea typeface="华文中宋" panose="02010600040101010101" pitchFamily="2" charset="-122"/>
            </a:endParaRPr>
          </a:p>
        </p:txBody>
      </p:sp>
      <p:sp>
        <p:nvSpPr>
          <p:cNvPr id="100" name="文本框 99"/>
          <p:cNvSpPr txBox="1"/>
          <p:nvPr>
            <p:custDataLst>
              <p:tags r:id="rId5"/>
            </p:custDataLst>
          </p:nvPr>
        </p:nvSpPr>
        <p:spPr>
          <a:xfrm>
            <a:off x="11711305" y="6486525"/>
            <a:ext cx="480695" cy="368300"/>
          </a:xfrm>
          <a:prstGeom prst="rect">
            <a:avLst/>
          </a:prstGeom>
          <a:noFill/>
          <a:ln w="9525">
            <a:noFill/>
          </a:ln>
        </p:spPr>
        <p:txBody>
          <a:bodyPr wrap="square">
            <a:spAutoFit/>
          </a:bodyPr>
          <a:p>
            <a:pPr indent="0"/>
            <a:r>
              <a:rPr lang="en-US" altLang="zh-CN" b="0">
                <a:ea typeface="宋体" panose="02010600030101010101" pitchFamily="2" charset="-122"/>
              </a:rPr>
              <a:t>81</a:t>
            </a:r>
            <a:endParaRPr lang="en-US" altLang="zh-CN" b="0">
              <a:ea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rot="21600000">
            <a:off x="126609" y="147616"/>
            <a:ext cx="2722051" cy="688004"/>
            <a:chOff x="0" y="0"/>
            <a:chExt cx="2722051" cy="688004"/>
          </a:xfrm>
        </p:grpSpPr>
        <p:pic>
          <p:nvPicPr>
            <p:cNvPr id="50" name="picture 50"/>
            <p:cNvPicPr>
              <a:picLocks noChangeAspect="1"/>
            </p:cNvPicPr>
            <p:nvPr/>
          </p:nvPicPr>
          <p:blipFill>
            <a:blip r:embed="rId1"/>
            <a:stretch>
              <a:fillRect/>
            </a:stretch>
          </p:blipFill>
          <p:spPr>
            <a:xfrm rot="21600000">
              <a:off x="0" y="29636"/>
              <a:ext cx="2696776" cy="658368"/>
            </a:xfrm>
            <a:prstGeom prst="rect">
              <a:avLst/>
            </a:prstGeom>
          </p:spPr>
        </p:pic>
        <p:sp>
          <p:nvSpPr>
            <p:cNvPr id="52" name="textbox 52"/>
            <p:cNvSpPr/>
            <p:nvPr/>
          </p:nvSpPr>
          <p:spPr>
            <a:xfrm>
              <a:off x="-12700" y="-12700"/>
              <a:ext cx="2747645" cy="808355"/>
            </a:xfrm>
            <a:prstGeom prst="rect">
              <a:avLst/>
            </a:prstGeom>
          </p:spPr>
          <p:txBody>
            <a:bodyPr vert="horz" wrap="square" lIns="0" tIns="0" rIns="0" bIns="0"/>
            <a:lstStyle/>
            <a:p>
              <a:pPr algn="l" rtl="0" eaLnBrk="0">
                <a:lnSpc>
                  <a:spcPct val="79000"/>
                </a:lnSpc>
              </a:pPr>
              <a:endParaRPr lang="en-US" altLang="en-US" sz="100" dirty="0"/>
            </a:p>
            <a:p>
              <a:pPr marL="17780" algn="l" rtl="0" eaLnBrk="0">
                <a:lnSpc>
                  <a:spcPct val="95000"/>
                </a:lnSpc>
              </a:pPr>
              <a:r>
                <a:rPr sz="5400" kern="0" spc="-50" dirty="0">
                  <a:solidFill>
                    <a:srgbClr val="5B9BD5">
                      <a:alpha val="100000"/>
                    </a:srgbClr>
                  </a:solidFill>
                  <a:latin typeface="宋体" panose="02010600030101010101" pitchFamily="2" charset="-122"/>
                  <a:ea typeface="宋体" panose="02010600030101010101" pitchFamily="2" charset="-122"/>
                  <a:cs typeface="宋体" panose="02010600030101010101" pitchFamily="2" charset="-122"/>
                </a:rPr>
                <a:t>集成算法</a:t>
              </a:r>
              <a:endParaRPr lang="en-US" altLang="en-US" sz="5400" dirty="0"/>
            </a:p>
          </p:txBody>
        </p:sp>
      </p:grpSp>
      <p:pic>
        <p:nvPicPr>
          <p:cNvPr id="62" name="picture 62"/>
          <p:cNvPicPr>
            <a:picLocks noChangeAspect="1"/>
          </p:cNvPicPr>
          <p:nvPr/>
        </p:nvPicPr>
        <p:blipFill>
          <a:blip r:embed="rId2"/>
          <a:stretch>
            <a:fillRect/>
          </a:stretch>
        </p:blipFill>
        <p:spPr>
          <a:xfrm rot="21600000">
            <a:off x="10668" y="981455"/>
            <a:ext cx="12181331" cy="45720"/>
          </a:xfrm>
          <a:prstGeom prst="rect">
            <a:avLst/>
          </a:prstGeom>
        </p:spPr>
      </p:pic>
      <p:sp>
        <p:nvSpPr>
          <p:cNvPr id="4" name="文本框 3"/>
          <p:cNvSpPr txBox="1"/>
          <p:nvPr/>
        </p:nvSpPr>
        <p:spPr>
          <a:xfrm>
            <a:off x="1052195" y="2051685"/>
            <a:ext cx="9038590" cy="3125470"/>
          </a:xfrm>
          <a:prstGeom prst="rect">
            <a:avLst/>
          </a:prstGeom>
          <a:noFill/>
        </p:spPr>
        <p:txBody>
          <a:bodyPr wrap="square" rtlCol="0" anchor="t">
            <a:noAutofit/>
          </a:bodyPr>
          <a:p>
            <a:pPr indent="0">
              <a:lnSpc>
                <a:spcPct val="100000"/>
              </a:lnSpc>
              <a:spcBef>
                <a:spcPct val="0"/>
              </a:spcBef>
              <a:spcAft>
                <a:spcPts val="2400"/>
              </a:spcAft>
              <a:buClrTx/>
              <a:buSzTx/>
              <a:buFontTx/>
              <a:buNone/>
            </a:pPr>
            <a:r>
              <a:rPr lang="zh-CN" altLang="en-US" sz="2800" dirty="0">
                <a:solidFill>
                  <a:srgbClr val="000000"/>
                </a:solidFill>
                <a:latin typeface="华文中宋" panose="02010600040101010101" pitchFamily="2" charset="-122"/>
                <a:ea typeface="华文中宋" panose="02010600040101010101" pitchFamily="2" charset="-122"/>
                <a:sym typeface="+mn-ea"/>
              </a:rPr>
              <a:t>随机森林分类效果（错误率）与两个因素有关：</a:t>
            </a:r>
            <a:endParaRPr lang="zh-CN" altLang="en-US" sz="2800" dirty="0">
              <a:solidFill>
                <a:srgbClr val="000000"/>
              </a:solidFill>
              <a:latin typeface="华文中宋" panose="02010600040101010101" pitchFamily="2" charset="-122"/>
              <a:ea typeface="华文中宋" panose="02010600040101010101" pitchFamily="2" charset="-122"/>
            </a:endParaRPr>
          </a:p>
          <a:p>
            <a:pPr indent="0">
              <a:lnSpc>
                <a:spcPct val="100000"/>
              </a:lnSpc>
              <a:spcBef>
                <a:spcPct val="0"/>
              </a:spcBef>
              <a:spcAft>
                <a:spcPts val="1200"/>
              </a:spcAft>
              <a:buClrTx/>
              <a:buSzTx/>
              <a:buFontTx/>
              <a:buNone/>
            </a:pPr>
            <a:r>
              <a:rPr lang="en-US" altLang="zh-CN" sz="2800" dirty="0">
                <a:solidFill>
                  <a:schemeClr val="tx1">
                    <a:lumMod val="50000"/>
                  </a:schemeClr>
                </a:solidFill>
                <a:latin typeface="华文中宋" panose="02010600040101010101" pitchFamily="2" charset="-122"/>
                <a:ea typeface="华文中宋" panose="02010600040101010101" pitchFamily="2" charset="-122"/>
                <a:sym typeface="+mn-ea"/>
              </a:rPr>
              <a:t>1.</a:t>
            </a:r>
            <a:r>
              <a:rPr lang="zh-CN" altLang="en-US" sz="2800" dirty="0">
                <a:solidFill>
                  <a:schemeClr val="tx1">
                    <a:lumMod val="50000"/>
                  </a:schemeClr>
                </a:solidFill>
                <a:latin typeface="华文中宋" panose="02010600040101010101" pitchFamily="2" charset="-122"/>
                <a:ea typeface="华文中宋" panose="02010600040101010101" pitchFamily="2" charset="-122"/>
                <a:sym typeface="+mn-ea"/>
              </a:rPr>
              <a:t>森林中任意两棵树的相关性：相关性越大，错误率越大；</a:t>
            </a:r>
            <a:endParaRPr lang="zh-CN" altLang="en-US" sz="2800" dirty="0">
              <a:solidFill>
                <a:schemeClr val="tx1">
                  <a:lumMod val="50000"/>
                </a:schemeClr>
              </a:solidFill>
              <a:latin typeface="华文中宋" panose="02010600040101010101" pitchFamily="2" charset="-122"/>
              <a:ea typeface="华文中宋" panose="02010600040101010101" pitchFamily="2" charset="-122"/>
            </a:endParaRPr>
          </a:p>
          <a:p>
            <a:pPr indent="0">
              <a:lnSpc>
                <a:spcPct val="100000"/>
              </a:lnSpc>
              <a:spcBef>
                <a:spcPct val="0"/>
              </a:spcBef>
              <a:spcAft>
                <a:spcPts val="1200"/>
              </a:spcAft>
              <a:buClrTx/>
              <a:buSzTx/>
              <a:buFontTx/>
              <a:buNone/>
            </a:pPr>
            <a:r>
              <a:rPr lang="en-US" altLang="zh-CN" sz="2800" dirty="0">
                <a:solidFill>
                  <a:schemeClr val="tx1">
                    <a:lumMod val="50000"/>
                  </a:schemeClr>
                </a:solidFill>
                <a:latin typeface="华文中宋" panose="02010600040101010101" pitchFamily="2" charset="-122"/>
                <a:ea typeface="华文中宋" panose="02010600040101010101" pitchFamily="2" charset="-122"/>
                <a:sym typeface="+mn-ea"/>
              </a:rPr>
              <a:t>2.</a:t>
            </a:r>
            <a:r>
              <a:rPr lang="zh-CN" altLang="en-US" sz="2800" dirty="0">
                <a:solidFill>
                  <a:schemeClr val="tx1">
                    <a:lumMod val="50000"/>
                  </a:schemeClr>
                </a:solidFill>
                <a:latin typeface="华文中宋" panose="02010600040101010101" pitchFamily="2" charset="-122"/>
                <a:ea typeface="华文中宋" panose="02010600040101010101" pitchFamily="2" charset="-122"/>
                <a:sym typeface="+mn-ea"/>
              </a:rPr>
              <a:t>森林中每棵树的分类能力：每棵树的分类能力越强，整个森林的错误率越低。</a:t>
            </a:r>
            <a:endParaRPr lang="en-US" altLang="zh-CN" sz="2800" dirty="0">
              <a:solidFill>
                <a:schemeClr val="tx1">
                  <a:lumMod val="50000"/>
                </a:schemeClr>
              </a:solidFill>
              <a:latin typeface="华文中宋" panose="02010600040101010101" pitchFamily="2" charset="-122"/>
              <a:ea typeface="华文中宋" panose="02010600040101010101" pitchFamily="2" charset="-122"/>
            </a:endParaRPr>
          </a:p>
          <a:p>
            <a:pPr indent="0">
              <a:lnSpc>
                <a:spcPct val="100000"/>
              </a:lnSpc>
              <a:spcBef>
                <a:spcPct val="0"/>
              </a:spcBef>
              <a:spcAft>
                <a:spcPts val="1200"/>
              </a:spcAft>
              <a:buClrTx/>
              <a:buSzTx/>
              <a:buFontTx/>
              <a:buNone/>
            </a:pPr>
            <a:endParaRPr lang="zh-CN" altLang="en-US" sz="2800" dirty="0">
              <a:solidFill>
                <a:srgbClr val="FF0000"/>
              </a:solidFill>
              <a:latin typeface="华文中宋" panose="02010600040101010101" pitchFamily="2" charset="-122"/>
              <a:ea typeface="华文中宋" panose="02010600040101010101" pitchFamily="2" charset="-122"/>
            </a:endParaRPr>
          </a:p>
          <a:p>
            <a:pPr indent="0">
              <a:lnSpc>
                <a:spcPct val="100000"/>
              </a:lnSpc>
              <a:spcBef>
                <a:spcPct val="0"/>
              </a:spcBef>
              <a:spcAft>
                <a:spcPts val="1200"/>
              </a:spcAft>
              <a:buClrTx/>
              <a:buSzTx/>
              <a:buFontTx/>
              <a:buNone/>
            </a:pPr>
            <a:endParaRPr lang="zh-CN" altLang="en-US" sz="2800" dirty="0">
              <a:solidFill>
                <a:srgbClr val="000000"/>
              </a:solidFill>
              <a:latin typeface="华文中宋" panose="02010600040101010101" pitchFamily="2" charset="-122"/>
              <a:ea typeface="华文中宋" panose="02010600040101010101" pitchFamily="2" charset="-122"/>
              <a:sym typeface="+mn-ea"/>
            </a:endParaRPr>
          </a:p>
        </p:txBody>
      </p:sp>
      <p:sp>
        <p:nvSpPr>
          <p:cNvPr id="100" name="文本框 99"/>
          <p:cNvSpPr txBox="1"/>
          <p:nvPr/>
        </p:nvSpPr>
        <p:spPr>
          <a:xfrm>
            <a:off x="11710035" y="6489700"/>
            <a:ext cx="481965" cy="368300"/>
          </a:xfrm>
          <a:prstGeom prst="rect">
            <a:avLst/>
          </a:prstGeom>
          <a:noFill/>
          <a:ln w="9525">
            <a:noFill/>
          </a:ln>
        </p:spPr>
        <p:txBody>
          <a:bodyPr wrap="square">
            <a:spAutoFit/>
          </a:bodyPr>
          <a:p>
            <a:pPr indent="0"/>
            <a:r>
              <a:rPr lang="en-US" altLang="zh-CN" b="0">
                <a:ea typeface="宋体" panose="02010600030101010101" pitchFamily="2" charset="-122"/>
              </a:rPr>
              <a:t>82</a:t>
            </a:r>
            <a:endParaRPr lang="en-US" altLang="zh-CN" b="0">
              <a:ea typeface="宋体" panose="02010600030101010101" pitchFamily="2"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在地上&#10;&#10;低可信度描述已自动生成"/>
          <p:cNvPicPr>
            <a:picLocks noChangeAspect="1"/>
          </p:cNvPicPr>
          <p:nvPr/>
        </p:nvPicPr>
        <p:blipFill>
          <a:blip r:embed="rId1">
            <a:extLst>
              <a:ext uri="{28A0092B-C50C-407E-A947-70E740481C1C}">
                <a14:useLocalDpi xmlns:a14="http://schemas.microsoft.com/office/drawing/2010/main" val="0"/>
              </a:ext>
            </a:extLst>
          </a:blip>
          <a:srcRect t="18750" b="1684"/>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0" name="弧形 9"/>
          <p:cNvSpPr/>
          <p:nvPr/>
        </p:nvSpPr>
        <p:spPr>
          <a:xfrm rot="11787073">
            <a:off x="4577890" y="1598540"/>
            <a:ext cx="2989788" cy="2989788"/>
          </a:xfrm>
          <a:prstGeom prst="arc">
            <a:avLst>
              <a:gd name="adj1" fmla="val 12330940"/>
              <a:gd name="adj2" fmla="val 19688861"/>
            </a:avLst>
          </a:prstGeom>
          <a:ln w="19050" cap="rnd">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弧形 4"/>
          <p:cNvSpPr/>
          <p:nvPr/>
        </p:nvSpPr>
        <p:spPr>
          <a:xfrm rot="11787073">
            <a:off x="4577892" y="1598539"/>
            <a:ext cx="2989788" cy="2989788"/>
          </a:xfrm>
          <a:prstGeom prst="arc">
            <a:avLst>
              <a:gd name="adj1" fmla="val 20591728"/>
              <a:gd name="adj2" fmla="val 10152336"/>
            </a:avLst>
          </a:prstGeom>
          <a:ln w="19050" cap="rnd">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8" name="图片 17" descr="背景图案&#10;&#10;描述已自动生成"/>
          <p:cNvPicPr>
            <a:picLocks noChangeAspect="1"/>
          </p:cNvPicPr>
          <p:nvPr/>
        </p:nvPicPr>
        <p:blipFill>
          <a:blip r:embed="rId2">
            <a:alphaModFix amt="70000"/>
            <a:biLevel thresh="75000"/>
            <a:extLst>
              <a:ext uri="{28A0092B-C50C-407E-A947-70E740481C1C}">
                <a14:useLocalDpi xmlns:a14="http://schemas.microsoft.com/office/drawing/2010/main" val="0"/>
              </a:ext>
            </a:extLst>
          </a:blip>
          <a:srcRect l="1243" t="32957" b="27587"/>
          <a:stretch>
            <a:fillRect/>
          </a:stretch>
        </p:blipFill>
        <p:spPr>
          <a:xfrm flipH="1">
            <a:off x="4065446" y="3093433"/>
            <a:ext cx="943656" cy="323045"/>
          </a:xfrm>
          <a:custGeom>
            <a:avLst/>
            <a:gdLst>
              <a:gd name="connsiteX0" fmla="*/ 1007268 w 1007268"/>
              <a:gd name="connsiteY0" fmla="*/ 182603 h 402431"/>
              <a:gd name="connsiteX1" fmla="*/ 1007268 w 1007268"/>
              <a:gd name="connsiteY1" fmla="*/ 366343 h 402431"/>
              <a:gd name="connsiteX2" fmla="*/ 845343 w 1007268"/>
              <a:gd name="connsiteY2" fmla="*/ 335756 h 402431"/>
              <a:gd name="connsiteX3" fmla="*/ 802481 w 1007268"/>
              <a:gd name="connsiteY3" fmla="*/ 352425 h 402431"/>
              <a:gd name="connsiteX4" fmla="*/ 692943 w 1007268"/>
              <a:gd name="connsiteY4" fmla="*/ 402431 h 402431"/>
              <a:gd name="connsiteX5" fmla="*/ 647700 w 1007268"/>
              <a:gd name="connsiteY5" fmla="*/ 397669 h 402431"/>
              <a:gd name="connsiteX6" fmla="*/ 581025 w 1007268"/>
              <a:gd name="connsiteY6" fmla="*/ 359569 h 402431"/>
              <a:gd name="connsiteX7" fmla="*/ 504825 w 1007268"/>
              <a:gd name="connsiteY7" fmla="*/ 340519 h 402431"/>
              <a:gd name="connsiteX8" fmla="*/ 431006 w 1007268"/>
              <a:gd name="connsiteY8" fmla="*/ 369094 h 402431"/>
              <a:gd name="connsiteX9" fmla="*/ 347662 w 1007268"/>
              <a:gd name="connsiteY9" fmla="*/ 400050 h 402431"/>
              <a:gd name="connsiteX10" fmla="*/ 280987 w 1007268"/>
              <a:gd name="connsiteY10" fmla="*/ 376238 h 402431"/>
              <a:gd name="connsiteX11" fmla="*/ 197643 w 1007268"/>
              <a:gd name="connsiteY11" fmla="*/ 335756 h 402431"/>
              <a:gd name="connsiteX12" fmla="*/ 76200 w 1007268"/>
              <a:gd name="connsiteY12" fmla="*/ 361950 h 402431"/>
              <a:gd name="connsiteX13" fmla="*/ 0 w 1007268"/>
              <a:gd name="connsiteY13" fmla="*/ 147638 h 402431"/>
              <a:gd name="connsiteX14" fmla="*/ 11906 w 1007268"/>
              <a:gd name="connsiteY14" fmla="*/ 69056 h 402431"/>
              <a:gd name="connsiteX15" fmla="*/ 38100 w 1007268"/>
              <a:gd name="connsiteY15" fmla="*/ 61913 h 402431"/>
              <a:gd name="connsiteX16" fmla="*/ 335756 w 1007268"/>
              <a:gd name="connsiteY16" fmla="*/ 0 h 402431"/>
              <a:gd name="connsiteX17" fmla="*/ 404812 w 1007268"/>
              <a:gd name="connsiteY17" fmla="*/ 0 h 402431"/>
              <a:gd name="connsiteX18" fmla="*/ 802481 w 1007268"/>
              <a:gd name="connsiteY18" fmla="*/ 2381 h 402431"/>
              <a:gd name="connsiteX19" fmla="*/ 821531 w 1007268"/>
              <a:gd name="connsiteY19" fmla="*/ 16669 h 402431"/>
              <a:gd name="connsiteX20" fmla="*/ 964406 w 1007268"/>
              <a:gd name="connsiteY20" fmla="*/ 66675 h 402431"/>
              <a:gd name="connsiteX21" fmla="*/ 983456 w 1007268"/>
              <a:gd name="connsiteY21" fmla="*/ 95250 h 402431"/>
              <a:gd name="connsiteX22" fmla="*/ 985837 w 1007268"/>
              <a:gd name="connsiteY22" fmla="*/ 104775 h 40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7268" h="402431">
                <a:moveTo>
                  <a:pt x="1007268" y="182603"/>
                </a:moveTo>
                <a:lnTo>
                  <a:pt x="1007268" y="366343"/>
                </a:lnTo>
                <a:lnTo>
                  <a:pt x="845343" y="335756"/>
                </a:lnTo>
                <a:lnTo>
                  <a:pt x="802481" y="352425"/>
                </a:lnTo>
                <a:lnTo>
                  <a:pt x="692943" y="402431"/>
                </a:lnTo>
                <a:lnTo>
                  <a:pt x="647700" y="397669"/>
                </a:lnTo>
                <a:lnTo>
                  <a:pt x="581025" y="359569"/>
                </a:lnTo>
                <a:lnTo>
                  <a:pt x="504825" y="340519"/>
                </a:lnTo>
                <a:lnTo>
                  <a:pt x="431006" y="369094"/>
                </a:lnTo>
                <a:lnTo>
                  <a:pt x="347662" y="400050"/>
                </a:lnTo>
                <a:lnTo>
                  <a:pt x="280987" y="376238"/>
                </a:lnTo>
                <a:lnTo>
                  <a:pt x="197643" y="335756"/>
                </a:lnTo>
                <a:lnTo>
                  <a:pt x="76200" y="361950"/>
                </a:lnTo>
                <a:lnTo>
                  <a:pt x="0" y="147638"/>
                </a:lnTo>
                <a:lnTo>
                  <a:pt x="11906" y="69056"/>
                </a:lnTo>
                <a:lnTo>
                  <a:pt x="38100" y="61913"/>
                </a:lnTo>
                <a:lnTo>
                  <a:pt x="335756" y="0"/>
                </a:lnTo>
                <a:lnTo>
                  <a:pt x="404812" y="0"/>
                </a:lnTo>
                <a:cubicBezTo>
                  <a:pt x="537368" y="794"/>
                  <a:pt x="669925" y="1587"/>
                  <a:pt x="802481" y="2381"/>
                </a:cubicBezTo>
                <a:lnTo>
                  <a:pt x="821531" y="16669"/>
                </a:lnTo>
                <a:lnTo>
                  <a:pt x="964406" y="66675"/>
                </a:lnTo>
                <a:cubicBezTo>
                  <a:pt x="970756" y="76200"/>
                  <a:pt x="977844" y="85273"/>
                  <a:pt x="983456" y="95250"/>
                </a:cubicBezTo>
                <a:cubicBezTo>
                  <a:pt x="985060" y="98102"/>
                  <a:pt x="985837" y="104775"/>
                  <a:pt x="985837" y="104775"/>
                </a:cubicBezTo>
                <a:close/>
              </a:path>
            </a:pathLst>
          </a:custGeom>
        </p:spPr>
      </p:pic>
      <p:pic>
        <p:nvPicPr>
          <p:cNvPr id="20" name="图片 19" descr="文本&#10;&#10;描述已自动生成"/>
          <p:cNvPicPr>
            <a:picLocks noChangeAspect="1"/>
          </p:cNvPicPr>
          <p:nvPr/>
        </p:nvPicPr>
        <p:blipFill>
          <a:blip r:embed="rId3" cstate="print">
            <a:biLevel thresh="75000"/>
            <a:extLst>
              <a:ext uri="{28A0092B-C50C-407E-A947-70E740481C1C}">
                <a14:useLocalDpi xmlns:a14="http://schemas.microsoft.com/office/drawing/2010/main" val="0"/>
              </a:ext>
            </a:extLst>
          </a:blip>
          <a:srcRect l="11905" t="6984" b="50053"/>
          <a:stretch>
            <a:fillRect/>
          </a:stretch>
        </p:blipFill>
        <p:spPr>
          <a:xfrm>
            <a:off x="2457509" y="3828809"/>
            <a:ext cx="2052504" cy="1000981"/>
          </a:xfrm>
          <a:custGeom>
            <a:avLst/>
            <a:gdLst>
              <a:gd name="connsiteX0" fmla="*/ 4905828 w 6041571"/>
              <a:gd name="connsiteY0" fmla="*/ 0 h 2946400"/>
              <a:gd name="connsiteX1" fmla="*/ 6041571 w 6041571"/>
              <a:gd name="connsiteY1" fmla="*/ 817181 h 2946400"/>
              <a:gd name="connsiteX2" fmla="*/ 6041571 w 6041571"/>
              <a:gd name="connsiteY2" fmla="*/ 1266653 h 2946400"/>
              <a:gd name="connsiteX3" fmla="*/ 5907314 w 6041571"/>
              <a:gd name="connsiteY3" fmla="*/ 2278743 h 2946400"/>
              <a:gd name="connsiteX4" fmla="*/ 4920342 w 6041571"/>
              <a:gd name="connsiteY4" fmla="*/ 2627086 h 2946400"/>
              <a:gd name="connsiteX5" fmla="*/ 3439885 w 6041571"/>
              <a:gd name="connsiteY5" fmla="*/ 2946400 h 2946400"/>
              <a:gd name="connsiteX6" fmla="*/ 2206171 w 6041571"/>
              <a:gd name="connsiteY6" fmla="*/ 2481943 h 2946400"/>
              <a:gd name="connsiteX7" fmla="*/ 1480457 w 6041571"/>
              <a:gd name="connsiteY7" fmla="*/ 1756229 h 2946400"/>
              <a:gd name="connsiteX8" fmla="*/ 740228 w 6041571"/>
              <a:gd name="connsiteY8" fmla="*/ 1175658 h 2946400"/>
              <a:gd name="connsiteX9" fmla="*/ 0 w 6041571"/>
              <a:gd name="connsiteY9" fmla="*/ 580572 h 2946400"/>
              <a:gd name="connsiteX10" fmla="*/ 246742 w 6041571"/>
              <a:gd name="connsiteY10" fmla="*/ 72572 h 2946400"/>
              <a:gd name="connsiteX11" fmla="*/ 870857 w 6041571"/>
              <a:gd name="connsiteY11" fmla="*/ 203200 h 2946400"/>
              <a:gd name="connsiteX12" fmla="*/ 696685 w 6041571"/>
              <a:gd name="connsiteY12" fmla="*/ 798286 h 2946400"/>
              <a:gd name="connsiteX13" fmla="*/ 2960914 w 6041571"/>
              <a:gd name="connsiteY13" fmla="*/ 58058 h 2946400"/>
              <a:gd name="connsiteX14" fmla="*/ 4905828 w 6041571"/>
              <a:gd name="connsiteY14" fmla="*/ 0 h 29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571" h="2946400">
                <a:moveTo>
                  <a:pt x="4905828" y="0"/>
                </a:moveTo>
                <a:lnTo>
                  <a:pt x="6041571" y="817181"/>
                </a:lnTo>
                <a:lnTo>
                  <a:pt x="6041571" y="1266653"/>
                </a:lnTo>
                <a:lnTo>
                  <a:pt x="5907314" y="2278743"/>
                </a:lnTo>
                <a:lnTo>
                  <a:pt x="4920342" y="2627086"/>
                </a:lnTo>
                <a:lnTo>
                  <a:pt x="3439885" y="2946400"/>
                </a:lnTo>
                <a:lnTo>
                  <a:pt x="2206171" y="2481943"/>
                </a:lnTo>
                <a:lnTo>
                  <a:pt x="1480457" y="1756229"/>
                </a:lnTo>
                <a:lnTo>
                  <a:pt x="740228" y="1175658"/>
                </a:lnTo>
                <a:lnTo>
                  <a:pt x="0" y="580572"/>
                </a:lnTo>
                <a:lnTo>
                  <a:pt x="246742" y="72572"/>
                </a:lnTo>
                <a:lnTo>
                  <a:pt x="870857" y="203200"/>
                </a:lnTo>
                <a:lnTo>
                  <a:pt x="696685" y="798286"/>
                </a:lnTo>
                <a:lnTo>
                  <a:pt x="2960914" y="58058"/>
                </a:lnTo>
                <a:lnTo>
                  <a:pt x="4905828" y="0"/>
                </a:lnTo>
                <a:close/>
              </a:path>
            </a:pathLst>
          </a:custGeom>
        </p:spPr>
      </p:pic>
      <p:pic>
        <p:nvPicPr>
          <p:cNvPr id="21" name="图片 20" descr="文本&#10;&#10;描述已自动生成"/>
          <p:cNvPicPr>
            <a:picLocks noChangeAspect="1"/>
          </p:cNvPicPr>
          <p:nvPr/>
        </p:nvPicPr>
        <p:blipFill>
          <a:blip r:embed="rId3" cstate="print">
            <a:biLevel thresh="75000"/>
            <a:extLst>
              <a:ext uri="{28A0092B-C50C-407E-A947-70E740481C1C}">
                <a14:useLocalDpi xmlns:a14="http://schemas.microsoft.com/office/drawing/2010/main" val="0"/>
              </a:ext>
            </a:extLst>
          </a:blip>
          <a:srcRect l="11905" t="6984" b="50053"/>
          <a:stretch>
            <a:fillRect/>
          </a:stretch>
        </p:blipFill>
        <p:spPr>
          <a:xfrm flipH="1">
            <a:off x="7559123" y="1656948"/>
            <a:ext cx="2052504" cy="1000981"/>
          </a:xfrm>
          <a:custGeom>
            <a:avLst/>
            <a:gdLst>
              <a:gd name="connsiteX0" fmla="*/ 4905828 w 6041571"/>
              <a:gd name="connsiteY0" fmla="*/ 0 h 2946400"/>
              <a:gd name="connsiteX1" fmla="*/ 6041571 w 6041571"/>
              <a:gd name="connsiteY1" fmla="*/ 817181 h 2946400"/>
              <a:gd name="connsiteX2" fmla="*/ 6041571 w 6041571"/>
              <a:gd name="connsiteY2" fmla="*/ 1266653 h 2946400"/>
              <a:gd name="connsiteX3" fmla="*/ 5907314 w 6041571"/>
              <a:gd name="connsiteY3" fmla="*/ 2278743 h 2946400"/>
              <a:gd name="connsiteX4" fmla="*/ 4920342 w 6041571"/>
              <a:gd name="connsiteY4" fmla="*/ 2627086 h 2946400"/>
              <a:gd name="connsiteX5" fmla="*/ 3439885 w 6041571"/>
              <a:gd name="connsiteY5" fmla="*/ 2946400 h 2946400"/>
              <a:gd name="connsiteX6" fmla="*/ 2206171 w 6041571"/>
              <a:gd name="connsiteY6" fmla="*/ 2481943 h 2946400"/>
              <a:gd name="connsiteX7" fmla="*/ 1480457 w 6041571"/>
              <a:gd name="connsiteY7" fmla="*/ 1756229 h 2946400"/>
              <a:gd name="connsiteX8" fmla="*/ 740228 w 6041571"/>
              <a:gd name="connsiteY8" fmla="*/ 1175658 h 2946400"/>
              <a:gd name="connsiteX9" fmla="*/ 0 w 6041571"/>
              <a:gd name="connsiteY9" fmla="*/ 580572 h 2946400"/>
              <a:gd name="connsiteX10" fmla="*/ 246742 w 6041571"/>
              <a:gd name="connsiteY10" fmla="*/ 72572 h 2946400"/>
              <a:gd name="connsiteX11" fmla="*/ 870857 w 6041571"/>
              <a:gd name="connsiteY11" fmla="*/ 203200 h 2946400"/>
              <a:gd name="connsiteX12" fmla="*/ 696685 w 6041571"/>
              <a:gd name="connsiteY12" fmla="*/ 798286 h 2946400"/>
              <a:gd name="connsiteX13" fmla="*/ 2960914 w 6041571"/>
              <a:gd name="connsiteY13" fmla="*/ 58058 h 2946400"/>
              <a:gd name="connsiteX14" fmla="*/ 4905828 w 6041571"/>
              <a:gd name="connsiteY14" fmla="*/ 0 h 29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041571" h="2946400">
                <a:moveTo>
                  <a:pt x="4905828" y="0"/>
                </a:moveTo>
                <a:lnTo>
                  <a:pt x="6041571" y="817181"/>
                </a:lnTo>
                <a:lnTo>
                  <a:pt x="6041571" y="1266653"/>
                </a:lnTo>
                <a:lnTo>
                  <a:pt x="5907314" y="2278743"/>
                </a:lnTo>
                <a:lnTo>
                  <a:pt x="4920342" y="2627086"/>
                </a:lnTo>
                <a:lnTo>
                  <a:pt x="3439885" y="2946400"/>
                </a:lnTo>
                <a:lnTo>
                  <a:pt x="2206171" y="2481943"/>
                </a:lnTo>
                <a:lnTo>
                  <a:pt x="1480457" y="1756229"/>
                </a:lnTo>
                <a:lnTo>
                  <a:pt x="740228" y="1175658"/>
                </a:lnTo>
                <a:lnTo>
                  <a:pt x="0" y="580572"/>
                </a:lnTo>
                <a:lnTo>
                  <a:pt x="246742" y="72572"/>
                </a:lnTo>
                <a:lnTo>
                  <a:pt x="870857" y="203200"/>
                </a:lnTo>
                <a:lnTo>
                  <a:pt x="696685" y="798286"/>
                </a:lnTo>
                <a:lnTo>
                  <a:pt x="2960914" y="58058"/>
                </a:lnTo>
                <a:lnTo>
                  <a:pt x="4905828" y="0"/>
                </a:lnTo>
                <a:close/>
              </a:path>
            </a:pathLst>
          </a:custGeom>
        </p:spPr>
      </p:pic>
      <p:sp>
        <p:nvSpPr>
          <p:cNvPr id="22" name="椭圆 21"/>
          <p:cNvSpPr/>
          <p:nvPr/>
        </p:nvSpPr>
        <p:spPr>
          <a:xfrm>
            <a:off x="1635363" y="1156457"/>
            <a:ext cx="1000981" cy="1000981"/>
          </a:xfrm>
          <a:prstGeom prst="ellipse">
            <a:avLst/>
          </a:prstGeom>
          <a:gradFill>
            <a:gsLst>
              <a:gs pos="0">
                <a:srgbClr val="F6661E">
                  <a:alpha val="90000"/>
                </a:srgbClr>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p:cNvPicPr>
            <a:picLocks noChangeAspect="1"/>
          </p:cNvPicPr>
          <p:nvPr/>
        </p:nvPicPr>
        <p:blipFill>
          <a:blip r:embed="rId4"/>
          <a:srcRect/>
          <a:stretch>
            <a:fillRect/>
          </a:stretch>
        </p:blipFill>
        <p:spPr>
          <a:xfrm>
            <a:off x="5006069" y="3629872"/>
            <a:ext cx="379981" cy="370575"/>
          </a:xfrm>
          <a:custGeom>
            <a:avLst/>
            <a:gdLst/>
            <a:ahLst/>
            <a:cxnLst/>
            <a:rect l="l" t="t" r="r" b="b"/>
            <a:pathLst>
              <a:path w="962025" h="938212">
                <a:moveTo>
                  <a:pt x="225114" y="726149"/>
                </a:moveTo>
                <a:cubicBezTo>
                  <a:pt x="225864" y="726949"/>
                  <a:pt x="224737" y="729852"/>
                  <a:pt x="221733" y="734857"/>
                </a:cubicBezTo>
                <a:cubicBezTo>
                  <a:pt x="218729" y="739863"/>
                  <a:pt x="215102" y="744116"/>
                  <a:pt x="210852" y="747616"/>
                </a:cubicBezTo>
                <a:cubicBezTo>
                  <a:pt x="208269" y="751503"/>
                  <a:pt x="206097" y="752285"/>
                  <a:pt x="204337" y="749960"/>
                </a:cubicBezTo>
                <a:cubicBezTo>
                  <a:pt x="202577" y="747635"/>
                  <a:pt x="202738" y="745168"/>
                  <a:pt x="204821" y="742560"/>
                </a:cubicBezTo>
                <a:cubicBezTo>
                  <a:pt x="207800" y="739577"/>
                  <a:pt x="210871" y="736757"/>
                  <a:pt x="214033" y="734101"/>
                </a:cubicBezTo>
                <a:cubicBezTo>
                  <a:pt x="217195" y="731445"/>
                  <a:pt x="220666" y="729171"/>
                  <a:pt x="224445" y="727280"/>
                </a:cubicBezTo>
                <a:close/>
                <a:moveTo>
                  <a:pt x="677643" y="721703"/>
                </a:moveTo>
                <a:lnTo>
                  <a:pt x="676858" y="725121"/>
                </a:lnTo>
                <a:cubicBezTo>
                  <a:pt x="675814" y="727307"/>
                  <a:pt x="674127" y="729930"/>
                  <a:pt x="671797" y="732989"/>
                </a:cubicBezTo>
                <a:cubicBezTo>
                  <a:pt x="667137" y="739107"/>
                  <a:pt x="661651" y="743741"/>
                  <a:pt x="655339" y="746891"/>
                </a:cubicBezTo>
                <a:cubicBezTo>
                  <a:pt x="653251" y="749953"/>
                  <a:pt x="651697" y="750305"/>
                  <a:pt x="650676" y="747947"/>
                </a:cubicBezTo>
                <a:cubicBezTo>
                  <a:pt x="649656" y="745589"/>
                  <a:pt x="649899" y="743550"/>
                  <a:pt x="651408" y="741829"/>
                </a:cubicBezTo>
                <a:cubicBezTo>
                  <a:pt x="655899" y="737096"/>
                  <a:pt x="660135" y="733280"/>
                  <a:pt x="664116" y="730383"/>
                </a:cubicBezTo>
                <a:close/>
                <a:moveTo>
                  <a:pt x="246961" y="678565"/>
                </a:moveTo>
                <a:lnTo>
                  <a:pt x="246145" y="680962"/>
                </a:lnTo>
                <a:cubicBezTo>
                  <a:pt x="245817" y="682934"/>
                  <a:pt x="245719" y="685243"/>
                  <a:pt x="245850" y="687888"/>
                </a:cubicBezTo>
                <a:cubicBezTo>
                  <a:pt x="245850" y="690726"/>
                  <a:pt x="246254" y="693660"/>
                  <a:pt x="247062" y="696691"/>
                </a:cubicBezTo>
                <a:cubicBezTo>
                  <a:pt x="247871" y="699722"/>
                  <a:pt x="251427" y="701438"/>
                  <a:pt x="257731" y="701838"/>
                </a:cubicBezTo>
                <a:cubicBezTo>
                  <a:pt x="260093" y="700792"/>
                  <a:pt x="261875" y="700322"/>
                  <a:pt x="263077" y="700428"/>
                </a:cubicBezTo>
                <a:cubicBezTo>
                  <a:pt x="264279" y="700535"/>
                  <a:pt x="265747" y="701194"/>
                  <a:pt x="267480" y="702406"/>
                </a:cubicBezTo>
                <a:cubicBezTo>
                  <a:pt x="273634" y="707818"/>
                  <a:pt x="279719" y="712998"/>
                  <a:pt x="285735" y="717946"/>
                </a:cubicBezTo>
                <a:cubicBezTo>
                  <a:pt x="291751" y="722894"/>
                  <a:pt x="297809" y="728288"/>
                  <a:pt x="303909" y="734129"/>
                </a:cubicBezTo>
                <a:cubicBezTo>
                  <a:pt x="305201" y="735708"/>
                  <a:pt x="305604" y="737010"/>
                  <a:pt x="305118" y="738035"/>
                </a:cubicBezTo>
                <a:cubicBezTo>
                  <a:pt x="304633" y="739060"/>
                  <a:pt x="303438" y="740523"/>
                  <a:pt x="301534" y="742423"/>
                </a:cubicBezTo>
                <a:cubicBezTo>
                  <a:pt x="292014" y="752972"/>
                  <a:pt x="283080" y="759555"/>
                  <a:pt x="274733" y="762171"/>
                </a:cubicBezTo>
                <a:lnTo>
                  <a:pt x="262446" y="764567"/>
                </a:lnTo>
                <a:lnTo>
                  <a:pt x="264728" y="758861"/>
                </a:lnTo>
                <a:cubicBezTo>
                  <a:pt x="264554" y="755993"/>
                  <a:pt x="263299" y="752530"/>
                  <a:pt x="260962" y="748472"/>
                </a:cubicBezTo>
                <a:cubicBezTo>
                  <a:pt x="258316" y="746818"/>
                  <a:pt x="257275" y="744951"/>
                  <a:pt x="257840" y="742869"/>
                </a:cubicBezTo>
                <a:cubicBezTo>
                  <a:pt x="258404" y="740788"/>
                  <a:pt x="259464" y="738579"/>
                  <a:pt x="261018" y="736242"/>
                </a:cubicBezTo>
                <a:cubicBezTo>
                  <a:pt x="266701" y="727446"/>
                  <a:pt x="267498" y="719601"/>
                  <a:pt x="263408" y="712706"/>
                </a:cubicBezTo>
                <a:cubicBezTo>
                  <a:pt x="259319" y="705810"/>
                  <a:pt x="252518" y="701915"/>
                  <a:pt x="243006" y="701019"/>
                </a:cubicBezTo>
                <a:cubicBezTo>
                  <a:pt x="239677" y="699915"/>
                  <a:pt x="236415" y="698703"/>
                  <a:pt x="233220" y="697385"/>
                </a:cubicBezTo>
                <a:cubicBezTo>
                  <a:pt x="230024" y="696066"/>
                  <a:pt x="225345" y="698688"/>
                  <a:pt x="219183" y="705250"/>
                </a:cubicBezTo>
                <a:cubicBezTo>
                  <a:pt x="215121" y="707712"/>
                  <a:pt x="210820" y="709863"/>
                  <a:pt x="206281" y="711703"/>
                </a:cubicBezTo>
                <a:lnTo>
                  <a:pt x="203732" y="712898"/>
                </a:lnTo>
                <a:lnTo>
                  <a:pt x="208277" y="707814"/>
                </a:lnTo>
                <a:cubicBezTo>
                  <a:pt x="212596" y="703680"/>
                  <a:pt x="217160" y="699967"/>
                  <a:pt x="221970" y="696675"/>
                </a:cubicBezTo>
                <a:close/>
                <a:moveTo>
                  <a:pt x="329976" y="678308"/>
                </a:moveTo>
                <a:cubicBezTo>
                  <a:pt x="330622" y="678812"/>
                  <a:pt x="329398" y="682329"/>
                  <a:pt x="326304" y="688860"/>
                </a:cubicBezTo>
                <a:cubicBezTo>
                  <a:pt x="323211" y="695391"/>
                  <a:pt x="321010" y="700883"/>
                  <a:pt x="319702" y="705337"/>
                </a:cubicBezTo>
                <a:cubicBezTo>
                  <a:pt x="319298" y="706279"/>
                  <a:pt x="319130" y="706951"/>
                  <a:pt x="319199" y="707353"/>
                </a:cubicBezTo>
                <a:cubicBezTo>
                  <a:pt x="319267" y="707755"/>
                  <a:pt x="319300" y="707493"/>
                  <a:pt x="319295" y="706569"/>
                </a:cubicBezTo>
                <a:cubicBezTo>
                  <a:pt x="316512" y="704248"/>
                  <a:pt x="313761" y="701727"/>
                  <a:pt x="311043" y="699007"/>
                </a:cubicBezTo>
                <a:cubicBezTo>
                  <a:pt x="308324" y="696286"/>
                  <a:pt x="306588" y="693986"/>
                  <a:pt x="305834" y="692107"/>
                </a:cubicBezTo>
                <a:cubicBezTo>
                  <a:pt x="305167" y="691569"/>
                  <a:pt x="305541" y="690703"/>
                  <a:pt x="306956" y="689507"/>
                </a:cubicBezTo>
                <a:cubicBezTo>
                  <a:pt x="308370" y="688311"/>
                  <a:pt x="309802" y="687351"/>
                  <a:pt x="311252" y="686626"/>
                </a:cubicBezTo>
                <a:close/>
                <a:moveTo>
                  <a:pt x="275011" y="602812"/>
                </a:moveTo>
                <a:cubicBezTo>
                  <a:pt x="274977" y="603204"/>
                  <a:pt x="275192" y="604771"/>
                  <a:pt x="275654" y="607512"/>
                </a:cubicBezTo>
                <a:lnTo>
                  <a:pt x="278004" y="622324"/>
                </a:lnTo>
                <a:cubicBezTo>
                  <a:pt x="280783" y="632836"/>
                  <a:pt x="286287" y="639696"/>
                  <a:pt x="294516" y="642904"/>
                </a:cubicBezTo>
                <a:cubicBezTo>
                  <a:pt x="302744" y="646112"/>
                  <a:pt x="311375" y="644910"/>
                  <a:pt x="320408" y="639298"/>
                </a:cubicBezTo>
                <a:cubicBezTo>
                  <a:pt x="321504" y="638831"/>
                  <a:pt x="323634" y="638099"/>
                  <a:pt x="326798" y="637101"/>
                </a:cubicBezTo>
                <a:lnTo>
                  <a:pt x="330815" y="634706"/>
                </a:lnTo>
                <a:lnTo>
                  <a:pt x="309462" y="655687"/>
                </a:lnTo>
                <a:cubicBezTo>
                  <a:pt x="303014" y="661881"/>
                  <a:pt x="296253" y="666231"/>
                  <a:pt x="289179" y="668740"/>
                </a:cubicBezTo>
                <a:cubicBezTo>
                  <a:pt x="286212" y="668740"/>
                  <a:pt x="283560" y="669221"/>
                  <a:pt x="281223" y="670183"/>
                </a:cubicBezTo>
                <a:cubicBezTo>
                  <a:pt x="278885" y="671146"/>
                  <a:pt x="276948" y="671723"/>
                  <a:pt x="275411" y="671914"/>
                </a:cubicBezTo>
                <a:lnTo>
                  <a:pt x="258980" y="671127"/>
                </a:lnTo>
                <a:lnTo>
                  <a:pt x="255574" y="672631"/>
                </a:lnTo>
                <a:lnTo>
                  <a:pt x="259088" y="666434"/>
                </a:lnTo>
                <a:cubicBezTo>
                  <a:pt x="259693" y="664225"/>
                  <a:pt x="259560" y="662175"/>
                  <a:pt x="258687" y="660287"/>
                </a:cubicBezTo>
                <a:cubicBezTo>
                  <a:pt x="256941" y="656510"/>
                  <a:pt x="253210" y="654622"/>
                  <a:pt x="247494" y="654622"/>
                </a:cubicBezTo>
                <a:cubicBezTo>
                  <a:pt x="240752" y="654622"/>
                  <a:pt x="234384" y="656364"/>
                  <a:pt x="228389" y="659850"/>
                </a:cubicBezTo>
                <a:cubicBezTo>
                  <a:pt x="222393" y="663335"/>
                  <a:pt x="216923" y="666558"/>
                  <a:pt x="211977" y="669521"/>
                </a:cubicBezTo>
                <a:lnTo>
                  <a:pt x="204323" y="673418"/>
                </a:lnTo>
                <a:lnTo>
                  <a:pt x="219302" y="663659"/>
                </a:lnTo>
                <a:cubicBezTo>
                  <a:pt x="223143" y="659567"/>
                  <a:pt x="231228" y="654386"/>
                  <a:pt x="243556" y="648116"/>
                </a:cubicBezTo>
                <a:cubicBezTo>
                  <a:pt x="247548" y="642825"/>
                  <a:pt x="248371" y="638076"/>
                  <a:pt x="246025" y="633870"/>
                </a:cubicBezTo>
                <a:cubicBezTo>
                  <a:pt x="244852" y="631767"/>
                  <a:pt x="243073" y="630230"/>
                  <a:pt x="240686" y="629260"/>
                </a:cubicBezTo>
                <a:lnTo>
                  <a:pt x="234276" y="628395"/>
                </a:lnTo>
                <a:lnTo>
                  <a:pt x="250712" y="617133"/>
                </a:lnTo>
                <a:cubicBezTo>
                  <a:pt x="258316" y="612494"/>
                  <a:pt x="265818" y="608264"/>
                  <a:pt x="273217" y="604444"/>
                </a:cubicBezTo>
                <a:cubicBezTo>
                  <a:pt x="274446" y="602964"/>
                  <a:pt x="275044" y="602421"/>
                  <a:pt x="275011" y="602812"/>
                </a:cubicBezTo>
                <a:close/>
                <a:moveTo>
                  <a:pt x="223826" y="518224"/>
                </a:moveTo>
                <a:cubicBezTo>
                  <a:pt x="217806" y="517911"/>
                  <a:pt x="212087" y="519778"/>
                  <a:pt x="206671" y="523823"/>
                </a:cubicBezTo>
                <a:cubicBezTo>
                  <a:pt x="200372" y="524540"/>
                  <a:pt x="197298" y="526918"/>
                  <a:pt x="197450" y="530957"/>
                </a:cubicBezTo>
                <a:cubicBezTo>
                  <a:pt x="197602" y="534997"/>
                  <a:pt x="199540" y="539406"/>
                  <a:pt x="203265" y="544185"/>
                </a:cubicBezTo>
                <a:cubicBezTo>
                  <a:pt x="204728" y="546372"/>
                  <a:pt x="206742" y="548428"/>
                  <a:pt x="209308" y="550353"/>
                </a:cubicBezTo>
                <a:cubicBezTo>
                  <a:pt x="211875" y="552278"/>
                  <a:pt x="213712" y="554161"/>
                  <a:pt x="214821" y="556003"/>
                </a:cubicBezTo>
                <a:cubicBezTo>
                  <a:pt x="215375" y="556478"/>
                  <a:pt x="215102" y="557428"/>
                  <a:pt x="214002" y="558853"/>
                </a:cubicBezTo>
                <a:cubicBezTo>
                  <a:pt x="212902" y="560277"/>
                  <a:pt x="211404" y="562252"/>
                  <a:pt x="209508" y="564777"/>
                </a:cubicBezTo>
                <a:cubicBezTo>
                  <a:pt x="203146" y="575302"/>
                  <a:pt x="205555" y="582145"/>
                  <a:pt x="216733" y="585307"/>
                </a:cubicBezTo>
                <a:cubicBezTo>
                  <a:pt x="222322" y="586888"/>
                  <a:pt x="227202" y="588103"/>
                  <a:pt x="231373" y="588951"/>
                </a:cubicBezTo>
                <a:lnTo>
                  <a:pt x="233622" y="589263"/>
                </a:lnTo>
                <a:lnTo>
                  <a:pt x="227607" y="591457"/>
                </a:lnTo>
                <a:cubicBezTo>
                  <a:pt x="222378" y="593244"/>
                  <a:pt x="217298" y="595305"/>
                  <a:pt x="212365" y="597638"/>
                </a:cubicBezTo>
                <a:cubicBezTo>
                  <a:pt x="197920" y="603417"/>
                  <a:pt x="184463" y="608428"/>
                  <a:pt x="171995" y="612671"/>
                </a:cubicBezTo>
                <a:cubicBezTo>
                  <a:pt x="159527" y="616915"/>
                  <a:pt x="147127" y="619395"/>
                  <a:pt x="134794" y="620111"/>
                </a:cubicBezTo>
                <a:lnTo>
                  <a:pt x="124207" y="614805"/>
                </a:lnTo>
                <a:cubicBezTo>
                  <a:pt x="121295" y="614422"/>
                  <a:pt x="118225" y="614688"/>
                  <a:pt x="114999" y="615602"/>
                </a:cubicBezTo>
                <a:cubicBezTo>
                  <a:pt x="111772" y="616517"/>
                  <a:pt x="110421" y="619032"/>
                  <a:pt x="110946" y="623149"/>
                </a:cubicBezTo>
                <a:cubicBezTo>
                  <a:pt x="110421" y="624532"/>
                  <a:pt x="110224" y="625878"/>
                  <a:pt x="110355" y="627186"/>
                </a:cubicBezTo>
                <a:cubicBezTo>
                  <a:pt x="110486" y="628494"/>
                  <a:pt x="110004" y="630067"/>
                  <a:pt x="108908" y="631904"/>
                </a:cubicBezTo>
                <a:cubicBezTo>
                  <a:pt x="105038" y="642900"/>
                  <a:pt x="106404" y="651356"/>
                  <a:pt x="113008" y="657275"/>
                </a:cubicBezTo>
                <a:cubicBezTo>
                  <a:pt x="119612" y="663193"/>
                  <a:pt x="128595" y="664917"/>
                  <a:pt x="139956" y="662446"/>
                </a:cubicBezTo>
                <a:cubicBezTo>
                  <a:pt x="148164" y="658738"/>
                  <a:pt x="155987" y="655357"/>
                  <a:pt x="163424" y="652303"/>
                </a:cubicBezTo>
                <a:cubicBezTo>
                  <a:pt x="170861" y="649249"/>
                  <a:pt x="178571" y="645276"/>
                  <a:pt x="186554" y="640385"/>
                </a:cubicBezTo>
                <a:cubicBezTo>
                  <a:pt x="193187" y="635873"/>
                  <a:pt x="199535" y="631968"/>
                  <a:pt x="205599" y="628670"/>
                </a:cubicBezTo>
                <a:lnTo>
                  <a:pt x="215882" y="623840"/>
                </a:lnTo>
                <a:lnTo>
                  <a:pt x="214153" y="628468"/>
                </a:lnTo>
                <a:cubicBezTo>
                  <a:pt x="214005" y="630268"/>
                  <a:pt x="214533" y="631656"/>
                  <a:pt x="215739" y="632632"/>
                </a:cubicBezTo>
                <a:lnTo>
                  <a:pt x="216324" y="632872"/>
                </a:lnTo>
                <a:lnTo>
                  <a:pt x="190485" y="641291"/>
                </a:lnTo>
                <a:cubicBezTo>
                  <a:pt x="188689" y="644899"/>
                  <a:pt x="187086" y="648189"/>
                  <a:pt x="185676" y="651159"/>
                </a:cubicBezTo>
                <a:cubicBezTo>
                  <a:pt x="184265" y="654130"/>
                  <a:pt x="183408" y="657297"/>
                  <a:pt x="183104" y="660659"/>
                </a:cubicBezTo>
                <a:cubicBezTo>
                  <a:pt x="183104" y="664913"/>
                  <a:pt x="184805" y="668656"/>
                  <a:pt x="188207" y="671889"/>
                </a:cubicBezTo>
                <a:cubicBezTo>
                  <a:pt x="189908" y="673506"/>
                  <a:pt x="191910" y="674566"/>
                  <a:pt x="194213" y="675070"/>
                </a:cubicBezTo>
                <a:lnTo>
                  <a:pt x="201360" y="674928"/>
                </a:lnTo>
                <a:lnTo>
                  <a:pt x="183223" y="684164"/>
                </a:lnTo>
                <a:cubicBezTo>
                  <a:pt x="174590" y="688355"/>
                  <a:pt x="166397" y="691057"/>
                  <a:pt x="158643" y="692269"/>
                </a:cubicBezTo>
                <a:cubicBezTo>
                  <a:pt x="152518" y="692269"/>
                  <a:pt x="147971" y="694928"/>
                  <a:pt x="145000" y="700244"/>
                </a:cubicBezTo>
                <a:cubicBezTo>
                  <a:pt x="142029" y="705560"/>
                  <a:pt x="140090" y="710860"/>
                  <a:pt x="139181" y="716143"/>
                </a:cubicBezTo>
                <a:cubicBezTo>
                  <a:pt x="140456" y="721563"/>
                  <a:pt x="143602" y="724522"/>
                  <a:pt x="148618" y="725017"/>
                </a:cubicBezTo>
                <a:cubicBezTo>
                  <a:pt x="153635" y="725513"/>
                  <a:pt x="157918" y="724992"/>
                  <a:pt x="161468" y="723455"/>
                </a:cubicBezTo>
                <a:cubicBezTo>
                  <a:pt x="167963" y="720339"/>
                  <a:pt x="173720" y="716850"/>
                  <a:pt x="178738" y="712990"/>
                </a:cubicBezTo>
                <a:lnTo>
                  <a:pt x="182031" y="711054"/>
                </a:lnTo>
                <a:lnTo>
                  <a:pt x="178298" y="714681"/>
                </a:lnTo>
                <a:cubicBezTo>
                  <a:pt x="174565" y="718414"/>
                  <a:pt x="170490" y="722138"/>
                  <a:pt x="166074" y="725855"/>
                </a:cubicBezTo>
                <a:cubicBezTo>
                  <a:pt x="159124" y="729696"/>
                  <a:pt x="155715" y="733240"/>
                  <a:pt x="155846" y="736485"/>
                </a:cubicBezTo>
                <a:cubicBezTo>
                  <a:pt x="155977" y="739731"/>
                  <a:pt x="155926" y="743016"/>
                  <a:pt x="155693" y="746341"/>
                </a:cubicBezTo>
                <a:cubicBezTo>
                  <a:pt x="154197" y="750587"/>
                  <a:pt x="152966" y="753941"/>
                  <a:pt x="151999" y="756403"/>
                </a:cubicBezTo>
                <a:cubicBezTo>
                  <a:pt x="151033" y="758865"/>
                  <a:pt x="152224" y="763136"/>
                  <a:pt x="155574" y="769215"/>
                </a:cubicBezTo>
                <a:cubicBezTo>
                  <a:pt x="160561" y="775252"/>
                  <a:pt x="165706" y="781340"/>
                  <a:pt x="171008" y="787479"/>
                </a:cubicBezTo>
                <a:cubicBezTo>
                  <a:pt x="176309" y="793618"/>
                  <a:pt x="182606" y="797709"/>
                  <a:pt x="189897" y="799750"/>
                </a:cubicBezTo>
                <a:cubicBezTo>
                  <a:pt x="192609" y="800621"/>
                  <a:pt x="195469" y="800971"/>
                  <a:pt x="198475" y="800800"/>
                </a:cubicBezTo>
                <a:cubicBezTo>
                  <a:pt x="201481" y="800629"/>
                  <a:pt x="204740" y="798592"/>
                  <a:pt x="208252" y="794688"/>
                </a:cubicBezTo>
                <a:cubicBezTo>
                  <a:pt x="210315" y="789651"/>
                  <a:pt x="214229" y="786050"/>
                  <a:pt x="219995" y="783886"/>
                </a:cubicBezTo>
                <a:cubicBezTo>
                  <a:pt x="225762" y="781721"/>
                  <a:pt x="231393" y="779208"/>
                  <a:pt x="236888" y="776346"/>
                </a:cubicBezTo>
                <a:cubicBezTo>
                  <a:pt x="236271" y="776346"/>
                  <a:pt x="236629" y="777289"/>
                  <a:pt x="237960" y="779177"/>
                </a:cubicBezTo>
                <a:cubicBezTo>
                  <a:pt x="239291" y="781064"/>
                  <a:pt x="241238" y="782810"/>
                  <a:pt x="243800" y="784414"/>
                </a:cubicBezTo>
                <a:cubicBezTo>
                  <a:pt x="250458" y="788572"/>
                  <a:pt x="256764" y="791339"/>
                  <a:pt x="262718" y="792716"/>
                </a:cubicBezTo>
                <a:cubicBezTo>
                  <a:pt x="268672" y="794093"/>
                  <a:pt x="274894" y="794651"/>
                  <a:pt x="281385" y="794388"/>
                </a:cubicBezTo>
                <a:cubicBezTo>
                  <a:pt x="282731" y="794747"/>
                  <a:pt x="284605" y="795163"/>
                  <a:pt x="287007" y="795638"/>
                </a:cubicBezTo>
                <a:cubicBezTo>
                  <a:pt x="289409" y="796113"/>
                  <a:pt x="291901" y="796174"/>
                  <a:pt x="294485" y="795819"/>
                </a:cubicBezTo>
                <a:cubicBezTo>
                  <a:pt x="298368" y="793732"/>
                  <a:pt x="302013" y="791835"/>
                  <a:pt x="305421" y="790129"/>
                </a:cubicBezTo>
                <a:cubicBezTo>
                  <a:pt x="308829" y="788423"/>
                  <a:pt x="312069" y="786455"/>
                  <a:pt x="315140" y="784226"/>
                </a:cubicBezTo>
                <a:lnTo>
                  <a:pt x="332876" y="771327"/>
                </a:lnTo>
                <a:cubicBezTo>
                  <a:pt x="335592" y="768398"/>
                  <a:pt x="337044" y="766934"/>
                  <a:pt x="337232" y="766934"/>
                </a:cubicBezTo>
                <a:cubicBezTo>
                  <a:pt x="337419" y="766934"/>
                  <a:pt x="338790" y="768211"/>
                  <a:pt x="341344" y="770765"/>
                </a:cubicBezTo>
                <a:cubicBezTo>
                  <a:pt x="355189" y="780085"/>
                  <a:pt x="368545" y="788967"/>
                  <a:pt x="381410" y="797410"/>
                </a:cubicBezTo>
                <a:cubicBezTo>
                  <a:pt x="394276" y="805853"/>
                  <a:pt x="408146" y="810075"/>
                  <a:pt x="423020" y="810075"/>
                </a:cubicBezTo>
                <a:cubicBezTo>
                  <a:pt x="429641" y="808504"/>
                  <a:pt x="435900" y="808503"/>
                  <a:pt x="441797" y="810072"/>
                </a:cubicBezTo>
                <a:cubicBezTo>
                  <a:pt x="447695" y="811640"/>
                  <a:pt x="454483" y="811591"/>
                  <a:pt x="462162" y="809925"/>
                </a:cubicBezTo>
                <a:cubicBezTo>
                  <a:pt x="467895" y="807629"/>
                  <a:pt x="470951" y="804669"/>
                  <a:pt x="471330" y="801044"/>
                </a:cubicBezTo>
                <a:cubicBezTo>
                  <a:pt x="471709" y="797419"/>
                  <a:pt x="469180" y="793747"/>
                  <a:pt x="463743" y="790026"/>
                </a:cubicBezTo>
                <a:cubicBezTo>
                  <a:pt x="452431" y="786555"/>
                  <a:pt x="442922" y="783542"/>
                  <a:pt x="435217" y="780986"/>
                </a:cubicBezTo>
                <a:cubicBezTo>
                  <a:pt x="427511" y="778430"/>
                  <a:pt x="419369" y="775244"/>
                  <a:pt x="410790" y="771427"/>
                </a:cubicBezTo>
                <a:cubicBezTo>
                  <a:pt x="407153" y="768827"/>
                  <a:pt x="403650" y="766815"/>
                  <a:pt x="400281" y="765390"/>
                </a:cubicBezTo>
                <a:cubicBezTo>
                  <a:pt x="396913" y="763965"/>
                  <a:pt x="393310" y="762296"/>
                  <a:pt x="389472" y="760384"/>
                </a:cubicBezTo>
                <a:lnTo>
                  <a:pt x="361068" y="743810"/>
                </a:lnTo>
                <a:cubicBezTo>
                  <a:pt x="357897" y="741485"/>
                  <a:pt x="355772" y="739618"/>
                  <a:pt x="354693" y="738207"/>
                </a:cubicBezTo>
                <a:cubicBezTo>
                  <a:pt x="353614" y="736797"/>
                  <a:pt x="353543" y="734927"/>
                  <a:pt x="354481" y="732598"/>
                </a:cubicBezTo>
                <a:cubicBezTo>
                  <a:pt x="360493" y="718749"/>
                  <a:pt x="365373" y="705685"/>
                  <a:pt x="369121" y="693407"/>
                </a:cubicBezTo>
                <a:cubicBezTo>
                  <a:pt x="372868" y="681128"/>
                  <a:pt x="379188" y="668452"/>
                  <a:pt x="388079" y="655378"/>
                </a:cubicBezTo>
                <a:cubicBezTo>
                  <a:pt x="389841" y="648762"/>
                  <a:pt x="389356" y="643496"/>
                  <a:pt x="386623" y="639582"/>
                </a:cubicBezTo>
                <a:cubicBezTo>
                  <a:pt x="383890" y="635668"/>
                  <a:pt x="379481" y="633406"/>
                  <a:pt x="373398" y="632798"/>
                </a:cubicBezTo>
                <a:cubicBezTo>
                  <a:pt x="372294" y="632311"/>
                  <a:pt x="371637" y="632268"/>
                  <a:pt x="371427" y="632670"/>
                </a:cubicBezTo>
                <a:cubicBezTo>
                  <a:pt x="371216" y="633072"/>
                  <a:pt x="371878" y="633083"/>
                  <a:pt x="373411" y="632704"/>
                </a:cubicBezTo>
                <a:lnTo>
                  <a:pt x="393072" y="614474"/>
                </a:lnTo>
                <a:cubicBezTo>
                  <a:pt x="399609" y="609770"/>
                  <a:pt x="401471" y="604534"/>
                  <a:pt x="398656" y="598766"/>
                </a:cubicBezTo>
                <a:cubicBezTo>
                  <a:pt x="395842" y="592997"/>
                  <a:pt x="390197" y="589174"/>
                  <a:pt x="381723" y="587295"/>
                </a:cubicBezTo>
                <a:cubicBezTo>
                  <a:pt x="378815" y="586674"/>
                  <a:pt x="376908" y="586092"/>
                  <a:pt x="376001" y="585548"/>
                </a:cubicBezTo>
                <a:cubicBezTo>
                  <a:pt x="375095" y="585004"/>
                  <a:pt x="375105" y="583957"/>
                  <a:pt x="376030" y="582407"/>
                </a:cubicBezTo>
                <a:lnTo>
                  <a:pt x="384891" y="555953"/>
                </a:lnTo>
                <a:cubicBezTo>
                  <a:pt x="389037" y="544266"/>
                  <a:pt x="387886" y="536612"/>
                  <a:pt x="381439" y="532992"/>
                </a:cubicBezTo>
                <a:cubicBezTo>
                  <a:pt x="374991" y="529371"/>
                  <a:pt x="368563" y="527561"/>
                  <a:pt x="362155" y="527561"/>
                </a:cubicBezTo>
                <a:cubicBezTo>
                  <a:pt x="357489" y="525469"/>
                  <a:pt x="353943" y="524599"/>
                  <a:pt x="351519" y="524952"/>
                </a:cubicBezTo>
                <a:cubicBezTo>
                  <a:pt x="349094" y="525304"/>
                  <a:pt x="345925" y="527567"/>
                  <a:pt x="342013" y="531742"/>
                </a:cubicBezTo>
                <a:cubicBezTo>
                  <a:pt x="335422" y="532804"/>
                  <a:pt x="332437" y="535669"/>
                  <a:pt x="333060" y="540335"/>
                </a:cubicBezTo>
                <a:cubicBezTo>
                  <a:pt x="333683" y="545001"/>
                  <a:pt x="336240" y="549424"/>
                  <a:pt x="340732" y="553603"/>
                </a:cubicBezTo>
                <a:cubicBezTo>
                  <a:pt x="345452" y="556728"/>
                  <a:pt x="347685" y="559420"/>
                  <a:pt x="347431" y="561681"/>
                </a:cubicBezTo>
                <a:cubicBezTo>
                  <a:pt x="347177" y="563941"/>
                  <a:pt x="346796" y="567502"/>
                  <a:pt x="346288" y="572364"/>
                </a:cubicBezTo>
                <a:cubicBezTo>
                  <a:pt x="343988" y="580530"/>
                  <a:pt x="342163" y="588113"/>
                  <a:pt x="340813" y="595113"/>
                </a:cubicBezTo>
                <a:cubicBezTo>
                  <a:pt x="339463" y="602112"/>
                  <a:pt x="341273" y="609881"/>
                  <a:pt x="346244" y="618418"/>
                </a:cubicBezTo>
                <a:cubicBezTo>
                  <a:pt x="345681" y="619818"/>
                  <a:pt x="343860" y="622058"/>
                  <a:pt x="340779" y="625139"/>
                </a:cubicBezTo>
                <a:lnTo>
                  <a:pt x="331074" y="634452"/>
                </a:lnTo>
                <a:lnTo>
                  <a:pt x="333963" y="630161"/>
                </a:lnTo>
                <a:cubicBezTo>
                  <a:pt x="336996" y="621065"/>
                  <a:pt x="338979" y="613767"/>
                  <a:pt x="339910" y="608265"/>
                </a:cubicBezTo>
                <a:cubicBezTo>
                  <a:pt x="340841" y="602763"/>
                  <a:pt x="339967" y="596034"/>
                  <a:pt x="337288" y="588076"/>
                </a:cubicBezTo>
                <a:cubicBezTo>
                  <a:pt x="337026" y="583080"/>
                  <a:pt x="336208" y="577760"/>
                  <a:pt x="334835" y="572114"/>
                </a:cubicBezTo>
                <a:cubicBezTo>
                  <a:pt x="333462" y="566469"/>
                  <a:pt x="329189" y="562750"/>
                  <a:pt x="322014" y="560959"/>
                </a:cubicBezTo>
                <a:lnTo>
                  <a:pt x="319183" y="558121"/>
                </a:lnTo>
                <a:cubicBezTo>
                  <a:pt x="317000" y="555630"/>
                  <a:pt x="314130" y="553534"/>
                  <a:pt x="310574" y="551834"/>
                </a:cubicBezTo>
                <a:cubicBezTo>
                  <a:pt x="307018" y="550134"/>
                  <a:pt x="304032" y="549101"/>
                  <a:pt x="301615" y="548734"/>
                </a:cubicBezTo>
                <a:cubicBezTo>
                  <a:pt x="298107" y="549284"/>
                  <a:pt x="295844" y="550954"/>
                  <a:pt x="294825" y="553744"/>
                </a:cubicBezTo>
                <a:cubicBezTo>
                  <a:pt x="293806" y="556533"/>
                  <a:pt x="293428" y="558944"/>
                  <a:pt x="293691" y="560977"/>
                </a:cubicBezTo>
                <a:cubicBezTo>
                  <a:pt x="293466" y="563698"/>
                  <a:pt x="292352" y="567180"/>
                  <a:pt x="290350" y="571424"/>
                </a:cubicBezTo>
                <a:cubicBezTo>
                  <a:pt x="288348" y="575667"/>
                  <a:pt x="285960" y="579174"/>
                  <a:pt x="283185" y="581945"/>
                </a:cubicBezTo>
                <a:cubicBezTo>
                  <a:pt x="281373" y="582291"/>
                  <a:pt x="279189" y="581959"/>
                  <a:pt x="276632" y="580951"/>
                </a:cubicBezTo>
                <a:cubicBezTo>
                  <a:pt x="274076" y="579943"/>
                  <a:pt x="271005" y="579139"/>
                  <a:pt x="267417" y="578539"/>
                </a:cubicBezTo>
                <a:lnTo>
                  <a:pt x="260458" y="578539"/>
                </a:lnTo>
                <a:lnTo>
                  <a:pt x="267766" y="564024"/>
                </a:lnTo>
                <a:cubicBezTo>
                  <a:pt x="269000" y="558879"/>
                  <a:pt x="268728" y="554032"/>
                  <a:pt x="266949" y="549484"/>
                </a:cubicBezTo>
                <a:cubicBezTo>
                  <a:pt x="263391" y="540389"/>
                  <a:pt x="255137" y="532810"/>
                  <a:pt x="242188" y="526748"/>
                </a:cubicBezTo>
                <a:cubicBezTo>
                  <a:pt x="235967" y="521378"/>
                  <a:pt x="229847" y="518536"/>
                  <a:pt x="223826" y="518224"/>
                </a:cubicBezTo>
                <a:close/>
                <a:moveTo>
                  <a:pt x="650558" y="518149"/>
                </a:moveTo>
                <a:cubicBezTo>
                  <a:pt x="640879" y="521615"/>
                  <a:pt x="639246" y="527169"/>
                  <a:pt x="645658" y="534810"/>
                </a:cubicBezTo>
                <a:cubicBezTo>
                  <a:pt x="652070" y="542452"/>
                  <a:pt x="657230" y="548349"/>
                  <a:pt x="661138" y="552503"/>
                </a:cubicBezTo>
                <a:cubicBezTo>
                  <a:pt x="660963" y="552711"/>
                  <a:pt x="660179" y="553729"/>
                  <a:pt x="658785" y="555556"/>
                </a:cubicBezTo>
                <a:cubicBezTo>
                  <a:pt x="657392" y="557383"/>
                  <a:pt x="655566" y="559567"/>
                  <a:pt x="653308" y="562109"/>
                </a:cubicBezTo>
                <a:cubicBezTo>
                  <a:pt x="650424" y="567187"/>
                  <a:pt x="649734" y="571525"/>
                  <a:pt x="651236" y="575120"/>
                </a:cubicBezTo>
                <a:cubicBezTo>
                  <a:pt x="651987" y="576918"/>
                  <a:pt x="653353" y="578311"/>
                  <a:pt x="655333" y="579300"/>
                </a:cubicBezTo>
                <a:lnTo>
                  <a:pt x="661776" y="580749"/>
                </a:lnTo>
                <a:lnTo>
                  <a:pt x="633481" y="593613"/>
                </a:lnTo>
                <a:cubicBezTo>
                  <a:pt x="623887" y="597850"/>
                  <a:pt x="613891" y="601454"/>
                  <a:pt x="603492" y="604425"/>
                </a:cubicBezTo>
                <a:cubicBezTo>
                  <a:pt x="601596" y="604425"/>
                  <a:pt x="600226" y="604298"/>
                  <a:pt x="599383" y="604044"/>
                </a:cubicBezTo>
                <a:cubicBezTo>
                  <a:pt x="598539" y="603789"/>
                  <a:pt x="596915" y="602821"/>
                  <a:pt x="594511" y="601137"/>
                </a:cubicBezTo>
                <a:cubicBezTo>
                  <a:pt x="586824" y="598100"/>
                  <a:pt x="578779" y="598874"/>
                  <a:pt x="570375" y="603459"/>
                </a:cubicBezTo>
                <a:cubicBezTo>
                  <a:pt x="561971" y="608044"/>
                  <a:pt x="557455" y="614583"/>
                  <a:pt x="556826" y="623074"/>
                </a:cubicBezTo>
                <a:cubicBezTo>
                  <a:pt x="556563" y="626869"/>
                  <a:pt x="556735" y="630783"/>
                  <a:pt x="557342" y="634814"/>
                </a:cubicBezTo>
                <a:cubicBezTo>
                  <a:pt x="557948" y="638845"/>
                  <a:pt x="560888" y="642795"/>
                  <a:pt x="566163" y="646666"/>
                </a:cubicBezTo>
                <a:cubicBezTo>
                  <a:pt x="568004" y="647891"/>
                  <a:pt x="570247" y="648503"/>
                  <a:pt x="572891" y="648503"/>
                </a:cubicBezTo>
                <a:cubicBezTo>
                  <a:pt x="575534" y="648503"/>
                  <a:pt x="577914" y="648199"/>
                  <a:pt x="580031" y="647591"/>
                </a:cubicBezTo>
                <a:cubicBezTo>
                  <a:pt x="591634" y="644354"/>
                  <a:pt x="602198" y="640583"/>
                  <a:pt x="611723" y="636279"/>
                </a:cubicBezTo>
                <a:lnTo>
                  <a:pt x="639794" y="625728"/>
                </a:lnTo>
                <a:lnTo>
                  <a:pt x="634421" y="631098"/>
                </a:lnTo>
                <a:cubicBezTo>
                  <a:pt x="630401" y="633265"/>
                  <a:pt x="627574" y="637553"/>
                  <a:pt x="625940" y="643963"/>
                </a:cubicBezTo>
                <a:cubicBezTo>
                  <a:pt x="624307" y="650373"/>
                  <a:pt x="625582" y="655842"/>
                  <a:pt x="629765" y="660371"/>
                </a:cubicBezTo>
                <a:cubicBezTo>
                  <a:pt x="631178" y="661938"/>
                  <a:pt x="631923" y="662820"/>
                  <a:pt x="632003" y="663018"/>
                </a:cubicBezTo>
                <a:cubicBezTo>
                  <a:pt x="632082" y="663216"/>
                  <a:pt x="631609" y="664077"/>
                  <a:pt x="630584" y="665602"/>
                </a:cubicBezTo>
                <a:cubicBezTo>
                  <a:pt x="624413" y="672764"/>
                  <a:pt x="617970" y="678397"/>
                  <a:pt x="611254" y="682501"/>
                </a:cubicBezTo>
                <a:cubicBezTo>
                  <a:pt x="604538" y="686605"/>
                  <a:pt x="597534" y="689738"/>
                  <a:pt x="590243" y="691901"/>
                </a:cubicBezTo>
                <a:cubicBezTo>
                  <a:pt x="581818" y="699963"/>
                  <a:pt x="579051" y="707033"/>
                  <a:pt x="581940" y="713112"/>
                </a:cubicBezTo>
                <a:cubicBezTo>
                  <a:pt x="584829" y="719191"/>
                  <a:pt x="591945" y="720459"/>
                  <a:pt x="603286" y="716918"/>
                </a:cubicBezTo>
                <a:lnTo>
                  <a:pt x="606200" y="715275"/>
                </a:lnTo>
                <a:lnTo>
                  <a:pt x="600195" y="733461"/>
                </a:lnTo>
                <a:cubicBezTo>
                  <a:pt x="599776" y="739185"/>
                  <a:pt x="600221" y="745518"/>
                  <a:pt x="601529" y="752459"/>
                </a:cubicBezTo>
                <a:cubicBezTo>
                  <a:pt x="601792" y="754309"/>
                  <a:pt x="601727" y="756263"/>
                  <a:pt x="601336" y="758322"/>
                </a:cubicBezTo>
                <a:cubicBezTo>
                  <a:pt x="600944" y="760380"/>
                  <a:pt x="601523" y="762732"/>
                  <a:pt x="603073" y="765377"/>
                </a:cubicBezTo>
                <a:cubicBezTo>
                  <a:pt x="605294" y="769269"/>
                  <a:pt x="607552" y="772076"/>
                  <a:pt x="609848" y="773799"/>
                </a:cubicBezTo>
                <a:cubicBezTo>
                  <a:pt x="612143" y="775522"/>
                  <a:pt x="614810" y="777395"/>
                  <a:pt x="617847" y="779420"/>
                </a:cubicBezTo>
                <a:cubicBezTo>
                  <a:pt x="620614" y="781933"/>
                  <a:pt x="623488" y="784546"/>
                  <a:pt x="626472" y="787260"/>
                </a:cubicBezTo>
                <a:cubicBezTo>
                  <a:pt x="629455" y="789975"/>
                  <a:pt x="632771" y="792326"/>
                  <a:pt x="636421" y="794313"/>
                </a:cubicBezTo>
                <a:cubicBezTo>
                  <a:pt x="640325" y="794617"/>
                  <a:pt x="644347" y="794836"/>
                  <a:pt x="648486" y="794969"/>
                </a:cubicBezTo>
                <a:cubicBezTo>
                  <a:pt x="652625" y="795103"/>
                  <a:pt x="655637" y="792215"/>
                  <a:pt x="657520" y="786307"/>
                </a:cubicBezTo>
                <a:cubicBezTo>
                  <a:pt x="657836" y="784712"/>
                  <a:pt x="658229" y="783829"/>
                  <a:pt x="658698" y="783661"/>
                </a:cubicBezTo>
                <a:cubicBezTo>
                  <a:pt x="659167" y="783492"/>
                  <a:pt x="660063" y="783408"/>
                  <a:pt x="661388" y="783408"/>
                </a:cubicBezTo>
                <a:cubicBezTo>
                  <a:pt x="669896" y="784453"/>
                  <a:pt x="676713" y="783148"/>
                  <a:pt x="681840" y="779492"/>
                </a:cubicBezTo>
                <a:cubicBezTo>
                  <a:pt x="686967" y="775836"/>
                  <a:pt x="693413" y="771463"/>
                  <a:pt x="701180" y="766371"/>
                </a:cubicBezTo>
                <a:cubicBezTo>
                  <a:pt x="705525" y="763813"/>
                  <a:pt x="710107" y="761585"/>
                  <a:pt x="714926" y="759687"/>
                </a:cubicBezTo>
                <a:cubicBezTo>
                  <a:pt x="719744" y="757789"/>
                  <a:pt x="723178" y="753232"/>
                  <a:pt x="725228" y="746016"/>
                </a:cubicBezTo>
                <a:cubicBezTo>
                  <a:pt x="724799" y="742058"/>
                  <a:pt x="723829" y="739550"/>
                  <a:pt x="722319" y="738492"/>
                </a:cubicBezTo>
                <a:cubicBezTo>
                  <a:pt x="720809" y="737433"/>
                  <a:pt x="719947" y="736692"/>
                  <a:pt x="719735" y="736267"/>
                </a:cubicBezTo>
                <a:cubicBezTo>
                  <a:pt x="719735" y="731313"/>
                  <a:pt x="720447" y="726375"/>
                  <a:pt x="721872" y="721452"/>
                </a:cubicBezTo>
                <a:cubicBezTo>
                  <a:pt x="723297" y="716529"/>
                  <a:pt x="723853" y="710589"/>
                  <a:pt x="723541" y="703631"/>
                </a:cubicBezTo>
                <a:cubicBezTo>
                  <a:pt x="716587" y="694157"/>
                  <a:pt x="708959" y="688979"/>
                  <a:pt x="700658" y="688098"/>
                </a:cubicBezTo>
                <a:cubicBezTo>
                  <a:pt x="692356" y="687217"/>
                  <a:pt x="684556" y="688795"/>
                  <a:pt x="677256" y="692832"/>
                </a:cubicBezTo>
                <a:cubicBezTo>
                  <a:pt x="668927" y="697132"/>
                  <a:pt x="661152" y="701974"/>
                  <a:pt x="653929" y="707359"/>
                </a:cubicBezTo>
                <a:lnTo>
                  <a:pt x="634378" y="720611"/>
                </a:lnTo>
                <a:lnTo>
                  <a:pt x="642232" y="707820"/>
                </a:lnTo>
                <a:cubicBezTo>
                  <a:pt x="645603" y="703667"/>
                  <a:pt x="649533" y="699938"/>
                  <a:pt x="654023" y="696632"/>
                </a:cubicBezTo>
                <a:cubicBezTo>
                  <a:pt x="663004" y="690020"/>
                  <a:pt x="672183" y="684499"/>
                  <a:pt x="681562" y="680070"/>
                </a:cubicBezTo>
                <a:cubicBezTo>
                  <a:pt x="686199" y="677241"/>
                  <a:pt x="690668" y="674906"/>
                  <a:pt x="694967" y="673064"/>
                </a:cubicBezTo>
                <a:cubicBezTo>
                  <a:pt x="699267" y="671223"/>
                  <a:pt x="704021" y="669754"/>
                  <a:pt x="709229" y="668658"/>
                </a:cubicBezTo>
                <a:cubicBezTo>
                  <a:pt x="715450" y="664517"/>
                  <a:pt x="718281" y="660165"/>
                  <a:pt x="717722" y="655603"/>
                </a:cubicBezTo>
                <a:cubicBezTo>
                  <a:pt x="717164" y="651041"/>
                  <a:pt x="712964" y="648366"/>
                  <a:pt x="705123" y="647578"/>
                </a:cubicBezTo>
                <a:cubicBezTo>
                  <a:pt x="694165" y="648703"/>
                  <a:pt x="684068" y="651342"/>
                  <a:pt x="674831" y="655494"/>
                </a:cubicBezTo>
                <a:lnTo>
                  <a:pt x="662299" y="661796"/>
                </a:lnTo>
                <a:lnTo>
                  <a:pt x="667722" y="657990"/>
                </a:lnTo>
                <a:cubicBezTo>
                  <a:pt x="673787" y="654082"/>
                  <a:pt x="680093" y="649124"/>
                  <a:pt x="686643" y="643116"/>
                </a:cubicBezTo>
                <a:cubicBezTo>
                  <a:pt x="689880" y="638537"/>
                  <a:pt x="691334" y="634088"/>
                  <a:pt x="691005" y="629767"/>
                </a:cubicBezTo>
                <a:cubicBezTo>
                  <a:pt x="690676" y="625446"/>
                  <a:pt x="688466" y="621751"/>
                  <a:pt x="684374" y="618680"/>
                </a:cubicBezTo>
                <a:cubicBezTo>
                  <a:pt x="682604" y="617501"/>
                  <a:pt x="681714" y="617095"/>
                  <a:pt x="681706" y="617461"/>
                </a:cubicBezTo>
                <a:cubicBezTo>
                  <a:pt x="681697" y="617828"/>
                  <a:pt x="682097" y="617666"/>
                  <a:pt x="682906" y="616974"/>
                </a:cubicBezTo>
                <a:cubicBezTo>
                  <a:pt x="690926" y="609195"/>
                  <a:pt x="698275" y="603079"/>
                  <a:pt x="704951" y="598625"/>
                </a:cubicBezTo>
                <a:cubicBezTo>
                  <a:pt x="711628" y="594171"/>
                  <a:pt x="718920" y="591688"/>
                  <a:pt x="726828" y="591176"/>
                </a:cubicBezTo>
                <a:cubicBezTo>
                  <a:pt x="733682" y="587572"/>
                  <a:pt x="737350" y="582905"/>
                  <a:pt x="737834" y="577176"/>
                </a:cubicBezTo>
                <a:cubicBezTo>
                  <a:pt x="738317" y="571448"/>
                  <a:pt x="734367" y="567998"/>
                  <a:pt x="725984" y="566827"/>
                </a:cubicBezTo>
                <a:cubicBezTo>
                  <a:pt x="722176" y="566069"/>
                  <a:pt x="718521" y="565616"/>
                  <a:pt x="715019" y="565468"/>
                </a:cubicBezTo>
                <a:lnTo>
                  <a:pt x="706283" y="565940"/>
                </a:lnTo>
                <a:lnTo>
                  <a:pt x="707039" y="565554"/>
                </a:lnTo>
                <a:cubicBezTo>
                  <a:pt x="710176" y="561957"/>
                  <a:pt x="711564" y="557263"/>
                  <a:pt x="711204" y="551472"/>
                </a:cubicBezTo>
                <a:cubicBezTo>
                  <a:pt x="710483" y="539889"/>
                  <a:pt x="704102" y="530483"/>
                  <a:pt x="692061" y="523255"/>
                </a:cubicBezTo>
                <a:cubicBezTo>
                  <a:pt x="684429" y="520709"/>
                  <a:pt x="677182" y="519222"/>
                  <a:pt x="670322" y="518793"/>
                </a:cubicBezTo>
                <a:cubicBezTo>
                  <a:pt x="663462" y="518363"/>
                  <a:pt x="656874" y="518149"/>
                  <a:pt x="650558" y="518149"/>
                </a:cubicBezTo>
                <a:close/>
                <a:moveTo>
                  <a:pt x="807867" y="501675"/>
                </a:moveTo>
                <a:cubicBezTo>
                  <a:pt x="805409" y="501675"/>
                  <a:pt x="803296" y="502460"/>
                  <a:pt x="801530" y="504031"/>
                </a:cubicBezTo>
                <a:cubicBezTo>
                  <a:pt x="797305" y="507164"/>
                  <a:pt x="794686" y="509743"/>
                  <a:pt x="793674" y="511768"/>
                </a:cubicBezTo>
                <a:cubicBezTo>
                  <a:pt x="792662" y="513793"/>
                  <a:pt x="791655" y="516141"/>
                  <a:pt x="790655" y="518811"/>
                </a:cubicBezTo>
                <a:cubicBezTo>
                  <a:pt x="786160" y="534939"/>
                  <a:pt x="783583" y="550176"/>
                  <a:pt x="782925" y="564521"/>
                </a:cubicBezTo>
                <a:cubicBezTo>
                  <a:pt x="782266" y="578866"/>
                  <a:pt x="781437" y="593528"/>
                  <a:pt x="780437" y="608506"/>
                </a:cubicBezTo>
                <a:cubicBezTo>
                  <a:pt x="780287" y="608706"/>
                  <a:pt x="779860" y="609114"/>
                  <a:pt x="779156" y="609731"/>
                </a:cubicBezTo>
                <a:cubicBezTo>
                  <a:pt x="778452" y="610347"/>
                  <a:pt x="777654" y="610745"/>
                  <a:pt x="776762" y="610924"/>
                </a:cubicBezTo>
                <a:cubicBezTo>
                  <a:pt x="768351" y="614987"/>
                  <a:pt x="760353" y="618878"/>
                  <a:pt x="752770" y="622599"/>
                </a:cubicBezTo>
                <a:cubicBezTo>
                  <a:pt x="745187" y="626319"/>
                  <a:pt x="737473" y="631450"/>
                  <a:pt x="729628" y="637991"/>
                </a:cubicBezTo>
                <a:cubicBezTo>
                  <a:pt x="725536" y="640887"/>
                  <a:pt x="723858" y="644034"/>
                  <a:pt x="724594" y="647432"/>
                </a:cubicBezTo>
                <a:cubicBezTo>
                  <a:pt x="725329" y="650829"/>
                  <a:pt x="727793" y="653478"/>
                  <a:pt x="731984" y="655378"/>
                </a:cubicBezTo>
                <a:cubicBezTo>
                  <a:pt x="739908" y="656799"/>
                  <a:pt x="747004" y="657701"/>
                  <a:pt x="753270" y="658084"/>
                </a:cubicBezTo>
                <a:cubicBezTo>
                  <a:pt x="759536" y="658467"/>
                  <a:pt x="766586" y="659194"/>
                  <a:pt x="774419" y="660265"/>
                </a:cubicBezTo>
                <a:cubicBezTo>
                  <a:pt x="776181" y="659744"/>
                  <a:pt x="777088" y="659537"/>
                  <a:pt x="777141" y="659643"/>
                </a:cubicBezTo>
                <a:cubicBezTo>
                  <a:pt x="777193" y="659750"/>
                  <a:pt x="777219" y="660317"/>
                  <a:pt x="777219" y="661346"/>
                </a:cubicBezTo>
                <a:cubicBezTo>
                  <a:pt x="778789" y="680062"/>
                  <a:pt x="779313" y="697617"/>
                  <a:pt x="778790" y="714012"/>
                </a:cubicBezTo>
                <a:cubicBezTo>
                  <a:pt x="778268" y="730407"/>
                  <a:pt x="778273" y="748026"/>
                  <a:pt x="778806" y="766871"/>
                </a:cubicBezTo>
                <a:cubicBezTo>
                  <a:pt x="779319" y="768813"/>
                  <a:pt x="779198" y="770192"/>
                  <a:pt x="778444" y="771008"/>
                </a:cubicBezTo>
                <a:cubicBezTo>
                  <a:pt x="777689" y="771825"/>
                  <a:pt x="776008" y="773852"/>
                  <a:pt x="773400" y="777089"/>
                </a:cubicBezTo>
                <a:cubicBezTo>
                  <a:pt x="772809" y="784872"/>
                  <a:pt x="774157" y="792498"/>
                  <a:pt x="777447" y="799966"/>
                </a:cubicBezTo>
                <a:cubicBezTo>
                  <a:pt x="780736" y="807434"/>
                  <a:pt x="784610" y="814787"/>
                  <a:pt x="789068" y="822024"/>
                </a:cubicBezTo>
                <a:cubicBezTo>
                  <a:pt x="794651" y="826082"/>
                  <a:pt x="799257" y="827508"/>
                  <a:pt x="802886" y="826302"/>
                </a:cubicBezTo>
                <a:cubicBezTo>
                  <a:pt x="806515" y="825096"/>
                  <a:pt x="809781" y="821751"/>
                  <a:pt x="812685" y="816268"/>
                </a:cubicBezTo>
                <a:cubicBezTo>
                  <a:pt x="816756" y="806765"/>
                  <a:pt x="819782" y="797655"/>
                  <a:pt x="821763" y="788939"/>
                </a:cubicBezTo>
                <a:cubicBezTo>
                  <a:pt x="823744" y="780222"/>
                  <a:pt x="825262" y="771254"/>
                  <a:pt x="826316" y="762034"/>
                </a:cubicBezTo>
                <a:cubicBezTo>
                  <a:pt x="827111" y="741844"/>
                  <a:pt x="827705" y="723040"/>
                  <a:pt x="828097" y="705625"/>
                </a:cubicBezTo>
                <a:cubicBezTo>
                  <a:pt x="828488" y="688209"/>
                  <a:pt x="829755" y="669598"/>
                  <a:pt x="831897" y="649791"/>
                </a:cubicBezTo>
                <a:cubicBezTo>
                  <a:pt x="831897" y="642658"/>
                  <a:pt x="832813" y="638272"/>
                  <a:pt x="834646" y="636632"/>
                </a:cubicBezTo>
                <a:cubicBezTo>
                  <a:pt x="836480" y="634993"/>
                  <a:pt x="840875" y="632852"/>
                  <a:pt x="847833" y="630211"/>
                </a:cubicBezTo>
                <a:lnTo>
                  <a:pt x="867532" y="622830"/>
                </a:lnTo>
                <a:cubicBezTo>
                  <a:pt x="873577" y="618055"/>
                  <a:pt x="877123" y="612446"/>
                  <a:pt x="878169" y="606003"/>
                </a:cubicBezTo>
                <a:cubicBezTo>
                  <a:pt x="879215" y="599559"/>
                  <a:pt x="875177" y="594348"/>
                  <a:pt x="866057" y="590369"/>
                </a:cubicBezTo>
                <a:cubicBezTo>
                  <a:pt x="862011" y="589103"/>
                  <a:pt x="858178" y="588320"/>
                  <a:pt x="854558" y="588020"/>
                </a:cubicBezTo>
                <a:cubicBezTo>
                  <a:pt x="850937" y="587720"/>
                  <a:pt x="847310" y="587959"/>
                  <a:pt x="843677" y="588738"/>
                </a:cubicBezTo>
                <a:cubicBezTo>
                  <a:pt x="840806" y="588738"/>
                  <a:pt x="839106" y="588670"/>
                  <a:pt x="838574" y="588532"/>
                </a:cubicBezTo>
                <a:cubicBezTo>
                  <a:pt x="838043" y="588395"/>
                  <a:pt x="837896" y="587413"/>
                  <a:pt x="838134" y="585588"/>
                </a:cubicBezTo>
                <a:cubicBezTo>
                  <a:pt x="837300" y="577310"/>
                  <a:pt x="836621" y="570018"/>
                  <a:pt x="836096" y="563712"/>
                </a:cubicBezTo>
                <a:cubicBezTo>
                  <a:pt x="835571" y="557406"/>
                  <a:pt x="834432" y="550945"/>
                  <a:pt x="832678" y="544328"/>
                </a:cubicBezTo>
                <a:cubicBezTo>
                  <a:pt x="834698" y="539775"/>
                  <a:pt x="836119" y="533666"/>
                  <a:pt x="836940" y="526001"/>
                </a:cubicBezTo>
                <a:cubicBezTo>
                  <a:pt x="837761" y="518337"/>
                  <a:pt x="835988" y="511503"/>
                  <a:pt x="831622" y="505500"/>
                </a:cubicBezTo>
                <a:cubicBezTo>
                  <a:pt x="827843" y="502429"/>
                  <a:pt x="824623" y="501155"/>
                  <a:pt x="821963" y="501678"/>
                </a:cubicBezTo>
                <a:cubicBezTo>
                  <a:pt x="819303" y="502201"/>
                  <a:pt x="816877" y="502462"/>
                  <a:pt x="814685" y="502462"/>
                </a:cubicBezTo>
                <a:cubicBezTo>
                  <a:pt x="812598" y="501937"/>
                  <a:pt x="810325" y="501675"/>
                  <a:pt x="807867" y="501675"/>
                </a:cubicBezTo>
                <a:close/>
                <a:moveTo>
                  <a:pt x="672103" y="339414"/>
                </a:moveTo>
                <a:lnTo>
                  <a:pt x="676437" y="345738"/>
                </a:lnTo>
                <a:cubicBezTo>
                  <a:pt x="679446" y="347671"/>
                  <a:pt x="682616" y="348683"/>
                  <a:pt x="685949" y="348772"/>
                </a:cubicBezTo>
                <a:lnTo>
                  <a:pt x="696274" y="346314"/>
                </a:lnTo>
                <a:lnTo>
                  <a:pt x="696436" y="347382"/>
                </a:lnTo>
                <a:cubicBezTo>
                  <a:pt x="696232" y="350903"/>
                  <a:pt x="695467" y="353193"/>
                  <a:pt x="694143" y="354253"/>
                </a:cubicBezTo>
                <a:cubicBezTo>
                  <a:pt x="692818" y="355314"/>
                  <a:pt x="689989" y="356806"/>
                  <a:pt x="685656" y="358731"/>
                </a:cubicBezTo>
                <a:cubicBezTo>
                  <a:pt x="682643" y="359556"/>
                  <a:pt x="680167" y="360368"/>
                  <a:pt x="678228" y="361165"/>
                </a:cubicBezTo>
                <a:cubicBezTo>
                  <a:pt x="676288" y="361963"/>
                  <a:pt x="675108" y="362362"/>
                  <a:pt x="674687" y="362362"/>
                </a:cubicBezTo>
                <a:cubicBezTo>
                  <a:pt x="673708" y="361479"/>
                  <a:pt x="673041" y="359739"/>
                  <a:pt x="672684" y="357144"/>
                </a:cubicBezTo>
                <a:cubicBezTo>
                  <a:pt x="672328" y="354548"/>
                  <a:pt x="672033" y="352198"/>
                  <a:pt x="671800" y="350094"/>
                </a:cubicBezTo>
                <a:close/>
                <a:moveTo>
                  <a:pt x="702540" y="302391"/>
                </a:moveTo>
                <a:lnTo>
                  <a:pt x="701049" y="311162"/>
                </a:lnTo>
                <a:cubicBezTo>
                  <a:pt x="699681" y="313820"/>
                  <a:pt x="697499" y="315878"/>
                  <a:pt x="694502" y="317334"/>
                </a:cubicBezTo>
                <a:lnTo>
                  <a:pt x="675466" y="325412"/>
                </a:lnTo>
                <a:lnTo>
                  <a:pt x="676559" y="322440"/>
                </a:lnTo>
                <a:cubicBezTo>
                  <a:pt x="680715" y="316044"/>
                  <a:pt x="689339" y="309388"/>
                  <a:pt x="702430" y="302472"/>
                </a:cubicBezTo>
                <a:close/>
                <a:moveTo>
                  <a:pt x="392666" y="290360"/>
                </a:moveTo>
                <a:lnTo>
                  <a:pt x="393660" y="290360"/>
                </a:lnTo>
                <a:cubicBezTo>
                  <a:pt x="406230" y="291719"/>
                  <a:pt x="408832" y="298678"/>
                  <a:pt x="401465" y="311237"/>
                </a:cubicBezTo>
                <a:cubicBezTo>
                  <a:pt x="394099" y="323797"/>
                  <a:pt x="384321" y="333370"/>
                  <a:pt x="372130" y="339957"/>
                </a:cubicBezTo>
                <a:cubicBezTo>
                  <a:pt x="367709" y="341820"/>
                  <a:pt x="364177" y="341712"/>
                  <a:pt x="361534" y="339635"/>
                </a:cubicBezTo>
                <a:cubicBezTo>
                  <a:pt x="358890" y="337559"/>
                  <a:pt x="357345" y="333976"/>
                  <a:pt x="356899" y="328889"/>
                </a:cubicBezTo>
                <a:cubicBezTo>
                  <a:pt x="356008" y="324715"/>
                  <a:pt x="354886" y="321588"/>
                  <a:pt x="353534" y="319509"/>
                </a:cubicBezTo>
                <a:cubicBezTo>
                  <a:pt x="352182" y="317430"/>
                  <a:pt x="352064" y="315501"/>
                  <a:pt x="353181" y="313721"/>
                </a:cubicBezTo>
                <a:cubicBezTo>
                  <a:pt x="360664" y="306489"/>
                  <a:pt x="367208" y="300845"/>
                  <a:pt x="372814" y="296791"/>
                </a:cubicBezTo>
                <a:cubicBezTo>
                  <a:pt x="378420" y="292737"/>
                  <a:pt x="385037" y="290594"/>
                  <a:pt x="392666" y="290360"/>
                </a:cubicBezTo>
                <a:close/>
                <a:moveTo>
                  <a:pt x="756332" y="280948"/>
                </a:moveTo>
                <a:cubicBezTo>
                  <a:pt x="764507" y="281744"/>
                  <a:pt x="768342" y="284321"/>
                  <a:pt x="767838" y="288679"/>
                </a:cubicBezTo>
                <a:cubicBezTo>
                  <a:pt x="767334" y="293037"/>
                  <a:pt x="765494" y="299664"/>
                  <a:pt x="762320" y="308559"/>
                </a:cubicBezTo>
                <a:cubicBezTo>
                  <a:pt x="760353" y="313092"/>
                  <a:pt x="758482" y="317700"/>
                  <a:pt x="756707" y="322383"/>
                </a:cubicBezTo>
                <a:cubicBezTo>
                  <a:pt x="754933" y="327066"/>
                  <a:pt x="752703" y="331643"/>
                  <a:pt x="750020" y="336114"/>
                </a:cubicBezTo>
                <a:cubicBezTo>
                  <a:pt x="747816" y="337768"/>
                  <a:pt x="745121" y="338719"/>
                  <a:pt x="741933" y="338967"/>
                </a:cubicBezTo>
                <a:cubicBezTo>
                  <a:pt x="738746" y="339215"/>
                  <a:pt x="735852" y="339728"/>
                  <a:pt x="733253" y="340507"/>
                </a:cubicBezTo>
                <a:cubicBezTo>
                  <a:pt x="730528" y="340895"/>
                  <a:pt x="728572" y="341878"/>
                  <a:pt x="727384" y="343457"/>
                </a:cubicBezTo>
                <a:cubicBezTo>
                  <a:pt x="726197" y="345036"/>
                  <a:pt x="725264" y="346622"/>
                  <a:pt x="724584" y="348213"/>
                </a:cubicBezTo>
                <a:cubicBezTo>
                  <a:pt x="723939" y="349017"/>
                  <a:pt x="723620" y="349361"/>
                  <a:pt x="723628" y="349244"/>
                </a:cubicBezTo>
                <a:cubicBezTo>
                  <a:pt x="723637" y="349128"/>
                  <a:pt x="723637" y="349038"/>
                  <a:pt x="723628" y="348976"/>
                </a:cubicBezTo>
                <a:cubicBezTo>
                  <a:pt x="724328" y="340118"/>
                  <a:pt x="725947" y="334089"/>
                  <a:pt x="728484" y="330889"/>
                </a:cubicBezTo>
                <a:cubicBezTo>
                  <a:pt x="731022" y="327689"/>
                  <a:pt x="736998" y="324229"/>
                  <a:pt x="746414" y="320509"/>
                </a:cubicBezTo>
                <a:cubicBezTo>
                  <a:pt x="750260" y="318438"/>
                  <a:pt x="754030" y="315706"/>
                  <a:pt x="757723" y="312312"/>
                </a:cubicBezTo>
                <a:cubicBezTo>
                  <a:pt x="761417" y="308919"/>
                  <a:pt x="762507" y="304205"/>
                  <a:pt x="760995" y="298172"/>
                </a:cubicBezTo>
                <a:cubicBezTo>
                  <a:pt x="759311" y="295648"/>
                  <a:pt x="757077" y="293688"/>
                  <a:pt x="754292" y="292295"/>
                </a:cubicBezTo>
                <a:cubicBezTo>
                  <a:pt x="751507" y="290901"/>
                  <a:pt x="748750" y="290204"/>
                  <a:pt x="746021" y="290204"/>
                </a:cubicBezTo>
                <a:cubicBezTo>
                  <a:pt x="744696" y="290121"/>
                  <a:pt x="743709" y="289134"/>
                  <a:pt x="743061" y="287245"/>
                </a:cubicBezTo>
                <a:cubicBezTo>
                  <a:pt x="742413" y="285355"/>
                  <a:pt x="743356" y="283973"/>
                  <a:pt x="745889" y="283098"/>
                </a:cubicBezTo>
                <a:close/>
                <a:moveTo>
                  <a:pt x="404990" y="269137"/>
                </a:moveTo>
                <a:cubicBezTo>
                  <a:pt x="387883" y="273507"/>
                  <a:pt x="373134" y="277660"/>
                  <a:pt x="360743" y="281595"/>
                </a:cubicBezTo>
                <a:cubicBezTo>
                  <a:pt x="348352" y="285530"/>
                  <a:pt x="334157" y="291910"/>
                  <a:pt x="318158" y="300735"/>
                </a:cubicBezTo>
                <a:cubicBezTo>
                  <a:pt x="315446" y="306159"/>
                  <a:pt x="312900" y="310788"/>
                  <a:pt x="310521" y="314621"/>
                </a:cubicBezTo>
                <a:cubicBezTo>
                  <a:pt x="308142" y="318455"/>
                  <a:pt x="306036" y="322600"/>
                  <a:pt x="304203" y="327058"/>
                </a:cubicBezTo>
                <a:cubicBezTo>
                  <a:pt x="301903" y="331879"/>
                  <a:pt x="301440" y="335265"/>
                  <a:pt x="302815" y="337217"/>
                </a:cubicBezTo>
                <a:cubicBezTo>
                  <a:pt x="304190" y="339169"/>
                  <a:pt x="306475" y="341005"/>
                  <a:pt x="309671" y="342726"/>
                </a:cubicBezTo>
                <a:cubicBezTo>
                  <a:pt x="313000" y="348721"/>
                  <a:pt x="316389" y="354594"/>
                  <a:pt x="319839" y="360344"/>
                </a:cubicBezTo>
                <a:cubicBezTo>
                  <a:pt x="323289" y="366093"/>
                  <a:pt x="329330" y="371451"/>
                  <a:pt x="337963" y="376418"/>
                </a:cubicBezTo>
                <a:cubicBezTo>
                  <a:pt x="338513" y="377038"/>
                  <a:pt x="338658" y="378559"/>
                  <a:pt x="338397" y="380980"/>
                </a:cubicBezTo>
                <a:cubicBezTo>
                  <a:pt x="338137" y="383401"/>
                  <a:pt x="338965" y="386221"/>
                  <a:pt x="340882" y="389442"/>
                </a:cubicBezTo>
                <a:cubicBezTo>
                  <a:pt x="344952" y="392833"/>
                  <a:pt x="349431" y="394814"/>
                  <a:pt x="354318" y="395385"/>
                </a:cubicBezTo>
                <a:cubicBezTo>
                  <a:pt x="359206" y="395956"/>
                  <a:pt x="363595" y="395912"/>
                  <a:pt x="367486" y="395254"/>
                </a:cubicBezTo>
                <a:cubicBezTo>
                  <a:pt x="378356" y="389554"/>
                  <a:pt x="388689" y="385932"/>
                  <a:pt x="398484" y="384386"/>
                </a:cubicBezTo>
                <a:cubicBezTo>
                  <a:pt x="408280" y="382840"/>
                  <a:pt x="418994" y="380130"/>
                  <a:pt x="430626" y="376255"/>
                </a:cubicBezTo>
                <a:cubicBezTo>
                  <a:pt x="437780" y="371701"/>
                  <a:pt x="441741" y="366792"/>
                  <a:pt x="442510" y="361528"/>
                </a:cubicBezTo>
                <a:cubicBezTo>
                  <a:pt x="443279" y="356264"/>
                  <a:pt x="440049" y="351834"/>
                  <a:pt x="432820" y="348238"/>
                </a:cubicBezTo>
                <a:cubicBezTo>
                  <a:pt x="431157" y="346763"/>
                  <a:pt x="430000" y="345779"/>
                  <a:pt x="429348" y="345285"/>
                </a:cubicBezTo>
                <a:cubicBezTo>
                  <a:pt x="428696" y="344791"/>
                  <a:pt x="429101" y="344251"/>
                  <a:pt x="430564" y="343663"/>
                </a:cubicBezTo>
                <a:cubicBezTo>
                  <a:pt x="435538" y="339276"/>
                  <a:pt x="440210" y="334147"/>
                  <a:pt x="444578" y="328277"/>
                </a:cubicBezTo>
                <a:cubicBezTo>
                  <a:pt x="448947" y="322406"/>
                  <a:pt x="451910" y="316665"/>
                  <a:pt x="453469" y="311053"/>
                </a:cubicBezTo>
                <a:cubicBezTo>
                  <a:pt x="453469" y="305191"/>
                  <a:pt x="452022" y="299944"/>
                  <a:pt x="449128" y="295313"/>
                </a:cubicBezTo>
                <a:cubicBezTo>
                  <a:pt x="446235" y="290682"/>
                  <a:pt x="442388" y="286102"/>
                  <a:pt x="437588" y="281573"/>
                </a:cubicBezTo>
                <a:cubicBezTo>
                  <a:pt x="432276" y="275078"/>
                  <a:pt x="426521" y="271232"/>
                  <a:pt x="420324" y="270037"/>
                </a:cubicBezTo>
                <a:cubicBezTo>
                  <a:pt x="414126" y="268841"/>
                  <a:pt x="409015" y="268541"/>
                  <a:pt x="404990" y="269137"/>
                </a:cubicBezTo>
                <a:close/>
                <a:moveTo>
                  <a:pt x="715373" y="233057"/>
                </a:moveTo>
                <a:lnTo>
                  <a:pt x="699973" y="251988"/>
                </a:lnTo>
                <a:cubicBezTo>
                  <a:pt x="691874" y="260729"/>
                  <a:pt x="683114" y="269299"/>
                  <a:pt x="673694" y="277699"/>
                </a:cubicBezTo>
                <a:cubicBezTo>
                  <a:pt x="669782" y="280807"/>
                  <a:pt x="666247" y="281615"/>
                  <a:pt x="663091" y="280124"/>
                </a:cubicBezTo>
                <a:lnTo>
                  <a:pt x="652523" y="276162"/>
                </a:lnTo>
                <a:lnTo>
                  <a:pt x="653233" y="276005"/>
                </a:lnTo>
                <a:cubicBezTo>
                  <a:pt x="656811" y="273772"/>
                  <a:pt x="660778" y="271666"/>
                  <a:pt x="665132" y="269687"/>
                </a:cubicBezTo>
                <a:cubicBezTo>
                  <a:pt x="669486" y="267708"/>
                  <a:pt x="674258" y="264733"/>
                  <a:pt x="679450" y="260762"/>
                </a:cubicBezTo>
                <a:cubicBezTo>
                  <a:pt x="684753" y="255204"/>
                  <a:pt x="690017" y="250858"/>
                  <a:pt x="695239" y="247722"/>
                </a:cubicBezTo>
                <a:cubicBezTo>
                  <a:pt x="700462" y="244587"/>
                  <a:pt x="706096" y="240391"/>
                  <a:pt x="712141" y="235133"/>
                </a:cubicBezTo>
                <a:close/>
                <a:moveTo>
                  <a:pt x="244213" y="160787"/>
                </a:moveTo>
                <a:lnTo>
                  <a:pt x="234726" y="162681"/>
                </a:lnTo>
                <a:cubicBezTo>
                  <a:pt x="221289" y="172759"/>
                  <a:pt x="211764" y="183274"/>
                  <a:pt x="206149" y="194226"/>
                </a:cubicBezTo>
                <a:cubicBezTo>
                  <a:pt x="200535" y="205177"/>
                  <a:pt x="195378" y="215850"/>
                  <a:pt x="190678" y="226246"/>
                </a:cubicBezTo>
                <a:cubicBezTo>
                  <a:pt x="189966" y="227241"/>
                  <a:pt x="188637" y="228063"/>
                  <a:pt x="186691" y="228711"/>
                </a:cubicBezTo>
                <a:cubicBezTo>
                  <a:pt x="184745" y="229359"/>
                  <a:pt x="183550" y="231718"/>
                  <a:pt x="183104" y="235789"/>
                </a:cubicBezTo>
                <a:cubicBezTo>
                  <a:pt x="183104" y="239134"/>
                  <a:pt x="183736" y="241932"/>
                  <a:pt x="185001" y="244182"/>
                </a:cubicBezTo>
                <a:cubicBezTo>
                  <a:pt x="186265" y="246432"/>
                  <a:pt x="187201" y="248590"/>
                  <a:pt x="187810" y="250657"/>
                </a:cubicBezTo>
                <a:cubicBezTo>
                  <a:pt x="187547" y="253052"/>
                  <a:pt x="187285" y="255845"/>
                  <a:pt x="187022" y="259034"/>
                </a:cubicBezTo>
                <a:cubicBezTo>
                  <a:pt x="186760" y="262224"/>
                  <a:pt x="187583" y="265524"/>
                  <a:pt x="189491" y="268937"/>
                </a:cubicBezTo>
                <a:cubicBezTo>
                  <a:pt x="189995" y="272753"/>
                  <a:pt x="191155" y="276477"/>
                  <a:pt x="192972" y="280108"/>
                </a:cubicBezTo>
                <a:cubicBezTo>
                  <a:pt x="194789" y="283739"/>
                  <a:pt x="198353" y="287379"/>
                  <a:pt x="203665" y="291029"/>
                </a:cubicBezTo>
                <a:cubicBezTo>
                  <a:pt x="209573" y="291629"/>
                  <a:pt x="215022" y="291702"/>
                  <a:pt x="220011" y="291248"/>
                </a:cubicBezTo>
                <a:cubicBezTo>
                  <a:pt x="222506" y="291021"/>
                  <a:pt x="224991" y="290092"/>
                  <a:pt x="227468" y="288461"/>
                </a:cubicBezTo>
                <a:lnTo>
                  <a:pt x="231745" y="284416"/>
                </a:lnTo>
                <a:lnTo>
                  <a:pt x="227795" y="297804"/>
                </a:lnTo>
                <a:cubicBezTo>
                  <a:pt x="225878" y="303291"/>
                  <a:pt x="223789" y="308753"/>
                  <a:pt x="221526" y="314190"/>
                </a:cubicBezTo>
                <a:cubicBezTo>
                  <a:pt x="214823" y="318119"/>
                  <a:pt x="208027" y="321423"/>
                  <a:pt x="201140" y="324102"/>
                </a:cubicBezTo>
                <a:cubicBezTo>
                  <a:pt x="194253" y="326781"/>
                  <a:pt x="186939" y="329841"/>
                  <a:pt x="179198" y="333283"/>
                </a:cubicBezTo>
                <a:cubicBezTo>
                  <a:pt x="177740" y="334741"/>
                  <a:pt x="176217" y="335735"/>
                  <a:pt x="174629" y="336264"/>
                </a:cubicBezTo>
                <a:cubicBezTo>
                  <a:pt x="173042" y="336793"/>
                  <a:pt x="171904" y="337126"/>
                  <a:pt x="171217" y="337264"/>
                </a:cubicBezTo>
                <a:cubicBezTo>
                  <a:pt x="165697" y="336739"/>
                  <a:pt x="160476" y="336476"/>
                  <a:pt x="155556" y="336476"/>
                </a:cubicBezTo>
                <a:cubicBezTo>
                  <a:pt x="150635" y="336476"/>
                  <a:pt x="144777" y="337124"/>
                  <a:pt x="137982" y="338420"/>
                </a:cubicBezTo>
                <a:cubicBezTo>
                  <a:pt x="134469" y="341932"/>
                  <a:pt x="132033" y="345482"/>
                  <a:pt x="130673" y="349069"/>
                </a:cubicBezTo>
                <a:cubicBezTo>
                  <a:pt x="129312" y="352657"/>
                  <a:pt x="127463" y="357288"/>
                  <a:pt x="125126" y="362962"/>
                </a:cubicBezTo>
                <a:lnTo>
                  <a:pt x="124276" y="374343"/>
                </a:lnTo>
                <a:cubicBezTo>
                  <a:pt x="127176" y="379913"/>
                  <a:pt x="131656" y="383518"/>
                  <a:pt x="137716" y="385158"/>
                </a:cubicBezTo>
                <a:cubicBezTo>
                  <a:pt x="143776" y="386797"/>
                  <a:pt x="148841" y="386707"/>
                  <a:pt x="152912" y="384886"/>
                </a:cubicBezTo>
                <a:cubicBezTo>
                  <a:pt x="160324" y="381299"/>
                  <a:pt x="167440" y="378153"/>
                  <a:pt x="174261" y="375449"/>
                </a:cubicBezTo>
                <a:cubicBezTo>
                  <a:pt x="181081" y="372745"/>
                  <a:pt x="188485" y="370462"/>
                  <a:pt x="196472" y="368599"/>
                </a:cubicBezTo>
                <a:cubicBezTo>
                  <a:pt x="197463" y="367683"/>
                  <a:pt x="198032" y="367330"/>
                  <a:pt x="198178" y="367540"/>
                </a:cubicBezTo>
                <a:cubicBezTo>
                  <a:pt x="198324" y="367750"/>
                  <a:pt x="198065" y="368456"/>
                  <a:pt x="197403" y="369656"/>
                </a:cubicBezTo>
                <a:cubicBezTo>
                  <a:pt x="194661" y="374634"/>
                  <a:pt x="191913" y="379341"/>
                  <a:pt x="189157" y="383777"/>
                </a:cubicBezTo>
                <a:cubicBezTo>
                  <a:pt x="186400" y="388212"/>
                  <a:pt x="182291" y="391931"/>
                  <a:pt x="176829" y="394935"/>
                </a:cubicBezTo>
                <a:cubicBezTo>
                  <a:pt x="173734" y="402372"/>
                  <a:pt x="171592" y="409455"/>
                  <a:pt x="170405" y="416184"/>
                </a:cubicBezTo>
                <a:cubicBezTo>
                  <a:pt x="169217" y="422913"/>
                  <a:pt x="168482" y="429794"/>
                  <a:pt x="168198" y="436826"/>
                </a:cubicBezTo>
                <a:cubicBezTo>
                  <a:pt x="168198" y="438364"/>
                  <a:pt x="168351" y="440195"/>
                  <a:pt x="168655" y="442320"/>
                </a:cubicBezTo>
                <a:cubicBezTo>
                  <a:pt x="168959" y="444445"/>
                  <a:pt x="169736" y="446445"/>
                  <a:pt x="170986" y="448319"/>
                </a:cubicBezTo>
                <a:cubicBezTo>
                  <a:pt x="173656" y="455161"/>
                  <a:pt x="177572" y="459369"/>
                  <a:pt x="182732" y="460944"/>
                </a:cubicBezTo>
                <a:cubicBezTo>
                  <a:pt x="187892" y="462519"/>
                  <a:pt x="194114" y="460367"/>
                  <a:pt x="201396" y="454488"/>
                </a:cubicBezTo>
                <a:cubicBezTo>
                  <a:pt x="211321" y="442143"/>
                  <a:pt x="219205" y="431255"/>
                  <a:pt x="225048" y="421824"/>
                </a:cubicBezTo>
                <a:cubicBezTo>
                  <a:pt x="230892" y="412394"/>
                  <a:pt x="236078" y="401954"/>
                  <a:pt x="240607" y="390504"/>
                </a:cubicBezTo>
                <a:lnTo>
                  <a:pt x="249943" y="372618"/>
                </a:lnTo>
                <a:cubicBezTo>
                  <a:pt x="250481" y="371410"/>
                  <a:pt x="250629" y="370732"/>
                  <a:pt x="250387" y="370584"/>
                </a:cubicBezTo>
                <a:cubicBezTo>
                  <a:pt x="250146" y="370436"/>
                  <a:pt x="250391" y="371041"/>
                  <a:pt x="251125" y="372399"/>
                </a:cubicBezTo>
                <a:cubicBezTo>
                  <a:pt x="254391" y="378115"/>
                  <a:pt x="257594" y="383328"/>
                  <a:pt x="260733" y="388036"/>
                </a:cubicBezTo>
                <a:cubicBezTo>
                  <a:pt x="263873" y="392744"/>
                  <a:pt x="267313" y="398173"/>
                  <a:pt x="271055" y="404322"/>
                </a:cubicBezTo>
                <a:lnTo>
                  <a:pt x="276511" y="408878"/>
                </a:lnTo>
                <a:cubicBezTo>
                  <a:pt x="281477" y="411674"/>
                  <a:pt x="286318" y="413142"/>
                  <a:pt x="291035" y="413284"/>
                </a:cubicBezTo>
                <a:cubicBezTo>
                  <a:pt x="295751" y="413426"/>
                  <a:pt x="299720" y="410311"/>
                  <a:pt x="302940" y="403941"/>
                </a:cubicBezTo>
                <a:cubicBezTo>
                  <a:pt x="307232" y="399650"/>
                  <a:pt x="309468" y="396153"/>
                  <a:pt x="309649" y="393451"/>
                </a:cubicBezTo>
                <a:cubicBezTo>
                  <a:pt x="309830" y="390749"/>
                  <a:pt x="309000" y="386940"/>
                  <a:pt x="307159" y="382024"/>
                </a:cubicBezTo>
                <a:cubicBezTo>
                  <a:pt x="303742" y="376045"/>
                  <a:pt x="300039" y="370861"/>
                  <a:pt x="296050" y="366471"/>
                </a:cubicBezTo>
                <a:cubicBezTo>
                  <a:pt x="292061" y="362082"/>
                  <a:pt x="287443" y="357265"/>
                  <a:pt x="282198" y="352019"/>
                </a:cubicBezTo>
                <a:lnTo>
                  <a:pt x="267680" y="346894"/>
                </a:lnTo>
                <a:cubicBezTo>
                  <a:pt x="264213" y="345411"/>
                  <a:pt x="262480" y="343990"/>
                  <a:pt x="262480" y="342632"/>
                </a:cubicBezTo>
                <a:cubicBezTo>
                  <a:pt x="262480" y="341274"/>
                  <a:pt x="263370" y="339014"/>
                  <a:pt x="265149" y="335851"/>
                </a:cubicBezTo>
                <a:cubicBezTo>
                  <a:pt x="269003" y="331997"/>
                  <a:pt x="273538" y="328099"/>
                  <a:pt x="278754" y="324155"/>
                </a:cubicBezTo>
                <a:cubicBezTo>
                  <a:pt x="283971" y="320212"/>
                  <a:pt x="289701" y="315413"/>
                  <a:pt x="295947" y="309759"/>
                </a:cubicBezTo>
                <a:lnTo>
                  <a:pt x="309027" y="296679"/>
                </a:lnTo>
                <a:cubicBezTo>
                  <a:pt x="312248" y="290787"/>
                  <a:pt x="312753" y="286110"/>
                  <a:pt x="310543" y="282645"/>
                </a:cubicBezTo>
                <a:cubicBezTo>
                  <a:pt x="308333" y="279181"/>
                  <a:pt x="304044" y="277272"/>
                  <a:pt x="297678" y="276917"/>
                </a:cubicBezTo>
                <a:cubicBezTo>
                  <a:pt x="293074" y="277188"/>
                  <a:pt x="289409" y="277379"/>
                  <a:pt x="286682" y="277489"/>
                </a:cubicBezTo>
                <a:cubicBezTo>
                  <a:pt x="283955" y="277600"/>
                  <a:pt x="280602" y="277655"/>
                  <a:pt x="276623" y="277655"/>
                </a:cubicBezTo>
                <a:cubicBezTo>
                  <a:pt x="273577" y="276401"/>
                  <a:pt x="271113" y="274586"/>
                  <a:pt x="269230" y="272211"/>
                </a:cubicBezTo>
                <a:cubicBezTo>
                  <a:pt x="267347" y="269837"/>
                  <a:pt x="268174" y="267401"/>
                  <a:pt x="271711" y="264906"/>
                </a:cubicBezTo>
                <a:cubicBezTo>
                  <a:pt x="278261" y="259931"/>
                  <a:pt x="284019" y="255208"/>
                  <a:pt x="288985" y="250738"/>
                </a:cubicBezTo>
                <a:cubicBezTo>
                  <a:pt x="293951" y="246267"/>
                  <a:pt x="300295" y="242832"/>
                  <a:pt x="308015" y="240432"/>
                </a:cubicBezTo>
                <a:cubicBezTo>
                  <a:pt x="313215" y="235183"/>
                  <a:pt x="315642" y="230227"/>
                  <a:pt x="315296" y="225564"/>
                </a:cubicBezTo>
                <a:cubicBezTo>
                  <a:pt x="314950" y="220902"/>
                  <a:pt x="311302" y="217248"/>
                  <a:pt x="304353" y="214603"/>
                </a:cubicBezTo>
                <a:cubicBezTo>
                  <a:pt x="299440" y="212453"/>
                  <a:pt x="294955" y="211378"/>
                  <a:pt x="290897" y="211378"/>
                </a:cubicBezTo>
                <a:cubicBezTo>
                  <a:pt x="286839" y="211378"/>
                  <a:pt x="282104" y="211536"/>
                  <a:pt x="276692" y="211853"/>
                </a:cubicBezTo>
                <a:cubicBezTo>
                  <a:pt x="270017" y="213628"/>
                  <a:pt x="266111" y="212625"/>
                  <a:pt x="264974" y="208843"/>
                </a:cubicBezTo>
                <a:cubicBezTo>
                  <a:pt x="263836" y="205062"/>
                  <a:pt x="264182" y="199131"/>
                  <a:pt x="266011" y="191048"/>
                </a:cubicBezTo>
                <a:cubicBezTo>
                  <a:pt x="266736" y="189381"/>
                  <a:pt x="267177" y="186220"/>
                  <a:pt x="267333" y="181564"/>
                </a:cubicBezTo>
                <a:cubicBezTo>
                  <a:pt x="267489" y="176908"/>
                  <a:pt x="265455" y="172676"/>
                  <a:pt x="261230" y="168868"/>
                </a:cubicBezTo>
                <a:cubicBezTo>
                  <a:pt x="256360" y="168297"/>
                  <a:pt x="253304" y="167725"/>
                  <a:pt x="252062" y="167152"/>
                </a:cubicBezTo>
                <a:cubicBezTo>
                  <a:pt x="250821" y="166579"/>
                  <a:pt x="248204" y="164458"/>
                  <a:pt x="244213" y="160787"/>
                </a:cubicBezTo>
                <a:close/>
                <a:moveTo>
                  <a:pt x="703154" y="157062"/>
                </a:moveTo>
                <a:lnTo>
                  <a:pt x="697242" y="159593"/>
                </a:lnTo>
                <a:cubicBezTo>
                  <a:pt x="683156" y="165826"/>
                  <a:pt x="669984" y="175466"/>
                  <a:pt x="657726" y="188513"/>
                </a:cubicBezTo>
                <a:cubicBezTo>
                  <a:pt x="645468" y="201561"/>
                  <a:pt x="633146" y="213140"/>
                  <a:pt x="620760" y="223252"/>
                </a:cubicBezTo>
                <a:cubicBezTo>
                  <a:pt x="608423" y="227173"/>
                  <a:pt x="600173" y="236138"/>
                  <a:pt x="596011" y="250147"/>
                </a:cubicBezTo>
                <a:cubicBezTo>
                  <a:pt x="591849" y="264157"/>
                  <a:pt x="594826" y="275815"/>
                  <a:pt x="604942" y="285123"/>
                </a:cubicBezTo>
                <a:cubicBezTo>
                  <a:pt x="609241" y="287044"/>
                  <a:pt x="613131" y="287874"/>
                  <a:pt x="616610" y="287614"/>
                </a:cubicBezTo>
                <a:lnTo>
                  <a:pt x="627710" y="288002"/>
                </a:lnTo>
                <a:lnTo>
                  <a:pt x="617585" y="314540"/>
                </a:lnTo>
                <a:cubicBezTo>
                  <a:pt x="615589" y="323519"/>
                  <a:pt x="615022" y="332499"/>
                  <a:pt x="615885" y="341482"/>
                </a:cubicBezTo>
                <a:cubicBezTo>
                  <a:pt x="617610" y="359448"/>
                  <a:pt x="623345" y="377338"/>
                  <a:pt x="633090" y="395154"/>
                </a:cubicBezTo>
                <a:lnTo>
                  <a:pt x="638353" y="398162"/>
                </a:lnTo>
                <a:lnTo>
                  <a:pt x="636627" y="399379"/>
                </a:lnTo>
                <a:cubicBezTo>
                  <a:pt x="627694" y="404928"/>
                  <a:pt x="619757" y="408578"/>
                  <a:pt x="612816" y="410328"/>
                </a:cubicBezTo>
                <a:cubicBezTo>
                  <a:pt x="605875" y="412078"/>
                  <a:pt x="597603" y="414190"/>
                  <a:pt x="587999" y="416665"/>
                </a:cubicBezTo>
                <a:cubicBezTo>
                  <a:pt x="578408" y="419282"/>
                  <a:pt x="572238" y="422575"/>
                  <a:pt x="569491" y="426546"/>
                </a:cubicBezTo>
                <a:cubicBezTo>
                  <a:pt x="566743" y="430516"/>
                  <a:pt x="564100" y="436872"/>
                  <a:pt x="561563" y="445613"/>
                </a:cubicBezTo>
                <a:cubicBezTo>
                  <a:pt x="560755" y="454571"/>
                  <a:pt x="562833" y="460544"/>
                  <a:pt x="567797" y="463531"/>
                </a:cubicBezTo>
                <a:cubicBezTo>
                  <a:pt x="572761" y="466518"/>
                  <a:pt x="579602" y="466656"/>
                  <a:pt x="588318" y="463944"/>
                </a:cubicBezTo>
                <a:cubicBezTo>
                  <a:pt x="592076" y="460448"/>
                  <a:pt x="595425" y="458029"/>
                  <a:pt x="598364" y="456688"/>
                </a:cubicBezTo>
                <a:cubicBezTo>
                  <a:pt x="601303" y="455346"/>
                  <a:pt x="605444" y="453613"/>
                  <a:pt x="610785" y="451488"/>
                </a:cubicBezTo>
                <a:cubicBezTo>
                  <a:pt x="618443" y="446209"/>
                  <a:pt x="625522" y="442070"/>
                  <a:pt x="632021" y="439070"/>
                </a:cubicBezTo>
                <a:cubicBezTo>
                  <a:pt x="638521" y="436070"/>
                  <a:pt x="645714" y="434062"/>
                  <a:pt x="653601" y="433045"/>
                </a:cubicBezTo>
                <a:lnTo>
                  <a:pt x="659562" y="429079"/>
                </a:lnTo>
                <a:lnTo>
                  <a:pt x="669444" y="438944"/>
                </a:lnTo>
                <a:cubicBezTo>
                  <a:pt x="673288" y="441737"/>
                  <a:pt x="677277" y="443632"/>
                  <a:pt x="681412" y="444629"/>
                </a:cubicBezTo>
                <a:cubicBezTo>
                  <a:pt x="689682" y="446623"/>
                  <a:pt x="697801" y="441878"/>
                  <a:pt x="705767" y="430396"/>
                </a:cubicBezTo>
                <a:cubicBezTo>
                  <a:pt x="709392" y="425921"/>
                  <a:pt x="712821" y="423293"/>
                  <a:pt x="716054" y="422512"/>
                </a:cubicBezTo>
                <a:cubicBezTo>
                  <a:pt x="719287" y="421730"/>
                  <a:pt x="723089" y="423879"/>
                  <a:pt x="727459" y="428958"/>
                </a:cubicBezTo>
                <a:cubicBezTo>
                  <a:pt x="737934" y="436170"/>
                  <a:pt x="746698" y="439562"/>
                  <a:pt x="753751" y="439133"/>
                </a:cubicBezTo>
                <a:cubicBezTo>
                  <a:pt x="760805" y="438703"/>
                  <a:pt x="768834" y="434268"/>
                  <a:pt x="777837" y="425827"/>
                </a:cubicBezTo>
                <a:cubicBezTo>
                  <a:pt x="782925" y="422132"/>
                  <a:pt x="788044" y="419675"/>
                  <a:pt x="793196" y="418459"/>
                </a:cubicBezTo>
                <a:cubicBezTo>
                  <a:pt x="798348" y="417242"/>
                  <a:pt x="802511" y="419990"/>
                  <a:pt x="805686" y="426702"/>
                </a:cubicBezTo>
                <a:cubicBezTo>
                  <a:pt x="808331" y="432268"/>
                  <a:pt x="812787" y="436262"/>
                  <a:pt x="819054" y="438683"/>
                </a:cubicBezTo>
                <a:cubicBezTo>
                  <a:pt x="825320" y="441103"/>
                  <a:pt x="830824" y="443366"/>
                  <a:pt x="835565" y="445470"/>
                </a:cubicBezTo>
                <a:cubicBezTo>
                  <a:pt x="841011" y="447649"/>
                  <a:pt x="846926" y="449205"/>
                  <a:pt x="853311" y="450138"/>
                </a:cubicBezTo>
                <a:cubicBezTo>
                  <a:pt x="859696" y="451071"/>
                  <a:pt x="866076" y="448305"/>
                  <a:pt x="872450" y="441839"/>
                </a:cubicBezTo>
                <a:cubicBezTo>
                  <a:pt x="874434" y="426852"/>
                  <a:pt x="868867" y="415380"/>
                  <a:pt x="855751" y="407422"/>
                </a:cubicBezTo>
                <a:cubicBezTo>
                  <a:pt x="842636" y="399464"/>
                  <a:pt x="830865" y="394935"/>
                  <a:pt x="820441" y="393835"/>
                </a:cubicBezTo>
                <a:cubicBezTo>
                  <a:pt x="817041" y="393590"/>
                  <a:pt x="813883" y="392988"/>
                  <a:pt x="810967" y="392032"/>
                </a:cubicBezTo>
                <a:cubicBezTo>
                  <a:pt x="808050" y="391076"/>
                  <a:pt x="804267" y="391552"/>
                  <a:pt x="799617" y="393460"/>
                </a:cubicBezTo>
                <a:lnTo>
                  <a:pt x="792337" y="398316"/>
                </a:lnTo>
                <a:cubicBezTo>
                  <a:pt x="785874" y="401429"/>
                  <a:pt x="779292" y="404209"/>
                  <a:pt x="772591" y="406656"/>
                </a:cubicBezTo>
                <a:cubicBezTo>
                  <a:pt x="765889" y="409104"/>
                  <a:pt x="759284" y="410809"/>
                  <a:pt x="752776" y="411772"/>
                </a:cubicBezTo>
                <a:cubicBezTo>
                  <a:pt x="749956" y="411772"/>
                  <a:pt x="746991" y="410996"/>
                  <a:pt x="743883" y="409444"/>
                </a:cubicBezTo>
                <a:cubicBezTo>
                  <a:pt x="740775" y="407892"/>
                  <a:pt x="737227" y="406116"/>
                  <a:pt x="733240" y="404116"/>
                </a:cubicBezTo>
                <a:cubicBezTo>
                  <a:pt x="724432" y="402687"/>
                  <a:pt x="716712" y="403291"/>
                  <a:pt x="710079" y="405928"/>
                </a:cubicBezTo>
                <a:cubicBezTo>
                  <a:pt x="703446" y="408566"/>
                  <a:pt x="696957" y="411593"/>
                  <a:pt x="690611" y="415009"/>
                </a:cubicBezTo>
                <a:cubicBezTo>
                  <a:pt x="686878" y="417146"/>
                  <a:pt x="683925" y="418448"/>
                  <a:pt x="681753" y="418915"/>
                </a:cubicBezTo>
                <a:cubicBezTo>
                  <a:pt x="679580" y="419382"/>
                  <a:pt x="677377" y="418392"/>
                  <a:pt x="675144" y="415946"/>
                </a:cubicBezTo>
                <a:cubicBezTo>
                  <a:pt x="669482" y="412642"/>
                  <a:pt x="664947" y="412265"/>
                  <a:pt x="661541" y="414815"/>
                </a:cubicBezTo>
                <a:lnTo>
                  <a:pt x="658261" y="419881"/>
                </a:lnTo>
                <a:lnTo>
                  <a:pt x="653832" y="414597"/>
                </a:lnTo>
                <a:cubicBezTo>
                  <a:pt x="652333" y="414097"/>
                  <a:pt x="651503" y="414014"/>
                  <a:pt x="651345" y="414350"/>
                </a:cubicBezTo>
                <a:cubicBezTo>
                  <a:pt x="651187" y="414685"/>
                  <a:pt x="651818" y="414584"/>
                  <a:pt x="653239" y="414047"/>
                </a:cubicBezTo>
                <a:cubicBezTo>
                  <a:pt x="659705" y="407322"/>
                  <a:pt x="665720" y="402509"/>
                  <a:pt x="671285" y="399607"/>
                </a:cubicBezTo>
                <a:cubicBezTo>
                  <a:pt x="676849" y="396705"/>
                  <a:pt x="682752" y="394504"/>
                  <a:pt x="688993" y="393004"/>
                </a:cubicBezTo>
                <a:cubicBezTo>
                  <a:pt x="699255" y="389196"/>
                  <a:pt x="708381" y="385632"/>
                  <a:pt x="716372" y="382311"/>
                </a:cubicBezTo>
                <a:cubicBezTo>
                  <a:pt x="724364" y="378990"/>
                  <a:pt x="732636" y="376576"/>
                  <a:pt x="741190" y="375068"/>
                </a:cubicBezTo>
                <a:cubicBezTo>
                  <a:pt x="742223" y="375068"/>
                  <a:pt x="743801" y="376068"/>
                  <a:pt x="745924" y="378068"/>
                </a:cubicBezTo>
                <a:cubicBezTo>
                  <a:pt x="748047" y="380067"/>
                  <a:pt x="751093" y="381419"/>
                  <a:pt x="755064" y="382124"/>
                </a:cubicBezTo>
                <a:cubicBezTo>
                  <a:pt x="766601" y="381503"/>
                  <a:pt x="774970" y="375811"/>
                  <a:pt x="780172" y="365050"/>
                </a:cubicBezTo>
                <a:cubicBezTo>
                  <a:pt x="785373" y="354288"/>
                  <a:pt x="789785" y="345603"/>
                  <a:pt x="793405" y="338995"/>
                </a:cubicBezTo>
                <a:cubicBezTo>
                  <a:pt x="798680" y="330108"/>
                  <a:pt x="802699" y="321848"/>
                  <a:pt x="805464" y="314215"/>
                </a:cubicBezTo>
                <a:cubicBezTo>
                  <a:pt x="808228" y="306582"/>
                  <a:pt x="810721" y="298604"/>
                  <a:pt x="812942" y="290279"/>
                </a:cubicBezTo>
                <a:cubicBezTo>
                  <a:pt x="814075" y="284125"/>
                  <a:pt x="812919" y="277859"/>
                  <a:pt x="809473" y="271480"/>
                </a:cubicBezTo>
                <a:cubicBezTo>
                  <a:pt x="806027" y="265102"/>
                  <a:pt x="800826" y="260921"/>
                  <a:pt x="793868" y="258937"/>
                </a:cubicBezTo>
                <a:cubicBezTo>
                  <a:pt x="786456" y="257821"/>
                  <a:pt x="779749" y="256681"/>
                  <a:pt x="773747" y="255519"/>
                </a:cubicBezTo>
                <a:cubicBezTo>
                  <a:pt x="767745" y="254356"/>
                  <a:pt x="760849" y="253919"/>
                  <a:pt x="753058" y="254206"/>
                </a:cubicBezTo>
                <a:cubicBezTo>
                  <a:pt x="749200" y="254719"/>
                  <a:pt x="745498" y="255435"/>
                  <a:pt x="741952" y="256356"/>
                </a:cubicBezTo>
                <a:cubicBezTo>
                  <a:pt x="738406" y="257277"/>
                  <a:pt x="735094" y="257848"/>
                  <a:pt x="732015" y="258069"/>
                </a:cubicBezTo>
                <a:cubicBezTo>
                  <a:pt x="730099" y="257723"/>
                  <a:pt x="728684" y="257532"/>
                  <a:pt x="727772" y="257497"/>
                </a:cubicBezTo>
                <a:cubicBezTo>
                  <a:pt x="726859" y="257461"/>
                  <a:pt x="727697" y="257033"/>
                  <a:pt x="730284" y="256212"/>
                </a:cubicBezTo>
                <a:cubicBezTo>
                  <a:pt x="737329" y="248905"/>
                  <a:pt x="744490" y="242391"/>
                  <a:pt x="751767" y="236673"/>
                </a:cubicBezTo>
                <a:cubicBezTo>
                  <a:pt x="759044" y="230955"/>
                  <a:pt x="765934" y="224416"/>
                  <a:pt x="772438" y="217059"/>
                </a:cubicBezTo>
                <a:cubicBezTo>
                  <a:pt x="777567" y="207176"/>
                  <a:pt x="778756" y="199184"/>
                  <a:pt x="776006" y="193082"/>
                </a:cubicBezTo>
                <a:cubicBezTo>
                  <a:pt x="773256" y="186980"/>
                  <a:pt x="766059" y="184088"/>
                  <a:pt x="754414" y="184404"/>
                </a:cubicBezTo>
                <a:lnTo>
                  <a:pt x="745333" y="187704"/>
                </a:lnTo>
                <a:cubicBezTo>
                  <a:pt x="741496" y="189371"/>
                  <a:pt x="738612" y="189453"/>
                  <a:pt x="736681" y="187951"/>
                </a:cubicBezTo>
                <a:cubicBezTo>
                  <a:pt x="734749" y="186449"/>
                  <a:pt x="733190" y="183200"/>
                  <a:pt x="732003" y="178205"/>
                </a:cubicBezTo>
                <a:cubicBezTo>
                  <a:pt x="730636" y="171943"/>
                  <a:pt x="727418" y="166494"/>
                  <a:pt x="722347" y="161859"/>
                </a:cubicBezTo>
                <a:cubicBezTo>
                  <a:pt x="717277" y="157224"/>
                  <a:pt x="710879" y="155625"/>
                  <a:pt x="703154" y="157062"/>
                </a:cubicBezTo>
                <a:close/>
                <a:moveTo>
                  <a:pt x="771525" y="0"/>
                </a:moveTo>
                <a:lnTo>
                  <a:pt x="914400" y="19050"/>
                </a:lnTo>
                <a:lnTo>
                  <a:pt x="962025" y="114300"/>
                </a:lnTo>
                <a:lnTo>
                  <a:pt x="962025" y="842962"/>
                </a:lnTo>
                <a:lnTo>
                  <a:pt x="881062" y="928687"/>
                </a:lnTo>
                <a:lnTo>
                  <a:pt x="666750" y="938212"/>
                </a:lnTo>
                <a:lnTo>
                  <a:pt x="100012" y="938212"/>
                </a:lnTo>
                <a:lnTo>
                  <a:pt x="57150" y="909637"/>
                </a:lnTo>
                <a:lnTo>
                  <a:pt x="14287" y="847725"/>
                </a:lnTo>
                <a:lnTo>
                  <a:pt x="0" y="242887"/>
                </a:lnTo>
                <a:lnTo>
                  <a:pt x="61912" y="14287"/>
                </a:lnTo>
                <a:close/>
              </a:path>
            </a:pathLst>
          </a:custGeom>
        </p:spPr>
      </p:pic>
      <p:sp>
        <p:nvSpPr>
          <p:cNvPr id="16" name="文本框 15"/>
          <p:cNvSpPr txBox="1"/>
          <p:nvPr/>
        </p:nvSpPr>
        <p:spPr>
          <a:xfrm>
            <a:off x="5233305" y="2169478"/>
            <a:ext cx="1724025" cy="1847557"/>
          </a:xfrm>
          <a:custGeom>
            <a:avLst/>
            <a:gdLst/>
            <a:ahLst/>
            <a:cxnLst/>
            <a:rect l="l" t="t" r="r" b="b"/>
            <a:pathLst>
              <a:path w="1724025" h="1847557">
                <a:moveTo>
                  <a:pt x="1000125" y="1181100"/>
                </a:moveTo>
                <a:cubicBezTo>
                  <a:pt x="1002665" y="1181100"/>
                  <a:pt x="1004173" y="1181259"/>
                  <a:pt x="1004649" y="1181576"/>
                </a:cubicBezTo>
                <a:cubicBezTo>
                  <a:pt x="1005126" y="1181894"/>
                  <a:pt x="1004570" y="1182370"/>
                  <a:pt x="1002983" y="1183005"/>
                </a:cubicBezTo>
                <a:cubicBezTo>
                  <a:pt x="999808" y="1184275"/>
                  <a:pt x="996950" y="1184275"/>
                  <a:pt x="994410" y="1183005"/>
                </a:cubicBezTo>
                <a:close/>
                <a:moveTo>
                  <a:pt x="998220" y="1178243"/>
                </a:moveTo>
                <a:cubicBezTo>
                  <a:pt x="989330" y="1180148"/>
                  <a:pt x="979805" y="1184275"/>
                  <a:pt x="969645" y="1190625"/>
                </a:cubicBezTo>
                <a:cubicBezTo>
                  <a:pt x="946785" y="1196975"/>
                  <a:pt x="927735" y="1205230"/>
                  <a:pt x="912495" y="1215390"/>
                </a:cubicBezTo>
                <a:cubicBezTo>
                  <a:pt x="912495" y="1220470"/>
                  <a:pt x="914400" y="1223328"/>
                  <a:pt x="918210" y="1223963"/>
                </a:cubicBezTo>
                <a:cubicBezTo>
                  <a:pt x="922020" y="1224598"/>
                  <a:pt x="927100" y="1224280"/>
                  <a:pt x="933450" y="1223010"/>
                </a:cubicBezTo>
                <a:cubicBezTo>
                  <a:pt x="939800" y="1221740"/>
                  <a:pt x="944880" y="1221105"/>
                  <a:pt x="948690" y="1221105"/>
                </a:cubicBezTo>
                <a:lnTo>
                  <a:pt x="952500" y="1221105"/>
                </a:lnTo>
                <a:cubicBezTo>
                  <a:pt x="958850" y="1219835"/>
                  <a:pt x="967740" y="1218565"/>
                  <a:pt x="979170" y="1217295"/>
                </a:cubicBezTo>
                <a:cubicBezTo>
                  <a:pt x="990600" y="1216025"/>
                  <a:pt x="1000125" y="1213485"/>
                  <a:pt x="1007745" y="1209675"/>
                </a:cubicBezTo>
                <a:lnTo>
                  <a:pt x="1009650" y="1198245"/>
                </a:lnTo>
                <a:lnTo>
                  <a:pt x="1009650" y="1190625"/>
                </a:lnTo>
                <a:cubicBezTo>
                  <a:pt x="1009968" y="1188085"/>
                  <a:pt x="1009968" y="1185922"/>
                  <a:pt x="1009650" y="1184136"/>
                </a:cubicBezTo>
                <a:cubicBezTo>
                  <a:pt x="1008698" y="1178778"/>
                  <a:pt x="1004888" y="1176814"/>
                  <a:pt x="998220" y="1178243"/>
                </a:cubicBezTo>
                <a:close/>
                <a:moveTo>
                  <a:pt x="436245" y="571500"/>
                </a:moveTo>
                <a:cubicBezTo>
                  <a:pt x="427355" y="579120"/>
                  <a:pt x="414655" y="585788"/>
                  <a:pt x="398145" y="591503"/>
                </a:cubicBezTo>
                <a:cubicBezTo>
                  <a:pt x="381635" y="597218"/>
                  <a:pt x="370205" y="601980"/>
                  <a:pt x="363855" y="605790"/>
                </a:cubicBezTo>
                <a:cubicBezTo>
                  <a:pt x="360045" y="615950"/>
                  <a:pt x="356870" y="632460"/>
                  <a:pt x="354330" y="655320"/>
                </a:cubicBezTo>
                <a:cubicBezTo>
                  <a:pt x="359410" y="657860"/>
                  <a:pt x="364490" y="657225"/>
                  <a:pt x="369570" y="653415"/>
                </a:cubicBezTo>
                <a:cubicBezTo>
                  <a:pt x="374650" y="649605"/>
                  <a:pt x="379413" y="644208"/>
                  <a:pt x="383858" y="637223"/>
                </a:cubicBezTo>
                <a:cubicBezTo>
                  <a:pt x="388303" y="630238"/>
                  <a:pt x="391160" y="625475"/>
                  <a:pt x="392430" y="622935"/>
                </a:cubicBezTo>
                <a:cubicBezTo>
                  <a:pt x="410210" y="612775"/>
                  <a:pt x="422275" y="603885"/>
                  <a:pt x="428625" y="596265"/>
                </a:cubicBezTo>
                <a:cubicBezTo>
                  <a:pt x="432435" y="592455"/>
                  <a:pt x="434340" y="587375"/>
                  <a:pt x="434340" y="581025"/>
                </a:cubicBezTo>
                <a:lnTo>
                  <a:pt x="436245" y="573405"/>
                </a:lnTo>
                <a:close/>
                <a:moveTo>
                  <a:pt x="1198245" y="548640"/>
                </a:moveTo>
                <a:cubicBezTo>
                  <a:pt x="1181735" y="552450"/>
                  <a:pt x="1165860" y="558165"/>
                  <a:pt x="1150620" y="565785"/>
                </a:cubicBezTo>
                <a:cubicBezTo>
                  <a:pt x="1148080" y="575945"/>
                  <a:pt x="1146810" y="584200"/>
                  <a:pt x="1146810" y="590550"/>
                </a:cubicBezTo>
                <a:lnTo>
                  <a:pt x="1148715" y="624840"/>
                </a:lnTo>
                <a:cubicBezTo>
                  <a:pt x="1155065" y="626110"/>
                  <a:pt x="1161098" y="624523"/>
                  <a:pt x="1166813" y="620078"/>
                </a:cubicBezTo>
                <a:cubicBezTo>
                  <a:pt x="1172528" y="615633"/>
                  <a:pt x="1177290" y="612140"/>
                  <a:pt x="1181100" y="609600"/>
                </a:cubicBezTo>
                <a:cubicBezTo>
                  <a:pt x="1184910" y="605790"/>
                  <a:pt x="1187768" y="600710"/>
                  <a:pt x="1189673" y="594360"/>
                </a:cubicBezTo>
                <a:cubicBezTo>
                  <a:pt x="1191578" y="588010"/>
                  <a:pt x="1193165" y="583565"/>
                  <a:pt x="1194435" y="581025"/>
                </a:cubicBezTo>
                <a:cubicBezTo>
                  <a:pt x="1193165" y="577215"/>
                  <a:pt x="1193800" y="572453"/>
                  <a:pt x="1196340" y="566738"/>
                </a:cubicBezTo>
                <a:cubicBezTo>
                  <a:pt x="1198880" y="561023"/>
                  <a:pt x="1200150" y="556260"/>
                  <a:pt x="1200150" y="552450"/>
                </a:cubicBezTo>
                <a:lnTo>
                  <a:pt x="1200150" y="548640"/>
                </a:lnTo>
                <a:close/>
                <a:moveTo>
                  <a:pt x="1249680" y="266700"/>
                </a:moveTo>
                <a:cubicBezTo>
                  <a:pt x="1236980" y="273050"/>
                  <a:pt x="1225550" y="276225"/>
                  <a:pt x="1215390" y="276225"/>
                </a:cubicBezTo>
                <a:cubicBezTo>
                  <a:pt x="1200150" y="281305"/>
                  <a:pt x="1189355" y="286385"/>
                  <a:pt x="1183005" y="291465"/>
                </a:cubicBezTo>
                <a:cubicBezTo>
                  <a:pt x="1181735" y="300355"/>
                  <a:pt x="1179830" y="308610"/>
                  <a:pt x="1177290" y="316230"/>
                </a:cubicBezTo>
                <a:cubicBezTo>
                  <a:pt x="1174750" y="323850"/>
                  <a:pt x="1172845" y="332105"/>
                  <a:pt x="1171575" y="340995"/>
                </a:cubicBezTo>
                <a:cubicBezTo>
                  <a:pt x="1171575" y="351155"/>
                  <a:pt x="1171258" y="365443"/>
                  <a:pt x="1170623" y="383858"/>
                </a:cubicBezTo>
                <a:cubicBezTo>
                  <a:pt x="1169988" y="402273"/>
                  <a:pt x="1168400" y="418465"/>
                  <a:pt x="1165860" y="432435"/>
                </a:cubicBezTo>
                <a:cubicBezTo>
                  <a:pt x="1156970" y="442595"/>
                  <a:pt x="1158875" y="447675"/>
                  <a:pt x="1171575" y="447675"/>
                </a:cubicBezTo>
                <a:cubicBezTo>
                  <a:pt x="1184275" y="447675"/>
                  <a:pt x="1198245" y="445135"/>
                  <a:pt x="1213485" y="440055"/>
                </a:cubicBezTo>
                <a:cubicBezTo>
                  <a:pt x="1223645" y="434975"/>
                  <a:pt x="1230948" y="426403"/>
                  <a:pt x="1235393" y="414338"/>
                </a:cubicBezTo>
                <a:cubicBezTo>
                  <a:pt x="1239838" y="402273"/>
                  <a:pt x="1242695" y="394970"/>
                  <a:pt x="1243965" y="392430"/>
                </a:cubicBezTo>
                <a:cubicBezTo>
                  <a:pt x="1245235" y="383540"/>
                  <a:pt x="1247775" y="373063"/>
                  <a:pt x="1251585" y="360998"/>
                </a:cubicBezTo>
                <a:cubicBezTo>
                  <a:pt x="1255395" y="348933"/>
                  <a:pt x="1257935" y="337820"/>
                  <a:pt x="1259205" y="327660"/>
                </a:cubicBezTo>
                <a:cubicBezTo>
                  <a:pt x="1261745" y="312420"/>
                  <a:pt x="1263015" y="300990"/>
                  <a:pt x="1263015" y="293370"/>
                </a:cubicBezTo>
                <a:cubicBezTo>
                  <a:pt x="1263015" y="285750"/>
                  <a:pt x="1262380" y="280035"/>
                  <a:pt x="1261110" y="276225"/>
                </a:cubicBezTo>
                <a:lnTo>
                  <a:pt x="1257300" y="272415"/>
                </a:lnTo>
                <a:lnTo>
                  <a:pt x="1251585" y="268605"/>
                </a:lnTo>
                <a:close/>
                <a:moveTo>
                  <a:pt x="440055" y="188595"/>
                </a:moveTo>
                <a:lnTo>
                  <a:pt x="443865" y="188595"/>
                </a:lnTo>
                <a:cubicBezTo>
                  <a:pt x="455295" y="187325"/>
                  <a:pt x="466090" y="189865"/>
                  <a:pt x="476250" y="196215"/>
                </a:cubicBezTo>
                <a:cubicBezTo>
                  <a:pt x="486410" y="202565"/>
                  <a:pt x="494030" y="207010"/>
                  <a:pt x="499110" y="209550"/>
                </a:cubicBezTo>
                <a:cubicBezTo>
                  <a:pt x="539750" y="215900"/>
                  <a:pt x="579755" y="240030"/>
                  <a:pt x="619125" y="281940"/>
                </a:cubicBezTo>
                <a:cubicBezTo>
                  <a:pt x="621665" y="292100"/>
                  <a:pt x="621030" y="301943"/>
                  <a:pt x="617220" y="311468"/>
                </a:cubicBezTo>
                <a:cubicBezTo>
                  <a:pt x="613410" y="320993"/>
                  <a:pt x="610870" y="327025"/>
                  <a:pt x="609600" y="329565"/>
                </a:cubicBezTo>
                <a:cubicBezTo>
                  <a:pt x="608330" y="330835"/>
                  <a:pt x="605155" y="334328"/>
                  <a:pt x="600075" y="340043"/>
                </a:cubicBezTo>
                <a:cubicBezTo>
                  <a:pt x="594995" y="345758"/>
                  <a:pt x="589280" y="349250"/>
                  <a:pt x="582930" y="350520"/>
                </a:cubicBezTo>
                <a:cubicBezTo>
                  <a:pt x="568960" y="351790"/>
                  <a:pt x="554038" y="350520"/>
                  <a:pt x="538163" y="346710"/>
                </a:cubicBezTo>
                <a:cubicBezTo>
                  <a:pt x="522288" y="342900"/>
                  <a:pt x="512445" y="340360"/>
                  <a:pt x="508635" y="339090"/>
                </a:cubicBezTo>
                <a:cubicBezTo>
                  <a:pt x="478155" y="331470"/>
                  <a:pt x="455295" y="327660"/>
                  <a:pt x="440055" y="327660"/>
                </a:cubicBezTo>
                <a:cubicBezTo>
                  <a:pt x="431165" y="327660"/>
                  <a:pt x="424180" y="328295"/>
                  <a:pt x="419100" y="329565"/>
                </a:cubicBezTo>
                <a:cubicBezTo>
                  <a:pt x="405130" y="340995"/>
                  <a:pt x="396875" y="349885"/>
                  <a:pt x="394335" y="356235"/>
                </a:cubicBezTo>
                <a:cubicBezTo>
                  <a:pt x="384175" y="381635"/>
                  <a:pt x="377190" y="404495"/>
                  <a:pt x="373380" y="424815"/>
                </a:cubicBezTo>
                <a:cubicBezTo>
                  <a:pt x="373380" y="445135"/>
                  <a:pt x="371475" y="466090"/>
                  <a:pt x="367665" y="487680"/>
                </a:cubicBezTo>
                <a:lnTo>
                  <a:pt x="367665" y="537210"/>
                </a:lnTo>
                <a:cubicBezTo>
                  <a:pt x="376555" y="537210"/>
                  <a:pt x="385763" y="531495"/>
                  <a:pt x="395288" y="520065"/>
                </a:cubicBezTo>
                <a:cubicBezTo>
                  <a:pt x="404813" y="508635"/>
                  <a:pt x="412750" y="500380"/>
                  <a:pt x="419100" y="495300"/>
                </a:cubicBezTo>
                <a:cubicBezTo>
                  <a:pt x="426720" y="486410"/>
                  <a:pt x="436245" y="477203"/>
                  <a:pt x="447675" y="467678"/>
                </a:cubicBezTo>
                <a:cubicBezTo>
                  <a:pt x="459105" y="458153"/>
                  <a:pt x="467995" y="450850"/>
                  <a:pt x="474345" y="445770"/>
                </a:cubicBezTo>
                <a:cubicBezTo>
                  <a:pt x="479425" y="440690"/>
                  <a:pt x="486410" y="438150"/>
                  <a:pt x="495300" y="438150"/>
                </a:cubicBezTo>
                <a:cubicBezTo>
                  <a:pt x="499110" y="438150"/>
                  <a:pt x="506095" y="439420"/>
                  <a:pt x="516255" y="441960"/>
                </a:cubicBezTo>
                <a:cubicBezTo>
                  <a:pt x="527685" y="453390"/>
                  <a:pt x="535305" y="460375"/>
                  <a:pt x="539115" y="462915"/>
                </a:cubicBezTo>
                <a:cubicBezTo>
                  <a:pt x="549275" y="461645"/>
                  <a:pt x="558800" y="465138"/>
                  <a:pt x="567690" y="473393"/>
                </a:cubicBezTo>
                <a:cubicBezTo>
                  <a:pt x="576580" y="481648"/>
                  <a:pt x="582930" y="487045"/>
                  <a:pt x="586740" y="489585"/>
                </a:cubicBezTo>
                <a:cubicBezTo>
                  <a:pt x="596900" y="502285"/>
                  <a:pt x="603885" y="511810"/>
                  <a:pt x="607695" y="518160"/>
                </a:cubicBezTo>
                <a:cubicBezTo>
                  <a:pt x="608965" y="523240"/>
                  <a:pt x="609600" y="530225"/>
                  <a:pt x="609600" y="539115"/>
                </a:cubicBezTo>
                <a:cubicBezTo>
                  <a:pt x="609600" y="551815"/>
                  <a:pt x="606425" y="565785"/>
                  <a:pt x="600075" y="581025"/>
                </a:cubicBezTo>
                <a:cubicBezTo>
                  <a:pt x="594995" y="586105"/>
                  <a:pt x="587693" y="594360"/>
                  <a:pt x="578168" y="605790"/>
                </a:cubicBezTo>
                <a:cubicBezTo>
                  <a:pt x="568643" y="617220"/>
                  <a:pt x="558165" y="623570"/>
                  <a:pt x="546735" y="624840"/>
                </a:cubicBezTo>
                <a:cubicBezTo>
                  <a:pt x="537845" y="637540"/>
                  <a:pt x="526415" y="648970"/>
                  <a:pt x="512445" y="659130"/>
                </a:cubicBezTo>
                <a:cubicBezTo>
                  <a:pt x="509905" y="660400"/>
                  <a:pt x="505778" y="661988"/>
                  <a:pt x="500063" y="663893"/>
                </a:cubicBezTo>
                <a:cubicBezTo>
                  <a:pt x="494348" y="665798"/>
                  <a:pt x="489585" y="668655"/>
                  <a:pt x="485775" y="672465"/>
                </a:cubicBezTo>
                <a:cubicBezTo>
                  <a:pt x="476885" y="673735"/>
                  <a:pt x="472440" y="678815"/>
                  <a:pt x="472440" y="687705"/>
                </a:cubicBezTo>
                <a:cubicBezTo>
                  <a:pt x="472440" y="694055"/>
                  <a:pt x="476885" y="700405"/>
                  <a:pt x="485775" y="706755"/>
                </a:cubicBezTo>
                <a:cubicBezTo>
                  <a:pt x="490855" y="709295"/>
                  <a:pt x="499745" y="711200"/>
                  <a:pt x="512445" y="712470"/>
                </a:cubicBezTo>
                <a:cubicBezTo>
                  <a:pt x="525145" y="713740"/>
                  <a:pt x="534035" y="716915"/>
                  <a:pt x="539115" y="721995"/>
                </a:cubicBezTo>
                <a:cubicBezTo>
                  <a:pt x="540385" y="727075"/>
                  <a:pt x="544195" y="733743"/>
                  <a:pt x="550545" y="741998"/>
                </a:cubicBezTo>
                <a:cubicBezTo>
                  <a:pt x="556895" y="750253"/>
                  <a:pt x="560705" y="757555"/>
                  <a:pt x="561975" y="763905"/>
                </a:cubicBezTo>
                <a:cubicBezTo>
                  <a:pt x="569595" y="767715"/>
                  <a:pt x="573723" y="775018"/>
                  <a:pt x="574358" y="785813"/>
                </a:cubicBezTo>
                <a:cubicBezTo>
                  <a:pt x="574993" y="796608"/>
                  <a:pt x="575945" y="804545"/>
                  <a:pt x="577215" y="809625"/>
                </a:cubicBezTo>
                <a:cubicBezTo>
                  <a:pt x="564515" y="824865"/>
                  <a:pt x="548640" y="835978"/>
                  <a:pt x="529590" y="842963"/>
                </a:cubicBezTo>
                <a:cubicBezTo>
                  <a:pt x="510540" y="849948"/>
                  <a:pt x="487680" y="853440"/>
                  <a:pt x="461010" y="853440"/>
                </a:cubicBezTo>
                <a:cubicBezTo>
                  <a:pt x="434340" y="853440"/>
                  <a:pt x="415925" y="853440"/>
                  <a:pt x="405765" y="853440"/>
                </a:cubicBezTo>
                <a:cubicBezTo>
                  <a:pt x="399415" y="854710"/>
                  <a:pt x="393065" y="858838"/>
                  <a:pt x="386715" y="865823"/>
                </a:cubicBezTo>
                <a:cubicBezTo>
                  <a:pt x="380365" y="872808"/>
                  <a:pt x="375285" y="877570"/>
                  <a:pt x="371475" y="880110"/>
                </a:cubicBezTo>
                <a:cubicBezTo>
                  <a:pt x="368935" y="881380"/>
                  <a:pt x="365443" y="883920"/>
                  <a:pt x="360998" y="887730"/>
                </a:cubicBezTo>
                <a:cubicBezTo>
                  <a:pt x="356553" y="891540"/>
                  <a:pt x="352425" y="893445"/>
                  <a:pt x="348615" y="893445"/>
                </a:cubicBezTo>
                <a:lnTo>
                  <a:pt x="346710" y="893445"/>
                </a:lnTo>
                <a:cubicBezTo>
                  <a:pt x="332740" y="902335"/>
                  <a:pt x="325755" y="918845"/>
                  <a:pt x="325755" y="942975"/>
                </a:cubicBezTo>
                <a:lnTo>
                  <a:pt x="325755" y="962025"/>
                </a:lnTo>
                <a:cubicBezTo>
                  <a:pt x="325755" y="973455"/>
                  <a:pt x="328930" y="979170"/>
                  <a:pt x="335280" y="979170"/>
                </a:cubicBezTo>
                <a:cubicBezTo>
                  <a:pt x="340360" y="979170"/>
                  <a:pt x="348298" y="974725"/>
                  <a:pt x="359093" y="965835"/>
                </a:cubicBezTo>
                <a:cubicBezTo>
                  <a:pt x="369888" y="956945"/>
                  <a:pt x="378460" y="950595"/>
                  <a:pt x="384810" y="946785"/>
                </a:cubicBezTo>
                <a:cubicBezTo>
                  <a:pt x="388620" y="940435"/>
                  <a:pt x="396875" y="934720"/>
                  <a:pt x="409575" y="929640"/>
                </a:cubicBezTo>
                <a:cubicBezTo>
                  <a:pt x="412115" y="925830"/>
                  <a:pt x="416878" y="922655"/>
                  <a:pt x="423863" y="920115"/>
                </a:cubicBezTo>
                <a:cubicBezTo>
                  <a:pt x="430848" y="917575"/>
                  <a:pt x="436880" y="915035"/>
                  <a:pt x="441960" y="912495"/>
                </a:cubicBezTo>
                <a:cubicBezTo>
                  <a:pt x="449580" y="909955"/>
                  <a:pt x="455295" y="908685"/>
                  <a:pt x="459105" y="908685"/>
                </a:cubicBezTo>
                <a:cubicBezTo>
                  <a:pt x="462915" y="908685"/>
                  <a:pt x="466090" y="909955"/>
                  <a:pt x="468630" y="912495"/>
                </a:cubicBezTo>
                <a:cubicBezTo>
                  <a:pt x="471170" y="907415"/>
                  <a:pt x="474345" y="906145"/>
                  <a:pt x="478155" y="908685"/>
                </a:cubicBezTo>
                <a:cubicBezTo>
                  <a:pt x="481965" y="911225"/>
                  <a:pt x="486093" y="915035"/>
                  <a:pt x="490538" y="920115"/>
                </a:cubicBezTo>
                <a:cubicBezTo>
                  <a:pt x="494983" y="925195"/>
                  <a:pt x="498475" y="928370"/>
                  <a:pt x="501015" y="929640"/>
                </a:cubicBezTo>
                <a:cubicBezTo>
                  <a:pt x="504825" y="929640"/>
                  <a:pt x="514033" y="930910"/>
                  <a:pt x="528638" y="933450"/>
                </a:cubicBezTo>
                <a:cubicBezTo>
                  <a:pt x="543243" y="935990"/>
                  <a:pt x="555625" y="940435"/>
                  <a:pt x="565785" y="946785"/>
                </a:cubicBezTo>
                <a:cubicBezTo>
                  <a:pt x="570865" y="951865"/>
                  <a:pt x="577850" y="958215"/>
                  <a:pt x="586740" y="965835"/>
                </a:cubicBezTo>
                <a:cubicBezTo>
                  <a:pt x="595630" y="973455"/>
                  <a:pt x="602615" y="980440"/>
                  <a:pt x="607695" y="986790"/>
                </a:cubicBezTo>
                <a:cubicBezTo>
                  <a:pt x="611505" y="1004570"/>
                  <a:pt x="607060" y="1021080"/>
                  <a:pt x="594360" y="1036320"/>
                </a:cubicBezTo>
                <a:cubicBezTo>
                  <a:pt x="588010" y="1041400"/>
                  <a:pt x="577533" y="1045845"/>
                  <a:pt x="562928" y="1049655"/>
                </a:cubicBezTo>
                <a:cubicBezTo>
                  <a:pt x="548323" y="1053465"/>
                  <a:pt x="537845" y="1058545"/>
                  <a:pt x="531495" y="1064895"/>
                </a:cubicBezTo>
                <a:cubicBezTo>
                  <a:pt x="527685" y="1072515"/>
                  <a:pt x="523558" y="1084263"/>
                  <a:pt x="519113" y="1100138"/>
                </a:cubicBezTo>
                <a:cubicBezTo>
                  <a:pt x="514668" y="1116013"/>
                  <a:pt x="507365" y="1127125"/>
                  <a:pt x="497205" y="1133475"/>
                </a:cubicBezTo>
                <a:cubicBezTo>
                  <a:pt x="492125" y="1151255"/>
                  <a:pt x="485775" y="1162685"/>
                  <a:pt x="478155" y="1167765"/>
                </a:cubicBezTo>
                <a:lnTo>
                  <a:pt x="457200" y="1213485"/>
                </a:lnTo>
                <a:cubicBezTo>
                  <a:pt x="462280" y="1214755"/>
                  <a:pt x="467678" y="1212850"/>
                  <a:pt x="473393" y="1207770"/>
                </a:cubicBezTo>
                <a:cubicBezTo>
                  <a:pt x="479108" y="1202690"/>
                  <a:pt x="483235" y="1199515"/>
                  <a:pt x="485775" y="1198245"/>
                </a:cubicBezTo>
                <a:cubicBezTo>
                  <a:pt x="495935" y="1186815"/>
                  <a:pt x="503555" y="1178560"/>
                  <a:pt x="508635" y="1173480"/>
                </a:cubicBezTo>
                <a:cubicBezTo>
                  <a:pt x="509905" y="1154430"/>
                  <a:pt x="512128" y="1140460"/>
                  <a:pt x="515303" y="1131570"/>
                </a:cubicBezTo>
                <a:cubicBezTo>
                  <a:pt x="518478" y="1122680"/>
                  <a:pt x="526415" y="1118870"/>
                  <a:pt x="539115" y="1120140"/>
                </a:cubicBezTo>
                <a:cubicBezTo>
                  <a:pt x="539115" y="1109980"/>
                  <a:pt x="544195" y="1104900"/>
                  <a:pt x="554355" y="1104900"/>
                </a:cubicBezTo>
                <a:cubicBezTo>
                  <a:pt x="559435" y="1104900"/>
                  <a:pt x="569595" y="1108075"/>
                  <a:pt x="584835" y="1114425"/>
                </a:cubicBezTo>
                <a:cubicBezTo>
                  <a:pt x="588645" y="1119505"/>
                  <a:pt x="596900" y="1124585"/>
                  <a:pt x="609600" y="1129665"/>
                </a:cubicBezTo>
                <a:cubicBezTo>
                  <a:pt x="631190" y="1129665"/>
                  <a:pt x="648335" y="1139825"/>
                  <a:pt x="661035" y="1160145"/>
                </a:cubicBezTo>
                <a:cubicBezTo>
                  <a:pt x="666115" y="1171575"/>
                  <a:pt x="669925" y="1188720"/>
                  <a:pt x="672465" y="1211580"/>
                </a:cubicBezTo>
                <a:cubicBezTo>
                  <a:pt x="680085" y="1228090"/>
                  <a:pt x="683895" y="1244600"/>
                  <a:pt x="683895" y="1261110"/>
                </a:cubicBezTo>
                <a:cubicBezTo>
                  <a:pt x="683895" y="1282700"/>
                  <a:pt x="679450" y="1305878"/>
                  <a:pt x="670560" y="1330643"/>
                </a:cubicBezTo>
                <a:cubicBezTo>
                  <a:pt x="661670" y="1355408"/>
                  <a:pt x="655955" y="1372870"/>
                  <a:pt x="653415" y="1383030"/>
                </a:cubicBezTo>
                <a:cubicBezTo>
                  <a:pt x="654685" y="1398270"/>
                  <a:pt x="647065" y="1412875"/>
                  <a:pt x="630555" y="1426845"/>
                </a:cubicBezTo>
                <a:cubicBezTo>
                  <a:pt x="622935" y="1430655"/>
                  <a:pt x="613728" y="1431290"/>
                  <a:pt x="602933" y="1428750"/>
                </a:cubicBezTo>
                <a:cubicBezTo>
                  <a:pt x="592138" y="1426210"/>
                  <a:pt x="584200" y="1424305"/>
                  <a:pt x="579120" y="1423035"/>
                </a:cubicBezTo>
                <a:cubicBezTo>
                  <a:pt x="571500" y="1420495"/>
                  <a:pt x="562610" y="1412875"/>
                  <a:pt x="552450" y="1400175"/>
                </a:cubicBezTo>
                <a:cubicBezTo>
                  <a:pt x="549910" y="1393825"/>
                  <a:pt x="541655" y="1382395"/>
                  <a:pt x="527685" y="1365885"/>
                </a:cubicBezTo>
                <a:cubicBezTo>
                  <a:pt x="526415" y="1360805"/>
                  <a:pt x="525145" y="1355725"/>
                  <a:pt x="523875" y="1350645"/>
                </a:cubicBezTo>
                <a:cubicBezTo>
                  <a:pt x="522605" y="1345565"/>
                  <a:pt x="521335" y="1340485"/>
                  <a:pt x="520065" y="1335405"/>
                </a:cubicBezTo>
                <a:cubicBezTo>
                  <a:pt x="518795" y="1321435"/>
                  <a:pt x="520700" y="1300480"/>
                  <a:pt x="525780" y="1272540"/>
                </a:cubicBezTo>
                <a:cubicBezTo>
                  <a:pt x="527050" y="1267460"/>
                  <a:pt x="528320" y="1261110"/>
                  <a:pt x="529590" y="1253490"/>
                </a:cubicBezTo>
                <a:cubicBezTo>
                  <a:pt x="530860" y="1245870"/>
                  <a:pt x="531495" y="1236980"/>
                  <a:pt x="531495" y="1226820"/>
                </a:cubicBezTo>
                <a:cubicBezTo>
                  <a:pt x="530225" y="1221740"/>
                  <a:pt x="528320" y="1220788"/>
                  <a:pt x="525780" y="1223963"/>
                </a:cubicBezTo>
                <a:cubicBezTo>
                  <a:pt x="523240" y="1227138"/>
                  <a:pt x="521018" y="1230948"/>
                  <a:pt x="519113" y="1235393"/>
                </a:cubicBezTo>
                <a:cubicBezTo>
                  <a:pt x="517208" y="1239838"/>
                  <a:pt x="514985" y="1243330"/>
                  <a:pt x="512445" y="1245870"/>
                </a:cubicBezTo>
                <a:cubicBezTo>
                  <a:pt x="504825" y="1252220"/>
                  <a:pt x="492125" y="1267460"/>
                  <a:pt x="474345" y="1291590"/>
                </a:cubicBezTo>
                <a:cubicBezTo>
                  <a:pt x="451485" y="1319530"/>
                  <a:pt x="435610" y="1337310"/>
                  <a:pt x="426720" y="1344930"/>
                </a:cubicBezTo>
                <a:cubicBezTo>
                  <a:pt x="421640" y="1355090"/>
                  <a:pt x="411480" y="1367790"/>
                  <a:pt x="396240" y="1383030"/>
                </a:cubicBezTo>
                <a:cubicBezTo>
                  <a:pt x="387350" y="1408430"/>
                  <a:pt x="368935" y="1426210"/>
                  <a:pt x="340995" y="1436370"/>
                </a:cubicBezTo>
                <a:cubicBezTo>
                  <a:pt x="334645" y="1433830"/>
                  <a:pt x="327025" y="1430973"/>
                  <a:pt x="318135" y="1427798"/>
                </a:cubicBezTo>
                <a:cubicBezTo>
                  <a:pt x="309245" y="1424623"/>
                  <a:pt x="301625" y="1420813"/>
                  <a:pt x="295275" y="1416368"/>
                </a:cubicBezTo>
                <a:cubicBezTo>
                  <a:pt x="288925" y="1411923"/>
                  <a:pt x="285115" y="1404620"/>
                  <a:pt x="283845" y="1394460"/>
                </a:cubicBezTo>
                <a:cubicBezTo>
                  <a:pt x="278765" y="1386840"/>
                  <a:pt x="273685" y="1377950"/>
                  <a:pt x="268605" y="1367790"/>
                </a:cubicBezTo>
                <a:cubicBezTo>
                  <a:pt x="263525" y="1357630"/>
                  <a:pt x="260985" y="1348740"/>
                  <a:pt x="260985" y="1341120"/>
                </a:cubicBezTo>
                <a:cubicBezTo>
                  <a:pt x="260985" y="1334770"/>
                  <a:pt x="262255" y="1329690"/>
                  <a:pt x="264795" y="1325880"/>
                </a:cubicBezTo>
                <a:cubicBezTo>
                  <a:pt x="260985" y="1315720"/>
                  <a:pt x="260985" y="1306513"/>
                  <a:pt x="264795" y="1298258"/>
                </a:cubicBezTo>
                <a:cubicBezTo>
                  <a:pt x="268605" y="1290003"/>
                  <a:pt x="274955" y="1278255"/>
                  <a:pt x="283845" y="1263015"/>
                </a:cubicBezTo>
                <a:cubicBezTo>
                  <a:pt x="285115" y="1252855"/>
                  <a:pt x="288925" y="1241108"/>
                  <a:pt x="295275" y="1227773"/>
                </a:cubicBezTo>
                <a:cubicBezTo>
                  <a:pt x="301625" y="1214438"/>
                  <a:pt x="306070" y="1202690"/>
                  <a:pt x="308610" y="1192530"/>
                </a:cubicBezTo>
                <a:cubicBezTo>
                  <a:pt x="303530" y="1187450"/>
                  <a:pt x="297815" y="1184910"/>
                  <a:pt x="291465" y="1184910"/>
                </a:cubicBezTo>
                <a:cubicBezTo>
                  <a:pt x="283845" y="1184910"/>
                  <a:pt x="276543" y="1188085"/>
                  <a:pt x="269558" y="1194435"/>
                </a:cubicBezTo>
                <a:cubicBezTo>
                  <a:pt x="262573" y="1200785"/>
                  <a:pt x="254000" y="1210310"/>
                  <a:pt x="243840" y="1223010"/>
                </a:cubicBezTo>
                <a:cubicBezTo>
                  <a:pt x="231140" y="1238250"/>
                  <a:pt x="221615" y="1248410"/>
                  <a:pt x="215265" y="1253490"/>
                </a:cubicBezTo>
                <a:cubicBezTo>
                  <a:pt x="197485" y="1264920"/>
                  <a:pt x="182245" y="1272540"/>
                  <a:pt x="169545" y="1276350"/>
                </a:cubicBezTo>
                <a:cubicBezTo>
                  <a:pt x="160655" y="1275080"/>
                  <a:pt x="150813" y="1275398"/>
                  <a:pt x="140018" y="1277303"/>
                </a:cubicBezTo>
                <a:cubicBezTo>
                  <a:pt x="129223" y="1279208"/>
                  <a:pt x="121920" y="1280160"/>
                  <a:pt x="118110" y="1280160"/>
                </a:cubicBezTo>
                <a:cubicBezTo>
                  <a:pt x="101600" y="1283970"/>
                  <a:pt x="84455" y="1285875"/>
                  <a:pt x="66675" y="1285875"/>
                </a:cubicBezTo>
                <a:cubicBezTo>
                  <a:pt x="56515" y="1282065"/>
                  <a:pt x="46355" y="1276350"/>
                  <a:pt x="36195" y="1268730"/>
                </a:cubicBezTo>
                <a:cubicBezTo>
                  <a:pt x="33655" y="1268730"/>
                  <a:pt x="29845" y="1268413"/>
                  <a:pt x="24765" y="1267778"/>
                </a:cubicBezTo>
                <a:cubicBezTo>
                  <a:pt x="19685" y="1267143"/>
                  <a:pt x="16510" y="1265555"/>
                  <a:pt x="15240" y="1263015"/>
                </a:cubicBezTo>
                <a:cubicBezTo>
                  <a:pt x="15240" y="1252855"/>
                  <a:pt x="10795" y="1242060"/>
                  <a:pt x="1905" y="1230630"/>
                </a:cubicBezTo>
                <a:cubicBezTo>
                  <a:pt x="4445" y="1224280"/>
                  <a:pt x="4763" y="1218248"/>
                  <a:pt x="2858" y="1212533"/>
                </a:cubicBezTo>
                <a:cubicBezTo>
                  <a:pt x="953" y="1206818"/>
                  <a:pt x="0" y="1202690"/>
                  <a:pt x="0" y="1200150"/>
                </a:cubicBezTo>
                <a:cubicBezTo>
                  <a:pt x="0" y="1195070"/>
                  <a:pt x="1905" y="1190625"/>
                  <a:pt x="5715" y="1186815"/>
                </a:cubicBezTo>
                <a:cubicBezTo>
                  <a:pt x="12065" y="1188085"/>
                  <a:pt x="20320" y="1187133"/>
                  <a:pt x="30480" y="1183958"/>
                </a:cubicBezTo>
                <a:cubicBezTo>
                  <a:pt x="40640" y="1180783"/>
                  <a:pt x="48895" y="1179195"/>
                  <a:pt x="55245" y="1179195"/>
                </a:cubicBezTo>
                <a:cubicBezTo>
                  <a:pt x="67945" y="1175385"/>
                  <a:pt x="79693" y="1167765"/>
                  <a:pt x="90488" y="1156335"/>
                </a:cubicBezTo>
                <a:cubicBezTo>
                  <a:pt x="101283" y="1144905"/>
                  <a:pt x="109220" y="1137285"/>
                  <a:pt x="114300" y="1133475"/>
                </a:cubicBezTo>
                <a:cubicBezTo>
                  <a:pt x="132080" y="1123315"/>
                  <a:pt x="144145" y="1114425"/>
                  <a:pt x="150495" y="1106805"/>
                </a:cubicBezTo>
                <a:cubicBezTo>
                  <a:pt x="174625" y="1087755"/>
                  <a:pt x="202565" y="1068705"/>
                  <a:pt x="234315" y="1049655"/>
                </a:cubicBezTo>
                <a:lnTo>
                  <a:pt x="232410" y="977265"/>
                </a:lnTo>
                <a:cubicBezTo>
                  <a:pt x="223520" y="977265"/>
                  <a:pt x="208915" y="979805"/>
                  <a:pt x="188595" y="984885"/>
                </a:cubicBezTo>
                <a:lnTo>
                  <a:pt x="234315" y="933450"/>
                </a:lnTo>
                <a:cubicBezTo>
                  <a:pt x="234315" y="928370"/>
                  <a:pt x="234315" y="913765"/>
                  <a:pt x="234315" y="889635"/>
                </a:cubicBezTo>
                <a:cubicBezTo>
                  <a:pt x="234315" y="865505"/>
                  <a:pt x="236855" y="843280"/>
                  <a:pt x="241935" y="822960"/>
                </a:cubicBezTo>
                <a:cubicBezTo>
                  <a:pt x="241935" y="783590"/>
                  <a:pt x="249555" y="724535"/>
                  <a:pt x="264795" y="645795"/>
                </a:cubicBezTo>
                <a:cubicBezTo>
                  <a:pt x="269875" y="573405"/>
                  <a:pt x="278765" y="516890"/>
                  <a:pt x="291465" y="476250"/>
                </a:cubicBezTo>
                <a:cubicBezTo>
                  <a:pt x="292735" y="461010"/>
                  <a:pt x="296863" y="443230"/>
                  <a:pt x="303848" y="422910"/>
                </a:cubicBezTo>
                <a:cubicBezTo>
                  <a:pt x="310833" y="402590"/>
                  <a:pt x="316230" y="387350"/>
                  <a:pt x="320040" y="377190"/>
                </a:cubicBezTo>
                <a:cubicBezTo>
                  <a:pt x="323850" y="369570"/>
                  <a:pt x="327978" y="358458"/>
                  <a:pt x="332423" y="343853"/>
                </a:cubicBezTo>
                <a:cubicBezTo>
                  <a:pt x="336868" y="329248"/>
                  <a:pt x="344170" y="318770"/>
                  <a:pt x="354330" y="312420"/>
                </a:cubicBezTo>
                <a:cubicBezTo>
                  <a:pt x="355600" y="311150"/>
                  <a:pt x="357823" y="308293"/>
                  <a:pt x="360998" y="303848"/>
                </a:cubicBezTo>
                <a:cubicBezTo>
                  <a:pt x="364173" y="299403"/>
                  <a:pt x="365760" y="295910"/>
                  <a:pt x="365760" y="293370"/>
                </a:cubicBezTo>
                <a:lnTo>
                  <a:pt x="363855" y="287655"/>
                </a:lnTo>
                <a:cubicBezTo>
                  <a:pt x="358775" y="285115"/>
                  <a:pt x="348615" y="276225"/>
                  <a:pt x="333375" y="260985"/>
                </a:cubicBezTo>
                <a:cubicBezTo>
                  <a:pt x="332105" y="253365"/>
                  <a:pt x="327660" y="243205"/>
                  <a:pt x="320040" y="230505"/>
                </a:cubicBezTo>
                <a:cubicBezTo>
                  <a:pt x="314960" y="231775"/>
                  <a:pt x="313690" y="229553"/>
                  <a:pt x="316230" y="223838"/>
                </a:cubicBezTo>
                <a:cubicBezTo>
                  <a:pt x="318770" y="218123"/>
                  <a:pt x="321945" y="214630"/>
                  <a:pt x="325755" y="213360"/>
                </a:cubicBezTo>
                <a:cubicBezTo>
                  <a:pt x="335915" y="210820"/>
                  <a:pt x="344805" y="209233"/>
                  <a:pt x="352425" y="208598"/>
                </a:cubicBezTo>
                <a:cubicBezTo>
                  <a:pt x="360045" y="207963"/>
                  <a:pt x="366395" y="207645"/>
                  <a:pt x="371475" y="207645"/>
                </a:cubicBezTo>
                <a:cubicBezTo>
                  <a:pt x="393065" y="206375"/>
                  <a:pt x="414655" y="202565"/>
                  <a:pt x="436245" y="196215"/>
                </a:cubicBezTo>
                <a:cubicBezTo>
                  <a:pt x="436245" y="193675"/>
                  <a:pt x="437515" y="191135"/>
                  <a:pt x="440055" y="188595"/>
                </a:cubicBezTo>
                <a:close/>
                <a:moveTo>
                  <a:pt x="963930" y="0"/>
                </a:moveTo>
                <a:lnTo>
                  <a:pt x="965835" y="0"/>
                </a:lnTo>
                <a:cubicBezTo>
                  <a:pt x="967105" y="1270"/>
                  <a:pt x="969010" y="2540"/>
                  <a:pt x="971550" y="3810"/>
                </a:cubicBezTo>
                <a:cubicBezTo>
                  <a:pt x="974090" y="5080"/>
                  <a:pt x="977265" y="6350"/>
                  <a:pt x="981075" y="7620"/>
                </a:cubicBezTo>
                <a:cubicBezTo>
                  <a:pt x="983615" y="7620"/>
                  <a:pt x="984885" y="6985"/>
                  <a:pt x="984885" y="5715"/>
                </a:cubicBezTo>
                <a:cubicBezTo>
                  <a:pt x="1006475" y="4445"/>
                  <a:pt x="1027113" y="6985"/>
                  <a:pt x="1046798" y="13335"/>
                </a:cubicBezTo>
                <a:cubicBezTo>
                  <a:pt x="1066483" y="19685"/>
                  <a:pt x="1090930" y="29210"/>
                  <a:pt x="1120140" y="41910"/>
                </a:cubicBezTo>
                <a:cubicBezTo>
                  <a:pt x="1131570" y="44450"/>
                  <a:pt x="1144270" y="49530"/>
                  <a:pt x="1158240" y="57150"/>
                </a:cubicBezTo>
                <a:cubicBezTo>
                  <a:pt x="1172210" y="64770"/>
                  <a:pt x="1182370" y="70485"/>
                  <a:pt x="1188720" y="74295"/>
                </a:cubicBezTo>
                <a:cubicBezTo>
                  <a:pt x="1195070" y="76835"/>
                  <a:pt x="1203960" y="85725"/>
                  <a:pt x="1215390" y="100965"/>
                </a:cubicBezTo>
                <a:cubicBezTo>
                  <a:pt x="1210310" y="111125"/>
                  <a:pt x="1207770" y="119380"/>
                  <a:pt x="1207770" y="125730"/>
                </a:cubicBezTo>
                <a:cubicBezTo>
                  <a:pt x="1207770" y="132080"/>
                  <a:pt x="1210310" y="137160"/>
                  <a:pt x="1215390" y="140970"/>
                </a:cubicBezTo>
                <a:cubicBezTo>
                  <a:pt x="1229360" y="142240"/>
                  <a:pt x="1245235" y="139700"/>
                  <a:pt x="1263015" y="133350"/>
                </a:cubicBezTo>
                <a:lnTo>
                  <a:pt x="1291590" y="131445"/>
                </a:lnTo>
                <a:cubicBezTo>
                  <a:pt x="1297940" y="131445"/>
                  <a:pt x="1302385" y="132080"/>
                  <a:pt x="1304925" y="133350"/>
                </a:cubicBezTo>
                <a:cubicBezTo>
                  <a:pt x="1311275" y="138430"/>
                  <a:pt x="1320800" y="144463"/>
                  <a:pt x="1333500" y="151448"/>
                </a:cubicBezTo>
                <a:cubicBezTo>
                  <a:pt x="1346200" y="158433"/>
                  <a:pt x="1355725" y="164465"/>
                  <a:pt x="1362075" y="169545"/>
                </a:cubicBezTo>
                <a:cubicBezTo>
                  <a:pt x="1369695" y="172085"/>
                  <a:pt x="1379538" y="177800"/>
                  <a:pt x="1391603" y="186690"/>
                </a:cubicBezTo>
                <a:cubicBezTo>
                  <a:pt x="1403668" y="195580"/>
                  <a:pt x="1412875" y="201295"/>
                  <a:pt x="1419225" y="203835"/>
                </a:cubicBezTo>
                <a:cubicBezTo>
                  <a:pt x="1423035" y="207645"/>
                  <a:pt x="1428750" y="213678"/>
                  <a:pt x="1436370" y="221933"/>
                </a:cubicBezTo>
                <a:cubicBezTo>
                  <a:pt x="1443990" y="230188"/>
                  <a:pt x="1451610" y="236855"/>
                  <a:pt x="1459230" y="241935"/>
                </a:cubicBezTo>
                <a:cubicBezTo>
                  <a:pt x="1463040" y="239395"/>
                  <a:pt x="1466533" y="239713"/>
                  <a:pt x="1469708" y="242888"/>
                </a:cubicBezTo>
                <a:cubicBezTo>
                  <a:pt x="1472883" y="246063"/>
                  <a:pt x="1475423" y="250190"/>
                  <a:pt x="1477328" y="255270"/>
                </a:cubicBezTo>
                <a:cubicBezTo>
                  <a:pt x="1479233" y="260350"/>
                  <a:pt x="1482090" y="264795"/>
                  <a:pt x="1485900" y="268605"/>
                </a:cubicBezTo>
                <a:cubicBezTo>
                  <a:pt x="1490980" y="278765"/>
                  <a:pt x="1493838" y="290830"/>
                  <a:pt x="1494473" y="304800"/>
                </a:cubicBezTo>
                <a:cubicBezTo>
                  <a:pt x="1495108" y="318770"/>
                  <a:pt x="1495425" y="328295"/>
                  <a:pt x="1495425" y="333375"/>
                </a:cubicBezTo>
                <a:cubicBezTo>
                  <a:pt x="1490345" y="346075"/>
                  <a:pt x="1487805" y="353695"/>
                  <a:pt x="1487805" y="356235"/>
                </a:cubicBezTo>
                <a:cubicBezTo>
                  <a:pt x="1487805" y="363855"/>
                  <a:pt x="1492885" y="367665"/>
                  <a:pt x="1503045" y="367665"/>
                </a:cubicBezTo>
                <a:lnTo>
                  <a:pt x="1510665" y="367665"/>
                </a:lnTo>
                <a:cubicBezTo>
                  <a:pt x="1514475" y="365125"/>
                  <a:pt x="1521778" y="362585"/>
                  <a:pt x="1532573" y="360045"/>
                </a:cubicBezTo>
                <a:cubicBezTo>
                  <a:pt x="1543368" y="357505"/>
                  <a:pt x="1551305" y="354330"/>
                  <a:pt x="1556385" y="350520"/>
                </a:cubicBezTo>
                <a:cubicBezTo>
                  <a:pt x="1557655" y="350520"/>
                  <a:pt x="1560830" y="350520"/>
                  <a:pt x="1565910" y="350520"/>
                </a:cubicBezTo>
                <a:cubicBezTo>
                  <a:pt x="1570990" y="350520"/>
                  <a:pt x="1575435" y="352425"/>
                  <a:pt x="1579245" y="356235"/>
                </a:cubicBezTo>
                <a:cubicBezTo>
                  <a:pt x="1584325" y="357505"/>
                  <a:pt x="1590675" y="357823"/>
                  <a:pt x="1598295" y="357188"/>
                </a:cubicBezTo>
                <a:cubicBezTo>
                  <a:pt x="1605915" y="356553"/>
                  <a:pt x="1611630" y="356235"/>
                  <a:pt x="1615440" y="356235"/>
                </a:cubicBezTo>
                <a:cubicBezTo>
                  <a:pt x="1619250" y="360045"/>
                  <a:pt x="1622743" y="365443"/>
                  <a:pt x="1625918" y="372428"/>
                </a:cubicBezTo>
                <a:cubicBezTo>
                  <a:pt x="1629093" y="379413"/>
                  <a:pt x="1631315" y="384810"/>
                  <a:pt x="1632585" y="388620"/>
                </a:cubicBezTo>
                <a:cubicBezTo>
                  <a:pt x="1637665" y="393700"/>
                  <a:pt x="1649095" y="401638"/>
                  <a:pt x="1666875" y="412433"/>
                </a:cubicBezTo>
                <a:cubicBezTo>
                  <a:pt x="1684655" y="423228"/>
                  <a:pt x="1696085" y="434975"/>
                  <a:pt x="1701165" y="447675"/>
                </a:cubicBezTo>
                <a:cubicBezTo>
                  <a:pt x="1707515" y="479425"/>
                  <a:pt x="1710690" y="499110"/>
                  <a:pt x="1710690" y="506730"/>
                </a:cubicBezTo>
                <a:cubicBezTo>
                  <a:pt x="1710690" y="513080"/>
                  <a:pt x="1709420" y="521335"/>
                  <a:pt x="1706880" y="531495"/>
                </a:cubicBezTo>
                <a:cubicBezTo>
                  <a:pt x="1701800" y="535305"/>
                  <a:pt x="1694815" y="538480"/>
                  <a:pt x="1685925" y="541020"/>
                </a:cubicBezTo>
                <a:cubicBezTo>
                  <a:pt x="1677035" y="543560"/>
                  <a:pt x="1669415" y="546735"/>
                  <a:pt x="1663065" y="550545"/>
                </a:cubicBezTo>
                <a:cubicBezTo>
                  <a:pt x="1657985" y="546735"/>
                  <a:pt x="1650365" y="544830"/>
                  <a:pt x="1640205" y="544830"/>
                </a:cubicBezTo>
                <a:cubicBezTo>
                  <a:pt x="1633855" y="544830"/>
                  <a:pt x="1626870" y="545465"/>
                  <a:pt x="1619250" y="546735"/>
                </a:cubicBezTo>
                <a:cubicBezTo>
                  <a:pt x="1611630" y="548005"/>
                  <a:pt x="1604010" y="548640"/>
                  <a:pt x="1596390" y="548640"/>
                </a:cubicBezTo>
                <a:cubicBezTo>
                  <a:pt x="1565910" y="563880"/>
                  <a:pt x="1540510" y="570865"/>
                  <a:pt x="1520190" y="569595"/>
                </a:cubicBezTo>
                <a:cubicBezTo>
                  <a:pt x="1516380" y="563245"/>
                  <a:pt x="1511300" y="560070"/>
                  <a:pt x="1504950" y="560070"/>
                </a:cubicBezTo>
                <a:cubicBezTo>
                  <a:pt x="1499870" y="560070"/>
                  <a:pt x="1491933" y="562293"/>
                  <a:pt x="1481138" y="566738"/>
                </a:cubicBezTo>
                <a:cubicBezTo>
                  <a:pt x="1470343" y="571183"/>
                  <a:pt x="1462405" y="573405"/>
                  <a:pt x="1457325" y="573405"/>
                </a:cubicBezTo>
                <a:cubicBezTo>
                  <a:pt x="1453515" y="578485"/>
                  <a:pt x="1447483" y="581343"/>
                  <a:pt x="1439228" y="581978"/>
                </a:cubicBezTo>
                <a:cubicBezTo>
                  <a:pt x="1430973" y="582613"/>
                  <a:pt x="1424940" y="582930"/>
                  <a:pt x="1421130" y="582930"/>
                </a:cubicBezTo>
                <a:cubicBezTo>
                  <a:pt x="1417320" y="584200"/>
                  <a:pt x="1412875" y="585470"/>
                  <a:pt x="1407795" y="586740"/>
                </a:cubicBezTo>
                <a:cubicBezTo>
                  <a:pt x="1402715" y="588010"/>
                  <a:pt x="1397635" y="589915"/>
                  <a:pt x="1392555" y="592455"/>
                </a:cubicBezTo>
                <a:cubicBezTo>
                  <a:pt x="1387475" y="594995"/>
                  <a:pt x="1384300" y="599440"/>
                  <a:pt x="1383030" y="605790"/>
                </a:cubicBezTo>
                <a:cubicBezTo>
                  <a:pt x="1383030" y="614680"/>
                  <a:pt x="1380490" y="627380"/>
                  <a:pt x="1375410" y="643890"/>
                </a:cubicBezTo>
                <a:cubicBezTo>
                  <a:pt x="1370330" y="660400"/>
                  <a:pt x="1368425" y="673100"/>
                  <a:pt x="1369695" y="681990"/>
                </a:cubicBezTo>
                <a:cubicBezTo>
                  <a:pt x="1365885" y="685800"/>
                  <a:pt x="1365885" y="689610"/>
                  <a:pt x="1369695" y="693420"/>
                </a:cubicBezTo>
                <a:cubicBezTo>
                  <a:pt x="1373505" y="697230"/>
                  <a:pt x="1379538" y="701358"/>
                  <a:pt x="1387793" y="705803"/>
                </a:cubicBezTo>
                <a:cubicBezTo>
                  <a:pt x="1396048" y="710248"/>
                  <a:pt x="1402715" y="714375"/>
                  <a:pt x="1407795" y="718185"/>
                </a:cubicBezTo>
                <a:cubicBezTo>
                  <a:pt x="1411605" y="721995"/>
                  <a:pt x="1415415" y="728028"/>
                  <a:pt x="1419225" y="736283"/>
                </a:cubicBezTo>
                <a:cubicBezTo>
                  <a:pt x="1423035" y="744538"/>
                  <a:pt x="1426845" y="751840"/>
                  <a:pt x="1430655" y="758190"/>
                </a:cubicBezTo>
                <a:lnTo>
                  <a:pt x="1432560" y="779145"/>
                </a:lnTo>
                <a:cubicBezTo>
                  <a:pt x="1432560" y="781685"/>
                  <a:pt x="1431290" y="786765"/>
                  <a:pt x="1428750" y="794385"/>
                </a:cubicBezTo>
                <a:cubicBezTo>
                  <a:pt x="1413510" y="819785"/>
                  <a:pt x="1395730" y="831850"/>
                  <a:pt x="1375410" y="830580"/>
                </a:cubicBezTo>
                <a:cubicBezTo>
                  <a:pt x="1365250" y="828040"/>
                  <a:pt x="1358900" y="826770"/>
                  <a:pt x="1356360" y="826770"/>
                </a:cubicBezTo>
                <a:lnTo>
                  <a:pt x="1343025" y="828675"/>
                </a:lnTo>
                <a:lnTo>
                  <a:pt x="1337310" y="862965"/>
                </a:lnTo>
                <a:cubicBezTo>
                  <a:pt x="1330960" y="864235"/>
                  <a:pt x="1324293" y="865823"/>
                  <a:pt x="1317308" y="867728"/>
                </a:cubicBezTo>
                <a:cubicBezTo>
                  <a:pt x="1310323" y="869633"/>
                  <a:pt x="1304290" y="870585"/>
                  <a:pt x="1299210" y="870585"/>
                </a:cubicBezTo>
                <a:lnTo>
                  <a:pt x="1289685" y="870585"/>
                </a:lnTo>
                <a:cubicBezTo>
                  <a:pt x="1287145" y="873125"/>
                  <a:pt x="1283653" y="877253"/>
                  <a:pt x="1279208" y="882968"/>
                </a:cubicBezTo>
                <a:cubicBezTo>
                  <a:pt x="1274763" y="888683"/>
                  <a:pt x="1270000" y="891540"/>
                  <a:pt x="1264920" y="891540"/>
                </a:cubicBezTo>
                <a:lnTo>
                  <a:pt x="1257300" y="889635"/>
                </a:lnTo>
                <a:cubicBezTo>
                  <a:pt x="1253490" y="883285"/>
                  <a:pt x="1247140" y="878523"/>
                  <a:pt x="1238250" y="875348"/>
                </a:cubicBezTo>
                <a:cubicBezTo>
                  <a:pt x="1229360" y="872173"/>
                  <a:pt x="1223645" y="869950"/>
                  <a:pt x="1221105" y="868680"/>
                </a:cubicBezTo>
                <a:lnTo>
                  <a:pt x="1194435" y="876300"/>
                </a:lnTo>
                <a:cubicBezTo>
                  <a:pt x="1196975" y="887730"/>
                  <a:pt x="1196340" y="899478"/>
                  <a:pt x="1192530" y="911543"/>
                </a:cubicBezTo>
                <a:cubicBezTo>
                  <a:pt x="1188720" y="923608"/>
                  <a:pt x="1186180" y="932180"/>
                  <a:pt x="1184910" y="937260"/>
                </a:cubicBezTo>
                <a:cubicBezTo>
                  <a:pt x="1184910" y="938530"/>
                  <a:pt x="1184910" y="941070"/>
                  <a:pt x="1184910" y="944880"/>
                </a:cubicBezTo>
                <a:cubicBezTo>
                  <a:pt x="1184910" y="948690"/>
                  <a:pt x="1186815" y="951865"/>
                  <a:pt x="1190625" y="954405"/>
                </a:cubicBezTo>
                <a:cubicBezTo>
                  <a:pt x="1200785" y="953135"/>
                  <a:pt x="1210945" y="949325"/>
                  <a:pt x="1221105" y="942975"/>
                </a:cubicBezTo>
                <a:cubicBezTo>
                  <a:pt x="1229995" y="944245"/>
                  <a:pt x="1239520" y="942340"/>
                  <a:pt x="1249680" y="937260"/>
                </a:cubicBezTo>
                <a:cubicBezTo>
                  <a:pt x="1259840" y="932180"/>
                  <a:pt x="1267460" y="929005"/>
                  <a:pt x="1272540" y="927735"/>
                </a:cubicBezTo>
                <a:cubicBezTo>
                  <a:pt x="1280160" y="923925"/>
                  <a:pt x="1290320" y="919480"/>
                  <a:pt x="1303020" y="914400"/>
                </a:cubicBezTo>
                <a:cubicBezTo>
                  <a:pt x="1315720" y="909320"/>
                  <a:pt x="1325880" y="902970"/>
                  <a:pt x="1333500" y="895350"/>
                </a:cubicBezTo>
                <a:cubicBezTo>
                  <a:pt x="1339850" y="896620"/>
                  <a:pt x="1347470" y="896303"/>
                  <a:pt x="1356360" y="894398"/>
                </a:cubicBezTo>
                <a:cubicBezTo>
                  <a:pt x="1365250" y="892493"/>
                  <a:pt x="1372870" y="891540"/>
                  <a:pt x="1379220" y="891540"/>
                </a:cubicBezTo>
                <a:cubicBezTo>
                  <a:pt x="1385570" y="891540"/>
                  <a:pt x="1390015" y="892175"/>
                  <a:pt x="1392555" y="893445"/>
                </a:cubicBezTo>
                <a:cubicBezTo>
                  <a:pt x="1400175" y="903605"/>
                  <a:pt x="1414145" y="916305"/>
                  <a:pt x="1434465" y="931545"/>
                </a:cubicBezTo>
                <a:cubicBezTo>
                  <a:pt x="1449705" y="941705"/>
                  <a:pt x="1460500" y="949960"/>
                  <a:pt x="1466850" y="956310"/>
                </a:cubicBezTo>
                <a:cubicBezTo>
                  <a:pt x="1468120" y="958850"/>
                  <a:pt x="1470025" y="963295"/>
                  <a:pt x="1472565" y="969645"/>
                </a:cubicBezTo>
                <a:cubicBezTo>
                  <a:pt x="1475105" y="975995"/>
                  <a:pt x="1477010" y="981710"/>
                  <a:pt x="1478280" y="986790"/>
                </a:cubicBezTo>
                <a:cubicBezTo>
                  <a:pt x="1478280" y="989330"/>
                  <a:pt x="1477645" y="995363"/>
                  <a:pt x="1476375" y="1004888"/>
                </a:cubicBezTo>
                <a:cubicBezTo>
                  <a:pt x="1475105" y="1014413"/>
                  <a:pt x="1471295" y="1021715"/>
                  <a:pt x="1464945" y="1026795"/>
                </a:cubicBezTo>
                <a:cubicBezTo>
                  <a:pt x="1466215" y="1034415"/>
                  <a:pt x="1462405" y="1040448"/>
                  <a:pt x="1453515" y="1044893"/>
                </a:cubicBezTo>
                <a:cubicBezTo>
                  <a:pt x="1444625" y="1049338"/>
                  <a:pt x="1438910" y="1052830"/>
                  <a:pt x="1436370" y="1055370"/>
                </a:cubicBezTo>
                <a:cubicBezTo>
                  <a:pt x="1426210" y="1055370"/>
                  <a:pt x="1417638" y="1056005"/>
                  <a:pt x="1410653" y="1057275"/>
                </a:cubicBezTo>
                <a:cubicBezTo>
                  <a:pt x="1403668" y="1058545"/>
                  <a:pt x="1397635" y="1059815"/>
                  <a:pt x="1392555" y="1061085"/>
                </a:cubicBezTo>
                <a:cubicBezTo>
                  <a:pt x="1370965" y="1061085"/>
                  <a:pt x="1344295" y="1065530"/>
                  <a:pt x="1312545" y="1074420"/>
                </a:cubicBezTo>
                <a:cubicBezTo>
                  <a:pt x="1308735" y="1074420"/>
                  <a:pt x="1299845" y="1075055"/>
                  <a:pt x="1285875" y="1076325"/>
                </a:cubicBezTo>
                <a:cubicBezTo>
                  <a:pt x="1271905" y="1077595"/>
                  <a:pt x="1259205" y="1080135"/>
                  <a:pt x="1247775" y="1083945"/>
                </a:cubicBezTo>
                <a:cubicBezTo>
                  <a:pt x="1241425" y="1087755"/>
                  <a:pt x="1230313" y="1092200"/>
                  <a:pt x="1214438" y="1097280"/>
                </a:cubicBezTo>
                <a:cubicBezTo>
                  <a:pt x="1198563" y="1102360"/>
                  <a:pt x="1187450" y="1110615"/>
                  <a:pt x="1181100" y="1122045"/>
                </a:cubicBezTo>
                <a:cubicBezTo>
                  <a:pt x="1181100" y="1151255"/>
                  <a:pt x="1182370" y="1172845"/>
                  <a:pt x="1184910" y="1186815"/>
                </a:cubicBezTo>
                <a:cubicBezTo>
                  <a:pt x="1201420" y="1186815"/>
                  <a:pt x="1214120" y="1186180"/>
                  <a:pt x="1223010" y="1184910"/>
                </a:cubicBezTo>
                <a:cubicBezTo>
                  <a:pt x="1280160" y="1184910"/>
                  <a:pt x="1330960" y="1182370"/>
                  <a:pt x="1375410" y="1177290"/>
                </a:cubicBezTo>
                <a:cubicBezTo>
                  <a:pt x="1380490" y="1176020"/>
                  <a:pt x="1387475" y="1174433"/>
                  <a:pt x="1396365" y="1172528"/>
                </a:cubicBezTo>
                <a:cubicBezTo>
                  <a:pt x="1405255" y="1170623"/>
                  <a:pt x="1411605" y="1166495"/>
                  <a:pt x="1415415" y="1160145"/>
                </a:cubicBezTo>
                <a:cubicBezTo>
                  <a:pt x="1415415" y="1157605"/>
                  <a:pt x="1415098" y="1152843"/>
                  <a:pt x="1414463" y="1145858"/>
                </a:cubicBezTo>
                <a:cubicBezTo>
                  <a:pt x="1413828" y="1138873"/>
                  <a:pt x="1411605" y="1134110"/>
                  <a:pt x="1407795" y="1131570"/>
                </a:cubicBezTo>
                <a:lnTo>
                  <a:pt x="1436370" y="1091565"/>
                </a:lnTo>
                <a:cubicBezTo>
                  <a:pt x="1440180" y="1089025"/>
                  <a:pt x="1446530" y="1088708"/>
                  <a:pt x="1455420" y="1090613"/>
                </a:cubicBezTo>
                <a:cubicBezTo>
                  <a:pt x="1464310" y="1092518"/>
                  <a:pt x="1468755" y="1090930"/>
                  <a:pt x="1468755" y="1085850"/>
                </a:cubicBezTo>
                <a:lnTo>
                  <a:pt x="1468755" y="1082040"/>
                </a:lnTo>
                <a:cubicBezTo>
                  <a:pt x="1485265" y="1083310"/>
                  <a:pt x="1501140" y="1087120"/>
                  <a:pt x="1516380" y="1093470"/>
                </a:cubicBezTo>
                <a:cubicBezTo>
                  <a:pt x="1517650" y="1094740"/>
                  <a:pt x="1519555" y="1096963"/>
                  <a:pt x="1522095" y="1100138"/>
                </a:cubicBezTo>
                <a:cubicBezTo>
                  <a:pt x="1524635" y="1103313"/>
                  <a:pt x="1526540" y="1104900"/>
                  <a:pt x="1527810" y="1104900"/>
                </a:cubicBezTo>
                <a:cubicBezTo>
                  <a:pt x="1527810" y="1104900"/>
                  <a:pt x="1528128" y="1104583"/>
                  <a:pt x="1528763" y="1103948"/>
                </a:cubicBezTo>
                <a:cubicBezTo>
                  <a:pt x="1529398" y="1103313"/>
                  <a:pt x="1529715" y="1102995"/>
                  <a:pt x="1529715" y="1102995"/>
                </a:cubicBezTo>
                <a:cubicBezTo>
                  <a:pt x="1534795" y="1104265"/>
                  <a:pt x="1539240" y="1107440"/>
                  <a:pt x="1543050" y="1112520"/>
                </a:cubicBezTo>
                <a:cubicBezTo>
                  <a:pt x="1546860" y="1117600"/>
                  <a:pt x="1550035" y="1121410"/>
                  <a:pt x="1552575" y="1123950"/>
                </a:cubicBezTo>
                <a:cubicBezTo>
                  <a:pt x="1566545" y="1130300"/>
                  <a:pt x="1586230" y="1141095"/>
                  <a:pt x="1611630" y="1156335"/>
                </a:cubicBezTo>
                <a:cubicBezTo>
                  <a:pt x="1614170" y="1157605"/>
                  <a:pt x="1618933" y="1159193"/>
                  <a:pt x="1625918" y="1161098"/>
                </a:cubicBezTo>
                <a:cubicBezTo>
                  <a:pt x="1632903" y="1163003"/>
                  <a:pt x="1638300" y="1166495"/>
                  <a:pt x="1642110" y="1171575"/>
                </a:cubicBezTo>
                <a:cubicBezTo>
                  <a:pt x="1651000" y="1171575"/>
                  <a:pt x="1664335" y="1175385"/>
                  <a:pt x="1682115" y="1183005"/>
                </a:cubicBezTo>
                <a:cubicBezTo>
                  <a:pt x="1708785" y="1204595"/>
                  <a:pt x="1722755" y="1226820"/>
                  <a:pt x="1724025" y="1249680"/>
                </a:cubicBezTo>
                <a:cubicBezTo>
                  <a:pt x="1724025" y="1257300"/>
                  <a:pt x="1722438" y="1264285"/>
                  <a:pt x="1719263" y="1270635"/>
                </a:cubicBezTo>
                <a:cubicBezTo>
                  <a:pt x="1716088" y="1276985"/>
                  <a:pt x="1711325" y="1283653"/>
                  <a:pt x="1704975" y="1290638"/>
                </a:cubicBezTo>
                <a:cubicBezTo>
                  <a:pt x="1698625" y="1297623"/>
                  <a:pt x="1693545" y="1303020"/>
                  <a:pt x="1689735" y="1306830"/>
                </a:cubicBezTo>
                <a:cubicBezTo>
                  <a:pt x="1687195" y="1309370"/>
                  <a:pt x="1682115" y="1310640"/>
                  <a:pt x="1674495" y="1310640"/>
                </a:cubicBezTo>
                <a:cubicBezTo>
                  <a:pt x="1665605" y="1310640"/>
                  <a:pt x="1659255" y="1310005"/>
                  <a:pt x="1655445" y="1308735"/>
                </a:cubicBezTo>
                <a:cubicBezTo>
                  <a:pt x="1651635" y="1310005"/>
                  <a:pt x="1646555" y="1310640"/>
                  <a:pt x="1640205" y="1310640"/>
                </a:cubicBezTo>
                <a:cubicBezTo>
                  <a:pt x="1632585" y="1310640"/>
                  <a:pt x="1625918" y="1310005"/>
                  <a:pt x="1620203" y="1308735"/>
                </a:cubicBezTo>
                <a:cubicBezTo>
                  <a:pt x="1614488" y="1307465"/>
                  <a:pt x="1609725" y="1306195"/>
                  <a:pt x="1605915" y="1304925"/>
                </a:cubicBezTo>
                <a:cubicBezTo>
                  <a:pt x="1595755" y="1297305"/>
                  <a:pt x="1580515" y="1293495"/>
                  <a:pt x="1560195" y="1293495"/>
                </a:cubicBezTo>
                <a:lnTo>
                  <a:pt x="1535430" y="1293495"/>
                </a:lnTo>
                <a:cubicBezTo>
                  <a:pt x="1531620" y="1293495"/>
                  <a:pt x="1525270" y="1293813"/>
                  <a:pt x="1516380" y="1294448"/>
                </a:cubicBezTo>
                <a:cubicBezTo>
                  <a:pt x="1507490" y="1295083"/>
                  <a:pt x="1500505" y="1297305"/>
                  <a:pt x="1495425" y="1301115"/>
                </a:cubicBezTo>
                <a:lnTo>
                  <a:pt x="1445895" y="1310640"/>
                </a:lnTo>
                <a:cubicBezTo>
                  <a:pt x="1435735" y="1311910"/>
                  <a:pt x="1420495" y="1312545"/>
                  <a:pt x="1400175" y="1312545"/>
                </a:cubicBezTo>
                <a:cubicBezTo>
                  <a:pt x="1348105" y="1315085"/>
                  <a:pt x="1309370" y="1318895"/>
                  <a:pt x="1283970" y="1323975"/>
                </a:cubicBezTo>
                <a:cubicBezTo>
                  <a:pt x="1256030" y="1316355"/>
                  <a:pt x="1235710" y="1311910"/>
                  <a:pt x="1223010" y="1310640"/>
                </a:cubicBezTo>
                <a:cubicBezTo>
                  <a:pt x="1210310" y="1314450"/>
                  <a:pt x="1202690" y="1329055"/>
                  <a:pt x="1200150" y="1354455"/>
                </a:cubicBezTo>
                <a:cubicBezTo>
                  <a:pt x="1200150" y="1358265"/>
                  <a:pt x="1200468" y="1363345"/>
                  <a:pt x="1201103" y="1369695"/>
                </a:cubicBezTo>
                <a:cubicBezTo>
                  <a:pt x="1201738" y="1376045"/>
                  <a:pt x="1201103" y="1383983"/>
                  <a:pt x="1199198" y="1393508"/>
                </a:cubicBezTo>
                <a:cubicBezTo>
                  <a:pt x="1197293" y="1403033"/>
                  <a:pt x="1193800" y="1411605"/>
                  <a:pt x="1188720" y="1419225"/>
                </a:cubicBezTo>
                <a:cubicBezTo>
                  <a:pt x="1179830" y="1444625"/>
                  <a:pt x="1174750" y="1472883"/>
                  <a:pt x="1173480" y="1503998"/>
                </a:cubicBezTo>
                <a:cubicBezTo>
                  <a:pt x="1172210" y="1535113"/>
                  <a:pt x="1171575" y="1553210"/>
                  <a:pt x="1171575" y="1558290"/>
                </a:cubicBezTo>
                <a:cubicBezTo>
                  <a:pt x="1166495" y="1565910"/>
                  <a:pt x="1163955" y="1578610"/>
                  <a:pt x="1163955" y="1596390"/>
                </a:cubicBezTo>
                <a:lnTo>
                  <a:pt x="1163955" y="1623060"/>
                </a:lnTo>
                <a:cubicBezTo>
                  <a:pt x="1158875" y="1653540"/>
                  <a:pt x="1156335" y="1677035"/>
                  <a:pt x="1156335" y="1693545"/>
                </a:cubicBezTo>
                <a:cubicBezTo>
                  <a:pt x="1148715" y="1699895"/>
                  <a:pt x="1143635" y="1709420"/>
                  <a:pt x="1141095" y="1722120"/>
                </a:cubicBezTo>
                <a:cubicBezTo>
                  <a:pt x="1138555" y="1734820"/>
                  <a:pt x="1136015" y="1744345"/>
                  <a:pt x="1133475" y="1750695"/>
                </a:cubicBezTo>
                <a:cubicBezTo>
                  <a:pt x="1127125" y="1757045"/>
                  <a:pt x="1123633" y="1766253"/>
                  <a:pt x="1122998" y="1778318"/>
                </a:cubicBezTo>
                <a:cubicBezTo>
                  <a:pt x="1122363" y="1790383"/>
                  <a:pt x="1122045" y="1798955"/>
                  <a:pt x="1122045" y="1804035"/>
                </a:cubicBezTo>
                <a:cubicBezTo>
                  <a:pt x="1116965" y="1809115"/>
                  <a:pt x="1113790" y="1815465"/>
                  <a:pt x="1112520" y="1823085"/>
                </a:cubicBezTo>
                <a:cubicBezTo>
                  <a:pt x="1111250" y="1830705"/>
                  <a:pt x="1109980" y="1836420"/>
                  <a:pt x="1108710" y="1840230"/>
                </a:cubicBezTo>
                <a:cubicBezTo>
                  <a:pt x="1107440" y="1846580"/>
                  <a:pt x="1104265" y="1848803"/>
                  <a:pt x="1099185" y="1846898"/>
                </a:cubicBezTo>
                <a:cubicBezTo>
                  <a:pt x="1094105" y="1844993"/>
                  <a:pt x="1088390" y="1840548"/>
                  <a:pt x="1082040" y="1833563"/>
                </a:cubicBezTo>
                <a:cubicBezTo>
                  <a:pt x="1075690" y="1826578"/>
                  <a:pt x="1071245" y="1821815"/>
                  <a:pt x="1068705" y="1819275"/>
                </a:cubicBezTo>
                <a:cubicBezTo>
                  <a:pt x="1057275" y="1815465"/>
                  <a:pt x="1048703" y="1809115"/>
                  <a:pt x="1042988" y="1800225"/>
                </a:cubicBezTo>
                <a:cubicBezTo>
                  <a:pt x="1037273" y="1791335"/>
                  <a:pt x="1031875" y="1778000"/>
                  <a:pt x="1026795" y="1760220"/>
                </a:cubicBezTo>
                <a:cubicBezTo>
                  <a:pt x="1026795" y="1724660"/>
                  <a:pt x="1018540" y="1697990"/>
                  <a:pt x="1002030" y="1680210"/>
                </a:cubicBezTo>
                <a:cubicBezTo>
                  <a:pt x="996950" y="1678940"/>
                  <a:pt x="995363" y="1676400"/>
                  <a:pt x="997268" y="1672590"/>
                </a:cubicBezTo>
                <a:cubicBezTo>
                  <a:pt x="999173" y="1668780"/>
                  <a:pt x="1002665" y="1665605"/>
                  <a:pt x="1007745" y="1663065"/>
                </a:cubicBezTo>
                <a:cubicBezTo>
                  <a:pt x="1007745" y="1661795"/>
                  <a:pt x="1007110" y="1659890"/>
                  <a:pt x="1005840" y="1657350"/>
                </a:cubicBezTo>
                <a:cubicBezTo>
                  <a:pt x="1004570" y="1654810"/>
                  <a:pt x="1003300" y="1653540"/>
                  <a:pt x="1002030" y="1653540"/>
                </a:cubicBezTo>
                <a:cubicBezTo>
                  <a:pt x="998220" y="1628140"/>
                  <a:pt x="996315" y="1600835"/>
                  <a:pt x="996315" y="1571625"/>
                </a:cubicBezTo>
                <a:cubicBezTo>
                  <a:pt x="996315" y="1542415"/>
                  <a:pt x="996315" y="1524000"/>
                  <a:pt x="996315" y="1516380"/>
                </a:cubicBezTo>
                <a:cubicBezTo>
                  <a:pt x="992505" y="1513840"/>
                  <a:pt x="990918" y="1510030"/>
                  <a:pt x="991553" y="1504950"/>
                </a:cubicBezTo>
                <a:cubicBezTo>
                  <a:pt x="992188" y="1499870"/>
                  <a:pt x="992505" y="1496060"/>
                  <a:pt x="992505" y="1493520"/>
                </a:cubicBezTo>
                <a:lnTo>
                  <a:pt x="992505" y="1487805"/>
                </a:lnTo>
                <a:lnTo>
                  <a:pt x="992505" y="1354455"/>
                </a:lnTo>
                <a:cubicBezTo>
                  <a:pt x="973455" y="1348105"/>
                  <a:pt x="960120" y="1344930"/>
                  <a:pt x="952500" y="1344930"/>
                </a:cubicBezTo>
                <a:cubicBezTo>
                  <a:pt x="939800" y="1344930"/>
                  <a:pt x="931545" y="1350010"/>
                  <a:pt x="927735" y="1360170"/>
                </a:cubicBezTo>
                <a:cubicBezTo>
                  <a:pt x="915035" y="1370330"/>
                  <a:pt x="906145" y="1378585"/>
                  <a:pt x="901065" y="1384935"/>
                </a:cubicBezTo>
                <a:cubicBezTo>
                  <a:pt x="893445" y="1384935"/>
                  <a:pt x="884555" y="1383665"/>
                  <a:pt x="874395" y="1381125"/>
                </a:cubicBezTo>
                <a:cubicBezTo>
                  <a:pt x="864235" y="1378585"/>
                  <a:pt x="856615" y="1376680"/>
                  <a:pt x="851535" y="1375410"/>
                </a:cubicBezTo>
                <a:cubicBezTo>
                  <a:pt x="845185" y="1370330"/>
                  <a:pt x="838200" y="1361440"/>
                  <a:pt x="830580" y="1348740"/>
                </a:cubicBezTo>
                <a:cubicBezTo>
                  <a:pt x="830580" y="1333500"/>
                  <a:pt x="826135" y="1323975"/>
                  <a:pt x="817245" y="1320165"/>
                </a:cubicBezTo>
                <a:cubicBezTo>
                  <a:pt x="809625" y="1310005"/>
                  <a:pt x="805815" y="1299210"/>
                  <a:pt x="805815" y="1287780"/>
                </a:cubicBezTo>
                <a:cubicBezTo>
                  <a:pt x="805815" y="1282700"/>
                  <a:pt x="807085" y="1276350"/>
                  <a:pt x="809625" y="1268730"/>
                </a:cubicBezTo>
                <a:cubicBezTo>
                  <a:pt x="809625" y="1248410"/>
                  <a:pt x="812165" y="1230630"/>
                  <a:pt x="817245" y="1215390"/>
                </a:cubicBezTo>
                <a:cubicBezTo>
                  <a:pt x="818515" y="1214120"/>
                  <a:pt x="822643" y="1209358"/>
                  <a:pt x="829628" y="1201103"/>
                </a:cubicBezTo>
                <a:cubicBezTo>
                  <a:pt x="836613" y="1192848"/>
                  <a:pt x="845185" y="1186815"/>
                  <a:pt x="855345" y="1183005"/>
                </a:cubicBezTo>
                <a:lnTo>
                  <a:pt x="897255" y="1181100"/>
                </a:lnTo>
                <a:cubicBezTo>
                  <a:pt x="906145" y="1181100"/>
                  <a:pt x="913130" y="1181735"/>
                  <a:pt x="918210" y="1183005"/>
                </a:cubicBezTo>
                <a:cubicBezTo>
                  <a:pt x="943610" y="1180465"/>
                  <a:pt x="972820" y="1167130"/>
                  <a:pt x="1005840" y="1143000"/>
                </a:cubicBezTo>
                <a:cubicBezTo>
                  <a:pt x="1009650" y="1137920"/>
                  <a:pt x="1009650" y="1135063"/>
                  <a:pt x="1005840" y="1134428"/>
                </a:cubicBezTo>
                <a:cubicBezTo>
                  <a:pt x="1002030" y="1133793"/>
                  <a:pt x="996950" y="1134110"/>
                  <a:pt x="990600" y="1135380"/>
                </a:cubicBezTo>
                <a:cubicBezTo>
                  <a:pt x="984250" y="1136650"/>
                  <a:pt x="978535" y="1137285"/>
                  <a:pt x="973455" y="1137285"/>
                </a:cubicBezTo>
                <a:lnTo>
                  <a:pt x="969645" y="1137285"/>
                </a:lnTo>
                <a:cubicBezTo>
                  <a:pt x="962025" y="1139825"/>
                  <a:pt x="956945" y="1141095"/>
                  <a:pt x="954405" y="1141095"/>
                </a:cubicBezTo>
                <a:cubicBezTo>
                  <a:pt x="948055" y="1141095"/>
                  <a:pt x="941388" y="1140143"/>
                  <a:pt x="934403" y="1138238"/>
                </a:cubicBezTo>
                <a:cubicBezTo>
                  <a:pt x="927418" y="1136333"/>
                  <a:pt x="920750" y="1135380"/>
                  <a:pt x="914400" y="1135380"/>
                </a:cubicBezTo>
                <a:cubicBezTo>
                  <a:pt x="902970" y="1132840"/>
                  <a:pt x="891858" y="1127443"/>
                  <a:pt x="881063" y="1119188"/>
                </a:cubicBezTo>
                <a:cubicBezTo>
                  <a:pt x="870268" y="1110933"/>
                  <a:pt x="862330" y="1104900"/>
                  <a:pt x="857250" y="1101090"/>
                </a:cubicBezTo>
                <a:cubicBezTo>
                  <a:pt x="850900" y="1102360"/>
                  <a:pt x="843915" y="1099820"/>
                  <a:pt x="836295" y="1093470"/>
                </a:cubicBezTo>
                <a:cubicBezTo>
                  <a:pt x="828675" y="1087120"/>
                  <a:pt x="824865" y="1080770"/>
                  <a:pt x="824865" y="1074420"/>
                </a:cubicBezTo>
                <a:lnTo>
                  <a:pt x="828675" y="1066800"/>
                </a:lnTo>
                <a:cubicBezTo>
                  <a:pt x="829945" y="1061720"/>
                  <a:pt x="828040" y="1056958"/>
                  <a:pt x="822960" y="1052513"/>
                </a:cubicBezTo>
                <a:cubicBezTo>
                  <a:pt x="817880" y="1048068"/>
                  <a:pt x="814070" y="1044575"/>
                  <a:pt x="811530" y="1042035"/>
                </a:cubicBezTo>
                <a:cubicBezTo>
                  <a:pt x="805180" y="1038225"/>
                  <a:pt x="802005" y="1031240"/>
                  <a:pt x="802005" y="1021080"/>
                </a:cubicBezTo>
                <a:cubicBezTo>
                  <a:pt x="802005" y="1013460"/>
                  <a:pt x="802640" y="1007745"/>
                  <a:pt x="803910" y="1003935"/>
                </a:cubicBezTo>
                <a:cubicBezTo>
                  <a:pt x="802640" y="998855"/>
                  <a:pt x="803593" y="995363"/>
                  <a:pt x="806768" y="993458"/>
                </a:cubicBezTo>
                <a:cubicBezTo>
                  <a:pt x="809943" y="991553"/>
                  <a:pt x="814705" y="989965"/>
                  <a:pt x="821055" y="988695"/>
                </a:cubicBezTo>
                <a:cubicBezTo>
                  <a:pt x="827405" y="987425"/>
                  <a:pt x="831850" y="986155"/>
                  <a:pt x="834390" y="984885"/>
                </a:cubicBezTo>
                <a:cubicBezTo>
                  <a:pt x="836930" y="989965"/>
                  <a:pt x="840423" y="992823"/>
                  <a:pt x="844868" y="993458"/>
                </a:cubicBezTo>
                <a:cubicBezTo>
                  <a:pt x="849313" y="994093"/>
                  <a:pt x="852805" y="994410"/>
                  <a:pt x="855345" y="994410"/>
                </a:cubicBezTo>
                <a:cubicBezTo>
                  <a:pt x="885825" y="994410"/>
                  <a:pt x="913130" y="989330"/>
                  <a:pt x="937260" y="979170"/>
                </a:cubicBezTo>
                <a:cubicBezTo>
                  <a:pt x="942340" y="977900"/>
                  <a:pt x="953135" y="975043"/>
                  <a:pt x="969645" y="970598"/>
                </a:cubicBezTo>
                <a:cubicBezTo>
                  <a:pt x="986155" y="966153"/>
                  <a:pt x="999490" y="958850"/>
                  <a:pt x="1009650" y="948690"/>
                </a:cubicBezTo>
                <a:cubicBezTo>
                  <a:pt x="1004570" y="948690"/>
                  <a:pt x="998220" y="947738"/>
                  <a:pt x="990600" y="945833"/>
                </a:cubicBezTo>
                <a:cubicBezTo>
                  <a:pt x="982980" y="943928"/>
                  <a:pt x="976630" y="942340"/>
                  <a:pt x="971550" y="941070"/>
                </a:cubicBezTo>
                <a:cubicBezTo>
                  <a:pt x="969010" y="930910"/>
                  <a:pt x="962660" y="925830"/>
                  <a:pt x="952500" y="925830"/>
                </a:cubicBezTo>
                <a:cubicBezTo>
                  <a:pt x="948690" y="925830"/>
                  <a:pt x="944880" y="927735"/>
                  <a:pt x="941070" y="931545"/>
                </a:cubicBezTo>
                <a:cubicBezTo>
                  <a:pt x="937260" y="932815"/>
                  <a:pt x="932498" y="934403"/>
                  <a:pt x="926783" y="936308"/>
                </a:cubicBezTo>
                <a:cubicBezTo>
                  <a:pt x="921068" y="938213"/>
                  <a:pt x="916305" y="939165"/>
                  <a:pt x="912495" y="939165"/>
                </a:cubicBezTo>
                <a:cubicBezTo>
                  <a:pt x="906145" y="939165"/>
                  <a:pt x="901700" y="937895"/>
                  <a:pt x="899160" y="935355"/>
                </a:cubicBezTo>
                <a:cubicBezTo>
                  <a:pt x="887730" y="934085"/>
                  <a:pt x="876935" y="928370"/>
                  <a:pt x="866775" y="918210"/>
                </a:cubicBezTo>
                <a:cubicBezTo>
                  <a:pt x="860425" y="918210"/>
                  <a:pt x="855028" y="916305"/>
                  <a:pt x="850583" y="912495"/>
                </a:cubicBezTo>
                <a:cubicBezTo>
                  <a:pt x="846138" y="908685"/>
                  <a:pt x="841693" y="903288"/>
                  <a:pt x="837248" y="896303"/>
                </a:cubicBezTo>
                <a:cubicBezTo>
                  <a:pt x="832803" y="889318"/>
                  <a:pt x="828040" y="883285"/>
                  <a:pt x="822960" y="878205"/>
                </a:cubicBezTo>
                <a:cubicBezTo>
                  <a:pt x="821690" y="875665"/>
                  <a:pt x="819785" y="871538"/>
                  <a:pt x="817245" y="865823"/>
                </a:cubicBezTo>
                <a:cubicBezTo>
                  <a:pt x="814705" y="860108"/>
                  <a:pt x="810895" y="855980"/>
                  <a:pt x="805815" y="853440"/>
                </a:cubicBezTo>
                <a:cubicBezTo>
                  <a:pt x="808355" y="849630"/>
                  <a:pt x="809625" y="844550"/>
                  <a:pt x="809625" y="838200"/>
                </a:cubicBezTo>
                <a:cubicBezTo>
                  <a:pt x="809625" y="833120"/>
                  <a:pt x="808673" y="827088"/>
                  <a:pt x="806768" y="820103"/>
                </a:cubicBezTo>
                <a:cubicBezTo>
                  <a:pt x="804863" y="813118"/>
                  <a:pt x="804545" y="806450"/>
                  <a:pt x="805815" y="800100"/>
                </a:cubicBezTo>
                <a:cubicBezTo>
                  <a:pt x="807085" y="796290"/>
                  <a:pt x="808990" y="791210"/>
                  <a:pt x="811530" y="784860"/>
                </a:cubicBezTo>
                <a:cubicBezTo>
                  <a:pt x="814070" y="778510"/>
                  <a:pt x="817880" y="773430"/>
                  <a:pt x="822960" y="769620"/>
                </a:cubicBezTo>
                <a:cubicBezTo>
                  <a:pt x="829310" y="768350"/>
                  <a:pt x="835343" y="765175"/>
                  <a:pt x="841058" y="760095"/>
                </a:cubicBezTo>
                <a:cubicBezTo>
                  <a:pt x="846773" y="755015"/>
                  <a:pt x="851535" y="751205"/>
                  <a:pt x="855345" y="748665"/>
                </a:cubicBezTo>
                <a:cubicBezTo>
                  <a:pt x="857885" y="747395"/>
                  <a:pt x="862965" y="745173"/>
                  <a:pt x="870585" y="741998"/>
                </a:cubicBezTo>
                <a:cubicBezTo>
                  <a:pt x="878205" y="738823"/>
                  <a:pt x="883920" y="734695"/>
                  <a:pt x="887730" y="729615"/>
                </a:cubicBezTo>
                <a:cubicBezTo>
                  <a:pt x="897890" y="725805"/>
                  <a:pt x="921385" y="719455"/>
                  <a:pt x="958215" y="710565"/>
                </a:cubicBezTo>
                <a:lnTo>
                  <a:pt x="984885" y="712470"/>
                </a:lnTo>
                <a:cubicBezTo>
                  <a:pt x="991235" y="712470"/>
                  <a:pt x="998220" y="711200"/>
                  <a:pt x="1005840" y="708660"/>
                </a:cubicBezTo>
                <a:cubicBezTo>
                  <a:pt x="1005840" y="699770"/>
                  <a:pt x="1005523" y="686435"/>
                  <a:pt x="1004888" y="668655"/>
                </a:cubicBezTo>
                <a:cubicBezTo>
                  <a:pt x="1004253" y="650875"/>
                  <a:pt x="1002665" y="635635"/>
                  <a:pt x="1000125" y="622935"/>
                </a:cubicBezTo>
                <a:cubicBezTo>
                  <a:pt x="984885" y="628015"/>
                  <a:pt x="969645" y="631825"/>
                  <a:pt x="954405" y="634365"/>
                </a:cubicBezTo>
                <a:cubicBezTo>
                  <a:pt x="949325" y="636905"/>
                  <a:pt x="940435" y="642303"/>
                  <a:pt x="927735" y="650558"/>
                </a:cubicBezTo>
                <a:cubicBezTo>
                  <a:pt x="915035" y="658813"/>
                  <a:pt x="902335" y="663575"/>
                  <a:pt x="889635" y="664845"/>
                </a:cubicBezTo>
                <a:cubicBezTo>
                  <a:pt x="876935" y="673735"/>
                  <a:pt x="856615" y="684530"/>
                  <a:pt x="828675" y="697230"/>
                </a:cubicBezTo>
                <a:cubicBezTo>
                  <a:pt x="818515" y="704850"/>
                  <a:pt x="808355" y="710565"/>
                  <a:pt x="798195" y="714375"/>
                </a:cubicBezTo>
                <a:cubicBezTo>
                  <a:pt x="794385" y="716915"/>
                  <a:pt x="788353" y="722313"/>
                  <a:pt x="780098" y="730568"/>
                </a:cubicBezTo>
                <a:cubicBezTo>
                  <a:pt x="771843" y="738823"/>
                  <a:pt x="763270" y="744855"/>
                  <a:pt x="754380" y="748665"/>
                </a:cubicBezTo>
                <a:cubicBezTo>
                  <a:pt x="751840" y="748665"/>
                  <a:pt x="747395" y="748030"/>
                  <a:pt x="741045" y="746760"/>
                </a:cubicBezTo>
                <a:cubicBezTo>
                  <a:pt x="734695" y="745490"/>
                  <a:pt x="728980" y="743585"/>
                  <a:pt x="723900" y="741045"/>
                </a:cubicBezTo>
                <a:cubicBezTo>
                  <a:pt x="697230" y="716915"/>
                  <a:pt x="681355" y="695960"/>
                  <a:pt x="676275" y="678180"/>
                </a:cubicBezTo>
                <a:cubicBezTo>
                  <a:pt x="667385" y="671830"/>
                  <a:pt x="662940" y="666115"/>
                  <a:pt x="662940" y="661035"/>
                </a:cubicBezTo>
                <a:cubicBezTo>
                  <a:pt x="662940" y="657225"/>
                  <a:pt x="664845" y="653415"/>
                  <a:pt x="668655" y="649605"/>
                </a:cubicBezTo>
                <a:cubicBezTo>
                  <a:pt x="675005" y="648335"/>
                  <a:pt x="677863" y="644843"/>
                  <a:pt x="677228" y="639128"/>
                </a:cubicBezTo>
                <a:cubicBezTo>
                  <a:pt x="676593" y="633413"/>
                  <a:pt x="673735" y="627380"/>
                  <a:pt x="668655" y="621030"/>
                </a:cubicBezTo>
                <a:lnTo>
                  <a:pt x="695325" y="624840"/>
                </a:lnTo>
                <a:cubicBezTo>
                  <a:pt x="696595" y="619760"/>
                  <a:pt x="701040" y="617220"/>
                  <a:pt x="708660" y="617220"/>
                </a:cubicBezTo>
                <a:lnTo>
                  <a:pt x="723900" y="621030"/>
                </a:lnTo>
                <a:cubicBezTo>
                  <a:pt x="734060" y="621030"/>
                  <a:pt x="745808" y="616585"/>
                  <a:pt x="759143" y="607695"/>
                </a:cubicBezTo>
                <a:cubicBezTo>
                  <a:pt x="772478" y="598805"/>
                  <a:pt x="782955" y="592455"/>
                  <a:pt x="790575" y="588645"/>
                </a:cubicBezTo>
                <a:cubicBezTo>
                  <a:pt x="803275" y="584835"/>
                  <a:pt x="817245" y="579755"/>
                  <a:pt x="832485" y="573405"/>
                </a:cubicBezTo>
                <a:cubicBezTo>
                  <a:pt x="856615" y="563245"/>
                  <a:pt x="876935" y="556895"/>
                  <a:pt x="893445" y="554355"/>
                </a:cubicBezTo>
                <a:cubicBezTo>
                  <a:pt x="901065" y="550545"/>
                  <a:pt x="915035" y="544195"/>
                  <a:pt x="935355" y="535305"/>
                </a:cubicBezTo>
                <a:cubicBezTo>
                  <a:pt x="955675" y="526415"/>
                  <a:pt x="974725" y="520700"/>
                  <a:pt x="992505" y="518160"/>
                </a:cubicBezTo>
                <a:cubicBezTo>
                  <a:pt x="1001395" y="510540"/>
                  <a:pt x="1005840" y="501650"/>
                  <a:pt x="1005840" y="491490"/>
                </a:cubicBezTo>
                <a:cubicBezTo>
                  <a:pt x="1005840" y="485140"/>
                  <a:pt x="1003618" y="474663"/>
                  <a:pt x="999173" y="460058"/>
                </a:cubicBezTo>
                <a:cubicBezTo>
                  <a:pt x="994728" y="445453"/>
                  <a:pt x="992505" y="434340"/>
                  <a:pt x="992505" y="426720"/>
                </a:cubicBezTo>
                <a:cubicBezTo>
                  <a:pt x="992505" y="414020"/>
                  <a:pt x="991235" y="407670"/>
                  <a:pt x="988695" y="407670"/>
                </a:cubicBezTo>
                <a:cubicBezTo>
                  <a:pt x="987425" y="407670"/>
                  <a:pt x="982345" y="410845"/>
                  <a:pt x="973455" y="417195"/>
                </a:cubicBezTo>
                <a:cubicBezTo>
                  <a:pt x="968375" y="419735"/>
                  <a:pt x="960755" y="423545"/>
                  <a:pt x="950595" y="428625"/>
                </a:cubicBezTo>
                <a:cubicBezTo>
                  <a:pt x="940435" y="433705"/>
                  <a:pt x="932180" y="436245"/>
                  <a:pt x="925830" y="436245"/>
                </a:cubicBezTo>
                <a:cubicBezTo>
                  <a:pt x="919480" y="436245"/>
                  <a:pt x="913765" y="433705"/>
                  <a:pt x="908685" y="428625"/>
                </a:cubicBezTo>
                <a:cubicBezTo>
                  <a:pt x="904875" y="422275"/>
                  <a:pt x="896620" y="411798"/>
                  <a:pt x="883920" y="397193"/>
                </a:cubicBezTo>
                <a:cubicBezTo>
                  <a:pt x="871220" y="382588"/>
                  <a:pt x="864235" y="369570"/>
                  <a:pt x="862965" y="358140"/>
                </a:cubicBezTo>
                <a:cubicBezTo>
                  <a:pt x="859155" y="353060"/>
                  <a:pt x="850265" y="347345"/>
                  <a:pt x="836295" y="340995"/>
                </a:cubicBezTo>
                <a:cubicBezTo>
                  <a:pt x="838835" y="330835"/>
                  <a:pt x="838200" y="318135"/>
                  <a:pt x="834390" y="302895"/>
                </a:cubicBezTo>
                <a:cubicBezTo>
                  <a:pt x="830580" y="287655"/>
                  <a:pt x="828675" y="276225"/>
                  <a:pt x="828675" y="268605"/>
                </a:cubicBezTo>
                <a:cubicBezTo>
                  <a:pt x="831215" y="268605"/>
                  <a:pt x="835660" y="267970"/>
                  <a:pt x="842010" y="266700"/>
                </a:cubicBezTo>
                <a:cubicBezTo>
                  <a:pt x="848360" y="265430"/>
                  <a:pt x="853440" y="263525"/>
                  <a:pt x="857250" y="260985"/>
                </a:cubicBezTo>
                <a:lnTo>
                  <a:pt x="876300" y="266700"/>
                </a:lnTo>
                <a:cubicBezTo>
                  <a:pt x="883920" y="259080"/>
                  <a:pt x="897890" y="254000"/>
                  <a:pt x="918210" y="251460"/>
                </a:cubicBezTo>
                <a:cubicBezTo>
                  <a:pt x="922020" y="250190"/>
                  <a:pt x="927735" y="248603"/>
                  <a:pt x="935355" y="246698"/>
                </a:cubicBezTo>
                <a:cubicBezTo>
                  <a:pt x="942975" y="244793"/>
                  <a:pt x="949325" y="242570"/>
                  <a:pt x="954405" y="240030"/>
                </a:cubicBezTo>
                <a:cubicBezTo>
                  <a:pt x="956945" y="234950"/>
                  <a:pt x="961390" y="232093"/>
                  <a:pt x="967740" y="231458"/>
                </a:cubicBezTo>
                <a:cubicBezTo>
                  <a:pt x="974090" y="230823"/>
                  <a:pt x="979170" y="229235"/>
                  <a:pt x="982980" y="226695"/>
                </a:cubicBezTo>
                <a:cubicBezTo>
                  <a:pt x="984250" y="222885"/>
                  <a:pt x="984885" y="216535"/>
                  <a:pt x="984885" y="207645"/>
                </a:cubicBezTo>
                <a:lnTo>
                  <a:pt x="982980" y="169545"/>
                </a:lnTo>
                <a:cubicBezTo>
                  <a:pt x="977900" y="131445"/>
                  <a:pt x="967740" y="83820"/>
                  <a:pt x="952500" y="26670"/>
                </a:cubicBezTo>
                <a:cubicBezTo>
                  <a:pt x="955040" y="22860"/>
                  <a:pt x="956945" y="19050"/>
                  <a:pt x="958215" y="15240"/>
                </a:cubicBezTo>
                <a:cubicBezTo>
                  <a:pt x="959485" y="11430"/>
                  <a:pt x="963930" y="9525"/>
                  <a:pt x="971550" y="9525"/>
                </a:cubicBezTo>
                <a:cubicBezTo>
                  <a:pt x="971550" y="6985"/>
                  <a:pt x="970280" y="5080"/>
                  <a:pt x="967740" y="3810"/>
                </a:cubicBezTo>
                <a:cubicBezTo>
                  <a:pt x="965200" y="2540"/>
                  <a:pt x="963930" y="1270"/>
                  <a:pt x="963930" y="0"/>
                </a:cubicBezTo>
                <a:close/>
              </a:path>
            </a:pathLst>
          </a:custGeom>
          <a:solidFill>
            <a:schemeClr val="tx1">
              <a:lumMod val="85000"/>
              <a:lumOff val="1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sz="15000" dirty="0">
              <a:solidFill>
                <a:schemeClr val="tx1">
                  <a:lumMod val="85000"/>
                  <a:lumOff val="15000"/>
                </a:schemeClr>
              </a:solidFill>
              <a:latin typeface="字魂110号-武林江湖体" panose="00000500000000000000" pitchFamily="2" charset="-122"/>
              <a:ea typeface="字魂110号-武林江湖体" panose="00000500000000000000" pitchFamily="2" charset="-122"/>
            </a:endParaRPr>
          </a:p>
        </p:txBody>
      </p:sp>
      <p:sp>
        <p:nvSpPr>
          <p:cNvPr id="33" name="矩形 32"/>
          <p:cNvSpPr/>
          <p:nvPr>
            <p:custDataLst>
              <p:tags r:id="rId5"/>
            </p:custDataLst>
          </p:nvPr>
        </p:nvSpPr>
        <p:spPr>
          <a:xfrm>
            <a:off x="7032989" y="3293475"/>
            <a:ext cx="2646878" cy="706755"/>
          </a:xfrm>
          <a:prstGeom prst="rect">
            <a:avLst/>
          </a:prstGeom>
        </p:spPr>
        <p:txBody>
          <a:bodyPr wrap="square">
            <a:spAutoFit/>
          </a:bodyPr>
          <a:p>
            <a:r>
              <a:rPr lang="zh-CN" altLang="en-US" sz="4000" dirty="0">
                <a:solidFill>
                  <a:srgbClr val="6FB4BD"/>
                </a:solidFill>
                <a:latin typeface="华文新魏" panose="02010800040101010101" charset="-122"/>
                <a:ea typeface="华文新魏" panose="02010800040101010101" charset="-122"/>
              </a:rPr>
              <a:t>代码分析</a:t>
            </a:r>
            <a:endParaRPr lang="zh-CN" altLang="en-US" sz="4000" dirty="0">
              <a:solidFill>
                <a:srgbClr val="6FB4BD"/>
              </a:solidFill>
              <a:latin typeface="华文新魏" panose="02010800040101010101" charset="-122"/>
              <a:ea typeface="华文新魏" panose="02010800040101010101" charset="-122"/>
            </a:endParaRPr>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498185" y="362554"/>
            <a:ext cx="3490040" cy="829998"/>
            <a:chOff x="4498185" y="279786"/>
            <a:chExt cx="3490040" cy="829998"/>
          </a:xfrm>
        </p:grpSpPr>
        <p:sp>
          <p:nvSpPr>
            <p:cNvPr id="4" name="文本框 3"/>
            <p:cNvSpPr txBox="1"/>
            <p:nvPr>
              <p:custDataLst>
                <p:tags r:id="rId1"/>
              </p:custDataLst>
            </p:nvPr>
          </p:nvSpPr>
          <p:spPr>
            <a:xfrm>
              <a:off x="4498185" y="279786"/>
              <a:ext cx="3195630" cy="706755"/>
            </a:xfrm>
            <a:prstGeom prst="rect">
              <a:avLst/>
            </a:prstGeom>
          </p:spPr>
          <p:txBody>
            <a:bodyPr wrap="square">
              <a:spAutoFit/>
            </a:bodyPr>
            <a:lstStyle>
              <a:defPPr>
                <a:defRPr lang="zh-CN"/>
              </a:defPPr>
              <a:lvl1pPr>
                <a:defRPr sz="3000">
                  <a:solidFill>
                    <a:srgbClr val="618FA7"/>
                  </a:solidFill>
                  <a:latin typeface="汉仪中宋简" panose="02010609000101010101" pitchFamily="49" charset="-122"/>
                  <a:ea typeface="汉仪中宋简" panose="02010609000101010101" pitchFamily="49" charset="-122"/>
                </a:defRPr>
              </a:lvl1pPr>
            </a:lstStyle>
            <a:p>
              <a:pPr algn="ctr"/>
              <a:r>
                <a:rPr lang="zh-CN" altLang="en-US" sz="4000" dirty="0">
                  <a:solidFill>
                    <a:srgbClr val="6FB4BD"/>
                  </a:solidFill>
                  <a:latin typeface="华文新魏" panose="02010800040101010101" charset="-122"/>
                  <a:ea typeface="华文新魏" panose="02010800040101010101" charset="-122"/>
                  <a:sym typeface="+mn-ea"/>
                </a:rPr>
                <a:t>决策树</a:t>
              </a:r>
              <a:endParaRPr lang="zh-CN" altLang="en-US" sz="4000" dirty="0">
                <a:solidFill>
                  <a:srgbClr val="61ADB7"/>
                </a:solidFill>
              </a:endParaRPr>
            </a:p>
          </p:txBody>
        </p:sp>
        <p:sp>
          <p:nvSpPr>
            <p:cNvPr id="5" name="文本框 4"/>
            <p:cNvSpPr txBox="1"/>
            <p:nvPr>
              <p:custDataLst>
                <p:tags r:id="rId2"/>
              </p:custDataLst>
            </p:nvPr>
          </p:nvSpPr>
          <p:spPr>
            <a:xfrm>
              <a:off x="5238825" y="711004"/>
              <a:ext cx="2749400" cy="398780"/>
            </a:xfrm>
            <a:prstGeom prst="rect">
              <a:avLst/>
            </a:prstGeom>
          </p:spPr>
          <p:txBody>
            <a:bodyPr wrap="square">
              <a:spAutoFit/>
            </a:bodyPr>
            <a:lstStyle>
              <a:defPPr>
                <a:defRPr lang="zh-CN"/>
              </a:defPPr>
              <a:lvl1pPr algn="dist">
                <a:defRPr sz="1400">
                  <a:solidFill>
                    <a:srgbClr val="618FA7"/>
                  </a:solidFill>
                </a:defRPr>
              </a:lvl1pPr>
            </a:lstStyle>
            <a:p>
              <a:pPr algn="l"/>
              <a:r>
                <a:rPr lang="en-US" altLang="zh-CN" sz="2000" dirty="0">
                  <a:solidFill>
                    <a:srgbClr val="6FB4BD"/>
                  </a:solidFill>
                  <a:sym typeface="+mn-ea"/>
                </a:rPr>
                <a:t> </a:t>
              </a:r>
              <a:r>
                <a:rPr lang="zh-CN" altLang="en-US" sz="2000" dirty="0">
                  <a:solidFill>
                    <a:srgbClr val="6FB4BD"/>
                  </a:solidFill>
                  <a:sym typeface="+mn-ea"/>
                </a:rPr>
                <a:t>decision tree</a:t>
              </a:r>
              <a:endParaRPr lang="zh-CN" altLang="en-US" sz="2000" dirty="0">
                <a:solidFill>
                  <a:srgbClr val="61ADB7"/>
                </a:solidFill>
              </a:endParaRPr>
            </a:p>
          </p:txBody>
        </p:sp>
      </p:grpSp>
      <p:cxnSp>
        <p:nvCxnSpPr>
          <p:cNvPr id="41" name="直接连接符 40"/>
          <p:cNvCxnSpPr/>
          <p:nvPr>
            <p:custDataLst>
              <p:tags r:id="rId3"/>
            </p:custDataLst>
          </p:nvPr>
        </p:nvCxnSpPr>
        <p:spPr>
          <a:xfrm>
            <a:off x="5132853" y="1192259"/>
            <a:ext cx="1925640" cy="0"/>
          </a:xfrm>
          <a:prstGeom prst="line">
            <a:avLst/>
          </a:prstGeom>
          <a:ln w="19050">
            <a:solidFill>
              <a:srgbClr val="6FB4BD"/>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custDataLst>
              <p:tags r:id="rId4"/>
            </p:custDataLst>
          </p:nvPr>
        </p:nvPicPr>
        <p:blipFill>
          <a:blip r:embed="rId5"/>
          <a:stretch>
            <a:fillRect/>
          </a:stretch>
        </p:blipFill>
        <p:spPr>
          <a:xfrm>
            <a:off x="1256665" y="1734820"/>
            <a:ext cx="4495800" cy="2959100"/>
          </a:xfrm>
          <a:prstGeom prst="rect">
            <a:avLst/>
          </a:prstGeom>
        </p:spPr>
      </p:pic>
      <p:sp>
        <p:nvSpPr>
          <p:cNvPr id="2" name="文本框 1"/>
          <p:cNvSpPr txBox="1"/>
          <p:nvPr/>
        </p:nvSpPr>
        <p:spPr>
          <a:xfrm>
            <a:off x="6700520" y="2094230"/>
            <a:ext cx="4064000" cy="368300"/>
          </a:xfrm>
          <a:prstGeom prst="rect">
            <a:avLst/>
          </a:prstGeom>
          <a:noFill/>
        </p:spPr>
        <p:txBody>
          <a:bodyPr wrap="square" rtlCol="0">
            <a:spAutoFit/>
          </a:bodyPr>
          <a:p>
            <a:r>
              <a:rPr lang="zh-CN" altLang="en-US"/>
              <a:t>数据集：</a:t>
            </a:r>
            <a:endParaRPr lang="zh-CN" altLang="en-US"/>
          </a:p>
        </p:txBody>
      </p:sp>
      <p:sp>
        <p:nvSpPr>
          <p:cNvPr id="7" name="文本框 6"/>
          <p:cNvSpPr txBox="1"/>
          <p:nvPr/>
        </p:nvSpPr>
        <p:spPr>
          <a:xfrm>
            <a:off x="7120890" y="2722880"/>
            <a:ext cx="4064000" cy="368300"/>
          </a:xfrm>
          <a:prstGeom prst="rect">
            <a:avLst/>
          </a:prstGeom>
          <a:noFill/>
        </p:spPr>
        <p:txBody>
          <a:bodyPr wrap="square" rtlCol="0">
            <a:spAutoFit/>
          </a:bodyPr>
          <a:p>
            <a:r>
              <a:rPr lang="zh-CN" altLang="en-US"/>
              <a:t>前四列是特征，最后一列是标签</a:t>
            </a:r>
            <a:endParaRPr lang="zh-CN" altLang="en-US"/>
          </a:p>
        </p:txBody>
      </p:sp>
      <p:sp>
        <p:nvSpPr>
          <p:cNvPr id="9" name="文本框 8"/>
          <p:cNvSpPr txBox="1"/>
          <p:nvPr/>
        </p:nvSpPr>
        <p:spPr>
          <a:xfrm>
            <a:off x="7120890" y="3244850"/>
            <a:ext cx="4064000" cy="368300"/>
          </a:xfrm>
          <a:prstGeom prst="rect">
            <a:avLst/>
          </a:prstGeom>
          <a:noFill/>
        </p:spPr>
        <p:txBody>
          <a:bodyPr wrap="square" rtlCol="0">
            <a:spAutoFit/>
          </a:bodyPr>
          <a:p>
            <a:r>
              <a:rPr lang="en-US" altLang="zh-CN"/>
              <a:t>labels:</a:t>
            </a:r>
            <a:r>
              <a:rPr lang="zh-CN" altLang="en-US"/>
              <a:t>定义的特征属性</a:t>
            </a:r>
            <a:endParaRPr lang="zh-CN" altLang="en-US"/>
          </a:p>
        </p:txBody>
      </p:sp>
      <p:sp>
        <p:nvSpPr>
          <p:cNvPr id="10" name="文本框 9"/>
          <p:cNvSpPr txBox="1"/>
          <p:nvPr/>
        </p:nvSpPr>
        <p:spPr>
          <a:xfrm>
            <a:off x="7158990" y="3766820"/>
            <a:ext cx="4064000" cy="922020"/>
          </a:xfrm>
          <a:prstGeom prst="rect">
            <a:avLst/>
          </a:prstGeom>
          <a:noFill/>
        </p:spPr>
        <p:txBody>
          <a:bodyPr wrap="square" rtlCol="0">
            <a:spAutoFit/>
          </a:bodyPr>
          <a:p>
            <a:r>
              <a:rPr lang="zh-CN" altLang="en-US"/>
              <a:t>先明确：</a:t>
            </a:r>
            <a:r>
              <a:rPr lang="en-US" altLang="zh-CN"/>
              <a:t>1.选择一个最优的根节点</a:t>
            </a:r>
            <a:endParaRPr lang="en-US" altLang="zh-CN"/>
          </a:p>
          <a:p>
            <a:r>
              <a:rPr lang="en-US" altLang="zh-CN"/>
              <a:t>              2.</a:t>
            </a:r>
            <a:r>
              <a:rPr lang="zh-CN" altLang="en-US"/>
              <a:t>根据列中的唯一属性来分支</a:t>
            </a:r>
            <a:endParaRPr lang="zh-CN" altLang="en-US"/>
          </a:p>
          <a:p>
            <a:r>
              <a:rPr lang="en-US" altLang="zh-CN"/>
              <a:t>              3.</a:t>
            </a:r>
            <a:r>
              <a:rPr lang="zh-CN" altLang="en-US"/>
              <a:t>通过递归选择子节点</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498185" y="362554"/>
            <a:ext cx="3490040" cy="829998"/>
            <a:chOff x="4498185" y="279786"/>
            <a:chExt cx="3490040" cy="829998"/>
          </a:xfrm>
        </p:grpSpPr>
        <p:sp>
          <p:nvSpPr>
            <p:cNvPr id="4" name="文本框 3"/>
            <p:cNvSpPr txBox="1"/>
            <p:nvPr>
              <p:custDataLst>
                <p:tags r:id="rId1"/>
              </p:custDataLst>
            </p:nvPr>
          </p:nvSpPr>
          <p:spPr>
            <a:xfrm>
              <a:off x="4498185" y="279786"/>
              <a:ext cx="3195630" cy="706755"/>
            </a:xfrm>
            <a:prstGeom prst="rect">
              <a:avLst/>
            </a:prstGeom>
          </p:spPr>
          <p:txBody>
            <a:bodyPr wrap="square">
              <a:spAutoFit/>
            </a:bodyPr>
            <a:lstStyle>
              <a:defPPr>
                <a:defRPr lang="zh-CN"/>
              </a:defPPr>
              <a:lvl1pPr>
                <a:defRPr sz="3000">
                  <a:solidFill>
                    <a:srgbClr val="618FA7"/>
                  </a:solidFill>
                  <a:latin typeface="汉仪中宋简" panose="02010609000101010101" pitchFamily="49" charset="-122"/>
                  <a:ea typeface="汉仪中宋简" panose="02010609000101010101" pitchFamily="49" charset="-122"/>
                </a:defRPr>
              </a:lvl1pPr>
            </a:lstStyle>
            <a:p>
              <a:pPr algn="ctr"/>
              <a:r>
                <a:rPr lang="zh-CN" altLang="en-US" sz="4000" dirty="0">
                  <a:solidFill>
                    <a:srgbClr val="6FB4BD"/>
                  </a:solidFill>
                  <a:latin typeface="华文新魏" panose="02010800040101010101" charset="-122"/>
                  <a:ea typeface="华文新魏" panose="02010800040101010101" charset="-122"/>
                  <a:sym typeface="+mn-ea"/>
                </a:rPr>
                <a:t>决策树</a:t>
              </a:r>
              <a:endParaRPr lang="zh-CN" altLang="en-US" sz="4000" dirty="0">
                <a:solidFill>
                  <a:srgbClr val="61ADB7"/>
                </a:solidFill>
              </a:endParaRPr>
            </a:p>
          </p:txBody>
        </p:sp>
        <p:sp>
          <p:nvSpPr>
            <p:cNvPr id="5" name="文本框 4"/>
            <p:cNvSpPr txBox="1"/>
            <p:nvPr>
              <p:custDataLst>
                <p:tags r:id="rId2"/>
              </p:custDataLst>
            </p:nvPr>
          </p:nvSpPr>
          <p:spPr>
            <a:xfrm>
              <a:off x="5238825" y="711004"/>
              <a:ext cx="2749400" cy="398780"/>
            </a:xfrm>
            <a:prstGeom prst="rect">
              <a:avLst/>
            </a:prstGeom>
          </p:spPr>
          <p:txBody>
            <a:bodyPr wrap="square">
              <a:spAutoFit/>
            </a:bodyPr>
            <a:lstStyle>
              <a:defPPr>
                <a:defRPr lang="zh-CN"/>
              </a:defPPr>
              <a:lvl1pPr algn="dist">
                <a:defRPr sz="1400">
                  <a:solidFill>
                    <a:srgbClr val="618FA7"/>
                  </a:solidFill>
                </a:defRPr>
              </a:lvl1pPr>
            </a:lstStyle>
            <a:p>
              <a:pPr algn="l"/>
              <a:r>
                <a:rPr lang="en-US" altLang="zh-CN" sz="2000" dirty="0">
                  <a:solidFill>
                    <a:srgbClr val="6FB4BD"/>
                  </a:solidFill>
                  <a:sym typeface="+mn-ea"/>
                </a:rPr>
                <a:t> </a:t>
              </a:r>
              <a:r>
                <a:rPr lang="zh-CN" altLang="en-US" sz="2000" dirty="0">
                  <a:solidFill>
                    <a:srgbClr val="6FB4BD"/>
                  </a:solidFill>
                  <a:sym typeface="+mn-ea"/>
                </a:rPr>
                <a:t>decision tree</a:t>
              </a:r>
              <a:endParaRPr lang="zh-CN" altLang="en-US" sz="2000" dirty="0">
                <a:solidFill>
                  <a:srgbClr val="61ADB7"/>
                </a:solidFill>
              </a:endParaRPr>
            </a:p>
          </p:txBody>
        </p:sp>
      </p:grpSp>
      <p:cxnSp>
        <p:nvCxnSpPr>
          <p:cNvPr id="41" name="直接连接符 40"/>
          <p:cNvCxnSpPr/>
          <p:nvPr>
            <p:custDataLst>
              <p:tags r:id="rId3"/>
            </p:custDataLst>
          </p:nvPr>
        </p:nvCxnSpPr>
        <p:spPr>
          <a:xfrm>
            <a:off x="5132853" y="1192259"/>
            <a:ext cx="1925640" cy="0"/>
          </a:xfrm>
          <a:prstGeom prst="line">
            <a:avLst/>
          </a:prstGeom>
          <a:ln w="19050">
            <a:solidFill>
              <a:srgbClr val="6FB4BD"/>
            </a:solidFill>
          </a:ln>
        </p:spPr>
        <p:style>
          <a:lnRef idx="1">
            <a:schemeClr val="accent1"/>
          </a:lnRef>
          <a:fillRef idx="0">
            <a:schemeClr val="accent1"/>
          </a:fillRef>
          <a:effectRef idx="0">
            <a:schemeClr val="accent1"/>
          </a:effectRef>
          <a:fontRef idx="minor">
            <a:schemeClr val="tx1"/>
          </a:fontRef>
        </p:style>
      </p:cxnSp>
      <p:pic>
        <p:nvPicPr>
          <p:cNvPr id="2" name="图片 1" descr="外包项目实施流程"/>
          <p:cNvPicPr>
            <a:picLocks noChangeAspect="1"/>
          </p:cNvPicPr>
          <p:nvPr/>
        </p:nvPicPr>
        <p:blipFill>
          <a:blip r:embed="rId4"/>
          <a:stretch>
            <a:fillRect/>
          </a:stretch>
        </p:blipFill>
        <p:spPr>
          <a:xfrm>
            <a:off x="3519170" y="1315720"/>
            <a:ext cx="5153025" cy="45815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498185" y="362554"/>
            <a:ext cx="3490040" cy="829998"/>
            <a:chOff x="4498185" y="279786"/>
            <a:chExt cx="3490040" cy="829998"/>
          </a:xfrm>
        </p:grpSpPr>
        <p:sp>
          <p:nvSpPr>
            <p:cNvPr id="4" name="文本框 3"/>
            <p:cNvSpPr txBox="1"/>
            <p:nvPr>
              <p:custDataLst>
                <p:tags r:id="rId1"/>
              </p:custDataLst>
            </p:nvPr>
          </p:nvSpPr>
          <p:spPr>
            <a:xfrm>
              <a:off x="4498185" y="279786"/>
              <a:ext cx="3195630" cy="706755"/>
            </a:xfrm>
            <a:prstGeom prst="rect">
              <a:avLst/>
            </a:prstGeom>
          </p:spPr>
          <p:txBody>
            <a:bodyPr wrap="square">
              <a:spAutoFit/>
            </a:bodyPr>
            <a:lstStyle>
              <a:defPPr>
                <a:defRPr lang="zh-CN"/>
              </a:defPPr>
              <a:lvl1pPr>
                <a:defRPr sz="3000">
                  <a:solidFill>
                    <a:srgbClr val="618FA7"/>
                  </a:solidFill>
                  <a:latin typeface="汉仪中宋简" panose="02010609000101010101" pitchFamily="49" charset="-122"/>
                  <a:ea typeface="汉仪中宋简" panose="02010609000101010101" pitchFamily="49" charset="-122"/>
                </a:defRPr>
              </a:lvl1pPr>
            </a:lstStyle>
            <a:p>
              <a:pPr algn="ctr"/>
              <a:r>
                <a:rPr lang="zh-CN" altLang="en-US" sz="4000" dirty="0">
                  <a:solidFill>
                    <a:srgbClr val="6FB4BD"/>
                  </a:solidFill>
                  <a:latin typeface="华文新魏" panose="02010800040101010101" charset="-122"/>
                  <a:ea typeface="华文新魏" panose="02010800040101010101" charset="-122"/>
                  <a:sym typeface="+mn-ea"/>
                </a:rPr>
                <a:t>决策树</a:t>
              </a:r>
              <a:endParaRPr lang="zh-CN" altLang="en-US" sz="4000" dirty="0">
                <a:solidFill>
                  <a:srgbClr val="61ADB7"/>
                </a:solidFill>
              </a:endParaRPr>
            </a:p>
          </p:txBody>
        </p:sp>
        <p:sp>
          <p:nvSpPr>
            <p:cNvPr id="5" name="文本框 4"/>
            <p:cNvSpPr txBox="1"/>
            <p:nvPr>
              <p:custDataLst>
                <p:tags r:id="rId2"/>
              </p:custDataLst>
            </p:nvPr>
          </p:nvSpPr>
          <p:spPr>
            <a:xfrm>
              <a:off x="5238825" y="711004"/>
              <a:ext cx="2749400" cy="398780"/>
            </a:xfrm>
            <a:prstGeom prst="rect">
              <a:avLst/>
            </a:prstGeom>
          </p:spPr>
          <p:txBody>
            <a:bodyPr wrap="square">
              <a:spAutoFit/>
            </a:bodyPr>
            <a:lstStyle>
              <a:defPPr>
                <a:defRPr lang="zh-CN"/>
              </a:defPPr>
              <a:lvl1pPr algn="dist">
                <a:defRPr sz="1400">
                  <a:solidFill>
                    <a:srgbClr val="618FA7"/>
                  </a:solidFill>
                </a:defRPr>
              </a:lvl1pPr>
            </a:lstStyle>
            <a:p>
              <a:pPr algn="l"/>
              <a:r>
                <a:rPr lang="en-US" altLang="zh-CN" sz="2000" dirty="0">
                  <a:solidFill>
                    <a:srgbClr val="6FB4BD"/>
                  </a:solidFill>
                  <a:sym typeface="+mn-ea"/>
                </a:rPr>
                <a:t> </a:t>
              </a:r>
              <a:r>
                <a:rPr lang="zh-CN" altLang="en-US" sz="2000" dirty="0">
                  <a:solidFill>
                    <a:srgbClr val="6FB4BD"/>
                  </a:solidFill>
                  <a:sym typeface="+mn-ea"/>
                </a:rPr>
                <a:t>decision tree</a:t>
              </a:r>
              <a:endParaRPr lang="zh-CN" altLang="en-US" sz="2000" dirty="0">
                <a:solidFill>
                  <a:srgbClr val="61ADB7"/>
                </a:solidFill>
              </a:endParaRPr>
            </a:p>
          </p:txBody>
        </p:sp>
      </p:grpSp>
      <p:cxnSp>
        <p:nvCxnSpPr>
          <p:cNvPr id="41" name="直接连接符 40"/>
          <p:cNvCxnSpPr/>
          <p:nvPr>
            <p:custDataLst>
              <p:tags r:id="rId3"/>
            </p:custDataLst>
          </p:nvPr>
        </p:nvCxnSpPr>
        <p:spPr>
          <a:xfrm>
            <a:off x="5132853" y="1192259"/>
            <a:ext cx="1925640" cy="0"/>
          </a:xfrm>
          <a:prstGeom prst="line">
            <a:avLst/>
          </a:prstGeom>
          <a:ln w="19050">
            <a:solidFill>
              <a:srgbClr val="6FB4BD"/>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custDataLst>
              <p:tags r:id="rId4"/>
            </p:custDataLst>
          </p:nvPr>
        </p:nvPicPr>
        <p:blipFill>
          <a:blip r:embed="rId5"/>
          <a:stretch>
            <a:fillRect/>
          </a:stretch>
        </p:blipFill>
        <p:spPr>
          <a:xfrm>
            <a:off x="1183640" y="3376295"/>
            <a:ext cx="5443855" cy="1250950"/>
          </a:xfrm>
          <a:prstGeom prst="rect">
            <a:avLst/>
          </a:prstGeom>
        </p:spPr>
      </p:pic>
      <p:pic>
        <p:nvPicPr>
          <p:cNvPr id="6" name="图片 5"/>
          <p:cNvPicPr>
            <a:picLocks noChangeAspect="1"/>
          </p:cNvPicPr>
          <p:nvPr>
            <p:custDataLst>
              <p:tags r:id="rId6"/>
            </p:custDataLst>
          </p:nvPr>
        </p:nvPicPr>
        <p:blipFill>
          <a:blip r:embed="rId7"/>
          <a:stretch>
            <a:fillRect/>
          </a:stretch>
        </p:blipFill>
        <p:spPr>
          <a:xfrm>
            <a:off x="1183640" y="2482850"/>
            <a:ext cx="5332730" cy="421005"/>
          </a:xfrm>
          <a:prstGeom prst="rect">
            <a:avLst/>
          </a:prstGeom>
        </p:spPr>
      </p:pic>
      <p:sp>
        <p:nvSpPr>
          <p:cNvPr id="12" name="文本框 11"/>
          <p:cNvSpPr txBox="1"/>
          <p:nvPr/>
        </p:nvSpPr>
        <p:spPr>
          <a:xfrm>
            <a:off x="1183640" y="1450975"/>
            <a:ext cx="4064000" cy="368300"/>
          </a:xfrm>
          <a:prstGeom prst="rect">
            <a:avLst/>
          </a:prstGeom>
          <a:noFill/>
        </p:spPr>
        <p:txBody>
          <a:bodyPr wrap="square" rtlCol="0">
            <a:spAutoFit/>
          </a:bodyPr>
          <a:p>
            <a:r>
              <a:rPr lang="zh-CN" altLang="en-US"/>
              <a:t>创建</a:t>
            </a:r>
            <a:r>
              <a:rPr lang="zh-CN" altLang="en-US"/>
              <a:t>决策树</a:t>
            </a:r>
            <a:endParaRPr lang="zh-CN" altLang="en-US"/>
          </a:p>
        </p:txBody>
      </p:sp>
      <p:pic>
        <p:nvPicPr>
          <p:cNvPr id="13" name="图片 12" descr="外包项目实施流程2"/>
          <p:cNvPicPr>
            <a:picLocks noChangeAspect="1"/>
          </p:cNvPicPr>
          <p:nvPr/>
        </p:nvPicPr>
        <p:blipFill>
          <a:blip r:embed="rId8"/>
          <a:stretch>
            <a:fillRect/>
          </a:stretch>
        </p:blipFill>
        <p:spPr>
          <a:xfrm>
            <a:off x="6982460" y="1315720"/>
            <a:ext cx="5084445" cy="45212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498185" y="362554"/>
            <a:ext cx="3490040" cy="829998"/>
            <a:chOff x="4498185" y="279786"/>
            <a:chExt cx="3490040" cy="829998"/>
          </a:xfrm>
        </p:grpSpPr>
        <p:sp>
          <p:nvSpPr>
            <p:cNvPr id="4" name="文本框 3"/>
            <p:cNvSpPr txBox="1"/>
            <p:nvPr>
              <p:custDataLst>
                <p:tags r:id="rId1"/>
              </p:custDataLst>
            </p:nvPr>
          </p:nvSpPr>
          <p:spPr>
            <a:xfrm>
              <a:off x="4498185" y="279786"/>
              <a:ext cx="3195630" cy="706755"/>
            </a:xfrm>
            <a:prstGeom prst="rect">
              <a:avLst/>
            </a:prstGeom>
          </p:spPr>
          <p:txBody>
            <a:bodyPr wrap="square">
              <a:spAutoFit/>
            </a:bodyPr>
            <a:lstStyle>
              <a:defPPr>
                <a:defRPr lang="zh-CN"/>
              </a:defPPr>
              <a:lvl1pPr>
                <a:defRPr sz="3000">
                  <a:solidFill>
                    <a:srgbClr val="618FA7"/>
                  </a:solidFill>
                  <a:latin typeface="汉仪中宋简" panose="02010609000101010101" pitchFamily="49" charset="-122"/>
                  <a:ea typeface="汉仪中宋简" panose="02010609000101010101" pitchFamily="49" charset="-122"/>
                </a:defRPr>
              </a:lvl1pPr>
            </a:lstStyle>
            <a:p>
              <a:pPr algn="ctr"/>
              <a:r>
                <a:rPr lang="zh-CN" altLang="en-US" sz="4000" dirty="0">
                  <a:solidFill>
                    <a:srgbClr val="6FB4BD"/>
                  </a:solidFill>
                  <a:latin typeface="华文新魏" panose="02010800040101010101" charset="-122"/>
                  <a:ea typeface="华文新魏" panose="02010800040101010101" charset="-122"/>
                  <a:sym typeface="+mn-ea"/>
                </a:rPr>
                <a:t>决策树</a:t>
              </a:r>
              <a:endParaRPr lang="zh-CN" altLang="en-US" sz="4000" dirty="0">
                <a:solidFill>
                  <a:srgbClr val="61ADB7"/>
                </a:solidFill>
              </a:endParaRPr>
            </a:p>
          </p:txBody>
        </p:sp>
        <p:sp>
          <p:nvSpPr>
            <p:cNvPr id="5" name="文本框 4"/>
            <p:cNvSpPr txBox="1"/>
            <p:nvPr>
              <p:custDataLst>
                <p:tags r:id="rId2"/>
              </p:custDataLst>
            </p:nvPr>
          </p:nvSpPr>
          <p:spPr>
            <a:xfrm>
              <a:off x="5238825" y="711004"/>
              <a:ext cx="2749400" cy="398780"/>
            </a:xfrm>
            <a:prstGeom prst="rect">
              <a:avLst/>
            </a:prstGeom>
          </p:spPr>
          <p:txBody>
            <a:bodyPr wrap="square">
              <a:spAutoFit/>
            </a:bodyPr>
            <a:lstStyle>
              <a:defPPr>
                <a:defRPr lang="zh-CN"/>
              </a:defPPr>
              <a:lvl1pPr algn="dist">
                <a:defRPr sz="1400">
                  <a:solidFill>
                    <a:srgbClr val="618FA7"/>
                  </a:solidFill>
                </a:defRPr>
              </a:lvl1pPr>
            </a:lstStyle>
            <a:p>
              <a:pPr algn="l"/>
              <a:r>
                <a:rPr lang="en-US" altLang="zh-CN" sz="2000" dirty="0">
                  <a:solidFill>
                    <a:srgbClr val="6FB4BD"/>
                  </a:solidFill>
                  <a:sym typeface="+mn-ea"/>
                </a:rPr>
                <a:t> </a:t>
              </a:r>
              <a:r>
                <a:rPr lang="zh-CN" altLang="en-US" sz="2000" dirty="0">
                  <a:solidFill>
                    <a:srgbClr val="6FB4BD"/>
                  </a:solidFill>
                  <a:sym typeface="+mn-ea"/>
                </a:rPr>
                <a:t>decision tree</a:t>
              </a:r>
              <a:endParaRPr lang="zh-CN" altLang="en-US" sz="2000" dirty="0">
                <a:solidFill>
                  <a:srgbClr val="61ADB7"/>
                </a:solidFill>
              </a:endParaRPr>
            </a:p>
          </p:txBody>
        </p:sp>
      </p:grpSp>
      <p:cxnSp>
        <p:nvCxnSpPr>
          <p:cNvPr id="41" name="直接连接符 40"/>
          <p:cNvCxnSpPr/>
          <p:nvPr>
            <p:custDataLst>
              <p:tags r:id="rId3"/>
            </p:custDataLst>
          </p:nvPr>
        </p:nvCxnSpPr>
        <p:spPr>
          <a:xfrm>
            <a:off x="5132853" y="1192259"/>
            <a:ext cx="1925640" cy="0"/>
          </a:xfrm>
          <a:prstGeom prst="line">
            <a:avLst/>
          </a:prstGeom>
          <a:ln w="19050">
            <a:solidFill>
              <a:srgbClr val="6FB4BD"/>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custDataLst>
              <p:tags r:id="rId4"/>
            </p:custDataLst>
          </p:nvPr>
        </p:nvPicPr>
        <p:blipFill>
          <a:blip r:embed="rId5"/>
          <a:stretch>
            <a:fillRect/>
          </a:stretch>
        </p:blipFill>
        <p:spPr>
          <a:xfrm>
            <a:off x="733425" y="2664460"/>
            <a:ext cx="5443855" cy="1250950"/>
          </a:xfrm>
          <a:prstGeom prst="rect">
            <a:avLst/>
          </a:prstGeom>
        </p:spPr>
      </p:pic>
      <p:pic>
        <p:nvPicPr>
          <p:cNvPr id="6" name="图片 5"/>
          <p:cNvPicPr>
            <a:picLocks noChangeAspect="1"/>
          </p:cNvPicPr>
          <p:nvPr>
            <p:custDataLst>
              <p:tags r:id="rId6"/>
            </p:custDataLst>
          </p:nvPr>
        </p:nvPicPr>
        <p:blipFill>
          <a:blip r:embed="rId7"/>
          <a:stretch>
            <a:fillRect/>
          </a:stretch>
        </p:blipFill>
        <p:spPr>
          <a:xfrm>
            <a:off x="733425" y="2073910"/>
            <a:ext cx="5332730" cy="421005"/>
          </a:xfrm>
          <a:prstGeom prst="rect">
            <a:avLst/>
          </a:prstGeom>
        </p:spPr>
      </p:pic>
      <p:pic>
        <p:nvPicPr>
          <p:cNvPr id="7" name="图片 6"/>
          <p:cNvPicPr>
            <a:picLocks noChangeAspect="1"/>
          </p:cNvPicPr>
          <p:nvPr>
            <p:custDataLst>
              <p:tags r:id="rId8"/>
            </p:custDataLst>
          </p:nvPr>
        </p:nvPicPr>
        <p:blipFill>
          <a:blip r:embed="rId9"/>
          <a:stretch>
            <a:fillRect/>
          </a:stretch>
        </p:blipFill>
        <p:spPr>
          <a:xfrm>
            <a:off x="733425" y="4189095"/>
            <a:ext cx="5444490" cy="1253490"/>
          </a:xfrm>
          <a:prstGeom prst="rect">
            <a:avLst/>
          </a:prstGeom>
        </p:spPr>
      </p:pic>
      <p:sp>
        <p:nvSpPr>
          <p:cNvPr id="12" name="文本框 11"/>
          <p:cNvSpPr txBox="1"/>
          <p:nvPr/>
        </p:nvSpPr>
        <p:spPr>
          <a:xfrm>
            <a:off x="733425" y="1192530"/>
            <a:ext cx="4064000" cy="368300"/>
          </a:xfrm>
          <a:prstGeom prst="rect">
            <a:avLst/>
          </a:prstGeom>
          <a:noFill/>
        </p:spPr>
        <p:txBody>
          <a:bodyPr wrap="square" rtlCol="0">
            <a:spAutoFit/>
          </a:bodyPr>
          <a:p>
            <a:r>
              <a:rPr lang="zh-CN" altLang="en-US"/>
              <a:t>根节点</a:t>
            </a:r>
            <a:r>
              <a:rPr lang="zh-CN" altLang="en-US"/>
              <a:t>选取</a:t>
            </a:r>
            <a:endParaRPr lang="zh-CN" altLang="en-US"/>
          </a:p>
        </p:txBody>
      </p:sp>
      <p:pic>
        <p:nvPicPr>
          <p:cNvPr id="9" name="图片 8" descr="外包项目实施流程3"/>
          <p:cNvPicPr>
            <a:picLocks noChangeAspect="1"/>
          </p:cNvPicPr>
          <p:nvPr/>
        </p:nvPicPr>
        <p:blipFill>
          <a:blip r:embed="rId10"/>
          <a:stretch>
            <a:fillRect/>
          </a:stretch>
        </p:blipFill>
        <p:spPr>
          <a:xfrm>
            <a:off x="6595745" y="1315720"/>
            <a:ext cx="5172075" cy="45815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498185" y="362554"/>
            <a:ext cx="3490040" cy="829998"/>
            <a:chOff x="4498185" y="279786"/>
            <a:chExt cx="3490040" cy="829998"/>
          </a:xfrm>
        </p:grpSpPr>
        <p:sp>
          <p:nvSpPr>
            <p:cNvPr id="4" name="文本框 3"/>
            <p:cNvSpPr txBox="1"/>
            <p:nvPr>
              <p:custDataLst>
                <p:tags r:id="rId1"/>
              </p:custDataLst>
            </p:nvPr>
          </p:nvSpPr>
          <p:spPr>
            <a:xfrm>
              <a:off x="4498185" y="279786"/>
              <a:ext cx="3195630" cy="706755"/>
            </a:xfrm>
            <a:prstGeom prst="rect">
              <a:avLst/>
            </a:prstGeom>
          </p:spPr>
          <p:txBody>
            <a:bodyPr wrap="square">
              <a:spAutoFit/>
            </a:bodyPr>
            <a:lstStyle>
              <a:defPPr>
                <a:defRPr lang="zh-CN"/>
              </a:defPPr>
              <a:lvl1pPr>
                <a:defRPr sz="3000">
                  <a:solidFill>
                    <a:srgbClr val="618FA7"/>
                  </a:solidFill>
                  <a:latin typeface="汉仪中宋简" panose="02010609000101010101" pitchFamily="49" charset="-122"/>
                  <a:ea typeface="汉仪中宋简" panose="02010609000101010101" pitchFamily="49" charset="-122"/>
                </a:defRPr>
              </a:lvl1pPr>
            </a:lstStyle>
            <a:p>
              <a:pPr algn="ctr"/>
              <a:r>
                <a:rPr lang="zh-CN" altLang="en-US" sz="4000" dirty="0">
                  <a:solidFill>
                    <a:srgbClr val="6FB4BD"/>
                  </a:solidFill>
                  <a:latin typeface="华文新魏" panose="02010800040101010101" charset="-122"/>
                  <a:ea typeface="华文新魏" panose="02010800040101010101" charset="-122"/>
                  <a:sym typeface="+mn-ea"/>
                </a:rPr>
                <a:t>决策树</a:t>
              </a:r>
              <a:endParaRPr lang="zh-CN" altLang="en-US" sz="4000" dirty="0">
                <a:solidFill>
                  <a:srgbClr val="61ADB7"/>
                </a:solidFill>
              </a:endParaRPr>
            </a:p>
          </p:txBody>
        </p:sp>
        <p:sp>
          <p:nvSpPr>
            <p:cNvPr id="5" name="文本框 4"/>
            <p:cNvSpPr txBox="1"/>
            <p:nvPr>
              <p:custDataLst>
                <p:tags r:id="rId2"/>
              </p:custDataLst>
            </p:nvPr>
          </p:nvSpPr>
          <p:spPr>
            <a:xfrm>
              <a:off x="5238825" y="711004"/>
              <a:ext cx="2749400" cy="398780"/>
            </a:xfrm>
            <a:prstGeom prst="rect">
              <a:avLst/>
            </a:prstGeom>
          </p:spPr>
          <p:txBody>
            <a:bodyPr wrap="square">
              <a:spAutoFit/>
            </a:bodyPr>
            <a:lstStyle>
              <a:defPPr>
                <a:defRPr lang="zh-CN"/>
              </a:defPPr>
              <a:lvl1pPr algn="dist">
                <a:defRPr sz="1400">
                  <a:solidFill>
                    <a:srgbClr val="618FA7"/>
                  </a:solidFill>
                </a:defRPr>
              </a:lvl1pPr>
            </a:lstStyle>
            <a:p>
              <a:pPr algn="l"/>
              <a:r>
                <a:rPr lang="en-US" altLang="zh-CN" sz="2000" dirty="0">
                  <a:solidFill>
                    <a:srgbClr val="6FB4BD"/>
                  </a:solidFill>
                  <a:sym typeface="+mn-ea"/>
                </a:rPr>
                <a:t> </a:t>
              </a:r>
              <a:r>
                <a:rPr lang="zh-CN" altLang="en-US" sz="2000" dirty="0">
                  <a:solidFill>
                    <a:srgbClr val="6FB4BD"/>
                  </a:solidFill>
                  <a:sym typeface="+mn-ea"/>
                </a:rPr>
                <a:t>decision tree</a:t>
              </a:r>
              <a:endParaRPr lang="zh-CN" altLang="en-US" sz="2000" dirty="0">
                <a:solidFill>
                  <a:srgbClr val="61ADB7"/>
                </a:solidFill>
              </a:endParaRPr>
            </a:p>
          </p:txBody>
        </p:sp>
      </p:grpSp>
      <p:cxnSp>
        <p:nvCxnSpPr>
          <p:cNvPr id="41" name="直接连接符 40"/>
          <p:cNvCxnSpPr/>
          <p:nvPr>
            <p:custDataLst>
              <p:tags r:id="rId3"/>
            </p:custDataLst>
          </p:nvPr>
        </p:nvCxnSpPr>
        <p:spPr>
          <a:xfrm>
            <a:off x="5132853" y="1192259"/>
            <a:ext cx="1925640" cy="0"/>
          </a:xfrm>
          <a:prstGeom prst="line">
            <a:avLst/>
          </a:prstGeom>
          <a:ln w="19050">
            <a:solidFill>
              <a:srgbClr val="6FB4BD"/>
            </a:solidFill>
          </a:ln>
        </p:spPr>
        <p:style>
          <a:lnRef idx="1">
            <a:schemeClr val="accent1"/>
          </a:lnRef>
          <a:fillRef idx="0">
            <a:schemeClr val="accent1"/>
          </a:fillRef>
          <a:effectRef idx="0">
            <a:schemeClr val="accent1"/>
          </a:effectRef>
          <a:fontRef idx="minor">
            <a:schemeClr val="tx1"/>
          </a:fontRef>
        </p:style>
      </p:cxnSp>
      <p:pic>
        <p:nvPicPr>
          <p:cNvPr id="10" name="图片 9" descr="外包项目实施流程4"/>
          <p:cNvPicPr>
            <a:picLocks noChangeAspect="1"/>
          </p:cNvPicPr>
          <p:nvPr/>
        </p:nvPicPr>
        <p:blipFill>
          <a:blip r:embed="rId4"/>
          <a:stretch>
            <a:fillRect/>
          </a:stretch>
        </p:blipFill>
        <p:spPr>
          <a:xfrm>
            <a:off x="3738880" y="1569720"/>
            <a:ext cx="5742940" cy="5086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498185" y="362554"/>
            <a:ext cx="3490040" cy="829998"/>
            <a:chOff x="4498185" y="279786"/>
            <a:chExt cx="3490040" cy="829998"/>
          </a:xfrm>
        </p:grpSpPr>
        <p:sp>
          <p:nvSpPr>
            <p:cNvPr id="4" name="文本框 3"/>
            <p:cNvSpPr txBox="1"/>
            <p:nvPr>
              <p:custDataLst>
                <p:tags r:id="rId1"/>
              </p:custDataLst>
            </p:nvPr>
          </p:nvSpPr>
          <p:spPr>
            <a:xfrm>
              <a:off x="4498185" y="279786"/>
              <a:ext cx="3195630" cy="706755"/>
            </a:xfrm>
            <a:prstGeom prst="rect">
              <a:avLst/>
            </a:prstGeom>
          </p:spPr>
          <p:txBody>
            <a:bodyPr wrap="square">
              <a:spAutoFit/>
            </a:bodyPr>
            <a:lstStyle>
              <a:defPPr>
                <a:defRPr lang="zh-CN"/>
              </a:defPPr>
              <a:lvl1pPr>
                <a:defRPr sz="3000">
                  <a:solidFill>
                    <a:srgbClr val="618FA7"/>
                  </a:solidFill>
                  <a:latin typeface="汉仪中宋简" panose="02010609000101010101" pitchFamily="49" charset="-122"/>
                  <a:ea typeface="汉仪中宋简" panose="02010609000101010101" pitchFamily="49" charset="-122"/>
                </a:defRPr>
              </a:lvl1pPr>
            </a:lstStyle>
            <a:p>
              <a:pPr algn="ctr"/>
              <a:r>
                <a:rPr lang="zh-CN" altLang="en-US" sz="4000" dirty="0">
                  <a:solidFill>
                    <a:srgbClr val="6FB4BD"/>
                  </a:solidFill>
                  <a:latin typeface="华文新魏" panose="02010800040101010101" charset="-122"/>
                  <a:ea typeface="华文新魏" panose="02010800040101010101" charset="-122"/>
                  <a:sym typeface="+mn-ea"/>
                </a:rPr>
                <a:t>决策树</a:t>
              </a:r>
              <a:endParaRPr lang="zh-CN" altLang="en-US" sz="4000" dirty="0">
                <a:solidFill>
                  <a:srgbClr val="61ADB7"/>
                </a:solidFill>
              </a:endParaRPr>
            </a:p>
          </p:txBody>
        </p:sp>
        <p:sp>
          <p:nvSpPr>
            <p:cNvPr id="5" name="文本框 4"/>
            <p:cNvSpPr txBox="1"/>
            <p:nvPr>
              <p:custDataLst>
                <p:tags r:id="rId2"/>
              </p:custDataLst>
            </p:nvPr>
          </p:nvSpPr>
          <p:spPr>
            <a:xfrm>
              <a:off x="5238825" y="711004"/>
              <a:ext cx="2749400" cy="398780"/>
            </a:xfrm>
            <a:prstGeom prst="rect">
              <a:avLst/>
            </a:prstGeom>
          </p:spPr>
          <p:txBody>
            <a:bodyPr wrap="square">
              <a:spAutoFit/>
            </a:bodyPr>
            <a:lstStyle>
              <a:defPPr>
                <a:defRPr lang="zh-CN"/>
              </a:defPPr>
              <a:lvl1pPr algn="dist">
                <a:defRPr sz="1400">
                  <a:solidFill>
                    <a:srgbClr val="618FA7"/>
                  </a:solidFill>
                </a:defRPr>
              </a:lvl1pPr>
            </a:lstStyle>
            <a:p>
              <a:pPr algn="l"/>
              <a:r>
                <a:rPr lang="en-US" altLang="zh-CN" sz="2000" dirty="0">
                  <a:solidFill>
                    <a:srgbClr val="6FB4BD"/>
                  </a:solidFill>
                  <a:sym typeface="+mn-ea"/>
                </a:rPr>
                <a:t> </a:t>
              </a:r>
              <a:r>
                <a:rPr lang="zh-CN" altLang="en-US" sz="2000" dirty="0">
                  <a:solidFill>
                    <a:srgbClr val="6FB4BD"/>
                  </a:solidFill>
                  <a:sym typeface="+mn-ea"/>
                </a:rPr>
                <a:t>decision tree</a:t>
              </a:r>
              <a:endParaRPr lang="zh-CN" altLang="en-US" sz="2000" dirty="0">
                <a:solidFill>
                  <a:srgbClr val="61ADB7"/>
                </a:solidFill>
              </a:endParaRPr>
            </a:p>
          </p:txBody>
        </p:sp>
      </p:grpSp>
      <p:cxnSp>
        <p:nvCxnSpPr>
          <p:cNvPr id="41" name="直接连接符 40"/>
          <p:cNvCxnSpPr/>
          <p:nvPr>
            <p:custDataLst>
              <p:tags r:id="rId3"/>
            </p:custDataLst>
          </p:nvPr>
        </p:nvCxnSpPr>
        <p:spPr>
          <a:xfrm>
            <a:off x="5132853" y="1192259"/>
            <a:ext cx="1925640" cy="0"/>
          </a:xfrm>
          <a:prstGeom prst="line">
            <a:avLst/>
          </a:prstGeom>
          <a:ln w="19050">
            <a:solidFill>
              <a:srgbClr val="6FB4BD"/>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854710" y="1069340"/>
            <a:ext cx="4064000" cy="368300"/>
          </a:xfrm>
          <a:prstGeom prst="rect">
            <a:avLst/>
          </a:prstGeom>
          <a:noFill/>
        </p:spPr>
        <p:txBody>
          <a:bodyPr wrap="square" rtlCol="0">
            <a:spAutoFit/>
          </a:bodyPr>
          <a:p>
            <a:r>
              <a:rPr lang="zh-CN" altLang="en-US"/>
              <a:t>计算信息增益</a:t>
            </a:r>
            <a:endParaRPr lang="zh-CN" altLang="en-US"/>
          </a:p>
        </p:txBody>
      </p:sp>
      <p:sp>
        <p:nvSpPr>
          <p:cNvPr id="8" name="文本框 7"/>
          <p:cNvSpPr txBox="1"/>
          <p:nvPr/>
        </p:nvSpPr>
        <p:spPr>
          <a:xfrm>
            <a:off x="4498340" y="1669415"/>
            <a:ext cx="4064000" cy="368300"/>
          </a:xfrm>
          <a:prstGeom prst="rect">
            <a:avLst/>
          </a:prstGeom>
          <a:noFill/>
        </p:spPr>
        <p:txBody>
          <a:bodyPr wrap="square" rtlCol="0">
            <a:spAutoFit/>
          </a:bodyPr>
          <a:p>
            <a:r>
              <a:rPr lang="zh-CN" altLang="en-US"/>
              <a:t>信息增益</a:t>
            </a:r>
            <a:r>
              <a:rPr lang="en-US" altLang="zh-CN"/>
              <a:t>=</a:t>
            </a:r>
            <a:r>
              <a:rPr lang="zh-CN" altLang="en-US"/>
              <a:t>总熵</a:t>
            </a:r>
            <a:r>
              <a:rPr lang="en-US" altLang="zh-CN"/>
              <a:t>-</a:t>
            </a:r>
            <a:r>
              <a:rPr lang="zh-CN" altLang="en-US"/>
              <a:t>引入属性后的</a:t>
            </a:r>
            <a:r>
              <a:rPr lang="zh-CN" altLang="en-US"/>
              <a:t>熵</a:t>
            </a:r>
            <a:endParaRPr lang="zh-CN" altLang="en-US"/>
          </a:p>
        </p:txBody>
      </p:sp>
      <p:sp>
        <p:nvSpPr>
          <p:cNvPr id="9" name="文本框 8"/>
          <p:cNvSpPr txBox="1"/>
          <p:nvPr/>
        </p:nvSpPr>
        <p:spPr>
          <a:xfrm>
            <a:off x="434340" y="2514600"/>
            <a:ext cx="4064000" cy="368300"/>
          </a:xfrm>
          <a:prstGeom prst="rect">
            <a:avLst/>
          </a:prstGeom>
          <a:noFill/>
        </p:spPr>
        <p:txBody>
          <a:bodyPr wrap="square" rtlCol="0">
            <a:spAutoFit/>
          </a:bodyPr>
          <a:p>
            <a:r>
              <a:rPr lang="zh-CN" altLang="en-US"/>
              <a:t>总熵：</a:t>
            </a:r>
            <a:endParaRPr lang="zh-CN" altLang="en-US"/>
          </a:p>
        </p:txBody>
      </p:sp>
      <p:pic>
        <p:nvPicPr>
          <p:cNvPr id="10" name="图片 9"/>
          <p:cNvPicPr>
            <a:picLocks noChangeAspect="1"/>
          </p:cNvPicPr>
          <p:nvPr>
            <p:custDataLst>
              <p:tags r:id="rId4"/>
            </p:custDataLst>
          </p:nvPr>
        </p:nvPicPr>
        <p:blipFill>
          <a:blip r:embed="rId5"/>
          <a:stretch>
            <a:fillRect/>
          </a:stretch>
        </p:blipFill>
        <p:spPr>
          <a:xfrm>
            <a:off x="1143000" y="2514600"/>
            <a:ext cx="4418965" cy="2908935"/>
          </a:xfrm>
          <a:prstGeom prst="rect">
            <a:avLst/>
          </a:prstGeom>
        </p:spPr>
      </p:pic>
      <p:sp>
        <p:nvSpPr>
          <p:cNvPr id="11" name="文本框 10"/>
          <p:cNvSpPr txBox="1"/>
          <p:nvPr/>
        </p:nvSpPr>
        <p:spPr>
          <a:xfrm>
            <a:off x="5480050" y="2514600"/>
            <a:ext cx="4064000" cy="368300"/>
          </a:xfrm>
          <a:prstGeom prst="rect">
            <a:avLst/>
          </a:prstGeom>
          <a:noFill/>
        </p:spPr>
        <p:txBody>
          <a:bodyPr wrap="square" rtlCol="0">
            <a:spAutoFit/>
          </a:bodyPr>
          <a:p>
            <a:r>
              <a:rPr lang="zh-CN" altLang="en-US">
                <a:sym typeface="+mn-ea"/>
              </a:rPr>
              <a:t>引入属性后的熵：</a:t>
            </a:r>
            <a:endParaRPr lang="zh-CN" altLang="en-US"/>
          </a:p>
        </p:txBody>
      </p:sp>
      <p:pic>
        <p:nvPicPr>
          <p:cNvPr id="14" name="图片 13"/>
          <p:cNvPicPr>
            <a:picLocks noChangeAspect="1"/>
          </p:cNvPicPr>
          <p:nvPr>
            <p:custDataLst>
              <p:tags r:id="rId6"/>
            </p:custDataLst>
          </p:nvPr>
        </p:nvPicPr>
        <p:blipFill>
          <a:blip r:embed="rId5"/>
          <a:stretch>
            <a:fillRect/>
          </a:stretch>
        </p:blipFill>
        <p:spPr>
          <a:xfrm>
            <a:off x="7277100" y="2514600"/>
            <a:ext cx="4418965" cy="29089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498185" y="362554"/>
            <a:ext cx="3490040" cy="829998"/>
            <a:chOff x="4498185" y="279786"/>
            <a:chExt cx="3490040" cy="829998"/>
          </a:xfrm>
        </p:grpSpPr>
        <p:sp>
          <p:nvSpPr>
            <p:cNvPr id="4" name="文本框 3"/>
            <p:cNvSpPr txBox="1"/>
            <p:nvPr>
              <p:custDataLst>
                <p:tags r:id="rId1"/>
              </p:custDataLst>
            </p:nvPr>
          </p:nvSpPr>
          <p:spPr>
            <a:xfrm>
              <a:off x="4498185" y="279786"/>
              <a:ext cx="3195630" cy="706755"/>
            </a:xfrm>
            <a:prstGeom prst="rect">
              <a:avLst/>
            </a:prstGeom>
          </p:spPr>
          <p:txBody>
            <a:bodyPr wrap="square">
              <a:spAutoFit/>
            </a:bodyPr>
            <a:lstStyle>
              <a:defPPr>
                <a:defRPr lang="zh-CN"/>
              </a:defPPr>
              <a:lvl1pPr>
                <a:defRPr sz="3000">
                  <a:solidFill>
                    <a:srgbClr val="618FA7"/>
                  </a:solidFill>
                  <a:latin typeface="汉仪中宋简" panose="02010609000101010101" pitchFamily="49" charset="-122"/>
                  <a:ea typeface="汉仪中宋简" panose="02010609000101010101" pitchFamily="49" charset="-122"/>
                </a:defRPr>
              </a:lvl1pPr>
            </a:lstStyle>
            <a:p>
              <a:pPr algn="ctr"/>
              <a:r>
                <a:rPr lang="zh-CN" altLang="en-US" sz="4000" dirty="0">
                  <a:solidFill>
                    <a:srgbClr val="6FB4BD"/>
                  </a:solidFill>
                  <a:latin typeface="华文新魏" panose="02010800040101010101" charset="-122"/>
                  <a:ea typeface="华文新魏" panose="02010800040101010101" charset="-122"/>
                  <a:sym typeface="+mn-ea"/>
                </a:rPr>
                <a:t>决策树</a:t>
              </a:r>
              <a:endParaRPr lang="zh-CN" altLang="en-US" sz="4000" dirty="0">
                <a:solidFill>
                  <a:srgbClr val="61ADB7"/>
                </a:solidFill>
              </a:endParaRPr>
            </a:p>
          </p:txBody>
        </p:sp>
        <p:sp>
          <p:nvSpPr>
            <p:cNvPr id="5" name="文本框 4"/>
            <p:cNvSpPr txBox="1"/>
            <p:nvPr>
              <p:custDataLst>
                <p:tags r:id="rId2"/>
              </p:custDataLst>
            </p:nvPr>
          </p:nvSpPr>
          <p:spPr>
            <a:xfrm>
              <a:off x="5238825" y="711004"/>
              <a:ext cx="2749400" cy="398780"/>
            </a:xfrm>
            <a:prstGeom prst="rect">
              <a:avLst/>
            </a:prstGeom>
          </p:spPr>
          <p:txBody>
            <a:bodyPr wrap="square">
              <a:spAutoFit/>
            </a:bodyPr>
            <a:lstStyle>
              <a:defPPr>
                <a:defRPr lang="zh-CN"/>
              </a:defPPr>
              <a:lvl1pPr algn="dist">
                <a:defRPr sz="1400">
                  <a:solidFill>
                    <a:srgbClr val="618FA7"/>
                  </a:solidFill>
                </a:defRPr>
              </a:lvl1pPr>
            </a:lstStyle>
            <a:p>
              <a:pPr algn="l"/>
              <a:r>
                <a:rPr lang="en-US" altLang="zh-CN" sz="2000" dirty="0">
                  <a:solidFill>
                    <a:srgbClr val="6FB4BD"/>
                  </a:solidFill>
                  <a:sym typeface="+mn-ea"/>
                </a:rPr>
                <a:t> </a:t>
              </a:r>
              <a:r>
                <a:rPr lang="zh-CN" altLang="en-US" sz="2000" dirty="0">
                  <a:solidFill>
                    <a:srgbClr val="6FB4BD"/>
                  </a:solidFill>
                  <a:sym typeface="+mn-ea"/>
                </a:rPr>
                <a:t>decision tree</a:t>
              </a:r>
              <a:endParaRPr lang="zh-CN" altLang="en-US" sz="2000" dirty="0">
                <a:solidFill>
                  <a:srgbClr val="61ADB7"/>
                </a:solidFill>
              </a:endParaRPr>
            </a:p>
          </p:txBody>
        </p:sp>
      </p:grpSp>
      <p:cxnSp>
        <p:nvCxnSpPr>
          <p:cNvPr id="41" name="直接连接符 40"/>
          <p:cNvCxnSpPr/>
          <p:nvPr>
            <p:custDataLst>
              <p:tags r:id="rId3"/>
            </p:custDataLst>
          </p:nvPr>
        </p:nvCxnSpPr>
        <p:spPr>
          <a:xfrm>
            <a:off x="5132853" y="1192259"/>
            <a:ext cx="1925640" cy="0"/>
          </a:xfrm>
          <a:prstGeom prst="line">
            <a:avLst/>
          </a:prstGeom>
          <a:ln w="19050">
            <a:solidFill>
              <a:srgbClr val="6FB4BD"/>
            </a:solidFill>
          </a:ln>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p:custDataLst>
              <p:tags r:id="rId4"/>
            </p:custDataLst>
          </p:nvPr>
        </p:nvPicPr>
        <p:blipFill>
          <a:blip r:embed="rId5"/>
          <a:stretch>
            <a:fillRect/>
          </a:stretch>
        </p:blipFill>
        <p:spPr>
          <a:xfrm>
            <a:off x="2788920" y="1677035"/>
            <a:ext cx="7338695" cy="45218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498185" y="362554"/>
            <a:ext cx="3490040" cy="829998"/>
            <a:chOff x="4498185" y="279786"/>
            <a:chExt cx="3490040" cy="829998"/>
          </a:xfrm>
        </p:grpSpPr>
        <p:sp>
          <p:nvSpPr>
            <p:cNvPr id="4" name="文本框 3"/>
            <p:cNvSpPr txBox="1"/>
            <p:nvPr>
              <p:custDataLst>
                <p:tags r:id="rId1"/>
              </p:custDataLst>
            </p:nvPr>
          </p:nvSpPr>
          <p:spPr>
            <a:xfrm>
              <a:off x="4498185" y="279786"/>
              <a:ext cx="3195630" cy="706755"/>
            </a:xfrm>
            <a:prstGeom prst="rect">
              <a:avLst/>
            </a:prstGeom>
          </p:spPr>
          <p:txBody>
            <a:bodyPr wrap="square">
              <a:spAutoFit/>
            </a:bodyPr>
            <a:lstStyle>
              <a:defPPr>
                <a:defRPr lang="zh-CN"/>
              </a:defPPr>
              <a:lvl1pPr>
                <a:defRPr sz="3000">
                  <a:solidFill>
                    <a:srgbClr val="618FA7"/>
                  </a:solidFill>
                  <a:latin typeface="汉仪中宋简" panose="02010609000101010101" pitchFamily="49" charset="-122"/>
                  <a:ea typeface="汉仪中宋简" panose="02010609000101010101" pitchFamily="49" charset="-122"/>
                </a:defRPr>
              </a:lvl1pPr>
            </a:lstStyle>
            <a:p>
              <a:pPr algn="ctr"/>
              <a:r>
                <a:rPr lang="zh-CN" altLang="en-US" sz="4000" dirty="0">
                  <a:solidFill>
                    <a:srgbClr val="6FB4BD"/>
                  </a:solidFill>
                  <a:latin typeface="华文新魏" panose="02010800040101010101" charset="-122"/>
                  <a:ea typeface="华文新魏" panose="02010800040101010101" charset="-122"/>
                  <a:sym typeface="+mn-ea"/>
                </a:rPr>
                <a:t>决策树</a:t>
              </a:r>
              <a:endParaRPr lang="zh-CN" altLang="en-US" sz="4000" dirty="0">
                <a:solidFill>
                  <a:srgbClr val="61ADB7"/>
                </a:solidFill>
              </a:endParaRPr>
            </a:p>
          </p:txBody>
        </p:sp>
        <p:sp>
          <p:nvSpPr>
            <p:cNvPr id="5" name="文本框 4"/>
            <p:cNvSpPr txBox="1"/>
            <p:nvPr>
              <p:custDataLst>
                <p:tags r:id="rId2"/>
              </p:custDataLst>
            </p:nvPr>
          </p:nvSpPr>
          <p:spPr>
            <a:xfrm>
              <a:off x="5238825" y="711004"/>
              <a:ext cx="2749400" cy="398780"/>
            </a:xfrm>
            <a:prstGeom prst="rect">
              <a:avLst/>
            </a:prstGeom>
          </p:spPr>
          <p:txBody>
            <a:bodyPr wrap="square">
              <a:spAutoFit/>
            </a:bodyPr>
            <a:lstStyle>
              <a:defPPr>
                <a:defRPr lang="zh-CN"/>
              </a:defPPr>
              <a:lvl1pPr algn="dist">
                <a:defRPr sz="1400">
                  <a:solidFill>
                    <a:srgbClr val="618FA7"/>
                  </a:solidFill>
                </a:defRPr>
              </a:lvl1pPr>
            </a:lstStyle>
            <a:p>
              <a:pPr algn="l"/>
              <a:r>
                <a:rPr lang="en-US" altLang="zh-CN" sz="2000" dirty="0">
                  <a:solidFill>
                    <a:srgbClr val="6FB4BD"/>
                  </a:solidFill>
                  <a:sym typeface="+mn-ea"/>
                </a:rPr>
                <a:t> </a:t>
              </a:r>
              <a:r>
                <a:rPr lang="zh-CN" altLang="en-US" sz="2000" dirty="0">
                  <a:solidFill>
                    <a:srgbClr val="6FB4BD"/>
                  </a:solidFill>
                  <a:sym typeface="+mn-ea"/>
                </a:rPr>
                <a:t>decision tree</a:t>
              </a:r>
              <a:endParaRPr lang="zh-CN" altLang="en-US" sz="2000" dirty="0">
                <a:solidFill>
                  <a:srgbClr val="61ADB7"/>
                </a:solidFill>
              </a:endParaRPr>
            </a:p>
          </p:txBody>
        </p:sp>
      </p:grpSp>
      <p:cxnSp>
        <p:nvCxnSpPr>
          <p:cNvPr id="41" name="直接连接符 40"/>
          <p:cNvCxnSpPr/>
          <p:nvPr>
            <p:custDataLst>
              <p:tags r:id="rId3"/>
            </p:custDataLst>
          </p:nvPr>
        </p:nvCxnSpPr>
        <p:spPr>
          <a:xfrm>
            <a:off x="5132853" y="1192259"/>
            <a:ext cx="1925640" cy="0"/>
          </a:xfrm>
          <a:prstGeom prst="line">
            <a:avLst/>
          </a:prstGeom>
          <a:ln w="19050">
            <a:solidFill>
              <a:srgbClr val="6FB4BD"/>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1393825" y="1315720"/>
            <a:ext cx="4064000" cy="368300"/>
          </a:xfrm>
          <a:prstGeom prst="rect">
            <a:avLst/>
          </a:prstGeom>
          <a:noFill/>
        </p:spPr>
        <p:txBody>
          <a:bodyPr wrap="square" rtlCol="0">
            <a:spAutoFit/>
          </a:bodyPr>
          <a:p>
            <a:r>
              <a:rPr lang="zh-CN" altLang="en-US"/>
              <a:t>计算总</a:t>
            </a:r>
            <a:r>
              <a:rPr lang="zh-CN" altLang="en-US"/>
              <a:t>熵</a:t>
            </a:r>
            <a:endParaRPr lang="zh-CN" altLang="en-US"/>
          </a:p>
        </p:txBody>
      </p:sp>
      <p:sp>
        <p:nvSpPr>
          <p:cNvPr id="9" name="文本框 8"/>
          <p:cNvSpPr txBox="1"/>
          <p:nvPr/>
        </p:nvSpPr>
        <p:spPr>
          <a:xfrm>
            <a:off x="2787650" y="2527300"/>
            <a:ext cx="4064000" cy="368300"/>
          </a:xfrm>
          <a:prstGeom prst="rect">
            <a:avLst/>
          </a:prstGeom>
          <a:noFill/>
        </p:spPr>
        <p:txBody>
          <a:bodyPr wrap="square" rtlCol="0">
            <a:spAutoFit/>
          </a:bodyPr>
          <a:p>
            <a:r>
              <a:rPr lang="zh-CN" altLang="en-US"/>
              <a:t>公式：</a:t>
            </a:r>
            <a:endParaRPr lang="zh-CN" altLang="en-US"/>
          </a:p>
        </p:txBody>
      </p:sp>
      <p:pic>
        <p:nvPicPr>
          <p:cNvPr id="6" name="图片 1"/>
          <p:cNvPicPr>
            <a:picLocks noChangeAspect="1"/>
          </p:cNvPicPr>
          <p:nvPr>
            <p:custDataLst>
              <p:tags r:id="rId4"/>
            </p:custDataLst>
          </p:nvPr>
        </p:nvPicPr>
        <p:blipFill>
          <a:blip r:embed="rId5"/>
          <a:stretch>
            <a:fillRect/>
          </a:stretch>
        </p:blipFill>
        <p:spPr>
          <a:xfrm>
            <a:off x="4141470" y="2330450"/>
            <a:ext cx="4468495" cy="692150"/>
          </a:xfrm>
          <a:prstGeom prst="rect">
            <a:avLst/>
          </a:prstGeom>
          <a:noFill/>
          <a:ln>
            <a:noFill/>
          </a:ln>
        </p:spPr>
      </p:pic>
      <p:pic>
        <p:nvPicPr>
          <p:cNvPr id="7" name="图片 2"/>
          <p:cNvPicPr>
            <a:picLocks noChangeAspect="1"/>
          </p:cNvPicPr>
          <p:nvPr>
            <p:custDataLst>
              <p:tags r:id="rId6"/>
            </p:custDataLst>
          </p:nvPr>
        </p:nvPicPr>
        <p:blipFill>
          <a:blip r:embed="rId7"/>
          <a:stretch>
            <a:fillRect/>
          </a:stretch>
        </p:blipFill>
        <p:spPr>
          <a:xfrm>
            <a:off x="4142105" y="3315335"/>
            <a:ext cx="4467860" cy="872490"/>
          </a:xfrm>
          <a:prstGeom prst="rect">
            <a:avLst/>
          </a:prstGeom>
          <a:noFill/>
          <a:ln>
            <a:noFill/>
          </a:ln>
        </p:spPr>
      </p:pic>
      <p:sp>
        <p:nvSpPr>
          <p:cNvPr id="13" name="文本框 12"/>
          <p:cNvSpPr txBox="1"/>
          <p:nvPr>
            <p:custDataLst>
              <p:tags r:id="rId8"/>
            </p:custDataLst>
          </p:nvPr>
        </p:nvSpPr>
        <p:spPr>
          <a:xfrm>
            <a:off x="2571750" y="3543300"/>
            <a:ext cx="4064000" cy="368300"/>
          </a:xfrm>
          <a:prstGeom prst="rect">
            <a:avLst/>
          </a:prstGeom>
          <a:noFill/>
        </p:spPr>
        <p:txBody>
          <a:bodyPr wrap="square" rtlCol="0">
            <a:spAutoFit/>
          </a:bodyPr>
          <a:p>
            <a:r>
              <a:rPr lang="zh-CN" altLang="en-US"/>
              <a:t>引入</a:t>
            </a:r>
            <a:r>
              <a:rPr lang="zh-CN" altLang="en-US"/>
              <a:t>实例：</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498185" y="362554"/>
            <a:ext cx="3490040" cy="829998"/>
            <a:chOff x="4498185" y="279786"/>
            <a:chExt cx="3490040" cy="829998"/>
          </a:xfrm>
        </p:grpSpPr>
        <p:sp>
          <p:nvSpPr>
            <p:cNvPr id="4" name="文本框 3"/>
            <p:cNvSpPr txBox="1"/>
            <p:nvPr>
              <p:custDataLst>
                <p:tags r:id="rId1"/>
              </p:custDataLst>
            </p:nvPr>
          </p:nvSpPr>
          <p:spPr>
            <a:xfrm>
              <a:off x="4498185" y="279786"/>
              <a:ext cx="3195630" cy="706755"/>
            </a:xfrm>
            <a:prstGeom prst="rect">
              <a:avLst/>
            </a:prstGeom>
          </p:spPr>
          <p:txBody>
            <a:bodyPr wrap="square">
              <a:spAutoFit/>
            </a:bodyPr>
            <a:lstStyle>
              <a:defPPr>
                <a:defRPr lang="zh-CN"/>
              </a:defPPr>
              <a:lvl1pPr>
                <a:defRPr sz="3000">
                  <a:solidFill>
                    <a:srgbClr val="618FA7"/>
                  </a:solidFill>
                  <a:latin typeface="汉仪中宋简" panose="02010609000101010101" pitchFamily="49" charset="-122"/>
                  <a:ea typeface="汉仪中宋简" panose="02010609000101010101" pitchFamily="49" charset="-122"/>
                </a:defRPr>
              </a:lvl1pPr>
            </a:lstStyle>
            <a:p>
              <a:pPr algn="ctr"/>
              <a:r>
                <a:rPr lang="zh-CN" altLang="en-US" sz="4000" dirty="0">
                  <a:solidFill>
                    <a:srgbClr val="6FB4BD"/>
                  </a:solidFill>
                  <a:latin typeface="华文新魏" panose="02010800040101010101" charset="-122"/>
                  <a:ea typeface="华文新魏" panose="02010800040101010101" charset="-122"/>
                  <a:sym typeface="+mn-ea"/>
                </a:rPr>
                <a:t>决策树</a:t>
              </a:r>
              <a:endParaRPr lang="zh-CN" altLang="en-US" sz="4000" dirty="0">
                <a:solidFill>
                  <a:srgbClr val="61ADB7"/>
                </a:solidFill>
              </a:endParaRPr>
            </a:p>
          </p:txBody>
        </p:sp>
        <p:sp>
          <p:nvSpPr>
            <p:cNvPr id="5" name="文本框 4"/>
            <p:cNvSpPr txBox="1"/>
            <p:nvPr>
              <p:custDataLst>
                <p:tags r:id="rId2"/>
              </p:custDataLst>
            </p:nvPr>
          </p:nvSpPr>
          <p:spPr>
            <a:xfrm>
              <a:off x="5238825" y="711004"/>
              <a:ext cx="2749400" cy="398780"/>
            </a:xfrm>
            <a:prstGeom prst="rect">
              <a:avLst/>
            </a:prstGeom>
          </p:spPr>
          <p:txBody>
            <a:bodyPr wrap="square">
              <a:spAutoFit/>
            </a:bodyPr>
            <a:lstStyle>
              <a:defPPr>
                <a:defRPr lang="zh-CN"/>
              </a:defPPr>
              <a:lvl1pPr algn="dist">
                <a:defRPr sz="1400">
                  <a:solidFill>
                    <a:srgbClr val="618FA7"/>
                  </a:solidFill>
                </a:defRPr>
              </a:lvl1pPr>
            </a:lstStyle>
            <a:p>
              <a:pPr algn="l"/>
              <a:r>
                <a:rPr lang="en-US" altLang="zh-CN" sz="2000" dirty="0">
                  <a:solidFill>
                    <a:srgbClr val="6FB4BD"/>
                  </a:solidFill>
                  <a:sym typeface="+mn-ea"/>
                </a:rPr>
                <a:t> </a:t>
              </a:r>
              <a:r>
                <a:rPr lang="zh-CN" altLang="en-US" sz="2000" dirty="0">
                  <a:solidFill>
                    <a:srgbClr val="6FB4BD"/>
                  </a:solidFill>
                  <a:sym typeface="+mn-ea"/>
                </a:rPr>
                <a:t>decision tree</a:t>
              </a:r>
              <a:endParaRPr lang="zh-CN" altLang="en-US" sz="2000" dirty="0">
                <a:solidFill>
                  <a:srgbClr val="61ADB7"/>
                </a:solidFill>
              </a:endParaRPr>
            </a:p>
          </p:txBody>
        </p:sp>
      </p:grpSp>
      <p:cxnSp>
        <p:nvCxnSpPr>
          <p:cNvPr id="41" name="直接连接符 40"/>
          <p:cNvCxnSpPr/>
          <p:nvPr>
            <p:custDataLst>
              <p:tags r:id="rId3"/>
            </p:custDataLst>
          </p:nvPr>
        </p:nvCxnSpPr>
        <p:spPr>
          <a:xfrm>
            <a:off x="5132853" y="1192259"/>
            <a:ext cx="1925640" cy="0"/>
          </a:xfrm>
          <a:prstGeom prst="line">
            <a:avLst/>
          </a:prstGeom>
          <a:ln w="19050">
            <a:solidFill>
              <a:srgbClr val="6FB4BD"/>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custDataLst>
              <p:tags r:id="rId4"/>
            </p:custDataLst>
          </p:nvPr>
        </p:nvPicPr>
        <p:blipFill>
          <a:blip r:embed="rId5"/>
          <a:stretch>
            <a:fillRect/>
          </a:stretch>
        </p:blipFill>
        <p:spPr>
          <a:xfrm>
            <a:off x="1368425" y="3699510"/>
            <a:ext cx="3587750" cy="730250"/>
          </a:xfrm>
          <a:prstGeom prst="rect">
            <a:avLst/>
          </a:prstGeom>
        </p:spPr>
      </p:pic>
      <p:pic>
        <p:nvPicPr>
          <p:cNvPr id="6" name="图片 5"/>
          <p:cNvPicPr>
            <a:picLocks noChangeAspect="1"/>
          </p:cNvPicPr>
          <p:nvPr>
            <p:custDataLst>
              <p:tags r:id="rId6"/>
            </p:custDataLst>
          </p:nvPr>
        </p:nvPicPr>
        <p:blipFill>
          <a:blip r:embed="rId7"/>
          <a:stretch>
            <a:fillRect/>
          </a:stretch>
        </p:blipFill>
        <p:spPr>
          <a:xfrm>
            <a:off x="5718810" y="2344420"/>
            <a:ext cx="6040755" cy="2249170"/>
          </a:xfrm>
          <a:prstGeom prst="rect">
            <a:avLst/>
          </a:prstGeom>
        </p:spPr>
      </p:pic>
      <p:sp>
        <p:nvSpPr>
          <p:cNvPr id="8" name="文本框 7"/>
          <p:cNvSpPr txBox="1"/>
          <p:nvPr/>
        </p:nvSpPr>
        <p:spPr>
          <a:xfrm>
            <a:off x="892175" y="2946400"/>
            <a:ext cx="4064000" cy="368300"/>
          </a:xfrm>
          <a:prstGeom prst="rect">
            <a:avLst/>
          </a:prstGeom>
          <a:noFill/>
        </p:spPr>
        <p:txBody>
          <a:bodyPr wrap="square" rtlCol="0">
            <a:spAutoFit/>
          </a:bodyPr>
          <a:p>
            <a:r>
              <a:rPr lang="zh-CN" altLang="en-US"/>
              <a:t>没有操作时的熵值：</a:t>
            </a:r>
            <a:endParaRPr lang="zh-CN" altLang="en-US"/>
          </a:p>
        </p:txBody>
      </p:sp>
      <p:sp>
        <p:nvSpPr>
          <p:cNvPr id="9" name="文本框 8"/>
          <p:cNvSpPr txBox="1"/>
          <p:nvPr/>
        </p:nvSpPr>
        <p:spPr>
          <a:xfrm>
            <a:off x="5718810" y="1871980"/>
            <a:ext cx="4064000" cy="368300"/>
          </a:xfrm>
          <a:prstGeom prst="rect">
            <a:avLst/>
          </a:prstGeom>
          <a:noFill/>
        </p:spPr>
        <p:txBody>
          <a:bodyPr wrap="square" rtlCol="0">
            <a:spAutoFit/>
          </a:bodyPr>
          <a:p>
            <a:r>
              <a:rPr lang="zh-CN" altLang="en-US"/>
              <a:t>熵值计算：</a:t>
            </a:r>
            <a:endParaRPr lang="zh-CN" altLang="en-US"/>
          </a:p>
        </p:txBody>
      </p:sp>
      <p:pic>
        <p:nvPicPr>
          <p:cNvPr id="10" name="图片 2"/>
          <p:cNvPicPr>
            <a:picLocks noChangeAspect="1"/>
          </p:cNvPicPr>
          <p:nvPr>
            <p:custDataLst>
              <p:tags r:id="rId8"/>
            </p:custDataLst>
          </p:nvPr>
        </p:nvPicPr>
        <p:blipFill>
          <a:blip r:embed="rId9"/>
          <a:stretch>
            <a:fillRect/>
          </a:stretch>
        </p:blipFill>
        <p:spPr>
          <a:xfrm>
            <a:off x="7154545" y="548640"/>
            <a:ext cx="4224655" cy="824865"/>
          </a:xfrm>
          <a:prstGeom prst="rect">
            <a:avLst/>
          </a:prstGeom>
          <a:noFill/>
          <a:ln>
            <a:noFill/>
          </a:ln>
        </p:spPr>
      </p:pic>
      <p:pic>
        <p:nvPicPr>
          <p:cNvPr id="11" name="图片 10"/>
          <p:cNvPicPr>
            <a:picLocks noChangeAspect="1"/>
          </p:cNvPicPr>
          <p:nvPr>
            <p:custDataLst>
              <p:tags r:id="rId10"/>
            </p:custDataLst>
          </p:nvPr>
        </p:nvPicPr>
        <p:blipFill>
          <a:blip r:embed="rId11"/>
          <a:stretch>
            <a:fillRect/>
          </a:stretch>
        </p:blipFill>
        <p:spPr>
          <a:xfrm>
            <a:off x="892175" y="2240280"/>
            <a:ext cx="4495800" cy="2959100"/>
          </a:xfrm>
          <a:prstGeom prst="rect">
            <a:avLst/>
          </a:prstGeom>
        </p:spPr>
      </p:pic>
      <p:pic>
        <p:nvPicPr>
          <p:cNvPr id="12" name="图片 11"/>
          <p:cNvPicPr>
            <a:picLocks noChangeAspect="1"/>
          </p:cNvPicPr>
          <p:nvPr>
            <p:custDataLst>
              <p:tags r:id="rId12"/>
            </p:custDataLst>
          </p:nvPr>
        </p:nvPicPr>
        <p:blipFill>
          <a:blip r:embed="rId13"/>
          <a:srcRect t="19251"/>
          <a:stretch>
            <a:fillRect/>
          </a:stretch>
        </p:blipFill>
        <p:spPr>
          <a:xfrm>
            <a:off x="5718810" y="4593590"/>
            <a:ext cx="6040755" cy="10439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498185" y="362554"/>
            <a:ext cx="3490040" cy="829998"/>
            <a:chOff x="4498185" y="279786"/>
            <a:chExt cx="3490040" cy="829998"/>
          </a:xfrm>
        </p:grpSpPr>
        <p:sp>
          <p:nvSpPr>
            <p:cNvPr id="4" name="文本框 3"/>
            <p:cNvSpPr txBox="1"/>
            <p:nvPr>
              <p:custDataLst>
                <p:tags r:id="rId1"/>
              </p:custDataLst>
            </p:nvPr>
          </p:nvSpPr>
          <p:spPr>
            <a:xfrm>
              <a:off x="4498185" y="279786"/>
              <a:ext cx="3195630" cy="706755"/>
            </a:xfrm>
            <a:prstGeom prst="rect">
              <a:avLst/>
            </a:prstGeom>
          </p:spPr>
          <p:txBody>
            <a:bodyPr wrap="square">
              <a:spAutoFit/>
            </a:bodyPr>
            <a:lstStyle>
              <a:defPPr>
                <a:defRPr lang="zh-CN"/>
              </a:defPPr>
              <a:lvl1pPr>
                <a:defRPr sz="3000">
                  <a:solidFill>
                    <a:srgbClr val="618FA7"/>
                  </a:solidFill>
                  <a:latin typeface="汉仪中宋简" panose="02010609000101010101" pitchFamily="49" charset="-122"/>
                  <a:ea typeface="汉仪中宋简" panose="02010609000101010101" pitchFamily="49" charset="-122"/>
                </a:defRPr>
              </a:lvl1pPr>
            </a:lstStyle>
            <a:p>
              <a:pPr algn="ctr"/>
              <a:r>
                <a:rPr lang="zh-CN" altLang="en-US" sz="4000" dirty="0">
                  <a:solidFill>
                    <a:srgbClr val="6FB4BD"/>
                  </a:solidFill>
                  <a:latin typeface="华文新魏" panose="02010800040101010101" charset="-122"/>
                  <a:ea typeface="华文新魏" panose="02010800040101010101" charset="-122"/>
                  <a:sym typeface="+mn-ea"/>
                </a:rPr>
                <a:t>决策树</a:t>
              </a:r>
              <a:endParaRPr lang="zh-CN" altLang="en-US" sz="4000" dirty="0">
                <a:solidFill>
                  <a:srgbClr val="61ADB7"/>
                </a:solidFill>
              </a:endParaRPr>
            </a:p>
          </p:txBody>
        </p:sp>
        <p:sp>
          <p:nvSpPr>
            <p:cNvPr id="5" name="文本框 4"/>
            <p:cNvSpPr txBox="1"/>
            <p:nvPr>
              <p:custDataLst>
                <p:tags r:id="rId2"/>
              </p:custDataLst>
            </p:nvPr>
          </p:nvSpPr>
          <p:spPr>
            <a:xfrm>
              <a:off x="5238825" y="711004"/>
              <a:ext cx="2749400" cy="398780"/>
            </a:xfrm>
            <a:prstGeom prst="rect">
              <a:avLst/>
            </a:prstGeom>
          </p:spPr>
          <p:txBody>
            <a:bodyPr wrap="square">
              <a:spAutoFit/>
            </a:bodyPr>
            <a:lstStyle>
              <a:defPPr>
                <a:defRPr lang="zh-CN"/>
              </a:defPPr>
              <a:lvl1pPr algn="dist">
                <a:defRPr sz="1400">
                  <a:solidFill>
                    <a:srgbClr val="618FA7"/>
                  </a:solidFill>
                </a:defRPr>
              </a:lvl1pPr>
            </a:lstStyle>
            <a:p>
              <a:pPr algn="l"/>
              <a:r>
                <a:rPr lang="en-US" altLang="zh-CN" sz="2000" dirty="0">
                  <a:solidFill>
                    <a:srgbClr val="6FB4BD"/>
                  </a:solidFill>
                  <a:sym typeface="+mn-ea"/>
                </a:rPr>
                <a:t> </a:t>
              </a:r>
              <a:r>
                <a:rPr lang="zh-CN" altLang="en-US" sz="2000" dirty="0">
                  <a:solidFill>
                    <a:srgbClr val="6FB4BD"/>
                  </a:solidFill>
                  <a:sym typeface="+mn-ea"/>
                </a:rPr>
                <a:t>decision tree</a:t>
              </a:r>
              <a:endParaRPr lang="zh-CN" altLang="en-US" sz="2000" dirty="0">
                <a:solidFill>
                  <a:srgbClr val="61ADB7"/>
                </a:solidFill>
              </a:endParaRPr>
            </a:p>
          </p:txBody>
        </p:sp>
      </p:grpSp>
      <p:cxnSp>
        <p:nvCxnSpPr>
          <p:cNvPr id="41" name="直接连接符 40"/>
          <p:cNvCxnSpPr/>
          <p:nvPr>
            <p:custDataLst>
              <p:tags r:id="rId3"/>
            </p:custDataLst>
          </p:nvPr>
        </p:nvCxnSpPr>
        <p:spPr>
          <a:xfrm>
            <a:off x="5132853" y="1192259"/>
            <a:ext cx="1925640" cy="0"/>
          </a:xfrm>
          <a:prstGeom prst="line">
            <a:avLst/>
          </a:prstGeom>
          <a:ln w="19050">
            <a:solidFill>
              <a:srgbClr val="6FB4BD"/>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custDataLst>
              <p:tags r:id="rId4"/>
            </p:custDataLst>
          </p:nvPr>
        </p:nvPicPr>
        <p:blipFill>
          <a:blip r:embed="rId5"/>
          <a:srcRect l="7700" t="52847" r="7012" b="14592"/>
          <a:stretch>
            <a:fillRect/>
          </a:stretch>
        </p:blipFill>
        <p:spPr>
          <a:xfrm>
            <a:off x="1069975" y="2242820"/>
            <a:ext cx="4923790" cy="382905"/>
          </a:xfrm>
          <a:prstGeom prst="rect">
            <a:avLst/>
          </a:prstGeom>
        </p:spPr>
      </p:pic>
      <p:pic>
        <p:nvPicPr>
          <p:cNvPr id="7" name="图片 6"/>
          <p:cNvPicPr>
            <a:picLocks noChangeAspect="1"/>
          </p:cNvPicPr>
          <p:nvPr>
            <p:custDataLst>
              <p:tags r:id="rId6"/>
            </p:custDataLst>
          </p:nvPr>
        </p:nvPicPr>
        <p:blipFill>
          <a:blip r:embed="rId7"/>
          <a:stretch>
            <a:fillRect/>
          </a:stretch>
        </p:blipFill>
        <p:spPr>
          <a:xfrm>
            <a:off x="6208395" y="2421890"/>
            <a:ext cx="5761355" cy="3549650"/>
          </a:xfrm>
          <a:prstGeom prst="rect">
            <a:avLst/>
          </a:prstGeom>
        </p:spPr>
      </p:pic>
      <p:sp>
        <p:nvSpPr>
          <p:cNvPr id="8" name="文本框 7"/>
          <p:cNvSpPr txBox="1"/>
          <p:nvPr/>
        </p:nvSpPr>
        <p:spPr>
          <a:xfrm>
            <a:off x="1069975" y="1672590"/>
            <a:ext cx="4064000" cy="368300"/>
          </a:xfrm>
          <a:prstGeom prst="rect">
            <a:avLst/>
          </a:prstGeom>
          <a:noFill/>
        </p:spPr>
        <p:txBody>
          <a:bodyPr wrap="square" rtlCol="0">
            <a:spAutoFit/>
          </a:bodyPr>
          <a:p>
            <a:r>
              <a:rPr lang="zh-CN" altLang="en-US"/>
              <a:t>没有操作时的熵值：</a:t>
            </a:r>
            <a:endParaRPr lang="zh-CN" altLang="en-US"/>
          </a:p>
        </p:txBody>
      </p:sp>
      <p:sp>
        <p:nvSpPr>
          <p:cNvPr id="9" name="文本框 8"/>
          <p:cNvSpPr txBox="1"/>
          <p:nvPr/>
        </p:nvSpPr>
        <p:spPr>
          <a:xfrm>
            <a:off x="970280" y="2827655"/>
            <a:ext cx="4064000" cy="368300"/>
          </a:xfrm>
          <a:prstGeom prst="rect">
            <a:avLst/>
          </a:prstGeom>
          <a:noFill/>
        </p:spPr>
        <p:txBody>
          <a:bodyPr wrap="square" rtlCol="0">
            <a:spAutoFit/>
          </a:bodyPr>
          <a:p>
            <a:r>
              <a:rPr lang="zh-CN" altLang="en-US"/>
              <a:t>熵值计算：</a:t>
            </a:r>
            <a:endParaRPr lang="zh-CN" altLang="en-US"/>
          </a:p>
        </p:txBody>
      </p:sp>
      <p:pic>
        <p:nvPicPr>
          <p:cNvPr id="10" name="图片 9"/>
          <p:cNvPicPr>
            <a:picLocks noChangeAspect="1"/>
          </p:cNvPicPr>
          <p:nvPr>
            <p:custDataLst>
              <p:tags r:id="rId8"/>
            </p:custDataLst>
          </p:nvPr>
        </p:nvPicPr>
        <p:blipFill>
          <a:blip r:embed="rId9"/>
          <a:stretch>
            <a:fillRect/>
          </a:stretch>
        </p:blipFill>
        <p:spPr>
          <a:xfrm>
            <a:off x="1134110" y="3332480"/>
            <a:ext cx="4859655" cy="2890520"/>
          </a:xfrm>
          <a:prstGeom prst="rect">
            <a:avLst/>
          </a:prstGeom>
        </p:spPr>
      </p:pic>
      <p:pic>
        <p:nvPicPr>
          <p:cNvPr id="11" name="图片 10"/>
          <p:cNvPicPr>
            <a:picLocks noChangeAspect="1"/>
          </p:cNvPicPr>
          <p:nvPr/>
        </p:nvPicPr>
        <p:blipFill>
          <a:blip r:embed="rId10"/>
          <a:stretch>
            <a:fillRect/>
          </a:stretch>
        </p:blipFill>
        <p:spPr>
          <a:xfrm>
            <a:off x="1134110" y="2152015"/>
            <a:ext cx="4860925" cy="3199765"/>
          </a:xfrm>
          <a:prstGeom prst="rect">
            <a:avLst/>
          </a:prstGeom>
        </p:spPr>
      </p:pic>
      <p:pic>
        <p:nvPicPr>
          <p:cNvPr id="13" name="图片 2"/>
          <p:cNvPicPr>
            <a:picLocks noChangeAspect="1"/>
          </p:cNvPicPr>
          <p:nvPr>
            <p:custDataLst>
              <p:tags r:id="rId11"/>
            </p:custDataLst>
          </p:nvPr>
        </p:nvPicPr>
        <p:blipFill>
          <a:blip r:embed="rId12"/>
          <a:stretch>
            <a:fillRect/>
          </a:stretch>
        </p:blipFill>
        <p:spPr>
          <a:xfrm>
            <a:off x="4177030" y="1315720"/>
            <a:ext cx="7667625" cy="589915"/>
          </a:xfrm>
          <a:prstGeom prst="rect">
            <a:avLst/>
          </a:prstGeom>
          <a:noFill/>
          <a:ln>
            <a:noFill/>
          </a:ln>
        </p:spPr>
      </p:pic>
      <p:pic>
        <p:nvPicPr>
          <p:cNvPr id="14" name="图片 2"/>
          <p:cNvPicPr>
            <a:picLocks noChangeAspect="1"/>
          </p:cNvPicPr>
          <p:nvPr>
            <p:custDataLst>
              <p:tags r:id="rId13"/>
            </p:custDataLst>
          </p:nvPr>
        </p:nvPicPr>
        <p:blipFill>
          <a:blip r:embed="rId14"/>
          <a:stretch>
            <a:fillRect/>
          </a:stretch>
        </p:blipFill>
        <p:spPr>
          <a:xfrm>
            <a:off x="7317105" y="501015"/>
            <a:ext cx="3543300" cy="69151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498185" y="362554"/>
            <a:ext cx="3490040" cy="829998"/>
            <a:chOff x="4498185" y="279786"/>
            <a:chExt cx="3490040" cy="829998"/>
          </a:xfrm>
        </p:grpSpPr>
        <p:sp>
          <p:nvSpPr>
            <p:cNvPr id="4" name="文本框 3"/>
            <p:cNvSpPr txBox="1"/>
            <p:nvPr>
              <p:custDataLst>
                <p:tags r:id="rId1"/>
              </p:custDataLst>
            </p:nvPr>
          </p:nvSpPr>
          <p:spPr>
            <a:xfrm>
              <a:off x="4498185" y="279786"/>
              <a:ext cx="3195630" cy="706755"/>
            </a:xfrm>
            <a:prstGeom prst="rect">
              <a:avLst/>
            </a:prstGeom>
          </p:spPr>
          <p:txBody>
            <a:bodyPr wrap="square">
              <a:spAutoFit/>
            </a:bodyPr>
            <a:lstStyle>
              <a:defPPr>
                <a:defRPr lang="zh-CN"/>
              </a:defPPr>
              <a:lvl1pPr>
                <a:defRPr sz="3000">
                  <a:solidFill>
                    <a:srgbClr val="618FA7"/>
                  </a:solidFill>
                  <a:latin typeface="汉仪中宋简" panose="02010609000101010101" pitchFamily="49" charset="-122"/>
                  <a:ea typeface="汉仪中宋简" panose="02010609000101010101" pitchFamily="49" charset="-122"/>
                </a:defRPr>
              </a:lvl1pPr>
            </a:lstStyle>
            <a:p>
              <a:pPr algn="ctr"/>
              <a:r>
                <a:rPr lang="zh-CN" altLang="en-US" sz="4000" dirty="0">
                  <a:solidFill>
                    <a:srgbClr val="6FB4BD"/>
                  </a:solidFill>
                  <a:latin typeface="华文新魏" panose="02010800040101010101" charset="-122"/>
                  <a:ea typeface="华文新魏" panose="02010800040101010101" charset="-122"/>
                  <a:sym typeface="+mn-ea"/>
                </a:rPr>
                <a:t>决策树</a:t>
              </a:r>
              <a:endParaRPr lang="zh-CN" altLang="en-US" sz="4000" dirty="0">
                <a:solidFill>
                  <a:srgbClr val="61ADB7"/>
                </a:solidFill>
              </a:endParaRPr>
            </a:p>
          </p:txBody>
        </p:sp>
        <p:sp>
          <p:nvSpPr>
            <p:cNvPr id="5" name="文本框 4"/>
            <p:cNvSpPr txBox="1"/>
            <p:nvPr>
              <p:custDataLst>
                <p:tags r:id="rId2"/>
              </p:custDataLst>
            </p:nvPr>
          </p:nvSpPr>
          <p:spPr>
            <a:xfrm>
              <a:off x="5238825" y="711004"/>
              <a:ext cx="2749400" cy="398780"/>
            </a:xfrm>
            <a:prstGeom prst="rect">
              <a:avLst/>
            </a:prstGeom>
          </p:spPr>
          <p:txBody>
            <a:bodyPr wrap="square">
              <a:spAutoFit/>
            </a:bodyPr>
            <a:lstStyle>
              <a:defPPr>
                <a:defRPr lang="zh-CN"/>
              </a:defPPr>
              <a:lvl1pPr algn="dist">
                <a:defRPr sz="1400">
                  <a:solidFill>
                    <a:srgbClr val="618FA7"/>
                  </a:solidFill>
                </a:defRPr>
              </a:lvl1pPr>
            </a:lstStyle>
            <a:p>
              <a:pPr algn="l"/>
              <a:r>
                <a:rPr lang="en-US" altLang="zh-CN" sz="2000" dirty="0">
                  <a:solidFill>
                    <a:srgbClr val="6FB4BD"/>
                  </a:solidFill>
                  <a:sym typeface="+mn-ea"/>
                </a:rPr>
                <a:t> </a:t>
              </a:r>
              <a:r>
                <a:rPr lang="zh-CN" altLang="en-US" sz="2000" dirty="0">
                  <a:solidFill>
                    <a:srgbClr val="6FB4BD"/>
                  </a:solidFill>
                  <a:sym typeface="+mn-ea"/>
                </a:rPr>
                <a:t>decision tree</a:t>
              </a:r>
              <a:endParaRPr lang="zh-CN" altLang="en-US" sz="2000" dirty="0">
                <a:solidFill>
                  <a:srgbClr val="61ADB7"/>
                </a:solidFill>
              </a:endParaRPr>
            </a:p>
          </p:txBody>
        </p:sp>
      </p:grpSp>
      <p:cxnSp>
        <p:nvCxnSpPr>
          <p:cNvPr id="41" name="直接连接符 40"/>
          <p:cNvCxnSpPr/>
          <p:nvPr>
            <p:custDataLst>
              <p:tags r:id="rId3"/>
            </p:custDataLst>
          </p:nvPr>
        </p:nvCxnSpPr>
        <p:spPr>
          <a:xfrm>
            <a:off x="5132853" y="1192259"/>
            <a:ext cx="1925640" cy="0"/>
          </a:xfrm>
          <a:prstGeom prst="line">
            <a:avLst/>
          </a:prstGeom>
          <a:ln w="19050">
            <a:solidFill>
              <a:srgbClr val="6FB4BD"/>
            </a:solidFill>
          </a:ln>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p:custDataLst>
              <p:tags r:id="rId4"/>
            </p:custDataLst>
          </p:nvPr>
        </p:nvPicPr>
        <p:blipFill>
          <a:blip r:embed="rId5"/>
          <a:stretch>
            <a:fillRect/>
          </a:stretch>
        </p:blipFill>
        <p:spPr>
          <a:xfrm>
            <a:off x="6208395" y="2421890"/>
            <a:ext cx="5761355" cy="3549650"/>
          </a:xfrm>
          <a:prstGeom prst="rect">
            <a:avLst/>
          </a:prstGeom>
        </p:spPr>
      </p:pic>
      <p:pic>
        <p:nvPicPr>
          <p:cNvPr id="13" name="图片 2"/>
          <p:cNvPicPr>
            <a:picLocks noChangeAspect="1"/>
          </p:cNvPicPr>
          <p:nvPr>
            <p:custDataLst>
              <p:tags r:id="rId6"/>
            </p:custDataLst>
          </p:nvPr>
        </p:nvPicPr>
        <p:blipFill>
          <a:blip r:embed="rId7"/>
          <a:stretch>
            <a:fillRect/>
          </a:stretch>
        </p:blipFill>
        <p:spPr>
          <a:xfrm>
            <a:off x="4177030" y="1315720"/>
            <a:ext cx="7667625" cy="589915"/>
          </a:xfrm>
          <a:prstGeom prst="rect">
            <a:avLst/>
          </a:prstGeom>
          <a:noFill/>
          <a:ln>
            <a:noFill/>
          </a:ln>
        </p:spPr>
      </p:pic>
      <p:pic>
        <p:nvPicPr>
          <p:cNvPr id="14" name="图片 2"/>
          <p:cNvPicPr>
            <a:picLocks noChangeAspect="1"/>
          </p:cNvPicPr>
          <p:nvPr>
            <p:custDataLst>
              <p:tags r:id="rId8"/>
            </p:custDataLst>
          </p:nvPr>
        </p:nvPicPr>
        <p:blipFill>
          <a:blip r:embed="rId9"/>
          <a:stretch>
            <a:fillRect/>
          </a:stretch>
        </p:blipFill>
        <p:spPr>
          <a:xfrm>
            <a:off x="7317105" y="501015"/>
            <a:ext cx="3543300" cy="691515"/>
          </a:xfrm>
          <a:prstGeom prst="rect">
            <a:avLst/>
          </a:prstGeom>
          <a:noFill/>
          <a:ln>
            <a:noFill/>
          </a:ln>
        </p:spPr>
      </p:pic>
      <p:pic>
        <p:nvPicPr>
          <p:cNvPr id="6" name="ECB019B1-382A-4266-B25C-5B523AA43C14-1" descr="wpp"/>
          <p:cNvPicPr>
            <a:picLocks noChangeAspect="1"/>
          </p:cNvPicPr>
          <p:nvPr>
            <p:custDataLst>
              <p:tags r:id="rId10"/>
            </p:custDataLst>
          </p:nvPr>
        </p:nvPicPr>
        <p:blipFill>
          <a:blip r:embed="rId11"/>
          <a:srcRect r="19744" b="54741"/>
          <a:stretch>
            <a:fillRect/>
          </a:stretch>
        </p:blipFill>
        <p:spPr>
          <a:xfrm>
            <a:off x="1209040" y="2242820"/>
            <a:ext cx="3513455" cy="350901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498185" y="362554"/>
            <a:ext cx="3490040" cy="829998"/>
            <a:chOff x="4498185" y="279786"/>
            <a:chExt cx="3490040" cy="829998"/>
          </a:xfrm>
        </p:grpSpPr>
        <p:sp>
          <p:nvSpPr>
            <p:cNvPr id="4" name="文本框 3"/>
            <p:cNvSpPr txBox="1"/>
            <p:nvPr>
              <p:custDataLst>
                <p:tags r:id="rId1"/>
              </p:custDataLst>
            </p:nvPr>
          </p:nvSpPr>
          <p:spPr>
            <a:xfrm>
              <a:off x="4498185" y="279786"/>
              <a:ext cx="3195630" cy="706755"/>
            </a:xfrm>
            <a:prstGeom prst="rect">
              <a:avLst/>
            </a:prstGeom>
          </p:spPr>
          <p:txBody>
            <a:bodyPr wrap="square">
              <a:spAutoFit/>
            </a:bodyPr>
            <a:lstStyle>
              <a:defPPr>
                <a:defRPr lang="zh-CN"/>
              </a:defPPr>
              <a:lvl1pPr>
                <a:defRPr sz="3000">
                  <a:solidFill>
                    <a:srgbClr val="618FA7"/>
                  </a:solidFill>
                  <a:latin typeface="汉仪中宋简" panose="02010609000101010101" pitchFamily="49" charset="-122"/>
                  <a:ea typeface="汉仪中宋简" panose="02010609000101010101" pitchFamily="49" charset="-122"/>
                </a:defRPr>
              </a:lvl1pPr>
            </a:lstStyle>
            <a:p>
              <a:pPr algn="ctr"/>
              <a:r>
                <a:rPr lang="zh-CN" altLang="en-US" sz="4000" dirty="0">
                  <a:solidFill>
                    <a:srgbClr val="6FB4BD"/>
                  </a:solidFill>
                  <a:latin typeface="华文新魏" panose="02010800040101010101" charset="-122"/>
                  <a:ea typeface="华文新魏" panose="02010800040101010101" charset="-122"/>
                  <a:sym typeface="+mn-ea"/>
                </a:rPr>
                <a:t>决策树</a:t>
              </a:r>
              <a:endParaRPr lang="zh-CN" altLang="en-US" sz="4000" dirty="0">
                <a:solidFill>
                  <a:srgbClr val="61ADB7"/>
                </a:solidFill>
              </a:endParaRPr>
            </a:p>
          </p:txBody>
        </p:sp>
        <p:sp>
          <p:nvSpPr>
            <p:cNvPr id="5" name="文本框 4"/>
            <p:cNvSpPr txBox="1"/>
            <p:nvPr>
              <p:custDataLst>
                <p:tags r:id="rId2"/>
              </p:custDataLst>
            </p:nvPr>
          </p:nvSpPr>
          <p:spPr>
            <a:xfrm>
              <a:off x="5238825" y="711004"/>
              <a:ext cx="2749400" cy="398780"/>
            </a:xfrm>
            <a:prstGeom prst="rect">
              <a:avLst/>
            </a:prstGeom>
          </p:spPr>
          <p:txBody>
            <a:bodyPr wrap="square">
              <a:spAutoFit/>
            </a:bodyPr>
            <a:lstStyle>
              <a:defPPr>
                <a:defRPr lang="zh-CN"/>
              </a:defPPr>
              <a:lvl1pPr algn="dist">
                <a:defRPr sz="1400">
                  <a:solidFill>
                    <a:srgbClr val="618FA7"/>
                  </a:solidFill>
                </a:defRPr>
              </a:lvl1pPr>
            </a:lstStyle>
            <a:p>
              <a:pPr algn="l"/>
              <a:r>
                <a:rPr lang="en-US" altLang="zh-CN" sz="2000" dirty="0">
                  <a:solidFill>
                    <a:srgbClr val="6FB4BD"/>
                  </a:solidFill>
                  <a:sym typeface="+mn-ea"/>
                </a:rPr>
                <a:t> </a:t>
              </a:r>
              <a:r>
                <a:rPr lang="zh-CN" altLang="en-US" sz="2000" dirty="0">
                  <a:solidFill>
                    <a:srgbClr val="6FB4BD"/>
                  </a:solidFill>
                  <a:sym typeface="+mn-ea"/>
                </a:rPr>
                <a:t>decision tree</a:t>
              </a:r>
              <a:endParaRPr lang="zh-CN" altLang="en-US" sz="2000" dirty="0">
                <a:solidFill>
                  <a:srgbClr val="61ADB7"/>
                </a:solidFill>
              </a:endParaRPr>
            </a:p>
          </p:txBody>
        </p:sp>
      </p:grpSp>
      <p:cxnSp>
        <p:nvCxnSpPr>
          <p:cNvPr id="41" name="直接连接符 40"/>
          <p:cNvCxnSpPr/>
          <p:nvPr>
            <p:custDataLst>
              <p:tags r:id="rId3"/>
            </p:custDataLst>
          </p:nvPr>
        </p:nvCxnSpPr>
        <p:spPr>
          <a:xfrm>
            <a:off x="5132853" y="1192259"/>
            <a:ext cx="1925640" cy="0"/>
          </a:xfrm>
          <a:prstGeom prst="line">
            <a:avLst/>
          </a:prstGeom>
          <a:ln w="19050">
            <a:solidFill>
              <a:srgbClr val="6FB4BD"/>
            </a:solidFill>
          </a:ln>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custDataLst>
              <p:tags r:id="rId4"/>
            </p:custDataLst>
          </p:nvPr>
        </p:nvPicPr>
        <p:blipFill>
          <a:blip r:embed="rId5"/>
          <a:stretch>
            <a:fillRect/>
          </a:stretch>
        </p:blipFill>
        <p:spPr>
          <a:xfrm>
            <a:off x="511175" y="2321560"/>
            <a:ext cx="7182485" cy="2501900"/>
          </a:xfrm>
          <a:prstGeom prst="rect">
            <a:avLst/>
          </a:prstGeom>
        </p:spPr>
      </p:pic>
      <p:pic>
        <p:nvPicPr>
          <p:cNvPr id="6" name="ECB019B1-382A-4266-B25C-5B523AA43C14-2" descr="wpp"/>
          <p:cNvPicPr>
            <a:picLocks noChangeAspect="1"/>
          </p:cNvPicPr>
          <p:nvPr>
            <p:custDataLst>
              <p:tags r:id="rId6"/>
            </p:custDataLst>
          </p:nvPr>
        </p:nvPicPr>
        <p:blipFill>
          <a:blip r:embed="rId7"/>
          <a:srcRect r="19744" b="54741"/>
          <a:stretch>
            <a:fillRect/>
          </a:stretch>
        </p:blipFill>
        <p:spPr>
          <a:xfrm>
            <a:off x="7988300" y="1583055"/>
            <a:ext cx="3513455" cy="350901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498185" y="362554"/>
            <a:ext cx="3490040" cy="829998"/>
            <a:chOff x="4498185" y="279786"/>
            <a:chExt cx="3490040" cy="829998"/>
          </a:xfrm>
        </p:grpSpPr>
        <p:sp>
          <p:nvSpPr>
            <p:cNvPr id="4" name="文本框 3"/>
            <p:cNvSpPr txBox="1"/>
            <p:nvPr>
              <p:custDataLst>
                <p:tags r:id="rId1"/>
              </p:custDataLst>
            </p:nvPr>
          </p:nvSpPr>
          <p:spPr>
            <a:xfrm>
              <a:off x="4498185" y="279786"/>
              <a:ext cx="3195630" cy="706755"/>
            </a:xfrm>
            <a:prstGeom prst="rect">
              <a:avLst/>
            </a:prstGeom>
          </p:spPr>
          <p:txBody>
            <a:bodyPr wrap="square">
              <a:spAutoFit/>
            </a:bodyPr>
            <a:lstStyle>
              <a:defPPr>
                <a:defRPr lang="zh-CN"/>
              </a:defPPr>
              <a:lvl1pPr>
                <a:defRPr sz="3000">
                  <a:solidFill>
                    <a:srgbClr val="618FA7"/>
                  </a:solidFill>
                  <a:latin typeface="汉仪中宋简" panose="02010609000101010101" pitchFamily="49" charset="-122"/>
                  <a:ea typeface="汉仪中宋简" panose="02010609000101010101" pitchFamily="49" charset="-122"/>
                </a:defRPr>
              </a:lvl1pPr>
            </a:lstStyle>
            <a:p>
              <a:pPr algn="ctr"/>
              <a:r>
                <a:rPr lang="zh-CN" altLang="en-US" sz="4000" dirty="0">
                  <a:solidFill>
                    <a:srgbClr val="6FB4BD"/>
                  </a:solidFill>
                  <a:latin typeface="华文新魏" panose="02010800040101010101" charset="-122"/>
                  <a:ea typeface="华文新魏" panose="02010800040101010101" charset="-122"/>
                  <a:sym typeface="+mn-ea"/>
                </a:rPr>
                <a:t>决策树</a:t>
              </a:r>
              <a:endParaRPr lang="zh-CN" altLang="en-US" sz="4000" dirty="0">
                <a:solidFill>
                  <a:srgbClr val="61ADB7"/>
                </a:solidFill>
              </a:endParaRPr>
            </a:p>
          </p:txBody>
        </p:sp>
        <p:sp>
          <p:nvSpPr>
            <p:cNvPr id="5" name="文本框 4"/>
            <p:cNvSpPr txBox="1"/>
            <p:nvPr>
              <p:custDataLst>
                <p:tags r:id="rId2"/>
              </p:custDataLst>
            </p:nvPr>
          </p:nvSpPr>
          <p:spPr>
            <a:xfrm>
              <a:off x="5238825" y="711004"/>
              <a:ext cx="2749400" cy="398780"/>
            </a:xfrm>
            <a:prstGeom prst="rect">
              <a:avLst/>
            </a:prstGeom>
          </p:spPr>
          <p:txBody>
            <a:bodyPr wrap="square">
              <a:spAutoFit/>
            </a:bodyPr>
            <a:lstStyle>
              <a:defPPr>
                <a:defRPr lang="zh-CN"/>
              </a:defPPr>
              <a:lvl1pPr algn="dist">
                <a:defRPr sz="1400">
                  <a:solidFill>
                    <a:srgbClr val="618FA7"/>
                  </a:solidFill>
                </a:defRPr>
              </a:lvl1pPr>
            </a:lstStyle>
            <a:p>
              <a:pPr algn="l"/>
              <a:r>
                <a:rPr lang="en-US" altLang="zh-CN" sz="2000" dirty="0">
                  <a:solidFill>
                    <a:srgbClr val="6FB4BD"/>
                  </a:solidFill>
                  <a:sym typeface="+mn-ea"/>
                </a:rPr>
                <a:t> </a:t>
              </a:r>
              <a:r>
                <a:rPr lang="zh-CN" altLang="en-US" sz="2000" dirty="0">
                  <a:solidFill>
                    <a:srgbClr val="6FB4BD"/>
                  </a:solidFill>
                  <a:sym typeface="+mn-ea"/>
                </a:rPr>
                <a:t>decision tree</a:t>
              </a:r>
              <a:endParaRPr lang="zh-CN" altLang="en-US" sz="2000" dirty="0">
                <a:solidFill>
                  <a:srgbClr val="61ADB7"/>
                </a:solidFill>
              </a:endParaRPr>
            </a:p>
          </p:txBody>
        </p:sp>
      </p:grpSp>
      <p:cxnSp>
        <p:nvCxnSpPr>
          <p:cNvPr id="41" name="直接连接符 40"/>
          <p:cNvCxnSpPr/>
          <p:nvPr>
            <p:custDataLst>
              <p:tags r:id="rId3"/>
            </p:custDataLst>
          </p:nvPr>
        </p:nvCxnSpPr>
        <p:spPr>
          <a:xfrm>
            <a:off x="5132853" y="1192259"/>
            <a:ext cx="1925640" cy="0"/>
          </a:xfrm>
          <a:prstGeom prst="line">
            <a:avLst/>
          </a:prstGeom>
          <a:ln w="19050">
            <a:solidFill>
              <a:srgbClr val="6FB4BD"/>
            </a:solidFill>
          </a:ln>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p:custDataLst>
              <p:tags r:id="rId4"/>
            </p:custDataLst>
          </p:nvPr>
        </p:nvPicPr>
        <p:blipFill>
          <a:blip r:embed="rId5"/>
          <a:stretch>
            <a:fillRect/>
          </a:stretch>
        </p:blipFill>
        <p:spPr>
          <a:xfrm>
            <a:off x="6208395" y="2421890"/>
            <a:ext cx="5761355" cy="3549650"/>
          </a:xfrm>
          <a:prstGeom prst="rect">
            <a:avLst/>
          </a:prstGeom>
        </p:spPr>
      </p:pic>
      <p:pic>
        <p:nvPicPr>
          <p:cNvPr id="13" name="图片 2"/>
          <p:cNvPicPr>
            <a:picLocks noChangeAspect="1"/>
          </p:cNvPicPr>
          <p:nvPr>
            <p:custDataLst>
              <p:tags r:id="rId6"/>
            </p:custDataLst>
          </p:nvPr>
        </p:nvPicPr>
        <p:blipFill>
          <a:blip r:embed="rId7"/>
          <a:stretch>
            <a:fillRect/>
          </a:stretch>
        </p:blipFill>
        <p:spPr>
          <a:xfrm>
            <a:off x="4177030" y="1315720"/>
            <a:ext cx="7667625" cy="589915"/>
          </a:xfrm>
          <a:prstGeom prst="rect">
            <a:avLst/>
          </a:prstGeom>
          <a:noFill/>
          <a:ln>
            <a:noFill/>
          </a:ln>
        </p:spPr>
      </p:pic>
      <p:pic>
        <p:nvPicPr>
          <p:cNvPr id="14" name="图片 2"/>
          <p:cNvPicPr>
            <a:picLocks noChangeAspect="1"/>
          </p:cNvPicPr>
          <p:nvPr>
            <p:custDataLst>
              <p:tags r:id="rId8"/>
            </p:custDataLst>
          </p:nvPr>
        </p:nvPicPr>
        <p:blipFill>
          <a:blip r:embed="rId9"/>
          <a:stretch>
            <a:fillRect/>
          </a:stretch>
        </p:blipFill>
        <p:spPr>
          <a:xfrm>
            <a:off x="7317105" y="501015"/>
            <a:ext cx="3543300" cy="691515"/>
          </a:xfrm>
          <a:prstGeom prst="rect">
            <a:avLst/>
          </a:prstGeom>
          <a:noFill/>
          <a:ln>
            <a:noFill/>
          </a:ln>
        </p:spPr>
      </p:pic>
      <p:pic>
        <p:nvPicPr>
          <p:cNvPr id="6" name="ECB019B1-382A-4266-B25C-5B523AA43C14-3" descr="wpp"/>
          <p:cNvPicPr>
            <a:picLocks noChangeAspect="1"/>
          </p:cNvPicPr>
          <p:nvPr>
            <p:custDataLst>
              <p:tags r:id="rId10"/>
            </p:custDataLst>
          </p:nvPr>
        </p:nvPicPr>
        <p:blipFill>
          <a:blip r:embed="rId11"/>
          <a:srcRect r="19744" b="54741"/>
          <a:stretch>
            <a:fillRect/>
          </a:stretch>
        </p:blipFill>
        <p:spPr>
          <a:xfrm>
            <a:off x="1209040" y="2242820"/>
            <a:ext cx="3513455" cy="350901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498185" y="362554"/>
            <a:ext cx="3490040" cy="829998"/>
            <a:chOff x="4498185" y="279786"/>
            <a:chExt cx="3490040" cy="829998"/>
          </a:xfrm>
        </p:grpSpPr>
        <p:sp>
          <p:nvSpPr>
            <p:cNvPr id="4" name="文本框 3"/>
            <p:cNvSpPr txBox="1"/>
            <p:nvPr>
              <p:custDataLst>
                <p:tags r:id="rId1"/>
              </p:custDataLst>
            </p:nvPr>
          </p:nvSpPr>
          <p:spPr>
            <a:xfrm>
              <a:off x="4498185" y="279786"/>
              <a:ext cx="3195630" cy="706755"/>
            </a:xfrm>
            <a:prstGeom prst="rect">
              <a:avLst/>
            </a:prstGeom>
          </p:spPr>
          <p:txBody>
            <a:bodyPr wrap="square">
              <a:spAutoFit/>
            </a:bodyPr>
            <a:lstStyle>
              <a:defPPr>
                <a:defRPr lang="zh-CN"/>
              </a:defPPr>
              <a:lvl1pPr>
                <a:defRPr sz="3000">
                  <a:solidFill>
                    <a:srgbClr val="618FA7"/>
                  </a:solidFill>
                  <a:latin typeface="汉仪中宋简" panose="02010609000101010101" pitchFamily="49" charset="-122"/>
                  <a:ea typeface="汉仪中宋简" panose="02010609000101010101" pitchFamily="49" charset="-122"/>
                </a:defRPr>
              </a:lvl1pPr>
            </a:lstStyle>
            <a:p>
              <a:pPr algn="ctr"/>
              <a:r>
                <a:rPr lang="zh-CN" altLang="en-US" sz="4000" dirty="0">
                  <a:solidFill>
                    <a:srgbClr val="6FB4BD"/>
                  </a:solidFill>
                  <a:latin typeface="华文新魏" panose="02010800040101010101" charset="-122"/>
                  <a:ea typeface="华文新魏" panose="02010800040101010101" charset="-122"/>
                  <a:sym typeface="+mn-ea"/>
                </a:rPr>
                <a:t>决策树</a:t>
              </a:r>
              <a:endParaRPr lang="zh-CN" altLang="en-US" sz="4000" dirty="0">
                <a:solidFill>
                  <a:srgbClr val="61ADB7"/>
                </a:solidFill>
              </a:endParaRPr>
            </a:p>
          </p:txBody>
        </p:sp>
        <p:sp>
          <p:nvSpPr>
            <p:cNvPr id="5" name="文本框 4"/>
            <p:cNvSpPr txBox="1"/>
            <p:nvPr>
              <p:custDataLst>
                <p:tags r:id="rId2"/>
              </p:custDataLst>
            </p:nvPr>
          </p:nvSpPr>
          <p:spPr>
            <a:xfrm>
              <a:off x="5238825" y="711004"/>
              <a:ext cx="2749400" cy="398780"/>
            </a:xfrm>
            <a:prstGeom prst="rect">
              <a:avLst/>
            </a:prstGeom>
          </p:spPr>
          <p:txBody>
            <a:bodyPr wrap="square">
              <a:spAutoFit/>
            </a:bodyPr>
            <a:lstStyle>
              <a:defPPr>
                <a:defRPr lang="zh-CN"/>
              </a:defPPr>
              <a:lvl1pPr algn="dist">
                <a:defRPr sz="1400">
                  <a:solidFill>
                    <a:srgbClr val="618FA7"/>
                  </a:solidFill>
                </a:defRPr>
              </a:lvl1pPr>
            </a:lstStyle>
            <a:p>
              <a:pPr algn="l"/>
              <a:r>
                <a:rPr lang="en-US" altLang="zh-CN" sz="2000" dirty="0">
                  <a:solidFill>
                    <a:srgbClr val="6FB4BD"/>
                  </a:solidFill>
                  <a:sym typeface="+mn-ea"/>
                </a:rPr>
                <a:t> </a:t>
              </a:r>
              <a:r>
                <a:rPr lang="zh-CN" altLang="en-US" sz="2000" dirty="0">
                  <a:solidFill>
                    <a:srgbClr val="6FB4BD"/>
                  </a:solidFill>
                  <a:sym typeface="+mn-ea"/>
                </a:rPr>
                <a:t>decision tree</a:t>
              </a:r>
              <a:endParaRPr lang="zh-CN" altLang="en-US" sz="2000" dirty="0">
                <a:solidFill>
                  <a:srgbClr val="61ADB7"/>
                </a:solidFill>
              </a:endParaRPr>
            </a:p>
          </p:txBody>
        </p:sp>
      </p:grpSp>
      <p:cxnSp>
        <p:nvCxnSpPr>
          <p:cNvPr id="41" name="直接连接符 40"/>
          <p:cNvCxnSpPr/>
          <p:nvPr>
            <p:custDataLst>
              <p:tags r:id="rId3"/>
            </p:custDataLst>
          </p:nvPr>
        </p:nvCxnSpPr>
        <p:spPr>
          <a:xfrm>
            <a:off x="5132853" y="1192259"/>
            <a:ext cx="1925640" cy="0"/>
          </a:xfrm>
          <a:prstGeom prst="line">
            <a:avLst/>
          </a:prstGeom>
          <a:ln w="19050">
            <a:solidFill>
              <a:srgbClr val="6FB4BD"/>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custDataLst>
              <p:tags r:id="rId4"/>
            </p:custDataLst>
          </p:nvPr>
        </p:nvPicPr>
        <p:blipFill>
          <a:blip r:embed="rId5"/>
          <a:stretch>
            <a:fillRect/>
          </a:stretch>
        </p:blipFill>
        <p:spPr>
          <a:xfrm>
            <a:off x="137160" y="3307715"/>
            <a:ext cx="7969250" cy="1207770"/>
          </a:xfrm>
          <a:prstGeom prst="rect">
            <a:avLst/>
          </a:prstGeom>
        </p:spPr>
      </p:pic>
      <p:sp>
        <p:nvSpPr>
          <p:cNvPr id="2" name="文本框 1"/>
          <p:cNvSpPr txBox="1"/>
          <p:nvPr/>
        </p:nvSpPr>
        <p:spPr>
          <a:xfrm>
            <a:off x="702945" y="4648200"/>
            <a:ext cx="5170805" cy="1106170"/>
          </a:xfrm>
          <a:prstGeom prst="rect">
            <a:avLst/>
          </a:prstGeom>
          <a:noFill/>
        </p:spPr>
        <p:txBody>
          <a:bodyPr wrap="square" rtlCol="0">
            <a:noAutofit/>
          </a:bodyPr>
          <a:p>
            <a:r>
              <a:rPr lang="en-US" altLang="zh-CN"/>
              <a:t>fetvalue:</a:t>
            </a:r>
            <a:r>
              <a:rPr lang="zh-CN" altLang="en-US"/>
              <a:t>遍历标签列属性，获取当前唯一值</a:t>
            </a:r>
            <a:endParaRPr lang="zh-CN" altLang="en-US"/>
          </a:p>
          <a:p>
            <a:endParaRPr lang="zh-CN" altLang="en-US"/>
          </a:p>
          <a:p>
            <a:r>
              <a:rPr lang="en-US" altLang="zh-CN"/>
              <a:t>uniquevals:</a:t>
            </a:r>
            <a:r>
              <a:rPr lang="zh-CN" altLang="en-US"/>
              <a:t>将索引转换为值</a:t>
            </a:r>
            <a:endParaRPr lang="zh-CN" altLang="en-US"/>
          </a:p>
          <a:p>
            <a:endParaRPr lang="zh-CN" altLang="en-US"/>
          </a:p>
          <a:p>
            <a:endParaRPr lang="zh-CN" altLang="en-US"/>
          </a:p>
        </p:txBody>
      </p:sp>
      <p:pic>
        <p:nvPicPr>
          <p:cNvPr id="9" name="图片 8"/>
          <p:cNvPicPr>
            <a:picLocks noChangeAspect="1"/>
          </p:cNvPicPr>
          <p:nvPr>
            <p:custDataLst>
              <p:tags r:id="rId6"/>
            </p:custDataLst>
          </p:nvPr>
        </p:nvPicPr>
        <p:blipFill>
          <a:blip r:embed="rId7"/>
          <a:stretch>
            <a:fillRect/>
          </a:stretch>
        </p:blipFill>
        <p:spPr>
          <a:xfrm>
            <a:off x="429260" y="1921510"/>
            <a:ext cx="5444490" cy="1253490"/>
          </a:xfrm>
          <a:prstGeom prst="rect">
            <a:avLst/>
          </a:prstGeom>
        </p:spPr>
      </p:pic>
      <p:pic>
        <p:nvPicPr>
          <p:cNvPr id="6" name="图片 5" descr="外包项目实施流程5"/>
          <p:cNvPicPr>
            <a:picLocks noChangeAspect="1"/>
          </p:cNvPicPr>
          <p:nvPr/>
        </p:nvPicPr>
        <p:blipFill>
          <a:blip r:embed="rId8"/>
          <a:stretch>
            <a:fillRect/>
          </a:stretch>
        </p:blipFill>
        <p:spPr>
          <a:xfrm>
            <a:off x="6551295" y="1192530"/>
            <a:ext cx="5172075" cy="4581525"/>
          </a:xfrm>
          <a:prstGeom prst="rect">
            <a:avLst/>
          </a:prstGeom>
        </p:spPr>
      </p:pic>
      <p:pic>
        <p:nvPicPr>
          <p:cNvPr id="11" name="图片 10"/>
          <p:cNvPicPr>
            <a:picLocks noChangeAspect="1"/>
          </p:cNvPicPr>
          <p:nvPr/>
        </p:nvPicPr>
        <p:blipFill>
          <a:blip r:embed="rId9"/>
          <a:stretch>
            <a:fillRect/>
          </a:stretch>
        </p:blipFill>
        <p:spPr>
          <a:xfrm>
            <a:off x="6862445" y="1069340"/>
            <a:ext cx="4860925" cy="319976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xit" presetSubtype="21" fill="hold" nodeType="clickEffect">
                                  <p:stCondLst>
                                    <p:cond delay="0"/>
                                  </p:stCondLst>
                                  <p:childTnLst>
                                    <p:animEffect transition="out" filter="barn(inVertical)">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0"/>
            <a:ext cx="12192000" cy="6858000"/>
          </a:xfrm>
          <a:prstGeom prst="rect">
            <a:avLst/>
          </a:prstGeom>
          <a:solidFill>
            <a:srgbClr val="ECF4F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4498185" y="362554"/>
            <a:ext cx="3490040" cy="829998"/>
            <a:chOff x="4498185" y="279786"/>
            <a:chExt cx="3490040" cy="829998"/>
          </a:xfrm>
        </p:grpSpPr>
        <p:sp>
          <p:nvSpPr>
            <p:cNvPr id="4" name="文本框 3"/>
            <p:cNvSpPr txBox="1"/>
            <p:nvPr>
              <p:custDataLst>
                <p:tags r:id="rId1"/>
              </p:custDataLst>
            </p:nvPr>
          </p:nvSpPr>
          <p:spPr>
            <a:xfrm>
              <a:off x="4498185" y="279786"/>
              <a:ext cx="3195630" cy="706755"/>
            </a:xfrm>
            <a:prstGeom prst="rect">
              <a:avLst/>
            </a:prstGeom>
          </p:spPr>
          <p:txBody>
            <a:bodyPr wrap="square">
              <a:spAutoFit/>
            </a:bodyPr>
            <a:lstStyle>
              <a:defPPr>
                <a:defRPr lang="zh-CN"/>
              </a:defPPr>
              <a:lvl1pPr>
                <a:defRPr sz="3000">
                  <a:solidFill>
                    <a:srgbClr val="618FA7"/>
                  </a:solidFill>
                  <a:latin typeface="汉仪中宋简" panose="02010609000101010101" pitchFamily="49" charset="-122"/>
                  <a:ea typeface="汉仪中宋简" panose="02010609000101010101" pitchFamily="49" charset="-122"/>
                </a:defRPr>
              </a:lvl1pPr>
            </a:lstStyle>
            <a:p>
              <a:pPr algn="ctr"/>
              <a:r>
                <a:rPr lang="zh-CN" altLang="en-US" sz="4000" dirty="0">
                  <a:solidFill>
                    <a:srgbClr val="6FB4BD"/>
                  </a:solidFill>
                  <a:latin typeface="华文新魏" panose="02010800040101010101" charset="-122"/>
                  <a:ea typeface="华文新魏" panose="02010800040101010101" charset="-122"/>
                  <a:sym typeface="+mn-ea"/>
                </a:rPr>
                <a:t>决策树</a:t>
              </a:r>
              <a:endParaRPr lang="zh-CN" altLang="en-US" sz="4000" dirty="0">
                <a:solidFill>
                  <a:srgbClr val="61ADB7"/>
                </a:solidFill>
              </a:endParaRPr>
            </a:p>
          </p:txBody>
        </p:sp>
        <p:sp>
          <p:nvSpPr>
            <p:cNvPr id="5" name="文本框 4"/>
            <p:cNvSpPr txBox="1"/>
            <p:nvPr>
              <p:custDataLst>
                <p:tags r:id="rId2"/>
              </p:custDataLst>
            </p:nvPr>
          </p:nvSpPr>
          <p:spPr>
            <a:xfrm>
              <a:off x="5238825" y="711004"/>
              <a:ext cx="2749400" cy="398780"/>
            </a:xfrm>
            <a:prstGeom prst="rect">
              <a:avLst/>
            </a:prstGeom>
          </p:spPr>
          <p:txBody>
            <a:bodyPr wrap="square">
              <a:spAutoFit/>
            </a:bodyPr>
            <a:lstStyle>
              <a:defPPr>
                <a:defRPr lang="zh-CN"/>
              </a:defPPr>
              <a:lvl1pPr algn="dist">
                <a:defRPr sz="1400">
                  <a:solidFill>
                    <a:srgbClr val="618FA7"/>
                  </a:solidFill>
                </a:defRPr>
              </a:lvl1pPr>
            </a:lstStyle>
            <a:p>
              <a:pPr algn="l"/>
              <a:r>
                <a:rPr lang="en-US" altLang="zh-CN" sz="2000" dirty="0">
                  <a:solidFill>
                    <a:srgbClr val="6FB4BD"/>
                  </a:solidFill>
                  <a:sym typeface="+mn-ea"/>
                </a:rPr>
                <a:t> </a:t>
              </a:r>
              <a:r>
                <a:rPr lang="zh-CN" altLang="en-US" sz="2000" dirty="0">
                  <a:solidFill>
                    <a:srgbClr val="6FB4BD"/>
                  </a:solidFill>
                  <a:sym typeface="+mn-ea"/>
                </a:rPr>
                <a:t>decision tree</a:t>
              </a:r>
              <a:endParaRPr lang="zh-CN" altLang="en-US" sz="2000" dirty="0">
                <a:solidFill>
                  <a:srgbClr val="61ADB7"/>
                </a:solidFill>
              </a:endParaRPr>
            </a:p>
          </p:txBody>
        </p:sp>
      </p:grpSp>
      <p:cxnSp>
        <p:nvCxnSpPr>
          <p:cNvPr id="41" name="直接连接符 40"/>
          <p:cNvCxnSpPr/>
          <p:nvPr>
            <p:custDataLst>
              <p:tags r:id="rId3"/>
            </p:custDataLst>
          </p:nvPr>
        </p:nvCxnSpPr>
        <p:spPr>
          <a:xfrm>
            <a:off x="5132853" y="1192259"/>
            <a:ext cx="1925640" cy="0"/>
          </a:xfrm>
          <a:prstGeom prst="line">
            <a:avLst/>
          </a:prstGeom>
          <a:ln w="19050">
            <a:solidFill>
              <a:srgbClr val="6FB4BD"/>
            </a:solidFill>
          </a:ln>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custDataLst>
              <p:tags r:id="rId4"/>
            </p:custDataLst>
          </p:nvPr>
        </p:nvPicPr>
        <p:blipFill>
          <a:blip r:embed="rId5"/>
          <a:stretch>
            <a:fillRect/>
          </a:stretch>
        </p:blipFill>
        <p:spPr>
          <a:xfrm>
            <a:off x="1526540" y="1696720"/>
            <a:ext cx="9974580" cy="40589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push dir="u"/>
      </p:transition>
    </mc:Choice>
    <mc:Fallback>
      <p:transition>
        <p:push dir="u"/>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0" y="0"/>
            <a:ext cx="12192000" cy="6859905"/>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2.xml><?xml version="1.0" encoding="utf-8"?>
<p:tagLst xmlns:p="http://schemas.openxmlformats.org/presentationml/2006/main">
  <p:tag name="commondata" val="eyJoZGlkIjoiYWFmYjE5Nzg0MWI3ODlkODYxNDQxZmQ0YmY3OTM0N2IifQ=="/>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CB019B1-382A-4266-B25C-5B523AA43C14-1">
      <extobjdata type="ECB019B1-382A-4266-B25C-5B523AA43C14" data="ewoJIkZpbGVJZCIgOiAiMjY2NDUyMTAxNDk1IiwKCSJHcm91cElkIiA6ICIyMjQyMjg3MjQ1IiwKCSJJbWFnZSIgOiAiaVZCT1J3MEtHZ29BQUFBTlNVaEVVZ0FBQWR3QUFBTkxDQVlBQUFEclh5d25BQUFBQVhOU1IwSUFyczRjNlFBQUlBQkpSRUZVZUp6czNYMmN6UFgrLy9IbloyWXZXZGRFaU0xRkxzckZkdW1pMUVvWFN5VkNKY1hwMU9HVVRvVWpwWkpEcDA3cVNOUnhVVnVwaUs3NVVhSG9xeElSbGx5ZGJWdHM3TEpyRjJ2dHhjem4vZnRENXBoSWkvWDV6S3pIL1hiYlcrWXpuODlubmpNeHovbk1mSFplRWdBQUFBQUFBQUFBQUFBQUFBQUFBQUFBQUFBQUFBQUFBQUFBQUFBQUFBQUFBQUFBQUFBQUFBQUFBQUFBQUFBQUFBQUFBQUFBQUFBQUFBQUFBQUFBQUFBQUFBQUFBQUFBQUFBQUFBQUFBQUFBQUFBQUFBQUFBQUFBQUFBQUFBQUFBQUFBQUFBQUFBQUFBQUFBQUFBQUFBQUFBQUFBQUFBQUFBQUFBQUFBQUFBQUFBQUFBQUFBQUFBQUFBQUFBQUFBQUFBQUFBQUE0Y3B5T3dES3BZanFUWnBVcU9TTnZ0akljN0hIOGxSek8xQ1lLcmFOdGQ1WFVyeDhSNHd5dFdGRHNkdUJBSnc4Q2hkbHF2NTViZXBGZXN4OWt2V0FMS3VTMjNuS0EyT01MVXR2MkNXK0Y3YWwvcmhSa25FN0U0QVRGK0YyQUpRckVaRWVjNThzYTVoa1JkV3ZWMWZuTldtaTJOZ1l0M09GSmIvZnJ4MlpXVnIvNHdhUGJkdDNlU0lpcWxWcjFPaFB1V2xwZTkzT0J1REVjWVNMTWxPclpjdTRpaWJxUjB0cU1PRE92bnJ5MGIrN0hhbGNTRm0zWG5mY1BWQUhEaFRJK095KzZmOU5tZWwySmdBbnp1dDJBSlFmVmVKcW5oMFpFVEdxK1hsTk5mWGxGOTJPVTI3VXJuMldQQjZQdmxtMlhNWlM5TjdzTEFvWENFTWV0d09nL0lpS2p1Z29TUzJhTjNNN1NyblQ4dGZIMUpJYXVod0Z3RW1pY0ZGbUxHT2RKVWtWWW1QZGpsTHV4TWJHS0NJaVFwSTRFUTBJVXhRdXloNW5CcHdHRmc4ckVPWW9YQUFBSEVEaEFnRGdBQW9YQUFBSFVMZ0FBRGlBd2dVQXdBRVVMZ0FBRHFCd0FRQndBSVVMQUlBREtGeUV0ZW5UcCt2bm4zOCtyYmZoOC9uazgva0NsL2ZzMlJOMEdRQktnOEpGMk1yTXpOUXJyN3lpU3BYKytOc09zN0t5U3YxVFdGZ1l0TzI4ZWZQVXQyOWZTWWRHNXQxeHh4MzY0b3N2VHN0OUFsQitNUThYWVdQR2pCbWFNbVZLNFBMaEk4OWJicm5sZDdjWk1XS0VrcEtTMUxObno2T3VLeXdzVkhSMHRDd3IrRXNUeDQ0ZHE4VEV4TURsdVhQbjZwcHJycEVrTFYyNlZBVUZCYnJxcXF0TzllNEFPTU5RdUFnYmZmcjAwYzAzM3l4SjJyNTl1L3IzNzYrMzNucExEUnYrL2dDZHFLZ29TZEkzMzN4ejFIVlhYbm1sWG56eFJTVWtKUHp1OWhrWkdVcEpTZEhUVHo4dFNabzFhNVo4UHArdXZQSktTVkowZEhUUStzT0hEMWUzYnQxTzdJNEJPQ05RdUFnYkVSRVJpb2lJa04vdjF3c3Z2S0IyN2RxcFJZc1dwL1UyWjgyYXBiUFBQbHUxYTlmV2dnVUx0R1hMRnMyYk4wK3paczFTVVZHUi92YTN2NTNXMndkUWZsQzRDRHN2di95eVZxMWFwYmk0dU1DUjVwRjhQcCthTld1bTVPVGtVN3FkclZ1M2F2YnMyYXBUcDQ3MjdkdW5jZVBHNmU5Ly83dXFWcTE2U3ZzRmNHYWljQkZXWnN5WW9Sa3pac2pqOGVpcnI3NDY1anBMbHk3VjY2Ky9mc3EzOWNJTEx5Z2hJVUU3ZCs2VVpWbnEzYnUzcnIvKytzRDE3Nzc3cmo3KytPUEE1UVlOR3VpTk45NDQ1ZHNGVUQ1UnVBZ2IwNmRQMTVRcFUvVDAwMDlyK1BEaGdST1pmcXU0dUZpTkd6YytwZHZ5K1h6S3ljblJpQkVqOVBqamo2dFNwVXI2eTEvK0VyVE9iYmZkeGx2S0FFcU53a1hZaUlpSTBMaHg0OVN5WlV0NVBCNHRYTGp3bU91VnhSRnVSRVNFcGsyYnBoMDdkcHpTZmdEZ01Bb1hZZVB3NzhMbTVlVTVjbnNWS2xRNDd2V2ZmZmFaMXExYkY3UnM4dVRKOG5xOXB6TVdnREJGNFNJczJiWjlXdDlTTG8xMjdkb0ZYZ1FjUnRrQytEMFVMc0xTaWJ5bG5KK2ZmOHl2WWpUR0tEOC8vNWhIekZXcVZEbnFDekYrcTJyVnFtclNwTWtKSmdkd3BxSndVUzRVRmhZcUxTMU5VVkZSK3ZMTEwxV3hZc1hBZGNPSEQ5ZmF0V3VQdWQySUVTT091WHpldkhuOCtnK0FNa1hob2x6dytYeDY0b2tuSkVtVksxY09PbnY0bFZkZWNTc1dBQVJRdUFnN1ZhdFcxZmZmZngrMExDNHVUaDk4OEVHWjMxYVRKazMweVNlZkhMVjg0TUNCWlg1YkFNbzNwZ1VCQU9BQUNoY0FBQWRRdUFBQU9JRENCUURBQVJRdUFBQU9vSEFCQUhBQWhRc0FnQU1vWEpRWlkxUXNTWDZmMyswbzVZNXQyN0tOa2FRU3Q3TUFPRGtVTHNxUStWbVNkdTNlN1hhUWNtZDNkbzc4ZnI4a3BibWRCY0RKb1hCUlpnNldtQjhrYWRtSzc1VzNkNi9iY2NxVnVmTStsU1FabVhWL3NDcUFFTVZYTzZMTVZERDVlNDFkZWY3Qmc0VmRiKzkvang2OGI2RHExajFiRVY3K21wME0yOWc2ZUxCUWMrWjlxb1ZmTHBHUmNpeS81eDIzY3dFNE9jZWZQd2Fjb0hQT2EzMkZ4Mk9OOTFqV1JSNlBSMVdxVkZaVVpKVGJzY0tTYmR2SzI3dFhKU1VsTWxLZU1XYk1Way9KSkczWVVPeDJOZ0FuanNKRldmUFVQZSs4NmxHZTJBY2tkYktraTJSWmxkd09kU3hleXlnNndpUGJOaXIwR2VrUDV0ODZ6cGhpWTZ5TmtsbmxsLzgvMi8yRjY1U2FXdVIyTEFBbko4U2VZUURudEduVDVobXYxenZDR0NPZnozZnh1blhyVnJtZENVRDV4VWxUQUFBNGdNSUZBTUFCRkM0QUFBNmdjQUVBY0FDRkN3Q0FBeWhjQUFBY1FPRUNBT0FBQ2hjQUFBZFF1QUFBT0lEQ0JRREFBUlF1QUFBT29IQUJBSEFBaFFzQWdBTW9YQUFBSEJEaGRnQ0hlZXZYUDcrS1ZURXFKc0tqU0xmREZCVVZtU2hieFQ3ZnZyMFpHUmtIM2M0RGhDQnZ2ZWJOcThvWEZSc1Y2Zlc2RmFLb3FNajRqS2NvcWlSdkgvOVdjYkxPbU1JOXAxbEMzUWlQL1djamRiT01hU3lwcHR1Wm9xT2pTb3hNWnFTcCtYOE5tOVY0YmV2bXRmOG55ZTkyTGlBVXhKL1hxcms4M3JzczZScEY2RHpKVkhZclMzUlVaSEdVbEdHaWFuemI4THhxTTdadThYOGhiU2gyS3cvQzB4bFJ1UEh4OFRIeW1GY2tLeW1oVGV1b1h0MXZWTk9talZXeFFnWFhNdmx0dnpKKzJSRzU0dnRWNTh5Wi8xbmZQYm01VjhlZjEzcEUrcGFVTjEwTEJZU0ljNW9sMUpYSFRKRlJ4dzd0TC9QZTFQVjZOVy9XVkJFUnpqOWxHUmxsWmUyS1dyTDBtMFlmZkR6MzNJS0NnNTNqei9QZW43NUZIenNlQmdocFRacEVOMnpSNXEzbWJTOHpMMDk1MVlTaS82YW1tVzQ5YnpPTldpYVloazFhdFpka3VmMnduUW5hdEduenpJVVhYbWdTRWhKTXExYXRMbkk3RHc2Smo0K1BpVy9SOXVNTEx1NWczbm4zUGJmL2VRYkp5dHBsa3JyM051ZTJUTWcvcDhrRmpkMStyQkJleXYxSlUvR2VpdmRGZWlQNjNUUGdUdjI1ZnorMzR4eFRrOGJuYXV5b2thcGZyNjZzQ00vTDhjM2JOblE3RStBV0UxMzU4WXF4c2QwZisvc1E5Ym5sWnJmakJLbFZxNmFlR2ZPazRzK3BYOEVUNGYyNGZ2M3pxN3VkQ2VHalhCZHU3Y2F0ejVKSGZhcFhxNmE3N3JoTjBkSFJia2Y2WGEwdmFLbDcvblNYWkZuTmJGdlh1SjBIY01NNXpaclZ0U3hQdjBibnhxdnI5ZGU0OGhieThWaVdwUXRhdGxEUG0yK1NSMnBxVllqZzN5cEtyVndYYnJUSHV0U1MxYmpIVGQxVXEyWU50K01jbDhmalVjK2JibEQxcWxVcmVEeTZxbjc5K3JGdVp3S2NaaW5tY2xtcTJmVzZhMVNsc212blNCMlgxK3ZWN1gxNldsSFJVZEVlcjdyVnJ0MjZvdHVaRUI3S2MrRkdXRjVkVjZWSzVWcjNETGl6ekhlK2R1MWFkZS9lWGRuWjJXVzJ6NG9WSytqMlByZElsdW5zclZTcGFwbnRHQWdEdFdxMWpQTllWbEwxYWxVcjl1blZvMHoydVhmdlhqMzY2S082L1BMTDFhVkxGMDJkT3JWTTlsdWplblgxdXJtN0xGa2RvaXRaOFdXeVU1Ujc1YmR3bXpUeFdzWnExTDdkcGFwWmhrZTM2OWF0MDhNUFA2eUJBd2NxSXlPanpQWjcyTldKVjhxU1ZVZDJaSXN5M3prUXdxdzRUMFhKTkx6NnFpdFZ2VnJadk41ODdMSEh0SFBuVHIzeXlpdjYyOS8rcHRkZWUwMXo1c3dwazMzM3U3MlBaQlR2dGV6UWZ2c01JYVBjRm03dC9SVWlqR1VhbFBYYlVnc1dMRkMxYXRYMDdMUFBsdWwrRDZ0U3VkS3ZMeEE4WjUrV0d3QkNWR3lVcDRLa3VtVlZ0cHMyYmRKMzMzMm4wYU5IcTNYcjFycnBwcHQwNDQwMzZyMzMzaXVUL2RjOXU0NHNTMTVqZVRseENxVVNXbWNrbENHN2hzK3k3TWhxVFpzMEt0UDlEaGt5UkpabGFjT0dEV1c2MzhNaUl5TlZPYTZTZHUvT1B1KzAzQUNPeVJoVEp5RWhnYlBEeTE3SjZ0V3JkNVJtUlo5bFJVWktWYzV2MmJ4TWJuamx5cFdxVjYrZUdqYjgzLy9XU3krOVZKOTg4b2w4UHQ4cG41RGw4WGhVdlhvMTVXVG44dmNHcFZKdUM3ZFNZYUhYUkVmVnJsdW5UcG51MTdKTzc2L0lSa2RGcVhyMWFrcE5TNi83ZStza0pDUzBsUFNOWlZsOHpuc0tqREdTRHYwL2pZcUsrbjh1eHltWGpERzdtemR2M21MVHBrMDVmN1J1bFBISEdDdWlWb1A2OWN2a3RqTXlNbFMzYnZBL283UFBQbHUyYlNzN08xdDFUdkc1d2JJc3hWV3NxSnpzM0dhbnRDT2NNY3B0NFVxU01iSThuakQ3RGdsTE90VHA1bmVEMjdaOW1kZnJyV3FNeVpkVWRtZHRuV0dNTVpHU2FraXlqVEZiTE12eXVaMnB2RERHeEZpVzFjaXlyRnBSVVZGblMvckR3cFV4bGl4amVUeGw4MGxYUVVHQlltT0RUL2FQaVltUkpKV1VsSlRKYlVpU0xPUGFkendqdkpUYnd0MFhHV25IeVdSbTdOaFp6KzBzSjZLb3FGZzVPYm15TFAxeW5OVU9EMTc0dkxpNGVJUVR1Y296cjlkYm1KS1NVdlpud0ozQkxyend3aWJHbVBja3RmWDcvYVVxcENMTFd4aGxhVmY2dG0xMVdsM1E4cFF6UkVaR0hsV3NSVVZGa3Y1WHZLZkNHS1A4QXdXU3NVN1A1MHNvZDhwdDRYcnpvbTFWVTE3YXorbGhWYmdsSlNYYWZ5QmZ0cTNVMzF2SDYvVmFrbVJaMXY0ZmYvenhkOWNEd2tta1ZDeWpmWnMyLzdmT2pWMnZQK1g5blhYV1dVcEpTUWxhbHBXVnBhaW9LTldvY2VvbkZ0dTJyZHpjWEJuYmJEL2xuZUdNVUc3UFVzNnFWT0NUWlczYnQyKy8yMUZPU0g3K0FlM2VuUzBaZTZmYldRQW5IU3kyQ3lUOWtwdTN0MHoyMTdwMWEvMzg4OC9hdlh0M1lObUtGU3QwMFVVWHFTemV0dDYxTzF1MmJkdWVDSnVQZFZBcTViWndsWnJxTjhiOHRQVGJaY3JPL3VPUGowTEZnaThXeThoa1doRytIOTNPQWpqSjVOc0hKR3ZyNTR1KzFKN2N2RlBlMzZXWFhxcHp6ejFYbzBhTjBxWk5telJ2M2p6Tm1UTkhBd1lNS0lPMDBodHZ6NUNrLy9wTEtGeVVUdmt0WE1sbkdYdlIzcng5MlcrK004dnRMS1ZTVUZDZzl6NzhSTEwxVmNuZXZXWHpNaDhJRTd0M2I4ZzM4aS9jazV0YjhORW5wMzdTdU5mcjFmang0K1gzK3pWZ3dBQk5tVEpGVHp6eGhDNisrT0pUM3ZlZTNEeDlOR2VlSkgzcjhSMUlPK1VkNG94UWJqL0RsU1FWK1pjcnh2dnpleDk5WFBOUGQ5NnU2dFdybGRtdVc3WnNxVldyVnBYWi9vd3grbitmTHRDdTNka0hKZlBWamgwN0NzcHM1MENZOFBtcy80dUtORGx6NW45V29VK3ZtMVVwTHU2VTlsZS9mbjFObVRLbGpOSWRZdHUyWm4vd2tRNFdGQlFabVhsYjA5TUx5L1FHVUc2VjV5TmNwYWR2eUxSbDNzM0p6dEhVMTZjSHpsQU1SU25yZnRUTFUxNlZMTE5KbHVkVHQvTUFidmdsTlNWRHhyeVZtdnFUUHBrN1h6NWZhUDJtbGpGRzYzN2NxTmtmZkN4YitxOC8zNy9ZN1V3SUgrVzZjQ1dwTU5kTThkbjJlKys4TzF0dno1enRkcHhqK2psOXE4WThPMDRadit5UXNjMnc5RTFydHJxZENYREwvdXlpWndzS0MrZVBuL2dmZlR4M3Z0dHhnbVRuN05Ib3AvK2xyZHN6Q3Z6RmR0K01qQi8zdUowSjRhTjh2NlVzS1NzcjVVRDl5UHI5ODAzTnFrOC85Ky9FQlY4c2liaTl6eTFxM3F5cDRpcTZOMVhMNy9kcjIvWmY5TzEzeXpWOXhpeFRjUERnWHR1WVI3WnRUdm5TdFZCQUNNak8zcncvdW1ycmdUbTVlUi85L2JFbkw1ei8yVUxQTFRmZnFKWXRtaWt5TXZLUGQxREdqREhhbVptbFJWOHUwWXpaSDVpQ0F3VTVmdU8vTHlOdDNUckh3eUNzbGZ2Q2xhU01qSXlEOWMrcjhhZElyKzVlc1dyVkRkK3YvS0dSTE5WME81Y3hPaWhwdDZTdmpiRmYyN1k1NVN1M013R2g0SmZVbEl6NDgxcmRLWS8zcnNYL3QvVGFKZi8zZFZOWmNuRkFyaWsyUmhuRzZGdmIwdHZiTjYvN3dyMHNDRmRuUk9GS1VzYVd0YjlJZXFiK2VXMlNJK1N2WkNraTJ1MU1mcS9mYjRyOWhRVlcwYTQ5cWFuNzNNNERoSkwwTGVzMlNScFZyMG5yVjd6eVZQWjY1UHpoN2E5S1BIN2I4cG1DQXlyY3piOVZuS3d6cG5CLzVmdTFlQUdFaDVKZlV2bmFUWlFQNWY2a0tRQUFRZ0dGQ3dDQUF5aGNBQUFjUU9FQ0FPQUFDaGNBQUFkUXVBQUFPSURDQlFEQUFSUXVBQUFPb0hBQkFIQUFoUXNBZ0FNb1hBQUFIRURoQWdEZ0FBb1hBQUFIVUxnQUFEaUF3Z1VBd0FFVUxnQUFEampUQnRDSHBkYXRXNS9yOVhyN0hMSG8wbC8vZTBGQ1FzSWpoeGZhdHIxZzdkcTFxNTFOQndBb0RjdnRBUGhqYmR1MnJXcFoxaStXWlZVNHptb0Z4Y1hGcmRldlgvK1RZOEdBSXlRa0pJeVFkT3V2RjZNdHk0cVhGQ3Rwc3pIbTRLL0wwd29LQ2daczNyeDV2eXNoQVJmeGxuSVlXTE5tVFo0eDVrdEpNc1ljOWZPcmRkSFIwVHZkU3dub3Y1Wmx0YklzcTYya0ZzYVkyRi8vamphVDFOYXlyTGJHbUgyVUxjNVVGRzZZc0cxNy9QR3VOOFo4dm1yVnFpS244Z0MvNWZQNWZqVEcvUHdIcTAxekpBd1FnaWpjTU9IeitWWVlZOUl0NjlDbkFFZisxeGlUWjl2Mjk1TDhMa2JFR2U3QWdRTTdKVzA1Zk5teXJNRGZVMG15YlR0dHpabzFLOXpJQm9RQ0NqZE14TWJHRmtuNjdIZXVUalhHL09oa0h1QzMwdExTOWhwajF1alhGMzVIZk53aHk3TGs4WGhlaytSektSN2dPZ28zVEt4YXRhckV0dTNGeHBnQ0tmakpUTkxhbEpTVWRIZVNBZjlqalBsVVV0RVJsdy8vOGFEUDUvdTlGNHpBR1lIQ0RTTzJiVytVOVBPUmI5UDl1bnkrSkhQTWpRQUhSVVJFTExkdGUvdVJ5Mzc5MkdOZGNYSHhWcmR5QWFHQXdnMGpCdzhlM1BMYnQ0Nk5NWHNPSERpd3lLMU13SkZXclZwVjR2RjQzanJ5UmFFNVpOR21UWnYydVJnTmNCMkZHMFpTVTFPTExNdGFJUVdka0xJd05UV1ZKektFREovUE44MFlrMy80c21WWit5VjlMNm5FdlZTQSt5amNNRk5TVWpKZi96c3B4Ylp0ZTVMTGtZQWdLU2twdXlSOWZmaEZvVEZtbDIzYks5M09CYmlOd2cwejY5ZXYzM2pFN3pydVhydDI3ZGV1QmdLT3dSanpydm4xakNsanpKYVVsSlFNdHpNQmJxTnd3NURmN3g4alNjYVlPVzVuQVk3RkdMTlJVdDZ2ZjM3ZjVUaEFTS0J3dzFCS1NzcDBTZHNzeTFyZ2RoYmdXSXFMaTdkTFdtV01PYkI3OSs1WmJ1Y0JRZ0hEQzA1Q3RVYU5xbFNKaW50WXhsUEZyUXdWSW5WeGtkLzg3TGV0SExjeVNKSnRtVTNiTnEyZEtuNHRDYitSa0pBd1dsTEQxYXRYRDNBN0N4QUtLTnlUME9DODFuZDV2WjQzM2N4dytBc0ZmdnM3dVM3a01BZExUSjJzbjFKMnVSb0VBUTBhdEtybXFXQU5rcXpLYnVhSTlPZ2NZNnZZSjJXNUZzSzJDbTI3NUwxdHFUOXVjQzBEOEN2bTRaNEVqNlZxa3RRb3ZxSGF0bW50ZGh4WDdNL1AxL0lWSzdWdi8zN0w2N1dyUzZKd1E0UW4xbk9yWlZuL2REdUh6eGdadWZ5aTBDdFpIbTg5U1g5eEx3UndDSVY3Y2l4SmF0L3VVbzE1OGpHM3M3Z2k3ZWQwM2ZmZ01PM2J2MS9HR040cENTV1dxU1paYW41ZVU3VnMwZHp0Tks3Wm1abXBaY3UvbDNUb0JUTGdOZ29YS0dlTVpGbVN1blMrVWtQK2RyL2JjVnl6Nk1zbGh3dVhGNFFJQ1p5bERBQ0FBeWhjQUFBY1FPRUNBT0FBQ2hjQUFBZFF1QUFBT0lEQ0JRREFBUlF1QUFBT29IQUJBSEFBaFFzQWdBTW9YQUFBSEVEaEFnRGdBQW9YQUFBSFVMZ0FBRGlBd2dVQXdBRVVMZ0FBRHFCd0FRQndBSVVMQUlBREtGd0FBQnhBNFFJQTRBQUtGd0FBQjFDNEFBQTRnTUlGQU1BQkZDNEFBQTZnY0FFQWNBQ0ZDd0NBQXloY0FBQWNRT0VDQU9BQUNoY0FBQWRRdUFBQU9JRENCUURBQVJRdUFBQU9vSEJEekYvLytsY05IVG8wYU5tQ0JRdlVxVk1uRlJVVnllZnphY0tFQ2JyNjZxdlZ1WE5ualJ3NVVubDVlWUYxWjg2Y3FadHV1a250MnJYVExiZmNvdHpjWEtmdkFzcXh3c0pDWFhIRkZab3hZMGJROG1lZWVVYjMzMysvSkNrbkowZkRodzlYeDQ0ZDFhMWJOMDJlUEZsK3Z6K3cvVFBQUEtNdVhicW9RNGNPR2pKa2lPUDNBWEFMaFJ0aWtwS1M5TjEzMzZtd3NEQ3c3SXN2dnREVlYxK3Q2T2hvdmZ6eXkxcTZkS21lZmZaWlRabzBTWm1abVJvN2Rxd2s2WnR2dnRHTEw3Nm9oeDkrV08rODg0NzY5ZXNueTdMY3Vpc29oMkppWXBTWW1LZ2xTNVlFbHRtMnJjV0xGeXNwS1VuR0dBMGRPbFIrdjErdnZmYWFSbzRjcVk4KytranZ2ZmVlSkduS2xDbGF2bnk1eG84ZnIrVGtaTFZ2Mzk2dHV3STRqc0lOTVowN2Q1WnQyL3J1dSs4a1NVVkZSZnI2NjYrVmxKU2t2THc4elpneFEyUEdqTkVsbDF5aWxpMWI2b0VISHREaXhZdFZXRmlvclZ1M3FtTEZpbXJYcnAwYU4yNnNIajE2cUdyVnFpN2ZJNVEzU1VsSldyMTZkZUNkbGJWcjF5by9QMStKaVluNit1dXZ0VzNiTmozenpETnEzcnk1T25Ub29ENTkrdWpUVHorVkpHM2J0azMxNjlkWHExYXQxTHg1Yy9YdTNkdk51d0k0aXNJTk1YRnhjYnI4OHNzRFJ4RGZmdnV0NHVMaWRQSEZGK3VubjM2U3orZlRQZmZjbzQ0ZE82cGp4NDZCdC9FeU16UFZwVXNYeGNiR3FsZXZYcG8xYTFiUVVUSlFWaTY5OUZKVnJWcFZTNWN1bFNRdFdyUklWMTU1cFNwV3JLaU5HemRxMzc1OVNreE1EUHdkblRadG1uYnUzQ2xKNnQyN3QxYXRXcVVCQXdab3laSWxNc2E0ZVZjQVIwVzRIUUJIUzBwSzB0TlBQeTIvMzY5Rml4YnB1dXV1azhmamtjL25reVJOblRwVmxTdFhEdHFtVHAwNmlveU0xUHZ2djY4UFB2aEF5Y25KZXVlZGQ1U2NuS3lhTld1NmNUZFFUbm05WGwxenpUVmFzbVNKYnJqaEJuMzU1WmQ2OU5GSEpVa2xKU1dxWDcrK0prNmNHTFNOeDNQb3RYMjdkdTMwOGNjZjY2MjMzdEpqanoybVN5NjVSQysrK0NJZmZlQ013QkZ1Q0xyODhzdmw4L24wL2ZmZmErblNwVXBLU3BJa05XellVSkswYTljdW5YUE9PVUUva1pHUmtxVFkyRmoxNjlkUDc3Ly92dmJ0MjZlRkN4ZTZkajlRZmgwKzEyRGx5cFVxS2lwU2h3NGRKRW5ubm51dU1qTXpWYUZDaGFDL24vWHExUXRzVzd0MmJRMGJOa3lUSmszUzExOS9yZFRVVkxmdUJ1QW9qbkJEVUZSVWxEcDM3cXhKa3lhcFZxMWFhdEdpaGFSRFI3R0ppWWw2N3JublpJeFJnd1lOdEhIalJtM2J0azMzMzMrLzVzK2ZMMGxxMGFLRk1qSXlWRmhZR0NocG9DeTFhdFZLTld2VzFJUUpFOVNsU3hkRlJCeDZLdW5jdWJOZWV1a2xEUjgrWElNSEQxWk1USXlXTFZ1bWV2WHE2YnJycnRQVXFWTjF3UVVYcUc3ZHVscXpabzJpbzZOVnUzWnRsKzhONEF3S04wUjE3ZHBWZ3dZTjBuMzMzUmUwL0lrbm50QzRjZVAwMUZOUFNaSWFOV3FrUVlNR1NUcDBkRHQrL0hqdDJyVkx0V3ZYMWtNUFBSUTQ4Z0RLMnZYWFg2OVhYMzFWdzRZTkN5eUxpWW5SeElrVDlkeHp6K212Zi8ycktsYXNxRFp0MnVpYWE2NlJkT2lNNWllZmZGSUZCUVZxM0xpeHhvOGZmOVRISTBCNVJlR0dxTFBPT2t2U29TZTFJMVdwVWlYd2EwQy9sWmlZcU1URXhOT2VEWkFPdlRWODl0bG5xMDJiTmtITG16WnRxbW5UcGgxem0wR0RCZ1ZlSUFKbkdqN0REVkZ6NXN4UlFrSkMwR2RmUUNpWk0yZU9icmpoQms1NEFrcUpJOXdRazVhV3B1M2J0MnYyN05sNjl0bG4zWTRESEdYOSt2WDY0WWNmbEphV3BoZGVlTUh0T0VEWW9IQkR6TXlaTTdWdzRVTGRlKys5NnRpeG85dHhnS004K2VTVEtpNHUxcmh4NDFTalJnMjM0d0JoZzhJTk1TTkhqdFRJa1NQZGpnSDhyZzgvL05EdENFQlk0ak5jQUFBY1FPRUNBT0FBQ2hjQUFBZFF1QUJLalhtNHdNbWpjRU1NQStnUnlwaUhDNXc4Q2pmRU1JQWVvWTU1dU1ESm9YQkREQVBvRWVxWWh3dWNISDRQTjhRY09ZRCtxcXV1Q2hwQXYzcjE2c0FBK3Q4NlBJRCtuWGZlVWE5ZXZYVFhYWGVwZS9mdWlvbUpjZUZlb0R4akhpNXdjaWpjRU1RQWVvUzZwS1FrRFJvMDZManpjSC92VzZnT3o4UHQzTG16N3IzM1hxV21wcXBwMDZaT3hnZGN3VnZLSVlnQjlBaDF4NXVIVzdWcVZRMGZQbHlyVjYvV3hvMGJsWnljck04Ly8xelNvUmVMMzM3N3JkTFQwNW1IaXpNT1I3Z2hpQUgwQ0FmTXd3Vk9ESVVib2hoQWoxREhQRnpneEZDNElZb0I5QWgxek1NRlRneUZHNklZUUk5UXhUeGM0T1JRdUNHR0FmUUlkY3pEQlU0T2hSdGlHRUNQVU1jOFhPRGtVTGdoaGdIMEFGQSs4WHU0QUFBNGdNSUZBTUFCRkM0QUFBNmdjQUVBY0FDRkcySVlRSTl3a1plWHA0c3V1a2lmZnZxcEJnNGNxSTRkTytxMjIyN1RwazJiQXV2NGZENU5tVEpGM2JwMTAyV1hYYVllUFhwb3pwdzVMcVlHM0VQaGhoZ0cwQ1BjdlBubW14bytmTGdXTEZpZzJyVnJhL1RvMFlIcnhvMGJwM2ZmZlZjREJ3NVVjbkt5dW5YcnBqRmp4Z1JtNlFKbkVnbzN4RENBSHVIbTl0dHZWK1BHalZXeFlrWDE3ZHRYVzdac1VYNSt2bkp5Y3ZUaGh4OXF4SWdSdXVtbW0zVCsrZWZybm52dVVWSlNrbDUvL1hXM1l3T09vM0JEekpFRDZDVUZEYUQvNmFlZkFnUG9PM2JzcUk0ZE8rcisrKytYOUw4QjlMR3hzZXJWcTVkbXpab1ZkSlFNbkM1SFRxU3FWYXVXcEVOdk4yL2V2Rm0yYmF0ZHUzWkI2eWNrSkNndExjM1JqRUFvNElzdlFoQUQ2QkZPdkY1djRNOGV6NkhYOE1hWXdJemNJNitYSk11eVZGSlM0bHhBSUVSd2hCdUNHRUNQOHFCUm8wYXlMRXNyVnF3SVdyNW16UnExYk5uU3BWU0FlempDRFVFTW9FZDVVTE5tVGZYczJWUFBQUE9NaW9xSzFLaFJJeTFidGt5ZmZ2cXBYbnJwSmJmakFZNmpjRU1VQStoUkhnd2JOa3d4TVRINjk3Ly9yWDM3OXFsUm8wWjYvdm5uZGRsbGw3a2REWEFjaFJ1aUdFQ1BVRmUxYWxXdFdyVXFhRmw4Zkh6UXNxaW9LQTBaTWtSRGhneHhPaDRRY3ZnTU4wUXhnQjRBeWhlT2NFTU1BK2dCb0h5aWNFTU1BK2dCb0h5aWNFTU1BK2dCb0h6aU0xd0FBQnhBNFFJQTRBQUtGd0FBQjFDNEFBQTRnTUlOWWIxNzk5Ymt5Wk0xZXZSb2RlclVTVjI3ZGcxOGZlTmhDeFlzMEsyMzNxckxMcnRNMTE1N3JWNTg4Y1hBa0FQZ2RHSUFQWEJpS053UU4zdjJiSFh1M0ZtTEZpMVNqeDQ5OUk5Ly9FTTVPVG1TRHBYdHlKRWoxYmx6WnlVbkordWhoeDdTM0xsek5XblNKSmRUNDB6Q0FIcWdkQ2pjRU5leFkwZGRjY1VWaW9xS1V2LysvZVgzKzdWKy9YcEowclJwMDNUenpUZHI0TUNCT3YvODg5VzFhMWM5K09DRG1qbHpKck53NFJnRzBBT2xRK0dHdVBqNCtNQ2ZvNktpVkxseVplWG01cXF3c0ZCcGFXbHEzNzU5MFBvSkNRbnkrWHphdm4yNzAxRnhobUlBUFZBNkZHNklPenpRKzhqTHhoaDV2VjU1UEo2anJyY3NTNUlZOEEzSE1JQWVLQjBLTjB4RlJrYXFRWU1HUnczM1hyMTZ0V0ppWXRTb1VTT1hrZ0dITUlBZUNNWlhPNGF4Z1FNSDZva25ubEN0V3JYVW9VTUhwYWVuYThLRUNicnp6anNWRXhQamRqeWM0UmhBRHdTamNNUFl0ZGRlcS96OGZFMmZQbDJUSjA5V3pabzExYTlmUC9YdjM5L3RhSUFrQnRBRFI2SndROWg3NzcxMzFMS0ZDeGNHWGU3WnM2ZDY5dXpwVkNRZ2dBSDB3SW5oTTF3QUFCeEE0UUlBNEFBS0Z3QUFCMUM0QUFBNGdNSUZBTUFCRkM0QUFBNmdjQUVBY0FDRkN3Q0FBeWpjRU1ZQWVvUXlCdEFESjRiQ0RYRU1vRWVvWXdBOVVEb1Vib2hqQUQxQ0hRUG9nZEtoY0VNY0ErZ1I2aGhBRDVRV2RKWVBBQUFnQUVsRVFWUU9oUnZpR0VDUFVNY0FlcUIwS053d3hRQjZoRG9HMEFQQkdNOFh4aGhBajFER0FIb2dHSVVieGhoQWoxREhBSHJnZnlqY0VNWUFlb1F5QnRBREo0YlBjQUVBY0FDRkN3Q0FBeWhjQUFBY1FPRUNBT0FBQ2hjQUFBZFF1QUFBT0lEQ0JRREFBUlF1QUFBT29IQkRHQVBvRWNvWVFBK2NHQW8zeERHQUhxR09BZlJBNlZDNElZNEI5QWgxREtBSFNvZkNEWEVNb0Vlb1l3QTlVRG9VYm9oakFEMUNIUVBvZ2RLaGNNTVVBK2dSNmhoQUR3UmpQRjhZWXdBOVFoa0Q2SUZnRkc0WVl3QTlRaDBENklIL29YQkRHQVBvRWNvWVFBK2NHRDdEQlFEQUFSUXVBQUFPb0hBQkFIQUFoUXNBZ0FNb1hBQUFIRURoQWdEZ0FBb1hBQUFIVUxnQUFEaUF3Z1Z3VWhoQUQ1d1l2bWtxaFBYdTNWdFhYMzIxc3JLeTlNVVhYeWd1TGs2REJ3OVcxNjVkQStzc1dMQkFyNzMybXRMVDAxV2xTaFYxN2RwVmd3Y1BEa3hxQVU2M045OThVMDgvL2JUcTFLbWp4eDU3VEtOSGo5Yk1tVE1sSFJwQXYyREJBajM4OE1OcTNMaXhsaTFicGpGanhxaGF0V3E2NG9vclhFNE9PSXNqM0JBM2UvWnNkZTdjV1lzV0xWS1BIajMwajMvOFF6azVPWklPbGUzSWtTUFZ1WE5uSlNjbjY2R0hIdExjdVhNMWFkSWtsMVBqVE1JQWVxQjBLTndRMTdGalIxMXh4UldLaW9wUy8vNzk1ZmY3dFg3OWVrblN0R25UZFBQTk4ydmd3SUU2Ly96ejFiVnJWejM0NElPYU9YT21DZ3NMWFU2T013VUQ2SUhTb1hCRFhIeDhmT0RQVVZGUnFseTVzbkp6YzFWWVdLaTB0RFMxYjk4K2FQMkVoQVQ1ZkQ1dDM3N2Q2YWc0UXpHQUhpZ2RDamZFSFg0Q08vS3lNVVplcjFjZWorZW82eTNMa2lTZTBPQTZCdEFEd1RpekpreEZSa2FxUVlNR1dyRmloYTY2NnFyQTh0V3JWeXNtSmthTkdqVnlNUjNBQUhyZ3R5amNNRFp3NEVBOThjUVRxbFdybGpwMDZLRDA5SFJObURCQmQ5NTVwMkppWXR5T0J6Q0FIamdDaFJ2R3JyMzJXdVhuNTJ2NjlPbWFQSG15YXRhc3FYNzkrcWwvLy81dVI4TVpnQUgwd0ltaGNFUFllKys5ZDlTeWhRc1hCbDN1MmJPbmV2YnM2VlFrQU1CSjRxUXBBQUFjUU9FQ0FPQUFDaGNBQUFkUXVBQUFPSURDQlFEQUFSUXVBQUFPb0hBQkFIQUFoUXNBZ0FNb1hBQUFIRURoQWdEZ0FBb1hBQUFIVUxnQUFEaUF3Z1VBd0FFVUxnQUFEcUJ3QVFCd0FJVUxBSUFES0Z3QUFCeEE0UUlBNEFBS0Z3QUFCMUM0QUFBNGdNSUZBTUFCRkM0QUFBNmdjQUVBY0FDRkN3Q0FBeWhjQUFBY1FPRUNBT0FBQ2hjQUFBZEV1QjBBUU5teUpDTkplWHYzS1gzck5yZmp1R2JYN3V6RGZ6UnU1Z0FPbzNCUFFXNXVualpzM094MkRGZGs3Tmlod3FKaXQyUGdHSXlzWWt2U0ozUG5hL0ZYUzkyTzQ1cURCd3NsU1paVTRuSVVRQktGZTFLTVViRWxhZjduQ3pYLzg0VnV4M0dkMXpZOG9ZV1FFbC9KbDlFUmtSbjc4L1ByNzgvUGR6dU9xNHhNbnQrMlBuRTdCeUJSdUNlbDJOaUxvNDIxMk1pcTVIYVdFTEFsNDZlWXJXNkh3UC9zU04yd1d0STVidWN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SlFkeSswQXdPbFF0MjdkQ2xHVmF6NG9XWlhkemdMZ3hQaU50bTdmdkhhcUpOdnRMR1dKd2tXNTFMQlpxenM4SHUvYmJ1Y0FjSEw4eG4veHRrM3JWcm1kb3l4RnVCMEFPQjBzV1RVbHFWRjhRN1ZvM3N6dE9BQktvYmk0V0t2WHBpZzdaNCtNejFQRDdUeGxqY0pGZVdWSlV1SlZuVFJ5K0JDM3N3QW9oZXljUFhwNCtHUEtYcmE4WExhVHgrMEFBQUNjQ1NoY0FBQWNRT0VDQU9BQUNoY0FBQWRRdUFBQU9JRENCUURBQVJRdUFBQU9vSEFCQUhBQWhRc0FnQU1vWEFBQUhFRGhBZ0RnQUFvWEFBQUhVTGdBQURpQXdnVUF3QUVVTGdBQURxQndBUUJ3QUlVTEFJQURLRndBQUJ4QTRRSUE0QUFLRndBQUIxQzRBQUE0Z01JRkFNQUJGQzRBQUE2Z2NBRUFjQUNGQ3dDQUF5aGNBQUFjUU9FQ0NEbjc5Ky9YcDU5K0ttUE1DVzJYbTV0N1F0c1VGeGVmYURUZ3BFVzRIUUJBK1hIMzNYZHI3ZHExcFY1LytmTGxpb2dJZmhvcUtTblJrQ0ZERkIwZHJTNWR1aWd5TXZKM3QvL3l5eThWRVJHaFRwMDZ5Ylp0ZGUzYVZXKy8vYllhTjI2czJiTm42K2VmZjlhRER6Nm9tSmlZbzdiZHNXT0gvdnpuUCt2dHQ5OVdqUm8xTkgzNmRLMWJ0MDdqeG8yVEpHVm1abXJ0MnJXNjdycnJTbjEvZ09PaGNBR1VtU2xUcHNpMjdhQmxNMmJNMEk4Ly9xaW5uMzQ2c013WUk4dXlqaXBidjkrdko1OThVc1lZUGYvODg0R3lYYlZxbFh3K255Njc3TEtnOVY5NTVSWDk1Uzkva1hTb1FDVXBQajVla3RTMWExZU5HalZLdDk5K3V5Wk9uS2o2OWVzSHR0dTNiNThlZXVnaDllL2ZYelZxMUFnc0x5a3AwWklsU3pSdjNqeHQyTEJCU1VsSnV2cnFxNC9LQ1p3TTNsSUdVR2E4WHE4R0R4NnM5UFIwUlVkSEt6bzZXbDZ2VjVabEJTN3YzYnRYdDk5K3UzSnpjNE8yTFNvcTBpT1BQS0k5ZS9ab3dvUUpRVWVsdG0zcjBVY2YxWW9WS3dMTFVsSlN0SHYzYnAxLy92bkt5c3JTOHVYTGRjNDU1eWc3TzF0WldWazZjT0NBaGc4ZnJodHZ2RkdXWlNrckswdTJiU3NySzB2MzNudXZ0bTNicHR0dXUwMlptWm42K09PUDllV1hYMnJac21XYVAzKyt1bmZ2cmpsejVtamd3SUY2N2JYWEhIdjhVTDd4c2cxQW1mRjRQT3JVcVpQKy92ZS9hOGFNR1lxTGl6dHFuYkZqeDZwSmt5YXFVNmRPWUZsT1RvNGVlZVFSMWF4WlV4TW5UbFJVVkZUUU5xMWJ0OWFqano2cW9VT0g2b1VYWHRDbGwxNnFYYnQyS1M0dUxuQ0VtNXVicStqb2FOMTk5OTFIM2VZSEgzd2dTWHJ6elRjMVlNQUE5ZTdkVzFPblR0WCsvZnZWdjM5L3RXM2JWalZyMXRSbGwxMm01NTU3THJEZDl1M2I5ZEZISDJuZ3dJRmw4dmpnekViaEFpaFQvZnIxMDlkZmY2M25ubnRPLy9qSFA0S3VTMDVPVmxwYW1tYk9uQmxZbHArZnJ4NDlldWpBZ1FOcTBxU0ordlRwbzZLaW9zQlBjWEd4b3FPakZSc2JxNnBWcTJySWtDRWFQMzY4dW5UcG9pNWR1a2c2ZEFUY3JWczNqUjgvWHMyYk56OXV2bGRmZlZYMTZ0WFQxS2xUVmFsU0pYMzIyV2V5TEV1clY2L1cvZmZmcnhFalJxaENoUW95eG1qdDJyVktURXdzK3djSlp5UUtGMENac2l4TGp6Lyt1UHIxNjZlZE8zY0dsdWZrNU9pZGQ5N1JmLzd6SDFXcVZDbXdQQzR1VG9NR0RWTHQyclZWdlhwMXhjWEZLVFkyVmhVclZsUnNiT3hSSnp4Tm5UcFZreWRQMWlXWFhCSll0bkxsU3UzYXRVdERodzQ5WnFaYmJya2xjT1JicjE0OVNWTHYzcjBEZVNVcElTRkI3Ny8vdnJadTNScjRqTGxQbno1cTBhSkZHVHdxQUlVTG9Jd1VGeGVyb0tCQWtsU3BVaVZObno1ZHNiR3hLaXdzVkVsSmlieGVyOTU4ODAzRnhjVXBMeTlQa2hRVkZhVUtGU3FvYjkrKzJyOS92NHFLaWdMNzgvdjl5cy9QVjM1K2Z0RHQvUG5QZjFiZnZuMkRsczJhTlV2ZHUzZlh0bTNiOU5KTEx3V1cyN2F0Tys2NFEwMmJOZzFhLzhNUFA5U2NPWE0wWjg2YzQ5Nm5vVU9IVXJnb014UXVnREt4Wk1rU2pSNDkrcWpsUHA4djhKYnZiOTEwMDAxNjVKRkhKRW1qUm8zU3FsV3JGQnNiZTh6OUcyT1VuWjJ0cFV1WEJuMDJ2SEhqUm0zWXNFRno1c3pSdmZmZXE5V3JWNnRqeDQ2U3BMZmVla3QxNnRUUkZWZGNFYlN2a3BJU1hYMzExWHJ5eVNjbFNWbFpXZHF5WlV2UWVxTkdqZUwzZEZHbUtGd0FaZUxhYTYvVnRkZGVlOVR5My81KzYvRTg4TUFENnRXcjF6R3ZLeWdvT0tvNGZUNmYvdld2ZituKysrOVhaR1NrSG4vOGNRMGVQRmpqeDQ5WFptYW1aczZjcVduVHB2M2g3Vzdac2tYVHAwOC9hdjlBV2FKd0FZU3RxVk9uS2lvcUtuRDAzS1JKRTQwY09WTDMzbnV2akRGNi9mWFhBNS9aSGs5bVpxYjhmcjhLQ2dwVW9VS0YweDBiWnlnS0YwQlltajE3dGo3NjZDUE5tREZEbG1VcEx5OVBuMy8rdWQ1OTkxMjFiZHRXaFlXRmV1U1JSOVMvZjM5MTZkSWw2RzNvbGkxYjZxeXp6cEowNk9nMk9UbFpkZXZXVlZKU2t0cTFhNmZycnJ0TzdkcTFVNE1HRGR5NmV5aUhLRndBSWVQNTU1L1grUEhqLzNBOTI3YTFlUEZpVFp3NFVhdFhyOWFISDM2b05XdldxRjI3ZGhvNWNxUXV2dmhpU2RMaXhZczFkZXBVUGYzMDArcllzYU9lZi81NWJkMjZWZG5aMlVwTFM5T3NXYk8wYWRNbTNYZmZmZXJUcDQvMjd0MnJMNzc0UXUrODg0NVNVMU4xMVZWWDZkWmJiMVhMbGkxUDkxM0hHWURDQlJBeWhnMGJWcXJQY0QwZWovN3puLzlJa3FLam85V3BVeWVOR1ROR3RXclZDdG9tTVRGUmlZbUpXcmR1blNRcElpSkNYMy85dFpZdFc2YjQrSGoxNnRWTDdkdTNWOFdLRlNWSlZhcFVVYytlUGRXelowK2xwNmZyNDQ4LzF2NzkrMC9YM2NVWnhuSTdBSEE2eERkci9aRGw4WXovODRBN05YTDRFTGZqQUNpRjdKdzllbmo0WS9wbTJYTDVqTGx1KzZhMUM5ek9WSmI0TG1VQUFCeEE0UUlBNEFBS0Z3QUFCMUM0QUFBNGdNSUZBTUFCRkM0QUFBNmdjQUVBY0FDRkN3Q0FBeWhjQUFBY1FPRUNBT0FBQ2hjQUFBZFF1QUFBT0lEQ0JRREFBUlF1QUFBT29IQUJBSEFBaFFzQWdBTW9YQUFBSEVEaEFnRGdBQW9YQUFBSFVMZ0FBRGlBd2dVQXdBRVVMZ0FBRHFCd0FRQndRSVRiQVlEVHhFalNqeHMyS25uNk8yNW5BVkFLQnc0VWFNZk9URW1TNWJlTXkzSEtISVdMOHNuV0xubWs3MWFzMUhjclZycWRCc0FKc2oyK0xMY3psRFVLRitYU2dUemYzQW8xSXY1dUdVODl0N09nYkVWNmRWYUVSM1Y5ZnBOWllsdVpidWZCYWVDeGwyZHNYditqMnpFQTRJeldwazJiRVJkZWVLRnAwNmJOYUxlekFDZUNrNllBQUhBQWhRc0FnQU1vWEFBQUhFRGhBZ0RnQUFvWEFBQUhVTGdBQURpQXdnVUF3QUVVTGdBQURxQndBUUJ3QUlVTEFJQURLRndBQUJ4QTRRSUE0QUFLRndBQUIxQzRBQUE0Z01JRkFNQUJGQzRBQUE2Z2NBRUFjQUNGQ3dDQUF5aGNBQUFjUU9FQ0FPQUFDaGNBQUFkUXVBQUFPSURDQlFEQUFSUXVBQUFPb0hBQkFIQUFoUXNBZ0FNb1hBQUFIRURoQWdEZ0FBb1hBQUFIVUxnQUFEakFjanNBQUJ4UDI3WnQyMG9hYzhTaXhwWmx0VERHYkpHMDVmQkNuODgzZXYzNjlTc2REd2lVRW9VTElLVFZyMTgvdGxhdFdobVdaVlgvdlhXTU1ibFpXVm4xZCt6WVVlQmtOdUJFOEpZeWdKQ1drWkZ4VU5JN2ttU01DYnJ1OEdWanpQdVVMVUlkaFFzZzVQbjkvbytQZDcxbFdiT2R5Z0tjTEFvWFFNaXpiZnRIWTB5cVpWbEhIdFhxMTh1cFBwOHZ6ZVdJd0IraWNBR0V2UHo4L0wyU3Z2MmRxNy8xKy8yN25Nd0RuQXdLRjBESVMwOVBMN1FzNjN0SmhWTFFaN2ZGbG1WOXYySERobnczOHdHbFFlRUNDQXUyYlg4dEtlaEkxcktzZmI4dUIwSWVoUXNnTE9UbjUyODB4dnozeUdYR21MVDgvUHlOYm1VQ1RnU0ZDeUFzcEthbUZobGozclVzUzBmOHZKV2FtbHJrZGphZ05DaGNBR0VqUHovL0UwaytTVExHbFBoOFBuNGRDR0dEd2dVUU5sSlRVM2ZidHYzVHJ4ZC9Ta2xKNGV4a2hBMEtGMEJZc1N4cnRDUVpZMTV3T3d0d0lpaGNBT0htSzJOTWltM2JTOTBPQXB3SWhoZWdYS3BidDI2RnFNbzFINVNzeW01blFkbXlaQ0tqSTZ6bWhTWG12N0tzUXJmem9PejVqYlp1Mzd4MnFpVGI3U3hsaWNKRnVkU3dXYXM3UEI3djIyN25RTms3Y29DQlpmRVVWbDc1amYvaWJadldyWEk3UjFtS2NEc0FjRHBZc21wS1VxUDRobXJSdkpuYmNRQ1VRbkZ4c1ZhdlRWRjJ6aDRabjZlRzIzbktHb1dMOHNxU3BNU3JPbW5rOENGdVp3RlFDdGs1ZS9UdzhNZVV2V3g1dVd3blRwb0NBTUFCRkM0QUFBNmdjQUVBY0FDRkN3Q0FBeWhjQUFBY1FPRUNBT0FBQ2hjQUFBZFF1QUFBT0lEQ0JRREFBUlF1QUFBT29IQUJBSEFBaFFzQWdBTW9YQUFBSEVEaEFnRGdBQW9YQUFBSFVMZ0FBRGlBd2dVQXdBRVVMZ0FBRHFCd0FRQndBSVVMQUlBREtGd0FBQnhBNFFJQTRBQUtGd0FBQjFDNEFBQTRnTUlGQU1BQkZDNkFNcE9YbHlmYnR2OXd2ZUxpWWdmU25MejA5SFR0MzcvL3FPVVpHUm5LenM0K2JiZGJVRkJ3MnZZTjkxRzRRRGt5ZCs1YzdkdTNUNUwwNnF1djZ0RkhIejJwL1d6Y3VGSFhYMys5akRHNjc3Nzc5TlpiYjZta3BDUncvZnZ2djY5Ly9ldGZRZHY0ZkQ3ZGV1dXQrdUdISDQ2Nzc4V0xGK3ZlZSs4TlhIN3d3UWMxYTlhc3dPVjE2OVpwMWFwVlFkc01HalJJR3pac0NHemZ1WFBuWS83MDZORWpzRTFtWnFhU2twS1VtWmtadEs4MWE5Ym9sbHR1Q2JvL3YvWFJSeC9wZ1FjZVVHRmhZV0NaYmR0Ni9QSEhOVzNhdEdOdXMySERCblh2M2oxd09UMDkvWGQvOHZMeVpJelJ6ei8vckRsejVtajA2TkZLU2tyU3NHSERWRkJRb096czdLTitqc3lDOEJUaGRnQUFaV1A1OHVXYU1tV0tyci8rK2xQZVY0VUtGZVR6K1dSWmxwNTc3am05OHNvcldyOSt2UklTRW81YWQ5aXdZVnE3ZHExczIxWmVYdDVSSlgvSkpaZm9uLy84cHlScDA2Wk5HanQyckNaT25CaTB6cjU5Ky9UaGh4OXE3dHk1S2l3c1ZOKytmWFhSUlJkcDc5NjlLaWtwa2MvbjA5NjllNVdkbmEzRXhFUWxKaVllTjc4eFJtUEhqcFhmNzllQUFRTUN5eE1URTdWeTVVb2RPSEJBTjk1NFkyQjVmSHk4SmsrZUhMajh0Ny85VFlNSEQ5YVNKVXNDajJkeWNySjhQcDhlZnZqaFAzejhiTnZXU3krOUZMVHNtMisrVVpzMmJSUVhGNmVrcENUdDJMRkQwNmRQVi92MjdkV3FWU3ZkZnZ2dGF0cTBxYVpPbmFyazVHUkZSUHp2NmJtNHVGaVBQUEtJZXZYcTlZZTNqZEJGNFFMbFJISnlzb3FLaW5UUFBmZElrbmJ0MnFXaW9pTDE3OTgvYUwzbXpac0hTbkh6NXMzcTI3ZXZQSjZqMyt5eWJWdVhYSEpKNFBKNzc3Mm4zcjE3Njd2dnZ0UCsvZnRWWEZ5czVjdVhhK0xFaWFwWHI1NGVmZlJSdFdqUlFuZmRkZGN4ODYxYXRVcERoZ3hScTFhdDFLSkZDMjNac2tYZmZmZWR0bXpab3BTVUZGMS8vZlVhUG54NDRMclBQLzljQ3hjdTFOcTFhNVdYbDZlUkkwZks2L1hxczg4K2s5ZnJQZTVqOGM5Ly9sTmVyMWZQUC8rOE5tM2FwRDU5K3Nqbjgybk9uRG1LalkzVm4vNzBKNzMrK3VzYU5HaVFvcUtpSkVsNzl1d0pLbUZqakZKU1VqUm16QmhKVW1GaG9TSWpJM1gxMVZkTGtzNDU1eHk5Kys2N1dyaHdvU1pObXFUaTRtTHQyYk5IM2J0M1YvMzY5Zlh5eXk4SFplcmN1Yk9HRGgycVpzMmFTWkplZi8xMVhYNzU1Um85ZXZSUitYdjI3S2xISG5ra2NIbklrQ0hIdmI4SUR4UXVVQTRzWGJwVTJkblpldWFaWndMTDVzMmJweDA3ZGdTOWZTdEpsU3BWQ3JwY3ExWXRmZmJaWjBITDl1M2JweTVkdW1qRmloVkJ5dzhjT0tBTEw3eFF5NWN2MTg2ZE8zWHp6VGVyYXRXcTh2djlXclpzbVFZTkduVE1mSnMzYjlidzRjUFZxMWN2YmQ2OFdkOS8vNzJlZlBKSmRlclVTVldyVmxWU1VsSlFVYTlidDA2clY2L1c4ODgvcjhMQ1FpVW1KbXJTcEVscTJiTGxIejRXTzNmdVZIcDZ1c2FQSHg4NFFtL1ZxcFVtVEppZ2Rldlc2UzkvK1lzcVZhb2tqOGVqcDU1NktuRDBYYTFhTmMyYk4wK1M5TXN2ditpKysrN1RKNTk4RXRqdndZTUhkY01OTitpamp6NVNiR3hzNEVWSysvYnQxYlJwVS8zMDAwLzY5Ny8vclFrVEppZ3lNdklQYytMTVErRUNZUzRySzB1alJvM1NxRkdqZFBIRkZ3ZVdyMW16Um9XRmhVSExTcXRDaFFyeSsvMHFMQ3hVVEV4TVlGL3QyclZUbHk1ZGxKZVhwNGlJQ0hYcDBrVlBQZldVRmkxYUpML2ZyM3Z1dVVmRnhjWHEwS0ZEVVBtZmQ5NTVldnZ0dC9YTEw3OW84K2JOdXZUU1N3TWxuNXljck9uVHArdW5uMzZTMSt0VlNVbUp2djMyMjhCUitJb1ZLMVJjWEt3REJ3NUlrbTY3N2JialpyL3h4aHVEUG1jZFBueTRSb3dZb2M2ZE8ydnMyTEVhUEhpdzB0UFROWFRvVVBsOHZzQjZsbVdwYXRXcWtoUTRZZXJ3WlVtQkkrRXFWYXFvUW9VS2dlVnhjWEdLaTR0VFFVR0JJaUlpRkI4Zlgrckh1YWlvS09na3JKaVltRkp2aS9CRDRRSmhMams1V1JkZWVLR3V2UExLazlwKzkrN2RRVzhkbjMvKytYcmpqVGRVcVZJbDVlVGtxRjY5ZXBvNGNhSVNFeFBWcmwyN29HMTlQcCtlZXVvcFpXZG42OG9ycjFUdjNyMjFhTkVpZmZIRkYwSHJXWmFsczg4K1d5VWxKZXJVcVZQUWRYZmZmYmM2ZE9pZzNOeGNHV1BrOFhnMGNPQkExYTlmWDlLaGs2U3FWYXVtRjE1NFFWZGVlYVVtVEpnUTJEWWpJME9qUm8zU2E2KzlGbGhXc1dKRlNWSnVicTRtVDU2c0pVdVc2TEhISGdzOFBzbkp5Um8zYnB4dXVlVVc5ZS9mWHoxNjlGQnNiT3hSajh1eDNtWXZqY3pNVE0yZE8xY0RCZ3o0d3lQZHI3NzZLdWdFc2F1dXVrbzFhOVk4cWR0RjZLTndnVEIzK0RQYTFhdFhCeTNQek14VWJtN3VVY3NiTm15bzZ0V3JTenAwaEJVZkg2OFBQdmhBMHFFVGU5NTQ0dzFKVXAwNmRiUno1MDd0MnJWTDI3ZHZENXl3azU2ZXJnMGJOdWpiYjcvVi9QbnpOWG55WksxWnMwWmp4b3hSVVZHUmZENmZiTnRXVVZHUkpNbnI5UVpPQUhyMTFWZjExVmRmSGZYNTVtKzk5ZFpia2c2OUdOaXdZWU9hTkdtaS92Mzc2NVZYWGxHZlBuMlVscGFtQ3k2NFFEVnExSkRYNjFYTm1qWDF3dzgvNkpKTEx0R2VQWHYwcjMvOVM1OS8vcm02ZGV1bXVuWHJhdXpZc1JvN2RtelFiYlJyMTA3ejU4L1h5eSsvckp0dnZsbVN0R3paTWttSFhrams1K2VyWjgrZWdmV05NWktrTys2NFE1WmxTVHIwWXVHR0cyN1F3WU1IdFhMbFN1M2N1VlAvdjUxN0M2bXF6ZU00L3R2Ylhidk0xQmdTYzB5VU5Da2kzWGtoRlY1MFVqcGFYUmgwZ0pIWlpBVmlVMWhoZHBDS0JKRlJKS2lJb1haWjJRbFNxYXpvSnFMZWpreW9VOUhCckt4c0dzdERhYnEzY3lHdTExMit2Um0xemZwKzdseUx0Znl6Rkg0OHovTi9uc1RFUk1YR3hzcnBkUDVwNE1iSHgzK3locnRyMTY3UFBvTytpOEFGK3JpZ29DQlZWVlVwTHkvUDdYcG4wOVRIMSsxMnUrTGk0aVIxN1B2MDgvTXo3alUzTnh2VHBXRmhZYXFzckZSeGNiR1dMVnVtQVFNR3FMeThYQ2twS1FvSUNGQkVSSVRXcjErdjI3ZHZ5OC9QVDRzWEx6YmUwZHpjYklSVlltS2lsaTVkS3FsakhYVHQycldhTVdPR0pLbWlva0ptczFtalJvMHlhcGc1YzZheGwzZmZ2bjJhUEhteWJ0MjZKVDgvUHprY0R0WFcxaW8xTlZYSGpoMHpubWxvYU5ES2xTdDE4T0JCRFJzMlRQNysvaW9xS3BMVmFwV3ZyNitram5WdUh4OGZvOU82b2FGQno1OC8xL3YzNzJXeFdEUmt5QkRObVROSGtuVDc5bTBkUEhqUWJWcThwYVZGeWNuSnlzcktrdFZxbFNRRkJBVG81TW1UeXNuSlVmLysvZVh2NzY4REJ3NG9JQ0NnaDM5Ri9Bb0lYT0FuRUJvYXFuMzc5cmxkMjdObmp4NDhlT0FXR2grcnFhblIwS0ZEalo4YkdocU1waXFiemFiOC9IelpiRGJObno5ZnJhMnRpb3lNMUlVTEYxUlNVcUlIRHg0b01EQlFnWUdCaW8rUFYzVjF0VUpDUW93cDVmVDBkSm5OWnJkMTBJK2RQWHRXM3Q3ZWJvSGIxWnMzYjJTMzI0MVJ1c2xrVWxGUmtlTGk0aFFjSEt5cXFpcEpIV3V0VTZaTTBmNzkrNVdabWFtVWxCVGR2SGxUT1RrNUtpd3NsTmxzVm1Oam84ckt5b3pBTFN3c1ZHVmw1U2ZiZDZTTzJZSVJJMFlZSGNYUzc0ZFNoSWVIdTYzaFJrUkVLQ2NuUjc2K3Zzckl5UGlxc0cxdGJkWFZxMWRWWFYzZDdmMVhyMTc5YVdjMmZud2NmQUg4d2g0K2ZLaVJJMGNhSno5VlZGUVlnV0d4V05UYzNLelUxRlJKSFNQRURSczJHS083cm80ZVBhcFZxMWJKNlhRYTF3NGZQdnpKTk83SFhyNThxYWFtSnJmbnVzckl5SEFMN1ByNmVoMC9mdnlUclU2U2xKU1VwTkxTVXRYVjFVbVN4bzBicDBHREJxbWtwRVNTTkdIQ0JGMjZkRWx0YlcycXE2dlRpUk1udEdiTm1tNS9iMmxwcVdKall6OWJlNmZSbzBkci9Qanh4alR6bDJwcGFkSERodytOaHE3YzNGeTNVTTNMeTlPOGVmT1VrSkNndTNmdmFzeVlNVDE2UDM0OGpIQ0JQcTZ0cmEzYndISTZuVzVycVYxWkxCWjVlWG5wNHNXTDJyUnBrNVlzV2FMSGp4L0wxOWRYdTNmdjFyVnIxNVNmbjYrWW1CaWRQbjFha1pHUmV2YnNtVEU5MjlXZE8zZTBZOGNPN2R5NTB5MHc3SGE3RmkxYXBOTFNVczJhTlV1U05IWHFWSVdGaFVtU3lzcktkT1hLRllXRWhDZ2hJVUhUcGsxVFFrS0NGaXhZWUlSczE1R2tKTzNkdTFmUjBkSGRocytZTVdNVUhoNnVZOGVPR1Z1aDB0TFNqTkd4bjUrZnNyS3k1SEs1VkZCUW9LU2tKS014cTZzalI0N295Wk1ubWo1OWV2Y2YvQnNwTHkvWHZYdjNGQklTb29LQ0FrVkhSMHY2ZlExMzd0eTVpb3FLa3BlWGw4TER3eFVVRlBSZDY4SDNSK0FDZmR6R2pSdDE0Y0tGUDd6ZlhmZnlpaFVyRkJFUm9ROGZQc2htczhuaGNLaWxwVVdEQncvVytmUG50WG56Wm1WbFpXbnMyTEZhdkhpeHdzTENkUG55WlUyYU5FbXZYNzlXZFhXMUxCYUw2dXZybFphV3B0V3JWeXM4UEZ4U3h4NVdpOFdpL3YzN0t6TXpVK25wNlpvOGViTHUzNyt2OXZaMm5UcDFTcG1abWZydzRZTnljM01WRXhPanAwK2Y2c3laTTlxMGFaTmFXMXRWVjFlbmhRc1h1azEzUzFKd2NMRGk0K05WVjFjbnE5V3FlL2Z1dVhVWXA2U2t5T1Z5YWZueTVjWlJrSkxjdXBnbHFiR3hVZDdlM2taejFvb1ZLN1Jnd1FLZFBIbFN1Ym01MnJwMXEzeDhmTDdvKzdlMXRhbTV1VmsxTlRWdXAwTkowcU5IajlTdlh6L1YxdGJxN2R1M2JyV21wcVpxNE1DQkNna0o2ZmE5b2FHaFBkcGloQjhmZ1F2MGNaMEhOL1NVdytGUVNrcUtUQ2FUckZhck1WWDg3dDA3WldWbGFlclVxVVJzOTBnQUFBS1hTVVJCVkpLay9QeDhiZG15UlM2WFN4TW5UdFRzMmJNMWFOQWdaV2RueTlmWFY5bloyYkxaYk5xeFk0Y2NEb2NzRm91MmJkc21TWXFLaWxKUlVaRzh2YjExNk5BaHZYLy9YaU5HakZCNmVycHNOcHNSVU1IQndiTGI3YkxiN2JwKy9icEtTa28rQ1M5SlJpUFd1blhyZE83Y09RMFlNTUR0RktiT1pyQ3YyU0xsY3JsVVhGeXN0V3ZYYXRxMGFWLzgzSXNYTDVTWW1DaXoyYXprNUdTM2U5dTNiOWVOR3pka05wc1ZGeGVuNGNPSEcvZTZyZy9qMTlDelJRZWdqd2lOSEx2U1pEYi84KzkvVzZMMWF6Z1dyenN1bDBzbWs2bkhhNCtmNDNRNiszUnp6OWZXMzlsVi9VZEhaSDd0bnQ1ZnpYOWYvMC8vV0pPaFM1ZC9VMXQ3ZThLVE8vOCsyOXMxZlV1TWNJRmYxUGNJZ2I0Y3R0TFgxLys1YjBuWW9oUC9DUUFBZUFDQkN3Q0FCeEM0QUFCNEFJRUxBSUFIRUxnQUFIZ0FnUXNBZ0FjUXVBQUFlQUNCQ3dDQUJ4QzRBQUI0QUlFTEFJQUhFTGdBQUhnQWdRc0FnQWNRdUFBQWVBQ0JDd0NBQnhDNEFBQjRBSUVMQUlBSEVMZ0FBSGdBZ1FzQWdBY1F1QUFBZUFDQkN3Q0FCeEM0QUFCNEFJRUxBSUFIRUxnQUFIaUFwYmNMQUw2VGRrbXFxUHlQL3VVbzdPMWFBSHlCcHFaM3FubitRcEprY3ByYWU3bWNiNDdBeGMvSnBWcVpwU3RYcit2SzFldTlYUTJBSG5LWjIxNzJkZzNmR29HTG4xTFRtN1lTNzc5WTBrM3Q1ci8yZGkwQWVzanMrdTNwM2ZLSzNpNERBQUFBQUFBQUFBQUFBQUFBQUFBQUFBQUFBQUFBQUFBQUFBQUFBQUFBQUFBQUFBQUFBQUFBQUFBQUFBQUFBQUFBQUFBQUFBQUFBQUFBQUFBQUFBQUFBQUFBQUFBQUFBQUFBQUFBQUFBQUFBQUFBQUFBQUFBQUFBQUFBQUFBQUFBQUFBQUFBQUFBQUFBQUFBQUFBQUFBQUFBQUFBQUFBQUFBQUFBQUFBQUFBQUFBQUFBQUFBQUFBQUFBQUFBQUFBQUFBQUQwRWY4SFFVWDErNGd1NU5BQUFBQUFTVVZPUks1Q1lJST0iLAoJIlRoZW1lIiA6ICIiLAoJIlR5cGUiIDogImZsb3ciLAoJIlZlcnNpb24iIDogIjgiCn0K"/>
    </extobj>
    <extobj name="ECB019B1-382A-4266-B25C-5B523AA43C14-2">
      <extobjdata type="ECB019B1-382A-4266-B25C-5B523AA43C14" data="ewoJIkZpbGVJZCIgOiAiMjY2NDUyMTAxNDk1IiwKCSJHcm91cElkIiA6ICIyMjQyMjg3MjQ1IiwKCSJJbWFnZSIgOiAiaVZCT1J3MEtHZ29BQUFBTlNVaEVVZ0FBQWR3QUFBTkxDQVlBQUFEclh5d25BQUFBQVhOU1IwSUFyczRjNlFBQUlBQkpSRUZVZUp6czNYMmN6UFgrLy9IbloyWXZXZGRFaU0xRkxzckZkdW1pMUVvWFN5VkNKY1hwMU9HVVRvVWpwWkpEcDA3cVNOUnhVVnVwaUs3NVVhSG9xeElSbGx5ZGJWdHM3TEpyRjJ2dHhjem4vZnRENXBoSWkvWDV6S3pIL1hiYlcrWXpuODlubmpNeHovbk1mSFplRWdBQUFBQUFBQUFBQUFBQUFBQUFBQUFBQUFBQUFBQUFBQUFBQUFBQUFBQUFBQUFBQUFBQUFBQUFBQUFBQUFBQUFBQUFBQUFBQUFBQUFBQUFBQUFBQUFBQUFBQUFBQUFBQUFBQUFBQUFBQUFBQUFBQUFBQUFBQUFBQUFBQUFBQUFBQUFBQUFBQUFBQUFBQUFBQUFBQUFBQUFBQUFBQUFBQUFBQUFBQUFBQUFBQUFBQUFBQUFBQUFBQUFBQUFBQUFBQUFBQUFBQUE0Y3B5T3dES3BZanFUWnBVcU9TTnZ0akljN0hIOGxSek8xQ1lLcmFOdGQ1WFVyeDhSNHd5dFdGRHNkdUJBSnc4Q2hkbHF2NTViZXBGZXN4OWt2V0FMS3VTMjNuS0EyT01MVXR2MkNXK0Y3YWwvcmhSa25FN0U0QVRGK0YyQUpRckVaRWVjNThzYTVoa1JkV3ZWMWZuTldtaTJOZ1l0M09GSmIvZnJ4MlpXVnIvNHdhUGJkdDNlU0lpcWxWcjFPaFB1V2xwZTkzT0J1REVjWVNMTWxPclpjdTRpaWJxUjB0cU1PRE92bnJ5MGIrN0hhbGNTRm0zWG5mY1BWQUhEaFRJK095KzZmOU5tZWwySmdBbnp1dDJBSlFmVmVKcW5oMFpFVEdxK1hsTk5mWGxGOTJPVTI3VXJuMldQQjZQdmxtMlhNWlM5TjdzTEFvWENFTWV0d09nL0lpS2p1Z29TUzJhTjNNN1NyblQ4dGZIMUpJYXVod0Z3RW1pY0ZGbUxHT2RKVWtWWW1QZGpsTHV4TWJHS0NJaVFwSTRFUTBJVXhRdXloNW5CcHdHRmc4ckVPWW9YQUFBSEVEaEFnRGdBQW9YQUFBSFVMZ0FBRGlBd2dVQXdBRVVMZ0FBRHFCd0FRQndBSVVMQUlBREtGeUV0ZW5UcCt2bm4zOCtyYmZoOC9uazgva0NsL2ZzMlJOMEdRQktnOEpGMk1yTXpOUXJyN3lpU3BYKytOc09zN0t5U3YxVFdGZ1l0TzI4ZWZQVXQyOWZTWWRHNXQxeHh4MzY0b3N2VHN0OUFsQitNUThYWVdQR2pCbWFNbVZLNFBMaEk4OWJicm5sZDdjWk1XS0VrcEtTMUxObno2T3VLeXdzVkhSMHRDd3IrRXNUeDQ0ZHE4VEV4TURsdVhQbjZwcHJycEVrTFYyNlZBVUZCYnJxcXF0TzllNEFPTU5RdUFnYmZmcjAwYzAzM3l4SjJyNTl1L3IzNzYrMzNucExEUnYrL2dDZHFLZ29TZEkzMzN4ejFIVlhYbm1sWG56eFJTVWtKUHp1OWhrWkdVcEpTZEhUVHo4dFNabzFhNVo4UHArdXZQSktTVkowZEhUUStzT0hEMWUzYnQxTzdJNEJPQ05RdUFnYkVSRVJpb2lJa04vdjF3c3Z2S0IyN2RxcFJZc1dwL1UyWjgyYXBiUFBQbHUxYTlmV2dnVUx0R1hMRnMyYk4wK3paczFTVVZHUi92YTN2NTNXMndkUWZsQzRDRHN2di95eVZxMWFwYmk0dU1DUjVwRjhQcCthTld1bTVPVGtVN3FkclZ1M2F2YnMyYXBUcDQ3MjdkdW5jZVBHNmU5Ly83dXFWcTE2U3ZzRmNHYWljQkZXWnN5WW9Sa3pac2pqOGVpcnI3NDY1anBMbHk3VjY2Ky9mc3EzOWNJTEx5Z2hJVUU3ZCs2VVpWbnEzYnUzcnIvKytzRDE3Nzc3cmo3KytPUEE1UVlOR3VpTk45NDQ1ZHNGVUQ1UnVBZ2IwNmRQMTVRcFUvVDAwMDlyK1BEaGdST1pmcXU0dUZpTkd6YytwZHZ5K1h6S3ljblJpQkVqOVBqamo2dFNwVXI2eTEvK0VyVE9iYmZkeGx2S0FFcU53a1hZaUlpSTBMaHg0OVN5WlV0NVBCNHRYTGp3bU91VnhSRnVSRVNFcGsyYnBoMDdkcHpTZmdEZ01Bb1hZZVB3NzhMbTVlVTVjbnNWS2xRNDd2V2ZmZmFaMXExYkY3UnM4dVRKOG5xOXB6TVdnREJGNFNJczJiWjlXdDlTTG8xMjdkb0ZYZ1FjUnRrQytEMFVMc0xTaWJ5bG5KK2ZmOHl2WWpUR0tEOC8vNWhIekZXcVZEbnFDekYrcTJyVnFtclNwTWtKSmdkd3BxSndVUzRVRmhZcUxTMU5VVkZSK3ZMTEwxV3hZc1hBZGNPSEQ5ZmF0V3VQdWQySUVTT091WHpldkhuOCtnK0FNa1hob2x6dytYeDY0b2tuSkVtVksxY09PbnY0bFZkZWNTc1dBQVJRdUFnN1ZhdFcxZmZmZngrMExDNHVUaDk4OEVHWjMxYVRKazMweVNlZkhMVjg0TUNCWlg1YkFNbzNwZ1VCQU9BQUNoY0FBQWRRdUFBQU9JRENCUURBQVJRdUFBQU9vSEFCQUhBQWhRc0FnQU1vWEpRWlkxUXNTWDZmMyswbzVZNXQyN0tOa2FRU3Q3TUFPRGtVTHNxUStWbVNkdTNlN1hhUWNtZDNkbzc4ZnI4a3BibWRCY0RKb1hCUlpnNldtQjhrYWRtSzc1VzNkNi9iY2NxVnVmTStsU1FabVhWL3NDcUFFTVZYTzZMTVZERDVlNDFkZWY3Qmc0VmRiKzkvang2OGI2RHExajFiRVY3K21wME0yOWc2ZUxCUWMrWjlxb1ZmTHBHUmNpeS81eDIzY3dFNE9jZWZQd2Fjb0hQT2EzMkZ4Mk9OOTFqV1JSNlBSMVdxVkZaVVpKVGJzY0tTYmR2SzI3dFhKU1VsTWxLZU1XYk1Way9KSkczWVVPeDJOZ0FuanNKRldmUFVQZSs4NmxHZTJBY2tkYktraTJSWmxkd09kU3hleXlnNndpUGJOaXIwR2VrUDV0ODZ6cGhpWTZ5TmtsbmxsLzgvMi8yRjY1U2FXdVIyTEFBbko4U2VZUURudEduVDVobXYxenZDR0NPZnozZnh1blhyVnJtZENVRDV4VWxUQUFBNGdNSUZBTUFCRkM0QUFBNmdjQUVBY0FDRkN3Q0FBeWhjQUFBY1FPRUNBT0FBQ2hjQUFBZFF1QUFBT0lEQ0JRREFBUlF1QUFBT29IQUJBSEFBaFFzQWdBTW9YQUFBSEJEaGRnQ0hlZXZYUDcrS1ZURXFKc0tqU0xmREZCVVZtU2hieFQ3ZnZyMFpHUmtIM2M0RGhDQnZ2ZWJOcThvWEZSc1Y2Zlc2RmFLb3FNajRqS2NvcWlSdkgvOVdjYkxPbU1JOXAxbEMzUWlQL1djamRiT01hU3lwcHR1Wm9xT2pTb3hNWnFTcCtYOE5tOVY0YmV2bXRmOG55ZTkyTGlBVXhKL1hxcms4M3JzczZScEY2RHpKVkhZclMzUlVaSEdVbEdHaWFuemI4THhxTTdadThYOGhiU2gyS3cvQzB4bFJ1UEh4OFRIeW1GY2tLeW1oVGV1b1h0MXZWTk9talZXeFFnWFhNdmx0dnpKKzJSRzU0dnRWNTh5Wi8xbmZQYm01VjhlZjEzcEUrcGFVTjEwTEJZU0ljNW9sMUpYSFRKRlJ4dzd0TC9QZTFQVjZOVy9XVkJFUnpqOWxHUmxsWmUyS1dyTDBtMFlmZkR6MzNJS0NnNTNqei9QZW43NUZIenNlQmdocFRacEVOMnpSNXEzbWJTOHpMMDk1MVlTaS82YW1tVzQ5YnpPTldpYVloazFhdFpka3VmMnduUW5hdEduenpJVVhYbWdTRWhKTXExYXRMbkk3RHc2Smo0K1BpVy9SOXVNTEx1NWczbm4zUGJmL2VRYkp5dHBsa3JyM051ZTJUTWcvcDhrRmpkMStyQkJleXYxSlUvR2VpdmRGZWlQNjNUUGdUdjI1ZnorMzR4eFRrOGJuYXV5b2thcGZyNjZzQ00vTDhjM2JOblE3RStBV0UxMzU4WXF4c2QwZisvc1E5Ym5sWnJmakJLbFZxNmFlR2ZPazRzK3BYOEVUNGYyNGZ2M3pxN3VkQ2VHalhCZHU3Y2F0ejVKSGZhcFhxNmE3N3JoTjBkSFJia2Y2WGEwdmFLbDcvblNYWkZuTmJGdlh1SjBIY01NNXpaclZ0U3hQdjBibnhxdnI5ZGU0OGhieThWaVdwUXRhdGxEUG0yK1NSMnBxVllqZzN5cEtyVndYYnJUSHV0U1MxYmpIVGQxVXEyWU50K01jbDhmalVjK2JibEQxcWxVcmVEeTZxbjc5K3JGdVp3S2NaaW5tY2xtcTJmVzZhMVNsc212blNCMlgxK3ZWN1gxNldsSFJVZEVlcjdyVnJ0MjZvdHVaRUI3S2MrRkdXRjVkVjZWSzVWcjNETGl6ekhlK2R1MWFkZS9lWGRuWjJXVzJ6NG9WSytqMlByZElsdW5zclZTcGFwbnRHQWdEdFdxMWpQTllWbEwxYWxVcjl1blZvMHoydVhmdlhqMzY2S082L1BMTDFhVkxGMDJkT3JWTTlsdWplblgxdXJtN0xGa2RvaXRaOFdXeVU1Ujc1YmR3bXpUeFdzWnExTDdkcGFwWmhrZTM2OWF0MDhNUFA2eUJBd2NxSXlPanpQWjcyTldKVjhxU1ZVZDJaSXN5M3prUXdxdzRUMFhKTkx6NnFpdFZ2VnJadk41ODdMSEh0SFBuVHIzeXlpdjYyOS8rcHRkZWUwMXo1c3dwazMzM3U3MlBaQlR2dGV6UWZ2c01JYVBjRm03dC9SVWlqR1VhbFBYYlVnc1dMRkMxYXRYMDdMUFBsdWwrRDZ0U3VkS3ZMeEE4WjUrV0d3QkNWR3lVcDRLa3VtVlZ0cHMyYmRKMzMzMm4wYU5IcTNYcjFycnBwcHQwNDQwMzZyMzMzaXVUL2RjOXU0NHNTMTVqZVRseENxVVNXbWNrbENHN2hzK3k3TWhxVFpzMEt0UDlEaGt5UkpabGFjT0dEV1c2MzhNaUl5TlZPYTZTZHUvT1B1KzAzQUNPeVJoVEp5RWhnYlBEeTE3SjZ0V3JkNVJtUlo5bFJVWktWYzV2MmJ4TWJuamx5cFdxVjYrZUdqYjgzLy9XU3krOVZKOTg4b2w4UHQ4cG41RGw4WGhVdlhvMTVXVG44dmNHcFZKdUM3ZFNZYUhYUkVmVnJsdW5UcG51MTdKTzc2L0lSa2RGcVhyMWFrcE5TNi83ZStza0pDUzBsUFNOWlZsOHpuc0tqREdTRHYwL2pZcUsrbjh1eHltWGpERzdtemR2M21MVHBrMDVmN1J1bFBISEdDdWlWb1A2OWN2a3RqTXlNbFMzYnZBL283UFBQbHUyYlNzN08xdDFUdkc1d2JJc3hWV3NxSnpzM0dhbnRDT2NNY3B0NFVxU01iSThuakQ3RGdsTE90VHA1bmVEMjdaOW1kZnJyV3FNeVpkVWRtZHRuV0dNTVpHU2FraXlqVEZiTE12eXVaMnB2RERHeEZpVzFjaXlyRnBSVVZGblMvckR3cFV4bGl4amVUeGw4MGxYUVVHQlltT0RUL2FQaVltUkpKV1VsSlRKYlVpU0xPUGFkendqdkpUYnd0MFhHV25IeVdSbTdOaFp6KzBzSjZLb3FGZzVPYm15TFAxeW5OVU9EMTc0dkxpNGVJUVR1Y296cjlkYm1KS1NVdlpud0ozQkxyend3aWJHbVBja3RmWDcvYVVxcENMTFd4aGxhVmY2dG0xMVdsM1E4cFF6UkVaR0hsV3NSVVZGa3Y1WHZLZkNHS1A4QXdXU3NVN1A1MHNvZDhwdDRYcnpvbTFWVTE3YXorbGhWYmdsSlNYYWZ5QmZ0cTNVMzF2SDYvVmFrbVJaMXY0ZmYvenhkOWNEd2tta1ZDeWpmWnMyLzdmT2pWMnZQK1g5blhYV1dVcEpTUWxhbHBXVnBhaW9LTldvY2VvbkZ0dTJyZHpjWEJuYmJEL2xuZUdNVUc3UFVzNnFWT0NUWlczYnQyKy8yMUZPU0g3K0FlM2VuUzBaZTZmYldRQW5IU3kyQ3lUOWtwdTN0MHoyMTdwMWEvMzg4OC9hdlh0M1lObUtGU3QwMFVVWHFTemV0dDYxTzF1MmJkdWVDSnVQZFZBcTViWndsWnJxTjhiOHRQVGJaY3JPL3VPUGowTEZnaThXeThoa1doRytIOTNPQWpqSjVOc0hKR3ZyNTR1KzFKN2N2RlBlMzZXWFhxcHp6ejFYbzBhTjBxWk5telJ2M2p6Tm1UTkhBd1lNS0lPMDBodHZ6NUNrLy9wTEtGeVVUdmt0WE1sbkdYdlIzcng5MlcrK004dnRMS1ZTVUZDZzl6NzhSTEwxVmNuZXZXWHpNaDhJRTd0M2I4ZzM4aS9jazV0YjhORW5wMzdTdU5mcjFmang0K1gzK3pWZ3dBQk5tVEpGVHp6eGhDNisrT0pUM3ZlZTNEeDlOR2VlSkgzcjhSMUlPK1VkNG94UWJqL0RsU1FWK1pjcnh2dnpleDk5WFBOUGQ5NnU2dFdybGRtdVc3WnNxVldyVnBYWi9vd3grbitmTHRDdTNka0hKZlBWamgwN0NzcHM1MENZOFBtcy80dUtORGx6NW45V29VK3ZtMVVwTHU2VTlsZS9mbjFObVRLbGpOSWRZdHUyWm4vd2tRNFdGQlFabVhsYjA5TUx5L1FHVUc2VjV5TmNwYWR2eUxSbDNzM0p6dEhVMTZjSHpsQU1SU25yZnRUTFUxNlZMTE5KbHVkVHQvTUFidmdsTlNWRHhyeVZtdnFUUHBrN1h6NWZhUDJtbGpGRzYzN2NxTmtmZkN4YitxOC8zNy9ZN1V3SUgrVzZjQ1dwTU5kTThkbjJlKys4TzF0dno1enRkcHhqK2psOXE4WThPMDRadit5UXNjMnc5RTFydHJxZENYREwvdXlpWndzS0MrZVBuL2dmZlR4M3Z0dHhnbVRuN05Ib3AvK2xyZHN6Q3Z6RmR0K01qQi8zdUowSjRhTjh2NlVzS1NzcjVVRDl5UHI5ODAzTnFrOC85Ky9FQlY4c2liaTl6eTFxM3F5cDRpcTZOMVhMNy9kcjIvWmY5TzEzeXpWOXhpeFRjUERnWHR1WVI3WnRUdm5TdFZCQUNNak8zcncvdW1ycmdUbTVlUi85L2JFbkw1ei8yVUxQTFRmZnFKWXRtaWt5TXZLUGQxREdqREhhbVptbFJWOHUwWXpaSDVpQ0F3VTVmdU8vTHlOdDNUckh3eUNzbGZ2Q2xhU01qSXlEOWMrcjhhZElyKzVlc1dyVkRkK3YvS0dSTE5WME81Y3hPaWhwdDZTdmpiRmYyN1k1NVN1M013R2g0SmZVbEl6NDgxcmRLWS8zcnNYL3QvVGFKZi8zZFZOWmNuRkFyaWsyUmhuRzZGdmIwdHZiTjYvN3dyMHNDRmRuUk9GS1VzYVd0YjlJZXFiK2VXMlNJK1N2WkNraTJ1MU1mcS9mYjRyOWhRVlcwYTQ5cWFuNzNNNERoSkwwTGVzMlNScFZyMG5yVjd6eVZQWjY1UHpoN2E5S1BIN2I4cG1DQXlyY3piOVZuS3d6cG5CLzVmdTFlQUdFaDVKZlV2bmFUWlFQNWY2a0tRQUFRZ0dGQ3dDQUF5aGNBQUFjUU9FQ0FPQUFDaGNBQUFkUXVBQUFPSURDQlFEQUFSUXVBQUFPb0hBQkFIQUFoUXNBZ0FNb1hBQUFIRURoQWdEZ0FBb1hBQUFIVUxnQUFEaUF3Z1VBd0FFVUxnQUFEampUQnRDSHBkYXRXNS9yOVhyN0hMSG8wbC8vZTBGQ1FzSWpoeGZhdHIxZzdkcTFxNTFOQndBb0RjdnRBUGhqYmR1MnJXcFoxaStXWlZVNHptb0Z4Y1hGcmRldlgvK1RZOEdBSXlRa0pJeVFkT3V2RjZNdHk0cVhGQ3Rwc3pIbTRLL0wwd29LQ2daczNyeDV2eXNoQVJmeGxuSVlXTE5tVFo0eDVrdEpNc1ljOWZPcmRkSFIwVHZkU3dub3Y1Wmx0YklzcTYya0ZzYVkyRi8vamphVDFOYXlyTGJHbUgyVUxjNVVGRzZZc0cxNy9QR3VOOFo4dm1yVnFpS244Z0MvNWZQNWZqVEcvUHdIcTAxekpBd1FnaWpjTU9IeitWWVlZOUl0NjlDbkFFZisxeGlUWjl2Mjk1TDhMa2JFR2U3QWdRTTdKVzA1Zk5teXJNRGZVMG15YlR0dHpabzFLOXpJQm9RQ0NqZE14TWJHRmtuNjdIZXVUalhHL09oa0h1QzMwdExTOWhwajF1alhGMzVIZk53aHk3TGs4WGhlaytSektSN2dPZ28zVEt4YXRhckV0dTNGeHBnQ0tmakpUTkxhbEpTVWRIZVNBZjlqalBsVVV0RVJsdy8vOGFEUDUvdTlGNHpBR1lIQ0RTTzJiVytVOVBPUmI5UDl1bnkrSkhQTWpRQUhSVVJFTExkdGUvdVJ5Mzc5MkdOZGNYSHhWcmR5QWFHQXdnMGpCdzhlM1BMYnQ0Nk5NWHNPSERpd3lLMU13SkZXclZwVjR2RjQzanJ5UmFFNVpOR21UWnYydVJnTmNCMkZHMFpTVTFPTExNdGFJUVdka0xJd05UV1ZKektFREovUE44MFlrMy80c21WWit5VjlMNm5FdlZTQSt5amNNRk5TVWpKZi96c3B4Ylp0ZTVMTGtZQWdLU2twdXlSOWZmaEZvVEZtbDIzYks5M09CYmlOd2cwejY5ZXYzM2pFN3pydVhydDI3ZGV1QmdLT3dSanpydm4xakNsanpKYVVsSlFNdHpNQmJxTnd3NURmN3g4alNjYVlPVzVuQVk3RkdMTlJVdDZ2ZjM3ZjVUaEFTS0J3dzFCS1NzcDBTZHNzeTFyZ2RoYmdXSXFMaTdkTFdtV01PYkI3OSs1WmJ1Y0JRZ0hEQzA1Q3RVYU5xbFNKaW50WXhsUEZyUXdWSW5WeGtkLzg3TGV0SExjeVNKSnRtVTNiTnEyZEtuNHRDYitSa0pBd1dsTEQxYXRYRDNBN0N4QUtLTnlUME9DODFuZDV2WjQzM2N4dytBc0ZmdnM3dVM3a01BZExUSjJzbjFKMnVSb0VBUTBhdEtybXFXQU5rcXpLYnVhSTlPZ2NZNnZZSjJXNUZzSzJDbTI3NUwxdHFUOXVjQzBEOEN2bTRaNEVqNlZxa3RRb3ZxSGF0bW50ZGh4WDdNL1AxL0lWSzdWdi8zN0w2N1dyUzZKd1E0UW4xbk9yWlZuL2REdUh6eGdadWZ5aTBDdFpIbTg5U1g5eEx3UndDSVY3Y2l4SmF0L3VVbzE1OGpHM3M3Z2k3ZWQwM2ZmZ01PM2J2MS9HR040cENTV1dxU1paYW41ZVU3VnMwZHp0Tks3Wm1abXBaY3UvbDNUb0JUTGdOZ29YS0dlTVpGbVN1blMrVWtQK2RyL2JjVnl6Nk1zbGh3dVhGNFFJQ1p5bERBQ0FBeWhjQUFBY1FPRUNBT0FBQ2hjQUFBZFF1QUFBT0lEQ0JRREFBUlF1QUFBT29IQUJBSEFBaFFzQWdBTW9YQUFBSEVEaEFnRGdBQW9YQUFBSFVMZ0FBRGlBd2dVQXdBRVVMZ0FBRHFCd0FRQndBSVVMQUlBREtGd0FBQnhBNFFJQTRBQUtGd0FBQjFDNEFBQTRnTUlGQU1BQkZDNEFBQTZnY0FFQWNBQ0ZDd0NBQXloY0FBQWNRT0VDQU9BQUNoY0FBQWRRdUFBQU9JRENCUURBQVJRdUFBQU9vSEJEekYvLytsY05IVG8wYU5tQ0JRdlVxVk1uRlJVVnllZnphY0tFQ2JyNjZxdlZ1WE5ualJ3NVVubDVlWUYxWjg2Y3FadHV1a250MnJYVExiZmNvdHpjWEtmdkFzcXh3c0pDWFhIRkZab3hZMGJROG1lZWVVYjMzMysvSkNrbkowZkRodzlYeDQ0ZDFhMWJOMDJlUEZsK3Z6K3cvVFBQUEtNdVhicW9RNGNPR2pKa2lPUDNBWEFMaFJ0aWtwS1M5TjEzMzZtd3NEQ3c3SXN2dnREVlYxK3Q2T2hvdmZ6eXkxcTZkS21lZmZaWlRabzBTWm1abVJvN2Rxd2s2WnR2dnRHTEw3Nm9oeDkrV08rODg0NzY5ZXNueTdMY3Vpc29oMkppWXBTWW1LZ2xTNVlFbHRtMnJjV0xGeXNwS1VuR0dBMGRPbFIrdjErdnZmYWFSbzRjcVk4KytranZ2ZmVlSkduS2xDbGF2bnk1eG84ZnIrVGtaTFZ2Mzk2dHV3STRqc0lOTVowN2Q1WnQyL3J1dSs4a1NVVkZSZnI2NjYrVmxKU2t2THc4elpneFEyUEdqTkVsbDF5aWxpMWI2b0VISHREaXhZdFZXRmlvclZ1M3FtTEZpbXJYcnAwYU4yNnNIajE2cUdyVnFpN2ZJNVEzU1VsSldyMTZkZUNkbGJWcjF5by9QMStKaVluNit1dXZ0VzNiTmozenpETnEzcnk1T25Ub29ENTkrdWpUVHorVkpHM2J0azMxNjlkWHExYXQxTHg1Yy9YdTNkdk51d0k0aXNJTk1YRnhjYnI4OHNzRFJ4RGZmdnV0NHVMaWRQSEZGK3VubjM2U3orZlRQZmZjbzQ0ZE82cGp4NDZCdC9FeU16UFZwVXNYeGNiR3FsZXZYcG8xYTFiUVVUSlFWaTY5OUZKVnJWcFZTNWN1bFNRdFdyUklWMTU1cFNwV3JLaU5HemRxMzc1OVNreE1EUHdkblRadG1uYnUzQ2xKNnQyN3QxYXRXcVVCQXdab3laSWxNc2E0ZVZjQVIwVzRIUUJIUzBwSzB0TlBQeTIvMzY5Rml4YnB1dXV1azhmamtjL25reVJOblRwVmxTdFhEdHFtVHAwNmlveU0xUHZ2djY4UFB2aEF5Y25KZXVlZGQ1U2NuS3lhTld1NmNUZFFUbm05WGwxenpUVmFzbVNKYnJqaEJuMzU1WmQ2OU5GSEpVa2xKU1dxWDcrK0prNmNHTFNOeDNQb3RYMjdkdTMwOGNjZjY2MjMzdEpqanoybVN5NjVSQysrK0NJZmZlQ013QkZ1Q0xyODhzdmw4L24wL2ZmZmErblNwVXBLU3BJa05XellVSkswYTljdW5YUE9PVUUva1pHUmtxVFkyRmoxNjlkUDc3Ly92dmJ0MjZlRkN4ZTZkajlRZmgwKzEyRGx5cFVxS2lwU2h3NGRKRW5ubm51dU1qTXpWYUZDaGFDL24vWHExUXRzVzd0MmJRMGJOa3lUSmszUzExOS9yZFRVVkxmdUJ1QW9qbkJEVUZSVWxEcDM3cXhKa3lhcFZxMWFhdEdpaGFSRFI3R0ppWWw2N3JublpJeFJnd1lOdEhIalJtM2J0azMzMzMrLzVzK2ZMMGxxMGFLRk1qSXlWRmhZR0NocG9DeTFhdFZLTld2VzFJUUpFOVNsU3hkRlJCeDZLdW5jdWJOZWV1a2xEUjgrWElNSEQxWk1USXlXTFZ1bWV2WHE2YnJycnRQVXFWTjF3UVVYcUc3ZHVscXpabzJpbzZOVnUzWnRsKzhONEF3S04wUjE3ZHBWZ3dZTjBuMzMzUmUwL0lrbm50QzRjZVAwMUZOUFNaSWFOV3FrUVlNR1NUcDBkRHQrL0hqdDJyVkx0V3ZYMWtNUFBSUTQ4Z0RLMnZYWFg2OVhYMzFWdzRZTkN5eUxpWW5SeElrVDlkeHp6K212Zi8ycktsYXNxRFp0MnVpYWE2NlJkT2lNNWllZmZGSUZCUVZxM0xpeHhvOGZmOVRISTBCNVJlR0dxTFBPT2t2U29TZTFJMVdwVWlYd2EwQy9sWmlZcU1URXhOT2VEWkFPdlRWODl0bG5xMDJiTmtITG16WnRxbW5UcGgxem0wR0RCZ1ZlSUFKbkdqN0REVkZ6NXN4UlFrSkMwR2RmUUNpWk0yZU9icmpoQms1NEFrcUpJOXdRazVhV3B1M2J0MnYyN05sNjl0bG4zWTRESEdYOSt2WDY0WWNmbEphV3BoZGVlTUh0T0VEWW9IQkR6TXlaTTdWdzRVTGRlKys5NnRpeG85dHhnS004K2VTVEtpNHUxcmh4NDFTalJnMjM0d0JoZzhJTk1TTkhqdFRJa1NQZGpnSDhyZzgvL05EdENFQlk0ak5jQUFBY1FPRUNBT0FBQ2hjQUFBZFF1QUJLalhtNHdNbWpjRU1NQStnUnlwaUhDNXc4Q2pmRU1JQWVvWTU1dU1ESm9YQkREQVBvRWVxWWh3dWNISDRQTjhRY09ZRCtxcXV1Q2hwQXYzcjE2c0FBK3Q4NlBJRCtuWGZlVWE5ZXZYVFhYWGVwZS9mdWlvbUpjZUZlb0R4akhpNXdjaWpjRU1RQWVvUzZwS1FrRFJvMDZManpjSC92VzZnT3o4UHQzTG16N3IzM1hxV21wcXBwMDZaT3hnZGN3VnZLSVlnQjlBaDF4NXVIVzdWcVZRMGZQbHlyVjYvV3hvMGJsWnljck04Ly8xelNvUmVMMzM3N3JkTFQwNW1IaXpNT1I3Z2hpQUgwQ0FmTXd3Vk9ESVVib2hoQWoxREhQRnpneEZDNElZb0I5QWgxek1NRlRneUZHNklZUUk5UXhUeGM0T1JRdUNHR0FmUUlkY3pEQlU0T2hSdGlHRUNQVU1jOFhPRGtVTGdoaGdIMEFGQSs4WHU0QUFBNGdNSUZBTUFCRkM0QUFBNmdjQUVBY0FDRkcySVlRSTl3a1plWHA0c3V1a2lmZnZxcEJnNGNxSTRkTytxMjIyN1RwazJiQXV2NGZENU5tVEpGM2JwMTAyV1hYYVllUFhwb3pwdzVMcVlHM0VQaGhoZ0cwQ1BjdlBubW14bytmTGdXTEZpZzJyVnJhL1RvMFlIcnhvMGJwM2ZmZlZjREJ3NVVjbkt5dW5YcnBqRmp4Z1JtNlFKbkVnbzN4RENBSHVIbTl0dHZWK1BHalZXeFlrWDE3ZHRYVzdac1VYNSt2bkp5Y3ZUaGh4OXF4SWdSdXVtbW0zVCsrZWZybm52dVVWSlNrbDUvL1hXM1l3T09vM0JEekpFRDZDVUZEYUQvNmFlZkFnUG9PM2JzcUk0ZE8rcisrKytYOUw4QjlMR3hzZXJWcTVkbXpab1ZkSlFNbkM1SFRxU3FWYXVXcEVOdk4yL2V2Rm0yYmF0ZHUzWkI2eWNrSkNndExjM1JqRUFvNElzdlFoQUQ2QkZPdkY1djRNOGV6NkhYOE1hWXdJemNJNitYSk11eVZGSlM0bHhBSUVSd2hCdUNHRUNQOHFCUm8wYXlMRXNyVnF3SVdyNW16UnExYk5uU3BWU0FlempDRFVFTW9FZDVVTE5tVGZYczJWUFBQUE9NaW9xSzFLaFJJeTFidGt5ZmZ2cXBYbnJwSmJmakFZNmpjRU1VQStoUkhnd2JOa3d4TVRINjk3Ly9yWDM3OXFsUm8wWjYvdm5uZGRsbGw3a2REWEFjaFJ1aUdFQ1BVRmUxYWxXdFdyVXFhRmw4Zkh6UXNxaW9LQTBaTWtSRGhneHhPaDRRY3ZnTU4wUXhnQjRBeWhlT2NFTU1BK2dCb0h5aWNFTU1BK2dCb0h5aWNFTU1BK2dCb0h6aU0xd0FBQnhBNFFJQTRBQUtGd0FBQjFDNEFBQTRnTUlOWWIxNzk5Ymt5Wk0xZXZSb2RlclVTVjI3ZGcxOGZlTmhDeFlzMEsyMzNxckxMcnRNMTE1N3JWNTg4Y1hBa0FQZ2RHSUFQWEJpS053UU4zdjJiSFh1M0ZtTEZpMVNqeDQ5OUk5Ly9FTTVPVG1TRHBYdHlKRWoxYmx6WnlVbkordWhoeDdTM0xsek5XblNKSmRUNDB6Q0FIcWdkQ2pjRU5leFkwZGRjY1VWaW9xS1V2LysvZVgzKzdWKy9YcEowclJwMDNUenpUZHI0TUNCT3YvODg5VzFhMWM5K09DRG1qbHpKck53NFJnRzBBT2xRK0dHdVBqNCtNQ2ZvNktpVkxseVplWG01cXF3c0ZCcGFXbHEzNzU5MFBvSkNRbnkrWHphdm4yNzAxRnhobUlBUFZBNkZHNklPenpRKzhqTHhoaDV2VjU1UEo2anJyY3NTNUlZOEEzSE1JQWVLQjBLTjB4RlJrYXFRWU1HUnczM1hyMTZ0V0ppWXRTb1VTT1hrZ0dITUlBZUNNWlhPNGF4Z1FNSDZva25ubEN0V3JYVW9VTUhwYWVuYThLRUNicnp6anNWRXhQamRqeWM0UmhBRHdTamNNUFl0ZGRlcS96OGZFMmZQbDJUSjA5V3pabzExYTlmUC9YdjM5L3RhSUFrQnRBRFI2SndROWg3NzcxMzFMS0ZDeGNHWGU3WnM2ZDY5dXpwVkNRZ2dBSDB3SW5oTTF3QUFCeEE0UUlBNEFBS0Z3QUFCMUM0QUFBNGdNSUZBTUFCRkM0QUFBNmdjQUVBY0FDRkN3Q0FBeWpjRU1ZQWVvUXlCdEFESjRiQ0RYRU1vRWVvWXdBOVVEb1Vib2hqQUQxQ0hRUG9nZEtoY0VNY0ErZ1I2aGhBRDVRV2RKWVBBQUFnQUVsRVFWUU9oUnZpR0VDUFVNY0FlcUIwS053d3hRQjZoRG9HMEFQQkdNOFh4aGhBajFER0FIb2dHSVVieGhoQWoxREhBSHJnZnlqY0VNWUFlb1F5QnRBREo0YlBjQUVBY0FDRkN3Q0FBeWhjQUFBY1FPRUNBT0FBQ2hjQUFBZFF1QUFBT0lEQ0JRREFBUlF1QUFBT29IQkRHQVBvRWNvWVFBK2NHQW8zeERHQUhxR09BZlJBNlZDNElZNEI5QWgxREtBSFNvZkNEWEVNb0Vlb1l3QTlVRG9VYm9oakFEMUNIUVBvZ2RLaGNNTVVBK2dSNmhoQUR3UmpQRjhZWXdBOVFoa0Q2SUZnRkc0WVl3QTlRaDBENklIL29YQkRHQVBvRWNvWVFBK2NHRDdEQlFEQUFSUXVBQUFPb0hBQkFIQUFoUXNBZ0FNb1hBQUFIRURoQWdEZ0FBb1hBQUFIVUxnQUFEaUF3Z1Z3VWhoQUQ1d1l2bWtxaFBYdTNWdFhYMzIxc3JLeTlNVVhYeWd1TGs2REJ3OVcxNjVkQStzc1dMQkFyNzMybXRMVDAxV2xTaFYxN2RwVmd3Y1BEa3hxQVU2M045OThVMDgvL2JUcTFLbWp4eDU3VEtOSGo5Yk1tVE1sSFJwQXYyREJBajM4OE1OcTNMaXhsaTFicGpGanhxaGF0V3E2NG9vclhFNE9PSXNqM0JBM2UvWnNkZTdjV1lzV0xWS1BIajMwajMvOFF6azVPWklPbGUzSWtTUFZ1WE5uSlNjbjY2R0hIdExjdVhNMWFkSWtsMVBqVE1JQWVxQjBLTndRMTdGalIxMXh4UldLaW9wUy8vNzk1ZmY3dFg3OWVrblN0R25UZFBQTk4ydmd3SUU2Ly96ejFiVnJWejM0NElPYU9YT21DZ3NMWFU2T013VUQ2SUhTb1hCRFhIeDhmT0RQVVZGUnFseTVzbkp6YzFWWVdLaTB0RFMxYjk4K2FQMkVoQVQ1ZkQ1dDM3N2Q2YWc0UXpHQUhpZ2RDamZFSFg0Q08vS3lNVVplcjFjZWorZW82eTNMa2lTZTBPQTZCdEFEd1RpekpreEZSa2FxUVlNR1dyRmloYTY2NnFyQTh0V3JWeXNtSmthTkdqVnlNUjNBQUhyZ3R5amNNRFp3NEVBOThjUVRxbFdybGpwMDZLRDA5SFJObURCQmQ5NTVwMkppWXR5T0J6Q0FIamdDaFJ2R3JyMzJXdVhuNTJ2NjlPbWFQSG15YXRhc3FYNzkrcWwvLy81dVI4TVpnQUgwd0ltaGNFUFllKys5ZDlTeWhRc1hCbDN1MmJPbmV2YnM2VlFrQU1CSjRxUXBBQUFjUU9FQ0FPQUFDaGNBQUFkUXVBQUFPSURDQlFEQUFSUXVBQUFPb0hBQkFIQUFoUXNBZ0FNb1hBQUFIRURoQWdEZ0FBb1hBQUFIVUxnQUFEaUF3Z1VBd0FFVUxnQUFEcUJ3QVFCd0FJVUxBSUFES0Z3QUFCeEE0UUlBNEFBS0Z3QUFCMUM0QUFBNGdNSUZBTUFCRkM0QUFBNmdjQUVBY0FDRkN3Q0FBeWhjQUFBY1FPRUNBT0FBQ2hjQUFBZEV1QjBBUU5teUpDTkplWHYzS1gzck5yZmp1R2JYN3V6RGZ6UnU1Z0FPbzNCUFFXNXVualpzM094MkRGZGs3Tmlod3FKaXQyUGdHSXlzWWt2U0ozUG5hL0ZYUzkyTzQ1cURCd3NsU1paVTRuSVVRQktGZTFLTVViRWxhZjduQ3pYLzg0VnV4M0dkMXpZOG9ZV1FFbC9KbDlFUmtSbjc4L1ByNzgvUGR6dU9xNHhNbnQrMlBuRTdCeUJSdUNlbDJOaUxvNDIxMk1pcTVIYVdFTEFsNDZlWXJXNkh3UC9zU04yd1d0STVidWN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SlFkeSswQXdPbFF0MjdkQ2xHVmF6NG9XWlhkemdMZ3hQaU50bTdmdkhhcUpOdnRMR1dKd2tXNTFMQlpxenM4SHUvYmJ1Y0FjSEw4eG4veHRrM3JWcm1kb3l4RnVCMEFPQjBzV1RVbHFWRjhRN1ZvM3N6dE9BQktvYmk0V0t2WHBpZzdaNCtNejFQRDdUeGxqY0pGZVdWSlV1SlZuVFJ5K0JDM3N3QW9oZXljUFhwNCtHUEtYcmE4WExhVHgrMEFBQUNjQ1NoY0FBQWNRT0VDQU9BQUNoY0FBQWRRdUFBQU9JRENCUURBQVJRdUFBQU9vSEFCQUhBQWhRc0FnQU1vWEFBQUhFRGhBZ0RnQUFvWEFBQUhVTGdBQURpQXdnVUF3QUVVTGdBQURxQndBUUJ3QUlVTEFJQURLRndBQUJ4QTRRSUE0QUFLRndBQUIxQzRBQUE0Z01JRkFNQUJGQzRBQUE2Z2NBRUFjQUNGQ3dDQUF5aGNBQUFjUU9FQ0NEbjc5Ky9YcDU5K0ttUE1DVzJYbTV0N1F0c1VGeGVmYURUZ3BFVzRIUUJBK1hIMzNYZHI3ZHExcFY1LytmTGxpb2dJZmhvcUtTblJrQ0ZERkIwZHJTNWR1aWd5TXZKM3QvL3l5eThWRVJHaFRwMDZ5Ylp0ZGUzYVZXKy8vYllhTjI2czJiTm42K2VmZjlhRER6Nm9tSmlZbzdiZHNXT0gvdnpuUCt2dHQ5OVdqUm8xTkgzNmRLMWJ0MDdqeG8yVEpHVm1abXJ0MnJXNjdycnJTbjEvZ09PaGNBR1VtU2xUcHNpMjdhQmxNMmJNMEk4Ly9xaW5uMzQ2c013WUk4dXlqaXBidjkrdko1OThVc1lZUGYvODg0R3lYYlZxbFh3K255Njc3TEtnOVY5NTVSWDk1Uzkva1hTb1FDVXBQajVla3RTMWExZU5HalZLdDk5K3V5Wk9uS2o2OWVzSHR0dTNiNThlZXVnaDllL2ZYelZxMUFnc0x5a3AwWklsU3pSdjNqeHQyTEJCU1VsSnV2cnFxNC9LQ1p3TTNsSUdVR2E4WHE4R0R4NnM5UFIwUlVkSEt6bzZXbDZ2VjVabEJTN3YzYnRYdDk5K3UzSnpjNE8yTFNvcTBpT1BQS0k5ZS9ab3dvUUpRVWVsdG0zcjBVY2YxWW9WS3dMTFVsSlN0SHYzYnAxLy92bkt5c3JTOHVYTGRjNDU1eWc3TzF0WldWazZjT0NBaGc4ZnJodHZ2RkdXWlNrckswdTJiU3NySzB2MzNudXZ0bTNicHR0dXUwMlptWm42K09PUDllV1hYMnJac21XYVAzKyt1bmZ2cmpsejVtamd3SUY2N2JYWEhIdjhVTDd4c2cxQW1mRjRQT3JVcVpQKy92ZS9hOGFNR1lxTGl6dHFuYkZqeDZwSmt5YXFVNmRPWUZsT1RvNGVlZVFSMWF4WlV4TW5UbFJVVkZUUU5xMWJ0OWFqano2cW9VT0g2b1VYWHRDbGwxNnFYYnQyS1M0dUxuQ0VtNXVicStqb2FOMTk5OTFIM2VZSEgzd2dTWHJ6elRjMVlNQUE5ZTdkVzFPblR0WCsvZnZWdjM5L3RXM2JWalZyMXRSbGwxMm01NTU3THJEZDl1M2I5ZEZISDJuZ3dJRmw4dmpnekViaEFpaFQvZnIxMDlkZmY2M25ubnRPLy9qSFA0S3VTMDVPVmxwYW1tYk9uQmxZbHArZnJ4NDlldWpBZ1FOcTBxU0ordlRwbzZLaW9zQlBjWEd4b3FPakZSc2JxNnBWcTJySWtDRWFQMzY4dW5UcG9pNWR1a2c2ZEFUY3JWczNqUjgvWHMyYk56OXV2bGRmZlZYMTZ0WFQxS2xUVmFsU0pYMzIyV2V5TEV1clY2L1cvZmZmcnhFalJxaENoUW95eG1qdDJyVktURXdzK3djSlp5UUtGMENac2l4TGp6Lyt1UHIxNjZlZE8zY0dsdWZrNU9pZGQ5N1JmLzd6SDFXcVZDbXdQQzR1VG9NR0RWTHQyclZWdlhwMXhjWEZLVFkyVmhVclZsUnNiT3hSSnp4Tm5UcFZreWRQMWlXWFhCSll0bkxsU3UzYXRVdERodzQ5WnFaYmJya2xjT1JicjE0OVNWTHYzcjBEZVNVcElTRkI3Ny8vdnJadTNScjRqTGxQbno1cTBhSkZHVHdxQUlVTG9Jd1VGeGVyb0tCQWtsU3BVaVZObno1ZHNiR3hLaXdzVkVsSmlieGVyOTU4ODAzRnhjVXBMeTlQa2hRVkZhVUtGU3FvYjkrKzJyOS92NHFLaWdMNzgvdjl5cy9QVjM1K2Z0RHQvUG5QZjFiZnZuMkRsczJhTlV2ZHUzZlh0bTNiOU5KTEx3V1cyN2F0Tys2NFEwMmJOZzFhLzhNUFA5U2NPWE0wWjg2YzQ5Nm5vVU9IVXJnb014UXVnREt4Wk1rU2pSNDkrcWpsUHA4djhKYnZiOTEwMDAxNjVKRkhKRW1qUm8zU3FsV3JGQnNiZTh6OUcyT1VuWjJ0cFV1WEJuMDJ2SEhqUm0zWXNFRno1c3pSdmZmZXE5V3JWNnRqeDQ2U3BMZmVla3QxNnRUUkZWZGNFYlN2a3BJU1hYMzExWHJ5eVNjbFNWbFpXZHF5WlV2UWVxTkdqZUwzZEZHbUtGd0FaZUxhYTYvVnRkZGVlOVR5My81KzYvRTg4TUFENnRXcjF6R3ZLeWdvT0tvNGZUNmYvdld2ZituKysrOVhaR1NrSG4vOGNRMGVQRmpqeDQ5WFptYW1aczZjcVduVHB2M2g3Vzdac2tYVHAwOC9hdjlBV2FKd0FZU3RxVk9uS2lvcUtuRDAzS1JKRTQwY09WTDMzbnV2akRGNi9mWFhBNS9aSGs5bVpxYjhmcjhLQ2dwVW9VS0YweDBiWnlnS0YwQlltajE3dGo3NjZDUE5tREZEbG1VcEx5OVBuMy8rdWQ1OTkxMjFiZHRXaFlXRmV1U1JSOVMvZjM5MTZkSWw2RzNvbGkxYjZxeXp6cEowNk9nMk9UbFpkZXZXVlZKU2t0cTFhNmZycnJ0TzdkcTFVNE1HRGR5NmV5aUhLRndBSWVQNTU1L1grUEhqLzNBOTI3YTFlUEZpVFp3NFVhdFhyOWFISDM2b05XdldxRjI3ZGhvNWNxUXV2dmhpU2RMaXhZczFkZXBVUGYzMDArcllzYU9lZi81NWJkMjZWZG5aMlVwTFM5T3NXYk8wYWRNbTNYZmZmZXJUcDQvMjd0MnJMNzc0UXUrODg0NVNVMU4xMVZWWDZkWmJiMVhMbGkxUDkxM0hHWURDQlJBeWhnMGJWcXJQY0QwZWovN3puLzlJa3FLam85V3BVeWVOR1ROR3RXclZDdG9tTVRGUmlZbUpXcmR1blNRcElpSkNYMy85dFpZdFc2YjQrSGoxNnRWTDdkdTNWOFdLRlNWSlZhcFVVYytlUGRXelowK2xwNmZyNDQ4LzF2NzkrMC9YM2NVWnhuSTdBSEE2eERkci9aRGw4WXovODRBN05YTDRFTGZqQUNpRjdKdzllbmo0WS9wbTJYTDVqTGx1KzZhMUM5ek9WSmI0TG1VQUFCeEE0UUlBNEFBS0Z3QUFCMUM0QUFBNGdNSUZBTUFCRkM0QUFBNmdjQUVBY0FDRkN3Q0FBeWhjQUFBY1FPRUNBT0FBQ2hjQUFBZFF1QUFBT0lEQ0JRREFBUlF1QUFBT29IQUJBSEFBaFFzQWdBTW9YQUFBSEVEaEFnRGdBQW9YQUFBSFVMZ0FBRGlBd2dVQXdBRVVMZ0FBRHFCd0FRQndRSVRiQVlEVHhFalNqeHMyS25uNk8yNW5BVkFLQnc0VWFNZk9URW1TNWJlTXkzSEtISVdMOHNuV0xubWs3MWFzMUhjclZycWRCc0FKc2oyK0xMY3psRFVLRitYU2dUemYzQW8xSXY1dUdVODl0N09nYkVWNmRWYUVSM1Y5ZnBOWllsdVpidWZCYWVDeGwyZHNYditqMnpFQTRJeldwazJiRVJkZWVLRnAwNmJOYUxlekFDZUNrNllBQUhBQWhRc0FnQU1vWEFBQUhFRGhBZ0RnQUFvWEFBQUhVTGdBQURpQXdnVUF3QUVVTGdBQURxQndBUUJ3QUlVTEFJQURLRndBQUJ4QTRRSUE0QUFLRndBQUIxQzRBQUE0Z01JRkFNQUJGQzRBQUE2Z2NBRUFjQUNGQ3dDQUF5aGNBQUFjUU9FQ0FPQUFDaGNBQUFkUXVBQUFPSURDQlFEQUFSUXVBQUFPb0hBQkFIQUFoUXNBZ0FNb1hBQUFIRURoQWdEZ0FBb1hBQUFIVUxnQUFEakFjanNBQUJ4UDI3WnQyMG9hYzhTaXhwWmx0VERHYkpHMDVmQkNuODgzZXYzNjlTc2REd2lVRW9VTElLVFZyMTgvdGxhdFdobVdaVlgvdlhXTU1ibFpXVm4xZCt6WVVlQmtOdUJFOEpZeWdKQ1drWkZ4VU5JN2ttU01DYnJ1OEdWanpQdVVMVUlkaFFzZzVQbjkvbytQZDcxbFdiT2R5Z0tjTEFvWFFNaXpiZnRIWTB5cVpWbEhIdFhxMTh1cFBwOHZ6ZVdJd0IraWNBR0V2UHo4L0wyU3Z2MmRxNy8xKy8yN25Nd0RuQXdLRjBESVMwOVBMN1FzNjN0SmhWTFFaN2ZGbG1WOXYySERobnczOHdHbFFlRUNDQXUyYlg4dEtlaEkxcktzZmI4dUIwSWVoUXNnTE9UbjUyODB4dnozeUdYR21MVDgvUHlOYm1VQ1RnU0ZDeUFzcEthbUZobGozclVzUzBmOHZKV2FtbHJrZGphZ05DaGNBR0VqUHovL0UwaytTVExHbFBoOFBuNGRDR0dEd2dVUU5sSlRVM2ZidHYzVHJ4ZC9Ta2xKNGV4a2hBMEtGMEJZc1N4cnRDUVpZMTV3T3d0d0lpaGNBT0htSzJOTWltM2JTOTBPQXB3SWhoZWdYS3BidDI2RnFNbzFINVNzeW01blFkbXlaQ0tqSTZ6bWhTWG12N0tzUXJmem9PejVqYlp1Mzd4MnFpVGI3U3hsaWNKRnVkU3dXYXM3UEI3djIyN25RTms3Y29DQlpmRVVWbDc1amYvaWJadldyWEk3UjFtS2NEc0FjRHBZc21wS1VxUDRobXJSdkpuYmNRQ1VRbkZ4c1ZhdlRWRjJ6aDRabjZlRzIzbktHb1dMOHNxU3BNU3JPbW5rOENGdVp3RlFDdGs1ZS9UdzhNZVV2V3g1dVd3blRwb0NBTUFCRkM0QUFBNmdjQUVBY0FDRkN3Q0FBeWhjQUFBY1FPRUNBT0FBQ2hjQUFBZFF1QUFBT0lEQ0JRREFBUlF1QUFBT29IQUJBSEFBaFFzQWdBTW9YQUFBSEVEaEFnRGdBQW9YQUFBSFVMZ0FBRGlBd2dVQXdBRVVMZ0FBRHFCd0FRQndBSVVMQUlBREtGd0FBQnhBNFFJQTRBQUtGd0FBQjFDNEFBQTRnTUlGQU1BQkZDNkFNcE9YbHlmYnR2OXd2ZUxpWWdmU25MejA5SFR0MzcvL3FPVVpHUm5LenM0K2JiZGJVRkJ3MnZZTjkxRzRRRGt5ZCs1YzdkdTNUNUwwNnF1djZ0RkhIejJwL1d6Y3VGSFhYMys5akRHNjc3Nzc5TlpiYjZta3BDUncvZnZ2djY5Ly9ldGZRZHY0ZkQ3ZGV1dXQrdUdISDQ2Nzc4V0xGK3ZlZSs4TlhIN3d3UWMxYTlhc3dPVjE2OVpwMWFwVlFkc01HalJJR3pac0NHemZ1WFBuWS83MDZORWpzRTFtWnFhU2twS1VtWmtadEs4MWE5Ym9sbHR1Q2JvL3YvWFJSeC9wZ1FjZVVHRmhZV0NaYmR0Ni9QSEhOVzNhdEdOdXMySERCblh2M2oxd09UMDkvWGQvOHZMeVpJelJ6ei8vckRsejVtajA2TkZLU2tyU3NHSERWRkJRb096czdLTitqc3lDOEJUaGRnQUFaV1A1OHVXYU1tV0tyci8rK2xQZVY0VUtGZVR6K1dSWmxwNTc3am05OHNvcldyOSt2UklTRW81YWQ5aXdZVnE3ZHExczIxWmVYdDVSSlgvSkpaZm9uLy84cHlScDA2Wk5HanQyckNaT25CaTB6cjU5Ky9UaGh4OXE3dHk1S2l3c1ZOKytmWFhSUlJkcDc5NjlLaWtwa2MvbjA5NjllNVdkbmEzRXhFUWxKaVllTjc4eFJtUEhqcFhmNzllQUFRTUN5eE1URTdWeTVVb2RPSEJBTjk1NFkyQjVmSHk4SmsrZUhMajh0Ny85VFlNSEQ5YVNKVXNDajJkeWNySjhQcDhlZnZqaFAzejhiTnZXU3krOUZMVHNtMisrVVpzMmJSUVhGNmVrcENUdDJMRkQwNmRQVi92MjdkV3FWU3ZkZnZ2dGF0cTBxYVpPbmFyazVHUkZSUHp2NmJtNHVGaVBQUEtJZXZYcTlZZTNqZEJGNFFMbFJISnlzb3FLaW5UUFBmZElrbmJ0MnFXaW9pTDE3OTgvYUwzbXpac0hTbkh6NXMzcTI3ZXZQSjZqMyt5eWJWdVhYSEpKNFBKNzc3Mm4zcjE3Njd2dnZ0UCsvZnRWWEZ5czVjdVhhK0xFaWFwWHI1NGVmZlJSdFdqUlFuZmRkZGN4ODYxYXRVcERoZ3hScTFhdDFLSkZDMjNac2tYZmZmZWR0bXpab3BTVUZGMS8vZlVhUG54NDRMclBQLzljQ3hjdTFOcTFhNVdYbDZlUkkwZks2L1hxczg4K2s5ZnJQZTVqOGM5Ly9sTmVyMWZQUC8rOE5tM2FwRDU5K3Nqbjgybk9uRG1LalkzVm4vNzBKNzMrK3VzYU5HaVFvcUtpSkVsNzl1d0pLbUZqakZKU1VqUm16QmhKVW1GaG9TSWpJM1gxMVZkTGtzNDU1eHk5Kys2N1dyaHdvU1pObXFUaTRtTHQyYk5IM2J0M1YvMzY5Zlh5eXk4SFplcmN1Yk9HRGgycVpzMmFTWkplZi8xMVhYNzU1Um85ZXZSUitYdjI3S2xISG5ra2NIbklrQ0hIdmI4SUR4UXVVQTRzWGJwVTJkblpldWFaWndMTDVzMmJweDA3ZGdTOWZTdEpsU3BWQ3JwY3ExWXRmZmJaWjBITDl1M2JweTVkdW1qRmloVkJ5dzhjT0tBTEw3eFF5NWN2MTg2ZE8zWHp6VGVyYXRXcTh2djlXclpzbVFZTkduVE1mSnMzYjlidzRjUFZxMWN2YmQ2OFdkOS8vNzJlZlBKSmRlclVTVldyVmxWU1VsSlFVYTlidDA2clY2L1c4ODgvcjhMQ1FpVW1KbXJTcEVscTJiTGxIejRXTzNmdVZIcDZ1c2FQSHg4NFFtL1ZxcFVtVEppZ2Rldlc2UzkvK1lzcVZhb2tqOGVqcDU1NktuRDBYYTFhTmMyYk4wK1M5TXN2ditpKysrN1RKNTk4RXRqdndZTUhkY01OTitpamp6NVNiR3hzNEVWSysvYnQxYlJwVS8zMDAwLzY5Ny8vclFrVEppZ3lNdklQYytMTVErRUNZUzRySzB1alJvM1NxRkdqZFBIRkZ3ZVdyMW16Um9XRmhVSExTcXRDaFFyeSsvMHFMQ3hVVEV4TVlGL3QyclZUbHk1ZGxKZVhwNGlJQ0hYcDBrVlBQZldVRmkxYUpML2ZyM3Z1dVVmRnhjWHEwS0ZEVVBtZmQ5NTVldnZ0dC9YTEw3OW84K2JOdXZUU1N3TWxuNXljck9uVHArdW5uMzZTMSt0VlNVbUp2djMyMjhCUitJb1ZLMVJjWEt3REJ3NUlrbTY3N2JialpyL3h4aHVEUG1jZFBueTRSb3dZb2M2ZE8ydnMyTEVhUEhpdzB0UFROWFRvVVBsOHZzQjZsbVdwYXRXcWtoUTRZZXJ3WlVtQkkrRXFWYXFvUW9VS2dlVnhjWEdLaTR0VFFVR0JJaUlpRkI4Zlgrckh1YWlvS09na3JKaVltRkp2aS9CRDRRSmhMams1V1JkZWVLR3V2UExLazlwKzkrN2RRVzhkbjMvKytYcmpqVGRVcVZJbDVlVGtxRjY5ZXBvNGNhSVNFeFBWcmwyN29HMTlQcCtlZXVvcFpXZG42OG9ycjFUdjNyMjFhTkVpZmZIRkYwSHJXWmFsczg4K1d5VWxKZXJVcVZQUWRYZmZmYmM2ZE9pZzNOeGNHV1BrOFhnMGNPQkExYTlmWDlLaGs2U3FWYXVtRjE1NFFWZGVlYVVtVEpnUTJEWWpJME9qUm8zU2E2KzlGbGhXc1dKRlNWSnVicTRtVDU2c0pVdVc2TEhISGdzOFBzbkp5Um8zYnB4dXVlVVc5ZS9mWHoxNjlGQnNiT3hSajh1eDNtWXZqY3pNVE0yZE8xY0RCZ3o0d3lQZHI3NzZLdWdFc2F1dXVrbzFhOVk4cWR0RjZLTndnVEIzK0RQYTFhdFhCeTNQek14VWJtN3VVY3NiTm15bzZ0V3JTenAwaEJVZkg2OFBQdmhBMHFFVGU5NTQ0dzFKVXAwNmRiUno1MDd0MnJWTDI3ZHZENXl3azU2ZXJnMGJOdWpiYjcvVi9QbnpOWG55WksxWnMwWmp4b3hSVVZHUmZENmZiTnRXVVZHUkpNbnI5UVpPQUhyMTFWZjExVmRmSGZYNTVtKzk5ZFpia2c2OUdOaXdZWU9hTkdtaS92Mzc2NVZYWGxHZlBuMlVscGFtQ3k2NFFEVnExSkRYNjFYTm1qWDF3dzgvNkpKTEx0R2VQWHYwcjMvOVM1OS8vcm02ZGV1bXVuWHJhdXpZc1JvN2RtelFiYlJyMTA3ejU4L1h5eSsvckp0dnZsbVN0R3paTWttSFhrams1K2VyWjgrZWdmV05NWktrTys2NFE1WmxTVHIwWXVHR0cyN1F3WU1IdFhMbFN1M2N1VlAvdjUxN0M2bXF6ZU00L3R2Ylhidk0xQmdTYzB5VU5Da2kzWGtoRlY1MFVqcGFYUmgwZ0pIWlpBVmlVMWhoZHBDS0JKRlJKS2lJb1haWjJRbFNxYXpvSnFMZWpreW9VOUhCckt4c0dzdERhYnEzY3lHdTExMit2Um0xemZwKzdseUx0Znl6Rkg0OHovTi9uc1RFUk1YR3hzcnBkUDVwNE1iSHgzK3locnRyMTY3UFBvTytpOEFGK3JpZ29DQlZWVlVwTHkvUDdYcG4wOVRIMSsxMnUrTGk0aVIxN1B2MDgvTXo3alUzTnh2VHBXRmhZYXFzckZSeGNiR1dMVnVtQVFNR3FMeThYQ2twS1FvSUNGQkVSSVRXcjErdjI3ZHZ5OC9QVDRzWEx6YmUwZHpjYklSVlltS2lsaTVkS3FsakhYVHQycldhTVdPR0pLbWlva0ptczFtalJvMHlhcGc1YzZheGwzZmZ2bjJhUEhteWJ0MjZKVDgvUHprY0R0WFcxaW8xTlZYSGpoMHpubWxvYU5ES2xTdDE4T0JCRFJzMlRQNysvaW9xS3BMVmFwV3ZyNitram5WdUh4OGZvOU82b2FGQno1OC8xL3YzNzJXeFdEUmt5QkRObVROSGtuVDc5bTBkUEhqUWJWcThwYVZGeWNuSnlzcktrdFZxbFNRRkJBVG81TW1UeXNuSlVmLysvZVh2NzY4REJ3NG9JQ0NnaDM5Ri9Bb0lYT0FuRUJvYXFuMzc5cmxkMjdObmp4NDhlT0FXR2grcnFhblIwS0ZEalo4YkdocU1waXFiemFiOC9IelpiRGJObno5ZnJhMnRpb3lNMUlVTEYxUlNVcUlIRHg0b01EQlFnWUdCaW8rUFYzVjF0VUpDUW93cDVmVDBkSm5OWnJkMTBJK2RQWHRXM3Q3ZWJvSGIxWnMzYjJTMzI0MVJ1c2xrVWxGUmtlTGk0aFFjSEt5cXFpcEpIV3V0VTZaTTBmNzkrNVdabWFtVWxCVGR2SGxUT1RrNUtpd3NsTmxzVm1Oam84ckt5b3pBTFN3c1ZHVmw1U2ZiZDZTTzJZSVJJMFlZSGNYUzc0ZFNoSWVIdTYzaFJrUkVLQ2NuUjc2K3Zzckl5UGlxc0cxdGJkWFZxMWRWWFYzZDdmMVhyMTc5YVdjMmZud2NmQUg4d2g0K2ZLaVJJMGNhSno5VlZGUVlnV0d4V05UYzNLelUxRlJKSFNQRURSczJHS083cm80ZVBhcFZxMWJKNlhRYTF3NGZQdnpKTk83SFhyNThxYWFtSnJmbnVzckl5SEFMN1ByNmVoMC9mdnlUclU2U2xKU1VwTkxTVXRYVjFVbVN4bzBicDBHREJxbWtwRVNTTkdIQ0JGMjZkRWx0YlcycXE2dlRpUk1udEdiTm1tNS9iMmxwcVdKall6OWJlNmZSbzBkci9Qanh4alR6bDJwcGFkSERodytOaHE3YzNGeTNVTTNMeTlPOGVmT1VrSkNndTNmdmFzeVlNVDE2UDM0OGpIQ0JQcTZ0cmEzYndISTZuVzVycVYxWkxCWjVlWG5wNHNXTDJyUnBrNVlzV2FMSGp4L0wxOWRYdTNmdjFyVnIxNVNmbjYrWW1CaWRQbjFha1pHUmV2YnNtVEU5MjlXZE8zZTBZOGNPN2R5NTB5MHc3SGE3RmkxYXBOTFNVczJhTlV1U05IWHFWSVdGaFVtU3lzcktkT1hLRllXRWhDZ2hJVUhUcGsxVFFrS0NGaXhZWUlSczE1R2tKTzNkdTFmUjBkSGRocytZTVdNVUhoNnVZOGVPR1Z1aDB0TFNqTkd4bjUrZnNyS3k1SEs1VkZCUW9LU2tKS014cTZzalI0N295Wk1ubWo1OWV2Y2YvQnNwTHkvWHZYdjNGQklTb29LQ0FrVkhSMHY2ZlExMzd0eTVpb3FLa3BlWGw4TER3eFVVRlBSZDY4SDNSK0FDZmR6R2pSdDE0Y0tGUDd6ZlhmZnlpaFVyRkJFUm9ROGZQc2htczhuaGNLaWxwVVdEQncvVytmUG50WG56Wm1WbFpXbnMyTEZhdkhpeHdzTENkUG55WlUyYU5FbXZYNzlXZFhXMUxCYUw2dXZybFphV3B0V3JWeXM4UEZ4U3h4NVdpOFdpL3YzN0t6TXpVK25wNlpvOGViTHUzNyt2OXZaMm5UcDFTcG1abWZydzRZTnljM01WRXhPanAwK2Y2c3laTTlxMGFaTmFXMXRWVjFlbmhRc1h1azEzUzFKd2NMRGk0K05WVjFjbnE5V3FlL2Z1dVhVWXA2U2t5T1Z5YWZueTVjWlJrSkxjdXBnbHFiR3hVZDdlM2taejFvb1ZLN1Jnd1FLZFBIbFN1Ym01MnJwMXEzeDhmTDdvKzdlMXRhbTV1VmsxTlRWdXAwTkowcU5IajlTdlh6L1YxdGJxN2R1M2JyV21wcVpxNE1DQkNna0o2ZmE5b2FHaFBkcGloQjhmZ1F2MGNaMEhOL1NVdytGUVNrcUtUQ2FUckZhck1WWDg3dDA3WldWbGFlclVxVVJzOTBnQUFBS1hTVVJCVkpLay9QeDhiZG15UlM2WFN4TW5UdFRzMmJNMWFOQWdaV2RueTlmWFY5bloyYkxaYk5xeFk0Y2NEb2NzRm91MmJkc21TWXFLaWxKUlVaRzh2YjExNk5BaHZYLy9YaU5HakZCNmVycHNOcHNSVU1IQndiTGI3YkxiN2JwKy9icEtTa28rQ1M5SlJpUFd1blhyZE83Y09RMFlNTUR0RktiT1pyQ3YyU0xsY3JsVVhGeXN0V3ZYYXRxMGFWLzgzSXNYTDVTWW1DaXoyYXprNUdTM2U5dTNiOWVOR3pka05wc1ZGeGVuNGNPSEcvZTZyZy9qMTlDelJRZWdqd2lOSEx2U1pEYi84KzkvVzZMMWF6Z1dyenN1bDBzbWs2bkhhNCtmNDNRNiszUnp6OWZXMzlsVi9VZEhaSDd0bnQ1ZnpYOWYvMC8vV0pPaFM1ZC9VMXQ3ZThLVE8vOCsyOXMxZlV1TWNJRmYxUGNJZ2I0Y3R0TFgxLys1YjBuWW9oUC9DUUFBZUFDQkN3Q0FCeEM0QUFCNEFJRUxBSUFIRUxnQUFIZ0FnUXNBZ0FjUXVBQUFlQUNCQ3dDQUJ4QzRBQUI0QUlFTEFJQUhFTGdBQUhnQWdRc0FnQWNRdUFBQWVBQ0JDd0NBQnhDNEFBQjRBSUVMQUlBSEVMZ0FBSGdBZ1FzQWdBY1F1QUFBZUFDQkN3Q0FCeEM0QUFCNEFJRUxBSUFIRUxnQUFIaUFwYmNMQUw2VGRrbXFxUHlQL3VVbzdPMWFBSHlCcHFaM3FubitRcEprY3ByYWU3bWNiNDdBeGMvSnBWcVpwU3RYcit2SzFldTlYUTJBSG5LWjIxNzJkZzNmR29HTG4xTFRtN1lTNzc5WTBrM3Q1ci8yZGkwQWVzanMrdTNwM2ZLSzNpNERBQUFBQUFBQUFBQUFBQUFBQUFBQUFBQUFBQUFBQUFBQUFBQUFBQUFBQUFBQUFBQUFBQUFBQUFBQUFBQUFBQUFBQUFBQUFBQUFBQUFBQUFBQUFBQUFBQUFBQUFBQUFBQUFBQUFBQUFBQUFBQUFBQUFBQUFBQUFBQUFBQUFBQUFBQUFBQUFBQUFBQUFBQUFBQUFBQUFBQUFBQUFBQUFBQUFBQUFBQUFBQUFBQUFBQUFBQUFBQUFBQUFBQUFBQUFBQUFBQUQwRWY4SFFVWDErNGd1NU5BQUFBQUFTVVZPUks1Q1lJST0iLAoJIlRoZW1lIiA6ICIiLAoJIlR5cGUiIDogImZsb3ciLAoJIlZlcnNpb24iIDogIjgiCn0K"/>
    </extobj>
    <extobj name="ECB019B1-382A-4266-B25C-5B523AA43C14-3">
      <extobjdata type="ECB019B1-382A-4266-B25C-5B523AA43C14" data="ewoJIkZpbGVJZCIgOiAiMjY2NDUyMTAxNDk1IiwKCSJHcm91cElkIiA6ICIyMjQyMjg3MjQ1IiwKCSJJbWFnZSIgOiAiaVZCT1J3MEtHZ29BQUFBTlNVaEVVZ0FBQWR3QUFBTkxDQVlBQUFEclh5d25BQUFBQVhOU1IwSUFyczRjNlFBQUlBQkpSRUZVZUp6czNYMmN6UFgrLy9IbloyWXZXZGRFaU0xRkxzckZkdW1pMUVvWFN5VkNKY1hwMU9HVVRvVWpwWkpEcDA3cVNOUnhVVnVwaUs3NVVhSG9xeElSbGx5ZGJWdHM3TEpyRjJ2dHhjem4vZnRENXBoSWkvWDV6S3pIL1hiYlcrWXpuODlubmpNeHovbk1mSFplRWdBQUFBQUFBQUFBQUFBQUFBQUFBQUFBQUFBQUFBQUFBQUFBQUFBQUFBQUFBQUFBQUFBQUFBQUFBQUFBQUFBQUFBQUFBQUFBQUFBQUFBQUFBQUFBQUFBQUFBQUFBQUFBQUFBQUFBQUFBQUFBQUFBQUFBQUFBQUFBQUFBQUFBQUFBQUFBQUFBQUFBQUFBQUFBQUFBQUFBQUFBQUFBQUFBQUFBQUFBQUFBQUFBQUFBQUFBQUFBQUFBQUFBQUFBQUFBQUFBQUFBQUE0Y3B5T3dES3BZanFUWnBVcU9TTnZ0akljN0hIOGxSek8xQ1lLcmFOdGQ1WFVyeDhSNHd5dFdGRHNkdUJBSnc4Q2hkbHF2NTViZXBGZXN4OWt2V0FMS3VTMjNuS0EyT01MVXR2MkNXK0Y3YWwvcmhSa25FN0U0QVRGK0YyQUpRckVaRWVjNThzYTVoa1JkV3ZWMWZuTldtaTJOZ1l0M09GSmIvZnJ4MlpXVnIvNHdhUGJkdDNlU0lpcWxWcjFPaFB1V2xwZTkzT0J1REVjWVNMTWxPclpjdTRpaWJxUjB0cU1PRE92bnJ5MGIrN0hhbGNTRm0zWG5mY1BWQUhEaFRJK095KzZmOU5tZWwySmdBbnp1dDJBSlFmVmVKcW5oMFpFVEdxK1hsTk5mWGxGOTJPVTI3VXJuMldQQjZQdmxtMlhNWlM5TjdzTEFvWENFTWV0d09nL0lpS2p1Z29TUzJhTjNNN1NyblQ4dGZIMUpJYXVod0Z3RW1pY0ZGbUxHT2RKVWtWWW1QZGpsTHV4TWJHS0NJaVFwSTRFUTBJVXhRdXloNW5CcHdHRmc4ckVPWW9YQUFBSEVEaEFnRGdBQW9YQUFBSFVMZ0FBRGlBd2dVQXdBRVVMZ0FBRHFCd0FRQndBSVVMQUlBREtGeUV0ZW5UcCt2bm4zOCtyYmZoOC9uazgva0NsL2ZzMlJOMEdRQktnOEpGMk1yTXpOUXJyN3lpU3BYKytOc09zN0t5U3YxVFdGZ1l0TzI4ZWZQVXQyOWZTWWRHNXQxeHh4MzY0b3N2VHN0OUFsQitNUThYWVdQR2pCbWFNbVZLNFBMaEk4OWJicm5sZDdjWk1XS0VrcEtTMUxObno2T3VLeXdzVkhSMHRDd3IrRXNUeDQ0ZHE4VEV4TURsdVhQbjZwcHJycEVrTFYyNlZBVUZCYnJxcXF0TzllNEFPTU5RdUFnYmZmcjAwYzAzM3l4SjJyNTl1L3IzNzYrMzNucExEUnYrL2dDZHFLZ29TZEkzMzN4ejFIVlhYbm1sWG56eFJTVWtKUHp1OWhrWkdVcEpTZEhUVHo4dFNabzFhNVo4UHArdXZQSktTVkowZEhUUStzT0hEMWUzYnQxTzdJNEJPQ05RdUFnYkVSRVJpb2lJa04vdjF3c3Z2S0IyN2RxcFJZc1dwL1UyWjgyYXBiUFBQbHUxYTlmV2dnVUx0R1hMRnMyYk4wK3paczFTVVZHUi92YTN2NTNXMndkUWZsQzRDRHN2di95eVZxMWFwYmk0dU1DUjVwRjhQcCthTld1bTVPVGtVN3FkclZ1M2F2YnMyYXBUcDQ3MjdkdW5jZVBHNmU5Ly83dXFWcTE2U3ZzRmNHYWljQkZXWnN5WW9Sa3pac2pqOGVpcnI3NDY1anBMbHk3VjY2Ky9mc3EzOWNJTEx5Z2hJVUU3ZCs2VVpWbnEzYnUzcnIvKytzRDE3Nzc3cmo3KytPUEE1UVlOR3VpTk45NDQ1ZHNGVUQ1UnVBZ2IwNmRQMTVRcFUvVDAwMDlyK1BEaGdST1pmcXU0dUZpTkd6YytwZHZ5K1h6S3ljblJpQkVqOVBqamo2dFNwVXI2eTEvK0VyVE9iYmZkeGx2S0FFcU53a1hZaUlpSTBMaHg0OVN5WlV0NVBCNHRYTGp3bU91VnhSRnVSRVNFcGsyYnBoMDdkcHpTZmdEZ01Bb1hZZVB3NzhMbTVlVTVjbnNWS2xRNDd2V2ZmZmFaMXExYkY3UnM4dVRKOG5xOXB6TVdnREJGNFNJczJiWjlXdDlTTG8xMjdkb0ZYZ1FjUnRrQytEMFVMc0xTaWJ5bG5KK2ZmOHl2WWpUR0tEOC8vNWhIekZXcVZEbnFDekYrcTJyVnFtclNwTWtKSmdkd3BxSndVUzRVRmhZcUxTMU5VVkZSK3ZMTEwxV3hZc1hBZGNPSEQ5ZmF0V3VQdWQySUVTT091WHpldkhuOCtnK0FNa1hob2x6dytYeDY0b2tuSkVtVksxY09PbnY0bFZkZWNTc1dBQVJRdUFnN1ZhdFcxZmZmZngrMExDNHVUaDk4OEVHWjMxYVRKazMweVNlZkhMVjg0TUNCWlg1YkFNbzNwZ1VCQU9BQUNoY0FBQWRRdUFBQU9JRENCUURBQVJRdUFBQU9vSEFCQUhBQWhRc0FnQU1vWEpRWlkxUXNTWDZmMyswbzVZNXQyN0tOa2FRU3Q3TUFPRGtVTHNxUStWbVNkdTNlN1hhUWNtZDNkbzc4ZnI4a3BibWRCY0RKb1hCUlpnNldtQjhrYWRtSzc1VzNkNi9iY2NxVnVmTStsU1FabVhWL3NDcUFFTVZYTzZMTVZERDVlNDFkZWY3Qmc0VmRiKzkvang2OGI2RHExajFiRVY3K21wME0yOWc2ZUxCUWMrWjlxb1ZmTHBHUmNpeS81eDIzY3dFNE9jZWZQd2Fjb0hQT2EzMkZ4Mk9OOTFqV1JSNlBSMVdxVkZaVVpKVGJzY0tTYmR2SzI3dFhKU1VsTWxLZU1XYk1Way9KSkczWVVPeDJOZ0FuanNKRldmUFVQZSs4NmxHZTJBY2tkYktraTJSWmxkd09kU3hleXlnNndpUGJOaXIwR2VrUDV0ODZ6cGhpWTZ5TmtsbmxsLzgvMi8yRjY1U2FXdVIyTEFBbko4U2VZUURudEduVDVobXYxenZDR0NPZnozZnh1blhyVnJtZENVRDV4VWxUQUFBNGdNSUZBTUFCRkM0QUFBNmdjQUVBY0FDRkN3Q0FBeWhjQUFBY1FPRUNBT0FBQ2hjQUFBZFF1QUFBT0lEQ0JRREFBUlF1QUFBT29IQUJBSEFBaFFzQWdBTW9YQUFBSEJEaGRnQ0hlZXZYUDcrS1ZURXFKc0tqU0xmREZCVVZtU2hieFQ3ZnZyMFpHUmtIM2M0RGhDQnZ2ZWJOcThvWEZSc1Y2Zlc2RmFLb3FNajRqS2NvcWlSdkgvOVdjYkxPbU1JOXAxbEMzUWlQL1djamRiT01hU3lwcHR1Wm9xT2pTb3hNWnFTcCtYOE5tOVY0YmV2bXRmOG55ZTkyTGlBVXhKL1hxcms4M3JzczZScEY2RHpKVkhZclMzUlVaSEdVbEdHaWFuemI4THhxTTdadThYOGhiU2gyS3cvQzB4bFJ1UEh4OFRIeW1GY2tLeW1oVGV1b1h0MXZWTk9talZXeFFnWFhNdmx0dnpKKzJSRzU0dnRWNTh5Wi8xbmZQYm01VjhlZjEzcEUrcGFVTjEwTEJZU0ljNW9sMUpYSFRKRlJ4dzd0TC9QZTFQVjZOVy9XVkJFUnpqOWxHUmxsWmUyS1dyTDBtMFlmZkR6MzNJS0NnNTNqei9QZW43NUZIenNlQmdocFRacEVOMnpSNXEzbWJTOHpMMDk1MVlTaS82YW1tVzQ5YnpPTldpYVloazFhdFpka3VmMnduUW5hdEduenpJVVhYbWdTRWhKTXExYXRMbkk3RHc2Smo0K1BpVy9SOXVNTEx1NWczbm4zUGJmL2VRYkp5dHBsa3JyM051ZTJUTWcvcDhrRmpkMStyQkJleXYxSlUvR2VpdmRGZWlQNjNUUGdUdjI1ZnorMzR4eFRrOGJuYXV5b2thcGZyNjZzQ00vTDhjM2JOblE3RStBV0UxMzU4WXF4c2QwZisvc1E5Ym5sWnJmakJLbFZxNmFlR2ZPazRzK3BYOEVUNGYyNGZ2M3pxN3VkQ2VHalhCZHU3Y2F0ejVKSGZhcFhxNmE3N3JoTjBkSFJia2Y2WGEwdmFLbDcvblNYWkZuTmJGdlh1SjBIY01NNXpaclZ0U3hQdjBibnhxdnI5ZGU0OGhieThWaVdwUXRhdGxEUG0yK1NSMnBxVllqZzN5cEtyVndYYnJUSHV0U1MxYmpIVGQxVXEyWU50K01jbDhmalVjK2JibEQxcWxVcmVEeTZxbjc5K3JGdVp3S2NaaW5tY2xtcTJmVzZhMVNsc212blNCMlgxK3ZWN1gxNldsSFJVZEVlcjdyVnJ0MjZvdHVaRUI3S2MrRkdXRjVkVjZWSzVWcjNETGl6ekhlK2R1MWFkZS9lWGRuWjJXVzJ6NG9WSytqMlByZElsdW5zclZTcGFwbnRHQWdEdFdxMWpQTllWbEwxYWxVcjl1blZvMHoydVhmdlhqMzY2S082L1BMTDFhVkxGMDJkT3JWTTlsdWplblgxdXJtN0xGa2RvaXRaOFdXeVU1Ujc1YmR3bXpUeFdzWnExTDdkcGFwWmhrZTM2OWF0MDhNUFA2eUJBd2NxSXlPanpQWjcyTldKVjhxU1ZVZDJaSXN5M3prUXdxdzRUMFhKTkx6NnFpdFZ2VnJadk41ODdMSEh0SFBuVHIzeXlpdjYyOS8rcHRkZWUwMXo1c3dwazMzM3U3MlBaQlR2dGV6UWZ2c01JYVBjRm03dC9SVWlqR1VhbFBYYlVnc1dMRkMxYXRYMDdMUFBsdWwrRDZ0U3VkS3ZMeEE4WjUrV0d3QkNWR3lVcDRLa3VtVlZ0cHMyYmRKMzMzMm4wYU5IcTNYcjFycnBwcHQwNDQwMzZyMzMzaXVUL2RjOXU0NHNTMTVqZVRseENxVVNXbWNrbENHN2hzK3k3TWhxVFpzMEt0UDlEaGt5UkpabGFjT0dEV1c2MzhNaUl5TlZPYTZTZHUvT1B1KzAzQUNPeVJoVEp5RWhnYlBEeTE3SjZ0V3JkNVJtUlo5bFJVWktWYzV2MmJ4TWJuamx5cFdxVjYrZUdqYjgzLy9XU3krOVZKOTg4b2w4UHQ4cG41RGw4WGhVdlhvMTVXVG44dmNHcFZKdUM3ZFNZYUhYUkVmVnJsdW5UcG51MTdKTzc2L0lSa2RGcVhyMWFrcE5TNi83ZStza0pDUzBsUFNOWlZsOHpuc0tqREdTRHYwL2pZcUsrbjh1eHltWGpERzdtemR2M21MVHBrMDVmN1J1bFBISEdDdWlWb1A2OWN2a3RqTXlNbFMzYnZBL283UFBQbHUyYlNzN08xdDFUdkc1d2JJc3hWV3NxSnpzM0dhbnRDT2NNY3B0NFVxU01iSThuakQ3RGdsTE90VHA1bmVEMjdaOW1kZnJyV3FNeVpkVWRtZHRuV0dNTVpHU2FraXlqVEZiTE12eXVaMnB2RERHeEZpVzFjaXlyRnBSVVZGblMvckR3cFV4bGl4amVUeGw4MGxYUVVHQlltT0RUL2FQaVltUkpKV1VsSlRKYlVpU0xPUGFkendqdkpUYnd0MFhHV25IeVdSbTdOaFp6KzBzSjZLb3FGZzVPYm15TFAxeW5OVU9EMTc0dkxpNGVJUVR1Y296cjlkYm1KS1NVdlpud0ozQkxyend3aWJHbVBja3RmWDcvYVVxcENMTFd4aGxhVmY2dG0xMVdsM1E4cFF6UkVaR0hsV3NSVVZGa3Y1WHZLZkNHS1A4QXdXU3NVN1A1MHNvZDhwdDRYcnpvbTFWVTE3YXorbGhWYmdsSlNYYWZ5QmZ0cTNVMzF2SDYvVmFrbVJaMXY0ZmYvenhkOWNEd2tta1ZDeWpmWnMyLzdmT2pWMnZQK1g5blhYV1dVcEpTUWxhbHBXVnBhaW9LTldvY2VvbkZ0dTJyZHpjWEJuYmJEL2xuZUdNVUc3UFVzNnFWT0NUWlczYnQyKy8yMUZPU0g3K0FlM2VuUzBaZTZmYldRQW5IU3kyQ3lUOWtwdTN0MHoyMTdwMWEvMzg4OC9hdlh0M1lObUtGU3QwMFVVWHFTemV0dDYxTzF1MmJkdWVDSnVQZFZBcTViWndsWnJxTjhiOHRQVGJaY3JPL3VPUGowTEZnaThXeThoa1doRytIOTNPQWpqSjVOc0hKR3ZyNTR1KzFKN2N2RlBlMzZXWFhxcHp6ejFYbzBhTjBxWk5telJ2M2p6Tm1UTkhBd1lNS0lPMDBodHZ6NUNrLy9wTEtGeVVUdmt0WE1sbkdYdlIzcng5MlcrK004dnRMS1ZTVUZDZzl6NzhSTEwxVmNuZXZXWHpNaDhJRTd0M2I4ZzM4aS9jazV0YjhORW5wMzdTdU5mcjFmang0K1gzK3pWZ3dBQk5tVEpGVHp6eGhDNisrT0pUM3ZlZTNEeDlOR2VlSkgzcjhSMUlPK1VkNG94UWJqL0RsU1FWK1pjcnh2dnpleDk5WFBOUGQ5NnU2dFdybGRtdVc3WnNxVldyVnBYWi9vd3grbitmTHRDdTNka0hKZlBWamgwN0NzcHM1MENZOFBtcy80dUtORGx6NW45V29VK3ZtMVVwTHU2VTlsZS9mbjFObVRLbGpOSWRZdHUyWm4vd2tRNFdGQlFabVhsYjA5TUx5L1FHVUc2VjV5TmNwYWR2eUxSbDNzM0p6dEhVMTZjSHpsQU1SU25yZnRUTFUxNlZMTE5KbHVkVHQvTUFidmdsTlNWRHhyeVZtdnFUUHBrN1h6NWZhUDJtbGpGRzYzN2NxTmtmZkN4YitxOC8zNy9ZN1V3SUgrVzZjQ1dwTU5kTThkbjJlKys4TzF0dno1enRkcHhqK2psOXE4WThPMDRadit5UXNjMnc5RTFydHJxZENYREwvdXlpWndzS0MrZVBuL2dmZlR4M3Z0dHhnbVRuN05Ib3AvK2xyZHN6Q3Z6RmR0K01qQi8zdUowSjRhTjh2NlVzS1NzcjVVRDl5UHI5ODAzTnFrOC85Ky9FQlY4c2liaTl6eTFxM3F5cDRpcTZOMVhMNy9kcjIvWmY5TzEzeXpWOXhpeFRjUERnWHR1WVI3WnRUdm5TdFZCQUNNak8zcncvdW1ycmdUbTVlUi85L2JFbkw1ei8yVUxQTFRmZnFKWXRtaWt5TXZLUGQxREdqREhhbVptbFJWOHUwWXpaSDVpQ0F3VTVmdU8vTHlOdDNUckh3eUNzbGZ2Q2xhU01qSXlEOWMrcjhhZElyKzVlc1dyVkRkK3YvS0dSTE5WME81Y3hPaWhwdDZTdmpiRmYyN1k1NVN1M013R2g0SmZVbEl6NDgxcmRLWS8zcnNYL3QvVGFKZi8zZFZOWmNuRkFyaWsyUmhuRzZGdmIwdHZiTjYvN3dyMHNDRmRuUk9GS1VzYVd0YjlJZXFiK2VXMlNJK1N2WkNraTJ1MU1mcS9mYjRyOWhRVlcwYTQ5cWFuNzNNNERoSkwwTGVzMlNScFZyMG5yVjd6eVZQWjY1UHpoN2E5S1BIN2I4cG1DQXlyY3piOVZuS3d6cG5CLzVmdTFlQUdFaDVKZlV2bmFUWlFQNWY2a0tRQUFRZ0dGQ3dDQUF5aGNBQUFjUU9FQ0FPQUFDaGNBQUFkUXVBQUFPSURDQlFEQUFSUXVBQUFPb0hBQkFIQUFoUXNBZ0FNb1hBQUFIRURoQWdEZ0FBb1hBQUFIVUxnQUFEaUF3Z1VBd0FFVUxnQUFEampUQnRDSHBkYXRXNS9yOVhyN0hMSG8wbC8vZTBGQ1FzSWpoeGZhdHIxZzdkcTFxNTFOQndBb0RjdnRBUGhqYmR1MnJXcFoxaStXWlZVNHptb0Z4Y1hGcmRldlgvK1RZOEdBSXlRa0pJeVFkT3V2RjZNdHk0cVhGQ3Rwc3pIbTRLL0wwd29LQ2daczNyeDV2eXNoQVJmeGxuSVlXTE5tVFo0eDVrdEpNc1ljOWZPcmRkSFIwVHZkU3dub3Y1Wmx0YklzcTYya0ZzYVkyRi8vamphVDFOYXlyTGJHbUgyVUxjNVVGRzZZc0cxNy9QR3VOOFo4dm1yVnFpS244Z0MvNWZQNWZqVEcvUHdIcTAxekpBd1FnaWpjTU9IeitWWVlZOUl0NjlDbkFFZisxeGlUWjl2Mjk1TDhMa2JFR2U3QWdRTTdKVzA1Zk5teXJNRGZVMG15YlR0dHpabzFLOXpJQm9RQ0NqZE14TWJHRmtuNjdIZXVUalhHL09oa0h1QzMwdExTOWhwajF1alhGMzVIZk53aHk3TGs4WGhlaytSektSN2dPZ28zVEt4YXRhckV0dTNGeHBnQ0tmakpUTkxhbEpTVWRIZVNBZjlqalBsVVV0RVJsdy8vOGFEUDUvdTlGNHpBR1lIQ0RTTzJiVytVOVBPUmI5UDl1bnkrSkhQTWpRQUhSVVJFTExkdGUvdVJ5Mzc5MkdOZGNYSHhWcmR5QWFHQXdnMGpCdzhlM1BMYnQ0Nk5NWHNPSERpd3lLMU13SkZXclZwVjR2RjQzanJ5UmFFNVpOR21UWnYydVJnTmNCMkZHMFpTVTFPTExNdGFJUVdka0xJd05UV1ZKektFREovUE44MFlrMy80c21WWit5VjlMNm5FdlZTQSt5amNNRk5TVWpKZi96c3B4Ylp0ZTVMTGtZQWdLU2twdXlSOWZmaEZvVEZtbDIzYks5M09CYmlOd2cwejY5ZXYzM2pFN3pydVhydDI3ZGV1QmdLT3dSanpydm4xakNsanpKYVVsSlFNdHpNQmJxTnd3NURmN3g4alNjYVlPVzVuQVk3RkdMTlJVdDZ2ZjM3ZjVUaEFTS0J3dzFCS1NzcDBTZHNzeTFyZ2RoYmdXSXFMaTdkTFdtV01PYkI3OSs1WmJ1Y0JRZ0hEQzA1Q3RVYU5xbFNKaW50WXhsUEZyUXdWSW5WeGtkLzg3TGV0SExjeVNKSnRtVTNiTnEyZEtuNHRDYitSa0pBd1dsTEQxYXRYRDNBN0N4QUtLTnlUME9DODFuZDV2WjQzM2N4dytBc0ZmdnM3dVM3a01BZExUSjJzbjFKMnVSb0VBUTBhdEtybXFXQU5rcXpLYnVhSTlPZ2NZNnZZSjJXNUZzSzJDbTI3NUwxdHFUOXVjQzBEOEN2bTRaNEVqNlZxa3RRb3ZxSGF0bW50ZGh4WDdNL1AxL0lWSzdWdi8zN0w2N1dyUzZKd1E0UW4xbk9yWlZuL2REdUh6eGdadWZ5aTBDdFpIbTg5U1g5eEx3UndDSVY3Y2l4SmF0L3VVbzE1OGpHM3M3Z2k3ZWQwM2ZmZ01PM2J2MS9HR040cENTV1dxU1paYW41ZVU3VnMwZHp0Tks3Wm1abXBaY3UvbDNUb0JUTGdOZ29YS0dlTVpGbVN1blMrVWtQK2RyL2JjVnl6Nk1zbGh3dVhGNFFJQ1p5bERBQ0FBeWhjQUFBY1FPRUNBT0FBQ2hjQUFBZFF1QUFBT0lEQ0JRREFBUlF1QUFBT29IQUJBSEFBaFFzQWdBTW9YQUFBSEVEaEFnRGdBQW9YQUFBSFVMZ0FBRGlBd2dVQXdBRVVMZ0FBRHFCd0FRQndBSVVMQUlBREtGd0FBQnhBNFFJQTRBQUtGd0FBQjFDNEFBQTRnTUlGQU1BQkZDNEFBQTZnY0FFQWNBQ0ZDd0NBQXloY0FBQWNRT0VDQU9BQUNoY0FBQWRRdUFBQU9JRENCUURBQVJRdUFBQU9vSEJEekYvLytsY05IVG8wYU5tQ0JRdlVxVk1uRlJVVnllZnphY0tFQ2JyNjZxdlZ1WE5ualJ3NVVubDVlWUYxWjg2Y3FadHV1a250MnJYVExiZmNvdHpjWEtmdkFzcXh3c0pDWFhIRkZab3hZMGJROG1lZWVVYjMzMysvSkNrbkowZkRodzlYeDQ0ZDFhMWJOMDJlUEZsK3Z6K3cvVFBQUEtNdVhicW9RNGNPR2pKa2lPUDNBWEFMaFJ0aWtwS1M5TjEzMzZtd3NEQ3c3SXN2dnREVlYxK3Q2T2hvdmZ6eXkxcTZkS21lZmZaWlRabzBTWm1abVJvN2Rxd2s2WnR2dnRHTEw3Nm9oeDkrV08rODg0NzY5ZXNueTdMY3Vpc29oMkppWXBTWW1LZ2xTNVlFbHRtMnJjV0xGeXNwS1VuR0dBMGRPbFIrdjErdnZmYWFSbzRjcVk4KytranZ2ZmVlSkduS2xDbGF2bnk1eG84ZnIrVGtaTFZ2Mzk2dHV3STRqc0lOTVowN2Q1WnQyL3J1dSs4a1NVVkZSZnI2NjYrVmxKU2t2THc4elpneFEyUEdqTkVsbDF5aWxpMWI2b0VISHREaXhZdFZXRmlvclZ1M3FtTEZpbXJYcnAwYU4yNnNIajE2cUdyVnFpN2ZJNVEzU1VsSldyMTZkZUNkbGJWcjF5by9QMStKaVluNit1dXZ0VzNiTmozenpETnEzcnk1T25Ub29ENTkrdWpUVHorVkpHM2J0azMxNjlkWHExYXQxTHg1Yy9YdTNkdk51d0k0aXNJTk1YRnhjYnI4OHNzRFJ4RGZmdnV0NHVMaWRQSEZGK3VubjM2U3orZlRQZmZjbzQ0ZE82cGp4NDZCdC9FeU16UFZwVXNYeGNiR3FsZXZYcG8xYTFiUVVUSlFWaTY5OUZKVnJWcFZTNWN1bFNRdFdyUklWMTU1cFNwV3JLaU5HemRxMzc1OVNreE1EUHdkblRadG1uYnUzQ2xKNnQyN3QxYXRXcVVCQXdab3laSWxNc2E0ZVZjQVIwVzRIUUJIUzBwSzB0TlBQeTIvMzY5Rml4YnB1dXV1azhmamtjL25reVJOblRwVmxTdFhEdHFtVHAwNmlveU0xUHZ2djY4UFB2aEF5Y25KZXVlZGQ1U2NuS3lhTld1NmNUZFFUbm05WGwxenpUVmFzbVNKYnJqaEJuMzU1WmQ2OU5GSEpVa2xKU1dxWDcrK0prNmNHTFNOeDNQb3RYMjdkdTMwOGNjZjY2MjMzdEpqanoybVN5NjVSQysrK0NJZmZlQ013QkZ1Q0xyODhzdmw4L24wL2ZmZmErblNwVXBLU3BJa05XellVSkswYTljdW5YUE9PVUUva1pHUmtxVFkyRmoxNjlkUDc3Ly92dmJ0MjZlRkN4ZTZkajlRZmgwKzEyRGx5cFVxS2lwU2h3NGRKRW5ubm51dU1qTXpWYUZDaGFDL24vWHExUXRzVzd0MmJRMGJOa3lUSmszUzExOS9yZFRVVkxmdUJ1QW9qbkJEVUZSVWxEcDM3cXhKa3lhcFZxMWFhdEdpaGFSRFI3R0ppWWw2N3JublpJeFJnd1lOdEhIalJtM2J0azMzMzMrLzVzK2ZMMGxxMGFLRk1qSXlWRmhZR0NocG9DeTFhdFZLTld2VzFJUUpFOVNsU3hkRlJCeDZLdW5jdWJOZWV1a2xEUjgrWElNSEQxWk1USXlXTFZ1bWV2WHE2YnJycnRQVXFWTjF3UVVYcUc3ZHVscXpabzJpbzZOVnUzWnRsKzhONEF3S04wUjE3ZHBWZ3dZTjBuMzMzUmUwL0lrbm50QzRjZVAwMUZOUFNaSWFOV3FrUVlNR1NUcDBkRHQrL0hqdDJyVkx0V3ZYMWtNUFBSUTQ4Z0RLMnZYWFg2OVhYMzFWdzRZTkN5eUxpWW5SeElrVDlkeHp6K212Zi8ycktsYXNxRFp0MnVpYWE2NlJkT2lNNWllZmZGSUZCUVZxM0xpeHhvOGZmOVRISTBCNVJlR0dxTFBPT2t2U29TZTFJMVdwVWlYd2EwQy9sWmlZcU1URXhOT2VEWkFPdlRWODl0bG5xMDJiTmtITG16WnRxbW5UcGgxem0wR0RCZ1ZlSUFKbkdqN0REVkZ6NXN4UlFrSkMwR2RmUUNpWk0yZU9icmpoQms1NEFrcUpJOXdRazVhV3B1M2J0MnYyN05sNjl0bG4zWTRESEdYOSt2WDY0WWNmbEphV3BoZGVlTUh0T0VEWW9IQkR6TXlaTTdWdzRVTGRlKys5NnRpeG85dHhnS004K2VTVEtpNHUxcmh4NDFTalJnMjM0d0JoZzhJTk1TTkhqdFRJa1NQZGpnSDhyZzgvL05EdENFQlk0ak5jQUFBY1FPRUNBT0FBQ2hjQUFBZFF1QUJLalhtNHdNbWpjRU1NQStnUnlwaUhDNXc4Q2pmRU1JQWVvWTU1dU1ESm9YQkREQVBvRWVxWWh3dWNISDRQTjhRY09ZRCtxcXV1Q2hwQXYzcjE2c0FBK3Q4NlBJRCtuWGZlVWE5ZXZYVFhYWGVwZS9mdWlvbUpjZUZlb0R4akhpNXdjaWpjRU1RQWVvUzZwS1FrRFJvMDZManpjSC92VzZnT3o4UHQzTG16N3IzM1hxV21wcXBwMDZaT3hnZGN3VnZLSVlnQjlBaDF4NXVIVzdWcVZRMGZQbHlyVjYvV3hvMGJsWnljck04Ly8xelNvUmVMMzM3N3JkTFQwNW1IaXpNT1I3Z2hpQUgwQ0FmTXd3Vk9ESVVib2hoQWoxREhQRnpneEZDNElZb0I5QWgxek1NRlRneUZHNklZUUk5UXhUeGM0T1JRdUNHR0FmUUlkY3pEQlU0T2hSdGlHRUNQVU1jOFhPRGtVTGdoaGdIMEFGQSs4WHU0QUFBNGdNSUZBTUFCRkM0QUFBNmdjQUVBY0FDRkcySVlRSTl3a1plWHA0c3V1a2lmZnZxcEJnNGNxSTRkTytxMjIyN1RwazJiQXV2NGZENU5tVEpGM2JwMTAyV1hYYVllUFhwb3pwdzVMcVlHM0VQaGhoZ0cwQ1BjdlBubW14bytmTGdXTEZpZzJyVnJhL1RvMFlIcnhvMGJwM2ZmZlZjREJ3NVVjbkt5dW5YcnBqRmp4Z1JtNlFKbkVnbzN4RENBSHVIbTl0dHZWK1BHalZXeFlrWDE3ZHRYVzdac1VYNSt2bkp5Y3ZUaGh4OXF4SWdSdXVtbW0zVCsrZWZybm52dVVWSlNrbDUvL1hXM1l3T09vM0JEekpFRDZDVUZEYUQvNmFlZkFnUG9PM2JzcUk0ZE8rcisrKytYOUw4QjlMR3hzZXJWcTVkbXpab1ZkSlFNbkM1SFRxU3FWYXVXcEVOdk4yL2V2Rm0yYmF0ZHUzWkI2eWNrSkNndExjM1JqRUFvNElzdlFoQUQ2QkZPdkY1djRNOGV6NkhYOE1hWXdJemNJNitYSk11eVZGSlM0bHhBSUVSd2hCdUNHRUNQOHFCUm8wYXlMRXNyVnF3SVdyNW16UnExYk5uU3BWU0FlempDRFVFTW9FZDVVTE5tVGZYczJWUFBQUE9NaW9xSzFLaFJJeTFidGt5ZmZ2cXBYbnJwSmJmakFZNmpjRU1VQStoUkhnd2JOa3d4TVRINjk3Ly9yWDM3OXFsUm8wWjYvdm5uZGRsbGw3a2REWEFjaFJ1aUdFQ1BVRmUxYWxXdFdyVXFhRmw4Zkh6UXNxaW9LQTBaTWtSRGhneHhPaDRRY3ZnTU4wUXhnQjRBeWhlT2NFTU1BK2dCb0h5aWNFTU1BK2dCb0h5aWNFTU1BK2dCb0h6aU0xd0FBQnhBNFFJQTRBQUtGd0FBQjFDNEFBQTRnTUlOWWIxNzk5Ymt5Wk0xZXZSb2RlclVTVjI3ZGcxOGZlTmhDeFlzMEsyMzNxckxMcnRNMTE1N3JWNTg4Y1hBa0FQZ2RHSUFQWEJpS053UU4zdjJiSFh1M0ZtTEZpMVNqeDQ5OUk5Ly9FTTVPVG1TRHBYdHlKRWoxYmx6WnlVbkordWhoeDdTM0xsek5XblNKSmRUNDB6Q0FIcWdkQ2pjRU5leFkwZGRjY1VWaW9xS1V2LysvZVgzKzdWKy9YcEowclJwMDNUenpUZHI0TUNCT3YvODg5VzFhMWM5K09DRG1qbHpKck53NFJnRzBBT2xRK0dHdVBqNCtNQ2ZvNktpVkxseVplWG01cXF3c0ZCcGFXbHEzNzU5MFBvSkNRbnkrWHphdm4yNzAxRnhobUlBUFZBNkZHNklPenpRKzhqTHhoaDV2VjU1UEo2anJyY3NTNUlZOEEzSE1JQWVLQjBLTjB4RlJrYXFRWU1HUnczM1hyMTZ0V0ppWXRTb1VTT1hrZ0dITUlBZUNNWlhPNGF4Z1FNSDZva25ubEN0V3JYVW9VTUhwYWVuYThLRUNicnp6anNWRXhQamRqeWM0UmhBRHdTamNNUFl0ZGRlcS96OGZFMmZQbDJUSjA5V3pabzExYTlmUC9YdjM5L3RhSUFrQnRBRFI2SndROWg3NzcxMzFMS0ZDeGNHWGU3WnM2ZDY5dXpwVkNRZ2dBSDB3SW5oTTF3QUFCeEE0UUlBNEFBS0Z3QUFCMUM0QUFBNGdNSUZBTUFCRkM0QUFBNmdjQUVBY0FDRkN3Q0FBeWpjRU1ZQWVvUXlCdEFESjRiQ0RYRU1vRWVvWXdBOVVEb1Vib2hqQUQxQ0hRUG9nZEtoY0VNY0ErZ1I2aGhBRDVRV2RKWVBBQUFnQUVsRVFWUU9oUnZpR0VDUFVNY0FlcUIwS053d3hRQjZoRG9HMEFQQkdNOFh4aGhBajFER0FIb2dHSVVieGhoQWoxREhBSHJnZnlqY0VNWUFlb1F5QnRBREo0YlBjQUVBY0FDRkN3Q0FBeWhjQUFBY1FPRUNBT0FBQ2hjQUFBZFF1QUFBT0lEQ0JRREFBUlF1QUFBT29IQkRHQVBvRWNvWVFBK2NHQW8zeERHQUhxR09BZlJBNlZDNElZNEI5QWgxREtBSFNvZkNEWEVNb0Vlb1l3QTlVRG9VYm9oakFEMUNIUVBvZ2RLaGNNTVVBK2dSNmhoQUR3UmpQRjhZWXdBOVFoa0Q2SUZnRkc0WVl3QTlRaDBENklIL29YQkRHQVBvRWNvWVFBK2NHRDdEQlFEQUFSUXVBQUFPb0hBQkFIQUFoUXNBZ0FNb1hBQUFIRURoQWdEZ0FBb1hBQUFIVUxnQUFEaUF3Z1Z3VWhoQUQ1d1l2bWtxaFBYdTNWdFhYMzIxc3JLeTlNVVhYeWd1TGs2REJ3OVcxNjVkQStzc1dMQkFyNzMybXRMVDAxV2xTaFYxN2RwVmd3Y1BEa3hxQVU2M045OThVMDgvL2JUcTFLbWp4eDU3VEtOSGo5Yk1tVE1sSFJwQXYyREJBajM4OE1OcTNMaXhsaTFicGpGanhxaGF0V3E2NG9vclhFNE9PSXNqM0JBM2UvWnNkZTdjV1lzV0xWS1BIajMwajMvOFF6azVPWklPbGUzSWtTUFZ1WE5uSlNjbjY2R0hIdExjdVhNMWFkSWtsMVBqVE1JQWVxQjBLTndRMTdGalIxMXh4UldLaW9wUy8vNzk1ZmY3dFg3OWVrblN0R25UZFBQTk4ydmd3SUU2Ly96ejFiVnJWejM0NElPYU9YT21DZ3NMWFU2T013VUQ2SUhTb1hCRFhIeDhmT0RQVVZGUnFseTVzbkp6YzFWWVdLaTB0RFMxYjk4K2FQMkVoQVQ1ZkQ1dDM3N2Q2YWc0UXpHQUhpZ2RDamZFSFg0Q08vS3lNVVplcjFjZWorZW82eTNMa2lTZTBPQTZCdEFEd1RpekpreEZSa2FxUVlNR1dyRmloYTY2NnFyQTh0V3JWeXNtSmthTkdqVnlNUjNBQUhyZ3R5amNNRFp3NEVBOThjUVRxbFdybGpwMDZLRDA5SFJObURCQmQ5NTVwMkppWXR5T0J6Q0FIamdDaFJ2R3JyMzJXdVhuNTJ2NjlPbWFQSG15YXRhc3FYNzkrcWwvLy81dVI4TVpnQUgwd0ltaGNFUFllKys5ZDlTeWhRc1hCbDN1MmJPbmV2YnM2VlFrQU1CSjRxUXBBQUFjUU9FQ0FPQUFDaGNBQUFkUXVBQUFPSURDQlFEQUFSUXVBQUFPb0hBQkFIQUFoUXNBZ0FNb1hBQUFIRURoQWdEZ0FBb1hBQUFIVUxnQUFEaUF3Z1VBd0FFVUxnQUFEcUJ3QVFCd0FJVUxBSUFES0Z3QUFCeEE0UUlBNEFBS0Z3QUFCMUM0QUFBNGdNSUZBTUFCRkM0QUFBNmdjQUVBY0FDRkN3Q0FBeWhjQUFBY1FPRUNBT0FBQ2hjQUFBZEV1QjBBUU5teUpDTkplWHYzS1gzck5yZmp1R2JYN3V6RGZ6UnU1Z0FPbzNCUFFXNXVualpzM094MkRGZGs3Tmlod3FKaXQyUGdHSXlzWWt2U0ozUG5hL0ZYUzkyTzQ1cURCd3NsU1paVTRuSVVRQktGZTFLTVViRWxhZjduQ3pYLzg0VnV4M0dkMXpZOG9ZV1FFbC9KbDlFUmtSbjc4L1ByNzgvUGR6dU9xNHhNbnQrMlBuRTdCeUJSdUNlbDJOaUxvNDIxMk1pcTVIYVdFTEFsNDZlWXJXNkh3UC9zU04yd1d0STVidWN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SlFkeSswQXdPbFF0MjdkQ2xHVmF6NG9XWlhkemdMZ3hQaU50bTdmdkhhcUpOdnRMR1dKd2tXNTFMQlpxenM4SHUvYmJ1Y0FjSEw4eG4veHRrM3JWcm1kb3l4RnVCMEFPQjBzV1RVbHFWRjhRN1ZvM3N6dE9BQktvYmk0V0t2WHBpZzdaNCtNejFQRDdUeGxqY0pGZVdWSlV1SlZuVFJ5K0JDM3N3QW9oZXljUFhwNCtHUEtYcmE4WExhVHgrMEFBQUNjQ1NoY0FBQWNRT0VDQU9BQUNoY0FBQWRRdUFBQU9JRENCUURBQVJRdUFBQU9vSEFCQUhBQWhRc0FnQU1vWEFBQUhFRGhBZ0RnQUFvWEFBQUhVTGdBQURpQXdnVUF3QUVVTGdBQURxQndBUUJ3QUlVTEFJQURLRndBQUJ4QTRRSUE0QUFLRndBQUIxQzRBQUE0Z01JRkFNQUJGQzRBQUE2Z2NBRUFjQUNGQ3dDQUF5aGNBQUFjUU9FQ0NEbjc5Ky9YcDU5K0ttUE1DVzJYbTV0N1F0c1VGeGVmYURUZ3BFVzRIUUJBK1hIMzNYZHI3ZHExcFY1LytmTGxpb2dJZmhvcUtTblJrQ0ZERkIwZHJTNWR1aWd5TXZKM3QvL3l5eThWRVJHaFRwMDZ5Ylp0ZGUzYVZXKy8vYllhTjI2czJiTm42K2VmZjlhRER6Nm9tSmlZbzdiZHNXT0gvdnpuUCt2dHQ5OVdqUm8xTkgzNmRLMWJ0MDdqeG8yVEpHVm1abXJ0MnJXNjdycnJTbjEvZ09PaGNBR1VtU2xUcHNpMjdhQmxNMmJNMEk4Ly9xaW5uMzQ2c013WUk4dXlqaXBidjkrdko1OThVc1lZUGYvODg0R3lYYlZxbFh3K255Njc3TEtnOVY5NTVSWDk1Uzkva1hTb1FDVXBQajVla3RTMWExZU5HalZLdDk5K3V5Wk9uS2o2OWVzSHR0dTNiNThlZXVnaDllL2ZYelZxMUFnc0x5a3AwWklsU3pSdjNqeHQyTEJCU1VsSnV2cnFxNC9LQ1p3TTNsSUdVR2E4WHE4R0R4NnM5UFIwUlVkSEt6bzZXbDZ2VjVabEJTN3YzYnRYdDk5K3UzSnpjNE8yTFNvcTBpT1BQS0k5ZS9ab3dvUUpRVWVsdG0zcjBVY2YxWW9WS3dMTFVsSlN0SHYzYnAxLy92bkt5c3JTOHVYTGRjNDU1eWc3TzF0WldWazZjT0NBaGc4ZnJodHZ2RkdXWlNrckswdTJiU3NySzB2MzNudXZ0bTNicHR0dXUwMlptWm42K09PUDllV1hYMnJac21XYVAzKyt1bmZ2cmpsejVtamd3SUY2N2JYWEhIdjhVTDd4c2cxQW1mRjRQT3JVcVpQKy92ZS9hOGFNR1lxTGl6dHFuYkZqeDZwSmt5YXFVNmRPWUZsT1RvNGVlZVFSMWF4WlV4TW5UbFJVVkZUUU5xMWJ0OWFqano2cW9VT0g2b1VYWHRDbGwxNnFYYnQyS1M0dUxuQ0VtNXVicStqb2FOMTk5OTFIM2VZSEgzd2dTWHJ6elRjMVlNQUE5ZTdkVzFPblR0WCsvZnZWdjM5L3RXM2JWalZyMXRSbGwxMm01NTU3THJEZDl1M2I5ZEZISDJuZ3dJRmw4dmpnekViaEFpaFQvZnIxMDlkZmY2M25ubnRPLy9qSFA0S3VTMDVPVmxwYW1tYk9uQmxZbHArZnJ4NDlldWpBZ1FOcTBxU0ordlRwbzZLaW9zQlBjWEd4b3FPakZSc2JxNnBWcTJySWtDRWFQMzY4dW5UcG9pNWR1a2c2ZEFUY3JWczNqUjgvWHMyYk56OXV2bGRmZlZYMTZ0WFQxS2xUVmFsU0pYMzIyV2V5TEV1clY2L1cvZmZmcnhFalJxaENoUW95eG1qdDJyVktURXdzK3djSlp5UUtGMENac2l4TGp6Lyt1UHIxNjZlZE8zY0dsdWZrNU9pZGQ5N1JmLzd6SDFXcVZDbXdQQzR1VG9NR0RWTHQyclZWdlhwMXhjWEZLVFkyVmhVclZsUnNiT3hSSnp4Tm5UcFZreWRQMWlXWFhCSll0bkxsU3UzYXRVdERodzQ5WnFaYmJya2xjT1JicjE0OVNWTHYzcjBEZVNVcElTRkI3Ny8vdnJadTNScjRqTGxQbno1cTBhSkZHVHdxQUlVTG9Jd1VGeGVyb0tCQWtsU3BVaVZObno1ZHNiR3hLaXdzVkVsSmlieGVyOTU4ODAzRnhjVXBMeTlQa2hRVkZhVUtGU3FvYjkrKzJyOS92NHFLaWdMNzgvdjl5cy9QVjM1K2Z0RHQvUG5QZjFiZnZuMkRsczJhTlV2ZHUzZlh0bTNiOU5KTEx3V1cyN2F0Tys2NFEwMmJOZzFhLzhNUFA5U2NPWE0wWjg2YzQ5Nm5vVU9IVXJnb014UXVnREt4Wk1rU2pSNDkrcWpsUHA4djhKYnZiOTEwMDAxNjVKRkhKRW1qUm8zU3FsV3JGQnNiZTh6OUcyT1VuWjJ0cFV1WEJuMDJ2SEhqUm0zWXNFRno1c3pSdmZmZXE5V3JWNnRqeDQ2U3BMZmVla3QxNnRUUkZWZGNFYlN2a3BJU1hYMzExWHJ5eVNjbFNWbFpXZHF5WlV2UWVxTkdqZUwzZEZHbUtGd0FaZUxhYTYvVnRkZGVlOVR5My81KzYvRTg4TUFENnRXcjF6R3ZLeWdvT0tvNGZUNmYvdld2ZituKysrOVhaR1NrSG4vOGNRMGVQRmpqeDQ5WFptYW1aczZjcVduVHB2M2g3Vzdac2tYVHAwOC9hdjlBV2FKd0FZU3RxVk9uS2lvcUtuRDAzS1JKRTQwY09WTDMzbnV2akRGNi9mWFhBNS9aSGs5bVpxYjhmcjhLQ2dwVW9VS0YweDBiWnlnS0YwQlltajE3dGo3NjZDUE5tREZEbG1VcEx5OVBuMy8rdWQ1OTkxMjFiZHRXaFlXRmV1U1JSOVMvZjM5MTZkSWw2RzNvbGkxYjZxeXp6cEowNk9nMk9UbFpkZXZXVlZKU2t0cTFhNmZycnJ0TzdkcTFVNE1HRGR5NmV5aUhLRndBSWVQNTU1L1grUEhqLzNBOTI3YTFlUEZpVFp3NFVhdFhyOWFISDM2b05XdldxRjI3ZGhvNWNxUXV2dmhpU2RMaXhZczFkZXBVUGYzMDArcllzYU9lZi81NWJkMjZWZG5aMlVwTFM5T3NXYk8wYWRNbTNYZmZmZXJUcDQvMjd0MnJMNzc0UXUrODg0NVNVMU4xMVZWWDZkWmJiMVhMbGkxUDkxM0hHWURDQlJBeWhnMGJWcXJQY0QwZWovN3puLzlJa3FLam85V3BVeWVOR1ROR3RXclZDdG9tTVRGUmlZbUpXcmR1blNRcElpSkNYMy85dFpZdFc2YjQrSGoxNnRWTDdkdTNWOFdLRlNWSlZhcFVVYytlUGRXelowK2xwNmZyNDQ4LzF2NzkrMC9YM2NVWnhuSTdBSEE2eERkci9aRGw4WXovODRBN05YTDRFTGZqQUNpRjdKdzllbmo0WS9wbTJYTDVqTGx1KzZhMUM5ek9WSmI0TG1VQUFCeEE0UUlBNEFBS0Z3QUFCMUM0QUFBNGdNSUZBTUFCRkM0QUFBNmdjQUVBY0FDRkN3Q0FBeWhjQUFBY1FPRUNBT0FBQ2hjQUFBZFF1QUFBT0lEQ0JRREFBUlF1QUFBT29IQUJBSEFBaFFzQWdBTW9YQUFBSEVEaEFnRGdBQW9YQUFBSFVMZ0FBRGlBd2dVQXdBRVVMZ0FBRHFCd0FRQndRSVRiQVlEVHhFalNqeHMyS25uNk8yNW5BVkFLQnc0VWFNZk9URW1TNWJlTXkzSEtISVdMOHNuV0xubWs3MWFzMUhjclZycWRCc0FKc2oyK0xMY3psRFVLRitYU2dUemYzQW8xSXY1dUdVODl0N09nYkVWNmRWYUVSM1Y5ZnBOWllsdVpidWZCYWVDeGwyZHNYditqMnpFQTRJeldwazJiRVJkZWVLRnAwNmJOYUxlekFDZUNrNllBQUhBQWhRc0FnQU1vWEFBQUhFRGhBZ0RnQUFvWEFBQUhVTGdBQURpQXdnVUF3QUVVTGdBQURxQndBUUJ3QUlVTEFJQURLRndBQUJ4QTRRSUE0QUFLRndBQUIxQzRBQUE0Z01JRkFNQUJGQzRBQUE2Z2NBRUFjQUNGQ3dDQUF5aGNBQUFjUU9FQ0FPQUFDaGNBQUFkUXVBQUFPSURDQlFEQUFSUXVBQUFPb0hBQkFIQUFoUXNBZ0FNb1hBQUFIRURoQWdEZ0FBb1hBQUFIVUxnQUFEakFjanNBQUJ4UDI3WnQyMG9hYzhTaXhwWmx0VERHYkpHMDVmQkNuODgzZXYzNjlTc2REd2lVRW9VTElLVFZyMTgvdGxhdFdobVdaVlgvdlhXTU1ibFpXVm4xZCt6WVVlQmtOdUJFOEpZeWdKQ1drWkZ4VU5JN2ttU01DYnJ1OEdWanpQdVVMVUlkaFFzZzVQbjkvbytQZDcxbFdiT2R5Z0tjTEFvWFFNaXpiZnRIWTB5cVpWbEhIdFhxMTh1cFBwOHZ6ZVdJd0IraWNBR0V2UHo4L0wyU3Z2MmRxNy8xKy8yN25Nd0RuQXdLRjBESVMwOVBMN1FzNjN0SmhWTFFaN2ZGbG1WOXYySERobnczOHdHbFFlRUNDQXUyYlg4dEtlaEkxcktzZmI4dUIwSWVoUXNnTE9UbjUyODB4dnozeUdYR21MVDgvUHlOYm1VQ1RnU0ZDeUFzcEthbUZobGozclVzUzBmOHZKV2FtbHJrZGphZ05DaGNBR0VqUHovL0UwaytTVExHbFBoOFBuNGRDR0dEd2dVUU5sSlRVM2ZidHYzVHJ4ZC9Ta2xKNGV4a2hBMEtGMEJZc1N4cnRDUVpZMTV3T3d0d0lpaGNBT0htSzJOTWltM2JTOTBPQXB3SWhoZWdYS3BidDI2RnFNbzFINVNzeW01blFkbXlaQ0tqSTZ6bWhTWG12N0tzUXJmem9PejVqYlp1Mzd4MnFpVGI3U3hsaWNKRnVkU3dXYXM3UEI3djIyN25RTms3Y29DQlpmRVVWbDc1amYvaWJadldyWEk3UjFtS2NEc0FjRHBZc21wS1VxUDRobXJSdkpuYmNRQ1VRbkZ4c1ZhdlRWRjJ6aDRabjZlRzIzbktHb1dMOHNxU3BNU3JPbW5rOENGdVp3RlFDdGs1ZS9UdzhNZVV2V3g1dVd3blRwb0NBTUFCRkM0QUFBNmdjQUVBY0FDRkN3Q0FBeWhjQUFBY1FPRUNBT0FBQ2hjQUFBZFF1QUFBT0lEQ0JRREFBUlF1QUFBT29IQUJBSEFBaFFzQWdBTW9YQUFBSEVEaEFnRGdBQW9YQUFBSFVMZ0FBRGlBd2dVQXdBRVVMZ0FBRHFCd0FRQndBSVVMQUlBREtGd0FBQnhBNFFJQTRBQUtGd0FBQjFDNEFBQTRnTUlGQU1BQkZDNkFNcE9YbHlmYnR2OXd2ZUxpWWdmU25MejA5SFR0MzcvL3FPVVpHUm5LenM0K2JiZGJVRkJ3MnZZTjkxRzRRRGt5ZCs1YzdkdTNUNUwwNnF1djZ0RkhIejJwL1d6Y3VGSFhYMys5akRHNjc3Nzc5TlpiYjZta3BDUncvZnZ2djY5Ly9ldGZRZHY0ZkQ3ZGV1dXQrdUdISDQ2Nzc4V0xGK3ZlZSs4TlhIN3d3UWMxYTlhc3dPVjE2OVpwMWFwVlFkc01HalJJR3pac0NHemZ1WFBuWS83MDZORWpzRTFtWnFhU2twS1VtWmtadEs4MWE5Ym9sbHR1Q2JvL3YvWFJSeC9wZ1FjZVVHRmhZV0NaYmR0Ni9QSEhOVzNhdEdOdXMySERCblh2M2oxd09UMDkvWGQvOHZMeVpJelJ6ei8vckRsejVtajA2TkZLU2tyU3NHSERWRkJRb096czdLTitqc3lDOEJUaGRnQUFaV1A1OHVXYU1tV0tyci8rK2xQZVY0VUtGZVR6K1dSWmxwNTc3am05OHNvcldyOSt2UklTRW81YWQ5aXdZVnE3ZHExczIxWmVYdDVSSlgvSkpaZm9uLy84cHlScDA2Wk5HanQyckNaT25CaTB6cjU5Ky9UaGh4OXE3dHk1S2l3c1ZOKytmWFhSUlJkcDc5NjlLaWtwa2MvbjA5NjllNVdkbmEzRXhFUWxKaVllTjc4eFJtUEhqcFhmNzllQUFRTUN5eE1URTdWeTVVb2RPSEJBTjk1NFkyQjVmSHk4SmsrZUhMajh0Ny85VFlNSEQ5YVNKVXNDajJkeWNySjhQcDhlZnZqaFAzejhiTnZXU3krOUZMVHNtMisrVVpzMmJSUVhGNmVrcENUdDJMRkQwNmRQVi92MjdkV3FWU3ZkZnZ2dGF0cTBxYVpPbmFyazVHUkZSUHp2NmJtNHVGaVBQUEtJZXZYcTlZZTNqZEJGNFFMbFJISnlzb3FLaW5UUFBmZElrbmJ0MnFXaW9pTDE3OTgvYUwzbXpac0hTbkh6NXMzcTI3ZXZQSjZqMyt5eWJWdVhYSEpKNFBKNzc3Mm4zcjE3Njd2dnZ0UCsvZnRWWEZ5czVjdVhhK0xFaWFwWHI1NGVmZlJSdFdqUlFuZmRkZGN4ODYxYXRVcERoZ3hScTFhdDFLSkZDMjNac2tYZmZmZWR0bXpab3BTVUZGMS8vZlVhUG54NDRMclBQLzljQ3hjdTFOcTFhNVdYbDZlUkkwZks2L1hxczg4K2s5ZnJQZTVqOGM5Ly9sTmVyMWZQUC8rOE5tM2FwRDU5K3Nqbjgybk9uRG1LalkzVm4vNzBKNzMrK3VzYU5HaVFvcUtpSkVsNzl1d0pLbUZqakZKU1VqUm16QmhKVW1GaG9TSWpJM1gxMVZkTGtzNDU1eHk5Kys2N1dyaHdvU1pObXFUaTRtTHQyYk5IM2J0M1YvMzY5Zlh5eXk4SFplcmN1Yk9HRGgycVpzMmFTWkplZi8xMVhYNzU1Um85ZXZSUitYdjI3S2xISG5ra2NIbklrQ0hIdmI4SUR4UXVVQTRzWGJwVTJkblpldWFaWndMTDVzMmJweDA3ZGdTOWZTdEpsU3BWQ3JwY3ExWXRmZmJaWjBITDl1M2JweTVkdW1qRmloVkJ5dzhjT0tBTEw3eFF5NWN2MTg2ZE8zWHp6VGVyYXRXcTh2djlXclpzbVFZTkduVE1mSnMzYjlidzRjUFZxMWN2YmQ2OFdkOS8vNzJlZlBKSmRlclVTVldyVmxWU1VsSlFVYTlidDA2clY2L1c4ODgvcjhMQ1FpVW1KbXJTcEVscTJiTGxIejRXTzNmdVZIcDZ1c2FQSHg4NFFtL1ZxcFVtVEppZ2Rldlc2UzkvK1lzcVZhb2tqOGVqcDU1NktuRDBYYTFhTmMyYk4wK1M5TXN2ditpKysrN1RKNTk4RXRqdndZTUhkY01OTitpamp6NVNiR3hzNEVWSysvYnQxYlJwVS8zMDAwLzY5Ny8vclFrVEppZ3lNdklQYytMTVErRUNZUzRySzB1alJvM1NxRkdqZFBIRkZ3ZVdyMW16Um9XRmhVSExTcXRDaFFyeSsvMHFMQ3hVVEV4TVlGL3QyclZUbHk1ZGxKZVhwNGlJQ0hYcDBrVlBQZldVRmkxYUpML2ZyM3Z1dVVmRnhjWHEwS0ZEVVBtZmQ5NTVldnZ0dC9YTEw3OW84K2JOdXZUU1N3TWxuNXljck9uVHArdW5uMzZTMSt0VlNVbUp2djMyMjhCUitJb1ZLMVJjWEt3REJ3NUlrbTY3N2JialpyL3h4aHVEUG1jZFBueTRSb3dZb2M2ZE8ydnMyTEVhUEhpdzB0UFROWFRvVVBsOHZzQjZsbVdwYXRXcWtoUTRZZXJ3WlVtQkkrRXFWYXFvUW9VS2dlVnhjWEdLaTR0VFFVR0JJaUlpRkI4Zlgrckh1YWlvS09na3JKaVltRkp2aS9CRDRRSmhMams1V1JkZWVLR3V2UExLazlwKzkrN2RRVzhkbjMvKytYcmpqVGRVcVZJbDVlVGtxRjY5ZXBvNGNhSVNFeFBWcmwyN29HMTlQcCtlZXVvcFpXZG42OG9ycjFUdjNyMjFhTkVpZmZIRkYwSHJXWmFsczg4K1d5VWxKZXJVcVZQUWRYZmZmYmM2ZE9pZzNOeGNHV1BrOFhnMGNPQkExYTlmWDlLaGs2U3FWYXVtRjE1NFFWZGVlYVVtVEpnUTJEWWpJME9qUm8zU2E2KzlGbGhXc1dKRlNWSnVicTRtVDU2c0pVdVc2TEhISGdzOFBzbkp5Um8zYnB4dXVlVVc5ZS9mWHoxNjlGQnNiT3hSajh1eDNtWXZqY3pNVE0yZE8xY0RCZ3o0d3lQZHI3NzZLdWdFc2F1dXVrbzFhOVk4cWR0RjZLTndnVEIzK0RQYTFhdFhCeTNQek14VWJtN3VVY3NiTm15bzZ0V3JTenAwaEJVZkg2OFBQdmhBMHFFVGU5NTQ0dzFKVXAwNmRiUno1MDd0MnJWTDI3ZHZENXl3azU2ZXJnMGJOdWpiYjcvVi9QbnpOWG55WksxWnMwWmp4b3hSVVZHUmZENmZiTnRXVVZHUkpNbnI5UVpPQUhyMTFWZjExVmRmSGZYNTVtKzk5ZFpia2c2OUdOaXdZWU9hTkdtaS92Mzc2NVZYWGxHZlBuMlVscGFtQ3k2NFFEVnExSkRYNjFYTm1qWDF3dzgvNkpKTEx0R2VQWHYwcjMvOVM1OS8vcm02ZGV1bXVuWHJhdXpZc1JvN2RtelFiYlJyMTA3ejU4L1h5eSsvckp0dnZsbVN0R3paTWttSFhrams1K2VyWjgrZWdmV05NWktrTys2NFE1WmxTVHIwWXVHR0cyN1F3WU1IdFhMbFN1M2N1VlAvdjUxN0M2bXF6ZU00L3R2Ylhidk0xQmdTYzB5VU5Da2kzWGtoRlY1MFVqcGFYUmgwZ0pIWlpBVmlVMWhoZHBDS0JKRlJKS2lJb1haWjJRbFNxYXpvSnFMZWpreW9VOUhCckt4c0dzdERhYnEzY3lHdTExMit2Um0xemZwKzdseUx0Znl6Rkg0OHovTi9uc1RFUk1YR3hzcnBkUDVwNE1iSHgzK3locnRyMTY3UFBvTytpOEFGK3JpZ29DQlZWVlVwTHkvUDdYcG4wOVRIMSsxMnUrTGk0aVIxN1B2MDgvTXo3alUzTnh2VHBXRmhZYXFzckZSeGNiR1dMVnVtQVFNR3FMeThYQ2twS1FvSUNGQkVSSVRXcjErdjI3ZHZ5OC9QVDRzWEx6YmUwZHpjYklSVlltS2lsaTVkS3FsakhYVHQycldhTVdPR0pLbWlva0ptczFtalJvMHlhcGc1YzZheGwzZmZ2bjJhUEhteWJ0MjZKVDgvUHprY0R0WFcxaW8xTlZYSGpoMHpubWxvYU5ES2xTdDE4T0JCRFJzMlRQNysvaW9xS3BMVmFwV3ZyNitram5WdUh4OGZvOU82b2FGQno1OC8xL3YzNzJXeFdEUmt5QkRObVROSGtuVDc5bTBkUEhqUWJWcThwYVZGeWNuSnlzcktrdFZxbFNRRkJBVG81TW1UeXNuSlVmLysvZVh2NzY4REJ3NG9JQ0NnaDM5Ri9Bb0lYT0FuRUJvYXFuMzc5cmxkMjdObmp4NDhlT0FXR2grcnFhblIwS0ZEalo4YkdocU1waXFiemFiOC9IelpiRGJObno5ZnJhMnRpb3lNMUlVTEYxUlNVcUlIRHg0b01EQlFnWUdCaW8rUFYzVjF0VUpDUW93cDVmVDBkSm5OWnJkMTBJK2RQWHRXM3Q3ZWJvSGIxWnMzYjJTMzI0MVJ1c2xrVWxGUmtlTGk0aFFjSEt5cXFpcEpIV3V0VTZaTTBmNzkrNVdabWFtVWxCVGR2SGxUT1RrNUtpd3NsTmxzVm1Oam84ckt5b3pBTFN3c1ZHVmw1U2ZiZDZTTzJZSVJJMFlZSGNYUzc0ZFNoSWVIdTYzaFJrUkVLQ2NuUjc2K3Zzckl5UGlxc0cxdGJkWFZxMWRWWFYzZDdmMVhyMTc5YVdjMmZud2NmQUg4d2g0K2ZLaVJJMGNhSno5VlZGUVlnV0d4V05UYzNLelUxRlJKSFNQRURSczJHS083cm80ZVBhcFZxMWJKNlhRYTF3NGZQdnpKTk83SFhyNThxYWFtSnJmbnVzckl5SEFMN1ByNmVoMC9mdnlUclU2U2xKU1VwTkxTVXRYVjFVbVN4bzBicDBHREJxbWtwRVNTTkdIQ0JGMjZkRWx0YlcycXE2dlRpUk1udEdiTm1tNS9iMmxwcVdKall6OWJlNmZSbzBkci9Qanh4alR6bDJwcGFkSERodytOaHE3YzNGeTNVTTNMeTlPOGVmT1VrSkNndTNmdmFzeVlNVDE2UDM0OGpIQ0JQcTZ0cmEzYndISTZuVzVycVYxWkxCWjVlWG5wNHNXTDJyUnBrNVlzV2FMSGp4L0wxOWRYdTNmdjFyVnIxNVNmbjYrWW1CaWRQbjFha1pHUmV2YnNtVEU5MjlXZE8zZTBZOGNPN2R5NTB5MHc3SGE3RmkxYXBOTFNVczJhTlV1U05IWHFWSVdGaFVtU3lzcktkT1hLRllXRWhDZ2hJVUhUcGsxVFFrS0NGaXhZWUlSczE1R2tKTzNkdTFmUjBkSGRocytZTVdNVUhoNnVZOGVPR1Z1aDB0TFNqTkd4bjUrZnNyS3k1SEs1VkZCUW9LU2tKS014cTZzalI0N295Wk1ubWo1OWV2Y2YvQnNwTHkvWHZYdjNGQklTb29LQ0FrVkhSMHY2ZlExMzd0eTVpb3FLa3BlWGw4TER3eFVVRlBSZDY4SDNSK0FDZmR6R2pSdDE0Y0tGUDd6ZlhmZnlpaFVyRkJFUm9ROGZQc2htczhuaGNLaWxwVVdEQncvVytmUG50WG56Wm1WbFpXbnMyTEZhdkhpeHdzTENkUG55WlUyYU5FbXZYNzlXZFhXMUxCYUw2dXZybFphV3B0V3JWeXM4UEZ4U3h4NVdpOFdpL3YzN0t6TXpVK25wNlpvOGViTHUzNyt2OXZaMm5UcDFTcG1abWZydzRZTnljM01WRXhPanAwK2Y2c3laTTlxMGFaTmFXMXRWVjFlbmhRc1h1azEzUzFKd2NMRGk0K05WVjFjbnE5V3FlL2Z1dVhVWXA2U2t5T1Z5YWZueTVjWlJrSkxjdXBnbHFiR3hVZDdlM2taejFvb1ZLN1Jnd1FLZFBIbFN1Ym01MnJwMXEzeDhmTDdvKzdlMXRhbTV1VmsxTlRWdXAwTkowcU5IajlTdlh6L1YxdGJxN2R1M2JyV21wcVpxNE1DQkNna0o2ZmE5b2FHaFBkcGloQjhmZ1F2MGNaMEhOL1NVdytGUVNrcUtUQ2FUckZhck1WWDg3dDA3WldWbGFlclVxVVJzOTBnQUFBS1hTVVJCVkpLay9QeDhiZG15UlM2WFN4TW5UdFRzMmJNMWFOQWdaV2RueTlmWFY5bloyYkxaYk5xeFk0Y2NEb2NzRm91MmJkc21TWXFLaWxKUlVaRzh2YjExNk5BaHZYLy9YaU5HakZCNmVycHNOcHNSVU1IQndiTGI3YkxiN2JwKy9icEtTa28rQ1M5SlJpUFd1blhyZE83Y09RMFlNTUR0RktiT1pyQ3YyU0xsY3JsVVhGeXN0V3ZYYXRxMGFWLzgzSXNYTDVTWW1DaXoyYXprNUdTM2U5dTNiOWVOR3pka05wc1ZGeGVuNGNPSEcvZTZyZy9qMTlDelJRZWdqd2lOSEx2U1pEYi84KzkvVzZMMWF6Z1dyenN1bDBzbWs2bkhhNCtmNDNRNiszUnp6OWZXMzlsVi9VZEhaSDd0bnQ1ZnpYOWYvMC8vV0pPaFM1ZC9VMXQ3ZThLVE8vOCsyOXMxZlV1TWNJRmYxUGNJZ2I0Y3R0TFgxLys1YjBuWW9oUC9DUUFBZUFDQkN3Q0FCeEM0QUFCNEFJRUxBSUFIRUxnQUFIZ0FnUXNBZ0FjUXVBQUFlQUNCQ3dDQUJ4QzRBQUI0QUlFTEFJQUhFTGdBQUhnQWdRc0FnQWNRdUFBQWVBQ0JDd0NBQnhDNEFBQjRBSUVMQUlBSEVMZ0FBSGdBZ1FzQWdBY1F1QUFBZUFDQkN3Q0FCeEM0QUFCNEFJRUxBSUFIRUxnQUFIaUFwYmNMQUw2VGRrbXFxUHlQL3VVbzdPMWFBSHlCcHFaM3FubitRcEprY3ByYWU3bWNiNDdBeGMvSnBWcVpwU3RYcit2SzFldTlYUTJBSG5LWjIxNzJkZzNmR29HTG4xTFRtN1lTNzc5WTBrM3Q1ci8yZGkwQWVzanMrdTNwM2ZLSzNpNERBQUFBQUFBQUFBQUFBQUFBQUFBQUFBQUFBQUFBQUFBQUFBQUFBQUFBQUFBQUFBQUFBQUFBQUFBQUFBQUFBQUFBQUFBQUFBQUFBQUFBQUFBQUFBQUFBQUFBQUFBQUFBQUFBQUFBQUFBQUFBQUFBQUFBQUFBQUFBQUFBQUFBQUFBQUFBQUFBQUFBQUFBQUFBQUFBQUFBQUFBQUFBQUFBQUFBQUFBQUFBQUFBQUFBQUFBQUFBQUFBQUFBQUFBQUFBQUFBQUQwRWY4SFFVWDErNGd1NU5BQUFBQUFTVVZPUks1Q1lJST0iLAoJIlRoZW1lIiA6ICIiLAoJIlR5cGUiIDogImZsb3ciLAoJIlZlcnNpb24iIDogIjgiCn0K"/>
    </extobj>
  </extobjs>
</s:customData>
</file>

<file path=customXml/itemProps341.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10535</Words>
  <Application>WPS 演示</Application>
  <PresentationFormat/>
  <Paragraphs>956</Paragraphs>
  <Slides>99</Slides>
  <Notes>0</Notes>
  <HiddenSlides>0</HiddenSlides>
  <MMClips>0</MMClips>
  <ScaleCrop>false</ScaleCrop>
  <HeadingPairs>
    <vt:vector size="8" baseType="variant">
      <vt:variant>
        <vt:lpstr>已用的字体</vt:lpstr>
      </vt:variant>
      <vt:variant>
        <vt:i4>31</vt:i4>
      </vt:variant>
      <vt:variant>
        <vt:lpstr>主题</vt:lpstr>
      </vt:variant>
      <vt:variant>
        <vt:i4>1</vt:i4>
      </vt:variant>
      <vt:variant>
        <vt:lpstr>嵌入 OLE 服务器</vt:lpstr>
      </vt:variant>
      <vt:variant>
        <vt:i4>2</vt:i4>
      </vt:variant>
      <vt:variant>
        <vt:lpstr>幻灯片标题</vt:lpstr>
      </vt:variant>
      <vt:variant>
        <vt:i4>99</vt:i4>
      </vt:variant>
    </vt:vector>
  </HeadingPairs>
  <TitlesOfParts>
    <vt:vector size="133" baseType="lpstr">
      <vt:lpstr>Arial</vt:lpstr>
      <vt:lpstr>宋体</vt:lpstr>
      <vt:lpstr>Wingdings</vt:lpstr>
      <vt:lpstr>汉仪中宋简</vt:lpstr>
      <vt:lpstr>华文新魏</vt:lpstr>
      <vt:lpstr>字魂110号-武林江湖体</vt:lpstr>
      <vt:lpstr>等线</vt:lpstr>
      <vt:lpstr>Noto Sans S Chinese Light</vt:lpstr>
      <vt:lpstr>Calibri</vt:lpstr>
      <vt:lpstr>Wingdings</vt:lpstr>
      <vt:lpstr>Times New Roman</vt:lpstr>
      <vt:lpstr>Impact</vt:lpstr>
      <vt:lpstr>微软雅黑</vt:lpstr>
      <vt:lpstr>思源黑体 CN Medium</vt:lpstr>
      <vt:lpstr>黑体</vt:lpstr>
      <vt:lpstr>Arial Unicode MS</vt:lpstr>
      <vt:lpstr>-apple-system</vt:lpstr>
      <vt:lpstr>Segoe Print</vt:lpstr>
      <vt:lpstr>Euclid</vt:lpstr>
      <vt:lpstr>Nirmala UI Semilight</vt:lpstr>
      <vt:lpstr>隶书</vt:lpstr>
      <vt:lpstr>Cambria Math</vt:lpstr>
      <vt:lpstr>MS Mincho</vt:lpstr>
      <vt:lpstr>华文中宋</vt:lpstr>
      <vt:lpstr>Tahoma</vt:lpstr>
      <vt:lpstr>Palatino Linotype</vt:lpstr>
      <vt:lpstr>楷体_GB2312</vt:lpstr>
      <vt:lpstr>新宋体</vt:lpstr>
      <vt:lpstr>仿宋</vt:lpstr>
      <vt:lpstr>楷体</vt:lpstr>
      <vt:lpstr>DejaVu Math TeX Gyre</vt:lpstr>
      <vt:lpstr>Office theme</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善赶睹炯统</cp:lastModifiedBy>
  <cp:revision>13</cp:revision>
  <dcterms:created xsi:type="dcterms:W3CDTF">2023-11-29T13:21:00Z</dcterms:created>
  <dcterms:modified xsi:type="dcterms:W3CDTF">2023-12-07T11:27:12Z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wqlLaW5nc29mdCBQREYgdG8gV1BTIDkw</vt:lpwstr>
  </property>
  <property fmtid="{D5CDD505-2E9C-101B-9397-08002B2CF9AE}" pid="3" name="Created">
    <vt:filetime>2023-12-02T12:56:01Z</vt:filetime>
  </property>
  <property fmtid="{D5CDD505-2E9C-101B-9397-08002B2CF9AE}" pid="4" name="ICV">
    <vt:lpwstr>8255767AE37A4CAE91607DC9F8AD82EA_13</vt:lpwstr>
  </property>
  <property fmtid="{D5CDD505-2E9C-101B-9397-08002B2CF9AE}" pid="5" name="KSOProductBuildVer">
    <vt:lpwstr>2052-12.1.0.15712</vt:lpwstr>
  </property>
</Properties>
</file>
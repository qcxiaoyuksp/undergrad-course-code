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handoutMasterIdLst>
    <p:handoutMasterId r:id="rId78"/>
  </p:handoutMasterIdLst>
  <p:sldIdLst>
    <p:sldId id="288" r:id="rId2"/>
    <p:sldId id="290" r:id="rId3"/>
    <p:sldId id="289" r:id="rId4"/>
    <p:sldId id="654" r:id="rId5"/>
    <p:sldId id="655" r:id="rId6"/>
    <p:sldId id="318" r:id="rId7"/>
    <p:sldId id="656" r:id="rId8"/>
    <p:sldId id="785" r:id="rId9"/>
    <p:sldId id="659" r:id="rId10"/>
    <p:sldId id="662" r:id="rId11"/>
    <p:sldId id="663" r:id="rId12"/>
    <p:sldId id="664" r:id="rId13"/>
    <p:sldId id="666" r:id="rId14"/>
    <p:sldId id="665" r:id="rId15"/>
    <p:sldId id="667" r:id="rId16"/>
    <p:sldId id="668" r:id="rId17"/>
    <p:sldId id="669" r:id="rId18"/>
    <p:sldId id="670" r:id="rId19"/>
    <p:sldId id="671" r:id="rId20"/>
    <p:sldId id="672" r:id="rId21"/>
    <p:sldId id="673" r:id="rId22"/>
    <p:sldId id="674" r:id="rId23"/>
    <p:sldId id="675" r:id="rId24"/>
    <p:sldId id="676" r:id="rId25"/>
    <p:sldId id="677" r:id="rId26"/>
    <p:sldId id="680" r:id="rId27"/>
    <p:sldId id="681" r:id="rId28"/>
    <p:sldId id="682" r:id="rId29"/>
    <p:sldId id="683" r:id="rId30"/>
    <p:sldId id="679" r:id="rId31"/>
    <p:sldId id="736" r:id="rId32"/>
    <p:sldId id="737" r:id="rId33"/>
    <p:sldId id="738" r:id="rId34"/>
    <p:sldId id="739" r:id="rId35"/>
    <p:sldId id="740" r:id="rId36"/>
    <p:sldId id="741" r:id="rId37"/>
    <p:sldId id="742" r:id="rId38"/>
    <p:sldId id="743" r:id="rId39"/>
    <p:sldId id="744" r:id="rId40"/>
    <p:sldId id="746" r:id="rId41"/>
    <p:sldId id="653" r:id="rId42"/>
    <p:sldId id="747" r:id="rId43"/>
    <p:sldId id="748" r:id="rId44"/>
    <p:sldId id="749" r:id="rId45"/>
    <p:sldId id="750" r:id="rId46"/>
    <p:sldId id="752" r:id="rId47"/>
    <p:sldId id="753" r:id="rId48"/>
    <p:sldId id="754" r:id="rId49"/>
    <p:sldId id="755" r:id="rId50"/>
    <p:sldId id="789" r:id="rId51"/>
    <p:sldId id="756" r:id="rId52"/>
    <p:sldId id="758" r:id="rId53"/>
    <p:sldId id="757" r:id="rId54"/>
    <p:sldId id="759" r:id="rId55"/>
    <p:sldId id="786" r:id="rId56"/>
    <p:sldId id="760" r:id="rId57"/>
    <p:sldId id="582" r:id="rId58"/>
    <p:sldId id="764" r:id="rId59"/>
    <p:sldId id="765" r:id="rId60"/>
    <p:sldId id="767" r:id="rId61"/>
    <p:sldId id="768" r:id="rId62"/>
    <p:sldId id="583" r:id="rId63"/>
    <p:sldId id="790" r:id="rId64"/>
    <p:sldId id="769" r:id="rId65"/>
    <p:sldId id="787" r:id="rId66"/>
    <p:sldId id="788" r:id="rId67"/>
    <p:sldId id="770" r:id="rId68"/>
    <p:sldId id="775" r:id="rId69"/>
    <p:sldId id="777" r:id="rId70"/>
    <p:sldId id="779" r:id="rId71"/>
    <p:sldId id="780" r:id="rId72"/>
    <p:sldId id="781" r:id="rId73"/>
    <p:sldId id="782" r:id="rId74"/>
    <p:sldId id="773" r:id="rId75"/>
    <p:sldId id="774" r:id="rId76"/>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8">
          <p15:clr>
            <a:srgbClr val="A4A3A4"/>
          </p15:clr>
        </p15:guide>
        <p15:guide id="2" pos="285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2D53"/>
    <a:srgbClr val="274991"/>
    <a:srgbClr val="5B9BD5"/>
    <a:srgbClr val="0070C0"/>
    <a:srgbClr val="55375F"/>
    <a:srgbClr val="7CA82A"/>
    <a:srgbClr val="442C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60" autoAdjust="0"/>
    <p:restoredTop sz="95104" autoAdjust="0"/>
  </p:normalViewPr>
  <p:slideViewPr>
    <p:cSldViewPr snapToGrid="0">
      <p:cViewPr varScale="1">
        <p:scale>
          <a:sx n="207" d="100"/>
          <a:sy n="207" d="100"/>
        </p:scale>
        <p:origin x="352" y="108"/>
      </p:cViewPr>
      <p:guideLst>
        <p:guide orient="horz" pos="1758"/>
        <p:guide pos="2858"/>
      </p:guideLst>
    </p:cSldViewPr>
  </p:slideViewPr>
  <p:outlineViewPr>
    <p:cViewPr>
      <p:scale>
        <a:sx n="33" d="100"/>
        <a:sy n="33" d="100"/>
      </p:scale>
      <p:origin x="0" y="-108"/>
    </p:cViewPr>
  </p:outlineViewPr>
  <p:notesTextViewPr>
    <p:cViewPr>
      <p:scale>
        <a:sx n="1" d="1"/>
        <a:sy n="1" d="1"/>
      </p:scale>
      <p:origin x="0" y="0"/>
    </p:cViewPr>
  </p:notesTextViewPr>
  <p:sorterViewPr>
    <p:cViewPr>
      <p:scale>
        <a:sx n="121" d="100"/>
        <a:sy n="121" d="100"/>
      </p:scale>
      <p:origin x="0" y="0"/>
    </p:cViewPr>
  </p:sorterViewPr>
  <p:notesViewPr>
    <p:cSldViewPr snapToGrid="0">
      <p:cViewPr varScale="1">
        <p:scale>
          <a:sx n="95" d="100"/>
          <a:sy n="95" d="100"/>
        </p:scale>
        <p:origin x="4042" y="5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9BCB7CA-4058-4961-8B72-7F0A36371207}" type="doc">
      <dgm:prSet loTypeId="urn:microsoft.com/office/officeart/2005/8/layout/default#1" loCatId="list" qsTypeId="urn:microsoft.com/office/officeart/2005/8/quickstyle/simple1#2" qsCatId="simple" csTypeId="urn:microsoft.com/office/officeart/2005/8/colors/accent1_2#2" csCatId="accent1" phldr="1"/>
      <dgm:spPr/>
      <dgm:t>
        <a:bodyPr/>
        <a:lstStyle/>
        <a:p>
          <a:endParaRPr lang="zh-CN" altLang="en-US"/>
        </a:p>
      </dgm:t>
    </dgm:pt>
    <dgm:pt modelId="{2A5FC6F5-CC10-47AC-B171-F18D3D8CEB62}">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ctr" anchorCtr="0"/>
        <a:lstStyle/>
        <a:p>
          <a:pPr algn="l">
            <a:lnSpc>
              <a:spcPct val="100000"/>
            </a:lnSpc>
            <a:spcBef>
              <a:spcPct val="0"/>
            </a:spcBef>
            <a:spcAft>
              <a:spcPct val="35000"/>
            </a:spcAft>
          </a:pPr>
          <a:r>
            <a:rPr lang="zh-CN" sz="1400" b="1" kern="1200" dirty="0">
              <a:solidFill>
                <a:srgbClr val="FF0000"/>
              </a:solidFill>
              <a:latin typeface="微软雅黑" panose="020B0503020204020204" pitchFamily="34" charset="-122"/>
              <a:ea typeface="微软雅黑" panose="020B0503020204020204" pitchFamily="34" charset="-122"/>
              <a:cs typeface="+mn-cs"/>
            </a:rPr>
            <a:t>1.echarts 实例：</a:t>
          </a:r>
          <a:r>
            <a:rPr lang="zh-CN" sz="1400" b="1" kern="1200" dirty="0">
              <a:solidFill>
                <a:prstClr val="black"/>
              </a:solidFill>
              <a:latin typeface="等线" panose="02010600030101010101" pitchFamily="2" charset="-122"/>
              <a:ea typeface="等线" panose="02010600030101010101" pitchFamily="2" charset="-122"/>
              <a:cs typeface="+mn-cs"/>
            </a:rPr>
            <a:t>： 一个网页中可以创建多个 ECharts 实例，每个 ECharts 实例 中可以创建多个图表和坐标系等等（用 option 来描述）。准备一个 DOM 节点（作为 echarts 的渲染容器），就可以在上面创建一个 ECharts 实例。每个 ECharts 实例独占一个 DOM 节点。</a:t>
          </a:r>
        </a:p>
      </dgm:t>
    </dgm:pt>
    <dgm:pt modelId="{D434E9F8-AF12-4185-8617-946E502F6C9F}" type="parTrans" cxnId="{563D4714-7EE1-4ACB-A34F-1AAFC5B0F0B6}">
      <dgm:prSet/>
      <dgm:spPr/>
      <dgm:t>
        <a:bodyPr/>
        <a:lstStyle/>
        <a:p>
          <a:endParaRPr lang="zh-CN" altLang="en-US"/>
        </a:p>
      </dgm:t>
    </dgm:pt>
    <dgm:pt modelId="{9C9736E4-9E86-45EF-90FE-E33F1427DE6F}" type="sibTrans" cxnId="{563D4714-7EE1-4ACB-A34F-1AAFC5B0F0B6}">
      <dgm:prSet/>
      <dgm:spPr/>
      <dgm:t>
        <a:bodyPr/>
        <a:lstStyle/>
        <a:p>
          <a:endParaRPr lang="zh-CN" altLang="en-US"/>
        </a:p>
      </dgm:t>
    </dgm:pt>
    <dgm:pt modelId="{FC55E103-BABA-4ABF-AB50-A81D208E846C}">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a:lstStyle/>
        <a:p>
          <a:pPr algn="l">
            <a:lnSpc>
              <a:spcPct val="100000"/>
            </a:lnSpc>
            <a:spcBef>
              <a:spcPct val="0"/>
            </a:spcBef>
            <a:spcAft>
              <a:spcPct val="35000"/>
            </a:spcAft>
          </a:pPr>
          <a:r>
            <a:rPr lang="zh-CN" sz="1400" b="1" kern="1200" dirty="0">
              <a:solidFill>
                <a:srgbClr val="FF0000"/>
              </a:solidFill>
              <a:latin typeface="微软雅黑" panose="020B0503020204020204" pitchFamily="34" charset="-122"/>
              <a:ea typeface="微软雅黑" panose="020B0503020204020204" pitchFamily="34" charset="-122"/>
              <a:cs typeface="+mn-cs"/>
            </a:rPr>
            <a:t>2.系列（series）</a:t>
          </a:r>
          <a:r>
            <a:rPr lang="zh-CN" sz="1400" b="1" kern="1200" dirty="0">
              <a:solidFill>
                <a:prstClr val="black"/>
              </a:solidFill>
              <a:latin typeface="等线" panose="02010600030101010101" pitchFamily="2" charset="-122"/>
              <a:ea typeface="等线" panose="02010600030101010101" pitchFamily="2" charset="-122"/>
              <a:cs typeface="+mn-cs"/>
            </a:rPr>
            <a:t> ：  ECharts 里的系列（series）是指一组数值以及他们映射成的图。“系列”这个词原本可能来源于“一系列的数据”，而在 ECharts 中取其扩展的概念，不仅表示数据，也表示数据映射成为的图。所以，一个 系列 包含的要素至少有：一组数值、图表类型（series.type）、以及其他的关于这些数据如何映射成图的参数。</a:t>
          </a:r>
        </a:p>
        <a:p>
          <a:pPr algn="l">
            <a:lnSpc>
              <a:spcPct val="100000"/>
            </a:lnSpc>
            <a:spcBef>
              <a:spcPct val="0"/>
            </a:spcBef>
            <a:spcAft>
              <a:spcPct val="35000"/>
            </a:spcAft>
          </a:pPr>
          <a:endParaRPr lang="zh-CN" sz="1500" b="1" kern="1200" dirty="0">
            <a:solidFill>
              <a:prstClr val="black"/>
            </a:solidFill>
            <a:latin typeface="Calibri" panose="020F0502020204030204"/>
            <a:ea typeface="等线" panose="02010600030101010101" pitchFamily="2" charset="-122"/>
            <a:cs typeface="+mn-cs"/>
          </a:endParaRPr>
        </a:p>
      </dgm:t>
    </dgm:pt>
    <dgm:pt modelId="{D7F22CC6-B431-4A4D-9C3A-F271F7ADF0FF}" type="parTrans" cxnId="{06C1FBA2-068E-416F-AE38-D621E9C86EF2}">
      <dgm:prSet/>
      <dgm:spPr/>
      <dgm:t>
        <a:bodyPr/>
        <a:lstStyle/>
        <a:p>
          <a:endParaRPr lang="zh-CN" altLang="en-US"/>
        </a:p>
      </dgm:t>
    </dgm:pt>
    <dgm:pt modelId="{56926B01-CF24-47EC-B747-5C1E8C766E74}" type="sibTrans" cxnId="{06C1FBA2-068E-416F-AE38-D621E9C86EF2}">
      <dgm:prSet/>
      <dgm:spPr/>
      <dgm:t>
        <a:bodyPr/>
        <a:lstStyle/>
        <a:p>
          <a:endParaRPr lang="zh-CN" altLang="en-US"/>
        </a:p>
      </dgm:t>
    </dgm:pt>
    <dgm:pt modelId="{A74E8BC6-25D1-4F9B-B016-EC87DC87C9A7}">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ctr" anchorCtr="0"/>
        <a:lstStyle/>
        <a:p>
          <a:pPr algn="l" defTabSz="622300">
            <a:lnSpc>
              <a:spcPct val="90000"/>
            </a:lnSpc>
            <a:spcBef>
              <a:spcPct val="0"/>
            </a:spcBef>
            <a:spcAft>
              <a:spcPct val="35000"/>
            </a:spcAft>
          </a:pPr>
          <a:r>
            <a:rPr lang="zh-CN" sz="1400" b="1" kern="1200" dirty="0">
              <a:solidFill>
                <a:srgbClr val="FF0000"/>
              </a:solidFill>
              <a:latin typeface="微软雅黑" panose="020B0503020204020204" pitchFamily="34" charset="-122"/>
              <a:ea typeface="微软雅黑" panose="020B0503020204020204" pitchFamily="34" charset="-122"/>
              <a:cs typeface="+mn-cs"/>
            </a:rPr>
            <a:t>3.组件（component）</a:t>
          </a:r>
          <a:r>
            <a:rPr lang="zh-CN" sz="1400" b="1" kern="1200" dirty="0">
              <a:solidFill>
                <a:schemeClr val="tx1"/>
              </a:solidFill>
              <a:latin typeface="+mn-ea"/>
              <a:ea typeface="+mn-ea"/>
              <a:cs typeface="+mn-cs"/>
            </a:rPr>
            <a:t> ： </a:t>
          </a:r>
          <a:r>
            <a:rPr sz="1200" b="1" kern="1200" dirty="0">
              <a:solidFill>
                <a:schemeClr val="tx1"/>
              </a:solidFill>
              <a:latin typeface="+mn-ea"/>
              <a:ea typeface="+mn-ea"/>
              <a:cs typeface="+mn-cs"/>
            </a:rPr>
            <a:t>在系列之上，ECharts 中各种内容，被抽象为“组件”。例如，ECharts 中至少有这些组件：xAxis（直角坐标系 X 轴）、yAxis（直角坐标系 Y 轴）、grid（直角坐标系底板）、angleAxis（极坐标系角度轴）、radiusAxis（极坐标系半径轴）、polar（极坐标系底板）、geo（地理坐标系）、dataZoom（数据区缩放组件）、visualMap（视觉映射组件）、tooltip（提示框组件）、toolbox（工具栏组件）、series（系列）、...。</a:t>
          </a:r>
          <a:endParaRPr sz="1400" b="1" kern="1200" dirty="0">
            <a:solidFill>
              <a:schemeClr val="tx1"/>
            </a:solidFill>
            <a:latin typeface="+mn-ea"/>
            <a:ea typeface="+mn-ea"/>
            <a:cs typeface="+mn-cs"/>
          </a:endParaRPr>
        </a:p>
      </dgm:t>
    </dgm:pt>
    <dgm:pt modelId="{5AC5C004-693E-42EF-BE2D-46F86EC119E7}" type="parTrans" cxnId="{0D8ED1D2-5D0C-4C66-B20E-B3FABAC3B42F}">
      <dgm:prSet/>
      <dgm:spPr/>
      <dgm:t>
        <a:bodyPr/>
        <a:lstStyle/>
        <a:p>
          <a:endParaRPr lang="zh-CN" altLang="en-US"/>
        </a:p>
      </dgm:t>
    </dgm:pt>
    <dgm:pt modelId="{25B5046D-B539-4F2F-8908-CC787D3DEA72}" type="sibTrans" cxnId="{0D8ED1D2-5D0C-4C66-B20E-B3FABAC3B42F}">
      <dgm:prSet/>
      <dgm:spPr/>
      <dgm:t>
        <a:bodyPr/>
        <a:lstStyle/>
        <a:p>
          <a:endParaRPr lang="zh-CN" altLang="en-US"/>
        </a:p>
      </dgm:t>
    </dgm:pt>
    <dgm:pt modelId="{C84AD586-4D50-4E17-839E-0D3FBBC1A715}">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ctr" anchorCtr="0"/>
        <a:lstStyle/>
        <a:p>
          <a:pPr algn="l" defTabSz="622300">
            <a:lnSpc>
              <a:spcPct val="90000"/>
            </a:lnSpc>
            <a:spcBef>
              <a:spcPct val="0"/>
            </a:spcBef>
            <a:spcAft>
              <a:spcPct val="35000"/>
            </a:spcAft>
          </a:pPr>
          <a:r>
            <a:rPr sz="1400" b="1" kern="1200" dirty="0">
              <a:solidFill>
                <a:srgbClr val="FF0000"/>
              </a:solidFill>
              <a:latin typeface="微软雅黑" panose="020B0503020204020204" pitchFamily="34" charset="-122"/>
              <a:ea typeface="微软雅黑" panose="020B0503020204020204" pitchFamily="34" charset="-122"/>
              <a:cs typeface="+mn-cs"/>
            </a:rPr>
            <a:t>4.用 option 描述图表</a:t>
          </a:r>
          <a:r>
            <a:rPr lang="zh-CN" sz="1400" b="1" kern="1200" dirty="0">
              <a:solidFill>
                <a:prstClr val="black"/>
              </a:solidFill>
              <a:latin typeface="微软雅黑" panose="020B0503020204020204" pitchFamily="34" charset="-122"/>
              <a:ea typeface="微软雅黑" panose="020B0503020204020204" pitchFamily="34" charset="-122"/>
              <a:cs typeface="+mn-cs"/>
            </a:rPr>
            <a:t>： </a:t>
          </a:r>
          <a:r>
            <a:rPr sz="1400" b="1" kern="1200" dirty="0">
              <a:solidFill>
                <a:prstClr val="black"/>
              </a:solidFill>
              <a:latin typeface="等线" panose="02010600030101010101" pitchFamily="2" charset="-122"/>
              <a:ea typeface="等线" panose="02010600030101010101" pitchFamily="2" charset="-122"/>
              <a:cs typeface="+mn-cs"/>
            </a:rPr>
            <a:t>ECharts 的使用者可以使用 option 来描述其对图表的各种需求，包括：有什么数据、要画什么图表、图表长什么样子、含有什么组件、组件能操作什么事情等等。简而言之，option 表述了：数据、数据如何映射成图形、交互行为。</a:t>
          </a:r>
        </a:p>
      </dgm:t>
    </dgm:pt>
    <dgm:pt modelId="{261B6E8E-834C-4276-9046-801AD2D35065}" type="parTrans" cxnId="{FC8F6034-4797-4643-A16B-B334E7D2AA1F}">
      <dgm:prSet/>
      <dgm:spPr/>
      <dgm:t>
        <a:bodyPr/>
        <a:lstStyle/>
        <a:p>
          <a:endParaRPr lang="zh-CN" altLang="en-US"/>
        </a:p>
      </dgm:t>
    </dgm:pt>
    <dgm:pt modelId="{E29A8147-950F-455A-97F7-D4D43AD9DC6F}" type="sibTrans" cxnId="{FC8F6034-4797-4643-A16B-B334E7D2AA1F}">
      <dgm:prSet/>
      <dgm:spPr/>
      <dgm:t>
        <a:bodyPr/>
        <a:lstStyle/>
        <a:p>
          <a:endParaRPr lang="zh-CN" altLang="en-US"/>
        </a:p>
      </dgm:t>
    </dgm:pt>
    <dgm:pt modelId="{95B1ABD2-F4DC-43D3-BD20-2530EB102C43}" type="pres">
      <dgm:prSet presAssocID="{A9BCB7CA-4058-4961-8B72-7F0A36371207}" presName="diagram" presStyleCnt="0">
        <dgm:presLayoutVars>
          <dgm:dir/>
          <dgm:resizeHandles val="exact"/>
        </dgm:presLayoutVars>
      </dgm:prSet>
      <dgm:spPr/>
    </dgm:pt>
    <dgm:pt modelId="{DE671073-EABD-40C6-895B-BF187AA98700}" type="pres">
      <dgm:prSet presAssocID="{2A5FC6F5-CC10-47AC-B171-F18D3D8CEB62}" presName="node" presStyleLbl="node1" presStyleIdx="0" presStyleCnt="4" custScaleX="149394" custScaleY="85865" custLinFactNeighborX="2488" custLinFactNeighborY="-11345">
        <dgm:presLayoutVars>
          <dgm:bulletEnabled val="1"/>
        </dgm:presLayoutVars>
      </dgm:prSet>
      <dgm:spPr>
        <a:xfrm>
          <a:off x="409508" y="718"/>
          <a:ext cx="3261315" cy="1811841"/>
        </a:xfrm>
        <a:prstGeom prst="rect">
          <a:avLst/>
        </a:prstGeom>
      </dgm:spPr>
    </dgm:pt>
    <dgm:pt modelId="{19C9195F-357F-4D81-A2BB-122F9286369F}" type="pres">
      <dgm:prSet presAssocID="{9C9736E4-9E86-45EF-90FE-E33F1427DE6F}" presName="sibTrans" presStyleCnt="0"/>
      <dgm:spPr/>
    </dgm:pt>
    <dgm:pt modelId="{BE6D7AD3-975C-4C30-AB56-B0CE0F7D1A39}" type="pres">
      <dgm:prSet presAssocID="{FC55E103-BABA-4ABF-AB50-A81D208E846C}" presName="node" presStyleLbl="node1" presStyleIdx="1" presStyleCnt="4" custScaleX="131988" custScaleY="99255" custLinFactNeighborX="4025" custLinFactNeighborY="206">
        <dgm:presLayoutVars>
          <dgm:bulletEnabled val="1"/>
        </dgm:presLayoutVars>
      </dgm:prSet>
      <dgm:spPr/>
    </dgm:pt>
    <dgm:pt modelId="{6E4003B5-975D-4469-8B53-5A6ACD750E07}" type="pres">
      <dgm:prSet presAssocID="{56926B01-CF24-47EC-B747-5C1E8C766E74}" presName="sibTrans" presStyleCnt="0"/>
      <dgm:spPr/>
    </dgm:pt>
    <dgm:pt modelId="{A6F82ED9-5ECB-4EBE-98E3-8BAD1B98551D}" type="pres">
      <dgm:prSet presAssocID="{A74E8BC6-25D1-4F9B-B016-EC87DC87C9A7}" presName="node" presStyleLbl="node1" presStyleIdx="2" presStyleCnt="4" custScaleX="151910" custScaleY="126210" custLinFactNeighborX="-858" custLinFactNeighborY="-21274">
        <dgm:presLayoutVars>
          <dgm:bulletEnabled val="1"/>
        </dgm:presLayoutVars>
      </dgm:prSet>
      <dgm:spPr>
        <a:xfrm>
          <a:off x="417550" y="2116051"/>
          <a:ext cx="3253272" cy="1807380"/>
        </a:xfrm>
        <a:prstGeom prst="rect">
          <a:avLst/>
        </a:prstGeom>
      </dgm:spPr>
    </dgm:pt>
    <dgm:pt modelId="{2FBAA79D-B870-4619-BE92-EE7240C3FE58}" type="pres">
      <dgm:prSet presAssocID="{25B5046D-B539-4F2F-8908-CC787D3DEA72}" presName="sibTrans" presStyleCnt="0"/>
      <dgm:spPr/>
    </dgm:pt>
    <dgm:pt modelId="{DE4A3BF8-84B3-4B8F-A3FE-94BCB6C821D4}" type="pres">
      <dgm:prSet presAssocID="{C84AD586-4D50-4E17-839E-0D3FBBC1A715}" presName="node" presStyleLbl="node1" presStyleIdx="3" presStyleCnt="4" custScaleX="131046" custScaleY="98889" custLinFactNeighborX="3135" custLinFactNeighborY="-10900">
        <dgm:presLayoutVars>
          <dgm:bulletEnabled val="1"/>
        </dgm:presLayoutVars>
      </dgm:prSet>
      <dgm:spPr>
        <a:xfrm>
          <a:off x="3974314" y="2119384"/>
          <a:ext cx="3253272" cy="1800715"/>
        </a:xfrm>
        <a:prstGeom prst="rect">
          <a:avLst/>
        </a:prstGeom>
      </dgm:spPr>
    </dgm:pt>
  </dgm:ptLst>
  <dgm:cxnLst>
    <dgm:cxn modelId="{563D4714-7EE1-4ACB-A34F-1AAFC5B0F0B6}" srcId="{A9BCB7CA-4058-4961-8B72-7F0A36371207}" destId="{2A5FC6F5-CC10-47AC-B171-F18D3D8CEB62}" srcOrd="0" destOrd="0" parTransId="{D434E9F8-AF12-4185-8617-946E502F6C9F}" sibTransId="{9C9736E4-9E86-45EF-90FE-E33F1427DE6F}"/>
    <dgm:cxn modelId="{6F698419-7924-4DDD-A186-B12337C2FFB5}" type="presOf" srcId="{A9BCB7CA-4058-4961-8B72-7F0A36371207}" destId="{95B1ABD2-F4DC-43D3-BD20-2530EB102C43}" srcOrd="0" destOrd="0" presId="urn:microsoft.com/office/officeart/2005/8/layout/default#1"/>
    <dgm:cxn modelId="{213AB921-0B19-46AE-9532-277E4093B5CC}" type="presOf" srcId="{FC55E103-BABA-4ABF-AB50-A81D208E846C}" destId="{BE6D7AD3-975C-4C30-AB56-B0CE0F7D1A39}" srcOrd="0" destOrd="0" presId="urn:microsoft.com/office/officeart/2005/8/layout/default#1"/>
    <dgm:cxn modelId="{FC8F6034-4797-4643-A16B-B334E7D2AA1F}" srcId="{A9BCB7CA-4058-4961-8B72-7F0A36371207}" destId="{C84AD586-4D50-4E17-839E-0D3FBBC1A715}" srcOrd="3" destOrd="0" parTransId="{261B6E8E-834C-4276-9046-801AD2D35065}" sibTransId="{E29A8147-950F-455A-97F7-D4D43AD9DC6F}"/>
    <dgm:cxn modelId="{04814785-A1E4-41B5-8BFC-4584401C287C}" type="presOf" srcId="{A74E8BC6-25D1-4F9B-B016-EC87DC87C9A7}" destId="{A6F82ED9-5ECB-4EBE-98E3-8BAD1B98551D}" srcOrd="0" destOrd="0" presId="urn:microsoft.com/office/officeart/2005/8/layout/default#1"/>
    <dgm:cxn modelId="{06C1FBA2-068E-416F-AE38-D621E9C86EF2}" srcId="{A9BCB7CA-4058-4961-8B72-7F0A36371207}" destId="{FC55E103-BABA-4ABF-AB50-A81D208E846C}" srcOrd="1" destOrd="0" parTransId="{D7F22CC6-B431-4A4D-9C3A-F271F7ADF0FF}" sibTransId="{56926B01-CF24-47EC-B747-5C1E8C766E74}"/>
    <dgm:cxn modelId="{0D8ED1D2-5D0C-4C66-B20E-B3FABAC3B42F}" srcId="{A9BCB7CA-4058-4961-8B72-7F0A36371207}" destId="{A74E8BC6-25D1-4F9B-B016-EC87DC87C9A7}" srcOrd="2" destOrd="0" parTransId="{5AC5C004-693E-42EF-BE2D-46F86EC119E7}" sibTransId="{25B5046D-B539-4F2F-8908-CC787D3DEA72}"/>
    <dgm:cxn modelId="{974AD7E6-AF4B-428B-A31A-9E2042991394}" type="presOf" srcId="{C84AD586-4D50-4E17-839E-0D3FBBC1A715}" destId="{DE4A3BF8-84B3-4B8F-A3FE-94BCB6C821D4}" srcOrd="0" destOrd="0" presId="urn:microsoft.com/office/officeart/2005/8/layout/default#1"/>
    <dgm:cxn modelId="{D9CEE4FB-0761-44A3-9E08-6C3B0B3AC56C}" type="presOf" srcId="{2A5FC6F5-CC10-47AC-B171-F18D3D8CEB62}" destId="{DE671073-EABD-40C6-895B-BF187AA98700}" srcOrd="0" destOrd="0" presId="urn:microsoft.com/office/officeart/2005/8/layout/default#1"/>
    <dgm:cxn modelId="{71D933C7-0631-4E37-BDCA-CCFBE0F5EE7D}" type="presParOf" srcId="{95B1ABD2-F4DC-43D3-BD20-2530EB102C43}" destId="{DE671073-EABD-40C6-895B-BF187AA98700}" srcOrd="0" destOrd="0" presId="urn:microsoft.com/office/officeart/2005/8/layout/default#1"/>
    <dgm:cxn modelId="{648ECEDF-5844-41B6-B522-9A8BD81A10C9}" type="presParOf" srcId="{95B1ABD2-F4DC-43D3-BD20-2530EB102C43}" destId="{19C9195F-357F-4D81-A2BB-122F9286369F}" srcOrd="1" destOrd="0" presId="urn:microsoft.com/office/officeart/2005/8/layout/default#1"/>
    <dgm:cxn modelId="{BBBC17F7-553E-4960-B481-0A71BEBE1098}" type="presParOf" srcId="{95B1ABD2-F4DC-43D3-BD20-2530EB102C43}" destId="{BE6D7AD3-975C-4C30-AB56-B0CE0F7D1A39}" srcOrd="2" destOrd="0" presId="urn:microsoft.com/office/officeart/2005/8/layout/default#1"/>
    <dgm:cxn modelId="{27D0A328-B2E3-407B-AF25-6A5F763EB016}" type="presParOf" srcId="{95B1ABD2-F4DC-43D3-BD20-2530EB102C43}" destId="{6E4003B5-975D-4469-8B53-5A6ACD750E07}" srcOrd="3" destOrd="0" presId="urn:microsoft.com/office/officeart/2005/8/layout/default#1"/>
    <dgm:cxn modelId="{7326C0AE-7063-4A29-9A3A-5809617657FF}" type="presParOf" srcId="{95B1ABD2-F4DC-43D3-BD20-2530EB102C43}" destId="{A6F82ED9-5ECB-4EBE-98E3-8BAD1B98551D}" srcOrd="4" destOrd="0" presId="urn:microsoft.com/office/officeart/2005/8/layout/default#1"/>
    <dgm:cxn modelId="{43260C9D-3DE2-42B4-8917-4DD7E1317F6A}" type="presParOf" srcId="{95B1ABD2-F4DC-43D3-BD20-2530EB102C43}" destId="{2FBAA79D-B870-4619-BE92-EE7240C3FE58}" srcOrd="5" destOrd="0" presId="urn:microsoft.com/office/officeart/2005/8/layout/default#1"/>
    <dgm:cxn modelId="{E444A80F-38D0-4DFF-947C-11648E11FB96}" type="presParOf" srcId="{95B1ABD2-F4DC-43D3-BD20-2530EB102C43}" destId="{DE4A3BF8-84B3-4B8F-A3FE-94BCB6C821D4}" srcOrd="6"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71073-EABD-40C6-895B-BF187AA98700}">
      <dsp:nvSpPr>
        <dsp:cNvPr id="0" name=""/>
        <dsp:cNvSpPr/>
      </dsp:nvSpPr>
      <dsp:spPr>
        <a:xfrm>
          <a:off x="265056" y="0"/>
          <a:ext cx="4210275" cy="1451927"/>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l" defTabSz="622300">
            <a:lnSpc>
              <a:spcPct val="100000"/>
            </a:lnSpc>
            <a:spcBef>
              <a:spcPct val="0"/>
            </a:spcBef>
            <a:spcAft>
              <a:spcPct val="35000"/>
            </a:spcAft>
            <a:buNone/>
          </a:pPr>
          <a:r>
            <a:rPr lang="en-US" altLang="zh-CN" sz="1400" b="1" kern="1200" dirty="0">
              <a:solidFill>
                <a:srgbClr val="FF0000"/>
              </a:solidFill>
              <a:latin typeface="微软雅黑" panose="020B0503020204020204" pitchFamily="34" charset="-122"/>
              <a:ea typeface="微软雅黑" panose="020B0503020204020204" pitchFamily="34" charset="-122"/>
              <a:cs typeface="+mn-cs"/>
            </a:rPr>
            <a:t>1.echarts </a:t>
          </a:r>
          <a:r>
            <a:rPr lang="zh-CN" altLang="en-US" sz="1400" b="1" kern="1200" dirty="0">
              <a:solidFill>
                <a:srgbClr val="FF0000"/>
              </a:solidFill>
              <a:latin typeface="微软雅黑" panose="020B0503020204020204" pitchFamily="34" charset="-122"/>
              <a:ea typeface="微软雅黑" panose="020B0503020204020204" pitchFamily="34" charset="-122"/>
              <a:cs typeface="+mn-cs"/>
            </a:rPr>
            <a:t>实例：</a:t>
          </a:r>
          <a:r>
            <a:rPr lang="zh-CN" altLang="en-US" sz="1400" b="1" kern="1200" dirty="0">
              <a:solidFill>
                <a:prstClr val="black"/>
              </a:solidFill>
              <a:latin typeface="等线" panose="02010600030101010101" pitchFamily="2" charset="-122"/>
              <a:ea typeface="等线" panose="02010600030101010101" pitchFamily="2" charset="-122"/>
              <a:cs typeface="+mn-cs"/>
            </a:rPr>
            <a:t>： 一个网页中可以创建多个 </a:t>
          </a:r>
          <a:r>
            <a:rPr lang="en-US" altLang="zh-CN" sz="1400" b="1" kern="1200" dirty="0">
              <a:solidFill>
                <a:prstClr val="black"/>
              </a:solidFill>
              <a:latin typeface="等线" panose="02010600030101010101" pitchFamily="2" charset="-122"/>
              <a:ea typeface="等线" panose="02010600030101010101" pitchFamily="2" charset="-122"/>
              <a:cs typeface="+mn-cs"/>
            </a:rPr>
            <a:t>ECharts </a:t>
          </a:r>
          <a:r>
            <a:rPr lang="zh-CN" altLang="en-US" sz="1400" b="1" kern="1200" dirty="0">
              <a:solidFill>
                <a:prstClr val="black"/>
              </a:solidFill>
              <a:latin typeface="等线" panose="02010600030101010101" pitchFamily="2" charset="-122"/>
              <a:ea typeface="等线" panose="02010600030101010101" pitchFamily="2" charset="-122"/>
              <a:cs typeface="+mn-cs"/>
            </a:rPr>
            <a:t>实例，每个 </a:t>
          </a:r>
          <a:r>
            <a:rPr lang="en-US" altLang="zh-CN" sz="1400" b="1" kern="1200" dirty="0">
              <a:solidFill>
                <a:prstClr val="black"/>
              </a:solidFill>
              <a:latin typeface="等线" panose="02010600030101010101" pitchFamily="2" charset="-122"/>
              <a:ea typeface="等线" panose="02010600030101010101" pitchFamily="2" charset="-122"/>
              <a:cs typeface="+mn-cs"/>
            </a:rPr>
            <a:t>ECharts </a:t>
          </a:r>
          <a:r>
            <a:rPr lang="zh-CN" altLang="en-US" sz="1400" b="1" kern="1200" dirty="0">
              <a:solidFill>
                <a:prstClr val="black"/>
              </a:solidFill>
              <a:latin typeface="等线" panose="02010600030101010101" pitchFamily="2" charset="-122"/>
              <a:ea typeface="等线" panose="02010600030101010101" pitchFamily="2" charset="-122"/>
              <a:cs typeface="+mn-cs"/>
            </a:rPr>
            <a:t>实例 中可以创建多个图表和坐标系等等（用 </a:t>
          </a:r>
          <a:r>
            <a:rPr lang="en-US" altLang="zh-CN" sz="1400" b="1" kern="1200" dirty="0">
              <a:solidFill>
                <a:prstClr val="black"/>
              </a:solidFill>
              <a:latin typeface="等线" panose="02010600030101010101" pitchFamily="2" charset="-122"/>
              <a:ea typeface="等线" panose="02010600030101010101" pitchFamily="2" charset="-122"/>
              <a:cs typeface="+mn-cs"/>
            </a:rPr>
            <a:t>option </a:t>
          </a:r>
          <a:r>
            <a:rPr lang="zh-CN" altLang="en-US" sz="1400" b="1" kern="1200" dirty="0">
              <a:solidFill>
                <a:prstClr val="black"/>
              </a:solidFill>
              <a:latin typeface="等线" panose="02010600030101010101" pitchFamily="2" charset="-122"/>
              <a:ea typeface="等线" panose="02010600030101010101" pitchFamily="2" charset="-122"/>
              <a:cs typeface="+mn-cs"/>
            </a:rPr>
            <a:t>来描述）。准备一个 </a:t>
          </a:r>
          <a:r>
            <a:rPr lang="en-US" altLang="zh-CN" sz="1400" b="1" kern="1200" dirty="0">
              <a:solidFill>
                <a:prstClr val="black"/>
              </a:solidFill>
              <a:latin typeface="等线" panose="02010600030101010101" pitchFamily="2" charset="-122"/>
              <a:ea typeface="等线" panose="02010600030101010101" pitchFamily="2" charset="-122"/>
              <a:cs typeface="+mn-cs"/>
            </a:rPr>
            <a:t>DOM </a:t>
          </a:r>
          <a:r>
            <a:rPr lang="zh-CN" altLang="en-US" sz="1400" b="1" kern="1200" dirty="0">
              <a:solidFill>
                <a:prstClr val="black"/>
              </a:solidFill>
              <a:latin typeface="等线" panose="02010600030101010101" pitchFamily="2" charset="-122"/>
              <a:ea typeface="等线" panose="02010600030101010101" pitchFamily="2" charset="-122"/>
              <a:cs typeface="+mn-cs"/>
            </a:rPr>
            <a:t>节点（作为 </a:t>
          </a:r>
          <a:r>
            <a:rPr lang="en-US" altLang="zh-CN" sz="1400" b="1" kern="1200" dirty="0">
              <a:solidFill>
                <a:prstClr val="black"/>
              </a:solidFill>
              <a:latin typeface="等线" panose="02010600030101010101" pitchFamily="2" charset="-122"/>
              <a:ea typeface="等线" panose="02010600030101010101" pitchFamily="2" charset="-122"/>
              <a:cs typeface="+mn-cs"/>
            </a:rPr>
            <a:t>echarts </a:t>
          </a:r>
          <a:r>
            <a:rPr lang="zh-CN" altLang="en-US" sz="1400" b="1" kern="1200" dirty="0">
              <a:solidFill>
                <a:prstClr val="black"/>
              </a:solidFill>
              <a:latin typeface="等线" panose="02010600030101010101" pitchFamily="2" charset="-122"/>
              <a:ea typeface="等线" panose="02010600030101010101" pitchFamily="2" charset="-122"/>
              <a:cs typeface="+mn-cs"/>
            </a:rPr>
            <a:t>的渲染容器），就可以在上面创建一个 </a:t>
          </a:r>
          <a:r>
            <a:rPr lang="en-US" altLang="zh-CN" sz="1400" b="1" kern="1200" dirty="0">
              <a:solidFill>
                <a:prstClr val="black"/>
              </a:solidFill>
              <a:latin typeface="等线" panose="02010600030101010101" pitchFamily="2" charset="-122"/>
              <a:ea typeface="等线" panose="02010600030101010101" pitchFamily="2" charset="-122"/>
              <a:cs typeface="+mn-cs"/>
            </a:rPr>
            <a:t>ECharts </a:t>
          </a:r>
          <a:r>
            <a:rPr lang="zh-CN" altLang="en-US" sz="1400" b="1" kern="1200" dirty="0">
              <a:solidFill>
                <a:prstClr val="black"/>
              </a:solidFill>
              <a:latin typeface="等线" panose="02010600030101010101" pitchFamily="2" charset="-122"/>
              <a:ea typeface="等线" panose="02010600030101010101" pitchFamily="2" charset="-122"/>
              <a:cs typeface="+mn-cs"/>
            </a:rPr>
            <a:t>实例。每个 </a:t>
          </a:r>
          <a:r>
            <a:rPr lang="en-US" altLang="zh-CN" sz="1400" b="1" kern="1200" dirty="0">
              <a:solidFill>
                <a:prstClr val="black"/>
              </a:solidFill>
              <a:latin typeface="等线" panose="02010600030101010101" pitchFamily="2" charset="-122"/>
              <a:ea typeface="等线" panose="02010600030101010101" pitchFamily="2" charset="-122"/>
              <a:cs typeface="+mn-cs"/>
            </a:rPr>
            <a:t>ECharts </a:t>
          </a:r>
          <a:r>
            <a:rPr lang="zh-CN" altLang="en-US" sz="1400" b="1" kern="1200" dirty="0">
              <a:solidFill>
                <a:prstClr val="black"/>
              </a:solidFill>
              <a:latin typeface="等线" panose="02010600030101010101" pitchFamily="2" charset="-122"/>
              <a:ea typeface="等线" panose="02010600030101010101" pitchFamily="2" charset="-122"/>
              <a:cs typeface="+mn-cs"/>
            </a:rPr>
            <a:t>实例独占一个 </a:t>
          </a:r>
          <a:r>
            <a:rPr lang="en-US" altLang="zh-CN" sz="1400" b="1" kern="1200" dirty="0">
              <a:solidFill>
                <a:prstClr val="black"/>
              </a:solidFill>
              <a:latin typeface="等线" panose="02010600030101010101" pitchFamily="2" charset="-122"/>
              <a:ea typeface="等线" panose="02010600030101010101" pitchFamily="2" charset="-122"/>
              <a:cs typeface="+mn-cs"/>
            </a:rPr>
            <a:t>DOM </a:t>
          </a:r>
          <a:r>
            <a:rPr lang="zh-CN" altLang="en-US" sz="1400" b="1" kern="1200" dirty="0">
              <a:solidFill>
                <a:prstClr val="black"/>
              </a:solidFill>
              <a:latin typeface="等线" panose="02010600030101010101" pitchFamily="2" charset="-122"/>
              <a:ea typeface="等线" panose="02010600030101010101" pitchFamily="2" charset="-122"/>
              <a:cs typeface="+mn-cs"/>
            </a:rPr>
            <a:t>节点。</a:t>
          </a:r>
        </a:p>
      </dsp:txBody>
      <dsp:txXfrm>
        <a:off x="265056" y="0"/>
        <a:ext cx="4210275" cy="1451927"/>
      </dsp:txXfrm>
    </dsp:sp>
    <dsp:sp modelId="{BE6D7AD3-975C-4C30-AB56-B0CE0F7D1A39}">
      <dsp:nvSpPr>
        <dsp:cNvPr id="0" name=""/>
        <dsp:cNvSpPr/>
      </dsp:nvSpPr>
      <dsp:spPr>
        <a:xfrm>
          <a:off x="4800471" y="4523"/>
          <a:ext cx="3719733" cy="1678344"/>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100000"/>
            </a:lnSpc>
            <a:spcBef>
              <a:spcPct val="0"/>
            </a:spcBef>
            <a:spcAft>
              <a:spcPct val="35000"/>
            </a:spcAft>
            <a:buNone/>
          </a:pPr>
          <a:r>
            <a:rPr lang="en-US" altLang="zh-CN" sz="1400" b="1" kern="1200" dirty="0">
              <a:solidFill>
                <a:srgbClr val="FF0000"/>
              </a:solidFill>
              <a:latin typeface="微软雅黑" panose="020B0503020204020204" pitchFamily="34" charset="-122"/>
              <a:ea typeface="微软雅黑" panose="020B0503020204020204" pitchFamily="34" charset="-122"/>
              <a:cs typeface="+mn-cs"/>
            </a:rPr>
            <a:t>2.</a:t>
          </a:r>
          <a:r>
            <a:rPr lang="zh-CN" altLang="en-US" sz="1400" b="1" kern="1200" dirty="0">
              <a:solidFill>
                <a:srgbClr val="FF0000"/>
              </a:solidFill>
              <a:latin typeface="微软雅黑" panose="020B0503020204020204" pitchFamily="34" charset="-122"/>
              <a:ea typeface="微软雅黑" panose="020B0503020204020204" pitchFamily="34" charset="-122"/>
              <a:cs typeface="+mn-cs"/>
            </a:rPr>
            <a:t>系列（</a:t>
          </a:r>
          <a:r>
            <a:rPr lang="en-US" altLang="zh-CN" sz="1400" b="1" kern="1200" dirty="0">
              <a:solidFill>
                <a:srgbClr val="FF0000"/>
              </a:solidFill>
              <a:latin typeface="微软雅黑" panose="020B0503020204020204" pitchFamily="34" charset="-122"/>
              <a:ea typeface="微软雅黑" panose="020B0503020204020204" pitchFamily="34" charset="-122"/>
              <a:cs typeface="+mn-cs"/>
            </a:rPr>
            <a:t>series</a:t>
          </a:r>
          <a:r>
            <a:rPr lang="zh-CN" altLang="en-US" sz="1400" b="1" kern="1200" dirty="0">
              <a:solidFill>
                <a:srgbClr val="FF0000"/>
              </a:solidFill>
              <a:latin typeface="微软雅黑" panose="020B0503020204020204" pitchFamily="34" charset="-122"/>
              <a:ea typeface="微软雅黑" panose="020B0503020204020204" pitchFamily="34" charset="-122"/>
              <a:cs typeface="+mn-cs"/>
            </a:rPr>
            <a:t>）</a:t>
          </a:r>
          <a:r>
            <a:rPr lang="zh-CN" altLang="en-US" sz="1400" b="1" kern="1200" dirty="0">
              <a:solidFill>
                <a:prstClr val="black"/>
              </a:solidFill>
              <a:latin typeface="等线" panose="02010600030101010101" pitchFamily="2" charset="-122"/>
              <a:ea typeface="等线" panose="02010600030101010101" pitchFamily="2" charset="-122"/>
              <a:cs typeface="+mn-cs"/>
            </a:rPr>
            <a:t> ：  </a:t>
          </a:r>
          <a:r>
            <a:rPr lang="en-US" altLang="zh-CN" sz="1400" b="1" kern="1200" dirty="0">
              <a:solidFill>
                <a:prstClr val="black"/>
              </a:solidFill>
              <a:latin typeface="等线" panose="02010600030101010101" pitchFamily="2" charset="-122"/>
              <a:ea typeface="等线" panose="02010600030101010101" pitchFamily="2" charset="-122"/>
              <a:cs typeface="+mn-cs"/>
            </a:rPr>
            <a:t>ECharts </a:t>
          </a:r>
          <a:r>
            <a:rPr lang="zh-CN" altLang="en-US" sz="1400" b="1" kern="1200" dirty="0">
              <a:solidFill>
                <a:prstClr val="black"/>
              </a:solidFill>
              <a:latin typeface="等线" panose="02010600030101010101" pitchFamily="2" charset="-122"/>
              <a:ea typeface="等线" panose="02010600030101010101" pitchFamily="2" charset="-122"/>
              <a:cs typeface="+mn-cs"/>
            </a:rPr>
            <a:t>里的系列（</a:t>
          </a:r>
          <a:r>
            <a:rPr lang="en-US" altLang="zh-CN" sz="1400" b="1" kern="1200" dirty="0">
              <a:solidFill>
                <a:prstClr val="black"/>
              </a:solidFill>
              <a:latin typeface="等线" panose="02010600030101010101" pitchFamily="2" charset="-122"/>
              <a:ea typeface="等线" panose="02010600030101010101" pitchFamily="2" charset="-122"/>
              <a:cs typeface="+mn-cs"/>
            </a:rPr>
            <a:t>series</a:t>
          </a:r>
          <a:r>
            <a:rPr lang="zh-CN" altLang="en-US" sz="1400" b="1" kern="1200" dirty="0">
              <a:solidFill>
                <a:prstClr val="black"/>
              </a:solidFill>
              <a:latin typeface="等线" panose="02010600030101010101" pitchFamily="2" charset="-122"/>
              <a:ea typeface="等线" panose="02010600030101010101" pitchFamily="2" charset="-122"/>
              <a:cs typeface="+mn-cs"/>
            </a:rPr>
            <a:t>）是指一组数值以及他们映射成的图。“系列”这个词原本可能来源于“一系列的数据”，而在 </a:t>
          </a:r>
          <a:r>
            <a:rPr lang="en-US" altLang="zh-CN" sz="1400" b="1" kern="1200" dirty="0">
              <a:solidFill>
                <a:prstClr val="black"/>
              </a:solidFill>
              <a:latin typeface="等线" panose="02010600030101010101" pitchFamily="2" charset="-122"/>
              <a:ea typeface="等线" panose="02010600030101010101" pitchFamily="2" charset="-122"/>
              <a:cs typeface="+mn-cs"/>
            </a:rPr>
            <a:t>ECharts </a:t>
          </a:r>
          <a:r>
            <a:rPr lang="zh-CN" altLang="en-US" sz="1400" b="1" kern="1200" dirty="0">
              <a:solidFill>
                <a:prstClr val="black"/>
              </a:solidFill>
              <a:latin typeface="等线" panose="02010600030101010101" pitchFamily="2" charset="-122"/>
              <a:ea typeface="等线" panose="02010600030101010101" pitchFamily="2" charset="-122"/>
              <a:cs typeface="+mn-cs"/>
            </a:rPr>
            <a:t>中取其扩展的概念，不仅表示数据，也表示数据映射成为的图。所以，一个 系列 包含的要素至少有：一组数值、图表类型（</a:t>
          </a:r>
          <a:r>
            <a:rPr lang="en-US" altLang="zh-CN" sz="1400" b="1" kern="1200" dirty="0">
              <a:solidFill>
                <a:prstClr val="black"/>
              </a:solidFill>
              <a:latin typeface="等线" panose="02010600030101010101" pitchFamily="2" charset="-122"/>
              <a:ea typeface="等线" panose="02010600030101010101" pitchFamily="2" charset="-122"/>
              <a:cs typeface="+mn-cs"/>
            </a:rPr>
            <a:t>series.type</a:t>
          </a:r>
          <a:r>
            <a:rPr lang="zh-CN" altLang="en-US" sz="1400" b="1" kern="1200" dirty="0">
              <a:solidFill>
                <a:prstClr val="black"/>
              </a:solidFill>
              <a:latin typeface="等线" panose="02010600030101010101" pitchFamily="2" charset="-122"/>
              <a:ea typeface="等线" panose="02010600030101010101" pitchFamily="2" charset="-122"/>
              <a:cs typeface="+mn-cs"/>
            </a:rPr>
            <a:t>）、以及其他的关于这些数据如何映射成图的参数。</a:t>
          </a:r>
        </a:p>
        <a:p>
          <a:pPr marL="0" lvl="0" indent="0" algn="l" defTabSz="622300">
            <a:lnSpc>
              <a:spcPct val="100000"/>
            </a:lnSpc>
            <a:spcBef>
              <a:spcPct val="0"/>
            </a:spcBef>
            <a:spcAft>
              <a:spcPct val="35000"/>
            </a:spcAft>
            <a:buNone/>
          </a:pPr>
          <a:endParaRPr lang="zh-CN" altLang="en-US" sz="1500" b="1" kern="1200" dirty="0">
            <a:solidFill>
              <a:prstClr val="black"/>
            </a:solidFill>
            <a:latin typeface="Calibri" panose="020F0502020204030204"/>
            <a:ea typeface="等线" panose="02010600030101010101" pitchFamily="2" charset="-122"/>
            <a:cs typeface="+mn-cs"/>
          </a:endParaRPr>
        </a:p>
      </dsp:txBody>
      <dsp:txXfrm>
        <a:off x="4800471" y="4523"/>
        <a:ext cx="3719733" cy="1678344"/>
      </dsp:txXfrm>
    </dsp:sp>
    <dsp:sp modelId="{A6F82ED9-5ECB-4EBE-98E3-8BAD1B98551D}">
      <dsp:nvSpPr>
        <dsp:cNvPr id="0" name=""/>
        <dsp:cNvSpPr/>
      </dsp:nvSpPr>
      <dsp:spPr>
        <a:xfrm>
          <a:off x="148578" y="1601476"/>
          <a:ext cx="4281182" cy="2134137"/>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l" defTabSz="622300">
            <a:lnSpc>
              <a:spcPct val="90000"/>
            </a:lnSpc>
            <a:spcBef>
              <a:spcPct val="0"/>
            </a:spcBef>
            <a:spcAft>
              <a:spcPct val="35000"/>
            </a:spcAft>
            <a:buNone/>
          </a:pPr>
          <a:r>
            <a:rPr lang="zh-CN" sz="1400" b="1" kern="1200" dirty="0">
              <a:solidFill>
                <a:srgbClr val="FF0000"/>
              </a:solidFill>
              <a:latin typeface="微软雅黑" panose="020B0503020204020204" pitchFamily="34" charset="-122"/>
              <a:ea typeface="微软雅黑" panose="020B0503020204020204" pitchFamily="34" charset="-122"/>
              <a:cs typeface="+mn-cs"/>
            </a:rPr>
            <a:t>3.组件（component）</a:t>
          </a:r>
          <a:r>
            <a:rPr lang="zh-CN" sz="1400" b="1" kern="1200" dirty="0">
              <a:solidFill>
                <a:schemeClr val="tx1"/>
              </a:solidFill>
              <a:latin typeface="+mn-ea"/>
              <a:ea typeface="+mn-ea"/>
              <a:cs typeface="+mn-cs"/>
            </a:rPr>
            <a:t> ： </a:t>
          </a:r>
          <a:r>
            <a:rPr sz="1200" b="1" kern="1200" dirty="0">
              <a:solidFill>
                <a:schemeClr val="tx1"/>
              </a:solidFill>
              <a:latin typeface="+mn-ea"/>
              <a:ea typeface="+mn-ea"/>
              <a:cs typeface="+mn-cs"/>
            </a:rPr>
            <a:t>在系列之上，ECharts 中各种内容，被抽象为“组件”。例如，ECharts 中至少有这些组件：xAxis（直角坐标系 X 轴）、yAxis（直角坐标系 Y 轴）、grid（直角坐标系底板）、angleAxis（极坐标系角度轴）、radiusAxis（极坐标系半径轴）、polar（极坐标系底板）、geo（地理坐标系）、dataZoom（数据区缩放组件）、visualMap（视觉映射组件）、tooltip（提示框组件）、toolbox（工具栏组件）、series（系列）、...。</a:t>
          </a:r>
          <a:endParaRPr sz="1400" b="1" kern="1200" dirty="0">
            <a:solidFill>
              <a:schemeClr val="tx1"/>
            </a:solidFill>
            <a:latin typeface="+mn-ea"/>
            <a:ea typeface="+mn-ea"/>
            <a:cs typeface="+mn-cs"/>
          </a:endParaRPr>
        </a:p>
      </dsp:txBody>
      <dsp:txXfrm>
        <a:off x="148578" y="1601476"/>
        <a:ext cx="4281182" cy="2134137"/>
      </dsp:txXfrm>
    </dsp:sp>
    <dsp:sp modelId="{DE4A3BF8-84B3-4B8F-A3FE-94BCB6C821D4}">
      <dsp:nvSpPr>
        <dsp:cNvPr id="0" name=""/>
        <dsp:cNvSpPr/>
      </dsp:nvSpPr>
      <dsp:spPr>
        <a:xfrm>
          <a:off x="4824116" y="2007886"/>
          <a:ext cx="3693185" cy="1672155"/>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l" defTabSz="622300">
            <a:lnSpc>
              <a:spcPct val="90000"/>
            </a:lnSpc>
            <a:spcBef>
              <a:spcPct val="0"/>
            </a:spcBef>
            <a:spcAft>
              <a:spcPct val="35000"/>
            </a:spcAft>
            <a:buNone/>
          </a:pPr>
          <a:r>
            <a:rPr sz="1400" b="1" kern="1200" dirty="0">
              <a:solidFill>
                <a:srgbClr val="FF0000"/>
              </a:solidFill>
              <a:latin typeface="微软雅黑" panose="020B0503020204020204" pitchFamily="34" charset="-122"/>
              <a:ea typeface="微软雅黑" panose="020B0503020204020204" pitchFamily="34" charset="-122"/>
              <a:cs typeface="+mn-cs"/>
            </a:rPr>
            <a:t>4.用 option 描述图表</a:t>
          </a:r>
          <a:r>
            <a:rPr lang="zh-CN" sz="1400" b="1" kern="1200" dirty="0">
              <a:solidFill>
                <a:prstClr val="black"/>
              </a:solidFill>
              <a:latin typeface="微软雅黑" panose="020B0503020204020204" pitchFamily="34" charset="-122"/>
              <a:ea typeface="微软雅黑" panose="020B0503020204020204" pitchFamily="34" charset="-122"/>
              <a:cs typeface="+mn-cs"/>
            </a:rPr>
            <a:t>： </a:t>
          </a:r>
          <a:r>
            <a:rPr sz="1400" b="1" kern="1200" dirty="0">
              <a:solidFill>
                <a:prstClr val="black"/>
              </a:solidFill>
              <a:latin typeface="等线" panose="02010600030101010101" pitchFamily="2" charset="-122"/>
              <a:ea typeface="等线" panose="02010600030101010101" pitchFamily="2" charset="-122"/>
              <a:cs typeface="+mn-cs"/>
            </a:rPr>
            <a:t>ECharts 的使用者可以使用 option 来描述其对图表的各种需求，包括：有什么数据、要画什么图表、图表长什么样子、含有什么组件、组件能操作什么事情等等。简而言之，option 表述了：数据、数据如何映射成图形、交互行为。</a:t>
          </a:r>
        </a:p>
      </dsp:txBody>
      <dsp:txXfrm>
        <a:off x="4824116" y="2007886"/>
        <a:ext cx="3693185" cy="1672155"/>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3D9ACA-1782-4FCB-A0EC-B2FE70654AFE}" type="datetimeFigureOut">
              <a:rPr lang="zh-CN" altLang="en-US" smtClean="0"/>
              <a:t>2022/12/22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82627-E3EE-4561-A6E9-BC344C6B2724}"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8BE76-29C8-41AB-8544-889D89FA4F96}" type="datetimeFigureOut">
              <a:rPr lang="zh-CN" altLang="en-US" smtClean="0"/>
              <a:t>2022/12/22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77-048F-409F-AACD-0A0B5EF61C8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aike.baidu.com/item/%E5%85%8B%E9%87%8C%E7%B1%B3%E4%BA%9A%E6%88%98%E4%BA%89/1614163?fromModule=lemma_inlink"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i="0" kern="1200">
                <a:solidFill>
                  <a:schemeClr val="tx1"/>
                </a:solidFill>
                <a:effectLst/>
                <a:latin typeface="+mn-lt"/>
                <a:ea typeface="+mn-ea"/>
                <a:cs typeface="+mn-cs"/>
              </a:rPr>
              <a:t>854</a:t>
            </a:r>
            <a:r>
              <a:rPr lang="zh-CN" altLang="en-US" sz="1200" b="0" i="0" kern="1200">
                <a:solidFill>
                  <a:schemeClr val="tx1"/>
                </a:solidFill>
                <a:effectLst/>
                <a:latin typeface="+mn-lt"/>
                <a:ea typeface="+mn-ea"/>
                <a:cs typeface="+mn-cs"/>
              </a:rPr>
              <a:t>年至</a:t>
            </a:r>
            <a:r>
              <a:rPr lang="en-US" altLang="zh-CN" sz="1200" b="0" i="0" kern="1200">
                <a:solidFill>
                  <a:schemeClr val="tx1"/>
                </a:solidFill>
                <a:effectLst/>
                <a:latin typeface="+mn-lt"/>
                <a:ea typeface="+mn-ea"/>
                <a:cs typeface="+mn-cs"/>
              </a:rPr>
              <a:t>1856</a:t>
            </a:r>
            <a:r>
              <a:rPr lang="zh-CN" altLang="en-US" sz="1200" b="0" i="0" kern="1200">
                <a:solidFill>
                  <a:schemeClr val="tx1"/>
                </a:solidFill>
                <a:effectLst/>
                <a:latin typeface="+mn-lt"/>
                <a:ea typeface="+mn-ea"/>
                <a:cs typeface="+mn-cs"/>
              </a:rPr>
              <a:t>年，英国、法国、土耳其联军与沙皇俄国在克里米亚交战。</a:t>
            </a:r>
            <a:r>
              <a:rPr lang="zh-CN" altLang="en-US" sz="1200" b="0" i="0" u="none" strike="noStrike" kern="1200">
                <a:solidFill>
                  <a:schemeClr val="tx1"/>
                </a:solidFill>
                <a:effectLst/>
                <a:latin typeface="+mn-lt"/>
                <a:ea typeface="+mn-ea"/>
                <a:cs typeface="+mn-cs"/>
                <a:hlinkClick r:id="rId3"/>
              </a:rPr>
              <a:t>克里米亚战争</a:t>
            </a:r>
            <a:r>
              <a:rPr lang="zh-CN" altLang="en-US" sz="1200" b="0" i="0" kern="1200">
                <a:solidFill>
                  <a:schemeClr val="tx1"/>
                </a:solidFill>
                <a:effectLst/>
                <a:latin typeface="+mn-lt"/>
                <a:ea typeface="+mn-ea"/>
                <a:cs typeface="+mn-cs"/>
              </a:rPr>
              <a:t>爆发。由于没有护士且医疗条件恶劣，英国的参战士兵死亡率高达</a:t>
            </a:r>
            <a:r>
              <a:rPr lang="en-US" altLang="zh-CN" sz="1200" b="0" i="0" kern="1200">
                <a:solidFill>
                  <a:schemeClr val="tx1"/>
                </a:solidFill>
                <a:effectLst/>
                <a:latin typeface="+mn-lt"/>
                <a:ea typeface="+mn-ea"/>
                <a:cs typeface="+mn-cs"/>
              </a:rPr>
              <a:t>42%</a:t>
            </a:r>
            <a:r>
              <a:rPr lang="zh-CN" altLang="en-US" sz="1200" b="0" i="0" kern="1200">
                <a:solidFill>
                  <a:schemeClr val="tx1"/>
                </a:solidFill>
                <a:effectLst/>
                <a:latin typeface="+mn-lt"/>
                <a:ea typeface="+mn-ea"/>
                <a:cs typeface="+mn-cs"/>
              </a:rPr>
              <a:t>。南丁格尔主动申请担任战地护士，率领</a:t>
            </a:r>
            <a:r>
              <a:rPr lang="en-US" altLang="zh-CN" sz="1200" b="0" i="0" kern="1200">
                <a:solidFill>
                  <a:schemeClr val="tx1"/>
                </a:solidFill>
                <a:effectLst/>
                <a:latin typeface="+mn-lt"/>
                <a:ea typeface="+mn-ea"/>
                <a:cs typeface="+mn-cs"/>
              </a:rPr>
              <a:t>38</a:t>
            </a:r>
            <a:r>
              <a:rPr lang="zh-CN" altLang="en-US" sz="1200" b="0" i="0" kern="1200">
                <a:solidFill>
                  <a:schemeClr val="tx1"/>
                </a:solidFill>
                <a:effectLst/>
                <a:latin typeface="+mn-lt"/>
                <a:ea typeface="+mn-ea"/>
                <a:cs typeface="+mn-cs"/>
              </a:rPr>
              <a:t>名护士抵达前线服务于战地医院，为伤员解决必须的生活用品和食品，对他们进行认真的护理。仅仅半年左右的时间伤病员的死亡率就下降到</a:t>
            </a:r>
            <a:r>
              <a:rPr lang="en-US" altLang="zh-CN" sz="1200" b="0" i="0" kern="1200">
                <a:solidFill>
                  <a:schemeClr val="tx1"/>
                </a:solidFill>
                <a:effectLst/>
                <a:latin typeface="+mn-lt"/>
                <a:ea typeface="+mn-ea"/>
                <a:cs typeface="+mn-cs"/>
              </a:rPr>
              <a:t>2.2%</a:t>
            </a:r>
            <a:r>
              <a:rPr lang="zh-CN" altLang="en-US" sz="1200" b="0" i="0" kern="1200">
                <a:solidFill>
                  <a:schemeClr val="tx1"/>
                </a:solidFill>
                <a:effectLst/>
                <a:latin typeface="+mn-lt"/>
                <a:ea typeface="+mn-ea"/>
                <a:cs typeface="+mn-cs"/>
              </a:rPr>
              <a:t>。每个夜晚，她都手执风灯巡视，伤病员们亲切地称她为“提灯女神”。战争结束后，南丁格尔回到英国，被人们推崇为民族英雄。</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40</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50</a:t>
            </a:fld>
            <a:endParaRPr lang="zh-CN" altLang="en-US"/>
          </a:p>
        </p:txBody>
      </p:sp>
    </p:spTree>
    <p:extLst>
      <p:ext uri="{BB962C8B-B14F-4D97-AF65-F5344CB8AC3E}">
        <p14:creationId xmlns:p14="http://schemas.microsoft.com/office/powerpoint/2010/main" val="18326228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55</a:t>
            </a:fld>
            <a:endParaRPr lang="zh-CN" altLang="en-US"/>
          </a:p>
        </p:txBody>
      </p:sp>
    </p:spTree>
    <p:extLst>
      <p:ext uri="{BB962C8B-B14F-4D97-AF65-F5344CB8AC3E}">
        <p14:creationId xmlns:p14="http://schemas.microsoft.com/office/powerpoint/2010/main" val="40176384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56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62</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64</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65</a:t>
            </a:fld>
            <a:endParaRPr lang="zh-CN" altLang="en-US"/>
          </a:p>
        </p:txBody>
      </p:sp>
    </p:spTree>
    <p:extLst>
      <p:ext uri="{BB962C8B-B14F-4D97-AF65-F5344CB8AC3E}">
        <p14:creationId xmlns:p14="http://schemas.microsoft.com/office/powerpoint/2010/main" val="2698352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67</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68</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69</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70</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71</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72</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73</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74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75</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五边形 7"/>
          <p:cNvSpPr/>
          <p:nvPr userDrawn="1"/>
        </p:nvSpPr>
        <p:spPr>
          <a:xfrm>
            <a:off x="0" y="217805"/>
            <a:ext cx="463486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CA37975-6AF7-4301-9DC5-87C074AA59D1}" type="datetimeFigureOut">
              <a:rPr lang="zh-CN" altLang="en-US" smtClean="0"/>
              <a:t>2022/12/22</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987A4-0198-42B4-AAAE-EDBADA4485A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b="1"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1.xml.rels><?xml version="1.0" encoding="UTF-8" standalone="yes"?>
<Relationships xmlns="http://schemas.openxmlformats.org/package/2006/relationships"><Relationship Id="rId3" Type="http://schemas.openxmlformats.org/officeDocument/2006/relationships/hyperlink" Target="#echartsInstance.setOption"/><Relationship Id="rId2" Type="http://schemas.openxmlformats.org/officeDocument/2006/relationships/hyperlink" Target="#echarts.init"/><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7.emf"/></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53.emf"/></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0.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1.xml"/><Relationship Id="rId1" Type="http://schemas.openxmlformats.org/officeDocument/2006/relationships/slideLayout" Target="../slideLayouts/slideLayout8.xml"/><Relationship Id="rId5" Type="http://schemas.openxmlformats.org/officeDocument/2006/relationships/image" Target="../media/image55.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3" name="图片 2"/>
          <p:cNvPicPr>
            <a:picLocks noChangeAspect="1"/>
          </p:cNvPicPr>
          <p:nvPr/>
        </p:nvPicPr>
        <p:blipFill>
          <a:blip r:embed="rId4"/>
          <a:stretch>
            <a:fillRect/>
          </a:stretch>
        </p:blipFill>
        <p:spPr>
          <a:xfrm>
            <a:off x="1563873" y="1026542"/>
            <a:ext cx="6016254" cy="3090416"/>
          </a:xfrm>
          <a:prstGeom prst="rect">
            <a:avLst/>
          </a:prstGeom>
        </p:spPr>
      </p:pic>
      <p:pic>
        <p:nvPicPr>
          <p:cNvPr id="4" name="图片 3"/>
          <p:cNvPicPr>
            <a:picLocks noChangeAspect="1"/>
          </p:cNvPicPr>
          <p:nvPr/>
        </p:nvPicPr>
        <p:blipFill>
          <a:blip r:embed="rId5"/>
          <a:stretch>
            <a:fillRect/>
          </a:stretch>
        </p:blipFill>
        <p:spPr>
          <a:xfrm>
            <a:off x="1129665" y="0"/>
            <a:ext cx="6884670" cy="4974590"/>
          </a:xfrm>
          <a:prstGeom prst="rect">
            <a:avLst/>
          </a:prstGeom>
        </p:spPr>
      </p:pic>
      <p:sp>
        <p:nvSpPr>
          <p:cNvPr id="5" name="文本框 4"/>
          <p:cNvSpPr txBox="1"/>
          <p:nvPr/>
        </p:nvSpPr>
        <p:spPr>
          <a:xfrm>
            <a:off x="2091150" y="2305739"/>
            <a:ext cx="3839513" cy="646331"/>
          </a:xfrm>
          <a:prstGeom prst="rect">
            <a:avLst/>
          </a:prstGeom>
          <a:noFill/>
        </p:spPr>
        <p:txBody>
          <a:bodyPr wrap="none" rtlCol="0">
            <a:spAutoFit/>
          </a:bodyPr>
          <a:lstStyle/>
          <a:p>
            <a:pPr algn="l"/>
            <a:r>
              <a:rPr lang="zh-CN" altLang="en-US" sz="3600" b="1">
                <a:solidFill>
                  <a:schemeClr val="bg1"/>
                </a:solidFill>
                <a:latin typeface="微软雅黑" panose="020B0503020204020204" pitchFamily="34" charset="-122"/>
                <a:ea typeface="微软雅黑" panose="020B0503020204020204" pitchFamily="34" charset="-122"/>
              </a:rPr>
              <a:t>第</a:t>
            </a:r>
            <a:r>
              <a:rPr lang="en-US" altLang="zh-CN" sz="3600" b="1">
                <a:solidFill>
                  <a:schemeClr val="bg1"/>
                </a:solidFill>
                <a:latin typeface="微软雅黑" panose="020B0503020204020204" pitchFamily="34" charset="-122"/>
                <a:ea typeface="微软雅黑" panose="020B0503020204020204" pitchFamily="34" charset="-122"/>
              </a:rPr>
              <a:t>9</a:t>
            </a:r>
            <a:r>
              <a:rPr lang="zh-CN" altLang="en-US" sz="3600" b="1">
                <a:solidFill>
                  <a:schemeClr val="bg1"/>
                </a:solidFill>
                <a:latin typeface="微软雅黑" panose="020B0503020204020204" pitchFamily="34" charset="-122"/>
                <a:ea typeface="微软雅黑" panose="020B0503020204020204" pitchFamily="34" charset="-122"/>
              </a:rPr>
              <a:t>章 数据</a:t>
            </a:r>
            <a:r>
              <a:rPr lang="zh-CN" altLang="en-US" sz="3600" b="1" dirty="0">
                <a:solidFill>
                  <a:schemeClr val="bg1"/>
                </a:solidFill>
                <a:latin typeface="微软雅黑" panose="020B0503020204020204" pitchFamily="34" charset="-122"/>
                <a:ea typeface="微软雅黑" panose="020B0503020204020204" pitchFamily="34" charset="-122"/>
              </a:rPr>
              <a:t>可视化</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childTnLst>
                                </p:cTn>
                              </p:par>
                            </p:childTnLst>
                          </p:cTn>
                        </p:par>
                        <p:par>
                          <p:cTn id="14" fill="hold">
                            <p:stCondLst>
                              <p:cond delay="2000"/>
                            </p:stCondLst>
                            <p:childTnLst>
                              <p:par>
                                <p:cTn id="15" presetID="10" presetClass="entr" presetSubtype="0" fill="hold" grpId="0" nodeType="afterEffect">
                                  <p:stCondLst>
                                    <p:cond delay="0"/>
                                  </p:stCondLst>
                                  <p:iterate type="lt">
                                    <p:tmPct val="14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63500"/>
            <a:ext cx="9141291" cy="5143500"/>
          </a:xfrm>
          <a:prstGeom prst="rect">
            <a:avLst/>
          </a:prstGeom>
        </p:spPr>
      </p:pic>
      <p:grpSp>
        <p:nvGrpSpPr>
          <p:cNvPr id="25" name="组合 54"/>
          <p:cNvGrpSpPr/>
          <p:nvPr/>
        </p:nvGrpSpPr>
        <p:grpSpPr bwMode="auto">
          <a:xfrm>
            <a:off x="0" y="349949"/>
            <a:ext cx="9142645" cy="841713"/>
            <a:chOff x="256379" y="27271"/>
            <a:chExt cx="7683149" cy="841022"/>
          </a:xfrm>
        </p:grpSpPr>
        <p:grpSp>
          <p:nvGrpSpPr>
            <p:cNvPr id="26" name="组合 55"/>
            <p:cNvGrpSpPr/>
            <p:nvPr/>
          </p:nvGrpSpPr>
          <p:grpSpPr bwMode="auto">
            <a:xfrm>
              <a:off x="256379" y="27271"/>
              <a:ext cx="7683149" cy="837427"/>
              <a:chOff x="256379" y="27271"/>
              <a:chExt cx="7683149" cy="837427"/>
            </a:xfrm>
          </p:grpSpPr>
          <p:sp>
            <p:nvSpPr>
              <p:cNvPr id="28"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dirty="0">
                    <a:solidFill>
                      <a:srgbClr val="FFC000"/>
                    </a:solidFill>
                    <a:latin typeface="微软雅黑" panose="020B0503020204020204" pitchFamily="34" charset="-122"/>
                    <a:ea typeface="微软雅黑" panose="020B0503020204020204" pitchFamily="34" charset="-122"/>
                  </a:rPr>
                  <a:t>目 录</a:t>
                </a:r>
              </a:p>
            </p:txBody>
          </p:sp>
          <p:cxnSp>
            <p:nvCxnSpPr>
              <p:cNvPr id="29"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27"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323340" y="1475740"/>
            <a:ext cx="4714240" cy="518795"/>
            <a:chOff x="903" y="3512"/>
            <a:chExt cx="7424" cy="817"/>
          </a:xfrm>
        </p:grpSpPr>
        <p:grpSp>
          <p:nvGrpSpPr>
            <p:cNvPr id="4" name="组合 3"/>
            <p:cNvGrpSpPr/>
            <p:nvPr/>
          </p:nvGrpSpPr>
          <p:grpSpPr>
            <a:xfrm>
              <a:off x="903" y="3512"/>
              <a:ext cx="7424" cy="817"/>
              <a:chOff x="1264" y="2025"/>
              <a:chExt cx="5382" cy="817"/>
            </a:xfrm>
          </p:grpSpPr>
          <p:sp>
            <p:nvSpPr>
              <p:cNvPr id="1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3" name="组合 2"/>
              <p:cNvGrpSpPr/>
              <p:nvPr/>
            </p:nvGrpSpPr>
            <p:grpSpPr>
              <a:xfrm>
                <a:off x="1264" y="2025"/>
                <a:ext cx="5382" cy="816"/>
                <a:chOff x="4471" y="2958"/>
                <a:chExt cx="5382" cy="816"/>
              </a:xfrm>
            </p:grpSpPr>
            <p:sp>
              <p:nvSpPr>
                <p:cNvPr id="9"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9.1</a:t>
                  </a:r>
                  <a:endParaRPr lang="en-US" altLang="en-US" sz="2400" b="1" dirty="0">
                    <a:solidFill>
                      <a:schemeClr val="bg1"/>
                    </a:solidFill>
                    <a:latin typeface="微软雅黑" panose="020B0503020204020204" pitchFamily="34" charset="-122"/>
                    <a:ea typeface="微软雅黑" panose="020B0503020204020204" pitchFamily="34" charset="-122"/>
                    <a:sym typeface="+mn-ea"/>
                  </a:endParaRPr>
                </a:p>
              </p:txBody>
            </p:sp>
          </p:grpSp>
        </p:grpSp>
        <p:sp>
          <p:nvSpPr>
            <p:cNvPr id="100" name="文本框 99"/>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引言</a:t>
              </a:r>
            </a:p>
          </p:txBody>
        </p:sp>
      </p:grpSp>
      <p:grpSp>
        <p:nvGrpSpPr>
          <p:cNvPr id="48" name="组合 47"/>
          <p:cNvGrpSpPr/>
          <p:nvPr/>
        </p:nvGrpSpPr>
        <p:grpSpPr>
          <a:xfrm>
            <a:off x="1323340" y="2176780"/>
            <a:ext cx="4714240" cy="518795"/>
            <a:chOff x="903" y="3512"/>
            <a:chExt cx="7424" cy="817"/>
          </a:xfrm>
        </p:grpSpPr>
        <p:grpSp>
          <p:nvGrpSpPr>
            <p:cNvPr id="49" name="组合 48"/>
            <p:cNvGrpSpPr/>
            <p:nvPr/>
          </p:nvGrpSpPr>
          <p:grpSpPr>
            <a:xfrm>
              <a:off x="903" y="3512"/>
              <a:ext cx="7424" cy="817"/>
              <a:chOff x="1264" y="2025"/>
              <a:chExt cx="5382" cy="817"/>
            </a:xfrm>
          </p:grpSpPr>
          <p:sp>
            <p:nvSpPr>
              <p:cNvPr id="5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1" name="组合 50"/>
              <p:cNvGrpSpPr/>
              <p:nvPr/>
            </p:nvGrpSpPr>
            <p:grpSpPr>
              <a:xfrm>
                <a:off x="1264" y="2025"/>
                <a:ext cx="5382" cy="816"/>
                <a:chOff x="4471" y="2958"/>
                <a:chExt cx="5382" cy="816"/>
              </a:xfrm>
            </p:grpSpPr>
            <p:sp>
              <p:nvSpPr>
                <p:cNvPr id="52"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53"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rPr>
                    <a:t>9.</a:t>
                  </a:r>
                  <a:r>
                    <a:rPr lang="en-US" sz="2400" b="1">
                      <a:solidFill>
                        <a:schemeClr val="bg1"/>
                      </a:solidFill>
                      <a:latin typeface="微软雅黑" panose="020B0503020204020204" pitchFamily="34" charset="-122"/>
                      <a:ea typeface="微软雅黑" panose="020B0503020204020204" pitchFamily="34" charset="-122"/>
                      <a:sym typeface="+mn-ea"/>
                    </a:rPr>
                    <a:t>2</a:t>
                  </a:r>
                  <a:endParaRPr lang="zh-CN" altLang="en-US" sz="2400" b="1" dirty="0">
                    <a:solidFill>
                      <a:schemeClr val="bg1"/>
                    </a:solidFill>
                    <a:latin typeface="微软雅黑" panose="020B0503020204020204" pitchFamily="34" charset="-122"/>
                  </a:endParaRPr>
                </a:p>
              </p:txBody>
            </p:sp>
          </p:grpSp>
        </p:grpSp>
        <p:sp>
          <p:nvSpPr>
            <p:cNvPr id="54" name="文本框 53"/>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数据可视化的常用方法</a:t>
              </a:r>
            </a:p>
          </p:txBody>
        </p:sp>
      </p:grpSp>
      <p:grpSp>
        <p:nvGrpSpPr>
          <p:cNvPr id="56" name="组合 55"/>
          <p:cNvGrpSpPr/>
          <p:nvPr/>
        </p:nvGrpSpPr>
        <p:grpSpPr>
          <a:xfrm>
            <a:off x="1322705" y="2849880"/>
            <a:ext cx="4714240" cy="518795"/>
            <a:chOff x="903" y="3512"/>
            <a:chExt cx="7424" cy="817"/>
          </a:xfrm>
        </p:grpSpPr>
        <p:grpSp>
          <p:nvGrpSpPr>
            <p:cNvPr id="57" name="组合 56"/>
            <p:cNvGrpSpPr/>
            <p:nvPr/>
          </p:nvGrpSpPr>
          <p:grpSpPr>
            <a:xfrm>
              <a:off x="903" y="3512"/>
              <a:ext cx="7424" cy="817"/>
              <a:chOff x="1264" y="2025"/>
              <a:chExt cx="5382" cy="817"/>
            </a:xfrm>
          </p:grpSpPr>
          <p:sp>
            <p:nvSpPr>
              <p:cNvPr id="58"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9" name="组合 58"/>
              <p:cNvGrpSpPr/>
              <p:nvPr/>
            </p:nvGrpSpPr>
            <p:grpSpPr>
              <a:xfrm>
                <a:off x="1264" y="2025"/>
                <a:ext cx="5382" cy="816"/>
                <a:chOff x="4471" y="2958"/>
                <a:chExt cx="5382" cy="816"/>
              </a:xfrm>
            </p:grpSpPr>
            <p:sp>
              <p:nvSpPr>
                <p:cNvPr id="60"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9.3</a:t>
                  </a:r>
                  <a:endParaRPr lang="en-US" sz="2400" b="1">
                    <a:solidFill>
                      <a:schemeClr val="bg1"/>
                    </a:solidFill>
                    <a:latin typeface="微软雅黑" panose="020B0503020204020204" pitchFamily="34" charset="-122"/>
                    <a:ea typeface="微软雅黑" panose="020B0503020204020204" pitchFamily="34" charset="-122"/>
                  </a:endParaRPr>
                </a:p>
              </p:txBody>
            </p:sp>
          </p:grpSp>
        </p:grpSp>
        <p:sp>
          <p:nvSpPr>
            <p:cNvPr id="62" name="文本框 61"/>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数据可视化常用工具简介</a:t>
              </a:r>
            </a:p>
          </p:txBody>
        </p:sp>
      </p:grpSp>
      <p:grpSp>
        <p:nvGrpSpPr>
          <p:cNvPr id="63" name="组合 62"/>
          <p:cNvGrpSpPr/>
          <p:nvPr/>
        </p:nvGrpSpPr>
        <p:grpSpPr>
          <a:xfrm>
            <a:off x="1322705" y="3568700"/>
            <a:ext cx="4714240" cy="518795"/>
            <a:chOff x="903" y="3512"/>
            <a:chExt cx="7424" cy="817"/>
          </a:xfrm>
        </p:grpSpPr>
        <p:grpSp>
          <p:nvGrpSpPr>
            <p:cNvPr id="64" name="组合 63"/>
            <p:cNvGrpSpPr/>
            <p:nvPr/>
          </p:nvGrpSpPr>
          <p:grpSpPr>
            <a:xfrm>
              <a:off x="903" y="3512"/>
              <a:ext cx="7424" cy="817"/>
              <a:chOff x="1264" y="2025"/>
              <a:chExt cx="5382" cy="817"/>
            </a:xfrm>
          </p:grpSpPr>
          <p:sp>
            <p:nvSpPr>
              <p:cNvPr id="65"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66" name="组合 65"/>
              <p:cNvGrpSpPr/>
              <p:nvPr/>
            </p:nvGrpSpPr>
            <p:grpSpPr>
              <a:xfrm>
                <a:off x="1264" y="2025"/>
                <a:ext cx="5382" cy="816"/>
                <a:chOff x="4471" y="2958"/>
                <a:chExt cx="5382" cy="816"/>
              </a:xfrm>
            </p:grpSpPr>
            <p:sp>
              <p:nvSpPr>
                <p:cNvPr id="67"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8"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9.4</a:t>
                  </a:r>
                  <a:endParaRPr lang="zh-CN" altLang="en-US" sz="2400" b="1" dirty="0">
                    <a:solidFill>
                      <a:schemeClr val="bg1"/>
                    </a:solidFill>
                    <a:latin typeface="微软雅黑" panose="020B0503020204020204" pitchFamily="34" charset="-122"/>
                  </a:endParaRPr>
                </a:p>
              </p:txBody>
            </p:sp>
          </p:grpSp>
        </p:grpSp>
        <p:sp>
          <p:nvSpPr>
            <p:cNvPr id="69" name="文本框 68"/>
            <p:cNvSpPr txBox="1"/>
            <p:nvPr/>
          </p:nvSpPr>
          <p:spPr>
            <a:xfrm>
              <a:off x="2276" y="3631"/>
              <a:ext cx="6050" cy="580"/>
            </a:xfrm>
            <a:prstGeom prst="rect">
              <a:avLst/>
            </a:prstGeom>
            <a:noFill/>
            <a:ln w="9525">
              <a:noFill/>
            </a:ln>
          </p:spPr>
          <p:txBody>
            <a:bodyPr wrap="square">
              <a:spAutoFit/>
            </a:bodyPr>
            <a:lstStyle/>
            <a:p>
              <a:pPr marL="396240" indent="-396240" algn="l"/>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基于ECharts的可视化示例</a:t>
              </a:r>
            </a:p>
          </p:txBody>
        </p:sp>
      </p:grpSp>
      <p:grpSp>
        <p:nvGrpSpPr>
          <p:cNvPr id="22" name="组合 21"/>
          <p:cNvGrpSpPr/>
          <p:nvPr/>
        </p:nvGrpSpPr>
        <p:grpSpPr>
          <a:xfrm>
            <a:off x="1322070" y="4269740"/>
            <a:ext cx="4714240" cy="518795"/>
            <a:chOff x="903" y="3512"/>
            <a:chExt cx="7424" cy="817"/>
          </a:xfrm>
        </p:grpSpPr>
        <p:grpSp>
          <p:nvGrpSpPr>
            <p:cNvPr id="23" name="组合 22"/>
            <p:cNvGrpSpPr/>
            <p:nvPr/>
          </p:nvGrpSpPr>
          <p:grpSpPr>
            <a:xfrm>
              <a:off x="903" y="3512"/>
              <a:ext cx="7424" cy="817"/>
              <a:chOff x="1264" y="2025"/>
              <a:chExt cx="5382" cy="817"/>
            </a:xfrm>
          </p:grpSpPr>
          <p:sp>
            <p:nvSpPr>
              <p:cNvPr id="24"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30" name="组合 29"/>
              <p:cNvGrpSpPr/>
              <p:nvPr/>
            </p:nvGrpSpPr>
            <p:grpSpPr>
              <a:xfrm>
                <a:off x="1264" y="2025"/>
                <a:ext cx="5382" cy="816"/>
                <a:chOff x="4471" y="2958"/>
                <a:chExt cx="5382" cy="816"/>
              </a:xfrm>
            </p:grpSpPr>
            <p:sp>
              <p:nvSpPr>
                <p:cNvPr id="31"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32"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9.5</a:t>
                  </a:r>
                  <a:endParaRPr lang="zh-CN" altLang="en-US" sz="2400" b="1" dirty="0">
                    <a:solidFill>
                      <a:schemeClr val="bg1"/>
                    </a:solidFill>
                    <a:latin typeface="微软雅黑" panose="020B0503020204020204" pitchFamily="34" charset="-122"/>
                  </a:endParaRPr>
                </a:p>
              </p:txBody>
            </p:sp>
          </p:grpSp>
        </p:grpSp>
        <p:sp>
          <p:nvSpPr>
            <p:cNvPr id="33" name="文本框 32"/>
            <p:cNvSpPr txBox="1"/>
            <p:nvPr/>
          </p:nvSpPr>
          <p:spPr>
            <a:xfrm>
              <a:off x="2276" y="3631"/>
              <a:ext cx="6050" cy="580"/>
            </a:xfrm>
            <a:prstGeom prst="rect">
              <a:avLst/>
            </a:prstGeom>
            <a:noFill/>
            <a:ln w="9525">
              <a:noFill/>
            </a:ln>
          </p:spPr>
          <p:txBody>
            <a:bodyPr wrap="square">
              <a:spAutoFit/>
            </a:bodyPr>
            <a:lstStyle/>
            <a:p>
              <a:pPr marL="396240" indent="-396240" algn="l"/>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本章小结</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218055" y="1677670"/>
            <a:ext cx="6555105" cy="645160"/>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引言</a:t>
            </a:r>
          </a:p>
        </p:txBody>
      </p:sp>
      <p:sp>
        <p:nvSpPr>
          <p:cNvPr id="41" name="文本框 40"/>
          <p:cNvSpPr txBox="1">
            <a:spLocks noChangeArrowheads="1"/>
          </p:cNvSpPr>
          <p:nvPr/>
        </p:nvSpPr>
        <p:spPr bwMode="auto">
          <a:xfrm>
            <a:off x="820924" y="160160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9.1</a:t>
            </a:r>
          </a:p>
        </p:txBody>
      </p:sp>
      <p:sp>
        <p:nvSpPr>
          <p:cNvPr id="4" name="文本框 3"/>
          <p:cNvSpPr txBox="1"/>
          <p:nvPr/>
        </p:nvSpPr>
        <p:spPr>
          <a:xfrm>
            <a:off x="2143717" y="2695393"/>
            <a:ext cx="2986679" cy="64516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数据可视化的早期案例</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大数据可视化案例大数据</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a:t>
            </a:r>
            <a:r>
              <a:rPr 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引言</a:t>
            </a:r>
          </a:p>
        </p:txBody>
      </p:sp>
      <p:sp>
        <p:nvSpPr>
          <p:cNvPr id="100" name="文本框 99"/>
          <p:cNvSpPr txBox="1"/>
          <p:nvPr/>
        </p:nvSpPr>
        <p:spPr>
          <a:xfrm>
            <a:off x="104140" y="868680"/>
            <a:ext cx="8881110" cy="439991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latin typeface="等线" panose="02010600030101010101" pitchFamily="2" charset="-122"/>
                <a:ea typeface="等线" panose="02010600030101010101" pitchFamily="2" charset="-122"/>
                <a:cs typeface="等线" panose="02010600030101010101" pitchFamily="2" charset="-122"/>
              </a:rPr>
              <a:t>所谓“数据可视化“（Data Visualization），是运用计算机图形学和图像处理技术，将数据转换为图形或图像显示，并进行交互处理的理论、方法和技术。</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数据可视化可以提供多种数据分析的图形方法，直观地传达数据的关键特征，从而实现对于复杂数据的深入洞察。通过数据可视化方法，不但可以借助图形化手段清晰有效地传达与沟通信息，而且还是一种发现未知信息的处理过程，表现在：</a:t>
            </a:r>
          </a:p>
          <a:p>
            <a:pPr indent="266700">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（1）可以反映信息模式、数据关联或趋势</a:t>
            </a:r>
          </a:p>
          <a:p>
            <a:pPr indent="266700">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（2）发现隐含在数据中的规律</a:t>
            </a:r>
          </a:p>
          <a:p>
            <a:pPr indent="266700">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（3）实现人与数据之间直接的信息传递</a:t>
            </a:r>
          </a:p>
          <a:p>
            <a:pPr indent="266700">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（4）帮助决策者直观地观察和分析数据</a:t>
            </a:r>
          </a:p>
          <a:p>
            <a:pPr indent="266700">
              <a:lnSpc>
                <a:spcPct val="100000"/>
              </a:lnSpc>
            </a:pPr>
            <a:r>
              <a:rPr lang="en-US" sz="2000">
                <a:latin typeface="等线" panose="02010600030101010101" pitchFamily="2" charset="-122"/>
                <a:ea typeface="等线" panose="02010600030101010101" pitchFamily="2" charset="-122"/>
                <a:cs typeface="等线" panose="02010600030101010101" pitchFamily="2" charset="-122"/>
              </a:rPr>
              <a:t> </a:t>
            </a:r>
            <a:endParaRPr sz="20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a:t>
            </a:r>
            <a:r>
              <a:rPr 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引言</a:t>
            </a:r>
          </a:p>
        </p:txBody>
      </p:sp>
      <p:sp>
        <p:nvSpPr>
          <p:cNvPr id="100" name="文本框 99"/>
          <p:cNvSpPr txBox="1"/>
          <p:nvPr/>
        </p:nvSpPr>
        <p:spPr>
          <a:xfrm>
            <a:off x="201930" y="1142365"/>
            <a:ext cx="5011420" cy="32918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latin typeface="等线" panose="02010600030101010101" pitchFamily="2" charset="-122"/>
                <a:ea typeface="等线" panose="02010600030101010101" pitchFamily="2" charset="-122"/>
                <a:cs typeface="等线" panose="02010600030101010101" pitchFamily="2" charset="-122"/>
              </a:rPr>
              <a:t>在大数据时代，数据的复杂性和体量大大增加，可视化和可视化分析可以有效地筛选与精练数据流，通过图形手段清晰有效地传达与沟通信息，帮助人们更好地探索和理解复杂的数据，成为人们理解复杂数据、发现知识和规律不可或缺的手段。</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lang="zh-CN" altLang="en-US" sz="2000">
                <a:latin typeface="等线" panose="02010600030101010101" pitchFamily="2" charset="-122"/>
                <a:ea typeface="等线" panose="02010600030101010101" pitchFamily="2" charset="-122"/>
                <a:cs typeface="等线" panose="02010600030101010101" pitchFamily="2" charset="-122"/>
              </a:rPr>
              <a:t>下图</a:t>
            </a:r>
            <a:r>
              <a:rPr lang="en-US" sz="2000">
                <a:latin typeface="等线" panose="02010600030101010101" pitchFamily="2" charset="-122"/>
                <a:ea typeface="等线" panose="02010600030101010101" pitchFamily="2" charset="-122"/>
                <a:cs typeface="等线" panose="02010600030101010101" pitchFamily="2" charset="-122"/>
              </a:rPr>
              <a:t>是大数据可视化示例</a:t>
            </a:r>
            <a:r>
              <a:rPr lang="zh-CN" altLang="en-US" sz="2000">
                <a:latin typeface="等线" panose="02010600030101010101" pitchFamily="2" charset="-122"/>
                <a:ea typeface="等线" panose="02010600030101010101" pitchFamily="2" charset="-122"/>
                <a:cs typeface="等线" panose="02010600030101010101" pitchFamily="2" charset="-122"/>
              </a:rPr>
              <a:t>，右</a:t>
            </a:r>
            <a:r>
              <a:rPr lang="en-US" sz="2000">
                <a:latin typeface="等线" panose="02010600030101010101" pitchFamily="2" charset="-122"/>
                <a:ea typeface="等线" panose="02010600030101010101" pitchFamily="2" charset="-122"/>
                <a:cs typeface="等线" panose="02010600030101010101" pitchFamily="2" charset="-122"/>
              </a:rPr>
              <a:t>图中展示了某个大数据可视化平台的“数据大屏”界面</a:t>
            </a:r>
          </a:p>
        </p:txBody>
      </p:sp>
      <p:pic>
        <p:nvPicPr>
          <p:cNvPr id="9" name="图片 9" descr="在这里插入图片描述"/>
          <p:cNvPicPr>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a:xfrm>
            <a:off x="5340033" y="1576388"/>
            <a:ext cx="3733165" cy="2099945"/>
          </a:xfrm>
          <a:prstGeom prst="rect">
            <a:avLst/>
          </a:prstGeom>
          <a:noFill/>
          <a:ln>
            <a:solidFill>
              <a:schemeClr val="accent1"/>
            </a:solidFill>
          </a:ln>
        </p:spPr>
      </p:pic>
      <p:sp>
        <p:nvSpPr>
          <p:cNvPr id="2" name="文本框 1"/>
          <p:cNvSpPr txBox="1"/>
          <p:nvPr/>
        </p:nvSpPr>
        <p:spPr>
          <a:xfrm>
            <a:off x="5885814" y="3768090"/>
            <a:ext cx="2229486" cy="245110"/>
          </a:xfrm>
          <a:prstGeom prst="rect">
            <a:avLst/>
          </a:prstGeom>
          <a:noFill/>
          <a:ln w="9525">
            <a:noFill/>
          </a:ln>
        </p:spPr>
        <p:txBody>
          <a:bodyPr wrap="square">
            <a:spAutoFit/>
          </a:bodyPr>
          <a:lstStyle/>
          <a:p>
            <a:pPr indent="0" algn="ctr"/>
            <a:r>
              <a:rPr lang="zh-CN" sz="1000" b="0">
                <a:ea typeface="等线" panose="02010600030101010101" pitchFamily="2" charset="-122"/>
              </a:rPr>
              <a:t>大数据可视化示例</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9.1.1数据可视化的早期案例</a:t>
            </a:r>
          </a:p>
        </p:txBody>
      </p:sp>
      <p:sp>
        <p:nvSpPr>
          <p:cNvPr id="100" name="文本框 99"/>
          <p:cNvSpPr txBox="1"/>
          <p:nvPr/>
        </p:nvSpPr>
        <p:spPr>
          <a:xfrm>
            <a:off x="104775" y="770255"/>
            <a:ext cx="9039225" cy="3661836"/>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t>其实早在19世纪，人们就开始通过图形的可视化，来分析问题，以下是两则在19世纪发生的与数据可视化的小故事。</a:t>
            </a:r>
          </a:p>
          <a:p>
            <a:pPr indent="266700">
              <a:lnSpc>
                <a:spcPct val="130000"/>
              </a:lnSpc>
              <a:spcBef>
                <a:spcPts val="0"/>
              </a:spcBef>
              <a:spcAft>
                <a:spcPts val="0"/>
              </a:spcAft>
            </a:pP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1.斯诺的标点地图</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1854年伦敦爆发霍乱，10天内夺去了500多人的生命。</a:t>
            </a:r>
            <a:endParaRPr lang="en-US" altLang="zh-CN" sz="2000">
              <a:latin typeface="等线" panose="02010600030101010101" pitchFamily="2" charset="-122"/>
              <a:ea typeface="等线" panose="02010600030101010101" pitchFamily="2" charset="-122"/>
              <a:cs typeface="等线" panose="02010600030101010101" pitchFamily="2" charset="-122"/>
            </a:endParaRP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p>
          <a:p>
            <a:pPr indent="266700">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斯诺用</a:t>
            </a:r>
            <a:r>
              <a:rPr sz="2000">
                <a:highlight>
                  <a:srgbClr val="FFFF00"/>
                </a:highlight>
                <a:latin typeface="等线" panose="02010600030101010101" pitchFamily="2" charset="-122"/>
                <a:ea typeface="等线" panose="02010600030101010101" pitchFamily="2" charset="-122"/>
                <a:cs typeface="等线" panose="02010600030101010101" pitchFamily="2" charset="-122"/>
              </a:rPr>
              <a:t>标点地图</a:t>
            </a:r>
            <a:r>
              <a:rPr sz="2000">
                <a:latin typeface="等线" panose="02010600030101010101" pitchFamily="2" charset="-122"/>
                <a:ea typeface="等线" panose="02010600030101010101" pitchFamily="2" charset="-122"/>
                <a:cs typeface="等线" panose="02010600030101010101" pitchFamily="2" charset="-122"/>
              </a:rPr>
              <a:t>的方法研究了当地水井分布和霍乱患者分布之间的关系，发现在宽街（Broad Street）的一口水井供水范围内霍乱出现率明显较高，最终凭此线索找到该次霍乱爆发的原因：一个被污染的水泵。洞悉真相的斯诺医生赶紧通知政府关掉了那个水泵，疫情立马就停了。</a:t>
            </a:r>
          </a:p>
        </p:txBody>
      </p:sp>
      <p:pic>
        <p:nvPicPr>
          <p:cNvPr id="4" name="图片 3">
            <a:extLst>
              <a:ext uri="{FF2B5EF4-FFF2-40B4-BE49-F238E27FC236}">
                <a16:creationId xmlns:a16="http://schemas.microsoft.com/office/drawing/2014/main" id="{626DD9F0-3B2C-448D-BF25-D4C2ADDF184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3324" y="174113"/>
            <a:ext cx="2642870" cy="23463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9.1.1数据可视化的早期案例</a:t>
            </a:r>
          </a:p>
        </p:txBody>
      </p:sp>
      <p:sp>
        <p:nvSpPr>
          <p:cNvPr id="100" name="文本框 99"/>
          <p:cNvSpPr txBox="1"/>
          <p:nvPr/>
        </p:nvSpPr>
        <p:spPr>
          <a:xfrm>
            <a:off x="104775" y="889000"/>
            <a:ext cx="4117975" cy="369252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2.南丁格尔的玫瑰图</a:t>
            </a:r>
            <a:r>
              <a:rPr lang="en-US" sz="2000">
                <a:latin typeface="等线" panose="02010600030101010101" pitchFamily="2" charset="-122"/>
                <a:ea typeface="等线" panose="02010600030101010101" pitchFamily="2" charset="-122"/>
                <a:cs typeface="等线" panose="02010600030101010101" pitchFamily="2" charset="-122"/>
              </a:rPr>
              <a:t>  </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兼为护士和统计学家的弗罗伦斯·南丁格尔，为了调查战争期间士兵死亡的真正原因。根据1854年4月～1856年3月期间士兵死亡的数据，创建出美丽的统计玫瑰图（如图所示），形象的展示士兵死亡的真正原因和战地医疗救护的作用。</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lang="en-US" sz="2000" b="1">
                <a:latin typeface="等线" panose="02010600030101010101" pitchFamily="2" charset="-122"/>
                <a:ea typeface="等线" panose="02010600030101010101" pitchFamily="2" charset="-122"/>
                <a:cs typeface="等线" panose="02010600030101010101" pitchFamily="2" charset="-122"/>
              </a:rPr>
              <a:t>  </a:t>
            </a:r>
            <a:endParaRPr sz="2000">
              <a:latin typeface="等线" panose="02010600030101010101" pitchFamily="2" charset="-122"/>
              <a:ea typeface="等线" panose="02010600030101010101" pitchFamily="2" charset="-122"/>
              <a:cs typeface="等线" panose="02010600030101010101" pitchFamily="2" charset="-122"/>
            </a:endParaRPr>
          </a:p>
        </p:txBody>
      </p:sp>
      <p:pic>
        <p:nvPicPr>
          <p:cNvPr id="193536" name="图片 193536"/>
          <p:cNvPicPr>
            <a:picLocks noChangeAspect="1"/>
          </p:cNvPicPr>
          <p:nvPr/>
        </p:nvPicPr>
        <p:blipFill>
          <a:blip r:embed="rId3"/>
          <a:stretch>
            <a:fillRect/>
          </a:stretch>
        </p:blipFill>
        <p:spPr>
          <a:xfrm>
            <a:off x="4363720" y="977654"/>
            <a:ext cx="4513324" cy="2834251"/>
          </a:xfrm>
          <a:prstGeom prst="rect">
            <a:avLst/>
          </a:prstGeom>
          <a:ln>
            <a:solidFill>
              <a:schemeClr val="accent1"/>
            </a:solidFill>
          </a:ln>
        </p:spPr>
      </p:pic>
      <p:sp>
        <p:nvSpPr>
          <p:cNvPr id="2" name="文本框 1"/>
          <p:cNvSpPr txBox="1"/>
          <p:nvPr/>
        </p:nvSpPr>
        <p:spPr>
          <a:xfrm>
            <a:off x="5922010" y="3888105"/>
            <a:ext cx="1198880" cy="245110"/>
          </a:xfrm>
          <a:prstGeom prst="rect">
            <a:avLst/>
          </a:prstGeom>
          <a:noFill/>
        </p:spPr>
        <p:txBody>
          <a:bodyPr wrap="none" rtlCol="0" anchor="t">
            <a:spAutoFit/>
          </a:bodyPr>
          <a:lstStyle/>
          <a:p>
            <a:pPr indent="0" algn="ctr"/>
            <a:r>
              <a:rPr lang="zh-CN" sz="1000">
                <a:ea typeface="等线" panose="02010600030101010101" pitchFamily="2" charset="-122"/>
                <a:sym typeface="+mn-ea"/>
              </a:rPr>
              <a:t>南丁格尔的玫瑰图</a:t>
            </a:r>
            <a:endParaRPr lang="zh-CN" altLang="en-US" sz="1000">
              <a:ea typeface="等线"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9.1.1数据可视化的早期案例</a:t>
            </a:r>
          </a:p>
        </p:txBody>
      </p:sp>
      <p:sp>
        <p:nvSpPr>
          <p:cNvPr id="100" name="文本框 99"/>
          <p:cNvSpPr txBox="1"/>
          <p:nvPr/>
        </p:nvSpPr>
        <p:spPr>
          <a:xfrm>
            <a:off x="121285" y="857885"/>
            <a:ext cx="8563170" cy="4061946"/>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这种图表形式也被称作“南丁格尔的玫瑰“，是一种圆形的直方图，南丁格尔自己常昵称这类图为鸡冠花图（coxcomb），并且用以表达军医院季节性的死亡率，对象是那些不太能理解传统统计报表的公务人员。 她的方法打动了当时的高层，包括军方人士和维多利亚女王本人，于是医事改良的提案才得到支持。</a:t>
            </a:r>
            <a:r>
              <a:rPr lang="en-US" sz="2000" b="1">
                <a:latin typeface="等线" panose="02010600030101010101" pitchFamily="2" charset="-122"/>
                <a:ea typeface="等线" panose="02010600030101010101" pitchFamily="2" charset="-122"/>
                <a:cs typeface="等线" panose="02010600030101010101" pitchFamily="2" charset="-122"/>
              </a:rPr>
              <a:t>  </a:t>
            </a:r>
          </a:p>
          <a:p>
            <a:pPr indent="266700">
              <a:lnSpc>
                <a:spcPct val="130000"/>
              </a:lnSpc>
              <a:spcBef>
                <a:spcPts val="0"/>
              </a:spcBef>
              <a:spcAft>
                <a:spcPts val="0"/>
              </a:spcAft>
            </a:pPr>
            <a:r>
              <a:rPr lang="en-US" sz="2000" b="1">
                <a:latin typeface="等线" panose="02010600030101010101" pitchFamily="2" charset="-122"/>
                <a:ea typeface="等线" panose="02010600030101010101" pitchFamily="2" charset="-122"/>
                <a:cs typeface="等线" panose="02010600030101010101" pitchFamily="2" charset="-122"/>
                <a:sym typeface="+mn-ea"/>
              </a:rPr>
              <a:t>    </a:t>
            </a:r>
            <a:r>
              <a:rPr sz="2000">
                <a:latin typeface="等线" panose="02010600030101010101" pitchFamily="2" charset="-122"/>
                <a:ea typeface="等线" panose="02010600030101010101" pitchFamily="2" charset="-122"/>
                <a:cs typeface="等线" panose="02010600030101010101" pitchFamily="2" charset="-122"/>
                <a:sym typeface="+mn-ea"/>
              </a:rPr>
              <a:t>这张图描述了1854年4月～1856年3月期间士兵死亡情况，右边的子图是1854年4月～1855年3月，左边的子图是1855年4月～1856年3月，</a:t>
            </a:r>
            <a:endParaRPr sz="2000">
              <a:latin typeface="等线" panose="02010600030101010101" pitchFamily="2" charset="-122"/>
              <a:ea typeface="等线" panose="02010600030101010101" pitchFamily="2" charset="-122"/>
              <a:cs typeface="等线" panose="02010600030101010101" pitchFamily="2" charset="-122"/>
            </a:endParaRP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sym typeface="+mn-ea"/>
              </a:rPr>
              <a:t>   </a:t>
            </a:r>
            <a:r>
              <a:rPr sz="2000">
                <a:latin typeface="等线" panose="02010600030101010101" pitchFamily="2" charset="-122"/>
                <a:ea typeface="等线" panose="02010600030101010101" pitchFamily="2" charset="-122"/>
                <a:cs typeface="等线" panose="02010600030101010101" pitchFamily="2" charset="-122"/>
                <a:sym typeface="+mn-ea"/>
              </a:rPr>
              <a:t>左右两个玫瑰图被时间点“1955年3月”所隔开，左右两个玫瑰图都包含了12个月的数据。其中，右侧较大的玫瑰图，展现的是1854 年 4 月至 1955 年 3 月；而左侧的玫瑰图，展现的则是 1855 年 4 月至 1856 年 3 月</a:t>
            </a:r>
            <a:r>
              <a:rPr lang="zh-CN" altLang="en-US" sz="2000">
                <a:latin typeface="等线" panose="02010600030101010101" pitchFamily="2" charset="-122"/>
                <a:ea typeface="等线" panose="02010600030101010101" pitchFamily="2" charset="-122"/>
                <a:cs typeface="等线" panose="02010600030101010101" pitchFamily="2" charset="-122"/>
                <a:sym typeface="+mn-ea"/>
              </a:rPr>
              <a:t>。</a:t>
            </a:r>
            <a:endParaRPr sz="20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32824" y="248285"/>
            <a:ext cx="4956517"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9.1.1</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数据可视化的早期案例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280035" y="1068070"/>
            <a:ext cx="8413115" cy="32918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用蓝、红、黑三种颜色表示三种不同的情况，蓝色代表可预防和可缓解的疾病治疗不及时造成的死亡、红色代表战场阵亡、黑色代表其他死亡原因。图表各扇区角度相同，用半径及扇区面积来表示死亡人数，可以清晰的看出每个月因各种原因死亡的人数。显然，1854～1855年，因医疗条件而造成的死亡人数远远大于战死沙场的人数，这种情况直到1856年初才得到缓解。南丁格尔的这张图表以及其他图表“生动有力的说明了在战地开展医疗救护和促进伤兵医疗工作的必要性，打动了当局者，增加了战地医院，改善了军队医院的条件，为挽救士兵生命做出了巨大贡献”。</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51582" y="248285"/>
            <a:ext cx="4595983"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9.1.2</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大数据可视化案例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247015" y="77025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1.百度迁徙</a:t>
            </a:r>
          </a:p>
        </p:txBody>
      </p:sp>
      <p:sp>
        <p:nvSpPr>
          <p:cNvPr id="2" name="文本框 1"/>
          <p:cNvSpPr txBox="1"/>
          <p:nvPr/>
        </p:nvSpPr>
        <p:spPr>
          <a:xfrm>
            <a:off x="374015" y="1099820"/>
            <a:ext cx="8342630" cy="369252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百度迁徙（</a:t>
            </a:r>
            <a:r>
              <a:rPr lang="en-US" sz="2000" b="0">
                <a:latin typeface="等线" panose="02010600030101010101" pitchFamily="2" charset="-122"/>
                <a:cs typeface="Times New Roman" panose="02020603050405020304" pitchFamily="18" charset="0"/>
              </a:rPr>
              <a:t>http://qianxi.baidu.com/</a:t>
            </a:r>
            <a:r>
              <a:rPr lang="zh-CN" sz="2000" b="0">
                <a:ea typeface="等线" panose="02010600030101010101" pitchFamily="2" charset="-122"/>
              </a:rPr>
              <a:t>）是百度公司在</a:t>
            </a:r>
            <a:r>
              <a:rPr lang="zh-CN" sz="2000" b="0">
                <a:ea typeface="等线" panose="02010600030101010101" pitchFamily="2" charset="-122"/>
                <a:cs typeface="Times New Roman" panose="02020603050405020304" pitchFamily="18" charset="0"/>
              </a:rPr>
              <a:t>2014年春运期间推出的一个品牌的项目，首次启用</a:t>
            </a:r>
            <a:r>
              <a:rPr lang="zh-CN" sz="2000" b="0">
                <a:ea typeface="等线" panose="02010600030101010101" pitchFamily="2" charset="-122"/>
              </a:rPr>
              <a:t>百度地图定位，大数据可视化的方式展示了国内春节人口迁徙情况，引发了人们的巨大关注（</a:t>
            </a:r>
            <a:r>
              <a:rPr lang="zh-CN" sz="2000">
                <a:ea typeface="等线" panose="02010600030101010101" pitchFamily="2" charset="-122"/>
              </a:rPr>
              <a:t>如下左图所示</a:t>
            </a:r>
            <a:r>
              <a:rPr lang="zh-CN" sz="2000" b="0">
                <a:ea typeface="等线" panose="02010600030101010101" pitchFamily="2" charset="-122"/>
              </a:rPr>
              <a:t>）。</a:t>
            </a:r>
          </a:p>
          <a:p>
            <a:pPr indent="266700">
              <a:lnSpc>
                <a:spcPct val="130000"/>
              </a:lnSpc>
              <a:spcBef>
                <a:spcPts val="0"/>
              </a:spcBef>
              <a:spcAft>
                <a:spcPts val="0"/>
              </a:spcAft>
            </a:pPr>
            <a:r>
              <a:rPr lang="en-US" altLang="zh-CN" sz="2000"/>
              <a:t>   </a:t>
            </a:r>
            <a:r>
              <a:rPr lang="zh-CN" altLang="en-US" sz="2000"/>
              <a:t>百度迁徙利用百度后台每天数十亿次LBS定位数据进行运算分析，通过可视化大数据的方式展现全国春运动态，包括当前全国春运最热的路线，最热门的迁出城市、迁入城市等。</a:t>
            </a:r>
          </a:p>
          <a:p>
            <a:pPr indent="266700">
              <a:lnSpc>
                <a:spcPct val="130000"/>
              </a:lnSpc>
              <a:spcBef>
                <a:spcPts val="0"/>
              </a:spcBef>
              <a:spcAft>
                <a:spcPts val="0"/>
              </a:spcAft>
            </a:pPr>
            <a:r>
              <a:rPr lang="en-US" altLang="zh-CN" sz="2000"/>
              <a:t>    </a:t>
            </a:r>
            <a:r>
              <a:rPr lang="zh-CN" altLang="en-US" sz="2000"/>
              <a:t>目前，百度迁徙平台可查看全国除港澳台所有城市的迁徙状况；每个城市的从春运首日至昨日的迁徙走势；从宏观查看全国热门路线，热门目的地、热门出发地。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647565"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9.1.2</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大数据可视化案例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0" y="3667125"/>
            <a:ext cx="5080000" cy="245110"/>
          </a:xfrm>
          <a:prstGeom prst="rect">
            <a:avLst/>
          </a:prstGeom>
          <a:noFill/>
          <a:ln w="9525">
            <a:noFill/>
          </a:ln>
        </p:spPr>
        <p:txBody>
          <a:bodyPr>
            <a:spAutoFit/>
          </a:bodyPr>
          <a:lstStyle/>
          <a:p>
            <a:pPr indent="0" algn="ctr"/>
            <a:r>
              <a:rPr lang="zh-CN" sz="1000" b="0">
                <a:ea typeface="等线" panose="02010600030101010101" pitchFamily="2" charset="-122"/>
              </a:rPr>
              <a:t>百度迁徙示意图</a:t>
            </a:r>
          </a:p>
        </p:txBody>
      </p:sp>
      <p:pic>
        <p:nvPicPr>
          <p:cNvPr id="3" name="Picture 2" descr="http://img.todayfocus.cn/uploads/image/20150219/142435148979431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75285" y="1362710"/>
            <a:ext cx="4429125" cy="2254250"/>
          </a:xfrm>
          <a:prstGeom prst="rect">
            <a:avLst/>
          </a:prstGeom>
          <a:noFill/>
        </p:spPr>
      </p:pic>
      <p:pic>
        <p:nvPicPr>
          <p:cNvPr id="193562" name="图片 193562"/>
          <p:cNvPicPr>
            <a:picLocks noChangeAspect="1"/>
          </p:cNvPicPr>
          <p:nvPr/>
        </p:nvPicPr>
        <p:blipFill>
          <a:blip r:embed="rId4"/>
          <a:stretch>
            <a:fillRect/>
          </a:stretch>
        </p:blipFill>
        <p:spPr>
          <a:xfrm>
            <a:off x="5161915" y="1363345"/>
            <a:ext cx="3191510" cy="2253615"/>
          </a:xfrm>
          <a:prstGeom prst="rect">
            <a:avLst/>
          </a:prstGeom>
        </p:spPr>
      </p:pic>
      <p:sp>
        <p:nvSpPr>
          <p:cNvPr id="100" name="文本框 99"/>
          <p:cNvSpPr txBox="1"/>
          <p:nvPr/>
        </p:nvSpPr>
        <p:spPr>
          <a:xfrm>
            <a:off x="4126865" y="3667125"/>
            <a:ext cx="5080000" cy="245110"/>
          </a:xfrm>
          <a:prstGeom prst="rect">
            <a:avLst/>
          </a:prstGeom>
          <a:noFill/>
          <a:ln w="9525">
            <a:noFill/>
          </a:ln>
        </p:spPr>
        <p:txBody>
          <a:bodyPr>
            <a:spAutoFit/>
          </a:bodyPr>
          <a:lstStyle/>
          <a:p>
            <a:pPr indent="0" algn="ctr"/>
            <a:r>
              <a:rPr lang="zh-CN" sz="1000" b="0">
                <a:ea typeface="等线" panose="02010600030101010101" pitchFamily="2" charset="-122"/>
              </a:rPr>
              <a:t>航线星云示意图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9.1.2大数据可视化案例</a:t>
            </a:r>
          </a:p>
        </p:txBody>
      </p:sp>
      <p:sp>
        <p:nvSpPr>
          <p:cNvPr id="100" name="文本框 99"/>
          <p:cNvSpPr txBox="1"/>
          <p:nvPr/>
        </p:nvSpPr>
        <p:spPr>
          <a:xfrm>
            <a:off x="187960" y="77025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2.航线星云</a:t>
            </a:r>
          </a:p>
        </p:txBody>
      </p:sp>
      <p:sp>
        <p:nvSpPr>
          <p:cNvPr id="2" name="文本框 1"/>
          <p:cNvSpPr txBox="1"/>
          <p:nvPr/>
        </p:nvSpPr>
        <p:spPr>
          <a:xfrm>
            <a:off x="187960" y="1066165"/>
            <a:ext cx="8666480" cy="409257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航线星云是一个全球顶级的大数据可视化案例，数据源包括约6万条直飞航班信息，这些航班穿梭在3000多个机场间，覆盖了500多条航线。通过可视化技术，可以看到世界上各家不同的航空公司看起来就像是一个美丽的星云（如</a:t>
            </a:r>
            <a:r>
              <a:rPr lang="zh-CN" altLang="en-US" sz="2000">
                <a:ea typeface="等线" panose="02010600030101010101" pitchFamily="2" charset="-122"/>
              </a:rPr>
              <a:t>上右</a:t>
            </a:r>
            <a:r>
              <a:rPr sz="2000">
                <a:ea typeface="等线" panose="02010600030101010101" pitchFamily="2" charset="-122"/>
              </a:rPr>
              <a:t>图 所示）。</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这张基于数据可视化的Sigma图表显示了服务城市相似的不同航空公司。图中的圆点或圆圈代表航空公司，连线的粗细和远近则反映两个航空公司之间的相似性；连线越粗或越短则代表两家航空公司服务的城市越相似。</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总的来说，这张图表揭示了各航空公司之间的相似性和竞争情况，有利于发掘潜在的合作关系、增加市场份额和市场覆盖面。这项技术可以通过不同参与者之间的相同变量，用于分析任何生态系统</a:t>
            </a:r>
          </a:p>
        </p:txBody>
      </p:sp>
      <p:pic>
        <p:nvPicPr>
          <p:cNvPr id="5" name="图片 4">
            <a:extLst>
              <a:ext uri="{FF2B5EF4-FFF2-40B4-BE49-F238E27FC236}">
                <a16:creationId xmlns:a16="http://schemas.microsoft.com/office/drawing/2014/main" id="{BA99235D-6CBB-455A-A3F7-A92FA54BE995}"/>
              </a:ext>
            </a:extLst>
          </p:cNvPr>
          <p:cNvPicPr/>
          <p:nvPr/>
        </p:nvPicPr>
        <p:blipFill>
          <a:blip r:embed="rId3"/>
          <a:stretch>
            <a:fillRect/>
          </a:stretch>
        </p:blipFill>
        <p:spPr>
          <a:xfrm>
            <a:off x="5979478" y="311785"/>
            <a:ext cx="3191510" cy="22923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253680" y="1914643"/>
            <a:ext cx="4892708"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219325" y="1131570"/>
            <a:ext cx="6555105" cy="645160"/>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数据可视化的常用方法</a:t>
            </a:r>
          </a:p>
        </p:txBody>
      </p:sp>
      <p:sp>
        <p:nvSpPr>
          <p:cNvPr id="41" name="文本框 40"/>
          <p:cNvSpPr txBox="1">
            <a:spLocks noChangeArrowheads="1"/>
          </p:cNvSpPr>
          <p:nvPr/>
        </p:nvSpPr>
        <p:spPr bwMode="auto">
          <a:xfrm>
            <a:off x="848229" y="1054872"/>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9.2</a:t>
            </a:r>
          </a:p>
        </p:txBody>
      </p:sp>
      <p:sp>
        <p:nvSpPr>
          <p:cNvPr id="4" name="文本框 3"/>
          <p:cNvSpPr txBox="1"/>
          <p:nvPr/>
        </p:nvSpPr>
        <p:spPr>
          <a:xfrm>
            <a:off x="2253572" y="2121988"/>
            <a:ext cx="2986679" cy="258445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趋势型数据可视化方法</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对比型数据可视化方法</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比例型数据可视化方法</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分布型数据可视化</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文本数据可视化</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关系网络数据可视化</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时空数据可视化</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层次结构数据可视化</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高维数据可视化</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9.2.1趋势型数据可视化方法</a:t>
            </a:r>
          </a:p>
        </p:txBody>
      </p:sp>
      <p:sp>
        <p:nvSpPr>
          <p:cNvPr id="100" name="文本框 99"/>
          <p:cNvSpPr txBox="1"/>
          <p:nvPr/>
        </p:nvSpPr>
        <p:spPr>
          <a:xfrm>
            <a:off x="287655" y="131762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1.散点图（Scatter plot）</a:t>
            </a:r>
          </a:p>
        </p:txBody>
      </p:sp>
      <p:sp>
        <p:nvSpPr>
          <p:cNvPr id="2" name="文本框 1"/>
          <p:cNvSpPr txBox="1"/>
          <p:nvPr/>
        </p:nvSpPr>
        <p:spPr>
          <a:xfrm>
            <a:off x="391795" y="845185"/>
            <a:ext cx="8666480" cy="8915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趋势型数据可视化包括散点图、折线图、阶梯图和时间序列图等。</a:t>
            </a:r>
          </a:p>
          <a:p>
            <a:pPr indent="266700">
              <a:lnSpc>
                <a:spcPct val="130000"/>
              </a:lnSpc>
              <a:spcBef>
                <a:spcPts val="0"/>
              </a:spcBef>
              <a:spcAft>
                <a:spcPts val="0"/>
              </a:spcAft>
            </a:pPr>
            <a:endParaRPr sz="2000" b="0"/>
          </a:p>
        </p:txBody>
      </p:sp>
      <p:sp>
        <p:nvSpPr>
          <p:cNvPr id="3" name="文本框 2"/>
          <p:cNvSpPr txBox="1"/>
          <p:nvPr/>
        </p:nvSpPr>
        <p:spPr>
          <a:xfrm>
            <a:off x="391795" y="1811655"/>
            <a:ext cx="5424805" cy="28917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散点图使用数据值作为 x轴和y轴 坐标来绘制点，即数据点（x,y）在直角坐标系平面上的分布图，在回归分析中，可以选择合适的函数对数据点进行拟合，从而判断两变量之间是否存在某种关联或总结坐标点的分布模式。散点图将序列显示为一组点，值由点在图表中的位置表示，散点图的样式如图所示。</a:t>
            </a:r>
          </a:p>
        </p:txBody>
      </p:sp>
      <p:pic>
        <p:nvPicPr>
          <p:cNvPr id="4" name="图片 3"/>
          <p:cNvPicPr>
            <a:picLocks noChangeAspect="1" noChangeArrowheads="1"/>
          </p:cNvPicPr>
          <p:nvPr/>
        </p:nvPicPr>
        <p:blipFill>
          <a:blip r:embed="rId3">
            <a:extLst>
              <a:ext uri="{28A0092B-C50C-407E-A947-70E740481C1C}">
                <a14:useLocalDpi xmlns:a14="http://schemas.microsoft.com/office/drawing/2010/main" val="0"/>
              </a:ext>
            </a:extLst>
          </a:blip>
          <a:srcRect t="5850" b="4560"/>
          <a:stretch>
            <a:fillRect/>
          </a:stretch>
        </p:blipFill>
        <p:spPr>
          <a:xfrm>
            <a:off x="5681345" y="2244090"/>
            <a:ext cx="2573020" cy="1729740"/>
          </a:xfrm>
          <a:prstGeom prst="rect">
            <a:avLst/>
          </a:prstGeom>
          <a:noFill/>
          <a:ln>
            <a:noFill/>
          </a:ln>
        </p:spPr>
      </p:pic>
      <p:sp>
        <p:nvSpPr>
          <p:cNvPr id="5" name="文本框 4"/>
          <p:cNvSpPr txBox="1"/>
          <p:nvPr/>
        </p:nvSpPr>
        <p:spPr>
          <a:xfrm>
            <a:off x="4427855" y="3973830"/>
            <a:ext cx="5080000" cy="245110"/>
          </a:xfrm>
          <a:prstGeom prst="rect">
            <a:avLst/>
          </a:prstGeom>
          <a:noFill/>
          <a:ln w="9525">
            <a:noFill/>
          </a:ln>
        </p:spPr>
        <p:txBody>
          <a:bodyPr>
            <a:spAutoFit/>
          </a:bodyPr>
          <a:lstStyle/>
          <a:p>
            <a:pPr indent="0" algn="ctr"/>
            <a:r>
              <a:rPr lang="zh-CN" sz="1000" b="0">
                <a:ea typeface="等线" panose="02010600030101010101" pitchFamily="2" charset="-122"/>
              </a:rPr>
              <a:t>散点图样例</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9.2.1趋势型数据可视化方法</a:t>
            </a:r>
          </a:p>
        </p:txBody>
      </p:sp>
      <p:sp>
        <p:nvSpPr>
          <p:cNvPr id="100" name="文本框 99"/>
          <p:cNvSpPr txBox="1"/>
          <p:nvPr/>
        </p:nvSpPr>
        <p:spPr>
          <a:xfrm>
            <a:off x="232410" y="105537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2.折线图（Line chart）</a:t>
            </a:r>
          </a:p>
        </p:txBody>
      </p:sp>
      <p:sp>
        <p:nvSpPr>
          <p:cNvPr id="3" name="文本框 2"/>
          <p:cNvSpPr txBox="1"/>
          <p:nvPr/>
        </p:nvSpPr>
        <p:spPr>
          <a:xfrm>
            <a:off x="401319" y="1525905"/>
            <a:ext cx="4808415" cy="205979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折线图是用线段顺序连接空间的各个数据点，折线图与散点图对比，其更突出数据点表现变化，而散点图突出表现数据点分布情况，前者不能做回归分析，而后者可以。折线图的样式如图所示</a:t>
            </a:r>
            <a:r>
              <a:rPr sz="2000" b="0"/>
              <a:t>。</a:t>
            </a:r>
          </a:p>
        </p:txBody>
      </p:sp>
      <p:sp>
        <p:nvSpPr>
          <p:cNvPr id="5" name="文本框 4"/>
          <p:cNvSpPr txBox="1"/>
          <p:nvPr/>
        </p:nvSpPr>
        <p:spPr>
          <a:xfrm>
            <a:off x="3844925" y="3429000"/>
            <a:ext cx="5080000" cy="245110"/>
          </a:xfrm>
          <a:prstGeom prst="rect">
            <a:avLst/>
          </a:prstGeom>
          <a:noFill/>
          <a:ln w="9525">
            <a:noFill/>
          </a:ln>
        </p:spPr>
        <p:txBody>
          <a:bodyPr>
            <a:spAutoFit/>
          </a:bodyPr>
          <a:lstStyle/>
          <a:p>
            <a:pPr indent="0" algn="ctr"/>
            <a:r>
              <a:rPr lang="zh-CN" sz="1000" b="0">
                <a:ea typeface="等线" panose="02010600030101010101" pitchFamily="2" charset="-122"/>
              </a:rPr>
              <a:t>折线图样例</a:t>
            </a:r>
          </a:p>
        </p:txBody>
      </p:sp>
      <p:pic>
        <p:nvPicPr>
          <p:cNvPr id="20" name="图片 20"/>
          <p:cNvPicPr>
            <a:picLocks noChangeAspect="1"/>
          </p:cNvPicPr>
          <p:nvPr/>
        </p:nvPicPr>
        <p:blipFill>
          <a:blip r:embed="rId3"/>
          <a:srcRect t="5044" b="4368"/>
          <a:stretch>
            <a:fillRect/>
          </a:stretch>
        </p:blipFill>
        <p:spPr>
          <a:xfrm>
            <a:off x="5284470" y="1718945"/>
            <a:ext cx="2332990" cy="1584960"/>
          </a:xfrm>
          <a:prstGeom prst="rect">
            <a:avLst/>
          </a:prstGeom>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9.2.1趋势型数据可视化方法</a:t>
            </a:r>
          </a:p>
        </p:txBody>
      </p:sp>
      <p:sp>
        <p:nvSpPr>
          <p:cNvPr id="100" name="文本框 99"/>
          <p:cNvSpPr txBox="1"/>
          <p:nvPr/>
        </p:nvSpPr>
        <p:spPr>
          <a:xfrm>
            <a:off x="186690" y="99885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3. </a:t>
            </a:r>
            <a:r>
              <a:rPr sz="2000" b="1">
                <a:latin typeface="等线" panose="02010600030101010101" pitchFamily="2" charset="-122"/>
                <a:ea typeface="等线" panose="02010600030101010101" pitchFamily="2" charset="-122"/>
                <a:cs typeface="等线" panose="02010600030101010101" pitchFamily="2" charset="-122"/>
              </a:rPr>
              <a:t>阶梯图（Step plot）</a:t>
            </a:r>
          </a:p>
        </p:txBody>
      </p:sp>
      <p:sp>
        <p:nvSpPr>
          <p:cNvPr id="3" name="文本框 2"/>
          <p:cNvSpPr txBox="1"/>
          <p:nvPr/>
        </p:nvSpPr>
        <p:spPr>
          <a:xfrm>
            <a:off x="440055" y="1490345"/>
            <a:ext cx="4148455" cy="24917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阶梯图又称为瀑布图，它是一种无规律、间歇型阶跃的方式表达数值的变化，可以用于数据的变化和构成情况的分析（如保险产品、电价、水价等）。阶梯图的样式如图所示。</a:t>
            </a:r>
          </a:p>
        </p:txBody>
      </p:sp>
      <p:sp>
        <p:nvSpPr>
          <p:cNvPr id="5" name="文本框 4"/>
          <p:cNvSpPr txBox="1"/>
          <p:nvPr/>
        </p:nvSpPr>
        <p:spPr>
          <a:xfrm>
            <a:off x="4064000" y="3443605"/>
            <a:ext cx="5080000" cy="245110"/>
          </a:xfrm>
          <a:prstGeom prst="rect">
            <a:avLst/>
          </a:prstGeom>
          <a:noFill/>
          <a:ln w="9525">
            <a:noFill/>
          </a:ln>
        </p:spPr>
        <p:txBody>
          <a:bodyPr>
            <a:spAutoFit/>
          </a:bodyPr>
          <a:lstStyle/>
          <a:p>
            <a:pPr indent="0" algn="ctr"/>
            <a:r>
              <a:rPr lang="zh-CN" sz="1000" b="0">
                <a:ea typeface="等线" panose="02010600030101010101" pitchFamily="2" charset="-122"/>
              </a:rPr>
              <a:t>阶梯图样例</a:t>
            </a:r>
          </a:p>
        </p:txBody>
      </p:sp>
      <p:pic>
        <p:nvPicPr>
          <p:cNvPr id="28" name="图片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774565" y="1835785"/>
            <a:ext cx="3745230" cy="1471930"/>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9.2.1趋势型数据可视化方法</a:t>
            </a:r>
          </a:p>
        </p:txBody>
      </p:sp>
      <p:sp>
        <p:nvSpPr>
          <p:cNvPr id="100" name="文本框 99"/>
          <p:cNvSpPr txBox="1"/>
          <p:nvPr/>
        </p:nvSpPr>
        <p:spPr>
          <a:xfrm>
            <a:off x="222885" y="99441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4.时间序列图（Time Series Plot）</a:t>
            </a:r>
          </a:p>
        </p:txBody>
      </p:sp>
      <p:sp>
        <p:nvSpPr>
          <p:cNvPr id="3" name="文本框 2"/>
          <p:cNvSpPr txBox="1"/>
          <p:nvPr/>
        </p:nvSpPr>
        <p:spPr>
          <a:xfrm>
            <a:off x="528955" y="1485900"/>
            <a:ext cx="4058920" cy="24917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时间序列图用于显示给定度量随时间变化的方式，它是以时间为横轴，观察变量为纵轴，用以反映时间与数量之间的关系，观察变量变化发展的趋势及偏差的统计图。时间序列图的样式如图所示。</a:t>
            </a:r>
          </a:p>
        </p:txBody>
      </p:sp>
      <p:sp>
        <p:nvSpPr>
          <p:cNvPr id="5" name="文本框 4"/>
          <p:cNvSpPr txBox="1"/>
          <p:nvPr/>
        </p:nvSpPr>
        <p:spPr>
          <a:xfrm>
            <a:off x="4064000" y="3443605"/>
            <a:ext cx="5080000" cy="245110"/>
          </a:xfrm>
          <a:prstGeom prst="rect">
            <a:avLst/>
          </a:prstGeom>
          <a:noFill/>
          <a:ln w="9525">
            <a:noFill/>
          </a:ln>
        </p:spPr>
        <p:txBody>
          <a:bodyPr>
            <a:spAutoFit/>
          </a:bodyPr>
          <a:lstStyle/>
          <a:p>
            <a:pPr indent="0" algn="ctr"/>
            <a:r>
              <a:rPr lang="zh-CN" sz="1000" b="0">
                <a:ea typeface="等线" panose="02010600030101010101" pitchFamily="2" charset="-122"/>
              </a:rPr>
              <a:t> 时间序列样例图</a:t>
            </a:r>
          </a:p>
        </p:txBody>
      </p:sp>
      <p:pic>
        <p:nvPicPr>
          <p:cNvPr id="193542" name="图片 193542"/>
          <p:cNvPicPr>
            <a:picLocks noChangeAspect="1" noChangeArrowheads="1"/>
          </p:cNvPicPr>
          <p:nvPr/>
        </p:nvPicPr>
        <p:blipFill>
          <a:blip r:embed="rId3" cstate="print">
            <a:extLst>
              <a:ext uri="{28A0092B-C50C-407E-A947-70E740481C1C}">
                <a14:useLocalDpi xmlns:a14="http://schemas.microsoft.com/office/drawing/2010/main" val="0"/>
              </a:ext>
            </a:extLst>
          </a:blip>
          <a:srcRect t="10218" b="2741"/>
          <a:stretch>
            <a:fillRect/>
          </a:stretch>
        </p:blipFill>
        <p:spPr>
          <a:xfrm>
            <a:off x="4946650" y="1525270"/>
            <a:ext cx="3021330" cy="1878330"/>
          </a:xfrm>
          <a:prstGeom prst="rect">
            <a:avLst/>
          </a:prstGeom>
          <a:noFill/>
          <a:ln>
            <a:solidFill>
              <a:srgbClr val="27499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9.2.2对比型数据可视化方法</a:t>
            </a:r>
          </a:p>
        </p:txBody>
      </p:sp>
      <p:sp>
        <p:nvSpPr>
          <p:cNvPr id="100" name="文本框 99"/>
          <p:cNvSpPr txBox="1"/>
          <p:nvPr/>
        </p:nvSpPr>
        <p:spPr>
          <a:xfrm>
            <a:off x="203200" y="132016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1.柱状图</a:t>
            </a:r>
          </a:p>
        </p:txBody>
      </p:sp>
      <p:sp>
        <p:nvSpPr>
          <p:cNvPr id="2" name="文本框 1"/>
          <p:cNvSpPr txBox="1"/>
          <p:nvPr/>
        </p:nvSpPr>
        <p:spPr>
          <a:xfrm>
            <a:off x="320040" y="917575"/>
            <a:ext cx="8752840" cy="460767"/>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对比型数据可以使用柱状图、面积图、雷达图、气泡图等进行可视化呈</a:t>
            </a:r>
          </a:p>
        </p:txBody>
      </p:sp>
      <p:sp>
        <p:nvSpPr>
          <p:cNvPr id="3" name="文本框 2"/>
          <p:cNvSpPr txBox="1"/>
          <p:nvPr/>
        </p:nvSpPr>
        <p:spPr>
          <a:xfrm>
            <a:off x="391795" y="1724025"/>
            <a:ext cx="4951730" cy="20916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柱状图是一种以长方形的长度为变量的统计图表，它使用垂直或水平的柱子显示类别之间的数值比较，用于描述分类数据，并统计每一个分类中的数量，柱状图的样式如图所示。</a:t>
            </a:r>
          </a:p>
        </p:txBody>
      </p:sp>
      <p:sp>
        <p:nvSpPr>
          <p:cNvPr id="5" name="文本框 4"/>
          <p:cNvSpPr txBox="1"/>
          <p:nvPr/>
        </p:nvSpPr>
        <p:spPr>
          <a:xfrm>
            <a:off x="4427855" y="3815715"/>
            <a:ext cx="5080000" cy="245110"/>
          </a:xfrm>
          <a:prstGeom prst="rect">
            <a:avLst/>
          </a:prstGeom>
          <a:noFill/>
          <a:ln w="9525">
            <a:noFill/>
          </a:ln>
        </p:spPr>
        <p:txBody>
          <a:bodyPr>
            <a:spAutoFit/>
          </a:bodyPr>
          <a:lstStyle/>
          <a:p>
            <a:pPr indent="0" algn="ctr"/>
            <a:r>
              <a:rPr lang="zh-CN" sz="1000" b="0">
                <a:ea typeface="等线" panose="02010600030101010101" pitchFamily="2" charset="-122"/>
              </a:rPr>
              <a:t>柱状图样例</a:t>
            </a:r>
          </a:p>
        </p:txBody>
      </p:sp>
      <p:pic>
        <p:nvPicPr>
          <p:cNvPr id="25" name="图片 25"/>
          <p:cNvPicPr>
            <a:picLocks noChangeAspect="1" noChangeArrowheads="1"/>
          </p:cNvPicPr>
          <p:nvPr/>
        </p:nvPicPr>
        <p:blipFill>
          <a:blip r:embed="rId3">
            <a:extLst>
              <a:ext uri="{28A0092B-C50C-407E-A947-70E740481C1C}">
                <a14:useLocalDpi xmlns:a14="http://schemas.microsoft.com/office/drawing/2010/main" val="0"/>
              </a:ext>
            </a:extLst>
          </a:blip>
          <a:srcRect t="5307" b="4637"/>
          <a:stretch>
            <a:fillRect/>
          </a:stretch>
        </p:blipFill>
        <p:spPr>
          <a:xfrm>
            <a:off x="5549265" y="1811655"/>
            <a:ext cx="2837180" cy="1916430"/>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9.2.2对比型数据可视化方法</a:t>
            </a:r>
          </a:p>
        </p:txBody>
      </p:sp>
      <p:sp>
        <p:nvSpPr>
          <p:cNvPr id="100" name="文本框 99"/>
          <p:cNvSpPr txBox="1"/>
          <p:nvPr/>
        </p:nvSpPr>
        <p:spPr>
          <a:xfrm>
            <a:off x="267335" y="104521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3.雷达图</a:t>
            </a:r>
          </a:p>
        </p:txBody>
      </p:sp>
      <p:sp>
        <p:nvSpPr>
          <p:cNvPr id="3" name="文本框 2"/>
          <p:cNvSpPr txBox="1"/>
          <p:nvPr/>
        </p:nvSpPr>
        <p:spPr>
          <a:xfrm>
            <a:off x="387985" y="1536700"/>
            <a:ext cx="4643120" cy="24917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雷达图，又称网状图或星状图，它形似雷达界面，雷达图用于同时对多个数据的对比分析和同一数据在不同时期的变化进行分析 ，可以有效地表示数据的聚合值，也就是数据在各个方向上达到的峰值，雷达图的样式如图所示。</a:t>
            </a:r>
          </a:p>
        </p:txBody>
      </p:sp>
      <p:sp>
        <p:nvSpPr>
          <p:cNvPr id="5" name="文本框 4"/>
          <p:cNvSpPr txBox="1"/>
          <p:nvPr/>
        </p:nvSpPr>
        <p:spPr>
          <a:xfrm>
            <a:off x="4064000" y="4028440"/>
            <a:ext cx="5080000" cy="398780"/>
          </a:xfrm>
          <a:prstGeom prst="rect">
            <a:avLst/>
          </a:prstGeom>
          <a:noFill/>
          <a:ln w="9525">
            <a:noFill/>
          </a:ln>
        </p:spPr>
        <p:txBody>
          <a:bodyPr>
            <a:spAutoFit/>
          </a:bodyPr>
          <a:lstStyle/>
          <a:p>
            <a:pPr indent="0" algn="ctr"/>
            <a:r>
              <a:rPr lang="zh-CN" sz="1000" b="0">
                <a:ea typeface="等线" panose="02010600030101010101" pitchFamily="2" charset="-122"/>
              </a:rPr>
              <a:t> 雷达图样例</a:t>
            </a:r>
          </a:p>
          <a:p>
            <a:pPr indent="0" algn="ctr"/>
            <a:endParaRPr lang="zh-CN" sz="1000" b="0">
              <a:ea typeface="等线" panose="02010600030101010101" pitchFamily="2" charset="-122"/>
            </a:endParaRPr>
          </a:p>
        </p:txBody>
      </p:sp>
      <p:pic>
        <p:nvPicPr>
          <p:cNvPr id="22" name="图片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22253" y="1699260"/>
            <a:ext cx="2887345" cy="2166620"/>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9.2.2对比型数据可视化方法</a:t>
            </a:r>
          </a:p>
        </p:txBody>
      </p:sp>
      <p:sp>
        <p:nvSpPr>
          <p:cNvPr id="100" name="文本框 99"/>
          <p:cNvSpPr txBox="1"/>
          <p:nvPr/>
        </p:nvSpPr>
        <p:spPr>
          <a:xfrm>
            <a:off x="202565" y="98996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 4.气泡图</a:t>
            </a:r>
          </a:p>
        </p:txBody>
      </p:sp>
      <p:sp>
        <p:nvSpPr>
          <p:cNvPr id="3" name="文本框 2"/>
          <p:cNvSpPr txBox="1"/>
          <p:nvPr/>
        </p:nvSpPr>
        <p:spPr>
          <a:xfrm>
            <a:off x="339725" y="1482090"/>
            <a:ext cx="4614545"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气泡图通常用于比较和展示不同类别之间的关系（例如分析数据之间的相关性），通过气泡的位置以及面积大小进行比较，气泡图的样式如图所示。</a:t>
            </a:r>
          </a:p>
        </p:txBody>
      </p:sp>
      <p:sp>
        <p:nvSpPr>
          <p:cNvPr id="5" name="文本框 4"/>
          <p:cNvSpPr txBox="1"/>
          <p:nvPr/>
        </p:nvSpPr>
        <p:spPr>
          <a:xfrm>
            <a:off x="4161790" y="3173730"/>
            <a:ext cx="5080000" cy="245110"/>
          </a:xfrm>
          <a:prstGeom prst="rect">
            <a:avLst/>
          </a:prstGeom>
          <a:noFill/>
          <a:ln w="9525">
            <a:noFill/>
          </a:ln>
        </p:spPr>
        <p:txBody>
          <a:bodyPr>
            <a:spAutoFit/>
          </a:bodyPr>
          <a:lstStyle/>
          <a:p>
            <a:pPr indent="0" algn="ctr"/>
            <a:r>
              <a:rPr lang="zh-CN" sz="1000" b="0">
                <a:ea typeface="等线" panose="02010600030101010101" pitchFamily="2" charset="-122"/>
              </a:rPr>
              <a:t>气泡图样例</a:t>
            </a:r>
          </a:p>
        </p:txBody>
      </p:sp>
      <p:pic>
        <p:nvPicPr>
          <p:cNvPr id="16" name="图片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278755" y="1644968"/>
            <a:ext cx="3166110" cy="1364615"/>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9.2.3比例型数据可视化方法</a:t>
            </a:r>
          </a:p>
        </p:txBody>
      </p:sp>
      <p:sp>
        <p:nvSpPr>
          <p:cNvPr id="100" name="文本框 99"/>
          <p:cNvSpPr txBox="1"/>
          <p:nvPr/>
        </p:nvSpPr>
        <p:spPr>
          <a:xfrm>
            <a:off x="104775" y="146113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1.饼图</a:t>
            </a:r>
          </a:p>
        </p:txBody>
      </p:sp>
      <p:sp>
        <p:nvSpPr>
          <p:cNvPr id="3" name="文本框 2"/>
          <p:cNvSpPr txBox="1"/>
          <p:nvPr/>
        </p:nvSpPr>
        <p:spPr>
          <a:xfrm>
            <a:off x="283845" y="1880235"/>
            <a:ext cx="4614545" cy="28917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饼图用于表示不同分类的占比情况，通过弧度大小来对比各种分类。饼图通过将一个圆饼按照分类的占比划分成多个区块，整个圆饼代表数据的总量，每个区块表示该分类占总体的比例大小，所有区块的和等于100%。饼图的样式如图所示。</a:t>
            </a:r>
          </a:p>
        </p:txBody>
      </p:sp>
      <p:sp>
        <p:nvSpPr>
          <p:cNvPr id="5" name="文本框 4"/>
          <p:cNvSpPr txBox="1"/>
          <p:nvPr/>
        </p:nvSpPr>
        <p:spPr>
          <a:xfrm>
            <a:off x="4064000" y="4106545"/>
            <a:ext cx="5080000" cy="245110"/>
          </a:xfrm>
          <a:prstGeom prst="rect">
            <a:avLst/>
          </a:prstGeom>
          <a:noFill/>
          <a:ln w="9525">
            <a:noFill/>
          </a:ln>
        </p:spPr>
        <p:txBody>
          <a:bodyPr>
            <a:spAutoFit/>
          </a:bodyPr>
          <a:lstStyle/>
          <a:p>
            <a:pPr indent="0" algn="ctr"/>
            <a:r>
              <a:rPr lang="zh-CN" sz="1000" b="0">
                <a:ea typeface="等线" panose="02010600030101010101" pitchFamily="2" charset="-122"/>
              </a:rPr>
              <a:t>饼图样例</a:t>
            </a:r>
          </a:p>
        </p:txBody>
      </p:sp>
      <p:sp>
        <p:nvSpPr>
          <p:cNvPr id="2" name="文本框 1"/>
          <p:cNvSpPr txBox="1"/>
          <p:nvPr/>
        </p:nvSpPr>
        <p:spPr>
          <a:xfrm>
            <a:off x="363855" y="1062355"/>
            <a:ext cx="8521065" cy="398780"/>
          </a:xfrm>
          <a:prstGeom prst="rect">
            <a:avLst/>
          </a:prstGeom>
          <a:noFill/>
          <a:ln w="9525">
            <a:noFill/>
          </a:ln>
        </p:spPr>
        <p:txBody>
          <a:bodyPr wrap="square">
            <a:spAutoFit/>
          </a:bodyPr>
          <a:lstStyle/>
          <a:p>
            <a:pPr indent="266700"/>
            <a:r>
              <a:rPr lang="zh-CN" sz="2000" b="0">
                <a:ea typeface="等线" panose="02010600030101010101" pitchFamily="2" charset="-122"/>
              </a:rPr>
              <a:t>比例型数据可以使用饼图、堆垒柱形图和堆垒面积图等进行可视化呈现。</a:t>
            </a:r>
            <a:endParaRPr lang="zh-CN" altLang="en-US" sz="2000"/>
          </a:p>
        </p:txBody>
      </p:sp>
      <p:pic>
        <p:nvPicPr>
          <p:cNvPr id="193539" name="图片 193539"/>
          <p:cNvPicPr>
            <a:picLocks noChangeAspect="1" noChangeArrowheads="1"/>
          </p:cNvPicPr>
          <p:nvPr/>
        </p:nvPicPr>
        <p:blipFill>
          <a:blip r:embed="rId3">
            <a:extLst>
              <a:ext uri="{28A0092B-C50C-407E-A947-70E740481C1C}">
                <a14:useLocalDpi xmlns:a14="http://schemas.microsoft.com/office/drawing/2010/main" val="0"/>
              </a:ext>
            </a:extLst>
          </a:blip>
          <a:srcRect l="16100" t="3405" r="6265" b="11118"/>
          <a:stretch>
            <a:fillRect/>
          </a:stretch>
        </p:blipFill>
        <p:spPr>
          <a:xfrm>
            <a:off x="5162550" y="2207895"/>
            <a:ext cx="2644140" cy="1697990"/>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9.2.3比例型数据可视化方法</a:t>
            </a:r>
          </a:p>
        </p:txBody>
      </p:sp>
      <p:sp>
        <p:nvSpPr>
          <p:cNvPr id="100" name="文本框 99"/>
          <p:cNvSpPr txBox="1"/>
          <p:nvPr/>
        </p:nvSpPr>
        <p:spPr>
          <a:xfrm>
            <a:off x="52070" y="88138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2.堆垒柱形图（Stack Column）</a:t>
            </a:r>
          </a:p>
        </p:txBody>
      </p:sp>
      <p:sp>
        <p:nvSpPr>
          <p:cNvPr id="3" name="文本框 2"/>
          <p:cNvSpPr txBox="1"/>
          <p:nvPr/>
        </p:nvSpPr>
        <p:spPr>
          <a:xfrm>
            <a:off x="277495" y="1372870"/>
            <a:ext cx="4768117" cy="2459904"/>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堆垒柱形图显示单个项目与整体之间的关系，它比较各个类别的每个数值所占总数值的大小。堆垒柱形图以二维垂直堆积矩形显示数值。当有多个数据系列并且希望强调总数值时，可以使用堆垒柱形图。堆垒柱形图的样式如图 所示</a:t>
            </a:r>
            <a:r>
              <a:rPr sz="2000" b="0"/>
              <a:t>。</a:t>
            </a:r>
          </a:p>
        </p:txBody>
      </p:sp>
      <p:sp>
        <p:nvSpPr>
          <p:cNvPr id="5" name="文本框 4"/>
          <p:cNvSpPr txBox="1"/>
          <p:nvPr/>
        </p:nvSpPr>
        <p:spPr>
          <a:xfrm>
            <a:off x="3889375" y="3751580"/>
            <a:ext cx="5080000" cy="245110"/>
          </a:xfrm>
          <a:prstGeom prst="rect">
            <a:avLst/>
          </a:prstGeom>
          <a:noFill/>
          <a:ln w="9525">
            <a:noFill/>
          </a:ln>
        </p:spPr>
        <p:txBody>
          <a:bodyPr>
            <a:spAutoFit/>
          </a:bodyPr>
          <a:lstStyle/>
          <a:p>
            <a:pPr indent="0" algn="ctr"/>
            <a:r>
              <a:rPr lang="zh-CN" sz="1000" b="0">
                <a:ea typeface="等线" panose="02010600030101010101" pitchFamily="2" charset="-122"/>
              </a:rPr>
              <a:t>堆垒柱形图样例</a:t>
            </a:r>
          </a:p>
        </p:txBody>
      </p:sp>
      <p:pic>
        <p:nvPicPr>
          <p:cNvPr id="6" name="图片 6"/>
          <p:cNvPicPr>
            <a:picLocks noChangeAspect="1"/>
          </p:cNvPicPr>
          <p:nvPr/>
        </p:nvPicPr>
        <p:blipFill>
          <a:blip r:embed="rId3"/>
          <a:stretch>
            <a:fillRect/>
          </a:stretch>
        </p:blipFill>
        <p:spPr>
          <a:xfrm>
            <a:off x="5171758" y="1443038"/>
            <a:ext cx="2863215" cy="2157095"/>
          </a:xfrm>
          <a:prstGeom prst="rect">
            <a:avLst/>
          </a:prstGeom>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9.2.3比例型数据可视化方法</a:t>
            </a:r>
          </a:p>
        </p:txBody>
      </p:sp>
      <p:sp>
        <p:nvSpPr>
          <p:cNvPr id="100" name="文本框 99"/>
          <p:cNvSpPr txBox="1"/>
          <p:nvPr/>
        </p:nvSpPr>
        <p:spPr>
          <a:xfrm>
            <a:off x="164465" y="107950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3</a:t>
            </a:r>
            <a:r>
              <a:rPr sz="2000" b="1">
                <a:latin typeface="等线" panose="02010600030101010101" pitchFamily="2" charset="-122"/>
                <a:ea typeface="等线" panose="02010600030101010101" pitchFamily="2" charset="-122"/>
                <a:cs typeface="等线" panose="02010600030101010101" pitchFamily="2" charset="-122"/>
              </a:rPr>
              <a:t>.堆垒面积图（Stack Area）</a:t>
            </a:r>
          </a:p>
        </p:txBody>
      </p:sp>
      <p:sp>
        <p:nvSpPr>
          <p:cNvPr id="3" name="文本框 2"/>
          <p:cNvSpPr txBox="1"/>
          <p:nvPr/>
        </p:nvSpPr>
        <p:spPr>
          <a:xfrm>
            <a:off x="332740" y="1684020"/>
            <a:ext cx="4678045"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堆垒柱形图是由一些大小相同的小正方体堆垒而成的，显示每个数值所占的比例阳随类别或时间变化的趋势。堆垒面积图的样式如图所示。</a:t>
            </a:r>
          </a:p>
        </p:txBody>
      </p:sp>
      <p:sp>
        <p:nvSpPr>
          <p:cNvPr id="5" name="文本框 4"/>
          <p:cNvSpPr txBox="1"/>
          <p:nvPr/>
        </p:nvSpPr>
        <p:spPr>
          <a:xfrm>
            <a:off x="3808730" y="3785870"/>
            <a:ext cx="5080000" cy="245110"/>
          </a:xfrm>
          <a:prstGeom prst="rect">
            <a:avLst/>
          </a:prstGeom>
          <a:noFill/>
          <a:ln w="9525">
            <a:noFill/>
          </a:ln>
        </p:spPr>
        <p:txBody>
          <a:bodyPr>
            <a:spAutoFit/>
          </a:bodyPr>
          <a:lstStyle/>
          <a:p>
            <a:pPr indent="0" algn="ctr"/>
            <a:r>
              <a:rPr lang="zh-CN" sz="1000" b="0">
                <a:ea typeface="等线" panose="02010600030101010101" pitchFamily="2" charset="-122"/>
              </a:rPr>
              <a:t>堆垒面积图样例</a:t>
            </a:r>
          </a:p>
        </p:txBody>
      </p:sp>
      <p:pic>
        <p:nvPicPr>
          <p:cNvPr id="21" name="图片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010785" y="1442085"/>
            <a:ext cx="2839720" cy="2175510"/>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9.2.4分布型数据可视化</a:t>
            </a:r>
          </a:p>
        </p:txBody>
      </p:sp>
      <p:sp>
        <p:nvSpPr>
          <p:cNvPr id="100" name="文本框 99"/>
          <p:cNvSpPr txBox="1"/>
          <p:nvPr/>
        </p:nvSpPr>
        <p:spPr>
          <a:xfrm>
            <a:off x="29845" y="124206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1.直方图（Histogram）</a:t>
            </a:r>
          </a:p>
        </p:txBody>
      </p:sp>
      <p:sp>
        <p:nvSpPr>
          <p:cNvPr id="3" name="文本框 2"/>
          <p:cNvSpPr txBox="1"/>
          <p:nvPr/>
        </p:nvSpPr>
        <p:spPr>
          <a:xfrm>
            <a:off x="395605" y="1569085"/>
            <a:ext cx="6233160" cy="3291840"/>
          </a:xfrm>
          <a:prstGeom prst="rect">
            <a:avLst/>
          </a:prstGeom>
          <a:noFill/>
          <a:ln w="9525">
            <a:noFill/>
          </a:ln>
        </p:spPr>
        <p:txBody>
          <a:bodyPr wrap="square">
            <a:spAutoFit/>
          </a:bodyPr>
          <a:lstStyle/>
          <a:p>
            <a:pPr indent="266700">
              <a:lnSpc>
                <a:spcPct val="130000"/>
              </a:lnSpc>
              <a:spcBef>
                <a:spcPts val="0"/>
              </a:spcBef>
              <a:spcAft>
                <a:spcPts val="0"/>
              </a:spcAft>
            </a:pPr>
            <a:r>
              <a:rPr sz="2000">
                <a:ea typeface="等线" panose="02010600030101010101" pitchFamily="2" charset="-122"/>
              </a:rPr>
              <a:t>直方图(Histogram)，又称质量分布图，是一种统计报告图，由一系列高度不等的纵向条纹或线段表示数据分布的情况，一般用横轴表示数据类型，纵轴表示分布情况。</a:t>
            </a:r>
          </a:p>
          <a:p>
            <a:pPr indent="266700">
              <a:lnSpc>
                <a:spcPct val="130000"/>
              </a:lnSpc>
              <a:spcBef>
                <a:spcPts val="0"/>
              </a:spcBef>
              <a:spcAft>
                <a:spcPts val="0"/>
              </a:spcAft>
            </a:pPr>
            <a:r>
              <a:rPr sz="2000">
                <a:ea typeface="等线" panose="02010600030101010101" pitchFamily="2" charset="-122"/>
              </a:rPr>
              <a:t>直方图是数值数据分布的精确图形表示，为了构建直方图，需要将值的范围均匀分段（分成多个bin），然后计算每个bin中有多少值，最后在坐标轴上绘制每个bin上分布的值的数量。直方图的样式如图所示。</a:t>
            </a:r>
          </a:p>
        </p:txBody>
      </p:sp>
      <p:sp>
        <p:nvSpPr>
          <p:cNvPr id="5" name="文本框 4"/>
          <p:cNvSpPr txBox="1"/>
          <p:nvPr/>
        </p:nvSpPr>
        <p:spPr>
          <a:xfrm>
            <a:off x="4900295" y="3776980"/>
            <a:ext cx="5080000" cy="245110"/>
          </a:xfrm>
          <a:prstGeom prst="rect">
            <a:avLst/>
          </a:prstGeom>
          <a:noFill/>
          <a:ln w="9525">
            <a:noFill/>
          </a:ln>
        </p:spPr>
        <p:txBody>
          <a:bodyPr>
            <a:spAutoFit/>
          </a:bodyPr>
          <a:lstStyle/>
          <a:p>
            <a:pPr indent="0" algn="ctr"/>
            <a:r>
              <a:rPr lang="zh-CN" sz="1000" b="0">
                <a:ea typeface="等线" panose="02010600030101010101" pitchFamily="2" charset="-122"/>
              </a:rPr>
              <a:t>直方图样例</a:t>
            </a:r>
          </a:p>
        </p:txBody>
      </p:sp>
      <p:sp>
        <p:nvSpPr>
          <p:cNvPr id="2" name="文本框 1"/>
          <p:cNvSpPr txBox="1"/>
          <p:nvPr/>
        </p:nvSpPr>
        <p:spPr>
          <a:xfrm>
            <a:off x="284480" y="887730"/>
            <a:ext cx="8157845" cy="398780"/>
          </a:xfrm>
          <a:prstGeom prst="rect">
            <a:avLst/>
          </a:prstGeom>
          <a:noFill/>
          <a:ln w="9525">
            <a:noFill/>
          </a:ln>
        </p:spPr>
        <p:txBody>
          <a:bodyPr wrap="square">
            <a:spAutoFit/>
          </a:bodyPr>
          <a:lstStyle/>
          <a:p>
            <a:pPr indent="266700"/>
            <a:r>
              <a:rPr lang="zh-CN" sz="2000" b="0">
                <a:ea typeface="等线" panose="02010600030101010101" pitchFamily="2" charset="-122"/>
              </a:rPr>
              <a:t>分布型数据可以使用直方图、箱型图、概率密度图等进行可视化呈现。</a:t>
            </a:r>
            <a:endParaRPr lang="zh-CN" altLang="en-US" sz="2000"/>
          </a:p>
        </p:txBody>
      </p:sp>
      <p:pic>
        <p:nvPicPr>
          <p:cNvPr id="30" name="图片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455728" y="2099945"/>
            <a:ext cx="2294255" cy="1517650"/>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9.2.4分布型数据可视化</a:t>
            </a:r>
          </a:p>
        </p:txBody>
      </p:sp>
      <p:sp>
        <p:nvSpPr>
          <p:cNvPr id="100" name="文本框 99"/>
          <p:cNvSpPr txBox="1"/>
          <p:nvPr/>
        </p:nvSpPr>
        <p:spPr>
          <a:xfrm>
            <a:off x="-62230" y="90551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2.箱形图（Box diagram）</a:t>
            </a:r>
          </a:p>
        </p:txBody>
      </p:sp>
      <p:sp>
        <p:nvSpPr>
          <p:cNvPr id="3" name="文本框 2"/>
          <p:cNvSpPr txBox="1"/>
          <p:nvPr/>
        </p:nvSpPr>
        <p:spPr>
          <a:xfrm>
            <a:off x="276225" y="1266190"/>
            <a:ext cx="5405120" cy="3291840"/>
          </a:xfrm>
          <a:prstGeom prst="rect">
            <a:avLst/>
          </a:prstGeom>
          <a:noFill/>
          <a:ln w="9525">
            <a:noFill/>
          </a:ln>
        </p:spPr>
        <p:txBody>
          <a:bodyPr wrap="square">
            <a:spAutoFit/>
          </a:bodyPr>
          <a:lstStyle/>
          <a:p>
            <a:pPr indent="266700">
              <a:lnSpc>
                <a:spcPct val="130000"/>
              </a:lnSpc>
              <a:spcBef>
                <a:spcPts val="0"/>
              </a:spcBef>
              <a:spcAft>
                <a:spcPts val="0"/>
              </a:spcAft>
            </a:pPr>
            <a:r>
              <a:rPr sz="2000">
                <a:ea typeface="等线" panose="02010600030101010101" pitchFamily="2" charset="-122"/>
              </a:rPr>
              <a:t>箱形图（英文：Box plot），又称为盒状图或箱线图，是一种用作显示一组数据分散情况资料的统计图。因形状如箱子而得名。在各种领域也经常被使用。</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箱形图于1977年由美国著名统计学家约翰·图基（John Tukey）发明，它能显示出一组数据的最大值、最小值、中位数、及上下四分位数。箱形图的样式如图所示</a:t>
            </a:r>
          </a:p>
        </p:txBody>
      </p:sp>
      <p:sp>
        <p:nvSpPr>
          <p:cNvPr id="5" name="文本框 4"/>
          <p:cNvSpPr txBox="1"/>
          <p:nvPr/>
        </p:nvSpPr>
        <p:spPr>
          <a:xfrm>
            <a:off x="4647565" y="3894455"/>
            <a:ext cx="5080000" cy="245110"/>
          </a:xfrm>
          <a:prstGeom prst="rect">
            <a:avLst/>
          </a:prstGeom>
          <a:noFill/>
          <a:ln w="9525">
            <a:noFill/>
          </a:ln>
        </p:spPr>
        <p:txBody>
          <a:bodyPr>
            <a:spAutoFit/>
          </a:bodyPr>
          <a:lstStyle/>
          <a:p>
            <a:pPr indent="0" algn="ctr"/>
            <a:r>
              <a:rPr lang="zh-CN" sz="1000" b="0">
                <a:ea typeface="等线" panose="02010600030101010101" pitchFamily="2" charset="-122"/>
              </a:rPr>
              <a:t>箱型图样例</a:t>
            </a:r>
          </a:p>
        </p:txBody>
      </p:sp>
      <p:pic>
        <p:nvPicPr>
          <p:cNvPr id="23" name="图片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681028" y="1567180"/>
            <a:ext cx="3114675" cy="2336800"/>
          </a:xfrm>
          <a:prstGeom prst="rect">
            <a:avLst/>
          </a:prstGeom>
          <a:noFill/>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9.2.4分布型数据可视化</a:t>
            </a:r>
          </a:p>
        </p:txBody>
      </p:sp>
      <p:sp>
        <p:nvSpPr>
          <p:cNvPr id="100" name="文本框 99"/>
          <p:cNvSpPr txBox="1"/>
          <p:nvPr/>
        </p:nvSpPr>
        <p:spPr>
          <a:xfrm>
            <a:off x="-62230" y="905510"/>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3.概率密度图（Density Plot）</a:t>
            </a:r>
          </a:p>
        </p:txBody>
      </p:sp>
      <p:sp>
        <p:nvSpPr>
          <p:cNvPr id="3" name="文本框 2"/>
          <p:cNvSpPr txBox="1"/>
          <p:nvPr/>
        </p:nvSpPr>
        <p:spPr>
          <a:xfrm>
            <a:off x="276225" y="1266190"/>
            <a:ext cx="4986020" cy="289179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a:ea typeface="等线" panose="02010600030101010101" pitchFamily="2" charset="-122"/>
              </a:rPr>
              <a:t>前面提到的直方图、箱线图都是离散型数据的分布图，而概率密度图则是连续型变量的数据分布图，它是指随机变量落在其区间内的概率，用色块填充成阴影部分面积。概率密度图是用概率密度曲线画的，横轴是连续型随机变量，纵轴是概率密度函数。概率密度图样式如图所示</a:t>
            </a:r>
            <a:r>
              <a:rPr lang="zh-CN" altLang="en-US" sz="2000">
                <a:ea typeface="等线" panose="02010600030101010101" pitchFamily="2" charset="-122"/>
              </a:rPr>
              <a:t>。</a:t>
            </a:r>
          </a:p>
        </p:txBody>
      </p:sp>
      <p:sp>
        <p:nvSpPr>
          <p:cNvPr id="5" name="文本框 4"/>
          <p:cNvSpPr txBox="1"/>
          <p:nvPr/>
        </p:nvSpPr>
        <p:spPr>
          <a:xfrm>
            <a:off x="4283075" y="3646805"/>
            <a:ext cx="5080000" cy="245110"/>
          </a:xfrm>
          <a:prstGeom prst="rect">
            <a:avLst/>
          </a:prstGeom>
          <a:noFill/>
          <a:ln w="9525">
            <a:noFill/>
          </a:ln>
        </p:spPr>
        <p:txBody>
          <a:bodyPr>
            <a:spAutoFit/>
          </a:bodyPr>
          <a:lstStyle/>
          <a:p>
            <a:pPr indent="0" algn="ctr"/>
            <a:r>
              <a:rPr lang="zh-CN" sz="1000" b="0">
                <a:ea typeface="等线" panose="02010600030101010101" pitchFamily="2" charset="-122"/>
              </a:rPr>
              <a:t>概率密度图样例</a:t>
            </a:r>
          </a:p>
        </p:txBody>
      </p:sp>
      <p:pic>
        <p:nvPicPr>
          <p:cNvPr id="31" name="图片 31"/>
          <p:cNvPicPr>
            <a:picLocks noChangeAspect="1"/>
          </p:cNvPicPr>
          <p:nvPr/>
        </p:nvPicPr>
        <p:blipFill>
          <a:blip r:embed="rId3"/>
          <a:srcRect l="6030" t="4570" r="5304" b="3911"/>
          <a:stretch>
            <a:fillRect/>
          </a:stretch>
        </p:blipFill>
        <p:spPr>
          <a:xfrm>
            <a:off x="5098415" y="1531938"/>
            <a:ext cx="3684270" cy="1979295"/>
          </a:xfrm>
          <a:prstGeom prst="rect">
            <a:avLst/>
          </a:prstGeom>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9.2.5文本数据可视化</a:t>
            </a:r>
          </a:p>
        </p:txBody>
      </p:sp>
      <p:sp>
        <p:nvSpPr>
          <p:cNvPr id="3" name="文本框 2"/>
          <p:cNvSpPr txBox="1"/>
          <p:nvPr/>
        </p:nvSpPr>
        <p:spPr>
          <a:xfrm>
            <a:off x="184785" y="923925"/>
            <a:ext cx="5218430" cy="4092575"/>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a:ea typeface="等线" panose="02010600030101010101" pitchFamily="2" charset="-122"/>
              </a:rPr>
              <a:t>对于文本数据可视化，最著名的是由美国西北大学新闻学副教授、新媒体专业主任里奇·戈登（Rich Gordon）于2006年最先使用的“词云”（也称为标签云，Tag Cloud），它是是通过形成“关键词云层”或“关键词渲染”，对网络文本中出现频率较高的“关键词”的视觉上的突出。</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图是以马丁.路德金的《I Have a Dream》一文为例生成的“词云”，可以看出该文中有“freedom”、“dream”和“negro”等高频率词。</a:t>
            </a:r>
          </a:p>
        </p:txBody>
      </p:sp>
      <p:sp>
        <p:nvSpPr>
          <p:cNvPr id="5" name="文本框 4"/>
          <p:cNvSpPr txBox="1"/>
          <p:nvPr/>
        </p:nvSpPr>
        <p:spPr>
          <a:xfrm>
            <a:off x="4237355" y="3601085"/>
            <a:ext cx="5080000" cy="245110"/>
          </a:xfrm>
          <a:prstGeom prst="rect">
            <a:avLst/>
          </a:prstGeom>
          <a:noFill/>
          <a:ln w="9525">
            <a:noFill/>
          </a:ln>
        </p:spPr>
        <p:txBody>
          <a:bodyPr>
            <a:spAutoFit/>
          </a:bodyPr>
          <a:lstStyle/>
          <a:p>
            <a:pPr indent="0" algn="ctr"/>
            <a:r>
              <a:rPr lang="zh-CN" sz="1000" b="0">
                <a:ea typeface="等线" panose="02010600030101010101" pitchFamily="2" charset="-122"/>
              </a:rPr>
              <a:t>"词云"示意图</a:t>
            </a:r>
          </a:p>
        </p:txBody>
      </p:sp>
      <p:pic>
        <p:nvPicPr>
          <p:cNvPr id="193558" name="图片 19355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5445" y="1840548"/>
            <a:ext cx="2623820" cy="1669415"/>
          </a:xfrm>
          <a:prstGeom prst="rect">
            <a:avLst/>
          </a:prstGeom>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9.2.5文本数据可视化</a:t>
            </a:r>
          </a:p>
        </p:txBody>
      </p:sp>
      <p:sp>
        <p:nvSpPr>
          <p:cNvPr id="3" name="文本框 2"/>
          <p:cNvSpPr txBox="1"/>
          <p:nvPr/>
        </p:nvSpPr>
        <p:spPr>
          <a:xfrm>
            <a:off x="239395" y="916305"/>
            <a:ext cx="8045450" cy="3692525"/>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a:ea typeface="等线" panose="02010600030101010101" pitchFamily="2" charset="-122"/>
              </a:rPr>
              <a:t>目前，有许多流行的“词云”生成工具，例如Wordle、WordItOut、Tagxedo、WordArt、ToCloud和图悦等。</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时序文本是指具有时间或顺序特性的文本，例如一篇小说故事情节的变化，或一个新闻事件随时间的演化。主题河流（ThemeRiver）是一种经典的时序文本可视化方法，它将主题的演变嵌入时间长河中，如图所示。横轴表示时间，每一条不同颜色线条可视作一条河流，而每条河流则表示一个主题，河流的宽度代表其在当前时间点上的一个度量（如主题的强度）。这样既可以在宏观上看出多个主题的发展变化，又能看出在特定时间点上主题的分布。</a:t>
            </a:r>
          </a:p>
        </p:txBody>
      </p:sp>
      <p:sp>
        <p:nvSpPr>
          <p:cNvPr id="5" name="文本框 4"/>
          <p:cNvSpPr txBox="1"/>
          <p:nvPr/>
        </p:nvSpPr>
        <p:spPr>
          <a:xfrm>
            <a:off x="4237355" y="3601085"/>
            <a:ext cx="5080000" cy="245110"/>
          </a:xfrm>
          <a:prstGeom prst="rect">
            <a:avLst/>
          </a:prstGeom>
          <a:noFill/>
          <a:ln w="9525">
            <a:noFill/>
          </a:ln>
        </p:spPr>
        <p:txBody>
          <a:bodyPr>
            <a:spAutoFit/>
          </a:bodyPr>
          <a:lstStyle/>
          <a:p>
            <a:pPr indent="0" algn="ctr"/>
            <a:r>
              <a:rPr lang="zh-CN" sz="1000" b="0">
                <a:ea typeface="等线" panose="02010600030101010101" pitchFamily="2" charset="-122"/>
              </a:rPr>
              <a:t>"词云"示意图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9.2.5文本数据可视化</a:t>
            </a:r>
          </a:p>
        </p:txBody>
      </p:sp>
      <p:pic>
        <p:nvPicPr>
          <p:cNvPr id="193544" name="图片 193544"/>
          <p:cNvPicPr>
            <a:picLocks noChangeAspect="1"/>
          </p:cNvPicPr>
          <p:nvPr/>
        </p:nvPicPr>
        <p:blipFill>
          <a:blip r:embed="rId3"/>
          <a:stretch>
            <a:fillRect/>
          </a:stretch>
        </p:blipFill>
        <p:spPr>
          <a:xfrm>
            <a:off x="2281238" y="1295083"/>
            <a:ext cx="4199255" cy="2332355"/>
          </a:xfrm>
          <a:prstGeom prst="rect">
            <a:avLst/>
          </a:prstGeom>
        </p:spPr>
      </p:pic>
      <p:sp>
        <p:nvSpPr>
          <p:cNvPr id="100" name="文本框 99"/>
          <p:cNvSpPr txBox="1"/>
          <p:nvPr/>
        </p:nvSpPr>
        <p:spPr>
          <a:xfrm>
            <a:off x="1949450" y="3700780"/>
            <a:ext cx="5080000" cy="245110"/>
          </a:xfrm>
          <a:prstGeom prst="rect">
            <a:avLst/>
          </a:prstGeom>
          <a:noFill/>
          <a:ln w="9525">
            <a:noFill/>
          </a:ln>
        </p:spPr>
        <p:txBody>
          <a:bodyPr>
            <a:spAutoFit/>
          </a:bodyPr>
          <a:lstStyle/>
          <a:p>
            <a:pPr indent="0" algn="ctr"/>
            <a:r>
              <a:rPr lang="zh-CN" sz="1000" b="0">
                <a:ea typeface="等线" panose="02010600030101010101" pitchFamily="2" charset="-122"/>
              </a:rPr>
              <a:t>主题漂流图示例</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9.2.6关系网络数据可视化</a:t>
            </a:r>
          </a:p>
        </p:txBody>
      </p:sp>
      <p:sp>
        <p:nvSpPr>
          <p:cNvPr id="100" name="文本框 99"/>
          <p:cNvSpPr txBox="1"/>
          <p:nvPr/>
        </p:nvSpPr>
        <p:spPr>
          <a:xfrm>
            <a:off x="62865" y="230441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1.力导向图（Force-Directed Graph）</a:t>
            </a:r>
          </a:p>
        </p:txBody>
      </p:sp>
      <p:sp>
        <p:nvSpPr>
          <p:cNvPr id="3" name="文本框 2"/>
          <p:cNvSpPr txBox="1"/>
          <p:nvPr/>
        </p:nvSpPr>
        <p:spPr>
          <a:xfrm>
            <a:off x="366395" y="2773680"/>
            <a:ext cx="5405120" cy="2061205"/>
          </a:xfrm>
          <a:prstGeom prst="rect">
            <a:avLst/>
          </a:prstGeom>
          <a:noFill/>
          <a:ln w="9525">
            <a:noFill/>
          </a:ln>
        </p:spPr>
        <p:txBody>
          <a:bodyPr wrap="square">
            <a:spAutoFit/>
          </a:bodyPr>
          <a:lstStyle/>
          <a:p>
            <a:pPr indent="266700">
              <a:lnSpc>
                <a:spcPct val="130000"/>
              </a:lnSpc>
              <a:spcBef>
                <a:spcPts val="0"/>
              </a:spcBef>
              <a:spcAft>
                <a:spcPts val="0"/>
              </a:spcAft>
            </a:pPr>
            <a:r>
              <a:rPr sz="2000">
                <a:ea typeface="等线" panose="02010600030101010101" pitchFamily="2" charset="-122"/>
              </a:rPr>
              <a:t>力导向图是一种常用的关系网络可视化工具，它能表示节点之间的多对多的关系，可以根据实时状态自动完成很好的聚类，方便用户看出点之间的亲疏关系，并且用节点的大小表示重要性。力导向图的样式如图所示。</a:t>
            </a:r>
          </a:p>
        </p:txBody>
      </p:sp>
      <p:sp>
        <p:nvSpPr>
          <p:cNvPr id="5" name="文本框 4"/>
          <p:cNvSpPr txBox="1"/>
          <p:nvPr/>
        </p:nvSpPr>
        <p:spPr>
          <a:xfrm>
            <a:off x="4553585" y="4071620"/>
            <a:ext cx="5080000" cy="245110"/>
          </a:xfrm>
          <a:prstGeom prst="rect">
            <a:avLst/>
          </a:prstGeom>
          <a:noFill/>
          <a:ln w="9525">
            <a:noFill/>
          </a:ln>
        </p:spPr>
        <p:txBody>
          <a:bodyPr>
            <a:spAutoFit/>
          </a:bodyPr>
          <a:lstStyle/>
          <a:p>
            <a:pPr indent="0" algn="ctr"/>
            <a:r>
              <a:rPr lang="zh-CN" sz="1000" b="0">
                <a:ea typeface="等线" panose="02010600030101010101" pitchFamily="2" charset="-122"/>
              </a:rPr>
              <a:t>关系网络的力导向图样例</a:t>
            </a:r>
          </a:p>
        </p:txBody>
      </p:sp>
      <p:sp>
        <p:nvSpPr>
          <p:cNvPr id="2" name="文本框 1"/>
          <p:cNvSpPr txBox="1"/>
          <p:nvPr/>
        </p:nvSpPr>
        <p:spPr>
          <a:xfrm>
            <a:off x="223520" y="770255"/>
            <a:ext cx="8539480"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关系网络数据可视化（Network Visualization）的重要用途是揭示对象之间的复杂关联关系，具有广泛的应用场景，例如：疾病传播分析、社交网络分析（如社区发现, Community discovery）、科研人员的研究协作分析、路由器网络的设计、演员的协作关系分析等。</a:t>
            </a:r>
          </a:p>
        </p:txBody>
      </p:sp>
      <p:pic>
        <p:nvPicPr>
          <p:cNvPr id="15" name="图片 15"/>
          <p:cNvPicPr>
            <a:picLocks noChangeAspect="1"/>
          </p:cNvPicPr>
          <p:nvPr/>
        </p:nvPicPr>
        <p:blipFill>
          <a:blip r:embed="rId3"/>
          <a:stretch>
            <a:fillRect/>
          </a:stretch>
        </p:blipFill>
        <p:spPr>
          <a:xfrm>
            <a:off x="5771515" y="2304098"/>
            <a:ext cx="2644140" cy="1767205"/>
          </a:xfrm>
          <a:prstGeom prst="rect">
            <a:avLst/>
          </a:prstGeom>
          <a:ln>
            <a:solidFill>
              <a:srgbClr val="000000"/>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9.2.6关系网络数据可视化</a:t>
            </a:r>
          </a:p>
        </p:txBody>
      </p:sp>
      <p:sp>
        <p:nvSpPr>
          <p:cNvPr id="100" name="文本框 99"/>
          <p:cNvSpPr txBox="1"/>
          <p:nvPr/>
        </p:nvSpPr>
        <p:spPr>
          <a:xfrm>
            <a:off x="-125730" y="770255"/>
            <a:ext cx="9039225"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2.桑基图（Sankey diagram）</a:t>
            </a:r>
          </a:p>
        </p:txBody>
      </p:sp>
      <p:sp>
        <p:nvSpPr>
          <p:cNvPr id="3" name="文本框 2"/>
          <p:cNvSpPr txBox="1"/>
          <p:nvPr/>
        </p:nvSpPr>
        <p:spPr>
          <a:xfrm>
            <a:off x="130810" y="1151890"/>
            <a:ext cx="5809615" cy="3692525"/>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a:ea typeface="等线" panose="02010600030101010101" pitchFamily="2" charset="-122"/>
              </a:rPr>
              <a:t>桑基图也称为桑基能量分流图或桑基能量平衡图，它是一种特定类型的流程图，图中延伸的分支的宽度对应数据流量的大小，因1898年Matthew Henry Phineas Riall Sankey绘制的“蒸汽机的能源效率图”而闻名，此后便以其名字命名为“桑基图”。</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桑基图主要由支点、边和流量组成，其中节点代表不同对象，边代表了流动的数据，流量代表了流动数据的具体数值。边的宽度与流量成比例地显示，边越宽，数值越大。桑基图的样式如图所示。</a:t>
            </a:r>
          </a:p>
        </p:txBody>
      </p:sp>
      <p:sp>
        <p:nvSpPr>
          <p:cNvPr id="5" name="文本框 4"/>
          <p:cNvSpPr txBox="1"/>
          <p:nvPr/>
        </p:nvSpPr>
        <p:spPr>
          <a:xfrm>
            <a:off x="4647565" y="4053840"/>
            <a:ext cx="5080000" cy="245110"/>
          </a:xfrm>
          <a:prstGeom prst="rect">
            <a:avLst/>
          </a:prstGeom>
          <a:noFill/>
          <a:ln w="9525">
            <a:noFill/>
          </a:ln>
        </p:spPr>
        <p:txBody>
          <a:bodyPr>
            <a:spAutoFit/>
          </a:bodyPr>
          <a:lstStyle/>
          <a:p>
            <a:pPr indent="0" algn="ctr"/>
            <a:r>
              <a:rPr lang="zh-CN" sz="1000" b="0">
                <a:ea typeface="等线" panose="02010600030101010101" pitchFamily="2" charset="-122"/>
              </a:rPr>
              <a:t>桑基图样例</a:t>
            </a:r>
          </a:p>
        </p:txBody>
      </p:sp>
      <p:pic>
        <p:nvPicPr>
          <p:cNvPr id="24" name="图片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826125" y="1701165"/>
            <a:ext cx="2990215" cy="23526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9.2.7</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时空数据可视化</a:t>
            </a:r>
          </a:p>
        </p:txBody>
      </p:sp>
      <p:sp>
        <p:nvSpPr>
          <p:cNvPr id="3" name="文本框 2"/>
          <p:cNvSpPr txBox="1"/>
          <p:nvPr/>
        </p:nvSpPr>
        <p:spPr>
          <a:xfrm>
            <a:off x="342265" y="1247140"/>
            <a:ext cx="8179435" cy="249174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a:ea typeface="等线" panose="02010600030101010101" pitchFamily="2" charset="-122"/>
              </a:rPr>
              <a:t>时空数据是指具有时间元素并随时间变化而变化的空间数据，是描述地球环境中地物要素信息的一种表达方式。时空数据静态可视化，一般是以二维地图上叠加可以描述时间变化的要素，来描述时空属性数据与空间范围内的变化特征；动态可视化可采用动态地图、三维GIS等多种手段展现时空数据，将时空数据在动态变化的地图或三维场景中呈现出来，可以直观生动地表示各种空间信息的变化过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9.2.7</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时空数据可视化</a:t>
            </a:r>
          </a:p>
        </p:txBody>
      </p:sp>
      <p:sp>
        <p:nvSpPr>
          <p:cNvPr id="3" name="文本框 2"/>
          <p:cNvSpPr txBox="1"/>
          <p:nvPr/>
        </p:nvSpPr>
        <p:spPr>
          <a:xfrm>
            <a:off x="304800" y="770255"/>
            <a:ext cx="8526145" cy="230695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lang="zh-CN" altLang="en-US" sz="2000">
                <a:ea typeface="等线" panose="02010600030101010101" pitchFamily="2" charset="-122"/>
              </a:rPr>
              <a:t>下</a:t>
            </a:r>
            <a:r>
              <a:rPr sz="2000">
                <a:ea typeface="等线" panose="02010600030101010101" pitchFamily="2" charset="-122"/>
              </a:rPr>
              <a:t>图是一个北京外卖大数据可视化案例的图示，该案例以北京外卖配送的移动轨迹与物流起始点数据为基础，探索一天中不同时段的外卖订单量的地理分布。案例的数据是提取自某即时物流平台，以订单起始点在地理空间上形成显著聚合的27个地块作为城市商业地块，通过其不同时段的订单活跃情况，解读不同商业地块的特点，观察不同时段的订单起始点在城市空间分布上的差异，并分辨出订单起始点产生集聚的几个典型地块。</a:t>
            </a:r>
          </a:p>
        </p:txBody>
      </p:sp>
      <p:pic>
        <p:nvPicPr>
          <p:cNvPr id="10" name="图片 10"/>
          <p:cNvPicPr>
            <a:picLocks noChangeAspect="1"/>
          </p:cNvPicPr>
          <p:nvPr/>
        </p:nvPicPr>
        <p:blipFill>
          <a:blip r:embed="rId3"/>
          <a:stretch>
            <a:fillRect/>
          </a:stretch>
        </p:blipFill>
        <p:spPr>
          <a:xfrm>
            <a:off x="2381885" y="3077210"/>
            <a:ext cx="4072255" cy="1792605"/>
          </a:xfrm>
          <a:prstGeom prst="rect">
            <a:avLst/>
          </a:prstGeom>
          <a:ln>
            <a:solidFill>
              <a:schemeClr val="accent1"/>
            </a:solidFill>
          </a:ln>
        </p:spPr>
      </p:pic>
      <p:sp>
        <p:nvSpPr>
          <p:cNvPr id="100" name="文本框 99"/>
          <p:cNvSpPr txBox="1"/>
          <p:nvPr/>
        </p:nvSpPr>
        <p:spPr>
          <a:xfrm>
            <a:off x="4064000" y="3004820"/>
            <a:ext cx="5080000" cy="1938020"/>
          </a:xfrm>
          <a:prstGeom prst="rect">
            <a:avLst/>
          </a:prstGeom>
          <a:noFill/>
          <a:ln w="9525">
            <a:noFill/>
          </a:ln>
        </p:spPr>
        <p:txBody>
          <a:bodyPr>
            <a:spAutoFit/>
          </a:bodyPr>
          <a:lstStyle/>
          <a:p>
            <a:pPr indent="0" algn="ctr"/>
            <a:r>
              <a:rPr lang="zh-CN" sz="1000" b="0">
                <a:ea typeface="等线" panose="02010600030101010101" pitchFamily="2" charset="-122"/>
              </a:rPr>
              <a:t>北</a:t>
            </a:r>
          </a:p>
          <a:p>
            <a:pPr indent="0" algn="ctr"/>
            <a:r>
              <a:rPr lang="zh-CN" sz="1000" b="0">
                <a:ea typeface="等线" panose="02010600030101010101" pitchFamily="2" charset="-122"/>
              </a:rPr>
              <a:t>京</a:t>
            </a:r>
          </a:p>
          <a:p>
            <a:pPr indent="0" algn="ctr"/>
            <a:r>
              <a:rPr lang="zh-CN" sz="1000" b="0">
                <a:ea typeface="等线" panose="02010600030101010101" pitchFamily="2" charset="-122"/>
              </a:rPr>
              <a:t>外</a:t>
            </a:r>
          </a:p>
          <a:p>
            <a:pPr indent="0" algn="ctr"/>
            <a:r>
              <a:rPr lang="zh-CN" sz="1000" b="0">
                <a:ea typeface="等线" panose="02010600030101010101" pitchFamily="2" charset="-122"/>
              </a:rPr>
              <a:t>卖</a:t>
            </a:r>
          </a:p>
          <a:p>
            <a:pPr indent="0" algn="ctr"/>
            <a:r>
              <a:rPr lang="zh-CN" sz="1000" b="0">
                <a:ea typeface="等线" panose="02010600030101010101" pitchFamily="2" charset="-122"/>
              </a:rPr>
              <a:t>大</a:t>
            </a:r>
          </a:p>
          <a:p>
            <a:pPr indent="0" algn="ctr"/>
            <a:r>
              <a:rPr lang="zh-CN" sz="1000" b="0">
                <a:ea typeface="等线" panose="02010600030101010101" pitchFamily="2" charset="-122"/>
              </a:rPr>
              <a:t>数</a:t>
            </a:r>
          </a:p>
          <a:p>
            <a:pPr indent="0" algn="ctr"/>
            <a:r>
              <a:rPr lang="zh-CN" sz="1000" b="0">
                <a:ea typeface="等线" panose="02010600030101010101" pitchFamily="2" charset="-122"/>
              </a:rPr>
              <a:t>据</a:t>
            </a:r>
          </a:p>
          <a:p>
            <a:pPr indent="0" algn="ctr"/>
            <a:r>
              <a:rPr lang="zh-CN" sz="1000" b="0">
                <a:ea typeface="等线" panose="02010600030101010101" pitchFamily="2" charset="-122"/>
              </a:rPr>
              <a:t>可</a:t>
            </a:r>
          </a:p>
          <a:p>
            <a:pPr indent="0" algn="ctr"/>
            <a:r>
              <a:rPr lang="zh-CN" sz="1000" b="0">
                <a:ea typeface="等线" panose="02010600030101010101" pitchFamily="2" charset="-122"/>
              </a:rPr>
              <a:t>视</a:t>
            </a:r>
          </a:p>
          <a:p>
            <a:pPr indent="0" algn="ctr"/>
            <a:r>
              <a:rPr lang="zh-CN" sz="1000" b="0">
                <a:ea typeface="等线" panose="02010600030101010101" pitchFamily="2" charset="-122"/>
              </a:rPr>
              <a:t>化</a:t>
            </a:r>
          </a:p>
          <a:p>
            <a:pPr indent="0" algn="ctr"/>
            <a:r>
              <a:rPr lang="zh-CN" sz="1000" b="0">
                <a:ea typeface="等线" panose="02010600030101010101" pitchFamily="2" charset="-122"/>
              </a:rPr>
              <a:t>示</a:t>
            </a:r>
          </a:p>
          <a:p>
            <a:pPr indent="0" algn="ctr"/>
            <a:r>
              <a:rPr lang="zh-CN" sz="1000" b="0">
                <a:ea typeface="等线" panose="02010600030101010101" pitchFamily="2" charset="-122"/>
              </a:rPr>
              <a:t>例</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9.2.8层次结构数据可视化</a:t>
            </a:r>
          </a:p>
        </p:txBody>
      </p:sp>
      <p:sp>
        <p:nvSpPr>
          <p:cNvPr id="3" name="文本框 2"/>
          <p:cNvSpPr txBox="1"/>
          <p:nvPr/>
        </p:nvSpPr>
        <p:spPr>
          <a:xfrm>
            <a:off x="297180" y="1233170"/>
            <a:ext cx="8313420" cy="1938020"/>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a:ea typeface="等线" panose="02010600030101010101" pitchFamily="2" charset="-122"/>
              </a:rPr>
              <a:t>层次数据表示对象之间的层次关系，可以被抽象为树（Tree）结构，例如社会关系中的从属关系、事物的包含关系、组织结构信息和逻辑承接关系等等。</a:t>
            </a:r>
          </a:p>
          <a:p>
            <a:pPr indent="266700">
              <a:lnSpc>
                <a:spcPct val="120000"/>
              </a:lnSpc>
              <a:spcBef>
                <a:spcPts val="0"/>
              </a:spcBef>
              <a:spcAft>
                <a:spcPts val="0"/>
              </a:spcAft>
            </a:pPr>
            <a:r>
              <a:rPr lang="en-US" sz="2000">
                <a:ea typeface="等线" panose="02010600030101010101" pitchFamily="2" charset="-122"/>
              </a:rPr>
              <a:t>     </a:t>
            </a:r>
            <a:r>
              <a:rPr sz="2000">
                <a:ea typeface="等线" panose="02010600030101010101" pitchFamily="2" charset="-122"/>
              </a:rPr>
              <a:t>层次数据可视化的要点是对数据中层次关系的有效刻画，主要有两种表现方式："节点链接法"和"空间填充法"。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9.2.8层次结构数据可视化</a:t>
            </a:r>
          </a:p>
        </p:txBody>
      </p:sp>
      <p:sp>
        <p:nvSpPr>
          <p:cNvPr id="3" name="文本框 2"/>
          <p:cNvSpPr txBox="1"/>
          <p:nvPr/>
        </p:nvSpPr>
        <p:spPr>
          <a:xfrm>
            <a:off x="249555" y="883920"/>
            <a:ext cx="8645525" cy="46037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lang="en-US" sz="2000" b="1"/>
              <a:t> </a:t>
            </a:r>
            <a:r>
              <a:rPr sz="2000" b="1"/>
              <a:t>1.节点链接法（node-link）</a:t>
            </a:r>
          </a:p>
        </p:txBody>
      </p:sp>
      <p:sp>
        <p:nvSpPr>
          <p:cNvPr id="2" name="文本框 1"/>
          <p:cNvSpPr txBox="1"/>
          <p:nvPr/>
        </p:nvSpPr>
        <p:spPr>
          <a:xfrm>
            <a:off x="249555" y="1262380"/>
            <a:ext cx="8645525" cy="230695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a:ea typeface="等线" panose="02010600030101010101" pitchFamily="2" charset="-122"/>
              </a:rPr>
              <a:t>节点链接法将单个个体绘制成一个节点，节点之间的连线表示个体之间的层次关系，代表图形有：空间树、圆锥树、径向树、双曲树。</a:t>
            </a:r>
            <a:r>
              <a:rPr lang="zh-CN" altLang="en-US" sz="2000">
                <a:ea typeface="等线" panose="02010600030101010101" pitchFamily="2" charset="-122"/>
              </a:rPr>
              <a:t>下</a:t>
            </a:r>
            <a:r>
              <a:rPr sz="2000">
                <a:ea typeface="等线" panose="02010600030101010101" pitchFamily="2" charset="-122"/>
              </a:rPr>
              <a:t>图是"节点链接法"的样例图，左边的子图是“径向树（Radial Tree）”，特点是根节点位于圆心，不同层次的节点被放置在半径不同的同心圆上。右边的子图是“圆锥树（Cone Tree）”，是一种在三维空间可视化层次数据的技术，结合了正交布局和径向布局两种思想。</a:t>
            </a:r>
          </a:p>
        </p:txBody>
      </p:sp>
      <p:pic>
        <p:nvPicPr>
          <p:cNvPr id="11" name="图片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710305" y="3169920"/>
            <a:ext cx="2033270" cy="1609090"/>
          </a:xfrm>
          <a:prstGeom prst="rect">
            <a:avLst/>
          </a:prstGeom>
          <a:noFill/>
          <a:ln>
            <a:noFill/>
          </a:ln>
        </p:spPr>
      </p:pic>
      <p:pic>
        <p:nvPicPr>
          <p:cNvPr id="12" name="图片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6379210" y="3166110"/>
            <a:ext cx="1612900" cy="1612900"/>
          </a:xfrm>
          <a:prstGeom prst="rect">
            <a:avLst/>
          </a:prstGeom>
          <a:noFill/>
          <a:ln>
            <a:noFill/>
          </a:ln>
        </p:spPr>
      </p:pic>
      <p:sp>
        <p:nvSpPr>
          <p:cNvPr id="100" name="文本框 99"/>
          <p:cNvSpPr txBox="1"/>
          <p:nvPr/>
        </p:nvSpPr>
        <p:spPr>
          <a:xfrm>
            <a:off x="3355340" y="4472940"/>
            <a:ext cx="5080000" cy="245110"/>
          </a:xfrm>
          <a:prstGeom prst="rect">
            <a:avLst/>
          </a:prstGeom>
          <a:noFill/>
          <a:ln w="9525">
            <a:noFill/>
          </a:ln>
        </p:spPr>
        <p:txBody>
          <a:bodyPr>
            <a:spAutoFit/>
          </a:bodyPr>
          <a:lstStyle/>
          <a:p>
            <a:pPr indent="0" algn="ctr"/>
            <a:r>
              <a:rPr lang="zh-CN" sz="1000" b="0">
                <a:ea typeface="等线" panose="02010600030101010101" pitchFamily="2" charset="-122"/>
                <a:cs typeface="Times New Roman" panose="02020603050405020304" pitchFamily="18" charset="0"/>
              </a:rPr>
              <a:t>"节点链接法"示例图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9.2.8层次结构数据可视化</a:t>
            </a:r>
          </a:p>
        </p:txBody>
      </p:sp>
      <p:sp>
        <p:nvSpPr>
          <p:cNvPr id="3" name="文本框 2"/>
          <p:cNvSpPr txBox="1"/>
          <p:nvPr/>
        </p:nvSpPr>
        <p:spPr>
          <a:xfrm>
            <a:off x="249555" y="883920"/>
            <a:ext cx="8645525" cy="46037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b="1"/>
              <a:t>2.空间填充法（space-filling）</a:t>
            </a:r>
          </a:p>
        </p:txBody>
      </p:sp>
      <p:sp>
        <p:nvSpPr>
          <p:cNvPr id="2" name="文本框 1"/>
          <p:cNvSpPr txBox="1"/>
          <p:nvPr/>
        </p:nvSpPr>
        <p:spPr>
          <a:xfrm>
            <a:off x="249555" y="1262380"/>
            <a:ext cx="8645525" cy="1938020"/>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a:ea typeface="等线" panose="02010600030101010101" pitchFamily="2" charset="-122"/>
              </a:rPr>
              <a:t>空间填充法用空间中的区域来表示数据中的个体，并用外侧区域对内层区域的包围来表示层次关系。</a:t>
            </a:r>
            <a:r>
              <a:rPr lang="zh-CN" altLang="en-US" sz="2000">
                <a:ea typeface="等线" panose="02010600030101010101" pitchFamily="2" charset="-122"/>
              </a:rPr>
              <a:t>下</a:t>
            </a:r>
            <a:r>
              <a:rPr sz="2000">
                <a:ea typeface="等线" panose="02010600030101010101" pitchFamily="2" charset="-122"/>
              </a:rPr>
              <a:t>图是“空间填充法”的示例图，左边的子图是 “矩形树图（Tree Map）”，用矩形表示层次结构里的节点，父子节点之间的层次关系用矩形之间的相互嵌套隐喻表示。右边的子图是“旭日图（Sunburst）”，中心的圆代表根节点，各个层次用同心圆表示。</a:t>
            </a:r>
          </a:p>
        </p:txBody>
      </p:sp>
      <p:sp>
        <p:nvSpPr>
          <p:cNvPr id="100" name="文本框 99"/>
          <p:cNvSpPr txBox="1"/>
          <p:nvPr/>
        </p:nvSpPr>
        <p:spPr>
          <a:xfrm>
            <a:off x="2299335" y="4588510"/>
            <a:ext cx="5080000" cy="398780"/>
          </a:xfrm>
          <a:prstGeom prst="rect">
            <a:avLst/>
          </a:prstGeom>
          <a:noFill/>
          <a:ln w="9525">
            <a:noFill/>
          </a:ln>
        </p:spPr>
        <p:txBody>
          <a:bodyPr wrap="square">
            <a:spAutoFit/>
          </a:bodyPr>
          <a:lstStyle/>
          <a:p>
            <a:pPr indent="0" algn="ctr"/>
            <a:r>
              <a:rPr lang="zh-CN" sz="1000" b="0">
                <a:ea typeface="等线" panose="02010600030101010101" pitchFamily="2" charset="-122"/>
                <a:cs typeface="Times New Roman" panose="02020603050405020304" pitchFamily="18" charset="0"/>
              </a:rPr>
              <a:t>"空间填充法"示例图</a:t>
            </a:r>
          </a:p>
          <a:p>
            <a:pPr indent="0" algn="ctr"/>
            <a:endParaRPr lang="zh-CN" sz="1000" b="0">
              <a:ea typeface="等线" panose="02010600030101010101" pitchFamily="2" charset="-122"/>
              <a:cs typeface="Times New Roman" panose="02020603050405020304" pitchFamily="18" charset="0"/>
            </a:endParaRPr>
          </a:p>
        </p:txBody>
      </p:sp>
      <p:pic>
        <p:nvPicPr>
          <p:cNvPr id="13" name="图片 13"/>
          <p:cNvPicPr>
            <a:picLocks noChangeAspect="1"/>
          </p:cNvPicPr>
          <p:nvPr/>
        </p:nvPicPr>
        <p:blipFill>
          <a:blip r:embed="rId3"/>
          <a:stretch>
            <a:fillRect/>
          </a:stretch>
        </p:blipFill>
        <p:spPr>
          <a:xfrm>
            <a:off x="2299335" y="3299778"/>
            <a:ext cx="2202180" cy="1130935"/>
          </a:xfrm>
          <a:prstGeom prst="rect">
            <a:avLst/>
          </a:prstGeom>
          <a:ln>
            <a:solidFill>
              <a:srgbClr val="274991"/>
            </a:solidFill>
          </a:ln>
        </p:spPr>
      </p:pic>
      <p:pic>
        <p:nvPicPr>
          <p:cNvPr id="14" name="图片 14"/>
          <p:cNvPicPr>
            <a:picLocks noChangeAspect="1" noChangeArrowheads="1"/>
          </p:cNvPicPr>
          <p:nvPr/>
        </p:nvPicPr>
        <p:blipFill>
          <a:blip r:embed="rId4" cstate="print">
            <a:extLst>
              <a:ext uri="{28A0092B-C50C-407E-A947-70E740481C1C}">
                <a14:useLocalDpi xmlns:a14="http://schemas.microsoft.com/office/drawing/2010/main" val="0"/>
              </a:ext>
            </a:extLst>
          </a:blip>
          <a:srcRect l="4954" t="3510" r="12430" b="12072"/>
          <a:stretch>
            <a:fillRect/>
          </a:stretch>
        </p:blipFill>
        <p:spPr>
          <a:xfrm>
            <a:off x="5353368" y="3253105"/>
            <a:ext cx="1673225" cy="1282700"/>
          </a:xfrm>
          <a:prstGeom prst="rect">
            <a:avLst/>
          </a:prstGeom>
          <a:noFill/>
          <a:ln>
            <a:solidFill>
              <a:srgbClr val="27499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9.2.9高维数据可视化</a:t>
            </a:r>
          </a:p>
        </p:txBody>
      </p:sp>
      <p:sp>
        <p:nvSpPr>
          <p:cNvPr id="2" name="文本框 1"/>
          <p:cNvSpPr txBox="1"/>
          <p:nvPr/>
        </p:nvSpPr>
        <p:spPr>
          <a:xfrm>
            <a:off x="358140" y="1148715"/>
            <a:ext cx="8237855" cy="230695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a:ea typeface="等线" panose="02010600030101010101" pitchFamily="2" charset="-122"/>
              </a:rPr>
              <a:t>大数据的一个特性是维度高，如一个电商平台中商品的信息就高达上百个维度。人类最直观的是理解二维空间中的数据，因此高维数据可视化通常需要运用降维方法，以二维或三维的形式进行呈现。常用的高维数据可视化方法包括：Andrews曲线、平行坐标、RadViz图等，还需要使用降维算法，如主成分分析（PCA）、线性差别式分析（LDA）和多维缩放（MDS）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9.2.9高维数据可视化</a:t>
            </a:r>
          </a:p>
        </p:txBody>
      </p:sp>
      <p:sp>
        <p:nvSpPr>
          <p:cNvPr id="2" name="文本框 1"/>
          <p:cNvSpPr txBox="1"/>
          <p:nvPr/>
        </p:nvSpPr>
        <p:spPr>
          <a:xfrm>
            <a:off x="358140" y="944880"/>
            <a:ext cx="8427085" cy="46037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b="1"/>
              <a:t>1.Andrew曲线（Andrews curve）</a:t>
            </a:r>
          </a:p>
        </p:txBody>
      </p:sp>
      <p:sp>
        <p:nvSpPr>
          <p:cNvPr id="3" name="文本框 2"/>
          <p:cNvSpPr txBox="1"/>
          <p:nvPr/>
        </p:nvSpPr>
        <p:spPr>
          <a:xfrm>
            <a:off x="358140" y="1405255"/>
            <a:ext cx="5058410" cy="304609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a:ea typeface="等线" panose="02010600030101010101" pitchFamily="2" charset="-122"/>
              </a:rPr>
              <a:t>调和曲线图由Andrews于1972年提出，因此又叫Andrews plots或Andrews curve，是将多元数据以二维曲线展现的一种统计图，常用于表示多元数据的结构。</a:t>
            </a:r>
          </a:p>
          <a:p>
            <a:pPr indent="266700">
              <a:lnSpc>
                <a:spcPct val="120000"/>
              </a:lnSpc>
              <a:spcBef>
                <a:spcPts val="0"/>
              </a:spcBef>
              <a:spcAft>
                <a:spcPts val="0"/>
              </a:spcAft>
            </a:pPr>
            <a:r>
              <a:rPr lang="en-US" altLang="zh-CN" sz="2000">
                <a:ea typeface="等线" panose="02010600030101010101" pitchFamily="2" charset="-122"/>
              </a:rPr>
              <a:t>    </a:t>
            </a:r>
            <a:r>
              <a:rPr lang="zh-CN" altLang="en-US" sz="2000">
                <a:ea typeface="等线" panose="02010600030101010101" pitchFamily="2" charset="-122"/>
              </a:rPr>
              <a:t>右</a:t>
            </a:r>
            <a:r>
              <a:rPr sz="2000">
                <a:ea typeface="等线" panose="02010600030101010101" pitchFamily="2" charset="-122"/>
              </a:rPr>
              <a:t>图是Andrew曲线（Andrews curve）的一个示例，该图将Iris数据集（鸢尾花数据集）每个样本的属性值转化为傅里叶序列的系数来创建二维曲线。</a:t>
            </a:r>
          </a:p>
        </p:txBody>
      </p:sp>
      <p:pic>
        <p:nvPicPr>
          <p:cNvPr id="18" name="图片 18"/>
          <p:cNvPicPr>
            <a:picLocks noChangeAspect="1"/>
          </p:cNvPicPr>
          <p:nvPr/>
        </p:nvPicPr>
        <p:blipFill>
          <a:blip r:embed="rId3"/>
          <a:srcRect l="3454" t="6802" r="4959" b="2333"/>
          <a:stretch>
            <a:fillRect/>
          </a:stretch>
        </p:blipFill>
        <p:spPr>
          <a:xfrm>
            <a:off x="5700395" y="1841183"/>
            <a:ext cx="2205990" cy="1641475"/>
          </a:xfrm>
          <a:prstGeom prst="rect">
            <a:avLst/>
          </a:prstGeom>
          <a:ln>
            <a:noFill/>
          </a:ln>
        </p:spPr>
      </p:pic>
      <p:sp>
        <p:nvSpPr>
          <p:cNvPr id="100" name="文本框 99"/>
          <p:cNvSpPr txBox="1"/>
          <p:nvPr/>
        </p:nvSpPr>
        <p:spPr>
          <a:xfrm>
            <a:off x="4263390" y="3585845"/>
            <a:ext cx="5080000" cy="245110"/>
          </a:xfrm>
          <a:prstGeom prst="rect">
            <a:avLst/>
          </a:prstGeom>
          <a:noFill/>
          <a:ln w="9525">
            <a:noFill/>
          </a:ln>
        </p:spPr>
        <p:txBody>
          <a:bodyPr>
            <a:spAutoFit/>
          </a:bodyPr>
          <a:lstStyle/>
          <a:p>
            <a:pPr indent="0" algn="ctr"/>
            <a:r>
              <a:rPr lang="en-US" sz="900" b="0">
                <a:latin typeface="等线" panose="02010600030101010101" pitchFamily="2" charset="-122"/>
                <a:cs typeface="Times New Roman" panose="02020603050405020304" pitchFamily="18" charset="0"/>
              </a:rPr>
              <a:t> </a:t>
            </a:r>
            <a:r>
              <a:rPr lang="en-US" sz="1000" b="0">
                <a:latin typeface="等线" panose="02010600030101010101" pitchFamily="2" charset="-122"/>
                <a:cs typeface="Times New Roman" panose="02020603050405020304" pitchFamily="18" charset="0"/>
              </a:rPr>
              <a:t>Andrew</a:t>
            </a:r>
            <a:r>
              <a:rPr lang="zh-CN" sz="1000" b="0">
                <a:ea typeface="等线" panose="02010600030101010101" pitchFamily="2" charset="-122"/>
              </a:rPr>
              <a:t>图样例</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7097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9.2.9高维数据可视化</a:t>
            </a:r>
          </a:p>
        </p:txBody>
      </p:sp>
      <p:sp>
        <p:nvSpPr>
          <p:cNvPr id="2" name="文本框 1"/>
          <p:cNvSpPr txBox="1"/>
          <p:nvPr/>
        </p:nvSpPr>
        <p:spPr>
          <a:xfrm>
            <a:off x="358140" y="944880"/>
            <a:ext cx="8427085" cy="46037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b="1"/>
              <a:t>2.平行坐标图</a:t>
            </a:r>
          </a:p>
        </p:txBody>
      </p:sp>
      <p:sp>
        <p:nvSpPr>
          <p:cNvPr id="3" name="文本框 2"/>
          <p:cNvSpPr txBox="1"/>
          <p:nvPr/>
        </p:nvSpPr>
        <p:spPr>
          <a:xfrm>
            <a:off x="358140" y="1500505"/>
            <a:ext cx="4876165" cy="2306955"/>
          </a:xfrm>
          <a:prstGeom prst="rect">
            <a:avLst/>
          </a:prstGeom>
          <a:noFill/>
          <a:ln w="9525">
            <a:noFill/>
          </a:ln>
        </p:spPr>
        <p:txBody>
          <a:bodyPr wrap="square">
            <a:spAutoFit/>
          </a:bodyPr>
          <a:lstStyle/>
          <a:p>
            <a:pPr indent="266700">
              <a:lnSpc>
                <a:spcPct val="120000"/>
              </a:lnSpc>
              <a:spcBef>
                <a:spcPts val="0"/>
              </a:spcBef>
              <a:spcAft>
                <a:spcPts val="0"/>
              </a:spcAft>
            </a:pPr>
            <a:r>
              <a:rPr lang="en-US" sz="2000" b="0"/>
              <a:t>   </a:t>
            </a:r>
            <a:r>
              <a:rPr sz="2000">
                <a:ea typeface="等线" panose="02010600030101010101" pitchFamily="2" charset="-122"/>
              </a:rPr>
              <a:t>平行坐标图将多维数据的各个变量用一系列相互平行的坐标轴表示，并将不同变量的各点连接成折线，以反映变化趋势和各个变量间相互关系。平行坐标的样式如图所示。</a:t>
            </a:r>
          </a:p>
          <a:p>
            <a:pPr indent="266700">
              <a:lnSpc>
                <a:spcPct val="120000"/>
              </a:lnSpc>
              <a:spcBef>
                <a:spcPts val="0"/>
              </a:spcBef>
              <a:spcAft>
                <a:spcPts val="0"/>
              </a:spcAft>
            </a:pPr>
            <a:r>
              <a:rPr sz="2000" b="0"/>
              <a:t>   </a:t>
            </a:r>
          </a:p>
        </p:txBody>
      </p:sp>
      <p:sp>
        <p:nvSpPr>
          <p:cNvPr id="100" name="文本框 99"/>
          <p:cNvSpPr txBox="1"/>
          <p:nvPr/>
        </p:nvSpPr>
        <p:spPr>
          <a:xfrm>
            <a:off x="4064000" y="3394075"/>
            <a:ext cx="5080000" cy="245110"/>
          </a:xfrm>
          <a:prstGeom prst="rect">
            <a:avLst/>
          </a:prstGeom>
          <a:noFill/>
          <a:ln w="9525">
            <a:noFill/>
          </a:ln>
        </p:spPr>
        <p:txBody>
          <a:bodyPr>
            <a:spAutoFit/>
          </a:bodyPr>
          <a:lstStyle/>
          <a:p>
            <a:pPr indent="0" algn="ctr"/>
            <a:r>
              <a:rPr lang="en-US" sz="900" b="0">
                <a:latin typeface="等线" panose="02010600030101010101" pitchFamily="2" charset="-122"/>
                <a:cs typeface="Times New Roman" panose="02020603050405020304" pitchFamily="18" charset="0"/>
              </a:rPr>
              <a:t> </a:t>
            </a:r>
            <a:r>
              <a:rPr sz="1000" b="0"/>
              <a:t>平行坐标图样例</a:t>
            </a:r>
          </a:p>
        </p:txBody>
      </p:sp>
      <p:pic>
        <p:nvPicPr>
          <p:cNvPr id="17" name="图片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646103" y="1579880"/>
            <a:ext cx="2185035" cy="16395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253680" y="1914643"/>
            <a:ext cx="5291292"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219325" y="1131570"/>
            <a:ext cx="6555105" cy="645160"/>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数据可视化常用工具简介</a:t>
            </a:r>
          </a:p>
        </p:txBody>
      </p:sp>
      <p:sp>
        <p:nvSpPr>
          <p:cNvPr id="41" name="文本框 40"/>
          <p:cNvSpPr txBox="1">
            <a:spLocks noChangeArrowheads="1"/>
          </p:cNvSpPr>
          <p:nvPr/>
        </p:nvSpPr>
        <p:spPr bwMode="auto">
          <a:xfrm>
            <a:off x="848229" y="1054872"/>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微软雅黑" panose="020B0503020204020204" pitchFamily="34" charset="-122"/>
                <a:ea typeface="微软雅黑" panose="020B0503020204020204" pitchFamily="34" charset="-122"/>
                <a:cs typeface="IrisUPC" panose="020B0604020202020204" pitchFamily="34" charset="-34"/>
              </a:rPr>
              <a:t>9.3</a:t>
            </a:r>
          </a:p>
        </p:txBody>
      </p:sp>
      <p:sp>
        <p:nvSpPr>
          <p:cNvPr id="4" name="文本框 3"/>
          <p:cNvSpPr txBox="1"/>
          <p:nvPr/>
        </p:nvSpPr>
        <p:spPr>
          <a:xfrm>
            <a:off x="2253572" y="2121988"/>
            <a:ext cx="3654859" cy="707886"/>
          </a:xfrm>
          <a:prstGeom prst="rect">
            <a:avLst/>
          </a:prstGeom>
          <a:noFill/>
        </p:spPr>
        <p:txBody>
          <a:bodyPr wrap="square" rtlCol="0">
            <a:spAutoFit/>
          </a:bodyPr>
          <a:lstStyle/>
          <a:p>
            <a:pPr marL="285750" indent="-285750">
              <a:buFont typeface="Wingdings" panose="05000000000000000000" pitchFamily="2" charset="2"/>
              <a:buChar char="Ø"/>
            </a:pPr>
            <a:r>
              <a:rPr lang="en-US" altLang="zh-CN" sz="2000">
                <a:solidFill>
                  <a:schemeClr val="bg1"/>
                </a:solidFill>
                <a:latin typeface="微软雅黑" panose="020B0503020204020204" pitchFamily="34" charset="-122"/>
                <a:ea typeface="微软雅黑" panose="020B0503020204020204" pitchFamily="34" charset="-122"/>
              </a:rPr>
              <a:t>FineBI</a:t>
            </a:r>
            <a:r>
              <a:rPr lang="zh-CN" altLang="en-US" sz="2000">
                <a:solidFill>
                  <a:schemeClr val="bg1"/>
                </a:solidFill>
                <a:latin typeface="微软雅黑" panose="020B0503020204020204" pitchFamily="34" charset="-122"/>
                <a:ea typeface="微软雅黑" panose="020B0503020204020204" pitchFamily="34" charset="-122"/>
              </a:rPr>
              <a:t>数据可视化工具</a:t>
            </a:r>
            <a:endParaRPr lang="en-US" altLang="zh-CN" sz="200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en-US" altLang="zh-CN" sz="2000">
                <a:solidFill>
                  <a:schemeClr val="bg1"/>
                </a:solidFill>
                <a:latin typeface="微软雅黑" panose="020B0503020204020204" pitchFamily="34" charset="-122"/>
                <a:ea typeface="微软雅黑" panose="020B0503020204020204" pitchFamily="34" charset="-122"/>
              </a:rPr>
              <a:t>Python</a:t>
            </a:r>
            <a:r>
              <a:rPr lang="zh-CN" altLang="zh-CN" sz="2000">
                <a:solidFill>
                  <a:schemeClr val="bg1"/>
                </a:solidFill>
                <a:latin typeface="微软雅黑" panose="020B0503020204020204" pitchFamily="34" charset="-122"/>
                <a:ea typeface="微软雅黑" panose="020B0503020204020204" pitchFamily="34" charset="-122"/>
              </a:rPr>
              <a:t>的</a:t>
            </a:r>
            <a:r>
              <a:rPr lang="en-US" altLang="zh-CN" sz="2000">
                <a:solidFill>
                  <a:schemeClr val="bg1"/>
                </a:solidFill>
                <a:latin typeface="微软雅黑" panose="020B0503020204020204" pitchFamily="34" charset="-122"/>
                <a:ea typeface="微软雅黑" panose="020B0503020204020204" pitchFamily="34" charset="-122"/>
              </a:rPr>
              <a:t>Matplotlib</a:t>
            </a:r>
            <a:r>
              <a:rPr lang="zh-CN" altLang="zh-CN" sz="2000">
                <a:solidFill>
                  <a:schemeClr val="bg1"/>
                </a:solidFill>
                <a:latin typeface="微软雅黑" panose="020B0503020204020204" pitchFamily="34" charset="-122"/>
                <a:ea typeface="微软雅黑" panose="020B0503020204020204" pitchFamily="34" charset="-122"/>
              </a:rPr>
              <a:t>库简介</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9.3.1</a:t>
            </a:r>
            <a:r>
              <a:rPr lang="en-US"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FineBI</a:t>
            </a:r>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数据可视化工具简介</a:t>
            </a:r>
            <a:endPar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04140" y="868680"/>
            <a:ext cx="8881110" cy="2061398"/>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latin typeface="等线" panose="02010600030101010101" pitchFamily="2" charset="-122"/>
                <a:ea typeface="等线" panose="02010600030101010101" pitchFamily="2" charset="-122"/>
              </a:rPr>
              <a:t>    FineBI </a:t>
            </a:r>
            <a:r>
              <a:rPr lang="zh-CN" altLang="en-US" sz="2000">
                <a:latin typeface="等线" panose="02010600030101010101" pitchFamily="2" charset="-122"/>
                <a:ea typeface="等线" panose="02010600030101010101" pitchFamily="2" charset="-122"/>
              </a:rPr>
              <a:t>是帆软软件有限公司推出的一款商业智能（</a:t>
            </a:r>
            <a:r>
              <a:rPr lang="en-US" altLang="zh-CN" sz="2000">
                <a:latin typeface="等线" panose="02010600030101010101" pitchFamily="2" charset="-122"/>
                <a:ea typeface="等线" panose="02010600030101010101" pitchFamily="2" charset="-122"/>
              </a:rPr>
              <a:t>Business Intelligence</a:t>
            </a:r>
            <a:r>
              <a:rPr lang="zh-CN" altLang="en-US" sz="2000">
                <a:latin typeface="等线" panose="02010600030101010101" pitchFamily="2" charset="-122"/>
                <a:ea typeface="等线" panose="02010600030101010101" pitchFamily="2" charset="-122"/>
              </a:rPr>
              <a:t>）产品，是定位于自助大数据分析的</a:t>
            </a:r>
            <a:r>
              <a:rPr lang="en-US" altLang="zh-CN" sz="2000">
                <a:latin typeface="等线" panose="02010600030101010101" pitchFamily="2" charset="-122"/>
                <a:ea typeface="等线" panose="02010600030101010101" pitchFamily="2" charset="-122"/>
              </a:rPr>
              <a:t>BI</a:t>
            </a:r>
            <a:r>
              <a:rPr lang="zh-CN" altLang="en-US" sz="2000">
                <a:latin typeface="等线" panose="02010600030101010101" pitchFamily="2" charset="-122"/>
                <a:ea typeface="等线" panose="02010600030101010101" pitchFamily="2" charset="-122"/>
              </a:rPr>
              <a:t>工具，能够帮助企业的业务人员和数据分析师，开展以问题导向的探索式分析。</a:t>
            </a:r>
            <a:endParaRPr sz="2000">
              <a:latin typeface="等线" panose="02010600030101010101" pitchFamily="2" charset="-122"/>
              <a:ea typeface="等线" panose="02010600030101010101" pitchFamily="2" charset="-122"/>
            </a:endParaRP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lang="en-US" altLang="zh-CN" sz="2000">
                <a:latin typeface="等线" panose="02010600030101010101" pitchFamily="2" charset="-122"/>
                <a:cs typeface="等线" panose="02010600030101010101" pitchFamily="2" charset="-122"/>
              </a:rPr>
              <a:t>FineBI</a:t>
            </a:r>
            <a:r>
              <a:rPr lang="zh-CN" altLang="en-US" sz="2000">
                <a:latin typeface="等线" panose="02010600030101010101" pitchFamily="2" charset="-122"/>
                <a:cs typeface="等线" panose="02010600030101010101" pitchFamily="2" charset="-122"/>
              </a:rPr>
              <a:t>提供面向教育的免费版本（功能有所限制），可以用学生或教师的身份注册和下载软件，并获得永久使用的注册码</a:t>
            </a:r>
            <a:r>
              <a:rPr sz="2000">
                <a:latin typeface="等线" panose="02010600030101010101" pitchFamily="2" charset="-122"/>
                <a:ea typeface="等线" panose="02010600030101010101" pitchFamily="2" charset="-122"/>
                <a:cs typeface="等线"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9.3.1</a:t>
            </a:r>
            <a:r>
              <a:rPr lang="en-US" altLang="zh-CN"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FineBI</a:t>
            </a:r>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数据可视化工具简介</a:t>
            </a:r>
            <a:endPar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31445" y="713740"/>
            <a:ext cx="8881110" cy="459357"/>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b="1"/>
              <a:t>1.</a:t>
            </a:r>
            <a:r>
              <a:rPr lang="en-US" altLang="zh-CN" sz="2000" b="1"/>
              <a:t>FineBI</a:t>
            </a:r>
            <a:r>
              <a:rPr sz="2000" b="1"/>
              <a:t>的功能与特点</a:t>
            </a:r>
          </a:p>
        </p:txBody>
      </p:sp>
      <p:sp>
        <p:nvSpPr>
          <p:cNvPr id="2" name="文本框 1"/>
          <p:cNvSpPr txBox="1"/>
          <p:nvPr/>
        </p:nvSpPr>
        <p:spPr>
          <a:xfrm>
            <a:off x="131446" y="1060450"/>
            <a:ext cx="8774430" cy="1661289"/>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latin typeface="+mn-ea"/>
              </a:rPr>
              <a:t>FinBI</a:t>
            </a:r>
            <a:r>
              <a:rPr lang="zh-CN" altLang="en-US" sz="2000">
                <a:latin typeface="+mn-ea"/>
              </a:rPr>
              <a:t>的结构由数据层、应用层和表示层组成，如图 所示。其中数据层用于设计用户创建数据源；应用层用于设计用户进行仪表板设计，管理用户配置用户和权限体系；展示层让普通用户在前端进行可视化展示和分享来编辑和查看仪表板。</a:t>
            </a:r>
          </a:p>
        </p:txBody>
      </p:sp>
      <p:pic>
        <p:nvPicPr>
          <p:cNvPr id="5" name="图片 4" descr="1590398480205910.png">
            <a:extLst>
              <a:ext uri="{FF2B5EF4-FFF2-40B4-BE49-F238E27FC236}">
                <a16:creationId xmlns:a16="http://schemas.microsoft.com/office/drawing/2014/main" id="{6E128009-12A2-4122-BCB9-E8AD22379CC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2078" y="2571750"/>
            <a:ext cx="3733165" cy="20866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9.3.1</a:t>
            </a:r>
            <a:r>
              <a:rPr lang="en-US" altLang="zh-CN"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FineBI</a:t>
            </a:r>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数据可视化工具简介</a:t>
            </a:r>
            <a:endPar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0" y="878840"/>
            <a:ext cx="8939530" cy="860877"/>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latin typeface="+mn-ea"/>
              </a:rPr>
              <a:t>    FineBI </a:t>
            </a:r>
            <a:r>
              <a:rPr lang="zh-CN" altLang="en-US" sz="2000">
                <a:latin typeface="+mn-ea"/>
              </a:rPr>
              <a:t>拥有四大核心功能，分别为“数据准备”、“数据处理”、“数据分析”、“数据共享”，如图所示。</a:t>
            </a:r>
            <a:endParaRPr sz="2000"/>
          </a:p>
        </p:txBody>
      </p:sp>
      <p:pic>
        <p:nvPicPr>
          <p:cNvPr id="4" name="图片 3" descr="https://help.fanruan.com/finebi/uploads/20220311/1646966563MwLS.png">
            <a:extLst>
              <a:ext uri="{FF2B5EF4-FFF2-40B4-BE49-F238E27FC236}">
                <a16:creationId xmlns:a16="http://schemas.microsoft.com/office/drawing/2014/main" id="{04D96A6E-A50F-4C67-9538-537856AA954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4565" y="1927542"/>
            <a:ext cx="4077970" cy="176466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9.3.1</a:t>
            </a:r>
            <a:r>
              <a:rPr lang="en-US" altLang="zh-CN"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FineBI</a:t>
            </a:r>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数据可视化工具简介</a:t>
            </a:r>
            <a:endPar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0" y="878840"/>
            <a:ext cx="8939530" cy="86107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t>2.	</a:t>
            </a:r>
            <a:r>
              <a:rPr lang="zh-CN" altLang="en-US" sz="2000"/>
              <a:t>简单的</a:t>
            </a:r>
            <a:r>
              <a:rPr lang="en-US" altLang="zh-CN" sz="2000"/>
              <a:t>FineBI</a:t>
            </a:r>
            <a:r>
              <a:rPr lang="zh-CN" altLang="en-US" sz="2000"/>
              <a:t>使用案例</a:t>
            </a:r>
            <a:endParaRPr lang="en-US" altLang="zh-CN" sz="2000"/>
          </a:p>
          <a:p>
            <a:pPr indent="266700">
              <a:lnSpc>
                <a:spcPct val="130000"/>
              </a:lnSpc>
              <a:spcBef>
                <a:spcPts val="0"/>
              </a:spcBef>
              <a:spcAft>
                <a:spcPts val="0"/>
              </a:spcAft>
            </a:pPr>
            <a:r>
              <a:rPr lang="zh-CN" altLang="en-US" sz="2000">
                <a:latin typeface="等线" panose="02010600030101010101" pitchFamily="2" charset="-122"/>
              </a:rPr>
              <a:t>   用一个超市销售数据的可视化分析作为示例，介绍</a:t>
            </a:r>
            <a:r>
              <a:rPr lang="en-US" altLang="zh-CN" sz="2000">
                <a:latin typeface="等线" panose="02010600030101010101" pitchFamily="2" charset="-122"/>
              </a:rPr>
              <a:t>FineBI</a:t>
            </a:r>
            <a:r>
              <a:rPr lang="zh-CN" altLang="en-US" sz="2000">
                <a:latin typeface="等线" panose="02010600030101010101" pitchFamily="2" charset="-122"/>
              </a:rPr>
              <a:t>的功能与使用方法。</a:t>
            </a:r>
            <a:endParaRPr sz="2000">
              <a:latin typeface="等线" panose="02010600030101010101" pitchFamily="2" charset="-122"/>
              <a:ea typeface="等线" panose="02010600030101010101" pitchFamily="2" charset="-122"/>
            </a:endParaRPr>
          </a:p>
        </p:txBody>
      </p:sp>
      <p:pic>
        <p:nvPicPr>
          <p:cNvPr id="8" name="图片 7">
            <a:extLst>
              <a:ext uri="{FF2B5EF4-FFF2-40B4-BE49-F238E27FC236}">
                <a16:creationId xmlns:a16="http://schemas.microsoft.com/office/drawing/2014/main" id="{67C8484F-6E25-4025-BA8A-E61F90409A99}"/>
              </a:ext>
            </a:extLst>
          </p:cNvPr>
          <p:cNvPicPr/>
          <p:nvPr/>
        </p:nvPicPr>
        <p:blipFill>
          <a:blip r:embed="rId3"/>
          <a:stretch>
            <a:fillRect/>
          </a:stretch>
        </p:blipFill>
        <p:spPr>
          <a:xfrm>
            <a:off x="298448" y="1769908"/>
            <a:ext cx="8242302" cy="2170462"/>
          </a:xfrm>
          <a:prstGeom prst="rect">
            <a:avLst/>
          </a:prstGeom>
        </p:spPr>
      </p:pic>
      <p:sp>
        <p:nvSpPr>
          <p:cNvPr id="3" name="矩形 2">
            <a:extLst>
              <a:ext uri="{FF2B5EF4-FFF2-40B4-BE49-F238E27FC236}">
                <a16:creationId xmlns:a16="http://schemas.microsoft.com/office/drawing/2014/main" id="{3E550095-17C7-4545-ADAF-670AA732507C}"/>
              </a:ext>
            </a:extLst>
          </p:cNvPr>
          <p:cNvSpPr/>
          <p:nvPr/>
        </p:nvSpPr>
        <p:spPr>
          <a:xfrm>
            <a:off x="730249" y="3970369"/>
            <a:ext cx="7261225" cy="683777"/>
          </a:xfrm>
          <a:prstGeom prst="rect">
            <a:avLst/>
          </a:prstGeom>
        </p:spPr>
        <p:txBody>
          <a:bodyPr wrap="square">
            <a:spAutoFit/>
          </a:bodyPr>
          <a:lstStyle/>
          <a:p>
            <a:pPr>
              <a:lnSpc>
                <a:spcPct val="150000"/>
              </a:lnSpc>
            </a:pPr>
            <a:r>
              <a:rPr lang="zh-CN" altLang="en-US"/>
              <a:t>        该超市销售数据表的字段有</a:t>
            </a:r>
            <a:r>
              <a:rPr lang="en-US" altLang="zh-CN"/>
              <a:t>13</a:t>
            </a:r>
            <a:r>
              <a:rPr lang="zh-CN" altLang="en-US"/>
              <a:t>个：日期、城市、单据编码 、门店编码、门店名称、商品编码、商品类别、商品名称、省份、成本额、毛利额、数量和销售额。</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9.3.1</a:t>
            </a:r>
            <a:r>
              <a:rPr lang="en-US" altLang="zh-CN"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FineBI</a:t>
            </a:r>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数据可视化工具简介</a:t>
            </a:r>
            <a:endPar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pic>
        <p:nvPicPr>
          <p:cNvPr id="11" name="图片 10">
            <a:extLst>
              <a:ext uri="{FF2B5EF4-FFF2-40B4-BE49-F238E27FC236}">
                <a16:creationId xmlns:a16="http://schemas.microsoft.com/office/drawing/2014/main" id="{A24238E6-8420-4C53-B92C-D266DD373E85}"/>
              </a:ext>
            </a:extLst>
          </p:cNvPr>
          <p:cNvPicPr/>
          <p:nvPr/>
        </p:nvPicPr>
        <p:blipFill>
          <a:blip r:embed="rId3"/>
          <a:stretch>
            <a:fillRect/>
          </a:stretch>
        </p:blipFill>
        <p:spPr>
          <a:xfrm>
            <a:off x="80645" y="2127705"/>
            <a:ext cx="5274310" cy="2181860"/>
          </a:xfrm>
          <a:prstGeom prst="rect">
            <a:avLst/>
          </a:prstGeom>
        </p:spPr>
      </p:pic>
      <p:sp>
        <p:nvSpPr>
          <p:cNvPr id="2" name="矩形 1">
            <a:extLst>
              <a:ext uri="{FF2B5EF4-FFF2-40B4-BE49-F238E27FC236}">
                <a16:creationId xmlns:a16="http://schemas.microsoft.com/office/drawing/2014/main" id="{D4847897-364A-476B-99D8-807851091C1B}"/>
              </a:ext>
            </a:extLst>
          </p:cNvPr>
          <p:cNvSpPr/>
          <p:nvPr/>
        </p:nvSpPr>
        <p:spPr>
          <a:xfrm>
            <a:off x="318770" y="1624784"/>
            <a:ext cx="1417376" cy="300082"/>
          </a:xfrm>
          <a:prstGeom prst="rect">
            <a:avLst/>
          </a:prstGeom>
        </p:spPr>
        <p:txBody>
          <a:bodyPr wrap="none">
            <a:spAutoFit/>
          </a:bodyPr>
          <a:lstStyle/>
          <a:p>
            <a:r>
              <a:rPr lang="en-US" altLang="zh-CN"/>
              <a:t>(1)</a:t>
            </a:r>
            <a:r>
              <a:rPr lang="zh-CN" altLang="en-US"/>
              <a:t>连接到数据源</a:t>
            </a:r>
          </a:p>
        </p:txBody>
      </p:sp>
      <p:sp>
        <p:nvSpPr>
          <p:cNvPr id="3" name="矩形 2">
            <a:extLst>
              <a:ext uri="{FF2B5EF4-FFF2-40B4-BE49-F238E27FC236}">
                <a16:creationId xmlns:a16="http://schemas.microsoft.com/office/drawing/2014/main" id="{F7E5F8CA-9699-44A4-B3C6-4CAA6270C000}"/>
              </a:ext>
            </a:extLst>
          </p:cNvPr>
          <p:cNvSpPr/>
          <p:nvPr/>
        </p:nvSpPr>
        <p:spPr>
          <a:xfrm>
            <a:off x="4790022" y="82204"/>
            <a:ext cx="2183611" cy="307777"/>
          </a:xfrm>
          <a:prstGeom prst="rect">
            <a:avLst/>
          </a:prstGeom>
        </p:spPr>
        <p:txBody>
          <a:bodyPr wrap="none">
            <a:spAutoFit/>
          </a:bodyPr>
          <a:lstStyle/>
          <a:p>
            <a:r>
              <a:rPr lang="en-US" altLang="zh-CN" sz="1400" b="1" kern="100">
                <a:cs typeface="Times New Roman" panose="02020603050405020304" pitchFamily="18" charset="0"/>
              </a:rPr>
              <a:t>(2)</a:t>
            </a:r>
            <a:r>
              <a:rPr lang="zh-CN" altLang="zh-CN" sz="1400" b="1" kern="100">
                <a:cs typeface="Times New Roman" panose="02020603050405020304" pitchFamily="18" charset="0"/>
              </a:rPr>
              <a:t>创建组件和可视化数据</a:t>
            </a:r>
            <a:endParaRPr lang="zh-CN" altLang="en-US"/>
          </a:p>
        </p:txBody>
      </p:sp>
      <p:pic>
        <p:nvPicPr>
          <p:cNvPr id="9" name="图片 8">
            <a:extLst>
              <a:ext uri="{FF2B5EF4-FFF2-40B4-BE49-F238E27FC236}">
                <a16:creationId xmlns:a16="http://schemas.microsoft.com/office/drawing/2014/main" id="{543AFA94-260D-4147-B972-741C9759DA0B}"/>
              </a:ext>
            </a:extLst>
          </p:cNvPr>
          <p:cNvPicPr/>
          <p:nvPr/>
        </p:nvPicPr>
        <p:blipFill>
          <a:blip r:embed="rId4"/>
          <a:stretch>
            <a:fillRect/>
          </a:stretch>
        </p:blipFill>
        <p:spPr>
          <a:xfrm>
            <a:off x="4652645" y="488633"/>
            <a:ext cx="3954780" cy="1879918"/>
          </a:xfrm>
          <a:prstGeom prst="rect">
            <a:avLst/>
          </a:prstGeom>
        </p:spPr>
      </p:pic>
      <p:pic>
        <p:nvPicPr>
          <p:cNvPr id="10" name="图片 9">
            <a:extLst>
              <a:ext uri="{FF2B5EF4-FFF2-40B4-BE49-F238E27FC236}">
                <a16:creationId xmlns:a16="http://schemas.microsoft.com/office/drawing/2014/main" id="{34DA9B10-9AFC-471F-92F1-6317C751D24E}"/>
              </a:ext>
            </a:extLst>
          </p:cNvPr>
          <p:cNvPicPr/>
          <p:nvPr/>
        </p:nvPicPr>
        <p:blipFill>
          <a:blip r:embed="rId5"/>
          <a:stretch>
            <a:fillRect/>
          </a:stretch>
        </p:blipFill>
        <p:spPr>
          <a:xfrm>
            <a:off x="4737099" y="2895601"/>
            <a:ext cx="4281805" cy="2032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3" name="文本框 2"/>
          <p:cNvSpPr txBox="1"/>
          <p:nvPr/>
        </p:nvSpPr>
        <p:spPr>
          <a:xfrm>
            <a:off x="373380" y="869950"/>
            <a:ext cx="8101330" cy="20916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latin typeface="等线" panose="02010600030101010101" pitchFamily="2" charset="-122"/>
                <a:ea typeface="等线" panose="02010600030101010101" pitchFamily="2" charset="-122"/>
              </a:rPr>
              <a:t>Matplotlib是一个综合性的Python绘图库（https://matplotlib.org/index.html），用于在Python中创建静态、动画和交互式的可视化图表。Matplotlib能够生成各种格式的图形（诸如折线图，散点图，直方图等等），界面可交互（可以利用鼠标对生成图形进行点击操作），生成的图形质量较高，甚至可以达到出版级别。</a:t>
            </a:r>
          </a:p>
        </p:txBody>
      </p:sp>
      <p:sp>
        <p:nvSpPr>
          <p:cNvPr id="100" name="文本框 99"/>
          <p:cNvSpPr txBox="1"/>
          <p:nvPr/>
        </p:nvSpPr>
        <p:spPr>
          <a:xfrm>
            <a:off x="774700" y="2961640"/>
            <a:ext cx="5080000" cy="398780"/>
          </a:xfrm>
          <a:prstGeom prst="rect">
            <a:avLst/>
          </a:prstGeom>
          <a:noFill/>
          <a:ln w="9525">
            <a:noFill/>
          </a:ln>
        </p:spPr>
        <p:txBody>
          <a:bodyPr>
            <a:spAutoFit/>
          </a:bodyPr>
          <a:lstStyle/>
          <a:p>
            <a:pPr marL="180340" indent="-180340"/>
            <a:r>
              <a:rPr lang="en-US" sz="2000" b="1">
                <a:latin typeface="等线" panose="02010600030101010101" pitchFamily="2" charset="-122"/>
              </a:rPr>
              <a:t>1. </a:t>
            </a:r>
            <a:r>
              <a:rPr lang="zh-CN" sz="2000" b="1">
                <a:ea typeface="等线" panose="02010600030101010101" pitchFamily="2" charset="-122"/>
              </a:rPr>
              <a:t>安装</a:t>
            </a:r>
            <a:r>
              <a:rPr lang="en-US" sz="2000" b="1">
                <a:latin typeface="等线" panose="02010600030101010101" pitchFamily="2" charset="-122"/>
                <a:cs typeface="Times New Roman" panose="02020603050405020304" pitchFamily="18" charset="0"/>
              </a:rPr>
              <a:t>Matplotlib</a:t>
            </a:r>
            <a:r>
              <a:rPr lang="zh-CN" sz="2000" b="1">
                <a:ea typeface="等线" panose="02010600030101010101" pitchFamily="2" charset="-122"/>
              </a:rPr>
              <a:t>库</a:t>
            </a:r>
            <a:endParaRPr lang="zh-CN" altLang="en-US" sz="2000"/>
          </a:p>
        </p:txBody>
      </p:sp>
      <p:sp>
        <p:nvSpPr>
          <p:cNvPr id="4" name="文本框 3"/>
          <p:cNvSpPr txBox="1"/>
          <p:nvPr/>
        </p:nvSpPr>
        <p:spPr>
          <a:xfrm>
            <a:off x="373380" y="3360420"/>
            <a:ext cx="9029700" cy="8915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latin typeface="等线" panose="02010600030101010101" pitchFamily="2" charset="-122"/>
                <a:ea typeface="等线" panose="02010600030101010101" pitchFamily="2" charset="-122"/>
              </a:rPr>
              <a:t>在Python程序使用Matplotlib库之前，需要将其安装到本地：</a:t>
            </a:r>
          </a:p>
          <a:p>
            <a:pPr indent="266700">
              <a:lnSpc>
                <a:spcPct val="130000"/>
              </a:lnSpc>
              <a:spcBef>
                <a:spcPts val="0"/>
              </a:spcBef>
              <a:spcAft>
                <a:spcPts val="0"/>
              </a:spcAft>
            </a:pPr>
            <a:r>
              <a:rPr sz="2000">
                <a:latin typeface="等线" panose="02010600030101010101" pitchFamily="2" charset="-122"/>
                <a:ea typeface="等线" panose="02010600030101010101" pitchFamily="2" charset="-122"/>
              </a:rPr>
              <a:t>pip3 install matplotlib</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100" name="文本框 99"/>
          <p:cNvSpPr txBox="1"/>
          <p:nvPr/>
        </p:nvSpPr>
        <p:spPr>
          <a:xfrm>
            <a:off x="692785" y="1021715"/>
            <a:ext cx="5080000" cy="398780"/>
          </a:xfrm>
          <a:prstGeom prst="rect">
            <a:avLst/>
          </a:prstGeom>
          <a:noFill/>
          <a:ln w="9525">
            <a:noFill/>
          </a:ln>
        </p:spPr>
        <p:txBody>
          <a:bodyPr>
            <a:spAutoFit/>
          </a:bodyPr>
          <a:lstStyle/>
          <a:p>
            <a:pPr marL="180340" indent="-180340"/>
            <a:r>
              <a:rPr lang="en-US" sz="2000" b="1">
                <a:latin typeface="等线" panose="02010600030101010101" pitchFamily="2" charset="-122"/>
              </a:rPr>
              <a:t> </a:t>
            </a:r>
            <a:r>
              <a:rPr sz="2000" b="1"/>
              <a:t>2.一个简单的Matplotlib绘图实例</a:t>
            </a:r>
          </a:p>
        </p:txBody>
      </p:sp>
      <p:sp>
        <p:nvSpPr>
          <p:cNvPr id="4" name="文本框 3"/>
          <p:cNvSpPr txBox="1"/>
          <p:nvPr/>
        </p:nvSpPr>
        <p:spPr>
          <a:xfrm>
            <a:off x="365760" y="1420495"/>
            <a:ext cx="7629378" cy="46096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latin typeface="等线" panose="02010600030101010101" pitchFamily="2" charset="-122"/>
                <a:ea typeface="等线" panose="02010600030101010101" pitchFamily="2" charset="-122"/>
              </a:rPr>
              <a:t>本实例用Matplotlib的plot函数绘制一条曲线，源代码如下：</a:t>
            </a:r>
          </a:p>
        </p:txBody>
      </p:sp>
      <p:sp>
        <p:nvSpPr>
          <p:cNvPr id="2" name="矩形 1">
            <a:extLst>
              <a:ext uri="{FF2B5EF4-FFF2-40B4-BE49-F238E27FC236}">
                <a16:creationId xmlns:a16="http://schemas.microsoft.com/office/drawing/2014/main" id="{D3AEA3FF-7634-46F4-A60C-C03AC96F95CD}"/>
              </a:ext>
            </a:extLst>
          </p:cNvPr>
          <p:cNvSpPr/>
          <p:nvPr/>
        </p:nvSpPr>
        <p:spPr>
          <a:xfrm>
            <a:off x="1549791" y="2067605"/>
            <a:ext cx="5760720" cy="246221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spcAft>
                <a:spcPts val="0"/>
              </a:spcAft>
            </a:pPr>
            <a:r>
              <a:rPr lang="en-US" altLang="zh-CN" sz="1400" kern="100">
                <a:latin typeface="等线" panose="02010600030101010101" pitchFamily="2" charset="-122"/>
                <a:cs typeface="Times New Roman" panose="02020603050405020304" pitchFamily="18" charset="0"/>
              </a:rPr>
              <a:t>#</a:t>
            </a:r>
            <a:r>
              <a:rPr lang="zh-CN" altLang="zh-CN" sz="1400" kern="100">
                <a:latin typeface="等线" panose="02010600030101010101" pitchFamily="2" charset="-122"/>
                <a:cs typeface="Times New Roman" panose="02020603050405020304" pitchFamily="18" charset="0"/>
              </a:rPr>
              <a:t>绘制曲线示例代码</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from matplotlib import pyplot as plt   #</a:t>
            </a:r>
            <a:r>
              <a:rPr lang="zh-CN" altLang="zh-CN" sz="1400" kern="100">
                <a:solidFill>
                  <a:srgbClr val="000000"/>
                </a:solidFill>
                <a:latin typeface="等线" panose="02010600030101010101" pitchFamily="2" charset="-122"/>
                <a:cs typeface="Times New Roman" panose="02020603050405020304" pitchFamily="18" charset="0"/>
              </a:rPr>
              <a:t>引入</a:t>
            </a:r>
            <a:r>
              <a:rPr lang="en-US" altLang="zh-CN" sz="1400" kern="100">
                <a:solidFill>
                  <a:srgbClr val="000000"/>
                </a:solidFill>
                <a:latin typeface="等线" panose="02010600030101010101" pitchFamily="2" charset="-122"/>
                <a:cs typeface="Times New Roman" panose="02020603050405020304" pitchFamily="18" charset="0"/>
              </a:rPr>
              <a:t>matplotlib</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x = [1, 2, 3, 4]  </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y = [1, 4, 2, 3] </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fig = plt.figure()               #</a:t>
            </a:r>
            <a:r>
              <a:rPr lang="zh-CN" altLang="zh-CN" sz="1400" kern="100">
                <a:solidFill>
                  <a:srgbClr val="000000"/>
                </a:solidFill>
                <a:latin typeface="等线" panose="02010600030101010101" pitchFamily="2" charset="-122"/>
                <a:cs typeface="Times New Roman" panose="02020603050405020304" pitchFamily="18" charset="0"/>
              </a:rPr>
              <a:t>创建一个</a:t>
            </a:r>
            <a:r>
              <a:rPr lang="en-US" altLang="zh-CN" sz="1400" kern="100">
                <a:solidFill>
                  <a:srgbClr val="000000"/>
                </a:solidFill>
                <a:latin typeface="等线" panose="02010600030101010101" pitchFamily="2" charset="-122"/>
                <a:cs typeface="Times New Roman" panose="02020603050405020304" pitchFamily="18" charset="0"/>
              </a:rPr>
              <a:t>Figure</a:t>
            </a:r>
            <a:r>
              <a:rPr lang="zh-CN" altLang="zh-CN" sz="1400" kern="100">
                <a:solidFill>
                  <a:srgbClr val="000000"/>
                </a:solidFill>
                <a:latin typeface="等线" panose="02010600030101010101" pitchFamily="2" charset="-122"/>
                <a:cs typeface="Times New Roman" panose="02020603050405020304" pitchFamily="18" charset="0"/>
              </a:rPr>
              <a:t>对象用于容纳</a:t>
            </a:r>
            <a:r>
              <a:rPr lang="en-US" altLang="zh-CN" sz="1400" kern="100">
                <a:solidFill>
                  <a:srgbClr val="000000"/>
                </a:solidFill>
                <a:latin typeface="等线" panose="02010600030101010101" pitchFamily="2" charset="-122"/>
                <a:cs typeface="Times New Roman" panose="02020603050405020304" pitchFamily="18" charset="0"/>
              </a:rPr>
              <a:t>Axes</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ax = fig.add_subplot()      #</a:t>
            </a:r>
            <a:r>
              <a:rPr lang="zh-CN" altLang="zh-CN" sz="1400" kern="100">
                <a:solidFill>
                  <a:srgbClr val="000000"/>
                </a:solidFill>
                <a:latin typeface="等线" panose="02010600030101010101" pitchFamily="2" charset="-122"/>
                <a:cs typeface="Times New Roman" panose="02020603050405020304" pitchFamily="18" charset="0"/>
              </a:rPr>
              <a:t>添加一个</a:t>
            </a:r>
            <a:r>
              <a:rPr lang="en-US" altLang="zh-CN" sz="1400" kern="100">
                <a:solidFill>
                  <a:srgbClr val="000000"/>
                </a:solidFill>
                <a:latin typeface="等线" panose="02010600030101010101" pitchFamily="2" charset="-122"/>
                <a:cs typeface="Times New Roman" panose="02020603050405020304" pitchFamily="18" charset="0"/>
              </a:rPr>
              <a:t>Axes</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ax.plot(x, y)                       #</a:t>
            </a:r>
            <a:r>
              <a:rPr lang="zh-CN" altLang="zh-CN" sz="1400" kern="100">
                <a:solidFill>
                  <a:srgbClr val="000000"/>
                </a:solidFill>
                <a:latin typeface="等线" panose="02010600030101010101" pitchFamily="2" charset="-122"/>
                <a:cs typeface="Times New Roman" panose="02020603050405020304" pitchFamily="18" charset="0"/>
              </a:rPr>
              <a:t>在</a:t>
            </a:r>
            <a:r>
              <a:rPr lang="en-US" altLang="zh-CN" sz="1400" kern="100">
                <a:solidFill>
                  <a:srgbClr val="000000"/>
                </a:solidFill>
                <a:latin typeface="等线" panose="02010600030101010101" pitchFamily="2" charset="-122"/>
                <a:cs typeface="Times New Roman" panose="02020603050405020304" pitchFamily="18" charset="0"/>
              </a:rPr>
              <a:t>Axes</a:t>
            </a:r>
            <a:r>
              <a:rPr lang="zh-CN" altLang="zh-CN" sz="1400" kern="100">
                <a:solidFill>
                  <a:srgbClr val="000000"/>
                </a:solidFill>
                <a:latin typeface="等线" panose="02010600030101010101" pitchFamily="2" charset="-122"/>
                <a:cs typeface="Times New Roman" panose="02020603050405020304" pitchFamily="18" charset="0"/>
              </a:rPr>
              <a:t>上绘制曲线图形</a:t>
            </a:r>
            <a:r>
              <a:rPr lang="en-US" altLang="zh-CN" sz="1400" kern="100">
                <a:solidFill>
                  <a:srgbClr val="000000"/>
                </a:solidFill>
                <a:latin typeface="等线" panose="02010600030101010101" pitchFamily="2" charset="-122"/>
                <a:cs typeface="Times New Roman" panose="02020603050405020304" pitchFamily="18" charset="0"/>
              </a:rPr>
              <a: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ax.set_title("A simple Matplotlib demo")</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ax.set_xlabel("X axis label") </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solidFill>
                  <a:srgbClr val="000000"/>
                </a:solidFill>
                <a:latin typeface="等线" panose="02010600030101010101" pitchFamily="2" charset="-122"/>
                <a:cs typeface="Times New Roman" panose="02020603050405020304" pitchFamily="18" charset="0"/>
              </a:rPr>
              <a:t>ax.set_ylabel("Y axis label”) </a:t>
            </a:r>
            <a:endParaRPr lang="zh-CN" altLang="zh-CN" sz="1800" kern="100">
              <a:latin typeface="等线" panose="02010600030101010101" pitchFamily="2" charset="-122"/>
              <a:cs typeface="Times New Roman" panose="02020603050405020304" pitchFamily="18" charset="0"/>
            </a:endParaRPr>
          </a:p>
          <a:p>
            <a:r>
              <a:rPr lang="en-US" altLang="zh-CN" sz="1400" kern="100">
                <a:solidFill>
                  <a:srgbClr val="000000"/>
                </a:solidFill>
                <a:latin typeface="等线" panose="02010600030101010101" pitchFamily="2" charset="-122"/>
                <a:cs typeface="Times New Roman" panose="02020603050405020304" pitchFamily="18" charset="0"/>
              </a:rPr>
              <a:t>plt.show()</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4" name="文本框 3"/>
          <p:cNvSpPr txBox="1"/>
          <p:nvPr/>
        </p:nvSpPr>
        <p:spPr>
          <a:xfrm>
            <a:off x="114300" y="1365250"/>
            <a:ext cx="4457700" cy="459357"/>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t>本实例呈现的效果如图所示。</a:t>
            </a:r>
          </a:p>
        </p:txBody>
      </p:sp>
      <p:pic>
        <p:nvPicPr>
          <p:cNvPr id="193557" name="图片 1935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227955" y="1596708"/>
            <a:ext cx="2713990" cy="1948815"/>
          </a:xfrm>
          <a:prstGeom prst="rect">
            <a:avLst/>
          </a:prstGeom>
          <a:noFill/>
          <a:ln>
            <a:noFill/>
          </a:ln>
        </p:spPr>
      </p:pic>
      <p:sp>
        <p:nvSpPr>
          <p:cNvPr id="2" name="文本框 1"/>
          <p:cNvSpPr txBox="1"/>
          <p:nvPr/>
        </p:nvSpPr>
        <p:spPr>
          <a:xfrm>
            <a:off x="281305" y="1725930"/>
            <a:ext cx="4869180"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a:ea typeface="等线" panose="02010600030101010101" pitchFamily="2" charset="-122"/>
              </a:rPr>
              <a:t>    </a:t>
            </a:r>
            <a:r>
              <a:rPr lang="zh-CN" sz="2000" b="1">
                <a:ea typeface="等线" panose="02010600030101010101" pitchFamily="2" charset="-122"/>
              </a:rPr>
              <a:t>注：</a:t>
            </a:r>
            <a:r>
              <a:rPr lang="zh-CN" sz="2000" b="0">
                <a:ea typeface="等线" panose="02010600030101010101" pitchFamily="2" charset="-122"/>
              </a:rPr>
              <a:t>如果不创建</a:t>
            </a:r>
            <a:r>
              <a:rPr lang="en-US" sz="2000" b="0">
                <a:latin typeface="等线" panose="02010600030101010101" pitchFamily="2" charset="-122"/>
                <a:cs typeface="Times New Roman" panose="02020603050405020304" pitchFamily="18" charset="0"/>
              </a:rPr>
              <a:t>A</a:t>
            </a:r>
            <a:r>
              <a:rPr lang="zh-CN" sz="2000" b="0">
                <a:ea typeface="等线" panose="02010600030101010101" pitchFamily="2" charset="-122"/>
                <a:cs typeface="Times New Roman" panose="02020603050405020304" pitchFamily="18" charset="0"/>
              </a:rPr>
              <a:t>xes对象</a:t>
            </a:r>
            <a:r>
              <a:rPr lang="zh-CN" sz="2000" b="0">
                <a:ea typeface="等线" panose="02010600030101010101" pitchFamily="2" charset="-122"/>
              </a:rPr>
              <a:t>（坐标轴），直接用</a:t>
            </a:r>
            <a:r>
              <a:rPr lang="en-US" sz="2000" b="0">
                <a:latin typeface="等线" panose="02010600030101010101" pitchFamily="2" charset="-122"/>
                <a:cs typeface="Times New Roman" panose="02020603050405020304" pitchFamily="18" charset="0"/>
              </a:rPr>
              <a:t>plt.plot()</a:t>
            </a:r>
            <a:r>
              <a:rPr lang="zh-CN" sz="2000" b="0">
                <a:ea typeface="等线" panose="02010600030101010101" pitchFamily="2" charset="-122"/>
              </a:rPr>
              <a:t>也可以绘制图形，但在处理复杂的绘图工作时，还是需要使用</a:t>
            </a:r>
            <a:r>
              <a:rPr lang="zh-CN" sz="2000" b="0">
                <a:ea typeface="等线" panose="02010600030101010101" pitchFamily="2" charset="-122"/>
                <a:cs typeface="Times New Roman" panose="02020603050405020304" pitchFamily="18" charset="0"/>
              </a:rPr>
              <a:t> Axes 来完成作画。</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2" name="文本框 1"/>
          <p:cNvSpPr txBox="1"/>
          <p:nvPr/>
        </p:nvSpPr>
        <p:spPr>
          <a:xfrm>
            <a:off x="224790" y="1175385"/>
            <a:ext cx="8337550" cy="249174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a:ea typeface="等线" panose="02010600030101010101" pitchFamily="2" charset="-122"/>
              </a:rPr>
              <a:t>Axes（坐标轴）是图像中的一个区域和数据空间，一个Figure可以包含多个Axes。Axes包含两个（或在3D情况下为三个）轴对象（x轴和y轴），它们负责数据范围限制（用set_xlim()和set_ylim()方法设定坐标轴的数据范围）。</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每个Axes都有一个标题（通过set_title()设置）、一个x标签（通过set_xlabel()设置）和一个y标签（通过set_ylabel()设置）。</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pic>
        <p:nvPicPr>
          <p:cNvPr id="4" name="图片 3">
            <a:extLst>
              <a:ext uri="{FF2B5EF4-FFF2-40B4-BE49-F238E27FC236}">
                <a16:creationId xmlns:a16="http://schemas.microsoft.com/office/drawing/2014/main" id="{9CA382EC-53BF-4751-805A-B3EDC9CE6DA9}"/>
              </a:ext>
            </a:extLst>
          </p:cNvPr>
          <p:cNvPicPr/>
          <p:nvPr/>
        </p:nvPicPr>
        <p:blipFill>
          <a:blip r:embed="rId3"/>
          <a:stretch>
            <a:fillRect/>
          </a:stretch>
        </p:blipFill>
        <p:spPr>
          <a:xfrm>
            <a:off x="5468620" y="893929"/>
            <a:ext cx="3567430" cy="3509796"/>
          </a:xfrm>
          <a:prstGeom prst="rect">
            <a:avLst/>
          </a:prstGeom>
        </p:spPr>
      </p:pic>
      <p:sp>
        <p:nvSpPr>
          <p:cNvPr id="3" name="矩形 2">
            <a:extLst>
              <a:ext uri="{FF2B5EF4-FFF2-40B4-BE49-F238E27FC236}">
                <a16:creationId xmlns:a16="http://schemas.microsoft.com/office/drawing/2014/main" id="{EBD6FDA2-3149-4261-913C-EA459F56A10D}"/>
              </a:ext>
            </a:extLst>
          </p:cNvPr>
          <p:cNvSpPr/>
          <p:nvPr/>
        </p:nvSpPr>
        <p:spPr>
          <a:xfrm>
            <a:off x="225425" y="1078697"/>
            <a:ext cx="5035550" cy="1028871"/>
          </a:xfrm>
          <a:prstGeom prst="rect">
            <a:avLst/>
          </a:prstGeom>
        </p:spPr>
        <p:txBody>
          <a:bodyPr wrap="square">
            <a:spAutoFit/>
          </a:bodyPr>
          <a:lstStyle/>
          <a:p>
            <a:pPr>
              <a:lnSpc>
                <a:spcPct val="150000"/>
              </a:lnSpc>
            </a:pPr>
            <a:r>
              <a:rPr lang="en-US" altLang="zh-CN" sz="1400" kern="100">
                <a:latin typeface="等线" panose="02010600030101010101" pitchFamily="2" charset="-122"/>
                <a:cs typeface="Times New Roman" panose="02020603050405020304" pitchFamily="18" charset="0"/>
              </a:rPr>
              <a:t>       Matplotlib</a:t>
            </a:r>
            <a:r>
              <a:rPr lang="zh-CN" altLang="zh-CN" sz="1400" kern="100">
                <a:cs typeface="Times New Roman" panose="02020603050405020304" pitchFamily="18" charset="0"/>
              </a:rPr>
              <a:t>图形主要的组成部分包括一个</a:t>
            </a:r>
            <a:r>
              <a:rPr lang="en-US" altLang="zh-CN" sz="1400" kern="100">
                <a:cs typeface="Times New Roman" panose="02020603050405020304" pitchFamily="18" charset="0"/>
              </a:rPr>
              <a:t>Figure</a:t>
            </a:r>
            <a:r>
              <a:rPr lang="zh-CN" altLang="zh-CN" sz="1400" kern="100">
                <a:cs typeface="Times New Roman" panose="02020603050405020304" pitchFamily="18" charset="0"/>
              </a:rPr>
              <a:t>（整个图），</a:t>
            </a:r>
            <a:r>
              <a:rPr lang="en-US" altLang="zh-CN" sz="1400" kern="100">
                <a:cs typeface="Times New Roman" panose="02020603050405020304" pitchFamily="18" charset="0"/>
              </a:rPr>
              <a:t>Figure</a:t>
            </a:r>
            <a:r>
              <a:rPr lang="zh-CN" altLang="zh-CN" sz="1400" kern="100">
                <a:cs typeface="Times New Roman" panose="02020603050405020304" pitchFamily="18" charset="0"/>
              </a:rPr>
              <a:t>中可包含若干个</a:t>
            </a:r>
            <a:r>
              <a:rPr lang="en-US" altLang="zh-CN" sz="1400" kern="100">
                <a:cs typeface="Times New Roman" panose="02020603050405020304" pitchFamily="18" charset="0"/>
              </a:rPr>
              <a:t>Axes</a:t>
            </a:r>
            <a:r>
              <a:rPr lang="zh-CN" altLang="zh-CN" sz="1400" kern="100">
                <a:cs typeface="Times New Roman" panose="02020603050405020304" pitchFamily="18" charset="0"/>
              </a:rPr>
              <a:t>（坐标轴）和画布（</a:t>
            </a:r>
            <a:r>
              <a:rPr lang="en-US" altLang="zh-CN" sz="1400" kern="100">
                <a:cs typeface="Times New Roman" panose="02020603050405020304" pitchFamily="18" charset="0"/>
              </a:rPr>
              <a:t>canvas</a:t>
            </a:r>
            <a:r>
              <a:rPr lang="zh-CN" altLang="zh-CN" sz="1400" kern="100">
                <a:cs typeface="Times New Roman" panose="02020603050405020304" pitchFamily="18" charset="0"/>
              </a:rPr>
              <a:t>），和一些特殊的组件（称为</a:t>
            </a:r>
            <a:r>
              <a:rPr lang="en-US" altLang="zh-CN" sz="1400" kern="100">
                <a:cs typeface="Times New Roman" panose="02020603050405020304" pitchFamily="18" charset="0"/>
              </a:rPr>
              <a:t>Artist</a:t>
            </a:r>
            <a:r>
              <a:rPr lang="zh-CN" altLang="zh-CN" sz="1400" kern="100">
                <a:cs typeface="Times New Roman" panose="02020603050405020304" pitchFamily="18" charset="0"/>
              </a:rPr>
              <a:t>）（如</a:t>
            </a:r>
            <a:r>
              <a:rPr lang="en-US" altLang="zh-CN" sz="1400" kern="100">
                <a:cs typeface="Times New Roman" panose="02020603050405020304" pitchFamily="18" charset="0"/>
              </a:rPr>
              <a:t>titles</a:t>
            </a:r>
            <a:r>
              <a:rPr lang="zh-CN" altLang="zh-CN" sz="1400" kern="100">
                <a:cs typeface="Times New Roman" panose="02020603050405020304" pitchFamily="18" charset="0"/>
              </a:rPr>
              <a:t>和</a:t>
            </a:r>
            <a:r>
              <a:rPr lang="en-US" altLang="zh-CN" sz="1400" kern="100">
                <a:cs typeface="Times New Roman" panose="02020603050405020304" pitchFamily="18" charset="0"/>
              </a:rPr>
              <a:t> legends</a:t>
            </a:r>
            <a:r>
              <a:rPr lang="zh-CN" altLang="zh-CN" sz="1400" kern="100">
                <a:cs typeface="Times New Roman" panose="02020603050405020304" pitchFamily="18" charset="0"/>
              </a:rPr>
              <a:t>等）</a:t>
            </a:r>
            <a:r>
              <a:rPr lang="zh-CN" altLang="en-US" sz="1400" kern="100">
                <a:cs typeface="Times New Roman" panose="02020603050405020304" pitchFamily="18" charset="0"/>
              </a:rPr>
              <a:t>。</a:t>
            </a:r>
            <a:endParaRPr lang="zh-CN" altLang="en-US"/>
          </a:p>
        </p:txBody>
      </p:sp>
      <p:sp>
        <p:nvSpPr>
          <p:cNvPr id="5" name="矩形 4">
            <a:extLst>
              <a:ext uri="{FF2B5EF4-FFF2-40B4-BE49-F238E27FC236}">
                <a16:creationId xmlns:a16="http://schemas.microsoft.com/office/drawing/2014/main" id="{06B0A1C1-7C65-4033-AB04-8B318642F1A4}"/>
              </a:ext>
            </a:extLst>
          </p:cNvPr>
          <p:cNvSpPr/>
          <p:nvPr/>
        </p:nvSpPr>
        <p:spPr>
          <a:xfrm>
            <a:off x="260349" y="2305388"/>
            <a:ext cx="5102225" cy="1998496"/>
          </a:xfrm>
          <a:prstGeom prst="rect">
            <a:avLst/>
          </a:prstGeom>
        </p:spPr>
        <p:txBody>
          <a:bodyPr wrap="square">
            <a:spAutoFit/>
          </a:bodyPr>
          <a:lstStyle/>
          <a:p>
            <a:pPr indent="266700" algn="just">
              <a:lnSpc>
                <a:spcPct val="150000"/>
              </a:lnSpc>
              <a:spcAft>
                <a:spcPts val="0"/>
              </a:spcAft>
            </a:pPr>
            <a:r>
              <a:rPr lang="en-US" altLang="zh-CN" sz="1400" kern="100">
                <a:latin typeface="等线" panose="02010600030101010101" pitchFamily="2" charset="-122"/>
                <a:cs typeface="Times New Roman" panose="02020603050405020304" pitchFamily="18" charset="0"/>
              </a:rPr>
              <a:t>xes</a:t>
            </a:r>
            <a:r>
              <a:rPr lang="zh-CN" altLang="zh-CN" sz="1400" kern="100">
                <a:latin typeface="等线" panose="02010600030101010101" pitchFamily="2" charset="-122"/>
                <a:cs typeface="Times New Roman" panose="02020603050405020304" pitchFamily="18" charset="0"/>
              </a:rPr>
              <a:t>（坐标轴）是图像中的一个区域和数据空间，一个</a:t>
            </a:r>
            <a:r>
              <a:rPr lang="en-US" altLang="zh-CN" sz="1400" kern="100">
                <a:latin typeface="等线" panose="02010600030101010101" pitchFamily="2" charset="-122"/>
                <a:cs typeface="Times New Roman" panose="02020603050405020304" pitchFamily="18" charset="0"/>
              </a:rPr>
              <a:t>Figure</a:t>
            </a:r>
            <a:r>
              <a:rPr lang="zh-CN" altLang="zh-CN" sz="1400" kern="100">
                <a:latin typeface="等线" panose="02010600030101010101" pitchFamily="2" charset="-122"/>
                <a:cs typeface="Times New Roman" panose="02020603050405020304" pitchFamily="18" charset="0"/>
              </a:rPr>
              <a:t>可以包含多个</a:t>
            </a:r>
            <a:r>
              <a:rPr lang="en-US" altLang="zh-CN" sz="1400" kern="100">
                <a:latin typeface="等线" panose="02010600030101010101" pitchFamily="2" charset="-122"/>
                <a:cs typeface="Times New Roman" panose="02020603050405020304" pitchFamily="18" charset="0"/>
              </a:rPr>
              <a:t>Axes</a:t>
            </a:r>
            <a:r>
              <a:rPr lang="zh-CN" altLang="zh-CN" sz="1400" kern="100">
                <a:latin typeface="等线" panose="02010600030101010101" pitchFamily="2" charset="-122"/>
                <a:cs typeface="Times New Roman" panose="02020603050405020304" pitchFamily="18" charset="0"/>
              </a:rPr>
              <a:t>。</a:t>
            </a:r>
            <a:r>
              <a:rPr lang="en-US" altLang="zh-CN" sz="1400" kern="100">
                <a:latin typeface="等线" panose="02010600030101010101" pitchFamily="2" charset="-122"/>
                <a:cs typeface="Times New Roman" panose="02020603050405020304" pitchFamily="18" charset="0"/>
              </a:rPr>
              <a:t>Axes</a:t>
            </a:r>
            <a:r>
              <a:rPr lang="zh-CN" altLang="zh-CN" sz="1400" kern="100">
                <a:latin typeface="等线" panose="02010600030101010101" pitchFamily="2" charset="-122"/>
                <a:cs typeface="Times New Roman" panose="02020603050405020304" pitchFamily="18" charset="0"/>
              </a:rPr>
              <a:t>包含两个（或在</a:t>
            </a:r>
            <a:r>
              <a:rPr lang="en-US" altLang="zh-CN" sz="1400" kern="100">
                <a:latin typeface="等线" panose="02010600030101010101" pitchFamily="2" charset="-122"/>
                <a:cs typeface="Times New Roman" panose="02020603050405020304" pitchFamily="18" charset="0"/>
              </a:rPr>
              <a:t>3D</a:t>
            </a:r>
            <a:r>
              <a:rPr lang="zh-CN" altLang="zh-CN" sz="1400" kern="100">
                <a:latin typeface="等线" panose="02010600030101010101" pitchFamily="2" charset="-122"/>
                <a:cs typeface="Times New Roman" panose="02020603050405020304" pitchFamily="18" charset="0"/>
              </a:rPr>
              <a:t>情况下为三个）轴对象（</a:t>
            </a:r>
            <a:r>
              <a:rPr lang="en-US" altLang="zh-CN" sz="1400" kern="100">
                <a:latin typeface="等线" panose="02010600030101010101" pitchFamily="2" charset="-122"/>
                <a:cs typeface="Times New Roman" panose="02020603050405020304" pitchFamily="18" charset="0"/>
              </a:rPr>
              <a:t>x</a:t>
            </a:r>
            <a:r>
              <a:rPr lang="zh-CN" altLang="zh-CN" sz="1400" kern="100">
                <a:latin typeface="等线" panose="02010600030101010101" pitchFamily="2" charset="-122"/>
                <a:cs typeface="Times New Roman" panose="02020603050405020304" pitchFamily="18" charset="0"/>
              </a:rPr>
              <a:t>轴和</a:t>
            </a:r>
            <a:r>
              <a:rPr lang="en-US" altLang="zh-CN" sz="1400" kern="100">
                <a:latin typeface="等线" panose="02010600030101010101" pitchFamily="2" charset="-122"/>
                <a:cs typeface="Times New Roman" panose="02020603050405020304" pitchFamily="18" charset="0"/>
              </a:rPr>
              <a:t>y</a:t>
            </a:r>
            <a:r>
              <a:rPr lang="zh-CN" altLang="zh-CN" sz="1400" kern="100">
                <a:latin typeface="等线" panose="02010600030101010101" pitchFamily="2" charset="-122"/>
                <a:cs typeface="Times New Roman" panose="02020603050405020304" pitchFamily="18" charset="0"/>
              </a:rPr>
              <a:t>轴），它们负责数据范围限制（用</a:t>
            </a:r>
            <a:r>
              <a:rPr lang="en-US" altLang="zh-CN" sz="1400" kern="100">
                <a:latin typeface="等线" panose="02010600030101010101" pitchFamily="2" charset="-122"/>
                <a:cs typeface="Times New Roman" panose="02020603050405020304" pitchFamily="18" charset="0"/>
              </a:rPr>
              <a:t>set_xlim()</a:t>
            </a:r>
            <a:r>
              <a:rPr lang="zh-CN" altLang="zh-CN" sz="1400" kern="100">
                <a:latin typeface="等线" panose="02010600030101010101" pitchFamily="2" charset="-122"/>
                <a:cs typeface="Times New Roman" panose="02020603050405020304" pitchFamily="18" charset="0"/>
              </a:rPr>
              <a:t>和</a:t>
            </a:r>
            <a:r>
              <a:rPr lang="en-US" altLang="zh-CN" sz="1400" kern="100">
                <a:latin typeface="等线" panose="02010600030101010101" pitchFamily="2" charset="-122"/>
                <a:cs typeface="Times New Roman" panose="02020603050405020304" pitchFamily="18" charset="0"/>
              </a:rPr>
              <a:t>set_ylim()</a:t>
            </a:r>
            <a:r>
              <a:rPr lang="zh-CN" altLang="zh-CN" sz="1400" kern="100">
                <a:latin typeface="等线" panose="02010600030101010101" pitchFamily="2" charset="-122"/>
                <a:cs typeface="Times New Roman" panose="02020603050405020304" pitchFamily="18" charset="0"/>
              </a:rPr>
              <a:t>方法设定坐标轴的数据范围）。</a:t>
            </a:r>
          </a:p>
          <a:p>
            <a:pPr indent="457200">
              <a:lnSpc>
                <a:spcPct val="150000"/>
              </a:lnSpc>
            </a:pPr>
            <a:r>
              <a:rPr lang="zh-CN" altLang="zh-CN" sz="1400" kern="100">
                <a:latin typeface="等线" panose="02010600030101010101" pitchFamily="2" charset="-122"/>
                <a:cs typeface="Times New Roman" panose="02020603050405020304" pitchFamily="18" charset="0"/>
              </a:rPr>
              <a:t>每个</a:t>
            </a:r>
            <a:r>
              <a:rPr lang="en-US" altLang="zh-CN" sz="1400" kern="100">
                <a:latin typeface="等线" panose="02010600030101010101" pitchFamily="2" charset="-122"/>
                <a:cs typeface="Times New Roman" panose="02020603050405020304" pitchFamily="18" charset="0"/>
              </a:rPr>
              <a:t>Axes</a:t>
            </a:r>
            <a:r>
              <a:rPr lang="zh-CN" altLang="zh-CN" sz="1400" kern="100">
                <a:latin typeface="等线" panose="02010600030101010101" pitchFamily="2" charset="-122"/>
                <a:cs typeface="Times New Roman" panose="02020603050405020304" pitchFamily="18" charset="0"/>
              </a:rPr>
              <a:t>都有一个标题（通过</a:t>
            </a:r>
            <a:r>
              <a:rPr lang="en-US" altLang="zh-CN" sz="1400" kern="100">
                <a:latin typeface="等线" panose="02010600030101010101" pitchFamily="2" charset="-122"/>
                <a:cs typeface="Times New Roman" panose="02020603050405020304" pitchFamily="18" charset="0"/>
              </a:rPr>
              <a:t>set_title()</a:t>
            </a:r>
            <a:r>
              <a:rPr lang="zh-CN" altLang="zh-CN" sz="1400" kern="100">
                <a:latin typeface="等线" panose="02010600030101010101" pitchFamily="2" charset="-122"/>
                <a:cs typeface="Times New Roman" panose="02020603050405020304" pitchFamily="18" charset="0"/>
              </a:rPr>
              <a:t>设置）、一个</a:t>
            </a:r>
            <a:r>
              <a:rPr lang="en-US" altLang="zh-CN" sz="1400" kern="100">
                <a:latin typeface="等线" panose="02010600030101010101" pitchFamily="2" charset="-122"/>
                <a:cs typeface="Times New Roman" panose="02020603050405020304" pitchFamily="18" charset="0"/>
              </a:rPr>
              <a:t>x</a:t>
            </a:r>
            <a:r>
              <a:rPr lang="zh-CN" altLang="zh-CN" sz="1400" kern="100">
                <a:latin typeface="等线" panose="02010600030101010101" pitchFamily="2" charset="-122"/>
                <a:cs typeface="Times New Roman" panose="02020603050405020304" pitchFamily="18" charset="0"/>
              </a:rPr>
              <a:t>标签（通过</a:t>
            </a:r>
            <a:r>
              <a:rPr lang="en-US" altLang="zh-CN" sz="1400" kern="100">
                <a:latin typeface="等线" panose="02010600030101010101" pitchFamily="2" charset="-122"/>
                <a:cs typeface="Times New Roman" panose="02020603050405020304" pitchFamily="18" charset="0"/>
              </a:rPr>
              <a:t>set_xlabel()</a:t>
            </a:r>
            <a:r>
              <a:rPr lang="zh-CN" altLang="zh-CN" sz="1400" kern="100">
                <a:latin typeface="等线" panose="02010600030101010101" pitchFamily="2" charset="-122"/>
                <a:cs typeface="Times New Roman" panose="02020603050405020304" pitchFamily="18" charset="0"/>
              </a:rPr>
              <a:t>设置）和一个</a:t>
            </a:r>
            <a:r>
              <a:rPr lang="en-US" altLang="zh-CN" sz="1400" kern="100">
                <a:latin typeface="等线" panose="02010600030101010101" pitchFamily="2" charset="-122"/>
                <a:cs typeface="Times New Roman" panose="02020603050405020304" pitchFamily="18" charset="0"/>
              </a:rPr>
              <a:t>y</a:t>
            </a:r>
            <a:r>
              <a:rPr lang="zh-CN" altLang="zh-CN" sz="1400" kern="100">
                <a:latin typeface="等线" panose="02010600030101010101" pitchFamily="2" charset="-122"/>
                <a:cs typeface="Times New Roman" panose="02020603050405020304" pitchFamily="18" charset="0"/>
              </a:rPr>
              <a:t>标签（通过</a:t>
            </a:r>
            <a:r>
              <a:rPr lang="en-US" altLang="zh-CN" sz="1400" kern="100">
                <a:latin typeface="等线" panose="02010600030101010101" pitchFamily="2" charset="-122"/>
                <a:cs typeface="Times New Roman" panose="02020603050405020304" pitchFamily="18" charset="0"/>
              </a:rPr>
              <a:t>set_ylabel()</a:t>
            </a:r>
            <a:r>
              <a:rPr lang="zh-CN" altLang="zh-CN" sz="1400" kern="100">
                <a:latin typeface="等线" panose="02010600030101010101" pitchFamily="2" charset="-122"/>
                <a:cs typeface="Times New Roman" panose="02020603050405020304" pitchFamily="18" charset="0"/>
              </a:rPr>
              <a:t>设置）</a:t>
            </a:r>
            <a:endParaRPr lang="zh-CN" altLang="en-US" sz="1400" kern="100">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04564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2" name="文本框 1"/>
          <p:cNvSpPr txBox="1"/>
          <p:nvPr/>
        </p:nvSpPr>
        <p:spPr>
          <a:xfrm>
            <a:off x="0" y="1202690"/>
            <a:ext cx="8329930" cy="458715"/>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b="0"/>
              <a:t>本节介绍Matplotlib的基本2D绘图实例，包括直方图、饼图和泡泡。</a:t>
            </a:r>
          </a:p>
        </p:txBody>
      </p:sp>
      <p:sp>
        <p:nvSpPr>
          <p:cNvPr id="100" name="文本框 99"/>
          <p:cNvSpPr txBox="1"/>
          <p:nvPr/>
        </p:nvSpPr>
        <p:spPr>
          <a:xfrm>
            <a:off x="610870" y="803910"/>
            <a:ext cx="5080000" cy="398780"/>
          </a:xfrm>
          <a:prstGeom prst="rect">
            <a:avLst/>
          </a:prstGeom>
          <a:noFill/>
          <a:ln w="9525">
            <a:noFill/>
          </a:ln>
        </p:spPr>
        <p:txBody>
          <a:bodyPr>
            <a:spAutoFit/>
          </a:bodyPr>
          <a:lstStyle/>
          <a:p>
            <a:pPr marL="180340" indent="-180340"/>
            <a:r>
              <a:rPr lang="en-US" sz="2000" b="1">
                <a:latin typeface="等线" panose="02010600030101010101" pitchFamily="2" charset="-122"/>
              </a:rPr>
              <a:t>1. </a:t>
            </a:r>
            <a:r>
              <a:rPr lang="zh-CN" sz="2000" b="1">
                <a:ea typeface="等线" panose="02010600030101010101" pitchFamily="2" charset="-122"/>
              </a:rPr>
              <a:t>基本的</a:t>
            </a:r>
            <a:r>
              <a:rPr lang="zh-CN" sz="2000" b="1">
                <a:ea typeface="等线" panose="02010600030101010101" pitchFamily="2" charset="-122"/>
                <a:cs typeface="Times New Roman" panose="02020603050405020304" pitchFamily="18" charset="0"/>
              </a:rPr>
              <a:t>2D绘图</a:t>
            </a:r>
            <a:endParaRPr lang="zh-CN" altLang="en-US" sz="2000"/>
          </a:p>
        </p:txBody>
      </p:sp>
      <p:sp>
        <p:nvSpPr>
          <p:cNvPr id="4" name="文本框 3"/>
          <p:cNvSpPr txBox="1"/>
          <p:nvPr/>
        </p:nvSpPr>
        <p:spPr>
          <a:xfrm>
            <a:off x="491490" y="1544320"/>
            <a:ext cx="2540000" cy="398780"/>
          </a:xfrm>
          <a:prstGeom prst="rect">
            <a:avLst/>
          </a:prstGeom>
          <a:noFill/>
        </p:spPr>
        <p:txBody>
          <a:bodyPr wrap="square" rtlCol="0" anchor="t">
            <a:spAutoFit/>
          </a:bodyPr>
          <a:lstStyle/>
          <a:p>
            <a:r>
              <a:rPr lang="zh-CN" altLang="en-US" sz="2000" b="1"/>
              <a:t>（1）直方图</a:t>
            </a:r>
          </a:p>
        </p:txBody>
      </p:sp>
      <p:sp>
        <p:nvSpPr>
          <p:cNvPr id="5" name="文本框 4"/>
          <p:cNvSpPr txBox="1"/>
          <p:nvPr/>
        </p:nvSpPr>
        <p:spPr>
          <a:xfrm>
            <a:off x="303676" y="1848084"/>
            <a:ext cx="5080000" cy="398780"/>
          </a:xfrm>
          <a:prstGeom prst="rect">
            <a:avLst/>
          </a:prstGeom>
          <a:noFill/>
          <a:ln w="9525">
            <a:noFill/>
          </a:ln>
        </p:spPr>
        <p:txBody>
          <a:bodyPr>
            <a:spAutoFit/>
          </a:bodyPr>
          <a:lstStyle/>
          <a:p>
            <a:pPr indent="266700"/>
            <a:r>
              <a:rPr lang="zh-CN" sz="2000" b="0">
                <a:ea typeface="等线" panose="02010600030101010101" pitchFamily="2" charset="-122"/>
              </a:rPr>
              <a:t>用</a:t>
            </a:r>
            <a:r>
              <a:rPr lang="en-US" sz="2000" b="0">
                <a:latin typeface="等线" panose="02010600030101010101" pitchFamily="2" charset="-122"/>
                <a:cs typeface="Times New Roman" panose="02020603050405020304" pitchFamily="18" charset="0"/>
              </a:rPr>
              <a:t>Matplotlib</a:t>
            </a:r>
            <a:r>
              <a:rPr lang="zh-CN" sz="2000" b="0">
                <a:ea typeface="等线" panose="02010600030101010101" pitchFamily="2" charset="-122"/>
              </a:rPr>
              <a:t>绘制直方图的示例代码如下：</a:t>
            </a:r>
            <a:endParaRPr lang="zh-CN" altLang="en-US" sz="2000"/>
          </a:p>
        </p:txBody>
      </p:sp>
      <p:pic>
        <p:nvPicPr>
          <p:cNvPr id="193555" name="图片 1935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687060" y="2433003"/>
            <a:ext cx="2642870" cy="1871345"/>
          </a:xfrm>
          <a:prstGeom prst="rect">
            <a:avLst/>
          </a:prstGeom>
          <a:noFill/>
          <a:ln>
            <a:noFill/>
          </a:ln>
        </p:spPr>
      </p:pic>
      <p:sp>
        <p:nvSpPr>
          <p:cNvPr id="8" name="文本框 7"/>
          <p:cNvSpPr txBox="1"/>
          <p:nvPr/>
        </p:nvSpPr>
        <p:spPr>
          <a:xfrm>
            <a:off x="453390" y="4581525"/>
            <a:ext cx="5080000" cy="398780"/>
          </a:xfrm>
          <a:prstGeom prst="rect">
            <a:avLst/>
          </a:prstGeom>
          <a:noFill/>
          <a:ln w="9525">
            <a:noFill/>
          </a:ln>
        </p:spPr>
        <p:txBody>
          <a:bodyPr>
            <a:spAutoFit/>
          </a:bodyPr>
          <a:lstStyle/>
          <a:p>
            <a:pPr indent="266700"/>
            <a:r>
              <a:rPr lang="zh-CN" sz="2000" b="0">
                <a:ea typeface="等线" panose="02010600030101010101" pitchFamily="2" charset="-122"/>
              </a:rPr>
              <a:t>运行上述程序后呈现的效果如右图</a:t>
            </a:r>
            <a:r>
              <a:rPr lang="zh-CN" altLang="en-US" sz="2000" b="0">
                <a:latin typeface="等线" panose="02010600030101010101" pitchFamily="2" charset="-122"/>
                <a:cs typeface="Times New Roman" panose="02020603050405020304" pitchFamily="18" charset="0"/>
              </a:rPr>
              <a:t>所</a:t>
            </a:r>
            <a:r>
              <a:rPr lang="zh-CN" sz="2000" b="0">
                <a:ea typeface="等线" panose="02010600030101010101" pitchFamily="2" charset="-122"/>
              </a:rPr>
              <a:t>示：</a:t>
            </a:r>
            <a:endParaRPr lang="zh-CN" altLang="en-US" sz="2000"/>
          </a:p>
        </p:txBody>
      </p:sp>
      <p:sp>
        <p:nvSpPr>
          <p:cNvPr id="9" name="文本框 8"/>
          <p:cNvSpPr txBox="1"/>
          <p:nvPr/>
        </p:nvSpPr>
        <p:spPr>
          <a:xfrm>
            <a:off x="4468495" y="4304665"/>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用</a:t>
            </a:r>
            <a:r>
              <a:rPr lang="en-US" sz="1000" b="0">
                <a:latin typeface="Cambria Math" panose="02040503050406030204" charset="0"/>
                <a:ea typeface="等线" panose="02010600030101010101" pitchFamily="2" charset="-122"/>
                <a:cs typeface="Times New Roman" panose="02020603050405020304" pitchFamily="18" charset="0"/>
              </a:rPr>
              <a:t>Matplotlib</a:t>
            </a:r>
            <a:r>
              <a:rPr lang="zh-CN" sz="1000" b="0">
                <a:latin typeface="Cambria Math" panose="02040503050406030204" charset="0"/>
                <a:ea typeface="等线" panose="02010600030101010101" pitchFamily="2" charset="-122"/>
              </a:rPr>
              <a:t>绘制直方图示例</a:t>
            </a:r>
            <a:endParaRPr lang="zh-CN" altLang="en-US" sz="1000"/>
          </a:p>
        </p:txBody>
      </p:sp>
      <p:sp>
        <p:nvSpPr>
          <p:cNvPr id="3" name="矩形 2">
            <a:extLst>
              <a:ext uri="{FF2B5EF4-FFF2-40B4-BE49-F238E27FC236}">
                <a16:creationId xmlns:a16="http://schemas.microsoft.com/office/drawing/2014/main" id="{A5512E6A-CB5E-4274-A564-139EC2D4EB0B}"/>
              </a:ext>
            </a:extLst>
          </p:cNvPr>
          <p:cNvSpPr/>
          <p:nvPr/>
        </p:nvSpPr>
        <p:spPr>
          <a:xfrm>
            <a:off x="707390" y="2273185"/>
            <a:ext cx="4572000" cy="2154436"/>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just">
              <a:spcAft>
                <a:spcPts val="0"/>
              </a:spcAft>
            </a:pPr>
            <a:r>
              <a:rPr lang="en-US" altLang="zh-CN" sz="1200" kern="100">
                <a:latin typeface="等线" panose="02010600030101010101" pitchFamily="2" charset="-122"/>
                <a:cs typeface="Times New Roman" panose="02020603050405020304" pitchFamily="18" charset="0"/>
              </a:rPr>
              <a:t>#</a:t>
            </a:r>
            <a:r>
              <a:rPr lang="zh-CN" altLang="zh-CN" sz="1200" kern="100">
                <a:latin typeface="等线" panose="02010600030101010101" pitchFamily="2" charset="-122"/>
                <a:cs typeface="Times New Roman" panose="02020603050405020304" pitchFamily="18" charset="0"/>
              </a:rPr>
              <a:t>绘制直方图示例代码</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import numpy as np</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from matplotlib import pyplot as plt </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np.random.seed(19680801)        #</a:t>
            </a:r>
            <a:r>
              <a:rPr lang="zh-CN" altLang="zh-CN" sz="1200" kern="100">
                <a:latin typeface="等线" panose="02010600030101010101" pitchFamily="2" charset="-122"/>
                <a:cs typeface="Times New Roman" panose="02020603050405020304" pitchFamily="18" charset="0"/>
              </a:rPr>
              <a:t>随机数种子</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x = np.random.randn(1000, 3)    #</a:t>
            </a:r>
            <a:r>
              <a:rPr lang="zh-CN" altLang="zh-CN" sz="1200" kern="100">
                <a:latin typeface="等线" panose="02010600030101010101" pitchFamily="2" charset="-122"/>
                <a:cs typeface="Times New Roman" panose="02020603050405020304" pitchFamily="18" charset="0"/>
              </a:rPr>
              <a:t>生成随机数</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n_bins = 6</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fig = plt.figure()           #</a:t>
            </a:r>
            <a:r>
              <a:rPr lang="zh-CN" altLang="zh-CN" sz="1200" kern="100">
                <a:latin typeface="等线" panose="02010600030101010101" pitchFamily="2" charset="-122"/>
                <a:cs typeface="Times New Roman" panose="02020603050405020304" pitchFamily="18" charset="0"/>
              </a:rPr>
              <a:t>创建一个</a:t>
            </a:r>
            <a:r>
              <a:rPr lang="en-US" altLang="zh-CN" sz="1200" kern="100">
                <a:latin typeface="等线" panose="02010600030101010101" pitchFamily="2" charset="-122"/>
                <a:cs typeface="Times New Roman" panose="02020603050405020304" pitchFamily="18" charset="0"/>
              </a:rPr>
              <a:t>Figure</a:t>
            </a:r>
            <a:r>
              <a:rPr lang="zh-CN" altLang="zh-CN" sz="1200" kern="100">
                <a:latin typeface="等线" panose="02010600030101010101" pitchFamily="2" charset="-122"/>
                <a:cs typeface="Times New Roman" panose="02020603050405020304" pitchFamily="18" charset="0"/>
              </a:rPr>
              <a:t>对象用于容纳坐标轴</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ax1 = fig.add_subplot()     #</a:t>
            </a:r>
            <a:r>
              <a:rPr lang="zh-CN" altLang="zh-CN" sz="1200" kern="100">
                <a:latin typeface="等线" panose="02010600030101010101" pitchFamily="2" charset="-122"/>
                <a:cs typeface="Times New Roman" panose="02020603050405020304" pitchFamily="18" charset="0"/>
              </a:rPr>
              <a:t>添加一个</a:t>
            </a:r>
            <a:r>
              <a:rPr lang="en-US" altLang="zh-CN" sz="1200" kern="100">
                <a:latin typeface="等线" panose="02010600030101010101" pitchFamily="2" charset="-122"/>
                <a:cs typeface="Times New Roman" panose="02020603050405020304" pitchFamily="18" charset="0"/>
              </a:rPr>
              <a:t>Axes</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ax1.hist(x, n_bins)</a:t>
            </a:r>
            <a:endParaRPr lang="zh-CN" altLang="zh-CN" sz="1600" kern="100">
              <a:latin typeface="等线" panose="02010600030101010101" pitchFamily="2" charset="-122"/>
              <a:cs typeface="Times New Roman" panose="02020603050405020304" pitchFamily="18" charset="0"/>
            </a:endParaRPr>
          </a:p>
          <a:p>
            <a:pPr algn="just">
              <a:spcAft>
                <a:spcPts val="0"/>
              </a:spcAft>
            </a:pPr>
            <a:r>
              <a:rPr lang="en-US" altLang="zh-CN" sz="1200" kern="100">
                <a:latin typeface="等线" panose="02010600030101010101" pitchFamily="2" charset="-122"/>
                <a:cs typeface="Times New Roman" panose="02020603050405020304" pitchFamily="18" charset="0"/>
              </a:rPr>
              <a:t>ax1.set_title('Histogram demo')</a:t>
            </a:r>
            <a:endParaRPr lang="zh-CN" altLang="zh-CN" sz="1600" kern="100">
              <a:latin typeface="等线" panose="02010600030101010101" pitchFamily="2" charset="-122"/>
              <a:cs typeface="Times New Roman" panose="02020603050405020304" pitchFamily="18" charset="0"/>
            </a:endParaRPr>
          </a:p>
          <a:p>
            <a:r>
              <a:rPr lang="en-US" altLang="zh-CN" sz="1200" kern="100">
                <a:latin typeface="等线" panose="02010600030101010101" pitchFamily="2" charset="-122"/>
                <a:cs typeface="Times New Roman" panose="02020603050405020304" pitchFamily="18" charset="0"/>
              </a:rPr>
              <a:t>plt.show()</a:t>
            </a:r>
            <a:endParaRPr lang="zh-CN" altLang="en-US" sz="12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2230" y="24828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5" name="文本框 4"/>
          <p:cNvSpPr txBox="1"/>
          <p:nvPr/>
        </p:nvSpPr>
        <p:spPr>
          <a:xfrm>
            <a:off x="391160" y="2803525"/>
            <a:ext cx="5379720" cy="209169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a:ea typeface="等线" panose="02010600030101010101" pitchFamily="2" charset="-122"/>
              </a:rPr>
              <a:t>上述代码中的pie()方法自动根据数据的百分比画饼图，参数labels是各个块的标签，autopct=%1.1f%%表示格式化百分比精确输出，explode标记突出某些块。</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运行上述代码后呈现的效果如图所示。</a:t>
            </a:r>
          </a:p>
        </p:txBody>
      </p:sp>
      <p:sp>
        <p:nvSpPr>
          <p:cNvPr id="9" name="文本框 8"/>
          <p:cNvSpPr txBox="1"/>
          <p:nvPr/>
        </p:nvSpPr>
        <p:spPr>
          <a:xfrm>
            <a:off x="4521200" y="3356610"/>
            <a:ext cx="5080000" cy="245110"/>
          </a:xfrm>
          <a:prstGeom prst="rect">
            <a:avLst/>
          </a:prstGeom>
          <a:noFill/>
          <a:ln w="9525">
            <a:noFill/>
          </a:ln>
        </p:spPr>
        <p:txBody>
          <a:bodyPr>
            <a:spAutoFit/>
          </a:bodyPr>
          <a:lstStyle/>
          <a:p>
            <a:pPr indent="0" algn="ctr"/>
            <a:r>
              <a:rPr sz="1000" b="0">
                <a:latin typeface="Cambria Math" panose="02040503050406030204" charset="0"/>
                <a:ea typeface="等线" panose="02010600030101010101" pitchFamily="2" charset="-122"/>
              </a:rPr>
              <a:t> Matplotlib绘制饼图示例</a:t>
            </a:r>
          </a:p>
        </p:txBody>
      </p:sp>
      <p:pic>
        <p:nvPicPr>
          <p:cNvPr id="193560" name="图片 1935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998845" y="1327150"/>
            <a:ext cx="1978660" cy="1967230"/>
          </a:xfrm>
          <a:prstGeom prst="rect">
            <a:avLst/>
          </a:prstGeom>
          <a:noFill/>
          <a:ln>
            <a:noFill/>
          </a:ln>
        </p:spPr>
      </p:pic>
      <p:graphicFrame>
        <p:nvGraphicFramePr>
          <p:cNvPr id="2" name="表格 1">
            <a:extLst>
              <a:ext uri="{FF2B5EF4-FFF2-40B4-BE49-F238E27FC236}">
                <a16:creationId xmlns:a16="http://schemas.microsoft.com/office/drawing/2014/main" id="{430D3106-7393-4A6C-8BCA-E12A9A8C4437}"/>
              </a:ext>
            </a:extLst>
          </p:cNvPr>
          <p:cNvGraphicFramePr>
            <a:graphicFrameLocks noGrp="1"/>
          </p:cNvGraphicFramePr>
          <p:nvPr>
            <p:extLst>
              <p:ext uri="{D42A27DB-BD31-4B8C-83A1-F6EECF244321}">
                <p14:modId xmlns:p14="http://schemas.microsoft.com/office/powerpoint/2010/main" val="2035666131"/>
              </p:ext>
            </p:extLst>
          </p:nvPr>
        </p:nvGraphicFramePr>
        <p:xfrm>
          <a:off x="391159" y="999649"/>
          <a:ext cx="5333365" cy="1721326"/>
        </p:xfrm>
        <a:graphic>
          <a:graphicData uri="http://schemas.openxmlformats.org/drawingml/2006/table">
            <a:tbl>
              <a:tblPr firstRow="1" firstCol="1" bandRow="1">
                <a:tableStyleId>{5C22544A-7EE6-4342-B048-85BDC9FD1C3A}</a:tableStyleId>
              </a:tblPr>
              <a:tblGrid>
                <a:gridCol w="5333365">
                  <a:extLst>
                    <a:ext uri="{9D8B030D-6E8A-4147-A177-3AD203B41FA5}">
                      <a16:colId xmlns:a16="http://schemas.microsoft.com/office/drawing/2014/main" val="2906939683"/>
                    </a:ext>
                  </a:extLst>
                </a:gridCol>
              </a:tblGrid>
              <a:tr h="1721326">
                <a:tc>
                  <a:txBody>
                    <a:bodyPr/>
                    <a:lstStyle/>
                    <a:p>
                      <a:pPr algn="just">
                        <a:spcAft>
                          <a:spcPts val="0"/>
                        </a:spcAft>
                      </a:pPr>
                      <a:r>
                        <a:rPr lang="en-US" sz="1200" kern="100">
                          <a:effectLst/>
                        </a:rPr>
                        <a:t>#</a:t>
                      </a:r>
                      <a:r>
                        <a:rPr lang="zh-CN" sz="1200" kern="100">
                          <a:effectLst/>
                        </a:rPr>
                        <a:t>绘制饼图示例代码</a:t>
                      </a:r>
                      <a:endParaRPr lang="zh-CN" sz="1600" kern="100">
                        <a:effectLst/>
                      </a:endParaRPr>
                    </a:p>
                    <a:p>
                      <a:pPr algn="just">
                        <a:spcAft>
                          <a:spcPts val="0"/>
                        </a:spcAft>
                      </a:pPr>
                      <a:r>
                        <a:rPr lang="en-US" sz="1200" kern="100">
                          <a:effectLst/>
                        </a:rPr>
                        <a:t>from matplotlib import pyplot as plt</a:t>
                      </a:r>
                      <a:endParaRPr lang="zh-CN" sz="1600" kern="100">
                        <a:effectLst/>
                      </a:endParaRPr>
                    </a:p>
                    <a:p>
                      <a:pPr algn="just">
                        <a:spcAft>
                          <a:spcPts val="0"/>
                        </a:spcAft>
                      </a:pPr>
                      <a:r>
                        <a:rPr lang="en-US" sz="1200" kern="100">
                          <a:effectLst/>
                        </a:rPr>
                        <a:t>labels = 'Frogs', 'Hogs', 'Dogs', 'Logs'</a:t>
                      </a:r>
                      <a:endParaRPr lang="zh-CN" sz="1600" kern="100">
                        <a:effectLst/>
                      </a:endParaRPr>
                    </a:p>
                    <a:p>
                      <a:pPr algn="just">
                        <a:spcAft>
                          <a:spcPts val="0"/>
                        </a:spcAft>
                      </a:pPr>
                      <a:r>
                        <a:rPr lang="en-US" sz="1200" kern="100">
                          <a:effectLst/>
                        </a:rPr>
                        <a:t>sizes = [15, 30, 45, 10]</a:t>
                      </a:r>
                      <a:endParaRPr lang="zh-CN" sz="1600" kern="100">
                        <a:effectLst/>
                      </a:endParaRPr>
                    </a:p>
                    <a:p>
                      <a:pPr algn="just">
                        <a:spcAft>
                          <a:spcPts val="0"/>
                        </a:spcAft>
                      </a:pPr>
                      <a:r>
                        <a:rPr lang="en-US" sz="1200" kern="100">
                          <a:effectLst/>
                        </a:rPr>
                        <a:t>explode = (0, 0.1, 0, 0)</a:t>
                      </a:r>
                      <a:endParaRPr lang="zh-CN" sz="1600" kern="100">
                        <a:effectLst/>
                      </a:endParaRPr>
                    </a:p>
                    <a:p>
                      <a:pPr algn="just">
                        <a:spcAft>
                          <a:spcPts val="0"/>
                        </a:spcAft>
                      </a:pPr>
                      <a:r>
                        <a:rPr lang="en-US" sz="1200" kern="100">
                          <a:effectLst/>
                        </a:rPr>
                        <a:t>fig = plt.figure(dpi=300)      #</a:t>
                      </a:r>
                      <a:r>
                        <a:rPr lang="zh-CN" sz="1200" kern="100">
                          <a:effectLst/>
                        </a:rPr>
                        <a:t>分辨率设为</a:t>
                      </a:r>
                      <a:r>
                        <a:rPr lang="en-US" sz="1200" kern="100">
                          <a:effectLst/>
                        </a:rPr>
                        <a:t>300dpi</a:t>
                      </a:r>
                      <a:endParaRPr lang="zh-CN" sz="1600" kern="100">
                        <a:effectLst/>
                      </a:endParaRPr>
                    </a:p>
                    <a:p>
                      <a:pPr algn="just">
                        <a:spcAft>
                          <a:spcPts val="0"/>
                        </a:spcAft>
                      </a:pPr>
                      <a:r>
                        <a:rPr lang="en-US" sz="1200" kern="100">
                          <a:effectLst/>
                        </a:rPr>
                        <a:t>ax2 = fig.add_subplot()    </a:t>
                      </a:r>
                      <a:endParaRPr lang="zh-CN" sz="1600" kern="100">
                        <a:effectLst/>
                      </a:endParaRPr>
                    </a:p>
                    <a:p>
                      <a:pPr algn="just">
                        <a:spcAft>
                          <a:spcPts val="0"/>
                        </a:spcAft>
                      </a:pPr>
                      <a:r>
                        <a:rPr lang="en-US" sz="1200" kern="100">
                          <a:effectLst/>
                        </a:rPr>
                        <a:t>ax2.pie(sizes, labels=labels, autopct='%1.1f%%', explode=explode, shadow=True)</a:t>
                      </a:r>
                      <a:endParaRPr lang="zh-CN" sz="1600" kern="100">
                        <a:effectLst/>
                      </a:endParaRPr>
                    </a:p>
                    <a:p>
                      <a:pPr algn="just">
                        <a:spcAft>
                          <a:spcPts val="0"/>
                        </a:spcAft>
                      </a:pPr>
                      <a:r>
                        <a:rPr lang="en-US" sz="1200" kern="100">
                          <a:effectLst/>
                        </a:rPr>
                        <a:t>plt.show()</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6671251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24460" y="26606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4" name="文本框 3"/>
          <p:cNvSpPr txBox="1"/>
          <p:nvPr/>
        </p:nvSpPr>
        <p:spPr>
          <a:xfrm>
            <a:off x="574675" y="1005205"/>
            <a:ext cx="2540000" cy="398780"/>
          </a:xfrm>
          <a:prstGeom prst="rect">
            <a:avLst/>
          </a:prstGeom>
          <a:noFill/>
        </p:spPr>
        <p:txBody>
          <a:bodyPr wrap="square" rtlCol="0" anchor="t">
            <a:spAutoFit/>
          </a:bodyPr>
          <a:lstStyle/>
          <a:p>
            <a:r>
              <a:rPr lang="zh-CN" sz="2000" b="1"/>
              <a:t>（</a:t>
            </a:r>
            <a:r>
              <a:rPr lang="en-US" altLang="zh-CN" sz="2000" b="1"/>
              <a:t>3</a:t>
            </a:r>
            <a:r>
              <a:rPr lang="zh-CN" altLang="en-US" sz="2000" b="1"/>
              <a:t>）</a:t>
            </a:r>
            <a:r>
              <a:rPr sz="2000" b="1"/>
              <a:t>泡泡图</a:t>
            </a:r>
          </a:p>
        </p:txBody>
      </p:sp>
      <p:sp>
        <p:nvSpPr>
          <p:cNvPr id="5" name="文本框 4"/>
          <p:cNvSpPr txBox="1"/>
          <p:nvPr/>
        </p:nvSpPr>
        <p:spPr>
          <a:xfrm>
            <a:off x="447039" y="1404620"/>
            <a:ext cx="6877685" cy="398780"/>
          </a:xfrm>
          <a:prstGeom prst="rect">
            <a:avLst/>
          </a:prstGeom>
          <a:noFill/>
          <a:ln w="9525">
            <a:noFill/>
          </a:ln>
        </p:spPr>
        <p:txBody>
          <a:bodyPr wrap="square">
            <a:spAutoFit/>
          </a:bodyPr>
          <a:lstStyle/>
          <a:p>
            <a:pPr indent="266700"/>
            <a:r>
              <a:rPr sz="2000">
                <a:latin typeface="+mn-ea"/>
              </a:rPr>
              <a:t>用Matplotlib绘制</a:t>
            </a:r>
            <a:r>
              <a:rPr lang="zh-CN" altLang="en-US" sz="2000">
                <a:latin typeface="+mn-ea"/>
              </a:rPr>
              <a:t>泡泡图</a:t>
            </a:r>
            <a:r>
              <a:rPr sz="2000">
                <a:latin typeface="+mn-ea"/>
              </a:rPr>
              <a:t>的示例代码如下：</a:t>
            </a:r>
          </a:p>
        </p:txBody>
      </p:sp>
      <p:sp>
        <p:nvSpPr>
          <p:cNvPr id="8" name="文本框 7"/>
          <p:cNvSpPr txBox="1"/>
          <p:nvPr/>
        </p:nvSpPr>
        <p:spPr>
          <a:xfrm>
            <a:off x="574675" y="4643145"/>
            <a:ext cx="5080000" cy="398780"/>
          </a:xfrm>
          <a:prstGeom prst="rect">
            <a:avLst/>
          </a:prstGeom>
          <a:noFill/>
          <a:ln w="9525">
            <a:noFill/>
          </a:ln>
        </p:spPr>
        <p:txBody>
          <a:bodyPr>
            <a:spAutoFit/>
          </a:bodyPr>
          <a:lstStyle/>
          <a:p>
            <a:pPr indent="266700"/>
            <a:r>
              <a:rPr lang="zh-CN" sz="2000" b="0"/>
              <a:t>运行上述代码后呈现的效果如图所示。</a:t>
            </a:r>
          </a:p>
        </p:txBody>
      </p:sp>
      <p:sp>
        <p:nvSpPr>
          <p:cNvPr id="9" name="文本框 8"/>
          <p:cNvSpPr txBox="1"/>
          <p:nvPr/>
        </p:nvSpPr>
        <p:spPr>
          <a:xfrm>
            <a:off x="4346575" y="4198620"/>
            <a:ext cx="5080000" cy="245110"/>
          </a:xfrm>
          <a:prstGeom prst="rect">
            <a:avLst/>
          </a:prstGeom>
          <a:noFill/>
          <a:ln w="9525">
            <a:noFill/>
          </a:ln>
        </p:spPr>
        <p:txBody>
          <a:bodyPr>
            <a:spAutoFit/>
          </a:bodyPr>
          <a:lstStyle/>
          <a:p>
            <a:pPr indent="0" algn="ctr"/>
            <a:r>
              <a:rPr sz="1000" b="0">
                <a:latin typeface="Cambria Math" panose="02040503050406030204" charset="0"/>
                <a:ea typeface="等线" panose="02010600030101010101" pitchFamily="2" charset="-122"/>
              </a:rPr>
              <a:t>Matplotlib绘制泡泡图示例</a:t>
            </a:r>
          </a:p>
        </p:txBody>
      </p:sp>
      <p:pic>
        <p:nvPicPr>
          <p:cNvPr id="193563" name="图片 1935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261293" y="2049463"/>
            <a:ext cx="3029585" cy="2068195"/>
          </a:xfrm>
          <a:prstGeom prst="rect">
            <a:avLst/>
          </a:prstGeom>
          <a:noFill/>
          <a:ln>
            <a:noFill/>
          </a:ln>
        </p:spPr>
      </p:pic>
      <p:sp>
        <p:nvSpPr>
          <p:cNvPr id="6" name="矩形 5">
            <a:extLst>
              <a:ext uri="{FF2B5EF4-FFF2-40B4-BE49-F238E27FC236}">
                <a16:creationId xmlns:a16="http://schemas.microsoft.com/office/drawing/2014/main" id="{2B6D5B33-E672-4A99-A135-7D26858C4AF0}"/>
              </a:ext>
            </a:extLst>
          </p:cNvPr>
          <p:cNvSpPr/>
          <p:nvPr/>
        </p:nvSpPr>
        <p:spPr>
          <a:xfrm>
            <a:off x="759337" y="1806306"/>
            <a:ext cx="4572000" cy="279307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altLang="zh-CN">
                <a:latin typeface="+mn-ea"/>
              </a:rPr>
              <a:t>#</a:t>
            </a:r>
            <a:r>
              <a:rPr lang="zh-CN" altLang="en-US">
                <a:latin typeface="+mn-ea"/>
              </a:rPr>
              <a:t>绘制泡泡图示例代码</a:t>
            </a:r>
          </a:p>
          <a:p>
            <a:r>
              <a:rPr lang="en-US" altLang="zh-CN">
                <a:latin typeface="+mn-ea"/>
              </a:rPr>
              <a:t>import numpy as np</a:t>
            </a:r>
          </a:p>
          <a:p>
            <a:r>
              <a:rPr lang="en-US" altLang="zh-CN">
                <a:latin typeface="+mn-ea"/>
              </a:rPr>
              <a:t>from matplotlib import pyplot as plt</a:t>
            </a:r>
          </a:p>
          <a:p>
            <a:r>
              <a:rPr lang="en-US" altLang="zh-CN">
                <a:latin typeface="+mn-ea"/>
              </a:rPr>
              <a:t>np.random.seed(19680801)</a:t>
            </a:r>
          </a:p>
          <a:p>
            <a:r>
              <a:rPr lang="en-US" altLang="zh-CN">
                <a:latin typeface="+mn-ea"/>
              </a:rPr>
              <a:t>fig = plt.figure(dpi=300)</a:t>
            </a:r>
          </a:p>
          <a:p>
            <a:r>
              <a:rPr lang="en-US" altLang="zh-CN">
                <a:latin typeface="+mn-ea"/>
              </a:rPr>
              <a:t>ax3 = fig.add_subplot()</a:t>
            </a:r>
          </a:p>
          <a:p>
            <a:r>
              <a:rPr lang="en-US" altLang="zh-CN">
                <a:latin typeface="+mn-ea"/>
              </a:rPr>
              <a:t>N = 50</a:t>
            </a:r>
          </a:p>
          <a:p>
            <a:r>
              <a:rPr lang="en-US" altLang="zh-CN">
                <a:latin typeface="+mn-ea"/>
              </a:rPr>
              <a:t>x = np.random.rand(N)</a:t>
            </a:r>
          </a:p>
          <a:p>
            <a:r>
              <a:rPr lang="en-US" altLang="zh-CN">
                <a:latin typeface="+mn-ea"/>
              </a:rPr>
              <a:t>y = np.random.rand(N)</a:t>
            </a:r>
          </a:p>
          <a:p>
            <a:r>
              <a:rPr lang="en-US" altLang="zh-CN">
                <a:latin typeface="+mn-ea"/>
              </a:rPr>
              <a:t>colors = np.random.rand(N)</a:t>
            </a:r>
          </a:p>
          <a:p>
            <a:r>
              <a:rPr lang="en-US" altLang="zh-CN">
                <a:latin typeface="+mn-ea"/>
              </a:rPr>
              <a:t>area = (30 * np.random.rand(N))**2  # 0 to 15 point radii</a:t>
            </a:r>
          </a:p>
          <a:p>
            <a:r>
              <a:rPr lang="en-US" altLang="zh-CN">
                <a:latin typeface="+mn-ea"/>
              </a:rPr>
              <a:t>ax3.scatter(x, y, s=area, c=colors, alpha=0.5)</a:t>
            </a:r>
          </a:p>
          <a:p>
            <a:r>
              <a:rPr lang="en-US" altLang="zh-CN">
                <a:latin typeface="+mn-ea"/>
              </a:rPr>
              <a:t>plt.show()</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24460" y="26606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4" name="文本框 3"/>
          <p:cNvSpPr txBox="1"/>
          <p:nvPr/>
        </p:nvSpPr>
        <p:spPr>
          <a:xfrm>
            <a:off x="690880" y="1085215"/>
            <a:ext cx="4178935" cy="398780"/>
          </a:xfrm>
          <a:prstGeom prst="rect">
            <a:avLst/>
          </a:prstGeom>
          <a:noFill/>
        </p:spPr>
        <p:txBody>
          <a:bodyPr wrap="square" rtlCol="0" anchor="t">
            <a:spAutoFit/>
          </a:bodyPr>
          <a:lstStyle/>
          <a:p>
            <a:r>
              <a:rPr sz="2000" b="1"/>
              <a:t>5.Matplotlib绘图的布局方法简介</a:t>
            </a:r>
          </a:p>
        </p:txBody>
      </p:sp>
      <p:sp>
        <p:nvSpPr>
          <p:cNvPr id="5" name="文本框 4"/>
          <p:cNvSpPr txBox="1"/>
          <p:nvPr/>
        </p:nvSpPr>
        <p:spPr>
          <a:xfrm>
            <a:off x="390525" y="1483995"/>
            <a:ext cx="7520940" cy="2491740"/>
          </a:xfrm>
          <a:prstGeom prst="rect">
            <a:avLst/>
          </a:prstGeom>
          <a:noFill/>
          <a:ln w="9525">
            <a:noFill/>
          </a:ln>
        </p:spPr>
        <p:txBody>
          <a:bodyPr wrap="square">
            <a:spAutoFit/>
          </a:bodyPr>
          <a:lstStyle/>
          <a:p>
            <a:pPr indent="266700">
              <a:lnSpc>
                <a:spcPct val="130000"/>
              </a:lnSpc>
              <a:spcBef>
                <a:spcPts val="0"/>
              </a:spcBef>
              <a:spcAft>
                <a:spcPts val="0"/>
              </a:spcAft>
            </a:pPr>
            <a:r>
              <a:rPr sz="2000">
                <a:ea typeface="等线" panose="02010600030101010101" pitchFamily="2" charset="-122"/>
              </a:rPr>
              <a:t>Matplotlib采用网格布局的方式，有以下几种布局方法：</a:t>
            </a:r>
          </a:p>
          <a:p>
            <a:pPr indent="266700">
              <a:lnSpc>
                <a:spcPct val="130000"/>
              </a:lnSpc>
              <a:spcBef>
                <a:spcPts val="0"/>
              </a:spcBef>
              <a:spcAft>
                <a:spcPts val="0"/>
              </a:spcAft>
            </a:pPr>
            <a:r>
              <a:rPr sz="2000">
                <a:ea typeface="等线" panose="02010600030101010101" pitchFamily="2" charset="-122"/>
              </a:rPr>
              <a:t>（1）subplots()：简单网络排列。</a:t>
            </a:r>
          </a:p>
          <a:p>
            <a:pPr indent="266700">
              <a:lnSpc>
                <a:spcPct val="130000"/>
              </a:lnSpc>
              <a:spcBef>
                <a:spcPts val="0"/>
              </a:spcBef>
              <a:spcAft>
                <a:spcPts val="0"/>
              </a:spcAft>
            </a:pPr>
            <a:r>
              <a:rPr sz="2000">
                <a:ea typeface="等线" panose="02010600030101010101" pitchFamily="2" charset="-122"/>
              </a:rPr>
              <a:t>（2）GridSpec()：复杂网格排列。</a:t>
            </a:r>
          </a:p>
          <a:p>
            <a:pPr indent="266700">
              <a:lnSpc>
                <a:spcPct val="130000"/>
              </a:lnSpc>
              <a:spcBef>
                <a:spcPts val="0"/>
              </a:spcBef>
              <a:spcAft>
                <a:spcPts val="0"/>
              </a:spcAft>
            </a:pPr>
            <a:r>
              <a:rPr sz="2000">
                <a:ea typeface="等线" panose="02010600030101010101" pitchFamily="2" charset="-122"/>
              </a:rPr>
              <a:t>（3）SubplotSpec()：为给定GridSpec中子图指定位置。</a:t>
            </a:r>
          </a:p>
          <a:p>
            <a:pPr indent="266700">
              <a:lnSpc>
                <a:spcPct val="130000"/>
              </a:lnSpc>
              <a:spcBef>
                <a:spcPts val="0"/>
              </a:spcBef>
              <a:spcAft>
                <a:spcPts val="0"/>
              </a:spcAft>
            </a:pPr>
            <a:r>
              <a:rPr sz="2000">
                <a:ea typeface="等线" panose="02010600030101010101" pitchFamily="2" charset="-122"/>
              </a:rPr>
              <a:t>（4）subplot2grid()：类似于subplot()，但使用基于0的索引并允许子图占据多个单元格。</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24460" y="266065"/>
            <a:ext cx="4927600" cy="398780"/>
          </a:xfrm>
          <a:prstGeom prst="rect">
            <a:avLst/>
          </a:prstGeom>
          <a:noFill/>
        </p:spPr>
        <p:txBody>
          <a:bodyPr wrap="square" rtlCol="0">
            <a:spAutoFit/>
          </a:bodyPr>
          <a:lstStyle/>
          <a:p>
            <a:r>
              <a:rPr sz="2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9.3.2Python的Matplotlib库简介</a:t>
            </a:r>
          </a:p>
        </p:txBody>
      </p:sp>
      <p:sp>
        <p:nvSpPr>
          <p:cNvPr id="4" name="文本框 3"/>
          <p:cNvSpPr txBox="1"/>
          <p:nvPr/>
        </p:nvSpPr>
        <p:spPr>
          <a:xfrm>
            <a:off x="343878" y="927783"/>
            <a:ext cx="7829452" cy="707886"/>
          </a:xfrm>
          <a:prstGeom prst="rect">
            <a:avLst/>
          </a:prstGeom>
          <a:noFill/>
        </p:spPr>
        <p:txBody>
          <a:bodyPr wrap="square" rtlCol="0" anchor="t">
            <a:spAutoFit/>
          </a:bodyPr>
          <a:lstStyle/>
          <a:p>
            <a:r>
              <a:rPr lang="zh-CN" altLang="zh-CN" sz="2000"/>
              <a:t>最常见的一种网格排版方法</a:t>
            </a:r>
            <a:r>
              <a:rPr lang="en-US" altLang="zh-CN" sz="2000"/>
              <a:t>subplots()</a:t>
            </a:r>
            <a:r>
              <a:rPr lang="zh-CN" altLang="zh-CN" sz="2000"/>
              <a:t>，该方法一次性定好所有</a:t>
            </a:r>
            <a:r>
              <a:rPr lang="en-US" altLang="zh-CN" sz="2000"/>
              <a:t>Axes</a:t>
            </a:r>
            <a:r>
              <a:rPr lang="zh-CN" altLang="zh-CN" sz="2000"/>
              <a:t>，示例代码如下：</a:t>
            </a:r>
          </a:p>
        </p:txBody>
      </p:sp>
      <p:sp>
        <p:nvSpPr>
          <p:cNvPr id="2" name="矩形 1">
            <a:extLst>
              <a:ext uri="{FF2B5EF4-FFF2-40B4-BE49-F238E27FC236}">
                <a16:creationId xmlns:a16="http://schemas.microsoft.com/office/drawing/2014/main" id="{4DD84D36-793A-44A0-BC2C-E5E489C9E8DF}"/>
              </a:ext>
            </a:extLst>
          </p:cNvPr>
          <p:cNvSpPr/>
          <p:nvPr/>
        </p:nvSpPr>
        <p:spPr>
          <a:xfrm>
            <a:off x="560363" y="1725291"/>
            <a:ext cx="3312942" cy="267765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spcAft>
                <a:spcPts val="0"/>
              </a:spcAft>
            </a:pPr>
            <a:r>
              <a:rPr lang="en-US" altLang="zh-CN" sz="1400" kern="100">
                <a:latin typeface="等线" panose="02010600030101010101" pitchFamily="2" charset="-122"/>
                <a:cs typeface="Times New Roman" panose="02020603050405020304" pitchFamily="18" charset="0"/>
              </a:rPr>
              <a:t>from matplotlib import pyplot as plt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fig = plt.figure(dpi=300)</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ax1 = fig.add_subplot(2,2,1)</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ax2 = fig.add_subplot(2,2,2)</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ax3 = fig.add_subplot(2,2,3)</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ax4 = fig.add_subplot(2,2,4)</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ax1.set_title("(1)")</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ax2.set_title("(2)")</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ax3.set_title("(3)")</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ax4.set_title("(4)")</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fig.tight_layout()      # </a:t>
            </a:r>
            <a:r>
              <a:rPr lang="zh-CN" altLang="zh-CN" sz="1400" kern="100">
                <a:latin typeface="等线" panose="02010600030101010101" pitchFamily="2" charset="-122"/>
                <a:cs typeface="Times New Roman" panose="02020603050405020304" pitchFamily="18" charset="0"/>
              </a:rPr>
              <a:t>自动紧凑布局</a:t>
            </a:r>
            <a:endParaRPr lang="zh-CN" altLang="zh-CN" sz="1800" kern="100">
              <a:latin typeface="等线" panose="02010600030101010101" pitchFamily="2" charset="-122"/>
              <a:cs typeface="Times New Roman" panose="02020603050405020304" pitchFamily="18" charset="0"/>
            </a:endParaRPr>
          </a:p>
          <a:p>
            <a:r>
              <a:rPr lang="en-US" altLang="zh-CN" sz="1400" kern="100">
                <a:latin typeface="等线" panose="02010600030101010101" pitchFamily="2" charset="-122"/>
                <a:cs typeface="Times New Roman" panose="02020603050405020304" pitchFamily="18" charset="0"/>
              </a:rPr>
              <a:t>plt.show()</a:t>
            </a:r>
            <a:endParaRPr lang="zh-CN" altLang="en-US"/>
          </a:p>
        </p:txBody>
      </p:sp>
      <p:sp>
        <p:nvSpPr>
          <p:cNvPr id="3" name="矩形 2">
            <a:extLst>
              <a:ext uri="{FF2B5EF4-FFF2-40B4-BE49-F238E27FC236}">
                <a16:creationId xmlns:a16="http://schemas.microsoft.com/office/drawing/2014/main" id="{CD3288FA-78AD-4689-8112-E9F563ACD798}"/>
              </a:ext>
            </a:extLst>
          </p:cNvPr>
          <p:cNvSpPr/>
          <p:nvPr/>
        </p:nvSpPr>
        <p:spPr>
          <a:xfrm>
            <a:off x="4391464" y="1471375"/>
            <a:ext cx="4302370" cy="646331"/>
          </a:xfrm>
          <a:prstGeom prst="rect">
            <a:avLst/>
          </a:prstGeom>
        </p:spPr>
        <p:txBody>
          <a:bodyPr wrap="square">
            <a:spAutoFit/>
          </a:bodyPr>
          <a:lstStyle/>
          <a:p>
            <a:r>
              <a:rPr lang="zh-CN" altLang="en-US" sz="1800"/>
              <a:t>其中，</a:t>
            </a:r>
            <a:r>
              <a:rPr lang="en-US" altLang="zh-CN" sz="1800"/>
              <a:t>add_subplot(2,2,x) </a:t>
            </a:r>
            <a:r>
              <a:rPr lang="zh-CN" altLang="en-US" sz="1800"/>
              <a:t>语句表示生成</a:t>
            </a:r>
            <a:r>
              <a:rPr lang="en-US" altLang="zh-CN" sz="1800"/>
              <a:t>2*2</a:t>
            </a:r>
            <a:r>
              <a:rPr lang="zh-CN" altLang="en-US" sz="1800"/>
              <a:t>的四个子图，呈现的效果如下图所示：</a:t>
            </a:r>
          </a:p>
        </p:txBody>
      </p:sp>
      <p:pic>
        <p:nvPicPr>
          <p:cNvPr id="7" name="图片 6">
            <a:extLst>
              <a:ext uri="{FF2B5EF4-FFF2-40B4-BE49-F238E27FC236}">
                <a16:creationId xmlns:a16="http://schemas.microsoft.com/office/drawing/2014/main" id="{3818B66F-0A36-478B-B4F3-2DCEBE62238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2569" y="2260161"/>
            <a:ext cx="3423920" cy="2264410"/>
          </a:xfrm>
          <a:prstGeom prst="rect">
            <a:avLst/>
          </a:prstGeom>
          <a:noFill/>
          <a:ln>
            <a:noFill/>
          </a:ln>
        </p:spPr>
      </p:pic>
    </p:spTree>
    <p:extLst>
      <p:ext uri="{BB962C8B-B14F-4D97-AF65-F5344CB8AC3E}">
        <p14:creationId xmlns:p14="http://schemas.microsoft.com/office/powerpoint/2010/main" val="2979194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709" y="0"/>
            <a:ext cx="9141291" cy="5143500"/>
          </a:xfrm>
          <a:prstGeom prst="rect">
            <a:avLst/>
          </a:prstGeom>
        </p:spPr>
      </p:pic>
      <p:grpSp>
        <p:nvGrpSpPr>
          <p:cNvPr id="32" name="组合 14"/>
          <p:cNvGrpSpPr/>
          <p:nvPr/>
        </p:nvGrpSpPr>
        <p:grpSpPr bwMode="auto">
          <a:xfrm>
            <a:off x="2253680" y="1914643"/>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219325" y="1131570"/>
            <a:ext cx="6555105" cy="645160"/>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mn-ea"/>
                <a:cs typeface="IrisUPC" panose="020B0604020202020204" pitchFamily="34" charset="-34"/>
              </a:rPr>
              <a:t> </a:t>
            </a:r>
            <a:r>
              <a:rPr lang="zh-CN" altLang="en-US" sz="3600" b="1" dirty="0">
                <a:solidFill>
                  <a:srgbClr val="FFC000"/>
                </a:solidFill>
                <a:effectLst>
                  <a:outerShdw blurRad="38100" dist="38100" dir="2700000" algn="tl">
                    <a:srgbClr val="000000">
                      <a:alpha val="43137"/>
                    </a:srgbClr>
                  </a:outerShdw>
                </a:effectLst>
                <a:latin typeface="+mn-ea"/>
                <a:cs typeface="IrisUPC" panose="020B0604020202020204" pitchFamily="34" charset="-34"/>
              </a:rPr>
              <a:t>基于ECharts的可视化示例</a:t>
            </a:r>
          </a:p>
        </p:txBody>
      </p:sp>
      <p:sp>
        <p:nvSpPr>
          <p:cNvPr id="41" name="文本框 40"/>
          <p:cNvSpPr txBox="1">
            <a:spLocks noChangeArrowheads="1"/>
          </p:cNvSpPr>
          <p:nvPr/>
        </p:nvSpPr>
        <p:spPr bwMode="auto">
          <a:xfrm>
            <a:off x="848229" y="1054872"/>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9.4</a:t>
            </a:r>
          </a:p>
        </p:txBody>
      </p:sp>
      <p:sp>
        <p:nvSpPr>
          <p:cNvPr id="4" name="文本框 3"/>
          <p:cNvSpPr txBox="1"/>
          <p:nvPr/>
        </p:nvSpPr>
        <p:spPr>
          <a:xfrm>
            <a:off x="2253615" y="2122170"/>
            <a:ext cx="3814445" cy="92202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基于ECharts的可视化示例</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ECharts 基础概念概览</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ECharts示例</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9.4.1ECharts使用准备</a:t>
            </a:r>
          </a:p>
        </p:txBody>
      </p:sp>
      <p:sp>
        <p:nvSpPr>
          <p:cNvPr id="100" name="文本框 99"/>
          <p:cNvSpPr txBox="1"/>
          <p:nvPr/>
        </p:nvSpPr>
        <p:spPr>
          <a:xfrm>
            <a:off x="104140" y="770255"/>
            <a:ext cx="8935720" cy="460375"/>
          </a:xfrm>
          <a:prstGeom prst="rect">
            <a:avLst/>
          </a:prstGeom>
          <a:noFill/>
          <a:ln w="9525">
            <a:noFill/>
          </a:ln>
        </p:spPr>
        <p:txBody>
          <a:bodyPr wrap="square">
            <a:spAutoFit/>
          </a:bodyPr>
          <a:lstStyle/>
          <a:p>
            <a:pPr indent="266700">
              <a:lnSpc>
                <a:spcPct val="120000"/>
              </a:lnSpc>
            </a:pPr>
            <a:r>
              <a:rPr lang="en-US" altLang="zh-CN" sz="2000" b="1" dirty="0">
                <a:latin typeface="+mn-ea"/>
              </a:rPr>
              <a:t>   </a:t>
            </a:r>
            <a:r>
              <a:rPr sz="2000" b="1"/>
              <a:t>1.获取ECharts</a:t>
            </a:r>
          </a:p>
        </p:txBody>
      </p:sp>
      <p:sp>
        <p:nvSpPr>
          <p:cNvPr id="9" name="文本框 8"/>
          <p:cNvSpPr txBox="1"/>
          <p:nvPr/>
        </p:nvSpPr>
        <p:spPr>
          <a:xfrm>
            <a:off x="104140" y="1143635"/>
            <a:ext cx="8993505" cy="2887650"/>
          </a:xfrm>
          <a:prstGeom prst="rect">
            <a:avLst/>
          </a:prstGeom>
          <a:noFill/>
          <a:ln w="9525">
            <a:noFill/>
          </a:ln>
        </p:spPr>
        <p:txBody>
          <a:bodyPr wrap="square">
            <a:spAutoFit/>
          </a:bodyPr>
          <a:lstStyle/>
          <a:p>
            <a:pPr indent="266700">
              <a:lnSpc>
                <a:spcPct val="110000"/>
              </a:lnSpc>
              <a:spcBef>
                <a:spcPts val="0"/>
              </a:spcBef>
              <a:spcAft>
                <a:spcPts val="0"/>
              </a:spcAft>
            </a:pPr>
            <a:r>
              <a:rPr lang="en-US" altLang="zh-CN" sz="2000" b="1" dirty="0">
                <a:latin typeface="+mn-ea"/>
              </a:rPr>
              <a:t>   </a:t>
            </a:r>
            <a:r>
              <a:rPr sz="2000">
                <a:ea typeface="等线" panose="02010600030101010101" pitchFamily="2" charset="-122"/>
              </a:rPr>
              <a:t>ECharts是以JavaScripts库提供的，可以通过以下几种方式获取 Apache ECharts的发行版。</a:t>
            </a:r>
          </a:p>
          <a:p>
            <a:pPr marL="800100" lvl="1" indent="-342900">
              <a:lnSpc>
                <a:spcPct val="110000"/>
              </a:lnSpc>
              <a:spcBef>
                <a:spcPts val="0"/>
              </a:spcBef>
              <a:spcAft>
                <a:spcPts val="0"/>
              </a:spcAft>
              <a:buFont typeface="Wingdings" panose="05000000000000000000" charset="0"/>
              <a:buChar char="l"/>
            </a:pPr>
            <a:r>
              <a:rPr sz="1800">
                <a:ea typeface="等线" panose="02010600030101010101" pitchFamily="2" charset="-122"/>
              </a:rPr>
              <a:t>从 ECharts 的 GitHub （https://github.com/apache/echarts/releases）上下载</a:t>
            </a:r>
          </a:p>
          <a:p>
            <a:pPr marL="800100" lvl="1" indent="-342900">
              <a:lnSpc>
                <a:spcPct val="110000"/>
              </a:lnSpc>
              <a:spcBef>
                <a:spcPts val="0"/>
              </a:spcBef>
              <a:spcAft>
                <a:spcPts val="0"/>
              </a:spcAft>
              <a:buFont typeface="Wingdings" panose="05000000000000000000" charset="0"/>
              <a:buChar char="l"/>
            </a:pPr>
            <a:r>
              <a:rPr sz="1800">
                <a:ea typeface="等线" panose="02010600030101010101" pitchFamily="2" charset="-122"/>
              </a:rPr>
              <a:t>通过 npm 获取 echarts（npm 版本需要大于 3.0，如果低于此版本需要升级）</a:t>
            </a:r>
          </a:p>
          <a:p>
            <a:pPr marL="457200" lvl="1" indent="0">
              <a:lnSpc>
                <a:spcPct val="110000"/>
              </a:lnSpc>
              <a:spcBef>
                <a:spcPts val="0"/>
              </a:spcBef>
              <a:spcAft>
                <a:spcPts val="0"/>
              </a:spcAft>
              <a:buFont typeface="Wingdings" panose="05000000000000000000" charset="0"/>
              <a:buNone/>
            </a:pPr>
            <a:r>
              <a:rPr sz="1800">
                <a:ea typeface="等线" panose="02010600030101010101" pitchFamily="2" charset="-122"/>
              </a:rPr>
              <a:t>npm install echarts –save</a:t>
            </a:r>
          </a:p>
          <a:p>
            <a:pPr marL="800100" lvl="1" indent="-342900">
              <a:lnSpc>
                <a:spcPct val="110000"/>
              </a:lnSpc>
              <a:spcBef>
                <a:spcPts val="0"/>
              </a:spcBef>
              <a:spcAft>
                <a:spcPts val="0"/>
              </a:spcAft>
              <a:buFont typeface="Wingdings" panose="05000000000000000000" charset="0"/>
              <a:buChar char="l"/>
            </a:pPr>
            <a:r>
              <a:rPr sz="1800">
                <a:ea typeface="等线" panose="02010600030101010101" pitchFamily="2" charset="-122"/>
              </a:rPr>
              <a:t>通过 jsDelivr 等 CDN 引入（https://www.jsdelivr.com/package/npm/echarts）</a:t>
            </a:r>
          </a:p>
          <a:p>
            <a:pPr marL="457200" lvl="1" indent="0">
              <a:lnSpc>
                <a:spcPct val="110000"/>
              </a:lnSpc>
              <a:spcBef>
                <a:spcPts val="0"/>
              </a:spcBef>
              <a:spcAft>
                <a:spcPts val="0"/>
              </a:spcAft>
              <a:buFont typeface="Wingdings" panose="05000000000000000000" charset="0"/>
              <a:buNone/>
            </a:pPr>
            <a:endParaRPr lang="en-US" altLang="zh-CN" sz="1800">
              <a:ea typeface="等线" panose="02010600030101010101" pitchFamily="2" charset="-122"/>
            </a:endParaRPr>
          </a:p>
          <a:p>
            <a:pPr marL="457200" lvl="1" indent="0">
              <a:lnSpc>
                <a:spcPct val="110000"/>
              </a:lnSpc>
              <a:spcBef>
                <a:spcPts val="0"/>
              </a:spcBef>
              <a:spcAft>
                <a:spcPts val="0"/>
              </a:spcAft>
              <a:buFont typeface="Wingdings" panose="05000000000000000000" charset="0"/>
              <a:buNone/>
            </a:pPr>
            <a:r>
              <a:rPr sz="1800">
                <a:ea typeface="等线" panose="02010600030101010101" pitchFamily="2" charset="-122"/>
              </a:rPr>
              <a:t>还可以在 ECharts 的官网</a:t>
            </a:r>
            <a:r>
              <a:rPr lang="zh-CN" altLang="en-US" sz="1800">
                <a:ea typeface="等线" panose="02010600030101010101" pitchFamily="2" charset="-122"/>
              </a:rPr>
              <a:t>（</a:t>
            </a:r>
            <a:r>
              <a:rPr lang="en-US" altLang="zh-CN" sz="1800"/>
              <a:t>https://echarts.apache.org/zh/index.html</a:t>
            </a:r>
            <a:r>
              <a:rPr lang="zh-CN" altLang="en-US" sz="1800">
                <a:ea typeface="等线" panose="02010600030101010101" pitchFamily="2" charset="-122"/>
              </a:rPr>
              <a:t>）</a:t>
            </a:r>
            <a:r>
              <a:rPr sz="1800">
                <a:ea typeface="等线" panose="02010600030101010101" pitchFamily="2" charset="-122"/>
              </a:rPr>
              <a:t>上直接下载更多丰富的版本</a:t>
            </a:r>
            <a:r>
              <a:rPr lang="zh-CN" altLang="en-US" sz="1800">
                <a:ea typeface="等线" panose="02010600030101010101" pitchFamily="2" charset="-122"/>
              </a:rPr>
              <a:t>。</a:t>
            </a:r>
            <a:endParaRPr sz="1800">
              <a:ea typeface="等线" panose="02010600030101010101" pitchFamily="2" charset="-122"/>
            </a:endParaRPr>
          </a:p>
        </p:txBody>
      </p:sp>
      <p:pic>
        <p:nvPicPr>
          <p:cNvPr id="2" name="图片 1">
            <a:extLst>
              <a:ext uri="{FF2B5EF4-FFF2-40B4-BE49-F238E27FC236}">
                <a16:creationId xmlns:a16="http://schemas.microsoft.com/office/drawing/2014/main" id="{53F8AEA1-0775-4D31-AA78-436B16EC947D}"/>
              </a:ext>
            </a:extLst>
          </p:cNvPr>
          <p:cNvPicPr>
            <a:picLocks noChangeAspect="1"/>
          </p:cNvPicPr>
          <p:nvPr/>
        </p:nvPicPr>
        <p:blipFill>
          <a:blip r:embed="rId3"/>
          <a:stretch>
            <a:fillRect/>
          </a:stretch>
        </p:blipFill>
        <p:spPr>
          <a:xfrm>
            <a:off x="2364283" y="1043680"/>
            <a:ext cx="5579552" cy="348004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9.4.1ECharts使用准备</a:t>
            </a:r>
          </a:p>
        </p:txBody>
      </p:sp>
      <p:sp>
        <p:nvSpPr>
          <p:cNvPr id="100" name="文本框 99"/>
          <p:cNvSpPr txBox="1"/>
          <p:nvPr/>
        </p:nvSpPr>
        <p:spPr>
          <a:xfrm>
            <a:off x="3810" y="788670"/>
            <a:ext cx="8935720" cy="460375"/>
          </a:xfrm>
          <a:prstGeom prst="rect">
            <a:avLst/>
          </a:prstGeom>
          <a:noFill/>
          <a:ln w="9525">
            <a:noFill/>
          </a:ln>
        </p:spPr>
        <p:txBody>
          <a:bodyPr wrap="square">
            <a:spAutoFit/>
          </a:bodyPr>
          <a:lstStyle/>
          <a:p>
            <a:pPr indent="266700">
              <a:lnSpc>
                <a:spcPct val="120000"/>
              </a:lnSpc>
            </a:pPr>
            <a:r>
              <a:rPr lang="en-US" altLang="zh-CN" sz="2000" b="1" dirty="0">
                <a:latin typeface="+mn-ea"/>
              </a:rPr>
              <a:t>   </a:t>
            </a:r>
            <a:r>
              <a:rPr sz="2000" b="1"/>
              <a:t>2.引入ECharts</a:t>
            </a:r>
          </a:p>
        </p:txBody>
      </p:sp>
      <p:sp>
        <p:nvSpPr>
          <p:cNvPr id="9" name="文本框 8"/>
          <p:cNvSpPr txBox="1"/>
          <p:nvPr/>
        </p:nvSpPr>
        <p:spPr>
          <a:xfrm>
            <a:off x="0" y="1110615"/>
            <a:ext cx="8939530" cy="1691640"/>
          </a:xfrm>
          <a:prstGeom prst="rect">
            <a:avLst/>
          </a:prstGeom>
          <a:noFill/>
          <a:ln w="9525">
            <a:noFill/>
          </a:ln>
        </p:spPr>
        <p:txBody>
          <a:bodyPr wrap="square">
            <a:spAutoFit/>
          </a:bodyPr>
          <a:lstStyle/>
          <a:p>
            <a:pPr indent="266700">
              <a:lnSpc>
                <a:spcPct val="130000"/>
              </a:lnSpc>
              <a:spcBef>
                <a:spcPts val="0"/>
              </a:spcBef>
              <a:spcAft>
                <a:spcPts val="0"/>
              </a:spcAft>
            </a:pPr>
            <a:r>
              <a:rPr lang="en-US" sz="2000"/>
              <a:t>    </a:t>
            </a:r>
            <a:r>
              <a:rPr sz="2000"/>
              <a:t>在HTML文件中使用Echarts的方法与普通的JavaScripts库一样，使用script标</a:t>
            </a:r>
            <a:r>
              <a:rPr lang="en-US" sz="2000"/>
              <a:t> </a:t>
            </a:r>
          </a:p>
          <a:p>
            <a:pPr indent="266700">
              <a:lnSpc>
                <a:spcPct val="130000"/>
              </a:lnSpc>
              <a:spcBef>
                <a:spcPts val="0"/>
              </a:spcBef>
              <a:spcAft>
                <a:spcPts val="0"/>
              </a:spcAft>
            </a:pPr>
            <a:r>
              <a:rPr lang="en-US" sz="2000"/>
              <a:t> </a:t>
            </a:r>
            <a:r>
              <a:rPr sz="2000"/>
              <a:t>签引入。</a:t>
            </a:r>
          </a:p>
          <a:p>
            <a:pPr indent="266700">
              <a:lnSpc>
                <a:spcPct val="130000"/>
              </a:lnSpc>
              <a:spcBef>
                <a:spcPts val="0"/>
              </a:spcBef>
              <a:spcAft>
                <a:spcPts val="0"/>
              </a:spcAft>
            </a:pPr>
            <a:r>
              <a:rPr lang="en-US" sz="2000" b="1"/>
              <a:t> </a:t>
            </a:r>
            <a:r>
              <a:rPr sz="2000" b="1"/>
              <a:t>（1）第一步：创建 HTML 页面文件</a:t>
            </a:r>
          </a:p>
          <a:p>
            <a:pPr indent="266700">
              <a:lnSpc>
                <a:spcPct val="130000"/>
              </a:lnSpc>
              <a:spcBef>
                <a:spcPts val="0"/>
              </a:spcBef>
              <a:spcAft>
                <a:spcPts val="0"/>
              </a:spcAft>
            </a:pPr>
            <a:r>
              <a:rPr lang="en-US" sz="2000"/>
              <a:t>   </a:t>
            </a:r>
            <a:r>
              <a:rPr sz="2000"/>
              <a:t>创建一个 HTML 页面文件，引入 echarts.js文件。</a:t>
            </a:r>
          </a:p>
        </p:txBody>
      </p:sp>
      <p:sp>
        <p:nvSpPr>
          <p:cNvPr id="3" name="矩形 2">
            <a:extLst>
              <a:ext uri="{FF2B5EF4-FFF2-40B4-BE49-F238E27FC236}">
                <a16:creationId xmlns:a16="http://schemas.microsoft.com/office/drawing/2014/main" id="{8FA5CFF4-7C93-4BE6-AC40-B7A39C1B865A}"/>
              </a:ext>
            </a:extLst>
          </p:cNvPr>
          <p:cNvSpPr/>
          <p:nvPr/>
        </p:nvSpPr>
        <p:spPr>
          <a:xfrm>
            <a:off x="1868658" y="3124200"/>
            <a:ext cx="4572000" cy="181588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just">
              <a:spcAft>
                <a:spcPts val="0"/>
              </a:spcAft>
            </a:pPr>
            <a:r>
              <a:rPr lang="en-US" altLang="zh-CN" sz="1400" kern="100">
                <a:latin typeface="等线" panose="02010600030101010101" pitchFamily="2" charset="-122"/>
                <a:cs typeface="Times New Roman" panose="02020603050405020304" pitchFamily="18" charset="0"/>
              </a:rPr>
              <a:t>&lt;!DOCTYPE html&gt;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&lt;html&gt;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&lt;head&gt;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    &lt;meta charset="utf-8"&gt;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    &lt;!-- </a:t>
            </a:r>
            <a:r>
              <a:rPr lang="zh-CN" altLang="zh-CN" sz="1400" kern="100">
                <a:latin typeface="等线" panose="02010600030101010101" pitchFamily="2" charset="-122"/>
                <a:cs typeface="Times New Roman" panose="02020603050405020304" pitchFamily="18" charset="0"/>
              </a:rPr>
              <a:t>引入</a:t>
            </a:r>
            <a:r>
              <a:rPr lang="en-US" altLang="zh-CN" sz="1400" kern="100">
                <a:latin typeface="等线" panose="02010600030101010101" pitchFamily="2" charset="-122"/>
                <a:cs typeface="Times New Roman" panose="02020603050405020304" pitchFamily="18" charset="0"/>
              </a:rPr>
              <a:t> ECharts </a:t>
            </a:r>
            <a:r>
              <a:rPr lang="zh-CN" altLang="zh-CN" sz="1400" kern="100">
                <a:latin typeface="等线" panose="02010600030101010101" pitchFamily="2" charset="-122"/>
                <a:cs typeface="Times New Roman" panose="02020603050405020304" pitchFamily="18" charset="0"/>
              </a:rPr>
              <a:t>文件</a:t>
            </a:r>
            <a:r>
              <a:rPr lang="en-US" altLang="zh-CN" sz="1400" kern="100">
                <a:latin typeface="等线" panose="02010600030101010101" pitchFamily="2" charset="-122"/>
                <a:cs typeface="Times New Roman" panose="02020603050405020304" pitchFamily="18" charset="0"/>
              </a:rPr>
              <a:t> --&gt;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    </a:t>
            </a:r>
            <a:r>
              <a:rPr lang="en-US" altLang="zh-CN" sz="1400" b="1" kern="100">
                <a:latin typeface="等线" panose="02010600030101010101" pitchFamily="2" charset="-122"/>
                <a:cs typeface="Times New Roman" panose="02020603050405020304" pitchFamily="18" charset="0"/>
              </a:rPr>
              <a:t>&lt;script src="echarts.js"&gt;&lt;/script&gt;</a:t>
            </a:r>
            <a:endParaRPr lang="zh-CN" altLang="zh-CN" sz="1800" kern="100">
              <a:latin typeface="等线" panose="02010600030101010101" pitchFamily="2" charset="-122"/>
              <a:cs typeface="Times New Roman" panose="02020603050405020304" pitchFamily="18" charset="0"/>
            </a:endParaRPr>
          </a:p>
          <a:p>
            <a:pPr algn="just">
              <a:spcAft>
                <a:spcPts val="0"/>
              </a:spcAft>
            </a:pPr>
            <a:r>
              <a:rPr lang="en-US" altLang="zh-CN" sz="1400" kern="100">
                <a:latin typeface="等线" panose="02010600030101010101" pitchFamily="2" charset="-122"/>
                <a:cs typeface="Times New Roman" panose="02020603050405020304" pitchFamily="18" charset="0"/>
              </a:rPr>
              <a:t>&lt;/head&gt;</a:t>
            </a:r>
            <a:endParaRPr lang="zh-CN" altLang="zh-CN" sz="1800" kern="100">
              <a:latin typeface="等线" panose="02010600030101010101" pitchFamily="2" charset="-122"/>
              <a:cs typeface="Times New Roman" panose="02020603050405020304" pitchFamily="18" charset="0"/>
            </a:endParaRPr>
          </a:p>
          <a:p>
            <a:r>
              <a:rPr lang="en-US" altLang="zh-CN" sz="1400" kern="100">
                <a:latin typeface="等线" panose="02010600030101010101" pitchFamily="2" charset="-122"/>
                <a:cs typeface="Times New Roman" panose="02020603050405020304" pitchFamily="18" charset="0"/>
              </a:rPr>
              <a:t>&lt;/html&gt;</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9.4.1ECharts使用准备</a:t>
            </a:r>
          </a:p>
        </p:txBody>
      </p:sp>
      <p:sp>
        <p:nvSpPr>
          <p:cNvPr id="9" name="文本框 8"/>
          <p:cNvSpPr txBox="1"/>
          <p:nvPr/>
        </p:nvSpPr>
        <p:spPr>
          <a:xfrm>
            <a:off x="102235" y="927100"/>
            <a:ext cx="6057069" cy="458715"/>
          </a:xfrm>
          <a:prstGeom prst="rect">
            <a:avLst/>
          </a:prstGeom>
          <a:noFill/>
          <a:ln w="9525">
            <a:noFill/>
          </a:ln>
        </p:spPr>
        <p:txBody>
          <a:bodyPr wrap="square">
            <a:spAutoFit/>
          </a:bodyPr>
          <a:lstStyle/>
          <a:p>
            <a:pPr indent="266700">
              <a:lnSpc>
                <a:spcPct val="130000"/>
              </a:lnSpc>
              <a:spcBef>
                <a:spcPts val="0"/>
              </a:spcBef>
              <a:spcAft>
                <a:spcPts val="0"/>
              </a:spcAft>
            </a:pPr>
            <a:r>
              <a:rPr sz="2000" b="1"/>
              <a:t>（2）第二步：为Echarts准备一个DOM容器</a:t>
            </a:r>
          </a:p>
        </p:txBody>
      </p:sp>
      <p:sp>
        <p:nvSpPr>
          <p:cNvPr id="4" name="文本框 3"/>
          <p:cNvSpPr txBox="1"/>
          <p:nvPr/>
        </p:nvSpPr>
        <p:spPr>
          <a:xfrm>
            <a:off x="366395" y="2740660"/>
            <a:ext cx="8410575"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这里为</a:t>
            </a:r>
            <a:r>
              <a:rPr lang="en-US" sz="2000" b="0">
                <a:latin typeface="等线" panose="02010600030101010101" pitchFamily="2" charset="-122"/>
                <a:cs typeface="Times New Roman" panose="02020603050405020304" pitchFamily="18" charset="0"/>
              </a:rPr>
              <a:t>EChart</a:t>
            </a:r>
            <a:r>
              <a:rPr lang="zh-CN" sz="2000" b="0">
                <a:ea typeface="等线" panose="02010600030101010101" pitchFamily="2" charset="-122"/>
              </a:rPr>
              <a:t>s配置了</a:t>
            </a:r>
            <a:r>
              <a:rPr lang="zh-CN" sz="2000" b="0">
                <a:ea typeface="等线" panose="02010600030101010101" pitchFamily="2" charset="-122"/>
                <a:cs typeface="Times New Roman" panose="02020603050405020304" pitchFamily="18" charset="0"/>
              </a:rPr>
              <a:t> id 为 main 的 div</a:t>
            </a:r>
            <a:r>
              <a:rPr lang="zh-CN" sz="2000" b="0">
                <a:ea typeface="等线" panose="02010600030101010101" pitchFamily="2" charset="-122"/>
              </a:rPr>
              <a:t>（</a:t>
            </a:r>
            <a:r>
              <a:rPr lang="en-US" sz="2000" b="0">
                <a:latin typeface="等线" panose="02010600030101010101" pitchFamily="2" charset="-122"/>
                <a:cs typeface="Times New Roman" panose="02020603050405020304" pitchFamily="18" charset="0"/>
              </a:rPr>
              <a:t>DOM</a:t>
            </a:r>
            <a:r>
              <a:rPr lang="zh-CN" sz="2000" b="0">
                <a:ea typeface="等线" panose="02010600030101010101" pitchFamily="2" charset="-122"/>
              </a:rPr>
              <a:t>容器）</a:t>
            </a:r>
            <a:r>
              <a:rPr lang="en-US" sz="2000" b="0">
                <a:latin typeface="等线" panose="02010600030101010101" pitchFamily="2" charset="-122"/>
                <a:cs typeface="Times New Roman" panose="02020603050405020304" pitchFamily="18" charset="0"/>
              </a:rPr>
              <a:t> </a:t>
            </a:r>
            <a:r>
              <a:rPr lang="zh-CN" sz="2000" b="0">
                <a:ea typeface="等线" panose="02010600030101010101" pitchFamily="2" charset="-122"/>
              </a:rPr>
              <a:t>用于包含</a:t>
            </a:r>
            <a:r>
              <a:rPr lang="zh-CN" sz="2000" b="0">
                <a:ea typeface="等线" panose="02010600030101010101" pitchFamily="2" charset="-122"/>
                <a:cs typeface="Times New Roman" panose="02020603050405020304" pitchFamily="18" charset="0"/>
              </a:rPr>
              <a:t> ECharts 绘制的图表</a:t>
            </a:r>
            <a:r>
              <a:rPr lang="zh-CN" sz="2000" b="0">
                <a:ea typeface="等线" panose="02010600030101010101" pitchFamily="2" charset="-122"/>
              </a:rPr>
              <a:t>。</a:t>
            </a:r>
            <a:endParaRPr lang="zh-CN" sz="2000" b="1">
              <a:ea typeface="等线" panose="02010600030101010101" pitchFamily="2" charset="-122"/>
            </a:endParaRPr>
          </a:p>
          <a:p>
            <a:pPr indent="266700">
              <a:lnSpc>
                <a:spcPct val="130000"/>
              </a:lnSpc>
              <a:spcBef>
                <a:spcPts val="0"/>
              </a:spcBef>
              <a:spcAft>
                <a:spcPts val="0"/>
              </a:spcAft>
            </a:pPr>
            <a:r>
              <a:rPr lang="en-US" altLang="zh-CN" sz="2000" b="1">
                <a:ea typeface="等线" panose="02010600030101010101" pitchFamily="2" charset="-122"/>
              </a:rPr>
              <a:t>  </a:t>
            </a:r>
            <a:r>
              <a:rPr lang="zh-CN" sz="2000" b="1">
                <a:ea typeface="等线" panose="02010600030101010101" pitchFamily="2" charset="-122"/>
              </a:rPr>
              <a:t>提示</a:t>
            </a:r>
            <a:r>
              <a:rPr lang="zh-CN" sz="2000" b="0">
                <a:ea typeface="等线" panose="02010600030101010101" pitchFamily="2" charset="-122"/>
              </a:rPr>
              <a:t>：每个</a:t>
            </a:r>
            <a:r>
              <a:rPr lang="en-US" sz="2000" b="0">
                <a:latin typeface="等线" panose="02010600030101010101" pitchFamily="2" charset="-122"/>
                <a:cs typeface="Times New Roman" panose="02020603050405020304" pitchFamily="18" charset="0"/>
              </a:rPr>
              <a:t>DOM</a:t>
            </a:r>
            <a:r>
              <a:rPr lang="zh-CN" sz="2000" b="0">
                <a:ea typeface="等线" panose="02010600030101010101" pitchFamily="2" charset="-122"/>
              </a:rPr>
              <a:t>容器只能包含一个</a:t>
            </a:r>
            <a:r>
              <a:rPr lang="en-US" sz="2000" b="0">
                <a:latin typeface="等线" panose="02010600030101010101" pitchFamily="2" charset="-122"/>
                <a:cs typeface="Times New Roman" panose="02020603050405020304" pitchFamily="18" charset="0"/>
              </a:rPr>
              <a:t>ECharts</a:t>
            </a:r>
            <a:r>
              <a:rPr lang="zh-CN" sz="2000" b="0">
                <a:ea typeface="等线" panose="02010600030101010101" pitchFamily="2" charset="-122"/>
              </a:rPr>
              <a:t>对象实例，如果要在同一个页面中显示多个</a:t>
            </a:r>
            <a:r>
              <a:rPr lang="en-US" sz="2000" b="0">
                <a:latin typeface="等线" panose="02010600030101010101" pitchFamily="2" charset="-122"/>
                <a:cs typeface="Times New Roman" panose="02020603050405020304" pitchFamily="18" charset="0"/>
              </a:rPr>
              <a:t>EC</a:t>
            </a:r>
            <a:r>
              <a:rPr lang="en-US" sz="2000" b="0">
                <a:latin typeface="等线" panose="02010600030101010101" pitchFamily="2" charset="-122"/>
              </a:rPr>
              <a:t>h</a:t>
            </a:r>
            <a:r>
              <a:rPr lang="en-US" sz="2000" b="0">
                <a:latin typeface="等线" panose="02010600030101010101" pitchFamily="2" charset="-122"/>
                <a:cs typeface="Times New Roman" panose="02020603050405020304" pitchFamily="18" charset="0"/>
              </a:rPr>
              <a:t>arts</a:t>
            </a:r>
            <a:r>
              <a:rPr lang="zh-CN" sz="2000" b="0">
                <a:ea typeface="等线" panose="02010600030101010101" pitchFamily="2" charset="-122"/>
              </a:rPr>
              <a:t>的图表则需要创建多个</a:t>
            </a:r>
            <a:r>
              <a:rPr lang="en-US" sz="2000" b="0">
                <a:latin typeface="等线" panose="02010600030101010101" pitchFamily="2" charset="-122"/>
                <a:cs typeface="Times New Roman" panose="02020603050405020304" pitchFamily="18" charset="0"/>
              </a:rPr>
              <a:t>DOM</a:t>
            </a:r>
            <a:r>
              <a:rPr lang="zh-CN" sz="2000" b="0">
                <a:ea typeface="等线" panose="02010600030101010101" pitchFamily="2" charset="-122"/>
              </a:rPr>
              <a:t>容器。</a:t>
            </a:r>
            <a:endParaRPr lang="zh-CN" altLang="en-US" sz="2000"/>
          </a:p>
        </p:txBody>
      </p:sp>
      <p:sp>
        <p:nvSpPr>
          <p:cNvPr id="6" name="矩形 5">
            <a:extLst>
              <a:ext uri="{FF2B5EF4-FFF2-40B4-BE49-F238E27FC236}">
                <a16:creationId xmlns:a16="http://schemas.microsoft.com/office/drawing/2014/main" id="{FCD6BCFB-CA74-4663-9D0F-0790D0B07BBA}"/>
              </a:ext>
            </a:extLst>
          </p:cNvPr>
          <p:cNvSpPr/>
          <p:nvPr/>
        </p:nvSpPr>
        <p:spPr>
          <a:xfrm>
            <a:off x="1587304" y="1561445"/>
            <a:ext cx="4572000" cy="92333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altLang="zh-CN"/>
              <a:t>&lt;body&gt;</a:t>
            </a:r>
          </a:p>
          <a:p>
            <a:r>
              <a:rPr lang="en-US" altLang="zh-CN"/>
              <a:t>    &lt;!-- </a:t>
            </a:r>
            <a:r>
              <a:rPr lang="zh-CN" altLang="en-US"/>
              <a:t>为 </a:t>
            </a:r>
            <a:r>
              <a:rPr lang="en-US" altLang="zh-CN"/>
              <a:t>ECharts </a:t>
            </a:r>
            <a:r>
              <a:rPr lang="zh-CN" altLang="en-US"/>
              <a:t>准备一个具备大小（宽高）的 </a:t>
            </a:r>
            <a:r>
              <a:rPr lang="en-US" altLang="zh-CN"/>
              <a:t>DOM --&gt;</a:t>
            </a:r>
          </a:p>
          <a:p>
            <a:r>
              <a:rPr lang="en-US" altLang="zh-CN"/>
              <a:t>    &lt;div id="main" style="width: 600px;height:400px;"&gt;&lt;/div&gt;</a:t>
            </a:r>
          </a:p>
          <a:p>
            <a:r>
              <a:rPr lang="en-US" altLang="zh-CN"/>
              <a:t>&lt;/body&gt;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4181475" cy="460375"/>
          </a:xfrm>
          <a:prstGeom prst="rect">
            <a:avLst/>
          </a:prstGeom>
        </p:spPr>
        <p:txBody>
          <a:bodyPr wrap="square">
            <a:spAutoFit/>
          </a:bodyPr>
          <a:lstStyle/>
          <a:p>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9.4.2</a:t>
            </a:r>
            <a:r>
              <a:rPr lang="en-US"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基础概念概览</a:t>
            </a:r>
            <a:endParaRPr lang="zh-CN" altLang="en-US"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4" name="图示 3"/>
          <p:cNvGraphicFramePr/>
          <p:nvPr>
            <p:extLst>
              <p:ext uri="{D42A27DB-BD31-4B8C-83A1-F6EECF244321}">
                <p14:modId xmlns:p14="http://schemas.microsoft.com/office/powerpoint/2010/main" val="1416587954"/>
              </p:ext>
            </p:extLst>
          </p:nvPr>
        </p:nvGraphicFramePr>
        <p:xfrm>
          <a:off x="142240" y="970280"/>
          <a:ext cx="8601710" cy="40963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pull/>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6675" y="1125855"/>
            <a:ext cx="8374380" cy="2891790"/>
          </a:xfrm>
          <a:prstGeom prst="rect">
            <a:avLst/>
          </a:prstGeom>
          <a:noFill/>
          <a:ln w="9525">
            <a:noFill/>
          </a:ln>
        </p:spPr>
        <p:txBody>
          <a:bodyPr wrap="square">
            <a:spAutoFit/>
          </a:bodyPr>
          <a:lstStyle/>
          <a:p>
            <a:pPr lvl="1"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本节介绍几种</a:t>
            </a:r>
            <a:r>
              <a:rPr lang="en-US" sz="2000" b="0">
                <a:latin typeface="等线" panose="02010600030101010101" pitchFamily="2" charset="-122"/>
                <a:cs typeface="Times New Roman" panose="02020603050405020304" pitchFamily="18" charset="0"/>
              </a:rPr>
              <a:t>ECharts</a:t>
            </a:r>
            <a:r>
              <a:rPr lang="zh-CN" sz="2000" b="0">
                <a:ea typeface="等线" panose="02010600030101010101" pitchFamily="2" charset="-122"/>
              </a:rPr>
              <a:t>中最常见的图表，包括柱状图和饼图，以及如何异步加载数据的示例。</a:t>
            </a:r>
          </a:p>
          <a:p>
            <a:pPr lvl="1"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为了在</a:t>
            </a:r>
            <a:r>
              <a:rPr lang="en-US" sz="2000" b="0">
                <a:latin typeface="等线" panose="02010600030101010101" pitchFamily="2" charset="-122"/>
                <a:cs typeface="Times New Roman" panose="02020603050405020304" pitchFamily="18" charset="0"/>
              </a:rPr>
              <a:t>Web</a:t>
            </a:r>
            <a:r>
              <a:rPr lang="zh-CN" sz="2000" b="0">
                <a:ea typeface="等线" panose="02010600030101010101" pitchFamily="2" charset="-122"/>
              </a:rPr>
              <a:t>页面上绘制图形，需要在</a:t>
            </a:r>
            <a:r>
              <a:rPr lang="en-US" sz="2000" b="0">
                <a:latin typeface="等线" panose="02010600030101010101" pitchFamily="2" charset="-122"/>
                <a:cs typeface="Times New Roman" panose="02020603050405020304" pitchFamily="18" charset="0"/>
              </a:rPr>
              <a:t>HTML</a:t>
            </a:r>
            <a:r>
              <a:rPr lang="zh-CN" sz="2000" b="0">
                <a:ea typeface="等线" panose="02010600030101010101" pitchFamily="2" charset="-122"/>
              </a:rPr>
              <a:t>的</a:t>
            </a:r>
            <a:r>
              <a:rPr lang="en-US" sz="2000" b="0">
                <a:latin typeface="等线" panose="02010600030101010101" pitchFamily="2" charset="-122"/>
                <a:cs typeface="Times New Roman" panose="02020603050405020304" pitchFamily="18" charset="0"/>
              </a:rPr>
              <a:t>JavaScript</a:t>
            </a:r>
            <a:r>
              <a:rPr lang="zh-CN" sz="2000" b="0">
                <a:ea typeface="等线" panose="02010600030101010101" pitchFamily="2" charset="-122"/>
              </a:rPr>
              <a:t>s代码段中完成三个步聚：</a:t>
            </a:r>
            <a:endParaRPr lang="en-US" sz="2000" b="0">
              <a:latin typeface="等线" panose="02010600030101010101" pitchFamily="2" charset="-122"/>
            </a:endParaRPr>
          </a:p>
          <a:p>
            <a:pPr lvl="1" indent="266700">
              <a:lnSpc>
                <a:spcPct val="130000"/>
              </a:lnSpc>
              <a:spcBef>
                <a:spcPts val="0"/>
              </a:spcBef>
              <a:spcAft>
                <a:spcPts val="0"/>
              </a:spcAft>
            </a:pPr>
            <a:r>
              <a:rPr lang="en-US" sz="2000" b="0">
                <a:latin typeface="等线" panose="02010600030101010101" pitchFamily="2" charset="-122"/>
              </a:rPr>
              <a:t>      (1) </a:t>
            </a:r>
            <a:r>
              <a:rPr lang="zh-CN" sz="2000" b="0">
                <a:ea typeface="等线" panose="02010600030101010101" pitchFamily="2" charset="-122"/>
              </a:rPr>
              <a:t>用</a:t>
            </a:r>
            <a:r>
              <a:rPr lang="en-US" sz="2000" b="0">
                <a:solidFill>
                  <a:srgbClr val="0000FF"/>
                </a:solidFill>
                <a:latin typeface="等线" panose="02010600030101010101" pitchFamily="2" charset="-122"/>
                <a:hlinkClick r:id="rId2"/>
              </a:rPr>
              <a:t>echarts.init</a:t>
            </a:r>
            <a:r>
              <a:rPr lang="zh-CN" sz="2000" b="0">
                <a:ea typeface="等线" panose="02010600030101010101" pitchFamily="2" charset="-122"/>
                <a:cs typeface="Times New Roman" panose="02020603050405020304" pitchFamily="18" charset="0"/>
              </a:rPr>
              <a:t> 方法初始化一个echarts </a:t>
            </a:r>
            <a:r>
              <a:rPr lang="zh-CN" sz="2000" b="0">
                <a:ea typeface="等线" panose="02010600030101010101" pitchFamily="2" charset="-122"/>
              </a:rPr>
              <a:t>对象实例</a:t>
            </a:r>
            <a:endParaRPr lang="en-US" sz="2000" b="0">
              <a:latin typeface="等线" panose="02010600030101010101" pitchFamily="2" charset="-122"/>
            </a:endParaRPr>
          </a:p>
          <a:p>
            <a:pPr lvl="1" indent="266700">
              <a:lnSpc>
                <a:spcPct val="130000"/>
              </a:lnSpc>
              <a:spcBef>
                <a:spcPts val="0"/>
              </a:spcBef>
              <a:spcAft>
                <a:spcPts val="0"/>
              </a:spcAft>
            </a:pPr>
            <a:r>
              <a:rPr lang="en-US" sz="2000" b="0">
                <a:latin typeface="等线" panose="02010600030101010101" pitchFamily="2" charset="-122"/>
              </a:rPr>
              <a:t>      (2) </a:t>
            </a:r>
            <a:r>
              <a:rPr lang="zh-CN" sz="2000" b="0">
                <a:ea typeface="等线" panose="02010600030101010101" pitchFamily="2" charset="-122"/>
              </a:rPr>
              <a:t>以</a:t>
            </a:r>
            <a:r>
              <a:rPr lang="en-US" sz="2000" b="0">
                <a:latin typeface="等线" panose="02010600030101010101" pitchFamily="2" charset="-122"/>
                <a:cs typeface="Times New Roman" panose="02020603050405020304" pitchFamily="18" charset="0"/>
              </a:rPr>
              <a:t>json</a:t>
            </a:r>
            <a:r>
              <a:rPr lang="zh-CN" sz="2000" b="0">
                <a:ea typeface="等线" panose="02010600030101010101" pitchFamily="2" charset="-122"/>
              </a:rPr>
              <a:t>格式定义可视化图表的数据格式</a:t>
            </a:r>
            <a:endParaRPr lang="en-US" sz="2000" b="0">
              <a:latin typeface="等线" panose="02010600030101010101" pitchFamily="2" charset="-122"/>
            </a:endParaRPr>
          </a:p>
          <a:p>
            <a:pPr lvl="1" indent="266700">
              <a:lnSpc>
                <a:spcPct val="130000"/>
              </a:lnSpc>
              <a:spcBef>
                <a:spcPts val="0"/>
              </a:spcBef>
              <a:spcAft>
                <a:spcPts val="0"/>
              </a:spcAft>
            </a:pPr>
            <a:r>
              <a:rPr lang="en-US" sz="2000" b="0">
                <a:latin typeface="等线" panose="02010600030101010101" pitchFamily="2" charset="-122"/>
              </a:rPr>
              <a:t>      (3) </a:t>
            </a:r>
            <a:r>
              <a:rPr lang="zh-CN" sz="2000" b="0">
                <a:ea typeface="等线" panose="02010600030101010101" pitchFamily="2" charset="-122"/>
              </a:rPr>
              <a:t>用</a:t>
            </a:r>
            <a:r>
              <a:rPr lang="en-US" sz="2000" b="0">
                <a:latin typeface="等线" panose="02010600030101010101" pitchFamily="2" charset="-122"/>
                <a:cs typeface="Times New Roman" panose="02020603050405020304" pitchFamily="18" charset="0"/>
              </a:rPr>
              <a:t>echarts</a:t>
            </a:r>
            <a:r>
              <a:rPr lang="zh-CN" sz="2000" b="0">
                <a:ea typeface="等线" panose="02010600030101010101" pitchFamily="2" charset="-122"/>
              </a:rPr>
              <a:t>对象实例的</a:t>
            </a:r>
            <a:r>
              <a:rPr lang="en-US" sz="2000" b="0">
                <a:latin typeface="等线" panose="02010600030101010101" pitchFamily="2" charset="-122"/>
                <a:cs typeface="Times New Roman" panose="02020603050405020304" pitchFamily="18" charset="0"/>
              </a:rPr>
              <a:t> </a:t>
            </a:r>
            <a:r>
              <a:rPr lang="en-US" sz="2000" b="0">
                <a:solidFill>
                  <a:srgbClr val="0000FF"/>
                </a:solidFill>
                <a:latin typeface="等线" panose="02010600030101010101" pitchFamily="2" charset="-122"/>
                <a:hlinkClick r:id="rId3"/>
              </a:rPr>
              <a:t>setOption</a:t>
            </a:r>
            <a:r>
              <a:rPr lang="zh-CN" sz="2000" b="0">
                <a:ea typeface="等线" panose="02010600030101010101" pitchFamily="2" charset="-122"/>
                <a:cs typeface="Times New Roman" panose="02020603050405020304" pitchFamily="18" charset="0"/>
              </a:rPr>
              <a:t> 方法</a:t>
            </a:r>
            <a:r>
              <a:rPr lang="zh-CN" sz="2000" b="0">
                <a:ea typeface="等线" panose="02010600030101010101" pitchFamily="2" charset="-122"/>
              </a:rPr>
              <a:t>绘制图形</a:t>
            </a:r>
            <a:endParaRPr lang="zh-CN" altLang="en-US" sz="2000"/>
          </a:p>
        </p:txBody>
      </p:sp>
      <p:sp>
        <p:nvSpPr>
          <p:cNvPr id="4" name="文本框 3">
            <a:extLst>
              <a:ext uri="{FF2B5EF4-FFF2-40B4-BE49-F238E27FC236}">
                <a16:creationId xmlns:a16="http://schemas.microsoft.com/office/drawing/2014/main" id="{E20E776C-537D-4343-99FD-3A68A69B0D84}"/>
              </a:ext>
            </a:extLst>
          </p:cNvPr>
          <p:cNvSpPr txBox="1"/>
          <p:nvPr/>
        </p:nvSpPr>
        <p:spPr>
          <a:xfrm>
            <a:off x="119917" y="260155"/>
            <a:ext cx="4646930"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p:transition spd="slow">
    <p:pull/>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0" y="761365"/>
            <a:ext cx="4667885" cy="156845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dirty="0">
                <a:latin typeface="+mn-ea"/>
              </a:rPr>
              <a:t>    </a:t>
            </a:r>
            <a:r>
              <a:rPr sz="2000" b="1">
                <a:latin typeface="等线" panose="02010600030101010101" pitchFamily="2" charset="-122"/>
                <a:ea typeface="等线" panose="02010600030101010101" pitchFamily="2" charset="-122"/>
                <a:cs typeface="等线" panose="02010600030101010101" pitchFamily="2" charset="-122"/>
                <a:sym typeface="+mn-ea"/>
              </a:rPr>
              <a:t>1.柱状图示例</a:t>
            </a:r>
            <a:r>
              <a:rPr lang="en-US" sz="2000">
                <a:latin typeface="等线" panose="02010600030101010101" pitchFamily="2" charset="-122"/>
                <a:ea typeface="等线" panose="02010600030101010101" pitchFamily="2" charset="-122"/>
                <a:cs typeface="等线" panose="02010600030101010101" pitchFamily="2" charset="-122"/>
                <a:sym typeface="+mn-ea"/>
              </a:rPr>
              <a:t>   </a:t>
            </a:r>
            <a:endParaRPr sz="2000">
              <a:latin typeface="等线" panose="02010600030101010101" pitchFamily="2" charset="-122"/>
              <a:ea typeface="等线" panose="02010600030101010101" pitchFamily="2" charset="-122"/>
              <a:cs typeface="等线" panose="02010600030101010101" pitchFamily="2" charset="-122"/>
            </a:endParaRPr>
          </a:p>
          <a:p>
            <a:pPr indent="266700">
              <a:lnSpc>
                <a:spcPct val="12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本示例以柱状图显示一个服装类</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商品销量的对比图，该示例文件ex</a:t>
            </a:r>
            <a:r>
              <a:rPr lang="en-US" altLang="zh-CN" sz="2000">
                <a:latin typeface="等线" panose="02010600030101010101" pitchFamily="2" charset="-122"/>
                <a:ea typeface="等线" panose="02010600030101010101" pitchFamily="2" charset="-122"/>
                <a:cs typeface="等线" panose="02010600030101010101" pitchFamily="2" charset="-122"/>
              </a:rPr>
              <a:t>9</a:t>
            </a:r>
            <a:r>
              <a:rPr sz="2000">
                <a:latin typeface="等线" panose="02010600030101010101" pitchFamily="2" charset="-122"/>
                <a:ea typeface="等线" panose="02010600030101010101" pitchFamily="2" charset="-122"/>
                <a:cs typeface="等线" panose="02010600030101010101" pitchFamily="2" charset="-122"/>
              </a:rPr>
              <a:t>_1.html的源代码如下：</a:t>
            </a:r>
          </a:p>
        </p:txBody>
      </p:sp>
      <p:pic>
        <p:nvPicPr>
          <p:cNvPr id="4" name="图片 3"/>
          <p:cNvPicPr>
            <a:picLocks noChangeAspect="1"/>
          </p:cNvPicPr>
          <p:nvPr/>
        </p:nvPicPr>
        <p:blipFill>
          <a:blip r:embed="rId3"/>
          <a:stretch>
            <a:fillRect/>
          </a:stretch>
        </p:blipFill>
        <p:spPr>
          <a:xfrm>
            <a:off x="292100" y="2345055"/>
            <a:ext cx="4197350" cy="2727960"/>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4667885" y="1195070"/>
            <a:ext cx="4412615" cy="3862705"/>
          </a:xfrm>
          <a:prstGeom prst="rect">
            <a:avLst/>
          </a:prstGeom>
          <a:ln>
            <a:solidFill>
              <a:srgbClr val="FF0000"/>
            </a:solidFill>
          </a:ln>
        </p:spPr>
      </p:pic>
      <p:sp>
        <p:nvSpPr>
          <p:cNvPr id="7" name="圆角右箭头 6"/>
          <p:cNvSpPr/>
          <p:nvPr/>
        </p:nvSpPr>
        <p:spPr>
          <a:xfrm>
            <a:off x="3976370" y="1862455"/>
            <a:ext cx="691515" cy="467360"/>
          </a:xfrm>
          <a:prstGeom prst="bentArrow">
            <a:avLst>
              <a:gd name="adj1" fmla="val 25000"/>
              <a:gd name="adj2" fmla="val 25018"/>
              <a:gd name="adj3" fmla="val 25000"/>
              <a:gd name="adj4" fmla="val 4375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文本框 7">
            <a:extLst>
              <a:ext uri="{FF2B5EF4-FFF2-40B4-BE49-F238E27FC236}">
                <a16:creationId xmlns:a16="http://schemas.microsoft.com/office/drawing/2014/main" id="{B8536FBF-26A4-48D7-9014-61EE259291CB}"/>
              </a:ext>
            </a:extLst>
          </p:cNvPr>
          <p:cNvSpPr txBox="1"/>
          <p:nvPr/>
        </p:nvSpPr>
        <p:spPr>
          <a:xfrm>
            <a:off x="119917" y="260155"/>
            <a:ext cx="3990650"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B8ABBD0-2B1A-49B8-8171-B44586C2EBD2}"/>
              </a:ext>
            </a:extLst>
          </p:cNvPr>
          <p:cNvPicPr/>
          <p:nvPr/>
        </p:nvPicPr>
        <p:blipFill>
          <a:blip r:embed="rId2"/>
          <a:stretch>
            <a:fillRect/>
          </a:stretch>
        </p:blipFill>
        <p:spPr>
          <a:xfrm>
            <a:off x="3016567" y="1524105"/>
            <a:ext cx="3964200" cy="2764261"/>
          </a:xfrm>
          <a:prstGeom prst="rect">
            <a:avLst/>
          </a:prstGeom>
        </p:spPr>
      </p:pic>
      <p:sp>
        <p:nvSpPr>
          <p:cNvPr id="3" name="文本框 2">
            <a:extLst>
              <a:ext uri="{FF2B5EF4-FFF2-40B4-BE49-F238E27FC236}">
                <a16:creationId xmlns:a16="http://schemas.microsoft.com/office/drawing/2014/main" id="{00639173-C345-44AE-9EDB-1ED12DCC5E1C}"/>
              </a:ext>
            </a:extLst>
          </p:cNvPr>
          <p:cNvSpPr txBox="1"/>
          <p:nvPr/>
        </p:nvSpPr>
        <p:spPr>
          <a:xfrm>
            <a:off x="119917" y="260155"/>
            <a:ext cx="3541916"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3858868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97913" y="992358"/>
            <a:ext cx="3737610" cy="46037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dirty="0">
                <a:latin typeface="+mn-ea"/>
              </a:rPr>
              <a:t>   </a:t>
            </a:r>
            <a:r>
              <a:rPr sz="2000" b="1">
                <a:latin typeface="等线" panose="02010600030101010101" pitchFamily="2" charset="-122"/>
                <a:ea typeface="等线" panose="02010600030101010101" pitchFamily="2" charset="-122"/>
                <a:cs typeface="等线" panose="02010600030101010101" pitchFamily="2" charset="-122"/>
              </a:rPr>
              <a:t>2.饼图示例</a:t>
            </a:r>
          </a:p>
        </p:txBody>
      </p:sp>
      <p:sp>
        <p:nvSpPr>
          <p:cNvPr id="2" name="文本框 1"/>
          <p:cNvSpPr txBox="1"/>
          <p:nvPr/>
        </p:nvSpPr>
        <p:spPr>
          <a:xfrm>
            <a:off x="3872865" y="3586480"/>
            <a:ext cx="5080000" cy="229870"/>
          </a:xfrm>
          <a:prstGeom prst="rect">
            <a:avLst/>
          </a:prstGeom>
          <a:noFill/>
          <a:ln w="9525">
            <a:noFill/>
          </a:ln>
        </p:spPr>
        <p:txBody>
          <a:bodyPr>
            <a:spAutoFit/>
          </a:bodyPr>
          <a:lstStyle/>
          <a:p>
            <a:pPr indent="0" algn="ctr"/>
            <a:r>
              <a:rPr sz="900" b="0"/>
              <a:t> ECharts饼图示例</a:t>
            </a:r>
          </a:p>
        </p:txBody>
      </p:sp>
      <p:sp>
        <p:nvSpPr>
          <p:cNvPr id="3" name="文本框 2"/>
          <p:cNvSpPr txBox="1"/>
          <p:nvPr/>
        </p:nvSpPr>
        <p:spPr>
          <a:xfrm>
            <a:off x="480011" y="1491615"/>
            <a:ext cx="4156710" cy="1291590"/>
          </a:xfrm>
          <a:prstGeom prst="rect">
            <a:avLst/>
          </a:prstGeom>
          <a:noFill/>
          <a:ln w="9525">
            <a:noFill/>
          </a:ln>
        </p:spPr>
        <p:txBody>
          <a:bodyPr wrap="square">
            <a:spAutoFit/>
          </a:bodyPr>
          <a:lstStyle/>
          <a:p>
            <a:pPr indent="266700">
              <a:lnSpc>
                <a:spcPct val="130000"/>
              </a:lnSpc>
              <a:spcBef>
                <a:spcPts val="0"/>
              </a:spcBef>
              <a:spcAft>
                <a:spcPts val="0"/>
              </a:spcAft>
            </a:pPr>
            <a:r>
              <a:rPr lang="zh-CN" sz="2000" b="0">
                <a:ea typeface="等线" panose="02010600030101010101" pitchFamily="2" charset="-122"/>
              </a:rPr>
              <a:t>本例对上节的商品销量数据值稍加修改，并以饼图样式呈现，显示效果如图所示。</a:t>
            </a:r>
            <a:endParaRPr lang="zh-CN" altLang="en-US" sz="2000"/>
          </a:p>
        </p:txBody>
      </p:sp>
      <p:pic>
        <p:nvPicPr>
          <p:cNvPr id="193541" name="图片 193541"/>
          <p:cNvPicPr>
            <a:picLocks noChangeAspect="1"/>
          </p:cNvPicPr>
          <p:nvPr/>
        </p:nvPicPr>
        <p:blipFill>
          <a:blip r:embed="rId3"/>
          <a:stretch>
            <a:fillRect/>
          </a:stretch>
        </p:blipFill>
        <p:spPr>
          <a:xfrm>
            <a:off x="5521034" y="1132938"/>
            <a:ext cx="2983521" cy="2149524"/>
          </a:xfrm>
          <a:prstGeom prst="rect">
            <a:avLst/>
          </a:prstGeom>
          <a:ln>
            <a:solidFill>
              <a:srgbClr val="274991"/>
            </a:solidFill>
          </a:ln>
        </p:spPr>
      </p:pic>
      <p:sp>
        <p:nvSpPr>
          <p:cNvPr id="7" name="文本框 6">
            <a:extLst>
              <a:ext uri="{FF2B5EF4-FFF2-40B4-BE49-F238E27FC236}">
                <a16:creationId xmlns:a16="http://schemas.microsoft.com/office/drawing/2014/main" id="{C5C579EA-4FB2-4613-98DC-9D83032FC8C3}"/>
              </a:ext>
            </a:extLst>
          </p:cNvPr>
          <p:cNvSpPr txBox="1"/>
          <p:nvPr/>
        </p:nvSpPr>
        <p:spPr>
          <a:xfrm>
            <a:off x="119917" y="260155"/>
            <a:ext cx="3952550"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01063" y="283601"/>
            <a:ext cx="3840170"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示例</a:t>
            </a:r>
          </a:p>
        </p:txBody>
      </p:sp>
      <p:sp>
        <p:nvSpPr>
          <p:cNvPr id="100" name="文本框 99"/>
          <p:cNvSpPr txBox="1"/>
          <p:nvPr/>
        </p:nvSpPr>
        <p:spPr>
          <a:xfrm>
            <a:off x="630848" y="2218226"/>
            <a:ext cx="3737610" cy="437877"/>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dirty="0">
                <a:latin typeface="+mn-ea"/>
              </a:rPr>
              <a:t>   </a:t>
            </a:r>
            <a:r>
              <a:rPr sz="2000" b="1">
                <a:latin typeface="等线" panose="02010600030101010101" pitchFamily="2" charset="-122"/>
                <a:ea typeface="等线" panose="02010600030101010101" pitchFamily="2" charset="-122"/>
                <a:cs typeface="等线" panose="02010600030101010101" pitchFamily="2" charset="-122"/>
              </a:rPr>
              <a:t>2.饼图示例</a:t>
            </a:r>
            <a:r>
              <a:rPr lang="zh-CN" altLang="en-US" sz="2000" b="1">
                <a:latin typeface="等线" panose="02010600030101010101" pitchFamily="2" charset="-122"/>
                <a:ea typeface="等线" panose="02010600030101010101" pitchFamily="2" charset="-122"/>
                <a:cs typeface="等线" panose="02010600030101010101" pitchFamily="2" charset="-122"/>
              </a:rPr>
              <a:t>源码</a:t>
            </a:r>
            <a:endParaRPr sz="2000" b="1">
              <a:latin typeface="等线" panose="02010600030101010101" pitchFamily="2" charset="-122"/>
              <a:ea typeface="等线" panose="02010600030101010101" pitchFamily="2" charset="-122"/>
              <a:cs typeface="等线" panose="02010600030101010101" pitchFamily="2" charset="-122"/>
            </a:endParaRPr>
          </a:p>
        </p:txBody>
      </p:sp>
      <p:sp>
        <p:nvSpPr>
          <p:cNvPr id="4" name="矩形 3">
            <a:extLst>
              <a:ext uri="{FF2B5EF4-FFF2-40B4-BE49-F238E27FC236}">
                <a16:creationId xmlns:a16="http://schemas.microsoft.com/office/drawing/2014/main" id="{B1D970EE-79E7-4C01-8005-43D499FD3D65}"/>
              </a:ext>
            </a:extLst>
          </p:cNvPr>
          <p:cNvSpPr/>
          <p:nvPr/>
        </p:nvSpPr>
        <p:spPr>
          <a:xfrm>
            <a:off x="4243058" y="443671"/>
            <a:ext cx="4738102" cy="454804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27000" indent="1270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&lt;!DOCTYPE html&gt;</a:t>
            </a:r>
            <a:endParaRPr lang="zh-CN" altLang="zh-CN" sz="1100" kern="100">
              <a:latin typeface="等线" panose="02010600030101010101" pitchFamily="2" charset="-122"/>
              <a:cs typeface="Times New Roman" panose="02020603050405020304" pitchFamily="18" charset="0"/>
            </a:endParaRPr>
          </a:p>
          <a:p>
            <a:pPr marL="126365" indent="1270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&lt;html&gt;</a:t>
            </a:r>
            <a:endParaRPr lang="zh-CN" altLang="zh-CN" sz="1100" kern="100">
              <a:latin typeface="等线" panose="02010600030101010101" pitchFamily="2" charset="-122"/>
              <a:cs typeface="Times New Roman" panose="02020603050405020304" pitchFamily="18" charset="0"/>
            </a:endParaRPr>
          </a:p>
          <a:p>
            <a:pPr marL="126365" indent="1270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&lt;head&gt;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&lt;meta charset="utf-8"&gt;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&lt;title&gt;ECharts</a:t>
            </a:r>
            <a:r>
              <a:rPr lang="zh-CN" altLang="zh-CN" sz="1100" kern="100">
                <a:latin typeface="等线" panose="02010600030101010101" pitchFamily="2" charset="-122"/>
                <a:cs typeface="Times New Roman" panose="02020603050405020304" pitchFamily="18" charset="0"/>
              </a:rPr>
              <a:t>饼图实例</a:t>
            </a:r>
            <a:r>
              <a:rPr lang="en-US" altLang="zh-CN" sz="1100" kern="100">
                <a:latin typeface="等线" panose="02010600030101010101" pitchFamily="2" charset="-122"/>
                <a:cs typeface="Times New Roman" panose="02020603050405020304" pitchFamily="18" charset="0"/>
              </a:rPr>
              <a:t>&lt;/title&gt;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&lt;script src=" echarts.js"&gt;&lt;/script&gt;</a:t>
            </a:r>
            <a:endParaRPr lang="zh-CN" altLang="zh-CN" sz="1100" kern="100">
              <a:latin typeface="等线" panose="02010600030101010101" pitchFamily="2" charset="-122"/>
              <a:cs typeface="Times New Roman" panose="02020603050405020304" pitchFamily="18" charset="0"/>
            </a:endParaRPr>
          </a:p>
          <a:p>
            <a:pPr marL="126365" indent="1270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&lt;/head&gt;</a:t>
            </a:r>
            <a:endParaRPr lang="zh-CN" altLang="zh-CN" sz="1100" kern="100">
              <a:latin typeface="等线" panose="02010600030101010101" pitchFamily="2" charset="-122"/>
              <a:cs typeface="Times New Roman" panose="02020603050405020304" pitchFamily="18" charset="0"/>
            </a:endParaRPr>
          </a:p>
          <a:p>
            <a:pPr marL="126365" indent="1270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&lt;body&gt;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&lt;div id="main" style="width:600px;height:400px;"&gt;&lt;/div&gt;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&lt;script type="text/javascript"&gt;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var myChart = echarts.init(document.getElementById('main'));</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var option = {</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title: {</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text: '</a:t>
            </a:r>
            <a:r>
              <a:rPr lang="zh-CN" altLang="zh-CN" sz="1100" kern="100">
                <a:latin typeface="等线" panose="02010600030101010101" pitchFamily="2" charset="-122"/>
                <a:cs typeface="Times New Roman" panose="02020603050405020304" pitchFamily="18" charset="0"/>
              </a:rPr>
              <a:t>商品销量</a:t>
            </a:r>
            <a:r>
              <a:rPr lang="en-US" altLang="zh-CN" sz="1100" kern="100">
                <a:latin typeface="等线" panose="02010600030101010101" pitchFamily="2" charset="-122"/>
                <a:cs typeface="Times New Roman" panose="02020603050405020304" pitchFamily="18" charset="0"/>
              </a:rPr>
              <a: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left: 'center'</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legend: {</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orient: 'vertical',</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left: 'left',</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tooltip: {},</a:t>
            </a:r>
            <a:endParaRPr lang="zh-CN" altLang="zh-CN" sz="11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100" kern="100">
                <a:latin typeface="等线" panose="02010600030101010101" pitchFamily="2" charset="-122"/>
                <a:cs typeface="Times New Roman" panose="02020603050405020304" pitchFamily="18" charset="0"/>
              </a:rPr>
              <a:t>		</a:t>
            </a:r>
            <a:endParaRPr lang="zh-CN" altLang="en-US" sz="1100"/>
          </a:p>
        </p:txBody>
      </p:sp>
    </p:spTree>
    <p:extLst>
      <p:ext uri="{BB962C8B-B14F-4D97-AF65-F5344CB8AC3E}">
        <p14:creationId xmlns:p14="http://schemas.microsoft.com/office/powerpoint/2010/main" val="738807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FC9D4C6-0EE7-4427-A9F4-5BA7CC2E9D97}"/>
              </a:ext>
            </a:extLst>
          </p:cNvPr>
          <p:cNvSpPr txBox="1"/>
          <p:nvPr/>
        </p:nvSpPr>
        <p:spPr>
          <a:xfrm>
            <a:off x="101063" y="283601"/>
            <a:ext cx="4646930"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示例</a:t>
            </a:r>
          </a:p>
        </p:txBody>
      </p:sp>
      <p:sp>
        <p:nvSpPr>
          <p:cNvPr id="2" name="矩形 1">
            <a:extLst>
              <a:ext uri="{FF2B5EF4-FFF2-40B4-BE49-F238E27FC236}">
                <a16:creationId xmlns:a16="http://schemas.microsoft.com/office/drawing/2014/main" id="{60A2FE40-066F-4ABC-B096-5AEB46FC6DD1}"/>
              </a:ext>
            </a:extLst>
          </p:cNvPr>
          <p:cNvSpPr/>
          <p:nvPr/>
        </p:nvSpPr>
        <p:spPr>
          <a:xfrm>
            <a:off x="2398540" y="455581"/>
            <a:ext cx="6459415" cy="44873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series : [{</a:t>
            </a: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name: '</a:t>
            </a:r>
            <a:r>
              <a:rPr lang="zh-CN" altLang="zh-CN" sz="1200" kern="100">
                <a:latin typeface="等线" panose="02010600030101010101" pitchFamily="2" charset="-122"/>
                <a:cs typeface="Times New Roman" panose="02020603050405020304" pitchFamily="18" charset="0"/>
              </a:rPr>
              <a:t>商品销量</a:t>
            </a:r>
            <a:r>
              <a:rPr lang="en-US" altLang="zh-CN" sz="1200" kern="100">
                <a:latin typeface="等线" panose="02010600030101010101" pitchFamily="2" charset="-122"/>
                <a:cs typeface="Times New Roman" panose="02020603050405020304" pitchFamily="18" charset="0"/>
              </a:rPr>
              <a:t>',</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type: 'pie',    // </a:t>
            </a:r>
            <a:r>
              <a:rPr lang="zh-CN" altLang="zh-CN" sz="1200" kern="100">
                <a:latin typeface="等线" panose="02010600030101010101" pitchFamily="2" charset="-122"/>
                <a:cs typeface="Times New Roman" panose="02020603050405020304" pitchFamily="18" charset="0"/>
              </a:rPr>
              <a:t>设置图表类型为饼图</a:t>
            </a: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radius: '55%',  </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a:t>
            </a:r>
            <a:r>
              <a:rPr lang="zh-CN" altLang="zh-CN" sz="1200" kern="100">
                <a:latin typeface="等线" panose="02010600030101010101" pitchFamily="2" charset="-122"/>
                <a:cs typeface="Times New Roman" panose="02020603050405020304" pitchFamily="18" charset="0"/>
              </a:rPr>
              <a:t>饼图的半径，外半径为可视区尺寸</a:t>
            </a:r>
            <a:r>
              <a:rPr lang="en-US" altLang="zh-CN" sz="1200" kern="100">
                <a:latin typeface="等线" panose="02010600030101010101" pitchFamily="2" charset="-122"/>
                <a:cs typeface="Times New Roman" panose="02020603050405020304" pitchFamily="18" charset="0"/>
              </a:rPr>
              <a:t>(</a:t>
            </a:r>
            <a:r>
              <a:rPr lang="zh-CN" altLang="zh-CN" sz="1200" kern="100">
                <a:latin typeface="等线" panose="02010600030101010101" pitchFamily="2" charset="-122"/>
                <a:cs typeface="Times New Roman" panose="02020603050405020304" pitchFamily="18" charset="0"/>
              </a:rPr>
              <a:t>容器高宽中较小一项</a:t>
            </a:r>
            <a:r>
              <a:rPr lang="en-US" altLang="zh-CN" sz="1200" kern="100">
                <a:latin typeface="等线" panose="02010600030101010101" pitchFamily="2" charset="-122"/>
                <a:cs typeface="Times New Roman" panose="02020603050405020304" pitchFamily="18" charset="0"/>
              </a:rPr>
              <a:t>)</a:t>
            </a:r>
            <a:r>
              <a:rPr lang="zh-CN" altLang="zh-CN" sz="1200" kern="100">
                <a:latin typeface="等线" panose="02010600030101010101" pitchFamily="2" charset="-122"/>
                <a:cs typeface="Times New Roman" panose="02020603050405020304" pitchFamily="18" charset="0"/>
              </a:rPr>
              <a:t>的</a:t>
            </a:r>
            <a:r>
              <a:rPr lang="en-US" altLang="zh-CN" sz="1200" kern="100">
                <a:latin typeface="等线" panose="02010600030101010101" pitchFamily="2" charset="-122"/>
                <a:cs typeface="Times New Roman" panose="02020603050405020304" pitchFamily="18" charset="0"/>
              </a:rPr>
              <a:t> 55% </a:t>
            </a:r>
            <a:r>
              <a:rPr lang="zh-CN" altLang="zh-CN" sz="1200" kern="100">
                <a:latin typeface="等线" panose="02010600030101010101" pitchFamily="2" charset="-122"/>
                <a:cs typeface="Times New Roman" panose="02020603050405020304" pitchFamily="18" charset="0"/>
              </a:rPr>
              <a:t>长度。</a:t>
            </a: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data:[ //</a:t>
            </a:r>
            <a:r>
              <a:rPr lang="zh-CN" altLang="zh-CN" sz="1200" kern="100">
                <a:latin typeface="等线" panose="02010600030101010101" pitchFamily="2" charset="-122"/>
                <a:cs typeface="Times New Roman" panose="02020603050405020304" pitchFamily="18" charset="0"/>
              </a:rPr>
              <a:t>数据数组，</a:t>
            </a:r>
            <a:r>
              <a:rPr lang="en-US" altLang="zh-CN" sz="1200" kern="100">
                <a:latin typeface="等线" panose="02010600030101010101" pitchFamily="2" charset="-122"/>
                <a:cs typeface="Times New Roman" panose="02020603050405020304" pitchFamily="18" charset="0"/>
              </a:rPr>
              <a:t>name </a:t>
            </a:r>
            <a:r>
              <a:rPr lang="zh-CN" altLang="zh-CN" sz="1200" kern="100">
                <a:latin typeface="等线" panose="02010600030101010101" pitchFamily="2" charset="-122"/>
                <a:cs typeface="Times New Roman" panose="02020603050405020304" pitchFamily="18" charset="0"/>
              </a:rPr>
              <a:t>为数据项名称，</a:t>
            </a:r>
            <a:r>
              <a:rPr lang="en-US" altLang="zh-CN" sz="1200" kern="100">
                <a:latin typeface="等线" panose="02010600030101010101" pitchFamily="2" charset="-122"/>
                <a:cs typeface="Times New Roman" panose="02020603050405020304" pitchFamily="18" charset="0"/>
              </a:rPr>
              <a:t>value </a:t>
            </a:r>
            <a:r>
              <a:rPr lang="zh-CN" altLang="zh-CN" sz="1200" kern="100">
                <a:latin typeface="等线" panose="02010600030101010101" pitchFamily="2" charset="-122"/>
                <a:cs typeface="Times New Roman" panose="02020603050405020304" pitchFamily="18" charset="0"/>
              </a:rPr>
              <a:t>为数据项值</a:t>
            </a: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{value:235, name:'</a:t>
            </a:r>
            <a:r>
              <a:rPr lang="zh-CN" altLang="zh-CN" sz="1200" kern="100">
                <a:latin typeface="等线" panose="02010600030101010101" pitchFamily="2" charset="-122"/>
                <a:cs typeface="Times New Roman" panose="02020603050405020304" pitchFamily="18" charset="0"/>
              </a:rPr>
              <a:t>衬衫</a:t>
            </a:r>
            <a:r>
              <a:rPr lang="en-US" altLang="zh-CN" sz="1200" kern="100">
                <a:latin typeface="等线" panose="02010600030101010101" pitchFamily="2" charset="-122"/>
                <a:cs typeface="Times New Roman" panose="02020603050405020304" pitchFamily="18" charset="0"/>
              </a:rPr>
              <a:t>'},</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{value:274, name:'</a:t>
            </a:r>
            <a:r>
              <a:rPr lang="zh-CN" altLang="zh-CN" sz="1200" kern="100">
                <a:latin typeface="等线" panose="02010600030101010101" pitchFamily="2" charset="-122"/>
                <a:cs typeface="Times New Roman" panose="02020603050405020304" pitchFamily="18" charset="0"/>
              </a:rPr>
              <a:t>羊毛衫</a:t>
            </a:r>
            <a:r>
              <a:rPr lang="en-US" altLang="zh-CN" sz="1200" kern="100">
                <a:latin typeface="等线" panose="02010600030101010101" pitchFamily="2" charset="-122"/>
                <a:cs typeface="Times New Roman" panose="02020603050405020304" pitchFamily="18" charset="0"/>
              </a:rPr>
              <a:t>'},</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{value:310, name:'</a:t>
            </a:r>
            <a:r>
              <a:rPr lang="zh-CN" altLang="zh-CN" sz="1200" kern="100">
                <a:latin typeface="等线" panose="02010600030101010101" pitchFamily="2" charset="-122"/>
                <a:cs typeface="Times New Roman" panose="02020603050405020304" pitchFamily="18" charset="0"/>
              </a:rPr>
              <a:t>雪纺衫</a:t>
            </a:r>
            <a:r>
              <a:rPr lang="en-US" altLang="zh-CN" sz="1200" kern="100">
                <a:latin typeface="等线" panose="02010600030101010101" pitchFamily="2" charset="-122"/>
                <a:cs typeface="Times New Roman" panose="02020603050405020304" pitchFamily="18" charset="0"/>
              </a:rPr>
              <a:t>'},</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{value:335, name:'</a:t>
            </a:r>
            <a:r>
              <a:rPr lang="zh-CN" altLang="zh-CN" sz="1200" kern="100">
                <a:latin typeface="等线" panose="02010600030101010101" pitchFamily="2" charset="-122"/>
                <a:cs typeface="Times New Roman" panose="02020603050405020304" pitchFamily="18" charset="0"/>
              </a:rPr>
              <a:t>裤子</a:t>
            </a:r>
            <a:r>
              <a:rPr lang="en-US" altLang="zh-CN" sz="1200" kern="100">
                <a:latin typeface="等线" panose="02010600030101010101" pitchFamily="2" charset="-122"/>
                <a:cs typeface="Times New Roman" panose="02020603050405020304" pitchFamily="18" charset="0"/>
              </a:rPr>
              <a:t>'},</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{value:400, name:'</a:t>
            </a:r>
            <a:r>
              <a:rPr lang="zh-CN" altLang="zh-CN" sz="1200" kern="100">
                <a:latin typeface="等线" panose="02010600030101010101" pitchFamily="2" charset="-122"/>
                <a:cs typeface="Times New Roman" panose="02020603050405020304" pitchFamily="18" charset="0"/>
              </a:rPr>
              <a:t>高跟鞋</a:t>
            </a:r>
            <a:r>
              <a:rPr lang="en-US" altLang="zh-CN" sz="1200" kern="100">
                <a:latin typeface="等线" panose="02010600030101010101" pitchFamily="2" charset="-122"/>
                <a:cs typeface="Times New Roman" panose="02020603050405020304" pitchFamily="18" charset="0"/>
              </a:rPr>
              <a:t>'},</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{value:500, name:'</a:t>
            </a:r>
            <a:r>
              <a:rPr lang="zh-CN" altLang="zh-CN" sz="1200" kern="100">
                <a:latin typeface="等线" panose="02010600030101010101" pitchFamily="2" charset="-122"/>
                <a:cs typeface="Times New Roman" panose="02020603050405020304" pitchFamily="18" charset="0"/>
              </a:rPr>
              <a:t>袜子</a:t>
            </a:r>
            <a:r>
              <a:rPr lang="en-US" altLang="zh-CN" sz="1200" kern="100">
                <a:latin typeface="等线" panose="02010600030101010101" pitchFamily="2" charset="-122"/>
                <a:cs typeface="Times New Roman" panose="02020603050405020304" pitchFamily="18" charset="0"/>
              </a:rPr>
              <a:t>'}</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    myChart.setOption(option);</a:t>
            </a:r>
            <a:endParaRPr lang="zh-CN" altLang="zh-CN" sz="1200" kern="100">
              <a:latin typeface="等线" panose="02010600030101010101" pitchFamily="2" charset="-122"/>
              <a:cs typeface="Times New Roman" panose="02020603050405020304" pitchFamily="18" charset="0"/>
            </a:endParaRPr>
          </a:p>
          <a:p>
            <a:pPr marL="266700" indent="2286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&lt;/script&gt;</a:t>
            </a:r>
            <a:endParaRPr lang="zh-CN" altLang="zh-CN" sz="1200" kern="100">
              <a:latin typeface="等线" panose="02010600030101010101" pitchFamily="2" charset="-122"/>
              <a:cs typeface="Times New Roman" panose="02020603050405020304" pitchFamily="18" charset="0"/>
            </a:endParaRPr>
          </a:p>
          <a:p>
            <a:pPr marL="126365" indent="127000" algn="just">
              <a:lnSpc>
                <a:spcPct val="120000"/>
              </a:lnSpc>
              <a:spcAft>
                <a:spcPts val="0"/>
              </a:spcAft>
            </a:pPr>
            <a:r>
              <a:rPr lang="en-US" altLang="zh-CN" sz="1200" kern="100">
                <a:latin typeface="等线" panose="02010600030101010101" pitchFamily="2" charset="-122"/>
                <a:cs typeface="Times New Roman" panose="02020603050405020304" pitchFamily="18" charset="0"/>
              </a:rPr>
              <a:t>&lt;/body&gt;</a:t>
            </a:r>
            <a:endParaRPr lang="zh-CN" altLang="zh-CN" sz="1200" kern="100">
              <a:latin typeface="等线" panose="02010600030101010101" pitchFamily="2" charset="-122"/>
              <a:cs typeface="Times New Roman" panose="02020603050405020304" pitchFamily="18" charset="0"/>
            </a:endParaRPr>
          </a:p>
          <a:p>
            <a:r>
              <a:rPr lang="en-US" altLang="zh-CN" sz="1200" kern="100">
                <a:latin typeface="等线" panose="02010600030101010101" pitchFamily="2" charset="-122"/>
                <a:cs typeface="Times New Roman" panose="02020603050405020304" pitchFamily="18" charset="0"/>
              </a:rPr>
              <a:t>&lt;/html&gt;</a:t>
            </a:r>
            <a:endParaRPr lang="zh-CN" altLang="en-US" sz="1200"/>
          </a:p>
        </p:txBody>
      </p:sp>
    </p:spTree>
    <p:extLst>
      <p:ext uri="{BB962C8B-B14F-4D97-AF65-F5344CB8AC3E}">
        <p14:creationId xmlns:p14="http://schemas.microsoft.com/office/powerpoint/2010/main" val="39150390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9917" y="260155"/>
            <a:ext cx="4020283"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288290" y="933450"/>
            <a:ext cx="3737610" cy="46037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dirty="0">
                <a:latin typeface="+mn-ea"/>
              </a:rPr>
              <a:t>   </a:t>
            </a:r>
            <a:r>
              <a:rPr sz="2000" b="1">
                <a:latin typeface="等线" panose="02010600030101010101" pitchFamily="2" charset="-122"/>
                <a:ea typeface="等线" panose="02010600030101010101" pitchFamily="2" charset="-122"/>
                <a:cs typeface="等线" panose="02010600030101010101" pitchFamily="2" charset="-122"/>
              </a:rPr>
              <a:t>3.ECharts异步加载数据</a:t>
            </a:r>
          </a:p>
        </p:txBody>
      </p:sp>
      <p:sp>
        <p:nvSpPr>
          <p:cNvPr id="3" name="文本框 2"/>
          <p:cNvSpPr txBox="1"/>
          <p:nvPr/>
        </p:nvSpPr>
        <p:spPr>
          <a:xfrm>
            <a:off x="447040" y="1393825"/>
            <a:ext cx="7820660" cy="28917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上面的两个例子中，图表的数据直接设置在网页文件中，通过echharts对象的 setOption方法加载。但通常情况下，数据是从文件、数据库或服务器端动态获取的，这就需要使用异步获取数据方法。为了动态加载数据，可以配合 jQuery等工具，以异步方式获取数据后通过 ECharts对象的setOption方法填入数据和配置项。</a:t>
            </a:r>
          </a:p>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以下介绍ECharts与JQuery结合，从本地文件或服务端动态获取数据，实现异步获取数据并显示图表的示例。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44805" y="941705"/>
            <a:ext cx="3737610" cy="82994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dirty="0">
                <a:latin typeface="+mn-ea"/>
              </a:rPr>
              <a:t>   </a:t>
            </a:r>
            <a:r>
              <a:rPr sz="2000" b="1">
                <a:latin typeface="等线" panose="02010600030101010101" pitchFamily="2" charset="-122"/>
                <a:ea typeface="等线" panose="02010600030101010101" pitchFamily="2" charset="-122"/>
                <a:cs typeface="等线" panose="02010600030101010101" pitchFamily="2" charset="-122"/>
              </a:rPr>
              <a:t>（1）数据说明</a:t>
            </a:r>
          </a:p>
          <a:p>
            <a:pPr indent="266700">
              <a:lnSpc>
                <a:spcPct val="120000"/>
              </a:lnSpc>
              <a:spcBef>
                <a:spcPts val="0"/>
              </a:spcBef>
              <a:spcAft>
                <a:spcPts val="0"/>
              </a:spcAft>
            </a:pPr>
            <a:endParaRPr sz="2000" b="1">
              <a:latin typeface="等线" panose="02010600030101010101" pitchFamily="2" charset="-122"/>
              <a:ea typeface="等线" panose="02010600030101010101" pitchFamily="2" charset="-122"/>
              <a:cs typeface="等线" panose="02010600030101010101" pitchFamily="2" charset="-122"/>
            </a:endParaRPr>
          </a:p>
        </p:txBody>
      </p:sp>
      <p:sp>
        <p:nvSpPr>
          <p:cNvPr id="3" name="文本框 2"/>
          <p:cNvSpPr txBox="1"/>
          <p:nvPr/>
        </p:nvSpPr>
        <p:spPr>
          <a:xfrm>
            <a:off x="608330" y="1417320"/>
            <a:ext cx="8071485" cy="46037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0">
                <a:ea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sym typeface="+mn-ea"/>
              </a:rPr>
              <a:t>假设数据文件（json数据格式）的名称为test_data.json，内容如下：</a:t>
            </a:r>
            <a:endParaRPr lang="zh-CN" sz="2000">
              <a:ea typeface="等线" panose="02010600030101010101" pitchFamily="2" charset="-122"/>
            </a:endParaRPr>
          </a:p>
        </p:txBody>
      </p:sp>
      <p:pic>
        <p:nvPicPr>
          <p:cNvPr id="4" name="图片 3"/>
          <p:cNvPicPr>
            <a:picLocks noChangeAspect="1"/>
          </p:cNvPicPr>
          <p:nvPr/>
        </p:nvPicPr>
        <p:blipFill>
          <a:blip r:embed="rId3"/>
          <a:stretch>
            <a:fillRect/>
          </a:stretch>
        </p:blipFill>
        <p:spPr>
          <a:xfrm>
            <a:off x="1691005" y="2118995"/>
            <a:ext cx="5762625" cy="2133600"/>
          </a:xfrm>
          <a:prstGeom prst="rect">
            <a:avLst/>
          </a:prstGeom>
        </p:spPr>
      </p:pic>
      <p:sp>
        <p:nvSpPr>
          <p:cNvPr id="6" name="文本框 5">
            <a:extLst>
              <a:ext uri="{FF2B5EF4-FFF2-40B4-BE49-F238E27FC236}">
                <a16:creationId xmlns:a16="http://schemas.microsoft.com/office/drawing/2014/main" id="{165FC008-EB2E-487C-894D-3D7439CB3E0B}"/>
              </a:ext>
            </a:extLst>
          </p:cNvPr>
          <p:cNvSpPr txBox="1"/>
          <p:nvPr/>
        </p:nvSpPr>
        <p:spPr>
          <a:xfrm>
            <a:off x="119917" y="260155"/>
            <a:ext cx="3962498"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932815"/>
            <a:ext cx="8799195" cy="460375"/>
          </a:xfrm>
          <a:prstGeom prst="rect">
            <a:avLst/>
          </a:prstGeom>
          <a:noFill/>
          <a:ln w="9525">
            <a:noFill/>
          </a:ln>
        </p:spPr>
        <p:txBody>
          <a:bodyPr wrap="square">
            <a:spAutoFit/>
          </a:bodyPr>
          <a:lstStyle/>
          <a:p>
            <a:pPr indent="266700">
              <a:lnSpc>
                <a:spcPct val="120000"/>
              </a:lnSpc>
              <a:spcBef>
                <a:spcPts val="0"/>
              </a:spcBef>
              <a:spcAft>
                <a:spcPts val="0"/>
              </a:spcAft>
            </a:pPr>
            <a:r>
              <a:rPr sz="2000" b="0">
                <a:ea typeface="等线" panose="02010600030101010101" pitchFamily="2" charset="-122"/>
              </a:rPr>
              <a:t>该方法的参数说明在</a:t>
            </a:r>
            <a:r>
              <a:rPr lang="zh-CN" sz="2000" b="0">
                <a:ea typeface="等线" panose="02010600030101010101" pitchFamily="2" charset="-122"/>
              </a:rPr>
              <a:t>下</a:t>
            </a:r>
            <a:r>
              <a:rPr sz="2000" b="0">
                <a:ea typeface="等线" panose="02010600030101010101" pitchFamily="2" charset="-122"/>
              </a:rPr>
              <a:t>表中给出。</a:t>
            </a:r>
          </a:p>
        </p:txBody>
      </p:sp>
      <p:sp>
        <p:nvSpPr>
          <p:cNvPr id="2" name="文本框 1"/>
          <p:cNvSpPr txBox="1"/>
          <p:nvPr/>
        </p:nvSpPr>
        <p:spPr>
          <a:xfrm>
            <a:off x="1594485" y="1522730"/>
            <a:ext cx="5080000" cy="245110"/>
          </a:xfrm>
          <a:prstGeom prst="rect">
            <a:avLst/>
          </a:prstGeom>
          <a:noFill/>
          <a:ln w="9525">
            <a:noFill/>
          </a:ln>
        </p:spPr>
        <p:txBody>
          <a:bodyPr>
            <a:spAutoFit/>
          </a:bodyPr>
          <a:lstStyle/>
          <a:p>
            <a:pPr indent="0" algn="ctr"/>
            <a:r>
              <a:rPr lang="zh-CN" sz="1000" b="0">
                <a:ea typeface="等线" panose="02010600030101010101" pitchFamily="2" charset="-122"/>
              </a:rPr>
              <a:t>表</a:t>
            </a:r>
            <a:r>
              <a:rPr lang="en-US" sz="1000" b="0">
                <a:latin typeface="Cambria Math" panose="02040503050406030204" charset="0"/>
                <a:ea typeface="等线" panose="02010600030101010101" pitchFamily="2" charset="-122"/>
                <a:cs typeface="Times New Roman" panose="02020603050405020304" pitchFamily="18" charset="0"/>
              </a:rPr>
              <a:t> </a:t>
            </a:r>
            <a:r>
              <a:rPr lang="zh-CN" altLang="en-US" sz="1000" b="0">
                <a:latin typeface="Cambria Math" panose="02040503050406030204" charset="0"/>
                <a:ea typeface="等线" panose="02010600030101010101" pitchFamily="2" charset="-122"/>
                <a:cs typeface="Times New Roman" panose="02020603050405020304" pitchFamily="18" charset="0"/>
              </a:rPr>
              <a:t>：</a:t>
            </a:r>
            <a:r>
              <a:rPr lang="en-US" sz="1000" b="0">
                <a:latin typeface="Cambria Math" panose="02040503050406030204" charset="0"/>
                <a:ea typeface="等线" panose="02010600030101010101" pitchFamily="2" charset="-122"/>
                <a:cs typeface="Times New Roman" panose="02020603050405020304" pitchFamily="18" charset="0"/>
              </a:rPr>
              <a:t> JQuery</a:t>
            </a:r>
            <a:r>
              <a:rPr lang="zh-CN" sz="1000" b="0">
                <a:latin typeface="Cambria Math" panose="02040503050406030204" charset="0"/>
                <a:ea typeface="等线" panose="02010600030101010101" pitchFamily="2" charset="-122"/>
              </a:rPr>
              <a:t>的</a:t>
            </a:r>
            <a:r>
              <a:rPr lang="en-US" sz="1000" b="0">
                <a:latin typeface="Cambria Math" panose="02040503050406030204" charset="0"/>
                <a:ea typeface="等线" panose="02010600030101010101" pitchFamily="2" charset="-122"/>
                <a:cs typeface="Times New Roman" panose="02020603050405020304" pitchFamily="18" charset="0"/>
              </a:rPr>
              <a:t>$.get()</a:t>
            </a:r>
            <a:r>
              <a:rPr lang="zh-CN" sz="1000" b="0">
                <a:latin typeface="Cambria Math" panose="02040503050406030204" charset="0"/>
                <a:ea typeface="等线" panose="02010600030101010101" pitchFamily="2" charset="-122"/>
              </a:rPr>
              <a:t>方法的参数说明</a:t>
            </a:r>
            <a:endParaRPr lang="zh-CN" altLang="en-US" sz="1000"/>
          </a:p>
        </p:txBody>
      </p:sp>
      <p:pic>
        <p:nvPicPr>
          <p:cNvPr id="5" name="图片 4"/>
          <p:cNvPicPr>
            <a:picLocks noChangeAspect="1"/>
          </p:cNvPicPr>
          <p:nvPr/>
        </p:nvPicPr>
        <p:blipFill>
          <a:blip r:embed="rId3"/>
          <a:stretch>
            <a:fillRect/>
          </a:stretch>
        </p:blipFill>
        <p:spPr>
          <a:xfrm>
            <a:off x="1650365" y="1767840"/>
            <a:ext cx="6229350" cy="3419475"/>
          </a:xfrm>
          <a:prstGeom prst="rect">
            <a:avLst/>
          </a:prstGeom>
        </p:spPr>
      </p:pic>
      <p:sp>
        <p:nvSpPr>
          <p:cNvPr id="6" name="文本框 5">
            <a:extLst>
              <a:ext uri="{FF2B5EF4-FFF2-40B4-BE49-F238E27FC236}">
                <a16:creationId xmlns:a16="http://schemas.microsoft.com/office/drawing/2014/main" id="{70D2A830-5E9F-4C2D-B017-E56F971DF382}"/>
              </a:ext>
            </a:extLst>
          </p:cNvPr>
          <p:cNvSpPr txBox="1"/>
          <p:nvPr/>
        </p:nvSpPr>
        <p:spPr>
          <a:xfrm>
            <a:off x="119917" y="260155"/>
            <a:ext cx="4646930"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1450" y="953135"/>
            <a:ext cx="8803738" cy="1915011"/>
          </a:xfrm>
          <a:prstGeom prst="rect">
            <a:avLst/>
          </a:prstGeom>
          <a:noFill/>
          <a:ln w="9525">
            <a:noFill/>
          </a:ln>
        </p:spPr>
        <p:txBody>
          <a:bodyPr wrap="square">
            <a:spAutoFit/>
          </a:bodyPr>
          <a:lstStyle/>
          <a:p>
            <a:pPr indent="266700">
              <a:lnSpc>
                <a:spcPct val="120000"/>
              </a:lnSpc>
              <a:spcBef>
                <a:spcPts val="0"/>
              </a:spcBef>
              <a:spcAft>
                <a:spcPts val="0"/>
              </a:spcAft>
            </a:pPr>
            <a:r>
              <a:rPr sz="2000" b="1">
                <a:ea typeface="等线" panose="02010600030101010101" pitchFamily="2" charset="-122"/>
              </a:rPr>
              <a:t>（3）实例代码</a:t>
            </a:r>
          </a:p>
          <a:p>
            <a:pPr indent="266700">
              <a:lnSpc>
                <a:spcPct val="120000"/>
              </a:lnSpc>
              <a:spcBef>
                <a:spcPts val="0"/>
              </a:spcBef>
              <a:spcAft>
                <a:spcPts val="0"/>
              </a:spcAft>
            </a:pPr>
            <a:r>
              <a:rPr lang="en-US" sz="2000">
                <a:ea typeface="等线" panose="02010600030101010101" pitchFamily="2" charset="-122"/>
              </a:rPr>
              <a:t>  </a:t>
            </a:r>
            <a:r>
              <a:rPr sz="2000">
                <a:ea typeface="等线" panose="02010600030101010101" pitchFamily="2" charset="-122"/>
              </a:rPr>
              <a:t>本实例从本地文件中获取数据，用ECharts在网页上呈现数据可视化图表。</a:t>
            </a:r>
          </a:p>
          <a:p>
            <a:pPr indent="266700">
              <a:lnSpc>
                <a:spcPct val="120000"/>
              </a:lnSpc>
              <a:spcBef>
                <a:spcPts val="0"/>
              </a:spcBef>
              <a:spcAft>
                <a:spcPts val="0"/>
              </a:spcAft>
            </a:pPr>
            <a:r>
              <a:rPr lang="en-US" sz="2000">
                <a:ea typeface="等线" panose="02010600030101010101" pitchFamily="2" charset="-122"/>
              </a:rPr>
              <a:t>   </a:t>
            </a:r>
            <a:r>
              <a:rPr sz="2000">
                <a:ea typeface="等线" panose="02010600030101010101" pitchFamily="2" charset="-122"/>
              </a:rPr>
              <a:t>首先创建test_data.json文件，保存在HTML文件ex</a:t>
            </a:r>
            <a:r>
              <a:rPr lang="en-US" altLang="zh-CN" sz="2000">
                <a:ea typeface="等线" panose="02010600030101010101" pitchFamily="2" charset="-122"/>
              </a:rPr>
              <a:t>9</a:t>
            </a:r>
            <a:r>
              <a:rPr sz="2000">
                <a:ea typeface="等线" panose="02010600030101010101" pitchFamily="2" charset="-122"/>
              </a:rPr>
              <a:t>_3.html同一个目录下。接着在ex</a:t>
            </a:r>
            <a:r>
              <a:rPr lang="en-US" altLang="zh-CN" sz="2000">
                <a:ea typeface="等线" panose="02010600030101010101" pitchFamily="2" charset="-122"/>
              </a:rPr>
              <a:t>9</a:t>
            </a:r>
            <a:r>
              <a:rPr sz="2000">
                <a:ea typeface="等线" panose="02010600030101010101" pitchFamily="2" charset="-122"/>
              </a:rPr>
              <a:t>_3.html中引入JQuery库，用JQuery的$.get方法获取test_data.json中的数据，提交ECharts绘制图表，源代码如下：</a:t>
            </a:r>
          </a:p>
        </p:txBody>
      </p:sp>
      <p:sp>
        <p:nvSpPr>
          <p:cNvPr id="6" name="文本框 5">
            <a:extLst>
              <a:ext uri="{FF2B5EF4-FFF2-40B4-BE49-F238E27FC236}">
                <a16:creationId xmlns:a16="http://schemas.microsoft.com/office/drawing/2014/main" id="{6D9FE7B1-06DC-4AE6-AE79-D01EA42280A9}"/>
              </a:ext>
            </a:extLst>
          </p:cNvPr>
          <p:cNvSpPr txBox="1"/>
          <p:nvPr/>
        </p:nvSpPr>
        <p:spPr>
          <a:xfrm>
            <a:off x="119917" y="260155"/>
            <a:ext cx="4646930"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32410" y="1041400"/>
            <a:ext cx="4904105" cy="3171825"/>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5386070" y="1398270"/>
            <a:ext cx="3648075" cy="2346325"/>
          </a:xfrm>
          <a:prstGeom prst="rect">
            <a:avLst/>
          </a:prstGeom>
          <a:ln>
            <a:solidFill>
              <a:srgbClr val="FF0000"/>
            </a:solidFill>
          </a:ln>
        </p:spPr>
      </p:pic>
      <p:sp>
        <p:nvSpPr>
          <p:cNvPr id="8" name="直角上箭头 7"/>
          <p:cNvSpPr/>
          <p:nvPr/>
        </p:nvSpPr>
        <p:spPr>
          <a:xfrm>
            <a:off x="5179695" y="3744595"/>
            <a:ext cx="427355" cy="469265"/>
          </a:xfrm>
          <a:prstGeom prst="bentUp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EAACBB1-74EC-4724-9CC3-4A27A7C248B4}"/>
              </a:ext>
            </a:extLst>
          </p:cNvPr>
          <p:cNvSpPr txBox="1"/>
          <p:nvPr/>
        </p:nvSpPr>
        <p:spPr>
          <a:xfrm>
            <a:off x="119917" y="260155"/>
            <a:ext cx="4646930"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52425" y="923608"/>
            <a:ext cx="6615112" cy="460767"/>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在浏览器中打开ex</a:t>
            </a:r>
            <a:r>
              <a:rPr lang="en-US" altLang="zh-CN" sz="2000" b="0">
                <a:ea typeface="等线" panose="02010600030101010101" pitchFamily="2" charset="-122"/>
              </a:rPr>
              <a:t>9</a:t>
            </a:r>
            <a:r>
              <a:rPr lang="zh-CN" sz="2000" b="0">
                <a:ea typeface="等线" panose="02010600030101010101" pitchFamily="2" charset="-122"/>
              </a:rPr>
              <a:t>_3.html文件，显示的效果如图所示。</a:t>
            </a:r>
            <a:endParaRPr lang="zh-CN" sz="2000">
              <a:ea typeface="等线" panose="02010600030101010101" pitchFamily="2" charset="-122"/>
            </a:endParaRPr>
          </a:p>
        </p:txBody>
      </p:sp>
      <p:sp>
        <p:nvSpPr>
          <p:cNvPr id="6" name="文本框 5"/>
          <p:cNvSpPr txBox="1"/>
          <p:nvPr/>
        </p:nvSpPr>
        <p:spPr>
          <a:xfrm>
            <a:off x="245586" y="2922298"/>
            <a:ext cx="8139111" cy="2141292"/>
          </a:xfrm>
          <a:prstGeom prst="rect">
            <a:avLst/>
          </a:prstGeom>
          <a:noFill/>
          <a:ln w="9525">
            <a:noFill/>
          </a:ln>
        </p:spPr>
        <p:txBody>
          <a:bodyPr wrap="square">
            <a:spAutoFit/>
          </a:bodyPr>
          <a:lstStyle/>
          <a:p>
            <a:pPr indent="266700"/>
            <a:r>
              <a:rPr lang="zh-CN" sz="1800" b="1">
                <a:ea typeface="等线" panose="02010600030101010101" pitchFamily="2" charset="-122"/>
              </a:rPr>
              <a:t>提示</a:t>
            </a:r>
            <a:r>
              <a:rPr lang="zh-CN" sz="1800" b="0">
                <a:ea typeface="等线" panose="02010600030101010101" pitchFamily="2" charset="-122"/>
              </a:rPr>
              <a:t>：</a:t>
            </a:r>
          </a:p>
          <a:p>
            <a:pPr indent="266700">
              <a:lnSpc>
                <a:spcPct val="130000"/>
              </a:lnSpc>
              <a:spcBef>
                <a:spcPts val="0"/>
              </a:spcBef>
              <a:spcAft>
                <a:spcPts val="0"/>
              </a:spcAft>
            </a:pPr>
            <a:r>
              <a:rPr lang="zh-CN" sz="1800" b="0">
                <a:ea typeface="等线" panose="02010600030101010101" pitchFamily="2" charset="-122"/>
              </a:rPr>
              <a:t>用某些浏览器打开本示例的网页文件无法呈现图表（如谷歌的</a:t>
            </a:r>
            <a:r>
              <a:rPr lang="zh-CN" sz="1800" b="0">
                <a:ea typeface="等线" panose="02010600030101010101" pitchFamily="2" charset="-122"/>
                <a:cs typeface="Times New Roman" panose="02020603050405020304" pitchFamily="18" charset="0"/>
              </a:rPr>
              <a:t>chrome浏览器），这是由于其默认的安全限制不允许读取本地文件。</a:t>
            </a:r>
            <a:r>
              <a:rPr lang="zh-CN" sz="1800" b="0">
                <a:ea typeface="等线" panose="02010600030101010101" pitchFamily="2" charset="-122"/>
              </a:rPr>
              <a:t>解决方法是设置</a:t>
            </a:r>
            <a:r>
              <a:rPr lang="en-US" sz="1800" b="0">
                <a:latin typeface="等线" panose="02010600030101010101" pitchFamily="2" charset="-122"/>
                <a:cs typeface="Times New Roman" panose="02020603050405020304" pitchFamily="18" charset="0"/>
              </a:rPr>
              <a:t>chrome</a:t>
            </a:r>
            <a:r>
              <a:rPr lang="zh-CN" sz="1800" b="0">
                <a:ea typeface="等线" panose="02010600030101010101" pitchFamily="2" charset="-122"/>
              </a:rPr>
              <a:t>允许访问本地磁盘文件，</a:t>
            </a:r>
            <a:r>
              <a:rPr lang="zh-CN" sz="1800" b="0">
                <a:ea typeface="等线" panose="02010600030101010101" pitchFamily="2" charset="-122"/>
                <a:cs typeface="Times New Roman" panose="02020603050405020304" pitchFamily="18" charset="0"/>
              </a:rPr>
              <a:t> 常用方法：右击chrome的桌面快捷方式，选择“属性”，在“快捷方式”下的“目标”中添加" --allow-file-access-from-files"（最前面有个空格），重启chrome后即可。</a:t>
            </a:r>
            <a:endParaRPr lang="zh-CN" sz="1800" b="1">
              <a:ea typeface="等线" panose="02010600030101010101" pitchFamily="2" charset="-122"/>
            </a:endParaRPr>
          </a:p>
        </p:txBody>
      </p:sp>
      <p:pic>
        <p:nvPicPr>
          <p:cNvPr id="7" name="图片 5">
            <a:extLst>
              <a:ext uri="{FF2B5EF4-FFF2-40B4-BE49-F238E27FC236}">
                <a16:creationId xmlns:a16="http://schemas.microsoft.com/office/drawing/2014/main" id="{225BADC4-56A2-4275-81DD-39B5D9554E16}"/>
              </a:ext>
            </a:extLst>
          </p:cNvPr>
          <p:cNvPicPr>
            <a:picLocks noChangeAspect="1"/>
          </p:cNvPicPr>
          <p:nvPr/>
        </p:nvPicPr>
        <p:blipFill>
          <a:blip r:embed="rId3"/>
          <a:stretch>
            <a:fillRect/>
          </a:stretch>
        </p:blipFill>
        <p:spPr>
          <a:xfrm>
            <a:off x="1858962" y="1330325"/>
            <a:ext cx="2456180" cy="1922780"/>
          </a:xfrm>
          <a:prstGeom prst="rect">
            <a:avLst/>
          </a:prstGeom>
          <a:ln>
            <a:solidFill>
              <a:srgbClr val="274991"/>
            </a:solidFill>
          </a:ln>
        </p:spPr>
      </p:pic>
      <p:sp>
        <p:nvSpPr>
          <p:cNvPr id="8" name="文本框 7">
            <a:extLst>
              <a:ext uri="{FF2B5EF4-FFF2-40B4-BE49-F238E27FC236}">
                <a16:creationId xmlns:a16="http://schemas.microsoft.com/office/drawing/2014/main" id="{8917624E-BEEC-4142-A04C-2E72AC79026D}"/>
              </a:ext>
            </a:extLst>
          </p:cNvPr>
          <p:cNvSpPr txBox="1"/>
          <p:nvPr/>
        </p:nvSpPr>
        <p:spPr>
          <a:xfrm>
            <a:off x="4593272" y="2169160"/>
            <a:ext cx="2502853" cy="245110"/>
          </a:xfrm>
          <a:prstGeom prst="rect">
            <a:avLst/>
          </a:prstGeom>
          <a:noFill/>
          <a:ln w="9525">
            <a:noFill/>
          </a:ln>
        </p:spPr>
        <p:txBody>
          <a:bodyPr wrap="square">
            <a:spAutoFit/>
          </a:bodyPr>
          <a:lstStyle/>
          <a:p>
            <a:pPr indent="0" algn="ctr"/>
            <a:r>
              <a:rPr lang="zh-CN" sz="1000" b="0">
                <a:ea typeface="等线" panose="02010600030101010101" pitchFamily="2" charset="-122"/>
              </a:rPr>
              <a:t>异步加载数据以玫瑰图样式呈现</a:t>
            </a:r>
            <a:endParaRPr lang="zh-CN" altLang="en-US" sz="1000"/>
          </a:p>
        </p:txBody>
      </p:sp>
      <p:sp>
        <p:nvSpPr>
          <p:cNvPr id="9" name="文本框 8">
            <a:extLst>
              <a:ext uri="{FF2B5EF4-FFF2-40B4-BE49-F238E27FC236}">
                <a16:creationId xmlns:a16="http://schemas.microsoft.com/office/drawing/2014/main" id="{940ECB23-5A79-4B17-BA36-89C3578B45E5}"/>
              </a:ext>
            </a:extLst>
          </p:cNvPr>
          <p:cNvSpPr txBox="1"/>
          <p:nvPr/>
        </p:nvSpPr>
        <p:spPr>
          <a:xfrm>
            <a:off x="119917" y="260155"/>
            <a:ext cx="4646930"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ECharts示例</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09855" y="166370"/>
            <a:ext cx="4646930" cy="953135"/>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9.4.3ECharts示例</a:t>
            </a:r>
          </a:p>
          <a:p>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227965" y="1119505"/>
            <a:ext cx="8131810" cy="1291590"/>
          </a:xfrm>
          <a:prstGeom prst="rect">
            <a:avLst/>
          </a:prstGeom>
          <a:noFill/>
          <a:ln w="9525">
            <a:noFill/>
          </a:ln>
        </p:spPr>
        <p:txBody>
          <a:bodyPr wrap="square">
            <a:spAutoFit/>
          </a:bodyPr>
          <a:lstStyle/>
          <a:p>
            <a:pPr indent="266700">
              <a:lnSpc>
                <a:spcPct val="130000"/>
              </a:lnSpc>
              <a:spcBef>
                <a:spcPts val="0"/>
              </a:spcBef>
              <a:spcAft>
                <a:spcPts val="0"/>
              </a:spcAft>
            </a:pPr>
            <a:r>
              <a:rPr lang="zh-CN" sz="2000" b="1">
                <a:ea typeface="等线" panose="02010600030101010101" pitchFamily="2" charset="-122"/>
                <a:sym typeface="+mn-ea"/>
              </a:rPr>
              <a:t>（</a:t>
            </a:r>
            <a:r>
              <a:rPr lang="en-US" sz="2000" b="1">
                <a:latin typeface="等线" panose="02010600030101010101" pitchFamily="2" charset="-122"/>
                <a:cs typeface="Times New Roman" panose="02020603050405020304" pitchFamily="18" charset="0"/>
                <a:sym typeface="+mn-ea"/>
              </a:rPr>
              <a:t>4</a:t>
            </a:r>
            <a:r>
              <a:rPr lang="zh-CN" sz="2000" b="1">
                <a:ea typeface="等线" panose="02010600030101010101" pitchFamily="2" charset="-122"/>
                <a:sym typeface="+mn-ea"/>
              </a:rPr>
              <a:t>）从</a:t>
            </a:r>
            <a:r>
              <a:rPr lang="en-US" sz="2000" b="1">
                <a:latin typeface="等线" panose="02010600030101010101" pitchFamily="2" charset="-122"/>
                <a:cs typeface="Times New Roman" panose="02020603050405020304" pitchFamily="18" charset="0"/>
                <a:sym typeface="+mn-ea"/>
              </a:rPr>
              <a:t>Web</a:t>
            </a:r>
            <a:r>
              <a:rPr lang="zh-CN" sz="2000" b="1">
                <a:ea typeface="等线" panose="02010600030101010101" pitchFamily="2" charset="-122"/>
                <a:sym typeface="+mn-ea"/>
              </a:rPr>
              <a:t>服务器上异步获取数据</a:t>
            </a:r>
            <a:endParaRPr lang="zh-CN" sz="2000">
              <a:ea typeface="等线" panose="02010600030101010101" pitchFamily="2" charset="-122"/>
              <a:sym typeface="+mn-ea"/>
            </a:endParaRPr>
          </a:p>
          <a:p>
            <a:pPr indent="266700">
              <a:lnSpc>
                <a:spcPct val="130000"/>
              </a:lnSpc>
              <a:spcBef>
                <a:spcPts val="0"/>
              </a:spcBef>
              <a:spcAft>
                <a:spcPts val="0"/>
              </a:spcAft>
            </a:pPr>
            <a:r>
              <a:rPr lang="en-US" altLang="zh-CN" sz="2000">
                <a:ea typeface="等线" panose="02010600030101010101" pitchFamily="2" charset="-122"/>
                <a:sym typeface="+mn-ea"/>
              </a:rPr>
              <a:t>    </a:t>
            </a:r>
            <a:r>
              <a:rPr lang="zh-CN" sz="2000">
                <a:ea typeface="等线" panose="02010600030101010101" pitchFamily="2" charset="-122"/>
                <a:sym typeface="+mn-ea"/>
              </a:rPr>
              <a:t>如果数据是从</a:t>
            </a:r>
            <a:r>
              <a:rPr lang="en-US" sz="2000">
                <a:latin typeface="等线" panose="02010600030101010101" pitchFamily="2" charset="-122"/>
                <a:cs typeface="Times New Roman" panose="02020603050405020304" pitchFamily="18" charset="0"/>
                <a:sym typeface="+mn-ea"/>
              </a:rPr>
              <a:t>Web</a:t>
            </a:r>
            <a:r>
              <a:rPr lang="zh-CN" sz="2000">
                <a:ea typeface="等线" panose="02010600030101010101" pitchFamily="2" charset="-122"/>
                <a:sym typeface="+mn-ea"/>
              </a:rPr>
              <a:t>服务器上异步获取，则对</a:t>
            </a:r>
            <a:r>
              <a:rPr lang="en-US" sz="2000">
                <a:latin typeface="等线" panose="02010600030101010101" pitchFamily="2" charset="-122"/>
                <a:sym typeface="+mn-ea"/>
              </a:rPr>
              <a:t>e</a:t>
            </a:r>
            <a:r>
              <a:rPr lang="en-US" sz="2000">
                <a:latin typeface="等线" panose="02010600030101010101" pitchFamily="2" charset="-122"/>
                <a:cs typeface="Times New Roman" panose="02020603050405020304" pitchFamily="18" charset="0"/>
                <a:sym typeface="+mn-ea"/>
              </a:rPr>
              <a:t>x9_3.html</a:t>
            </a:r>
            <a:r>
              <a:rPr lang="zh-CN" sz="2000">
                <a:ea typeface="等线" panose="02010600030101010101" pitchFamily="2" charset="-122"/>
                <a:sym typeface="+mn-ea"/>
              </a:rPr>
              <a:t>文件</a:t>
            </a:r>
            <a:r>
              <a:rPr lang="zh-CN" sz="2000">
                <a:solidFill>
                  <a:srgbClr val="4D4D4D"/>
                </a:solidFill>
                <a:ea typeface="等线" panose="02010600030101010101" pitchFamily="2" charset="-122"/>
                <a:sym typeface="+mn-ea"/>
              </a:rPr>
              <a:t>第</a:t>
            </a:r>
            <a:r>
              <a:rPr lang="en-US" sz="2000">
                <a:solidFill>
                  <a:srgbClr val="4D4D4D"/>
                </a:solidFill>
                <a:latin typeface="等线" panose="02010600030101010101" pitchFamily="2" charset="-122"/>
                <a:cs typeface="Arial" panose="020B0604020202020204" pitchFamily="34" charset="0"/>
                <a:sym typeface="+mn-ea"/>
              </a:rPr>
              <a:t>13</a:t>
            </a:r>
            <a:r>
              <a:rPr lang="zh-CN" sz="2000">
                <a:solidFill>
                  <a:srgbClr val="4D4D4D"/>
                </a:solidFill>
                <a:ea typeface="等线" panose="02010600030101010101" pitchFamily="2" charset="-122"/>
                <a:sym typeface="+mn-ea"/>
              </a:rPr>
              <a:t>行进行相应</a:t>
            </a:r>
            <a:r>
              <a:rPr lang="zh-CN" sz="2000">
                <a:ea typeface="等线" panose="02010600030101010101" pitchFamily="2" charset="-122"/>
                <a:sym typeface="+mn-ea"/>
              </a:rPr>
              <a:t>修改，用某个</a:t>
            </a:r>
            <a:r>
              <a:rPr lang="en-US" sz="2000">
                <a:latin typeface="等线" panose="02010600030101010101" pitchFamily="2" charset="-122"/>
                <a:cs typeface="Times New Roman" panose="02020603050405020304" pitchFamily="18" charset="0"/>
                <a:sym typeface="+mn-ea"/>
              </a:rPr>
              <a:t>URL</a:t>
            </a:r>
            <a:r>
              <a:rPr lang="zh-CN" sz="2000">
                <a:ea typeface="等线" panose="02010600030101010101" pitchFamily="2" charset="-122"/>
                <a:sym typeface="+mn-ea"/>
              </a:rPr>
              <a:t>代替</a:t>
            </a:r>
            <a:r>
              <a:rPr lang="en-US" sz="2000">
                <a:latin typeface="等线" panose="02010600030101010101" pitchFamily="2" charset="-122"/>
                <a:cs typeface="Times New Roman" panose="02020603050405020304" pitchFamily="18" charset="0"/>
                <a:sym typeface="+mn-ea"/>
              </a:rPr>
              <a:t>'test_data.json'</a:t>
            </a:r>
            <a:r>
              <a:rPr lang="zh-CN" sz="2000">
                <a:ea typeface="等线" panose="02010600030101010101" pitchFamily="2" charset="-122"/>
                <a:sym typeface="+mn-ea"/>
              </a:rPr>
              <a:t>。</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253680" y="1914643"/>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219325" y="1131570"/>
            <a:ext cx="6555105" cy="645160"/>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本章小结</a:t>
            </a:r>
          </a:p>
        </p:txBody>
      </p:sp>
      <p:sp>
        <p:nvSpPr>
          <p:cNvPr id="41" name="文本框 40"/>
          <p:cNvSpPr txBox="1">
            <a:spLocks noChangeArrowheads="1"/>
          </p:cNvSpPr>
          <p:nvPr/>
        </p:nvSpPr>
        <p:spPr bwMode="auto">
          <a:xfrm>
            <a:off x="848229" y="1054872"/>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9.5</a:t>
            </a:r>
          </a:p>
        </p:txBody>
      </p:sp>
      <p:sp>
        <p:nvSpPr>
          <p:cNvPr id="4" name="文本框 3"/>
          <p:cNvSpPr txBox="1"/>
          <p:nvPr/>
        </p:nvSpPr>
        <p:spPr>
          <a:xfrm>
            <a:off x="848360" y="2284095"/>
            <a:ext cx="7520940" cy="1529715"/>
          </a:xfrm>
          <a:prstGeom prst="rect">
            <a:avLst/>
          </a:prstGeom>
          <a:noFill/>
        </p:spPr>
        <p:txBody>
          <a:bodyPr wrap="square" rtlCol="0">
            <a:spAutoFit/>
          </a:bodyPr>
          <a:lstStyle/>
          <a:p>
            <a:pPr indent="0">
              <a:lnSpc>
                <a:spcPct val="130000"/>
              </a:lnSpc>
              <a:spcBef>
                <a:spcPts val="0"/>
              </a:spcBef>
              <a:spcAft>
                <a:spcPts val="0"/>
              </a:spcAft>
              <a:buFont typeface="Wingdings" panose="05000000000000000000" pitchFamily="2" charset="2"/>
              <a:buNone/>
            </a:pPr>
            <a:r>
              <a:rPr lang="en-US" altLang="zh-CN" sz="1800" dirty="0">
                <a:solidFill>
                  <a:schemeClr val="bg1"/>
                </a:solidFill>
                <a:latin typeface="微软雅黑" panose="020B0503020204020204" pitchFamily="34" charset="-122"/>
                <a:ea typeface="微软雅黑" panose="020B0503020204020204" pitchFamily="34" charset="-122"/>
              </a:rPr>
              <a:t>       </a:t>
            </a:r>
            <a:r>
              <a:rPr lang="zh-CN" altLang="en-US" sz="1800" dirty="0">
                <a:solidFill>
                  <a:schemeClr val="bg1"/>
                </a:solidFill>
                <a:latin typeface="微软雅黑" panose="020B0503020204020204" pitchFamily="34" charset="-122"/>
                <a:ea typeface="微软雅黑" panose="020B0503020204020204" pitchFamily="34" charset="-122"/>
              </a:rPr>
              <a:t>本章首先介绍了数据可视化的常用方法和示例，以及目前常用的数据可视化工具的基本情况，接着介绍了使用Python语言的Matplotlib库进行数据可视化编程的基本方法，最后详细介绍了使用ECharts库实现数据可视化的方法和相关案例。</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p>
          <a:p>
            <a:pPr defTabSz="914400"/>
            <a:r>
              <a:rPr lang="zh-CN" altLang="en-US" sz="100" dirty="0">
                <a:solidFill>
                  <a:prstClr val="white"/>
                </a:solidFill>
                <a:ea typeface="宋体" panose="02010600030101010101" pitchFamily="2" charset="-122"/>
              </a:rPr>
              <a:t>字体下载：</a:t>
            </a:r>
            <a:r>
              <a:rPr lang="en-US" altLang="zh-CN" sz="100" dirty="0">
                <a:solidFill>
                  <a:prstClr val="white"/>
                </a:solidFill>
                <a:ea typeface="宋体" panose="02010600030101010101" pitchFamily="2" charset="-122"/>
              </a:rPr>
              <a:t>www.1ppt.com/ziti/</a:t>
            </a: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3416320"/>
          </a:xfrm>
          <a:prstGeom prst="rect">
            <a:avLst/>
          </a:prstGeom>
          <a:noFill/>
        </p:spPr>
        <p:txBody>
          <a:bodyPr wrap="square" rtlCol="0">
            <a:spAutoFit/>
          </a:bodyPr>
          <a:lstStyle/>
          <a:p>
            <a:r>
              <a:rPr lang="zh-CN" altLang="en-US" sz="7200" dirty="0">
                <a:solidFill>
                  <a:srgbClr val="FFC000"/>
                </a:solidFill>
              </a:rPr>
              <a:t>谢</a:t>
            </a:r>
            <a:endParaRPr lang="en-US" altLang="zh-CN" sz="7200" dirty="0">
              <a:solidFill>
                <a:srgbClr val="FFC000"/>
              </a:solidFill>
            </a:endParaRPr>
          </a:p>
          <a:p>
            <a:r>
              <a:rPr lang="zh-CN" altLang="en-US" sz="7200" dirty="0">
                <a:solidFill>
                  <a:srgbClr val="FFC000"/>
                </a:solidFill>
              </a:rPr>
              <a:t>  谢</a:t>
            </a:r>
            <a:endParaRPr lang="en-US" altLang="zh-CN" sz="7200" dirty="0">
              <a:solidFill>
                <a:srgbClr val="FFC000"/>
              </a:solidFill>
            </a:endParaRPr>
          </a:p>
          <a:p>
            <a:r>
              <a:rPr lang="zh-CN" altLang="en-US" sz="7200" dirty="0">
                <a:solidFill>
                  <a:srgbClr val="FFC000"/>
                </a:solidFill>
              </a:rPr>
              <a:t> ！</a:t>
            </a:r>
            <a:r>
              <a:rPr lang="zh-CN" altLang="en-US" sz="7200" dirty="0">
                <a:solidFill>
                  <a:srgbClr val="FF0000"/>
                </a:solidFill>
              </a:rPr>
              <a:t>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307,&quot;width&quot;:5879}"/>
</p:tagLst>
</file>

<file path=ppt/theme/theme1.xml><?xml version="1.0" encoding="utf-8"?>
<a:theme xmlns:a="http://schemas.openxmlformats.org/drawingml/2006/main" name="第一PPT，www.1ppt.com">
  <a:themeElements>
    <a:clrScheme name="自定义 11">
      <a:dk1>
        <a:sysClr val="windowText" lastClr="000000"/>
      </a:dk1>
      <a:lt1>
        <a:sysClr val="window" lastClr="FFFFFF"/>
      </a:lt1>
      <a:dk2>
        <a:srgbClr val="44546A"/>
      </a:dk2>
      <a:lt2>
        <a:srgbClr val="E7E6E6"/>
      </a:lt2>
      <a:accent1>
        <a:srgbClr val="5B9BD5"/>
      </a:accent1>
      <a:accent2>
        <a:srgbClr val="459BB3"/>
      </a:accent2>
      <a:accent3>
        <a:srgbClr val="00B0F0"/>
      </a:accent3>
      <a:accent4>
        <a:srgbClr val="00B0F0"/>
      </a:accent4>
      <a:accent5>
        <a:srgbClr val="459BB3"/>
      </a:accent5>
      <a:accent6>
        <a:srgbClr val="459BB3"/>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206</TotalTime>
  <Words>4888</Words>
  <Application>Microsoft Office PowerPoint</Application>
  <PresentationFormat>全屏显示(16:9)</PresentationFormat>
  <Paragraphs>538</Paragraphs>
  <Slides>75</Slides>
  <Notes>71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75</vt:i4>
      </vt:variant>
    </vt:vector>
  </HeadingPairs>
  <TitlesOfParts>
    <vt:vector size="87" baseType="lpstr">
      <vt:lpstr>等线</vt:lpstr>
      <vt:lpstr>等线 Light</vt:lpstr>
      <vt:lpstr>宋体</vt:lpstr>
      <vt:lpstr>微软雅黑</vt:lpstr>
      <vt:lpstr>Arial</vt:lpstr>
      <vt:lpstr>Calibri</vt:lpstr>
      <vt:lpstr>Calibri Light</vt:lpstr>
      <vt:lpstr>Cambria Math</vt:lpstr>
      <vt:lpstr>IrisUPC</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dc:creator>
  <cp:keywords>www.1ppt.com</cp:keywords>
  <dc:description>www.1ppt.com</dc:description>
  <cp:lastModifiedBy>lenovo</cp:lastModifiedBy>
  <cp:revision>310</cp:revision>
  <dcterms:created xsi:type="dcterms:W3CDTF">2017-03-04T06:55:00Z</dcterms:created>
  <dcterms:modified xsi:type="dcterms:W3CDTF">2022-12-22T02:00:42Z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252D1EE556A7488796FAE8D3BC33E8EE</vt:lpwstr>
  </property>
</Properties>
</file>
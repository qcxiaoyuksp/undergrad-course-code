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2"/>
  </p:notesMasterIdLst>
  <p:sldIdLst>
    <p:sldId id="256" r:id="rId2"/>
    <p:sldId id="333" r:id="rId3"/>
    <p:sldId id="290" r:id="rId4"/>
    <p:sldId id="312" r:id="rId5"/>
    <p:sldId id="303" r:id="rId6"/>
    <p:sldId id="422" r:id="rId7"/>
    <p:sldId id="335" r:id="rId8"/>
    <p:sldId id="337" r:id="rId9"/>
    <p:sldId id="338" r:id="rId10"/>
    <p:sldId id="263" r:id="rId11"/>
    <p:sldId id="429" r:id="rId12"/>
    <p:sldId id="423" r:id="rId13"/>
    <p:sldId id="426" r:id="rId14"/>
    <p:sldId id="339" r:id="rId15"/>
    <p:sldId id="424" r:id="rId16"/>
    <p:sldId id="334" r:id="rId17"/>
    <p:sldId id="318" r:id="rId18"/>
    <p:sldId id="345" r:id="rId19"/>
    <p:sldId id="340" r:id="rId20"/>
    <p:sldId id="341" r:id="rId21"/>
    <p:sldId id="342" r:id="rId22"/>
    <p:sldId id="343" r:id="rId23"/>
    <p:sldId id="346" r:id="rId24"/>
    <p:sldId id="344" r:id="rId25"/>
    <p:sldId id="319" r:id="rId26"/>
    <p:sldId id="336" r:id="rId27"/>
    <p:sldId id="347" r:id="rId28"/>
    <p:sldId id="348" r:id="rId29"/>
    <p:sldId id="349" r:id="rId30"/>
    <p:sldId id="350" r:id="rId31"/>
    <p:sldId id="351" r:id="rId32"/>
    <p:sldId id="352" r:id="rId33"/>
    <p:sldId id="353" r:id="rId34"/>
    <p:sldId id="354" r:id="rId35"/>
    <p:sldId id="355" r:id="rId36"/>
    <p:sldId id="356" r:id="rId37"/>
    <p:sldId id="327" r:id="rId38"/>
    <p:sldId id="328" r:id="rId39"/>
    <p:sldId id="357" r:id="rId40"/>
    <p:sldId id="358" r:id="rId41"/>
    <p:sldId id="359" r:id="rId42"/>
    <p:sldId id="360" r:id="rId43"/>
    <p:sldId id="361" r:id="rId44"/>
    <p:sldId id="362" r:id="rId45"/>
    <p:sldId id="368" r:id="rId46"/>
    <p:sldId id="363" r:id="rId47"/>
    <p:sldId id="369" r:id="rId48"/>
    <p:sldId id="428" r:id="rId49"/>
    <p:sldId id="370" r:id="rId50"/>
    <p:sldId id="372" r:id="rId51"/>
    <p:sldId id="371" r:id="rId52"/>
    <p:sldId id="373" r:id="rId53"/>
    <p:sldId id="427" r:id="rId54"/>
    <p:sldId id="374" r:id="rId55"/>
    <p:sldId id="375" r:id="rId56"/>
    <p:sldId id="376" r:id="rId57"/>
    <p:sldId id="377" r:id="rId58"/>
    <p:sldId id="378" r:id="rId59"/>
    <p:sldId id="379" r:id="rId60"/>
    <p:sldId id="382" r:id="rId61"/>
    <p:sldId id="380" r:id="rId62"/>
    <p:sldId id="381" r:id="rId63"/>
    <p:sldId id="364" r:id="rId64"/>
    <p:sldId id="365" r:id="rId65"/>
    <p:sldId id="383" r:id="rId66"/>
    <p:sldId id="384" r:id="rId67"/>
    <p:sldId id="385" r:id="rId68"/>
    <p:sldId id="386" r:id="rId69"/>
    <p:sldId id="387" r:id="rId70"/>
    <p:sldId id="393" r:id="rId71"/>
    <p:sldId id="388" r:id="rId72"/>
    <p:sldId id="389" r:id="rId73"/>
    <p:sldId id="390" r:id="rId74"/>
    <p:sldId id="391" r:id="rId75"/>
    <p:sldId id="392" r:id="rId76"/>
    <p:sldId id="396" r:id="rId77"/>
    <p:sldId id="394" r:id="rId78"/>
    <p:sldId id="395" r:id="rId79"/>
    <p:sldId id="397" r:id="rId80"/>
    <p:sldId id="398" r:id="rId81"/>
    <p:sldId id="366" r:id="rId82"/>
    <p:sldId id="367" r:id="rId83"/>
    <p:sldId id="399" r:id="rId84"/>
    <p:sldId id="400" r:id="rId85"/>
    <p:sldId id="329" r:id="rId86"/>
    <p:sldId id="330" r:id="rId87"/>
    <p:sldId id="402" r:id="rId88"/>
    <p:sldId id="403" r:id="rId89"/>
    <p:sldId id="404" r:id="rId90"/>
    <p:sldId id="405" r:id="rId91"/>
    <p:sldId id="411" r:id="rId92"/>
    <p:sldId id="406" r:id="rId93"/>
    <p:sldId id="407" r:id="rId94"/>
    <p:sldId id="408" r:id="rId95"/>
    <p:sldId id="409" r:id="rId96"/>
    <p:sldId id="331" r:id="rId97"/>
    <p:sldId id="332" r:id="rId98"/>
    <p:sldId id="412" r:id="rId99"/>
    <p:sldId id="413" r:id="rId100"/>
    <p:sldId id="414" r:id="rId101"/>
    <p:sldId id="415" r:id="rId102"/>
    <p:sldId id="416" r:id="rId103"/>
    <p:sldId id="417" r:id="rId104"/>
    <p:sldId id="418" r:id="rId105"/>
    <p:sldId id="419" r:id="rId106"/>
    <p:sldId id="420" r:id="rId107"/>
    <p:sldId id="421" r:id="rId108"/>
    <p:sldId id="320" r:id="rId109"/>
    <p:sldId id="270" r:id="rId110"/>
    <p:sldId id="326" r:id="rId111"/>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234" autoAdjust="0"/>
  </p:normalViewPr>
  <p:slideViewPr>
    <p:cSldViewPr>
      <p:cViewPr varScale="1">
        <p:scale>
          <a:sx n="199" d="100"/>
          <a:sy n="199" d="100"/>
        </p:scale>
        <p:origin x="700" y="104"/>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49959E0-9653-4E01-B050-18B859E9663F}" type="datetimeFigureOut">
              <a:rPr lang="zh-CN" altLang="en-US" smtClean="0"/>
              <a:t>2022/11/16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579405-0C40-48BA-99C8-403F46F30A6E}" type="slidenum">
              <a:rPr lang="zh-CN" altLang="en-US" smtClean="0"/>
              <a:t>‹#›</a:t>
            </a:fld>
            <a:endParaRPr lang="zh-CN" altLang="en-US"/>
          </a:p>
        </p:txBody>
      </p:sp>
    </p:spTree>
    <p:extLst>
      <p:ext uri="{BB962C8B-B14F-4D97-AF65-F5344CB8AC3E}">
        <p14:creationId xmlns:p14="http://schemas.microsoft.com/office/powerpoint/2010/main" val="867528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4</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a:effectLst/>
              </a:rPr>
              <a:t>各组件的基本功能</a:t>
            </a:r>
          </a:p>
          <a:p>
            <a:r>
              <a:rPr lang="zh-CN" altLang="en-US" sz="1200" kern="1200">
                <a:solidFill>
                  <a:schemeClr val="tx1"/>
                </a:solidFill>
                <a:effectLst/>
                <a:latin typeface="+mn-lt"/>
                <a:ea typeface="+mn-ea"/>
                <a:cs typeface="+mn-cs"/>
              </a:rPr>
              <a:t>用户接口主要由三个：</a:t>
            </a:r>
            <a:r>
              <a:rPr lang="en-US" altLang="zh-CN" sz="1200" kern="1200">
                <a:solidFill>
                  <a:schemeClr val="tx1"/>
                </a:solidFill>
                <a:effectLst/>
                <a:latin typeface="+mn-lt"/>
                <a:ea typeface="+mn-ea"/>
                <a:cs typeface="+mn-cs"/>
              </a:rPr>
              <a:t>CLI</a:t>
            </a:r>
            <a:r>
              <a:rPr lang="zh-CN" altLang="en-US" sz="1200" kern="1200">
                <a:solidFill>
                  <a:schemeClr val="tx1"/>
                </a:solidFill>
                <a:effectLst/>
                <a:latin typeface="+mn-lt"/>
                <a:ea typeface="+mn-ea"/>
                <a:cs typeface="+mn-cs"/>
              </a:rPr>
              <a:t>、</a:t>
            </a:r>
            <a:r>
              <a:rPr lang="en-US" altLang="zh-CN" sz="1200" kern="1200">
                <a:solidFill>
                  <a:schemeClr val="tx1"/>
                </a:solidFill>
                <a:effectLst/>
                <a:latin typeface="+mn-lt"/>
                <a:ea typeface="+mn-ea"/>
                <a:cs typeface="+mn-cs"/>
              </a:rPr>
              <a:t>JDBC/Beeline</a:t>
            </a:r>
            <a:r>
              <a:rPr lang="zh-CN" altLang="en-US" sz="1200" kern="1200">
                <a:solidFill>
                  <a:schemeClr val="tx1"/>
                </a:solidFill>
                <a:effectLst/>
                <a:latin typeface="+mn-lt"/>
                <a:ea typeface="+mn-ea"/>
                <a:cs typeface="+mn-cs"/>
              </a:rPr>
              <a:t>和</a:t>
            </a:r>
            <a:r>
              <a:rPr lang="en-US" altLang="zh-CN" sz="1200" kern="1200">
                <a:solidFill>
                  <a:schemeClr val="tx1"/>
                </a:solidFill>
                <a:effectLst/>
                <a:latin typeface="+mn-lt"/>
                <a:ea typeface="+mn-ea"/>
                <a:cs typeface="+mn-cs"/>
              </a:rPr>
              <a:t>WebGUI</a:t>
            </a:r>
            <a:r>
              <a:rPr lang="zh-CN" altLang="en-US" sz="1200" kern="1200">
                <a:solidFill>
                  <a:schemeClr val="tx1"/>
                </a:solidFill>
                <a:effectLst/>
                <a:latin typeface="+mn-lt"/>
                <a:ea typeface="+mn-ea"/>
                <a:cs typeface="+mn-cs"/>
              </a:rPr>
              <a:t>。其中，</a:t>
            </a:r>
            <a:r>
              <a:rPr lang="en-US" altLang="zh-CN" sz="1200" kern="1200">
                <a:solidFill>
                  <a:schemeClr val="tx1"/>
                </a:solidFill>
                <a:effectLst/>
                <a:latin typeface="+mn-lt"/>
                <a:ea typeface="+mn-ea"/>
                <a:cs typeface="+mn-cs"/>
              </a:rPr>
              <a:t>CLI</a:t>
            </a:r>
            <a:r>
              <a:rPr lang="zh-CN" altLang="en-US" sz="1200" kern="1200">
                <a:solidFill>
                  <a:schemeClr val="tx1"/>
                </a:solidFill>
                <a:effectLst/>
                <a:latin typeface="+mn-lt"/>
                <a:ea typeface="+mn-ea"/>
                <a:cs typeface="+mn-cs"/>
              </a:rPr>
              <a:t>为</a:t>
            </a:r>
            <a:r>
              <a:rPr lang="en-US" altLang="zh-CN" sz="1200" kern="1200">
                <a:solidFill>
                  <a:schemeClr val="tx1"/>
                </a:solidFill>
                <a:effectLst/>
                <a:latin typeface="+mn-lt"/>
                <a:ea typeface="+mn-ea"/>
                <a:cs typeface="+mn-cs"/>
              </a:rPr>
              <a:t>shell</a:t>
            </a:r>
            <a:r>
              <a:rPr lang="zh-CN" altLang="en-US" sz="1200" kern="1200">
                <a:solidFill>
                  <a:schemeClr val="tx1"/>
                </a:solidFill>
                <a:effectLst/>
                <a:latin typeface="+mn-lt"/>
                <a:ea typeface="+mn-ea"/>
                <a:cs typeface="+mn-cs"/>
              </a:rPr>
              <a:t>命令行；</a:t>
            </a:r>
            <a:r>
              <a:rPr lang="en-US" altLang="zh-CN" sz="1200" kern="1200">
                <a:solidFill>
                  <a:schemeClr val="tx1"/>
                </a:solidFill>
                <a:effectLst/>
                <a:latin typeface="+mn-lt"/>
                <a:ea typeface="+mn-ea"/>
                <a:cs typeface="+mn-cs"/>
              </a:rPr>
              <a:t>JDBC/Beeline</a:t>
            </a:r>
            <a:r>
              <a:rPr lang="zh-CN" altLang="en-US" sz="1200" kern="1200">
                <a:solidFill>
                  <a:schemeClr val="tx1"/>
                </a:solidFill>
                <a:effectLst/>
                <a:latin typeface="+mn-lt"/>
                <a:ea typeface="+mn-ea"/>
                <a:cs typeface="+mn-cs"/>
              </a:rPr>
              <a:t>是</a:t>
            </a:r>
            <a:r>
              <a:rPr lang="en-US" altLang="zh-CN" sz="1200" kern="1200">
                <a:solidFill>
                  <a:schemeClr val="tx1"/>
                </a:solidFill>
                <a:effectLst/>
                <a:latin typeface="+mn-lt"/>
                <a:ea typeface="+mn-ea"/>
                <a:cs typeface="+mn-cs"/>
              </a:rPr>
              <a:t>Hive</a:t>
            </a:r>
            <a:r>
              <a:rPr lang="zh-CN" altLang="en-US" sz="1200" kern="1200">
                <a:solidFill>
                  <a:schemeClr val="tx1"/>
                </a:solidFill>
                <a:effectLst/>
                <a:latin typeface="+mn-lt"/>
                <a:ea typeface="+mn-ea"/>
                <a:cs typeface="+mn-cs"/>
              </a:rPr>
              <a:t>的</a:t>
            </a:r>
            <a:r>
              <a:rPr lang="en-US" altLang="zh-CN" sz="1200" kern="1200">
                <a:solidFill>
                  <a:schemeClr val="tx1"/>
                </a:solidFill>
                <a:effectLst/>
                <a:latin typeface="+mn-lt"/>
                <a:ea typeface="+mn-ea"/>
                <a:cs typeface="+mn-cs"/>
              </a:rPr>
              <a:t>JAVA</a:t>
            </a:r>
            <a:r>
              <a:rPr lang="zh-CN" altLang="en-US" sz="1200" kern="1200">
                <a:solidFill>
                  <a:schemeClr val="tx1"/>
                </a:solidFill>
                <a:effectLst/>
                <a:latin typeface="+mn-lt"/>
                <a:ea typeface="+mn-ea"/>
                <a:cs typeface="+mn-cs"/>
              </a:rPr>
              <a:t>实现，与传统数据库</a:t>
            </a:r>
            <a:r>
              <a:rPr lang="en-US" altLang="zh-CN" sz="1200" kern="1200">
                <a:solidFill>
                  <a:schemeClr val="tx1"/>
                </a:solidFill>
                <a:effectLst/>
                <a:latin typeface="+mn-lt"/>
                <a:ea typeface="+mn-ea"/>
                <a:cs typeface="+mn-cs"/>
              </a:rPr>
              <a:t>JDBC</a:t>
            </a:r>
            <a:r>
              <a:rPr lang="zh-CN" altLang="en-US" sz="1200" kern="1200">
                <a:solidFill>
                  <a:schemeClr val="tx1"/>
                </a:solidFill>
                <a:effectLst/>
                <a:latin typeface="+mn-lt"/>
                <a:ea typeface="+mn-ea"/>
                <a:cs typeface="+mn-cs"/>
              </a:rPr>
              <a:t>类似；</a:t>
            </a:r>
            <a:r>
              <a:rPr lang="en-US" altLang="zh-CN" sz="1200" kern="1200">
                <a:solidFill>
                  <a:schemeClr val="tx1"/>
                </a:solidFill>
                <a:effectLst/>
                <a:latin typeface="+mn-lt"/>
                <a:ea typeface="+mn-ea"/>
                <a:cs typeface="+mn-cs"/>
              </a:rPr>
              <a:t>WebGUI</a:t>
            </a:r>
            <a:r>
              <a:rPr lang="zh-CN" altLang="en-US" sz="1200" kern="1200">
                <a:solidFill>
                  <a:schemeClr val="tx1"/>
                </a:solidFill>
                <a:effectLst/>
                <a:latin typeface="+mn-lt"/>
                <a:ea typeface="+mn-ea"/>
                <a:cs typeface="+mn-cs"/>
              </a:rPr>
              <a:t>是通过浏览器访问</a:t>
            </a:r>
            <a:r>
              <a:rPr lang="en-US" altLang="zh-CN" sz="1200" kern="1200">
                <a:solidFill>
                  <a:schemeClr val="tx1"/>
                </a:solidFill>
                <a:effectLst/>
                <a:latin typeface="+mn-lt"/>
                <a:ea typeface="+mn-ea"/>
                <a:cs typeface="+mn-cs"/>
              </a:rPr>
              <a:t>Hive</a:t>
            </a:r>
            <a:r>
              <a:rPr lang="zh-CN" altLang="en-US" sz="1200" kern="1200">
                <a:solidFill>
                  <a:schemeClr val="tx1"/>
                </a:solidFill>
                <a:effectLst/>
                <a:latin typeface="+mn-lt"/>
                <a:ea typeface="+mn-ea"/>
                <a:cs typeface="+mn-cs"/>
              </a:rPr>
              <a:t>。</a:t>
            </a:r>
          </a:p>
          <a:p>
            <a:br>
              <a:rPr lang="zh-CN" altLang="en-US" sz="1200" kern="1200">
                <a:solidFill>
                  <a:schemeClr val="tx1"/>
                </a:solidFill>
                <a:effectLst/>
                <a:latin typeface="+mn-lt"/>
                <a:ea typeface="+mn-ea"/>
                <a:cs typeface="+mn-cs"/>
              </a:rPr>
            </a:br>
            <a:endParaRPr lang="zh-CN" altLang="en-US" sz="1200" kern="1200">
              <a:solidFill>
                <a:schemeClr val="tx1"/>
              </a:solidFill>
              <a:effectLst/>
              <a:latin typeface="+mn-lt"/>
              <a:ea typeface="+mn-ea"/>
              <a:cs typeface="+mn-cs"/>
            </a:endParaRPr>
          </a:p>
          <a:p>
            <a:r>
              <a:rPr lang="zh-CN" altLang="en-US" sz="1200" kern="1200">
                <a:solidFill>
                  <a:schemeClr val="tx1"/>
                </a:solidFill>
                <a:effectLst/>
                <a:latin typeface="+mn-lt"/>
                <a:ea typeface="+mn-ea"/>
                <a:cs typeface="+mn-cs"/>
              </a:rPr>
              <a:t>元数据存储：</a:t>
            </a:r>
            <a:r>
              <a:rPr lang="en-US" altLang="zh-CN" sz="1200" kern="1200">
                <a:solidFill>
                  <a:schemeClr val="tx1"/>
                </a:solidFill>
                <a:effectLst/>
                <a:latin typeface="+mn-lt"/>
                <a:ea typeface="+mn-ea"/>
                <a:cs typeface="+mn-cs"/>
              </a:rPr>
              <a:t>Hive </a:t>
            </a:r>
            <a:r>
              <a:rPr lang="zh-CN" altLang="en-US" sz="1200" kern="1200">
                <a:solidFill>
                  <a:schemeClr val="tx1"/>
                </a:solidFill>
                <a:effectLst/>
                <a:latin typeface="+mn-lt"/>
                <a:ea typeface="+mn-ea"/>
                <a:cs typeface="+mn-cs"/>
              </a:rPr>
              <a:t>将元数据存储在数据库中</a:t>
            </a:r>
            <a:r>
              <a:rPr lang="en-US" altLang="zh-CN" sz="1200" kern="1200">
                <a:solidFill>
                  <a:schemeClr val="tx1"/>
                </a:solidFill>
                <a:effectLst/>
                <a:latin typeface="+mn-lt"/>
                <a:ea typeface="+mn-ea"/>
                <a:cs typeface="+mn-cs"/>
              </a:rPr>
              <a:t>(MySql</a:t>
            </a:r>
            <a:r>
              <a:rPr lang="zh-CN" altLang="en-US" sz="1200" kern="1200">
                <a:solidFill>
                  <a:schemeClr val="tx1"/>
                </a:solidFill>
                <a:effectLst/>
                <a:latin typeface="+mn-lt"/>
                <a:ea typeface="+mn-ea"/>
                <a:cs typeface="+mn-cs"/>
              </a:rPr>
              <a:t>或者</a:t>
            </a:r>
            <a:r>
              <a:rPr lang="en-US" altLang="zh-CN" sz="1200" kern="1200">
                <a:solidFill>
                  <a:schemeClr val="tx1"/>
                </a:solidFill>
                <a:effectLst/>
                <a:latin typeface="+mn-lt"/>
                <a:ea typeface="+mn-ea"/>
                <a:cs typeface="+mn-cs"/>
              </a:rPr>
              <a:t>Derby)</a:t>
            </a:r>
            <a:r>
              <a:rPr lang="zh-CN" altLang="en-US" sz="1200" kern="1200">
                <a:solidFill>
                  <a:schemeClr val="tx1"/>
                </a:solidFill>
                <a:effectLst/>
                <a:latin typeface="+mn-lt"/>
                <a:ea typeface="+mn-ea"/>
                <a:cs typeface="+mn-cs"/>
              </a:rPr>
              <a:t>。</a:t>
            </a:r>
            <a:r>
              <a:rPr lang="en-US" altLang="zh-CN" sz="1200" kern="1200">
                <a:solidFill>
                  <a:schemeClr val="tx1"/>
                </a:solidFill>
                <a:effectLst/>
                <a:latin typeface="+mn-lt"/>
                <a:ea typeface="+mn-ea"/>
                <a:cs typeface="+mn-cs"/>
              </a:rPr>
              <a:t>Hive</a:t>
            </a:r>
            <a:r>
              <a:rPr lang="zh-CN" altLang="en-US" sz="1200" kern="1200">
                <a:solidFill>
                  <a:schemeClr val="tx1"/>
                </a:solidFill>
                <a:effectLst/>
                <a:latin typeface="+mn-lt"/>
                <a:ea typeface="+mn-ea"/>
                <a:cs typeface="+mn-cs"/>
              </a:rPr>
              <a:t>中的元数据包括表的名字，表的列和分区及其属性，表的属性（是否为外部表等），表的数据所在目录等。表的数据所在目录</a:t>
            </a:r>
            <a:r>
              <a:rPr lang="en-US" altLang="zh-CN" sz="1200" kern="1200">
                <a:solidFill>
                  <a:schemeClr val="tx1"/>
                </a:solidFill>
                <a:effectLst/>
                <a:latin typeface="+mn-lt"/>
                <a:ea typeface="+mn-ea"/>
                <a:cs typeface="+mn-cs"/>
              </a:rPr>
              <a:t>Metastore </a:t>
            </a:r>
            <a:r>
              <a:rPr lang="zh-CN" altLang="en-US" sz="1200" kern="1200">
                <a:solidFill>
                  <a:schemeClr val="tx1"/>
                </a:solidFill>
                <a:effectLst/>
                <a:latin typeface="+mn-lt"/>
                <a:ea typeface="+mn-ea"/>
                <a:cs typeface="+mn-cs"/>
              </a:rPr>
              <a:t>默认存在自带的 </a:t>
            </a:r>
            <a:r>
              <a:rPr lang="en-US" altLang="zh-CN" sz="1200" kern="1200">
                <a:solidFill>
                  <a:schemeClr val="tx1"/>
                </a:solidFill>
                <a:effectLst/>
                <a:latin typeface="+mn-lt"/>
                <a:ea typeface="+mn-ea"/>
                <a:cs typeface="+mn-cs"/>
              </a:rPr>
              <a:t>Derby </a:t>
            </a:r>
            <a:r>
              <a:rPr lang="zh-CN" altLang="en-US" sz="1200" kern="1200">
                <a:solidFill>
                  <a:schemeClr val="tx1"/>
                </a:solidFill>
                <a:effectLst/>
                <a:latin typeface="+mn-lt"/>
                <a:ea typeface="+mn-ea"/>
                <a:cs typeface="+mn-cs"/>
              </a:rPr>
              <a:t>数据库中。缺点就是不适合多用户操作，并且数据存储目录不固定。数据库跟着 </a:t>
            </a:r>
            <a:r>
              <a:rPr lang="en-US" altLang="zh-CN" sz="1200" kern="1200">
                <a:solidFill>
                  <a:schemeClr val="tx1"/>
                </a:solidFill>
                <a:effectLst/>
                <a:latin typeface="+mn-lt"/>
                <a:ea typeface="+mn-ea"/>
                <a:cs typeface="+mn-cs"/>
              </a:rPr>
              <a:t>Hive </a:t>
            </a:r>
            <a:r>
              <a:rPr lang="zh-CN" altLang="en-US" sz="1200" kern="1200">
                <a:solidFill>
                  <a:schemeClr val="tx1"/>
                </a:solidFill>
                <a:effectLst/>
                <a:latin typeface="+mn-lt"/>
                <a:ea typeface="+mn-ea"/>
                <a:cs typeface="+mn-cs"/>
              </a:rPr>
              <a:t>走，极度不方便管理。解决方案：通常存我们自己创建的 </a:t>
            </a:r>
            <a:r>
              <a:rPr lang="en-US" altLang="zh-CN" sz="1200" kern="1200">
                <a:solidFill>
                  <a:schemeClr val="tx1"/>
                </a:solidFill>
                <a:effectLst/>
                <a:latin typeface="+mn-lt"/>
                <a:ea typeface="+mn-ea"/>
                <a:cs typeface="+mn-cs"/>
              </a:rPr>
              <a:t>MySQL </a:t>
            </a:r>
            <a:r>
              <a:rPr lang="zh-CN" altLang="en-US" sz="1200" kern="1200">
                <a:solidFill>
                  <a:schemeClr val="tx1"/>
                </a:solidFill>
                <a:effectLst/>
                <a:latin typeface="+mn-lt"/>
                <a:ea typeface="+mn-ea"/>
                <a:cs typeface="+mn-cs"/>
              </a:rPr>
              <a:t>库（ 本地 或 远程）</a:t>
            </a:r>
            <a:r>
              <a:rPr lang="en-US" altLang="zh-CN" sz="1200" kern="1200">
                <a:solidFill>
                  <a:schemeClr val="tx1"/>
                </a:solidFill>
                <a:effectLst/>
                <a:latin typeface="+mn-lt"/>
                <a:ea typeface="+mn-ea"/>
                <a:cs typeface="+mn-cs"/>
              </a:rPr>
              <a:t>Hive </a:t>
            </a:r>
            <a:r>
              <a:rPr lang="zh-CN" altLang="en-US" sz="1200" kern="1200">
                <a:solidFill>
                  <a:schemeClr val="tx1"/>
                </a:solidFill>
                <a:effectLst/>
                <a:latin typeface="+mn-lt"/>
                <a:ea typeface="+mn-ea"/>
                <a:cs typeface="+mn-cs"/>
              </a:rPr>
              <a:t>和 </a:t>
            </a:r>
            <a:r>
              <a:rPr lang="en-US" altLang="zh-CN" sz="1200" kern="1200">
                <a:solidFill>
                  <a:schemeClr val="tx1"/>
                </a:solidFill>
                <a:effectLst/>
                <a:latin typeface="+mn-lt"/>
                <a:ea typeface="+mn-ea"/>
                <a:cs typeface="+mn-cs"/>
              </a:rPr>
              <a:t>MySQL </a:t>
            </a:r>
            <a:r>
              <a:rPr lang="zh-CN" altLang="en-US" sz="1200" kern="1200">
                <a:solidFill>
                  <a:schemeClr val="tx1"/>
                </a:solidFill>
                <a:effectLst/>
                <a:latin typeface="+mn-lt"/>
                <a:ea typeface="+mn-ea"/>
                <a:cs typeface="+mn-cs"/>
              </a:rPr>
              <a:t>之间通过 </a:t>
            </a:r>
            <a:r>
              <a:rPr lang="en-US" altLang="zh-CN" sz="1200" kern="1200">
                <a:solidFill>
                  <a:schemeClr val="tx1"/>
                </a:solidFill>
                <a:effectLst/>
                <a:latin typeface="+mn-lt"/>
                <a:ea typeface="+mn-ea"/>
                <a:cs typeface="+mn-cs"/>
              </a:rPr>
              <a:t>MetaStore </a:t>
            </a:r>
            <a:r>
              <a:rPr lang="zh-CN" altLang="en-US" sz="1200" kern="1200">
                <a:solidFill>
                  <a:schemeClr val="tx1"/>
                </a:solidFill>
                <a:effectLst/>
                <a:latin typeface="+mn-lt"/>
                <a:ea typeface="+mn-ea"/>
                <a:cs typeface="+mn-cs"/>
              </a:rPr>
              <a:t>服务交互。</a:t>
            </a:r>
          </a:p>
          <a:p>
            <a:br>
              <a:rPr lang="zh-CN" altLang="en-US" sz="1200" kern="1200">
                <a:solidFill>
                  <a:schemeClr val="tx1"/>
                </a:solidFill>
                <a:effectLst/>
                <a:latin typeface="+mn-lt"/>
                <a:ea typeface="+mn-ea"/>
                <a:cs typeface="+mn-cs"/>
              </a:rPr>
            </a:br>
            <a:endParaRPr lang="zh-CN" altLang="en-US" sz="1200" kern="1200">
              <a:solidFill>
                <a:schemeClr val="tx1"/>
              </a:solidFill>
              <a:effectLst/>
              <a:latin typeface="+mn-lt"/>
              <a:ea typeface="+mn-ea"/>
              <a:cs typeface="+mn-cs"/>
            </a:endParaRPr>
          </a:p>
          <a:p>
            <a:r>
              <a:rPr lang="en-US" altLang="zh-CN" sz="1200" kern="1200">
                <a:solidFill>
                  <a:schemeClr val="tx1"/>
                </a:solidFill>
                <a:effectLst/>
                <a:latin typeface="+mn-lt"/>
                <a:ea typeface="+mn-ea"/>
                <a:cs typeface="+mn-cs"/>
              </a:rPr>
              <a:t>Driver </a:t>
            </a:r>
            <a:r>
              <a:rPr lang="zh-CN" altLang="en-US" sz="1200" kern="1200">
                <a:solidFill>
                  <a:schemeClr val="tx1"/>
                </a:solidFill>
                <a:effectLst/>
                <a:latin typeface="+mn-lt"/>
                <a:ea typeface="+mn-ea"/>
                <a:cs typeface="+mn-cs"/>
              </a:rPr>
              <a:t>： 编译器 （</a:t>
            </a:r>
            <a:r>
              <a:rPr lang="en-US" altLang="zh-CN" sz="1200" kern="1200">
                <a:solidFill>
                  <a:schemeClr val="tx1"/>
                </a:solidFill>
                <a:effectLst/>
                <a:latin typeface="+mn-lt"/>
                <a:ea typeface="+mn-ea"/>
                <a:cs typeface="+mn-cs"/>
              </a:rPr>
              <a:t>Compiler</a:t>
            </a:r>
            <a:r>
              <a:rPr lang="zh-CN" altLang="en-US" sz="1200" kern="1200">
                <a:solidFill>
                  <a:schemeClr val="tx1"/>
                </a:solidFill>
                <a:effectLst/>
                <a:latin typeface="+mn-lt"/>
                <a:ea typeface="+mn-ea"/>
                <a:cs typeface="+mn-cs"/>
              </a:rPr>
              <a:t>） ） ，优化器 （</a:t>
            </a:r>
            <a:r>
              <a:rPr lang="en-US" altLang="zh-CN" sz="1200" kern="1200">
                <a:solidFill>
                  <a:schemeClr val="tx1"/>
                </a:solidFill>
                <a:effectLst/>
                <a:latin typeface="+mn-lt"/>
                <a:ea typeface="+mn-ea"/>
                <a:cs typeface="+mn-cs"/>
              </a:rPr>
              <a:t>Optimizer</a:t>
            </a:r>
            <a:r>
              <a:rPr lang="zh-CN" altLang="en-US" sz="1200" kern="1200">
                <a:solidFill>
                  <a:schemeClr val="tx1"/>
                </a:solidFill>
                <a:effectLst/>
                <a:latin typeface="+mn-lt"/>
                <a:ea typeface="+mn-ea"/>
                <a:cs typeface="+mn-cs"/>
              </a:rPr>
              <a:t>） ） ，执行器 （</a:t>
            </a:r>
            <a:r>
              <a:rPr lang="en-US" altLang="zh-CN" sz="1200" kern="1200">
                <a:solidFill>
                  <a:schemeClr val="tx1"/>
                </a:solidFill>
                <a:effectLst/>
                <a:latin typeface="+mn-lt"/>
                <a:ea typeface="+mn-ea"/>
                <a:cs typeface="+mn-cs"/>
              </a:rPr>
              <a:t>Executor </a:t>
            </a:r>
            <a:r>
              <a:rPr lang="zh-CN" altLang="en-US" sz="1200" kern="1200">
                <a:solidFill>
                  <a:schemeClr val="tx1"/>
                </a:solidFill>
                <a:effectLst/>
                <a:latin typeface="+mn-lt"/>
                <a:ea typeface="+mn-ea"/>
                <a:cs typeface="+mn-cs"/>
              </a:rPr>
              <a:t>）</a:t>
            </a:r>
          </a:p>
          <a:p>
            <a:r>
              <a:rPr lang="en-US" altLang="zh-CN" sz="1200" kern="1200">
                <a:solidFill>
                  <a:schemeClr val="tx1"/>
                </a:solidFill>
                <a:effectLst/>
                <a:latin typeface="+mn-lt"/>
                <a:ea typeface="+mn-ea"/>
                <a:cs typeface="+mn-cs"/>
              </a:rPr>
              <a:t>Driver </a:t>
            </a:r>
            <a:r>
              <a:rPr lang="zh-CN" altLang="en-US" sz="1200" kern="1200">
                <a:solidFill>
                  <a:schemeClr val="tx1"/>
                </a:solidFill>
                <a:effectLst/>
                <a:latin typeface="+mn-lt"/>
                <a:ea typeface="+mn-ea"/>
                <a:cs typeface="+mn-cs"/>
              </a:rPr>
              <a:t>组件完成 </a:t>
            </a:r>
            <a:r>
              <a:rPr lang="en-US" altLang="zh-CN" sz="1200" kern="1200">
                <a:solidFill>
                  <a:schemeClr val="tx1"/>
                </a:solidFill>
                <a:effectLst/>
                <a:latin typeface="+mn-lt"/>
                <a:ea typeface="+mn-ea"/>
                <a:cs typeface="+mn-cs"/>
              </a:rPr>
              <a:t>HQL </a:t>
            </a:r>
            <a:r>
              <a:rPr lang="zh-CN" altLang="en-US" sz="1200" kern="1200">
                <a:solidFill>
                  <a:schemeClr val="tx1"/>
                </a:solidFill>
                <a:effectLst/>
                <a:latin typeface="+mn-lt"/>
                <a:ea typeface="+mn-ea"/>
                <a:cs typeface="+mn-cs"/>
              </a:rPr>
              <a:t>查询语句从词法分析，语法分析，编译，优化，以及生成逻辑执行</a:t>
            </a:r>
          </a:p>
          <a:p>
            <a:r>
              <a:rPr lang="zh-CN" altLang="en-US" sz="1200" kern="1200">
                <a:solidFill>
                  <a:schemeClr val="tx1"/>
                </a:solidFill>
                <a:effectLst/>
                <a:latin typeface="+mn-lt"/>
                <a:ea typeface="+mn-ea"/>
                <a:cs typeface="+mn-cs"/>
              </a:rPr>
              <a:t>计划的生成。生成的逻辑执行计划存储在 </a:t>
            </a:r>
            <a:r>
              <a:rPr lang="en-US" altLang="zh-CN" sz="1200" kern="1200">
                <a:solidFill>
                  <a:schemeClr val="tx1"/>
                </a:solidFill>
                <a:effectLst/>
                <a:latin typeface="+mn-lt"/>
                <a:ea typeface="+mn-ea"/>
                <a:cs typeface="+mn-cs"/>
              </a:rPr>
              <a:t>HDFS </a:t>
            </a:r>
            <a:r>
              <a:rPr lang="zh-CN" altLang="en-US" sz="1200" kern="1200">
                <a:solidFill>
                  <a:schemeClr val="tx1"/>
                </a:solidFill>
                <a:effectLst/>
                <a:latin typeface="+mn-lt"/>
                <a:ea typeface="+mn-ea"/>
                <a:cs typeface="+mn-cs"/>
              </a:rPr>
              <a:t>中，并随后由 </a:t>
            </a:r>
            <a:r>
              <a:rPr lang="en-US" altLang="zh-CN" sz="1200" kern="1200">
                <a:solidFill>
                  <a:schemeClr val="tx1"/>
                </a:solidFill>
                <a:effectLst/>
                <a:latin typeface="+mn-lt"/>
                <a:ea typeface="+mn-ea"/>
                <a:cs typeface="+mn-cs"/>
              </a:rPr>
              <a:t>MapReduce </a:t>
            </a:r>
            <a:r>
              <a:rPr lang="zh-CN" altLang="en-US" sz="1200" kern="1200">
                <a:solidFill>
                  <a:schemeClr val="tx1"/>
                </a:solidFill>
                <a:effectLst/>
                <a:latin typeface="+mn-lt"/>
                <a:ea typeface="+mn-ea"/>
                <a:cs typeface="+mn-cs"/>
              </a:rPr>
              <a:t>调用执行</a:t>
            </a:r>
          </a:p>
          <a:p>
            <a:r>
              <a:rPr lang="en-US" altLang="zh-CN" sz="1200" kern="1200">
                <a:solidFill>
                  <a:schemeClr val="tx1"/>
                </a:solidFill>
                <a:effectLst/>
                <a:latin typeface="+mn-lt"/>
                <a:ea typeface="+mn-ea"/>
                <a:cs typeface="+mn-cs"/>
              </a:rPr>
              <a:t>Hive </a:t>
            </a:r>
            <a:r>
              <a:rPr lang="zh-CN" altLang="en-US" sz="1200" kern="1200">
                <a:solidFill>
                  <a:schemeClr val="tx1"/>
                </a:solidFill>
                <a:effectLst/>
                <a:latin typeface="+mn-lt"/>
                <a:ea typeface="+mn-ea"/>
                <a:cs typeface="+mn-cs"/>
              </a:rPr>
              <a:t>的核心是驱动引擎， 驱动引擎由四部分组成：</a:t>
            </a:r>
          </a:p>
          <a:p>
            <a:r>
              <a:rPr lang="en-US" altLang="zh-CN" sz="1200" kern="1200">
                <a:solidFill>
                  <a:schemeClr val="tx1"/>
                </a:solidFill>
                <a:effectLst/>
                <a:latin typeface="+mn-lt"/>
                <a:ea typeface="+mn-ea"/>
                <a:cs typeface="+mn-cs"/>
              </a:rPr>
              <a:t>(1) </a:t>
            </a:r>
            <a:r>
              <a:rPr lang="zh-CN" altLang="en-US" sz="1200" kern="1200">
                <a:solidFill>
                  <a:schemeClr val="tx1"/>
                </a:solidFill>
                <a:effectLst/>
                <a:latin typeface="+mn-lt"/>
                <a:ea typeface="+mn-ea"/>
                <a:cs typeface="+mn-cs"/>
              </a:rPr>
              <a:t>解释器：解释器的作用是将 </a:t>
            </a:r>
            <a:r>
              <a:rPr lang="en-US" altLang="zh-CN" sz="1200" kern="1200">
                <a:solidFill>
                  <a:schemeClr val="tx1"/>
                </a:solidFill>
                <a:effectLst/>
                <a:latin typeface="+mn-lt"/>
                <a:ea typeface="+mn-ea"/>
                <a:cs typeface="+mn-cs"/>
              </a:rPr>
              <a:t>HiveSQL </a:t>
            </a:r>
            <a:r>
              <a:rPr lang="zh-CN" altLang="en-US" sz="1200" kern="1200">
                <a:solidFill>
                  <a:schemeClr val="tx1"/>
                </a:solidFill>
                <a:effectLst/>
                <a:latin typeface="+mn-lt"/>
                <a:ea typeface="+mn-ea"/>
                <a:cs typeface="+mn-cs"/>
              </a:rPr>
              <a:t>语句转换为抽象语法树（</a:t>
            </a:r>
            <a:r>
              <a:rPr lang="en-US" altLang="zh-CN" sz="1200" kern="1200">
                <a:solidFill>
                  <a:schemeClr val="tx1"/>
                </a:solidFill>
                <a:effectLst/>
                <a:latin typeface="+mn-lt"/>
                <a:ea typeface="+mn-ea"/>
                <a:cs typeface="+mn-cs"/>
              </a:rPr>
              <a:t>AST</a:t>
            </a:r>
            <a:r>
              <a:rPr lang="zh-CN" altLang="en-US" sz="1200" kern="1200">
                <a:solidFill>
                  <a:schemeClr val="tx1"/>
                </a:solidFill>
                <a:effectLst/>
                <a:latin typeface="+mn-lt"/>
                <a:ea typeface="+mn-ea"/>
                <a:cs typeface="+mn-cs"/>
              </a:rPr>
              <a:t>）</a:t>
            </a:r>
          </a:p>
          <a:p>
            <a:r>
              <a:rPr lang="en-US" altLang="zh-CN" sz="1200" kern="1200">
                <a:solidFill>
                  <a:schemeClr val="tx1"/>
                </a:solidFill>
                <a:effectLst/>
                <a:latin typeface="+mn-lt"/>
                <a:ea typeface="+mn-ea"/>
                <a:cs typeface="+mn-cs"/>
              </a:rPr>
              <a:t>(2) </a:t>
            </a:r>
            <a:r>
              <a:rPr lang="zh-CN" altLang="en-US" sz="1200" kern="1200">
                <a:solidFill>
                  <a:schemeClr val="tx1"/>
                </a:solidFill>
                <a:effectLst/>
                <a:latin typeface="+mn-lt"/>
                <a:ea typeface="+mn-ea"/>
                <a:cs typeface="+mn-cs"/>
              </a:rPr>
              <a:t>编译器：编译器是将语法树编译为逻辑执行计划</a:t>
            </a:r>
          </a:p>
          <a:p>
            <a:r>
              <a:rPr lang="en-US" altLang="zh-CN" sz="1200" kern="1200">
                <a:solidFill>
                  <a:schemeClr val="tx1"/>
                </a:solidFill>
                <a:effectLst/>
                <a:latin typeface="+mn-lt"/>
                <a:ea typeface="+mn-ea"/>
                <a:cs typeface="+mn-cs"/>
              </a:rPr>
              <a:t>(3) </a:t>
            </a:r>
            <a:r>
              <a:rPr lang="zh-CN" altLang="en-US" sz="1200" kern="1200">
                <a:solidFill>
                  <a:schemeClr val="tx1"/>
                </a:solidFill>
                <a:effectLst/>
                <a:latin typeface="+mn-lt"/>
                <a:ea typeface="+mn-ea"/>
                <a:cs typeface="+mn-cs"/>
              </a:rPr>
              <a:t>优化器：优化器是对逻辑执行计划进行优化</a:t>
            </a:r>
          </a:p>
          <a:p>
            <a:r>
              <a:rPr lang="en-US" altLang="zh-CN" sz="1200" kern="1200">
                <a:solidFill>
                  <a:schemeClr val="tx1"/>
                </a:solidFill>
                <a:effectLst/>
                <a:latin typeface="+mn-lt"/>
                <a:ea typeface="+mn-ea"/>
                <a:cs typeface="+mn-cs"/>
              </a:rPr>
              <a:t>(4) </a:t>
            </a:r>
            <a:r>
              <a:rPr lang="zh-CN" altLang="en-US" sz="1200" kern="1200">
                <a:solidFill>
                  <a:schemeClr val="tx1"/>
                </a:solidFill>
                <a:effectLst/>
                <a:latin typeface="+mn-lt"/>
                <a:ea typeface="+mn-ea"/>
                <a:cs typeface="+mn-cs"/>
              </a:rPr>
              <a:t>执行器：执行器是调用底层的运行框架执行逻辑执行计划</a:t>
            </a:r>
          </a:p>
          <a:p>
            <a:endParaRPr lang="zh-CN" altLang="en-US"/>
          </a:p>
        </p:txBody>
      </p:sp>
      <p:sp>
        <p:nvSpPr>
          <p:cNvPr id="4" name="灯片编号占位符 3"/>
          <p:cNvSpPr>
            <a:spLocks noGrp="1"/>
          </p:cNvSpPr>
          <p:nvPr>
            <p:ph type="sldNum" sz="quarter" idx="5"/>
          </p:nvPr>
        </p:nvSpPr>
        <p:spPr/>
        <p:txBody>
          <a:bodyPr/>
          <a:lstStyle/>
          <a:p>
            <a:fld id="{3D579405-0C40-48BA-99C8-403F46F30A6E}" type="slidenum">
              <a:rPr lang="zh-CN" altLang="en-US" smtClean="0"/>
              <a:t>11</a:t>
            </a:fld>
            <a:endParaRPr lang="zh-CN" altLang="en-US"/>
          </a:p>
        </p:txBody>
      </p:sp>
    </p:spTree>
    <p:extLst>
      <p:ext uri="{BB962C8B-B14F-4D97-AF65-F5344CB8AC3E}">
        <p14:creationId xmlns:p14="http://schemas.microsoft.com/office/powerpoint/2010/main" val="4004883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17</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25</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37</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903547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85</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776266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96</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311087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108</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605855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110</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44016" y="231490"/>
            <a:ext cx="7668344" cy="540060"/>
          </a:xfrm>
          <a:noFill/>
        </p:spPr>
        <p:txBody>
          <a:bodyPr>
            <a:normAutofit/>
          </a:bodyPr>
          <a:lstStyle>
            <a:lvl1pPr algn="l">
              <a:defRPr sz="3200" b="1">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五边形 7"/>
          <p:cNvSpPr/>
          <p:nvPr userDrawn="1"/>
        </p:nvSpPr>
        <p:spPr>
          <a:xfrm>
            <a:off x="0" y="195486"/>
            <a:ext cx="4139952" cy="648072"/>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2022/11/16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2022/11/16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2022/11/16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2022/11/16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2022/11/16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2022/11/16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0" y="0"/>
            <a:ext cx="9144000" cy="1059582"/>
          </a:xfrm>
          <a:prstGeom prst="rect">
            <a:avLst/>
          </a:prstGeom>
          <a:solidFill>
            <a:schemeClr val="accent1">
              <a:lumMod val="75000"/>
            </a:schemeClr>
          </a:solidFill>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2022/11/16</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36.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354" y="0"/>
            <a:ext cx="9141291" cy="5143500"/>
          </a:xfrm>
          <a:prstGeom prst="rect">
            <a:avLst/>
          </a:prstGeom>
        </p:spPr>
      </p:pic>
      <p:pic>
        <p:nvPicPr>
          <p:cNvPr id="5" name="图片 4"/>
          <p:cNvPicPr>
            <a:picLocks noChangeAspect="1"/>
          </p:cNvPicPr>
          <p:nvPr/>
        </p:nvPicPr>
        <p:blipFill>
          <a:blip r:embed="rId3"/>
          <a:stretch>
            <a:fillRect/>
          </a:stretch>
        </p:blipFill>
        <p:spPr>
          <a:xfrm>
            <a:off x="1441962" y="417200"/>
            <a:ext cx="6260074" cy="4522858"/>
          </a:xfrm>
          <a:prstGeom prst="rect">
            <a:avLst/>
          </a:prstGeom>
        </p:spPr>
      </p:pic>
      <p:pic>
        <p:nvPicPr>
          <p:cNvPr id="6" name="图片 5"/>
          <p:cNvPicPr>
            <a:picLocks noChangeAspect="1"/>
          </p:cNvPicPr>
          <p:nvPr/>
        </p:nvPicPr>
        <p:blipFill>
          <a:blip r:embed="rId4"/>
          <a:stretch>
            <a:fillRect/>
          </a:stretch>
        </p:blipFill>
        <p:spPr>
          <a:xfrm>
            <a:off x="1563873" y="1026542"/>
            <a:ext cx="6016254" cy="3090416"/>
          </a:xfrm>
          <a:prstGeom prst="rect">
            <a:avLst/>
          </a:prstGeom>
        </p:spPr>
      </p:pic>
      <p:sp>
        <p:nvSpPr>
          <p:cNvPr id="2" name="标题 1"/>
          <p:cNvSpPr>
            <a:spLocks noGrp="1"/>
          </p:cNvSpPr>
          <p:nvPr>
            <p:ph type="ctrTitle"/>
          </p:nvPr>
        </p:nvSpPr>
        <p:spPr>
          <a:xfrm>
            <a:off x="1979712" y="1923678"/>
            <a:ext cx="5184576" cy="1512168"/>
          </a:xfrm>
          <a:noFill/>
        </p:spPr>
        <p:txBody>
          <a:bodyPr>
            <a:noAutofit/>
          </a:bodyPr>
          <a:lstStyle/>
          <a:p>
            <a:r>
              <a:rPr lang="zh-CN" altLang="en-US" sz="3600" b="1">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a:t>
            </a:r>
            <a:r>
              <a:rPr lang="en-US" altLang="zh-CN" sz="3600" b="1">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6</a:t>
            </a:r>
            <a:r>
              <a:rPr lang="zh-CN" altLang="en-US" sz="3600" b="1">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 </a:t>
            </a:r>
            <a:r>
              <a:rPr lang="en-US" altLang="zh-CN" sz="3600" b="1">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Hive</a:t>
            </a:r>
            <a:r>
              <a:rPr lang="zh-CN" altLang="en-US" sz="3600" b="1" dirty="0">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基础与应用</a:t>
            </a:r>
            <a:endParaRPr lang="zh-CN" altLang="en-US" sz="2000" b="1" dirty="0">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38928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1+#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E5C020-1A40-4B83-BB3D-D0CC2EC8CCBA}"/>
              </a:ext>
            </a:extLst>
          </p:cNvPr>
          <p:cNvSpPr>
            <a:spLocks noGrp="1"/>
          </p:cNvSpPr>
          <p:nvPr>
            <p:ph type="title"/>
          </p:nvPr>
        </p:nvSpPr>
        <p:spPr/>
        <p:txBody>
          <a:bodyPr>
            <a:normAutofit fontScale="90000"/>
          </a:bodyPr>
          <a:lstStyle/>
          <a:p>
            <a:r>
              <a:rPr lang="zh-CN" altLang="en-US" dirty="0"/>
              <a:t>本章学习目标 </a:t>
            </a:r>
          </a:p>
        </p:txBody>
      </p:sp>
      <p:sp>
        <p:nvSpPr>
          <p:cNvPr id="3" name="内容占位符 2">
            <a:extLst>
              <a:ext uri="{FF2B5EF4-FFF2-40B4-BE49-F238E27FC236}">
                <a16:creationId xmlns:a16="http://schemas.microsoft.com/office/drawing/2014/main" id="{F9B8EFAB-4625-4803-91D6-F8675D593D6F}"/>
              </a:ext>
            </a:extLst>
          </p:cNvPr>
          <p:cNvSpPr>
            <a:spLocks noGrp="1"/>
          </p:cNvSpPr>
          <p:nvPr>
            <p:ph idx="1"/>
          </p:nvPr>
        </p:nvSpPr>
        <p:spPr>
          <a:xfrm>
            <a:off x="457200" y="1200150"/>
            <a:ext cx="8229600" cy="3603847"/>
          </a:xfrm>
        </p:spPr>
        <p:txBody>
          <a:bodyPr>
            <a:normAutofit fontScale="92500" lnSpcReduction="20000"/>
          </a:bodyPr>
          <a:lstStyle/>
          <a:p>
            <a:pPr lvl="1"/>
            <a:r>
              <a:rPr lang="zh-CN" altLang="en-US" dirty="0"/>
              <a:t>了解数据库与数据仓库的区别，了解</a:t>
            </a:r>
            <a:r>
              <a:rPr lang="en-US" altLang="zh-CN" dirty="0"/>
              <a:t>Hive</a:t>
            </a:r>
            <a:r>
              <a:rPr lang="zh-CN" altLang="en-US" dirty="0"/>
              <a:t>在</a:t>
            </a:r>
            <a:r>
              <a:rPr lang="en-US" altLang="zh-CN" dirty="0"/>
              <a:t>Hadoop</a:t>
            </a:r>
            <a:r>
              <a:rPr lang="zh-CN" altLang="en-US" dirty="0"/>
              <a:t>平台的位置和特征；</a:t>
            </a:r>
          </a:p>
          <a:p>
            <a:pPr lvl="1"/>
            <a:r>
              <a:rPr lang="zh-CN" altLang="en-US" dirty="0"/>
              <a:t>掌握</a:t>
            </a:r>
            <a:r>
              <a:rPr lang="en-US" altLang="zh-CN" dirty="0"/>
              <a:t>Hive</a:t>
            </a:r>
            <a:r>
              <a:rPr lang="zh-CN" altLang="en-US" dirty="0"/>
              <a:t>存储模型，掌握</a:t>
            </a:r>
            <a:r>
              <a:rPr lang="en-US" altLang="zh-CN" dirty="0"/>
              <a:t>Hive</a:t>
            </a:r>
            <a:r>
              <a:rPr lang="zh-CN" altLang="en-US" dirty="0"/>
              <a:t>数据表的组织方式；</a:t>
            </a:r>
          </a:p>
          <a:p>
            <a:pPr lvl="1"/>
            <a:r>
              <a:rPr lang="zh-CN" altLang="en-US" dirty="0"/>
              <a:t>掌握</a:t>
            </a:r>
            <a:r>
              <a:rPr lang="en-US" altLang="zh-CN" dirty="0"/>
              <a:t>Hive</a:t>
            </a:r>
            <a:r>
              <a:rPr lang="zh-CN" altLang="en-US" dirty="0"/>
              <a:t>的常用命令，能够结合数据模型理解和灵活使用</a:t>
            </a:r>
            <a:r>
              <a:rPr lang="en-US" altLang="zh-CN" dirty="0"/>
              <a:t>DDL</a:t>
            </a:r>
            <a:r>
              <a:rPr lang="zh-CN" altLang="en-US" dirty="0"/>
              <a:t>实现数据仓库表构建、分区设置和应用等操作；</a:t>
            </a:r>
          </a:p>
          <a:p>
            <a:pPr lvl="1"/>
            <a:r>
              <a:rPr lang="zh-CN" altLang="en-US" dirty="0"/>
              <a:t>能够灵活使用</a:t>
            </a:r>
            <a:r>
              <a:rPr lang="en-US" altLang="zh-CN" dirty="0"/>
              <a:t>DML</a:t>
            </a:r>
            <a:r>
              <a:rPr lang="zh-CN" altLang="en-US" dirty="0"/>
              <a:t>语言，实现对</a:t>
            </a:r>
            <a:r>
              <a:rPr lang="en-US" altLang="zh-CN" dirty="0"/>
              <a:t>Hive</a:t>
            </a:r>
            <a:r>
              <a:rPr lang="zh-CN" altLang="en-US" dirty="0"/>
              <a:t>数据仓库表数据的操纵； </a:t>
            </a:r>
          </a:p>
          <a:p>
            <a:pPr lvl="1"/>
            <a:r>
              <a:rPr lang="zh-CN" altLang="en-US" dirty="0"/>
              <a:t>掌握</a:t>
            </a:r>
            <a:r>
              <a:rPr lang="en-US" altLang="zh-CN" dirty="0"/>
              <a:t>Hive-QL</a:t>
            </a:r>
            <a:r>
              <a:rPr lang="zh-CN" altLang="en-US" dirty="0"/>
              <a:t>命令实现对</a:t>
            </a:r>
            <a:r>
              <a:rPr lang="en-US" altLang="zh-CN" dirty="0"/>
              <a:t>Hive</a:t>
            </a:r>
            <a:r>
              <a:rPr lang="zh-CN" altLang="en-US" dirty="0"/>
              <a:t>数据仓库表的构建、分区应用、数据操纵和数据查询操作；</a:t>
            </a:r>
          </a:p>
          <a:p>
            <a:endParaRPr lang="zh-CN" altLang="en-US" dirty="0"/>
          </a:p>
        </p:txBody>
      </p:sp>
    </p:spTree>
    <p:extLst>
      <p:ext uri="{BB962C8B-B14F-4D97-AF65-F5344CB8AC3E}">
        <p14:creationId xmlns:p14="http://schemas.microsoft.com/office/powerpoint/2010/main" val="3244921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a:blip r:embed="rId2"/>
          <a:stretch>
            <a:fillRect/>
          </a:stretch>
        </p:blipFill>
        <p:spPr>
          <a:xfrm>
            <a:off x="2809" y="0"/>
            <a:ext cx="9141291" cy="5143500"/>
          </a:xfrm>
          <a:prstGeom prst="rect">
            <a:avLst/>
          </a:prstGeom>
        </p:spPr>
      </p:pic>
      <p:sp>
        <p:nvSpPr>
          <p:cNvPr id="6" name="Rectangle 5"/>
          <p:cNvSpPr>
            <a:spLocks noChangeArrowheads="1"/>
          </p:cNvSpPr>
          <p:nvPr/>
        </p:nvSpPr>
        <p:spPr bwMode="auto">
          <a:xfrm>
            <a:off x="788425" y="1439525"/>
            <a:ext cx="3609447"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7" name="Freeform 6"/>
          <p:cNvSpPr/>
          <p:nvPr/>
        </p:nvSpPr>
        <p:spPr bwMode="auto">
          <a:xfrm>
            <a:off x="226651" y="1439525"/>
            <a:ext cx="674500"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8" name="TextBox 144"/>
          <p:cNvSpPr txBox="1"/>
          <p:nvPr/>
        </p:nvSpPr>
        <p:spPr>
          <a:xfrm>
            <a:off x="294124" y="1479194"/>
            <a:ext cx="571433" cy="438691"/>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01</a:t>
            </a:r>
            <a:endParaRPr lang="zh-CN" altLang="en-US" sz="2400" b="1" dirty="0">
              <a:solidFill>
                <a:schemeClr val="bg1"/>
              </a:solidFill>
              <a:latin typeface="微软雅黑" panose="020B0503020204020204" pitchFamily="34" charset="-122"/>
            </a:endParaRPr>
          </a:p>
        </p:txBody>
      </p:sp>
      <p:sp>
        <p:nvSpPr>
          <p:cNvPr id="9" name="TextBox 145"/>
          <p:cNvSpPr txBox="1"/>
          <p:nvPr/>
        </p:nvSpPr>
        <p:spPr>
          <a:xfrm>
            <a:off x="1045168" y="1538941"/>
            <a:ext cx="2950768"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Hive</a:t>
            </a:r>
            <a:r>
              <a:rPr lang="zh-CN" altLang="en-US" sz="2400" b="1" dirty="0">
                <a:solidFill>
                  <a:schemeClr val="bg1"/>
                </a:solidFill>
                <a:latin typeface="微软雅黑" panose="020B0503020204020204" pitchFamily="34" charset="-122"/>
                <a:ea typeface="微软雅黑" panose="020B0503020204020204" pitchFamily="34" charset="-122"/>
              </a:rPr>
              <a:t>简介</a:t>
            </a:r>
          </a:p>
        </p:txBody>
      </p:sp>
      <p:sp>
        <p:nvSpPr>
          <p:cNvPr id="10" name="Rectangle 5"/>
          <p:cNvSpPr>
            <a:spLocks noChangeArrowheads="1"/>
          </p:cNvSpPr>
          <p:nvPr/>
        </p:nvSpPr>
        <p:spPr bwMode="auto">
          <a:xfrm>
            <a:off x="788426" y="2149466"/>
            <a:ext cx="3609446"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11" name="Freeform 6"/>
          <p:cNvSpPr/>
          <p:nvPr/>
        </p:nvSpPr>
        <p:spPr bwMode="auto">
          <a:xfrm>
            <a:off x="226651" y="2149466"/>
            <a:ext cx="637466"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12" name="TextBox 152"/>
          <p:cNvSpPr txBox="1"/>
          <p:nvPr/>
        </p:nvSpPr>
        <p:spPr>
          <a:xfrm>
            <a:off x="294123" y="2189134"/>
            <a:ext cx="751043"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02</a:t>
            </a:r>
            <a:endParaRPr lang="zh-CN" altLang="en-US" sz="2400" b="1" dirty="0">
              <a:solidFill>
                <a:schemeClr val="bg1"/>
              </a:solidFill>
              <a:latin typeface="微软雅黑" panose="020B0503020204020204" pitchFamily="34" charset="-122"/>
            </a:endParaRPr>
          </a:p>
        </p:txBody>
      </p:sp>
      <p:sp>
        <p:nvSpPr>
          <p:cNvPr id="13" name="TextBox 153"/>
          <p:cNvSpPr txBox="1"/>
          <p:nvPr/>
        </p:nvSpPr>
        <p:spPr>
          <a:xfrm>
            <a:off x="1045167" y="2189133"/>
            <a:ext cx="3609447" cy="438555"/>
          </a:xfrm>
          <a:prstGeom prst="rect">
            <a:avLst/>
          </a:prstGeom>
          <a:noFill/>
        </p:spPr>
        <p:txBody>
          <a:bodyPr wrap="square" lIns="68553" tIns="34277" rIns="68553" bIns="34277" rtlCol="0">
            <a:spAutoFit/>
          </a:bodyPr>
          <a:lstStyle/>
          <a:p>
            <a:pPr fontAlgn="base">
              <a:spcBef>
                <a:spcPct val="0"/>
              </a:spcBef>
              <a:spcAft>
                <a:spcPct val="0"/>
              </a:spcAft>
            </a:pPr>
            <a:r>
              <a:rPr lang="en-US" altLang="zh-CN" sz="2400" b="1" dirty="0">
                <a:solidFill>
                  <a:schemeClr val="bg1"/>
                </a:solidFill>
                <a:latin typeface="微软雅黑" panose="020B0503020204020204" pitchFamily="34" charset="-122"/>
                <a:ea typeface="微软雅黑" panose="020B0503020204020204" pitchFamily="34" charset="-122"/>
              </a:rPr>
              <a:t>Hive</a:t>
            </a:r>
            <a:r>
              <a:rPr lang="zh-CN" altLang="en-US" sz="2400" b="1" dirty="0">
                <a:solidFill>
                  <a:schemeClr val="bg1"/>
                </a:solidFill>
                <a:latin typeface="微软雅黑" panose="020B0503020204020204" pitchFamily="34" charset="-122"/>
                <a:ea typeface="微软雅黑" panose="020B0503020204020204" pitchFamily="34" charset="-122"/>
              </a:rPr>
              <a:t>的存储模型</a:t>
            </a:r>
          </a:p>
        </p:txBody>
      </p:sp>
      <p:grpSp>
        <p:nvGrpSpPr>
          <p:cNvPr id="14" name="组合 54"/>
          <p:cNvGrpSpPr/>
          <p:nvPr/>
        </p:nvGrpSpPr>
        <p:grpSpPr bwMode="auto">
          <a:xfrm>
            <a:off x="0" y="349949"/>
            <a:ext cx="9142645" cy="841713"/>
            <a:chOff x="256379" y="27271"/>
            <a:chExt cx="7683149" cy="841022"/>
          </a:xfrm>
        </p:grpSpPr>
        <p:grpSp>
          <p:nvGrpSpPr>
            <p:cNvPr id="15" name="组合 55"/>
            <p:cNvGrpSpPr/>
            <p:nvPr/>
          </p:nvGrpSpPr>
          <p:grpSpPr bwMode="auto">
            <a:xfrm>
              <a:off x="256379" y="27271"/>
              <a:ext cx="7683149" cy="837427"/>
              <a:chOff x="256379" y="27271"/>
              <a:chExt cx="7683149" cy="837427"/>
            </a:xfrm>
          </p:grpSpPr>
          <p:sp>
            <p:nvSpPr>
              <p:cNvPr id="17" name="文本框 57"/>
              <p:cNvSpPr txBox="1">
                <a:spLocks noChangeArrowheads="1"/>
              </p:cNvSpPr>
              <p:nvPr/>
            </p:nvSpPr>
            <p:spPr bwMode="auto">
              <a:xfrm>
                <a:off x="439196" y="27271"/>
                <a:ext cx="1432561" cy="584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3200" b="1" dirty="0">
                    <a:solidFill>
                      <a:srgbClr val="FFC000"/>
                    </a:solidFill>
                    <a:latin typeface="微软雅黑" panose="020B0503020204020204" pitchFamily="34" charset="-122"/>
                    <a:ea typeface="微软雅黑" panose="020B0503020204020204" pitchFamily="34" charset="-122"/>
                  </a:rPr>
                  <a:t>目 录</a:t>
                </a:r>
              </a:p>
            </p:txBody>
          </p:sp>
          <p:cxnSp>
            <p:nvCxnSpPr>
              <p:cNvPr id="18" name="直接连接符 58"/>
              <p:cNvCxnSpPr>
                <a:cxnSpLocks noChangeShapeType="1"/>
              </p:cNvCxnSpPr>
              <p:nvPr/>
            </p:nvCxnSpPr>
            <p:spPr bwMode="auto">
              <a:xfrm flipV="1">
                <a:off x="256379" y="817054"/>
                <a:ext cx="7683149" cy="47644"/>
              </a:xfrm>
              <a:prstGeom prst="line">
                <a:avLst/>
              </a:prstGeom>
              <a:noFill/>
              <a:ln w="6350">
                <a:solidFill>
                  <a:schemeClr val="bg1"/>
                </a:solidFill>
                <a:round/>
              </a:ln>
              <a:extLst>
                <a:ext uri="{909E8E84-426E-40DD-AFC4-6F175D3DCCD1}">
                  <a14:hiddenFill xmlns:a14="http://schemas.microsoft.com/office/drawing/2010/main">
                    <a:noFill/>
                  </a14:hiddenFill>
                </a:ext>
              </a:extLst>
            </p:spPr>
          </p:cxnSp>
        </p:grpSp>
        <p:sp>
          <p:nvSpPr>
            <p:cNvPr id="16" name="文本框 56"/>
            <p:cNvSpPr txBox="1">
              <a:spLocks noChangeArrowheads="1"/>
            </p:cNvSpPr>
            <p:nvPr/>
          </p:nvSpPr>
          <p:spPr bwMode="auto">
            <a:xfrm>
              <a:off x="871257" y="499264"/>
              <a:ext cx="1050505" cy="369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dist" eaLnBrk="1" hangingPunct="1"/>
              <a:r>
                <a:rPr lang="en-US" altLang="zh-CN" dirty="0">
                  <a:solidFill>
                    <a:schemeClr val="bg1"/>
                  </a:solidFill>
                  <a:latin typeface="微软雅黑" panose="020B0503020204020204" pitchFamily="34" charset="-122"/>
                  <a:ea typeface="微软雅黑" panose="020B0503020204020204" pitchFamily="34" charset="-122"/>
                </a:rPr>
                <a:t>Contents</a:t>
              </a:r>
              <a:endParaRPr lang="zh-CN" altLang="en-US" dirty="0">
                <a:solidFill>
                  <a:schemeClr val="bg1"/>
                </a:solidFill>
                <a:latin typeface="微软雅黑" panose="020B0503020204020204" pitchFamily="34" charset="-122"/>
                <a:ea typeface="微软雅黑" panose="020B0503020204020204" pitchFamily="34" charset="-122"/>
              </a:endParaRPr>
            </a:p>
          </p:txBody>
        </p:sp>
      </p:grpSp>
      <p:sp>
        <p:nvSpPr>
          <p:cNvPr id="20" name="Rectangle 5"/>
          <p:cNvSpPr>
            <a:spLocks noChangeArrowheads="1"/>
          </p:cNvSpPr>
          <p:nvPr/>
        </p:nvSpPr>
        <p:spPr bwMode="auto">
          <a:xfrm>
            <a:off x="788425" y="2869975"/>
            <a:ext cx="3609445"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21" name="Freeform 6"/>
          <p:cNvSpPr/>
          <p:nvPr/>
        </p:nvSpPr>
        <p:spPr bwMode="auto">
          <a:xfrm>
            <a:off x="226651" y="2869975"/>
            <a:ext cx="674500"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22" name="TextBox 144"/>
          <p:cNvSpPr txBox="1"/>
          <p:nvPr/>
        </p:nvSpPr>
        <p:spPr>
          <a:xfrm>
            <a:off x="294124" y="2909644"/>
            <a:ext cx="569993"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03</a:t>
            </a:r>
            <a:endParaRPr lang="zh-CN" altLang="en-US" sz="2400" b="1" dirty="0">
              <a:solidFill>
                <a:schemeClr val="bg1"/>
              </a:solidFill>
              <a:latin typeface="微软雅黑" panose="020B0503020204020204" pitchFamily="34" charset="-122"/>
            </a:endParaRPr>
          </a:p>
        </p:txBody>
      </p:sp>
      <p:sp>
        <p:nvSpPr>
          <p:cNvPr id="23" name="TextBox 145"/>
          <p:cNvSpPr txBox="1"/>
          <p:nvPr/>
        </p:nvSpPr>
        <p:spPr>
          <a:xfrm>
            <a:off x="1045168" y="2969391"/>
            <a:ext cx="2463569"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Hive</a:t>
            </a:r>
            <a:r>
              <a:rPr lang="zh-CN" altLang="en-US" sz="2400" b="1" dirty="0">
                <a:solidFill>
                  <a:schemeClr val="bg1"/>
                </a:solidFill>
                <a:latin typeface="微软雅黑" panose="020B0503020204020204" pitchFamily="34" charset="-122"/>
                <a:ea typeface="微软雅黑" panose="020B0503020204020204" pitchFamily="34" charset="-122"/>
              </a:rPr>
              <a:t>初探</a:t>
            </a:r>
          </a:p>
        </p:txBody>
      </p:sp>
      <p:sp>
        <p:nvSpPr>
          <p:cNvPr id="24" name="Rectangle 5"/>
          <p:cNvSpPr>
            <a:spLocks noChangeArrowheads="1"/>
          </p:cNvSpPr>
          <p:nvPr/>
        </p:nvSpPr>
        <p:spPr bwMode="auto">
          <a:xfrm>
            <a:off x="788426" y="3579916"/>
            <a:ext cx="3609444"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25" name="Freeform 6"/>
          <p:cNvSpPr/>
          <p:nvPr/>
        </p:nvSpPr>
        <p:spPr bwMode="auto">
          <a:xfrm>
            <a:off x="226651" y="3579916"/>
            <a:ext cx="684576"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26" name="TextBox 152"/>
          <p:cNvSpPr txBox="1"/>
          <p:nvPr/>
        </p:nvSpPr>
        <p:spPr>
          <a:xfrm>
            <a:off x="294124" y="3619584"/>
            <a:ext cx="684576"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04</a:t>
            </a:r>
            <a:endParaRPr lang="zh-CN" altLang="en-US" sz="2400" b="1" dirty="0">
              <a:solidFill>
                <a:schemeClr val="bg1"/>
              </a:solidFill>
              <a:latin typeface="微软雅黑" panose="020B0503020204020204" pitchFamily="34" charset="-122"/>
            </a:endParaRPr>
          </a:p>
        </p:txBody>
      </p:sp>
      <p:sp>
        <p:nvSpPr>
          <p:cNvPr id="27" name="TextBox 153"/>
          <p:cNvSpPr txBox="1"/>
          <p:nvPr/>
        </p:nvSpPr>
        <p:spPr>
          <a:xfrm>
            <a:off x="1045167" y="3619583"/>
            <a:ext cx="3526833" cy="438555"/>
          </a:xfrm>
          <a:prstGeom prst="rect">
            <a:avLst/>
          </a:prstGeom>
          <a:noFill/>
        </p:spPr>
        <p:txBody>
          <a:bodyPr wrap="square" lIns="68553" tIns="34277" rIns="68553" bIns="34277" rtlCol="0">
            <a:spAutoFit/>
          </a:bodyPr>
          <a:lstStyle/>
          <a:p>
            <a:pPr fontAlgn="base">
              <a:spcBef>
                <a:spcPct val="0"/>
              </a:spcBef>
              <a:spcAft>
                <a:spcPct val="0"/>
              </a:spcAft>
            </a:pPr>
            <a:r>
              <a:rPr lang="en-US" altLang="zh-CN" sz="2400" b="1" dirty="0">
                <a:solidFill>
                  <a:schemeClr val="bg1"/>
                </a:solidFill>
                <a:latin typeface="微软雅黑" panose="020B0503020204020204" pitchFamily="34" charset="-122"/>
                <a:ea typeface="微软雅黑" panose="020B0503020204020204" pitchFamily="34" charset="-122"/>
              </a:rPr>
              <a:t>Hive</a:t>
            </a:r>
            <a:r>
              <a:rPr lang="zh-CN" altLang="en-US" sz="2400" b="1" dirty="0">
                <a:solidFill>
                  <a:schemeClr val="bg1"/>
                </a:solidFill>
                <a:latin typeface="微软雅黑" panose="020B0503020204020204" pitchFamily="34" charset="-122"/>
                <a:ea typeface="微软雅黑" panose="020B0503020204020204" pitchFamily="34" charset="-122"/>
              </a:rPr>
              <a:t>的数据定义</a:t>
            </a:r>
            <a:r>
              <a:rPr lang="en-US" altLang="zh-CN" sz="2400" b="1" dirty="0">
                <a:solidFill>
                  <a:schemeClr val="bg1"/>
                </a:solidFill>
                <a:latin typeface="微软雅黑" panose="020B0503020204020204" pitchFamily="34" charset="-122"/>
                <a:ea typeface="微软雅黑" panose="020B0503020204020204" pitchFamily="34" charset="-122"/>
              </a:rPr>
              <a:t>—DDL</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60" name="Rectangle 5"/>
          <p:cNvSpPr>
            <a:spLocks noChangeArrowheads="1"/>
          </p:cNvSpPr>
          <p:nvPr/>
        </p:nvSpPr>
        <p:spPr bwMode="auto">
          <a:xfrm>
            <a:off x="781562" y="4299942"/>
            <a:ext cx="3616308"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61" name="Freeform 6"/>
          <p:cNvSpPr/>
          <p:nvPr/>
        </p:nvSpPr>
        <p:spPr bwMode="auto">
          <a:xfrm>
            <a:off x="219786" y="4299942"/>
            <a:ext cx="691441"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62" name="TextBox 152"/>
          <p:cNvSpPr txBox="1"/>
          <p:nvPr/>
        </p:nvSpPr>
        <p:spPr>
          <a:xfrm>
            <a:off x="287260" y="4339610"/>
            <a:ext cx="684576"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05</a:t>
            </a:r>
            <a:endParaRPr lang="zh-CN" altLang="en-US" sz="2400" b="1" dirty="0">
              <a:solidFill>
                <a:schemeClr val="bg1"/>
              </a:solidFill>
              <a:latin typeface="微软雅黑" panose="020B0503020204020204" pitchFamily="34" charset="-122"/>
            </a:endParaRPr>
          </a:p>
        </p:txBody>
      </p:sp>
      <p:sp>
        <p:nvSpPr>
          <p:cNvPr id="63" name="TextBox 153"/>
          <p:cNvSpPr txBox="1"/>
          <p:nvPr/>
        </p:nvSpPr>
        <p:spPr>
          <a:xfrm>
            <a:off x="1038303" y="4339609"/>
            <a:ext cx="3849133" cy="438555"/>
          </a:xfrm>
          <a:prstGeom prst="rect">
            <a:avLst/>
          </a:prstGeom>
          <a:noFill/>
        </p:spPr>
        <p:txBody>
          <a:bodyPr wrap="square" lIns="68553" tIns="34277" rIns="68553" bIns="34277" rtlCol="0">
            <a:spAutoFit/>
          </a:bodyPr>
          <a:lstStyle/>
          <a:p>
            <a:pPr fontAlgn="base">
              <a:spcBef>
                <a:spcPct val="0"/>
              </a:spcBef>
              <a:spcAft>
                <a:spcPct val="0"/>
              </a:spcAft>
            </a:pPr>
            <a:r>
              <a:rPr lang="en-US" altLang="zh-CN" sz="2400" b="1" dirty="0">
                <a:solidFill>
                  <a:schemeClr val="bg1"/>
                </a:solidFill>
                <a:latin typeface="微软雅黑" panose="020B0503020204020204" pitchFamily="34" charset="-122"/>
                <a:ea typeface="微软雅黑" panose="020B0503020204020204" pitchFamily="34" charset="-122"/>
              </a:rPr>
              <a:t>Hive</a:t>
            </a:r>
            <a:r>
              <a:rPr lang="zh-CN" altLang="en-US" sz="2400" b="1" dirty="0">
                <a:solidFill>
                  <a:schemeClr val="bg1"/>
                </a:solidFill>
                <a:latin typeface="微软雅黑" panose="020B0503020204020204" pitchFamily="34" charset="-122"/>
                <a:ea typeface="微软雅黑" panose="020B0503020204020204" pitchFamily="34" charset="-122"/>
              </a:rPr>
              <a:t>的数据操纵</a:t>
            </a:r>
            <a:r>
              <a:rPr lang="en-US" altLang="zh-CN" sz="2400" b="1" dirty="0">
                <a:solidFill>
                  <a:schemeClr val="bg1"/>
                </a:solidFill>
                <a:latin typeface="微软雅黑" panose="020B0503020204020204" pitchFamily="34" charset="-122"/>
                <a:ea typeface="微软雅黑" panose="020B0503020204020204" pitchFamily="34" charset="-122"/>
              </a:rPr>
              <a:t>—DML</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28" name="Rectangle 5"/>
          <p:cNvSpPr>
            <a:spLocks noChangeArrowheads="1"/>
          </p:cNvSpPr>
          <p:nvPr/>
        </p:nvSpPr>
        <p:spPr bwMode="auto">
          <a:xfrm>
            <a:off x="5279099" y="1419622"/>
            <a:ext cx="3685390" cy="851319"/>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29" name="Freeform 6"/>
          <p:cNvSpPr/>
          <p:nvPr/>
        </p:nvSpPr>
        <p:spPr bwMode="auto">
          <a:xfrm>
            <a:off x="4659750" y="1429702"/>
            <a:ext cx="653155" cy="851319"/>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30" name="TextBox 144"/>
          <p:cNvSpPr txBox="1"/>
          <p:nvPr/>
        </p:nvSpPr>
        <p:spPr>
          <a:xfrm>
            <a:off x="4727950" y="1644656"/>
            <a:ext cx="516754" cy="438555"/>
          </a:xfrm>
          <a:prstGeom prst="rect">
            <a:avLst/>
          </a:prstGeom>
          <a:noFill/>
        </p:spPr>
        <p:txBody>
          <a:bodyPr wrap="non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06</a:t>
            </a:r>
            <a:endParaRPr lang="zh-CN" altLang="en-US" sz="2400" b="1" dirty="0">
              <a:solidFill>
                <a:schemeClr val="bg1"/>
              </a:solidFill>
              <a:latin typeface="微软雅黑" panose="020B0503020204020204" pitchFamily="34" charset="-122"/>
            </a:endParaRPr>
          </a:p>
        </p:txBody>
      </p:sp>
      <p:sp>
        <p:nvSpPr>
          <p:cNvPr id="31" name="TextBox 145"/>
          <p:cNvSpPr txBox="1"/>
          <p:nvPr/>
        </p:nvSpPr>
        <p:spPr>
          <a:xfrm>
            <a:off x="5473132" y="1463054"/>
            <a:ext cx="3347340" cy="807887"/>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Hive</a:t>
            </a:r>
            <a:r>
              <a:rPr lang="zh-CN" altLang="en-US" sz="2400" b="1" dirty="0">
                <a:solidFill>
                  <a:schemeClr val="bg1"/>
                </a:solidFill>
                <a:latin typeface="微软雅黑" panose="020B0503020204020204" pitchFamily="34" charset="-122"/>
                <a:ea typeface="微软雅黑" panose="020B0503020204020204" pitchFamily="34" charset="-122"/>
              </a:rPr>
              <a:t>的数据检索</a:t>
            </a:r>
            <a:r>
              <a:rPr lang="en-US" altLang="zh-CN" sz="2400" b="1" dirty="0">
                <a:solidFill>
                  <a:schemeClr val="bg1"/>
                </a:solidFill>
                <a:latin typeface="微软雅黑" panose="020B0503020204020204" pitchFamily="34" charset="-122"/>
                <a:ea typeface="微软雅黑" panose="020B0503020204020204" pitchFamily="34" charset="-122"/>
              </a:rPr>
              <a:t>—Hive-QL</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32" name="Rectangle 5"/>
          <p:cNvSpPr>
            <a:spLocks noChangeArrowheads="1"/>
          </p:cNvSpPr>
          <p:nvPr/>
        </p:nvSpPr>
        <p:spPr bwMode="auto">
          <a:xfrm>
            <a:off x="5244703" y="2499742"/>
            <a:ext cx="3719785"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33" name="Freeform 6"/>
          <p:cNvSpPr/>
          <p:nvPr/>
        </p:nvSpPr>
        <p:spPr bwMode="auto">
          <a:xfrm>
            <a:off x="4638925" y="2499742"/>
            <a:ext cx="653155"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34" name="TextBox 152"/>
          <p:cNvSpPr txBox="1"/>
          <p:nvPr/>
        </p:nvSpPr>
        <p:spPr>
          <a:xfrm>
            <a:off x="4706399" y="2539410"/>
            <a:ext cx="516754" cy="438555"/>
          </a:xfrm>
          <a:prstGeom prst="rect">
            <a:avLst/>
          </a:prstGeom>
          <a:noFill/>
        </p:spPr>
        <p:txBody>
          <a:bodyPr wrap="non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07</a:t>
            </a:r>
            <a:endParaRPr lang="zh-CN" altLang="en-US" sz="2400" b="1" dirty="0">
              <a:solidFill>
                <a:schemeClr val="bg1"/>
              </a:solidFill>
              <a:latin typeface="微软雅黑" panose="020B0503020204020204" pitchFamily="34" charset="-122"/>
            </a:endParaRPr>
          </a:p>
        </p:txBody>
      </p:sp>
      <p:sp>
        <p:nvSpPr>
          <p:cNvPr id="35" name="TextBox 153"/>
          <p:cNvSpPr txBox="1"/>
          <p:nvPr/>
        </p:nvSpPr>
        <p:spPr>
          <a:xfrm>
            <a:off x="5473131" y="2539409"/>
            <a:ext cx="3275333" cy="438555"/>
          </a:xfrm>
          <a:prstGeom prst="rect">
            <a:avLst/>
          </a:prstGeom>
          <a:noFill/>
        </p:spPr>
        <p:txBody>
          <a:bodyPr wrap="square" lIns="68553" tIns="34277" rIns="68553" bIns="34277" rtlCol="0">
            <a:spAutoFit/>
          </a:bodyPr>
          <a:lstStyle/>
          <a:p>
            <a:pPr fontAlgn="base">
              <a:spcBef>
                <a:spcPct val="0"/>
              </a:spcBef>
              <a:spcAft>
                <a:spcPct val="0"/>
              </a:spcAft>
            </a:pPr>
            <a:r>
              <a:rPr lang="zh-CN" altLang="en-US" sz="2400" b="1" dirty="0">
                <a:solidFill>
                  <a:schemeClr val="bg1"/>
                </a:solidFill>
                <a:latin typeface="微软雅黑" panose="020B0503020204020204" pitchFamily="34" charset="-122"/>
                <a:ea typeface="微软雅黑" panose="020B0503020204020204" pitchFamily="34" charset="-122"/>
              </a:rPr>
              <a:t>本章小结</a:t>
            </a:r>
          </a:p>
        </p:txBody>
      </p:sp>
    </p:spTree>
    <p:extLst>
      <p:ext uri="{BB962C8B-B14F-4D97-AF65-F5344CB8AC3E}">
        <p14:creationId xmlns:p14="http://schemas.microsoft.com/office/powerpoint/2010/main" val="3185313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1000"/>
                            </p:stCondLst>
                            <p:childTnLst>
                              <p:par>
                                <p:cTn id="21" presetID="2" presetClass="entr" presetSubtype="2"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1+#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0-#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childTnLst>
                          </p:cTn>
                        </p:par>
                        <p:par>
                          <p:cTn id="36" fill="hold">
                            <p:stCondLst>
                              <p:cond delay="2000"/>
                            </p:stCondLst>
                            <p:childTnLst>
                              <p:par>
                                <p:cTn id="37" presetID="2" presetClass="entr" presetSubtype="2" fill="hold" grpId="0" nodeType="after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1+#ppt_w/2"/>
                                          </p:val>
                                        </p:tav>
                                        <p:tav tm="100000">
                                          <p:val>
                                            <p:strVal val="#ppt_x"/>
                                          </p:val>
                                        </p:tav>
                                      </p:tavLst>
                                    </p:anim>
                                    <p:anim calcmode="lin" valueType="num">
                                      <p:cBhvr additive="base">
                                        <p:cTn id="40" dur="500" fill="hold"/>
                                        <p:tgtEl>
                                          <p:spTgt spid="20"/>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additive="base">
                                        <p:cTn id="43" dur="500" fill="hold"/>
                                        <p:tgtEl>
                                          <p:spTgt spid="21"/>
                                        </p:tgtEl>
                                        <p:attrNameLst>
                                          <p:attrName>ppt_x</p:attrName>
                                        </p:attrNameLst>
                                      </p:cBhvr>
                                      <p:tavLst>
                                        <p:tav tm="0">
                                          <p:val>
                                            <p:strVal val="0-#ppt_w/2"/>
                                          </p:val>
                                        </p:tav>
                                        <p:tav tm="100000">
                                          <p:val>
                                            <p:strVal val="#ppt_x"/>
                                          </p:val>
                                        </p:tav>
                                      </p:tavLst>
                                    </p:anim>
                                    <p:anim calcmode="lin" valueType="num">
                                      <p:cBhvr additive="base">
                                        <p:cTn id="44" dur="500" fill="hold"/>
                                        <p:tgtEl>
                                          <p:spTgt spid="21"/>
                                        </p:tgtEl>
                                        <p:attrNameLst>
                                          <p:attrName>ppt_y</p:attrName>
                                        </p:attrNameLst>
                                      </p:cBhvr>
                                      <p:tavLst>
                                        <p:tav tm="0">
                                          <p:val>
                                            <p:strVal val="#ppt_y"/>
                                          </p:val>
                                        </p:tav>
                                        <p:tav tm="100000">
                                          <p:val>
                                            <p:strVal val="#ppt_y"/>
                                          </p:val>
                                        </p:tav>
                                      </p:tavLst>
                                    </p:anim>
                                  </p:childTnLst>
                                </p:cTn>
                              </p:par>
                            </p:childTnLst>
                          </p:cTn>
                        </p:par>
                        <p:par>
                          <p:cTn id="45" fill="hold">
                            <p:stCondLst>
                              <p:cond delay="2500"/>
                            </p:stCondLst>
                            <p:childTnLst>
                              <p:par>
                                <p:cTn id="46" presetID="22" presetClass="entr" presetSubtype="8" fill="hold" grpId="0" nodeType="after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wipe(left)">
                                      <p:cBhvr>
                                        <p:cTn id="48" dur="500"/>
                                        <p:tgtEl>
                                          <p:spTgt spid="22"/>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wipe(left)">
                                      <p:cBhvr>
                                        <p:cTn id="51" dur="500"/>
                                        <p:tgtEl>
                                          <p:spTgt spid="23"/>
                                        </p:tgtEl>
                                      </p:cBhvr>
                                    </p:animEffect>
                                  </p:childTnLst>
                                </p:cTn>
                              </p:par>
                            </p:childTnLst>
                          </p:cTn>
                        </p:par>
                        <p:par>
                          <p:cTn id="52" fill="hold">
                            <p:stCondLst>
                              <p:cond delay="3000"/>
                            </p:stCondLst>
                            <p:childTnLst>
                              <p:par>
                                <p:cTn id="53" presetID="2" presetClass="entr" presetSubtype="2" fill="hold" grpId="0" nodeType="after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500" fill="hold"/>
                                        <p:tgtEl>
                                          <p:spTgt spid="24"/>
                                        </p:tgtEl>
                                        <p:attrNameLst>
                                          <p:attrName>ppt_x</p:attrName>
                                        </p:attrNameLst>
                                      </p:cBhvr>
                                      <p:tavLst>
                                        <p:tav tm="0">
                                          <p:val>
                                            <p:strVal val="1+#ppt_w/2"/>
                                          </p:val>
                                        </p:tav>
                                        <p:tav tm="100000">
                                          <p:val>
                                            <p:strVal val="#ppt_x"/>
                                          </p:val>
                                        </p:tav>
                                      </p:tavLst>
                                    </p:anim>
                                    <p:anim calcmode="lin" valueType="num">
                                      <p:cBhvr additive="base">
                                        <p:cTn id="56" dur="500" fill="hold"/>
                                        <p:tgtEl>
                                          <p:spTgt spid="24"/>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 calcmode="lin" valueType="num">
                                      <p:cBhvr additive="base">
                                        <p:cTn id="59" dur="500" fill="hold"/>
                                        <p:tgtEl>
                                          <p:spTgt spid="25"/>
                                        </p:tgtEl>
                                        <p:attrNameLst>
                                          <p:attrName>ppt_x</p:attrName>
                                        </p:attrNameLst>
                                      </p:cBhvr>
                                      <p:tavLst>
                                        <p:tav tm="0">
                                          <p:val>
                                            <p:strVal val="0-#ppt_w/2"/>
                                          </p:val>
                                        </p:tav>
                                        <p:tav tm="100000">
                                          <p:val>
                                            <p:strVal val="#ppt_x"/>
                                          </p:val>
                                        </p:tav>
                                      </p:tavLst>
                                    </p:anim>
                                    <p:anim calcmode="lin" valueType="num">
                                      <p:cBhvr additive="base">
                                        <p:cTn id="60" dur="500" fill="hold"/>
                                        <p:tgtEl>
                                          <p:spTgt spid="25"/>
                                        </p:tgtEl>
                                        <p:attrNameLst>
                                          <p:attrName>ppt_y</p:attrName>
                                        </p:attrNameLst>
                                      </p:cBhvr>
                                      <p:tavLst>
                                        <p:tav tm="0">
                                          <p:val>
                                            <p:strVal val="#ppt_y"/>
                                          </p:val>
                                        </p:tav>
                                        <p:tav tm="100000">
                                          <p:val>
                                            <p:strVal val="#ppt_y"/>
                                          </p:val>
                                        </p:tav>
                                      </p:tavLst>
                                    </p:anim>
                                  </p:childTnLst>
                                </p:cTn>
                              </p:par>
                            </p:childTnLst>
                          </p:cTn>
                        </p:par>
                        <p:par>
                          <p:cTn id="61" fill="hold">
                            <p:stCondLst>
                              <p:cond delay="3500"/>
                            </p:stCondLst>
                            <p:childTnLst>
                              <p:par>
                                <p:cTn id="62" presetID="22" presetClass="entr" presetSubtype="8" fill="hold" grpId="0"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left)">
                                      <p:cBhvr>
                                        <p:cTn id="64" dur="500"/>
                                        <p:tgtEl>
                                          <p:spTgt spid="26"/>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left)">
                                      <p:cBhvr>
                                        <p:cTn id="67" dur="500"/>
                                        <p:tgtEl>
                                          <p:spTgt spid="27"/>
                                        </p:tgtEl>
                                      </p:cBhvr>
                                    </p:animEffect>
                                  </p:childTnLst>
                                </p:cTn>
                              </p:par>
                            </p:childTnLst>
                          </p:cTn>
                        </p:par>
                        <p:par>
                          <p:cTn id="68" fill="hold">
                            <p:stCondLst>
                              <p:cond delay="4000"/>
                            </p:stCondLst>
                            <p:childTnLst>
                              <p:par>
                                <p:cTn id="69" presetID="2" presetClass="entr" presetSubtype="2" fill="hold" grpId="0" nodeType="afterEffect">
                                  <p:stCondLst>
                                    <p:cond delay="0"/>
                                  </p:stCondLst>
                                  <p:childTnLst>
                                    <p:set>
                                      <p:cBhvr>
                                        <p:cTn id="70" dur="1" fill="hold">
                                          <p:stCondLst>
                                            <p:cond delay="0"/>
                                          </p:stCondLst>
                                        </p:cTn>
                                        <p:tgtEl>
                                          <p:spTgt spid="60"/>
                                        </p:tgtEl>
                                        <p:attrNameLst>
                                          <p:attrName>style.visibility</p:attrName>
                                        </p:attrNameLst>
                                      </p:cBhvr>
                                      <p:to>
                                        <p:strVal val="visible"/>
                                      </p:to>
                                    </p:set>
                                    <p:anim calcmode="lin" valueType="num">
                                      <p:cBhvr additive="base">
                                        <p:cTn id="71" dur="500" fill="hold"/>
                                        <p:tgtEl>
                                          <p:spTgt spid="60"/>
                                        </p:tgtEl>
                                        <p:attrNameLst>
                                          <p:attrName>ppt_x</p:attrName>
                                        </p:attrNameLst>
                                      </p:cBhvr>
                                      <p:tavLst>
                                        <p:tav tm="0">
                                          <p:val>
                                            <p:strVal val="1+#ppt_w/2"/>
                                          </p:val>
                                        </p:tav>
                                        <p:tav tm="100000">
                                          <p:val>
                                            <p:strVal val="#ppt_x"/>
                                          </p:val>
                                        </p:tav>
                                      </p:tavLst>
                                    </p:anim>
                                    <p:anim calcmode="lin" valueType="num">
                                      <p:cBhvr additive="base">
                                        <p:cTn id="72" dur="500" fill="hold"/>
                                        <p:tgtEl>
                                          <p:spTgt spid="60"/>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0"/>
                                  </p:stCondLst>
                                  <p:childTnLst>
                                    <p:set>
                                      <p:cBhvr>
                                        <p:cTn id="74" dur="1" fill="hold">
                                          <p:stCondLst>
                                            <p:cond delay="0"/>
                                          </p:stCondLst>
                                        </p:cTn>
                                        <p:tgtEl>
                                          <p:spTgt spid="61"/>
                                        </p:tgtEl>
                                        <p:attrNameLst>
                                          <p:attrName>style.visibility</p:attrName>
                                        </p:attrNameLst>
                                      </p:cBhvr>
                                      <p:to>
                                        <p:strVal val="visible"/>
                                      </p:to>
                                    </p:set>
                                    <p:anim calcmode="lin" valueType="num">
                                      <p:cBhvr additive="base">
                                        <p:cTn id="75" dur="500" fill="hold"/>
                                        <p:tgtEl>
                                          <p:spTgt spid="61"/>
                                        </p:tgtEl>
                                        <p:attrNameLst>
                                          <p:attrName>ppt_x</p:attrName>
                                        </p:attrNameLst>
                                      </p:cBhvr>
                                      <p:tavLst>
                                        <p:tav tm="0">
                                          <p:val>
                                            <p:strVal val="0-#ppt_w/2"/>
                                          </p:val>
                                        </p:tav>
                                        <p:tav tm="100000">
                                          <p:val>
                                            <p:strVal val="#ppt_x"/>
                                          </p:val>
                                        </p:tav>
                                      </p:tavLst>
                                    </p:anim>
                                    <p:anim calcmode="lin" valueType="num">
                                      <p:cBhvr additive="base">
                                        <p:cTn id="76" dur="500" fill="hold"/>
                                        <p:tgtEl>
                                          <p:spTgt spid="61"/>
                                        </p:tgtEl>
                                        <p:attrNameLst>
                                          <p:attrName>ppt_y</p:attrName>
                                        </p:attrNameLst>
                                      </p:cBhvr>
                                      <p:tavLst>
                                        <p:tav tm="0">
                                          <p:val>
                                            <p:strVal val="#ppt_y"/>
                                          </p:val>
                                        </p:tav>
                                        <p:tav tm="100000">
                                          <p:val>
                                            <p:strVal val="#ppt_y"/>
                                          </p:val>
                                        </p:tav>
                                      </p:tavLst>
                                    </p:anim>
                                  </p:childTnLst>
                                </p:cTn>
                              </p:par>
                            </p:childTnLst>
                          </p:cTn>
                        </p:par>
                        <p:par>
                          <p:cTn id="77" fill="hold">
                            <p:stCondLst>
                              <p:cond delay="4500"/>
                            </p:stCondLst>
                            <p:childTnLst>
                              <p:par>
                                <p:cTn id="78" presetID="22" presetClass="entr" presetSubtype="8" fill="hold" grpId="0" nodeType="afterEffect">
                                  <p:stCondLst>
                                    <p:cond delay="0"/>
                                  </p:stCondLst>
                                  <p:childTnLst>
                                    <p:set>
                                      <p:cBhvr>
                                        <p:cTn id="79" dur="1" fill="hold">
                                          <p:stCondLst>
                                            <p:cond delay="0"/>
                                          </p:stCondLst>
                                        </p:cTn>
                                        <p:tgtEl>
                                          <p:spTgt spid="62"/>
                                        </p:tgtEl>
                                        <p:attrNameLst>
                                          <p:attrName>style.visibility</p:attrName>
                                        </p:attrNameLst>
                                      </p:cBhvr>
                                      <p:to>
                                        <p:strVal val="visible"/>
                                      </p:to>
                                    </p:set>
                                    <p:animEffect transition="in" filter="wipe(left)">
                                      <p:cBhvr>
                                        <p:cTn id="80" dur="500"/>
                                        <p:tgtEl>
                                          <p:spTgt spid="62"/>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63"/>
                                        </p:tgtEl>
                                        <p:attrNameLst>
                                          <p:attrName>style.visibility</p:attrName>
                                        </p:attrNameLst>
                                      </p:cBhvr>
                                      <p:to>
                                        <p:strVal val="visible"/>
                                      </p:to>
                                    </p:set>
                                    <p:animEffect transition="in" filter="wipe(left)">
                                      <p:cBhvr>
                                        <p:cTn id="83" dur="500"/>
                                        <p:tgtEl>
                                          <p:spTgt spid="63"/>
                                        </p:tgtEl>
                                      </p:cBhvr>
                                    </p:animEffect>
                                  </p:childTnLst>
                                </p:cTn>
                              </p:par>
                            </p:childTnLst>
                          </p:cTn>
                        </p:par>
                        <p:par>
                          <p:cTn id="84" fill="hold">
                            <p:stCondLst>
                              <p:cond delay="5000"/>
                            </p:stCondLst>
                            <p:childTnLst>
                              <p:par>
                                <p:cTn id="85" presetID="2" presetClass="entr" presetSubtype="2" fill="hold" grpId="0" nodeType="afterEffect">
                                  <p:stCondLst>
                                    <p:cond delay="0"/>
                                  </p:stCondLst>
                                  <p:childTnLst>
                                    <p:set>
                                      <p:cBhvr>
                                        <p:cTn id="86" dur="1" fill="hold">
                                          <p:stCondLst>
                                            <p:cond delay="0"/>
                                          </p:stCondLst>
                                        </p:cTn>
                                        <p:tgtEl>
                                          <p:spTgt spid="28"/>
                                        </p:tgtEl>
                                        <p:attrNameLst>
                                          <p:attrName>style.visibility</p:attrName>
                                        </p:attrNameLst>
                                      </p:cBhvr>
                                      <p:to>
                                        <p:strVal val="visible"/>
                                      </p:to>
                                    </p:set>
                                    <p:anim calcmode="lin" valueType="num">
                                      <p:cBhvr additive="base">
                                        <p:cTn id="87" dur="500" fill="hold"/>
                                        <p:tgtEl>
                                          <p:spTgt spid="28"/>
                                        </p:tgtEl>
                                        <p:attrNameLst>
                                          <p:attrName>ppt_x</p:attrName>
                                        </p:attrNameLst>
                                      </p:cBhvr>
                                      <p:tavLst>
                                        <p:tav tm="0">
                                          <p:val>
                                            <p:strVal val="1+#ppt_w/2"/>
                                          </p:val>
                                        </p:tav>
                                        <p:tav tm="100000">
                                          <p:val>
                                            <p:strVal val="#ppt_x"/>
                                          </p:val>
                                        </p:tav>
                                      </p:tavLst>
                                    </p:anim>
                                    <p:anim calcmode="lin" valueType="num">
                                      <p:cBhvr additive="base">
                                        <p:cTn id="88" dur="500" fill="hold"/>
                                        <p:tgtEl>
                                          <p:spTgt spid="28"/>
                                        </p:tgtEl>
                                        <p:attrNameLst>
                                          <p:attrName>ppt_y</p:attrName>
                                        </p:attrNameLst>
                                      </p:cBhvr>
                                      <p:tavLst>
                                        <p:tav tm="0">
                                          <p:val>
                                            <p:strVal val="#ppt_y"/>
                                          </p:val>
                                        </p:tav>
                                        <p:tav tm="100000">
                                          <p:val>
                                            <p:strVal val="#ppt_y"/>
                                          </p:val>
                                        </p:tav>
                                      </p:tavLst>
                                    </p:anim>
                                  </p:childTnLst>
                                </p:cTn>
                              </p:par>
                              <p:par>
                                <p:cTn id="89" presetID="2" presetClass="entr" presetSubtype="8"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 calcmode="lin" valueType="num">
                                      <p:cBhvr additive="base">
                                        <p:cTn id="91" dur="500" fill="hold"/>
                                        <p:tgtEl>
                                          <p:spTgt spid="29"/>
                                        </p:tgtEl>
                                        <p:attrNameLst>
                                          <p:attrName>ppt_x</p:attrName>
                                        </p:attrNameLst>
                                      </p:cBhvr>
                                      <p:tavLst>
                                        <p:tav tm="0">
                                          <p:val>
                                            <p:strVal val="0-#ppt_w/2"/>
                                          </p:val>
                                        </p:tav>
                                        <p:tav tm="100000">
                                          <p:val>
                                            <p:strVal val="#ppt_x"/>
                                          </p:val>
                                        </p:tav>
                                      </p:tavLst>
                                    </p:anim>
                                    <p:anim calcmode="lin" valueType="num">
                                      <p:cBhvr additive="base">
                                        <p:cTn id="92" dur="500" fill="hold"/>
                                        <p:tgtEl>
                                          <p:spTgt spid="29"/>
                                        </p:tgtEl>
                                        <p:attrNameLst>
                                          <p:attrName>ppt_y</p:attrName>
                                        </p:attrNameLst>
                                      </p:cBhvr>
                                      <p:tavLst>
                                        <p:tav tm="0">
                                          <p:val>
                                            <p:strVal val="#ppt_y"/>
                                          </p:val>
                                        </p:tav>
                                        <p:tav tm="100000">
                                          <p:val>
                                            <p:strVal val="#ppt_y"/>
                                          </p:val>
                                        </p:tav>
                                      </p:tavLst>
                                    </p:anim>
                                  </p:childTnLst>
                                </p:cTn>
                              </p:par>
                            </p:childTnLst>
                          </p:cTn>
                        </p:par>
                        <p:par>
                          <p:cTn id="93" fill="hold">
                            <p:stCondLst>
                              <p:cond delay="5500"/>
                            </p:stCondLst>
                            <p:childTnLst>
                              <p:par>
                                <p:cTn id="94" presetID="22" presetClass="entr" presetSubtype="8" fill="hold" grpId="0" nodeType="after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wipe(left)">
                                      <p:cBhvr>
                                        <p:cTn id="96" dur="500"/>
                                        <p:tgtEl>
                                          <p:spTgt spid="30"/>
                                        </p:tgtEl>
                                      </p:cBhvr>
                                    </p:animEffect>
                                  </p:childTnLst>
                                </p:cTn>
                              </p:par>
                              <p:par>
                                <p:cTn id="97" presetID="22" presetClass="entr" presetSubtype="8"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wipe(left)">
                                      <p:cBhvr>
                                        <p:cTn id="99" dur="500"/>
                                        <p:tgtEl>
                                          <p:spTgt spid="31"/>
                                        </p:tgtEl>
                                      </p:cBhvr>
                                    </p:animEffect>
                                  </p:childTnLst>
                                </p:cTn>
                              </p:par>
                            </p:childTnLst>
                          </p:cTn>
                        </p:par>
                        <p:par>
                          <p:cTn id="100" fill="hold">
                            <p:stCondLst>
                              <p:cond delay="6000"/>
                            </p:stCondLst>
                            <p:childTnLst>
                              <p:par>
                                <p:cTn id="101" presetID="2" presetClass="entr" presetSubtype="2" fill="hold" grpId="0" nodeType="afterEffect">
                                  <p:stCondLst>
                                    <p:cond delay="0"/>
                                  </p:stCondLst>
                                  <p:childTnLst>
                                    <p:set>
                                      <p:cBhvr>
                                        <p:cTn id="102" dur="1" fill="hold">
                                          <p:stCondLst>
                                            <p:cond delay="0"/>
                                          </p:stCondLst>
                                        </p:cTn>
                                        <p:tgtEl>
                                          <p:spTgt spid="32"/>
                                        </p:tgtEl>
                                        <p:attrNameLst>
                                          <p:attrName>style.visibility</p:attrName>
                                        </p:attrNameLst>
                                      </p:cBhvr>
                                      <p:to>
                                        <p:strVal val="visible"/>
                                      </p:to>
                                    </p:set>
                                    <p:anim calcmode="lin" valueType="num">
                                      <p:cBhvr additive="base">
                                        <p:cTn id="103" dur="500" fill="hold"/>
                                        <p:tgtEl>
                                          <p:spTgt spid="32"/>
                                        </p:tgtEl>
                                        <p:attrNameLst>
                                          <p:attrName>ppt_x</p:attrName>
                                        </p:attrNameLst>
                                      </p:cBhvr>
                                      <p:tavLst>
                                        <p:tav tm="0">
                                          <p:val>
                                            <p:strVal val="1+#ppt_w/2"/>
                                          </p:val>
                                        </p:tav>
                                        <p:tav tm="100000">
                                          <p:val>
                                            <p:strVal val="#ppt_x"/>
                                          </p:val>
                                        </p:tav>
                                      </p:tavLst>
                                    </p:anim>
                                    <p:anim calcmode="lin" valueType="num">
                                      <p:cBhvr additive="base">
                                        <p:cTn id="104" dur="500" fill="hold"/>
                                        <p:tgtEl>
                                          <p:spTgt spid="32"/>
                                        </p:tgtEl>
                                        <p:attrNameLst>
                                          <p:attrName>ppt_y</p:attrName>
                                        </p:attrNameLst>
                                      </p:cBhvr>
                                      <p:tavLst>
                                        <p:tav tm="0">
                                          <p:val>
                                            <p:strVal val="#ppt_y"/>
                                          </p:val>
                                        </p:tav>
                                        <p:tav tm="100000">
                                          <p:val>
                                            <p:strVal val="#ppt_y"/>
                                          </p:val>
                                        </p:tav>
                                      </p:tavLst>
                                    </p:anim>
                                  </p:childTnLst>
                                </p:cTn>
                              </p:par>
                              <p:par>
                                <p:cTn id="105" presetID="2" presetClass="entr" presetSubtype="8" fill="hold" grpId="0" nodeType="withEffect">
                                  <p:stCondLst>
                                    <p:cond delay="0"/>
                                  </p:stCondLst>
                                  <p:childTnLst>
                                    <p:set>
                                      <p:cBhvr>
                                        <p:cTn id="106" dur="1" fill="hold">
                                          <p:stCondLst>
                                            <p:cond delay="0"/>
                                          </p:stCondLst>
                                        </p:cTn>
                                        <p:tgtEl>
                                          <p:spTgt spid="33"/>
                                        </p:tgtEl>
                                        <p:attrNameLst>
                                          <p:attrName>style.visibility</p:attrName>
                                        </p:attrNameLst>
                                      </p:cBhvr>
                                      <p:to>
                                        <p:strVal val="visible"/>
                                      </p:to>
                                    </p:set>
                                    <p:anim calcmode="lin" valueType="num">
                                      <p:cBhvr additive="base">
                                        <p:cTn id="107" dur="500" fill="hold"/>
                                        <p:tgtEl>
                                          <p:spTgt spid="33"/>
                                        </p:tgtEl>
                                        <p:attrNameLst>
                                          <p:attrName>ppt_x</p:attrName>
                                        </p:attrNameLst>
                                      </p:cBhvr>
                                      <p:tavLst>
                                        <p:tav tm="0">
                                          <p:val>
                                            <p:strVal val="0-#ppt_w/2"/>
                                          </p:val>
                                        </p:tav>
                                        <p:tav tm="100000">
                                          <p:val>
                                            <p:strVal val="#ppt_x"/>
                                          </p:val>
                                        </p:tav>
                                      </p:tavLst>
                                    </p:anim>
                                    <p:anim calcmode="lin" valueType="num">
                                      <p:cBhvr additive="base">
                                        <p:cTn id="108" dur="500" fill="hold"/>
                                        <p:tgtEl>
                                          <p:spTgt spid="33"/>
                                        </p:tgtEl>
                                        <p:attrNameLst>
                                          <p:attrName>ppt_y</p:attrName>
                                        </p:attrNameLst>
                                      </p:cBhvr>
                                      <p:tavLst>
                                        <p:tav tm="0">
                                          <p:val>
                                            <p:strVal val="#ppt_y"/>
                                          </p:val>
                                        </p:tav>
                                        <p:tav tm="100000">
                                          <p:val>
                                            <p:strVal val="#ppt_y"/>
                                          </p:val>
                                        </p:tav>
                                      </p:tavLst>
                                    </p:anim>
                                  </p:childTnLst>
                                </p:cTn>
                              </p:par>
                            </p:childTnLst>
                          </p:cTn>
                        </p:par>
                        <p:par>
                          <p:cTn id="109" fill="hold">
                            <p:stCondLst>
                              <p:cond delay="6500"/>
                            </p:stCondLst>
                            <p:childTnLst>
                              <p:par>
                                <p:cTn id="110" presetID="22" presetClass="entr" presetSubtype="8" fill="hold" grpId="0" nodeType="afterEffect">
                                  <p:stCondLst>
                                    <p:cond delay="0"/>
                                  </p:stCondLst>
                                  <p:childTnLst>
                                    <p:set>
                                      <p:cBhvr>
                                        <p:cTn id="111" dur="1" fill="hold">
                                          <p:stCondLst>
                                            <p:cond delay="0"/>
                                          </p:stCondLst>
                                        </p:cTn>
                                        <p:tgtEl>
                                          <p:spTgt spid="34"/>
                                        </p:tgtEl>
                                        <p:attrNameLst>
                                          <p:attrName>style.visibility</p:attrName>
                                        </p:attrNameLst>
                                      </p:cBhvr>
                                      <p:to>
                                        <p:strVal val="visible"/>
                                      </p:to>
                                    </p:set>
                                    <p:animEffect transition="in" filter="wipe(left)">
                                      <p:cBhvr>
                                        <p:cTn id="112" dur="500"/>
                                        <p:tgtEl>
                                          <p:spTgt spid="34"/>
                                        </p:tgtEl>
                                      </p:cBhvr>
                                    </p:animEffect>
                                  </p:childTnLst>
                                </p:cTn>
                              </p:par>
                              <p:par>
                                <p:cTn id="113" presetID="22" presetClass="entr" presetSubtype="8" fill="hold" grpId="0" nodeType="withEffect">
                                  <p:stCondLst>
                                    <p:cond delay="0"/>
                                  </p:stCondLst>
                                  <p:childTnLst>
                                    <p:set>
                                      <p:cBhvr>
                                        <p:cTn id="114" dur="1" fill="hold">
                                          <p:stCondLst>
                                            <p:cond delay="0"/>
                                          </p:stCondLst>
                                        </p:cTn>
                                        <p:tgtEl>
                                          <p:spTgt spid="35"/>
                                        </p:tgtEl>
                                        <p:attrNameLst>
                                          <p:attrName>style.visibility</p:attrName>
                                        </p:attrNameLst>
                                      </p:cBhvr>
                                      <p:to>
                                        <p:strVal val="visible"/>
                                      </p:to>
                                    </p:set>
                                    <p:animEffect transition="in" filter="wipe(left)">
                                      <p:cBhvr>
                                        <p:cTn id="11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animBg="1"/>
      <p:bldP spid="12" grpId="0"/>
      <p:bldP spid="13" grpId="0"/>
      <p:bldP spid="20" grpId="0" animBg="1"/>
      <p:bldP spid="21" grpId="0" animBg="1"/>
      <p:bldP spid="22" grpId="0"/>
      <p:bldP spid="23" grpId="0"/>
      <p:bldP spid="24" grpId="0" animBg="1"/>
      <p:bldP spid="25" grpId="0" animBg="1"/>
      <p:bldP spid="26" grpId="0"/>
      <p:bldP spid="27" grpId="0"/>
      <p:bldP spid="60" grpId="0" animBg="1"/>
      <p:bldP spid="61" grpId="0" animBg="1"/>
      <p:bldP spid="62" grpId="0"/>
      <p:bldP spid="63" grpId="0"/>
      <p:bldP spid="28" grpId="0" animBg="1"/>
      <p:bldP spid="29" grpId="0" animBg="1"/>
      <p:bldP spid="30" grpId="0"/>
      <p:bldP spid="31" grpId="0"/>
      <p:bldP spid="32" grpId="0" animBg="1"/>
      <p:bldP spid="33" grpId="0" animBg="1"/>
      <p:bldP spid="34" grpId="0"/>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23987" y="1732402"/>
            <a:ext cx="4441513" cy="646331"/>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Hive</a:t>
            </a:r>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简介</a:t>
            </a: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01</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53430469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Hive</a:t>
            </a:r>
            <a:r>
              <a:rPr lang="zh-CN" altLang="en-US" dirty="0"/>
              <a:t>简介</a:t>
            </a:r>
          </a:p>
        </p:txBody>
      </p:sp>
      <p:sp>
        <p:nvSpPr>
          <p:cNvPr id="6" name="内容占位符 5">
            <a:extLst>
              <a:ext uri="{FF2B5EF4-FFF2-40B4-BE49-F238E27FC236}">
                <a16:creationId xmlns:a16="http://schemas.microsoft.com/office/drawing/2014/main" id="{791432AB-785E-4C26-AF1B-10F24E5EC47B}"/>
              </a:ext>
            </a:extLst>
          </p:cNvPr>
          <p:cNvSpPr>
            <a:spLocks noGrp="1"/>
          </p:cNvSpPr>
          <p:nvPr>
            <p:ph idx="1"/>
          </p:nvPr>
        </p:nvSpPr>
        <p:spPr>
          <a:xfrm>
            <a:off x="457200" y="1059582"/>
            <a:ext cx="8229600" cy="3394472"/>
          </a:xfrm>
        </p:spPr>
        <p:txBody>
          <a:bodyPr>
            <a:normAutofit/>
          </a:bodyPr>
          <a:lstStyle/>
          <a:p>
            <a:r>
              <a:rPr lang="en-US" altLang="zh-CN" sz="2800"/>
              <a:t>Apache Hive</a:t>
            </a:r>
            <a:r>
              <a:rPr lang="zh-CN" altLang="en-US" sz="2800"/>
              <a:t>是由</a:t>
            </a:r>
            <a:r>
              <a:rPr lang="en-US" altLang="zh-CN" sz="2800"/>
              <a:t>Facebook</a:t>
            </a:r>
            <a:r>
              <a:rPr lang="zh-CN" altLang="en-US" sz="2800"/>
              <a:t>开源，用于解决海量结构日志的数据仓库软件。</a:t>
            </a:r>
            <a:endParaRPr lang="en-US" altLang="zh-CN" sz="2800"/>
          </a:p>
          <a:p>
            <a:endParaRPr lang="en-US" altLang="zh-CN" sz="2800"/>
          </a:p>
          <a:p>
            <a:r>
              <a:rPr lang="en-US" altLang="zh-CN" sz="2800"/>
              <a:t>Hive</a:t>
            </a:r>
            <a:r>
              <a:rPr lang="zh-CN" altLang="en-US" sz="2800" dirty="0"/>
              <a:t>使用类</a:t>
            </a:r>
            <a:r>
              <a:rPr lang="en-US" altLang="zh-CN" sz="2800" dirty="0"/>
              <a:t>SQL</a:t>
            </a:r>
            <a:r>
              <a:rPr lang="zh-CN" altLang="en-US" sz="2800"/>
              <a:t>（</a:t>
            </a:r>
            <a:r>
              <a:rPr lang="en-US" altLang="zh-CN" sz="2800"/>
              <a:t>Hive-QL</a:t>
            </a:r>
            <a:r>
              <a:rPr lang="zh-CN" altLang="en-US" sz="2800" dirty="0"/>
              <a:t>，</a:t>
            </a:r>
            <a:r>
              <a:rPr lang="en-US" altLang="zh-CN" sz="2800" dirty="0"/>
              <a:t>HQL</a:t>
            </a:r>
            <a:r>
              <a:rPr lang="zh-CN" altLang="en-US" sz="2800" dirty="0"/>
              <a:t>）语法进行数据的读取、写入、检索等</a:t>
            </a:r>
            <a:r>
              <a:rPr lang="zh-CN" altLang="en-US" sz="2800"/>
              <a:t>操作，本质是把</a:t>
            </a:r>
            <a:r>
              <a:rPr lang="en-US" altLang="zh-CN" sz="2800"/>
              <a:t>HQL</a:t>
            </a:r>
            <a:r>
              <a:rPr lang="zh-CN" altLang="en-US" sz="2800"/>
              <a:t>转化为</a:t>
            </a:r>
            <a:r>
              <a:rPr lang="en-US" altLang="zh-CN" sz="2800"/>
              <a:t>MapReduce</a:t>
            </a:r>
            <a:r>
              <a:rPr lang="zh-CN" altLang="en-US" sz="2800"/>
              <a:t>程序。</a:t>
            </a:r>
            <a:endParaRPr lang="en-US" altLang="zh-CN" sz="2800"/>
          </a:p>
        </p:txBody>
      </p:sp>
    </p:spTree>
    <p:extLst>
      <p:ext uri="{BB962C8B-B14F-4D97-AF65-F5344CB8AC3E}">
        <p14:creationId xmlns:p14="http://schemas.microsoft.com/office/powerpoint/2010/main" val="1339460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为什么要用</a:t>
            </a:r>
            <a:r>
              <a:rPr lang="en-US" altLang="zh-CN"/>
              <a:t>Hive</a:t>
            </a:r>
            <a:endParaRPr lang="zh-CN" altLang="en-US" dirty="0"/>
          </a:p>
        </p:txBody>
      </p:sp>
      <p:sp>
        <p:nvSpPr>
          <p:cNvPr id="6" name="内容占位符 5">
            <a:extLst>
              <a:ext uri="{FF2B5EF4-FFF2-40B4-BE49-F238E27FC236}">
                <a16:creationId xmlns:a16="http://schemas.microsoft.com/office/drawing/2014/main" id="{791432AB-785E-4C26-AF1B-10F24E5EC47B}"/>
              </a:ext>
            </a:extLst>
          </p:cNvPr>
          <p:cNvSpPr>
            <a:spLocks noGrp="1"/>
          </p:cNvSpPr>
          <p:nvPr>
            <p:ph idx="1"/>
          </p:nvPr>
        </p:nvSpPr>
        <p:spPr>
          <a:xfrm>
            <a:off x="457200" y="1059582"/>
            <a:ext cx="8229600" cy="3672408"/>
          </a:xfrm>
        </p:spPr>
        <p:txBody>
          <a:bodyPr>
            <a:normAutofit/>
          </a:bodyPr>
          <a:lstStyle/>
          <a:p>
            <a:r>
              <a:rPr lang="en-US" altLang="zh-CN" sz="2400"/>
              <a:t>MapReduce </a:t>
            </a:r>
            <a:r>
              <a:rPr lang="zh-CN" altLang="en-US" sz="2400"/>
              <a:t>的出现，极大的简化大数据编程的难度，使得普通程序员也能从事开发大数据编程。</a:t>
            </a:r>
            <a:endParaRPr lang="en-US" altLang="zh-CN" sz="2400"/>
          </a:p>
          <a:p>
            <a:r>
              <a:rPr lang="zh-CN" altLang="en-US" sz="2400"/>
              <a:t>但数据分析人员通常使用 </a:t>
            </a:r>
            <a:r>
              <a:rPr lang="en-US" altLang="zh-CN" sz="2400"/>
              <a:t>SQL </a:t>
            </a:r>
            <a:r>
              <a:rPr lang="zh-CN" altLang="en-US" sz="2400"/>
              <a:t>语言进行大数据统计以及分析，而 </a:t>
            </a:r>
            <a:r>
              <a:rPr lang="en-US" altLang="zh-CN" sz="2400"/>
              <a:t>Mapreduce </a:t>
            </a:r>
            <a:r>
              <a:rPr lang="zh-CN" altLang="en-US" sz="2400"/>
              <a:t>编程是有一定的门槛，如果每次都采用 </a:t>
            </a:r>
            <a:r>
              <a:rPr lang="en-US" altLang="zh-CN" sz="2400"/>
              <a:t>MapReduce </a:t>
            </a:r>
            <a:r>
              <a:rPr lang="zh-CN" altLang="en-US" sz="2400"/>
              <a:t>开发，则成本太高、效率太低。</a:t>
            </a:r>
            <a:endParaRPr lang="en-US" altLang="zh-CN" sz="2400"/>
          </a:p>
          <a:p>
            <a:r>
              <a:rPr lang="zh-CN" altLang="en-US" sz="2400"/>
              <a:t>那么有没有更简单的办法，可以直接通过 </a:t>
            </a:r>
            <a:r>
              <a:rPr lang="en-US" altLang="zh-CN" sz="2400"/>
              <a:t>SQL </a:t>
            </a:r>
            <a:r>
              <a:rPr lang="zh-CN" altLang="en-US" sz="2400"/>
              <a:t>在大数据平台下运行进行数据分析？</a:t>
            </a:r>
            <a:endParaRPr lang="en-US" altLang="zh-CN" sz="2400"/>
          </a:p>
          <a:p>
            <a:r>
              <a:rPr lang="zh-CN" altLang="en-US" sz="2400"/>
              <a:t>有的，答案即是 </a:t>
            </a:r>
            <a:r>
              <a:rPr lang="en-US" altLang="zh-CN" sz="2400"/>
              <a:t>Hive</a:t>
            </a:r>
            <a:r>
              <a:rPr lang="zh-CN" altLang="en-US" sz="2400"/>
              <a:t>。</a:t>
            </a:r>
            <a:endParaRPr lang="en-US" altLang="zh-CN" sz="2400" dirty="0"/>
          </a:p>
        </p:txBody>
      </p:sp>
    </p:spTree>
    <p:extLst>
      <p:ext uri="{BB962C8B-B14F-4D97-AF65-F5344CB8AC3E}">
        <p14:creationId xmlns:p14="http://schemas.microsoft.com/office/powerpoint/2010/main" val="3872189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9D1211-E26E-4691-A6E7-7CFA2585A6BA}"/>
              </a:ext>
            </a:extLst>
          </p:cNvPr>
          <p:cNvSpPr>
            <a:spLocks noGrp="1"/>
          </p:cNvSpPr>
          <p:nvPr>
            <p:ph type="title"/>
          </p:nvPr>
        </p:nvSpPr>
        <p:spPr/>
        <p:txBody>
          <a:bodyPr>
            <a:normAutofit fontScale="90000"/>
          </a:bodyPr>
          <a:lstStyle/>
          <a:p>
            <a:r>
              <a:rPr lang="zh-CN" altLang="en-US" dirty="0"/>
              <a:t>数据库与数据仓库</a:t>
            </a:r>
          </a:p>
        </p:txBody>
      </p:sp>
      <p:graphicFrame>
        <p:nvGraphicFramePr>
          <p:cNvPr id="5" name="内容占位符 4">
            <a:extLst>
              <a:ext uri="{FF2B5EF4-FFF2-40B4-BE49-F238E27FC236}">
                <a16:creationId xmlns:a16="http://schemas.microsoft.com/office/drawing/2014/main" id="{2FCAC94C-BA10-4E25-89F6-93F45A59C133}"/>
              </a:ext>
            </a:extLst>
          </p:cNvPr>
          <p:cNvGraphicFramePr>
            <a:graphicFrameLocks noGrp="1"/>
          </p:cNvGraphicFramePr>
          <p:nvPr>
            <p:ph idx="1"/>
            <p:extLst/>
          </p:nvPr>
        </p:nvGraphicFramePr>
        <p:xfrm>
          <a:off x="251520" y="1131590"/>
          <a:ext cx="8568952" cy="3630990"/>
        </p:xfrm>
        <a:graphic>
          <a:graphicData uri="http://schemas.openxmlformats.org/drawingml/2006/table">
            <a:tbl>
              <a:tblPr firstRow="1" firstCol="1" bandRow="1">
                <a:tableStyleId>{5C22544A-7EE6-4342-B048-85BDC9FD1C3A}</a:tableStyleId>
              </a:tblPr>
              <a:tblGrid>
                <a:gridCol w="1340184">
                  <a:extLst>
                    <a:ext uri="{9D8B030D-6E8A-4147-A177-3AD203B41FA5}">
                      <a16:colId xmlns:a16="http://schemas.microsoft.com/office/drawing/2014/main" val="1610581230"/>
                    </a:ext>
                  </a:extLst>
                </a:gridCol>
                <a:gridCol w="3060829">
                  <a:extLst>
                    <a:ext uri="{9D8B030D-6E8A-4147-A177-3AD203B41FA5}">
                      <a16:colId xmlns:a16="http://schemas.microsoft.com/office/drawing/2014/main" val="3189337486"/>
                    </a:ext>
                  </a:extLst>
                </a:gridCol>
                <a:gridCol w="4167939">
                  <a:extLst>
                    <a:ext uri="{9D8B030D-6E8A-4147-A177-3AD203B41FA5}">
                      <a16:colId xmlns:a16="http://schemas.microsoft.com/office/drawing/2014/main" val="3544188704"/>
                    </a:ext>
                  </a:extLst>
                </a:gridCol>
              </a:tblGrid>
              <a:tr h="709515">
                <a:tc>
                  <a:txBody>
                    <a:bodyPr/>
                    <a:lstStyle/>
                    <a:p>
                      <a:pPr marL="0" indent="0" algn="l">
                        <a:lnSpc>
                          <a:spcPts val="1400"/>
                        </a:lnSpc>
                        <a:spcAft>
                          <a:spcPts val="0"/>
                        </a:spcAft>
                      </a:pPr>
                      <a:r>
                        <a:rPr lang="zh-CN" altLang="en-US" sz="1800" b="1" kern="1600" baseline="0" dirty="0">
                          <a:solidFill>
                            <a:schemeClr val="lt1"/>
                          </a:solidFill>
                          <a:effectLst/>
                          <a:latin typeface="+mn-lt"/>
                          <a:ea typeface="+mn-ea"/>
                          <a:cs typeface="+mn-cs"/>
                        </a:rPr>
                        <a:t>对比角度</a:t>
                      </a:r>
                    </a:p>
                  </a:txBody>
                  <a:tcPr marL="0" marR="0" marT="0" marB="0" anchor="ctr"/>
                </a:tc>
                <a:tc>
                  <a:txBody>
                    <a:bodyPr/>
                    <a:lstStyle/>
                    <a:p>
                      <a:pPr indent="266700" algn="l">
                        <a:lnSpc>
                          <a:spcPts val="1400"/>
                        </a:lnSpc>
                        <a:spcAft>
                          <a:spcPts val="0"/>
                        </a:spcAft>
                      </a:pPr>
                      <a:r>
                        <a:rPr lang="zh-CN" sz="1800" kern="1600" baseline="0" dirty="0">
                          <a:effectLst/>
                        </a:rPr>
                        <a:t>数</a:t>
                      </a:r>
                      <a:r>
                        <a:rPr lang="en-US" sz="1800" kern="1600" baseline="0" dirty="0">
                          <a:effectLst/>
                        </a:rPr>
                        <a:t>  </a:t>
                      </a:r>
                      <a:r>
                        <a:rPr lang="zh-CN" sz="1800" kern="1600" baseline="0" dirty="0">
                          <a:effectLst/>
                        </a:rPr>
                        <a:t>据</a:t>
                      </a:r>
                      <a:r>
                        <a:rPr lang="en-US" sz="1800" kern="1600" baseline="0" dirty="0">
                          <a:effectLst/>
                        </a:rPr>
                        <a:t>  </a:t>
                      </a:r>
                      <a:r>
                        <a:rPr lang="zh-CN" sz="1800" kern="1600" baseline="0" dirty="0">
                          <a:effectLst/>
                        </a:rPr>
                        <a:t>库</a:t>
                      </a:r>
                      <a:endParaRPr lang="zh-CN" sz="1800" kern="1600" baseline="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tc>
                <a:tc>
                  <a:txBody>
                    <a:bodyPr/>
                    <a:lstStyle/>
                    <a:p>
                      <a:pPr indent="266700" algn="l">
                        <a:lnSpc>
                          <a:spcPts val="1400"/>
                        </a:lnSpc>
                        <a:spcAft>
                          <a:spcPts val="0"/>
                        </a:spcAft>
                      </a:pPr>
                      <a:r>
                        <a:rPr lang="zh-CN" sz="1800" kern="1600" baseline="0">
                          <a:effectLst/>
                        </a:rPr>
                        <a:t>数 据 仓 库</a:t>
                      </a:r>
                      <a:endParaRPr lang="zh-CN" sz="1800" kern="1600" baseline="0">
                        <a:solidFill>
                          <a:srgbClr val="000000"/>
                        </a:solidFill>
                        <a:effectLst/>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tc>
                <a:extLst>
                  <a:ext uri="{0D108BD9-81ED-4DB2-BD59-A6C34878D82A}">
                    <a16:rowId xmlns:a16="http://schemas.microsoft.com/office/drawing/2014/main" val="3008653772"/>
                  </a:ext>
                </a:extLst>
              </a:tr>
              <a:tr h="514621">
                <a:tc>
                  <a:txBody>
                    <a:bodyPr/>
                    <a:lstStyle/>
                    <a:p>
                      <a:pPr marL="0" indent="0" algn="l">
                        <a:lnSpc>
                          <a:spcPts val="1200"/>
                        </a:lnSpc>
                        <a:spcAft>
                          <a:spcPts val="0"/>
                        </a:spcAft>
                      </a:pPr>
                      <a:r>
                        <a:rPr lang="zh-CN" altLang="en-US" sz="1800" b="1" kern="1600" baseline="0" dirty="0">
                          <a:solidFill>
                            <a:schemeClr val="lt1"/>
                          </a:solidFill>
                          <a:effectLst/>
                          <a:latin typeface="+mn-lt"/>
                          <a:ea typeface="+mn-ea"/>
                          <a:cs typeface="+mn-cs"/>
                        </a:rPr>
                        <a:t>目的</a:t>
                      </a:r>
                    </a:p>
                  </a:txBody>
                  <a:tcPr marL="0" marR="0" marT="0" marB="0" anchor="ctr"/>
                </a:tc>
                <a:tc>
                  <a:txBody>
                    <a:bodyPr/>
                    <a:lstStyle/>
                    <a:p>
                      <a:pPr indent="107950" algn="l">
                        <a:lnSpc>
                          <a:spcPts val="1200"/>
                        </a:lnSpc>
                        <a:spcAft>
                          <a:spcPts val="0"/>
                        </a:spcAft>
                      </a:pPr>
                      <a:r>
                        <a:rPr lang="zh-CN" sz="1800" kern="1600" baseline="0">
                          <a:effectLst/>
                        </a:rPr>
                        <a:t>目的在于记录</a:t>
                      </a:r>
                      <a:endParaRPr lang="zh-CN" sz="1800" kern="1600" baseline="0">
                        <a:solidFill>
                          <a:srgbClr val="000000"/>
                        </a:solidFill>
                        <a:effectLst/>
                        <a:latin typeface="Times New Roman" panose="02020603050405020304" pitchFamily="18" charset="0"/>
                        <a:ea typeface="方正书宋_GBK"/>
                      </a:endParaRPr>
                    </a:p>
                  </a:txBody>
                  <a:tcPr marL="0" marR="0" marT="0" marB="0" anchor="ctr"/>
                </a:tc>
                <a:tc>
                  <a:txBody>
                    <a:bodyPr/>
                    <a:lstStyle/>
                    <a:p>
                      <a:pPr indent="107950" algn="l">
                        <a:lnSpc>
                          <a:spcPts val="1200"/>
                        </a:lnSpc>
                        <a:spcAft>
                          <a:spcPts val="0"/>
                        </a:spcAft>
                      </a:pPr>
                      <a:r>
                        <a:rPr lang="zh-CN" sz="1800" kern="1600" baseline="0">
                          <a:effectLst/>
                        </a:rPr>
                        <a:t>目的在于分析应用</a:t>
                      </a:r>
                      <a:endParaRPr lang="zh-CN" sz="1800" kern="1600" baseline="0">
                        <a:solidFill>
                          <a:srgbClr val="000000"/>
                        </a:solidFill>
                        <a:effectLst/>
                        <a:latin typeface="Times New Roman" panose="02020603050405020304" pitchFamily="18" charset="0"/>
                        <a:ea typeface="方正书宋_GBK"/>
                      </a:endParaRPr>
                    </a:p>
                  </a:txBody>
                  <a:tcPr marL="0" marR="0" marT="0" marB="0" anchor="ctr"/>
                </a:tc>
                <a:extLst>
                  <a:ext uri="{0D108BD9-81ED-4DB2-BD59-A6C34878D82A}">
                    <a16:rowId xmlns:a16="http://schemas.microsoft.com/office/drawing/2014/main" val="3993169753"/>
                  </a:ext>
                </a:extLst>
              </a:tr>
              <a:tr h="576064">
                <a:tc>
                  <a:txBody>
                    <a:bodyPr/>
                    <a:lstStyle/>
                    <a:p>
                      <a:pPr marL="0" indent="0" algn="l">
                        <a:lnSpc>
                          <a:spcPts val="1200"/>
                        </a:lnSpc>
                        <a:spcAft>
                          <a:spcPts val="0"/>
                        </a:spcAft>
                      </a:pPr>
                      <a:r>
                        <a:rPr lang="zh-CN" altLang="en-US" sz="1800" b="1" kern="1600" baseline="0" dirty="0">
                          <a:solidFill>
                            <a:schemeClr val="lt1"/>
                          </a:solidFill>
                          <a:effectLst/>
                          <a:latin typeface="+mn-lt"/>
                          <a:ea typeface="+mn-ea"/>
                          <a:cs typeface="+mn-cs"/>
                        </a:rPr>
                        <a:t>处理方法</a:t>
                      </a:r>
                    </a:p>
                  </a:txBody>
                  <a:tcPr marL="0" marR="0" marT="0" marB="0" anchor="ctr"/>
                </a:tc>
                <a:tc>
                  <a:txBody>
                    <a:bodyPr/>
                    <a:lstStyle/>
                    <a:p>
                      <a:pPr indent="107950" algn="l">
                        <a:lnSpc>
                          <a:spcPts val="1200"/>
                        </a:lnSpc>
                        <a:spcAft>
                          <a:spcPts val="0"/>
                        </a:spcAft>
                      </a:pPr>
                      <a:r>
                        <a:rPr lang="zh-CN" sz="1800" kern="1600" baseline="0" dirty="0">
                          <a:effectLst/>
                        </a:rPr>
                        <a:t>在线事务处理</a:t>
                      </a:r>
                      <a:r>
                        <a:rPr lang="en-US" sz="1800" kern="1600" baseline="0" dirty="0">
                          <a:effectLst/>
                        </a:rPr>
                        <a:t> (OLTP)</a:t>
                      </a:r>
                      <a:endParaRPr lang="zh-CN" sz="1800" kern="1600" baseline="0" dirty="0">
                        <a:solidFill>
                          <a:srgbClr val="000000"/>
                        </a:solidFill>
                        <a:effectLst/>
                        <a:latin typeface="Times New Roman" panose="02020603050405020304" pitchFamily="18" charset="0"/>
                        <a:ea typeface="方正书宋_GBK"/>
                      </a:endParaRPr>
                    </a:p>
                  </a:txBody>
                  <a:tcPr marL="0" marR="0" marT="0" marB="0" anchor="ctr"/>
                </a:tc>
                <a:tc>
                  <a:txBody>
                    <a:bodyPr/>
                    <a:lstStyle/>
                    <a:p>
                      <a:pPr indent="107950" algn="l">
                        <a:lnSpc>
                          <a:spcPts val="1200"/>
                        </a:lnSpc>
                        <a:spcAft>
                          <a:spcPts val="0"/>
                        </a:spcAft>
                      </a:pPr>
                      <a:r>
                        <a:rPr lang="zh-CN" sz="1800" kern="1600" baseline="0">
                          <a:effectLst/>
                        </a:rPr>
                        <a:t>在线分析处理</a:t>
                      </a:r>
                      <a:r>
                        <a:rPr lang="en-US" sz="1800" kern="1600" baseline="0">
                          <a:effectLst/>
                        </a:rPr>
                        <a:t>(OLAP).</a:t>
                      </a:r>
                      <a:endParaRPr lang="zh-CN" sz="1800" kern="1600" baseline="0">
                        <a:solidFill>
                          <a:srgbClr val="000000"/>
                        </a:solidFill>
                        <a:effectLst/>
                        <a:latin typeface="Times New Roman" panose="02020603050405020304" pitchFamily="18" charset="0"/>
                        <a:ea typeface="方正书宋_GBK"/>
                      </a:endParaRPr>
                    </a:p>
                  </a:txBody>
                  <a:tcPr marL="0" marR="0" marT="0" marB="0" anchor="ctr"/>
                </a:tc>
                <a:extLst>
                  <a:ext uri="{0D108BD9-81ED-4DB2-BD59-A6C34878D82A}">
                    <a16:rowId xmlns:a16="http://schemas.microsoft.com/office/drawing/2014/main" val="2524078312"/>
                  </a:ext>
                </a:extLst>
              </a:tr>
              <a:tr h="720080">
                <a:tc>
                  <a:txBody>
                    <a:bodyPr/>
                    <a:lstStyle/>
                    <a:p>
                      <a:pPr marL="0" indent="0" algn="l">
                        <a:lnSpc>
                          <a:spcPts val="1200"/>
                        </a:lnSpc>
                        <a:spcAft>
                          <a:spcPts val="0"/>
                        </a:spcAft>
                      </a:pPr>
                      <a:r>
                        <a:rPr lang="zh-CN" altLang="en-US" sz="1800" b="1" kern="1600" baseline="0" dirty="0">
                          <a:solidFill>
                            <a:schemeClr val="lt1"/>
                          </a:solidFill>
                          <a:effectLst/>
                          <a:latin typeface="+mn-lt"/>
                          <a:ea typeface="+mn-ea"/>
                          <a:cs typeface="+mn-cs"/>
                        </a:rPr>
                        <a:t>应用范围</a:t>
                      </a:r>
                    </a:p>
                  </a:txBody>
                  <a:tcPr marL="0" marR="0" marT="0" marB="0" anchor="ctr"/>
                </a:tc>
                <a:tc>
                  <a:txBody>
                    <a:bodyPr/>
                    <a:lstStyle/>
                    <a:p>
                      <a:pPr indent="107950" algn="l">
                        <a:lnSpc>
                          <a:spcPct val="100000"/>
                        </a:lnSpc>
                        <a:spcAft>
                          <a:spcPts val="0"/>
                        </a:spcAft>
                      </a:pPr>
                      <a:r>
                        <a:rPr lang="zh-CN" sz="1800" kern="1600" baseline="0" dirty="0">
                          <a:effectLst/>
                        </a:rPr>
                        <a:t>数据库用于支持业务过程的日常基础操作</a:t>
                      </a:r>
                      <a:endParaRPr lang="zh-CN" sz="1800" kern="1600" baseline="0" dirty="0">
                        <a:solidFill>
                          <a:srgbClr val="000000"/>
                        </a:solidFill>
                        <a:effectLst/>
                        <a:latin typeface="Times New Roman" panose="02020603050405020304" pitchFamily="18" charset="0"/>
                        <a:ea typeface="方正书宋_GBK"/>
                      </a:endParaRPr>
                    </a:p>
                  </a:txBody>
                  <a:tcPr marL="0" marR="0" marT="0" marB="0" anchor="ctr"/>
                </a:tc>
                <a:tc>
                  <a:txBody>
                    <a:bodyPr/>
                    <a:lstStyle/>
                    <a:p>
                      <a:pPr indent="107950" algn="l">
                        <a:lnSpc>
                          <a:spcPts val="1200"/>
                        </a:lnSpc>
                        <a:spcAft>
                          <a:spcPts val="0"/>
                        </a:spcAft>
                      </a:pPr>
                      <a:r>
                        <a:rPr lang="zh-CN" sz="1800" kern="1600" baseline="0">
                          <a:effectLst/>
                        </a:rPr>
                        <a:t>数据仓库使你可以对业务进行分析</a:t>
                      </a:r>
                      <a:endParaRPr lang="zh-CN" sz="1800" kern="1600" baseline="0">
                        <a:solidFill>
                          <a:srgbClr val="000000"/>
                        </a:solidFill>
                        <a:effectLst/>
                        <a:latin typeface="Times New Roman" panose="02020603050405020304" pitchFamily="18" charset="0"/>
                        <a:ea typeface="方正书宋_GBK"/>
                      </a:endParaRPr>
                    </a:p>
                  </a:txBody>
                  <a:tcPr marL="0" marR="0" marT="0" marB="0" anchor="ctr"/>
                </a:tc>
                <a:extLst>
                  <a:ext uri="{0D108BD9-81ED-4DB2-BD59-A6C34878D82A}">
                    <a16:rowId xmlns:a16="http://schemas.microsoft.com/office/drawing/2014/main" val="820000196"/>
                  </a:ext>
                </a:extLst>
              </a:tr>
              <a:tr h="720080">
                <a:tc>
                  <a:txBody>
                    <a:bodyPr/>
                    <a:lstStyle/>
                    <a:p>
                      <a:pPr marL="0" indent="0" algn="l">
                        <a:lnSpc>
                          <a:spcPts val="1200"/>
                        </a:lnSpc>
                        <a:spcAft>
                          <a:spcPts val="0"/>
                        </a:spcAft>
                      </a:pPr>
                      <a:r>
                        <a:rPr lang="zh-CN" altLang="en-US" sz="1800" b="1" kern="1600" baseline="0" dirty="0">
                          <a:solidFill>
                            <a:schemeClr val="lt1"/>
                          </a:solidFill>
                          <a:effectLst/>
                          <a:latin typeface="+mn-lt"/>
                          <a:ea typeface="+mn-ea"/>
                          <a:cs typeface="+mn-cs"/>
                        </a:rPr>
                        <a:t>表与连接</a:t>
                      </a:r>
                    </a:p>
                  </a:txBody>
                  <a:tcPr marL="0" marR="0" marT="0" marB="0" anchor="ctr"/>
                </a:tc>
                <a:tc>
                  <a:txBody>
                    <a:bodyPr/>
                    <a:lstStyle/>
                    <a:p>
                      <a:pPr indent="107950" algn="l">
                        <a:lnSpc>
                          <a:spcPct val="100000"/>
                        </a:lnSpc>
                        <a:spcAft>
                          <a:spcPts val="0"/>
                        </a:spcAft>
                      </a:pPr>
                      <a:r>
                        <a:rPr lang="zh-CN" sz="1800" kern="1600" baseline="0" dirty="0">
                          <a:effectLst/>
                        </a:rPr>
                        <a:t>数据库的表和</a:t>
                      </a:r>
                      <a:r>
                        <a:rPr lang="zh-CN" altLang="en-US" sz="1800" kern="1600" baseline="0" dirty="0">
                          <a:solidFill>
                            <a:schemeClr val="dk1"/>
                          </a:solidFill>
                          <a:effectLst/>
                          <a:latin typeface="+mn-lt"/>
                          <a:ea typeface="+mn-ea"/>
                          <a:cs typeface="+mn-cs"/>
                        </a:rPr>
                        <a:t>联接</a:t>
                      </a:r>
                      <a:r>
                        <a:rPr lang="zh-CN" sz="1800" kern="1600" baseline="0" dirty="0">
                          <a:effectLst/>
                        </a:rPr>
                        <a:t>是复杂的，但是它们是</a:t>
                      </a:r>
                      <a:r>
                        <a:rPr lang="zh-CN" altLang="en-US" sz="1800" kern="1600" baseline="0" dirty="0">
                          <a:solidFill>
                            <a:schemeClr val="dk1"/>
                          </a:solidFill>
                          <a:effectLst/>
                          <a:latin typeface="+mn-lt"/>
                          <a:ea typeface="+mn-ea"/>
                          <a:cs typeface="+mn-cs"/>
                        </a:rPr>
                        <a:t>规范化</a:t>
                      </a:r>
                      <a:r>
                        <a:rPr lang="zh-CN" sz="1800" kern="1600" baseline="0" dirty="0">
                          <a:effectLst/>
                        </a:rPr>
                        <a:t>的。</a:t>
                      </a:r>
                      <a:endParaRPr lang="zh-CN" sz="1800" kern="1600" baseline="0" dirty="0">
                        <a:solidFill>
                          <a:srgbClr val="000000"/>
                        </a:solidFill>
                        <a:effectLst/>
                        <a:latin typeface="Times New Roman" panose="02020603050405020304" pitchFamily="18" charset="0"/>
                        <a:ea typeface="方正书宋_GBK"/>
                      </a:endParaRPr>
                    </a:p>
                  </a:txBody>
                  <a:tcPr marL="0" marR="0" marT="0" marB="0" anchor="ctr"/>
                </a:tc>
                <a:tc>
                  <a:txBody>
                    <a:bodyPr/>
                    <a:lstStyle/>
                    <a:p>
                      <a:pPr indent="107950" algn="l">
                        <a:lnSpc>
                          <a:spcPct val="100000"/>
                        </a:lnSpc>
                        <a:spcAft>
                          <a:spcPts val="0"/>
                        </a:spcAft>
                      </a:pPr>
                      <a:r>
                        <a:rPr lang="zh-CN" sz="1800" kern="1600" baseline="0" dirty="0">
                          <a:effectLst/>
                        </a:rPr>
                        <a:t>数据库的表和联接比较简单，它们是非规范化的。</a:t>
                      </a:r>
                      <a:endParaRPr lang="zh-CN" sz="1800" kern="1600" baseline="0" dirty="0">
                        <a:solidFill>
                          <a:srgbClr val="000000"/>
                        </a:solidFill>
                        <a:effectLst/>
                        <a:latin typeface="Times New Roman" panose="02020603050405020304" pitchFamily="18" charset="0"/>
                        <a:ea typeface="方正书宋_GBK"/>
                      </a:endParaRPr>
                    </a:p>
                  </a:txBody>
                  <a:tcPr marL="0" marR="0" marT="0" marB="0" anchor="ctr"/>
                </a:tc>
                <a:extLst>
                  <a:ext uri="{0D108BD9-81ED-4DB2-BD59-A6C34878D82A}">
                    <a16:rowId xmlns:a16="http://schemas.microsoft.com/office/drawing/2014/main" val="3493276778"/>
                  </a:ext>
                </a:extLst>
              </a:tr>
              <a:tr h="390630">
                <a:tc>
                  <a:txBody>
                    <a:bodyPr/>
                    <a:lstStyle/>
                    <a:p>
                      <a:pPr marL="0" indent="0" algn="l">
                        <a:lnSpc>
                          <a:spcPts val="1200"/>
                        </a:lnSpc>
                        <a:spcAft>
                          <a:spcPts val="0"/>
                        </a:spcAft>
                      </a:pPr>
                      <a:r>
                        <a:rPr lang="zh-CN" altLang="en-US" sz="1800" b="1" kern="1600" baseline="0" dirty="0">
                          <a:solidFill>
                            <a:schemeClr val="lt1"/>
                          </a:solidFill>
                          <a:effectLst/>
                          <a:latin typeface="+mn-lt"/>
                          <a:ea typeface="+mn-ea"/>
                          <a:cs typeface="+mn-cs"/>
                        </a:rPr>
                        <a:t>面向</a:t>
                      </a:r>
                    </a:p>
                  </a:txBody>
                  <a:tcPr marL="0" marR="0" marT="0" marB="0" anchor="ctr"/>
                </a:tc>
                <a:tc>
                  <a:txBody>
                    <a:bodyPr/>
                    <a:lstStyle/>
                    <a:p>
                      <a:pPr indent="107950" algn="l">
                        <a:lnSpc>
                          <a:spcPts val="1200"/>
                        </a:lnSpc>
                        <a:spcAft>
                          <a:spcPts val="0"/>
                        </a:spcAft>
                      </a:pPr>
                      <a:r>
                        <a:rPr lang="zh-CN" sz="1800" kern="1600" baseline="0">
                          <a:effectLst/>
                        </a:rPr>
                        <a:t>面向应用的数据收集</a:t>
                      </a:r>
                      <a:endParaRPr lang="zh-CN" sz="1800" kern="1600" baseline="0">
                        <a:solidFill>
                          <a:srgbClr val="000000"/>
                        </a:solidFill>
                        <a:effectLst/>
                        <a:latin typeface="Times New Roman" panose="02020603050405020304" pitchFamily="18" charset="0"/>
                        <a:ea typeface="方正书宋_GBK"/>
                      </a:endParaRPr>
                    </a:p>
                  </a:txBody>
                  <a:tcPr marL="0" marR="0" marT="0" marB="0" anchor="ctr"/>
                </a:tc>
                <a:tc>
                  <a:txBody>
                    <a:bodyPr/>
                    <a:lstStyle/>
                    <a:p>
                      <a:pPr indent="107950" algn="l">
                        <a:lnSpc>
                          <a:spcPts val="1200"/>
                        </a:lnSpc>
                        <a:spcAft>
                          <a:spcPts val="0"/>
                        </a:spcAft>
                      </a:pPr>
                      <a:r>
                        <a:rPr lang="zh-CN" sz="1800" kern="1600" baseline="0" dirty="0">
                          <a:effectLst/>
                        </a:rPr>
                        <a:t>面向主题的数据收集</a:t>
                      </a:r>
                      <a:endParaRPr lang="zh-CN" sz="1800" kern="1600" baseline="0" dirty="0">
                        <a:solidFill>
                          <a:srgbClr val="000000"/>
                        </a:solidFill>
                        <a:effectLst/>
                        <a:latin typeface="Times New Roman" panose="02020603050405020304" pitchFamily="18" charset="0"/>
                        <a:ea typeface="方正书宋_GBK"/>
                      </a:endParaRPr>
                    </a:p>
                  </a:txBody>
                  <a:tcPr marL="0" marR="0" marT="0" marB="0" anchor="ctr"/>
                </a:tc>
                <a:extLst>
                  <a:ext uri="{0D108BD9-81ED-4DB2-BD59-A6C34878D82A}">
                    <a16:rowId xmlns:a16="http://schemas.microsoft.com/office/drawing/2014/main" val="3792890004"/>
                  </a:ext>
                </a:extLst>
              </a:tr>
            </a:tbl>
          </a:graphicData>
        </a:graphic>
      </p:graphicFrame>
    </p:spTree>
    <p:extLst>
      <p:ext uri="{BB962C8B-B14F-4D97-AF65-F5344CB8AC3E}">
        <p14:creationId xmlns:p14="http://schemas.microsoft.com/office/powerpoint/2010/main" val="603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9D1211-E26E-4691-A6E7-7CFA2585A6BA}"/>
              </a:ext>
            </a:extLst>
          </p:cNvPr>
          <p:cNvSpPr>
            <a:spLocks noGrp="1"/>
          </p:cNvSpPr>
          <p:nvPr>
            <p:ph type="title"/>
          </p:nvPr>
        </p:nvSpPr>
        <p:spPr/>
        <p:txBody>
          <a:bodyPr>
            <a:normAutofit fontScale="90000"/>
          </a:bodyPr>
          <a:lstStyle/>
          <a:p>
            <a:r>
              <a:rPr lang="zh-CN" altLang="en-US" dirty="0"/>
              <a:t>数据库与数据仓库</a:t>
            </a:r>
          </a:p>
        </p:txBody>
      </p:sp>
      <p:graphicFrame>
        <p:nvGraphicFramePr>
          <p:cNvPr id="6" name="内容占位符 5">
            <a:extLst>
              <a:ext uri="{FF2B5EF4-FFF2-40B4-BE49-F238E27FC236}">
                <a16:creationId xmlns:a16="http://schemas.microsoft.com/office/drawing/2014/main" id="{3DF34D82-DE83-48D3-9515-41272F111FA4}"/>
              </a:ext>
            </a:extLst>
          </p:cNvPr>
          <p:cNvGraphicFramePr>
            <a:graphicFrameLocks noGrp="1"/>
          </p:cNvGraphicFramePr>
          <p:nvPr>
            <p:ph idx="1"/>
            <p:extLst/>
          </p:nvPr>
        </p:nvGraphicFramePr>
        <p:xfrm>
          <a:off x="457200" y="1131590"/>
          <a:ext cx="8229599" cy="3672408"/>
        </p:xfrm>
        <a:graphic>
          <a:graphicData uri="http://schemas.openxmlformats.org/drawingml/2006/table">
            <a:tbl>
              <a:tblPr firstRow="1" firstCol="1" bandRow="1">
                <a:tableStyleId>{5C22544A-7EE6-4342-B048-85BDC9FD1C3A}</a:tableStyleId>
              </a:tblPr>
              <a:tblGrid>
                <a:gridCol w="1287109">
                  <a:extLst>
                    <a:ext uri="{9D8B030D-6E8A-4147-A177-3AD203B41FA5}">
                      <a16:colId xmlns:a16="http://schemas.microsoft.com/office/drawing/2014/main" val="643086245"/>
                    </a:ext>
                  </a:extLst>
                </a:gridCol>
                <a:gridCol w="3187731">
                  <a:extLst>
                    <a:ext uri="{9D8B030D-6E8A-4147-A177-3AD203B41FA5}">
                      <a16:colId xmlns:a16="http://schemas.microsoft.com/office/drawing/2014/main" val="1996952055"/>
                    </a:ext>
                  </a:extLst>
                </a:gridCol>
                <a:gridCol w="3754759">
                  <a:extLst>
                    <a:ext uri="{9D8B030D-6E8A-4147-A177-3AD203B41FA5}">
                      <a16:colId xmlns:a16="http://schemas.microsoft.com/office/drawing/2014/main" val="1019120463"/>
                    </a:ext>
                  </a:extLst>
                </a:gridCol>
              </a:tblGrid>
              <a:tr h="820148">
                <a:tc>
                  <a:txBody>
                    <a:bodyPr/>
                    <a:lstStyle/>
                    <a:p>
                      <a:pPr marL="0" indent="0" algn="ctr">
                        <a:lnSpc>
                          <a:spcPts val="1400"/>
                        </a:lnSpc>
                        <a:spcAft>
                          <a:spcPts val="0"/>
                        </a:spcAft>
                      </a:pPr>
                      <a:r>
                        <a:rPr lang="zh-CN" sz="1800" dirty="0">
                          <a:effectLst/>
                        </a:rPr>
                        <a:t>对比角度</a:t>
                      </a:r>
                      <a:endParaRPr lang="zh-CN" sz="1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tc>
                  <a:txBody>
                    <a:bodyPr/>
                    <a:lstStyle/>
                    <a:p>
                      <a:pPr indent="266700" algn="ctr">
                        <a:lnSpc>
                          <a:spcPts val="1400"/>
                        </a:lnSpc>
                        <a:spcAft>
                          <a:spcPts val="0"/>
                        </a:spcAft>
                      </a:pPr>
                      <a:r>
                        <a:rPr lang="zh-CN" sz="1800">
                          <a:effectLst/>
                        </a:rPr>
                        <a:t>数</a:t>
                      </a:r>
                      <a:r>
                        <a:rPr lang="en-US" sz="1800">
                          <a:effectLst/>
                        </a:rPr>
                        <a:t>  </a:t>
                      </a:r>
                      <a:r>
                        <a:rPr lang="zh-CN" sz="1800">
                          <a:effectLst/>
                        </a:rPr>
                        <a:t>据</a:t>
                      </a:r>
                      <a:r>
                        <a:rPr lang="en-US" sz="1800">
                          <a:effectLst/>
                        </a:rPr>
                        <a:t>  </a:t>
                      </a:r>
                      <a:r>
                        <a:rPr lang="zh-CN" sz="1800">
                          <a:effectLst/>
                        </a:rPr>
                        <a:t>库</a:t>
                      </a:r>
                      <a:endParaRPr lang="zh-CN" sz="1800">
                        <a:solidFill>
                          <a:srgbClr val="000000"/>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tc>
                  <a:txBody>
                    <a:bodyPr/>
                    <a:lstStyle/>
                    <a:p>
                      <a:pPr indent="266700" algn="ctr">
                        <a:lnSpc>
                          <a:spcPts val="1400"/>
                        </a:lnSpc>
                        <a:spcAft>
                          <a:spcPts val="0"/>
                        </a:spcAft>
                      </a:pPr>
                      <a:r>
                        <a:rPr lang="zh-CN" sz="1800">
                          <a:effectLst/>
                        </a:rPr>
                        <a:t>数 据 仓 库</a:t>
                      </a:r>
                      <a:endParaRPr lang="zh-CN" sz="1800">
                        <a:solidFill>
                          <a:srgbClr val="000000"/>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58009826"/>
                  </a:ext>
                </a:extLst>
              </a:tr>
              <a:tr h="709968">
                <a:tc>
                  <a:txBody>
                    <a:bodyPr/>
                    <a:lstStyle/>
                    <a:p>
                      <a:pPr marL="0" indent="0">
                        <a:lnSpc>
                          <a:spcPts val="1200"/>
                        </a:lnSpc>
                        <a:spcAft>
                          <a:spcPts val="0"/>
                        </a:spcAft>
                      </a:pPr>
                      <a:r>
                        <a:rPr lang="zh-CN" sz="1800" dirty="0">
                          <a:effectLst/>
                        </a:rPr>
                        <a:t>存储限制</a:t>
                      </a:r>
                      <a:endParaRPr lang="zh-CN" sz="1800" dirty="0">
                        <a:solidFill>
                          <a:srgbClr val="000000"/>
                        </a:solidFill>
                        <a:effectLst/>
                        <a:latin typeface="Times New Roman" panose="02020603050405020304" pitchFamily="18" charset="0"/>
                        <a:ea typeface="方正书宋_GBK"/>
                      </a:endParaRPr>
                    </a:p>
                  </a:txBody>
                  <a:tcPr marL="68580" marR="68580" marT="0" marB="0" anchor="ctr"/>
                </a:tc>
                <a:tc>
                  <a:txBody>
                    <a:bodyPr/>
                    <a:lstStyle/>
                    <a:p>
                      <a:pPr indent="107950" algn="just">
                        <a:lnSpc>
                          <a:spcPts val="1200"/>
                        </a:lnSpc>
                        <a:spcAft>
                          <a:spcPts val="0"/>
                        </a:spcAft>
                      </a:pPr>
                      <a:r>
                        <a:rPr lang="zh-CN" sz="1800" dirty="0">
                          <a:effectLst/>
                        </a:rPr>
                        <a:t>通常限制于单个的应用范围</a:t>
                      </a:r>
                      <a:endParaRPr lang="zh-CN" sz="1800" dirty="0">
                        <a:solidFill>
                          <a:srgbClr val="000000"/>
                        </a:solidFill>
                        <a:effectLst/>
                        <a:latin typeface="Times New Roman" panose="02020603050405020304" pitchFamily="18" charset="0"/>
                        <a:ea typeface="方正书宋_GBK"/>
                      </a:endParaRPr>
                    </a:p>
                  </a:txBody>
                  <a:tcPr marL="68580" marR="68580" marT="0" marB="0" anchor="ctr"/>
                </a:tc>
                <a:tc>
                  <a:txBody>
                    <a:bodyPr/>
                    <a:lstStyle/>
                    <a:p>
                      <a:pPr indent="107950" algn="just">
                        <a:lnSpc>
                          <a:spcPts val="1200"/>
                        </a:lnSpc>
                        <a:spcAft>
                          <a:spcPts val="0"/>
                        </a:spcAft>
                      </a:pPr>
                      <a:r>
                        <a:rPr lang="zh-CN" sz="1800">
                          <a:effectLst/>
                        </a:rPr>
                        <a:t>所存储数据常被应用于多个应用中</a:t>
                      </a:r>
                      <a:endParaRPr lang="zh-CN" sz="1800">
                        <a:solidFill>
                          <a:srgbClr val="000000"/>
                        </a:solidFill>
                        <a:effectLst/>
                        <a:latin typeface="Times New Roman" panose="02020603050405020304" pitchFamily="18" charset="0"/>
                        <a:ea typeface="方正书宋_GBK"/>
                      </a:endParaRPr>
                    </a:p>
                  </a:txBody>
                  <a:tcPr marL="68580" marR="68580" marT="0" marB="0" anchor="ctr"/>
                </a:tc>
                <a:extLst>
                  <a:ext uri="{0D108BD9-81ED-4DB2-BD59-A6C34878D82A}">
                    <a16:rowId xmlns:a16="http://schemas.microsoft.com/office/drawing/2014/main" val="2118361101"/>
                  </a:ext>
                </a:extLst>
              </a:tr>
              <a:tr h="709968">
                <a:tc>
                  <a:txBody>
                    <a:bodyPr/>
                    <a:lstStyle/>
                    <a:p>
                      <a:pPr marL="0" indent="0">
                        <a:lnSpc>
                          <a:spcPts val="1200"/>
                        </a:lnSpc>
                        <a:spcAft>
                          <a:spcPts val="0"/>
                        </a:spcAft>
                      </a:pPr>
                      <a:r>
                        <a:rPr lang="zh-CN" sz="1800" dirty="0">
                          <a:effectLst/>
                        </a:rPr>
                        <a:t>可用性</a:t>
                      </a:r>
                      <a:endParaRPr lang="zh-CN" sz="1800" dirty="0">
                        <a:solidFill>
                          <a:srgbClr val="000000"/>
                        </a:solidFill>
                        <a:effectLst/>
                        <a:latin typeface="Times New Roman" panose="02020603050405020304" pitchFamily="18" charset="0"/>
                        <a:ea typeface="方正书宋_GBK"/>
                      </a:endParaRPr>
                    </a:p>
                  </a:txBody>
                  <a:tcPr marL="68580" marR="68580" marT="0" marB="0" anchor="ctr"/>
                </a:tc>
                <a:tc>
                  <a:txBody>
                    <a:bodyPr/>
                    <a:lstStyle/>
                    <a:p>
                      <a:pPr indent="107950" algn="just">
                        <a:lnSpc>
                          <a:spcPts val="1200"/>
                        </a:lnSpc>
                        <a:spcAft>
                          <a:spcPts val="0"/>
                        </a:spcAft>
                      </a:pPr>
                      <a:r>
                        <a:rPr lang="zh-CN" sz="1800" dirty="0">
                          <a:effectLst/>
                        </a:rPr>
                        <a:t>数据是实时可用的</a:t>
                      </a:r>
                      <a:endParaRPr lang="zh-CN" sz="1800" dirty="0">
                        <a:solidFill>
                          <a:srgbClr val="000000"/>
                        </a:solidFill>
                        <a:effectLst/>
                        <a:latin typeface="Times New Roman" panose="02020603050405020304" pitchFamily="18" charset="0"/>
                        <a:ea typeface="方正书宋_GBK"/>
                      </a:endParaRPr>
                    </a:p>
                  </a:txBody>
                  <a:tcPr marL="68580" marR="68580" marT="0" marB="0" anchor="ctr"/>
                </a:tc>
                <a:tc>
                  <a:txBody>
                    <a:bodyPr/>
                    <a:lstStyle/>
                    <a:p>
                      <a:pPr indent="107950" algn="just">
                        <a:lnSpc>
                          <a:spcPct val="100000"/>
                        </a:lnSpc>
                        <a:spcAft>
                          <a:spcPts val="0"/>
                        </a:spcAft>
                      </a:pPr>
                      <a:r>
                        <a:rPr lang="zh-CN" sz="1800" dirty="0">
                          <a:effectLst/>
                        </a:rPr>
                        <a:t>数据只有在需要的时候再进行更新，非实时性的</a:t>
                      </a:r>
                      <a:endParaRPr lang="zh-CN" sz="1800" dirty="0">
                        <a:solidFill>
                          <a:srgbClr val="000000"/>
                        </a:solidFill>
                        <a:effectLst/>
                        <a:latin typeface="Times New Roman" panose="02020603050405020304" pitchFamily="18" charset="0"/>
                        <a:ea typeface="方正书宋_GBK"/>
                      </a:endParaRPr>
                    </a:p>
                  </a:txBody>
                  <a:tcPr marL="68580" marR="68580" marT="0" marB="0" anchor="ctr"/>
                </a:tc>
                <a:extLst>
                  <a:ext uri="{0D108BD9-81ED-4DB2-BD59-A6C34878D82A}">
                    <a16:rowId xmlns:a16="http://schemas.microsoft.com/office/drawing/2014/main" val="464019317"/>
                  </a:ext>
                </a:extLst>
              </a:tr>
              <a:tr h="722356">
                <a:tc>
                  <a:txBody>
                    <a:bodyPr/>
                    <a:lstStyle/>
                    <a:p>
                      <a:pPr marL="0" indent="0">
                        <a:lnSpc>
                          <a:spcPts val="1200"/>
                        </a:lnSpc>
                        <a:spcAft>
                          <a:spcPts val="0"/>
                        </a:spcAft>
                      </a:pPr>
                      <a:r>
                        <a:rPr lang="zh-CN" sz="1800" dirty="0">
                          <a:effectLst/>
                        </a:rPr>
                        <a:t>模型</a:t>
                      </a:r>
                      <a:endParaRPr lang="zh-CN" sz="1800" dirty="0">
                        <a:solidFill>
                          <a:srgbClr val="000000"/>
                        </a:solidFill>
                        <a:effectLst/>
                        <a:latin typeface="Times New Roman" panose="02020603050405020304" pitchFamily="18" charset="0"/>
                        <a:ea typeface="方正书宋_GBK"/>
                      </a:endParaRPr>
                    </a:p>
                  </a:txBody>
                  <a:tcPr marL="68580" marR="68580" marT="0" marB="0" anchor="ctr"/>
                </a:tc>
                <a:tc>
                  <a:txBody>
                    <a:bodyPr/>
                    <a:lstStyle/>
                    <a:p>
                      <a:pPr indent="107950" algn="just">
                        <a:lnSpc>
                          <a:spcPts val="1200"/>
                        </a:lnSpc>
                        <a:spcAft>
                          <a:spcPts val="0"/>
                        </a:spcAft>
                      </a:pPr>
                      <a:r>
                        <a:rPr lang="zh-CN" sz="1800" dirty="0">
                          <a:effectLst/>
                        </a:rPr>
                        <a:t>用</a:t>
                      </a:r>
                      <a:r>
                        <a:rPr lang="en-US" sz="1800" dirty="0">
                          <a:effectLst/>
                        </a:rPr>
                        <a:t>ER</a:t>
                      </a:r>
                      <a:r>
                        <a:rPr lang="zh-CN" sz="1800" dirty="0">
                          <a:effectLst/>
                        </a:rPr>
                        <a:t>模型进行数据库的设计</a:t>
                      </a:r>
                      <a:endParaRPr lang="zh-CN" sz="1800" dirty="0">
                        <a:solidFill>
                          <a:srgbClr val="000000"/>
                        </a:solidFill>
                        <a:effectLst/>
                        <a:latin typeface="Times New Roman" panose="02020603050405020304" pitchFamily="18" charset="0"/>
                        <a:ea typeface="方正书宋_GBK"/>
                      </a:endParaRPr>
                    </a:p>
                  </a:txBody>
                  <a:tcPr marL="68580" marR="68580" marT="0" marB="0" anchor="ctr"/>
                </a:tc>
                <a:tc>
                  <a:txBody>
                    <a:bodyPr/>
                    <a:lstStyle/>
                    <a:p>
                      <a:pPr indent="107950" algn="just">
                        <a:lnSpc>
                          <a:spcPts val="1200"/>
                        </a:lnSpc>
                        <a:spcAft>
                          <a:spcPts val="0"/>
                        </a:spcAft>
                      </a:pPr>
                      <a:r>
                        <a:rPr lang="zh-CN" sz="1800" dirty="0">
                          <a:effectLst/>
                        </a:rPr>
                        <a:t>用数据建模技术进行模型的构建</a:t>
                      </a:r>
                      <a:endParaRPr lang="zh-CN" sz="1800" dirty="0">
                        <a:solidFill>
                          <a:srgbClr val="000000"/>
                        </a:solidFill>
                        <a:effectLst/>
                        <a:latin typeface="Times New Roman" panose="02020603050405020304" pitchFamily="18" charset="0"/>
                        <a:ea typeface="方正书宋_GBK"/>
                      </a:endParaRPr>
                    </a:p>
                  </a:txBody>
                  <a:tcPr marL="68580" marR="68580" marT="0" marB="0" anchor="ctr"/>
                </a:tc>
                <a:extLst>
                  <a:ext uri="{0D108BD9-81ED-4DB2-BD59-A6C34878D82A}">
                    <a16:rowId xmlns:a16="http://schemas.microsoft.com/office/drawing/2014/main" val="2767303974"/>
                  </a:ext>
                </a:extLst>
              </a:tr>
              <a:tr h="709968">
                <a:tc>
                  <a:txBody>
                    <a:bodyPr/>
                    <a:lstStyle/>
                    <a:p>
                      <a:pPr marL="0" indent="0">
                        <a:lnSpc>
                          <a:spcPts val="1200"/>
                        </a:lnSpc>
                        <a:spcAft>
                          <a:spcPts val="0"/>
                        </a:spcAft>
                      </a:pPr>
                      <a:r>
                        <a:rPr lang="zh-CN" sz="1800" dirty="0">
                          <a:effectLst/>
                        </a:rPr>
                        <a:t>技能</a:t>
                      </a:r>
                      <a:endParaRPr lang="zh-CN" sz="1800" dirty="0">
                        <a:solidFill>
                          <a:srgbClr val="000000"/>
                        </a:solidFill>
                        <a:effectLst/>
                        <a:latin typeface="Times New Roman" panose="02020603050405020304" pitchFamily="18" charset="0"/>
                        <a:ea typeface="方正书宋_GBK"/>
                      </a:endParaRPr>
                    </a:p>
                  </a:txBody>
                  <a:tcPr marL="68580" marR="68580" marT="0" marB="0" anchor="ctr"/>
                </a:tc>
                <a:tc>
                  <a:txBody>
                    <a:bodyPr/>
                    <a:lstStyle/>
                    <a:p>
                      <a:pPr indent="107950" algn="just">
                        <a:lnSpc>
                          <a:spcPts val="1200"/>
                        </a:lnSpc>
                        <a:spcAft>
                          <a:spcPts val="0"/>
                        </a:spcAft>
                      </a:pPr>
                      <a:r>
                        <a:rPr lang="zh-CN" sz="1800">
                          <a:effectLst/>
                        </a:rPr>
                        <a:t>捕获实时在线数据</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indent="107950" algn="just">
                        <a:lnSpc>
                          <a:spcPts val="1200"/>
                        </a:lnSpc>
                        <a:spcAft>
                          <a:spcPts val="0"/>
                        </a:spcAft>
                      </a:pPr>
                      <a:r>
                        <a:rPr lang="zh-CN" sz="1800" dirty="0">
                          <a:effectLst/>
                        </a:rPr>
                        <a:t>分析数据</a:t>
                      </a:r>
                      <a:endParaRPr lang="zh-CN" sz="1800" dirty="0">
                        <a:solidFill>
                          <a:srgbClr val="000000"/>
                        </a:solidFill>
                        <a:effectLst/>
                        <a:latin typeface="Times New Roman" panose="02020603050405020304" pitchFamily="18" charset="0"/>
                        <a:ea typeface="方正书宋_GBK"/>
                      </a:endParaRPr>
                    </a:p>
                  </a:txBody>
                  <a:tcPr marL="68580" marR="68580" marT="0" marB="0" anchor="ctr"/>
                </a:tc>
                <a:extLst>
                  <a:ext uri="{0D108BD9-81ED-4DB2-BD59-A6C34878D82A}">
                    <a16:rowId xmlns:a16="http://schemas.microsoft.com/office/drawing/2014/main" val="15792322"/>
                  </a:ext>
                </a:extLst>
              </a:tr>
            </a:tbl>
          </a:graphicData>
        </a:graphic>
      </p:graphicFrame>
    </p:spTree>
    <p:extLst>
      <p:ext uri="{BB962C8B-B14F-4D97-AF65-F5344CB8AC3E}">
        <p14:creationId xmlns:p14="http://schemas.microsoft.com/office/powerpoint/2010/main" val="3096801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9D1211-E26E-4691-A6E7-7CFA2585A6BA}"/>
              </a:ext>
            </a:extLst>
          </p:cNvPr>
          <p:cNvSpPr>
            <a:spLocks noGrp="1"/>
          </p:cNvSpPr>
          <p:nvPr>
            <p:ph type="title"/>
          </p:nvPr>
        </p:nvSpPr>
        <p:spPr/>
        <p:txBody>
          <a:bodyPr>
            <a:normAutofit fontScale="90000"/>
          </a:bodyPr>
          <a:lstStyle/>
          <a:p>
            <a:r>
              <a:rPr lang="zh-CN" altLang="en-US" dirty="0"/>
              <a:t>数据库与数据仓库</a:t>
            </a:r>
          </a:p>
        </p:txBody>
      </p:sp>
      <p:graphicFrame>
        <p:nvGraphicFramePr>
          <p:cNvPr id="5" name="内容占位符 4">
            <a:extLst>
              <a:ext uri="{FF2B5EF4-FFF2-40B4-BE49-F238E27FC236}">
                <a16:creationId xmlns:a16="http://schemas.microsoft.com/office/drawing/2014/main" id="{2FCAC94C-BA10-4E25-89F6-93F45A59C133}"/>
              </a:ext>
            </a:extLst>
          </p:cNvPr>
          <p:cNvGraphicFramePr>
            <a:graphicFrameLocks noGrp="1"/>
          </p:cNvGraphicFramePr>
          <p:nvPr>
            <p:ph idx="1"/>
            <p:extLst/>
          </p:nvPr>
        </p:nvGraphicFramePr>
        <p:xfrm>
          <a:off x="251520" y="1059582"/>
          <a:ext cx="8568952" cy="3744264"/>
        </p:xfrm>
        <a:graphic>
          <a:graphicData uri="http://schemas.openxmlformats.org/drawingml/2006/table">
            <a:tbl>
              <a:tblPr firstRow="1" firstCol="1" bandRow="1">
                <a:tableStyleId>{5C22544A-7EE6-4342-B048-85BDC9FD1C3A}</a:tableStyleId>
              </a:tblPr>
              <a:tblGrid>
                <a:gridCol w="1152128">
                  <a:extLst>
                    <a:ext uri="{9D8B030D-6E8A-4147-A177-3AD203B41FA5}">
                      <a16:colId xmlns:a16="http://schemas.microsoft.com/office/drawing/2014/main" val="1610581230"/>
                    </a:ext>
                  </a:extLst>
                </a:gridCol>
                <a:gridCol w="3248885">
                  <a:extLst>
                    <a:ext uri="{9D8B030D-6E8A-4147-A177-3AD203B41FA5}">
                      <a16:colId xmlns:a16="http://schemas.microsoft.com/office/drawing/2014/main" val="3189337486"/>
                    </a:ext>
                  </a:extLst>
                </a:gridCol>
                <a:gridCol w="4167939">
                  <a:extLst>
                    <a:ext uri="{9D8B030D-6E8A-4147-A177-3AD203B41FA5}">
                      <a16:colId xmlns:a16="http://schemas.microsoft.com/office/drawing/2014/main" val="3544188704"/>
                    </a:ext>
                  </a:extLst>
                </a:gridCol>
              </a:tblGrid>
              <a:tr h="777163">
                <a:tc>
                  <a:txBody>
                    <a:bodyPr/>
                    <a:lstStyle/>
                    <a:p>
                      <a:pPr marL="0" indent="0" algn="l">
                        <a:lnSpc>
                          <a:spcPts val="1400"/>
                        </a:lnSpc>
                        <a:spcAft>
                          <a:spcPts val="0"/>
                        </a:spcAft>
                      </a:pPr>
                      <a:r>
                        <a:rPr lang="zh-CN" altLang="en-US" sz="1800" b="1" kern="1200" dirty="0">
                          <a:solidFill>
                            <a:schemeClr val="lt1"/>
                          </a:solidFill>
                          <a:effectLst/>
                          <a:latin typeface="+mn-lt"/>
                          <a:ea typeface="+mn-ea"/>
                          <a:cs typeface="+mn-cs"/>
                        </a:rPr>
                        <a:t>对比角度</a:t>
                      </a:r>
                    </a:p>
                  </a:txBody>
                  <a:tcPr marL="0" marR="0" marT="0" marB="0" anchor="ctr"/>
                </a:tc>
                <a:tc>
                  <a:txBody>
                    <a:bodyPr/>
                    <a:lstStyle/>
                    <a:p>
                      <a:pPr indent="266700" algn="l">
                        <a:lnSpc>
                          <a:spcPts val="1400"/>
                        </a:lnSpc>
                        <a:spcAft>
                          <a:spcPts val="0"/>
                        </a:spcAft>
                      </a:pPr>
                      <a:r>
                        <a:rPr lang="zh-CN" sz="1800">
                          <a:effectLst/>
                        </a:rPr>
                        <a:t>数</a:t>
                      </a:r>
                      <a:r>
                        <a:rPr lang="en-US" sz="1800">
                          <a:effectLst/>
                        </a:rPr>
                        <a:t>  </a:t>
                      </a:r>
                      <a:r>
                        <a:rPr lang="zh-CN" sz="1800">
                          <a:effectLst/>
                        </a:rPr>
                        <a:t>据</a:t>
                      </a:r>
                      <a:r>
                        <a:rPr lang="en-US" sz="1800">
                          <a:effectLst/>
                        </a:rPr>
                        <a:t>  </a:t>
                      </a:r>
                      <a:r>
                        <a:rPr lang="zh-CN" sz="1800">
                          <a:effectLst/>
                        </a:rPr>
                        <a:t>库</a:t>
                      </a:r>
                      <a:endParaRPr lang="zh-CN" sz="1800">
                        <a:solidFill>
                          <a:srgbClr val="000000"/>
                        </a:solidFill>
                        <a:effectLst/>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tc>
                <a:tc>
                  <a:txBody>
                    <a:bodyPr/>
                    <a:lstStyle/>
                    <a:p>
                      <a:pPr indent="266700" algn="l">
                        <a:lnSpc>
                          <a:spcPts val="1400"/>
                        </a:lnSpc>
                        <a:spcAft>
                          <a:spcPts val="0"/>
                        </a:spcAft>
                      </a:pPr>
                      <a:r>
                        <a:rPr lang="zh-CN" sz="1800">
                          <a:effectLst/>
                        </a:rPr>
                        <a:t>数 据 仓 库</a:t>
                      </a:r>
                      <a:endParaRPr lang="zh-CN" sz="1800">
                        <a:solidFill>
                          <a:srgbClr val="000000"/>
                        </a:solidFill>
                        <a:effectLst/>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tc>
                <a:extLst>
                  <a:ext uri="{0D108BD9-81ED-4DB2-BD59-A6C34878D82A}">
                    <a16:rowId xmlns:a16="http://schemas.microsoft.com/office/drawing/2014/main" val="3008653772"/>
                  </a:ext>
                </a:extLst>
              </a:tr>
              <a:tr h="694944">
                <a:tc>
                  <a:txBody>
                    <a:bodyPr/>
                    <a:lstStyle/>
                    <a:p>
                      <a:pPr marL="0" indent="0" algn="l">
                        <a:lnSpc>
                          <a:spcPts val="1200"/>
                        </a:lnSpc>
                        <a:spcAft>
                          <a:spcPts val="0"/>
                        </a:spcAft>
                      </a:pPr>
                      <a:r>
                        <a:rPr lang="zh-CN" altLang="en-US" sz="1800" b="1" kern="1200" dirty="0">
                          <a:solidFill>
                            <a:schemeClr val="lt1"/>
                          </a:solidFill>
                          <a:effectLst/>
                          <a:latin typeface="+mn-lt"/>
                          <a:ea typeface="+mn-ea"/>
                          <a:cs typeface="+mn-cs"/>
                        </a:rPr>
                        <a:t>数据类型</a:t>
                      </a:r>
                    </a:p>
                  </a:txBody>
                  <a:tcPr marL="0" marR="0" marT="0" marB="0" anchor="ctr"/>
                </a:tc>
                <a:tc>
                  <a:txBody>
                    <a:bodyPr/>
                    <a:lstStyle/>
                    <a:p>
                      <a:pPr indent="107950" algn="l">
                        <a:lnSpc>
                          <a:spcPct val="100000"/>
                        </a:lnSpc>
                        <a:spcAft>
                          <a:spcPts val="0"/>
                        </a:spcAft>
                      </a:pPr>
                      <a:r>
                        <a:rPr lang="zh-CN" sz="1800" dirty="0">
                          <a:effectLst/>
                        </a:rPr>
                        <a:t>数据库中存储的总是最新的数据记录</a:t>
                      </a:r>
                      <a:r>
                        <a:rPr lang="en-US" sz="1800" dirty="0">
                          <a:effectLst/>
                        </a:rPr>
                        <a:t>.</a:t>
                      </a:r>
                      <a:endParaRPr lang="zh-CN" sz="1800" dirty="0">
                        <a:solidFill>
                          <a:srgbClr val="000000"/>
                        </a:solidFill>
                        <a:effectLst/>
                        <a:latin typeface="Times New Roman" panose="02020603050405020304" pitchFamily="18" charset="0"/>
                        <a:ea typeface="方正书宋_GBK"/>
                      </a:endParaRPr>
                    </a:p>
                  </a:txBody>
                  <a:tcPr marL="0" marR="0" marT="0" marB="0" anchor="ctr"/>
                </a:tc>
                <a:tc>
                  <a:txBody>
                    <a:bodyPr/>
                    <a:lstStyle/>
                    <a:p>
                      <a:pPr indent="107950" algn="l">
                        <a:lnSpc>
                          <a:spcPct val="100000"/>
                        </a:lnSpc>
                        <a:spcAft>
                          <a:spcPts val="0"/>
                        </a:spcAft>
                      </a:pPr>
                      <a:r>
                        <a:rPr lang="zh-CN" sz="1800" dirty="0">
                          <a:effectLst/>
                        </a:rPr>
                        <a:t>当前和历史数据都存储在数据仓库，通常情况下都不是最新数据</a:t>
                      </a:r>
                      <a:endParaRPr lang="zh-CN" sz="1800" dirty="0">
                        <a:solidFill>
                          <a:srgbClr val="000000"/>
                        </a:solidFill>
                        <a:effectLst/>
                        <a:latin typeface="Times New Roman" panose="02020603050405020304" pitchFamily="18" charset="0"/>
                        <a:ea typeface="方正书宋_GBK"/>
                      </a:endParaRPr>
                    </a:p>
                  </a:txBody>
                  <a:tcPr marL="0" marR="0" marT="0" marB="0" anchor="ctr"/>
                </a:tc>
                <a:extLst>
                  <a:ext uri="{0D108BD9-81ED-4DB2-BD59-A6C34878D82A}">
                    <a16:rowId xmlns:a16="http://schemas.microsoft.com/office/drawing/2014/main" val="4049308649"/>
                  </a:ext>
                </a:extLst>
              </a:tr>
              <a:tr h="904157">
                <a:tc>
                  <a:txBody>
                    <a:bodyPr/>
                    <a:lstStyle/>
                    <a:p>
                      <a:pPr marL="0" indent="0" algn="l">
                        <a:lnSpc>
                          <a:spcPts val="1200"/>
                        </a:lnSpc>
                        <a:spcAft>
                          <a:spcPts val="0"/>
                        </a:spcAft>
                      </a:pPr>
                      <a:r>
                        <a:rPr lang="zh-CN" altLang="en-US" sz="1800" b="1" kern="1200" dirty="0">
                          <a:solidFill>
                            <a:schemeClr val="lt1"/>
                          </a:solidFill>
                          <a:effectLst/>
                          <a:latin typeface="+mn-lt"/>
                          <a:ea typeface="+mn-ea"/>
                          <a:cs typeface="+mn-cs"/>
                        </a:rPr>
                        <a:t>数据存储</a:t>
                      </a:r>
                    </a:p>
                  </a:txBody>
                  <a:tcPr marL="0" marR="0" marT="0" marB="0" anchor="ctr"/>
                </a:tc>
                <a:tc>
                  <a:txBody>
                    <a:bodyPr/>
                    <a:lstStyle/>
                    <a:p>
                      <a:pPr indent="107950" algn="l">
                        <a:lnSpc>
                          <a:spcPct val="100000"/>
                        </a:lnSpc>
                        <a:spcAft>
                          <a:spcPts val="0"/>
                        </a:spcAft>
                      </a:pPr>
                      <a:r>
                        <a:rPr lang="zh-CN" sz="1800" dirty="0">
                          <a:effectLst/>
                        </a:rPr>
                        <a:t>利用扁平的关系方法进行数据存储</a:t>
                      </a:r>
                      <a:endParaRPr lang="zh-CN" sz="1800" dirty="0">
                        <a:solidFill>
                          <a:srgbClr val="000000"/>
                        </a:solidFill>
                        <a:effectLst/>
                        <a:latin typeface="Times New Roman" panose="02020603050405020304" pitchFamily="18" charset="0"/>
                        <a:ea typeface="方正书宋_GBK"/>
                      </a:endParaRPr>
                    </a:p>
                  </a:txBody>
                  <a:tcPr marL="0" marR="0" marT="0" marB="0" anchor="ctr"/>
                </a:tc>
                <a:tc>
                  <a:txBody>
                    <a:bodyPr/>
                    <a:lstStyle/>
                    <a:p>
                      <a:pPr indent="107950" algn="l">
                        <a:lnSpc>
                          <a:spcPct val="100000"/>
                        </a:lnSpc>
                        <a:spcAft>
                          <a:spcPts val="0"/>
                        </a:spcAft>
                      </a:pPr>
                      <a:r>
                        <a:rPr lang="zh-CN" sz="1800" dirty="0">
                          <a:effectLst/>
                        </a:rPr>
                        <a:t>利用空间规范化方法作为数据存储结构，例如采用星型、雪花型存储模式</a:t>
                      </a:r>
                      <a:endParaRPr lang="zh-CN" sz="1800" dirty="0">
                        <a:solidFill>
                          <a:srgbClr val="000000"/>
                        </a:solidFill>
                        <a:effectLst/>
                        <a:latin typeface="Times New Roman" panose="02020603050405020304" pitchFamily="18" charset="0"/>
                        <a:ea typeface="方正书宋_GBK"/>
                      </a:endParaRPr>
                    </a:p>
                  </a:txBody>
                  <a:tcPr marL="0" marR="0" marT="0" marB="0" anchor="ctr"/>
                </a:tc>
                <a:extLst>
                  <a:ext uri="{0D108BD9-81ED-4DB2-BD59-A6C34878D82A}">
                    <a16:rowId xmlns:a16="http://schemas.microsoft.com/office/drawing/2014/main" val="3997156225"/>
                  </a:ext>
                </a:extLst>
              </a:tr>
              <a:tr h="684000">
                <a:tc>
                  <a:txBody>
                    <a:bodyPr/>
                    <a:lstStyle/>
                    <a:p>
                      <a:pPr marL="0" indent="0" algn="l">
                        <a:lnSpc>
                          <a:spcPts val="1200"/>
                        </a:lnSpc>
                        <a:spcAft>
                          <a:spcPts val="0"/>
                        </a:spcAft>
                      </a:pPr>
                      <a:r>
                        <a:rPr lang="zh-CN" altLang="en-US" sz="1800" b="1" kern="1200" dirty="0">
                          <a:solidFill>
                            <a:schemeClr val="lt1"/>
                          </a:solidFill>
                          <a:effectLst/>
                          <a:latin typeface="+mn-lt"/>
                          <a:ea typeface="+mn-ea"/>
                          <a:cs typeface="+mn-cs"/>
                        </a:rPr>
                        <a:t>查询类型</a:t>
                      </a:r>
                    </a:p>
                  </a:txBody>
                  <a:tcPr marL="0" marR="0" marT="0" marB="0" anchor="ctr"/>
                </a:tc>
                <a:tc>
                  <a:txBody>
                    <a:bodyPr/>
                    <a:lstStyle/>
                    <a:p>
                      <a:pPr indent="107950" algn="l">
                        <a:lnSpc>
                          <a:spcPct val="100000"/>
                        </a:lnSpc>
                        <a:spcAft>
                          <a:spcPts val="0"/>
                        </a:spcAft>
                      </a:pPr>
                      <a:r>
                        <a:rPr lang="zh-CN" sz="1800" dirty="0">
                          <a:effectLst/>
                        </a:rPr>
                        <a:t>简单的事务查询</a:t>
                      </a:r>
                      <a:endParaRPr lang="zh-CN" sz="1800" dirty="0">
                        <a:solidFill>
                          <a:srgbClr val="000000"/>
                        </a:solidFill>
                        <a:effectLst/>
                        <a:latin typeface="Times New Roman" panose="02020603050405020304" pitchFamily="18" charset="0"/>
                        <a:ea typeface="方正书宋_GBK"/>
                      </a:endParaRPr>
                    </a:p>
                  </a:txBody>
                  <a:tcPr marL="0" marR="0" marT="0" marB="0" anchor="ctr"/>
                </a:tc>
                <a:tc>
                  <a:txBody>
                    <a:bodyPr/>
                    <a:lstStyle/>
                    <a:p>
                      <a:pPr indent="107950" algn="l">
                        <a:lnSpc>
                          <a:spcPct val="100000"/>
                        </a:lnSpc>
                        <a:spcAft>
                          <a:spcPts val="0"/>
                        </a:spcAft>
                      </a:pPr>
                      <a:r>
                        <a:rPr lang="zh-CN" sz="1800" dirty="0">
                          <a:effectLst/>
                        </a:rPr>
                        <a:t>以分析数据为目的的复杂检索</a:t>
                      </a:r>
                      <a:endParaRPr lang="zh-CN" sz="1800" dirty="0">
                        <a:solidFill>
                          <a:srgbClr val="000000"/>
                        </a:solidFill>
                        <a:effectLst/>
                        <a:latin typeface="Times New Roman" panose="02020603050405020304" pitchFamily="18" charset="0"/>
                        <a:ea typeface="方正书宋_GBK"/>
                      </a:endParaRPr>
                    </a:p>
                  </a:txBody>
                  <a:tcPr marL="0" marR="0" marT="0" marB="0" anchor="ctr"/>
                </a:tc>
                <a:extLst>
                  <a:ext uri="{0D108BD9-81ED-4DB2-BD59-A6C34878D82A}">
                    <a16:rowId xmlns:a16="http://schemas.microsoft.com/office/drawing/2014/main" val="4239861425"/>
                  </a:ext>
                </a:extLst>
              </a:tr>
              <a:tr h="684000">
                <a:tc>
                  <a:txBody>
                    <a:bodyPr/>
                    <a:lstStyle/>
                    <a:p>
                      <a:pPr marL="0" indent="0" algn="l">
                        <a:lnSpc>
                          <a:spcPts val="1200"/>
                        </a:lnSpc>
                        <a:spcAft>
                          <a:spcPts val="0"/>
                        </a:spcAft>
                      </a:pPr>
                      <a:r>
                        <a:rPr lang="zh-CN" altLang="en-US" sz="1800" b="1" kern="1200" dirty="0">
                          <a:solidFill>
                            <a:schemeClr val="lt1"/>
                          </a:solidFill>
                          <a:effectLst/>
                          <a:latin typeface="+mn-lt"/>
                          <a:ea typeface="+mn-ea"/>
                          <a:cs typeface="+mn-cs"/>
                        </a:rPr>
                        <a:t>数据汇总</a:t>
                      </a:r>
                    </a:p>
                  </a:txBody>
                  <a:tcPr marL="0" marR="0" marT="0" marB="0" anchor="ctr"/>
                </a:tc>
                <a:tc>
                  <a:txBody>
                    <a:bodyPr/>
                    <a:lstStyle/>
                    <a:p>
                      <a:pPr indent="107950" algn="l">
                        <a:lnSpc>
                          <a:spcPct val="100000"/>
                        </a:lnSpc>
                        <a:spcAft>
                          <a:spcPts val="0"/>
                        </a:spcAft>
                      </a:pPr>
                      <a:r>
                        <a:rPr lang="zh-CN" sz="1800" dirty="0">
                          <a:effectLst/>
                        </a:rPr>
                        <a:t>存储数据的明细</a:t>
                      </a:r>
                      <a:endParaRPr lang="zh-CN" sz="1800" dirty="0">
                        <a:solidFill>
                          <a:srgbClr val="000000"/>
                        </a:solidFill>
                        <a:effectLst/>
                        <a:latin typeface="Times New Roman" panose="02020603050405020304" pitchFamily="18" charset="0"/>
                        <a:ea typeface="方正书宋_GBK"/>
                      </a:endParaRPr>
                    </a:p>
                  </a:txBody>
                  <a:tcPr marL="0" marR="0" marT="0" marB="0" anchor="ctr"/>
                </a:tc>
                <a:tc>
                  <a:txBody>
                    <a:bodyPr/>
                    <a:lstStyle/>
                    <a:p>
                      <a:pPr indent="107950" algn="l">
                        <a:lnSpc>
                          <a:spcPct val="100000"/>
                        </a:lnSpc>
                        <a:spcAft>
                          <a:spcPts val="0"/>
                        </a:spcAft>
                      </a:pPr>
                      <a:r>
                        <a:rPr lang="zh-CN" sz="1800" dirty="0">
                          <a:effectLst/>
                        </a:rPr>
                        <a:t>存储数据汇总信息</a:t>
                      </a:r>
                      <a:endParaRPr lang="zh-CN" sz="1800" dirty="0">
                        <a:solidFill>
                          <a:srgbClr val="000000"/>
                        </a:solidFill>
                        <a:effectLst/>
                        <a:latin typeface="Times New Roman" panose="02020603050405020304" pitchFamily="18" charset="0"/>
                        <a:ea typeface="方正书宋_GBK"/>
                      </a:endParaRPr>
                    </a:p>
                  </a:txBody>
                  <a:tcPr marL="0" marR="0" marT="0" marB="0" anchor="ctr"/>
                </a:tc>
                <a:extLst>
                  <a:ext uri="{0D108BD9-81ED-4DB2-BD59-A6C34878D82A}">
                    <a16:rowId xmlns:a16="http://schemas.microsoft.com/office/drawing/2014/main" val="3464379159"/>
                  </a:ext>
                </a:extLst>
              </a:tr>
            </a:tbl>
          </a:graphicData>
        </a:graphic>
      </p:graphicFrame>
    </p:spTree>
    <p:extLst>
      <p:ext uri="{BB962C8B-B14F-4D97-AF65-F5344CB8AC3E}">
        <p14:creationId xmlns:p14="http://schemas.microsoft.com/office/powerpoint/2010/main" val="1825679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Hive</a:t>
            </a:r>
            <a:r>
              <a:rPr lang="zh-CN" altLang="en-US" dirty="0"/>
              <a:t>体系结构与接口</a:t>
            </a:r>
          </a:p>
        </p:txBody>
      </p:sp>
      <p:sp>
        <p:nvSpPr>
          <p:cNvPr id="4" name="Rectangle 3"/>
          <p:cNvSpPr>
            <a:spLocks noGrp="1" noChangeArrowheads="1"/>
          </p:cNvSpPr>
          <p:nvPr>
            <p:ph idx="1"/>
          </p:nvPr>
        </p:nvSpPr>
        <p:spPr>
          <a:xfrm>
            <a:off x="457200" y="987574"/>
            <a:ext cx="7211144" cy="3852428"/>
          </a:xfrm>
        </p:spPr>
        <p:txBody>
          <a:bodyPr>
            <a:normAutofit/>
          </a:bodyPr>
          <a:lstStyle/>
          <a:p>
            <a:pPr>
              <a:spcBef>
                <a:spcPts val="1200"/>
              </a:spcBef>
            </a:pPr>
            <a:endParaRPr lang="en-US" altLang="zh-CN" dirty="0"/>
          </a:p>
        </p:txBody>
      </p:sp>
      <p:pic>
        <p:nvPicPr>
          <p:cNvPr id="5" name="Picture 2">
            <a:extLst>
              <a:ext uri="{FF2B5EF4-FFF2-40B4-BE49-F238E27FC236}">
                <a16:creationId xmlns:a16="http://schemas.microsoft.com/office/drawing/2014/main" id="{28EC6098-4A0F-4CCF-B93B-1A5E47072721}"/>
              </a:ext>
            </a:extLst>
          </p:cNvPr>
          <p:cNvPicPr/>
          <p:nvPr/>
        </p:nvPicPr>
        <p:blipFill>
          <a:blip r:embed="rId2">
            <a:extLst>
              <a:ext uri="{28A0092B-C50C-407E-A947-70E740481C1C}">
                <a14:useLocalDpi xmlns:a14="http://schemas.microsoft.com/office/drawing/2010/main" val="0"/>
              </a:ext>
            </a:extLst>
          </a:blip>
          <a:srcRect/>
          <a:stretch>
            <a:fillRect/>
          </a:stretch>
        </p:blipFill>
        <p:spPr>
          <a:xfrm>
            <a:off x="611560" y="895281"/>
            <a:ext cx="7787208" cy="4212468"/>
          </a:xfrm>
          <a:prstGeom prst="rect">
            <a:avLst/>
          </a:prstGeom>
          <a:noFill/>
          <a:ln>
            <a:noFill/>
          </a:ln>
        </p:spPr>
      </p:pic>
    </p:spTree>
    <p:extLst>
      <p:ext uri="{BB962C8B-B14F-4D97-AF65-F5344CB8AC3E}">
        <p14:creationId xmlns:p14="http://schemas.microsoft.com/office/powerpoint/2010/main" val="700156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D7542C-D60D-462D-B567-4BC69EE4C9F6}"/>
              </a:ext>
            </a:extLst>
          </p:cNvPr>
          <p:cNvSpPr>
            <a:spLocks noGrp="1"/>
          </p:cNvSpPr>
          <p:nvPr>
            <p:ph type="title"/>
          </p:nvPr>
        </p:nvSpPr>
        <p:spPr/>
        <p:txBody>
          <a:bodyPr>
            <a:normAutofit fontScale="90000"/>
          </a:bodyPr>
          <a:lstStyle/>
          <a:p>
            <a:r>
              <a:rPr lang="en-US" altLang="zh-CN"/>
              <a:t>Hive</a:t>
            </a:r>
            <a:r>
              <a:rPr lang="zh-CN" altLang="en-US"/>
              <a:t>体系结构与接口</a:t>
            </a:r>
          </a:p>
        </p:txBody>
      </p:sp>
      <p:sp>
        <p:nvSpPr>
          <p:cNvPr id="3" name="内容占位符 2">
            <a:extLst>
              <a:ext uri="{FF2B5EF4-FFF2-40B4-BE49-F238E27FC236}">
                <a16:creationId xmlns:a16="http://schemas.microsoft.com/office/drawing/2014/main" id="{829B3AB2-AAEB-4A2C-9338-FACEA46E4E86}"/>
              </a:ext>
            </a:extLst>
          </p:cNvPr>
          <p:cNvSpPr>
            <a:spLocks noGrp="1"/>
          </p:cNvSpPr>
          <p:nvPr>
            <p:ph idx="1"/>
          </p:nvPr>
        </p:nvSpPr>
        <p:spPr/>
        <p:txBody>
          <a:bodyPr/>
          <a:lstStyle/>
          <a:p>
            <a:endParaRPr lang="zh-CN" altLang="en-US"/>
          </a:p>
        </p:txBody>
      </p:sp>
      <p:pic>
        <p:nvPicPr>
          <p:cNvPr id="1026" name="Picture 2" descr="9.png">
            <a:extLst>
              <a:ext uri="{FF2B5EF4-FFF2-40B4-BE49-F238E27FC236}">
                <a16:creationId xmlns:a16="http://schemas.microsoft.com/office/drawing/2014/main" id="{C4D6F171-AB0D-4EFF-A581-A129C754A4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915566"/>
            <a:ext cx="6408712" cy="4315322"/>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2CF878B0-E5B5-4414-818A-E4ADE43486C8}"/>
              </a:ext>
            </a:extLst>
          </p:cNvPr>
          <p:cNvSpPr/>
          <p:nvPr/>
        </p:nvSpPr>
        <p:spPr>
          <a:xfrm>
            <a:off x="707258" y="2067694"/>
            <a:ext cx="989856" cy="2308324"/>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CN" altLang="en-US" sz="1600">
                <a:solidFill>
                  <a:srgbClr val="262626"/>
                </a:solidFill>
              </a:rPr>
              <a:t>元数据存储：</a:t>
            </a:r>
            <a:r>
              <a:rPr lang="en-US" altLang="zh-CN" sz="1600">
                <a:solidFill>
                  <a:srgbClr val="262626"/>
                </a:solidFill>
              </a:rPr>
              <a:t>Hive </a:t>
            </a:r>
            <a:r>
              <a:rPr lang="zh-CN" altLang="en-US" sz="1600">
                <a:solidFill>
                  <a:srgbClr val="262626"/>
                </a:solidFill>
              </a:rPr>
              <a:t>将元数据存储在数据库中</a:t>
            </a:r>
            <a:r>
              <a:rPr lang="en-US" altLang="zh-CN" sz="1600">
                <a:solidFill>
                  <a:srgbClr val="262626"/>
                </a:solidFill>
              </a:rPr>
              <a:t>(MySql</a:t>
            </a:r>
            <a:r>
              <a:rPr lang="zh-CN" altLang="en-US" sz="1600">
                <a:solidFill>
                  <a:srgbClr val="262626"/>
                </a:solidFill>
              </a:rPr>
              <a:t>或者</a:t>
            </a:r>
            <a:r>
              <a:rPr lang="en-US" altLang="zh-CN" sz="1600">
                <a:solidFill>
                  <a:srgbClr val="262626"/>
                </a:solidFill>
              </a:rPr>
              <a:t>Derby)</a:t>
            </a:r>
            <a:endParaRPr lang="zh-CN" altLang="en-US" sz="1600"/>
          </a:p>
        </p:txBody>
      </p:sp>
    </p:spTree>
    <p:extLst>
      <p:ext uri="{BB962C8B-B14F-4D97-AF65-F5344CB8AC3E}">
        <p14:creationId xmlns:p14="http://schemas.microsoft.com/office/powerpoint/2010/main" val="3227046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t>Hive</a:t>
            </a:r>
            <a:r>
              <a:rPr lang="zh-CN" altLang="en-US"/>
              <a:t>体系结构</a:t>
            </a:r>
            <a:endParaRPr lang="zh-CN" altLang="en-US" dirty="0"/>
          </a:p>
        </p:txBody>
      </p:sp>
      <p:sp>
        <p:nvSpPr>
          <p:cNvPr id="6" name="内容占位符 5">
            <a:extLst>
              <a:ext uri="{FF2B5EF4-FFF2-40B4-BE49-F238E27FC236}">
                <a16:creationId xmlns:a16="http://schemas.microsoft.com/office/drawing/2014/main" id="{791432AB-785E-4C26-AF1B-10F24E5EC47B}"/>
              </a:ext>
            </a:extLst>
          </p:cNvPr>
          <p:cNvSpPr>
            <a:spLocks noGrp="1"/>
          </p:cNvSpPr>
          <p:nvPr>
            <p:ph idx="1"/>
          </p:nvPr>
        </p:nvSpPr>
        <p:spPr>
          <a:xfrm>
            <a:off x="457200" y="1203598"/>
            <a:ext cx="8229600" cy="3394472"/>
          </a:xfrm>
        </p:spPr>
        <p:txBody>
          <a:bodyPr>
            <a:normAutofit/>
          </a:bodyPr>
          <a:lstStyle/>
          <a:p>
            <a:r>
              <a:rPr lang="en-US" altLang="zh-CN" sz="2800" b="1"/>
              <a:t>Client</a:t>
            </a:r>
            <a:r>
              <a:rPr lang="zh-CN" altLang="en-US" sz="2800" b="1"/>
              <a:t>：</a:t>
            </a:r>
            <a:r>
              <a:rPr lang="zh-CN" altLang="en-US" sz="2800"/>
              <a:t>用户接口组件主要包含 </a:t>
            </a:r>
            <a:r>
              <a:rPr lang="en-US" altLang="zh-CN" sz="2800"/>
              <a:t>CLI</a:t>
            </a:r>
            <a:r>
              <a:rPr lang="zh-CN" altLang="en-US" sz="2800"/>
              <a:t>（命令行接口）、</a:t>
            </a:r>
            <a:r>
              <a:rPr lang="en-US" altLang="zh-CN" sz="2800"/>
              <a:t>JDBC </a:t>
            </a:r>
            <a:r>
              <a:rPr lang="zh-CN" altLang="en-US" sz="2800"/>
              <a:t>或 </a:t>
            </a:r>
            <a:r>
              <a:rPr lang="en-US" altLang="zh-CN" sz="2800"/>
              <a:t>ODBC</a:t>
            </a:r>
            <a:r>
              <a:rPr lang="zh-CN" altLang="en-US" sz="2800"/>
              <a:t>、</a:t>
            </a:r>
            <a:r>
              <a:rPr lang="en-US" altLang="zh-CN" sz="2800"/>
              <a:t>WEB GUI</a:t>
            </a:r>
            <a:r>
              <a:rPr lang="zh-CN" altLang="en-US" sz="2800"/>
              <a:t>（以浏览器访问 </a:t>
            </a:r>
            <a:r>
              <a:rPr lang="en-US" altLang="zh-CN" sz="2800"/>
              <a:t>Hive</a:t>
            </a:r>
            <a:r>
              <a:rPr lang="zh-CN" altLang="en-US" sz="2800"/>
              <a:t>）；</a:t>
            </a:r>
            <a:endParaRPr lang="en-US" altLang="zh-CN" sz="2800"/>
          </a:p>
          <a:p>
            <a:endParaRPr lang="en-US" altLang="zh-CN" sz="2800"/>
          </a:p>
          <a:p>
            <a:r>
              <a:rPr lang="en-US" altLang="zh-CN" sz="2800"/>
              <a:t>Thrift Server</a:t>
            </a:r>
            <a:r>
              <a:rPr lang="zh-CN" altLang="en-US" sz="2800"/>
              <a:t>：</a:t>
            </a:r>
            <a:r>
              <a:rPr lang="en-US" altLang="zh-CN" sz="2800"/>
              <a:t>Thrift </a:t>
            </a:r>
            <a:r>
              <a:rPr lang="zh-CN" altLang="en-US" sz="2800"/>
              <a:t>是 </a:t>
            </a:r>
            <a:r>
              <a:rPr lang="en-US" altLang="zh-CN" sz="2800"/>
              <a:t>FaceBook </a:t>
            </a:r>
            <a:r>
              <a:rPr lang="zh-CN" altLang="en-US" sz="2800"/>
              <a:t>开发的一个软件框架，它用来进行可扩展且跨语言的服务的开发， 通过该服务使不同编程语言调用 </a:t>
            </a:r>
            <a:r>
              <a:rPr lang="en-US" altLang="zh-CN" sz="2800"/>
              <a:t>Hive </a:t>
            </a:r>
            <a:r>
              <a:rPr lang="zh-CN" altLang="en-US" sz="2800"/>
              <a:t>的接口；</a:t>
            </a:r>
            <a:endParaRPr lang="en-US" altLang="zh-CN" sz="2400"/>
          </a:p>
        </p:txBody>
      </p:sp>
    </p:spTree>
    <p:extLst>
      <p:ext uri="{BB962C8B-B14F-4D97-AF65-F5344CB8AC3E}">
        <p14:creationId xmlns:p14="http://schemas.microsoft.com/office/powerpoint/2010/main" val="1858653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Hive</a:t>
            </a:r>
            <a:r>
              <a:rPr lang="zh-CN" altLang="en-US" dirty="0"/>
              <a:t>简介</a:t>
            </a:r>
          </a:p>
        </p:txBody>
      </p:sp>
      <p:sp>
        <p:nvSpPr>
          <p:cNvPr id="6" name="内容占位符 5">
            <a:extLst>
              <a:ext uri="{FF2B5EF4-FFF2-40B4-BE49-F238E27FC236}">
                <a16:creationId xmlns:a16="http://schemas.microsoft.com/office/drawing/2014/main" id="{791432AB-785E-4C26-AF1B-10F24E5EC47B}"/>
              </a:ext>
            </a:extLst>
          </p:cNvPr>
          <p:cNvSpPr>
            <a:spLocks noGrp="1"/>
          </p:cNvSpPr>
          <p:nvPr>
            <p:ph idx="1"/>
          </p:nvPr>
        </p:nvSpPr>
        <p:spPr>
          <a:xfrm>
            <a:off x="395536" y="1131590"/>
            <a:ext cx="8229600" cy="3394472"/>
          </a:xfrm>
        </p:spPr>
        <p:txBody>
          <a:bodyPr>
            <a:normAutofit/>
          </a:bodyPr>
          <a:lstStyle/>
          <a:p>
            <a:r>
              <a:rPr lang="en-US" altLang="zh-CN" sz="2800" b="1"/>
              <a:t>Driver</a:t>
            </a:r>
            <a:r>
              <a:rPr lang="zh-CN" altLang="en-US" sz="2800" b="1"/>
              <a:t>（执行引擎）：</a:t>
            </a:r>
            <a:r>
              <a:rPr lang="zh-CN" altLang="en-US" sz="2800"/>
              <a:t>包括 </a:t>
            </a:r>
            <a:r>
              <a:rPr lang="en-US" altLang="zh-CN" sz="2800"/>
              <a:t>Complier </a:t>
            </a:r>
            <a:r>
              <a:rPr lang="zh-CN" altLang="en-US" sz="2800"/>
              <a:t>、</a:t>
            </a:r>
            <a:r>
              <a:rPr lang="en-US" altLang="zh-CN" sz="2800"/>
              <a:t>Optimizer </a:t>
            </a:r>
            <a:r>
              <a:rPr lang="zh-CN" altLang="en-US" sz="2800"/>
              <a:t>和 </a:t>
            </a:r>
            <a:r>
              <a:rPr lang="en-US" altLang="zh-CN" sz="2800"/>
              <a:t>Executor</a:t>
            </a:r>
            <a:r>
              <a:rPr lang="zh-CN" altLang="en-US" sz="2800"/>
              <a:t>，它们的作用是将 </a:t>
            </a:r>
            <a:r>
              <a:rPr lang="en-US" altLang="zh-CN" sz="2800"/>
              <a:t>Hive-QL </a:t>
            </a:r>
            <a:r>
              <a:rPr lang="zh-CN" altLang="en-US" sz="2800"/>
              <a:t>语句进行语法分析、语法解析、语法优化，生成执行计划，然后提交给 </a:t>
            </a:r>
            <a:r>
              <a:rPr lang="en-US" altLang="zh-CN" sz="2800"/>
              <a:t>Hadoop MapReduce </a:t>
            </a:r>
            <a:r>
              <a:rPr lang="zh-CN" altLang="en-US" sz="2800"/>
              <a:t>计算框架处理；</a:t>
            </a:r>
            <a:endParaRPr lang="en-US" altLang="zh-CN" sz="2800"/>
          </a:p>
          <a:p>
            <a:endParaRPr lang="en-US" altLang="zh-CN" sz="2400"/>
          </a:p>
          <a:p>
            <a:r>
              <a:rPr lang="en-US" altLang="zh-CN" sz="2800"/>
              <a:t>Metastore</a:t>
            </a:r>
            <a:r>
              <a:rPr lang="zh-CN" altLang="en-US" sz="2800"/>
              <a:t>服务：元数据服务组件，提供</a:t>
            </a:r>
            <a:r>
              <a:rPr lang="en-US" altLang="zh-CN" sz="2800" dirty="0"/>
              <a:t>HDFS</a:t>
            </a:r>
            <a:r>
              <a:rPr lang="zh-CN" altLang="en-US" sz="2800" dirty="0"/>
              <a:t>中存储的数据与对应表结构</a:t>
            </a:r>
            <a:r>
              <a:rPr lang="zh-CN" altLang="en-US" sz="2800"/>
              <a:t>的关系。</a:t>
            </a:r>
            <a:endParaRPr lang="en-US" altLang="zh-CN" sz="2800" dirty="0"/>
          </a:p>
        </p:txBody>
      </p:sp>
    </p:spTree>
    <p:extLst>
      <p:ext uri="{BB962C8B-B14F-4D97-AF65-F5344CB8AC3E}">
        <p14:creationId xmlns:p14="http://schemas.microsoft.com/office/powerpoint/2010/main" val="765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t>Hive</a:t>
            </a:r>
            <a:r>
              <a:rPr lang="zh-CN" altLang="en-US"/>
              <a:t>体系结构</a:t>
            </a:r>
            <a:endParaRPr lang="zh-CN" altLang="en-US" dirty="0"/>
          </a:p>
        </p:txBody>
      </p:sp>
      <p:sp>
        <p:nvSpPr>
          <p:cNvPr id="4" name="Rectangle 3"/>
          <p:cNvSpPr>
            <a:spLocks noGrp="1" noChangeArrowheads="1"/>
          </p:cNvSpPr>
          <p:nvPr>
            <p:ph idx="1"/>
          </p:nvPr>
        </p:nvSpPr>
        <p:spPr>
          <a:xfrm>
            <a:off x="457200" y="987574"/>
            <a:ext cx="8075240" cy="3852428"/>
          </a:xfrm>
        </p:spPr>
        <p:txBody>
          <a:bodyPr>
            <a:normAutofit/>
          </a:bodyPr>
          <a:lstStyle/>
          <a:p>
            <a:pPr>
              <a:spcBef>
                <a:spcPts val="1200"/>
              </a:spcBef>
            </a:pPr>
            <a:r>
              <a:rPr lang="en-US" altLang="zh-CN" sz="2800" dirty="0"/>
              <a:t>Hive</a:t>
            </a:r>
            <a:r>
              <a:rPr lang="zh-CN" altLang="en-US" sz="2800" dirty="0"/>
              <a:t>本身主要存储数据仓库的元数据，其数据可以分布存储在</a:t>
            </a:r>
            <a:r>
              <a:rPr lang="en-US" altLang="zh-CN" sz="2800" dirty="0"/>
              <a:t>Hadoop</a:t>
            </a:r>
            <a:r>
              <a:rPr lang="zh-CN" altLang="en-US" sz="2800" dirty="0"/>
              <a:t>系统的各个节点中，这种模式大大减轻了中心服务器的压力，从而也为大数据处理和数据仓库数据的快速分析提供了保障。</a:t>
            </a:r>
            <a:endParaRPr lang="en-US" altLang="zh-CN" sz="2800" dirty="0"/>
          </a:p>
          <a:p>
            <a:pPr>
              <a:spcBef>
                <a:spcPts val="1200"/>
              </a:spcBef>
            </a:pPr>
            <a:r>
              <a:rPr lang="zh-CN" altLang="en-US" sz="2800" dirty="0"/>
              <a:t>由其体系结构可以看出，</a:t>
            </a:r>
            <a:r>
              <a:rPr lang="en-US" altLang="zh-CN" sz="2800" dirty="0"/>
              <a:t>Hive</a:t>
            </a:r>
            <a:r>
              <a:rPr lang="zh-CN" altLang="en-US" sz="2800" dirty="0"/>
              <a:t>提供了多种数据访问方式，可以通过命令行方式直接访问，也可以通过</a:t>
            </a:r>
            <a:r>
              <a:rPr lang="en-US" altLang="zh-CN" sz="2800" dirty="0"/>
              <a:t>Thrift</a:t>
            </a:r>
            <a:r>
              <a:rPr lang="zh-CN" altLang="en-US" sz="2800" dirty="0"/>
              <a:t>客户端</a:t>
            </a:r>
            <a:r>
              <a:rPr lang="en-US" altLang="zh-CN" sz="2800" dirty="0"/>
              <a:t>/</a:t>
            </a:r>
            <a:r>
              <a:rPr lang="zh-CN" altLang="en-US" sz="2800" dirty="0"/>
              <a:t>服务器的模式进行数据的存取和访问。</a:t>
            </a:r>
            <a:endParaRPr lang="en-US" altLang="zh-CN" sz="2800" dirty="0"/>
          </a:p>
        </p:txBody>
      </p:sp>
    </p:spTree>
    <p:extLst>
      <p:ext uri="{BB962C8B-B14F-4D97-AF65-F5344CB8AC3E}">
        <p14:creationId xmlns:p14="http://schemas.microsoft.com/office/powerpoint/2010/main" val="433047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C9A3DD-9B9A-488D-8766-7168BEF50ADF}"/>
              </a:ext>
            </a:extLst>
          </p:cNvPr>
          <p:cNvSpPr>
            <a:spLocks noGrp="1"/>
          </p:cNvSpPr>
          <p:nvPr>
            <p:ph type="title"/>
          </p:nvPr>
        </p:nvSpPr>
        <p:spPr/>
        <p:txBody>
          <a:bodyPr>
            <a:normAutofit fontScale="90000"/>
          </a:bodyPr>
          <a:lstStyle/>
          <a:p>
            <a:r>
              <a:rPr lang="en-US" altLang="zh-CN"/>
              <a:t>SQL——MapReduce</a:t>
            </a:r>
            <a:endParaRPr lang="zh-CN" altLang="en-US"/>
          </a:p>
        </p:txBody>
      </p:sp>
      <p:sp>
        <p:nvSpPr>
          <p:cNvPr id="3" name="内容占位符 2">
            <a:extLst>
              <a:ext uri="{FF2B5EF4-FFF2-40B4-BE49-F238E27FC236}">
                <a16:creationId xmlns:a16="http://schemas.microsoft.com/office/drawing/2014/main" id="{59B6AF78-1072-4119-BCC3-81FBDA03126B}"/>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60F9619A-6A30-4B8B-A63E-9EB0020C06FF}"/>
              </a:ext>
            </a:extLst>
          </p:cNvPr>
          <p:cNvPicPr>
            <a:picLocks noChangeAspect="1"/>
          </p:cNvPicPr>
          <p:nvPr/>
        </p:nvPicPr>
        <p:blipFill>
          <a:blip r:embed="rId2"/>
          <a:stretch>
            <a:fillRect/>
          </a:stretch>
        </p:blipFill>
        <p:spPr>
          <a:xfrm>
            <a:off x="576064" y="1131590"/>
            <a:ext cx="7236296" cy="3394951"/>
          </a:xfrm>
          <a:prstGeom prst="rect">
            <a:avLst/>
          </a:prstGeom>
        </p:spPr>
      </p:pic>
    </p:spTree>
    <p:extLst>
      <p:ext uri="{BB962C8B-B14F-4D97-AF65-F5344CB8AC3E}">
        <p14:creationId xmlns:p14="http://schemas.microsoft.com/office/powerpoint/2010/main" val="1761031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t>Hive</a:t>
            </a:r>
            <a:r>
              <a:rPr lang="zh-CN" altLang="en-US"/>
              <a:t>特征</a:t>
            </a:r>
            <a:endParaRPr lang="zh-CN" altLang="en-US" dirty="0"/>
          </a:p>
        </p:txBody>
      </p:sp>
      <p:sp>
        <p:nvSpPr>
          <p:cNvPr id="6" name="内容占位符 5">
            <a:extLst>
              <a:ext uri="{FF2B5EF4-FFF2-40B4-BE49-F238E27FC236}">
                <a16:creationId xmlns:a16="http://schemas.microsoft.com/office/drawing/2014/main" id="{791432AB-785E-4C26-AF1B-10F24E5EC47B}"/>
              </a:ext>
            </a:extLst>
          </p:cNvPr>
          <p:cNvSpPr>
            <a:spLocks noGrp="1"/>
          </p:cNvSpPr>
          <p:nvPr>
            <p:ph idx="1"/>
          </p:nvPr>
        </p:nvSpPr>
        <p:spPr>
          <a:xfrm>
            <a:off x="457200" y="1200151"/>
            <a:ext cx="8219256" cy="3603848"/>
          </a:xfrm>
        </p:spPr>
        <p:txBody>
          <a:bodyPr>
            <a:normAutofit/>
          </a:bodyPr>
          <a:lstStyle/>
          <a:p>
            <a:r>
              <a:rPr lang="en-US" altLang="zh-CN"/>
              <a:t>Hive</a:t>
            </a:r>
            <a:r>
              <a:rPr lang="zh-CN" altLang="en-US"/>
              <a:t>的数据存储在</a:t>
            </a:r>
            <a:r>
              <a:rPr lang="en-US" altLang="zh-CN"/>
              <a:t>HDFS</a:t>
            </a:r>
            <a:r>
              <a:rPr lang="zh-CN" altLang="en-US"/>
              <a:t>上；</a:t>
            </a:r>
            <a:endParaRPr lang="en-US" altLang="zh-CN"/>
          </a:p>
          <a:p>
            <a:r>
              <a:rPr lang="en-US" altLang="zh-CN"/>
              <a:t>Hive</a:t>
            </a:r>
            <a:r>
              <a:rPr lang="zh-CN" altLang="en-US"/>
              <a:t>数据分析的底层实现是</a:t>
            </a:r>
            <a:r>
              <a:rPr lang="en-US" altLang="zh-CN"/>
              <a:t>MapReduce</a:t>
            </a:r>
            <a:r>
              <a:rPr lang="zh-CN" altLang="en-US"/>
              <a:t>；</a:t>
            </a:r>
            <a:endParaRPr lang="en-US" altLang="zh-CN"/>
          </a:p>
          <a:p>
            <a:r>
              <a:rPr lang="en-US" altLang="zh-CN"/>
              <a:t>Hive</a:t>
            </a:r>
            <a:r>
              <a:rPr lang="zh-CN" altLang="en-US"/>
              <a:t>的执行程序运行在</a:t>
            </a:r>
            <a:r>
              <a:rPr lang="en-US" altLang="zh-CN"/>
              <a:t>Yarn</a:t>
            </a:r>
            <a:r>
              <a:rPr lang="zh-CN" altLang="en-US"/>
              <a:t>上；</a:t>
            </a:r>
          </a:p>
          <a:p>
            <a:endParaRPr lang="zh-CN" altLang="en-US"/>
          </a:p>
          <a:p>
            <a:endParaRPr lang="zh-CN" altLang="en-US" dirty="0"/>
          </a:p>
        </p:txBody>
      </p:sp>
    </p:spTree>
    <p:extLst>
      <p:ext uri="{BB962C8B-B14F-4D97-AF65-F5344CB8AC3E}">
        <p14:creationId xmlns:p14="http://schemas.microsoft.com/office/powerpoint/2010/main" val="90791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23987" y="1732402"/>
            <a:ext cx="4441513" cy="646331"/>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Hive</a:t>
            </a:r>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的存储模型</a:t>
            </a: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02</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38161813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DC8B99-6F7B-4F94-A99C-3963080E1413}"/>
              </a:ext>
            </a:extLst>
          </p:cNvPr>
          <p:cNvSpPr>
            <a:spLocks noGrp="1"/>
          </p:cNvSpPr>
          <p:nvPr>
            <p:ph type="title"/>
          </p:nvPr>
        </p:nvSpPr>
        <p:spPr/>
        <p:txBody>
          <a:bodyPr>
            <a:normAutofit fontScale="90000"/>
          </a:bodyPr>
          <a:lstStyle/>
          <a:p>
            <a:r>
              <a:rPr lang="en-US" altLang="zh-CN" dirty="0"/>
              <a:t>Hive</a:t>
            </a:r>
            <a:r>
              <a:rPr lang="zh-CN" altLang="en-US" dirty="0"/>
              <a:t>存储模型</a:t>
            </a:r>
          </a:p>
        </p:txBody>
      </p:sp>
      <p:sp>
        <p:nvSpPr>
          <p:cNvPr id="3" name="内容占位符 2">
            <a:extLst>
              <a:ext uri="{FF2B5EF4-FFF2-40B4-BE49-F238E27FC236}">
                <a16:creationId xmlns:a16="http://schemas.microsoft.com/office/drawing/2014/main" id="{1C296FA4-C80A-46DD-8B69-C3E9CA224560}"/>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AB52D000-6205-4114-9393-002258F9B70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27584" y="1275606"/>
            <a:ext cx="6773924" cy="3130747"/>
          </a:xfrm>
          <a:prstGeom prst="rect">
            <a:avLst/>
          </a:prstGeom>
          <a:noFill/>
          <a:ln>
            <a:noFill/>
          </a:ln>
        </p:spPr>
      </p:pic>
    </p:spTree>
    <p:extLst>
      <p:ext uri="{BB962C8B-B14F-4D97-AF65-F5344CB8AC3E}">
        <p14:creationId xmlns:p14="http://schemas.microsoft.com/office/powerpoint/2010/main" val="2628338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FA587C-E189-4DF6-B986-A61E0B435D9E}"/>
              </a:ext>
            </a:extLst>
          </p:cNvPr>
          <p:cNvSpPr>
            <a:spLocks noGrp="1"/>
          </p:cNvSpPr>
          <p:nvPr>
            <p:ph type="title"/>
          </p:nvPr>
        </p:nvSpPr>
        <p:spPr/>
        <p:txBody>
          <a:bodyPr>
            <a:normAutofit fontScale="90000"/>
          </a:bodyPr>
          <a:lstStyle/>
          <a:p>
            <a:r>
              <a:rPr lang="en-US" altLang="zh-CN" dirty="0"/>
              <a:t>Hive</a:t>
            </a:r>
            <a:r>
              <a:rPr lang="zh-CN" altLang="en-US" dirty="0"/>
              <a:t>存储模型</a:t>
            </a:r>
          </a:p>
        </p:txBody>
      </p:sp>
      <p:sp>
        <p:nvSpPr>
          <p:cNvPr id="3" name="内容占位符 2">
            <a:extLst>
              <a:ext uri="{FF2B5EF4-FFF2-40B4-BE49-F238E27FC236}">
                <a16:creationId xmlns:a16="http://schemas.microsoft.com/office/drawing/2014/main" id="{772AD705-E66F-4C05-BD90-447D422264F3}"/>
              </a:ext>
            </a:extLst>
          </p:cNvPr>
          <p:cNvSpPr>
            <a:spLocks noGrp="1"/>
          </p:cNvSpPr>
          <p:nvPr>
            <p:ph idx="1"/>
          </p:nvPr>
        </p:nvSpPr>
        <p:spPr/>
        <p:txBody>
          <a:bodyPr>
            <a:normAutofit/>
          </a:bodyPr>
          <a:lstStyle/>
          <a:p>
            <a:r>
              <a:rPr lang="zh-CN" altLang="en-US"/>
              <a:t>数据库（</a:t>
            </a:r>
            <a:r>
              <a:rPr lang="en-US" altLang="zh-CN"/>
              <a:t>Database</a:t>
            </a:r>
            <a:r>
              <a:rPr lang="zh-CN" altLang="en-US"/>
              <a:t>）</a:t>
            </a:r>
            <a:endParaRPr lang="en-US" altLang="zh-CN"/>
          </a:p>
          <a:p>
            <a:r>
              <a:rPr lang="zh-CN" altLang="en-US"/>
              <a:t>表（</a:t>
            </a:r>
            <a:r>
              <a:rPr lang="en-US" altLang="zh-CN"/>
              <a:t>Table</a:t>
            </a:r>
            <a:r>
              <a:rPr lang="zh-CN" altLang="en-US"/>
              <a:t>）</a:t>
            </a:r>
            <a:endParaRPr lang="en-US" altLang="zh-CN"/>
          </a:p>
          <a:p>
            <a:r>
              <a:rPr lang="zh-CN" altLang="en-US"/>
              <a:t>分区（</a:t>
            </a:r>
            <a:r>
              <a:rPr lang="en-US" altLang="zh-CN"/>
              <a:t>Partition</a:t>
            </a:r>
            <a:r>
              <a:rPr lang="zh-CN" altLang="en-US"/>
              <a:t>）</a:t>
            </a:r>
            <a:endParaRPr lang="en-US" altLang="zh-CN"/>
          </a:p>
          <a:p>
            <a:r>
              <a:rPr lang="zh-CN" altLang="en-US"/>
              <a:t>桶（</a:t>
            </a:r>
            <a:r>
              <a:rPr lang="en-US" altLang="zh-CN"/>
              <a:t>Bucket</a:t>
            </a:r>
            <a:r>
              <a:rPr lang="zh-CN" altLang="en-US"/>
              <a:t>）</a:t>
            </a:r>
          </a:p>
        </p:txBody>
      </p:sp>
    </p:spTree>
    <p:extLst>
      <p:ext uri="{BB962C8B-B14F-4D97-AF65-F5344CB8AC3E}">
        <p14:creationId xmlns:p14="http://schemas.microsoft.com/office/powerpoint/2010/main" val="41002221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FA587C-E189-4DF6-B986-A61E0B435D9E}"/>
              </a:ext>
            </a:extLst>
          </p:cNvPr>
          <p:cNvSpPr>
            <a:spLocks noGrp="1"/>
          </p:cNvSpPr>
          <p:nvPr>
            <p:ph type="title"/>
          </p:nvPr>
        </p:nvSpPr>
        <p:spPr/>
        <p:txBody>
          <a:bodyPr>
            <a:normAutofit fontScale="90000"/>
          </a:bodyPr>
          <a:lstStyle/>
          <a:p>
            <a:r>
              <a:rPr lang="zh-CN" altLang="en-US" dirty="0"/>
              <a:t>数据库（</a:t>
            </a:r>
            <a:r>
              <a:rPr lang="en-US" altLang="zh-CN" dirty="0"/>
              <a:t>database</a:t>
            </a:r>
            <a:r>
              <a:rPr lang="zh-CN" altLang="en-US" dirty="0"/>
              <a:t>）</a:t>
            </a:r>
          </a:p>
        </p:txBody>
      </p:sp>
      <p:sp>
        <p:nvSpPr>
          <p:cNvPr id="3" name="内容占位符 2">
            <a:extLst>
              <a:ext uri="{FF2B5EF4-FFF2-40B4-BE49-F238E27FC236}">
                <a16:creationId xmlns:a16="http://schemas.microsoft.com/office/drawing/2014/main" id="{772AD705-E66F-4C05-BD90-447D422264F3}"/>
              </a:ext>
            </a:extLst>
          </p:cNvPr>
          <p:cNvSpPr>
            <a:spLocks noGrp="1"/>
          </p:cNvSpPr>
          <p:nvPr>
            <p:ph idx="1"/>
          </p:nvPr>
        </p:nvSpPr>
        <p:spPr/>
        <p:txBody>
          <a:bodyPr/>
          <a:lstStyle/>
          <a:p>
            <a:r>
              <a:rPr lang="zh-CN" altLang="en-US" dirty="0"/>
              <a:t>数据库起到命名空间的作用，主要用于避免表、视图、分区、列等基本元素的命名冲突。同时，数据库在概念上对基本元素进行隔离，所以还可为用户或用户组实施安全性定义提供支持。</a:t>
            </a:r>
          </a:p>
        </p:txBody>
      </p:sp>
    </p:spTree>
    <p:extLst>
      <p:ext uri="{BB962C8B-B14F-4D97-AF65-F5344CB8AC3E}">
        <p14:creationId xmlns:p14="http://schemas.microsoft.com/office/powerpoint/2010/main" val="5610273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FA587C-E189-4DF6-B986-A61E0B435D9E}"/>
              </a:ext>
            </a:extLst>
          </p:cNvPr>
          <p:cNvSpPr>
            <a:spLocks noGrp="1"/>
          </p:cNvSpPr>
          <p:nvPr>
            <p:ph type="title"/>
          </p:nvPr>
        </p:nvSpPr>
        <p:spPr/>
        <p:txBody>
          <a:bodyPr>
            <a:normAutofit fontScale="90000"/>
          </a:bodyPr>
          <a:lstStyle/>
          <a:p>
            <a:r>
              <a:rPr lang="zh-CN" altLang="en-US" dirty="0"/>
              <a:t>表（</a:t>
            </a:r>
            <a:r>
              <a:rPr lang="en-US" altLang="zh-CN" dirty="0"/>
              <a:t>Table</a:t>
            </a:r>
            <a:r>
              <a:rPr lang="zh-CN" altLang="en-US" dirty="0"/>
              <a:t>）</a:t>
            </a:r>
          </a:p>
        </p:txBody>
      </p:sp>
      <p:sp>
        <p:nvSpPr>
          <p:cNvPr id="3" name="内容占位符 2">
            <a:extLst>
              <a:ext uri="{FF2B5EF4-FFF2-40B4-BE49-F238E27FC236}">
                <a16:creationId xmlns:a16="http://schemas.microsoft.com/office/drawing/2014/main" id="{772AD705-E66F-4C05-BD90-447D422264F3}"/>
              </a:ext>
            </a:extLst>
          </p:cNvPr>
          <p:cNvSpPr>
            <a:spLocks noGrp="1"/>
          </p:cNvSpPr>
          <p:nvPr>
            <p:ph idx="1"/>
          </p:nvPr>
        </p:nvSpPr>
        <p:spPr/>
        <p:txBody>
          <a:bodyPr/>
          <a:lstStyle/>
          <a:p>
            <a:r>
              <a:rPr lang="zh-CN" altLang="en-US" dirty="0"/>
              <a:t>表是具有相同模式的同构数据单位，但是表的具体数据存储可以有不同的方式。</a:t>
            </a:r>
            <a:r>
              <a:rPr lang="en-US" altLang="zh-CN" dirty="0"/>
              <a:t>Hive</a:t>
            </a:r>
            <a:r>
              <a:rPr lang="zh-CN" altLang="en-US" dirty="0"/>
              <a:t>表的概念与关系型数据库中表的概念具有相似之处。</a:t>
            </a:r>
          </a:p>
        </p:txBody>
      </p:sp>
    </p:spTree>
    <p:extLst>
      <p:ext uri="{BB962C8B-B14F-4D97-AF65-F5344CB8AC3E}">
        <p14:creationId xmlns:p14="http://schemas.microsoft.com/office/powerpoint/2010/main" val="9232665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FA587C-E189-4DF6-B986-A61E0B435D9E}"/>
              </a:ext>
            </a:extLst>
          </p:cNvPr>
          <p:cNvSpPr>
            <a:spLocks noGrp="1"/>
          </p:cNvSpPr>
          <p:nvPr>
            <p:ph type="title"/>
          </p:nvPr>
        </p:nvSpPr>
        <p:spPr/>
        <p:txBody>
          <a:bodyPr>
            <a:normAutofit fontScale="90000"/>
          </a:bodyPr>
          <a:lstStyle/>
          <a:p>
            <a:r>
              <a:rPr lang="zh-CN" altLang="en-US" dirty="0"/>
              <a:t>分区（</a:t>
            </a:r>
            <a:r>
              <a:rPr lang="en-US" altLang="zh-CN" dirty="0"/>
              <a:t>partitions</a:t>
            </a:r>
            <a:r>
              <a:rPr lang="zh-CN" altLang="en-US" dirty="0"/>
              <a:t>）</a:t>
            </a:r>
          </a:p>
        </p:txBody>
      </p:sp>
      <p:sp>
        <p:nvSpPr>
          <p:cNvPr id="3" name="内容占位符 2">
            <a:extLst>
              <a:ext uri="{FF2B5EF4-FFF2-40B4-BE49-F238E27FC236}">
                <a16:creationId xmlns:a16="http://schemas.microsoft.com/office/drawing/2014/main" id="{772AD705-E66F-4C05-BD90-447D422264F3}"/>
              </a:ext>
            </a:extLst>
          </p:cNvPr>
          <p:cNvSpPr>
            <a:spLocks noGrp="1"/>
          </p:cNvSpPr>
          <p:nvPr>
            <p:ph idx="1"/>
          </p:nvPr>
        </p:nvSpPr>
        <p:spPr/>
        <p:txBody>
          <a:bodyPr>
            <a:normAutofit fontScale="77500" lnSpcReduction="20000"/>
          </a:bodyPr>
          <a:lstStyle/>
          <a:p>
            <a:r>
              <a:rPr lang="zh-CN" altLang="en-US" dirty="0"/>
              <a:t>每个表可以有一个或多个分区键，可用于确定数据的存储方式。分区除了作为存储单元外，还允许用户有效地识别满足指定条件的行。</a:t>
            </a:r>
            <a:endParaRPr lang="en-US" altLang="zh-CN" dirty="0"/>
          </a:p>
          <a:p>
            <a:pPr lvl="1"/>
            <a:r>
              <a:rPr lang="zh-CN" altLang="en-US" dirty="0"/>
              <a:t>例如，</a:t>
            </a:r>
            <a:r>
              <a:rPr lang="en-US" altLang="zh-CN" dirty="0"/>
              <a:t>STRING</a:t>
            </a:r>
            <a:r>
              <a:rPr lang="zh-CN" altLang="en-US" dirty="0"/>
              <a:t>类型的</a:t>
            </a:r>
            <a:r>
              <a:rPr lang="en-US" altLang="zh-CN" dirty="0" err="1"/>
              <a:t>date_partition</a:t>
            </a:r>
            <a:r>
              <a:rPr lang="zh-CN" altLang="en-US" dirty="0"/>
              <a:t>和</a:t>
            </a:r>
            <a:r>
              <a:rPr lang="en-US" altLang="zh-CN" dirty="0"/>
              <a:t>STRING</a:t>
            </a:r>
            <a:r>
              <a:rPr lang="zh-CN" altLang="en-US" dirty="0"/>
              <a:t>类型的</a:t>
            </a:r>
            <a:r>
              <a:rPr lang="en-US" altLang="zh-CN" dirty="0" err="1"/>
              <a:t>country_partition</a:t>
            </a:r>
            <a:r>
              <a:rPr lang="zh-CN" altLang="en-US" dirty="0"/>
              <a:t>，其分区键的每个唯一值定义了表的一个分区</a:t>
            </a:r>
            <a:endParaRPr lang="en-US" altLang="zh-CN" dirty="0"/>
          </a:p>
          <a:p>
            <a:pPr lvl="1"/>
            <a:r>
              <a:rPr lang="zh-CN" altLang="en-US" dirty="0"/>
              <a:t>例如，日期为“</a:t>
            </a:r>
            <a:r>
              <a:rPr lang="en-US" altLang="zh-CN" dirty="0"/>
              <a:t>2009-12-23”</a:t>
            </a:r>
            <a:r>
              <a:rPr lang="zh-CN" altLang="en-US" dirty="0"/>
              <a:t>中的所有国家为“</a:t>
            </a:r>
            <a:r>
              <a:rPr lang="en-US" altLang="zh-CN" dirty="0"/>
              <a:t>US”</a:t>
            </a:r>
            <a:r>
              <a:rPr lang="zh-CN" altLang="en-US" dirty="0"/>
              <a:t>的数据都是</a:t>
            </a:r>
            <a:r>
              <a:rPr lang="en-US" altLang="zh-CN" dirty="0" err="1"/>
              <a:t>page_views</a:t>
            </a:r>
            <a:r>
              <a:rPr lang="zh-CN" altLang="en-US" dirty="0"/>
              <a:t>表的一个分区。因此，如果只对日期为“</a:t>
            </a:r>
            <a:r>
              <a:rPr lang="en-US" altLang="zh-CN" dirty="0"/>
              <a:t>2009-12-23”</a:t>
            </a:r>
            <a:r>
              <a:rPr lang="zh-CN" altLang="en-US" dirty="0"/>
              <a:t>的国家为“</a:t>
            </a:r>
            <a:r>
              <a:rPr lang="en-US" altLang="zh-CN" dirty="0"/>
              <a:t>US”</a:t>
            </a:r>
            <a:r>
              <a:rPr lang="zh-CN" altLang="en-US" dirty="0"/>
              <a:t>的 数据进行分析，则只需在表的相关分区上运行该查询，从而大大加快了分析速度。</a:t>
            </a:r>
          </a:p>
        </p:txBody>
      </p:sp>
    </p:spTree>
    <p:extLst>
      <p:ext uri="{BB962C8B-B14F-4D97-AF65-F5344CB8AC3E}">
        <p14:creationId xmlns:p14="http://schemas.microsoft.com/office/powerpoint/2010/main" val="1434888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FA587C-E189-4DF6-B986-A61E0B435D9E}"/>
              </a:ext>
            </a:extLst>
          </p:cNvPr>
          <p:cNvSpPr>
            <a:spLocks noGrp="1"/>
          </p:cNvSpPr>
          <p:nvPr>
            <p:ph type="title"/>
          </p:nvPr>
        </p:nvSpPr>
        <p:spPr/>
        <p:txBody>
          <a:bodyPr>
            <a:normAutofit fontScale="90000"/>
          </a:bodyPr>
          <a:lstStyle/>
          <a:p>
            <a:r>
              <a:rPr lang="zh-CN" altLang="en-US" dirty="0"/>
              <a:t>分区（</a:t>
            </a:r>
            <a:r>
              <a:rPr lang="en-US" altLang="zh-CN" dirty="0"/>
              <a:t>partitions</a:t>
            </a:r>
            <a:r>
              <a:rPr lang="zh-CN" altLang="en-US" dirty="0"/>
              <a:t>）</a:t>
            </a:r>
          </a:p>
        </p:txBody>
      </p:sp>
      <p:sp>
        <p:nvSpPr>
          <p:cNvPr id="3" name="内容占位符 2">
            <a:extLst>
              <a:ext uri="{FF2B5EF4-FFF2-40B4-BE49-F238E27FC236}">
                <a16:creationId xmlns:a16="http://schemas.microsoft.com/office/drawing/2014/main" id="{772AD705-E66F-4C05-BD90-447D422264F3}"/>
              </a:ext>
            </a:extLst>
          </p:cNvPr>
          <p:cNvSpPr>
            <a:spLocks noGrp="1"/>
          </p:cNvSpPr>
          <p:nvPr>
            <p:ph idx="1"/>
          </p:nvPr>
        </p:nvSpPr>
        <p:spPr/>
        <p:txBody>
          <a:bodyPr>
            <a:normAutofit fontScale="85000" lnSpcReduction="10000"/>
          </a:bodyPr>
          <a:lstStyle/>
          <a:p>
            <a:r>
              <a:rPr lang="zh-CN" altLang="en-US" dirty="0"/>
              <a:t>需要注意的是，一个分区被命名为“</a:t>
            </a:r>
            <a:r>
              <a:rPr lang="en-US" altLang="zh-CN" dirty="0"/>
              <a:t>2009-12-23”</a:t>
            </a:r>
            <a:r>
              <a:rPr lang="zh-CN" altLang="en-US" dirty="0"/>
              <a:t>并不意味着该分区包含所有或仅包含该日期的数据，分区以日期命名是为了方便进行数据的组织和识别，但是</a:t>
            </a:r>
            <a:r>
              <a:rPr lang="en-US" altLang="zh-CN" dirty="0"/>
              <a:t>Hive</a:t>
            </a:r>
            <a:r>
              <a:rPr lang="zh-CN" altLang="en-US" dirty="0"/>
              <a:t>并不确保数据的分区组织。</a:t>
            </a:r>
            <a:endParaRPr lang="en-US" altLang="zh-CN" dirty="0"/>
          </a:p>
          <a:p>
            <a:r>
              <a:rPr lang="zh-CN" altLang="en-US" dirty="0"/>
              <a:t>分区列是虚拟列，它们不是数据本身的一部分，而是在加载时派生的。这也就要求数据仓库系统设计和分区数据导入前能够对数据进行一定的检查，从而确保数据能够在逻辑上满足分区的设置。</a:t>
            </a:r>
          </a:p>
          <a:p>
            <a:endParaRPr lang="zh-CN" altLang="en-US" dirty="0"/>
          </a:p>
        </p:txBody>
      </p:sp>
    </p:spTree>
    <p:extLst>
      <p:ext uri="{BB962C8B-B14F-4D97-AF65-F5344CB8AC3E}">
        <p14:creationId xmlns:p14="http://schemas.microsoft.com/office/powerpoint/2010/main" val="1398854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FA587C-E189-4DF6-B986-A61E0B435D9E}"/>
              </a:ext>
            </a:extLst>
          </p:cNvPr>
          <p:cNvSpPr>
            <a:spLocks noGrp="1"/>
          </p:cNvSpPr>
          <p:nvPr>
            <p:ph type="title"/>
          </p:nvPr>
        </p:nvSpPr>
        <p:spPr/>
        <p:txBody>
          <a:bodyPr>
            <a:normAutofit fontScale="90000"/>
          </a:bodyPr>
          <a:lstStyle/>
          <a:p>
            <a:r>
              <a:rPr lang="zh-CN" altLang="en-US" dirty="0"/>
              <a:t>桶或集群（</a:t>
            </a:r>
            <a:r>
              <a:rPr lang="en-US" altLang="zh-CN" dirty="0"/>
              <a:t>bucket</a:t>
            </a:r>
            <a:r>
              <a:rPr lang="zh-CN" altLang="en-US" dirty="0"/>
              <a:t>或</a:t>
            </a:r>
            <a:r>
              <a:rPr lang="en-US" altLang="zh-CN" dirty="0"/>
              <a:t>clusters</a:t>
            </a:r>
            <a:r>
              <a:rPr lang="zh-CN" altLang="en-US" dirty="0"/>
              <a:t>）</a:t>
            </a:r>
          </a:p>
        </p:txBody>
      </p:sp>
      <p:sp>
        <p:nvSpPr>
          <p:cNvPr id="3" name="内容占位符 2">
            <a:extLst>
              <a:ext uri="{FF2B5EF4-FFF2-40B4-BE49-F238E27FC236}">
                <a16:creationId xmlns:a16="http://schemas.microsoft.com/office/drawing/2014/main" id="{772AD705-E66F-4C05-BD90-447D422264F3}"/>
              </a:ext>
            </a:extLst>
          </p:cNvPr>
          <p:cNvSpPr>
            <a:spLocks noGrp="1"/>
          </p:cNvSpPr>
          <p:nvPr>
            <p:ph idx="1"/>
          </p:nvPr>
        </p:nvSpPr>
        <p:spPr/>
        <p:txBody>
          <a:bodyPr/>
          <a:lstStyle/>
          <a:p>
            <a:r>
              <a:rPr lang="zh-CN" altLang="en-US" dirty="0"/>
              <a:t>每个分区中的数据可以根据表中某一列的哈希函数值依次分配到桶。</a:t>
            </a:r>
            <a:endParaRPr lang="en-US" altLang="zh-CN" dirty="0"/>
          </a:p>
          <a:p>
            <a:pPr lvl="1"/>
            <a:r>
              <a:rPr lang="zh-CN" altLang="en-US" dirty="0"/>
              <a:t>例如，</a:t>
            </a:r>
            <a:r>
              <a:rPr lang="en-US" altLang="zh-CN" dirty="0" err="1"/>
              <a:t>page_views</a:t>
            </a:r>
            <a:r>
              <a:rPr lang="zh-CN" altLang="en-US" dirty="0"/>
              <a:t>表可以由</a:t>
            </a:r>
            <a:r>
              <a:rPr lang="en-US" altLang="zh-CN" dirty="0" err="1"/>
              <a:t>userid</a:t>
            </a:r>
            <a:r>
              <a:rPr lang="zh-CN" altLang="en-US" dirty="0"/>
              <a:t>来分隔，</a:t>
            </a:r>
            <a:r>
              <a:rPr lang="en-US" altLang="zh-CN" dirty="0" err="1"/>
              <a:t>userid</a:t>
            </a:r>
            <a:r>
              <a:rPr lang="zh-CN" altLang="en-US" dirty="0"/>
              <a:t>是</a:t>
            </a:r>
            <a:r>
              <a:rPr lang="en-US" altLang="zh-CN" dirty="0" err="1"/>
              <a:t>page_view</a:t>
            </a:r>
            <a:r>
              <a:rPr lang="zh-CN" altLang="en-US" dirty="0"/>
              <a:t>表的一列，而不是</a:t>
            </a:r>
            <a:r>
              <a:rPr lang="en-US" altLang="zh-CN" dirty="0"/>
              <a:t>partitions</a:t>
            </a:r>
            <a:r>
              <a:rPr lang="zh-CN" altLang="en-US" dirty="0"/>
              <a:t>列。桶的应用会大大加快数据的检索速度。</a:t>
            </a:r>
          </a:p>
        </p:txBody>
      </p:sp>
    </p:spTree>
    <p:extLst>
      <p:ext uri="{BB962C8B-B14F-4D97-AF65-F5344CB8AC3E}">
        <p14:creationId xmlns:p14="http://schemas.microsoft.com/office/powerpoint/2010/main" val="320600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23987" y="1732402"/>
            <a:ext cx="4441513" cy="646331"/>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Hive</a:t>
            </a:r>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初探</a:t>
            </a: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03</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38161813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A76AF8-846C-4CAF-A00C-C222C498C12D}"/>
              </a:ext>
            </a:extLst>
          </p:cNvPr>
          <p:cNvSpPr>
            <a:spLocks noGrp="1"/>
          </p:cNvSpPr>
          <p:nvPr>
            <p:ph type="title"/>
          </p:nvPr>
        </p:nvSpPr>
        <p:spPr/>
        <p:txBody>
          <a:bodyPr>
            <a:normAutofit fontScale="90000"/>
          </a:bodyPr>
          <a:lstStyle/>
          <a:p>
            <a:r>
              <a:rPr lang="en-US" altLang="zh-CN" dirty="0"/>
              <a:t>Hive</a:t>
            </a:r>
            <a:r>
              <a:rPr lang="zh-CN" altLang="en-US" dirty="0"/>
              <a:t>初探</a:t>
            </a:r>
          </a:p>
        </p:txBody>
      </p:sp>
      <p:sp>
        <p:nvSpPr>
          <p:cNvPr id="3" name="内容占位符 2">
            <a:extLst>
              <a:ext uri="{FF2B5EF4-FFF2-40B4-BE49-F238E27FC236}">
                <a16:creationId xmlns:a16="http://schemas.microsoft.com/office/drawing/2014/main" id="{7287B597-B87A-43E6-8A04-E48B53D891A6}"/>
              </a:ext>
            </a:extLst>
          </p:cNvPr>
          <p:cNvSpPr>
            <a:spLocks noGrp="1"/>
          </p:cNvSpPr>
          <p:nvPr>
            <p:ph idx="1"/>
          </p:nvPr>
        </p:nvSpPr>
        <p:spPr/>
        <p:txBody>
          <a:bodyPr>
            <a:normAutofit/>
          </a:bodyPr>
          <a:lstStyle/>
          <a:p>
            <a:r>
              <a:rPr lang="en-US" altLang="zh-CN" sz="2800" dirty="0"/>
              <a:t>Hive</a:t>
            </a:r>
            <a:r>
              <a:rPr lang="zh-CN" altLang="en-US" sz="2800" dirty="0"/>
              <a:t>安装完成后，首先把</a:t>
            </a:r>
            <a:r>
              <a:rPr lang="en-US" altLang="zh-CN" sz="2800" dirty="0"/>
              <a:t>$HIVE_HOME</a:t>
            </a:r>
            <a:r>
              <a:rPr lang="zh-CN" altLang="en-US" sz="2800" dirty="0"/>
              <a:t>设置到当前的</a:t>
            </a:r>
            <a:r>
              <a:rPr lang="en-US" altLang="zh-CN" sz="2800" dirty="0"/>
              <a:t>Hive</a:t>
            </a:r>
            <a:r>
              <a:rPr lang="zh-CN" altLang="en-US" sz="2800" dirty="0"/>
              <a:t>安装目录，并把</a:t>
            </a:r>
            <a:r>
              <a:rPr lang="en-US" altLang="zh-CN" sz="2800" dirty="0"/>
              <a:t>$HIVE_HOME/bin</a:t>
            </a:r>
            <a:r>
              <a:rPr lang="zh-CN" altLang="en-US" sz="2800" dirty="0"/>
              <a:t>加入</a:t>
            </a:r>
            <a:r>
              <a:rPr lang="en-US" altLang="zh-CN" sz="2800" dirty="0"/>
              <a:t>$PATH</a:t>
            </a:r>
            <a:r>
              <a:rPr lang="zh-CN" altLang="en-US" sz="2800" dirty="0"/>
              <a:t>中。设置完成后在命令行直接运行“</a:t>
            </a:r>
            <a:r>
              <a:rPr lang="en-US" altLang="zh-CN" sz="2800" dirty="0"/>
              <a:t>hive”</a:t>
            </a:r>
            <a:r>
              <a:rPr lang="zh-CN" altLang="en-US" sz="2800" dirty="0"/>
              <a:t>命令启动</a:t>
            </a:r>
            <a:r>
              <a:rPr lang="en-US" altLang="zh-CN" sz="2800"/>
              <a:t>Hive</a:t>
            </a:r>
            <a:r>
              <a:rPr lang="zh-CN" altLang="en-US" sz="2800"/>
              <a:t>。</a:t>
            </a:r>
            <a:endParaRPr lang="en-US" altLang="zh-CN" sz="2800"/>
          </a:p>
          <a:p>
            <a:endParaRPr lang="en-US" altLang="zh-CN" sz="2800" dirty="0"/>
          </a:p>
          <a:p>
            <a:r>
              <a:rPr lang="zh-CN" altLang="en-US" sz="2800" dirty="0"/>
              <a:t>接下来我们开始构造第一个</a:t>
            </a:r>
            <a:r>
              <a:rPr lang="en-US" altLang="zh-CN" sz="2800" dirty="0"/>
              <a:t>Hive</a:t>
            </a:r>
            <a:r>
              <a:rPr lang="zh-CN" altLang="en-US" sz="2800" dirty="0"/>
              <a:t>数据库。</a:t>
            </a:r>
          </a:p>
        </p:txBody>
      </p:sp>
    </p:spTree>
    <p:extLst>
      <p:ext uri="{BB962C8B-B14F-4D97-AF65-F5344CB8AC3E}">
        <p14:creationId xmlns:p14="http://schemas.microsoft.com/office/powerpoint/2010/main" val="34042527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A76AF8-846C-4CAF-A00C-C222C498C12D}"/>
              </a:ext>
            </a:extLst>
          </p:cNvPr>
          <p:cNvSpPr>
            <a:spLocks noGrp="1"/>
          </p:cNvSpPr>
          <p:nvPr>
            <p:ph type="title"/>
          </p:nvPr>
        </p:nvSpPr>
        <p:spPr/>
        <p:txBody>
          <a:bodyPr>
            <a:normAutofit fontScale="90000"/>
          </a:bodyPr>
          <a:lstStyle/>
          <a:p>
            <a:r>
              <a:rPr lang="en-US" altLang="zh-CN" dirty="0"/>
              <a:t>Hive</a:t>
            </a:r>
            <a:r>
              <a:rPr lang="zh-CN" altLang="en-US" dirty="0"/>
              <a:t>初探</a:t>
            </a:r>
          </a:p>
        </p:txBody>
      </p:sp>
      <p:sp>
        <p:nvSpPr>
          <p:cNvPr id="3" name="内容占位符 2">
            <a:extLst>
              <a:ext uri="{FF2B5EF4-FFF2-40B4-BE49-F238E27FC236}">
                <a16:creationId xmlns:a16="http://schemas.microsoft.com/office/drawing/2014/main" id="{7287B597-B87A-43E6-8A04-E48B53D891A6}"/>
              </a:ext>
            </a:extLst>
          </p:cNvPr>
          <p:cNvSpPr>
            <a:spLocks noGrp="1"/>
          </p:cNvSpPr>
          <p:nvPr>
            <p:ph idx="1"/>
          </p:nvPr>
        </p:nvSpPr>
        <p:spPr>
          <a:xfrm>
            <a:off x="457200" y="1131590"/>
            <a:ext cx="8229600" cy="3394472"/>
          </a:xfrm>
        </p:spPr>
        <p:txBody>
          <a:bodyPr>
            <a:normAutofit/>
          </a:bodyPr>
          <a:lstStyle/>
          <a:p>
            <a:r>
              <a:rPr lang="zh-CN" altLang="en-US" sz="2800" dirty="0"/>
              <a:t>首先，我们通过</a:t>
            </a:r>
            <a:r>
              <a:rPr lang="en-US" altLang="zh-CN" sz="2800" dirty="0" err="1"/>
              <a:t>ssh</a:t>
            </a:r>
            <a:r>
              <a:rPr lang="zh-CN" altLang="en-US" sz="2800" dirty="0"/>
              <a:t>连接到</a:t>
            </a:r>
            <a:r>
              <a:rPr lang="en-US" altLang="zh-CN" sz="2800" dirty="0"/>
              <a:t>Hive</a:t>
            </a:r>
            <a:r>
              <a:rPr lang="zh-CN" altLang="en-US" sz="2800" dirty="0"/>
              <a:t>服务器上，之后运行</a:t>
            </a:r>
            <a:r>
              <a:rPr lang="en-US" altLang="zh-CN" sz="2800" dirty="0"/>
              <a:t>hive</a:t>
            </a:r>
            <a:r>
              <a:rPr lang="zh-CN" altLang="en-US" sz="2800" dirty="0"/>
              <a:t>，便会进入</a:t>
            </a:r>
            <a:r>
              <a:rPr lang="en-US" altLang="zh-CN" sz="2800" dirty="0"/>
              <a:t>Hive</a:t>
            </a:r>
            <a:r>
              <a:rPr lang="zh-CN" altLang="en-US" sz="2800" dirty="0"/>
              <a:t>的命令行交互程序，其运行过程如下。若在本机上，则无须使用</a:t>
            </a:r>
            <a:r>
              <a:rPr lang="en-US" altLang="zh-CN" sz="2800" dirty="0" err="1"/>
              <a:t>ssh</a:t>
            </a:r>
            <a:r>
              <a:rPr lang="zh-CN" altLang="en-US" sz="2800" dirty="0"/>
              <a:t>连接</a:t>
            </a:r>
          </a:p>
        </p:txBody>
      </p:sp>
      <p:pic>
        <p:nvPicPr>
          <p:cNvPr id="4" name="图片 3">
            <a:extLst>
              <a:ext uri="{FF2B5EF4-FFF2-40B4-BE49-F238E27FC236}">
                <a16:creationId xmlns:a16="http://schemas.microsoft.com/office/drawing/2014/main" id="{31535C32-C010-48EE-BADF-39A0E1E61D92}"/>
              </a:ext>
            </a:extLst>
          </p:cNvPr>
          <p:cNvPicPr>
            <a:picLocks noChangeAspect="1"/>
          </p:cNvPicPr>
          <p:nvPr/>
        </p:nvPicPr>
        <p:blipFill>
          <a:blip r:embed="rId2"/>
          <a:stretch>
            <a:fillRect/>
          </a:stretch>
        </p:blipFill>
        <p:spPr>
          <a:xfrm>
            <a:off x="107504" y="2931790"/>
            <a:ext cx="9144000" cy="1796304"/>
          </a:xfrm>
          <a:prstGeom prst="rect">
            <a:avLst/>
          </a:prstGeom>
        </p:spPr>
      </p:pic>
    </p:spTree>
    <p:extLst>
      <p:ext uri="{BB962C8B-B14F-4D97-AF65-F5344CB8AC3E}">
        <p14:creationId xmlns:p14="http://schemas.microsoft.com/office/powerpoint/2010/main" val="6471914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A76AF8-846C-4CAF-A00C-C222C498C12D}"/>
              </a:ext>
            </a:extLst>
          </p:cNvPr>
          <p:cNvSpPr>
            <a:spLocks noGrp="1"/>
          </p:cNvSpPr>
          <p:nvPr>
            <p:ph type="title"/>
          </p:nvPr>
        </p:nvSpPr>
        <p:spPr/>
        <p:txBody>
          <a:bodyPr>
            <a:normAutofit fontScale="90000"/>
          </a:bodyPr>
          <a:lstStyle/>
          <a:p>
            <a:r>
              <a:rPr lang="en-US" altLang="zh-CN" dirty="0"/>
              <a:t>Hive</a:t>
            </a:r>
            <a:r>
              <a:rPr lang="zh-CN" altLang="en-US" dirty="0"/>
              <a:t>初探</a:t>
            </a:r>
          </a:p>
        </p:txBody>
      </p:sp>
      <p:sp>
        <p:nvSpPr>
          <p:cNvPr id="3" name="内容占位符 2">
            <a:extLst>
              <a:ext uri="{FF2B5EF4-FFF2-40B4-BE49-F238E27FC236}">
                <a16:creationId xmlns:a16="http://schemas.microsoft.com/office/drawing/2014/main" id="{7287B597-B87A-43E6-8A04-E48B53D891A6}"/>
              </a:ext>
            </a:extLst>
          </p:cNvPr>
          <p:cNvSpPr>
            <a:spLocks noGrp="1"/>
          </p:cNvSpPr>
          <p:nvPr>
            <p:ph idx="1"/>
          </p:nvPr>
        </p:nvSpPr>
        <p:spPr>
          <a:xfrm>
            <a:off x="457200" y="987574"/>
            <a:ext cx="8229600" cy="3607049"/>
          </a:xfrm>
        </p:spPr>
        <p:txBody>
          <a:bodyPr/>
          <a:lstStyle/>
          <a:p>
            <a:r>
              <a:rPr lang="zh-CN" altLang="en-US" dirty="0"/>
              <a:t>步骤</a:t>
            </a:r>
            <a:r>
              <a:rPr lang="en-US" altLang="zh-CN" dirty="0"/>
              <a:t>1</a:t>
            </a:r>
            <a:r>
              <a:rPr lang="zh-CN" altLang="en-US" dirty="0"/>
              <a:t>：构造</a:t>
            </a:r>
            <a:r>
              <a:rPr lang="en-US" altLang="zh-CN" dirty="0"/>
              <a:t>Database/Schema</a:t>
            </a:r>
            <a:endParaRPr lang="zh-CN" altLang="en-US" dirty="0"/>
          </a:p>
        </p:txBody>
      </p:sp>
      <p:pic>
        <p:nvPicPr>
          <p:cNvPr id="4" name="图片 3">
            <a:extLst>
              <a:ext uri="{FF2B5EF4-FFF2-40B4-BE49-F238E27FC236}">
                <a16:creationId xmlns:a16="http://schemas.microsoft.com/office/drawing/2014/main" id="{6A4F832B-4469-4637-8AB7-A1CED7DFC598}"/>
              </a:ext>
            </a:extLst>
          </p:cNvPr>
          <p:cNvPicPr>
            <a:picLocks noChangeAspect="1"/>
          </p:cNvPicPr>
          <p:nvPr/>
        </p:nvPicPr>
        <p:blipFill>
          <a:blip r:embed="rId2"/>
          <a:stretch>
            <a:fillRect/>
          </a:stretch>
        </p:blipFill>
        <p:spPr>
          <a:xfrm>
            <a:off x="1403648" y="1563638"/>
            <a:ext cx="5904656" cy="3446911"/>
          </a:xfrm>
          <a:prstGeom prst="rect">
            <a:avLst/>
          </a:prstGeom>
        </p:spPr>
      </p:pic>
    </p:spTree>
    <p:extLst>
      <p:ext uri="{BB962C8B-B14F-4D97-AF65-F5344CB8AC3E}">
        <p14:creationId xmlns:p14="http://schemas.microsoft.com/office/powerpoint/2010/main" val="26782198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A76AF8-846C-4CAF-A00C-C222C498C12D}"/>
              </a:ext>
            </a:extLst>
          </p:cNvPr>
          <p:cNvSpPr>
            <a:spLocks noGrp="1"/>
          </p:cNvSpPr>
          <p:nvPr>
            <p:ph type="title"/>
          </p:nvPr>
        </p:nvSpPr>
        <p:spPr>
          <a:xfrm>
            <a:off x="144016" y="231490"/>
            <a:ext cx="3419872" cy="540060"/>
          </a:xfrm>
        </p:spPr>
        <p:txBody>
          <a:bodyPr>
            <a:normAutofit fontScale="90000"/>
          </a:bodyPr>
          <a:lstStyle/>
          <a:p>
            <a:r>
              <a:rPr lang="en-US" altLang="zh-CN" dirty="0"/>
              <a:t>Hive</a:t>
            </a:r>
            <a:r>
              <a:rPr lang="zh-CN" altLang="en-US" dirty="0"/>
              <a:t>初探</a:t>
            </a:r>
          </a:p>
        </p:txBody>
      </p:sp>
      <p:sp>
        <p:nvSpPr>
          <p:cNvPr id="3" name="内容占位符 2">
            <a:extLst>
              <a:ext uri="{FF2B5EF4-FFF2-40B4-BE49-F238E27FC236}">
                <a16:creationId xmlns:a16="http://schemas.microsoft.com/office/drawing/2014/main" id="{7287B597-B87A-43E6-8A04-E48B53D891A6}"/>
              </a:ext>
            </a:extLst>
          </p:cNvPr>
          <p:cNvSpPr>
            <a:spLocks noGrp="1"/>
          </p:cNvSpPr>
          <p:nvPr>
            <p:ph idx="1"/>
          </p:nvPr>
        </p:nvSpPr>
        <p:spPr/>
        <p:txBody>
          <a:bodyPr>
            <a:normAutofit/>
          </a:bodyPr>
          <a:lstStyle/>
          <a:p>
            <a:r>
              <a:rPr lang="zh-CN" altLang="en-US" sz="2800" dirty="0"/>
              <a:t>用</a:t>
            </a:r>
            <a:r>
              <a:rPr lang="en-US" altLang="zh-CN" sz="2800" dirty="0"/>
              <a:t>CLI</a:t>
            </a:r>
            <a:r>
              <a:rPr lang="zh-CN" altLang="en-US" sz="2800" dirty="0"/>
              <a:t>和</a:t>
            </a:r>
            <a:r>
              <a:rPr lang="en-US" altLang="zh-CN" sz="2800" dirty="0"/>
              <a:t>Web</a:t>
            </a:r>
            <a:r>
              <a:rPr lang="zh-CN" altLang="en-US" sz="2800" dirty="0"/>
              <a:t>方式查看所创建的数据库文件夹，其中“</a:t>
            </a:r>
            <a:r>
              <a:rPr lang="en-US" altLang="zh-CN" sz="2800" dirty="0" err="1"/>
              <a:t>db_city_aq.db</a:t>
            </a:r>
            <a:r>
              <a:rPr lang="en-US" altLang="zh-CN" sz="2800" dirty="0"/>
              <a:t>”</a:t>
            </a:r>
            <a:r>
              <a:rPr lang="zh-CN" altLang="en-US" sz="2800" dirty="0"/>
              <a:t>虽然包含了“</a:t>
            </a:r>
            <a:r>
              <a:rPr lang="en-US" altLang="zh-CN" sz="2800" dirty="0"/>
              <a:t>.</a:t>
            </a:r>
            <a:r>
              <a:rPr lang="en-US" altLang="zh-CN" sz="2800" dirty="0" err="1"/>
              <a:t>db</a:t>
            </a:r>
            <a:r>
              <a:rPr lang="en-US" altLang="zh-CN" sz="2800" dirty="0"/>
              <a:t>”</a:t>
            </a:r>
            <a:r>
              <a:rPr lang="zh-CN" altLang="en-US" sz="2800" dirty="0"/>
              <a:t>作为后缀，但其实际上是一个文件夹。当前并未往数据库中添加任何数据表，所以文件夹为空。</a:t>
            </a:r>
          </a:p>
        </p:txBody>
      </p:sp>
      <p:pic>
        <p:nvPicPr>
          <p:cNvPr id="4" name="图片 3">
            <a:extLst>
              <a:ext uri="{FF2B5EF4-FFF2-40B4-BE49-F238E27FC236}">
                <a16:creationId xmlns:a16="http://schemas.microsoft.com/office/drawing/2014/main" id="{4CCB684A-2366-4B7F-9AB0-568716116EF0}"/>
              </a:ext>
            </a:extLst>
          </p:cNvPr>
          <p:cNvPicPr>
            <a:picLocks noChangeAspect="1"/>
          </p:cNvPicPr>
          <p:nvPr/>
        </p:nvPicPr>
        <p:blipFill>
          <a:blip r:embed="rId2"/>
          <a:stretch>
            <a:fillRect/>
          </a:stretch>
        </p:blipFill>
        <p:spPr>
          <a:xfrm>
            <a:off x="0" y="3553277"/>
            <a:ext cx="9144000" cy="780143"/>
          </a:xfrm>
          <a:prstGeom prst="rect">
            <a:avLst/>
          </a:prstGeom>
        </p:spPr>
      </p:pic>
    </p:spTree>
    <p:extLst>
      <p:ext uri="{BB962C8B-B14F-4D97-AF65-F5344CB8AC3E}">
        <p14:creationId xmlns:p14="http://schemas.microsoft.com/office/powerpoint/2010/main" val="29267063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A76AF8-846C-4CAF-A00C-C222C498C12D}"/>
              </a:ext>
            </a:extLst>
          </p:cNvPr>
          <p:cNvSpPr>
            <a:spLocks noGrp="1"/>
          </p:cNvSpPr>
          <p:nvPr>
            <p:ph type="title"/>
          </p:nvPr>
        </p:nvSpPr>
        <p:spPr/>
        <p:txBody>
          <a:bodyPr>
            <a:normAutofit fontScale="90000"/>
          </a:bodyPr>
          <a:lstStyle/>
          <a:p>
            <a:r>
              <a:rPr lang="en-US" altLang="zh-CN" dirty="0"/>
              <a:t>Hive</a:t>
            </a:r>
            <a:r>
              <a:rPr lang="zh-CN" altLang="en-US" dirty="0"/>
              <a:t>初探</a:t>
            </a:r>
          </a:p>
        </p:txBody>
      </p:sp>
      <p:sp>
        <p:nvSpPr>
          <p:cNvPr id="3" name="内容占位符 2">
            <a:extLst>
              <a:ext uri="{FF2B5EF4-FFF2-40B4-BE49-F238E27FC236}">
                <a16:creationId xmlns:a16="http://schemas.microsoft.com/office/drawing/2014/main" id="{7287B597-B87A-43E6-8A04-E48B53D891A6}"/>
              </a:ext>
            </a:extLst>
          </p:cNvPr>
          <p:cNvSpPr>
            <a:spLocks noGrp="1"/>
          </p:cNvSpPr>
          <p:nvPr>
            <p:ph idx="1"/>
          </p:nvPr>
        </p:nvSpPr>
        <p:spPr>
          <a:xfrm>
            <a:off x="457200" y="1059582"/>
            <a:ext cx="8229600" cy="3535041"/>
          </a:xfrm>
        </p:spPr>
        <p:txBody>
          <a:bodyPr>
            <a:normAutofit/>
          </a:bodyPr>
          <a:lstStyle/>
          <a:p>
            <a:r>
              <a:rPr lang="zh-CN" altLang="en-US" sz="2800" dirty="0"/>
              <a:t>采用</a:t>
            </a:r>
            <a:r>
              <a:rPr lang="en-US" altLang="zh-CN" sz="2800" dirty="0"/>
              <a:t>Web</a:t>
            </a:r>
            <a:r>
              <a:rPr lang="zh-CN" altLang="en-US" sz="2800" dirty="0"/>
              <a:t>方式查看数据库文件夹</a:t>
            </a:r>
          </a:p>
        </p:txBody>
      </p:sp>
      <p:pic>
        <p:nvPicPr>
          <p:cNvPr id="4" name="图片 3">
            <a:extLst>
              <a:ext uri="{FF2B5EF4-FFF2-40B4-BE49-F238E27FC236}">
                <a16:creationId xmlns:a16="http://schemas.microsoft.com/office/drawing/2014/main" id="{ADBEEFE5-2301-4507-9508-C402727A3F34}"/>
              </a:ext>
            </a:extLst>
          </p:cNvPr>
          <p:cNvPicPr/>
          <p:nvPr/>
        </p:nvPicPr>
        <p:blipFill>
          <a:blip r:embed="rId2"/>
          <a:stretch>
            <a:fillRect/>
          </a:stretch>
        </p:blipFill>
        <p:spPr>
          <a:xfrm>
            <a:off x="1043608" y="1730184"/>
            <a:ext cx="6858004" cy="3181826"/>
          </a:xfrm>
          <a:prstGeom prst="rect">
            <a:avLst/>
          </a:prstGeom>
        </p:spPr>
      </p:pic>
    </p:spTree>
    <p:extLst>
      <p:ext uri="{BB962C8B-B14F-4D97-AF65-F5344CB8AC3E}">
        <p14:creationId xmlns:p14="http://schemas.microsoft.com/office/powerpoint/2010/main" val="32090608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A76AF8-846C-4CAF-A00C-C222C498C12D}"/>
              </a:ext>
            </a:extLst>
          </p:cNvPr>
          <p:cNvSpPr>
            <a:spLocks noGrp="1"/>
          </p:cNvSpPr>
          <p:nvPr>
            <p:ph type="title"/>
          </p:nvPr>
        </p:nvSpPr>
        <p:spPr/>
        <p:txBody>
          <a:bodyPr>
            <a:normAutofit fontScale="90000"/>
          </a:bodyPr>
          <a:lstStyle/>
          <a:p>
            <a:r>
              <a:rPr lang="en-US" altLang="zh-CN" dirty="0"/>
              <a:t>Hive</a:t>
            </a:r>
            <a:r>
              <a:rPr lang="zh-CN" altLang="en-US" dirty="0"/>
              <a:t>初探</a:t>
            </a:r>
          </a:p>
        </p:txBody>
      </p:sp>
      <p:sp>
        <p:nvSpPr>
          <p:cNvPr id="3" name="内容占位符 2">
            <a:extLst>
              <a:ext uri="{FF2B5EF4-FFF2-40B4-BE49-F238E27FC236}">
                <a16:creationId xmlns:a16="http://schemas.microsoft.com/office/drawing/2014/main" id="{7287B597-B87A-43E6-8A04-E48B53D891A6}"/>
              </a:ext>
            </a:extLst>
          </p:cNvPr>
          <p:cNvSpPr>
            <a:spLocks noGrp="1"/>
          </p:cNvSpPr>
          <p:nvPr>
            <p:ph idx="1"/>
          </p:nvPr>
        </p:nvSpPr>
        <p:spPr/>
        <p:txBody>
          <a:bodyPr>
            <a:normAutofit lnSpcReduction="10000"/>
          </a:bodyPr>
          <a:lstStyle/>
          <a:p>
            <a:r>
              <a:rPr lang="zh-CN" altLang="en-US" dirty="0"/>
              <a:t>步骤</a:t>
            </a:r>
            <a:r>
              <a:rPr lang="en-US" altLang="zh-CN" dirty="0"/>
              <a:t>2</a:t>
            </a:r>
            <a:r>
              <a:rPr lang="zh-CN" altLang="en-US" dirty="0"/>
              <a:t>：创建数据表</a:t>
            </a:r>
            <a:endParaRPr lang="en-US" altLang="zh-CN" dirty="0"/>
          </a:p>
          <a:p>
            <a:pPr lvl="1"/>
            <a:r>
              <a:rPr lang="zh-CN" altLang="en-US" dirty="0"/>
              <a:t>首先利用</a:t>
            </a:r>
            <a:r>
              <a:rPr lang="en-US" altLang="zh-CN" dirty="0"/>
              <a:t>USE</a:t>
            </a:r>
            <a:r>
              <a:rPr lang="zh-CN" altLang="en-US" dirty="0"/>
              <a:t>命令把“</a:t>
            </a:r>
            <a:r>
              <a:rPr lang="en-US" altLang="zh-CN" dirty="0" err="1"/>
              <a:t>db_city_aq</a:t>
            </a:r>
            <a:r>
              <a:rPr lang="en-US" altLang="zh-CN" dirty="0"/>
              <a:t>”</a:t>
            </a:r>
            <a:r>
              <a:rPr lang="zh-CN" altLang="en-US" dirty="0"/>
              <a:t>设置为当前的数据库，以保证我们所创建的数据表包含在该数据库中。</a:t>
            </a:r>
            <a:endParaRPr lang="en-US" altLang="zh-CN" dirty="0"/>
          </a:p>
          <a:p>
            <a:pPr lvl="1"/>
            <a:r>
              <a:rPr lang="zh-CN" altLang="en-US" dirty="0"/>
              <a:t>之后，利用“</a:t>
            </a:r>
            <a:r>
              <a:rPr lang="en-US" altLang="zh-CN" dirty="0"/>
              <a:t>CREATE TABLE”</a:t>
            </a:r>
            <a:r>
              <a:rPr lang="zh-CN" altLang="en-US" dirty="0"/>
              <a:t>创建一个数据表</a:t>
            </a:r>
            <a:endParaRPr lang="en-US" altLang="zh-CN" dirty="0"/>
          </a:p>
          <a:p>
            <a:pPr lvl="1"/>
            <a:r>
              <a:rPr lang="zh-CN" altLang="en-US" dirty="0"/>
              <a:t>数据表创建完成后，利用</a:t>
            </a:r>
            <a:r>
              <a:rPr lang="en-US" altLang="zh-CN" dirty="0"/>
              <a:t>SHOW</a:t>
            </a:r>
            <a:r>
              <a:rPr lang="zh-CN" altLang="en-US" dirty="0"/>
              <a:t>命令查看数据库中的数据表</a:t>
            </a:r>
          </a:p>
        </p:txBody>
      </p:sp>
    </p:spTree>
    <p:extLst>
      <p:ext uri="{BB962C8B-B14F-4D97-AF65-F5344CB8AC3E}">
        <p14:creationId xmlns:p14="http://schemas.microsoft.com/office/powerpoint/2010/main" val="25100079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A76AF8-846C-4CAF-A00C-C222C498C12D}"/>
              </a:ext>
            </a:extLst>
          </p:cNvPr>
          <p:cNvSpPr>
            <a:spLocks noGrp="1"/>
          </p:cNvSpPr>
          <p:nvPr>
            <p:ph type="title"/>
          </p:nvPr>
        </p:nvSpPr>
        <p:spPr/>
        <p:txBody>
          <a:bodyPr>
            <a:normAutofit fontScale="90000"/>
          </a:bodyPr>
          <a:lstStyle/>
          <a:p>
            <a:r>
              <a:rPr lang="en-US" altLang="zh-CN" dirty="0"/>
              <a:t>Hive</a:t>
            </a:r>
            <a:r>
              <a:rPr lang="zh-CN" altLang="en-US" dirty="0"/>
              <a:t>初探</a:t>
            </a:r>
          </a:p>
        </p:txBody>
      </p:sp>
      <p:sp>
        <p:nvSpPr>
          <p:cNvPr id="3" name="内容占位符 2">
            <a:extLst>
              <a:ext uri="{FF2B5EF4-FFF2-40B4-BE49-F238E27FC236}">
                <a16:creationId xmlns:a16="http://schemas.microsoft.com/office/drawing/2014/main" id="{7287B597-B87A-43E6-8A04-E48B53D891A6}"/>
              </a:ext>
            </a:extLst>
          </p:cNvPr>
          <p:cNvSpPr>
            <a:spLocks noGrp="1"/>
          </p:cNvSpPr>
          <p:nvPr>
            <p:ph idx="1"/>
          </p:nvPr>
        </p:nvSpPr>
        <p:spPr/>
        <p:txBody>
          <a:bodyPr/>
          <a:lstStyle/>
          <a:p>
            <a:endParaRPr lang="zh-CN" altLang="en-US" dirty="0"/>
          </a:p>
        </p:txBody>
      </p:sp>
      <p:pic>
        <p:nvPicPr>
          <p:cNvPr id="4" name="图片 3">
            <a:extLst>
              <a:ext uri="{FF2B5EF4-FFF2-40B4-BE49-F238E27FC236}">
                <a16:creationId xmlns:a16="http://schemas.microsoft.com/office/drawing/2014/main" id="{85903380-5650-4DF4-A6B0-9B8E462DA214}"/>
              </a:ext>
            </a:extLst>
          </p:cNvPr>
          <p:cNvPicPr>
            <a:picLocks noChangeAspect="1"/>
          </p:cNvPicPr>
          <p:nvPr/>
        </p:nvPicPr>
        <p:blipFill>
          <a:blip r:embed="rId2"/>
          <a:stretch>
            <a:fillRect/>
          </a:stretch>
        </p:blipFill>
        <p:spPr>
          <a:xfrm>
            <a:off x="1043608" y="950940"/>
            <a:ext cx="7264277" cy="4192560"/>
          </a:xfrm>
          <a:prstGeom prst="rect">
            <a:avLst/>
          </a:prstGeom>
        </p:spPr>
      </p:pic>
    </p:spTree>
    <p:extLst>
      <p:ext uri="{BB962C8B-B14F-4D97-AF65-F5344CB8AC3E}">
        <p14:creationId xmlns:p14="http://schemas.microsoft.com/office/powerpoint/2010/main" val="4077520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en-US" altLang="zh-CN" dirty="0"/>
              <a:t>Hive</a:t>
            </a:r>
            <a:r>
              <a:rPr lang="zh-CN" altLang="en-US" dirty="0"/>
              <a:t>初探</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a:xfrm>
            <a:off x="457200" y="987574"/>
            <a:ext cx="8229600" cy="3607049"/>
          </a:xfrm>
        </p:spPr>
        <p:txBody>
          <a:bodyPr/>
          <a:lstStyle/>
          <a:p>
            <a:r>
              <a:rPr lang="zh-CN" altLang="en-US" dirty="0"/>
              <a:t>步骤</a:t>
            </a:r>
            <a:r>
              <a:rPr lang="en-US" altLang="zh-CN" dirty="0"/>
              <a:t>3</a:t>
            </a:r>
            <a:r>
              <a:rPr lang="zh-CN" altLang="en-US" dirty="0"/>
              <a:t>：数据文件的加载，并确认</a:t>
            </a:r>
          </a:p>
        </p:txBody>
      </p:sp>
      <p:pic>
        <p:nvPicPr>
          <p:cNvPr id="4" name="图片 3">
            <a:extLst>
              <a:ext uri="{FF2B5EF4-FFF2-40B4-BE49-F238E27FC236}">
                <a16:creationId xmlns:a16="http://schemas.microsoft.com/office/drawing/2014/main" id="{76FCD7D1-7163-4887-96BD-9DB463D5902E}"/>
              </a:ext>
            </a:extLst>
          </p:cNvPr>
          <p:cNvPicPr>
            <a:picLocks noChangeAspect="1"/>
          </p:cNvPicPr>
          <p:nvPr/>
        </p:nvPicPr>
        <p:blipFill>
          <a:blip r:embed="rId2"/>
          <a:stretch>
            <a:fillRect/>
          </a:stretch>
        </p:blipFill>
        <p:spPr>
          <a:xfrm>
            <a:off x="1043608" y="1635646"/>
            <a:ext cx="6300192" cy="3427566"/>
          </a:xfrm>
          <a:prstGeom prst="rect">
            <a:avLst/>
          </a:prstGeom>
        </p:spPr>
      </p:pic>
    </p:spTree>
    <p:extLst>
      <p:ext uri="{BB962C8B-B14F-4D97-AF65-F5344CB8AC3E}">
        <p14:creationId xmlns:p14="http://schemas.microsoft.com/office/powerpoint/2010/main" val="1055612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en-US" altLang="zh-CN" dirty="0"/>
              <a:t>Hive</a:t>
            </a:r>
            <a:r>
              <a:rPr lang="zh-CN" altLang="en-US" dirty="0"/>
              <a:t>初探</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lstStyle/>
          <a:p>
            <a:r>
              <a:rPr lang="zh-CN" altLang="en-US" dirty="0"/>
              <a:t>步骤</a:t>
            </a:r>
            <a:r>
              <a:rPr lang="en-US" altLang="zh-CN" dirty="0"/>
              <a:t>4</a:t>
            </a:r>
            <a:r>
              <a:rPr lang="zh-CN" altLang="en-US" dirty="0"/>
              <a:t>：数据的插入操作</a:t>
            </a:r>
          </a:p>
        </p:txBody>
      </p:sp>
      <p:pic>
        <p:nvPicPr>
          <p:cNvPr id="4" name="图片 3">
            <a:extLst>
              <a:ext uri="{FF2B5EF4-FFF2-40B4-BE49-F238E27FC236}">
                <a16:creationId xmlns:a16="http://schemas.microsoft.com/office/drawing/2014/main" id="{558CDA69-80E7-44AB-9780-5B1559366B0C}"/>
              </a:ext>
            </a:extLst>
          </p:cNvPr>
          <p:cNvPicPr>
            <a:picLocks noChangeAspect="1"/>
          </p:cNvPicPr>
          <p:nvPr/>
        </p:nvPicPr>
        <p:blipFill>
          <a:blip r:embed="rId2"/>
          <a:stretch>
            <a:fillRect/>
          </a:stretch>
        </p:blipFill>
        <p:spPr>
          <a:xfrm>
            <a:off x="-1325" y="1995686"/>
            <a:ext cx="9144000" cy="2273742"/>
          </a:xfrm>
          <a:prstGeom prst="rect">
            <a:avLst/>
          </a:prstGeom>
        </p:spPr>
      </p:pic>
    </p:spTree>
    <p:extLst>
      <p:ext uri="{BB962C8B-B14F-4D97-AF65-F5344CB8AC3E}">
        <p14:creationId xmlns:p14="http://schemas.microsoft.com/office/powerpoint/2010/main" val="7016783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en-US" altLang="zh-CN" dirty="0"/>
              <a:t>Hive</a:t>
            </a:r>
            <a:r>
              <a:rPr lang="zh-CN" altLang="en-US" dirty="0"/>
              <a:t>初探</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a:xfrm>
            <a:off x="457200" y="915566"/>
            <a:ext cx="8229600" cy="3679057"/>
          </a:xfrm>
        </p:spPr>
        <p:txBody>
          <a:bodyPr/>
          <a:lstStyle/>
          <a:p>
            <a:r>
              <a:rPr lang="zh-CN" altLang="en-US" dirty="0"/>
              <a:t>步骤</a:t>
            </a:r>
            <a:r>
              <a:rPr lang="en-US" altLang="zh-CN" dirty="0"/>
              <a:t>5</a:t>
            </a:r>
            <a:r>
              <a:rPr lang="zh-CN" altLang="en-US" dirty="0"/>
              <a:t>：数据的查询，分组求平均值</a:t>
            </a:r>
          </a:p>
        </p:txBody>
      </p:sp>
      <p:pic>
        <p:nvPicPr>
          <p:cNvPr id="4" name="图片 3">
            <a:extLst>
              <a:ext uri="{FF2B5EF4-FFF2-40B4-BE49-F238E27FC236}">
                <a16:creationId xmlns:a16="http://schemas.microsoft.com/office/drawing/2014/main" id="{8CFEF475-E7B2-485D-8F4B-3E98E3D0B90D}"/>
              </a:ext>
            </a:extLst>
          </p:cNvPr>
          <p:cNvPicPr>
            <a:picLocks noChangeAspect="1"/>
          </p:cNvPicPr>
          <p:nvPr/>
        </p:nvPicPr>
        <p:blipFill>
          <a:blip r:embed="rId2"/>
          <a:stretch>
            <a:fillRect/>
          </a:stretch>
        </p:blipFill>
        <p:spPr>
          <a:xfrm>
            <a:off x="916332" y="1491630"/>
            <a:ext cx="7311335" cy="3579508"/>
          </a:xfrm>
          <a:prstGeom prst="rect">
            <a:avLst/>
          </a:prstGeom>
        </p:spPr>
      </p:pic>
    </p:spTree>
    <p:extLst>
      <p:ext uri="{BB962C8B-B14F-4D97-AF65-F5344CB8AC3E}">
        <p14:creationId xmlns:p14="http://schemas.microsoft.com/office/powerpoint/2010/main" val="10819870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en-US" altLang="zh-CN" dirty="0"/>
              <a:t>Hive</a:t>
            </a:r>
            <a:r>
              <a:rPr lang="zh-CN" altLang="en-US" dirty="0"/>
              <a:t>初探</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normAutofit lnSpcReduction="10000"/>
          </a:bodyPr>
          <a:lstStyle/>
          <a:p>
            <a:r>
              <a:rPr lang="zh-CN" altLang="en-US" dirty="0"/>
              <a:t>本节内容完整的展示了一个</a:t>
            </a:r>
            <a:r>
              <a:rPr lang="en-US" altLang="zh-CN" dirty="0"/>
              <a:t>Hive</a:t>
            </a:r>
            <a:r>
              <a:rPr lang="zh-CN" altLang="en-US" dirty="0"/>
              <a:t>数据库创建、数据表创建并导入数据、以及数据查看的整个流程，希望这个简单的</a:t>
            </a:r>
            <a:r>
              <a:rPr lang="en-US" altLang="zh-CN" dirty="0"/>
              <a:t>Hive</a:t>
            </a:r>
            <a:r>
              <a:rPr lang="zh-CN" altLang="en-US" dirty="0"/>
              <a:t>应用过程能够让读者对</a:t>
            </a:r>
            <a:r>
              <a:rPr lang="en-US" altLang="zh-CN" dirty="0"/>
              <a:t>Hive</a:t>
            </a:r>
            <a:r>
              <a:rPr lang="zh-CN" altLang="en-US" dirty="0"/>
              <a:t>形成直观认识，使其不再是抽象的概念。接下来的章节中将对</a:t>
            </a:r>
            <a:r>
              <a:rPr lang="en-US" altLang="zh-CN" dirty="0"/>
              <a:t>Hive</a:t>
            </a:r>
            <a:r>
              <a:rPr lang="zh-CN" altLang="en-US" dirty="0"/>
              <a:t>的数据定义语言、数据操纵语言和数据查询语言逐一展开介绍。</a:t>
            </a:r>
          </a:p>
        </p:txBody>
      </p:sp>
    </p:spTree>
    <p:extLst>
      <p:ext uri="{BB962C8B-B14F-4D97-AF65-F5344CB8AC3E}">
        <p14:creationId xmlns:p14="http://schemas.microsoft.com/office/powerpoint/2010/main" val="38449599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23987" y="1732402"/>
            <a:ext cx="5236445" cy="646331"/>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Hive</a:t>
            </a:r>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的</a:t>
            </a:r>
            <a:r>
              <a:rPr lang="zh-CN" altLang="en-US" sz="36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数据定义</a:t>
            </a:r>
            <a:r>
              <a:rPr lang="en-US" altLang="zh-CN" sz="36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—DDL</a:t>
            </a:r>
            <a:endPar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endParaRP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04</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9465520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Hive</a:t>
            </a:r>
            <a:r>
              <a:rPr lang="zh-CN" altLang="en-US" dirty="0"/>
              <a:t>的数据定义</a:t>
            </a:r>
            <a:r>
              <a:rPr lang="en-US" altLang="zh-CN" dirty="0"/>
              <a:t>--DDL</a:t>
            </a:r>
          </a:p>
        </p:txBody>
      </p:sp>
      <p:sp>
        <p:nvSpPr>
          <p:cNvPr id="4" name="Rectangle 3"/>
          <p:cNvSpPr>
            <a:spLocks noGrp="1" noChangeArrowheads="1"/>
          </p:cNvSpPr>
          <p:nvPr>
            <p:ph idx="1"/>
          </p:nvPr>
        </p:nvSpPr>
        <p:spPr>
          <a:xfrm>
            <a:off x="457200" y="1167594"/>
            <a:ext cx="7715200" cy="3708411"/>
          </a:xfrm>
        </p:spPr>
        <p:txBody>
          <a:bodyPr>
            <a:normAutofit/>
          </a:bodyPr>
          <a:lstStyle/>
          <a:p>
            <a:r>
              <a:rPr lang="en-US" altLang="zh-CN" sz="2800" dirty="0"/>
              <a:t>Hive</a:t>
            </a:r>
            <a:r>
              <a:rPr lang="zh-CN" altLang="en-US" sz="2800" dirty="0"/>
              <a:t>的数据定义主要通过其数据定义语言（</a:t>
            </a:r>
            <a:r>
              <a:rPr lang="en-US" altLang="zh-CN" sz="2800" dirty="0"/>
              <a:t>DDL</a:t>
            </a:r>
            <a:r>
              <a:rPr lang="zh-CN" altLang="en-US" sz="2800" dirty="0"/>
              <a:t>：</a:t>
            </a:r>
            <a:r>
              <a:rPr lang="en-US" altLang="zh-CN" sz="2800" dirty="0"/>
              <a:t>Data Definition Language</a:t>
            </a:r>
            <a:r>
              <a:rPr lang="zh-CN" altLang="en-US" sz="2800" dirty="0"/>
              <a:t>）完成。</a:t>
            </a:r>
            <a:r>
              <a:rPr lang="en-US" altLang="zh-CN" sz="2800" dirty="0"/>
              <a:t>DDL</a:t>
            </a:r>
            <a:r>
              <a:rPr lang="zh-CN" altLang="en-US" sz="2800" dirty="0"/>
              <a:t>中的主要操作包括</a:t>
            </a:r>
            <a:r>
              <a:rPr lang="en-US" altLang="zh-CN" sz="2800" dirty="0"/>
              <a:t>CREATE</a:t>
            </a:r>
            <a:r>
              <a:rPr lang="zh-CN" altLang="en-US" sz="2800" dirty="0"/>
              <a:t>、</a:t>
            </a:r>
            <a:r>
              <a:rPr lang="en-US" altLang="zh-CN" sz="2800" dirty="0"/>
              <a:t>DROP</a:t>
            </a:r>
            <a:r>
              <a:rPr lang="zh-CN" altLang="en-US" sz="2800" dirty="0"/>
              <a:t>、</a:t>
            </a:r>
            <a:r>
              <a:rPr lang="en-US" altLang="zh-CN" sz="2800" dirty="0"/>
              <a:t>SHOW</a:t>
            </a:r>
            <a:r>
              <a:rPr lang="zh-CN" altLang="en-US" sz="2800" dirty="0"/>
              <a:t>、</a:t>
            </a:r>
            <a:r>
              <a:rPr lang="en-US" altLang="zh-CN" sz="2800" dirty="0"/>
              <a:t>TRUNCATE</a:t>
            </a:r>
            <a:r>
              <a:rPr lang="zh-CN" altLang="en-US" sz="2800" dirty="0"/>
              <a:t>、</a:t>
            </a:r>
            <a:r>
              <a:rPr lang="en-US" altLang="zh-CN" sz="2800" dirty="0"/>
              <a:t>DESCRIBE</a:t>
            </a:r>
            <a:r>
              <a:rPr lang="zh-CN" altLang="en-US" sz="2800" dirty="0"/>
              <a:t>、</a:t>
            </a:r>
            <a:r>
              <a:rPr lang="en-US" altLang="zh-CN" sz="2800" dirty="0"/>
              <a:t>ALTER</a:t>
            </a:r>
            <a:r>
              <a:rPr lang="zh-CN" altLang="en-US" sz="2800" dirty="0"/>
              <a:t>等，其操作对象可以是</a:t>
            </a:r>
            <a:r>
              <a:rPr lang="en-US" altLang="zh-CN" sz="2800" dirty="0"/>
              <a:t>DATABASE</a:t>
            </a:r>
            <a:r>
              <a:rPr lang="zh-CN" altLang="en-US" sz="2800" dirty="0"/>
              <a:t>，</a:t>
            </a:r>
            <a:r>
              <a:rPr lang="en-US" altLang="zh-CN" sz="2800" dirty="0"/>
              <a:t>SCHEME</a:t>
            </a:r>
            <a:r>
              <a:rPr lang="zh-CN" altLang="en-US" sz="2800" dirty="0"/>
              <a:t>，</a:t>
            </a:r>
            <a:r>
              <a:rPr lang="en-US" altLang="zh-CN" sz="2800" dirty="0"/>
              <a:t>TABLE</a:t>
            </a:r>
            <a:r>
              <a:rPr lang="zh-CN" altLang="en-US" sz="2800" dirty="0"/>
              <a:t>，</a:t>
            </a:r>
            <a:r>
              <a:rPr lang="en-US" altLang="zh-CN" sz="2800" dirty="0"/>
              <a:t>VIEW</a:t>
            </a:r>
            <a:r>
              <a:rPr lang="zh-CN" altLang="en-US" sz="2800" dirty="0"/>
              <a:t>等。</a:t>
            </a:r>
            <a:endParaRPr lang="en-US" altLang="zh-CN" sz="2800" dirty="0">
              <a:ea typeface="宋体" pitchFamily="2" charset="-122"/>
            </a:endParaRPr>
          </a:p>
        </p:txBody>
      </p:sp>
    </p:spTree>
    <p:extLst>
      <p:ext uri="{BB962C8B-B14F-4D97-AF65-F5344CB8AC3E}">
        <p14:creationId xmlns:p14="http://schemas.microsoft.com/office/powerpoint/2010/main" val="12741586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数据库的相关操作</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normAutofit fontScale="85000" lnSpcReduction="10000"/>
          </a:bodyPr>
          <a:lstStyle/>
          <a:p>
            <a:r>
              <a:rPr lang="en-US" altLang="zh-CN" dirty="0"/>
              <a:t>1</a:t>
            </a:r>
            <a:r>
              <a:rPr lang="zh-CN" altLang="en-US" dirty="0"/>
              <a:t>．创建数据库</a:t>
            </a:r>
          </a:p>
          <a:p>
            <a:pPr lvl="1"/>
            <a:r>
              <a:rPr lang="zh-CN" altLang="en-US" dirty="0"/>
              <a:t>创建</a:t>
            </a:r>
            <a:r>
              <a:rPr lang="en-US" altLang="zh-CN" dirty="0"/>
              <a:t>Database</a:t>
            </a:r>
            <a:r>
              <a:rPr lang="zh-CN" altLang="en-US" dirty="0"/>
              <a:t>的操作命令是</a:t>
            </a:r>
            <a:r>
              <a:rPr lang="en-US" altLang="zh-CN" dirty="0"/>
              <a:t>CREATE</a:t>
            </a:r>
            <a:r>
              <a:rPr lang="zh-CN" altLang="en-US" dirty="0"/>
              <a:t>，其语法定义如下：</a:t>
            </a:r>
          </a:p>
          <a:p>
            <a:pPr marL="400050" lvl="1" indent="0">
              <a:buNone/>
            </a:pPr>
            <a:r>
              <a:rPr lang="en-US" altLang="zh-CN" dirty="0"/>
              <a:t>CREATE (DATABASE|SCHEMA) [IF NOT EXISTS] </a:t>
            </a:r>
            <a:r>
              <a:rPr lang="en-US" altLang="zh-CN" dirty="0" err="1"/>
              <a:t>database_name</a:t>
            </a:r>
            <a:endParaRPr lang="en-US" altLang="zh-CN" dirty="0"/>
          </a:p>
          <a:p>
            <a:pPr marL="400050" lvl="1" indent="0">
              <a:buNone/>
            </a:pPr>
            <a:r>
              <a:rPr lang="en-US" altLang="zh-CN" dirty="0"/>
              <a:t>    [COMMENT </a:t>
            </a:r>
            <a:r>
              <a:rPr lang="en-US" altLang="zh-CN" dirty="0" err="1"/>
              <a:t>database_comment</a:t>
            </a:r>
            <a:r>
              <a:rPr lang="en-US" altLang="zh-CN" dirty="0"/>
              <a:t>]</a:t>
            </a:r>
          </a:p>
          <a:p>
            <a:pPr marL="400050" lvl="1" indent="0">
              <a:buNone/>
            </a:pPr>
            <a:r>
              <a:rPr lang="en-US" altLang="zh-CN" dirty="0"/>
              <a:t>    [LOCATION </a:t>
            </a:r>
            <a:r>
              <a:rPr lang="en-US" altLang="zh-CN" dirty="0" err="1"/>
              <a:t>hdfs_path</a:t>
            </a:r>
            <a:r>
              <a:rPr lang="en-US" altLang="zh-CN" dirty="0"/>
              <a:t>]</a:t>
            </a:r>
          </a:p>
          <a:p>
            <a:pPr marL="400050" lvl="1" indent="0">
              <a:buNone/>
            </a:pPr>
            <a:r>
              <a:rPr lang="en-US" altLang="zh-CN" dirty="0"/>
              <a:t>    [MANAGEDLOCATION </a:t>
            </a:r>
            <a:r>
              <a:rPr lang="en-US" altLang="zh-CN" dirty="0" err="1"/>
              <a:t>hdfs_path</a:t>
            </a:r>
            <a:r>
              <a:rPr lang="en-US" altLang="zh-CN" dirty="0"/>
              <a:t>]</a:t>
            </a:r>
          </a:p>
          <a:p>
            <a:pPr marL="400050" lvl="1" indent="0">
              <a:buNone/>
            </a:pPr>
            <a:r>
              <a:rPr lang="en-US" altLang="zh-CN" dirty="0"/>
              <a:t>    [WITH DBPROPERTIES (</a:t>
            </a:r>
            <a:r>
              <a:rPr lang="en-US" altLang="zh-CN" dirty="0" err="1"/>
              <a:t>property_name</a:t>
            </a:r>
            <a:r>
              <a:rPr lang="en-US" altLang="zh-CN" dirty="0"/>
              <a:t>=</a:t>
            </a:r>
            <a:r>
              <a:rPr lang="en-US" altLang="zh-CN" dirty="0" err="1"/>
              <a:t>property_value</a:t>
            </a:r>
            <a:r>
              <a:rPr lang="en-US" altLang="zh-CN" dirty="0"/>
              <a:t>, ...)]</a:t>
            </a:r>
          </a:p>
          <a:p>
            <a:endParaRPr lang="zh-CN" altLang="en-US" dirty="0"/>
          </a:p>
        </p:txBody>
      </p:sp>
    </p:spTree>
    <p:extLst>
      <p:ext uri="{BB962C8B-B14F-4D97-AF65-F5344CB8AC3E}">
        <p14:creationId xmlns:p14="http://schemas.microsoft.com/office/powerpoint/2010/main" val="4842662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数据库的相关操作</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lstStyle/>
          <a:p>
            <a:r>
              <a:rPr lang="en-US" altLang="zh-CN" dirty="0"/>
              <a:t>【</a:t>
            </a:r>
            <a:r>
              <a:rPr lang="zh-CN" altLang="en-US" dirty="0"/>
              <a:t>例</a:t>
            </a:r>
            <a:r>
              <a:rPr lang="en-US" altLang="zh-CN" dirty="0"/>
              <a:t>6.1】</a:t>
            </a:r>
            <a:r>
              <a:rPr lang="zh-CN" altLang="en-US" dirty="0"/>
              <a:t>通过指定外部表存储位置的方法建立城市空气质量数据库“</a:t>
            </a:r>
            <a:r>
              <a:rPr lang="en-US" altLang="zh-CN" dirty="0" err="1"/>
              <a:t>db_city_aq</a:t>
            </a:r>
            <a:r>
              <a:rPr lang="en-US" altLang="zh-CN" dirty="0"/>
              <a:t>”</a:t>
            </a:r>
            <a:r>
              <a:rPr lang="zh-CN" altLang="en-US" dirty="0"/>
              <a:t>，同时为该数据库增加说明文字。</a:t>
            </a:r>
          </a:p>
        </p:txBody>
      </p:sp>
      <p:pic>
        <p:nvPicPr>
          <p:cNvPr id="4" name="图片 3">
            <a:extLst>
              <a:ext uri="{FF2B5EF4-FFF2-40B4-BE49-F238E27FC236}">
                <a16:creationId xmlns:a16="http://schemas.microsoft.com/office/drawing/2014/main" id="{378BCDBF-236C-4436-AAB3-B6F78DC644F2}"/>
              </a:ext>
            </a:extLst>
          </p:cNvPr>
          <p:cNvPicPr>
            <a:picLocks noChangeAspect="1"/>
          </p:cNvPicPr>
          <p:nvPr/>
        </p:nvPicPr>
        <p:blipFill>
          <a:blip r:embed="rId2"/>
          <a:stretch>
            <a:fillRect/>
          </a:stretch>
        </p:blipFill>
        <p:spPr>
          <a:xfrm>
            <a:off x="0" y="3007383"/>
            <a:ext cx="9144000" cy="1871932"/>
          </a:xfrm>
          <a:prstGeom prst="rect">
            <a:avLst/>
          </a:prstGeom>
        </p:spPr>
      </p:pic>
    </p:spTree>
    <p:extLst>
      <p:ext uri="{BB962C8B-B14F-4D97-AF65-F5344CB8AC3E}">
        <p14:creationId xmlns:p14="http://schemas.microsoft.com/office/powerpoint/2010/main" val="36530234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数据库的相关操作</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lstStyle/>
          <a:p>
            <a:r>
              <a:rPr lang="zh-CN" altLang="en-US" dirty="0"/>
              <a:t>通过</a:t>
            </a:r>
            <a:r>
              <a:rPr lang="en-US" altLang="zh-CN" dirty="0"/>
              <a:t>show</a:t>
            </a:r>
            <a:r>
              <a:rPr lang="zh-CN" altLang="en-US" dirty="0"/>
              <a:t>查看</a:t>
            </a:r>
            <a:r>
              <a:rPr lang="en-US" altLang="zh-CN" dirty="0"/>
              <a:t>Hive</a:t>
            </a:r>
            <a:r>
              <a:rPr lang="zh-CN" altLang="en-US" dirty="0"/>
              <a:t>中的数据库，从查询结果中可以看到刚刚创建的数据库</a:t>
            </a:r>
            <a:r>
              <a:rPr lang="en-US" altLang="zh-CN" dirty="0" err="1"/>
              <a:t>db_city_aq</a:t>
            </a:r>
            <a:endParaRPr lang="zh-CN" altLang="en-US" dirty="0"/>
          </a:p>
        </p:txBody>
      </p:sp>
      <p:pic>
        <p:nvPicPr>
          <p:cNvPr id="4" name="图片 3">
            <a:extLst>
              <a:ext uri="{FF2B5EF4-FFF2-40B4-BE49-F238E27FC236}">
                <a16:creationId xmlns:a16="http://schemas.microsoft.com/office/drawing/2014/main" id="{49DED0C8-7C8A-4BF5-9921-76B5F7328712}"/>
              </a:ext>
            </a:extLst>
          </p:cNvPr>
          <p:cNvPicPr>
            <a:picLocks noChangeAspect="1"/>
          </p:cNvPicPr>
          <p:nvPr/>
        </p:nvPicPr>
        <p:blipFill>
          <a:blip r:embed="rId2"/>
          <a:stretch>
            <a:fillRect/>
          </a:stretch>
        </p:blipFill>
        <p:spPr>
          <a:xfrm>
            <a:off x="6896" y="2427734"/>
            <a:ext cx="8287907" cy="2419688"/>
          </a:xfrm>
          <a:prstGeom prst="rect">
            <a:avLst/>
          </a:prstGeom>
        </p:spPr>
      </p:pic>
    </p:spTree>
    <p:extLst>
      <p:ext uri="{BB962C8B-B14F-4D97-AF65-F5344CB8AC3E}">
        <p14:creationId xmlns:p14="http://schemas.microsoft.com/office/powerpoint/2010/main" val="42483099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数据库的相关操作</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normAutofit/>
          </a:bodyPr>
          <a:lstStyle/>
          <a:p>
            <a:r>
              <a:rPr lang="zh-CN" altLang="en-US" sz="2800" dirty="0"/>
              <a:t>再通过</a:t>
            </a:r>
            <a:r>
              <a:rPr lang="en-US" altLang="zh-CN" sz="2800" dirty="0"/>
              <a:t>HDFS</a:t>
            </a:r>
            <a:r>
              <a:rPr lang="zh-CN" altLang="en-US" sz="2800" dirty="0"/>
              <a:t>文件系统上查看数据库对应的文件生成情况，利用</a:t>
            </a:r>
            <a:r>
              <a:rPr lang="en-US" altLang="zh-CN" sz="2800" dirty="0"/>
              <a:t>ls</a:t>
            </a:r>
            <a:r>
              <a:rPr lang="zh-CN" altLang="en-US" sz="2800" dirty="0"/>
              <a:t>查看</a:t>
            </a:r>
            <a:r>
              <a:rPr lang="en-US" altLang="zh-CN" sz="2800" dirty="0" err="1"/>
              <a:t>hdfs</a:t>
            </a:r>
            <a:r>
              <a:rPr lang="zh-CN" altLang="en-US" sz="2800" dirty="0"/>
              <a:t>上的文件夹发现数据库</a:t>
            </a:r>
            <a:r>
              <a:rPr lang="en-US" altLang="zh-CN" sz="2800" dirty="0" err="1"/>
              <a:t>db_city_aq</a:t>
            </a:r>
            <a:r>
              <a:rPr lang="zh-CN" altLang="en-US" sz="2800" dirty="0"/>
              <a:t>对应的目录</a:t>
            </a:r>
          </a:p>
        </p:txBody>
      </p:sp>
      <p:pic>
        <p:nvPicPr>
          <p:cNvPr id="6" name="图片 5">
            <a:extLst>
              <a:ext uri="{FF2B5EF4-FFF2-40B4-BE49-F238E27FC236}">
                <a16:creationId xmlns:a16="http://schemas.microsoft.com/office/drawing/2014/main" id="{99F6893A-EFFD-432F-91CC-BB3091371E34}"/>
              </a:ext>
            </a:extLst>
          </p:cNvPr>
          <p:cNvPicPr>
            <a:picLocks noChangeAspect="1"/>
          </p:cNvPicPr>
          <p:nvPr/>
        </p:nvPicPr>
        <p:blipFill>
          <a:blip r:embed="rId2"/>
          <a:stretch>
            <a:fillRect/>
          </a:stretch>
        </p:blipFill>
        <p:spPr>
          <a:xfrm>
            <a:off x="-3339" y="3147814"/>
            <a:ext cx="9144000" cy="1146313"/>
          </a:xfrm>
          <a:prstGeom prst="rect">
            <a:avLst/>
          </a:prstGeom>
        </p:spPr>
      </p:pic>
    </p:spTree>
    <p:extLst>
      <p:ext uri="{BB962C8B-B14F-4D97-AF65-F5344CB8AC3E}">
        <p14:creationId xmlns:p14="http://schemas.microsoft.com/office/powerpoint/2010/main" val="6857917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数据库的相关操作</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normAutofit fontScale="92500" lnSpcReduction="10000"/>
          </a:bodyPr>
          <a:lstStyle/>
          <a:p>
            <a:r>
              <a:rPr lang="en-US" altLang="zh-CN" dirty="0"/>
              <a:t>2</a:t>
            </a:r>
            <a:r>
              <a:rPr lang="zh-CN" altLang="en-US" dirty="0"/>
              <a:t>．删除数据库</a:t>
            </a:r>
          </a:p>
          <a:p>
            <a:pPr lvl="1"/>
            <a:r>
              <a:rPr lang="zh-CN" altLang="en-US" dirty="0"/>
              <a:t>删除数据库的命令是</a:t>
            </a:r>
            <a:r>
              <a:rPr lang="en-US" altLang="zh-CN" dirty="0"/>
              <a:t>DROP</a:t>
            </a:r>
            <a:r>
              <a:rPr lang="zh-CN" altLang="en-US" dirty="0"/>
              <a:t>，其语法定义如下：</a:t>
            </a:r>
          </a:p>
          <a:p>
            <a:pPr marL="400050" lvl="1" indent="0">
              <a:buNone/>
            </a:pPr>
            <a:r>
              <a:rPr lang="en-US" altLang="zh-CN" dirty="0"/>
              <a:t>DROP (DATABASE|SCHEMA) [IF EXISTS] </a:t>
            </a:r>
            <a:r>
              <a:rPr lang="en-US" altLang="zh-CN" dirty="0" err="1"/>
              <a:t>database_name</a:t>
            </a:r>
            <a:r>
              <a:rPr lang="en-US" altLang="zh-CN" dirty="0"/>
              <a:t> [RESTRICT|CASCADE];</a:t>
            </a:r>
          </a:p>
          <a:p>
            <a:pPr lvl="1"/>
            <a:r>
              <a:rPr lang="en-US" altLang="zh-CN" dirty="0"/>
              <a:t>[RESTRICT|CASCADE]</a:t>
            </a:r>
            <a:r>
              <a:rPr lang="zh-CN" altLang="en-US" dirty="0"/>
              <a:t>选项没有明确指定时，缺省值是</a:t>
            </a:r>
            <a:r>
              <a:rPr lang="en-US" altLang="zh-CN" dirty="0"/>
              <a:t>RESTRICE</a:t>
            </a:r>
            <a:r>
              <a:rPr lang="zh-CN" altLang="en-US" dirty="0"/>
              <a:t>，表示数据库不为空时不能删除数据库；若指定为</a:t>
            </a:r>
            <a:r>
              <a:rPr lang="en-US" altLang="zh-CN" dirty="0"/>
              <a:t>CASCADE</a:t>
            </a:r>
            <a:r>
              <a:rPr lang="zh-CN" altLang="en-US" dirty="0"/>
              <a:t>，则会级联删除数据库中的所有数据表，因此应慎重使用。</a:t>
            </a:r>
          </a:p>
          <a:p>
            <a:endParaRPr lang="zh-CN" altLang="en-US" dirty="0"/>
          </a:p>
        </p:txBody>
      </p:sp>
    </p:spTree>
    <p:extLst>
      <p:ext uri="{BB962C8B-B14F-4D97-AF65-F5344CB8AC3E}">
        <p14:creationId xmlns:p14="http://schemas.microsoft.com/office/powerpoint/2010/main" val="21077129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数据库的相关操作</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a:xfrm>
            <a:off x="457200" y="1059582"/>
            <a:ext cx="8229600" cy="3535041"/>
          </a:xfrm>
        </p:spPr>
        <p:txBody>
          <a:bodyPr/>
          <a:lstStyle/>
          <a:p>
            <a:r>
              <a:rPr lang="en-US" altLang="zh-CN" dirty="0"/>
              <a:t>【</a:t>
            </a:r>
            <a:r>
              <a:rPr lang="zh-CN" altLang="en-US" dirty="0"/>
              <a:t>例</a:t>
            </a:r>
            <a:r>
              <a:rPr lang="en-US" altLang="zh-CN" dirty="0"/>
              <a:t>6.2】</a:t>
            </a:r>
            <a:r>
              <a:rPr lang="zh-CN" altLang="en-US" dirty="0"/>
              <a:t>删除空数据库</a:t>
            </a:r>
            <a:r>
              <a:rPr lang="en-US" altLang="zh-CN" dirty="0" err="1"/>
              <a:t>db_city_aq</a:t>
            </a:r>
            <a:r>
              <a:rPr lang="zh-CN" altLang="en-US" dirty="0"/>
              <a:t>，再利用</a:t>
            </a:r>
            <a:r>
              <a:rPr lang="en-US" altLang="zh-CN" dirty="0"/>
              <a:t>show</a:t>
            </a:r>
            <a:r>
              <a:rPr lang="zh-CN" altLang="en-US" dirty="0"/>
              <a:t>命令查看现有数据库，删除成功。</a:t>
            </a:r>
          </a:p>
        </p:txBody>
      </p:sp>
      <p:pic>
        <p:nvPicPr>
          <p:cNvPr id="4" name="图片 3">
            <a:extLst>
              <a:ext uri="{FF2B5EF4-FFF2-40B4-BE49-F238E27FC236}">
                <a16:creationId xmlns:a16="http://schemas.microsoft.com/office/drawing/2014/main" id="{42E0CA4F-6729-433E-A161-915B38573018}"/>
              </a:ext>
            </a:extLst>
          </p:cNvPr>
          <p:cNvPicPr>
            <a:picLocks noChangeAspect="1"/>
          </p:cNvPicPr>
          <p:nvPr/>
        </p:nvPicPr>
        <p:blipFill>
          <a:blip r:embed="rId2"/>
          <a:stretch>
            <a:fillRect/>
          </a:stretch>
        </p:blipFill>
        <p:spPr>
          <a:xfrm>
            <a:off x="701824" y="2067694"/>
            <a:ext cx="7740352" cy="2920587"/>
          </a:xfrm>
          <a:prstGeom prst="rect">
            <a:avLst/>
          </a:prstGeom>
        </p:spPr>
      </p:pic>
    </p:spTree>
    <p:extLst>
      <p:ext uri="{BB962C8B-B14F-4D97-AF65-F5344CB8AC3E}">
        <p14:creationId xmlns:p14="http://schemas.microsoft.com/office/powerpoint/2010/main" val="19810354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E80A7E-E762-490B-91DE-02284F88CCA5}"/>
              </a:ext>
            </a:extLst>
          </p:cNvPr>
          <p:cNvSpPr>
            <a:spLocks noGrp="1"/>
          </p:cNvSpPr>
          <p:nvPr>
            <p:ph type="title"/>
          </p:nvPr>
        </p:nvSpPr>
        <p:spPr/>
        <p:txBody>
          <a:bodyPr>
            <a:normAutofit fontScale="90000"/>
          </a:bodyPr>
          <a:lstStyle/>
          <a:p>
            <a:r>
              <a:rPr lang="zh-CN" altLang="en-US" dirty="0"/>
              <a:t>数据库的相关操作</a:t>
            </a:r>
          </a:p>
        </p:txBody>
      </p:sp>
      <p:sp>
        <p:nvSpPr>
          <p:cNvPr id="3" name="内容占位符 2">
            <a:extLst>
              <a:ext uri="{FF2B5EF4-FFF2-40B4-BE49-F238E27FC236}">
                <a16:creationId xmlns:a16="http://schemas.microsoft.com/office/drawing/2014/main" id="{8E352F03-EB73-4668-8892-D99DF0020A10}"/>
              </a:ext>
            </a:extLst>
          </p:cNvPr>
          <p:cNvSpPr>
            <a:spLocks noGrp="1"/>
          </p:cNvSpPr>
          <p:nvPr>
            <p:ph idx="1"/>
          </p:nvPr>
        </p:nvSpPr>
        <p:spPr/>
        <p:txBody>
          <a:bodyPr>
            <a:normAutofit fontScale="92500" lnSpcReduction="10000"/>
          </a:bodyPr>
          <a:lstStyle/>
          <a:p>
            <a:r>
              <a:rPr lang="en-US" altLang="zh-CN" dirty="0"/>
              <a:t>3</a:t>
            </a:r>
            <a:r>
              <a:rPr lang="zh-CN" altLang="en-US" dirty="0"/>
              <a:t>．使用数据库</a:t>
            </a:r>
            <a:endParaRPr lang="en-US" altLang="zh-CN" dirty="0"/>
          </a:p>
          <a:p>
            <a:r>
              <a:rPr lang="zh-CN" altLang="en-US" sz="2800" dirty="0"/>
              <a:t>使用数据库</a:t>
            </a:r>
            <a:r>
              <a:rPr lang="en-US" altLang="zh-CN" sz="2800" dirty="0"/>
              <a:t>USE</a:t>
            </a:r>
            <a:r>
              <a:rPr lang="zh-CN" altLang="en-US" sz="2800" dirty="0"/>
              <a:t>命令的含义是指在交互操作过程中，使用该指令设置指定数据库为</a:t>
            </a:r>
            <a:r>
              <a:rPr lang="zh-CN" altLang="en-US" sz="2800"/>
              <a:t>当前数据库。</a:t>
            </a:r>
            <a:endParaRPr lang="zh-CN" altLang="en-US" sz="2800" dirty="0"/>
          </a:p>
          <a:p>
            <a:r>
              <a:rPr lang="zh-CN" altLang="en-US" sz="3000" dirty="0"/>
              <a:t>其语法定义如下：</a:t>
            </a:r>
          </a:p>
          <a:p>
            <a:pPr marL="800100" lvl="2" indent="0">
              <a:buNone/>
            </a:pPr>
            <a:r>
              <a:rPr lang="en-US" altLang="zh-CN" sz="2800" dirty="0"/>
              <a:t>USE </a:t>
            </a:r>
            <a:r>
              <a:rPr lang="en-US" altLang="zh-CN" sz="2800" dirty="0" err="1"/>
              <a:t>database_name</a:t>
            </a:r>
            <a:r>
              <a:rPr lang="en-US" altLang="zh-CN" sz="2800" dirty="0"/>
              <a:t>;</a:t>
            </a:r>
          </a:p>
          <a:p>
            <a:pPr marL="800100" lvl="2" indent="0">
              <a:buNone/>
            </a:pPr>
            <a:r>
              <a:rPr lang="en-US" altLang="zh-CN" sz="2800" dirty="0"/>
              <a:t>USE DEFAULT;</a:t>
            </a:r>
          </a:p>
          <a:p>
            <a:r>
              <a:rPr lang="en-US" altLang="zh-CN" sz="2600" dirty="0"/>
              <a:t>DEFAULT</a:t>
            </a:r>
            <a:r>
              <a:rPr lang="zh-CN" altLang="en-US" sz="2600" dirty="0"/>
              <a:t>是缺省情况下特指某个数据库，可以用</a:t>
            </a:r>
            <a:r>
              <a:rPr lang="en-US" altLang="zh-CN" sz="2600" dirty="0"/>
              <a:t>DEFAULT</a:t>
            </a:r>
            <a:r>
              <a:rPr lang="zh-CN" altLang="en-US" sz="2600" dirty="0"/>
              <a:t>代替具体的</a:t>
            </a:r>
            <a:r>
              <a:rPr lang="en-US" altLang="zh-CN" sz="2600" dirty="0"/>
              <a:t>DATABASE</a:t>
            </a:r>
            <a:r>
              <a:rPr lang="zh-CN" altLang="en-US" sz="2600" dirty="0"/>
              <a:t>名称，以方便</a:t>
            </a:r>
            <a:r>
              <a:rPr lang="zh-CN" altLang="en-US" sz="2600"/>
              <a:t>使用。</a:t>
            </a:r>
            <a:endParaRPr lang="zh-CN" altLang="en-US" sz="2600" dirty="0"/>
          </a:p>
        </p:txBody>
      </p:sp>
    </p:spTree>
    <p:extLst>
      <p:ext uri="{BB962C8B-B14F-4D97-AF65-F5344CB8AC3E}">
        <p14:creationId xmlns:p14="http://schemas.microsoft.com/office/powerpoint/2010/main" val="41223864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数据表的创建</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normAutofit fontScale="92500"/>
          </a:bodyPr>
          <a:lstStyle/>
          <a:p>
            <a:r>
              <a:rPr lang="en-US" altLang="zh-CN" sz="2800" dirty="0"/>
              <a:t>Hive</a:t>
            </a:r>
            <a:r>
              <a:rPr lang="zh-CN" altLang="en-US" sz="2800" dirty="0"/>
              <a:t>的数据组织采用文件夹、文件的方式进行，其数据文件存储格式可以具体指定，例如文件存储格式可以是：</a:t>
            </a:r>
            <a:r>
              <a:rPr lang="en-US" altLang="zh-CN" sz="2800" dirty="0"/>
              <a:t>SEQUENCEFILE | TEXTFILE | RCFILE | ORC | PARQUET | AVRO | JSONFILE | INPUTFORMAT </a:t>
            </a:r>
            <a:r>
              <a:rPr lang="en-US" altLang="zh-CN" sz="2800" dirty="0" err="1"/>
              <a:t>input_format_clsname</a:t>
            </a:r>
            <a:r>
              <a:rPr lang="en-US" altLang="zh-CN" sz="2800" dirty="0"/>
              <a:t> OUTPUTFORMAT </a:t>
            </a:r>
            <a:r>
              <a:rPr lang="en-US" altLang="zh-CN" sz="2800" dirty="0" err="1"/>
              <a:t>output_format_clsname</a:t>
            </a:r>
            <a:r>
              <a:rPr lang="zh-CN" altLang="en-US" sz="2800" dirty="0"/>
              <a:t>。其中</a:t>
            </a:r>
            <a:r>
              <a:rPr lang="en-US" altLang="zh-CN" sz="2800" dirty="0"/>
              <a:t>TEXTFILE</a:t>
            </a:r>
            <a:r>
              <a:rPr lang="zh-CN" altLang="en-US" sz="2800" dirty="0"/>
              <a:t>为缺省文件格式，具体缺省值由</a:t>
            </a:r>
            <a:r>
              <a:rPr lang="en-US" altLang="zh-CN" sz="2800" dirty="0" err="1"/>
              <a:t>hive.default.fileformat</a:t>
            </a:r>
            <a:r>
              <a:rPr lang="zh-CN" altLang="en-US" sz="2800" dirty="0"/>
              <a:t>指定；</a:t>
            </a:r>
            <a:r>
              <a:rPr lang="en-US" altLang="zh-CN" sz="2800" dirty="0"/>
              <a:t>JSONFILE</a:t>
            </a:r>
            <a:r>
              <a:rPr lang="zh-CN" altLang="en-US" sz="2800" dirty="0"/>
              <a:t>文件格式需要</a:t>
            </a:r>
            <a:r>
              <a:rPr lang="en-US" altLang="zh-CN" sz="2800" dirty="0"/>
              <a:t>Hive 4.0.0</a:t>
            </a:r>
            <a:r>
              <a:rPr lang="zh-CN" altLang="en-US" sz="2800" dirty="0"/>
              <a:t>及以上版本才能支持。</a:t>
            </a:r>
          </a:p>
        </p:txBody>
      </p:sp>
    </p:spTree>
    <p:extLst>
      <p:ext uri="{BB962C8B-B14F-4D97-AF65-F5344CB8AC3E}">
        <p14:creationId xmlns:p14="http://schemas.microsoft.com/office/powerpoint/2010/main" val="36505578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61039F-2A24-4B7D-A7C9-72CF46465C2E}"/>
              </a:ext>
            </a:extLst>
          </p:cNvPr>
          <p:cNvSpPr>
            <a:spLocks noGrp="1"/>
          </p:cNvSpPr>
          <p:nvPr>
            <p:ph type="title"/>
          </p:nvPr>
        </p:nvSpPr>
        <p:spPr/>
        <p:txBody>
          <a:bodyPr>
            <a:normAutofit fontScale="90000"/>
          </a:bodyPr>
          <a:lstStyle/>
          <a:p>
            <a:r>
              <a:rPr lang="zh-CN" altLang="en-US" dirty="0"/>
              <a:t>数据表的创建</a:t>
            </a:r>
          </a:p>
        </p:txBody>
      </p:sp>
      <p:sp>
        <p:nvSpPr>
          <p:cNvPr id="3" name="内容占位符 2">
            <a:extLst>
              <a:ext uri="{FF2B5EF4-FFF2-40B4-BE49-F238E27FC236}">
                <a16:creationId xmlns:a16="http://schemas.microsoft.com/office/drawing/2014/main" id="{8D7C3AC6-6CFF-4167-847E-F6EC81485E54}"/>
              </a:ext>
            </a:extLst>
          </p:cNvPr>
          <p:cNvSpPr>
            <a:spLocks noGrp="1"/>
          </p:cNvSpPr>
          <p:nvPr>
            <p:ph idx="1"/>
          </p:nvPr>
        </p:nvSpPr>
        <p:spPr>
          <a:xfrm>
            <a:off x="457200" y="1059582"/>
            <a:ext cx="8229600" cy="3852428"/>
          </a:xfrm>
        </p:spPr>
        <p:txBody>
          <a:bodyPr>
            <a:normAutofit fontScale="77500" lnSpcReduction="20000"/>
          </a:bodyPr>
          <a:lstStyle/>
          <a:p>
            <a:r>
              <a:rPr lang="zh-CN" altLang="en-US" dirty="0"/>
              <a:t>内部表与外部表（</a:t>
            </a:r>
            <a:r>
              <a:rPr lang="en-US" altLang="zh-CN" dirty="0"/>
              <a:t>Managed and External Tables</a:t>
            </a:r>
            <a:r>
              <a:rPr lang="zh-CN" altLang="en-US" dirty="0"/>
              <a:t>）：</a:t>
            </a:r>
            <a:endParaRPr lang="en-US" altLang="zh-CN" dirty="0"/>
          </a:p>
          <a:p>
            <a:pPr lvl="1"/>
            <a:r>
              <a:rPr lang="zh-CN" altLang="en-US" dirty="0"/>
              <a:t>缺省情况下，</a:t>
            </a:r>
            <a:r>
              <a:rPr lang="en-US" altLang="zh-CN" dirty="0"/>
              <a:t>Hive</a:t>
            </a:r>
            <a:r>
              <a:rPr lang="zh-CN" altLang="en-US" dirty="0"/>
              <a:t>创建的表都是内部表（</a:t>
            </a:r>
            <a:r>
              <a:rPr lang="zh-CN" altLang="en-US"/>
              <a:t>也称管理表</a:t>
            </a:r>
            <a:r>
              <a:rPr lang="zh-CN" altLang="en-US" dirty="0"/>
              <a:t>），即文件、元数据和相关统计信息由</a:t>
            </a:r>
            <a:r>
              <a:rPr lang="en-US" altLang="zh-CN" dirty="0"/>
              <a:t>Hive</a:t>
            </a:r>
            <a:r>
              <a:rPr lang="zh-CN" altLang="en-US" dirty="0"/>
              <a:t>进行管理和处理，内部表删除后，相关数据文件也将被删除；</a:t>
            </a:r>
            <a:endParaRPr lang="en-US" altLang="zh-CN" dirty="0"/>
          </a:p>
          <a:p>
            <a:pPr lvl="1"/>
            <a:r>
              <a:rPr lang="zh-CN" altLang="en-US" dirty="0"/>
              <a:t>外部表是指所创建的数据表存放在非</a:t>
            </a:r>
            <a:r>
              <a:rPr lang="en-US" altLang="zh-CN" dirty="0"/>
              <a:t>Hive</a:t>
            </a:r>
            <a:r>
              <a:rPr lang="zh-CN" altLang="en-US" dirty="0"/>
              <a:t>的缺省存储位置，</a:t>
            </a:r>
            <a:r>
              <a:rPr lang="en-US" altLang="zh-CN" dirty="0"/>
              <a:t>Hive</a:t>
            </a:r>
            <a:r>
              <a:rPr lang="zh-CN" altLang="en-US" dirty="0"/>
              <a:t>维护指向该外部数据文件的链接，外部表常被多个应用共享，从而避免数据表被误删除。</a:t>
            </a:r>
            <a:endParaRPr lang="en-US" altLang="zh-CN" dirty="0"/>
          </a:p>
          <a:p>
            <a:pPr lvl="1"/>
            <a:r>
              <a:rPr lang="zh-CN" altLang="en-US" dirty="0"/>
              <a:t>删除内部表会直接删除元数据及存储数据，删除外部表则仅仅删除元数据，</a:t>
            </a:r>
            <a:r>
              <a:rPr lang="en-US" altLang="zh-CN" dirty="0"/>
              <a:t>HDFS</a:t>
            </a:r>
            <a:r>
              <a:rPr lang="zh-CN" altLang="en-US" dirty="0"/>
              <a:t>上的文件并不会被删除；</a:t>
            </a:r>
            <a:endParaRPr lang="en-US" altLang="zh-CN" dirty="0"/>
          </a:p>
          <a:p>
            <a:pPr lvl="1"/>
            <a:r>
              <a:rPr lang="zh-CN" altLang="en-US" dirty="0"/>
              <a:t>对内部表的修改会将修改直接同步给元数据，而对外部表的表结构和分区进行修改，则需要修复（</a:t>
            </a:r>
            <a:r>
              <a:rPr lang="en-US" altLang="zh-CN" dirty="0"/>
              <a:t>MSCK REPAIR TABLE </a:t>
            </a:r>
            <a:r>
              <a:rPr lang="en-US" altLang="zh-CN" dirty="0" err="1"/>
              <a:t>table_name</a:t>
            </a:r>
            <a:r>
              <a:rPr lang="zh-CN" altLang="en-US" dirty="0"/>
              <a:t>）。</a:t>
            </a:r>
          </a:p>
        </p:txBody>
      </p:sp>
    </p:spTree>
    <p:extLst>
      <p:ext uri="{BB962C8B-B14F-4D97-AF65-F5344CB8AC3E}">
        <p14:creationId xmlns:p14="http://schemas.microsoft.com/office/powerpoint/2010/main" val="24609793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0CCFD8-8203-4A13-966A-4B78DC5271B2}"/>
              </a:ext>
            </a:extLst>
          </p:cNvPr>
          <p:cNvSpPr>
            <a:spLocks noGrp="1"/>
          </p:cNvSpPr>
          <p:nvPr>
            <p:ph type="title"/>
          </p:nvPr>
        </p:nvSpPr>
        <p:spPr/>
        <p:txBody>
          <a:bodyPr>
            <a:normAutofit fontScale="90000"/>
          </a:bodyPr>
          <a:lstStyle/>
          <a:p>
            <a:r>
              <a:rPr lang="en-US" altLang="zh-CN"/>
              <a:t>Hive</a:t>
            </a:r>
            <a:r>
              <a:rPr lang="zh-CN" altLang="en-US"/>
              <a:t>基本数据类型</a:t>
            </a:r>
          </a:p>
        </p:txBody>
      </p:sp>
      <p:sp>
        <p:nvSpPr>
          <p:cNvPr id="3" name="内容占位符 2">
            <a:extLst>
              <a:ext uri="{FF2B5EF4-FFF2-40B4-BE49-F238E27FC236}">
                <a16:creationId xmlns:a16="http://schemas.microsoft.com/office/drawing/2014/main" id="{F9068E61-8526-4835-A872-9C27D99F7474}"/>
              </a:ext>
            </a:extLst>
          </p:cNvPr>
          <p:cNvSpPr>
            <a:spLocks noGrp="1"/>
          </p:cNvSpPr>
          <p:nvPr>
            <p:ph idx="1"/>
          </p:nvPr>
        </p:nvSpPr>
        <p:spPr/>
        <p:txBody>
          <a:bodyPr/>
          <a:lstStyle/>
          <a:p>
            <a:endParaRPr lang="zh-CN" altLang="en-US"/>
          </a:p>
        </p:txBody>
      </p:sp>
      <p:pic>
        <p:nvPicPr>
          <p:cNvPr id="1026" name="Picture 2" descr="在这里插入图片描述">
            <a:extLst>
              <a:ext uri="{FF2B5EF4-FFF2-40B4-BE49-F238E27FC236}">
                <a16:creationId xmlns:a16="http://schemas.microsoft.com/office/drawing/2014/main" id="{E1C00A99-D7C6-49FC-B7AC-E34DEAC708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131590"/>
            <a:ext cx="7038975" cy="3209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25058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BD7852-6102-4C10-BF72-121D302B6A6E}"/>
              </a:ext>
            </a:extLst>
          </p:cNvPr>
          <p:cNvSpPr>
            <a:spLocks noGrp="1"/>
          </p:cNvSpPr>
          <p:nvPr>
            <p:ph type="title"/>
          </p:nvPr>
        </p:nvSpPr>
        <p:spPr/>
        <p:txBody>
          <a:bodyPr>
            <a:normAutofit fontScale="90000"/>
          </a:bodyPr>
          <a:lstStyle/>
          <a:p>
            <a:r>
              <a:rPr lang="zh-CN" altLang="en-US" dirty="0"/>
              <a:t>数据表的创建</a:t>
            </a:r>
          </a:p>
        </p:txBody>
      </p:sp>
      <p:sp>
        <p:nvSpPr>
          <p:cNvPr id="3" name="内容占位符 2">
            <a:extLst>
              <a:ext uri="{FF2B5EF4-FFF2-40B4-BE49-F238E27FC236}">
                <a16:creationId xmlns:a16="http://schemas.microsoft.com/office/drawing/2014/main" id="{D66EC529-B1E8-4FFF-9DD1-98241A898419}"/>
              </a:ext>
            </a:extLst>
          </p:cNvPr>
          <p:cNvSpPr>
            <a:spLocks noGrp="1"/>
          </p:cNvSpPr>
          <p:nvPr>
            <p:ph idx="1"/>
          </p:nvPr>
        </p:nvSpPr>
        <p:spPr/>
        <p:txBody>
          <a:bodyPr/>
          <a:lstStyle/>
          <a:p>
            <a:r>
              <a:rPr lang="en-US" altLang="zh-CN" dirty="0"/>
              <a:t>1</a:t>
            </a:r>
            <a:r>
              <a:rPr lang="zh-CN" altLang="en-US" dirty="0"/>
              <a:t>．创建数据表的核心语法定义</a:t>
            </a:r>
          </a:p>
        </p:txBody>
      </p:sp>
      <p:pic>
        <p:nvPicPr>
          <p:cNvPr id="4" name="图片 3">
            <a:extLst>
              <a:ext uri="{FF2B5EF4-FFF2-40B4-BE49-F238E27FC236}">
                <a16:creationId xmlns:a16="http://schemas.microsoft.com/office/drawing/2014/main" id="{54A9537E-BC26-4829-A164-300F347F4780}"/>
              </a:ext>
            </a:extLst>
          </p:cNvPr>
          <p:cNvPicPr>
            <a:picLocks noChangeAspect="1"/>
          </p:cNvPicPr>
          <p:nvPr/>
        </p:nvPicPr>
        <p:blipFill>
          <a:blip r:embed="rId2"/>
          <a:stretch>
            <a:fillRect/>
          </a:stretch>
        </p:blipFill>
        <p:spPr>
          <a:xfrm>
            <a:off x="0" y="1851670"/>
            <a:ext cx="9144000" cy="2868706"/>
          </a:xfrm>
          <a:prstGeom prst="rect">
            <a:avLst/>
          </a:prstGeom>
        </p:spPr>
      </p:pic>
    </p:spTree>
    <p:extLst>
      <p:ext uri="{BB962C8B-B14F-4D97-AF65-F5344CB8AC3E}">
        <p14:creationId xmlns:p14="http://schemas.microsoft.com/office/powerpoint/2010/main" val="625944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45C3D-8F84-486D-8B85-36ACAF5EA26D}"/>
              </a:ext>
            </a:extLst>
          </p:cNvPr>
          <p:cNvSpPr>
            <a:spLocks noGrp="1"/>
          </p:cNvSpPr>
          <p:nvPr>
            <p:ph type="title"/>
          </p:nvPr>
        </p:nvSpPr>
        <p:spPr/>
        <p:txBody>
          <a:bodyPr>
            <a:normAutofit fontScale="90000"/>
          </a:bodyPr>
          <a:lstStyle/>
          <a:p>
            <a:r>
              <a:rPr lang="zh-CN" altLang="en-US" dirty="0"/>
              <a:t>数据表的创建</a:t>
            </a:r>
          </a:p>
        </p:txBody>
      </p:sp>
      <p:sp>
        <p:nvSpPr>
          <p:cNvPr id="3" name="内容占位符 2">
            <a:extLst>
              <a:ext uri="{FF2B5EF4-FFF2-40B4-BE49-F238E27FC236}">
                <a16:creationId xmlns:a16="http://schemas.microsoft.com/office/drawing/2014/main" id="{4960772D-209F-49C0-AB7F-62628191B98E}"/>
              </a:ext>
            </a:extLst>
          </p:cNvPr>
          <p:cNvSpPr>
            <a:spLocks noGrp="1"/>
          </p:cNvSpPr>
          <p:nvPr>
            <p:ph idx="1"/>
          </p:nvPr>
        </p:nvSpPr>
        <p:spPr>
          <a:xfrm>
            <a:off x="457200" y="915566"/>
            <a:ext cx="8229600" cy="2448273"/>
          </a:xfrm>
        </p:spPr>
        <p:txBody>
          <a:bodyPr>
            <a:normAutofit/>
          </a:bodyPr>
          <a:lstStyle/>
          <a:p>
            <a:r>
              <a:rPr lang="en-US" altLang="zh-CN" sz="2800" dirty="0"/>
              <a:t>【</a:t>
            </a:r>
            <a:r>
              <a:rPr lang="zh-CN" altLang="en-US" sz="2800" dirty="0"/>
              <a:t>例</a:t>
            </a:r>
            <a:r>
              <a:rPr lang="en-US" altLang="zh-CN" sz="2800" dirty="0"/>
              <a:t>6.4】</a:t>
            </a:r>
            <a:r>
              <a:rPr lang="zh-CN" altLang="en-US" sz="2800" dirty="0"/>
              <a:t>如下创建一个内部表，并在创建完成后查看其对应的文件夹。</a:t>
            </a:r>
          </a:p>
        </p:txBody>
      </p:sp>
      <p:pic>
        <p:nvPicPr>
          <p:cNvPr id="4" name="图片 3">
            <a:extLst>
              <a:ext uri="{FF2B5EF4-FFF2-40B4-BE49-F238E27FC236}">
                <a16:creationId xmlns:a16="http://schemas.microsoft.com/office/drawing/2014/main" id="{FFAFB57D-1F4D-473A-988A-48CD39D4DF8B}"/>
              </a:ext>
            </a:extLst>
          </p:cNvPr>
          <p:cNvPicPr>
            <a:picLocks noChangeAspect="1"/>
          </p:cNvPicPr>
          <p:nvPr/>
        </p:nvPicPr>
        <p:blipFill>
          <a:blip r:embed="rId2"/>
          <a:stretch>
            <a:fillRect/>
          </a:stretch>
        </p:blipFill>
        <p:spPr>
          <a:xfrm>
            <a:off x="395536" y="1851670"/>
            <a:ext cx="8388424" cy="3241764"/>
          </a:xfrm>
          <a:prstGeom prst="rect">
            <a:avLst/>
          </a:prstGeom>
        </p:spPr>
      </p:pic>
    </p:spTree>
    <p:extLst>
      <p:ext uri="{BB962C8B-B14F-4D97-AF65-F5344CB8AC3E}">
        <p14:creationId xmlns:p14="http://schemas.microsoft.com/office/powerpoint/2010/main" val="39119789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99E077-5533-4697-A9F5-FD67E452ACDE}"/>
              </a:ext>
            </a:extLst>
          </p:cNvPr>
          <p:cNvSpPr>
            <a:spLocks noGrp="1"/>
          </p:cNvSpPr>
          <p:nvPr>
            <p:ph type="title"/>
          </p:nvPr>
        </p:nvSpPr>
        <p:spPr/>
        <p:txBody>
          <a:bodyPr>
            <a:normAutofit fontScale="90000"/>
          </a:bodyPr>
          <a:lstStyle/>
          <a:p>
            <a:r>
              <a:rPr lang="zh-CN" altLang="en-US" dirty="0"/>
              <a:t>数据表的创建</a:t>
            </a:r>
          </a:p>
        </p:txBody>
      </p:sp>
      <p:sp>
        <p:nvSpPr>
          <p:cNvPr id="3" name="内容占位符 2">
            <a:extLst>
              <a:ext uri="{FF2B5EF4-FFF2-40B4-BE49-F238E27FC236}">
                <a16:creationId xmlns:a16="http://schemas.microsoft.com/office/drawing/2014/main" id="{D2F67F21-F9A4-4F4A-9139-935BF73A0E15}"/>
              </a:ext>
            </a:extLst>
          </p:cNvPr>
          <p:cNvSpPr>
            <a:spLocks noGrp="1"/>
          </p:cNvSpPr>
          <p:nvPr>
            <p:ph idx="1"/>
          </p:nvPr>
        </p:nvSpPr>
        <p:spPr/>
        <p:txBody>
          <a:bodyPr>
            <a:normAutofit fontScale="77500" lnSpcReduction="20000"/>
          </a:bodyPr>
          <a:lstStyle/>
          <a:p>
            <a:r>
              <a:rPr lang="en-US" altLang="zh-CN" dirty="0"/>
              <a:t>2</a:t>
            </a:r>
            <a:r>
              <a:rPr lang="zh-CN" altLang="en-US" dirty="0"/>
              <a:t>．创建带分区的数据表</a:t>
            </a:r>
            <a:endParaRPr lang="en-US" altLang="zh-CN" dirty="0"/>
          </a:p>
          <a:p>
            <a:r>
              <a:rPr lang="en-US" altLang="zh-CN" dirty="0"/>
              <a:t>【</a:t>
            </a:r>
            <a:r>
              <a:rPr lang="zh-CN" altLang="en-US" dirty="0"/>
              <a:t>例</a:t>
            </a:r>
            <a:r>
              <a:rPr lang="en-US" altLang="zh-CN" dirty="0"/>
              <a:t>6.5】</a:t>
            </a:r>
            <a:r>
              <a:rPr lang="zh-CN" altLang="en-US" dirty="0"/>
              <a:t>假设数据包含五列（</a:t>
            </a:r>
            <a:r>
              <a:rPr lang="en-US" altLang="zh-CN" dirty="0"/>
              <a:t>cdate4query, </a:t>
            </a:r>
            <a:r>
              <a:rPr lang="en-US" altLang="zh-CN" dirty="0" err="1"/>
              <a:t>chour</a:t>
            </a:r>
            <a:r>
              <a:rPr lang="en-US" altLang="zh-CN" dirty="0"/>
              <a:t>, </a:t>
            </a:r>
            <a:r>
              <a:rPr lang="en-US" altLang="zh-CN" dirty="0" err="1"/>
              <a:t>aq_type</a:t>
            </a:r>
            <a:r>
              <a:rPr lang="en-US" altLang="zh-CN" dirty="0"/>
              <a:t>, city, value</a:t>
            </a:r>
            <a:r>
              <a:rPr lang="zh-CN" altLang="en-US" dirty="0"/>
              <a:t>）</a:t>
            </a:r>
            <a:endParaRPr lang="en-US" altLang="zh-CN" dirty="0"/>
          </a:p>
          <a:p>
            <a:pPr lvl="1"/>
            <a:r>
              <a:rPr lang="zh-CN" altLang="en-US" dirty="0"/>
              <a:t>为了创建基于</a:t>
            </a:r>
            <a:r>
              <a:rPr lang="en-US" altLang="zh-CN" dirty="0" err="1"/>
              <a:t>cdate</a:t>
            </a:r>
            <a:r>
              <a:rPr lang="zh-CN" altLang="en-US" dirty="0"/>
              <a:t>的分区表，在数据表中以</a:t>
            </a:r>
            <a:r>
              <a:rPr lang="en-US" altLang="zh-CN" dirty="0"/>
              <a:t>" cdate4query "</a:t>
            </a:r>
            <a:r>
              <a:rPr lang="zh-CN" altLang="en-US" dirty="0"/>
              <a:t>作为列名，确保</a:t>
            </a:r>
            <a:r>
              <a:rPr lang="en-US" altLang="zh-CN" dirty="0" err="1"/>
              <a:t>cdate</a:t>
            </a:r>
            <a:r>
              <a:rPr lang="zh-CN" altLang="en-US" dirty="0"/>
              <a:t>属性可以同时用于分区和查询。</a:t>
            </a:r>
            <a:endParaRPr lang="en-US" altLang="zh-CN" dirty="0"/>
          </a:p>
          <a:p>
            <a:pPr lvl="1"/>
            <a:r>
              <a:rPr lang="zh-CN" altLang="en-US" dirty="0"/>
              <a:t>若在数据表中没有以</a:t>
            </a:r>
            <a:r>
              <a:rPr lang="en-US" altLang="zh-CN" dirty="0"/>
              <a:t>" cdate4query "</a:t>
            </a:r>
            <a:r>
              <a:rPr lang="zh-CN" altLang="en-US" dirty="0"/>
              <a:t>作为列名设置对日期进行存储，那么对该数据表进行查询时，将不会返回对应日期值。若有查询包含条件</a:t>
            </a:r>
            <a:r>
              <a:rPr lang="en-US" altLang="zh-CN" dirty="0"/>
              <a:t>"WHERE date = '...'" </a:t>
            </a:r>
            <a:r>
              <a:rPr lang="zh-CN" altLang="en-US" dirty="0"/>
              <a:t>，</a:t>
            </a:r>
            <a:r>
              <a:rPr lang="en-US" altLang="zh-CN" dirty="0"/>
              <a:t>Hive</a:t>
            </a:r>
            <a:r>
              <a:rPr lang="zh-CN" altLang="en-US" dirty="0"/>
              <a:t>将会利用分区加快查询效率，同时列</a:t>
            </a:r>
            <a:r>
              <a:rPr lang="en-US" altLang="zh-CN" dirty="0"/>
              <a:t>" cdate4query "</a:t>
            </a:r>
            <a:r>
              <a:rPr lang="zh-CN" altLang="en-US" dirty="0"/>
              <a:t>将会返回</a:t>
            </a:r>
            <a:r>
              <a:rPr lang="en-US" altLang="zh-CN" dirty="0"/>
              <a:t>date</a:t>
            </a:r>
            <a:r>
              <a:rPr lang="zh-CN" altLang="en-US" dirty="0"/>
              <a:t>的原有值。</a:t>
            </a:r>
          </a:p>
        </p:txBody>
      </p:sp>
    </p:spTree>
    <p:extLst>
      <p:ext uri="{BB962C8B-B14F-4D97-AF65-F5344CB8AC3E}">
        <p14:creationId xmlns:p14="http://schemas.microsoft.com/office/powerpoint/2010/main" val="15917184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06B957-FD3F-49DE-A0B8-78B6683AEB53}"/>
              </a:ext>
            </a:extLst>
          </p:cNvPr>
          <p:cNvSpPr>
            <a:spLocks noGrp="1"/>
          </p:cNvSpPr>
          <p:nvPr>
            <p:ph type="title"/>
          </p:nvPr>
        </p:nvSpPr>
        <p:spPr/>
        <p:txBody>
          <a:bodyPr>
            <a:normAutofit fontScale="90000"/>
          </a:bodyPr>
          <a:lstStyle/>
          <a:p>
            <a:r>
              <a:rPr lang="zh-CN" altLang="en-US" dirty="0"/>
              <a:t>数据表的创建</a:t>
            </a:r>
          </a:p>
        </p:txBody>
      </p:sp>
      <p:sp>
        <p:nvSpPr>
          <p:cNvPr id="3" name="内容占位符 2">
            <a:extLst>
              <a:ext uri="{FF2B5EF4-FFF2-40B4-BE49-F238E27FC236}">
                <a16:creationId xmlns:a16="http://schemas.microsoft.com/office/drawing/2014/main" id="{57879EE9-1B59-4F1B-B1F8-74495E0ED89E}"/>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F263ADDA-76A7-4700-B7CB-A59E8D0BE924}"/>
              </a:ext>
            </a:extLst>
          </p:cNvPr>
          <p:cNvPicPr>
            <a:picLocks noChangeAspect="1"/>
          </p:cNvPicPr>
          <p:nvPr/>
        </p:nvPicPr>
        <p:blipFill>
          <a:blip r:embed="rId2"/>
          <a:stretch>
            <a:fillRect/>
          </a:stretch>
        </p:blipFill>
        <p:spPr>
          <a:xfrm>
            <a:off x="36512" y="1275606"/>
            <a:ext cx="9144000" cy="3437699"/>
          </a:xfrm>
          <a:prstGeom prst="rect">
            <a:avLst/>
          </a:prstGeom>
        </p:spPr>
      </p:pic>
    </p:spTree>
    <p:extLst>
      <p:ext uri="{BB962C8B-B14F-4D97-AF65-F5344CB8AC3E}">
        <p14:creationId xmlns:p14="http://schemas.microsoft.com/office/powerpoint/2010/main" val="21478329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21878-5BF6-4016-888B-7BD3E7CD8169}"/>
              </a:ext>
            </a:extLst>
          </p:cNvPr>
          <p:cNvSpPr>
            <a:spLocks noGrp="1"/>
          </p:cNvSpPr>
          <p:nvPr>
            <p:ph type="title"/>
          </p:nvPr>
        </p:nvSpPr>
        <p:spPr/>
        <p:txBody>
          <a:bodyPr>
            <a:normAutofit fontScale="90000"/>
          </a:bodyPr>
          <a:lstStyle/>
          <a:p>
            <a:endParaRPr lang="zh-CN" altLang="en-US"/>
          </a:p>
        </p:txBody>
      </p:sp>
      <p:sp>
        <p:nvSpPr>
          <p:cNvPr id="3" name="内容占位符 2">
            <a:extLst>
              <a:ext uri="{FF2B5EF4-FFF2-40B4-BE49-F238E27FC236}">
                <a16:creationId xmlns:a16="http://schemas.microsoft.com/office/drawing/2014/main" id="{66C41F51-E11E-4D18-ACB8-BE213480B5A8}"/>
              </a:ext>
            </a:extLst>
          </p:cNvPr>
          <p:cNvSpPr>
            <a:spLocks noGrp="1"/>
          </p:cNvSpPr>
          <p:nvPr>
            <p:ph idx="1"/>
          </p:nvPr>
        </p:nvSpPr>
        <p:spPr/>
        <p:txBody>
          <a:bodyPr/>
          <a:lstStyle/>
          <a:p>
            <a:r>
              <a:rPr lang="zh-CN" altLang="en-US"/>
              <a:t>分区的插入数据</a:t>
            </a:r>
            <a:endParaRPr lang="en-US" altLang="zh-CN"/>
          </a:p>
          <a:p>
            <a:pPr lvl="1"/>
            <a:r>
              <a:rPr lang="en-US" altLang="zh-CN"/>
              <a:t>insert overwrite table city_aq_with_partition partition(cdate='2021-01-01') values('20210303',0, 'AQI', 'fuzhou',40);</a:t>
            </a:r>
          </a:p>
        </p:txBody>
      </p:sp>
    </p:spTree>
    <p:extLst>
      <p:ext uri="{BB962C8B-B14F-4D97-AF65-F5344CB8AC3E}">
        <p14:creationId xmlns:p14="http://schemas.microsoft.com/office/powerpoint/2010/main" val="11745931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84A6C2-EDA4-440D-AD5E-23D3A66AC18F}"/>
              </a:ext>
            </a:extLst>
          </p:cNvPr>
          <p:cNvSpPr>
            <a:spLocks noGrp="1"/>
          </p:cNvSpPr>
          <p:nvPr>
            <p:ph type="title"/>
          </p:nvPr>
        </p:nvSpPr>
        <p:spPr/>
        <p:txBody>
          <a:bodyPr>
            <a:normAutofit fontScale="90000"/>
          </a:bodyPr>
          <a:lstStyle/>
          <a:p>
            <a:r>
              <a:rPr lang="zh-CN" altLang="en-US" dirty="0"/>
              <a:t>数据表的创建</a:t>
            </a:r>
          </a:p>
        </p:txBody>
      </p:sp>
      <p:sp>
        <p:nvSpPr>
          <p:cNvPr id="3" name="内容占位符 2">
            <a:extLst>
              <a:ext uri="{FF2B5EF4-FFF2-40B4-BE49-F238E27FC236}">
                <a16:creationId xmlns:a16="http://schemas.microsoft.com/office/drawing/2014/main" id="{7FC6B15C-7019-4E9C-A9C4-7ED6AC2E99D0}"/>
              </a:ext>
            </a:extLst>
          </p:cNvPr>
          <p:cNvSpPr>
            <a:spLocks noGrp="1"/>
          </p:cNvSpPr>
          <p:nvPr>
            <p:ph idx="1"/>
          </p:nvPr>
        </p:nvSpPr>
        <p:spPr/>
        <p:txBody>
          <a:bodyPr/>
          <a:lstStyle/>
          <a:p>
            <a:r>
              <a:rPr lang="en-US" altLang="zh-CN" dirty="0"/>
              <a:t>3</a:t>
            </a:r>
            <a:r>
              <a:rPr lang="zh-CN" altLang="en-US" dirty="0"/>
              <a:t>．利用</a:t>
            </a:r>
            <a:r>
              <a:rPr lang="en-US" altLang="zh-CN" dirty="0"/>
              <a:t>Select</a:t>
            </a:r>
            <a:r>
              <a:rPr lang="zh-CN" altLang="en-US" dirty="0"/>
              <a:t>查询创建数据表</a:t>
            </a:r>
            <a:endParaRPr lang="en-US" altLang="zh-CN" dirty="0"/>
          </a:p>
          <a:p>
            <a:pPr lvl="1"/>
            <a:r>
              <a:rPr lang="en-US" altLang="zh-CN" dirty="0"/>
              <a:t>Hive</a:t>
            </a:r>
            <a:r>
              <a:rPr lang="zh-CN" altLang="en-US" dirty="0"/>
              <a:t>数据表也可以通过查询创建（</a:t>
            </a:r>
            <a:r>
              <a:rPr lang="en-US" altLang="zh-CN" dirty="0"/>
              <a:t>create-table-as-select </a:t>
            </a:r>
            <a:r>
              <a:rPr lang="zh-CN" altLang="en-US" dirty="0"/>
              <a:t>：</a:t>
            </a:r>
            <a:r>
              <a:rPr lang="en-US" altLang="zh-CN" dirty="0"/>
              <a:t>CTAS</a:t>
            </a:r>
            <a:r>
              <a:rPr lang="zh-CN" altLang="en-US" dirty="0"/>
              <a:t>）操作进行创建。由</a:t>
            </a:r>
            <a:r>
              <a:rPr lang="en-US" altLang="zh-CN" dirty="0"/>
              <a:t>CTAS</a:t>
            </a:r>
            <a:r>
              <a:rPr lang="zh-CN" altLang="en-US" dirty="0"/>
              <a:t>创建数据表的过程是一个执行事务的过程，无论该表有多大，数据表只有在生成所有查询结果并创建表完成后才对其他用户可见，这一执行过程对其他用户而言是透明的。</a:t>
            </a:r>
          </a:p>
        </p:txBody>
      </p:sp>
    </p:spTree>
    <p:extLst>
      <p:ext uri="{BB962C8B-B14F-4D97-AF65-F5344CB8AC3E}">
        <p14:creationId xmlns:p14="http://schemas.microsoft.com/office/powerpoint/2010/main" val="2107074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43941E-DE4E-442F-ABF4-DD062C6F14C4}"/>
              </a:ext>
            </a:extLst>
          </p:cNvPr>
          <p:cNvSpPr>
            <a:spLocks noGrp="1"/>
          </p:cNvSpPr>
          <p:nvPr>
            <p:ph type="title"/>
          </p:nvPr>
        </p:nvSpPr>
        <p:spPr/>
        <p:txBody>
          <a:bodyPr>
            <a:normAutofit fontScale="90000"/>
          </a:bodyPr>
          <a:lstStyle/>
          <a:p>
            <a:r>
              <a:rPr lang="zh-CN" altLang="en-US" dirty="0"/>
              <a:t>数据表的创建</a:t>
            </a:r>
          </a:p>
        </p:txBody>
      </p:sp>
      <p:sp>
        <p:nvSpPr>
          <p:cNvPr id="3" name="内容占位符 2">
            <a:extLst>
              <a:ext uri="{FF2B5EF4-FFF2-40B4-BE49-F238E27FC236}">
                <a16:creationId xmlns:a16="http://schemas.microsoft.com/office/drawing/2014/main" id="{A30ED12A-2784-4724-AFE3-8BFFF871A804}"/>
              </a:ext>
            </a:extLst>
          </p:cNvPr>
          <p:cNvSpPr>
            <a:spLocks noGrp="1"/>
          </p:cNvSpPr>
          <p:nvPr>
            <p:ph idx="1"/>
          </p:nvPr>
        </p:nvSpPr>
        <p:spPr>
          <a:xfrm>
            <a:off x="457200" y="1200151"/>
            <a:ext cx="8229600" cy="1639878"/>
          </a:xfrm>
        </p:spPr>
        <p:txBody>
          <a:bodyPr>
            <a:normAutofit fontScale="92500" lnSpcReduction="20000"/>
          </a:bodyPr>
          <a:lstStyle/>
          <a:p>
            <a:r>
              <a:rPr lang="en-US" altLang="zh-CN" dirty="0"/>
              <a:t>【</a:t>
            </a:r>
            <a:r>
              <a:rPr lang="zh-CN" altLang="en-US" dirty="0"/>
              <a:t>例</a:t>
            </a:r>
            <a:r>
              <a:rPr lang="en-US" altLang="zh-CN" dirty="0"/>
              <a:t>6.6】</a:t>
            </a:r>
            <a:r>
              <a:rPr lang="zh-CN" altLang="en-US" dirty="0"/>
              <a:t>利用</a:t>
            </a:r>
            <a:r>
              <a:rPr lang="en-US" altLang="zh-CN" dirty="0"/>
              <a:t>Hive</a:t>
            </a:r>
            <a:r>
              <a:rPr lang="zh-CN" altLang="en-US" dirty="0"/>
              <a:t>初探中的</a:t>
            </a:r>
            <a:r>
              <a:rPr lang="en-US" altLang="zh-CN" dirty="0" err="1"/>
              <a:t>city_aq</a:t>
            </a:r>
            <a:r>
              <a:rPr lang="zh-CN" altLang="en-US" dirty="0"/>
              <a:t>数据表为蓝本，所导入数据为全部城市空气质量数据，使用</a:t>
            </a:r>
            <a:r>
              <a:rPr lang="en-US" altLang="zh-CN" dirty="0"/>
              <a:t>CTAS</a:t>
            </a:r>
            <a:r>
              <a:rPr lang="zh-CN" altLang="en-US" dirty="0"/>
              <a:t>创建一个</a:t>
            </a:r>
            <a:r>
              <a:rPr lang="en-US" altLang="zh-CN" dirty="0" err="1"/>
              <a:t>chour</a:t>
            </a:r>
            <a:r>
              <a:rPr lang="en-US" altLang="zh-CN" dirty="0"/>
              <a:t>=10</a:t>
            </a:r>
            <a:r>
              <a:rPr lang="zh-CN" altLang="en-US" dirty="0"/>
              <a:t>的数据表</a:t>
            </a:r>
            <a:r>
              <a:rPr lang="en-US" altLang="zh-CN" dirty="0"/>
              <a:t>city_aq_hour10</a:t>
            </a:r>
            <a:endParaRPr lang="zh-CN" altLang="en-US" dirty="0"/>
          </a:p>
        </p:txBody>
      </p:sp>
      <p:pic>
        <p:nvPicPr>
          <p:cNvPr id="4" name="图片 3">
            <a:extLst>
              <a:ext uri="{FF2B5EF4-FFF2-40B4-BE49-F238E27FC236}">
                <a16:creationId xmlns:a16="http://schemas.microsoft.com/office/drawing/2014/main" id="{ED80A76A-C07A-4C0E-8E27-6890DED53742}"/>
              </a:ext>
            </a:extLst>
          </p:cNvPr>
          <p:cNvPicPr>
            <a:picLocks noChangeAspect="1"/>
          </p:cNvPicPr>
          <p:nvPr/>
        </p:nvPicPr>
        <p:blipFill>
          <a:blip r:embed="rId2"/>
          <a:stretch>
            <a:fillRect/>
          </a:stretch>
        </p:blipFill>
        <p:spPr>
          <a:xfrm>
            <a:off x="0" y="2840029"/>
            <a:ext cx="9144000" cy="2183195"/>
          </a:xfrm>
          <a:prstGeom prst="rect">
            <a:avLst/>
          </a:prstGeom>
        </p:spPr>
      </p:pic>
    </p:spTree>
    <p:extLst>
      <p:ext uri="{BB962C8B-B14F-4D97-AF65-F5344CB8AC3E}">
        <p14:creationId xmlns:p14="http://schemas.microsoft.com/office/powerpoint/2010/main" val="17887351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846187-9193-4203-9CF1-C85620DCBEE6}"/>
              </a:ext>
            </a:extLst>
          </p:cNvPr>
          <p:cNvSpPr>
            <a:spLocks noGrp="1"/>
          </p:cNvSpPr>
          <p:nvPr>
            <p:ph type="title"/>
          </p:nvPr>
        </p:nvSpPr>
        <p:spPr/>
        <p:txBody>
          <a:bodyPr>
            <a:normAutofit fontScale="90000"/>
          </a:bodyPr>
          <a:lstStyle/>
          <a:p>
            <a:r>
              <a:rPr lang="zh-CN" altLang="en-US" dirty="0"/>
              <a:t>数据表的创建</a:t>
            </a:r>
          </a:p>
        </p:txBody>
      </p:sp>
      <p:sp>
        <p:nvSpPr>
          <p:cNvPr id="3" name="内容占位符 2">
            <a:extLst>
              <a:ext uri="{FF2B5EF4-FFF2-40B4-BE49-F238E27FC236}">
                <a16:creationId xmlns:a16="http://schemas.microsoft.com/office/drawing/2014/main" id="{A7C16DD4-B1CC-4004-8803-E4DCA4B7B46C}"/>
              </a:ext>
            </a:extLst>
          </p:cNvPr>
          <p:cNvSpPr>
            <a:spLocks noGrp="1"/>
          </p:cNvSpPr>
          <p:nvPr>
            <p:ph idx="1"/>
          </p:nvPr>
        </p:nvSpPr>
        <p:spPr/>
        <p:txBody>
          <a:bodyPr>
            <a:normAutofit/>
          </a:bodyPr>
          <a:lstStyle/>
          <a:p>
            <a:r>
              <a:rPr lang="en-US" altLang="zh-CN" dirty="0"/>
              <a:t>4</a:t>
            </a:r>
            <a:r>
              <a:rPr lang="zh-CN" altLang="en-US" dirty="0"/>
              <a:t>．利用</a:t>
            </a:r>
            <a:r>
              <a:rPr lang="en-US" altLang="zh-CN" dirty="0"/>
              <a:t>Like</a:t>
            </a:r>
            <a:r>
              <a:rPr lang="zh-CN" altLang="en-US" dirty="0"/>
              <a:t>创建数据表</a:t>
            </a:r>
            <a:endParaRPr lang="en-US" altLang="zh-CN" dirty="0"/>
          </a:p>
          <a:p>
            <a:pPr lvl="1"/>
            <a:r>
              <a:rPr lang="en-US" altLang="zh-CN" sz="2400" dirty="0"/>
              <a:t>CREATE TABLE</a:t>
            </a:r>
            <a:r>
              <a:rPr lang="zh-CN" altLang="en-US" sz="2400" dirty="0"/>
              <a:t>中的</a:t>
            </a:r>
            <a:r>
              <a:rPr lang="en-US" altLang="zh-CN" sz="2400" dirty="0"/>
              <a:t>LIKE</a:t>
            </a:r>
            <a:r>
              <a:rPr lang="zh-CN" altLang="en-US" sz="2400" dirty="0"/>
              <a:t>选项让用户可以用源数据表结构为模板创建一个具有相同表结构的新表，而不复制源数据表的数据。</a:t>
            </a:r>
            <a:endParaRPr lang="en-US" altLang="zh-CN" sz="2400" dirty="0"/>
          </a:p>
          <a:p>
            <a:pPr lvl="1"/>
            <a:r>
              <a:rPr lang="en-US" altLang="zh-CN" sz="2400" dirty="0"/>
              <a:t>【</a:t>
            </a:r>
            <a:r>
              <a:rPr lang="zh-CN" altLang="en-US" sz="2400" dirty="0"/>
              <a:t>例</a:t>
            </a:r>
            <a:r>
              <a:rPr lang="en-US" altLang="zh-CN" sz="2400" dirty="0"/>
              <a:t>6.7】</a:t>
            </a:r>
            <a:r>
              <a:rPr lang="zh-CN" altLang="en-US" sz="2400" dirty="0"/>
              <a:t>使用</a:t>
            </a:r>
            <a:r>
              <a:rPr lang="en-US" altLang="zh-CN" sz="2400" dirty="0"/>
              <a:t>Like</a:t>
            </a:r>
            <a:r>
              <a:rPr lang="zh-CN" altLang="en-US" sz="2400" dirty="0"/>
              <a:t>方式复制了</a:t>
            </a:r>
            <a:r>
              <a:rPr lang="en-US" altLang="zh-CN" sz="2400" dirty="0" err="1"/>
              <a:t>city_aq</a:t>
            </a:r>
            <a:r>
              <a:rPr lang="zh-CN" altLang="en-US" sz="2400" dirty="0"/>
              <a:t>数据表结构，新建的</a:t>
            </a:r>
            <a:r>
              <a:rPr lang="en-US" altLang="zh-CN" sz="2400" dirty="0" err="1"/>
              <a:t>tbl_create_like</a:t>
            </a:r>
            <a:r>
              <a:rPr lang="zh-CN" altLang="en-US" sz="2400" dirty="0"/>
              <a:t>表结构与之相同，但不复制源表中的数据。应用</a:t>
            </a:r>
            <a:r>
              <a:rPr lang="en-US" altLang="zh-CN" sz="2400" dirty="0"/>
              <a:t>Like</a:t>
            </a:r>
            <a:r>
              <a:rPr lang="zh-CN" altLang="en-US" sz="2400" dirty="0"/>
              <a:t>方式创建新数据表，并利用</a:t>
            </a:r>
            <a:r>
              <a:rPr lang="en-US" altLang="zh-CN" sz="2400" dirty="0"/>
              <a:t>DESC</a:t>
            </a:r>
            <a:r>
              <a:rPr lang="zh-CN" altLang="en-US" sz="2400" dirty="0"/>
              <a:t>查看新建数据表的结构</a:t>
            </a:r>
          </a:p>
        </p:txBody>
      </p:sp>
    </p:spTree>
    <p:extLst>
      <p:ext uri="{BB962C8B-B14F-4D97-AF65-F5344CB8AC3E}">
        <p14:creationId xmlns:p14="http://schemas.microsoft.com/office/powerpoint/2010/main" val="36476908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400C69-D81C-4D24-9CAC-0EE064726A37}"/>
              </a:ext>
            </a:extLst>
          </p:cNvPr>
          <p:cNvSpPr>
            <a:spLocks noGrp="1"/>
          </p:cNvSpPr>
          <p:nvPr>
            <p:ph type="title"/>
          </p:nvPr>
        </p:nvSpPr>
        <p:spPr/>
        <p:txBody>
          <a:bodyPr>
            <a:normAutofit fontScale="90000"/>
          </a:bodyPr>
          <a:lstStyle/>
          <a:p>
            <a:r>
              <a:rPr lang="zh-CN" altLang="en-US" dirty="0"/>
              <a:t>数据表的创建</a:t>
            </a:r>
          </a:p>
        </p:txBody>
      </p:sp>
      <p:sp>
        <p:nvSpPr>
          <p:cNvPr id="3" name="内容占位符 2">
            <a:extLst>
              <a:ext uri="{FF2B5EF4-FFF2-40B4-BE49-F238E27FC236}">
                <a16:creationId xmlns:a16="http://schemas.microsoft.com/office/drawing/2014/main" id="{4E37106D-BF97-4A00-8E29-2D33A64EA6A5}"/>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90EB7070-F3AD-44FE-8EF7-F8DFD819FDCE}"/>
              </a:ext>
            </a:extLst>
          </p:cNvPr>
          <p:cNvPicPr>
            <a:picLocks noChangeAspect="1"/>
          </p:cNvPicPr>
          <p:nvPr/>
        </p:nvPicPr>
        <p:blipFill>
          <a:blip r:embed="rId2"/>
          <a:stretch>
            <a:fillRect/>
          </a:stretch>
        </p:blipFill>
        <p:spPr>
          <a:xfrm>
            <a:off x="0" y="1274695"/>
            <a:ext cx="9144000" cy="3606188"/>
          </a:xfrm>
          <a:prstGeom prst="rect">
            <a:avLst/>
          </a:prstGeom>
        </p:spPr>
      </p:pic>
    </p:spTree>
    <p:extLst>
      <p:ext uri="{BB962C8B-B14F-4D97-AF65-F5344CB8AC3E}">
        <p14:creationId xmlns:p14="http://schemas.microsoft.com/office/powerpoint/2010/main" val="31789207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6439B2-2966-4576-B3E2-B2540789FB90}"/>
              </a:ext>
            </a:extLst>
          </p:cNvPr>
          <p:cNvSpPr>
            <a:spLocks noGrp="1"/>
          </p:cNvSpPr>
          <p:nvPr>
            <p:ph type="title"/>
          </p:nvPr>
        </p:nvSpPr>
        <p:spPr/>
        <p:txBody>
          <a:bodyPr>
            <a:normAutofit fontScale="90000"/>
          </a:bodyPr>
          <a:lstStyle/>
          <a:p>
            <a:r>
              <a:rPr lang="zh-CN" altLang="en-US" dirty="0"/>
              <a:t>数据表的创建</a:t>
            </a:r>
          </a:p>
        </p:txBody>
      </p:sp>
      <p:sp>
        <p:nvSpPr>
          <p:cNvPr id="3" name="内容占位符 2">
            <a:extLst>
              <a:ext uri="{FF2B5EF4-FFF2-40B4-BE49-F238E27FC236}">
                <a16:creationId xmlns:a16="http://schemas.microsoft.com/office/drawing/2014/main" id="{53FA75DA-44A9-42E6-A5BD-91B17398CD27}"/>
              </a:ext>
            </a:extLst>
          </p:cNvPr>
          <p:cNvSpPr>
            <a:spLocks noGrp="1"/>
          </p:cNvSpPr>
          <p:nvPr>
            <p:ph idx="1"/>
          </p:nvPr>
        </p:nvSpPr>
        <p:spPr/>
        <p:txBody>
          <a:bodyPr>
            <a:normAutofit fontScale="77500" lnSpcReduction="20000"/>
          </a:bodyPr>
          <a:lstStyle/>
          <a:p>
            <a:r>
              <a:rPr lang="en-US" altLang="zh-CN" dirty="0"/>
              <a:t>5</a:t>
            </a:r>
            <a:r>
              <a:rPr lang="zh-CN" altLang="en-US" dirty="0"/>
              <a:t>．创建临时表（</a:t>
            </a:r>
            <a:r>
              <a:rPr lang="en-US" altLang="zh-CN" dirty="0"/>
              <a:t>Temporary Tables</a:t>
            </a:r>
            <a:r>
              <a:rPr lang="zh-CN" altLang="en-US" dirty="0"/>
              <a:t>）</a:t>
            </a:r>
          </a:p>
          <a:p>
            <a:pPr lvl="1"/>
            <a:r>
              <a:rPr lang="zh-CN" altLang="en-US" dirty="0"/>
              <a:t>若一个表是作为临时表创建的，那么该表只在当前会话期间可见，其数据被存储于用户的临时文件夹中，并在会话结束后删除。若临时表的表名与数据库已有的永久表的表名相同，那么在这一会话期间，用户无法访问已有的永久表，所有对同名表的访问都会被导向临时表。当临时表被删除后，才能恢复对永久表的访问指向。</a:t>
            </a:r>
          </a:p>
          <a:p>
            <a:pPr lvl="1"/>
            <a:r>
              <a:rPr lang="zh-CN" altLang="en-US" dirty="0"/>
              <a:t>与永久表相比，临时表有其</a:t>
            </a:r>
            <a:r>
              <a:rPr lang="zh-CN" altLang="en-US"/>
              <a:t>自身特征：（</a:t>
            </a:r>
            <a:r>
              <a:rPr lang="en-US" altLang="zh-CN"/>
              <a:t>1</a:t>
            </a:r>
            <a:r>
              <a:rPr lang="zh-CN" altLang="en-US"/>
              <a:t>）不</a:t>
            </a:r>
            <a:r>
              <a:rPr lang="zh-CN" altLang="en-US" dirty="0"/>
              <a:t>支持分区；（</a:t>
            </a:r>
            <a:r>
              <a:rPr lang="en-US" altLang="zh-CN" dirty="0"/>
              <a:t>2</a:t>
            </a:r>
            <a:r>
              <a:rPr lang="zh-CN" altLang="en-US" dirty="0"/>
              <a:t>）不支持</a:t>
            </a:r>
            <a:r>
              <a:rPr lang="zh-CN" altLang="en-US"/>
              <a:t>索引。</a:t>
            </a:r>
            <a:endParaRPr lang="en-US" altLang="zh-CN"/>
          </a:p>
          <a:p>
            <a:pPr lvl="1"/>
            <a:r>
              <a:rPr lang="zh-CN" altLang="en-US"/>
              <a:t>临时</a:t>
            </a:r>
            <a:r>
              <a:rPr lang="zh-CN" altLang="en-US" dirty="0"/>
              <a:t>表的存储位置可以通过</a:t>
            </a:r>
            <a:r>
              <a:rPr lang="en-US" altLang="zh-CN" dirty="0" err="1"/>
              <a:t>hive.exec.temporary.table.storage</a:t>
            </a:r>
            <a:r>
              <a:rPr lang="zh-CN" altLang="en-US" dirty="0"/>
              <a:t>配置参数设置。</a:t>
            </a:r>
          </a:p>
          <a:p>
            <a:endParaRPr lang="zh-CN" altLang="en-US" dirty="0"/>
          </a:p>
        </p:txBody>
      </p:sp>
    </p:spTree>
    <p:extLst>
      <p:ext uri="{BB962C8B-B14F-4D97-AF65-F5344CB8AC3E}">
        <p14:creationId xmlns:p14="http://schemas.microsoft.com/office/powerpoint/2010/main" val="6669546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505362-CFAD-4F5F-A624-1C6CE49F6C66}"/>
              </a:ext>
            </a:extLst>
          </p:cNvPr>
          <p:cNvSpPr>
            <a:spLocks noGrp="1"/>
          </p:cNvSpPr>
          <p:nvPr>
            <p:ph type="title"/>
          </p:nvPr>
        </p:nvSpPr>
        <p:spPr/>
        <p:txBody>
          <a:bodyPr>
            <a:normAutofit fontScale="90000"/>
          </a:bodyPr>
          <a:lstStyle/>
          <a:p>
            <a:r>
              <a:rPr lang="zh-CN" altLang="en-US" dirty="0"/>
              <a:t>数据表的创建</a:t>
            </a:r>
          </a:p>
        </p:txBody>
      </p:sp>
      <p:sp>
        <p:nvSpPr>
          <p:cNvPr id="3" name="内容占位符 2">
            <a:extLst>
              <a:ext uri="{FF2B5EF4-FFF2-40B4-BE49-F238E27FC236}">
                <a16:creationId xmlns:a16="http://schemas.microsoft.com/office/drawing/2014/main" id="{96082AA6-8E2F-4ACD-8177-B0324A13B668}"/>
              </a:ext>
            </a:extLst>
          </p:cNvPr>
          <p:cNvSpPr>
            <a:spLocks noGrp="1"/>
          </p:cNvSpPr>
          <p:nvPr>
            <p:ph idx="1"/>
          </p:nvPr>
        </p:nvSpPr>
        <p:spPr/>
        <p:txBody>
          <a:bodyPr/>
          <a:lstStyle/>
          <a:p>
            <a:r>
              <a:rPr lang="en-US" altLang="zh-CN" dirty="0"/>
              <a:t>【</a:t>
            </a:r>
            <a:r>
              <a:rPr lang="zh-CN" altLang="en-US" dirty="0"/>
              <a:t>例</a:t>
            </a:r>
            <a:r>
              <a:rPr lang="en-US" altLang="zh-CN" dirty="0"/>
              <a:t>6.8】</a:t>
            </a:r>
            <a:r>
              <a:rPr lang="zh-CN" altLang="en-US" dirty="0"/>
              <a:t>如下应用中创建临时数据表</a:t>
            </a:r>
          </a:p>
        </p:txBody>
      </p:sp>
      <p:pic>
        <p:nvPicPr>
          <p:cNvPr id="4" name="图片 3">
            <a:extLst>
              <a:ext uri="{FF2B5EF4-FFF2-40B4-BE49-F238E27FC236}">
                <a16:creationId xmlns:a16="http://schemas.microsoft.com/office/drawing/2014/main" id="{7545C378-492B-4E5C-A57D-9E5F12D0A38E}"/>
              </a:ext>
            </a:extLst>
          </p:cNvPr>
          <p:cNvPicPr>
            <a:picLocks noChangeAspect="1"/>
          </p:cNvPicPr>
          <p:nvPr/>
        </p:nvPicPr>
        <p:blipFill>
          <a:blip r:embed="rId2"/>
          <a:stretch>
            <a:fillRect/>
          </a:stretch>
        </p:blipFill>
        <p:spPr>
          <a:xfrm>
            <a:off x="0" y="2355726"/>
            <a:ext cx="9144000" cy="1453575"/>
          </a:xfrm>
          <a:prstGeom prst="rect">
            <a:avLst/>
          </a:prstGeom>
        </p:spPr>
      </p:pic>
    </p:spTree>
    <p:extLst>
      <p:ext uri="{BB962C8B-B14F-4D97-AF65-F5344CB8AC3E}">
        <p14:creationId xmlns:p14="http://schemas.microsoft.com/office/powerpoint/2010/main" val="31255101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62F30F-48E2-421E-ACAF-4C872C0ACA5A}"/>
              </a:ext>
            </a:extLst>
          </p:cNvPr>
          <p:cNvSpPr>
            <a:spLocks noGrp="1"/>
          </p:cNvSpPr>
          <p:nvPr>
            <p:ph type="title"/>
          </p:nvPr>
        </p:nvSpPr>
        <p:spPr/>
        <p:txBody>
          <a:bodyPr>
            <a:normAutofit fontScale="90000"/>
          </a:bodyPr>
          <a:lstStyle/>
          <a:p>
            <a:r>
              <a:rPr lang="zh-CN" altLang="en-US" dirty="0"/>
              <a:t>数据表的创建</a:t>
            </a:r>
          </a:p>
        </p:txBody>
      </p:sp>
      <p:sp>
        <p:nvSpPr>
          <p:cNvPr id="3" name="内容占位符 2">
            <a:extLst>
              <a:ext uri="{FF2B5EF4-FFF2-40B4-BE49-F238E27FC236}">
                <a16:creationId xmlns:a16="http://schemas.microsoft.com/office/drawing/2014/main" id="{F792E556-080A-4996-9DD1-C5CDEF4EDBE4}"/>
              </a:ext>
            </a:extLst>
          </p:cNvPr>
          <p:cNvSpPr>
            <a:spLocks noGrp="1"/>
          </p:cNvSpPr>
          <p:nvPr>
            <p:ph idx="1"/>
          </p:nvPr>
        </p:nvSpPr>
        <p:spPr/>
        <p:txBody>
          <a:bodyPr>
            <a:normAutofit fontScale="70000" lnSpcReduction="20000"/>
          </a:bodyPr>
          <a:lstStyle/>
          <a:p>
            <a:r>
              <a:rPr lang="en-US" altLang="zh-CN" dirty="0"/>
              <a:t>6</a:t>
            </a:r>
            <a:r>
              <a:rPr lang="zh-CN" altLang="en-US" dirty="0"/>
              <a:t>．表的约束</a:t>
            </a:r>
          </a:p>
          <a:p>
            <a:pPr lvl="1"/>
            <a:r>
              <a:rPr lang="en-US" altLang="zh-CN" dirty="0"/>
              <a:t>Hive</a:t>
            </a:r>
            <a:r>
              <a:rPr lang="zh-CN" altLang="en-US" dirty="0"/>
              <a:t>包括未验证的主键和外键约束的支持。当存在约束时，一些</a:t>
            </a:r>
            <a:r>
              <a:rPr lang="en-US" altLang="zh-CN" dirty="0"/>
              <a:t>SQL</a:t>
            </a:r>
            <a:r>
              <a:rPr lang="zh-CN" altLang="en-US" dirty="0"/>
              <a:t>工具将会生成更加高效的查询。同时，由于这些约束未经验证，因此相关系统需要确保数据被载入</a:t>
            </a:r>
            <a:r>
              <a:rPr lang="en-US" altLang="zh-CN" dirty="0"/>
              <a:t>Hive</a:t>
            </a:r>
            <a:r>
              <a:rPr lang="zh-CN" altLang="en-US" dirty="0"/>
              <a:t>前的完整性。对</a:t>
            </a:r>
            <a:r>
              <a:rPr lang="en-US" altLang="zh-CN" dirty="0"/>
              <a:t>Hive</a:t>
            </a:r>
            <a:r>
              <a:rPr lang="zh-CN" altLang="en-US" dirty="0"/>
              <a:t>进行数据检索时，</a:t>
            </a:r>
            <a:r>
              <a:rPr lang="en-US" altLang="zh-CN" dirty="0"/>
              <a:t>Hive</a:t>
            </a:r>
            <a:r>
              <a:rPr lang="zh-CN" altLang="en-US" dirty="0"/>
              <a:t>的约束将会被用于提高</a:t>
            </a:r>
            <a:r>
              <a:rPr lang="en-US" altLang="zh-CN" dirty="0"/>
              <a:t>Hive</a:t>
            </a:r>
            <a:r>
              <a:rPr lang="zh-CN" altLang="en-US" dirty="0"/>
              <a:t>数据的查询优化，从而提高数据检索的效率。</a:t>
            </a:r>
          </a:p>
          <a:p>
            <a:pPr lvl="1"/>
            <a:r>
              <a:rPr lang="zh-CN" altLang="en-US" dirty="0"/>
              <a:t>列约束定义包含主键约束、唯一值约束、非空约束等，相关约束及其定义如下：</a:t>
            </a:r>
          </a:p>
          <a:p>
            <a:pPr marL="400050" lvl="1" indent="0">
              <a:buNone/>
            </a:pPr>
            <a:r>
              <a:rPr lang="en-US" altLang="zh-CN" dirty="0" err="1"/>
              <a:t>column_constraint_specification</a:t>
            </a:r>
            <a:endParaRPr lang="en-US" altLang="zh-CN" dirty="0"/>
          </a:p>
          <a:p>
            <a:pPr marL="400050" lvl="1" indent="0">
              <a:buNone/>
            </a:pPr>
            <a:r>
              <a:rPr lang="en-US" altLang="zh-CN" dirty="0"/>
              <a:t>    : [ PRIMARY KEY|UNIQUE|NOT NULL|DEFAULT [</a:t>
            </a:r>
            <a:r>
              <a:rPr lang="en-US" altLang="zh-CN" dirty="0" err="1"/>
              <a:t>default_value</a:t>
            </a:r>
            <a:r>
              <a:rPr lang="en-US" altLang="zh-CN" dirty="0"/>
              <a:t>]</a:t>
            </a:r>
          </a:p>
          <a:p>
            <a:pPr marL="400050" lvl="1" indent="0">
              <a:buNone/>
            </a:pPr>
            <a:r>
              <a:rPr lang="en-US" altLang="zh-CN" dirty="0"/>
              <a:t>            |CHECK [</a:t>
            </a:r>
            <a:r>
              <a:rPr lang="en-US" altLang="zh-CN" dirty="0" err="1"/>
              <a:t>check_expression</a:t>
            </a:r>
            <a:r>
              <a:rPr lang="en-US" altLang="zh-CN" dirty="0"/>
              <a:t>] ENABLE | DISABLE NOVALIDATE RELY/NORELY ]</a:t>
            </a:r>
          </a:p>
          <a:p>
            <a:endParaRPr lang="zh-CN" altLang="en-US" dirty="0"/>
          </a:p>
        </p:txBody>
      </p:sp>
    </p:spTree>
    <p:extLst>
      <p:ext uri="{BB962C8B-B14F-4D97-AF65-F5344CB8AC3E}">
        <p14:creationId xmlns:p14="http://schemas.microsoft.com/office/powerpoint/2010/main" val="11285652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BB2AAD-23A4-4D0C-AB3A-C42CD0739C04}"/>
              </a:ext>
            </a:extLst>
          </p:cNvPr>
          <p:cNvSpPr>
            <a:spLocks noGrp="1"/>
          </p:cNvSpPr>
          <p:nvPr>
            <p:ph type="title"/>
          </p:nvPr>
        </p:nvSpPr>
        <p:spPr/>
        <p:txBody>
          <a:bodyPr>
            <a:normAutofit fontScale="90000"/>
          </a:bodyPr>
          <a:lstStyle/>
          <a:p>
            <a:r>
              <a:rPr lang="zh-CN" altLang="en-US" dirty="0"/>
              <a:t>数据表的创建</a:t>
            </a:r>
          </a:p>
        </p:txBody>
      </p:sp>
      <p:sp>
        <p:nvSpPr>
          <p:cNvPr id="3" name="内容占位符 2">
            <a:extLst>
              <a:ext uri="{FF2B5EF4-FFF2-40B4-BE49-F238E27FC236}">
                <a16:creationId xmlns:a16="http://schemas.microsoft.com/office/drawing/2014/main" id="{13FF2F45-3DEF-4120-8E53-96A858A62799}"/>
              </a:ext>
            </a:extLst>
          </p:cNvPr>
          <p:cNvSpPr>
            <a:spLocks noGrp="1"/>
          </p:cNvSpPr>
          <p:nvPr>
            <p:ph idx="1"/>
          </p:nvPr>
        </p:nvSpPr>
        <p:spPr/>
        <p:txBody>
          <a:bodyPr/>
          <a:lstStyle/>
          <a:p>
            <a:r>
              <a:rPr lang="en-US" altLang="zh-CN" dirty="0"/>
              <a:t>【</a:t>
            </a:r>
            <a:r>
              <a:rPr lang="zh-CN" altLang="en-US" dirty="0"/>
              <a:t>例</a:t>
            </a:r>
            <a:r>
              <a:rPr lang="en-US" altLang="zh-CN" dirty="0"/>
              <a:t>6.9】</a:t>
            </a:r>
            <a:r>
              <a:rPr lang="zh-CN" altLang="en-US" dirty="0"/>
              <a:t>创建表</a:t>
            </a:r>
            <a:r>
              <a:rPr lang="en-US" altLang="zh-CN" dirty="0" err="1"/>
              <a:t>tbl_pk</a:t>
            </a:r>
            <a:r>
              <a:rPr lang="zh-CN" altLang="en-US" dirty="0"/>
              <a:t>，其中包含</a:t>
            </a:r>
            <a:r>
              <a:rPr lang="en-US" altLang="zh-CN" dirty="0"/>
              <a:t>(id1, id2)</a:t>
            </a:r>
            <a:r>
              <a:rPr lang="zh-CN" altLang="en-US" dirty="0"/>
              <a:t>共同组成该表的</a:t>
            </a:r>
            <a:r>
              <a:rPr lang="en-US" altLang="zh-CN" dirty="0"/>
              <a:t>primary key</a:t>
            </a:r>
            <a:r>
              <a:rPr lang="zh-CN" altLang="en-US" dirty="0"/>
              <a:t>。</a:t>
            </a:r>
          </a:p>
        </p:txBody>
      </p:sp>
      <p:pic>
        <p:nvPicPr>
          <p:cNvPr id="4" name="图片 3">
            <a:extLst>
              <a:ext uri="{FF2B5EF4-FFF2-40B4-BE49-F238E27FC236}">
                <a16:creationId xmlns:a16="http://schemas.microsoft.com/office/drawing/2014/main" id="{93B87F68-F0A2-48F3-A2C4-A2BC2DD80C83}"/>
              </a:ext>
            </a:extLst>
          </p:cNvPr>
          <p:cNvPicPr>
            <a:picLocks noChangeAspect="1"/>
          </p:cNvPicPr>
          <p:nvPr/>
        </p:nvPicPr>
        <p:blipFill>
          <a:blip r:embed="rId2"/>
          <a:stretch>
            <a:fillRect/>
          </a:stretch>
        </p:blipFill>
        <p:spPr>
          <a:xfrm>
            <a:off x="0" y="2715766"/>
            <a:ext cx="9144000" cy="1163782"/>
          </a:xfrm>
          <a:prstGeom prst="rect">
            <a:avLst/>
          </a:prstGeom>
        </p:spPr>
      </p:pic>
    </p:spTree>
    <p:extLst>
      <p:ext uri="{BB962C8B-B14F-4D97-AF65-F5344CB8AC3E}">
        <p14:creationId xmlns:p14="http://schemas.microsoft.com/office/powerpoint/2010/main" val="24766148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E5FA50-D931-458C-B4C0-5A37C14A05CE}"/>
              </a:ext>
            </a:extLst>
          </p:cNvPr>
          <p:cNvSpPr>
            <a:spLocks noGrp="1"/>
          </p:cNvSpPr>
          <p:nvPr>
            <p:ph type="title"/>
          </p:nvPr>
        </p:nvSpPr>
        <p:spPr/>
        <p:txBody>
          <a:bodyPr>
            <a:normAutofit fontScale="90000"/>
          </a:bodyPr>
          <a:lstStyle/>
          <a:p>
            <a:r>
              <a:rPr lang="zh-CN" altLang="en-US" dirty="0"/>
              <a:t>数据表的创建</a:t>
            </a:r>
          </a:p>
        </p:txBody>
      </p:sp>
      <p:sp>
        <p:nvSpPr>
          <p:cNvPr id="3" name="内容占位符 2">
            <a:extLst>
              <a:ext uri="{FF2B5EF4-FFF2-40B4-BE49-F238E27FC236}">
                <a16:creationId xmlns:a16="http://schemas.microsoft.com/office/drawing/2014/main" id="{2C53C734-F1D8-4989-BA1A-7596BB9C7531}"/>
              </a:ext>
            </a:extLst>
          </p:cNvPr>
          <p:cNvSpPr>
            <a:spLocks noGrp="1"/>
          </p:cNvSpPr>
          <p:nvPr>
            <p:ph idx="1"/>
          </p:nvPr>
        </p:nvSpPr>
        <p:spPr/>
        <p:txBody>
          <a:bodyPr/>
          <a:lstStyle/>
          <a:p>
            <a:r>
              <a:rPr lang="en-US" altLang="zh-CN" dirty="0"/>
              <a:t>【</a:t>
            </a:r>
            <a:r>
              <a:rPr lang="zh-CN" altLang="en-US" dirty="0"/>
              <a:t>例</a:t>
            </a:r>
            <a:r>
              <a:rPr lang="en-US" altLang="zh-CN" dirty="0"/>
              <a:t>6.10】</a:t>
            </a:r>
            <a:r>
              <a:rPr lang="zh-CN" altLang="en-US" dirty="0"/>
              <a:t>创建表</a:t>
            </a:r>
            <a:r>
              <a:rPr lang="en-US" altLang="zh-CN" dirty="0" err="1"/>
              <a:t>tbl_fk</a:t>
            </a:r>
            <a:r>
              <a:rPr lang="zh-CN" altLang="en-US" dirty="0"/>
              <a:t>，其中包含外键约束关联到</a:t>
            </a:r>
            <a:r>
              <a:rPr lang="en-US" altLang="zh-CN" dirty="0" err="1"/>
              <a:t>tbl_pk</a:t>
            </a:r>
            <a:r>
              <a:rPr lang="zh-CN" altLang="en-US" dirty="0"/>
              <a:t>表</a:t>
            </a:r>
          </a:p>
        </p:txBody>
      </p:sp>
      <p:pic>
        <p:nvPicPr>
          <p:cNvPr id="4" name="图片 3">
            <a:extLst>
              <a:ext uri="{FF2B5EF4-FFF2-40B4-BE49-F238E27FC236}">
                <a16:creationId xmlns:a16="http://schemas.microsoft.com/office/drawing/2014/main" id="{AC9EE747-B68E-452A-B4EF-0366599DE263}"/>
              </a:ext>
            </a:extLst>
          </p:cNvPr>
          <p:cNvPicPr>
            <a:picLocks noChangeAspect="1"/>
          </p:cNvPicPr>
          <p:nvPr/>
        </p:nvPicPr>
        <p:blipFill>
          <a:blip r:embed="rId2"/>
          <a:stretch>
            <a:fillRect/>
          </a:stretch>
        </p:blipFill>
        <p:spPr>
          <a:xfrm>
            <a:off x="0" y="2643758"/>
            <a:ext cx="9144000" cy="938405"/>
          </a:xfrm>
          <a:prstGeom prst="rect">
            <a:avLst/>
          </a:prstGeom>
        </p:spPr>
      </p:pic>
    </p:spTree>
    <p:extLst>
      <p:ext uri="{BB962C8B-B14F-4D97-AF65-F5344CB8AC3E}">
        <p14:creationId xmlns:p14="http://schemas.microsoft.com/office/powerpoint/2010/main" val="40989136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数据表和分区的修改</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lstStyle/>
          <a:p>
            <a:r>
              <a:rPr lang="zh-CN" altLang="en-US" dirty="0"/>
              <a:t>通过</a:t>
            </a:r>
            <a:r>
              <a:rPr lang="en-US" altLang="zh-CN" dirty="0"/>
              <a:t>ALTER</a:t>
            </a:r>
            <a:r>
              <a:rPr lang="zh-CN" altLang="en-US" dirty="0"/>
              <a:t>命令可以修改现有数据表的结构，具体包括增加数据列、增加分区、修改</a:t>
            </a:r>
            <a:r>
              <a:rPr lang="en-US" altLang="zh-CN" dirty="0" err="1"/>
              <a:t>SerDe</a:t>
            </a:r>
            <a:r>
              <a:rPr lang="zh-CN" altLang="en-US" dirty="0"/>
              <a:t>、增加数据表属性、修改表名等等。类似的，利用</a:t>
            </a:r>
            <a:r>
              <a:rPr lang="en-US" altLang="zh-CN" dirty="0"/>
              <a:t>ALTER</a:t>
            </a:r>
            <a:r>
              <a:rPr lang="zh-CN" altLang="en-US" dirty="0"/>
              <a:t>可以修改数据表的分区属性。</a:t>
            </a:r>
          </a:p>
        </p:txBody>
      </p:sp>
    </p:spTree>
    <p:extLst>
      <p:ext uri="{BB962C8B-B14F-4D97-AF65-F5344CB8AC3E}">
        <p14:creationId xmlns:p14="http://schemas.microsoft.com/office/powerpoint/2010/main" val="397796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数据表和分区的修改</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a:xfrm>
            <a:off x="457200" y="987574"/>
            <a:ext cx="8229600" cy="3607049"/>
          </a:xfrm>
        </p:spPr>
        <p:txBody>
          <a:bodyPr>
            <a:normAutofit lnSpcReduction="10000"/>
          </a:bodyPr>
          <a:lstStyle/>
          <a:p>
            <a:r>
              <a:rPr lang="en-US" altLang="zh-CN" dirty="0"/>
              <a:t>1</a:t>
            </a:r>
            <a:r>
              <a:rPr lang="zh-CN" altLang="en-US" dirty="0"/>
              <a:t>．数据表的修改</a:t>
            </a:r>
          </a:p>
          <a:p>
            <a:pPr lvl="1"/>
            <a:r>
              <a:rPr lang="zh-CN" altLang="en-US" dirty="0"/>
              <a:t>用法</a:t>
            </a:r>
            <a:r>
              <a:rPr lang="en-US" altLang="zh-CN" dirty="0"/>
              <a:t>1 </a:t>
            </a:r>
            <a:r>
              <a:rPr lang="zh-CN" altLang="en-US" dirty="0"/>
              <a:t>修改数据表名</a:t>
            </a:r>
          </a:p>
          <a:p>
            <a:pPr lvl="1"/>
            <a:r>
              <a:rPr lang="zh-CN" altLang="en-US" dirty="0"/>
              <a:t>通过</a:t>
            </a:r>
            <a:r>
              <a:rPr lang="en-US" altLang="zh-CN" dirty="0"/>
              <a:t>ALTER TABLE</a:t>
            </a:r>
            <a:r>
              <a:rPr lang="zh-CN" altLang="en-US" dirty="0"/>
              <a:t>操作命令，可以修改数据表的名称。数据表更名操作不但会修改数据表在</a:t>
            </a:r>
            <a:r>
              <a:rPr lang="en-US" altLang="zh-CN" dirty="0"/>
              <a:t>Hive</a:t>
            </a:r>
            <a:r>
              <a:rPr lang="zh-CN" altLang="en-US" dirty="0"/>
              <a:t>中的元数据信息，也将更改该数据表在</a:t>
            </a:r>
            <a:r>
              <a:rPr lang="en-US" altLang="zh-CN" dirty="0"/>
              <a:t>HDFS</a:t>
            </a:r>
            <a:r>
              <a:rPr lang="zh-CN" altLang="en-US" dirty="0"/>
              <a:t>中的存储位置。</a:t>
            </a:r>
          </a:p>
          <a:p>
            <a:pPr marL="400050" lvl="1" indent="0">
              <a:buNone/>
            </a:pPr>
            <a:r>
              <a:rPr lang="en-US" altLang="zh-CN" dirty="0">
                <a:highlight>
                  <a:srgbClr val="C0C0C0"/>
                </a:highlight>
              </a:rPr>
              <a:t>ALTER TABLE </a:t>
            </a:r>
            <a:r>
              <a:rPr lang="en-US" altLang="zh-CN" dirty="0" err="1">
                <a:highlight>
                  <a:srgbClr val="C0C0C0"/>
                </a:highlight>
              </a:rPr>
              <a:t>table_name</a:t>
            </a:r>
            <a:r>
              <a:rPr lang="en-US" altLang="zh-CN" dirty="0">
                <a:highlight>
                  <a:srgbClr val="C0C0C0"/>
                </a:highlight>
              </a:rPr>
              <a:t> RENAME TO </a:t>
            </a:r>
            <a:r>
              <a:rPr lang="en-US" altLang="zh-CN" dirty="0" err="1">
                <a:highlight>
                  <a:srgbClr val="C0C0C0"/>
                </a:highlight>
              </a:rPr>
              <a:t>new_table_name</a:t>
            </a:r>
            <a:r>
              <a:rPr lang="en-US" altLang="zh-CN" dirty="0">
                <a:highlight>
                  <a:srgbClr val="C0C0C0"/>
                </a:highlight>
              </a:rPr>
              <a:t>;</a:t>
            </a:r>
          </a:p>
          <a:p>
            <a:endParaRPr lang="zh-CN" altLang="en-US" dirty="0"/>
          </a:p>
        </p:txBody>
      </p:sp>
      <p:pic>
        <p:nvPicPr>
          <p:cNvPr id="4" name="图片 3">
            <a:extLst>
              <a:ext uri="{FF2B5EF4-FFF2-40B4-BE49-F238E27FC236}">
                <a16:creationId xmlns:a16="http://schemas.microsoft.com/office/drawing/2014/main" id="{52DB992D-EE88-406B-A300-25CBB16D1EF7}"/>
              </a:ext>
            </a:extLst>
          </p:cNvPr>
          <p:cNvPicPr>
            <a:picLocks noChangeAspect="1"/>
          </p:cNvPicPr>
          <p:nvPr/>
        </p:nvPicPr>
        <p:blipFill>
          <a:blip r:embed="rId2"/>
          <a:stretch>
            <a:fillRect/>
          </a:stretch>
        </p:blipFill>
        <p:spPr>
          <a:xfrm>
            <a:off x="17776" y="3983110"/>
            <a:ext cx="9126224" cy="1133633"/>
          </a:xfrm>
          <a:prstGeom prst="rect">
            <a:avLst/>
          </a:prstGeom>
        </p:spPr>
      </p:pic>
    </p:spTree>
    <p:extLst>
      <p:ext uri="{BB962C8B-B14F-4D97-AF65-F5344CB8AC3E}">
        <p14:creationId xmlns:p14="http://schemas.microsoft.com/office/powerpoint/2010/main" val="10095406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数据表和分区的修改</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normAutofit fontScale="92500" lnSpcReduction="20000"/>
          </a:bodyPr>
          <a:lstStyle/>
          <a:p>
            <a:r>
              <a:rPr lang="zh-CN" altLang="en-US" dirty="0"/>
              <a:t>用法</a:t>
            </a:r>
            <a:r>
              <a:rPr lang="en-US" altLang="zh-CN" dirty="0"/>
              <a:t>2 </a:t>
            </a:r>
            <a:r>
              <a:rPr lang="zh-CN" altLang="en-US" dirty="0"/>
              <a:t>修改数据表的属性</a:t>
            </a:r>
          </a:p>
          <a:p>
            <a:pPr lvl="1"/>
            <a:r>
              <a:rPr lang="zh-CN" altLang="en-US" dirty="0"/>
              <a:t>通过</a:t>
            </a:r>
            <a:r>
              <a:rPr lang="en-US" altLang="zh-CN" dirty="0"/>
              <a:t>ALTER TABLE</a:t>
            </a:r>
            <a:r>
              <a:rPr lang="zh-CN" altLang="en-US" dirty="0"/>
              <a:t>操作命令可以修改数据表的属性，其中数据表的定义为</a:t>
            </a:r>
            <a:r>
              <a:rPr lang="en-US" altLang="zh-CN" dirty="0"/>
              <a:t>(</a:t>
            </a:r>
            <a:r>
              <a:rPr lang="en-US" altLang="zh-CN" dirty="0" err="1"/>
              <a:t>property_name</a:t>
            </a:r>
            <a:r>
              <a:rPr lang="en-US" altLang="zh-CN" dirty="0"/>
              <a:t> = </a:t>
            </a:r>
            <a:r>
              <a:rPr lang="en-US" altLang="zh-CN" dirty="0" err="1"/>
              <a:t>property_value</a:t>
            </a:r>
            <a:r>
              <a:rPr lang="en-US" altLang="zh-CN" dirty="0"/>
              <a:t>, ... )</a:t>
            </a:r>
            <a:r>
              <a:rPr lang="zh-CN" altLang="en-US" dirty="0"/>
              <a:t>，因此可以一次性更改多个数据表的属性值。当然，也可以为数据表增加新的属性。所有数据表的扩展属性都可以通过“</a:t>
            </a:r>
            <a:r>
              <a:rPr lang="en-US" altLang="zh-CN" dirty="0"/>
              <a:t>DESCRIBE EXTENDED TABLE”</a:t>
            </a:r>
            <a:r>
              <a:rPr lang="zh-CN" altLang="en-US" dirty="0"/>
              <a:t>查看。</a:t>
            </a:r>
          </a:p>
          <a:p>
            <a:pPr marL="400050" lvl="1" indent="0">
              <a:buNone/>
            </a:pPr>
            <a:r>
              <a:rPr lang="en-US" altLang="zh-CN" dirty="0">
                <a:highlight>
                  <a:srgbClr val="C0C0C0"/>
                </a:highlight>
              </a:rPr>
              <a:t>ALTER TABLE </a:t>
            </a:r>
            <a:r>
              <a:rPr lang="en-US" altLang="zh-CN" dirty="0" err="1">
                <a:highlight>
                  <a:srgbClr val="C0C0C0"/>
                </a:highlight>
              </a:rPr>
              <a:t>table_name</a:t>
            </a:r>
            <a:r>
              <a:rPr lang="en-US" altLang="zh-CN" dirty="0">
                <a:highlight>
                  <a:srgbClr val="C0C0C0"/>
                </a:highlight>
              </a:rPr>
              <a:t> SET TBLPROPERTIES (‘db_pro1’=’pro1_value’);</a:t>
            </a:r>
          </a:p>
          <a:p>
            <a:endParaRPr lang="zh-CN" altLang="en-US" dirty="0"/>
          </a:p>
        </p:txBody>
      </p:sp>
    </p:spTree>
    <p:extLst>
      <p:ext uri="{BB962C8B-B14F-4D97-AF65-F5344CB8AC3E}">
        <p14:creationId xmlns:p14="http://schemas.microsoft.com/office/powerpoint/2010/main" val="21540342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数据表和分区的修改</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lstStyle/>
          <a:p>
            <a:r>
              <a:rPr lang="zh-CN" altLang="en-US" dirty="0"/>
              <a:t>用法</a:t>
            </a:r>
            <a:r>
              <a:rPr lang="en-US" altLang="zh-CN" dirty="0"/>
              <a:t>3 </a:t>
            </a:r>
            <a:r>
              <a:rPr lang="zh-CN" altLang="en-US" dirty="0"/>
              <a:t>修改数据表说明</a:t>
            </a:r>
          </a:p>
          <a:p>
            <a:pPr lvl="1"/>
            <a:r>
              <a:rPr lang="zh-CN" altLang="en-US" dirty="0"/>
              <a:t>通过</a:t>
            </a:r>
            <a:r>
              <a:rPr lang="en-US" altLang="zh-CN" dirty="0"/>
              <a:t>ALTER TABLE</a:t>
            </a:r>
            <a:r>
              <a:rPr lang="zh-CN" altLang="en-US" dirty="0"/>
              <a:t>操作命令，可以修改</a:t>
            </a:r>
            <a:r>
              <a:rPr lang="en-US" altLang="zh-CN" dirty="0"/>
              <a:t>/</a:t>
            </a:r>
            <a:r>
              <a:rPr lang="zh-CN" altLang="en-US" dirty="0"/>
              <a:t>设置数据表的说明信息。</a:t>
            </a:r>
          </a:p>
          <a:p>
            <a:pPr marL="400050" lvl="1" indent="0">
              <a:buNone/>
            </a:pPr>
            <a:r>
              <a:rPr lang="en-US" altLang="zh-CN" dirty="0"/>
              <a:t>ALTER TABLE </a:t>
            </a:r>
            <a:r>
              <a:rPr lang="en-US" altLang="zh-CN" dirty="0" err="1"/>
              <a:t>table_name</a:t>
            </a:r>
            <a:r>
              <a:rPr lang="en-US" altLang="zh-CN" dirty="0"/>
              <a:t> SET TBLPROPERTIES ('comment' = </a:t>
            </a:r>
            <a:r>
              <a:rPr lang="en-US" altLang="zh-CN" dirty="0" err="1"/>
              <a:t>new_comment</a:t>
            </a:r>
            <a:r>
              <a:rPr lang="en-US" altLang="zh-CN" dirty="0"/>
              <a:t>);</a:t>
            </a:r>
          </a:p>
          <a:p>
            <a:endParaRPr lang="zh-CN" altLang="en-US" dirty="0"/>
          </a:p>
        </p:txBody>
      </p:sp>
    </p:spTree>
    <p:extLst>
      <p:ext uri="{BB962C8B-B14F-4D97-AF65-F5344CB8AC3E}">
        <p14:creationId xmlns:p14="http://schemas.microsoft.com/office/powerpoint/2010/main" val="9950155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数据表和分区的修改</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normAutofit/>
          </a:bodyPr>
          <a:lstStyle/>
          <a:p>
            <a:r>
              <a:rPr lang="en-US" altLang="zh-CN" dirty="0"/>
              <a:t>2</a:t>
            </a:r>
            <a:r>
              <a:rPr lang="zh-CN" altLang="en-US" dirty="0"/>
              <a:t>．修改数据表约束</a:t>
            </a:r>
          </a:p>
          <a:p>
            <a:pPr lvl="1"/>
            <a:r>
              <a:rPr lang="zh-CN" altLang="en-US" dirty="0"/>
              <a:t>用法</a:t>
            </a:r>
            <a:r>
              <a:rPr lang="en-US" altLang="zh-CN" dirty="0"/>
              <a:t>1 </a:t>
            </a:r>
            <a:r>
              <a:rPr lang="zh-CN" altLang="en-US" dirty="0"/>
              <a:t>修改数据表的主键约束（</a:t>
            </a:r>
            <a:r>
              <a:rPr lang="en-US" altLang="zh-CN" dirty="0"/>
              <a:t>PRIMARY KEY</a:t>
            </a:r>
            <a:r>
              <a:rPr lang="zh-CN" altLang="en-US" dirty="0"/>
              <a:t>）</a:t>
            </a:r>
          </a:p>
          <a:p>
            <a:pPr marL="400050" lvl="1" indent="0">
              <a:buNone/>
            </a:pPr>
            <a:r>
              <a:rPr lang="en-US" altLang="zh-CN" dirty="0">
                <a:highlight>
                  <a:srgbClr val="C0C0C0"/>
                </a:highlight>
              </a:rPr>
              <a:t>ALTER TABLE </a:t>
            </a:r>
            <a:r>
              <a:rPr lang="en-US" altLang="zh-CN" dirty="0" err="1">
                <a:highlight>
                  <a:srgbClr val="C0C0C0"/>
                </a:highlight>
              </a:rPr>
              <a:t>table_name</a:t>
            </a:r>
            <a:r>
              <a:rPr lang="en-US" altLang="zh-CN" dirty="0">
                <a:highlight>
                  <a:srgbClr val="C0C0C0"/>
                </a:highlight>
              </a:rPr>
              <a:t> ADD CONSTRAINT </a:t>
            </a:r>
            <a:r>
              <a:rPr lang="en-US" altLang="zh-CN" dirty="0" err="1">
                <a:highlight>
                  <a:srgbClr val="C0C0C0"/>
                </a:highlight>
              </a:rPr>
              <a:t>constraint_name</a:t>
            </a:r>
            <a:r>
              <a:rPr lang="en-US" altLang="zh-CN" dirty="0">
                <a:highlight>
                  <a:srgbClr val="C0C0C0"/>
                </a:highlight>
              </a:rPr>
              <a:t> </a:t>
            </a:r>
          </a:p>
          <a:p>
            <a:pPr marL="400050" lvl="1" indent="0">
              <a:buNone/>
            </a:pPr>
            <a:r>
              <a:rPr lang="en-US" altLang="zh-CN" dirty="0">
                <a:highlight>
                  <a:srgbClr val="C0C0C0"/>
                </a:highlight>
              </a:rPr>
              <a:t>    PRIMARY KEY (column, ...) DISABLE NOVALIDATE;</a:t>
            </a:r>
          </a:p>
          <a:p>
            <a:endParaRPr lang="zh-CN" altLang="en-US" dirty="0"/>
          </a:p>
        </p:txBody>
      </p:sp>
    </p:spTree>
    <p:extLst>
      <p:ext uri="{BB962C8B-B14F-4D97-AF65-F5344CB8AC3E}">
        <p14:creationId xmlns:p14="http://schemas.microsoft.com/office/powerpoint/2010/main" val="29631510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数据表和分区的修改</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lstStyle/>
          <a:p>
            <a:r>
              <a:rPr lang="en-US" altLang="zh-CN" dirty="0"/>
              <a:t>【</a:t>
            </a:r>
            <a:r>
              <a:rPr lang="zh-CN" altLang="en-US" dirty="0"/>
              <a:t>例</a:t>
            </a:r>
            <a:r>
              <a:rPr lang="en-US" altLang="zh-CN" dirty="0"/>
              <a:t>6.16】</a:t>
            </a:r>
            <a:r>
              <a:rPr lang="zh-CN" altLang="en-US" dirty="0"/>
              <a:t>如下操作先创建一个数据表，之后利用</a:t>
            </a:r>
            <a:r>
              <a:rPr lang="en-US" altLang="zh-CN" dirty="0"/>
              <a:t>ALTER TABLE</a:t>
            </a:r>
            <a:r>
              <a:rPr lang="zh-CN" altLang="en-US" dirty="0"/>
              <a:t>增加主键约束</a:t>
            </a:r>
          </a:p>
        </p:txBody>
      </p:sp>
      <p:pic>
        <p:nvPicPr>
          <p:cNvPr id="4" name="图片 3">
            <a:extLst>
              <a:ext uri="{FF2B5EF4-FFF2-40B4-BE49-F238E27FC236}">
                <a16:creationId xmlns:a16="http://schemas.microsoft.com/office/drawing/2014/main" id="{03082FBD-24FE-4BBC-9402-C439A7A887B0}"/>
              </a:ext>
            </a:extLst>
          </p:cNvPr>
          <p:cNvPicPr>
            <a:picLocks noChangeAspect="1"/>
          </p:cNvPicPr>
          <p:nvPr/>
        </p:nvPicPr>
        <p:blipFill>
          <a:blip r:embed="rId2"/>
          <a:stretch>
            <a:fillRect/>
          </a:stretch>
        </p:blipFill>
        <p:spPr>
          <a:xfrm>
            <a:off x="0" y="2207095"/>
            <a:ext cx="9144000" cy="2850078"/>
          </a:xfrm>
          <a:prstGeom prst="rect">
            <a:avLst/>
          </a:prstGeom>
        </p:spPr>
      </p:pic>
    </p:spTree>
    <p:extLst>
      <p:ext uri="{BB962C8B-B14F-4D97-AF65-F5344CB8AC3E}">
        <p14:creationId xmlns:p14="http://schemas.microsoft.com/office/powerpoint/2010/main" val="407299600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数据表和分区的修改</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normAutofit fontScale="62500" lnSpcReduction="20000"/>
          </a:bodyPr>
          <a:lstStyle/>
          <a:p>
            <a:r>
              <a:rPr lang="zh-CN" altLang="en-US" dirty="0"/>
              <a:t>用法</a:t>
            </a:r>
            <a:r>
              <a:rPr lang="en-US" altLang="zh-CN" dirty="0"/>
              <a:t>2 </a:t>
            </a:r>
            <a:r>
              <a:rPr lang="zh-CN" altLang="en-US" dirty="0"/>
              <a:t>修改数据表的外键约束（</a:t>
            </a:r>
            <a:r>
              <a:rPr lang="en-US" altLang="zh-CN" dirty="0"/>
              <a:t>FOREIGN KEY</a:t>
            </a:r>
            <a:r>
              <a:rPr lang="zh-CN" altLang="en-US" dirty="0"/>
              <a:t>）</a:t>
            </a:r>
          </a:p>
          <a:p>
            <a:pPr marL="400050" lvl="1" indent="0">
              <a:buNone/>
            </a:pPr>
            <a:r>
              <a:rPr lang="en-US" altLang="zh-CN" dirty="0"/>
              <a:t>ALTER TABLE </a:t>
            </a:r>
            <a:r>
              <a:rPr lang="en-US" altLang="zh-CN" dirty="0" err="1"/>
              <a:t>table_name</a:t>
            </a:r>
            <a:r>
              <a:rPr lang="en-US" altLang="zh-CN" dirty="0"/>
              <a:t> ADD CONSTRAINT </a:t>
            </a:r>
            <a:r>
              <a:rPr lang="en-US" altLang="zh-CN" dirty="0" err="1"/>
              <a:t>constraint_name</a:t>
            </a:r>
            <a:r>
              <a:rPr lang="en-US" altLang="zh-CN" dirty="0"/>
              <a:t> </a:t>
            </a:r>
          </a:p>
          <a:p>
            <a:pPr marL="400050" lvl="1" indent="0">
              <a:buNone/>
            </a:pPr>
            <a:r>
              <a:rPr lang="en-US" altLang="zh-CN" dirty="0"/>
              <a:t>    FOREIGN KEY (column, ...) REFERENCES </a:t>
            </a:r>
            <a:r>
              <a:rPr lang="en-US" altLang="zh-CN" dirty="0" err="1"/>
              <a:t>table_name</a:t>
            </a:r>
            <a:r>
              <a:rPr lang="en-US" altLang="zh-CN" dirty="0"/>
              <a:t>(column, ...) </a:t>
            </a:r>
          </a:p>
          <a:p>
            <a:pPr marL="400050" lvl="1" indent="0">
              <a:buNone/>
            </a:pPr>
            <a:r>
              <a:rPr lang="en-US" altLang="zh-CN" dirty="0"/>
              <a:t>    DISABLE NOVALIDATE RELY;</a:t>
            </a:r>
          </a:p>
          <a:p>
            <a:r>
              <a:rPr lang="zh-CN" altLang="en-US" dirty="0"/>
              <a:t>用法</a:t>
            </a:r>
            <a:r>
              <a:rPr lang="en-US" altLang="zh-CN" dirty="0"/>
              <a:t>3 </a:t>
            </a:r>
            <a:r>
              <a:rPr lang="zh-CN" altLang="en-US" dirty="0"/>
              <a:t>修改数据表的唯一性设置（</a:t>
            </a:r>
            <a:r>
              <a:rPr lang="en-US" altLang="zh-CN" dirty="0"/>
              <a:t>UNIQUE</a:t>
            </a:r>
            <a:r>
              <a:rPr lang="zh-CN" altLang="en-US" dirty="0"/>
              <a:t>）</a:t>
            </a:r>
          </a:p>
          <a:p>
            <a:pPr marL="400050" lvl="1" indent="0">
              <a:buNone/>
            </a:pPr>
            <a:r>
              <a:rPr lang="en-US" altLang="zh-CN" dirty="0"/>
              <a:t>ALTER TABLE </a:t>
            </a:r>
            <a:r>
              <a:rPr lang="en-US" altLang="zh-CN" dirty="0" err="1"/>
              <a:t>table_name</a:t>
            </a:r>
            <a:r>
              <a:rPr lang="en-US" altLang="zh-CN" dirty="0"/>
              <a:t> ADD CONSTRAINT </a:t>
            </a:r>
            <a:r>
              <a:rPr lang="en-US" altLang="zh-CN" dirty="0" err="1"/>
              <a:t>constraint_name</a:t>
            </a:r>
            <a:r>
              <a:rPr lang="en-US" altLang="zh-CN" dirty="0"/>
              <a:t> </a:t>
            </a:r>
          </a:p>
          <a:p>
            <a:pPr marL="400050" lvl="1" indent="0">
              <a:buNone/>
            </a:pPr>
            <a:r>
              <a:rPr lang="en-US" altLang="zh-CN" dirty="0"/>
              <a:t>    UNIQUE (column, ...) DISABLE NOVALIDATE;</a:t>
            </a:r>
          </a:p>
          <a:p>
            <a:r>
              <a:rPr lang="zh-CN" altLang="en-US" dirty="0"/>
              <a:t>用法</a:t>
            </a:r>
            <a:r>
              <a:rPr lang="en-US" altLang="zh-CN" dirty="0"/>
              <a:t>4 </a:t>
            </a:r>
            <a:r>
              <a:rPr lang="zh-CN" altLang="en-US" dirty="0"/>
              <a:t>修改数据表的非空值约束（</a:t>
            </a:r>
            <a:r>
              <a:rPr lang="en-US" altLang="zh-CN" dirty="0"/>
              <a:t>NOT NULL</a:t>
            </a:r>
            <a:r>
              <a:rPr lang="zh-CN" altLang="en-US" dirty="0"/>
              <a:t>）</a:t>
            </a:r>
          </a:p>
          <a:p>
            <a:pPr marL="400050" lvl="1" indent="0">
              <a:buNone/>
            </a:pPr>
            <a:r>
              <a:rPr lang="en-US" altLang="zh-CN" dirty="0"/>
              <a:t>ALTER TABLE </a:t>
            </a:r>
            <a:r>
              <a:rPr lang="en-US" altLang="zh-CN" dirty="0" err="1"/>
              <a:t>table_name</a:t>
            </a:r>
            <a:r>
              <a:rPr lang="en-US" altLang="zh-CN" dirty="0"/>
              <a:t> CHANGE COLUMN </a:t>
            </a:r>
            <a:r>
              <a:rPr lang="en-US" altLang="zh-CN" dirty="0" err="1"/>
              <a:t>column_name</a:t>
            </a:r>
            <a:r>
              <a:rPr lang="en-US" altLang="zh-CN" dirty="0"/>
              <a:t> </a:t>
            </a:r>
            <a:r>
              <a:rPr lang="en-US" altLang="zh-CN" dirty="0" err="1"/>
              <a:t>column_name</a:t>
            </a:r>
            <a:r>
              <a:rPr lang="en-US" altLang="zh-CN" dirty="0"/>
              <a:t> </a:t>
            </a:r>
            <a:r>
              <a:rPr lang="en-US" altLang="zh-CN" dirty="0" err="1"/>
              <a:t>data_type</a:t>
            </a:r>
            <a:r>
              <a:rPr lang="en-US" altLang="zh-CN" dirty="0"/>
              <a:t> </a:t>
            </a:r>
          </a:p>
          <a:p>
            <a:pPr marL="400050" lvl="1" indent="0">
              <a:buNone/>
            </a:pPr>
            <a:r>
              <a:rPr lang="en-US" altLang="zh-CN" dirty="0"/>
              <a:t>    CONSTRAINT </a:t>
            </a:r>
            <a:r>
              <a:rPr lang="en-US" altLang="zh-CN" dirty="0" err="1"/>
              <a:t>constraint_name</a:t>
            </a:r>
            <a:r>
              <a:rPr lang="en-US" altLang="zh-CN" dirty="0"/>
              <a:t> NOT NULL ENABLE;</a:t>
            </a:r>
          </a:p>
        </p:txBody>
      </p:sp>
    </p:spTree>
    <p:extLst>
      <p:ext uri="{BB962C8B-B14F-4D97-AF65-F5344CB8AC3E}">
        <p14:creationId xmlns:p14="http://schemas.microsoft.com/office/powerpoint/2010/main" val="18725693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数据表和分区的修改</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normAutofit fontScale="77500" lnSpcReduction="20000"/>
          </a:bodyPr>
          <a:lstStyle/>
          <a:p>
            <a:r>
              <a:rPr lang="zh-CN" altLang="en-US" dirty="0"/>
              <a:t>用法</a:t>
            </a:r>
            <a:r>
              <a:rPr lang="en-US" altLang="zh-CN" dirty="0"/>
              <a:t>5 </a:t>
            </a:r>
            <a:r>
              <a:rPr lang="zh-CN" altLang="en-US" dirty="0"/>
              <a:t>修改数据表的缺省值约束（</a:t>
            </a:r>
            <a:r>
              <a:rPr lang="en-US" altLang="zh-CN" dirty="0"/>
              <a:t>DEFAULT</a:t>
            </a:r>
            <a:r>
              <a:rPr lang="zh-CN" altLang="en-US" dirty="0"/>
              <a:t>）</a:t>
            </a:r>
          </a:p>
          <a:p>
            <a:pPr marL="400050" lvl="1" indent="0">
              <a:buNone/>
            </a:pPr>
            <a:r>
              <a:rPr lang="en-US" altLang="zh-CN" dirty="0"/>
              <a:t>ALTER TABLE </a:t>
            </a:r>
            <a:r>
              <a:rPr lang="en-US" altLang="zh-CN" dirty="0" err="1"/>
              <a:t>table_name</a:t>
            </a:r>
            <a:r>
              <a:rPr lang="en-US" altLang="zh-CN" dirty="0"/>
              <a:t> CHANGE COLUMN </a:t>
            </a:r>
            <a:r>
              <a:rPr lang="en-US" altLang="zh-CN" dirty="0" err="1"/>
              <a:t>column_name</a:t>
            </a:r>
            <a:r>
              <a:rPr lang="en-US" altLang="zh-CN" dirty="0"/>
              <a:t> </a:t>
            </a:r>
            <a:r>
              <a:rPr lang="en-US" altLang="zh-CN" dirty="0" err="1"/>
              <a:t>column_name</a:t>
            </a:r>
            <a:r>
              <a:rPr lang="en-US" altLang="zh-CN" dirty="0"/>
              <a:t> </a:t>
            </a:r>
            <a:r>
              <a:rPr lang="en-US" altLang="zh-CN" dirty="0" err="1"/>
              <a:t>data_type</a:t>
            </a:r>
            <a:r>
              <a:rPr lang="en-US" altLang="zh-CN" dirty="0"/>
              <a:t> </a:t>
            </a:r>
          </a:p>
          <a:p>
            <a:pPr marL="400050" lvl="1" indent="0">
              <a:buNone/>
            </a:pPr>
            <a:r>
              <a:rPr lang="en-US" altLang="zh-CN" dirty="0"/>
              <a:t>    CONSTRAINT </a:t>
            </a:r>
            <a:r>
              <a:rPr lang="en-US" altLang="zh-CN" dirty="0" err="1"/>
              <a:t>constraint_name</a:t>
            </a:r>
            <a:r>
              <a:rPr lang="en-US" altLang="zh-CN" dirty="0"/>
              <a:t> DEFAULT </a:t>
            </a:r>
            <a:r>
              <a:rPr lang="en-US" altLang="zh-CN" dirty="0" err="1"/>
              <a:t>default_value</a:t>
            </a:r>
            <a:r>
              <a:rPr lang="en-US" altLang="zh-CN" dirty="0"/>
              <a:t> ENABLE;</a:t>
            </a:r>
          </a:p>
          <a:p>
            <a:r>
              <a:rPr lang="zh-CN" altLang="en-US" dirty="0"/>
              <a:t>用法</a:t>
            </a:r>
            <a:r>
              <a:rPr lang="en-US" altLang="zh-CN" dirty="0"/>
              <a:t>6 </a:t>
            </a:r>
            <a:r>
              <a:rPr lang="zh-CN" altLang="en-US" dirty="0"/>
              <a:t>修改数据表的检查约束（</a:t>
            </a:r>
            <a:r>
              <a:rPr lang="en-US" altLang="zh-CN" dirty="0"/>
              <a:t>CHECK</a:t>
            </a:r>
            <a:r>
              <a:rPr lang="zh-CN" altLang="en-US" dirty="0"/>
              <a:t>）</a:t>
            </a:r>
          </a:p>
          <a:p>
            <a:pPr marL="400050" lvl="1" indent="0">
              <a:buNone/>
            </a:pPr>
            <a:r>
              <a:rPr lang="en-US" altLang="zh-CN" dirty="0"/>
              <a:t>ALTER TABLE </a:t>
            </a:r>
            <a:r>
              <a:rPr lang="en-US" altLang="zh-CN" dirty="0" err="1"/>
              <a:t>table_name</a:t>
            </a:r>
            <a:r>
              <a:rPr lang="en-US" altLang="zh-CN" dirty="0"/>
              <a:t> CHANGE COLUMN </a:t>
            </a:r>
            <a:r>
              <a:rPr lang="en-US" altLang="zh-CN" dirty="0" err="1"/>
              <a:t>column_name</a:t>
            </a:r>
            <a:r>
              <a:rPr lang="en-US" altLang="zh-CN" dirty="0"/>
              <a:t> </a:t>
            </a:r>
            <a:r>
              <a:rPr lang="en-US" altLang="zh-CN" dirty="0" err="1"/>
              <a:t>column_name</a:t>
            </a:r>
            <a:r>
              <a:rPr lang="en-US" altLang="zh-CN" dirty="0"/>
              <a:t> </a:t>
            </a:r>
            <a:r>
              <a:rPr lang="en-US" altLang="zh-CN" dirty="0" err="1"/>
              <a:t>data_type</a:t>
            </a:r>
            <a:r>
              <a:rPr lang="en-US" altLang="zh-CN" dirty="0"/>
              <a:t> </a:t>
            </a:r>
          </a:p>
          <a:p>
            <a:pPr marL="400050" lvl="1" indent="0">
              <a:buNone/>
            </a:pPr>
            <a:r>
              <a:rPr lang="en-US" altLang="zh-CN" dirty="0"/>
              <a:t>    CONSTRAINT </a:t>
            </a:r>
            <a:r>
              <a:rPr lang="en-US" altLang="zh-CN" dirty="0" err="1"/>
              <a:t>constraint_name</a:t>
            </a:r>
            <a:r>
              <a:rPr lang="en-US" altLang="zh-CN" dirty="0"/>
              <a:t> CHECK </a:t>
            </a:r>
            <a:r>
              <a:rPr lang="en-US" altLang="zh-CN" dirty="0" err="1"/>
              <a:t>check_expression</a:t>
            </a:r>
            <a:r>
              <a:rPr lang="en-US" altLang="zh-CN" dirty="0"/>
              <a:t> ENABLE;</a:t>
            </a:r>
          </a:p>
          <a:p>
            <a:r>
              <a:rPr lang="zh-CN" altLang="en-US" dirty="0"/>
              <a:t>用法</a:t>
            </a:r>
            <a:r>
              <a:rPr lang="en-US" altLang="zh-CN" dirty="0"/>
              <a:t>7 </a:t>
            </a:r>
            <a:r>
              <a:rPr lang="zh-CN" altLang="en-US" dirty="0"/>
              <a:t>删除数据表的约束（</a:t>
            </a:r>
            <a:r>
              <a:rPr lang="en-US" altLang="zh-CN" dirty="0"/>
              <a:t>DROP CONSTRAINT</a:t>
            </a:r>
            <a:r>
              <a:rPr lang="zh-CN" altLang="en-US" dirty="0"/>
              <a:t>）</a:t>
            </a:r>
          </a:p>
          <a:p>
            <a:pPr marL="400050" lvl="1" indent="0">
              <a:buNone/>
            </a:pPr>
            <a:r>
              <a:rPr lang="en-US" altLang="zh-CN" dirty="0"/>
              <a:t>ALTER TABLE </a:t>
            </a:r>
            <a:r>
              <a:rPr lang="en-US" altLang="zh-CN" dirty="0" err="1"/>
              <a:t>table_name</a:t>
            </a:r>
            <a:r>
              <a:rPr lang="en-US" altLang="zh-CN" dirty="0"/>
              <a:t> DROP CONSTRAINT </a:t>
            </a:r>
            <a:r>
              <a:rPr lang="en-US" altLang="zh-CN" dirty="0" err="1"/>
              <a:t>constraint_name</a:t>
            </a:r>
            <a:r>
              <a:rPr lang="en-US" altLang="zh-CN" dirty="0"/>
              <a:t>;</a:t>
            </a:r>
          </a:p>
          <a:p>
            <a:endParaRPr lang="zh-CN" altLang="en-US" dirty="0"/>
          </a:p>
        </p:txBody>
      </p:sp>
    </p:spTree>
    <p:extLst>
      <p:ext uri="{BB962C8B-B14F-4D97-AF65-F5344CB8AC3E}">
        <p14:creationId xmlns:p14="http://schemas.microsoft.com/office/powerpoint/2010/main" val="15002639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数据表和分区的修改</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lstStyle/>
          <a:p>
            <a:r>
              <a:rPr lang="en-US" altLang="zh-CN" dirty="0"/>
              <a:t>3</a:t>
            </a:r>
            <a:r>
              <a:rPr lang="zh-CN" altLang="en-US" dirty="0"/>
              <a:t>．修改分区设置</a:t>
            </a:r>
          </a:p>
          <a:p>
            <a:pPr lvl="1"/>
            <a:r>
              <a:rPr lang="zh-CN" altLang="en-US" dirty="0"/>
              <a:t>通过</a:t>
            </a:r>
            <a:r>
              <a:rPr lang="en-US" altLang="zh-CN" dirty="0"/>
              <a:t>ALTER TABLE</a:t>
            </a:r>
            <a:r>
              <a:rPr lang="zh-CN" altLang="en-US" dirty="0"/>
              <a:t>的</a:t>
            </a:r>
            <a:r>
              <a:rPr lang="en-US" altLang="zh-CN" dirty="0"/>
              <a:t>PARTITION</a:t>
            </a:r>
            <a:r>
              <a:rPr lang="zh-CN" altLang="en-US" dirty="0"/>
              <a:t>子句可以对数据表的分区进行修改、增加、改名、移动、删除、存档等操作。要使元存储感知添加到</a:t>
            </a:r>
            <a:r>
              <a:rPr lang="en-US" altLang="zh-CN" dirty="0"/>
              <a:t>HDFS</a:t>
            </a:r>
            <a:r>
              <a:rPr lang="zh-CN" altLang="en-US" dirty="0"/>
              <a:t>的分区，可以使用元存储检查命令（</a:t>
            </a:r>
            <a:r>
              <a:rPr lang="en-US" altLang="zh-CN" dirty="0"/>
              <a:t>MSCK</a:t>
            </a:r>
            <a:r>
              <a:rPr lang="zh-CN" altLang="en-US" dirty="0"/>
              <a:t>）进行数据刷新。</a:t>
            </a:r>
          </a:p>
          <a:p>
            <a:endParaRPr lang="zh-CN" altLang="en-US" dirty="0"/>
          </a:p>
        </p:txBody>
      </p:sp>
    </p:spTree>
    <p:extLst>
      <p:ext uri="{BB962C8B-B14F-4D97-AF65-F5344CB8AC3E}">
        <p14:creationId xmlns:p14="http://schemas.microsoft.com/office/powerpoint/2010/main" val="23469356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数据表和分区的修改</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a:xfrm>
            <a:off x="457200" y="1200150"/>
            <a:ext cx="8229600" cy="3747863"/>
          </a:xfrm>
        </p:spPr>
        <p:txBody>
          <a:bodyPr>
            <a:normAutofit fontScale="77500" lnSpcReduction="20000"/>
          </a:bodyPr>
          <a:lstStyle/>
          <a:p>
            <a:r>
              <a:rPr lang="zh-CN" altLang="en-US" sz="4000" dirty="0"/>
              <a:t>用法</a:t>
            </a:r>
            <a:r>
              <a:rPr lang="en-US" altLang="zh-CN" sz="4000"/>
              <a:t>1 :</a:t>
            </a:r>
            <a:r>
              <a:rPr lang="zh-CN" altLang="en-US" sz="4000"/>
              <a:t>添加</a:t>
            </a:r>
            <a:r>
              <a:rPr lang="zh-CN" altLang="en-US" sz="4000" dirty="0"/>
              <a:t>新分区</a:t>
            </a:r>
          </a:p>
          <a:p>
            <a:pPr lvl="1"/>
            <a:r>
              <a:rPr lang="zh-CN" altLang="en-US" dirty="0"/>
              <a:t>使用下述</a:t>
            </a:r>
            <a:r>
              <a:rPr lang="en-US" altLang="zh-CN" dirty="0"/>
              <a:t>ALTER TABLE ADD PARTITION</a:t>
            </a:r>
            <a:r>
              <a:rPr lang="zh-CN" altLang="en-US" dirty="0"/>
              <a:t>指令可以增加数据表的分区。其中的分区值是字符串类型时，需要用单引号包括，分区存储位置必须是数据文件所在文件夹。</a:t>
            </a:r>
            <a:r>
              <a:rPr lang="en-US" altLang="zh-CN" dirty="0"/>
              <a:t>ADD PARTITION</a:t>
            </a:r>
            <a:r>
              <a:rPr lang="zh-CN" altLang="en-US" dirty="0"/>
              <a:t>会修改数据表的元数据，但是不会实现已有数据的重新分区，如果在指定分区位置不存在对应数据，那么查询将不会返回任何结果。</a:t>
            </a:r>
          </a:p>
          <a:p>
            <a:pPr marL="400050" lvl="1" indent="0">
              <a:buNone/>
            </a:pPr>
            <a:r>
              <a:rPr lang="en-US" altLang="zh-CN" dirty="0"/>
              <a:t>ALTER TABLE </a:t>
            </a:r>
            <a:r>
              <a:rPr lang="en-US" altLang="zh-CN" dirty="0" err="1"/>
              <a:t>table_name</a:t>
            </a:r>
            <a:r>
              <a:rPr lang="en-US" altLang="zh-CN" dirty="0"/>
              <a:t> ADD [IF NOT EXISTS] </a:t>
            </a:r>
          </a:p>
          <a:p>
            <a:pPr marL="400050" lvl="1" indent="0">
              <a:buNone/>
            </a:pPr>
            <a:r>
              <a:rPr lang="en-US" altLang="zh-CN" dirty="0"/>
              <a:t>    PARTITION </a:t>
            </a:r>
            <a:r>
              <a:rPr lang="en-US" altLang="zh-CN" dirty="0" err="1"/>
              <a:t>partition_spec</a:t>
            </a:r>
            <a:r>
              <a:rPr lang="en-US" altLang="zh-CN" dirty="0"/>
              <a:t> [LOCATION 'location']</a:t>
            </a:r>
          </a:p>
          <a:p>
            <a:pPr marL="400050" lvl="1" indent="0">
              <a:buNone/>
            </a:pPr>
            <a:r>
              <a:rPr lang="en-US" altLang="zh-CN" dirty="0"/>
              <a:t>    [, PARTITION </a:t>
            </a:r>
            <a:r>
              <a:rPr lang="en-US" altLang="zh-CN" dirty="0" err="1"/>
              <a:t>partition_spec</a:t>
            </a:r>
            <a:r>
              <a:rPr lang="en-US" altLang="zh-CN" dirty="0"/>
              <a:t> [LOCATION 'location'], ...];</a:t>
            </a:r>
          </a:p>
          <a:p>
            <a:pPr marL="400050" lvl="1" indent="0">
              <a:buNone/>
            </a:pPr>
            <a:r>
              <a:rPr lang="en-US" altLang="zh-CN" dirty="0" err="1"/>
              <a:t>partition_spec</a:t>
            </a:r>
            <a:r>
              <a:rPr lang="en-US" altLang="zh-CN" dirty="0"/>
              <a:t> : (</a:t>
            </a:r>
            <a:r>
              <a:rPr lang="en-US" altLang="zh-CN" dirty="0" err="1"/>
              <a:t>partition_column</a:t>
            </a:r>
            <a:r>
              <a:rPr lang="en-US" altLang="zh-CN" dirty="0"/>
              <a:t> = </a:t>
            </a:r>
            <a:r>
              <a:rPr lang="en-US" altLang="zh-CN" dirty="0" err="1"/>
              <a:t>partition_col_value</a:t>
            </a:r>
            <a:r>
              <a:rPr lang="en-US" altLang="zh-CN" dirty="0"/>
              <a:t>, ...)</a:t>
            </a:r>
          </a:p>
          <a:p>
            <a:endParaRPr lang="zh-CN" altLang="en-US" dirty="0"/>
          </a:p>
        </p:txBody>
      </p:sp>
    </p:spTree>
    <p:extLst>
      <p:ext uri="{BB962C8B-B14F-4D97-AF65-F5344CB8AC3E}">
        <p14:creationId xmlns:p14="http://schemas.microsoft.com/office/powerpoint/2010/main" val="33559902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数据表和分区的修改</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lstStyle/>
          <a:p>
            <a:r>
              <a:rPr lang="en-US" altLang="zh-CN" dirty="0"/>
              <a:t>【</a:t>
            </a:r>
            <a:r>
              <a:rPr lang="zh-CN" altLang="en-US" dirty="0"/>
              <a:t>例</a:t>
            </a:r>
            <a:r>
              <a:rPr lang="en-US" altLang="zh-CN" dirty="0"/>
              <a:t>6.23】</a:t>
            </a:r>
            <a:r>
              <a:rPr lang="zh-CN" altLang="en-US" dirty="0"/>
              <a:t>如下实例首先创建一个</a:t>
            </a:r>
            <a:r>
              <a:rPr lang="en-US" altLang="zh-CN" dirty="0" err="1"/>
              <a:t>page_view</a:t>
            </a:r>
            <a:r>
              <a:rPr lang="zh-CN" altLang="en-US" dirty="0"/>
              <a:t>数据表，该数据表设置了基于日期</a:t>
            </a:r>
            <a:r>
              <a:rPr lang="en-US" altLang="zh-CN" dirty="0"/>
              <a:t>dt</a:t>
            </a:r>
            <a:r>
              <a:rPr lang="zh-CN" altLang="en-US" dirty="0"/>
              <a:t>和国家</a:t>
            </a:r>
            <a:r>
              <a:rPr lang="en-US" altLang="zh-CN" dirty="0"/>
              <a:t>country</a:t>
            </a:r>
            <a:r>
              <a:rPr lang="zh-CN" altLang="en-US" dirty="0"/>
              <a:t>的分区。之后使用</a:t>
            </a:r>
            <a:r>
              <a:rPr lang="en-US" altLang="zh-CN" dirty="0"/>
              <a:t>ALTER TABLE ADD PARTITION</a:t>
            </a:r>
            <a:r>
              <a:rPr lang="zh-CN" altLang="en-US" dirty="0"/>
              <a:t>指令在数据表中手动添加多个分区，并设置其对应的文件夹。</a:t>
            </a:r>
            <a:endParaRPr lang="en-US" altLang="zh-CN" dirty="0"/>
          </a:p>
          <a:p>
            <a:r>
              <a:rPr lang="zh-CN" altLang="en-US" dirty="0"/>
              <a:t>下列只列出一种用法，其余可参考教材。</a:t>
            </a:r>
          </a:p>
        </p:txBody>
      </p:sp>
    </p:spTree>
    <p:extLst>
      <p:ext uri="{BB962C8B-B14F-4D97-AF65-F5344CB8AC3E}">
        <p14:creationId xmlns:p14="http://schemas.microsoft.com/office/powerpoint/2010/main" val="34102172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数据表和分区的修改</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1418D474-42AC-458F-B2B8-49A180203F8D}"/>
              </a:ext>
            </a:extLst>
          </p:cNvPr>
          <p:cNvPicPr>
            <a:picLocks noChangeAspect="1"/>
          </p:cNvPicPr>
          <p:nvPr/>
        </p:nvPicPr>
        <p:blipFill>
          <a:blip r:embed="rId2"/>
          <a:stretch>
            <a:fillRect/>
          </a:stretch>
        </p:blipFill>
        <p:spPr>
          <a:xfrm>
            <a:off x="0" y="1419622"/>
            <a:ext cx="9144000" cy="3109986"/>
          </a:xfrm>
          <a:prstGeom prst="rect">
            <a:avLst/>
          </a:prstGeom>
        </p:spPr>
      </p:pic>
    </p:spTree>
    <p:extLst>
      <p:ext uri="{BB962C8B-B14F-4D97-AF65-F5344CB8AC3E}">
        <p14:creationId xmlns:p14="http://schemas.microsoft.com/office/powerpoint/2010/main" val="37174513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数据表和分区的修改</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lstStyle/>
          <a:p>
            <a:r>
              <a:rPr lang="en-US" altLang="zh-CN" dirty="0"/>
              <a:t>4</a:t>
            </a:r>
            <a:r>
              <a:rPr lang="zh-CN" altLang="en-US" dirty="0"/>
              <a:t>．修改数据表</a:t>
            </a:r>
            <a:r>
              <a:rPr lang="en-US" altLang="zh-CN" dirty="0"/>
              <a:t>/</a:t>
            </a:r>
            <a:r>
              <a:rPr lang="zh-CN" altLang="en-US" dirty="0"/>
              <a:t>分区</a:t>
            </a:r>
          </a:p>
          <a:p>
            <a:pPr lvl="1"/>
            <a:r>
              <a:rPr lang="zh-CN" altLang="en-US" dirty="0"/>
              <a:t>本小节上述内容介绍了适用于修改数据表和修改数据分区的操作命令，这里介绍的操作指令既适用于数据表的修改，也适用于分区的修改。</a:t>
            </a:r>
          </a:p>
          <a:p>
            <a:endParaRPr lang="zh-CN" altLang="en-US" dirty="0"/>
          </a:p>
        </p:txBody>
      </p:sp>
    </p:spTree>
    <p:extLst>
      <p:ext uri="{BB962C8B-B14F-4D97-AF65-F5344CB8AC3E}">
        <p14:creationId xmlns:p14="http://schemas.microsoft.com/office/powerpoint/2010/main" val="520673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A2DC68-D437-486B-8F30-333ED2EE58FD}"/>
              </a:ext>
            </a:extLst>
          </p:cNvPr>
          <p:cNvSpPr>
            <a:spLocks noGrp="1"/>
          </p:cNvSpPr>
          <p:nvPr>
            <p:ph type="title"/>
          </p:nvPr>
        </p:nvSpPr>
        <p:spPr/>
        <p:txBody>
          <a:bodyPr>
            <a:normAutofit fontScale="90000"/>
          </a:bodyPr>
          <a:lstStyle/>
          <a:p>
            <a:r>
              <a:rPr lang="zh-CN" altLang="en-US" dirty="0"/>
              <a:t>数据表和分区的修改</a:t>
            </a:r>
          </a:p>
        </p:txBody>
      </p:sp>
      <p:sp>
        <p:nvSpPr>
          <p:cNvPr id="3" name="内容占位符 2">
            <a:extLst>
              <a:ext uri="{FF2B5EF4-FFF2-40B4-BE49-F238E27FC236}">
                <a16:creationId xmlns:a16="http://schemas.microsoft.com/office/drawing/2014/main" id="{DFF9033E-865B-4A3B-BD24-78990F0B384C}"/>
              </a:ext>
            </a:extLst>
          </p:cNvPr>
          <p:cNvSpPr>
            <a:spLocks noGrp="1"/>
          </p:cNvSpPr>
          <p:nvPr>
            <p:ph idx="1"/>
          </p:nvPr>
        </p:nvSpPr>
        <p:spPr/>
        <p:txBody>
          <a:bodyPr>
            <a:normAutofit fontScale="77500" lnSpcReduction="20000"/>
          </a:bodyPr>
          <a:lstStyle/>
          <a:p>
            <a:r>
              <a:rPr lang="zh-CN" altLang="en-US" dirty="0"/>
              <a:t>用法</a:t>
            </a:r>
            <a:r>
              <a:rPr lang="en-US" altLang="zh-CN" dirty="0"/>
              <a:t>1 </a:t>
            </a:r>
            <a:r>
              <a:rPr lang="zh-CN" altLang="en-US" dirty="0"/>
              <a:t>修改表</a:t>
            </a:r>
            <a:r>
              <a:rPr lang="en-US" altLang="zh-CN" dirty="0"/>
              <a:t>/</a:t>
            </a:r>
            <a:r>
              <a:rPr lang="zh-CN" altLang="en-US" dirty="0"/>
              <a:t>分区文件格式</a:t>
            </a:r>
          </a:p>
          <a:p>
            <a:pPr lvl="1"/>
            <a:r>
              <a:rPr lang="zh-CN" altLang="en-US" dirty="0"/>
              <a:t>该命令用于修改数据表</a:t>
            </a:r>
            <a:r>
              <a:rPr lang="en-US" altLang="zh-CN" dirty="0"/>
              <a:t>/</a:t>
            </a:r>
            <a:r>
              <a:rPr lang="zh-CN" altLang="en-US" dirty="0"/>
              <a:t>分区的文件存储格式，其可用的</a:t>
            </a:r>
            <a:r>
              <a:rPr lang="en-US" altLang="zh-CN" dirty="0" err="1"/>
              <a:t>file_format</a:t>
            </a:r>
            <a:r>
              <a:rPr lang="zh-CN" altLang="en-US" dirty="0"/>
              <a:t>选项可以参考</a:t>
            </a:r>
            <a:r>
              <a:rPr lang="en-US" altLang="zh-CN" dirty="0"/>
              <a:t>CREATE TABLE</a:t>
            </a:r>
            <a:r>
              <a:rPr lang="zh-CN" altLang="en-US" dirty="0"/>
              <a:t>中的文件类型。该命令的修改仅仅作用于数据表的元数据中，对文件的实际数据格式修改需要在</a:t>
            </a:r>
            <a:r>
              <a:rPr lang="en-US" altLang="zh-CN" dirty="0"/>
              <a:t>Hive</a:t>
            </a:r>
            <a:r>
              <a:rPr lang="zh-CN" altLang="en-US" dirty="0"/>
              <a:t>外进行数据转换。具体命令如下：</a:t>
            </a:r>
          </a:p>
          <a:p>
            <a:pPr marL="400050" lvl="1" indent="0">
              <a:buNone/>
            </a:pPr>
            <a:r>
              <a:rPr lang="en-US" altLang="zh-CN" dirty="0"/>
              <a:t>ALTER TABLE </a:t>
            </a:r>
            <a:r>
              <a:rPr lang="en-US" altLang="zh-CN" dirty="0" err="1"/>
              <a:t>table_name</a:t>
            </a:r>
            <a:r>
              <a:rPr lang="en-US" altLang="zh-CN" dirty="0"/>
              <a:t> [PARTITION </a:t>
            </a:r>
            <a:r>
              <a:rPr lang="en-US" altLang="zh-CN" dirty="0" err="1"/>
              <a:t>partition_spec</a:t>
            </a:r>
            <a:r>
              <a:rPr lang="en-US" altLang="zh-CN" dirty="0"/>
              <a:t>] SET FILEFORMAT </a:t>
            </a:r>
            <a:r>
              <a:rPr lang="en-US" altLang="zh-CN" dirty="0" err="1"/>
              <a:t>file_format</a:t>
            </a:r>
            <a:r>
              <a:rPr lang="en-US" altLang="zh-CN" dirty="0"/>
              <a:t>;</a:t>
            </a:r>
          </a:p>
          <a:p>
            <a:r>
              <a:rPr lang="zh-CN" altLang="en-US" dirty="0"/>
              <a:t>用法</a:t>
            </a:r>
            <a:r>
              <a:rPr lang="en-US" altLang="zh-CN" dirty="0"/>
              <a:t>2 </a:t>
            </a:r>
            <a:r>
              <a:rPr lang="zh-CN" altLang="en-US" dirty="0"/>
              <a:t>修改表</a:t>
            </a:r>
            <a:r>
              <a:rPr lang="en-US" altLang="zh-CN" dirty="0"/>
              <a:t>/</a:t>
            </a:r>
            <a:r>
              <a:rPr lang="zh-CN" altLang="en-US" dirty="0"/>
              <a:t>分区存储位置</a:t>
            </a:r>
          </a:p>
          <a:p>
            <a:pPr marL="400050" lvl="1" indent="0">
              <a:buNone/>
            </a:pPr>
            <a:r>
              <a:rPr lang="en-US" altLang="zh-CN" dirty="0"/>
              <a:t>ALTER TABLE </a:t>
            </a:r>
            <a:r>
              <a:rPr lang="en-US" altLang="zh-CN" dirty="0" err="1"/>
              <a:t>table_name</a:t>
            </a:r>
            <a:r>
              <a:rPr lang="en-US" altLang="zh-CN" dirty="0"/>
              <a:t> [PARTITION </a:t>
            </a:r>
            <a:r>
              <a:rPr lang="en-US" altLang="zh-CN" dirty="0" err="1"/>
              <a:t>partition_spec</a:t>
            </a:r>
            <a:r>
              <a:rPr lang="en-US" altLang="zh-CN" dirty="0"/>
              <a:t>] SET LOCATION "new location";</a:t>
            </a:r>
          </a:p>
          <a:p>
            <a:endParaRPr lang="zh-CN" altLang="en-US" dirty="0"/>
          </a:p>
        </p:txBody>
      </p:sp>
    </p:spTree>
    <p:extLst>
      <p:ext uri="{BB962C8B-B14F-4D97-AF65-F5344CB8AC3E}">
        <p14:creationId xmlns:p14="http://schemas.microsoft.com/office/powerpoint/2010/main" val="12985181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68D384-F662-46C1-BC13-90AEB095DC83}"/>
              </a:ext>
            </a:extLst>
          </p:cNvPr>
          <p:cNvSpPr>
            <a:spLocks noGrp="1"/>
          </p:cNvSpPr>
          <p:nvPr>
            <p:ph type="title"/>
          </p:nvPr>
        </p:nvSpPr>
        <p:spPr/>
        <p:txBody>
          <a:bodyPr>
            <a:normAutofit fontScale="90000"/>
          </a:bodyPr>
          <a:lstStyle/>
          <a:p>
            <a:r>
              <a:rPr lang="zh-CN" altLang="en-US" dirty="0"/>
              <a:t>数据表和分区的修改</a:t>
            </a:r>
          </a:p>
        </p:txBody>
      </p:sp>
      <p:sp>
        <p:nvSpPr>
          <p:cNvPr id="3" name="内容占位符 2">
            <a:extLst>
              <a:ext uri="{FF2B5EF4-FFF2-40B4-BE49-F238E27FC236}">
                <a16:creationId xmlns:a16="http://schemas.microsoft.com/office/drawing/2014/main" id="{92D2D247-7CB7-4D39-8DE5-4B2507675FBE}"/>
              </a:ext>
            </a:extLst>
          </p:cNvPr>
          <p:cNvSpPr>
            <a:spLocks noGrp="1"/>
          </p:cNvSpPr>
          <p:nvPr>
            <p:ph idx="1"/>
          </p:nvPr>
        </p:nvSpPr>
        <p:spPr/>
        <p:txBody>
          <a:bodyPr>
            <a:normAutofit fontScale="62500" lnSpcReduction="20000"/>
          </a:bodyPr>
          <a:lstStyle/>
          <a:p>
            <a:r>
              <a:rPr lang="zh-CN" altLang="en-US" dirty="0"/>
              <a:t>用法</a:t>
            </a:r>
            <a:r>
              <a:rPr lang="en-US" altLang="zh-CN" dirty="0"/>
              <a:t>3 </a:t>
            </a:r>
            <a:r>
              <a:rPr lang="zh-CN" altLang="en-US" dirty="0"/>
              <a:t>修改表</a:t>
            </a:r>
            <a:r>
              <a:rPr lang="en-US" altLang="zh-CN" dirty="0"/>
              <a:t>/</a:t>
            </a:r>
            <a:r>
              <a:rPr lang="zh-CN" altLang="en-US" dirty="0"/>
              <a:t>分区的保护机制</a:t>
            </a:r>
          </a:p>
          <a:p>
            <a:pPr lvl="1"/>
            <a:r>
              <a:rPr lang="zh-CN" altLang="en-US" dirty="0"/>
              <a:t>对数据的保护可以设置于表级别，也可以设置于分区级别。</a:t>
            </a:r>
            <a:r>
              <a:rPr lang="en-US" altLang="zh-CN" dirty="0"/>
              <a:t>NO_DROP</a:t>
            </a:r>
            <a:r>
              <a:rPr lang="zh-CN" altLang="en-US" dirty="0"/>
              <a:t>选项将会确保数据表不被删除，</a:t>
            </a:r>
            <a:r>
              <a:rPr lang="en-US" altLang="zh-CN" dirty="0"/>
              <a:t>OFFLINE</a:t>
            </a:r>
            <a:r>
              <a:rPr lang="zh-CN" altLang="en-US" dirty="0"/>
              <a:t>选项则使得数据表</a:t>
            </a:r>
            <a:r>
              <a:rPr lang="en-US" altLang="zh-CN" dirty="0"/>
              <a:t>/</a:t>
            </a:r>
            <a:r>
              <a:rPr lang="zh-CN" altLang="en-US" dirty="0"/>
              <a:t>分区中的数据被检索，而他们的元数据仍可被存取访问。</a:t>
            </a:r>
          </a:p>
          <a:p>
            <a:pPr lvl="1"/>
            <a:r>
              <a:rPr lang="zh-CN" altLang="en-US" dirty="0"/>
              <a:t>若某个分区被设置为</a:t>
            </a:r>
            <a:r>
              <a:rPr lang="en-US" altLang="zh-CN" dirty="0"/>
              <a:t>NO_DROP</a:t>
            </a:r>
            <a:r>
              <a:rPr lang="zh-CN" altLang="en-US" dirty="0"/>
              <a:t>，那么该分区所在的表也将是不可删除的；相反，若数据表是</a:t>
            </a:r>
            <a:r>
              <a:rPr lang="en-US" altLang="zh-CN" dirty="0"/>
              <a:t>NO_DROP</a:t>
            </a:r>
            <a:r>
              <a:rPr lang="zh-CN" altLang="en-US" dirty="0"/>
              <a:t>的，其包含的分区是可删除的；若数据表设置为</a:t>
            </a:r>
            <a:r>
              <a:rPr lang="en-US" altLang="zh-CN" dirty="0"/>
              <a:t>NO_DROP CASCADE</a:t>
            </a:r>
            <a:r>
              <a:rPr lang="zh-CN" altLang="en-US" dirty="0"/>
              <a:t>，那么其分区不能被删除；若要强制删除分区，则可以使用</a:t>
            </a:r>
            <a:r>
              <a:rPr lang="en-US" altLang="zh-CN" dirty="0"/>
              <a:t>IGNORE PROTECTION</a:t>
            </a:r>
            <a:r>
              <a:rPr lang="zh-CN" altLang="en-US" dirty="0"/>
              <a:t>选项。</a:t>
            </a:r>
          </a:p>
          <a:p>
            <a:pPr lvl="1"/>
            <a:r>
              <a:rPr lang="zh-CN" altLang="en-US" dirty="0"/>
              <a:t>修改数据表</a:t>
            </a:r>
            <a:r>
              <a:rPr lang="en-US" altLang="zh-CN" dirty="0"/>
              <a:t>/</a:t>
            </a:r>
            <a:r>
              <a:rPr lang="zh-CN" altLang="en-US" dirty="0"/>
              <a:t>分区的保护机制的操作命令如下。</a:t>
            </a:r>
          </a:p>
          <a:p>
            <a:pPr marL="400050" lvl="1" indent="0">
              <a:buNone/>
            </a:pPr>
            <a:r>
              <a:rPr lang="en-US" altLang="zh-CN" dirty="0"/>
              <a:t>ALTER TABLE </a:t>
            </a:r>
            <a:r>
              <a:rPr lang="en-US" altLang="zh-CN" dirty="0" err="1"/>
              <a:t>table_name</a:t>
            </a:r>
            <a:r>
              <a:rPr lang="en-US" altLang="zh-CN" dirty="0"/>
              <a:t> [PARTITION </a:t>
            </a:r>
            <a:r>
              <a:rPr lang="en-US" altLang="zh-CN" dirty="0" err="1"/>
              <a:t>partition_spec</a:t>
            </a:r>
            <a:r>
              <a:rPr lang="en-US" altLang="zh-CN" dirty="0"/>
              <a:t>] ENABLE|DISABLE </a:t>
            </a:r>
          </a:p>
          <a:p>
            <a:pPr marL="400050" lvl="1" indent="0">
              <a:buNone/>
            </a:pPr>
            <a:r>
              <a:rPr lang="en-US" altLang="zh-CN" dirty="0"/>
              <a:t>    NO_DROP [CASCADE];</a:t>
            </a:r>
          </a:p>
          <a:p>
            <a:pPr marL="400050" lvl="1" indent="0">
              <a:buNone/>
            </a:pPr>
            <a:r>
              <a:rPr lang="en-US" altLang="zh-CN" dirty="0"/>
              <a:t>ALTER TABLE </a:t>
            </a:r>
            <a:r>
              <a:rPr lang="en-US" altLang="zh-CN" dirty="0" err="1"/>
              <a:t>table_name</a:t>
            </a:r>
            <a:r>
              <a:rPr lang="en-US" altLang="zh-CN" dirty="0"/>
              <a:t> [PARTITION </a:t>
            </a:r>
            <a:r>
              <a:rPr lang="en-US" altLang="zh-CN" dirty="0" err="1"/>
              <a:t>partition_spec</a:t>
            </a:r>
            <a:r>
              <a:rPr lang="en-US" altLang="zh-CN" dirty="0"/>
              <a:t>] ENABLE|DISABLE OFFLINE;</a:t>
            </a:r>
          </a:p>
          <a:p>
            <a:endParaRPr lang="zh-CN" altLang="en-US" dirty="0"/>
          </a:p>
        </p:txBody>
      </p:sp>
    </p:spTree>
    <p:extLst>
      <p:ext uri="{BB962C8B-B14F-4D97-AF65-F5344CB8AC3E}">
        <p14:creationId xmlns:p14="http://schemas.microsoft.com/office/powerpoint/2010/main" val="38357398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13261B-D591-4593-9129-743C8AB8DA6D}"/>
              </a:ext>
            </a:extLst>
          </p:cNvPr>
          <p:cNvSpPr>
            <a:spLocks noGrp="1"/>
          </p:cNvSpPr>
          <p:nvPr>
            <p:ph type="title"/>
          </p:nvPr>
        </p:nvSpPr>
        <p:spPr/>
        <p:txBody>
          <a:bodyPr>
            <a:normAutofit fontScale="90000"/>
          </a:bodyPr>
          <a:lstStyle/>
          <a:p>
            <a:r>
              <a:rPr lang="zh-CN" altLang="en-US" dirty="0"/>
              <a:t>数据表和分区的修改</a:t>
            </a:r>
          </a:p>
        </p:txBody>
      </p:sp>
      <p:sp>
        <p:nvSpPr>
          <p:cNvPr id="3" name="内容占位符 2">
            <a:extLst>
              <a:ext uri="{FF2B5EF4-FFF2-40B4-BE49-F238E27FC236}">
                <a16:creationId xmlns:a16="http://schemas.microsoft.com/office/drawing/2014/main" id="{91BDC066-659E-4366-A051-3314C28CB05A}"/>
              </a:ext>
            </a:extLst>
          </p:cNvPr>
          <p:cNvSpPr>
            <a:spLocks noGrp="1"/>
          </p:cNvSpPr>
          <p:nvPr>
            <p:ph idx="1"/>
          </p:nvPr>
        </p:nvSpPr>
        <p:spPr/>
        <p:txBody>
          <a:bodyPr>
            <a:normAutofit fontScale="70000" lnSpcReduction="20000"/>
          </a:bodyPr>
          <a:lstStyle/>
          <a:p>
            <a:r>
              <a:rPr lang="en-US" altLang="zh-CN" dirty="0"/>
              <a:t>5</a:t>
            </a:r>
            <a:r>
              <a:rPr lang="zh-CN" altLang="en-US" dirty="0"/>
              <a:t>．修改数据列</a:t>
            </a:r>
          </a:p>
          <a:p>
            <a:pPr lvl="1"/>
            <a:r>
              <a:rPr lang="zh-CN" altLang="en-US" dirty="0"/>
              <a:t>注意：</a:t>
            </a:r>
            <a:r>
              <a:rPr lang="en-US" altLang="zh-CN" dirty="0"/>
              <a:t>Hive</a:t>
            </a:r>
            <a:r>
              <a:rPr lang="zh-CN" altLang="en-US" dirty="0"/>
              <a:t>中的列名是大小写敏感的</a:t>
            </a:r>
            <a:endParaRPr lang="en-US" altLang="zh-CN" dirty="0"/>
          </a:p>
          <a:p>
            <a:r>
              <a:rPr lang="zh-CN" altLang="en-US" dirty="0"/>
              <a:t>用法</a:t>
            </a:r>
            <a:r>
              <a:rPr lang="en-US" altLang="zh-CN" dirty="0"/>
              <a:t>1 </a:t>
            </a:r>
            <a:r>
              <a:rPr lang="zh-CN" altLang="en-US" dirty="0"/>
              <a:t>修改列名</a:t>
            </a:r>
            <a:r>
              <a:rPr lang="en-US" altLang="zh-CN" dirty="0"/>
              <a:t>/</a:t>
            </a:r>
            <a:r>
              <a:rPr lang="zh-CN" altLang="en-US" dirty="0"/>
              <a:t>类型</a:t>
            </a:r>
            <a:r>
              <a:rPr lang="en-US" altLang="zh-CN" dirty="0"/>
              <a:t>/</a:t>
            </a:r>
            <a:r>
              <a:rPr lang="zh-CN" altLang="en-US" dirty="0"/>
              <a:t>存储位置</a:t>
            </a:r>
            <a:r>
              <a:rPr lang="en-US" altLang="zh-CN" dirty="0"/>
              <a:t>/</a:t>
            </a:r>
            <a:r>
              <a:rPr lang="zh-CN" altLang="en-US" dirty="0"/>
              <a:t>说明</a:t>
            </a:r>
          </a:p>
          <a:p>
            <a:pPr lvl="1"/>
            <a:r>
              <a:rPr lang="zh-CN" altLang="en-US" dirty="0"/>
              <a:t>如下命令允许用户修改列名、列数据类型、说明文字、存储位置，或者上述属性的组合情况。</a:t>
            </a:r>
            <a:r>
              <a:rPr lang="en-US" altLang="zh-CN" dirty="0"/>
              <a:t>CASCADE</a:t>
            </a:r>
            <a:r>
              <a:rPr lang="zh-CN" altLang="en-US" dirty="0"/>
              <a:t>关键字使得数据表元数据中的列属性同时传递变化到所有分区元数据中。</a:t>
            </a:r>
            <a:r>
              <a:rPr lang="en-US" altLang="zh-CN" dirty="0"/>
              <a:t>RESTRICT</a:t>
            </a:r>
            <a:r>
              <a:rPr lang="zh-CN" altLang="en-US" dirty="0"/>
              <a:t>为缺省值，限制列的改变只作用于表的元数据。</a:t>
            </a:r>
          </a:p>
          <a:p>
            <a:pPr marL="457200" lvl="1" indent="0">
              <a:buNone/>
            </a:pPr>
            <a:r>
              <a:rPr lang="en-US" altLang="zh-CN" dirty="0"/>
              <a:t>ALTER TABLE </a:t>
            </a:r>
            <a:r>
              <a:rPr lang="en-US" altLang="zh-CN" dirty="0" err="1"/>
              <a:t>table_name</a:t>
            </a:r>
            <a:r>
              <a:rPr lang="en-US" altLang="zh-CN" dirty="0"/>
              <a:t> [PARTITION </a:t>
            </a:r>
            <a:r>
              <a:rPr lang="en-US" altLang="zh-CN" dirty="0" err="1"/>
              <a:t>partition_spec</a:t>
            </a:r>
            <a:r>
              <a:rPr lang="en-US" altLang="zh-CN" dirty="0"/>
              <a:t>] </a:t>
            </a:r>
          </a:p>
          <a:p>
            <a:pPr marL="457200" lvl="1" indent="0">
              <a:buNone/>
            </a:pPr>
            <a:r>
              <a:rPr lang="en-US" altLang="zh-CN" dirty="0"/>
              <a:t>    CHANGE [COLUMN] </a:t>
            </a:r>
            <a:r>
              <a:rPr lang="en-US" altLang="zh-CN" dirty="0" err="1"/>
              <a:t>col_old_name</a:t>
            </a:r>
            <a:r>
              <a:rPr lang="en-US" altLang="zh-CN" dirty="0"/>
              <a:t> </a:t>
            </a:r>
            <a:r>
              <a:rPr lang="en-US" altLang="zh-CN" dirty="0" err="1"/>
              <a:t>col_new_name</a:t>
            </a:r>
            <a:r>
              <a:rPr lang="en-US" altLang="zh-CN" dirty="0"/>
              <a:t> </a:t>
            </a:r>
            <a:r>
              <a:rPr lang="en-US" altLang="zh-CN" dirty="0" err="1"/>
              <a:t>column_type</a:t>
            </a:r>
            <a:endParaRPr lang="en-US" altLang="zh-CN" dirty="0"/>
          </a:p>
          <a:p>
            <a:pPr marL="457200" lvl="1" indent="0">
              <a:buNone/>
            </a:pPr>
            <a:r>
              <a:rPr lang="en-US" altLang="zh-CN" dirty="0"/>
              <a:t>    [COMMENT </a:t>
            </a:r>
            <a:r>
              <a:rPr lang="en-US" altLang="zh-CN" dirty="0" err="1"/>
              <a:t>col_comment</a:t>
            </a:r>
            <a:r>
              <a:rPr lang="en-US" altLang="zh-CN" dirty="0"/>
              <a:t>] [FIRST|AFTER </a:t>
            </a:r>
            <a:r>
              <a:rPr lang="en-US" altLang="zh-CN" dirty="0" err="1"/>
              <a:t>column_name</a:t>
            </a:r>
            <a:r>
              <a:rPr lang="en-US" altLang="zh-CN" dirty="0"/>
              <a:t>] [CASCADE|RESTRICT];</a:t>
            </a:r>
          </a:p>
          <a:p>
            <a:pPr lvl="1"/>
            <a:endParaRPr lang="zh-CN" altLang="en-US" dirty="0"/>
          </a:p>
        </p:txBody>
      </p:sp>
    </p:spTree>
    <p:extLst>
      <p:ext uri="{BB962C8B-B14F-4D97-AF65-F5344CB8AC3E}">
        <p14:creationId xmlns:p14="http://schemas.microsoft.com/office/powerpoint/2010/main" val="108538906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6C249E-9A81-4CC4-922A-123F601E4D0B}"/>
              </a:ext>
            </a:extLst>
          </p:cNvPr>
          <p:cNvSpPr>
            <a:spLocks noGrp="1"/>
          </p:cNvSpPr>
          <p:nvPr>
            <p:ph type="title"/>
          </p:nvPr>
        </p:nvSpPr>
        <p:spPr/>
        <p:txBody>
          <a:bodyPr>
            <a:normAutofit fontScale="90000"/>
          </a:bodyPr>
          <a:lstStyle/>
          <a:p>
            <a:r>
              <a:rPr lang="zh-CN" altLang="en-US" dirty="0"/>
              <a:t>数据表和分区的修改</a:t>
            </a:r>
          </a:p>
        </p:txBody>
      </p:sp>
      <p:sp>
        <p:nvSpPr>
          <p:cNvPr id="3" name="内容占位符 2">
            <a:extLst>
              <a:ext uri="{FF2B5EF4-FFF2-40B4-BE49-F238E27FC236}">
                <a16:creationId xmlns:a16="http://schemas.microsoft.com/office/drawing/2014/main" id="{88BD74CB-79AD-4C99-B576-6C51E9A169B0}"/>
              </a:ext>
            </a:extLst>
          </p:cNvPr>
          <p:cNvSpPr>
            <a:spLocks noGrp="1"/>
          </p:cNvSpPr>
          <p:nvPr>
            <p:ph idx="1"/>
          </p:nvPr>
        </p:nvSpPr>
        <p:spPr>
          <a:xfrm>
            <a:off x="457200" y="987574"/>
            <a:ext cx="8229600" cy="3607049"/>
          </a:xfrm>
        </p:spPr>
        <p:txBody>
          <a:bodyPr/>
          <a:lstStyle/>
          <a:p>
            <a:r>
              <a:rPr lang="en-US" altLang="zh-CN" dirty="0"/>
              <a:t>【</a:t>
            </a:r>
            <a:r>
              <a:rPr lang="zh-CN" altLang="en-US" dirty="0"/>
              <a:t>例</a:t>
            </a:r>
            <a:r>
              <a:rPr lang="en-US" altLang="zh-CN" dirty="0"/>
              <a:t>6.26】</a:t>
            </a:r>
            <a:r>
              <a:rPr lang="zh-CN" altLang="en-US" dirty="0"/>
              <a:t>如下实例首先创建一个简单的数据表，之后对其数据表的属性进行修改，并调整位置</a:t>
            </a:r>
          </a:p>
        </p:txBody>
      </p:sp>
      <p:pic>
        <p:nvPicPr>
          <p:cNvPr id="4" name="图片 3">
            <a:extLst>
              <a:ext uri="{FF2B5EF4-FFF2-40B4-BE49-F238E27FC236}">
                <a16:creationId xmlns:a16="http://schemas.microsoft.com/office/drawing/2014/main" id="{07DB9D0E-67BF-4514-B684-F9D0F0C9E216}"/>
              </a:ext>
            </a:extLst>
          </p:cNvPr>
          <p:cNvPicPr>
            <a:picLocks noChangeAspect="1"/>
          </p:cNvPicPr>
          <p:nvPr/>
        </p:nvPicPr>
        <p:blipFill>
          <a:blip r:embed="rId2"/>
          <a:stretch>
            <a:fillRect/>
          </a:stretch>
        </p:blipFill>
        <p:spPr>
          <a:xfrm>
            <a:off x="0" y="2513200"/>
            <a:ext cx="9144000" cy="2520109"/>
          </a:xfrm>
          <a:prstGeom prst="rect">
            <a:avLst/>
          </a:prstGeom>
        </p:spPr>
      </p:pic>
    </p:spTree>
    <p:extLst>
      <p:ext uri="{BB962C8B-B14F-4D97-AF65-F5344CB8AC3E}">
        <p14:creationId xmlns:p14="http://schemas.microsoft.com/office/powerpoint/2010/main" val="370103169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6C4CDD-D6D3-427D-872A-A6897C5291AA}"/>
              </a:ext>
            </a:extLst>
          </p:cNvPr>
          <p:cNvSpPr>
            <a:spLocks noGrp="1"/>
          </p:cNvSpPr>
          <p:nvPr>
            <p:ph type="title"/>
          </p:nvPr>
        </p:nvSpPr>
        <p:spPr/>
        <p:txBody>
          <a:bodyPr>
            <a:normAutofit fontScale="90000"/>
          </a:bodyPr>
          <a:lstStyle/>
          <a:p>
            <a:r>
              <a:rPr lang="zh-CN" altLang="en-US" dirty="0"/>
              <a:t>数据表和分区的修改</a:t>
            </a:r>
          </a:p>
        </p:txBody>
      </p:sp>
      <p:sp>
        <p:nvSpPr>
          <p:cNvPr id="3" name="内容占位符 2">
            <a:extLst>
              <a:ext uri="{FF2B5EF4-FFF2-40B4-BE49-F238E27FC236}">
                <a16:creationId xmlns:a16="http://schemas.microsoft.com/office/drawing/2014/main" id="{35F35C5A-0CF8-4449-90B2-4805563717D3}"/>
              </a:ext>
            </a:extLst>
          </p:cNvPr>
          <p:cNvSpPr>
            <a:spLocks noGrp="1"/>
          </p:cNvSpPr>
          <p:nvPr>
            <p:ph idx="1"/>
          </p:nvPr>
        </p:nvSpPr>
        <p:spPr/>
        <p:txBody>
          <a:bodyPr>
            <a:normAutofit lnSpcReduction="10000"/>
          </a:bodyPr>
          <a:lstStyle/>
          <a:p>
            <a:r>
              <a:rPr lang="zh-CN" altLang="en-US" dirty="0"/>
              <a:t>用法</a:t>
            </a:r>
            <a:r>
              <a:rPr lang="en-US" altLang="zh-CN" dirty="0"/>
              <a:t>2</a:t>
            </a:r>
            <a:r>
              <a:rPr lang="zh-CN" altLang="en-US" dirty="0"/>
              <a:t>：添加</a:t>
            </a:r>
            <a:r>
              <a:rPr lang="en-US" altLang="zh-CN" dirty="0"/>
              <a:t>/</a:t>
            </a:r>
            <a:r>
              <a:rPr lang="zh-CN" altLang="en-US" dirty="0"/>
              <a:t>替换数据列</a:t>
            </a:r>
          </a:p>
          <a:p>
            <a:pPr lvl="1"/>
            <a:r>
              <a:rPr lang="zh-CN" altLang="en-US" dirty="0"/>
              <a:t>需要添加</a:t>
            </a:r>
            <a:r>
              <a:rPr lang="en-US" altLang="zh-CN" dirty="0"/>
              <a:t>/</a:t>
            </a:r>
            <a:r>
              <a:rPr lang="zh-CN" altLang="en-US" dirty="0"/>
              <a:t>替换数据列时，可以使用如下操作命令：</a:t>
            </a:r>
          </a:p>
          <a:p>
            <a:pPr marL="400050" lvl="1" indent="0">
              <a:buNone/>
            </a:pPr>
            <a:r>
              <a:rPr lang="en-US" altLang="zh-CN" dirty="0"/>
              <a:t>ALTER TABLE </a:t>
            </a:r>
            <a:r>
              <a:rPr lang="en-US" altLang="zh-CN" dirty="0" err="1"/>
              <a:t>table_name</a:t>
            </a:r>
            <a:r>
              <a:rPr lang="en-US" altLang="zh-CN" dirty="0"/>
              <a:t> [PARTITION </a:t>
            </a:r>
            <a:r>
              <a:rPr lang="en-US" altLang="zh-CN" dirty="0" err="1"/>
              <a:t>partition_spec</a:t>
            </a:r>
            <a:r>
              <a:rPr lang="en-US" altLang="zh-CN" dirty="0"/>
              <a:t>] </a:t>
            </a:r>
          </a:p>
          <a:p>
            <a:pPr marL="400050" lvl="1" indent="0">
              <a:buNone/>
            </a:pPr>
            <a:r>
              <a:rPr lang="en-US" altLang="zh-CN" dirty="0"/>
              <a:t>  ADD|REPLACE COLUMNS (</a:t>
            </a:r>
            <a:r>
              <a:rPr lang="en-US" altLang="zh-CN" dirty="0" err="1"/>
              <a:t>col_name</a:t>
            </a:r>
            <a:r>
              <a:rPr lang="en-US" altLang="zh-CN" dirty="0"/>
              <a:t> </a:t>
            </a:r>
            <a:r>
              <a:rPr lang="en-US" altLang="zh-CN" dirty="0" err="1"/>
              <a:t>data_type</a:t>
            </a:r>
            <a:r>
              <a:rPr lang="en-US" altLang="zh-CN" dirty="0"/>
              <a:t> [COMMENT </a:t>
            </a:r>
            <a:r>
              <a:rPr lang="en-US" altLang="zh-CN" dirty="0" err="1"/>
              <a:t>col_comment</a:t>
            </a:r>
            <a:r>
              <a:rPr lang="en-US" altLang="zh-CN" dirty="0"/>
              <a:t>], ...)</a:t>
            </a:r>
          </a:p>
          <a:p>
            <a:pPr marL="400050" lvl="1" indent="0">
              <a:buNone/>
            </a:pPr>
            <a:r>
              <a:rPr lang="en-US" altLang="zh-CN" dirty="0"/>
              <a:t>  [CASCADE|RESTRICT]</a:t>
            </a:r>
          </a:p>
          <a:p>
            <a:endParaRPr lang="zh-CN" altLang="en-US" dirty="0"/>
          </a:p>
        </p:txBody>
      </p:sp>
    </p:spTree>
    <p:extLst>
      <p:ext uri="{BB962C8B-B14F-4D97-AF65-F5344CB8AC3E}">
        <p14:creationId xmlns:p14="http://schemas.microsoft.com/office/powerpoint/2010/main" val="260194094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数据表的其他操作</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normAutofit lnSpcReduction="10000"/>
          </a:bodyPr>
          <a:lstStyle/>
          <a:p>
            <a:r>
              <a:rPr lang="en-US" altLang="zh-CN" dirty="0"/>
              <a:t>1</a:t>
            </a:r>
            <a:r>
              <a:rPr lang="zh-CN" altLang="en-US" dirty="0"/>
              <a:t>．表的删除</a:t>
            </a:r>
          </a:p>
          <a:p>
            <a:pPr lvl="1"/>
            <a:r>
              <a:rPr lang="en-US" altLang="zh-CN" dirty="0"/>
              <a:t>DROP TABLE</a:t>
            </a:r>
            <a:r>
              <a:rPr lang="zh-CN" altLang="en-US" dirty="0"/>
              <a:t>用于删除数据表以及相关元数据，其中数据表会被移除到垃圾箱中（系统设定垃圾箱的前提下），而元数据则直接从</a:t>
            </a:r>
            <a:r>
              <a:rPr lang="en-US" altLang="zh-CN" dirty="0"/>
              <a:t>Hive</a:t>
            </a:r>
            <a:r>
              <a:rPr lang="zh-CN" altLang="en-US" dirty="0"/>
              <a:t>中删除。若在删除数据表时指定了</a:t>
            </a:r>
            <a:r>
              <a:rPr lang="en-US" altLang="zh-CN" dirty="0"/>
              <a:t>PURGE</a:t>
            </a:r>
            <a:r>
              <a:rPr lang="zh-CN" altLang="en-US" dirty="0"/>
              <a:t>参数，则会把数据文件直接清除，不可恢复。删除数据表的语法如下：</a:t>
            </a:r>
          </a:p>
          <a:p>
            <a:pPr marL="400050" lvl="1" indent="0">
              <a:buNone/>
            </a:pPr>
            <a:r>
              <a:rPr lang="en-US" altLang="zh-CN" dirty="0"/>
              <a:t>DROP TABLE [IF EXISTS] </a:t>
            </a:r>
            <a:r>
              <a:rPr lang="en-US" altLang="zh-CN" dirty="0" err="1"/>
              <a:t>table_name</a:t>
            </a:r>
            <a:r>
              <a:rPr lang="en-US" altLang="zh-CN" dirty="0"/>
              <a:t> [PURGE]; </a:t>
            </a:r>
            <a:endParaRPr lang="zh-CN" altLang="en-US" dirty="0"/>
          </a:p>
        </p:txBody>
      </p:sp>
    </p:spTree>
    <p:extLst>
      <p:ext uri="{BB962C8B-B14F-4D97-AF65-F5344CB8AC3E}">
        <p14:creationId xmlns:p14="http://schemas.microsoft.com/office/powerpoint/2010/main" val="26976174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3B1AE-B928-445E-B873-F54FF15AE3A8}"/>
              </a:ext>
            </a:extLst>
          </p:cNvPr>
          <p:cNvSpPr>
            <a:spLocks noGrp="1"/>
          </p:cNvSpPr>
          <p:nvPr>
            <p:ph type="title"/>
          </p:nvPr>
        </p:nvSpPr>
        <p:spPr/>
        <p:txBody>
          <a:bodyPr>
            <a:normAutofit fontScale="90000"/>
          </a:bodyPr>
          <a:lstStyle/>
          <a:p>
            <a:r>
              <a:rPr lang="zh-CN" altLang="en-US" dirty="0"/>
              <a:t>数据表的其他操作</a:t>
            </a:r>
          </a:p>
        </p:txBody>
      </p:sp>
      <p:sp>
        <p:nvSpPr>
          <p:cNvPr id="3" name="内容占位符 2">
            <a:extLst>
              <a:ext uri="{FF2B5EF4-FFF2-40B4-BE49-F238E27FC236}">
                <a16:creationId xmlns:a16="http://schemas.microsoft.com/office/drawing/2014/main" id="{E00D5A7C-9EBB-4B76-A8B9-77C9400F7ED2}"/>
              </a:ext>
            </a:extLst>
          </p:cNvPr>
          <p:cNvSpPr>
            <a:spLocks noGrp="1"/>
          </p:cNvSpPr>
          <p:nvPr>
            <p:ph idx="1"/>
          </p:nvPr>
        </p:nvSpPr>
        <p:spPr/>
        <p:txBody>
          <a:bodyPr>
            <a:normAutofit fontScale="77500" lnSpcReduction="20000"/>
          </a:bodyPr>
          <a:lstStyle/>
          <a:p>
            <a:r>
              <a:rPr lang="en-US" altLang="zh-CN" dirty="0"/>
              <a:t>2</a:t>
            </a:r>
            <a:r>
              <a:rPr lang="zh-CN" altLang="en-US" dirty="0"/>
              <a:t>．表的截断</a:t>
            </a:r>
          </a:p>
          <a:p>
            <a:pPr lvl="1"/>
            <a:r>
              <a:rPr lang="zh-CN" altLang="en-US" dirty="0"/>
              <a:t>与删除表不同，截断表用于删除表或者分区中的全部数据，若设定了垃圾箱，则数据会被移除到垃圾箱中，否则直接删除。被截断的数据表要求为内部表，用户也可以通过</a:t>
            </a:r>
            <a:r>
              <a:rPr lang="en-US" altLang="zh-CN" dirty="0" err="1"/>
              <a:t>partition_spec</a:t>
            </a:r>
            <a:r>
              <a:rPr lang="zh-CN" altLang="en-US" dirty="0"/>
              <a:t>来截断特定的分区，移除指定的分区。缺省情况下，</a:t>
            </a:r>
            <a:r>
              <a:rPr lang="en-US" altLang="zh-CN" dirty="0"/>
              <a:t>TRUNCATE</a:t>
            </a:r>
            <a:r>
              <a:rPr lang="zh-CN" altLang="en-US" dirty="0"/>
              <a:t>将会删除所有数据，其定义如下： </a:t>
            </a:r>
          </a:p>
          <a:p>
            <a:pPr marL="400050" lvl="1" indent="0">
              <a:buNone/>
            </a:pPr>
            <a:r>
              <a:rPr lang="en-US" altLang="zh-CN" dirty="0"/>
              <a:t>TRUNCATE [TABLE] </a:t>
            </a:r>
            <a:r>
              <a:rPr lang="en-US" altLang="zh-CN" dirty="0" err="1"/>
              <a:t>table_name</a:t>
            </a:r>
            <a:r>
              <a:rPr lang="en-US" altLang="zh-CN" dirty="0"/>
              <a:t> [PARTITION </a:t>
            </a:r>
            <a:r>
              <a:rPr lang="en-US" altLang="zh-CN" dirty="0" err="1"/>
              <a:t>partition_spec</a:t>
            </a:r>
            <a:r>
              <a:rPr lang="en-US" altLang="zh-CN" dirty="0"/>
              <a:t>];</a:t>
            </a:r>
          </a:p>
          <a:p>
            <a:pPr marL="400050" lvl="1" indent="0">
              <a:buNone/>
            </a:pPr>
            <a:r>
              <a:rPr lang="en-US" altLang="zh-CN" dirty="0" err="1"/>
              <a:t>partition_spec</a:t>
            </a:r>
            <a:r>
              <a:rPr lang="en-US" altLang="zh-CN" dirty="0"/>
              <a:t>:</a:t>
            </a:r>
          </a:p>
          <a:p>
            <a:pPr marL="400050" lvl="1" indent="0">
              <a:buNone/>
            </a:pPr>
            <a:r>
              <a:rPr lang="en-US" altLang="zh-CN" dirty="0"/>
              <a:t>  : (</a:t>
            </a:r>
            <a:r>
              <a:rPr lang="en-US" altLang="zh-CN" dirty="0" err="1"/>
              <a:t>partition_column</a:t>
            </a:r>
            <a:r>
              <a:rPr lang="en-US" altLang="zh-CN" dirty="0"/>
              <a:t> = </a:t>
            </a:r>
            <a:r>
              <a:rPr lang="en-US" altLang="zh-CN" dirty="0" err="1"/>
              <a:t>partition_col_value</a:t>
            </a:r>
            <a:r>
              <a:rPr lang="en-US" altLang="zh-CN" dirty="0"/>
              <a:t>, </a:t>
            </a:r>
            <a:r>
              <a:rPr lang="en-US" altLang="zh-CN" dirty="0" err="1"/>
              <a:t>partition_column</a:t>
            </a:r>
            <a:r>
              <a:rPr lang="en-US" altLang="zh-CN" dirty="0"/>
              <a:t> = </a:t>
            </a:r>
            <a:r>
              <a:rPr lang="en-US" altLang="zh-CN" dirty="0" err="1"/>
              <a:t>partition_col_value</a:t>
            </a:r>
            <a:r>
              <a:rPr lang="en-US" altLang="zh-CN" dirty="0"/>
              <a:t>, ...)</a:t>
            </a:r>
          </a:p>
          <a:p>
            <a:endParaRPr lang="zh-CN" altLang="en-US" dirty="0"/>
          </a:p>
        </p:txBody>
      </p:sp>
    </p:spTree>
    <p:extLst>
      <p:ext uri="{BB962C8B-B14F-4D97-AF65-F5344CB8AC3E}">
        <p14:creationId xmlns:p14="http://schemas.microsoft.com/office/powerpoint/2010/main" val="21640136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8C011C-426F-47BD-B1E8-DB665A9863E5}"/>
              </a:ext>
            </a:extLst>
          </p:cNvPr>
          <p:cNvSpPr>
            <a:spLocks noGrp="1"/>
          </p:cNvSpPr>
          <p:nvPr>
            <p:ph type="title"/>
          </p:nvPr>
        </p:nvSpPr>
        <p:spPr/>
        <p:txBody>
          <a:bodyPr>
            <a:normAutofit fontScale="90000"/>
          </a:bodyPr>
          <a:lstStyle/>
          <a:p>
            <a:r>
              <a:rPr lang="zh-CN" altLang="en-US" dirty="0"/>
              <a:t>数据表的其他操作</a:t>
            </a:r>
          </a:p>
        </p:txBody>
      </p:sp>
      <p:sp>
        <p:nvSpPr>
          <p:cNvPr id="3" name="内容占位符 2">
            <a:extLst>
              <a:ext uri="{FF2B5EF4-FFF2-40B4-BE49-F238E27FC236}">
                <a16:creationId xmlns:a16="http://schemas.microsoft.com/office/drawing/2014/main" id="{1639C18A-8838-4EC6-A90E-BAAC5C4FD9A5}"/>
              </a:ext>
            </a:extLst>
          </p:cNvPr>
          <p:cNvSpPr>
            <a:spLocks noGrp="1"/>
          </p:cNvSpPr>
          <p:nvPr>
            <p:ph idx="1"/>
          </p:nvPr>
        </p:nvSpPr>
        <p:spPr/>
        <p:txBody>
          <a:bodyPr>
            <a:normAutofit/>
          </a:bodyPr>
          <a:lstStyle/>
          <a:p>
            <a:r>
              <a:rPr lang="en-US" altLang="zh-CN" dirty="0"/>
              <a:t>3</a:t>
            </a:r>
            <a:r>
              <a:rPr lang="zh-CN" altLang="en-US" dirty="0"/>
              <a:t>．</a:t>
            </a:r>
            <a:r>
              <a:rPr lang="en-US" altLang="zh-CN" dirty="0"/>
              <a:t>SHOW</a:t>
            </a:r>
            <a:r>
              <a:rPr lang="zh-CN" altLang="en-US" dirty="0"/>
              <a:t>命令</a:t>
            </a:r>
          </a:p>
          <a:p>
            <a:pPr lvl="1"/>
            <a:r>
              <a:rPr lang="en-US" altLang="zh-CN" dirty="0"/>
              <a:t>SHOW</a:t>
            </a:r>
            <a:r>
              <a:rPr lang="zh-CN" altLang="en-US" dirty="0"/>
              <a:t>提供了一种查看</a:t>
            </a:r>
            <a:r>
              <a:rPr lang="en-US" altLang="zh-CN" dirty="0"/>
              <a:t>Hive</a:t>
            </a:r>
            <a:r>
              <a:rPr lang="zh-CN" altLang="en-US" dirty="0"/>
              <a:t>中数据的元存储信息及元数据的方法。</a:t>
            </a:r>
          </a:p>
          <a:p>
            <a:endParaRPr lang="en-US" altLang="zh-CN" dirty="0"/>
          </a:p>
          <a:p>
            <a:r>
              <a:rPr lang="en-US" altLang="zh-CN" dirty="0"/>
              <a:t>SHOW</a:t>
            </a:r>
            <a:r>
              <a:rPr lang="zh-CN" altLang="en-US" dirty="0"/>
              <a:t>命令的详细用法请查阅教材</a:t>
            </a:r>
            <a:endParaRPr lang="en-US" altLang="zh-CN" dirty="0"/>
          </a:p>
          <a:p>
            <a:endParaRPr lang="zh-CN" altLang="en-US" dirty="0"/>
          </a:p>
        </p:txBody>
      </p:sp>
    </p:spTree>
    <p:extLst>
      <p:ext uri="{BB962C8B-B14F-4D97-AF65-F5344CB8AC3E}">
        <p14:creationId xmlns:p14="http://schemas.microsoft.com/office/powerpoint/2010/main" val="324190187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C3AE46-7EF7-41B0-84AF-FD4347C233B7}"/>
              </a:ext>
            </a:extLst>
          </p:cNvPr>
          <p:cNvSpPr>
            <a:spLocks noGrp="1"/>
          </p:cNvSpPr>
          <p:nvPr>
            <p:ph type="title"/>
          </p:nvPr>
        </p:nvSpPr>
        <p:spPr/>
        <p:txBody>
          <a:bodyPr>
            <a:normAutofit fontScale="90000"/>
          </a:bodyPr>
          <a:lstStyle/>
          <a:p>
            <a:r>
              <a:rPr lang="zh-CN" altLang="en-US" dirty="0"/>
              <a:t>数据表的其他操作</a:t>
            </a:r>
          </a:p>
        </p:txBody>
      </p:sp>
      <p:sp>
        <p:nvSpPr>
          <p:cNvPr id="3" name="内容占位符 2">
            <a:extLst>
              <a:ext uri="{FF2B5EF4-FFF2-40B4-BE49-F238E27FC236}">
                <a16:creationId xmlns:a16="http://schemas.microsoft.com/office/drawing/2014/main" id="{56C431D9-8540-4D5E-B7D6-AF0D561AF728}"/>
              </a:ext>
            </a:extLst>
          </p:cNvPr>
          <p:cNvSpPr>
            <a:spLocks noGrp="1"/>
          </p:cNvSpPr>
          <p:nvPr>
            <p:ph idx="1"/>
          </p:nvPr>
        </p:nvSpPr>
        <p:spPr/>
        <p:txBody>
          <a:bodyPr/>
          <a:lstStyle/>
          <a:p>
            <a:r>
              <a:rPr lang="en-US" altLang="zh-CN" dirty="0"/>
              <a:t>4</a:t>
            </a:r>
            <a:r>
              <a:rPr lang="zh-CN" altLang="en-US" dirty="0"/>
              <a:t>．</a:t>
            </a:r>
            <a:r>
              <a:rPr lang="en-US" altLang="zh-CN" dirty="0"/>
              <a:t>Describe</a:t>
            </a:r>
            <a:r>
              <a:rPr lang="zh-CN" altLang="en-US" dirty="0"/>
              <a:t>命令</a:t>
            </a:r>
          </a:p>
          <a:p>
            <a:pPr lvl="1"/>
            <a:r>
              <a:rPr lang="en-US" altLang="zh-CN" dirty="0"/>
              <a:t>DESCRIBE</a:t>
            </a:r>
            <a:r>
              <a:rPr lang="zh-CN" altLang="en-US" dirty="0"/>
              <a:t>命令也是用于显示数据库、表等基本元素的相关信息。但是与</a:t>
            </a:r>
            <a:r>
              <a:rPr lang="en-US" altLang="zh-CN" dirty="0"/>
              <a:t>SHOW</a:t>
            </a:r>
            <a:r>
              <a:rPr lang="zh-CN" altLang="en-US" dirty="0"/>
              <a:t>不同，</a:t>
            </a:r>
            <a:r>
              <a:rPr lang="en-US" altLang="zh-CN" dirty="0"/>
              <a:t>DESCRIBE</a:t>
            </a:r>
            <a:r>
              <a:rPr lang="zh-CN" altLang="en-US" dirty="0"/>
              <a:t>更加侧重从更高的层次上查看总体数据情况。</a:t>
            </a:r>
          </a:p>
          <a:p>
            <a:r>
              <a:rPr lang="en-US" altLang="zh-CN" dirty="0"/>
              <a:t>DESCRIBE</a:t>
            </a:r>
            <a:r>
              <a:rPr lang="zh-CN" altLang="en-US" dirty="0"/>
              <a:t>命令的详细用法请查阅教材。</a:t>
            </a:r>
          </a:p>
        </p:txBody>
      </p:sp>
    </p:spTree>
    <p:extLst>
      <p:ext uri="{BB962C8B-B14F-4D97-AF65-F5344CB8AC3E}">
        <p14:creationId xmlns:p14="http://schemas.microsoft.com/office/powerpoint/2010/main" val="347720466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23987" y="1732402"/>
            <a:ext cx="5236445" cy="646331"/>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Hive</a:t>
            </a:r>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的</a:t>
            </a:r>
            <a:r>
              <a:rPr lang="zh-CN" altLang="en-US" sz="36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数据操纵</a:t>
            </a:r>
            <a:r>
              <a:rPr lang="en-US" altLang="zh-CN" sz="36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—DML</a:t>
            </a:r>
            <a:endPar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endParaRP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05</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377254331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Hive</a:t>
            </a:r>
            <a:r>
              <a:rPr lang="zh-CN" altLang="en-US" dirty="0"/>
              <a:t>的数据操纵</a:t>
            </a:r>
            <a:r>
              <a:rPr lang="en-US" altLang="zh-CN" dirty="0"/>
              <a:t>--DML</a:t>
            </a:r>
          </a:p>
        </p:txBody>
      </p:sp>
      <p:sp>
        <p:nvSpPr>
          <p:cNvPr id="4" name="Rectangle 3"/>
          <p:cNvSpPr>
            <a:spLocks noGrp="1" noChangeArrowheads="1"/>
          </p:cNvSpPr>
          <p:nvPr>
            <p:ph idx="1"/>
          </p:nvPr>
        </p:nvSpPr>
        <p:spPr>
          <a:xfrm>
            <a:off x="457200" y="1167594"/>
            <a:ext cx="7715200" cy="3708411"/>
          </a:xfrm>
        </p:spPr>
        <p:txBody>
          <a:bodyPr>
            <a:normAutofit/>
          </a:bodyPr>
          <a:lstStyle/>
          <a:p>
            <a:r>
              <a:rPr lang="en-US" altLang="zh-CN" sz="2800" dirty="0"/>
              <a:t>Hive</a:t>
            </a:r>
            <a:r>
              <a:rPr lang="zh-CN" altLang="en-US" sz="2800" dirty="0"/>
              <a:t>的数据操纵主要通过其数据操作语言（</a:t>
            </a:r>
            <a:r>
              <a:rPr lang="en-US" altLang="zh-CN" sz="2800" dirty="0"/>
              <a:t>DML</a:t>
            </a:r>
            <a:r>
              <a:rPr lang="zh-CN" altLang="en-US" sz="2800" dirty="0"/>
              <a:t>：</a:t>
            </a:r>
            <a:r>
              <a:rPr lang="en-US" altLang="zh-CN" sz="2800" dirty="0"/>
              <a:t>Data Manipulation Language</a:t>
            </a:r>
            <a:r>
              <a:rPr lang="zh-CN" altLang="en-US" sz="2800" dirty="0"/>
              <a:t>）完成，</a:t>
            </a:r>
            <a:r>
              <a:rPr lang="en-US" altLang="zh-CN" sz="2800" dirty="0"/>
              <a:t>DML</a:t>
            </a:r>
            <a:r>
              <a:rPr lang="zh-CN" altLang="en-US" sz="2800" dirty="0"/>
              <a:t>中包含有</a:t>
            </a:r>
            <a:r>
              <a:rPr lang="en-US" altLang="zh-CN" sz="2800" dirty="0"/>
              <a:t>LOAD</a:t>
            </a:r>
            <a:r>
              <a:rPr lang="zh-CN" altLang="en-US" sz="2800" dirty="0"/>
              <a:t>、</a:t>
            </a:r>
            <a:r>
              <a:rPr lang="en-US" altLang="zh-CN" sz="2800" dirty="0"/>
              <a:t>INSERT</a:t>
            </a:r>
            <a:r>
              <a:rPr lang="zh-CN" altLang="en-US" sz="2800" dirty="0"/>
              <a:t>、</a:t>
            </a:r>
            <a:r>
              <a:rPr lang="en-US" altLang="zh-CN" sz="2800" dirty="0"/>
              <a:t>UPDATE</a:t>
            </a:r>
            <a:r>
              <a:rPr lang="zh-CN" altLang="en-US" sz="2800" dirty="0"/>
              <a:t>、</a:t>
            </a:r>
            <a:r>
              <a:rPr lang="en-US" altLang="zh-CN" sz="2800" dirty="0"/>
              <a:t>DELETE</a:t>
            </a:r>
            <a:r>
              <a:rPr lang="zh-CN" altLang="en-US" sz="2800" dirty="0"/>
              <a:t>、</a:t>
            </a:r>
            <a:r>
              <a:rPr lang="en-US" altLang="zh-CN" sz="2800" dirty="0"/>
              <a:t>IMPORT/EXPORT</a:t>
            </a:r>
            <a:r>
              <a:rPr lang="zh-CN" altLang="en-US" sz="2800" dirty="0"/>
              <a:t>、</a:t>
            </a:r>
            <a:r>
              <a:rPr lang="en-US" altLang="zh-CN" sz="2800" dirty="0"/>
              <a:t>…</a:t>
            </a:r>
            <a:r>
              <a:rPr lang="zh-CN" altLang="en-US" sz="2800" dirty="0"/>
              <a:t>等。下面将对其中一些常用命令进行介绍。</a:t>
            </a:r>
            <a:endParaRPr lang="en-US" altLang="zh-CN" sz="2800" dirty="0">
              <a:ea typeface="宋体" pitchFamily="2" charset="-122"/>
            </a:endParaRPr>
          </a:p>
        </p:txBody>
      </p:sp>
    </p:spTree>
    <p:extLst>
      <p:ext uri="{BB962C8B-B14F-4D97-AF65-F5344CB8AC3E}">
        <p14:creationId xmlns:p14="http://schemas.microsoft.com/office/powerpoint/2010/main" val="318650738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E99EC2-8E4C-4E85-8822-D4D46FD702FD}"/>
              </a:ext>
            </a:extLst>
          </p:cNvPr>
          <p:cNvSpPr>
            <a:spLocks noGrp="1"/>
          </p:cNvSpPr>
          <p:nvPr>
            <p:ph type="title"/>
          </p:nvPr>
        </p:nvSpPr>
        <p:spPr/>
        <p:txBody>
          <a:bodyPr>
            <a:normAutofit fontScale="90000"/>
          </a:bodyPr>
          <a:lstStyle/>
          <a:p>
            <a:r>
              <a:rPr lang="en-US" altLang="zh-CN" dirty="0"/>
              <a:t>Hive</a:t>
            </a:r>
            <a:r>
              <a:rPr lang="zh-CN" altLang="en-US" dirty="0"/>
              <a:t>的数据操纵</a:t>
            </a:r>
            <a:r>
              <a:rPr lang="en-US" altLang="zh-CN" dirty="0"/>
              <a:t>--DML</a:t>
            </a:r>
            <a:endParaRPr lang="zh-CN" altLang="en-US" dirty="0"/>
          </a:p>
        </p:txBody>
      </p:sp>
      <p:sp>
        <p:nvSpPr>
          <p:cNvPr id="3" name="内容占位符 2">
            <a:extLst>
              <a:ext uri="{FF2B5EF4-FFF2-40B4-BE49-F238E27FC236}">
                <a16:creationId xmlns:a16="http://schemas.microsoft.com/office/drawing/2014/main" id="{2DD8EFC7-8774-4162-B652-264AF214F55E}"/>
              </a:ext>
            </a:extLst>
          </p:cNvPr>
          <p:cNvSpPr>
            <a:spLocks noGrp="1"/>
          </p:cNvSpPr>
          <p:nvPr>
            <p:ph idx="1"/>
          </p:nvPr>
        </p:nvSpPr>
        <p:spPr/>
        <p:txBody>
          <a:bodyPr>
            <a:normAutofit fontScale="92500" lnSpcReduction="10000"/>
          </a:bodyPr>
          <a:lstStyle/>
          <a:p>
            <a:r>
              <a:rPr lang="en-US" altLang="zh-CN" dirty="0"/>
              <a:t>1</a:t>
            </a:r>
            <a:r>
              <a:rPr lang="zh-CN" altLang="en-US" dirty="0"/>
              <a:t>．加载数据文件到表（</a:t>
            </a:r>
            <a:r>
              <a:rPr lang="en-US" altLang="zh-CN" dirty="0"/>
              <a:t>Load</a:t>
            </a:r>
            <a:r>
              <a:rPr lang="zh-CN" altLang="en-US" dirty="0"/>
              <a:t>）</a:t>
            </a:r>
          </a:p>
          <a:p>
            <a:pPr lvl="1"/>
            <a:r>
              <a:rPr lang="en-US" altLang="zh-CN" dirty="0"/>
              <a:t>Hive</a:t>
            </a:r>
            <a:r>
              <a:rPr lang="zh-CN" altLang="en-US" dirty="0"/>
              <a:t>将数据文件加载到表时不进行任何转换，其加载操作是一种复制</a:t>
            </a:r>
            <a:r>
              <a:rPr lang="en-US" altLang="zh-CN" dirty="0"/>
              <a:t>/</a:t>
            </a:r>
            <a:r>
              <a:rPr lang="zh-CN" altLang="en-US" dirty="0"/>
              <a:t>移动操作，即将数据文件移动到与</a:t>
            </a:r>
            <a:r>
              <a:rPr lang="en-US" altLang="zh-CN" dirty="0"/>
              <a:t>Hive</a:t>
            </a:r>
            <a:r>
              <a:rPr lang="zh-CN" altLang="en-US" dirty="0"/>
              <a:t>表对应的位置。其语法格式如下：</a:t>
            </a:r>
          </a:p>
          <a:p>
            <a:pPr marL="400050" lvl="1" indent="0">
              <a:buNone/>
            </a:pPr>
            <a:r>
              <a:rPr lang="en-US" altLang="zh-CN" dirty="0"/>
              <a:t>LOAD DATA [LOCAL] INPATH '</a:t>
            </a:r>
            <a:r>
              <a:rPr lang="en-US" altLang="zh-CN" dirty="0" err="1"/>
              <a:t>filepath</a:t>
            </a:r>
            <a:r>
              <a:rPr lang="en-US" altLang="zh-CN" dirty="0"/>
              <a:t>' [OVERWRITE] </a:t>
            </a:r>
          </a:p>
          <a:p>
            <a:pPr marL="400050" lvl="1" indent="0">
              <a:buNone/>
            </a:pPr>
            <a:r>
              <a:rPr lang="en-US" altLang="zh-CN" dirty="0"/>
              <a:t>INTO TABLE </a:t>
            </a:r>
            <a:r>
              <a:rPr lang="en-US" altLang="zh-CN" dirty="0" err="1"/>
              <a:t>tablename</a:t>
            </a:r>
            <a:r>
              <a:rPr lang="en-US" altLang="zh-CN" dirty="0"/>
              <a:t> [PARTITION (partcol1=val1, partcol2=val2 ...)]</a:t>
            </a:r>
          </a:p>
          <a:p>
            <a:pPr marL="400050" lvl="1" indent="0">
              <a:buNone/>
            </a:pPr>
            <a:r>
              <a:rPr lang="en-US" altLang="zh-CN" dirty="0"/>
              <a:t>[INPUTFORMAT '</a:t>
            </a:r>
            <a:r>
              <a:rPr lang="en-US" altLang="zh-CN" dirty="0" err="1"/>
              <a:t>inputformat</a:t>
            </a:r>
            <a:r>
              <a:rPr lang="en-US" altLang="zh-CN" dirty="0"/>
              <a:t>' SERDE '</a:t>
            </a:r>
            <a:r>
              <a:rPr lang="en-US" altLang="zh-CN" dirty="0" err="1"/>
              <a:t>serde</a:t>
            </a:r>
            <a:r>
              <a:rPr lang="en-US" altLang="zh-CN" dirty="0"/>
              <a:t>'] </a:t>
            </a:r>
          </a:p>
          <a:p>
            <a:endParaRPr lang="zh-CN" altLang="en-US" dirty="0"/>
          </a:p>
        </p:txBody>
      </p:sp>
    </p:spTree>
    <p:extLst>
      <p:ext uri="{BB962C8B-B14F-4D97-AF65-F5344CB8AC3E}">
        <p14:creationId xmlns:p14="http://schemas.microsoft.com/office/powerpoint/2010/main" val="23109197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A1586-616A-4D24-AABE-0E9E27989AEA}"/>
              </a:ext>
            </a:extLst>
          </p:cNvPr>
          <p:cNvSpPr>
            <a:spLocks noGrp="1"/>
          </p:cNvSpPr>
          <p:nvPr>
            <p:ph type="title"/>
          </p:nvPr>
        </p:nvSpPr>
        <p:spPr/>
        <p:txBody>
          <a:bodyPr>
            <a:normAutofit fontScale="90000"/>
          </a:bodyPr>
          <a:lstStyle/>
          <a:p>
            <a:r>
              <a:rPr lang="en-US" altLang="zh-CN" dirty="0"/>
              <a:t>Hive</a:t>
            </a:r>
            <a:r>
              <a:rPr lang="zh-CN" altLang="en-US" dirty="0"/>
              <a:t>的数据操纵</a:t>
            </a:r>
            <a:r>
              <a:rPr lang="en-US" altLang="zh-CN" dirty="0"/>
              <a:t>--DML</a:t>
            </a:r>
            <a:endParaRPr lang="zh-CN" altLang="en-US" dirty="0"/>
          </a:p>
        </p:txBody>
      </p:sp>
      <p:sp>
        <p:nvSpPr>
          <p:cNvPr id="3" name="内容占位符 2">
            <a:extLst>
              <a:ext uri="{FF2B5EF4-FFF2-40B4-BE49-F238E27FC236}">
                <a16:creationId xmlns:a16="http://schemas.microsoft.com/office/drawing/2014/main" id="{CBC09DF9-6787-4EF4-A7C3-5A892D22F3A9}"/>
              </a:ext>
            </a:extLst>
          </p:cNvPr>
          <p:cNvSpPr>
            <a:spLocks noGrp="1"/>
          </p:cNvSpPr>
          <p:nvPr>
            <p:ph idx="1"/>
          </p:nvPr>
        </p:nvSpPr>
        <p:spPr/>
        <p:txBody>
          <a:bodyPr>
            <a:normAutofit fontScale="92500" lnSpcReduction="20000"/>
          </a:bodyPr>
          <a:lstStyle/>
          <a:p>
            <a:r>
              <a:rPr lang="en-US" altLang="zh-CN" dirty="0"/>
              <a:t>2</a:t>
            </a:r>
            <a:r>
              <a:rPr lang="zh-CN" altLang="en-US" dirty="0"/>
              <a:t>．把检索结果存入表（</a:t>
            </a:r>
            <a:r>
              <a:rPr lang="en-US" altLang="zh-CN" dirty="0"/>
              <a:t>Insert</a:t>
            </a:r>
            <a:r>
              <a:rPr lang="zh-CN" altLang="en-US" dirty="0"/>
              <a:t>）</a:t>
            </a:r>
          </a:p>
          <a:p>
            <a:pPr lvl="1"/>
            <a:r>
              <a:rPr lang="zh-CN" altLang="en-US" dirty="0"/>
              <a:t>除了可以直接把文件加载到表中，</a:t>
            </a:r>
            <a:r>
              <a:rPr lang="en-US" altLang="zh-CN" dirty="0"/>
              <a:t>Hive</a:t>
            </a:r>
            <a:r>
              <a:rPr lang="zh-CN" altLang="en-US" dirty="0"/>
              <a:t>还提供把检索结果插入表的操作（</a:t>
            </a:r>
            <a:r>
              <a:rPr lang="en-US" altLang="zh-CN" dirty="0"/>
              <a:t>Insert</a:t>
            </a:r>
            <a:r>
              <a:rPr lang="zh-CN" altLang="en-US" dirty="0"/>
              <a:t>），该操作的语法如下：</a:t>
            </a:r>
          </a:p>
          <a:p>
            <a:pPr lvl="1"/>
            <a:r>
              <a:rPr lang="zh-CN" altLang="en-US" dirty="0"/>
              <a:t>语法格式</a:t>
            </a:r>
            <a:r>
              <a:rPr lang="en-US" altLang="zh-CN" dirty="0"/>
              <a:t>1</a:t>
            </a:r>
            <a:r>
              <a:rPr lang="zh-CN" altLang="en-US" dirty="0"/>
              <a:t>：</a:t>
            </a:r>
          </a:p>
          <a:p>
            <a:pPr marL="400050" lvl="1" indent="0">
              <a:buNone/>
            </a:pPr>
            <a:r>
              <a:rPr lang="en-US" altLang="zh-CN" dirty="0"/>
              <a:t>INSERT OVERWRITE TABLE tablename1 </a:t>
            </a:r>
          </a:p>
          <a:p>
            <a:pPr marL="400050" lvl="1" indent="0">
              <a:buNone/>
            </a:pPr>
            <a:r>
              <a:rPr lang="en-US" altLang="zh-CN" dirty="0"/>
              <a:t>    [PARTITION (partcol1=val1, partcol2=val2 ...) </a:t>
            </a:r>
          </a:p>
          <a:p>
            <a:pPr marL="400050" lvl="1" indent="0">
              <a:buNone/>
            </a:pPr>
            <a:r>
              <a:rPr lang="en-US" altLang="zh-CN" dirty="0"/>
              <a:t>    [IF NOT EXISTS]] select_statement1 FROM </a:t>
            </a:r>
            <a:r>
              <a:rPr lang="en-US" altLang="zh-CN" dirty="0" err="1"/>
              <a:t>from_statement</a:t>
            </a:r>
            <a:r>
              <a:rPr lang="en-US" altLang="zh-CN" dirty="0"/>
              <a:t>;</a:t>
            </a:r>
          </a:p>
          <a:p>
            <a:endParaRPr lang="zh-CN" altLang="en-US" dirty="0"/>
          </a:p>
        </p:txBody>
      </p:sp>
    </p:spTree>
    <p:extLst>
      <p:ext uri="{BB962C8B-B14F-4D97-AF65-F5344CB8AC3E}">
        <p14:creationId xmlns:p14="http://schemas.microsoft.com/office/powerpoint/2010/main" val="2512162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FF9569-6CE4-44DB-8094-89C74C6E4DDA}"/>
              </a:ext>
            </a:extLst>
          </p:cNvPr>
          <p:cNvSpPr>
            <a:spLocks noGrp="1"/>
          </p:cNvSpPr>
          <p:nvPr>
            <p:ph type="title"/>
          </p:nvPr>
        </p:nvSpPr>
        <p:spPr/>
        <p:txBody>
          <a:bodyPr>
            <a:normAutofit fontScale="90000"/>
          </a:bodyPr>
          <a:lstStyle/>
          <a:p>
            <a:r>
              <a:rPr lang="en-US" altLang="zh-CN" dirty="0"/>
              <a:t>Hive</a:t>
            </a:r>
            <a:r>
              <a:rPr lang="zh-CN" altLang="en-US" dirty="0"/>
              <a:t>的数据操纵</a:t>
            </a:r>
            <a:r>
              <a:rPr lang="en-US" altLang="zh-CN" dirty="0"/>
              <a:t>--DML</a:t>
            </a:r>
            <a:endParaRPr lang="zh-CN" altLang="en-US" dirty="0"/>
          </a:p>
        </p:txBody>
      </p:sp>
      <p:sp>
        <p:nvSpPr>
          <p:cNvPr id="3" name="内容占位符 2">
            <a:extLst>
              <a:ext uri="{FF2B5EF4-FFF2-40B4-BE49-F238E27FC236}">
                <a16:creationId xmlns:a16="http://schemas.microsoft.com/office/drawing/2014/main" id="{8F06A02C-C640-4234-ACA2-235069C74998}"/>
              </a:ext>
            </a:extLst>
          </p:cNvPr>
          <p:cNvSpPr>
            <a:spLocks noGrp="1"/>
          </p:cNvSpPr>
          <p:nvPr>
            <p:ph idx="1"/>
          </p:nvPr>
        </p:nvSpPr>
        <p:spPr>
          <a:xfrm>
            <a:off x="457200" y="1200150"/>
            <a:ext cx="8229600" cy="3711859"/>
          </a:xfrm>
        </p:spPr>
        <p:txBody>
          <a:bodyPr>
            <a:normAutofit fontScale="77500" lnSpcReduction="20000"/>
          </a:bodyPr>
          <a:lstStyle/>
          <a:p>
            <a:r>
              <a:rPr lang="en-US" altLang="zh-CN" dirty="0"/>
              <a:t>2</a:t>
            </a:r>
            <a:r>
              <a:rPr lang="zh-CN" altLang="en-US" dirty="0"/>
              <a:t>．把检索结果存入表（</a:t>
            </a:r>
            <a:r>
              <a:rPr lang="en-US" altLang="zh-CN" dirty="0"/>
              <a:t>Insert</a:t>
            </a:r>
            <a:r>
              <a:rPr lang="zh-CN" altLang="en-US" dirty="0"/>
              <a:t>）</a:t>
            </a:r>
          </a:p>
          <a:p>
            <a:pPr lvl="1"/>
            <a:r>
              <a:rPr lang="en-US" altLang="zh-CN" dirty="0"/>
              <a:t>Hive</a:t>
            </a:r>
            <a:r>
              <a:rPr lang="zh-CN" altLang="en-US" dirty="0"/>
              <a:t>扩展</a:t>
            </a:r>
            <a:r>
              <a:rPr lang="en-US" altLang="zh-CN" dirty="0"/>
              <a:t>2 (</a:t>
            </a:r>
            <a:r>
              <a:rPr lang="zh-CN" altLang="en-US" dirty="0"/>
              <a:t>多表插入语句</a:t>
            </a:r>
            <a:r>
              <a:rPr lang="en-US" altLang="zh-CN" dirty="0"/>
              <a:t>):</a:t>
            </a:r>
          </a:p>
          <a:p>
            <a:pPr marL="400050" lvl="1" indent="0">
              <a:buNone/>
            </a:pPr>
            <a:r>
              <a:rPr lang="en-US" altLang="zh-CN" dirty="0"/>
              <a:t>FROM </a:t>
            </a:r>
            <a:r>
              <a:rPr lang="en-US" altLang="zh-CN" dirty="0" err="1"/>
              <a:t>from_statement</a:t>
            </a:r>
            <a:endParaRPr lang="en-US" altLang="zh-CN" dirty="0"/>
          </a:p>
          <a:p>
            <a:pPr marL="400050" lvl="1" indent="0">
              <a:buNone/>
            </a:pPr>
            <a:r>
              <a:rPr lang="en-US" altLang="zh-CN" dirty="0"/>
              <a:t>    INSERT INTO TABLE tablename1 </a:t>
            </a:r>
          </a:p>
          <a:p>
            <a:pPr marL="400050" lvl="1" indent="0">
              <a:buNone/>
            </a:pPr>
            <a:r>
              <a:rPr lang="en-US" altLang="zh-CN" dirty="0"/>
              <a:t>        [PARTITION (partcol1=val1, partcol2=val2 ...)] </a:t>
            </a:r>
          </a:p>
          <a:p>
            <a:pPr marL="400050" lvl="1" indent="0">
              <a:buNone/>
            </a:pPr>
            <a:r>
              <a:rPr lang="en-US" altLang="zh-CN" dirty="0"/>
              <a:t>        select_statement1</a:t>
            </a:r>
          </a:p>
          <a:p>
            <a:pPr marL="400050" lvl="1" indent="0">
              <a:buNone/>
            </a:pPr>
            <a:r>
              <a:rPr lang="en-US" altLang="zh-CN" dirty="0"/>
              <a:t>    [INSERT INTO TABLE tablename2 [PARTITION ...] </a:t>
            </a:r>
          </a:p>
          <a:p>
            <a:pPr marL="400050" lvl="1" indent="0">
              <a:buNone/>
            </a:pPr>
            <a:r>
              <a:rPr lang="en-US" altLang="zh-CN" dirty="0"/>
              <a:t>        select_statement2]</a:t>
            </a:r>
          </a:p>
          <a:p>
            <a:pPr marL="400050" lvl="1" indent="0">
              <a:buNone/>
            </a:pPr>
            <a:r>
              <a:rPr lang="en-US" altLang="zh-CN" dirty="0"/>
              <a:t>    [INSERT OVERWRITE TABLE tablename2 [PARTITION ... [IF NOT EXISTS]] </a:t>
            </a:r>
          </a:p>
          <a:p>
            <a:pPr marL="400050" lvl="1" indent="0">
              <a:buNone/>
            </a:pPr>
            <a:r>
              <a:rPr lang="en-US" altLang="zh-CN" dirty="0"/>
              <a:t>        select_statement2] ...;</a:t>
            </a:r>
          </a:p>
          <a:p>
            <a:endParaRPr lang="zh-CN" altLang="en-US" dirty="0"/>
          </a:p>
        </p:txBody>
      </p:sp>
    </p:spTree>
    <p:extLst>
      <p:ext uri="{BB962C8B-B14F-4D97-AF65-F5344CB8AC3E}">
        <p14:creationId xmlns:p14="http://schemas.microsoft.com/office/powerpoint/2010/main" val="274670783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97A2E0-C031-4DFC-B570-25CD11DAE081}"/>
              </a:ext>
            </a:extLst>
          </p:cNvPr>
          <p:cNvSpPr>
            <a:spLocks noGrp="1"/>
          </p:cNvSpPr>
          <p:nvPr>
            <p:ph type="title"/>
          </p:nvPr>
        </p:nvSpPr>
        <p:spPr/>
        <p:txBody>
          <a:bodyPr>
            <a:normAutofit fontScale="90000"/>
          </a:bodyPr>
          <a:lstStyle/>
          <a:p>
            <a:r>
              <a:rPr lang="en-US" altLang="zh-CN" dirty="0"/>
              <a:t>Hive</a:t>
            </a:r>
            <a:r>
              <a:rPr lang="zh-CN" altLang="en-US" dirty="0"/>
              <a:t>的数据操纵</a:t>
            </a:r>
            <a:r>
              <a:rPr lang="en-US" altLang="zh-CN" dirty="0"/>
              <a:t>--DML</a:t>
            </a:r>
            <a:endParaRPr lang="zh-CN" altLang="en-US" dirty="0"/>
          </a:p>
        </p:txBody>
      </p:sp>
      <p:sp>
        <p:nvSpPr>
          <p:cNvPr id="3" name="内容占位符 2">
            <a:extLst>
              <a:ext uri="{FF2B5EF4-FFF2-40B4-BE49-F238E27FC236}">
                <a16:creationId xmlns:a16="http://schemas.microsoft.com/office/drawing/2014/main" id="{9E76E18F-CFF3-4045-8C74-1926E04CDA98}"/>
              </a:ext>
            </a:extLst>
          </p:cNvPr>
          <p:cNvSpPr>
            <a:spLocks noGrp="1"/>
          </p:cNvSpPr>
          <p:nvPr>
            <p:ph idx="1"/>
          </p:nvPr>
        </p:nvSpPr>
        <p:spPr/>
        <p:txBody>
          <a:bodyPr>
            <a:normAutofit fontScale="92500" lnSpcReduction="20000"/>
          </a:bodyPr>
          <a:lstStyle/>
          <a:p>
            <a:r>
              <a:rPr lang="en-US" altLang="zh-CN" dirty="0"/>
              <a:t>3</a:t>
            </a:r>
            <a:r>
              <a:rPr lang="zh-CN" altLang="en-US" dirty="0"/>
              <a:t>．把检索结果导出到文件（</a:t>
            </a:r>
            <a:r>
              <a:rPr lang="en-US" altLang="zh-CN" dirty="0"/>
              <a:t>Insert</a:t>
            </a:r>
            <a:r>
              <a:rPr lang="zh-CN" altLang="en-US" dirty="0"/>
              <a:t>）</a:t>
            </a:r>
          </a:p>
          <a:p>
            <a:pPr lvl="1"/>
            <a:r>
              <a:rPr lang="en-US" altLang="zh-CN" dirty="0"/>
              <a:t>Hive</a:t>
            </a:r>
            <a:r>
              <a:rPr lang="zh-CN" altLang="en-US" dirty="0"/>
              <a:t>的检索结果可以导出到文件系统中保存成文件，其具体命令与</a:t>
            </a:r>
            <a:r>
              <a:rPr lang="en-US" altLang="zh-CN" dirty="0"/>
              <a:t>Insert</a:t>
            </a:r>
            <a:r>
              <a:rPr lang="zh-CN" altLang="en-US" dirty="0"/>
              <a:t>到数据表的命令应用类似，其语法定义如下：</a:t>
            </a:r>
          </a:p>
          <a:p>
            <a:pPr lvl="1"/>
            <a:r>
              <a:rPr lang="zh-CN" altLang="en-US" dirty="0"/>
              <a:t>标准语法：</a:t>
            </a:r>
          </a:p>
          <a:p>
            <a:pPr marL="400050" lvl="1" indent="0">
              <a:buNone/>
            </a:pPr>
            <a:r>
              <a:rPr lang="en-US" altLang="zh-CN" dirty="0"/>
              <a:t>INSERT OVERWRITE [LOCAL] DIRECTORY directory1</a:t>
            </a:r>
          </a:p>
          <a:p>
            <a:pPr marL="400050" lvl="1" indent="0">
              <a:buNone/>
            </a:pPr>
            <a:r>
              <a:rPr lang="en-US" altLang="zh-CN" dirty="0"/>
              <a:t>    [ROW FORMAT </a:t>
            </a:r>
            <a:r>
              <a:rPr lang="en-US" altLang="zh-CN" dirty="0" err="1"/>
              <a:t>row_format</a:t>
            </a:r>
            <a:r>
              <a:rPr lang="en-US" altLang="zh-CN" dirty="0"/>
              <a:t>] [STORED AS </a:t>
            </a:r>
            <a:r>
              <a:rPr lang="en-US" altLang="zh-CN" dirty="0" err="1"/>
              <a:t>file_format</a:t>
            </a:r>
            <a:r>
              <a:rPr lang="en-US" altLang="zh-CN" dirty="0"/>
              <a:t>]</a:t>
            </a:r>
          </a:p>
          <a:p>
            <a:pPr marL="400050" lvl="1" indent="0">
              <a:buNone/>
            </a:pPr>
            <a:r>
              <a:rPr lang="en-US" altLang="zh-CN" dirty="0"/>
              <a:t>    SELECT ... FROM ...</a:t>
            </a:r>
          </a:p>
          <a:p>
            <a:endParaRPr lang="zh-CN" altLang="en-US" dirty="0"/>
          </a:p>
        </p:txBody>
      </p:sp>
    </p:spTree>
    <p:extLst>
      <p:ext uri="{BB962C8B-B14F-4D97-AF65-F5344CB8AC3E}">
        <p14:creationId xmlns:p14="http://schemas.microsoft.com/office/powerpoint/2010/main" val="81607211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97A2E0-C031-4DFC-B570-25CD11DAE081}"/>
              </a:ext>
            </a:extLst>
          </p:cNvPr>
          <p:cNvSpPr>
            <a:spLocks noGrp="1"/>
          </p:cNvSpPr>
          <p:nvPr>
            <p:ph type="title"/>
          </p:nvPr>
        </p:nvSpPr>
        <p:spPr/>
        <p:txBody>
          <a:bodyPr>
            <a:normAutofit fontScale="90000"/>
          </a:bodyPr>
          <a:lstStyle/>
          <a:p>
            <a:r>
              <a:rPr lang="en-US" altLang="zh-CN" dirty="0"/>
              <a:t>Hive</a:t>
            </a:r>
            <a:r>
              <a:rPr lang="zh-CN" altLang="en-US" dirty="0"/>
              <a:t>的数据操纵</a:t>
            </a:r>
            <a:r>
              <a:rPr lang="en-US" altLang="zh-CN" dirty="0"/>
              <a:t>--DML</a:t>
            </a:r>
            <a:endParaRPr lang="zh-CN" altLang="en-US" dirty="0"/>
          </a:p>
        </p:txBody>
      </p:sp>
      <p:sp>
        <p:nvSpPr>
          <p:cNvPr id="3" name="内容占位符 2">
            <a:extLst>
              <a:ext uri="{FF2B5EF4-FFF2-40B4-BE49-F238E27FC236}">
                <a16:creationId xmlns:a16="http://schemas.microsoft.com/office/drawing/2014/main" id="{9E76E18F-CFF3-4045-8C74-1926E04CDA98}"/>
              </a:ext>
            </a:extLst>
          </p:cNvPr>
          <p:cNvSpPr>
            <a:spLocks noGrp="1"/>
          </p:cNvSpPr>
          <p:nvPr>
            <p:ph idx="1"/>
          </p:nvPr>
        </p:nvSpPr>
        <p:spPr/>
        <p:txBody>
          <a:bodyPr>
            <a:normAutofit fontScale="77500" lnSpcReduction="20000"/>
          </a:bodyPr>
          <a:lstStyle/>
          <a:p>
            <a:r>
              <a:rPr lang="en-US" altLang="zh-CN" dirty="0"/>
              <a:t>3</a:t>
            </a:r>
            <a:r>
              <a:rPr lang="zh-CN" altLang="en-US" dirty="0"/>
              <a:t>．把检索结果导出到文件（</a:t>
            </a:r>
            <a:r>
              <a:rPr lang="en-US" altLang="zh-CN" dirty="0"/>
              <a:t>Insert</a:t>
            </a:r>
            <a:r>
              <a:rPr lang="zh-CN" altLang="en-US" dirty="0"/>
              <a:t>）</a:t>
            </a:r>
          </a:p>
          <a:p>
            <a:pPr lvl="1"/>
            <a:r>
              <a:rPr lang="en-US" altLang="zh-CN" dirty="0"/>
              <a:t>Hive</a:t>
            </a:r>
            <a:r>
              <a:rPr lang="zh-CN" altLang="en-US" dirty="0"/>
              <a:t>的检索结果可以导出到文件系统中保存成文件，其具体命令与</a:t>
            </a:r>
            <a:r>
              <a:rPr lang="en-US" altLang="zh-CN" dirty="0"/>
              <a:t>Insert</a:t>
            </a:r>
            <a:r>
              <a:rPr lang="zh-CN" altLang="en-US" dirty="0"/>
              <a:t>到数据表的命令应用类似，其语法定义如下：</a:t>
            </a:r>
          </a:p>
          <a:p>
            <a:pPr lvl="1"/>
            <a:r>
              <a:rPr lang="en-US" altLang="zh-CN" dirty="0"/>
              <a:t>Hive</a:t>
            </a:r>
            <a:r>
              <a:rPr lang="zh-CN" altLang="en-US" dirty="0"/>
              <a:t>扩展语法：</a:t>
            </a:r>
          </a:p>
          <a:p>
            <a:pPr marL="400050" lvl="1" indent="0">
              <a:buNone/>
            </a:pPr>
            <a:r>
              <a:rPr lang="en-US" altLang="zh-CN" dirty="0"/>
              <a:t>FROM </a:t>
            </a:r>
            <a:r>
              <a:rPr lang="en-US" altLang="zh-CN" dirty="0" err="1"/>
              <a:t>from_statement</a:t>
            </a:r>
            <a:endParaRPr lang="en-US" altLang="zh-CN" dirty="0"/>
          </a:p>
          <a:p>
            <a:pPr marL="400050" lvl="1" indent="0">
              <a:buNone/>
            </a:pPr>
            <a:r>
              <a:rPr lang="en-US" altLang="zh-CN" dirty="0"/>
              <a:t>    INSERT OVERWRITE [LOCAL] DIRECTORY directory1 select_statement1</a:t>
            </a:r>
          </a:p>
          <a:p>
            <a:pPr marL="400050" lvl="1" indent="0">
              <a:buNone/>
            </a:pPr>
            <a:r>
              <a:rPr lang="en-US" altLang="zh-CN" dirty="0"/>
              <a:t>    [INSERT OVERWRITE [LOCAL] DIRECTORY directory2 select_statement2] ...</a:t>
            </a:r>
          </a:p>
          <a:p>
            <a:endParaRPr lang="zh-CN" altLang="en-US" dirty="0"/>
          </a:p>
        </p:txBody>
      </p:sp>
    </p:spTree>
    <p:extLst>
      <p:ext uri="{BB962C8B-B14F-4D97-AF65-F5344CB8AC3E}">
        <p14:creationId xmlns:p14="http://schemas.microsoft.com/office/powerpoint/2010/main" val="382960776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7372AC-3B23-4CBB-B530-F3A182B6293B}"/>
              </a:ext>
            </a:extLst>
          </p:cNvPr>
          <p:cNvSpPr>
            <a:spLocks noGrp="1"/>
          </p:cNvSpPr>
          <p:nvPr>
            <p:ph type="title"/>
          </p:nvPr>
        </p:nvSpPr>
        <p:spPr/>
        <p:txBody>
          <a:bodyPr>
            <a:normAutofit fontScale="90000"/>
          </a:bodyPr>
          <a:lstStyle/>
          <a:p>
            <a:r>
              <a:rPr lang="en-US" altLang="zh-CN" dirty="0"/>
              <a:t>Hive</a:t>
            </a:r>
            <a:r>
              <a:rPr lang="zh-CN" altLang="en-US" dirty="0"/>
              <a:t>的数据操纵</a:t>
            </a:r>
            <a:r>
              <a:rPr lang="en-US" altLang="zh-CN" dirty="0"/>
              <a:t>--DML</a:t>
            </a:r>
            <a:endParaRPr lang="zh-CN" altLang="en-US" dirty="0"/>
          </a:p>
        </p:txBody>
      </p:sp>
      <p:sp>
        <p:nvSpPr>
          <p:cNvPr id="3" name="内容占位符 2">
            <a:extLst>
              <a:ext uri="{FF2B5EF4-FFF2-40B4-BE49-F238E27FC236}">
                <a16:creationId xmlns:a16="http://schemas.microsoft.com/office/drawing/2014/main" id="{415E9BE8-183E-4302-ACB4-C68F2A62D122}"/>
              </a:ext>
            </a:extLst>
          </p:cNvPr>
          <p:cNvSpPr>
            <a:spLocks noGrp="1"/>
          </p:cNvSpPr>
          <p:nvPr>
            <p:ph idx="1"/>
          </p:nvPr>
        </p:nvSpPr>
        <p:spPr/>
        <p:txBody>
          <a:bodyPr>
            <a:normAutofit fontScale="92500" lnSpcReduction="20000"/>
          </a:bodyPr>
          <a:lstStyle/>
          <a:p>
            <a:r>
              <a:rPr lang="en-US" altLang="zh-CN" dirty="0"/>
              <a:t>4</a:t>
            </a:r>
            <a:r>
              <a:rPr lang="zh-CN" altLang="en-US" dirty="0"/>
              <a:t>．利用</a:t>
            </a:r>
            <a:r>
              <a:rPr lang="en-US" altLang="zh-CN" dirty="0"/>
              <a:t>SQL</a:t>
            </a:r>
            <a:r>
              <a:rPr lang="zh-CN" altLang="en-US" dirty="0"/>
              <a:t>的</a:t>
            </a:r>
            <a:r>
              <a:rPr lang="en-US" altLang="zh-CN" dirty="0"/>
              <a:t>INSERT INTO</a:t>
            </a:r>
            <a:r>
              <a:rPr lang="zh-CN" altLang="en-US" dirty="0"/>
              <a:t>把数据插入表</a:t>
            </a:r>
          </a:p>
          <a:p>
            <a:pPr lvl="1"/>
            <a:r>
              <a:rPr lang="zh-CN" altLang="en-US" dirty="0"/>
              <a:t>除了支持将数据文件以及</a:t>
            </a:r>
            <a:r>
              <a:rPr lang="en-US" altLang="zh-CN" dirty="0"/>
              <a:t>Hive</a:t>
            </a:r>
            <a:r>
              <a:rPr lang="zh-CN" altLang="en-US" dirty="0"/>
              <a:t>检索结果数据插入表外，</a:t>
            </a:r>
            <a:r>
              <a:rPr lang="en-US" altLang="zh-CN" dirty="0"/>
              <a:t>Hive</a:t>
            </a:r>
            <a:r>
              <a:rPr lang="zh-CN" altLang="en-US" dirty="0"/>
              <a:t>还支持</a:t>
            </a:r>
            <a:r>
              <a:rPr lang="en-US" altLang="zh-CN" dirty="0"/>
              <a:t>SQL</a:t>
            </a:r>
            <a:r>
              <a:rPr lang="zh-CN" altLang="en-US" dirty="0"/>
              <a:t>的</a:t>
            </a:r>
            <a:r>
              <a:rPr lang="en-US" altLang="zh-CN" dirty="0"/>
              <a:t>INSERT INTO</a:t>
            </a:r>
            <a:r>
              <a:rPr lang="zh-CN" altLang="en-US" dirty="0"/>
              <a:t>实现</a:t>
            </a:r>
            <a:r>
              <a:rPr lang="en-US" altLang="zh-CN" dirty="0"/>
              <a:t>Hive</a:t>
            </a:r>
            <a:r>
              <a:rPr lang="zh-CN" altLang="en-US" dirty="0"/>
              <a:t>数据插入。其语法定义如下：</a:t>
            </a:r>
          </a:p>
          <a:p>
            <a:pPr marL="400050" lvl="1" indent="0">
              <a:buNone/>
            </a:pPr>
            <a:r>
              <a:rPr lang="en-US" altLang="zh-CN" dirty="0"/>
              <a:t>INSERT INTO TABLE </a:t>
            </a:r>
            <a:r>
              <a:rPr lang="en-US" altLang="zh-CN" dirty="0" err="1"/>
              <a:t>tablename</a:t>
            </a:r>
            <a:r>
              <a:rPr lang="en-US" altLang="zh-CN" dirty="0"/>
              <a:t> </a:t>
            </a:r>
          </a:p>
          <a:p>
            <a:pPr marL="400050" lvl="1" indent="0">
              <a:buNone/>
            </a:pPr>
            <a:r>
              <a:rPr lang="en-US" altLang="zh-CN" dirty="0"/>
              <a:t>    [PARTITION (partcol1[=val1], partcol2[=val2] ...)] </a:t>
            </a:r>
          </a:p>
          <a:p>
            <a:pPr marL="400050" lvl="1" indent="0">
              <a:buNone/>
            </a:pPr>
            <a:r>
              <a:rPr lang="en-US" altLang="zh-CN" dirty="0"/>
              <a:t>    VALUES </a:t>
            </a:r>
            <a:r>
              <a:rPr lang="en-US" altLang="zh-CN" dirty="0" err="1"/>
              <a:t>values_row</a:t>
            </a:r>
            <a:r>
              <a:rPr lang="en-US" altLang="zh-CN" dirty="0"/>
              <a:t> [, </a:t>
            </a:r>
            <a:r>
              <a:rPr lang="en-US" altLang="zh-CN" dirty="0" err="1"/>
              <a:t>values_row</a:t>
            </a:r>
            <a:r>
              <a:rPr lang="en-US" altLang="zh-CN" dirty="0"/>
              <a:t> ...]</a:t>
            </a:r>
          </a:p>
          <a:p>
            <a:pPr marL="400050" lvl="1" indent="0">
              <a:buNone/>
            </a:pPr>
            <a:r>
              <a:rPr lang="en-US" altLang="zh-CN" dirty="0" err="1"/>
              <a:t>values_row</a:t>
            </a:r>
            <a:r>
              <a:rPr lang="en-US" altLang="zh-CN" dirty="0"/>
              <a:t>=( value [, value ...] )</a:t>
            </a:r>
          </a:p>
          <a:p>
            <a:endParaRPr lang="zh-CN" altLang="en-US" dirty="0"/>
          </a:p>
        </p:txBody>
      </p:sp>
    </p:spTree>
    <p:extLst>
      <p:ext uri="{BB962C8B-B14F-4D97-AF65-F5344CB8AC3E}">
        <p14:creationId xmlns:p14="http://schemas.microsoft.com/office/powerpoint/2010/main" val="115455018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F5C768-91E8-428C-82ED-65E662AA43F5}"/>
              </a:ext>
            </a:extLst>
          </p:cNvPr>
          <p:cNvSpPr>
            <a:spLocks noGrp="1"/>
          </p:cNvSpPr>
          <p:nvPr>
            <p:ph type="title"/>
          </p:nvPr>
        </p:nvSpPr>
        <p:spPr/>
        <p:txBody>
          <a:bodyPr>
            <a:normAutofit fontScale="90000"/>
          </a:bodyPr>
          <a:lstStyle/>
          <a:p>
            <a:r>
              <a:rPr lang="en-US" altLang="zh-CN" dirty="0"/>
              <a:t>Hive</a:t>
            </a:r>
            <a:r>
              <a:rPr lang="zh-CN" altLang="en-US" dirty="0"/>
              <a:t>的数据操纵</a:t>
            </a:r>
            <a:r>
              <a:rPr lang="en-US" altLang="zh-CN" dirty="0"/>
              <a:t>--DML</a:t>
            </a:r>
            <a:endParaRPr lang="zh-CN" altLang="en-US" dirty="0"/>
          </a:p>
        </p:txBody>
      </p:sp>
      <p:sp>
        <p:nvSpPr>
          <p:cNvPr id="3" name="内容占位符 2">
            <a:extLst>
              <a:ext uri="{FF2B5EF4-FFF2-40B4-BE49-F238E27FC236}">
                <a16:creationId xmlns:a16="http://schemas.microsoft.com/office/drawing/2014/main" id="{A01D199D-CA88-4F25-AAC0-AD8FCE411EE2}"/>
              </a:ext>
            </a:extLst>
          </p:cNvPr>
          <p:cNvSpPr>
            <a:spLocks noGrp="1"/>
          </p:cNvSpPr>
          <p:nvPr>
            <p:ph idx="1"/>
          </p:nvPr>
        </p:nvSpPr>
        <p:spPr/>
        <p:txBody>
          <a:bodyPr/>
          <a:lstStyle/>
          <a:p>
            <a:r>
              <a:rPr lang="en-US" altLang="zh-CN" dirty="0"/>
              <a:t>5</a:t>
            </a:r>
            <a:r>
              <a:rPr lang="zh-CN" altLang="en-US" dirty="0"/>
              <a:t>．数据更新操作（</a:t>
            </a:r>
            <a:r>
              <a:rPr lang="en-US" altLang="zh-CN" dirty="0"/>
              <a:t>Update</a:t>
            </a:r>
            <a:r>
              <a:rPr lang="zh-CN" altLang="en-US" dirty="0"/>
              <a:t>）</a:t>
            </a:r>
          </a:p>
          <a:p>
            <a:pPr lvl="1"/>
            <a:r>
              <a:rPr lang="en-US" altLang="zh-CN" dirty="0"/>
              <a:t>Hive</a:t>
            </a:r>
            <a:r>
              <a:rPr lang="zh-CN" altLang="en-US" dirty="0"/>
              <a:t>表的数据更新操作仅可用于支持</a:t>
            </a:r>
            <a:r>
              <a:rPr lang="en-US" altLang="zh-CN" dirty="0"/>
              <a:t>ACID</a:t>
            </a:r>
            <a:r>
              <a:rPr lang="zh-CN" altLang="en-US" dirty="0"/>
              <a:t>的表。其语法定义如下：</a:t>
            </a:r>
          </a:p>
          <a:p>
            <a:pPr marL="400050" lvl="1" indent="0">
              <a:buNone/>
            </a:pPr>
            <a:r>
              <a:rPr lang="en-US" altLang="zh-CN" dirty="0"/>
              <a:t>UPDATE </a:t>
            </a:r>
            <a:r>
              <a:rPr lang="en-US" altLang="zh-CN" dirty="0" err="1"/>
              <a:t>tablename</a:t>
            </a:r>
            <a:r>
              <a:rPr lang="en-US" altLang="zh-CN" dirty="0"/>
              <a:t> SET column = value [, column = value ...] </a:t>
            </a:r>
          </a:p>
          <a:p>
            <a:pPr marL="400050" lvl="1" indent="0">
              <a:buNone/>
            </a:pPr>
            <a:r>
              <a:rPr lang="en-US" altLang="zh-CN" dirty="0"/>
              <a:t>[WHERE expression]</a:t>
            </a:r>
          </a:p>
          <a:p>
            <a:endParaRPr lang="zh-CN" altLang="en-US" dirty="0"/>
          </a:p>
        </p:txBody>
      </p:sp>
    </p:spTree>
    <p:extLst>
      <p:ext uri="{BB962C8B-B14F-4D97-AF65-F5344CB8AC3E}">
        <p14:creationId xmlns:p14="http://schemas.microsoft.com/office/powerpoint/2010/main" val="110446705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22560F-E513-45CA-84B6-863582524C14}"/>
              </a:ext>
            </a:extLst>
          </p:cNvPr>
          <p:cNvSpPr>
            <a:spLocks noGrp="1"/>
          </p:cNvSpPr>
          <p:nvPr>
            <p:ph type="title"/>
          </p:nvPr>
        </p:nvSpPr>
        <p:spPr/>
        <p:txBody>
          <a:bodyPr>
            <a:normAutofit fontScale="90000"/>
          </a:bodyPr>
          <a:lstStyle/>
          <a:p>
            <a:r>
              <a:rPr lang="en-US" altLang="zh-CN" dirty="0"/>
              <a:t>Hive</a:t>
            </a:r>
            <a:r>
              <a:rPr lang="zh-CN" altLang="en-US" dirty="0"/>
              <a:t>的数据操纵</a:t>
            </a:r>
            <a:r>
              <a:rPr lang="en-US" altLang="zh-CN" dirty="0"/>
              <a:t>--DML</a:t>
            </a:r>
            <a:endParaRPr lang="zh-CN" altLang="en-US" dirty="0"/>
          </a:p>
        </p:txBody>
      </p:sp>
      <p:sp>
        <p:nvSpPr>
          <p:cNvPr id="3" name="内容占位符 2">
            <a:extLst>
              <a:ext uri="{FF2B5EF4-FFF2-40B4-BE49-F238E27FC236}">
                <a16:creationId xmlns:a16="http://schemas.microsoft.com/office/drawing/2014/main" id="{38CD01CB-A616-4CC1-A813-0BA4660EEAEB}"/>
              </a:ext>
            </a:extLst>
          </p:cNvPr>
          <p:cNvSpPr>
            <a:spLocks noGrp="1"/>
          </p:cNvSpPr>
          <p:nvPr>
            <p:ph idx="1"/>
          </p:nvPr>
        </p:nvSpPr>
        <p:spPr/>
        <p:txBody>
          <a:bodyPr/>
          <a:lstStyle/>
          <a:p>
            <a:r>
              <a:rPr lang="en-US" altLang="zh-CN" dirty="0"/>
              <a:t>6</a:t>
            </a:r>
            <a:r>
              <a:rPr lang="zh-CN" altLang="en-US" dirty="0"/>
              <a:t>．数据删除操作（</a:t>
            </a:r>
            <a:r>
              <a:rPr lang="en-US" altLang="zh-CN" dirty="0"/>
              <a:t>Delete</a:t>
            </a:r>
            <a:r>
              <a:rPr lang="zh-CN" altLang="en-US" dirty="0"/>
              <a:t>）</a:t>
            </a:r>
          </a:p>
          <a:p>
            <a:pPr lvl="1"/>
            <a:r>
              <a:rPr lang="zh-CN" altLang="en-US" dirty="0"/>
              <a:t>与</a:t>
            </a:r>
            <a:r>
              <a:rPr lang="en-US" altLang="zh-CN" dirty="0"/>
              <a:t>Update</a:t>
            </a:r>
            <a:r>
              <a:rPr lang="zh-CN" altLang="en-US" dirty="0"/>
              <a:t>操作一样，</a:t>
            </a:r>
            <a:r>
              <a:rPr lang="en-US" altLang="zh-CN" dirty="0"/>
              <a:t>Delete</a:t>
            </a:r>
            <a:r>
              <a:rPr lang="zh-CN" altLang="en-US" dirty="0"/>
              <a:t>只能应用于支持</a:t>
            </a:r>
            <a:r>
              <a:rPr lang="en-US" altLang="zh-CN" dirty="0"/>
              <a:t>ACID</a:t>
            </a:r>
            <a:r>
              <a:rPr lang="zh-CN" altLang="en-US" dirty="0"/>
              <a:t>的表中。其语法格式为：</a:t>
            </a:r>
          </a:p>
          <a:p>
            <a:pPr marL="400050" lvl="1" indent="0">
              <a:buNone/>
            </a:pPr>
            <a:r>
              <a:rPr lang="en-US" altLang="zh-CN" dirty="0"/>
              <a:t>DELETE FROM </a:t>
            </a:r>
            <a:r>
              <a:rPr lang="en-US" altLang="zh-CN" dirty="0" err="1"/>
              <a:t>tablename</a:t>
            </a:r>
            <a:r>
              <a:rPr lang="en-US" altLang="zh-CN" dirty="0"/>
              <a:t> [WHERE expression]</a:t>
            </a:r>
          </a:p>
          <a:p>
            <a:endParaRPr lang="zh-CN" altLang="en-US" dirty="0"/>
          </a:p>
        </p:txBody>
      </p:sp>
    </p:spTree>
    <p:extLst>
      <p:ext uri="{BB962C8B-B14F-4D97-AF65-F5344CB8AC3E}">
        <p14:creationId xmlns:p14="http://schemas.microsoft.com/office/powerpoint/2010/main" val="165317432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2AF1AE-CE77-4E24-87DD-20E4BB379C6F}"/>
              </a:ext>
            </a:extLst>
          </p:cNvPr>
          <p:cNvSpPr>
            <a:spLocks noGrp="1"/>
          </p:cNvSpPr>
          <p:nvPr>
            <p:ph type="title"/>
          </p:nvPr>
        </p:nvSpPr>
        <p:spPr/>
        <p:txBody>
          <a:bodyPr>
            <a:normAutofit fontScale="90000"/>
          </a:bodyPr>
          <a:lstStyle/>
          <a:p>
            <a:r>
              <a:rPr lang="en-US" altLang="zh-CN" dirty="0"/>
              <a:t>Hive</a:t>
            </a:r>
            <a:r>
              <a:rPr lang="zh-CN" altLang="en-US" dirty="0"/>
              <a:t>的数据操纵</a:t>
            </a:r>
            <a:r>
              <a:rPr lang="en-US" altLang="zh-CN" dirty="0"/>
              <a:t>--DML</a:t>
            </a:r>
            <a:endParaRPr lang="zh-CN" altLang="en-US" dirty="0"/>
          </a:p>
        </p:txBody>
      </p:sp>
      <p:sp>
        <p:nvSpPr>
          <p:cNvPr id="3" name="内容占位符 2">
            <a:extLst>
              <a:ext uri="{FF2B5EF4-FFF2-40B4-BE49-F238E27FC236}">
                <a16:creationId xmlns:a16="http://schemas.microsoft.com/office/drawing/2014/main" id="{C17849CB-11EE-428A-854D-1DB9F2C90CA9}"/>
              </a:ext>
            </a:extLst>
          </p:cNvPr>
          <p:cNvSpPr>
            <a:spLocks noGrp="1"/>
          </p:cNvSpPr>
          <p:nvPr>
            <p:ph idx="1"/>
          </p:nvPr>
        </p:nvSpPr>
        <p:spPr/>
        <p:txBody>
          <a:bodyPr>
            <a:normAutofit fontScale="62500" lnSpcReduction="20000"/>
          </a:bodyPr>
          <a:lstStyle/>
          <a:p>
            <a:r>
              <a:rPr lang="en-US" altLang="zh-CN" dirty="0"/>
              <a:t>7</a:t>
            </a:r>
            <a:r>
              <a:rPr lang="zh-CN" altLang="en-US" dirty="0"/>
              <a:t>．数据合并操作（</a:t>
            </a:r>
            <a:r>
              <a:rPr lang="en-US" altLang="zh-CN" dirty="0"/>
              <a:t>Merge</a:t>
            </a:r>
            <a:r>
              <a:rPr lang="zh-CN" altLang="en-US" dirty="0"/>
              <a:t>）</a:t>
            </a:r>
          </a:p>
          <a:p>
            <a:pPr lvl="1"/>
            <a:r>
              <a:rPr lang="zh-CN" altLang="en-US" dirty="0"/>
              <a:t>合并（</a:t>
            </a:r>
            <a:r>
              <a:rPr lang="en-US" altLang="zh-CN" dirty="0"/>
              <a:t>MERGE</a:t>
            </a:r>
            <a:r>
              <a:rPr lang="zh-CN" altLang="en-US" dirty="0"/>
              <a:t>）操作是指利用与源数据表的连接结果更新目标数据表的操作，该操作也仅可用于支持</a:t>
            </a:r>
            <a:r>
              <a:rPr lang="en-US" altLang="zh-CN" dirty="0"/>
              <a:t>ACID</a:t>
            </a:r>
            <a:r>
              <a:rPr lang="zh-CN" altLang="en-US" dirty="0"/>
              <a:t>的表上，其语法格式如下：</a:t>
            </a:r>
          </a:p>
          <a:p>
            <a:pPr marL="400050" lvl="1" indent="0">
              <a:buNone/>
            </a:pPr>
            <a:r>
              <a:rPr lang="en-US" altLang="zh-CN" dirty="0"/>
              <a:t>MERGE INTO &lt;target table&gt; AS T </a:t>
            </a:r>
          </a:p>
          <a:p>
            <a:pPr marL="400050" lvl="1" indent="0">
              <a:buNone/>
            </a:pPr>
            <a:r>
              <a:rPr lang="en-US" altLang="zh-CN" dirty="0"/>
              <a:t>USING &lt;source expression/table&gt; AS S ON &lt;</a:t>
            </a:r>
            <a:r>
              <a:rPr lang="en-US" altLang="zh-CN" dirty="0" err="1"/>
              <a:t>boolean</a:t>
            </a:r>
            <a:r>
              <a:rPr lang="en-US" altLang="zh-CN" dirty="0"/>
              <a:t> expression1&gt;</a:t>
            </a:r>
          </a:p>
          <a:p>
            <a:pPr marL="400050" lvl="1" indent="0">
              <a:buNone/>
            </a:pPr>
            <a:r>
              <a:rPr lang="en-US" altLang="zh-CN" dirty="0"/>
              <a:t>WHEN MATCHED [AND &lt;</a:t>
            </a:r>
            <a:r>
              <a:rPr lang="en-US" altLang="zh-CN" dirty="0" err="1"/>
              <a:t>boolean</a:t>
            </a:r>
            <a:r>
              <a:rPr lang="en-US" altLang="zh-CN" dirty="0"/>
              <a:t> expression2&gt;] </a:t>
            </a:r>
          </a:p>
          <a:p>
            <a:pPr marL="400050" lvl="1" indent="0">
              <a:buNone/>
            </a:pPr>
            <a:r>
              <a:rPr lang="en-US" altLang="zh-CN" dirty="0"/>
              <a:t>    THEN UPDATE SET &lt;set clause list&gt;</a:t>
            </a:r>
          </a:p>
          <a:p>
            <a:pPr marL="400050" lvl="1" indent="0">
              <a:buNone/>
            </a:pPr>
            <a:r>
              <a:rPr lang="en-US" altLang="zh-CN" dirty="0"/>
              <a:t>WHEN MATCHED [AND &lt;</a:t>
            </a:r>
            <a:r>
              <a:rPr lang="en-US" altLang="zh-CN" dirty="0" err="1"/>
              <a:t>boolean</a:t>
            </a:r>
            <a:r>
              <a:rPr lang="en-US" altLang="zh-CN" dirty="0"/>
              <a:t> expression3&gt;] </a:t>
            </a:r>
          </a:p>
          <a:p>
            <a:pPr marL="400050" lvl="1" indent="0">
              <a:buNone/>
            </a:pPr>
            <a:r>
              <a:rPr lang="en-US" altLang="zh-CN" dirty="0"/>
              <a:t>    THEN DELETE</a:t>
            </a:r>
          </a:p>
          <a:p>
            <a:pPr marL="400050" lvl="1" indent="0">
              <a:buNone/>
            </a:pPr>
            <a:r>
              <a:rPr lang="en-US" altLang="zh-CN" dirty="0"/>
              <a:t>WHEN NOT MATCHED [AND &lt;</a:t>
            </a:r>
            <a:r>
              <a:rPr lang="en-US" altLang="zh-CN" dirty="0" err="1"/>
              <a:t>boolean</a:t>
            </a:r>
            <a:r>
              <a:rPr lang="en-US" altLang="zh-CN" dirty="0"/>
              <a:t> expression4&gt;] THEN </a:t>
            </a:r>
          </a:p>
          <a:p>
            <a:pPr marL="400050" lvl="1" indent="0">
              <a:buNone/>
            </a:pPr>
            <a:r>
              <a:rPr lang="en-US" altLang="zh-CN" dirty="0"/>
              <a:t>    INSERT VALUES&lt;value list&gt;</a:t>
            </a:r>
          </a:p>
          <a:p>
            <a:endParaRPr lang="zh-CN" altLang="en-US" dirty="0"/>
          </a:p>
        </p:txBody>
      </p:sp>
    </p:spTree>
    <p:extLst>
      <p:ext uri="{BB962C8B-B14F-4D97-AF65-F5344CB8AC3E}">
        <p14:creationId xmlns:p14="http://schemas.microsoft.com/office/powerpoint/2010/main" val="219298224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38707" y="1178404"/>
            <a:ext cx="5236445" cy="1200329"/>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Hive</a:t>
            </a:r>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的数据检索</a:t>
            </a:r>
            <a:endParaRPr lang="en-US" altLang="zh-CN"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endParaRPr>
          </a:p>
          <a:p>
            <a:r>
              <a:rPr lang="en-US" altLang="zh-CN"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—Hive-QL</a:t>
            </a:r>
            <a:endPar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endParaRP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06</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106164580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4016" y="231490"/>
            <a:ext cx="8244408" cy="540060"/>
          </a:xfrm>
        </p:spPr>
        <p:txBody>
          <a:bodyPr>
            <a:normAutofit fontScale="90000"/>
          </a:bodyPr>
          <a:lstStyle/>
          <a:p>
            <a:r>
              <a:rPr lang="en-US" altLang="zh-CN" dirty="0"/>
              <a:t>Hive</a:t>
            </a:r>
            <a:r>
              <a:rPr lang="zh-CN" altLang="en-US" dirty="0"/>
              <a:t>的数据检索</a:t>
            </a:r>
            <a:r>
              <a:rPr lang="en-US" altLang="zh-CN" dirty="0"/>
              <a:t>—Hive-QL</a:t>
            </a:r>
          </a:p>
        </p:txBody>
      </p:sp>
      <p:sp>
        <p:nvSpPr>
          <p:cNvPr id="4" name="Rectangle 3"/>
          <p:cNvSpPr>
            <a:spLocks noGrp="1" noChangeArrowheads="1"/>
          </p:cNvSpPr>
          <p:nvPr>
            <p:ph idx="1"/>
          </p:nvPr>
        </p:nvSpPr>
        <p:spPr>
          <a:xfrm>
            <a:off x="457200" y="1167594"/>
            <a:ext cx="7715200" cy="3708411"/>
          </a:xfrm>
        </p:spPr>
        <p:txBody>
          <a:bodyPr>
            <a:normAutofit/>
          </a:bodyPr>
          <a:lstStyle/>
          <a:p>
            <a:r>
              <a:rPr lang="zh-CN" altLang="en-US" sz="2400" dirty="0"/>
              <a:t>在完成本小结内容前，我们新增两个数据表到数据库中，分别对应空气质量检测站点信息，以及站点采集数据的原始数据，其建表和数据导入过程请参考教科书。</a:t>
            </a:r>
            <a:endParaRPr lang="en-US" altLang="zh-CN" sz="2400" dirty="0"/>
          </a:p>
          <a:p>
            <a:r>
              <a:rPr lang="zh-CN" altLang="en-US" sz="2800" dirty="0">
                <a:ea typeface="宋体" pitchFamily="2" charset="-122"/>
              </a:rPr>
              <a:t>上述过程完成后，将会建立连个数据表（</a:t>
            </a:r>
            <a:r>
              <a:rPr lang="en-US" altLang="zh-CN" sz="2800" dirty="0" err="1"/>
              <a:t>tbl_sites</a:t>
            </a:r>
            <a:r>
              <a:rPr lang="zh-CN" altLang="en-US" sz="2800" dirty="0"/>
              <a:t>，</a:t>
            </a:r>
            <a:r>
              <a:rPr lang="en-US" altLang="zh-CN" sz="2800" dirty="0" err="1"/>
              <a:t>tbl_site_data</a:t>
            </a:r>
            <a:r>
              <a:rPr lang="zh-CN" altLang="en-US" sz="2800" dirty="0">
                <a:ea typeface="宋体" pitchFamily="2" charset="-122"/>
              </a:rPr>
              <a:t>），并且导入一定数量的数据。</a:t>
            </a:r>
            <a:endParaRPr lang="en-US" altLang="zh-CN" sz="2800" dirty="0">
              <a:ea typeface="宋体" pitchFamily="2" charset="-122"/>
            </a:endParaRPr>
          </a:p>
        </p:txBody>
      </p:sp>
    </p:spTree>
    <p:extLst>
      <p:ext uri="{BB962C8B-B14F-4D97-AF65-F5344CB8AC3E}">
        <p14:creationId xmlns:p14="http://schemas.microsoft.com/office/powerpoint/2010/main" val="425046366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7DB49D-1020-435D-810E-88C1DAAA32F2}"/>
              </a:ext>
            </a:extLst>
          </p:cNvPr>
          <p:cNvSpPr>
            <a:spLocks noGrp="1"/>
          </p:cNvSpPr>
          <p:nvPr>
            <p:ph type="title"/>
          </p:nvPr>
        </p:nvSpPr>
        <p:spPr/>
        <p:txBody>
          <a:bodyPr>
            <a:normAutofit fontScale="90000"/>
          </a:bodyPr>
          <a:lstStyle/>
          <a:p>
            <a:r>
              <a:rPr lang="en-US" altLang="zh-CN" dirty="0"/>
              <a:t>Hive</a:t>
            </a:r>
            <a:r>
              <a:rPr lang="zh-CN" altLang="en-US" dirty="0"/>
              <a:t>的数据检索</a:t>
            </a:r>
            <a:r>
              <a:rPr lang="en-US" altLang="zh-CN" dirty="0"/>
              <a:t>—Hive-QL</a:t>
            </a:r>
            <a:endParaRPr lang="zh-CN" altLang="en-US" dirty="0"/>
          </a:p>
        </p:txBody>
      </p:sp>
      <p:sp>
        <p:nvSpPr>
          <p:cNvPr id="3" name="内容占位符 2">
            <a:extLst>
              <a:ext uri="{FF2B5EF4-FFF2-40B4-BE49-F238E27FC236}">
                <a16:creationId xmlns:a16="http://schemas.microsoft.com/office/drawing/2014/main" id="{B50B528D-0FF6-4FBE-861D-3F42D8667EF6}"/>
              </a:ext>
            </a:extLst>
          </p:cNvPr>
          <p:cNvSpPr>
            <a:spLocks noGrp="1"/>
          </p:cNvSpPr>
          <p:nvPr>
            <p:ph idx="1"/>
          </p:nvPr>
        </p:nvSpPr>
        <p:spPr/>
        <p:txBody>
          <a:bodyPr>
            <a:normAutofit fontScale="77500" lnSpcReduction="20000"/>
          </a:bodyPr>
          <a:lstStyle/>
          <a:p>
            <a:r>
              <a:rPr lang="en-US" altLang="zh-CN" dirty="0"/>
              <a:t>Hive QL</a:t>
            </a:r>
            <a:r>
              <a:rPr lang="zh-CN" altLang="en-US" dirty="0"/>
              <a:t>提供数据检索的功能。其具体语法如下，</a:t>
            </a:r>
            <a:r>
              <a:rPr lang="en-US" altLang="zh-CN" dirty="0"/>
              <a:t>H-QL</a:t>
            </a:r>
            <a:r>
              <a:rPr lang="zh-CN" altLang="en-US" dirty="0"/>
              <a:t>中还提供了部分特有的检索功能，我们将结合该操作命令的语法进行介绍。</a:t>
            </a:r>
          </a:p>
          <a:p>
            <a:pPr marL="400050" lvl="1" indent="0">
              <a:buNone/>
            </a:pPr>
            <a:r>
              <a:rPr lang="en-US" altLang="zh-CN" dirty="0"/>
              <a:t>SELECT [ALL | DISTINCT] </a:t>
            </a:r>
            <a:r>
              <a:rPr lang="en-US" altLang="zh-CN" dirty="0" err="1"/>
              <a:t>select_expr</a:t>
            </a:r>
            <a:r>
              <a:rPr lang="en-US" altLang="zh-CN" dirty="0"/>
              <a:t>, </a:t>
            </a:r>
            <a:r>
              <a:rPr lang="en-US" altLang="zh-CN" dirty="0" err="1"/>
              <a:t>select_expr</a:t>
            </a:r>
            <a:r>
              <a:rPr lang="en-US" altLang="zh-CN" dirty="0"/>
              <a:t>, ...</a:t>
            </a:r>
          </a:p>
          <a:p>
            <a:pPr marL="400050" lvl="1" indent="0">
              <a:buNone/>
            </a:pPr>
            <a:r>
              <a:rPr lang="en-US" altLang="zh-CN" dirty="0"/>
              <a:t>  FROM </a:t>
            </a:r>
            <a:r>
              <a:rPr lang="en-US" altLang="zh-CN" dirty="0" err="1"/>
              <a:t>table_reference</a:t>
            </a:r>
            <a:endParaRPr lang="en-US" altLang="zh-CN" dirty="0"/>
          </a:p>
          <a:p>
            <a:pPr marL="400050" lvl="1" indent="0">
              <a:buNone/>
            </a:pPr>
            <a:r>
              <a:rPr lang="en-US" altLang="zh-CN" dirty="0"/>
              <a:t>  [WHERE </a:t>
            </a:r>
            <a:r>
              <a:rPr lang="en-US" altLang="zh-CN" dirty="0" err="1"/>
              <a:t>where_condition</a:t>
            </a:r>
            <a:r>
              <a:rPr lang="en-US" altLang="zh-CN" dirty="0"/>
              <a:t>]</a:t>
            </a:r>
          </a:p>
          <a:p>
            <a:pPr marL="400050" lvl="1" indent="0">
              <a:buNone/>
            </a:pPr>
            <a:r>
              <a:rPr lang="en-US" altLang="zh-CN" dirty="0"/>
              <a:t>  [GROUP BY </a:t>
            </a:r>
            <a:r>
              <a:rPr lang="en-US" altLang="zh-CN" dirty="0" err="1"/>
              <a:t>col_list</a:t>
            </a:r>
            <a:r>
              <a:rPr lang="en-US" altLang="zh-CN" dirty="0"/>
              <a:t>]</a:t>
            </a:r>
          </a:p>
          <a:p>
            <a:pPr marL="400050" lvl="1" indent="0">
              <a:buNone/>
            </a:pPr>
            <a:r>
              <a:rPr lang="en-US" altLang="zh-CN" dirty="0"/>
              <a:t>  [ORDER BY </a:t>
            </a:r>
            <a:r>
              <a:rPr lang="en-US" altLang="zh-CN" dirty="0" err="1"/>
              <a:t>col_list</a:t>
            </a:r>
            <a:r>
              <a:rPr lang="en-US" altLang="zh-CN" dirty="0"/>
              <a:t>]</a:t>
            </a:r>
          </a:p>
          <a:p>
            <a:pPr marL="400050" lvl="1" indent="0">
              <a:buNone/>
            </a:pPr>
            <a:r>
              <a:rPr lang="en-US" altLang="zh-CN" dirty="0"/>
              <a:t>  [CLUSTER BY </a:t>
            </a:r>
            <a:r>
              <a:rPr lang="en-US" altLang="zh-CN" dirty="0" err="1"/>
              <a:t>col_list</a:t>
            </a:r>
            <a:r>
              <a:rPr lang="en-US" altLang="zh-CN" dirty="0"/>
              <a:t> | [DISTRIBUTE BY </a:t>
            </a:r>
            <a:r>
              <a:rPr lang="en-US" altLang="zh-CN" dirty="0" err="1"/>
              <a:t>col_list</a:t>
            </a:r>
            <a:r>
              <a:rPr lang="en-US" altLang="zh-CN" dirty="0"/>
              <a:t>] [SORT BY </a:t>
            </a:r>
            <a:r>
              <a:rPr lang="en-US" altLang="zh-CN" dirty="0" err="1"/>
              <a:t>col_list</a:t>
            </a:r>
            <a:r>
              <a:rPr lang="en-US" altLang="zh-CN" dirty="0"/>
              <a:t>] ]</a:t>
            </a:r>
          </a:p>
          <a:p>
            <a:pPr marL="400050" lvl="1" indent="0">
              <a:buNone/>
            </a:pPr>
            <a:r>
              <a:rPr lang="en-US" altLang="zh-CN" dirty="0"/>
              <a:t>  [LIMIT [offset,] rows]</a:t>
            </a:r>
          </a:p>
          <a:p>
            <a:endParaRPr lang="zh-CN" altLang="en-US" dirty="0"/>
          </a:p>
        </p:txBody>
      </p:sp>
    </p:spTree>
    <p:extLst>
      <p:ext uri="{BB962C8B-B14F-4D97-AF65-F5344CB8AC3E}">
        <p14:creationId xmlns:p14="http://schemas.microsoft.com/office/powerpoint/2010/main" val="421706074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2C5F33-43A8-4AE1-9750-A53A68770BAF}"/>
              </a:ext>
            </a:extLst>
          </p:cNvPr>
          <p:cNvSpPr>
            <a:spLocks noGrp="1"/>
          </p:cNvSpPr>
          <p:nvPr>
            <p:ph type="title"/>
          </p:nvPr>
        </p:nvSpPr>
        <p:spPr/>
        <p:txBody>
          <a:bodyPr>
            <a:normAutofit fontScale="90000"/>
          </a:bodyPr>
          <a:lstStyle/>
          <a:p>
            <a:r>
              <a:rPr lang="en-US" altLang="zh-CN" dirty="0"/>
              <a:t>Hive</a:t>
            </a:r>
            <a:r>
              <a:rPr lang="zh-CN" altLang="en-US" dirty="0"/>
              <a:t>的数据检索</a:t>
            </a:r>
            <a:r>
              <a:rPr lang="en-US" altLang="zh-CN" dirty="0"/>
              <a:t>—Hive-QL</a:t>
            </a:r>
            <a:endParaRPr lang="zh-CN" altLang="en-US" dirty="0"/>
          </a:p>
        </p:txBody>
      </p:sp>
      <p:sp>
        <p:nvSpPr>
          <p:cNvPr id="3" name="内容占位符 2">
            <a:extLst>
              <a:ext uri="{FF2B5EF4-FFF2-40B4-BE49-F238E27FC236}">
                <a16:creationId xmlns:a16="http://schemas.microsoft.com/office/drawing/2014/main" id="{79CD8DEB-89E9-427B-998B-07D8DDF48538}"/>
              </a:ext>
            </a:extLst>
          </p:cNvPr>
          <p:cNvSpPr>
            <a:spLocks noGrp="1"/>
          </p:cNvSpPr>
          <p:nvPr>
            <p:ph idx="1"/>
          </p:nvPr>
        </p:nvSpPr>
        <p:spPr/>
        <p:txBody>
          <a:bodyPr>
            <a:normAutofit/>
          </a:bodyPr>
          <a:lstStyle/>
          <a:p>
            <a:r>
              <a:rPr lang="zh-CN" altLang="en-US" dirty="0"/>
              <a:t>（</a:t>
            </a:r>
            <a:r>
              <a:rPr lang="en-US" altLang="zh-CN" dirty="0"/>
              <a:t>1</a:t>
            </a:r>
            <a:r>
              <a:rPr lang="zh-CN" altLang="en-US" dirty="0"/>
              <a:t>）</a:t>
            </a:r>
            <a:r>
              <a:rPr lang="en-US" altLang="zh-CN" dirty="0"/>
              <a:t>SELECT FROM</a:t>
            </a:r>
          </a:p>
          <a:p>
            <a:pPr lvl="1"/>
            <a:r>
              <a:rPr lang="zh-CN" altLang="en-US" dirty="0"/>
              <a:t>关于</a:t>
            </a:r>
            <a:r>
              <a:rPr lang="en-US" altLang="zh-CN" dirty="0"/>
              <a:t>SELECT</a:t>
            </a:r>
            <a:r>
              <a:rPr lang="zh-CN" altLang="en-US" dirty="0"/>
              <a:t>检索，其中的</a:t>
            </a:r>
            <a:r>
              <a:rPr lang="en-US" altLang="zh-CN" dirty="0"/>
              <a:t>FROM </a:t>
            </a:r>
            <a:r>
              <a:rPr lang="en-US" altLang="zh-CN" dirty="0" err="1"/>
              <a:t>table_reference</a:t>
            </a:r>
            <a:r>
              <a:rPr lang="zh-CN" altLang="en-US" dirty="0"/>
              <a:t>表示查询操作的输入表，这些输入除了一般的数据表外，还可以是一个视图、一个</a:t>
            </a:r>
            <a:r>
              <a:rPr lang="en-US" altLang="zh-CN" dirty="0"/>
              <a:t>join</a:t>
            </a:r>
            <a:r>
              <a:rPr lang="zh-CN" altLang="en-US" dirty="0"/>
              <a:t>构造，或者一个子查询。需要注意的是，</a:t>
            </a:r>
            <a:r>
              <a:rPr lang="en-US" altLang="zh-CN" dirty="0"/>
              <a:t>Hive</a:t>
            </a:r>
            <a:r>
              <a:rPr lang="zh-CN" altLang="en-US" dirty="0"/>
              <a:t>查询语句中的表名和列名是大小写相关的。</a:t>
            </a:r>
          </a:p>
          <a:p>
            <a:endParaRPr lang="zh-CN" altLang="en-US" dirty="0"/>
          </a:p>
        </p:txBody>
      </p:sp>
    </p:spTree>
    <p:extLst>
      <p:ext uri="{BB962C8B-B14F-4D97-AF65-F5344CB8AC3E}">
        <p14:creationId xmlns:p14="http://schemas.microsoft.com/office/powerpoint/2010/main" val="136964508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AEAAAF-B1FF-4116-B5AE-75F3F633BE29}"/>
              </a:ext>
            </a:extLst>
          </p:cNvPr>
          <p:cNvSpPr>
            <a:spLocks noGrp="1"/>
          </p:cNvSpPr>
          <p:nvPr>
            <p:ph type="title"/>
          </p:nvPr>
        </p:nvSpPr>
        <p:spPr/>
        <p:txBody>
          <a:bodyPr>
            <a:normAutofit fontScale="90000"/>
          </a:bodyPr>
          <a:lstStyle/>
          <a:p>
            <a:r>
              <a:rPr lang="en-US" altLang="zh-CN" dirty="0"/>
              <a:t>Hive</a:t>
            </a:r>
            <a:r>
              <a:rPr lang="zh-CN" altLang="en-US" dirty="0"/>
              <a:t>的数据检索</a:t>
            </a:r>
            <a:r>
              <a:rPr lang="en-US" altLang="zh-CN" dirty="0"/>
              <a:t>—Hive-QL</a:t>
            </a:r>
            <a:endParaRPr lang="zh-CN" altLang="en-US" dirty="0"/>
          </a:p>
        </p:txBody>
      </p:sp>
      <p:sp>
        <p:nvSpPr>
          <p:cNvPr id="3" name="内容占位符 2">
            <a:extLst>
              <a:ext uri="{FF2B5EF4-FFF2-40B4-BE49-F238E27FC236}">
                <a16:creationId xmlns:a16="http://schemas.microsoft.com/office/drawing/2014/main" id="{F25F6D7C-1394-415C-A8E0-FD2EA7AB8543}"/>
              </a:ext>
            </a:extLst>
          </p:cNvPr>
          <p:cNvSpPr>
            <a:spLocks noGrp="1"/>
          </p:cNvSpPr>
          <p:nvPr>
            <p:ph idx="1"/>
          </p:nvPr>
        </p:nvSpPr>
        <p:spPr/>
        <p:txBody>
          <a:bodyPr/>
          <a:lstStyle/>
          <a:p>
            <a:r>
              <a:rPr lang="zh-CN" altLang="en-US" dirty="0"/>
              <a:t>如下检索只返回</a:t>
            </a:r>
            <a:r>
              <a:rPr lang="en-US" altLang="zh-CN" dirty="0"/>
              <a:t>PM2.5</a:t>
            </a:r>
            <a:r>
              <a:rPr lang="zh-CN" altLang="en-US" dirty="0"/>
              <a:t>的相关测量数值，并指定了返回列。</a:t>
            </a:r>
          </a:p>
        </p:txBody>
      </p:sp>
      <p:pic>
        <p:nvPicPr>
          <p:cNvPr id="4" name="图片 3">
            <a:extLst>
              <a:ext uri="{FF2B5EF4-FFF2-40B4-BE49-F238E27FC236}">
                <a16:creationId xmlns:a16="http://schemas.microsoft.com/office/drawing/2014/main" id="{FF1D7C1C-4E94-4545-917A-BD51F17203DB}"/>
              </a:ext>
            </a:extLst>
          </p:cNvPr>
          <p:cNvPicPr>
            <a:picLocks noChangeAspect="1"/>
          </p:cNvPicPr>
          <p:nvPr/>
        </p:nvPicPr>
        <p:blipFill>
          <a:blip r:embed="rId2"/>
          <a:stretch>
            <a:fillRect/>
          </a:stretch>
        </p:blipFill>
        <p:spPr>
          <a:xfrm>
            <a:off x="0" y="2285353"/>
            <a:ext cx="9144000" cy="2624166"/>
          </a:xfrm>
          <a:prstGeom prst="rect">
            <a:avLst/>
          </a:prstGeom>
        </p:spPr>
      </p:pic>
    </p:spTree>
    <p:extLst>
      <p:ext uri="{BB962C8B-B14F-4D97-AF65-F5344CB8AC3E}">
        <p14:creationId xmlns:p14="http://schemas.microsoft.com/office/powerpoint/2010/main" val="55185465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0BFC6F-B746-478A-8185-F3C065440C75}"/>
              </a:ext>
            </a:extLst>
          </p:cNvPr>
          <p:cNvSpPr>
            <a:spLocks noGrp="1"/>
          </p:cNvSpPr>
          <p:nvPr>
            <p:ph type="title"/>
          </p:nvPr>
        </p:nvSpPr>
        <p:spPr/>
        <p:txBody>
          <a:bodyPr>
            <a:normAutofit fontScale="90000"/>
          </a:bodyPr>
          <a:lstStyle/>
          <a:p>
            <a:r>
              <a:rPr lang="en-US" altLang="zh-CN" dirty="0"/>
              <a:t>Hive</a:t>
            </a:r>
            <a:r>
              <a:rPr lang="zh-CN" altLang="en-US" dirty="0"/>
              <a:t>的数据检索</a:t>
            </a:r>
            <a:r>
              <a:rPr lang="en-US" altLang="zh-CN" dirty="0"/>
              <a:t>—Hive-QL</a:t>
            </a:r>
            <a:endParaRPr lang="zh-CN" altLang="en-US" dirty="0"/>
          </a:p>
        </p:txBody>
      </p:sp>
      <p:sp>
        <p:nvSpPr>
          <p:cNvPr id="3" name="内容占位符 2">
            <a:extLst>
              <a:ext uri="{FF2B5EF4-FFF2-40B4-BE49-F238E27FC236}">
                <a16:creationId xmlns:a16="http://schemas.microsoft.com/office/drawing/2014/main" id="{241174E5-BCD2-4340-A1EA-75F12A95CB3F}"/>
              </a:ext>
            </a:extLst>
          </p:cNvPr>
          <p:cNvSpPr>
            <a:spLocks noGrp="1"/>
          </p:cNvSpPr>
          <p:nvPr>
            <p:ph idx="1"/>
          </p:nvPr>
        </p:nvSpPr>
        <p:spPr>
          <a:xfrm>
            <a:off x="457200" y="1200151"/>
            <a:ext cx="8229600" cy="1587623"/>
          </a:xfrm>
        </p:spPr>
        <p:txBody>
          <a:bodyPr>
            <a:normAutofit fontScale="85000" lnSpcReduction="20000"/>
          </a:bodyPr>
          <a:lstStyle/>
          <a:p>
            <a:r>
              <a:rPr lang="zh-CN" altLang="en-US" dirty="0"/>
              <a:t>（</a:t>
            </a:r>
            <a:r>
              <a:rPr lang="en-US" altLang="zh-CN" dirty="0"/>
              <a:t>2</a:t>
            </a:r>
            <a:r>
              <a:rPr lang="zh-CN" altLang="en-US" dirty="0"/>
              <a:t>）</a:t>
            </a:r>
            <a:r>
              <a:rPr lang="en-US" altLang="zh-CN" dirty="0"/>
              <a:t>WHERE</a:t>
            </a:r>
          </a:p>
          <a:p>
            <a:pPr lvl="1"/>
            <a:r>
              <a:rPr lang="en-US" altLang="zh-CN" dirty="0"/>
              <a:t>WHERE</a:t>
            </a:r>
            <a:r>
              <a:rPr lang="zh-CN" altLang="en-US" dirty="0"/>
              <a:t>表示查询条件，其后连接的是一个布尔表达式，</a:t>
            </a:r>
            <a:endParaRPr lang="en-US" altLang="zh-CN" dirty="0"/>
          </a:p>
          <a:p>
            <a:r>
              <a:rPr lang="zh-CN" altLang="en-US" dirty="0"/>
              <a:t>例如如下查询将会返回数据表</a:t>
            </a:r>
            <a:r>
              <a:rPr lang="en-US" altLang="zh-CN" dirty="0" err="1"/>
              <a:t>tbl_sites</a:t>
            </a:r>
            <a:r>
              <a:rPr lang="zh-CN" altLang="en-US" dirty="0"/>
              <a:t>中所有经度大于</a:t>
            </a:r>
            <a:r>
              <a:rPr lang="en-US" altLang="zh-CN" dirty="0"/>
              <a:t>130</a:t>
            </a:r>
            <a:r>
              <a:rPr lang="zh-CN" altLang="en-US" dirty="0"/>
              <a:t>的检测站点。</a:t>
            </a:r>
          </a:p>
          <a:p>
            <a:endParaRPr lang="zh-CN" altLang="en-US" dirty="0"/>
          </a:p>
        </p:txBody>
      </p:sp>
      <p:pic>
        <p:nvPicPr>
          <p:cNvPr id="4" name="图片 3">
            <a:extLst>
              <a:ext uri="{FF2B5EF4-FFF2-40B4-BE49-F238E27FC236}">
                <a16:creationId xmlns:a16="http://schemas.microsoft.com/office/drawing/2014/main" id="{8B53003A-7606-4B59-81BA-C8A97D49270F}"/>
              </a:ext>
            </a:extLst>
          </p:cNvPr>
          <p:cNvPicPr>
            <a:picLocks noChangeAspect="1"/>
          </p:cNvPicPr>
          <p:nvPr/>
        </p:nvPicPr>
        <p:blipFill>
          <a:blip r:embed="rId2"/>
          <a:stretch>
            <a:fillRect/>
          </a:stretch>
        </p:blipFill>
        <p:spPr>
          <a:xfrm>
            <a:off x="0" y="2859782"/>
            <a:ext cx="9144000" cy="1797602"/>
          </a:xfrm>
          <a:prstGeom prst="rect">
            <a:avLst/>
          </a:prstGeom>
        </p:spPr>
      </p:pic>
    </p:spTree>
    <p:extLst>
      <p:ext uri="{BB962C8B-B14F-4D97-AF65-F5344CB8AC3E}">
        <p14:creationId xmlns:p14="http://schemas.microsoft.com/office/powerpoint/2010/main" val="95763096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57E105-07BA-4740-A89D-3138D880096B}"/>
              </a:ext>
            </a:extLst>
          </p:cNvPr>
          <p:cNvSpPr>
            <a:spLocks noGrp="1"/>
          </p:cNvSpPr>
          <p:nvPr>
            <p:ph type="title"/>
          </p:nvPr>
        </p:nvSpPr>
        <p:spPr/>
        <p:txBody>
          <a:bodyPr>
            <a:normAutofit fontScale="90000"/>
          </a:bodyPr>
          <a:lstStyle/>
          <a:p>
            <a:r>
              <a:rPr lang="en-US" altLang="zh-CN" dirty="0"/>
              <a:t>Hive</a:t>
            </a:r>
            <a:r>
              <a:rPr lang="zh-CN" altLang="en-US" dirty="0"/>
              <a:t>的数据检索</a:t>
            </a:r>
            <a:r>
              <a:rPr lang="en-US" altLang="zh-CN" dirty="0"/>
              <a:t>—Hive-QL</a:t>
            </a:r>
            <a:endParaRPr lang="zh-CN" altLang="en-US" dirty="0"/>
          </a:p>
        </p:txBody>
      </p:sp>
      <p:sp>
        <p:nvSpPr>
          <p:cNvPr id="3" name="内容占位符 2">
            <a:extLst>
              <a:ext uri="{FF2B5EF4-FFF2-40B4-BE49-F238E27FC236}">
                <a16:creationId xmlns:a16="http://schemas.microsoft.com/office/drawing/2014/main" id="{ACE59C87-B4DF-417F-B7CF-54C229505F5E}"/>
              </a:ext>
            </a:extLst>
          </p:cNvPr>
          <p:cNvSpPr>
            <a:spLocks noGrp="1"/>
          </p:cNvSpPr>
          <p:nvPr>
            <p:ph idx="1"/>
          </p:nvPr>
        </p:nvSpPr>
        <p:spPr/>
        <p:txBody>
          <a:bodyPr>
            <a:normAutofit fontScale="85000" lnSpcReduction="20000"/>
          </a:bodyPr>
          <a:lstStyle/>
          <a:p>
            <a:r>
              <a:rPr lang="zh-CN" altLang="en-US" dirty="0"/>
              <a:t>在</a:t>
            </a:r>
            <a:r>
              <a:rPr lang="en-US" altLang="zh-CN" dirty="0"/>
              <a:t>Hive</a:t>
            </a:r>
            <a:r>
              <a:rPr lang="zh-CN" altLang="en-US" dirty="0"/>
              <a:t>中，</a:t>
            </a:r>
            <a:r>
              <a:rPr lang="en-US" altLang="zh-CN" dirty="0"/>
              <a:t>WHERE</a:t>
            </a:r>
            <a:r>
              <a:rPr lang="zh-CN" altLang="en-US" dirty="0"/>
              <a:t>子句中还支持子查询的应用。</a:t>
            </a:r>
            <a:r>
              <a:rPr lang="en-US" altLang="zh-CN" dirty="0"/>
              <a:t>WHERE</a:t>
            </a:r>
            <a:r>
              <a:rPr lang="zh-CN" altLang="en-US" dirty="0"/>
              <a:t>中的子查询需要结合</a:t>
            </a:r>
            <a:r>
              <a:rPr lang="en-US" altLang="zh-CN" dirty="0"/>
              <a:t>IN/NOT IN</a:t>
            </a:r>
            <a:r>
              <a:rPr lang="zh-CN" altLang="en-US" dirty="0"/>
              <a:t>，</a:t>
            </a:r>
            <a:r>
              <a:rPr lang="en-US" altLang="zh-CN" dirty="0"/>
              <a:t>EXISTS/NOT EXISTS</a:t>
            </a:r>
            <a:r>
              <a:rPr lang="zh-CN" altLang="en-US" dirty="0"/>
              <a:t>使用，</a:t>
            </a:r>
            <a:r>
              <a:rPr lang="en-US" altLang="zh-CN" dirty="0"/>
              <a:t>IN/NOT IN</a:t>
            </a:r>
            <a:r>
              <a:rPr lang="zh-CN" altLang="en-US" dirty="0"/>
              <a:t>需要选择一个单个的数据列，用来查看数据是否在所选择列的数据集中；而</a:t>
            </a:r>
            <a:r>
              <a:rPr lang="en-US" altLang="zh-CN" dirty="0"/>
              <a:t>EXTSTS/NOT EXISTS</a:t>
            </a:r>
            <a:r>
              <a:rPr lang="zh-CN" altLang="en-US" dirty="0"/>
              <a:t>则无须选择单个数据列，其判断依据是子查询返回结果是否为空。</a:t>
            </a:r>
            <a:endParaRPr lang="en-US" altLang="zh-CN" dirty="0"/>
          </a:p>
          <a:p>
            <a:r>
              <a:rPr lang="zh-CN" altLang="en-US" dirty="0"/>
              <a:t>下面是一个简单的带子查询的检索，该检索选择所有站点经度大于</a:t>
            </a:r>
            <a:r>
              <a:rPr lang="en-US" altLang="zh-CN" dirty="0"/>
              <a:t>100</a:t>
            </a:r>
            <a:r>
              <a:rPr lang="zh-CN" altLang="en-US" dirty="0"/>
              <a:t>度区域的站点监测数据，并输出站点监测数据、站点编号等信息。</a:t>
            </a:r>
          </a:p>
        </p:txBody>
      </p:sp>
    </p:spTree>
    <p:extLst>
      <p:ext uri="{BB962C8B-B14F-4D97-AF65-F5344CB8AC3E}">
        <p14:creationId xmlns:p14="http://schemas.microsoft.com/office/powerpoint/2010/main" val="293003433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1CA3C2-B73A-4EEF-9D24-2F93DED6D45B}"/>
              </a:ext>
            </a:extLst>
          </p:cNvPr>
          <p:cNvSpPr>
            <a:spLocks noGrp="1"/>
          </p:cNvSpPr>
          <p:nvPr>
            <p:ph type="title"/>
          </p:nvPr>
        </p:nvSpPr>
        <p:spPr/>
        <p:txBody>
          <a:bodyPr>
            <a:normAutofit fontScale="90000"/>
          </a:bodyPr>
          <a:lstStyle/>
          <a:p>
            <a:r>
              <a:rPr lang="en-US" altLang="zh-CN" dirty="0"/>
              <a:t>Hive</a:t>
            </a:r>
            <a:r>
              <a:rPr lang="zh-CN" altLang="en-US" dirty="0"/>
              <a:t>的数据检索</a:t>
            </a:r>
            <a:r>
              <a:rPr lang="en-US" altLang="zh-CN" dirty="0"/>
              <a:t>—Hive-QL</a:t>
            </a:r>
            <a:endParaRPr lang="zh-CN" altLang="en-US" dirty="0"/>
          </a:p>
        </p:txBody>
      </p:sp>
      <p:sp>
        <p:nvSpPr>
          <p:cNvPr id="3" name="内容占位符 2">
            <a:extLst>
              <a:ext uri="{FF2B5EF4-FFF2-40B4-BE49-F238E27FC236}">
                <a16:creationId xmlns:a16="http://schemas.microsoft.com/office/drawing/2014/main" id="{CF08A636-D69B-4AB6-B7A3-62935EEF0854}"/>
              </a:ext>
            </a:extLst>
          </p:cNvPr>
          <p:cNvSpPr>
            <a:spLocks noGrp="1"/>
          </p:cNvSpPr>
          <p:nvPr>
            <p:ph idx="1"/>
          </p:nvPr>
        </p:nvSpPr>
        <p:spPr/>
        <p:txBody>
          <a:bodyPr/>
          <a:lstStyle/>
          <a:p>
            <a:endParaRPr lang="zh-CN" altLang="en-US" dirty="0"/>
          </a:p>
        </p:txBody>
      </p:sp>
      <p:pic>
        <p:nvPicPr>
          <p:cNvPr id="4" name="图片 3">
            <a:extLst>
              <a:ext uri="{FF2B5EF4-FFF2-40B4-BE49-F238E27FC236}">
                <a16:creationId xmlns:a16="http://schemas.microsoft.com/office/drawing/2014/main" id="{62B78B56-A351-4E9E-9B6F-37F2D1CD4038}"/>
              </a:ext>
            </a:extLst>
          </p:cNvPr>
          <p:cNvPicPr>
            <a:picLocks noChangeAspect="1"/>
          </p:cNvPicPr>
          <p:nvPr/>
        </p:nvPicPr>
        <p:blipFill>
          <a:blip r:embed="rId2"/>
          <a:stretch>
            <a:fillRect/>
          </a:stretch>
        </p:blipFill>
        <p:spPr>
          <a:xfrm>
            <a:off x="0" y="1367684"/>
            <a:ext cx="9144000" cy="3226939"/>
          </a:xfrm>
          <a:prstGeom prst="rect">
            <a:avLst/>
          </a:prstGeom>
        </p:spPr>
      </p:pic>
    </p:spTree>
    <p:extLst>
      <p:ext uri="{BB962C8B-B14F-4D97-AF65-F5344CB8AC3E}">
        <p14:creationId xmlns:p14="http://schemas.microsoft.com/office/powerpoint/2010/main" val="210487806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B573B0-5471-4088-A079-9BE99D5E50DE}"/>
              </a:ext>
            </a:extLst>
          </p:cNvPr>
          <p:cNvSpPr>
            <a:spLocks noGrp="1"/>
          </p:cNvSpPr>
          <p:nvPr>
            <p:ph type="title"/>
          </p:nvPr>
        </p:nvSpPr>
        <p:spPr/>
        <p:txBody>
          <a:bodyPr>
            <a:normAutofit fontScale="90000"/>
          </a:bodyPr>
          <a:lstStyle/>
          <a:p>
            <a:r>
              <a:rPr lang="en-US" altLang="zh-CN" dirty="0"/>
              <a:t>Hive</a:t>
            </a:r>
            <a:r>
              <a:rPr lang="zh-CN" altLang="en-US" dirty="0"/>
              <a:t>的数据检索</a:t>
            </a:r>
            <a:r>
              <a:rPr lang="en-US" altLang="zh-CN" dirty="0"/>
              <a:t>—Hive-QL</a:t>
            </a:r>
            <a:endParaRPr lang="zh-CN" altLang="en-US" dirty="0"/>
          </a:p>
        </p:txBody>
      </p:sp>
      <p:sp>
        <p:nvSpPr>
          <p:cNvPr id="3" name="内容占位符 2">
            <a:extLst>
              <a:ext uri="{FF2B5EF4-FFF2-40B4-BE49-F238E27FC236}">
                <a16:creationId xmlns:a16="http://schemas.microsoft.com/office/drawing/2014/main" id="{A032DF12-7733-47B1-8167-54C1FE905B23}"/>
              </a:ext>
            </a:extLst>
          </p:cNvPr>
          <p:cNvSpPr>
            <a:spLocks noGrp="1"/>
          </p:cNvSpPr>
          <p:nvPr>
            <p:ph idx="1"/>
          </p:nvPr>
        </p:nvSpPr>
        <p:spPr/>
        <p:txBody>
          <a:bodyPr>
            <a:normAutofit fontScale="77500" lnSpcReduction="20000"/>
          </a:bodyPr>
          <a:lstStyle/>
          <a:p>
            <a:r>
              <a:rPr lang="zh-CN" altLang="en-US" dirty="0"/>
              <a:t>（</a:t>
            </a:r>
            <a:r>
              <a:rPr lang="en-US" altLang="zh-CN" dirty="0"/>
              <a:t>3</a:t>
            </a:r>
            <a:r>
              <a:rPr lang="zh-CN" altLang="en-US" dirty="0"/>
              <a:t>）</a:t>
            </a:r>
            <a:r>
              <a:rPr lang="en-US" altLang="zh-CN" dirty="0"/>
              <a:t>ALL</a:t>
            </a:r>
            <a:r>
              <a:rPr lang="zh-CN" altLang="en-US" dirty="0"/>
              <a:t>和</a:t>
            </a:r>
            <a:r>
              <a:rPr lang="en-US" altLang="zh-CN" dirty="0"/>
              <a:t>DISTINCT</a:t>
            </a:r>
          </a:p>
          <a:p>
            <a:pPr lvl="1"/>
            <a:r>
              <a:rPr lang="en-US" altLang="zh-CN" dirty="0"/>
              <a:t>ALL</a:t>
            </a:r>
            <a:r>
              <a:rPr lang="zh-CN" altLang="en-US" dirty="0"/>
              <a:t>和</a:t>
            </a:r>
            <a:r>
              <a:rPr lang="en-US" altLang="zh-CN" dirty="0"/>
              <a:t>DISTINCT</a:t>
            </a:r>
            <a:r>
              <a:rPr lang="zh-CN" altLang="en-US" dirty="0"/>
              <a:t>用于说明返回值中重复行的数据处理方式。</a:t>
            </a:r>
            <a:r>
              <a:rPr lang="en-US" altLang="zh-CN" dirty="0"/>
              <a:t>ALL</a:t>
            </a:r>
            <a:r>
              <a:rPr lang="zh-CN" altLang="en-US" dirty="0"/>
              <a:t>为缺省情况，其表示返回所有数据行；而</a:t>
            </a:r>
            <a:r>
              <a:rPr lang="en-US" altLang="zh-CN" dirty="0"/>
              <a:t>DISTINCT</a:t>
            </a:r>
            <a:r>
              <a:rPr lang="zh-CN" altLang="en-US" dirty="0"/>
              <a:t>则需要进一步过滤，消除重复行数据。</a:t>
            </a:r>
          </a:p>
          <a:p>
            <a:r>
              <a:rPr lang="zh-CN" altLang="en-US" dirty="0"/>
              <a:t>（</a:t>
            </a:r>
            <a:r>
              <a:rPr lang="en-US" altLang="zh-CN" dirty="0"/>
              <a:t>4</a:t>
            </a:r>
            <a:r>
              <a:rPr lang="zh-CN" altLang="en-US" dirty="0"/>
              <a:t>）基于分区的检索</a:t>
            </a:r>
          </a:p>
          <a:p>
            <a:pPr lvl="1"/>
            <a:r>
              <a:rPr lang="zh-CN" altLang="en-US" dirty="0"/>
              <a:t>一般情况下，</a:t>
            </a:r>
            <a:r>
              <a:rPr lang="en-US" altLang="zh-CN" dirty="0"/>
              <a:t>SELECT</a:t>
            </a:r>
            <a:r>
              <a:rPr lang="zh-CN" altLang="en-US" dirty="0"/>
              <a:t>查询会扫描整个数据表。若一个</a:t>
            </a:r>
            <a:r>
              <a:rPr lang="en-US" altLang="zh-CN" dirty="0"/>
              <a:t>Hive</a:t>
            </a:r>
            <a:r>
              <a:rPr lang="zh-CN" altLang="en-US" dirty="0"/>
              <a:t>的数据表包含分区，那么</a:t>
            </a:r>
            <a:r>
              <a:rPr lang="en-US" altLang="zh-CN" dirty="0"/>
              <a:t>SELECT</a:t>
            </a:r>
            <a:r>
              <a:rPr lang="zh-CN" altLang="en-US" dirty="0"/>
              <a:t>检索有可能无须检索整个数据表，而只检索数据表的部分分区便可完成查询操作。</a:t>
            </a:r>
            <a:r>
              <a:rPr lang="en-US" altLang="zh-CN" dirty="0"/>
              <a:t>Hive</a:t>
            </a:r>
            <a:r>
              <a:rPr lang="zh-CN" altLang="en-US" dirty="0"/>
              <a:t>支持分区探测，也就是说会利用分区谓词与</a:t>
            </a:r>
            <a:r>
              <a:rPr lang="en-US" altLang="zh-CN" dirty="0"/>
              <a:t>WHERE</a:t>
            </a:r>
            <a:r>
              <a:rPr lang="zh-CN" altLang="en-US" dirty="0"/>
              <a:t>子句，或者与</a:t>
            </a:r>
            <a:r>
              <a:rPr lang="en-US" altLang="zh-CN" dirty="0"/>
              <a:t>JOIN</a:t>
            </a:r>
            <a:r>
              <a:rPr lang="zh-CN" altLang="en-US" dirty="0"/>
              <a:t>中的</a:t>
            </a:r>
            <a:r>
              <a:rPr lang="en-US" altLang="zh-CN" dirty="0"/>
              <a:t>ON</a:t>
            </a:r>
            <a:r>
              <a:rPr lang="zh-CN" altLang="en-US" dirty="0"/>
              <a:t>子句进行综合判断，从而避免没有必要的分区数据检索。</a:t>
            </a:r>
          </a:p>
          <a:p>
            <a:endParaRPr lang="zh-CN" altLang="en-US" dirty="0"/>
          </a:p>
        </p:txBody>
      </p:sp>
    </p:spTree>
    <p:extLst>
      <p:ext uri="{BB962C8B-B14F-4D97-AF65-F5344CB8AC3E}">
        <p14:creationId xmlns:p14="http://schemas.microsoft.com/office/powerpoint/2010/main" val="6821976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680BF6-0436-4BB8-9C8B-3913CB791346}"/>
              </a:ext>
            </a:extLst>
          </p:cNvPr>
          <p:cNvSpPr>
            <a:spLocks noGrp="1"/>
          </p:cNvSpPr>
          <p:nvPr>
            <p:ph type="title"/>
          </p:nvPr>
        </p:nvSpPr>
        <p:spPr/>
        <p:txBody>
          <a:bodyPr>
            <a:normAutofit fontScale="90000"/>
          </a:bodyPr>
          <a:lstStyle/>
          <a:p>
            <a:r>
              <a:rPr lang="en-US" altLang="zh-CN" dirty="0"/>
              <a:t>Hive</a:t>
            </a:r>
            <a:r>
              <a:rPr lang="zh-CN" altLang="en-US" dirty="0"/>
              <a:t>的数据检索</a:t>
            </a:r>
            <a:r>
              <a:rPr lang="en-US" altLang="zh-CN" dirty="0"/>
              <a:t>—Hive-QL</a:t>
            </a:r>
            <a:endParaRPr lang="zh-CN" altLang="en-US" dirty="0"/>
          </a:p>
        </p:txBody>
      </p:sp>
      <p:sp>
        <p:nvSpPr>
          <p:cNvPr id="3" name="内容占位符 2">
            <a:extLst>
              <a:ext uri="{FF2B5EF4-FFF2-40B4-BE49-F238E27FC236}">
                <a16:creationId xmlns:a16="http://schemas.microsoft.com/office/drawing/2014/main" id="{C1D91AC3-DBB6-4137-9CC8-20B226AE52C1}"/>
              </a:ext>
            </a:extLst>
          </p:cNvPr>
          <p:cNvSpPr>
            <a:spLocks noGrp="1"/>
          </p:cNvSpPr>
          <p:nvPr>
            <p:ph idx="1"/>
          </p:nvPr>
        </p:nvSpPr>
        <p:spPr/>
        <p:txBody>
          <a:bodyPr>
            <a:normAutofit fontScale="92500" lnSpcReduction="20000"/>
          </a:bodyPr>
          <a:lstStyle/>
          <a:p>
            <a:r>
              <a:rPr lang="zh-CN" altLang="en-US" dirty="0"/>
              <a:t>（</a:t>
            </a:r>
            <a:r>
              <a:rPr lang="en-US" altLang="zh-CN" dirty="0"/>
              <a:t>5</a:t>
            </a:r>
            <a:r>
              <a:rPr lang="zh-CN" altLang="en-US" dirty="0"/>
              <a:t>）</a:t>
            </a:r>
            <a:r>
              <a:rPr lang="en-US" altLang="zh-CN" dirty="0"/>
              <a:t>GROUP BY</a:t>
            </a:r>
            <a:r>
              <a:rPr lang="zh-CN" altLang="en-US" dirty="0"/>
              <a:t>与</a:t>
            </a:r>
            <a:r>
              <a:rPr lang="en-US" altLang="zh-CN" dirty="0"/>
              <a:t>HAVING</a:t>
            </a:r>
            <a:r>
              <a:rPr lang="zh-CN" altLang="en-US" dirty="0"/>
              <a:t>子句</a:t>
            </a:r>
          </a:p>
          <a:p>
            <a:pPr lvl="1"/>
            <a:r>
              <a:rPr lang="en-US" altLang="zh-CN" dirty="0"/>
              <a:t>GROUP BY</a:t>
            </a:r>
            <a:r>
              <a:rPr lang="zh-CN" altLang="en-US" dirty="0"/>
              <a:t>子句用于设定检索数据分组依据，该子句通常用于查询聚合数据结果，例如查询数据的平均值、求和、或者求分组元素个数等。</a:t>
            </a:r>
            <a:r>
              <a:rPr lang="en-US" altLang="zh-CN" dirty="0"/>
              <a:t>GROUP BY</a:t>
            </a:r>
            <a:r>
              <a:rPr lang="zh-CN" altLang="en-US" dirty="0"/>
              <a:t>子句语法定义如下，其分组表达式用于设定具体的分组依据，通常情况下是数据列名，或者列名的表达式。</a:t>
            </a:r>
          </a:p>
          <a:p>
            <a:pPr marL="400050" lvl="1" indent="0">
              <a:buNone/>
            </a:pPr>
            <a:r>
              <a:rPr lang="en-US" altLang="zh-CN" dirty="0" err="1"/>
              <a:t>groupByClause</a:t>
            </a:r>
            <a:r>
              <a:rPr lang="en-US" altLang="zh-CN" dirty="0"/>
              <a:t>: GROUP BY </a:t>
            </a:r>
            <a:r>
              <a:rPr lang="en-US" altLang="zh-CN" dirty="0" err="1"/>
              <a:t>groupByExpression</a:t>
            </a:r>
            <a:r>
              <a:rPr lang="en-US" altLang="zh-CN" dirty="0"/>
              <a:t> (, </a:t>
            </a:r>
            <a:r>
              <a:rPr lang="en-US" altLang="zh-CN" dirty="0" err="1"/>
              <a:t>groupByExpression</a:t>
            </a:r>
            <a:r>
              <a:rPr lang="en-US" altLang="zh-CN" dirty="0"/>
              <a:t>)*</a:t>
            </a:r>
          </a:p>
          <a:p>
            <a:endParaRPr lang="zh-CN" altLang="en-US" dirty="0"/>
          </a:p>
        </p:txBody>
      </p:sp>
    </p:spTree>
    <p:extLst>
      <p:ext uri="{BB962C8B-B14F-4D97-AF65-F5344CB8AC3E}">
        <p14:creationId xmlns:p14="http://schemas.microsoft.com/office/powerpoint/2010/main" val="378143382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17BD7C-7A58-4F13-B761-4F825A5F3669}"/>
              </a:ext>
            </a:extLst>
          </p:cNvPr>
          <p:cNvSpPr>
            <a:spLocks noGrp="1"/>
          </p:cNvSpPr>
          <p:nvPr>
            <p:ph type="title"/>
          </p:nvPr>
        </p:nvSpPr>
        <p:spPr/>
        <p:txBody>
          <a:bodyPr>
            <a:normAutofit fontScale="90000"/>
          </a:bodyPr>
          <a:lstStyle/>
          <a:p>
            <a:r>
              <a:rPr lang="en-US" altLang="zh-CN" dirty="0"/>
              <a:t>Hive</a:t>
            </a:r>
            <a:r>
              <a:rPr lang="zh-CN" altLang="en-US" dirty="0"/>
              <a:t>的数据检索</a:t>
            </a:r>
            <a:r>
              <a:rPr lang="en-US" altLang="zh-CN" dirty="0"/>
              <a:t>—Hive-QL</a:t>
            </a:r>
            <a:endParaRPr lang="zh-CN" altLang="en-US" dirty="0"/>
          </a:p>
        </p:txBody>
      </p:sp>
      <p:sp>
        <p:nvSpPr>
          <p:cNvPr id="3" name="内容占位符 2">
            <a:extLst>
              <a:ext uri="{FF2B5EF4-FFF2-40B4-BE49-F238E27FC236}">
                <a16:creationId xmlns:a16="http://schemas.microsoft.com/office/drawing/2014/main" id="{C2E14CB9-6A39-4D67-B580-B0B94195D7E1}"/>
              </a:ext>
            </a:extLst>
          </p:cNvPr>
          <p:cNvSpPr>
            <a:spLocks noGrp="1"/>
          </p:cNvSpPr>
          <p:nvPr>
            <p:ph idx="1"/>
          </p:nvPr>
        </p:nvSpPr>
        <p:spPr/>
        <p:txBody>
          <a:bodyPr>
            <a:normAutofit/>
          </a:bodyPr>
          <a:lstStyle/>
          <a:p>
            <a:r>
              <a:rPr lang="zh-CN" altLang="en-US" dirty="0"/>
              <a:t>（</a:t>
            </a:r>
            <a:r>
              <a:rPr lang="en-US" altLang="zh-CN" dirty="0"/>
              <a:t>6</a:t>
            </a:r>
            <a:r>
              <a:rPr lang="zh-CN" altLang="en-US" dirty="0"/>
              <a:t>）</a:t>
            </a:r>
            <a:r>
              <a:rPr lang="en-US" altLang="zh-CN" dirty="0"/>
              <a:t>ORDER BY</a:t>
            </a:r>
            <a:r>
              <a:rPr lang="zh-CN" altLang="en-US" dirty="0"/>
              <a:t>与</a:t>
            </a:r>
            <a:r>
              <a:rPr lang="en-US" altLang="zh-CN" dirty="0"/>
              <a:t>LIMIT</a:t>
            </a:r>
            <a:r>
              <a:rPr lang="zh-CN" altLang="en-US" dirty="0"/>
              <a:t>子句</a:t>
            </a:r>
          </a:p>
          <a:p>
            <a:pPr lvl="1"/>
            <a:r>
              <a:rPr lang="en-US" altLang="zh-CN" dirty="0"/>
              <a:t>ORDER BY</a:t>
            </a:r>
            <a:r>
              <a:rPr lang="zh-CN" altLang="en-US" dirty="0"/>
              <a:t>子句用于指定返回结果排序依据，其语法定义如下：</a:t>
            </a:r>
          </a:p>
          <a:p>
            <a:pPr marL="400050" lvl="1" indent="0">
              <a:buNone/>
            </a:pPr>
            <a:r>
              <a:rPr lang="en-US" altLang="zh-CN" dirty="0" err="1"/>
              <a:t>orderBy</a:t>
            </a:r>
            <a:r>
              <a:rPr lang="en-US" altLang="zh-CN" dirty="0"/>
              <a:t>: ORDER BY </a:t>
            </a:r>
            <a:r>
              <a:rPr lang="en-US" altLang="zh-CN" dirty="0" err="1"/>
              <a:t>colName</a:t>
            </a:r>
            <a:r>
              <a:rPr lang="en-US" altLang="zh-CN" dirty="0"/>
              <a:t> ( ASC | DESC )? (NULLS FIRST | NULLS LAST)?  (</a:t>
            </a:r>
            <a:r>
              <a:rPr lang="en-US" altLang="zh-CN" dirty="0" err="1"/>
              <a:t>colName</a:t>
            </a:r>
            <a:r>
              <a:rPr lang="en-US" altLang="zh-CN" dirty="0"/>
              <a:t> ( ASC | DESC )? (NULLS FIRST | NULLS LAST)?)*</a:t>
            </a:r>
          </a:p>
          <a:p>
            <a:endParaRPr lang="zh-CN" altLang="en-US" dirty="0"/>
          </a:p>
        </p:txBody>
      </p:sp>
    </p:spTree>
    <p:extLst>
      <p:ext uri="{BB962C8B-B14F-4D97-AF65-F5344CB8AC3E}">
        <p14:creationId xmlns:p14="http://schemas.microsoft.com/office/powerpoint/2010/main" val="152392578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0FD92-5F8D-4874-B90E-031653B5C131}"/>
              </a:ext>
            </a:extLst>
          </p:cNvPr>
          <p:cNvSpPr>
            <a:spLocks noGrp="1"/>
          </p:cNvSpPr>
          <p:nvPr>
            <p:ph type="title"/>
          </p:nvPr>
        </p:nvSpPr>
        <p:spPr/>
        <p:txBody>
          <a:bodyPr>
            <a:normAutofit fontScale="90000"/>
          </a:bodyPr>
          <a:lstStyle/>
          <a:p>
            <a:r>
              <a:rPr lang="en-US" altLang="zh-CN" dirty="0"/>
              <a:t>Hive</a:t>
            </a:r>
            <a:r>
              <a:rPr lang="zh-CN" altLang="en-US" dirty="0"/>
              <a:t>的数据检索</a:t>
            </a:r>
            <a:r>
              <a:rPr lang="en-US" altLang="zh-CN" dirty="0"/>
              <a:t>—Hive-QL</a:t>
            </a:r>
            <a:endParaRPr lang="zh-CN" altLang="en-US" dirty="0"/>
          </a:p>
        </p:txBody>
      </p:sp>
      <p:sp>
        <p:nvSpPr>
          <p:cNvPr id="3" name="内容占位符 2">
            <a:extLst>
              <a:ext uri="{FF2B5EF4-FFF2-40B4-BE49-F238E27FC236}">
                <a16:creationId xmlns:a16="http://schemas.microsoft.com/office/drawing/2014/main" id="{D1175AAA-41C2-41ED-8514-00D35BE92D59}"/>
              </a:ext>
            </a:extLst>
          </p:cNvPr>
          <p:cNvSpPr>
            <a:spLocks noGrp="1"/>
          </p:cNvSpPr>
          <p:nvPr>
            <p:ph idx="1"/>
          </p:nvPr>
        </p:nvSpPr>
        <p:spPr/>
        <p:txBody>
          <a:bodyPr/>
          <a:lstStyle/>
          <a:p>
            <a:r>
              <a:rPr lang="zh-CN" altLang="en-US" dirty="0"/>
              <a:t>上述只列出了</a:t>
            </a:r>
            <a:r>
              <a:rPr lang="en-US" altLang="zh-CN" dirty="0"/>
              <a:t>Hive-QL</a:t>
            </a:r>
            <a:r>
              <a:rPr lang="zh-CN" altLang="en-US" dirty="0"/>
              <a:t>部分最主要结构及部分检索应用实例，更加详细的操作实例可以参考教材。</a:t>
            </a:r>
          </a:p>
        </p:txBody>
      </p:sp>
    </p:spTree>
    <p:extLst>
      <p:ext uri="{BB962C8B-B14F-4D97-AF65-F5344CB8AC3E}">
        <p14:creationId xmlns:p14="http://schemas.microsoft.com/office/powerpoint/2010/main" val="371214304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23987" y="1732402"/>
            <a:ext cx="5236445" cy="646331"/>
          </a:xfrm>
          <a:prstGeom prst="rect">
            <a:avLst/>
          </a:prstGeom>
          <a:noFill/>
        </p:spPr>
        <p:txBody>
          <a:bodyPr wrap="square">
            <a:spAutoFit/>
          </a:bodyPr>
          <a:lstStyle/>
          <a:p>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本章小结</a:t>
            </a: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07</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260879602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本章小结</a:t>
            </a:r>
          </a:p>
        </p:txBody>
      </p:sp>
      <p:sp>
        <p:nvSpPr>
          <p:cNvPr id="4" name="Rectangle 3"/>
          <p:cNvSpPr>
            <a:spLocks noGrp="1" noChangeArrowheads="1"/>
          </p:cNvSpPr>
          <p:nvPr>
            <p:ph idx="1"/>
          </p:nvPr>
        </p:nvSpPr>
        <p:spPr>
          <a:xfrm>
            <a:off x="457200" y="1167594"/>
            <a:ext cx="7715200" cy="3708411"/>
          </a:xfrm>
        </p:spPr>
        <p:txBody>
          <a:bodyPr>
            <a:normAutofit/>
          </a:bodyPr>
          <a:lstStyle/>
          <a:p>
            <a:r>
              <a:rPr lang="en-US" altLang="zh-CN" sz="2800" dirty="0"/>
              <a:t>Hive</a:t>
            </a:r>
            <a:r>
              <a:rPr lang="zh-CN" altLang="en-US" sz="2800" dirty="0"/>
              <a:t>是基于</a:t>
            </a:r>
            <a:r>
              <a:rPr lang="en-US" altLang="zh-CN" sz="2800" dirty="0"/>
              <a:t>Hadoop</a:t>
            </a:r>
            <a:r>
              <a:rPr lang="zh-CN" altLang="en-US" sz="2800" dirty="0"/>
              <a:t>的一个数据仓库工具，用来进行数据提取、转化、加载，是一种可以存储、查询和分析存储在</a:t>
            </a:r>
            <a:r>
              <a:rPr lang="en-US" altLang="zh-CN" sz="2800" dirty="0"/>
              <a:t>Hadoop</a:t>
            </a:r>
            <a:r>
              <a:rPr lang="zh-CN" altLang="en-US" sz="2800" dirty="0"/>
              <a:t>中的大规模数据的工具。</a:t>
            </a:r>
            <a:endParaRPr lang="en-US" altLang="zh-CN" sz="2800" dirty="0"/>
          </a:p>
          <a:p>
            <a:r>
              <a:rPr lang="zh-CN" altLang="en-US" sz="2800" dirty="0"/>
              <a:t>本章简要介绍了数据库管理系统与数据仓库的区别，介绍了</a:t>
            </a:r>
            <a:r>
              <a:rPr lang="en-US" altLang="zh-CN" sz="2800" dirty="0"/>
              <a:t>Hive</a:t>
            </a:r>
            <a:r>
              <a:rPr lang="zh-CN" altLang="en-US" sz="2800" dirty="0"/>
              <a:t>的存储模型，并以一个简单的实例展示</a:t>
            </a:r>
            <a:r>
              <a:rPr lang="en-US" altLang="zh-CN" sz="2800" dirty="0"/>
              <a:t>Hive</a:t>
            </a:r>
            <a:r>
              <a:rPr lang="zh-CN" altLang="en-US" sz="2800" dirty="0"/>
              <a:t>建库、建表、数据导入和查询的全过程。</a:t>
            </a:r>
            <a:endParaRPr lang="en-US" altLang="zh-CN" sz="2800" dirty="0">
              <a:ea typeface="宋体" pitchFamily="2" charset="-122"/>
            </a:endParaRPr>
          </a:p>
        </p:txBody>
      </p:sp>
    </p:spTree>
    <p:extLst>
      <p:ext uri="{BB962C8B-B14F-4D97-AF65-F5344CB8AC3E}">
        <p14:creationId xmlns:p14="http://schemas.microsoft.com/office/powerpoint/2010/main" val="40244061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32698" y="4816947"/>
            <a:ext cx="775136" cy="246221"/>
          </a:xfrm>
          <a:prstGeom prst="rect">
            <a:avLst/>
          </a:prstGeom>
        </p:spPr>
        <p:txBody>
          <a:bodyPr wrap="square">
            <a:spAutoFit/>
          </a:bodyPr>
          <a:lstStyle/>
          <a:p>
            <a:pPr defTabSz="914400"/>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模板下载：</a:t>
            </a:r>
            <a:r>
              <a:rPr lang="en-US" altLang="zh-CN" sz="100" dirty="0">
                <a:solidFill>
                  <a:prstClr val="white"/>
                </a:solidFill>
                <a:ea typeface="宋体" panose="02010600030101010101" pitchFamily="2" charset="-122"/>
              </a:rPr>
              <a:t>www.1ppt.com/moban/     </a:t>
            </a:r>
            <a:r>
              <a:rPr lang="zh-CN" altLang="en-US" sz="100" dirty="0">
                <a:solidFill>
                  <a:prstClr val="white"/>
                </a:solidFill>
                <a:ea typeface="宋体" panose="02010600030101010101" pitchFamily="2" charset="-122"/>
              </a:rPr>
              <a:t>行业</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a:t>
            </a:r>
            <a:r>
              <a:rPr lang="en-US" altLang="zh-CN" sz="100" dirty="0">
                <a:solidFill>
                  <a:prstClr val="white"/>
                </a:solidFill>
                <a:ea typeface="宋体" panose="02010600030101010101" pitchFamily="2" charset="-122"/>
              </a:rPr>
              <a:t>www.1ppt.com/hangye/ </a:t>
            </a:r>
          </a:p>
          <a:p>
            <a:pPr defTabSz="914400"/>
            <a:r>
              <a:rPr lang="zh-CN" altLang="en-US" sz="100" dirty="0">
                <a:solidFill>
                  <a:prstClr val="white"/>
                </a:solidFill>
                <a:ea typeface="宋体" panose="02010600030101010101" pitchFamily="2" charset="-122"/>
              </a:rPr>
              <a:t>节日</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a:t>
            </a:r>
            <a:r>
              <a:rPr lang="en-US" altLang="zh-CN" sz="100" dirty="0">
                <a:solidFill>
                  <a:prstClr val="white"/>
                </a:solidFill>
                <a:ea typeface="宋体" panose="02010600030101010101" pitchFamily="2" charset="-122"/>
              </a:rPr>
              <a:t>www.1ppt.com/jieri/           PPT</a:t>
            </a:r>
            <a:r>
              <a:rPr lang="zh-CN" altLang="en-US" sz="100" dirty="0">
                <a:solidFill>
                  <a:prstClr val="white"/>
                </a:solidFill>
                <a:ea typeface="宋体" panose="02010600030101010101" pitchFamily="2" charset="-122"/>
              </a:rPr>
              <a:t>素材下载：</a:t>
            </a:r>
            <a:r>
              <a:rPr lang="en-US" altLang="zh-CN" sz="100" dirty="0">
                <a:solidFill>
                  <a:prstClr val="white"/>
                </a:solidFill>
                <a:ea typeface="宋体" panose="02010600030101010101" pitchFamily="2" charset="-122"/>
              </a:rPr>
              <a:t>www.1ppt.com/sucai/</a:t>
            </a:r>
          </a:p>
          <a:p>
            <a:pPr defTabSz="914400"/>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背景图片：</a:t>
            </a:r>
            <a:r>
              <a:rPr lang="en-US" altLang="zh-CN" sz="100" dirty="0">
                <a:solidFill>
                  <a:prstClr val="white"/>
                </a:solidFill>
                <a:ea typeface="宋体" panose="02010600030101010101" pitchFamily="2" charset="-122"/>
              </a:rPr>
              <a:t>www.1ppt.com/beijing/      PPT</a:t>
            </a:r>
            <a:r>
              <a:rPr lang="zh-CN" altLang="en-US" sz="100" dirty="0">
                <a:solidFill>
                  <a:prstClr val="white"/>
                </a:solidFill>
                <a:ea typeface="宋体" panose="02010600030101010101" pitchFamily="2" charset="-122"/>
              </a:rPr>
              <a:t>图表下载：</a:t>
            </a:r>
            <a:r>
              <a:rPr lang="en-US" altLang="zh-CN" sz="100" dirty="0">
                <a:solidFill>
                  <a:prstClr val="white"/>
                </a:solidFill>
                <a:ea typeface="宋体" panose="02010600030101010101" pitchFamily="2" charset="-122"/>
              </a:rPr>
              <a:t>www.1ppt.com/tubiao/      </a:t>
            </a:r>
          </a:p>
          <a:p>
            <a:pPr defTabSz="914400"/>
            <a:r>
              <a:rPr lang="zh-CN" altLang="en-US" sz="100" dirty="0">
                <a:solidFill>
                  <a:prstClr val="white"/>
                </a:solidFill>
                <a:ea typeface="宋体" panose="02010600030101010101" pitchFamily="2" charset="-122"/>
              </a:rPr>
              <a:t>优秀</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下载：</a:t>
            </a:r>
            <a:r>
              <a:rPr lang="en-US" altLang="zh-CN" sz="100" dirty="0">
                <a:solidFill>
                  <a:prstClr val="white"/>
                </a:solidFill>
                <a:ea typeface="宋体" panose="02010600030101010101" pitchFamily="2" charset="-122"/>
              </a:rPr>
              <a:t>www.1ppt.com/xiazai/        PPT</a:t>
            </a:r>
            <a:r>
              <a:rPr lang="zh-CN" altLang="en-US" sz="100" dirty="0">
                <a:solidFill>
                  <a:prstClr val="white"/>
                </a:solidFill>
                <a:ea typeface="宋体" panose="02010600030101010101" pitchFamily="2" charset="-122"/>
              </a:rPr>
              <a:t>教程： </a:t>
            </a:r>
            <a:r>
              <a:rPr lang="en-US" altLang="zh-CN" sz="100" dirty="0">
                <a:solidFill>
                  <a:prstClr val="white"/>
                </a:solidFill>
                <a:ea typeface="宋体" panose="02010600030101010101" pitchFamily="2" charset="-122"/>
              </a:rPr>
              <a:t>www.1ppt.com/powerpoint/      </a:t>
            </a:r>
          </a:p>
          <a:p>
            <a:pPr defTabSz="914400"/>
            <a:r>
              <a:rPr lang="en-US" altLang="zh-CN" sz="100" dirty="0">
                <a:solidFill>
                  <a:prstClr val="white"/>
                </a:solidFill>
                <a:ea typeface="宋体" panose="02010600030101010101" pitchFamily="2" charset="-122"/>
              </a:rPr>
              <a:t>Word</a:t>
            </a:r>
            <a:r>
              <a:rPr lang="zh-CN" altLang="en-US" sz="100" dirty="0">
                <a:solidFill>
                  <a:prstClr val="white"/>
                </a:solidFill>
                <a:ea typeface="宋体" panose="02010600030101010101" pitchFamily="2" charset="-122"/>
              </a:rPr>
              <a:t>教程： </a:t>
            </a:r>
            <a:r>
              <a:rPr lang="en-US" altLang="zh-CN" sz="100" dirty="0">
                <a:solidFill>
                  <a:prstClr val="white"/>
                </a:solidFill>
                <a:ea typeface="宋体" panose="02010600030101010101" pitchFamily="2" charset="-122"/>
              </a:rPr>
              <a:t>www.1ppt.com/word/              Excel</a:t>
            </a:r>
            <a:r>
              <a:rPr lang="zh-CN" altLang="en-US" sz="100" dirty="0">
                <a:solidFill>
                  <a:prstClr val="white"/>
                </a:solidFill>
                <a:ea typeface="宋体" panose="02010600030101010101" pitchFamily="2" charset="-122"/>
              </a:rPr>
              <a:t>教程：</a:t>
            </a:r>
            <a:r>
              <a:rPr lang="en-US" altLang="zh-CN" sz="100" dirty="0">
                <a:solidFill>
                  <a:prstClr val="white"/>
                </a:solidFill>
                <a:ea typeface="宋体" panose="02010600030101010101" pitchFamily="2" charset="-122"/>
              </a:rPr>
              <a:t>www.1ppt.com/excel/  </a:t>
            </a:r>
          </a:p>
          <a:p>
            <a:pPr defTabSz="914400"/>
            <a:r>
              <a:rPr lang="zh-CN" altLang="en-US" sz="100" dirty="0">
                <a:solidFill>
                  <a:prstClr val="white"/>
                </a:solidFill>
                <a:ea typeface="宋体" panose="02010600030101010101" pitchFamily="2" charset="-122"/>
              </a:rPr>
              <a:t>资料下载：</a:t>
            </a:r>
            <a:r>
              <a:rPr lang="en-US" altLang="zh-CN" sz="100" dirty="0">
                <a:solidFill>
                  <a:prstClr val="white"/>
                </a:solidFill>
                <a:ea typeface="宋体" panose="02010600030101010101" pitchFamily="2" charset="-122"/>
              </a:rPr>
              <a:t>www.1ppt.com/ziliao/                PPT</a:t>
            </a:r>
            <a:r>
              <a:rPr lang="zh-CN" altLang="en-US" sz="100" dirty="0">
                <a:solidFill>
                  <a:prstClr val="white"/>
                </a:solidFill>
                <a:ea typeface="宋体" panose="02010600030101010101" pitchFamily="2" charset="-122"/>
              </a:rPr>
              <a:t>课件下载：</a:t>
            </a:r>
            <a:r>
              <a:rPr lang="en-US" altLang="zh-CN" sz="100" dirty="0">
                <a:solidFill>
                  <a:prstClr val="white"/>
                </a:solidFill>
                <a:ea typeface="宋体" panose="02010600030101010101" pitchFamily="2" charset="-122"/>
              </a:rPr>
              <a:t>www.1ppt.com/kejian/ </a:t>
            </a:r>
          </a:p>
          <a:p>
            <a:pPr defTabSz="914400"/>
            <a:r>
              <a:rPr lang="zh-CN" altLang="en-US" sz="100" dirty="0">
                <a:solidFill>
                  <a:prstClr val="white"/>
                </a:solidFill>
                <a:ea typeface="宋体" panose="02010600030101010101" pitchFamily="2" charset="-122"/>
              </a:rPr>
              <a:t>范文下载：</a:t>
            </a:r>
            <a:r>
              <a:rPr lang="en-US" altLang="zh-CN" sz="100" dirty="0">
                <a:solidFill>
                  <a:prstClr val="white"/>
                </a:solidFill>
                <a:ea typeface="宋体" panose="02010600030101010101" pitchFamily="2" charset="-122"/>
              </a:rPr>
              <a:t>www.1ppt.com/fanwen/             </a:t>
            </a:r>
            <a:r>
              <a:rPr lang="zh-CN" altLang="en-US" sz="100" dirty="0">
                <a:solidFill>
                  <a:prstClr val="white"/>
                </a:solidFill>
                <a:ea typeface="宋体" panose="02010600030101010101" pitchFamily="2" charset="-122"/>
              </a:rPr>
              <a:t>试卷下载：</a:t>
            </a:r>
            <a:r>
              <a:rPr lang="en-US" altLang="zh-CN" sz="100" dirty="0">
                <a:solidFill>
                  <a:prstClr val="white"/>
                </a:solidFill>
                <a:ea typeface="宋体" panose="02010600030101010101" pitchFamily="2" charset="-122"/>
              </a:rPr>
              <a:t>www.1ppt.com/shiti/  </a:t>
            </a:r>
          </a:p>
          <a:p>
            <a:pPr defTabSz="914400"/>
            <a:r>
              <a:rPr lang="zh-CN" altLang="en-US" sz="100" dirty="0">
                <a:solidFill>
                  <a:prstClr val="white"/>
                </a:solidFill>
                <a:ea typeface="宋体" panose="02010600030101010101" pitchFamily="2" charset="-122"/>
              </a:rPr>
              <a:t>教案下载：</a:t>
            </a:r>
            <a:r>
              <a:rPr lang="en-US" altLang="zh-CN" sz="100" dirty="0">
                <a:solidFill>
                  <a:prstClr val="white"/>
                </a:solidFill>
                <a:ea typeface="宋体" panose="02010600030101010101" pitchFamily="2" charset="-122"/>
              </a:rPr>
              <a:t>www.1ppt.com/jiaoan/        </a:t>
            </a:r>
          </a:p>
          <a:p>
            <a:pPr defTabSz="914400"/>
            <a:r>
              <a:rPr lang="zh-CN" altLang="en-US" sz="100" dirty="0">
                <a:solidFill>
                  <a:prstClr val="white"/>
                </a:solidFill>
                <a:ea typeface="宋体" panose="02010600030101010101" pitchFamily="2" charset="-122"/>
              </a:rPr>
              <a:t>字体下载：</a:t>
            </a:r>
            <a:r>
              <a:rPr lang="en-US" altLang="zh-CN" sz="100" dirty="0">
                <a:solidFill>
                  <a:prstClr val="white"/>
                </a:solidFill>
                <a:ea typeface="宋体" panose="02010600030101010101" pitchFamily="2" charset="-122"/>
              </a:rPr>
              <a:t>www.1ppt.com/ziti/</a:t>
            </a:r>
          </a:p>
          <a:p>
            <a:pPr defTabSz="914400"/>
            <a:r>
              <a:rPr lang="en-US" altLang="zh-CN" sz="100" dirty="0">
                <a:solidFill>
                  <a:prstClr val="white"/>
                </a:solidFill>
                <a:ea typeface="宋体" panose="02010600030101010101" pitchFamily="2" charset="-122"/>
              </a:rPr>
              <a:t> </a:t>
            </a:r>
            <a:endParaRPr lang="zh-CN" altLang="en-US" sz="100" dirty="0">
              <a:solidFill>
                <a:prstClr val="white"/>
              </a:solidFill>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1354" y="0"/>
            <a:ext cx="9141291" cy="5143500"/>
          </a:xfrm>
          <a:prstGeom prst="rect">
            <a:avLst/>
          </a:prstGeom>
        </p:spPr>
      </p:pic>
      <p:pic>
        <p:nvPicPr>
          <p:cNvPr id="4" name="图片 3"/>
          <p:cNvPicPr>
            <a:picLocks noChangeAspect="1"/>
          </p:cNvPicPr>
          <p:nvPr/>
        </p:nvPicPr>
        <p:blipFill>
          <a:blip r:embed="rId4"/>
          <a:stretch>
            <a:fillRect/>
          </a:stretch>
        </p:blipFill>
        <p:spPr>
          <a:xfrm>
            <a:off x="1641307" y="294089"/>
            <a:ext cx="6260074" cy="4522858"/>
          </a:xfrm>
          <a:prstGeom prst="rect">
            <a:avLst/>
          </a:prstGeom>
        </p:spPr>
      </p:pic>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20226" y="1047394"/>
            <a:ext cx="2804652" cy="28170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8" name="文本框 7"/>
          <p:cNvSpPr txBox="1"/>
          <p:nvPr/>
        </p:nvSpPr>
        <p:spPr>
          <a:xfrm>
            <a:off x="312528" y="294089"/>
            <a:ext cx="3948450" cy="3416320"/>
          </a:xfrm>
          <a:prstGeom prst="rect">
            <a:avLst/>
          </a:prstGeom>
          <a:noFill/>
        </p:spPr>
        <p:txBody>
          <a:bodyPr wrap="square" rtlCol="0">
            <a:spAutoFit/>
          </a:bodyPr>
          <a:lstStyle/>
          <a:p>
            <a:r>
              <a:rPr lang="zh-CN" altLang="en-US" sz="7200" dirty="0">
                <a:solidFill>
                  <a:srgbClr val="FFC000"/>
                </a:solidFill>
              </a:rPr>
              <a:t>谢</a:t>
            </a:r>
            <a:endParaRPr lang="en-US" altLang="zh-CN" sz="7200" dirty="0">
              <a:solidFill>
                <a:srgbClr val="FFC000"/>
              </a:solidFill>
            </a:endParaRPr>
          </a:p>
          <a:p>
            <a:r>
              <a:rPr lang="zh-CN" altLang="en-US" sz="7200" dirty="0">
                <a:solidFill>
                  <a:srgbClr val="FFC000"/>
                </a:solidFill>
              </a:rPr>
              <a:t>  谢</a:t>
            </a:r>
            <a:endParaRPr lang="en-US" altLang="zh-CN" sz="7200" dirty="0">
              <a:solidFill>
                <a:srgbClr val="FFC000"/>
              </a:solidFill>
            </a:endParaRPr>
          </a:p>
          <a:p>
            <a:r>
              <a:rPr lang="zh-CN" altLang="en-US" sz="7200">
                <a:solidFill>
                  <a:srgbClr val="FFC000"/>
                </a:solidFill>
              </a:rPr>
              <a:t>！</a:t>
            </a:r>
            <a:r>
              <a:rPr lang="zh-CN" altLang="en-US" sz="7200">
                <a:solidFill>
                  <a:srgbClr val="FF0000"/>
                </a:solidFill>
              </a:rPr>
              <a:t>           </a:t>
            </a:r>
            <a:endParaRPr lang="zh-CN" altLang="en-US" sz="7200" dirty="0">
              <a:solidFill>
                <a:srgbClr val="FF0000"/>
              </a:solidFill>
            </a:endParaRPr>
          </a:p>
        </p:txBody>
      </p:sp>
    </p:spTree>
    <p:extLst>
      <p:ext uri="{BB962C8B-B14F-4D97-AF65-F5344CB8AC3E}">
        <p14:creationId xmlns:p14="http://schemas.microsoft.com/office/powerpoint/2010/main" val="23990959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2050</TotalTime>
  <Words>6531</Words>
  <Application>Microsoft Office PowerPoint</Application>
  <PresentationFormat>全屏显示(16:9)</PresentationFormat>
  <Paragraphs>495</Paragraphs>
  <Slides>110</Slides>
  <Notes>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110</vt:i4>
      </vt:variant>
    </vt:vector>
  </HeadingPairs>
  <TitlesOfParts>
    <vt:vector size="119" baseType="lpstr">
      <vt:lpstr>方正书宋_GBK</vt:lpstr>
      <vt:lpstr>黑体</vt:lpstr>
      <vt:lpstr>宋体</vt:lpstr>
      <vt:lpstr>微软雅黑</vt:lpstr>
      <vt:lpstr>Arial</vt:lpstr>
      <vt:lpstr>Calibri</vt:lpstr>
      <vt:lpstr>IrisUPC</vt:lpstr>
      <vt:lpstr>Times New Roman</vt:lpstr>
      <vt:lpstr>Office 主题</vt:lpstr>
      <vt:lpstr>第6章 Hive基础与应用</vt:lpstr>
      <vt:lpstr>本章学习目标 </vt:lpstr>
      <vt:lpstr>PowerPoint 演示文稿</vt:lpstr>
      <vt:lpstr>PowerPoint 演示文稿</vt:lpstr>
      <vt:lpstr>Hive简介</vt:lpstr>
      <vt:lpstr>为什么要用Hive</vt:lpstr>
      <vt:lpstr>数据库与数据仓库</vt:lpstr>
      <vt:lpstr>数据库与数据仓库</vt:lpstr>
      <vt:lpstr>数据库与数据仓库</vt:lpstr>
      <vt:lpstr>Hive体系结构与接口</vt:lpstr>
      <vt:lpstr>Hive体系结构与接口</vt:lpstr>
      <vt:lpstr>Hive体系结构</vt:lpstr>
      <vt:lpstr>Hive简介</vt:lpstr>
      <vt:lpstr>Hive体系结构</vt:lpstr>
      <vt:lpstr>SQL——MapReduce</vt:lpstr>
      <vt:lpstr>Hive特征</vt:lpstr>
      <vt:lpstr>PowerPoint 演示文稿</vt:lpstr>
      <vt:lpstr>Hive存储模型</vt:lpstr>
      <vt:lpstr>Hive存储模型</vt:lpstr>
      <vt:lpstr>数据库（database）</vt:lpstr>
      <vt:lpstr>表（Table）</vt:lpstr>
      <vt:lpstr>分区（partitions）</vt:lpstr>
      <vt:lpstr>分区（partitions）</vt:lpstr>
      <vt:lpstr>桶或集群（bucket或clusters）</vt:lpstr>
      <vt:lpstr>PowerPoint 演示文稿</vt:lpstr>
      <vt:lpstr>Hive初探</vt:lpstr>
      <vt:lpstr>Hive初探</vt:lpstr>
      <vt:lpstr>Hive初探</vt:lpstr>
      <vt:lpstr>Hive初探</vt:lpstr>
      <vt:lpstr>Hive初探</vt:lpstr>
      <vt:lpstr>Hive初探</vt:lpstr>
      <vt:lpstr>Hive初探</vt:lpstr>
      <vt:lpstr>Hive初探</vt:lpstr>
      <vt:lpstr>Hive初探</vt:lpstr>
      <vt:lpstr>Hive初探</vt:lpstr>
      <vt:lpstr>Hive初探</vt:lpstr>
      <vt:lpstr>PowerPoint 演示文稿</vt:lpstr>
      <vt:lpstr>Hive的数据定义--DDL</vt:lpstr>
      <vt:lpstr>数据库的相关操作</vt:lpstr>
      <vt:lpstr>数据库的相关操作</vt:lpstr>
      <vt:lpstr>数据库的相关操作</vt:lpstr>
      <vt:lpstr>数据库的相关操作</vt:lpstr>
      <vt:lpstr>数据库的相关操作</vt:lpstr>
      <vt:lpstr>数据库的相关操作</vt:lpstr>
      <vt:lpstr>数据库的相关操作</vt:lpstr>
      <vt:lpstr>数据表的创建</vt:lpstr>
      <vt:lpstr>数据表的创建</vt:lpstr>
      <vt:lpstr>Hive基本数据类型</vt:lpstr>
      <vt:lpstr>数据表的创建</vt:lpstr>
      <vt:lpstr>数据表的创建</vt:lpstr>
      <vt:lpstr>数据表的创建</vt:lpstr>
      <vt:lpstr>数据表的创建</vt:lpstr>
      <vt:lpstr>PowerPoint 演示文稿</vt:lpstr>
      <vt:lpstr>数据表的创建</vt:lpstr>
      <vt:lpstr>数据表的创建</vt:lpstr>
      <vt:lpstr>数据表的创建</vt:lpstr>
      <vt:lpstr>数据表的创建</vt:lpstr>
      <vt:lpstr>数据表的创建</vt:lpstr>
      <vt:lpstr>数据表的创建</vt:lpstr>
      <vt:lpstr>数据表的创建</vt:lpstr>
      <vt:lpstr>数据表的创建</vt:lpstr>
      <vt:lpstr>数据表的创建</vt:lpstr>
      <vt:lpstr>数据表和分区的修改</vt:lpstr>
      <vt:lpstr>数据表和分区的修改</vt:lpstr>
      <vt:lpstr>数据表和分区的修改</vt:lpstr>
      <vt:lpstr>数据表和分区的修改</vt:lpstr>
      <vt:lpstr>数据表和分区的修改</vt:lpstr>
      <vt:lpstr>数据表和分区的修改</vt:lpstr>
      <vt:lpstr>数据表和分区的修改</vt:lpstr>
      <vt:lpstr>数据表和分区的修改</vt:lpstr>
      <vt:lpstr>数据表和分区的修改</vt:lpstr>
      <vt:lpstr>数据表和分区的修改</vt:lpstr>
      <vt:lpstr>数据表和分区的修改</vt:lpstr>
      <vt:lpstr>数据表和分区的修改</vt:lpstr>
      <vt:lpstr>数据表和分区的修改</vt:lpstr>
      <vt:lpstr>数据表和分区的修改</vt:lpstr>
      <vt:lpstr>数据表和分区的修改</vt:lpstr>
      <vt:lpstr>数据表和分区的修改</vt:lpstr>
      <vt:lpstr>数据表和分区的修改</vt:lpstr>
      <vt:lpstr>数据表和分区的修改</vt:lpstr>
      <vt:lpstr>数据表的其他操作</vt:lpstr>
      <vt:lpstr>数据表的其他操作</vt:lpstr>
      <vt:lpstr>数据表的其他操作</vt:lpstr>
      <vt:lpstr>数据表的其他操作</vt:lpstr>
      <vt:lpstr>PowerPoint 演示文稿</vt:lpstr>
      <vt:lpstr>Hive的数据操纵--DML</vt:lpstr>
      <vt:lpstr>Hive的数据操纵--DML</vt:lpstr>
      <vt:lpstr>Hive的数据操纵--DML</vt:lpstr>
      <vt:lpstr>Hive的数据操纵--DML</vt:lpstr>
      <vt:lpstr>Hive的数据操纵--DML</vt:lpstr>
      <vt:lpstr>Hive的数据操纵--DML</vt:lpstr>
      <vt:lpstr>Hive的数据操纵--DML</vt:lpstr>
      <vt:lpstr>Hive的数据操纵--DML</vt:lpstr>
      <vt:lpstr>Hive的数据操纵--DML</vt:lpstr>
      <vt:lpstr>Hive的数据操纵--DML</vt:lpstr>
      <vt:lpstr>PowerPoint 演示文稿</vt:lpstr>
      <vt:lpstr>Hive的数据检索—Hive-QL</vt:lpstr>
      <vt:lpstr>Hive的数据检索—Hive-QL</vt:lpstr>
      <vt:lpstr>Hive的数据检索—Hive-QL</vt:lpstr>
      <vt:lpstr>Hive的数据检索—Hive-QL</vt:lpstr>
      <vt:lpstr>Hive的数据检索—Hive-QL</vt:lpstr>
      <vt:lpstr>Hive的数据检索—Hive-QL</vt:lpstr>
      <vt:lpstr>Hive的数据检索—Hive-QL</vt:lpstr>
      <vt:lpstr>Hive的数据检索—Hive-QL</vt:lpstr>
      <vt:lpstr>Hive的数据检索—Hive-QL</vt:lpstr>
      <vt:lpstr>Hive的数据检索—Hive-QL</vt:lpstr>
      <vt:lpstr>Hive的数据检索—Hive-QL</vt:lpstr>
      <vt:lpstr>PowerPoint 演示文稿</vt:lpstr>
      <vt:lpstr>本章小结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Hadoop简介</dc:title>
  <dc:creator>fjnuzs</dc:creator>
  <cp:lastModifiedBy>lenovo</cp:lastModifiedBy>
  <cp:revision>139</cp:revision>
  <dcterms:created xsi:type="dcterms:W3CDTF">2018-05-28T02:49:46Z</dcterms:created>
  <dcterms:modified xsi:type="dcterms:W3CDTF">2022-11-16T03:08:29Z</dcterms:modified>
</cp:coreProperties>
</file>